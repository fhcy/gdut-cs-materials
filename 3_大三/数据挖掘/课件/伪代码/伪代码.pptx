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79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6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5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8.xml"/><Relationship Id="rId11" Type="http://schemas.openxmlformats.org/officeDocument/2006/relationships/image" Target="../media/image7.wmf"/><Relationship Id="rId10" Type="http://schemas.openxmlformats.org/officeDocument/2006/relationships/oleObject" Target="../embeddings/oleObject7.bin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74.xml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34" name="Group 18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1648460" y="91440"/>
          <a:ext cx="9422130" cy="6693535"/>
        </p:xfrm>
        <a:graphic>
          <a:graphicData uri="http://schemas.openxmlformats.org/drawingml/2006/table">
            <a:tbl>
              <a:tblPr/>
              <a:tblGrid>
                <a:gridCol w="9422130"/>
              </a:tblGrid>
              <a:tr h="6693535">
                <a:tc>
                  <a:txBody>
                    <a:bodyPr/>
                    <a:p>
                      <a:pPr marL="288925" marR="0" lvl="0" indent="-288925" algn="l" defTabSz="913130" rtl="0" eaLnBrk="1" fontAlgn="base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函数名：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CDT(S,F)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输入：训练集数据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S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，训练集数据属性集合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F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输出：一棵未剪枝的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C4.5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决策树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(1)if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样本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S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全部属于同一个类别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 then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(2)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创建一个叶结点，并标记类标号为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(3)   return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(4)else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(5)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计算属性集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F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中每一个属性的信息增益率，假定增益率值最大的属性为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(6)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创建结点，取属性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为该结点的决策属性；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(7)   for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结点属性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的每个可能的取值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V  do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(8)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为该结点添加一个新的分支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,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假设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V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为属性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取值为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V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的样本子集；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(9)       if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样本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V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全部属于同一个类别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 then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(10)   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为该分支添加一个叶结点，并标记为类标号为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(11)      else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(12)   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则递归调用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CDT(S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V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,F-{A})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，为该分支创建子树；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(13)      end if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(14)  end for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0" fontAlgn="base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(15)end if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34" name="Group 18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1648460" y="205740"/>
          <a:ext cx="9422130" cy="5149850"/>
        </p:xfrm>
        <a:graphic>
          <a:graphicData uri="http://schemas.openxmlformats.org/drawingml/2006/table">
            <a:tbl>
              <a:tblPr/>
              <a:tblGrid>
                <a:gridCol w="9422130"/>
              </a:tblGrid>
              <a:tr h="5149850">
                <a:tc>
                  <a:txBody>
                    <a:bodyPr/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函数名：NaiveBayes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输入：类标号未知的样本X={x1,x2,…,xn}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输出：未知样本X所属类别号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(1) for j=1 to m 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(2)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 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计算X属于每一个类别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</a:t>
                      </a:r>
                      <a:r>
                        <a:rPr kumimoji="0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j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的概率；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 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(3)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 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计算训练集中每个类别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</a:t>
                      </a:r>
                      <a:r>
                        <a:rPr kumimoji="0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j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的概率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P(C</a:t>
                      </a:r>
                      <a:r>
                        <a:rPr kumimoji="0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j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)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(4)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 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计算概率值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              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(5) end for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eaLnBrk="1" fontAlgn="base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(6) 选择计算概率值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P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最大的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</a:t>
                      </a:r>
                      <a:r>
                        <a:rPr kumimoji="0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j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(1≤j≤m)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作为类别输出。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3469640" y="2505393"/>
          <a:ext cx="66738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4152900" imgH="431800" progId="Equation.3">
                  <p:embed/>
                </p:oleObj>
              </mc:Choice>
              <mc:Fallback>
                <p:oleObj name="" r:id="rId2" imgW="4152900" imgH="4318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69640" y="2505393"/>
                        <a:ext cx="6673850" cy="693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5" name="Object 6"/>
          <p:cNvGraphicFramePr>
            <a:graphicFrameLocks noChangeAspect="1"/>
          </p:cNvGraphicFramePr>
          <p:nvPr/>
        </p:nvGraphicFramePr>
        <p:xfrm>
          <a:off x="4133850" y="3878898"/>
          <a:ext cx="27654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4" imgW="1384300" imgH="241300" progId="Equation.3">
                  <p:embed/>
                </p:oleObj>
              </mc:Choice>
              <mc:Fallback>
                <p:oleObj name="" r:id="rId4" imgW="1384300" imgH="2413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33850" y="3878898"/>
                        <a:ext cx="276542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34" name="Group 18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1648460" y="302260"/>
          <a:ext cx="9422130" cy="3992880"/>
        </p:xfrm>
        <a:graphic>
          <a:graphicData uri="http://schemas.openxmlformats.org/drawingml/2006/table">
            <a:tbl>
              <a:tblPr/>
              <a:tblGrid>
                <a:gridCol w="9422130"/>
              </a:tblGrid>
              <a:tr h="3931920">
                <a:tc>
                  <a:txBody>
                    <a:bodyPr/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算法名：KNN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输入：最近邻数目K ，训练集D，测试集Z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输出：对测试集Z中所有测试样本预测其类标号值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(1)for 每个测试样本                  do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(2)   计算</a:t>
                      </a:r>
                      <a:r>
                        <a:rPr lang="en-US" sz="1600" b="1" dirty="0">
                          <a:ln>
                            <a:noFill/>
                          </a:ln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  <a:sym typeface="+mn-ea"/>
                        </a:rPr>
                        <a:t> </a:t>
                      </a:r>
                      <a:r>
                        <a:rPr sz="2000" b="1" dirty="0">
                          <a:ln>
                            <a:noFill/>
                          </a:ln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  <a:sym typeface="+mn-ea"/>
                        </a:rPr>
                        <a:t>z</a:t>
                      </a:r>
                      <a:r>
                        <a:rPr lang="en-US" sz="1600" b="1" dirty="0">
                          <a:ln>
                            <a:noFill/>
                          </a:ln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  <a:sym typeface="+mn-ea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和每个训练样本          之间的距离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(3)   选择离</a:t>
                      </a:r>
                      <a:r>
                        <a:rPr lang="en-US" sz="1600" b="1" dirty="0">
                          <a:ln>
                            <a:noFill/>
                          </a:ln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  <a:sym typeface="+mn-ea"/>
                        </a:rPr>
                        <a:t> </a:t>
                      </a:r>
                      <a:r>
                        <a:rPr sz="2000" b="1" dirty="0">
                          <a:ln>
                            <a:noFill/>
                          </a:ln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  <a:sym typeface="+mn-ea"/>
                        </a:rPr>
                        <a:t>z</a:t>
                      </a:r>
                      <a:r>
                        <a:rPr lang="en-US" sz="1600" b="1" dirty="0">
                          <a:ln>
                            <a:noFill/>
                          </a:ln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  <a:sym typeface="+mn-ea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最近的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-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最近邻集合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(4)   返回    中样本的多数类的类标号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(5)end for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3852" name="Object 53"/>
          <p:cNvGraphicFramePr>
            <a:graphicFrameLocks noChangeAspect="1"/>
          </p:cNvGraphicFramePr>
          <p:nvPr/>
        </p:nvGraphicFramePr>
        <p:xfrm>
          <a:off x="4467860" y="1821498"/>
          <a:ext cx="20875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2" imgW="927100" imgH="203200" progId="Equation.3">
                  <p:embed/>
                </p:oleObj>
              </mc:Choice>
              <mc:Fallback>
                <p:oleObj name="" r:id="rId2" imgW="927100" imgH="2032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7860" y="1821498"/>
                        <a:ext cx="2087563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4" name="Object 55"/>
          <p:cNvGraphicFramePr>
            <a:graphicFrameLocks noChangeAspect="1"/>
          </p:cNvGraphicFramePr>
          <p:nvPr/>
        </p:nvGraphicFramePr>
        <p:xfrm>
          <a:off x="5315903" y="2317115"/>
          <a:ext cx="12954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4" imgW="635000" imgH="203200" progId="Equation.3">
                  <p:embed/>
                </p:oleObj>
              </mc:Choice>
              <mc:Fallback>
                <p:oleObj name="" r:id="rId4" imgW="635000" imgH="2032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15903" y="2317115"/>
                        <a:ext cx="12954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6" name="Object 57"/>
          <p:cNvGraphicFramePr>
            <a:graphicFrameLocks noChangeAspect="1"/>
          </p:cNvGraphicFramePr>
          <p:nvPr/>
        </p:nvGraphicFramePr>
        <p:xfrm>
          <a:off x="8010208" y="2289493"/>
          <a:ext cx="115093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6" imgW="495300" imgH="203200" progId="Equation.3">
                  <p:embed/>
                </p:oleObj>
              </mc:Choice>
              <mc:Fallback>
                <p:oleObj name="" r:id="rId6" imgW="495300" imgH="2032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10208" y="2289493"/>
                        <a:ext cx="1150937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8" name="Object 59"/>
          <p:cNvGraphicFramePr>
            <a:graphicFrameLocks noChangeAspect="1"/>
          </p:cNvGraphicFramePr>
          <p:nvPr/>
        </p:nvGraphicFramePr>
        <p:xfrm>
          <a:off x="6221095" y="2756535"/>
          <a:ext cx="11509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8" imgW="508000" imgH="215900" progId="Equation.3">
                  <p:embed/>
                </p:oleObj>
              </mc:Choice>
              <mc:Fallback>
                <p:oleObj name="" r:id="rId8" imgW="508000" imgH="2159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21095" y="2756535"/>
                        <a:ext cx="1150938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0" name="Object 61"/>
          <p:cNvGraphicFramePr>
            <a:graphicFrameLocks noChangeAspect="1"/>
          </p:cNvGraphicFramePr>
          <p:nvPr/>
        </p:nvGraphicFramePr>
        <p:xfrm>
          <a:off x="3194685" y="3285173"/>
          <a:ext cx="4318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10" imgW="203200" imgH="215900" progId="Equation.3">
                  <p:embed/>
                </p:oleObj>
              </mc:Choice>
              <mc:Fallback>
                <p:oleObj name="" r:id="rId10" imgW="203200" imgH="2159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94685" y="3285173"/>
                        <a:ext cx="431800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34" name="Group 18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1648460" y="302260"/>
          <a:ext cx="9422130" cy="5490210"/>
        </p:xfrm>
        <a:graphic>
          <a:graphicData uri="http://schemas.openxmlformats.org/drawingml/2006/table">
            <a:tbl>
              <a:tblPr/>
              <a:tblGrid>
                <a:gridCol w="9422130"/>
              </a:tblGrid>
              <a:tr h="5490210">
                <a:tc>
                  <a:txBody>
                    <a:bodyPr/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算法：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k-means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聚类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输入：数据集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，划分的簇个数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输出：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个簇的集合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(1)从数据集D中任意选择k个对象作为初始簇中心；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(2) repeat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(3)    for 数据集D中每个对象P do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(4)       计算对象P到k个簇中心的距离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(5)       将对象P指派到与其最近的簇；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(6)    end for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(7)    计算每个簇中对象的均值，做为新的簇的中心；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(8) until  k个簇的簇中心不再发生变化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34" name="Group 18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1648460" y="302260"/>
          <a:ext cx="9422130" cy="5490210"/>
        </p:xfrm>
        <a:graphic>
          <a:graphicData uri="http://schemas.openxmlformats.org/drawingml/2006/table">
            <a:tbl>
              <a:tblPr/>
              <a:tblGrid>
                <a:gridCol w="9422130"/>
              </a:tblGrid>
              <a:tr h="5490210">
                <a:tc>
                  <a:txBody>
                    <a:bodyPr/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算法：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k-summary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聚类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输入：数据集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，划分簇的个数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输出：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个簇的集合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(1)从数据集D中任意选择k个对象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，并创建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个簇的摘要信息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CSI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(2) repeat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(3)    for 数据集D中每个对象P do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(4)       计算对象P到k个簇中心的距离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(5)       将对象P指派到与其最近的簇；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(6)    end for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(7)    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更新簇的摘要信息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CSI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；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(8) until  k个簇的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摘要信息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不再发生变化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34" name="Group 18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35560" y="137160"/>
          <a:ext cx="12156440" cy="6461760"/>
        </p:xfrm>
        <a:graphic>
          <a:graphicData uri="http://schemas.openxmlformats.org/drawingml/2006/table">
            <a:tbl>
              <a:tblPr/>
              <a:tblGrid>
                <a:gridCol w="12156440"/>
              </a:tblGrid>
              <a:tr h="6432550">
                <a:tc>
                  <a:txBody>
                    <a:bodyPr/>
                    <a:p>
                      <a:pPr marL="288925" marR="0" lvl="0" indent="-288925" algn="l" defTabSz="913130" rtl="0" fontAlgn="base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算法：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DBSCAN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输入：数据集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，参数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MinPts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Eps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输出：簇集合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(1) 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将数据集</a:t>
                      </a:r>
                      <a:r>
                        <a:rPr lang="en-US" altLang="zh-CN" sz="2000" b="0" i="1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D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中的所有对象标记为未处理状态</a:t>
                      </a:r>
                      <a:endParaRPr lang="zh-CN" altLang="en-US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(2) for 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数据集</a:t>
                      </a:r>
                      <a:r>
                        <a:rPr lang="en-US" altLang="zh-CN" sz="2000" b="0" i="1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D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中每个对象</a:t>
                      </a:r>
                      <a:r>
                        <a:rPr lang="en-US" altLang="zh-CN" sz="2000" b="0" i="1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p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 do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(3)   if  </a:t>
                      </a:r>
                      <a:r>
                        <a:rPr lang="en-US" altLang="zh-CN" sz="2000" b="0" i="1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p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已经归入某个簇或标记为噪声 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then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(4)      continue;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(5)   else 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(6)      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检查对象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p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的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Eps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邻域      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;</a:t>
                      </a:r>
                      <a:endParaRPr lang="zh-CN" altLang="en-US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(7)      if       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包含的对象数小于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MinPts then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(8)            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标记对象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p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为边界点或噪声点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;</a:t>
                      </a:r>
                      <a:endParaRPr lang="zh-CN" altLang="en-US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(9)      else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(10)           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标记对象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p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为核心点，并建立新簇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C;</a:t>
                      </a:r>
                      <a:endParaRPr lang="zh-CN" altLang="en-US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(11)           for       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中所有尚未被处理的对象</a:t>
                      </a:r>
                      <a:r>
                        <a:rPr lang="en-US" altLang="zh-CN" sz="2000" b="0" i="1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q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  do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(12)               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检查其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Eps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邻域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,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若包含至少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MinPts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个对象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,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则将其中未归入任何一个簇的对象加入</a:t>
                      </a: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C</a:t>
                      </a:r>
                      <a:r>
                        <a:rPr lang="zh-CN" altLang="en-US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；</a:t>
                      </a:r>
                      <a:endParaRPr lang="zh-CN" altLang="en-US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(13)           end for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(14)     end if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(15)   end if</a:t>
                      </a:r>
                      <a:endParaRPr lang="en-US" altLang="zh-CN" sz="2000" b="0" dirty="0">
                        <a:latin typeface="Consolas" panose="020B0609020204030204" charset="0"/>
                        <a:cs typeface="Consolas" panose="020B0609020204030204" charset="0"/>
                      </a:endParaRPr>
                    </a:p>
                    <a:p>
                      <a:pPr indent="0" fontAlgn="auto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b="0" dirty="0">
                          <a:latin typeface="Consolas" panose="020B0609020204030204" charset="0"/>
                          <a:cs typeface="Consolas" panose="020B0609020204030204" charset="0"/>
                          <a:sym typeface="+mn-ea"/>
                        </a:rPr>
                        <a:t>(16) end for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4869" name="Object 4"/>
          <p:cNvGraphicFramePr>
            <a:graphicFrameLocks noChangeAspect="1"/>
          </p:cNvGraphicFramePr>
          <p:nvPr/>
        </p:nvGraphicFramePr>
        <p:xfrm>
          <a:off x="3722370" y="2860675"/>
          <a:ext cx="91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2" imgW="431800" imgH="190500" progId="Equation.3">
                  <p:embed/>
                </p:oleObj>
              </mc:Choice>
              <mc:Fallback>
                <p:oleObj name="" r:id="rId2" imgW="431800" imgH="1905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22370" y="2860675"/>
                        <a:ext cx="914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818640" y="3192780"/>
          <a:ext cx="91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431800" imgH="190500" progId="Equation.3">
                  <p:embed/>
                </p:oleObj>
              </mc:Choice>
              <mc:Fallback>
                <p:oleObj name="" r:id="rId4" imgW="431800" imgH="1905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18640" y="3192780"/>
                        <a:ext cx="914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807335" y="4530725"/>
          <a:ext cx="91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431800" imgH="190500" progId="Equation.3">
                  <p:embed/>
                </p:oleObj>
              </mc:Choice>
              <mc:Fallback>
                <p:oleObj name="" r:id="rId5" imgW="431800" imgH="1905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07335" y="4530725"/>
                        <a:ext cx="914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34" name="Group 18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1648460" y="302260"/>
          <a:ext cx="9422130" cy="4480560"/>
        </p:xfrm>
        <a:graphic>
          <a:graphicData uri="http://schemas.openxmlformats.org/drawingml/2006/table">
            <a:tbl>
              <a:tblPr/>
              <a:tblGrid>
                <a:gridCol w="9422130"/>
              </a:tblGrid>
              <a:tr h="4480560">
                <a:tc>
                  <a:txBody>
                    <a:bodyPr/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算法：基于距离的离群点检测算法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输入：数据集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，最近邻个数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输出：离群点对象列表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(1)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for all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对象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 do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(2)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确定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k-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最近邻集合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N(x,k);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(3)   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确定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的离群因子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OF1(x,k);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(4)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end for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(5) 将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OF1(x,k)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降序排序，确定离群因子大的若干对象为离群点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6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return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34" name="Group 18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1648460" y="302260"/>
          <a:ext cx="9422130" cy="4480560"/>
        </p:xfrm>
        <a:graphic>
          <a:graphicData uri="http://schemas.openxmlformats.org/drawingml/2006/table">
            <a:tbl>
              <a:tblPr/>
              <a:tblGrid>
                <a:gridCol w="9422130"/>
              </a:tblGrid>
              <a:tr h="4480560">
                <a:tc>
                  <a:txBody>
                    <a:bodyPr/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算法：基于相对密度的离群点检测算法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输入：数据集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，最近邻个数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输出：离群点对象列表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(1)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for all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对象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 do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(2)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确定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k-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最近邻集合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N(x,k);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(3)   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使用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的最近邻，确定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的密度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density(x,k);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(4)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end for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(5) for all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对象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 do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(6)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确定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的相对密度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relative density(x,k)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，并赋值给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OF2(x,k)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(7) end for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8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) 将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OF2(x,k)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降序排序，确定离群因子大的若干对象为离群点</a:t>
                      </a:r>
                      <a:endParaRPr kumimoji="0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  <a:p>
                      <a:pPr marL="288925" marR="0" lvl="0" indent="-288925" algn="l" defTabSz="913130" rtl="0" fontAlgn="base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9</a:t>
                      </a:r>
                      <a:r>
                        <a:rPr kumimoji="0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)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charset="0"/>
                          <a:ea typeface="楷体_GB2312" pitchFamily="49" charset="-122"/>
                          <a:cs typeface="Consolas" panose="020B0609020204030204" charset="0"/>
                        </a:rPr>
                        <a:t>return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charset="0"/>
                        <a:ea typeface="楷体_GB2312" pitchFamily="49" charset="-122"/>
                        <a:cs typeface="Consolas" panose="020B0609020204030204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700*438"/>
  <p:tag name="TABLE_ENDDRAG_RECT" val="136*50*700*438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TABLE_ENDDRAG_ORIGIN_RECT" val="700*438"/>
  <p:tag name="TABLE_ENDDRAG_RECT" val="136*50*700*438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TABLE_ENDDRAG_ORIGIN_RECT" val="700*438"/>
  <p:tag name="TABLE_ENDDRAG_RECT" val="136*50*700*438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TABLE_ENDDRAG_ORIGIN_RECT" val="700*438"/>
  <p:tag name="TABLE_ENDDRAG_RECT" val="136*50*700*438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TABLE_ENDDRAG_ORIGIN_RECT" val="700*438"/>
  <p:tag name="TABLE_ENDDRAG_RECT" val="136*50*700*438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TABLE_ENDDRAG_ORIGIN_RECT" val="957*535"/>
  <p:tag name="TABLE_ENDDRAG_RECT" val="2*3*957*535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TABLE_ENDDRAG_ORIGIN_RECT" val="700*438"/>
  <p:tag name="TABLE_ENDDRAG_RECT" val="136*50*700*438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TABLE_ENDDRAG_ORIGIN_RECT" val="700*438"/>
  <p:tag name="TABLE_ENDDRAG_RECT" val="136*50*700*438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commondata" val="eyJoZGlkIjoiMzUyMzNlOTc0YTYwZmI3ZWVkMzBjMDllMjAyOTRhOW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2078</Words>
  <Application>WPS 演示</Application>
  <PresentationFormat>宽屏</PresentationFormat>
  <Paragraphs>107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Consolas</vt:lpstr>
      <vt:lpstr>楷体_GB2312</vt:lpstr>
      <vt:lpstr>新宋体</vt:lpstr>
      <vt:lpstr>微软雅黑</vt:lpstr>
      <vt:lpstr>Arial Unicode MS</vt:lpstr>
      <vt:lpstr>Calibri</vt:lpstr>
      <vt:lpstr>WPS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陈煜祺</dc:creator>
  <cp:lastModifiedBy>锕狗</cp:lastModifiedBy>
  <cp:revision>180</cp:revision>
  <dcterms:created xsi:type="dcterms:W3CDTF">2019-06-19T02:08:00Z</dcterms:created>
  <dcterms:modified xsi:type="dcterms:W3CDTF">2024-10-22T19:03:00Z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F27342DCE7254BEE870F408B7BDBB10F_13</vt:lpwstr>
  </property>
</Properties>
</file>