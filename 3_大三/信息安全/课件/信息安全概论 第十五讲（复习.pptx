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png" ContentType="image/png"/>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42"/>
  </p:handoutMasterIdLst>
  <p:sldIdLst>
    <p:sldId id="261" r:id="rId3"/>
    <p:sldId id="324" r:id="rId4"/>
    <p:sldId id="1662" r:id="rId6"/>
    <p:sldId id="1663" r:id="rId7"/>
    <p:sldId id="1763" r:id="rId8"/>
    <p:sldId id="1761" r:id="rId9"/>
    <p:sldId id="1762" r:id="rId10"/>
    <p:sldId id="1736" r:id="rId11"/>
    <p:sldId id="1764" r:id="rId12"/>
    <p:sldId id="1666" r:id="rId13"/>
    <p:sldId id="1765" r:id="rId14"/>
    <p:sldId id="1766" r:id="rId15"/>
    <p:sldId id="1767" r:id="rId16"/>
    <p:sldId id="1768" r:id="rId17"/>
    <p:sldId id="1769" r:id="rId18"/>
    <p:sldId id="1770" r:id="rId19"/>
    <p:sldId id="1771" r:id="rId20"/>
    <p:sldId id="1912" r:id="rId21"/>
    <p:sldId id="1737" r:id="rId22"/>
    <p:sldId id="1772" r:id="rId23"/>
    <p:sldId id="1738" r:id="rId24"/>
    <p:sldId id="1773" r:id="rId25"/>
    <p:sldId id="1774" r:id="rId26"/>
    <p:sldId id="1775" r:id="rId27"/>
    <p:sldId id="1776" r:id="rId28"/>
    <p:sldId id="1777" r:id="rId29"/>
    <p:sldId id="1778" r:id="rId30"/>
    <p:sldId id="1779" r:id="rId31"/>
    <p:sldId id="1781" r:id="rId32"/>
    <p:sldId id="1782" r:id="rId33"/>
    <p:sldId id="1806" r:id="rId34"/>
    <p:sldId id="1739" r:id="rId35"/>
    <p:sldId id="1807" r:id="rId36"/>
    <p:sldId id="1808" r:id="rId37"/>
    <p:sldId id="1810" r:id="rId38"/>
    <p:sldId id="1811" r:id="rId39"/>
    <p:sldId id="1812" r:id="rId40"/>
    <p:sldId id="1740" r:id="rId41"/>
    <p:sldId id="1813" r:id="rId42"/>
    <p:sldId id="1814" r:id="rId43"/>
    <p:sldId id="1816" r:id="rId44"/>
    <p:sldId id="1817" r:id="rId45"/>
    <p:sldId id="1902" r:id="rId46"/>
    <p:sldId id="1903" r:id="rId47"/>
    <p:sldId id="1904" r:id="rId48"/>
    <p:sldId id="1905" r:id="rId49"/>
    <p:sldId id="1906" r:id="rId50"/>
    <p:sldId id="1907" r:id="rId51"/>
    <p:sldId id="1908" r:id="rId52"/>
    <p:sldId id="1909" r:id="rId53"/>
    <p:sldId id="1910" r:id="rId54"/>
    <p:sldId id="1911" r:id="rId55"/>
    <p:sldId id="1741" r:id="rId56"/>
    <p:sldId id="1820" r:id="rId57"/>
    <p:sldId id="1821" r:id="rId58"/>
    <p:sldId id="1822" r:id="rId59"/>
    <p:sldId id="1744" r:id="rId60"/>
    <p:sldId id="1825" r:id="rId61"/>
    <p:sldId id="1932" r:id="rId62"/>
    <p:sldId id="1824" r:id="rId63"/>
    <p:sldId id="1826" r:id="rId64"/>
    <p:sldId id="1827" r:id="rId65"/>
    <p:sldId id="1828" r:id="rId66"/>
    <p:sldId id="1913" r:id="rId67"/>
    <p:sldId id="1914" r:id="rId68"/>
    <p:sldId id="1915" r:id="rId69"/>
    <p:sldId id="1916" r:id="rId70"/>
    <p:sldId id="1917" r:id="rId71"/>
    <p:sldId id="1918" r:id="rId72"/>
    <p:sldId id="1919" r:id="rId73"/>
    <p:sldId id="1920" r:id="rId74"/>
    <p:sldId id="1921" r:id="rId75"/>
    <p:sldId id="1922" r:id="rId76"/>
    <p:sldId id="1923" r:id="rId77"/>
    <p:sldId id="1924" r:id="rId78"/>
    <p:sldId id="1925" r:id="rId79"/>
    <p:sldId id="1926" r:id="rId80"/>
    <p:sldId id="1927" r:id="rId81"/>
    <p:sldId id="1928" r:id="rId82"/>
    <p:sldId id="1929" r:id="rId83"/>
    <p:sldId id="1930" r:id="rId84"/>
    <p:sldId id="1829" r:id="rId85"/>
    <p:sldId id="1830" r:id="rId86"/>
    <p:sldId id="1933" r:id="rId87"/>
    <p:sldId id="1934" r:id="rId88"/>
    <p:sldId id="1935" r:id="rId89"/>
    <p:sldId id="1936" r:id="rId90"/>
    <p:sldId id="1937" r:id="rId91"/>
    <p:sldId id="1831" r:id="rId92"/>
    <p:sldId id="1832" r:id="rId93"/>
    <p:sldId id="1836" r:id="rId94"/>
    <p:sldId id="1938" r:id="rId95"/>
    <p:sldId id="1939" r:id="rId96"/>
    <p:sldId id="1837" r:id="rId97"/>
    <p:sldId id="1866" r:id="rId98"/>
    <p:sldId id="1867" r:id="rId99"/>
    <p:sldId id="1868" r:id="rId100"/>
    <p:sldId id="1746" r:id="rId101"/>
    <p:sldId id="1838" r:id="rId102"/>
    <p:sldId id="1839" r:id="rId103"/>
    <p:sldId id="1841" r:id="rId104"/>
    <p:sldId id="1840" r:id="rId105"/>
    <p:sldId id="1842" r:id="rId106"/>
    <p:sldId id="1940" r:id="rId107"/>
    <p:sldId id="1941" r:id="rId108"/>
    <p:sldId id="1942" r:id="rId109"/>
    <p:sldId id="1944" r:id="rId110"/>
    <p:sldId id="1943" r:id="rId111"/>
    <p:sldId id="1945" r:id="rId112"/>
    <p:sldId id="1946" r:id="rId113"/>
    <p:sldId id="1843" r:id="rId114"/>
    <p:sldId id="1947" r:id="rId115"/>
    <p:sldId id="1948" r:id="rId116"/>
    <p:sldId id="1949" r:id="rId117"/>
    <p:sldId id="1950" r:id="rId118"/>
    <p:sldId id="1848" r:id="rId119"/>
    <p:sldId id="1952" r:id="rId120"/>
    <p:sldId id="1954" r:id="rId121"/>
    <p:sldId id="1951" r:id="rId122"/>
    <p:sldId id="1955" r:id="rId123"/>
    <p:sldId id="1847" r:id="rId124"/>
    <p:sldId id="1747" r:id="rId125"/>
    <p:sldId id="1849" r:id="rId126"/>
    <p:sldId id="1850" r:id="rId127"/>
    <p:sldId id="1851" r:id="rId128"/>
    <p:sldId id="1852" r:id="rId129"/>
    <p:sldId id="1853" r:id="rId130"/>
    <p:sldId id="1854" r:id="rId131"/>
    <p:sldId id="1855" r:id="rId132"/>
    <p:sldId id="1860" r:id="rId133"/>
    <p:sldId id="1856" r:id="rId134"/>
    <p:sldId id="1857" r:id="rId135"/>
    <p:sldId id="1859" r:id="rId136"/>
    <p:sldId id="1858" r:id="rId137"/>
    <p:sldId id="1863" r:id="rId138"/>
    <p:sldId id="1864" r:id="rId139"/>
    <p:sldId id="1865" r:id="rId140"/>
    <p:sldId id="1654" r:id="rId1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YJ" initials="H" lastIdx="4"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661" autoAdjust="0"/>
  </p:normalViewPr>
  <p:slideViewPr>
    <p:cSldViewPr>
      <p:cViewPr varScale="1">
        <p:scale>
          <a:sx n="130" d="100"/>
          <a:sy n="130" d="100"/>
        </p:scale>
        <p:origin x="-3008" y="-64"/>
      </p:cViewPr>
      <p:guideLst>
        <p:guide orient="horz" pos="2160"/>
        <p:guide pos="2880"/>
      </p:guideLst>
    </p:cSldViewPr>
  </p:slideViewPr>
  <p:notesTextViewPr>
    <p:cViewPr>
      <p:scale>
        <a:sx n="1" d="1"/>
        <a:sy n="1" d="1"/>
      </p:scale>
      <p:origin x="0" y="0"/>
    </p:cViewPr>
  </p:notesTextViewPr>
  <p:notesViewPr>
    <p:cSldViewPr>
      <p:cViewPr varScale="1">
        <p:scale>
          <a:sx n="86" d="100"/>
          <a:sy n="86" d="100"/>
        </p:scale>
        <p:origin x="-383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6" Type="http://schemas.openxmlformats.org/officeDocument/2006/relationships/commentAuthors" Target="commentAuthors.xml"/><Relationship Id="rId145" Type="http://schemas.openxmlformats.org/officeDocument/2006/relationships/tableStyles" Target="tableStyles.xml"/><Relationship Id="rId144" Type="http://schemas.openxmlformats.org/officeDocument/2006/relationships/viewProps" Target="viewProps.xml"/><Relationship Id="rId143" Type="http://schemas.openxmlformats.org/officeDocument/2006/relationships/presProps" Target="presProps.xml"/><Relationship Id="rId142" Type="http://schemas.openxmlformats.org/officeDocument/2006/relationships/handoutMaster" Target="handoutMasters/handoutMaster1.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0D45FD5-BCDC-48AE-91AA-B433B1666765}"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30F73B2-40AF-43F0-9112-00B1ED79468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E0A7E9-544F-4D14-8B28-2AF40095DD5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D699B6-DECB-4C09-94F5-05CDFC63A86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dt" sz="quarter" idx="1"/>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70510D7-9208-4DF1-B374-7D7EE957470C}" type="datetime1">
              <a:rPr lang="zh-CN" altLang="en-US">
                <a:latin typeface="Arial" panose="020B0604020202020204" pitchFamily="34" charset="0"/>
              </a:rPr>
            </a:fld>
            <a:endParaRPr lang="en-US" altLang="zh-CN">
              <a:latin typeface="Arial" panose="020B0604020202020204" pitchFamily="34" charset="0"/>
            </a:endParaRPr>
          </a:p>
        </p:txBody>
      </p:sp>
      <p:sp>
        <p:nvSpPr>
          <p:cNvPr id="78851" name="Rectangle 7"/>
          <p:cNvSpPr>
            <a:spLocks noGrp="1" noChangeArrowheads="1"/>
          </p:cNvSpPr>
          <p:nvPr>
            <p:ph type="sldNum" sz="quarter" idx="5"/>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B98ECFEB-7E73-451D-8564-DA30D4FF2FF3}" type="slidenum">
              <a:rPr lang="en-US" altLang="zh-CN">
                <a:latin typeface="Arial" panose="020B0604020202020204" pitchFamily="34" charset="0"/>
              </a:rPr>
            </a:fld>
            <a:endParaRPr lang="en-US" altLang="zh-CN">
              <a:latin typeface="Arial" panose="020B0604020202020204" pitchFamily="34" charset="0"/>
            </a:endParaRPr>
          </a:p>
        </p:txBody>
      </p:sp>
      <p:sp>
        <p:nvSpPr>
          <p:cNvPr id="78852" name="Rectangle 2"/>
          <p:cNvSpPr>
            <a:spLocks noGrp="1" noRot="1" noChangeAspect="1" noChangeArrowheads="1" noTextEdit="1"/>
          </p:cNvSpPr>
          <p:nvPr>
            <p:ph type="sldImg"/>
          </p:nvPr>
        </p:nvSpPr>
        <p:spPr>
          <a:ln cap="flat"/>
        </p:spPr>
      </p:sp>
      <p:sp>
        <p:nvSpPr>
          <p:cNvPr id="78853"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dt" sz="quarter" idx="1"/>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70510D7-9208-4DF1-B374-7D7EE957470C}" type="datetime1">
              <a:rPr lang="zh-CN" altLang="en-US">
                <a:latin typeface="Arial" panose="020B0604020202020204" pitchFamily="34" charset="0"/>
              </a:rPr>
            </a:fld>
            <a:endParaRPr lang="en-US" altLang="zh-CN">
              <a:latin typeface="Arial" panose="020B0604020202020204" pitchFamily="34" charset="0"/>
            </a:endParaRPr>
          </a:p>
        </p:txBody>
      </p:sp>
      <p:sp>
        <p:nvSpPr>
          <p:cNvPr id="78851" name="Rectangle 7"/>
          <p:cNvSpPr>
            <a:spLocks noGrp="1" noChangeArrowheads="1"/>
          </p:cNvSpPr>
          <p:nvPr>
            <p:ph type="sldNum" sz="quarter" idx="5"/>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B98ECFEB-7E73-451D-8564-DA30D4FF2FF3}" type="slidenum">
              <a:rPr lang="en-US" altLang="zh-CN">
                <a:latin typeface="Arial" panose="020B0604020202020204" pitchFamily="34" charset="0"/>
              </a:rPr>
            </a:fld>
            <a:endParaRPr lang="en-US" altLang="zh-CN">
              <a:latin typeface="Arial" panose="020B0604020202020204" pitchFamily="34" charset="0"/>
            </a:endParaRPr>
          </a:p>
        </p:txBody>
      </p:sp>
      <p:sp>
        <p:nvSpPr>
          <p:cNvPr id="78852" name="Rectangle 2"/>
          <p:cNvSpPr>
            <a:spLocks noGrp="1" noRot="1" noChangeAspect="1" noChangeArrowheads="1" noTextEdit="1"/>
          </p:cNvSpPr>
          <p:nvPr>
            <p:ph type="sldImg"/>
          </p:nvPr>
        </p:nvSpPr>
        <p:spPr>
          <a:ln cap="flat"/>
        </p:spPr>
      </p:sp>
      <p:sp>
        <p:nvSpPr>
          <p:cNvPr id="78853"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FD11C2-2F4B-4B18-8173-B1097B802911}" type="slidenum">
              <a:rPr lang="zh-CN" altLang="en-US" sz="1200"/>
            </a:fld>
            <a:endParaRPr lang="en-US" altLang="zh-CN" sz="1200"/>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834FC09-5D4B-457D-8CD8-989273FE2153}" type="slidenum">
              <a:rPr lang="en-US" altLang="zh-CN" smtClean="0"/>
            </a:fld>
            <a:endParaRPr lang="en-US" altLang="zh-CN" smtClean="0"/>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数字签名通过如下的流程进行：</a:t>
            </a:r>
            <a:r>
              <a:rPr lang="en-US" altLang="zh-CN" sz="1200" kern="1200" dirty="0" smtClean="0">
                <a:solidFill>
                  <a:schemeClr val="tx1"/>
                </a:solidFill>
                <a:effectLst/>
                <a:latin typeface="+mn-lt"/>
                <a:ea typeface="+mn-ea"/>
                <a:cs typeface="+mn-cs"/>
              </a:rPr>
              <a:t>  (1) </a:t>
            </a:r>
            <a:r>
              <a:rPr lang="zh-CN" altLang="zh-CN" sz="1200" kern="1200" dirty="0" smtClean="0">
                <a:solidFill>
                  <a:schemeClr val="tx1"/>
                </a:solidFill>
                <a:effectLst/>
                <a:latin typeface="+mn-lt"/>
                <a:ea typeface="+mn-ea"/>
                <a:cs typeface="+mn-cs"/>
              </a:rPr>
              <a:t>采用散列算法对原始报文进行运算，得到一个固定长度的数字串，称为报文摘要</a:t>
            </a:r>
            <a:r>
              <a:rPr lang="en-US" altLang="zh-CN" sz="1200" kern="1200" dirty="0" smtClean="0">
                <a:solidFill>
                  <a:schemeClr val="tx1"/>
                </a:solidFill>
                <a:effectLst/>
                <a:latin typeface="+mn-lt"/>
                <a:ea typeface="+mn-ea"/>
                <a:cs typeface="+mn-cs"/>
              </a:rPr>
              <a:t>(Message Digest)</a:t>
            </a:r>
            <a:r>
              <a:rPr lang="zh-CN" altLang="zh-CN" sz="1200" kern="1200" dirty="0" smtClean="0">
                <a:solidFill>
                  <a:schemeClr val="tx1"/>
                </a:solidFill>
                <a:effectLst/>
                <a:latin typeface="+mn-lt"/>
                <a:ea typeface="+mn-ea"/>
                <a:cs typeface="+mn-cs"/>
              </a:rPr>
              <a:t>，不同的报文所得到的报文摘要各异，但对相同的报文它的报文摘要却是惟一的。在数学上保证，只要改动报文中任何一位，重新计算出的报文摘要值就会与原先的值不相符，这样就保证了报文的不可更改性。</a:t>
            </a:r>
            <a:r>
              <a:rPr lang="en-US" altLang="zh-CN" sz="1200" kern="1200" dirty="0" smtClean="0">
                <a:solidFill>
                  <a:schemeClr val="tx1"/>
                </a:solidFill>
                <a:effectLst/>
                <a:latin typeface="+mn-lt"/>
                <a:ea typeface="+mn-ea"/>
                <a:cs typeface="+mn-cs"/>
              </a:rPr>
              <a:t>  (2) </a:t>
            </a:r>
            <a:r>
              <a:rPr lang="zh-CN" altLang="zh-CN" sz="1200" kern="1200" dirty="0" smtClean="0">
                <a:solidFill>
                  <a:schemeClr val="tx1"/>
                </a:solidFill>
                <a:effectLst/>
                <a:latin typeface="+mn-lt"/>
                <a:ea typeface="+mn-ea"/>
                <a:cs typeface="+mn-cs"/>
              </a:rPr>
              <a:t>发送方用目己的私有密钥对摘要进行加密来形成数字签名。</a:t>
            </a:r>
            <a:r>
              <a:rPr lang="en-US" altLang="zh-CN" sz="1200" kern="1200" dirty="0" smtClean="0">
                <a:solidFill>
                  <a:schemeClr val="tx1"/>
                </a:solidFill>
                <a:effectLst/>
                <a:latin typeface="+mn-lt"/>
                <a:ea typeface="+mn-ea"/>
                <a:cs typeface="+mn-cs"/>
              </a:rPr>
              <a:t> (3) </a:t>
            </a:r>
            <a:r>
              <a:rPr lang="zh-CN" altLang="zh-CN" sz="1200" kern="1200" dirty="0" smtClean="0">
                <a:solidFill>
                  <a:schemeClr val="tx1"/>
                </a:solidFill>
                <a:effectLst/>
                <a:latin typeface="+mn-lt"/>
                <a:ea typeface="+mn-ea"/>
                <a:cs typeface="+mn-cs"/>
              </a:rPr>
              <a:t>这个数字签名将作为报文的附件和报文一起发送给接收方。</a:t>
            </a:r>
            <a:r>
              <a:rPr lang="en-US" altLang="zh-CN" sz="1200" kern="1200" dirty="0" smtClean="0">
                <a:solidFill>
                  <a:schemeClr val="tx1"/>
                </a:solidFill>
                <a:effectLst/>
                <a:latin typeface="+mn-lt"/>
                <a:ea typeface="+mn-ea"/>
                <a:cs typeface="+mn-cs"/>
              </a:rPr>
              <a:t>  (4) </a:t>
            </a:r>
            <a:r>
              <a:rPr lang="zh-CN" altLang="zh-CN" sz="1200" kern="1200" dirty="0" smtClean="0">
                <a:solidFill>
                  <a:schemeClr val="tx1"/>
                </a:solidFill>
                <a:effectLst/>
                <a:latin typeface="+mn-lt"/>
                <a:ea typeface="+mn-ea"/>
                <a:cs typeface="+mn-cs"/>
              </a:rPr>
              <a:t>接收方首先对接收到的原始报文用同样的算法计算出新的报文摘要，再用发送方的公开密钥对报文附件的数字签名进行解密，比较两个报文摘要，如果值相同，接收方就能确认该数字签名是发送方的，否则就认为收到的报文是伪造的或者中途被篡改。</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5D699B6-DECB-4C09-94F5-05CDFC63A86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E1CC5FF-F94B-4484-ADC0-3D59DBFC37AD}" type="slidenum">
              <a:rPr lang="zh-CN" altLang="en-US"/>
            </a:fld>
            <a:endParaRPr lang="en-US" altLang="zh-CN"/>
          </a:p>
        </p:txBody>
      </p:sp>
      <p:sp>
        <p:nvSpPr>
          <p:cNvPr id="500738" name="Rectangle 2"/>
          <p:cNvSpPr>
            <a:spLocks noGrp="1" noRot="1" noChangeAspect="1" noChangeArrowheads="1" noTextEdit="1"/>
          </p:cNvSpPr>
          <p:nvPr>
            <p:ph type="sldImg"/>
          </p:nvPr>
        </p:nvSpPr>
        <p:spPr/>
      </p:sp>
      <p:sp>
        <p:nvSpPr>
          <p:cNvPr id="50073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90D18B1-7430-403E-9278-FEEA9BBF8FCB}" type="slidenum">
              <a:rPr lang="zh-CN" altLang="en-US"/>
            </a:fld>
            <a:endParaRPr lang="en-US" altLang="zh-CN"/>
          </a:p>
        </p:txBody>
      </p:sp>
      <p:sp>
        <p:nvSpPr>
          <p:cNvPr id="502786" name="Rectangle 2"/>
          <p:cNvSpPr>
            <a:spLocks noGrp="1" noRot="1" noChangeAspect="1" noChangeArrowheads="1" noTextEdit="1"/>
          </p:cNvSpPr>
          <p:nvPr>
            <p:ph type="sldImg"/>
          </p:nvPr>
        </p:nvSpPr>
        <p:spPr/>
      </p:sp>
      <p:sp>
        <p:nvSpPr>
          <p:cNvPr id="50278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006C78B-443F-4C04-A931-CC1DF021C97C}" type="slidenum">
              <a:rPr lang="zh-CN" altLang="en-US"/>
            </a:fld>
            <a:endParaRPr lang="en-US" altLang="zh-CN"/>
          </a:p>
        </p:txBody>
      </p:sp>
      <p:sp>
        <p:nvSpPr>
          <p:cNvPr id="505858" name="Rectangle 2"/>
          <p:cNvSpPr>
            <a:spLocks noGrp="1" noRot="1" noChangeAspect="1" noChangeArrowheads="1" noTextEdit="1"/>
          </p:cNvSpPr>
          <p:nvPr>
            <p:ph type="sldImg"/>
          </p:nvPr>
        </p:nvSpPr>
        <p:spPr/>
      </p:sp>
      <p:sp>
        <p:nvSpPr>
          <p:cNvPr id="50585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7B939B0-7BCE-4945-8A65-105684DD7D6D}" type="slidenum">
              <a:rPr lang="zh-CN" altLang="en-US"/>
            </a:fld>
            <a:endParaRPr lang="en-US" altLang="zh-CN"/>
          </a:p>
        </p:txBody>
      </p:sp>
      <p:sp>
        <p:nvSpPr>
          <p:cNvPr id="506882" name="Rectangle 2"/>
          <p:cNvSpPr>
            <a:spLocks noGrp="1" noRot="1" noChangeAspect="1" noChangeArrowheads="1" noTextEdit="1"/>
          </p:cNvSpPr>
          <p:nvPr>
            <p:ph type="sldImg"/>
          </p:nvPr>
        </p:nvSpPr>
        <p:spPr/>
      </p:sp>
      <p:sp>
        <p:nvSpPr>
          <p:cNvPr id="50688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2643" name="Rectangle 2"/>
          <p:cNvSpPr>
            <a:spLocks noTextEdit="1"/>
          </p:cNvSpPr>
          <p:nvPr>
            <p:ph type="sldImg"/>
          </p:nvPr>
        </p:nvSpPr>
        <p:spPr/>
      </p:sp>
      <p:sp>
        <p:nvSpPr>
          <p:cNvPr id="112644"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3667" name="Rectangle 2"/>
          <p:cNvSpPr>
            <a:spLocks noTextEdit="1"/>
          </p:cNvSpPr>
          <p:nvPr>
            <p:ph type="sldImg"/>
          </p:nvPr>
        </p:nvSpPr>
        <p:spPr/>
      </p:sp>
      <p:sp>
        <p:nvSpPr>
          <p:cNvPr id="113668"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4691" name="Rectangle 2"/>
          <p:cNvSpPr>
            <a:spLocks noTextEdit="1"/>
          </p:cNvSpPr>
          <p:nvPr>
            <p:ph type="sldImg"/>
          </p:nvPr>
        </p:nvSpPr>
        <p:spPr/>
      </p:sp>
      <p:sp>
        <p:nvSpPr>
          <p:cNvPr id="114692"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5715" name="Rectangle 2"/>
          <p:cNvSpPr>
            <a:spLocks noTextEdit="1"/>
          </p:cNvSpPr>
          <p:nvPr>
            <p:ph type="sldImg"/>
          </p:nvPr>
        </p:nvSpPr>
        <p:spPr/>
      </p:sp>
      <p:sp>
        <p:nvSpPr>
          <p:cNvPr id="115716"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6739" name="Rectangle 2"/>
          <p:cNvSpPr>
            <a:spLocks noTextEdit="1"/>
          </p:cNvSpPr>
          <p:nvPr>
            <p:ph type="sldImg"/>
          </p:nvPr>
        </p:nvSpPr>
        <p:spPr/>
      </p:sp>
      <p:sp>
        <p:nvSpPr>
          <p:cNvPr id="116740"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7763" name="Rectangle 2"/>
          <p:cNvSpPr>
            <a:spLocks noTextEdit="1"/>
          </p:cNvSpPr>
          <p:nvPr>
            <p:ph type="sldImg"/>
          </p:nvPr>
        </p:nvSpPr>
        <p:spPr/>
      </p:sp>
      <p:sp>
        <p:nvSpPr>
          <p:cNvPr id="117764"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8787" name="Rectangle 2"/>
          <p:cNvSpPr>
            <a:spLocks noTextEdit="1"/>
          </p:cNvSpPr>
          <p:nvPr>
            <p:ph type="sldImg"/>
          </p:nvPr>
        </p:nvSpPr>
        <p:spPr/>
      </p:sp>
      <p:sp>
        <p:nvSpPr>
          <p:cNvPr id="118788"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20835" name="Rectangle 2"/>
          <p:cNvSpPr>
            <a:spLocks noTextEdit="1"/>
          </p:cNvSpPr>
          <p:nvPr>
            <p:ph type="sldImg"/>
          </p:nvPr>
        </p:nvSpPr>
        <p:spPr/>
      </p:sp>
      <p:sp>
        <p:nvSpPr>
          <p:cNvPr id="120836"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19811" name="Rectangle 2"/>
          <p:cNvSpPr>
            <a:spLocks noTextEdit="1"/>
          </p:cNvSpPr>
          <p:nvPr>
            <p:ph type="sldImg"/>
          </p:nvPr>
        </p:nvSpPr>
        <p:spPr/>
      </p:sp>
      <p:sp>
        <p:nvSpPr>
          <p:cNvPr id="119812"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121859" name="Rectangle 2"/>
          <p:cNvSpPr>
            <a:spLocks noTextEdit="1"/>
          </p:cNvSpPr>
          <p:nvPr>
            <p:ph type="sldImg"/>
          </p:nvPr>
        </p:nvSpPr>
        <p:spPr/>
      </p:sp>
      <p:sp>
        <p:nvSpPr>
          <p:cNvPr id="121860"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C64964BD-F352-45DC-8F59-3A0E29B8B263}" type="slidenum">
              <a:rPr lang="zh-CN" altLang="en-US" sz="1200"/>
            </a:fld>
            <a:endParaRPr lang="en-US" altLang="zh-CN" sz="1200"/>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1A1E5D6-A033-47DA-BEB8-E7F44E5E2E48}" type="slidenum">
              <a:rPr lang="zh-CN" altLang="en-US" sz="1200"/>
            </a:fld>
            <a:endParaRPr lang="en-US" altLang="zh-CN" sz="1200"/>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ahoma" panose="020B0604030504040204" pitchFamily="34" charset="0"/>
              </a:rPr>
            </a:fld>
            <a:endParaRPr lang="zh-CN" altLang="en-US" sz="1200" dirty="0">
              <a:latin typeface="Tahoma" panose="020B0604030504040204" pitchFamily="34" charset="0"/>
            </a:endParaRPr>
          </a:p>
        </p:txBody>
      </p:sp>
      <p:sp>
        <p:nvSpPr>
          <p:cNvPr id="133123" name="Rectangle 2"/>
          <p:cNvSpPr>
            <a:spLocks noTextEdit="1"/>
          </p:cNvSpPr>
          <p:nvPr>
            <p:ph type="sldImg"/>
          </p:nvPr>
        </p:nvSpPr>
        <p:spPr/>
      </p:sp>
      <p:sp>
        <p:nvSpPr>
          <p:cNvPr id="133124"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FD256E0F-A1EF-4BE7-9DEB-C62BFE22AF36}" type="slidenum">
              <a:rPr lang="zh-CN" altLang="en-US" smtClean="0">
                <a:latin typeface="Tahoma" panose="020B0604030504040204" pitchFamily="34" charset="0"/>
              </a:rPr>
            </a:fld>
            <a:endParaRPr lang="en-US" altLang="zh-CN" smtClean="0">
              <a:latin typeface="Tahoma" panose="020B0604030504040204" pitchFamily="34" charset="0"/>
            </a:endParaRPr>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C570B989-A9F1-46DE-9EA2-D4397A758BF9}" type="slidenum">
              <a:rPr lang="zh-CN" altLang="en-US" smtClean="0">
                <a:latin typeface="Tahoma" panose="020B0604030504040204" pitchFamily="34" charset="0"/>
              </a:rPr>
            </a:fld>
            <a:endParaRPr lang="en-US" altLang="zh-CN" smtClean="0">
              <a:latin typeface="Tahoma" panose="020B0604030504040204" pitchFamily="34" charset="0"/>
            </a:endParaRPr>
          </a:p>
        </p:txBody>
      </p:sp>
      <p:sp>
        <p:nvSpPr>
          <p:cNvPr id="161795" name="Rectangle 2"/>
          <p:cNvSpPr>
            <a:spLocks noGrp="1" noRot="1" noChangeAspect="1" noChangeArrowheads="1" noTextEdit="1"/>
          </p:cNvSpPr>
          <p:nvPr>
            <p:ph type="sldImg"/>
          </p:nvPr>
        </p:nvSpPr>
        <p:spPr/>
      </p:sp>
      <p:sp>
        <p:nvSpPr>
          <p:cNvPr id="161796"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1F50BAEC-87AE-4621-AF4E-5C88113FB783}" type="slidenum">
              <a:rPr lang="zh-CN" altLang="en-US" smtClean="0">
                <a:latin typeface="Tahoma" panose="020B0604030504040204" pitchFamily="34" charset="0"/>
              </a:rPr>
            </a:fld>
            <a:endParaRPr lang="en-US" altLang="zh-CN" smtClean="0">
              <a:latin typeface="Tahoma" panose="020B0604030504040204" pitchFamily="34" charset="0"/>
            </a:endParaRPr>
          </a:p>
        </p:txBody>
      </p:sp>
      <p:sp>
        <p:nvSpPr>
          <p:cNvPr id="162819" name="Rectangle 2"/>
          <p:cNvSpPr>
            <a:spLocks noGrp="1" noRot="1" noChangeAspect="1" noChangeArrowheads="1" noTextEdit="1"/>
          </p:cNvSpPr>
          <p:nvPr>
            <p:ph type="sldImg"/>
          </p:nvPr>
        </p:nvSpPr>
        <p:spPr/>
      </p:sp>
      <p:sp>
        <p:nvSpPr>
          <p:cNvPr id="162820"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C1369CD4-F5B9-4C70-9FD4-4E5A55FD8FF6}" type="slidenum">
              <a:rPr lang="zh-CN" altLang="en-US" smtClean="0">
                <a:latin typeface="Tahoma" panose="020B0604030504040204" pitchFamily="34" charset="0"/>
              </a:rPr>
            </a:fld>
            <a:endParaRPr lang="en-US" altLang="zh-CN" smtClean="0">
              <a:latin typeface="Tahoma" panose="020B0604030504040204" pitchFamily="34" charset="0"/>
            </a:endParaRPr>
          </a:p>
        </p:txBody>
      </p:sp>
      <p:sp>
        <p:nvSpPr>
          <p:cNvPr id="163843" name="Rectangle 2"/>
          <p:cNvSpPr>
            <a:spLocks noGrp="1" noRot="1" noChangeAspect="1" noChangeArrowheads="1" noTextEdit="1"/>
          </p:cNvSpPr>
          <p:nvPr>
            <p:ph type="sldImg"/>
          </p:nvPr>
        </p:nvSpPr>
        <p:spPr/>
      </p:sp>
      <p:sp>
        <p:nvSpPr>
          <p:cNvPr id="163844"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ahoma" panose="020B0604030504040204" pitchFamily="34" charset="0"/>
              </a:rPr>
            </a:fld>
            <a:endParaRPr lang="zh-CN" altLang="en-US" sz="1200" dirty="0">
              <a:latin typeface="Tahoma" panose="020B0604030504040204" pitchFamily="34" charset="0"/>
            </a:endParaRPr>
          </a:p>
        </p:txBody>
      </p:sp>
      <p:sp>
        <p:nvSpPr>
          <p:cNvPr id="201731" name="Rectangle 2"/>
          <p:cNvSpPr>
            <a:spLocks noTextEdit="1"/>
          </p:cNvSpPr>
          <p:nvPr>
            <p:ph type="sldImg"/>
          </p:nvPr>
        </p:nvSpPr>
        <p:spPr/>
      </p:sp>
      <p:sp>
        <p:nvSpPr>
          <p:cNvPr id="201732"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ahoma" panose="020B0604030504040204" pitchFamily="34" charset="0"/>
              </a:rPr>
            </a:fld>
            <a:endParaRPr lang="zh-CN" altLang="en-US" sz="1200" dirty="0">
              <a:latin typeface="Tahoma" panose="020B0604030504040204" pitchFamily="34" charset="0"/>
            </a:endParaRPr>
          </a:p>
        </p:txBody>
      </p:sp>
      <p:sp>
        <p:nvSpPr>
          <p:cNvPr id="202755" name="Rectangle 2"/>
          <p:cNvSpPr>
            <a:spLocks noTextEdit="1"/>
          </p:cNvSpPr>
          <p:nvPr>
            <p:ph type="sldImg"/>
          </p:nvPr>
        </p:nvSpPr>
        <p:spPr/>
      </p:sp>
      <p:sp>
        <p:nvSpPr>
          <p:cNvPr id="202756"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ahoma" panose="020B0604030504040204" pitchFamily="34" charset="0"/>
              </a:rPr>
            </a:fld>
            <a:endParaRPr lang="zh-CN" altLang="en-US" sz="1200" dirty="0">
              <a:latin typeface="Tahoma" panose="020B0604030504040204" pitchFamily="34" charset="0"/>
            </a:endParaRPr>
          </a:p>
        </p:txBody>
      </p:sp>
      <p:sp>
        <p:nvSpPr>
          <p:cNvPr id="203779" name="Rectangle 2"/>
          <p:cNvSpPr>
            <a:spLocks noTextEdit="1"/>
          </p:cNvSpPr>
          <p:nvPr>
            <p:ph type="sldImg"/>
          </p:nvPr>
        </p:nvSpPr>
        <p:spPr/>
      </p:sp>
      <p:sp>
        <p:nvSpPr>
          <p:cNvPr id="203780"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ahoma" panose="020B0604030504040204" pitchFamily="34" charset="0"/>
              </a:rPr>
            </a:fld>
            <a:endParaRPr lang="zh-CN" altLang="en-US" sz="1200" dirty="0">
              <a:latin typeface="Tahoma" panose="020B0604030504040204" pitchFamily="34" charset="0"/>
            </a:endParaRPr>
          </a:p>
        </p:txBody>
      </p:sp>
      <p:sp>
        <p:nvSpPr>
          <p:cNvPr id="204803" name="Rectangle 2"/>
          <p:cNvSpPr>
            <a:spLocks noTextEdit="1"/>
          </p:cNvSpPr>
          <p:nvPr>
            <p:ph type="sldImg"/>
          </p:nvPr>
        </p:nvSpPr>
        <p:spPr/>
      </p:sp>
      <p:sp>
        <p:nvSpPr>
          <p:cNvPr id="204804"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476B69-99F7-4C13-BEE8-DE4930661585}" type="slidenum">
              <a:rPr lang="en-US" altLang="zh-CN" smtClean="0"/>
            </a:fld>
            <a:endParaRPr lang="en-US" altLang="zh-CN" smtClean="0"/>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p:sp>
      <p:sp>
        <p:nvSpPr>
          <p:cNvPr id="1484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anose="020B0604020202020204" pitchFamily="34" charset="0"/>
              </a:rPr>
              <a:t>2001</a:t>
            </a:r>
            <a:r>
              <a:rPr lang="zh-CN" altLang="en-US" smtClean="0">
                <a:latin typeface="Arial" panose="020B0604020202020204" pitchFamily="34" charset="0"/>
              </a:rPr>
              <a:t>年才出现软件安全的著作和学术课程。</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软件安全是计算机安全的一个关键问题，基于互联网的应用软件成为风险最高的软件。</a:t>
            </a:r>
            <a:endParaRPr lang="zh-CN" altLang="en-US" smtClean="0">
              <a:latin typeface="Arial" panose="020B0604020202020204" pitchFamily="34" charset="0"/>
            </a:endParaRPr>
          </a:p>
        </p:txBody>
      </p:sp>
      <p:sp>
        <p:nvSpPr>
          <p:cNvPr id="1484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9D345F2-9303-4334-9FB4-23122A012389}" type="slidenum">
              <a:rPr lang="en-US" altLang="zh-CN" smtClean="0"/>
            </a:fld>
            <a:endParaRPr lang="en-US"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p:sp>
      <p:sp>
        <p:nvSpPr>
          <p:cNvPr id="157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Arial" panose="020B0604020202020204" pitchFamily="34" charset="0"/>
            </a:endParaRPr>
          </a:p>
        </p:txBody>
      </p:sp>
      <p:sp>
        <p:nvSpPr>
          <p:cNvPr id="157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07AD3A-BC0E-47B1-82F6-DBE67BA6042C}" type="slidenum">
              <a:rPr lang="zh-CN" altLang="en-US" smtClean="0"/>
            </a:fld>
            <a:endParaRPr lang="en-US"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3"/>
          <p:cNvSpPr>
            <a:spLocks noGrp="1" noChangeArrowheads="1"/>
          </p:cNvSpPr>
          <p:nvPr>
            <p:ph type="dt" sz="quarter" idx="1"/>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009743C7-914D-410A-AC46-982953C65F60}" type="datetime1">
              <a:rPr lang="zh-CN" altLang="en-US" sz="1200">
                <a:latin typeface="Arial" panose="020B0604020202020204" pitchFamily="34" charset="0"/>
              </a:rPr>
            </a:fld>
            <a:endParaRPr lang="en-US" altLang="zh-CN" sz="1200">
              <a:latin typeface="Arial" panose="020B0604020202020204" pitchFamily="34" charset="0"/>
            </a:endParaRPr>
          </a:p>
        </p:txBody>
      </p:sp>
      <p:sp>
        <p:nvSpPr>
          <p:cNvPr id="182275" name="Rectangle 7"/>
          <p:cNvSpPr>
            <a:spLocks noGrp="1" noChangeArrowheads="1"/>
          </p:cNvSpPr>
          <p:nvPr>
            <p:ph type="sldNum" sz="quarter" idx="5"/>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2BBE87FB-A50A-4FDA-914F-A125410C2C73}" type="slidenum">
              <a:rPr lang="en-US" altLang="zh-CN" sz="1200">
                <a:latin typeface="Arial" panose="020B0604020202020204" pitchFamily="34" charset="0"/>
              </a:rPr>
            </a:fld>
            <a:endParaRPr lang="en-US" altLang="zh-CN" sz="120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FBF0B85E-3D63-4390-ADB0-FBB5398829CD}" type="slidenum">
              <a:rPr lang="zh-CN" altLang="en-US" smtClean="0">
                <a:solidFill>
                  <a:schemeClr val="tx1"/>
                </a:solidFill>
              </a:rPr>
            </a:fld>
            <a:endParaRPr lang="zh-CN" altLang="en-US" smtClean="0">
              <a:solidFill>
                <a:schemeClr val="tx1"/>
              </a:solidFill>
            </a:endParaRPr>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09F5A245-5958-4B5E-9018-7E741ABC4B24}" type="slidenum">
              <a:rPr kumimoji="1" lang="en-US" altLang="zh-CN" smtClean="0">
                <a:solidFill>
                  <a:schemeClr val="tx1"/>
                </a:solidFill>
                <a:latin typeface="Times New Roman" panose="02020603050405020304" pitchFamily="18" charset="0"/>
              </a:rPr>
            </a:fld>
            <a:endParaRPr kumimoji="1" lang="en-US" altLang="zh-CN" smtClean="0">
              <a:solidFill>
                <a:schemeClr val="tx1"/>
              </a:solidFill>
              <a:latin typeface="Times New Roman" panose="02020603050405020304" pitchFamily="18" charset="0"/>
            </a:endParaRPr>
          </a:p>
        </p:txBody>
      </p:sp>
      <p:sp>
        <p:nvSpPr>
          <p:cNvPr id="199683" name="Rectangle 2"/>
          <p:cNvSpPr>
            <a:spLocks noGrp="1" noRot="1" noChangeAspect="1" noChangeArrowheads="1" noTextEdit="1"/>
          </p:cNvSpPr>
          <p:nvPr>
            <p:ph type="sldImg"/>
          </p:nvPr>
        </p:nvSpPr>
        <p:spPr/>
      </p:sp>
      <p:sp>
        <p:nvSpPr>
          <p:cNvPr id="199684"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26DFE9DD-27E5-401A-9DF9-2CD87F0040AF}" type="slidenum">
              <a:rPr lang="zh-CN" altLang="en-US" smtClean="0">
                <a:solidFill>
                  <a:schemeClr val="tx1"/>
                </a:solidFill>
              </a:rPr>
            </a:fld>
            <a:endParaRPr lang="zh-CN" altLang="en-US" smtClean="0">
              <a:solidFill>
                <a:schemeClr val="tx1"/>
              </a:solidFill>
            </a:endParaRPr>
          </a:p>
        </p:txBody>
      </p:sp>
      <p:sp>
        <p:nvSpPr>
          <p:cNvPr id="200707" name="Rectangle 2"/>
          <p:cNvSpPr>
            <a:spLocks noGrp="1" noRot="1" noChangeAspect="1" noChangeArrowheads="1" noTextEdit="1"/>
          </p:cNvSpPr>
          <p:nvPr>
            <p:ph type="sldImg"/>
          </p:nvPr>
        </p:nvSpPr>
        <p:spPr/>
      </p:sp>
      <p:sp>
        <p:nvSpPr>
          <p:cNvPr id="200708"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26DFE9DD-27E5-401A-9DF9-2CD87F0040AF}" type="slidenum">
              <a:rPr lang="zh-CN" altLang="en-US" smtClean="0">
                <a:solidFill>
                  <a:schemeClr val="tx1"/>
                </a:solidFill>
              </a:rPr>
            </a:fld>
            <a:endParaRPr lang="zh-CN" altLang="en-US" smtClean="0">
              <a:solidFill>
                <a:schemeClr val="tx1"/>
              </a:solidFill>
            </a:endParaRPr>
          </a:p>
        </p:txBody>
      </p:sp>
      <p:sp>
        <p:nvSpPr>
          <p:cNvPr id="200707" name="Rectangle 2"/>
          <p:cNvSpPr>
            <a:spLocks noGrp="1" noRot="1" noChangeAspect="1" noChangeArrowheads="1" noTextEdit="1"/>
          </p:cNvSpPr>
          <p:nvPr>
            <p:ph type="sldImg"/>
          </p:nvPr>
        </p:nvSpPr>
        <p:spPr/>
      </p:sp>
      <p:sp>
        <p:nvSpPr>
          <p:cNvPr id="200708"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26DFE9DD-27E5-401A-9DF9-2CD87F0040AF}" type="slidenum">
              <a:rPr lang="zh-CN" altLang="en-US" smtClean="0">
                <a:solidFill>
                  <a:schemeClr val="tx1"/>
                </a:solidFill>
              </a:rPr>
            </a:fld>
            <a:endParaRPr lang="zh-CN" altLang="en-US" smtClean="0">
              <a:solidFill>
                <a:schemeClr val="tx1"/>
              </a:solidFill>
            </a:endParaRPr>
          </a:p>
        </p:txBody>
      </p:sp>
      <p:sp>
        <p:nvSpPr>
          <p:cNvPr id="200707" name="Rectangle 2"/>
          <p:cNvSpPr>
            <a:spLocks noGrp="1" noRot="1" noChangeAspect="1" noChangeArrowheads="1" noTextEdit="1"/>
          </p:cNvSpPr>
          <p:nvPr>
            <p:ph type="sldImg"/>
          </p:nvPr>
        </p:nvSpPr>
        <p:spPr/>
      </p:sp>
      <p:sp>
        <p:nvSpPr>
          <p:cNvPr id="200708"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3DEDA772-5BF5-4097-A0ED-9CFC6841DCD1}" type="slidenum">
              <a:rPr lang="zh-CN" altLang="en-US" smtClean="0">
                <a:solidFill>
                  <a:schemeClr val="tx1"/>
                </a:solidFill>
              </a:rPr>
            </a:fld>
            <a:endParaRPr lang="zh-CN" altLang="en-US" smtClean="0">
              <a:solidFill>
                <a:schemeClr val="tx1"/>
              </a:solidFill>
            </a:endParaRPr>
          </a:p>
        </p:txBody>
      </p:sp>
      <p:sp>
        <p:nvSpPr>
          <p:cNvPr id="212995" name="Rectangle 2"/>
          <p:cNvSpPr>
            <a:spLocks noGrp="1" noRot="1" noChangeAspect="1" noChangeArrowheads="1" noTextEdit="1"/>
          </p:cNvSpPr>
          <p:nvPr>
            <p:ph type="sldImg"/>
          </p:nvPr>
        </p:nvSpPr>
        <p:spPr/>
      </p:sp>
      <p:sp>
        <p:nvSpPr>
          <p:cNvPr id="212996"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3DEDA772-5BF5-4097-A0ED-9CFC6841DCD1}" type="slidenum">
              <a:rPr lang="zh-CN" altLang="en-US" smtClean="0">
                <a:solidFill>
                  <a:schemeClr val="tx1"/>
                </a:solidFill>
              </a:rPr>
            </a:fld>
            <a:endParaRPr lang="zh-CN" altLang="en-US" smtClean="0">
              <a:solidFill>
                <a:schemeClr val="tx1"/>
              </a:solidFill>
            </a:endParaRPr>
          </a:p>
        </p:txBody>
      </p:sp>
      <p:sp>
        <p:nvSpPr>
          <p:cNvPr id="212995" name="Rectangle 2"/>
          <p:cNvSpPr>
            <a:spLocks noGrp="1" noRot="1" noChangeAspect="1" noChangeArrowheads="1" noTextEdit="1"/>
          </p:cNvSpPr>
          <p:nvPr>
            <p:ph type="sldImg"/>
          </p:nvPr>
        </p:nvSpPr>
        <p:spPr/>
      </p:sp>
      <p:sp>
        <p:nvSpPr>
          <p:cNvPr id="212996"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3DEDA772-5BF5-4097-A0ED-9CFC6841DCD1}" type="slidenum">
              <a:rPr lang="zh-CN" altLang="en-US" smtClean="0">
                <a:solidFill>
                  <a:schemeClr val="tx1"/>
                </a:solidFill>
              </a:rPr>
            </a:fld>
            <a:endParaRPr lang="zh-CN" altLang="en-US" smtClean="0">
              <a:solidFill>
                <a:schemeClr val="tx1"/>
              </a:solidFill>
            </a:endParaRPr>
          </a:p>
        </p:txBody>
      </p:sp>
      <p:sp>
        <p:nvSpPr>
          <p:cNvPr id="212995" name="Rectangle 2"/>
          <p:cNvSpPr>
            <a:spLocks noGrp="1" noRot="1" noChangeAspect="1" noChangeArrowheads="1" noTextEdit="1"/>
          </p:cNvSpPr>
          <p:nvPr>
            <p:ph type="sldImg"/>
          </p:nvPr>
        </p:nvSpPr>
        <p:spPr/>
      </p:sp>
      <p:sp>
        <p:nvSpPr>
          <p:cNvPr id="212996"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3DEDA772-5BF5-4097-A0ED-9CFC6841DCD1}" type="slidenum">
              <a:rPr lang="zh-CN" altLang="en-US" smtClean="0">
                <a:solidFill>
                  <a:schemeClr val="tx1"/>
                </a:solidFill>
              </a:rPr>
            </a:fld>
            <a:endParaRPr lang="zh-CN" altLang="en-US" smtClean="0">
              <a:solidFill>
                <a:schemeClr val="tx1"/>
              </a:solidFill>
            </a:endParaRPr>
          </a:p>
        </p:txBody>
      </p:sp>
      <p:sp>
        <p:nvSpPr>
          <p:cNvPr id="212995" name="Rectangle 2"/>
          <p:cNvSpPr>
            <a:spLocks noGrp="1" noRot="1" noChangeAspect="1" noChangeArrowheads="1" noTextEdit="1"/>
          </p:cNvSpPr>
          <p:nvPr>
            <p:ph type="sldImg"/>
          </p:nvPr>
        </p:nvSpPr>
        <p:spPr/>
      </p:sp>
      <p:sp>
        <p:nvSpPr>
          <p:cNvPr id="212996"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eaLnBrk="1" hangingPunct="1"/>
            <a:fld id="{3DEDA772-5BF5-4097-A0ED-9CFC6841DCD1}" type="slidenum">
              <a:rPr lang="zh-CN" altLang="en-US" smtClean="0">
                <a:solidFill>
                  <a:schemeClr val="tx1"/>
                </a:solidFill>
              </a:rPr>
            </a:fld>
            <a:endParaRPr lang="zh-CN" altLang="en-US" smtClean="0">
              <a:solidFill>
                <a:schemeClr val="tx1"/>
              </a:solidFill>
            </a:endParaRPr>
          </a:p>
        </p:txBody>
      </p:sp>
      <p:sp>
        <p:nvSpPr>
          <p:cNvPr id="212995" name="Rectangle 2"/>
          <p:cNvSpPr>
            <a:spLocks noGrp="1" noRot="1" noChangeAspect="1" noChangeArrowheads="1" noTextEdit="1"/>
          </p:cNvSpPr>
          <p:nvPr>
            <p:ph type="sldImg"/>
          </p:nvPr>
        </p:nvSpPr>
        <p:spPr/>
      </p:sp>
      <p:sp>
        <p:nvSpPr>
          <p:cNvPr id="212996"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14400">
              <a:defRPr sz="1900">
                <a:solidFill>
                  <a:schemeClr val="tx1"/>
                </a:solidFill>
                <a:latin typeface="Arial" panose="020B0604020202020204" pitchFamily="34" charset="0"/>
                <a:ea typeface="宋体" panose="02010600030101010101" pitchFamily="2" charset="-122"/>
              </a:defRPr>
            </a:lvl1pPr>
            <a:lvl2pPr algn="ctr" defTabSz="914400">
              <a:defRPr sz="1900">
                <a:solidFill>
                  <a:schemeClr val="tx1"/>
                </a:solidFill>
                <a:latin typeface="Arial" panose="020B0604020202020204" pitchFamily="34" charset="0"/>
                <a:ea typeface="宋体" panose="02010600030101010101" pitchFamily="2" charset="-122"/>
              </a:defRPr>
            </a:lvl2pPr>
            <a:lvl3pPr algn="ctr" defTabSz="914400">
              <a:defRPr sz="1900">
                <a:solidFill>
                  <a:schemeClr val="tx1"/>
                </a:solidFill>
                <a:latin typeface="Arial" panose="020B0604020202020204" pitchFamily="34" charset="0"/>
                <a:ea typeface="宋体" panose="02010600030101010101" pitchFamily="2" charset="-122"/>
              </a:defRPr>
            </a:lvl3pPr>
            <a:lvl4pPr algn="ctr" defTabSz="914400">
              <a:defRPr sz="1900">
                <a:solidFill>
                  <a:schemeClr val="tx1"/>
                </a:solidFill>
                <a:latin typeface="Arial" panose="020B0604020202020204" pitchFamily="34" charset="0"/>
                <a:ea typeface="宋体" panose="02010600030101010101" pitchFamily="2" charset="-122"/>
              </a:defRPr>
            </a:lvl4pPr>
            <a:lvl5pPr algn="ctr" defTabSz="914400">
              <a:defRPr sz="1900">
                <a:solidFill>
                  <a:schemeClr val="tx1"/>
                </a:solidFill>
                <a:latin typeface="Arial" panose="020B0604020202020204" pitchFamily="34" charset="0"/>
                <a:ea typeface="宋体" panose="02010600030101010101" pitchFamily="2" charset="-122"/>
              </a:defRPr>
            </a:lvl5pPr>
            <a:lvl6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6pPr>
            <a:lvl7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7pPr>
            <a:lvl8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8pPr>
            <a:lvl9pPr algn="ctr" defTabSz="914400" fontAlgn="base">
              <a:spcBef>
                <a:spcPct val="20000"/>
              </a:spcBef>
              <a:spcAft>
                <a:spcPct val="0"/>
              </a:spcAft>
              <a:buFont typeface="Wingdings" panose="05000000000000000000" pitchFamily="2" charset="2"/>
              <a:defRPr sz="1900">
                <a:solidFill>
                  <a:schemeClr val="tx1"/>
                </a:solidFill>
                <a:latin typeface="Arial" panose="020B0604020202020204" pitchFamily="34" charset="0"/>
                <a:ea typeface="宋体" panose="02010600030101010101" pitchFamily="2" charset="-122"/>
              </a:defRPr>
            </a:lvl9pPr>
          </a:lstStyle>
          <a:p>
            <a:pPr algn="r"/>
            <a:fld id="{163FFEE2-1262-4B68-877C-074406788613}" type="slidenum">
              <a:rPr lang="en-US" altLang="zh-TW" sz="900">
                <a:ea typeface="PMingLiU" pitchFamily="18" charset="-120"/>
              </a:rPr>
            </a:fld>
            <a:endParaRPr lang="en-US" altLang="zh-TW" sz="900">
              <a:ea typeface="PMingLiU" pitchFamily="18" charset="-120"/>
            </a:endParaRPr>
          </a:p>
          <a:p>
            <a:pPr algn="r"/>
            <a:endParaRPr lang="zh-TW" altLang="en-US" sz="900">
              <a:ea typeface="PMingLiU" pitchFamily="18" charset="-120"/>
            </a:endParaRPr>
          </a:p>
        </p:txBody>
      </p:sp>
      <p:sp>
        <p:nvSpPr>
          <p:cNvPr id="13314" name="Rectangle 2"/>
          <p:cNvSpPr>
            <a:spLocks noGrp="1" noRot="1" noChangeAspect="1" noChangeArrowheads="1" noTextEdit="1"/>
          </p:cNvSpPr>
          <p:nvPr>
            <p:ph type="sldImg" idx="4294967295"/>
          </p:nvPr>
        </p:nvSpPr>
        <p:spPr>
          <a:xfrm>
            <a:off x="1247775" y="300038"/>
            <a:ext cx="4370388" cy="3276600"/>
          </a:xfrm>
          <a:solidFill>
            <a:srgbClr val="FFFFFF"/>
          </a:solidFill>
          <a:ln>
            <a:solidFill>
              <a:srgbClr val="000000"/>
            </a:solidFill>
            <a:miter lim="800000"/>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3"/>
          <p:cNvSpPr>
            <a:spLocks noGrp="1" noChangeArrowheads="1"/>
          </p:cNvSpPr>
          <p:nvPr>
            <p:ph type="dt" sz="quarter" idx="1"/>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783DC0BA-92C5-42E8-A9A8-E46F0243D2B4}" type="datetime1">
              <a:rPr lang="zh-CN" altLang="en-US" smtClean="0">
                <a:latin typeface="Arial" panose="020B0604020202020204" pitchFamily="34" charset="0"/>
              </a:rPr>
            </a:fld>
            <a:endParaRPr lang="en-US" altLang="zh-CN" smtClean="0">
              <a:latin typeface="Arial" panose="020B0604020202020204" pitchFamily="34" charset="0"/>
            </a:endParaRPr>
          </a:p>
        </p:txBody>
      </p:sp>
      <p:sp>
        <p:nvSpPr>
          <p:cNvPr id="371715" name="Rectangle 7"/>
          <p:cNvSpPr>
            <a:spLocks noGrp="1" noChangeArrowheads="1"/>
          </p:cNvSpPr>
          <p:nvPr>
            <p:ph type="sldNum" sz="quarter" idx="5"/>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009230A0-7F98-4555-9BB2-90C6753F2DE8}" type="slidenum">
              <a:rPr lang="en-US" altLang="zh-CN" smtClean="0">
                <a:latin typeface="Arial" panose="020B0604020202020204" pitchFamily="34" charset="0"/>
              </a:rPr>
            </a:fld>
            <a:endParaRPr lang="en-US" altLang="zh-CN" smtClean="0">
              <a:latin typeface="Arial" panose="020B0604020202020204" pitchFamily="34" charset="0"/>
            </a:endParaRPr>
          </a:p>
        </p:txBody>
      </p:sp>
      <p:sp>
        <p:nvSpPr>
          <p:cNvPr id="371716" name="Rectangle 2"/>
          <p:cNvSpPr>
            <a:spLocks noGrp="1" noRot="1" noChangeAspect="1" noChangeArrowheads="1" noTextEdit="1"/>
          </p:cNvSpPr>
          <p:nvPr>
            <p:ph type="sldImg"/>
          </p:nvPr>
        </p:nvSpPr>
        <p:spPr>
          <a:ln cap="flat"/>
        </p:spPr>
      </p:sp>
      <p:sp>
        <p:nvSpPr>
          <p:cNvPr id="371717" name="Rectangle 3"/>
          <p:cNvSpPr>
            <a:spLocks noGrp="1" noChangeArrowheads="1"/>
          </p:cNvSpPr>
          <p:nvPr>
            <p:ph type="body" idx="1"/>
          </p:nvPr>
        </p:nvSpPr>
        <p:spPr>
          <a:noFill/>
        </p:spPr>
        <p:txBody>
          <a:bodyPr/>
          <a:lstStyle/>
          <a:p>
            <a:pPr eaLnBrk="1" hangingPunct="1"/>
            <a:endParaRPr lang="zh-CN" altLang="zh-CN" smtClean="0">
              <a:latin typeface="宋体" panose="02010600030101010101" pitchFamily="2" charset="-122"/>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6553200" y="6248400"/>
            <a:ext cx="1905000" cy="457200"/>
          </a:xfrm>
          <a:prstGeom prst="rect">
            <a:avLst/>
          </a:prstGeom>
        </p:spPr>
        <p:txBody>
          <a:bodyPr/>
          <a:lstStyle>
            <a:lvl1pPr>
              <a:defRPr/>
            </a:lvl1pPr>
          </a:lstStyle>
          <a:p>
            <a:pPr>
              <a:defRPr/>
            </a:pPr>
            <a:fld id="{6E933E84-175B-43FF-B1B3-025E2C9CCD1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11"/>
          <p:cNvSpPr>
            <a:spLocks noGrp="1" noChangeArrowheads="1"/>
          </p:cNvSpPr>
          <p:nvPr>
            <p:ph type="dt" sz="half" idx="10"/>
          </p:nvPr>
        </p:nvSpPr>
        <p:spPr>
          <a:xfrm>
            <a:off x="1162050" y="6243638"/>
            <a:ext cx="1905000" cy="457200"/>
          </a:xfrm>
          <a:prstGeom prst="rect">
            <a:avLst/>
          </a:prstGeom>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xfrm>
            <a:off x="3657600" y="6243638"/>
            <a:ext cx="2895600" cy="457200"/>
          </a:xfrm>
          <a:prstGeom prst="rect">
            <a:avLst/>
          </a:prstGeom>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xfrm>
            <a:off x="7042150" y="6243638"/>
            <a:ext cx="1905000" cy="457200"/>
          </a:xfrm>
          <a:prstGeom prst="rect">
            <a:avLst/>
          </a:prstGeom>
        </p:spPr>
        <p:txBody>
          <a:bodyPr/>
          <a:lstStyle>
            <a:lvl1pPr>
              <a:defRPr/>
            </a:lvl1pPr>
          </a:lstStyle>
          <a:p>
            <a:pPr>
              <a:defRPr/>
            </a:pPr>
            <a:fld id="{1975A4D1-13F2-40FB-B07A-C25F77CB2A3A}"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oleObject" Target="../embeddings/oleObject1.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oleObject" Target="../embeddings/oleObject7.bin"/><Relationship Id="rId7" Type="http://schemas.openxmlformats.org/officeDocument/2006/relationships/oleObject" Target="../embeddings/oleObject6.bin"/><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 Id="rId3" Type="http://schemas.openxmlformats.org/officeDocument/2006/relationships/image" Target="../media/image24.wmf"/><Relationship Id="rId2" Type="http://schemas.openxmlformats.org/officeDocument/2006/relationships/oleObject" Target="../embeddings/oleObject2.bin"/><Relationship Id="rId12" Type="http://schemas.openxmlformats.org/officeDocument/2006/relationships/notesSlide" Target="../notesSlides/notesSlide46.xml"/><Relationship Id="rId11" Type="http://schemas.openxmlformats.org/officeDocument/2006/relationships/vmlDrawing" Target="../drawings/vmlDrawing2.vml"/><Relationship Id="rId10" Type="http://schemas.openxmlformats.org/officeDocument/2006/relationships/slideLayout" Target="../slideLayouts/slideLayout4.xml"/><Relationship Id="rId1" Type="http://schemas.openxmlformats.org/officeDocument/2006/relationships/image" Target="../media/image23.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1.xml"/><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2.xml"/><Relationship Id="rId6" Type="http://schemas.openxmlformats.org/officeDocument/2006/relationships/image" Target="../media/image34.png"/><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28.wmf"/><Relationship Id="rId1" Type="http://schemas.openxmlformats.org/officeDocument/2006/relationships/image" Target="../media/image30.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6.png"/><Relationship Id="rId1" Type="http://schemas.openxmlformats.org/officeDocument/2006/relationships/hyperlink" Target="http://coolersky.com/images/articles/2007/0618/0311240001.png" TargetMode="Externa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3.xml"/><Relationship Id="rId1" Type="http://schemas.openxmlformats.org/officeDocument/2006/relationships/image" Target="../media/image3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660400"/>
            <a:ext cx="7772400" cy="1470025"/>
          </a:xfrm>
        </p:spPr>
        <p:txBody>
          <a:bodyPr/>
          <a:lstStyle/>
          <a:p>
            <a:r>
              <a:rPr lang="zh-CN" altLang="en-US" sz="4400" dirty="0"/>
              <a:t>信息安全概论</a:t>
            </a:r>
            <a:br>
              <a:rPr lang="en-US" altLang="zh-CN" sz="4400" dirty="0" smtClean="0"/>
            </a:br>
            <a:r>
              <a:rPr lang="zh-CN" altLang="en-US" dirty="0" smtClean="0"/>
              <a:t>第十五讲 课程复习</a:t>
            </a:r>
            <a:endParaRPr lang="zh-CN" altLang="en-US" sz="4400" dirty="0"/>
          </a:p>
        </p:txBody>
      </p:sp>
      <p:sp>
        <p:nvSpPr>
          <p:cNvPr id="4099" name="Text Box 3"/>
          <p:cNvSpPr txBox="1">
            <a:spLocks noChangeArrowheads="1"/>
          </p:cNvSpPr>
          <p:nvPr/>
        </p:nvSpPr>
        <p:spPr bwMode="auto">
          <a:xfrm>
            <a:off x="2339975" y="3357563"/>
            <a:ext cx="374419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dirty="0" smtClean="0">
                <a:ea typeface="微软雅黑" panose="020B0503020204020204" pitchFamily="34" charset="-122"/>
                <a:sym typeface="Arial" panose="020B0604020202020204" pitchFamily="34" charset="0"/>
              </a:rPr>
              <a:t>广东工业大学</a:t>
            </a:r>
            <a:endParaRPr lang="en-US" altLang="zh-CN" sz="3200" b="1" dirty="0" smtClean="0">
              <a:ea typeface="微软雅黑" panose="020B0503020204020204" pitchFamily="34" charset="-122"/>
              <a:sym typeface="Arial" panose="020B0604020202020204" pitchFamily="34" charset="0"/>
            </a:endParaRPr>
          </a:p>
          <a:p>
            <a:pPr algn="ctr" eaLnBrk="1" hangingPunct="1"/>
            <a:r>
              <a:rPr lang="zh-CN" altLang="en-US" sz="3200" b="1" dirty="0" smtClean="0">
                <a:ea typeface="微软雅黑" panose="020B0503020204020204" pitchFamily="34" charset="-122"/>
                <a:sym typeface="Arial" panose="020B0604020202020204" pitchFamily="34" charset="0"/>
              </a:rPr>
              <a:t>主讲</a:t>
            </a:r>
            <a:r>
              <a:rPr lang="zh-CN" altLang="en-US" sz="3200" b="1" dirty="0">
                <a:ea typeface="微软雅黑" panose="020B0503020204020204" pitchFamily="34" charset="-122"/>
                <a:sym typeface="Arial" panose="020B0604020202020204" pitchFamily="34" charset="0"/>
              </a:rPr>
              <a:t>教师</a:t>
            </a:r>
            <a:r>
              <a:rPr lang="zh-CN" altLang="en-US" sz="3200" b="1" dirty="0" smtClean="0">
                <a:ea typeface="微软雅黑" panose="020B0503020204020204" pitchFamily="34" charset="-122"/>
                <a:sym typeface="Arial" panose="020B0604020202020204" pitchFamily="34" charset="0"/>
              </a:rPr>
              <a:t>：陈家辉</a:t>
            </a:r>
            <a:endParaRPr lang="zh-CN" altLang="en-US" sz="3200" b="1" dirty="0">
              <a:ea typeface="微软雅黑" panose="020B0503020204020204" pitchFamily="34" charset="-122"/>
              <a:sym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000" b="1" dirty="0" smtClean="0">
                <a:ea typeface="PMingLiU" pitchFamily="18" charset="-120"/>
              </a:rPr>
              <a:t>课程复习</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3"/>
          <p:cNvSpPr>
            <a:spLocks noGrp="1"/>
          </p:cNvSpPr>
          <p:nvPr>
            <p:ph type="dt" sz="quarter" idx="4294967295"/>
          </p:nvPr>
        </p:nvSpPr>
        <p:spPr>
          <a:xfrm>
            <a:off x="457200" y="6356350"/>
            <a:ext cx="2133600" cy="365125"/>
          </a:xfrm>
          <a:prstGeom prst="rect">
            <a:avLst/>
          </a:prstGeom>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AA7996FB-A23A-4575-ABA7-C0F93E01C4AA}" type="datetime1">
              <a:rPr lang="zh-CN" altLang="en-US"/>
            </a:fld>
            <a:endParaRPr lang="en-US" altLang="zh-CN"/>
          </a:p>
        </p:txBody>
      </p:sp>
      <p:sp>
        <p:nvSpPr>
          <p:cNvPr id="4100" name="灯片编号占位符 5"/>
          <p:cNvSpPr>
            <a:spLocks noGrp="1"/>
          </p:cNvSpPr>
          <p:nvPr>
            <p:ph type="sldNum" sz="quarter" idx="4294967295"/>
          </p:nvPr>
        </p:nvSpPr>
        <p:spPr>
          <a:xfrm>
            <a:off x="6553200" y="6356350"/>
            <a:ext cx="2133600" cy="365125"/>
          </a:xfrm>
          <a:prstGeom prst="rect">
            <a:avLst/>
          </a:prstGeom>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90038FD0-260B-498D-9AC5-D7BACB528B64}" type="slidenum">
              <a:rPr lang="en-US" altLang="zh-CN"/>
            </a:fld>
            <a:endParaRPr lang="en-US" altLang="zh-CN"/>
          </a:p>
        </p:txBody>
      </p:sp>
      <p:sp>
        <p:nvSpPr>
          <p:cNvPr id="4101" name="Rectangle 2"/>
          <p:cNvSpPr>
            <a:spLocks noGrp="1" noChangeArrowheads="1"/>
          </p:cNvSpPr>
          <p:nvPr>
            <p:ph type="title"/>
          </p:nvPr>
        </p:nvSpPr>
        <p:spPr/>
        <p:txBody>
          <a:bodyPr/>
          <a:lstStyle/>
          <a:p>
            <a:pPr eaLnBrk="1" hangingPunct="1"/>
            <a:r>
              <a:rPr lang="zh-CN" altLang="en-US" sz="4000" smtClean="0">
                <a:ea typeface="黑体" panose="02010609060101010101" pitchFamily="2" charset="-122"/>
              </a:rPr>
              <a:t>复习纲要</a:t>
            </a:r>
            <a:endParaRPr lang="zh-CN" altLang="en-US" sz="4000" smtClean="0">
              <a:ea typeface="黑体" panose="02010609060101010101" pitchFamily="2" charset="-122"/>
            </a:endParaRPr>
          </a:p>
        </p:txBody>
      </p:sp>
      <p:sp>
        <p:nvSpPr>
          <p:cNvPr id="4102" name="Rectangle 3"/>
          <p:cNvSpPr>
            <a:spLocks noGrp="1" noChangeArrowheads="1"/>
          </p:cNvSpPr>
          <p:nvPr>
            <p:ph type="body" idx="1"/>
          </p:nvPr>
        </p:nvSpPr>
        <p:spPr/>
        <p:txBody>
          <a:bodyPr/>
          <a:lstStyle/>
          <a:p>
            <a:pPr eaLnBrk="1" hangingPunct="1"/>
            <a:r>
              <a:rPr lang="zh-CN" altLang="en-US" dirty="0" smtClean="0"/>
              <a:t>课程安排</a:t>
            </a:r>
            <a:endParaRPr lang="zh-CN" altLang="en-US" dirty="0" smtClean="0"/>
          </a:p>
          <a:p>
            <a:pPr eaLnBrk="1" hangingPunct="1"/>
            <a:r>
              <a:rPr lang="zh-CN" altLang="en-US" dirty="0" smtClean="0"/>
              <a:t>课程内容</a:t>
            </a:r>
            <a:endParaRPr lang="zh-CN" altLang="en-US" dirty="0" smtClean="0"/>
          </a:p>
          <a:p>
            <a:pPr eaLnBrk="1" hangingPunct="1"/>
            <a:r>
              <a:rPr lang="zh-CN" altLang="en-US" dirty="0" smtClean="0"/>
              <a:t>试卷题型</a:t>
            </a:r>
            <a:endParaRPr lang="zh-CN" altLang="en-US" dirty="0" smtClean="0"/>
          </a:p>
          <a:p>
            <a:pPr eaLnBrk="1" hangingPunct="1"/>
            <a:r>
              <a:rPr lang="zh-CN" altLang="en-US" dirty="0" smtClean="0"/>
              <a:t>考试事宜</a:t>
            </a:r>
            <a:endParaRPr lang="zh-CN" altLang="en-US" dirty="0" smtClean="0"/>
          </a:p>
        </p:txBody>
      </p:sp>
      <p:pic>
        <p:nvPicPr>
          <p:cNvPr id="19460" name="Picture 4" descr="j13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56325" y="1989138"/>
            <a:ext cx="1979613"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dissolve">
                                      <p:cBhvr>
                                        <p:cTn id="7"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4294967295"/>
          </p:nvPr>
        </p:nvSpPr>
        <p:spPr>
          <a:xfrm>
            <a:off x="457200" y="6356350"/>
            <a:ext cx="2133600" cy="365125"/>
          </a:xfrm>
          <a:prstGeom prst="rect">
            <a:avLst/>
          </a:prstGeom>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42396DDE-FB99-44D3-8930-9425C173A9A1}" type="datetime1">
              <a:rPr lang="zh-CN" altLang="en-US"/>
            </a:fld>
            <a:endParaRPr lang="en-US" altLang="zh-CN"/>
          </a:p>
        </p:txBody>
      </p:sp>
      <p:sp>
        <p:nvSpPr>
          <p:cNvPr id="5124" name="灯片编号占位符 5"/>
          <p:cNvSpPr>
            <a:spLocks noGrp="1"/>
          </p:cNvSpPr>
          <p:nvPr>
            <p:ph type="sldNum" sz="quarter" idx="4294967295"/>
          </p:nvPr>
        </p:nvSpPr>
        <p:spPr>
          <a:xfrm>
            <a:off x="6553200" y="6356350"/>
            <a:ext cx="2133600" cy="365125"/>
          </a:xfrm>
          <a:prstGeom prst="rect">
            <a:avLst/>
          </a:prstGeom>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8221D91-46CF-44EF-808C-A0C91C1CC958}" type="slidenum">
              <a:rPr lang="en-US" altLang="zh-CN"/>
            </a:fld>
            <a:endParaRPr lang="en-US" altLang="zh-CN"/>
          </a:p>
        </p:txBody>
      </p:sp>
      <p:sp>
        <p:nvSpPr>
          <p:cNvPr id="5125" name="Rectangle 2"/>
          <p:cNvSpPr>
            <a:spLocks noGrp="1" noChangeArrowheads="1"/>
          </p:cNvSpPr>
          <p:nvPr>
            <p:ph type="title"/>
          </p:nvPr>
        </p:nvSpPr>
        <p:spPr>
          <a:xfrm>
            <a:off x="574675" y="549275"/>
            <a:ext cx="8001000" cy="971550"/>
          </a:xfrm>
          <a:noFill/>
        </p:spPr>
        <p:txBody>
          <a:bodyPr lIns="92075" tIns="46038" rIns="92075" bIns="46038" anchor="ctr"/>
          <a:lstStyle/>
          <a:p>
            <a:pPr eaLnBrk="1" hangingPunct="1"/>
            <a:r>
              <a:rPr lang="zh-CN" altLang="en-US" smtClean="0">
                <a:solidFill>
                  <a:srgbClr val="009900"/>
                </a:solidFill>
              </a:rPr>
              <a:t>课程安排</a:t>
            </a:r>
            <a:endParaRPr lang="zh-CN" altLang="en-US" smtClean="0">
              <a:solidFill>
                <a:srgbClr val="009900"/>
              </a:solidFill>
            </a:endParaRPr>
          </a:p>
        </p:txBody>
      </p:sp>
      <p:sp>
        <p:nvSpPr>
          <p:cNvPr id="6" name="Rectangle 3"/>
          <p:cNvSpPr txBox="1">
            <a:spLocks noChangeArrowheads="1"/>
          </p:cNvSpPr>
          <p:nvPr/>
        </p:nvSpPr>
        <p:spPr>
          <a:xfrm>
            <a:off x="395536" y="1412776"/>
            <a:ext cx="8229600" cy="4525963"/>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smtClean="0">
                <a:solidFill>
                  <a:srgbClr val="000099"/>
                </a:solidFill>
              </a:rPr>
              <a:t>课程信息：</a:t>
            </a:r>
            <a:endParaRPr lang="zh-CN" altLang="en-US" dirty="0" smtClean="0">
              <a:solidFill>
                <a:srgbClr val="000099"/>
              </a:solidFill>
            </a:endParaRPr>
          </a:p>
          <a:p>
            <a:r>
              <a:rPr lang="zh-CN" altLang="en-US" dirty="0" smtClean="0"/>
              <a:t>总学时：32</a:t>
            </a:r>
            <a:endParaRPr lang="zh-CN" altLang="en-US" dirty="0" smtClean="0"/>
          </a:p>
          <a:p>
            <a:r>
              <a:rPr lang="zh-CN" altLang="en-US" dirty="0" smtClean="0"/>
              <a:t>考核方式：考试（考试成绩+平时成绩）</a:t>
            </a:r>
            <a:endParaRPr lang="zh-CN" altLang="en-US" dirty="0" smtClean="0"/>
          </a:p>
          <a:p>
            <a:r>
              <a:rPr lang="zh-CN" altLang="en-US" dirty="0" smtClean="0"/>
              <a:t>教材信息：《信息安全概论》郝玉洁等编著，清华大学出版社；</a:t>
            </a:r>
            <a:endParaRPr lang="zh-CN" altLang="en-US" dirty="0" smtClean="0"/>
          </a:p>
          <a:p>
            <a:r>
              <a:rPr lang="zh-CN" altLang="en-US" dirty="0" smtClean="0"/>
              <a:t>参考教材：</a:t>
            </a:r>
            <a:endParaRPr lang="zh-CN" altLang="en-US" dirty="0" smtClean="0"/>
          </a:p>
          <a:p>
            <a:r>
              <a:rPr lang="zh-CN" altLang="en-US" dirty="0" smtClean="0"/>
              <a:t>《信息安全原理与技术》清华大学出版社，郭亚军等编著。</a:t>
            </a:r>
            <a:endParaRPr lang="zh-CN" altLang="en-US" dirty="0" smtClean="0"/>
          </a:p>
          <a:p>
            <a:r>
              <a:rPr lang="zh-CN" altLang="en-US" dirty="0" smtClean="0"/>
              <a:t>《信息安全技术实验》清华大学出版社，王新昌等编著。</a:t>
            </a:r>
            <a:endParaRPr lang="zh-CN" altLang="en-US" dirty="0" smtClean="0"/>
          </a:p>
        </p:txBody>
      </p:sp>
      <p:sp>
        <p:nvSpPr>
          <p:cNvPr id="3" name="内容占位符 2"/>
          <p:cNvSpPr>
            <a:spLocks noGrp="1"/>
          </p:cNvSpPr>
          <p:nvPr>
            <p:ph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4294967295"/>
          </p:nvPr>
        </p:nvSpPr>
        <p:spPr>
          <a:xfrm>
            <a:off x="457200" y="6356350"/>
            <a:ext cx="2133600" cy="365125"/>
          </a:xfrm>
          <a:prstGeom prst="rect">
            <a:avLst/>
          </a:prstGeom>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42396DDE-FB99-44D3-8930-9425C173A9A1}" type="datetime1">
              <a:rPr lang="zh-CN" altLang="en-US"/>
            </a:fld>
            <a:endParaRPr lang="en-US" altLang="zh-CN"/>
          </a:p>
        </p:txBody>
      </p:sp>
      <p:sp>
        <p:nvSpPr>
          <p:cNvPr id="5124" name="灯片编号占位符 5"/>
          <p:cNvSpPr>
            <a:spLocks noGrp="1"/>
          </p:cNvSpPr>
          <p:nvPr>
            <p:ph type="sldNum" sz="quarter" idx="4294967295"/>
          </p:nvPr>
        </p:nvSpPr>
        <p:spPr>
          <a:xfrm>
            <a:off x="6553200" y="6356350"/>
            <a:ext cx="2133600" cy="365125"/>
          </a:xfrm>
          <a:prstGeom prst="rect">
            <a:avLst/>
          </a:prstGeom>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8221D91-46CF-44EF-808C-A0C91C1CC958}" type="slidenum">
              <a:rPr lang="en-US" altLang="zh-CN"/>
            </a:fld>
            <a:endParaRPr lang="en-US" altLang="zh-CN"/>
          </a:p>
        </p:txBody>
      </p:sp>
      <p:sp>
        <p:nvSpPr>
          <p:cNvPr id="5125" name="Rectangle 2"/>
          <p:cNvSpPr>
            <a:spLocks noGrp="1" noChangeArrowheads="1"/>
          </p:cNvSpPr>
          <p:nvPr>
            <p:ph type="title"/>
          </p:nvPr>
        </p:nvSpPr>
        <p:spPr>
          <a:xfrm>
            <a:off x="574675" y="549275"/>
            <a:ext cx="8001000" cy="971550"/>
          </a:xfrm>
          <a:noFill/>
        </p:spPr>
        <p:txBody>
          <a:bodyPr lIns="92075" tIns="46038" rIns="92075" bIns="46038" anchor="ctr"/>
          <a:lstStyle/>
          <a:p>
            <a:pPr eaLnBrk="1" hangingPunct="1"/>
            <a:r>
              <a:rPr lang="zh-CN" altLang="en-US" smtClean="0">
                <a:solidFill>
                  <a:srgbClr val="009900"/>
                </a:solidFill>
              </a:rPr>
              <a:t>课程安排</a:t>
            </a:r>
            <a:endParaRPr lang="zh-CN" altLang="en-US" smtClean="0">
              <a:solidFill>
                <a:srgbClr val="009900"/>
              </a:solidFill>
            </a:endParaRPr>
          </a:p>
        </p:txBody>
      </p:sp>
      <p:sp>
        <p:nvSpPr>
          <p:cNvPr id="5126" name="Rectangle 3"/>
          <p:cNvSpPr>
            <a:spLocks noGrp="1" noChangeArrowheads="1"/>
          </p:cNvSpPr>
          <p:nvPr>
            <p:ph type="body" idx="1"/>
          </p:nvPr>
        </p:nvSpPr>
        <p:spPr>
          <a:xfrm>
            <a:off x="684213" y="1700213"/>
            <a:ext cx="7848600" cy="4465637"/>
          </a:xfrm>
          <a:noFill/>
        </p:spPr>
        <p:txBody>
          <a:bodyPr lIns="92075" tIns="46038" rIns="92075" bIns="46038"/>
          <a:lstStyle/>
          <a:p>
            <a:pPr eaLnBrk="1" hangingPunct="1">
              <a:lnSpc>
                <a:spcPct val="80000"/>
              </a:lnSpc>
            </a:pPr>
            <a:r>
              <a:rPr lang="zh-CN" altLang="en-US" sz="2800" dirty="0" smtClean="0"/>
              <a:t>课时：</a:t>
            </a:r>
            <a:r>
              <a:rPr lang="en-US" altLang="zh-CN" sz="2800" dirty="0" smtClean="0"/>
              <a:t>32/2</a:t>
            </a:r>
            <a:endParaRPr lang="en-US" altLang="zh-CN" sz="2800" dirty="0" smtClean="0"/>
          </a:p>
          <a:p>
            <a:pPr eaLnBrk="1" hangingPunct="1">
              <a:lnSpc>
                <a:spcPct val="80000"/>
              </a:lnSpc>
            </a:pPr>
            <a:r>
              <a:rPr lang="zh-CN" altLang="en-US" sz="2800" dirty="0" smtClean="0"/>
              <a:t>内容：课堂讲授 </a:t>
            </a:r>
            <a:endParaRPr lang="en-US" altLang="zh-CN" sz="2800" dirty="0" smtClean="0"/>
          </a:p>
          <a:p>
            <a:pPr eaLnBrk="1" hangingPunct="1">
              <a:lnSpc>
                <a:spcPct val="80000"/>
              </a:lnSpc>
            </a:pPr>
            <a:r>
              <a:rPr lang="zh-CN" altLang="en-US" sz="2800" dirty="0" smtClean="0"/>
              <a:t>考核方式：笔试（闭卷，</a:t>
            </a:r>
            <a:r>
              <a:rPr lang="en-US" altLang="zh-CN" sz="2800" dirty="0" smtClean="0"/>
              <a:t>80</a:t>
            </a:r>
            <a:r>
              <a:rPr lang="zh-CN" altLang="en-US" sz="2800" dirty="0" smtClean="0"/>
              <a:t>分） </a:t>
            </a:r>
            <a:r>
              <a:rPr lang="en-US" altLang="zh-CN" sz="2800" dirty="0" smtClean="0"/>
              <a:t>+ </a:t>
            </a:r>
            <a:r>
              <a:rPr lang="zh-CN" altLang="en-US" sz="2800" dirty="0" smtClean="0"/>
              <a:t>平时（</a:t>
            </a:r>
            <a:r>
              <a:rPr lang="en-US" altLang="zh-CN" sz="2800" dirty="0" smtClean="0"/>
              <a:t>20</a:t>
            </a:r>
            <a:r>
              <a:rPr lang="zh-CN" altLang="en-US" sz="2800" dirty="0" smtClean="0"/>
              <a:t>分）</a:t>
            </a:r>
            <a:endParaRPr lang="zh-CN" altLang="en-US" sz="2800" dirty="0" smtClean="0"/>
          </a:p>
          <a:p>
            <a:pPr eaLnBrk="1" hangingPunct="1">
              <a:lnSpc>
                <a:spcPct val="80000"/>
              </a:lnSpc>
            </a:pPr>
            <a:r>
              <a:rPr lang="zh-CN" altLang="en-US" sz="2800" dirty="0" smtClean="0"/>
              <a:t>考试题型：</a:t>
            </a:r>
            <a:endParaRPr lang="en-US" altLang="zh-CN" sz="2800" dirty="0" smtClean="0"/>
          </a:p>
          <a:p>
            <a:pPr eaLnBrk="1" hangingPunct="1">
              <a:lnSpc>
                <a:spcPct val="80000"/>
              </a:lnSpc>
            </a:pPr>
            <a:r>
              <a:rPr lang="zh-CN" altLang="en-US" sz="2800" dirty="0" smtClean="0"/>
              <a:t>填简答题</a:t>
            </a:r>
            <a:r>
              <a:rPr lang="en-US" altLang="zh-CN" sz="2800" dirty="0" smtClean="0"/>
              <a:t>4</a:t>
            </a:r>
            <a:r>
              <a:rPr lang="zh-CN" altLang="en-US" sz="2800" dirty="0" smtClean="0"/>
              <a:t>题</a:t>
            </a:r>
            <a:r>
              <a:rPr lang="en-US" altLang="zh-CN" sz="2800" dirty="0" smtClean="0"/>
              <a:t>40%</a:t>
            </a:r>
            <a:r>
              <a:rPr lang="zh-CN" altLang="en-US" sz="2800" dirty="0" smtClean="0"/>
              <a:t>，论述题</a:t>
            </a:r>
            <a:r>
              <a:rPr lang="en-US" altLang="zh-CN" sz="2800" dirty="0" smtClean="0"/>
              <a:t>4</a:t>
            </a:r>
            <a:r>
              <a:rPr lang="zh-CN" altLang="en-US" sz="2800" dirty="0" smtClean="0"/>
              <a:t>题</a:t>
            </a:r>
            <a:r>
              <a:rPr lang="en-US" altLang="zh-CN" sz="2800" dirty="0" smtClean="0"/>
              <a:t>60%</a:t>
            </a:r>
            <a:endParaRPr lang="zh-CN" altLang="en-US" sz="28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AD050844-0D7C-4F39-AB41-38FDE75A18E0}"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9219" name="Rectangle 5"/>
          <p:cNvSpPr>
            <a:spLocks noChangeArrowheads="1"/>
          </p:cNvSpPr>
          <p:nvPr/>
        </p:nvSpPr>
        <p:spPr bwMode="auto">
          <a:xfrm>
            <a:off x="2906713" y="1430338"/>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u="none">
                <a:solidFill>
                  <a:schemeClr val="tx1"/>
                </a:solidFill>
                <a:latin typeface="宋体" panose="02010600030101010101" pitchFamily="2" charset="-122"/>
                <a:ea typeface="宋体" panose="02010600030101010101" pitchFamily="2" charset="-122"/>
              </a:rPr>
              <a:t> </a:t>
            </a:r>
            <a:r>
              <a:rPr lang="zh-CN" altLang="en-US" sz="2400" u="none">
                <a:solidFill>
                  <a:schemeClr val="tx1"/>
                </a:solidFill>
                <a:latin typeface="宋体" panose="02010600030101010101" pitchFamily="2" charset="-122"/>
                <a:ea typeface="宋体" panose="02010600030101010101" pitchFamily="2" charset="-122"/>
              </a:rPr>
              <a:t>概述</a:t>
            </a:r>
            <a:endParaRPr lang="zh-CN" altLang="en-US" sz="2400" u="none">
              <a:solidFill>
                <a:schemeClr val="tx1"/>
              </a:solidFill>
              <a:latin typeface="宋体" panose="02010600030101010101" pitchFamily="2" charset="-122"/>
              <a:ea typeface="宋体" panose="02010600030101010101" pitchFamily="2" charset="-122"/>
            </a:endParaRPr>
          </a:p>
        </p:txBody>
      </p:sp>
      <p:sp>
        <p:nvSpPr>
          <p:cNvPr id="9220" name="Rectangle 2"/>
          <p:cNvSpPr>
            <a:spLocks noGrp="1" noChangeArrowheads="1"/>
          </p:cNvSpPr>
          <p:nvPr>
            <p:ph type="title" idx="4294967295"/>
          </p:nvPr>
        </p:nvSpPr>
        <p:spPr>
          <a:xfrm>
            <a:off x="1854200" y="304800"/>
            <a:ext cx="6462713" cy="609600"/>
          </a:xfrm>
        </p:spPr>
        <p:txBody>
          <a:bodyPr>
            <a:normAutofit fontScale="90000"/>
          </a:bodyPr>
          <a:lstStyle/>
          <a:p>
            <a:pPr eaLnBrk="1" hangingPunct="1"/>
            <a:r>
              <a:rPr lang="zh-CN" altLang="en-US" smtClean="0"/>
              <a:t>信息安全概论</a:t>
            </a:r>
            <a:endParaRPr lang="zh-CN" altLang="en-US" smtClean="0"/>
          </a:p>
        </p:txBody>
      </p:sp>
      <p:sp>
        <p:nvSpPr>
          <p:cNvPr id="9221" name="Rectangle 33"/>
          <p:cNvSpPr>
            <a:spLocks noChangeArrowheads="1"/>
          </p:cNvSpPr>
          <p:nvPr/>
        </p:nvSpPr>
        <p:spPr bwMode="auto">
          <a:xfrm>
            <a:off x="2906713" y="2270125"/>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b="0" u="none">
                <a:solidFill>
                  <a:schemeClr val="tx1"/>
                </a:solidFill>
                <a:latin typeface="Verdana" panose="020B0604030504040204" pitchFamily="34" charset="0"/>
              </a:rPr>
              <a:t> </a:t>
            </a:r>
            <a:r>
              <a:rPr lang="zh-CN" altLang="en-US" sz="2400" u="none">
                <a:solidFill>
                  <a:schemeClr val="tx1"/>
                </a:solidFill>
                <a:latin typeface="宋体" panose="02010600030101010101" pitchFamily="2" charset="-122"/>
                <a:ea typeface="宋体" panose="02010600030101010101" pitchFamily="2" charset="-122"/>
              </a:rPr>
              <a:t>计算机系统的实体安全</a:t>
            </a:r>
            <a:endParaRPr lang="zh-CN" altLang="en-US" sz="2400" u="none">
              <a:solidFill>
                <a:schemeClr val="tx1"/>
              </a:solidFill>
              <a:latin typeface="宋体" panose="02010600030101010101" pitchFamily="2" charset="-122"/>
              <a:ea typeface="宋体" panose="02010600030101010101" pitchFamily="2" charset="-122"/>
            </a:endParaRPr>
          </a:p>
        </p:txBody>
      </p:sp>
      <p:sp>
        <p:nvSpPr>
          <p:cNvPr id="9222" name="Rectangle 35"/>
          <p:cNvSpPr>
            <a:spLocks noChangeArrowheads="1"/>
          </p:cNvSpPr>
          <p:nvPr/>
        </p:nvSpPr>
        <p:spPr bwMode="auto">
          <a:xfrm>
            <a:off x="2906713" y="3086100"/>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b="0" u="none">
                <a:solidFill>
                  <a:schemeClr val="tx1"/>
                </a:solidFill>
                <a:latin typeface="Verdana" panose="020B0604030504040204" pitchFamily="34" charset="0"/>
              </a:rPr>
              <a:t> </a:t>
            </a:r>
            <a:r>
              <a:rPr lang="zh-CN" altLang="en-US" sz="2400" u="none">
                <a:solidFill>
                  <a:schemeClr val="tx1"/>
                </a:solidFill>
                <a:latin typeface="宋体" panose="02010600030101010101" pitchFamily="2" charset="-122"/>
                <a:ea typeface="宋体" panose="02010600030101010101" pitchFamily="2" charset="-122"/>
              </a:rPr>
              <a:t>密码学概论</a:t>
            </a:r>
            <a:endParaRPr lang="zh-CN" altLang="en-US" sz="2400" u="none">
              <a:solidFill>
                <a:schemeClr val="tx1"/>
              </a:solidFill>
              <a:latin typeface="宋体" panose="02010600030101010101" pitchFamily="2" charset="-122"/>
              <a:ea typeface="宋体" panose="02010600030101010101" pitchFamily="2" charset="-122"/>
            </a:endParaRPr>
          </a:p>
        </p:txBody>
      </p:sp>
      <p:sp>
        <p:nvSpPr>
          <p:cNvPr id="9223" name="Rectangle 37"/>
          <p:cNvSpPr>
            <a:spLocks noChangeArrowheads="1"/>
          </p:cNvSpPr>
          <p:nvPr/>
        </p:nvSpPr>
        <p:spPr bwMode="auto">
          <a:xfrm>
            <a:off x="2906713" y="3935413"/>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b="0" u="none">
                <a:solidFill>
                  <a:schemeClr val="tx1"/>
                </a:solidFill>
                <a:latin typeface="Verdana" panose="020B0604030504040204" pitchFamily="34" charset="0"/>
              </a:rPr>
              <a:t> </a:t>
            </a:r>
            <a:r>
              <a:rPr lang="zh-CN" altLang="en-US" sz="2400" u="none">
                <a:solidFill>
                  <a:schemeClr val="tx1"/>
                </a:solidFill>
                <a:latin typeface="宋体" panose="02010600030101010101" pitchFamily="2" charset="-122"/>
                <a:ea typeface="宋体" panose="02010600030101010101" pitchFamily="2" charset="-122"/>
              </a:rPr>
              <a:t>消息认证与数字签名</a:t>
            </a:r>
            <a:endParaRPr lang="zh-CN" altLang="en-US" sz="2400" u="none">
              <a:solidFill>
                <a:schemeClr val="tx1"/>
              </a:solidFill>
              <a:latin typeface="宋体" panose="02010600030101010101" pitchFamily="2" charset="-122"/>
              <a:ea typeface="宋体" panose="02010600030101010101" pitchFamily="2" charset="-122"/>
            </a:endParaRPr>
          </a:p>
        </p:txBody>
      </p:sp>
      <p:sp>
        <p:nvSpPr>
          <p:cNvPr id="9224" name="Rectangle 39"/>
          <p:cNvSpPr>
            <a:spLocks noChangeArrowheads="1"/>
          </p:cNvSpPr>
          <p:nvPr/>
        </p:nvSpPr>
        <p:spPr bwMode="auto">
          <a:xfrm>
            <a:off x="2906713" y="4773613"/>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b="0" u="none">
                <a:solidFill>
                  <a:schemeClr val="tx1"/>
                </a:solidFill>
                <a:latin typeface="Verdana" panose="020B0604030504040204" pitchFamily="34" charset="0"/>
              </a:rPr>
              <a:t> </a:t>
            </a:r>
            <a:r>
              <a:rPr lang="zh-CN" altLang="en-US" sz="2400" u="none">
                <a:solidFill>
                  <a:schemeClr val="tx1"/>
                </a:solidFill>
                <a:latin typeface="宋体" panose="02010600030101010101" pitchFamily="2" charset="-122"/>
                <a:ea typeface="宋体" panose="02010600030101010101" pitchFamily="2" charset="-122"/>
              </a:rPr>
              <a:t>身份认证</a:t>
            </a:r>
            <a:endParaRPr lang="zh-CN" altLang="en-US" sz="2400" u="none">
              <a:solidFill>
                <a:schemeClr val="tx1"/>
              </a:solidFill>
              <a:latin typeface="宋体" panose="02010600030101010101" pitchFamily="2" charset="-122"/>
              <a:ea typeface="宋体" panose="02010600030101010101" pitchFamily="2" charset="-122"/>
            </a:endParaRPr>
          </a:p>
        </p:txBody>
      </p:sp>
      <p:sp>
        <p:nvSpPr>
          <p:cNvPr id="9225" name="Oval 46"/>
          <p:cNvSpPr>
            <a:spLocks noChangeArrowheads="1"/>
          </p:cNvSpPr>
          <p:nvPr/>
        </p:nvSpPr>
        <p:spPr bwMode="auto">
          <a:xfrm>
            <a:off x="1938338" y="1409700"/>
            <a:ext cx="763587" cy="608013"/>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wrap="none" anchor="ctr">
            <a:spAutoFit/>
            <a:flatTx/>
          </a:bodyPr>
          <a:lstStyle/>
          <a:p>
            <a:pPr algn="ctr"/>
            <a:r>
              <a:rPr lang="ko-KR" altLang="en-US" sz="2400" b="0" u="none">
                <a:solidFill>
                  <a:schemeClr val="tx1"/>
                </a:solidFill>
                <a:latin typeface="Verdana" panose="020B0604030504040204" pitchFamily="34" charset="0"/>
              </a:rPr>
              <a:t> 1 </a:t>
            </a:r>
            <a:endParaRPr lang="ko-KR" altLang="en-US" sz="2400" b="0" u="none">
              <a:solidFill>
                <a:schemeClr val="tx1"/>
              </a:solidFill>
              <a:latin typeface="Verdana" panose="020B0604030504040204" pitchFamily="34" charset="0"/>
            </a:endParaRPr>
          </a:p>
        </p:txBody>
      </p:sp>
      <p:sp>
        <p:nvSpPr>
          <p:cNvPr id="9226" name="Oval 48"/>
          <p:cNvSpPr>
            <a:spLocks noChangeArrowheads="1"/>
          </p:cNvSpPr>
          <p:nvPr/>
        </p:nvSpPr>
        <p:spPr bwMode="auto">
          <a:xfrm>
            <a:off x="1938338" y="2247900"/>
            <a:ext cx="763587" cy="608013"/>
          </a:xfrm>
          <a:prstGeom prst="ellipse">
            <a:avLst/>
          </a:prstGeom>
          <a:solidFill>
            <a:schemeClr val="accent1"/>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chemeClr val="accent1"/>
            </a:extrusionClr>
          </a:sp3d>
        </p:spPr>
        <p:txBody>
          <a:bodyPr wrap="none" anchor="ctr">
            <a:spAutoFit/>
            <a:flatTx/>
          </a:bodyPr>
          <a:lstStyle/>
          <a:p>
            <a:pPr algn="ctr"/>
            <a:r>
              <a:rPr lang="ko-KR" altLang="en-US" sz="2400" b="0" u="none">
                <a:solidFill>
                  <a:schemeClr val="tx1"/>
                </a:solidFill>
                <a:latin typeface="Verdana" panose="020B0604030504040204" pitchFamily="34" charset="0"/>
              </a:rPr>
              <a:t> 2 </a:t>
            </a:r>
            <a:endParaRPr lang="ko-KR" altLang="en-US" sz="2400" b="0" u="none">
              <a:solidFill>
                <a:schemeClr val="tx1"/>
              </a:solidFill>
              <a:latin typeface="Verdana" panose="020B0604030504040204" pitchFamily="34" charset="0"/>
            </a:endParaRPr>
          </a:p>
        </p:txBody>
      </p:sp>
      <p:sp>
        <p:nvSpPr>
          <p:cNvPr id="9227" name="Oval 49"/>
          <p:cNvSpPr>
            <a:spLocks noChangeArrowheads="1"/>
          </p:cNvSpPr>
          <p:nvPr/>
        </p:nvSpPr>
        <p:spPr bwMode="auto">
          <a:xfrm>
            <a:off x="1938338" y="3060700"/>
            <a:ext cx="763587" cy="608013"/>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wrap="none" anchor="ctr">
            <a:spAutoFit/>
            <a:flatTx/>
          </a:bodyPr>
          <a:lstStyle/>
          <a:p>
            <a:pPr algn="ctr"/>
            <a:r>
              <a:rPr lang="ko-KR" altLang="en-US" sz="2400" b="0" u="none">
                <a:solidFill>
                  <a:schemeClr val="tx1"/>
                </a:solidFill>
                <a:latin typeface="Verdana" panose="020B0604030504040204" pitchFamily="34" charset="0"/>
              </a:rPr>
              <a:t> 3 </a:t>
            </a:r>
            <a:endParaRPr lang="ko-KR" altLang="en-US" sz="2400" b="0" u="none">
              <a:solidFill>
                <a:schemeClr val="tx1"/>
              </a:solidFill>
              <a:latin typeface="Verdana" panose="020B0604030504040204" pitchFamily="34" charset="0"/>
            </a:endParaRPr>
          </a:p>
        </p:txBody>
      </p:sp>
      <p:sp>
        <p:nvSpPr>
          <p:cNvPr id="9228" name="Oval 50"/>
          <p:cNvSpPr>
            <a:spLocks noChangeArrowheads="1"/>
          </p:cNvSpPr>
          <p:nvPr/>
        </p:nvSpPr>
        <p:spPr bwMode="auto">
          <a:xfrm>
            <a:off x="1938338" y="3911600"/>
            <a:ext cx="763587" cy="608013"/>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wrap="none" anchor="ctr">
            <a:spAutoFit/>
            <a:flatTx/>
          </a:bodyPr>
          <a:lstStyle/>
          <a:p>
            <a:pPr algn="ctr"/>
            <a:r>
              <a:rPr lang="ko-KR" altLang="en-US" sz="2400" b="0" u="none">
                <a:solidFill>
                  <a:schemeClr val="tx1"/>
                </a:solidFill>
                <a:latin typeface="Verdana" panose="020B0604030504040204" pitchFamily="34" charset="0"/>
              </a:rPr>
              <a:t> 4 </a:t>
            </a:r>
            <a:endParaRPr lang="ko-KR" altLang="en-US" sz="2400" b="0" u="none">
              <a:solidFill>
                <a:schemeClr val="tx1"/>
              </a:solidFill>
              <a:latin typeface="Verdana" panose="020B0604030504040204" pitchFamily="34" charset="0"/>
            </a:endParaRPr>
          </a:p>
        </p:txBody>
      </p:sp>
      <p:sp>
        <p:nvSpPr>
          <p:cNvPr id="9229" name="Oval 51"/>
          <p:cNvSpPr>
            <a:spLocks noChangeArrowheads="1"/>
          </p:cNvSpPr>
          <p:nvPr/>
        </p:nvSpPr>
        <p:spPr bwMode="auto">
          <a:xfrm>
            <a:off x="1938338" y="4787900"/>
            <a:ext cx="763587" cy="608013"/>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wrap="none" anchor="ctr">
            <a:spAutoFit/>
            <a:flatTx/>
          </a:bodyPr>
          <a:lstStyle/>
          <a:p>
            <a:pPr algn="ctr"/>
            <a:r>
              <a:rPr lang="ko-KR" altLang="en-US" sz="2400" b="0" u="none">
                <a:solidFill>
                  <a:schemeClr val="tx1"/>
                </a:solidFill>
                <a:latin typeface="Verdana" panose="020B0604030504040204" pitchFamily="34" charset="0"/>
              </a:rPr>
              <a:t> 5 </a:t>
            </a:r>
            <a:endParaRPr lang="ko-KR" altLang="en-US" sz="2400" b="0" u="none">
              <a:solidFill>
                <a:schemeClr val="tx1"/>
              </a:solidFill>
              <a:latin typeface="Verdana" panose="020B0604030504040204" pitchFamily="34" charset="0"/>
            </a:endParaRPr>
          </a:p>
        </p:txBody>
      </p:sp>
      <p:sp>
        <p:nvSpPr>
          <p:cNvPr id="9230" name="Oval 52"/>
          <p:cNvSpPr>
            <a:spLocks noChangeArrowheads="1"/>
          </p:cNvSpPr>
          <p:nvPr/>
        </p:nvSpPr>
        <p:spPr bwMode="auto">
          <a:xfrm>
            <a:off x="1938338" y="5570538"/>
            <a:ext cx="763587" cy="608012"/>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wrap="none" anchor="ctr">
            <a:spAutoFit/>
            <a:flatTx/>
          </a:bodyPr>
          <a:lstStyle/>
          <a:p>
            <a:pPr algn="ctr"/>
            <a:r>
              <a:rPr lang="ko-KR" altLang="en-US" sz="2400" b="0" u="none">
                <a:solidFill>
                  <a:schemeClr val="tx1"/>
                </a:solidFill>
                <a:latin typeface="Verdana" panose="020B0604030504040204" pitchFamily="34" charset="0"/>
              </a:rPr>
              <a:t> </a:t>
            </a:r>
            <a:r>
              <a:rPr lang="en-US" altLang="zh-CN" sz="2400" b="0" u="none">
                <a:solidFill>
                  <a:schemeClr val="tx1"/>
                </a:solidFill>
                <a:latin typeface="Verdana" panose="020B0604030504040204" pitchFamily="34" charset="0"/>
              </a:rPr>
              <a:t>6 </a:t>
            </a:r>
            <a:endParaRPr lang="en-US" altLang="zh-CN" sz="2400" b="0" u="none">
              <a:solidFill>
                <a:schemeClr val="tx1"/>
              </a:solidFill>
              <a:latin typeface="Verdana" panose="020B0604030504040204" pitchFamily="34" charset="0"/>
            </a:endParaRPr>
          </a:p>
        </p:txBody>
      </p:sp>
      <p:sp>
        <p:nvSpPr>
          <p:cNvPr id="9231" name="Rectangle 53"/>
          <p:cNvSpPr>
            <a:spLocks noChangeArrowheads="1"/>
          </p:cNvSpPr>
          <p:nvPr/>
        </p:nvSpPr>
        <p:spPr bwMode="auto">
          <a:xfrm>
            <a:off x="2906713" y="5522913"/>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b="0" u="none">
                <a:solidFill>
                  <a:schemeClr val="tx1"/>
                </a:solidFill>
                <a:latin typeface="Verdana" panose="020B0604030504040204" pitchFamily="34" charset="0"/>
              </a:rPr>
              <a:t> </a:t>
            </a:r>
            <a:r>
              <a:rPr lang="zh-CN" altLang="en-US" sz="2400" u="none">
                <a:solidFill>
                  <a:schemeClr val="tx1"/>
                </a:solidFill>
                <a:latin typeface="宋体" panose="02010600030101010101" pitchFamily="2" charset="-122"/>
                <a:ea typeface="宋体" panose="02010600030101010101" pitchFamily="2" charset="-122"/>
              </a:rPr>
              <a:t>访问控制</a:t>
            </a:r>
            <a:endParaRPr lang="zh-CN" altLang="en-US" sz="2400" u="none">
              <a:solidFill>
                <a:schemeClr val="tx1"/>
              </a:solidFill>
              <a:latin typeface="宋体" panose="02010600030101010101" pitchFamily="2" charset="-122"/>
              <a:ea typeface="宋体" panose="02010600030101010101" pitchFamily="2" charset="-122"/>
            </a:endParaRPr>
          </a:p>
        </p:txBody>
      </p:sp>
      <p:sp>
        <p:nvSpPr>
          <p:cNvPr id="16" name="Rectangle 4"/>
          <p:cNvSpPr>
            <a:spLocks noChangeArrowheads="1"/>
          </p:cNvSpPr>
          <p:nvPr/>
        </p:nvSpPr>
        <p:spPr bwMode="auto">
          <a:xfrm>
            <a:off x="3135624" y="6213929"/>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u="none" dirty="0">
                <a:solidFill>
                  <a:schemeClr val="tx1"/>
                </a:solidFill>
                <a:latin typeface="宋体" panose="02010600030101010101" pitchFamily="2" charset="-122"/>
                <a:ea typeface="宋体" panose="02010600030101010101" pitchFamily="2" charset="-122"/>
              </a:rPr>
              <a:t>PKI</a:t>
            </a:r>
            <a:r>
              <a:rPr lang="zh-CN" altLang="en-US" sz="2400" u="none" dirty="0">
                <a:solidFill>
                  <a:schemeClr val="tx1"/>
                </a:solidFill>
                <a:latin typeface="宋体" panose="02010600030101010101" pitchFamily="2" charset="-122"/>
                <a:ea typeface="宋体" panose="02010600030101010101" pitchFamily="2" charset="-122"/>
              </a:rPr>
              <a:t>技术</a:t>
            </a:r>
            <a:endParaRPr lang="zh-CN" altLang="en-US" sz="2400" u="none" dirty="0">
              <a:solidFill>
                <a:schemeClr val="tx1"/>
              </a:solidFill>
              <a:latin typeface="宋体" panose="02010600030101010101" pitchFamily="2" charset="-122"/>
              <a:ea typeface="宋体" panose="02010600030101010101" pitchFamily="2" charset="-122"/>
            </a:endParaRPr>
          </a:p>
        </p:txBody>
      </p:sp>
      <p:sp>
        <p:nvSpPr>
          <p:cNvPr id="17" name="Oval 9"/>
          <p:cNvSpPr>
            <a:spLocks noChangeArrowheads="1"/>
          </p:cNvSpPr>
          <p:nvPr/>
        </p:nvSpPr>
        <p:spPr bwMode="auto">
          <a:xfrm>
            <a:off x="1938338" y="6274594"/>
            <a:ext cx="763587" cy="608012"/>
          </a:xfrm>
          <a:prstGeom prst="ellipse">
            <a:avLst/>
          </a:prstGeom>
          <a:solidFill>
            <a:schemeClr val="accent1"/>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chemeClr val="accent1"/>
            </a:extrusionClr>
          </a:sp3d>
        </p:spPr>
        <p:txBody>
          <a:bodyPr wrap="none" anchor="ctr">
            <a:spAutoFit/>
            <a:flatTx/>
          </a:bodyPr>
          <a:lstStyle/>
          <a:p>
            <a:pPr algn="ctr"/>
            <a:r>
              <a:rPr lang="ko-KR" altLang="en-US" sz="2400" b="0" u="none" dirty="0">
                <a:solidFill>
                  <a:schemeClr val="tx1"/>
                </a:solidFill>
                <a:latin typeface="Verdana" panose="020B0604030504040204" pitchFamily="34" charset="0"/>
              </a:rPr>
              <a:t> </a:t>
            </a:r>
            <a:r>
              <a:rPr lang="en-US" altLang="zh-CN" sz="2400" b="0" u="none" dirty="0">
                <a:solidFill>
                  <a:schemeClr val="tx1"/>
                </a:solidFill>
                <a:latin typeface="Verdana" panose="020B0604030504040204" pitchFamily="34" charset="0"/>
              </a:rPr>
              <a:t>7 </a:t>
            </a:r>
            <a:endParaRPr lang="en-US" altLang="zh-CN" sz="2400" b="0" u="none" dirty="0">
              <a:solidFill>
                <a:schemeClr val="tx1"/>
              </a:solidFill>
              <a:latin typeface="Verdan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F6B52B72-C2FE-47B7-9C6D-BA796B75401B}"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10243" name="Rectangle 2"/>
          <p:cNvSpPr>
            <a:spLocks noGrp="1" noChangeArrowheads="1"/>
          </p:cNvSpPr>
          <p:nvPr>
            <p:ph type="title" idx="4294967295"/>
          </p:nvPr>
        </p:nvSpPr>
        <p:spPr/>
        <p:txBody>
          <a:bodyPr/>
          <a:lstStyle/>
          <a:p>
            <a:pPr eaLnBrk="1" hangingPunct="1"/>
            <a:r>
              <a:rPr lang="zh-CN" altLang="en-US" dirty="0" smtClean="0"/>
              <a:t>信息安全概论</a:t>
            </a:r>
            <a:endParaRPr lang="zh-CN" altLang="en-US" dirty="0" smtClean="0"/>
          </a:p>
        </p:txBody>
      </p:sp>
      <p:sp>
        <p:nvSpPr>
          <p:cNvPr id="10244" name="Rectangle 3"/>
          <p:cNvSpPr>
            <a:spLocks noGrp="1" noChangeArrowheads="1"/>
          </p:cNvSpPr>
          <p:nvPr>
            <p:ph type="body" idx="4294967295"/>
          </p:nvPr>
        </p:nvSpPr>
        <p:spPr>
          <a:xfrm>
            <a:off x="457200" y="1058926"/>
            <a:ext cx="8229600" cy="4525963"/>
          </a:xfrm>
        </p:spPr>
        <p:txBody>
          <a:bodyPr/>
          <a:lstStyle/>
          <a:p>
            <a:pPr eaLnBrk="1" hangingPunct="1"/>
            <a:endParaRPr lang="zh-CN" altLang="en-US" dirty="0" smtClean="0"/>
          </a:p>
        </p:txBody>
      </p:sp>
      <p:sp>
        <p:nvSpPr>
          <p:cNvPr id="10246" name="Rectangle 5"/>
          <p:cNvSpPr>
            <a:spLocks noChangeArrowheads="1"/>
          </p:cNvSpPr>
          <p:nvPr/>
        </p:nvSpPr>
        <p:spPr bwMode="auto">
          <a:xfrm>
            <a:off x="2978223" y="2014599"/>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b="0" u="none" dirty="0" smtClean="0">
                <a:solidFill>
                  <a:schemeClr val="tx1"/>
                </a:solidFill>
                <a:latin typeface="Verdana" panose="020B0604030504040204" pitchFamily="34" charset="0"/>
              </a:rPr>
              <a:t> </a:t>
            </a:r>
            <a:r>
              <a:rPr lang="zh-CN" altLang="en-US" sz="2400" u="none" dirty="0" smtClean="0">
                <a:solidFill>
                  <a:schemeClr val="tx1"/>
                </a:solidFill>
                <a:latin typeface="宋体" panose="02010600030101010101" pitchFamily="2" charset="-122"/>
                <a:ea typeface="宋体" panose="02010600030101010101" pitchFamily="2" charset="-122"/>
              </a:rPr>
              <a:t>计算机操作系统的安全</a:t>
            </a:r>
            <a:endParaRPr lang="zh-CN" altLang="en-US" sz="2400" u="none" dirty="0">
              <a:solidFill>
                <a:schemeClr val="tx1"/>
              </a:solidFill>
              <a:latin typeface="宋体" panose="02010600030101010101" pitchFamily="2" charset="-122"/>
              <a:ea typeface="宋体" panose="02010600030101010101" pitchFamily="2" charset="-122"/>
            </a:endParaRPr>
          </a:p>
        </p:txBody>
      </p:sp>
      <p:sp>
        <p:nvSpPr>
          <p:cNvPr id="10247" name="Rectangle 6"/>
          <p:cNvSpPr>
            <a:spLocks noChangeArrowheads="1"/>
          </p:cNvSpPr>
          <p:nvPr/>
        </p:nvSpPr>
        <p:spPr bwMode="auto">
          <a:xfrm>
            <a:off x="2987823" y="2865499"/>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en-US" altLang="zh-CN" sz="2400" b="0" u="none" dirty="0">
                <a:solidFill>
                  <a:schemeClr val="tx1"/>
                </a:solidFill>
                <a:latin typeface="Verdana" panose="020B0604030504040204" pitchFamily="34" charset="0"/>
              </a:rPr>
              <a:t> </a:t>
            </a:r>
            <a:r>
              <a:rPr lang="zh-CN" altLang="en-US" sz="2400" b="0" u="none" dirty="0">
                <a:solidFill>
                  <a:schemeClr val="tx1"/>
                </a:solidFill>
                <a:latin typeface="Verdana" panose="020B0604030504040204" pitchFamily="34" charset="0"/>
              </a:rPr>
              <a:t>计算机恶意程序</a:t>
            </a:r>
            <a:endParaRPr lang="zh-CN" altLang="en-US" sz="2400" u="none" dirty="0">
              <a:solidFill>
                <a:schemeClr val="tx1"/>
              </a:solidFill>
              <a:latin typeface="宋体" panose="02010600030101010101" pitchFamily="2" charset="-122"/>
              <a:ea typeface="宋体" panose="02010600030101010101" pitchFamily="2" charset="-122"/>
            </a:endParaRPr>
          </a:p>
        </p:txBody>
      </p:sp>
      <p:sp>
        <p:nvSpPr>
          <p:cNvPr id="10249" name="Rectangle 8"/>
          <p:cNvSpPr>
            <a:spLocks noChangeArrowheads="1"/>
          </p:cNvSpPr>
          <p:nvPr/>
        </p:nvSpPr>
        <p:spPr bwMode="auto">
          <a:xfrm>
            <a:off x="3145630" y="3727511"/>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zh-CN" altLang="en-US" sz="2400" dirty="0">
                <a:latin typeface="宋体" panose="02010600030101010101" pitchFamily="2" charset="-122"/>
                <a:ea typeface="宋体" panose="02010600030101010101" pitchFamily="2" charset="-122"/>
                <a:sym typeface="+mn-ea"/>
              </a:rPr>
              <a:t>计算机软件安全性</a:t>
            </a:r>
            <a:endParaRPr lang="zh-CN" altLang="en-US" sz="2400" u="none" dirty="0">
              <a:solidFill>
                <a:schemeClr val="tx1"/>
              </a:solidFill>
              <a:latin typeface="宋体" panose="02010600030101010101" pitchFamily="2" charset="-122"/>
              <a:ea typeface="宋体" panose="02010600030101010101" pitchFamily="2" charset="-122"/>
            </a:endParaRPr>
          </a:p>
        </p:txBody>
      </p:sp>
      <p:sp>
        <p:nvSpPr>
          <p:cNvPr id="10252" name="Oval 11"/>
          <p:cNvSpPr>
            <a:spLocks noChangeArrowheads="1"/>
          </p:cNvSpPr>
          <p:nvPr/>
        </p:nvSpPr>
        <p:spPr bwMode="auto">
          <a:xfrm>
            <a:off x="1938337" y="2014599"/>
            <a:ext cx="763587" cy="608012"/>
          </a:xfrm>
          <a:prstGeom prst="ellipse">
            <a:avLst/>
          </a:prstGeom>
          <a:solidFill>
            <a:schemeClr val="accent1"/>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chemeClr val="accent1"/>
            </a:extrusionClr>
          </a:sp3d>
        </p:spPr>
        <p:txBody>
          <a:bodyPr wrap="none" anchor="ctr">
            <a:spAutoFit/>
            <a:flatTx/>
          </a:bodyPr>
          <a:lstStyle/>
          <a:p>
            <a:pPr algn="ctr"/>
            <a:r>
              <a:rPr lang="ko-KR" altLang="en-US" sz="2400" b="0" u="none" dirty="0">
                <a:solidFill>
                  <a:schemeClr val="tx1"/>
                </a:solidFill>
                <a:latin typeface="Verdana" panose="020B0604030504040204" pitchFamily="34" charset="0"/>
              </a:rPr>
              <a:t> </a:t>
            </a:r>
            <a:r>
              <a:rPr lang="en-US" altLang="zh-CN" sz="2400" b="0" u="none" dirty="0">
                <a:solidFill>
                  <a:schemeClr val="tx1"/>
                </a:solidFill>
                <a:latin typeface="Verdana" panose="020B0604030504040204" pitchFamily="34" charset="0"/>
              </a:rPr>
              <a:t>9 </a:t>
            </a:r>
            <a:endParaRPr lang="en-US" altLang="zh-CN" sz="2400" b="0" u="none" dirty="0">
              <a:solidFill>
                <a:schemeClr val="tx1"/>
              </a:solidFill>
              <a:latin typeface="Verdana" panose="020B0604030504040204" pitchFamily="34" charset="0"/>
            </a:endParaRPr>
          </a:p>
        </p:txBody>
      </p:sp>
      <p:sp>
        <p:nvSpPr>
          <p:cNvPr id="10253" name="Oval 12"/>
          <p:cNvSpPr>
            <a:spLocks noChangeArrowheads="1"/>
          </p:cNvSpPr>
          <p:nvPr/>
        </p:nvSpPr>
        <p:spPr bwMode="auto">
          <a:xfrm>
            <a:off x="1938337" y="2865499"/>
            <a:ext cx="900112" cy="608012"/>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anchor="ctr">
            <a:spAutoFit/>
            <a:flatTx/>
          </a:bodyPr>
          <a:lstStyle/>
          <a:p>
            <a:pPr algn="ctr"/>
            <a:r>
              <a:rPr lang="ko-KR" altLang="en-US" sz="2400" b="0" u="none" dirty="0">
                <a:solidFill>
                  <a:schemeClr val="tx1"/>
                </a:solidFill>
                <a:latin typeface="Verdana" panose="020B0604030504040204" pitchFamily="34" charset="0"/>
              </a:rPr>
              <a:t> </a:t>
            </a:r>
            <a:r>
              <a:rPr lang="en-US" altLang="zh-CN" sz="2400" b="0" u="none" dirty="0">
                <a:solidFill>
                  <a:schemeClr val="tx1"/>
                </a:solidFill>
                <a:latin typeface="Verdana" panose="020B0604030504040204" pitchFamily="34" charset="0"/>
              </a:rPr>
              <a:t>10 </a:t>
            </a:r>
            <a:endParaRPr lang="en-US" altLang="zh-CN" sz="2400" b="0" u="none" dirty="0">
              <a:solidFill>
                <a:schemeClr val="tx1"/>
              </a:solidFill>
              <a:latin typeface="Verdana" panose="020B0604030504040204" pitchFamily="34" charset="0"/>
            </a:endParaRPr>
          </a:p>
        </p:txBody>
      </p:sp>
      <p:sp>
        <p:nvSpPr>
          <p:cNvPr id="10254" name="Oval 13"/>
          <p:cNvSpPr>
            <a:spLocks noChangeArrowheads="1"/>
          </p:cNvSpPr>
          <p:nvPr/>
        </p:nvSpPr>
        <p:spPr bwMode="auto">
          <a:xfrm>
            <a:off x="1938337" y="3727511"/>
            <a:ext cx="900112" cy="608013"/>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anchor="ctr">
            <a:spAutoFit/>
            <a:flatTx/>
          </a:bodyPr>
          <a:lstStyle/>
          <a:p>
            <a:pPr algn="ctr"/>
            <a:r>
              <a:rPr lang="ko-KR" altLang="en-US" sz="2400" b="0" u="none">
                <a:solidFill>
                  <a:schemeClr val="tx1"/>
                </a:solidFill>
                <a:latin typeface="Verdana" panose="020B0604030504040204" pitchFamily="34" charset="0"/>
              </a:rPr>
              <a:t> </a:t>
            </a:r>
            <a:r>
              <a:rPr lang="en-US" altLang="zh-CN" sz="2400" b="0" u="none">
                <a:solidFill>
                  <a:schemeClr val="tx1"/>
                </a:solidFill>
                <a:latin typeface="Verdana" panose="020B0604030504040204" pitchFamily="34" charset="0"/>
              </a:rPr>
              <a:t>11 </a:t>
            </a:r>
            <a:endParaRPr lang="en-US" altLang="zh-CN" sz="2400" b="0" u="none">
              <a:solidFill>
                <a:schemeClr val="tx1"/>
              </a:solidFill>
              <a:latin typeface="Verdana" panose="020B0604030504040204" pitchFamily="34" charset="0"/>
            </a:endParaRPr>
          </a:p>
        </p:txBody>
      </p:sp>
      <p:sp>
        <p:nvSpPr>
          <p:cNvPr id="15" name="Oval 13"/>
          <p:cNvSpPr>
            <a:spLocks noChangeArrowheads="1"/>
          </p:cNvSpPr>
          <p:nvPr/>
        </p:nvSpPr>
        <p:spPr bwMode="auto">
          <a:xfrm>
            <a:off x="1907703" y="4662711"/>
            <a:ext cx="981900" cy="649188"/>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wrap="square" anchor="ctr">
            <a:spAutoFit/>
            <a:flatTx/>
          </a:bodyPr>
          <a:lstStyle/>
          <a:p>
            <a:pPr algn="ctr"/>
            <a:r>
              <a:rPr lang="ko-KR" altLang="en-US" sz="2400" b="0" u="none" dirty="0">
                <a:solidFill>
                  <a:schemeClr val="tx1"/>
                </a:solidFill>
                <a:latin typeface="Verdana" panose="020B0604030504040204" pitchFamily="34" charset="0"/>
              </a:rPr>
              <a:t> </a:t>
            </a:r>
            <a:r>
              <a:rPr lang="en-US" altLang="zh-CN" sz="2400" b="0" u="none" dirty="0" smtClean="0">
                <a:solidFill>
                  <a:schemeClr val="tx1"/>
                </a:solidFill>
                <a:latin typeface="Verdana" panose="020B0604030504040204" pitchFamily="34" charset="0"/>
              </a:rPr>
              <a:t>12 </a:t>
            </a:r>
            <a:endParaRPr lang="en-US" altLang="zh-CN" sz="2400" b="0" u="none" dirty="0">
              <a:solidFill>
                <a:schemeClr val="tx1"/>
              </a:solidFill>
              <a:latin typeface="Verdana" panose="020B0604030504040204" pitchFamily="34" charset="0"/>
            </a:endParaRPr>
          </a:p>
        </p:txBody>
      </p:sp>
      <p:sp>
        <p:nvSpPr>
          <p:cNvPr id="16" name="Rectangle 8"/>
          <p:cNvSpPr>
            <a:spLocks noChangeArrowheads="1"/>
          </p:cNvSpPr>
          <p:nvPr/>
        </p:nvSpPr>
        <p:spPr bwMode="auto">
          <a:xfrm>
            <a:off x="3145630" y="4611291"/>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zh-CN" altLang="en-US" sz="2400" dirty="0" smtClean="0">
                <a:latin typeface="宋体" panose="02010600030101010101" pitchFamily="2" charset="-122"/>
                <a:ea typeface="宋体" panose="02010600030101010101" pitchFamily="2" charset="-122"/>
                <a:sym typeface="+mn-ea"/>
              </a:rPr>
              <a:t>防火墙技术</a:t>
            </a:r>
            <a:endParaRPr lang="zh-CN" altLang="en-US" sz="2400" u="none" dirty="0">
              <a:solidFill>
                <a:schemeClr val="tx1"/>
              </a:solidFill>
              <a:latin typeface="宋体" panose="02010600030101010101" pitchFamily="2" charset="-122"/>
              <a:ea typeface="宋体" panose="02010600030101010101" pitchFamily="2" charset="-122"/>
            </a:endParaRPr>
          </a:p>
        </p:txBody>
      </p:sp>
      <p:sp>
        <p:nvSpPr>
          <p:cNvPr id="18" name="Oval 13"/>
          <p:cNvSpPr>
            <a:spLocks noChangeArrowheads="1"/>
          </p:cNvSpPr>
          <p:nvPr/>
        </p:nvSpPr>
        <p:spPr bwMode="auto">
          <a:xfrm>
            <a:off x="1950098" y="5412349"/>
            <a:ext cx="981900" cy="649188"/>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wrap="square" anchor="ctr">
            <a:spAutoFit/>
            <a:flatTx/>
          </a:bodyPr>
          <a:lstStyle/>
          <a:p>
            <a:pPr algn="ctr"/>
            <a:r>
              <a:rPr lang="ko-KR" altLang="en-US" sz="2400" b="0" u="none" dirty="0">
                <a:solidFill>
                  <a:schemeClr val="tx1"/>
                </a:solidFill>
                <a:latin typeface="Verdana" panose="020B0604030504040204" pitchFamily="34" charset="0"/>
              </a:rPr>
              <a:t> </a:t>
            </a:r>
            <a:r>
              <a:rPr lang="en-US" altLang="zh-CN" sz="2400" b="0" u="none" dirty="0" smtClean="0">
                <a:solidFill>
                  <a:schemeClr val="tx1"/>
                </a:solidFill>
                <a:latin typeface="Verdana" panose="020B0604030504040204" pitchFamily="34" charset="0"/>
              </a:rPr>
              <a:t>13 </a:t>
            </a:r>
            <a:endParaRPr lang="en-US" altLang="zh-CN" sz="2400" b="0" u="none" dirty="0">
              <a:solidFill>
                <a:schemeClr val="tx1"/>
              </a:solidFill>
              <a:latin typeface="Verdana" panose="020B0604030504040204" pitchFamily="34" charset="0"/>
            </a:endParaRPr>
          </a:p>
        </p:txBody>
      </p:sp>
      <p:sp>
        <p:nvSpPr>
          <p:cNvPr id="19" name="Rectangle 8"/>
          <p:cNvSpPr>
            <a:spLocks noChangeArrowheads="1"/>
          </p:cNvSpPr>
          <p:nvPr/>
        </p:nvSpPr>
        <p:spPr bwMode="auto">
          <a:xfrm>
            <a:off x="3262868" y="5523597"/>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zh-CN" altLang="en-US" sz="2400" dirty="0" smtClean="0">
                <a:latin typeface="宋体" panose="02010600030101010101" pitchFamily="2" charset="-122"/>
                <a:ea typeface="宋体" panose="02010600030101010101" pitchFamily="2" charset="-122"/>
                <a:sym typeface="+mn-ea"/>
              </a:rPr>
              <a:t>入侵检测系统</a:t>
            </a:r>
            <a:endParaRPr lang="zh-CN" altLang="en-US" sz="2400" u="none" dirty="0">
              <a:solidFill>
                <a:schemeClr val="tx1"/>
              </a:solidFill>
              <a:latin typeface="宋体" panose="02010600030101010101" pitchFamily="2" charset="-122"/>
              <a:ea typeface="宋体" panose="02010600030101010101" pitchFamily="2" charset="-122"/>
            </a:endParaRPr>
          </a:p>
        </p:txBody>
      </p:sp>
      <p:sp>
        <p:nvSpPr>
          <p:cNvPr id="24" name="Oval 13"/>
          <p:cNvSpPr>
            <a:spLocks noChangeArrowheads="1"/>
          </p:cNvSpPr>
          <p:nvPr/>
        </p:nvSpPr>
        <p:spPr bwMode="auto">
          <a:xfrm>
            <a:off x="2005923" y="6208812"/>
            <a:ext cx="981900" cy="649188"/>
          </a:xfrm>
          <a:prstGeom prst="ellipse">
            <a:avLst/>
          </a:prstGeom>
          <a:solidFill>
            <a:srgbClr val="FF0000"/>
          </a:solidFill>
          <a:ln w="9525">
            <a:round/>
          </a:ln>
          <a:scene3d>
            <a:camera prst="legacyPerspectiveFront">
              <a:rot lat="1500000" lon="1500000" rev="0"/>
            </a:camera>
            <a:lightRig rig="legacyFlat2" dir="b"/>
          </a:scene3d>
          <a:sp3d extrusionH="430200" prstMaterial="legacyMatte">
            <a:bevelT w="13500" h="13500" prst="angle"/>
            <a:bevelB w="13500" h="13500" prst="angle"/>
            <a:extrusionClr>
              <a:srgbClr val="FF0000"/>
            </a:extrusionClr>
          </a:sp3d>
        </p:spPr>
        <p:txBody>
          <a:bodyPr wrap="square" anchor="ctr">
            <a:spAutoFit/>
            <a:flatTx/>
          </a:bodyPr>
          <a:lstStyle/>
          <a:p>
            <a:pPr algn="ctr"/>
            <a:r>
              <a:rPr lang="ko-KR" altLang="en-US" sz="2400" b="0" u="none" dirty="0">
                <a:solidFill>
                  <a:schemeClr val="tx1"/>
                </a:solidFill>
                <a:latin typeface="Verdana" panose="020B0604030504040204" pitchFamily="34" charset="0"/>
              </a:rPr>
              <a:t> </a:t>
            </a:r>
            <a:r>
              <a:rPr lang="en-US" altLang="zh-CN" sz="2400" b="0" u="none" dirty="0" smtClean="0">
                <a:solidFill>
                  <a:schemeClr val="tx1"/>
                </a:solidFill>
                <a:latin typeface="Verdana" panose="020B0604030504040204" pitchFamily="34" charset="0"/>
              </a:rPr>
              <a:t>14</a:t>
            </a:r>
            <a:endParaRPr lang="en-US" altLang="zh-CN" sz="2400" b="0" u="none" dirty="0">
              <a:solidFill>
                <a:schemeClr val="tx1"/>
              </a:solidFill>
              <a:latin typeface="Verdana" panose="020B0604030504040204" pitchFamily="34" charset="0"/>
            </a:endParaRPr>
          </a:p>
        </p:txBody>
      </p:sp>
      <p:sp>
        <p:nvSpPr>
          <p:cNvPr id="25" name="Rectangle 8"/>
          <p:cNvSpPr>
            <a:spLocks noChangeArrowheads="1"/>
          </p:cNvSpPr>
          <p:nvPr/>
        </p:nvSpPr>
        <p:spPr bwMode="auto">
          <a:xfrm>
            <a:off x="3262868" y="6208812"/>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2400" dirty="0"/>
              <a:t>安全框架与评估标准</a:t>
            </a:r>
            <a:endParaRPr lang="zh-CN" altLang="en-US" sz="2400" u="none" dirty="0">
              <a:solidFill>
                <a:schemeClr val="tx1"/>
              </a:solidFill>
              <a:latin typeface="宋体" panose="02010600030101010101" pitchFamily="2" charset="-122"/>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000" b="1" dirty="0" smtClean="0">
                <a:ea typeface="PMingLiU" pitchFamily="18" charset="-120"/>
              </a:rPr>
              <a:t>信息安全概论概述</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EF474663-7A4D-46D7-9A8C-D473708323EF}"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12291" name="Rectangle 2"/>
          <p:cNvSpPr>
            <a:spLocks noGrp="1" noChangeArrowheads="1"/>
          </p:cNvSpPr>
          <p:nvPr>
            <p:ph type="title" idx="4294967295"/>
          </p:nvPr>
        </p:nvSpPr>
        <p:spPr/>
        <p:txBody>
          <a:bodyPr/>
          <a:lstStyle/>
          <a:p>
            <a:pPr eaLnBrk="1" hangingPunct="1"/>
            <a:r>
              <a:rPr lang="zh-CN" altLang="en-US" dirty="0" smtClean="0"/>
              <a:t>信息安全概论</a:t>
            </a:r>
            <a:r>
              <a:rPr lang="zh-CN" altLang="en-US" dirty="0" smtClean="0">
                <a:latin typeface="Verdana" panose="020B0604030504040204" pitchFamily="34" charset="0"/>
              </a:rPr>
              <a:t>——定义</a:t>
            </a:r>
            <a:endParaRPr lang="zh-CN" altLang="en-US" dirty="0" smtClean="0"/>
          </a:p>
        </p:txBody>
      </p:sp>
      <p:sp>
        <p:nvSpPr>
          <p:cNvPr id="8196" name="Rectangle 3"/>
          <p:cNvSpPr>
            <a:spLocks noGrp="1" noChangeArrowheads="1"/>
          </p:cNvSpPr>
          <p:nvPr>
            <p:ph type="body" idx="4294967295"/>
          </p:nvPr>
        </p:nvSpPr>
        <p:spPr/>
        <p:txBody>
          <a:bodyPr>
            <a:normAutofit lnSpcReduction="10000"/>
          </a:bodyPr>
          <a:lstStyle/>
          <a:p>
            <a:pPr eaLnBrk="1" hangingPunct="1"/>
            <a:r>
              <a:rPr lang="zh-CN" altLang="en-US" smtClean="0"/>
              <a:t>主要回答三个问题：</a:t>
            </a:r>
            <a:endParaRPr lang="zh-CN" altLang="en-US" smtClean="0"/>
          </a:p>
          <a:p>
            <a:pPr eaLnBrk="1" hangingPunct="1"/>
            <a:r>
              <a:rPr lang="zh-CN" altLang="en-US" smtClean="0"/>
              <a:t>1、信息安全技术研究产生的背景是什么？</a:t>
            </a:r>
            <a:endParaRPr lang="zh-CN" altLang="en-US" smtClean="0"/>
          </a:p>
          <a:p>
            <a:pPr eaLnBrk="1" hangingPunct="1"/>
            <a:r>
              <a:rPr lang="zh-CN" altLang="en-US" smtClean="0"/>
              <a:t>2、信息安全技术研究的重要意义在哪里？</a:t>
            </a:r>
            <a:endParaRPr lang="zh-CN" altLang="en-US" smtClean="0"/>
          </a:p>
          <a:p>
            <a:pPr eaLnBrk="1" hangingPunct="1"/>
            <a:r>
              <a:rPr lang="zh-CN" altLang="en-US" smtClean="0"/>
              <a:t>3、信息安全技术的主要研究内容是什么？</a:t>
            </a:r>
            <a:endParaRPr lang="zh-CN" altLang="en-US" smtClean="0"/>
          </a:p>
          <a:p>
            <a:pPr eaLnBrk="1" hangingPunct="1"/>
            <a:endParaRPr lang="zh-CN" altLang="en-US" smtClean="0"/>
          </a:p>
          <a:p>
            <a:pPr eaLnBrk="1" hangingPunct="1"/>
            <a:r>
              <a:rPr lang="zh-CN" altLang="en-US" smtClean="0"/>
              <a:t>计算机水平的快速提高及其应用的快速发展！</a:t>
            </a:r>
            <a:endParaRPr lang="zh-CN" altLang="en-US" smtClean="0"/>
          </a:p>
          <a:p>
            <a:pPr eaLnBrk="1" hangingPunct="1"/>
            <a:r>
              <a:rPr lang="zh-CN" altLang="en-US" smtClean="0"/>
              <a:t>通信渠道的拓宽及通信能力的加强！</a:t>
            </a:r>
            <a:endParaRPr lang="zh-CN" altLang="en-US" smtClean="0"/>
          </a:p>
          <a:p>
            <a:pPr eaLnBrk="1" hangingPunct="1"/>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animEffect transition="in" filter="blinds(horizontal)">
                                      <p:cBhvr>
                                        <p:cTn id="7" dur="500"/>
                                        <p:tgtEl>
                                          <p:spTgt spid="819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196">
                                            <p:txEl>
                                              <p:pRg st="2" end="2"/>
                                            </p:txEl>
                                          </p:spTgt>
                                        </p:tgtEl>
                                        <p:attrNameLst>
                                          <p:attrName>style.visibility</p:attrName>
                                        </p:attrNameLst>
                                      </p:cBhvr>
                                      <p:to>
                                        <p:strVal val="visible"/>
                                      </p:to>
                                    </p:set>
                                    <p:anim calcmode="lin" valueType="num">
                                      <p:cBhvr additive="base">
                                        <p:cTn id="12" dur="500" fill="hold"/>
                                        <p:tgtEl>
                                          <p:spTgt spid="819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1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8196">
                                            <p:txEl>
                                              <p:pRg st="3" end="3"/>
                                            </p:txEl>
                                          </p:spTgt>
                                        </p:tgtEl>
                                        <p:attrNameLst>
                                          <p:attrName>style.visibility</p:attrName>
                                        </p:attrNameLst>
                                      </p:cBhvr>
                                      <p:to>
                                        <p:strVal val="visible"/>
                                      </p:to>
                                    </p:set>
                                    <p:animEffect transition="in" filter="box(in)">
                                      <p:cBhvr>
                                        <p:cTn id="18" dur="500"/>
                                        <p:tgtEl>
                                          <p:spTgt spid="819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196">
                                            <p:txEl>
                                              <p:pRg st="5" end="5"/>
                                            </p:txEl>
                                          </p:spTgt>
                                        </p:tgtEl>
                                        <p:attrNameLst>
                                          <p:attrName>style.visibility</p:attrName>
                                        </p:attrNameLst>
                                      </p:cBhvr>
                                      <p:to>
                                        <p:strVal val="visible"/>
                                      </p:to>
                                    </p:set>
                                    <p:anim calcmode="lin" valueType="num">
                                      <p:cBhvr additive="base">
                                        <p:cTn id="23" dur="500" fill="hold"/>
                                        <p:tgtEl>
                                          <p:spTgt spid="819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19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8196">
                                            <p:txEl>
                                              <p:pRg st="6" end="6"/>
                                            </p:txEl>
                                          </p:spTgt>
                                        </p:tgtEl>
                                        <p:attrNameLst>
                                          <p:attrName>style.visibility</p:attrName>
                                        </p:attrNameLst>
                                      </p:cBhvr>
                                      <p:to>
                                        <p:strVal val="visible"/>
                                      </p:to>
                                    </p:set>
                                    <p:anim calcmode="lin" valueType="num">
                                      <p:cBhvr additive="base">
                                        <p:cTn id="29" dur="500" fill="hold"/>
                                        <p:tgtEl>
                                          <p:spTgt spid="819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19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Rectangle 2"/>
          <p:cNvSpPr>
            <a:spLocks noGrp="1" noChangeArrowheads="1"/>
          </p:cNvSpPr>
          <p:nvPr>
            <p:ph type="title" idx="4294967295"/>
          </p:nvPr>
        </p:nvSpPr>
        <p:spPr>
          <a:xfrm>
            <a:off x="467544" y="116632"/>
            <a:ext cx="8229600" cy="1143000"/>
          </a:xfrm>
        </p:spPr>
        <p:txBody>
          <a:bodyPr/>
          <a:lstStyle/>
          <a:p>
            <a:pPr eaLnBrk="1" hangingPunct="1"/>
            <a:r>
              <a:rPr lang="zh-CN" altLang="en-US" sz="3600" dirty="0" smtClean="0"/>
              <a:t>信息安全应具有的特征</a:t>
            </a:r>
            <a:r>
              <a:rPr lang="zh-CN" altLang="en-US" sz="3400" dirty="0" smtClean="0"/>
              <a:t> </a:t>
            </a:r>
            <a:endParaRPr lang="zh-CN" altLang="en-US" sz="3400" dirty="0" smtClean="0"/>
          </a:p>
        </p:txBody>
      </p:sp>
      <p:sp>
        <p:nvSpPr>
          <p:cNvPr id="8201" name="Rectangle 3"/>
          <p:cNvSpPr>
            <a:spLocks noGrp="1" noChangeArrowheads="1"/>
          </p:cNvSpPr>
          <p:nvPr>
            <p:ph type="body" idx="4294967295"/>
          </p:nvPr>
        </p:nvSpPr>
        <p:spPr>
          <a:xfrm>
            <a:off x="395536" y="980728"/>
            <a:ext cx="8229600" cy="4525963"/>
          </a:xfrm>
        </p:spPr>
        <p:txBody>
          <a:bodyPr>
            <a:noAutofit/>
          </a:bodyPr>
          <a:lstStyle/>
          <a:p>
            <a:pPr eaLnBrk="1" hangingPunct="1">
              <a:lnSpc>
                <a:spcPct val="170000"/>
              </a:lnSpc>
            </a:pPr>
            <a:r>
              <a:rPr lang="zh-CN" altLang="en-US" sz="1800" dirty="0" smtClean="0"/>
              <a:t>可靠性：指信息的抗毁性、生存性和有效性。</a:t>
            </a:r>
            <a:endParaRPr lang="zh-CN" altLang="en-US" sz="1800" dirty="0" smtClean="0"/>
          </a:p>
          <a:p>
            <a:pPr>
              <a:lnSpc>
                <a:spcPct val="170000"/>
              </a:lnSpc>
            </a:pPr>
            <a:r>
              <a:rPr lang="zh-CN" altLang="en-US" sz="1800" dirty="0"/>
              <a:t>可用性：指可被授权实体访问并按需求使用的特性，即当需要时应能存取所需的信息。网络环境下拒绝服务、破坏网络和有关系统的正常运行等都属于对可用性的攻击。 </a:t>
            </a:r>
            <a:endParaRPr lang="zh-CN" altLang="en-US" sz="1800" dirty="0" smtClean="0"/>
          </a:p>
          <a:p>
            <a:pPr>
              <a:lnSpc>
                <a:spcPct val="170000"/>
              </a:lnSpc>
            </a:pPr>
            <a:r>
              <a:rPr lang="zh-CN" altLang="en-US" sz="1800" dirty="0"/>
              <a:t>保密性：指信息不泄露给非授权的用户、实体或过程，或供其利用的特性</a:t>
            </a:r>
            <a:r>
              <a:rPr lang="zh-CN" altLang="en-US" sz="1800" dirty="0" smtClean="0"/>
              <a:t>。</a:t>
            </a:r>
            <a:endParaRPr lang="zh-CN" altLang="en-US" sz="1800" dirty="0" smtClean="0"/>
          </a:p>
          <a:p>
            <a:pPr>
              <a:lnSpc>
                <a:spcPct val="170000"/>
              </a:lnSpc>
            </a:pPr>
            <a:r>
              <a:rPr lang="zh-CN" altLang="en-US" sz="1800" dirty="0"/>
              <a:t>完整性：指数据未经授权不能进行改变的特性，即信息在存储或传输过程中保持不被修改、不被破坏和丢失的特性</a:t>
            </a:r>
            <a:r>
              <a:rPr lang="zh-CN" altLang="en-US" sz="1800" dirty="0" smtClean="0"/>
              <a:t>。</a:t>
            </a:r>
            <a:endParaRPr lang="zh-CN" altLang="en-US" sz="1800" dirty="0" smtClean="0"/>
          </a:p>
          <a:p>
            <a:pPr>
              <a:lnSpc>
                <a:spcPct val="170000"/>
              </a:lnSpc>
            </a:pPr>
            <a:r>
              <a:rPr lang="zh-CN" altLang="en-US" sz="1800" dirty="0"/>
              <a:t>可控性：指对信息的传播及内容具有控制能力，可以控制授权范围内的信息流向及行为方式</a:t>
            </a:r>
            <a:r>
              <a:rPr lang="zh-CN" altLang="en-US" sz="1800" dirty="0" smtClean="0"/>
              <a:t>。</a:t>
            </a:r>
            <a:endParaRPr lang="zh-CN" altLang="en-US" sz="1800" dirty="0" smtClean="0"/>
          </a:p>
          <a:p>
            <a:pPr>
              <a:lnSpc>
                <a:spcPct val="170000"/>
              </a:lnSpc>
            </a:pPr>
            <a:r>
              <a:rPr lang="zh-CN" altLang="en-US" sz="1800" dirty="0" smtClean="0"/>
              <a:t>可审查</a:t>
            </a:r>
            <a:r>
              <a:rPr lang="zh-CN" altLang="en-US" sz="1800" dirty="0"/>
              <a:t>性：指对出现的安全问题提供调查的依据和手段，用户不能抵赖曾做出的行为，也不能否认曾经接到对方的信息</a:t>
            </a:r>
            <a:r>
              <a:rPr lang="zh-CN" altLang="en-US" sz="1800" dirty="0" smtClean="0"/>
              <a:t>。</a:t>
            </a:r>
            <a:endParaRPr lang="zh-CN" altLang="en-US" sz="18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30B9B82C-A3C9-4CFC-9BCE-39CFEE005AF8}"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46083" name="Rectangle 2"/>
          <p:cNvSpPr>
            <a:spLocks noGrp="1" noChangeArrowheads="1"/>
          </p:cNvSpPr>
          <p:nvPr>
            <p:ph type="title" idx="4294967295"/>
          </p:nvPr>
        </p:nvSpPr>
        <p:spPr/>
        <p:txBody>
          <a:bodyPr/>
          <a:lstStyle/>
          <a:p>
            <a:pPr eaLnBrk="1" hangingPunct="1"/>
            <a:r>
              <a:rPr lang="zh-CN" altLang="en-US" smtClean="0"/>
              <a:t>信息安全概述</a:t>
            </a:r>
            <a:r>
              <a:rPr lang="zh-CN" altLang="en-US" smtClean="0">
                <a:latin typeface="Arial" panose="020B0604020202020204" pitchFamily="34" charset="0"/>
              </a:rPr>
              <a:t>——研究内容</a:t>
            </a:r>
            <a:endParaRPr lang="zh-CN" altLang="en-US" smtClean="0"/>
          </a:p>
        </p:txBody>
      </p:sp>
      <p:sp>
        <p:nvSpPr>
          <p:cNvPr id="31748" name="Rectangle 3"/>
          <p:cNvSpPr>
            <a:spLocks noGrp="1" noChangeArrowheads="1"/>
          </p:cNvSpPr>
          <p:nvPr>
            <p:ph type="body" idx="4294967295"/>
          </p:nvPr>
        </p:nvSpPr>
        <p:spPr/>
        <p:txBody>
          <a:bodyPr>
            <a:normAutofit fontScale="92500" lnSpcReduction="10000"/>
          </a:bodyPr>
          <a:lstStyle/>
          <a:p>
            <a:pPr eaLnBrk="1" hangingPunct="1"/>
            <a:r>
              <a:rPr lang="zh-CN" altLang="en-US" sz="2800" dirty="0" smtClean="0"/>
              <a:t>信息安全焦点领域：</a:t>
            </a:r>
            <a:endParaRPr lang="zh-CN" altLang="en-US" sz="2800" dirty="0" smtClean="0"/>
          </a:p>
          <a:p>
            <a:pPr eaLnBrk="1" hangingPunct="1"/>
            <a:r>
              <a:rPr lang="zh-CN" altLang="en-US" sz="2800" dirty="0" smtClean="0"/>
              <a:t>1、密码理论与技术</a:t>
            </a:r>
            <a:endParaRPr lang="zh-CN" altLang="en-US" sz="2800" dirty="0" smtClean="0"/>
          </a:p>
          <a:p>
            <a:pPr lvl="1" eaLnBrk="1" hangingPunct="1"/>
            <a:r>
              <a:rPr lang="zh-CN" altLang="en-US" dirty="0" smtClean="0"/>
              <a:t>对称密码（私钥密码）</a:t>
            </a:r>
            <a:endParaRPr lang="zh-CN" altLang="en-US" dirty="0" smtClean="0"/>
          </a:p>
          <a:p>
            <a:pPr lvl="1"/>
            <a:r>
              <a:rPr lang="zh-CN" altLang="en-US" dirty="0" smtClean="0"/>
              <a:t>非对称密码（公钥密码）：RSA算法、ElGamal算法</a:t>
            </a:r>
            <a:r>
              <a:rPr lang="zh-CN" altLang="en-US" dirty="0"/>
              <a:t>、</a:t>
            </a:r>
            <a:r>
              <a:rPr lang="zh-CN" altLang="zh-CN" dirty="0" smtClean="0"/>
              <a:t>椭圆曲线</a:t>
            </a:r>
            <a:r>
              <a:rPr lang="zh-CN" altLang="zh-CN" dirty="0"/>
              <a:t>密码体制</a:t>
            </a:r>
            <a:endParaRPr lang="zh-CN" altLang="en-US" dirty="0" smtClean="0"/>
          </a:p>
          <a:p>
            <a:pPr lvl="1" eaLnBrk="1" hangingPunct="1"/>
            <a:endParaRPr lang="zh-CN" altLang="en-US" b="0" dirty="0" smtClean="0">
              <a:latin typeface="华文新魏" panose="02010800040101010101" pitchFamily="2" charset="-122"/>
              <a:ea typeface="华文新魏" panose="02010800040101010101" pitchFamily="2" charset="-122"/>
            </a:endParaRPr>
          </a:p>
          <a:p>
            <a:pPr lvl="1" eaLnBrk="1" hangingPunct="1"/>
            <a:r>
              <a:rPr lang="zh-CN" altLang="en-US" sz="2800" b="0" dirty="0" smtClean="0">
                <a:latin typeface="华文新魏" panose="02010800040101010101" pitchFamily="2" charset="-122"/>
                <a:ea typeface="华文新魏" panose="02010800040101010101" pitchFamily="2" charset="-122"/>
              </a:rPr>
              <a:t>公钥密码的角色：</a:t>
            </a:r>
            <a:endParaRPr lang="zh-CN" altLang="en-US" sz="2800" b="0" dirty="0" smtClean="0">
              <a:latin typeface="华文新魏" panose="02010800040101010101" pitchFamily="2" charset="-122"/>
              <a:ea typeface="华文新魏" panose="02010800040101010101" pitchFamily="2" charset="-122"/>
            </a:endParaRPr>
          </a:p>
          <a:p>
            <a:pPr lvl="1" eaLnBrk="1" hangingPunct="1"/>
            <a:r>
              <a:rPr lang="zh-CN" altLang="en-US" dirty="0" smtClean="0"/>
              <a:t>密钥协商</a:t>
            </a:r>
            <a:endParaRPr lang="zh-CN" altLang="en-US" dirty="0" smtClean="0"/>
          </a:p>
          <a:p>
            <a:pPr lvl="1" eaLnBrk="1" hangingPunct="1"/>
            <a:r>
              <a:rPr lang="zh-CN" altLang="en-US" dirty="0" smtClean="0"/>
              <a:t>数字签名</a:t>
            </a:r>
            <a:endParaRPr lang="zh-CN" altLang="en-US" dirty="0" smtClean="0"/>
          </a:p>
          <a:p>
            <a:pPr lvl="1" eaLnBrk="1" hangingPunct="1"/>
            <a:r>
              <a:rPr lang="zh-CN" altLang="en-US" dirty="0" smtClean="0"/>
              <a:t>消息认证</a:t>
            </a:r>
            <a:endParaRPr lang="zh-CN" altLang="en-US" dirty="0" smtClean="0"/>
          </a:p>
          <a:p>
            <a:pPr lvl="1" eaLnBrk="1" hangingPunct="1"/>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8">
                                            <p:txEl>
                                              <p:pRg st="1" end="1"/>
                                            </p:txEl>
                                          </p:spTgt>
                                        </p:tgtEl>
                                        <p:attrNameLst>
                                          <p:attrName>style.visibility</p:attrName>
                                        </p:attrNameLst>
                                      </p:cBhvr>
                                      <p:to>
                                        <p:strVal val="visible"/>
                                      </p:to>
                                    </p:set>
                                    <p:anim calcmode="lin" valueType="num">
                                      <p:cBhvr additive="base">
                                        <p:cTn id="7" dur="500" fill="hold"/>
                                        <p:tgtEl>
                                          <p:spTgt spid="3174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48">
                                            <p:txEl>
                                              <p:pRg st="2" end="2"/>
                                            </p:txEl>
                                          </p:spTgt>
                                        </p:tgtEl>
                                        <p:attrNameLst>
                                          <p:attrName>style.visibility</p:attrName>
                                        </p:attrNameLst>
                                      </p:cBhvr>
                                      <p:to>
                                        <p:strVal val="visible"/>
                                      </p:to>
                                    </p:set>
                                    <p:anim calcmode="lin" valueType="num">
                                      <p:cBhvr additive="base">
                                        <p:cTn id="13" dur="500" fill="hold"/>
                                        <p:tgtEl>
                                          <p:spTgt spid="3174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748">
                                            <p:txEl>
                                              <p:pRg st="3" end="3"/>
                                            </p:txEl>
                                          </p:spTgt>
                                        </p:tgtEl>
                                        <p:attrNameLst>
                                          <p:attrName>style.visibility</p:attrName>
                                        </p:attrNameLst>
                                      </p:cBhvr>
                                      <p:to>
                                        <p:strVal val="visible"/>
                                      </p:to>
                                    </p:set>
                                    <p:anim calcmode="lin" valueType="num">
                                      <p:cBhvr additive="base">
                                        <p:cTn id="19" dur="500" fill="hold"/>
                                        <p:tgtEl>
                                          <p:spTgt spid="3174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1748">
                                            <p:txEl>
                                              <p:pRg st="5" end="5"/>
                                            </p:txEl>
                                          </p:spTgt>
                                        </p:tgtEl>
                                        <p:attrNameLst>
                                          <p:attrName>style.visibility</p:attrName>
                                        </p:attrNameLst>
                                      </p:cBhvr>
                                      <p:to>
                                        <p:strVal val="visible"/>
                                      </p:to>
                                    </p:set>
                                    <p:animEffect transition="in" filter="box(in)">
                                      <p:cBhvr>
                                        <p:cTn id="25" dur="500"/>
                                        <p:tgtEl>
                                          <p:spTgt spid="31748">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1748">
                                            <p:txEl>
                                              <p:pRg st="6" end="6"/>
                                            </p:txEl>
                                          </p:spTgt>
                                        </p:tgtEl>
                                        <p:attrNameLst>
                                          <p:attrName>style.visibility</p:attrName>
                                        </p:attrNameLst>
                                      </p:cBhvr>
                                      <p:to>
                                        <p:strVal val="visible"/>
                                      </p:to>
                                    </p:set>
                                    <p:anim calcmode="lin" valueType="num">
                                      <p:cBhvr additive="base">
                                        <p:cTn id="30" dur="500" fill="hold"/>
                                        <p:tgtEl>
                                          <p:spTgt spid="31748">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174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1748">
                                            <p:txEl>
                                              <p:pRg st="7" end="7"/>
                                            </p:txEl>
                                          </p:spTgt>
                                        </p:tgtEl>
                                        <p:attrNameLst>
                                          <p:attrName>style.visibility</p:attrName>
                                        </p:attrNameLst>
                                      </p:cBhvr>
                                      <p:to>
                                        <p:strVal val="visible"/>
                                      </p:to>
                                    </p:set>
                                    <p:anim calcmode="lin" valueType="num">
                                      <p:cBhvr additive="base">
                                        <p:cTn id="36" dur="500" fill="hold"/>
                                        <p:tgtEl>
                                          <p:spTgt spid="31748">
                                            <p:txEl>
                                              <p:pRg st="7" end="7"/>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174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1748">
                                            <p:txEl>
                                              <p:pRg st="8" end="8"/>
                                            </p:txEl>
                                          </p:spTgt>
                                        </p:tgtEl>
                                        <p:attrNameLst>
                                          <p:attrName>style.visibility</p:attrName>
                                        </p:attrNameLst>
                                      </p:cBhvr>
                                      <p:to>
                                        <p:strVal val="visible"/>
                                      </p:to>
                                    </p:set>
                                    <p:anim calcmode="lin" valueType="num">
                                      <p:cBhvr additive="base">
                                        <p:cTn id="42" dur="500" fill="hold"/>
                                        <p:tgtEl>
                                          <p:spTgt spid="31748">
                                            <p:txEl>
                                              <p:pRg st="8" end="8"/>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174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1FAD573D-2B96-46E1-9CF0-1A3AACC41E28}"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48131" name="Rectangle 2"/>
          <p:cNvSpPr>
            <a:spLocks noGrp="1" noChangeArrowheads="1"/>
          </p:cNvSpPr>
          <p:nvPr>
            <p:ph type="title" idx="4294967295"/>
          </p:nvPr>
        </p:nvSpPr>
        <p:spPr/>
        <p:txBody>
          <a:bodyPr>
            <a:normAutofit fontScale="90000"/>
          </a:bodyPr>
          <a:lstStyle/>
          <a:p>
            <a:pPr eaLnBrk="1" hangingPunct="1"/>
            <a:r>
              <a:rPr lang="zh-CN" altLang="en-US" smtClean="0"/>
              <a:t>信息安全概述</a:t>
            </a:r>
            <a:r>
              <a:rPr lang="zh-CN" altLang="en-US" smtClean="0">
                <a:latin typeface="Arial" panose="020B0604020202020204" pitchFamily="34" charset="0"/>
              </a:rPr>
              <a:t>——</a:t>
            </a:r>
            <a:r>
              <a:rPr lang="zh-CN" altLang="en-US" smtClean="0"/>
              <a:t>密码理论与技术</a:t>
            </a:r>
            <a:endParaRPr lang="zh-CN" altLang="en-US" smtClean="0"/>
          </a:p>
        </p:txBody>
      </p:sp>
      <p:sp>
        <p:nvSpPr>
          <p:cNvPr id="33796" name="Rectangle 3"/>
          <p:cNvSpPr>
            <a:spLocks noGrp="1" noChangeArrowheads="1"/>
          </p:cNvSpPr>
          <p:nvPr>
            <p:ph type="body" idx="4294967295"/>
          </p:nvPr>
        </p:nvSpPr>
        <p:spPr/>
        <p:txBody>
          <a:bodyPr>
            <a:normAutofit fontScale="92500" lnSpcReduction="10000"/>
          </a:bodyPr>
          <a:lstStyle/>
          <a:p>
            <a:pPr eaLnBrk="1" hangingPunct="1"/>
            <a:r>
              <a:rPr lang="zh-CN" altLang="en-US" sz="2800" smtClean="0"/>
              <a:t>2、安全协议理论与技术</a:t>
            </a:r>
            <a:endParaRPr lang="zh-CN" altLang="en-US" sz="2800" smtClean="0"/>
          </a:p>
          <a:p>
            <a:pPr lvl="1" eaLnBrk="1" hangingPunct="1"/>
            <a:r>
              <a:rPr lang="zh-CN" altLang="en-US" smtClean="0"/>
              <a:t>三个机制：加密机制、验证机制、保护机制；</a:t>
            </a:r>
            <a:endParaRPr lang="zh-CN" altLang="en-US" smtClean="0"/>
          </a:p>
          <a:p>
            <a:pPr lvl="1" eaLnBrk="1" hangingPunct="1"/>
            <a:r>
              <a:rPr lang="zh-CN" altLang="en-US" smtClean="0"/>
              <a:t>研究内容：</a:t>
            </a:r>
            <a:endParaRPr lang="zh-CN" altLang="en-US" smtClean="0"/>
          </a:p>
          <a:p>
            <a:pPr lvl="1" eaLnBrk="1" hangingPunct="1"/>
            <a:r>
              <a:rPr lang="zh-CN" altLang="en-US" smtClean="0"/>
              <a:t>实用安全协议的设计与分析研究；</a:t>
            </a:r>
            <a:endParaRPr lang="zh-CN" altLang="en-US" smtClean="0"/>
          </a:p>
          <a:p>
            <a:pPr lvl="1" eaLnBrk="1" hangingPunct="1"/>
            <a:r>
              <a:rPr lang="zh-CN" altLang="en-US" smtClean="0"/>
              <a:t>安全协议的安全性分析方法研究；</a:t>
            </a:r>
            <a:endParaRPr lang="zh-CN" altLang="en-US" smtClean="0"/>
          </a:p>
          <a:p>
            <a:pPr lvl="2" eaLnBrk="1" hangingPunct="1"/>
            <a:r>
              <a:rPr lang="zh-CN" altLang="en-US" smtClean="0"/>
              <a:t>攻击检验方法；</a:t>
            </a:r>
            <a:r>
              <a:rPr lang="zh-CN" altLang="en-US" smtClean="0">
                <a:solidFill>
                  <a:srgbClr val="000099"/>
                </a:solidFill>
              </a:rPr>
              <a:t>形式化分析方法</a:t>
            </a:r>
            <a:r>
              <a:rPr lang="zh-CN" altLang="en-US" smtClean="0"/>
              <a:t>。</a:t>
            </a:r>
            <a:endParaRPr lang="zh-CN" altLang="en-US" smtClean="0"/>
          </a:p>
          <a:p>
            <a:pPr lvl="1" eaLnBrk="1" hangingPunct="1"/>
            <a:r>
              <a:rPr lang="zh-CN" altLang="en-US" smtClean="0"/>
              <a:t>形式化分析方面，比较成功的三种研究思路：</a:t>
            </a:r>
            <a:endParaRPr lang="zh-CN" altLang="en-US" smtClean="0"/>
          </a:p>
          <a:p>
            <a:pPr lvl="1" eaLnBrk="1" hangingPunct="1"/>
            <a:r>
              <a:rPr lang="zh-CN" altLang="en-US" smtClean="0"/>
              <a:t>1、基于推理知识和信息的模态逻辑；</a:t>
            </a:r>
            <a:endParaRPr lang="zh-CN" altLang="en-US" smtClean="0"/>
          </a:p>
          <a:p>
            <a:pPr lvl="1" eaLnBrk="1" hangingPunct="1"/>
            <a:r>
              <a:rPr lang="zh-CN" altLang="en-US" smtClean="0"/>
              <a:t>2、基于状态搜索工具和定理证明技术；</a:t>
            </a:r>
            <a:endParaRPr lang="zh-CN" altLang="en-US" smtClean="0"/>
          </a:p>
          <a:p>
            <a:pPr lvl="1" eaLnBrk="1" hangingPunct="1"/>
            <a:r>
              <a:rPr lang="zh-CN" altLang="en-US" smtClean="0"/>
              <a:t>3、基于新的协议模型发展证明正确性理论。</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anim calcmode="lin" valueType="num">
                                      <p:cBhvr additive="base">
                                        <p:cTn id="7" dur="500" fill="hold"/>
                                        <p:tgtEl>
                                          <p:spTgt spid="3379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3796">
                                            <p:txEl>
                                              <p:pRg st="2" end="2"/>
                                            </p:txEl>
                                          </p:spTgt>
                                        </p:tgtEl>
                                        <p:attrNameLst>
                                          <p:attrName>style.visibility</p:attrName>
                                        </p:attrNameLst>
                                      </p:cBhvr>
                                      <p:to>
                                        <p:strVal val="visible"/>
                                      </p:to>
                                    </p:set>
                                    <p:animEffect transition="in" filter="blinds(horizontal)">
                                      <p:cBhvr>
                                        <p:cTn id="13" dur="500"/>
                                        <p:tgtEl>
                                          <p:spTgt spid="3379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3796">
                                            <p:txEl>
                                              <p:pRg st="3" end="3"/>
                                            </p:txEl>
                                          </p:spTgt>
                                        </p:tgtEl>
                                        <p:attrNameLst>
                                          <p:attrName>style.visibility</p:attrName>
                                        </p:attrNameLst>
                                      </p:cBhvr>
                                      <p:to>
                                        <p:strVal val="visible"/>
                                      </p:to>
                                    </p:set>
                                    <p:anim calcmode="lin" valueType="num">
                                      <p:cBhvr additive="base">
                                        <p:cTn id="18" dur="500" fill="hold"/>
                                        <p:tgtEl>
                                          <p:spTgt spid="33796">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37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3796">
                                            <p:txEl>
                                              <p:pRg st="4" end="4"/>
                                            </p:txEl>
                                          </p:spTgt>
                                        </p:tgtEl>
                                        <p:attrNameLst>
                                          <p:attrName>style.visibility</p:attrName>
                                        </p:attrNameLst>
                                      </p:cBhvr>
                                      <p:to>
                                        <p:strVal val="visible"/>
                                      </p:to>
                                    </p:set>
                                    <p:anim calcmode="lin" valueType="num">
                                      <p:cBhvr additive="base">
                                        <p:cTn id="24" dur="500" fill="hold"/>
                                        <p:tgtEl>
                                          <p:spTgt spid="33796">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379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3796">
                                            <p:txEl>
                                              <p:pRg st="5" end="5"/>
                                            </p:txEl>
                                          </p:spTgt>
                                        </p:tgtEl>
                                        <p:attrNameLst>
                                          <p:attrName>style.visibility</p:attrName>
                                        </p:attrNameLst>
                                      </p:cBhvr>
                                      <p:to>
                                        <p:strVal val="visible"/>
                                      </p:to>
                                    </p:set>
                                    <p:animEffect transition="in" filter="blinds(horizontal)">
                                      <p:cBhvr>
                                        <p:cTn id="30" dur="500"/>
                                        <p:tgtEl>
                                          <p:spTgt spid="3379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3796">
                                            <p:txEl>
                                              <p:pRg st="6" end="6"/>
                                            </p:txEl>
                                          </p:spTgt>
                                        </p:tgtEl>
                                        <p:attrNameLst>
                                          <p:attrName>style.visibility</p:attrName>
                                        </p:attrNameLst>
                                      </p:cBhvr>
                                      <p:to>
                                        <p:strVal val="visible"/>
                                      </p:to>
                                    </p:set>
                                    <p:anim calcmode="lin" valueType="num">
                                      <p:cBhvr additive="base">
                                        <p:cTn id="35" dur="500" fill="hold"/>
                                        <p:tgtEl>
                                          <p:spTgt spid="3379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379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33796">
                                            <p:txEl>
                                              <p:pRg st="7" end="7"/>
                                            </p:txEl>
                                          </p:spTgt>
                                        </p:tgtEl>
                                        <p:attrNameLst>
                                          <p:attrName>style.visibility</p:attrName>
                                        </p:attrNameLst>
                                      </p:cBhvr>
                                      <p:to>
                                        <p:strVal val="visible"/>
                                      </p:to>
                                    </p:set>
                                    <p:animEffect transition="in" filter="box(in)">
                                      <p:cBhvr>
                                        <p:cTn id="41" dur="500"/>
                                        <p:tgtEl>
                                          <p:spTgt spid="33796">
                                            <p:txEl>
                                              <p:pRg st="7" end="7"/>
                                            </p:txEl>
                                          </p:spTgt>
                                        </p:tgtEl>
                                      </p:cBhvr>
                                    </p:animEffect>
                                  </p:childTnLst>
                                </p:cTn>
                              </p:par>
                              <p:par>
                                <p:cTn id="42" presetID="4" presetClass="entr" presetSubtype="16" fill="hold" nodeType="withEffect">
                                  <p:stCondLst>
                                    <p:cond delay="0"/>
                                  </p:stCondLst>
                                  <p:childTnLst>
                                    <p:set>
                                      <p:cBhvr>
                                        <p:cTn id="43" dur="1" fill="hold">
                                          <p:stCondLst>
                                            <p:cond delay="0"/>
                                          </p:stCondLst>
                                        </p:cTn>
                                        <p:tgtEl>
                                          <p:spTgt spid="33796">
                                            <p:txEl>
                                              <p:pRg st="8" end="8"/>
                                            </p:txEl>
                                          </p:spTgt>
                                        </p:tgtEl>
                                        <p:attrNameLst>
                                          <p:attrName>style.visibility</p:attrName>
                                        </p:attrNameLst>
                                      </p:cBhvr>
                                      <p:to>
                                        <p:strVal val="visible"/>
                                      </p:to>
                                    </p:set>
                                    <p:animEffect transition="in" filter="box(in)">
                                      <p:cBhvr>
                                        <p:cTn id="44" dur="500"/>
                                        <p:tgtEl>
                                          <p:spTgt spid="33796">
                                            <p:txEl>
                                              <p:pRg st="8" end="8"/>
                                            </p:txEl>
                                          </p:spTgt>
                                        </p:tgtEl>
                                      </p:cBhvr>
                                    </p:animEffect>
                                  </p:childTnLst>
                                </p:cTn>
                              </p:par>
                              <p:par>
                                <p:cTn id="45" presetID="4" presetClass="entr" presetSubtype="16" fill="hold" nodeType="withEffect">
                                  <p:stCondLst>
                                    <p:cond delay="0"/>
                                  </p:stCondLst>
                                  <p:childTnLst>
                                    <p:set>
                                      <p:cBhvr>
                                        <p:cTn id="46" dur="1" fill="hold">
                                          <p:stCondLst>
                                            <p:cond delay="0"/>
                                          </p:stCondLst>
                                        </p:cTn>
                                        <p:tgtEl>
                                          <p:spTgt spid="33796">
                                            <p:txEl>
                                              <p:pRg st="9" end="9"/>
                                            </p:txEl>
                                          </p:spTgt>
                                        </p:tgtEl>
                                        <p:attrNameLst>
                                          <p:attrName>style.visibility</p:attrName>
                                        </p:attrNameLst>
                                      </p:cBhvr>
                                      <p:to>
                                        <p:strVal val="visible"/>
                                      </p:to>
                                    </p:set>
                                    <p:animEffect transition="in" filter="box(in)">
                                      <p:cBhvr>
                                        <p:cTn id="47" dur="500"/>
                                        <p:tgtEl>
                                          <p:spTgt spid="3379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0DD2FDF1-B759-45FB-AEE7-BFCDE4432DCE}"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50179" name="Rectangle 2"/>
          <p:cNvSpPr>
            <a:spLocks noGrp="1" noChangeArrowheads="1"/>
          </p:cNvSpPr>
          <p:nvPr>
            <p:ph type="title" idx="4294967295"/>
          </p:nvPr>
        </p:nvSpPr>
        <p:spPr>
          <a:xfrm>
            <a:off x="1476375" y="304800"/>
            <a:ext cx="7134225" cy="609600"/>
          </a:xfrm>
        </p:spPr>
        <p:txBody>
          <a:bodyPr/>
          <a:lstStyle/>
          <a:p>
            <a:pPr eaLnBrk="1" hangingPunct="1"/>
            <a:r>
              <a:rPr lang="zh-CN" altLang="en-US" sz="2600" smtClean="0"/>
              <a:t>信息安全概述</a:t>
            </a:r>
            <a:r>
              <a:rPr lang="zh-CN" altLang="en-US" sz="2600" smtClean="0">
                <a:latin typeface="Arial" panose="020B0604020202020204" pitchFamily="34" charset="0"/>
              </a:rPr>
              <a:t>——</a:t>
            </a:r>
            <a:r>
              <a:rPr lang="zh-CN" altLang="en-US" sz="2600" smtClean="0"/>
              <a:t>安全体系结构理论与技术</a:t>
            </a:r>
            <a:endParaRPr lang="zh-CN" altLang="en-US" sz="2600" smtClean="0"/>
          </a:p>
        </p:txBody>
      </p:sp>
      <p:sp>
        <p:nvSpPr>
          <p:cNvPr id="35844" name="Rectangle 3"/>
          <p:cNvSpPr>
            <a:spLocks noGrp="1" noChangeArrowheads="1"/>
          </p:cNvSpPr>
          <p:nvPr>
            <p:ph type="body" idx="4294967295"/>
          </p:nvPr>
        </p:nvSpPr>
        <p:spPr/>
        <p:txBody>
          <a:bodyPr>
            <a:normAutofit fontScale="92500" lnSpcReduction="10000"/>
          </a:bodyPr>
          <a:lstStyle/>
          <a:p>
            <a:pPr eaLnBrk="1" hangingPunct="1"/>
            <a:r>
              <a:rPr lang="zh-CN" altLang="en-US" smtClean="0"/>
              <a:t>3、安全体系结构理论与技术</a:t>
            </a:r>
            <a:endParaRPr lang="zh-CN" altLang="en-US" smtClean="0"/>
          </a:p>
          <a:p>
            <a:pPr lvl="1" eaLnBrk="1" hangingPunct="1"/>
            <a:r>
              <a:rPr lang="zh-CN" altLang="en-US" smtClean="0"/>
              <a:t>安全体系模型建立及形式化描述与分析；</a:t>
            </a:r>
            <a:endParaRPr lang="zh-CN" altLang="en-US" smtClean="0"/>
          </a:p>
          <a:p>
            <a:pPr lvl="1" eaLnBrk="1" hangingPunct="1"/>
            <a:r>
              <a:rPr lang="zh-CN" altLang="en-US" smtClean="0"/>
              <a:t>安全策略和机制研究；</a:t>
            </a:r>
            <a:endParaRPr lang="zh-CN" altLang="en-US" smtClean="0"/>
          </a:p>
          <a:p>
            <a:pPr lvl="1" eaLnBrk="1" hangingPunct="1"/>
            <a:r>
              <a:rPr lang="zh-CN" altLang="en-US" smtClean="0"/>
              <a:t>系统安全性检验方法和准则建立；</a:t>
            </a:r>
            <a:endParaRPr lang="zh-CN" altLang="en-US" smtClean="0"/>
          </a:p>
          <a:p>
            <a:pPr lvl="1" eaLnBrk="1" hangingPunct="1"/>
            <a:r>
              <a:rPr lang="zh-CN" altLang="en-US" smtClean="0"/>
              <a:t>基于相关模型、策略和准则的系统研制。</a:t>
            </a:r>
            <a:endParaRPr lang="zh-CN" altLang="en-US" smtClean="0"/>
          </a:p>
          <a:p>
            <a:pPr eaLnBrk="1" hangingPunct="1"/>
            <a:r>
              <a:rPr lang="zh-CN" altLang="en-US" smtClean="0"/>
              <a:t>发展演变：</a:t>
            </a:r>
            <a:endParaRPr lang="zh-CN" altLang="en-US" smtClean="0"/>
          </a:p>
          <a:p>
            <a:pPr lvl="1" eaLnBrk="1" hangingPunct="1"/>
            <a:r>
              <a:rPr lang="zh-CN" altLang="en-US" smtClean="0"/>
              <a:t>20世纪80年代：美国国防部制定的TCSEC</a:t>
            </a:r>
            <a:r>
              <a:rPr lang="zh-CN" altLang="en-US" smtClean="0">
                <a:latin typeface="宋体" panose="02010600030101010101" pitchFamily="2" charset="-122"/>
              </a:rPr>
              <a:t>——</a:t>
            </a:r>
            <a:r>
              <a:rPr lang="zh-CN" altLang="en-US" smtClean="0"/>
              <a:t>安全信息系统体系结构的最早准则；</a:t>
            </a:r>
            <a:endParaRPr lang="zh-CN" altLang="en-US" smtClean="0"/>
          </a:p>
          <a:p>
            <a:pPr lvl="1" eaLnBrk="1" hangingPunct="1"/>
            <a:r>
              <a:rPr lang="zh-CN" altLang="en-US" smtClean="0"/>
              <a:t>20世纪90年代：英、法、德、荷提出了ITSEC，包括保密性、完整性、可用性概念；</a:t>
            </a:r>
            <a:endParaRPr lang="zh-CN" altLang="en-US" smtClean="0"/>
          </a:p>
          <a:p>
            <a:pPr lvl="1" eaLnBrk="1" hangingPunct="1"/>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844">
                                            <p:txEl>
                                              <p:pRg st="1" end="1"/>
                                            </p:txEl>
                                          </p:spTgt>
                                        </p:tgtEl>
                                        <p:attrNameLst>
                                          <p:attrName>style.visibility</p:attrName>
                                        </p:attrNameLst>
                                      </p:cBhvr>
                                      <p:to>
                                        <p:strVal val="visible"/>
                                      </p:to>
                                    </p:set>
                                    <p:anim calcmode="lin" valueType="num">
                                      <p:cBhvr additive="base">
                                        <p:cTn id="7" dur="500" fill="hold"/>
                                        <p:tgtEl>
                                          <p:spTgt spid="3584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844">
                                            <p:txEl>
                                              <p:pRg st="2" end="2"/>
                                            </p:txEl>
                                          </p:spTgt>
                                        </p:tgtEl>
                                        <p:attrNameLst>
                                          <p:attrName>style.visibility</p:attrName>
                                        </p:attrNameLst>
                                      </p:cBhvr>
                                      <p:to>
                                        <p:strVal val="visible"/>
                                      </p:to>
                                    </p:set>
                                    <p:anim calcmode="lin" valueType="num">
                                      <p:cBhvr additive="base">
                                        <p:cTn id="13" dur="500" fill="hold"/>
                                        <p:tgtEl>
                                          <p:spTgt spid="3584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35844">
                                            <p:txEl>
                                              <p:pRg st="3" end="3"/>
                                            </p:txEl>
                                          </p:spTgt>
                                        </p:tgtEl>
                                        <p:attrNameLst>
                                          <p:attrName>style.visibility</p:attrName>
                                        </p:attrNameLst>
                                      </p:cBhvr>
                                      <p:to>
                                        <p:strVal val="visible"/>
                                      </p:to>
                                    </p:set>
                                    <p:animEffect transition="in" filter="box(in)">
                                      <p:cBhvr>
                                        <p:cTn id="19" dur="500"/>
                                        <p:tgtEl>
                                          <p:spTgt spid="35844">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5844">
                                            <p:txEl>
                                              <p:pRg st="4" end="4"/>
                                            </p:txEl>
                                          </p:spTgt>
                                        </p:tgtEl>
                                        <p:attrNameLst>
                                          <p:attrName>style.visibility</p:attrName>
                                        </p:attrNameLst>
                                      </p:cBhvr>
                                      <p:to>
                                        <p:strVal val="visible"/>
                                      </p:to>
                                    </p:set>
                                    <p:animEffect transition="in" filter="blinds(horizontal)">
                                      <p:cBhvr>
                                        <p:cTn id="24" dur="500"/>
                                        <p:tgtEl>
                                          <p:spTgt spid="35844">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5844">
                                            <p:txEl>
                                              <p:pRg st="5" end="5"/>
                                            </p:txEl>
                                          </p:spTgt>
                                        </p:tgtEl>
                                        <p:attrNameLst>
                                          <p:attrName>style.visibility</p:attrName>
                                        </p:attrNameLst>
                                      </p:cBhvr>
                                      <p:to>
                                        <p:strVal val="visible"/>
                                      </p:to>
                                    </p:set>
                                    <p:anim calcmode="lin" valueType="num">
                                      <p:cBhvr additive="base">
                                        <p:cTn id="29" dur="500" fill="hold"/>
                                        <p:tgtEl>
                                          <p:spTgt spid="3584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84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35844">
                                            <p:txEl>
                                              <p:pRg st="6" end="6"/>
                                            </p:txEl>
                                          </p:spTgt>
                                        </p:tgtEl>
                                        <p:attrNameLst>
                                          <p:attrName>style.visibility</p:attrName>
                                        </p:attrNameLst>
                                      </p:cBhvr>
                                      <p:to>
                                        <p:strVal val="visible"/>
                                      </p:to>
                                    </p:set>
                                    <p:animEffect transition="in" filter="box(in)">
                                      <p:cBhvr>
                                        <p:cTn id="35" dur="500"/>
                                        <p:tgtEl>
                                          <p:spTgt spid="3584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5844">
                                            <p:txEl>
                                              <p:pRg st="7" end="7"/>
                                            </p:txEl>
                                          </p:spTgt>
                                        </p:tgtEl>
                                        <p:attrNameLst>
                                          <p:attrName>style.visibility</p:attrName>
                                        </p:attrNameLst>
                                      </p:cBhvr>
                                      <p:to>
                                        <p:strVal val="visible"/>
                                      </p:to>
                                    </p:set>
                                    <p:animEffect transition="in" filter="blinds(horizontal)">
                                      <p:cBhvr>
                                        <p:cTn id="40" dur="500"/>
                                        <p:tgtEl>
                                          <p:spTgt spid="3584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142503B4-04EE-4EFA-832A-507C68FF26D5}"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52227" name="Rectangle 2"/>
          <p:cNvSpPr>
            <a:spLocks noGrp="1" noChangeArrowheads="1"/>
          </p:cNvSpPr>
          <p:nvPr>
            <p:ph type="title" idx="4294967295"/>
          </p:nvPr>
        </p:nvSpPr>
        <p:spPr/>
        <p:txBody>
          <a:bodyPr>
            <a:normAutofit fontScale="90000"/>
          </a:bodyPr>
          <a:lstStyle/>
          <a:p>
            <a:pPr eaLnBrk="1" hangingPunct="1"/>
            <a:r>
              <a:rPr lang="zh-CN" altLang="en-US" smtClean="0"/>
              <a:t>信息安全概述</a:t>
            </a:r>
            <a:r>
              <a:rPr lang="zh-CN" altLang="en-US" smtClean="0">
                <a:latin typeface="Arial" panose="020B0604020202020204" pitchFamily="34" charset="0"/>
              </a:rPr>
              <a:t>——</a:t>
            </a:r>
            <a:r>
              <a:rPr lang="zh-CN" altLang="en-US" smtClean="0"/>
              <a:t>信息对抗理论与技术</a:t>
            </a:r>
            <a:endParaRPr lang="zh-CN" altLang="en-US" smtClean="0"/>
          </a:p>
        </p:txBody>
      </p:sp>
      <p:sp>
        <p:nvSpPr>
          <p:cNvPr id="37892" name="Rectangle 3"/>
          <p:cNvSpPr>
            <a:spLocks noGrp="1" noChangeArrowheads="1"/>
          </p:cNvSpPr>
          <p:nvPr>
            <p:ph type="body" idx="4294967295"/>
          </p:nvPr>
        </p:nvSpPr>
        <p:spPr/>
        <p:txBody>
          <a:bodyPr>
            <a:normAutofit fontScale="92500" lnSpcReduction="10000"/>
          </a:bodyPr>
          <a:lstStyle/>
          <a:p>
            <a:pPr eaLnBrk="1" hangingPunct="1"/>
            <a:r>
              <a:rPr lang="zh-CN" altLang="en-US" sz="2800" smtClean="0"/>
              <a:t>4、信息对抗理论与技术</a:t>
            </a:r>
            <a:endParaRPr lang="zh-CN" altLang="en-US" sz="2800" smtClean="0"/>
          </a:p>
          <a:p>
            <a:pPr eaLnBrk="1" hangingPunct="1"/>
            <a:r>
              <a:rPr lang="zh-CN" altLang="en-US" smtClean="0">
                <a:solidFill>
                  <a:srgbClr val="000099"/>
                </a:solidFill>
              </a:rPr>
              <a:t>入侵与反入侵</a:t>
            </a:r>
            <a:endParaRPr lang="zh-CN" altLang="en-US" smtClean="0">
              <a:solidFill>
                <a:srgbClr val="000099"/>
              </a:solidFill>
            </a:endParaRPr>
          </a:p>
          <a:p>
            <a:pPr lvl="1" eaLnBrk="1" hangingPunct="1"/>
            <a:r>
              <a:rPr lang="zh-CN" altLang="en-US" smtClean="0"/>
              <a:t>入侵检测原理与技术；</a:t>
            </a:r>
            <a:endParaRPr lang="zh-CN" altLang="en-US" smtClean="0"/>
          </a:p>
          <a:p>
            <a:pPr lvl="1" eaLnBrk="1" hangingPunct="1"/>
            <a:r>
              <a:rPr lang="zh-CN" altLang="en-US" smtClean="0"/>
              <a:t>反击方法；</a:t>
            </a:r>
            <a:endParaRPr lang="zh-CN" altLang="en-US" smtClean="0"/>
          </a:p>
          <a:p>
            <a:pPr lvl="1" eaLnBrk="1" hangingPunct="1"/>
            <a:r>
              <a:rPr lang="zh-CN" altLang="en-US" smtClean="0"/>
              <a:t>应急响应系统；</a:t>
            </a:r>
            <a:endParaRPr lang="zh-CN" altLang="en-US" smtClean="0"/>
          </a:p>
          <a:p>
            <a:pPr lvl="1" eaLnBrk="1" hangingPunct="1"/>
            <a:r>
              <a:rPr lang="zh-CN" altLang="en-US" smtClean="0"/>
              <a:t>信息分析与监控；</a:t>
            </a:r>
            <a:endParaRPr lang="zh-CN" altLang="en-US" smtClean="0"/>
          </a:p>
          <a:p>
            <a:pPr lvl="1" eaLnBrk="1" hangingPunct="1"/>
            <a:r>
              <a:rPr lang="zh-CN" altLang="en-US" smtClean="0"/>
              <a:t>黑客防范体系；</a:t>
            </a:r>
            <a:endParaRPr lang="zh-CN" altLang="en-US" smtClean="0"/>
          </a:p>
          <a:p>
            <a:pPr lvl="1" eaLnBrk="1" hangingPunct="1"/>
            <a:r>
              <a:rPr lang="zh-CN" altLang="en-US" smtClean="0"/>
              <a:t>信息伪装理论与方法；</a:t>
            </a:r>
            <a:endParaRPr lang="zh-CN" altLang="en-US" smtClean="0"/>
          </a:p>
          <a:p>
            <a:pPr lvl="1" eaLnBrk="1" hangingPunct="1"/>
            <a:r>
              <a:rPr lang="zh-CN" altLang="en-US" smtClean="0"/>
              <a:t>人工免疫系统在反病毒和抗入侵系统中的应用</a:t>
            </a:r>
            <a:endParaRPr lang="zh-CN" altLang="en-US" smtClean="0"/>
          </a:p>
          <a:p>
            <a:pPr lvl="1" eaLnBrk="1" hangingPunct="1"/>
            <a:r>
              <a:rPr lang="zh-CN" altLang="en-US" smtClean="0"/>
              <a:t>。。。。。。</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2">
                                            <p:txEl>
                                              <p:pRg st="1" end="1"/>
                                            </p:txEl>
                                          </p:spTgt>
                                        </p:tgtEl>
                                        <p:attrNameLst>
                                          <p:attrName>style.visibility</p:attrName>
                                        </p:attrNameLst>
                                      </p:cBhvr>
                                      <p:to>
                                        <p:strVal val="visible"/>
                                      </p:to>
                                    </p:set>
                                    <p:anim calcmode="lin" valueType="num">
                                      <p:cBhvr additive="base">
                                        <p:cTn id="7" dur="500" fill="hold"/>
                                        <p:tgtEl>
                                          <p:spTgt spid="3789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2">
                                            <p:txEl>
                                              <p:pRg st="2" end="2"/>
                                            </p:txEl>
                                          </p:spTgt>
                                        </p:tgtEl>
                                        <p:attrNameLst>
                                          <p:attrName>style.visibility</p:attrName>
                                        </p:attrNameLst>
                                      </p:cBhvr>
                                      <p:to>
                                        <p:strVal val="visible"/>
                                      </p:to>
                                    </p:set>
                                    <p:anim calcmode="lin" valueType="num">
                                      <p:cBhvr additive="base">
                                        <p:cTn id="13" dur="500" fill="hold"/>
                                        <p:tgtEl>
                                          <p:spTgt spid="3789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7892">
                                            <p:txEl>
                                              <p:pRg st="3" end="3"/>
                                            </p:txEl>
                                          </p:spTgt>
                                        </p:tgtEl>
                                        <p:attrNameLst>
                                          <p:attrName>style.visibility</p:attrName>
                                        </p:attrNameLst>
                                      </p:cBhvr>
                                      <p:to>
                                        <p:strVal val="visible"/>
                                      </p:to>
                                    </p:set>
                                    <p:animEffect transition="in" filter="blinds(horizontal)">
                                      <p:cBhvr>
                                        <p:cTn id="19" dur="500"/>
                                        <p:tgtEl>
                                          <p:spTgt spid="37892">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7892">
                                            <p:txEl>
                                              <p:pRg st="4" end="4"/>
                                            </p:txEl>
                                          </p:spTgt>
                                        </p:tgtEl>
                                        <p:attrNameLst>
                                          <p:attrName>style.visibility</p:attrName>
                                        </p:attrNameLst>
                                      </p:cBhvr>
                                      <p:to>
                                        <p:strVal val="visible"/>
                                      </p:to>
                                    </p:set>
                                    <p:anim calcmode="lin" valueType="num">
                                      <p:cBhvr additive="base">
                                        <p:cTn id="24" dur="500" fill="hold"/>
                                        <p:tgtEl>
                                          <p:spTgt spid="37892">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789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37892">
                                            <p:txEl>
                                              <p:pRg st="5" end="5"/>
                                            </p:txEl>
                                          </p:spTgt>
                                        </p:tgtEl>
                                        <p:attrNameLst>
                                          <p:attrName>style.visibility</p:attrName>
                                        </p:attrNameLst>
                                      </p:cBhvr>
                                      <p:to>
                                        <p:strVal val="visible"/>
                                      </p:to>
                                    </p:set>
                                    <p:animEffect transition="in" filter="box(in)">
                                      <p:cBhvr>
                                        <p:cTn id="30" dur="500"/>
                                        <p:tgtEl>
                                          <p:spTgt spid="3789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7892">
                                            <p:txEl>
                                              <p:pRg st="6" end="6"/>
                                            </p:txEl>
                                          </p:spTgt>
                                        </p:tgtEl>
                                        <p:attrNameLst>
                                          <p:attrName>style.visibility</p:attrName>
                                        </p:attrNameLst>
                                      </p:cBhvr>
                                      <p:to>
                                        <p:strVal val="visible"/>
                                      </p:to>
                                    </p:set>
                                    <p:anim calcmode="lin" valueType="num">
                                      <p:cBhvr additive="base">
                                        <p:cTn id="35" dur="500" fill="hold"/>
                                        <p:tgtEl>
                                          <p:spTgt spid="37892">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892">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7892">
                                            <p:txEl>
                                              <p:pRg st="7" end="7"/>
                                            </p:txEl>
                                          </p:spTgt>
                                        </p:tgtEl>
                                        <p:attrNameLst>
                                          <p:attrName>style.visibility</p:attrName>
                                        </p:attrNameLst>
                                      </p:cBhvr>
                                      <p:to>
                                        <p:strVal val="visible"/>
                                      </p:to>
                                    </p:set>
                                    <p:anim calcmode="lin" valueType="num">
                                      <p:cBhvr additive="base">
                                        <p:cTn id="39" dur="500" fill="hold"/>
                                        <p:tgtEl>
                                          <p:spTgt spid="37892">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789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7892">
                                            <p:txEl>
                                              <p:pRg st="8" end="8"/>
                                            </p:txEl>
                                          </p:spTgt>
                                        </p:tgtEl>
                                        <p:attrNameLst>
                                          <p:attrName>style.visibility</p:attrName>
                                        </p:attrNameLst>
                                      </p:cBhvr>
                                      <p:to>
                                        <p:strVal val="visible"/>
                                      </p:to>
                                    </p:set>
                                    <p:animEffect transition="in" filter="blinds(horizontal)">
                                      <p:cBhvr>
                                        <p:cTn id="45" dur="500"/>
                                        <p:tgtEl>
                                          <p:spTgt spid="37892">
                                            <p:txEl>
                                              <p:pRg st="8" end="8"/>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37892">
                                            <p:txEl>
                                              <p:pRg st="9" end="9"/>
                                            </p:txEl>
                                          </p:spTgt>
                                        </p:tgtEl>
                                        <p:attrNameLst>
                                          <p:attrName>style.visibility</p:attrName>
                                        </p:attrNameLst>
                                      </p:cBhvr>
                                      <p:to>
                                        <p:strVal val="visible"/>
                                      </p:to>
                                    </p:set>
                                    <p:animEffect transition="in" filter="blinds(horizontal)">
                                      <p:cBhvr>
                                        <p:cTn id="48" dur="500"/>
                                        <p:tgtEl>
                                          <p:spTgt spid="3789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AEC5A1BB-DA5C-419E-9548-C44E48575E55}"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59395" name="Rectangle 2"/>
          <p:cNvSpPr>
            <a:spLocks noGrp="1" noChangeArrowheads="1"/>
          </p:cNvSpPr>
          <p:nvPr>
            <p:ph type="title" idx="4294967295"/>
          </p:nvPr>
        </p:nvSpPr>
        <p:spPr/>
        <p:txBody>
          <a:bodyPr>
            <a:normAutofit fontScale="90000"/>
          </a:bodyPr>
          <a:lstStyle/>
          <a:p>
            <a:pPr eaLnBrk="1" hangingPunct="1"/>
            <a:r>
              <a:rPr lang="zh-CN" altLang="en-US" smtClean="0"/>
              <a:t>信息安全概述</a:t>
            </a:r>
            <a:r>
              <a:rPr lang="zh-CN" altLang="en-US" smtClean="0">
                <a:latin typeface="Arial" panose="020B0604020202020204" pitchFamily="34" charset="0"/>
              </a:rPr>
              <a:t>——</a:t>
            </a:r>
            <a:r>
              <a:rPr lang="zh-CN" altLang="en-US" smtClean="0"/>
              <a:t>网络安全与安全产品</a:t>
            </a:r>
            <a:endParaRPr lang="zh-CN" altLang="en-US" smtClean="0"/>
          </a:p>
        </p:txBody>
      </p:sp>
      <p:sp>
        <p:nvSpPr>
          <p:cNvPr id="40964" name="Rectangle 3"/>
          <p:cNvSpPr>
            <a:spLocks noGrp="1" noChangeArrowheads="1"/>
          </p:cNvSpPr>
          <p:nvPr>
            <p:ph type="body" idx="4294967295"/>
          </p:nvPr>
        </p:nvSpPr>
        <p:spPr/>
        <p:txBody>
          <a:bodyPr>
            <a:normAutofit lnSpcReduction="20000"/>
          </a:bodyPr>
          <a:lstStyle/>
          <a:p>
            <a:pPr eaLnBrk="1" hangingPunct="1"/>
            <a:r>
              <a:rPr lang="zh-CN" altLang="en-US" sz="2800" smtClean="0"/>
              <a:t>5、网络安全与安全产品</a:t>
            </a:r>
            <a:endParaRPr lang="zh-CN" altLang="en-US" sz="2800" smtClean="0"/>
          </a:p>
          <a:p>
            <a:pPr lvl="1" eaLnBrk="1" hangingPunct="1"/>
            <a:r>
              <a:rPr lang="zh-CN" altLang="en-US" sz="2600" smtClean="0">
                <a:latin typeface="华文新魏" panose="02010800040101010101" pitchFamily="2" charset="-122"/>
                <a:ea typeface="华文新魏" panose="02010800040101010101" pitchFamily="2" charset="-122"/>
              </a:rPr>
              <a:t>推动国内信息安全产业发展的因素：</a:t>
            </a:r>
            <a:endParaRPr lang="zh-CN" altLang="en-US" sz="2600" smtClean="0">
              <a:latin typeface="华文新魏" panose="02010800040101010101" pitchFamily="2" charset="-122"/>
              <a:ea typeface="华文新魏" panose="02010800040101010101" pitchFamily="2" charset="-122"/>
            </a:endParaRPr>
          </a:p>
          <a:p>
            <a:pPr lvl="2" eaLnBrk="1" hangingPunct="1"/>
            <a:r>
              <a:rPr lang="zh-CN" altLang="en-US" smtClean="0"/>
              <a:t>企业信息化乃至社会的信息化；</a:t>
            </a:r>
            <a:endParaRPr lang="zh-CN" altLang="en-US" smtClean="0"/>
          </a:p>
          <a:p>
            <a:pPr lvl="2" eaLnBrk="1" hangingPunct="1"/>
            <a:r>
              <a:rPr lang="zh-CN" altLang="en-US" smtClean="0"/>
              <a:t>政府的引领和推进作用；</a:t>
            </a:r>
            <a:endParaRPr lang="zh-CN" altLang="en-US" smtClean="0"/>
          </a:p>
          <a:p>
            <a:pPr lvl="2" eaLnBrk="1" hangingPunct="1"/>
            <a:r>
              <a:rPr lang="zh-CN" altLang="en-US" smtClean="0"/>
              <a:t>安全技术和产品的日益成熟。</a:t>
            </a:r>
            <a:endParaRPr lang="zh-CN" altLang="en-US" smtClean="0"/>
          </a:p>
          <a:p>
            <a:pPr lvl="1" eaLnBrk="1" hangingPunct="1"/>
            <a:endParaRPr lang="zh-CN" altLang="en-US" smtClean="0"/>
          </a:p>
          <a:p>
            <a:pPr lvl="1" eaLnBrk="1" hangingPunct="1"/>
            <a:r>
              <a:rPr lang="zh-CN" altLang="en-US" sz="2600" smtClean="0">
                <a:latin typeface="华文新魏" panose="02010800040101010101" pitchFamily="2" charset="-122"/>
                <a:ea typeface="华文新魏" panose="02010800040101010101" pitchFamily="2" charset="-122"/>
              </a:rPr>
              <a:t>主要安全产品：</a:t>
            </a:r>
            <a:endParaRPr lang="zh-CN" altLang="en-US" sz="2600" smtClean="0">
              <a:latin typeface="华文新魏" panose="02010800040101010101" pitchFamily="2" charset="-122"/>
              <a:ea typeface="华文新魏" panose="02010800040101010101" pitchFamily="2" charset="-122"/>
            </a:endParaRPr>
          </a:p>
          <a:p>
            <a:pPr lvl="2" eaLnBrk="1" hangingPunct="1"/>
            <a:r>
              <a:rPr lang="zh-CN" altLang="en-US" smtClean="0"/>
              <a:t>防火墙：包过滤技术、应用网关技术、代理服务技术</a:t>
            </a:r>
            <a:endParaRPr lang="zh-CN" altLang="en-US" smtClean="0"/>
          </a:p>
          <a:p>
            <a:pPr lvl="2" eaLnBrk="1" hangingPunct="1"/>
            <a:r>
              <a:rPr lang="zh-CN" altLang="en-US" smtClean="0"/>
              <a:t>安全路由器：采用访问控制技术控制网络信息流</a:t>
            </a:r>
            <a:endParaRPr lang="zh-CN" altLang="en-US" smtClean="0"/>
          </a:p>
          <a:p>
            <a:pPr lvl="2" eaLnBrk="1" hangingPunct="1"/>
            <a:r>
              <a:rPr lang="zh-CN" altLang="en-US" smtClean="0"/>
              <a:t>入侵检测系统：应对对抗技术的产品</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4">
                                            <p:txEl>
                                              <p:pRg st="1" end="1"/>
                                            </p:txEl>
                                          </p:spTgt>
                                        </p:tgtEl>
                                        <p:attrNameLst>
                                          <p:attrName>style.visibility</p:attrName>
                                        </p:attrNameLst>
                                      </p:cBhvr>
                                      <p:to>
                                        <p:strVal val="visible"/>
                                      </p:to>
                                    </p:set>
                                    <p:anim calcmode="lin" valueType="num">
                                      <p:cBhvr additive="base">
                                        <p:cTn id="7" dur="500" fill="hold"/>
                                        <p:tgtEl>
                                          <p:spTgt spid="4096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0964">
                                            <p:txEl>
                                              <p:pRg st="2" end="2"/>
                                            </p:txEl>
                                          </p:spTgt>
                                        </p:tgtEl>
                                        <p:attrNameLst>
                                          <p:attrName>style.visibility</p:attrName>
                                        </p:attrNameLst>
                                      </p:cBhvr>
                                      <p:to>
                                        <p:strVal val="visible"/>
                                      </p:to>
                                    </p:set>
                                    <p:animEffect transition="in" filter="blinds(horizontal)">
                                      <p:cBhvr>
                                        <p:cTn id="13" dur="500"/>
                                        <p:tgtEl>
                                          <p:spTgt spid="40964">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0964">
                                            <p:txEl>
                                              <p:pRg st="3" end="3"/>
                                            </p:txEl>
                                          </p:spTgt>
                                        </p:tgtEl>
                                        <p:attrNameLst>
                                          <p:attrName>style.visibility</p:attrName>
                                        </p:attrNameLst>
                                      </p:cBhvr>
                                      <p:to>
                                        <p:strVal val="visible"/>
                                      </p:to>
                                    </p:set>
                                    <p:animEffect transition="in" filter="blinds(horizontal)">
                                      <p:cBhvr>
                                        <p:cTn id="16" dur="500"/>
                                        <p:tgtEl>
                                          <p:spTgt spid="40964">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0964">
                                            <p:txEl>
                                              <p:pRg st="4" end="4"/>
                                            </p:txEl>
                                          </p:spTgt>
                                        </p:tgtEl>
                                        <p:attrNameLst>
                                          <p:attrName>style.visibility</p:attrName>
                                        </p:attrNameLst>
                                      </p:cBhvr>
                                      <p:to>
                                        <p:strVal val="visible"/>
                                      </p:to>
                                    </p:set>
                                    <p:animEffect transition="in" filter="blinds(horizontal)">
                                      <p:cBhvr>
                                        <p:cTn id="19" dur="500"/>
                                        <p:tgtEl>
                                          <p:spTgt spid="4096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0964">
                                            <p:txEl>
                                              <p:pRg st="6" end="6"/>
                                            </p:txEl>
                                          </p:spTgt>
                                        </p:tgtEl>
                                        <p:attrNameLst>
                                          <p:attrName>style.visibility</p:attrName>
                                        </p:attrNameLst>
                                      </p:cBhvr>
                                      <p:to>
                                        <p:strVal val="visible"/>
                                      </p:to>
                                    </p:set>
                                    <p:anim calcmode="lin" valueType="num">
                                      <p:cBhvr additive="base">
                                        <p:cTn id="24" dur="500" fill="hold"/>
                                        <p:tgtEl>
                                          <p:spTgt spid="40964">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096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0964">
                                            <p:txEl>
                                              <p:pRg st="7" end="7"/>
                                            </p:txEl>
                                          </p:spTgt>
                                        </p:tgtEl>
                                        <p:attrNameLst>
                                          <p:attrName>style.visibility</p:attrName>
                                        </p:attrNameLst>
                                      </p:cBhvr>
                                      <p:to>
                                        <p:strVal val="visible"/>
                                      </p:to>
                                    </p:set>
                                    <p:animEffect transition="in" filter="blinds(horizontal)">
                                      <p:cBhvr>
                                        <p:cTn id="30" dur="500"/>
                                        <p:tgtEl>
                                          <p:spTgt spid="40964">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0964">
                                            <p:txEl>
                                              <p:pRg st="8" end="8"/>
                                            </p:txEl>
                                          </p:spTgt>
                                        </p:tgtEl>
                                        <p:attrNameLst>
                                          <p:attrName>style.visibility</p:attrName>
                                        </p:attrNameLst>
                                      </p:cBhvr>
                                      <p:to>
                                        <p:strVal val="visible"/>
                                      </p:to>
                                    </p:set>
                                    <p:animEffect transition="in" filter="blinds(horizontal)">
                                      <p:cBhvr>
                                        <p:cTn id="33" dur="500"/>
                                        <p:tgtEl>
                                          <p:spTgt spid="40964">
                                            <p:txEl>
                                              <p:pRg st="8" end="8"/>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40964">
                                            <p:txEl>
                                              <p:pRg st="9" end="9"/>
                                            </p:txEl>
                                          </p:spTgt>
                                        </p:tgtEl>
                                        <p:attrNameLst>
                                          <p:attrName>style.visibility</p:attrName>
                                        </p:attrNameLst>
                                      </p:cBhvr>
                                      <p:to>
                                        <p:strVal val="visible"/>
                                      </p:to>
                                    </p:set>
                                    <p:animEffect transition="in" filter="blinds(horizontal)">
                                      <p:cBhvr>
                                        <p:cTn id="36" dur="500"/>
                                        <p:tgtEl>
                                          <p:spTgt spid="4096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AC88FE87-1370-40FB-A77E-96F8FC0D5696}"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71683" name="Rectangle 2"/>
          <p:cNvSpPr>
            <a:spLocks noGrp="1" noChangeArrowheads="1"/>
          </p:cNvSpPr>
          <p:nvPr>
            <p:ph type="title" idx="4294967295"/>
          </p:nvPr>
        </p:nvSpPr>
        <p:spPr/>
        <p:txBody>
          <a:bodyPr/>
          <a:lstStyle/>
          <a:p>
            <a:pPr eaLnBrk="1" hangingPunct="1"/>
            <a:r>
              <a:rPr lang="zh-CN" altLang="en-US" smtClean="0"/>
              <a:t>信息安全概述</a:t>
            </a:r>
            <a:r>
              <a:rPr lang="zh-CN" altLang="en-US" smtClean="0">
                <a:latin typeface="Arial" panose="020B0604020202020204" pitchFamily="34" charset="0"/>
              </a:rPr>
              <a:t>——</a:t>
            </a:r>
            <a:r>
              <a:rPr lang="zh-CN" altLang="en-US" smtClean="0"/>
              <a:t>安全模型</a:t>
            </a:r>
            <a:endParaRPr lang="zh-CN" altLang="en-US" smtClean="0"/>
          </a:p>
        </p:txBody>
      </p:sp>
      <p:sp>
        <p:nvSpPr>
          <p:cNvPr id="53252" name="Rectangle 3"/>
          <p:cNvSpPr>
            <a:spLocks noGrp="1" noChangeArrowheads="1"/>
          </p:cNvSpPr>
          <p:nvPr>
            <p:ph type="body" idx="4294967295"/>
          </p:nvPr>
        </p:nvSpPr>
        <p:spPr/>
        <p:txBody>
          <a:bodyPr/>
          <a:lstStyle/>
          <a:p>
            <a:pPr eaLnBrk="1" hangingPunct="1"/>
            <a:r>
              <a:rPr lang="zh-CN" altLang="en-US" sz="2800" smtClean="0"/>
              <a:t>保护信息系统中存储和处理信息的安全；</a:t>
            </a:r>
            <a:endParaRPr lang="zh-CN" altLang="en-US" sz="2800" smtClean="0"/>
          </a:p>
          <a:p>
            <a:pPr eaLnBrk="1" hangingPunct="1"/>
            <a:r>
              <a:rPr lang="zh-CN" altLang="en-US" sz="2800" smtClean="0"/>
              <a:t>做到保密性、完整性、可用性。</a:t>
            </a:r>
            <a:endParaRPr lang="zh-CN" altLang="en-US" sz="2800" smtClean="0"/>
          </a:p>
          <a:p>
            <a:pPr eaLnBrk="1" hangingPunct="1"/>
            <a:r>
              <a:rPr lang="zh-CN" altLang="en-US" sz="2800" smtClean="0"/>
              <a:t>1、P2DR模型</a:t>
            </a:r>
            <a:endParaRPr lang="zh-CN" altLang="en-US" sz="2800" smtClean="0"/>
          </a:p>
          <a:p>
            <a:pPr eaLnBrk="1" hangingPunct="1"/>
            <a:r>
              <a:rPr lang="zh-CN" altLang="en-US" sz="2400" smtClean="0">
                <a:latin typeface="楷体_GB2312" pitchFamily="49" charset="-122"/>
                <a:ea typeface="楷体_GB2312" pitchFamily="49" charset="-122"/>
              </a:rPr>
              <a:t>TCSEC模型的发展，动态信息安全理论的主要模型。</a:t>
            </a:r>
            <a:endParaRPr lang="zh-CN" altLang="en-US" sz="2400" smtClean="0">
              <a:latin typeface="楷体_GB2312" pitchFamily="49" charset="-122"/>
              <a:ea typeface="楷体_GB2312" pitchFamily="49" charset="-122"/>
            </a:endParaRPr>
          </a:p>
          <a:p>
            <a:pPr eaLnBrk="1" hangingPunct="1"/>
            <a:endParaRPr lang="zh-CN" altLang="en-US" sz="2400" smtClean="0">
              <a:latin typeface="楷体_GB2312" pitchFamily="49" charset="-122"/>
              <a:ea typeface="楷体_GB2312" pitchFamily="49" charset="-122"/>
            </a:endParaRPr>
          </a:p>
          <a:p>
            <a:pPr eaLnBrk="1" hangingPunct="1"/>
            <a:endParaRPr lang="zh-CN" altLang="en-US" sz="2400" smtClean="0">
              <a:latin typeface="楷体_GB2312" pitchFamily="49" charset="-122"/>
              <a:ea typeface="楷体_GB2312" pitchFamily="49" charset="-122"/>
            </a:endParaRPr>
          </a:p>
        </p:txBody>
      </p:sp>
      <p:grpSp>
        <p:nvGrpSpPr>
          <p:cNvPr id="53253" name="Group 5"/>
          <p:cNvGrpSpPr/>
          <p:nvPr/>
        </p:nvGrpSpPr>
        <p:grpSpPr bwMode="auto">
          <a:xfrm>
            <a:off x="347663" y="3154363"/>
            <a:ext cx="8262937" cy="3565525"/>
            <a:chOff x="0" y="0"/>
            <a:chExt cx="5205" cy="2246"/>
          </a:xfrm>
        </p:grpSpPr>
        <p:sp>
          <p:nvSpPr>
            <p:cNvPr id="71686" name="Text Box 4"/>
            <p:cNvSpPr txBox="1">
              <a:spLocks noChangeArrowheads="1"/>
            </p:cNvSpPr>
            <p:nvPr/>
          </p:nvSpPr>
          <p:spPr bwMode="auto">
            <a:xfrm>
              <a:off x="1521" y="1492"/>
              <a:ext cx="80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algn="ctr" eaLnBrk="1" latinLnBrk="1" hangingPunct="1"/>
              <a:r>
                <a:rPr lang="en-US" altLang="zh-CN" u="none">
                  <a:solidFill>
                    <a:schemeClr val="bg1"/>
                  </a:solidFill>
                  <a:latin typeface="Verdana" panose="020B0604030504040204" pitchFamily="34" charset="0"/>
                </a:rPr>
                <a:t>Diagram</a:t>
              </a:r>
              <a:endParaRPr lang="en-US" altLang="zh-CN" u="none">
                <a:solidFill>
                  <a:schemeClr val="bg1"/>
                </a:solidFill>
                <a:latin typeface="Verdana" panose="020B0604030504040204" pitchFamily="34" charset="0"/>
              </a:endParaRPr>
            </a:p>
            <a:p>
              <a:pPr algn="ctr" eaLnBrk="1" latinLnBrk="1" hangingPunct="1"/>
              <a:r>
                <a:rPr lang="en-US" altLang="zh-CN" u="none">
                  <a:solidFill>
                    <a:schemeClr val="bg1"/>
                  </a:solidFill>
                  <a:latin typeface="Verdana" panose="020B0604030504040204" pitchFamily="34" charset="0"/>
                </a:rPr>
                <a:t> 2</a:t>
              </a:r>
              <a:endParaRPr lang="en-US" altLang="zh-CN" u="none">
                <a:solidFill>
                  <a:schemeClr val="bg1"/>
                </a:solidFill>
                <a:latin typeface="Verdana" panose="020B0604030504040204" pitchFamily="34" charset="0"/>
              </a:endParaRPr>
            </a:p>
          </p:txBody>
        </p:sp>
        <p:sp>
          <p:nvSpPr>
            <p:cNvPr id="71687" name="Text Box 5"/>
            <p:cNvSpPr txBox="1">
              <a:spLocks noChangeArrowheads="1"/>
            </p:cNvSpPr>
            <p:nvPr/>
          </p:nvSpPr>
          <p:spPr bwMode="auto">
            <a:xfrm>
              <a:off x="3141" y="38"/>
              <a:ext cx="182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algn="l" eaLnBrk="1" latinLnBrk="1" hangingPunct="1"/>
              <a:r>
                <a:rPr lang="zh-CN" altLang="en-US" sz="2400" u="none">
                  <a:solidFill>
                    <a:schemeClr val="tx1"/>
                  </a:solidFill>
                  <a:latin typeface="Verdana" panose="020B0604030504040204" pitchFamily="34" charset="0"/>
                  <a:ea typeface="楷体_GB2312" pitchFamily="49" charset="-122"/>
                </a:rPr>
                <a:t>防护</a:t>
              </a:r>
              <a:endParaRPr lang="zh-CN" altLang="en-US" sz="2400" b="0" u="none">
                <a:solidFill>
                  <a:schemeClr val="tx1"/>
                </a:solidFill>
                <a:latin typeface="Arial" panose="020B0604020202020204" pitchFamily="34" charset="0"/>
                <a:ea typeface="楷体_GB2312" pitchFamily="49" charset="-122"/>
              </a:endParaRPr>
            </a:p>
            <a:p>
              <a:pPr algn="l" eaLnBrk="1" latinLnBrk="1" hangingPunct="1"/>
              <a:r>
                <a:rPr lang="zh-CN" altLang="en-US" sz="1400" b="0" u="none">
                  <a:solidFill>
                    <a:schemeClr val="tx1"/>
                  </a:solidFill>
                  <a:latin typeface="Verdana" panose="020B0604030504040204" pitchFamily="34" charset="0"/>
                </a:rPr>
                <a:t> </a:t>
              </a:r>
              <a:endParaRPr lang="zh-CN" altLang="en-US" sz="1400" b="0" u="none">
                <a:solidFill>
                  <a:schemeClr val="tx1"/>
                </a:solidFill>
                <a:latin typeface="Verdana" panose="020B0604030504040204" pitchFamily="34" charset="0"/>
              </a:endParaRPr>
            </a:p>
          </p:txBody>
        </p:sp>
        <p:sp>
          <p:nvSpPr>
            <p:cNvPr id="71688" name="Text Box 6"/>
            <p:cNvSpPr txBox="1">
              <a:spLocks noChangeArrowheads="1"/>
            </p:cNvSpPr>
            <p:nvPr/>
          </p:nvSpPr>
          <p:spPr bwMode="auto">
            <a:xfrm>
              <a:off x="0" y="1824"/>
              <a:ext cx="144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latinLnBrk="1" hangingPunct="1"/>
              <a:r>
                <a:rPr lang="zh-CN" altLang="en-US" sz="2400" u="none">
                  <a:solidFill>
                    <a:schemeClr val="tx1"/>
                  </a:solidFill>
                  <a:latin typeface="Verdana" panose="020B0604030504040204" pitchFamily="34" charset="0"/>
                  <a:ea typeface="楷体_GB2312" pitchFamily="49" charset="-122"/>
                </a:rPr>
                <a:t>响应</a:t>
              </a:r>
              <a:endParaRPr lang="zh-CN" altLang="en-US" sz="2400" b="0" u="none">
                <a:solidFill>
                  <a:schemeClr val="tx1"/>
                </a:solidFill>
                <a:latin typeface="Arial" panose="020B0604020202020204" pitchFamily="34" charset="0"/>
                <a:ea typeface="楷体_GB2312" pitchFamily="49" charset="-122"/>
              </a:endParaRPr>
            </a:p>
            <a:p>
              <a:pPr eaLnBrk="1" latinLnBrk="1" hangingPunct="1"/>
              <a:r>
                <a:rPr lang="zh-CN" altLang="en-US" sz="1400" b="0" u="none">
                  <a:solidFill>
                    <a:schemeClr val="tx1"/>
                  </a:solidFill>
                  <a:latin typeface="Verdana" panose="020B0604030504040204" pitchFamily="34" charset="0"/>
                </a:rPr>
                <a:t> </a:t>
              </a:r>
              <a:endParaRPr lang="zh-CN" altLang="en-US" sz="1400" b="0" u="none">
                <a:solidFill>
                  <a:schemeClr val="tx1"/>
                </a:solidFill>
                <a:latin typeface="Verdana" panose="020B0604030504040204" pitchFamily="34" charset="0"/>
              </a:endParaRPr>
            </a:p>
          </p:txBody>
        </p:sp>
        <p:sp>
          <p:nvSpPr>
            <p:cNvPr id="71689" name="Text Box 7"/>
            <p:cNvSpPr txBox="1">
              <a:spLocks noChangeArrowheads="1"/>
            </p:cNvSpPr>
            <p:nvPr/>
          </p:nvSpPr>
          <p:spPr bwMode="auto">
            <a:xfrm>
              <a:off x="3765" y="1776"/>
              <a:ext cx="144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algn="l" eaLnBrk="1" latinLnBrk="1" hangingPunct="1"/>
              <a:r>
                <a:rPr lang="zh-CN" altLang="en-US" sz="2400" u="none">
                  <a:solidFill>
                    <a:schemeClr val="tx1"/>
                  </a:solidFill>
                  <a:latin typeface="Verdana" panose="020B0604030504040204" pitchFamily="34" charset="0"/>
                  <a:ea typeface="楷体_GB2312" pitchFamily="49" charset="-122"/>
                </a:rPr>
                <a:t>检测</a:t>
              </a:r>
              <a:endParaRPr lang="zh-CN" altLang="en-US" sz="2400" b="0" u="none">
                <a:solidFill>
                  <a:schemeClr val="tx1"/>
                </a:solidFill>
                <a:latin typeface="Arial" panose="020B0604020202020204" pitchFamily="34" charset="0"/>
                <a:ea typeface="楷体_GB2312" pitchFamily="49" charset="-122"/>
              </a:endParaRPr>
            </a:p>
            <a:p>
              <a:pPr eaLnBrk="1" latinLnBrk="1" hangingPunct="1"/>
              <a:r>
                <a:rPr lang="zh-CN" altLang="en-US" sz="1400" b="0" u="none">
                  <a:solidFill>
                    <a:schemeClr val="tx1"/>
                  </a:solidFill>
                  <a:latin typeface="Verdana" panose="020B0604030504040204" pitchFamily="34" charset="0"/>
                </a:rPr>
                <a:t> </a:t>
              </a:r>
              <a:endParaRPr lang="zh-CN" altLang="en-US" sz="1400" b="0" u="none">
                <a:solidFill>
                  <a:schemeClr val="tx1"/>
                </a:solidFill>
                <a:latin typeface="Verdana" panose="020B0604030504040204" pitchFamily="34" charset="0"/>
              </a:endParaRPr>
            </a:p>
          </p:txBody>
        </p:sp>
        <p:sp>
          <p:nvSpPr>
            <p:cNvPr id="71690" name="Text Box 8"/>
            <p:cNvSpPr txBox="1">
              <a:spLocks noChangeArrowheads="1"/>
            </p:cNvSpPr>
            <p:nvPr/>
          </p:nvSpPr>
          <p:spPr bwMode="auto">
            <a:xfrm>
              <a:off x="1569" y="1449"/>
              <a:ext cx="80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algn="ctr" eaLnBrk="1" latinLnBrk="1" hangingPunct="1"/>
              <a:r>
                <a:rPr lang="en-US" altLang="zh-CN" u="none">
                  <a:solidFill>
                    <a:schemeClr val="bg1"/>
                  </a:solidFill>
                  <a:latin typeface="Verdana" panose="020B0604030504040204" pitchFamily="34" charset="0"/>
                </a:rPr>
                <a:t>Diagram</a:t>
              </a:r>
              <a:endParaRPr lang="en-US" altLang="zh-CN" u="none">
                <a:solidFill>
                  <a:schemeClr val="bg1"/>
                </a:solidFill>
                <a:latin typeface="Verdana" panose="020B0604030504040204" pitchFamily="34" charset="0"/>
              </a:endParaRPr>
            </a:p>
            <a:p>
              <a:pPr algn="ctr" eaLnBrk="1" latinLnBrk="1" hangingPunct="1"/>
              <a:r>
                <a:rPr lang="en-US" altLang="zh-CN" u="none">
                  <a:solidFill>
                    <a:schemeClr val="bg1"/>
                  </a:solidFill>
                  <a:latin typeface="Verdana" panose="020B0604030504040204" pitchFamily="34" charset="0"/>
                </a:rPr>
                <a:t> 2</a:t>
              </a:r>
              <a:endParaRPr lang="en-US" altLang="zh-CN" u="none">
                <a:solidFill>
                  <a:schemeClr val="bg1"/>
                </a:solidFill>
                <a:latin typeface="Verdana" panose="020B0604030504040204" pitchFamily="34" charset="0"/>
              </a:endParaRPr>
            </a:p>
          </p:txBody>
        </p:sp>
        <p:sp>
          <p:nvSpPr>
            <p:cNvPr id="71691" name="Oval 9"/>
            <p:cNvSpPr>
              <a:spLocks noChangeArrowheads="1"/>
            </p:cNvSpPr>
            <p:nvPr/>
          </p:nvSpPr>
          <p:spPr bwMode="auto">
            <a:xfrm>
              <a:off x="1893" y="480"/>
              <a:ext cx="1488" cy="1488"/>
            </a:xfrm>
            <a:prstGeom prst="ellipse">
              <a:avLst/>
            </a:prstGeom>
            <a:noFill/>
            <a:ln w="50800">
              <a:solidFill>
                <a:schemeClr val="folHlink"/>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1692" name="Group 12"/>
            <p:cNvGrpSpPr/>
            <p:nvPr/>
          </p:nvGrpSpPr>
          <p:grpSpPr bwMode="auto">
            <a:xfrm>
              <a:off x="2181" y="0"/>
              <a:ext cx="912" cy="912"/>
              <a:chOff x="0" y="0"/>
              <a:chExt cx="912" cy="912"/>
            </a:xfrm>
          </p:grpSpPr>
          <p:sp>
            <p:nvSpPr>
              <p:cNvPr id="71700" name="Oval 11"/>
              <p:cNvSpPr>
                <a:spLocks noChangeArrowheads="1"/>
              </p:cNvSpPr>
              <p:nvPr/>
            </p:nvSpPr>
            <p:spPr bwMode="auto">
              <a:xfrm>
                <a:off x="0" y="0"/>
                <a:ext cx="912" cy="912"/>
              </a:xfrm>
              <a:prstGeom prst="ellipse">
                <a:avLst/>
              </a:prstGeom>
              <a:gradFill rotWithShape="0">
                <a:gsLst>
                  <a:gs pos="0">
                    <a:schemeClr val="bg1"/>
                  </a:gs>
                  <a:gs pos="100000">
                    <a:schemeClr val="accent1"/>
                  </a:gs>
                </a:gsLst>
                <a:path path="rect">
                  <a:fillToRect r="100000" b="100000"/>
                </a:path>
              </a:gradFill>
              <a:ln w="9525">
                <a:round/>
              </a:ln>
              <a:scene3d>
                <a:camera prst="legacyPerspectiveFront">
                  <a:rot lat="20099994" lon="20099994" rev="0"/>
                </a:camera>
                <a:lightRig rig="legacyFlat2" dir="t"/>
              </a:scene3d>
              <a:sp3d extrusionH="430200" prstMaterial="legacyMatte">
                <a:bevelT w="13500" h="13500" prst="angle"/>
                <a:bevelB w="13500" h="13500" prst="angle"/>
                <a:extrusionClr>
                  <a:schemeClr val="bg1"/>
                </a:extrusionClr>
              </a:sp3d>
            </p:spPr>
            <p:txBody>
              <a:bodyPr wrap="none" anchor="ctr">
                <a:flatTx/>
              </a:bodyPr>
              <a:lstStyle/>
              <a:p>
                <a:pPr algn="ctr" eaLnBrk="1" latinLnBrk="1" hangingPunct="1"/>
                <a:endParaRPr lang="ko-KR" altLang="en-US" sz="2400" b="0" u="none">
                  <a:solidFill>
                    <a:schemeClr val="tx1"/>
                  </a:solidFill>
                  <a:latin typeface="Times New Roman" panose="02020603050405020304" pitchFamily="18" charset="0"/>
                </a:endParaRPr>
              </a:p>
            </p:txBody>
          </p:sp>
          <p:sp>
            <p:nvSpPr>
              <p:cNvPr id="71701" name="Text Box 12"/>
              <p:cNvSpPr txBox="1">
                <a:spLocks noChangeArrowheads="1"/>
              </p:cNvSpPr>
              <p:nvPr/>
            </p:nvSpPr>
            <p:spPr bwMode="auto">
              <a:xfrm>
                <a:off x="345" y="249"/>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algn="ctr" eaLnBrk="1" latinLnBrk="1" hangingPunct="1"/>
                <a:r>
                  <a:rPr lang="en-US" altLang="zh-CN" sz="2400" b="0" u="none">
                    <a:solidFill>
                      <a:schemeClr val="tx1"/>
                    </a:solidFill>
                    <a:latin typeface="Verdana" panose="020B0604030504040204" pitchFamily="34" charset="0"/>
                  </a:rPr>
                  <a:t>P</a:t>
                </a:r>
                <a:endParaRPr lang="en-US" altLang="zh-CN" sz="2400" b="0" u="none">
                  <a:solidFill>
                    <a:schemeClr val="tx1"/>
                  </a:solidFill>
                  <a:latin typeface="Verdana" panose="020B0604030504040204" pitchFamily="34" charset="0"/>
                </a:endParaRPr>
              </a:p>
            </p:txBody>
          </p:sp>
        </p:grpSp>
        <p:grpSp>
          <p:nvGrpSpPr>
            <p:cNvPr id="71693" name="Group 15"/>
            <p:cNvGrpSpPr/>
            <p:nvPr/>
          </p:nvGrpSpPr>
          <p:grpSpPr bwMode="auto">
            <a:xfrm>
              <a:off x="1521" y="993"/>
              <a:ext cx="912" cy="912"/>
              <a:chOff x="0" y="0"/>
              <a:chExt cx="912" cy="912"/>
            </a:xfrm>
          </p:grpSpPr>
          <p:sp>
            <p:nvSpPr>
              <p:cNvPr id="71698" name="Oval 14"/>
              <p:cNvSpPr>
                <a:spLocks noChangeArrowheads="1"/>
              </p:cNvSpPr>
              <p:nvPr/>
            </p:nvSpPr>
            <p:spPr bwMode="auto">
              <a:xfrm>
                <a:off x="0" y="0"/>
                <a:ext cx="912" cy="912"/>
              </a:xfrm>
              <a:prstGeom prst="ellipse">
                <a:avLst/>
              </a:prstGeom>
              <a:gradFill rotWithShape="0">
                <a:gsLst>
                  <a:gs pos="0">
                    <a:schemeClr val="bg1"/>
                  </a:gs>
                  <a:gs pos="100000">
                    <a:schemeClr val="accent1"/>
                  </a:gs>
                </a:gsLst>
                <a:path path="rect">
                  <a:fillToRect r="100000" b="100000"/>
                </a:path>
              </a:gradFill>
              <a:ln w="9525">
                <a:round/>
              </a:ln>
              <a:scene3d>
                <a:camera prst="legacyPerspectiveFront">
                  <a:rot lat="20099994" lon="20099994" rev="0"/>
                </a:camera>
                <a:lightRig rig="legacyFlat2" dir="t"/>
              </a:scene3d>
              <a:sp3d extrusionH="430200" prstMaterial="legacyMatte">
                <a:bevelT w="13500" h="13500" prst="angle"/>
                <a:bevelB w="13500" h="13500" prst="angle"/>
                <a:extrusionClr>
                  <a:schemeClr val="bg1"/>
                </a:extrusionClr>
              </a:sp3d>
            </p:spPr>
            <p:txBody>
              <a:bodyPr wrap="none" anchor="ctr">
                <a:flatTx/>
              </a:bodyPr>
              <a:lstStyle/>
              <a:p>
                <a:pPr algn="ctr" eaLnBrk="1" latinLnBrk="1" hangingPunct="1"/>
                <a:endParaRPr lang="ko-KR" altLang="en-US" sz="2400" b="0" u="none">
                  <a:solidFill>
                    <a:schemeClr val="tx1"/>
                  </a:solidFill>
                  <a:latin typeface="Times New Roman" panose="02020603050405020304" pitchFamily="18" charset="0"/>
                </a:endParaRPr>
              </a:p>
            </p:txBody>
          </p:sp>
          <p:sp>
            <p:nvSpPr>
              <p:cNvPr id="71699" name="Text Box 15"/>
              <p:cNvSpPr txBox="1">
                <a:spLocks noChangeArrowheads="1"/>
              </p:cNvSpPr>
              <p:nvPr/>
            </p:nvSpPr>
            <p:spPr bwMode="auto">
              <a:xfrm>
                <a:off x="336" y="249"/>
                <a:ext cx="2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algn="ctr" eaLnBrk="1" latinLnBrk="1" hangingPunct="1"/>
                <a:r>
                  <a:rPr lang="en-US" altLang="zh-CN" sz="2400" b="0" u="none">
                    <a:solidFill>
                      <a:schemeClr val="tx1"/>
                    </a:solidFill>
                    <a:latin typeface="Verdana" panose="020B0604030504040204" pitchFamily="34" charset="0"/>
                  </a:rPr>
                  <a:t>R</a:t>
                </a:r>
                <a:endParaRPr lang="en-US" altLang="zh-CN" sz="2400" b="0" u="none">
                  <a:solidFill>
                    <a:schemeClr val="tx1"/>
                  </a:solidFill>
                  <a:latin typeface="Verdana" panose="020B0604030504040204" pitchFamily="34" charset="0"/>
                </a:endParaRPr>
              </a:p>
            </p:txBody>
          </p:sp>
        </p:grpSp>
        <p:grpSp>
          <p:nvGrpSpPr>
            <p:cNvPr id="71694" name="Group 18"/>
            <p:cNvGrpSpPr/>
            <p:nvPr/>
          </p:nvGrpSpPr>
          <p:grpSpPr bwMode="auto">
            <a:xfrm>
              <a:off x="2925" y="1008"/>
              <a:ext cx="912" cy="912"/>
              <a:chOff x="0" y="0"/>
              <a:chExt cx="912" cy="912"/>
            </a:xfrm>
          </p:grpSpPr>
          <p:sp>
            <p:nvSpPr>
              <p:cNvPr id="71696" name="Oval 17"/>
              <p:cNvSpPr>
                <a:spLocks noChangeArrowheads="1"/>
              </p:cNvSpPr>
              <p:nvPr/>
            </p:nvSpPr>
            <p:spPr bwMode="auto">
              <a:xfrm>
                <a:off x="0" y="0"/>
                <a:ext cx="912" cy="912"/>
              </a:xfrm>
              <a:prstGeom prst="ellipse">
                <a:avLst/>
              </a:prstGeom>
              <a:gradFill rotWithShape="0">
                <a:gsLst>
                  <a:gs pos="0">
                    <a:schemeClr val="bg1"/>
                  </a:gs>
                  <a:gs pos="100000">
                    <a:schemeClr val="accent1"/>
                  </a:gs>
                </a:gsLst>
                <a:path path="rect">
                  <a:fillToRect r="100000" b="100000"/>
                </a:path>
              </a:gradFill>
              <a:ln w="9525">
                <a:round/>
              </a:ln>
              <a:scene3d>
                <a:camera prst="legacyPerspectiveFront">
                  <a:rot lat="20099994" lon="20099994" rev="0"/>
                </a:camera>
                <a:lightRig rig="legacyFlat2" dir="t"/>
              </a:scene3d>
              <a:sp3d extrusionH="430200" prstMaterial="legacyMatte">
                <a:bevelT w="13500" h="13500" prst="angle"/>
                <a:bevelB w="13500" h="13500" prst="angle"/>
                <a:extrusionClr>
                  <a:schemeClr val="bg1"/>
                </a:extrusionClr>
              </a:sp3d>
            </p:spPr>
            <p:txBody>
              <a:bodyPr wrap="none" anchor="ctr">
                <a:flatTx/>
              </a:bodyPr>
              <a:lstStyle/>
              <a:p>
                <a:pPr algn="ctr" eaLnBrk="1" latinLnBrk="1" hangingPunct="1"/>
                <a:endParaRPr lang="ko-KR" altLang="en-US" sz="2400" b="0" u="none">
                  <a:solidFill>
                    <a:schemeClr val="tx1"/>
                  </a:solidFill>
                  <a:latin typeface="Times New Roman" panose="02020603050405020304" pitchFamily="18" charset="0"/>
                </a:endParaRPr>
              </a:p>
            </p:txBody>
          </p:sp>
          <p:sp>
            <p:nvSpPr>
              <p:cNvPr id="71697" name="Text Box 18"/>
              <p:cNvSpPr txBox="1">
                <a:spLocks noChangeArrowheads="1"/>
              </p:cNvSpPr>
              <p:nvPr/>
            </p:nvSpPr>
            <p:spPr bwMode="auto">
              <a:xfrm>
                <a:off x="329" y="249"/>
                <a:ext cx="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algn="ctr" eaLnBrk="1" latinLnBrk="1" hangingPunct="1"/>
                <a:r>
                  <a:rPr lang="en-US" altLang="zh-CN" sz="2400" b="0" u="none">
                    <a:solidFill>
                      <a:schemeClr val="tx1"/>
                    </a:solidFill>
                    <a:latin typeface="Verdana" panose="020B0604030504040204" pitchFamily="34" charset="0"/>
                  </a:rPr>
                  <a:t>D</a:t>
                </a:r>
                <a:endParaRPr lang="en-US" altLang="zh-CN" sz="2400" b="0" u="none">
                  <a:solidFill>
                    <a:schemeClr val="tx1"/>
                  </a:solidFill>
                  <a:latin typeface="Verdana" panose="020B0604030504040204" pitchFamily="34" charset="0"/>
                </a:endParaRPr>
              </a:p>
            </p:txBody>
          </p:sp>
        </p:grpSp>
        <p:sp>
          <p:nvSpPr>
            <p:cNvPr id="71695" name="Text Box 19"/>
            <p:cNvSpPr txBox="1">
              <a:spLocks noChangeArrowheads="1"/>
            </p:cNvSpPr>
            <p:nvPr/>
          </p:nvSpPr>
          <p:spPr bwMode="auto">
            <a:xfrm>
              <a:off x="2181" y="1011"/>
              <a:ext cx="7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a:spcBef>
                  <a:spcPct val="50000"/>
                </a:spcBef>
              </a:pPr>
              <a:r>
                <a:rPr lang="zh-CN" altLang="en-US" sz="2000" u="none">
                  <a:solidFill>
                    <a:srgbClr val="000066"/>
                  </a:solidFill>
                  <a:ea typeface="楷体_GB2312" pitchFamily="49" charset="-122"/>
                </a:rPr>
                <a:t>安全策略</a:t>
              </a:r>
              <a:endParaRPr lang="zh-CN" altLang="en-US" sz="2000" u="none">
                <a:solidFill>
                  <a:srgbClr val="000066"/>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252">
                                            <p:txEl>
                                              <p:pRg st="2" end="2"/>
                                            </p:txEl>
                                          </p:spTgt>
                                        </p:tgtEl>
                                        <p:attrNameLst>
                                          <p:attrName>style.visibility</p:attrName>
                                        </p:attrNameLst>
                                      </p:cBhvr>
                                      <p:to>
                                        <p:strVal val="visible"/>
                                      </p:to>
                                    </p:set>
                                    <p:animEffect transition="in" filter="blinds(horizontal)">
                                      <p:cBhvr>
                                        <p:cTn id="7" dur="500"/>
                                        <p:tgtEl>
                                          <p:spTgt spid="5325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3252">
                                            <p:txEl>
                                              <p:pRg st="3" end="3"/>
                                            </p:txEl>
                                          </p:spTgt>
                                        </p:tgtEl>
                                        <p:attrNameLst>
                                          <p:attrName>style.visibility</p:attrName>
                                        </p:attrNameLst>
                                      </p:cBhvr>
                                      <p:to>
                                        <p:strVal val="visible"/>
                                      </p:to>
                                    </p:set>
                                    <p:animEffect transition="in" filter="blinds(horizontal)">
                                      <p:cBhvr>
                                        <p:cTn id="12" dur="500"/>
                                        <p:tgtEl>
                                          <p:spTgt spid="5325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3253"/>
                                        </p:tgtEl>
                                        <p:attrNameLst>
                                          <p:attrName>style.visibility</p:attrName>
                                        </p:attrNameLst>
                                      </p:cBhvr>
                                      <p:to>
                                        <p:strVal val="visible"/>
                                      </p:to>
                                    </p:set>
                                    <p:anim calcmode="lin" valueType="num">
                                      <p:cBhvr additive="base">
                                        <p:cTn id="17" dur="500" fill="hold"/>
                                        <p:tgtEl>
                                          <p:spTgt spid="53253"/>
                                        </p:tgtEl>
                                        <p:attrNameLst>
                                          <p:attrName>ppt_x</p:attrName>
                                        </p:attrNameLst>
                                      </p:cBhvr>
                                      <p:tavLst>
                                        <p:tav tm="0">
                                          <p:val>
                                            <p:strVal val="#ppt_x"/>
                                          </p:val>
                                        </p:tav>
                                        <p:tav tm="100000">
                                          <p:val>
                                            <p:strVal val="#ppt_x"/>
                                          </p:val>
                                        </p:tav>
                                      </p:tavLst>
                                    </p:anim>
                                    <p:anim calcmode="lin" valueType="num">
                                      <p:cBhvr additive="base">
                                        <p:cTn id="18" dur="500" fill="hold"/>
                                        <p:tgtEl>
                                          <p:spTgt spid="532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txBox="1">
            <a:spLocks noGrp="1" noChangeArrowheads="1"/>
          </p:cNvSpPr>
          <p:nvPr/>
        </p:nvSpPr>
        <p:spPr bwMode="auto">
          <a:xfrm>
            <a:off x="8120063" y="6426200"/>
            <a:ext cx="871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accent1"/>
                </a:solidFill>
                <a:latin typeface="Lucida Sans Unicode" panose="020B0602030504020204" pitchFamily="34" charset="0"/>
                <a:ea typeface="Gulim" pitchFamily="34" charset="-127"/>
              </a:defRPr>
            </a:lvl1pPr>
            <a:lvl2pPr marL="742950" indent="-285750">
              <a:defRPr b="1" u="sng">
                <a:solidFill>
                  <a:schemeClr val="accent1"/>
                </a:solidFill>
                <a:latin typeface="Lucida Sans Unicode" panose="020B0602030504020204" pitchFamily="34" charset="0"/>
                <a:ea typeface="Gulim" pitchFamily="34" charset="-127"/>
              </a:defRPr>
            </a:lvl2pPr>
            <a:lvl3pPr marL="1143000" indent="-228600">
              <a:defRPr b="1" u="sng">
                <a:solidFill>
                  <a:schemeClr val="accent1"/>
                </a:solidFill>
                <a:latin typeface="Lucida Sans Unicode" panose="020B0602030504020204" pitchFamily="34" charset="0"/>
                <a:ea typeface="Gulim" pitchFamily="34" charset="-127"/>
              </a:defRPr>
            </a:lvl3pPr>
            <a:lvl4pPr marL="1600200" indent="-228600">
              <a:defRPr b="1" u="sng">
                <a:solidFill>
                  <a:schemeClr val="accent1"/>
                </a:solidFill>
                <a:latin typeface="Lucida Sans Unicode" panose="020B0602030504020204" pitchFamily="34" charset="0"/>
                <a:ea typeface="Gulim" pitchFamily="34" charset="-127"/>
              </a:defRPr>
            </a:lvl4pPr>
            <a:lvl5pPr marL="2057400" indent="-228600">
              <a:defRPr b="1" u="sng">
                <a:solidFill>
                  <a:schemeClr val="accent1"/>
                </a:solidFill>
                <a:latin typeface="Lucida Sans Unicode" panose="020B0602030504020204" pitchFamily="34" charset="0"/>
                <a:ea typeface="Gulim" pitchFamily="34" charset="-127"/>
              </a:defRPr>
            </a:lvl5pPr>
            <a:lvl6pPr marL="25146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6pPr>
            <a:lvl7pPr marL="29718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7pPr>
            <a:lvl8pPr marL="34290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8pPr>
            <a:lvl9pPr marL="3886200" indent="-228600" algn="r" eaLnBrk="0" fontAlgn="base" hangingPunct="0">
              <a:spcBef>
                <a:spcPct val="0"/>
              </a:spcBef>
              <a:spcAft>
                <a:spcPct val="0"/>
              </a:spcAft>
              <a:defRPr b="1" u="sng">
                <a:solidFill>
                  <a:schemeClr val="accent1"/>
                </a:solidFill>
                <a:latin typeface="Lucida Sans Unicode" panose="020B0602030504020204" pitchFamily="34" charset="0"/>
                <a:ea typeface="Gulim" pitchFamily="34" charset="-127"/>
              </a:defRPr>
            </a:lvl9pPr>
          </a:lstStyle>
          <a:p>
            <a:pPr eaLnBrk="1" hangingPunct="1"/>
            <a:fld id="{75C1171F-6691-485F-ABB3-8C6D86CC9A6A}" type="slidenum">
              <a:rPr lang="ko-KR" altLang="en-US" sz="1200" u="none">
                <a:solidFill>
                  <a:schemeClr val="accent2"/>
                </a:solidFill>
                <a:latin typeface="Verdana" panose="020B0604030504040204" pitchFamily="34" charset="0"/>
              </a:rPr>
            </a:fld>
            <a:endParaRPr lang="en-US" altLang="zh-CN" sz="1200" u="none">
              <a:solidFill>
                <a:schemeClr val="accent2"/>
              </a:solidFill>
              <a:latin typeface="Verdana" panose="020B0604030504040204" pitchFamily="34" charset="0"/>
            </a:endParaRPr>
          </a:p>
        </p:txBody>
      </p:sp>
      <p:sp>
        <p:nvSpPr>
          <p:cNvPr id="72707" name="Rectangle 2"/>
          <p:cNvSpPr>
            <a:spLocks noGrp="1" noChangeArrowheads="1"/>
          </p:cNvSpPr>
          <p:nvPr>
            <p:ph type="title" idx="4294967295"/>
          </p:nvPr>
        </p:nvSpPr>
        <p:spPr/>
        <p:txBody>
          <a:bodyPr/>
          <a:lstStyle/>
          <a:p>
            <a:pPr eaLnBrk="1" hangingPunct="1"/>
            <a:r>
              <a:rPr lang="zh-CN" altLang="en-US" smtClean="0"/>
              <a:t>信息安全概述</a:t>
            </a:r>
            <a:r>
              <a:rPr lang="zh-CN" altLang="en-US" smtClean="0">
                <a:latin typeface="Arial" panose="020B0604020202020204" pitchFamily="34" charset="0"/>
              </a:rPr>
              <a:t>——</a:t>
            </a:r>
            <a:r>
              <a:rPr lang="en-US" altLang="zh-CN" smtClean="0">
                <a:latin typeface="Arial" panose="020B0604020202020204" pitchFamily="34" charset="0"/>
              </a:rPr>
              <a:t>ISO</a:t>
            </a:r>
            <a:r>
              <a:rPr lang="zh-CN" altLang="en-US" smtClean="0"/>
              <a:t>安全模型</a:t>
            </a:r>
            <a:endParaRPr lang="zh-CN" altLang="en-US" smtClean="0"/>
          </a:p>
        </p:txBody>
      </p:sp>
      <p:sp>
        <p:nvSpPr>
          <p:cNvPr id="54276" name="Rectangle 3"/>
          <p:cNvSpPr>
            <a:spLocks noGrp="1" noChangeArrowheads="1"/>
          </p:cNvSpPr>
          <p:nvPr>
            <p:ph type="body" idx="4294967295"/>
          </p:nvPr>
        </p:nvSpPr>
        <p:spPr>
          <a:xfrm>
            <a:off x="914400" y="1317625"/>
            <a:ext cx="7696200" cy="5064125"/>
          </a:xfrm>
        </p:spPr>
        <p:txBody>
          <a:bodyPr>
            <a:normAutofit fontScale="92500" lnSpcReduction="20000"/>
          </a:bodyPr>
          <a:lstStyle/>
          <a:p>
            <a:pPr eaLnBrk="1" hangingPunct="1">
              <a:spcBef>
                <a:spcPct val="0"/>
              </a:spcBef>
              <a:spcAft>
                <a:spcPct val="30000"/>
              </a:spcAft>
            </a:pPr>
            <a:r>
              <a:rPr lang="zh-CN" altLang="en-US" smtClean="0"/>
              <a:t>Policy：安全管理的核心，为安全管理提供方向和支持手段；</a:t>
            </a:r>
            <a:endParaRPr lang="zh-CN" altLang="en-US" smtClean="0"/>
          </a:p>
          <a:p>
            <a:pPr lvl="1" eaLnBrk="1" hangingPunct="1">
              <a:spcBef>
                <a:spcPct val="0"/>
              </a:spcBef>
              <a:spcAft>
                <a:spcPct val="30000"/>
              </a:spcAft>
            </a:pPr>
            <a:r>
              <a:rPr lang="zh-CN" altLang="en-US" smtClean="0"/>
              <a:t>安全策略的制定、评估、执行等等。</a:t>
            </a:r>
            <a:endParaRPr lang="zh-CN" altLang="en-US" smtClean="0"/>
          </a:p>
          <a:p>
            <a:pPr eaLnBrk="1" hangingPunct="1">
              <a:spcBef>
                <a:spcPct val="0"/>
              </a:spcBef>
              <a:spcAft>
                <a:spcPct val="30000"/>
              </a:spcAft>
            </a:pPr>
            <a:r>
              <a:rPr lang="zh-CN" altLang="en-US" smtClean="0"/>
              <a:t>Protection：采用传统的静态安全技术及方法实现，包括防火墙、加密、认证等方法；</a:t>
            </a:r>
            <a:endParaRPr lang="zh-CN" altLang="en-US" smtClean="0"/>
          </a:p>
          <a:p>
            <a:pPr eaLnBrk="1" hangingPunct="1">
              <a:spcBef>
                <a:spcPct val="0"/>
              </a:spcBef>
              <a:spcAft>
                <a:spcPct val="30000"/>
              </a:spcAft>
            </a:pPr>
            <a:r>
              <a:rPr lang="zh-CN" altLang="en-US" smtClean="0"/>
              <a:t>Detection：检测是动态响应的依据；是落实安全策略的有力工具；</a:t>
            </a:r>
            <a:endParaRPr lang="zh-CN" altLang="en-US" smtClean="0"/>
          </a:p>
          <a:p>
            <a:pPr lvl="1" eaLnBrk="1" hangingPunct="1">
              <a:spcBef>
                <a:spcPct val="0"/>
              </a:spcBef>
              <a:spcAft>
                <a:spcPct val="30000"/>
              </a:spcAft>
            </a:pPr>
            <a:r>
              <a:rPr lang="zh-CN" altLang="en-US" smtClean="0"/>
              <a:t>检测、监控网络和系统，发现新的威胁和弱点，通过循环反馈及时做出有效响应。</a:t>
            </a:r>
            <a:endParaRPr lang="zh-CN" altLang="en-US" smtClean="0"/>
          </a:p>
          <a:p>
            <a:pPr eaLnBrk="1" hangingPunct="1">
              <a:spcBef>
                <a:spcPct val="0"/>
              </a:spcBef>
              <a:spcAft>
                <a:spcPct val="30000"/>
              </a:spcAft>
            </a:pPr>
            <a:r>
              <a:rPr lang="zh-CN" altLang="en-US" smtClean="0"/>
              <a:t>Response：占据安全系统最重要的地位。</a:t>
            </a:r>
            <a:endParaRPr lang="zh-CN" altLang="en-US" smtClean="0"/>
          </a:p>
          <a:p>
            <a:pPr lvl="1" eaLnBrk="1" hangingPunct="1">
              <a:spcBef>
                <a:spcPct val="0"/>
              </a:spcBef>
              <a:spcAft>
                <a:spcPct val="30000"/>
              </a:spcAft>
            </a:pPr>
            <a:r>
              <a:rPr lang="zh-CN" altLang="en-US" smtClean="0"/>
              <a:t>主要指解决紧急响应和异常处理问题。</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6">
                                            <p:txEl>
                                              <p:pRg st="0" end="0"/>
                                            </p:txEl>
                                          </p:spTgt>
                                        </p:tgtEl>
                                        <p:attrNameLst>
                                          <p:attrName>style.visibility</p:attrName>
                                        </p:attrNameLst>
                                      </p:cBhvr>
                                      <p:to>
                                        <p:strVal val="visible"/>
                                      </p:to>
                                    </p:set>
                                    <p:anim calcmode="lin" valueType="num">
                                      <p:cBhvr additive="base">
                                        <p:cTn id="7" dur="500" fill="hold"/>
                                        <p:tgtEl>
                                          <p:spTgt spid="542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4276">
                                            <p:txEl>
                                              <p:pRg st="1" end="1"/>
                                            </p:txEl>
                                          </p:spTgt>
                                        </p:tgtEl>
                                        <p:attrNameLst>
                                          <p:attrName>style.visibility</p:attrName>
                                        </p:attrNameLst>
                                      </p:cBhvr>
                                      <p:to>
                                        <p:strVal val="visible"/>
                                      </p:to>
                                    </p:set>
                                    <p:anim calcmode="lin" valueType="num">
                                      <p:cBhvr additive="base">
                                        <p:cTn id="11" dur="500" fill="hold"/>
                                        <p:tgtEl>
                                          <p:spTgt spid="5427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42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4276">
                                            <p:txEl>
                                              <p:pRg st="2" end="2"/>
                                            </p:txEl>
                                          </p:spTgt>
                                        </p:tgtEl>
                                        <p:attrNameLst>
                                          <p:attrName>style.visibility</p:attrName>
                                        </p:attrNameLst>
                                      </p:cBhvr>
                                      <p:to>
                                        <p:strVal val="visible"/>
                                      </p:to>
                                    </p:set>
                                    <p:animEffect transition="in" filter="blinds(horizontal)">
                                      <p:cBhvr>
                                        <p:cTn id="17" dur="500"/>
                                        <p:tgtEl>
                                          <p:spTgt spid="542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4276">
                                            <p:txEl>
                                              <p:pRg st="3" end="3"/>
                                            </p:txEl>
                                          </p:spTgt>
                                        </p:tgtEl>
                                        <p:attrNameLst>
                                          <p:attrName>style.visibility</p:attrName>
                                        </p:attrNameLst>
                                      </p:cBhvr>
                                      <p:to>
                                        <p:strVal val="visible"/>
                                      </p:to>
                                    </p:set>
                                    <p:animEffect transition="in" filter="box(in)">
                                      <p:cBhvr>
                                        <p:cTn id="22" dur="500"/>
                                        <p:tgtEl>
                                          <p:spTgt spid="54276">
                                            <p:txEl>
                                              <p:pRg st="3" end="3"/>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54276">
                                            <p:txEl>
                                              <p:pRg st="4" end="4"/>
                                            </p:txEl>
                                          </p:spTgt>
                                        </p:tgtEl>
                                        <p:attrNameLst>
                                          <p:attrName>style.visibility</p:attrName>
                                        </p:attrNameLst>
                                      </p:cBhvr>
                                      <p:to>
                                        <p:strVal val="visible"/>
                                      </p:to>
                                    </p:set>
                                    <p:animEffect transition="in" filter="box(in)">
                                      <p:cBhvr>
                                        <p:cTn id="25" dur="500"/>
                                        <p:tgtEl>
                                          <p:spTgt spid="5427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54276">
                                            <p:txEl>
                                              <p:pRg st="5" end="5"/>
                                            </p:txEl>
                                          </p:spTgt>
                                        </p:tgtEl>
                                        <p:attrNameLst>
                                          <p:attrName>style.visibility</p:attrName>
                                        </p:attrNameLst>
                                      </p:cBhvr>
                                      <p:to>
                                        <p:strVal val="visible"/>
                                      </p:to>
                                    </p:set>
                                    <p:anim calcmode="lin" valueType="num">
                                      <p:cBhvr additive="base">
                                        <p:cTn id="30" dur="500" fill="hold"/>
                                        <p:tgtEl>
                                          <p:spTgt spid="54276">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4276">
                                            <p:txEl>
                                              <p:pRg st="5" end="5"/>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54276">
                                            <p:txEl>
                                              <p:pRg st="6" end="6"/>
                                            </p:txEl>
                                          </p:spTgt>
                                        </p:tgtEl>
                                        <p:attrNameLst>
                                          <p:attrName>style.visibility</p:attrName>
                                        </p:attrNameLst>
                                      </p:cBhvr>
                                      <p:to>
                                        <p:strVal val="visible"/>
                                      </p:to>
                                    </p:set>
                                    <p:anim calcmode="lin" valueType="num">
                                      <p:cBhvr additive="base">
                                        <p:cTn id="34" dur="500" fill="hold"/>
                                        <p:tgtEl>
                                          <p:spTgt spid="54276">
                                            <p:txEl>
                                              <p:p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427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2"/>
          <p:cNvSpPr>
            <a:spLocks noGrp="1"/>
          </p:cNvSpPr>
          <p:nvPr>
            <p:ph type="sldNum" sz="quarter" idx="4294967295"/>
          </p:nvPr>
        </p:nvSpPr>
        <p:spPr>
          <a:xfrm>
            <a:off x="7162800" y="6324600"/>
            <a:ext cx="1905000" cy="457200"/>
          </a:xfrm>
          <a:prstGeom prst="rect">
            <a:avLst/>
          </a:prstGeom>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7900FAD-D1A0-43EB-9740-6114CCCE459A}" type="slidenum">
              <a:rPr kumimoji="0" lang="zh-CN" altLang="en-US" sz="1400">
                <a:solidFill>
                  <a:schemeClr val="accent2"/>
                </a:solidFill>
                <a:latin typeface="Arial" panose="020B0604020202020204" pitchFamily="34" charset="0"/>
              </a:rPr>
            </a:fld>
            <a:endParaRPr kumimoji="0" lang="en-US" altLang="zh-CN" sz="1400">
              <a:solidFill>
                <a:schemeClr val="accent2"/>
              </a:solidFill>
              <a:latin typeface="Arial" panose="020B0604020202020204" pitchFamily="34" charset="0"/>
            </a:endParaRPr>
          </a:p>
        </p:txBody>
      </p:sp>
      <p:sp>
        <p:nvSpPr>
          <p:cNvPr id="5123" name="Rectangle 4"/>
          <p:cNvSpPr>
            <a:spLocks noChangeArrowheads="1"/>
          </p:cNvSpPr>
          <p:nvPr/>
        </p:nvSpPr>
        <p:spPr bwMode="auto">
          <a:xfrm>
            <a:off x="611188"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kumimoji="0" lang="zh-CN" altLang="en-US" sz="3600" b="1">
                <a:solidFill>
                  <a:schemeClr val="bg1"/>
                </a:solidFill>
                <a:latin typeface="华文新魏" panose="02010800040101010101" pitchFamily="2" charset="-122"/>
              </a:rPr>
              <a:t>安全服务</a:t>
            </a:r>
            <a:endParaRPr kumimoji="0" lang="zh-CN" altLang="en-US" sz="3600" b="1">
              <a:solidFill>
                <a:schemeClr val="bg1"/>
              </a:solidFill>
              <a:latin typeface="华文新魏" panose="02010800040101010101" pitchFamily="2" charset="-122"/>
            </a:endParaRPr>
          </a:p>
        </p:txBody>
      </p:sp>
      <p:sp>
        <p:nvSpPr>
          <p:cNvPr id="686085" name="Rectangle 5"/>
          <p:cNvSpPr>
            <a:spLocks noChangeArrowheads="1"/>
          </p:cNvSpPr>
          <p:nvPr/>
        </p:nvSpPr>
        <p:spPr bwMode="auto">
          <a:xfrm>
            <a:off x="323850" y="1341438"/>
            <a:ext cx="8820150"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0" hangingPunct="0">
              <a:buClr>
                <a:schemeClr val="folHlink"/>
              </a:buClr>
              <a:buSzPct val="60000"/>
              <a:buFont typeface="Wingdings" panose="05000000000000000000" pitchFamily="2" charset="2"/>
              <a:buChar char="n"/>
              <a:defRPr/>
            </a:pPr>
            <a:r>
              <a:rPr kumimoji="0" lang="en-US" altLang="zh-CN" sz="3200" dirty="0"/>
              <a:t>ISO</a:t>
            </a:r>
            <a:r>
              <a:rPr kumimoji="0" lang="zh-CN" altLang="en-US" sz="3200" dirty="0"/>
              <a:t>安全服务（</a:t>
            </a:r>
            <a:r>
              <a:rPr kumimoji="0" lang="en-US" altLang="zh-CN" sz="3200" dirty="0"/>
              <a:t>Security Services</a:t>
            </a:r>
            <a:r>
              <a:rPr kumimoji="0" lang="zh-CN" altLang="en-US" sz="3200" dirty="0"/>
              <a:t>）：</a:t>
            </a:r>
            <a:endParaRPr kumimoji="0" lang="zh-CN" altLang="en-US" sz="3200" dirty="0"/>
          </a:p>
          <a:p>
            <a:pPr marL="342900" indent="-342900" eaLnBrk="0" hangingPunct="0">
              <a:buClr>
                <a:schemeClr val="folHlink"/>
              </a:buClr>
              <a:buSzPct val="60000"/>
              <a:buFont typeface="Wingdings" panose="05000000000000000000" pitchFamily="2" charset="2"/>
              <a:buNone/>
              <a:defRPr/>
            </a:pPr>
            <a:r>
              <a:rPr kumimoji="0" lang="zh-CN" altLang="en-US" sz="3200" dirty="0"/>
              <a:t>        计算机通信网络中，主要的安全保护措施被称作安全服务。</a:t>
            </a:r>
            <a:endParaRPr kumimoji="0" lang="zh-CN" altLang="en-US" sz="3200" dirty="0"/>
          </a:p>
          <a:p>
            <a:pPr marL="342900" indent="-342900" eaLnBrk="0" hangingPunct="0">
              <a:buClr>
                <a:schemeClr val="folHlink"/>
              </a:buClr>
              <a:buSzPct val="60000"/>
              <a:buFont typeface="Wingdings" panose="05000000000000000000" pitchFamily="2" charset="2"/>
              <a:buNone/>
              <a:defRPr/>
            </a:pPr>
            <a:endParaRPr kumimoji="0" lang="zh-CN" altLang="en-US" sz="3200" dirty="0"/>
          </a:p>
          <a:p>
            <a:pPr marL="342900" indent="-342900" eaLnBrk="0" hangingPunct="0">
              <a:buClr>
                <a:schemeClr val="folHlink"/>
              </a:buClr>
              <a:buSzPct val="60000"/>
              <a:buFont typeface="Wingdings" panose="05000000000000000000" pitchFamily="2" charset="2"/>
              <a:buNone/>
              <a:defRPr/>
            </a:pPr>
            <a:r>
              <a:rPr kumimoji="0" lang="zh-CN" altLang="en-US" sz="3200" dirty="0"/>
              <a:t>	根据</a:t>
            </a:r>
            <a:r>
              <a:rPr kumimoji="0" lang="en-US" altLang="zh-CN" sz="3200" dirty="0"/>
              <a:t>ISO7498-2, </a:t>
            </a:r>
            <a:r>
              <a:rPr kumimoji="0" lang="zh-CN" altLang="en-US" sz="3200" dirty="0"/>
              <a:t>安全服务包括：</a:t>
            </a:r>
            <a:endParaRPr kumimoji="0" lang="zh-CN" altLang="en-US" sz="3200" dirty="0"/>
          </a:p>
          <a:p>
            <a:pPr marL="742950" lvl="1" indent="-285750" eaLnBrk="0" hangingPunct="0">
              <a:buClr>
                <a:schemeClr val="hlink"/>
              </a:buClr>
              <a:buSzPct val="55000"/>
              <a:buFontTx/>
              <a:buAutoNum type="arabicPeriod"/>
              <a:defRPr/>
            </a:pPr>
            <a:r>
              <a:rPr kumimoji="0" lang="zh-CN" altLang="en-US" sz="3200" dirty="0"/>
              <a:t>数据机密性（</a:t>
            </a:r>
            <a:r>
              <a:rPr kumimoji="0" lang="en-US" altLang="zh-CN" sz="3200" dirty="0"/>
              <a:t>Data Confidentiality</a:t>
            </a:r>
            <a:r>
              <a:rPr kumimoji="0" lang="zh-CN" altLang="en-US" sz="3200" dirty="0"/>
              <a:t>）</a:t>
            </a:r>
            <a:endParaRPr kumimoji="0" lang="zh-CN" altLang="en-US" sz="3200" dirty="0"/>
          </a:p>
          <a:p>
            <a:pPr marL="742950" lvl="1" indent="-285750" eaLnBrk="0" hangingPunct="0">
              <a:buClr>
                <a:schemeClr val="hlink"/>
              </a:buClr>
              <a:buSzPct val="55000"/>
              <a:buFontTx/>
              <a:buAutoNum type="arabicPeriod"/>
              <a:defRPr/>
            </a:pPr>
            <a:r>
              <a:rPr kumimoji="0" lang="zh-CN" altLang="en-US" sz="3200" dirty="0"/>
              <a:t>数据完整性（</a:t>
            </a:r>
            <a:r>
              <a:rPr kumimoji="0" lang="en-US" altLang="zh-CN" sz="3200" dirty="0"/>
              <a:t>Data Integrity</a:t>
            </a:r>
            <a:r>
              <a:rPr kumimoji="0" lang="zh-CN" altLang="en-US" sz="3200" dirty="0"/>
              <a:t>）</a:t>
            </a:r>
            <a:endParaRPr kumimoji="0" lang="zh-CN" altLang="en-US" sz="3200" dirty="0"/>
          </a:p>
          <a:p>
            <a:pPr marL="742950" lvl="1" indent="-285750" eaLnBrk="0" hangingPunct="0">
              <a:buClr>
                <a:schemeClr val="hlink"/>
              </a:buClr>
              <a:buSzPct val="55000"/>
              <a:buFontTx/>
              <a:buAutoNum type="arabicPeriod"/>
              <a:defRPr/>
            </a:pPr>
            <a:r>
              <a:rPr kumimoji="0" lang="zh-CN" altLang="en-US" sz="3200" dirty="0"/>
              <a:t>抗抵赖（</a:t>
            </a:r>
            <a:r>
              <a:rPr kumimoji="0" lang="en-US" altLang="zh-CN" sz="3200" dirty="0"/>
              <a:t>Non-repudiation</a:t>
            </a:r>
            <a:r>
              <a:rPr kumimoji="0" lang="zh-CN" altLang="en-US" sz="3200" dirty="0"/>
              <a:t>）</a:t>
            </a:r>
            <a:endParaRPr kumimoji="0" lang="en-US" altLang="zh-CN" sz="3200" dirty="0"/>
          </a:p>
          <a:p>
            <a:pPr marL="742950" lvl="1" indent="-285750" eaLnBrk="0" hangingPunct="0">
              <a:buClr>
                <a:schemeClr val="hlink"/>
              </a:buClr>
              <a:buSzPct val="55000"/>
              <a:buFontTx/>
              <a:buAutoNum type="arabicPeriod"/>
              <a:defRPr/>
            </a:pPr>
            <a:r>
              <a:rPr kumimoji="0" lang="zh-CN" altLang="en-US" sz="3200" dirty="0"/>
              <a:t>鉴别（ </a:t>
            </a:r>
            <a:r>
              <a:rPr kumimoji="0" lang="en-US" altLang="zh-CN" sz="3200" dirty="0"/>
              <a:t>Authentication</a:t>
            </a:r>
            <a:r>
              <a:rPr kumimoji="0" lang="zh-CN" altLang="en-US" sz="3200" dirty="0"/>
              <a:t>）</a:t>
            </a:r>
            <a:endParaRPr kumimoji="0" lang="zh-CN" altLang="en-US" sz="3200" dirty="0"/>
          </a:p>
          <a:p>
            <a:pPr marL="742950" lvl="1" indent="-285750" eaLnBrk="0" hangingPunct="0">
              <a:buClr>
                <a:schemeClr val="hlink"/>
              </a:buClr>
              <a:buSzPct val="55000"/>
              <a:buFontTx/>
              <a:buAutoNum type="arabicPeriod"/>
              <a:defRPr/>
            </a:pPr>
            <a:r>
              <a:rPr kumimoji="0" lang="zh-CN" altLang="en-US" sz="3200" dirty="0"/>
              <a:t>访问控制（</a:t>
            </a:r>
            <a:r>
              <a:rPr kumimoji="0" lang="en-US" altLang="zh-CN" sz="3200" dirty="0"/>
              <a:t>Access Control</a:t>
            </a:r>
            <a:r>
              <a:rPr kumimoji="0" lang="zh-CN" altLang="en-US" sz="3200" dirty="0"/>
              <a:t>）</a:t>
            </a:r>
            <a:endParaRPr kumimoji="0" lang="zh-CN" altLang="en-US" sz="3200" dirty="0"/>
          </a:p>
          <a:p>
            <a:pPr lvl="1" eaLnBrk="0" hangingPunct="0">
              <a:buClr>
                <a:schemeClr val="hlink"/>
              </a:buClr>
              <a:buSzPct val="55000"/>
              <a:defRPr/>
            </a:pPr>
            <a:endParaRPr kumimoji="0" lang="zh-CN" altLang="en-US" sz="3200" dirty="0"/>
          </a:p>
          <a:p>
            <a:pPr marL="742950" lvl="1" indent="-285750" eaLnBrk="0" hangingPunct="0">
              <a:buClr>
                <a:schemeClr val="hlink"/>
              </a:buClr>
              <a:buSzPct val="55000"/>
              <a:buFontTx/>
              <a:buAutoNum type="arabicPeriod"/>
              <a:defRPr/>
            </a:pPr>
            <a:endParaRPr kumimoji="0" lang="zh-CN" altLang="en-US" sz="3200" dirty="0"/>
          </a:p>
          <a:p>
            <a:pPr marL="342900" indent="-342900">
              <a:spcBef>
                <a:spcPct val="20000"/>
              </a:spcBef>
              <a:buClr>
                <a:schemeClr val="folHlink"/>
              </a:buClr>
              <a:buSzPct val="60000"/>
              <a:buFont typeface="Wingdings" panose="05000000000000000000" pitchFamily="2" charset="2"/>
              <a:buChar char="n"/>
              <a:defRPr/>
            </a:pP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400" b="1" dirty="0">
                <a:latin typeface="楷体_GB2312" pitchFamily="49" charset="-122"/>
                <a:ea typeface="楷体_GB2312" pitchFamily="49" charset="-122"/>
              </a:rPr>
              <a:t>计算机系统的实体安全</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3"/>
          <p:cNvSpPr>
            <a:spLocks noGrp="1"/>
          </p:cNvSpPr>
          <p:nvPr>
            <p:ph type="title"/>
          </p:nvPr>
        </p:nvSpPr>
        <p:spPr/>
        <p:txBody>
          <a:bodyPr/>
          <a:lstStyle/>
          <a:p>
            <a:pPr>
              <a:defRPr/>
            </a:pPr>
            <a:r>
              <a:rPr lang="zh-CN" altLang="en-US" dirty="0" smtClean="0"/>
              <a:t> 目的 </a:t>
            </a:r>
            <a:r>
              <a:rPr lang="en-US" altLang="zh-CN" dirty="0" smtClean="0"/>
              <a:t>&amp;</a:t>
            </a:r>
            <a:r>
              <a:rPr lang="zh-CN" altLang="en-US" dirty="0" smtClean="0"/>
              <a:t>内容</a:t>
            </a:r>
            <a:endParaRPr lang="zh-CN" altLang="en-US" dirty="0" smtClean="0"/>
          </a:p>
        </p:txBody>
      </p:sp>
      <p:sp>
        <p:nvSpPr>
          <p:cNvPr id="9219" name="Text Box 4"/>
          <p:cNvSpPr txBox="1">
            <a:spLocks noChangeArrowheads="1"/>
          </p:cNvSpPr>
          <p:nvPr/>
        </p:nvSpPr>
        <p:spPr bwMode="auto">
          <a:xfrm>
            <a:off x="152400" y="1557338"/>
            <a:ext cx="8991600"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600" b="1">
                <a:latin typeface="楷体_GB2312" pitchFamily="49" charset="-122"/>
                <a:ea typeface="楷体_GB2312" pitchFamily="49" charset="-122"/>
              </a:rPr>
              <a:t>  </a:t>
            </a:r>
            <a:r>
              <a:rPr kumimoji="1" lang="zh-CN" altLang="en-US" sz="3600" b="1">
                <a:latin typeface="楷体_GB2312" pitchFamily="49" charset="-122"/>
                <a:ea typeface="楷体_GB2312" pitchFamily="49" charset="-122"/>
              </a:rPr>
              <a:t>系统可靠性</a:t>
            </a:r>
            <a:r>
              <a:rPr kumimoji="1" lang="en-US" altLang="zh-CN" sz="3600" b="1">
                <a:latin typeface="楷体_GB2312" pitchFamily="49" charset="-122"/>
                <a:ea typeface="楷体_GB2312" pitchFamily="49" charset="-122"/>
              </a:rPr>
              <a:t>(</a:t>
            </a:r>
            <a:r>
              <a:rPr kumimoji="1" lang="zh-CN" altLang="en-US" sz="3600" b="1">
                <a:latin typeface="楷体_GB2312" pitchFamily="49" charset="-122"/>
                <a:ea typeface="楷体_GB2312" pitchFamily="49" charset="-122"/>
              </a:rPr>
              <a:t>冗余、容错、专用）</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系统可用性</a:t>
            </a:r>
            <a:r>
              <a:rPr kumimoji="1" lang="en-US" altLang="zh-CN" sz="3600" b="1">
                <a:latin typeface="楷体_GB2312" pitchFamily="49" charset="-122"/>
                <a:ea typeface="楷体_GB2312" pitchFamily="49" charset="-122"/>
              </a:rPr>
              <a:t>(</a:t>
            </a:r>
            <a:r>
              <a:rPr kumimoji="1" lang="zh-CN" altLang="en-US" sz="3600" b="1">
                <a:latin typeface="楷体_GB2312" pitchFamily="49" charset="-122"/>
                <a:ea typeface="楷体_GB2312" pitchFamily="49" charset="-122"/>
              </a:rPr>
              <a:t>可正常运行、故障可恢复）</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系统部件一致性（配置合理）</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网络互连性（连通和隔离的矛盾，布线）</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环境安全性（配电、接地、防护）</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检查验收：按照标准、规范、合同和协议</a:t>
            </a:r>
            <a:endParaRPr kumimoji="1" lang="zh-CN" altLang="en-US" sz="3600" b="1">
              <a:latin typeface="楷体_GB2312" pitchFamily="49" charset="-122"/>
              <a:ea typeface="楷体_GB2312" pitchFamily="49"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400" b="1" dirty="0">
                <a:latin typeface="楷体_GB2312" pitchFamily="49" charset="-122"/>
                <a:ea typeface="楷体_GB2312" pitchFamily="49" charset="-122"/>
              </a:rPr>
              <a:t>密码学概论</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23CE8E4-AEE0-4ABB-8AF2-70BFFB10F2AE}" type="slidenum">
              <a:rPr lang="en-US" altLang="zh-CN"/>
            </a:fld>
            <a:endParaRPr lang="en-US" altLang="zh-CN"/>
          </a:p>
        </p:txBody>
      </p:sp>
      <p:sp>
        <p:nvSpPr>
          <p:cNvPr id="9219" name="Text Box 3"/>
          <p:cNvSpPr txBox="1">
            <a:spLocks noChangeArrowheads="1"/>
          </p:cNvSpPr>
          <p:nvPr/>
        </p:nvSpPr>
        <p:spPr bwMode="auto">
          <a:xfrm>
            <a:off x="0" y="1773238"/>
            <a:ext cx="8839200"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a:solidFill>
                  <a:schemeClr val="hlink"/>
                </a:solidFill>
                <a:latin typeface="楷体_GB2312" pitchFamily="49" charset="-122"/>
                <a:ea typeface="楷体_GB2312" pitchFamily="49" charset="-122"/>
              </a:rPr>
              <a:t>    </a:t>
            </a:r>
            <a:r>
              <a:rPr kumimoji="1" lang="zh-CN" altLang="en-US" sz="3200" b="1">
                <a:latin typeface="楷体_GB2312" pitchFamily="49" charset="-122"/>
                <a:ea typeface="楷体_GB2312" pitchFamily="49" charset="-122"/>
              </a:rPr>
              <a:t>保密与安全</a:t>
            </a:r>
            <a:endParaRPr kumimoji="1" lang="zh-CN" altLang="en-US" sz="3200" b="1">
              <a:latin typeface="楷体_GB2312" pitchFamily="49" charset="-122"/>
              <a:ea typeface="楷体_GB2312" pitchFamily="49" charset="-122"/>
            </a:endParaRPr>
          </a:p>
          <a:p>
            <a:pPr eaLnBrk="1" hangingPunct="1"/>
            <a:r>
              <a:rPr kumimoji="1" lang="zh-CN" altLang="en-US" sz="3200" b="1">
                <a:latin typeface="楷体_GB2312" pitchFamily="49" charset="-122"/>
                <a:ea typeface="楷体_GB2312" pitchFamily="49" charset="-122"/>
              </a:rPr>
              <a:t>    安全保密与密码学的联系与区别</a:t>
            </a:r>
            <a:endParaRPr kumimoji="1" lang="zh-CN" altLang="en-US" sz="3200" b="1">
              <a:latin typeface="楷体_GB2312" pitchFamily="49" charset="-122"/>
              <a:ea typeface="楷体_GB2312" pitchFamily="49" charset="-122"/>
            </a:endParaRPr>
          </a:p>
          <a:p>
            <a:pPr eaLnBrk="1" hangingPunct="1"/>
            <a:r>
              <a:rPr kumimoji="1" lang="zh-CN" altLang="en-US" sz="3200" b="1">
                <a:latin typeface="楷体_GB2312" pitchFamily="49" charset="-122"/>
                <a:ea typeface="楷体_GB2312" pitchFamily="49" charset="-122"/>
              </a:rPr>
              <a:t>    编码系统与密码系统的关系与区别</a:t>
            </a:r>
            <a:endParaRPr kumimoji="1" lang="zh-CN" altLang="en-US" sz="3200" b="1">
              <a:latin typeface="楷体_GB2312" pitchFamily="49" charset="-122"/>
              <a:ea typeface="楷体_GB2312" pitchFamily="49" charset="-122"/>
            </a:endParaRPr>
          </a:p>
          <a:p>
            <a:pPr eaLnBrk="1" hangingPunct="1"/>
            <a:r>
              <a:rPr kumimoji="1" lang="zh-CN" altLang="en-US" sz="3200" b="1">
                <a:latin typeface="楷体_GB2312" pitchFamily="49" charset="-122"/>
                <a:ea typeface="楷体_GB2312" pitchFamily="49" charset="-122"/>
              </a:rPr>
              <a:t>    密码体系与密码系统</a:t>
            </a:r>
            <a:endParaRPr kumimoji="1" lang="zh-CN" altLang="en-US" sz="3200" b="1">
              <a:latin typeface="楷体_GB2312" pitchFamily="49" charset="-122"/>
              <a:ea typeface="楷体_GB2312" pitchFamily="49" charset="-122"/>
            </a:endParaRPr>
          </a:p>
          <a:p>
            <a:pPr eaLnBrk="1" hangingPunct="1"/>
            <a:r>
              <a:rPr kumimoji="1" lang="en-US" altLang="zh-CN" sz="3200" b="1">
                <a:latin typeface="楷体_GB2312" pitchFamily="49" charset="-122"/>
                <a:ea typeface="楷体_GB2312" pitchFamily="49" charset="-122"/>
              </a:rPr>
              <a:t>    </a:t>
            </a:r>
            <a:r>
              <a:rPr kumimoji="1" lang="zh-CN" altLang="en-US" sz="3200" b="1">
                <a:latin typeface="楷体_GB2312" pitchFamily="49" charset="-122"/>
                <a:ea typeface="楷体_GB2312" pitchFamily="49" charset="-122"/>
              </a:rPr>
              <a:t>常用及特殊密码体系</a:t>
            </a:r>
            <a:endParaRPr kumimoji="1" lang="zh-CN" altLang="en-US" sz="3200" b="1">
              <a:latin typeface="楷体_GB2312" pitchFamily="49" charset="-122"/>
              <a:ea typeface="楷体_GB2312" pitchFamily="49" charset="-122"/>
            </a:endParaRPr>
          </a:p>
          <a:p>
            <a:pPr eaLnBrk="1" hangingPunct="1"/>
            <a:r>
              <a:rPr kumimoji="1" lang="zh-CN" altLang="en-US" sz="3200" b="1">
                <a:latin typeface="楷体_GB2312" pitchFamily="49" charset="-122"/>
                <a:ea typeface="楷体_GB2312" pitchFamily="49" charset="-122"/>
              </a:rPr>
              <a:t>    硬件加密与软件加密</a:t>
            </a:r>
            <a:endParaRPr kumimoji="1" lang="zh-CN" altLang="en-US" sz="3200" b="1">
              <a:latin typeface="楷体_GB2312" pitchFamily="49" charset="-122"/>
              <a:ea typeface="楷体_GB2312" pitchFamily="49" charset="-122"/>
            </a:endParaRPr>
          </a:p>
        </p:txBody>
      </p:sp>
      <p:sp>
        <p:nvSpPr>
          <p:cNvPr id="9220" name="Rectangle 4"/>
          <p:cNvSpPr>
            <a:spLocks noGrp="1" noRot="1" noChangeArrowheads="1"/>
          </p:cNvSpPr>
          <p:nvPr>
            <p:ph type="title" idx="4294967295"/>
          </p:nvPr>
        </p:nvSpPr>
        <p:spPr/>
        <p:txBody>
          <a:bodyPr/>
          <a:lstStyle/>
          <a:p>
            <a:pPr eaLnBrk="1" hangingPunct="1"/>
            <a:r>
              <a:rPr lang="zh-CN" altLang="en-US" sz="3200" smtClean="0"/>
              <a:t>目的 </a:t>
            </a:r>
            <a:r>
              <a:rPr lang="en-US" altLang="zh-CN" sz="3200" smtClean="0"/>
              <a:t>&amp;</a:t>
            </a:r>
            <a:r>
              <a:rPr lang="zh-CN" altLang="en-US" sz="3200" smtClean="0"/>
              <a:t>内容</a:t>
            </a:r>
            <a:endParaRPr lang="zh-CN" altLang="en-US" smtClean="0"/>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351EA0-9F9E-47AF-AADE-45AEA1BDD11D}" type="slidenum">
              <a:rPr lang="en-US" altLang="zh-CN"/>
            </a:fld>
            <a:endParaRPr lang="en-US" altLang="zh-CN"/>
          </a:p>
        </p:txBody>
      </p:sp>
      <p:sp>
        <p:nvSpPr>
          <p:cNvPr id="20483" name="Text Box 3"/>
          <p:cNvSpPr txBox="1">
            <a:spLocks noChangeArrowheads="1"/>
          </p:cNvSpPr>
          <p:nvPr/>
        </p:nvSpPr>
        <p:spPr bwMode="auto">
          <a:xfrm>
            <a:off x="0" y="723900"/>
            <a:ext cx="8839200" cy="558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600" b="1">
                <a:solidFill>
                  <a:schemeClr val="hlink"/>
                </a:solidFill>
                <a:latin typeface="楷体_GB2312" pitchFamily="49" charset="-122"/>
                <a:ea typeface="楷体_GB2312" pitchFamily="49" charset="-122"/>
              </a:rPr>
              <a:t>信息论</a:t>
            </a:r>
            <a:r>
              <a:rPr lang="zh-CN" altLang="en-US" sz="2800" b="1">
                <a:solidFill>
                  <a:srgbClr val="FF33CC"/>
                </a:solidFill>
                <a:ea typeface="楷体_GB2312" pitchFamily="49" charset="-122"/>
              </a:rPr>
              <a:t>涉及</a:t>
            </a:r>
            <a:r>
              <a:rPr kumimoji="1" lang="zh-CN" altLang="en-US" sz="3600" b="1">
                <a:solidFill>
                  <a:schemeClr val="hlink"/>
                </a:solidFill>
                <a:latin typeface="楷体_GB2312" pitchFamily="49" charset="-122"/>
                <a:ea typeface="楷体_GB2312" pitchFamily="49" charset="-122"/>
              </a:rPr>
              <a:t>：</a:t>
            </a:r>
            <a:r>
              <a:rPr kumimoji="1" lang="zh-CN" altLang="en-US" sz="3600" b="1">
                <a:latin typeface="楷体_GB2312" pitchFamily="49" charset="-122"/>
                <a:ea typeface="楷体_GB2312" pitchFamily="49" charset="-122"/>
              </a:rPr>
              <a:t>消息在运动中产生信息</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在通信时才需要信息保护</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现在无论静态和动态数据都需要保护</a:t>
            </a:r>
            <a:endParaRPr kumimoji="1" lang="zh-CN" altLang="en-US" sz="3600" b="1">
              <a:latin typeface="楷体_GB2312" pitchFamily="49" charset="-122"/>
              <a:ea typeface="楷体_GB2312" pitchFamily="49" charset="-122"/>
            </a:endParaRPr>
          </a:p>
          <a:p>
            <a:pPr eaLnBrk="1" hangingPunct="1"/>
            <a:r>
              <a:rPr kumimoji="1" lang="zh-CN" altLang="en-US" sz="3600" b="1">
                <a:solidFill>
                  <a:schemeClr val="hlink"/>
                </a:solidFill>
                <a:latin typeface="楷体_GB2312" pitchFamily="49" charset="-122"/>
                <a:ea typeface="楷体_GB2312" pitchFamily="49" charset="-122"/>
              </a:rPr>
              <a:t>密码学</a:t>
            </a:r>
            <a:r>
              <a:rPr lang="zh-CN" altLang="en-US" sz="2000" b="1">
                <a:solidFill>
                  <a:srgbClr val="FF33CC"/>
                </a:solidFill>
              </a:rPr>
              <a:t>涉及</a:t>
            </a:r>
            <a:r>
              <a:rPr kumimoji="1" lang="zh-CN" altLang="en-US" sz="3600" b="1">
                <a:solidFill>
                  <a:schemeClr val="hlink"/>
                </a:solidFill>
                <a:latin typeface="楷体_GB2312" pitchFamily="49" charset="-122"/>
                <a:ea typeface="楷体_GB2312" pitchFamily="49" charset="-122"/>
              </a:rPr>
              <a:t>：</a:t>
            </a:r>
            <a:r>
              <a:rPr kumimoji="1" lang="zh-CN" altLang="en-US" sz="3600" b="1">
                <a:latin typeface="楷体_GB2312" pitchFamily="49" charset="-122"/>
                <a:ea typeface="楷体_GB2312" pitchFamily="49" charset="-122"/>
              </a:rPr>
              <a:t>早期作用是保密， 现在除保密外，还有认证、鉴别功能</a:t>
            </a:r>
            <a:endParaRPr kumimoji="1" lang="zh-CN" altLang="en-US" sz="3600" b="1">
              <a:latin typeface="楷体_GB2312" pitchFamily="49" charset="-122"/>
              <a:ea typeface="楷体_GB2312" pitchFamily="49" charset="-122"/>
            </a:endParaRPr>
          </a:p>
          <a:p>
            <a:pPr eaLnBrk="1" hangingPunct="1"/>
            <a:r>
              <a:rPr kumimoji="1" lang="zh-CN" altLang="en-US" sz="3600" b="1">
                <a:solidFill>
                  <a:schemeClr val="hlink"/>
                </a:solidFill>
                <a:latin typeface="楷体_GB2312" pitchFamily="49" charset="-122"/>
                <a:ea typeface="楷体_GB2312" pitchFamily="49" charset="-122"/>
              </a:rPr>
              <a:t>保密学</a:t>
            </a:r>
            <a:r>
              <a:rPr lang="zh-CN" altLang="en-US" b="1">
                <a:solidFill>
                  <a:srgbClr val="FF33CC"/>
                </a:solidFill>
              </a:rPr>
              <a:t>涉及</a:t>
            </a:r>
            <a:r>
              <a:rPr kumimoji="1" lang="zh-CN" altLang="en-US" sz="3600" b="1">
                <a:solidFill>
                  <a:schemeClr val="hlink"/>
                </a:solidFill>
                <a:latin typeface="楷体_GB2312" pitchFamily="49" charset="-122"/>
                <a:ea typeface="楷体_GB2312" pitchFamily="49" charset="-122"/>
              </a:rPr>
              <a:t>：</a:t>
            </a:r>
            <a:r>
              <a:rPr kumimoji="1" lang="zh-CN" altLang="en-US" sz="3600" b="1">
                <a:latin typeface="楷体_GB2312" pitchFamily="49" charset="-122"/>
                <a:ea typeface="楷体_GB2312" pitchFamily="49" charset="-122"/>
              </a:rPr>
              <a:t>早期对文电、文档进行加密</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现在除文电、文档外，对任何文字、图形、图象、声音等多媒体信息；</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对硬件部件和电路等</a:t>
            </a:r>
            <a:r>
              <a:rPr kumimoji="1" lang="zh-CN" altLang="en-US" sz="3600" b="1">
                <a:solidFill>
                  <a:schemeClr val="hlink"/>
                </a:solidFill>
                <a:latin typeface="楷体_GB2312" pitchFamily="49" charset="-122"/>
                <a:ea typeface="楷体_GB2312" pitchFamily="49" charset="-122"/>
              </a:rPr>
              <a:t>实体</a:t>
            </a:r>
            <a:r>
              <a:rPr kumimoji="1" lang="zh-CN" altLang="en-US" sz="3600" b="1">
                <a:latin typeface="楷体_GB2312" pitchFamily="49" charset="-122"/>
                <a:ea typeface="楷体_GB2312" pitchFamily="49" charset="-122"/>
              </a:rPr>
              <a:t>的保密；</a:t>
            </a:r>
            <a:endParaRPr kumimoji="1" lang="zh-CN" altLang="en-US" sz="3600" b="1">
              <a:latin typeface="楷体_GB2312" pitchFamily="49" charset="-122"/>
              <a:ea typeface="楷体_GB2312" pitchFamily="49" charset="-122"/>
            </a:endParaRPr>
          </a:p>
          <a:p>
            <a:pPr eaLnBrk="1" hangingPunct="1"/>
            <a:r>
              <a:rPr kumimoji="1" lang="zh-CN" altLang="en-US" sz="3600" b="1">
                <a:latin typeface="楷体_GB2312" pitchFamily="49" charset="-122"/>
                <a:ea typeface="楷体_GB2312" pitchFamily="49" charset="-122"/>
              </a:rPr>
              <a:t>    对思路、思维、企图等</a:t>
            </a:r>
            <a:r>
              <a:rPr kumimoji="1" lang="zh-CN" altLang="en-US" sz="3600" b="1">
                <a:solidFill>
                  <a:schemeClr val="hlink"/>
                </a:solidFill>
                <a:latin typeface="楷体_GB2312" pitchFamily="49" charset="-122"/>
                <a:ea typeface="楷体_GB2312" pitchFamily="49" charset="-122"/>
              </a:rPr>
              <a:t>虚体</a:t>
            </a:r>
            <a:r>
              <a:rPr kumimoji="1" lang="zh-CN" altLang="en-US" sz="3600" b="1">
                <a:latin typeface="楷体_GB2312" pitchFamily="49" charset="-122"/>
                <a:ea typeface="楷体_GB2312" pitchFamily="49" charset="-122"/>
              </a:rPr>
              <a:t>的保密；</a:t>
            </a:r>
            <a:endParaRPr kumimoji="1" lang="zh-CN" altLang="en-US" sz="3600" b="1">
              <a:latin typeface="楷体_GB2312" pitchFamily="49" charset="-122"/>
              <a:ea typeface="楷体_GB2312" pitchFamily="49" charset="-122"/>
            </a:endParaRPr>
          </a:p>
        </p:txBody>
      </p:sp>
      <p:sp>
        <p:nvSpPr>
          <p:cNvPr id="20484" name="Rectangle 4"/>
          <p:cNvSpPr>
            <a:spLocks noGrp="1" noRot="1" noChangeArrowheads="1"/>
          </p:cNvSpPr>
          <p:nvPr>
            <p:ph type="title" idx="4294967295"/>
          </p:nvPr>
        </p:nvSpPr>
        <p:spPr>
          <a:xfrm>
            <a:off x="0" y="260350"/>
            <a:ext cx="8540750" cy="442913"/>
          </a:xfrm>
        </p:spPr>
        <p:txBody>
          <a:bodyPr>
            <a:normAutofit fontScale="90000"/>
          </a:bodyPr>
          <a:lstStyle/>
          <a:p>
            <a:pPr eaLnBrk="1" hangingPunct="1"/>
            <a:r>
              <a:rPr lang="zh-CN" altLang="en-US" sz="3600" b="1" smtClean="0">
                <a:latin typeface="楷体_GB2312" pitchFamily="49" charset="-122"/>
                <a:ea typeface="楷体_GB2312" pitchFamily="49" charset="-122"/>
              </a:rPr>
              <a:t>安全保密涉及的学科</a:t>
            </a:r>
            <a:endParaRPr lang="zh-CN" altLang="en-US" smtClean="0"/>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BAACAF-9065-4C23-8704-673E22A6B72A}" type="slidenum">
              <a:rPr lang="en-US" altLang="zh-CN"/>
            </a:fld>
            <a:endParaRPr lang="en-US" altLang="zh-CN"/>
          </a:p>
        </p:txBody>
      </p:sp>
      <p:sp>
        <p:nvSpPr>
          <p:cNvPr id="39939" name="Text Box 3"/>
          <p:cNvSpPr txBox="1">
            <a:spLocks noChangeArrowheads="1"/>
          </p:cNvSpPr>
          <p:nvPr/>
        </p:nvSpPr>
        <p:spPr bwMode="auto">
          <a:xfrm>
            <a:off x="611188" y="762000"/>
            <a:ext cx="8064500"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3200" b="1">
                <a:solidFill>
                  <a:schemeClr val="hlink"/>
                </a:solidFill>
                <a:latin typeface="楷体_GB2312" pitchFamily="49" charset="-122"/>
                <a:ea typeface="楷体_GB2312" pitchFamily="49" charset="-122"/>
              </a:rPr>
              <a:t>    </a:t>
            </a:r>
            <a:r>
              <a:rPr kumimoji="1" lang="en-US" altLang="en-US" sz="3200" b="1">
                <a:solidFill>
                  <a:schemeClr val="hlink"/>
                </a:solidFill>
                <a:latin typeface="Times New Roman" panose="02020603050405020304" pitchFamily="18" charset="0"/>
                <a:ea typeface="楷体_GB2312" pitchFamily="49" charset="-122"/>
              </a:rPr>
              <a:t>二、密码体制</a:t>
            </a:r>
            <a:endParaRPr kumimoji="1" lang="en-US" altLang="en-US" sz="3200" b="1">
              <a:solidFill>
                <a:schemeClr val="hlink"/>
              </a:solidFill>
              <a:latin typeface="Times New Roman" panose="02020603050405020304" pitchFamily="18" charset="0"/>
              <a:ea typeface="楷体_GB2312" pitchFamily="49" charset="-122"/>
            </a:endParaRPr>
          </a:p>
          <a:p>
            <a:pPr eaLnBrk="1" hangingPunct="1"/>
            <a:r>
              <a:rPr kumimoji="1" lang="en-US" altLang="en-US" sz="3200" b="1">
                <a:latin typeface="Times New Roman" panose="02020603050405020304" pitchFamily="18" charset="0"/>
                <a:ea typeface="楷体_GB2312" pitchFamily="49" charset="-122"/>
              </a:rPr>
              <a:t>    密码体制目前分为单钥密码和双钥密码体制</a:t>
            </a:r>
            <a:endParaRPr kumimoji="1" lang="en-US" altLang="en-US" sz="3200" b="1">
              <a:latin typeface="Times New Roman" panose="02020603050405020304" pitchFamily="18" charset="0"/>
              <a:ea typeface="楷体_GB2312" pitchFamily="49" charset="-122"/>
            </a:endParaRPr>
          </a:p>
          <a:p>
            <a:pPr eaLnBrk="1" hangingPunct="1"/>
            <a:r>
              <a:rPr kumimoji="1" lang="en-US" altLang="en-US" sz="3200" b="1">
                <a:latin typeface="Times New Roman" panose="02020603050405020304" pitchFamily="18" charset="0"/>
                <a:ea typeface="楷体_GB2312" pitchFamily="49" charset="-122"/>
              </a:rPr>
              <a:t>    </a:t>
            </a:r>
            <a:r>
              <a:rPr kumimoji="1" lang="en-US" altLang="en-US" sz="3200" b="1">
                <a:solidFill>
                  <a:schemeClr val="hlink"/>
                </a:solidFill>
                <a:latin typeface="Times New Roman" panose="02020603050405020304" pitchFamily="18" charset="0"/>
                <a:ea typeface="楷体_GB2312" pitchFamily="49" charset="-122"/>
              </a:rPr>
              <a:t>㈠单钥密码体制</a:t>
            </a:r>
            <a:endParaRPr kumimoji="1" lang="en-US" altLang="en-US" sz="3200" b="1">
              <a:latin typeface="Times New Roman" panose="02020603050405020304" pitchFamily="18" charset="0"/>
              <a:ea typeface="楷体_GB2312" pitchFamily="49" charset="-122"/>
            </a:endParaRPr>
          </a:p>
          <a:p>
            <a:pPr eaLnBrk="1" hangingPunct="1"/>
            <a:r>
              <a:rPr kumimoji="1" lang="zh-CN" altLang="en-US" sz="3200" b="1">
                <a:latin typeface="Times New Roman" panose="02020603050405020304" pitchFamily="18" charset="0"/>
                <a:ea typeface="楷体_GB2312" pitchFamily="49" charset="-122"/>
              </a:rPr>
              <a:t>    </a:t>
            </a:r>
            <a:r>
              <a:rPr kumimoji="1" lang="en-US" altLang="en-US" sz="3200" b="1">
                <a:latin typeface="Times New Roman" panose="02020603050405020304" pitchFamily="18" charset="0"/>
                <a:ea typeface="楷体_GB2312" pitchFamily="49" charset="-122"/>
              </a:rPr>
              <a:t>也称为</a:t>
            </a:r>
            <a:r>
              <a:rPr kumimoji="1" lang="en-US" altLang="en-US" sz="3200" b="1">
                <a:solidFill>
                  <a:schemeClr val="hlink"/>
                </a:solidFill>
                <a:latin typeface="Times New Roman" panose="02020603050405020304" pitchFamily="18" charset="0"/>
                <a:ea typeface="楷体_GB2312" pitchFamily="49" charset="-122"/>
              </a:rPr>
              <a:t>对称密码体制</a:t>
            </a:r>
            <a:r>
              <a:rPr kumimoji="1" lang="en-US" altLang="en-US" sz="3200" b="1">
                <a:latin typeface="Times New Roman" panose="02020603050405020304" pitchFamily="18" charset="0"/>
                <a:ea typeface="楷体_GB2312" pitchFamily="49" charset="-122"/>
              </a:rPr>
              <a:t>，其加密密钥和解密密钥相同，或者在实质上等同，即从一个很容易得出另一个。</a:t>
            </a:r>
            <a:endParaRPr kumimoji="1" lang="zh-CN" altLang="en-US" sz="3200" b="1">
              <a:latin typeface="Times New Roman" panose="02020603050405020304" pitchFamily="18" charset="0"/>
              <a:ea typeface="楷体_GB2312" pitchFamily="49" charset="-122"/>
            </a:endParaRPr>
          </a:p>
          <a:p>
            <a:pPr eaLnBrk="1" hangingPunct="1"/>
            <a:r>
              <a:rPr kumimoji="1" lang="zh-CN" altLang="en-US" sz="3200" b="1">
                <a:latin typeface="Times New Roman" panose="02020603050405020304" pitchFamily="18" charset="0"/>
                <a:ea typeface="楷体_GB2312" pitchFamily="49" charset="-122"/>
              </a:rPr>
              <a:t>	它具有</a:t>
            </a:r>
            <a:r>
              <a:rPr kumimoji="1" lang="en-US" altLang="en-US" sz="3200" b="1">
                <a:latin typeface="Times New Roman" panose="02020603050405020304" pitchFamily="18" charset="0"/>
                <a:ea typeface="楷体_GB2312" pitchFamily="49" charset="-122"/>
              </a:rPr>
              <a:t>两种加密</a:t>
            </a:r>
            <a:r>
              <a:rPr kumimoji="1" lang="zh-CN" altLang="en-US" sz="3200" b="1">
                <a:latin typeface="Times New Roman" panose="02020603050405020304" pitchFamily="18" charset="0"/>
                <a:ea typeface="楷体_GB2312" pitchFamily="49" charset="-122"/>
              </a:rPr>
              <a:t>方式：</a:t>
            </a:r>
            <a:endParaRPr kumimoji="1" lang="zh-CN" altLang="en-US" sz="3200" b="1">
              <a:latin typeface="Times New Roman" panose="02020603050405020304" pitchFamily="18" charset="0"/>
              <a:ea typeface="楷体_GB2312" pitchFamily="49" charset="-122"/>
            </a:endParaRP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FF8FD2-A374-41E1-898F-135F379962E9}" type="slidenum">
              <a:rPr lang="en-US" altLang="zh-CN"/>
            </a:fld>
            <a:endParaRPr lang="en-US" altLang="zh-CN"/>
          </a:p>
        </p:txBody>
      </p:sp>
      <p:sp>
        <p:nvSpPr>
          <p:cNvPr id="40963" name="Text Box 3"/>
          <p:cNvSpPr txBox="1">
            <a:spLocks noChangeArrowheads="1"/>
          </p:cNvSpPr>
          <p:nvPr/>
        </p:nvSpPr>
        <p:spPr bwMode="auto">
          <a:xfrm>
            <a:off x="152400" y="549275"/>
            <a:ext cx="8839200" cy="611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200" b="1">
                <a:latin typeface="Times New Roman" panose="02020603050405020304" pitchFamily="18" charset="0"/>
                <a:ea typeface="楷体_GB2312" pitchFamily="49" charset="-122"/>
              </a:rPr>
              <a:t>它具有</a:t>
            </a:r>
            <a:r>
              <a:rPr kumimoji="1" lang="en-US" altLang="en-US" sz="3200" b="1">
                <a:latin typeface="Times New Roman" panose="02020603050405020304" pitchFamily="18" charset="0"/>
                <a:ea typeface="楷体_GB2312" pitchFamily="49" charset="-122"/>
              </a:rPr>
              <a:t>两种加密</a:t>
            </a:r>
            <a:r>
              <a:rPr kumimoji="1" lang="zh-CN" altLang="en-US" sz="3200" b="1">
                <a:latin typeface="Times New Roman" panose="02020603050405020304" pitchFamily="18" charset="0"/>
                <a:ea typeface="楷体_GB2312" pitchFamily="49" charset="-122"/>
              </a:rPr>
              <a:t>方式：</a:t>
            </a:r>
            <a:endParaRPr kumimoji="1" lang="zh-CN" altLang="en-US" sz="3200" b="1">
              <a:latin typeface="Times New Roman" panose="02020603050405020304" pitchFamily="18" charset="0"/>
              <a:ea typeface="楷体_GB2312" pitchFamily="49" charset="-122"/>
            </a:endParaRPr>
          </a:p>
          <a:p>
            <a:pPr eaLnBrk="1" hangingPunct="1"/>
            <a:r>
              <a:rPr kumimoji="1" lang="en-US" altLang="en-US" sz="3200" b="1">
                <a:solidFill>
                  <a:schemeClr val="tx2"/>
                </a:solidFill>
                <a:latin typeface="Times New Roman" panose="02020603050405020304" pitchFamily="18" charset="0"/>
                <a:ea typeface="楷体_GB2312" pitchFamily="49" charset="-122"/>
              </a:rPr>
              <a:t>流密码(</a:t>
            </a:r>
            <a:r>
              <a:rPr kumimoji="1" lang="en-US" altLang="zh-CN" sz="3200" b="1">
                <a:solidFill>
                  <a:schemeClr val="tx2"/>
                </a:solidFill>
                <a:latin typeface="Times New Roman" panose="02020603050405020304" pitchFamily="18" charset="0"/>
                <a:ea typeface="楷体_GB2312" pitchFamily="49" charset="-122"/>
              </a:rPr>
              <a:t>stream cipher)</a:t>
            </a:r>
            <a:r>
              <a:rPr kumimoji="1" lang="en-US" altLang="en-US" sz="3200" b="1">
                <a:solidFill>
                  <a:schemeClr val="tx2"/>
                </a:solidFill>
                <a:latin typeface="Times New Roman" panose="02020603050405020304" pitchFamily="18" charset="0"/>
                <a:ea typeface="楷体_GB2312" pitchFamily="49" charset="-122"/>
              </a:rPr>
              <a:t> </a:t>
            </a:r>
            <a:r>
              <a:rPr kumimoji="1" lang="en-US" altLang="zh-CN" sz="3200" b="1">
                <a:solidFill>
                  <a:schemeClr val="tx2"/>
                </a:solidFill>
                <a:latin typeface="Times New Roman" panose="02020603050405020304" pitchFamily="18" charset="0"/>
                <a:ea typeface="楷体_GB2312" pitchFamily="49" charset="-122"/>
              </a:rPr>
              <a:t>:</a:t>
            </a:r>
            <a:r>
              <a:rPr kumimoji="1" lang="zh-CN" altLang="en-US" sz="3200" b="1">
                <a:latin typeface="Times New Roman" panose="02020603050405020304" pitchFamily="18" charset="0"/>
                <a:ea typeface="楷体_GB2312" pitchFamily="49" charset="-122"/>
              </a:rPr>
              <a:t>又称</a:t>
            </a:r>
            <a:r>
              <a:rPr kumimoji="1" lang="zh-CN" altLang="en-US" sz="3200" b="1">
                <a:solidFill>
                  <a:srgbClr val="993300"/>
                </a:solidFill>
                <a:latin typeface="Times New Roman" panose="02020603050405020304" pitchFamily="18" charset="0"/>
                <a:ea typeface="楷体_GB2312" pitchFamily="49" charset="-122"/>
              </a:rPr>
              <a:t>序列密码</a:t>
            </a:r>
            <a:r>
              <a:rPr kumimoji="1" lang="en-US" altLang="zh-CN" sz="3200" b="1">
                <a:latin typeface="Times New Roman" panose="02020603050405020304" pitchFamily="18" charset="0"/>
                <a:ea typeface="楷体_GB2312" pitchFamily="49" charset="-122"/>
              </a:rPr>
              <a:t>.</a:t>
            </a:r>
            <a:r>
              <a:rPr kumimoji="1" lang="zh-CN" altLang="en-US" sz="3200" b="1">
                <a:latin typeface="Times New Roman" panose="02020603050405020304" pitchFamily="18" charset="0"/>
                <a:ea typeface="楷体_GB2312" pitchFamily="49" charset="-122"/>
              </a:rPr>
              <a:t>序列密码每次加密一位或一字节的明文。即 </a:t>
            </a:r>
            <a:r>
              <a:rPr kumimoji="1" lang="en-US" altLang="en-US" sz="3200" b="1">
                <a:latin typeface="Times New Roman" panose="02020603050405020304" pitchFamily="18" charset="0"/>
                <a:ea typeface="楷体_GB2312" pitchFamily="49" charset="-122"/>
              </a:rPr>
              <a:t>对明文按字符逐位加密</a:t>
            </a:r>
            <a:endParaRPr kumimoji="1" lang="zh-CN" altLang="en-US" sz="3200" b="1">
              <a:latin typeface="Times New Roman" panose="02020603050405020304" pitchFamily="18" charset="0"/>
              <a:ea typeface="楷体_GB2312" pitchFamily="49" charset="-122"/>
            </a:endParaRPr>
          </a:p>
          <a:p>
            <a:pPr eaLnBrk="1" hangingPunct="1"/>
            <a:r>
              <a:rPr kumimoji="1" lang="en-US" altLang="en-US" sz="3200" b="1">
                <a:solidFill>
                  <a:schemeClr val="tx2"/>
                </a:solidFill>
                <a:latin typeface="Times New Roman" panose="02020603050405020304" pitchFamily="18" charset="0"/>
                <a:ea typeface="楷体_GB2312" pitchFamily="49" charset="-122"/>
              </a:rPr>
              <a:t>组密码(</a:t>
            </a:r>
            <a:r>
              <a:rPr kumimoji="1" lang="en-US" altLang="zh-CN" sz="3200" b="1">
                <a:solidFill>
                  <a:schemeClr val="tx2"/>
                </a:solidFill>
                <a:latin typeface="Times New Roman" panose="02020603050405020304" pitchFamily="18" charset="0"/>
                <a:ea typeface="楷体_GB2312" pitchFamily="49" charset="-122"/>
              </a:rPr>
              <a:t>block cipher):</a:t>
            </a:r>
            <a:r>
              <a:rPr kumimoji="1" lang="zh-CN" altLang="en-US" sz="3200" b="1">
                <a:latin typeface="Times New Roman" panose="02020603050405020304" pitchFamily="18" charset="0"/>
                <a:ea typeface="楷体_GB2312" pitchFamily="49" charset="-122"/>
              </a:rPr>
              <a:t>将明文分成固定长度的组，用同一密钥和算法对每一块加密，输出也是固定长度的密文。</a:t>
            </a:r>
            <a:endParaRPr kumimoji="1" lang="zh-CN" altLang="en-US" sz="3200" b="1">
              <a:latin typeface="Times New Roman" panose="02020603050405020304" pitchFamily="18" charset="0"/>
              <a:ea typeface="楷体_GB2312" pitchFamily="49" charset="-122"/>
            </a:endParaRPr>
          </a:p>
          <a:p>
            <a:pPr eaLnBrk="1" hangingPunct="1">
              <a:spcBef>
                <a:spcPct val="20000"/>
              </a:spcBef>
              <a:buFont typeface="Wingdings" panose="05000000000000000000" pitchFamily="2" charset="2"/>
              <a:buNone/>
            </a:pPr>
            <a:r>
              <a:rPr lang="zh-CN" altLang="en-US" sz="3600" b="1">
                <a:solidFill>
                  <a:srgbClr val="993300"/>
                </a:solidFill>
                <a:ea typeface="楷体_GB2312" pitchFamily="49" charset="-122"/>
              </a:rPr>
              <a:t> </a:t>
            </a:r>
            <a:r>
              <a:rPr lang="zh-CN" altLang="en-US" b="1">
                <a:solidFill>
                  <a:srgbClr val="993300"/>
                </a:solidFill>
              </a:rPr>
              <a:t>● </a:t>
            </a:r>
            <a:r>
              <a:rPr lang="zh-CN" altLang="en-US" sz="3600" b="1">
                <a:solidFill>
                  <a:srgbClr val="993300"/>
                </a:solidFill>
                <a:ea typeface="楷体_GB2312" pitchFamily="49" charset="-122"/>
              </a:rPr>
              <a:t>序列密码是手工和机械密码时代的主流</a:t>
            </a:r>
            <a:r>
              <a:rPr lang="zh-CN" altLang="en-US" b="1">
                <a:solidFill>
                  <a:srgbClr val="993300"/>
                </a:solidFill>
              </a:rPr>
              <a:t>●</a:t>
            </a:r>
            <a:endParaRPr kumimoji="1" lang="zh-CN" altLang="en-US" sz="3200" b="1">
              <a:latin typeface="Times New Roman" panose="02020603050405020304" pitchFamily="18" charset="0"/>
              <a:ea typeface="楷体_GB2312" pitchFamily="49" charset="-122"/>
            </a:endParaRPr>
          </a:p>
          <a:p>
            <a:pPr eaLnBrk="1" hangingPunct="1"/>
            <a:r>
              <a:rPr kumimoji="1" lang="en-US" altLang="en-US" sz="3200" b="1">
                <a:latin typeface="Times New Roman" panose="02020603050405020304" pitchFamily="18" charset="0"/>
                <a:ea typeface="楷体_GB2312" pitchFamily="49" charset="-122"/>
              </a:rPr>
              <a:t>设计简单，密钥单一，加密效率高，特别适合点对点通信传输的数据加密。但其密钥的管理（如密钥产生、分配、存储、销毁等）工作比较复杂。</a:t>
            </a:r>
            <a:endParaRPr kumimoji="1" lang="zh-CN" altLang="en-US" sz="3200" b="1">
              <a:latin typeface="Times New Roman" panose="02020603050405020304" pitchFamily="18" charset="0"/>
              <a:ea typeface="楷体_GB2312" pitchFamily="49" charset="-122"/>
            </a:endParaRPr>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6E5019-C2D8-4C0C-9B99-3F1E35B7843B}" type="slidenum">
              <a:rPr lang="en-US" altLang="zh-CN"/>
            </a:fld>
            <a:endParaRPr lang="en-US" altLang="zh-CN"/>
          </a:p>
        </p:txBody>
      </p:sp>
      <p:sp>
        <p:nvSpPr>
          <p:cNvPr id="41987" name="Text Box 3"/>
          <p:cNvSpPr txBox="1">
            <a:spLocks noChangeArrowheads="1"/>
          </p:cNvSpPr>
          <p:nvPr/>
        </p:nvSpPr>
        <p:spPr bwMode="auto">
          <a:xfrm>
            <a:off x="152400" y="762000"/>
            <a:ext cx="883920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3200" b="1" dirty="0">
                <a:solidFill>
                  <a:schemeClr val="hlink"/>
                </a:solidFill>
                <a:ea typeface="楷体_GB2312" pitchFamily="49" charset="-122"/>
              </a:rPr>
              <a:t>    </a:t>
            </a:r>
            <a:r>
              <a:rPr kumimoji="1" lang="en-US" altLang="en-US" sz="3600" b="1" dirty="0">
                <a:solidFill>
                  <a:schemeClr val="hlink"/>
                </a:solidFill>
                <a:ea typeface="楷体_GB2312" pitchFamily="49" charset="-122"/>
              </a:rPr>
              <a:t>㈡</a:t>
            </a:r>
            <a:r>
              <a:rPr kumimoji="1" lang="en-US" altLang="en-US" sz="3600" b="1" dirty="0" err="1">
                <a:solidFill>
                  <a:schemeClr val="hlink"/>
                </a:solidFill>
                <a:ea typeface="楷体_GB2312" pitchFamily="49" charset="-122"/>
              </a:rPr>
              <a:t>双钥密码体制</a:t>
            </a:r>
            <a:endParaRPr kumimoji="1" lang="en-US" altLang="en-US" sz="3600" b="1" dirty="0">
              <a:solidFill>
                <a:schemeClr val="hlink"/>
              </a:solidFill>
              <a:ea typeface="楷体_GB2312" pitchFamily="49" charset="-122"/>
            </a:endParaRPr>
          </a:p>
          <a:p>
            <a:pPr eaLnBrk="1" hangingPunct="1"/>
            <a:r>
              <a:rPr kumimoji="1" lang="en-US" altLang="en-US" sz="3600" b="1" dirty="0">
                <a:ea typeface="楷体_GB2312" pitchFamily="49" charset="-122"/>
              </a:rPr>
              <a:t>    也称</a:t>
            </a:r>
            <a:r>
              <a:rPr kumimoji="1" lang="en-US" altLang="en-US" sz="3600" b="1" dirty="0">
                <a:solidFill>
                  <a:schemeClr val="hlink"/>
                </a:solidFill>
                <a:ea typeface="楷体_GB2312" pitchFamily="49" charset="-122"/>
              </a:rPr>
              <a:t>非对称密码体制</a:t>
            </a:r>
            <a:r>
              <a:rPr kumimoji="1" lang="en-US" altLang="en-US" sz="3600" b="1" dirty="0">
                <a:ea typeface="楷体_GB2312" pitchFamily="49" charset="-122"/>
              </a:rPr>
              <a:t>，其加密密钥与解密密钥不相同，从一个很难得出另一个。采用双密钥体制的每个用户都有一对选定的密钥，其中一个是秘密的，而另一个则可以公开，并可以象电话号码一样注册公布。因此，双钥密码体制也被称为</a:t>
            </a:r>
            <a:r>
              <a:rPr kumimoji="1" lang="en-US" altLang="en-US" sz="3600" b="1" dirty="0">
                <a:solidFill>
                  <a:schemeClr val="hlink"/>
                </a:solidFill>
                <a:ea typeface="楷体_GB2312" pitchFamily="49" charset="-122"/>
              </a:rPr>
              <a:t>公钥体制</a:t>
            </a:r>
            <a:r>
              <a:rPr kumimoji="1" lang="en-US" altLang="en-US" sz="3600" b="1" dirty="0">
                <a:ea typeface="楷体_GB2312" pitchFamily="49" charset="-122"/>
              </a:rPr>
              <a:t>(</a:t>
            </a:r>
            <a:r>
              <a:rPr kumimoji="1" lang="en-US" altLang="zh-CN" sz="3600" b="1" dirty="0">
                <a:ea typeface="楷体_GB2312" pitchFamily="49" charset="-122"/>
              </a:rPr>
              <a:t>public key system)</a:t>
            </a:r>
            <a:r>
              <a:rPr kumimoji="1" lang="zh-CN" altLang="en-US" sz="3600" b="1" dirty="0" smtClean="0">
                <a:ea typeface="楷体_GB2312" pitchFamily="49" charset="-122"/>
              </a:rPr>
              <a:t>。</a:t>
            </a:r>
            <a:endParaRPr kumimoji="1" lang="en-US" altLang="zh-CN" sz="3600" b="1" dirty="0" smtClean="0">
              <a:ea typeface="楷体_GB2312" pitchFamily="49" charset="-122"/>
            </a:endParaRPr>
          </a:p>
          <a:p>
            <a:pPr eaLnBrk="1" hangingPunct="1"/>
            <a:endParaRPr kumimoji="1" lang="en-US" altLang="zh-CN" sz="3600" b="1" dirty="0">
              <a:ea typeface="楷体_GB2312" pitchFamily="49" charset="-122"/>
            </a:endParaRPr>
          </a:p>
          <a:p>
            <a:pPr eaLnBrk="1" hangingPunct="1"/>
            <a:r>
              <a:rPr kumimoji="1" lang="zh-CN" altLang="en-US" sz="3600" b="1" dirty="0" smtClean="0">
                <a:ea typeface="楷体_GB2312" pitchFamily="49" charset="-122"/>
              </a:rPr>
              <a:t>代表算法：</a:t>
            </a:r>
            <a:r>
              <a:rPr kumimoji="1" lang="en-US" altLang="zh-CN" sz="3600" b="1" dirty="0" smtClean="0">
                <a:ea typeface="楷体_GB2312" pitchFamily="49" charset="-122"/>
              </a:rPr>
              <a:t>RSA</a:t>
            </a:r>
            <a:r>
              <a:rPr kumimoji="1" lang="zh-CN" altLang="en-US" sz="3600" b="1" dirty="0" smtClean="0">
                <a:ea typeface="楷体_GB2312" pitchFamily="49" charset="-122"/>
              </a:rPr>
              <a:t>、</a:t>
            </a:r>
            <a:r>
              <a:rPr kumimoji="1" lang="en-US" altLang="zh-CN" sz="3600" b="1" dirty="0" smtClean="0">
                <a:ea typeface="楷体_GB2312" pitchFamily="49" charset="-122"/>
              </a:rPr>
              <a:t>El </a:t>
            </a:r>
            <a:r>
              <a:rPr kumimoji="1" lang="en-US" altLang="zh-CN" sz="3600" b="1" dirty="0" err="1" smtClean="0">
                <a:ea typeface="楷体_GB2312" pitchFamily="49" charset="-122"/>
              </a:rPr>
              <a:t>Gamal</a:t>
            </a:r>
            <a:r>
              <a:rPr kumimoji="1" lang="zh-CN" altLang="en-US" sz="3600" b="1" dirty="0" smtClean="0">
                <a:ea typeface="楷体_GB2312" pitchFamily="49" charset="-122"/>
              </a:rPr>
              <a:t>密码、椭圆曲线密码体制，欧几里得算法等。</a:t>
            </a:r>
            <a:r>
              <a:rPr kumimoji="1" lang="zh-CN" altLang="en-US" sz="3200" b="1" dirty="0" smtClean="0">
                <a:ea typeface="楷体_GB2312" pitchFamily="49" charset="-122"/>
              </a:rPr>
              <a:t>    </a:t>
            </a:r>
            <a:endParaRPr kumimoji="1" lang="zh-CN" altLang="en-US" sz="3200" b="1" dirty="0">
              <a:ea typeface="楷体_GB2312" pitchFamily="49" charset="-122"/>
            </a:endParaRPr>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F98A82C-18DA-44EB-9EBE-9ED95311D4EE}" type="slidenum">
              <a:rPr lang="en-US" altLang="zh-CN"/>
            </a:fld>
            <a:endParaRPr lang="en-US" altLang="zh-CN"/>
          </a:p>
        </p:txBody>
      </p:sp>
      <p:sp>
        <p:nvSpPr>
          <p:cNvPr id="77827" name="Rectangle 4"/>
          <p:cNvSpPr>
            <a:spLocks noGrp="1" noRot="1" noChangeArrowheads="1"/>
          </p:cNvSpPr>
          <p:nvPr>
            <p:ph type="title" idx="4294967295"/>
          </p:nvPr>
        </p:nvSpPr>
        <p:spPr>
          <a:xfrm>
            <a:off x="250825" y="260350"/>
            <a:ext cx="7772400" cy="503238"/>
          </a:xfrm>
        </p:spPr>
        <p:txBody>
          <a:bodyPr>
            <a:normAutofit fontScale="90000"/>
          </a:bodyPr>
          <a:lstStyle/>
          <a:p>
            <a:pPr eaLnBrk="1" hangingPunct="1"/>
            <a:r>
              <a:rPr lang="zh-CN" altLang="en-US" sz="3200" b="1" smtClean="0">
                <a:solidFill>
                  <a:schemeClr val="hlink"/>
                </a:solidFill>
                <a:ea typeface="楷体_GB2312" pitchFamily="49" charset="-122"/>
              </a:rPr>
              <a:t>三、著名密码体系</a:t>
            </a:r>
            <a:endParaRPr lang="zh-CN" altLang="en-US" smtClean="0"/>
          </a:p>
        </p:txBody>
      </p:sp>
      <p:sp>
        <p:nvSpPr>
          <p:cNvPr id="77828" name="Rectangle 9"/>
          <p:cNvSpPr>
            <a:spLocks noChangeArrowheads="1"/>
          </p:cNvSpPr>
          <p:nvPr/>
        </p:nvSpPr>
        <p:spPr bwMode="auto">
          <a:xfrm>
            <a:off x="179388" y="765175"/>
            <a:ext cx="77724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600" b="1">
                <a:solidFill>
                  <a:schemeClr val="tx2"/>
                </a:solidFill>
                <a:latin typeface="楷体_GB2312" pitchFamily="49" charset="-122"/>
                <a:ea typeface="楷体_GB2312" pitchFamily="49" charset="-122"/>
              </a:rPr>
              <a:t>1</a:t>
            </a:r>
            <a:r>
              <a:rPr lang="zh-CN" altLang="en-US" sz="3600" b="1">
                <a:solidFill>
                  <a:schemeClr val="tx2"/>
                </a:solidFill>
                <a:latin typeface="楷体_GB2312" pitchFamily="49" charset="-122"/>
                <a:ea typeface="楷体_GB2312" pitchFamily="49" charset="-122"/>
              </a:rPr>
              <a:t>、分组密码的一般设计原理</a:t>
            </a:r>
            <a:endParaRPr lang="zh-CN" altLang="en-US" sz="3600" b="1">
              <a:solidFill>
                <a:schemeClr val="tx2"/>
              </a:solidFill>
              <a:latin typeface="楷体_GB2312" pitchFamily="49" charset="-122"/>
              <a:ea typeface="楷体_GB2312" pitchFamily="49" charset="-122"/>
            </a:endParaRPr>
          </a:p>
        </p:txBody>
      </p:sp>
      <p:sp>
        <p:nvSpPr>
          <p:cNvPr id="77829" name="Rectangle 10"/>
          <p:cNvSpPr>
            <a:spLocks noChangeArrowheads="1"/>
          </p:cNvSpPr>
          <p:nvPr/>
        </p:nvSpPr>
        <p:spPr bwMode="auto">
          <a:xfrm>
            <a:off x="395288" y="1484313"/>
            <a:ext cx="77724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hlink"/>
              </a:buClr>
              <a:buSzPct val="75000"/>
              <a:buFont typeface="Wingdings" panose="05000000000000000000" pitchFamily="2" charset="2"/>
              <a:buChar char="v"/>
            </a:pPr>
            <a:r>
              <a:rPr lang="zh-CN" altLang="en-US" sz="3200" b="1">
                <a:latin typeface="楷体_GB2312" pitchFamily="49" charset="-122"/>
                <a:ea typeface="楷体_GB2312" pitchFamily="49" charset="-122"/>
              </a:rPr>
              <a:t>分组密码是将明文消息编码表示后的数字（简称明文数字）序列，划分成长度为</a:t>
            </a:r>
            <a:r>
              <a:rPr lang="en-US" altLang="zh-CN" sz="3200" b="1" i="1">
                <a:latin typeface="楷体_GB2312" pitchFamily="49" charset="-122"/>
                <a:ea typeface="楷体_GB2312" pitchFamily="49" charset="-122"/>
              </a:rPr>
              <a:t>n</a:t>
            </a:r>
            <a:r>
              <a:rPr lang="zh-CN" altLang="en-US" sz="3200" b="1">
                <a:latin typeface="楷体_GB2312" pitchFamily="49" charset="-122"/>
                <a:ea typeface="楷体_GB2312" pitchFamily="49" charset="-122"/>
              </a:rPr>
              <a:t>的组（可看成长度为</a:t>
            </a:r>
            <a:r>
              <a:rPr lang="en-US" altLang="zh-CN" sz="3200" b="1" i="1">
                <a:latin typeface="楷体_GB2312" pitchFamily="49" charset="-122"/>
                <a:ea typeface="楷体_GB2312" pitchFamily="49" charset="-122"/>
              </a:rPr>
              <a:t>n</a:t>
            </a:r>
            <a:r>
              <a:rPr lang="zh-CN" altLang="en-US" sz="3200" b="1">
                <a:latin typeface="楷体_GB2312" pitchFamily="49" charset="-122"/>
                <a:ea typeface="楷体_GB2312" pitchFamily="49" charset="-122"/>
              </a:rPr>
              <a:t>的矢量），每组分别在密钥的控制下变换成等长的输出数字（简称密文数字）序列， </a:t>
            </a:r>
            <a:endParaRPr lang="zh-CN" altLang="en-US" sz="3200" b="1">
              <a:latin typeface="楷体_GB2312" pitchFamily="49" charset="-122"/>
              <a:ea typeface="楷体_GB2312" pitchFamily="49" charset="-122"/>
            </a:endParaRPr>
          </a:p>
          <a:p>
            <a:pPr marL="342900" indent="-342900">
              <a:spcBef>
                <a:spcPct val="20000"/>
              </a:spcBef>
              <a:buClr>
                <a:schemeClr val="hlink"/>
              </a:buClr>
              <a:buSzPct val="75000"/>
              <a:buFont typeface="Wingdings" panose="05000000000000000000" pitchFamily="2" charset="2"/>
              <a:buChar char="v"/>
            </a:pPr>
            <a:endParaRPr lang="en-US" altLang="zh-CN" sz="3200" b="1">
              <a:latin typeface="楷体_GB2312" pitchFamily="49" charset="-122"/>
              <a:ea typeface="楷体_GB2312" pitchFamily="49" charset="-122"/>
            </a:endParaRPr>
          </a:p>
        </p:txBody>
      </p:sp>
      <p:pic>
        <p:nvPicPr>
          <p:cNvPr id="77830"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4005263"/>
            <a:ext cx="711517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C3907F6-7E5C-40BD-B93A-D6DE1D18BA75}" type="slidenum">
              <a:rPr lang="en-US" altLang="zh-CN"/>
            </a:fld>
            <a:endParaRPr lang="en-US" altLang="zh-CN"/>
          </a:p>
        </p:txBody>
      </p:sp>
      <p:sp>
        <p:nvSpPr>
          <p:cNvPr id="78851" name="Text Box 3"/>
          <p:cNvSpPr txBox="1">
            <a:spLocks noChangeArrowheads="1"/>
          </p:cNvSpPr>
          <p:nvPr/>
        </p:nvSpPr>
        <p:spPr bwMode="auto">
          <a:xfrm>
            <a:off x="152400" y="908050"/>
            <a:ext cx="8991600" cy="496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a:ea typeface="楷体_GB2312" pitchFamily="49" charset="-122"/>
              </a:rPr>
              <a:t>DES</a:t>
            </a:r>
            <a:r>
              <a:rPr kumimoji="1" lang="zh-CN" altLang="en-US" sz="3200" b="1">
                <a:ea typeface="楷体_GB2312" pitchFamily="49" charset="-122"/>
              </a:rPr>
              <a:t>（</a:t>
            </a:r>
            <a:r>
              <a:rPr kumimoji="1" lang="en-US" altLang="zh-CN" sz="3200" b="1">
                <a:ea typeface="楷体_GB2312" pitchFamily="49" charset="-122"/>
              </a:rPr>
              <a:t>Data Encryption Standard</a:t>
            </a:r>
            <a:r>
              <a:rPr kumimoji="1" lang="zh-CN" altLang="en-US" sz="3200" b="1">
                <a:ea typeface="楷体_GB2312" pitchFamily="49" charset="-122"/>
              </a:rPr>
              <a:t>）</a:t>
            </a:r>
            <a:endParaRPr kumimoji="1" lang="zh-CN" altLang="en-US" sz="3200" b="1">
              <a:ea typeface="楷体_GB2312" pitchFamily="49" charset="-122"/>
            </a:endParaRPr>
          </a:p>
          <a:p>
            <a:pPr eaLnBrk="1" hangingPunct="1"/>
            <a:r>
              <a:rPr kumimoji="1" lang="zh-CN" altLang="en-US" sz="3200" b="1">
                <a:ea typeface="楷体_GB2312" pitchFamily="49" charset="-122"/>
              </a:rPr>
              <a:t>在所有分组密码中，数据加密标准（</a:t>
            </a:r>
            <a:r>
              <a:rPr kumimoji="1" lang="en-US" altLang="zh-CN" sz="3200" b="1">
                <a:ea typeface="楷体_GB2312" pitchFamily="49" charset="-122"/>
              </a:rPr>
              <a:t>DES</a:t>
            </a:r>
            <a:r>
              <a:rPr kumimoji="1" lang="zh-CN" altLang="en-US" sz="3200" b="1">
                <a:ea typeface="楷体_GB2312" pitchFamily="49" charset="-122"/>
              </a:rPr>
              <a:t>）可谓是最著名的了。</a:t>
            </a:r>
            <a:endParaRPr kumimoji="1" lang="zh-CN" altLang="en-US" sz="3200" b="1">
              <a:ea typeface="楷体_GB2312" pitchFamily="49" charset="-122"/>
            </a:endParaRPr>
          </a:p>
          <a:p>
            <a:pPr eaLnBrk="1" hangingPunct="1"/>
            <a:r>
              <a:rPr kumimoji="1" lang="zh-CN" altLang="en-US" sz="3200" b="1">
                <a:ea typeface="楷体_GB2312" pitchFamily="49" charset="-122"/>
              </a:rPr>
              <a:t>    </a:t>
            </a:r>
            <a:r>
              <a:rPr kumimoji="1" lang="en-US" altLang="zh-CN" sz="3200" b="1">
                <a:ea typeface="楷体_GB2312" pitchFamily="49" charset="-122"/>
              </a:rPr>
              <a:t>DES</a:t>
            </a:r>
            <a:r>
              <a:rPr kumimoji="1" lang="en-US" altLang="en-US" sz="3200" b="1">
                <a:ea typeface="楷体_GB2312" pitchFamily="49" charset="-122"/>
              </a:rPr>
              <a:t>密码是一种数据加密标准</a:t>
            </a:r>
            <a:r>
              <a:rPr kumimoji="1" lang="zh-CN" altLang="en-US" sz="3200" b="1">
                <a:ea typeface="楷体_GB2312" pitchFamily="49" charset="-122"/>
              </a:rPr>
              <a:t>，</a:t>
            </a:r>
            <a:r>
              <a:rPr kumimoji="1" lang="en-US" altLang="zh-CN" sz="3200" b="1">
                <a:ea typeface="楷体_GB2312" pitchFamily="49" charset="-122"/>
              </a:rPr>
              <a:t>1977</a:t>
            </a:r>
            <a:r>
              <a:rPr kumimoji="1" lang="en-US" altLang="en-US" sz="3200" b="1">
                <a:ea typeface="楷体_GB2312" pitchFamily="49" charset="-122"/>
              </a:rPr>
              <a:t>年正式公布，供非机要部门的保密通信使用，是唯一由美国政府颁布的公开加密算法。</a:t>
            </a:r>
            <a:endParaRPr kumimoji="1" lang="en-US" altLang="en-US" sz="3200" b="1">
              <a:ea typeface="楷体_GB2312" pitchFamily="49" charset="-122"/>
            </a:endParaRPr>
          </a:p>
          <a:p>
            <a:pPr eaLnBrk="1" hangingPunct="1"/>
            <a:r>
              <a:rPr kumimoji="1" lang="zh-CN" altLang="en-US" sz="3200" b="1">
                <a:ea typeface="楷体_GB2312" pitchFamily="49" charset="-122"/>
              </a:rPr>
              <a:t>    </a:t>
            </a:r>
            <a:r>
              <a:rPr kumimoji="1" lang="en-US" altLang="zh-CN" sz="3200" b="1">
                <a:ea typeface="楷体_GB2312" pitchFamily="49" charset="-122"/>
              </a:rPr>
              <a:t>DES</a:t>
            </a:r>
            <a:r>
              <a:rPr kumimoji="1" lang="en-US" altLang="en-US" sz="3200" b="1">
                <a:ea typeface="楷体_GB2312" pitchFamily="49" charset="-122"/>
              </a:rPr>
              <a:t>密码在过去20年被正式作为国际标准采用，但业界认为其56位密钥太短，而且其基本设计原理，如各种不同排列选择、置换、叠代次数等没有清楚的说明，存在系统隐蔽陷阱的可能。</a:t>
            </a:r>
            <a:endParaRPr kumimoji="1" lang="zh-CN" altLang="en-US" sz="3200" b="1">
              <a:ea typeface="楷体_GB2312" pitchFamily="49" charset="-122"/>
            </a:endParaRPr>
          </a:p>
        </p:txBody>
      </p:sp>
      <p:sp>
        <p:nvSpPr>
          <p:cNvPr id="78852" name="Rectangle 4"/>
          <p:cNvSpPr>
            <a:spLocks noGrp="1" noRot="1" noChangeArrowheads="1"/>
          </p:cNvSpPr>
          <p:nvPr>
            <p:ph type="title" idx="4294967295"/>
          </p:nvPr>
        </p:nvSpPr>
        <p:spPr>
          <a:xfrm>
            <a:off x="304800" y="549275"/>
            <a:ext cx="7772400" cy="719138"/>
          </a:xfrm>
        </p:spPr>
        <p:txBody>
          <a:bodyPr>
            <a:normAutofit fontScale="90000"/>
          </a:bodyPr>
          <a:lstStyle/>
          <a:p>
            <a:pPr algn="l" eaLnBrk="1" hangingPunct="1"/>
            <a:r>
              <a:rPr lang="en-US" altLang="zh-CN" sz="3200" b="1" smtClean="0">
                <a:solidFill>
                  <a:schemeClr val="hlink"/>
                </a:solidFill>
                <a:ea typeface="楷体_GB2312" pitchFamily="49" charset="-122"/>
              </a:rPr>
              <a:t>1</a:t>
            </a:r>
            <a:r>
              <a:rPr lang="zh-CN" altLang="en-US" sz="3200" b="1" smtClean="0">
                <a:solidFill>
                  <a:schemeClr val="hlink"/>
                </a:solidFill>
                <a:ea typeface="楷体_GB2312" pitchFamily="49" charset="-122"/>
              </a:rPr>
              <a:t>）、</a:t>
            </a:r>
            <a:r>
              <a:rPr lang="en-US" altLang="zh-CN" sz="3200" b="1" smtClean="0">
                <a:solidFill>
                  <a:schemeClr val="hlink"/>
                </a:solidFill>
                <a:ea typeface="楷体_GB2312" pitchFamily="49" charset="-122"/>
              </a:rPr>
              <a:t>DES</a:t>
            </a:r>
            <a:r>
              <a:rPr lang="zh-CN" altLang="en-US" sz="3200" b="1" smtClean="0">
                <a:solidFill>
                  <a:schemeClr val="hlink"/>
                </a:solidFill>
                <a:ea typeface="楷体_GB2312" pitchFamily="49" charset="-122"/>
              </a:rPr>
              <a:t>数据加密标准</a:t>
            </a:r>
            <a:br>
              <a:rPr lang="en-US" altLang="en-US" sz="3200" b="1" smtClean="0">
                <a:solidFill>
                  <a:schemeClr val="tx1"/>
                </a:solidFill>
                <a:ea typeface="楷体_GB2312" pitchFamily="49" charset="-122"/>
              </a:rPr>
            </a:br>
            <a:endParaRPr lang="zh-CN" altLang="en-US" smtClean="0"/>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19B3A0-5B3F-4A9F-B193-96E435117E6B}" type="slidenum">
              <a:rPr lang="en-US" altLang="zh-CN"/>
            </a:fld>
            <a:endParaRPr lang="en-US" altLang="zh-CN"/>
          </a:p>
        </p:txBody>
      </p:sp>
      <p:sp>
        <p:nvSpPr>
          <p:cNvPr id="80899" name="Rectangle 2"/>
          <p:cNvSpPr>
            <a:spLocks noChangeArrowheads="1"/>
          </p:cNvSpPr>
          <p:nvPr/>
        </p:nvSpPr>
        <p:spPr bwMode="auto">
          <a:xfrm>
            <a:off x="228600" y="152400"/>
            <a:ext cx="86106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accent2"/>
              </a:buClr>
              <a:buSzPct val="80000"/>
              <a:buFont typeface="Wingdings" panose="05000000000000000000" pitchFamily="2" charset="2"/>
              <a:buNone/>
            </a:pPr>
            <a:r>
              <a:rPr kumimoji="1" lang="en-US" altLang="zh-CN" sz="3600" b="1" dirty="0">
                <a:latin typeface="楷体_GB2312" pitchFamily="49" charset="-122"/>
                <a:ea typeface="楷体_GB2312" pitchFamily="49" charset="-122"/>
              </a:rPr>
              <a:t>	DES</a:t>
            </a:r>
            <a:r>
              <a:rPr kumimoji="1" lang="zh-CN" altLang="en-US" sz="3600" b="1" dirty="0">
                <a:latin typeface="楷体_GB2312" pitchFamily="49" charset="-122"/>
                <a:ea typeface="楷体_GB2312" pitchFamily="49" charset="-122"/>
              </a:rPr>
              <a:t>是一种对二进制数据进行加密的算法。数据分组长为</a:t>
            </a:r>
            <a:r>
              <a:rPr kumimoji="1" lang="en-US" altLang="zh-CN" sz="3600" b="1" dirty="0">
                <a:latin typeface="楷体_GB2312" pitchFamily="49" charset="-122"/>
                <a:ea typeface="楷体_GB2312" pitchFamily="49" charset="-122"/>
              </a:rPr>
              <a:t>64</a:t>
            </a:r>
            <a:r>
              <a:rPr kumimoji="1" lang="zh-CN" altLang="en-US" sz="3600" b="1" dirty="0">
                <a:latin typeface="楷体_GB2312" pitchFamily="49" charset="-122"/>
                <a:ea typeface="楷体_GB2312" pitchFamily="49" charset="-122"/>
              </a:rPr>
              <a:t>位，密钥长也为</a:t>
            </a:r>
            <a:r>
              <a:rPr kumimoji="1" lang="en-US" altLang="zh-CN" sz="3600" b="1" dirty="0">
                <a:latin typeface="楷体_GB2312" pitchFamily="49" charset="-122"/>
                <a:ea typeface="楷体_GB2312" pitchFamily="49" charset="-122"/>
              </a:rPr>
              <a:t>64</a:t>
            </a:r>
            <a:r>
              <a:rPr kumimoji="1" lang="zh-CN" altLang="en-US" sz="3600" b="1" dirty="0">
                <a:latin typeface="楷体_GB2312" pitchFamily="49" charset="-122"/>
                <a:ea typeface="楷体_GB2312" pitchFamily="49" charset="-122"/>
              </a:rPr>
              <a:t>位</a:t>
            </a:r>
            <a:r>
              <a:rPr kumimoji="1" lang="zh-CN" altLang="en-US" sz="3600" b="1" dirty="0" smtClean="0">
                <a:latin typeface="楷体_GB2312" pitchFamily="49" charset="-122"/>
                <a:ea typeface="楷体_GB2312" pitchFamily="49" charset="-122"/>
              </a:rPr>
              <a:t>。其中密钥有效位为</a:t>
            </a:r>
            <a:r>
              <a:rPr kumimoji="1" lang="en-US" altLang="zh-CN" sz="3600" b="1" dirty="0" smtClean="0">
                <a:latin typeface="楷体_GB2312" pitchFamily="49" charset="-122"/>
                <a:ea typeface="楷体_GB2312" pitchFamily="49" charset="-122"/>
              </a:rPr>
              <a:t>56</a:t>
            </a:r>
            <a:r>
              <a:rPr kumimoji="1" lang="zh-CN" altLang="en-US" sz="3600" b="1" dirty="0" smtClean="0">
                <a:latin typeface="楷体_GB2312" pitchFamily="49" charset="-122"/>
                <a:ea typeface="楷体_GB2312" pitchFamily="49" charset="-122"/>
              </a:rPr>
              <a:t>位，使用</a:t>
            </a:r>
            <a:r>
              <a:rPr kumimoji="1" lang="en-US" altLang="zh-CN" sz="3600" b="1" dirty="0">
                <a:latin typeface="楷体_GB2312" pitchFamily="49" charset="-122"/>
                <a:ea typeface="楷体_GB2312" pitchFamily="49" charset="-122"/>
              </a:rPr>
              <a:t>56</a:t>
            </a:r>
            <a:r>
              <a:rPr kumimoji="1" lang="zh-CN" altLang="en-US" sz="3600" b="1" dirty="0">
                <a:latin typeface="楷体_GB2312" pitchFamily="49" charset="-122"/>
                <a:ea typeface="楷体_GB2312" pitchFamily="49" charset="-122"/>
              </a:rPr>
              <a:t>位密钥对</a:t>
            </a:r>
            <a:r>
              <a:rPr kumimoji="1" lang="en-US" altLang="zh-CN" sz="3600" b="1" dirty="0">
                <a:latin typeface="楷体_GB2312" pitchFamily="49" charset="-122"/>
                <a:ea typeface="楷体_GB2312" pitchFamily="49" charset="-122"/>
              </a:rPr>
              <a:t>64</a:t>
            </a:r>
            <a:r>
              <a:rPr kumimoji="1" lang="zh-CN" altLang="en-US" sz="3600" b="1" dirty="0">
                <a:latin typeface="楷体_GB2312" pitchFamily="49" charset="-122"/>
                <a:ea typeface="楷体_GB2312" pitchFamily="49" charset="-122"/>
              </a:rPr>
              <a:t>位的数据块进行加密，并对</a:t>
            </a:r>
            <a:r>
              <a:rPr kumimoji="1" lang="en-US" altLang="zh-CN" sz="3600" b="1" dirty="0">
                <a:latin typeface="楷体_GB2312" pitchFamily="49" charset="-122"/>
                <a:ea typeface="楷体_GB2312" pitchFamily="49" charset="-122"/>
              </a:rPr>
              <a:t>64</a:t>
            </a:r>
            <a:r>
              <a:rPr kumimoji="1" lang="zh-CN" altLang="en-US" sz="3600" b="1" dirty="0">
                <a:latin typeface="楷体_GB2312" pitchFamily="49" charset="-122"/>
                <a:ea typeface="楷体_GB2312" pitchFamily="49" charset="-122"/>
              </a:rPr>
              <a:t>位的数据块进行</a:t>
            </a:r>
            <a:r>
              <a:rPr kumimoji="1" lang="en-US" altLang="zh-CN" sz="3600" b="1" dirty="0">
                <a:latin typeface="楷体_GB2312" pitchFamily="49" charset="-122"/>
                <a:ea typeface="楷体_GB2312" pitchFamily="49" charset="-122"/>
              </a:rPr>
              <a:t>16</a:t>
            </a:r>
            <a:r>
              <a:rPr kumimoji="1" lang="zh-CN" altLang="en-US" sz="3600" b="1" dirty="0">
                <a:latin typeface="楷体_GB2312" pitchFamily="49" charset="-122"/>
                <a:ea typeface="楷体_GB2312" pitchFamily="49" charset="-122"/>
              </a:rPr>
              <a:t>轮编码。与每轮编码时，一个</a:t>
            </a:r>
            <a:r>
              <a:rPr kumimoji="1" lang="en-US" altLang="zh-CN" sz="3600" b="1" dirty="0">
                <a:latin typeface="楷体_GB2312" pitchFamily="49" charset="-122"/>
                <a:ea typeface="楷体_GB2312" pitchFamily="49" charset="-122"/>
              </a:rPr>
              <a:t>48</a:t>
            </a:r>
            <a:r>
              <a:rPr kumimoji="1" lang="zh-CN" altLang="en-US" sz="3600" b="1" dirty="0">
                <a:latin typeface="楷体_GB2312" pitchFamily="49" charset="-122"/>
                <a:ea typeface="楷体_GB2312" pitchFamily="49" charset="-122"/>
              </a:rPr>
              <a:t>位的</a:t>
            </a:r>
            <a:r>
              <a:rPr kumimoji="1" lang="zh-CN" altLang="en-US" sz="3600" b="1" dirty="0">
                <a:latin typeface="Times New Roman" panose="02020603050405020304" pitchFamily="18" charset="0"/>
                <a:ea typeface="楷体_GB2312" pitchFamily="49" charset="-122"/>
              </a:rPr>
              <a:t>“</a:t>
            </a:r>
            <a:r>
              <a:rPr kumimoji="1" lang="zh-CN" altLang="en-US" sz="3600" b="1" dirty="0">
                <a:latin typeface="楷体_GB2312" pitchFamily="49" charset="-122"/>
                <a:ea typeface="楷体_GB2312" pitchFamily="49" charset="-122"/>
              </a:rPr>
              <a:t>每轮</a:t>
            </a:r>
            <a:r>
              <a:rPr kumimoji="1" lang="zh-CN" altLang="en-US" sz="3600" b="1" dirty="0">
                <a:latin typeface="Times New Roman" panose="02020603050405020304" pitchFamily="18" charset="0"/>
                <a:ea typeface="楷体_GB2312" pitchFamily="49" charset="-122"/>
              </a:rPr>
              <a:t>”</a:t>
            </a:r>
            <a:r>
              <a:rPr kumimoji="1" lang="zh-CN" altLang="en-US" sz="3600" b="1" dirty="0">
                <a:latin typeface="楷体_GB2312" pitchFamily="49" charset="-122"/>
                <a:ea typeface="楷体_GB2312" pitchFamily="49" charset="-122"/>
              </a:rPr>
              <a:t>密钥值由</a:t>
            </a:r>
            <a:r>
              <a:rPr kumimoji="1" lang="en-US" altLang="zh-CN" sz="3600" b="1" dirty="0">
                <a:latin typeface="楷体_GB2312" pitchFamily="49" charset="-122"/>
                <a:ea typeface="楷体_GB2312" pitchFamily="49" charset="-122"/>
              </a:rPr>
              <a:t>56</a:t>
            </a:r>
            <a:r>
              <a:rPr kumimoji="1" lang="zh-CN" altLang="en-US" sz="3600" b="1" dirty="0">
                <a:latin typeface="楷体_GB2312" pitchFamily="49" charset="-122"/>
                <a:ea typeface="楷体_GB2312" pitchFamily="49" charset="-122"/>
              </a:rPr>
              <a:t>位的完整密钥得出来</a:t>
            </a:r>
            <a:r>
              <a:rPr kumimoji="1" lang="zh-CN" altLang="en-US" sz="3600" b="1" dirty="0" smtClean="0">
                <a:latin typeface="楷体_GB2312" pitchFamily="49" charset="-122"/>
                <a:ea typeface="楷体_GB2312" pitchFamily="49" charset="-122"/>
              </a:rPr>
              <a:t>。首先进行初始变换，后经过</a:t>
            </a:r>
            <a:r>
              <a:rPr kumimoji="1" lang="en-US" altLang="zh-CN" sz="3600" b="1" dirty="0">
                <a:latin typeface="楷体_GB2312" pitchFamily="49" charset="-122"/>
                <a:ea typeface="楷体_GB2312" pitchFamily="49" charset="-122"/>
              </a:rPr>
              <a:t>16</a:t>
            </a:r>
            <a:r>
              <a:rPr kumimoji="1" lang="zh-CN" altLang="en-US" sz="3600" b="1" dirty="0">
                <a:latin typeface="楷体_GB2312" pitchFamily="49" charset="-122"/>
                <a:ea typeface="楷体_GB2312" pitchFamily="49" charset="-122"/>
              </a:rPr>
              <a:t>轮的迭代、乘积变换、压缩变换等，输出密文也为 </a:t>
            </a:r>
            <a:r>
              <a:rPr kumimoji="1" lang="en-US" altLang="zh-CN" sz="3600" b="1" dirty="0">
                <a:latin typeface="楷体_GB2312" pitchFamily="49" charset="-122"/>
                <a:ea typeface="楷体_GB2312" pitchFamily="49" charset="-122"/>
              </a:rPr>
              <a:t>64</a:t>
            </a:r>
            <a:r>
              <a:rPr kumimoji="1" lang="zh-CN" altLang="en-US" sz="3600" b="1" dirty="0">
                <a:latin typeface="楷体_GB2312" pitchFamily="49" charset="-122"/>
                <a:ea typeface="楷体_GB2312" pitchFamily="49" charset="-122"/>
              </a:rPr>
              <a:t>位。 </a:t>
            </a:r>
            <a:r>
              <a:rPr kumimoji="1" lang="en-US" altLang="zh-CN" sz="3600" b="1" dirty="0">
                <a:latin typeface="楷体_GB2312" pitchFamily="49" charset="-122"/>
                <a:ea typeface="楷体_GB2312" pitchFamily="49" charset="-122"/>
              </a:rPr>
              <a:t>DES</a:t>
            </a:r>
            <a:r>
              <a:rPr kumimoji="1" lang="zh-CN" altLang="en-US" sz="3600" b="1" dirty="0">
                <a:latin typeface="楷体_GB2312" pitchFamily="49" charset="-122"/>
                <a:ea typeface="楷体_GB2312" pitchFamily="49" charset="-122"/>
              </a:rPr>
              <a:t>算法的安全性完全依赖于其所用的密钥。</a:t>
            </a:r>
            <a:endParaRPr kumimoji="1" lang="zh-CN" altLang="en-US" sz="3600" b="1" dirty="0">
              <a:latin typeface="楷体_GB2312" pitchFamily="49" charset="-122"/>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5868F8B-D274-4DDA-BDEA-1942E498C580}" type="slidenum">
              <a:rPr lang="en-US" altLang="zh-CN"/>
            </a:fld>
            <a:endParaRPr lang="en-US" altLang="zh-CN"/>
          </a:p>
        </p:txBody>
      </p:sp>
      <p:sp>
        <p:nvSpPr>
          <p:cNvPr id="81923" name="Rectangle 4"/>
          <p:cNvSpPr>
            <a:spLocks noChangeArrowheads="1"/>
          </p:cNvSpPr>
          <p:nvPr/>
        </p:nvSpPr>
        <p:spPr bwMode="auto">
          <a:xfrm>
            <a:off x="1547813" y="836613"/>
            <a:ext cx="5832475" cy="6477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600">
                <a:solidFill>
                  <a:srgbClr val="003300"/>
                </a:solidFill>
              </a:rPr>
              <a:t>明文</a:t>
            </a:r>
            <a:r>
              <a:rPr lang="en-US" altLang="zh-CN" sz="3600">
                <a:solidFill>
                  <a:srgbClr val="003300"/>
                </a:solidFill>
              </a:rPr>
              <a:t>64 bit</a:t>
            </a:r>
            <a:r>
              <a:rPr lang="zh-CN" altLang="en-US" sz="3600">
                <a:solidFill>
                  <a:srgbClr val="003300"/>
                </a:solidFill>
              </a:rPr>
              <a:t>码</a:t>
            </a:r>
            <a:endParaRPr lang="zh-CN" altLang="en-US" sz="3600">
              <a:solidFill>
                <a:srgbClr val="003300"/>
              </a:solidFill>
            </a:endParaRPr>
          </a:p>
        </p:txBody>
      </p:sp>
      <p:sp>
        <p:nvSpPr>
          <p:cNvPr id="81924" name="Line 5"/>
          <p:cNvSpPr>
            <a:spLocks noChangeShapeType="1"/>
          </p:cNvSpPr>
          <p:nvPr/>
        </p:nvSpPr>
        <p:spPr bwMode="auto">
          <a:xfrm>
            <a:off x="4572000" y="260350"/>
            <a:ext cx="0" cy="576263"/>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25" name="Rectangle 6"/>
          <p:cNvSpPr>
            <a:spLocks noChangeArrowheads="1"/>
          </p:cNvSpPr>
          <p:nvPr/>
        </p:nvSpPr>
        <p:spPr bwMode="auto">
          <a:xfrm>
            <a:off x="1547813" y="1989138"/>
            <a:ext cx="5616575" cy="5762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600">
                <a:solidFill>
                  <a:srgbClr val="003300"/>
                </a:solidFill>
              </a:rPr>
              <a:t>初始变换ＩＰ</a:t>
            </a:r>
            <a:endParaRPr lang="zh-CN" altLang="en-US" sz="3600">
              <a:solidFill>
                <a:srgbClr val="003300"/>
              </a:solidFill>
            </a:endParaRPr>
          </a:p>
        </p:txBody>
      </p:sp>
      <p:sp>
        <p:nvSpPr>
          <p:cNvPr id="81926" name="Line 7"/>
          <p:cNvSpPr>
            <a:spLocks noChangeShapeType="1"/>
          </p:cNvSpPr>
          <p:nvPr/>
        </p:nvSpPr>
        <p:spPr bwMode="auto">
          <a:xfrm>
            <a:off x="4500563" y="1412875"/>
            <a:ext cx="0" cy="576263"/>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27" name="Rectangle 8"/>
          <p:cNvSpPr>
            <a:spLocks noChangeArrowheads="1"/>
          </p:cNvSpPr>
          <p:nvPr/>
        </p:nvSpPr>
        <p:spPr bwMode="auto">
          <a:xfrm>
            <a:off x="1547813" y="3141663"/>
            <a:ext cx="5616575" cy="5762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600">
                <a:solidFill>
                  <a:srgbClr val="003300"/>
                </a:solidFill>
              </a:rPr>
              <a:t>１６轮乘积变换</a:t>
            </a:r>
            <a:endParaRPr lang="zh-CN" altLang="en-US" sz="3600">
              <a:solidFill>
                <a:srgbClr val="003300"/>
              </a:solidFill>
            </a:endParaRPr>
          </a:p>
        </p:txBody>
      </p:sp>
      <p:sp>
        <p:nvSpPr>
          <p:cNvPr id="81928" name="Line 9"/>
          <p:cNvSpPr>
            <a:spLocks noChangeShapeType="1"/>
          </p:cNvSpPr>
          <p:nvPr/>
        </p:nvSpPr>
        <p:spPr bwMode="auto">
          <a:xfrm>
            <a:off x="4500563" y="2565400"/>
            <a:ext cx="0" cy="576263"/>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29" name="Rectangle 10"/>
          <p:cNvSpPr>
            <a:spLocks noChangeArrowheads="1"/>
          </p:cNvSpPr>
          <p:nvPr/>
        </p:nvSpPr>
        <p:spPr bwMode="auto">
          <a:xfrm>
            <a:off x="1547813" y="4221163"/>
            <a:ext cx="5616575" cy="5762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600">
                <a:solidFill>
                  <a:srgbClr val="003300"/>
                </a:solidFill>
              </a:rPr>
              <a:t>逆初始变换ＩＰ</a:t>
            </a:r>
            <a:r>
              <a:rPr lang="zh-CN" altLang="en-US" sz="3600" baseline="30000">
                <a:solidFill>
                  <a:srgbClr val="003300"/>
                </a:solidFill>
              </a:rPr>
              <a:t>－１</a:t>
            </a:r>
            <a:endParaRPr lang="zh-CN" altLang="en-US" sz="3600" baseline="30000">
              <a:solidFill>
                <a:srgbClr val="003300"/>
              </a:solidFill>
            </a:endParaRPr>
          </a:p>
        </p:txBody>
      </p:sp>
      <p:sp>
        <p:nvSpPr>
          <p:cNvPr id="81930" name="Line 11"/>
          <p:cNvSpPr>
            <a:spLocks noChangeShapeType="1"/>
          </p:cNvSpPr>
          <p:nvPr/>
        </p:nvSpPr>
        <p:spPr bwMode="auto">
          <a:xfrm>
            <a:off x="4500563" y="3644900"/>
            <a:ext cx="0" cy="576263"/>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1" name="Rectangle 12"/>
          <p:cNvSpPr>
            <a:spLocks noChangeArrowheads="1"/>
          </p:cNvSpPr>
          <p:nvPr/>
        </p:nvSpPr>
        <p:spPr bwMode="auto">
          <a:xfrm>
            <a:off x="1547813" y="5373688"/>
            <a:ext cx="5616575" cy="5762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600">
                <a:solidFill>
                  <a:srgbClr val="003300"/>
                </a:solidFill>
              </a:rPr>
              <a:t>密文６４</a:t>
            </a:r>
            <a:r>
              <a:rPr lang="en-US" altLang="zh-CN" sz="3600">
                <a:solidFill>
                  <a:srgbClr val="003300"/>
                </a:solidFill>
              </a:rPr>
              <a:t>bit</a:t>
            </a:r>
            <a:r>
              <a:rPr lang="zh-CN" altLang="en-US" sz="3600">
                <a:solidFill>
                  <a:srgbClr val="003300"/>
                </a:solidFill>
              </a:rPr>
              <a:t>码</a:t>
            </a:r>
            <a:endParaRPr lang="zh-CN" altLang="en-US" sz="3600">
              <a:solidFill>
                <a:srgbClr val="003300"/>
              </a:solidFill>
            </a:endParaRPr>
          </a:p>
        </p:txBody>
      </p:sp>
      <p:sp>
        <p:nvSpPr>
          <p:cNvPr id="81932" name="Line 13"/>
          <p:cNvSpPr>
            <a:spLocks noChangeShapeType="1"/>
          </p:cNvSpPr>
          <p:nvPr/>
        </p:nvSpPr>
        <p:spPr bwMode="auto">
          <a:xfrm>
            <a:off x="4500563" y="4797425"/>
            <a:ext cx="0" cy="576263"/>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3" name="Text Box 14"/>
          <p:cNvSpPr txBox="1">
            <a:spLocks noChangeArrowheads="1"/>
          </p:cNvSpPr>
          <p:nvPr/>
        </p:nvSpPr>
        <p:spPr bwMode="auto">
          <a:xfrm>
            <a:off x="4787900" y="4941888"/>
            <a:ext cx="1079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003300"/>
                </a:solidFill>
              </a:rPr>
              <a:t>输出</a:t>
            </a:r>
            <a:endParaRPr lang="zh-CN" altLang="en-US" b="1">
              <a:solidFill>
                <a:srgbClr val="003300"/>
              </a:solidFill>
            </a:endParaRPr>
          </a:p>
        </p:txBody>
      </p:sp>
      <p:sp>
        <p:nvSpPr>
          <p:cNvPr id="81934" name="Text Box 15"/>
          <p:cNvSpPr txBox="1">
            <a:spLocks noChangeArrowheads="1"/>
          </p:cNvSpPr>
          <p:nvPr/>
        </p:nvSpPr>
        <p:spPr bwMode="auto">
          <a:xfrm>
            <a:off x="3132138" y="6165850"/>
            <a:ext cx="25923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00"/>
                </a:solidFill>
              </a:rPr>
              <a:t>ＤＥＳ算法</a:t>
            </a:r>
            <a:endParaRPr lang="zh-CN" altLang="en-US" sz="2800" b="1">
              <a:solidFill>
                <a:srgbClr val="0033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C0A7367-A08D-4256-962C-C109DC6E0525}" type="slidenum">
              <a:rPr lang="en-US" altLang="zh-CN"/>
            </a:fld>
            <a:endParaRPr lang="en-US" altLang="zh-CN"/>
          </a:p>
        </p:txBody>
      </p:sp>
      <p:sp>
        <p:nvSpPr>
          <p:cNvPr id="106499" name="Rectangle 2"/>
          <p:cNvSpPr>
            <a:spLocks noChangeArrowheads="1"/>
          </p:cNvSpPr>
          <p:nvPr/>
        </p:nvSpPr>
        <p:spPr bwMode="auto">
          <a:xfrm>
            <a:off x="228600" y="152400"/>
            <a:ext cx="86106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accent2"/>
              </a:buClr>
              <a:buSzPct val="80000"/>
              <a:buFont typeface="Wingdings" panose="05000000000000000000" pitchFamily="2" charset="2"/>
              <a:buNone/>
            </a:pPr>
            <a:r>
              <a:rPr kumimoji="1" lang="en-US" altLang="zh-CN" sz="3600" b="1">
                <a:latin typeface="楷体_GB2312" pitchFamily="49" charset="-122"/>
                <a:ea typeface="楷体_GB2312" pitchFamily="49" charset="-122"/>
              </a:rPr>
              <a:t>	DES</a:t>
            </a:r>
            <a:r>
              <a:rPr kumimoji="1" lang="zh-CN" altLang="en-US" sz="3600" b="1">
                <a:latin typeface="楷体_GB2312" pitchFamily="49" charset="-122"/>
                <a:ea typeface="楷体_GB2312" pitchFamily="49" charset="-122"/>
              </a:rPr>
              <a:t>用软件进行解码需要用很长时间，而用硬件解码速度非常快，但幸运的是当时大多数黑客并没有足够的设备制造出这种硬件设备。</a:t>
            </a:r>
            <a:endParaRPr kumimoji="1" lang="zh-CN" altLang="en-US" sz="3600" b="1">
              <a:latin typeface="楷体_GB2312" pitchFamily="49" charset="-122"/>
              <a:ea typeface="楷体_GB2312" pitchFamily="49" charset="-122"/>
            </a:endParaRPr>
          </a:p>
          <a:p>
            <a:pPr marL="342900" indent="-342900">
              <a:spcBef>
                <a:spcPct val="20000"/>
              </a:spcBef>
              <a:buClr>
                <a:schemeClr val="accent2"/>
              </a:buClr>
              <a:buSzPct val="80000"/>
              <a:buFont typeface="Wingdings" panose="05000000000000000000" pitchFamily="2" charset="2"/>
              <a:buNone/>
            </a:pPr>
            <a:r>
              <a:rPr kumimoji="1" lang="zh-CN" altLang="en-US" sz="3600" b="1">
                <a:latin typeface="楷体_GB2312" pitchFamily="49" charset="-122"/>
                <a:ea typeface="楷体_GB2312" pitchFamily="49" charset="-122"/>
              </a:rPr>
              <a:t>在</a:t>
            </a:r>
            <a:r>
              <a:rPr kumimoji="1" lang="en-US" altLang="zh-CN" sz="3600" b="1">
                <a:latin typeface="楷体_GB2312" pitchFamily="49" charset="-122"/>
                <a:ea typeface="楷体_GB2312" pitchFamily="49" charset="-122"/>
              </a:rPr>
              <a:t>1977</a:t>
            </a:r>
            <a:r>
              <a:rPr kumimoji="1" lang="zh-CN" altLang="en-US" sz="3600" b="1">
                <a:latin typeface="楷体_GB2312" pitchFamily="49" charset="-122"/>
                <a:ea typeface="楷体_GB2312" pitchFamily="49" charset="-122"/>
              </a:rPr>
              <a:t>年，人们估计要耗资两千万美元才能建成一个专门计算机用于</a:t>
            </a:r>
            <a:r>
              <a:rPr kumimoji="1" lang="en-US" altLang="zh-CN" sz="3600" b="1">
                <a:latin typeface="楷体_GB2312" pitchFamily="49" charset="-122"/>
                <a:ea typeface="楷体_GB2312" pitchFamily="49" charset="-122"/>
              </a:rPr>
              <a:t>DES</a:t>
            </a:r>
            <a:r>
              <a:rPr kumimoji="1" lang="zh-CN" altLang="en-US" sz="3600" b="1">
                <a:latin typeface="楷体_GB2312" pitchFamily="49" charset="-122"/>
                <a:ea typeface="楷体_GB2312" pitchFamily="49" charset="-122"/>
              </a:rPr>
              <a:t>的解密，而且需要</a:t>
            </a:r>
            <a:r>
              <a:rPr kumimoji="1" lang="en-US" altLang="zh-CN" sz="3600" b="1">
                <a:latin typeface="楷体_GB2312" pitchFamily="49" charset="-122"/>
                <a:ea typeface="楷体_GB2312" pitchFamily="49" charset="-122"/>
              </a:rPr>
              <a:t>12</a:t>
            </a:r>
            <a:r>
              <a:rPr kumimoji="1" lang="zh-CN" altLang="en-US" sz="3600" b="1">
                <a:latin typeface="楷体_GB2312" pitchFamily="49" charset="-122"/>
                <a:ea typeface="楷体_GB2312" pitchFamily="49" charset="-122"/>
              </a:rPr>
              <a:t>个小时的破解才能得到结果。所以，当时</a:t>
            </a:r>
            <a:r>
              <a:rPr kumimoji="1" lang="en-US" altLang="zh-CN" sz="3600" b="1">
                <a:latin typeface="楷体_GB2312" pitchFamily="49" charset="-122"/>
                <a:ea typeface="楷体_GB2312" pitchFamily="49" charset="-122"/>
              </a:rPr>
              <a:t>DES</a:t>
            </a:r>
            <a:r>
              <a:rPr kumimoji="1" lang="zh-CN" altLang="en-US" sz="3600" b="1">
                <a:latin typeface="楷体_GB2312" pitchFamily="49" charset="-122"/>
                <a:ea typeface="楷体_GB2312" pitchFamily="49" charset="-122"/>
              </a:rPr>
              <a:t>被认为是一种十分强壮的加密方法。</a:t>
            </a:r>
            <a:endParaRPr kumimoji="1" lang="zh-CN" altLang="en-US" sz="3600" b="1">
              <a:latin typeface="楷体_GB2312" pitchFamily="49" charset="-122"/>
              <a:ea typeface="楷体_GB2312"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400" b="1" dirty="0">
                <a:latin typeface="楷体_GB2312" pitchFamily="49" charset="-122"/>
                <a:ea typeface="楷体_GB2312" pitchFamily="49" charset="-122"/>
              </a:rPr>
              <a:t>消息认证与数字签名</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252F366-9D16-4E2D-8F83-19469ACE8A29}" type="slidenum">
              <a:rPr lang="en-US" altLang="zh-CN"/>
            </a:fld>
            <a:endParaRPr lang="en-US" altLang="zh-CN"/>
          </a:p>
        </p:txBody>
      </p:sp>
      <p:sp>
        <p:nvSpPr>
          <p:cNvPr id="4099" name="Rectangle 4"/>
          <p:cNvSpPr>
            <a:spLocks noChangeArrowheads="1"/>
          </p:cNvSpPr>
          <p:nvPr/>
        </p:nvSpPr>
        <p:spPr bwMode="auto">
          <a:xfrm>
            <a:off x="0" y="0"/>
            <a:ext cx="9144000"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solidFill>
                  <a:schemeClr val="tx2"/>
                </a:solidFill>
                <a:latin typeface="楷体_GB2312" pitchFamily="49" charset="-122"/>
                <a:ea typeface="楷体_GB2312" pitchFamily="49" charset="-122"/>
              </a:rPr>
              <a:t>问题的提出</a:t>
            </a:r>
            <a:r>
              <a:rPr lang="en-US" altLang="zh-CN" sz="3200" b="1">
                <a:solidFill>
                  <a:schemeClr val="tx2"/>
                </a:solidFill>
                <a:latin typeface="楷体_GB2312" pitchFamily="49" charset="-122"/>
                <a:ea typeface="楷体_GB2312" pitchFamily="49" charset="-122"/>
              </a:rPr>
              <a:t>-</a:t>
            </a:r>
            <a:r>
              <a:rPr lang="zh-CN" altLang="en-US" sz="3200" b="1">
                <a:solidFill>
                  <a:schemeClr val="tx2"/>
                </a:solidFill>
                <a:latin typeface="楷体_GB2312" pitchFamily="49" charset="-122"/>
                <a:ea typeface="楷体_GB2312" pitchFamily="49" charset="-122"/>
              </a:rPr>
              <a:t>通信威胁</a:t>
            </a:r>
            <a:endParaRPr lang="zh-CN" altLang="en-US" sz="3200" b="1">
              <a:solidFill>
                <a:schemeClr val="tx2"/>
              </a:solidFill>
              <a:latin typeface="楷体_GB2312" pitchFamily="49" charset="-122"/>
              <a:ea typeface="楷体_GB2312" pitchFamily="49" charset="-122"/>
            </a:endParaRPr>
          </a:p>
          <a:p>
            <a:r>
              <a:rPr lang="en-US" altLang="zh-CN" sz="3200" b="1">
                <a:solidFill>
                  <a:srgbClr val="000066"/>
                </a:solidFill>
                <a:latin typeface="楷体_GB2312" pitchFamily="49" charset="-122"/>
                <a:ea typeface="楷体_GB2312" pitchFamily="49" charset="-122"/>
              </a:rPr>
              <a:t>1. </a:t>
            </a:r>
            <a:r>
              <a:rPr lang="zh-CN" altLang="en-US" sz="3200" b="1">
                <a:solidFill>
                  <a:srgbClr val="000066"/>
                </a:solidFill>
                <a:latin typeface="楷体_GB2312" pitchFamily="49" charset="-122"/>
                <a:ea typeface="楷体_GB2312" pitchFamily="49" charset="-122"/>
              </a:rPr>
              <a:t>泄露</a:t>
            </a:r>
            <a:r>
              <a:rPr lang="en-US" altLang="zh-CN" sz="3200" b="1">
                <a:solidFill>
                  <a:srgbClr val="000066"/>
                </a:solidFill>
                <a:latin typeface="楷体_GB2312" pitchFamily="49" charset="-122"/>
                <a:ea typeface="楷体_GB2312" pitchFamily="49" charset="-122"/>
              </a:rPr>
              <a:t>:</a:t>
            </a:r>
            <a:r>
              <a:rPr lang="zh-CN" altLang="en-US" sz="3200" b="1">
                <a:solidFill>
                  <a:srgbClr val="000066"/>
                </a:solidFill>
                <a:latin typeface="楷体_GB2312" pitchFamily="49" charset="-122"/>
                <a:ea typeface="楷体_GB2312" pitchFamily="49" charset="-122"/>
              </a:rPr>
              <a:t>把消息内容发布给任何人或没有合法密钥的进程</a:t>
            </a:r>
            <a:endParaRPr lang="zh-CN" altLang="en-US" sz="3200" b="1">
              <a:solidFill>
                <a:srgbClr val="000066"/>
              </a:solidFill>
              <a:latin typeface="楷体_GB2312" pitchFamily="49" charset="-122"/>
              <a:ea typeface="楷体_GB2312" pitchFamily="49" charset="-122"/>
            </a:endParaRPr>
          </a:p>
          <a:p>
            <a:r>
              <a:rPr lang="en-US" altLang="zh-CN" sz="3200" b="1">
                <a:solidFill>
                  <a:srgbClr val="000066"/>
                </a:solidFill>
                <a:latin typeface="楷体_GB2312" pitchFamily="49" charset="-122"/>
                <a:ea typeface="楷体_GB2312" pitchFamily="49" charset="-122"/>
              </a:rPr>
              <a:t>2. </a:t>
            </a:r>
            <a:r>
              <a:rPr lang="zh-CN" altLang="en-US" sz="3200" b="1">
                <a:solidFill>
                  <a:srgbClr val="000066"/>
                </a:solidFill>
                <a:latin typeface="楷体_GB2312" pitchFamily="49" charset="-122"/>
                <a:ea typeface="楷体_GB2312" pitchFamily="49" charset="-122"/>
              </a:rPr>
              <a:t>流量分析</a:t>
            </a:r>
            <a:r>
              <a:rPr lang="en-US" altLang="zh-CN" sz="3200" b="1">
                <a:solidFill>
                  <a:srgbClr val="000066"/>
                </a:solidFill>
                <a:latin typeface="楷体_GB2312" pitchFamily="49" charset="-122"/>
                <a:ea typeface="楷体_GB2312" pitchFamily="49" charset="-122"/>
              </a:rPr>
              <a:t>:</a:t>
            </a:r>
            <a:r>
              <a:rPr lang="zh-CN" altLang="en-US" sz="3200" b="1">
                <a:solidFill>
                  <a:srgbClr val="000066"/>
                </a:solidFill>
                <a:latin typeface="楷体_GB2312" pitchFamily="49" charset="-122"/>
                <a:ea typeface="楷体_GB2312" pitchFamily="49" charset="-122"/>
              </a:rPr>
              <a:t>发现团体之间信息流的结构模式在一个面向连接的应用中可以用来确定连接的频率和持续时间长度</a:t>
            </a:r>
            <a:endParaRPr lang="zh-CN" altLang="en-US" sz="3200" b="1">
              <a:solidFill>
                <a:srgbClr val="000066"/>
              </a:solidFill>
              <a:latin typeface="楷体_GB2312" pitchFamily="49" charset="-122"/>
              <a:ea typeface="楷体_GB2312" pitchFamily="49" charset="-122"/>
            </a:endParaRPr>
          </a:p>
          <a:p>
            <a:r>
              <a:rPr lang="en-US" altLang="zh-CN" sz="3200" b="1">
                <a:solidFill>
                  <a:srgbClr val="000066"/>
                </a:solidFill>
                <a:latin typeface="楷体_GB2312" pitchFamily="49" charset="-122"/>
                <a:ea typeface="楷体_GB2312" pitchFamily="49" charset="-122"/>
              </a:rPr>
              <a:t>3. </a:t>
            </a:r>
            <a:r>
              <a:rPr lang="zh-CN" altLang="en-US" sz="3200" b="1">
                <a:solidFill>
                  <a:srgbClr val="000066"/>
                </a:solidFill>
                <a:latin typeface="楷体_GB2312" pitchFamily="49" charset="-122"/>
                <a:ea typeface="楷体_GB2312" pitchFamily="49" charset="-122"/>
              </a:rPr>
              <a:t>伪造</a:t>
            </a:r>
            <a:r>
              <a:rPr lang="en-US" altLang="zh-CN" sz="3200" b="1">
                <a:solidFill>
                  <a:srgbClr val="000066"/>
                </a:solidFill>
                <a:latin typeface="楷体_GB2312" pitchFamily="49" charset="-122"/>
                <a:ea typeface="楷体_GB2312" pitchFamily="49" charset="-122"/>
              </a:rPr>
              <a:t>:</a:t>
            </a:r>
            <a:r>
              <a:rPr lang="zh-CN" altLang="en-US" sz="3200" b="1">
                <a:solidFill>
                  <a:srgbClr val="000066"/>
                </a:solidFill>
                <a:latin typeface="楷体_GB2312" pitchFamily="49" charset="-122"/>
                <a:ea typeface="楷体_GB2312" pitchFamily="49" charset="-122"/>
              </a:rPr>
              <a:t>从一个假冒信息源向网络中插入消息</a:t>
            </a:r>
            <a:endParaRPr lang="zh-CN" altLang="en-US" sz="3200" b="1">
              <a:solidFill>
                <a:srgbClr val="000066"/>
              </a:solidFill>
              <a:latin typeface="楷体_GB2312" pitchFamily="49" charset="-122"/>
              <a:ea typeface="楷体_GB2312" pitchFamily="49" charset="-122"/>
            </a:endParaRPr>
          </a:p>
          <a:p>
            <a:r>
              <a:rPr lang="en-US" altLang="zh-CN" sz="3200" b="1">
                <a:solidFill>
                  <a:srgbClr val="000066"/>
                </a:solidFill>
                <a:latin typeface="楷体_GB2312" pitchFamily="49" charset="-122"/>
                <a:ea typeface="楷体_GB2312" pitchFamily="49" charset="-122"/>
              </a:rPr>
              <a:t>4. </a:t>
            </a:r>
            <a:r>
              <a:rPr lang="zh-CN" altLang="en-US" sz="3200" b="1">
                <a:solidFill>
                  <a:srgbClr val="000066"/>
                </a:solidFill>
                <a:latin typeface="楷体_GB2312" pitchFamily="49" charset="-122"/>
                <a:ea typeface="楷体_GB2312" pitchFamily="49" charset="-122"/>
              </a:rPr>
              <a:t>内容修改</a:t>
            </a:r>
            <a:r>
              <a:rPr lang="en-US" altLang="zh-CN" sz="3200" b="1">
                <a:solidFill>
                  <a:srgbClr val="000066"/>
                </a:solidFill>
                <a:latin typeface="楷体_GB2312" pitchFamily="49" charset="-122"/>
                <a:ea typeface="楷体_GB2312" pitchFamily="49" charset="-122"/>
              </a:rPr>
              <a:t>:</a:t>
            </a:r>
            <a:r>
              <a:rPr lang="zh-CN" altLang="en-US" sz="3200" b="1">
                <a:solidFill>
                  <a:srgbClr val="000066"/>
                </a:solidFill>
                <a:latin typeface="楷体_GB2312" pitchFamily="49" charset="-122"/>
                <a:ea typeface="楷体_GB2312" pitchFamily="49" charset="-122"/>
              </a:rPr>
              <a:t>消息内容被插入删除变换修改</a:t>
            </a:r>
            <a:endParaRPr lang="zh-CN" altLang="en-US" sz="3200" b="1">
              <a:solidFill>
                <a:srgbClr val="000066"/>
              </a:solidFill>
              <a:latin typeface="楷体_GB2312" pitchFamily="49" charset="-122"/>
              <a:ea typeface="楷体_GB2312" pitchFamily="49" charset="-122"/>
            </a:endParaRPr>
          </a:p>
          <a:p>
            <a:r>
              <a:rPr lang="en-US" altLang="zh-CN" sz="3200" b="1">
                <a:solidFill>
                  <a:srgbClr val="000066"/>
                </a:solidFill>
                <a:latin typeface="楷体_GB2312" pitchFamily="49" charset="-122"/>
                <a:ea typeface="楷体_GB2312" pitchFamily="49" charset="-122"/>
              </a:rPr>
              <a:t>5. </a:t>
            </a:r>
            <a:r>
              <a:rPr lang="zh-CN" altLang="en-US" sz="3200" b="1">
                <a:solidFill>
                  <a:srgbClr val="000066"/>
                </a:solidFill>
                <a:latin typeface="楷体_GB2312" pitchFamily="49" charset="-122"/>
                <a:ea typeface="楷体_GB2312" pitchFamily="49" charset="-122"/>
              </a:rPr>
              <a:t>顺序修改</a:t>
            </a:r>
            <a:r>
              <a:rPr lang="en-US" altLang="zh-CN" sz="3200" b="1">
                <a:solidFill>
                  <a:srgbClr val="000066"/>
                </a:solidFill>
                <a:latin typeface="楷体_GB2312" pitchFamily="49" charset="-122"/>
                <a:ea typeface="楷体_GB2312" pitchFamily="49" charset="-122"/>
              </a:rPr>
              <a:t>:</a:t>
            </a:r>
            <a:r>
              <a:rPr lang="zh-CN" altLang="en-US" sz="3200" b="1">
                <a:solidFill>
                  <a:srgbClr val="000066"/>
                </a:solidFill>
                <a:latin typeface="楷体_GB2312" pitchFamily="49" charset="-122"/>
                <a:ea typeface="楷体_GB2312" pitchFamily="49" charset="-122"/>
              </a:rPr>
              <a:t>插入删除或重组消息序列</a:t>
            </a:r>
            <a:endParaRPr lang="zh-CN" altLang="en-US" sz="3200" b="1">
              <a:solidFill>
                <a:srgbClr val="000066"/>
              </a:solidFill>
              <a:latin typeface="楷体_GB2312" pitchFamily="49" charset="-122"/>
              <a:ea typeface="楷体_GB2312" pitchFamily="49" charset="-122"/>
            </a:endParaRPr>
          </a:p>
          <a:p>
            <a:r>
              <a:rPr lang="en-US" altLang="zh-CN" sz="3200" b="1">
                <a:solidFill>
                  <a:srgbClr val="000066"/>
                </a:solidFill>
                <a:latin typeface="楷体_GB2312" pitchFamily="49" charset="-122"/>
                <a:ea typeface="楷体_GB2312" pitchFamily="49" charset="-122"/>
              </a:rPr>
              <a:t>6. </a:t>
            </a:r>
            <a:r>
              <a:rPr lang="zh-CN" altLang="en-US" sz="3200" b="1">
                <a:solidFill>
                  <a:srgbClr val="000066"/>
                </a:solidFill>
                <a:latin typeface="楷体_GB2312" pitchFamily="49" charset="-122"/>
                <a:ea typeface="楷体_GB2312" pitchFamily="49" charset="-122"/>
              </a:rPr>
              <a:t>时间修改</a:t>
            </a:r>
            <a:r>
              <a:rPr lang="en-US" altLang="zh-CN" sz="3200" b="1">
                <a:solidFill>
                  <a:srgbClr val="000066"/>
                </a:solidFill>
                <a:latin typeface="楷体_GB2312" pitchFamily="49" charset="-122"/>
                <a:ea typeface="楷体_GB2312" pitchFamily="49" charset="-122"/>
              </a:rPr>
              <a:t>:</a:t>
            </a:r>
            <a:r>
              <a:rPr lang="zh-CN" altLang="en-US" sz="3200" b="1">
                <a:solidFill>
                  <a:srgbClr val="000066"/>
                </a:solidFill>
                <a:latin typeface="楷体_GB2312" pitchFamily="49" charset="-122"/>
                <a:ea typeface="楷体_GB2312" pitchFamily="49" charset="-122"/>
              </a:rPr>
              <a:t>消息延迟或重放</a:t>
            </a:r>
            <a:endParaRPr lang="zh-CN" altLang="en-US" sz="3200" b="1">
              <a:solidFill>
                <a:srgbClr val="000066"/>
              </a:solidFill>
              <a:latin typeface="楷体_GB2312" pitchFamily="49" charset="-122"/>
              <a:ea typeface="楷体_GB2312" pitchFamily="49" charset="-122"/>
            </a:endParaRPr>
          </a:p>
          <a:p>
            <a:r>
              <a:rPr lang="en-US" altLang="zh-CN" sz="3200" b="1">
                <a:solidFill>
                  <a:srgbClr val="000066"/>
                </a:solidFill>
                <a:latin typeface="楷体_GB2312" pitchFamily="49" charset="-122"/>
                <a:ea typeface="楷体_GB2312" pitchFamily="49" charset="-122"/>
              </a:rPr>
              <a:t>7. </a:t>
            </a:r>
            <a:r>
              <a:rPr lang="zh-CN" altLang="en-US" sz="3200" b="1">
                <a:solidFill>
                  <a:srgbClr val="000066"/>
                </a:solidFill>
                <a:latin typeface="楷体_GB2312" pitchFamily="49" charset="-122"/>
                <a:ea typeface="楷体_GB2312" pitchFamily="49" charset="-122"/>
              </a:rPr>
              <a:t>否认</a:t>
            </a:r>
            <a:r>
              <a:rPr lang="en-US" altLang="zh-CN" sz="3200" b="1">
                <a:solidFill>
                  <a:srgbClr val="000066"/>
                </a:solidFill>
                <a:latin typeface="楷体_GB2312" pitchFamily="49" charset="-122"/>
                <a:ea typeface="楷体_GB2312" pitchFamily="49" charset="-122"/>
              </a:rPr>
              <a:t>:</a:t>
            </a:r>
            <a:r>
              <a:rPr lang="zh-CN" altLang="en-US" sz="3200" b="1">
                <a:solidFill>
                  <a:srgbClr val="000066"/>
                </a:solidFill>
                <a:latin typeface="楷体_GB2312" pitchFamily="49" charset="-122"/>
                <a:ea typeface="楷体_GB2312" pitchFamily="49" charset="-122"/>
              </a:rPr>
              <a:t>接受者否认收到消息发送者否认发送过消息</a:t>
            </a:r>
            <a:endParaRPr lang="zh-CN" altLang="en-US" sz="3200" b="1">
              <a:solidFill>
                <a:srgbClr val="000066"/>
              </a:solidFill>
              <a:latin typeface="楷体_GB2312" pitchFamily="49" charset="-122"/>
              <a:ea typeface="楷体_GB2312"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0781AB-46FA-4695-8299-0683B7117E8F}" type="slidenum">
              <a:rPr lang="en-US" altLang="zh-CN"/>
            </a:fld>
            <a:endParaRPr lang="en-US" altLang="zh-CN"/>
          </a:p>
        </p:txBody>
      </p:sp>
      <p:sp>
        <p:nvSpPr>
          <p:cNvPr id="13315" name="Rectangle 0"/>
          <p:cNvSpPr>
            <a:spLocks noChangeArrowheads="1"/>
          </p:cNvSpPr>
          <p:nvPr/>
        </p:nvSpPr>
        <p:spPr bwMode="auto">
          <a:xfrm>
            <a:off x="0" y="0"/>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3200" b="1">
              <a:latin typeface="楷体_GB2312" pitchFamily="49" charset="-122"/>
              <a:ea typeface="楷体_GB2312" pitchFamily="49" charset="-122"/>
            </a:endParaRPr>
          </a:p>
        </p:txBody>
      </p:sp>
      <p:sp>
        <p:nvSpPr>
          <p:cNvPr id="13316" name="Rectangle 1"/>
          <p:cNvSpPr>
            <a:spLocks noChangeArrowheads="1"/>
          </p:cNvSpPr>
          <p:nvPr/>
        </p:nvSpPr>
        <p:spPr bwMode="auto">
          <a:xfrm>
            <a:off x="323850" y="188913"/>
            <a:ext cx="8280400" cy="558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dirty="0" smtClean="0">
                <a:solidFill>
                  <a:srgbClr val="000066"/>
                </a:solidFill>
                <a:latin typeface="楷体_GB2312" pitchFamily="49" charset="-122"/>
                <a:ea typeface="楷体_GB2312" pitchFamily="49" charset="-122"/>
              </a:rPr>
              <a:t>消息认证</a:t>
            </a:r>
            <a:endParaRPr lang="zh-CN" altLang="en-US" sz="3600" b="1" dirty="0">
              <a:solidFill>
                <a:srgbClr val="000066"/>
              </a:solidFill>
              <a:latin typeface="楷体_GB2312" pitchFamily="49" charset="-122"/>
              <a:ea typeface="楷体_GB2312" pitchFamily="49" charset="-122"/>
            </a:endParaRPr>
          </a:p>
          <a:p>
            <a:r>
              <a:rPr lang="zh-CN" altLang="en-US" sz="3600" b="1" dirty="0">
                <a:solidFill>
                  <a:srgbClr val="000066"/>
                </a:solidFill>
                <a:latin typeface="楷体_GB2312" pitchFamily="49" charset="-122"/>
                <a:ea typeface="楷体_GB2312" pitchFamily="49" charset="-122"/>
              </a:rPr>
              <a:t>可用来</a:t>
            </a:r>
            <a:r>
              <a:rPr lang="zh-CN" altLang="en-US" sz="3600" b="1" dirty="0" smtClean="0">
                <a:solidFill>
                  <a:srgbClr val="000066"/>
                </a:solidFill>
                <a:latin typeface="楷体_GB2312" pitchFamily="49" charset="-122"/>
                <a:ea typeface="楷体_GB2312" pitchFamily="49" charset="-122"/>
              </a:rPr>
              <a:t>做消息认证</a:t>
            </a:r>
            <a:r>
              <a:rPr lang="zh-CN" altLang="en-US" sz="3600" b="1" dirty="0">
                <a:solidFill>
                  <a:srgbClr val="000066"/>
                </a:solidFill>
                <a:latin typeface="楷体_GB2312" pitchFamily="49" charset="-122"/>
                <a:ea typeface="楷体_GB2312" pitchFamily="49" charset="-122"/>
              </a:rPr>
              <a:t>的函数分为三类</a:t>
            </a:r>
            <a:endParaRPr lang="zh-CN" altLang="en-US" sz="3600" b="1" dirty="0">
              <a:solidFill>
                <a:srgbClr val="000066"/>
              </a:solidFill>
              <a:latin typeface="楷体_GB2312" pitchFamily="49" charset="-122"/>
              <a:ea typeface="楷体_GB2312" pitchFamily="49" charset="-122"/>
            </a:endParaRPr>
          </a:p>
          <a:p>
            <a:r>
              <a:rPr lang="en-US" altLang="zh-CN" sz="3600" b="1" dirty="0">
                <a:solidFill>
                  <a:srgbClr val="000066"/>
                </a:solidFill>
                <a:latin typeface="楷体_GB2312" pitchFamily="49" charset="-122"/>
                <a:ea typeface="楷体_GB2312" pitchFamily="49" charset="-122"/>
              </a:rPr>
              <a:t>(1) </a:t>
            </a:r>
            <a:r>
              <a:rPr lang="zh-CN" altLang="en-US" sz="3600" b="1" dirty="0">
                <a:solidFill>
                  <a:srgbClr val="000066"/>
                </a:solidFill>
                <a:latin typeface="楷体_GB2312" pitchFamily="49" charset="-122"/>
                <a:ea typeface="楷体_GB2312" pitchFamily="49" charset="-122"/>
              </a:rPr>
              <a:t>信息加密函数</a:t>
            </a:r>
            <a:r>
              <a:rPr lang="en-US" altLang="zh-CN" sz="3600" b="1" dirty="0">
                <a:solidFill>
                  <a:srgbClr val="000066"/>
                </a:solidFill>
                <a:latin typeface="楷体_GB2312" pitchFamily="49" charset="-122"/>
                <a:ea typeface="楷体_GB2312" pitchFamily="49" charset="-122"/>
              </a:rPr>
              <a:t>(Message encryption)</a:t>
            </a:r>
            <a:endParaRPr lang="en-US" altLang="zh-CN" sz="3600" b="1" dirty="0">
              <a:solidFill>
                <a:srgbClr val="000066"/>
              </a:solidFill>
              <a:latin typeface="楷体_GB2312" pitchFamily="49" charset="-122"/>
              <a:ea typeface="楷体_GB2312" pitchFamily="49" charset="-122"/>
            </a:endParaRPr>
          </a:p>
          <a:p>
            <a:r>
              <a:rPr lang="zh-CN" altLang="en-US" sz="3600" b="1" dirty="0">
                <a:solidFill>
                  <a:srgbClr val="000066"/>
                </a:solidFill>
                <a:latin typeface="楷体_GB2312" pitchFamily="49" charset="-122"/>
                <a:ea typeface="楷体_GB2312" pitchFamily="49" charset="-122"/>
              </a:rPr>
              <a:t>用完整信息的密文作为对信息的认证</a:t>
            </a:r>
            <a:endParaRPr lang="zh-CN" altLang="en-US" sz="3600" b="1" dirty="0">
              <a:solidFill>
                <a:srgbClr val="000066"/>
              </a:solidFill>
              <a:latin typeface="楷体_GB2312" pitchFamily="49" charset="-122"/>
              <a:ea typeface="楷体_GB2312" pitchFamily="49" charset="-122"/>
            </a:endParaRPr>
          </a:p>
          <a:p>
            <a:r>
              <a:rPr lang="en-US" altLang="zh-CN" sz="3600" b="1" dirty="0">
                <a:solidFill>
                  <a:srgbClr val="000066"/>
                </a:solidFill>
                <a:latin typeface="楷体_GB2312" pitchFamily="49" charset="-122"/>
                <a:ea typeface="楷体_GB2312" pitchFamily="49" charset="-122"/>
              </a:rPr>
              <a:t>(2) </a:t>
            </a:r>
            <a:r>
              <a:rPr lang="zh-CN" altLang="en-US" sz="3600" b="1" dirty="0">
                <a:solidFill>
                  <a:srgbClr val="000066"/>
                </a:solidFill>
                <a:latin typeface="楷体_GB2312" pitchFamily="49" charset="-122"/>
                <a:ea typeface="楷体_GB2312" pitchFamily="49" charset="-122"/>
              </a:rPr>
              <a:t>信息认证码</a:t>
            </a:r>
            <a:r>
              <a:rPr lang="en-US" altLang="zh-CN" sz="3600" b="1" dirty="0">
                <a:solidFill>
                  <a:srgbClr val="000066"/>
                </a:solidFill>
                <a:latin typeface="楷体_GB2312" pitchFamily="49" charset="-122"/>
                <a:ea typeface="楷体_GB2312" pitchFamily="49" charset="-122"/>
              </a:rPr>
              <a:t>MAC(Message Authentication Code)</a:t>
            </a:r>
            <a:endParaRPr lang="en-US" altLang="zh-CN" sz="3600" b="1" dirty="0">
              <a:solidFill>
                <a:srgbClr val="000066"/>
              </a:solidFill>
              <a:latin typeface="楷体_GB2312" pitchFamily="49" charset="-122"/>
              <a:ea typeface="楷体_GB2312" pitchFamily="49" charset="-122"/>
            </a:endParaRPr>
          </a:p>
          <a:p>
            <a:r>
              <a:rPr lang="zh-CN" altLang="en-US" sz="3600" b="1" dirty="0">
                <a:solidFill>
                  <a:srgbClr val="000066"/>
                </a:solidFill>
                <a:latin typeface="楷体_GB2312" pitchFamily="49" charset="-122"/>
                <a:ea typeface="楷体_GB2312" pitchFamily="49" charset="-122"/>
              </a:rPr>
              <a:t>是对信源消息的一个编码函数</a:t>
            </a:r>
            <a:endParaRPr lang="zh-CN" altLang="en-US" sz="3600" b="1" dirty="0">
              <a:solidFill>
                <a:srgbClr val="000066"/>
              </a:solidFill>
              <a:latin typeface="楷体_GB2312" pitchFamily="49" charset="-122"/>
              <a:ea typeface="楷体_GB2312" pitchFamily="49" charset="-122"/>
            </a:endParaRPr>
          </a:p>
          <a:p>
            <a:r>
              <a:rPr lang="en-US" altLang="zh-CN" sz="3600" b="1" dirty="0">
                <a:solidFill>
                  <a:srgbClr val="000066"/>
                </a:solidFill>
                <a:latin typeface="楷体_GB2312" pitchFamily="49" charset="-122"/>
                <a:ea typeface="楷体_GB2312" pitchFamily="49" charset="-122"/>
              </a:rPr>
              <a:t>(3) </a:t>
            </a:r>
            <a:r>
              <a:rPr lang="zh-CN" altLang="en-US" sz="3600" b="1" dirty="0">
                <a:solidFill>
                  <a:srgbClr val="000066"/>
                </a:solidFill>
                <a:latin typeface="楷体_GB2312" pitchFamily="49" charset="-122"/>
                <a:ea typeface="楷体_GB2312" pitchFamily="49" charset="-122"/>
              </a:rPr>
              <a:t>散列函数</a:t>
            </a:r>
            <a:r>
              <a:rPr lang="en-US" altLang="zh-CN" sz="3600" b="1" dirty="0">
                <a:solidFill>
                  <a:srgbClr val="000066"/>
                </a:solidFill>
                <a:latin typeface="楷体_GB2312" pitchFamily="49" charset="-122"/>
                <a:ea typeface="楷体_GB2312" pitchFamily="49" charset="-122"/>
              </a:rPr>
              <a:t>(Hash Function)</a:t>
            </a:r>
            <a:endParaRPr lang="en-US" altLang="zh-CN" sz="3600" b="1" dirty="0">
              <a:solidFill>
                <a:srgbClr val="000066"/>
              </a:solidFill>
              <a:latin typeface="楷体_GB2312" pitchFamily="49" charset="-122"/>
              <a:ea typeface="楷体_GB2312" pitchFamily="49" charset="-122"/>
            </a:endParaRPr>
          </a:p>
          <a:p>
            <a:r>
              <a:rPr lang="zh-CN" altLang="en-US" sz="3600" b="1" dirty="0">
                <a:solidFill>
                  <a:srgbClr val="000066"/>
                </a:solidFill>
                <a:latin typeface="楷体_GB2312" pitchFamily="49" charset="-122"/>
                <a:ea typeface="楷体_GB2312" pitchFamily="49" charset="-122"/>
              </a:rPr>
              <a:t>是一个公开的函数，它将任意长的信息映射成一个固定长度的信息</a:t>
            </a:r>
            <a:endParaRPr lang="zh-CN" altLang="en-US" sz="3600" b="1" dirty="0">
              <a:solidFill>
                <a:srgbClr val="000066"/>
              </a:solidFill>
              <a:latin typeface="楷体_GB2312" pitchFamily="49" charset="-122"/>
              <a:ea typeface="楷体_GB2312"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B97081-74E3-44F3-8AA0-E3A5DF10D1FF}" type="slidenum">
              <a:rPr lang="en-US" altLang="zh-CN"/>
            </a:fld>
            <a:endParaRPr lang="en-US" altLang="zh-CN"/>
          </a:p>
        </p:txBody>
      </p:sp>
      <p:sp>
        <p:nvSpPr>
          <p:cNvPr id="20483" name="Rectangle 2"/>
          <p:cNvSpPr>
            <a:spLocks noChangeArrowheads="1"/>
          </p:cNvSpPr>
          <p:nvPr/>
        </p:nvSpPr>
        <p:spPr bwMode="auto">
          <a:xfrm>
            <a:off x="250825" y="188913"/>
            <a:ext cx="8893175"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accent2"/>
              </a:buClr>
              <a:buSzPct val="80000"/>
              <a:buFont typeface="Wingdings" panose="05000000000000000000" pitchFamily="2" charset="2"/>
              <a:buNone/>
            </a:pPr>
            <a:r>
              <a:rPr kumimoji="1" lang="zh-CN" altLang="en-US" sz="4000" b="1">
                <a:solidFill>
                  <a:srgbClr val="993300"/>
                </a:solidFill>
                <a:latin typeface="楷体_GB2312" pitchFamily="49" charset="-122"/>
                <a:ea typeface="楷体_GB2312" pitchFamily="49" charset="-122"/>
              </a:rPr>
              <a:t>２、数字签名</a:t>
            </a:r>
            <a:endParaRPr kumimoji="1" lang="zh-CN" altLang="en-US" sz="4000" b="1">
              <a:latin typeface="楷体_GB2312" pitchFamily="49" charset="-122"/>
              <a:ea typeface="楷体_GB2312" pitchFamily="49" charset="-122"/>
            </a:endParaRPr>
          </a:p>
          <a:p>
            <a:pPr marL="342900" indent="-342900">
              <a:spcBef>
                <a:spcPct val="20000"/>
              </a:spcBef>
              <a:buClr>
                <a:schemeClr val="accent2"/>
              </a:buClr>
              <a:buSzPct val="80000"/>
              <a:buFont typeface="Wingdings" panose="05000000000000000000" pitchFamily="2" charset="2"/>
              <a:buNone/>
            </a:pPr>
            <a:r>
              <a:rPr kumimoji="1" lang="zh-CN" altLang="en-US" sz="4000" b="1">
                <a:latin typeface="楷体_GB2312" pitchFamily="49" charset="-122"/>
                <a:ea typeface="楷体_GB2312" pitchFamily="49" charset="-122"/>
              </a:rPr>
              <a:t>数字签名技术是实现交易安全的核心技术之一，它的实现基础就是加密技术。</a:t>
            </a:r>
            <a:endParaRPr kumimoji="1" lang="zh-CN" altLang="en-US" sz="4000" b="1">
              <a:latin typeface="楷体_GB2312" pitchFamily="49" charset="-122"/>
              <a:ea typeface="楷体_GB2312" pitchFamily="49" charset="-122"/>
            </a:endParaRPr>
          </a:p>
          <a:p>
            <a:pPr marL="342900" indent="-342900">
              <a:spcBef>
                <a:spcPct val="20000"/>
              </a:spcBef>
              <a:buClr>
                <a:schemeClr val="accent2"/>
              </a:buClr>
              <a:buSzPct val="80000"/>
              <a:buFont typeface="Wingdings" panose="05000000000000000000" pitchFamily="2" charset="2"/>
              <a:buNone/>
            </a:pPr>
            <a:r>
              <a:rPr kumimoji="1" lang="zh-CN" altLang="en-US" sz="4000" b="1">
                <a:latin typeface="楷体_GB2312" pitchFamily="49" charset="-122"/>
                <a:ea typeface="楷体_GB2312" pitchFamily="49" charset="-122"/>
              </a:rPr>
              <a:t>数字签名能够实现电子文档的辨认和验证。数字签名是传统文件手写签名的模拟，能够实现用户对电子形式存放消息的认证。</a:t>
            </a:r>
            <a:endParaRPr kumimoji="1" lang="zh-CN" altLang="en-US" sz="3600" b="1">
              <a:latin typeface="楷体_GB2312" pitchFamily="49" charset="-122"/>
              <a:ea typeface="楷体_GB2312"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91E27E-EE32-4177-819C-61E5A2FAE703}" type="slidenum">
              <a:rPr lang="en-US" altLang="zh-CN"/>
            </a:fld>
            <a:endParaRPr lang="en-US" altLang="zh-CN"/>
          </a:p>
        </p:txBody>
      </p:sp>
      <p:sp>
        <p:nvSpPr>
          <p:cNvPr id="22531" name="Rectangle 4"/>
          <p:cNvSpPr>
            <a:spLocks noChangeArrowheads="1"/>
          </p:cNvSpPr>
          <p:nvPr/>
        </p:nvSpPr>
        <p:spPr bwMode="auto">
          <a:xfrm>
            <a:off x="0" y="692150"/>
            <a:ext cx="9144000" cy="497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kumimoji="1" lang="zh-CN" altLang="en-US" sz="3200" b="1">
                <a:solidFill>
                  <a:srgbClr val="000066"/>
                </a:solidFill>
                <a:latin typeface="楷体_GB2312" pitchFamily="49" charset="-122"/>
                <a:ea typeface="楷体_GB2312" pitchFamily="49" charset="-122"/>
              </a:rPr>
              <a:t>数字签名必须保证：</a:t>
            </a:r>
            <a:endParaRPr kumimoji="1" lang="zh-CN" altLang="en-US" sz="3200" b="1">
              <a:solidFill>
                <a:srgbClr val="000066"/>
              </a:solidFill>
              <a:latin typeface="楷体_GB2312" pitchFamily="49" charset="-122"/>
              <a:ea typeface="楷体_GB2312" pitchFamily="49" charset="-122"/>
            </a:endParaRPr>
          </a:p>
          <a:p>
            <a:pPr algn="just">
              <a:spcBef>
                <a:spcPct val="50000"/>
              </a:spcBef>
              <a:buFont typeface="Wingdings" panose="05000000000000000000" pitchFamily="2" charset="2"/>
              <a:buChar char="v"/>
            </a:pPr>
            <a:r>
              <a:rPr kumimoji="1" lang="zh-CN" altLang="en-US" sz="3200" b="1">
                <a:solidFill>
                  <a:srgbClr val="000066"/>
                </a:solidFill>
                <a:latin typeface="楷体_GB2312" pitchFamily="49" charset="-122"/>
                <a:ea typeface="楷体_GB2312" pitchFamily="49" charset="-122"/>
              </a:rPr>
              <a:t>可验证：签字是可以被确认的</a:t>
            </a:r>
            <a:endParaRPr kumimoji="1" lang="zh-CN" altLang="en-US" sz="3200" b="1">
              <a:solidFill>
                <a:srgbClr val="000066"/>
              </a:solidFill>
              <a:latin typeface="楷体_GB2312" pitchFamily="49" charset="-122"/>
              <a:ea typeface="楷体_GB2312" pitchFamily="49" charset="-122"/>
            </a:endParaRPr>
          </a:p>
          <a:p>
            <a:pPr algn="just">
              <a:spcBef>
                <a:spcPct val="50000"/>
              </a:spcBef>
              <a:buFont typeface="Wingdings" panose="05000000000000000000" pitchFamily="2" charset="2"/>
              <a:buChar char="v"/>
            </a:pPr>
            <a:r>
              <a:rPr kumimoji="1" lang="zh-CN" altLang="en-US" sz="3200" b="1">
                <a:solidFill>
                  <a:srgbClr val="000066"/>
                </a:solidFill>
                <a:latin typeface="楷体_GB2312" pitchFamily="49" charset="-122"/>
                <a:ea typeface="楷体_GB2312" pitchFamily="49" charset="-122"/>
              </a:rPr>
              <a:t>防抵赖：发送者事后不承认发送报文并签名；</a:t>
            </a:r>
            <a:endParaRPr kumimoji="1" lang="zh-CN" altLang="en-US" sz="3200" b="1">
              <a:solidFill>
                <a:srgbClr val="000066"/>
              </a:solidFill>
              <a:latin typeface="楷体_GB2312" pitchFamily="49" charset="-122"/>
              <a:ea typeface="楷体_GB2312" pitchFamily="49" charset="-122"/>
            </a:endParaRPr>
          </a:p>
          <a:p>
            <a:pPr algn="just">
              <a:spcBef>
                <a:spcPct val="50000"/>
              </a:spcBef>
              <a:buFont typeface="Wingdings" panose="05000000000000000000" pitchFamily="2" charset="2"/>
              <a:buChar char="v"/>
            </a:pPr>
            <a:r>
              <a:rPr kumimoji="1" lang="zh-CN" altLang="en-US" sz="3200" b="1">
                <a:solidFill>
                  <a:srgbClr val="000066"/>
                </a:solidFill>
                <a:latin typeface="楷体_GB2312" pitchFamily="49" charset="-122"/>
                <a:ea typeface="楷体_GB2312" pitchFamily="49" charset="-122"/>
              </a:rPr>
              <a:t>防假冒：攻击者冒充发送者向收方发送文件；</a:t>
            </a:r>
            <a:endParaRPr kumimoji="1" lang="zh-CN" altLang="en-US" sz="3200" b="1">
              <a:solidFill>
                <a:srgbClr val="000066"/>
              </a:solidFill>
              <a:latin typeface="楷体_GB2312" pitchFamily="49" charset="-122"/>
              <a:ea typeface="楷体_GB2312" pitchFamily="49" charset="-122"/>
            </a:endParaRPr>
          </a:p>
          <a:p>
            <a:pPr algn="just">
              <a:spcBef>
                <a:spcPct val="50000"/>
              </a:spcBef>
              <a:buFont typeface="Wingdings" panose="05000000000000000000" pitchFamily="2" charset="2"/>
              <a:buChar char="v"/>
            </a:pPr>
            <a:r>
              <a:rPr kumimoji="1" lang="zh-CN" altLang="en-US" sz="3200" b="1">
                <a:solidFill>
                  <a:srgbClr val="000066"/>
                </a:solidFill>
                <a:latin typeface="楷体_GB2312" pitchFamily="49" charset="-122"/>
                <a:ea typeface="楷体_GB2312" pitchFamily="49" charset="-122"/>
              </a:rPr>
              <a:t>防篡改：收方对收到的文件进行篡改；</a:t>
            </a:r>
            <a:endParaRPr kumimoji="1" lang="zh-CN" altLang="en-US" sz="3200" b="1">
              <a:solidFill>
                <a:srgbClr val="000066"/>
              </a:solidFill>
              <a:latin typeface="楷体_GB2312" pitchFamily="49" charset="-122"/>
              <a:ea typeface="楷体_GB2312" pitchFamily="49" charset="-122"/>
            </a:endParaRPr>
          </a:p>
          <a:p>
            <a:pPr algn="just">
              <a:spcBef>
                <a:spcPct val="50000"/>
              </a:spcBef>
              <a:buFont typeface="Wingdings" panose="05000000000000000000" pitchFamily="2" charset="2"/>
              <a:buChar char="v"/>
            </a:pPr>
            <a:r>
              <a:rPr kumimoji="1" lang="zh-CN" altLang="en-US" sz="3200" b="1">
                <a:solidFill>
                  <a:srgbClr val="000066"/>
                </a:solidFill>
                <a:latin typeface="楷体_GB2312" pitchFamily="49" charset="-122"/>
                <a:ea typeface="楷体_GB2312" pitchFamily="49" charset="-122"/>
              </a:rPr>
              <a:t>防伪造：收方伪造对报文的签名。</a:t>
            </a:r>
            <a:endParaRPr kumimoji="1" lang="zh-CN" altLang="en-US" sz="3200" b="1">
              <a:solidFill>
                <a:srgbClr val="000066"/>
              </a:solidFill>
              <a:latin typeface="楷体_GB2312" pitchFamily="49" charset="-122"/>
              <a:ea typeface="楷体_GB2312" pitchFamily="49" charset="-122"/>
            </a:endParaRPr>
          </a:p>
          <a:p>
            <a:pPr algn="just">
              <a:spcBef>
                <a:spcPct val="50000"/>
              </a:spcBef>
              <a:buFont typeface="Wingdings" panose="05000000000000000000" pitchFamily="2" charset="2"/>
              <a:buNone/>
            </a:pPr>
            <a:r>
              <a:rPr kumimoji="1" lang="zh-CN" altLang="en-US" sz="3200" b="1">
                <a:solidFill>
                  <a:srgbClr val="000066"/>
                </a:solidFill>
                <a:latin typeface="楷体_GB2312" pitchFamily="49" charset="-122"/>
                <a:ea typeface="楷体_GB2312" pitchFamily="49" charset="-122"/>
              </a:rPr>
              <a:t>签名对安全、防伪、速度要求比加密更高。</a:t>
            </a:r>
            <a:r>
              <a:rPr kumimoji="1" lang="zh-CN" altLang="en-US" sz="2400" b="1">
                <a:solidFill>
                  <a:srgbClr val="000066"/>
                </a:solidFill>
                <a:latin typeface="楷体_GB2312" pitchFamily="49" charset="-122"/>
                <a:ea typeface="楷体_GB2312" pitchFamily="49" charset="-122"/>
              </a:rPr>
              <a:t>       </a:t>
            </a:r>
            <a:endParaRPr kumimoji="1" lang="zh-CN" altLang="en-US" sz="2400" b="1">
              <a:solidFill>
                <a:srgbClr val="000066"/>
              </a:solidFill>
              <a:latin typeface="楷体_GB2312" pitchFamily="49" charset="-122"/>
              <a:ea typeface="楷体_GB2312"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1"/>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2D4927A-9AD3-4CD5-A7BB-5DE1B03BCB2B}" type="slidenum">
              <a:rPr lang="en-US" altLang="zh-CN"/>
            </a:fld>
            <a:endParaRPr lang="en-US" altLang="zh-CN"/>
          </a:p>
        </p:txBody>
      </p:sp>
      <p:pic>
        <p:nvPicPr>
          <p:cNvPr id="3891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750" y="1484313"/>
            <a:ext cx="9112250" cy="484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6" name="Rectangle 4"/>
          <p:cNvSpPr>
            <a:spLocks noChangeArrowheads="1"/>
          </p:cNvSpPr>
          <p:nvPr/>
        </p:nvSpPr>
        <p:spPr bwMode="auto">
          <a:xfrm>
            <a:off x="1073150" y="387350"/>
            <a:ext cx="74612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000" baseline="-25000" dirty="0">
                <a:solidFill>
                  <a:schemeClr val="tx2"/>
                </a:solidFill>
              </a:rPr>
              <a:t>一次安全的消息传递</a:t>
            </a:r>
            <a:endParaRPr lang="zh-CN" altLang="en-US" sz="4000" baseline="-25000" dirty="0">
              <a:solidFill>
                <a:schemeClr val="tx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000" b="1" dirty="0" smtClean="0">
                <a:ea typeface="PMingLiU" pitchFamily="18" charset="-120"/>
              </a:rPr>
              <a:t>身份认证</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4294967295"/>
          </p:nvPr>
        </p:nvSpPr>
        <p:spPr>
          <a:xfrm>
            <a:off x="7162800" y="6324600"/>
            <a:ext cx="1905000" cy="457200"/>
          </a:xfrm>
          <a:prstGeom prst="rect">
            <a:avLst/>
          </a:prstGeom>
        </p:spPr>
        <p:txBody>
          <a:bodyPr/>
          <a:lstStyle/>
          <a:p>
            <a:fld id="{8D8E1158-FD4E-4109-A16B-F3D8B5680B0A}" type="slidenum">
              <a:rPr lang="zh-CN" altLang="en-US"/>
            </a:fld>
            <a:endParaRPr lang="en-US" altLang="zh-CN"/>
          </a:p>
        </p:txBody>
      </p:sp>
      <p:sp>
        <p:nvSpPr>
          <p:cNvPr id="360450" name="Rectangle 2"/>
          <p:cNvSpPr>
            <a:spLocks noGrp="1" noChangeArrowheads="1"/>
          </p:cNvSpPr>
          <p:nvPr>
            <p:ph type="title"/>
          </p:nvPr>
        </p:nvSpPr>
        <p:spPr>
          <a:xfrm>
            <a:off x="0" y="609600"/>
            <a:ext cx="9144000" cy="617538"/>
          </a:xfrm>
        </p:spPr>
        <p:txBody>
          <a:bodyPr>
            <a:normAutofit fontScale="90000"/>
          </a:bodyPr>
          <a:lstStyle/>
          <a:p>
            <a:r>
              <a:rPr lang="zh-CN" altLang="en-US">
                <a:latin typeface="Times New Roman" panose="02020603050405020304" pitchFamily="18" charset="0"/>
              </a:rPr>
              <a:t>一、认证的基本原理 </a:t>
            </a:r>
            <a:endParaRPr lang="zh-CN" altLang="en-US">
              <a:latin typeface="Times New Roman" panose="02020603050405020304" pitchFamily="18" charset="0"/>
            </a:endParaRPr>
          </a:p>
        </p:txBody>
      </p:sp>
      <p:sp>
        <p:nvSpPr>
          <p:cNvPr id="360451" name="Rectangle 3"/>
          <p:cNvSpPr>
            <a:spLocks noChangeArrowheads="1"/>
          </p:cNvSpPr>
          <p:nvPr/>
        </p:nvSpPr>
        <p:spPr bwMode="auto">
          <a:xfrm>
            <a:off x="457200" y="1447800"/>
            <a:ext cx="83820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3200" b="1" dirty="0">
                <a:latin typeface="Times New Roman" panose="02020603050405020304" pitchFamily="18" charset="0"/>
              </a:rPr>
              <a:t>通常有三种方法验证主体身份。</a:t>
            </a:r>
            <a:endParaRPr lang="zh-CN" altLang="en-US" sz="3200" b="1" dirty="0">
              <a:latin typeface="Times New Roman" panose="02020603050405020304" pitchFamily="18" charset="0"/>
            </a:endParaRPr>
          </a:p>
          <a:p>
            <a:pPr algn="just">
              <a:spcBef>
                <a:spcPct val="50000"/>
              </a:spcBef>
            </a:pPr>
            <a:r>
              <a:rPr lang="zh-CN" altLang="en-US" sz="3200" b="1" dirty="0">
                <a:latin typeface="Times New Roman" panose="02020603050405020304" pitchFamily="18" charset="0"/>
              </a:rPr>
              <a:t>1）是只有该主体了解的秘密，如口令、密钥；</a:t>
            </a:r>
            <a:endParaRPr lang="zh-CN" altLang="en-US" sz="3200" b="1" dirty="0">
              <a:latin typeface="Times New Roman" panose="02020603050405020304" pitchFamily="18" charset="0"/>
            </a:endParaRPr>
          </a:p>
          <a:p>
            <a:pPr algn="just">
              <a:spcBef>
                <a:spcPct val="50000"/>
              </a:spcBef>
            </a:pPr>
            <a:r>
              <a:rPr lang="zh-CN" altLang="en-US" sz="3200" b="1" dirty="0">
                <a:latin typeface="Times New Roman" panose="02020603050405020304" pitchFamily="18" charset="0"/>
              </a:rPr>
              <a:t>2）是主体携带的物品，如智能卡和令牌卡；</a:t>
            </a:r>
            <a:endParaRPr lang="zh-CN" altLang="en-US" sz="3200" b="1" dirty="0">
              <a:latin typeface="Times New Roman" panose="02020603050405020304" pitchFamily="18" charset="0"/>
            </a:endParaRPr>
          </a:p>
          <a:p>
            <a:pPr algn="just">
              <a:spcBef>
                <a:spcPct val="50000"/>
              </a:spcBef>
            </a:pPr>
            <a:r>
              <a:rPr lang="zh-CN" altLang="en-US" sz="3200" b="1" dirty="0">
                <a:latin typeface="Times New Roman" panose="02020603050405020304" pitchFamily="18" charset="0"/>
              </a:rPr>
              <a:t>3）是只有该主体具有的独一无二的特征或能力，如指纹、声音、视网膜图或签字等。</a:t>
            </a:r>
            <a:endParaRPr lang="zh-CN" altLang="en-US" sz="3200" b="1" dirty="0">
              <a:latin typeface="Times New Roman" panose="02020603050405020304" pitchFamily="18" charset="0"/>
            </a:endParaRPr>
          </a:p>
          <a:p>
            <a:pPr algn="just">
              <a:spcBef>
                <a:spcPct val="50000"/>
              </a:spcBef>
            </a:pPr>
            <a:r>
              <a:rPr lang="zh-CN" altLang="en-US" sz="3200" b="1" dirty="0">
                <a:latin typeface="Times New Roman" panose="02020603050405020304" pitchFamily="18" charset="0"/>
              </a:rPr>
              <a:t>单独用一种方法进行认证不充分 </a:t>
            </a:r>
            <a:endParaRPr lang="zh-CN" altLang="en-US" sz="3200" b="1" dirty="0">
              <a:latin typeface="Times New Roman" panose="02020603050405020304" pitchFamily="18" charset="0"/>
            </a:endParaRPr>
          </a:p>
        </p:txBody>
      </p:sp>
      <p:sp>
        <p:nvSpPr>
          <p:cNvPr id="360452" name="Text Box 4"/>
          <p:cNvSpPr txBox="1">
            <a:spLocks noChangeArrowheads="1"/>
          </p:cNvSpPr>
          <p:nvPr/>
        </p:nvSpPr>
        <p:spPr bwMode="auto">
          <a:xfrm>
            <a:off x="3505200" y="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en-US" b="1">
                <a:solidFill>
                  <a:schemeClr val="bg1"/>
                </a:solidFill>
                <a:latin typeface="宋体" panose="02010600030101010101" pitchFamily="2" charset="-122"/>
              </a:rPr>
              <a:t>第</a:t>
            </a:r>
            <a:r>
              <a:rPr lang="en-US" altLang="zh-CN" b="1">
                <a:solidFill>
                  <a:schemeClr val="bg1"/>
                </a:solidFill>
                <a:latin typeface="宋体" panose="02010600030101010101" pitchFamily="2" charset="-122"/>
              </a:rPr>
              <a:t>5</a:t>
            </a:r>
            <a:r>
              <a:rPr lang="zh-CN" altLang="en-US" b="1">
                <a:solidFill>
                  <a:schemeClr val="bg1"/>
                </a:solidFill>
                <a:latin typeface="宋体" panose="02010600030101010101" pitchFamily="2" charset="-122"/>
              </a:rPr>
              <a:t>讲 认证</a:t>
            </a:r>
            <a:endParaRPr lang="zh-CN" altLang="en-US" b="1">
              <a:solidFill>
                <a:schemeClr val="bg1"/>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7162800" y="6324600"/>
            <a:ext cx="1905000" cy="457200"/>
          </a:xfrm>
          <a:prstGeom prst="rect">
            <a:avLst/>
          </a:prstGeom>
        </p:spPr>
        <p:txBody>
          <a:bodyPr/>
          <a:lstStyle/>
          <a:p>
            <a:fld id="{14C9DE1A-A0E5-4A95-9667-23DF406B4E4D}" type="slidenum">
              <a:rPr lang="zh-CN" altLang="en-US"/>
            </a:fld>
            <a:endParaRPr lang="en-US" altLang="zh-CN"/>
          </a:p>
        </p:txBody>
      </p:sp>
      <p:sp>
        <p:nvSpPr>
          <p:cNvPr id="361475" name="Rectangle 3"/>
          <p:cNvSpPr>
            <a:spLocks noChangeArrowheads="1"/>
          </p:cNvSpPr>
          <p:nvPr/>
        </p:nvSpPr>
        <p:spPr bwMode="auto">
          <a:xfrm>
            <a:off x="457200" y="685800"/>
            <a:ext cx="8382000" cy="564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2800" b="1" dirty="0">
                <a:latin typeface="Times New Roman" panose="02020603050405020304" pitchFamily="18" charset="0"/>
              </a:rPr>
              <a:t>1）口令机制</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用户名/口令认证技术：最简单、最普遍的身份识别技术，如：各类系统的登录等。</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口令具有共享秘密的属性，是相互约定的代码，只有用户和系统知道。例如，用户把他的用户名和口令送服务器，服务器操作系统鉴别该用户。</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口令有时由用户选择，有时由系统分配。通常情况下，用户先输入某种标志信息，比如用户名和</a:t>
            </a:r>
            <a:r>
              <a:rPr lang="en-US" altLang="zh-CN" sz="2800" b="1" dirty="0">
                <a:latin typeface="Times New Roman" panose="02020603050405020304" pitchFamily="18" charset="0"/>
              </a:rPr>
              <a:t>ID</a:t>
            </a:r>
            <a:r>
              <a:rPr lang="zh-CN" altLang="en-US" sz="2800" b="1" dirty="0">
                <a:latin typeface="Times New Roman" panose="02020603050405020304" pitchFamily="18" charset="0"/>
              </a:rPr>
              <a:t>号，然后系统询问用户口令，若口令与用户文件中的相匹配，用户即可进入访问。</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口令有多种，如一次性口令；还有基于时间的口令</a:t>
            </a:r>
            <a:endParaRPr lang="zh-CN" altLang="en-US" sz="2800" b="1" dirty="0">
              <a:latin typeface="Times New Roman" panose="02020603050405020304" pitchFamily="18" charset="0"/>
            </a:endParaRPr>
          </a:p>
        </p:txBody>
      </p:sp>
      <p:sp>
        <p:nvSpPr>
          <p:cNvPr id="361476" name="Text Box 4"/>
          <p:cNvSpPr txBox="1">
            <a:spLocks noChangeArrowheads="1"/>
          </p:cNvSpPr>
          <p:nvPr/>
        </p:nvSpPr>
        <p:spPr bwMode="auto">
          <a:xfrm>
            <a:off x="3505200" y="0"/>
            <a:ext cx="5638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en-US" b="1">
                <a:latin typeface="宋体" panose="02010600030101010101" pitchFamily="2" charset="-122"/>
              </a:rPr>
              <a:t>第</a:t>
            </a:r>
            <a:r>
              <a:rPr lang="en-US" altLang="zh-CN" b="1">
                <a:latin typeface="宋体" panose="02010600030101010101" pitchFamily="2" charset="-122"/>
              </a:rPr>
              <a:t>5</a:t>
            </a:r>
            <a:r>
              <a:rPr lang="zh-CN" altLang="en-US" b="1">
                <a:latin typeface="宋体" panose="02010600030101010101" pitchFamily="2" charset="-122"/>
              </a:rPr>
              <a:t>讲 认证</a:t>
            </a:r>
            <a:endParaRPr lang="zh-CN" altLang="en-US" b="1">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7162800" y="6324600"/>
            <a:ext cx="1905000" cy="457200"/>
          </a:xfrm>
          <a:prstGeom prst="rect">
            <a:avLst/>
          </a:prstGeom>
        </p:spPr>
        <p:txBody>
          <a:bodyPr/>
          <a:lstStyle/>
          <a:p>
            <a:fld id="{686F630A-3DE8-4B65-888E-F5B933D6620C}" type="slidenum">
              <a:rPr lang="zh-CN" altLang="en-US"/>
            </a:fld>
            <a:endParaRPr lang="en-US" altLang="zh-CN"/>
          </a:p>
        </p:txBody>
      </p:sp>
      <p:sp>
        <p:nvSpPr>
          <p:cNvPr id="362499" name="Rectangle 3"/>
          <p:cNvSpPr>
            <a:spLocks noChangeArrowheads="1"/>
          </p:cNvSpPr>
          <p:nvPr/>
        </p:nvSpPr>
        <p:spPr bwMode="auto">
          <a:xfrm>
            <a:off x="250825" y="685800"/>
            <a:ext cx="8893175"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2800" b="1" dirty="0" smtClean="0">
                <a:latin typeface="Times New Roman" panose="02020603050405020304" pitchFamily="18" charset="0"/>
              </a:rPr>
              <a:t>2</a:t>
            </a:r>
            <a:r>
              <a:rPr lang="zh-CN" altLang="en-US" sz="2800" b="1" dirty="0" smtClean="0">
                <a:latin typeface="Times New Roman" panose="02020603050405020304" pitchFamily="18" charset="0"/>
              </a:rPr>
              <a:t>）</a:t>
            </a:r>
            <a:r>
              <a:rPr lang="zh-CN" altLang="en-US" sz="2800" b="1" dirty="0">
                <a:latin typeface="Times New Roman" panose="02020603050405020304" pitchFamily="18" charset="0"/>
              </a:rPr>
              <a:t>智能卡</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网络通过用户拥有什么东西来识别的方法，一般是用智能卡或其它特殊形式的标志，这类标志可以从连接到计算机上的读出器读出来。访问不但需要口令，也需要使用物理智能卡。</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智能卡技术将成为用户接入和用户身份认证等安全要求的首选技术。用户将从持有认证执照的可信发行者手里取得智能卡安全设备，也可从其他公共密钥密码安全方案发行者那里获得。这样智能卡的读取器必将成为用户接入和认证安全解决方案的一个关键部分。</a:t>
            </a:r>
            <a:endParaRPr lang="zh-CN" altLang="en-US" sz="2800" b="1" dirty="0">
              <a:latin typeface="Times New Roman" panose="02020603050405020304" pitchFamily="18" charset="0"/>
            </a:endParaRPr>
          </a:p>
        </p:txBody>
      </p:sp>
      <p:sp>
        <p:nvSpPr>
          <p:cNvPr id="362500" name="Text Box 4"/>
          <p:cNvSpPr txBox="1">
            <a:spLocks noChangeArrowheads="1"/>
          </p:cNvSpPr>
          <p:nvPr/>
        </p:nvSpPr>
        <p:spPr bwMode="auto">
          <a:xfrm>
            <a:off x="3505200" y="0"/>
            <a:ext cx="5638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en-US" b="1">
                <a:latin typeface="宋体" panose="02010600030101010101" pitchFamily="2" charset="-122"/>
              </a:rPr>
              <a:t>第</a:t>
            </a:r>
            <a:r>
              <a:rPr lang="en-US" altLang="zh-CN" b="1">
                <a:latin typeface="宋体" panose="02010600030101010101" pitchFamily="2" charset="-122"/>
              </a:rPr>
              <a:t>5</a:t>
            </a:r>
            <a:r>
              <a:rPr lang="zh-CN" altLang="en-US" b="1">
                <a:latin typeface="宋体" panose="02010600030101010101" pitchFamily="2" charset="-122"/>
              </a:rPr>
              <a:t>讲 认证</a:t>
            </a:r>
            <a:endParaRPr lang="zh-CN" altLang="en-US" b="1">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7162800" y="6324600"/>
            <a:ext cx="1905000" cy="457200"/>
          </a:xfrm>
          <a:prstGeom prst="rect">
            <a:avLst/>
          </a:prstGeom>
        </p:spPr>
        <p:txBody>
          <a:bodyPr/>
          <a:lstStyle/>
          <a:p>
            <a:fld id="{60BF6C6A-BD28-4A99-B5E5-8609074C89B4}" type="slidenum">
              <a:rPr lang="zh-CN" altLang="en-US"/>
            </a:fld>
            <a:endParaRPr lang="en-US" altLang="zh-CN"/>
          </a:p>
        </p:txBody>
      </p:sp>
      <p:sp>
        <p:nvSpPr>
          <p:cNvPr id="364547" name="Rectangle 3"/>
          <p:cNvSpPr>
            <a:spLocks noChangeArrowheads="1"/>
          </p:cNvSpPr>
          <p:nvPr/>
        </p:nvSpPr>
        <p:spPr bwMode="auto">
          <a:xfrm>
            <a:off x="457200" y="685800"/>
            <a:ext cx="83820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zh-CN" sz="3200" b="1" dirty="0">
                <a:latin typeface="Times New Roman" panose="02020603050405020304" pitchFamily="18" charset="0"/>
              </a:rPr>
              <a:t>3</a:t>
            </a:r>
            <a:r>
              <a:rPr lang="zh-CN" altLang="en-US" sz="3200" b="1" dirty="0" smtClean="0">
                <a:latin typeface="Times New Roman" panose="02020603050405020304" pitchFamily="18" charset="0"/>
              </a:rPr>
              <a:t>）</a:t>
            </a:r>
            <a:r>
              <a:rPr lang="zh-CN" altLang="en-US" sz="3200" b="1" dirty="0">
                <a:latin typeface="Times New Roman" panose="02020603050405020304" pitchFamily="18" charset="0"/>
              </a:rPr>
              <a:t>主体特征认证</a:t>
            </a:r>
            <a:endParaRPr lang="zh-CN" altLang="en-US" sz="3200" b="1" dirty="0">
              <a:latin typeface="Times New Roman" panose="02020603050405020304" pitchFamily="18" charset="0"/>
            </a:endParaRPr>
          </a:p>
          <a:p>
            <a:pPr algn="just">
              <a:spcBef>
                <a:spcPct val="50000"/>
              </a:spcBef>
            </a:pPr>
            <a:r>
              <a:rPr lang="zh-CN" altLang="en-US" sz="3200" b="1" dirty="0">
                <a:latin typeface="Times New Roman" panose="02020603050405020304" pitchFamily="18" charset="0"/>
              </a:rPr>
              <a:t>目前已有的设备包括：视网膜扫描仪、声音验证设备、手型识别器等。安全性高。</a:t>
            </a:r>
            <a:endParaRPr lang="zh-CN" altLang="en-US" sz="3200" b="1" dirty="0">
              <a:latin typeface="Times New Roman" panose="02020603050405020304" pitchFamily="18" charset="0"/>
            </a:endParaRPr>
          </a:p>
          <a:p>
            <a:pPr algn="just">
              <a:spcBef>
                <a:spcPct val="50000"/>
              </a:spcBef>
            </a:pPr>
            <a:r>
              <a:rPr lang="zh-CN" altLang="en-US" sz="3200" b="1" dirty="0">
                <a:latin typeface="Times New Roman" panose="02020603050405020304" pitchFamily="18" charset="0"/>
              </a:rPr>
              <a:t>例如：系统中存储了他的指纹，他接入网络时，就必须在连接到网络的电子指纹机上提供他的指纹（这就防止他以假的指纹或其它电子信息欺骗系统），只有指纹相符才允许他访问系统。更普通的是通过视网膜膜血管分布图来识别，原理与指纹识别相同，声波纹识别也是商业系统采用的一种识别方式。 </a:t>
            </a:r>
            <a:endParaRPr lang="zh-CN" altLang="en-US" sz="3200" b="1" dirty="0">
              <a:latin typeface="Times New Roman" panose="02020603050405020304" pitchFamily="18" charset="0"/>
            </a:endParaRPr>
          </a:p>
        </p:txBody>
      </p:sp>
      <p:sp>
        <p:nvSpPr>
          <p:cNvPr id="364548" name="Text Box 4"/>
          <p:cNvSpPr txBox="1">
            <a:spLocks noChangeArrowheads="1"/>
          </p:cNvSpPr>
          <p:nvPr/>
        </p:nvSpPr>
        <p:spPr bwMode="auto">
          <a:xfrm>
            <a:off x="3505200" y="0"/>
            <a:ext cx="5638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en-US" b="1">
                <a:latin typeface="宋体" panose="02010600030101010101" pitchFamily="2" charset="-122"/>
              </a:rPr>
              <a:t>第</a:t>
            </a:r>
            <a:r>
              <a:rPr lang="en-US" altLang="zh-CN" b="1">
                <a:latin typeface="宋体" panose="02010600030101010101" pitchFamily="2" charset="-122"/>
              </a:rPr>
              <a:t>5</a:t>
            </a:r>
            <a:r>
              <a:rPr lang="zh-CN" altLang="en-US" b="1">
                <a:latin typeface="宋体" panose="02010600030101010101" pitchFamily="2" charset="-122"/>
              </a:rPr>
              <a:t>讲 认证</a:t>
            </a:r>
            <a:endParaRPr lang="zh-CN" altLang="en-US" b="1">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tx1"/>
                </a:solidFill>
                <a:latin typeface="Arial" panose="020B0604020202020204" pitchFamily="34" charset="0"/>
              </a:rPr>
            </a:fld>
            <a:endParaRPr lang="zh-CN" altLang="en-US" sz="1400" dirty="0">
              <a:solidFill>
                <a:schemeClr val="tx1"/>
              </a:solidFill>
              <a:latin typeface="Arial" panose="020B0604020202020204" pitchFamily="34" charset="0"/>
            </a:endParaRPr>
          </a:p>
        </p:txBody>
      </p:sp>
      <p:sp>
        <p:nvSpPr>
          <p:cNvPr id="29699" name="Rectangle 2"/>
          <p:cNvSpPr>
            <a:spLocks noGrp="1"/>
          </p:cNvSpPr>
          <p:nvPr>
            <p:ph type="title"/>
          </p:nvPr>
        </p:nvSpPr>
        <p:spPr>
          <a:xfrm>
            <a:off x="0" y="609600"/>
            <a:ext cx="9144000" cy="617538"/>
          </a:xfrm>
        </p:spPr>
        <p:txBody>
          <a:bodyPr vert="horz" wrap="square" lIns="91440" tIns="45720" rIns="91440" bIns="45720" anchor="b" anchorCtr="0"/>
          <a:p>
            <a:pPr eaLnBrk="1" hangingPunct="1"/>
            <a:r>
              <a:rPr lang="zh-CN" altLang="en-US" b="0" dirty="0">
                <a:solidFill>
                  <a:schemeClr val="tx1"/>
                </a:solidFill>
                <a:latin typeface="Times New Roman" panose="02020603050405020304" pitchFamily="18" charset="0"/>
              </a:rPr>
              <a:t>三、基于智能卡的身份认证 </a:t>
            </a:r>
            <a:endParaRPr lang="zh-CN" altLang="en-US" b="0" dirty="0">
              <a:solidFill>
                <a:schemeClr val="tx1"/>
              </a:solidFill>
              <a:latin typeface="Times New Roman" panose="02020603050405020304" pitchFamily="18" charset="0"/>
            </a:endParaRPr>
          </a:p>
        </p:txBody>
      </p:sp>
      <p:sp>
        <p:nvSpPr>
          <p:cNvPr id="29700"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dirty="0">
                <a:solidFill>
                  <a:schemeClr val="tx1"/>
                </a:solidFill>
                <a:latin typeface="宋体" panose="02010600030101010101" pitchFamily="2" charset="-122"/>
              </a:rPr>
              <a:t>第</a:t>
            </a:r>
            <a:r>
              <a:rPr lang="en-US" altLang="zh-CN" dirty="0">
                <a:solidFill>
                  <a:schemeClr val="tx1"/>
                </a:solidFill>
                <a:latin typeface="宋体" panose="02010600030101010101" pitchFamily="2" charset="-122"/>
              </a:rPr>
              <a:t>5</a:t>
            </a:r>
            <a:r>
              <a:rPr lang="zh-CN" altLang="en-US" dirty="0">
                <a:solidFill>
                  <a:schemeClr val="tx1"/>
                </a:solidFill>
                <a:latin typeface="宋体" panose="02010600030101010101" pitchFamily="2" charset="-122"/>
              </a:rPr>
              <a:t>讲 认证</a:t>
            </a:r>
            <a:endParaRPr lang="zh-CN" altLang="en-US" dirty="0">
              <a:solidFill>
                <a:schemeClr val="tx1"/>
              </a:solidFill>
              <a:latin typeface="宋体" panose="02010600030101010101" pitchFamily="2" charset="-122"/>
            </a:endParaRPr>
          </a:p>
        </p:txBody>
      </p:sp>
      <p:pic>
        <p:nvPicPr>
          <p:cNvPr id="29701" name="Picture 5" descr="cr_async"/>
          <p:cNvPicPr>
            <a:picLocks noChangeAspect="1"/>
          </p:cNvPicPr>
          <p:nvPr/>
        </p:nvPicPr>
        <p:blipFill>
          <a:blip r:embed="rId1"/>
          <a:stretch>
            <a:fillRect/>
          </a:stretch>
        </p:blipFill>
        <p:spPr>
          <a:xfrm>
            <a:off x="971550" y="1989138"/>
            <a:ext cx="7086600" cy="4057650"/>
          </a:xfrm>
          <a:prstGeom prst="rect">
            <a:avLst/>
          </a:prstGeom>
          <a:noFill/>
          <a:ln w="9525">
            <a:noFill/>
          </a:ln>
        </p:spPr>
      </p:pic>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accent2"/>
                </a:solidFill>
                <a:latin typeface="Arial" panose="020B0604020202020204" pitchFamily="34" charset="0"/>
              </a:rPr>
            </a:fld>
            <a:endParaRPr lang="zh-CN" altLang="en-US" sz="1400" dirty="0">
              <a:solidFill>
                <a:schemeClr val="accent2"/>
              </a:solidFill>
              <a:latin typeface="Arial" panose="020B0604020202020204" pitchFamily="34" charset="0"/>
            </a:endParaRPr>
          </a:p>
        </p:txBody>
      </p:sp>
      <p:sp>
        <p:nvSpPr>
          <p:cNvPr id="30723"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b="1" dirty="0">
                <a:solidFill>
                  <a:schemeClr val="bg1"/>
                </a:solidFill>
                <a:latin typeface="宋体" panose="02010600030101010101" pitchFamily="2" charset="-122"/>
              </a:rPr>
              <a:t>第</a:t>
            </a:r>
            <a:r>
              <a:rPr lang="en-US" altLang="zh-CN" b="1" dirty="0">
                <a:solidFill>
                  <a:schemeClr val="bg1"/>
                </a:solidFill>
                <a:latin typeface="宋体" panose="02010600030101010101" pitchFamily="2" charset="-122"/>
              </a:rPr>
              <a:t>5</a:t>
            </a:r>
            <a:r>
              <a:rPr lang="zh-CN" altLang="en-US" b="1" dirty="0">
                <a:solidFill>
                  <a:schemeClr val="bg1"/>
                </a:solidFill>
                <a:latin typeface="宋体" panose="02010600030101010101" pitchFamily="2" charset="-122"/>
              </a:rPr>
              <a:t>讲 认证</a:t>
            </a:r>
            <a:endParaRPr lang="zh-CN" altLang="en-US" b="1" dirty="0">
              <a:solidFill>
                <a:schemeClr val="bg1"/>
              </a:solidFill>
              <a:latin typeface="宋体" panose="02010600030101010101" pitchFamily="2" charset="-122"/>
            </a:endParaRPr>
          </a:p>
        </p:txBody>
      </p:sp>
      <p:sp>
        <p:nvSpPr>
          <p:cNvPr id="30724" name="Text Box 4"/>
          <p:cNvSpPr txBox="1"/>
          <p:nvPr/>
        </p:nvSpPr>
        <p:spPr>
          <a:xfrm>
            <a:off x="381000" y="671513"/>
            <a:ext cx="8382000" cy="6186487"/>
          </a:xfrm>
          <a:prstGeom prst="rect">
            <a:avLst/>
          </a:prstGeom>
          <a:noFill/>
          <a:ln w="9525">
            <a:noFill/>
          </a:ln>
        </p:spPr>
        <p:txBody>
          <a:bodyPr>
            <a:spAutoFit/>
          </a:bodyPr>
          <a:p>
            <a:pPr algn="just">
              <a:spcBef>
                <a:spcPct val="50000"/>
              </a:spcBef>
            </a:pPr>
            <a:r>
              <a:rPr lang="zh-CN" altLang="en-US" sz="3200" b="1" dirty="0">
                <a:solidFill>
                  <a:schemeClr val="tx1"/>
                </a:solidFill>
                <a:latin typeface="Times New Roman" panose="02020603050405020304" pitchFamily="18" charset="0"/>
              </a:rPr>
              <a:t>1)询问</a:t>
            </a:r>
            <a:r>
              <a:rPr lang="zh-CN" altLang="en-US" sz="3200" b="1" dirty="0">
                <a:solidFill>
                  <a:schemeClr val="tx1"/>
                </a:solidFill>
                <a:latin typeface="Tahoma" panose="020B0604030504040204" pitchFamily="34" charset="0"/>
              </a:rPr>
              <a:t>/</a:t>
            </a:r>
            <a:r>
              <a:rPr lang="zh-CN" altLang="en-US" sz="3200" b="1" dirty="0">
                <a:solidFill>
                  <a:schemeClr val="tx1"/>
                </a:solidFill>
                <a:latin typeface="Times New Roman" panose="02020603050405020304" pitchFamily="18" charset="0"/>
              </a:rPr>
              <a:t>应答认证</a:t>
            </a:r>
            <a:endParaRPr lang="zh-CN" altLang="en-US" sz="3200" b="1" dirty="0">
              <a:solidFill>
                <a:schemeClr val="tx1"/>
              </a:solidFill>
              <a:latin typeface="Tahoma" panose="020B0604030504040204" pitchFamily="34" charset="0"/>
            </a:endParaRPr>
          </a:p>
          <a:p>
            <a:pPr algn="just">
              <a:spcBef>
                <a:spcPct val="50000"/>
              </a:spcBef>
            </a:pPr>
            <a:r>
              <a:rPr lang="zh-CN" altLang="en-US" sz="3200" b="1" dirty="0">
                <a:solidFill>
                  <a:schemeClr val="tx1"/>
                </a:solidFill>
                <a:latin typeface="Tahoma" panose="020B0604030504040204" pitchFamily="34" charset="0"/>
              </a:rPr>
              <a:t>    </a:t>
            </a:r>
            <a:r>
              <a:rPr lang="zh-CN" altLang="en-US" sz="3200" b="1" dirty="0">
                <a:solidFill>
                  <a:schemeClr val="tx1"/>
                </a:solidFill>
                <a:latin typeface="Times New Roman" panose="02020603050405020304" pitchFamily="18" charset="0"/>
              </a:rPr>
              <a:t>变动因子是由服务器产生的随机数字。认证过程如下：</a:t>
            </a:r>
            <a:endParaRPr lang="zh-CN" altLang="en-US" sz="3200" b="1" dirty="0">
              <a:solidFill>
                <a:schemeClr val="tx1"/>
              </a:solidFill>
              <a:latin typeface="Tahoma" panose="020B0604030504040204" pitchFamily="34" charset="0"/>
            </a:endParaRPr>
          </a:p>
          <a:p>
            <a:pPr algn="just">
              <a:spcBef>
                <a:spcPct val="50000"/>
              </a:spcBef>
            </a:pPr>
            <a:r>
              <a:rPr lang="zh-CN" altLang="en-US" sz="3200" b="1" dirty="0">
                <a:solidFill>
                  <a:schemeClr val="tx1"/>
                </a:solidFill>
                <a:latin typeface="Times New Roman" panose="02020603050405020304" pitchFamily="18" charset="0"/>
              </a:rPr>
              <a:t>1）登录请求。客户机首先向服务器发出登录请求，服务器提示用户输入用户</a:t>
            </a:r>
            <a:r>
              <a:rPr lang="en-US" altLang="zh-CN" sz="3200" b="1" dirty="0">
                <a:solidFill>
                  <a:schemeClr val="tx1"/>
                </a:solidFill>
                <a:latin typeface="Tahoma" panose="020B0604030504040204" pitchFamily="34" charset="0"/>
              </a:rPr>
              <a:t>ID</a:t>
            </a:r>
            <a:r>
              <a:rPr lang="zh-CN" altLang="en-US" sz="3200" b="1" dirty="0">
                <a:solidFill>
                  <a:schemeClr val="tx1"/>
                </a:solidFill>
                <a:latin typeface="Times New Roman" panose="02020603050405020304" pitchFamily="18" charset="0"/>
              </a:rPr>
              <a:t>和</a:t>
            </a:r>
            <a:r>
              <a:rPr lang="en-US" altLang="zh-CN" sz="3200" b="1" dirty="0">
                <a:solidFill>
                  <a:schemeClr val="tx1"/>
                </a:solidFill>
                <a:latin typeface="Tahoma" panose="020B0604030504040204" pitchFamily="34" charset="0"/>
              </a:rPr>
              <a:t>PIN </a:t>
            </a:r>
            <a:r>
              <a:rPr lang="en-US" altLang="zh-CN" sz="3200" b="1" dirty="0">
                <a:solidFill>
                  <a:schemeClr val="tx1"/>
                </a:solidFill>
                <a:latin typeface="Times New Roman" panose="02020603050405020304" pitchFamily="18" charset="0"/>
              </a:rPr>
              <a:t>。</a:t>
            </a:r>
            <a:endParaRPr lang="en-US" altLang="zh-CN" sz="3200" b="1" dirty="0">
              <a:solidFill>
                <a:schemeClr val="tx1"/>
              </a:solidFill>
              <a:latin typeface="Tahoma" panose="020B0604030504040204" pitchFamily="34" charset="0"/>
            </a:endParaRPr>
          </a:p>
          <a:p>
            <a:pPr algn="just">
              <a:spcBef>
                <a:spcPct val="50000"/>
              </a:spcBef>
            </a:pPr>
            <a:r>
              <a:rPr lang="en-US" altLang="zh-CN" sz="3200" b="1" dirty="0">
                <a:solidFill>
                  <a:schemeClr val="tx1"/>
                </a:solidFill>
                <a:latin typeface="Times New Roman" panose="02020603050405020304" pitchFamily="18" charset="0"/>
              </a:rPr>
              <a:t>2）</a:t>
            </a:r>
            <a:r>
              <a:rPr lang="zh-CN" altLang="en-US" sz="3200" b="1" dirty="0">
                <a:solidFill>
                  <a:schemeClr val="tx1"/>
                </a:solidFill>
                <a:latin typeface="Times New Roman" panose="02020603050405020304" pitchFamily="18" charset="0"/>
              </a:rPr>
              <a:t>询问。用户提供</a:t>
            </a:r>
            <a:r>
              <a:rPr lang="en-US" altLang="zh-CN" sz="3200" b="1" dirty="0">
                <a:solidFill>
                  <a:schemeClr val="tx1"/>
                </a:solidFill>
                <a:latin typeface="Tahoma" panose="020B0604030504040204" pitchFamily="34" charset="0"/>
              </a:rPr>
              <a:t>ID</a:t>
            </a:r>
            <a:r>
              <a:rPr lang="zh-CN" altLang="en-US" sz="3200" b="1" dirty="0">
                <a:solidFill>
                  <a:schemeClr val="tx1"/>
                </a:solidFill>
                <a:latin typeface="Times New Roman" panose="02020603050405020304" pitchFamily="18" charset="0"/>
              </a:rPr>
              <a:t>给服务器，然后服务器提供一个随机串</a:t>
            </a:r>
            <a:r>
              <a:rPr lang="en-US" altLang="zh-CN" sz="3200" b="1" dirty="0">
                <a:solidFill>
                  <a:schemeClr val="tx1"/>
                </a:solidFill>
                <a:latin typeface="Tahoma" panose="020B0604030504040204" pitchFamily="34" charset="0"/>
              </a:rPr>
              <a:t>X</a:t>
            </a:r>
            <a:r>
              <a:rPr lang="en-US" altLang="zh-CN" sz="3200" b="1" dirty="0">
                <a:solidFill>
                  <a:schemeClr val="tx1"/>
                </a:solidFill>
                <a:latin typeface="Times New Roman" panose="02020603050405020304" pitchFamily="18" charset="0"/>
              </a:rPr>
              <a:t>（</a:t>
            </a:r>
            <a:r>
              <a:rPr lang="en-US" altLang="zh-CN" sz="3200" b="1" dirty="0">
                <a:solidFill>
                  <a:schemeClr val="tx1"/>
                </a:solidFill>
                <a:latin typeface="Tahoma" panose="020B0604030504040204" pitchFamily="34" charset="0"/>
              </a:rPr>
              <a:t>Challenge</a:t>
            </a:r>
            <a:r>
              <a:rPr lang="en-US" altLang="zh-CN" sz="3200" b="1" dirty="0">
                <a:solidFill>
                  <a:schemeClr val="tx1"/>
                </a:solidFill>
                <a:latin typeface="Times New Roman" panose="02020603050405020304" pitchFamily="18" charset="0"/>
              </a:rPr>
              <a:t>）</a:t>
            </a:r>
            <a:r>
              <a:rPr lang="zh-CN" altLang="en-US" sz="3200" b="1" dirty="0">
                <a:solidFill>
                  <a:schemeClr val="tx1"/>
                </a:solidFill>
                <a:latin typeface="Times New Roman" panose="02020603050405020304" pitchFamily="18" charset="0"/>
              </a:rPr>
              <a:t>给插在客户端的智能卡作为验证算法的输入，服务器则根据用户</a:t>
            </a:r>
            <a:r>
              <a:rPr lang="en-US" altLang="zh-CN" sz="3200" b="1" dirty="0">
                <a:solidFill>
                  <a:schemeClr val="tx1"/>
                </a:solidFill>
                <a:latin typeface="Tahoma" panose="020B0604030504040204" pitchFamily="34" charset="0"/>
              </a:rPr>
              <a:t>ID</a:t>
            </a:r>
            <a:r>
              <a:rPr lang="zh-CN" altLang="en-US" sz="3200" b="1" dirty="0">
                <a:solidFill>
                  <a:schemeClr val="tx1"/>
                </a:solidFill>
                <a:latin typeface="Times New Roman" panose="02020603050405020304" pitchFamily="18" charset="0"/>
              </a:rPr>
              <a:t>取出对应的密钥</a:t>
            </a:r>
            <a:r>
              <a:rPr lang="en-US" altLang="zh-CN" sz="3200" b="1" dirty="0">
                <a:solidFill>
                  <a:schemeClr val="tx1"/>
                </a:solidFill>
                <a:latin typeface="Tahoma" panose="020B0604030504040204" pitchFamily="34" charset="0"/>
              </a:rPr>
              <a:t>K</a:t>
            </a:r>
            <a:r>
              <a:rPr lang="zh-CN" altLang="en-US" sz="3200" b="1" dirty="0">
                <a:solidFill>
                  <a:schemeClr val="tx1"/>
                </a:solidFill>
                <a:latin typeface="Times New Roman" panose="02020603050405020304" pitchFamily="18" charset="0"/>
              </a:rPr>
              <a:t>后</a:t>
            </a:r>
            <a:r>
              <a:rPr lang="zh-CN" altLang="en-US" sz="3200" b="1" dirty="0">
                <a:solidFill>
                  <a:schemeClr val="tx1"/>
                </a:solidFill>
                <a:latin typeface="Tahoma" panose="020B0604030504040204" pitchFamily="34" charset="0"/>
              </a:rPr>
              <a:t>，</a:t>
            </a:r>
            <a:r>
              <a:rPr lang="zh-CN" altLang="en-US" sz="3200" b="1" dirty="0">
                <a:solidFill>
                  <a:schemeClr val="tx1"/>
                </a:solidFill>
                <a:latin typeface="Times New Roman" panose="02020603050405020304" pitchFamily="18" charset="0"/>
              </a:rPr>
              <a:t>利用发送给客户机的随机串</a:t>
            </a:r>
            <a:r>
              <a:rPr lang="en-US" altLang="zh-CN" sz="3200" b="1" dirty="0">
                <a:solidFill>
                  <a:schemeClr val="tx1"/>
                </a:solidFill>
                <a:latin typeface="Tahoma" panose="020B0604030504040204" pitchFamily="34" charset="0"/>
              </a:rPr>
              <a:t>X</a:t>
            </a:r>
            <a:r>
              <a:rPr lang="en-US" altLang="zh-CN" sz="3200" b="1" dirty="0">
                <a:solidFill>
                  <a:schemeClr val="tx1"/>
                </a:solidFill>
                <a:latin typeface="Times New Roman" panose="02020603050405020304" pitchFamily="18" charset="0"/>
              </a:rPr>
              <a:t>，</a:t>
            </a:r>
            <a:r>
              <a:rPr lang="zh-CN" altLang="en-US" sz="3200" b="1" dirty="0">
                <a:solidFill>
                  <a:schemeClr val="tx1"/>
                </a:solidFill>
                <a:latin typeface="Times New Roman" panose="02020603050405020304" pitchFamily="18" charset="0"/>
              </a:rPr>
              <a:t>在服务器上用加密引擎进行运算，得到运算结果</a:t>
            </a:r>
            <a:r>
              <a:rPr lang="en-US" altLang="zh-CN" sz="3200" b="1" dirty="0">
                <a:solidFill>
                  <a:schemeClr val="tx1"/>
                </a:solidFill>
                <a:latin typeface="Tahoma" panose="020B0604030504040204" pitchFamily="34" charset="0"/>
              </a:rPr>
              <a:t>RS</a:t>
            </a:r>
            <a:r>
              <a:rPr lang="en-US" altLang="zh-CN" sz="3200" b="1" dirty="0">
                <a:solidFill>
                  <a:schemeClr val="tx1"/>
                </a:solidFill>
                <a:latin typeface="Times New Roman" panose="02020603050405020304" pitchFamily="18" charset="0"/>
              </a:rPr>
              <a:t>。</a:t>
            </a:r>
            <a:endParaRPr lang="en-US" altLang="zh-CN" sz="3200" b="1" dirty="0">
              <a:solidFill>
                <a:schemeClr val="tx1"/>
              </a:solidFill>
              <a:latin typeface="Times New Roman" panose="02020603050405020304" pitchFamily="18" charset="0"/>
            </a:endParaRP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accent2"/>
                </a:solidFill>
                <a:latin typeface="Arial" panose="020B0604020202020204" pitchFamily="34" charset="0"/>
              </a:rPr>
            </a:fld>
            <a:endParaRPr lang="zh-CN" altLang="en-US" sz="1400" dirty="0">
              <a:solidFill>
                <a:schemeClr val="accent2"/>
              </a:solidFill>
              <a:latin typeface="Arial" panose="020B0604020202020204" pitchFamily="34" charset="0"/>
            </a:endParaRPr>
          </a:p>
        </p:txBody>
      </p:sp>
      <p:sp>
        <p:nvSpPr>
          <p:cNvPr id="31747"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b="1" dirty="0">
                <a:solidFill>
                  <a:schemeClr val="bg1"/>
                </a:solidFill>
                <a:latin typeface="宋体" panose="02010600030101010101" pitchFamily="2" charset="-122"/>
              </a:rPr>
              <a:t>第</a:t>
            </a:r>
            <a:r>
              <a:rPr lang="en-US" altLang="zh-CN" b="1" dirty="0">
                <a:solidFill>
                  <a:schemeClr val="bg1"/>
                </a:solidFill>
                <a:latin typeface="宋体" panose="02010600030101010101" pitchFamily="2" charset="-122"/>
              </a:rPr>
              <a:t>5</a:t>
            </a:r>
            <a:r>
              <a:rPr lang="zh-CN" altLang="en-US" b="1" dirty="0">
                <a:solidFill>
                  <a:schemeClr val="bg1"/>
                </a:solidFill>
                <a:latin typeface="宋体" panose="02010600030101010101" pitchFamily="2" charset="-122"/>
              </a:rPr>
              <a:t>讲 认证</a:t>
            </a:r>
            <a:endParaRPr lang="zh-CN" altLang="en-US" b="1" dirty="0">
              <a:solidFill>
                <a:schemeClr val="bg1"/>
              </a:solidFill>
              <a:latin typeface="宋体" panose="02010600030101010101" pitchFamily="2" charset="-122"/>
            </a:endParaRPr>
          </a:p>
        </p:txBody>
      </p:sp>
      <p:sp>
        <p:nvSpPr>
          <p:cNvPr id="31748" name="Text Box 4"/>
          <p:cNvSpPr txBox="1"/>
          <p:nvPr/>
        </p:nvSpPr>
        <p:spPr>
          <a:xfrm>
            <a:off x="457200" y="685800"/>
            <a:ext cx="8153400" cy="5942013"/>
          </a:xfrm>
          <a:prstGeom prst="rect">
            <a:avLst/>
          </a:prstGeom>
          <a:noFill/>
          <a:ln w="9525">
            <a:noFill/>
          </a:ln>
        </p:spPr>
        <p:txBody>
          <a:bodyPr>
            <a:spAutoFit/>
          </a:bodyPr>
          <a:p>
            <a:pPr algn="just">
              <a:spcBef>
                <a:spcPct val="50000"/>
              </a:spcBef>
            </a:pPr>
            <a:r>
              <a:rPr lang="en-US" altLang="zh-CN" sz="3200" b="1" dirty="0">
                <a:solidFill>
                  <a:schemeClr val="tx1"/>
                </a:solidFill>
                <a:latin typeface="Times New Roman" panose="02020603050405020304" pitchFamily="18" charset="0"/>
              </a:rPr>
              <a:t>3）</a:t>
            </a:r>
            <a:r>
              <a:rPr lang="zh-CN" altLang="en-US" sz="3200" b="1" dirty="0">
                <a:solidFill>
                  <a:schemeClr val="tx1"/>
                </a:solidFill>
                <a:latin typeface="Times New Roman" panose="02020603050405020304" pitchFamily="18" charset="0"/>
              </a:rPr>
              <a:t>应答。智能卡根据</a:t>
            </a:r>
            <a:r>
              <a:rPr lang="en-US" altLang="zh-CN" sz="3200" b="1" dirty="0">
                <a:solidFill>
                  <a:schemeClr val="tx1"/>
                </a:solidFill>
                <a:latin typeface="Tahoma" panose="020B0604030504040204" pitchFamily="34" charset="0"/>
              </a:rPr>
              <a:t>X</a:t>
            </a:r>
            <a:r>
              <a:rPr lang="zh-CN" altLang="en-US" sz="3200" b="1" dirty="0">
                <a:solidFill>
                  <a:schemeClr val="tx1"/>
                </a:solidFill>
                <a:latin typeface="Times New Roman" panose="02020603050405020304" pitchFamily="18" charset="0"/>
              </a:rPr>
              <a:t>与内在密钥</a:t>
            </a:r>
            <a:r>
              <a:rPr lang="en-US" altLang="zh-CN" sz="3200" b="1" dirty="0">
                <a:solidFill>
                  <a:schemeClr val="tx1"/>
                </a:solidFill>
                <a:latin typeface="Tahoma" panose="020B0604030504040204" pitchFamily="34" charset="0"/>
              </a:rPr>
              <a:t>K</a:t>
            </a:r>
            <a:r>
              <a:rPr lang="zh-CN" altLang="en-US" sz="3200" b="1" dirty="0">
                <a:solidFill>
                  <a:schemeClr val="tx1"/>
                </a:solidFill>
                <a:latin typeface="Times New Roman" panose="02020603050405020304" pitchFamily="18" charset="0"/>
              </a:rPr>
              <a:t>使用硬件加密引擎运算，也得到一个运算结果</a:t>
            </a:r>
            <a:r>
              <a:rPr lang="en-US" altLang="zh-CN" sz="3200" b="1" dirty="0">
                <a:solidFill>
                  <a:schemeClr val="tx1"/>
                </a:solidFill>
                <a:latin typeface="Tahoma" panose="020B0604030504040204" pitchFamily="34" charset="0"/>
              </a:rPr>
              <a:t>RC</a:t>
            </a:r>
            <a:r>
              <a:rPr lang="en-US" altLang="zh-CN" sz="3200" b="1" dirty="0">
                <a:solidFill>
                  <a:schemeClr val="tx1"/>
                </a:solidFill>
                <a:latin typeface="Times New Roman" panose="02020603050405020304" pitchFamily="18" charset="0"/>
              </a:rPr>
              <a:t>，</a:t>
            </a:r>
            <a:r>
              <a:rPr lang="zh-CN" altLang="en-US" sz="3200" b="1" dirty="0">
                <a:solidFill>
                  <a:schemeClr val="tx1"/>
                </a:solidFill>
                <a:latin typeface="Times New Roman" panose="02020603050405020304" pitchFamily="18" charset="0"/>
              </a:rPr>
              <a:t>并发送给服务器。</a:t>
            </a:r>
            <a:endParaRPr lang="zh-CN" altLang="en-US" sz="3200" b="1" dirty="0">
              <a:solidFill>
                <a:schemeClr val="tx1"/>
              </a:solidFill>
              <a:latin typeface="Tahoma" panose="020B0604030504040204" pitchFamily="34" charset="0"/>
            </a:endParaRPr>
          </a:p>
          <a:p>
            <a:pPr algn="just">
              <a:spcBef>
                <a:spcPct val="50000"/>
              </a:spcBef>
            </a:pPr>
            <a:r>
              <a:rPr lang="zh-CN" altLang="en-US" sz="3200" b="1" dirty="0">
                <a:solidFill>
                  <a:schemeClr val="tx1"/>
                </a:solidFill>
                <a:latin typeface="Times New Roman" panose="02020603050405020304" pitchFamily="18" charset="0"/>
              </a:rPr>
              <a:t>4）验证。比较</a:t>
            </a:r>
            <a:r>
              <a:rPr lang="en-US" altLang="zh-CN" sz="3200" b="1" dirty="0">
                <a:solidFill>
                  <a:schemeClr val="tx1"/>
                </a:solidFill>
                <a:latin typeface="Tahoma" panose="020B0604030504040204" pitchFamily="34" charset="0"/>
              </a:rPr>
              <a:t>RS</a:t>
            </a:r>
            <a:r>
              <a:rPr lang="zh-CN" altLang="en-US" sz="3200" b="1" dirty="0">
                <a:solidFill>
                  <a:schemeClr val="tx1"/>
                </a:solidFill>
                <a:latin typeface="Tahoma" panose="020B0604030504040204" pitchFamily="34" charset="0"/>
              </a:rPr>
              <a:t>和</a:t>
            </a:r>
            <a:r>
              <a:rPr lang="en-US" altLang="zh-CN" sz="3200" b="1" dirty="0">
                <a:solidFill>
                  <a:schemeClr val="tx1"/>
                </a:solidFill>
                <a:latin typeface="Tahoma" panose="020B0604030504040204" pitchFamily="34" charset="0"/>
              </a:rPr>
              <a:t>RC</a:t>
            </a:r>
            <a:r>
              <a:rPr lang="zh-CN" altLang="en-US" sz="3200" b="1" dirty="0">
                <a:solidFill>
                  <a:schemeClr val="tx1"/>
                </a:solidFill>
                <a:latin typeface="Times New Roman" panose="02020603050405020304" pitchFamily="18" charset="0"/>
              </a:rPr>
              <a:t>便可确定用户的合法性。</a:t>
            </a:r>
            <a:endParaRPr lang="zh-CN" altLang="en-US" sz="3200" b="1" dirty="0">
              <a:solidFill>
                <a:schemeClr val="tx1"/>
              </a:solidFill>
              <a:latin typeface="Times New Roman" panose="02020603050405020304" pitchFamily="18" charset="0"/>
            </a:endParaRPr>
          </a:p>
          <a:p>
            <a:pPr algn="just">
              <a:spcBef>
                <a:spcPct val="50000"/>
              </a:spcBef>
            </a:pPr>
            <a:r>
              <a:rPr lang="zh-CN" altLang="en-US" sz="3200" b="1" dirty="0">
                <a:solidFill>
                  <a:schemeClr val="tx1"/>
                </a:solidFill>
                <a:latin typeface="Times New Roman" panose="02020603050405020304" pitchFamily="18" charset="0"/>
              </a:rPr>
              <a:t>由于密钥存在于智能卡中，运算过程也是在智能卡中完成，密钥认证是通过加密算法来实现的，因而极大地提高了安全性。并且每当客户端有一次服务申请时，服务器便产生一个随机串给客户，即使在网上传输的认证数据被截获，也不能带来安全上的问题。</a:t>
            </a:r>
            <a:endParaRPr lang="zh-CN" altLang="en-US" sz="3200" b="1" dirty="0">
              <a:solidFill>
                <a:schemeClr val="tx1"/>
              </a:solidFill>
              <a:latin typeface="Times New Roman" panose="02020603050405020304" pitchFamily="18" charset="0"/>
            </a:endParaRP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accent2"/>
                </a:solidFill>
                <a:latin typeface="Arial" panose="020B0604020202020204" pitchFamily="34" charset="0"/>
              </a:rPr>
            </a:fld>
            <a:endParaRPr lang="zh-CN" altLang="en-US" sz="1400" dirty="0">
              <a:solidFill>
                <a:schemeClr val="accent2"/>
              </a:solidFill>
              <a:latin typeface="Arial" panose="020B0604020202020204" pitchFamily="34" charset="0"/>
            </a:endParaRPr>
          </a:p>
        </p:txBody>
      </p:sp>
      <p:sp>
        <p:nvSpPr>
          <p:cNvPr id="32771"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b="1" dirty="0">
                <a:solidFill>
                  <a:schemeClr val="bg1"/>
                </a:solidFill>
                <a:latin typeface="宋体" panose="02010600030101010101" pitchFamily="2" charset="-122"/>
              </a:rPr>
              <a:t>第</a:t>
            </a:r>
            <a:r>
              <a:rPr lang="en-US" altLang="zh-CN" b="1" dirty="0">
                <a:solidFill>
                  <a:schemeClr val="bg1"/>
                </a:solidFill>
                <a:latin typeface="宋体" panose="02010600030101010101" pitchFamily="2" charset="-122"/>
              </a:rPr>
              <a:t>5</a:t>
            </a:r>
            <a:r>
              <a:rPr lang="zh-CN" altLang="en-US" b="1" dirty="0">
                <a:solidFill>
                  <a:schemeClr val="bg1"/>
                </a:solidFill>
                <a:latin typeface="宋体" panose="02010600030101010101" pitchFamily="2" charset="-122"/>
              </a:rPr>
              <a:t>讲 认证</a:t>
            </a:r>
            <a:endParaRPr lang="zh-CN" altLang="en-US" b="1" dirty="0">
              <a:solidFill>
                <a:schemeClr val="bg1"/>
              </a:solidFill>
              <a:latin typeface="宋体" panose="02010600030101010101" pitchFamily="2" charset="-122"/>
            </a:endParaRPr>
          </a:p>
        </p:txBody>
      </p:sp>
      <p:sp>
        <p:nvSpPr>
          <p:cNvPr id="32772" name="Text Box 5"/>
          <p:cNvSpPr txBox="1">
            <a:spLocks noChangeArrowheads="1"/>
          </p:cNvSpPr>
          <p:nvPr/>
        </p:nvSpPr>
        <p:spPr bwMode="auto">
          <a:xfrm>
            <a:off x="533400" y="685800"/>
            <a:ext cx="8229600" cy="589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50000"/>
              </a:spcBef>
              <a:spcAft>
                <a:spcPct val="0"/>
              </a:spcAft>
              <a:buClrTx/>
              <a:buSzTx/>
              <a:buFontTx/>
              <a:buNone/>
              <a:defRPr/>
            </a:pP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询问/应答身份认证的优点： </a:t>
            </a:r>
            <a:endPar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AutoNum type="arabicPeriod"/>
              <a:defRPr/>
            </a:pP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没有同步的问题。 </a:t>
            </a:r>
            <a:endPar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AutoNum type="arabicPeriod"/>
              <a:defRPr/>
            </a:pP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一片认证卡可以用来存取</a:t>
            </a:r>
            <a:endParaRPr kumimoji="1" lang="en-US" altLang="zh-CN"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被不同认证服务器所保护</a:t>
            </a:r>
            <a:endParaRPr kumimoji="1" lang="en-US" altLang="zh-CN"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的系统。 </a:t>
            </a:r>
            <a:endPar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3. </a:t>
            </a: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最安全的认证方式。 </a:t>
            </a:r>
            <a:endPar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None/>
              <a:defRPr/>
            </a:pP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缺点： </a:t>
            </a:r>
            <a:endPar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AutoNum type="arabicPeriod"/>
              <a:defRPr/>
            </a:pP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使用者必须按较多的按钮，</a:t>
            </a:r>
            <a:endParaRPr kumimoji="1" lang="en-US" altLang="zh-CN"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操作较繁复。 </a:t>
            </a:r>
            <a:endPar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2. </a:t>
            </a:r>
            <a:r>
              <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比较多输入的失误。</a:t>
            </a:r>
            <a:endParaRPr kumimoji="1" lang="zh-CN" altLang="en-US" sz="26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pic>
        <p:nvPicPr>
          <p:cNvPr id="32773" name="Picture 7"/>
          <p:cNvPicPr>
            <a:picLocks noChangeAspect="1"/>
          </p:cNvPicPr>
          <p:nvPr/>
        </p:nvPicPr>
        <p:blipFill>
          <a:blip r:embed="rId1"/>
          <a:stretch>
            <a:fillRect/>
          </a:stretch>
        </p:blipFill>
        <p:spPr>
          <a:xfrm>
            <a:off x="5508625" y="1320800"/>
            <a:ext cx="2813050" cy="4622800"/>
          </a:xfrm>
          <a:prstGeom prst="rect">
            <a:avLst/>
          </a:prstGeom>
          <a:noFill/>
          <a:ln w="9525">
            <a:noFill/>
          </a:ln>
        </p:spPr>
      </p:pic>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accent2"/>
                </a:solidFill>
                <a:latin typeface="Arial" panose="020B0604020202020204" pitchFamily="34" charset="0"/>
              </a:rPr>
            </a:fld>
            <a:endParaRPr lang="zh-CN" altLang="en-US" sz="1400" dirty="0">
              <a:solidFill>
                <a:schemeClr val="accent2"/>
              </a:solidFill>
              <a:latin typeface="Arial" panose="020B0604020202020204" pitchFamily="34" charset="0"/>
            </a:endParaRPr>
          </a:p>
        </p:txBody>
      </p:sp>
      <p:sp>
        <p:nvSpPr>
          <p:cNvPr id="33795"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b="1" dirty="0">
                <a:solidFill>
                  <a:schemeClr val="bg1"/>
                </a:solidFill>
                <a:latin typeface="宋体" panose="02010600030101010101" pitchFamily="2" charset="-122"/>
              </a:rPr>
              <a:t>第</a:t>
            </a:r>
            <a:r>
              <a:rPr lang="en-US" altLang="zh-CN" b="1" dirty="0">
                <a:solidFill>
                  <a:schemeClr val="bg1"/>
                </a:solidFill>
                <a:latin typeface="宋体" panose="02010600030101010101" pitchFamily="2" charset="-122"/>
              </a:rPr>
              <a:t>5</a:t>
            </a:r>
            <a:r>
              <a:rPr lang="zh-CN" altLang="en-US" b="1" dirty="0">
                <a:solidFill>
                  <a:schemeClr val="bg1"/>
                </a:solidFill>
                <a:latin typeface="宋体" panose="02010600030101010101" pitchFamily="2" charset="-122"/>
              </a:rPr>
              <a:t>讲 认证</a:t>
            </a:r>
            <a:endParaRPr lang="zh-CN" altLang="en-US" b="1" dirty="0">
              <a:solidFill>
                <a:schemeClr val="bg1"/>
              </a:solidFill>
              <a:latin typeface="宋体" panose="02010600030101010101" pitchFamily="2" charset="-122"/>
            </a:endParaRPr>
          </a:p>
        </p:txBody>
      </p:sp>
      <p:sp>
        <p:nvSpPr>
          <p:cNvPr id="33796" name="Text Box 4"/>
          <p:cNvSpPr txBox="1"/>
          <p:nvPr/>
        </p:nvSpPr>
        <p:spPr>
          <a:xfrm>
            <a:off x="533400" y="685800"/>
            <a:ext cx="8153400" cy="5434013"/>
          </a:xfrm>
          <a:prstGeom prst="rect">
            <a:avLst/>
          </a:prstGeom>
          <a:noFill/>
          <a:ln w="9525">
            <a:noFill/>
          </a:ln>
        </p:spPr>
        <p:txBody>
          <a:bodyPr>
            <a:spAutoFit/>
          </a:bodyPr>
          <a:p>
            <a:pPr algn="just">
              <a:spcBef>
                <a:spcPct val="50000"/>
              </a:spcBef>
            </a:pPr>
            <a:r>
              <a:rPr lang="zh-CN" altLang="en-US" sz="2800" b="1" dirty="0">
                <a:solidFill>
                  <a:schemeClr val="tx1"/>
                </a:solidFill>
                <a:latin typeface="Times New Roman" panose="02020603050405020304" pitchFamily="18" charset="0"/>
              </a:rPr>
              <a:t>2)时间同步认证</a:t>
            </a:r>
            <a:endParaRPr lang="zh-CN" altLang="en-US" sz="2800" b="1" dirty="0">
              <a:solidFill>
                <a:schemeClr val="tx1"/>
              </a:solidFill>
              <a:latin typeface="Tahoma" panose="020B0604030504040204" pitchFamily="34" charset="0"/>
            </a:endParaRPr>
          </a:p>
          <a:p>
            <a:pPr algn="just">
              <a:spcBef>
                <a:spcPct val="50000"/>
              </a:spcBef>
            </a:pPr>
            <a:r>
              <a:rPr lang="zh-CN" altLang="en-US" sz="2800" b="1" dirty="0">
                <a:solidFill>
                  <a:schemeClr val="tx1"/>
                </a:solidFill>
                <a:latin typeface="Tahoma" panose="020B0604030504040204" pitchFamily="34" charset="0"/>
              </a:rPr>
              <a:t>    </a:t>
            </a:r>
            <a:r>
              <a:rPr lang="zh-CN" altLang="en-US" sz="2800" b="1" dirty="0">
                <a:solidFill>
                  <a:schemeClr val="tx1"/>
                </a:solidFill>
                <a:latin typeface="Times New Roman" panose="02020603050405020304" pitchFamily="18" charset="0"/>
              </a:rPr>
              <a:t>变动因子使用服务器端与客户端的同步时间值。认证过程如下：</a:t>
            </a:r>
            <a:endParaRPr lang="zh-CN" altLang="en-US" sz="2800" b="1" dirty="0">
              <a:solidFill>
                <a:schemeClr val="tx1"/>
              </a:solidFill>
              <a:latin typeface="Tahoma" panose="020B0604030504040204" pitchFamily="34" charset="0"/>
            </a:endParaRPr>
          </a:p>
          <a:p>
            <a:pPr algn="just">
              <a:spcBef>
                <a:spcPct val="50000"/>
              </a:spcBef>
            </a:pPr>
            <a:r>
              <a:rPr lang="zh-CN" altLang="en-US" sz="2800" b="1" dirty="0">
                <a:solidFill>
                  <a:schemeClr val="tx1"/>
                </a:solidFill>
                <a:latin typeface="Times New Roman" panose="02020603050405020304" pitchFamily="18" charset="0"/>
              </a:rPr>
              <a:t>1）用户向服务器发出登录请求，服务器提示用户输入用户</a:t>
            </a:r>
            <a:r>
              <a:rPr lang="en-US" altLang="zh-CN" sz="2800" b="1" dirty="0">
                <a:solidFill>
                  <a:schemeClr val="tx1"/>
                </a:solidFill>
                <a:latin typeface="Tahoma" panose="020B0604030504040204" pitchFamily="34" charset="0"/>
              </a:rPr>
              <a:t>ID</a:t>
            </a:r>
            <a:r>
              <a:rPr lang="zh-CN" altLang="en-US" sz="2800" b="1" dirty="0">
                <a:solidFill>
                  <a:schemeClr val="tx1"/>
                </a:solidFill>
                <a:latin typeface="Times New Roman" panose="02020603050405020304" pitchFamily="18" charset="0"/>
              </a:rPr>
              <a:t>和用户</a:t>
            </a:r>
            <a:r>
              <a:rPr lang="en-US" altLang="zh-CN" sz="2800" b="1" dirty="0">
                <a:solidFill>
                  <a:schemeClr val="tx1"/>
                </a:solidFill>
                <a:latin typeface="Tahoma" panose="020B0604030504040204" pitchFamily="34" charset="0"/>
              </a:rPr>
              <a:t>PIN</a:t>
            </a:r>
            <a:r>
              <a:rPr lang="en-US" altLang="zh-CN" sz="2800" b="1" dirty="0">
                <a:solidFill>
                  <a:schemeClr val="tx1"/>
                </a:solidFill>
                <a:latin typeface="Times New Roman" panose="02020603050405020304" pitchFamily="18" charset="0"/>
              </a:rPr>
              <a:t>。</a:t>
            </a:r>
            <a:endParaRPr lang="en-US" altLang="zh-CN" sz="2800" b="1" dirty="0">
              <a:solidFill>
                <a:schemeClr val="tx1"/>
              </a:solidFill>
              <a:latin typeface="Tahoma" panose="020B0604030504040204" pitchFamily="34" charset="0"/>
            </a:endParaRPr>
          </a:p>
          <a:p>
            <a:pPr algn="just">
              <a:spcBef>
                <a:spcPct val="50000"/>
              </a:spcBef>
            </a:pPr>
            <a:r>
              <a:rPr lang="en-US" altLang="zh-CN" sz="2800" b="1" dirty="0">
                <a:solidFill>
                  <a:schemeClr val="tx1"/>
                </a:solidFill>
                <a:latin typeface="Times New Roman" panose="02020603050405020304" pitchFamily="18" charset="0"/>
              </a:rPr>
              <a:t>2）</a:t>
            </a:r>
            <a:r>
              <a:rPr lang="zh-CN" altLang="en-US" sz="2800" b="1" dirty="0">
                <a:solidFill>
                  <a:schemeClr val="tx1"/>
                </a:solidFill>
                <a:latin typeface="Times New Roman" panose="02020603050405020304" pitchFamily="18" charset="0"/>
              </a:rPr>
              <a:t>服务器根据用户</a:t>
            </a:r>
            <a:r>
              <a:rPr lang="en-US" altLang="zh-CN" sz="2800" b="1" dirty="0">
                <a:solidFill>
                  <a:schemeClr val="tx1"/>
                </a:solidFill>
                <a:latin typeface="Tahoma" panose="020B0604030504040204" pitchFamily="34" charset="0"/>
              </a:rPr>
              <a:t>ID</a:t>
            </a:r>
            <a:r>
              <a:rPr lang="zh-CN" altLang="en-US" sz="2800" b="1" dirty="0">
                <a:solidFill>
                  <a:schemeClr val="tx1"/>
                </a:solidFill>
                <a:latin typeface="Times New Roman" panose="02020603050405020304" pitchFamily="18" charset="0"/>
              </a:rPr>
              <a:t>取出对应的密钥</a:t>
            </a:r>
            <a:r>
              <a:rPr lang="en-US" altLang="zh-CN" sz="2800" b="1" dirty="0">
                <a:solidFill>
                  <a:schemeClr val="tx1"/>
                </a:solidFill>
                <a:latin typeface="Tahoma" panose="020B0604030504040204" pitchFamily="34" charset="0"/>
              </a:rPr>
              <a:t>K</a:t>
            </a:r>
            <a:r>
              <a:rPr lang="en-US" altLang="zh-CN" sz="2800" b="1" dirty="0">
                <a:solidFill>
                  <a:schemeClr val="tx1"/>
                </a:solidFill>
                <a:latin typeface="Times New Roman" panose="02020603050405020304" pitchFamily="18" charset="0"/>
              </a:rPr>
              <a:t>，</a:t>
            </a:r>
            <a:r>
              <a:rPr lang="zh-CN" altLang="en-US" sz="2800" b="1" dirty="0">
                <a:solidFill>
                  <a:schemeClr val="tx1"/>
                </a:solidFill>
                <a:latin typeface="Times New Roman" panose="02020603050405020304" pitchFamily="18" charset="0"/>
              </a:rPr>
              <a:t>使用</a:t>
            </a:r>
            <a:r>
              <a:rPr lang="en-US" altLang="zh-CN" sz="2800" b="1" dirty="0">
                <a:solidFill>
                  <a:schemeClr val="tx1"/>
                </a:solidFill>
                <a:latin typeface="Tahoma" panose="020B0604030504040204" pitchFamily="34" charset="0"/>
              </a:rPr>
              <a:t>K</a:t>
            </a:r>
            <a:r>
              <a:rPr lang="zh-CN" altLang="en-US" sz="2800" b="1" dirty="0">
                <a:solidFill>
                  <a:schemeClr val="tx1"/>
                </a:solidFill>
                <a:latin typeface="Times New Roman" panose="02020603050405020304" pitchFamily="18" charset="0"/>
              </a:rPr>
              <a:t>与服务器时间</a:t>
            </a:r>
            <a:r>
              <a:rPr lang="en-US" altLang="zh-CN" sz="2800" b="1" dirty="0">
                <a:solidFill>
                  <a:schemeClr val="tx1"/>
                </a:solidFill>
                <a:latin typeface="Tahoma" panose="020B0604030504040204" pitchFamily="34" charset="0"/>
              </a:rPr>
              <a:t>T</a:t>
            </a:r>
            <a:r>
              <a:rPr lang="zh-CN" altLang="en-US" sz="2800" b="1" dirty="0">
                <a:solidFill>
                  <a:schemeClr val="tx1"/>
                </a:solidFill>
                <a:latin typeface="Times New Roman" panose="02020603050405020304" pitchFamily="18" charset="0"/>
              </a:rPr>
              <a:t>计算动态密码</a:t>
            </a:r>
            <a:r>
              <a:rPr lang="en-US" altLang="zh-CN" sz="2800" b="1" dirty="0">
                <a:solidFill>
                  <a:schemeClr val="tx1"/>
                </a:solidFill>
                <a:latin typeface="Tahoma" panose="020B0604030504040204" pitchFamily="34" charset="0"/>
              </a:rPr>
              <a:t>RS</a:t>
            </a:r>
            <a:r>
              <a:rPr lang="en-US" altLang="zh-CN" sz="2800" b="1" dirty="0">
                <a:solidFill>
                  <a:schemeClr val="tx1"/>
                </a:solidFill>
                <a:latin typeface="Times New Roman" panose="02020603050405020304" pitchFamily="18" charset="0"/>
              </a:rPr>
              <a:t>。</a:t>
            </a:r>
            <a:endParaRPr lang="en-US" altLang="zh-CN" sz="2800" b="1" dirty="0">
              <a:solidFill>
                <a:schemeClr val="tx1"/>
              </a:solidFill>
              <a:latin typeface="Tahoma" panose="020B0604030504040204" pitchFamily="34" charset="0"/>
            </a:endParaRPr>
          </a:p>
          <a:p>
            <a:pPr algn="just">
              <a:spcBef>
                <a:spcPct val="50000"/>
              </a:spcBef>
            </a:pPr>
            <a:r>
              <a:rPr lang="en-US" altLang="zh-CN" sz="2800" b="1" dirty="0">
                <a:solidFill>
                  <a:schemeClr val="tx1"/>
                </a:solidFill>
                <a:latin typeface="Times New Roman" panose="02020603050405020304" pitchFamily="18" charset="0"/>
              </a:rPr>
              <a:t>3）</a:t>
            </a:r>
            <a:r>
              <a:rPr lang="zh-CN" altLang="en-US" sz="2800" b="1" dirty="0">
                <a:solidFill>
                  <a:schemeClr val="tx1"/>
                </a:solidFill>
                <a:latin typeface="Times New Roman" panose="02020603050405020304" pitchFamily="18" charset="0"/>
              </a:rPr>
              <a:t>智能卡根据内在的密钥</a:t>
            </a:r>
            <a:r>
              <a:rPr lang="en-US" altLang="zh-CN" sz="2800" b="1" dirty="0">
                <a:solidFill>
                  <a:schemeClr val="tx1"/>
                </a:solidFill>
                <a:latin typeface="Tahoma" panose="020B0604030504040204" pitchFamily="34" charset="0"/>
              </a:rPr>
              <a:t>K</a:t>
            </a:r>
            <a:r>
              <a:rPr lang="zh-CN" altLang="en-US" sz="2800" b="1" dirty="0">
                <a:solidFill>
                  <a:schemeClr val="tx1"/>
                </a:solidFill>
                <a:latin typeface="Times New Roman" panose="02020603050405020304" pitchFamily="18" charset="0"/>
              </a:rPr>
              <a:t>与客户机时间</a:t>
            </a:r>
            <a:r>
              <a:rPr lang="en-US" altLang="zh-CN" sz="2800" b="1" dirty="0">
                <a:solidFill>
                  <a:schemeClr val="tx1"/>
                </a:solidFill>
                <a:latin typeface="Tahoma" panose="020B0604030504040204" pitchFamily="34" charset="0"/>
              </a:rPr>
              <a:t>T</a:t>
            </a:r>
            <a:r>
              <a:rPr lang="zh-CN" altLang="en-US" sz="2800" b="1" dirty="0">
                <a:solidFill>
                  <a:schemeClr val="tx1"/>
                </a:solidFill>
                <a:latin typeface="Times New Roman" panose="02020603050405020304" pitchFamily="18" charset="0"/>
              </a:rPr>
              <a:t>使用相同的专用算法计算动态密码</a:t>
            </a:r>
            <a:r>
              <a:rPr lang="en-US" altLang="zh-CN" sz="2800" b="1" dirty="0">
                <a:solidFill>
                  <a:schemeClr val="tx1"/>
                </a:solidFill>
                <a:latin typeface="Tahoma" panose="020B0604030504040204" pitchFamily="34" charset="0"/>
              </a:rPr>
              <a:t>RC</a:t>
            </a:r>
            <a:r>
              <a:rPr lang="en-US" altLang="zh-CN" sz="2800" b="1" dirty="0">
                <a:solidFill>
                  <a:schemeClr val="tx1"/>
                </a:solidFill>
                <a:latin typeface="Times New Roman" panose="02020603050405020304" pitchFamily="18" charset="0"/>
              </a:rPr>
              <a:t>，</a:t>
            </a:r>
            <a:r>
              <a:rPr lang="zh-CN" altLang="en-US" sz="2800" b="1" dirty="0">
                <a:solidFill>
                  <a:schemeClr val="tx1"/>
                </a:solidFill>
                <a:latin typeface="Times New Roman" panose="02020603050405020304" pitchFamily="18" charset="0"/>
              </a:rPr>
              <a:t>并发送给服务器。</a:t>
            </a:r>
            <a:endParaRPr lang="zh-CN" altLang="en-US" sz="2800" b="1" dirty="0">
              <a:solidFill>
                <a:schemeClr val="tx1"/>
              </a:solidFill>
              <a:latin typeface="Tahoma" panose="020B0604030504040204" pitchFamily="34" charset="0"/>
            </a:endParaRPr>
          </a:p>
          <a:p>
            <a:pPr algn="just">
              <a:spcBef>
                <a:spcPct val="50000"/>
              </a:spcBef>
            </a:pPr>
            <a:r>
              <a:rPr lang="zh-CN" altLang="en-US" sz="2800" b="1" dirty="0">
                <a:solidFill>
                  <a:schemeClr val="tx1"/>
                </a:solidFill>
                <a:latin typeface="Times New Roman" panose="02020603050405020304" pitchFamily="18" charset="0"/>
              </a:rPr>
              <a:t>4）服务器比较</a:t>
            </a:r>
            <a:r>
              <a:rPr lang="en-US" altLang="zh-CN" sz="2800" b="1" dirty="0">
                <a:solidFill>
                  <a:schemeClr val="tx1"/>
                </a:solidFill>
                <a:latin typeface="Tahoma" panose="020B0604030504040204" pitchFamily="34" charset="0"/>
              </a:rPr>
              <a:t>RS</a:t>
            </a:r>
            <a:r>
              <a:rPr lang="zh-CN" altLang="en-US" sz="2800" b="1" dirty="0">
                <a:solidFill>
                  <a:schemeClr val="tx1"/>
                </a:solidFill>
                <a:latin typeface="Times New Roman" panose="02020603050405020304" pitchFamily="18" charset="0"/>
              </a:rPr>
              <a:t>与</a:t>
            </a:r>
            <a:r>
              <a:rPr lang="en-US" altLang="zh-CN" sz="2800" b="1" dirty="0">
                <a:solidFill>
                  <a:schemeClr val="tx1"/>
                </a:solidFill>
                <a:latin typeface="Tahoma" panose="020B0604030504040204" pitchFamily="34" charset="0"/>
              </a:rPr>
              <a:t>RC</a:t>
            </a:r>
            <a:r>
              <a:rPr lang="en-US" altLang="zh-CN" sz="2800" b="1" dirty="0">
                <a:solidFill>
                  <a:schemeClr val="tx1"/>
                </a:solidFill>
                <a:latin typeface="Times New Roman" panose="02020603050405020304" pitchFamily="18" charset="0"/>
              </a:rPr>
              <a:t>，</a:t>
            </a:r>
            <a:r>
              <a:rPr lang="zh-CN" altLang="en-US" sz="2800" b="1" dirty="0">
                <a:solidFill>
                  <a:schemeClr val="tx1"/>
                </a:solidFill>
                <a:latin typeface="Times New Roman" panose="02020603050405020304" pitchFamily="18" charset="0"/>
              </a:rPr>
              <a:t>如果相同则用户合法。</a:t>
            </a:r>
            <a:endParaRPr lang="zh-CN" altLang="en-US" sz="2800" b="1" dirty="0">
              <a:solidFill>
                <a:schemeClr val="tx1"/>
              </a:solidFill>
              <a:latin typeface="Times New Roman" panose="02020603050405020304" pitchFamily="18" charset="0"/>
            </a:endParaRP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tx1"/>
                </a:solidFill>
                <a:latin typeface="Arial" panose="020B0604020202020204" pitchFamily="34" charset="0"/>
              </a:rPr>
            </a:fld>
            <a:endParaRPr lang="zh-CN" altLang="en-US" sz="1400" dirty="0">
              <a:solidFill>
                <a:schemeClr val="tx1"/>
              </a:solidFill>
              <a:latin typeface="Arial" panose="020B0604020202020204" pitchFamily="34" charset="0"/>
            </a:endParaRPr>
          </a:p>
        </p:txBody>
      </p:sp>
      <p:sp>
        <p:nvSpPr>
          <p:cNvPr id="34819" name="Rectangle 2"/>
          <p:cNvSpPr>
            <a:spLocks noGrp="1"/>
          </p:cNvSpPr>
          <p:nvPr>
            <p:ph type="title"/>
          </p:nvPr>
        </p:nvSpPr>
        <p:spPr>
          <a:xfrm>
            <a:off x="0" y="609600"/>
            <a:ext cx="9144000" cy="617538"/>
          </a:xfrm>
        </p:spPr>
        <p:txBody>
          <a:bodyPr vert="horz" wrap="square" lIns="91440" tIns="45720" rIns="91440" bIns="45720" anchor="b" anchorCtr="0"/>
          <a:p>
            <a:pPr eaLnBrk="1" hangingPunct="1"/>
            <a:r>
              <a:rPr lang="zh-CN" altLang="en-US" b="0" dirty="0">
                <a:solidFill>
                  <a:schemeClr val="tx1"/>
                </a:solidFill>
                <a:latin typeface="Times New Roman" panose="02020603050405020304" pitchFamily="18" charset="0"/>
              </a:rPr>
              <a:t>三、基于智能卡的身份认证 </a:t>
            </a:r>
            <a:endParaRPr lang="zh-CN" altLang="en-US" b="0" dirty="0">
              <a:solidFill>
                <a:schemeClr val="tx1"/>
              </a:solidFill>
              <a:latin typeface="Times New Roman" panose="02020603050405020304" pitchFamily="18" charset="0"/>
            </a:endParaRPr>
          </a:p>
        </p:txBody>
      </p:sp>
      <p:sp>
        <p:nvSpPr>
          <p:cNvPr id="34820"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dirty="0">
                <a:solidFill>
                  <a:schemeClr val="tx1"/>
                </a:solidFill>
                <a:latin typeface="宋体" panose="02010600030101010101" pitchFamily="2" charset="-122"/>
              </a:rPr>
              <a:t>第</a:t>
            </a:r>
            <a:r>
              <a:rPr lang="en-US" altLang="zh-CN" dirty="0">
                <a:solidFill>
                  <a:schemeClr val="tx1"/>
                </a:solidFill>
                <a:latin typeface="宋体" panose="02010600030101010101" pitchFamily="2" charset="-122"/>
              </a:rPr>
              <a:t>5</a:t>
            </a:r>
            <a:r>
              <a:rPr lang="zh-CN" altLang="en-US" dirty="0">
                <a:solidFill>
                  <a:schemeClr val="tx1"/>
                </a:solidFill>
                <a:latin typeface="宋体" panose="02010600030101010101" pitchFamily="2" charset="-122"/>
              </a:rPr>
              <a:t>讲认证</a:t>
            </a:r>
            <a:endParaRPr lang="zh-CN" altLang="en-US" dirty="0">
              <a:solidFill>
                <a:schemeClr val="tx1"/>
              </a:solidFill>
              <a:latin typeface="宋体" panose="02010600030101010101" pitchFamily="2" charset="-122"/>
            </a:endParaRPr>
          </a:p>
        </p:txBody>
      </p:sp>
      <p:sp>
        <p:nvSpPr>
          <p:cNvPr id="34821" name="Text Box 4"/>
          <p:cNvSpPr txBox="1"/>
          <p:nvPr/>
        </p:nvSpPr>
        <p:spPr>
          <a:xfrm>
            <a:off x="381000" y="1371600"/>
            <a:ext cx="8153400" cy="822325"/>
          </a:xfrm>
          <a:prstGeom prst="rect">
            <a:avLst/>
          </a:prstGeom>
          <a:noFill/>
          <a:ln w="9525">
            <a:noFill/>
          </a:ln>
        </p:spPr>
        <p:txBody>
          <a:bodyPr>
            <a:spAutoFit/>
          </a:bodyPr>
          <a:p>
            <a:pPr algn="just">
              <a:spcBef>
                <a:spcPct val="50000"/>
              </a:spcBef>
            </a:pPr>
            <a:r>
              <a:rPr lang="zh-CN" altLang="en-US" dirty="0">
                <a:solidFill>
                  <a:schemeClr val="tx1"/>
                </a:solidFill>
                <a:latin typeface="Tahoma" panose="020B0604030504040204" pitchFamily="34" charset="0"/>
              </a:rPr>
              <a:t>时间同步认证卡在一个固定期间中(通常是一分钟)产生同一个动态密码，依据时间的流逝产生不同的密码。 </a:t>
            </a:r>
            <a:endParaRPr lang="zh-CN" altLang="en-US" dirty="0">
              <a:solidFill>
                <a:schemeClr val="tx1"/>
              </a:solidFill>
              <a:latin typeface="Tahoma" panose="020B0604030504040204" pitchFamily="34" charset="0"/>
            </a:endParaRPr>
          </a:p>
        </p:txBody>
      </p:sp>
      <p:pic>
        <p:nvPicPr>
          <p:cNvPr id="34822" name="Picture 5" descr="time_sync"/>
          <p:cNvPicPr>
            <a:picLocks noChangeAspect="1"/>
          </p:cNvPicPr>
          <p:nvPr/>
        </p:nvPicPr>
        <p:blipFill>
          <a:blip r:embed="rId1"/>
          <a:stretch>
            <a:fillRect/>
          </a:stretch>
        </p:blipFill>
        <p:spPr>
          <a:xfrm>
            <a:off x="990600" y="2362200"/>
            <a:ext cx="7239000" cy="4144963"/>
          </a:xfrm>
          <a:prstGeom prst="rect">
            <a:avLst/>
          </a:prstGeom>
          <a:noFill/>
          <a:ln w="9525">
            <a:noFill/>
          </a:ln>
        </p:spPr>
      </p:pic>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tx1"/>
                </a:solidFill>
                <a:latin typeface="Arial" panose="020B0604020202020204" pitchFamily="34" charset="0"/>
              </a:rPr>
            </a:fld>
            <a:endParaRPr lang="zh-CN" altLang="en-US" sz="1400" dirty="0">
              <a:solidFill>
                <a:schemeClr val="tx1"/>
              </a:solidFill>
              <a:latin typeface="Arial" panose="020B0604020202020204" pitchFamily="34" charset="0"/>
            </a:endParaRPr>
          </a:p>
        </p:txBody>
      </p:sp>
      <p:sp>
        <p:nvSpPr>
          <p:cNvPr id="35843"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dirty="0">
                <a:solidFill>
                  <a:schemeClr val="tx1"/>
                </a:solidFill>
                <a:latin typeface="宋体" panose="02010600030101010101" pitchFamily="2" charset="-122"/>
              </a:rPr>
              <a:t>认证</a:t>
            </a:r>
            <a:endParaRPr lang="zh-CN" altLang="en-US" dirty="0">
              <a:solidFill>
                <a:schemeClr val="tx1"/>
              </a:solidFill>
              <a:latin typeface="宋体" panose="02010600030101010101" pitchFamily="2" charset="-122"/>
            </a:endParaRPr>
          </a:p>
        </p:txBody>
      </p:sp>
      <p:sp>
        <p:nvSpPr>
          <p:cNvPr id="35844" name="Text Box 6"/>
          <p:cNvSpPr txBox="1"/>
          <p:nvPr/>
        </p:nvSpPr>
        <p:spPr>
          <a:xfrm>
            <a:off x="304800" y="685800"/>
            <a:ext cx="8458200" cy="5213350"/>
          </a:xfrm>
          <a:prstGeom prst="rect">
            <a:avLst/>
          </a:prstGeom>
          <a:noFill/>
          <a:ln w="9525">
            <a:noFill/>
          </a:ln>
        </p:spPr>
        <p:txBody>
          <a:bodyPr>
            <a:spAutoFit/>
          </a:bodyPr>
          <a:p>
            <a:pPr marL="457200" indent="-457200" algn="ctr">
              <a:spcBef>
                <a:spcPct val="50000"/>
              </a:spcBef>
              <a:buNone/>
            </a:pPr>
            <a:r>
              <a:rPr lang="zh-CN" altLang="en-US" sz="3200" dirty="0">
                <a:solidFill>
                  <a:schemeClr val="tx1"/>
                </a:solidFill>
                <a:latin typeface="Tahoma" panose="020B0604030504040204" pitchFamily="34" charset="0"/>
              </a:rPr>
              <a:t>时间同步身份认证</a:t>
            </a:r>
            <a:endParaRPr lang="zh-CN" altLang="en-US" sz="3200" dirty="0">
              <a:solidFill>
                <a:schemeClr val="tx1"/>
              </a:solidFill>
              <a:latin typeface="Tahoma" panose="020B0604030504040204" pitchFamily="34" charset="0"/>
            </a:endParaRPr>
          </a:p>
          <a:p>
            <a:pPr marL="457200" indent="-457200">
              <a:spcBef>
                <a:spcPct val="50000"/>
              </a:spcBef>
              <a:buNone/>
            </a:pPr>
            <a:r>
              <a:rPr lang="zh-CN" altLang="en-US" sz="3200" dirty="0">
                <a:solidFill>
                  <a:schemeClr val="tx1"/>
                </a:solidFill>
                <a:latin typeface="Tahoma" panose="020B0604030504040204" pitchFamily="34" charset="0"/>
              </a:rPr>
              <a:t>优点： </a:t>
            </a:r>
            <a:endParaRPr lang="zh-CN" altLang="en-US" sz="3200" dirty="0">
              <a:solidFill>
                <a:schemeClr val="tx1"/>
              </a:solidFill>
              <a:latin typeface="Tahoma" panose="020B0604030504040204" pitchFamily="34" charset="0"/>
            </a:endParaRPr>
          </a:p>
          <a:p>
            <a:pPr marL="457200" indent="-457200">
              <a:spcBef>
                <a:spcPct val="50000"/>
              </a:spcBef>
              <a:buNone/>
            </a:pPr>
            <a:r>
              <a:rPr lang="zh-CN" altLang="en-US" sz="3200" dirty="0">
                <a:solidFill>
                  <a:schemeClr val="tx1"/>
                </a:solidFill>
                <a:latin typeface="Tahoma" panose="020B0604030504040204" pitchFamily="34" charset="0"/>
              </a:rPr>
              <a:t>易于使用。 </a:t>
            </a:r>
            <a:endParaRPr lang="zh-CN" altLang="en-US" sz="3200" dirty="0">
              <a:solidFill>
                <a:schemeClr val="tx1"/>
              </a:solidFill>
              <a:latin typeface="Tahoma" panose="020B0604030504040204" pitchFamily="34" charset="0"/>
            </a:endParaRPr>
          </a:p>
          <a:p>
            <a:pPr marL="457200" indent="-457200">
              <a:spcBef>
                <a:spcPct val="50000"/>
              </a:spcBef>
              <a:buNone/>
            </a:pPr>
            <a:r>
              <a:rPr lang="zh-CN" altLang="en-US" sz="3200" dirty="0">
                <a:solidFill>
                  <a:schemeClr val="tx1"/>
                </a:solidFill>
                <a:latin typeface="Tahoma" panose="020B0604030504040204" pitchFamily="34" charset="0"/>
              </a:rPr>
              <a:t>缺点： </a:t>
            </a:r>
            <a:endParaRPr lang="zh-CN" altLang="en-US" sz="3200" dirty="0">
              <a:solidFill>
                <a:schemeClr val="tx1"/>
              </a:solidFill>
              <a:latin typeface="Tahoma" panose="020B0604030504040204" pitchFamily="34" charset="0"/>
            </a:endParaRPr>
          </a:p>
          <a:p>
            <a:pPr marL="457200" indent="-457200">
              <a:spcBef>
                <a:spcPct val="50000"/>
              </a:spcBef>
              <a:buAutoNum type="arabicPeriod"/>
            </a:pPr>
            <a:r>
              <a:rPr lang="zh-CN" altLang="en-US" sz="3200" dirty="0">
                <a:solidFill>
                  <a:schemeClr val="tx1"/>
                </a:solidFill>
                <a:latin typeface="Tahoma" panose="020B0604030504040204" pitchFamily="34" charset="0"/>
              </a:rPr>
              <a:t>时间同步困难，可能造成必须重新输入新密码。软体认证卡采用</a:t>
            </a:r>
            <a:r>
              <a:rPr lang="en-US" altLang="zh-CN" sz="3200" dirty="0">
                <a:solidFill>
                  <a:schemeClr val="tx1"/>
                </a:solidFill>
                <a:latin typeface="Tahoma" panose="020B0604030504040204" pitchFamily="34" charset="0"/>
              </a:rPr>
              <a:t>PC</a:t>
            </a:r>
            <a:r>
              <a:rPr lang="zh-CN" altLang="en-US" sz="3200" dirty="0">
                <a:solidFill>
                  <a:schemeClr val="tx1"/>
                </a:solidFill>
                <a:latin typeface="Tahoma" panose="020B0604030504040204" pitchFamily="34" charset="0"/>
              </a:rPr>
              <a:t>的时刻，很可能随时被修改。常常需要与服务器重新对时。 </a:t>
            </a:r>
            <a:endParaRPr lang="zh-CN" altLang="en-US" sz="3200" dirty="0">
              <a:solidFill>
                <a:schemeClr val="tx1"/>
              </a:solidFill>
              <a:latin typeface="Tahoma" panose="020B0604030504040204" pitchFamily="34" charset="0"/>
            </a:endParaRPr>
          </a:p>
          <a:p>
            <a:pPr marL="457200" indent="-457200">
              <a:spcBef>
                <a:spcPct val="50000"/>
              </a:spcBef>
              <a:buNone/>
            </a:pPr>
            <a:r>
              <a:rPr lang="zh-CN" altLang="en-US" sz="3200" dirty="0">
                <a:solidFill>
                  <a:schemeClr val="tx1"/>
                </a:solidFill>
                <a:latin typeface="Tahoma" panose="020B0604030504040204" pitchFamily="34" charset="0"/>
              </a:rPr>
              <a:t>2.不如</a:t>
            </a:r>
            <a:r>
              <a:rPr lang="en-US" altLang="zh-CN" sz="3200" dirty="0">
                <a:solidFill>
                  <a:schemeClr val="tx1"/>
                </a:solidFill>
                <a:latin typeface="Tahoma" panose="020B0604030504040204" pitchFamily="34" charset="0"/>
              </a:rPr>
              <a:t>Challenge/Response</a:t>
            </a:r>
            <a:r>
              <a:rPr lang="zh-CN" altLang="en-US" sz="3200" dirty="0">
                <a:solidFill>
                  <a:schemeClr val="tx1"/>
                </a:solidFill>
                <a:latin typeface="Tahoma" panose="020B0604030504040204" pitchFamily="34" charset="0"/>
              </a:rPr>
              <a:t>认证更安全</a:t>
            </a:r>
            <a:endParaRPr lang="zh-CN" altLang="en-US" sz="3200" dirty="0">
              <a:solidFill>
                <a:schemeClr val="tx1"/>
              </a:solidFill>
              <a:latin typeface="Tahoma" panose="020B0604030504040204" pitchFamily="34" charset="0"/>
            </a:endParaRPr>
          </a:p>
        </p:txBody>
      </p:sp>
      <p:pic>
        <p:nvPicPr>
          <p:cNvPr id="35845" name="Picture 5"/>
          <p:cNvPicPr>
            <a:picLocks noChangeAspect="1"/>
          </p:cNvPicPr>
          <p:nvPr/>
        </p:nvPicPr>
        <p:blipFill>
          <a:blip r:embed="rId1"/>
          <a:stretch>
            <a:fillRect/>
          </a:stretch>
        </p:blipFill>
        <p:spPr>
          <a:xfrm>
            <a:off x="7596188" y="620713"/>
            <a:ext cx="1338262" cy="2898775"/>
          </a:xfrm>
          <a:prstGeom prst="rect">
            <a:avLst/>
          </a:prstGeom>
          <a:noFill/>
          <a:ln w="9525">
            <a:noFill/>
          </a:ln>
        </p:spPr>
      </p:pic>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tx1"/>
                </a:solidFill>
                <a:latin typeface="Arial" panose="020B0604020202020204" pitchFamily="34" charset="0"/>
              </a:rPr>
            </a:fld>
            <a:endParaRPr lang="zh-CN" altLang="en-US" sz="1400" dirty="0">
              <a:solidFill>
                <a:schemeClr val="tx1"/>
              </a:solidFill>
              <a:latin typeface="Arial" panose="020B0604020202020204" pitchFamily="34" charset="0"/>
            </a:endParaRPr>
          </a:p>
        </p:txBody>
      </p:sp>
      <p:sp>
        <p:nvSpPr>
          <p:cNvPr id="37891"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dirty="0">
                <a:solidFill>
                  <a:schemeClr val="tx1"/>
                </a:solidFill>
                <a:latin typeface="宋体" panose="02010600030101010101" pitchFamily="2" charset="-122"/>
              </a:rPr>
              <a:t>第</a:t>
            </a:r>
            <a:r>
              <a:rPr lang="en-US" altLang="zh-CN" dirty="0">
                <a:solidFill>
                  <a:schemeClr val="tx1"/>
                </a:solidFill>
                <a:latin typeface="宋体" panose="02010600030101010101" pitchFamily="2" charset="-122"/>
              </a:rPr>
              <a:t>5</a:t>
            </a:r>
            <a:r>
              <a:rPr lang="zh-CN" altLang="en-US" dirty="0">
                <a:solidFill>
                  <a:schemeClr val="tx1"/>
                </a:solidFill>
                <a:latin typeface="宋体" panose="02010600030101010101" pitchFamily="2" charset="-122"/>
              </a:rPr>
              <a:t>讲认证</a:t>
            </a:r>
            <a:endParaRPr lang="zh-CN" altLang="en-US" dirty="0">
              <a:solidFill>
                <a:schemeClr val="tx1"/>
              </a:solidFill>
              <a:latin typeface="宋体" panose="02010600030101010101" pitchFamily="2" charset="-122"/>
            </a:endParaRPr>
          </a:p>
        </p:txBody>
      </p:sp>
      <p:sp>
        <p:nvSpPr>
          <p:cNvPr id="37892" name="Text Box 4"/>
          <p:cNvSpPr txBox="1"/>
          <p:nvPr/>
        </p:nvSpPr>
        <p:spPr>
          <a:xfrm>
            <a:off x="304800" y="685800"/>
            <a:ext cx="8458200" cy="4338320"/>
          </a:xfrm>
          <a:prstGeom prst="rect">
            <a:avLst/>
          </a:prstGeom>
          <a:noFill/>
          <a:ln w="9525">
            <a:noFill/>
          </a:ln>
        </p:spPr>
        <p:txBody>
          <a:bodyPr>
            <a:spAutoFit/>
          </a:bodyPr>
          <a:p>
            <a:pPr marL="457200" indent="-457200">
              <a:spcBef>
                <a:spcPct val="50000"/>
              </a:spcBef>
            </a:pPr>
            <a:r>
              <a:rPr lang="zh-CN" altLang="en-US" sz="3200" dirty="0">
                <a:solidFill>
                  <a:schemeClr val="tx1"/>
                </a:solidFill>
                <a:latin typeface="Tahoma" panose="020B0604030504040204" pitchFamily="34" charset="0"/>
              </a:rPr>
              <a:t>3)事件同步</a:t>
            </a:r>
            <a:endParaRPr lang="zh-CN" altLang="en-US" sz="3200" dirty="0">
              <a:solidFill>
                <a:schemeClr val="tx1"/>
              </a:solidFill>
              <a:latin typeface="Tahoma" panose="020B0604030504040204" pitchFamily="34" charset="0"/>
            </a:endParaRPr>
          </a:p>
          <a:p>
            <a:pPr marL="457200" indent="-457200">
              <a:spcBef>
                <a:spcPct val="50000"/>
              </a:spcBef>
            </a:pPr>
            <a:r>
              <a:rPr lang="zh-CN" altLang="en-US" sz="3200" dirty="0">
                <a:solidFill>
                  <a:schemeClr val="tx1"/>
                </a:solidFill>
                <a:latin typeface="Tahoma" panose="020B0604030504040204" pitchFamily="34" charset="0"/>
              </a:rPr>
              <a:t>事件同步认证卡依据认证卡上的私有密钥产生一序列的动态密码</a:t>
            </a:r>
            <a:r>
              <a:rPr lang="en-US" altLang="zh-CN" sz="3200" dirty="0">
                <a:solidFill>
                  <a:schemeClr val="tx1"/>
                </a:solidFill>
                <a:latin typeface="Tahoma" panose="020B0604030504040204" pitchFamily="34" charset="0"/>
              </a:rPr>
              <a:t>(</a:t>
            </a:r>
            <a:r>
              <a:rPr lang="zh-CN" altLang="en-US" sz="3200" dirty="0">
                <a:solidFill>
                  <a:schemeClr val="tx1"/>
                </a:solidFill>
                <a:latin typeface="Tahoma" panose="020B0604030504040204" pitchFamily="34" charset="0"/>
              </a:rPr>
              <a:t>并用</a:t>
            </a:r>
            <a:r>
              <a:rPr lang="en-US" altLang="zh-CN" sz="3200" dirty="0">
                <a:solidFill>
                  <a:schemeClr val="tx1"/>
                </a:solidFill>
                <a:latin typeface="Tahoma" panose="020B0604030504040204" pitchFamily="34" charset="0"/>
              </a:rPr>
              <a:t>PIN</a:t>
            </a:r>
            <a:r>
              <a:rPr lang="zh-CN" altLang="en-US" sz="3200" dirty="0">
                <a:solidFill>
                  <a:schemeClr val="tx1"/>
                </a:solidFill>
                <a:latin typeface="Tahoma" panose="020B0604030504040204" pitchFamily="34" charset="0"/>
              </a:rPr>
              <a:t>码保护</a:t>
            </a:r>
            <a:r>
              <a:rPr lang="en-US" altLang="zh-CN" sz="3200" dirty="0">
                <a:solidFill>
                  <a:schemeClr val="tx1"/>
                </a:solidFill>
                <a:latin typeface="Tahoma" panose="020B0604030504040204" pitchFamily="34" charset="0"/>
              </a:rPr>
              <a:t>)</a:t>
            </a:r>
            <a:r>
              <a:rPr lang="zh-CN" altLang="en-US" sz="3200" dirty="0">
                <a:solidFill>
                  <a:schemeClr val="tx1"/>
                </a:solidFill>
                <a:latin typeface="Tahoma" panose="020B0604030504040204" pitchFamily="34" charset="0"/>
              </a:rPr>
              <a:t>，如果使用者意外多产生了几组密码造成不同步的状态，服务器会自动重新同步到目前使用的密码，一旦一个密码被使用过后，在密码序列中所有这个密码之前的密码都会失效。 </a:t>
            </a:r>
            <a:endParaRPr lang="zh-CN" altLang="en-US" sz="3200" dirty="0">
              <a:solidFill>
                <a:schemeClr val="tx1"/>
              </a:solidFill>
              <a:latin typeface="Tahoma" panose="020B0604030504040204" pitchFamily="34" charset="0"/>
            </a:endParaRPr>
          </a:p>
          <a:p>
            <a:pPr marL="457200" indent="-457200">
              <a:spcBef>
                <a:spcPct val="50000"/>
              </a:spcBef>
            </a:pPr>
            <a:r>
              <a:rPr lang="zh-CN" altLang="en-US" dirty="0">
                <a:solidFill>
                  <a:schemeClr val="tx1"/>
                </a:solidFill>
                <a:latin typeface="Tahoma" panose="020B0604030504040204" pitchFamily="34" charset="0"/>
              </a:rPr>
              <a:t> </a:t>
            </a:r>
            <a:endParaRPr lang="zh-CN" altLang="en-US" dirty="0">
              <a:solidFill>
                <a:schemeClr val="tx1"/>
              </a:solidFill>
              <a:latin typeface="Tahoma" panose="020B0604030504040204" pitchFamily="34" charset="0"/>
            </a:endParaRP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tx1"/>
                </a:solidFill>
                <a:latin typeface="Arial" panose="020B0604020202020204" pitchFamily="34" charset="0"/>
              </a:rPr>
            </a:fld>
            <a:endParaRPr lang="zh-CN" altLang="en-US" sz="1400" dirty="0">
              <a:solidFill>
                <a:schemeClr val="tx1"/>
              </a:solidFill>
              <a:latin typeface="Arial" panose="020B0604020202020204" pitchFamily="34" charset="0"/>
            </a:endParaRPr>
          </a:p>
        </p:txBody>
      </p:sp>
      <p:sp>
        <p:nvSpPr>
          <p:cNvPr id="36867" name="Rectangle 2"/>
          <p:cNvSpPr>
            <a:spLocks noGrp="1"/>
          </p:cNvSpPr>
          <p:nvPr>
            <p:ph type="title"/>
          </p:nvPr>
        </p:nvSpPr>
        <p:spPr>
          <a:xfrm>
            <a:off x="0" y="609600"/>
            <a:ext cx="9144000" cy="617538"/>
          </a:xfrm>
        </p:spPr>
        <p:txBody>
          <a:bodyPr vert="horz" wrap="square" lIns="91440" tIns="45720" rIns="91440" bIns="45720" anchor="b" anchorCtr="0"/>
          <a:p>
            <a:pPr eaLnBrk="1" hangingPunct="1"/>
            <a:r>
              <a:rPr lang="en-US" altLang="zh-CN" b="0" dirty="0">
                <a:solidFill>
                  <a:schemeClr val="tx1"/>
                </a:solidFill>
                <a:latin typeface="Times New Roman" panose="02020603050405020304" pitchFamily="18" charset="0"/>
              </a:rPr>
              <a:t>3)</a:t>
            </a:r>
            <a:r>
              <a:rPr lang="zh-CN" altLang="en-US" b="0" dirty="0">
                <a:solidFill>
                  <a:schemeClr val="tx1"/>
                </a:solidFill>
                <a:latin typeface="Times New Roman" panose="02020603050405020304" pitchFamily="18" charset="0"/>
              </a:rPr>
              <a:t>事件同步身份认证 </a:t>
            </a:r>
            <a:endParaRPr lang="zh-CN" altLang="en-US" b="0" dirty="0">
              <a:solidFill>
                <a:schemeClr val="tx1"/>
              </a:solidFill>
              <a:latin typeface="Times New Roman" panose="02020603050405020304" pitchFamily="18" charset="0"/>
            </a:endParaRPr>
          </a:p>
        </p:txBody>
      </p:sp>
      <p:sp>
        <p:nvSpPr>
          <p:cNvPr id="36868"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dirty="0">
                <a:solidFill>
                  <a:schemeClr val="tx1"/>
                </a:solidFill>
                <a:latin typeface="宋体" panose="02010600030101010101" pitchFamily="2" charset="-122"/>
              </a:rPr>
              <a:t>第</a:t>
            </a:r>
            <a:r>
              <a:rPr lang="en-US" altLang="zh-CN" dirty="0">
                <a:solidFill>
                  <a:schemeClr val="tx1"/>
                </a:solidFill>
                <a:latin typeface="宋体" panose="02010600030101010101" pitchFamily="2" charset="-122"/>
              </a:rPr>
              <a:t>5</a:t>
            </a:r>
            <a:r>
              <a:rPr lang="zh-CN" altLang="en-US" dirty="0">
                <a:solidFill>
                  <a:schemeClr val="tx1"/>
                </a:solidFill>
                <a:latin typeface="宋体" panose="02010600030101010101" pitchFamily="2" charset="-122"/>
              </a:rPr>
              <a:t>讲认证</a:t>
            </a:r>
            <a:endParaRPr lang="zh-CN" altLang="en-US" dirty="0">
              <a:solidFill>
                <a:schemeClr val="tx1"/>
              </a:solidFill>
              <a:latin typeface="宋体" panose="02010600030101010101" pitchFamily="2" charset="-122"/>
            </a:endParaRPr>
          </a:p>
        </p:txBody>
      </p:sp>
      <p:pic>
        <p:nvPicPr>
          <p:cNvPr id="36869" name="Picture 5" descr="event_sync"/>
          <p:cNvPicPr>
            <a:picLocks noChangeAspect="1"/>
          </p:cNvPicPr>
          <p:nvPr/>
        </p:nvPicPr>
        <p:blipFill>
          <a:blip r:embed="rId1"/>
          <a:stretch>
            <a:fillRect/>
          </a:stretch>
        </p:blipFill>
        <p:spPr>
          <a:xfrm>
            <a:off x="1066800" y="2005013"/>
            <a:ext cx="6858000" cy="3927475"/>
          </a:xfrm>
          <a:prstGeom prst="rect">
            <a:avLst/>
          </a:prstGeom>
          <a:noFill/>
          <a:ln w="9525">
            <a:noFill/>
          </a:ln>
        </p:spPr>
      </p:pic>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4"/>
          <p:cNvSpPr txBox="1">
            <a:spLocks noGrp="1"/>
          </p:cNvSpPr>
          <p:nvPr>
            <p:ph type="sldNum" sz="quarter" idx="11"/>
          </p:nvPr>
        </p:nvSpPr>
        <p:spPr>
          <a:xfrm>
            <a:off x="7162800" y="6324600"/>
            <a:ext cx="1905000" cy="45720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solidFill>
                  <a:schemeClr val="accent2"/>
                </a:solidFill>
                <a:latin typeface="Arial" panose="020B0604020202020204" pitchFamily="34" charset="0"/>
              </a:rPr>
            </a:fld>
            <a:endParaRPr lang="zh-CN" altLang="en-US" sz="1400" dirty="0">
              <a:solidFill>
                <a:schemeClr val="accent2"/>
              </a:solidFill>
              <a:latin typeface="Arial" panose="020B0604020202020204" pitchFamily="34" charset="0"/>
            </a:endParaRPr>
          </a:p>
        </p:txBody>
      </p:sp>
      <p:sp>
        <p:nvSpPr>
          <p:cNvPr id="38915" name="Text Box 3"/>
          <p:cNvSpPr txBox="1"/>
          <p:nvPr/>
        </p:nvSpPr>
        <p:spPr>
          <a:xfrm>
            <a:off x="3505200" y="0"/>
            <a:ext cx="5638800" cy="457200"/>
          </a:xfrm>
          <a:prstGeom prst="rect">
            <a:avLst/>
          </a:prstGeom>
          <a:noFill/>
          <a:ln w="9525">
            <a:noFill/>
          </a:ln>
        </p:spPr>
        <p:txBody>
          <a:bodyPr>
            <a:spAutoFit/>
          </a:bodyPr>
          <a:p>
            <a:pPr algn="r">
              <a:spcBef>
                <a:spcPct val="50000"/>
              </a:spcBef>
            </a:pPr>
            <a:r>
              <a:rPr lang="zh-CN" altLang="en-US" dirty="0">
                <a:solidFill>
                  <a:schemeClr val="bg1"/>
                </a:solidFill>
                <a:latin typeface="宋体" panose="02010600030101010101" pitchFamily="2" charset="-122"/>
              </a:rPr>
              <a:t>第</a:t>
            </a:r>
            <a:r>
              <a:rPr lang="en-US" altLang="zh-CN" dirty="0">
                <a:solidFill>
                  <a:schemeClr val="bg1"/>
                </a:solidFill>
                <a:latin typeface="宋体" panose="02010600030101010101" pitchFamily="2" charset="-122"/>
              </a:rPr>
              <a:t>5</a:t>
            </a:r>
            <a:r>
              <a:rPr lang="zh-CN" altLang="en-US" dirty="0">
                <a:solidFill>
                  <a:schemeClr val="bg1"/>
                </a:solidFill>
                <a:latin typeface="宋体" panose="02010600030101010101" pitchFamily="2" charset="-122"/>
              </a:rPr>
              <a:t>讲认证</a:t>
            </a:r>
            <a:endParaRPr lang="zh-CN" altLang="en-US" dirty="0">
              <a:solidFill>
                <a:schemeClr val="bg1"/>
              </a:solidFill>
              <a:latin typeface="宋体" panose="02010600030101010101" pitchFamily="2" charset="-122"/>
            </a:endParaRPr>
          </a:p>
        </p:txBody>
      </p:sp>
      <p:sp>
        <p:nvSpPr>
          <p:cNvPr id="38916" name="Text Box 5"/>
          <p:cNvSpPr txBox="1">
            <a:spLocks noChangeArrowheads="1"/>
          </p:cNvSpPr>
          <p:nvPr/>
        </p:nvSpPr>
        <p:spPr bwMode="auto">
          <a:xfrm>
            <a:off x="533400" y="685800"/>
            <a:ext cx="79248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事件同步的身份认证</a:t>
            </a:r>
            <a:endPar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None/>
              <a:defRPr/>
            </a:pP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优点： </a:t>
            </a:r>
            <a:endPar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AutoNum type="arabicPeriod"/>
              <a:defRPr/>
            </a:pP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容易使用。 </a:t>
            </a:r>
            <a:endPar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AutoNum type="arabicPeriod"/>
              <a:defRPr/>
            </a:pP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由于使用者无法知道序列数字</a:t>
            </a:r>
            <a:endParaRPr kumimoji="1" lang="en-US" altLang="zh-CN"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，所以安全性高，序列号码绝不</a:t>
            </a:r>
            <a:endParaRPr kumimoji="1" lang="en-US" altLang="zh-CN"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会显示出来。 </a:t>
            </a:r>
            <a:endPar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None/>
              <a:defRPr/>
            </a:pP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缺点： </a:t>
            </a:r>
            <a:endPar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None/>
              <a:defRPr/>
            </a:pP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如果没有</a:t>
            </a:r>
            <a:r>
              <a:rPr kumimoji="1" lang="en-US" altLang="zh-CN"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PIN</a:t>
            </a:r>
            <a:r>
              <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号码的保护及认证卡借给别人使用时，会有安全的疑虑。</a:t>
            </a:r>
            <a:endParaRPr kumimoji="1" lang="zh-CN" altLang="en-US" sz="3200" b="0"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pic>
        <p:nvPicPr>
          <p:cNvPr id="38917" name="Picture 6"/>
          <p:cNvPicPr>
            <a:picLocks noChangeAspect="1"/>
          </p:cNvPicPr>
          <p:nvPr/>
        </p:nvPicPr>
        <p:blipFill>
          <a:blip r:embed="rId1"/>
          <a:stretch>
            <a:fillRect/>
          </a:stretch>
        </p:blipFill>
        <p:spPr>
          <a:xfrm>
            <a:off x="6443663" y="2420938"/>
            <a:ext cx="2640012" cy="3219450"/>
          </a:xfrm>
          <a:prstGeom prst="rect">
            <a:avLst/>
          </a:prstGeom>
          <a:noFill/>
          <a:ln w="9525">
            <a:noFill/>
          </a:ln>
        </p:spPr>
      </p:pic>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000" b="1" dirty="0" smtClean="0">
                <a:ea typeface="PMingLiU" pitchFamily="18" charset="-120"/>
              </a:rPr>
              <a:t>访问控制</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4"/>
          <p:cNvSpPr>
            <a:spLocks noGrp="1"/>
          </p:cNvSpPr>
          <p:nvPr>
            <p:ph type="sldNum" sz="quarter" idx="4294967295"/>
          </p:nvPr>
        </p:nvSpPr>
        <p:spPr>
          <a:xfrm>
            <a:off x="7162800" y="6324600"/>
            <a:ext cx="1905000" cy="457200"/>
          </a:xfrm>
          <a:prstGeom prst="rect">
            <a:avLst/>
          </a:prstGeom>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FB275CE-34B9-4EE1-A6F7-81763F661728}" type="slidenum">
              <a:rPr kumimoji="0" lang="zh-CN" altLang="en-US" sz="1400">
                <a:solidFill>
                  <a:schemeClr val="accent2"/>
                </a:solidFill>
                <a:latin typeface="Arial" panose="020B0604020202020204" pitchFamily="34" charset="0"/>
              </a:rPr>
            </a:fld>
            <a:endParaRPr kumimoji="0" lang="en-US" altLang="zh-CN" sz="1400">
              <a:solidFill>
                <a:schemeClr val="accent2"/>
              </a:solidFill>
              <a:latin typeface="Arial" panose="020B0604020202020204" pitchFamily="34" charset="0"/>
            </a:endParaRPr>
          </a:p>
        </p:txBody>
      </p:sp>
      <p:sp>
        <p:nvSpPr>
          <p:cNvPr id="10243" name="Rectangle 2"/>
          <p:cNvSpPr>
            <a:spLocks noGrp="1" noChangeArrowheads="1"/>
          </p:cNvSpPr>
          <p:nvPr>
            <p:ph type="title"/>
          </p:nvPr>
        </p:nvSpPr>
        <p:spPr/>
        <p:txBody>
          <a:bodyPr/>
          <a:lstStyle/>
          <a:p>
            <a:pPr eaLnBrk="1" hangingPunct="1"/>
            <a:r>
              <a:rPr lang="zh-CN" altLang="en-US" dirty="0" smtClean="0">
                <a:latin typeface="Times New Roman" panose="02020603050405020304" pitchFamily="18" charset="0"/>
              </a:rPr>
              <a:t>一、访问控制的概念</a:t>
            </a:r>
            <a:endParaRPr lang="zh-CN" altLang="en-US" dirty="0" smtClean="0">
              <a:latin typeface="Times New Roman" panose="02020603050405020304" pitchFamily="18" charset="0"/>
            </a:endParaRPr>
          </a:p>
        </p:txBody>
      </p:sp>
      <p:sp>
        <p:nvSpPr>
          <p:cNvPr id="10244" name="Text Box 3"/>
          <p:cNvSpPr txBox="1">
            <a:spLocks noChangeArrowheads="1"/>
          </p:cNvSpPr>
          <p:nvPr/>
        </p:nvSpPr>
        <p:spPr bwMode="auto">
          <a:xfrm>
            <a:off x="3505200" y="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pPr>
            <a:r>
              <a:rPr lang="zh-CN" altLang="en-US" b="1">
                <a:solidFill>
                  <a:schemeClr val="bg1"/>
                </a:solidFill>
                <a:latin typeface="Times New Roman" panose="02020603050405020304" pitchFamily="18" charset="0"/>
              </a:rPr>
              <a:t>第七章</a:t>
            </a:r>
            <a:r>
              <a:rPr lang="zh-CN" altLang="en-US" b="1">
                <a:solidFill>
                  <a:schemeClr val="bg1"/>
                </a:solidFill>
                <a:latin typeface="宋体" panose="02010600030101010101" pitchFamily="2" charset="-122"/>
              </a:rPr>
              <a:t> </a:t>
            </a:r>
            <a:r>
              <a:rPr lang="zh-CN" altLang="en-US" b="1">
                <a:solidFill>
                  <a:schemeClr val="bg1"/>
                </a:solidFill>
                <a:latin typeface="Times New Roman" panose="02020603050405020304" pitchFamily="18" charset="0"/>
              </a:rPr>
              <a:t>访问控制</a:t>
            </a:r>
            <a:r>
              <a:rPr lang="zh-CN" altLang="en-US" b="1">
                <a:latin typeface="宋体" panose="02010600030101010101" pitchFamily="2" charset="-122"/>
              </a:rPr>
              <a:t> </a:t>
            </a:r>
            <a:endParaRPr lang="zh-CN" altLang="en-US" b="1">
              <a:latin typeface="宋体" panose="02010600030101010101" pitchFamily="2" charset="-122"/>
            </a:endParaRPr>
          </a:p>
        </p:txBody>
      </p:sp>
      <p:sp>
        <p:nvSpPr>
          <p:cNvPr id="10245" name="Text Box 4"/>
          <p:cNvSpPr txBox="1">
            <a:spLocks noChangeArrowheads="1"/>
          </p:cNvSpPr>
          <p:nvPr/>
        </p:nvSpPr>
        <p:spPr bwMode="auto">
          <a:xfrm>
            <a:off x="609600" y="1295400"/>
            <a:ext cx="8153400" cy="550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sz="3200" b="1" dirty="0">
                <a:latin typeface="Arial Unicode MS" pitchFamily="34" charset="-122"/>
              </a:rPr>
              <a:t>访问控制 </a:t>
            </a:r>
            <a:r>
              <a:rPr lang="en-US" altLang="zh-CN" sz="3200" b="1" dirty="0">
                <a:latin typeface="Arial Unicode MS" pitchFamily="34" charset="-122"/>
              </a:rPr>
              <a:t>Access Control </a:t>
            </a:r>
            <a:endParaRPr lang="en-US" altLang="zh-CN" sz="3200" b="1" dirty="0">
              <a:latin typeface="Arial Unicode MS" pitchFamily="34" charset="-122"/>
            </a:endParaRPr>
          </a:p>
          <a:p>
            <a:pPr eaLnBrk="1" hangingPunct="1">
              <a:spcBef>
                <a:spcPct val="50000"/>
              </a:spcBef>
            </a:pPr>
            <a:r>
              <a:rPr lang="zh-CN" altLang="en-US" sz="3200" b="1" dirty="0">
                <a:latin typeface="Arial Unicode MS" pitchFamily="34" charset="-122"/>
              </a:rPr>
              <a:t>限制已授权的用户、程序、进程或计算机网络中其他系统访问本系统资源的过程。</a:t>
            </a:r>
            <a:endParaRPr lang="en-US" altLang="zh-CN" sz="3200" b="1" dirty="0">
              <a:latin typeface="Arial Unicode MS" pitchFamily="34" charset="-122"/>
            </a:endParaRPr>
          </a:p>
          <a:p>
            <a:pPr eaLnBrk="1" hangingPunct="1">
              <a:spcBef>
                <a:spcPct val="50000"/>
              </a:spcBef>
            </a:pPr>
            <a:r>
              <a:rPr lang="zh-CN" altLang="en-US" sz="3200" b="1" dirty="0">
                <a:latin typeface="Arial Unicode MS" pitchFamily="34" charset="-122"/>
              </a:rPr>
              <a:t>注：口令认证不能取代访问控制 。</a:t>
            </a:r>
            <a:endParaRPr lang="zh-CN" altLang="en-US" sz="3200" b="1" dirty="0">
              <a:latin typeface="Arial Unicode MS" pitchFamily="34" charset="-122"/>
            </a:endParaRPr>
          </a:p>
          <a:p>
            <a:pPr eaLnBrk="1" hangingPunct="1">
              <a:spcBef>
                <a:spcPct val="50000"/>
              </a:spcBef>
            </a:pPr>
            <a:r>
              <a:rPr lang="zh-CN" altLang="en-US" sz="3200" b="1" dirty="0">
                <a:latin typeface="Arial Unicode MS" pitchFamily="34" charset="-122"/>
              </a:rPr>
              <a:t>访问控制机制</a:t>
            </a:r>
            <a:endParaRPr lang="en-US" altLang="zh-CN" sz="3200" b="1" dirty="0">
              <a:latin typeface="Arial Unicode MS" pitchFamily="34" charset="-122"/>
            </a:endParaRPr>
          </a:p>
          <a:p>
            <a:pPr eaLnBrk="1" hangingPunct="1">
              <a:spcBef>
                <a:spcPct val="50000"/>
              </a:spcBef>
            </a:pPr>
            <a:r>
              <a:rPr lang="zh-CN" altLang="en-US" sz="3200" b="1" dirty="0">
                <a:latin typeface="Arial Unicode MS" pitchFamily="34" charset="-122"/>
              </a:rPr>
              <a:t>在信息系统中，为检测和防止未授权访问，以及为使授权访问正确进行所设计的硬件或软件功能、操作规程、管理规程和它们的各种组合。</a:t>
            </a:r>
            <a:r>
              <a:rPr lang="zh-CN" altLang="en-US" b="1" dirty="0">
                <a:latin typeface="Arial Unicode MS" pitchFamily="34" charset="-122"/>
              </a:rPr>
              <a:t> </a:t>
            </a:r>
            <a:endParaRPr lang="zh-CN" altLang="en-US" b="1" dirty="0">
              <a:latin typeface="Arial Unicode MS"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4"/>
          <p:cNvSpPr>
            <a:spLocks noGrp="1"/>
          </p:cNvSpPr>
          <p:nvPr>
            <p:ph type="sldNum" sz="quarter" idx="4294967295"/>
          </p:nvPr>
        </p:nvSpPr>
        <p:spPr>
          <a:xfrm>
            <a:off x="7162800" y="6324600"/>
            <a:ext cx="1905000" cy="457200"/>
          </a:xfrm>
          <a:prstGeom prst="rect">
            <a:avLst/>
          </a:prstGeom>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B9FA27C-C3FD-4FB4-83E1-53E2A8893D43}" type="slidenum">
              <a:rPr kumimoji="0" lang="zh-CN" altLang="en-US" sz="1400">
                <a:solidFill>
                  <a:schemeClr val="accent2"/>
                </a:solidFill>
                <a:latin typeface="Arial" panose="020B0604020202020204" pitchFamily="34" charset="0"/>
              </a:rPr>
            </a:fld>
            <a:endParaRPr kumimoji="0" lang="en-US" altLang="zh-CN" sz="1400">
              <a:solidFill>
                <a:schemeClr val="accent2"/>
              </a:solidFill>
              <a:latin typeface="Arial" panose="020B0604020202020204" pitchFamily="34" charset="0"/>
            </a:endParaRPr>
          </a:p>
        </p:txBody>
      </p:sp>
      <p:sp>
        <p:nvSpPr>
          <p:cNvPr id="11267" name="Text Box 3"/>
          <p:cNvSpPr txBox="1">
            <a:spLocks noChangeArrowheads="1"/>
          </p:cNvSpPr>
          <p:nvPr/>
        </p:nvSpPr>
        <p:spPr bwMode="auto">
          <a:xfrm>
            <a:off x="3505200" y="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pPr>
            <a:r>
              <a:rPr lang="zh-CN" altLang="en-US" b="1">
                <a:solidFill>
                  <a:schemeClr val="bg1"/>
                </a:solidFill>
                <a:latin typeface="Times New Roman" panose="02020603050405020304" pitchFamily="18" charset="0"/>
              </a:rPr>
              <a:t>第七章</a:t>
            </a:r>
            <a:r>
              <a:rPr lang="zh-CN" altLang="en-US" b="1">
                <a:solidFill>
                  <a:schemeClr val="bg1"/>
                </a:solidFill>
                <a:latin typeface="宋体" panose="02010600030101010101" pitchFamily="2" charset="-122"/>
              </a:rPr>
              <a:t> </a:t>
            </a:r>
            <a:r>
              <a:rPr lang="zh-CN" altLang="en-US" b="1">
                <a:solidFill>
                  <a:schemeClr val="bg1"/>
                </a:solidFill>
                <a:latin typeface="Times New Roman" panose="02020603050405020304" pitchFamily="18" charset="0"/>
              </a:rPr>
              <a:t>访问控制</a:t>
            </a:r>
            <a:endParaRPr lang="zh-CN" altLang="en-US" b="1">
              <a:solidFill>
                <a:schemeClr val="bg1"/>
              </a:solidFill>
              <a:latin typeface="Times New Roman" panose="02020603050405020304" pitchFamily="18" charset="0"/>
            </a:endParaRPr>
          </a:p>
        </p:txBody>
      </p:sp>
      <p:sp>
        <p:nvSpPr>
          <p:cNvPr id="11268" name="Text Box 4"/>
          <p:cNvSpPr txBox="1">
            <a:spLocks noChangeArrowheads="1"/>
          </p:cNvSpPr>
          <p:nvPr/>
        </p:nvSpPr>
        <p:spPr bwMode="auto">
          <a:xfrm>
            <a:off x="457200" y="762000"/>
            <a:ext cx="81534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sz="3200" b="1" dirty="0"/>
              <a:t>访问控制：主体对客体的访问受到控制，是一种加强授权的方法。</a:t>
            </a:r>
            <a:endParaRPr lang="zh-CN" altLang="en-US" sz="3200" b="1" dirty="0"/>
          </a:p>
          <a:p>
            <a:endParaRPr lang="en-US" altLang="zh-CN" sz="3200" dirty="0" smtClean="0"/>
          </a:p>
          <a:p>
            <a:r>
              <a:rPr lang="zh-CN" altLang="zh-CN" sz="3200" dirty="0" smtClean="0"/>
              <a:t>访问</a:t>
            </a:r>
            <a:r>
              <a:rPr lang="zh-CN" altLang="zh-CN" sz="3200" dirty="0"/>
              <a:t>控制包括三个要素，即：主体、客体和控制策略。</a:t>
            </a:r>
            <a:endParaRPr lang="zh-CN" altLang="zh-CN" sz="3200" dirty="0"/>
          </a:p>
          <a:p>
            <a:r>
              <a:rPr lang="zh-CN" altLang="zh-CN" sz="3200" dirty="0"/>
              <a:t>主体：是可以对其它实体施加动作的主动实体，简记为</a:t>
            </a:r>
            <a:r>
              <a:rPr lang="en-US" altLang="zh-CN" sz="3200" b="1" i="1" dirty="0"/>
              <a:t>S</a:t>
            </a:r>
            <a:r>
              <a:rPr lang="zh-CN" altLang="zh-CN" sz="3200" dirty="0"/>
              <a:t>。</a:t>
            </a:r>
            <a:endParaRPr lang="zh-CN" altLang="zh-CN" sz="3200" dirty="0"/>
          </a:p>
          <a:p>
            <a:r>
              <a:rPr lang="zh-CN" altLang="zh-CN" sz="3200" dirty="0"/>
              <a:t>客体：是接受其他实体访问的被动实体</a:t>
            </a:r>
            <a:r>
              <a:rPr lang="en-US" altLang="zh-CN" sz="3200" dirty="0"/>
              <a:t>, </a:t>
            </a:r>
            <a:r>
              <a:rPr lang="zh-CN" altLang="zh-CN" sz="3200" dirty="0"/>
              <a:t>简记为</a:t>
            </a:r>
            <a:r>
              <a:rPr lang="en-US" altLang="zh-CN" sz="3200" b="1" i="1" dirty="0"/>
              <a:t>O</a:t>
            </a:r>
            <a:r>
              <a:rPr lang="zh-CN" altLang="zh-CN" sz="3200" dirty="0"/>
              <a:t>。</a:t>
            </a:r>
            <a:endParaRPr lang="zh-CN" altLang="zh-CN" sz="3200" dirty="0"/>
          </a:p>
          <a:p>
            <a:r>
              <a:rPr lang="zh-CN" altLang="zh-CN" sz="3200" dirty="0"/>
              <a:t>控制策略：是主体对客体的操作行为集和约束条件集</a:t>
            </a:r>
            <a:r>
              <a:rPr lang="en-US" altLang="zh-CN" sz="3200" dirty="0"/>
              <a:t>, </a:t>
            </a:r>
            <a:r>
              <a:rPr lang="zh-CN" altLang="zh-CN" sz="3200" dirty="0"/>
              <a:t>简记为</a:t>
            </a:r>
            <a:r>
              <a:rPr lang="en-US" altLang="zh-CN" sz="3200" b="1" i="1" dirty="0"/>
              <a:t>KS</a:t>
            </a:r>
            <a:r>
              <a:rPr lang="zh-CN" altLang="zh-CN" sz="3200" dirty="0" smtClean="0"/>
              <a:t>。</a:t>
            </a:r>
            <a:endParaRPr lang="zh-CN" altLang="en-US" sz="32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4124004-C09D-48D0-9C34-D1D7082C281F}" type="slidenum">
              <a:rPr kumimoji="0" lang="en-US" altLang="zh-CN" sz="1400">
                <a:solidFill>
                  <a:schemeClr val="bg1"/>
                </a:solidFill>
                <a:latin typeface="Arial" panose="020B0604020202020204" pitchFamily="34" charset="0"/>
              </a:rPr>
            </a:fld>
            <a:endParaRPr kumimoji="0" lang="en-US" altLang="zh-CN" sz="1400">
              <a:solidFill>
                <a:schemeClr val="bg1"/>
              </a:solidFill>
              <a:latin typeface="Arial" panose="020B0604020202020204" pitchFamily="34" charset="0"/>
            </a:endParaRPr>
          </a:p>
        </p:txBody>
      </p:sp>
      <p:sp>
        <p:nvSpPr>
          <p:cNvPr id="9219" name="Text Box 3"/>
          <p:cNvSpPr txBox="1">
            <a:spLocks noChangeArrowheads="1"/>
          </p:cNvSpPr>
          <p:nvPr/>
        </p:nvSpPr>
        <p:spPr bwMode="auto">
          <a:xfrm>
            <a:off x="0" y="1773238"/>
            <a:ext cx="88392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3200" dirty="0" smtClean="0">
                <a:latin typeface="楷体_GB2312" pitchFamily="49" charset="-122"/>
                <a:ea typeface="楷体_GB2312" pitchFamily="49" charset="-122"/>
              </a:rPr>
              <a:t>访问控制策略</a:t>
            </a:r>
            <a:endParaRPr lang="en-US" altLang="zh-CN" sz="3200" dirty="0" smtClean="0">
              <a:latin typeface="楷体_GB2312" pitchFamily="49" charset="-122"/>
              <a:ea typeface="楷体_GB2312" pitchFamily="49" charset="-122"/>
            </a:endParaRPr>
          </a:p>
          <a:p>
            <a:pPr algn="ctr" eaLnBrk="1" hangingPunct="1">
              <a:defRPr/>
            </a:pPr>
            <a:r>
              <a:rPr lang="zh-CN" altLang="en-US" sz="3200" dirty="0" smtClean="0">
                <a:latin typeface="楷体_GB2312" pitchFamily="49" charset="-122"/>
                <a:ea typeface="楷体_GB2312" pitchFamily="49" charset="-122"/>
              </a:rPr>
              <a:t>自主访问控制</a:t>
            </a:r>
            <a:r>
              <a:rPr lang="en-US" altLang="zh-CN" sz="3200" dirty="0" smtClean="0">
                <a:latin typeface="楷体_GB2312" pitchFamily="49" charset="-122"/>
                <a:ea typeface="楷体_GB2312" pitchFamily="49" charset="-122"/>
              </a:rPr>
              <a:t>DAC</a:t>
            </a:r>
            <a:endParaRPr lang="en-US" altLang="zh-CN" sz="3200" dirty="0" smtClean="0">
              <a:latin typeface="楷体_GB2312" pitchFamily="49" charset="-122"/>
              <a:ea typeface="楷体_GB2312" pitchFamily="49" charset="-122"/>
            </a:endParaRPr>
          </a:p>
          <a:p>
            <a:pPr algn="ctr" eaLnBrk="1" hangingPunct="1">
              <a:defRPr/>
            </a:pPr>
            <a:r>
              <a:rPr lang="zh-CN" altLang="en-US" sz="3200" dirty="0" smtClean="0">
                <a:latin typeface="楷体_GB2312" pitchFamily="49" charset="-122"/>
                <a:ea typeface="楷体_GB2312" pitchFamily="49" charset="-122"/>
              </a:rPr>
              <a:t>强制访问控制</a:t>
            </a:r>
            <a:r>
              <a:rPr lang="en-US" altLang="zh-CN" sz="3200" dirty="0" smtClean="0">
                <a:latin typeface="楷体_GB2312" pitchFamily="49" charset="-122"/>
                <a:ea typeface="楷体_GB2312" pitchFamily="49" charset="-122"/>
              </a:rPr>
              <a:t>MAC</a:t>
            </a:r>
            <a:endParaRPr lang="en-US" altLang="zh-CN" sz="3200" dirty="0" smtClean="0">
              <a:latin typeface="楷体_GB2312" pitchFamily="49" charset="-122"/>
              <a:ea typeface="楷体_GB2312" pitchFamily="49" charset="-122"/>
            </a:endParaRPr>
          </a:p>
          <a:p>
            <a:pPr marL="416560" indent="-416560" algn="ctr">
              <a:defRPr/>
            </a:pPr>
            <a:r>
              <a:rPr lang="zh-CN" altLang="en-US" sz="3200" dirty="0">
                <a:latin typeface="宋体" panose="02010600030101010101" pitchFamily="2" charset="-122"/>
              </a:rPr>
              <a:t>基于角色访问控制</a:t>
            </a:r>
            <a:r>
              <a:rPr lang="en-US" altLang="zh-CN" sz="3200" dirty="0" smtClean="0">
                <a:latin typeface="Times New Roman" panose="02020603050405020304" pitchFamily="18" charset="0"/>
              </a:rPr>
              <a:t>RBAC</a:t>
            </a:r>
            <a:endParaRPr lang="en-US" altLang="zh-CN" sz="3200" dirty="0" smtClean="0">
              <a:latin typeface="Times New Roman" panose="02020603050405020304" pitchFamily="18" charset="0"/>
            </a:endParaRPr>
          </a:p>
          <a:p>
            <a:pPr marL="416560" indent="-416560" algn="ctr">
              <a:defRPr/>
            </a:pPr>
            <a:r>
              <a:rPr lang="zh-CN" altLang="en-US" sz="3200" dirty="0" smtClean="0">
                <a:latin typeface="Times New Roman" panose="02020603050405020304" pitchFamily="18" charset="0"/>
              </a:rPr>
              <a:t>访问控制的其他考虑</a:t>
            </a:r>
            <a:endParaRPr lang="en-US" altLang="zh-CN" sz="3200" dirty="0" smtClean="0">
              <a:latin typeface="Times New Roman" panose="02020603050405020304" pitchFamily="18" charset="0"/>
            </a:endParaRPr>
          </a:p>
          <a:p>
            <a:pPr marL="416560" indent="-416560" algn="ctr">
              <a:defRPr/>
            </a:pPr>
            <a:r>
              <a:rPr lang="zh-CN" altLang="en-US" sz="3200" dirty="0">
                <a:latin typeface="Times New Roman" panose="02020603050405020304" pitchFamily="18" charset="0"/>
              </a:rPr>
              <a:t>访问</a:t>
            </a:r>
            <a:r>
              <a:rPr lang="zh-CN" altLang="en-US" sz="3200" dirty="0" smtClean="0">
                <a:latin typeface="Times New Roman" panose="02020603050405020304" pitchFamily="18" charset="0"/>
              </a:rPr>
              <a:t>控制类产品</a:t>
            </a:r>
            <a:endParaRPr lang="en-US" altLang="zh-CN" sz="3200" dirty="0" smtClean="0">
              <a:latin typeface="Times New Roman" panose="02020603050405020304" pitchFamily="18" charset="0"/>
            </a:endParaRPr>
          </a:p>
          <a:p>
            <a:pPr marL="416560" indent="-416560" algn="ctr">
              <a:defRPr/>
            </a:pPr>
            <a:endParaRPr lang="en-US" altLang="zh-CN" sz="3200" b="1" dirty="0">
              <a:latin typeface="楷体_GB2312" pitchFamily="49" charset="-122"/>
              <a:ea typeface="楷体_GB2312" pitchFamily="49" charset="-122"/>
            </a:endParaRPr>
          </a:p>
          <a:p>
            <a:pPr eaLnBrk="1" hangingPunct="1">
              <a:defRPr/>
            </a:pPr>
            <a:r>
              <a:rPr lang="en-US" altLang="zh-CN" sz="3200" dirty="0" smtClean="0">
                <a:latin typeface="楷体_GB2312" pitchFamily="49" charset="-122"/>
                <a:ea typeface="楷体_GB2312" pitchFamily="49" charset="-122"/>
              </a:rPr>
              <a:t>    </a:t>
            </a:r>
            <a:endParaRPr lang="zh-CN" altLang="en-US" sz="3200" dirty="0" smtClean="0">
              <a:latin typeface="楷体_GB2312" pitchFamily="49" charset="-122"/>
              <a:ea typeface="楷体_GB2312" pitchFamily="49" charset="-122"/>
            </a:endParaRPr>
          </a:p>
        </p:txBody>
      </p:sp>
      <p:sp>
        <p:nvSpPr>
          <p:cNvPr id="8196" name="Rectangle 4"/>
          <p:cNvSpPr>
            <a:spLocks noGrp="1" noRot="1" noChangeArrowheads="1"/>
          </p:cNvSpPr>
          <p:nvPr>
            <p:ph type="title" idx="4294967295"/>
          </p:nvPr>
        </p:nvSpPr>
        <p:spPr/>
        <p:txBody>
          <a:bodyPr/>
          <a:lstStyle/>
          <a:p>
            <a:pPr eaLnBrk="1" hangingPunct="1"/>
            <a:r>
              <a:rPr lang="zh-CN" altLang="en-US" sz="3200" dirty="0"/>
              <a:t>其他</a:t>
            </a:r>
            <a:r>
              <a:rPr lang="zh-CN" altLang="en-US" sz="3200" b="0" dirty="0" smtClean="0"/>
              <a:t>内容</a:t>
            </a:r>
            <a:endParaRPr lang="zh-CN" altLang="en-US" b="0" dirty="0" smtClean="0"/>
          </a:p>
        </p:txBody>
      </p:sp>
    </p:spTree>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algn="ctr"/>
            <a:r>
              <a:rPr kumimoji="1" lang="zh-CN" altLang="en-US" sz="5400" b="1" dirty="0">
                <a:latin typeface="Times New Roman" panose="02020603050405020304" pitchFamily="18" charset="0"/>
              </a:rPr>
              <a:t>公开密钥设施</a:t>
            </a:r>
            <a:r>
              <a:rPr kumimoji="1" lang="en-US" altLang="zh-CN" sz="5400" b="1" dirty="0">
                <a:latin typeface="宋体" panose="02010600030101010101" pitchFamily="2" charset="-122"/>
              </a:rPr>
              <a:t>PKI</a:t>
            </a:r>
            <a:endParaRPr kumimoji="1" lang="en-US" altLang="zh-CN" sz="5400" b="1" dirty="0">
              <a:latin typeface="宋体" panose="02010600030101010101" pitchFamily="2" charset="-122"/>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4294967295"/>
          </p:nvPr>
        </p:nvSpPr>
        <p:spPr>
          <a:xfrm>
            <a:off x="6553200" y="6245225"/>
            <a:ext cx="2289175" cy="476250"/>
          </a:xfrm>
          <a:prstGeom prst="rect">
            <a:avLst/>
          </a:prstGeom>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6E69CA29-338D-401E-99AA-BAF43400A2A5}" type="slidenum">
              <a:rPr lang="en-US" altLang="zh-CN" sz="1400" smtClean="0">
                <a:solidFill>
                  <a:schemeClr val="bg1"/>
                </a:solidFill>
                <a:latin typeface="Arial" panose="020B0604020202020204" pitchFamily="34" charset="0"/>
              </a:rPr>
            </a:fld>
            <a:endParaRPr lang="en-US" altLang="zh-CN" sz="1400" smtClean="0">
              <a:solidFill>
                <a:schemeClr val="bg1"/>
              </a:solidFill>
              <a:latin typeface="Arial" panose="020B0604020202020204" pitchFamily="34" charset="0"/>
            </a:endParaRPr>
          </a:p>
        </p:txBody>
      </p:sp>
      <p:sp>
        <p:nvSpPr>
          <p:cNvPr id="9219" name="Text Box 3"/>
          <p:cNvSpPr txBox="1">
            <a:spLocks noChangeArrowheads="1"/>
          </p:cNvSpPr>
          <p:nvPr/>
        </p:nvSpPr>
        <p:spPr bwMode="auto">
          <a:xfrm>
            <a:off x="0" y="1773238"/>
            <a:ext cx="8839200"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16560" indent="-416560" algn="ctr">
              <a:defRPr/>
            </a:pPr>
            <a:r>
              <a:rPr lang="zh-CN" altLang="en-US" sz="3200" dirty="0">
                <a:latin typeface="楷体_GB2312" pitchFamily="49" charset="-122"/>
              </a:rPr>
              <a:t>什么是</a:t>
            </a:r>
            <a:r>
              <a:rPr lang="en-US" altLang="zh-CN" sz="3200" dirty="0">
                <a:latin typeface="楷体_GB2312" pitchFamily="49" charset="-122"/>
              </a:rPr>
              <a:t>PKI</a:t>
            </a:r>
            <a:endParaRPr lang="en-US" altLang="zh-CN" sz="3200" dirty="0">
              <a:latin typeface="楷体_GB2312" pitchFamily="49" charset="-122"/>
            </a:endParaRPr>
          </a:p>
          <a:p>
            <a:pPr marL="416560" indent="-416560" algn="ctr">
              <a:defRPr/>
            </a:pPr>
            <a:r>
              <a:rPr lang="zh-CN" altLang="en-US" sz="3200" dirty="0">
                <a:latin typeface="楷体_GB2312" pitchFamily="49" charset="-122"/>
              </a:rPr>
              <a:t>信任与信任模型</a:t>
            </a:r>
            <a:endParaRPr lang="en-US" altLang="zh-CN" sz="3200" dirty="0">
              <a:latin typeface="楷体_GB2312" pitchFamily="49" charset="-122"/>
            </a:endParaRPr>
          </a:p>
          <a:p>
            <a:pPr marL="416560" indent="-416560" algn="ctr">
              <a:defRPr/>
            </a:pPr>
            <a:r>
              <a:rPr lang="zh-CN" altLang="en-US" sz="3200" dirty="0">
                <a:latin typeface="楷体_GB2312" pitchFamily="49" charset="-122"/>
              </a:rPr>
              <a:t>典型</a:t>
            </a:r>
            <a:r>
              <a:rPr lang="en-US" altLang="zh-CN" sz="3200" dirty="0">
                <a:latin typeface="楷体_GB2312" pitchFamily="49" charset="-122"/>
              </a:rPr>
              <a:t>CA</a:t>
            </a:r>
            <a:r>
              <a:rPr lang="zh-CN" altLang="en-US" sz="3200" dirty="0">
                <a:latin typeface="楷体_GB2312" pitchFamily="49" charset="-122"/>
              </a:rPr>
              <a:t>系统体系结构</a:t>
            </a:r>
            <a:endParaRPr lang="en-US" altLang="zh-CN" sz="3200" dirty="0">
              <a:latin typeface="楷体_GB2312" pitchFamily="49" charset="-122"/>
            </a:endParaRPr>
          </a:p>
          <a:p>
            <a:pPr marL="416560" indent="-416560" algn="ctr">
              <a:defRPr/>
            </a:pPr>
            <a:r>
              <a:rPr lang="en-US" altLang="zh-CN" sz="3200" dirty="0">
                <a:latin typeface="楷体_GB2312" pitchFamily="49" charset="-122"/>
              </a:rPr>
              <a:t>PKI</a:t>
            </a:r>
            <a:r>
              <a:rPr lang="zh-CN" altLang="en-US" sz="3200" dirty="0">
                <a:latin typeface="楷体_GB2312" pitchFamily="49" charset="-122"/>
              </a:rPr>
              <a:t>中的证书系统</a:t>
            </a:r>
            <a:endParaRPr lang="zh-CN" altLang="en-US" sz="3200" dirty="0">
              <a:latin typeface="楷体_GB2312" pitchFamily="49" charset="-122"/>
            </a:endParaRPr>
          </a:p>
          <a:p>
            <a:pPr marL="416560" indent="-416560" algn="ctr">
              <a:defRPr/>
            </a:pPr>
            <a:r>
              <a:rPr lang="en-US" altLang="zh-CN" sz="3200" dirty="0">
                <a:latin typeface="楷体_GB2312" pitchFamily="49" charset="-122"/>
              </a:rPr>
              <a:t>PKI</a:t>
            </a:r>
            <a:r>
              <a:rPr lang="zh-CN" altLang="en-US" sz="3200" dirty="0">
                <a:latin typeface="楷体_GB2312" pitchFamily="49" charset="-122"/>
              </a:rPr>
              <a:t>应用</a:t>
            </a:r>
            <a:endParaRPr lang="en-US" altLang="zh-CN" sz="3200" dirty="0">
              <a:latin typeface="楷体_GB2312" pitchFamily="49" charset="-122"/>
            </a:endParaRPr>
          </a:p>
          <a:p>
            <a:pPr eaLnBrk="1" hangingPunct="1">
              <a:defRPr/>
            </a:pPr>
            <a:r>
              <a:rPr lang="en-US" altLang="zh-CN" sz="3200" dirty="0">
                <a:latin typeface="楷体_GB2312" pitchFamily="49" charset="-122"/>
              </a:rPr>
              <a:t>    </a:t>
            </a:r>
            <a:endParaRPr lang="zh-CN" altLang="en-US" sz="3200" dirty="0">
              <a:latin typeface="楷体_GB2312" pitchFamily="49" charset="-122"/>
            </a:endParaRPr>
          </a:p>
        </p:txBody>
      </p:sp>
      <p:sp>
        <p:nvSpPr>
          <p:cNvPr id="8196" name="Rectangle 4"/>
          <p:cNvSpPr>
            <a:spLocks noGrp="1" noRot="1" noChangeArrowheads="1"/>
          </p:cNvSpPr>
          <p:nvPr>
            <p:ph type="title" idx="4294967295"/>
          </p:nvPr>
        </p:nvSpPr>
        <p:spPr/>
        <p:txBody>
          <a:bodyPr/>
          <a:lstStyle/>
          <a:p>
            <a:pPr eaLnBrk="1" hangingPunct="1">
              <a:defRPr/>
            </a:pPr>
            <a:r>
              <a:rPr lang="zh-CN" altLang="en-US" sz="3200" b="0" dirty="0" smtClean="0">
                <a:solidFill>
                  <a:schemeClr val="tx1"/>
                </a:solidFill>
              </a:rPr>
              <a:t>内容</a:t>
            </a:r>
            <a:endParaRPr lang="zh-CN" altLang="en-US" b="0" dirty="0" smtClean="0">
              <a:solidFill>
                <a:schemeClr val="tx1"/>
              </a:solidFill>
            </a:endParaRPr>
          </a:p>
        </p:txBody>
      </p:sp>
    </p:spTree>
  </p:cSld>
  <p:clrMapOvr>
    <a:masterClrMapping/>
  </p:clrMapOvr>
  <p:transition>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4"/>
          <p:cNvSpPr txBox="1">
            <a:spLocks noGrp="1"/>
          </p:cNvSpPr>
          <p:nvPr>
            <p:ph type="sldNum" sz="quarter" idx="11"/>
          </p:nvPr>
        </p:nvSpPr>
        <p:spPr>
          <a:xfrm>
            <a:off x="6553200" y="6248400"/>
            <a:ext cx="2133600" cy="476250"/>
          </a:xfrm>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Garamond" panose="02020404030301010803"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5pPr>
          </a:lstStyle>
          <a:p>
            <a:pPr lvl="0" algn="r" eaLnBrk="1" hangingPunct="1"/>
            <a:fld id="{9A0DB2DC-4C9A-4742-B13C-FB6460FD3503}" type="slidenum">
              <a:rPr lang="zh-CN" altLang="en-US" sz="1200" dirty="0">
                <a:latin typeface="Arial" panose="020B0604020202020204" pitchFamily="34" charset="0"/>
              </a:rPr>
            </a:fld>
            <a:endParaRPr lang="zh-CN" altLang="en-US" sz="1200" dirty="0">
              <a:latin typeface="Arial" panose="020B0604020202020204" pitchFamily="34" charset="0"/>
            </a:endParaRPr>
          </a:p>
        </p:txBody>
      </p:sp>
      <p:sp>
        <p:nvSpPr>
          <p:cNvPr id="39117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j-lt"/>
                <a:ea typeface="+mj-ea"/>
                <a:cs typeface="+mj-cs"/>
              </a:rPr>
              <a:t>我们为什么需要</a:t>
            </a:r>
            <a:r>
              <a:rPr kumimoji="0" lang="en-US" altLang="zh-CN" sz="40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j-lt"/>
                <a:ea typeface="+mj-ea"/>
                <a:cs typeface="+mj-cs"/>
              </a:rPr>
              <a:t>PKI</a:t>
            </a:r>
            <a:endParaRPr kumimoji="0" lang="en-US" altLang="zh-CN" sz="40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j-lt"/>
              <a:ea typeface="+mj-ea"/>
              <a:cs typeface="+mj-cs"/>
            </a:endParaRPr>
          </a:p>
        </p:txBody>
      </p:sp>
      <p:sp>
        <p:nvSpPr>
          <p:cNvPr id="391171" name="Rectangle 3"/>
          <p:cNvSpPr>
            <a:spLocks noGrp="1" noChangeArrowheads="1"/>
          </p:cNvSpPr>
          <p:nvPr>
            <p:ph idx="1"/>
          </p:nvPr>
        </p:nvSpPr>
        <p:spPr>
          <a:xfrm>
            <a:off x="468313" y="1268413"/>
            <a:ext cx="8229600" cy="4525963"/>
          </a:xfrm>
        </p:spPr>
        <p:txBody>
          <a:bodyPr vert="horz" wrap="square" lIns="91440" tIns="45720" rIns="91440" bIns="45720" numCol="1" anchor="t" anchorCtr="0" compatLnSpc="1"/>
          <a:lstStyle/>
          <a:p>
            <a:pPr marL="609600" marR="0" lvl="0" indent="-6096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zh-CN" altLang="en-US" sz="32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密码协议和密码算法解决了应用安全中的一些关键问题</a:t>
            </a:r>
            <a:endParaRPr kumimoji="0" lang="zh-CN" altLang="en-US" sz="32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zh-CN" altLang="en-US" sz="32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如何实现它们，并使它们能够真正应用起来？</a:t>
            </a:r>
            <a:endParaRPr kumimoji="0" lang="zh-CN" altLang="en-US" sz="32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990600" marR="0" lvl="1" indent="-5334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rPr>
              <a:t>如何将公钥颁发给个体？</a:t>
            </a:r>
            <a:endParaRPr kumimoji="0" lang="zh-CN" altLang="en-US"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rPr>
              <a:t>个体的私钥存储在哪里？</a:t>
            </a:r>
            <a:endParaRPr kumimoji="0" lang="zh-CN" altLang="en-US"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rPr>
              <a:t>到哪里去获得其它个体的公钥？</a:t>
            </a:r>
            <a:endParaRPr kumimoji="0" lang="zh-CN" altLang="en-US"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endParaRPr>
          </a:p>
          <a:p>
            <a:pPr marL="990600" marR="0" lvl="1" indent="-5334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rPr>
              <a:t>如何确定他人的公钥是否有效、合法？</a:t>
            </a:r>
            <a:endParaRPr kumimoji="0" lang="en-US" altLang="zh-CN"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endParaRPr>
          </a:p>
          <a:p>
            <a:pPr marL="609600" marR="0" lvl="0" indent="-6096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a:spLocks noGrp="1"/>
          </p:cNvSpPr>
          <p:nvPr>
            <p:ph type="sldNum" sz="quarter" idx="4294967295"/>
          </p:nvPr>
        </p:nvSpPr>
        <p:spPr>
          <a:xfrm>
            <a:off x="6553200" y="6248400"/>
            <a:ext cx="2133600" cy="476250"/>
          </a:xfrm>
          <a:prstGeom prst="rect">
            <a:avLst/>
          </a:prstGeom>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97C0C230-CC79-4F15-8108-39C0CC430F50}" type="slidenum">
              <a:rPr lang="zh-CN" altLang="en-US" smtClean="0">
                <a:latin typeface="Arial" panose="020B0604020202020204" pitchFamily="34" charset="0"/>
              </a:rPr>
            </a:fld>
            <a:endParaRPr lang="en-US" altLang="zh-CN" smtClean="0">
              <a:latin typeface="Arial" panose="020B0604020202020204" pitchFamily="34" charset="0"/>
            </a:endParaRPr>
          </a:p>
        </p:txBody>
      </p:sp>
      <p:sp>
        <p:nvSpPr>
          <p:cNvPr id="392194" name="Rectangle 2"/>
          <p:cNvSpPr>
            <a:spLocks noGrp="1" noRot="1" noChangeArrowheads="1"/>
          </p:cNvSpPr>
          <p:nvPr>
            <p:ph type="title"/>
          </p:nvPr>
        </p:nvSpPr>
        <p:spPr>
          <a:ln>
            <a:solidFill>
              <a:schemeClr val="bg1"/>
            </a:solidFill>
            <a:miter lim="800000"/>
          </a:ln>
        </p:spPr>
        <p:txBody>
          <a:bodyPr/>
          <a:lstStyle/>
          <a:p>
            <a:pPr eaLnBrk="1" hangingPunct="1">
              <a:defRPr/>
            </a:pPr>
            <a:r>
              <a:rPr lang="zh-CN" altLang="en-US" sz="4000" smtClean="0">
                <a:solidFill>
                  <a:schemeClr val="tx1"/>
                </a:solidFill>
              </a:rPr>
              <a:t>什么是</a:t>
            </a:r>
            <a:r>
              <a:rPr lang="en-US" altLang="zh-CN" sz="4000" smtClean="0">
                <a:solidFill>
                  <a:schemeClr val="tx1"/>
                </a:solidFill>
              </a:rPr>
              <a:t>PKI</a:t>
            </a:r>
            <a:endParaRPr lang="en-US" altLang="zh-CN" sz="4000" smtClean="0">
              <a:solidFill>
                <a:schemeClr val="tx1"/>
              </a:solidFill>
            </a:endParaRPr>
          </a:p>
        </p:txBody>
      </p:sp>
      <p:sp>
        <p:nvSpPr>
          <p:cNvPr id="392195" name="Rectangle 3"/>
          <p:cNvSpPr>
            <a:spLocks noGrp="1" noChangeArrowheads="1"/>
          </p:cNvSpPr>
          <p:nvPr>
            <p:ph type="body" idx="1"/>
          </p:nvPr>
        </p:nvSpPr>
        <p:spPr/>
        <p:txBody>
          <a:bodyPr/>
          <a:lstStyle/>
          <a:p>
            <a:pPr eaLnBrk="1" hangingPunct="1">
              <a:defRPr/>
            </a:pPr>
            <a:r>
              <a:rPr lang="en-US" altLang="zh-CN" b="1" dirty="0" smtClean="0"/>
              <a:t>PKI</a:t>
            </a:r>
            <a:r>
              <a:rPr lang="zh-CN" altLang="en-US" b="1" dirty="0" smtClean="0"/>
              <a:t>（</a:t>
            </a:r>
            <a:r>
              <a:rPr lang="en-US" altLang="zh-CN" b="1" dirty="0" smtClean="0"/>
              <a:t>Public-key infrastructure)</a:t>
            </a:r>
            <a:endParaRPr lang="en-US" altLang="zh-CN" b="1" dirty="0" smtClean="0"/>
          </a:p>
          <a:p>
            <a:pPr eaLnBrk="1" hangingPunct="1">
              <a:defRPr/>
            </a:pPr>
            <a:r>
              <a:rPr lang="en-US" altLang="zh-CN" b="1" dirty="0" smtClean="0"/>
              <a:t> </a:t>
            </a:r>
            <a:r>
              <a:rPr lang="zh-CN" altLang="en-US" b="1" dirty="0" smtClean="0"/>
              <a:t>提供了解决这些问题的基础和框架</a:t>
            </a:r>
            <a:endParaRPr lang="zh-CN" altLang="en-US" b="1" dirty="0" smtClean="0"/>
          </a:p>
          <a:p>
            <a:pPr eaLnBrk="1" hangingPunct="1">
              <a:defRPr/>
            </a:pPr>
            <a:r>
              <a:rPr lang="zh-CN" altLang="en-US" b="1" dirty="0" smtClean="0"/>
              <a:t> </a:t>
            </a:r>
            <a:r>
              <a:rPr lang="en-US" altLang="zh-CN" b="1" dirty="0" smtClean="0"/>
              <a:t>X.509</a:t>
            </a:r>
            <a:r>
              <a:rPr lang="zh-CN" altLang="en-US" b="1" dirty="0" smtClean="0"/>
              <a:t>定义</a:t>
            </a:r>
            <a:r>
              <a:rPr lang="en-US" altLang="zh-CN" b="1" dirty="0" smtClean="0"/>
              <a:t>PKI</a:t>
            </a:r>
            <a:r>
              <a:rPr lang="zh-CN" altLang="en-US" b="1" dirty="0" smtClean="0"/>
              <a:t>为：创建、管理、存储、发布和撤消基于公钥密码系统的数字证书所需要的硬件、软件、人和过程的集合。</a:t>
            </a:r>
            <a:endParaRPr lang="en-US" altLang="zh-CN" b="1" dirty="0" smtClean="0"/>
          </a:p>
          <a:p>
            <a:pPr eaLnBrk="1" hangingPunct="1">
              <a:defRPr/>
            </a:pPr>
            <a:endParaRPr lang="en-US" altLang="zh-CN" b="1" dirty="0"/>
          </a:p>
          <a:p>
            <a:r>
              <a:rPr lang="zh-CN" altLang="en-US" b="1" dirty="0" smtClean="0"/>
              <a:t>管理对象：</a:t>
            </a:r>
            <a:r>
              <a:rPr lang="en-US" altLang="zh-CN" dirty="0"/>
              <a:t> </a:t>
            </a:r>
            <a:r>
              <a:rPr lang="zh-CN" altLang="zh-CN" b="1" dirty="0" smtClean="0"/>
              <a:t>证书</a:t>
            </a:r>
            <a:r>
              <a:rPr lang="en-US" altLang="zh-CN" b="1" dirty="0" smtClean="0"/>
              <a:t>   </a:t>
            </a:r>
            <a:r>
              <a:rPr lang="zh-CN" altLang="zh-CN" b="1" dirty="0"/>
              <a:t>密钥</a:t>
            </a:r>
            <a:r>
              <a:rPr lang="en-US" altLang="zh-CN" b="1" dirty="0"/>
              <a:t>  </a:t>
            </a:r>
            <a:r>
              <a:rPr lang="zh-CN" altLang="zh-CN" b="1" dirty="0" smtClean="0"/>
              <a:t>证书</a:t>
            </a:r>
            <a:r>
              <a:rPr lang="zh-CN" altLang="zh-CN" b="1" dirty="0"/>
              <a:t>撤消</a:t>
            </a:r>
            <a:endParaRPr lang="zh-CN" altLang="zh-CN" b="1" dirty="0"/>
          </a:p>
          <a:p>
            <a:pPr eaLnBrk="1" hangingPunct="1">
              <a:defRPr/>
            </a:pPr>
            <a:endParaRPr lang="zh-CN" altLang="en-US" b="1"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4"/>
          <p:cNvSpPr>
            <a:spLocks noGrp="1"/>
          </p:cNvSpPr>
          <p:nvPr>
            <p:ph type="sldNum" sz="quarter" idx="4294967295"/>
          </p:nvPr>
        </p:nvSpPr>
        <p:spPr>
          <a:xfrm>
            <a:off x="6553200" y="6248400"/>
            <a:ext cx="2133600" cy="476250"/>
          </a:xfrm>
          <a:prstGeom prst="rect">
            <a:avLst/>
          </a:prstGeom>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1AEAA5D2-EF55-4E70-A54F-9D74E555EC6F}" type="slidenum">
              <a:rPr lang="zh-CN" altLang="en-US" smtClean="0">
                <a:latin typeface="Arial" panose="020B0604020202020204" pitchFamily="34" charset="0"/>
              </a:rPr>
            </a:fld>
            <a:endParaRPr lang="en-US" altLang="zh-CN" smtClean="0">
              <a:latin typeface="Arial" panose="020B0604020202020204" pitchFamily="34" charset="0"/>
            </a:endParaRPr>
          </a:p>
        </p:txBody>
      </p:sp>
      <p:sp>
        <p:nvSpPr>
          <p:cNvPr id="66563" name="Rectangle 1"/>
          <p:cNvSpPr>
            <a:spLocks noChangeArrowheads="1"/>
          </p:cNvSpPr>
          <p:nvPr/>
        </p:nvSpPr>
        <p:spPr bwMode="auto">
          <a:xfrm>
            <a:off x="381000" y="1066800"/>
            <a:ext cx="8240713" cy="544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342900" indent="-342900">
              <a:spcBef>
                <a:spcPct val="20000"/>
              </a:spcBef>
              <a:buFontTx/>
              <a:buChar char="•"/>
            </a:pPr>
            <a:r>
              <a:rPr kumimoji="1" lang="zh-CN" altLang="en-US" sz="3200" b="1" dirty="0">
                <a:latin typeface="Times New Roman" panose="02020603050405020304" pitchFamily="18" charset="0"/>
              </a:rPr>
              <a:t>证书</a:t>
            </a:r>
            <a:r>
              <a:rPr kumimoji="1" lang="en-US" altLang="zh-CN" sz="3200" b="1" dirty="0">
                <a:latin typeface="Times New Roman" panose="02020603050405020304" pitchFamily="18" charset="0"/>
              </a:rPr>
              <a:t>(certificate)</a:t>
            </a:r>
            <a:r>
              <a:rPr kumimoji="1" lang="zh-CN" altLang="en-US" sz="3200" b="1" dirty="0">
                <a:latin typeface="Times New Roman" panose="02020603050405020304" pitchFamily="18" charset="0"/>
              </a:rPr>
              <a:t>，有时候简称为</a:t>
            </a:r>
            <a:r>
              <a:rPr kumimoji="1" lang="en-US" altLang="zh-CN" sz="3200" b="1" dirty="0">
                <a:latin typeface="Times New Roman" panose="02020603050405020304" pitchFamily="18" charset="0"/>
              </a:rPr>
              <a:t>cert</a:t>
            </a:r>
            <a:endParaRPr kumimoji="1" lang="en-US" altLang="zh-CN" sz="3200" b="1" dirty="0">
              <a:latin typeface="Times New Roman" panose="02020603050405020304" pitchFamily="18" charset="0"/>
            </a:endParaRPr>
          </a:p>
          <a:p>
            <a:pPr marL="342900" indent="-342900">
              <a:spcBef>
                <a:spcPct val="20000"/>
              </a:spcBef>
              <a:buFontTx/>
              <a:buChar char="•"/>
            </a:pPr>
            <a:r>
              <a:rPr kumimoji="1" lang="en-US" altLang="zh-CN" sz="3200" b="1" dirty="0">
                <a:latin typeface="Times New Roman" panose="02020603050405020304" pitchFamily="18" charset="0"/>
              </a:rPr>
              <a:t>PKI</a:t>
            </a:r>
            <a:r>
              <a:rPr kumimoji="1" lang="zh-CN" altLang="en-US" sz="3200" b="1" dirty="0">
                <a:latin typeface="Times New Roman" panose="02020603050405020304" pitchFamily="18" charset="0"/>
              </a:rPr>
              <a:t>适用于异构环境中，所以证书的格式在所使用的范围内必须统一</a:t>
            </a:r>
            <a:endParaRPr kumimoji="1" lang="zh-CN" altLang="en-US" sz="3200" b="1" dirty="0">
              <a:latin typeface="Times New Roman" panose="02020603050405020304" pitchFamily="18" charset="0"/>
            </a:endParaRPr>
          </a:p>
          <a:p>
            <a:pPr marL="342900" indent="-342900">
              <a:spcBef>
                <a:spcPct val="20000"/>
              </a:spcBef>
              <a:buFontTx/>
              <a:buChar char="•"/>
            </a:pPr>
            <a:r>
              <a:rPr kumimoji="1" lang="zh-CN" altLang="en-US" sz="3200" b="1" dirty="0">
                <a:latin typeface="Times New Roman" panose="02020603050405020304" pitchFamily="18" charset="0"/>
              </a:rPr>
              <a:t>证书是一个机构颁发给一个安全个体的证明，所以证书的权威性取决于该机构的权威性</a:t>
            </a:r>
            <a:endParaRPr kumimoji="1" lang="zh-CN" altLang="en-US" sz="3200" b="1" dirty="0">
              <a:latin typeface="Times New Roman" panose="02020603050405020304" pitchFamily="18" charset="0"/>
            </a:endParaRPr>
          </a:p>
          <a:p>
            <a:pPr marL="342900" indent="-342900">
              <a:spcBef>
                <a:spcPct val="20000"/>
              </a:spcBef>
              <a:buFontTx/>
              <a:buChar char="•"/>
            </a:pPr>
            <a:r>
              <a:rPr kumimoji="1" lang="zh-CN" altLang="en-US" sz="3200" b="1" dirty="0">
                <a:latin typeface="Times New Roman" panose="02020603050405020304" pitchFamily="18" charset="0"/>
              </a:rPr>
              <a:t>一个证书中，最重要的信息是个体名字、个体的公钥、机构的签名、算法和用途</a:t>
            </a:r>
            <a:endParaRPr kumimoji="1" lang="zh-CN" altLang="en-US" sz="3200" b="1" dirty="0">
              <a:latin typeface="Times New Roman" panose="02020603050405020304" pitchFamily="18" charset="0"/>
            </a:endParaRPr>
          </a:p>
          <a:p>
            <a:pPr marL="342900" indent="-342900">
              <a:spcBef>
                <a:spcPct val="20000"/>
              </a:spcBef>
              <a:buFontTx/>
              <a:buChar char="•"/>
            </a:pPr>
            <a:r>
              <a:rPr kumimoji="1" lang="zh-CN" altLang="en-US" sz="3200" b="1" dirty="0">
                <a:latin typeface="Times New Roman" panose="02020603050405020304" pitchFamily="18" charset="0"/>
              </a:rPr>
              <a:t>签名证书和加密证书分开</a:t>
            </a:r>
            <a:endParaRPr kumimoji="1" lang="zh-CN" altLang="en-US" sz="3200" b="1" dirty="0">
              <a:latin typeface="Times New Roman" panose="02020603050405020304" pitchFamily="18" charset="0"/>
            </a:endParaRPr>
          </a:p>
          <a:p>
            <a:pPr marL="342900" indent="-342900">
              <a:spcBef>
                <a:spcPct val="20000"/>
              </a:spcBef>
              <a:buFontTx/>
              <a:buChar char="•"/>
            </a:pPr>
            <a:r>
              <a:rPr kumimoji="1" lang="zh-CN" altLang="en-US" sz="3200" b="1" dirty="0">
                <a:latin typeface="Times New Roman" panose="02020603050405020304" pitchFamily="18" charset="0"/>
              </a:rPr>
              <a:t>最常用的证书格式为</a:t>
            </a:r>
            <a:r>
              <a:rPr kumimoji="1" lang="en-US" altLang="zh-CN" sz="3200" b="1" dirty="0">
                <a:latin typeface="Times New Roman" panose="02020603050405020304" pitchFamily="18" charset="0"/>
              </a:rPr>
              <a:t>X.509 v3</a:t>
            </a:r>
            <a:endParaRPr kumimoji="1" lang="en-US" altLang="zh-CN" sz="3200" b="1" dirty="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2"/>
          <p:cNvSpPr>
            <a:spLocks noGrp="1"/>
          </p:cNvSpPr>
          <p:nvPr>
            <p:ph type="sldNum" sz="quarter" idx="4294967295"/>
          </p:nvPr>
        </p:nvSpPr>
        <p:spPr>
          <a:xfrm>
            <a:off x="6553200" y="6248400"/>
            <a:ext cx="2133600" cy="476250"/>
          </a:xfrm>
          <a:prstGeom prst="rect">
            <a:avLst/>
          </a:prstGeom>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93DF3060-2143-41DA-8524-00FC2747C479}" type="slidenum">
              <a:rPr lang="zh-CN" altLang="en-US" smtClean="0">
                <a:latin typeface="Arial" panose="020B0604020202020204" pitchFamily="34" charset="0"/>
              </a:rPr>
            </a:fld>
            <a:endParaRPr lang="en-US" altLang="zh-CN" smtClean="0">
              <a:latin typeface="Arial" panose="020B0604020202020204" pitchFamily="34" charset="0"/>
            </a:endParaRPr>
          </a:p>
        </p:txBody>
      </p:sp>
      <p:sp>
        <p:nvSpPr>
          <p:cNvPr id="67587" name="Rectangle 4"/>
          <p:cNvSpPr>
            <a:spLocks noChangeArrowheads="1"/>
          </p:cNvSpPr>
          <p:nvPr/>
        </p:nvSpPr>
        <p:spPr bwMode="auto">
          <a:xfrm>
            <a:off x="381000" y="228600"/>
            <a:ext cx="82407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kumimoji="1" lang="en-US" altLang="zh-CN" sz="4800" b="1">
                <a:latin typeface="Times New Roman" panose="02020603050405020304" pitchFamily="18" charset="0"/>
                <a:ea typeface="华文新魏" panose="02010800040101010101" pitchFamily="2" charset="-122"/>
              </a:rPr>
              <a:t>X.509</a:t>
            </a:r>
            <a:r>
              <a:rPr kumimoji="1" lang="zh-CN" altLang="en-US" sz="4800" b="1">
                <a:latin typeface="Times New Roman" panose="02020603050405020304" pitchFamily="18" charset="0"/>
                <a:ea typeface="华文新魏" panose="02010800040101010101" pitchFamily="2" charset="-122"/>
              </a:rPr>
              <a:t>证书格式</a:t>
            </a:r>
            <a:endParaRPr kumimoji="1" lang="zh-CN" altLang="en-US" sz="4800" b="1">
              <a:latin typeface="Times New Roman" panose="02020603050405020304" pitchFamily="18" charset="0"/>
              <a:ea typeface="华文新魏" panose="02010800040101010101" pitchFamily="2" charset="-122"/>
            </a:endParaRPr>
          </a:p>
        </p:txBody>
      </p:sp>
      <p:sp>
        <p:nvSpPr>
          <p:cNvPr id="67588" name="Rectangle 5"/>
          <p:cNvSpPr>
            <a:spLocks noChangeArrowheads="1"/>
          </p:cNvSpPr>
          <p:nvPr/>
        </p:nvSpPr>
        <p:spPr bwMode="auto">
          <a:xfrm>
            <a:off x="228600" y="1295400"/>
            <a:ext cx="8240713" cy="458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342900" indent="-342900">
              <a:spcBef>
                <a:spcPct val="20000"/>
              </a:spcBef>
              <a:buFontTx/>
              <a:buChar char="•"/>
            </a:pPr>
            <a:r>
              <a:rPr kumimoji="1" lang="zh-CN" altLang="en-US" sz="2800" b="1" dirty="0">
                <a:latin typeface="Times New Roman" panose="02020603050405020304" pitchFamily="18" charset="0"/>
              </a:rPr>
              <a:t>证书的版本</a:t>
            </a:r>
            <a:r>
              <a:rPr kumimoji="1" lang="zh-CN" altLang="en-US" sz="2800" b="1" dirty="0" smtClean="0">
                <a:latin typeface="Times New Roman" panose="02020603050405020304" pitchFamily="18" charset="0"/>
              </a:rPr>
              <a:t>信息</a:t>
            </a:r>
            <a:endParaRPr kumimoji="1" lang="en-US" altLang="zh-CN" sz="2800" b="1" dirty="0" smtClean="0">
              <a:latin typeface="Times New Roman" panose="02020603050405020304" pitchFamily="18" charset="0"/>
            </a:endParaRPr>
          </a:p>
          <a:p>
            <a:pPr marL="342900" indent="-342900">
              <a:spcBef>
                <a:spcPct val="20000"/>
              </a:spcBef>
              <a:buFontTx/>
              <a:buChar char="•"/>
            </a:pPr>
            <a:r>
              <a:rPr kumimoji="1" lang="zh-CN" altLang="en-US" sz="2800" b="1" dirty="0" smtClean="0">
                <a:latin typeface="Times New Roman" panose="02020603050405020304" pitchFamily="18" charset="0"/>
              </a:rPr>
              <a:t>证书</a:t>
            </a:r>
            <a:r>
              <a:rPr kumimoji="1" lang="zh-CN" altLang="en-US" sz="2800" b="1" dirty="0">
                <a:latin typeface="Times New Roman" panose="02020603050405020304" pitchFamily="18" charset="0"/>
              </a:rPr>
              <a:t>的序列号</a:t>
            </a:r>
            <a:endParaRPr kumimoji="1" lang="zh-CN" altLang="en-US" sz="2800" b="1" dirty="0" smtClean="0">
              <a:latin typeface="Times New Roman" panose="02020603050405020304" pitchFamily="18" charset="0"/>
            </a:endParaRPr>
          </a:p>
          <a:p>
            <a:pPr marL="742950" lvl="1" indent="-285750">
              <a:spcBef>
                <a:spcPct val="20000"/>
              </a:spcBef>
              <a:buFontTx/>
              <a:buChar char="–"/>
            </a:pPr>
            <a:r>
              <a:rPr kumimoji="1" lang="zh-CN" altLang="en-US" sz="2400" b="1" dirty="0" smtClean="0">
                <a:latin typeface="Times New Roman" panose="02020603050405020304" pitchFamily="18" charset="0"/>
              </a:rPr>
              <a:t>在</a:t>
            </a:r>
            <a:r>
              <a:rPr kumimoji="1" lang="en-US" altLang="zh-CN" sz="2400" b="1" dirty="0" smtClean="0">
                <a:latin typeface="Times New Roman" panose="02020603050405020304" pitchFamily="18" charset="0"/>
              </a:rPr>
              <a:t>CA</a:t>
            </a:r>
            <a:r>
              <a:rPr kumimoji="1" lang="zh-CN" altLang="en-US" sz="2400" b="1" dirty="0" smtClean="0">
                <a:latin typeface="Times New Roman" panose="02020603050405020304" pitchFamily="18" charset="0"/>
              </a:rPr>
              <a:t>内部唯一</a:t>
            </a:r>
            <a:endParaRPr kumimoji="1" lang="zh-CN" altLang="en-US" sz="2400" b="1" dirty="0" smtClean="0">
              <a:latin typeface="Times New Roman" panose="02020603050405020304" pitchFamily="18" charset="0"/>
            </a:endParaRPr>
          </a:p>
          <a:p>
            <a:pPr marL="342900" indent="-342900">
              <a:spcBef>
                <a:spcPct val="20000"/>
              </a:spcBef>
              <a:buFontTx/>
              <a:buChar char="•"/>
            </a:pPr>
            <a:r>
              <a:rPr kumimoji="1" lang="zh-CN" altLang="en-US" sz="2800" b="1" dirty="0">
                <a:latin typeface="Times New Roman" panose="02020603050405020304" pitchFamily="18" charset="0"/>
              </a:rPr>
              <a:t>证书所使用的签名</a:t>
            </a:r>
            <a:r>
              <a:rPr kumimoji="1" lang="zh-CN" altLang="en-US" sz="2800" b="1" dirty="0" smtClean="0">
                <a:latin typeface="Times New Roman" panose="02020603050405020304" pitchFamily="18" charset="0"/>
              </a:rPr>
              <a:t>算法</a:t>
            </a:r>
            <a:endParaRPr kumimoji="1" lang="zh-CN" altLang="en-US" sz="2400" b="1" dirty="0">
              <a:latin typeface="Times New Roman" panose="02020603050405020304" pitchFamily="18" charset="0"/>
            </a:endParaRPr>
          </a:p>
          <a:p>
            <a:pPr marL="342900" indent="-342900">
              <a:spcBef>
                <a:spcPct val="20000"/>
              </a:spcBef>
              <a:buFontTx/>
              <a:buChar char="•"/>
            </a:pPr>
            <a:r>
              <a:rPr kumimoji="1" lang="zh-CN" altLang="en-US" sz="2800" b="1" dirty="0">
                <a:latin typeface="Times New Roman" panose="02020603050405020304" pitchFamily="18" charset="0"/>
              </a:rPr>
              <a:t>证书的发行机构</a:t>
            </a:r>
            <a:r>
              <a:rPr kumimoji="1" lang="zh-CN" altLang="en-US" sz="2800" b="1" dirty="0" smtClean="0">
                <a:latin typeface="Times New Roman" panose="02020603050405020304" pitchFamily="18" charset="0"/>
              </a:rPr>
              <a:t>名称</a:t>
            </a:r>
            <a:endParaRPr kumimoji="1" lang="en-US" altLang="zh-CN" sz="2800" b="1" dirty="0" smtClean="0">
              <a:latin typeface="Times New Roman" panose="02020603050405020304" pitchFamily="18" charset="0"/>
            </a:endParaRPr>
          </a:p>
          <a:p>
            <a:pPr>
              <a:spcBef>
                <a:spcPct val="20000"/>
              </a:spcBef>
            </a:pPr>
            <a:r>
              <a:rPr kumimoji="1" lang="en-US" altLang="zh-CN" sz="2800" b="1" dirty="0" smtClean="0">
                <a:latin typeface="Times New Roman" panose="02020603050405020304" pitchFamily="18" charset="0"/>
              </a:rPr>
              <a:t>     -</a:t>
            </a:r>
            <a:r>
              <a:rPr kumimoji="1" lang="zh-CN" altLang="en-US" sz="2800" b="1" dirty="0">
                <a:latin typeface="Times New Roman" panose="02020603050405020304" pitchFamily="18" charset="0"/>
              </a:rPr>
              <a:t>一般采用</a:t>
            </a:r>
            <a:r>
              <a:rPr kumimoji="1" lang="en-US" altLang="zh-CN" sz="2800" b="1" dirty="0">
                <a:latin typeface="Times New Roman" panose="02020603050405020304" pitchFamily="18" charset="0"/>
              </a:rPr>
              <a:t>X.509</a:t>
            </a:r>
            <a:r>
              <a:rPr kumimoji="1" lang="zh-CN" altLang="en-US" sz="2800" b="1" dirty="0">
                <a:latin typeface="Times New Roman" panose="02020603050405020304" pitchFamily="18" charset="0"/>
              </a:rPr>
              <a:t>格式</a:t>
            </a:r>
            <a:endParaRPr kumimoji="1" lang="en-US" altLang="zh-CN" sz="2800" b="1" dirty="0" smtClean="0">
              <a:latin typeface="Times New Roman" panose="02020603050405020304" pitchFamily="18" charset="0"/>
            </a:endParaRPr>
          </a:p>
          <a:p>
            <a:pPr marL="342900" indent="-342900">
              <a:spcBef>
                <a:spcPct val="20000"/>
              </a:spcBef>
              <a:buFontTx/>
              <a:buChar char="•"/>
            </a:pPr>
            <a:r>
              <a:rPr kumimoji="1" lang="zh-CN" altLang="en-US" sz="2800" b="1" dirty="0">
                <a:latin typeface="Times New Roman" panose="02020603050405020304" pitchFamily="18" charset="0"/>
              </a:rPr>
              <a:t>证书的</a:t>
            </a:r>
            <a:r>
              <a:rPr kumimoji="1" lang="zh-CN" altLang="en-US" sz="2800" b="1" dirty="0" smtClean="0">
                <a:latin typeface="Times New Roman" panose="02020603050405020304" pitchFamily="18" charset="0"/>
              </a:rPr>
              <a:t>有效期</a:t>
            </a:r>
            <a:endParaRPr kumimoji="1" lang="en-US" altLang="zh-CN" sz="2800" b="1" dirty="0" smtClean="0">
              <a:latin typeface="Times New Roman" panose="02020603050405020304" pitchFamily="18" charset="0"/>
            </a:endParaRPr>
          </a:p>
          <a:p>
            <a:pPr>
              <a:spcBef>
                <a:spcPct val="20000"/>
              </a:spcBef>
            </a:pPr>
            <a:r>
              <a:rPr kumimoji="1" lang="zh-CN" altLang="en-US" sz="2800" b="1" dirty="0" smtClean="0">
                <a:latin typeface="Times New Roman" panose="02020603050405020304" pitchFamily="18" charset="0"/>
              </a:rPr>
              <a:t>   一般</a:t>
            </a:r>
            <a:r>
              <a:rPr kumimoji="1" lang="zh-CN" altLang="en-US" sz="2800" b="1" dirty="0">
                <a:latin typeface="Times New Roman" panose="02020603050405020304" pitchFamily="18" charset="0"/>
              </a:rPr>
              <a:t>采用</a:t>
            </a:r>
            <a:r>
              <a:rPr kumimoji="1" lang="en-US" altLang="zh-CN" sz="2800" b="1" dirty="0">
                <a:latin typeface="Times New Roman" panose="02020603050405020304" pitchFamily="18" charset="0"/>
              </a:rPr>
              <a:t>UTC</a:t>
            </a:r>
            <a:r>
              <a:rPr kumimoji="1" lang="zh-CN" altLang="en-US" sz="2800" b="1" dirty="0">
                <a:latin typeface="Times New Roman" panose="02020603050405020304" pitchFamily="18" charset="0"/>
              </a:rPr>
              <a:t>时间</a:t>
            </a:r>
            <a:r>
              <a:rPr kumimoji="1" lang="zh-CN" altLang="en-US" sz="2800" b="1" dirty="0" smtClean="0">
                <a:latin typeface="Times New Roman" panose="02020603050405020304" pitchFamily="18" charset="0"/>
              </a:rPr>
              <a:t>格式</a:t>
            </a:r>
            <a:endParaRPr kumimoji="1" lang="zh-CN" altLang="en-US" sz="2400" b="1" dirty="0">
              <a:latin typeface="Times New Roman" panose="02020603050405020304" pitchFamily="18" charset="0"/>
            </a:endParaRPr>
          </a:p>
          <a:p>
            <a:pPr marL="342900" indent="-342900">
              <a:spcBef>
                <a:spcPct val="20000"/>
              </a:spcBef>
              <a:buFontTx/>
              <a:buChar char="•"/>
            </a:pPr>
            <a:r>
              <a:rPr kumimoji="1" lang="zh-CN" altLang="en-US" sz="2800" b="1" dirty="0">
                <a:latin typeface="Times New Roman" panose="02020603050405020304" pitchFamily="18" charset="0"/>
              </a:rPr>
              <a:t>证书所有人的名称</a:t>
            </a:r>
            <a:endParaRPr kumimoji="1" lang="zh-CN" altLang="en-US" sz="2800" b="1" dirty="0">
              <a:latin typeface="Times New Roman" panose="02020603050405020304" pitchFamily="18" charset="0"/>
            </a:endParaRPr>
          </a:p>
        </p:txBody>
      </p:sp>
      <p:sp>
        <p:nvSpPr>
          <p:cNvPr id="67589" name="Rectangle 7"/>
          <p:cNvSpPr>
            <a:spLocks noChangeArrowheads="1"/>
          </p:cNvSpPr>
          <p:nvPr/>
        </p:nvSpPr>
        <p:spPr bwMode="auto">
          <a:xfrm>
            <a:off x="4191000" y="4038600"/>
            <a:ext cx="4953000" cy="2590800"/>
          </a:xfrm>
          <a:prstGeom prst="rect">
            <a:avLst/>
          </a:prstGeom>
          <a:solidFill>
            <a:srgbClr val="9999FF">
              <a:alpha val="50195"/>
            </a:srgb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7590"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78325" y="1143000"/>
            <a:ext cx="476567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2"/>
          <p:cNvSpPr>
            <a:spLocks noGrp="1"/>
          </p:cNvSpPr>
          <p:nvPr>
            <p:ph type="sldNum" sz="quarter" idx="4294967295"/>
          </p:nvPr>
        </p:nvSpPr>
        <p:spPr>
          <a:xfrm>
            <a:off x="6553200" y="6248400"/>
            <a:ext cx="2133600" cy="476250"/>
          </a:xfrm>
          <a:prstGeom prst="rect">
            <a:avLst/>
          </a:prstGeom>
          <a:noFill/>
        </p:spPr>
        <p:txBody>
          <a:bodyPr/>
          <a:lstStyle>
            <a:lvl1pPr eaLnBrk="0" hangingPunct="0">
              <a:defRPr>
                <a:solidFill>
                  <a:schemeClr val="tx1"/>
                </a:solidFill>
                <a:latin typeface="Garamond" panose="02020404030301010803" pitchFamily="18" charset="0"/>
                <a:ea typeface="宋体" panose="02010600030101010101" pitchFamily="2" charset="-122"/>
              </a:defRPr>
            </a:lvl1pPr>
            <a:lvl2pPr marL="742950" indent="-285750" eaLnBrk="0" hangingPunct="0">
              <a:defRPr>
                <a:solidFill>
                  <a:schemeClr val="tx1"/>
                </a:solidFill>
                <a:latin typeface="Garamond" panose="02020404030301010803" pitchFamily="18" charset="0"/>
                <a:ea typeface="宋体" panose="02010600030101010101" pitchFamily="2" charset="-122"/>
              </a:defRPr>
            </a:lvl2pPr>
            <a:lvl3pPr marL="1143000" indent="-228600" eaLnBrk="0" hangingPunct="0">
              <a:defRPr>
                <a:solidFill>
                  <a:schemeClr val="tx1"/>
                </a:solidFill>
                <a:latin typeface="Garamond" panose="02020404030301010803" pitchFamily="18" charset="0"/>
                <a:ea typeface="宋体" panose="02010600030101010101" pitchFamily="2" charset="-122"/>
              </a:defRPr>
            </a:lvl3pPr>
            <a:lvl4pPr marL="1600200" indent="-228600" eaLnBrk="0" hangingPunct="0">
              <a:defRPr>
                <a:solidFill>
                  <a:schemeClr val="tx1"/>
                </a:solidFill>
                <a:latin typeface="Garamond" panose="02020404030301010803" pitchFamily="18" charset="0"/>
                <a:ea typeface="宋体" panose="02010600030101010101" pitchFamily="2" charset="-122"/>
              </a:defRPr>
            </a:lvl4pPr>
            <a:lvl5pPr marL="2057400" indent="-228600" eaLnBrk="0" hangingPunct="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fld id="{133A9FA4-F294-46F6-88C3-83F9F499C6C6}" type="slidenum">
              <a:rPr lang="zh-CN" altLang="en-US" smtClean="0">
                <a:latin typeface="Arial" panose="020B0604020202020204" pitchFamily="34" charset="0"/>
              </a:rPr>
            </a:fld>
            <a:endParaRPr lang="en-US" altLang="zh-CN" smtClean="0">
              <a:latin typeface="Arial" panose="020B0604020202020204" pitchFamily="34" charset="0"/>
            </a:endParaRPr>
          </a:p>
        </p:txBody>
      </p:sp>
      <p:sp>
        <p:nvSpPr>
          <p:cNvPr id="68611" name="Rectangle 4"/>
          <p:cNvSpPr>
            <a:spLocks noChangeArrowheads="1"/>
          </p:cNvSpPr>
          <p:nvPr/>
        </p:nvSpPr>
        <p:spPr bwMode="auto">
          <a:xfrm>
            <a:off x="381000" y="228600"/>
            <a:ext cx="82407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kumimoji="1" lang="en-US" altLang="zh-CN" sz="4800" b="1">
                <a:latin typeface="Times New Roman" panose="02020603050405020304" pitchFamily="18" charset="0"/>
                <a:ea typeface="华文新魏" panose="02010800040101010101" pitchFamily="2" charset="-122"/>
              </a:rPr>
              <a:t>X.509</a:t>
            </a:r>
            <a:r>
              <a:rPr kumimoji="1" lang="zh-CN" altLang="en-US" sz="4800" b="1">
                <a:latin typeface="Times New Roman" panose="02020603050405020304" pitchFamily="18" charset="0"/>
                <a:ea typeface="华文新魏" panose="02010800040101010101" pitchFamily="2" charset="-122"/>
              </a:rPr>
              <a:t>证书格式</a:t>
            </a:r>
            <a:r>
              <a:rPr kumimoji="1" lang="en-US" altLang="zh-CN" sz="4800" b="1">
                <a:latin typeface="Times New Roman" panose="02020603050405020304" pitchFamily="18" charset="0"/>
                <a:ea typeface="华文新魏" panose="02010800040101010101" pitchFamily="2" charset="-122"/>
              </a:rPr>
              <a:t>(</a:t>
            </a:r>
            <a:r>
              <a:rPr kumimoji="1" lang="zh-CN" altLang="en-US" sz="4800" b="1">
                <a:latin typeface="Times New Roman" panose="02020603050405020304" pitchFamily="18" charset="0"/>
                <a:ea typeface="华文新魏" panose="02010800040101010101" pitchFamily="2" charset="-122"/>
              </a:rPr>
              <a:t>续</a:t>
            </a:r>
            <a:r>
              <a:rPr kumimoji="1" lang="en-US" altLang="zh-CN" sz="4800" b="1">
                <a:latin typeface="Times New Roman" panose="02020603050405020304" pitchFamily="18" charset="0"/>
                <a:ea typeface="华文新魏" panose="02010800040101010101" pitchFamily="2" charset="-122"/>
              </a:rPr>
              <a:t>)</a:t>
            </a:r>
            <a:endParaRPr kumimoji="1" lang="en-US" altLang="zh-CN" sz="4800" b="1">
              <a:latin typeface="Times New Roman" panose="02020603050405020304" pitchFamily="18" charset="0"/>
              <a:ea typeface="华文新魏" panose="02010800040101010101" pitchFamily="2" charset="-122"/>
            </a:endParaRPr>
          </a:p>
        </p:txBody>
      </p:sp>
      <p:sp>
        <p:nvSpPr>
          <p:cNvPr id="68612" name="Rectangle 5"/>
          <p:cNvSpPr>
            <a:spLocks noChangeArrowheads="1"/>
          </p:cNvSpPr>
          <p:nvPr/>
        </p:nvSpPr>
        <p:spPr bwMode="auto">
          <a:xfrm>
            <a:off x="228600" y="1295400"/>
            <a:ext cx="8240713" cy="2887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342900" indent="-342900">
              <a:spcBef>
                <a:spcPct val="20000"/>
              </a:spcBef>
              <a:buFontTx/>
              <a:buChar char="•"/>
            </a:pPr>
            <a:r>
              <a:rPr kumimoji="1" lang="zh-CN" altLang="en-US" sz="2800" b="1" dirty="0" smtClean="0">
                <a:latin typeface="Times New Roman" panose="02020603050405020304" pitchFamily="18" charset="0"/>
              </a:rPr>
              <a:t>证书所有人的</a:t>
            </a:r>
            <a:r>
              <a:rPr kumimoji="1" lang="zh-CN" altLang="en-US" sz="2800" b="1" dirty="0">
                <a:latin typeface="Times New Roman" panose="02020603050405020304" pitchFamily="18" charset="0"/>
              </a:rPr>
              <a:t>公钥信息</a:t>
            </a:r>
            <a:endParaRPr kumimoji="1" lang="zh-CN" altLang="en-US" sz="2800" b="1" dirty="0">
              <a:latin typeface="Times New Roman" panose="02020603050405020304" pitchFamily="18" charset="0"/>
            </a:endParaRPr>
          </a:p>
          <a:p>
            <a:pPr marL="742950" lvl="1" indent="-285750">
              <a:spcBef>
                <a:spcPct val="20000"/>
              </a:spcBef>
              <a:buFontTx/>
              <a:buChar char="–"/>
            </a:pPr>
            <a:r>
              <a:rPr kumimoji="1" lang="zh-CN" altLang="en-US" sz="2400" b="1" dirty="0">
                <a:latin typeface="Times New Roman" panose="02020603050405020304" pitchFamily="18" charset="0"/>
              </a:rPr>
              <a:t>算法</a:t>
            </a:r>
            <a:endParaRPr kumimoji="1" lang="zh-CN" altLang="en-US" sz="2400" b="1" dirty="0">
              <a:latin typeface="Times New Roman" panose="02020603050405020304" pitchFamily="18" charset="0"/>
            </a:endParaRPr>
          </a:p>
          <a:p>
            <a:pPr marL="742950" lvl="1" indent="-285750">
              <a:spcBef>
                <a:spcPct val="20000"/>
              </a:spcBef>
              <a:buFontTx/>
              <a:buChar char="–"/>
            </a:pPr>
            <a:r>
              <a:rPr kumimoji="1" lang="zh-CN" altLang="en-US" sz="2400" b="1" dirty="0">
                <a:latin typeface="Times New Roman" panose="02020603050405020304" pitchFamily="18" charset="0"/>
              </a:rPr>
              <a:t>参数</a:t>
            </a:r>
            <a:endParaRPr kumimoji="1" lang="zh-CN" altLang="en-US" sz="2400" b="1" dirty="0">
              <a:latin typeface="Times New Roman" panose="02020603050405020304" pitchFamily="18" charset="0"/>
            </a:endParaRPr>
          </a:p>
          <a:p>
            <a:pPr marL="742950" lvl="1" indent="-285750">
              <a:spcBef>
                <a:spcPct val="20000"/>
              </a:spcBef>
              <a:buFontTx/>
              <a:buChar char="–"/>
            </a:pPr>
            <a:r>
              <a:rPr kumimoji="1" lang="zh-CN" altLang="en-US" sz="2400" b="1" dirty="0">
                <a:latin typeface="Times New Roman" panose="02020603050405020304" pitchFamily="18" charset="0"/>
              </a:rPr>
              <a:t>密钥</a:t>
            </a:r>
            <a:endParaRPr kumimoji="1" lang="zh-CN" altLang="en-US" sz="2400" b="1" dirty="0">
              <a:latin typeface="Times New Roman" panose="02020603050405020304" pitchFamily="18" charset="0"/>
            </a:endParaRPr>
          </a:p>
          <a:p>
            <a:pPr marL="342900" indent="-342900">
              <a:spcBef>
                <a:spcPct val="20000"/>
              </a:spcBef>
              <a:buFontTx/>
              <a:buChar char="•"/>
            </a:pPr>
            <a:r>
              <a:rPr kumimoji="1" lang="zh-CN" altLang="en-US" sz="2800" b="1" dirty="0" smtClean="0">
                <a:latin typeface="Times New Roman" panose="02020603050405020304" pitchFamily="18" charset="0"/>
              </a:rPr>
              <a:t>证书发行者对证书的</a:t>
            </a:r>
            <a:endParaRPr kumimoji="1" lang="en-US" altLang="zh-CN" sz="2800" b="1" dirty="0" smtClean="0">
              <a:latin typeface="Times New Roman" panose="02020603050405020304" pitchFamily="18" charset="0"/>
            </a:endParaRPr>
          </a:p>
          <a:p>
            <a:pPr>
              <a:spcBef>
                <a:spcPct val="20000"/>
              </a:spcBef>
            </a:pPr>
            <a:r>
              <a:rPr kumimoji="1" lang="zh-CN" altLang="en-US" sz="2800" b="1" dirty="0" smtClean="0">
                <a:latin typeface="Times New Roman" panose="02020603050405020304" pitchFamily="18" charset="0"/>
              </a:rPr>
              <a:t>签名</a:t>
            </a:r>
            <a:endParaRPr kumimoji="1" lang="zh-CN" altLang="en-US" sz="2800" b="1" dirty="0">
              <a:latin typeface="Times New Roman" panose="02020603050405020304" pitchFamily="18" charset="0"/>
            </a:endParaRPr>
          </a:p>
        </p:txBody>
      </p:sp>
      <p:sp>
        <p:nvSpPr>
          <p:cNvPr id="68613" name="Rectangle 7"/>
          <p:cNvSpPr>
            <a:spLocks noChangeArrowheads="1"/>
          </p:cNvSpPr>
          <p:nvPr/>
        </p:nvSpPr>
        <p:spPr bwMode="auto">
          <a:xfrm>
            <a:off x="4191000" y="1143000"/>
            <a:ext cx="4953000" cy="2895600"/>
          </a:xfrm>
          <a:prstGeom prst="rect">
            <a:avLst/>
          </a:prstGeom>
          <a:solidFill>
            <a:srgbClr val="9999FF">
              <a:alpha val="50195"/>
            </a:srgb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8614"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78325" y="1143000"/>
            <a:ext cx="476567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Web</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应用</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graphicFrame>
        <p:nvGraphicFramePr>
          <p:cNvPr id="106500" name="对象 3"/>
          <p:cNvGraphicFramePr>
            <a:graphicFrameLocks noChangeAspect="1"/>
          </p:cNvGraphicFramePr>
          <p:nvPr/>
        </p:nvGraphicFramePr>
        <p:xfrm>
          <a:off x="1416050" y="2120900"/>
          <a:ext cx="6364288" cy="3892550"/>
        </p:xfrm>
        <a:graphic>
          <a:graphicData uri="http://schemas.openxmlformats.org/presentationml/2006/ole">
            <mc:AlternateContent xmlns:mc="http://schemas.openxmlformats.org/markup-compatibility/2006">
              <mc:Choice xmlns:v="urn:schemas-microsoft-com:vml" Requires="v">
                <p:oleObj spid="_x0000_s3081" name="" r:id="rId1" imgW="6353175" imgH="4086225" progId="PBrush">
                  <p:embed/>
                </p:oleObj>
              </mc:Choice>
              <mc:Fallback>
                <p:oleObj name="" r:id="rId1" imgW="6353175" imgH="4086225" progId="PBrush">
                  <p:embed/>
                  <p:pic>
                    <p:nvPicPr>
                      <p:cNvPr id="0" name="图片 3080"/>
                      <p:cNvPicPr/>
                      <p:nvPr/>
                    </p:nvPicPr>
                    <p:blipFill>
                      <a:blip r:embed="rId2"/>
                      <a:stretch>
                        <a:fillRect/>
                      </a:stretch>
                    </p:blipFill>
                    <p:spPr>
                      <a:xfrm>
                        <a:off x="1416050" y="2120900"/>
                        <a:ext cx="6364288" cy="389255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SSL</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协议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4745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最著名和最广泛使用的基于</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PKI</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的协议</a:t>
            </a: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要求</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SSL</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连接的网址以</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https:</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开头，而不是</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http:</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在通信双方间建立了一个传输层安全通道，它使用对称加密来保证通信保密性，使用消息认证码</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(MAC)</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来保证数据完整性，并且在建立连接时主要使用</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PKI</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对通信双方进行身份认证 </a:t>
            </a: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分为两层</a:t>
            </a: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80000"/>
              </a:lnSpc>
              <a:spcBef>
                <a:spcPct val="20000"/>
              </a:spcBef>
              <a:spcAft>
                <a:spcPct val="0"/>
              </a:spcAft>
              <a:buClr>
                <a:schemeClr val="accent2"/>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SSL</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记录协议</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(SSL Record Protocol)</a:t>
            </a:r>
            <a:endPar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80000"/>
              </a:lnSpc>
              <a:spcBef>
                <a:spcPct val="20000"/>
              </a:spcBef>
              <a:spcAft>
                <a:spcPct val="0"/>
              </a:spcAft>
              <a:buClr>
                <a:schemeClr val="accent2"/>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SSL</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握手协议 </a:t>
            </a:r>
            <a:endPar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80000"/>
              </a:lnSpc>
              <a:spcBef>
                <a:spcPct val="20000"/>
              </a:spcBef>
              <a:spcAft>
                <a:spcPct val="0"/>
              </a:spcAft>
              <a:buClr>
                <a:schemeClr val="hlink"/>
              </a:buClr>
              <a:buSzPct val="70000"/>
              <a:buFont typeface="Wingdings" panose="05000000000000000000" pitchFamily="2" charset="2"/>
              <a:buChar char="n"/>
              <a:defRPr/>
            </a:pP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noChangeArrowheads="1"/>
          </p:cNvSpPr>
          <p:nvPr>
            <p:ph type="title"/>
          </p:nvPr>
        </p:nvSpPr>
        <p:spPr>
          <a:xfrm>
            <a:off x="827088" y="214313"/>
            <a:ext cx="8116888" cy="1462088"/>
          </a:xfrm>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SSL</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协议层与</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TCP/IP </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协议关系图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4848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pic>
        <p:nvPicPr>
          <p:cNvPr id="108548" name="Picture 4" descr="yl25"/>
          <p:cNvPicPr>
            <a:picLocks noChangeAspect="1"/>
          </p:cNvPicPr>
          <p:nvPr/>
        </p:nvPicPr>
        <p:blipFill>
          <a:blip r:embed="rId1"/>
          <a:stretch>
            <a:fillRect/>
          </a:stretch>
        </p:blipFill>
        <p:spPr>
          <a:xfrm>
            <a:off x="3109913" y="1916113"/>
            <a:ext cx="3478212" cy="4868862"/>
          </a:xfrm>
          <a:prstGeom prst="rect">
            <a:avLst/>
          </a:prstGeom>
          <a:noFill/>
          <a:ln w="9525">
            <a:noFill/>
          </a:ln>
        </p:spPr>
      </p:pic>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握手协议顺序</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4950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pic>
        <p:nvPicPr>
          <p:cNvPr id="109572" name="Picture 4" descr="yl26"/>
          <p:cNvPicPr>
            <a:picLocks noChangeAspect="1"/>
          </p:cNvPicPr>
          <p:nvPr/>
        </p:nvPicPr>
        <p:blipFill>
          <a:blip r:embed="rId1"/>
          <a:stretch>
            <a:fillRect/>
          </a:stretch>
        </p:blipFill>
        <p:spPr>
          <a:xfrm>
            <a:off x="1835150" y="1989138"/>
            <a:ext cx="6049963" cy="4487862"/>
          </a:xfrm>
          <a:prstGeom prst="rect">
            <a:avLst/>
          </a:prstGeom>
          <a:noFill/>
          <a:ln w="9525">
            <a:noFill/>
          </a:ln>
        </p:spPr>
      </p:pic>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数据传送过程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5053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pic>
        <p:nvPicPr>
          <p:cNvPr id="110596" name="Picture 4"/>
          <p:cNvPicPr>
            <a:picLocks noChangeAspect="1"/>
          </p:cNvPicPr>
          <p:nvPr/>
        </p:nvPicPr>
        <p:blipFill>
          <a:blip r:embed="rId1"/>
          <a:stretch>
            <a:fillRect/>
          </a:stretch>
        </p:blipFill>
        <p:spPr>
          <a:xfrm>
            <a:off x="1619250" y="2060575"/>
            <a:ext cx="5761038" cy="4392613"/>
          </a:xfrm>
          <a:prstGeom prst="rect">
            <a:avLst/>
          </a:prstGeom>
          <a:noFill/>
          <a:ln w="9525">
            <a:noFill/>
          </a:ln>
        </p:spPr>
      </p:pic>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虚拟专用网</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VPN </a:t>
            </a:r>
            <a:endPar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51555" name="Rectangle 3"/>
          <p:cNvSpPr>
            <a:spLocks noGrp="1" noChangeArrowheads="1"/>
          </p:cNvSpPr>
          <p:nvPr>
            <p:ph idx="1"/>
          </p:nvPr>
        </p:nvSpPr>
        <p:spPr>
          <a:xfrm>
            <a:off x="1182688" y="2017713"/>
            <a:ext cx="7772400" cy="45799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基于</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PKI</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技术的</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IPSec</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协议现在已经成为架构</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VPN</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的基础 </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IPsec</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协议为网络层通信定义了一个安全框架和一组安全服务，用来保护一条或多条主机与主机间、安全网关与安全网关间、安全网关与主机间的路径 </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协议的一些部分用到了</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PKI</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。它可以为路由器之间、防火墙之间或者路由器和防火墙之间提供经过加密和认证的通信。虽然它的实现会复杂一些，但其安全性比其他协议都完善得多。 </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VPN</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pic>
        <p:nvPicPr>
          <p:cNvPr id="112644" name="Picture 2" descr="https://timgsa.baidu.com/timg?image&amp;quality=80&amp;size=b9999_10000&amp;sec=1555253932626&amp;di=17142d47384e6eecb046093b20a47180&amp;imgtype=0&amp;src=http%3A%2F%2Fs1.51cto.com%2Fimages%2F201608%2F97d761887fb3bfadbbf262dad289e804060e67.jpg"/>
          <p:cNvPicPr>
            <a:picLocks noChangeAspect="1"/>
          </p:cNvPicPr>
          <p:nvPr/>
        </p:nvPicPr>
        <p:blipFill>
          <a:blip r:embed="rId1"/>
          <a:stretch>
            <a:fillRect/>
          </a:stretch>
        </p:blipFill>
        <p:spPr>
          <a:xfrm>
            <a:off x="2051050" y="1989138"/>
            <a:ext cx="4638675" cy="3476625"/>
          </a:xfrm>
          <a:prstGeom prst="rect">
            <a:avLst/>
          </a:prstGeom>
          <a:noFill/>
          <a:ln w="9525">
            <a:noFill/>
          </a:ln>
        </p:spPr>
      </p:pic>
    </p:spTree>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err="1" smtClean="0">
                <a:ln>
                  <a:noFill/>
                </a:ln>
                <a:solidFill>
                  <a:schemeClr val="tx2"/>
                </a:solidFill>
                <a:effectLst>
                  <a:outerShdw blurRad="38100" dist="38100" dir="2700000" algn="tl">
                    <a:srgbClr val="000000"/>
                  </a:outerShdw>
                </a:effectLst>
                <a:uLnTx/>
                <a:uFillTx/>
                <a:latin typeface="+mj-lt"/>
                <a:ea typeface="+mj-ea"/>
                <a:cs typeface="+mj-cs"/>
              </a:rPr>
              <a:t>IPSec</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协议</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pic>
        <p:nvPicPr>
          <p:cNvPr id="113668" name="Picture 2" descr="https://timgsa.baidu.com/timg?image&amp;quality=80&amp;size=b9999_10000&amp;sec=1555253954377&amp;di=69901239514aed4a8d54244b4cabeff7&amp;imgtype=0&amp;src=http%3A%2F%2Fseo-1255598498.file.myqcloud.com%2Ffull%2F508656cafa3dbd6f322d013aca0e1a506b9aca0a.jpg"/>
          <p:cNvPicPr>
            <a:picLocks noChangeAspect="1"/>
          </p:cNvPicPr>
          <p:nvPr/>
        </p:nvPicPr>
        <p:blipFill>
          <a:blip r:embed="rId1"/>
          <a:stretch>
            <a:fillRect/>
          </a:stretch>
        </p:blipFill>
        <p:spPr>
          <a:xfrm>
            <a:off x="1619250" y="1520825"/>
            <a:ext cx="5676900" cy="4057650"/>
          </a:xfrm>
          <a:prstGeom prst="rect">
            <a:avLst/>
          </a:prstGeom>
          <a:noFill/>
          <a:ln w="9525">
            <a:noFill/>
          </a:ln>
        </p:spPr>
      </p:pic>
      <p:pic>
        <p:nvPicPr>
          <p:cNvPr id="113669" name="Picture 3"/>
          <p:cNvPicPr>
            <a:picLocks noChangeAspect="1"/>
          </p:cNvPicPr>
          <p:nvPr/>
        </p:nvPicPr>
        <p:blipFill>
          <a:blip r:embed="rId2"/>
          <a:stretch>
            <a:fillRect/>
          </a:stretch>
        </p:blipFill>
        <p:spPr>
          <a:xfrm>
            <a:off x="2490788" y="5732463"/>
            <a:ext cx="3933825" cy="914400"/>
          </a:xfrm>
          <a:prstGeom prst="rect">
            <a:avLst/>
          </a:prstGeom>
          <a:noFill/>
          <a:ln w="9525">
            <a:noFill/>
          </a:ln>
        </p:spPr>
      </p:pic>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安全电子邮件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52579" name="Rectangle 3"/>
          <p:cNvSpPr>
            <a:spLocks noGrp="1" noChangeArrowheads="1"/>
          </p:cNvSpPr>
          <p:nvPr>
            <p:ph idx="1"/>
          </p:nvPr>
        </p:nvSpPr>
        <p:spPr>
          <a:xfrm>
            <a:off x="1182688" y="2017713"/>
            <a:ext cx="7772400" cy="4579938"/>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S/MIME</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协议是指安全多用途</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Internet</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邮件扩展</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(Secure/Multipurpose Internet Mail Extensions</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S/MIME)</a:t>
            </a:r>
            <a:endPar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随着电子邮件的广泛应用，</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S/MIME</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已成为</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Internet</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一个事实上的安全邮件标标准</a:t>
            </a:r>
            <a:endPar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S/MIME</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以单向散列算法和公钥与私钥的加密体系为基础，它的认证机制依赖于层次结构的证书认证机构，信件内容经</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S/MIME</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加密签名后作为特殊的附件传送。</a:t>
            </a:r>
            <a:endPar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S/MIME</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的证书也采用</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X.509</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格式，</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Netscape Messenger</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Microsoft Outlook</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客户端软件均支持</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S/MIME</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2"/>
          <p:cNvSpPr>
            <a:spLocks noGrp="1" noChangeArrowheads="1"/>
          </p:cNvSpPr>
          <p:nvPr>
            <p:ph type="title"/>
          </p:nvPr>
        </p:nvSpPr>
        <p:spPr>
          <a:xfrm>
            <a:off x="0" y="0"/>
            <a:ext cx="7889875" cy="1066800"/>
          </a:xfrm>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楷体_GB2312" pitchFamily="49" charset="-122"/>
                <a:ea typeface="+mj-ea"/>
                <a:cs typeface="+mj-cs"/>
              </a:rPr>
              <a:t>安全电子邮件</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楷体_GB2312" pitchFamily="49" charset="-122"/>
              <a:ea typeface="+mj-ea"/>
              <a:cs typeface="+mj-cs"/>
            </a:endParaRPr>
          </a:p>
        </p:txBody>
      </p:sp>
      <p:sp>
        <p:nvSpPr>
          <p:cNvPr id="232451" name="Rectangle 3"/>
          <p:cNvSpPr/>
          <p:nvPr/>
        </p:nvSpPr>
        <p:spPr>
          <a:xfrm>
            <a:off x="685800" y="2209800"/>
            <a:ext cx="7772400" cy="2590800"/>
          </a:xfrm>
          <a:prstGeom prst="rect">
            <a:avLst/>
          </a:prstGeom>
          <a:noFill/>
          <a:ln w="9525">
            <a:noFill/>
          </a:ln>
        </p:spPr>
        <p:txBody>
          <a:bodyPr lIns="90488" tIns="44450" rIns="90488" bIns="44450"/>
          <a:p>
            <a:pPr marL="285750" indent="-285750">
              <a:spcBef>
                <a:spcPct val="20000"/>
              </a:spcBef>
              <a:buClr>
                <a:srgbClr val="FF0000"/>
              </a:buClr>
              <a:buSzPct val="80000"/>
              <a:buFont typeface="Wingdings" panose="05000000000000000000" pitchFamily="2" charset="2"/>
              <a:buChar char="Ø"/>
            </a:pPr>
            <a:endParaRPr lang="zh-CN" altLang="en-US" sz="3200" b="1" dirty="0">
              <a:latin typeface="Times New Roman" panose="02020603050405020304" pitchFamily="18" charset="0"/>
              <a:ea typeface="黑体" panose="02010609060101010101" pitchFamily="2" charset="-122"/>
            </a:endParaRPr>
          </a:p>
          <a:p>
            <a:pPr marL="285750" indent="-285750">
              <a:spcBef>
                <a:spcPct val="20000"/>
              </a:spcBef>
              <a:buClr>
                <a:srgbClr val="FF0000"/>
              </a:buClr>
              <a:buSzPct val="80000"/>
              <a:buFont typeface="Wingdings" panose="05000000000000000000" pitchFamily="2" charset="2"/>
              <a:buChar char="Ø"/>
            </a:pPr>
            <a:endParaRPr lang="zh-CN" altLang="en-US" sz="3200" b="1" dirty="0">
              <a:latin typeface="Times New Roman" panose="02020603050405020304" pitchFamily="18" charset="0"/>
              <a:ea typeface="黑体" panose="02010609060101010101" pitchFamily="2" charset="-122"/>
            </a:endParaRPr>
          </a:p>
        </p:txBody>
      </p:sp>
      <p:sp>
        <p:nvSpPr>
          <p:cNvPr id="232452" name="Rectangle 4"/>
          <p:cNvSpPr>
            <a:spLocks noGrp="1" noChangeArrowheads="1"/>
          </p:cNvSpPr>
          <p:nvPr>
            <p:ph idx="1"/>
          </p:nvPr>
        </p:nvSpPr>
        <p:spPr>
          <a:xfrm>
            <a:off x="1763713" y="1412875"/>
            <a:ext cx="2376488" cy="863600"/>
          </a:xfrm>
        </p:spPr>
        <p:txBody>
          <a:bodyPr vert="horz" wrap="square" lIns="90488" tIns="44450" rIns="90488" bIns="4445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FF0000"/>
              </a:buClr>
              <a:buSzPct val="80000"/>
              <a:buFontTx/>
              <a:buNone/>
              <a:defRPr/>
            </a:pPr>
            <a:r>
              <a:rPr kumimoji="0" lang="zh-CN" altLang="en-US" sz="3200" b="0" i="0" u="none" strike="noStrike" kern="0" cap="none" spc="0" normalizeH="0" baseline="0" noProof="0">
                <a:ln>
                  <a:noFill/>
                </a:ln>
                <a:solidFill>
                  <a:srgbClr val="FF0000"/>
                </a:solidFill>
                <a:effectLst>
                  <a:outerShdw blurRad="38100" dist="38100" dir="2700000" algn="tl">
                    <a:srgbClr val="000000"/>
                  </a:outerShdw>
                </a:effectLst>
                <a:uLnTx/>
                <a:uFillTx/>
                <a:latin typeface="楷体_GB2312" pitchFamily="49" charset="-122"/>
                <a:ea typeface="+mn-ea"/>
                <a:cs typeface="+mn-cs"/>
                <a:sym typeface="Symbol" panose="05050102010706020507" pitchFamily="18" charset="2"/>
              </a:rPr>
              <a:t></a:t>
            </a:r>
            <a:r>
              <a:rPr kumimoji="0" lang="zh-CN" altLang="en-US" sz="3200" b="0" i="0" u="none" strike="noStrike" kern="0" cap="none" spc="0" normalizeH="0" baseline="0" noProof="0">
                <a:ln>
                  <a:noFill/>
                </a:ln>
                <a:solidFill>
                  <a:srgbClr val="FF0000"/>
                </a:solidFill>
                <a:effectLst>
                  <a:outerShdw blurRad="38100" dist="38100" dir="2700000" algn="tl">
                    <a:srgbClr val="000000"/>
                  </a:outerShdw>
                </a:effectLst>
                <a:uLnTx/>
                <a:uFillTx/>
                <a:latin typeface="楷体_GB2312" pitchFamily="49" charset="-122"/>
                <a:ea typeface="+mn-ea"/>
                <a:cs typeface="+mn-cs"/>
              </a:rPr>
              <a:t>电子邮件</a:t>
            </a:r>
            <a:endParaRPr kumimoji="0" lang="zh-CN" altLang="en-US" sz="3200" b="0" i="0" u="none" strike="noStrike" kern="0" cap="none" spc="0" normalizeH="0" baseline="0" noProof="0">
              <a:ln>
                <a:noFill/>
              </a:ln>
              <a:solidFill>
                <a:srgbClr val="FF0000"/>
              </a:solidFill>
              <a:effectLst>
                <a:outerShdw blurRad="38100" dist="38100" dir="2700000" algn="tl">
                  <a:srgbClr val="000000"/>
                </a:outerShdw>
              </a:effectLst>
              <a:uLnTx/>
              <a:uFillTx/>
              <a:latin typeface="楷体_GB2312" pitchFamily="49" charset="-122"/>
              <a:ea typeface="+mn-ea"/>
              <a:cs typeface="+mn-cs"/>
            </a:endParaRPr>
          </a:p>
        </p:txBody>
      </p:sp>
      <p:pic>
        <p:nvPicPr>
          <p:cNvPr id="115717" name="Picture 5"/>
          <p:cNvPicPr/>
          <p:nvPr/>
        </p:nvPicPr>
        <p:blipFill>
          <a:blip r:embed="rId1"/>
          <a:stretch>
            <a:fillRect/>
          </a:stretch>
        </p:blipFill>
        <p:spPr>
          <a:xfrm>
            <a:off x="4114800" y="2133600"/>
            <a:ext cx="687388" cy="1314450"/>
          </a:xfrm>
          <a:prstGeom prst="rect">
            <a:avLst/>
          </a:prstGeom>
          <a:noFill/>
          <a:ln w="9525">
            <a:noFill/>
          </a:ln>
        </p:spPr>
      </p:pic>
      <p:sp>
        <p:nvSpPr>
          <p:cNvPr id="232454" name="AutoShape 6"/>
          <p:cNvSpPr/>
          <p:nvPr/>
        </p:nvSpPr>
        <p:spPr>
          <a:xfrm>
            <a:off x="5562600" y="1905000"/>
            <a:ext cx="1981200" cy="457200"/>
          </a:xfrm>
          <a:prstGeom prst="wedgeRoundRectCallout">
            <a:avLst>
              <a:gd name="adj1" fmla="val -93190"/>
              <a:gd name="adj2" fmla="val 112500"/>
              <a:gd name="adj3" fmla="val 16667"/>
            </a:avLst>
          </a:prstGeom>
          <a:solidFill>
            <a:schemeClr val="accent1"/>
          </a:solidFill>
          <a:ln w="9525">
            <a:noFill/>
          </a:ln>
        </p:spPr>
        <p:txBody>
          <a:bodyPr/>
          <a:p>
            <a:pPr algn="ctr">
              <a:buNone/>
            </a:pPr>
            <a:r>
              <a:rPr lang="zh-CN" altLang="en-US" sz="2000" dirty="0">
                <a:latin typeface="Times New Roman" panose="02020603050405020304" pitchFamily="18" charset="0"/>
                <a:ea typeface="隶书" panose="02010509060101010101" pitchFamily="49" charset="-122"/>
              </a:rPr>
              <a:t>邮件服务器</a:t>
            </a:r>
            <a:endParaRPr lang="zh-CN" altLang="en-US" sz="2000" dirty="0">
              <a:latin typeface="Times New Roman" panose="02020603050405020304" pitchFamily="18" charset="0"/>
              <a:ea typeface="隶书" panose="02010509060101010101" pitchFamily="49" charset="-122"/>
            </a:endParaRPr>
          </a:p>
        </p:txBody>
      </p:sp>
      <p:pic>
        <p:nvPicPr>
          <p:cNvPr id="115719" name="Picture 7"/>
          <p:cNvPicPr/>
          <p:nvPr/>
        </p:nvPicPr>
        <p:blipFill>
          <a:blip r:embed="rId2"/>
          <a:stretch>
            <a:fillRect/>
          </a:stretch>
        </p:blipFill>
        <p:spPr>
          <a:xfrm>
            <a:off x="6096000" y="4549775"/>
            <a:ext cx="809625" cy="1165225"/>
          </a:xfrm>
          <a:prstGeom prst="rect">
            <a:avLst/>
          </a:prstGeom>
          <a:noFill/>
          <a:ln w="9525">
            <a:noFill/>
          </a:ln>
        </p:spPr>
      </p:pic>
      <p:sp>
        <p:nvSpPr>
          <p:cNvPr id="115720" name="Text Box 8"/>
          <p:cNvSpPr txBox="1"/>
          <p:nvPr/>
        </p:nvSpPr>
        <p:spPr>
          <a:xfrm>
            <a:off x="1905000" y="5715000"/>
            <a:ext cx="1295400" cy="396875"/>
          </a:xfrm>
          <a:prstGeom prst="rect">
            <a:avLst/>
          </a:prstGeom>
          <a:noFill/>
          <a:ln w="9525">
            <a:noFill/>
          </a:ln>
        </p:spPr>
        <p:txBody>
          <a:bodyPr>
            <a:spAutoFit/>
          </a:bodyPr>
          <a:p>
            <a:pPr algn="ctr">
              <a:spcBef>
                <a:spcPct val="50000"/>
              </a:spcBef>
              <a:buNone/>
            </a:pPr>
            <a:r>
              <a:rPr lang="en-US" altLang="zh-CN" sz="2000" dirty="0">
                <a:solidFill>
                  <a:srgbClr val="0000CC"/>
                </a:solidFill>
                <a:latin typeface="Times New Roman" panose="02020603050405020304" pitchFamily="18" charset="0"/>
                <a:ea typeface="隶书" panose="02010509060101010101" pitchFamily="49" charset="-122"/>
              </a:rPr>
              <a:t>Mary</a:t>
            </a:r>
            <a:endParaRPr lang="en-US" altLang="zh-CN" sz="2000" dirty="0">
              <a:solidFill>
                <a:srgbClr val="0000CC"/>
              </a:solidFill>
              <a:latin typeface="Times New Roman" panose="02020603050405020304" pitchFamily="18" charset="0"/>
              <a:ea typeface="隶书" panose="02010509060101010101" pitchFamily="49" charset="-122"/>
            </a:endParaRPr>
          </a:p>
        </p:txBody>
      </p:sp>
      <p:pic>
        <p:nvPicPr>
          <p:cNvPr id="115721" name="Picture 9"/>
          <p:cNvPicPr/>
          <p:nvPr/>
        </p:nvPicPr>
        <p:blipFill>
          <a:blip r:embed="rId3"/>
          <a:stretch>
            <a:fillRect/>
          </a:stretch>
        </p:blipFill>
        <p:spPr>
          <a:xfrm>
            <a:off x="2286000" y="4575175"/>
            <a:ext cx="715963" cy="1139825"/>
          </a:xfrm>
          <a:prstGeom prst="rect">
            <a:avLst/>
          </a:prstGeom>
          <a:noFill/>
          <a:ln w="9525">
            <a:noFill/>
          </a:ln>
        </p:spPr>
      </p:pic>
      <p:sp>
        <p:nvSpPr>
          <p:cNvPr id="115722" name="Text Box 10"/>
          <p:cNvSpPr txBox="1"/>
          <p:nvPr/>
        </p:nvSpPr>
        <p:spPr>
          <a:xfrm>
            <a:off x="5943600" y="5715000"/>
            <a:ext cx="1295400" cy="396875"/>
          </a:xfrm>
          <a:prstGeom prst="rect">
            <a:avLst/>
          </a:prstGeom>
          <a:noFill/>
          <a:ln w="9525">
            <a:noFill/>
          </a:ln>
        </p:spPr>
        <p:txBody>
          <a:bodyPr>
            <a:spAutoFit/>
          </a:bodyPr>
          <a:p>
            <a:pPr algn="ctr">
              <a:spcBef>
                <a:spcPct val="50000"/>
              </a:spcBef>
              <a:buNone/>
            </a:pPr>
            <a:r>
              <a:rPr lang="en-US" altLang="zh-CN" sz="2000" dirty="0">
                <a:solidFill>
                  <a:srgbClr val="0000CC"/>
                </a:solidFill>
                <a:latin typeface="Times New Roman" panose="02020603050405020304" pitchFamily="18" charset="0"/>
                <a:ea typeface="隶书" panose="02010509060101010101" pitchFamily="49" charset="-122"/>
              </a:rPr>
              <a:t>Rick</a:t>
            </a:r>
            <a:endParaRPr lang="en-US" altLang="zh-CN" sz="2000" dirty="0">
              <a:solidFill>
                <a:srgbClr val="0000CC"/>
              </a:solidFill>
              <a:latin typeface="Times New Roman" panose="02020603050405020304" pitchFamily="18" charset="0"/>
              <a:ea typeface="隶书" panose="02010509060101010101" pitchFamily="49" charset="-122"/>
            </a:endParaRPr>
          </a:p>
        </p:txBody>
      </p:sp>
      <p:grpSp>
        <p:nvGrpSpPr>
          <p:cNvPr id="115723" name="Group 11"/>
          <p:cNvGrpSpPr/>
          <p:nvPr/>
        </p:nvGrpSpPr>
        <p:grpSpPr>
          <a:xfrm>
            <a:off x="6553200" y="4800600"/>
            <a:ext cx="457200" cy="603250"/>
            <a:chOff x="2548" y="3030"/>
            <a:chExt cx="545" cy="518"/>
          </a:xfrm>
        </p:grpSpPr>
        <p:sp>
          <p:nvSpPr>
            <p:cNvPr id="115792" name="Freeform 12"/>
            <p:cNvSpPr/>
            <p:nvPr/>
          </p:nvSpPr>
          <p:spPr>
            <a:xfrm>
              <a:off x="2768" y="3030"/>
              <a:ext cx="230" cy="149"/>
            </a:xfrm>
            <a:custGeom>
              <a:avLst/>
              <a:gdLst/>
              <a:ahLst/>
              <a:cxnLst>
                <a:cxn ang="0">
                  <a:pos x="0" y="139"/>
                </a:cxn>
                <a:cxn ang="0">
                  <a:pos x="0" y="108"/>
                </a:cxn>
                <a:cxn ang="0">
                  <a:pos x="6" y="82"/>
                </a:cxn>
                <a:cxn ang="0">
                  <a:pos x="13" y="67"/>
                </a:cxn>
                <a:cxn ang="0">
                  <a:pos x="25" y="48"/>
                </a:cxn>
                <a:cxn ang="0">
                  <a:pos x="38" y="35"/>
                </a:cxn>
                <a:cxn ang="0">
                  <a:pos x="60" y="16"/>
                </a:cxn>
                <a:cxn ang="0">
                  <a:pos x="72" y="10"/>
                </a:cxn>
                <a:cxn ang="0">
                  <a:pos x="88" y="3"/>
                </a:cxn>
                <a:cxn ang="0">
                  <a:pos x="104" y="0"/>
                </a:cxn>
                <a:cxn ang="0">
                  <a:pos x="117" y="0"/>
                </a:cxn>
                <a:cxn ang="0">
                  <a:pos x="135" y="3"/>
                </a:cxn>
                <a:cxn ang="0">
                  <a:pos x="148" y="7"/>
                </a:cxn>
                <a:cxn ang="0">
                  <a:pos x="173" y="16"/>
                </a:cxn>
                <a:cxn ang="0">
                  <a:pos x="192" y="35"/>
                </a:cxn>
                <a:cxn ang="0">
                  <a:pos x="205" y="48"/>
                </a:cxn>
                <a:cxn ang="0">
                  <a:pos x="217" y="70"/>
                </a:cxn>
                <a:cxn ang="0">
                  <a:pos x="224" y="89"/>
                </a:cxn>
                <a:cxn ang="0">
                  <a:pos x="230" y="114"/>
                </a:cxn>
                <a:cxn ang="0">
                  <a:pos x="230" y="123"/>
                </a:cxn>
                <a:cxn ang="0">
                  <a:pos x="230" y="142"/>
                </a:cxn>
                <a:cxn ang="0">
                  <a:pos x="192" y="139"/>
                </a:cxn>
                <a:cxn ang="0">
                  <a:pos x="192" y="123"/>
                </a:cxn>
                <a:cxn ang="0">
                  <a:pos x="192" y="114"/>
                </a:cxn>
                <a:cxn ang="0">
                  <a:pos x="189" y="98"/>
                </a:cxn>
                <a:cxn ang="0">
                  <a:pos x="183" y="89"/>
                </a:cxn>
                <a:cxn ang="0">
                  <a:pos x="176" y="76"/>
                </a:cxn>
                <a:cxn ang="0">
                  <a:pos x="170" y="67"/>
                </a:cxn>
                <a:cxn ang="0">
                  <a:pos x="161" y="57"/>
                </a:cxn>
                <a:cxn ang="0">
                  <a:pos x="148" y="51"/>
                </a:cxn>
                <a:cxn ang="0">
                  <a:pos x="135" y="44"/>
                </a:cxn>
                <a:cxn ang="0">
                  <a:pos x="126" y="41"/>
                </a:cxn>
                <a:cxn ang="0">
                  <a:pos x="113" y="41"/>
                </a:cxn>
                <a:cxn ang="0">
                  <a:pos x="98" y="41"/>
                </a:cxn>
                <a:cxn ang="0">
                  <a:pos x="85" y="48"/>
                </a:cxn>
                <a:cxn ang="0">
                  <a:pos x="66" y="60"/>
                </a:cxn>
                <a:cxn ang="0">
                  <a:pos x="54" y="76"/>
                </a:cxn>
                <a:cxn ang="0">
                  <a:pos x="44" y="95"/>
                </a:cxn>
                <a:cxn ang="0">
                  <a:pos x="41" y="111"/>
                </a:cxn>
                <a:cxn ang="0">
                  <a:pos x="35" y="130"/>
                </a:cxn>
                <a:cxn ang="0">
                  <a:pos x="38" y="149"/>
                </a:cxn>
                <a:cxn ang="0">
                  <a:pos x="0" y="139"/>
                </a:cxn>
              </a:cxnLst>
              <a:pathLst>
                <a:path w="230" h="149">
                  <a:moveTo>
                    <a:pt x="0" y="139"/>
                  </a:moveTo>
                  <a:lnTo>
                    <a:pt x="0" y="108"/>
                  </a:lnTo>
                  <a:lnTo>
                    <a:pt x="6" y="82"/>
                  </a:lnTo>
                  <a:lnTo>
                    <a:pt x="13" y="67"/>
                  </a:lnTo>
                  <a:lnTo>
                    <a:pt x="25" y="48"/>
                  </a:lnTo>
                  <a:lnTo>
                    <a:pt x="38" y="35"/>
                  </a:lnTo>
                  <a:lnTo>
                    <a:pt x="60" y="16"/>
                  </a:lnTo>
                  <a:lnTo>
                    <a:pt x="72" y="10"/>
                  </a:lnTo>
                  <a:lnTo>
                    <a:pt x="88" y="3"/>
                  </a:lnTo>
                  <a:lnTo>
                    <a:pt x="104" y="0"/>
                  </a:lnTo>
                  <a:lnTo>
                    <a:pt x="117" y="0"/>
                  </a:lnTo>
                  <a:lnTo>
                    <a:pt x="135" y="3"/>
                  </a:lnTo>
                  <a:lnTo>
                    <a:pt x="148" y="7"/>
                  </a:lnTo>
                  <a:lnTo>
                    <a:pt x="173" y="16"/>
                  </a:lnTo>
                  <a:lnTo>
                    <a:pt x="192" y="35"/>
                  </a:lnTo>
                  <a:lnTo>
                    <a:pt x="205" y="48"/>
                  </a:lnTo>
                  <a:lnTo>
                    <a:pt x="217" y="70"/>
                  </a:lnTo>
                  <a:lnTo>
                    <a:pt x="224" y="89"/>
                  </a:lnTo>
                  <a:lnTo>
                    <a:pt x="230" y="114"/>
                  </a:lnTo>
                  <a:lnTo>
                    <a:pt x="230" y="123"/>
                  </a:lnTo>
                  <a:lnTo>
                    <a:pt x="230" y="142"/>
                  </a:lnTo>
                  <a:lnTo>
                    <a:pt x="192" y="139"/>
                  </a:lnTo>
                  <a:lnTo>
                    <a:pt x="192" y="123"/>
                  </a:lnTo>
                  <a:lnTo>
                    <a:pt x="192" y="114"/>
                  </a:lnTo>
                  <a:lnTo>
                    <a:pt x="189" y="98"/>
                  </a:lnTo>
                  <a:lnTo>
                    <a:pt x="183" y="89"/>
                  </a:lnTo>
                  <a:lnTo>
                    <a:pt x="176" y="76"/>
                  </a:lnTo>
                  <a:lnTo>
                    <a:pt x="170" y="67"/>
                  </a:lnTo>
                  <a:lnTo>
                    <a:pt x="161" y="57"/>
                  </a:lnTo>
                  <a:lnTo>
                    <a:pt x="148" y="51"/>
                  </a:lnTo>
                  <a:lnTo>
                    <a:pt x="135" y="44"/>
                  </a:lnTo>
                  <a:lnTo>
                    <a:pt x="126" y="41"/>
                  </a:lnTo>
                  <a:lnTo>
                    <a:pt x="113" y="41"/>
                  </a:lnTo>
                  <a:lnTo>
                    <a:pt x="98" y="41"/>
                  </a:lnTo>
                  <a:lnTo>
                    <a:pt x="85" y="48"/>
                  </a:lnTo>
                  <a:lnTo>
                    <a:pt x="66" y="60"/>
                  </a:lnTo>
                  <a:lnTo>
                    <a:pt x="54" y="76"/>
                  </a:lnTo>
                  <a:lnTo>
                    <a:pt x="44" y="95"/>
                  </a:lnTo>
                  <a:lnTo>
                    <a:pt x="41" y="111"/>
                  </a:lnTo>
                  <a:lnTo>
                    <a:pt x="35" y="130"/>
                  </a:lnTo>
                  <a:lnTo>
                    <a:pt x="38" y="149"/>
                  </a:lnTo>
                  <a:lnTo>
                    <a:pt x="0" y="139"/>
                  </a:lnTo>
                  <a:close/>
                </a:path>
              </a:pathLst>
            </a:custGeom>
            <a:solidFill>
              <a:srgbClr val="FF0000">
                <a:alpha val="100000"/>
              </a:srgbClr>
            </a:solidFill>
            <a:ln w="9525">
              <a:noFill/>
            </a:ln>
          </p:spPr>
          <p:txBody>
            <a:bodyPr/>
            <a:p>
              <a:endParaRPr lang="zh-CN" altLang="en-US"/>
            </a:p>
          </p:txBody>
        </p:sp>
        <p:sp>
          <p:nvSpPr>
            <p:cNvPr id="115793" name="Freeform 13"/>
            <p:cNvSpPr/>
            <p:nvPr/>
          </p:nvSpPr>
          <p:spPr>
            <a:xfrm>
              <a:off x="2768" y="3030"/>
              <a:ext cx="230" cy="149"/>
            </a:xfrm>
            <a:custGeom>
              <a:avLst/>
              <a:gdLst/>
              <a:ahLst/>
              <a:cxnLst>
                <a:cxn ang="0">
                  <a:pos x="0" y="139"/>
                </a:cxn>
                <a:cxn ang="0">
                  <a:pos x="0" y="108"/>
                </a:cxn>
                <a:cxn ang="0">
                  <a:pos x="6" y="82"/>
                </a:cxn>
                <a:cxn ang="0">
                  <a:pos x="13" y="67"/>
                </a:cxn>
                <a:cxn ang="0">
                  <a:pos x="25" y="48"/>
                </a:cxn>
                <a:cxn ang="0">
                  <a:pos x="38" y="35"/>
                </a:cxn>
                <a:cxn ang="0">
                  <a:pos x="60" y="16"/>
                </a:cxn>
                <a:cxn ang="0">
                  <a:pos x="72" y="10"/>
                </a:cxn>
                <a:cxn ang="0">
                  <a:pos x="88" y="3"/>
                </a:cxn>
                <a:cxn ang="0">
                  <a:pos x="104" y="0"/>
                </a:cxn>
                <a:cxn ang="0">
                  <a:pos x="117" y="0"/>
                </a:cxn>
                <a:cxn ang="0">
                  <a:pos x="135" y="3"/>
                </a:cxn>
                <a:cxn ang="0">
                  <a:pos x="148" y="7"/>
                </a:cxn>
                <a:cxn ang="0">
                  <a:pos x="173" y="16"/>
                </a:cxn>
                <a:cxn ang="0">
                  <a:pos x="192" y="35"/>
                </a:cxn>
                <a:cxn ang="0">
                  <a:pos x="205" y="48"/>
                </a:cxn>
                <a:cxn ang="0">
                  <a:pos x="217" y="70"/>
                </a:cxn>
                <a:cxn ang="0">
                  <a:pos x="224" y="89"/>
                </a:cxn>
                <a:cxn ang="0">
                  <a:pos x="230" y="114"/>
                </a:cxn>
                <a:cxn ang="0">
                  <a:pos x="230" y="123"/>
                </a:cxn>
                <a:cxn ang="0">
                  <a:pos x="230" y="142"/>
                </a:cxn>
                <a:cxn ang="0">
                  <a:pos x="192" y="139"/>
                </a:cxn>
                <a:cxn ang="0">
                  <a:pos x="192" y="123"/>
                </a:cxn>
                <a:cxn ang="0">
                  <a:pos x="192" y="114"/>
                </a:cxn>
                <a:cxn ang="0">
                  <a:pos x="189" y="98"/>
                </a:cxn>
                <a:cxn ang="0">
                  <a:pos x="183" y="89"/>
                </a:cxn>
                <a:cxn ang="0">
                  <a:pos x="176" y="76"/>
                </a:cxn>
                <a:cxn ang="0">
                  <a:pos x="170" y="67"/>
                </a:cxn>
                <a:cxn ang="0">
                  <a:pos x="161" y="57"/>
                </a:cxn>
                <a:cxn ang="0">
                  <a:pos x="148" y="51"/>
                </a:cxn>
                <a:cxn ang="0">
                  <a:pos x="135" y="44"/>
                </a:cxn>
                <a:cxn ang="0">
                  <a:pos x="126" y="41"/>
                </a:cxn>
                <a:cxn ang="0">
                  <a:pos x="113" y="41"/>
                </a:cxn>
                <a:cxn ang="0">
                  <a:pos x="98" y="41"/>
                </a:cxn>
                <a:cxn ang="0">
                  <a:pos x="85" y="48"/>
                </a:cxn>
                <a:cxn ang="0">
                  <a:pos x="66" y="60"/>
                </a:cxn>
                <a:cxn ang="0">
                  <a:pos x="54" y="76"/>
                </a:cxn>
                <a:cxn ang="0">
                  <a:pos x="44" y="95"/>
                </a:cxn>
                <a:cxn ang="0">
                  <a:pos x="41" y="111"/>
                </a:cxn>
                <a:cxn ang="0">
                  <a:pos x="35" y="130"/>
                </a:cxn>
                <a:cxn ang="0">
                  <a:pos x="38" y="149"/>
                </a:cxn>
                <a:cxn ang="0">
                  <a:pos x="0" y="139"/>
                </a:cxn>
              </a:cxnLst>
              <a:pathLst>
                <a:path w="230" h="149">
                  <a:moveTo>
                    <a:pt x="0" y="139"/>
                  </a:moveTo>
                  <a:lnTo>
                    <a:pt x="0" y="108"/>
                  </a:lnTo>
                  <a:lnTo>
                    <a:pt x="6" y="82"/>
                  </a:lnTo>
                  <a:lnTo>
                    <a:pt x="13" y="67"/>
                  </a:lnTo>
                  <a:lnTo>
                    <a:pt x="25" y="48"/>
                  </a:lnTo>
                  <a:lnTo>
                    <a:pt x="38" y="35"/>
                  </a:lnTo>
                  <a:lnTo>
                    <a:pt x="60" y="16"/>
                  </a:lnTo>
                  <a:lnTo>
                    <a:pt x="72" y="10"/>
                  </a:lnTo>
                  <a:lnTo>
                    <a:pt x="88" y="3"/>
                  </a:lnTo>
                  <a:lnTo>
                    <a:pt x="104" y="0"/>
                  </a:lnTo>
                  <a:lnTo>
                    <a:pt x="117" y="0"/>
                  </a:lnTo>
                  <a:lnTo>
                    <a:pt x="135" y="3"/>
                  </a:lnTo>
                  <a:lnTo>
                    <a:pt x="148" y="7"/>
                  </a:lnTo>
                  <a:lnTo>
                    <a:pt x="173" y="16"/>
                  </a:lnTo>
                  <a:lnTo>
                    <a:pt x="192" y="35"/>
                  </a:lnTo>
                  <a:lnTo>
                    <a:pt x="205" y="48"/>
                  </a:lnTo>
                  <a:lnTo>
                    <a:pt x="217" y="70"/>
                  </a:lnTo>
                  <a:lnTo>
                    <a:pt x="224" y="89"/>
                  </a:lnTo>
                  <a:lnTo>
                    <a:pt x="230" y="114"/>
                  </a:lnTo>
                  <a:lnTo>
                    <a:pt x="230" y="123"/>
                  </a:lnTo>
                  <a:lnTo>
                    <a:pt x="230" y="142"/>
                  </a:lnTo>
                  <a:lnTo>
                    <a:pt x="192" y="139"/>
                  </a:lnTo>
                  <a:lnTo>
                    <a:pt x="192" y="123"/>
                  </a:lnTo>
                  <a:lnTo>
                    <a:pt x="192" y="114"/>
                  </a:lnTo>
                  <a:lnTo>
                    <a:pt x="189" y="98"/>
                  </a:lnTo>
                  <a:lnTo>
                    <a:pt x="183" y="89"/>
                  </a:lnTo>
                  <a:lnTo>
                    <a:pt x="176" y="76"/>
                  </a:lnTo>
                  <a:lnTo>
                    <a:pt x="170" y="67"/>
                  </a:lnTo>
                  <a:lnTo>
                    <a:pt x="161" y="57"/>
                  </a:lnTo>
                  <a:lnTo>
                    <a:pt x="148" y="51"/>
                  </a:lnTo>
                  <a:lnTo>
                    <a:pt x="135" y="44"/>
                  </a:lnTo>
                  <a:lnTo>
                    <a:pt x="126" y="41"/>
                  </a:lnTo>
                  <a:lnTo>
                    <a:pt x="113" y="41"/>
                  </a:lnTo>
                  <a:lnTo>
                    <a:pt x="98" y="41"/>
                  </a:lnTo>
                  <a:lnTo>
                    <a:pt x="85" y="48"/>
                  </a:lnTo>
                  <a:lnTo>
                    <a:pt x="66" y="60"/>
                  </a:lnTo>
                  <a:lnTo>
                    <a:pt x="54" y="76"/>
                  </a:lnTo>
                  <a:lnTo>
                    <a:pt x="44" y="95"/>
                  </a:lnTo>
                  <a:lnTo>
                    <a:pt x="41" y="111"/>
                  </a:lnTo>
                  <a:lnTo>
                    <a:pt x="35" y="130"/>
                  </a:lnTo>
                  <a:lnTo>
                    <a:pt x="38" y="149"/>
                  </a:lnTo>
                  <a:lnTo>
                    <a:pt x="0" y="139"/>
                  </a:lnTo>
                  <a:close/>
                </a:path>
              </a:pathLst>
            </a:custGeom>
            <a:solidFill>
              <a:srgbClr val="FF0000">
                <a:alpha val="100000"/>
              </a:srgbClr>
            </a:solidFill>
            <a:ln w="9525">
              <a:noFill/>
            </a:ln>
          </p:spPr>
          <p:txBody>
            <a:bodyPr/>
            <a:p>
              <a:endParaRPr lang="zh-CN" altLang="en-US"/>
            </a:p>
          </p:txBody>
        </p:sp>
        <p:sp>
          <p:nvSpPr>
            <p:cNvPr id="115794" name="Freeform 14"/>
            <p:cNvSpPr/>
            <p:nvPr/>
          </p:nvSpPr>
          <p:spPr>
            <a:xfrm>
              <a:off x="2683" y="3223"/>
              <a:ext cx="410" cy="69"/>
            </a:xfrm>
            <a:custGeom>
              <a:avLst/>
              <a:gdLst/>
              <a:ahLst/>
              <a:cxnLst>
                <a:cxn ang="0">
                  <a:pos x="0" y="69"/>
                </a:cxn>
                <a:cxn ang="0">
                  <a:pos x="69" y="0"/>
                </a:cxn>
                <a:cxn ang="0">
                  <a:pos x="410" y="0"/>
                </a:cxn>
                <a:cxn ang="0">
                  <a:pos x="337" y="69"/>
                </a:cxn>
                <a:cxn ang="0">
                  <a:pos x="0" y="69"/>
                </a:cxn>
              </a:cxnLst>
              <a:pathLst>
                <a:path w="410" h="69">
                  <a:moveTo>
                    <a:pt x="0" y="69"/>
                  </a:moveTo>
                  <a:lnTo>
                    <a:pt x="69" y="0"/>
                  </a:lnTo>
                  <a:lnTo>
                    <a:pt x="410" y="0"/>
                  </a:lnTo>
                  <a:lnTo>
                    <a:pt x="337" y="69"/>
                  </a:lnTo>
                  <a:lnTo>
                    <a:pt x="0" y="69"/>
                  </a:lnTo>
                  <a:close/>
                </a:path>
              </a:pathLst>
            </a:custGeom>
            <a:solidFill>
              <a:srgbClr val="FF0000">
                <a:alpha val="100000"/>
              </a:srgbClr>
            </a:solidFill>
            <a:ln w="9525">
              <a:noFill/>
            </a:ln>
          </p:spPr>
          <p:txBody>
            <a:bodyPr/>
            <a:p>
              <a:endParaRPr lang="zh-CN" altLang="en-US"/>
            </a:p>
          </p:txBody>
        </p:sp>
        <p:sp>
          <p:nvSpPr>
            <p:cNvPr id="115795" name="Freeform 15"/>
            <p:cNvSpPr/>
            <p:nvPr/>
          </p:nvSpPr>
          <p:spPr>
            <a:xfrm>
              <a:off x="2683" y="3223"/>
              <a:ext cx="410" cy="69"/>
            </a:xfrm>
            <a:custGeom>
              <a:avLst/>
              <a:gdLst/>
              <a:ahLst/>
              <a:cxnLst>
                <a:cxn ang="0">
                  <a:pos x="0" y="69"/>
                </a:cxn>
                <a:cxn ang="0">
                  <a:pos x="69" y="0"/>
                </a:cxn>
                <a:cxn ang="0">
                  <a:pos x="410" y="0"/>
                </a:cxn>
                <a:cxn ang="0">
                  <a:pos x="337" y="69"/>
                </a:cxn>
                <a:cxn ang="0">
                  <a:pos x="0" y="69"/>
                </a:cxn>
              </a:cxnLst>
              <a:pathLst>
                <a:path w="410" h="69">
                  <a:moveTo>
                    <a:pt x="0" y="69"/>
                  </a:moveTo>
                  <a:lnTo>
                    <a:pt x="69" y="0"/>
                  </a:lnTo>
                  <a:lnTo>
                    <a:pt x="410" y="0"/>
                  </a:lnTo>
                  <a:lnTo>
                    <a:pt x="337" y="69"/>
                  </a:lnTo>
                  <a:lnTo>
                    <a:pt x="0" y="69"/>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96" name="Freeform 16"/>
            <p:cNvSpPr/>
            <p:nvPr/>
          </p:nvSpPr>
          <p:spPr>
            <a:xfrm>
              <a:off x="3020" y="3223"/>
              <a:ext cx="73" cy="322"/>
            </a:xfrm>
            <a:custGeom>
              <a:avLst/>
              <a:gdLst/>
              <a:ahLst/>
              <a:cxnLst>
                <a:cxn ang="0">
                  <a:pos x="0" y="322"/>
                </a:cxn>
                <a:cxn ang="0">
                  <a:pos x="73" y="252"/>
                </a:cxn>
                <a:cxn ang="0">
                  <a:pos x="73" y="0"/>
                </a:cxn>
                <a:cxn ang="0">
                  <a:pos x="0" y="69"/>
                </a:cxn>
                <a:cxn ang="0">
                  <a:pos x="0" y="322"/>
                </a:cxn>
              </a:cxnLst>
              <a:pathLst>
                <a:path w="73" h="322">
                  <a:moveTo>
                    <a:pt x="0" y="322"/>
                  </a:moveTo>
                  <a:lnTo>
                    <a:pt x="73" y="252"/>
                  </a:lnTo>
                  <a:lnTo>
                    <a:pt x="73" y="0"/>
                  </a:lnTo>
                  <a:lnTo>
                    <a:pt x="0" y="69"/>
                  </a:lnTo>
                  <a:lnTo>
                    <a:pt x="0" y="322"/>
                  </a:lnTo>
                  <a:close/>
                </a:path>
              </a:pathLst>
            </a:custGeom>
            <a:solidFill>
              <a:srgbClr val="FF0000">
                <a:alpha val="100000"/>
              </a:srgbClr>
            </a:solidFill>
            <a:ln w="9525">
              <a:noFill/>
            </a:ln>
          </p:spPr>
          <p:txBody>
            <a:bodyPr/>
            <a:p>
              <a:endParaRPr lang="zh-CN" altLang="en-US"/>
            </a:p>
          </p:txBody>
        </p:sp>
        <p:sp>
          <p:nvSpPr>
            <p:cNvPr id="115797" name="Freeform 17"/>
            <p:cNvSpPr/>
            <p:nvPr/>
          </p:nvSpPr>
          <p:spPr>
            <a:xfrm>
              <a:off x="3020" y="3223"/>
              <a:ext cx="73" cy="322"/>
            </a:xfrm>
            <a:custGeom>
              <a:avLst/>
              <a:gdLst/>
              <a:ahLst/>
              <a:cxnLst>
                <a:cxn ang="0">
                  <a:pos x="0" y="322"/>
                </a:cxn>
                <a:cxn ang="0">
                  <a:pos x="73" y="252"/>
                </a:cxn>
                <a:cxn ang="0">
                  <a:pos x="73" y="0"/>
                </a:cxn>
                <a:cxn ang="0">
                  <a:pos x="0" y="69"/>
                </a:cxn>
                <a:cxn ang="0">
                  <a:pos x="0" y="322"/>
                </a:cxn>
              </a:cxnLst>
              <a:pathLst>
                <a:path w="73" h="322">
                  <a:moveTo>
                    <a:pt x="0" y="322"/>
                  </a:moveTo>
                  <a:lnTo>
                    <a:pt x="73" y="252"/>
                  </a:lnTo>
                  <a:lnTo>
                    <a:pt x="73" y="0"/>
                  </a:lnTo>
                  <a:lnTo>
                    <a:pt x="0" y="69"/>
                  </a:lnTo>
                  <a:lnTo>
                    <a:pt x="0" y="322"/>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98" name="Rectangle 18"/>
            <p:cNvSpPr/>
            <p:nvPr/>
          </p:nvSpPr>
          <p:spPr>
            <a:xfrm>
              <a:off x="2683" y="3292"/>
              <a:ext cx="337" cy="256"/>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799" name="Rectangle 19"/>
            <p:cNvSpPr/>
            <p:nvPr/>
          </p:nvSpPr>
          <p:spPr>
            <a:xfrm>
              <a:off x="2684" y="3293"/>
              <a:ext cx="335" cy="254"/>
            </a:xfrm>
            <a:prstGeom prst="rect">
              <a:avLst/>
            </a:prstGeom>
            <a:solidFill>
              <a:srgbClr val="FF0000"/>
            </a:solidFill>
            <a:ln w="4763" cap="flat" cmpd="sng">
              <a:solidFill>
                <a:srgbClr val="494936"/>
              </a:solidFill>
              <a:prstDash val="solid"/>
              <a:miter/>
              <a:headEnd type="none" w="med" len="med"/>
              <a:tailEnd type="none" w="med" len="med"/>
            </a:ln>
          </p:spPr>
          <p:txBody>
            <a:bodyPr/>
            <a:p>
              <a:pPr>
                <a:buNone/>
              </a:pPr>
              <a:endParaRPr lang="zh-CN" altLang="en-US" dirty="0">
                <a:latin typeface="Garamond" panose="02020404030301010803" pitchFamily="18" charset="0"/>
              </a:endParaRPr>
            </a:p>
          </p:txBody>
        </p:sp>
        <p:sp>
          <p:nvSpPr>
            <p:cNvPr id="115800" name="Oval 20"/>
            <p:cNvSpPr/>
            <p:nvPr/>
          </p:nvSpPr>
          <p:spPr>
            <a:xfrm>
              <a:off x="2826" y="3363"/>
              <a:ext cx="73" cy="73"/>
            </a:xfrm>
            <a:prstGeom prst="ellipse">
              <a:avLst/>
            </a:prstGeom>
            <a:solidFill>
              <a:srgbClr val="FF0000"/>
            </a:solidFill>
            <a:ln w="4763" cap="flat" cmpd="sng">
              <a:solidFill>
                <a:srgbClr val="000000"/>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801" name="Rectangle 21"/>
            <p:cNvSpPr/>
            <p:nvPr/>
          </p:nvSpPr>
          <p:spPr>
            <a:xfrm>
              <a:off x="2851" y="3391"/>
              <a:ext cx="20" cy="112"/>
            </a:xfrm>
            <a:prstGeom prst="rect">
              <a:avLst/>
            </a:prstGeom>
            <a:solidFill>
              <a:srgbClr val="FF0000"/>
            </a:solidFill>
            <a:ln w="4763" cap="flat" cmpd="sng">
              <a:solidFill>
                <a:srgbClr val="000000"/>
              </a:solidFill>
              <a:prstDash val="solid"/>
              <a:miter/>
              <a:headEnd type="none" w="med" len="med"/>
              <a:tailEnd type="none" w="med" len="med"/>
            </a:ln>
          </p:spPr>
          <p:txBody>
            <a:bodyPr/>
            <a:p>
              <a:pPr>
                <a:buNone/>
              </a:pPr>
              <a:endParaRPr lang="zh-CN" altLang="en-US" dirty="0">
                <a:latin typeface="Garamond" panose="02020404030301010803" pitchFamily="18" charset="0"/>
              </a:endParaRPr>
            </a:p>
          </p:txBody>
        </p:sp>
        <p:sp>
          <p:nvSpPr>
            <p:cNvPr id="115802" name="Freeform 22"/>
            <p:cNvSpPr/>
            <p:nvPr/>
          </p:nvSpPr>
          <p:spPr>
            <a:xfrm>
              <a:off x="2768" y="3226"/>
              <a:ext cx="76" cy="38"/>
            </a:xfrm>
            <a:custGeom>
              <a:avLst/>
              <a:gdLst/>
              <a:ahLst/>
              <a:cxnLst>
                <a:cxn ang="0">
                  <a:pos x="0" y="38"/>
                </a:cxn>
                <a:cxn ang="0">
                  <a:pos x="38" y="0"/>
                </a:cxn>
                <a:cxn ang="0">
                  <a:pos x="76" y="0"/>
                </a:cxn>
                <a:cxn ang="0">
                  <a:pos x="38" y="38"/>
                </a:cxn>
                <a:cxn ang="0">
                  <a:pos x="0" y="38"/>
                </a:cxn>
              </a:cxnLst>
              <a:pathLst>
                <a:path w="76" h="38">
                  <a:moveTo>
                    <a:pt x="0" y="38"/>
                  </a:moveTo>
                  <a:lnTo>
                    <a:pt x="38" y="0"/>
                  </a:lnTo>
                  <a:lnTo>
                    <a:pt x="76" y="0"/>
                  </a:lnTo>
                  <a:lnTo>
                    <a:pt x="38" y="38"/>
                  </a:lnTo>
                  <a:lnTo>
                    <a:pt x="0" y="38"/>
                  </a:lnTo>
                  <a:close/>
                </a:path>
              </a:pathLst>
            </a:custGeom>
            <a:solidFill>
              <a:srgbClr val="FF0000">
                <a:alpha val="100000"/>
              </a:srgbClr>
            </a:solidFill>
            <a:ln w="9525">
              <a:noFill/>
            </a:ln>
          </p:spPr>
          <p:txBody>
            <a:bodyPr/>
            <a:p>
              <a:endParaRPr lang="zh-CN" altLang="en-US"/>
            </a:p>
          </p:txBody>
        </p:sp>
        <p:sp>
          <p:nvSpPr>
            <p:cNvPr id="115803" name="Freeform 23"/>
            <p:cNvSpPr/>
            <p:nvPr/>
          </p:nvSpPr>
          <p:spPr>
            <a:xfrm>
              <a:off x="2768" y="3226"/>
              <a:ext cx="76" cy="38"/>
            </a:xfrm>
            <a:custGeom>
              <a:avLst/>
              <a:gdLst/>
              <a:ahLst/>
              <a:cxnLst>
                <a:cxn ang="0">
                  <a:pos x="0" y="38"/>
                </a:cxn>
                <a:cxn ang="0">
                  <a:pos x="38" y="0"/>
                </a:cxn>
                <a:cxn ang="0">
                  <a:pos x="76" y="0"/>
                </a:cxn>
                <a:cxn ang="0">
                  <a:pos x="38" y="38"/>
                </a:cxn>
                <a:cxn ang="0">
                  <a:pos x="0" y="38"/>
                </a:cxn>
              </a:cxnLst>
              <a:pathLst>
                <a:path w="76" h="38">
                  <a:moveTo>
                    <a:pt x="0" y="38"/>
                  </a:moveTo>
                  <a:lnTo>
                    <a:pt x="38" y="0"/>
                  </a:lnTo>
                  <a:lnTo>
                    <a:pt x="76" y="0"/>
                  </a:lnTo>
                  <a:lnTo>
                    <a:pt x="38" y="38"/>
                  </a:lnTo>
                  <a:lnTo>
                    <a:pt x="0" y="38"/>
                  </a:lnTo>
                  <a:close/>
                </a:path>
              </a:pathLst>
            </a:custGeom>
            <a:solidFill>
              <a:srgbClr val="FF0000">
                <a:alpha val="100000"/>
              </a:srgbClr>
            </a:solidFill>
            <a:ln w="9525">
              <a:noFill/>
            </a:ln>
          </p:spPr>
          <p:txBody>
            <a:bodyPr/>
            <a:p>
              <a:endParaRPr lang="zh-CN" altLang="en-US"/>
            </a:p>
          </p:txBody>
        </p:sp>
        <p:sp>
          <p:nvSpPr>
            <p:cNvPr id="115804" name="Freeform 24"/>
            <p:cNvSpPr/>
            <p:nvPr/>
          </p:nvSpPr>
          <p:spPr>
            <a:xfrm>
              <a:off x="2963" y="3226"/>
              <a:ext cx="76" cy="35"/>
            </a:xfrm>
            <a:custGeom>
              <a:avLst/>
              <a:gdLst/>
              <a:ahLst/>
              <a:cxnLst>
                <a:cxn ang="0">
                  <a:pos x="0" y="35"/>
                </a:cxn>
                <a:cxn ang="0">
                  <a:pos x="38" y="0"/>
                </a:cxn>
                <a:cxn ang="0">
                  <a:pos x="76" y="0"/>
                </a:cxn>
                <a:cxn ang="0">
                  <a:pos x="38" y="35"/>
                </a:cxn>
                <a:cxn ang="0">
                  <a:pos x="0" y="35"/>
                </a:cxn>
              </a:cxnLst>
              <a:pathLst>
                <a:path w="76" h="35">
                  <a:moveTo>
                    <a:pt x="0" y="35"/>
                  </a:moveTo>
                  <a:lnTo>
                    <a:pt x="38" y="0"/>
                  </a:lnTo>
                  <a:lnTo>
                    <a:pt x="76" y="0"/>
                  </a:lnTo>
                  <a:lnTo>
                    <a:pt x="38" y="35"/>
                  </a:lnTo>
                  <a:lnTo>
                    <a:pt x="0" y="35"/>
                  </a:lnTo>
                  <a:close/>
                </a:path>
              </a:pathLst>
            </a:custGeom>
            <a:solidFill>
              <a:srgbClr val="FF0000">
                <a:alpha val="100000"/>
              </a:srgbClr>
            </a:solidFill>
            <a:ln w="9525">
              <a:noFill/>
            </a:ln>
          </p:spPr>
          <p:txBody>
            <a:bodyPr/>
            <a:p>
              <a:endParaRPr lang="zh-CN" altLang="en-US"/>
            </a:p>
          </p:txBody>
        </p:sp>
        <p:sp>
          <p:nvSpPr>
            <p:cNvPr id="115805" name="Freeform 25"/>
            <p:cNvSpPr/>
            <p:nvPr/>
          </p:nvSpPr>
          <p:spPr>
            <a:xfrm>
              <a:off x="2963" y="3226"/>
              <a:ext cx="76" cy="35"/>
            </a:xfrm>
            <a:custGeom>
              <a:avLst/>
              <a:gdLst/>
              <a:ahLst/>
              <a:cxnLst>
                <a:cxn ang="0">
                  <a:pos x="0" y="35"/>
                </a:cxn>
                <a:cxn ang="0">
                  <a:pos x="38" y="0"/>
                </a:cxn>
                <a:cxn ang="0">
                  <a:pos x="76" y="0"/>
                </a:cxn>
                <a:cxn ang="0">
                  <a:pos x="38" y="35"/>
                </a:cxn>
                <a:cxn ang="0">
                  <a:pos x="0" y="35"/>
                </a:cxn>
              </a:cxnLst>
              <a:pathLst>
                <a:path w="76" h="35">
                  <a:moveTo>
                    <a:pt x="0" y="35"/>
                  </a:moveTo>
                  <a:lnTo>
                    <a:pt x="38" y="0"/>
                  </a:lnTo>
                  <a:lnTo>
                    <a:pt x="76" y="0"/>
                  </a:lnTo>
                  <a:lnTo>
                    <a:pt x="38" y="35"/>
                  </a:lnTo>
                  <a:lnTo>
                    <a:pt x="0" y="35"/>
                  </a:lnTo>
                  <a:close/>
                </a:path>
              </a:pathLst>
            </a:custGeom>
            <a:solidFill>
              <a:srgbClr val="FF0000">
                <a:alpha val="100000"/>
              </a:srgbClr>
            </a:solidFill>
            <a:ln w="9525">
              <a:noFill/>
            </a:ln>
          </p:spPr>
          <p:txBody>
            <a:bodyPr/>
            <a:p>
              <a:endParaRPr lang="zh-CN" altLang="en-US"/>
            </a:p>
          </p:txBody>
        </p:sp>
        <p:sp>
          <p:nvSpPr>
            <p:cNvPr id="115806" name="Oval 26"/>
            <p:cNvSpPr/>
            <p:nvPr/>
          </p:nvSpPr>
          <p:spPr>
            <a:xfrm>
              <a:off x="2961" y="3249"/>
              <a:ext cx="39" cy="23"/>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807" name="Arc 27"/>
            <p:cNvSpPr/>
            <p:nvPr/>
          </p:nvSpPr>
          <p:spPr>
            <a:xfrm>
              <a:off x="2766" y="3031"/>
              <a:ext cx="234" cy="132"/>
            </a:xfrm>
            <a:custGeom>
              <a:avLst/>
              <a:gdLst/>
              <a:ahLst/>
              <a:cxnLst>
                <a:cxn ang="0">
                  <a:pos x="0" y="132"/>
                </a:cxn>
                <a:cxn ang="0">
                  <a:pos x="234" y="132"/>
                </a:cxn>
                <a:cxn ang="0">
                  <a:pos x="117" y="132"/>
                </a:cxn>
              </a:cxnLst>
              <a:pathLst>
                <a:path w="43200" h="21600" fill="none">
                  <a:moveTo>
                    <a:pt x="0" y="21600"/>
                  </a:moveTo>
                  <a:cubicBezTo>
                    <a:pt x="0" y="9670"/>
                    <a:pt x="9670" y="0"/>
                    <a:pt x="21600" y="0"/>
                  </a:cubicBezTo>
                  <a:cubicBezTo>
                    <a:pt x="33529" y="0"/>
                    <a:pt x="43200" y="9670"/>
                    <a:pt x="43200" y="21600"/>
                  </a:cubicBezTo>
                </a:path>
                <a:path w="43200" h="21600" stroke="0">
                  <a:moveTo>
                    <a:pt x="0" y="21600"/>
                  </a:moveTo>
                  <a:cubicBezTo>
                    <a:pt x="0" y="9670"/>
                    <a:pt x="9670" y="0"/>
                    <a:pt x="21600" y="0"/>
                  </a:cubicBezTo>
                  <a:cubicBezTo>
                    <a:pt x="33529" y="0"/>
                    <a:pt x="43200" y="9670"/>
                    <a:pt x="43200" y="21600"/>
                  </a:cubicBezTo>
                  <a:lnTo>
                    <a:pt x="21600" y="21600"/>
                  </a:lnTo>
                  <a:lnTo>
                    <a:pt x="0" y="21600"/>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808" name="Rectangle 28"/>
            <p:cNvSpPr/>
            <p:nvPr/>
          </p:nvSpPr>
          <p:spPr>
            <a:xfrm>
              <a:off x="2963" y="3169"/>
              <a:ext cx="35" cy="92"/>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809" name="Line 29"/>
            <p:cNvSpPr/>
            <p:nvPr/>
          </p:nvSpPr>
          <p:spPr>
            <a:xfrm flipV="1">
              <a:off x="2998" y="3163"/>
              <a:ext cx="1" cy="94"/>
            </a:xfrm>
            <a:prstGeom prst="line">
              <a:avLst/>
            </a:prstGeom>
            <a:ln w="4763" cap="flat" cmpd="sng">
              <a:solidFill>
                <a:srgbClr val="494936"/>
              </a:solidFill>
              <a:prstDash val="solid"/>
              <a:headEnd type="none" w="med" len="med"/>
              <a:tailEnd type="none" w="med" len="med"/>
            </a:ln>
          </p:spPr>
        </p:sp>
        <p:sp>
          <p:nvSpPr>
            <p:cNvPr id="115810" name="Line 30"/>
            <p:cNvSpPr/>
            <p:nvPr/>
          </p:nvSpPr>
          <p:spPr>
            <a:xfrm flipV="1">
              <a:off x="2960" y="3163"/>
              <a:ext cx="1" cy="94"/>
            </a:xfrm>
            <a:prstGeom prst="line">
              <a:avLst/>
            </a:prstGeom>
            <a:ln w="4763" cap="flat" cmpd="sng">
              <a:solidFill>
                <a:srgbClr val="494936"/>
              </a:solidFill>
              <a:prstDash val="solid"/>
              <a:headEnd type="none" w="med" len="med"/>
              <a:tailEnd type="none" w="med" len="med"/>
            </a:ln>
          </p:spPr>
        </p:sp>
        <p:sp>
          <p:nvSpPr>
            <p:cNvPr id="115811" name="Oval 31"/>
            <p:cNvSpPr/>
            <p:nvPr/>
          </p:nvSpPr>
          <p:spPr>
            <a:xfrm>
              <a:off x="2766" y="3249"/>
              <a:ext cx="39" cy="23"/>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812" name="Rectangle 32"/>
            <p:cNvSpPr/>
            <p:nvPr/>
          </p:nvSpPr>
          <p:spPr>
            <a:xfrm>
              <a:off x="2768" y="3169"/>
              <a:ext cx="35" cy="92"/>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813" name="Arc 33"/>
            <p:cNvSpPr/>
            <p:nvPr/>
          </p:nvSpPr>
          <p:spPr>
            <a:xfrm>
              <a:off x="2804" y="3069"/>
              <a:ext cx="158" cy="100"/>
            </a:xfrm>
            <a:custGeom>
              <a:avLst/>
              <a:gdLst/>
              <a:ahLst/>
              <a:cxnLst>
                <a:cxn ang="0">
                  <a:pos x="0" y="100"/>
                </a:cxn>
                <a:cxn ang="0">
                  <a:pos x="158" y="100"/>
                </a:cxn>
                <a:cxn ang="0">
                  <a:pos x="79" y="100"/>
                </a:cxn>
              </a:cxnLst>
              <a:pathLst>
                <a:path w="43200" h="21600" fill="none">
                  <a:moveTo>
                    <a:pt x="0" y="21600"/>
                  </a:moveTo>
                  <a:cubicBezTo>
                    <a:pt x="0" y="9670"/>
                    <a:pt x="9670" y="0"/>
                    <a:pt x="21600" y="0"/>
                  </a:cubicBezTo>
                  <a:cubicBezTo>
                    <a:pt x="33529" y="0"/>
                    <a:pt x="43200" y="9670"/>
                    <a:pt x="43200" y="21600"/>
                  </a:cubicBezTo>
                </a:path>
                <a:path w="43200" h="21600" stroke="0">
                  <a:moveTo>
                    <a:pt x="0" y="21600"/>
                  </a:moveTo>
                  <a:cubicBezTo>
                    <a:pt x="0" y="9670"/>
                    <a:pt x="9670" y="0"/>
                    <a:pt x="21600" y="0"/>
                  </a:cubicBezTo>
                  <a:cubicBezTo>
                    <a:pt x="33529" y="0"/>
                    <a:pt x="43200" y="9670"/>
                    <a:pt x="43200" y="21600"/>
                  </a:cubicBezTo>
                  <a:lnTo>
                    <a:pt x="21600" y="21600"/>
                  </a:lnTo>
                  <a:lnTo>
                    <a:pt x="0" y="21600"/>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814" name="Rectangle 34"/>
            <p:cNvSpPr/>
            <p:nvPr/>
          </p:nvSpPr>
          <p:spPr>
            <a:xfrm>
              <a:off x="2768" y="3169"/>
              <a:ext cx="35" cy="92"/>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815" name="Line 35"/>
            <p:cNvSpPr/>
            <p:nvPr/>
          </p:nvSpPr>
          <p:spPr>
            <a:xfrm flipV="1">
              <a:off x="2765" y="3163"/>
              <a:ext cx="1" cy="94"/>
            </a:xfrm>
            <a:prstGeom prst="line">
              <a:avLst/>
            </a:prstGeom>
            <a:ln w="4763" cap="flat" cmpd="sng">
              <a:solidFill>
                <a:srgbClr val="494936"/>
              </a:solidFill>
              <a:prstDash val="solid"/>
              <a:headEnd type="none" w="med" len="med"/>
              <a:tailEnd type="none" w="med" len="med"/>
            </a:ln>
          </p:spPr>
        </p:sp>
        <p:sp>
          <p:nvSpPr>
            <p:cNvPr id="115816" name="Line 36"/>
            <p:cNvSpPr/>
            <p:nvPr/>
          </p:nvSpPr>
          <p:spPr>
            <a:xfrm flipV="1">
              <a:off x="2803" y="3163"/>
              <a:ext cx="1" cy="94"/>
            </a:xfrm>
            <a:prstGeom prst="line">
              <a:avLst/>
            </a:prstGeom>
            <a:ln w="4763" cap="flat" cmpd="sng">
              <a:solidFill>
                <a:srgbClr val="494936"/>
              </a:solidFill>
              <a:prstDash val="solid"/>
              <a:headEnd type="none" w="med" len="med"/>
              <a:tailEnd type="none" w="med" len="med"/>
            </a:ln>
          </p:spPr>
        </p:sp>
        <p:sp>
          <p:nvSpPr>
            <p:cNvPr id="115817" name="Arc 37"/>
            <p:cNvSpPr/>
            <p:nvPr/>
          </p:nvSpPr>
          <p:spPr>
            <a:xfrm>
              <a:off x="2783" y="3044"/>
              <a:ext cx="97" cy="125"/>
            </a:xfrm>
            <a:custGeom>
              <a:avLst/>
              <a:gdLst/>
              <a:ahLst/>
              <a:cxnLst>
                <a:cxn ang="0">
                  <a:pos x="0" y="76"/>
                </a:cxn>
                <a:cxn ang="0">
                  <a:pos x="97" y="0"/>
                </a:cxn>
                <a:cxn ang="0">
                  <a:pos x="92" y="125"/>
                </a:cxn>
              </a:cxnLst>
              <a:pathLst>
                <a:path w="21021" h="21600" fill="none">
                  <a:moveTo>
                    <a:pt x="-1" y="13196"/>
                  </a:moveTo>
                  <a:cubicBezTo>
                    <a:pt x="3377" y="5198"/>
                    <a:pt x="11215" y="-1"/>
                    <a:pt x="19898" y="0"/>
                  </a:cubicBezTo>
                  <a:cubicBezTo>
                    <a:pt x="20272" y="0"/>
                    <a:pt x="20646" y="9"/>
                    <a:pt x="21020" y="29"/>
                  </a:cubicBezTo>
                </a:path>
                <a:path w="21021" h="21600" stroke="0">
                  <a:moveTo>
                    <a:pt x="-1" y="13196"/>
                  </a:moveTo>
                  <a:cubicBezTo>
                    <a:pt x="3377" y="5198"/>
                    <a:pt x="11215" y="-1"/>
                    <a:pt x="19898" y="0"/>
                  </a:cubicBezTo>
                  <a:cubicBezTo>
                    <a:pt x="20272" y="0"/>
                    <a:pt x="20646" y="9"/>
                    <a:pt x="21020" y="29"/>
                  </a:cubicBezTo>
                  <a:lnTo>
                    <a:pt x="19898" y="21600"/>
                  </a:lnTo>
                  <a:lnTo>
                    <a:pt x="-1" y="13196"/>
                  </a:lnTo>
                  <a:close/>
                </a:path>
              </a:pathLst>
            </a:custGeom>
            <a:solidFill>
              <a:srgbClr val="FF0000">
                <a:alpha val="100000"/>
              </a:srgbClr>
            </a:solidFill>
            <a:ln w="14288" cap="flat" cmpd="sng">
              <a:solidFill>
                <a:srgbClr val="DBDBCE">
                  <a:alpha val="100000"/>
                </a:srgbClr>
              </a:solidFill>
              <a:prstDash val="solid"/>
              <a:round/>
              <a:headEnd type="none" w="med" len="med"/>
              <a:tailEnd type="none" w="med" len="med"/>
            </a:ln>
          </p:spPr>
          <p:txBody>
            <a:bodyPr/>
            <a:p>
              <a:endParaRPr lang="zh-CN" altLang="en-US"/>
            </a:p>
          </p:txBody>
        </p:sp>
        <p:sp>
          <p:nvSpPr>
            <p:cNvPr id="115818" name="Freeform 38"/>
            <p:cNvSpPr/>
            <p:nvPr/>
          </p:nvSpPr>
          <p:spPr>
            <a:xfrm>
              <a:off x="2594" y="3406"/>
              <a:ext cx="105" cy="101"/>
            </a:xfrm>
            <a:custGeom>
              <a:avLst/>
              <a:gdLst/>
              <a:ahLst/>
              <a:cxnLst>
                <a:cxn ang="0">
                  <a:pos x="4" y="31"/>
                </a:cxn>
                <a:cxn ang="0">
                  <a:pos x="0" y="47"/>
                </a:cxn>
                <a:cxn ang="0">
                  <a:pos x="4" y="63"/>
                </a:cxn>
                <a:cxn ang="0">
                  <a:pos x="10" y="75"/>
                </a:cxn>
                <a:cxn ang="0">
                  <a:pos x="16" y="85"/>
                </a:cxn>
                <a:cxn ang="0">
                  <a:pos x="26" y="91"/>
                </a:cxn>
                <a:cxn ang="0">
                  <a:pos x="35" y="98"/>
                </a:cxn>
                <a:cxn ang="0">
                  <a:pos x="45" y="101"/>
                </a:cxn>
                <a:cxn ang="0">
                  <a:pos x="54" y="101"/>
                </a:cxn>
                <a:cxn ang="0">
                  <a:pos x="60" y="101"/>
                </a:cxn>
                <a:cxn ang="0">
                  <a:pos x="73" y="94"/>
                </a:cxn>
                <a:cxn ang="0">
                  <a:pos x="82" y="91"/>
                </a:cxn>
                <a:cxn ang="0">
                  <a:pos x="89" y="85"/>
                </a:cxn>
                <a:cxn ang="0">
                  <a:pos x="92" y="82"/>
                </a:cxn>
                <a:cxn ang="0">
                  <a:pos x="98" y="75"/>
                </a:cxn>
                <a:cxn ang="0">
                  <a:pos x="101" y="66"/>
                </a:cxn>
                <a:cxn ang="0">
                  <a:pos x="105" y="53"/>
                </a:cxn>
                <a:cxn ang="0">
                  <a:pos x="105" y="47"/>
                </a:cxn>
                <a:cxn ang="0">
                  <a:pos x="105" y="34"/>
                </a:cxn>
                <a:cxn ang="0">
                  <a:pos x="101" y="25"/>
                </a:cxn>
                <a:cxn ang="0">
                  <a:pos x="95" y="19"/>
                </a:cxn>
                <a:cxn ang="0">
                  <a:pos x="92" y="12"/>
                </a:cxn>
                <a:cxn ang="0">
                  <a:pos x="64" y="6"/>
                </a:cxn>
                <a:cxn ang="0">
                  <a:pos x="54" y="16"/>
                </a:cxn>
                <a:cxn ang="0">
                  <a:pos x="64" y="19"/>
                </a:cxn>
                <a:cxn ang="0">
                  <a:pos x="70" y="19"/>
                </a:cxn>
                <a:cxn ang="0">
                  <a:pos x="73" y="25"/>
                </a:cxn>
                <a:cxn ang="0">
                  <a:pos x="79" y="31"/>
                </a:cxn>
                <a:cxn ang="0">
                  <a:pos x="82" y="38"/>
                </a:cxn>
                <a:cxn ang="0">
                  <a:pos x="86" y="47"/>
                </a:cxn>
                <a:cxn ang="0">
                  <a:pos x="86" y="53"/>
                </a:cxn>
                <a:cxn ang="0">
                  <a:pos x="82" y="63"/>
                </a:cxn>
                <a:cxn ang="0">
                  <a:pos x="79" y="69"/>
                </a:cxn>
                <a:cxn ang="0">
                  <a:pos x="73" y="72"/>
                </a:cxn>
                <a:cxn ang="0">
                  <a:pos x="67" y="79"/>
                </a:cxn>
                <a:cxn ang="0">
                  <a:pos x="60" y="79"/>
                </a:cxn>
                <a:cxn ang="0">
                  <a:pos x="51" y="79"/>
                </a:cxn>
                <a:cxn ang="0">
                  <a:pos x="38" y="75"/>
                </a:cxn>
                <a:cxn ang="0">
                  <a:pos x="32" y="72"/>
                </a:cxn>
                <a:cxn ang="0">
                  <a:pos x="26" y="66"/>
                </a:cxn>
                <a:cxn ang="0">
                  <a:pos x="23" y="57"/>
                </a:cxn>
                <a:cxn ang="0">
                  <a:pos x="19" y="50"/>
                </a:cxn>
                <a:cxn ang="0">
                  <a:pos x="23" y="38"/>
                </a:cxn>
                <a:cxn ang="0">
                  <a:pos x="29" y="28"/>
                </a:cxn>
                <a:cxn ang="0">
                  <a:pos x="35" y="22"/>
                </a:cxn>
                <a:cxn ang="0">
                  <a:pos x="41" y="19"/>
                </a:cxn>
                <a:cxn ang="0">
                  <a:pos x="45" y="9"/>
                </a:cxn>
                <a:cxn ang="0">
                  <a:pos x="35" y="0"/>
                </a:cxn>
                <a:cxn ang="0">
                  <a:pos x="19" y="6"/>
                </a:cxn>
                <a:cxn ang="0">
                  <a:pos x="7" y="22"/>
                </a:cxn>
                <a:cxn ang="0">
                  <a:pos x="4" y="31"/>
                </a:cxn>
              </a:cxnLst>
              <a:pathLst>
                <a:path w="105" h="101">
                  <a:moveTo>
                    <a:pt x="4" y="31"/>
                  </a:moveTo>
                  <a:lnTo>
                    <a:pt x="0" y="47"/>
                  </a:lnTo>
                  <a:lnTo>
                    <a:pt x="4" y="63"/>
                  </a:lnTo>
                  <a:lnTo>
                    <a:pt x="10" y="75"/>
                  </a:lnTo>
                  <a:lnTo>
                    <a:pt x="16" y="85"/>
                  </a:lnTo>
                  <a:lnTo>
                    <a:pt x="26" y="91"/>
                  </a:lnTo>
                  <a:lnTo>
                    <a:pt x="35" y="98"/>
                  </a:lnTo>
                  <a:lnTo>
                    <a:pt x="45" y="101"/>
                  </a:lnTo>
                  <a:lnTo>
                    <a:pt x="54" y="101"/>
                  </a:lnTo>
                  <a:lnTo>
                    <a:pt x="60" y="101"/>
                  </a:lnTo>
                  <a:lnTo>
                    <a:pt x="73" y="94"/>
                  </a:lnTo>
                  <a:lnTo>
                    <a:pt x="82" y="91"/>
                  </a:lnTo>
                  <a:lnTo>
                    <a:pt x="89" y="85"/>
                  </a:lnTo>
                  <a:lnTo>
                    <a:pt x="92" y="82"/>
                  </a:lnTo>
                  <a:lnTo>
                    <a:pt x="98" y="75"/>
                  </a:lnTo>
                  <a:lnTo>
                    <a:pt x="101" y="66"/>
                  </a:lnTo>
                  <a:lnTo>
                    <a:pt x="105" y="53"/>
                  </a:lnTo>
                  <a:lnTo>
                    <a:pt x="105" y="47"/>
                  </a:lnTo>
                  <a:lnTo>
                    <a:pt x="105" y="34"/>
                  </a:lnTo>
                  <a:lnTo>
                    <a:pt x="101" y="25"/>
                  </a:lnTo>
                  <a:lnTo>
                    <a:pt x="95" y="19"/>
                  </a:lnTo>
                  <a:lnTo>
                    <a:pt x="92" y="12"/>
                  </a:lnTo>
                  <a:lnTo>
                    <a:pt x="64" y="6"/>
                  </a:lnTo>
                  <a:lnTo>
                    <a:pt x="54" y="16"/>
                  </a:lnTo>
                  <a:lnTo>
                    <a:pt x="64" y="19"/>
                  </a:lnTo>
                  <a:lnTo>
                    <a:pt x="70" y="19"/>
                  </a:lnTo>
                  <a:lnTo>
                    <a:pt x="73" y="25"/>
                  </a:lnTo>
                  <a:lnTo>
                    <a:pt x="79" y="31"/>
                  </a:lnTo>
                  <a:lnTo>
                    <a:pt x="82" y="38"/>
                  </a:lnTo>
                  <a:lnTo>
                    <a:pt x="86" y="47"/>
                  </a:lnTo>
                  <a:lnTo>
                    <a:pt x="86" y="53"/>
                  </a:lnTo>
                  <a:lnTo>
                    <a:pt x="82" y="63"/>
                  </a:lnTo>
                  <a:lnTo>
                    <a:pt x="79" y="69"/>
                  </a:lnTo>
                  <a:lnTo>
                    <a:pt x="73" y="72"/>
                  </a:lnTo>
                  <a:lnTo>
                    <a:pt x="67" y="79"/>
                  </a:lnTo>
                  <a:lnTo>
                    <a:pt x="60" y="79"/>
                  </a:lnTo>
                  <a:lnTo>
                    <a:pt x="51" y="79"/>
                  </a:lnTo>
                  <a:lnTo>
                    <a:pt x="38" y="75"/>
                  </a:lnTo>
                  <a:lnTo>
                    <a:pt x="32" y="72"/>
                  </a:lnTo>
                  <a:lnTo>
                    <a:pt x="26" y="66"/>
                  </a:lnTo>
                  <a:lnTo>
                    <a:pt x="23" y="57"/>
                  </a:lnTo>
                  <a:lnTo>
                    <a:pt x="19" y="50"/>
                  </a:lnTo>
                  <a:lnTo>
                    <a:pt x="23" y="38"/>
                  </a:lnTo>
                  <a:lnTo>
                    <a:pt x="29" y="28"/>
                  </a:lnTo>
                  <a:lnTo>
                    <a:pt x="35" y="22"/>
                  </a:lnTo>
                  <a:lnTo>
                    <a:pt x="41" y="19"/>
                  </a:lnTo>
                  <a:lnTo>
                    <a:pt x="45" y="9"/>
                  </a:lnTo>
                  <a:lnTo>
                    <a:pt x="35" y="0"/>
                  </a:lnTo>
                  <a:lnTo>
                    <a:pt x="19" y="6"/>
                  </a:lnTo>
                  <a:lnTo>
                    <a:pt x="7" y="22"/>
                  </a:lnTo>
                  <a:lnTo>
                    <a:pt x="4" y="31"/>
                  </a:lnTo>
                  <a:close/>
                </a:path>
              </a:pathLst>
            </a:custGeom>
            <a:solidFill>
              <a:srgbClr val="FF0000">
                <a:alpha val="100000"/>
              </a:srgbClr>
            </a:solidFill>
            <a:ln w="9525">
              <a:noFill/>
            </a:ln>
          </p:spPr>
          <p:txBody>
            <a:bodyPr/>
            <a:p>
              <a:endParaRPr lang="zh-CN" altLang="en-US"/>
            </a:p>
          </p:txBody>
        </p:sp>
        <p:sp>
          <p:nvSpPr>
            <p:cNvPr id="115819" name="Freeform 39"/>
            <p:cNvSpPr/>
            <p:nvPr/>
          </p:nvSpPr>
          <p:spPr>
            <a:xfrm>
              <a:off x="2594" y="3406"/>
              <a:ext cx="105" cy="101"/>
            </a:xfrm>
            <a:custGeom>
              <a:avLst/>
              <a:gdLst/>
              <a:ahLst/>
              <a:cxnLst>
                <a:cxn ang="0">
                  <a:pos x="4" y="31"/>
                </a:cxn>
                <a:cxn ang="0">
                  <a:pos x="0" y="47"/>
                </a:cxn>
                <a:cxn ang="0">
                  <a:pos x="4" y="63"/>
                </a:cxn>
                <a:cxn ang="0">
                  <a:pos x="10" y="75"/>
                </a:cxn>
                <a:cxn ang="0">
                  <a:pos x="16" y="85"/>
                </a:cxn>
                <a:cxn ang="0">
                  <a:pos x="26" y="91"/>
                </a:cxn>
                <a:cxn ang="0">
                  <a:pos x="35" y="98"/>
                </a:cxn>
                <a:cxn ang="0">
                  <a:pos x="45" y="101"/>
                </a:cxn>
                <a:cxn ang="0">
                  <a:pos x="54" y="101"/>
                </a:cxn>
                <a:cxn ang="0">
                  <a:pos x="60" y="101"/>
                </a:cxn>
                <a:cxn ang="0">
                  <a:pos x="73" y="94"/>
                </a:cxn>
                <a:cxn ang="0">
                  <a:pos x="82" y="91"/>
                </a:cxn>
                <a:cxn ang="0">
                  <a:pos x="89" y="85"/>
                </a:cxn>
                <a:cxn ang="0">
                  <a:pos x="92" y="82"/>
                </a:cxn>
                <a:cxn ang="0">
                  <a:pos x="98" y="75"/>
                </a:cxn>
                <a:cxn ang="0">
                  <a:pos x="101" y="66"/>
                </a:cxn>
                <a:cxn ang="0">
                  <a:pos x="105" y="53"/>
                </a:cxn>
                <a:cxn ang="0">
                  <a:pos x="105" y="47"/>
                </a:cxn>
                <a:cxn ang="0">
                  <a:pos x="105" y="34"/>
                </a:cxn>
                <a:cxn ang="0">
                  <a:pos x="101" y="25"/>
                </a:cxn>
                <a:cxn ang="0">
                  <a:pos x="95" y="19"/>
                </a:cxn>
                <a:cxn ang="0">
                  <a:pos x="92" y="12"/>
                </a:cxn>
                <a:cxn ang="0">
                  <a:pos x="64" y="6"/>
                </a:cxn>
                <a:cxn ang="0">
                  <a:pos x="54" y="16"/>
                </a:cxn>
                <a:cxn ang="0">
                  <a:pos x="64" y="19"/>
                </a:cxn>
                <a:cxn ang="0">
                  <a:pos x="70" y="19"/>
                </a:cxn>
                <a:cxn ang="0">
                  <a:pos x="73" y="25"/>
                </a:cxn>
                <a:cxn ang="0">
                  <a:pos x="79" y="31"/>
                </a:cxn>
                <a:cxn ang="0">
                  <a:pos x="82" y="38"/>
                </a:cxn>
                <a:cxn ang="0">
                  <a:pos x="86" y="47"/>
                </a:cxn>
                <a:cxn ang="0">
                  <a:pos x="86" y="53"/>
                </a:cxn>
                <a:cxn ang="0">
                  <a:pos x="82" y="63"/>
                </a:cxn>
                <a:cxn ang="0">
                  <a:pos x="79" y="69"/>
                </a:cxn>
                <a:cxn ang="0">
                  <a:pos x="73" y="72"/>
                </a:cxn>
                <a:cxn ang="0">
                  <a:pos x="67" y="79"/>
                </a:cxn>
                <a:cxn ang="0">
                  <a:pos x="60" y="79"/>
                </a:cxn>
                <a:cxn ang="0">
                  <a:pos x="51" y="79"/>
                </a:cxn>
                <a:cxn ang="0">
                  <a:pos x="38" y="75"/>
                </a:cxn>
                <a:cxn ang="0">
                  <a:pos x="32" y="72"/>
                </a:cxn>
                <a:cxn ang="0">
                  <a:pos x="26" y="66"/>
                </a:cxn>
                <a:cxn ang="0">
                  <a:pos x="23" y="57"/>
                </a:cxn>
                <a:cxn ang="0">
                  <a:pos x="19" y="50"/>
                </a:cxn>
                <a:cxn ang="0">
                  <a:pos x="23" y="38"/>
                </a:cxn>
                <a:cxn ang="0">
                  <a:pos x="29" y="28"/>
                </a:cxn>
                <a:cxn ang="0">
                  <a:pos x="35" y="22"/>
                </a:cxn>
                <a:cxn ang="0">
                  <a:pos x="41" y="19"/>
                </a:cxn>
                <a:cxn ang="0">
                  <a:pos x="45" y="9"/>
                </a:cxn>
                <a:cxn ang="0">
                  <a:pos x="35" y="0"/>
                </a:cxn>
                <a:cxn ang="0">
                  <a:pos x="19" y="6"/>
                </a:cxn>
                <a:cxn ang="0">
                  <a:pos x="7" y="22"/>
                </a:cxn>
                <a:cxn ang="0">
                  <a:pos x="4" y="31"/>
                </a:cxn>
              </a:cxnLst>
              <a:pathLst>
                <a:path w="105" h="101">
                  <a:moveTo>
                    <a:pt x="4" y="31"/>
                  </a:moveTo>
                  <a:lnTo>
                    <a:pt x="0" y="47"/>
                  </a:lnTo>
                  <a:lnTo>
                    <a:pt x="4" y="63"/>
                  </a:lnTo>
                  <a:lnTo>
                    <a:pt x="10" y="75"/>
                  </a:lnTo>
                  <a:lnTo>
                    <a:pt x="16" y="85"/>
                  </a:lnTo>
                  <a:lnTo>
                    <a:pt x="26" y="91"/>
                  </a:lnTo>
                  <a:lnTo>
                    <a:pt x="35" y="98"/>
                  </a:lnTo>
                  <a:lnTo>
                    <a:pt x="45" y="101"/>
                  </a:lnTo>
                  <a:lnTo>
                    <a:pt x="54" y="101"/>
                  </a:lnTo>
                  <a:lnTo>
                    <a:pt x="60" y="101"/>
                  </a:lnTo>
                  <a:lnTo>
                    <a:pt x="73" y="94"/>
                  </a:lnTo>
                  <a:lnTo>
                    <a:pt x="82" y="91"/>
                  </a:lnTo>
                  <a:lnTo>
                    <a:pt x="89" y="85"/>
                  </a:lnTo>
                  <a:lnTo>
                    <a:pt x="92" y="82"/>
                  </a:lnTo>
                  <a:lnTo>
                    <a:pt x="98" y="75"/>
                  </a:lnTo>
                  <a:lnTo>
                    <a:pt x="101" y="66"/>
                  </a:lnTo>
                  <a:lnTo>
                    <a:pt x="105" y="53"/>
                  </a:lnTo>
                  <a:lnTo>
                    <a:pt x="105" y="47"/>
                  </a:lnTo>
                  <a:lnTo>
                    <a:pt x="105" y="34"/>
                  </a:lnTo>
                  <a:lnTo>
                    <a:pt x="101" y="25"/>
                  </a:lnTo>
                  <a:lnTo>
                    <a:pt x="95" y="19"/>
                  </a:lnTo>
                  <a:lnTo>
                    <a:pt x="92" y="12"/>
                  </a:lnTo>
                  <a:lnTo>
                    <a:pt x="64" y="6"/>
                  </a:lnTo>
                  <a:lnTo>
                    <a:pt x="54" y="16"/>
                  </a:lnTo>
                  <a:lnTo>
                    <a:pt x="64" y="19"/>
                  </a:lnTo>
                  <a:lnTo>
                    <a:pt x="70" y="19"/>
                  </a:lnTo>
                  <a:lnTo>
                    <a:pt x="73" y="25"/>
                  </a:lnTo>
                  <a:lnTo>
                    <a:pt x="79" y="31"/>
                  </a:lnTo>
                  <a:lnTo>
                    <a:pt x="82" y="38"/>
                  </a:lnTo>
                  <a:lnTo>
                    <a:pt x="86" y="47"/>
                  </a:lnTo>
                  <a:lnTo>
                    <a:pt x="86" y="53"/>
                  </a:lnTo>
                  <a:lnTo>
                    <a:pt x="82" y="63"/>
                  </a:lnTo>
                  <a:lnTo>
                    <a:pt x="79" y="69"/>
                  </a:lnTo>
                  <a:lnTo>
                    <a:pt x="73" y="72"/>
                  </a:lnTo>
                  <a:lnTo>
                    <a:pt x="67" y="79"/>
                  </a:lnTo>
                  <a:lnTo>
                    <a:pt x="60" y="79"/>
                  </a:lnTo>
                  <a:lnTo>
                    <a:pt x="51" y="79"/>
                  </a:lnTo>
                  <a:lnTo>
                    <a:pt x="38" y="75"/>
                  </a:lnTo>
                  <a:lnTo>
                    <a:pt x="32" y="72"/>
                  </a:lnTo>
                  <a:lnTo>
                    <a:pt x="26" y="66"/>
                  </a:lnTo>
                  <a:lnTo>
                    <a:pt x="23" y="57"/>
                  </a:lnTo>
                  <a:lnTo>
                    <a:pt x="19" y="50"/>
                  </a:lnTo>
                  <a:lnTo>
                    <a:pt x="23" y="38"/>
                  </a:lnTo>
                  <a:lnTo>
                    <a:pt x="29" y="28"/>
                  </a:lnTo>
                  <a:lnTo>
                    <a:pt x="35" y="22"/>
                  </a:lnTo>
                  <a:lnTo>
                    <a:pt x="41" y="19"/>
                  </a:lnTo>
                  <a:lnTo>
                    <a:pt x="45" y="9"/>
                  </a:lnTo>
                  <a:lnTo>
                    <a:pt x="35" y="0"/>
                  </a:lnTo>
                  <a:lnTo>
                    <a:pt x="19" y="6"/>
                  </a:lnTo>
                  <a:lnTo>
                    <a:pt x="7" y="22"/>
                  </a:lnTo>
                  <a:lnTo>
                    <a:pt x="4" y="31"/>
                  </a:lnTo>
                  <a:close/>
                </a:path>
              </a:pathLst>
            </a:custGeom>
            <a:solidFill>
              <a:srgbClr val="FF0000">
                <a:alpha val="100000"/>
              </a:srgbClr>
            </a:solidFill>
            <a:ln w="4763" cap="flat" cmpd="sng">
              <a:solidFill>
                <a:srgbClr val="93936C">
                  <a:alpha val="100000"/>
                </a:srgbClr>
              </a:solidFill>
              <a:prstDash val="solid"/>
              <a:round/>
              <a:headEnd type="none" w="med" len="med"/>
              <a:tailEnd type="none" w="med" len="med"/>
            </a:ln>
          </p:spPr>
          <p:txBody>
            <a:bodyPr/>
            <a:p>
              <a:endParaRPr lang="zh-CN" altLang="en-US"/>
            </a:p>
          </p:txBody>
        </p:sp>
        <p:sp>
          <p:nvSpPr>
            <p:cNvPr id="115820" name="Freeform 40"/>
            <p:cNvSpPr/>
            <p:nvPr/>
          </p:nvSpPr>
          <p:spPr>
            <a:xfrm>
              <a:off x="2686" y="3365"/>
              <a:ext cx="211" cy="75"/>
            </a:xfrm>
            <a:custGeom>
              <a:avLst/>
              <a:gdLst/>
              <a:ahLst/>
              <a:cxnLst>
                <a:cxn ang="0">
                  <a:pos x="0" y="19"/>
                </a:cxn>
                <a:cxn ang="0">
                  <a:pos x="28" y="19"/>
                </a:cxn>
                <a:cxn ang="0">
                  <a:pos x="28" y="0"/>
                </a:cxn>
                <a:cxn ang="0">
                  <a:pos x="54" y="0"/>
                </a:cxn>
                <a:cxn ang="0">
                  <a:pos x="54" y="19"/>
                </a:cxn>
                <a:cxn ang="0">
                  <a:pos x="63" y="19"/>
                </a:cxn>
                <a:cxn ang="0">
                  <a:pos x="63" y="0"/>
                </a:cxn>
                <a:cxn ang="0">
                  <a:pos x="85" y="0"/>
                </a:cxn>
                <a:cxn ang="0">
                  <a:pos x="85" y="19"/>
                </a:cxn>
                <a:cxn ang="0">
                  <a:pos x="208" y="19"/>
                </a:cxn>
                <a:cxn ang="0">
                  <a:pos x="208" y="19"/>
                </a:cxn>
                <a:cxn ang="0">
                  <a:pos x="208" y="22"/>
                </a:cxn>
                <a:cxn ang="0">
                  <a:pos x="208" y="25"/>
                </a:cxn>
                <a:cxn ang="0">
                  <a:pos x="208" y="28"/>
                </a:cxn>
                <a:cxn ang="0">
                  <a:pos x="211" y="31"/>
                </a:cxn>
                <a:cxn ang="0">
                  <a:pos x="208" y="34"/>
                </a:cxn>
                <a:cxn ang="0">
                  <a:pos x="208" y="38"/>
                </a:cxn>
                <a:cxn ang="0">
                  <a:pos x="208" y="44"/>
                </a:cxn>
                <a:cxn ang="0">
                  <a:pos x="205" y="47"/>
                </a:cxn>
                <a:cxn ang="0">
                  <a:pos x="205" y="50"/>
                </a:cxn>
                <a:cxn ang="0">
                  <a:pos x="202" y="53"/>
                </a:cxn>
                <a:cxn ang="0">
                  <a:pos x="85" y="53"/>
                </a:cxn>
                <a:cxn ang="0">
                  <a:pos x="85" y="75"/>
                </a:cxn>
                <a:cxn ang="0">
                  <a:pos x="63" y="75"/>
                </a:cxn>
                <a:cxn ang="0">
                  <a:pos x="63" y="53"/>
                </a:cxn>
                <a:cxn ang="0">
                  <a:pos x="54" y="53"/>
                </a:cxn>
                <a:cxn ang="0">
                  <a:pos x="54" y="75"/>
                </a:cxn>
                <a:cxn ang="0">
                  <a:pos x="28" y="75"/>
                </a:cxn>
                <a:cxn ang="0">
                  <a:pos x="28" y="53"/>
                </a:cxn>
                <a:cxn ang="0">
                  <a:pos x="0" y="53"/>
                </a:cxn>
                <a:cxn ang="0">
                  <a:pos x="0" y="19"/>
                </a:cxn>
              </a:cxnLst>
              <a:pathLst>
                <a:path w="211" h="75">
                  <a:moveTo>
                    <a:pt x="0" y="19"/>
                  </a:moveTo>
                  <a:lnTo>
                    <a:pt x="28" y="19"/>
                  </a:lnTo>
                  <a:lnTo>
                    <a:pt x="28" y="0"/>
                  </a:lnTo>
                  <a:lnTo>
                    <a:pt x="54" y="0"/>
                  </a:lnTo>
                  <a:lnTo>
                    <a:pt x="54" y="19"/>
                  </a:lnTo>
                  <a:lnTo>
                    <a:pt x="63" y="19"/>
                  </a:lnTo>
                  <a:lnTo>
                    <a:pt x="63" y="0"/>
                  </a:lnTo>
                  <a:lnTo>
                    <a:pt x="85" y="0"/>
                  </a:lnTo>
                  <a:lnTo>
                    <a:pt x="85" y="19"/>
                  </a:lnTo>
                  <a:lnTo>
                    <a:pt x="208" y="19"/>
                  </a:lnTo>
                  <a:lnTo>
                    <a:pt x="208" y="19"/>
                  </a:lnTo>
                  <a:lnTo>
                    <a:pt x="208" y="22"/>
                  </a:lnTo>
                  <a:lnTo>
                    <a:pt x="208" y="25"/>
                  </a:lnTo>
                  <a:lnTo>
                    <a:pt x="208" y="28"/>
                  </a:lnTo>
                  <a:lnTo>
                    <a:pt x="211" y="31"/>
                  </a:lnTo>
                  <a:lnTo>
                    <a:pt x="208" y="34"/>
                  </a:lnTo>
                  <a:lnTo>
                    <a:pt x="208" y="38"/>
                  </a:lnTo>
                  <a:lnTo>
                    <a:pt x="208" y="44"/>
                  </a:lnTo>
                  <a:lnTo>
                    <a:pt x="205" y="47"/>
                  </a:lnTo>
                  <a:lnTo>
                    <a:pt x="205" y="50"/>
                  </a:lnTo>
                  <a:lnTo>
                    <a:pt x="202" y="53"/>
                  </a:lnTo>
                  <a:lnTo>
                    <a:pt x="85" y="53"/>
                  </a:lnTo>
                  <a:lnTo>
                    <a:pt x="85" y="75"/>
                  </a:lnTo>
                  <a:lnTo>
                    <a:pt x="63" y="75"/>
                  </a:lnTo>
                  <a:lnTo>
                    <a:pt x="63" y="53"/>
                  </a:lnTo>
                  <a:lnTo>
                    <a:pt x="54" y="53"/>
                  </a:lnTo>
                  <a:lnTo>
                    <a:pt x="54" y="75"/>
                  </a:lnTo>
                  <a:lnTo>
                    <a:pt x="28" y="75"/>
                  </a:lnTo>
                  <a:lnTo>
                    <a:pt x="28" y="53"/>
                  </a:lnTo>
                  <a:lnTo>
                    <a:pt x="0" y="53"/>
                  </a:lnTo>
                  <a:lnTo>
                    <a:pt x="0" y="19"/>
                  </a:lnTo>
                  <a:close/>
                </a:path>
              </a:pathLst>
            </a:custGeom>
            <a:solidFill>
              <a:srgbClr val="FF0000">
                <a:alpha val="100000"/>
              </a:srgbClr>
            </a:solidFill>
            <a:ln w="9525">
              <a:noFill/>
            </a:ln>
          </p:spPr>
          <p:txBody>
            <a:bodyPr/>
            <a:p>
              <a:endParaRPr lang="zh-CN" altLang="en-US"/>
            </a:p>
          </p:txBody>
        </p:sp>
        <p:sp>
          <p:nvSpPr>
            <p:cNvPr id="115821" name="Freeform 41"/>
            <p:cNvSpPr/>
            <p:nvPr/>
          </p:nvSpPr>
          <p:spPr>
            <a:xfrm>
              <a:off x="2686" y="3365"/>
              <a:ext cx="211" cy="75"/>
            </a:xfrm>
            <a:custGeom>
              <a:avLst/>
              <a:gdLst/>
              <a:ahLst/>
              <a:cxnLst>
                <a:cxn ang="0">
                  <a:pos x="0" y="19"/>
                </a:cxn>
                <a:cxn ang="0">
                  <a:pos x="28" y="19"/>
                </a:cxn>
                <a:cxn ang="0">
                  <a:pos x="28" y="0"/>
                </a:cxn>
                <a:cxn ang="0">
                  <a:pos x="54" y="0"/>
                </a:cxn>
                <a:cxn ang="0">
                  <a:pos x="54" y="19"/>
                </a:cxn>
                <a:cxn ang="0">
                  <a:pos x="63" y="19"/>
                </a:cxn>
                <a:cxn ang="0">
                  <a:pos x="63" y="0"/>
                </a:cxn>
                <a:cxn ang="0">
                  <a:pos x="85" y="0"/>
                </a:cxn>
                <a:cxn ang="0">
                  <a:pos x="85" y="19"/>
                </a:cxn>
                <a:cxn ang="0">
                  <a:pos x="208" y="19"/>
                </a:cxn>
                <a:cxn ang="0">
                  <a:pos x="208" y="22"/>
                </a:cxn>
                <a:cxn ang="0">
                  <a:pos x="208" y="25"/>
                </a:cxn>
                <a:cxn ang="0">
                  <a:pos x="208" y="28"/>
                </a:cxn>
                <a:cxn ang="0">
                  <a:pos x="211" y="31"/>
                </a:cxn>
                <a:cxn ang="0">
                  <a:pos x="208" y="34"/>
                </a:cxn>
                <a:cxn ang="0">
                  <a:pos x="208" y="38"/>
                </a:cxn>
                <a:cxn ang="0">
                  <a:pos x="208" y="44"/>
                </a:cxn>
                <a:cxn ang="0">
                  <a:pos x="205" y="47"/>
                </a:cxn>
                <a:cxn ang="0">
                  <a:pos x="205" y="50"/>
                </a:cxn>
                <a:cxn ang="0">
                  <a:pos x="202" y="53"/>
                </a:cxn>
                <a:cxn ang="0">
                  <a:pos x="85" y="53"/>
                </a:cxn>
                <a:cxn ang="0">
                  <a:pos x="85" y="75"/>
                </a:cxn>
                <a:cxn ang="0">
                  <a:pos x="63" y="75"/>
                </a:cxn>
                <a:cxn ang="0">
                  <a:pos x="63" y="53"/>
                </a:cxn>
                <a:cxn ang="0">
                  <a:pos x="54" y="53"/>
                </a:cxn>
                <a:cxn ang="0">
                  <a:pos x="54" y="75"/>
                </a:cxn>
                <a:cxn ang="0">
                  <a:pos x="28" y="75"/>
                </a:cxn>
                <a:cxn ang="0">
                  <a:pos x="28" y="53"/>
                </a:cxn>
                <a:cxn ang="0">
                  <a:pos x="0" y="53"/>
                </a:cxn>
                <a:cxn ang="0">
                  <a:pos x="0" y="19"/>
                </a:cxn>
              </a:cxnLst>
              <a:pathLst>
                <a:path w="211" h="75">
                  <a:moveTo>
                    <a:pt x="0" y="19"/>
                  </a:moveTo>
                  <a:lnTo>
                    <a:pt x="28" y="19"/>
                  </a:lnTo>
                  <a:lnTo>
                    <a:pt x="28" y="0"/>
                  </a:lnTo>
                  <a:lnTo>
                    <a:pt x="54" y="0"/>
                  </a:lnTo>
                  <a:lnTo>
                    <a:pt x="54" y="19"/>
                  </a:lnTo>
                  <a:lnTo>
                    <a:pt x="63" y="19"/>
                  </a:lnTo>
                  <a:lnTo>
                    <a:pt x="63" y="0"/>
                  </a:lnTo>
                  <a:lnTo>
                    <a:pt x="85" y="0"/>
                  </a:lnTo>
                  <a:lnTo>
                    <a:pt x="85" y="19"/>
                  </a:lnTo>
                  <a:lnTo>
                    <a:pt x="208" y="19"/>
                  </a:lnTo>
                  <a:lnTo>
                    <a:pt x="208" y="22"/>
                  </a:lnTo>
                  <a:lnTo>
                    <a:pt x="208" y="25"/>
                  </a:lnTo>
                  <a:lnTo>
                    <a:pt x="208" y="28"/>
                  </a:lnTo>
                  <a:lnTo>
                    <a:pt x="211" y="31"/>
                  </a:lnTo>
                  <a:lnTo>
                    <a:pt x="208" y="34"/>
                  </a:lnTo>
                  <a:lnTo>
                    <a:pt x="208" y="38"/>
                  </a:lnTo>
                  <a:lnTo>
                    <a:pt x="208" y="44"/>
                  </a:lnTo>
                  <a:lnTo>
                    <a:pt x="205" y="47"/>
                  </a:lnTo>
                  <a:lnTo>
                    <a:pt x="205" y="50"/>
                  </a:lnTo>
                  <a:lnTo>
                    <a:pt x="202" y="53"/>
                  </a:lnTo>
                  <a:lnTo>
                    <a:pt x="85" y="53"/>
                  </a:lnTo>
                  <a:lnTo>
                    <a:pt x="85" y="75"/>
                  </a:lnTo>
                  <a:lnTo>
                    <a:pt x="63" y="75"/>
                  </a:lnTo>
                  <a:lnTo>
                    <a:pt x="63" y="53"/>
                  </a:lnTo>
                  <a:lnTo>
                    <a:pt x="54" y="53"/>
                  </a:lnTo>
                  <a:lnTo>
                    <a:pt x="54" y="75"/>
                  </a:lnTo>
                  <a:lnTo>
                    <a:pt x="28" y="75"/>
                  </a:lnTo>
                  <a:lnTo>
                    <a:pt x="28" y="53"/>
                  </a:lnTo>
                  <a:lnTo>
                    <a:pt x="0" y="53"/>
                  </a:lnTo>
                  <a:lnTo>
                    <a:pt x="0" y="19"/>
                  </a:lnTo>
                  <a:close/>
                </a:path>
              </a:pathLst>
            </a:custGeom>
            <a:solidFill>
              <a:srgbClr val="FF0000">
                <a:alpha val="100000"/>
              </a:srgbClr>
            </a:solidFill>
            <a:ln w="9525">
              <a:noFill/>
            </a:ln>
          </p:spPr>
          <p:txBody>
            <a:bodyPr/>
            <a:p>
              <a:endParaRPr lang="zh-CN" altLang="en-US"/>
            </a:p>
          </p:txBody>
        </p:sp>
        <p:sp>
          <p:nvSpPr>
            <p:cNvPr id="115822" name="Freeform 42"/>
            <p:cNvSpPr/>
            <p:nvPr/>
          </p:nvSpPr>
          <p:spPr>
            <a:xfrm>
              <a:off x="2686" y="3365"/>
              <a:ext cx="211" cy="75"/>
            </a:xfrm>
            <a:custGeom>
              <a:avLst/>
              <a:gdLst/>
              <a:ahLst/>
              <a:cxnLst>
                <a:cxn ang="0">
                  <a:pos x="0" y="19"/>
                </a:cxn>
                <a:cxn ang="0">
                  <a:pos x="28" y="19"/>
                </a:cxn>
                <a:cxn ang="0">
                  <a:pos x="28" y="0"/>
                </a:cxn>
                <a:cxn ang="0">
                  <a:pos x="54" y="0"/>
                </a:cxn>
                <a:cxn ang="0">
                  <a:pos x="54" y="19"/>
                </a:cxn>
                <a:cxn ang="0">
                  <a:pos x="63" y="19"/>
                </a:cxn>
                <a:cxn ang="0">
                  <a:pos x="63" y="0"/>
                </a:cxn>
                <a:cxn ang="0">
                  <a:pos x="85" y="0"/>
                </a:cxn>
                <a:cxn ang="0">
                  <a:pos x="85" y="19"/>
                </a:cxn>
                <a:cxn ang="0">
                  <a:pos x="208" y="19"/>
                </a:cxn>
                <a:cxn ang="0">
                  <a:pos x="208" y="22"/>
                </a:cxn>
                <a:cxn ang="0">
                  <a:pos x="208" y="25"/>
                </a:cxn>
                <a:cxn ang="0">
                  <a:pos x="208" y="28"/>
                </a:cxn>
                <a:cxn ang="0">
                  <a:pos x="211" y="31"/>
                </a:cxn>
                <a:cxn ang="0">
                  <a:pos x="208" y="34"/>
                </a:cxn>
                <a:cxn ang="0">
                  <a:pos x="208" y="38"/>
                </a:cxn>
                <a:cxn ang="0">
                  <a:pos x="208" y="44"/>
                </a:cxn>
                <a:cxn ang="0">
                  <a:pos x="205" y="47"/>
                </a:cxn>
                <a:cxn ang="0">
                  <a:pos x="205" y="50"/>
                </a:cxn>
                <a:cxn ang="0">
                  <a:pos x="202" y="53"/>
                </a:cxn>
                <a:cxn ang="0">
                  <a:pos x="85" y="53"/>
                </a:cxn>
                <a:cxn ang="0">
                  <a:pos x="85" y="75"/>
                </a:cxn>
                <a:cxn ang="0">
                  <a:pos x="63" y="75"/>
                </a:cxn>
                <a:cxn ang="0">
                  <a:pos x="63" y="53"/>
                </a:cxn>
                <a:cxn ang="0">
                  <a:pos x="54" y="53"/>
                </a:cxn>
                <a:cxn ang="0">
                  <a:pos x="54" y="75"/>
                </a:cxn>
                <a:cxn ang="0">
                  <a:pos x="28" y="75"/>
                </a:cxn>
                <a:cxn ang="0">
                  <a:pos x="28" y="53"/>
                </a:cxn>
                <a:cxn ang="0">
                  <a:pos x="0" y="53"/>
                </a:cxn>
              </a:cxnLst>
              <a:pathLst>
                <a:path w="211" h="75">
                  <a:moveTo>
                    <a:pt x="0" y="19"/>
                  </a:moveTo>
                  <a:lnTo>
                    <a:pt x="28" y="19"/>
                  </a:lnTo>
                  <a:lnTo>
                    <a:pt x="28" y="0"/>
                  </a:lnTo>
                  <a:lnTo>
                    <a:pt x="54" y="0"/>
                  </a:lnTo>
                  <a:lnTo>
                    <a:pt x="54" y="19"/>
                  </a:lnTo>
                  <a:lnTo>
                    <a:pt x="63" y="19"/>
                  </a:lnTo>
                  <a:lnTo>
                    <a:pt x="63" y="0"/>
                  </a:lnTo>
                  <a:lnTo>
                    <a:pt x="85" y="0"/>
                  </a:lnTo>
                  <a:lnTo>
                    <a:pt x="85" y="19"/>
                  </a:lnTo>
                  <a:lnTo>
                    <a:pt x="208" y="19"/>
                  </a:lnTo>
                  <a:lnTo>
                    <a:pt x="208" y="22"/>
                  </a:lnTo>
                  <a:lnTo>
                    <a:pt x="208" y="25"/>
                  </a:lnTo>
                  <a:lnTo>
                    <a:pt x="208" y="28"/>
                  </a:lnTo>
                  <a:lnTo>
                    <a:pt x="211" y="31"/>
                  </a:lnTo>
                  <a:lnTo>
                    <a:pt x="208" y="34"/>
                  </a:lnTo>
                  <a:lnTo>
                    <a:pt x="208" y="38"/>
                  </a:lnTo>
                  <a:lnTo>
                    <a:pt x="208" y="44"/>
                  </a:lnTo>
                  <a:lnTo>
                    <a:pt x="205" y="47"/>
                  </a:lnTo>
                  <a:lnTo>
                    <a:pt x="205" y="50"/>
                  </a:lnTo>
                  <a:lnTo>
                    <a:pt x="202" y="53"/>
                  </a:lnTo>
                  <a:lnTo>
                    <a:pt x="85" y="53"/>
                  </a:lnTo>
                  <a:lnTo>
                    <a:pt x="85" y="75"/>
                  </a:lnTo>
                  <a:lnTo>
                    <a:pt x="63" y="75"/>
                  </a:lnTo>
                  <a:lnTo>
                    <a:pt x="63" y="53"/>
                  </a:lnTo>
                  <a:lnTo>
                    <a:pt x="54" y="53"/>
                  </a:lnTo>
                  <a:lnTo>
                    <a:pt x="54" y="75"/>
                  </a:lnTo>
                  <a:lnTo>
                    <a:pt x="28" y="75"/>
                  </a:lnTo>
                  <a:lnTo>
                    <a:pt x="28" y="53"/>
                  </a:lnTo>
                  <a:lnTo>
                    <a:pt x="0" y="53"/>
                  </a:lnTo>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823" name="Line 43"/>
            <p:cNvSpPr/>
            <p:nvPr/>
          </p:nvSpPr>
          <p:spPr>
            <a:xfrm>
              <a:off x="2689" y="3390"/>
              <a:ext cx="202" cy="1"/>
            </a:xfrm>
            <a:prstGeom prst="line">
              <a:avLst/>
            </a:prstGeom>
            <a:ln w="4763" cap="flat" cmpd="sng">
              <a:solidFill>
                <a:srgbClr val="DBDBCE"/>
              </a:solidFill>
              <a:prstDash val="solid"/>
              <a:headEnd type="none" w="med" len="med"/>
              <a:tailEnd type="none" w="med" len="med"/>
            </a:ln>
          </p:spPr>
        </p:sp>
        <p:sp>
          <p:nvSpPr>
            <p:cNvPr id="115824" name="Line 44"/>
            <p:cNvSpPr/>
            <p:nvPr/>
          </p:nvSpPr>
          <p:spPr>
            <a:xfrm>
              <a:off x="2755" y="3371"/>
              <a:ext cx="1" cy="19"/>
            </a:xfrm>
            <a:prstGeom prst="line">
              <a:avLst/>
            </a:prstGeom>
            <a:ln w="4763" cap="flat" cmpd="sng">
              <a:solidFill>
                <a:srgbClr val="DBDBCE"/>
              </a:solidFill>
              <a:prstDash val="solid"/>
              <a:headEnd type="none" w="med" len="med"/>
              <a:tailEnd type="none" w="med" len="med"/>
            </a:ln>
          </p:spPr>
        </p:sp>
        <p:sp>
          <p:nvSpPr>
            <p:cNvPr id="115825" name="Line 45"/>
            <p:cNvSpPr/>
            <p:nvPr/>
          </p:nvSpPr>
          <p:spPr>
            <a:xfrm>
              <a:off x="2755" y="3418"/>
              <a:ext cx="1" cy="19"/>
            </a:xfrm>
            <a:prstGeom prst="line">
              <a:avLst/>
            </a:prstGeom>
            <a:ln w="4763" cap="flat" cmpd="sng">
              <a:solidFill>
                <a:srgbClr val="DBDBCE"/>
              </a:solidFill>
              <a:prstDash val="solid"/>
              <a:headEnd type="none" w="med" len="med"/>
              <a:tailEnd type="none" w="med" len="med"/>
            </a:ln>
          </p:spPr>
        </p:sp>
        <p:sp>
          <p:nvSpPr>
            <p:cNvPr id="115826" name="Line 46"/>
            <p:cNvSpPr/>
            <p:nvPr/>
          </p:nvSpPr>
          <p:spPr>
            <a:xfrm>
              <a:off x="2686" y="3412"/>
              <a:ext cx="199" cy="1"/>
            </a:xfrm>
            <a:prstGeom prst="line">
              <a:avLst/>
            </a:prstGeom>
            <a:ln w="4763" cap="flat" cmpd="sng">
              <a:solidFill>
                <a:srgbClr val="626248"/>
              </a:solidFill>
              <a:prstDash val="solid"/>
              <a:headEnd type="none" w="med" len="med"/>
              <a:tailEnd type="none" w="med" len="med"/>
            </a:ln>
          </p:spPr>
        </p:sp>
        <p:sp>
          <p:nvSpPr>
            <p:cNvPr id="115827" name="Rectangle 47"/>
            <p:cNvSpPr/>
            <p:nvPr/>
          </p:nvSpPr>
          <p:spPr>
            <a:xfrm>
              <a:off x="2620" y="3387"/>
              <a:ext cx="66" cy="35"/>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828" name="Rectangle 48"/>
            <p:cNvSpPr/>
            <p:nvPr/>
          </p:nvSpPr>
          <p:spPr>
            <a:xfrm>
              <a:off x="2620" y="3387"/>
              <a:ext cx="66" cy="35"/>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829" name="Freeform 49"/>
            <p:cNvSpPr/>
            <p:nvPr/>
          </p:nvSpPr>
          <p:spPr>
            <a:xfrm>
              <a:off x="2626" y="3412"/>
              <a:ext cx="32" cy="19"/>
            </a:xfrm>
            <a:custGeom>
              <a:avLst/>
              <a:gdLst/>
              <a:ahLst/>
              <a:cxnLst>
                <a:cxn ang="0">
                  <a:pos x="0" y="19"/>
                </a:cxn>
                <a:cxn ang="0">
                  <a:pos x="13" y="13"/>
                </a:cxn>
                <a:cxn ang="0">
                  <a:pos x="22" y="10"/>
                </a:cxn>
                <a:cxn ang="0">
                  <a:pos x="32" y="13"/>
                </a:cxn>
                <a:cxn ang="0">
                  <a:pos x="19" y="0"/>
                </a:cxn>
                <a:cxn ang="0">
                  <a:pos x="0" y="3"/>
                </a:cxn>
                <a:cxn ang="0">
                  <a:pos x="0" y="19"/>
                </a:cxn>
              </a:cxnLst>
              <a:pathLst>
                <a:path w="32" h="19">
                  <a:moveTo>
                    <a:pt x="0" y="19"/>
                  </a:moveTo>
                  <a:lnTo>
                    <a:pt x="13" y="13"/>
                  </a:lnTo>
                  <a:lnTo>
                    <a:pt x="22" y="10"/>
                  </a:lnTo>
                  <a:lnTo>
                    <a:pt x="32" y="13"/>
                  </a:lnTo>
                  <a:lnTo>
                    <a:pt x="19" y="0"/>
                  </a:lnTo>
                  <a:lnTo>
                    <a:pt x="0" y="3"/>
                  </a:lnTo>
                  <a:lnTo>
                    <a:pt x="0" y="19"/>
                  </a:lnTo>
                  <a:close/>
                </a:path>
              </a:pathLst>
            </a:custGeom>
            <a:solidFill>
              <a:srgbClr val="FF0000">
                <a:alpha val="100000"/>
              </a:srgbClr>
            </a:solidFill>
            <a:ln w="9525">
              <a:noFill/>
            </a:ln>
          </p:spPr>
          <p:txBody>
            <a:bodyPr/>
            <a:p>
              <a:endParaRPr lang="zh-CN" altLang="en-US"/>
            </a:p>
          </p:txBody>
        </p:sp>
        <p:sp>
          <p:nvSpPr>
            <p:cNvPr id="115830" name="Freeform 50"/>
            <p:cNvSpPr/>
            <p:nvPr/>
          </p:nvSpPr>
          <p:spPr>
            <a:xfrm>
              <a:off x="2626" y="3412"/>
              <a:ext cx="32" cy="19"/>
            </a:xfrm>
            <a:custGeom>
              <a:avLst/>
              <a:gdLst/>
              <a:ahLst/>
              <a:cxnLst>
                <a:cxn ang="0">
                  <a:pos x="0" y="19"/>
                </a:cxn>
                <a:cxn ang="0">
                  <a:pos x="13" y="13"/>
                </a:cxn>
                <a:cxn ang="0">
                  <a:pos x="22" y="10"/>
                </a:cxn>
                <a:cxn ang="0">
                  <a:pos x="32" y="13"/>
                </a:cxn>
                <a:cxn ang="0">
                  <a:pos x="19" y="0"/>
                </a:cxn>
                <a:cxn ang="0">
                  <a:pos x="0" y="3"/>
                </a:cxn>
                <a:cxn ang="0">
                  <a:pos x="0" y="19"/>
                </a:cxn>
              </a:cxnLst>
              <a:pathLst>
                <a:path w="32" h="19">
                  <a:moveTo>
                    <a:pt x="0" y="19"/>
                  </a:moveTo>
                  <a:lnTo>
                    <a:pt x="13" y="13"/>
                  </a:lnTo>
                  <a:lnTo>
                    <a:pt x="22" y="10"/>
                  </a:lnTo>
                  <a:lnTo>
                    <a:pt x="32" y="13"/>
                  </a:lnTo>
                  <a:lnTo>
                    <a:pt x="19" y="0"/>
                  </a:lnTo>
                  <a:lnTo>
                    <a:pt x="0" y="3"/>
                  </a:lnTo>
                  <a:lnTo>
                    <a:pt x="0" y="19"/>
                  </a:lnTo>
                  <a:close/>
                </a:path>
              </a:pathLst>
            </a:custGeom>
            <a:solidFill>
              <a:srgbClr val="FF0000">
                <a:alpha val="100000"/>
              </a:srgbClr>
            </a:solidFill>
            <a:ln w="9525">
              <a:noFill/>
            </a:ln>
          </p:spPr>
          <p:txBody>
            <a:bodyPr/>
            <a:p>
              <a:endParaRPr lang="zh-CN" altLang="en-US"/>
            </a:p>
          </p:txBody>
        </p:sp>
        <p:sp>
          <p:nvSpPr>
            <p:cNvPr id="115831" name="Freeform 51"/>
            <p:cNvSpPr/>
            <p:nvPr/>
          </p:nvSpPr>
          <p:spPr>
            <a:xfrm>
              <a:off x="2626" y="3377"/>
              <a:ext cx="32" cy="19"/>
            </a:xfrm>
            <a:custGeom>
              <a:avLst/>
              <a:gdLst/>
              <a:ahLst/>
              <a:cxnLst>
                <a:cxn ang="0">
                  <a:pos x="0" y="0"/>
                </a:cxn>
                <a:cxn ang="0">
                  <a:pos x="13" y="7"/>
                </a:cxn>
                <a:cxn ang="0">
                  <a:pos x="22" y="7"/>
                </a:cxn>
                <a:cxn ang="0">
                  <a:pos x="32" y="7"/>
                </a:cxn>
                <a:cxn ang="0">
                  <a:pos x="19" y="19"/>
                </a:cxn>
                <a:cxn ang="0">
                  <a:pos x="0" y="13"/>
                </a:cxn>
                <a:cxn ang="0">
                  <a:pos x="0" y="0"/>
                </a:cxn>
              </a:cxnLst>
              <a:pathLst>
                <a:path w="32" h="19">
                  <a:moveTo>
                    <a:pt x="0" y="0"/>
                  </a:moveTo>
                  <a:lnTo>
                    <a:pt x="13" y="7"/>
                  </a:lnTo>
                  <a:lnTo>
                    <a:pt x="22" y="7"/>
                  </a:lnTo>
                  <a:lnTo>
                    <a:pt x="32" y="7"/>
                  </a:lnTo>
                  <a:lnTo>
                    <a:pt x="19" y="19"/>
                  </a:lnTo>
                  <a:lnTo>
                    <a:pt x="0" y="13"/>
                  </a:lnTo>
                  <a:lnTo>
                    <a:pt x="0" y="0"/>
                  </a:lnTo>
                  <a:close/>
                </a:path>
              </a:pathLst>
            </a:custGeom>
            <a:solidFill>
              <a:srgbClr val="FF0000">
                <a:alpha val="100000"/>
              </a:srgbClr>
            </a:solidFill>
            <a:ln w="9525">
              <a:noFill/>
            </a:ln>
          </p:spPr>
          <p:txBody>
            <a:bodyPr/>
            <a:p>
              <a:endParaRPr lang="zh-CN" altLang="en-US"/>
            </a:p>
          </p:txBody>
        </p:sp>
        <p:sp>
          <p:nvSpPr>
            <p:cNvPr id="115832" name="Freeform 52"/>
            <p:cNvSpPr/>
            <p:nvPr/>
          </p:nvSpPr>
          <p:spPr>
            <a:xfrm>
              <a:off x="2626" y="3377"/>
              <a:ext cx="32" cy="19"/>
            </a:xfrm>
            <a:custGeom>
              <a:avLst/>
              <a:gdLst/>
              <a:ahLst/>
              <a:cxnLst>
                <a:cxn ang="0">
                  <a:pos x="0" y="0"/>
                </a:cxn>
                <a:cxn ang="0">
                  <a:pos x="13" y="7"/>
                </a:cxn>
                <a:cxn ang="0">
                  <a:pos x="22" y="7"/>
                </a:cxn>
                <a:cxn ang="0">
                  <a:pos x="32" y="7"/>
                </a:cxn>
                <a:cxn ang="0">
                  <a:pos x="19" y="19"/>
                </a:cxn>
                <a:cxn ang="0">
                  <a:pos x="0" y="13"/>
                </a:cxn>
                <a:cxn ang="0">
                  <a:pos x="0" y="0"/>
                </a:cxn>
              </a:cxnLst>
              <a:pathLst>
                <a:path w="32" h="19">
                  <a:moveTo>
                    <a:pt x="0" y="0"/>
                  </a:moveTo>
                  <a:lnTo>
                    <a:pt x="13" y="7"/>
                  </a:lnTo>
                  <a:lnTo>
                    <a:pt x="22" y="7"/>
                  </a:lnTo>
                  <a:lnTo>
                    <a:pt x="32" y="7"/>
                  </a:lnTo>
                  <a:lnTo>
                    <a:pt x="19" y="19"/>
                  </a:lnTo>
                  <a:lnTo>
                    <a:pt x="0" y="13"/>
                  </a:lnTo>
                  <a:lnTo>
                    <a:pt x="0" y="0"/>
                  </a:lnTo>
                  <a:close/>
                </a:path>
              </a:pathLst>
            </a:custGeom>
            <a:solidFill>
              <a:srgbClr val="FF0000">
                <a:alpha val="100000"/>
              </a:srgbClr>
            </a:solidFill>
            <a:ln w="9525">
              <a:noFill/>
            </a:ln>
          </p:spPr>
          <p:txBody>
            <a:bodyPr/>
            <a:p>
              <a:endParaRPr lang="zh-CN" altLang="en-US"/>
            </a:p>
          </p:txBody>
        </p:sp>
        <p:sp>
          <p:nvSpPr>
            <p:cNvPr id="115833" name="Freeform 53"/>
            <p:cNvSpPr/>
            <p:nvPr/>
          </p:nvSpPr>
          <p:spPr>
            <a:xfrm>
              <a:off x="2594" y="3298"/>
              <a:ext cx="105" cy="98"/>
            </a:xfrm>
            <a:custGeom>
              <a:avLst/>
              <a:gdLst/>
              <a:ahLst/>
              <a:cxnLst>
                <a:cxn ang="0">
                  <a:pos x="4" y="70"/>
                </a:cxn>
                <a:cxn ang="0">
                  <a:pos x="0" y="60"/>
                </a:cxn>
                <a:cxn ang="0">
                  <a:pos x="0" y="54"/>
                </a:cxn>
                <a:cxn ang="0">
                  <a:pos x="0" y="45"/>
                </a:cxn>
                <a:cxn ang="0">
                  <a:pos x="4" y="38"/>
                </a:cxn>
                <a:cxn ang="0">
                  <a:pos x="7" y="32"/>
                </a:cxn>
                <a:cxn ang="0">
                  <a:pos x="10" y="26"/>
                </a:cxn>
                <a:cxn ang="0">
                  <a:pos x="13" y="19"/>
                </a:cxn>
                <a:cxn ang="0">
                  <a:pos x="19" y="13"/>
                </a:cxn>
                <a:cxn ang="0">
                  <a:pos x="26" y="10"/>
                </a:cxn>
                <a:cxn ang="0">
                  <a:pos x="35" y="4"/>
                </a:cxn>
                <a:cxn ang="0">
                  <a:pos x="45" y="4"/>
                </a:cxn>
                <a:cxn ang="0">
                  <a:pos x="54" y="0"/>
                </a:cxn>
                <a:cxn ang="0">
                  <a:pos x="60" y="4"/>
                </a:cxn>
                <a:cxn ang="0">
                  <a:pos x="67" y="4"/>
                </a:cxn>
                <a:cxn ang="0">
                  <a:pos x="73" y="4"/>
                </a:cxn>
                <a:cxn ang="0">
                  <a:pos x="82" y="10"/>
                </a:cxn>
                <a:cxn ang="0">
                  <a:pos x="92" y="19"/>
                </a:cxn>
                <a:cxn ang="0">
                  <a:pos x="98" y="26"/>
                </a:cxn>
                <a:cxn ang="0">
                  <a:pos x="101" y="35"/>
                </a:cxn>
                <a:cxn ang="0">
                  <a:pos x="105" y="48"/>
                </a:cxn>
                <a:cxn ang="0">
                  <a:pos x="105" y="54"/>
                </a:cxn>
                <a:cxn ang="0">
                  <a:pos x="105" y="67"/>
                </a:cxn>
                <a:cxn ang="0">
                  <a:pos x="101" y="76"/>
                </a:cxn>
                <a:cxn ang="0">
                  <a:pos x="95" y="82"/>
                </a:cxn>
                <a:cxn ang="0">
                  <a:pos x="92" y="89"/>
                </a:cxn>
                <a:cxn ang="0">
                  <a:pos x="64" y="98"/>
                </a:cxn>
                <a:cxn ang="0">
                  <a:pos x="54" y="86"/>
                </a:cxn>
                <a:cxn ang="0">
                  <a:pos x="64" y="86"/>
                </a:cxn>
                <a:cxn ang="0">
                  <a:pos x="73" y="79"/>
                </a:cxn>
                <a:cxn ang="0">
                  <a:pos x="79" y="73"/>
                </a:cxn>
                <a:cxn ang="0">
                  <a:pos x="82" y="64"/>
                </a:cxn>
                <a:cxn ang="0">
                  <a:pos x="86" y="51"/>
                </a:cxn>
                <a:cxn ang="0">
                  <a:pos x="82" y="41"/>
                </a:cxn>
                <a:cxn ang="0">
                  <a:pos x="76" y="32"/>
                </a:cxn>
                <a:cxn ang="0">
                  <a:pos x="70" y="26"/>
                </a:cxn>
                <a:cxn ang="0">
                  <a:pos x="60" y="23"/>
                </a:cxn>
                <a:cxn ang="0">
                  <a:pos x="48" y="23"/>
                </a:cxn>
                <a:cxn ang="0">
                  <a:pos x="41" y="23"/>
                </a:cxn>
                <a:cxn ang="0">
                  <a:pos x="35" y="26"/>
                </a:cxn>
                <a:cxn ang="0">
                  <a:pos x="32" y="29"/>
                </a:cxn>
                <a:cxn ang="0">
                  <a:pos x="26" y="35"/>
                </a:cxn>
                <a:cxn ang="0">
                  <a:pos x="23" y="45"/>
                </a:cxn>
                <a:cxn ang="0">
                  <a:pos x="19" y="54"/>
                </a:cxn>
                <a:cxn ang="0">
                  <a:pos x="23" y="67"/>
                </a:cxn>
                <a:cxn ang="0">
                  <a:pos x="29" y="73"/>
                </a:cxn>
                <a:cxn ang="0">
                  <a:pos x="32" y="79"/>
                </a:cxn>
                <a:cxn ang="0">
                  <a:pos x="41" y="82"/>
                </a:cxn>
                <a:cxn ang="0">
                  <a:pos x="45" y="92"/>
                </a:cxn>
                <a:cxn ang="0">
                  <a:pos x="19" y="89"/>
                </a:cxn>
                <a:cxn ang="0">
                  <a:pos x="4" y="73"/>
                </a:cxn>
                <a:cxn ang="0">
                  <a:pos x="4" y="70"/>
                </a:cxn>
              </a:cxnLst>
              <a:pathLst>
                <a:path w="105" h="98">
                  <a:moveTo>
                    <a:pt x="4" y="70"/>
                  </a:moveTo>
                  <a:lnTo>
                    <a:pt x="0" y="60"/>
                  </a:lnTo>
                  <a:lnTo>
                    <a:pt x="0" y="54"/>
                  </a:lnTo>
                  <a:lnTo>
                    <a:pt x="0" y="45"/>
                  </a:lnTo>
                  <a:lnTo>
                    <a:pt x="4" y="38"/>
                  </a:lnTo>
                  <a:lnTo>
                    <a:pt x="7" y="32"/>
                  </a:lnTo>
                  <a:lnTo>
                    <a:pt x="10" y="26"/>
                  </a:lnTo>
                  <a:lnTo>
                    <a:pt x="13" y="19"/>
                  </a:lnTo>
                  <a:lnTo>
                    <a:pt x="19" y="13"/>
                  </a:lnTo>
                  <a:lnTo>
                    <a:pt x="26" y="10"/>
                  </a:lnTo>
                  <a:lnTo>
                    <a:pt x="35" y="4"/>
                  </a:lnTo>
                  <a:lnTo>
                    <a:pt x="45" y="4"/>
                  </a:lnTo>
                  <a:lnTo>
                    <a:pt x="54" y="0"/>
                  </a:lnTo>
                  <a:lnTo>
                    <a:pt x="60" y="4"/>
                  </a:lnTo>
                  <a:lnTo>
                    <a:pt x="67" y="4"/>
                  </a:lnTo>
                  <a:lnTo>
                    <a:pt x="73" y="4"/>
                  </a:lnTo>
                  <a:lnTo>
                    <a:pt x="82" y="10"/>
                  </a:lnTo>
                  <a:lnTo>
                    <a:pt x="92" y="19"/>
                  </a:lnTo>
                  <a:lnTo>
                    <a:pt x="98" y="26"/>
                  </a:lnTo>
                  <a:lnTo>
                    <a:pt x="101" y="35"/>
                  </a:lnTo>
                  <a:lnTo>
                    <a:pt x="105" y="48"/>
                  </a:lnTo>
                  <a:lnTo>
                    <a:pt x="105" y="54"/>
                  </a:lnTo>
                  <a:lnTo>
                    <a:pt x="105" y="67"/>
                  </a:lnTo>
                  <a:lnTo>
                    <a:pt x="101" y="76"/>
                  </a:lnTo>
                  <a:lnTo>
                    <a:pt x="95" y="82"/>
                  </a:lnTo>
                  <a:lnTo>
                    <a:pt x="92" y="89"/>
                  </a:lnTo>
                  <a:lnTo>
                    <a:pt x="64" y="98"/>
                  </a:lnTo>
                  <a:lnTo>
                    <a:pt x="54" y="86"/>
                  </a:lnTo>
                  <a:lnTo>
                    <a:pt x="64" y="86"/>
                  </a:lnTo>
                  <a:lnTo>
                    <a:pt x="73" y="79"/>
                  </a:lnTo>
                  <a:lnTo>
                    <a:pt x="79" y="73"/>
                  </a:lnTo>
                  <a:lnTo>
                    <a:pt x="82" y="64"/>
                  </a:lnTo>
                  <a:lnTo>
                    <a:pt x="86" y="51"/>
                  </a:lnTo>
                  <a:lnTo>
                    <a:pt x="82" y="41"/>
                  </a:lnTo>
                  <a:lnTo>
                    <a:pt x="76" y="32"/>
                  </a:lnTo>
                  <a:lnTo>
                    <a:pt x="70" y="26"/>
                  </a:lnTo>
                  <a:lnTo>
                    <a:pt x="60" y="23"/>
                  </a:lnTo>
                  <a:lnTo>
                    <a:pt x="48" y="23"/>
                  </a:lnTo>
                  <a:lnTo>
                    <a:pt x="41" y="23"/>
                  </a:lnTo>
                  <a:lnTo>
                    <a:pt x="35" y="26"/>
                  </a:lnTo>
                  <a:lnTo>
                    <a:pt x="32" y="29"/>
                  </a:lnTo>
                  <a:lnTo>
                    <a:pt x="26" y="35"/>
                  </a:lnTo>
                  <a:lnTo>
                    <a:pt x="23" y="45"/>
                  </a:lnTo>
                  <a:lnTo>
                    <a:pt x="19" y="54"/>
                  </a:lnTo>
                  <a:lnTo>
                    <a:pt x="23" y="67"/>
                  </a:lnTo>
                  <a:lnTo>
                    <a:pt x="29" y="73"/>
                  </a:lnTo>
                  <a:lnTo>
                    <a:pt x="32" y="79"/>
                  </a:lnTo>
                  <a:lnTo>
                    <a:pt x="41" y="82"/>
                  </a:lnTo>
                  <a:lnTo>
                    <a:pt x="45" y="92"/>
                  </a:lnTo>
                  <a:lnTo>
                    <a:pt x="19" y="89"/>
                  </a:lnTo>
                  <a:lnTo>
                    <a:pt x="4" y="73"/>
                  </a:lnTo>
                  <a:lnTo>
                    <a:pt x="4" y="70"/>
                  </a:lnTo>
                  <a:close/>
                </a:path>
              </a:pathLst>
            </a:custGeom>
            <a:solidFill>
              <a:srgbClr val="FF0000">
                <a:alpha val="100000"/>
              </a:srgbClr>
            </a:solidFill>
            <a:ln w="9525">
              <a:noFill/>
            </a:ln>
          </p:spPr>
          <p:txBody>
            <a:bodyPr/>
            <a:p>
              <a:endParaRPr lang="zh-CN" altLang="en-US"/>
            </a:p>
          </p:txBody>
        </p:sp>
        <p:sp>
          <p:nvSpPr>
            <p:cNvPr id="115834" name="Freeform 54"/>
            <p:cNvSpPr/>
            <p:nvPr/>
          </p:nvSpPr>
          <p:spPr>
            <a:xfrm>
              <a:off x="2594" y="3298"/>
              <a:ext cx="105" cy="98"/>
            </a:xfrm>
            <a:custGeom>
              <a:avLst/>
              <a:gdLst/>
              <a:ahLst/>
              <a:cxnLst>
                <a:cxn ang="0">
                  <a:pos x="4" y="70"/>
                </a:cxn>
                <a:cxn ang="0">
                  <a:pos x="0" y="60"/>
                </a:cxn>
                <a:cxn ang="0">
                  <a:pos x="0" y="54"/>
                </a:cxn>
                <a:cxn ang="0">
                  <a:pos x="0" y="45"/>
                </a:cxn>
                <a:cxn ang="0">
                  <a:pos x="4" y="38"/>
                </a:cxn>
                <a:cxn ang="0">
                  <a:pos x="7" y="32"/>
                </a:cxn>
                <a:cxn ang="0">
                  <a:pos x="10" y="26"/>
                </a:cxn>
                <a:cxn ang="0">
                  <a:pos x="13" y="19"/>
                </a:cxn>
                <a:cxn ang="0">
                  <a:pos x="19" y="13"/>
                </a:cxn>
                <a:cxn ang="0">
                  <a:pos x="26" y="10"/>
                </a:cxn>
                <a:cxn ang="0">
                  <a:pos x="35" y="4"/>
                </a:cxn>
                <a:cxn ang="0">
                  <a:pos x="45" y="4"/>
                </a:cxn>
                <a:cxn ang="0">
                  <a:pos x="54" y="0"/>
                </a:cxn>
                <a:cxn ang="0">
                  <a:pos x="60" y="4"/>
                </a:cxn>
                <a:cxn ang="0">
                  <a:pos x="67" y="4"/>
                </a:cxn>
                <a:cxn ang="0">
                  <a:pos x="73" y="4"/>
                </a:cxn>
                <a:cxn ang="0">
                  <a:pos x="82" y="10"/>
                </a:cxn>
                <a:cxn ang="0">
                  <a:pos x="92" y="19"/>
                </a:cxn>
                <a:cxn ang="0">
                  <a:pos x="98" y="26"/>
                </a:cxn>
                <a:cxn ang="0">
                  <a:pos x="101" y="35"/>
                </a:cxn>
                <a:cxn ang="0">
                  <a:pos x="105" y="48"/>
                </a:cxn>
                <a:cxn ang="0">
                  <a:pos x="105" y="54"/>
                </a:cxn>
                <a:cxn ang="0">
                  <a:pos x="105" y="67"/>
                </a:cxn>
                <a:cxn ang="0">
                  <a:pos x="101" y="76"/>
                </a:cxn>
                <a:cxn ang="0">
                  <a:pos x="95" y="82"/>
                </a:cxn>
                <a:cxn ang="0">
                  <a:pos x="92" y="89"/>
                </a:cxn>
                <a:cxn ang="0">
                  <a:pos x="64" y="98"/>
                </a:cxn>
                <a:cxn ang="0">
                  <a:pos x="54" y="86"/>
                </a:cxn>
                <a:cxn ang="0">
                  <a:pos x="64" y="86"/>
                </a:cxn>
                <a:cxn ang="0">
                  <a:pos x="73" y="79"/>
                </a:cxn>
                <a:cxn ang="0">
                  <a:pos x="79" y="73"/>
                </a:cxn>
                <a:cxn ang="0">
                  <a:pos x="82" y="64"/>
                </a:cxn>
                <a:cxn ang="0">
                  <a:pos x="86" y="51"/>
                </a:cxn>
                <a:cxn ang="0">
                  <a:pos x="82" y="41"/>
                </a:cxn>
                <a:cxn ang="0">
                  <a:pos x="76" y="32"/>
                </a:cxn>
                <a:cxn ang="0">
                  <a:pos x="70" y="26"/>
                </a:cxn>
                <a:cxn ang="0">
                  <a:pos x="60" y="23"/>
                </a:cxn>
                <a:cxn ang="0">
                  <a:pos x="48" y="23"/>
                </a:cxn>
                <a:cxn ang="0">
                  <a:pos x="41" y="23"/>
                </a:cxn>
                <a:cxn ang="0">
                  <a:pos x="35" y="26"/>
                </a:cxn>
                <a:cxn ang="0">
                  <a:pos x="32" y="29"/>
                </a:cxn>
                <a:cxn ang="0">
                  <a:pos x="26" y="35"/>
                </a:cxn>
                <a:cxn ang="0">
                  <a:pos x="23" y="45"/>
                </a:cxn>
                <a:cxn ang="0">
                  <a:pos x="19" y="54"/>
                </a:cxn>
                <a:cxn ang="0">
                  <a:pos x="23" y="67"/>
                </a:cxn>
                <a:cxn ang="0">
                  <a:pos x="29" y="73"/>
                </a:cxn>
                <a:cxn ang="0">
                  <a:pos x="32" y="79"/>
                </a:cxn>
                <a:cxn ang="0">
                  <a:pos x="41" y="82"/>
                </a:cxn>
                <a:cxn ang="0">
                  <a:pos x="45" y="92"/>
                </a:cxn>
                <a:cxn ang="0">
                  <a:pos x="19" y="89"/>
                </a:cxn>
                <a:cxn ang="0">
                  <a:pos x="4" y="73"/>
                </a:cxn>
                <a:cxn ang="0">
                  <a:pos x="4" y="70"/>
                </a:cxn>
              </a:cxnLst>
              <a:pathLst>
                <a:path w="105" h="98">
                  <a:moveTo>
                    <a:pt x="4" y="70"/>
                  </a:moveTo>
                  <a:lnTo>
                    <a:pt x="0" y="60"/>
                  </a:lnTo>
                  <a:lnTo>
                    <a:pt x="0" y="54"/>
                  </a:lnTo>
                  <a:lnTo>
                    <a:pt x="0" y="45"/>
                  </a:lnTo>
                  <a:lnTo>
                    <a:pt x="4" y="38"/>
                  </a:lnTo>
                  <a:lnTo>
                    <a:pt x="7" y="32"/>
                  </a:lnTo>
                  <a:lnTo>
                    <a:pt x="10" y="26"/>
                  </a:lnTo>
                  <a:lnTo>
                    <a:pt x="13" y="19"/>
                  </a:lnTo>
                  <a:lnTo>
                    <a:pt x="19" y="13"/>
                  </a:lnTo>
                  <a:lnTo>
                    <a:pt x="26" y="10"/>
                  </a:lnTo>
                  <a:lnTo>
                    <a:pt x="35" y="4"/>
                  </a:lnTo>
                  <a:lnTo>
                    <a:pt x="45" y="4"/>
                  </a:lnTo>
                  <a:lnTo>
                    <a:pt x="54" y="0"/>
                  </a:lnTo>
                  <a:lnTo>
                    <a:pt x="60" y="4"/>
                  </a:lnTo>
                  <a:lnTo>
                    <a:pt x="67" y="4"/>
                  </a:lnTo>
                  <a:lnTo>
                    <a:pt x="73" y="4"/>
                  </a:lnTo>
                  <a:lnTo>
                    <a:pt x="82" y="10"/>
                  </a:lnTo>
                  <a:lnTo>
                    <a:pt x="92" y="19"/>
                  </a:lnTo>
                  <a:lnTo>
                    <a:pt x="98" y="26"/>
                  </a:lnTo>
                  <a:lnTo>
                    <a:pt x="101" y="35"/>
                  </a:lnTo>
                  <a:lnTo>
                    <a:pt x="105" y="48"/>
                  </a:lnTo>
                  <a:lnTo>
                    <a:pt x="105" y="54"/>
                  </a:lnTo>
                  <a:lnTo>
                    <a:pt x="105" y="67"/>
                  </a:lnTo>
                  <a:lnTo>
                    <a:pt x="101" y="76"/>
                  </a:lnTo>
                  <a:lnTo>
                    <a:pt x="95" y="82"/>
                  </a:lnTo>
                  <a:lnTo>
                    <a:pt x="92" y="89"/>
                  </a:lnTo>
                  <a:lnTo>
                    <a:pt x="64" y="98"/>
                  </a:lnTo>
                  <a:lnTo>
                    <a:pt x="54" y="86"/>
                  </a:lnTo>
                  <a:lnTo>
                    <a:pt x="64" y="86"/>
                  </a:lnTo>
                  <a:lnTo>
                    <a:pt x="73" y="79"/>
                  </a:lnTo>
                  <a:lnTo>
                    <a:pt x="79" y="73"/>
                  </a:lnTo>
                  <a:lnTo>
                    <a:pt x="82" y="64"/>
                  </a:lnTo>
                  <a:lnTo>
                    <a:pt x="86" y="51"/>
                  </a:lnTo>
                  <a:lnTo>
                    <a:pt x="82" y="41"/>
                  </a:lnTo>
                  <a:lnTo>
                    <a:pt x="76" y="32"/>
                  </a:lnTo>
                  <a:lnTo>
                    <a:pt x="70" y="26"/>
                  </a:lnTo>
                  <a:lnTo>
                    <a:pt x="60" y="23"/>
                  </a:lnTo>
                  <a:lnTo>
                    <a:pt x="48" y="23"/>
                  </a:lnTo>
                  <a:lnTo>
                    <a:pt x="41" y="23"/>
                  </a:lnTo>
                  <a:lnTo>
                    <a:pt x="35" y="26"/>
                  </a:lnTo>
                  <a:lnTo>
                    <a:pt x="32" y="29"/>
                  </a:lnTo>
                  <a:lnTo>
                    <a:pt x="26" y="35"/>
                  </a:lnTo>
                  <a:lnTo>
                    <a:pt x="23" y="45"/>
                  </a:lnTo>
                  <a:lnTo>
                    <a:pt x="19" y="54"/>
                  </a:lnTo>
                  <a:lnTo>
                    <a:pt x="23" y="67"/>
                  </a:lnTo>
                  <a:lnTo>
                    <a:pt x="29" y="73"/>
                  </a:lnTo>
                  <a:lnTo>
                    <a:pt x="32" y="79"/>
                  </a:lnTo>
                  <a:lnTo>
                    <a:pt x="41" y="82"/>
                  </a:lnTo>
                  <a:lnTo>
                    <a:pt x="45" y="92"/>
                  </a:lnTo>
                  <a:lnTo>
                    <a:pt x="19" y="89"/>
                  </a:lnTo>
                  <a:lnTo>
                    <a:pt x="4" y="73"/>
                  </a:lnTo>
                  <a:lnTo>
                    <a:pt x="4" y="70"/>
                  </a:lnTo>
                  <a:close/>
                </a:path>
              </a:pathLst>
            </a:custGeom>
            <a:solidFill>
              <a:srgbClr val="FF0000">
                <a:alpha val="100000"/>
              </a:srgbClr>
            </a:solidFill>
            <a:ln w="4763" cap="flat" cmpd="sng">
              <a:solidFill>
                <a:srgbClr val="93936C">
                  <a:alpha val="100000"/>
                </a:srgbClr>
              </a:solidFill>
              <a:prstDash val="solid"/>
              <a:round/>
              <a:headEnd type="none" w="med" len="med"/>
              <a:tailEnd type="none" w="med" len="med"/>
            </a:ln>
          </p:spPr>
          <p:txBody>
            <a:bodyPr/>
            <a:p>
              <a:endParaRPr lang="zh-CN" altLang="en-US"/>
            </a:p>
          </p:txBody>
        </p:sp>
        <p:sp>
          <p:nvSpPr>
            <p:cNvPr id="115835" name="Freeform 55"/>
            <p:cNvSpPr/>
            <p:nvPr/>
          </p:nvSpPr>
          <p:spPr>
            <a:xfrm>
              <a:off x="2550" y="3365"/>
              <a:ext cx="76" cy="75"/>
            </a:xfrm>
            <a:custGeom>
              <a:avLst/>
              <a:gdLst/>
              <a:ahLst/>
              <a:cxnLst>
                <a:cxn ang="0">
                  <a:pos x="48" y="0"/>
                </a:cxn>
                <a:cxn ang="0">
                  <a:pos x="38" y="0"/>
                </a:cxn>
                <a:cxn ang="0">
                  <a:pos x="32" y="0"/>
                </a:cxn>
                <a:cxn ang="0">
                  <a:pos x="22" y="3"/>
                </a:cxn>
                <a:cxn ang="0">
                  <a:pos x="16" y="6"/>
                </a:cxn>
                <a:cxn ang="0">
                  <a:pos x="10" y="12"/>
                </a:cxn>
                <a:cxn ang="0">
                  <a:pos x="3" y="19"/>
                </a:cxn>
                <a:cxn ang="0">
                  <a:pos x="3" y="25"/>
                </a:cxn>
                <a:cxn ang="0">
                  <a:pos x="0" y="31"/>
                </a:cxn>
                <a:cxn ang="0">
                  <a:pos x="0" y="38"/>
                </a:cxn>
                <a:cxn ang="0">
                  <a:pos x="0" y="47"/>
                </a:cxn>
                <a:cxn ang="0">
                  <a:pos x="0" y="50"/>
                </a:cxn>
                <a:cxn ang="0">
                  <a:pos x="7" y="60"/>
                </a:cxn>
                <a:cxn ang="0">
                  <a:pos x="7" y="63"/>
                </a:cxn>
                <a:cxn ang="0">
                  <a:pos x="13" y="66"/>
                </a:cxn>
                <a:cxn ang="0">
                  <a:pos x="19" y="72"/>
                </a:cxn>
                <a:cxn ang="0">
                  <a:pos x="29" y="75"/>
                </a:cxn>
                <a:cxn ang="0">
                  <a:pos x="38" y="75"/>
                </a:cxn>
                <a:cxn ang="0">
                  <a:pos x="51" y="72"/>
                </a:cxn>
                <a:cxn ang="0">
                  <a:pos x="57" y="57"/>
                </a:cxn>
                <a:cxn ang="0">
                  <a:pos x="54" y="60"/>
                </a:cxn>
                <a:cxn ang="0">
                  <a:pos x="48" y="60"/>
                </a:cxn>
                <a:cxn ang="0">
                  <a:pos x="41" y="63"/>
                </a:cxn>
                <a:cxn ang="0">
                  <a:pos x="38" y="63"/>
                </a:cxn>
                <a:cxn ang="0">
                  <a:pos x="32" y="63"/>
                </a:cxn>
                <a:cxn ang="0">
                  <a:pos x="22" y="57"/>
                </a:cxn>
                <a:cxn ang="0">
                  <a:pos x="19" y="53"/>
                </a:cxn>
                <a:cxn ang="0">
                  <a:pos x="16" y="50"/>
                </a:cxn>
                <a:cxn ang="0">
                  <a:pos x="13" y="44"/>
                </a:cxn>
                <a:cxn ang="0">
                  <a:pos x="13" y="38"/>
                </a:cxn>
                <a:cxn ang="0">
                  <a:pos x="13" y="31"/>
                </a:cxn>
                <a:cxn ang="0">
                  <a:pos x="16" y="25"/>
                </a:cxn>
                <a:cxn ang="0">
                  <a:pos x="22" y="19"/>
                </a:cxn>
                <a:cxn ang="0">
                  <a:pos x="29" y="15"/>
                </a:cxn>
                <a:cxn ang="0">
                  <a:pos x="35" y="12"/>
                </a:cxn>
                <a:cxn ang="0">
                  <a:pos x="44" y="12"/>
                </a:cxn>
                <a:cxn ang="0">
                  <a:pos x="54" y="15"/>
                </a:cxn>
                <a:cxn ang="0">
                  <a:pos x="60" y="25"/>
                </a:cxn>
                <a:cxn ang="0">
                  <a:pos x="63" y="31"/>
                </a:cxn>
                <a:cxn ang="0">
                  <a:pos x="63" y="38"/>
                </a:cxn>
                <a:cxn ang="0">
                  <a:pos x="63" y="44"/>
                </a:cxn>
                <a:cxn ang="0">
                  <a:pos x="60" y="50"/>
                </a:cxn>
                <a:cxn ang="0">
                  <a:pos x="76" y="44"/>
                </a:cxn>
                <a:cxn ang="0">
                  <a:pos x="76" y="25"/>
                </a:cxn>
                <a:cxn ang="0">
                  <a:pos x="57" y="9"/>
                </a:cxn>
                <a:cxn ang="0">
                  <a:pos x="48" y="0"/>
                </a:cxn>
              </a:cxnLst>
              <a:pathLst>
                <a:path w="76" h="75">
                  <a:moveTo>
                    <a:pt x="48" y="0"/>
                  </a:moveTo>
                  <a:lnTo>
                    <a:pt x="38" y="0"/>
                  </a:lnTo>
                  <a:lnTo>
                    <a:pt x="32" y="0"/>
                  </a:lnTo>
                  <a:lnTo>
                    <a:pt x="22" y="3"/>
                  </a:lnTo>
                  <a:lnTo>
                    <a:pt x="16" y="6"/>
                  </a:lnTo>
                  <a:lnTo>
                    <a:pt x="10" y="12"/>
                  </a:lnTo>
                  <a:lnTo>
                    <a:pt x="3" y="19"/>
                  </a:lnTo>
                  <a:lnTo>
                    <a:pt x="3" y="25"/>
                  </a:lnTo>
                  <a:lnTo>
                    <a:pt x="0" y="31"/>
                  </a:lnTo>
                  <a:lnTo>
                    <a:pt x="0" y="38"/>
                  </a:lnTo>
                  <a:lnTo>
                    <a:pt x="0" y="47"/>
                  </a:lnTo>
                  <a:lnTo>
                    <a:pt x="0" y="50"/>
                  </a:lnTo>
                  <a:lnTo>
                    <a:pt x="7" y="60"/>
                  </a:lnTo>
                  <a:lnTo>
                    <a:pt x="7" y="63"/>
                  </a:lnTo>
                  <a:lnTo>
                    <a:pt x="13" y="66"/>
                  </a:lnTo>
                  <a:lnTo>
                    <a:pt x="19" y="72"/>
                  </a:lnTo>
                  <a:lnTo>
                    <a:pt x="29" y="75"/>
                  </a:lnTo>
                  <a:lnTo>
                    <a:pt x="38" y="75"/>
                  </a:lnTo>
                  <a:lnTo>
                    <a:pt x="51" y="72"/>
                  </a:lnTo>
                  <a:lnTo>
                    <a:pt x="57" y="57"/>
                  </a:lnTo>
                  <a:lnTo>
                    <a:pt x="54" y="60"/>
                  </a:lnTo>
                  <a:lnTo>
                    <a:pt x="48" y="60"/>
                  </a:lnTo>
                  <a:lnTo>
                    <a:pt x="41" y="63"/>
                  </a:lnTo>
                  <a:lnTo>
                    <a:pt x="38" y="63"/>
                  </a:lnTo>
                  <a:lnTo>
                    <a:pt x="32" y="63"/>
                  </a:lnTo>
                  <a:lnTo>
                    <a:pt x="22" y="57"/>
                  </a:lnTo>
                  <a:lnTo>
                    <a:pt x="19" y="53"/>
                  </a:lnTo>
                  <a:lnTo>
                    <a:pt x="16" y="50"/>
                  </a:lnTo>
                  <a:lnTo>
                    <a:pt x="13" y="44"/>
                  </a:lnTo>
                  <a:lnTo>
                    <a:pt x="13" y="38"/>
                  </a:lnTo>
                  <a:lnTo>
                    <a:pt x="13" y="31"/>
                  </a:lnTo>
                  <a:lnTo>
                    <a:pt x="16" y="25"/>
                  </a:lnTo>
                  <a:lnTo>
                    <a:pt x="22" y="19"/>
                  </a:lnTo>
                  <a:lnTo>
                    <a:pt x="29" y="15"/>
                  </a:lnTo>
                  <a:lnTo>
                    <a:pt x="35" y="12"/>
                  </a:lnTo>
                  <a:lnTo>
                    <a:pt x="44" y="12"/>
                  </a:lnTo>
                  <a:lnTo>
                    <a:pt x="54" y="15"/>
                  </a:lnTo>
                  <a:lnTo>
                    <a:pt x="60" y="25"/>
                  </a:lnTo>
                  <a:lnTo>
                    <a:pt x="63" y="31"/>
                  </a:lnTo>
                  <a:lnTo>
                    <a:pt x="63" y="38"/>
                  </a:lnTo>
                  <a:lnTo>
                    <a:pt x="63" y="44"/>
                  </a:lnTo>
                  <a:lnTo>
                    <a:pt x="60" y="50"/>
                  </a:lnTo>
                  <a:lnTo>
                    <a:pt x="76" y="44"/>
                  </a:lnTo>
                  <a:lnTo>
                    <a:pt x="76" y="25"/>
                  </a:lnTo>
                  <a:lnTo>
                    <a:pt x="57" y="9"/>
                  </a:lnTo>
                  <a:lnTo>
                    <a:pt x="48" y="0"/>
                  </a:lnTo>
                  <a:close/>
                </a:path>
              </a:pathLst>
            </a:custGeom>
            <a:solidFill>
              <a:srgbClr val="FF0000">
                <a:alpha val="100000"/>
              </a:srgbClr>
            </a:solidFill>
            <a:ln w="9525">
              <a:noFill/>
            </a:ln>
          </p:spPr>
          <p:txBody>
            <a:bodyPr/>
            <a:p>
              <a:endParaRPr lang="zh-CN" altLang="en-US"/>
            </a:p>
          </p:txBody>
        </p:sp>
        <p:sp>
          <p:nvSpPr>
            <p:cNvPr id="115836" name="Freeform 56"/>
            <p:cNvSpPr/>
            <p:nvPr/>
          </p:nvSpPr>
          <p:spPr>
            <a:xfrm>
              <a:off x="2550" y="3365"/>
              <a:ext cx="76" cy="75"/>
            </a:xfrm>
            <a:custGeom>
              <a:avLst/>
              <a:gdLst/>
              <a:ahLst/>
              <a:cxnLst>
                <a:cxn ang="0">
                  <a:pos x="48" y="0"/>
                </a:cxn>
                <a:cxn ang="0">
                  <a:pos x="38" y="0"/>
                </a:cxn>
                <a:cxn ang="0">
                  <a:pos x="32" y="0"/>
                </a:cxn>
                <a:cxn ang="0">
                  <a:pos x="22" y="3"/>
                </a:cxn>
                <a:cxn ang="0">
                  <a:pos x="16" y="6"/>
                </a:cxn>
                <a:cxn ang="0">
                  <a:pos x="10" y="12"/>
                </a:cxn>
                <a:cxn ang="0">
                  <a:pos x="3" y="19"/>
                </a:cxn>
                <a:cxn ang="0">
                  <a:pos x="3" y="25"/>
                </a:cxn>
                <a:cxn ang="0">
                  <a:pos x="0" y="31"/>
                </a:cxn>
                <a:cxn ang="0">
                  <a:pos x="0" y="38"/>
                </a:cxn>
                <a:cxn ang="0">
                  <a:pos x="0" y="47"/>
                </a:cxn>
                <a:cxn ang="0">
                  <a:pos x="0" y="50"/>
                </a:cxn>
                <a:cxn ang="0">
                  <a:pos x="7" y="60"/>
                </a:cxn>
                <a:cxn ang="0">
                  <a:pos x="7" y="63"/>
                </a:cxn>
                <a:cxn ang="0">
                  <a:pos x="13" y="66"/>
                </a:cxn>
                <a:cxn ang="0">
                  <a:pos x="19" y="72"/>
                </a:cxn>
                <a:cxn ang="0">
                  <a:pos x="29" y="75"/>
                </a:cxn>
                <a:cxn ang="0">
                  <a:pos x="38" y="75"/>
                </a:cxn>
                <a:cxn ang="0">
                  <a:pos x="51" y="72"/>
                </a:cxn>
                <a:cxn ang="0">
                  <a:pos x="57" y="57"/>
                </a:cxn>
                <a:cxn ang="0">
                  <a:pos x="54" y="60"/>
                </a:cxn>
                <a:cxn ang="0">
                  <a:pos x="48" y="60"/>
                </a:cxn>
                <a:cxn ang="0">
                  <a:pos x="41" y="63"/>
                </a:cxn>
                <a:cxn ang="0">
                  <a:pos x="38" y="63"/>
                </a:cxn>
                <a:cxn ang="0">
                  <a:pos x="32" y="63"/>
                </a:cxn>
                <a:cxn ang="0">
                  <a:pos x="22" y="57"/>
                </a:cxn>
                <a:cxn ang="0">
                  <a:pos x="19" y="53"/>
                </a:cxn>
                <a:cxn ang="0">
                  <a:pos x="16" y="50"/>
                </a:cxn>
                <a:cxn ang="0">
                  <a:pos x="13" y="44"/>
                </a:cxn>
                <a:cxn ang="0">
                  <a:pos x="13" y="38"/>
                </a:cxn>
                <a:cxn ang="0">
                  <a:pos x="13" y="31"/>
                </a:cxn>
                <a:cxn ang="0">
                  <a:pos x="16" y="25"/>
                </a:cxn>
                <a:cxn ang="0">
                  <a:pos x="22" y="19"/>
                </a:cxn>
                <a:cxn ang="0">
                  <a:pos x="29" y="15"/>
                </a:cxn>
                <a:cxn ang="0">
                  <a:pos x="35" y="12"/>
                </a:cxn>
                <a:cxn ang="0">
                  <a:pos x="44" y="12"/>
                </a:cxn>
                <a:cxn ang="0">
                  <a:pos x="54" y="15"/>
                </a:cxn>
                <a:cxn ang="0">
                  <a:pos x="60" y="25"/>
                </a:cxn>
                <a:cxn ang="0">
                  <a:pos x="63" y="31"/>
                </a:cxn>
                <a:cxn ang="0">
                  <a:pos x="63" y="38"/>
                </a:cxn>
                <a:cxn ang="0">
                  <a:pos x="63" y="44"/>
                </a:cxn>
                <a:cxn ang="0">
                  <a:pos x="60" y="50"/>
                </a:cxn>
                <a:cxn ang="0">
                  <a:pos x="76" y="44"/>
                </a:cxn>
                <a:cxn ang="0">
                  <a:pos x="76" y="25"/>
                </a:cxn>
                <a:cxn ang="0">
                  <a:pos x="57" y="9"/>
                </a:cxn>
                <a:cxn ang="0">
                  <a:pos x="48" y="0"/>
                </a:cxn>
              </a:cxnLst>
              <a:pathLst>
                <a:path w="76" h="75">
                  <a:moveTo>
                    <a:pt x="48" y="0"/>
                  </a:moveTo>
                  <a:lnTo>
                    <a:pt x="38" y="0"/>
                  </a:lnTo>
                  <a:lnTo>
                    <a:pt x="32" y="0"/>
                  </a:lnTo>
                  <a:lnTo>
                    <a:pt x="22" y="3"/>
                  </a:lnTo>
                  <a:lnTo>
                    <a:pt x="16" y="6"/>
                  </a:lnTo>
                  <a:lnTo>
                    <a:pt x="10" y="12"/>
                  </a:lnTo>
                  <a:lnTo>
                    <a:pt x="3" y="19"/>
                  </a:lnTo>
                  <a:lnTo>
                    <a:pt x="3" y="25"/>
                  </a:lnTo>
                  <a:lnTo>
                    <a:pt x="0" y="31"/>
                  </a:lnTo>
                  <a:lnTo>
                    <a:pt x="0" y="38"/>
                  </a:lnTo>
                  <a:lnTo>
                    <a:pt x="0" y="47"/>
                  </a:lnTo>
                  <a:lnTo>
                    <a:pt x="0" y="50"/>
                  </a:lnTo>
                  <a:lnTo>
                    <a:pt x="7" y="60"/>
                  </a:lnTo>
                  <a:lnTo>
                    <a:pt x="7" y="63"/>
                  </a:lnTo>
                  <a:lnTo>
                    <a:pt x="13" y="66"/>
                  </a:lnTo>
                  <a:lnTo>
                    <a:pt x="19" y="72"/>
                  </a:lnTo>
                  <a:lnTo>
                    <a:pt x="29" y="75"/>
                  </a:lnTo>
                  <a:lnTo>
                    <a:pt x="38" y="75"/>
                  </a:lnTo>
                  <a:lnTo>
                    <a:pt x="51" y="72"/>
                  </a:lnTo>
                  <a:lnTo>
                    <a:pt x="57" y="57"/>
                  </a:lnTo>
                  <a:lnTo>
                    <a:pt x="54" y="60"/>
                  </a:lnTo>
                  <a:lnTo>
                    <a:pt x="48" y="60"/>
                  </a:lnTo>
                  <a:lnTo>
                    <a:pt x="41" y="63"/>
                  </a:lnTo>
                  <a:lnTo>
                    <a:pt x="38" y="63"/>
                  </a:lnTo>
                  <a:lnTo>
                    <a:pt x="32" y="63"/>
                  </a:lnTo>
                  <a:lnTo>
                    <a:pt x="22" y="57"/>
                  </a:lnTo>
                  <a:lnTo>
                    <a:pt x="19" y="53"/>
                  </a:lnTo>
                  <a:lnTo>
                    <a:pt x="16" y="50"/>
                  </a:lnTo>
                  <a:lnTo>
                    <a:pt x="13" y="44"/>
                  </a:lnTo>
                  <a:lnTo>
                    <a:pt x="13" y="38"/>
                  </a:lnTo>
                  <a:lnTo>
                    <a:pt x="13" y="31"/>
                  </a:lnTo>
                  <a:lnTo>
                    <a:pt x="16" y="25"/>
                  </a:lnTo>
                  <a:lnTo>
                    <a:pt x="22" y="19"/>
                  </a:lnTo>
                  <a:lnTo>
                    <a:pt x="29" y="15"/>
                  </a:lnTo>
                  <a:lnTo>
                    <a:pt x="35" y="12"/>
                  </a:lnTo>
                  <a:lnTo>
                    <a:pt x="44" y="12"/>
                  </a:lnTo>
                  <a:lnTo>
                    <a:pt x="54" y="15"/>
                  </a:lnTo>
                  <a:lnTo>
                    <a:pt x="60" y="25"/>
                  </a:lnTo>
                  <a:lnTo>
                    <a:pt x="63" y="31"/>
                  </a:lnTo>
                  <a:lnTo>
                    <a:pt x="63" y="38"/>
                  </a:lnTo>
                  <a:lnTo>
                    <a:pt x="63" y="44"/>
                  </a:lnTo>
                  <a:lnTo>
                    <a:pt x="60" y="50"/>
                  </a:lnTo>
                  <a:lnTo>
                    <a:pt x="76" y="44"/>
                  </a:lnTo>
                  <a:lnTo>
                    <a:pt x="76" y="25"/>
                  </a:lnTo>
                  <a:lnTo>
                    <a:pt x="57" y="9"/>
                  </a:lnTo>
                  <a:lnTo>
                    <a:pt x="48" y="0"/>
                  </a:lnTo>
                  <a:close/>
                </a:path>
              </a:pathLst>
            </a:custGeom>
            <a:solidFill>
              <a:srgbClr val="FF0000">
                <a:alpha val="100000"/>
              </a:srgbClr>
            </a:solidFill>
            <a:ln w="4763" cap="flat" cmpd="sng">
              <a:solidFill>
                <a:srgbClr val="93936C">
                  <a:alpha val="100000"/>
                </a:srgbClr>
              </a:solidFill>
              <a:prstDash val="solid"/>
              <a:round/>
              <a:headEnd type="none" w="med" len="med"/>
              <a:tailEnd type="none" w="med" len="med"/>
            </a:ln>
          </p:spPr>
          <p:txBody>
            <a:bodyPr/>
            <a:p>
              <a:endParaRPr lang="zh-CN" altLang="en-US"/>
            </a:p>
          </p:txBody>
        </p:sp>
        <p:sp>
          <p:nvSpPr>
            <p:cNvPr id="115837" name="Line 57"/>
            <p:cNvSpPr/>
            <p:nvPr/>
          </p:nvSpPr>
          <p:spPr>
            <a:xfrm>
              <a:off x="2721" y="3371"/>
              <a:ext cx="1" cy="19"/>
            </a:xfrm>
            <a:prstGeom prst="line">
              <a:avLst/>
            </a:prstGeom>
            <a:ln w="4763" cap="flat" cmpd="sng">
              <a:solidFill>
                <a:srgbClr val="DBDBCE"/>
              </a:solidFill>
              <a:prstDash val="solid"/>
              <a:headEnd type="none" w="med" len="med"/>
              <a:tailEnd type="none" w="med" len="med"/>
            </a:ln>
          </p:spPr>
        </p:sp>
        <p:sp>
          <p:nvSpPr>
            <p:cNvPr id="115838" name="Line 58"/>
            <p:cNvSpPr/>
            <p:nvPr/>
          </p:nvSpPr>
          <p:spPr>
            <a:xfrm>
              <a:off x="2721" y="3418"/>
              <a:ext cx="1" cy="19"/>
            </a:xfrm>
            <a:prstGeom prst="line">
              <a:avLst/>
            </a:prstGeom>
            <a:ln w="4763" cap="flat" cmpd="sng">
              <a:solidFill>
                <a:srgbClr val="DBDBCE"/>
              </a:solidFill>
              <a:prstDash val="solid"/>
              <a:headEnd type="none" w="med" len="med"/>
              <a:tailEnd type="none" w="med" len="med"/>
            </a:ln>
          </p:spPr>
        </p:sp>
        <p:sp>
          <p:nvSpPr>
            <p:cNvPr id="115839" name="Oval 59"/>
            <p:cNvSpPr/>
            <p:nvPr/>
          </p:nvSpPr>
          <p:spPr>
            <a:xfrm>
              <a:off x="2614" y="3318"/>
              <a:ext cx="65" cy="68"/>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840" name="Oval 60"/>
            <p:cNvSpPr/>
            <p:nvPr/>
          </p:nvSpPr>
          <p:spPr>
            <a:xfrm>
              <a:off x="2614" y="3423"/>
              <a:ext cx="65" cy="64"/>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841" name="Oval 61"/>
            <p:cNvSpPr/>
            <p:nvPr/>
          </p:nvSpPr>
          <p:spPr>
            <a:xfrm>
              <a:off x="2564" y="3378"/>
              <a:ext cx="52" cy="52"/>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842" name="Arc 62"/>
            <p:cNvSpPr/>
            <p:nvPr/>
          </p:nvSpPr>
          <p:spPr>
            <a:xfrm>
              <a:off x="2548" y="3366"/>
              <a:ext cx="50" cy="77"/>
            </a:xfrm>
            <a:custGeom>
              <a:avLst/>
              <a:gdLst/>
              <a:ahLst/>
              <a:cxnLst>
                <a:cxn ang="0">
                  <a:pos x="50" y="75"/>
                </a:cxn>
                <a:cxn ang="0">
                  <a:pos x="50" y="2"/>
                </a:cxn>
                <a:cxn ang="0">
                  <a:pos x="38" y="39"/>
                </a:cxn>
              </a:cxnLst>
              <a:pathLst>
                <a:path w="28055" h="43200" fill="none">
                  <a:moveTo>
                    <a:pt x="28054" y="42212"/>
                  </a:moveTo>
                  <a:cubicBezTo>
                    <a:pt x="25965" y="42867"/>
                    <a:pt x="23789" y="43199"/>
                    <a:pt x="21600" y="43200"/>
                  </a:cubicBezTo>
                  <a:cubicBezTo>
                    <a:pt x="9670" y="43200"/>
                    <a:pt x="0" y="33529"/>
                    <a:pt x="0" y="21600"/>
                  </a:cubicBezTo>
                  <a:cubicBezTo>
                    <a:pt x="0" y="9670"/>
                    <a:pt x="9670" y="0"/>
                    <a:pt x="21600" y="0"/>
                  </a:cubicBezTo>
                  <a:cubicBezTo>
                    <a:pt x="23754" y="-1"/>
                    <a:pt x="25897" y="322"/>
                    <a:pt x="27957" y="956"/>
                  </a:cubicBezTo>
                </a:path>
                <a:path w="28055" h="43200" stroke="0">
                  <a:moveTo>
                    <a:pt x="28054" y="42212"/>
                  </a:moveTo>
                  <a:cubicBezTo>
                    <a:pt x="25965" y="42867"/>
                    <a:pt x="23789" y="43199"/>
                    <a:pt x="21600" y="43200"/>
                  </a:cubicBezTo>
                  <a:cubicBezTo>
                    <a:pt x="9670" y="43200"/>
                    <a:pt x="0" y="33529"/>
                    <a:pt x="0" y="21600"/>
                  </a:cubicBezTo>
                  <a:cubicBezTo>
                    <a:pt x="0" y="9670"/>
                    <a:pt x="9670" y="0"/>
                    <a:pt x="21600" y="0"/>
                  </a:cubicBezTo>
                  <a:cubicBezTo>
                    <a:pt x="23754" y="-1"/>
                    <a:pt x="25897" y="322"/>
                    <a:pt x="27957" y="956"/>
                  </a:cubicBezTo>
                  <a:lnTo>
                    <a:pt x="21600" y="21600"/>
                  </a:lnTo>
                  <a:lnTo>
                    <a:pt x="28054" y="42212"/>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843" name="Arc 63"/>
            <p:cNvSpPr/>
            <p:nvPr/>
          </p:nvSpPr>
          <p:spPr>
            <a:xfrm>
              <a:off x="2595" y="3299"/>
              <a:ext cx="106" cy="88"/>
            </a:xfrm>
            <a:custGeom>
              <a:avLst/>
              <a:gdLst/>
              <a:ahLst/>
              <a:cxnLst>
                <a:cxn ang="0">
                  <a:pos x="2" y="66"/>
                </a:cxn>
                <a:cxn ang="0">
                  <a:pos x="93" y="88"/>
                </a:cxn>
                <a:cxn ang="0">
                  <a:pos x="53" y="53"/>
                </a:cxn>
              </a:cxnLst>
              <a:pathLst>
                <a:path w="43200" h="35985" fill="none">
                  <a:moveTo>
                    <a:pt x="698" y="27050"/>
                  </a:moveTo>
                  <a:cubicBezTo>
                    <a:pt x="234" y="25270"/>
                    <a:pt x="0" y="23439"/>
                    <a:pt x="0" y="21600"/>
                  </a:cubicBezTo>
                  <a:cubicBezTo>
                    <a:pt x="0" y="9670"/>
                    <a:pt x="9670" y="0"/>
                    <a:pt x="21600" y="0"/>
                  </a:cubicBezTo>
                  <a:cubicBezTo>
                    <a:pt x="33529" y="0"/>
                    <a:pt x="43200" y="9670"/>
                    <a:pt x="43200" y="21600"/>
                  </a:cubicBezTo>
                  <a:cubicBezTo>
                    <a:pt x="43200" y="26906"/>
                    <a:pt x="41246" y="32026"/>
                    <a:pt x="37713" y="35985"/>
                  </a:cubicBezTo>
                </a:path>
                <a:path w="43200" h="35985" stroke="0">
                  <a:moveTo>
                    <a:pt x="698" y="27050"/>
                  </a:moveTo>
                  <a:cubicBezTo>
                    <a:pt x="234" y="25270"/>
                    <a:pt x="0" y="23439"/>
                    <a:pt x="0" y="21600"/>
                  </a:cubicBezTo>
                  <a:cubicBezTo>
                    <a:pt x="0" y="9670"/>
                    <a:pt x="9670" y="0"/>
                    <a:pt x="21600" y="0"/>
                  </a:cubicBezTo>
                  <a:cubicBezTo>
                    <a:pt x="33529" y="0"/>
                    <a:pt x="43200" y="9670"/>
                    <a:pt x="43200" y="21600"/>
                  </a:cubicBezTo>
                  <a:cubicBezTo>
                    <a:pt x="43200" y="26906"/>
                    <a:pt x="41246" y="32026"/>
                    <a:pt x="37713" y="35985"/>
                  </a:cubicBezTo>
                  <a:lnTo>
                    <a:pt x="21600" y="21600"/>
                  </a:lnTo>
                  <a:lnTo>
                    <a:pt x="698" y="27050"/>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844" name="Arc 64"/>
            <p:cNvSpPr/>
            <p:nvPr/>
          </p:nvSpPr>
          <p:spPr>
            <a:xfrm>
              <a:off x="2602" y="3306"/>
              <a:ext cx="46" cy="46"/>
            </a:xfrm>
            <a:custGeom>
              <a:avLst/>
              <a:gdLst/>
              <a:ahLst/>
              <a:cxnLst>
                <a:cxn ang="0">
                  <a:pos x="0" y="46"/>
                </a:cxn>
                <a:cxn ang="0">
                  <a:pos x="46" y="0"/>
                </a:cxn>
                <a:cxn ang="0">
                  <a:pos x="46" y="46"/>
                </a:cxn>
              </a:cxnLst>
              <a:pathLst>
                <a:path w="21600" h="21600" fill="none">
                  <a:moveTo>
                    <a:pt x="0" y="21600"/>
                  </a:moveTo>
                  <a:cubicBezTo>
                    <a:pt x="0" y="9670"/>
                    <a:pt x="9670" y="0"/>
                    <a:pt x="21599" y="0"/>
                  </a:cubicBezTo>
                </a:path>
                <a:path w="21600" h="21600" stroke="0">
                  <a:moveTo>
                    <a:pt x="0" y="21600"/>
                  </a:moveTo>
                  <a:cubicBezTo>
                    <a:pt x="0" y="9670"/>
                    <a:pt x="9670" y="0"/>
                    <a:pt x="21599" y="0"/>
                  </a:cubicBezTo>
                  <a:lnTo>
                    <a:pt x="21600" y="21600"/>
                  </a:lnTo>
                  <a:lnTo>
                    <a:pt x="0" y="21600"/>
                  </a:lnTo>
                  <a:close/>
                </a:path>
              </a:pathLst>
            </a:custGeom>
            <a:solidFill>
              <a:srgbClr val="FF0000">
                <a:alpha val="100000"/>
              </a:srgbClr>
            </a:solidFill>
            <a:ln w="4763" cap="flat" cmpd="sng">
              <a:solidFill>
                <a:srgbClr val="EDEDE7">
                  <a:alpha val="100000"/>
                </a:srgbClr>
              </a:solidFill>
              <a:prstDash val="solid"/>
              <a:round/>
              <a:headEnd type="none" w="med" len="med"/>
              <a:tailEnd type="none" w="med" len="med"/>
            </a:ln>
          </p:spPr>
          <p:txBody>
            <a:bodyPr/>
            <a:p>
              <a:endParaRPr lang="zh-CN" altLang="en-US"/>
            </a:p>
          </p:txBody>
        </p:sp>
        <p:sp>
          <p:nvSpPr>
            <p:cNvPr id="115845" name="Arc 65"/>
            <p:cNvSpPr/>
            <p:nvPr/>
          </p:nvSpPr>
          <p:spPr>
            <a:xfrm>
              <a:off x="2556" y="3369"/>
              <a:ext cx="31" cy="35"/>
            </a:xfrm>
            <a:custGeom>
              <a:avLst/>
              <a:gdLst/>
              <a:ahLst/>
              <a:cxnLst>
                <a:cxn ang="0">
                  <a:pos x="0" y="26"/>
                </a:cxn>
                <a:cxn ang="0">
                  <a:pos x="26" y="0"/>
                </a:cxn>
                <a:cxn ang="0">
                  <a:pos x="31" y="35"/>
                </a:cxn>
              </a:cxnLst>
              <a:pathLst>
                <a:path w="20928" h="21296" fill="none">
                  <a:moveTo>
                    <a:pt x="-1" y="15951"/>
                  </a:moveTo>
                  <a:cubicBezTo>
                    <a:pt x="2111" y="7679"/>
                    <a:pt x="8898" y="1428"/>
                    <a:pt x="17315" y="0"/>
                  </a:cubicBezTo>
                </a:path>
                <a:path w="20928" h="21296" stroke="0">
                  <a:moveTo>
                    <a:pt x="-1" y="15951"/>
                  </a:moveTo>
                  <a:cubicBezTo>
                    <a:pt x="2111" y="7679"/>
                    <a:pt x="8898" y="1428"/>
                    <a:pt x="17315" y="0"/>
                  </a:cubicBezTo>
                  <a:lnTo>
                    <a:pt x="20928" y="21296"/>
                  </a:lnTo>
                  <a:lnTo>
                    <a:pt x="-1" y="15951"/>
                  </a:lnTo>
                  <a:close/>
                </a:path>
              </a:pathLst>
            </a:custGeom>
            <a:solidFill>
              <a:srgbClr val="FF0000">
                <a:alpha val="100000"/>
              </a:srgbClr>
            </a:solidFill>
            <a:ln w="4763" cap="flat" cmpd="sng">
              <a:solidFill>
                <a:srgbClr val="EDEDE7">
                  <a:alpha val="100000"/>
                </a:srgbClr>
              </a:solidFill>
              <a:prstDash val="solid"/>
              <a:round/>
              <a:headEnd type="none" w="med" len="med"/>
              <a:tailEnd type="none" w="med" len="med"/>
            </a:ln>
          </p:spPr>
          <p:txBody>
            <a:bodyPr/>
            <a:p>
              <a:endParaRPr lang="zh-CN" altLang="en-US"/>
            </a:p>
          </p:txBody>
        </p:sp>
        <p:sp>
          <p:nvSpPr>
            <p:cNvPr id="115846" name="Arc 66"/>
            <p:cNvSpPr/>
            <p:nvPr/>
          </p:nvSpPr>
          <p:spPr>
            <a:xfrm>
              <a:off x="2595" y="3418"/>
              <a:ext cx="106" cy="88"/>
            </a:xfrm>
            <a:custGeom>
              <a:avLst/>
              <a:gdLst/>
              <a:ahLst/>
              <a:cxnLst>
                <a:cxn ang="0">
                  <a:pos x="93" y="0"/>
                </a:cxn>
                <a:cxn ang="0">
                  <a:pos x="2" y="21"/>
                </a:cxn>
                <a:cxn ang="0">
                  <a:pos x="53" y="35"/>
                </a:cxn>
              </a:cxnLst>
              <a:pathLst>
                <a:path w="43200" h="35731" fill="none">
                  <a:moveTo>
                    <a:pt x="37936" y="0"/>
                  </a:moveTo>
                  <a:cubicBezTo>
                    <a:pt x="41331" y="3925"/>
                    <a:pt x="43200" y="8941"/>
                    <a:pt x="43200" y="14131"/>
                  </a:cubicBezTo>
                  <a:cubicBezTo>
                    <a:pt x="43200" y="26060"/>
                    <a:pt x="33529" y="35731"/>
                    <a:pt x="21600" y="35731"/>
                  </a:cubicBezTo>
                  <a:cubicBezTo>
                    <a:pt x="9670" y="35731"/>
                    <a:pt x="0" y="26060"/>
                    <a:pt x="0" y="14131"/>
                  </a:cubicBezTo>
                  <a:cubicBezTo>
                    <a:pt x="-1" y="12291"/>
                    <a:pt x="234" y="10460"/>
                    <a:pt x="698" y="8680"/>
                  </a:cubicBezTo>
                </a:path>
                <a:path w="43200" h="35731" stroke="0">
                  <a:moveTo>
                    <a:pt x="37936" y="0"/>
                  </a:moveTo>
                  <a:cubicBezTo>
                    <a:pt x="41331" y="3925"/>
                    <a:pt x="43200" y="8941"/>
                    <a:pt x="43200" y="14131"/>
                  </a:cubicBezTo>
                  <a:cubicBezTo>
                    <a:pt x="43200" y="26060"/>
                    <a:pt x="33529" y="35731"/>
                    <a:pt x="21600" y="35731"/>
                  </a:cubicBezTo>
                  <a:cubicBezTo>
                    <a:pt x="9670" y="35731"/>
                    <a:pt x="0" y="26060"/>
                    <a:pt x="0" y="14131"/>
                  </a:cubicBezTo>
                  <a:cubicBezTo>
                    <a:pt x="-1" y="12291"/>
                    <a:pt x="234" y="10460"/>
                    <a:pt x="698" y="8680"/>
                  </a:cubicBezTo>
                  <a:lnTo>
                    <a:pt x="21600" y="14131"/>
                  </a:lnTo>
                  <a:lnTo>
                    <a:pt x="37936" y="0"/>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847" name="Arc 67"/>
            <p:cNvSpPr/>
            <p:nvPr/>
          </p:nvSpPr>
          <p:spPr>
            <a:xfrm>
              <a:off x="2602" y="3420"/>
              <a:ext cx="45" cy="38"/>
            </a:xfrm>
            <a:custGeom>
              <a:avLst/>
              <a:gdLst/>
              <a:ahLst/>
              <a:cxnLst>
                <a:cxn ang="0">
                  <a:pos x="0" y="38"/>
                </a:cxn>
                <a:cxn ang="0">
                  <a:pos x="22" y="0"/>
                </a:cxn>
                <a:cxn ang="0">
                  <a:pos x="45" y="38"/>
                </a:cxn>
              </a:cxnLst>
              <a:pathLst>
                <a:path w="21600" h="18436" fill="none">
                  <a:moveTo>
                    <a:pt x="0" y="18300"/>
                  </a:moveTo>
                  <a:cubicBezTo>
                    <a:pt x="47" y="10820"/>
                    <a:pt x="3960" y="3897"/>
                    <a:pt x="10345" y="0"/>
                  </a:cubicBezTo>
                </a:path>
                <a:path w="21600" h="18436" stroke="0">
                  <a:moveTo>
                    <a:pt x="0" y="18300"/>
                  </a:moveTo>
                  <a:cubicBezTo>
                    <a:pt x="47" y="10820"/>
                    <a:pt x="3960" y="3897"/>
                    <a:pt x="10345" y="0"/>
                  </a:cubicBezTo>
                  <a:lnTo>
                    <a:pt x="21600" y="18436"/>
                  </a:lnTo>
                  <a:lnTo>
                    <a:pt x="0" y="18300"/>
                  </a:lnTo>
                  <a:close/>
                </a:path>
              </a:pathLst>
            </a:custGeom>
            <a:solidFill>
              <a:srgbClr val="FF0000">
                <a:alpha val="100000"/>
              </a:srgbClr>
            </a:solidFill>
            <a:ln w="4763" cap="flat" cmpd="sng">
              <a:solidFill>
                <a:srgbClr val="EDEDE7">
                  <a:alpha val="100000"/>
                </a:srgbClr>
              </a:solidFill>
              <a:prstDash val="solid"/>
              <a:round/>
              <a:headEnd type="none" w="med" len="med"/>
              <a:tailEnd type="none" w="med" len="med"/>
            </a:ln>
          </p:spPr>
          <p:txBody>
            <a:bodyPr/>
            <a:p>
              <a:endParaRPr lang="zh-CN" altLang="en-US"/>
            </a:p>
          </p:txBody>
        </p:sp>
      </p:grpSp>
      <p:grpSp>
        <p:nvGrpSpPr>
          <p:cNvPr id="115724" name="Group 68"/>
          <p:cNvGrpSpPr/>
          <p:nvPr/>
        </p:nvGrpSpPr>
        <p:grpSpPr>
          <a:xfrm>
            <a:off x="2057400" y="4800600"/>
            <a:ext cx="457200" cy="603250"/>
            <a:chOff x="2548" y="3030"/>
            <a:chExt cx="545" cy="518"/>
          </a:xfrm>
        </p:grpSpPr>
        <p:sp>
          <p:nvSpPr>
            <p:cNvPr id="115736" name="Freeform 69"/>
            <p:cNvSpPr/>
            <p:nvPr/>
          </p:nvSpPr>
          <p:spPr>
            <a:xfrm>
              <a:off x="2768" y="3030"/>
              <a:ext cx="230" cy="149"/>
            </a:xfrm>
            <a:custGeom>
              <a:avLst/>
              <a:gdLst/>
              <a:ahLst/>
              <a:cxnLst>
                <a:cxn ang="0">
                  <a:pos x="0" y="139"/>
                </a:cxn>
                <a:cxn ang="0">
                  <a:pos x="0" y="108"/>
                </a:cxn>
                <a:cxn ang="0">
                  <a:pos x="6" y="82"/>
                </a:cxn>
                <a:cxn ang="0">
                  <a:pos x="13" y="67"/>
                </a:cxn>
                <a:cxn ang="0">
                  <a:pos x="25" y="48"/>
                </a:cxn>
                <a:cxn ang="0">
                  <a:pos x="38" y="35"/>
                </a:cxn>
                <a:cxn ang="0">
                  <a:pos x="60" y="16"/>
                </a:cxn>
                <a:cxn ang="0">
                  <a:pos x="72" y="10"/>
                </a:cxn>
                <a:cxn ang="0">
                  <a:pos x="88" y="3"/>
                </a:cxn>
                <a:cxn ang="0">
                  <a:pos x="104" y="0"/>
                </a:cxn>
                <a:cxn ang="0">
                  <a:pos x="117" y="0"/>
                </a:cxn>
                <a:cxn ang="0">
                  <a:pos x="135" y="3"/>
                </a:cxn>
                <a:cxn ang="0">
                  <a:pos x="148" y="7"/>
                </a:cxn>
                <a:cxn ang="0">
                  <a:pos x="173" y="16"/>
                </a:cxn>
                <a:cxn ang="0">
                  <a:pos x="192" y="35"/>
                </a:cxn>
                <a:cxn ang="0">
                  <a:pos x="205" y="48"/>
                </a:cxn>
                <a:cxn ang="0">
                  <a:pos x="217" y="70"/>
                </a:cxn>
                <a:cxn ang="0">
                  <a:pos x="224" y="89"/>
                </a:cxn>
                <a:cxn ang="0">
                  <a:pos x="230" y="114"/>
                </a:cxn>
                <a:cxn ang="0">
                  <a:pos x="230" y="123"/>
                </a:cxn>
                <a:cxn ang="0">
                  <a:pos x="230" y="142"/>
                </a:cxn>
                <a:cxn ang="0">
                  <a:pos x="192" y="139"/>
                </a:cxn>
                <a:cxn ang="0">
                  <a:pos x="192" y="123"/>
                </a:cxn>
                <a:cxn ang="0">
                  <a:pos x="192" y="114"/>
                </a:cxn>
                <a:cxn ang="0">
                  <a:pos x="189" y="98"/>
                </a:cxn>
                <a:cxn ang="0">
                  <a:pos x="183" y="89"/>
                </a:cxn>
                <a:cxn ang="0">
                  <a:pos x="176" y="76"/>
                </a:cxn>
                <a:cxn ang="0">
                  <a:pos x="170" y="67"/>
                </a:cxn>
                <a:cxn ang="0">
                  <a:pos x="161" y="57"/>
                </a:cxn>
                <a:cxn ang="0">
                  <a:pos x="148" y="51"/>
                </a:cxn>
                <a:cxn ang="0">
                  <a:pos x="135" y="44"/>
                </a:cxn>
                <a:cxn ang="0">
                  <a:pos x="126" y="41"/>
                </a:cxn>
                <a:cxn ang="0">
                  <a:pos x="113" y="41"/>
                </a:cxn>
                <a:cxn ang="0">
                  <a:pos x="98" y="41"/>
                </a:cxn>
                <a:cxn ang="0">
                  <a:pos x="85" y="48"/>
                </a:cxn>
                <a:cxn ang="0">
                  <a:pos x="66" y="60"/>
                </a:cxn>
                <a:cxn ang="0">
                  <a:pos x="54" y="76"/>
                </a:cxn>
                <a:cxn ang="0">
                  <a:pos x="44" y="95"/>
                </a:cxn>
                <a:cxn ang="0">
                  <a:pos x="41" y="111"/>
                </a:cxn>
                <a:cxn ang="0">
                  <a:pos x="35" y="130"/>
                </a:cxn>
                <a:cxn ang="0">
                  <a:pos x="38" y="149"/>
                </a:cxn>
                <a:cxn ang="0">
                  <a:pos x="0" y="139"/>
                </a:cxn>
              </a:cxnLst>
              <a:pathLst>
                <a:path w="230" h="149">
                  <a:moveTo>
                    <a:pt x="0" y="139"/>
                  </a:moveTo>
                  <a:lnTo>
                    <a:pt x="0" y="108"/>
                  </a:lnTo>
                  <a:lnTo>
                    <a:pt x="6" y="82"/>
                  </a:lnTo>
                  <a:lnTo>
                    <a:pt x="13" y="67"/>
                  </a:lnTo>
                  <a:lnTo>
                    <a:pt x="25" y="48"/>
                  </a:lnTo>
                  <a:lnTo>
                    <a:pt x="38" y="35"/>
                  </a:lnTo>
                  <a:lnTo>
                    <a:pt x="60" y="16"/>
                  </a:lnTo>
                  <a:lnTo>
                    <a:pt x="72" y="10"/>
                  </a:lnTo>
                  <a:lnTo>
                    <a:pt x="88" y="3"/>
                  </a:lnTo>
                  <a:lnTo>
                    <a:pt x="104" y="0"/>
                  </a:lnTo>
                  <a:lnTo>
                    <a:pt x="117" y="0"/>
                  </a:lnTo>
                  <a:lnTo>
                    <a:pt x="135" y="3"/>
                  </a:lnTo>
                  <a:lnTo>
                    <a:pt x="148" y="7"/>
                  </a:lnTo>
                  <a:lnTo>
                    <a:pt x="173" y="16"/>
                  </a:lnTo>
                  <a:lnTo>
                    <a:pt x="192" y="35"/>
                  </a:lnTo>
                  <a:lnTo>
                    <a:pt x="205" y="48"/>
                  </a:lnTo>
                  <a:lnTo>
                    <a:pt x="217" y="70"/>
                  </a:lnTo>
                  <a:lnTo>
                    <a:pt x="224" y="89"/>
                  </a:lnTo>
                  <a:lnTo>
                    <a:pt x="230" y="114"/>
                  </a:lnTo>
                  <a:lnTo>
                    <a:pt x="230" y="123"/>
                  </a:lnTo>
                  <a:lnTo>
                    <a:pt x="230" y="142"/>
                  </a:lnTo>
                  <a:lnTo>
                    <a:pt x="192" y="139"/>
                  </a:lnTo>
                  <a:lnTo>
                    <a:pt x="192" y="123"/>
                  </a:lnTo>
                  <a:lnTo>
                    <a:pt x="192" y="114"/>
                  </a:lnTo>
                  <a:lnTo>
                    <a:pt x="189" y="98"/>
                  </a:lnTo>
                  <a:lnTo>
                    <a:pt x="183" y="89"/>
                  </a:lnTo>
                  <a:lnTo>
                    <a:pt x="176" y="76"/>
                  </a:lnTo>
                  <a:lnTo>
                    <a:pt x="170" y="67"/>
                  </a:lnTo>
                  <a:lnTo>
                    <a:pt x="161" y="57"/>
                  </a:lnTo>
                  <a:lnTo>
                    <a:pt x="148" y="51"/>
                  </a:lnTo>
                  <a:lnTo>
                    <a:pt x="135" y="44"/>
                  </a:lnTo>
                  <a:lnTo>
                    <a:pt x="126" y="41"/>
                  </a:lnTo>
                  <a:lnTo>
                    <a:pt x="113" y="41"/>
                  </a:lnTo>
                  <a:lnTo>
                    <a:pt x="98" y="41"/>
                  </a:lnTo>
                  <a:lnTo>
                    <a:pt x="85" y="48"/>
                  </a:lnTo>
                  <a:lnTo>
                    <a:pt x="66" y="60"/>
                  </a:lnTo>
                  <a:lnTo>
                    <a:pt x="54" y="76"/>
                  </a:lnTo>
                  <a:lnTo>
                    <a:pt x="44" y="95"/>
                  </a:lnTo>
                  <a:lnTo>
                    <a:pt x="41" y="111"/>
                  </a:lnTo>
                  <a:lnTo>
                    <a:pt x="35" y="130"/>
                  </a:lnTo>
                  <a:lnTo>
                    <a:pt x="38" y="149"/>
                  </a:lnTo>
                  <a:lnTo>
                    <a:pt x="0" y="139"/>
                  </a:lnTo>
                  <a:close/>
                </a:path>
              </a:pathLst>
            </a:custGeom>
            <a:solidFill>
              <a:srgbClr val="FF0000">
                <a:alpha val="100000"/>
              </a:srgbClr>
            </a:solidFill>
            <a:ln w="9525">
              <a:noFill/>
            </a:ln>
          </p:spPr>
          <p:txBody>
            <a:bodyPr/>
            <a:p>
              <a:endParaRPr lang="zh-CN" altLang="en-US"/>
            </a:p>
          </p:txBody>
        </p:sp>
        <p:sp>
          <p:nvSpPr>
            <p:cNvPr id="115737" name="Freeform 70"/>
            <p:cNvSpPr/>
            <p:nvPr/>
          </p:nvSpPr>
          <p:spPr>
            <a:xfrm>
              <a:off x="2768" y="3030"/>
              <a:ext cx="230" cy="149"/>
            </a:xfrm>
            <a:custGeom>
              <a:avLst/>
              <a:gdLst/>
              <a:ahLst/>
              <a:cxnLst>
                <a:cxn ang="0">
                  <a:pos x="0" y="139"/>
                </a:cxn>
                <a:cxn ang="0">
                  <a:pos x="0" y="108"/>
                </a:cxn>
                <a:cxn ang="0">
                  <a:pos x="6" y="82"/>
                </a:cxn>
                <a:cxn ang="0">
                  <a:pos x="13" y="67"/>
                </a:cxn>
                <a:cxn ang="0">
                  <a:pos x="25" y="48"/>
                </a:cxn>
                <a:cxn ang="0">
                  <a:pos x="38" y="35"/>
                </a:cxn>
                <a:cxn ang="0">
                  <a:pos x="60" y="16"/>
                </a:cxn>
                <a:cxn ang="0">
                  <a:pos x="72" y="10"/>
                </a:cxn>
                <a:cxn ang="0">
                  <a:pos x="88" y="3"/>
                </a:cxn>
                <a:cxn ang="0">
                  <a:pos x="104" y="0"/>
                </a:cxn>
                <a:cxn ang="0">
                  <a:pos x="117" y="0"/>
                </a:cxn>
                <a:cxn ang="0">
                  <a:pos x="135" y="3"/>
                </a:cxn>
                <a:cxn ang="0">
                  <a:pos x="148" y="7"/>
                </a:cxn>
                <a:cxn ang="0">
                  <a:pos x="173" y="16"/>
                </a:cxn>
                <a:cxn ang="0">
                  <a:pos x="192" y="35"/>
                </a:cxn>
                <a:cxn ang="0">
                  <a:pos x="205" y="48"/>
                </a:cxn>
                <a:cxn ang="0">
                  <a:pos x="217" y="70"/>
                </a:cxn>
                <a:cxn ang="0">
                  <a:pos x="224" y="89"/>
                </a:cxn>
                <a:cxn ang="0">
                  <a:pos x="230" y="114"/>
                </a:cxn>
                <a:cxn ang="0">
                  <a:pos x="230" y="123"/>
                </a:cxn>
                <a:cxn ang="0">
                  <a:pos x="230" y="142"/>
                </a:cxn>
                <a:cxn ang="0">
                  <a:pos x="192" y="139"/>
                </a:cxn>
                <a:cxn ang="0">
                  <a:pos x="192" y="123"/>
                </a:cxn>
                <a:cxn ang="0">
                  <a:pos x="192" y="114"/>
                </a:cxn>
                <a:cxn ang="0">
                  <a:pos x="189" y="98"/>
                </a:cxn>
                <a:cxn ang="0">
                  <a:pos x="183" y="89"/>
                </a:cxn>
                <a:cxn ang="0">
                  <a:pos x="176" y="76"/>
                </a:cxn>
                <a:cxn ang="0">
                  <a:pos x="170" y="67"/>
                </a:cxn>
                <a:cxn ang="0">
                  <a:pos x="161" y="57"/>
                </a:cxn>
                <a:cxn ang="0">
                  <a:pos x="148" y="51"/>
                </a:cxn>
                <a:cxn ang="0">
                  <a:pos x="135" y="44"/>
                </a:cxn>
                <a:cxn ang="0">
                  <a:pos x="126" y="41"/>
                </a:cxn>
                <a:cxn ang="0">
                  <a:pos x="113" y="41"/>
                </a:cxn>
                <a:cxn ang="0">
                  <a:pos x="98" y="41"/>
                </a:cxn>
                <a:cxn ang="0">
                  <a:pos x="85" y="48"/>
                </a:cxn>
                <a:cxn ang="0">
                  <a:pos x="66" y="60"/>
                </a:cxn>
                <a:cxn ang="0">
                  <a:pos x="54" y="76"/>
                </a:cxn>
                <a:cxn ang="0">
                  <a:pos x="44" y="95"/>
                </a:cxn>
                <a:cxn ang="0">
                  <a:pos x="41" y="111"/>
                </a:cxn>
                <a:cxn ang="0">
                  <a:pos x="35" y="130"/>
                </a:cxn>
                <a:cxn ang="0">
                  <a:pos x="38" y="149"/>
                </a:cxn>
                <a:cxn ang="0">
                  <a:pos x="0" y="139"/>
                </a:cxn>
              </a:cxnLst>
              <a:pathLst>
                <a:path w="230" h="149">
                  <a:moveTo>
                    <a:pt x="0" y="139"/>
                  </a:moveTo>
                  <a:lnTo>
                    <a:pt x="0" y="108"/>
                  </a:lnTo>
                  <a:lnTo>
                    <a:pt x="6" y="82"/>
                  </a:lnTo>
                  <a:lnTo>
                    <a:pt x="13" y="67"/>
                  </a:lnTo>
                  <a:lnTo>
                    <a:pt x="25" y="48"/>
                  </a:lnTo>
                  <a:lnTo>
                    <a:pt x="38" y="35"/>
                  </a:lnTo>
                  <a:lnTo>
                    <a:pt x="60" y="16"/>
                  </a:lnTo>
                  <a:lnTo>
                    <a:pt x="72" y="10"/>
                  </a:lnTo>
                  <a:lnTo>
                    <a:pt x="88" y="3"/>
                  </a:lnTo>
                  <a:lnTo>
                    <a:pt x="104" y="0"/>
                  </a:lnTo>
                  <a:lnTo>
                    <a:pt x="117" y="0"/>
                  </a:lnTo>
                  <a:lnTo>
                    <a:pt x="135" y="3"/>
                  </a:lnTo>
                  <a:lnTo>
                    <a:pt x="148" y="7"/>
                  </a:lnTo>
                  <a:lnTo>
                    <a:pt x="173" y="16"/>
                  </a:lnTo>
                  <a:lnTo>
                    <a:pt x="192" y="35"/>
                  </a:lnTo>
                  <a:lnTo>
                    <a:pt x="205" y="48"/>
                  </a:lnTo>
                  <a:lnTo>
                    <a:pt x="217" y="70"/>
                  </a:lnTo>
                  <a:lnTo>
                    <a:pt x="224" y="89"/>
                  </a:lnTo>
                  <a:lnTo>
                    <a:pt x="230" y="114"/>
                  </a:lnTo>
                  <a:lnTo>
                    <a:pt x="230" y="123"/>
                  </a:lnTo>
                  <a:lnTo>
                    <a:pt x="230" y="142"/>
                  </a:lnTo>
                  <a:lnTo>
                    <a:pt x="192" y="139"/>
                  </a:lnTo>
                  <a:lnTo>
                    <a:pt x="192" y="123"/>
                  </a:lnTo>
                  <a:lnTo>
                    <a:pt x="192" y="114"/>
                  </a:lnTo>
                  <a:lnTo>
                    <a:pt x="189" y="98"/>
                  </a:lnTo>
                  <a:lnTo>
                    <a:pt x="183" y="89"/>
                  </a:lnTo>
                  <a:lnTo>
                    <a:pt x="176" y="76"/>
                  </a:lnTo>
                  <a:lnTo>
                    <a:pt x="170" y="67"/>
                  </a:lnTo>
                  <a:lnTo>
                    <a:pt x="161" y="57"/>
                  </a:lnTo>
                  <a:lnTo>
                    <a:pt x="148" y="51"/>
                  </a:lnTo>
                  <a:lnTo>
                    <a:pt x="135" y="44"/>
                  </a:lnTo>
                  <a:lnTo>
                    <a:pt x="126" y="41"/>
                  </a:lnTo>
                  <a:lnTo>
                    <a:pt x="113" y="41"/>
                  </a:lnTo>
                  <a:lnTo>
                    <a:pt x="98" y="41"/>
                  </a:lnTo>
                  <a:lnTo>
                    <a:pt x="85" y="48"/>
                  </a:lnTo>
                  <a:lnTo>
                    <a:pt x="66" y="60"/>
                  </a:lnTo>
                  <a:lnTo>
                    <a:pt x="54" y="76"/>
                  </a:lnTo>
                  <a:lnTo>
                    <a:pt x="44" y="95"/>
                  </a:lnTo>
                  <a:lnTo>
                    <a:pt x="41" y="111"/>
                  </a:lnTo>
                  <a:lnTo>
                    <a:pt x="35" y="130"/>
                  </a:lnTo>
                  <a:lnTo>
                    <a:pt x="38" y="149"/>
                  </a:lnTo>
                  <a:lnTo>
                    <a:pt x="0" y="139"/>
                  </a:lnTo>
                  <a:close/>
                </a:path>
              </a:pathLst>
            </a:custGeom>
            <a:solidFill>
              <a:srgbClr val="FF0000">
                <a:alpha val="100000"/>
              </a:srgbClr>
            </a:solidFill>
            <a:ln w="9525">
              <a:noFill/>
            </a:ln>
          </p:spPr>
          <p:txBody>
            <a:bodyPr/>
            <a:p>
              <a:endParaRPr lang="zh-CN" altLang="en-US"/>
            </a:p>
          </p:txBody>
        </p:sp>
        <p:sp>
          <p:nvSpPr>
            <p:cNvPr id="115738" name="Freeform 71"/>
            <p:cNvSpPr/>
            <p:nvPr/>
          </p:nvSpPr>
          <p:spPr>
            <a:xfrm>
              <a:off x="2683" y="3223"/>
              <a:ext cx="410" cy="69"/>
            </a:xfrm>
            <a:custGeom>
              <a:avLst/>
              <a:gdLst/>
              <a:ahLst/>
              <a:cxnLst>
                <a:cxn ang="0">
                  <a:pos x="0" y="69"/>
                </a:cxn>
                <a:cxn ang="0">
                  <a:pos x="69" y="0"/>
                </a:cxn>
                <a:cxn ang="0">
                  <a:pos x="410" y="0"/>
                </a:cxn>
                <a:cxn ang="0">
                  <a:pos x="337" y="69"/>
                </a:cxn>
                <a:cxn ang="0">
                  <a:pos x="0" y="69"/>
                </a:cxn>
              </a:cxnLst>
              <a:pathLst>
                <a:path w="410" h="69">
                  <a:moveTo>
                    <a:pt x="0" y="69"/>
                  </a:moveTo>
                  <a:lnTo>
                    <a:pt x="69" y="0"/>
                  </a:lnTo>
                  <a:lnTo>
                    <a:pt x="410" y="0"/>
                  </a:lnTo>
                  <a:lnTo>
                    <a:pt x="337" y="69"/>
                  </a:lnTo>
                  <a:lnTo>
                    <a:pt x="0" y="69"/>
                  </a:lnTo>
                  <a:close/>
                </a:path>
              </a:pathLst>
            </a:custGeom>
            <a:solidFill>
              <a:srgbClr val="FF0000">
                <a:alpha val="100000"/>
              </a:srgbClr>
            </a:solidFill>
            <a:ln w="9525">
              <a:noFill/>
            </a:ln>
          </p:spPr>
          <p:txBody>
            <a:bodyPr/>
            <a:p>
              <a:endParaRPr lang="zh-CN" altLang="en-US"/>
            </a:p>
          </p:txBody>
        </p:sp>
        <p:sp>
          <p:nvSpPr>
            <p:cNvPr id="115739" name="Freeform 72"/>
            <p:cNvSpPr/>
            <p:nvPr/>
          </p:nvSpPr>
          <p:spPr>
            <a:xfrm>
              <a:off x="2683" y="3223"/>
              <a:ext cx="410" cy="69"/>
            </a:xfrm>
            <a:custGeom>
              <a:avLst/>
              <a:gdLst/>
              <a:ahLst/>
              <a:cxnLst>
                <a:cxn ang="0">
                  <a:pos x="0" y="69"/>
                </a:cxn>
                <a:cxn ang="0">
                  <a:pos x="69" y="0"/>
                </a:cxn>
                <a:cxn ang="0">
                  <a:pos x="410" y="0"/>
                </a:cxn>
                <a:cxn ang="0">
                  <a:pos x="337" y="69"/>
                </a:cxn>
                <a:cxn ang="0">
                  <a:pos x="0" y="69"/>
                </a:cxn>
              </a:cxnLst>
              <a:pathLst>
                <a:path w="410" h="69">
                  <a:moveTo>
                    <a:pt x="0" y="69"/>
                  </a:moveTo>
                  <a:lnTo>
                    <a:pt x="69" y="0"/>
                  </a:lnTo>
                  <a:lnTo>
                    <a:pt x="410" y="0"/>
                  </a:lnTo>
                  <a:lnTo>
                    <a:pt x="337" y="69"/>
                  </a:lnTo>
                  <a:lnTo>
                    <a:pt x="0" y="69"/>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40" name="Freeform 73"/>
            <p:cNvSpPr/>
            <p:nvPr/>
          </p:nvSpPr>
          <p:spPr>
            <a:xfrm>
              <a:off x="3020" y="3223"/>
              <a:ext cx="73" cy="322"/>
            </a:xfrm>
            <a:custGeom>
              <a:avLst/>
              <a:gdLst/>
              <a:ahLst/>
              <a:cxnLst>
                <a:cxn ang="0">
                  <a:pos x="0" y="322"/>
                </a:cxn>
                <a:cxn ang="0">
                  <a:pos x="73" y="252"/>
                </a:cxn>
                <a:cxn ang="0">
                  <a:pos x="73" y="0"/>
                </a:cxn>
                <a:cxn ang="0">
                  <a:pos x="0" y="69"/>
                </a:cxn>
                <a:cxn ang="0">
                  <a:pos x="0" y="322"/>
                </a:cxn>
              </a:cxnLst>
              <a:pathLst>
                <a:path w="73" h="322">
                  <a:moveTo>
                    <a:pt x="0" y="322"/>
                  </a:moveTo>
                  <a:lnTo>
                    <a:pt x="73" y="252"/>
                  </a:lnTo>
                  <a:lnTo>
                    <a:pt x="73" y="0"/>
                  </a:lnTo>
                  <a:lnTo>
                    <a:pt x="0" y="69"/>
                  </a:lnTo>
                  <a:lnTo>
                    <a:pt x="0" y="322"/>
                  </a:lnTo>
                  <a:close/>
                </a:path>
              </a:pathLst>
            </a:custGeom>
            <a:solidFill>
              <a:srgbClr val="FF0000">
                <a:alpha val="100000"/>
              </a:srgbClr>
            </a:solidFill>
            <a:ln w="9525">
              <a:noFill/>
            </a:ln>
          </p:spPr>
          <p:txBody>
            <a:bodyPr/>
            <a:p>
              <a:endParaRPr lang="zh-CN" altLang="en-US"/>
            </a:p>
          </p:txBody>
        </p:sp>
        <p:sp>
          <p:nvSpPr>
            <p:cNvPr id="115741" name="Freeform 74"/>
            <p:cNvSpPr/>
            <p:nvPr/>
          </p:nvSpPr>
          <p:spPr>
            <a:xfrm>
              <a:off x="3020" y="3223"/>
              <a:ext cx="73" cy="322"/>
            </a:xfrm>
            <a:custGeom>
              <a:avLst/>
              <a:gdLst/>
              <a:ahLst/>
              <a:cxnLst>
                <a:cxn ang="0">
                  <a:pos x="0" y="322"/>
                </a:cxn>
                <a:cxn ang="0">
                  <a:pos x="73" y="252"/>
                </a:cxn>
                <a:cxn ang="0">
                  <a:pos x="73" y="0"/>
                </a:cxn>
                <a:cxn ang="0">
                  <a:pos x="0" y="69"/>
                </a:cxn>
                <a:cxn ang="0">
                  <a:pos x="0" y="322"/>
                </a:cxn>
              </a:cxnLst>
              <a:pathLst>
                <a:path w="73" h="322">
                  <a:moveTo>
                    <a:pt x="0" y="322"/>
                  </a:moveTo>
                  <a:lnTo>
                    <a:pt x="73" y="252"/>
                  </a:lnTo>
                  <a:lnTo>
                    <a:pt x="73" y="0"/>
                  </a:lnTo>
                  <a:lnTo>
                    <a:pt x="0" y="69"/>
                  </a:lnTo>
                  <a:lnTo>
                    <a:pt x="0" y="322"/>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42" name="Rectangle 75"/>
            <p:cNvSpPr/>
            <p:nvPr/>
          </p:nvSpPr>
          <p:spPr>
            <a:xfrm>
              <a:off x="2683" y="3292"/>
              <a:ext cx="337" cy="256"/>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743" name="Rectangle 76"/>
            <p:cNvSpPr/>
            <p:nvPr/>
          </p:nvSpPr>
          <p:spPr>
            <a:xfrm>
              <a:off x="2684" y="3293"/>
              <a:ext cx="335" cy="254"/>
            </a:xfrm>
            <a:prstGeom prst="rect">
              <a:avLst/>
            </a:prstGeom>
            <a:solidFill>
              <a:srgbClr val="FF0000"/>
            </a:solidFill>
            <a:ln w="4763" cap="flat" cmpd="sng">
              <a:solidFill>
                <a:srgbClr val="494936"/>
              </a:solidFill>
              <a:prstDash val="solid"/>
              <a:miter/>
              <a:headEnd type="none" w="med" len="med"/>
              <a:tailEnd type="none" w="med" len="med"/>
            </a:ln>
          </p:spPr>
          <p:txBody>
            <a:bodyPr/>
            <a:p>
              <a:pPr>
                <a:buNone/>
              </a:pPr>
              <a:endParaRPr lang="zh-CN" altLang="en-US" dirty="0">
                <a:latin typeface="Garamond" panose="02020404030301010803" pitchFamily="18" charset="0"/>
              </a:endParaRPr>
            </a:p>
          </p:txBody>
        </p:sp>
        <p:sp>
          <p:nvSpPr>
            <p:cNvPr id="115744" name="Oval 77"/>
            <p:cNvSpPr/>
            <p:nvPr/>
          </p:nvSpPr>
          <p:spPr>
            <a:xfrm>
              <a:off x="2826" y="3363"/>
              <a:ext cx="73" cy="73"/>
            </a:xfrm>
            <a:prstGeom prst="ellipse">
              <a:avLst/>
            </a:prstGeom>
            <a:solidFill>
              <a:srgbClr val="FF0000"/>
            </a:solidFill>
            <a:ln w="4763" cap="flat" cmpd="sng">
              <a:solidFill>
                <a:srgbClr val="000000"/>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745" name="Rectangle 78"/>
            <p:cNvSpPr/>
            <p:nvPr/>
          </p:nvSpPr>
          <p:spPr>
            <a:xfrm>
              <a:off x="2851" y="3391"/>
              <a:ext cx="20" cy="112"/>
            </a:xfrm>
            <a:prstGeom prst="rect">
              <a:avLst/>
            </a:prstGeom>
            <a:solidFill>
              <a:srgbClr val="FF0000"/>
            </a:solidFill>
            <a:ln w="4763" cap="flat" cmpd="sng">
              <a:solidFill>
                <a:srgbClr val="000000"/>
              </a:solidFill>
              <a:prstDash val="solid"/>
              <a:miter/>
              <a:headEnd type="none" w="med" len="med"/>
              <a:tailEnd type="none" w="med" len="med"/>
            </a:ln>
          </p:spPr>
          <p:txBody>
            <a:bodyPr/>
            <a:p>
              <a:pPr>
                <a:buNone/>
              </a:pPr>
              <a:endParaRPr lang="zh-CN" altLang="en-US" dirty="0">
                <a:latin typeface="Garamond" panose="02020404030301010803" pitchFamily="18" charset="0"/>
              </a:endParaRPr>
            </a:p>
          </p:txBody>
        </p:sp>
        <p:sp>
          <p:nvSpPr>
            <p:cNvPr id="115746" name="Freeform 79"/>
            <p:cNvSpPr/>
            <p:nvPr/>
          </p:nvSpPr>
          <p:spPr>
            <a:xfrm>
              <a:off x="2768" y="3226"/>
              <a:ext cx="76" cy="38"/>
            </a:xfrm>
            <a:custGeom>
              <a:avLst/>
              <a:gdLst/>
              <a:ahLst/>
              <a:cxnLst>
                <a:cxn ang="0">
                  <a:pos x="0" y="38"/>
                </a:cxn>
                <a:cxn ang="0">
                  <a:pos x="38" y="0"/>
                </a:cxn>
                <a:cxn ang="0">
                  <a:pos x="76" y="0"/>
                </a:cxn>
                <a:cxn ang="0">
                  <a:pos x="38" y="38"/>
                </a:cxn>
                <a:cxn ang="0">
                  <a:pos x="0" y="38"/>
                </a:cxn>
              </a:cxnLst>
              <a:pathLst>
                <a:path w="76" h="38">
                  <a:moveTo>
                    <a:pt x="0" y="38"/>
                  </a:moveTo>
                  <a:lnTo>
                    <a:pt x="38" y="0"/>
                  </a:lnTo>
                  <a:lnTo>
                    <a:pt x="76" y="0"/>
                  </a:lnTo>
                  <a:lnTo>
                    <a:pt x="38" y="38"/>
                  </a:lnTo>
                  <a:lnTo>
                    <a:pt x="0" y="38"/>
                  </a:lnTo>
                  <a:close/>
                </a:path>
              </a:pathLst>
            </a:custGeom>
            <a:solidFill>
              <a:srgbClr val="FF0000">
                <a:alpha val="100000"/>
              </a:srgbClr>
            </a:solidFill>
            <a:ln w="9525">
              <a:noFill/>
            </a:ln>
          </p:spPr>
          <p:txBody>
            <a:bodyPr/>
            <a:p>
              <a:endParaRPr lang="zh-CN" altLang="en-US"/>
            </a:p>
          </p:txBody>
        </p:sp>
        <p:sp>
          <p:nvSpPr>
            <p:cNvPr id="115747" name="Freeform 80"/>
            <p:cNvSpPr/>
            <p:nvPr/>
          </p:nvSpPr>
          <p:spPr>
            <a:xfrm>
              <a:off x="2768" y="3226"/>
              <a:ext cx="76" cy="38"/>
            </a:xfrm>
            <a:custGeom>
              <a:avLst/>
              <a:gdLst/>
              <a:ahLst/>
              <a:cxnLst>
                <a:cxn ang="0">
                  <a:pos x="0" y="38"/>
                </a:cxn>
                <a:cxn ang="0">
                  <a:pos x="38" y="0"/>
                </a:cxn>
                <a:cxn ang="0">
                  <a:pos x="76" y="0"/>
                </a:cxn>
                <a:cxn ang="0">
                  <a:pos x="38" y="38"/>
                </a:cxn>
                <a:cxn ang="0">
                  <a:pos x="0" y="38"/>
                </a:cxn>
              </a:cxnLst>
              <a:pathLst>
                <a:path w="76" h="38">
                  <a:moveTo>
                    <a:pt x="0" y="38"/>
                  </a:moveTo>
                  <a:lnTo>
                    <a:pt x="38" y="0"/>
                  </a:lnTo>
                  <a:lnTo>
                    <a:pt x="76" y="0"/>
                  </a:lnTo>
                  <a:lnTo>
                    <a:pt x="38" y="38"/>
                  </a:lnTo>
                  <a:lnTo>
                    <a:pt x="0" y="38"/>
                  </a:lnTo>
                  <a:close/>
                </a:path>
              </a:pathLst>
            </a:custGeom>
            <a:solidFill>
              <a:srgbClr val="FF0000">
                <a:alpha val="100000"/>
              </a:srgbClr>
            </a:solidFill>
            <a:ln w="9525">
              <a:noFill/>
            </a:ln>
          </p:spPr>
          <p:txBody>
            <a:bodyPr/>
            <a:p>
              <a:endParaRPr lang="zh-CN" altLang="en-US"/>
            </a:p>
          </p:txBody>
        </p:sp>
        <p:sp>
          <p:nvSpPr>
            <p:cNvPr id="115748" name="Freeform 81"/>
            <p:cNvSpPr/>
            <p:nvPr/>
          </p:nvSpPr>
          <p:spPr>
            <a:xfrm>
              <a:off x="2963" y="3226"/>
              <a:ext cx="76" cy="35"/>
            </a:xfrm>
            <a:custGeom>
              <a:avLst/>
              <a:gdLst/>
              <a:ahLst/>
              <a:cxnLst>
                <a:cxn ang="0">
                  <a:pos x="0" y="35"/>
                </a:cxn>
                <a:cxn ang="0">
                  <a:pos x="38" y="0"/>
                </a:cxn>
                <a:cxn ang="0">
                  <a:pos x="76" y="0"/>
                </a:cxn>
                <a:cxn ang="0">
                  <a:pos x="38" y="35"/>
                </a:cxn>
                <a:cxn ang="0">
                  <a:pos x="0" y="35"/>
                </a:cxn>
              </a:cxnLst>
              <a:pathLst>
                <a:path w="76" h="35">
                  <a:moveTo>
                    <a:pt x="0" y="35"/>
                  </a:moveTo>
                  <a:lnTo>
                    <a:pt x="38" y="0"/>
                  </a:lnTo>
                  <a:lnTo>
                    <a:pt x="76" y="0"/>
                  </a:lnTo>
                  <a:lnTo>
                    <a:pt x="38" y="35"/>
                  </a:lnTo>
                  <a:lnTo>
                    <a:pt x="0" y="35"/>
                  </a:lnTo>
                  <a:close/>
                </a:path>
              </a:pathLst>
            </a:custGeom>
            <a:solidFill>
              <a:srgbClr val="FF0000">
                <a:alpha val="100000"/>
              </a:srgbClr>
            </a:solidFill>
            <a:ln w="9525">
              <a:noFill/>
            </a:ln>
          </p:spPr>
          <p:txBody>
            <a:bodyPr/>
            <a:p>
              <a:endParaRPr lang="zh-CN" altLang="en-US"/>
            </a:p>
          </p:txBody>
        </p:sp>
        <p:sp>
          <p:nvSpPr>
            <p:cNvPr id="115749" name="Freeform 82"/>
            <p:cNvSpPr/>
            <p:nvPr/>
          </p:nvSpPr>
          <p:spPr>
            <a:xfrm>
              <a:off x="2963" y="3226"/>
              <a:ext cx="76" cy="35"/>
            </a:xfrm>
            <a:custGeom>
              <a:avLst/>
              <a:gdLst/>
              <a:ahLst/>
              <a:cxnLst>
                <a:cxn ang="0">
                  <a:pos x="0" y="35"/>
                </a:cxn>
                <a:cxn ang="0">
                  <a:pos x="38" y="0"/>
                </a:cxn>
                <a:cxn ang="0">
                  <a:pos x="76" y="0"/>
                </a:cxn>
                <a:cxn ang="0">
                  <a:pos x="38" y="35"/>
                </a:cxn>
                <a:cxn ang="0">
                  <a:pos x="0" y="35"/>
                </a:cxn>
              </a:cxnLst>
              <a:pathLst>
                <a:path w="76" h="35">
                  <a:moveTo>
                    <a:pt x="0" y="35"/>
                  </a:moveTo>
                  <a:lnTo>
                    <a:pt x="38" y="0"/>
                  </a:lnTo>
                  <a:lnTo>
                    <a:pt x="76" y="0"/>
                  </a:lnTo>
                  <a:lnTo>
                    <a:pt x="38" y="35"/>
                  </a:lnTo>
                  <a:lnTo>
                    <a:pt x="0" y="35"/>
                  </a:lnTo>
                  <a:close/>
                </a:path>
              </a:pathLst>
            </a:custGeom>
            <a:solidFill>
              <a:srgbClr val="FF0000">
                <a:alpha val="100000"/>
              </a:srgbClr>
            </a:solidFill>
            <a:ln w="9525">
              <a:noFill/>
            </a:ln>
          </p:spPr>
          <p:txBody>
            <a:bodyPr/>
            <a:p>
              <a:endParaRPr lang="zh-CN" altLang="en-US"/>
            </a:p>
          </p:txBody>
        </p:sp>
        <p:sp>
          <p:nvSpPr>
            <p:cNvPr id="115750" name="Oval 83"/>
            <p:cNvSpPr/>
            <p:nvPr/>
          </p:nvSpPr>
          <p:spPr>
            <a:xfrm>
              <a:off x="2961" y="3249"/>
              <a:ext cx="39" cy="23"/>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751" name="Arc 84"/>
            <p:cNvSpPr/>
            <p:nvPr/>
          </p:nvSpPr>
          <p:spPr>
            <a:xfrm>
              <a:off x="2766" y="3031"/>
              <a:ext cx="234" cy="132"/>
            </a:xfrm>
            <a:custGeom>
              <a:avLst/>
              <a:gdLst/>
              <a:ahLst/>
              <a:cxnLst>
                <a:cxn ang="0">
                  <a:pos x="0" y="132"/>
                </a:cxn>
                <a:cxn ang="0">
                  <a:pos x="234" y="132"/>
                </a:cxn>
                <a:cxn ang="0">
                  <a:pos x="117" y="132"/>
                </a:cxn>
              </a:cxnLst>
              <a:pathLst>
                <a:path w="43200" h="21600" fill="none">
                  <a:moveTo>
                    <a:pt x="0" y="21600"/>
                  </a:moveTo>
                  <a:cubicBezTo>
                    <a:pt x="0" y="9670"/>
                    <a:pt x="9670" y="0"/>
                    <a:pt x="21600" y="0"/>
                  </a:cubicBezTo>
                  <a:cubicBezTo>
                    <a:pt x="33529" y="0"/>
                    <a:pt x="43200" y="9670"/>
                    <a:pt x="43200" y="21600"/>
                  </a:cubicBezTo>
                </a:path>
                <a:path w="43200" h="21600" stroke="0">
                  <a:moveTo>
                    <a:pt x="0" y="21600"/>
                  </a:moveTo>
                  <a:cubicBezTo>
                    <a:pt x="0" y="9670"/>
                    <a:pt x="9670" y="0"/>
                    <a:pt x="21600" y="0"/>
                  </a:cubicBezTo>
                  <a:cubicBezTo>
                    <a:pt x="33529" y="0"/>
                    <a:pt x="43200" y="9670"/>
                    <a:pt x="43200" y="21600"/>
                  </a:cubicBezTo>
                  <a:lnTo>
                    <a:pt x="21600" y="21600"/>
                  </a:lnTo>
                  <a:lnTo>
                    <a:pt x="0" y="21600"/>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52" name="Rectangle 85"/>
            <p:cNvSpPr/>
            <p:nvPr/>
          </p:nvSpPr>
          <p:spPr>
            <a:xfrm>
              <a:off x="2963" y="3169"/>
              <a:ext cx="35" cy="92"/>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753" name="Line 86"/>
            <p:cNvSpPr/>
            <p:nvPr/>
          </p:nvSpPr>
          <p:spPr>
            <a:xfrm flipV="1">
              <a:off x="2998" y="3163"/>
              <a:ext cx="1" cy="94"/>
            </a:xfrm>
            <a:prstGeom prst="line">
              <a:avLst/>
            </a:prstGeom>
            <a:ln w="4763" cap="flat" cmpd="sng">
              <a:solidFill>
                <a:srgbClr val="494936"/>
              </a:solidFill>
              <a:prstDash val="solid"/>
              <a:headEnd type="none" w="med" len="med"/>
              <a:tailEnd type="none" w="med" len="med"/>
            </a:ln>
          </p:spPr>
        </p:sp>
        <p:sp>
          <p:nvSpPr>
            <p:cNvPr id="115754" name="Line 87"/>
            <p:cNvSpPr/>
            <p:nvPr/>
          </p:nvSpPr>
          <p:spPr>
            <a:xfrm flipV="1">
              <a:off x="2960" y="3163"/>
              <a:ext cx="1" cy="94"/>
            </a:xfrm>
            <a:prstGeom prst="line">
              <a:avLst/>
            </a:prstGeom>
            <a:ln w="4763" cap="flat" cmpd="sng">
              <a:solidFill>
                <a:srgbClr val="494936"/>
              </a:solidFill>
              <a:prstDash val="solid"/>
              <a:headEnd type="none" w="med" len="med"/>
              <a:tailEnd type="none" w="med" len="med"/>
            </a:ln>
          </p:spPr>
        </p:sp>
        <p:sp>
          <p:nvSpPr>
            <p:cNvPr id="115755" name="Oval 88"/>
            <p:cNvSpPr/>
            <p:nvPr/>
          </p:nvSpPr>
          <p:spPr>
            <a:xfrm>
              <a:off x="2766" y="3249"/>
              <a:ext cx="39" cy="23"/>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756" name="Rectangle 89"/>
            <p:cNvSpPr/>
            <p:nvPr/>
          </p:nvSpPr>
          <p:spPr>
            <a:xfrm>
              <a:off x="2768" y="3169"/>
              <a:ext cx="35" cy="92"/>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757" name="Arc 90"/>
            <p:cNvSpPr/>
            <p:nvPr/>
          </p:nvSpPr>
          <p:spPr>
            <a:xfrm>
              <a:off x="2804" y="3069"/>
              <a:ext cx="158" cy="100"/>
            </a:xfrm>
            <a:custGeom>
              <a:avLst/>
              <a:gdLst/>
              <a:ahLst/>
              <a:cxnLst>
                <a:cxn ang="0">
                  <a:pos x="0" y="100"/>
                </a:cxn>
                <a:cxn ang="0">
                  <a:pos x="158" y="100"/>
                </a:cxn>
                <a:cxn ang="0">
                  <a:pos x="79" y="100"/>
                </a:cxn>
              </a:cxnLst>
              <a:pathLst>
                <a:path w="43200" h="21600" fill="none">
                  <a:moveTo>
                    <a:pt x="0" y="21600"/>
                  </a:moveTo>
                  <a:cubicBezTo>
                    <a:pt x="0" y="9670"/>
                    <a:pt x="9670" y="0"/>
                    <a:pt x="21600" y="0"/>
                  </a:cubicBezTo>
                  <a:cubicBezTo>
                    <a:pt x="33529" y="0"/>
                    <a:pt x="43200" y="9670"/>
                    <a:pt x="43200" y="21600"/>
                  </a:cubicBezTo>
                </a:path>
                <a:path w="43200" h="21600" stroke="0">
                  <a:moveTo>
                    <a:pt x="0" y="21600"/>
                  </a:moveTo>
                  <a:cubicBezTo>
                    <a:pt x="0" y="9670"/>
                    <a:pt x="9670" y="0"/>
                    <a:pt x="21600" y="0"/>
                  </a:cubicBezTo>
                  <a:cubicBezTo>
                    <a:pt x="33529" y="0"/>
                    <a:pt x="43200" y="9670"/>
                    <a:pt x="43200" y="21600"/>
                  </a:cubicBezTo>
                  <a:lnTo>
                    <a:pt x="21600" y="21600"/>
                  </a:lnTo>
                  <a:lnTo>
                    <a:pt x="0" y="21600"/>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58" name="Rectangle 91"/>
            <p:cNvSpPr/>
            <p:nvPr/>
          </p:nvSpPr>
          <p:spPr>
            <a:xfrm>
              <a:off x="2768" y="3169"/>
              <a:ext cx="35" cy="92"/>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759" name="Line 92"/>
            <p:cNvSpPr/>
            <p:nvPr/>
          </p:nvSpPr>
          <p:spPr>
            <a:xfrm flipV="1">
              <a:off x="2765" y="3163"/>
              <a:ext cx="1" cy="94"/>
            </a:xfrm>
            <a:prstGeom prst="line">
              <a:avLst/>
            </a:prstGeom>
            <a:ln w="4763" cap="flat" cmpd="sng">
              <a:solidFill>
                <a:srgbClr val="494936"/>
              </a:solidFill>
              <a:prstDash val="solid"/>
              <a:headEnd type="none" w="med" len="med"/>
              <a:tailEnd type="none" w="med" len="med"/>
            </a:ln>
          </p:spPr>
        </p:sp>
        <p:sp>
          <p:nvSpPr>
            <p:cNvPr id="115760" name="Line 93"/>
            <p:cNvSpPr/>
            <p:nvPr/>
          </p:nvSpPr>
          <p:spPr>
            <a:xfrm flipV="1">
              <a:off x="2803" y="3163"/>
              <a:ext cx="1" cy="94"/>
            </a:xfrm>
            <a:prstGeom prst="line">
              <a:avLst/>
            </a:prstGeom>
            <a:ln w="4763" cap="flat" cmpd="sng">
              <a:solidFill>
                <a:srgbClr val="494936"/>
              </a:solidFill>
              <a:prstDash val="solid"/>
              <a:headEnd type="none" w="med" len="med"/>
              <a:tailEnd type="none" w="med" len="med"/>
            </a:ln>
          </p:spPr>
        </p:sp>
        <p:sp>
          <p:nvSpPr>
            <p:cNvPr id="115761" name="Arc 94"/>
            <p:cNvSpPr/>
            <p:nvPr/>
          </p:nvSpPr>
          <p:spPr>
            <a:xfrm>
              <a:off x="2783" y="3044"/>
              <a:ext cx="97" cy="125"/>
            </a:xfrm>
            <a:custGeom>
              <a:avLst/>
              <a:gdLst/>
              <a:ahLst/>
              <a:cxnLst>
                <a:cxn ang="0">
                  <a:pos x="0" y="76"/>
                </a:cxn>
                <a:cxn ang="0">
                  <a:pos x="97" y="0"/>
                </a:cxn>
                <a:cxn ang="0">
                  <a:pos x="92" y="125"/>
                </a:cxn>
              </a:cxnLst>
              <a:pathLst>
                <a:path w="21021" h="21600" fill="none">
                  <a:moveTo>
                    <a:pt x="-1" y="13196"/>
                  </a:moveTo>
                  <a:cubicBezTo>
                    <a:pt x="3377" y="5198"/>
                    <a:pt x="11215" y="-1"/>
                    <a:pt x="19898" y="0"/>
                  </a:cubicBezTo>
                  <a:cubicBezTo>
                    <a:pt x="20272" y="0"/>
                    <a:pt x="20646" y="9"/>
                    <a:pt x="21020" y="29"/>
                  </a:cubicBezTo>
                </a:path>
                <a:path w="21021" h="21600" stroke="0">
                  <a:moveTo>
                    <a:pt x="-1" y="13196"/>
                  </a:moveTo>
                  <a:cubicBezTo>
                    <a:pt x="3377" y="5198"/>
                    <a:pt x="11215" y="-1"/>
                    <a:pt x="19898" y="0"/>
                  </a:cubicBezTo>
                  <a:cubicBezTo>
                    <a:pt x="20272" y="0"/>
                    <a:pt x="20646" y="9"/>
                    <a:pt x="21020" y="29"/>
                  </a:cubicBezTo>
                  <a:lnTo>
                    <a:pt x="19898" y="21600"/>
                  </a:lnTo>
                  <a:lnTo>
                    <a:pt x="-1" y="13196"/>
                  </a:lnTo>
                  <a:close/>
                </a:path>
              </a:pathLst>
            </a:custGeom>
            <a:solidFill>
              <a:srgbClr val="FF0000">
                <a:alpha val="100000"/>
              </a:srgbClr>
            </a:solidFill>
            <a:ln w="14288" cap="flat" cmpd="sng">
              <a:solidFill>
                <a:srgbClr val="DBDBCE">
                  <a:alpha val="100000"/>
                </a:srgbClr>
              </a:solidFill>
              <a:prstDash val="solid"/>
              <a:round/>
              <a:headEnd type="none" w="med" len="med"/>
              <a:tailEnd type="none" w="med" len="med"/>
            </a:ln>
          </p:spPr>
          <p:txBody>
            <a:bodyPr/>
            <a:p>
              <a:endParaRPr lang="zh-CN" altLang="en-US"/>
            </a:p>
          </p:txBody>
        </p:sp>
        <p:sp>
          <p:nvSpPr>
            <p:cNvPr id="115762" name="Freeform 95"/>
            <p:cNvSpPr/>
            <p:nvPr/>
          </p:nvSpPr>
          <p:spPr>
            <a:xfrm>
              <a:off x="2594" y="3406"/>
              <a:ext cx="105" cy="101"/>
            </a:xfrm>
            <a:custGeom>
              <a:avLst/>
              <a:gdLst/>
              <a:ahLst/>
              <a:cxnLst>
                <a:cxn ang="0">
                  <a:pos x="4" y="31"/>
                </a:cxn>
                <a:cxn ang="0">
                  <a:pos x="0" y="47"/>
                </a:cxn>
                <a:cxn ang="0">
                  <a:pos x="4" y="63"/>
                </a:cxn>
                <a:cxn ang="0">
                  <a:pos x="10" y="75"/>
                </a:cxn>
                <a:cxn ang="0">
                  <a:pos x="16" y="85"/>
                </a:cxn>
                <a:cxn ang="0">
                  <a:pos x="26" y="91"/>
                </a:cxn>
                <a:cxn ang="0">
                  <a:pos x="35" y="98"/>
                </a:cxn>
                <a:cxn ang="0">
                  <a:pos x="45" y="101"/>
                </a:cxn>
                <a:cxn ang="0">
                  <a:pos x="54" y="101"/>
                </a:cxn>
                <a:cxn ang="0">
                  <a:pos x="60" y="101"/>
                </a:cxn>
                <a:cxn ang="0">
                  <a:pos x="73" y="94"/>
                </a:cxn>
                <a:cxn ang="0">
                  <a:pos x="82" y="91"/>
                </a:cxn>
                <a:cxn ang="0">
                  <a:pos x="89" y="85"/>
                </a:cxn>
                <a:cxn ang="0">
                  <a:pos x="92" y="82"/>
                </a:cxn>
                <a:cxn ang="0">
                  <a:pos x="98" y="75"/>
                </a:cxn>
                <a:cxn ang="0">
                  <a:pos x="101" y="66"/>
                </a:cxn>
                <a:cxn ang="0">
                  <a:pos x="105" y="53"/>
                </a:cxn>
                <a:cxn ang="0">
                  <a:pos x="105" y="47"/>
                </a:cxn>
                <a:cxn ang="0">
                  <a:pos x="105" y="34"/>
                </a:cxn>
                <a:cxn ang="0">
                  <a:pos x="101" y="25"/>
                </a:cxn>
                <a:cxn ang="0">
                  <a:pos x="95" y="19"/>
                </a:cxn>
                <a:cxn ang="0">
                  <a:pos x="92" y="12"/>
                </a:cxn>
                <a:cxn ang="0">
                  <a:pos x="64" y="6"/>
                </a:cxn>
                <a:cxn ang="0">
                  <a:pos x="54" y="16"/>
                </a:cxn>
                <a:cxn ang="0">
                  <a:pos x="64" y="19"/>
                </a:cxn>
                <a:cxn ang="0">
                  <a:pos x="70" y="19"/>
                </a:cxn>
                <a:cxn ang="0">
                  <a:pos x="73" y="25"/>
                </a:cxn>
                <a:cxn ang="0">
                  <a:pos x="79" y="31"/>
                </a:cxn>
                <a:cxn ang="0">
                  <a:pos x="82" y="38"/>
                </a:cxn>
                <a:cxn ang="0">
                  <a:pos x="86" y="47"/>
                </a:cxn>
                <a:cxn ang="0">
                  <a:pos x="86" y="53"/>
                </a:cxn>
                <a:cxn ang="0">
                  <a:pos x="82" y="63"/>
                </a:cxn>
                <a:cxn ang="0">
                  <a:pos x="79" y="69"/>
                </a:cxn>
                <a:cxn ang="0">
                  <a:pos x="73" y="72"/>
                </a:cxn>
                <a:cxn ang="0">
                  <a:pos x="67" y="79"/>
                </a:cxn>
                <a:cxn ang="0">
                  <a:pos x="60" y="79"/>
                </a:cxn>
                <a:cxn ang="0">
                  <a:pos x="51" y="79"/>
                </a:cxn>
                <a:cxn ang="0">
                  <a:pos x="38" y="75"/>
                </a:cxn>
                <a:cxn ang="0">
                  <a:pos x="32" y="72"/>
                </a:cxn>
                <a:cxn ang="0">
                  <a:pos x="26" y="66"/>
                </a:cxn>
                <a:cxn ang="0">
                  <a:pos x="23" y="57"/>
                </a:cxn>
                <a:cxn ang="0">
                  <a:pos x="19" y="50"/>
                </a:cxn>
                <a:cxn ang="0">
                  <a:pos x="23" y="38"/>
                </a:cxn>
                <a:cxn ang="0">
                  <a:pos x="29" y="28"/>
                </a:cxn>
                <a:cxn ang="0">
                  <a:pos x="35" y="22"/>
                </a:cxn>
                <a:cxn ang="0">
                  <a:pos x="41" y="19"/>
                </a:cxn>
                <a:cxn ang="0">
                  <a:pos x="45" y="9"/>
                </a:cxn>
                <a:cxn ang="0">
                  <a:pos x="35" y="0"/>
                </a:cxn>
                <a:cxn ang="0">
                  <a:pos x="19" y="6"/>
                </a:cxn>
                <a:cxn ang="0">
                  <a:pos x="7" y="22"/>
                </a:cxn>
                <a:cxn ang="0">
                  <a:pos x="4" y="31"/>
                </a:cxn>
              </a:cxnLst>
              <a:pathLst>
                <a:path w="105" h="101">
                  <a:moveTo>
                    <a:pt x="4" y="31"/>
                  </a:moveTo>
                  <a:lnTo>
                    <a:pt x="0" y="47"/>
                  </a:lnTo>
                  <a:lnTo>
                    <a:pt x="4" y="63"/>
                  </a:lnTo>
                  <a:lnTo>
                    <a:pt x="10" y="75"/>
                  </a:lnTo>
                  <a:lnTo>
                    <a:pt x="16" y="85"/>
                  </a:lnTo>
                  <a:lnTo>
                    <a:pt x="26" y="91"/>
                  </a:lnTo>
                  <a:lnTo>
                    <a:pt x="35" y="98"/>
                  </a:lnTo>
                  <a:lnTo>
                    <a:pt x="45" y="101"/>
                  </a:lnTo>
                  <a:lnTo>
                    <a:pt x="54" y="101"/>
                  </a:lnTo>
                  <a:lnTo>
                    <a:pt x="60" y="101"/>
                  </a:lnTo>
                  <a:lnTo>
                    <a:pt x="73" y="94"/>
                  </a:lnTo>
                  <a:lnTo>
                    <a:pt x="82" y="91"/>
                  </a:lnTo>
                  <a:lnTo>
                    <a:pt x="89" y="85"/>
                  </a:lnTo>
                  <a:lnTo>
                    <a:pt x="92" y="82"/>
                  </a:lnTo>
                  <a:lnTo>
                    <a:pt x="98" y="75"/>
                  </a:lnTo>
                  <a:lnTo>
                    <a:pt x="101" y="66"/>
                  </a:lnTo>
                  <a:lnTo>
                    <a:pt x="105" y="53"/>
                  </a:lnTo>
                  <a:lnTo>
                    <a:pt x="105" y="47"/>
                  </a:lnTo>
                  <a:lnTo>
                    <a:pt x="105" y="34"/>
                  </a:lnTo>
                  <a:lnTo>
                    <a:pt x="101" y="25"/>
                  </a:lnTo>
                  <a:lnTo>
                    <a:pt x="95" y="19"/>
                  </a:lnTo>
                  <a:lnTo>
                    <a:pt x="92" y="12"/>
                  </a:lnTo>
                  <a:lnTo>
                    <a:pt x="64" y="6"/>
                  </a:lnTo>
                  <a:lnTo>
                    <a:pt x="54" y="16"/>
                  </a:lnTo>
                  <a:lnTo>
                    <a:pt x="64" y="19"/>
                  </a:lnTo>
                  <a:lnTo>
                    <a:pt x="70" y="19"/>
                  </a:lnTo>
                  <a:lnTo>
                    <a:pt x="73" y="25"/>
                  </a:lnTo>
                  <a:lnTo>
                    <a:pt x="79" y="31"/>
                  </a:lnTo>
                  <a:lnTo>
                    <a:pt x="82" y="38"/>
                  </a:lnTo>
                  <a:lnTo>
                    <a:pt x="86" y="47"/>
                  </a:lnTo>
                  <a:lnTo>
                    <a:pt x="86" y="53"/>
                  </a:lnTo>
                  <a:lnTo>
                    <a:pt x="82" y="63"/>
                  </a:lnTo>
                  <a:lnTo>
                    <a:pt x="79" y="69"/>
                  </a:lnTo>
                  <a:lnTo>
                    <a:pt x="73" y="72"/>
                  </a:lnTo>
                  <a:lnTo>
                    <a:pt x="67" y="79"/>
                  </a:lnTo>
                  <a:lnTo>
                    <a:pt x="60" y="79"/>
                  </a:lnTo>
                  <a:lnTo>
                    <a:pt x="51" y="79"/>
                  </a:lnTo>
                  <a:lnTo>
                    <a:pt x="38" y="75"/>
                  </a:lnTo>
                  <a:lnTo>
                    <a:pt x="32" y="72"/>
                  </a:lnTo>
                  <a:lnTo>
                    <a:pt x="26" y="66"/>
                  </a:lnTo>
                  <a:lnTo>
                    <a:pt x="23" y="57"/>
                  </a:lnTo>
                  <a:lnTo>
                    <a:pt x="19" y="50"/>
                  </a:lnTo>
                  <a:lnTo>
                    <a:pt x="23" y="38"/>
                  </a:lnTo>
                  <a:lnTo>
                    <a:pt x="29" y="28"/>
                  </a:lnTo>
                  <a:lnTo>
                    <a:pt x="35" y="22"/>
                  </a:lnTo>
                  <a:lnTo>
                    <a:pt x="41" y="19"/>
                  </a:lnTo>
                  <a:lnTo>
                    <a:pt x="45" y="9"/>
                  </a:lnTo>
                  <a:lnTo>
                    <a:pt x="35" y="0"/>
                  </a:lnTo>
                  <a:lnTo>
                    <a:pt x="19" y="6"/>
                  </a:lnTo>
                  <a:lnTo>
                    <a:pt x="7" y="22"/>
                  </a:lnTo>
                  <a:lnTo>
                    <a:pt x="4" y="31"/>
                  </a:lnTo>
                  <a:close/>
                </a:path>
              </a:pathLst>
            </a:custGeom>
            <a:solidFill>
              <a:srgbClr val="FF0000">
                <a:alpha val="100000"/>
              </a:srgbClr>
            </a:solidFill>
            <a:ln w="9525">
              <a:noFill/>
            </a:ln>
          </p:spPr>
          <p:txBody>
            <a:bodyPr/>
            <a:p>
              <a:endParaRPr lang="zh-CN" altLang="en-US"/>
            </a:p>
          </p:txBody>
        </p:sp>
        <p:sp>
          <p:nvSpPr>
            <p:cNvPr id="115763" name="Freeform 96"/>
            <p:cNvSpPr/>
            <p:nvPr/>
          </p:nvSpPr>
          <p:spPr>
            <a:xfrm>
              <a:off x="2594" y="3406"/>
              <a:ext cx="105" cy="101"/>
            </a:xfrm>
            <a:custGeom>
              <a:avLst/>
              <a:gdLst/>
              <a:ahLst/>
              <a:cxnLst>
                <a:cxn ang="0">
                  <a:pos x="4" y="31"/>
                </a:cxn>
                <a:cxn ang="0">
                  <a:pos x="0" y="47"/>
                </a:cxn>
                <a:cxn ang="0">
                  <a:pos x="4" y="63"/>
                </a:cxn>
                <a:cxn ang="0">
                  <a:pos x="10" y="75"/>
                </a:cxn>
                <a:cxn ang="0">
                  <a:pos x="16" y="85"/>
                </a:cxn>
                <a:cxn ang="0">
                  <a:pos x="26" y="91"/>
                </a:cxn>
                <a:cxn ang="0">
                  <a:pos x="35" y="98"/>
                </a:cxn>
                <a:cxn ang="0">
                  <a:pos x="45" y="101"/>
                </a:cxn>
                <a:cxn ang="0">
                  <a:pos x="54" y="101"/>
                </a:cxn>
                <a:cxn ang="0">
                  <a:pos x="60" y="101"/>
                </a:cxn>
                <a:cxn ang="0">
                  <a:pos x="73" y="94"/>
                </a:cxn>
                <a:cxn ang="0">
                  <a:pos x="82" y="91"/>
                </a:cxn>
                <a:cxn ang="0">
                  <a:pos x="89" y="85"/>
                </a:cxn>
                <a:cxn ang="0">
                  <a:pos x="92" y="82"/>
                </a:cxn>
                <a:cxn ang="0">
                  <a:pos x="98" y="75"/>
                </a:cxn>
                <a:cxn ang="0">
                  <a:pos x="101" y="66"/>
                </a:cxn>
                <a:cxn ang="0">
                  <a:pos x="105" y="53"/>
                </a:cxn>
                <a:cxn ang="0">
                  <a:pos x="105" y="47"/>
                </a:cxn>
                <a:cxn ang="0">
                  <a:pos x="105" y="34"/>
                </a:cxn>
                <a:cxn ang="0">
                  <a:pos x="101" y="25"/>
                </a:cxn>
                <a:cxn ang="0">
                  <a:pos x="95" y="19"/>
                </a:cxn>
                <a:cxn ang="0">
                  <a:pos x="92" y="12"/>
                </a:cxn>
                <a:cxn ang="0">
                  <a:pos x="64" y="6"/>
                </a:cxn>
                <a:cxn ang="0">
                  <a:pos x="54" y="16"/>
                </a:cxn>
                <a:cxn ang="0">
                  <a:pos x="64" y="19"/>
                </a:cxn>
                <a:cxn ang="0">
                  <a:pos x="70" y="19"/>
                </a:cxn>
                <a:cxn ang="0">
                  <a:pos x="73" y="25"/>
                </a:cxn>
                <a:cxn ang="0">
                  <a:pos x="79" y="31"/>
                </a:cxn>
                <a:cxn ang="0">
                  <a:pos x="82" y="38"/>
                </a:cxn>
                <a:cxn ang="0">
                  <a:pos x="86" y="47"/>
                </a:cxn>
                <a:cxn ang="0">
                  <a:pos x="86" y="53"/>
                </a:cxn>
                <a:cxn ang="0">
                  <a:pos x="82" y="63"/>
                </a:cxn>
                <a:cxn ang="0">
                  <a:pos x="79" y="69"/>
                </a:cxn>
                <a:cxn ang="0">
                  <a:pos x="73" y="72"/>
                </a:cxn>
                <a:cxn ang="0">
                  <a:pos x="67" y="79"/>
                </a:cxn>
                <a:cxn ang="0">
                  <a:pos x="60" y="79"/>
                </a:cxn>
                <a:cxn ang="0">
                  <a:pos x="51" y="79"/>
                </a:cxn>
                <a:cxn ang="0">
                  <a:pos x="38" y="75"/>
                </a:cxn>
                <a:cxn ang="0">
                  <a:pos x="32" y="72"/>
                </a:cxn>
                <a:cxn ang="0">
                  <a:pos x="26" y="66"/>
                </a:cxn>
                <a:cxn ang="0">
                  <a:pos x="23" y="57"/>
                </a:cxn>
                <a:cxn ang="0">
                  <a:pos x="19" y="50"/>
                </a:cxn>
                <a:cxn ang="0">
                  <a:pos x="23" y="38"/>
                </a:cxn>
                <a:cxn ang="0">
                  <a:pos x="29" y="28"/>
                </a:cxn>
                <a:cxn ang="0">
                  <a:pos x="35" y="22"/>
                </a:cxn>
                <a:cxn ang="0">
                  <a:pos x="41" y="19"/>
                </a:cxn>
                <a:cxn ang="0">
                  <a:pos x="45" y="9"/>
                </a:cxn>
                <a:cxn ang="0">
                  <a:pos x="35" y="0"/>
                </a:cxn>
                <a:cxn ang="0">
                  <a:pos x="19" y="6"/>
                </a:cxn>
                <a:cxn ang="0">
                  <a:pos x="7" y="22"/>
                </a:cxn>
                <a:cxn ang="0">
                  <a:pos x="4" y="31"/>
                </a:cxn>
              </a:cxnLst>
              <a:pathLst>
                <a:path w="105" h="101">
                  <a:moveTo>
                    <a:pt x="4" y="31"/>
                  </a:moveTo>
                  <a:lnTo>
                    <a:pt x="0" y="47"/>
                  </a:lnTo>
                  <a:lnTo>
                    <a:pt x="4" y="63"/>
                  </a:lnTo>
                  <a:lnTo>
                    <a:pt x="10" y="75"/>
                  </a:lnTo>
                  <a:lnTo>
                    <a:pt x="16" y="85"/>
                  </a:lnTo>
                  <a:lnTo>
                    <a:pt x="26" y="91"/>
                  </a:lnTo>
                  <a:lnTo>
                    <a:pt x="35" y="98"/>
                  </a:lnTo>
                  <a:lnTo>
                    <a:pt x="45" y="101"/>
                  </a:lnTo>
                  <a:lnTo>
                    <a:pt x="54" y="101"/>
                  </a:lnTo>
                  <a:lnTo>
                    <a:pt x="60" y="101"/>
                  </a:lnTo>
                  <a:lnTo>
                    <a:pt x="73" y="94"/>
                  </a:lnTo>
                  <a:lnTo>
                    <a:pt x="82" y="91"/>
                  </a:lnTo>
                  <a:lnTo>
                    <a:pt x="89" y="85"/>
                  </a:lnTo>
                  <a:lnTo>
                    <a:pt x="92" y="82"/>
                  </a:lnTo>
                  <a:lnTo>
                    <a:pt x="98" y="75"/>
                  </a:lnTo>
                  <a:lnTo>
                    <a:pt x="101" y="66"/>
                  </a:lnTo>
                  <a:lnTo>
                    <a:pt x="105" y="53"/>
                  </a:lnTo>
                  <a:lnTo>
                    <a:pt x="105" y="47"/>
                  </a:lnTo>
                  <a:lnTo>
                    <a:pt x="105" y="34"/>
                  </a:lnTo>
                  <a:lnTo>
                    <a:pt x="101" y="25"/>
                  </a:lnTo>
                  <a:lnTo>
                    <a:pt x="95" y="19"/>
                  </a:lnTo>
                  <a:lnTo>
                    <a:pt x="92" y="12"/>
                  </a:lnTo>
                  <a:lnTo>
                    <a:pt x="64" y="6"/>
                  </a:lnTo>
                  <a:lnTo>
                    <a:pt x="54" y="16"/>
                  </a:lnTo>
                  <a:lnTo>
                    <a:pt x="64" y="19"/>
                  </a:lnTo>
                  <a:lnTo>
                    <a:pt x="70" y="19"/>
                  </a:lnTo>
                  <a:lnTo>
                    <a:pt x="73" y="25"/>
                  </a:lnTo>
                  <a:lnTo>
                    <a:pt x="79" y="31"/>
                  </a:lnTo>
                  <a:lnTo>
                    <a:pt x="82" y="38"/>
                  </a:lnTo>
                  <a:lnTo>
                    <a:pt x="86" y="47"/>
                  </a:lnTo>
                  <a:lnTo>
                    <a:pt x="86" y="53"/>
                  </a:lnTo>
                  <a:lnTo>
                    <a:pt x="82" y="63"/>
                  </a:lnTo>
                  <a:lnTo>
                    <a:pt x="79" y="69"/>
                  </a:lnTo>
                  <a:lnTo>
                    <a:pt x="73" y="72"/>
                  </a:lnTo>
                  <a:lnTo>
                    <a:pt x="67" y="79"/>
                  </a:lnTo>
                  <a:lnTo>
                    <a:pt x="60" y="79"/>
                  </a:lnTo>
                  <a:lnTo>
                    <a:pt x="51" y="79"/>
                  </a:lnTo>
                  <a:lnTo>
                    <a:pt x="38" y="75"/>
                  </a:lnTo>
                  <a:lnTo>
                    <a:pt x="32" y="72"/>
                  </a:lnTo>
                  <a:lnTo>
                    <a:pt x="26" y="66"/>
                  </a:lnTo>
                  <a:lnTo>
                    <a:pt x="23" y="57"/>
                  </a:lnTo>
                  <a:lnTo>
                    <a:pt x="19" y="50"/>
                  </a:lnTo>
                  <a:lnTo>
                    <a:pt x="23" y="38"/>
                  </a:lnTo>
                  <a:lnTo>
                    <a:pt x="29" y="28"/>
                  </a:lnTo>
                  <a:lnTo>
                    <a:pt x="35" y="22"/>
                  </a:lnTo>
                  <a:lnTo>
                    <a:pt x="41" y="19"/>
                  </a:lnTo>
                  <a:lnTo>
                    <a:pt x="45" y="9"/>
                  </a:lnTo>
                  <a:lnTo>
                    <a:pt x="35" y="0"/>
                  </a:lnTo>
                  <a:lnTo>
                    <a:pt x="19" y="6"/>
                  </a:lnTo>
                  <a:lnTo>
                    <a:pt x="7" y="22"/>
                  </a:lnTo>
                  <a:lnTo>
                    <a:pt x="4" y="31"/>
                  </a:lnTo>
                  <a:close/>
                </a:path>
              </a:pathLst>
            </a:custGeom>
            <a:solidFill>
              <a:srgbClr val="FF0000">
                <a:alpha val="100000"/>
              </a:srgbClr>
            </a:solidFill>
            <a:ln w="4763" cap="flat" cmpd="sng">
              <a:solidFill>
                <a:srgbClr val="93936C">
                  <a:alpha val="100000"/>
                </a:srgbClr>
              </a:solidFill>
              <a:prstDash val="solid"/>
              <a:round/>
              <a:headEnd type="none" w="med" len="med"/>
              <a:tailEnd type="none" w="med" len="med"/>
            </a:ln>
          </p:spPr>
          <p:txBody>
            <a:bodyPr/>
            <a:p>
              <a:endParaRPr lang="zh-CN" altLang="en-US"/>
            </a:p>
          </p:txBody>
        </p:sp>
        <p:sp>
          <p:nvSpPr>
            <p:cNvPr id="115764" name="Freeform 97"/>
            <p:cNvSpPr/>
            <p:nvPr/>
          </p:nvSpPr>
          <p:spPr>
            <a:xfrm>
              <a:off x="2686" y="3365"/>
              <a:ext cx="211" cy="75"/>
            </a:xfrm>
            <a:custGeom>
              <a:avLst/>
              <a:gdLst/>
              <a:ahLst/>
              <a:cxnLst>
                <a:cxn ang="0">
                  <a:pos x="0" y="19"/>
                </a:cxn>
                <a:cxn ang="0">
                  <a:pos x="28" y="19"/>
                </a:cxn>
                <a:cxn ang="0">
                  <a:pos x="28" y="0"/>
                </a:cxn>
                <a:cxn ang="0">
                  <a:pos x="54" y="0"/>
                </a:cxn>
                <a:cxn ang="0">
                  <a:pos x="54" y="19"/>
                </a:cxn>
                <a:cxn ang="0">
                  <a:pos x="63" y="19"/>
                </a:cxn>
                <a:cxn ang="0">
                  <a:pos x="63" y="0"/>
                </a:cxn>
                <a:cxn ang="0">
                  <a:pos x="85" y="0"/>
                </a:cxn>
                <a:cxn ang="0">
                  <a:pos x="85" y="19"/>
                </a:cxn>
                <a:cxn ang="0">
                  <a:pos x="208" y="19"/>
                </a:cxn>
                <a:cxn ang="0">
                  <a:pos x="208" y="19"/>
                </a:cxn>
                <a:cxn ang="0">
                  <a:pos x="208" y="22"/>
                </a:cxn>
                <a:cxn ang="0">
                  <a:pos x="208" y="25"/>
                </a:cxn>
                <a:cxn ang="0">
                  <a:pos x="208" y="28"/>
                </a:cxn>
                <a:cxn ang="0">
                  <a:pos x="211" y="31"/>
                </a:cxn>
                <a:cxn ang="0">
                  <a:pos x="208" y="34"/>
                </a:cxn>
                <a:cxn ang="0">
                  <a:pos x="208" y="38"/>
                </a:cxn>
                <a:cxn ang="0">
                  <a:pos x="208" y="44"/>
                </a:cxn>
                <a:cxn ang="0">
                  <a:pos x="205" y="47"/>
                </a:cxn>
                <a:cxn ang="0">
                  <a:pos x="205" y="50"/>
                </a:cxn>
                <a:cxn ang="0">
                  <a:pos x="202" y="53"/>
                </a:cxn>
                <a:cxn ang="0">
                  <a:pos x="85" y="53"/>
                </a:cxn>
                <a:cxn ang="0">
                  <a:pos x="85" y="75"/>
                </a:cxn>
                <a:cxn ang="0">
                  <a:pos x="63" y="75"/>
                </a:cxn>
                <a:cxn ang="0">
                  <a:pos x="63" y="53"/>
                </a:cxn>
                <a:cxn ang="0">
                  <a:pos x="54" y="53"/>
                </a:cxn>
                <a:cxn ang="0">
                  <a:pos x="54" y="75"/>
                </a:cxn>
                <a:cxn ang="0">
                  <a:pos x="28" y="75"/>
                </a:cxn>
                <a:cxn ang="0">
                  <a:pos x="28" y="53"/>
                </a:cxn>
                <a:cxn ang="0">
                  <a:pos x="0" y="53"/>
                </a:cxn>
                <a:cxn ang="0">
                  <a:pos x="0" y="19"/>
                </a:cxn>
              </a:cxnLst>
              <a:pathLst>
                <a:path w="211" h="75">
                  <a:moveTo>
                    <a:pt x="0" y="19"/>
                  </a:moveTo>
                  <a:lnTo>
                    <a:pt x="28" y="19"/>
                  </a:lnTo>
                  <a:lnTo>
                    <a:pt x="28" y="0"/>
                  </a:lnTo>
                  <a:lnTo>
                    <a:pt x="54" y="0"/>
                  </a:lnTo>
                  <a:lnTo>
                    <a:pt x="54" y="19"/>
                  </a:lnTo>
                  <a:lnTo>
                    <a:pt x="63" y="19"/>
                  </a:lnTo>
                  <a:lnTo>
                    <a:pt x="63" y="0"/>
                  </a:lnTo>
                  <a:lnTo>
                    <a:pt x="85" y="0"/>
                  </a:lnTo>
                  <a:lnTo>
                    <a:pt x="85" y="19"/>
                  </a:lnTo>
                  <a:lnTo>
                    <a:pt x="208" y="19"/>
                  </a:lnTo>
                  <a:lnTo>
                    <a:pt x="208" y="19"/>
                  </a:lnTo>
                  <a:lnTo>
                    <a:pt x="208" y="22"/>
                  </a:lnTo>
                  <a:lnTo>
                    <a:pt x="208" y="25"/>
                  </a:lnTo>
                  <a:lnTo>
                    <a:pt x="208" y="28"/>
                  </a:lnTo>
                  <a:lnTo>
                    <a:pt x="211" y="31"/>
                  </a:lnTo>
                  <a:lnTo>
                    <a:pt x="208" y="34"/>
                  </a:lnTo>
                  <a:lnTo>
                    <a:pt x="208" y="38"/>
                  </a:lnTo>
                  <a:lnTo>
                    <a:pt x="208" y="44"/>
                  </a:lnTo>
                  <a:lnTo>
                    <a:pt x="205" y="47"/>
                  </a:lnTo>
                  <a:lnTo>
                    <a:pt x="205" y="50"/>
                  </a:lnTo>
                  <a:lnTo>
                    <a:pt x="202" y="53"/>
                  </a:lnTo>
                  <a:lnTo>
                    <a:pt x="85" y="53"/>
                  </a:lnTo>
                  <a:lnTo>
                    <a:pt x="85" y="75"/>
                  </a:lnTo>
                  <a:lnTo>
                    <a:pt x="63" y="75"/>
                  </a:lnTo>
                  <a:lnTo>
                    <a:pt x="63" y="53"/>
                  </a:lnTo>
                  <a:lnTo>
                    <a:pt x="54" y="53"/>
                  </a:lnTo>
                  <a:lnTo>
                    <a:pt x="54" y="75"/>
                  </a:lnTo>
                  <a:lnTo>
                    <a:pt x="28" y="75"/>
                  </a:lnTo>
                  <a:lnTo>
                    <a:pt x="28" y="53"/>
                  </a:lnTo>
                  <a:lnTo>
                    <a:pt x="0" y="53"/>
                  </a:lnTo>
                  <a:lnTo>
                    <a:pt x="0" y="19"/>
                  </a:lnTo>
                  <a:close/>
                </a:path>
              </a:pathLst>
            </a:custGeom>
            <a:solidFill>
              <a:srgbClr val="FF0000">
                <a:alpha val="100000"/>
              </a:srgbClr>
            </a:solidFill>
            <a:ln w="9525">
              <a:noFill/>
            </a:ln>
          </p:spPr>
          <p:txBody>
            <a:bodyPr/>
            <a:p>
              <a:endParaRPr lang="zh-CN" altLang="en-US"/>
            </a:p>
          </p:txBody>
        </p:sp>
        <p:sp>
          <p:nvSpPr>
            <p:cNvPr id="115765" name="Freeform 98"/>
            <p:cNvSpPr/>
            <p:nvPr/>
          </p:nvSpPr>
          <p:spPr>
            <a:xfrm>
              <a:off x="2686" y="3365"/>
              <a:ext cx="211" cy="75"/>
            </a:xfrm>
            <a:custGeom>
              <a:avLst/>
              <a:gdLst/>
              <a:ahLst/>
              <a:cxnLst>
                <a:cxn ang="0">
                  <a:pos x="0" y="19"/>
                </a:cxn>
                <a:cxn ang="0">
                  <a:pos x="28" y="19"/>
                </a:cxn>
                <a:cxn ang="0">
                  <a:pos x="28" y="0"/>
                </a:cxn>
                <a:cxn ang="0">
                  <a:pos x="54" y="0"/>
                </a:cxn>
                <a:cxn ang="0">
                  <a:pos x="54" y="19"/>
                </a:cxn>
                <a:cxn ang="0">
                  <a:pos x="63" y="19"/>
                </a:cxn>
                <a:cxn ang="0">
                  <a:pos x="63" y="0"/>
                </a:cxn>
                <a:cxn ang="0">
                  <a:pos x="85" y="0"/>
                </a:cxn>
                <a:cxn ang="0">
                  <a:pos x="85" y="19"/>
                </a:cxn>
                <a:cxn ang="0">
                  <a:pos x="208" y="19"/>
                </a:cxn>
                <a:cxn ang="0">
                  <a:pos x="208" y="22"/>
                </a:cxn>
                <a:cxn ang="0">
                  <a:pos x="208" y="25"/>
                </a:cxn>
                <a:cxn ang="0">
                  <a:pos x="208" y="28"/>
                </a:cxn>
                <a:cxn ang="0">
                  <a:pos x="211" y="31"/>
                </a:cxn>
                <a:cxn ang="0">
                  <a:pos x="208" y="34"/>
                </a:cxn>
                <a:cxn ang="0">
                  <a:pos x="208" y="38"/>
                </a:cxn>
                <a:cxn ang="0">
                  <a:pos x="208" y="44"/>
                </a:cxn>
                <a:cxn ang="0">
                  <a:pos x="205" y="47"/>
                </a:cxn>
                <a:cxn ang="0">
                  <a:pos x="205" y="50"/>
                </a:cxn>
                <a:cxn ang="0">
                  <a:pos x="202" y="53"/>
                </a:cxn>
                <a:cxn ang="0">
                  <a:pos x="85" y="53"/>
                </a:cxn>
                <a:cxn ang="0">
                  <a:pos x="85" y="75"/>
                </a:cxn>
                <a:cxn ang="0">
                  <a:pos x="63" y="75"/>
                </a:cxn>
                <a:cxn ang="0">
                  <a:pos x="63" y="53"/>
                </a:cxn>
                <a:cxn ang="0">
                  <a:pos x="54" y="53"/>
                </a:cxn>
                <a:cxn ang="0">
                  <a:pos x="54" y="75"/>
                </a:cxn>
                <a:cxn ang="0">
                  <a:pos x="28" y="75"/>
                </a:cxn>
                <a:cxn ang="0">
                  <a:pos x="28" y="53"/>
                </a:cxn>
                <a:cxn ang="0">
                  <a:pos x="0" y="53"/>
                </a:cxn>
                <a:cxn ang="0">
                  <a:pos x="0" y="19"/>
                </a:cxn>
              </a:cxnLst>
              <a:pathLst>
                <a:path w="211" h="75">
                  <a:moveTo>
                    <a:pt x="0" y="19"/>
                  </a:moveTo>
                  <a:lnTo>
                    <a:pt x="28" y="19"/>
                  </a:lnTo>
                  <a:lnTo>
                    <a:pt x="28" y="0"/>
                  </a:lnTo>
                  <a:lnTo>
                    <a:pt x="54" y="0"/>
                  </a:lnTo>
                  <a:lnTo>
                    <a:pt x="54" y="19"/>
                  </a:lnTo>
                  <a:lnTo>
                    <a:pt x="63" y="19"/>
                  </a:lnTo>
                  <a:lnTo>
                    <a:pt x="63" y="0"/>
                  </a:lnTo>
                  <a:lnTo>
                    <a:pt x="85" y="0"/>
                  </a:lnTo>
                  <a:lnTo>
                    <a:pt x="85" y="19"/>
                  </a:lnTo>
                  <a:lnTo>
                    <a:pt x="208" y="19"/>
                  </a:lnTo>
                  <a:lnTo>
                    <a:pt x="208" y="22"/>
                  </a:lnTo>
                  <a:lnTo>
                    <a:pt x="208" y="25"/>
                  </a:lnTo>
                  <a:lnTo>
                    <a:pt x="208" y="28"/>
                  </a:lnTo>
                  <a:lnTo>
                    <a:pt x="211" y="31"/>
                  </a:lnTo>
                  <a:lnTo>
                    <a:pt x="208" y="34"/>
                  </a:lnTo>
                  <a:lnTo>
                    <a:pt x="208" y="38"/>
                  </a:lnTo>
                  <a:lnTo>
                    <a:pt x="208" y="44"/>
                  </a:lnTo>
                  <a:lnTo>
                    <a:pt x="205" y="47"/>
                  </a:lnTo>
                  <a:lnTo>
                    <a:pt x="205" y="50"/>
                  </a:lnTo>
                  <a:lnTo>
                    <a:pt x="202" y="53"/>
                  </a:lnTo>
                  <a:lnTo>
                    <a:pt x="85" y="53"/>
                  </a:lnTo>
                  <a:lnTo>
                    <a:pt x="85" y="75"/>
                  </a:lnTo>
                  <a:lnTo>
                    <a:pt x="63" y="75"/>
                  </a:lnTo>
                  <a:lnTo>
                    <a:pt x="63" y="53"/>
                  </a:lnTo>
                  <a:lnTo>
                    <a:pt x="54" y="53"/>
                  </a:lnTo>
                  <a:lnTo>
                    <a:pt x="54" y="75"/>
                  </a:lnTo>
                  <a:lnTo>
                    <a:pt x="28" y="75"/>
                  </a:lnTo>
                  <a:lnTo>
                    <a:pt x="28" y="53"/>
                  </a:lnTo>
                  <a:lnTo>
                    <a:pt x="0" y="53"/>
                  </a:lnTo>
                  <a:lnTo>
                    <a:pt x="0" y="19"/>
                  </a:lnTo>
                  <a:close/>
                </a:path>
              </a:pathLst>
            </a:custGeom>
            <a:solidFill>
              <a:srgbClr val="FF0000">
                <a:alpha val="100000"/>
              </a:srgbClr>
            </a:solidFill>
            <a:ln w="9525">
              <a:noFill/>
            </a:ln>
          </p:spPr>
          <p:txBody>
            <a:bodyPr/>
            <a:p>
              <a:endParaRPr lang="zh-CN" altLang="en-US"/>
            </a:p>
          </p:txBody>
        </p:sp>
        <p:sp>
          <p:nvSpPr>
            <p:cNvPr id="115766" name="Freeform 99"/>
            <p:cNvSpPr/>
            <p:nvPr/>
          </p:nvSpPr>
          <p:spPr>
            <a:xfrm>
              <a:off x="2686" y="3365"/>
              <a:ext cx="211" cy="75"/>
            </a:xfrm>
            <a:custGeom>
              <a:avLst/>
              <a:gdLst/>
              <a:ahLst/>
              <a:cxnLst>
                <a:cxn ang="0">
                  <a:pos x="0" y="19"/>
                </a:cxn>
                <a:cxn ang="0">
                  <a:pos x="28" y="19"/>
                </a:cxn>
                <a:cxn ang="0">
                  <a:pos x="28" y="0"/>
                </a:cxn>
                <a:cxn ang="0">
                  <a:pos x="54" y="0"/>
                </a:cxn>
                <a:cxn ang="0">
                  <a:pos x="54" y="19"/>
                </a:cxn>
                <a:cxn ang="0">
                  <a:pos x="63" y="19"/>
                </a:cxn>
                <a:cxn ang="0">
                  <a:pos x="63" y="0"/>
                </a:cxn>
                <a:cxn ang="0">
                  <a:pos x="85" y="0"/>
                </a:cxn>
                <a:cxn ang="0">
                  <a:pos x="85" y="19"/>
                </a:cxn>
                <a:cxn ang="0">
                  <a:pos x="208" y="19"/>
                </a:cxn>
                <a:cxn ang="0">
                  <a:pos x="208" y="22"/>
                </a:cxn>
                <a:cxn ang="0">
                  <a:pos x="208" y="25"/>
                </a:cxn>
                <a:cxn ang="0">
                  <a:pos x="208" y="28"/>
                </a:cxn>
                <a:cxn ang="0">
                  <a:pos x="211" y="31"/>
                </a:cxn>
                <a:cxn ang="0">
                  <a:pos x="208" y="34"/>
                </a:cxn>
                <a:cxn ang="0">
                  <a:pos x="208" y="38"/>
                </a:cxn>
                <a:cxn ang="0">
                  <a:pos x="208" y="44"/>
                </a:cxn>
                <a:cxn ang="0">
                  <a:pos x="205" y="47"/>
                </a:cxn>
                <a:cxn ang="0">
                  <a:pos x="205" y="50"/>
                </a:cxn>
                <a:cxn ang="0">
                  <a:pos x="202" y="53"/>
                </a:cxn>
                <a:cxn ang="0">
                  <a:pos x="85" y="53"/>
                </a:cxn>
                <a:cxn ang="0">
                  <a:pos x="85" y="75"/>
                </a:cxn>
                <a:cxn ang="0">
                  <a:pos x="63" y="75"/>
                </a:cxn>
                <a:cxn ang="0">
                  <a:pos x="63" y="53"/>
                </a:cxn>
                <a:cxn ang="0">
                  <a:pos x="54" y="53"/>
                </a:cxn>
                <a:cxn ang="0">
                  <a:pos x="54" y="75"/>
                </a:cxn>
                <a:cxn ang="0">
                  <a:pos x="28" y="75"/>
                </a:cxn>
                <a:cxn ang="0">
                  <a:pos x="28" y="53"/>
                </a:cxn>
                <a:cxn ang="0">
                  <a:pos x="0" y="53"/>
                </a:cxn>
              </a:cxnLst>
              <a:pathLst>
                <a:path w="211" h="75">
                  <a:moveTo>
                    <a:pt x="0" y="19"/>
                  </a:moveTo>
                  <a:lnTo>
                    <a:pt x="28" y="19"/>
                  </a:lnTo>
                  <a:lnTo>
                    <a:pt x="28" y="0"/>
                  </a:lnTo>
                  <a:lnTo>
                    <a:pt x="54" y="0"/>
                  </a:lnTo>
                  <a:lnTo>
                    <a:pt x="54" y="19"/>
                  </a:lnTo>
                  <a:lnTo>
                    <a:pt x="63" y="19"/>
                  </a:lnTo>
                  <a:lnTo>
                    <a:pt x="63" y="0"/>
                  </a:lnTo>
                  <a:lnTo>
                    <a:pt x="85" y="0"/>
                  </a:lnTo>
                  <a:lnTo>
                    <a:pt x="85" y="19"/>
                  </a:lnTo>
                  <a:lnTo>
                    <a:pt x="208" y="19"/>
                  </a:lnTo>
                  <a:lnTo>
                    <a:pt x="208" y="22"/>
                  </a:lnTo>
                  <a:lnTo>
                    <a:pt x="208" y="25"/>
                  </a:lnTo>
                  <a:lnTo>
                    <a:pt x="208" y="28"/>
                  </a:lnTo>
                  <a:lnTo>
                    <a:pt x="211" y="31"/>
                  </a:lnTo>
                  <a:lnTo>
                    <a:pt x="208" y="34"/>
                  </a:lnTo>
                  <a:lnTo>
                    <a:pt x="208" y="38"/>
                  </a:lnTo>
                  <a:lnTo>
                    <a:pt x="208" y="44"/>
                  </a:lnTo>
                  <a:lnTo>
                    <a:pt x="205" y="47"/>
                  </a:lnTo>
                  <a:lnTo>
                    <a:pt x="205" y="50"/>
                  </a:lnTo>
                  <a:lnTo>
                    <a:pt x="202" y="53"/>
                  </a:lnTo>
                  <a:lnTo>
                    <a:pt x="85" y="53"/>
                  </a:lnTo>
                  <a:lnTo>
                    <a:pt x="85" y="75"/>
                  </a:lnTo>
                  <a:lnTo>
                    <a:pt x="63" y="75"/>
                  </a:lnTo>
                  <a:lnTo>
                    <a:pt x="63" y="53"/>
                  </a:lnTo>
                  <a:lnTo>
                    <a:pt x="54" y="53"/>
                  </a:lnTo>
                  <a:lnTo>
                    <a:pt x="54" y="75"/>
                  </a:lnTo>
                  <a:lnTo>
                    <a:pt x="28" y="75"/>
                  </a:lnTo>
                  <a:lnTo>
                    <a:pt x="28" y="53"/>
                  </a:lnTo>
                  <a:lnTo>
                    <a:pt x="0" y="53"/>
                  </a:lnTo>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67" name="Line 100"/>
            <p:cNvSpPr/>
            <p:nvPr/>
          </p:nvSpPr>
          <p:spPr>
            <a:xfrm>
              <a:off x="2689" y="3390"/>
              <a:ext cx="202" cy="1"/>
            </a:xfrm>
            <a:prstGeom prst="line">
              <a:avLst/>
            </a:prstGeom>
            <a:ln w="4763" cap="flat" cmpd="sng">
              <a:solidFill>
                <a:srgbClr val="DBDBCE"/>
              </a:solidFill>
              <a:prstDash val="solid"/>
              <a:headEnd type="none" w="med" len="med"/>
              <a:tailEnd type="none" w="med" len="med"/>
            </a:ln>
          </p:spPr>
        </p:sp>
        <p:sp>
          <p:nvSpPr>
            <p:cNvPr id="115768" name="Line 101"/>
            <p:cNvSpPr/>
            <p:nvPr/>
          </p:nvSpPr>
          <p:spPr>
            <a:xfrm>
              <a:off x="2755" y="3371"/>
              <a:ext cx="1" cy="19"/>
            </a:xfrm>
            <a:prstGeom prst="line">
              <a:avLst/>
            </a:prstGeom>
            <a:ln w="4763" cap="flat" cmpd="sng">
              <a:solidFill>
                <a:srgbClr val="DBDBCE"/>
              </a:solidFill>
              <a:prstDash val="solid"/>
              <a:headEnd type="none" w="med" len="med"/>
              <a:tailEnd type="none" w="med" len="med"/>
            </a:ln>
          </p:spPr>
        </p:sp>
        <p:sp>
          <p:nvSpPr>
            <p:cNvPr id="115769" name="Line 102"/>
            <p:cNvSpPr/>
            <p:nvPr/>
          </p:nvSpPr>
          <p:spPr>
            <a:xfrm>
              <a:off x="2755" y="3418"/>
              <a:ext cx="1" cy="19"/>
            </a:xfrm>
            <a:prstGeom prst="line">
              <a:avLst/>
            </a:prstGeom>
            <a:ln w="4763" cap="flat" cmpd="sng">
              <a:solidFill>
                <a:srgbClr val="DBDBCE"/>
              </a:solidFill>
              <a:prstDash val="solid"/>
              <a:headEnd type="none" w="med" len="med"/>
              <a:tailEnd type="none" w="med" len="med"/>
            </a:ln>
          </p:spPr>
        </p:sp>
        <p:sp>
          <p:nvSpPr>
            <p:cNvPr id="115770" name="Line 103"/>
            <p:cNvSpPr/>
            <p:nvPr/>
          </p:nvSpPr>
          <p:spPr>
            <a:xfrm>
              <a:off x="2686" y="3412"/>
              <a:ext cx="199" cy="1"/>
            </a:xfrm>
            <a:prstGeom prst="line">
              <a:avLst/>
            </a:prstGeom>
            <a:ln w="4763" cap="flat" cmpd="sng">
              <a:solidFill>
                <a:srgbClr val="626248"/>
              </a:solidFill>
              <a:prstDash val="solid"/>
              <a:headEnd type="none" w="med" len="med"/>
              <a:tailEnd type="none" w="med" len="med"/>
            </a:ln>
          </p:spPr>
        </p:sp>
        <p:sp>
          <p:nvSpPr>
            <p:cNvPr id="115771" name="Rectangle 104"/>
            <p:cNvSpPr/>
            <p:nvPr/>
          </p:nvSpPr>
          <p:spPr>
            <a:xfrm>
              <a:off x="2620" y="3387"/>
              <a:ext cx="66" cy="35"/>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772" name="Rectangle 105"/>
            <p:cNvSpPr/>
            <p:nvPr/>
          </p:nvSpPr>
          <p:spPr>
            <a:xfrm>
              <a:off x="2620" y="3387"/>
              <a:ext cx="66" cy="35"/>
            </a:xfrm>
            <a:prstGeom prst="rect">
              <a:avLst/>
            </a:prstGeom>
            <a:solidFill>
              <a:srgbClr val="FF0000"/>
            </a:solidFill>
            <a:ln w="9525">
              <a:noFill/>
            </a:ln>
          </p:spPr>
          <p:txBody>
            <a:bodyPr/>
            <a:p>
              <a:pPr>
                <a:buNone/>
              </a:pPr>
              <a:endParaRPr lang="zh-CN" altLang="en-US" dirty="0">
                <a:latin typeface="Garamond" panose="02020404030301010803" pitchFamily="18" charset="0"/>
              </a:endParaRPr>
            </a:p>
          </p:txBody>
        </p:sp>
        <p:sp>
          <p:nvSpPr>
            <p:cNvPr id="115773" name="Freeform 106"/>
            <p:cNvSpPr/>
            <p:nvPr/>
          </p:nvSpPr>
          <p:spPr>
            <a:xfrm>
              <a:off x="2626" y="3412"/>
              <a:ext cx="32" cy="19"/>
            </a:xfrm>
            <a:custGeom>
              <a:avLst/>
              <a:gdLst/>
              <a:ahLst/>
              <a:cxnLst>
                <a:cxn ang="0">
                  <a:pos x="0" y="19"/>
                </a:cxn>
                <a:cxn ang="0">
                  <a:pos x="13" y="13"/>
                </a:cxn>
                <a:cxn ang="0">
                  <a:pos x="22" y="10"/>
                </a:cxn>
                <a:cxn ang="0">
                  <a:pos x="32" y="13"/>
                </a:cxn>
                <a:cxn ang="0">
                  <a:pos x="19" y="0"/>
                </a:cxn>
                <a:cxn ang="0">
                  <a:pos x="0" y="3"/>
                </a:cxn>
                <a:cxn ang="0">
                  <a:pos x="0" y="19"/>
                </a:cxn>
              </a:cxnLst>
              <a:pathLst>
                <a:path w="32" h="19">
                  <a:moveTo>
                    <a:pt x="0" y="19"/>
                  </a:moveTo>
                  <a:lnTo>
                    <a:pt x="13" y="13"/>
                  </a:lnTo>
                  <a:lnTo>
                    <a:pt x="22" y="10"/>
                  </a:lnTo>
                  <a:lnTo>
                    <a:pt x="32" y="13"/>
                  </a:lnTo>
                  <a:lnTo>
                    <a:pt x="19" y="0"/>
                  </a:lnTo>
                  <a:lnTo>
                    <a:pt x="0" y="3"/>
                  </a:lnTo>
                  <a:lnTo>
                    <a:pt x="0" y="19"/>
                  </a:lnTo>
                  <a:close/>
                </a:path>
              </a:pathLst>
            </a:custGeom>
            <a:solidFill>
              <a:srgbClr val="FF0000">
                <a:alpha val="100000"/>
              </a:srgbClr>
            </a:solidFill>
            <a:ln w="9525">
              <a:noFill/>
            </a:ln>
          </p:spPr>
          <p:txBody>
            <a:bodyPr/>
            <a:p>
              <a:endParaRPr lang="zh-CN" altLang="en-US"/>
            </a:p>
          </p:txBody>
        </p:sp>
        <p:sp>
          <p:nvSpPr>
            <p:cNvPr id="115774" name="Freeform 107"/>
            <p:cNvSpPr/>
            <p:nvPr/>
          </p:nvSpPr>
          <p:spPr>
            <a:xfrm>
              <a:off x="2626" y="3412"/>
              <a:ext cx="32" cy="19"/>
            </a:xfrm>
            <a:custGeom>
              <a:avLst/>
              <a:gdLst/>
              <a:ahLst/>
              <a:cxnLst>
                <a:cxn ang="0">
                  <a:pos x="0" y="19"/>
                </a:cxn>
                <a:cxn ang="0">
                  <a:pos x="13" y="13"/>
                </a:cxn>
                <a:cxn ang="0">
                  <a:pos x="22" y="10"/>
                </a:cxn>
                <a:cxn ang="0">
                  <a:pos x="32" y="13"/>
                </a:cxn>
                <a:cxn ang="0">
                  <a:pos x="19" y="0"/>
                </a:cxn>
                <a:cxn ang="0">
                  <a:pos x="0" y="3"/>
                </a:cxn>
                <a:cxn ang="0">
                  <a:pos x="0" y="19"/>
                </a:cxn>
              </a:cxnLst>
              <a:pathLst>
                <a:path w="32" h="19">
                  <a:moveTo>
                    <a:pt x="0" y="19"/>
                  </a:moveTo>
                  <a:lnTo>
                    <a:pt x="13" y="13"/>
                  </a:lnTo>
                  <a:lnTo>
                    <a:pt x="22" y="10"/>
                  </a:lnTo>
                  <a:lnTo>
                    <a:pt x="32" y="13"/>
                  </a:lnTo>
                  <a:lnTo>
                    <a:pt x="19" y="0"/>
                  </a:lnTo>
                  <a:lnTo>
                    <a:pt x="0" y="3"/>
                  </a:lnTo>
                  <a:lnTo>
                    <a:pt x="0" y="19"/>
                  </a:lnTo>
                  <a:close/>
                </a:path>
              </a:pathLst>
            </a:custGeom>
            <a:solidFill>
              <a:srgbClr val="FF0000">
                <a:alpha val="100000"/>
              </a:srgbClr>
            </a:solidFill>
            <a:ln w="9525">
              <a:noFill/>
            </a:ln>
          </p:spPr>
          <p:txBody>
            <a:bodyPr/>
            <a:p>
              <a:endParaRPr lang="zh-CN" altLang="en-US"/>
            </a:p>
          </p:txBody>
        </p:sp>
        <p:sp>
          <p:nvSpPr>
            <p:cNvPr id="115775" name="Freeform 108"/>
            <p:cNvSpPr/>
            <p:nvPr/>
          </p:nvSpPr>
          <p:spPr>
            <a:xfrm>
              <a:off x="2626" y="3377"/>
              <a:ext cx="32" cy="19"/>
            </a:xfrm>
            <a:custGeom>
              <a:avLst/>
              <a:gdLst/>
              <a:ahLst/>
              <a:cxnLst>
                <a:cxn ang="0">
                  <a:pos x="0" y="0"/>
                </a:cxn>
                <a:cxn ang="0">
                  <a:pos x="13" y="7"/>
                </a:cxn>
                <a:cxn ang="0">
                  <a:pos x="22" y="7"/>
                </a:cxn>
                <a:cxn ang="0">
                  <a:pos x="32" y="7"/>
                </a:cxn>
                <a:cxn ang="0">
                  <a:pos x="19" y="19"/>
                </a:cxn>
                <a:cxn ang="0">
                  <a:pos x="0" y="13"/>
                </a:cxn>
                <a:cxn ang="0">
                  <a:pos x="0" y="0"/>
                </a:cxn>
              </a:cxnLst>
              <a:pathLst>
                <a:path w="32" h="19">
                  <a:moveTo>
                    <a:pt x="0" y="0"/>
                  </a:moveTo>
                  <a:lnTo>
                    <a:pt x="13" y="7"/>
                  </a:lnTo>
                  <a:lnTo>
                    <a:pt x="22" y="7"/>
                  </a:lnTo>
                  <a:lnTo>
                    <a:pt x="32" y="7"/>
                  </a:lnTo>
                  <a:lnTo>
                    <a:pt x="19" y="19"/>
                  </a:lnTo>
                  <a:lnTo>
                    <a:pt x="0" y="13"/>
                  </a:lnTo>
                  <a:lnTo>
                    <a:pt x="0" y="0"/>
                  </a:lnTo>
                  <a:close/>
                </a:path>
              </a:pathLst>
            </a:custGeom>
            <a:solidFill>
              <a:srgbClr val="FF0000">
                <a:alpha val="100000"/>
              </a:srgbClr>
            </a:solidFill>
            <a:ln w="9525">
              <a:noFill/>
            </a:ln>
          </p:spPr>
          <p:txBody>
            <a:bodyPr/>
            <a:p>
              <a:endParaRPr lang="zh-CN" altLang="en-US"/>
            </a:p>
          </p:txBody>
        </p:sp>
        <p:sp>
          <p:nvSpPr>
            <p:cNvPr id="115776" name="Freeform 109"/>
            <p:cNvSpPr/>
            <p:nvPr/>
          </p:nvSpPr>
          <p:spPr>
            <a:xfrm>
              <a:off x="2626" y="3377"/>
              <a:ext cx="32" cy="19"/>
            </a:xfrm>
            <a:custGeom>
              <a:avLst/>
              <a:gdLst/>
              <a:ahLst/>
              <a:cxnLst>
                <a:cxn ang="0">
                  <a:pos x="0" y="0"/>
                </a:cxn>
                <a:cxn ang="0">
                  <a:pos x="13" y="7"/>
                </a:cxn>
                <a:cxn ang="0">
                  <a:pos x="22" y="7"/>
                </a:cxn>
                <a:cxn ang="0">
                  <a:pos x="32" y="7"/>
                </a:cxn>
                <a:cxn ang="0">
                  <a:pos x="19" y="19"/>
                </a:cxn>
                <a:cxn ang="0">
                  <a:pos x="0" y="13"/>
                </a:cxn>
                <a:cxn ang="0">
                  <a:pos x="0" y="0"/>
                </a:cxn>
              </a:cxnLst>
              <a:pathLst>
                <a:path w="32" h="19">
                  <a:moveTo>
                    <a:pt x="0" y="0"/>
                  </a:moveTo>
                  <a:lnTo>
                    <a:pt x="13" y="7"/>
                  </a:lnTo>
                  <a:lnTo>
                    <a:pt x="22" y="7"/>
                  </a:lnTo>
                  <a:lnTo>
                    <a:pt x="32" y="7"/>
                  </a:lnTo>
                  <a:lnTo>
                    <a:pt x="19" y="19"/>
                  </a:lnTo>
                  <a:lnTo>
                    <a:pt x="0" y="13"/>
                  </a:lnTo>
                  <a:lnTo>
                    <a:pt x="0" y="0"/>
                  </a:lnTo>
                  <a:close/>
                </a:path>
              </a:pathLst>
            </a:custGeom>
            <a:solidFill>
              <a:srgbClr val="FF0000">
                <a:alpha val="100000"/>
              </a:srgbClr>
            </a:solidFill>
            <a:ln w="9525">
              <a:noFill/>
            </a:ln>
          </p:spPr>
          <p:txBody>
            <a:bodyPr/>
            <a:p>
              <a:endParaRPr lang="zh-CN" altLang="en-US"/>
            </a:p>
          </p:txBody>
        </p:sp>
        <p:sp>
          <p:nvSpPr>
            <p:cNvPr id="115777" name="Freeform 110"/>
            <p:cNvSpPr/>
            <p:nvPr/>
          </p:nvSpPr>
          <p:spPr>
            <a:xfrm>
              <a:off x="2594" y="3298"/>
              <a:ext cx="105" cy="98"/>
            </a:xfrm>
            <a:custGeom>
              <a:avLst/>
              <a:gdLst/>
              <a:ahLst/>
              <a:cxnLst>
                <a:cxn ang="0">
                  <a:pos x="4" y="70"/>
                </a:cxn>
                <a:cxn ang="0">
                  <a:pos x="0" y="60"/>
                </a:cxn>
                <a:cxn ang="0">
                  <a:pos x="0" y="54"/>
                </a:cxn>
                <a:cxn ang="0">
                  <a:pos x="0" y="45"/>
                </a:cxn>
                <a:cxn ang="0">
                  <a:pos x="4" y="38"/>
                </a:cxn>
                <a:cxn ang="0">
                  <a:pos x="7" y="32"/>
                </a:cxn>
                <a:cxn ang="0">
                  <a:pos x="10" y="26"/>
                </a:cxn>
                <a:cxn ang="0">
                  <a:pos x="13" y="19"/>
                </a:cxn>
                <a:cxn ang="0">
                  <a:pos x="19" y="13"/>
                </a:cxn>
                <a:cxn ang="0">
                  <a:pos x="26" y="10"/>
                </a:cxn>
                <a:cxn ang="0">
                  <a:pos x="35" y="4"/>
                </a:cxn>
                <a:cxn ang="0">
                  <a:pos x="45" y="4"/>
                </a:cxn>
                <a:cxn ang="0">
                  <a:pos x="54" y="0"/>
                </a:cxn>
                <a:cxn ang="0">
                  <a:pos x="60" y="4"/>
                </a:cxn>
                <a:cxn ang="0">
                  <a:pos x="67" y="4"/>
                </a:cxn>
                <a:cxn ang="0">
                  <a:pos x="73" y="4"/>
                </a:cxn>
                <a:cxn ang="0">
                  <a:pos x="82" y="10"/>
                </a:cxn>
                <a:cxn ang="0">
                  <a:pos x="92" y="19"/>
                </a:cxn>
                <a:cxn ang="0">
                  <a:pos x="98" y="26"/>
                </a:cxn>
                <a:cxn ang="0">
                  <a:pos x="101" y="35"/>
                </a:cxn>
                <a:cxn ang="0">
                  <a:pos x="105" y="48"/>
                </a:cxn>
                <a:cxn ang="0">
                  <a:pos x="105" y="54"/>
                </a:cxn>
                <a:cxn ang="0">
                  <a:pos x="105" y="67"/>
                </a:cxn>
                <a:cxn ang="0">
                  <a:pos x="101" y="76"/>
                </a:cxn>
                <a:cxn ang="0">
                  <a:pos x="95" y="82"/>
                </a:cxn>
                <a:cxn ang="0">
                  <a:pos x="92" y="89"/>
                </a:cxn>
                <a:cxn ang="0">
                  <a:pos x="64" y="98"/>
                </a:cxn>
                <a:cxn ang="0">
                  <a:pos x="54" y="86"/>
                </a:cxn>
                <a:cxn ang="0">
                  <a:pos x="64" y="86"/>
                </a:cxn>
                <a:cxn ang="0">
                  <a:pos x="73" y="79"/>
                </a:cxn>
                <a:cxn ang="0">
                  <a:pos x="79" y="73"/>
                </a:cxn>
                <a:cxn ang="0">
                  <a:pos x="82" y="64"/>
                </a:cxn>
                <a:cxn ang="0">
                  <a:pos x="86" y="51"/>
                </a:cxn>
                <a:cxn ang="0">
                  <a:pos x="82" y="41"/>
                </a:cxn>
                <a:cxn ang="0">
                  <a:pos x="76" y="32"/>
                </a:cxn>
                <a:cxn ang="0">
                  <a:pos x="70" y="26"/>
                </a:cxn>
                <a:cxn ang="0">
                  <a:pos x="60" y="23"/>
                </a:cxn>
                <a:cxn ang="0">
                  <a:pos x="48" y="23"/>
                </a:cxn>
                <a:cxn ang="0">
                  <a:pos x="41" y="23"/>
                </a:cxn>
                <a:cxn ang="0">
                  <a:pos x="35" y="26"/>
                </a:cxn>
                <a:cxn ang="0">
                  <a:pos x="32" y="29"/>
                </a:cxn>
                <a:cxn ang="0">
                  <a:pos x="26" y="35"/>
                </a:cxn>
                <a:cxn ang="0">
                  <a:pos x="23" y="45"/>
                </a:cxn>
                <a:cxn ang="0">
                  <a:pos x="19" y="54"/>
                </a:cxn>
                <a:cxn ang="0">
                  <a:pos x="23" y="67"/>
                </a:cxn>
                <a:cxn ang="0">
                  <a:pos x="29" y="73"/>
                </a:cxn>
                <a:cxn ang="0">
                  <a:pos x="32" y="79"/>
                </a:cxn>
                <a:cxn ang="0">
                  <a:pos x="41" y="82"/>
                </a:cxn>
                <a:cxn ang="0">
                  <a:pos x="45" y="92"/>
                </a:cxn>
                <a:cxn ang="0">
                  <a:pos x="19" y="89"/>
                </a:cxn>
                <a:cxn ang="0">
                  <a:pos x="4" y="73"/>
                </a:cxn>
                <a:cxn ang="0">
                  <a:pos x="4" y="70"/>
                </a:cxn>
              </a:cxnLst>
              <a:pathLst>
                <a:path w="105" h="98">
                  <a:moveTo>
                    <a:pt x="4" y="70"/>
                  </a:moveTo>
                  <a:lnTo>
                    <a:pt x="0" y="60"/>
                  </a:lnTo>
                  <a:lnTo>
                    <a:pt x="0" y="54"/>
                  </a:lnTo>
                  <a:lnTo>
                    <a:pt x="0" y="45"/>
                  </a:lnTo>
                  <a:lnTo>
                    <a:pt x="4" y="38"/>
                  </a:lnTo>
                  <a:lnTo>
                    <a:pt x="7" y="32"/>
                  </a:lnTo>
                  <a:lnTo>
                    <a:pt x="10" y="26"/>
                  </a:lnTo>
                  <a:lnTo>
                    <a:pt x="13" y="19"/>
                  </a:lnTo>
                  <a:lnTo>
                    <a:pt x="19" y="13"/>
                  </a:lnTo>
                  <a:lnTo>
                    <a:pt x="26" y="10"/>
                  </a:lnTo>
                  <a:lnTo>
                    <a:pt x="35" y="4"/>
                  </a:lnTo>
                  <a:lnTo>
                    <a:pt x="45" y="4"/>
                  </a:lnTo>
                  <a:lnTo>
                    <a:pt x="54" y="0"/>
                  </a:lnTo>
                  <a:lnTo>
                    <a:pt x="60" y="4"/>
                  </a:lnTo>
                  <a:lnTo>
                    <a:pt x="67" y="4"/>
                  </a:lnTo>
                  <a:lnTo>
                    <a:pt x="73" y="4"/>
                  </a:lnTo>
                  <a:lnTo>
                    <a:pt x="82" y="10"/>
                  </a:lnTo>
                  <a:lnTo>
                    <a:pt x="92" y="19"/>
                  </a:lnTo>
                  <a:lnTo>
                    <a:pt x="98" y="26"/>
                  </a:lnTo>
                  <a:lnTo>
                    <a:pt x="101" y="35"/>
                  </a:lnTo>
                  <a:lnTo>
                    <a:pt x="105" y="48"/>
                  </a:lnTo>
                  <a:lnTo>
                    <a:pt x="105" y="54"/>
                  </a:lnTo>
                  <a:lnTo>
                    <a:pt x="105" y="67"/>
                  </a:lnTo>
                  <a:lnTo>
                    <a:pt x="101" y="76"/>
                  </a:lnTo>
                  <a:lnTo>
                    <a:pt x="95" y="82"/>
                  </a:lnTo>
                  <a:lnTo>
                    <a:pt x="92" y="89"/>
                  </a:lnTo>
                  <a:lnTo>
                    <a:pt x="64" y="98"/>
                  </a:lnTo>
                  <a:lnTo>
                    <a:pt x="54" y="86"/>
                  </a:lnTo>
                  <a:lnTo>
                    <a:pt x="64" y="86"/>
                  </a:lnTo>
                  <a:lnTo>
                    <a:pt x="73" y="79"/>
                  </a:lnTo>
                  <a:lnTo>
                    <a:pt x="79" y="73"/>
                  </a:lnTo>
                  <a:lnTo>
                    <a:pt x="82" y="64"/>
                  </a:lnTo>
                  <a:lnTo>
                    <a:pt x="86" y="51"/>
                  </a:lnTo>
                  <a:lnTo>
                    <a:pt x="82" y="41"/>
                  </a:lnTo>
                  <a:lnTo>
                    <a:pt x="76" y="32"/>
                  </a:lnTo>
                  <a:lnTo>
                    <a:pt x="70" y="26"/>
                  </a:lnTo>
                  <a:lnTo>
                    <a:pt x="60" y="23"/>
                  </a:lnTo>
                  <a:lnTo>
                    <a:pt x="48" y="23"/>
                  </a:lnTo>
                  <a:lnTo>
                    <a:pt x="41" y="23"/>
                  </a:lnTo>
                  <a:lnTo>
                    <a:pt x="35" y="26"/>
                  </a:lnTo>
                  <a:lnTo>
                    <a:pt x="32" y="29"/>
                  </a:lnTo>
                  <a:lnTo>
                    <a:pt x="26" y="35"/>
                  </a:lnTo>
                  <a:lnTo>
                    <a:pt x="23" y="45"/>
                  </a:lnTo>
                  <a:lnTo>
                    <a:pt x="19" y="54"/>
                  </a:lnTo>
                  <a:lnTo>
                    <a:pt x="23" y="67"/>
                  </a:lnTo>
                  <a:lnTo>
                    <a:pt x="29" y="73"/>
                  </a:lnTo>
                  <a:lnTo>
                    <a:pt x="32" y="79"/>
                  </a:lnTo>
                  <a:lnTo>
                    <a:pt x="41" y="82"/>
                  </a:lnTo>
                  <a:lnTo>
                    <a:pt x="45" y="92"/>
                  </a:lnTo>
                  <a:lnTo>
                    <a:pt x="19" y="89"/>
                  </a:lnTo>
                  <a:lnTo>
                    <a:pt x="4" y="73"/>
                  </a:lnTo>
                  <a:lnTo>
                    <a:pt x="4" y="70"/>
                  </a:lnTo>
                  <a:close/>
                </a:path>
              </a:pathLst>
            </a:custGeom>
            <a:solidFill>
              <a:srgbClr val="FF0000">
                <a:alpha val="100000"/>
              </a:srgbClr>
            </a:solidFill>
            <a:ln w="9525">
              <a:noFill/>
            </a:ln>
          </p:spPr>
          <p:txBody>
            <a:bodyPr/>
            <a:p>
              <a:endParaRPr lang="zh-CN" altLang="en-US"/>
            </a:p>
          </p:txBody>
        </p:sp>
        <p:sp>
          <p:nvSpPr>
            <p:cNvPr id="115778" name="Freeform 111"/>
            <p:cNvSpPr/>
            <p:nvPr/>
          </p:nvSpPr>
          <p:spPr>
            <a:xfrm>
              <a:off x="2594" y="3298"/>
              <a:ext cx="105" cy="98"/>
            </a:xfrm>
            <a:custGeom>
              <a:avLst/>
              <a:gdLst/>
              <a:ahLst/>
              <a:cxnLst>
                <a:cxn ang="0">
                  <a:pos x="4" y="70"/>
                </a:cxn>
                <a:cxn ang="0">
                  <a:pos x="0" y="60"/>
                </a:cxn>
                <a:cxn ang="0">
                  <a:pos x="0" y="54"/>
                </a:cxn>
                <a:cxn ang="0">
                  <a:pos x="0" y="45"/>
                </a:cxn>
                <a:cxn ang="0">
                  <a:pos x="4" y="38"/>
                </a:cxn>
                <a:cxn ang="0">
                  <a:pos x="7" y="32"/>
                </a:cxn>
                <a:cxn ang="0">
                  <a:pos x="10" y="26"/>
                </a:cxn>
                <a:cxn ang="0">
                  <a:pos x="13" y="19"/>
                </a:cxn>
                <a:cxn ang="0">
                  <a:pos x="19" y="13"/>
                </a:cxn>
                <a:cxn ang="0">
                  <a:pos x="26" y="10"/>
                </a:cxn>
                <a:cxn ang="0">
                  <a:pos x="35" y="4"/>
                </a:cxn>
                <a:cxn ang="0">
                  <a:pos x="45" y="4"/>
                </a:cxn>
                <a:cxn ang="0">
                  <a:pos x="54" y="0"/>
                </a:cxn>
                <a:cxn ang="0">
                  <a:pos x="60" y="4"/>
                </a:cxn>
                <a:cxn ang="0">
                  <a:pos x="67" y="4"/>
                </a:cxn>
                <a:cxn ang="0">
                  <a:pos x="73" y="4"/>
                </a:cxn>
                <a:cxn ang="0">
                  <a:pos x="82" y="10"/>
                </a:cxn>
                <a:cxn ang="0">
                  <a:pos x="92" y="19"/>
                </a:cxn>
                <a:cxn ang="0">
                  <a:pos x="98" y="26"/>
                </a:cxn>
                <a:cxn ang="0">
                  <a:pos x="101" y="35"/>
                </a:cxn>
                <a:cxn ang="0">
                  <a:pos x="105" y="48"/>
                </a:cxn>
                <a:cxn ang="0">
                  <a:pos x="105" y="54"/>
                </a:cxn>
                <a:cxn ang="0">
                  <a:pos x="105" y="67"/>
                </a:cxn>
                <a:cxn ang="0">
                  <a:pos x="101" y="76"/>
                </a:cxn>
                <a:cxn ang="0">
                  <a:pos x="95" y="82"/>
                </a:cxn>
                <a:cxn ang="0">
                  <a:pos x="92" y="89"/>
                </a:cxn>
                <a:cxn ang="0">
                  <a:pos x="64" y="98"/>
                </a:cxn>
                <a:cxn ang="0">
                  <a:pos x="54" y="86"/>
                </a:cxn>
                <a:cxn ang="0">
                  <a:pos x="64" y="86"/>
                </a:cxn>
                <a:cxn ang="0">
                  <a:pos x="73" y="79"/>
                </a:cxn>
                <a:cxn ang="0">
                  <a:pos x="79" y="73"/>
                </a:cxn>
                <a:cxn ang="0">
                  <a:pos x="82" y="64"/>
                </a:cxn>
                <a:cxn ang="0">
                  <a:pos x="86" y="51"/>
                </a:cxn>
                <a:cxn ang="0">
                  <a:pos x="82" y="41"/>
                </a:cxn>
                <a:cxn ang="0">
                  <a:pos x="76" y="32"/>
                </a:cxn>
                <a:cxn ang="0">
                  <a:pos x="70" y="26"/>
                </a:cxn>
                <a:cxn ang="0">
                  <a:pos x="60" y="23"/>
                </a:cxn>
                <a:cxn ang="0">
                  <a:pos x="48" y="23"/>
                </a:cxn>
                <a:cxn ang="0">
                  <a:pos x="41" y="23"/>
                </a:cxn>
                <a:cxn ang="0">
                  <a:pos x="35" y="26"/>
                </a:cxn>
                <a:cxn ang="0">
                  <a:pos x="32" y="29"/>
                </a:cxn>
                <a:cxn ang="0">
                  <a:pos x="26" y="35"/>
                </a:cxn>
                <a:cxn ang="0">
                  <a:pos x="23" y="45"/>
                </a:cxn>
                <a:cxn ang="0">
                  <a:pos x="19" y="54"/>
                </a:cxn>
                <a:cxn ang="0">
                  <a:pos x="23" y="67"/>
                </a:cxn>
                <a:cxn ang="0">
                  <a:pos x="29" y="73"/>
                </a:cxn>
                <a:cxn ang="0">
                  <a:pos x="32" y="79"/>
                </a:cxn>
                <a:cxn ang="0">
                  <a:pos x="41" y="82"/>
                </a:cxn>
                <a:cxn ang="0">
                  <a:pos x="45" y="92"/>
                </a:cxn>
                <a:cxn ang="0">
                  <a:pos x="19" y="89"/>
                </a:cxn>
                <a:cxn ang="0">
                  <a:pos x="4" y="73"/>
                </a:cxn>
                <a:cxn ang="0">
                  <a:pos x="4" y="70"/>
                </a:cxn>
              </a:cxnLst>
              <a:pathLst>
                <a:path w="105" h="98">
                  <a:moveTo>
                    <a:pt x="4" y="70"/>
                  </a:moveTo>
                  <a:lnTo>
                    <a:pt x="0" y="60"/>
                  </a:lnTo>
                  <a:lnTo>
                    <a:pt x="0" y="54"/>
                  </a:lnTo>
                  <a:lnTo>
                    <a:pt x="0" y="45"/>
                  </a:lnTo>
                  <a:lnTo>
                    <a:pt x="4" y="38"/>
                  </a:lnTo>
                  <a:lnTo>
                    <a:pt x="7" y="32"/>
                  </a:lnTo>
                  <a:lnTo>
                    <a:pt x="10" y="26"/>
                  </a:lnTo>
                  <a:lnTo>
                    <a:pt x="13" y="19"/>
                  </a:lnTo>
                  <a:lnTo>
                    <a:pt x="19" y="13"/>
                  </a:lnTo>
                  <a:lnTo>
                    <a:pt x="26" y="10"/>
                  </a:lnTo>
                  <a:lnTo>
                    <a:pt x="35" y="4"/>
                  </a:lnTo>
                  <a:lnTo>
                    <a:pt x="45" y="4"/>
                  </a:lnTo>
                  <a:lnTo>
                    <a:pt x="54" y="0"/>
                  </a:lnTo>
                  <a:lnTo>
                    <a:pt x="60" y="4"/>
                  </a:lnTo>
                  <a:lnTo>
                    <a:pt x="67" y="4"/>
                  </a:lnTo>
                  <a:lnTo>
                    <a:pt x="73" y="4"/>
                  </a:lnTo>
                  <a:lnTo>
                    <a:pt x="82" y="10"/>
                  </a:lnTo>
                  <a:lnTo>
                    <a:pt x="92" y="19"/>
                  </a:lnTo>
                  <a:lnTo>
                    <a:pt x="98" y="26"/>
                  </a:lnTo>
                  <a:lnTo>
                    <a:pt x="101" y="35"/>
                  </a:lnTo>
                  <a:lnTo>
                    <a:pt x="105" y="48"/>
                  </a:lnTo>
                  <a:lnTo>
                    <a:pt x="105" y="54"/>
                  </a:lnTo>
                  <a:lnTo>
                    <a:pt x="105" y="67"/>
                  </a:lnTo>
                  <a:lnTo>
                    <a:pt x="101" y="76"/>
                  </a:lnTo>
                  <a:lnTo>
                    <a:pt x="95" y="82"/>
                  </a:lnTo>
                  <a:lnTo>
                    <a:pt x="92" y="89"/>
                  </a:lnTo>
                  <a:lnTo>
                    <a:pt x="64" y="98"/>
                  </a:lnTo>
                  <a:lnTo>
                    <a:pt x="54" y="86"/>
                  </a:lnTo>
                  <a:lnTo>
                    <a:pt x="64" y="86"/>
                  </a:lnTo>
                  <a:lnTo>
                    <a:pt x="73" y="79"/>
                  </a:lnTo>
                  <a:lnTo>
                    <a:pt x="79" y="73"/>
                  </a:lnTo>
                  <a:lnTo>
                    <a:pt x="82" y="64"/>
                  </a:lnTo>
                  <a:lnTo>
                    <a:pt x="86" y="51"/>
                  </a:lnTo>
                  <a:lnTo>
                    <a:pt x="82" y="41"/>
                  </a:lnTo>
                  <a:lnTo>
                    <a:pt x="76" y="32"/>
                  </a:lnTo>
                  <a:lnTo>
                    <a:pt x="70" y="26"/>
                  </a:lnTo>
                  <a:lnTo>
                    <a:pt x="60" y="23"/>
                  </a:lnTo>
                  <a:lnTo>
                    <a:pt x="48" y="23"/>
                  </a:lnTo>
                  <a:lnTo>
                    <a:pt x="41" y="23"/>
                  </a:lnTo>
                  <a:lnTo>
                    <a:pt x="35" y="26"/>
                  </a:lnTo>
                  <a:lnTo>
                    <a:pt x="32" y="29"/>
                  </a:lnTo>
                  <a:lnTo>
                    <a:pt x="26" y="35"/>
                  </a:lnTo>
                  <a:lnTo>
                    <a:pt x="23" y="45"/>
                  </a:lnTo>
                  <a:lnTo>
                    <a:pt x="19" y="54"/>
                  </a:lnTo>
                  <a:lnTo>
                    <a:pt x="23" y="67"/>
                  </a:lnTo>
                  <a:lnTo>
                    <a:pt x="29" y="73"/>
                  </a:lnTo>
                  <a:lnTo>
                    <a:pt x="32" y="79"/>
                  </a:lnTo>
                  <a:lnTo>
                    <a:pt x="41" y="82"/>
                  </a:lnTo>
                  <a:lnTo>
                    <a:pt x="45" y="92"/>
                  </a:lnTo>
                  <a:lnTo>
                    <a:pt x="19" y="89"/>
                  </a:lnTo>
                  <a:lnTo>
                    <a:pt x="4" y="73"/>
                  </a:lnTo>
                  <a:lnTo>
                    <a:pt x="4" y="70"/>
                  </a:lnTo>
                  <a:close/>
                </a:path>
              </a:pathLst>
            </a:custGeom>
            <a:solidFill>
              <a:srgbClr val="FF0000">
                <a:alpha val="100000"/>
              </a:srgbClr>
            </a:solidFill>
            <a:ln w="4763" cap="flat" cmpd="sng">
              <a:solidFill>
                <a:srgbClr val="93936C">
                  <a:alpha val="100000"/>
                </a:srgbClr>
              </a:solidFill>
              <a:prstDash val="solid"/>
              <a:round/>
              <a:headEnd type="none" w="med" len="med"/>
              <a:tailEnd type="none" w="med" len="med"/>
            </a:ln>
          </p:spPr>
          <p:txBody>
            <a:bodyPr/>
            <a:p>
              <a:endParaRPr lang="zh-CN" altLang="en-US"/>
            </a:p>
          </p:txBody>
        </p:sp>
        <p:sp>
          <p:nvSpPr>
            <p:cNvPr id="115779" name="Freeform 112"/>
            <p:cNvSpPr/>
            <p:nvPr/>
          </p:nvSpPr>
          <p:spPr>
            <a:xfrm>
              <a:off x="2550" y="3365"/>
              <a:ext cx="76" cy="75"/>
            </a:xfrm>
            <a:custGeom>
              <a:avLst/>
              <a:gdLst/>
              <a:ahLst/>
              <a:cxnLst>
                <a:cxn ang="0">
                  <a:pos x="48" y="0"/>
                </a:cxn>
                <a:cxn ang="0">
                  <a:pos x="38" y="0"/>
                </a:cxn>
                <a:cxn ang="0">
                  <a:pos x="32" y="0"/>
                </a:cxn>
                <a:cxn ang="0">
                  <a:pos x="22" y="3"/>
                </a:cxn>
                <a:cxn ang="0">
                  <a:pos x="16" y="6"/>
                </a:cxn>
                <a:cxn ang="0">
                  <a:pos x="10" y="12"/>
                </a:cxn>
                <a:cxn ang="0">
                  <a:pos x="3" y="19"/>
                </a:cxn>
                <a:cxn ang="0">
                  <a:pos x="3" y="25"/>
                </a:cxn>
                <a:cxn ang="0">
                  <a:pos x="0" y="31"/>
                </a:cxn>
                <a:cxn ang="0">
                  <a:pos x="0" y="38"/>
                </a:cxn>
                <a:cxn ang="0">
                  <a:pos x="0" y="47"/>
                </a:cxn>
                <a:cxn ang="0">
                  <a:pos x="0" y="50"/>
                </a:cxn>
                <a:cxn ang="0">
                  <a:pos x="7" y="60"/>
                </a:cxn>
                <a:cxn ang="0">
                  <a:pos x="7" y="63"/>
                </a:cxn>
                <a:cxn ang="0">
                  <a:pos x="13" y="66"/>
                </a:cxn>
                <a:cxn ang="0">
                  <a:pos x="19" y="72"/>
                </a:cxn>
                <a:cxn ang="0">
                  <a:pos x="29" y="75"/>
                </a:cxn>
                <a:cxn ang="0">
                  <a:pos x="38" y="75"/>
                </a:cxn>
                <a:cxn ang="0">
                  <a:pos x="51" y="72"/>
                </a:cxn>
                <a:cxn ang="0">
                  <a:pos x="57" y="57"/>
                </a:cxn>
                <a:cxn ang="0">
                  <a:pos x="54" y="60"/>
                </a:cxn>
                <a:cxn ang="0">
                  <a:pos x="48" y="60"/>
                </a:cxn>
                <a:cxn ang="0">
                  <a:pos x="41" y="63"/>
                </a:cxn>
                <a:cxn ang="0">
                  <a:pos x="38" y="63"/>
                </a:cxn>
                <a:cxn ang="0">
                  <a:pos x="32" y="63"/>
                </a:cxn>
                <a:cxn ang="0">
                  <a:pos x="22" y="57"/>
                </a:cxn>
                <a:cxn ang="0">
                  <a:pos x="19" y="53"/>
                </a:cxn>
                <a:cxn ang="0">
                  <a:pos x="16" y="50"/>
                </a:cxn>
                <a:cxn ang="0">
                  <a:pos x="13" y="44"/>
                </a:cxn>
                <a:cxn ang="0">
                  <a:pos x="13" y="38"/>
                </a:cxn>
                <a:cxn ang="0">
                  <a:pos x="13" y="31"/>
                </a:cxn>
                <a:cxn ang="0">
                  <a:pos x="16" y="25"/>
                </a:cxn>
                <a:cxn ang="0">
                  <a:pos x="22" y="19"/>
                </a:cxn>
                <a:cxn ang="0">
                  <a:pos x="29" y="15"/>
                </a:cxn>
                <a:cxn ang="0">
                  <a:pos x="35" y="12"/>
                </a:cxn>
                <a:cxn ang="0">
                  <a:pos x="44" y="12"/>
                </a:cxn>
                <a:cxn ang="0">
                  <a:pos x="54" y="15"/>
                </a:cxn>
                <a:cxn ang="0">
                  <a:pos x="60" y="25"/>
                </a:cxn>
                <a:cxn ang="0">
                  <a:pos x="63" y="31"/>
                </a:cxn>
                <a:cxn ang="0">
                  <a:pos x="63" y="38"/>
                </a:cxn>
                <a:cxn ang="0">
                  <a:pos x="63" y="44"/>
                </a:cxn>
                <a:cxn ang="0">
                  <a:pos x="60" y="50"/>
                </a:cxn>
                <a:cxn ang="0">
                  <a:pos x="76" y="44"/>
                </a:cxn>
                <a:cxn ang="0">
                  <a:pos x="76" y="25"/>
                </a:cxn>
                <a:cxn ang="0">
                  <a:pos x="57" y="9"/>
                </a:cxn>
                <a:cxn ang="0">
                  <a:pos x="48" y="0"/>
                </a:cxn>
              </a:cxnLst>
              <a:pathLst>
                <a:path w="76" h="75">
                  <a:moveTo>
                    <a:pt x="48" y="0"/>
                  </a:moveTo>
                  <a:lnTo>
                    <a:pt x="38" y="0"/>
                  </a:lnTo>
                  <a:lnTo>
                    <a:pt x="32" y="0"/>
                  </a:lnTo>
                  <a:lnTo>
                    <a:pt x="22" y="3"/>
                  </a:lnTo>
                  <a:lnTo>
                    <a:pt x="16" y="6"/>
                  </a:lnTo>
                  <a:lnTo>
                    <a:pt x="10" y="12"/>
                  </a:lnTo>
                  <a:lnTo>
                    <a:pt x="3" y="19"/>
                  </a:lnTo>
                  <a:lnTo>
                    <a:pt x="3" y="25"/>
                  </a:lnTo>
                  <a:lnTo>
                    <a:pt x="0" y="31"/>
                  </a:lnTo>
                  <a:lnTo>
                    <a:pt x="0" y="38"/>
                  </a:lnTo>
                  <a:lnTo>
                    <a:pt x="0" y="47"/>
                  </a:lnTo>
                  <a:lnTo>
                    <a:pt x="0" y="50"/>
                  </a:lnTo>
                  <a:lnTo>
                    <a:pt x="7" y="60"/>
                  </a:lnTo>
                  <a:lnTo>
                    <a:pt x="7" y="63"/>
                  </a:lnTo>
                  <a:lnTo>
                    <a:pt x="13" y="66"/>
                  </a:lnTo>
                  <a:lnTo>
                    <a:pt x="19" y="72"/>
                  </a:lnTo>
                  <a:lnTo>
                    <a:pt x="29" y="75"/>
                  </a:lnTo>
                  <a:lnTo>
                    <a:pt x="38" y="75"/>
                  </a:lnTo>
                  <a:lnTo>
                    <a:pt x="51" y="72"/>
                  </a:lnTo>
                  <a:lnTo>
                    <a:pt x="57" y="57"/>
                  </a:lnTo>
                  <a:lnTo>
                    <a:pt x="54" y="60"/>
                  </a:lnTo>
                  <a:lnTo>
                    <a:pt x="48" y="60"/>
                  </a:lnTo>
                  <a:lnTo>
                    <a:pt x="41" y="63"/>
                  </a:lnTo>
                  <a:lnTo>
                    <a:pt x="38" y="63"/>
                  </a:lnTo>
                  <a:lnTo>
                    <a:pt x="32" y="63"/>
                  </a:lnTo>
                  <a:lnTo>
                    <a:pt x="22" y="57"/>
                  </a:lnTo>
                  <a:lnTo>
                    <a:pt x="19" y="53"/>
                  </a:lnTo>
                  <a:lnTo>
                    <a:pt x="16" y="50"/>
                  </a:lnTo>
                  <a:lnTo>
                    <a:pt x="13" y="44"/>
                  </a:lnTo>
                  <a:lnTo>
                    <a:pt x="13" y="38"/>
                  </a:lnTo>
                  <a:lnTo>
                    <a:pt x="13" y="31"/>
                  </a:lnTo>
                  <a:lnTo>
                    <a:pt x="16" y="25"/>
                  </a:lnTo>
                  <a:lnTo>
                    <a:pt x="22" y="19"/>
                  </a:lnTo>
                  <a:lnTo>
                    <a:pt x="29" y="15"/>
                  </a:lnTo>
                  <a:lnTo>
                    <a:pt x="35" y="12"/>
                  </a:lnTo>
                  <a:lnTo>
                    <a:pt x="44" y="12"/>
                  </a:lnTo>
                  <a:lnTo>
                    <a:pt x="54" y="15"/>
                  </a:lnTo>
                  <a:lnTo>
                    <a:pt x="60" y="25"/>
                  </a:lnTo>
                  <a:lnTo>
                    <a:pt x="63" y="31"/>
                  </a:lnTo>
                  <a:lnTo>
                    <a:pt x="63" y="38"/>
                  </a:lnTo>
                  <a:lnTo>
                    <a:pt x="63" y="44"/>
                  </a:lnTo>
                  <a:lnTo>
                    <a:pt x="60" y="50"/>
                  </a:lnTo>
                  <a:lnTo>
                    <a:pt x="76" y="44"/>
                  </a:lnTo>
                  <a:lnTo>
                    <a:pt x="76" y="25"/>
                  </a:lnTo>
                  <a:lnTo>
                    <a:pt x="57" y="9"/>
                  </a:lnTo>
                  <a:lnTo>
                    <a:pt x="48" y="0"/>
                  </a:lnTo>
                  <a:close/>
                </a:path>
              </a:pathLst>
            </a:custGeom>
            <a:solidFill>
              <a:srgbClr val="FF0000">
                <a:alpha val="100000"/>
              </a:srgbClr>
            </a:solidFill>
            <a:ln w="9525">
              <a:noFill/>
            </a:ln>
          </p:spPr>
          <p:txBody>
            <a:bodyPr/>
            <a:p>
              <a:endParaRPr lang="zh-CN" altLang="en-US"/>
            </a:p>
          </p:txBody>
        </p:sp>
        <p:sp>
          <p:nvSpPr>
            <p:cNvPr id="115780" name="Freeform 113"/>
            <p:cNvSpPr/>
            <p:nvPr/>
          </p:nvSpPr>
          <p:spPr>
            <a:xfrm>
              <a:off x="2550" y="3365"/>
              <a:ext cx="76" cy="75"/>
            </a:xfrm>
            <a:custGeom>
              <a:avLst/>
              <a:gdLst/>
              <a:ahLst/>
              <a:cxnLst>
                <a:cxn ang="0">
                  <a:pos x="48" y="0"/>
                </a:cxn>
                <a:cxn ang="0">
                  <a:pos x="38" y="0"/>
                </a:cxn>
                <a:cxn ang="0">
                  <a:pos x="32" y="0"/>
                </a:cxn>
                <a:cxn ang="0">
                  <a:pos x="22" y="3"/>
                </a:cxn>
                <a:cxn ang="0">
                  <a:pos x="16" y="6"/>
                </a:cxn>
                <a:cxn ang="0">
                  <a:pos x="10" y="12"/>
                </a:cxn>
                <a:cxn ang="0">
                  <a:pos x="3" y="19"/>
                </a:cxn>
                <a:cxn ang="0">
                  <a:pos x="3" y="25"/>
                </a:cxn>
                <a:cxn ang="0">
                  <a:pos x="0" y="31"/>
                </a:cxn>
                <a:cxn ang="0">
                  <a:pos x="0" y="38"/>
                </a:cxn>
                <a:cxn ang="0">
                  <a:pos x="0" y="47"/>
                </a:cxn>
                <a:cxn ang="0">
                  <a:pos x="0" y="50"/>
                </a:cxn>
                <a:cxn ang="0">
                  <a:pos x="7" y="60"/>
                </a:cxn>
                <a:cxn ang="0">
                  <a:pos x="7" y="63"/>
                </a:cxn>
                <a:cxn ang="0">
                  <a:pos x="13" y="66"/>
                </a:cxn>
                <a:cxn ang="0">
                  <a:pos x="19" y="72"/>
                </a:cxn>
                <a:cxn ang="0">
                  <a:pos x="29" y="75"/>
                </a:cxn>
                <a:cxn ang="0">
                  <a:pos x="38" y="75"/>
                </a:cxn>
                <a:cxn ang="0">
                  <a:pos x="51" y="72"/>
                </a:cxn>
                <a:cxn ang="0">
                  <a:pos x="57" y="57"/>
                </a:cxn>
                <a:cxn ang="0">
                  <a:pos x="54" y="60"/>
                </a:cxn>
                <a:cxn ang="0">
                  <a:pos x="48" y="60"/>
                </a:cxn>
                <a:cxn ang="0">
                  <a:pos x="41" y="63"/>
                </a:cxn>
                <a:cxn ang="0">
                  <a:pos x="38" y="63"/>
                </a:cxn>
                <a:cxn ang="0">
                  <a:pos x="32" y="63"/>
                </a:cxn>
                <a:cxn ang="0">
                  <a:pos x="22" y="57"/>
                </a:cxn>
                <a:cxn ang="0">
                  <a:pos x="19" y="53"/>
                </a:cxn>
                <a:cxn ang="0">
                  <a:pos x="16" y="50"/>
                </a:cxn>
                <a:cxn ang="0">
                  <a:pos x="13" y="44"/>
                </a:cxn>
                <a:cxn ang="0">
                  <a:pos x="13" y="38"/>
                </a:cxn>
                <a:cxn ang="0">
                  <a:pos x="13" y="31"/>
                </a:cxn>
                <a:cxn ang="0">
                  <a:pos x="16" y="25"/>
                </a:cxn>
                <a:cxn ang="0">
                  <a:pos x="22" y="19"/>
                </a:cxn>
                <a:cxn ang="0">
                  <a:pos x="29" y="15"/>
                </a:cxn>
                <a:cxn ang="0">
                  <a:pos x="35" y="12"/>
                </a:cxn>
                <a:cxn ang="0">
                  <a:pos x="44" y="12"/>
                </a:cxn>
                <a:cxn ang="0">
                  <a:pos x="54" y="15"/>
                </a:cxn>
                <a:cxn ang="0">
                  <a:pos x="60" y="25"/>
                </a:cxn>
                <a:cxn ang="0">
                  <a:pos x="63" y="31"/>
                </a:cxn>
                <a:cxn ang="0">
                  <a:pos x="63" y="38"/>
                </a:cxn>
                <a:cxn ang="0">
                  <a:pos x="63" y="44"/>
                </a:cxn>
                <a:cxn ang="0">
                  <a:pos x="60" y="50"/>
                </a:cxn>
                <a:cxn ang="0">
                  <a:pos x="76" y="44"/>
                </a:cxn>
                <a:cxn ang="0">
                  <a:pos x="76" y="25"/>
                </a:cxn>
                <a:cxn ang="0">
                  <a:pos x="57" y="9"/>
                </a:cxn>
                <a:cxn ang="0">
                  <a:pos x="48" y="0"/>
                </a:cxn>
              </a:cxnLst>
              <a:pathLst>
                <a:path w="76" h="75">
                  <a:moveTo>
                    <a:pt x="48" y="0"/>
                  </a:moveTo>
                  <a:lnTo>
                    <a:pt x="38" y="0"/>
                  </a:lnTo>
                  <a:lnTo>
                    <a:pt x="32" y="0"/>
                  </a:lnTo>
                  <a:lnTo>
                    <a:pt x="22" y="3"/>
                  </a:lnTo>
                  <a:lnTo>
                    <a:pt x="16" y="6"/>
                  </a:lnTo>
                  <a:lnTo>
                    <a:pt x="10" y="12"/>
                  </a:lnTo>
                  <a:lnTo>
                    <a:pt x="3" y="19"/>
                  </a:lnTo>
                  <a:lnTo>
                    <a:pt x="3" y="25"/>
                  </a:lnTo>
                  <a:lnTo>
                    <a:pt x="0" y="31"/>
                  </a:lnTo>
                  <a:lnTo>
                    <a:pt x="0" y="38"/>
                  </a:lnTo>
                  <a:lnTo>
                    <a:pt x="0" y="47"/>
                  </a:lnTo>
                  <a:lnTo>
                    <a:pt x="0" y="50"/>
                  </a:lnTo>
                  <a:lnTo>
                    <a:pt x="7" y="60"/>
                  </a:lnTo>
                  <a:lnTo>
                    <a:pt x="7" y="63"/>
                  </a:lnTo>
                  <a:lnTo>
                    <a:pt x="13" y="66"/>
                  </a:lnTo>
                  <a:lnTo>
                    <a:pt x="19" y="72"/>
                  </a:lnTo>
                  <a:lnTo>
                    <a:pt x="29" y="75"/>
                  </a:lnTo>
                  <a:lnTo>
                    <a:pt x="38" y="75"/>
                  </a:lnTo>
                  <a:lnTo>
                    <a:pt x="51" y="72"/>
                  </a:lnTo>
                  <a:lnTo>
                    <a:pt x="57" y="57"/>
                  </a:lnTo>
                  <a:lnTo>
                    <a:pt x="54" y="60"/>
                  </a:lnTo>
                  <a:lnTo>
                    <a:pt x="48" y="60"/>
                  </a:lnTo>
                  <a:lnTo>
                    <a:pt x="41" y="63"/>
                  </a:lnTo>
                  <a:lnTo>
                    <a:pt x="38" y="63"/>
                  </a:lnTo>
                  <a:lnTo>
                    <a:pt x="32" y="63"/>
                  </a:lnTo>
                  <a:lnTo>
                    <a:pt x="22" y="57"/>
                  </a:lnTo>
                  <a:lnTo>
                    <a:pt x="19" y="53"/>
                  </a:lnTo>
                  <a:lnTo>
                    <a:pt x="16" y="50"/>
                  </a:lnTo>
                  <a:lnTo>
                    <a:pt x="13" y="44"/>
                  </a:lnTo>
                  <a:lnTo>
                    <a:pt x="13" y="38"/>
                  </a:lnTo>
                  <a:lnTo>
                    <a:pt x="13" y="31"/>
                  </a:lnTo>
                  <a:lnTo>
                    <a:pt x="16" y="25"/>
                  </a:lnTo>
                  <a:lnTo>
                    <a:pt x="22" y="19"/>
                  </a:lnTo>
                  <a:lnTo>
                    <a:pt x="29" y="15"/>
                  </a:lnTo>
                  <a:lnTo>
                    <a:pt x="35" y="12"/>
                  </a:lnTo>
                  <a:lnTo>
                    <a:pt x="44" y="12"/>
                  </a:lnTo>
                  <a:lnTo>
                    <a:pt x="54" y="15"/>
                  </a:lnTo>
                  <a:lnTo>
                    <a:pt x="60" y="25"/>
                  </a:lnTo>
                  <a:lnTo>
                    <a:pt x="63" y="31"/>
                  </a:lnTo>
                  <a:lnTo>
                    <a:pt x="63" y="38"/>
                  </a:lnTo>
                  <a:lnTo>
                    <a:pt x="63" y="44"/>
                  </a:lnTo>
                  <a:lnTo>
                    <a:pt x="60" y="50"/>
                  </a:lnTo>
                  <a:lnTo>
                    <a:pt x="76" y="44"/>
                  </a:lnTo>
                  <a:lnTo>
                    <a:pt x="76" y="25"/>
                  </a:lnTo>
                  <a:lnTo>
                    <a:pt x="57" y="9"/>
                  </a:lnTo>
                  <a:lnTo>
                    <a:pt x="48" y="0"/>
                  </a:lnTo>
                  <a:close/>
                </a:path>
              </a:pathLst>
            </a:custGeom>
            <a:solidFill>
              <a:srgbClr val="FF0000">
                <a:alpha val="100000"/>
              </a:srgbClr>
            </a:solidFill>
            <a:ln w="4763" cap="flat" cmpd="sng">
              <a:solidFill>
                <a:srgbClr val="93936C">
                  <a:alpha val="100000"/>
                </a:srgbClr>
              </a:solidFill>
              <a:prstDash val="solid"/>
              <a:round/>
              <a:headEnd type="none" w="med" len="med"/>
              <a:tailEnd type="none" w="med" len="med"/>
            </a:ln>
          </p:spPr>
          <p:txBody>
            <a:bodyPr/>
            <a:p>
              <a:endParaRPr lang="zh-CN" altLang="en-US"/>
            </a:p>
          </p:txBody>
        </p:sp>
        <p:sp>
          <p:nvSpPr>
            <p:cNvPr id="115781" name="Line 114"/>
            <p:cNvSpPr/>
            <p:nvPr/>
          </p:nvSpPr>
          <p:spPr>
            <a:xfrm>
              <a:off x="2721" y="3371"/>
              <a:ext cx="1" cy="19"/>
            </a:xfrm>
            <a:prstGeom prst="line">
              <a:avLst/>
            </a:prstGeom>
            <a:ln w="4763" cap="flat" cmpd="sng">
              <a:solidFill>
                <a:srgbClr val="DBDBCE"/>
              </a:solidFill>
              <a:prstDash val="solid"/>
              <a:headEnd type="none" w="med" len="med"/>
              <a:tailEnd type="none" w="med" len="med"/>
            </a:ln>
          </p:spPr>
        </p:sp>
        <p:sp>
          <p:nvSpPr>
            <p:cNvPr id="115782" name="Line 115"/>
            <p:cNvSpPr/>
            <p:nvPr/>
          </p:nvSpPr>
          <p:spPr>
            <a:xfrm>
              <a:off x="2721" y="3418"/>
              <a:ext cx="1" cy="19"/>
            </a:xfrm>
            <a:prstGeom prst="line">
              <a:avLst/>
            </a:prstGeom>
            <a:ln w="4763" cap="flat" cmpd="sng">
              <a:solidFill>
                <a:srgbClr val="DBDBCE"/>
              </a:solidFill>
              <a:prstDash val="solid"/>
              <a:headEnd type="none" w="med" len="med"/>
              <a:tailEnd type="none" w="med" len="med"/>
            </a:ln>
          </p:spPr>
        </p:sp>
        <p:sp>
          <p:nvSpPr>
            <p:cNvPr id="115783" name="Oval 116"/>
            <p:cNvSpPr/>
            <p:nvPr/>
          </p:nvSpPr>
          <p:spPr>
            <a:xfrm>
              <a:off x="2614" y="3318"/>
              <a:ext cx="65" cy="68"/>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784" name="Oval 117"/>
            <p:cNvSpPr/>
            <p:nvPr/>
          </p:nvSpPr>
          <p:spPr>
            <a:xfrm>
              <a:off x="2614" y="3423"/>
              <a:ext cx="65" cy="64"/>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785" name="Oval 118"/>
            <p:cNvSpPr/>
            <p:nvPr/>
          </p:nvSpPr>
          <p:spPr>
            <a:xfrm>
              <a:off x="2564" y="3378"/>
              <a:ext cx="52" cy="52"/>
            </a:xfrm>
            <a:prstGeom prst="ellipse">
              <a:avLst/>
            </a:prstGeom>
            <a:solidFill>
              <a:srgbClr val="FF0000"/>
            </a:solidFill>
            <a:ln w="4763" cap="flat" cmpd="sng">
              <a:solidFill>
                <a:srgbClr val="494936"/>
              </a:solidFill>
              <a:prstDash val="solid"/>
              <a:headEnd type="none" w="med" len="med"/>
              <a:tailEnd type="none" w="med" len="med"/>
            </a:ln>
          </p:spPr>
          <p:txBody>
            <a:bodyPr/>
            <a:p>
              <a:pPr>
                <a:buNone/>
              </a:pPr>
              <a:endParaRPr lang="zh-CN" altLang="en-US" dirty="0">
                <a:latin typeface="Garamond" panose="02020404030301010803" pitchFamily="18" charset="0"/>
              </a:endParaRPr>
            </a:p>
          </p:txBody>
        </p:sp>
        <p:sp>
          <p:nvSpPr>
            <p:cNvPr id="115786" name="Arc 119"/>
            <p:cNvSpPr/>
            <p:nvPr/>
          </p:nvSpPr>
          <p:spPr>
            <a:xfrm>
              <a:off x="2548" y="3366"/>
              <a:ext cx="50" cy="77"/>
            </a:xfrm>
            <a:custGeom>
              <a:avLst/>
              <a:gdLst/>
              <a:ahLst/>
              <a:cxnLst>
                <a:cxn ang="0">
                  <a:pos x="50" y="75"/>
                </a:cxn>
                <a:cxn ang="0">
                  <a:pos x="50" y="2"/>
                </a:cxn>
                <a:cxn ang="0">
                  <a:pos x="38" y="39"/>
                </a:cxn>
              </a:cxnLst>
              <a:pathLst>
                <a:path w="28055" h="43200" fill="none">
                  <a:moveTo>
                    <a:pt x="28054" y="42212"/>
                  </a:moveTo>
                  <a:cubicBezTo>
                    <a:pt x="25965" y="42867"/>
                    <a:pt x="23789" y="43199"/>
                    <a:pt x="21600" y="43200"/>
                  </a:cubicBezTo>
                  <a:cubicBezTo>
                    <a:pt x="9670" y="43200"/>
                    <a:pt x="0" y="33529"/>
                    <a:pt x="0" y="21600"/>
                  </a:cubicBezTo>
                  <a:cubicBezTo>
                    <a:pt x="0" y="9670"/>
                    <a:pt x="9670" y="0"/>
                    <a:pt x="21600" y="0"/>
                  </a:cubicBezTo>
                  <a:cubicBezTo>
                    <a:pt x="23754" y="-1"/>
                    <a:pt x="25897" y="322"/>
                    <a:pt x="27957" y="956"/>
                  </a:cubicBezTo>
                </a:path>
                <a:path w="28055" h="43200" stroke="0">
                  <a:moveTo>
                    <a:pt x="28054" y="42212"/>
                  </a:moveTo>
                  <a:cubicBezTo>
                    <a:pt x="25965" y="42867"/>
                    <a:pt x="23789" y="43199"/>
                    <a:pt x="21600" y="43200"/>
                  </a:cubicBezTo>
                  <a:cubicBezTo>
                    <a:pt x="9670" y="43200"/>
                    <a:pt x="0" y="33529"/>
                    <a:pt x="0" y="21600"/>
                  </a:cubicBezTo>
                  <a:cubicBezTo>
                    <a:pt x="0" y="9670"/>
                    <a:pt x="9670" y="0"/>
                    <a:pt x="21600" y="0"/>
                  </a:cubicBezTo>
                  <a:cubicBezTo>
                    <a:pt x="23754" y="-1"/>
                    <a:pt x="25897" y="322"/>
                    <a:pt x="27957" y="956"/>
                  </a:cubicBezTo>
                  <a:lnTo>
                    <a:pt x="21600" y="21600"/>
                  </a:lnTo>
                  <a:lnTo>
                    <a:pt x="28054" y="42212"/>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87" name="Arc 120"/>
            <p:cNvSpPr/>
            <p:nvPr/>
          </p:nvSpPr>
          <p:spPr>
            <a:xfrm>
              <a:off x="2595" y="3299"/>
              <a:ext cx="106" cy="88"/>
            </a:xfrm>
            <a:custGeom>
              <a:avLst/>
              <a:gdLst/>
              <a:ahLst/>
              <a:cxnLst>
                <a:cxn ang="0">
                  <a:pos x="2" y="66"/>
                </a:cxn>
                <a:cxn ang="0">
                  <a:pos x="93" y="88"/>
                </a:cxn>
                <a:cxn ang="0">
                  <a:pos x="53" y="53"/>
                </a:cxn>
              </a:cxnLst>
              <a:pathLst>
                <a:path w="43200" h="35985" fill="none">
                  <a:moveTo>
                    <a:pt x="698" y="27050"/>
                  </a:moveTo>
                  <a:cubicBezTo>
                    <a:pt x="234" y="25270"/>
                    <a:pt x="0" y="23439"/>
                    <a:pt x="0" y="21600"/>
                  </a:cubicBezTo>
                  <a:cubicBezTo>
                    <a:pt x="0" y="9670"/>
                    <a:pt x="9670" y="0"/>
                    <a:pt x="21600" y="0"/>
                  </a:cubicBezTo>
                  <a:cubicBezTo>
                    <a:pt x="33529" y="0"/>
                    <a:pt x="43200" y="9670"/>
                    <a:pt x="43200" y="21600"/>
                  </a:cubicBezTo>
                  <a:cubicBezTo>
                    <a:pt x="43200" y="26906"/>
                    <a:pt x="41246" y="32026"/>
                    <a:pt x="37713" y="35985"/>
                  </a:cubicBezTo>
                </a:path>
                <a:path w="43200" h="35985" stroke="0">
                  <a:moveTo>
                    <a:pt x="698" y="27050"/>
                  </a:moveTo>
                  <a:cubicBezTo>
                    <a:pt x="234" y="25270"/>
                    <a:pt x="0" y="23439"/>
                    <a:pt x="0" y="21600"/>
                  </a:cubicBezTo>
                  <a:cubicBezTo>
                    <a:pt x="0" y="9670"/>
                    <a:pt x="9670" y="0"/>
                    <a:pt x="21600" y="0"/>
                  </a:cubicBezTo>
                  <a:cubicBezTo>
                    <a:pt x="33529" y="0"/>
                    <a:pt x="43200" y="9670"/>
                    <a:pt x="43200" y="21600"/>
                  </a:cubicBezTo>
                  <a:cubicBezTo>
                    <a:pt x="43200" y="26906"/>
                    <a:pt x="41246" y="32026"/>
                    <a:pt x="37713" y="35985"/>
                  </a:cubicBezTo>
                  <a:lnTo>
                    <a:pt x="21600" y="21600"/>
                  </a:lnTo>
                  <a:lnTo>
                    <a:pt x="698" y="27050"/>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88" name="Arc 121"/>
            <p:cNvSpPr/>
            <p:nvPr/>
          </p:nvSpPr>
          <p:spPr>
            <a:xfrm>
              <a:off x="2602" y="3306"/>
              <a:ext cx="46" cy="46"/>
            </a:xfrm>
            <a:custGeom>
              <a:avLst/>
              <a:gdLst/>
              <a:ahLst/>
              <a:cxnLst>
                <a:cxn ang="0">
                  <a:pos x="0" y="46"/>
                </a:cxn>
                <a:cxn ang="0">
                  <a:pos x="46" y="0"/>
                </a:cxn>
                <a:cxn ang="0">
                  <a:pos x="46" y="46"/>
                </a:cxn>
              </a:cxnLst>
              <a:pathLst>
                <a:path w="21600" h="21600" fill="none">
                  <a:moveTo>
                    <a:pt x="0" y="21600"/>
                  </a:moveTo>
                  <a:cubicBezTo>
                    <a:pt x="0" y="9670"/>
                    <a:pt x="9670" y="0"/>
                    <a:pt x="21599" y="0"/>
                  </a:cubicBezTo>
                </a:path>
                <a:path w="21600" h="21600" stroke="0">
                  <a:moveTo>
                    <a:pt x="0" y="21600"/>
                  </a:moveTo>
                  <a:cubicBezTo>
                    <a:pt x="0" y="9670"/>
                    <a:pt x="9670" y="0"/>
                    <a:pt x="21599" y="0"/>
                  </a:cubicBezTo>
                  <a:lnTo>
                    <a:pt x="21600" y="21600"/>
                  </a:lnTo>
                  <a:lnTo>
                    <a:pt x="0" y="21600"/>
                  </a:lnTo>
                  <a:close/>
                </a:path>
              </a:pathLst>
            </a:custGeom>
            <a:solidFill>
              <a:srgbClr val="FF0000">
                <a:alpha val="100000"/>
              </a:srgbClr>
            </a:solidFill>
            <a:ln w="4763" cap="flat" cmpd="sng">
              <a:solidFill>
                <a:srgbClr val="EDEDE7">
                  <a:alpha val="100000"/>
                </a:srgbClr>
              </a:solidFill>
              <a:prstDash val="solid"/>
              <a:round/>
              <a:headEnd type="none" w="med" len="med"/>
              <a:tailEnd type="none" w="med" len="med"/>
            </a:ln>
          </p:spPr>
          <p:txBody>
            <a:bodyPr/>
            <a:p>
              <a:endParaRPr lang="zh-CN" altLang="en-US"/>
            </a:p>
          </p:txBody>
        </p:sp>
        <p:sp>
          <p:nvSpPr>
            <p:cNvPr id="115789" name="Arc 122"/>
            <p:cNvSpPr/>
            <p:nvPr/>
          </p:nvSpPr>
          <p:spPr>
            <a:xfrm>
              <a:off x="2556" y="3369"/>
              <a:ext cx="31" cy="35"/>
            </a:xfrm>
            <a:custGeom>
              <a:avLst/>
              <a:gdLst/>
              <a:ahLst/>
              <a:cxnLst>
                <a:cxn ang="0">
                  <a:pos x="0" y="26"/>
                </a:cxn>
                <a:cxn ang="0">
                  <a:pos x="26" y="0"/>
                </a:cxn>
                <a:cxn ang="0">
                  <a:pos x="31" y="35"/>
                </a:cxn>
              </a:cxnLst>
              <a:pathLst>
                <a:path w="20928" h="21296" fill="none">
                  <a:moveTo>
                    <a:pt x="-1" y="15951"/>
                  </a:moveTo>
                  <a:cubicBezTo>
                    <a:pt x="2111" y="7679"/>
                    <a:pt x="8898" y="1428"/>
                    <a:pt x="17315" y="0"/>
                  </a:cubicBezTo>
                </a:path>
                <a:path w="20928" h="21296" stroke="0">
                  <a:moveTo>
                    <a:pt x="-1" y="15951"/>
                  </a:moveTo>
                  <a:cubicBezTo>
                    <a:pt x="2111" y="7679"/>
                    <a:pt x="8898" y="1428"/>
                    <a:pt x="17315" y="0"/>
                  </a:cubicBezTo>
                  <a:lnTo>
                    <a:pt x="20928" y="21296"/>
                  </a:lnTo>
                  <a:lnTo>
                    <a:pt x="-1" y="15951"/>
                  </a:lnTo>
                  <a:close/>
                </a:path>
              </a:pathLst>
            </a:custGeom>
            <a:solidFill>
              <a:srgbClr val="FF0000">
                <a:alpha val="100000"/>
              </a:srgbClr>
            </a:solidFill>
            <a:ln w="4763" cap="flat" cmpd="sng">
              <a:solidFill>
                <a:srgbClr val="EDEDE7">
                  <a:alpha val="100000"/>
                </a:srgbClr>
              </a:solidFill>
              <a:prstDash val="solid"/>
              <a:round/>
              <a:headEnd type="none" w="med" len="med"/>
              <a:tailEnd type="none" w="med" len="med"/>
            </a:ln>
          </p:spPr>
          <p:txBody>
            <a:bodyPr/>
            <a:p>
              <a:endParaRPr lang="zh-CN" altLang="en-US"/>
            </a:p>
          </p:txBody>
        </p:sp>
        <p:sp>
          <p:nvSpPr>
            <p:cNvPr id="115790" name="Arc 123"/>
            <p:cNvSpPr/>
            <p:nvPr/>
          </p:nvSpPr>
          <p:spPr>
            <a:xfrm>
              <a:off x="2595" y="3418"/>
              <a:ext cx="106" cy="88"/>
            </a:xfrm>
            <a:custGeom>
              <a:avLst/>
              <a:gdLst/>
              <a:ahLst/>
              <a:cxnLst>
                <a:cxn ang="0">
                  <a:pos x="93" y="0"/>
                </a:cxn>
                <a:cxn ang="0">
                  <a:pos x="2" y="21"/>
                </a:cxn>
                <a:cxn ang="0">
                  <a:pos x="53" y="35"/>
                </a:cxn>
              </a:cxnLst>
              <a:pathLst>
                <a:path w="43200" h="35731" fill="none">
                  <a:moveTo>
                    <a:pt x="37936" y="0"/>
                  </a:moveTo>
                  <a:cubicBezTo>
                    <a:pt x="41331" y="3925"/>
                    <a:pt x="43200" y="8941"/>
                    <a:pt x="43200" y="14131"/>
                  </a:cubicBezTo>
                  <a:cubicBezTo>
                    <a:pt x="43200" y="26060"/>
                    <a:pt x="33529" y="35731"/>
                    <a:pt x="21600" y="35731"/>
                  </a:cubicBezTo>
                  <a:cubicBezTo>
                    <a:pt x="9670" y="35731"/>
                    <a:pt x="0" y="26060"/>
                    <a:pt x="0" y="14131"/>
                  </a:cubicBezTo>
                  <a:cubicBezTo>
                    <a:pt x="-1" y="12291"/>
                    <a:pt x="234" y="10460"/>
                    <a:pt x="698" y="8680"/>
                  </a:cubicBezTo>
                </a:path>
                <a:path w="43200" h="35731" stroke="0">
                  <a:moveTo>
                    <a:pt x="37936" y="0"/>
                  </a:moveTo>
                  <a:cubicBezTo>
                    <a:pt x="41331" y="3925"/>
                    <a:pt x="43200" y="8941"/>
                    <a:pt x="43200" y="14131"/>
                  </a:cubicBezTo>
                  <a:cubicBezTo>
                    <a:pt x="43200" y="26060"/>
                    <a:pt x="33529" y="35731"/>
                    <a:pt x="21600" y="35731"/>
                  </a:cubicBezTo>
                  <a:cubicBezTo>
                    <a:pt x="9670" y="35731"/>
                    <a:pt x="0" y="26060"/>
                    <a:pt x="0" y="14131"/>
                  </a:cubicBezTo>
                  <a:cubicBezTo>
                    <a:pt x="-1" y="12291"/>
                    <a:pt x="234" y="10460"/>
                    <a:pt x="698" y="8680"/>
                  </a:cubicBezTo>
                  <a:lnTo>
                    <a:pt x="21600" y="14131"/>
                  </a:lnTo>
                  <a:lnTo>
                    <a:pt x="37936" y="0"/>
                  </a:lnTo>
                  <a:close/>
                </a:path>
              </a:pathLst>
            </a:custGeom>
            <a:solidFill>
              <a:srgbClr val="FF0000">
                <a:alpha val="100000"/>
              </a:srgbClr>
            </a:solidFill>
            <a:ln w="4763" cap="flat" cmpd="sng">
              <a:solidFill>
                <a:srgbClr val="494936">
                  <a:alpha val="100000"/>
                </a:srgbClr>
              </a:solidFill>
              <a:prstDash val="solid"/>
              <a:round/>
              <a:headEnd type="none" w="med" len="med"/>
              <a:tailEnd type="none" w="med" len="med"/>
            </a:ln>
          </p:spPr>
          <p:txBody>
            <a:bodyPr/>
            <a:p>
              <a:endParaRPr lang="zh-CN" altLang="en-US"/>
            </a:p>
          </p:txBody>
        </p:sp>
        <p:sp>
          <p:nvSpPr>
            <p:cNvPr id="115791" name="Arc 124"/>
            <p:cNvSpPr/>
            <p:nvPr/>
          </p:nvSpPr>
          <p:spPr>
            <a:xfrm>
              <a:off x="2602" y="3420"/>
              <a:ext cx="45" cy="38"/>
            </a:xfrm>
            <a:custGeom>
              <a:avLst/>
              <a:gdLst/>
              <a:ahLst/>
              <a:cxnLst>
                <a:cxn ang="0">
                  <a:pos x="0" y="38"/>
                </a:cxn>
                <a:cxn ang="0">
                  <a:pos x="22" y="0"/>
                </a:cxn>
                <a:cxn ang="0">
                  <a:pos x="45" y="38"/>
                </a:cxn>
              </a:cxnLst>
              <a:pathLst>
                <a:path w="21600" h="18436" fill="none">
                  <a:moveTo>
                    <a:pt x="0" y="18300"/>
                  </a:moveTo>
                  <a:cubicBezTo>
                    <a:pt x="47" y="10820"/>
                    <a:pt x="3960" y="3897"/>
                    <a:pt x="10345" y="0"/>
                  </a:cubicBezTo>
                </a:path>
                <a:path w="21600" h="18436" stroke="0">
                  <a:moveTo>
                    <a:pt x="0" y="18300"/>
                  </a:moveTo>
                  <a:cubicBezTo>
                    <a:pt x="47" y="10820"/>
                    <a:pt x="3960" y="3897"/>
                    <a:pt x="10345" y="0"/>
                  </a:cubicBezTo>
                  <a:lnTo>
                    <a:pt x="21600" y="18436"/>
                  </a:lnTo>
                  <a:lnTo>
                    <a:pt x="0" y="18300"/>
                  </a:lnTo>
                  <a:close/>
                </a:path>
              </a:pathLst>
            </a:custGeom>
            <a:solidFill>
              <a:srgbClr val="FF0000">
                <a:alpha val="100000"/>
              </a:srgbClr>
            </a:solidFill>
            <a:ln w="4763" cap="flat" cmpd="sng">
              <a:solidFill>
                <a:srgbClr val="EDEDE7">
                  <a:alpha val="100000"/>
                </a:srgbClr>
              </a:solidFill>
              <a:prstDash val="solid"/>
              <a:round/>
              <a:headEnd type="none" w="med" len="med"/>
              <a:tailEnd type="none" w="med" len="med"/>
            </a:ln>
          </p:spPr>
          <p:txBody>
            <a:bodyPr/>
            <a:p>
              <a:endParaRPr lang="zh-CN" altLang="en-US"/>
            </a:p>
          </p:txBody>
        </p:sp>
      </p:grpSp>
      <p:sp>
        <p:nvSpPr>
          <p:cNvPr id="232573" name="AutoShape 125"/>
          <p:cNvSpPr/>
          <p:nvPr/>
        </p:nvSpPr>
        <p:spPr>
          <a:xfrm>
            <a:off x="7315200" y="5715000"/>
            <a:ext cx="1524000" cy="457200"/>
          </a:xfrm>
          <a:prstGeom prst="wedgeRoundRectCallout">
            <a:avLst>
              <a:gd name="adj1" fmla="val -72917"/>
              <a:gd name="adj2" fmla="val -158333"/>
              <a:gd name="adj3" fmla="val 16667"/>
            </a:avLst>
          </a:prstGeom>
          <a:solidFill>
            <a:schemeClr val="accent1"/>
          </a:solidFill>
          <a:ln w="9525">
            <a:noFill/>
          </a:ln>
        </p:spPr>
        <p:txBody>
          <a:bodyPr/>
          <a:p>
            <a:pPr algn="ctr">
              <a:buNone/>
            </a:pPr>
            <a:r>
              <a:rPr lang="zh-CN" altLang="en-US" sz="2000" dirty="0">
                <a:solidFill>
                  <a:srgbClr val="000000"/>
                </a:solidFill>
                <a:latin typeface="Times New Roman" panose="02020603050405020304" pitchFamily="18" charset="0"/>
                <a:ea typeface="隶书" panose="02010509060101010101" pitchFamily="49" charset="-122"/>
              </a:rPr>
              <a:t>数字证书</a:t>
            </a:r>
            <a:endParaRPr lang="zh-CN" altLang="en-US" sz="2000" dirty="0">
              <a:solidFill>
                <a:srgbClr val="000000"/>
              </a:solidFill>
              <a:latin typeface="Times New Roman" panose="02020603050405020304" pitchFamily="18" charset="0"/>
              <a:ea typeface="隶书" panose="02010509060101010101" pitchFamily="49" charset="-122"/>
            </a:endParaRPr>
          </a:p>
        </p:txBody>
      </p:sp>
      <p:sp>
        <p:nvSpPr>
          <p:cNvPr id="232574" name="AutoShape 126"/>
          <p:cNvSpPr/>
          <p:nvPr/>
        </p:nvSpPr>
        <p:spPr>
          <a:xfrm>
            <a:off x="457200" y="5715000"/>
            <a:ext cx="1524000" cy="457200"/>
          </a:xfrm>
          <a:prstGeom prst="wedgeRoundRectCallout">
            <a:avLst>
              <a:gd name="adj1" fmla="val 53750"/>
              <a:gd name="adj2" fmla="val -183681"/>
              <a:gd name="adj3" fmla="val 16667"/>
            </a:avLst>
          </a:prstGeom>
          <a:solidFill>
            <a:schemeClr val="accent1"/>
          </a:solidFill>
          <a:ln w="9525">
            <a:noFill/>
          </a:ln>
        </p:spPr>
        <p:txBody>
          <a:bodyPr/>
          <a:p>
            <a:pPr algn="ctr">
              <a:buNone/>
            </a:pPr>
            <a:r>
              <a:rPr lang="zh-CN" altLang="en-US" sz="2000" dirty="0">
                <a:solidFill>
                  <a:srgbClr val="000000"/>
                </a:solidFill>
                <a:latin typeface="Times New Roman" panose="02020603050405020304" pitchFamily="18" charset="0"/>
                <a:ea typeface="隶书" panose="02010509060101010101" pitchFamily="49" charset="-122"/>
              </a:rPr>
              <a:t>数字证书</a:t>
            </a:r>
            <a:endParaRPr lang="zh-CN" altLang="en-US" sz="2000" dirty="0">
              <a:solidFill>
                <a:srgbClr val="000000"/>
              </a:solidFill>
              <a:latin typeface="Times New Roman" panose="02020603050405020304" pitchFamily="18" charset="0"/>
              <a:ea typeface="隶书" panose="02010509060101010101" pitchFamily="49" charset="-122"/>
            </a:endParaRPr>
          </a:p>
        </p:txBody>
      </p:sp>
      <p:sp>
        <p:nvSpPr>
          <p:cNvPr id="232575" name="Line 127"/>
          <p:cNvSpPr/>
          <p:nvPr/>
        </p:nvSpPr>
        <p:spPr>
          <a:xfrm flipH="1" flipV="1">
            <a:off x="4648200" y="3429000"/>
            <a:ext cx="1371600" cy="1219200"/>
          </a:xfrm>
          <a:prstGeom prst="line">
            <a:avLst/>
          </a:prstGeom>
          <a:ln w="76200" cap="flat" cmpd="sng">
            <a:solidFill>
              <a:srgbClr val="FF0000"/>
            </a:solidFill>
            <a:prstDash val="solid"/>
            <a:headEnd type="none" w="med" len="med"/>
            <a:tailEnd type="triangle" w="med" len="med"/>
          </a:ln>
        </p:spPr>
      </p:sp>
      <p:sp>
        <p:nvSpPr>
          <p:cNvPr id="232576" name="Line 128"/>
          <p:cNvSpPr/>
          <p:nvPr/>
        </p:nvSpPr>
        <p:spPr>
          <a:xfrm flipH="1">
            <a:off x="2667000" y="3429000"/>
            <a:ext cx="1447800" cy="1143000"/>
          </a:xfrm>
          <a:prstGeom prst="line">
            <a:avLst/>
          </a:prstGeom>
          <a:ln w="76200" cap="flat" cmpd="sng">
            <a:solidFill>
              <a:srgbClr val="FF0000"/>
            </a:solidFill>
            <a:prstDash val="solid"/>
            <a:headEnd type="none" w="med" len="med"/>
            <a:tailEnd type="triangle" w="med" len="med"/>
          </a:ln>
        </p:spPr>
      </p:sp>
      <p:sp>
        <p:nvSpPr>
          <p:cNvPr id="232577" name="AutoShape 129"/>
          <p:cNvSpPr/>
          <p:nvPr/>
        </p:nvSpPr>
        <p:spPr>
          <a:xfrm>
            <a:off x="5715000" y="3048000"/>
            <a:ext cx="2209800" cy="457200"/>
          </a:xfrm>
          <a:prstGeom prst="wedgeRoundRectCallout">
            <a:avLst>
              <a:gd name="adj1" fmla="val -66449"/>
              <a:gd name="adj2" fmla="val 144097"/>
              <a:gd name="adj3" fmla="val 16667"/>
            </a:avLst>
          </a:prstGeom>
          <a:noFill/>
          <a:ln w="9525" cap="flat" cmpd="sng">
            <a:solidFill>
              <a:srgbClr val="FF0000"/>
            </a:solidFill>
            <a:prstDash val="solid"/>
            <a:miter/>
            <a:headEnd type="none" w="med" len="med"/>
            <a:tailEnd type="none" w="med" len="med"/>
          </a:ln>
        </p:spPr>
        <p:txBody>
          <a:bodyPr/>
          <a:p>
            <a:pPr algn="ctr">
              <a:buNone/>
            </a:pPr>
            <a:r>
              <a:rPr lang="en-US" altLang="zh-CN" sz="2000" dirty="0">
                <a:solidFill>
                  <a:srgbClr val="FF0000"/>
                </a:solidFill>
                <a:latin typeface="Times New Roman" panose="02020603050405020304" pitchFamily="18" charset="0"/>
                <a:ea typeface="隶书" panose="02010509060101010101" pitchFamily="49" charset="-122"/>
              </a:rPr>
              <a:t>1.</a:t>
            </a:r>
            <a:r>
              <a:rPr lang="zh-CN" altLang="en-US" sz="2000" dirty="0">
                <a:solidFill>
                  <a:srgbClr val="FF0000"/>
                </a:solidFill>
                <a:latin typeface="Times New Roman" panose="02020603050405020304" pitchFamily="18" charset="0"/>
                <a:ea typeface="隶书" panose="02010509060101010101" pitchFamily="49" charset="-122"/>
              </a:rPr>
              <a:t>制作数字信封</a:t>
            </a:r>
            <a:endParaRPr lang="zh-CN" altLang="en-US" sz="2000" dirty="0">
              <a:solidFill>
                <a:srgbClr val="FF0000"/>
              </a:solidFill>
              <a:latin typeface="Times New Roman" panose="02020603050405020304" pitchFamily="18" charset="0"/>
              <a:ea typeface="隶书" panose="02010509060101010101" pitchFamily="49" charset="-122"/>
            </a:endParaRPr>
          </a:p>
        </p:txBody>
      </p:sp>
      <p:sp>
        <p:nvSpPr>
          <p:cNvPr id="232578" name="AutoShape 130"/>
          <p:cNvSpPr/>
          <p:nvPr/>
        </p:nvSpPr>
        <p:spPr>
          <a:xfrm>
            <a:off x="6629400" y="3657600"/>
            <a:ext cx="2209800" cy="457200"/>
          </a:xfrm>
          <a:prstGeom prst="wedgeRoundRectCallout">
            <a:avLst>
              <a:gd name="adj1" fmla="val -91449"/>
              <a:gd name="adj2" fmla="val 90278"/>
              <a:gd name="adj3" fmla="val 16667"/>
            </a:avLst>
          </a:prstGeom>
          <a:noFill/>
          <a:ln w="9525" cap="flat" cmpd="sng">
            <a:solidFill>
              <a:srgbClr val="FF0000"/>
            </a:solidFill>
            <a:prstDash val="solid"/>
            <a:miter/>
            <a:headEnd type="none" w="med" len="med"/>
            <a:tailEnd type="none" w="med" len="med"/>
          </a:ln>
        </p:spPr>
        <p:txBody>
          <a:bodyPr/>
          <a:p>
            <a:pPr algn="ctr">
              <a:buNone/>
            </a:pPr>
            <a:r>
              <a:rPr lang="en-US" altLang="zh-CN" sz="2000" dirty="0">
                <a:solidFill>
                  <a:srgbClr val="FF0000"/>
                </a:solidFill>
                <a:latin typeface="Times New Roman" panose="02020603050405020304" pitchFamily="18" charset="0"/>
                <a:ea typeface="隶书" panose="02010509060101010101" pitchFamily="49" charset="-122"/>
              </a:rPr>
              <a:t>2.</a:t>
            </a:r>
            <a:r>
              <a:rPr lang="zh-CN" altLang="en-US" sz="2000" dirty="0">
                <a:solidFill>
                  <a:srgbClr val="FF0000"/>
                </a:solidFill>
                <a:latin typeface="Times New Roman" panose="02020603050405020304" pitchFamily="18" charset="0"/>
                <a:ea typeface="隶书" panose="02010509060101010101" pitchFamily="49" charset="-122"/>
              </a:rPr>
              <a:t>制作数字签名</a:t>
            </a:r>
            <a:endParaRPr lang="zh-CN" altLang="en-US" sz="2000" dirty="0">
              <a:solidFill>
                <a:srgbClr val="FF0000"/>
              </a:solidFill>
              <a:latin typeface="Times New Roman" panose="02020603050405020304" pitchFamily="18" charset="0"/>
              <a:ea typeface="隶书" panose="02010509060101010101" pitchFamily="49" charset="-122"/>
            </a:endParaRPr>
          </a:p>
        </p:txBody>
      </p:sp>
      <p:sp>
        <p:nvSpPr>
          <p:cNvPr id="232579" name="AutoShape 131"/>
          <p:cNvSpPr/>
          <p:nvPr/>
        </p:nvSpPr>
        <p:spPr>
          <a:xfrm>
            <a:off x="1371600" y="2971800"/>
            <a:ext cx="2209800" cy="457200"/>
          </a:xfrm>
          <a:prstGeom prst="wedgeRoundRectCallout">
            <a:avLst>
              <a:gd name="adj1" fmla="val 51079"/>
              <a:gd name="adj2" fmla="val 115625"/>
              <a:gd name="adj3" fmla="val 16667"/>
            </a:avLst>
          </a:prstGeom>
          <a:noFill/>
          <a:ln w="9525" cap="flat" cmpd="sng">
            <a:solidFill>
              <a:srgbClr val="FF0000"/>
            </a:solidFill>
            <a:prstDash val="solid"/>
            <a:miter/>
            <a:headEnd type="none" w="med" len="med"/>
            <a:tailEnd type="none" w="med" len="med"/>
          </a:ln>
        </p:spPr>
        <p:txBody>
          <a:bodyPr/>
          <a:p>
            <a:pPr algn="ctr">
              <a:buNone/>
            </a:pPr>
            <a:r>
              <a:rPr lang="en-US" altLang="zh-CN" sz="2000" dirty="0">
                <a:solidFill>
                  <a:srgbClr val="FF0000"/>
                </a:solidFill>
                <a:latin typeface="Times New Roman" panose="02020603050405020304" pitchFamily="18" charset="0"/>
                <a:ea typeface="隶书" panose="02010509060101010101" pitchFamily="49" charset="-122"/>
              </a:rPr>
              <a:t>3.</a:t>
            </a:r>
            <a:r>
              <a:rPr lang="zh-CN" altLang="en-US" sz="2000" dirty="0">
                <a:solidFill>
                  <a:srgbClr val="FF0000"/>
                </a:solidFill>
                <a:latin typeface="Times New Roman" panose="02020603050405020304" pitchFamily="18" charset="0"/>
                <a:ea typeface="隶书" panose="02010509060101010101" pitchFamily="49" charset="-122"/>
              </a:rPr>
              <a:t>验证数字签名</a:t>
            </a:r>
            <a:endParaRPr lang="zh-CN" altLang="en-US" sz="2000" dirty="0">
              <a:solidFill>
                <a:srgbClr val="FF0000"/>
              </a:solidFill>
              <a:latin typeface="Times New Roman" panose="02020603050405020304" pitchFamily="18" charset="0"/>
              <a:ea typeface="隶书" panose="02010509060101010101" pitchFamily="49" charset="-122"/>
            </a:endParaRPr>
          </a:p>
        </p:txBody>
      </p:sp>
      <p:sp>
        <p:nvSpPr>
          <p:cNvPr id="232580" name="AutoShape 132"/>
          <p:cNvSpPr/>
          <p:nvPr/>
        </p:nvSpPr>
        <p:spPr>
          <a:xfrm>
            <a:off x="533400" y="3505200"/>
            <a:ext cx="2209800" cy="457200"/>
          </a:xfrm>
          <a:prstGeom prst="wedgeRoundRectCallout">
            <a:avLst>
              <a:gd name="adj1" fmla="val 58981"/>
              <a:gd name="adj2" fmla="val 99653"/>
              <a:gd name="adj3" fmla="val 16667"/>
            </a:avLst>
          </a:prstGeom>
          <a:noFill/>
          <a:ln w="9525" cap="flat" cmpd="sng">
            <a:solidFill>
              <a:srgbClr val="FF0000"/>
            </a:solidFill>
            <a:prstDash val="solid"/>
            <a:miter/>
            <a:headEnd type="none" w="med" len="med"/>
            <a:tailEnd type="none" w="med" len="med"/>
          </a:ln>
        </p:spPr>
        <p:txBody>
          <a:bodyPr/>
          <a:p>
            <a:pPr algn="ctr">
              <a:buNone/>
            </a:pPr>
            <a:r>
              <a:rPr lang="en-US" altLang="zh-CN" sz="2000" dirty="0">
                <a:solidFill>
                  <a:srgbClr val="FF0000"/>
                </a:solidFill>
                <a:latin typeface="Times New Roman" panose="02020603050405020304" pitchFamily="18" charset="0"/>
                <a:ea typeface="隶书" panose="02010509060101010101" pitchFamily="49" charset="-122"/>
              </a:rPr>
              <a:t>4.</a:t>
            </a:r>
            <a:r>
              <a:rPr lang="zh-CN" altLang="en-US" sz="2000" dirty="0">
                <a:solidFill>
                  <a:srgbClr val="FF0000"/>
                </a:solidFill>
                <a:latin typeface="Times New Roman" panose="02020603050405020304" pitchFamily="18" charset="0"/>
                <a:ea typeface="隶书" panose="02010509060101010101" pitchFamily="49" charset="-122"/>
              </a:rPr>
              <a:t>解开数字信封</a:t>
            </a:r>
            <a:endParaRPr lang="zh-CN" altLang="en-US" sz="2000" dirty="0">
              <a:solidFill>
                <a:srgbClr val="FF0000"/>
              </a:solidFill>
              <a:latin typeface="Times New Roman" panose="02020603050405020304" pitchFamily="18" charset="0"/>
              <a:ea typeface="隶书" panose="02010509060101010101" pitchFamily="49" charset="-122"/>
            </a:endParaRPr>
          </a:p>
        </p:txBody>
      </p:sp>
      <p:sp>
        <p:nvSpPr>
          <p:cNvPr id="232581" name="Line 133"/>
          <p:cNvSpPr/>
          <p:nvPr/>
        </p:nvSpPr>
        <p:spPr>
          <a:xfrm flipH="1">
            <a:off x="2895600" y="5105400"/>
            <a:ext cx="3124200" cy="0"/>
          </a:xfrm>
          <a:prstGeom prst="line">
            <a:avLst/>
          </a:prstGeom>
          <a:ln w="76200" cap="flat" cmpd="sng">
            <a:solidFill>
              <a:srgbClr val="969696"/>
            </a:solidFill>
            <a:prstDash val="solid"/>
            <a:headEnd type="none" w="med" len="med"/>
            <a:tailEnd type="triangle" w="med" len="med"/>
          </a:ln>
        </p:spPr>
      </p:sp>
      <p:sp>
        <p:nvSpPr>
          <p:cNvPr id="232582" name="AutoShape 134"/>
          <p:cNvSpPr/>
          <p:nvPr/>
        </p:nvSpPr>
        <p:spPr>
          <a:xfrm>
            <a:off x="3733800" y="4114800"/>
            <a:ext cx="1371600" cy="457200"/>
          </a:xfrm>
          <a:prstGeom prst="wedgeRoundRectCallout">
            <a:avLst>
              <a:gd name="adj1" fmla="val -7407"/>
              <a:gd name="adj2" fmla="val 4861"/>
              <a:gd name="adj3" fmla="val 16667"/>
            </a:avLst>
          </a:prstGeom>
          <a:solidFill>
            <a:srgbClr val="C0C0C0"/>
          </a:solidFill>
          <a:ln w="9525">
            <a:noFill/>
          </a:ln>
        </p:spPr>
        <p:txBody>
          <a:bodyPr/>
          <a:p>
            <a:pPr algn="ctr">
              <a:buNone/>
            </a:pPr>
            <a:r>
              <a:rPr lang="zh-CN" altLang="en-US" sz="2000" dirty="0">
                <a:latin typeface="Times New Roman" panose="02020603050405020304" pitchFamily="18" charset="0"/>
                <a:ea typeface="隶书" panose="02010509060101010101" pitchFamily="49" charset="-122"/>
              </a:rPr>
              <a:t>邮  件</a:t>
            </a:r>
            <a:endParaRPr lang="zh-CN" altLang="en-US" sz="2000" dirty="0">
              <a:latin typeface="Times New Roman" panose="02020603050405020304" pitchFamily="18" charset="0"/>
              <a:ea typeface="隶书" panose="02010509060101010101" pitchFamily="49" charset="-122"/>
            </a:endParaRPr>
          </a:p>
        </p:txBody>
      </p:sp>
      <p:pic>
        <p:nvPicPr>
          <p:cNvPr id="115735" name="Picture 135"/>
          <p:cNvPicPr/>
          <p:nvPr/>
        </p:nvPicPr>
        <p:blipFill>
          <a:blip r:embed="rId4"/>
          <a:stretch>
            <a:fillRect/>
          </a:stretch>
        </p:blipFill>
        <p:spPr>
          <a:xfrm>
            <a:off x="4800600" y="2590800"/>
            <a:ext cx="790575" cy="54768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232581"/>
                                        </p:tgtEl>
                                        <p:attrNameLst>
                                          <p:attrName>style.visibility</p:attrName>
                                        </p:attrNameLst>
                                      </p:cBhvr>
                                      <p:to>
                                        <p:strVal val="visible"/>
                                      </p:to>
                                    </p:set>
                                    <p:anim calcmode="lin" valueType="num">
                                      <p:cBhvr>
                                        <p:cTn id="7" dur="500" fill="hold"/>
                                        <p:tgtEl>
                                          <p:spTgt spid="232581"/>
                                        </p:tgtEl>
                                        <p:attrNameLst>
                                          <p:attrName>ppt_x</p:attrName>
                                        </p:attrNameLst>
                                      </p:cBhvr>
                                      <p:tavLst>
                                        <p:tav tm="0">
                                          <p:val>
                                            <p:strVal val="#ppt_x-#ppt_w/2"/>
                                          </p:val>
                                        </p:tav>
                                        <p:tav tm="100000">
                                          <p:val>
                                            <p:strVal val="#ppt_x"/>
                                          </p:val>
                                        </p:tav>
                                      </p:tavLst>
                                    </p:anim>
                                    <p:anim calcmode="lin" valueType="num">
                                      <p:cBhvr>
                                        <p:cTn id="8" dur="500" fill="hold"/>
                                        <p:tgtEl>
                                          <p:spTgt spid="232581"/>
                                        </p:tgtEl>
                                        <p:attrNameLst>
                                          <p:attrName>ppt_y</p:attrName>
                                        </p:attrNameLst>
                                      </p:cBhvr>
                                      <p:tavLst>
                                        <p:tav tm="0">
                                          <p:val>
                                            <p:strVal val="#ppt_y"/>
                                          </p:val>
                                        </p:tav>
                                        <p:tav tm="100000">
                                          <p:val>
                                            <p:strVal val="#ppt_y"/>
                                          </p:val>
                                        </p:tav>
                                      </p:tavLst>
                                    </p:anim>
                                    <p:anim calcmode="lin" valueType="num">
                                      <p:cBhvr>
                                        <p:cTn id="9" dur="500" fill="hold"/>
                                        <p:tgtEl>
                                          <p:spTgt spid="232581"/>
                                        </p:tgtEl>
                                        <p:attrNameLst>
                                          <p:attrName>ppt_w</p:attrName>
                                        </p:attrNameLst>
                                      </p:cBhvr>
                                      <p:tavLst>
                                        <p:tav tm="0">
                                          <p:val>
                                            <p:fltVal val="0.000000"/>
                                          </p:val>
                                        </p:tav>
                                        <p:tav tm="100000">
                                          <p:val>
                                            <p:strVal val="#ppt_w"/>
                                          </p:val>
                                        </p:tav>
                                      </p:tavLst>
                                    </p:anim>
                                    <p:anim calcmode="lin" valueType="num">
                                      <p:cBhvr>
                                        <p:cTn id="10" dur="500" fill="hold"/>
                                        <p:tgtEl>
                                          <p:spTgt spid="232581"/>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grpId="0" nodeType="clickEffect" nodePh="1">
                                  <p:stCondLst>
                                    <p:cond delay="0"/>
                                  </p:stCondLst>
                                  <p:endCondLst>
                                    <p:cond evt="begin" delay="0">
                                      <p:tn val="13"/>
                                    </p:cond>
                                  </p:endCondLst>
                                  <p:childTnLst>
                                    <p:set>
                                      <p:cBhvr>
                                        <p:cTn id="14" dur="1" fill="hold">
                                          <p:stCondLst>
                                            <p:cond delay="499"/>
                                          </p:stCondLst>
                                        </p:cTn>
                                        <p:tgtEl>
                                          <p:spTgt spid="232451">
                                            <p:txEl>
                                              <p:charRg st="0" end="1"/>
                                            </p:txEl>
                                          </p:spTgt>
                                        </p:tgtEl>
                                        <p:attrNameLst>
                                          <p:attrName>style.visibility</p:attrName>
                                        </p:attrNameLst>
                                      </p:cBhvr>
                                      <p:to>
                                        <p:strVal val="visible"/>
                                      </p:to>
                                    </p:set>
                                    <p:anim to="" calcmode="lin" valueType="num">
                                      <p:cBhvr>
                                        <p:cTn id="15" dur="1" fill="hold"/>
                                        <p:tgtEl>
                                          <p:spTgt spid="232451">
                                            <p:txEl>
                                              <p:charRg st="0" end="1"/>
                                            </p:txEl>
                                          </p:spTgt>
                                        </p:tgtEl>
                                        <p:attrNameLst>
                                          <p:attrName>style.visibility</p:attrName>
                                        </p:attrNameLst>
                                      </p:cBhvr>
                                    </p:anim>
                                  </p:childTnLst>
                                  <p:subTnLst>
                                    <p:audio>
                                      <p:cMediaNode>
                                        <p:cTn display="0" masterRel="sameClick">
                                          <p:stCondLst>
                                            <p:cond evt="begin" delay="0">
                                              <p:tn val="13"/>
                                            </p:cond>
                                          </p:stCondLst>
                                          <p:endCondLst>
                                            <p:cond evt="onStopAudio" delay="0">
                                              <p:tgtEl>
                                                <p:sldTgt/>
                                              </p:tgtEl>
                                            </p:cond>
                                          </p:endCondLst>
                                        </p:cTn>
                                        <p:tgtEl>
                                          <p:sndTgt r:embed="rId5" name="cashreg.wav"/>
                                        </p:tgtEl>
                                      </p:cMediaNode>
                                    </p:audio>
                                  </p:subTnLst>
                                </p:cTn>
                              </p:par>
                            </p:childTnLst>
                          </p:cTn>
                        </p:par>
                      </p:childTnLst>
                    </p:cTn>
                  </p:par>
                  <p:par>
                    <p:cTn id="16" fill="hold">
                      <p:stCondLst>
                        <p:cond delay="indefinite"/>
                      </p:stCondLst>
                      <p:childTnLst>
                        <p:par>
                          <p:cTn id="17" fill="hold">
                            <p:stCondLst>
                              <p:cond delay="0"/>
                            </p:stCondLst>
                            <p:childTnLst>
                              <p:par>
                                <p:cTn id="18" presetID="24" presetClass="entr" presetSubtype="0" fill="hold" grpId="0" nodeType="clickEffect">
                                  <p:stCondLst>
                                    <p:cond delay="0"/>
                                  </p:stCondLst>
                                  <p:childTnLst>
                                    <p:set>
                                      <p:cBhvr>
                                        <p:cTn id="19" dur="1" fill="hold">
                                          <p:stCondLst>
                                            <p:cond delay="499"/>
                                          </p:stCondLst>
                                        </p:cTn>
                                        <p:tgtEl>
                                          <p:spTgt spid="232452">
                                            <p:txEl>
                                              <p:charRg st="0" end="6"/>
                                            </p:txEl>
                                          </p:spTgt>
                                        </p:tgtEl>
                                        <p:attrNameLst>
                                          <p:attrName>style.visibility</p:attrName>
                                        </p:attrNameLst>
                                      </p:cBhvr>
                                      <p:to>
                                        <p:strVal val="visible"/>
                                      </p:to>
                                    </p:set>
                                    <p:anim to="" calcmode="lin" valueType="num">
                                      <p:cBhvr>
                                        <p:cTn id="20" dur="1" fill="hold"/>
                                        <p:tgtEl>
                                          <p:spTgt spid="232452">
                                            <p:txEl>
                                              <p:charRg st="0" end="6"/>
                                            </p:txEl>
                                          </p:spTgt>
                                        </p:tgtEl>
                                        <p:attrNameLst>
                                          <p:attrName>style.visibility</p:attrName>
                                        </p:attrNameLst>
                                      </p:cBhvr>
                                    </p:anim>
                                  </p:childTnLst>
                                  <p:subTnLst>
                                    <p:audio>
                                      <p:cMediaNode>
                                        <p:cTn display="0" masterRel="sameClick">
                                          <p:stCondLst>
                                            <p:cond evt="begin" delay="0">
                                              <p:tn val="18"/>
                                            </p:cond>
                                          </p:stCondLst>
                                          <p:endCondLst>
                                            <p:cond evt="onStopAudio" delay="0">
                                              <p:tgtEl>
                                                <p:sldTgt/>
                                              </p:tgtEl>
                                            </p:cond>
                                          </p:endCondLst>
                                        </p:cTn>
                                        <p:tgtEl>
                                          <p:sndTgt r:embed="rId5" name="cashreg.wav"/>
                                        </p:tgtEl>
                                      </p:cMediaNode>
                                    </p:audio>
                                  </p:sub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232454"/>
                                        </p:tgtEl>
                                        <p:attrNameLst>
                                          <p:attrName>style.visibility</p:attrName>
                                        </p:attrNameLst>
                                      </p:cBhvr>
                                      <p:to>
                                        <p:strVal val="visible"/>
                                      </p:to>
                                    </p:set>
                                    <p:animEffect transition="in" filter="slide(fromBottom)">
                                      <p:cBhvr>
                                        <p:cTn id="25" dur="500"/>
                                        <p:tgtEl>
                                          <p:spTgt spid="232454"/>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232582"/>
                                        </p:tgtEl>
                                        <p:attrNameLst>
                                          <p:attrName>style.visibility</p:attrName>
                                        </p:attrNameLst>
                                      </p:cBhvr>
                                      <p:to>
                                        <p:strVal val="visible"/>
                                      </p:to>
                                    </p:set>
                                    <p:animEffect transition="in" filter="slide(fromBottom)">
                                      <p:cBhvr>
                                        <p:cTn id="30" dur="500"/>
                                        <p:tgtEl>
                                          <p:spTgt spid="232582"/>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32573"/>
                                        </p:tgtEl>
                                        <p:attrNameLst>
                                          <p:attrName>style.visibility</p:attrName>
                                        </p:attrNameLst>
                                      </p:cBhvr>
                                      <p:to>
                                        <p:strVal val="visible"/>
                                      </p:to>
                                    </p:set>
                                    <p:anim calcmode="lin" valueType="num">
                                      <p:cBhvr additive="base">
                                        <p:cTn id="35" dur="500" fill="hold"/>
                                        <p:tgtEl>
                                          <p:spTgt spid="232573"/>
                                        </p:tgtEl>
                                        <p:attrNameLst>
                                          <p:attrName>ppt_x</p:attrName>
                                        </p:attrNameLst>
                                      </p:cBhvr>
                                      <p:tavLst>
                                        <p:tav tm="0">
                                          <p:val>
                                            <p:strVal val="0-#ppt_w/2"/>
                                          </p:val>
                                        </p:tav>
                                        <p:tav tm="100000">
                                          <p:val>
                                            <p:strVal val="#ppt_x"/>
                                          </p:val>
                                        </p:tav>
                                      </p:tavLst>
                                    </p:anim>
                                    <p:anim calcmode="lin" valueType="num">
                                      <p:cBhvr additive="base">
                                        <p:cTn id="36" dur="500" fill="hold"/>
                                        <p:tgtEl>
                                          <p:spTgt spid="23257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32574"/>
                                        </p:tgtEl>
                                        <p:attrNameLst>
                                          <p:attrName>style.visibility</p:attrName>
                                        </p:attrNameLst>
                                      </p:cBhvr>
                                      <p:to>
                                        <p:strVal val="visible"/>
                                      </p:to>
                                    </p:set>
                                    <p:anim calcmode="lin" valueType="num">
                                      <p:cBhvr additive="base">
                                        <p:cTn id="41" dur="500" fill="hold"/>
                                        <p:tgtEl>
                                          <p:spTgt spid="232574"/>
                                        </p:tgtEl>
                                        <p:attrNameLst>
                                          <p:attrName>ppt_x</p:attrName>
                                        </p:attrNameLst>
                                      </p:cBhvr>
                                      <p:tavLst>
                                        <p:tav tm="0">
                                          <p:val>
                                            <p:strVal val="0-#ppt_w/2"/>
                                          </p:val>
                                        </p:tav>
                                        <p:tav tm="100000">
                                          <p:val>
                                            <p:strVal val="#ppt_x"/>
                                          </p:val>
                                        </p:tav>
                                      </p:tavLst>
                                    </p:anim>
                                    <p:anim calcmode="lin" valueType="num">
                                      <p:cBhvr additive="base">
                                        <p:cTn id="42" dur="500" fill="hold"/>
                                        <p:tgtEl>
                                          <p:spTgt spid="232574"/>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232577"/>
                                        </p:tgtEl>
                                        <p:attrNameLst>
                                          <p:attrName>style.visibility</p:attrName>
                                        </p:attrNameLst>
                                      </p:cBhvr>
                                      <p:to>
                                        <p:strVal val="visible"/>
                                      </p:to>
                                    </p:set>
                                    <p:anim calcmode="lin" valueType="num">
                                      <p:cBhvr additive="base">
                                        <p:cTn id="47" dur="500" fill="hold"/>
                                        <p:tgtEl>
                                          <p:spTgt spid="232577"/>
                                        </p:tgtEl>
                                        <p:attrNameLst>
                                          <p:attrName>ppt_x</p:attrName>
                                        </p:attrNameLst>
                                      </p:cBhvr>
                                      <p:tavLst>
                                        <p:tav tm="0">
                                          <p:val>
                                            <p:strVal val="0-#ppt_w/2"/>
                                          </p:val>
                                        </p:tav>
                                        <p:tav tm="100000">
                                          <p:val>
                                            <p:strVal val="#ppt_x"/>
                                          </p:val>
                                        </p:tav>
                                      </p:tavLst>
                                    </p:anim>
                                    <p:anim calcmode="lin" valueType="num">
                                      <p:cBhvr additive="base">
                                        <p:cTn id="48" dur="500" fill="hold"/>
                                        <p:tgtEl>
                                          <p:spTgt spid="232577"/>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232578"/>
                                        </p:tgtEl>
                                        <p:attrNameLst>
                                          <p:attrName>style.visibility</p:attrName>
                                        </p:attrNameLst>
                                      </p:cBhvr>
                                      <p:to>
                                        <p:strVal val="visible"/>
                                      </p:to>
                                    </p:set>
                                    <p:anim calcmode="lin" valueType="num">
                                      <p:cBhvr additive="base">
                                        <p:cTn id="53" dur="500" fill="hold"/>
                                        <p:tgtEl>
                                          <p:spTgt spid="232578"/>
                                        </p:tgtEl>
                                        <p:attrNameLst>
                                          <p:attrName>ppt_x</p:attrName>
                                        </p:attrNameLst>
                                      </p:cBhvr>
                                      <p:tavLst>
                                        <p:tav tm="0">
                                          <p:val>
                                            <p:strVal val="0-#ppt_w/2"/>
                                          </p:val>
                                        </p:tav>
                                        <p:tav tm="100000">
                                          <p:val>
                                            <p:strVal val="#ppt_x"/>
                                          </p:val>
                                        </p:tav>
                                      </p:tavLst>
                                    </p:anim>
                                    <p:anim calcmode="lin" valueType="num">
                                      <p:cBhvr additive="base">
                                        <p:cTn id="54" dur="500" fill="hold"/>
                                        <p:tgtEl>
                                          <p:spTgt spid="232578"/>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232579"/>
                                        </p:tgtEl>
                                        <p:attrNameLst>
                                          <p:attrName>style.visibility</p:attrName>
                                        </p:attrNameLst>
                                      </p:cBhvr>
                                      <p:to>
                                        <p:strVal val="visible"/>
                                      </p:to>
                                    </p:set>
                                    <p:anim calcmode="lin" valueType="num">
                                      <p:cBhvr additive="base">
                                        <p:cTn id="59" dur="500" fill="hold"/>
                                        <p:tgtEl>
                                          <p:spTgt spid="232579"/>
                                        </p:tgtEl>
                                        <p:attrNameLst>
                                          <p:attrName>ppt_x</p:attrName>
                                        </p:attrNameLst>
                                      </p:cBhvr>
                                      <p:tavLst>
                                        <p:tav tm="0">
                                          <p:val>
                                            <p:strVal val="0-#ppt_w/2"/>
                                          </p:val>
                                        </p:tav>
                                        <p:tav tm="100000">
                                          <p:val>
                                            <p:strVal val="#ppt_x"/>
                                          </p:val>
                                        </p:tav>
                                      </p:tavLst>
                                    </p:anim>
                                    <p:anim calcmode="lin" valueType="num">
                                      <p:cBhvr additive="base">
                                        <p:cTn id="60" dur="500" fill="hold"/>
                                        <p:tgtEl>
                                          <p:spTgt spid="232579"/>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32580"/>
                                        </p:tgtEl>
                                        <p:attrNameLst>
                                          <p:attrName>style.visibility</p:attrName>
                                        </p:attrNameLst>
                                      </p:cBhvr>
                                      <p:to>
                                        <p:strVal val="visible"/>
                                      </p:to>
                                    </p:set>
                                    <p:anim calcmode="lin" valueType="num">
                                      <p:cBhvr additive="base">
                                        <p:cTn id="65" dur="500" fill="hold"/>
                                        <p:tgtEl>
                                          <p:spTgt spid="232580"/>
                                        </p:tgtEl>
                                        <p:attrNameLst>
                                          <p:attrName>ppt_x</p:attrName>
                                        </p:attrNameLst>
                                      </p:cBhvr>
                                      <p:tavLst>
                                        <p:tav tm="0">
                                          <p:val>
                                            <p:strVal val="0-#ppt_w/2"/>
                                          </p:val>
                                        </p:tav>
                                        <p:tav tm="100000">
                                          <p:val>
                                            <p:strVal val="#ppt_x"/>
                                          </p:val>
                                        </p:tav>
                                      </p:tavLst>
                                    </p:anim>
                                    <p:anim calcmode="lin" valueType="num">
                                      <p:cBhvr additive="base">
                                        <p:cTn id="66" dur="500" fill="hold"/>
                                        <p:tgtEl>
                                          <p:spTgt spid="232580"/>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2" fill="hold" nodeType="clickEffect">
                                  <p:stCondLst>
                                    <p:cond delay="0"/>
                                  </p:stCondLst>
                                  <p:childTnLst>
                                    <p:set>
                                      <p:cBhvr>
                                        <p:cTn id="70" dur="1" fill="hold">
                                          <p:stCondLst>
                                            <p:cond delay="0"/>
                                          </p:stCondLst>
                                        </p:cTn>
                                        <p:tgtEl>
                                          <p:spTgt spid="232575"/>
                                        </p:tgtEl>
                                        <p:attrNameLst>
                                          <p:attrName>style.visibility</p:attrName>
                                        </p:attrNameLst>
                                      </p:cBhvr>
                                      <p:to>
                                        <p:strVal val="visible"/>
                                      </p:to>
                                    </p:set>
                                    <p:anim calcmode="lin" valueType="num">
                                      <p:cBhvr>
                                        <p:cTn id="71" dur="500" fill="hold"/>
                                        <p:tgtEl>
                                          <p:spTgt spid="232575"/>
                                        </p:tgtEl>
                                        <p:attrNameLst>
                                          <p:attrName>ppt_x</p:attrName>
                                        </p:attrNameLst>
                                      </p:cBhvr>
                                      <p:tavLst>
                                        <p:tav tm="0">
                                          <p:val>
                                            <p:strVal val="#ppt_x+#ppt_w/2"/>
                                          </p:val>
                                        </p:tav>
                                        <p:tav tm="100000">
                                          <p:val>
                                            <p:strVal val="#ppt_x"/>
                                          </p:val>
                                        </p:tav>
                                      </p:tavLst>
                                    </p:anim>
                                    <p:anim calcmode="lin" valueType="num">
                                      <p:cBhvr>
                                        <p:cTn id="72" dur="500" fill="hold"/>
                                        <p:tgtEl>
                                          <p:spTgt spid="232575"/>
                                        </p:tgtEl>
                                        <p:attrNameLst>
                                          <p:attrName>ppt_y</p:attrName>
                                        </p:attrNameLst>
                                      </p:cBhvr>
                                      <p:tavLst>
                                        <p:tav tm="0">
                                          <p:val>
                                            <p:strVal val="#ppt_y"/>
                                          </p:val>
                                        </p:tav>
                                        <p:tav tm="100000">
                                          <p:val>
                                            <p:strVal val="#ppt_y"/>
                                          </p:val>
                                        </p:tav>
                                      </p:tavLst>
                                    </p:anim>
                                    <p:anim calcmode="lin" valueType="num">
                                      <p:cBhvr>
                                        <p:cTn id="73" dur="500" fill="hold"/>
                                        <p:tgtEl>
                                          <p:spTgt spid="232575"/>
                                        </p:tgtEl>
                                        <p:attrNameLst>
                                          <p:attrName>ppt_w</p:attrName>
                                        </p:attrNameLst>
                                      </p:cBhvr>
                                      <p:tavLst>
                                        <p:tav tm="0">
                                          <p:val>
                                            <p:fltVal val="0.000000"/>
                                          </p:val>
                                        </p:tav>
                                        <p:tav tm="100000">
                                          <p:val>
                                            <p:strVal val="#ppt_w"/>
                                          </p:val>
                                        </p:tav>
                                      </p:tavLst>
                                    </p:anim>
                                    <p:anim calcmode="lin" valueType="num">
                                      <p:cBhvr>
                                        <p:cTn id="74" dur="500" fill="hold"/>
                                        <p:tgtEl>
                                          <p:spTgt spid="232575"/>
                                        </p:tgtEl>
                                        <p:attrNameLst>
                                          <p:attrName>ppt_h</p:attrName>
                                        </p:attrNameLst>
                                      </p:cBhvr>
                                      <p:tavLst>
                                        <p:tav tm="0">
                                          <p:val>
                                            <p:strVal val="#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7" presetClass="entr" presetSubtype="2" fill="hold" nodeType="clickEffect">
                                  <p:stCondLst>
                                    <p:cond delay="0"/>
                                  </p:stCondLst>
                                  <p:childTnLst>
                                    <p:set>
                                      <p:cBhvr>
                                        <p:cTn id="78" dur="1" fill="hold">
                                          <p:stCondLst>
                                            <p:cond delay="0"/>
                                          </p:stCondLst>
                                        </p:cTn>
                                        <p:tgtEl>
                                          <p:spTgt spid="232576"/>
                                        </p:tgtEl>
                                        <p:attrNameLst>
                                          <p:attrName>style.visibility</p:attrName>
                                        </p:attrNameLst>
                                      </p:cBhvr>
                                      <p:to>
                                        <p:strVal val="visible"/>
                                      </p:to>
                                    </p:set>
                                    <p:anim calcmode="lin" valueType="num">
                                      <p:cBhvr>
                                        <p:cTn id="79" dur="500" fill="hold"/>
                                        <p:tgtEl>
                                          <p:spTgt spid="232576"/>
                                        </p:tgtEl>
                                        <p:attrNameLst>
                                          <p:attrName>ppt_x</p:attrName>
                                        </p:attrNameLst>
                                      </p:cBhvr>
                                      <p:tavLst>
                                        <p:tav tm="0">
                                          <p:val>
                                            <p:strVal val="#ppt_x+#ppt_w/2"/>
                                          </p:val>
                                        </p:tav>
                                        <p:tav tm="100000">
                                          <p:val>
                                            <p:strVal val="#ppt_x"/>
                                          </p:val>
                                        </p:tav>
                                      </p:tavLst>
                                    </p:anim>
                                    <p:anim calcmode="lin" valueType="num">
                                      <p:cBhvr>
                                        <p:cTn id="80" dur="500" fill="hold"/>
                                        <p:tgtEl>
                                          <p:spTgt spid="232576"/>
                                        </p:tgtEl>
                                        <p:attrNameLst>
                                          <p:attrName>ppt_y</p:attrName>
                                        </p:attrNameLst>
                                      </p:cBhvr>
                                      <p:tavLst>
                                        <p:tav tm="0">
                                          <p:val>
                                            <p:strVal val="#ppt_y"/>
                                          </p:val>
                                        </p:tav>
                                        <p:tav tm="100000">
                                          <p:val>
                                            <p:strVal val="#ppt_y"/>
                                          </p:val>
                                        </p:tav>
                                      </p:tavLst>
                                    </p:anim>
                                    <p:anim calcmode="lin" valueType="num">
                                      <p:cBhvr>
                                        <p:cTn id="81" dur="500" fill="hold"/>
                                        <p:tgtEl>
                                          <p:spTgt spid="232576"/>
                                        </p:tgtEl>
                                        <p:attrNameLst>
                                          <p:attrName>ppt_w</p:attrName>
                                        </p:attrNameLst>
                                      </p:cBhvr>
                                      <p:tavLst>
                                        <p:tav tm="0">
                                          <p:val>
                                            <p:fltVal val="0.000000"/>
                                          </p:val>
                                        </p:tav>
                                        <p:tav tm="100000">
                                          <p:val>
                                            <p:strVal val="#ppt_w"/>
                                          </p:val>
                                        </p:tav>
                                      </p:tavLst>
                                    </p:anim>
                                    <p:anim calcmode="lin" valueType="num">
                                      <p:cBhvr>
                                        <p:cTn id="82" dur="500" fill="hold"/>
                                        <p:tgtEl>
                                          <p:spTgt spid="2325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ldLvl="2" build="p"/>
      <p:bldP spid="232452" grpId="0" bldLvl="2" build="p"/>
      <p:bldP spid="232454" grpId="0" bldLvl="0" animBg="1"/>
      <p:bldP spid="232573" grpId="0" bldLvl="0" animBg="1"/>
      <p:bldP spid="232574" grpId="0" bldLvl="0" animBg="1"/>
      <p:bldP spid="232577" grpId="0" bldLvl="0" animBg="1"/>
      <p:bldP spid="232578" grpId="0" bldLvl="0" animBg="1"/>
      <p:bldP spid="232579" grpId="0" bldLvl="0" animBg="1"/>
      <p:bldP spid="232580" grpId="0" bldLvl="0" animBg="1"/>
      <p:bldP spid="232582"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USB Key</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在</a:t>
            </a:r>
            <a:r>
              <a:rPr kumimoji="0" lang="en-US"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PKI</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中的应用 </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54627" name="Rectangle 3"/>
          <p:cNvSpPr>
            <a:spLocks noGrp="1" noChangeArrowheads="1"/>
          </p:cNvSpPr>
          <p:nvPr>
            <p:ph idx="1"/>
          </p:nvPr>
        </p:nvSpPr>
        <p:spPr>
          <a:xfrm>
            <a:off x="1182688" y="2017713"/>
            <a:ext cx="7772400" cy="4840288"/>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USB Key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简介 </a:t>
            </a: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把智能卡和</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通信结合起来，就形成了</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 Key </a:t>
            </a:r>
            <a:endPar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早期的</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 Key</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都是使用一块</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接口芯片加一块智能卡芯片形成的双芯片方案，由于智能卡采用的是</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ISO 7816</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接口（一种串行接口）进行通信，速度比较慢</a:t>
            </a:r>
            <a:endPar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随着集成电路的发展和</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 Key</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市场的不断扩大，智能卡芯片厂商把</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接口也集成到了智能卡芯片中，就出现了专为</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 Key</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而设计的、把较高通信速度、安全存储、安全计算合为一体的</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专用芯片。</a:t>
            </a:r>
            <a:endPar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此时的通信速度最高可以达到</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12Mbps </a:t>
            </a:r>
            <a:endPar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USB Key </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的特点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55651" name="Rectangle 3"/>
          <p:cNvSpPr>
            <a:spLocks noGrp="1" noChangeArrowheads="1"/>
          </p:cNvSpPr>
          <p:nvPr>
            <p:ph idx="1"/>
          </p:nvPr>
        </p:nvSpPr>
        <p:spPr>
          <a:xfrm>
            <a:off x="1182688" y="2017713"/>
            <a:ext cx="7772400" cy="44354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双因子认证</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每个</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都具有一个</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PIN</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码，用于实现</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和用户的认证，只有通过</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PIN</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码认证后，用户才可以访问（使用）</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中的敏感信息。 </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n"/>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PIN</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码和</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设备成了用户使用</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的两个必要因素，即所谓</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双因子认证</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双因子认证</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从管理上和技术上使用户身份被冒认的可能性变得微乎其微，</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本身包含了硬件和存储在内部的敏感信息，</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PIN</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码只有用户本人掌握，这两种都归用户所有，所以同时丢失的可能性非常小。 </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USB Key </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的特点</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5667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大容量高安全存储空间</a:t>
            </a: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具有</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8K-128K</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的安全数据存储空间，并且通过各种技术手段保证存在在内部敏感数据不能被读出，使复制</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的可能性非常的小。</a:t>
            </a:r>
            <a:endPar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硬件实现加密算法</a:t>
            </a: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USBKey </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内置</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CPU</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或智能卡芯片，可以实现</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PKI</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体系中使用的数据摘要、数据加解密和签名的各种算法，加解密运算在</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内进行，保证了使用</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USBKey</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rPr>
              <a:t>的运算安全性和快速性。</a:t>
            </a:r>
            <a:endParaRPr kumimoji="0" lang="zh-CN" altLang="en-US" sz="2400" b="1"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携带、使用方便</a:t>
            </a: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灯片编号占位符 4"/>
          <p:cNvSpPr txBox="1">
            <a:spLocks noGrp="1"/>
          </p:cNvSpPr>
          <p:nvPr>
            <p:ph type="sldNum" sz="quarter" idx="11"/>
          </p:nvPr>
        </p:nvSpPr>
        <p:spPr>
          <a:xfrm>
            <a:off x="6553200" y="6248400"/>
            <a:ext cx="2133600" cy="476250"/>
          </a:xfrm>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Garamond" panose="02020404030301010803"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5pPr>
          </a:lstStyle>
          <a:p>
            <a:pPr lvl="0" algn="r" eaLnBrk="1" hangingPunct="1"/>
            <a:fld id="{9A0DB2DC-4C9A-4742-B13C-FB6460FD3503}" type="slidenum">
              <a:rPr lang="zh-CN" altLang="en-US" sz="1200" dirty="0">
                <a:latin typeface="Arial" panose="020B0604020202020204" pitchFamily="34" charset="0"/>
              </a:rPr>
            </a:fld>
            <a:endParaRPr lang="zh-CN" altLang="en-US" sz="1200" dirty="0">
              <a:latin typeface="Arial" panose="020B0604020202020204" pitchFamily="34" charset="0"/>
            </a:endParaRPr>
          </a:p>
        </p:txBody>
      </p:sp>
      <p:sp>
        <p:nvSpPr>
          <p:cNvPr id="339970" name="Rectangle 2"/>
          <p:cNvSpPr>
            <a:spLocks noGrp="1" noRot="1" noChangeArrowheads="1"/>
          </p:cNvSpPr>
          <p:nvPr>
            <p:ph type="title"/>
          </p:nvPr>
        </p:nvSpPr>
        <p:spPr>
          <a:xfrm>
            <a:off x="0" y="609600"/>
            <a:ext cx="9144000" cy="617538"/>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j-ea"/>
                <a:cs typeface="+mj-cs"/>
              </a:rPr>
              <a:t>SET</a:t>
            </a:r>
            <a:r>
              <a:rPr kumimoji="0" lang="zh-CN" altLang="en-US" sz="44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j-ea"/>
                <a:cs typeface="+mj-cs"/>
              </a:rPr>
              <a:t>支付</a:t>
            </a:r>
            <a:r>
              <a:rPr kumimoji="0" lang="zh-CN" altLang="en-US" sz="44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j-ea"/>
                <a:cs typeface="+mj-cs"/>
              </a:rPr>
              <a:t> </a:t>
            </a:r>
            <a:endParaRPr kumimoji="0" lang="zh-CN" altLang="en-US" sz="44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120836" name="Rectangle 3"/>
          <p:cNvSpPr/>
          <p:nvPr/>
        </p:nvSpPr>
        <p:spPr>
          <a:xfrm>
            <a:off x="228600" y="1212850"/>
            <a:ext cx="8763000" cy="5645150"/>
          </a:xfrm>
          <a:prstGeom prst="rect">
            <a:avLst/>
          </a:prstGeom>
          <a:noFill/>
          <a:ln w="9525">
            <a:noFill/>
          </a:ln>
        </p:spPr>
        <p:txBody>
          <a:bodyPr>
            <a:spAutoFit/>
          </a:bodyPr>
          <a:p>
            <a:pPr algn="just">
              <a:spcBef>
                <a:spcPct val="50000"/>
              </a:spcBef>
            </a:pPr>
            <a:r>
              <a:rPr lang="zh-CN" altLang="en-US" sz="2800" b="1" dirty="0">
                <a:latin typeface="宋体" panose="02010600030101010101" pitchFamily="2" charset="-122"/>
              </a:rPr>
              <a:t>支付工具：现金</a:t>
            </a:r>
            <a:r>
              <a:rPr lang="zh-CN" altLang="en-US" sz="2800" b="1" dirty="0">
                <a:latin typeface="宋体" panose="02010600030101010101" pitchFamily="2" charset="-122"/>
                <a:sym typeface="Wingdings" panose="05000000000000000000" pitchFamily="2" charset="2"/>
              </a:rPr>
              <a:t></a:t>
            </a:r>
            <a:r>
              <a:rPr lang="zh-CN" altLang="en-US" sz="2800" b="1" dirty="0">
                <a:latin typeface="宋体" panose="02010600030101010101" pitchFamily="2" charset="-122"/>
              </a:rPr>
              <a:t>信用卡。</a:t>
            </a:r>
            <a:endParaRPr lang="zh-CN" altLang="en-US" sz="2800" b="1" dirty="0">
              <a:latin typeface="宋体" panose="02010600030101010101" pitchFamily="2" charset="-122"/>
            </a:endParaRPr>
          </a:p>
          <a:p>
            <a:pPr algn="just">
              <a:spcBef>
                <a:spcPct val="50000"/>
              </a:spcBef>
            </a:pPr>
            <a:r>
              <a:rPr lang="zh-CN" altLang="en-US" sz="2800" b="1" dirty="0">
                <a:latin typeface="宋体" panose="02010600030101010101" pitchFamily="2" charset="-122"/>
              </a:rPr>
              <a:t>网上交易: 商家、消费者和银行通过</a:t>
            </a:r>
            <a:r>
              <a:rPr lang="en-US" altLang="zh-CN" sz="2800" b="1" dirty="0">
                <a:latin typeface="宋体" panose="02010600030101010101" pitchFamily="2" charset="-122"/>
              </a:rPr>
              <a:t>Internet</a:t>
            </a:r>
            <a:r>
              <a:rPr lang="zh-CN" altLang="en-US" sz="2800" b="1" dirty="0">
                <a:latin typeface="宋体" panose="02010600030101010101" pitchFamily="2" charset="-122"/>
              </a:rPr>
              <a:t>交互，无法用传统方法完成支付的查验过程。</a:t>
            </a:r>
            <a:endParaRPr lang="zh-CN" altLang="en-US" sz="2800" b="1" dirty="0">
              <a:latin typeface="宋体" panose="02010600030101010101" pitchFamily="2" charset="-122"/>
            </a:endParaRPr>
          </a:p>
          <a:p>
            <a:pPr algn="just">
              <a:spcBef>
                <a:spcPct val="50000"/>
              </a:spcBef>
            </a:pPr>
            <a:r>
              <a:rPr lang="zh-CN" altLang="en-US" sz="2800" b="1" dirty="0">
                <a:latin typeface="宋体" panose="02010600030101010101" pitchFamily="2" charset="-122"/>
              </a:rPr>
              <a:t>1995年，信用卡国际组织、资讯业者及网络安全专业团体等开始组成策略联盟，共同研究开发电子商务的安全交易系统。1996年6月，由</a:t>
            </a:r>
            <a:r>
              <a:rPr lang="en-US" altLang="zh-CN" sz="2800" b="1" dirty="0">
                <a:latin typeface="宋体" panose="02010600030101010101" pitchFamily="2" charset="-122"/>
              </a:rPr>
              <a:t>IBM，Master Card International，Visa International，Microsoft，Netscape</a:t>
            </a:r>
            <a:r>
              <a:rPr lang="zh-CN" altLang="en-US" sz="2800" b="1" dirty="0">
                <a:latin typeface="宋体" panose="02010600030101010101" pitchFamily="2" charset="-122"/>
              </a:rPr>
              <a:t>等共同制定的标准</a:t>
            </a:r>
            <a:r>
              <a:rPr lang="en-US" altLang="zh-CN" sz="2800" b="1" dirty="0">
                <a:latin typeface="宋体" panose="02010600030101010101" pitchFamily="2" charset="-122"/>
              </a:rPr>
              <a:t>SET（Secure Electronic Transaction）</a:t>
            </a:r>
            <a:r>
              <a:rPr lang="zh-CN" altLang="en-US" sz="2800" b="1" dirty="0">
                <a:latin typeface="宋体" panose="02010600030101010101" pitchFamily="2" charset="-122"/>
              </a:rPr>
              <a:t>正式公告，涵盖了信用卡在电子商务交易中的交易协定、信息保密、资料完整即数字认证、数字签名等。这一标准被公认为全球网际网络的标准，被用于</a:t>
            </a:r>
            <a:r>
              <a:rPr lang="en-US" altLang="zh-CN" sz="2800" b="1" dirty="0">
                <a:latin typeface="宋体" panose="02010600030101010101" pitchFamily="2" charset="-122"/>
              </a:rPr>
              <a:t>B2C</a:t>
            </a:r>
            <a:r>
              <a:rPr lang="zh-CN" altLang="en-US" sz="2800" b="1" dirty="0">
                <a:latin typeface="宋体" panose="02010600030101010101" pitchFamily="2" charset="-122"/>
              </a:rPr>
              <a:t>交易模式中。</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120837" name="Text Box 4"/>
          <p:cNvSpPr txBox="1"/>
          <p:nvPr/>
        </p:nvSpPr>
        <p:spPr>
          <a:xfrm>
            <a:off x="3505200" y="0"/>
            <a:ext cx="5638800" cy="457200"/>
          </a:xfrm>
          <a:prstGeom prst="rect">
            <a:avLst/>
          </a:prstGeom>
          <a:noFill/>
          <a:ln w="9525">
            <a:noFill/>
          </a:ln>
        </p:spPr>
        <p:txBody>
          <a:bodyPr>
            <a:spAutoFit/>
          </a:bodyPr>
          <a:p>
            <a:pPr algn="r">
              <a:spcBef>
                <a:spcPct val="50000"/>
              </a:spcBef>
            </a:pPr>
            <a:r>
              <a:rPr lang="zh-CN" altLang="en-US" sz="2400" b="1" dirty="0">
                <a:latin typeface="Times New Roman" panose="02020603050405020304" pitchFamily="18" charset="0"/>
              </a:rPr>
              <a:t>第八章</a:t>
            </a:r>
            <a:r>
              <a:rPr lang="zh-CN" altLang="en-US" sz="2400" b="1" dirty="0">
                <a:latin typeface="宋体" panose="02010600030101010101" pitchFamily="2" charset="-122"/>
              </a:rPr>
              <a:t> </a:t>
            </a:r>
            <a:r>
              <a:rPr lang="zh-CN" altLang="en-US" sz="2400" b="1" dirty="0">
                <a:latin typeface="Times New Roman" panose="02020603050405020304" pitchFamily="18" charset="0"/>
              </a:rPr>
              <a:t>公开密钥设施</a:t>
            </a:r>
            <a:r>
              <a:rPr lang="en-US" altLang="zh-CN" sz="2400" b="1" dirty="0">
                <a:latin typeface="宋体" panose="02010600030101010101" pitchFamily="2" charset="-122"/>
              </a:rPr>
              <a:t>PKI</a:t>
            </a:r>
            <a:endParaRPr lang="zh-CN" altLang="en-US" sz="2400" b="1" dirty="0">
              <a:latin typeface="宋体" panose="02010600030101010101" pitchFamily="2" charset="-122"/>
            </a:endParaRP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灯片编号占位符 4"/>
          <p:cNvSpPr txBox="1">
            <a:spLocks noGrp="1"/>
          </p:cNvSpPr>
          <p:nvPr>
            <p:ph type="sldNum" sz="quarter" idx="11"/>
          </p:nvPr>
        </p:nvSpPr>
        <p:spPr>
          <a:xfrm>
            <a:off x="6553200" y="6248400"/>
            <a:ext cx="2133600" cy="476250"/>
          </a:xfrm>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Garamond" panose="02020404030301010803"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5pPr>
          </a:lstStyle>
          <a:p>
            <a:pPr lvl="0" algn="r" eaLnBrk="1" hangingPunct="1"/>
            <a:fld id="{9A0DB2DC-4C9A-4742-B13C-FB6460FD3503}" type="slidenum">
              <a:rPr lang="zh-CN" altLang="en-US" sz="1200" dirty="0">
                <a:latin typeface="Arial" panose="020B0604020202020204" pitchFamily="34" charset="0"/>
              </a:rPr>
            </a:fld>
            <a:endParaRPr lang="zh-CN" altLang="en-US" sz="1200" dirty="0">
              <a:latin typeface="Arial" panose="020B0604020202020204" pitchFamily="34" charset="0"/>
            </a:endParaRPr>
          </a:p>
        </p:txBody>
      </p:sp>
      <p:sp>
        <p:nvSpPr>
          <p:cNvPr id="121859" name="Rectangle 3"/>
          <p:cNvSpPr/>
          <p:nvPr/>
        </p:nvSpPr>
        <p:spPr>
          <a:xfrm>
            <a:off x="228600" y="1066800"/>
            <a:ext cx="8610600" cy="4579938"/>
          </a:xfrm>
          <a:prstGeom prst="rect">
            <a:avLst/>
          </a:prstGeom>
          <a:noFill/>
          <a:ln w="9525">
            <a:noFill/>
          </a:ln>
        </p:spPr>
        <p:txBody>
          <a:bodyPr>
            <a:spAutoFit/>
          </a:bodyPr>
          <a:p>
            <a:pPr algn="just">
              <a:spcBef>
                <a:spcPct val="50000"/>
              </a:spcBef>
            </a:pPr>
            <a:r>
              <a:rPr lang="zh-CN" altLang="en-US" sz="2800" b="1" dirty="0">
                <a:latin typeface="Times New Roman" panose="02020603050405020304" pitchFamily="18" charset="0"/>
              </a:rPr>
              <a:t>在</a:t>
            </a:r>
            <a:r>
              <a:rPr lang="en-US" altLang="zh-CN" sz="2800" b="1" dirty="0">
                <a:latin typeface="宋体" panose="02010600030101010101" pitchFamily="2" charset="-122"/>
              </a:rPr>
              <a:t>SET</a:t>
            </a:r>
            <a:r>
              <a:rPr lang="zh-CN" altLang="en-US" sz="2800" b="1" dirty="0">
                <a:latin typeface="Times New Roman" panose="02020603050405020304" pitchFamily="18" charset="0"/>
              </a:rPr>
              <a:t>标准中，定义了五种实体：</a:t>
            </a:r>
            <a:r>
              <a:rPr lang="zh-CN" altLang="en-US" sz="2800" b="1" dirty="0">
                <a:latin typeface="宋体" panose="02010600030101010101" pitchFamily="2" charset="-122"/>
              </a:rPr>
              <a:t> </a:t>
            </a:r>
            <a:endParaRPr lang="zh-CN" altLang="en-US" sz="2800" b="1" dirty="0">
              <a:latin typeface="宋体" panose="02010600030101010101" pitchFamily="2" charset="-122"/>
            </a:endParaRPr>
          </a:p>
          <a:p>
            <a:pPr algn="just">
              <a:spcBef>
                <a:spcPct val="50000"/>
              </a:spcBef>
            </a:pPr>
            <a:r>
              <a:rPr lang="zh-CN" altLang="en-US" sz="2800" b="1" dirty="0">
                <a:latin typeface="Times New Roman" panose="02020603050405020304" pitchFamily="18" charset="0"/>
              </a:rPr>
              <a:t>●持卡人：拥有信用卡的消费者；</a:t>
            </a:r>
            <a:r>
              <a:rPr lang="zh-CN" altLang="en-US" sz="2800" b="1" dirty="0">
                <a:latin typeface="宋体" panose="02010600030101010101" pitchFamily="2" charset="-122"/>
              </a:rPr>
              <a:t> </a:t>
            </a:r>
            <a:endParaRPr lang="zh-CN" altLang="en-US" sz="2800" b="1" dirty="0">
              <a:latin typeface="宋体" panose="02010600030101010101" pitchFamily="2" charset="-122"/>
            </a:endParaRPr>
          </a:p>
          <a:p>
            <a:pPr algn="just">
              <a:spcBef>
                <a:spcPct val="50000"/>
              </a:spcBef>
            </a:pPr>
            <a:r>
              <a:rPr lang="zh-CN" altLang="en-US" sz="2800" b="1" dirty="0">
                <a:latin typeface="Times New Roman" panose="02020603050405020304" pitchFamily="18" charset="0"/>
              </a:rPr>
              <a:t>●商家：在</a:t>
            </a:r>
            <a:r>
              <a:rPr lang="en-US" altLang="zh-CN" sz="2800" b="1" dirty="0">
                <a:latin typeface="宋体" panose="02010600030101010101" pitchFamily="2" charset="-122"/>
              </a:rPr>
              <a:t>Internet</a:t>
            </a:r>
            <a:r>
              <a:rPr lang="zh-CN" altLang="en-US" sz="2800" b="1" dirty="0">
                <a:latin typeface="Times New Roman" panose="02020603050405020304" pitchFamily="18" charset="0"/>
              </a:rPr>
              <a:t>上提供商品或服务的商店；</a:t>
            </a:r>
            <a:r>
              <a:rPr lang="zh-CN" altLang="en-US" sz="2800" b="1" dirty="0">
                <a:latin typeface="宋体" panose="02010600030101010101" pitchFamily="2" charset="-122"/>
              </a:rPr>
              <a:t> </a:t>
            </a:r>
            <a:endParaRPr lang="zh-CN" altLang="en-US" sz="2800" b="1" dirty="0">
              <a:latin typeface="宋体" panose="02010600030101010101" pitchFamily="2" charset="-122"/>
            </a:endParaRPr>
          </a:p>
          <a:p>
            <a:pPr algn="just">
              <a:spcBef>
                <a:spcPct val="50000"/>
              </a:spcBef>
            </a:pPr>
            <a:r>
              <a:rPr lang="zh-CN" altLang="en-US" sz="2800" b="1" dirty="0">
                <a:latin typeface="Times New Roman" panose="02020603050405020304" pitchFamily="18" charset="0"/>
              </a:rPr>
              <a:t>●支付网关：由金融机构或第三方控制，它处理持卡人购买和商家支付的请求；</a:t>
            </a:r>
            <a:r>
              <a:rPr lang="zh-CN" altLang="en-US" sz="2800" b="1" dirty="0">
                <a:latin typeface="宋体" panose="02010600030101010101" pitchFamily="2" charset="-122"/>
              </a:rPr>
              <a:t> </a:t>
            </a:r>
            <a:endParaRPr lang="zh-CN" altLang="en-US" sz="2800" b="1" dirty="0">
              <a:latin typeface="宋体" panose="02010600030101010101" pitchFamily="2" charset="-122"/>
            </a:endParaRPr>
          </a:p>
          <a:p>
            <a:pPr algn="just">
              <a:spcBef>
                <a:spcPct val="50000"/>
              </a:spcBef>
            </a:pPr>
            <a:r>
              <a:rPr lang="zh-CN" altLang="en-US" sz="2800" b="1" dirty="0">
                <a:latin typeface="Times New Roman" panose="02020603050405020304" pitchFamily="18" charset="0"/>
              </a:rPr>
              <a:t>●收单行</a:t>
            </a:r>
            <a:r>
              <a:rPr lang="zh-CN" altLang="en-US" sz="2800" b="1" dirty="0">
                <a:latin typeface="宋体" panose="02010600030101010101" pitchFamily="2" charset="-122"/>
              </a:rPr>
              <a:t>(</a:t>
            </a:r>
            <a:r>
              <a:rPr lang="en-US" altLang="zh-CN" sz="2800" b="1" dirty="0">
                <a:latin typeface="宋体" panose="02010600030101010101" pitchFamily="2" charset="-122"/>
              </a:rPr>
              <a:t>Acquirer)</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负责将持卡人的帐户中资金转入商家帐户的金融机构；</a:t>
            </a:r>
            <a:r>
              <a:rPr lang="zh-CN" altLang="en-US" sz="2800" b="1" dirty="0">
                <a:latin typeface="宋体" panose="02010600030101010101" pitchFamily="2" charset="-122"/>
              </a:rPr>
              <a:t> </a:t>
            </a:r>
            <a:endParaRPr lang="zh-CN" altLang="en-US" sz="2800" b="1" dirty="0">
              <a:latin typeface="宋体" panose="02010600030101010101" pitchFamily="2" charset="-122"/>
            </a:endParaRPr>
          </a:p>
          <a:p>
            <a:pPr algn="just">
              <a:spcBef>
                <a:spcPct val="50000"/>
              </a:spcBef>
            </a:pPr>
            <a:r>
              <a:rPr lang="zh-CN" altLang="en-US" sz="2800" b="1" dirty="0">
                <a:latin typeface="宋体" panose="02010600030101010101" pitchFamily="2" charset="-122"/>
              </a:rPr>
              <a:t>●发卡行：负责向持卡人发放信用卡的金融机构。 </a:t>
            </a:r>
            <a:endParaRPr lang="zh-CN" altLang="en-US" sz="2800" b="1" dirty="0">
              <a:latin typeface="宋体" panose="02010600030101010101" pitchFamily="2" charset="-122"/>
            </a:endParaRPr>
          </a:p>
        </p:txBody>
      </p:sp>
      <p:sp>
        <p:nvSpPr>
          <p:cNvPr id="121860" name="Text Box 4"/>
          <p:cNvSpPr txBox="1"/>
          <p:nvPr/>
        </p:nvSpPr>
        <p:spPr>
          <a:xfrm>
            <a:off x="3505200" y="0"/>
            <a:ext cx="5638800" cy="457200"/>
          </a:xfrm>
          <a:prstGeom prst="rect">
            <a:avLst/>
          </a:prstGeom>
          <a:noFill/>
          <a:ln w="9525">
            <a:noFill/>
          </a:ln>
        </p:spPr>
        <p:txBody>
          <a:bodyPr>
            <a:spAutoFit/>
          </a:bodyPr>
          <a:p>
            <a:pPr algn="r">
              <a:spcBef>
                <a:spcPct val="50000"/>
              </a:spcBef>
            </a:pPr>
            <a:r>
              <a:rPr lang="zh-CN" altLang="en-US" sz="2400" dirty="0">
                <a:latin typeface="Times New Roman" panose="02020603050405020304" pitchFamily="18" charset="0"/>
              </a:rPr>
              <a:t>第八章</a:t>
            </a:r>
            <a:r>
              <a:rPr lang="zh-CN" altLang="en-US" sz="2400" dirty="0">
                <a:latin typeface="宋体" panose="02010600030101010101" pitchFamily="2" charset="-122"/>
              </a:rPr>
              <a:t> </a:t>
            </a:r>
            <a:r>
              <a:rPr lang="zh-CN" altLang="en-US" sz="2400" dirty="0">
                <a:latin typeface="Times New Roman" panose="02020603050405020304" pitchFamily="18" charset="0"/>
              </a:rPr>
              <a:t>公开密钥设施</a:t>
            </a:r>
            <a:r>
              <a:rPr lang="en-US" altLang="zh-CN" sz="2400" dirty="0">
                <a:latin typeface="宋体" panose="02010600030101010101" pitchFamily="2" charset="-122"/>
              </a:rPr>
              <a:t>PKI</a:t>
            </a:r>
            <a:endParaRPr lang="zh-CN" altLang="en-US" sz="2400" dirty="0">
              <a:latin typeface="宋体" panose="02010600030101010101" pitchFamily="2" charset="-122"/>
            </a:endParaRPr>
          </a:p>
        </p:txBody>
      </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灯片编号占位符 4"/>
          <p:cNvSpPr txBox="1">
            <a:spLocks noGrp="1"/>
          </p:cNvSpPr>
          <p:nvPr>
            <p:ph type="sldNum" sz="quarter" idx="11"/>
          </p:nvPr>
        </p:nvSpPr>
        <p:spPr>
          <a:xfrm>
            <a:off x="6553200" y="6248400"/>
            <a:ext cx="2133600" cy="476250"/>
          </a:xfrm>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Garamond" panose="02020404030301010803"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5pPr>
          </a:lstStyle>
          <a:p>
            <a:pPr lvl="0" algn="r" eaLnBrk="1" hangingPunct="1"/>
            <a:fld id="{9A0DB2DC-4C9A-4742-B13C-FB6460FD3503}" type="slidenum">
              <a:rPr lang="zh-CN" altLang="en-US" sz="1200" dirty="0">
                <a:latin typeface="Arial" panose="020B0604020202020204" pitchFamily="34" charset="0"/>
              </a:rPr>
            </a:fld>
            <a:endParaRPr lang="zh-CN" altLang="en-US" sz="1200" dirty="0">
              <a:latin typeface="Arial" panose="020B0604020202020204" pitchFamily="34" charset="0"/>
            </a:endParaRPr>
          </a:p>
        </p:txBody>
      </p:sp>
      <p:sp>
        <p:nvSpPr>
          <p:cNvPr id="122883" name="Rectangle 3"/>
          <p:cNvSpPr/>
          <p:nvPr/>
        </p:nvSpPr>
        <p:spPr>
          <a:xfrm>
            <a:off x="228600" y="762000"/>
            <a:ext cx="8610600" cy="5648325"/>
          </a:xfrm>
          <a:prstGeom prst="rect">
            <a:avLst/>
          </a:prstGeom>
          <a:noFill/>
          <a:ln w="9525">
            <a:noFill/>
          </a:ln>
        </p:spPr>
        <p:txBody>
          <a:bodyPr>
            <a:spAutoFit/>
          </a:bodyPr>
          <a:p>
            <a:pPr algn="just">
              <a:spcBef>
                <a:spcPct val="50000"/>
              </a:spcBef>
            </a:pPr>
            <a:r>
              <a:rPr lang="en-US" altLang="zh-CN" sz="2800" b="1" dirty="0">
                <a:latin typeface="Times New Roman" panose="02020603050405020304" pitchFamily="18" charset="0"/>
              </a:rPr>
              <a:t>SET</a:t>
            </a:r>
            <a:r>
              <a:rPr lang="zh-CN" altLang="en-US" sz="2800" b="1" dirty="0">
                <a:latin typeface="Times New Roman" panose="02020603050405020304" pitchFamily="18" charset="0"/>
              </a:rPr>
              <a:t>协议流程：</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1）用户向商家发订单和经过签名、加密的信托书。书中的信用卡号是经过加密的，商家无从得知；</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2）收单银行收到商家发来的信托书，解密信用卡号，并通过认证验证签名；</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3）收单银行向发卡银行查问，确认用户信用卡是否属实；</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4）发卡银行认可并签证该笔交易；</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5）收单银行认可商家并签证此交易；</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6）商家向用户传送货物和收据；</a:t>
            </a:r>
            <a:endParaRPr lang="zh-CN" altLang="en-US" sz="2800" b="1" dirty="0">
              <a:latin typeface="Times New Roman" panose="02020603050405020304" pitchFamily="18" charset="0"/>
            </a:endParaRPr>
          </a:p>
        </p:txBody>
      </p:sp>
      <p:sp>
        <p:nvSpPr>
          <p:cNvPr id="122884" name="Text Box 4"/>
          <p:cNvSpPr txBox="1"/>
          <p:nvPr/>
        </p:nvSpPr>
        <p:spPr>
          <a:xfrm>
            <a:off x="3505200" y="0"/>
            <a:ext cx="5638800" cy="457200"/>
          </a:xfrm>
          <a:prstGeom prst="rect">
            <a:avLst/>
          </a:prstGeom>
          <a:noFill/>
          <a:ln w="9525">
            <a:noFill/>
          </a:ln>
        </p:spPr>
        <p:txBody>
          <a:bodyPr>
            <a:spAutoFit/>
          </a:bodyPr>
          <a:p>
            <a:pPr algn="r">
              <a:spcBef>
                <a:spcPct val="50000"/>
              </a:spcBef>
            </a:pPr>
            <a:r>
              <a:rPr lang="zh-CN" altLang="en-US" sz="2400" dirty="0">
                <a:latin typeface="Times New Roman" panose="02020603050405020304" pitchFamily="18" charset="0"/>
              </a:rPr>
              <a:t>第八章</a:t>
            </a:r>
            <a:r>
              <a:rPr lang="zh-CN" altLang="en-US" sz="2400" dirty="0">
                <a:latin typeface="宋体" panose="02010600030101010101" pitchFamily="2" charset="-122"/>
              </a:rPr>
              <a:t> </a:t>
            </a:r>
            <a:r>
              <a:rPr lang="zh-CN" altLang="en-US" sz="2400" dirty="0">
                <a:latin typeface="Times New Roman" panose="02020603050405020304" pitchFamily="18" charset="0"/>
              </a:rPr>
              <a:t>公开密钥设施</a:t>
            </a:r>
            <a:r>
              <a:rPr lang="en-US" altLang="zh-CN" sz="2400" dirty="0">
                <a:latin typeface="宋体" panose="02010600030101010101" pitchFamily="2" charset="-122"/>
              </a:rPr>
              <a:t>PKI</a:t>
            </a:r>
            <a:endParaRPr lang="zh-CN" altLang="en-US" sz="2400" dirty="0">
              <a:latin typeface="宋体" panose="02010600030101010101" pitchFamily="2" charset="-122"/>
            </a:endParaRPr>
          </a:p>
        </p:txBody>
      </p: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灯片编号占位符 4"/>
          <p:cNvSpPr txBox="1">
            <a:spLocks noGrp="1"/>
          </p:cNvSpPr>
          <p:nvPr>
            <p:ph type="sldNum" sz="quarter" idx="11"/>
          </p:nvPr>
        </p:nvSpPr>
        <p:spPr>
          <a:xfrm>
            <a:off x="6553200" y="6248400"/>
            <a:ext cx="2133600" cy="476250"/>
          </a:xfrm>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Garamond" panose="02020404030301010803"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5pPr>
          </a:lstStyle>
          <a:p>
            <a:pPr lvl="0" algn="r" eaLnBrk="1" hangingPunct="1"/>
            <a:fld id="{9A0DB2DC-4C9A-4742-B13C-FB6460FD3503}" type="slidenum">
              <a:rPr lang="zh-CN" altLang="en-US" sz="1200" dirty="0">
                <a:latin typeface="Arial" panose="020B0604020202020204" pitchFamily="34" charset="0"/>
              </a:rPr>
            </a:fld>
            <a:endParaRPr lang="zh-CN" altLang="en-US" sz="1200" dirty="0">
              <a:latin typeface="Arial" panose="020B0604020202020204" pitchFamily="34" charset="0"/>
            </a:endParaRPr>
          </a:p>
        </p:txBody>
      </p:sp>
      <p:sp>
        <p:nvSpPr>
          <p:cNvPr id="123907" name="Rectangle 3"/>
          <p:cNvSpPr/>
          <p:nvPr/>
        </p:nvSpPr>
        <p:spPr>
          <a:xfrm>
            <a:off x="228600" y="990600"/>
            <a:ext cx="8610600" cy="3754438"/>
          </a:xfrm>
          <a:prstGeom prst="rect">
            <a:avLst/>
          </a:prstGeom>
          <a:noFill/>
          <a:ln w="9525">
            <a:noFill/>
          </a:ln>
        </p:spPr>
        <p:txBody>
          <a:bodyPr>
            <a:spAutoFit/>
          </a:bodyPr>
          <a:p>
            <a:pPr algn="just">
              <a:spcBef>
                <a:spcPct val="50000"/>
              </a:spcBef>
            </a:pPr>
            <a:r>
              <a:rPr lang="zh-CN" altLang="en-US" sz="2800" b="1" dirty="0">
                <a:latin typeface="Times New Roman" panose="02020603050405020304" pitchFamily="18" charset="0"/>
              </a:rPr>
              <a:t>7） 交易成功，商家向收单银行索款；</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8） 收单银行按合同将货款划给商家；</a:t>
            </a:r>
            <a:endParaRPr lang="zh-CN" altLang="en-US" sz="2800" b="1" dirty="0">
              <a:latin typeface="Times New Roman" panose="02020603050405020304" pitchFamily="18" charset="0"/>
            </a:endParaRPr>
          </a:p>
          <a:p>
            <a:pPr algn="just">
              <a:spcBef>
                <a:spcPct val="50000"/>
              </a:spcBef>
            </a:pPr>
            <a:r>
              <a:rPr lang="zh-CN" altLang="en-US" sz="2800" b="1" dirty="0">
                <a:latin typeface="Times New Roman" panose="02020603050405020304" pitchFamily="18" charset="0"/>
              </a:rPr>
              <a:t>9） 发卡银行向用户定期寄去信用卡消费账单。</a:t>
            </a:r>
            <a:endParaRPr lang="zh-CN" altLang="en-US" sz="2800" b="1" dirty="0">
              <a:latin typeface="Times New Roman" panose="02020603050405020304" pitchFamily="18" charset="0"/>
            </a:endParaRPr>
          </a:p>
          <a:p>
            <a:pPr algn="just">
              <a:spcBef>
                <a:spcPct val="50000"/>
              </a:spcBef>
            </a:pPr>
            <a:r>
              <a:rPr lang="en-US" altLang="zh-CN" sz="2800" b="1" dirty="0">
                <a:latin typeface="Times New Roman" panose="02020603050405020304" pitchFamily="18" charset="0"/>
              </a:rPr>
              <a:t>SET</a:t>
            </a:r>
            <a:r>
              <a:rPr lang="zh-CN" altLang="en-US" sz="2800" b="1" dirty="0">
                <a:latin typeface="Times New Roman" panose="02020603050405020304" pitchFamily="18" charset="0"/>
              </a:rPr>
              <a:t>协议规定了参加电子交易各方在交易中的行为规范和信息交换的过程和规则，有助于实现安全、可靠的电子商务，得到了许多著名网络和计算机公司的支持。</a:t>
            </a:r>
            <a:endParaRPr lang="zh-CN" altLang="en-US" sz="2800" b="1" dirty="0">
              <a:latin typeface="Times New Roman" panose="02020603050405020304" pitchFamily="18" charset="0"/>
            </a:endParaRPr>
          </a:p>
        </p:txBody>
      </p:sp>
      <p:sp>
        <p:nvSpPr>
          <p:cNvPr id="123908" name="Text Box 4"/>
          <p:cNvSpPr txBox="1"/>
          <p:nvPr/>
        </p:nvSpPr>
        <p:spPr>
          <a:xfrm>
            <a:off x="3505200" y="0"/>
            <a:ext cx="5638800" cy="457200"/>
          </a:xfrm>
          <a:prstGeom prst="rect">
            <a:avLst/>
          </a:prstGeom>
          <a:noFill/>
          <a:ln w="9525">
            <a:noFill/>
          </a:ln>
        </p:spPr>
        <p:txBody>
          <a:bodyPr>
            <a:spAutoFit/>
          </a:bodyPr>
          <a:p>
            <a:pPr algn="r">
              <a:spcBef>
                <a:spcPct val="50000"/>
              </a:spcBef>
            </a:pPr>
            <a:r>
              <a:rPr lang="zh-CN" altLang="en-US" sz="2400" dirty="0">
                <a:latin typeface="Times New Roman" panose="02020603050405020304" pitchFamily="18" charset="0"/>
              </a:rPr>
              <a:t>第八章</a:t>
            </a:r>
            <a:r>
              <a:rPr lang="zh-CN" altLang="en-US" sz="2400" dirty="0">
                <a:latin typeface="宋体" panose="02010600030101010101" pitchFamily="2" charset="-122"/>
              </a:rPr>
              <a:t> </a:t>
            </a:r>
            <a:r>
              <a:rPr lang="zh-CN" altLang="en-US" sz="2400" dirty="0">
                <a:latin typeface="Times New Roman" panose="02020603050405020304" pitchFamily="18" charset="0"/>
              </a:rPr>
              <a:t>公开密钥设施</a:t>
            </a:r>
            <a:r>
              <a:rPr lang="en-US" altLang="zh-CN" sz="2400" dirty="0">
                <a:latin typeface="宋体" panose="02010600030101010101" pitchFamily="2" charset="-122"/>
              </a:rPr>
              <a:t>PKI</a:t>
            </a:r>
            <a:endParaRPr lang="zh-CN" altLang="en-US" sz="2400" dirty="0">
              <a:latin typeface="宋体" panose="02010600030101010101" pitchFamily="2" charset="-122"/>
            </a:endParaRPr>
          </a:p>
        </p:txBody>
      </p:sp>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124932" name="灯片编号占位符 3"/>
          <p:cNvSpPr txBox="1">
            <a:spLocks noGrp="1"/>
          </p:cNvSpPr>
          <p:nvPr>
            <p:ph type="sldNum" sz="quarter" idx="11"/>
          </p:nvPr>
        </p:nvSpPr>
        <p:spPr>
          <a:xfrm>
            <a:off x="6553200" y="6248400"/>
            <a:ext cx="2133600" cy="476250"/>
          </a:xfrm>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Garamond" panose="02020404030301010803"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Garamond" panose="02020404030301010803" pitchFamily="18" charset="0"/>
                <a:ea typeface="宋体" panose="02010600030101010101" pitchFamily="2" charset="-122"/>
                <a:cs typeface="+mn-cs"/>
              </a:defRPr>
            </a:lvl5pPr>
          </a:lstStyle>
          <a:p>
            <a:pPr lvl="0" algn="r" eaLnBrk="1" hangingPunct="1">
              <a:buNone/>
            </a:pPr>
            <a:fld id="{9A0DB2DC-4C9A-4742-B13C-FB6460FD3503}" type="slidenum">
              <a:rPr lang="zh-CN" altLang="en-US" sz="1200" dirty="0">
                <a:latin typeface="Arial" panose="020B0604020202020204" pitchFamily="34" charset="0"/>
              </a:rPr>
            </a:fld>
            <a:endParaRPr lang="zh-CN" altLang="en-US" sz="1200" dirty="0">
              <a:latin typeface="Arial" panose="020B0604020202020204" pitchFamily="34" charset="0"/>
            </a:endParaRPr>
          </a:p>
        </p:txBody>
      </p:sp>
      <p:pic>
        <p:nvPicPr>
          <p:cNvPr id="124933" name="Picture 2"/>
          <p:cNvPicPr>
            <a:picLocks noChangeAspect="1"/>
          </p:cNvPicPr>
          <p:nvPr/>
        </p:nvPicPr>
        <p:blipFill>
          <a:blip r:embed="rId1"/>
          <a:stretch>
            <a:fillRect/>
          </a:stretch>
        </p:blipFill>
        <p:spPr>
          <a:xfrm>
            <a:off x="755650" y="2420938"/>
            <a:ext cx="7543800" cy="3095625"/>
          </a:xfrm>
          <a:prstGeom prst="rect">
            <a:avLst/>
          </a:prstGeom>
          <a:noFill/>
          <a:ln w="9525">
            <a:noFill/>
          </a:ln>
        </p:spPr>
      </p:pic>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algn="ctr"/>
            <a:r>
              <a:rPr kumimoji="1" lang="zh-CN" altLang="en-US" sz="5400" b="1" dirty="0" smtClean="0">
                <a:latin typeface="Times New Roman" panose="02020603050405020304" pitchFamily="18" charset="0"/>
              </a:rPr>
              <a:t>操作系统安全</a:t>
            </a:r>
            <a:endParaRPr kumimoji="1" lang="en-US" altLang="zh-CN" sz="5400" b="1" dirty="0">
              <a:latin typeface="宋体" panose="02010600030101010101" pitchFamily="2" charset="-122"/>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sz="2400">
                <a:solidFill>
                  <a:schemeClr val="tx1"/>
                </a:solidFill>
                <a:latin typeface="Verdana" panose="020B0604030504040204" pitchFamily="34" charset="0"/>
                <a:ea typeface="宋体" panose="02010600030101010101" pitchFamily="2" charset="-122"/>
              </a:defRPr>
            </a:lvl1pPr>
            <a:lvl2pPr marL="742950" indent="-285750" eaLnBrk="0" hangingPunct="0">
              <a:defRPr sz="2400">
                <a:solidFill>
                  <a:schemeClr val="tx1"/>
                </a:solidFill>
                <a:latin typeface="Verdana" panose="020B0604030504040204" pitchFamily="34" charset="0"/>
                <a:ea typeface="宋体" panose="02010600030101010101" pitchFamily="2" charset="-122"/>
              </a:defRPr>
            </a:lvl2pPr>
            <a:lvl3pPr marL="1143000" indent="-228600" eaLnBrk="0" hangingPunct="0">
              <a:defRPr sz="24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defRPr sz="2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9pPr>
          </a:lstStyle>
          <a:p>
            <a:pPr eaLnBrk="1" hangingPunct="1"/>
            <a:fld id="{E0F3B2C7-4467-456B-AFA6-A07FB1F92019}" type="slidenum">
              <a:rPr lang="en-US" altLang="zh-CN" sz="1200"/>
            </a:fld>
            <a:endParaRPr lang="en-US" altLang="zh-CN" sz="1200"/>
          </a:p>
        </p:txBody>
      </p:sp>
      <p:sp>
        <p:nvSpPr>
          <p:cNvPr id="4098" name="Rectangle 2"/>
          <p:cNvSpPr>
            <a:spLocks noGrp="1" noChangeArrowheads="1"/>
          </p:cNvSpPr>
          <p:nvPr>
            <p:ph type="title"/>
          </p:nvPr>
        </p:nvSpPr>
        <p:spPr>
          <a:xfrm>
            <a:off x="871538" y="917575"/>
            <a:ext cx="7556500" cy="603250"/>
          </a:xfrm>
        </p:spPr>
        <p:txBody>
          <a:bodyPr>
            <a:normAutofit fontScale="90000"/>
          </a:bodyPr>
          <a:lstStyle/>
          <a:p>
            <a:pPr eaLnBrk="1" hangingPunct="1">
              <a:defRPr/>
            </a:pPr>
            <a:r>
              <a:rPr lang="zh-CN" altLang="en-US" b="1" dirty="0" smtClean="0">
                <a:solidFill>
                  <a:srgbClr val="FF0000"/>
                </a:solidFill>
                <a:effectLst>
                  <a:outerShdw blurRad="38100" dist="38100" dir="2700000" algn="tl">
                    <a:srgbClr val="C0C0C0"/>
                  </a:outerShdw>
                </a:effectLst>
              </a:rPr>
              <a:t>本讲主要内容</a:t>
            </a:r>
            <a:endParaRPr lang="zh-CN" altLang="en-US" b="1" dirty="0" smtClean="0">
              <a:solidFill>
                <a:srgbClr val="FF0000"/>
              </a:solidFill>
              <a:effectLst>
                <a:outerShdw blurRad="38100" dist="38100" dir="2700000" algn="tl">
                  <a:srgbClr val="C0C0C0"/>
                </a:outerShdw>
              </a:effectLst>
            </a:endParaRPr>
          </a:p>
        </p:txBody>
      </p:sp>
      <p:sp>
        <p:nvSpPr>
          <p:cNvPr id="4103" name="Rectangle 7"/>
          <p:cNvSpPr>
            <a:spLocks noGrp="1" noChangeArrowheads="1"/>
          </p:cNvSpPr>
          <p:nvPr>
            <p:ph type="body" idx="1"/>
          </p:nvPr>
        </p:nvSpPr>
        <p:spPr>
          <a:xfrm>
            <a:off x="788988" y="1895475"/>
            <a:ext cx="7556500" cy="4019550"/>
          </a:xfrm>
        </p:spPr>
        <p:txBody>
          <a:bodyPr/>
          <a:lstStyle/>
          <a:p>
            <a:pPr eaLnBrk="1" hangingPunct="1">
              <a:buFont typeface="Wingdings" panose="05000000000000000000" pitchFamily="2" charset="2"/>
              <a:buNone/>
              <a:defRPr/>
            </a:pPr>
            <a:endParaRPr lang="en-US" altLang="zh-CN" sz="2600" b="1" dirty="0" smtClean="0">
              <a:solidFill>
                <a:srgbClr val="020202"/>
              </a:solidFill>
              <a:effectLst>
                <a:outerShdw blurRad="38100" dist="38100" dir="2700000" algn="tl">
                  <a:srgbClr val="C0C0C0"/>
                </a:outerShdw>
              </a:effectLst>
            </a:endParaRPr>
          </a:p>
          <a:p>
            <a:pPr eaLnBrk="1" hangingPunct="1">
              <a:defRPr/>
            </a:pPr>
            <a:r>
              <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rPr>
              <a:t>操作系统的安全问题 </a:t>
            </a:r>
            <a:endParaRPr lang="zh-CN" altLang="en-US" sz="2600" b="1" dirty="0" smtClean="0">
              <a:solidFill>
                <a:srgbClr val="020202"/>
              </a:solidFill>
              <a:effectLst>
                <a:outerShdw blurRad="38100" dist="38100" dir="2700000" algn="tl">
                  <a:srgbClr val="C0C0C0"/>
                </a:outerShdw>
              </a:effectLst>
            </a:endParaRPr>
          </a:p>
          <a:p>
            <a:pPr eaLnBrk="1" hangingPunct="1">
              <a:defRPr/>
            </a:pPr>
            <a:r>
              <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rPr>
              <a:t>内存储器保护 </a:t>
            </a:r>
            <a:endParaRPr lang="zh-CN" altLang="en-US" sz="2600" b="1" dirty="0" smtClean="0">
              <a:solidFill>
                <a:srgbClr val="020202"/>
              </a:solidFill>
              <a:effectLst>
                <a:outerShdw blurRad="38100" dist="38100" dir="2700000" algn="tl">
                  <a:srgbClr val="C0C0C0"/>
                </a:outerShdw>
              </a:effectLst>
            </a:endParaRPr>
          </a:p>
          <a:p>
            <a:pPr eaLnBrk="1" hangingPunct="1">
              <a:defRPr/>
            </a:pPr>
            <a:r>
              <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rPr>
              <a:t>用户认证 </a:t>
            </a:r>
            <a:endPar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endParaRPr>
          </a:p>
          <a:p>
            <a:pPr eaLnBrk="1" hangingPunct="1">
              <a:defRPr/>
            </a:pPr>
            <a:r>
              <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rPr>
              <a:t>访问控制 </a:t>
            </a:r>
            <a:endPar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endParaRPr>
          </a:p>
          <a:p>
            <a:pPr eaLnBrk="1" hangingPunct="1">
              <a:defRPr/>
            </a:pPr>
            <a:r>
              <a:rPr lang="en-US" altLang="zh-CN" sz="2600" b="1" dirty="0" smtClean="0">
                <a:solidFill>
                  <a:srgbClr val="020202"/>
                </a:solidFill>
                <a:effectLst>
                  <a:outerShdw blurRad="38100" dist="38100" dir="2700000" algn="tl">
                    <a:srgbClr val="C0C0C0"/>
                  </a:outerShdw>
                </a:effectLst>
                <a:latin typeface="Times New Roman" panose="02020603050405020304" pitchFamily="18" charset="0"/>
              </a:rPr>
              <a:t>Windows </a:t>
            </a:r>
            <a:r>
              <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rPr>
              <a:t>系统的安全机制 </a:t>
            </a:r>
            <a:endPar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endParaRPr>
          </a:p>
          <a:p>
            <a:pPr eaLnBrk="1" hangingPunct="1">
              <a:defRPr/>
            </a:pPr>
            <a:endPar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endParaRPr>
          </a:p>
          <a:p>
            <a:pPr eaLnBrk="1" hangingPunct="1">
              <a:defRPr/>
            </a:pPr>
            <a:endParaRPr lang="en-US" altLang="zh-CN" sz="2600" b="1" dirty="0" smtClean="0">
              <a:solidFill>
                <a:srgbClr val="020202"/>
              </a:solidFill>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idx="1"/>
          </p:nvPr>
        </p:nvSpPr>
        <p:spPr>
          <a:xfrm>
            <a:off x="434975" y="519113"/>
            <a:ext cx="8362950" cy="5492750"/>
          </a:xfrm>
        </p:spPr>
        <p:txBody>
          <a:bodyPr vert="horz" wrap="square" lIns="91440" tIns="45720" rIns="91440" bIns="45720" anchor="t" anchorCtr="0"/>
          <a:lstStyle/>
          <a:p>
            <a:pPr marL="0" indent="0" eaLnBrk="1" hangingPunct="1">
              <a:lnSpc>
                <a:spcPct val="120000"/>
              </a:lnSpc>
              <a:spcBef>
                <a:spcPct val="0"/>
              </a:spcBef>
              <a:buNone/>
            </a:pPr>
            <a:r>
              <a:rPr lang="zh-CN" altLang="en-US" sz="2800" b="1" dirty="0">
                <a:solidFill>
                  <a:srgbClr val="FF0000"/>
                </a:solidFill>
              </a:rPr>
              <a:t>操作系统的安全能力</a:t>
            </a:r>
            <a:endParaRPr lang="zh-CN" altLang="en-US" sz="2800" dirty="0">
              <a:solidFill>
                <a:srgbClr val="FF0000"/>
              </a:solidFill>
            </a:endParaRPr>
          </a:p>
          <a:p>
            <a:pPr marL="0" indent="0" eaLnBrk="1" hangingPunct="1">
              <a:lnSpc>
                <a:spcPct val="120000"/>
              </a:lnSpc>
              <a:spcBef>
                <a:spcPct val="0"/>
              </a:spcBef>
              <a:buNone/>
            </a:pPr>
            <a:r>
              <a:rPr lang="zh-CN" altLang="en-US" sz="2800" dirty="0"/>
              <a:t>        </a:t>
            </a:r>
            <a:endParaRPr lang="zh-CN" altLang="en-US" sz="2800" dirty="0"/>
          </a:p>
          <a:p>
            <a:pPr marL="0" indent="0" eaLnBrk="1" hangingPunct="1">
              <a:lnSpc>
                <a:spcPct val="120000"/>
              </a:lnSpc>
              <a:spcBef>
                <a:spcPct val="0"/>
              </a:spcBef>
              <a:buNone/>
            </a:pPr>
            <a:r>
              <a:rPr lang="zh-CN" altLang="en-US" sz="2800" dirty="0"/>
              <a:t> </a:t>
            </a:r>
            <a:r>
              <a:rPr lang="en-US" altLang="zh-CN" sz="2800" dirty="0"/>
              <a:t>        1</a:t>
            </a:r>
            <a:r>
              <a:rPr lang="zh-CN" altLang="en-US" sz="2800" dirty="0"/>
              <a:t>．用户认证能力</a:t>
            </a:r>
            <a:endParaRPr lang="zh-CN" altLang="en-US" sz="2800" dirty="0"/>
          </a:p>
          <a:p>
            <a:pPr marL="0" indent="0" eaLnBrk="1" hangingPunct="1">
              <a:lnSpc>
                <a:spcPct val="120000"/>
              </a:lnSpc>
              <a:spcBef>
                <a:spcPct val="0"/>
              </a:spcBef>
              <a:buNone/>
            </a:pPr>
            <a:r>
              <a:rPr lang="zh-CN" altLang="en-US" sz="2800" dirty="0"/>
              <a:t>        操作系统的许多保护措施大都基于鉴别系统的合法用户，身份鉴别是操作系统中相当重要的一个方面，也是用户获取权限的关键。为防止非法用户存取系统资源，操作系统采取了切实可行的、极为严密的安全措施。</a:t>
            </a:r>
            <a:endParaRPr lang="zh-CN" altLang="en-US" sz="2800" dirty="0"/>
          </a:p>
          <a:p>
            <a:pPr marL="0" indent="0" eaLnBrk="1" hangingPunct="1">
              <a:lnSpc>
                <a:spcPct val="120000"/>
              </a:lnSpc>
              <a:spcBef>
                <a:spcPct val="0"/>
              </a:spcBef>
              <a:buNone/>
            </a:pPr>
            <a:r>
              <a:rPr lang="zh-CN" altLang="en-US" sz="2800" dirty="0"/>
              <a:t>         </a:t>
            </a:r>
            <a:r>
              <a:rPr lang="en-US" altLang="zh-CN" sz="2800" dirty="0"/>
              <a:t>2</a:t>
            </a:r>
            <a:r>
              <a:rPr lang="zh-CN" altLang="en-US" sz="2800" dirty="0"/>
              <a:t>．抵御恶意破坏能力</a:t>
            </a:r>
            <a:endParaRPr lang="zh-CN" altLang="en-US" sz="2800" dirty="0"/>
          </a:p>
          <a:p>
            <a:pPr marL="0" indent="0" eaLnBrk="1" hangingPunct="1">
              <a:lnSpc>
                <a:spcPct val="120000"/>
              </a:lnSpc>
              <a:spcBef>
                <a:spcPct val="0"/>
              </a:spcBef>
              <a:buNone/>
            </a:pPr>
            <a:r>
              <a:rPr lang="zh-CN" altLang="en-US" sz="2800" dirty="0"/>
              <a:t>         恶意破坏可以使用安全漏洞扫描工具、特洛伊木马、计算机病毒等方法实现。一个安全的操作系统应该尽可能减少漏洞存在，避免各种后门出现。</a:t>
            </a:r>
            <a:endParaRPr lang="zh-CN" altLang="en-US" sz="2800" dirty="0"/>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idx="1"/>
          </p:nvPr>
        </p:nvSpPr>
        <p:spPr>
          <a:xfrm>
            <a:off x="685800" y="715963"/>
            <a:ext cx="7772400" cy="5492750"/>
          </a:xfrm>
        </p:spPr>
        <p:txBody>
          <a:bodyPr vert="horz" wrap="square" lIns="91440" tIns="45720" rIns="91440" bIns="45720" anchor="t" anchorCtr="0"/>
          <a:lstStyle/>
          <a:p>
            <a:pPr marL="0" indent="0" eaLnBrk="1" hangingPunct="1">
              <a:lnSpc>
                <a:spcPct val="120000"/>
              </a:lnSpc>
              <a:spcBef>
                <a:spcPct val="0"/>
              </a:spcBef>
              <a:buNone/>
            </a:pPr>
            <a:r>
              <a:rPr lang="en-US" altLang="zh-CN" sz="2800" dirty="0"/>
              <a:t>         </a:t>
            </a:r>
            <a:endParaRPr lang="en-US" altLang="zh-CN" sz="2800" dirty="0"/>
          </a:p>
          <a:p>
            <a:pPr marL="0" indent="0" eaLnBrk="1" hangingPunct="1">
              <a:lnSpc>
                <a:spcPct val="120000"/>
              </a:lnSpc>
              <a:spcBef>
                <a:spcPct val="0"/>
              </a:spcBef>
              <a:buNone/>
            </a:pPr>
            <a:endParaRPr lang="en-US" altLang="zh-CN" sz="2800" dirty="0"/>
          </a:p>
          <a:p>
            <a:pPr marL="0" indent="0" eaLnBrk="1" hangingPunct="1">
              <a:lnSpc>
                <a:spcPct val="120000"/>
              </a:lnSpc>
              <a:spcBef>
                <a:spcPct val="0"/>
              </a:spcBef>
              <a:buNone/>
            </a:pPr>
            <a:r>
              <a:rPr lang="en-US" altLang="zh-CN" sz="2800" dirty="0"/>
              <a:t>	 3</a:t>
            </a:r>
            <a:r>
              <a:rPr lang="zh-CN" altLang="en-US" sz="2800" dirty="0"/>
              <a:t>．监控和审计日志能力</a:t>
            </a:r>
            <a:endParaRPr lang="zh-CN" altLang="en-US" sz="2800" dirty="0"/>
          </a:p>
          <a:p>
            <a:pPr marL="0" indent="0" eaLnBrk="1" hangingPunct="1">
              <a:lnSpc>
                <a:spcPct val="120000"/>
              </a:lnSpc>
              <a:spcBef>
                <a:spcPct val="0"/>
              </a:spcBef>
              <a:buNone/>
            </a:pPr>
            <a:r>
              <a:rPr lang="zh-CN" altLang="en-US" sz="2800" dirty="0"/>
              <a:t>        从技术管理的角度考虑，可以从监控和审计日志两个方面提高系统的安全性。</a:t>
            </a:r>
            <a:endParaRPr lang="zh-CN" altLang="en-US" sz="2800" dirty="0"/>
          </a:p>
          <a:p>
            <a:pPr marL="0" indent="0" eaLnBrk="1" hangingPunct="1">
              <a:lnSpc>
                <a:spcPct val="120000"/>
              </a:lnSpc>
              <a:spcBef>
                <a:spcPct val="0"/>
              </a:spcBef>
              <a:buNone/>
            </a:pPr>
            <a:r>
              <a:rPr lang="zh-CN" altLang="en-US" sz="2800" dirty="0"/>
              <a:t>      （</a:t>
            </a:r>
            <a:r>
              <a:rPr lang="en-US" altLang="zh-CN" sz="2800" dirty="0"/>
              <a:t>1</a:t>
            </a:r>
            <a:r>
              <a:rPr lang="zh-CN" altLang="en-US" sz="2800" dirty="0"/>
              <a:t>）监控（</a:t>
            </a:r>
            <a:r>
              <a:rPr lang="en-US" altLang="zh-CN" sz="2800" dirty="0"/>
              <a:t>monitoring</a:t>
            </a:r>
            <a:r>
              <a:rPr lang="zh-CN" altLang="en-US" sz="2800" dirty="0"/>
              <a:t>）</a:t>
            </a:r>
            <a:endParaRPr lang="zh-CN" altLang="en-US" sz="2800" dirty="0"/>
          </a:p>
          <a:p>
            <a:pPr marL="0" indent="0" eaLnBrk="1" hangingPunct="1">
              <a:lnSpc>
                <a:spcPct val="120000"/>
              </a:lnSpc>
              <a:spcBef>
                <a:spcPct val="0"/>
              </a:spcBef>
              <a:buNone/>
            </a:pPr>
            <a:r>
              <a:rPr lang="zh-CN" altLang="en-US" sz="2800" dirty="0"/>
              <a:t>        监控可以检测和发现可能违反系统安全的活动。例如，在分时系统中，记录一个用户登录时输入的不正确口令的次数，当超过一定的数量时，就表示有人在猜测口令，可能就是非法的用户。</a:t>
            </a:r>
            <a:endParaRPr lang="zh-CN" altLang="en-US" sz="2800" dirty="0"/>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idx="1"/>
          </p:nvPr>
        </p:nvSpPr>
        <p:spPr>
          <a:xfrm>
            <a:off x="655638" y="442913"/>
            <a:ext cx="7772400" cy="5492750"/>
          </a:xfrm>
        </p:spPr>
        <p:txBody>
          <a:bodyPr vert="horz" wrap="square" lIns="91440" tIns="45720" rIns="91440" bIns="45720" anchor="t" anchorCtr="0"/>
          <a:lstStyle/>
          <a:p>
            <a:pPr marL="0" indent="0" eaLnBrk="1" hangingPunct="1">
              <a:spcBef>
                <a:spcPct val="0"/>
              </a:spcBef>
              <a:buNone/>
            </a:pPr>
            <a:r>
              <a:rPr lang="en-US" altLang="zh-CN" sz="2800" dirty="0"/>
              <a:t>      </a:t>
            </a:r>
            <a:endParaRPr lang="en-US" altLang="zh-CN" sz="2800" dirty="0"/>
          </a:p>
          <a:p>
            <a:pPr marL="0" indent="0" eaLnBrk="1" hangingPunct="1">
              <a:spcBef>
                <a:spcPct val="0"/>
              </a:spcBef>
              <a:buNone/>
            </a:pPr>
            <a:endParaRPr lang="en-US" altLang="zh-CN" sz="2800" dirty="0"/>
          </a:p>
          <a:p>
            <a:pPr marL="0" indent="0" eaLnBrk="1" hangingPunct="1">
              <a:spcBef>
                <a:spcPct val="0"/>
              </a:spcBef>
              <a:buNone/>
            </a:pPr>
            <a:endParaRPr lang="en-US" altLang="zh-CN" sz="2800" dirty="0"/>
          </a:p>
          <a:p>
            <a:pPr marL="0" indent="0" eaLnBrk="1" hangingPunct="1">
              <a:spcBef>
                <a:spcPct val="0"/>
              </a:spcBef>
              <a:buNone/>
            </a:pPr>
            <a:r>
              <a:rPr lang="en-US" altLang="zh-CN" sz="2800" dirty="0"/>
              <a:t>	</a:t>
            </a:r>
            <a:r>
              <a:rPr lang="zh-CN" altLang="en-US" sz="2800" dirty="0"/>
              <a:t>（</a:t>
            </a:r>
            <a:r>
              <a:rPr lang="en-US" altLang="zh-CN" sz="2800" dirty="0"/>
              <a:t>2</a:t>
            </a:r>
            <a:r>
              <a:rPr lang="zh-CN" altLang="en-US" sz="2800" dirty="0"/>
              <a:t>）审计日志（</a:t>
            </a:r>
            <a:r>
              <a:rPr lang="en-US" altLang="zh-CN" sz="2800" dirty="0"/>
              <a:t>audit log</a:t>
            </a:r>
            <a:r>
              <a:rPr lang="zh-CN" altLang="en-US" sz="2800" dirty="0"/>
              <a:t>）</a:t>
            </a:r>
            <a:endParaRPr lang="zh-CN" altLang="en-US" sz="2800" dirty="0"/>
          </a:p>
          <a:p>
            <a:pPr marL="0" indent="0" eaLnBrk="1" hangingPunct="1">
              <a:spcBef>
                <a:spcPct val="0"/>
              </a:spcBef>
              <a:buNone/>
            </a:pPr>
            <a:r>
              <a:rPr lang="zh-CN" altLang="en-US" sz="2800" dirty="0"/>
              <a:t>        日志文件可以帮助用户更容易发现非法入侵的行为，可以利用它综合各方面的信息，去发现故障的原因、侵入的来源以及系统被破坏的范围。</a:t>
            </a:r>
            <a:endParaRPr lang="zh-CN" altLang="en-US" sz="2800" dirty="0"/>
          </a:p>
          <a:p>
            <a:pPr marL="0" indent="0" eaLnBrk="1" hangingPunct="1">
              <a:spcBef>
                <a:spcPct val="0"/>
              </a:spcBef>
            </a:pPr>
            <a:endParaRPr lang="en-US" altLang="zh-CN" sz="2800" dirty="0"/>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fld>
            <a:endParaRPr lang="en-US" altLang="zh-CN" sz="1200" dirty="0"/>
          </a:p>
        </p:txBody>
      </p:sp>
      <p:sp>
        <p:nvSpPr>
          <p:cNvPr id="254978" name="Rectangle 2"/>
          <p:cNvSpPr>
            <a:spLocks noGrp="1" noChangeArrowheads="1"/>
          </p:cNvSpPr>
          <p:nvPr>
            <p:ph idx="1"/>
          </p:nvPr>
        </p:nvSpPr>
        <p:spPr>
          <a:xfrm>
            <a:off x="971550" y="5445125"/>
            <a:ext cx="7772400" cy="649288"/>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3200" b="1" i="0" u="none" strike="noStrike" kern="0" cap="none" spc="0" normalizeH="0" baseline="0" noProof="0" smtClean="0">
                <a:ln>
                  <a:noFill/>
                </a:ln>
                <a:solidFill>
                  <a:srgbClr val="020202"/>
                </a:solidFill>
                <a:effectLst>
                  <a:outerShdw blurRad="38100" dist="38100" dir="2700000" algn="tl">
                    <a:srgbClr val="C0C0C0"/>
                  </a:outerShdw>
                </a:effectLst>
                <a:uLnTx/>
                <a:uFillTx/>
                <a:latin typeface="Arial" panose="020B0604020202020204"/>
                <a:ea typeface="+mn-ea"/>
                <a:cs typeface="+mn-cs"/>
              </a:rPr>
              <a:t>·</a:t>
            </a:r>
            <a:r>
              <a:rPr kumimoji="0" lang="zh-CN" altLang="en-US" sz="3200" b="1" i="0" u="none" strike="noStrike" kern="0" cap="none" spc="0" normalizeH="0" baseline="0" noProof="0" smtClean="0">
                <a:ln>
                  <a:noFill/>
                </a:ln>
                <a:solidFill>
                  <a:srgbClr val="020202"/>
                </a:solidFill>
                <a:effectLst>
                  <a:outerShdw blurRad="38100" dist="38100" dir="2700000" algn="tl">
                    <a:srgbClr val="C0C0C0"/>
                  </a:outerShdw>
                </a:effectLst>
                <a:uLnTx/>
                <a:uFillTx/>
                <a:latin typeface="Times New Roman" panose="02020603050405020304" pitchFamily="18" charset="0"/>
                <a:ea typeface="+mn-ea"/>
                <a:cs typeface="+mn-cs"/>
              </a:rPr>
              <a:t>保证系统自身的安全性和完整性。</a:t>
            </a:r>
            <a:endParaRPr kumimoji="0" lang="zh-CN" altLang="en-US" sz="3200" b="1" i="0" u="none" strike="noStrike" kern="0" cap="none" spc="0" normalizeH="0" baseline="0" noProof="0" smtClean="0">
              <a:ln>
                <a:noFill/>
              </a:ln>
              <a:solidFill>
                <a:srgbClr val="020202"/>
              </a:solidFill>
              <a:effectLst>
                <a:outerShdw blurRad="38100" dist="38100" dir="2700000" algn="tl">
                  <a:srgbClr val="C0C0C0"/>
                </a:outerShdw>
              </a:effectLst>
              <a:uLnTx/>
              <a:uFillTx/>
              <a:latin typeface="Times New Roman" panose="02020603050405020304" pitchFamily="18" charset="0"/>
              <a:ea typeface="+mn-ea"/>
              <a:cs typeface="+mn-cs"/>
            </a:endParaRPr>
          </a:p>
        </p:txBody>
      </p:sp>
      <p:sp>
        <p:nvSpPr>
          <p:cNvPr id="254979" name="Text Box 3"/>
          <p:cNvSpPr txBox="1">
            <a:spLocks noChangeArrowheads="1"/>
          </p:cNvSpPr>
          <p:nvPr/>
        </p:nvSpPr>
        <p:spPr bwMode="auto">
          <a:xfrm>
            <a:off x="468313" y="549275"/>
            <a:ext cx="69834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20000"/>
              </a:spcBef>
              <a:buClr>
                <a:schemeClr val="accent2"/>
              </a:buClr>
              <a:buSzTx/>
              <a:buFont typeface="Wingdings" panose="05000000000000000000" pitchFamily="2" charset="2"/>
              <a:buChar char="o"/>
              <a:defRPr/>
            </a:pPr>
            <a:r>
              <a:rPr kumimoji="0" lang="zh-CN" altLang="en-US" sz="4000" b="1" kern="1200" cap="none" spc="0" normalizeH="0" baseline="0" noProof="0" smtClean="0">
                <a:solidFill>
                  <a:srgbClr val="FF000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操作系统安全的目标 </a:t>
            </a:r>
            <a:endParaRPr kumimoji="0" lang="zh-CN" altLang="en-US" sz="4000" kern="1200" cap="none" spc="0" normalizeH="0" baseline="0" noProof="0" smtClean="0">
              <a:latin typeface="Verdana" panose="020B0604030504040204" pitchFamily="34" charset="0"/>
              <a:ea typeface="宋体" panose="02010600030101010101" pitchFamily="2" charset="-122"/>
              <a:cs typeface="+mn-cs"/>
            </a:endParaRPr>
          </a:p>
        </p:txBody>
      </p:sp>
      <p:sp>
        <p:nvSpPr>
          <p:cNvPr id="254980" name="Text Box 4"/>
          <p:cNvSpPr txBox="1">
            <a:spLocks noChangeArrowheads="1"/>
          </p:cNvSpPr>
          <p:nvPr/>
        </p:nvSpPr>
        <p:spPr bwMode="auto">
          <a:xfrm>
            <a:off x="684213" y="1844675"/>
            <a:ext cx="79200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0" lang="en-US" altLang="zh-CN" sz="3600" b="1" kern="1200" cap="none" spc="0" normalizeH="0" baseline="0" noProof="0" smtClean="0">
                <a:solidFill>
                  <a:srgbClr val="020202"/>
                </a:solidFill>
                <a:effectLst>
                  <a:outerShdw blurRad="38100" dist="38100" dir="2700000" algn="tl">
                    <a:srgbClr val="C0C0C0"/>
                  </a:outerShdw>
                </a:effectLst>
                <a:latin typeface="Arial" panose="020B0604020202020204"/>
                <a:ea typeface="宋体" panose="02010600030101010101" pitchFamily="2" charset="-122"/>
                <a:cs typeface="+mn-cs"/>
              </a:rPr>
              <a:t>·</a:t>
            </a:r>
            <a:r>
              <a:rPr kumimoji="0" lang="zh-CN" altLang="en-US" sz="3600" b="1" kern="1200" cap="none" spc="0" normalizeH="0" baseline="0" noProof="0" smtClean="0">
                <a:solidFill>
                  <a:srgbClr val="020202"/>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标识系统中的用户并进行身份鉴别；</a:t>
            </a:r>
            <a:endParaRPr kumimoji="0" lang="zh-CN" altLang="en-US" sz="3600" b="1" kern="1200" cap="none" spc="0" normalizeH="0" baseline="0" noProof="0" smtClean="0">
              <a:solidFill>
                <a:srgbClr val="020202"/>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p:txBody>
      </p:sp>
      <p:sp>
        <p:nvSpPr>
          <p:cNvPr id="254981" name="Text Box 5"/>
          <p:cNvSpPr txBox="1">
            <a:spLocks noChangeArrowheads="1"/>
          </p:cNvSpPr>
          <p:nvPr/>
        </p:nvSpPr>
        <p:spPr bwMode="auto">
          <a:xfrm>
            <a:off x="971550" y="2924175"/>
            <a:ext cx="81724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0" lang="zh-CN" altLang="en-US" sz="3200" b="1" kern="1200" cap="none" spc="0" normalizeH="0" baseline="0" noProof="0" smtClean="0">
                <a:solidFill>
                  <a:srgbClr val="020202"/>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依据系统安全策略对用户的操作进行存取控制，防止用户对计算机资源的非法存取；</a:t>
            </a:r>
            <a:endParaRPr kumimoji="0" lang="zh-CN" altLang="en-US" sz="3200" b="1" kern="1200" cap="none" spc="0" normalizeH="0" baseline="0" noProof="0" smtClean="0">
              <a:solidFill>
                <a:srgbClr val="020202"/>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p:txBody>
      </p:sp>
      <p:sp>
        <p:nvSpPr>
          <p:cNvPr id="254982" name="Text Box 6"/>
          <p:cNvSpPr txBox="1">
            <a:spLocks noChangeArrowheads="1"/>
          </p:cNvSpPr>
          <p:nvPr/>
        </p:nvSpPr>
        <p:spPr bwMode="auto">
          <a:xfrm>
            <a:off x="1042988" y="4292600"/>
            <a:ext cx="73453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20000"/>
              </a:spcBef>
              <a:buClr>
                <a:schemeClr val="accent2"/>
              </a:buClr>
              <a:buSzTx/>
              <a:buFont typeface="Wingdings" panose="05000000000000000000" pitchFamily="2" charset="2"/>
              <a:buNone/>
              <a:defRPr/>
            </a:pPr>
            <a:r>
              <a:rPr kumimoji="0" lang="en-US" altLang="zh-CN" sz="3600" b="1" kern="1200" cap="none" spc="0" normalizeH="0" baseline="0" noProof="0" smtClean="0">
                <a:solidFill>
                  <a:srgbClr val="020202"/>
                </a:solidFill>
                <a:effectLst>
                  <a:outerShdw blurRad="38100" dist="38100" dir="2700000" algn="tl">
                    <a:srgbClr val="C0C0C0"/>
                  </a:outerShdw>
                </a:effectLst>
                <a:latin typeface="Arial" panose="020B0604020202020204"/>
                <a:ea typeface="宋体" panose="02010600030101010101" pitchFamily="2" charset="-122"/>
                <a:cs typeface="+mn-cs"/>
              </a:rPr>
              <a:t>·</a:t>
            </a:r>
            <a:r>
              <a:rPr kumimoji="0" lang="zh-CN" altLang="en-US" sz="3600" b="1" kern="1200" cap="none" spc="0" normalizeH="0" baseline="0" noProof="0" smtClean="0">
                <a:solidFill>
                  <a:srgbClr val="020202"/>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监督系统运行的安全；</a:t>
            </a:r>
            <a:endParaRPr kumimoji="0" lang="zh-CN" altLang="en-US" sz="3600" kern="1200" cap="none" spc="0" normalizeH="0" baseline="0" noProof="0" smtClean="0">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54980"/>
                                        </p:tgtEl>
                                        <p:attrNameLst>
                                          <p:attrName>style.visibility</p:attrName>
                                        </p:attrNameLst>
                                      </p:cBhvr>
                                      <p:to>
                                        <p:strVal val="visible"/>
                                      </p:to>
                                    </p:set>
                                    <p:animEffect transition="in" filter="box(in)">
                                      <p:cBhvr>
                                        <p:cTn id="7" dur="500"/>
                                        <p:tgtEl>
                                          <p:spTgt spid="25498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54981"/>
                                        </p:tgtEl>
                                        <p:attrNameLst>
                                          <p:attrName>style.visibility</p:attrName>
                                        </p:attrNameLst>
                                      </p:cBhvr>
                                      <p:to>
                                        <p:strVal val="visible"/>
                                      </p:to>
                                    </p:set>
                                    <p:animEffect transition="in" filter="box(in)">
                                      <p:cBhvr>
                                        <p:cTn id="12" dur="500"/>
                                        <p:tgtEl>
                                          <p:spTgt spid="25498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54982"/>
                                        </p:tgtEl>
                                        <p:attrNameLst>
                                          <p:attrName>style.visibility</p:attrName>
                                        </p:attrNameLst>
                                      </p:cBhvr>
                                      <p:to>
                                        <p:strVal val="visible"/>
                                      </p:to>
                                    </p:set>
                                    <p:animEffect transition="in" filter="box(in)">
                                      <p:cBhvr>
                                        <p:cTn id="17" dur="500"/>
                                        <p:tgtEl>
                                          <p:spTgt spid="254982"/>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54978">
                                            <p:txEl>
                                              <p:pRg st="0" end="0"/>
                                            </p:txEl>
                                          </p:spTgt>
                                        </p:tgtEl>
                                        <p:attrNameLst>
                                          <p:attrName>style.visibility</p:attrName>
                                        </p:attrNameLst>
                                      </p:cBhvr>
                                      <p:to>
                                        <p:strVal val="visible"/>
                                      </p:to>
                                    </p:set>
                                    <p:animEffect transition="in" filter="diamond(in)">
                                      <p:cBhvr>
                                        <p:cTn id="22" dur="2000"/>
                                        <p:tgtEl>
                                          <p:spTgt spid="2549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build="p"/>
      <p:bldP spid="254980" grpId="0" bldLvl="0" animBg="1"/>
      <p:bldP spid="254981" grpId="0" bldLvl="0" animBg="1"/>
      <p:bldP spid="254982"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fld>
            <a:endParaRPr lang="en-US" altLang="zh-CN" sz="1200" dirty="0"/>
          </a:p>
        </p:txBody>
      </p:sp>
      <p:sp>
        <p:nvSpPr>
          <p:cNvPr id="22531" name="Rectangle 3"/>
          <p:cNvSpPr>
            <a:spLocks noGrp="1"/>
          </p:cNvSpPr>
          <p:nvPr>
            <p:ph idx="1"/>
          </p:nvPr>
        </p:nvSpPr>
        <p:spPr>
          <a:xfrm>
            <a:off x="900113" y="1844675"/>
            <a:ext cx="7467600" cy="3989388"/>
          </a:xfrm>
        </p:spPr>
        <p:txBody>
          <a:bodyPr vert="horz" wrap="square" lIns="91440" tIns="45720" rIns="91440" bIns="45720" anchor="t" anchorCtr="0"/>
          <a:lstStyle/>
          <a:p>
            <a:pPr eaLnBrk="1" hangingPunct="1">
              <a:buClr>
                <a:srgbClr val="FF0000"/>
              </a:buClr>
              <a:buFont typeface="Wingdings" panose="05000000000000000000" pitchFamily="2" charset="2"/>
              <a:buChar char="Ø"/>
            </a:pPr>
            <a:r>
              <a:rPr lang="zh-CN" altLang="en-US" sz="3400" b="1" dirty="0">
                <a:solidFill>
                  <a:srgbClr val="020202"/>
                </a:solidFill>
                <a:latin typeface="Times New Roman" panose="02020603050405020304" pitchFamily="18" charset="0"/>
              </a:rPr>
              <a:t>为了实现操作系统安全，需要建立相应的安全机制，包括隔离控制、存储器保护、用户认证、访问控制等。</a:t>
            </a:r>
            <a:endParaRPr lang="zh-CN" altLang="en-US" sz="3400" b="1" dirty="0">
              <a:latin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sz="2400">
                <a:solidFill>
                  <a:schemeClr val="tx1"/>
                </a:solidFill>
                <a:latin typeface="Verdana" panose="020B0604030504040204" pitchFamily="34" charset="0"/>
                <a:ea typeface="宋体" panose="02010600030101010101" pitchFamily="2" charset="-122"/>
              </a:defRPr>
            </a:lvl1pPr>
            <a:lvl2pPr marL="742950" indent="-285750" eaLnBrk="0" hangingPunct="0">
              <a:defRPr sz="2400">
                <a:solidFill>
                  <a:schemeClr val="tx1"/>
                </a:solidFill>
                <a:latin typeface="Verdana" panose="020B0604030504040204" pitchFamily="34" charset="0"/>
                <a:ea typeface="宋体" panose="02010600030101010101" pitchFamily="2" charset="-122"/>
              </a:defRPr>
            </a:lvl2pPr>
            <a:lvl3pPr marL="1143000" indent="-228600" eaLnBrk="0" hangingPunct="0">
              <a:defRPr sz="24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defRPr sz="2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9pPr>
          </a:lstStyle>
          <a:p>
            <a:pPr eaLnBrk="1" hangingPunct="1"/>
            <a:fld id="{C8DBBD57-22F2-4EED-AD66-54B5EB34A0E9}" type="slidenum">
              <a:rPr lang="en-US" altLang="zh-CN" sz="1200"/>
            </a:fld>
            <a:endParaRPr lang="en-US" altLang="zh-CN" sz="1200"/>
          </a:p>
        </p:txBody>
      </p:sp>
      <p:sp>
        <p:nvSpPr>
          <p:cNvPr id="260098" name="Rectangle 2"/>
          <p:cNvSpPr>
            <a:spLocks noGrp="1" noChangeArrowheads="1"/>
          </p:cNvSpPr>
          <p:nvPr>
            <p:ph type="title"/>
          </p:nvPr>
        </p:nvSpPr>
        <p:spPr>
          <a:xfrm>
            <a:off x="722313" y="784225"/>
            <a:ext cx="7556500" cy="603250"/>
          </a:xfrm>
        </p:spPr>
        <p:txBody>
          <a:bodyPr>
            <a:normAutofit fontScale="90000"/>
          </a:bodyPr>
          <a:lstStyle/>
          <a:p>
            <a:pPr eaLnBrk="1" hangingPunct="1">
              <a:defRPr/>
            </a:pPr>
            <a:r>
              <a:rPr lang="zh-CN" altLang="en-US" b="1" dirty="0" smtClean="0">
                <a:solidFill>
                  <a:srgbClr val="FF0000"/>
                </a:solidFill>
                <a:effectLst>
                  <a:outerShdw blurRad="38100" dist="38100" dir="2700000" algn="tl">
                    <a:srgbClr val="C0C0C0"/>
                  </a:outerShdw>
                </a:effectLst>
                <a:latin typeface="宋体" panose="02010600030101010101" pitchFamily="2" charset="-122"/>
              </a:rPr>
              <a:t>用户认证</a:t>
            </a:r>
            <a:r>
              <a:rPr lang="zh-CN" altLang="en-US" dirty="0" smtClean="0"/>
              <a:t> </a:t>
            </a:r>
            <a:endParaRPr lang="zh-CN" altLang="en-US" dirty="0" smtClean="0"/>
          </a:p>
        </p:txBody>
      </p:sp>
      <p:sp>
        <p:nvSpPr>
          <p:cNvPr id="260099" name="Rectangle 3"/>
          <p:cNvSpPr>
            <a:spLocks noGrp="1" noChangeArrowheads="1"/>
          </p:cNvSpPr>
          <p:nvPr>
            <p:ph type="body" idx="1"/>
          </p:nvPr>
        </p:nvSpPr>
        <p:spPr>
          <a:xfrm>
            <a:off x="1219200" y="1600200"/>
            <a:ext cx="7772400" cy="1397000"/>
          </a:xfrm>
        </p:spPr>
        <p:txBody>
          <a:bodyPr>
            <a:normAutofit lnSpcReduction="10000"/>
          </a:bodyPr>
          <a:lstStyle/>
          <a:p>
            <a:pPr eaLnBrk="1" hangingPunct="1">
              <a:lnSpc>
                <a:spcPct val="90000"/>
              </a:lnSpc>
              <a:defRPr/>
            </a:pPr>
            <a:r>
              <a:rPr lang="zh-CN" altLang="en-US" b="1" smtClean="0">
                <a:solidFill>
                  <a:srgbClr val="020202"/>
                </a:solidFill>
                <a:effectLst>
                  <a:outerShdw blurRad="38100" dist="38100" dir="2700000" algn="tl">
                    <a:srgbClr val="C0C0C0"/>
                  </a:outerShdw>
                </a:effectLst>
                <a:latin typeface="宋体" panose="02010600030101010101" pitchFamily="2" charset="-122"/>
              </a:rPr>
              <a:t>用户认证的任务是确认当前正在试图登录进入系统的用户就是账户数据库中记录的那个用户。</a:t>
            </a:r>
            <a:endParaRPr lang="zh-CN" altLang="en-US" b="1" smtClean="0">
              <a:solidFill>
                <a:srgbClr val="020202"/>
              </a:solidFill>
              <a:effectLst>
                <a:outerShdw blurRad="38100" dist="38100" dir="2700000" algn="tl">
                  <a:srgbClr val="C0C0C0"/>
                </a:outerShdw>
              </a:effectLst>
              <a:latin typeface="宋体" panose="02010600030101010101" pitchFamily="2" charset="-122"/>
            </a:endParaRPr>
          </a:p>
        </p:txBody>
      </p:sp>
      <p:sp>
        <p:nvSpPr>
          <p:cNvPr id="260100" name="Text Box 4"/>
          <p:cNvSpPr txBox="1">
            <a:spLocks noChangeArrowheads="1"/>
          </p:cNvSpPr>
          <p:nvPr/>
        </p:nvSpPr>
        <p:spPr bwMode="auto">
          <a:xfrm>
            <a:off x="1116013" y="2997200"/>
            <a:ext cx="78486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800" b="1">
                <a:solidFill>
                  <a:srgbClr val="020202"/>
                </a:solidFill>
                <a:effectLst>
                  <a:outerShdw blurRad="38100" dist="38100" dir="2700000" algn="tl">
                    <a:srgbClr val="C0C0C0"/>
                  </a:outerShdw>
                </a:effectLst>
              </a:rPr>
              <a:t>认证用户的方法一般有三种：</a:t>
            </a:r>
            <a:endParaRPr lang="zh-CN" altLang="en-US" sz="2800" b="1">
              <a:solidFill>
                <a:srgbClr val="020202"/>
              </a:solidFill>
              <a:effectLst>
                <a:outerShdw blurRad="38100" dist="38100" dir="2700000" algn="tl">
                  <a:srgbClr val="C0C0C0"/>
                </a:outerShdw>
              </a:effectLst>
            </a:endParaRPr>
          </a:p>
          <a:p>
            <a:pPr>
              <a:defRPr/>
            </a:pPr>
            <a:r>
              <a:rPr lang="zh-CN" altLang="en-US" sz="2800" b="1">
                <a:solidFill>
                  <a:srgbClr val="020202"/>
                </a:solidFill>
                <a:effectLst>
                  <a:outerShdw blurRad="38100" dist="38100" dir="2700000" algn="tl">
                    <a:srgbClr val="C0C0C0"/>
                  </a:outerShdw>
                </a:effectLst>
              </a:rPr>
              <a:t>（</a:t>
            </a:r>
            <a:r>
              <a:rPr lang="en-US" altLang="zh-CN" sz="2800" b="1">
                <a:solidFill>
                  <a:srgbClr val="020202"/>
                </a:solidFill>
                <a:effectLst>
                  <a:outerShdw blurRad="38100" dist="38100" dir="2700000" algn="tl">
                    <a:srgbClr val="C0C0C0"/>
                  </a:outerShdw>
                </a:effectLst>
              </a:rPr>
              <a:t>1</a:t>
            </a:r>
            <a:r>
              <a:rPr lang="zh-CN" altLang="en-US" sz="2800" b="1">
                <a:solidFill>
                  <a:srgbClr val="020202"/>
                </a:solidFill>
                <a:effectLst>
                  <a:outerShdw blurRad="38100" dist="38100" dir="2700000" algn="tl">
                    <a:srgbClr val="C0C0C0"/>
                  </a:outerShdw>
                </a:effectLst>
              </a:rPr>
              <a:t>）要求输入一些保密信息，如用户的姓名、通行字或加密密钥等； </a:t>
            </a:r>
            <a:endParaRPr lang="zh-CN" altLang="en-US" sz="2800" b="1">
              <a:solidFill>
                <a:srgbClr val="020202"/>
              </a:solidFill>
              <a:effectLst>
                <a:outerShdw blurRad="38100" dist="38100" dir="2700000" algn="tl">
                  <a:srgbClr val="C0C0C0"/>
                </a:outerShdw>
              </a:effectLst>
            </a:endParaRPr>
          </a:p>
          <a:p>
            <a:pPr>
              <a:defRPr/>
            </a:pPr>
            <a:r>
              <a:rPr lang="zh-CN" altLang="en-US" sz="2800" b="1">
                <a:solidFill>
                  <a:srgbClr val="020202"/>
                </a:solidFill>
                <a:effectLst>
                  <a:outerShdw blurRad="38100" dist="38100" dir="2700000" algn="tl">
                    <a:srgbClr val="C0C0C0"/>
                  </a:outerShdw>
                </a:effectLst>
              </a:rPr>
              <a:t>（</a:t>
            </a:r>
            <a:r>
              <a:rPr lang="en-US" altLang="zh-CN" sz="2800" b="1">
                <a:solidFill>
                  <a:srgbClr val="020202"/>
                </a:solidFill>
                <a:effectLst>
                  <a:outerShdw blurRad="38100" dist="38100" dir="2700000" algn="tl">
                    <a:srgbClr val="C0C0C0"/>
                  </a:outerShdw>
                </a:effectLst>
              </a:rPr>
              <a:t>2</a:t>
            </a:r>
            <a:r>
              <a:rPr lang="zh-CN" altLang="en-US" sz="2800" b="1">
                <a:solidFill>
                  <a:srgbClr val="020202"/>
                </a:solidFill>
                <a:effectLst>
                  <a:outerShdw blurRad="38100" dist="38100" dir="2700000" algn="tl">
                    <a:srgbClr val="C0C0C0"/>
                  </a:outerShdw>
                </a:effectLst>
              </a:rPr>
              <a:t>）稍微复杂一些鉴别方法，如询问</a:t>
            </a:r>
            <a:r>
              <a:rPr lang="en-US" altLang="zh-CN" sz="2800" b="1">
                <a:solidFill>
                  <a:srgbClr val="020202"/>
                </a:solidFill>
                <a:effectLst>
                  <a:outerShdw blurRad="38100" dist="38100" dir="2700000" algn="tl">
                    <a:srgbClr val="C0C0C0"/>
                  </a:outerShdw>
                </a:effectLst>
                <a:latin typeface="Arial" panose="020B0604020202020204"/>
              </a:rPr>
              <a:t>—</a:t>
            </a:r>
            <a:r>
              <a:rPr lang="zh-CN" altLang="en-US" sz="2800" b="1">
                <a:solidFill>
                  <a:srgbClr val="020202"/>
                </a:solidFill>
                <a:effectLst>
                  <a:outerShdw blurRad="38100" dist="38100" dir="2700000" algn="tl">
                    <a:srgbClr val="C0C0C0"/>
                  </a:outerShdw>
                </a:effectLst>
              </a:rPr>
              <a:t>应答系统、采用物理识别设备（如访问卡、钥匙或令牌标记）等方法；</a:t>
            </a:r>
            <a:endParaRPr lang="zh-CN" altLang="en-US" sz="2800" b="1">
              <a:solidFill>
                <a:srgbClr val="020202"/>
              </a:solidFill>
              <a:effectLst>
                <a:outerShdw blurRad="38100" dist="38100" dir="2700000" algn="tl">
                  <a:srgbClr val="C0C0C0"/>
                </a:outerShdw>
              </a:effectLst>
            </a:endParaRPr>
          </a:p>
          <a:p>
            <a:pPr>
              <a:defRPr/>
            </a:pPr>
            <a:r>
              <a:rPr lang="zh-CN" altLang="en-US" sz="2800" b="1">
                <a:solidFill>
                  <a:srgbClr val="020202"/>
                </a:solidFill>
                <a:effectLst>
                  <a:outerShdw blurRad="38100" dist="38100" dir="2700000" algn="tl">
                    <a:srgbClr val="C0C0C0"/>
                  </a:outerShdw>
                </a:effectLst>
              </a:rPr>
              <a:t>（</a:t>
            </a:r>
            <a:r>
              <a:rPr lang="en-US" altLang="zh-CN" sz="2800" b="1">
                <a:solidFill>
                  <a:srgbClr val="020202"/>
                </a:solidFill>
                <a:effectLst>
                  <a:outerShdw blurRad="38100" dist="38100" dir="2700000" algn="tl">
                    <a:srgbClr val="C0C0C0"/>
                  </a:outerShdw>
                </a:effectLst>
              </a:rPr>
              <a:t>3</a:t>
            </a:r>
            <a:r>
              <a:rPr lang="zh-CN" altLang="en-US" sz="2800" b="1">
                <a:solidFill>
                  <a:srgbClr val="020202"/>
                </a:solidFill>
                <a:effectLst>
                  <a:outerShdw blurRad="38100" dist="38100" dir="2700000" algn="tl">
                    <a:srgbClr val="C0C0C0"/>
                  </a:outerShdw>
                </a:effectLst>
              </a:rPr>
              <a:t>）利用用户生物特征，如指纹、声音、视网膜等识别技术对用户进行唯一的识别。</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0100"/>
                                        </p:tgtEl>
                                        <p:attrNameLst>
                                          <p:attrName>style.visibility</p:attrName>
                                        </p:attrNameLst>
                                      </p:cBhvr>
                                      <p:to>
                                        <p:strVal val="visible"/>
                                      </p:to>
                                    </p:set>
                                    <p:anim calcmode="lin" valueType="num">
                                      <p:cBhvr additive="base">
                                        <p:cTn id="7" dur="500" fill="hold"/>
                                        <p:tgtEl>
                                          <p:spTgt spid="260100"/>
                                        </p:tgtEl>
                                        <p:attrNameLst>
                                          <p:attrName>ppt_x</p:attrName>
                                        </p:attrNameLst>
                                      </p:cBhvr>
                                      <p:tavLst>
                                        <p:tav tm="0">
                                          <p:val>
                                            <p:strVal val="#ppt_x"/>
                                          </p:val>
                                        </p:tav>
                                        <p:tav tm="100000">
                                          <p:val>
                                            <p:strVal val="#ppt_x"/>
                                          </p:val>
                                        </p:tav>
                                      </p:tavLst>
                                    </p:anim>
                                    <p:anim calcmode="lin" valueType="num">
                                      <p:cBhvr additive="base">
                                        <p:cTn id="8" dur="500" fill="hold"/>
                                        <p:tgtEl>
                                          <p:spTgt spid="260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sz="2400">
                <a:solidFill>
                  <a:schemeClr val="tx1"/>
                </a:solidFill>
                <a:latin typeface="Verdana" panose="020B0604030504040204" pitchFamily="34" charset="0"/>
                <a:ea typeface="宋体" panose="02010600030101010101" pitchFamily="2" charset="-122"/>
              </a:defRPr>
            </a:lvl1pPr>
            <a:lvl2pPr marL="742950" indent="-285750" eaLnBrk="0" hangingPunct="0">
              <a:defRPr sz="2400">
                <a:solidFill>
                  <a:schemeClr val="tx1"/>
                </a:solidFill>
                <a:latin typeface="Verdana" panose="020B0604030504040204" pitchFamily="34" charset="0"/>
                <a:ea typeface="宋体" panose="02010600030101010101" pitchFamily="2" charset="-122"/>
              </a:defRPr>
            </a:lvl2pPr>
            <a:lvl3pPr marL="1143000" indent="-228600" eaLnBrk="0" hangingPunct="0">
              <a:defRPr sz="24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defRPr sz="2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9pPr>
          </a:lstStyle>
          <a:p>
            <a:pPr eaLnBrk="1" hangingPunct="1"/>
            <a:fld id="{558906E9-AC41-4C88-84F4-FB8CB5DE0241}" type="slidenum">
              <a:rPr lang="en-US" altLang="zh-CN" sz="1200"/>
            </a:fld>
            <a:endParaRPr lang="en-US" altLang="zh-CN" sz="1200"/>
          </a:p>
        </p:txBody>
      </p:sp>
      <p:sp>
        <p:nvSpPr>
          <p:cNvPr id="291842" name="Rectangle 2"/>
          <p:cNvSpPr>
            <a:spLocks noGrp="1" noChangeArrowheads="1"/>
          </p:cNvSpPr>
          <p:nvPr>
            <p:ph type="title"/>
          </p:nvPr>
        </p:nvSpPr>
        <p:spPr>
          <a:xfrm>
            <a:off x="304800" y="381000"/>
            <a:ext cx="7772400" cy="1143000"/>
          </a:xfrm>
        </p:spPr>
        <p:txBody>
          <a:bodyPr/>
          <a:lstStyle/>
          <a:p>
            <a:pPr eaLnBrk="1" hangingPunct="1">
              <a:defRPr/>
            </a:pPr>
            <a:r>
              <a:rPr lang="zh-CN" altLang="en-US" b="1" dirty="0" smtClean="0">
                <a:solidFill>
                  <a:srgbClr val="FF0000"/>
                </a:solidFill>
                <a:effectLst>
                  <a:outerShdw blurRad="38100" dist="38100" dir="2700000" algn="tl">
                    <a:srgbClr val="C0C0C0"/>
                  </a:outerShdw>
                </a:effectLst>
                <a:latin typeface="宋体" panose="02010600030101010101" pitchFamily="2" charset="-122"/>
              </a:rPr>
              <a:t>访问控制</a:t>
            </a:r>
            <a:r>
              <a:rPr lang="zh-CN" altLang="en-US" b="1" dirty="0" smtClean="0"/>
              <a:t> </a:t>
            </a:r>
            <a:r>
              <a:rPr lang="zh-CN" altLang="en-US" dirty="0" smtClean="0"/>
              <a:t> </a:t>
            </a:r>
            <a:endParaRPr lang="zh-CN" altLang="en-US" dirty="0" smtClean="0"/>
          </a:p>
        </p:txBody>
      </p:sp>
      <p:sp>
        <p:nvSpPr>
          <p:cNvPr id="291843" name="Rectangle 3"/>
          <p:cNvSpPr>
            <a:spLocks noGrp="1" noChangeArrowheads="1"/>
          </p:cNvSpPr>
          <p:nvPr>
            <p:ph type="body" idx="1"/>
          </p:nvPr>
        </p:nvSpPr>
        <p:spPr>
          <a:xfrm>
            <a:off x="714375" y="1752600"/>
            <a:ext cx="6964363" cy="3659188"/>
          </a:xfrm>
        </p:spPr>
        <p:txBody>
          <a:bodyPr/>
          <a:lstStyle/>
          <a:p>
            <a:pPr eaLnBrk="1" hangingPunct="1">
              <a:buFont typeface="Wingdings" panose="05000000000000000000" pitchFamily="2" charset="2"/>
              <a:buNone/>
              <a:defRPr/>
            </a:pPr>
            <a:r>
              <a:rPr lang="en-US" altLang="zh-CN" smtClean="0">
                <a:latin typeface="宋体" panose="02010600030101010101" pitchFamily="2" charset="-122"/>
              </a:rPr>
              <a:t>      </a:t>
            </a:r>
            <a:r>
              <a:rPr lang="zh-CN" altLang="en-US" b="1" smtClean="0">
                <a:solidFill>
                  <a:srgbClr val="020202"/>
                </a:solidFill>
                <a:effectLst>
                  <a:outerShdw blurRad="38100" dist="38100" dir="2700000" algn="tl">
                    <a:srgbClr val="C0C0C0"/>
                  </a:outerShdw>
                </a:effectLst>
                <a:latin typeface="宋体" panose="02010600030101010101" pitchFamily="2" charset="-122"/>
              </a:rPr>
              <a:t>访问控制的基本目标都是防止非法用户进入系统和合法用户对系统资源的非法使用。为了达到这个目标，访问控制常以用户身份认证为前提，在此基础上实施各种访问控制策略来控制和规范合法用户在系统中的行为。</a:t>
            </a:r>
            <a:r>
              <a:rPr lang="zh-CN" altLang="en-US" smtClean="0"/>
              <a:t> </a:t>
            </a:r>
            <a:endParaRPr lang="zh-CN" altLang="en-US" smtClean="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algn="ctr"/>
            <a:r>
              <a:rPr lang="zh-CN" altLang="en-US" sz="5400" b="1" dirty="0"/>
              <a:t>计算机恶意程序</a:t>
            </a:r>
            <a:endParaRPr kumimoji="1" lang="en-US" altLang="zh-CN" sz="5400" b="1" dirty="0">
              <a:latin typeface="宋体" panose="02010600030101010101" pitchFamily="2" charset="-122"/>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sz="2400">
                <a:solidFill>
                  <a:schemeClr val="tx1"/>
                </a:solidFill>
                <a:latin typeface="Verdana" panose="020B0604030504040204" pitchFamily="34" charset="0"/>
                <a:ea typeface="宋体" panose="02010600030101010101" pitchFamily="2" charset="-122"/>
              </a:defRPr>
            </a:lvl1pPr>
            <a:lvl2pPr marL="742950" indent="-285750" eaLnBrk="0" hangingPunct="0">
              <a:defRPr sz="2400">
                <a:solidFill>
                  <a:schemeClr val="tx1"/>
                </a:solidFill>
                <a:latin typeface="Verdana" panose="020B0604030504040204" pitchFamily="34" charset="0"/>
                <a:ea typeface="宋体" panose="02010600030101010101" pitchFamily="2" charset="-122"/>
              </a:defRPr>
            </a:lvl2pPr>
            <a:lvl3pPr marL="1143000" indent="-228600" eaLnBrk="0" hangingPunct="0">
              <a:defRPr sz="2400">
                <a:solidFill>
                  <a:schemeClr val="tx1"/>
                </a:solidFill>
                <a:latin typeface="Verdana" panose="020B0604030504040204" pitchFamily="34" charset="0"/>
                <a:ea typeface="宋体" panose="02010600030101010101" pitchFamily="2" charset="-122"/>
              </a:defRPr>
            </a:lvl3pPr>
            <a:lvl4pPr marL="1600200" indent="-228600" eaLnBrk="0" hangingPunct="0">
              <a:defRPr sz="2400">
                <a:solidFill>
                  <a:schemeClr val="tx1"/>
                </a:solidFill>
                <a:latin typeface="Verdana" panose="020B0604030504040204" pitchFamily="34" charset="0"/>
                <a:ea typeface="宋体" panose="02010600030101010101" pitchFamily="2" charset="-122"/>
              </a:defRPr>
            </a:lvl4pPr>
            <a:lvl5pPr marL="2057400" indent="-228600" eaLnBrk="0" hangingPunct="0">
              <a:defRPr sz="2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宋体" panose="02010600030101010101" pitchFamily="2" charset="-122"/>
              </a:defRPr>
            </a:lvl9pPr>
          </a:lstStyle>
          <a:p>
            <a:pPr eaLnBrk="1" hangingPunct="1"/>
            <a:fld id="{34590270-E202-455C-9B3A-6CC14440E78F}" type="slidenum">
              <a:rPr lang="en-US" altLang="zh-CN" sz="1200"/>
            </a:fld>
            <a:endParaRPr lang="en-US" altLang="zh-CN" sz="1200"/>
          </a:p>
        </p:txBody>
      </p:sp>
      <p:sp>
        <p:nvSpPr>
          <p:cNvPr id="4098" name="Rectangle 2"/>
          <p:cNvSpPr>
            <a:spLocks noGrp="1" noChangeArrowheads="1"/>
          </p:cNvSpPr>
          <p:nvPr>
            <p:ph type="title"/>
          </p:nvPr>
        </p:nvSpPr>
        <p:spPr>
          <a:xfrm>
            <a:off x="871538" y="917575"/>
            <a:ext cx="7556500" cy="603250"/>
          </a:xfrm>
        </p:spPr>
        <p:txBody>
          <a:bodyPr/>
          <a:lstStyle/>
          <a:p>
            <a:pPr eaLnBrk="1" hangingPunct="1">
              <a:defRPr/>
            </a:pPr>
            <a:r>
              <a:rPr lang="zh-CN" altLang="en-US" b="1" dirty="0" smtClean="0">
                <a:solidFill>
                  <a:srgbClr val="FF0000"/>
                </a:solidFill>
                <a:effectLst>
                  <a:outerShdw blurRad="38100" dist="38100" dir="2700000" algn="tl">
                    <a:srgbClr val="C0C0C0"/>
                  </a:outerShdw>
                </a:effectLst>
              </a:rPr>
              <a:t>本讲主要内容</a:t>
            </a:r>
            <a:endParaRPr lang="zh-CN" altLang="en-US" b="1" dirty="0" smtClean="0">
              <a:solidFill>
                <a:srgbClr val="FF0000"/>
              </a:solidFill>
              <a:effectLst>
                <a:outerShdw blurRad="38100" dist="38100" dir="2700000" algn="tl">
                  <a:srgbClr val="C0C0C0"/>
                </a:outerShdw>
              </a:effectLst>
            </a:endParaRPr>
          </a:p>
        </p:txBody>
      </p:sp>
      <p:sp>
        <p:nvSpPr>
          <p:cNvPr id="4103" name="Rectangle 7"/>
          <p:cNvSpPr>
            <a:spLocks noGrp="1" noChangeArrowheads="1"/>
          </p:cNvSpPr>
          <p:nvPr>
            <p:ph type="body" idx="1"/>
          </p:nvPr>
        </p:nvSpPr>
        <p:spPr>
          <a:xfrm>
            <a:off x="788988" y="1895475"/>
            <a:ext cx="7556500" cy="4019550"/>
          </a:xfrm>
        </p:spPr>
        <p:txBody>
          <a:bodyPr/>
          <a:lstStyle/>
          <a:p>
            <a:pPr eaLnBrk="1" hangingPunct="1">
              <a:buFont typeface="Wingdings" panose="05000000000000000000" pitchFamily="2" charset="2"/>
              <a:buNone/>
              <a:defRPr/>
            </a:pPr>
            <a:endParaRPr lang="en-US" altLang="zh-CN" sz="2600" b="1" dirty="0" smtClean="0">
              <a:solidFill>
                <a:srgbClr val="020202"/>
              </a:solidFill>
              <a:effectLst>
                <a:outerShdw blurRad="38100" dist="38100" dir="2700000" algn="tl">
                  <a:srgbClr val="C0C0C0"/>
                </a:outerShdw>
              </a:effectLst>
            </a:endParaRPr>
          </a:p>
          <a:p>
            <a:pPr eaLnBrk="1" hangingPunct="1">
              <a:defRPr/>
            </a:pPr>
            <a:r>
              <a:rPr lang="zh-CN" altLang="en-US" sz="2600" dirty="0" smtClean="0">
                <a:solidFill>
                  <a:srgbClr val="020202"/>
                </a:solidFill>
                <a:effectLst>
                  <a:outerShdw blurRad="38100" dist="38100" dir="2700000" algn="tl">
                    <a:srgbClr val="C0C0C0"/>
                  </a:outerShdw>
                </a:effectLst>
                <a:latin typeface="Times New Roman" panose="02020603050405020304" pitchFamily="18" charset="0"/>
              </a:rPr>
              <a:t>计算机病毒概述</a:t>
            </a:r>
            <a:endParaRPr lang="en-US" altLang="zh-CN" sz="2600" b="1" dirty="0" smtClean="0">
              <a:solidFill>
                <a:srgbClr val="020202"/>
              </a:solidFill>
              <a:effectLst>
                <a:outerShdw blurRad="38100" dist="38100" dir="2700000" algn="tl">
                  <a:srgbClr val="C0C0C0"/>
                </a:outerShdw>
              </a:effectLst>
              <a:latin typeface="Times New Roman" panose="02020603050405020304" pitchFamily="18" charset="0"/>
            </a:endParaRPr>
          </a:p>
          <a:p>
            <a:pPr eaLnBrk="1" hangingPunct="1">
              <a:defRPr/>
            </a:pPr>
            <a:r>
              <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rPr>
              <a:t>计算机病毒</a:t>
            </a:r>
            <a:endParaRPr lang="en-US" altLang="zh-CN" sz="2600" b="1" dirty="0" smtClean="0">
              <a:solidFill>
                <a:srgbClr val="020202"/>
              </a:solidFill>
              <a:effectLst>
                <a:outerShdw blurRad="38100" dist="38100" dir="2700000" algn="tl">
                  <a:srgbClr val="C0C0C0"/>
                </a:outerShdw>
              </a:effectLst>
              <a:latin typeface="Times New Roman" panose="02020603050405020304" pitchFamily="18" charset="0"/>
            </a:endParaRPr>
          </a:p>
          <a:p>
            <a:pPr eaLnBrk="1" hangingPunct="1">
              <a:defRPr/>
            </a:pPr>
            <a:r>
              <a:rPr lang="zh-CN" altLang="en-US" sz="2600" dirty="0" smtClean="0">
                <a:solidFill>
                  <a:srgbClr val="020202"/>
                </a:solidFill>
                <a:effectLst>
                  <a:outerShdw blurRad="38100" dist="38100" dir="2700000" algn="tl">
                    <a:srgbClr val="C0C0C0"/>
                  </a:outerShdw>
                </a:effectLst>
                <a:latin typeface="Times New Roman" panose="02020603050405020304" pitchFamily="18" charset="0"/>
              </a:rPr>
              <a:t>计算机木马</a:t>
            </a:r>
            <a:endParaRPr lang="zh-CN" altLang="en-US" sz="2600" b="1" dirty="0" smtClean="0">
              <a:solidFill>
                <a:srgbClr val="020202"/>
              </a:solidFill>
              <a:effectLst>
                <a:outerShdw blurRad="38100" dist="38100" dir="2700000" algn="tl">
                  <a:srgbClr val="C0C0C0"/>
                </a:outerShdw>
              </a:effectLst>
              <a:latin typeface="Times New Roman" panose="02020603050405020304" pitchFamily="18" charset="0"/>
            </a:endParaRPr>
          </a:p>
          <a:p>
            <a:pPr eaLnBrk="1" hangingPunct="1">
              <a:defRPr/>
            </a:pPr>
            <a:r>
              <a:rPr lang="zh-CN" altLang="en-US" sz="2600" dirty="0">
                <a:effectLst>
                  <a:outerShdw blurRad="38100" dist="38100" dir="2700000" algn="tl">
                    <a:srgbClr val="C0C0C0"/>
                  </a:outerShdw>
                </a:effectLst>
                <a:latin typeface="+mn-ea"/>
              </a:rPr>
              <a:t>防范、检测与清除</a:t>
            </a:r>
            <a:endParaRPr lang="zh-CN" altLang="en-US" sz="2600" dirty="0" smtClean="0">
              <a:solidFill>
                <a:srgbClr val="020202"/>
              </a:solidFill>
              <a:effectLst>
                <a:outerShdw blurRad="38100" dist="38100" dir="2700000" algn="tl">
                  <a:srgbClr val="C0C0C0"/>
                </a:outerShdw>
              </a:effectLst>
              <a:latin typeface="+mn-ea"/>
            </a:endParaRPr>
          </a:p>
          <a:p>
            <a:pPr eaLnBrk="1" hangingPunct="1">
              <a:defRPr/>
            </a:pPr>
            <a:endParaRPr lang="en-US" altLang="zh-CN" sz="2600" b="1" dirty="0" smtClean="0">
              <a:solidFill>
                <a:srgbClr val="020202"/>
              </a:solidFill>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algn="ctr"/>
            <a:r>
              <a:rPr lang="zh-CN" altLang="en-US" sz="5400" b="1" dirty="0"/>
              <a:t>计算机软件安全概述</a:t>
            </a:r>
            <a:endParaRPr kumimoji="1" lang="en-US" altLang="zh-CN" sz="5400" b="1" dirty="0">
              <a:latin typeface="宋体" panose="02010600030101010101" pitchFamily="2" charset="-122"/>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sz="4800" dirty="0" smtClean="0">
                <a:latin typeface="Constantia" panose="02030602050306030303" pitchFamily="18" charset="0"/>
              </a:rPr>
              <a:t>本讲内容</a:t>
            </a:r>
            <a:endParaRPr lang="zh-CN" altLang="en-US" sz="4800" dirty="0" smtClean="0">
              <a:latin typeface="Constantia" panose="02030602050306030303" pitchFamily="18" charset="0"/>
            </a:endParaRPr>
          </a:p>
        </p:txBody>
      </p:sp>
      <p:sp>
        <p:nvSpPr>
          <p:cNvPr id="17411" name="Rectangle 3"/>
          <p:cNvSpPr>
            <a:spLocks noGrp="1" noChangeArrowheads="1"/>
          </p:cNvSpPr>
          <p:nvPr>
            <p:ph idx="1"/>
          </p:nvPr>
        </p:nvSpPr>
        <p:spPr>
          <a:xfrm>
            <a:off x="304800" y="1600200"/>
            <a:ext cx="8839200" cy="4525963"/>
          </a:xfrm>
        </p:spPr>
        <p:txBody>
          <a:bodyPr/>
          <a:lstStyle/>
          <a:p>
            <a:endParaRPr lang="en-US" altLang="zh-CN" b="1" dirty="0" smtClean="0">
              <a:latin typeface="Constantia" panose="02030602050306030303" pitchFamily="18" charset="0"/>
            </a:endParaRPr>
          </a:p>
          <a:p>
            <a:r>
              <a:rPr lang="zh-CN" altLang="en-US" b="1" dirty="0" smtClean="0">
                <a:latin typeface="Constantia" panose="02030602050306030303" pitchFamily="18" charset="0"/>
              </a:rPr>
              <a:t>软件安全的概念</a:t>
            </a:r>
            <a:endParaRPr lang="zh-CN" altLang="en-US" b="1" dirty="0" smtClean="0">
              <a:latin typeface="Constantia" panose="02030602050306030303" pitchFamily="18" charset="0"/>
            </a:endParaRPr>
          </a:p>
          <a:p>
            <a:r>
              <a:rPr lang="zh-CN" altLang="en-GB" b="1" dirty="0" smtClean="0">
                <a:latin typeface="Constantia" panose="02030602050306030303" pitchFamily="18" charset="0"/>
              </a:rPr>
              <a:t>软件安全的知识体系</a:t>
            </a:r>
            <a:endParaRPr lang="zh-CN" altLang="en-GB" b="1" dirty="0" smtClean="0">
              <a:latin typeface="Constantia" panose="02030602050306030303" pitchFamily="18" charset="0"/>
            </a:endParaRPr>
          </a:p>
          <a:p>
            <a:r>
              <a:rPr lang="zh-CN" altLang="en-US" b="1" dirty="0" smtClean="0">
                <a:latin typeface="Constantia" panose="02030602050306030303" pitchFamily="18" charset="0"/>
              </a:rPr>
              <a:t>软件安全开发关键工作</a:t>
            </a:r>
            <a:endParaRPr lang="en-US" altLang="zh-CN" b="1" dirty="0" smtClean="0">
              <a:latin typeface="Constantia" panose="02030602050306030303" pitchFamily="18" charset="0"/>
            </a:endParaRPr>
          </a:p>
          <a:p>
            <a:r>
              <a:rPr lang="zh-CN" altLang="en-US" b="1" dirty="0" smtClean="0">
                <a:latin typeface="Constantia" panose="02030602050306030303" pitchFamily="18" charset="0"/>
              </a:rPr>
              <a:t>软件运行中的反跟踪</a:t>
            </a:r>
            <a:endParaRPr lang="en-US" altLang="zh-CN" b="1" dirty="0" smtClean="0">
              <a:latin typeface="Constantia" panose="02030602050306030303" pitchFamily="18" charset="0"/>
            </a:endParaRPr>
          </a:p>
          <a:p>
            <a:r>
              <a:rPr lang="zh-CN" altLang="en-US" b="1" dirty="0" smtClean="0">
                <a:latin typeface="Constantia" panose="02030602050306030303" pitchFamily="18" charset="0"/>
              </a:rPr>
              <a:t>防止非法复制软件的安全技术</a:t>
            </a:r>
            <a:endParaRPr lang="zh-CN" altLang="en-US" b="1" dirty="0" smtClean="0">
              <a:latin typeface="Constantia" panose="02030602050306030303" pitchFamily="18" charset="0"/>
            </a:endParaRPr>
          </a:p>
          <a:p>
            <a:r>
              <a:rPr lang="zh-CN" altLang="en-US" b="1" dirty="0" smtClean="0">
                <a:latin typeface="Constantia" panose="02030602050306030303" pitchFamily="18" charset="0"/>
              </a:rPr>
              <a:t>软件安全工具简介</a:t>
            </a:r>
            <a:endParaRPr lang="zh-CN" altLang="en-US" b="1" dirty="0" smtClean="0">
              <a:latin typeface="Constantia" panose="02030602050306030303" pitchFamily="18" charset="0"/>
            </a:endParaRPr>
          </a:p>
          <a:p>
            <a:endParaRPr lang="zh-CN" altLang="en-US" dirty="0" smtClean="0">
              <a:latin typeface="Constantia" panose="02030602050306030303" pitchFamily="18" charset="0"/>
            </a:endParaRPr>
          </a:p>
          <a:p>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en-US" smtClean="0">
                <a:latin typeface="Constantia" panose="02030602050306030303" pitchFamily="18" charset="0"/>
              </a:rPr>
              <a:t>软件安全的概念</a:t>
            </a:r>
            <a:endParaRPr lang="zh-CN" altLang="en-US" smtClean="0">
              <a:latin typeface="Constantia" panose="02030602050306030303" pitchFamily="18" charset="0"/>
            </a:endParaRPr>
          </a:p>
        </p:txBody>
      </p:sp>
      <p:sp>
        <p:nvSpPr>
          <p:cNvPr id="7171" name="Rectangle 3"/>
          <p:cNvSpPr>
            <a:spLocks noGrp="1" noChangeArrowheads="1"/>
          </p:cNvSpPr>
          <p:nvPr>
            <p:ph idx="1"/>
          </p:nvPr>
        </p:nvSpPr>
        <p:spPr>
          <a:xfrm>
            <a:off x="457200" y="1447800"/>
            <a:ext cx="8229600" cy="4525963"/>
          </a:xfrm>
        </p:spPr>
        <p:txBody>
          <a:bodyPr/>
          <a:lstStyle/>
          <a:p>
            <a:r>
              <a:rPr lang="zh-CN" altLang="en-US" sz="2800" smtClean="0">
                <a:latin typeface="Constantia" panose="02030602050306030303" pitchFamily="18" charset="0"/>
              </a:rPr>
              <a:t>定义</a:t>
            </a:r>
            <a:endParaRPr lang="zh-CN" altLang="en-US" sz="2800" smtClean="0">
              <a:latin typeface="Constantia" panose="02030602050306030303" pitchFamily="18" charset="0"/>
            </a:endParaRPr>
          </a:p>
          <a:p>
            <a:pPr lvl="1" algn="just"/>
            <a:r>
              <a:rPr lang="zh-CN" altLang="en-US" sz="2400" smtClean="0"/>
              <a:t>软件安全是指：采取</a:t>
            </a:r>
            <a:r>
              <a:rPr lang="zh-CN" altLang="en-US" sz="2400" smtClean="0">
                <a:solidFill>
                  <a:srgbClr val="FF0000"/>
                </a:solidFill>
              </a:rPr>
              <a:t>工程</a:t>
            </a:r>
            <a:r>
              <a:rPr lang="zh-CN" altLang="en-US" sz="2400" smtClean="0"/>
              <a:t>的方法使得软件在敌对</a:t>
            </a:r>
            <a:r>
              <a:rPr lang="zh-CN" altLang="en-US" sz="2400" smtClean="0">
                <a:solidFill>
                  <a:srgbClr val="FF0000"/>
                </a:solidFill>
              </a:rPr>
              <a:t>攻击</a:t>
            </a:r>
            <a:r>
              <a:rPr lang="zh-CN" altLang="en-US" sz="2400" smtClean="0"/>
              <a:t>的情况下仍能够</a:t>
            </a:r>
            <a:r>
              <a:rPr lang="zh-CN" altLang="en-US" sz="2400" smtClean="0">
                <a:solidFill>
                  <a:srgbClr val="FF0000"/>
                </a:solidFill>
              </a:rPr>
              <a:t>继续正常</a:t>
            </a:r>
            <a:r>
              <a:rPr lang="zh-CN" altLang="en-US" sz="2400" smtClean="0"/>
              <a:t>工作。即采用系统化、规范化、和数量化的方法来指导构建安全的软件。</a:t>
            </a:r>
            <a:endParaRPr lang="zh-CN" altLang="en-US" sz="2400" smtClean="0"/>
          </a:p>
          <a:p>
            <a:pPr lvl="1" algn="just"/>
            <a:r>
              <a:rPr lang="en-US" altLang="zh-CN" sz="2400" smtClean="0"/>
              <a:t>McGraw</a:t>
            </a:r>
            <a:r>
              <a:rPr lang="zh-CN" altLang="en-US" sz="2400" smtClean="0"/>
              <a:t>博士提出了软件安全工程化的三个支柱</a:t>
            </a:r>
            <a:endParaRPr lang="zh-CN" altLang="en-US" sz="2400" smtClean="0"/>
          </a:p>
          <a:p>
            <a:pPr lvl="2" algn="just"/>
            <a:r>
              <a:rPr lang="zh-CN" altLang="en-US" sz="2000" smtClean="0"/>
              <a:t>风险管理：一种贯穿软件开发的生命周期的战略性方法；</a:t>
            </a:r>
            <a:endParaRPr lang="zh-CN" altLang="en-US" sz="2000" smtClean="0"/>
          </a:p>
          <a:p>
            <a:pPr lvl="2" algn="just"/>
            <a:r>
              <a:rPr lang="zh-CN" altLang="en-US" sz="2000" smtClean="0"/>
              <a:t>软件安全切入点：在软件开发生命周期中保障软件安全的一套最佳实际操作方法。这一套最佳实践方法包括：</a:t>
            </a:r>
            <a:r>
              <a:rPr lang="zh-CN" altLang="en-US" sz="2000" smtClean="0">
                <a:solidFill>
                  <a:srgbClr val="FF0000"/>
                </a:solidFill>
              </a:rPr>
              <a:t>代码审核，体系结构风险分析，渗透测试，基于风险的安全测试，滥用案例，安全需求和安全操作</a:t>
            </a:r>
            <a:r>
              <a:rPr lang="zh-CN" altLang="en-US" sz="2000" smtClean="0"/>
              <a:t>。</a:t>
            </a:r>
            <a:endParaRPr lang="zh-CN" altLang="en-US" sz="2000" smtClean="0"/>
          </a:p>
          <a:p>
            <a:pPr lvl="2" algn="just"/>
            <a:r>
              <a:rPr lang="zh-CN" altLang="en-US" sz="2000" smtClean="0"/>
              <a:t>安全知识</a:t>
            </a:r>
            <a:endParaRPr lang="zh-CN" altLang="en-US" sz="200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smtClean="0">
                <a:cs typeface="Times New Roman" panose="02020603050405020304" pitchFamily="18" charset="0"/>
              </a:rPr>
              <a:t>安全设计原则</a:t>
            </a:r>
            <a:endParaRPr lang="zh-CN" altLang="en-US" smtClean="0">
              <a:cs typeface="Times New Roman" panose="02020603050405020304" pitchFamily="18" charset="0"/>
            </a:endParaRPr>
          </a:p>
        </p:txBody>
      </p:sp>
      <p:sp>
        <p:nvSpPr>
          <p:cNvPr id="41987" name="内容占位符 2"/>
          <p:cNvSpPr>
            <a:spLocks noGrp="1"/>
          </p:cNvSpPr>
          <p:nvPr>
            <p:ph idx="1"/>
          </p:nvPr>
        </p:nvSpPr>
        <p:spPr/>
        <p:txBody>
          <a:bodyPr>
            <a:normAutofit fontScale="77500" lnSpcReduction="20000"/>
          </a:bodyPr>
          <a:lstStyle/>
          <a:p>
            <a:pPr marL="514350" lvl="1" indent="-514350">
              <a:buClr>
                <a:srgbClr val="3399FF"/>
              </a:buClr>
              <a:buFont typeface="Wingdings" panose="05000000000000000000" pitchFamily="2" charset="2"/>
              <a:buChar char="v"/>
              <a:defRPr/>
            </a:pPr>
            <a:r>
              <a:rPr lang="zh-CN" altLang="en-US" dirty="0">
                <a:cs typeface="+mn-cs"/>
              </a:rPr>
              <a:t>最小特权</a:t>
            </a:r>
            <a:endParaRPr lang="en-US" altLang="zh-CN" dirty="0">
              <a:cs typeface="+mn-cs"/>
            </a:endParaRPr>
          </a:p>
          <a:p>
            <a:pPr marL="514350" lvl="1" indent="-514350">
              <a:buClr>
                <a:srgbClr val="3399FF"/>
              </a:buClr>
              <a:buFont typeface="Wingdings" panose="05000000000000000000" pitchFamily="2" charset="2"/>
              <a:buChar char="v"/>
              <a:defRPr/>
            </a:pPr>
            <a:r>
              <a:rPr lang="zh-CN" altLang="en-US" dirty="0">
                <a:cs typeface="+mn-cs"/>
              </a:rPr>
              <a:t>权限分离</a:t>
            </a:r>
            <a:endParaRPr lang="en-US" altLang="zh-CN" dirty="0">
              <a:cs typeface="+mn-cs"/>
            </a:endParaRPr>
          </a:p>
          <a:p>
            <a:pPr marL="514350" lvl="1" indent="-514350">
              <a:buClr>
                <a:srgbClr val="3399FF"/>
              </a:buClr>
              <a:buFont typeface="Wingdings" panose="05000000000000000000" pitchFamily="2" charset="2"/>
              <a:buChar char="v"/>
              <a:defRPr/>
            </a:pPr>
            <a:r>
              <a:rPr lang="zh-CN" altLang="en-US" dirty="0">
                <a:cs typeface="+mn-cs"/>
              </a:rPr>
              <a:t>最小共享</a:t>
            </a:r>
            <a:endParaRPr lang="en-US" altLang="zh-CN" dirty="0">
              <a:cs typeface="+mn-cs"/>
            </a:endParaRPr>
          </a:p>
          <a:p>
            <a:pPr marL="514350" lvl="1" indent="-514350">
              <a:buClr>
                <a:srgbClr val="3399FF"/>
              </a:buClr>
              <a:buFont typeface="Wingdings" panose="05000000000000000000" pitchFamily="2" charset="2"/>
              <a:buChar char="v"/>
              <a:defRPr/>
            </a:pPr>
            <a:r>
              <a:rPr lang="zh-CN" altLang="en-US" dirty="0">
                <a:cs typeface="+mn-cs"/>
              </a:rPr>
              <a:t>完全</a:t>
            </a:r>
            <a:r>
              <a:rPr lang="zh-CN" altLang="en-US" dirty="0" smtClean="0">
                <a:cs typeface="+mn-cs"/>
              </a:rPr>
              <a:t>中立</a:t>
            </a:r>
            <a:endParaRPr lang="en-US" altLang="zh-CN" dirty="0" smtClean="0">
              <a:cs typeface="+mn-cs"/>
            </a:endParaRPr>
          </a:p>
          <a:p>
            <a:pPr marL="514350" lvl="1" indent="-514350">
              <a:buClr>
                <a:srgbClr val="3399FF"/>
              </a:buClr>
              <a:buFont typeface="Wingdings" panose="05000000000000000000" pitchFamily="2" charset="2"/>
              <a:buChar char="v"/>
              <a:defRPr/>
            </a:pPr>
            <a:r>
              <a:rPr lang="zh-CN" altLang="en-US" dirty="0" smtClean="0">
                <a:cs typeface="+mn-cs"/>
              </a:rPr>
              <a:t>心理可接受</a:t>
            </a:r>
            <a:endParaRPr lang="en-US" altLang="zh-CN" dirty="0" smtClean="0">
              <a:cs typeface="+mn-cs"/>
            </a:endParaRPr>
          </a:p>
          <a:p>
            <a:pPr marL="514350" lvl="1" indent="-514350">
              <a:buClr>
                <a:srgbClr val="3399FF"/>
              </a:buClr>
              <a:buFont typeface="Wingdings" panose="05000000000000000000" pitchFamily="2" charset="2"/>
              <a:buChar char="v"/>
              <a:defRPr/>
            </a:pPr>
            <a:r>
              <a:rPr lang="zh-CN" altLang="en-US" dirty="0" smtClean="0">
                <a:cs typeface="+mn-cs"/>
              </a:rPr>
              <a:t>默认故障处理</a:t>
            </a:r>
            <a:endParaRPr lang="en-US" altLang="zh-CN" dirty="0" smtClean="0">
              <a:cs typeface="+mn-cs"/>
            </a:endParaRPr>
          </a:p>
          <a:p>
            <a:pPr marL="514350" lvl="1" indent="-514350">
              <a:buClr>
                <a:srgbClr val="3399FF"/>
              </a:buClr>
              <a:buFont typeface="Wingdings" panose="05000000000000000000" pitchFamily="2" charset="2"/>
              <a:buChar char="v"/>
              <a:defRPr/>
            </a:pPr>
            <a:r>
              <a:rPr lang="zh-CN" altLang="en-US" dirty="0" smtClean="0">
                <a:cs typeface="+mn-cs"/>
              </a:rPr>
              <a:t>经济机制</a:t>
            </a:r>
            <a:endParaRPr lang="en-US" altLang="zh-CN" dirty="0" smtClean="0">
              <a:cs typeface="+mn-cs"/>
            </a:endParaRPr>
          </a:p>
          <a:p>
            <a:pPr marL="514350" lvl="1" indent="-514350">
              <a:buClr>
                <a:srgbClr val="3399FF"/>
              </a:buClr>
              <a:buFont typeface="Wingdings" panose="05000000000000000000" pitchFamily="2" charset="2"/>
              <a:buChar char="v"/>
              <a:defRPr/>
            </a:pPr>
            <a:r>
              <a:rPr lang="zh-CN" altLang="en-US" dirty="0" smtClean="0">
                <a:cs typeface="+mn-cs"/>
              </a:rPr>
              <a:t>不信任</a:t>
            </a:r>
            <a:endParaRPr lang="en-US" altLang="zh-CN" dirty="0">
              <a:cs typeface="+mn-cs"/>
            </a:endParaRPr>
          </a:p>
          <a:p>
            <a:pPr marL="514350" lvl="1" indent="-514350">
              <a:buClr>
                <a:srgbClr val="3399FF"/>
              </a:buClr>
              <a:buFont typeface="Wingdings" panose="05000000000000000000" pitchFamily="2" charset="2"/>
              <a:buChar char="v"/>
              <a:defRPr/>
            </a:pPr>
            <a:r>
              <a:rPr lang="zh-CN" altLang="en-US" dirty="0">
                <a:cs typeface="+mn-cs"/>
              </a:rPr>
              <a:t>纵深防御</a:t>
            </a:r>
            <a:endParaRPr lang="en-US" altLang="zh-CN" dirty="0">
              <a:cs typeface="+mn-cs"/>
            </a:endParaRPr>
          </a:p>
          <a:p>
            <a:pPr marL="514350" lvl="1" indent="-514350">
              <a:buClr>
                <a:srgbClr val="3399FF"/>
              </a:buClr>
              <a:buFont typeface="Wingdings" panose="05000000000000000000" pitchFamily="2" charset="2"/>
              <a:buChar char="v"/>
              <a:defRPr/>
            </a:pPr>
            <a:r>
              <a:rPr lang="zh-CN" altLang="en-US" dirty="0" smtClean="0">
                <a:cs typeface="+mn-cs"/>
              </a:rPr>
              <a:t>保护</a:t>
            </a:r>
            <a:r>
              <a:rPr lang="zh-CN" altLang="en-US" dirty="0">
                <a:cs typeface="+mn-cs"/>
              </a:rPr>
              <a:t>最薄弱的</a:t>
            </a:r>
            <a:r>
              <a:rPr lang="zh-CN" altLang="en-US" dirty="0" smtClean="0">
                <a:cs typeface="+mn-cs"/>
              </a:rPr>
              <a:t>环节</a:t>
            </a:r>
            <a:endParaRPr lang="en-US" altLang="zh-CN" dirty="0" smtClean="0">
              <a:cs typeface="+mn-cs"/>
            </a:endParaRPr>
          </a:p>
          <a:p>
            <a:pPr marL="514350" lvl="1" indent="-514350">
              <a:buClr>
                <a:srgbClr val="3399FF"/>
              </a:buClr>
              <a:buFont typeface="Wingdings" panose="05000000000000000000" pitchFamily="2" charset="2"/>
              <a:buChar char="v"/>
              <a:defRPr/>
            </a:pPr>
            <a:r>
              <a:rPr lang="zh-CN" altLang="en-US" dirty="0" smtClean="0">
                <a:cs typeface="+mn-cs"/>
              </a:rPr>
              <a:t>公开设计</a:t>
            </a:r>
            <a:endParaRPr lang="en-US" altLang="zh-CN" dirty="0" smtClean="0">
              <a:cs typeface="+mn-cs"/>
            </a:endParaRPr>
          </a:p>
          <a:p>
            <a:pPr marL="514350" lvl="1" indent="-514350">
              <a:buClr>
                <a:srgbClr val="3399FF"/>
              </a:buClr>
              <a:buFont typeface="Wingdings" panose="05000000000000000000" pitchFamily="2" charset="2"/>
              <a:buChar char="v"/>
              <a:defRPr/>
            </a:pPr>
            <a:r>
              <a:rPr lang="zh-CN" altLang="en-US" dirty="0" smtClean="0">
                <a:cs typeface="+mn-cs"/>
              </a:rPr>
              <a:t>隐私保护</a:t>
            </a:r>
            <a:endParaRPr lang="en-US" altLang="zh-CN" dirty="0" smtClean="0">
              <a:cs typeface="+mn-cs"/>
            </a:endParaRPr>
          </a:p>
          <a:p>
            <a:pPr marL="514350" lvl="1" indent="-514350">
              <a:buClr>
                <a:srgbClr val="3399FF"/>
              </a:buClr>
              <a:buFont typeface="Wingdings" panose="05000000000000000000" pitchFamily="2" charset="2"/>
              <a:buChar char="v"/>
              <a:defRPr/>
            </a:pPr>
            <a:r>
              <a:rPr lang="zh-CN" altLang="en-US" dirty="0" smtClean="0">
                <a:cs typeface="+mn-cs"/>
              </a:rPr>
              <a:t>攻击面最小化</a:t>
            </a:r>
            <a:endParaRPr lang="en-US" altLang="zh-CN" dirty="0">
              <a:cs typeface="+mn-cs"/>
            </a:endParaRPr>
          </a:p>
        </p:txBody>
      </p:sp>
      <p:sp>
        <p:nvSpPr>
          <p:cNvPr id="30724" name="灯片编号占位符 3"/>
          <p:cNvSpPr>
            <a:spLocks noGrp="1"/>
          </p:cNvSpPr>
          <p:nvPr>
            <p:ph type="sldNum" sz="quarter" idx="4294967295"/>
          </p:nvPr>
        </p:nvSpPr>
        <p:spPr>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fld id="{2D35F445-7FD2-40F6-8510-AEA30F37EB97}" type="slidenum">
              <a:rPr lang="zh-CN" altLang="en-US" smtClean="0"/>
            </a:fld>
            <a:endParaRPr lang="en-US" altLang="zh-CN"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smtClean="0"/>
              <a:t>通用安全编码准则</a:t>
            </a:r>
            <a:endParaRPr lang="zh-CN" altLang="en-US" smtClean="0"/>
          </a:p>
        </p:txBody>
      </p:sp>
      <p:sp>
        <p:nvSpPr>
          <p:cNvPr id="43011" name="内容占位符 2"/>
          <p:cNvSpPr>
            <a:spLocks noGrp="1"/>
          </p:cNvSpPr>
          <p:nvPr>
            <p:ph idx="1"/>
          </p:nvPr>
        </p:nvSpPr>
        <p:spPr/>
        <p:txBody>
          <a:bodyPr/>
          <a:lstStyle/>
          <a:p>
            <a:r>
              <a:rPr lang="zh-CN" altLang="en-US" smtClean="0"/>
              <a:t>验证输入</a:t>
            </a:r>
            <a:endParaRPr lang="zh-CN" altLang="en-US" smtClean="0"/>
          </a:p>
          <a:p>
            <a:r>
              <a:rPr lang="zh-CN" altLang="en-US" smtClean="0"/>
              <a:t>避免缓冲区溢出</a:t>
            </a:r>
            <a:endParaRPr lang="zh-CN" altLang="en-US" smtClean="0"/>
          </a:p>
          <a:p>
            <a:r>
              <a:rPr lang="zh-CN" altLang="en-US" smtClean="0"/>
              <a:t>程序内部安全</a:t>
            </a:r>
            <a:endParaRPr lang="zh-CN" altLang="en-US" smtClean="0"/>
          </a:p>
          <a:p>
            <a:r>
              <a:rPr lang="zh-CN" altLang="en-US" smtClean="0"/>
              <a:t>安全调用组件</a:t>
            </a:r>
            <a:endParaRPr lang="zh-CN" altLang="en-US" smtClean="0"/>
          </a:p>
          <a:p>
            <a:r>
              <a:rPr lang="zh-CN" altLang="en-US" smtClean="0"/>
              <a:t>禁止使用不安全函数</a:t>
            </a:r>
            <a:endParaRPr lang="zh-CN" altLang="en-US" smtClean="0"/>
          </a:p>
          <a:p>
            <a:endParaRPr lang="zh-CN" altLang="en-US" smtClean="0"/>
          </a:p>
        </p:txBody>
      </p:sp>
      <p:sp>
        <p:nvSpPr>
          <p:cNvPr id="43012" name="灯片编号占位符 3"/>
          <p:cNvSpPr>
            <a:spLocks noGrp="1"/>
          </p:cNvSpPr>
          <p:nvPr>
            <p:ph type="sldNum" sz="quarter" idx="4294967295"/>
          </p:nvPr>
        </p:nvSpPr>
        <p:spPr>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fld id="{3B6EBE66-8881-403C-8777-AC0B4C8DC174}" type="slidenum">
              <a:rPr lang="zh-CN" altLang="en-US" smtClean="0"/>
            </a:fld>
            <a:endParaRPr lang="en-US" altLang="zh-CN"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algn="just"/>
            <a:r>
              <a:rPr lang="en-US" altLang="en-US" sz="5400" b="1" dirty="0" err="1">
                <a:latin typeface="楷体_GB2312" pitchFamily="49" charset="-122"/>
                <a:ea typeface="楷体_GB2312" pitchFamily="49" charset="-122"/>
              </a:rPr>
              <a:t>计算机</a:t>
            </a:r>
            <a:r>
              <a:rPr lang="zh-CN" altLang="en-US" sz="5400" b="1" dirty="0">
                <a:latin typeface="楷体_GB2312" pitchFamily="49" charset="-122"/>
                <a:ea typeface="楷体_GB2312" pitchFamily="49" charset="-122"/>
              </a:rPr>
              <a:t>网络安全</a:t>
            </a:r>
            <a:r>
              <a:rPr lang="zh-CN" altLang="en-US" sz="5400" b="1" dirty="0" smtClean="0">
                <a:latin typeface="楷体_GB2312" pitchFamily="49" charset="-122"/>
                <a:ea typeface="楷体_GB2312" pitchFamily="49" charset="-122"/>
              </a:rPr>
              <a:t>技术之</a:t>
            </a:r>
            <a:r>
              <a:rPr lang="zh-CN" altLang="en-US" sz="5400" b="1" dirty="0">
                <a:latin typeface="楷体_GB2312" pitchFamily="49" charset="-122"/>
                <a:ea typeface="楷体_GB2312" pitchFamily="49" charset="-122"/>
              </a:rPr>
              <a:t>防火墙技术</a:t>
            </a:r>
            <a:endParaRPr lang="en-US" altLang="zh-CN" sz="5400" b="1" dirty="0">
              <a:latin typeface="楷体_GB2312" pitchFamily="49" charset="-122"/>
              <a:ea typeface="楷体_GB2312" pitchFamily="49" charset="-122"/>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a:spLocks noGrp="1"/>
          </p:cNvSpPr>
          <p:nvPr>
            <p:ph type="dt" sz="quarter" idx="4294967295"/>
          </p:nvPr>
        </p:nvSpPr>
        <p:spPr>
          <a:xfrm>
            <a:off x="685800" y="6248400"/>
            <a:ext cx="1905000" cy="45720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2ABE6811-A40E-43DA-B6AA-BE08DCD44812}"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41987"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DD6EF778-1D92-47CF-88F0-F701F37AD1D8}"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41988" name="Rectangle 2"/>
          <p:cNvSpPr>
            <a:spLocks noGrp="1" noChangeArrowheads="1"/>
          </p:cNvSpPr>
          <p:nvPr>
            <p:ph type="title"/>
          </p:nvPr>
        </p:nvSpPr>
        <p:spPr/>
        <p:txBody>
          <a:bodyPr/>
          <a:lstStyle/>
          <a:p>
            <a:pPr eaLnBrk="1" hangingPunct="1"/>
            <a:r>
              <a:rPr lang="zh-CN" altLang="en-US" smtClean="0"/>
              <a:t>防火墙的基本原理</a:t>
            </a:r>
            <a:endParaRPr lang="zh-CN" altLang="en-US" smtClean="0"/>
          </a:p>
        </p:txBody>
      </p:sp>
      <p:sp>
        <p:nvSpPr>
          <p:cNvPr id="41989" name="Rectangle 3"/>
          <p:cNvSpPr>
            <a:spLocks noGrp="1" noChangeArrowheads="1"/>
          </p:cNvSpPr>
          <p:nvPr>
            <p:ph type="body" idx="1"/>
          </p:nvPr>
        </p:nvSpPr>
        <p:spPr/>
        <p:txBody>
          <a:bodyPr/>
          <a:lstStyle/>
          <a:p>
            <a:pPr eaLnBrk="1" hangingPunct="1"/>
            <a:r>
              <a:rPr lang="zh-CN" altLang="en-US" smtClean="0"/>
              <a:t>防火墙是位于两个</a:t>
            </a:r>
            <a:r>
              <a:rPr lang="en-US" altLang="zh-CN" smtClean="0"/>
              <a:t>(</a:t>
            </a:r>
            <a:r>
              <a:rPr lang="zh-CN" altLang="en-US" smtClean="0"/>
              <a:t>或多个</a:t>
            </a:r>
            <a:r>
              <a:rPr lang="en-US" altLang="zh-CN" smtClean="0"/>
              <a:t>)</a:t>
            </a:r>
            <a:r>
              <a:rPr lang="zh-CN" altLang="en-US" smtClean="0"/>
              <a:t>网络间实施网间访问控制的一组组件的集合，</a:t>
            </a:r>
            <a:endParaRPr lang="zh-CN" altLang="en-US" smtClean="0"/>
          </a:p>
          <a:p>
            <a:pPr eaLnBrk="1" hangingPunct="1"/>
            <a:r>
              <a:rPr lang="zh-CN" altLang="en-US" smtClean="0"/>
              <a:t>它满足以下条件</a:t>
            </a:r>
            <a:endParaRPr lang="zh-CN" altLang="en-US" smtClean="0"/>
          </a:p>
          <a:p>
            <a:pPr lvl="1" eaLnBrk="1" hangingPunct="1"/>
            <a:r>
              <a:rPr lang="zh-CN" altLang="en-US" smtClean="0"/>
              <a:t>内部和外部之间的所有网络数据流必须经过防火墙</a:t>
            </a:r>
            <a:endParaRPr lang="zh-CN" altLang="en-US" smtClean="0"/>
          </a:p>
          <a:p>
            <a:pPr lvl="1" eaLnBrk="1" hangingPunct="1"/>
            <a:r>
              <a:rPr lang="zh-CN" altLang="en-US" smtClean="0"/>
              <a:t>只有符合安全政策的数据流才能通过防火墙</a:t>
            </a:r>
            <a:endParaRPr lang="zh-CN" altLang="en-US" smtClean="0"/>
          </a:p>
          <a:p>
            <a:pPr lvl="1" eaLnBrk="1" hangingPunct="1"/>
            <a:r>
              <a:rPr lang="zh-CN" altLang="en-US" smtClean="0"/>
              <a:t>防火墙自身对渗透</a:t>
            </a:r>
            <a:r>
              <a:rPr lang="en-US" altLang="zh-CN" smtClean="0"/>
              <a:t>(penetration)</a:t>
            </a:r>
            <a:r>
              <a:rPr lang="zh-CN" altLang="en-US" smtClean="0"/>
              <a:t>是免疫的</a:t>
            </a:r>
            <a:endParaRPr lang="zh-CN" altLang="en-US" smtClean="0"/>
          </a:p>
        </p:txBody>
      </p:sp>
    </p:spTree>
  </p:cSld>
  <p:clrMapOvr>
    <a:masterClrMapping/>
  </p:clrMapOvr>
  <p:transition spd="slow"/>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2"/>
          <p:cNvSpPr>
            <a:spLocks noGrp="1"/>
          </p:cNvSpPr>
          <p:nvPr>
            <p:ph type="dt" sz="quarter" idx="10"/>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CF93C835-5A81-4F16-8E4F-E566CFD8DDA5}"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47107" name="灯片编号占位符 4"/>
          <p:cNvSpPr>
            <a:spLocks noGrp="1"/>
          </p:cNvSpPr>
          <p:nvPr>
            <p:ph type="sldNum" sz="quarter" idx="12"/>
          </p:nvPr>
        </p:nvSpPr>
        <p:spPr>
          <a:xfrm>
            <a:off x="6553200" y="6245225"/>
            <a:ext cx="1981200" cy="476250"/>
          </a:xfr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DD6DEFB7-1703-42F3-9B95-D0774EF21007}"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47108" name="Line 2"/>
          <p:cNvSpPr>
            <a:spLocks noChangeShapeType="1"/>
          </p:cNvSpPr>
          <p:nvPr/>
        </p:nvSpPr>
        <p:spPr bwMode="auto">
          <a:xfrm flipV="1">
            <a:off x="2122488" y="3898900"/>
            <a:ext cx="577850" cy="58261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9" name="Line 3"/>
          <p:cNvSpPr>
            <a:spLocks noChangeShapeType="1"/>
          </p:cNvSpPr>
          <p:nvPr/>
        </p:nvSpPr>
        <p:spPr bwMode="auto">
          <a:xfrm>
            <a:off x="8108950" y="2811463"/>
            <a:ext cx="4000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 name="Line 4"/>
          <p:cNvSpPr>
            <a:spLocks noChangeShapeType="1"/>
          </p:cNvSpPr>
          <p:nvPr/>
        </p:nvSpPr>
        <p:spPr bwMode="auto">
          <a:xfrm>
            <a:off x="8115300" y="2092325"/>
            <a:ext cx="4000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 name="Line 5"/>
          <p:cNvSpPr>
            <a:spLocks noChangeShapeType="1"/>
          </p:cNvSpPr>
          <p:nvPr/>
        </p:nvSpPr>
        <p:spPr bwMode="auto">
          <a:xfrm>
            <a:off x="7175500" y="2987675"/>
            <a:ext cx="4000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 name="Line 6"/>
          <p:cNvSpPr>
            <a:spLocks noChangeShapeType="1"/>
          </p:cNvSpPr>
          <p:nvPr/>
        </p:nvSpPr>
        <p:spPr bwMode="auto">
          <a:xfrm>
            <a:off x="5922963" y="4081463"/>
            <a:ext cx="682625" cy="3873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7113" name="Group 8"/>
          <p:cNvGrpSpPr/>
          <p:nvPr/>
        </p:nvGrpSpPr>
        <p:grpSpPr bwMode="auto">
          <a:xfrm>
            <a:off x="2438400" y="2590800"/>
            <a:ext cx="4348163" cy="1763713"/>
            <a:chOff x="1104" y="1880"/>
            <a:chExt cx="2739" cy="1111"/>
          </a:xfrm>
        </p:grpSpPr>
        <p:grpSp>
          <p:nvGrpSpPr>
            <p:cNvPr id="47278" name="Group 9"/>
            <p:cNvGrpSpPr/>
            <p:nvPr/>
          </p:nvGrpSpPr>
          <p:grpSpPr bwMode="auto">
            <a:xfrm>
              <a:off x="1104" y="1880"/>
              <a:ext cx="2739" cy="1111"/>
              <a:chOff x="2271" y="2373"/>
              <a:chExt cx="2148" cy="1003"/>
            </a:xfrm>
          </p:grpSpPr>
          <p:sp>
            <p:nvSpPr>
              <p:cNvPr id="47280" name="Oval 10"/>
              <p:cNvSpPr>
                <a:spLocks noChangeArrowheads="1"/>
              </p:cNvSpPr>
              <p:nvPr/>
            </p:nvSpPr>
            <p:spPr bwMode="auto">
              <a:xfrm>
                <a:off x="3172" y="2373"/>
                <a:ext cx="822" cy="386"/>
              </a:xfrm>
              <a:prstGeom prst="ellipse">
                <a:avLst/>
              </a:prstGeom>
              <a:solidFill>
                <a:srgbClr val="E1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1706" tIns="25853" rIns="51706" bIns="25853">
                <a:spAutoFit/>
              </a:bodyPr>
              <a:lstStyle/>
              <a:p>
                <a:endParaRPr lang="zh-CN" altLang="en-US"/>
              </a:p>
            </p:txBody>
          </p:sp>
          <p:sp>
            <p:nvSpPr>
              <p:cNvPr id="47281" name="Oval 11"/>
              <p:cNvSpPr>
                <a:spLocks noChangeArrowheads="1"/>
              </p:cNvSpPr>
              <p:nvPr/>
            </p:nvSpPr>
            <p:spPr bwMode="auto">
              <a:xfrm>
                <a:off x="2271" y="2777"/>
                <a:ext cx="718" cy="386"/>
              </a:xfrm>
              <a:prstGeom prst="ellipse">
                <a:avLst/>
              </a:prstGeom>
              <a:solidFill>
                <a:srgbClr val="E1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1706" tIns="25853" rIns="51706" bIns="25853">
                <a:spAutoFit/>
              </a:bodyPr>
              <a:lstStyle/>
              <a:p>
                <a:endParaRPr lang="zh-CN" altLang="en-US"/>
              </a:p>
            </p:txBody>
          </p:sp>
          <p:sp>
            <p:nvSpPr>
              <p:cNvPr id="47282" name="Oval 12"/>
              <p:cNvSpPr>
                <a:spLocks noChangeArrowheads="1"/>
              </p:cNvSpPr>
              <p:nvPr/>
            </p:nvSpPr>
            <p:spPr bwMode="auto">
              <a:xfrm>
                <a:off x="3095" y="2990"/>
                <a:ext cx="1122" cy="386"/>
              </a:xfrm>
              <a:prstGeom prst="ellipse">
                <a:avLst/>
              </a:prstGeom>
              <a:solidFill>
                <a:srgbClr val="E1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1706" tIns="25853" rIns="51706" bIns="25853">
                <a:spAutoFit/>
              </a:bodyPr>
              <a:lstStyle/>
              <a:p>
                <a:endParaRPr lang="zh-CN" altLang="en-US"/>
              </a:p>
            </p:txBody>
          </p:sp>
          <p:sp>
            <p:nvSpPr>
              <p:cNvPr id="47283" name="Oval 13"/>
              <p:cNvSpPr>
                <a:spLocks noChangeArrowheads="1"/>
              </p:cNvSpPr>
              <p:nvPr/>
            </p:nvSpPr>
            <p:spPr bwMode="auto">
              <a:xfrm>
                <a:off x="3705" y="2649"/>
                <a:ext cx="714" cy="386"/>
              </a:xfrm>
              <a:prstGeom prst="ellipse">
                <a:avLst/>
              </a:prstGeom>
              <a:solidFill>
                <a:srgbClr val="E1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1706" tIns="25853" rIns="51706" bIns="25853">
                <a:spAutoFit/>
              </a:bodyPr>
              <a:lstStyle/>
              <a:p>
                <a:endParaRPr lang="zh-CN" altLang="en-US"/>
              </a:p>
            </p:txBody>
          </p:sp>
          <p:sp>
            <p:nvSpPr>
              <p:cNvPr id="47284" name="Oval 14"/>
              <p:cNvSpPr>
                <a:spLocks noChangeArrowheads="1"/>
              </p:cNvSpPr>
              <p:nvPr/>
            </p:nvSpPr>
            <p:spPr bwMode="auto">
              <a:xfrm>
                <a:off x="2504" y="2570"/>
                <a:ext cx="1713" cy="386"/>
              </a:xfrm>
              <a:prstGeom prst="ellipse">
                <a:avLst/>
              </a:prstGeom>
              <a:gradFill rotWithShape="0">
                <a:gsLst>
                  <a:gs pos="0">
                    <a:srgbClr val="FFFFFF"/>
                  </a:gs>
                  <a:gs pos="100000">
                    <a:srgbClr val="E1000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1706" tIns="25853" rIns="51706" bIns="25853">
                <a:spAutoFit/>
              </a:bodyPr>
              <a:lstStyle/>
              <a:p>
                <a:endParaRPr lang="zh-CN" altLang="en-US"/>
              </a:p>
            </p:txBody>
          </p:sp>
        </p:grpSp>
        <p:sp>
          <p:nvSpPr>
            <p:cNvPr id="1645583" name="Rectangle 15"/>
            <p:cNvSpPr>
              <a:spLocks noChangeArrowheads="1"/>
            </p:cNvSpPr>
            <p:nvPr/>
          </p:nvSpPr>
          <p:spPr bwMode="auto">
            <a:xfrm>
              <a:off x="1864" y="2271"/>
              <a:ext cx="1531"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7621" tIns="23811" rIns="47621" bIns="23811">
              <a:spAutoFit/>
            </a:bodyPr>
            <a:lstStyle/>
            <a:p>
              <a:pPr algn="ctr" defTabSz="231775" eaLnBrk="0" hangingPunct="0">
                <a:defRPr/>
              </a:pPr>
              <a:r>
                <a:rPr lang="en-US" altLang="zh-CN" sz="3600" b="1">
                  <a:effectLst>
                    <a:outerShdw blurRad="38100" dist="38100" dir="2700000" algn="tl">
                      <a:srgbClr val="C0C0C0"/>
                    </a:outerShdw>
                  </a:effectLst>
                  <a:latin typeface="Arial" panose="020B0604020202020204" pitchFamily="34" charset="0"/>
                </a:rPr>
                <a:t>Internet</a:t>
              </a:r>
              <a:endParaRPr lang="en-US" altLang="zh-CN" sz="3600" b="1">
                <a:effectLst>
                  <a:outerShdw blurRad="38100" dist="38100" dir="2700000" algn="tl">
                    <a:srgbClr val="C0C0C0"/>
                  </a:outerShdw>
                </a:effectLst>
                <a:latin typeface="Arial" panose="020B0604020202020204" pitchFamily="34" charset="0"/>
              </a:endParaRPr>
            </a:p>
          </p:txBody>
        </p:sp>
      </p:grpSp>
      <p:pic>
        <p:nvPicPr>
          <p:cNvPr id="47114" name="Picture 16"/>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19838" y="3967163"/>
            <a:ext cx="550862" cy="108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7115" name="Group 17"/>
          <p:cNvGrpSpPr/>
          <p:nvPr/>
        </p:nvGrpSpPr>
        <p:grpSpPr bwMode="auto">
          <a:xfrm>
            <a:off x="2030413" y="4078288"/>
            <a:ext cx="636587" cy="889000"/>
            <a:chOff x="2132" y="2461"/>
            <a:chExt cx="435" cy="675"/>
          </a:xfrm>
        </p:grpSpPr>
        <p:grpSp>
          <p:nvGrpSpPr>
            <p:cNvPr id="47149" name="Group 18"/>
            <p:cNvGrpSpPr/>
            <p:nvPr/>
          </p:nvGrpSpPr>
          <p:grpSpPr bwMode="auto">
            <a:xfrm>
              <a:off x="2330" y="2461"/>
              <a:ext cx="237" cy="662"/>
              <a:chOff x="2330" y="2461"/>
              <a:chExt cx="237" cy="662"/>
            </a:xfrm>
          </p:grpSpPr>
          <p:sp>
            <p:nvSpPr>
              <p:cNvPr id="47264" name="Freeform 19"/>
              <p:cNvSpPr/>
              <p:nvPr/>
            </p:nvSpPr>
            <p:spPr bwMode="auto">
              <a:xfrm>
                <a:off x="2330" y="2461"/>
                <a:ext cx="108" cy="144"/>
              </a:xfrm>
              <a:custGeom>
                <a:avLst/>
                <a:gdLst>
                  <a:gd name="T0" fmla="*/ 55 w 108"/>
                  <a:gd name="T1" fmla="*/ 132 h 144"/>
                  <a:gd name="T2" fmla="*/ 71 w 108"/>
                  <a:gd name="T3" fmla="*/ 122 h 144"/>
                  <a:gd name="T4" fmla="*/ 80 w 108"/>
                  <a:gd name="T5" fmla="*/ 112 h 144"/>
                  <a:gd name="T6" fmla="*/ 88 w 108"/>
                  <a:gd name="T7" fmla="*/ 100 h 144"/>
                  <a:gd name="T8" fmla="*/ 91 w 108"/>
                  <a:gd name="T9" fmla="*/ 83 h 144"/>
                  <a:gd name="T10" fmla="*/ 91 w 108"/>
                  <a:gd name="T11" fmla="*/ 70 h 144"/>
                  <a:gd name="T12" fmla="*/ 94 w 108"/>
                  <a:gd name="T13" fmla="*/ 61 h 144"/>
                  <a:gd name="T14" fmla="*/ 101 w 108"/>
                  <a:gd name="T15" fmla="*/ 55 h 144"/>
                  <a:gd name="T16" fmla="*/ 103 w 108"/>
                  <a:gd name="T17" fmla="*/ 50 h 144"/>
                  <a:gd name="T18" fmla="*/ 95 w 108"/>
                  <a:gd name="T19" fmla="*/ 50 h 144"/>
                  <a:gd name="T20" fmla="*/ 90 w 108"/>
                  <a:gd name="T21" fmla="*/ 51 h 144"/>
                  <a:gd name="T22" fmla="*/ 91 w 108"/>
                  <a:gd name="T23" fmla="*/ 43 h 144"/>
                  <a:gd name="T24" fmla="*/ 98 w 108"/>
                  <a:gd name="T25" fmla="*/ 35 h 144"/>
                  <a:gd name="T26" fmla="*/ 102 w 108"/>
                  <a:gd name="T27" fmla="*/ 30 h 144"/>
                  <a:gd name="T28" fmla="*/ 96 w 108"/>
                  <a:gd name="T29" fmla="*/ 28 h 144"/>
                  <a:gd name="T30" fmla="*/ 83 w 108"/>
                  <a:gd name="T31" fmla="*/ 32 h 144"/>
                  <a:gd name="T32" fmla="*/ 76 w 108"/>
                  <a:gd name="T33" fmla="*/ 40 h 144"/>
                  <a:gd name="T34" fmla="*/ 80 w 108"/>
                  <a:gd name="T35" fmla="*/ 27 h 144"/>
                  <a:gd name="T36" fmla="*/ 80 w 108"/>
                  <a:gd name="T37" fmla="*/ 14 h 144"/>
                  <a:gd name="T38" fmla="*/ 76 w 108"/>
                  <a:gd name="T39" fmla="*/ 5 h 144"/>
                  <a:gd name="T40" fmla="*/ 69 w 108"/>
                  <a:gd name="T41" fmla="*/ 7 h 144"/>
                  <a:gd name="T42" fmla="*/ 69 w 108"/>
                  <a:gd name="T43" fmla="*/ 16 h 144"/>
                  <a:gd name="T44" fmla="*/ 62 w 108"/>
                  <a:gd name="T45" fmla="*/ 25 h 144"/>
                  <a:gd name="T46" fmla="*/ 55 w 108"/>
                  <a:gd name="T47" fmla="*/ 23 h 144"/>
                  <a:gd name="T48" fmla="*/ 48 w 108"/>
                  <a:gd name="T49" fmla="*/ 18 h 144"/>
                  <a:gd name="T50" fmla="*/ 48 w 108"/>
                  <a:gd name="T51" fmla="*/ 10 h 144"/>
                  <a:gd name="T52" fmla="*/ 53 w 108"/>
                  <a:gd name="T53" fmla="*/ 6 h 144"/>
                  <a:gd name="T54" fmla="*/ 51 w 108"/>
                  <a:gd name="T55" fmla="*/ 1 h 144"/>
                  <a:gd name="T56" fmla="*/ 45 w 108"/>
                  <a:gd name="T57" fmla="*/ 0 h 144"/>
                  <a:gd name="T58" fmla="*/ 34 w 108"/>
                  <a:gd name="T59" fmla="*/ 6 h 144"/>
                  <a:gd name="T60" fmla="*/ 25 w 108"/>
                  <a:gd name="T61" fmla="*/ 17 h 144"/>
                  <a:gd name="T62" fmla="*/ 23 w 108"/>
                  <a:gd name="T63" fmla="*/ 24 h 144"/>
                  <a:gd name="T64" fmla="*/ 22 w 108"/>
                  <a:gd name="T65" fmla="*/ 39 h 144"/>
                  <a:gd name="T66" fmla="*/ 17 w 108"/>
                  <a:gd name="T67" fmla="*/ 48 h 144"/>
                  <a:gd name="T68" fmla="*/ 10 w 108"/>
                  <a:gd name="T69" fmla="*/ 58 h 144"/>
                  <a:gd name="T70" fmla="*/ 2 w 108"/>
                  <a:gd name="T71" fmla="*/ 69 h 144"/>
                  <a:gd name="T72" fmla="*/ 0 w 108"/>
                  <a:gd name="T73" fmla="*/ 80 h 144"/>
                  <a:gd name="T74" fmla="*/ 1 w 108"/>
                  <a:gd name="T75" fmla="*/ 92 h 144"/>
                  <a:gd name="T76" fmla="*/ 5 w 108"/>
                  <a:gd name="T77" fmla="*/ 111 h 144"/>
                  <a:gd name="T78" fmla="*/ 13 w 108"/>
                  <a:gd name="T79" fmla="*/ 132 h 144"/>
                  <a:gd name="T80" fmla="*/ 23 w 108"/>
                  <a:gd name="T81" fmla="*/ 142 h 144"/>
                  <a:gd name="T82" fmla="*/ 32 w 108"/>
                  <a:gd name="T83" fmla="*/ 142 h 1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08" h="144">
                    <a:moveTo>
                      <a:pt x="41" y="138"/>
                    </a:moveTo>
                    <a:lnTo>
                      <a:pt x="49" y="135"/>
                    </a:lnTo>
                    <a:lnTo>
                      <a:pt x="55" y="132"/>
                    </a:lnTo>
                    <a:lnTo>
                      <a:pt x="60" y="130"/>
                    </a:lnTo>
                    <a:lnTo>
                      <a:pt x="67" y="125"/>
                    </a:lnTo>
                    <a:lnTo>
                      <a:pt x="71" y="122"/>
                    </a:lnTo>
                    <a:lnTo>
                      <a:pt x="76" y="118"/>
                    </a:lnTo>
                    <a:lnTo>
                      <a:pt x="78" y="115"/>
                    </a:lnTo>
                    <a:lnTo>
                      <a:pt x="80" y="112"/>
                    </a:lnTo>
                    <a:lnTo>
                      <a:pt x="83" y="108"/>
                    </a:lnTo>
                    <a:lnTo>
                      <a:pt x="86" y="104"/>
                    </a:lnTo>
                    <a:lnTo>
                      <a:pt x="88" y="100"/>
                    </a:lnTo>
                    <a:lnTo>
                      <a:pt x="89" y="92"/>
                    </a:lnTo>
                    <a:lnTo>
                      <a:pt x="91" y="88"/>
                    </a:lnTo>
                    <a:lnTo>
                      <a:pt x="91" y="83"/>
                    </a:lnTo>
                    <a:lnTo>
                      <a:pt x="91" y="79"/>
                    </a:lnTo>
                    <a:lnTo>
                      <a:pt x="91" y="74"/>
                    </a:lnTo>
                    <a:lnTo>
                      <a:pt x="91" y="70"/>
                    </a:lnTo>
                    <a:lnTo>
                      <a:pt x="92" y="66"/>
                    </a:lnTo>
                    <a:lnTo>
                      <a:pt x="93" y="62"/>
                    </a:lnTo>
                    <a:lnTo>
                      <a:pt x="94" y="61"/>
                    </a:lnTo>
                    <a:lnTo>
                      <a:pt x="96" y="59"/>
                    </a:lnTo>
                    <a:lnTo>
                      <a:pt x="99" y="57"/>
                    </a:lnTo>
                    <a:lnTo>
                      <a:pt x="101" y="55"/>
                    </a:lnTo>
                    <a:lnTo>
                      <a:pt x="104" y="54"/>
                    </a:lnTo>
                    <a:lnTo>
                      <a:pt x="107" y="51"/>
                    </a:lnTo>
                    <a:lnTo>
                      <a:pt x="103" y="50"/>
                    </a:lnTo>
                    <a:lnTo>
                      <a:pt x="101" y="50"/>
                    </a:lnTo>
                    <a:lnTo>
                      <a:pt x="98" y="49"/>
                    </a:lnTo>
                    <a:lnTo>
                      <a:pt x="95" y="50"/>
                    </a:lnTo>
                    <a:lnTo>
                      <a:pt x="93" y="51"/>
                    </a:lnTo>
                    <a:lnTo>
                      <a:pt x="91" y="54"/>
                    </a:lnTo>
                    <a:lnTo>
                      <a:pt x="90" y="51"/>
                    </a:lnTo>
                    <a:lnTo>
                      <a:pt x="90" y="49"/>
                    </a:lnTo>
                    <a:lnTo>
                      <a:pt x="91" y="45"/>
                    </a:lnTo>
                    <a:lnTo>
                      <a:pt x="91" y="43"/>
                    </a:lnTo>
                    <a:lnTo>
                      <a:pt x="92" y="39"/>
                    </a:lnTo>
                    <a:lnTo>
                      <a:pt x="94" y="36"/>
                    </a:lnTo>
                    <a:lnTo>
                      <a:pt x="98" y="35"/>
                    </a:lnTo>
                    <a:lnTo>
                      <a:pt x="101" y="33"/>
                    </a:lnTo>
                    <a:lnTo>
                      <a:pt x="104" y="33"/>
                    </a:lnTo>
                    <a:lnTo>
                      <a:pt x="102" y="30"/>
                    </a:lnTo>
                    <a:lnTo>
                      <a:pt x="101" y="28"/>
                    </a:lnTo>
                    <a:lnTo>
                      <a:pt x="98" y="27"/>
                    </a:lnTo>
                    <a:lnTo>
                      <a:pt x="96" y="28"/>
                    </a:lnTo>
                    <a:lnTo>
                      <a:pt x="91" y="28"/>
                    </a:lnTo>
                    <a:lnTo>
                      <a:pt x="88" y="30"/>
                    </a:lnTo>
                    <a:lnTo>
                      <a:pt x="83" y="32"/>
                    </a:lnTo>
                    <a:lnTo>
                      <a:pt x="80" y="35"/>
                    </a:lnTo>
                    <a:lnTo>
                      <a:pt x="78" y="36"/>
                    </a:lnTo>
                    <a:lnTo>
                      <a:pt x="76" y="40"/>
                    </a:lnTo>
                    <a:lnTo>
                      <a:pt x="78" y="35"/>
                    </a:lnTo>
                    <a:lnTo>
                      <a:pt x="79" y="30"/>
                    </a:lnTo>
                    <a:lnTo>
                      <a:pt x="80" y="27"/>
                    </a:lnTo>
                    <a:lnTo>
                      <a:pt x="80" y="22"/>
                    </a:lnTo>
                    <a:lnTo>
                      <a:pt x="80" y="20"/>
                    </a:lnTo>
                    <a:lnTo>
                      <a:pt x="80" y="14"/>
                    </a:lnTo>
                    <a:lnTo>
                      <a:pt x="79" y="10"/>
                    </a:lnTo>
                    <a:lnTo>
                      <a:pt x="77" y="7"/>
                    </a:lnTo>
                    <a:lnTo>
                      <a:pt x="76" y="5"/>
                    </a:lnTo>
                    <a:lnTo>
                      <a:pt x="73" y="3"/>
                    </a:lnTo>
                    <a:lnTo>
                      <a:pt x="69" y="2"/>
                    </a:lnTo>
                    <a:lnTo>
                      <a:pt x="69" y="7"/>
                    </a:lnTo>
                    <a:lnTo>
                      <a:pt x="70" y="9"/>
                    </a:lnTo>
                    <a:lnTo>
                      <a:pt x="70" y="12"/>
                    </a:lnTo>
                    <a:lnTo>
                      <a:pt x="69" y="16"/>
                    </a:lnTo>
                    <a:lnTo>
                      <a:pt x="69" y="20"/>
                    </a:lnTo>
                    <a:lnTo>
                      <a:pt x="67" y="23"/>
                    </a:lnTo>
                    <a:lnTo>
                      <a:pt x="62" y="25"/>
                    </a:lnTo>
                    <a:lnTo>
                      <a:pt x="59" y="26"/>
                    </a:lnTo>
                    <a:lnTo>
                      <a:pt x="58" y="25"/>
                    </a:lnTo>
                    <a:lnTo>
                      <a:pt x="55" y="23"/>
                    </a:lnTo>
                    <a:lnTo>
                      <a:pt x="52" y="21"/>
                    </a:lnTo>
                    <a:lnTo>
                      <a:pt x="50" y="20"/>
                    </a:lnTo>
                    <a:lnTo>
                      <a:pt x="48" y="18"/>
                    </a:lnTo>
                    <a:lnTo>
                      <a:pt x="48" y="16"/>
                    </a:lnTo>
                    <a:lnTo>
                      <a:pt x="47" y="11"/>
                    </a:lnTo>
                    <a:lnTo>
                      <a:pt x="48" y="10"/>
                    </a:lnTo>
                    <a:lnTo>
                      <a:pt x="49" y="7"/>
                    </a:lnTo>
                    <a:lnTo>
                      <a:pt x="52" y="6"/>
                    </a:lnTo>
                    <a:lnTo>
                      <a:pt x="53" y="6"/>
                    </a:lnTo>
                    <a:lnTo>
                      <a:pt x="54" y="5"/>
                    </a:lnTo>
                    <a:lnTo>
                      <a:pt x="53" y="3"/>
                    </a:lnTo>
                    <a:lnTo>
                      <a:pt x="51" y="1"/>
                    </a:lnTo>
                    <a:lnTo>
                      <a:pt x="49" y="0"/>
                    </a:lnTo>
                    <a:lnTo>
                      <a:pt x="47" y="0"/>
                    </a:lnTo>
                    <a:lnTo>
                      <a:pt x="45" y="0"/>
                    </a:lnTo>
                    <a:lnTo>
                      <a:pt x="41" y="1"/>
                    </a:lnTo>
                    <a:lnTo>
                      <a:pt x="37" y="2"/>
                    </a:lnTo>
                    <a:lnTo>
                      <a:pt x="34" y="6"/>
                    </a:lnTo>
                    <a:lnTo>
                      <a:pt x="30" y="8"/>
                    </a:lnTo>
                    <a:lnTo>
                      <a:pt x="27" y="13"/>
                    </a:lnTo>
                    <a:lnTo>
                      <a:pt x="25" y="17"/>
                    </a:lnTo>
                    <a:lnTo>
                      <a:pt x="24" y="20"/>
                    </a:lnTo>
                    <a:lnTo>
                      <a:pt x="24" y="21"/>
                    </a:lnTo>
                    <a:lnTo>
                      <a:pt x="23" y="24"/>
                    </a:lnTo>
                    <a:lnTo>
                      <a:pt x="23" y="29"/>
                    </a:lnTo>
                    <a:lnTo>
                      <a:pt x="23" y="35"/>
                    </a:lnTo>
                    <a:lnTo>
                      <a:pt x="22" y="39"/>
                    </a:lnTo>
                    <a:lnTo>
                      <a:pt x="20" y="41"/>
                    </a:lnTo>
                    <a:lnTo>
                      <a:pt x="19" y="45"/>
                    </a:lnTo>
                    <a:lnTo>
                      <a:pt x="17" y="48"/>
                    </a:lnTo>
                    <a:lnTo>
                      <a:pt x="15" y="51"/>
                    </a:lnTo>
                    <a:lnTo>
                      <a:pt x="14" y="54"/>
                    </a:lnTo>
                    <a:lnTo>
                      <a:pt x="10" y="58"/>
                    </a:lnTo>
                    <a:lnTo>
                      <a:pt x="7" y="62"/>
                    </a:lnTo>
                    <a:lnTo>
                      <a:pt x="4" y="64"/>
                    </a:lnTo>
                    <a:lnTo>
                      <a:pt x="2" y="69"/>
                    </a:lnTo>
                    <a:lnTo>
                      <a:pt x="1" y="71"/>
                    </a:lnTo>
                    <a:lnTo>
                      <a:pt x="0" y="75"/>
                    </a:lnTo>
                    <a:lnTo>
                      <a:pt x="0" y="80"/>
                    </a:lnTo>
                    <a:lnTo>
                      <a:pt x="0" y="82"/>
                    </a:lnTo>
                    <a:lnTo>
                      <a:pt x="1" y="88"/>
                    </a:lnTo>
                    <a:lnTo>
                      <a:pt x="1" y="92"/>
                    </a:lnTo>
                    <a:lnTo>
                      <a:pt x="3" y="101"/>
                    </a:lnTo>
                    <a:lnTo>
                      <a:pt x="4" y="104"/>
                    </a:lnTo>
                    <a:lnTo>
                      <a:pt x="5" y="111"/>
                    </a:lnTo>
                    <a:lnTo>
                      <a:pt x="6" y="119"/>
                    </a:lnTo>
                    <a:lnTo>
                      <a:pt x="9" y="124"/>
                    </a:lnTo>
                    <a:lnTo>
                      <a:pt x="13" y="132"/>
                    </a:lnTo>
                    <a:lnTo>
                      <a:pt x="16" y="135"/>
                    </a:lnTo>
                    <a:lnTo>
                      <a:pt x="19" y="140"/>
                    </a:lnTo>
                    <a:lnTo>
                      <a:pt x="23" y="142"/>
                    </a:lnTo>
                    <a:lnTo>
                      <a:pt x="25" y="143"/>
                    </a:lnTo>
                    <a:lnTo>
                      <a:pt x="28" y="143"/>
                    </a:lnTo>
                    <a:lnTo>
                      <a:pt x="32" y="142"/>
                    </a:lnTo>
                    <a:lnTo>
                      <a:pt x="37" y="141"/>
                    </a:lnTo>
                    <a:lnTo>
                      <a:pt x="41" y="138"/>
                    </a:lnTo>
                  </a:path>
                </a:pathLst>
              </a:custGeom>
              <a:solidFill>
                <a:srgbClr val="FF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5" name="Freeform 20"/>
              <p:cNvSpPr/>
              <p:nvPr/>
            </p:nvSpPr>
            <p:spPr bwMode="auto">
              <a:xfrm>
                <a:off x="2334" y="2465"/>
                <a:ext cx="172" cy="228"/>
              </a:xfrm>
              <a:custGeom>
                <a:avLst/>
                <a:gdLst>
                  <a:gd name="T0" fmla="*/ 4 w 172"/>
                  <a:gd name="T1" fmla="*/ 114 h 228"/>
                  <a:gd name="T2" fmla="*/ 17 w 172"/>
                  <a:gd name="T3" fmla="*/ 88 h 228"/>
                  <a:gd name="T4" fmla="*/ 33 w 172"/>
                  <a:gd name="T5" fmla="*/ 72 h 228"/>
                  <a:gd name="T6" fmla="*/ 53 w 172"/>
                  <a:gd name="T7" fmla="*/ 58 h 228"/>
                  <a:gd name="T8" fmla="*/ 71 w 172"/>
                  <a:gd name="T9" fmla="*/ 52 h 228"/>
                  <a:gd name="T10" fmla="*/ 90 w 172"/>
                  <a:gd name="T11" fmla="*/ 52 h 228"/>
                  <a:gd name="T12" fmla="*/ 106 w 172"/>
                  <a:gd name="T13" fmla="*/ 42 h 228"/>
                  <a:gd name="T14" fmla="*/ 115 w 172"/>
                  <a:gd name="T15" fmla="*/ 33 h 228"/>
                  <a:gd name="T16" fmla="*/ 125 w 172"/>
                  <a:gd name="T17" fmla="*/ 20 h 228"/>
                  <a:gd name="T18" fmla="*/ 129 w 172"/>
                  <a:gd name="T19" fmla="*/ 18 h 228"/>
                  <a:gd name="T20" fmla="*/ 124 w 172"/>
                  <a:gd name="T21" fmla="*/ 34 h 228"/>
                  <a:gd name="T22" fmla="*/ 123 w 172"/>
                  <a:gd name="T23" fmla="*/ 42 h 228"/>
                  <a:gd name="T24" fmla="*/ 141 w 172"/>
                  <a:gd name="T25" fmla="*/ 31 h 228"/>
                  <a:gd name="T26" fmla="*/ 157 w 172"/>
                  <a:gd name="T27" fmla="*/ 9 h 228"/>
                  <a:gd name="T28" fmla="*/ 162 w 172"/>
                  <a:gd name="T29" fmla="*/ 4 h 228"/>
                  <a:gd name="T30" fmla="*/ 166 w 172"/>
                  <a:gd name="T31" fmla="*/ 24 h 228"/>
                  <a:gd name="T32" fmla="*/ 161 w 172"/>
                  <a:gd name="T33" fmla="*/ 45 h 228"/>
                  <a:gd name="T34" fmla="*/ 147 w 172"/>
                  <a:gd name="T35" fmla="*/ 69 h 228"/>
                  <a:gd name="T36" fmla="*/ 143 w 172"/>
                  <a:gd name="T37" fmla="*/ 79 h 228"/>
                  <a:gd name="T38" fmla="*/ 156 w 172"/>
                  <a:gd name="T39" fmla="*/ 84 h 228"/>
                  <a:gd name="T40" fmla="*/ 167 w 172"/>
                  <a:gd name="T41" fmla="*/ 99 h 228"/>
                  <a:gd name="T42" fmla="*/ 171 w 172"/>
                  <a:gd name="T43" fmla="*/ 115 h 228"/>
                  <a:gd name="T44" fmla="*/ 162 w 172"/>
                  <a:gd name="T45" fmla="*/ 130 h 228"/>
                  <a:gd name="T46" fmla="*/ 159 w 172"/>
                  <a:gd name="T47" fmla="*/ 117 h 228"/>
                  <a:gd name="T48" fmla="*/ 153 w 172"/>
                  <a:gd name="T49" fmla="*/ 112 h 228"/>
                  <a:gd name="T50" fmla="*/ 145 w 172"/>
                  <a:gd name="T51" fmla="*/ 113 h 228"/>
                  <a:gd name="T52" fmla="*/ 137 w 172"/>
                  <a:gd name="T53" fmla="*/ 123 h 228"/>
                  <a:gd name="T54" fmla="*/ 133 w 172"/>
                  <a:gd name="T55" fmla="*/ 134 h 228"/>
                  <a:gd name="T56" fmla="*/ 137 w 172"/>
                  <a:gd name="T57" fmla="*/ 147 h 228"/>
                  <a:gd name="T58" fmla="*/ 149 w 172"/>
                  <a:gd name="T59" fmla="*/ 138 h 228"/>
                  <a:gd name="T60" fmla="*/ 145 w 172"/>
                  <a:gd name="T61" fmla="*/ 155 h 228"/>
                  <a:gd name="T62" fmla="*/ 131 w 172"/>
                  <a:gd name="T63" fmla="*/ 172 h 228"/>
                  <a:gd name="T64" fmla="*/ 119 w 172"/>
                  <a:gd name="T65" fmla="*/ 181 h 228"/>
                  <a:gd name="T66" fmla="*/ 106 w 172"/>
                  <a:gd name="T67" fmla="*/ 181 h 228"/>
                  <a:gd name="T68" fmla="*/ 94 w 172"/>
                  <a:gd name="T69" fmla="*/ 175 h 228"/>
                  <a:gd name="T70" fmla="*/ 84 w 172"/>
                  <a:gd name="T71" fmla="*/ 174 h 228"/>
                  <a:gd name="T72" fmla="*/ 74 w 172"/>
                  <a:gd name="T73" fmla="*/ 187 h 228"/>
                  <a:gd name="T74" fmla="*/ 69 w 172"/>
                  <a:gd name="T75" fmla="*/ 203 h 228"/>
                  <a:gd name="T76" fmla="*/ 74 w 172"/>
                  <a:gd name="T77" fmla="*/ 210 h 228"/>
                  <a:gd name="T78" fmla="*/ 64 w 172"/>
                  <a:gd name="T79" fmla="*/ 220 h 228"/>
                  <a:gd name="T80" fmla="*/ 47 w 172"/>
                  <a:gd name="T81" fmla="*/ 225 h 228"/>
                  <a:gd name="T82" fmla="*/ 32 w 172"/>
                  <a:gd name="T83" fmla="*/ 226 h 228"/>
                  <a:gd name="T84" fmla="*/ 19 w 172"/>
                  <a:gd name="T85" fmla="*/ 219 h 228"/>
                  <a:gd name="T86" fmla="*/ 9 w 172"/>
                  <a:gd name="T87" fmla="*/ 208 h 228"/>
                  <a:gd name="T88" fmla="*/ 4 w 172"/>
                  <a:gd name="T89" fmla="*/ 191 h 228"/>
                  <a:gd name="T90" fmla="*/ 4 w 172"/>
                  <a:gd name="T91" fmla="*/ 163 h 228"/>
                  <a:gd name="T92" fmla="*/ 0 w 172"/>
                  <a:gd name="T93" fmla="*/ 129 h 22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72" h="228">
                    <a:moveTo>
                      <a:pt x="0" y="129"/>
                    </a:moveTo>
                    <a:lnTo>
                      <a:pt x="1" y="124"/>
                    </a:lnTo>
                    <a:lnTo>
                      <a:pt x="4" y="114"/>
                    </a:lnTo>
                    <a:lnTo>
                      <a:pt x="8" y="105"/>
                    </a:lnTo>
                    <a:lnTo>
                      <a:pt x="11" y="96"/>
                    </a:lnTo>
                    <a:lnTo>
                      <a:pt x="17" y="88"/>
                    </a:lnTo>
                    <a:lnTo>
                      <a:pt x="21" y="81"/>
                    </a:lnTo>
                    <a:lnTo>
                      <a:pt x="26" y="77"/>
                    </a:lnTo>
                    <a:lnTo>
                      <a:pt x="33" y="72"/>
                    </a:lnTo>
                    <a:lnTo>
                      <a:pt x="41" y="66"/>
                    </a:lnTo>
                    <a:lnTo>
                      <a:pt x="47" y="60"/>
                    </a:lnTo>
                    <a:lnTo>
                      <a:pt x="53" y="58"/>
                    </a:lnTo>
                    <a:lnTo>
                      <a:pt x="59" y="56"/>
                    </a:lnTo>
                    <a:lnTo>
                      <a:pt x="65" y="52"/>
                    </a:lnTo>
                    <a:lnTo>
                      <a:pt x="71" y="52"/>
                    </a:lnTo>
                    <a:lnTo>
                      <a:pt x="76" y="51"/>
                    </a:lnTo>
                    <a:lnTo>
                      <a:pt x="83" y="52"/>
                    </a:lnTo>
                    <a:lnTo>
                      <a:pt x="90" y="52"/>
                    </a:lnTo>
                    <a:lnTo>
                      <a:pt x="95" y="49"/>
                    </a:lnTo>
                    <a:lnTo>
                      <a:pt x="101" y="45"/>
                    </a:lnTo>
                    <a:lnTo>
                      <a:pt x="106" y="42"/>
                    </a:lnTo>
                    <a:lnTo>
                      <a:pt x="109" y="38"/>
                    </a:lnTo>
                    <a:lnTo>
                      <a:pt x="110" y="34"/>
                    </a:lnTo>
                    <a:lnTo>
                      <a:pt x="115" y="33"/>
                    </a:lnTo>
                    <a:lnTo>
                      <a:pt x="118" y="28"/>
                    </a:lnTo>
                    <a:lnTo>
                      <a:pt x="122" y="22"/>
                    </a:lnTo>
                    <a:lnTo>
                      <a:pt x="125" y="20"/>
                    </a:lnTo>
                    <a:lnTo>
                      <a:pt x="128" y="14"/>
                    </a:lnTo>
                    <a:lnTo>
                      <a:pt x="129" y="11"/>
                    </a:lnTo>
                    <a:lnTo>
                      <a:pt x="129" y="18"/>
                    </a:lnTo>
                    <a:lnTo>
                      <a:pt x="128" y="24"/>
                    </a:lnTo>
                    <a:lnTo>
                      <a:pt x="126" y="31"/>
                    </a:lnTo>
                    <a:lnTo>
                      <a:pt x="124" y="34"/>
                    </a:lnTo>
                    <a:lnTo>
                      <a:pt x="121" y="39"/>
                    </a:lnTo>
                    <a:lnTo>
                      <a:pt x="117" y="45"/>
                    </a:lnTo>
                    <a:lnTo>
                      <a:pt x="123" y="42"/>
                    </a:lnTo>
                    <a:lnTo>
                      <a:pt x="129" y="40"/>
                    </a:lnTo>
                    <a:lnTo>
                      <a:pt x="135" y="36"/>
                    </a:lnTo>
                    <a:lnTo>
                      <a:pt x="141" y="31"/>
                    </a:lnTo>
                    <a:lnTo>
                      <a:pt x="147" y="23"/>
                    </a:lnTo>
                    <a:lnTo>
                      <a:pt x="152" y="16"/>
                    </a:lnTo>
                    <a:lnTo>
                      <a:pt x="157" y="9"/>
                    </a:lnTo>
                    <a:lnTo>
                      <a:pt x="160" y="3"/>
                    </a:lnTo>
                    <a:lnTo>
                      <a:pt x="162" y="0"/>
                    </a:lnTo>
                    <a:lnTo>
                      <a:pt x="162" y="4"/>
                    </a:lnTo>
                    <a:lnTo>
                      <a:pt x="165" y="11"/>
                    </a:lnTo>
                    <a:lnTo>
                      <a:pt x="166" y="18"/>
                    </a:lnTo>
                    <a:lnTo>
                      <a:pt x="166" y="24"/>
                    </a:lnTo>
                    <a:lnTo>
                      <a:pt x="165" y="32"/>
                    </a:lnTo>
                    <a:lnTo>
                      <a:pt x="162" y="38"/>
                    </a:lnTo>
                    <a:lnTo>
                      <a:pt x="161" y="45"/>
                    </a:lnTo>
                    <a:lnTo>
                      <a:pt x="157" y="54"/>
                    </a:lnTo>
                    <a:lnTo>
                      <a:pt x="152" y="61"/>
                    </a:lnTo>
                    <a:lnTo>
                      <a:pt x="147" y="69"/>
                    </a:lnTo>
                    <a:lnTo>
                      <a:pt x="141" y="76"/>
                    </a:lnTo>
                    <a:lnTo>
                      <a:pt x="134" y="81"/>
                    </a:lnTo>
                    <a:lnTo>
                      <a:pt x="143" y="79"/>
                    </a:lnTo>
                    <a:lnTo>
                      <a:pt x="146" y="79"/>
                    </a:lnTo>
                    <a:lnTo>
                      <a:pt x="151" y="81"/>
                    </a:lnTo>
                    <a:lnTo>
                      <a:pt x="156" y="84"/>
                    </a:lnTo>
                    <a:lnTo>
                      <a:pt x="161" y="88"/>
                    </a:lnTo>
                    <a:lnTo>
                      <a:pt x="164" y="93"/>
                    </a:lnTo>
                    <a:lnTo>
                      <a:pt x="167" y="99"/>
                    </a:lnTo>
                    <a:lnTo>
                      <a:pt x="169" y="104"/>
                    </a:lnTo>
                    <a:lnTo>
                      <a:pt x="171" y="110"/>
                    </a:lnTo>
                    <a:lnTo>
                      <a:pt x="171" y="115"/>
                    </a:lnTo>
                    <a:lnTo>
                      <a:pt x="168" y="122"/>
                    </a:lnTo>
                    <a:lnTo>
                      <a:pt x="166" y="124"/>
                    </a:lnTo>
                    <a:lnTo>
                      <a:pt x="162" y="130"/>
                    </a:lnTo>
                    <a:lnTo>
                      <a:pt x="162" y="124"/>
                    </a:lnTo>
                    <a:lnTo>
                      <a:pt x="161" y="120"/>
                    </a:lnTo>
                    <a:lnTo>
                      <a:pt x="159" y="117"/>
                    </a:lnTo>
                    <a:lnTo>
                      <a:pt x="158" y="115"/>
                    </a:lnTo>
                    <a:lnTo>
                      <a:pt x="156" y="113"/>
                    </a:lnTo>
                    <a:lnTo>
                      <a:pt x="153" y="112"/>
                    </a:lnTo>
                    <a:lnTo>
                      <a:pt x="150" y="113"/>
                    </a:lnTo>
                    <a:lnTo>
                      <a:pt x="146" y="113"/>
                    </a:lnTo>
                    <a:lnTo>
                      <a:pt x="145" y="113"/>
                    </a:lnTo>
                    <a:lnTo>
                      <a:pt x="141" y="116"/>
                    </a:lnTo>
                    <a:lnTo>
                      <a:pt x="138" y="119"/>
                    </a:lnTo>
                    <a:lnTo>
                      <a:pt x="137" y="123"/>
                    </a:lnTo>
                    <a:lnTo>
                      <a:pt x="135" y="124"/>
                    </a:lnTo>
                    <a:lnTo>
                      <a:pt x="134" y="129"/>
                    </a:lnTo>
                    <a:lnTo>
                      <a:pt x="133" y="134"/>
                    </a:lnTo>
                    <a:lnTo>
                      <a:pt x="133" y="140"/>
                    </a:lnTo>
                    <a:lnTo>
                      <a:pt x="134" y="144"/>
                    </a:lnTo>
                    <a:lnTo>
                      <a:pt x="137" y="147"/>
                    </a:lnTo>
                    <a:lnTo>
                      <a:pt x="141" y="147"/>
                    </a:lnTo>
                    <a:lnTo>
                      <a:pt x="145" y="144"/>
                    </a:lnTo>
                    <a:lnTo>
                      <a:pt x="149" y="138"/>
                    </a:lnTo>
                    <a:lnTo>
                      <a:pt x="148" y="145"/>
                    </a:lnTo>
                    <a:lnTo>
                      <a:pt x="145" y="150"/>
                    </a:lnTo>
                    <a:lnTo>
                      <a:pt x="145" y="155"/>
                    </a:lnTo>
                    <a:lnTo>
                      <a:pt x="139" y="162"/>
                    </a:lnTo>
                    <a:lnTo>
                      <a:pt x="136" y="168"/>
                    </a:lnTo>
                    <a:lnTo>
                      <a:pt x="131" y="172"/>
                    </a:lnTo>
                    <a:lnTo>
                      <a:pt x="128" y="177"/>
                    </a:lnTo>
                    <a:lnTo>
                      <a:pt x="124" y="178"/>
                    </a:lnTo>
                    <a:lnTo>
                      <a:pt x="119" y="181"/>
                    </a:lnTo>
                    <a:lnTo>
                      <a:pt x="115" y="181"/>
                    </a:lnTo>
                    <a:lnTo>
                      <a:pt x="110" y="181"/>
                    </a:lnTo>
                    <a:lnTo>
                      <a:pt x="106" y="181"/>
                    </a:lnTo>
                    <a:lnTo>
                      <a:pt x="102" y="179"/>
                    </a:lnTo>
                    <a:lnTo>
                      <a:pt x="97" y="176"/>
                    </a:lnTo>
                    <a:lnTo>
                      <a:pt x="94" y="175"/>
                    </a:lnTo>
                    <a:lnTo>
                      <a:pt x="91" y="173"/>
                    </a:lnTo>
                    <a:lnTo>
                      <a:pt x="88" y="174"/>
                    </a:lnTo>
                    <a:lnTo>
                      <a:pt x="84" y="174"/>
                    </a:lnTo>
                    <a:lnTo>
                      <a:pt x="79" y="177"/>
                    </a:lnTo>
                    <a:lnTo>
                      <a:pt x="76" y="181"/>
                    </a:lnTo>
                    <a:lnTo>
                      <a:pt x="74" y="187"/>
                    </a:lnTo>
                    <a:lnTo>
                      <a:pt x="72" y="192"/>
                    </a:lnTo>
                    <a:lnTo>
                      <a:pt x="70" y="196"/>
                    </a:lnTo>
                    <a:lnTo>
                      <a:pt x="69" y="203"/>
                    </a:lnTo>
                    <a:lnTo>
                      <a:pt x="74" y="205"/>
                    </a:lnTo>
                    <a:lnTo>
                      <a:pt x="76" y="204"/>
                    </a:lnTo>
                    <a:lnTo>
                      <a:pt x="74" y="210"/>
                    </a:lnTo>
                    <a:lnTo>
                      <a:pt x="71" y="214"/>
                    </a:lnTo>
                    <a:lnTo>
                      <a:pt x="68" y="216"/>
                    </a:lnTo>
                    <a:lnTo>
                      <a:pt x="64" y="220"/>
                    </a:lnTo>
                    <a:lnTo>
                      <a:pt x="59" y="224"/>
                    </a:lnTo>
                    <a:lnTo>
                      <a:pt x="52" y="226"/>
                    </a:lnTo>
                    <a:lnTo>
                      <a:pt x="47" y="225"/>
                    </a:lnTo>
                    <a:lnTo>
                      <a:pt x="42" y="227"/>
                    </a:lnTo>
                    <a:lnTo>
                      <a:pt x="38" y="227"/>
                    </a:lnTo>
                    <a:lnTo>
                      <a:pt x="32" y="226"/>
                    </a:lnTo>
                    <a:lnTo>
                      <a:pt x="25" y="224"/>
                    </a:lnTo>
                    <a:lnTo>
                      <a:pt x="23" y="221"/>
                    </a:lnTo>
                    <a:lnTo>
                      <a:pt x="19" y="219"/>
                    </a:lnTo>
                    <a:lnTo>
                      <a:pt x="16" y="216"/>
                    </a:lnTo>
                    <a:lnTo>
                      <a:pt x="12" y="213"/>
                    </a:lnTo>
                    <a:lnTo>
                      <a:pt x="9" y="208"/>
                    </a:lnTo>
                    <a:lnTo>
                      <a:pt x="7" y="203"/>
                    </a:lnTo>
                    <a:lnTo>
                      <a:pt x="5" y="196"/>
                    </a:lnTo>
                    <a:lnTo>
                      <a:pt x="4" y="191"/>
                    </a:lnTo>
                    <a:lnTo>
                      <a:pt x="7" y="181"/>
                    </a:lnTo>
                    <a:lnTo>
                      <a:pt x="6" y="171"/>
                    </a:lnTo>
                    <a:lnTo>
                      <a:pt x="4" y="163"/>
                    </a:lnTo>
                    <a:lnTo>
                      <a:pt x="2" y="150"/>
                    </a:lnTo>
                    <a:lnTo>
                      <a:pt x="0" y="139"/>
                    </a:lnTo>
                    <a:lnTo>
                      <a:pt x="0" y="129"/>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6" name="Freeform 21"/>
              <p:cNvSpPr/>
              <p:nvPr/>
            </p:nvSpPr>
            <p:spPr bwMode="auto">
              <a:xfrm>
                <a:off x="2344" y="2573"/>
                <a:ext cx="223" cy="550"/>
              </a:xfrm>
              <a:custGeom>
                <a:avLst/>
                <a:gdLst>
                  <a:gd name="T0" fmla="*/ 38 w 223"/>
                  <a:gd name="T1" fmla="*/ 7 h 550"/>
                  <a:gd name="T2" fmla="*/ 66 w 223"/>
                  <a:gd name="T3" fmla="*/ 0 h 550"/>
                  <a:gd name="T4" fmla="*/ 85 w 223"/>
                  <a:gd name="T5" fmla="*/ 5 h 550"/>
                  <a:gd name="T6" fmla="*/ 99 w 223"/>
                  <a:gd name="T7" fmla="*/ 31 h 550"/>
                  <a:gd name="T8" fmla="*/ 114 w 223"/>
                  <a:gd name="T9" fmla="*/ 59 h 550"/>
                  <a:gd name="T10" fmla="*/ 129 w 223"/>
                  <a:gd name="T11" fmla="*/ 76 h 550"/>
                  <a:gd name="T12" fmla="*/ 151 w 223"/>
                  <a:gd name="T13" fmla="*/ 78 h 550"/>
                  <a:gd name="T14" fmla="*/ 175 w 223"/>
                  <a:gd name="T15" fmla="*/ 62 h 550"/>
                  <a:gd name="T16" fmla="*/ 197 w 223"/>
                  <a:gd name="T17" fmla="*/ 57 h 550"/>
                  <a:gd name="T18" fmla="*/ 214 w 223"/>
                  <a:gd name="T19" fmla="*/ 65 h 550"/>
                  <a:gd name="T20" fmla="*/ 211 w 223"/>
                  <a:gd name="T21" fmla="*/ 78 h 550"/>
                  <a:gd name="T22" fmla="*/ 198 w 223"/>
                  <a:gd name="T23" fmla="*/ 89 h 550"/>
                  <a:gd name="T24" fmla="*/ 191 w 223"/>
                  <a:gd name="T25" fmla="*/ 107 h 550"/>
                  <a:gd name="T26" fmla="*/ 195 w 223"/>
                  <a:gd name="T27" fmla="*/ 128 h 550"/>
                  <a:gd name="T28" fmla="*/ 197 w 223"/>
                  <a:gd name="T29" fmla="*/ 140 h 550"/>
                  <a:gd name="T30" fmla="*/ 188 w 223"/>
                  <a:gd name="T31" fmla="*/ 156 h 550"/>
                  <a:gd name="T32" fmla="*/ 173 w 223"/>
                  <a:gd name="T33" fmla="*/ 174 h 550"/>
                  <a:gd name="T34" fmla="*/ 199 w 223"/>
                  <a:gd name="T35" fmla="*/ 175 h 550"/>
                  <a:gd name="T36" fmla="*/ 199 w 223"/>
                  <a:gd name="T37" fmla="*/ 191 h 550"/>
                  <a:gd name="T38" fmla="*/ 185 w 223"/>
                  <a:gd name="T39" fmla="*/ 213 h 550"/>
                  <a:gd name="T40" fmla="*/ 168 w 223"/>
                  <a:gd name="T41" fmla="*/ 237 h 550"/>
                  <a:gd name="T42" fmla="*/ 147 w 223"/>
                  <a:gd name="T43" fmla="*/ 245 h 550"/>
                  <a:gd name="T44" fmla="*/ 167 w 223"/>
                  <a:gd name="T45" fmla="*/ 256 h 550"/>
                  <a:gd name="T46" fmla="*/ 186 w 223"/>
                  <a:gd name="T47" fmla="*/ 260 h 550"/>
                  <a:gd name="T48" fmla="*/ 193 w 223"/>
                  <a:gd name="T49" fmla="*/ 285 h 550"/>
                  <a:gd name="T50" fmla="*/ 187 w 223"/>
                  <a:gd name="T51" fmla="*/ 293 h 550"/>
                  <a:gd name="T52" fmla="*/ 175 w 223"/>
                  <a:gd name="T53" fmla="*/ 297 h 550"/>
                  <a:gd name="T54" fmla="*/ 170 w 223"/>
                  <a:gd name="T55" fmla="*/ 313 h 550"/>
                  <a:gd name="T56" fmla="*/ 176 w 223"/>
                  <a:gd name="T57" fmla="*/ 335 h 550"/>
                  <a:gd name="T58" fmla="*/ 188 w 223"/>
                  <a:gd name="T59" fmla="*/ 344 h 550"/>
                  <a:gd name="T60" fmla="*/ 204 w 223"/>
                  <a:gd name="T61" fmla="*/ 337 h 550"/>
                  <a:gd name="T62" fmla="*/ 218 w 223"/>
                  <a:gd name="T63" fmla="*/ 316 h 550"/>
                  <a:gd name="T64" fmla="*/ 222 w 223"/>
                  <a:gd name="T65" fmla="*/ 336 h 550"/>
                  <a:gd name="T66" fmla="*/ 211 w 223"/>
                  <a:gd name="T67" fmla="*/ 371 h 550"/>
                  <a:gd name="T68" fmla="*/ 196 w 223"/>
                  <a:gd name="T69" fmla="*/ 398 h 550"/>
                  <a:gd name="T70" fmla="*/ 173 w 223"/>
                  <a:gd name="T71" fmla="*/ 423 h 550"/>
                  <a:gd name="T72" fmla="*/ 149 w 223"/>
                  <a:gd name="T73" fmla="*/ 440 h 550"/>
                  <a:gd name="T74" fmla="*/ 115 w 223"/>
                  <a:gd name="T75" fmla="*/ 448 h 550"/>
                  <a:gd name="T76" fmla="*/ 91 w 223"/>
                  <a:gd name="T77" fmla="*/ 457 h 550"/>
                  <a:gd name="T78" fmla="*/ 93 w 223"/>
                  <a:gd name="T79" fmla="*/ 467 h 550"/>
                  <a:gd name="T80" fmla="*/ 109 w 223"/>
                  <a:gd name="T81" fmla="*/ 486 h 550"/>
                  <a:gd name="T82" fmla="*/ 92 w 223"/>
                  <a:gd name="T83" fmla="*/ 500 h 550"/>
                  <a:gd name="T84" fmla="*/ 76 w 223"/>
                  <a:gd name="T85" fmla="*/ 520 h 550"/>
                  <a:gd name="T86" fmla="*/ 87 w 223"/>
                  <a:gd name="T87" fmla="*/ 528 h 550"/>
                  <a:gd name="T88" fmla="*/ 66 w 223"/>
                  <a:gd name="T89" fmla="*/ 546 h 550"/>
                  <a:gd name="T90" fmla="*/ 47 w 223"/>
                  <a:gd name="T91" fmla="*/ 547 h 550"/>
                  <a:gd name="T92" fmla="*/ 24 w 223"/>
                  <a:gd name="T93" fmla="*/ 543 h 550"/>
                  <a:gd name="T94" fmla="*/ 4 w 223"/>
                  <a:gd name="T95" fmla="*/ 521 h 550"/>
                  <a:gd name="T96" fmla="*/ 1 w 223"/>
                  <a:gd name="T97" fmla="*/ 475 h 550"/>
                  <a:gd name="T98" fmla="*/ 4 w 223"/>
                  <a:gd name="T99" fmla="*/ 437 h 550"/>
                  <a:gd name="T100" fmla="*/ 4 w 223"/>
                  <a:gd name="T101" fmla="*/ 397 h 550"/>
                  <a:gd name="T102" fmla="*/ 14 w 223"/>
                  <a:gd name="T103" fmla="*/ 345 h 550"/>
                  <a:gd name="T104" fmla="*/ 11 w 223"/>
                  <a:gd name="T105" fmla="*/ 282 h 550"/>
                  <a:gd name="T106" fmla="*/ 6 w 223"/>
                  <a:gd name="T107" fmla="*/ 107 h 55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23" h="550">
                    <a:moveTo>
                      <a:pt x="11" y="27"/>
                    </a:moveTo>
                    <a:lnTo>
                      <a:pt x="18" y="19"/>
                    </a:lnTo>
                    <a:lnTo>
                      <a:pt x="29" y="12"/>
                    </a:lnTo>
                    <a:lnTo>
                      <a:pt x="38" y="7"/>
                    </a:lnTo>
                    <a:lnTo>
                      <a:pt x="45" y="3"/>
                    </a:lnTo>
                    <a:lnTo>
                      <a:pt x="53" y="1"/>
                    </a:lnTo>
                    <a:lnTo>
                      <a:pt x="60" y="0"/>
                    </a:lnTo>
                    <a:lnTo>
                      <a:pt x="66" y="0"/>
                    </a:lnTo>
                    <a:lnTo>
                      <a:pt x="71" y="0"/>
                    </a:lnTo>
                    <a:lnTo>
                      <a:pt x="75" y="0"/>
                    </a:lnTo>
                    <a:lnTo>
                      <a:pt x="79" y="2"/>
                    </a:lnTo>
                    <a:lnTo>
                      <a:pt x="85" y="5"/>
                    </a:lnTo>
                    <a:lnTo>
                      <a:pt x="89" y="11"/>
                    </a:lnTo>
                    <a:lnTo>
                      <a:pt x="93" y="15"/>
                    </a:lnTo>
                    <a:lnTo>
                      <a:pt x="96" y="23"/>
                    </a:lnTo>
                    <a:lnTo>
                      <a:pt x="99" y="31"/>
                    </a:lnTo>
                    <a:lnTo>
                      <a:pt x="101" y="36"/>
                    </a:lnTo>
                    <a:lnTo>
                      <a:pt x="106" y="45"/>
                    </a:lnTo>
                    <a:lnTo>
                      <a:pt x="112" y="54"/>
                    </a:lnTo>
                    <a:lnTo>
                      <a:pt x="114" y="59"/>
                    </a:lnTo>
                    <a:lnTo>
                      <a:pt x="117" y="65"/>
                    </a:lnTo>
                    <a:lnTo>
                      <a:pt x="122" y="70"/>
                    </a:lnTo>
                    <a:lnTo>
                      <a:pt x="124" y="74"/>
                    </a:lnTo>
                    <a:lnTo>
                      <a:pt x="129" y="76"/>
                    </a:lnTo>
                    <a:lnTo>
                      <a:pt x="134" y="78"/>
                    </a:lnTo>
                    <a:lnTo>
                      <a:pt x="140" y="80"/>
                    </a:lnTo>
                    <a:lnTo>
                      <a:pt x="144" y="80"/>
                    </a:lnTo>
                    <a:lnTo>
                      <a:pt x="151" y="78"/>
                    </a:lnTo>
                    <a:lnTo>
                      <a:pt x="157" y="74"/>
                    </a:lnTo>
                    <a:lnTo>
                      <a:pt x="163" y="71"/>
                    </a:lnTo>
                    <a:lnTo>
                      <a:pt x="169" y="69"/>
                    </a:lnTo>
                    <a:lnTo>
                      <a:pt x="175" y="62"/>
                    </a:lnTo>
                    <a:lnTo>
                      <a:pt x="180" y="60"/>
                    </a:lnTo>
                    <a:lnTo>
                      <a:pt x="188" y="57"/>
                    </a:lnTo>
                    <a:lnTo>
                      <a:pt x="191" y="58"/>
                    </a:lnTo>
                    <a:lnTo>
                      <a:pt x="197" y="57"/>
                    </a:lnTo>
                    <a:lnTo>
                      <a:pt x="203" y="58"/>
                    </a:lnTo>
                    <a:lnTo>
                      <a:pt x="207" y="59"/>
                    </a:lnTo>
                    <a:lnTo>
                      <a:pt x="210" y="62"/>
                    </a:lnTo>
                    <a:lnTo>
                      <a:pt x="214" y="65"/>
                    </a:lnTo>
                    <a:lnTo>
                      <a:pt x="219" y="71"/>
                    </a:lnTo>
                    <a:lnTo>
                      <a:pt x="220" y="76"/>
                    </a:lnTo>
                    <a:lnTo>
                      <a:pt x="215" y="78"/>
                    </a:lnTo>
                    <a:lnTo>
                      <a:pt x="211" y="78"/>
                    </a:lnTo>
                    <a:lnTo>
                      <a:pt x="208" y="80"/>
                    </a:lnTo>
                    <a:lnTo>
                      <a:pt x="205" y="81"/>
                    </a:lnTo>
                    <a:lnTo>
                      <a:pt x="201" y="85"/>
                    </a:lnTo>
                    <a:lnTo>
                      <a:pt x="198" y="89"/>
                    </a:lnTo>
                    <a:lnTo>
                      <a:pt x="195" y="93"/>
                    </a:lnTo>
                    <a:lnTo>
                      <a:pt x="193" y="98"/>
                    </a:lnTo>
                    <a:lnTo>
                      <a:pt x="192" y="103"/>
                    </a:lnTo>
                    <a:lnTo>
                      <a:pt x="191" y="107"/>
                    </a:lnTo>
                    <a:lnTo>
                      <a:pt x="190" y="114"/>
                    </a:lnTo>
                    <a:lnTo>
                      <a:pt x="191" y="119"/>
                    </a:lnTo>
                    <a:lnTo>
                      <a:pt x="192" y="124"/>
                    </a:lnTo>
                    <a:lnTo>
                      <a:pt x="195" y="128"/>
                    </a:lnTo>
                    <a:lnTo>
                      <a:pt x="198" y="130"/>
                    </a:lnTo>
                    <a:lnTo>
                      <a:pt x="201" y="128"/>
                    </a:lnTo>
                    <a:lnTo>
                      <a:pt x="200" y="134"/>
                    </a:lnTo>
                    <a:lnTo>
                      <a:pt x="197" y="140"/>
                    </a:lnTo>
                    <a:lnTo>
                      <a:pt x="195" y="146"/>
                    </a:lnTo>
                    <a:lnTo>
                      <a:pt x="192" y="150"/>
                    </a:lnTo>
                    <a:lnTo>
                      <a:pt x="190" y="153"/>
                    </a:lnTo>
                    <a:lnTo>
                      <a:pt x="188" y="156"/>
                    </a:lnTo>
                    <a:lnTo>
                      <a:pt x="186" y="160"/>
                    </a:lnTo>
                    <a:lnTo>
                      <a:pt x="182" y="164"/>
                    </a:lnTo>
                    <a:lnTo>
                      <a:pt x="178" y="168"/>
                    </a:lnTo>
                    <a:lnTo>
                      <a:pt x="173" y="174"/>
                    </a:lnTo>
                    <a:lnTo>
                      <a:pt x="180" y="172"/>
                    </a:lnTo>
                    <a:lnTo>
                      <a:pt x="188" y="171"/>
                    </a:lnTo>
                    <a:lnTo>
                      <a:pt x="195" y="175"/>
                    </a:lnTo>
                    <a:lnTo>
                      <a:pt x="199" y="175"/>
                    </a:lnTo>
                    <a:lnTo>
                      <a:pt x="206" y="180"/>
                    </a:lnTo>
                    <a:lnTo>
                      <a:pt x="210" y="186"/>
                    </a:lnTo>
                    <a:lnTo>
                      <a:pt x="204" y="187"/>
                    </a:lnTo>
                    <a:lnTo>
                      <a:pt x="199" y="191"/>
                    </a:lnTo>
                    <a:lnTo>
                      <a:pt x="195" y="197"/>
                    </a:lnTo>
                    <a:lnTo>
                      <a:pt x="190" y="201"/>
                    </a:lnTo>
                    <a:lnTo>
                      <a:pt x="188" y="208"/>
                    </a:lnTo>
                    <a:lnTo>
                      <a:pt x="185" y="213"/>
                    </a:lnTo>
                    <a:lnTo>
                      <a:pt x="181" y="220"/>
                    </a:lnTo>
                    <a:lnTo>
                      <a:pt x="179" y="224"/>
                    </a:lnTo>
                    <a:lnTo>
                      <a:pt x="173" y="231"/>
                    </a:lnTo>
                    <a:lnTo>
                      <a:pt x="168" y="237"/>
                    </a:lnTo>
                    <a:lnTo>
                      <a:pt x="164" y="239"/>
                    </a:lnTo>
                    <a:lnTo>
                      <a:pt x="157" y="243"/>
                    </a:lnTo>
                    <a:lnTo>
                      <a:pt x="153" y="245"/>
                    </a:lnTo>
                    <a:lnTo>
                      <a:pt x="147" y="245"/>
                    </a:lnTo>
                    <a:lnTo>
                      <a:pt x="152" y="251"/>
                    </a:lnTo>
                    <a:lnTo>
                      <a:pt x="156" y="255"/>
                    </a:lnTo>
                    <a:lnTo>
                      <a:pt x="161" y="256"/>
                    </a:lnTo>
                    <a:lnTo>
                      <a:pt x="167" y="256"/>
                    </a:lnTo>
                    <a:lnTo>
                      <a:pt x="172" y="255"/>
                    </a:lnTo>
                    <a:lnTo>
                      <a:pt x="177" y="256"/>
                    </a:lnTo>
                    <a:lnTo>
                      <a:pt x="183" y="257"/>
                    </a:lnTo>
                    <a:lnTo>
                      <a:pt x="186" y="260"/>
                    </a:lnTo>
                    <a:lnTo>
                      <a:pt x="189" y="266"/>
                    </a:lnTo>
                    <a:lnTo>
                      <a:pt x="190" y="270"/>
                    </a:lnTo>
                    <a:lnTo>
                      <a:pt x="192" y="277"/>
                    </a:lnTo>
                    <a:lnTo>
                      <a:pt x="193" y="285"/>
                    </a:lnTo>
                    <a:lnTo>
                      <a:pt x="195" y="292"/>
                    </a:lnTo>
                    <a:lnTo>
                      <a:pt x="192" y="302"/>
                    </a:lnTo>
                    <a:lnTo>
                      <a:pt x="189" y="297"/>
                    </a:lnTo>
                    <a:lnTo>
                      <a:pt x="187" y="293"/>
                    </a:lnTo>
                    <a:lnTo>
                      <a:pt x="184" y="292"/>
                    </a:lnTo>
                    <a:lnTo>
                      <a:pt x="181" y="292"/>
                    </a:lnTo>
                    <a:lnTo>
                      <a:pt x="177" y="295"/>
                    </a:lnTo>
                    <a:lnTo>
                      <a:pt x="175" y="297"/>
                    </a:lnTo>
                    <a:lnTo>
                      <a:pt x="174" y="300"/>
                    </a:lnTo>
                    <a:lnTo>
                      <a:pt x="173" y="303"/>
                    </a:lnTo>
                    <a:lnTo>
                      <a:pt x="170" y="308"/>
                    </a:lnTo>
                    <a:lnTo>
                      <a:pt x="170" y="313"/>
                    </a:lnTo>
                    <a:lnTo>
                      <a:pt x="170" y="317"/>
                    </a:lnTo>
                    <a:lnTo>
                      <a:pt x="172" y="324"/>
                    </a:lnTo>
                    <a:lnTo>
                      <a:pt x="173" y="329"/>
                    </a:lnTo>
                    <a:lnTo>
                      <a:pt x="176" y="335"/>
                    </a:lnTo>
                    <a:lnTo>
                      <a:pt x="177" y="338"/>
                    </a:lnTo>
                    <a:lnTo>
                      <a:pt x="180" y="341"/>
                    </a:lnTo>
                    <a:lnTo>
                      <a:pt x="184" y="344"/>
                    </a:lnTo>
                    <a:lnTo>
                      <a:pt x="188" y="344"/>
                    </a:lnTo>
                    <a:lnTo>
                      <a:pt x="190" y="345"/>
                    </a:lnTo>
                    <a:lnTo>
                      <a:pt x="195" y="343"/>
                    </a:lnTo>
                    <a:lnTo>
                      <a:pt x="200" y="339"/>
                    </a:lnTo>
                    <a:lnTo>
                      <a:pt x="204" y="337"/>
                    </a:lnTo>
                    <a:lnTo>
                      <a:pt x="209" y="331"/>
                    </a:lnTo>
                    <a:lnTo>
                      <a:pt x="212" y="327"/>
                    </a:lnTo>
                    <a:lnTo>
                      <a:pt x="215" y="322"/>
                    </a:lnTo>
                    <a:lnTo>
                      <a:pt x="218" y="316"/>
                    </a:lnTo>
                    <a:lnTo>
                      <a:pt x="222" y="310"/>
                    </a:lnTo>
                    <a:lnTo>
                      <a:pt x="222" y="317"/>
                    </a:lnTo>
                    <a:lnTo>
                      <a:pt x="222" y="327"/>
                    </a:lnTo>
                    <a:lnTo>
                      <a:pt x="222" y="336"/>
                    </a:lnTo>
                    <a:lnTo>
                      <a:pt x="219" y="345"/>
                    </a:lnTo>
                    <a:lnTo>
                      <a:pt x="217" y="354"/>
                    </a:lnTo>
                    <a:lnTo>
                      <a:pt x="214" y="362"/>
                    </a:lnTo>
                    <a:lnTo>
                      <a:pt x="211" y="371"/>
                    </a:lnTo>
                    <a:lnTo>
                      <a:pt x="208" y="376"/>
                    </a:lnTo>
                    <a:lnTo>
                      <a:pt x="203" y="384"/>
                    </a:lnTo>
                    <a:lnTo>
                      <a:pt x="200" y="394"/>
                    </a:lnTo>
                    <a:lnTo>
                      <a:pt x="196" y="398"/>
                    </a:lnTo>
                    <a:lnTo>
                      <a:pt x="190" y="404"/>
                    </a:lnTo>
                    <a:lnTo>
                      <a:pt x="187" y="410"/>
                    </a:lnTo>
                    <a:lnTo>
                      <a:pt x="180" y="416"/>
                    </a:lnTo>
                    <a:lnTo>
                      <a:pt x="173" y="423"/>
                    </a:lnTo>
                    <a:lnTo>
                      <a:pt x="165" y="430"/>
                    </a:lnTo>
                    <a:lnTo>
                      <a:pt x="162" y="432"/>
                    </a:lnTo>
                    <a:lnTo>
                      <a:pt x="155" y="436"/>
                    </a:lnTo>
                    <a:lnTo>
                      <a:pt x="149" y="440"/>
                    </a:lnTo>
                    <a:lnTo>
                      <a:pt x="144" y="443"/>
                    </a:lnTo>
                    <a:lnTo>
                      <a:pt x="133" y="444"/>
                    </a:lnTo>
                    <a:lnTo>
                      <a:pt x="126" y="446"/>
                    </a:lnTo>
                    <a:lnTo>
                      <a:pt x="115" y="448"/>
                    </a:lnTo>
                    <a:lnTo>
                      <a:pt x="107" y="451"/>
                    </a:lnTo>
                    <a:lnTo>
                      <a:pt x="99" y="451"/>
                    </a:lnTo>
                    <a:lnTo>
                      <a:pt x="95" y="453"/>
                    </a:lnTo>
                    <a:lnTo>
                      <a:pt x="91" y="457"/>
                    </a:lnTo>
                    <a:lnTo>
                      <a:pt x="86" y="460"/>
                    </a:lnTo>
                    <a:lnTo>
                      <a:pt x="82" y="466"/>
                    </a:lnTo>
                    <a:lnTo>
                      <a:pt x="89" y="467"/>
                    </a:lnTo>
                    <a:lnTo>
                      <a:pt x="93" y="467"/>
                    </a:lnTo>
                    <a:lnTo>
                      <a:pt x="97" y="471"/>
                    </a:lnTo>
                    <a:lnTo>
                      <a:pt x="101" y="476"/>
                    </a:lnTo>
                    <a:lnTo>
                      <a:pt x="105" y="479"/>
                    </a:lnTo>
                    <a:lnTo>
                      <a:pt x="109" y="486"/>
                    </a:lnTo>
                    <a:lnTo>
                      <a:pt x="114" y="492"/>
                    </a:lnTo>
                    <a:lnTo>
                      <a:pt x="117" y="498"/>
                    </a:lnTo>
                    <a:lnTo>
                      <a:pt x="99" y="497"/>
                    </a:lnTo>
                    <a:lnTo>
                      <a:pt x="92" y="500"/>
                    </a:lnTo>
                    <a:lnTo>
                      <a:pt x="84" y="506"/>
                    </a:lnTo>
                    <a:lnTo>
                      <a:pt x="77" y="512"/>
                    </a:lnTo>
                    <a:lnTo>
                      <a:pt x="73" y="517"/>
                    </a:lnTo>
                    <a:lnTo>
                      <a:pt x="76" y="520"/>
                    </a:lnTo>
                    <a:lnTo>
                      <a:pt x="80" y="521"/>
                    </a:lnTo>
                    <a:lnTo>
                      <a:pt x="84" y="521"/>
                    </a:lnTo>
                    <a:lnTo>
                      <a:pt x="93" y="521"/>
                    </a:lnTo>
                    <a:lnTo>
                      <a:pt x="87" y="528"/>
                    </a:lnTo>
                    <a:lnTo>
                      <a:pt x="82" y="533"/>
                    </a:lnTo>
                    <a:lnTo>
                      <a:pt x="77" y="537"/>
                    </a:lnTo>
                    <a:lnTo>
                      <a:pt x="72" y="542"/>
                    </a:lnTo>
                    <a:lnTo>
                      <a:pt x="66" y="546"/>
                    </a:lnTo>
                    <a:lnTo>
                      <a:pt x="62" y="547"/>
                    </a:lnTo>
                    <a:lnTo>
                      <a:pt x="56" y="549"/>
                    </a:lnTo>
                    <a:lnTo>
                      <a:pt x="52" y="549"/>
                    </a:lnTo>
                    <a:lnTo>
                      <a:pt x="47" y="547"/>
                    </a:lnTo>
                    <a:lnTo>
                      <a:pt x="41" y="545"/>
                    </a:lnTo>
                    <a:lnTo>
                      <a:pt x="36" y="545"/>
                    </a:lnTo>
                    <a:lnTo>
                      <a:pt x="32" y="543"/>
                    </a:lnTo>
                    <a:lnTo>
                      <a:pt x="24" y="543"/>
                    </a:lnTo>
                    <a:lnTo>
                      <a:pt x="16" y="545"/>
                    </a:lnTo>
                    <a:lnTo>
                      <a:pt x="11" y="547"/>
                    </a:lnTo>
                    <a:lnTo>
                      <a:pt x="8" y="536"/>
                    </a:lnTo>
                    <a:lnTo>
                      <a:pt x="4" y="521"/>
                    </a:lnTo>
                    <a:lnTo>
                      <a:pt x="1" y="507"/>
                    </a:lnTo>
                    <a:lnTo>
                      <a:pt x="0" y="493"/>
                    </a:lnTo>
                    <a:lnTo>
                      <a:pt x="0" y="485"/>
                    </a:lnTo>
                    <a:lnTo>
                      <a:pt x="1" y="475"/>
                    </a:lnTo>
                    <a:lnTo>
                      <a:pt x="3" y="466"/>
                    </a:lnTo>
                    <a:lnTo>
                      <a:pt x="4" y="455"/>
                    </a:lnTo>
                    <a:lnTo>
                      <a:pt x="4" y="445"/>
                    </a:lnTo>
                    <a:lnTo>
                      <a:pt x="4" y="437"/>
                    </a:lnTo>
                    <a:lnTo>
                      <a:pt x="3" y="429"/>
                    </a:lnTo>
                    <a:lnTo>
                      <a:pt x="3" y="418"/>
                    </a:lnTo>
                    <a:lnTo>
                      <a:pt x="3" y="408"/>
                    </a:lnTo>
                    <a:lnTo>
                      <a:pt x="4" y="397"/>
                    </a:lnTo>
                    <a:lnTo>
                      <a:pt x="5" y="385"/>
                    </a:lnTo>
                    <a:lnTo>
                      <a:pt x="8" y="375"/>
                    </a:lnTo>
                    <a:lnTo>
                      <a:pt x="12" y="356"/>
                    </a:lnTo>
                    <a:lnTo>
                      <a:pt x="14" y="345"/>
                    </a:lnTo>
                    <a:lnTo>
                      <a:pt x="13" y="333"/>
                    </a:lnTo>
                    <a:lnTo>
                      <a:pt x="16" y="317"/>
                    </a:lnTo>
                    <a:lnTo>
                      <a:pt x="15" y="300"/>
                    </a:lnTo>
                    <a:lnTo>
                      <a:pt x="11" y="282"/>
                    </a:lnTo>
                    <a:lnTo>
                      <a:pt x="4" y="235"/>
                    </a:lnTo>
                    <a:lnTo>
                      <a:pt x="10" y="188"/>
                    </a:lnTo>
                    <a:lnTo>
                      <a:pt x="15" y="152"/>
                    </a:lnTo>
                    <a:lnTo>
                      <a:pt x="6" y="107"/>
                    </a:lnTo>
                    <a:lnTo>
                      <a:pt x="1" y="59"/>
                    </a:lnTo>
                    <a:lnTo>
                      <a:pt x="11" y="27"/>
                    </a:lnTo>
                  </a:path>
                </a:pathLst>
              </a:custGeom>
              <a:solidFill>
                <a:srgbClr val="FF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7" name="Freeform 22"/>
              <p:cNvSpPr/>
              <p:nvPr/>
            </p:nvSpPr>
            <p:spPr bwMode="auto">
              <a:xfrm>
                <a:off x="2342" y="2562"/>
                <a:ext cx="75" cy="96"/>
              </a:xfrm>
              <a:custGeom>
                <a:avLst/>
                <a:gdLst>
                  <a:gd name="T0" fmla="*/ 2 w 75"/>
                  <a:gd name="T1" fmla="*/ 52 h 96"/>
                  <a:gd name="T2" fmla="*/ 7 w 75"/>
                  <a:gd name="T3" fmla="*/ 40 h 96"/>
                  <a:gd name="T4" fmla="*/ 14 w 75"/>
                  <a:gd name="T5" fmla="*/ 32 h 96"/>
                  <a:gd name="T6" fmla="*/ 24 w 75"/>
                  <a:gd name="T7" fmla="*/ 27 h 96"/>
                  <a:gd name="T8" fmla="*/ 32 w 75"/>
                  <a:gd name="T9" fmla="*/ 23 h 96"/>
                  <a:gd name="T10" fmla="*/ 39 w 75"/>
                  <a:gd name="T11" fmla="*/ 23 h 96"/>
                  <a:gd name="T12" fmla="*/ 47 w 75"/>
                  <a:gd name="T13" fmla="*/ 19 h 96"/>
                  <a:gd name="T14" fmla="*/ 50 w 75"/>
                  <a:gd name="T15" fmla="*/ 14 h 96"/>
                  <a:gd name="T16" fmla="*/ 55 w 75"/>
                  <a:gd name="T17" fmla="*/ 10 h 96"/>
                  <a:gd name="T18" fmla="*/ 56 w 75"/>
                  <a:gd name="T19" fmla="*/ 9 h 96"/>
                  <a:gd name="T20" fmla="*/ 54 w 75"/>
                  <a:gd name="T21" fmla="*/ 14 h 96"/>
                  <a:gd name="T22" fmla="*/ 54 w 75"/>
                  <a:gd name="T23" fmla="*/ 19 h 96"/>
                  <a:gd name="T24" fmla="*/ 61 w 75"/>
                  <a:gd name="T25" fmla="*/ 13 h 96"/>
                  <a:gd name="T26" fmla="*/ 68 w 75"/>
                  <a:gd name="T27" fmla="*/ 4 h 96"/>
                  <a:gd name="T28" fmla="*/ 70 w 75"/>
                  <a:gd name="T29" fmla="*/ 2 h 96"/>
                  <a:gd name="T30" fmla="*/ 71 w 75"/>
                  <a:gd name="T31" fmla="*/ 10 h 96"/>
                  <a:gd name="T32" fmla="*/ 69 w 75"/>
                  <a:gd name="T33" fmla="*/ 19 h 96"/>
                  <a:gd name="T34" fmla="*/ 63 w 75"/>
                  <a:gd name="T35" fmla="*/ 28 h 96"/>
                  <a:gd name="T36" fmla="*/ 61 w 75"/>
                  <a:gd name="T37" fmla="*/ 32 h 96"/>
                  <a:gd name="T38" fmla="*/ 67 w 75"/>
                  <a:gd name="T39" fmla="*/ 33 h 96"/>
                  <a:gd name="T40" fmla="*/ 71 w 75"/>
                  <a:gd name="T41" fmla="*/ 40 h 96"/>
                  <a:gd name="T42" fmla="*/ 72 w 75"/>
                  <a:gd name="T43" fmla="*/ 46 h 96"/>
                  <a:gd name="T44" fmla="*/ 68 w 75"/>
                  <a:gd name="T45" fmla="*/ 52 h 96"/>
                  <a:gd name="T46" fmla="*/ 67 w 75"/>
                  <a:gd name="T47" fmla="*/ 47 h 96"/>
                  <a:gd name="T48" fmla="*/ 64 w 75"/>
                  <a:gd name="T49" fmla="*/ 45 h 96"/>
                  <a:gd name="T50" fmla="*/ 59 w 75"/>
                  <a:gd name="T51" fmla="*/ 48 h 96"/>
                  <a:gd name="T52" fmla="*/ 56 w 75"/>
                  <a:gd name="T53" fmla="*/ 52 h 96"/>
                  <a:gd name="T54" fmla="*/ 56 w 75"/>
                  <a:gd name="T55" fmla="*/ 58 h 96"/>
                  <a:gd name="T56" fmla="*/ 62 w 75"/>
                  <a:gd name="T57" fmla="*/ 57 h 96"/>
                  <a:gd name="T58" fmla="*/ 62 w 75"/>
                  <a:gd name="T59" fmla="*/ 61 h 96"/>
                  <a:gd name="T60" fmla="*/ 57 w 75"/>
                  <a:gd name="T61" fmla="*/ 67 h 96"/>
                  <a:gd name="T62" fmla="*/ 52 w 75"/>
                  <a:gd name="T63" fmla="*/ 73 h 96"/>
                  <a:gd name="T64" fmla="*/ 47 w 75"/>
                  <a:gd name="T65" fmla="*/ 73 h 96"/>
                  <a:gd name="T66" fmla="*/ 41 w 75"/>
                  <a:gd name="T67" fmla="*/ 71 h 96"/>
                  <a:gd name="T68" fmla="*/ 37 w 75"/>
                  <a:gd name="T69" fmla="*/ 71 h 96"/>
                  <a:gd name="T70" fmla="*/ 32 w 75"/>
                  <a:gd name="T71" fmla="*/ 74 h 96"/>
                  <a:gd name="T72" fmla="*/ 29 w 75"/>
                  <a:gd name="T73" fmla="*/ 81 h 96"/>
                  <a:gd name="T74" fmla="*/ 31 w 75"/>
                  <a:gd name="T75" fmla="*/ 83 h 96"/>
                  <a:gd name="T76" fmla="*/ 28 w 75"/>
                  <a:gd name="T77" fmla="*/ 90 h 96"/>
                  <a:gd name="T78" fmla="*/ 21 w 75"/>
                  <a:gd name="T79" fmla="*/ 93 h 96"/>
                  <a:gd name="T80" fmla="*/ 15 w 75"/>
                  <a:gd name="T81" fmla="*/ 95 h 96"/>
                  <a:gd name="T82" fmla="*/ 8 w 75"/>
                  <a:gd name="T83" fmla="*/ 92 h 96"/>
                  <a:gd name="T84" fmla="*/ 4 w 75"/>
                  <a:gd name="T85" fmla="*/ 87 h 96"/>
                  <a:gd name="T86" fmla="*/ 1 w 75"/>
                  <a:gd name="T87" fmla="*/ 81 h 96"/>
                  <a:gd name="T88" fmla="*/ 2 w 75"/>
                  <a:gd name="T89" fmla="*/ 70 h 96"/>
                  <a:gd name="T90" fmla="*/ 0 w 75"/>
                  <a:gd name="T91" fmla="*/ 57 h 9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5" h="96">
                    <a:moveTo>
                      <a:pt x="0" y="57"/>
                    </a:moveTo>
                    <a:lnTo>
                      <a:pt x="1" y="53"/>
                    </a:lnTo>
                    <a:lnTo>
                      <a:pt x="2" y="52"/>
                    </a:lnTo>
                    <a:lnTo>
                      <a:pt x="4" y="47"/>
                    </a:lnTo>
                    <a:lnTo>
                      <a:pt x="5" y="43"/>
                    </a:lnTo>
                    <a:lnTo>
                      <a:pt x="7" y="40"/>
                    </a:lnTo>
                    <a:lnTo>
                      <a:pt x="10" y="37"/>
                    </a:lnTo>
                    <a:lnTo>
                      <a:pt x="12" y="33"/>
                    </a:lnTo>
                    <a:lnTo>
                      <a:pt x="14" y="32"/>
                    </a:lnTo>
                    <a:lnTo>
                      <a:pt x="18" y="31"/>
                    </a:lnTo>
                    <a:lnTo>
                      <a:pt x="21" y="28"/>
                    </a:lnTo>
                    <a:lnTo>
                      <a:pt x="24" y="27"/>
                    </a:lnTo>
                    <a:lnTo>
                      <a:pt x="25" y="25"/>
                    </a:lnTo>
                    <a:lnTo>
                      <a:pt x="29" y="24"/>
                    </a:lnTo>
                    <a:lnTo>
                      <a:pt x="32" y="23"/>
                    </a:lnTo>
                    <a:lnTo>
                      <a:pt x="34" y="23"/>
                    </a:lnTo>
                    <a:lnTo>
                      <a:pt x="37" y="23"/>
                    </a:lnTo>
                    <a:lnTo>
                      <a:pt x="39" y="23"/>
                    </a:lnTo>
                    <a:lnTo>
                      <a:pt x="42" y="22"/>
                    </a:lnTo>
                    <a:lnTo>
                      <a:pt x="44" y="21"/>
                    </a:lnTo>
                    <a:lnTo>
                      <a:pt x="47" y="19"/>
                    </a:lnTo>
                    <a:lnTo>
                      <a:pt x="48" y="17"/>
                    </a:lnTo>
                    <a:lnTo>
                      <a:pt x="48" y="16"/>
                    </a:lnTo>
                    <a:lnTo>
                      <a:pt x="50" y="14"/>
                    </a:lnTo>
                    <a:lnTo>
                      <a:pt x="52" y="13"/>
                    </a:lnTo>
                    <a:lnTo>
                      <a:pt x="53" y="11"/>
                    </a:lnTo>
                    <a:lnTo>
                      <a:pt x="55" y="10"/>
                    </a:lnTo>
                    <a:lnTo>
                      <a:pt x="55" y="8"/>
                    </a:lnTo>
                    <a:lnTo>
                      <a:pt x="56" y="5"/>
                    </a:lnTo>
                    <a:lnTo>
                      <a:pt x="56" y="9"/>
                    </a:lnTo>
                    <a:lnTo>
                      <a:pt x="55" y="12"/>
                    </a:lnTo>
                    <a:lnTo>
                      <a:pt x="55" y="14"/>
                    </a:lnTo>
                    <a:lnTo>
                      <a:pt x="54" y="14"/>
                    </a:lnTo>
                    <a:lnTo>
                      <a:pt x="53" y="18"/>
                    </a:lnTo>
                    <a:lnTo>
                      <a:pt x="50" y="20"/>
                    </a:lnTo>
                    <a:lnTo>
                      <a:pt x="54" y="19"/>
                    </a:lnTo>
                    <a:lnTo>
                      <a:pt x="56" y="17"/>
                    </a:lnTo>
                    <a:lnTo>
                      <a:pt x="58" y="14"/>
                    </a:lnTo>
                    <a:lnTo>
                      <a:pt x="61" y="13"/>
                    </a:lnTo>
                    <a:lnTo>
                      <a:pt x="63" y="10"/>
                    </a:lnTo>
                    <a:lnTo>
                      <a:pt x="66" y="7"/>
                    </a:lnTo>
                    <a:lnTo>
                      <a:pt x="68" y="4"/>
                    </a:lnTo>
                    <a:lnTo>
                      <a:pt x="69" y="1"/>
                    </a:lnTo>
                    <a:lnTo>
                      <a:pt x="70" y="0"/>
                    </a:lnTo>
                    <a:lnTo>
                      <a:pt x="70" y="2"/>
                    </a:lnTo>
                    <a:lnTo>
                      <a:pt x="71" y="4"/>
                    </a:lnTo>
                    <a:lnTo>
                      <a:pt x="71" y="8"/>
                    </a:lnTo>
                    <a:lnTo>
                      <a:pt x="71" y="10"/>
                    </a:lnTo>
                    <a:lnTo>
                      <a:pt x="71" y="13"/>
                    </a:lnTo>
                    <a:lnTo>
                      <a:pt x="70" y="15"/>
                    </a:lnTo>
                    <a:lnTo>
                      <a:pt x="69" y="19"/>
                    </a:lnTo>
                    <a:lnTo>
                      <a:pt x="67" y="21"/>
                    </a:lnTo>
                    <a:lnTo>
                      <a:pt x="65" y="25"/>
                    </a:lnTo>
                    <a:lnTo>
                      <a:pt x="63" y="28"/>
                    </a:lnTo>
                    <a:lnTo>
                      <a:pt x="61" y="31"/>
                    </a:lnTo>
                    <a:lnTo>
                      <a:pt x="57" y="33"/>
                    </a:lnTo>
                    <a:lnTo>
                      <a:pt x="61" y="32"/>
                    </a:lnTo>
                    <a:lnTo>
                      <a:pt x="62" y="32"/>
                    </a:lnTo>
                    <a:lnTo>
                      <a:pt x="65" y="33"/>
                    </a:lnTo>
                    <a:lnTo>
                      <a:pt x="67" y="33"/>
                    </a:lnTo>
                    <a:lnTo>
                      <a:pt x="69" y="35"/>
                    </a:lnTo>
                    <a:lnTo>
                      <a:pt x="70" y="37"/>
                    </a:lnTo>
                    <a:lnTo>
                      <a:pt x="71" y="40"/>
                    </a:lnTo>
                    <a:lnTo>
                      <a:pt x="72" y="42"/>
                    </a:lnTo>
                    <a:lnTo>
                      <a:pt x="74" y="43"/>
                    </a:lnTo>
                    <a:lnTo>
                      <a:pt x="72" y="46"/>
                    </a:lnTo>
                    <a:lnTo>
                      <a:pt x="71" y="48"/>
                    </a:lnTo>
                    <a:lnTo>
                      <a:pt x="70" y="51"/>
                    </a:lnTo>
                    <a:lnTo>
                      <a:pt x="68" y="52"/>
                    </a:lnTo>
                    <a:lnTo>
                      <a:pt x="69" y="50"/>
                    </a:lnTo>
                    <a:lnTo>
                      <a:pt x="68" y="48"/>
                    </a:lnTo>
                    <a:lnTo>
                      <a:pt x="67" y="47"/>
                    </a:lnTo>
                    <a:lnTo>
                      <a:pt x="66" y="46"/>
                    </a:lnTo>
                    <a:lnTo>
                      <a:pt x="65" y="45"/>
                    </a:lnTo>
                    <a:lnTo>
                      <a:pt x="64" y="45"/>
                    </a:lnTo>
                    <a:lnTo>
                      <a:pt x="62" y="46"/>
                    </a:lnTo>
                    <a:lnTo>
                      <a:pt x="60" y="47"/>
                    </a:lnTo>
                    <a:lnTo>
                      <a:pt x="59" y="48"/>
                    </a:lnTo>
                    <a:lnTo>
                      <a:pt x="58" y="50"/>
                    </a:lnTo>
                    <a:lnTo>
                      <a:pt x="57" y="52"/>
                    </a:lnTo>
                    <a:lnTo>
                      <a:pt x="56" y="52"/>
                    </a:lnTo>
                    <a:lnTo>
                      <a:pt x="56" y="54"/>
                    </a:lnTo>
                    <a:lnTo>
                      <a:pt x="56" y="55"/>
                    </a:lnTo>
                    <a:lnTo>
                      <a:pt x="56" y="58"/>
                    </a:lnTo>
                    <a:lnTo>
                      <a:pt x="57" y="60"/>
                    </a:lnTo>
                    <a:lnTo>
                      <a:pt x="60" y="59"/>
                    </a:lnTo>
                    <a:lnTo>
                      <a:pt x="62" y="57"/>
                    </a:lnTo>
                    <a:lnTo>
                      <a:pt x="63" y="55"/>
                    </a:lnTo>
                    <a:lnTo>
                      <a:pt x="62" y="56"/>
                    </a:lnTo>
                    <a:lnTo>
                      <a:pt x="62" y="61"/>
                    </a:lnTo>
                    <a:lnTo>
                      <a:pt x="61" y="63"/>
                    </a:lnTo>
                    <a:lnTo>
                      <a:pt x="58" y="64"/>
                    </a:lnTo>
                    <a:lnTo>
                      <a:pt x="57" y="67"/>
                    </a:lnTo>
                    <a:lnTo>
                      <a:pt x="55" y="70"/>
                    </a:lnTo>
                    <a:lnTo>
                      <a:pt x="54" y="71"/>
                    </a:lnTo>
                    <a:lnTo>
                      <a:pt x="52" y="73"/>
                    </a:lnTo>
                    <a:lnTo>
                      <a:pt x="50" y="73"/>
                    </a:lnTo>
                    <a:lnTo>
                      <a:pt x="48" y="73"/>
                    </a:lnTo>
                    <a:lnTo>
                      <a:pt x="47" y="73"/>
                    </a:lnTo>
                    <a:lnTo>
                      <a:pt x="45" y="73"/>
                    </a:lnTo>
                    <a:lnTo>
                      <a:pt x="43" y="73"/>
                    </a:lnTo>
                    <a:lnTo>
                      <a:pt x="41" y="71"/>
                    </a:lnTo>
                    <a:lnTo>
                      <a:pt x="40" y="71"/>
                    </a:lnTo>
                    <a:lnTo>
                      <a:pt x="39" y="71"/>
                    </a:lnTo>
                    <a:lnTo>
                      <a:pt x="37" y="71"/>
                    </a:lnTo>
                    <a:lnTo>
                      <a:pt x="35" y="71"/>
                    </a:lnTo>
                    <a:lnTo>
                      <a:pt x="33" y="73"/>
                    </a:lnTo>
                    <a:lnTo>
                      <a:pt x="32" y="74"/>
                    </a:lnTo>
                    <a:lnTo>
                      <a:pt x="31" y="77"/>
                    </a:lnTo>
                    <a:lnTo>
                      <a:pt x="30" y="80"/>
                    </a:lnTo>
                    <a:lnTo>
                      <a:pt x="29" y="81"/>
                    </a:lnTo>
                    <a:lnTo>
                      <a:pt x="28" y="83"/>
                    </a:lnTo>
                    <a:lnTo>
                      <a:pt x="30" y="84"/>
                    </a:lnTo>
                    <a:lnTo>
                      <a:pt x="31" y="83"/>
                    </a:lnTo>
                    <a:lnTo>
                      <a:pt x="30" y="86"/>
                    </a:lnTo>
                    <a:lnTo>
                      <a:pt x="29" y="87"/>
                    </a:lnTo>
                    <a:lnTo>
                      <a:pt x="28" y="90"/>
                    </a:lnTo>
                    <a:lnTo>
                      <a:pt x="25" y="91"/>
                    </a:lnTo>
                    <a:lnTo>
                      <a:pt x="24" y="92"/>
                    </a:lnTo>
                    <a:lnTo>
                      <a:pt x="21" y="93"/>
                    </a:lnTo>
                    <a:lnTo>
                      <a:pt x="19" y="94"/>
                    </a:lnTo>
                    <a:lnTo>
                      <a:pt x="17" y="94"/>
                    </a:lnTo>
                    <a:lnTo>
                      <a:pt x="15" y="95"/>
                    </a:lnTo>
                    <a:lnTo>
                      <a:pt x="12" y="94"/>
                    </a:lnTo>
                    <a:lnTo>
                      <a:pt x="10" y="92"/>
                    </a:lnTo>
                    <a:lnTo>
                      <a:pt x="8" y="92"/>
                    </a:lnTo>
                    <a:lnTo>
                      <a:pt x="7" y="92"/>
                    </a:lnTo>
                    <a:lnTo>
                      <a:pt x="5" y="90"/>
                    </a:lnTo>
                    <a:lnTo>
                      <a:pt x="4" y="87"/>
                    </a:lnTo>
                    <a:lnTo>
                      <a:pt x="2" y="85"/>
                    </a:lnTo>
                    <a:lnTo>
                      <a:pt x="1" y="84"/>
                    </a:lnTo>
                    <a:lnTo>
                      <a:pt x="1" y="81"/>
                    </a:lnTo>
                    <a:lnTo>
                      <a:pt x="3" y="77"/>
                    </a:lnTo>
                    <a:lnTo>
                      <a:pt x="2" y="73"/>
                    </a:lnTo>
                    <a:lnTo>
                      <a:pt x="2" y="70"/>
                    </a:lnTo>
                    <a:lnTo>
                      <a:pt x="0" y="65"/>
                    </a:lnTo>
                    <a:lnTo>
                      <a:pt x="0" y="61"/>
                    </a:lnTo>
                    <a:lnTo>
                      <a:pt x="0" y="57"/>
                    </a:lnTo>
                  </a:path>
                </a:pathLst>
              </a:custGeom>
              <a:solidFill>
                <a:srgbClr val="FF8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8" name="Freeform 23"/>
              <p:cNvSpPr/>
              <p:nvPr/>
            </p:nvSpPr>
            <p:spPr bwMode="auto">
              <a:xfrm>
                <a:off x="2337" y="2623"/>
                <a:ext cx="205" cy="326"/>
              </a:xfrm>
              <a:custGeom>
                <a:avLst/>
                <a:gdLst>
                  <a:gd name="T0" fmla="*/ 25 w 205"/>
                  <a:gd name="T1" fmla="*/ 29 h 326"/>
                  <a:gd name="T2" fmla="*/ 54 w 205"/>
                  <a:gd name="T3" fmla="*/ 21 h 326"/>
                  <a:gd name="T4" fmla="*/ 81 w 205"/>
                  <a:gd name="T5" fmla="*/ 21 h 326"/>
                  <a:gd name="T6" fmla="*/ 104 w 205"/>
                  <a:gd name="T7" fmla="*/ 4 h 326"/>
                  <a:gd name="T8" fmla="*/ 93 w 205"/>
                  <a:gd name="T9" fmla="*/ 41 h 326"/>
                  <a:gd name="T10" fmla="*/ 147 w 205"/>
                  <a:gd name="T11" fmla="*/ 20 h 326"/>
                  <a:gd name="T12" fmla="*/ 162 w 205"/>
                  <a:gd name="T13" fmla="*/ 21 h 326"/>
                  <a:gd name="T14" fmla="*/ 159 w 205"/>
                  <a:gd name="T15" fmla="*/ 41 h 326"/>
                  <a:gd name="T16" fmla="*/ 179 w 205"/>
                  <a:gd name="T17" fmla="*/ 44 h 326"/>
                  <a:gd name="T18" fmla="*/ 177 w 205"/>
                  <a:gd name="T19" fmla="*/ 72 h 326"/>
                  <a:gd name="T20" fmla="*/ 160 w 205"/>
                  <a:gd name="T21" fmla="*/ 91 h 326"/>
                  <a:gd name="T22" fmla="*/ 160 w 205"/>
                  <a:gd name="T23" fmla="*/ 122 h 326"/>
                  <a:gd name="T24" fmla="*/ 173 w 205"/>
                  <a:gd name="T25" fmla="*/ 145 h 326"/>
                  <a:gd name="T26" fmla="*/ 192 w 205"/>
                  <a:gd name="T27" fmla="*/ 151 h 326"/>
                  <a:gd name="T28" fmla="*/ 193 w 205"/>
                  <a:gd name="T29" fmla="*/ 162 h 326"/>
                  <a:gd name="T30" fmla="*/ 163 w 205"/>
                  <a:gd name="T31" fmla="*/ 171 h 326"/>
                  <a:gd name="T32" fmla="*/ 134 w 205"/>
                  <a:gd name="T33" fmla="*/ 149 h 326"/>
                  <a:gd name="T34" fmla="*/ 126 w 205"/>
                  <a:gd name="T35" fmla="*/ 154 h 326"/>
                  <a:gd name="T36" fmla="*/ 143 w 205"/>
                  <a:gd name="T37" fmla="*/ 191 h 326"/>
                  <a:gd name="T38" fmla="*/ 151 w 205"/>
                  <a:gd name="T39" fmla="*/ 222 h 326"/>
                  <a:gd name="T40" fmla="*/ 133 w 205"/>
                  <a:gd name="T41" fmla="*/ 224 h 326"/>
                  <a:gd name="T42" fmla="*/ 119 w 205"/>
                  <a:gd name="T43" fmla="*/ 214 h 326"/>
                  <a:gd name="T44" fmla="*/ 105 w 205"/>
                  <a:gd name="T45" fmla="*/ 218 h 326"/>
                  <a:gd name="T46" fmla="*/ 96 w 205"/>
                  <a:gd name="T47" fmla="*/ 227 h 326"/>
                  <a:gd name="T48" fmla="*/ 98 w 205"/>
                  <a:gd name="T49" fmla="*/ 246 h 326"/>
                  <a:gd name="T50" fmla="*/ 114 w 205"/>
                  <a:gd name="T51" fmla="*/ 246 h 326"/>
                  <a:gd name="T52" fmla="*/ 127 w 205"/>
                  <a:gd name="T53" fmla="*/ 248 h 326"/>
                  <a:gd name="T54" fmla="*/ 122 w 205"/>
                  <a:gd name="T55" fmla="*/ 258 h 326"/>
                  <a:gd name="T56" fmla="*/ 110 w 205"/>
                  <a:gd name="T57" fmla="*/ 270 h 326"/>
                  <a:gd name="T58" fmla="*/ 100 w 205"/>
                  <a:gd name="T59" fmla="*/ 271 h 326"/>
                  <a:gd name="T60" fmla="*/ 86 w 205"/>
                  <a:gd name="T61" fmla="*/ 271 h 326"/>
                  <a:gd name="T62" fmla="*/ 71 w 205"/>
                  <a:gd name="T63" fmla="*/ 276 h 326"/>
                  <a:gd name="T64" fmla="*/ 66 w 205"/>
                  <a:gd name="T65" fmla="*/ 287 h 326"/>
                  <a:gd name="T66" fmla="*/ 71 w 205"/>
                  <a:gd name="T67" fmla="*/ 301 h 326"/>
                  <a:gd name="T68" fmla="*/ 80 w 205"/>
                  <a:gd name="T69" fmla="*/ 309 h 326"/>
                  <a:gd name="T70" fmla="*/ 90 w 205"/>
                  <a:gd name="T71" fmla="*/ 311 h 326"/>
                  <a:gd name="T72" fmla="*/ 87 w 205"/>
                  <a:gd name="T73" fmla="*/ 319 h 326"/>
                  <a:gd name="T74" fmla="*/ 72 w 205"/>
                  <a:gd name="T75" fmla="*/ 324 h 326"/>
                  <a:gd name="T76" fmla="*/ 51 w 205"/>
                  <a:gd name="T77" fmla="*/ 314 h 326"/>
                  <a:gd name="T78" fmla="*/ 23 w 205"/>
                  <a:gd name="T79" fmla="*/ 296 h 326"/>
                  <a:gd name="T80" fmla="*/ 1 w 205"/>
                  <a:gd name="T81" fmla="*/ 280 h 326"/>
                  <a:gd name="T82" fmla="*/ 2 w 205"/>
                  <a:gd name="T83" fmla="*/ 240 h 326"/>
                  <a:gd name="T84" fmla="*/ 13 w 205"/>
                  <a:gd name="T85" fmla="*/ 207 h 326"/>
                  <a:gd name="T86" fmla="*/ 7 w 205"/>
                  <a:gd name="T87" fmla="*/ 161 h 326"/>
                  <a:gd name="T88" fmla="*/ 6 w 205"/>
                  <a:gd name="T89" fmla="*/ 127 h 326"/>
                  <a:gd name="T90" fmla="*/ 3 w 205"/>
                  <a:gd name="T91" fmla="*/ 66 h 32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05" h="326">
                    <a:moveTo>
                      <a:pt x="5" y="51"/>
                    </a:moveTo>
                    <a:lnTo>
                      <a:pt x="10" y="40"/>
                    </a:lnTo>
                    <a:lnTo>
                      <a:pt x="25" y="29"/>
                    </a:lnTo>
                    <a:lnTo>
                      <a:pt x="38" y="21"/>
                    </a:lnTo>
                    <a:lnTo>
                      <a:pt x="49" y="17"/>
                    </a:lnTo>
                    <a:lnTo>
                      <a:pt x="54" y="21"/>
                    </a:lnTo>
                    <a:lnTo>
                      <a:pt x="64" y="36"/>
                    </a:lnTo>
                    <a:lnTo>
                      <a:pt x="71" y="31"/>
                    </a:lnTo>
                    <a:lnTo>
                      <a:pt x="81" y="21"/>
                    </a:lnTo>
                    <a:lnTo>
                      <a:pt x="86" y="15"/>
                    </a:lnTo>
                    <a:lnTo>
                      <a:pt x="93" y="10"/>
                    </a:lnTo>
                    <a:lnTo>
                      <a:pt x="104" y="4"/>
                    </a:lnTo>
                    <a:lnTo>
                      <a:pt x="115" y="4"/>
                    </a:lnTo>
                    <a:lnTo>
                      <a:pt x="107" y="21"/>
                    </a:lnTo>
                    <a:lnTo>
                      <a:pt x="93" y="41"/>
                    </a:lnTo>
                    <a:lnTo>
                      <a:pt x="93" y="49"/>
                    </a:lnTo>
                    <a:lnTo>
                      <a:pt x="120" y="37"/>
                    </a:lnTo>
                    <a:lnTo>
                      <a:pt x="147" y="20"/>
                    </a:lnTo>
                    <a:lnTo>
                      <a:pt x="163" y="0"/>
                    </a:lnTo>
                    <a:lnTo>
                      <a:pt x="164" y="10"/>
                    </a:lnTo>
                    <a:lnTo>
                      <a:pt x="162" y="21"/>
                    </a:lnTo>
                    <a:lnTo>
                      <a:pt x="157" y="33"/>
                    </a:lnTo>
                    <a:lnTo>
                      <a:pt x="150" y="46"/>
                    </a:lnTo>
                    <a:lnTo>
                      <a:pt x="159" y="41"/>
                    </a:lnTo>
                    <a:lnTo>
                      <a:pt x="166" y="39"/>
                    </a:lnTo>
                    <a:lnTo>
                      <a:pt x="173" y="42"/>
                    </a:lnTo>
                    <a:lnTo>
                      <a:pt x="179" y="44"/>
                    </a:lnTo>
                    <a:lnTo>
                      <a:pt x="193" y="56"/>
                    </a:lnTo>
                    <a:lnTo>
                      <a:pt x="183" y="65"/>
                    </a:lnTo>
                    <a:lnTo>
                      <a:pt x="177" y="72"/>
                    </a:lnTo>
                    <a:lnTo>
                      <a:pt x="173" y="76"/>
                    </a:lnTo>
                    <a:lnTo>
                      <a:pt x="170" y="81"/>
                    </a:lnTo>
                    <a:lnTo>
                      <a:pt x="160" y="91"/>
                    </a:lnTo>
                    <a:lnTo>
                      <a:pt x="157" y="101"/>
                    </a:lnTo>
                    <a:lnTo>
                      <a:pt x="157" y="111"/>
                    </a:lnTo>
                    <a:lnTo>
                      <a:pt x="160" y="122"/>
                    </a:lnTo>
                    <a:lnTo>
                      <a:pt x="162" y="130"/>
                    </a:lnTo>
                    <a:lnTo>
                      <a:pt x="167" y="138"/>
                    </a:lnTo>
                    <a:lnTo>
                      <a:pt x="173" y="145"/>
                    </a:lnTo>
                    <a:lnTo>
                      <a:pt x="180" y="146"/>
                    </a:lnTo>
                    <a:lnTo>
                      <a:pt x="186" y="150"/>
                    </a:lnTo>
                    <a:lnTo>
                      <a:pt x="192" y="151"/>
                    </a:lnTo>
                    <a:lnTo>
                      <a:pt x="196" y="154"/>
                    </a:lnTo>
                    <a:lnTo>
                      <a:pt x="204" y="156"/>
                    </a:lnTo>
                    <a:lnTo>
                      <a:pt x="193" y="162"/>
                    </a:lnTo>
                    <a:lnTo>
                      <a:pt x="184" y="167"/>
                    </a:lnTo>
                    <a:lnTo>
                      <a:pt x="174" y="171"/>
                    </a:lnTo>
                    <a:lnTo>
                      <a:pt x="163" y="171"/>
                    </a:lnTo>
                    <a:lnTo>
                      <a:pt x="151" y="168"/>
                    </a:lnTo>
                    <a:lnTo>
                      <a:pt x="141" y="160"/>
                    </a:lnTo>
                    <a:lnTo>
                      <a:pt x="134" y="149"/>
                    </a:lnTo>
                    <a:lnTo>
                      <a:pt x="129" y="145"/>
                    </a:lnTo>
                    <a:lnTo>
                      <a:pt x="117" y="138"/>
                    </a:lnTo>
                    <a:lnTo>
                      <a:pt x="126" y="154"/>
                    </a:lnTo>
                    <a:lnTo>
                      <a:pt x="133" y="170"/>
                    </a:lnTo>
                    <a:lnTo>
                      <a:pt x="139" y="179"/>
                    </a:lnTo>
                    <a:lnTo>
                      <a:pt x="143" y="191"/>
                    </a:lnTo>
                    <a:lnTo>
                      <a:pt x="146" y="203"/>
                    </a:lnTo>
                    <a:lnTo>
                      <a:pt x="149" y="213"/>
                    </a:lnTo>
                    <a:lnTo>
                      <a:pt x="151" y="222"/>
                    </a:lnTo>
                    <a:lnTo>
                      <a:pt x="145" y="224"/>
                    </a:lnTo>
                    <a:lnTo>
                      <a:pt x="139" y="225"/>
                    </a:lnTo>
                    <a:lnTo>
                      <a:pt x="133" y="224"/>
                    </a:lnTo>
                    <a:lnTo>
                      <a:pt x="130" y="222"/>
                    </a:lnTo>
                    <a:lnTo>
                      <a:pt x="126" y="219"/>
                    </a:lnTo>
                    <a:lnTo>
                      <a:pt x="119" y="214"/>
                    </a:lnTo>
                    <a:lnTo>
                      <a:pt x="112" y="213"/>
                    </a:lnTo>
                    <a:lnTo>
                      <a:pt x="109" y="216"/>
                    </a:lnTo>
                    <a:lnTo>
                      <a:pt x="105" y="218"/>
                    </a:lnTo>
                    <a:lnTo>
                      <a:pt x="102" y="222"/>
                    </a:lnTo>
                    <a:lnTo>
                      <a:pt x="98" y="224"/>
                    </a:lnTo>
                    <a:lnTo>
                      <a:pt x="96" y="227"/>
                    </a:lnTo>
                    <a:lnTo>
                      <a:pt x="95" y="231"/>
                    </a:lnTo>
                    <a:lnTo>
                      <a:pt x="95" y="241"/>
                    </a:lnTo>
                    <a:lnTo>
                      <a:pt x="98" y="246"/>
                    </a:lnTo>
                    <a:lnTo>
                      <a:pt x="105" y="248"/>
                    </a:lnTo>
                    <a:lnTo>
                      <a:pt x="112" y="246"/>
                    </a:lnTo>
                    <a:lnTo>
                      <a:pt x="114" y="246"/>
                    </a:lnTo>
                    <a:lnTo>
                      <a:pt x="118" y="246"/>
                    </a:lnTo>
                    <a:lnTo>
                      <a:pt x="122" y="246"/>
                    </a:lnTo>
                    <a:lnTo>
                      <a:pt x="127" y="248"/>
                    </a:lnTo>
                    <a:lnTo>
                      <a:pt x="131" y="249"/>
                    </a:lnTo>
                    <a:lnTo>
                      <a:pt x="127" y="255"/>
                    </a:lnTo>
                    <a:lnTo>
                      <a:pt x="122" y="258"/>
                    </a:lnTo>
                    <a:lnTo>
                      <a:pt x="118" y="263"/>
                    </a:lnTo>
                    <a:lnTo>
                      <a:pt x="114" y="268"/>
                    </a:lnTo>
                    <a:lnTo>
                      <a:pt x="110" y="270"/>
                    </a:lnTo>
                    <a:lnTo>
                      <a:pt x="105" y="271"/>
                    </a:lnTo>
                    <a:lnTo>
                      <a:pt x="97" y="271"/>
                    </a:lnTo>
                    <a:lnTo>
                      <a:pt x="100" y="271"/>
                    </a:lnTo>
                    <a:lnTo>
                      <a:pt x="93" y="270"/>
                    </a:lnTo>
                    <a:lnTo>
                      <a:pt x="91" y="269"/>
                    </a:lnTo>
                    <a:lnTo>
                      <a:pt x="86" y="271"/>
                    </a:lnTo>
                    <a:lnTo>
                      <a:pt x="79" y="273"/>
                    </a:lnTo>
                    <a:lnTo>
                      <a:pt x="76" y="274"/>
                    </a:lnTo>
                    <a:lnTo>
                      <a:pt x="71" y="276"/>
                    </a:lnTo>
                    <a:lnTo>
                      <a:pt x="69" y="278"/>
                    </a:lnTo>
                    <a:lnTo>
                      <a:pt x="65" y="282"/>
                    </a:lnTo>
                    <a:lnTo>
                      <a:pt x="66" y="287"/>
                    </a:lnTo>
                    <a:lnTo>
                      <a:pt x="68" y="293"/>
                    </a:lnTo>
                    <a:lnTo>
                      <a:pt x="70" y="296"/>
                    </a:lnTo>
                    <a:lnTo>
                      <a:pt x="71" y="301"/>
                    </a:lnTo>
                    <a:lnTo>
                      <a:pt x="73" y="302"/>
                    </a:lnTo>
                    <a:lnTo>
                      <a:pt x="76" y="306"/>
                    </a:lnTo>
                    <a:lnTo>
                      <a:pt x="80" y="309"/>
                    </a:lnTo>
                    <a:lnTo>
                      <a:pt x="83" y="309"/>
                    </a:lnTo>
                    <a:lnTo>
                      <a:pt x="86" y="311"/>
                    </a:lnTo>
                    <a:lnTo>
                      <a:pt x="90" y="311"/>
                    </a:lnTo>
                    <a:lnTo>
                      <a:pt x="94" y="311"/>
                    </a:lnTo>
                    <a:lnTo>
                      <a:pt x="90" y="316"/>
                    </a:lnTo>
                    <a:lnTo>
                      <a:pt x="87" y="319"/>
                    </a:lnTo>
                    <a:lnTo>
                      <a:pt x="83" y="321"/>
                    </a:lnTo>
                    <a:lnTo>
                      <a:pt x="77" y="325"/>
                    </a:lnTo>
                    <a:lnTo>
                      <a:pt x="72" y="324"/>
                    </a:lnTo>
                    <a:lnTo>
                      <a:pt x="68" y="322"/>
                    </a:lnTo>
                    <a:lnTo>
                      <a:pt x="60" y="319"/>
                    </a:lnTo>
                    <a:lnTo>
                      <a:pt x="51" y="314"/>
                    </a:lnTo>
                    <a:lnTo>
                      <a:pt x="38" y="306"/>
                    </a:lnTo>
                    <a:lnTo>
                      <a:pt x="31" y="298"/>
                    </a:lnTo>
                    <a:lnTo>
                      <a:pt x="23" y="296"/>
                    </a:lnTo>
                    <a:lnTo>
                      <a:pt x="9" y="303"/>
                    </a:lnTo>
                    <a:lnTo>
                      <a:pt x="5" y="292"/>
                    </a:lnTo>
                    <a:lnTo>
                      <a:pt x="1" y="280"/>
                    </a:lnTo>
                    <a:lnTo>
                      <a:pt x="0" y="267"/>
                    </a:lnTo>
                    <a:lnTo>
                      <a:pt x="0" y="252"/>
                    </a:lnTo>
                    <a:lnTo>
                      <a:pt x="2" y="240"/>
                    </a:lnTo>
                    <a:lnTo>
                      <a:pt x="4" y="227"/>
                    </a:lnTo>
                    <a:lnTo>
                      <a:pt x="10" y="213"/>
                    </a:lnTo>
                    <a:lnTo>
                      <a:pt x="13" y="207"/>
                    </a:lnTo>
                    <a:lnTo>
                      <a:pt x="9" y="194"/>
                    </a:lnTo>
                    <a:lnTo>
                      <a:pt x="7" y="178"/>
                    </a:lnTo>
                    <a:lnTo>
                      <a:pt x="7" y="161"/>
                    </a:lnTo>
                    <a:lnTo>
                      <a:pt x="9" y="151"/>
                    </a:lnTo>
                    <a:lnTo>
                      <a:pt x="13" y="141"/>
                    </a:lnTo>
                    <a:lnTo>
                      <a:pt x="6" y="127"/>
                    </a:lnTo>
                    <a:lnTo>
                      <a:pt x="4" y="108"/>
                    </a:lnTo>
                    <a:lnTo>
                      <a:pt x="3" y="85"/>
                    </a:lnTo>
                    <a:lnTo>
                      <a:pt x="3" y="66"/>
                    </a:lnTo>
                    <a:lnTo>
                      <a:pt x="5" y="51"/>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9" name="Freeform 24"/>
              <p:cNvSpPr/>
              <p:nvPr/>
            </p:nvSpPr>
            <p:spPr bwMode="auto">
              <a:xfrm>
                <a:off x="2335" y="2646"/>
                <a:ext cx="149" cy="230"/>
              </a:xfrm>
              <a:custGeom>
                <a:avLst/>
                <a:gdLst>
                  <a:gd name="T0" fmla="*/ 8 w 149"/>
                  <a:gd name="T1" fmla="*/ 29 h 230"/>
                  <a:gd name="T2" fmla="*/ 27 w 149"/>
                  <a:gd name="T3" fmla="*/ 15 h 230"/>
                  <a:gd name="T4" fmla="*/ 40 w 149"/>
                  <a:gd name="T5" fmla="*/ 14 h 230"/>
                  <a:gd name="T6" fmla="*/ 51 w 149"/>
                  <a:gd name="T7" fmla="*/ 22 h 230"/>
                  <a:gd name="T8" fmla="*/ 63 w 149"/>
                  <a:gd name="T9" fmla="*/ 11 h 230"/>
                  <a:gd name="T10" fmla="*/ 76 w 149"/>
                  <a:gd name="T11" fmla="*/ 3 h 230"/>
                  <a:gd name="T12" fmla="*/ 78 w 149"/>
                  <a:gd name="T13" fmla="*/ 15 h 230"/>
                  <a:gd name="T14" fmla="*/ 67 w 149"/>
                  <a:gd name="T15" fmla="*/ 34 h 230"/>
                  <a:gd name="T16" fmla="*/ 105 w 149"/>
                  <a:gd name="T17" fmla="*/ 13 h 230"/>
                  <a:gd name="T18" fmla="*/ 117 w 149"/>
                  <a:gd name="T19" fmla="*/ 6 h 230"/>
                  <a:gd name="T20" fmla="*/ 112 w 149"/>
                  <a:gd name="T21" fmla="*/ 22 h 230"/>
                  <a:gd name="T22" fmla="*/ 114 w 149"/>
                  <a:gd name="T23" fmla="*/ 29 h 230"/>
                  <a:gd name="T24" fmla="*/ 126 w 149"/>
                  <a:gd name="T25" fmla="*/ 29 h 230"/>
                  <a:gd name="T26" fmla="*/ 139 w 149"/>
                  <a:gd name="T27" fmla="*/ 38 h 230"/>
                  <a:gd name="T28" fmla="*/ 128 w 149"/>
                  <a:gd name="T29" fmla="*/ 49 h 230"/>
                  <a:gd name="T30" fmla="*/ 122 w 149"/>
                  <a:gd name="T31" fmla="*/ 57 h 230"/>
                  <a:gd name="T32" fmla="*/ 112 w 149"/>
                  <a:gd name="T33" fmla="*/ 70 h 230"/>
                  <a:gd name="T34" fmla="*/ 114 w 149"/>
                  <a:gd name="T35" fmla="*/ 86 h 230"/>
                  <a:gd name="T36" fmla="*/ 120 w 149"/>
                  <a:gd name="T37" fmla="*/ 98 h 230"/>
                  <a:gd name="T38" fmla="*/ 130 w 149"/>
                  <a:gd name="T39" fmla="*/ 103 h 230"/>
                  <a:gd name="T40" fmla="*/ 138 w 149"/>
                  <a:gd name="T41" fmla="*/ 107 h 230"/>
                  <a:gd name="T42" fmla="*/ 148 w 149"/>
                  <a:gd name="T43" fmla="*/ 110 h 230"/>
                  <a:gd name="T44" fmla="*/ 134 w 149"/>
                  <a:gd name="T45" fmla="*/ 116 h 230"/>
                  <a:gd name="T46" fmla="*/ 116 w 149"/>
                  <a:gd name="T47" fmla="*/ 121 h 230"/>
                  <a:gd name="T48" fmla="*/ 101 w 149"/>
                  <a:gd name="T49" fmla="*/ 114 h 230"/>
                  <a:gd name="T50" fmla="*/ 93 w 149"/>
                  <a:gd name="T51" fmla="*/ 103 h 230"/>
                  <a:gd name="T52" fmla="*/ 90 w 149"/>
                  <a:gd name="T53" fmla="*/ 109 h 230"/>
                  <a:gd name="T54" fmla="*/ 99 w 149"/>
                  <a:gd name="T55" fmla="*/ 126 h 230"/>
                  <a:gd name="T56" fmla="*/ 104 w 149"/>
                  <a:gd name="T57" fmla="*/ 143 h 230"/>
                  <a:gd name="T58" fmla="*/ 99 w 149"/>
                  <a:gd name="T59" fmla="*/ 156 h 230"/>
                  <a:gd name="T60" fmla="*/ 85 w 149"/>
                  <a:gd name="T61" fmla="*/ 151 h 230"/>
                  <a:gd name="T62" fmla="*/ 77 w 149"/>
                  <a:gd name="T63" fmla="*/ 146 h 230"/>
                  <a:gd name="T64" fmla="*/ 72 w 149"/>
                  <a:gd name="T65" fmla="*/ 147 h 230"/>
                  <a:gd name="T66" fmla="*/ 69 w 149"/>
                  <a:gd name="T67" fmla="*/ 154 h 230"/>
                  <a:gd name="T68" fmla="*/ 68 w 149"/>
                  <a:gd name="T69" fmla="*/ 171 h 230"/>
                  <a:gd name="T70" fmla="*/ 75 w 149"/>
                  <a:gd name="T71" fmla="*/ 175 h 230"/>
                  <a:gd name="T72" fmla="*/ 87 w 149"/>
                  <a:gd name="T73" fmla="*/ 174 h 230"/>
                  <a:gd name="T74" fmla="*/ 86 w 149"/>
                  <a:gd name="T75" fmla="*/ 183 h 230"/>
                  <a:gd name="T76" fmla="*/ 75 w 149"/>
                  <a:gd name="T77" fmla="*/ 191 h 230"/>
                  <a:gd name="T78" fmla="*/ 55 w 149"/>
                  <a:gd name="T79" fmla="*/ 194 h 230"/>
                  <a:gd name="T80" fmla="*/ 48 w 149"/>
                  <a:gd name="T81" fmla="*/ 207 h 230"/>
                  <a:gd name="T82" fmla="*/ 54 w 149"/>
                  <a:gd name="T83" fmla="*/ 217 h 230"/>
                  <a:gd name="T84" fmla="*/ 67 w 149"/>
                  <a:gd name="T85" fmla="*/ 221 h 230"/>
                  <a:gd name="T86" fmla="*/ 55 w 149"/>
                  <a:gd name="T87" fmla="*/ 229 h 230"/>
                  <a:gd name="T88" fmla="*/ 43 w 149"/>
                  <a:gd name="T89" fmla="*/ 227 h 230"/>
                  <a:gd name="T90" fmla="*/ 27 w 149"/>
                  <a:gd name="T91" fmla="*/ 217 h 230"/>
                  <a:gd name="T92" fmla="*/ 16 w 149"/>
                  <a:gd name="T93" fmla="*/ 210 h 230"/>
                  <a:gd name="T94" fmla="*/ 4 w 149"/>
                  <a:gd name="T95" fmla="*/ 207 h 230"/>
                  <a:gd name="T96" fmla="*/ 0 w 149"/>
                  <a:gd name="T97" fmla="*/ 189 h 230"/>
                  <a:gd name="T98" fmla="*/ 1 w 149"/>
                  <a:gd name="T99" fmla="*/ 171 h 230"/>
                  <a:gd name="T100" fmla="*/ 7 w 149"/>
                  <a:gd name="T101" fmla="*/ 152 h 230"/>
                  <a:gd name="T102" fmla="*/ 7 w 149"/>
                  <a:gd name="T103" fmla="*/ 138 h 230"/>
                  <a:gd name="T104" fmla="*/ 5 w 149"/>
                  <a:gd name="T105" fmla="*/ 114 h 230"/>
                  <a:gd name="T106" fmla="*/ 10 w 149"/>
                  <a:gd name="T107" fmla="*/ 101 h 230"/>
                  <a:gd name="T108" fmla="*/ 2 w 149"/>
                  <a:gd name="T109" fmla="*/ 77 h 230"/>
                  <a:gd name="T110" fmla="*/ 3 w 149"/>
                  <a:gd name="T111" fmla="*/ 47 h 23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49" h="230">
                    <a:moveTo>
                      <a:pt x="4" y="36"/>
                    </a:moveTo>
                    <a:lnTo>
                      <a:pt x="8" y="29"/>
                    </a:lnTo>
                    <a:lnTo>
                      <a:pt x="18" y="20"/>
                    </a:lnTo>
                    <a:lnTo>
                      <a:pt x="27" y="15"/>
                    </a:lnTo>
                    <a:lnTo>
                      <a:pt x="36" y="11"/>
                    </a:lnTo>
                    <a:lnTo>
                      <a:pt x="40" y="14"/>
                    </a:lnTo>
                    <a:lnTo>
                      <a:pt x="47" y="25"/>
                    </a:lnTo>
                    <a:lnTo>
                      <a:pt x="51" y="22"/>
                    </a:lnTo>
                    <a:lnTo>
                      <a:pt x="58" y="14"/>
                    </a:lnTo>
                    <a:lnTo>
                      <a:pt x="63" y="11"/>
                    </a:lnTo>
                    <a:lnTo>
                      <a:pt x="68" y="6"/>
                    </a:lnTo>
                    <a:lnTo>
                      <a:pt x="76" y="3"/>
                    </a:lnTo>
                    <a:lnTo>
                      <a:pt x="83" y="4"/>
                    </a:lnTo>
                    <a:lnTo>
                      <a:pt x="78" y="15"/>
                    </a:lnTo>
                    <a:lnTo>
                      <a:pt x="68" y="29"/>
                    </a:lnTo>
                    <a:lnTo>
                      <a:pt x="67" y="34"/>
                    </a:lnTo>
                    <a:lnTo>
                      <a:pt x="86" y="26"/>
                    </a:lnTo>
                    <a:lnTo>
                      <a:pt x="105" y="13"/>
                    </a:lnTo>
                    <a:lnTo>
                      <a:pt x="117" y="0"/>
                    </a:lnTo>
                    <a:lnTo>
                      <a:pt x="117" y="6"/>
                    </a:lnTo>
                    <a:lnTo>
                      <a:pt x="116" y="14"/>
                    </a:lnTo>
                    <a:lnTo>
                      <a:pt x="112" y="22"/>
                    </a:lnTo>
                    <a:lnTo>
                      <a:pt x="108" y="33"/>
                    </a:lnTo>
                    <a:lnTo>
                      <a:pt x="114" y="29"/>
                    </a:lnTo>
                    <a:lnTo>
                      <a:pt x="120" y="27"/>
                    </a:lnTo>
                    <a:lnTo>
                      <a:pt x="126" y="29"/>
                    </a:lnTo>
                    <a:lnTo>
                      <a:pt x="129" y="31"/>
                    </a:lnTo>
                    <a:lnTo>
                      <a:pt x="139" y="38"/>
                    </a:lnTo>
                    <a:lnTo>
                      <a:pt x="133" y="45"/>
                    </a:lnTo>
                    <a:lnTo>
                      <a:pt x="128" y="49"/>
                    </a:lnTo>
                    <a:lnTo>
                      <a:pt x="126" y="53"/>
                    </a:lnTo>
                    <a:lnTo>
                      <a:pt x="122" y="57"/>
                    </a:lnTo>
                    <a:lnTo>
                      <a:pt x="115" y="63"/>
                    </a:lnTo>
                    <a:lnTo>
                      <a:pt x="112" y="70"/>
                    </a:lnTo>
                    <a:lnTo>
                      <a:pt x="112" y="78"/>
                    </a:lnTo>
                    <a:lnTo>
                      <a:pt x="114" y="86"/>
                    </a:lnTo>
                    <a:lnTo>
                      <a:pt x="116" y="92"/>
                    </a:lnTo>
                    <a:lnTo>
                      <a:pt x="120" y="98"/>
                    </a:lnTo>
                    <a:lnTo>
                      <a:pt x="126" y="102"/>
                    </a:lnTo>
                    <a:lnTo>
                      <a:pt x="130" y="103"/>
                    </a:lnTo>
                    <a:lnTo>
                      <a:pt x="134" y="105"/>
                    </a:lnTo>
                    <a:lnTo>
                      <a:pt x="138" y="107"/>
                    </a:lnTo>
                    <a:lnTo>
                      <a:pt x="141" y="108"/>
                    </a:lnTo>
                    <a:lnTo>
                      <a:pt x="148" y="110"/>
                    </a:lnTo>
                    <a:lnTo>
                      <a:pt x="139" y="114"/>
                    </a:lnTo>
                    <a:lnTo>
                      <a:pt x="134" y="116"/>
                    </a:lnTo>
                    <a:lnTo>
                      <a:pt x="126" y="120"/>
                    </a:lnTo>
                    <a:lnTo>
                      <a:pt x="116" y="121"/>
                    </a:lnTo>
                    <a:lnTo>
                      <a:pt x="108" y="118"/>
                    </a:lnTo>
                    <a:lnTo>
                      <a:pt x="101" y="114"/>
                    </a:lnTo>
                    <a:lnTo>
                      <a:pt x="96" y="105"/>
                    </a:lnTo>
                    <a:lnTo>
                      <a:pt x="93" y="103"/>
                    </a:lnTo>
                    <a:lnTo>
                      <a:pt x="84" y="99"/>
                    </a:lnTo>
                    <a:lnTo>
                      <a:pt x="90" y="109"/>
                    </a:lnTo>
                    <a:lnTo>
                      <a:pt x="96" y="120"/>
                    </a:lnTo>
                    <a:lnTo>
                      <a:pt x="99" y="126"/>
                    </a:lnTo>
                    <a:lnTo>
                      <a:pt x="102" y="136"/>
                    </a:lnTo>
                    <a:lnTo>
                      <a:pt x="104" y="143"/>
                    </a:lnTo>
                    <a:lnTo>
                      <a:pt x="108" y="157"/>
                    </a:lnTo>
                    <a:lnTo>
                      <a:pt x="99" y="156"/>
                    </a:lnTo>
                    <a:lnTo>
                      <a:pt x="94" y="156"/>
                    </a:lnTo>
                    <a:lnTo>
                      <a:pt x="85" y="151"/>
                    </a:lnTo>
                    <a:lnTo>
                      <a:pt x="81" y="148"/>
                    </a:lnTo>
                    <a:lnTo>
                      <a:pt x="77" y="146"/>
                    </a:lnTo>
                    <a:lnTo>
                      <a:pt x="75" y="145"/>
                    </a:lnTo>
                    <a:lnTo>
                      <a:pt x="72" y="147"/>
                    </a:lnTo>
                    <a:lnTo>
                      <a:pt x="71" y="148"/>
                    </a:lnTo>
                    <a:lnTo>
                      <a:pt x="69" y="154"/>
                    </a:lnTo>
                    <a:lnTo>
                      <a:pt x="68" y="162"/>
                    </a:lnTo>
                    <a:lnTo>
                      <a:pt x="68" y="171"/>
                    </a:lnTo>
                    <a:lnTo>
                      <a:pt x="70" y="174"/>
                    </a:lnTo>
                    <a:lnTo>
                      <a:pt x="75" y="175"/>
                    </a:lnTo>
                    <a:lnTo>
                      <a:pt x="81" y="175"/>
                    </a:lnTo>
                    <a:lnTo>
                      <a:pt x="87" y="174"/>
                    </a:lnTo>
                    <a:lnTo>
                      <a:pt x="94" y="176"/>
                    </a:lnTo>
                    <a:lnTo>
                      <a:pt x="86" y="183"/>
                    </a:lnTo>
                    <a:lnTo>
                      <a:pt x="82" y="189"/>
                    </a:lnTo>
                    <a:lnTo>
                      <a:pt x="75" y="191"/>
                    </a:lnTo>
                    <a:lnTo>
                      <a:pt x="68" y="191"/>
                    </a:lnTo>
                    <a:lnTo>
                      <a:pt x="55" y="194"/>
                    </a:lnTo>
                    <a:lnTo>
                      <a:pt x="46" y="200"/>
                    </a:lnTo>
                    <a:lnTo>
                      <a:pt x="48" y="207"/>
                    </a:lnTo>
                    <a:lnTo>
                      <a:pt x="51" y="214"/>
                    </a:lnTo>
                    <a:lnTo>
                      <a:pt x="54" y="217"/>
                    </a:lnTo>
                    <a:lnTo>
                      <a:pt x="60" y="219"/>
                    </a:lnTo>
                    <a:lnTo>
                      <a:pt x="67" y="221"/>
                    </a:lnTo>
                    <a:lnTo>
                      <a:pt x="63" y="227"/>
                    </a:lnTo>
                    <a:lnTo>
                      <a:pt x="55" y="229"/>
                    </a:lnTo>
                    <a:lnTo>
                      <a:pt x="47" y="229"/>
                    </a:lnTo>
                    <a:lnTo>
                      <a:pt x="43" y="227"/>
                    </a:lnTo>
                    <a:lnTo>
                      <a:pt x="37" y="222"/>
                    </a:lnTo>
                    <a:lnTo>
                      <a:pt x="27" y="217"/>
                    </a:lnTo>
                    <a:lnTo>
                      <a:pt x="21" y="211"/>
                    </a:lnTo>
                    <a:lnTo>
                      <a:pt x="16" y="210"/>
                    </a:lnTo>
                    <a:lnTo>
                      <a:pt x="7" y="216"/>
                    </a:lnTo>
                    <a:lnTo>
                      <a:pt x="4" y="207"/>
                    </a:lnTo>
                    <a:lnTo>
                      <a:pt x="1" y="198"/>
                    </a:lnTo>
                    <a:lnTo>
                      <a:pt x="0" y="189"/>
                    </a:lnTo>
                    <a:lnTo>
                      <a:pt x="0" y="179"/>
                    </a:lnTo>
                    <a:lnTo>
                      <a:pt x="1" y="171"/>
                    </a:lnTo>
                    <a:lnTo>
                      <a:pt x="4" y="162"/>
                    </a:lnTo>
                    <a:lnTo>
                      <a:pt x="7" y="152"/>
                    </a:lnTo>
                    <a:lnTo>
                      <a:pt x="9" y="148"/>
                    </a:lnTo>
                    <a:lnTo>
                      <a:pt x="7" y="138"/>
                    </a:lnTo>
                    <a:lnTo>
                      <a:pt x="5" y="125"/>
                    </a:lnTo>
                    <a:lnTo>
                      <a:pt x="5" y="114"/>
                    </a:lnTo>
                    <a:lnTo>
                      <a:pt x="6" y="107"/>
                    </a:lnTo>
                    <a:lnTo>
                      <a:pt x="10" y="101"/>
                    </a:lnTo>
                    <a:lnTo>
                      <a:pt x="5" y="91"/>
                    </a:lnTo>
                    <a:lnTo>
                      <a:pt x="2" y="77"/>
                    </a:lnTo>
                    <a:lnTo>
                      <a:pt x="2" y="60"/>
                    </a:lnTo>
                    <a:lnTo>
                      <a:pt x="3" y="47"/>
                    </a:lnTo>
                    <a:lnTo>
                      <a:pt x="4" y="36"/>
                    </a:lnTo>
                  </a:path>
                </a:pathLst>
              </a:custGeom>
              <a:solidFill>
                <a:srgbClr val="FF8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70" name="Freeform 25"/>
              <p:cNvSpPr/>
              <p:nvPr/>
            </p:nvSpPr>
            <p:spPr bwMode="auto">
              <a:xfrm>
                <a:off x="2343" y="2700"/>
                <a:ext cx="89" cy="140"/>
              </a:xfrm>
              <a:custGeom>
                <a:avLst/>
                <a:gdLst>
                  <a:gd name="T0" fmla="*/ 5 w 89"/>
                  <a:gd name="T1" fmla="*/ 19 h 140"/>
                  <a:gd name="T2" fmla="*/ 15 w 89"/>
                  <a:gd name="T3" fmla="*/ 10 h 140"/>
                  <a:gd name="T4" fmla="*/ 23 w 89"/>
                  <a:gd name="T5" fmla="*/ 10 h 140"/>
                  <a:gd name="T6" fmla="*/ 31 w 89"/>
                  <a:gd name="T7" fmla="*/ 13 h 140"/>
                  <a:gd name="T8" fmla="*/ 38 w 89"/>
                  <a:gd name="T9" fmla="*/ 6 h 140"/>
                  <a:gd name="T10" fmla="*/ 45 w 89"/>
                  <a:gd name="T11" fmla="*/ 2 h 140"/>
                  <a:gd name="T12" fmla="*/ 46 w 89"/>
                  <a:gd name="T13" fmla="*/ 9 h 140"/>
                  <a:gd name="T14" fmla="*/ 40 w 89"/>
                  <a:gd name="T15" fmla="*/ 21 h 140"/>
                  <a:gd name="T16" fmla="*/ 63 w 89"/>
                  <a:gd name="T17" fmla="*/ 8 h 140"/>
                  <a:gd name="T18" fmla="*/ 71 w 89"/>
                  <a:gd name="T19" fmla="*/ 4 h 140"/>
                  <a:gd name="T20" fmla="*/ 68 w 89"/>
                  <a:gd name="T21" fmla="*/ 13 h 140"/>
                  <a:gd name="T22" fmla="*/ 69 w 89"/>
                  <a:gd name="T23" fmla="*/ 18 h 140"/>
                  <a:gd name="T24" fmla="*/ 74 w 89"/>
                  <a:gd name="T25" fmla="*/ 17 h 140"/>
                  <a:gd name="T26" fmla="*/ 83 w 89"/>
                  <a:gd name="T27" fmla="*/ 23 h 140"/>
                  <a:gd name="T28" fmla="*/ 76 w 89"/>
                  <a:gd name="T29" fmla="*/ 31 h 140"/>
                  <a:gd name="T30" fmla="*/ 73 w 89"/>
                  <a:gd name="T31" fmla="*/ 34 h 140"/>
                  <a:gd name="T32" fmla="*/ 68 w 89"/>
                  <a:gd name="T33" fmla="*/ 43 h 140"/>
                  <a:gd name="T34" fmla="*/ 69 w 89"/>
                  <a:gd name="T35" fmla="*/ 52 h 140"/>
                  <a:gd name="T36" fmla="*/ 72 w 89"/>
                  <a:gd name="T37" fmla="*/ 59 h 140"/>
                  <a:gd name="T38" fmla="*/ 77 w 89"/>
                  <a:gd name="T39" fmla="*/ 64 h 140"/>
                  <a:gd name="T40" fmla="*/ 82 w 89"/>
                  <a:gd name="T41" fmla="*/ 64 h 140"/>
                  <a:gd name="T42" fmla="*/ 88 w 89"/>
                  <a:gd name="T43" fmla="*/ 65 h 140"/>
                  <a:gd name="T44" fmla="*/ 79 w 89"/>
                  <a:gd name="T45" fmla="*/ 72 h 140"/>
                  <a:gd name="T46" fmla="*/ 70 w 89"/>
                  <a:gd name="T47" fmla="*/ 74 h 140"/>
                  <a:gd name="T48" fmla="*/ 61 w 89"/>
                  <a:gd name="T49" fmla="*/ 69 h 140"/>
                  <a:gd name="T50" fmla="*/ 55 w 89"/>
                  <a:gd name="T51" fmla="*/ 63 h 140"/>
                  <a:gd name="T52" fmla="*/ 54 w 89"/>
                  <a:gd name="T53" fmla="*/ 65 h 140"/>
                  <a:gd name="T54" fmla="*/ 59 w 89"/>
                  <a:gd name="T55" fmla="*/ 76 h 140"/>
                  <a:gd name="T56" fmla="*/ 63 w 89"/>
                  <a:gd name="T57" fmla="*/ 86 h 140"/>
                  <a:gd name="T58" fmla="*/ 60 w 89"/>
                  <a:gd name="T59" fmla="*/ 96 h 140"/>
                  <a:gd name="T60" fmla="*/ 51 w 89"/>
                  <a:gd name="T61" fmla="*/ 93 h 140"/>
                  <a:gd name="T62" fmla="*/ 46 w 89"/>
                  <a:gd name="T63" fmla="*/ 88 h 140"/>
                  <a:gd name="T64" fmla="*/ 43 w 89"/>
                  <a:gd name="T65" fmla="*/ 90 h 140"/>
                  <a:gd name="T66" fmla="*/ 41 w 89"/>
                  <a:gd name="T67" fmla="*/ 94 h 140"/>
                  <a:gd name="T68" fmla="*/ 41 w 89"/>
                  <a:gd name="T69" fmla="*/ 104 h 140"/>
                  <a:gd name="T70" fmla="*/ 45 w 89"/>
                  <a:gd name="T71" fmla="*/ 106 h 140"/>
                  <a:gd name="T72" fmla="*/ 52 w 89"/>
                  <a:gd name="T73" fmla="*/ 106 h 140"/>
                  <a:gd name="T74" fmla="*/ 52 w 89"/>
                  <a:gd name="T75" fmla="*/ 112 h 140"/>
                  <a:gd name="T76" fmla="*/ 44 w 89"/>
                  <a:gd name="T77" fmla="*/ 117 h 140"/>
                  <a:gd name="T78" fmla="*/ 35 w 89"/>
                  <a:gd name="T79" fmla="*/ 117 h 140"/>
                  <a:gd name="T80" fmla="*/ 30 w 89"/>
                  <a:gd name="T81" fmla="*/ 126 h 140"/>
                  <a:gd name="T82" fmla="*/ 33 w 89"/>
                  <a:gd name="T83" fmla="*/ 131 h 140"/>
                  <a:gd name="T84" fmla="*/ 40 w 89"/>
                  <a:gd name="T85" fmla="*/ 134 h 140"/>
                  <a:gd name="T86" fmla="*/ 34 w 89"/>
                  <a:gd name="T87" fmla="*/ 138 h 140"/>
                  <a:gd name="T88" fmla="*/ 25 w 89"/>
                  <a:gd name="T89" fmla="*/ 137 h 140"/>
                  <a:gd name="T90" fmla="*/ 16 w 89"/>
                  <a:gd name="T91" fmla="*/ 131 h 140"/>
                  <a:gd name="T92" fmla="*/ 10 w 89"/>
                  <a:gd name="T93" fmla="*/ 128 h 140"/>
                  <a:gd name="T94" fmla="*/ 2 w 89"/>
                  <a:gd name="T95" fmla="*/ 126 h 140"/>
                  <a:gd name="T96" fmla="*/ 0 w 89"/>
                  <a:gd name="T97" fmla="*/ 116 h 140"/>
                  <a:gd name="T98" fmla="*/ 1 w 89"/>
                  <a:gd name="T99" fmla="*/ 104 h 140"/>
                  <a:gd name="T100" fmla="*/ 4 w 89"/>
                  <a:gd name="T101" fmla="*/ 92 h 140"/>
                  <a:gd name="T102" fmla="*/ 4 w 89"/>
                  <a:gd name="T103" fmla="*/ 85 h 140"/>
                  <a:gd name="T104" fmla="*/ 3 w 89"/>
                  <a:gd name="T105" fmla="*/ 70 h 140"/>
                  <a:gd name="T106" fmla="*/ 6 w 89"/>
                  <a:gd name="T107" fmla="*/ 62 h 140"/>
                  <a:gd name="T108" fmla="*/ 1 w 89"/>
                  <a:gd name="T109" fmla="*/ 47 h 140"/>
                  <a:gd name="T110" fmla="*/ 2 w 89"/>
                  <a:gd name="T111" fmla="*/ 29 h 14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9" h="140">
                    <a:moveTo>
                      <a:pt x="2" y="22"/>
                    </a:moveTo>
                    <a:lnTo>
                      <a:pt x="5" y="19"/>
                    </a:lnTo>
                    <a:lnTo>
                      <a:pt x="11" y="13"/>
                    </a:lnTo>
                    <a:lnTo>
                      <a:pt x="15" y="10"/>
                    </a:lnTo>
                    <a:lnTo>
                      <a:pt x="21" y="7"/>
                    </a:lnTo>
                    <a:lnTo>
                      <a:pt x="23" y="10"/>
                    </a:lnTo>
                    <a:lnTo>
                      <a:pt x="27" y="15"/>
                    </a:lnTo>
                    <a:lnTo>
                      <a:pt x="31" y="13"/>
                    </a:lnTo>
                    <a:lnTo>
                      <a:pt x="35" y="9"/>
                    </a:lnTo>
                    <a:lnTo>
                      <a:pt x="38" y="6"/>
                    </a:lnTo>
                    <a:lnTo>
                      <a:pt x="41" y="3"/>
                    </a:lnTo>
                    <a:lnTo>
                      <a:pt x="45" y="2"/>
                    </a:lnTo>
                    <a:lnTo>
                      <a:pt x="49" y="2"/>
                    </a:lnTo>
                    <a:lnTo>
                      <a:pt x="46" y="9"/>
                    </a:lnTo>
                    <a:lnTo>
                      <a:pt x="40" y="18"/>
                    </a:lnTo>
                    <a:lnTo>
                      <a:pt x="40" y="21"/>
                    </a:lnTo>
                    <a:lnTo>
                      <a:pt x="52" y="16"/>
                    </a:lnTo>
                    <a:lnTo>
                      <a:pt x="63" y="8"/>
                    </a:lnTo>
                    <a:lnTo>
                      <a:pt x="70" y="0"/>
                    </a:lnTo>
                    <a:lnTo>
                      <a:pt x="71" y="4"/>
                    </a:lnTo>
                    <a:lnTo>
                      <a:pt x="70" y="9"/>
                    </a:lnTo>
                    <a:lnTo>
                      <a:pt x="68" y="13"/>
                    </a:lnTo>
                    <a:lnTo>
                      <a:pt x="65" y="19"/>
                    </a:lnTo>
                    <a:lnTo>
                      <a:pt x="69" y="18"/>
                    </a:lnTo>
                    <a:lnTo>
                      <a:pt x="72" y="17"/>
                    </a:lnTo>
                    <a:lnTo>
                      <a:pt x="74" y="17"/>
                    </a:lnTo>
                    <a:lnTo>
                      <a:pt x="77" y="19"/>
                    </a:lnTo>
                    <a:lnTo>
                      <a:pt x="83" y="23"/>
                    </a:lnTo>
                    <a:lnTo>
                      <a:pt x="78" y="28"/>
                    </a:lnTo>
                    <a:lnTo>
                      <a:pt x="76" y="31"/>
                    </a:lnTo>
                    <a:lnTo>
                      <a:pt x="74" y="32"/>
                    </a:lnTo>
                    <a:lnTo>
                      <a:pt x="73" y="34"/>
                    </a:lnTo>
                    <a:lnTo>
                      <a:pt x="69" y="39"/>
                    </a:lnTo>
                    <a:lnTo>
                      <a:pt x="68" y="43"/>
                    </a:lnTo>
                    <a:lnTo>
                      <a:pt x="67" y="48"/>
                    </a:lnTo>
                    <a:lnTo>
                      <a:pt x="69" y="52"/>
                    </a:lnTo>
                    <a:lnTo>
                      <a:pt x="70" y="55"/>
                    </a:lnTo>
                    <a:lnTo>
                      <a:pt x="72" y="59"/>
                    </a:lnTo>
                    <a:lnTo>
                      <a:pt x="74" y="62"/>
                    </a:lnTo>
                    <a:lnTo>
                      <a:pt x="77" y="64"/>
                    </a:lnTo>
                    <a:lnTo>
                      <a:pt x="80" y="63"/>
                    </a:lnTo>
                    <a:lnTo>
                      <a:pt x="82" y="64"/>
                    </a:lnTo>
                    <a:lnTo>
                      <a:pt x="84" y="64"/>
                    </a:lnTo>
                    <a:lnTo>
                      <a:pt x="88" y="65"/>
                    </a:lnTo>
                    <a:lnTo>
                      <a:pt x="83" y="69"/>
                    </a:lnTo>
                    <a:lnTo>
                      <a:pt x="79" y="72"/>
                    </a:lnTo>
                    <a:lnTo>
                      <a:pt x="75" y="74"/>
                    </a:lnTo>
                    <a:lnTo>
                      <a:pt x="70" y="74"/>
                    </a:lnTo>
                    <a:lnTo>
                      <a:pt x="65" y="72"/>
                    </a:lnTo>
                    <a:lnTo>
                      <a:pt x="61" y="69"/>
                    </a:lnTo>
                    <a:lnTo>
                      <a:pt x="57" y="64"/>
                    </a:lnTo>
                    <a:lnTo>
                      <a:pt x="55" y="63"/>
                    </a:lnTo>
                    <a:lnTo>
                      <a:pt x="49" y="60"/>
                    </a:lnTo>
                    <a:lnTo>
                      <a:pt x="54" y="65"/>
                    </a:lnTo>
                    <a:lnTo>
                      <a:pt x="57" y="73"/>
                    </a:lnTo>
                    <a:lnTo>
                      <a:pt x="59" y="76"/>
                    </a:lnTo>
                    <a:lnTo>
                      <a:pt x="61" y="83"/>
                    </a:lnTo>
                    <a:lnTo>
                      <a:pt x="63" y="86"/>
                    </a:lnTo>
                    <a:lnTo>
                      <a:pt x="66" y="95"/>
                    </a:lnTo>
                    <a:lnTo>
                      <a:pt x="60" y="96"/>
                    </a:lnTo>
                    <a:lnTo>
                      <a:pt x="56" y="96"/>
                    </a:lnTo>
                    <a:lnTo>
                      <a:pt x="51" y="93"/>
                    </a:lnTo>
                    <a:lnTo>
                      <a:pt x="48" y="90"/>
                    </a:lnTo>
                    <a:lnTo>
                      <a:pt x="46" y="88"/>
                    </a:lnTo>
                    <a:lnTo>
                      <a:pt x="44" y="88"/>
                    </a:lnTo>
                    <a:lnTo>
                      <a:pt x="43" y="90"/>
                    </a:lnTo>
                    <a:lnTo>
                      <a:pt x="42" y="90"/>
                    </a:lnTo>
                    <a:lnTo>
                      <a:pt x="41" y="94"/>
                    </a:lnTo>
                    <a:lnTo>
                      <a:pt x="40" y="99"/>
                    </a:lnTo>
                    <a:lnTo>
                      <a:pt x="41" y="104"/>
                    </a:lnTo>
                    <a:lnTo>
                      <a:pt x="42" y="106"/>
                    </a:lnTo>
                    <a:lnTo>
                      <a:pt x="45" y="106"/>
                    </a:lnTo>
                    <a:lnTo>
                      <a:pt x="48" y="106"/>
                    </a:lnTo>
                    <a:lnTo>
                      <a:pt x="52" y="106"/>
                    </a:lnTo>
                    <a:lnTo>
                      <a:pt x="56" y="107"/>
                    </a:lnTo>
                    <a:lnTo>
                      <a:pt x="52" y="112"/>
                    </a:lnTo>
                    <a:lnTo>
                      <a:pt x="48" y="116"/>
                    </a:lnTo>
                    <a:lnTo>
                      <a:pt x="44" y="117"/>
                    </a:lnTo>
                    <a:lnTo>
                      <a:pt x="40" y="117"/>
                    </a:lnTo>
                    <a:lnTo>
                      <a:pt x="35" y="117"/>
                    </a:lnTo>
                    <a:lnTo>
                      <a:pt x="28" y="121"/>
                    </a:lnTo>
                    <a:lnTo>
                      <a:pt x="30" y="126"/>
                    </a:lnTo>
                    <a:lnTo>
                      <a:pt x="31" y="129"/>
                    </a:lnTo>
                    <a:lnTo>
                      <a:pt x="33" y="131"/>
                    </a:lnTo>
                    <a:lnTo>
                      <a:pt x="36" y="133"/>
                    </a:lnTo>
                    <a:lnTo>
                      <a:pt x="40" y="134"/>
                    </a:lnTo>
                    <a:lnTo>
                      <a:pt x="38" y="137"/>
                    </a:lnTo>
                    <a:lnTo>
                      <a:pt x="34" y="138"/>
                    </a:lnTo>
                    <a:lnTo>
                      <a:pt x="28" y="139"/>
                    </a:lnTo>
                    <a:lnTo>
                      <a:pt x="25" y="137"/>
                    </a:lnTo>
                    <a:lnTo>
                      <a:pt x="21" y="134"/>
                    </a:lnTo>
                    <a:lnTo>
                      <a:pt x="16" y="131"/>
                    </a:lnTo>
                    <a:lnTo>
                      <a:pt x="13" y="128"/>
                    </a:lnTo>
                    <a:lnTo>
                      <a:pt x="10" y="128"/>
                    </a:lnTo>
                    <a:lnTo>
                      <a:pt x="4" y="130"/>
                    </a:lnTo>
                    <a:lnTo>
                      <a:pt x="2" y="126"/>
                    </a:lnTo>
                    <a:lnTo>
                      <a:pt x="1" y="120"/>
                    </a:lnTo>
                    <a:lnTo>
                      <a:pt x="0" y="116"/>
                    </a:lnTo>
                    <a:lnTo>
                      <a:pt x="0" y="109"/>
                    </a:lnTo>
                    <a:lnTo>
                      <a:pt x="1" y="104"/>
                    </a:lnTo>
                    <a:lnTo>
                      <a:pt x="2" y="99"/>
                    </a:lnTo>
                    <a:lnTo>
                      <a:pt x="4" y="92"/>
                    </a:lnTo>
                    <a:lnTo>
                      <a:pt x="6" y="88"/>
                    </a:lnTo>
                    <a:lnTo>
                      <a:pt x="4" y="85"/>
                    </a:lnTo>
                    <a:lnTo>
                      <a:pt x="3" y="76"/>
                    </a:lnTo>
                    <a:lnTo>
                      <a:pt x="3" y="70"/>
                    </a:lnTo>
                    <a:lnTo>
                      <a:pt x="4" y="65"/>
                    </a:lnTo>
                    <a:lnTo>
                      <a:pt x="6" y="62"/>
                    </a:lnTo>
                    <a:lnTo>
                      <a:pt x="3" y="54"/>
                    </a:lnTo>
                    <a:lnTo>
                      <a:pt x="1" y="47"/>
                    </a:lnTo>
                    <a:lnTo>
                      <a:pt x="1" y="37"/>
                    </a:lnTo>
                    <a:lnTo>
                      <a:pt x="2" y="29"/>
                    </a:lnTo>
                    <a:lnTo>
                      <a:pt x="2" y="22"/>
                    </a:lnTo>
                  </a:path>
                </a:pathLst>
              </a:custGeom>
              <a:solidFill>
                <a:srgbClr val="FFFF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7271" name="Group 26"/>
              <p:cNvGrpSpPr/>
              <p:nvPr/>
            </p:nvGrpSpPr>
            <p:grpSpPr bwMode="auto">
              <a:xfrm>
                <a:off x="2337" y="2881"/>
                <a:ext cx="129" cy="206"/>
                <a:chOff x="2337" y="2881"/>
                <a:chExt cx="129" cy="206"/>
              </a:xfrm>
            </p:grpSpPr>
            <p:sp>
              <p:nvSpPr>
                <p:cNvPr id="47274" name="Freeform 27"/>
                <p:cNvSpPr/>
                <p:nvPr/>
              </p:nvSpPr>
              <p:spPr bwMode="auto">
                <a:xfrm>
                  <a:off x="2337" y="2881"/>
                  <a:ext cx="129" cy="206"/>
                </a:xfrm>
                <a:custGeom>
                  <a:avLst/>
                  <a:gdLst>
                    <a:gd name="T0" fmla="*/ 31 w 129"/>
                    <a:gd name="T1" fmla="*/ 15 h 206"/>
                    <a:gd name="T2" fmla="*/ 48 w 129"/>
                    <a:gd name="T3" fmla="*/ 2 h 206"/>
                    <a:gd name="T4" fmla="*/ 63 w 129"/>
                    <a:gd name="T5" fmla="*/ 1 h 206"/>
                    <a:gd name="T6" fmla="*/ 73 w 129"/>
                    <a:gd name="T7" fmla="*/ 7 h 206"/>
                    <a:gd name="T8" fmla="*/ 86 w 129"/>
                    <a:gd name="T9" fmla="*/ 21 h 206"/>
                    <a:gd name="T10" fmla="*/ 95 w 129"/>
                    <a:gd name="T11" fmla="*/ 35 h 206"/>
                    <a:gd name="T12" fmla="*/ 101 w 129"/>
                    <a:gd name="T13" fmla="*/ 42 h 206"/>
                    <a:gd name="T14" fmla="*/ 110 w 129"/>
                    <a:gd name="T15" fmla="*/ 40 h 206"/>
                    <a:gd name="T16" fmla="*/ 116 w 129"/>
                    <a:gd name="T17" fmla="*/ 41 h 206"/>
                    <a:gd name="T18" fmla="*/ 109 w 129"/>
                    <a:gd name="T19" fmla="*/ 53 h 206"/>
                    <a:gd name="T20" fmla="*/ 104 w 129"/>
                    <a:gd name="T21" fmla="*/ 60 h 206"/>
                    <a:gd name="T22" fmla="*/ 111 w 129"/>
                    <a:gd name="T23" fmla="*/ 71 h 206"/>
                    <a:gd name="T24" fmla="*/ 121 w 129"/>
                    <a:gd name="T25" fmla="*/ 69 h 206"/>
                    <a:gd name="T26" fmla="*/ 128 w 129"/>
                    <a:gd name="T27" fmla="*/ 66 h 206"/>
                    <a:gd name="T28" fmla="*/ 122 w 129"/>
                    <a:gd name="T29" fmla="*/ 81 h 206"/>
                    <a:gd name="T30" fmla="*/ 111 w 129"/>
                    <a:gd name="T31" fmla="*/ 93 h 206"/>
                    <a:gd name="T32" fmla="*/ 100 w 129"/>
                    <a:gd name="T33" fmla="*/ 97 h 206"/>
                    <a:gd name="T34" fmla="*/ 111 w 129"/>
                    <a:gd name="T35" fmla="*/ 106 h 206"/>
                    <a:gd name="T36" fmla="*/ 119 w 129"/>
                    <a:gd name="T37" fmla="*/ 122 h 206"/>
                    <a:gd name="T38" fmla="*/ 121 w 129"/>
                    <a:gd name="T39" fmla="*/ 140 h 206"/>
                    <a:gd name="T40" fmla="*/ 117 w 129"/>
                    <a:gd name="T41" fmla="*/ 148 h 206"/>
                    <a:gd name="T42" fmla="*/ 110 w 129"/>
                    <a:gd name="T43" fmla="*/ 136 h 206"/>
                    <a:gd name="T44" fmla="*/ 100 w 129"/>
                    <a:gd name="T45" fmla="*/ 133 h 206"/>
                    <a:gd name="T46" fmla="*/ 94 w 129"/>
                    <a:gd name="T47" fmla="*/ 148 h 206"/>
                    <a:gd name="T48" fmla="*/ 94 w 129"/>
                    <a:gd name="T49" fmla="*/ 165 h 206"/>
                    <a:gd name="T50" fmla="*/ 98 w 129"/>
                    <a:gd name="T51" fmla="*/ 175 h 206"/>
                    <a:gd name="T52" fmla="*/ 105 w 129"/>
                    <a:gd name="T53" fmla="*/ 173 h 206"/>
                    <a:gd name="T54" fmla="*/ 106 w 129"/>
                    <a:gd name="T55" fmla="*/ 181 h 206"/>
                    <a:gd name="T56" fmla="*/ 101 w 129"/>
                    <a:gd name="T57" fmla="*/ 193 h 206"/>
                    <a:gd name="T58" fmla="*/ 92 w 129"/>
                    <a:gd name="T59" fmla="*/ 202 h 206"/>
                    <a:gd name="T60" fmla="*/ 77 w 129"/>
                    <a:gd name="T61" fmla="*/ 203 h 206"/>
                    <a:gd name="T62" fmla="*/ 71 w 129"/>
                    <a:gd name="T63" fmla="*/ 194 h 206"/>
                    <a:gd name="T64" fmla="*/ 62 w 129"/>
                    <a:gd name="T65" fmla="*/ 180 h 206"/>
                    <a:gd name="T66" fmla="*/ 53 w 129"/>
                    <a:gd name="T67" fmla="*/ 174 h 206"/>
                    <a:gd name="T68" fmla="*/ 41 w 129"/>
                    <a:gd name="T69" fmla="*/ 173 h 206"/>
                    <a:gd name="T70" fmla="*/ 30 w 129"/>
                    <a:gd name="T71" fmla="*/ 173 h 206"/>
                    <a:gd name="T72" fmla="*/ 20 w 129"/>
                    <a:gd name="T73" fmla="*/ 164 h 206"/>
                    <a:gd name="T74" fmla="*/ 14 w 129"/>
                    <a:gd name="T75" fmla="*/ 145 h 206"/>
                    <a:gd name="T76" fmla="*/ 6 w 129"/>
                    <a:gd name="T77" fmla="*/ 118 h 206"/>
                    <a:gd name="T78" fmla="*/ 0 w 129"/>
                    <a:gd name="T79" fmla="*/ 79 h 206"/>
                    <a:gd name="T80" fmla="*/ 1 w 129"/>
                    <a:gd name="T81" fmla="*/ 52 h 206"/>
                    <a:gd name="T82" fmla="*/ 8 w 129"/>
                    <a:gd name="T83" fmla="*/ 37 h 2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9" h="206">
                      <a:moveTo>
                        <a:pt x="17" y="29"/>
                      </a:moveTo>
                      <a:lnTo>
                        <a:pt x="24" y="21"/>
                      </a:lnTo>
                      <a:lnTo>
                        <a:pt x="31" y="15"/>
                      </a:lnTo>
                      <a:lnTo>
                        <a:pt x="37" y="10"/>
                      </a:lnTo>
                      <a:lnTo>
                        <a:pt x="44" y="6"/>
                      </a:lnTo>
                      <a:lnTo>
                        <a:pt x="48" y="2"/>
                      </a:lnTo>
                      <a:lnTo>
                        <a:pt x="54" y="0"/>
                      </a:lnTo>
                      <a:lnTo>
                        <a:pt x="58" y="0"/>
                      </a:lnTo>
                      <a:lnTo>
                        <a:pt x="63" y="1"/>
                      </a:lnTo>
                      <a:lnTo>
                        <a:pt x="66" y="2"/>
                      </a:lnTo>
                      <a:lnTo>
                        <a:pt x="69" y="4"/>
                      </a:lnTo>
                      <a:lnTo>
                        <a:pt x="73" y="7"/>
                      </a:lnTo>
                      <a:lnTo>
                        <a:pt x="79" y="10"/>
                      </a:lnTo>
                      <a:lnTo>
                        <a:pt x="83" y="16"/>
                      </a:lnTo>
                      <a:lnTo>
                        <a:pt x="86" y="21"/>
                      </a:lnTo>
                      <a:lnTo>
                        <a:pt x="88" y="26"/>
                      </a:lnTo>
                      <a:lnTo>
                        <a:pt x="92" y="32"/>
                      </a:lnTo>
                      <a:lnTo>
                        <a:pt x="95" y="35"/>
                      </a:lnTo>
                      <a:lnTo>
                        <a:pt x="97" y="38"/>
                      </a:lnTo>
                      <a:lnTo>
                        <a:pt x="100" y="42"/>
                      </a:lnTo>
                      <a:lnTo>
                        <a:pt x="101" y="42"/>
                      </a:lnTo>
                      <a:lnTo>
                        <a:pt x="105" y="43"/>
                      </a:lnTo>
                      <a:lnTo>
                        <a:pt x="109" y="42"/>
                      </a:lnTo>
                      <a:lnTo>
                        <a:pt x="110" y="40"/>
                      </a:lnTo>
                      <a:lnTo>
                        <a:pt x="114" y="36"/>
                      </a:lnTo>
                      <a:lnTo>
                        <a:pt x="117" y="33"/>
                      </a:lnTo>
                      <a:lnTo>
                        <a:pt x="116" y="41"/>
                      </a:lnTo>
                      <a:lnTo>
                        <a:pt x="115" y="47"/>
                      </a:lnTo>
                      <a:lnTo>
                        <a:pt x="112" y="52"/>
                      </a:lnTo>
                      <a:lnTo>
                        <a:pt x="109" y="53"/>
                      </a:lnTo>
                      <a:lnTo>
                        <a:pt x="107" y="54"/>
                      </a:lnTo>
                      <a:lnTo>
                        <a:pt x="103" y="56"/>
                      </a:lnTo>
                      <a:lnTo>
                        <a:pt x="104" y="60"/>
                      </a:lnTo>
                      <a:lnTo>
                        <a:pt x="107" y="65"/>
                      </a:lnTo>
                      <a:lnTo>
                        <a:pt x="109" y="68"/>
                      </a:lnTo>
                      <a:lnTo>
                        <a:pt x="111" y="71"/>
                      </a:lnTo>
                      <a:lnTo>
                        <a:pt x="114" y="71"/>
                      </a:lnTo>
                      <a:lnTo>
                        <a:pt x="116" y="71"/>
                      </a:lnTo>
                      <a:lnTo>
                        <a:pt x="121" y="69"/>
                      </a:lnTo>
                      <a:lnTo>
                        <a:pt x="124" y="65"/>
                      </a:lnTo>
                      <a:lnTo>
                        <a:pt x="126" y="61"/>
                      </a:lnTo>
                      <a:lnTo>
                        <a:pt x="128" y="66"/>
                      </a:lnTo>
                      <a:lnTo>
                        <a:pt x="128" y="73"/>
                      </a:lnTo>
                      <a:lnTo>
                        <a:pt x="125" y="77"/>
                      </a:lnTo>
                      <a:lnTo>
                        <a:pt x="122" y="81"/>
                      </a:lnTo>
                      <a:lnTo>
                        <a:pt x="120" y="86"/>
                      </a:lnTo>
                      <a:lnTo>
                        <a:pt x="115" y="91"/>
                      </a:lnTo>
                      <a:lnTo>
                        <a:pt x="111" y="93"/>
                      </a:lnTo>
                      <a:lnTo>
                        <a:pt x="108" y="96"/>
                      </a:lnTo>
                      <a:lnTo>
                        <a:pt x="105" y="97"/>
                      </a:lnTo>
                      <a:lnTo>
                        <a:pt x="100" y="97"/>
                      </a:lnTo>
                      <a:lnTo>
                        <a:pt x="105" y="100"/>
                      </a:lnTo>
                      <a:lnTo>
                        <a:pt x="109" y="103"/>
                      </a:lnTo>
                      <a:lnTo>
                        <a:pt x="111" y="106"/>
                      </a:lnTo>
                      <a:lnTo>
                        <a:pt x="115" y="111"/>
                      </a:lnTo>
                      <a:lnTo>
                        <a:pt x="118" y="117"/>
                      </a:lnTo>
                      <a:lnTo>
                        <a:pt x="119" y="122"/>
                      </a:lnTo>
                      <a:lnTo>
                        <a:pt x="121" y="129"/>
                      </a:lnTo>
                      <a:lnTo>
                        <a:pt x="121" y="135"/>
                      </a:lnTo>
                      <a:lnTo>
                        <a:pt x="121" y="140"/>
                      </a:lnTo>
                      <a:lnTo>
                        <a:pt x="121" y="147"/>
                      </a:lnTo>
                      <a:lnTo>
                        <a:pt x="118" y="153"/>
                      </a:lnTo>
                      <a:lnTo>
                        <a:pt x="117" y="148"/>
                      </a:lnTo>
                      <a:lnTo>
                        <a:pt x="116" y="142"/>
                      </a:lnTo>
                      <a:lnTo>
                        <a:pt x="113" y="140"/>
                      </a:lnTo>
                      <a:lnTo>
                        <a:pt x="110" y="136"/>
                      </a:lnTo>
                      <a:lnTo>
                        <a:pt x="108" y="133"/>
                      </a:lnTo>
                      <a:lnTo>
                        <a:pt x="104" y="132"/>
                      </a:lnTo>
                      <a:lnTo>
                        <a:pt x="100" y="133"/>
                      </a:lnTo>
                      <a:lnTo>
                        <a:pt x="97" y="137"/>
                      </a:lnTo>
                      <a:lnTo>
                        <a:pt x="95" y="140"/>
                      </a:lnTo>
                      <a:lnTo>
                        <a:pt x="94" y="148"/>
                      </a:lnTo>
                      <a:lnTo>
                        <a:pt x="94" y="154"/>
                      </a:lnTo>
                      <a:lnTo>
                        <a:pt x="94" y="161"/>
                      </a:lnTo>
                      <a:lnTo>
                        <a:pt x="94" y="165"/>
                      </a:lnTo>
                      <a:lnTo>
                        <a:pt x="95" y="170"/>
                      </a:lnTo>
                      <a:lnTo>
                        <a:pt x="96" y="175"/>
                      </a:lnTo>
                      <a:lnTo>
                        <a:pt x="98" y="175"/>
                      </a:lnTo>
                      <a:lnTo>
                        <a:pt x="101" y="176"/>
                      </a:lnTo>
                      <a:lnTo>
                        <a:pt x="105" y="174"/>
                      </a:lnTo>
                      <a:lnTo>
                        <a:pt x="105" y="173"/>
                      </a:lnTo>
                      <a:lnTo>
                        <a:pt x="107" y="173"/>
                      </a:lnTo>
                      <a:lnTo>
                        <a:pt x="106" y="176"/>
                      </a:lnTo>
                      <a:lnTo>
                        <a:pt x="106" y="181"/>
                      </a:lnTo>
                      <a:lnTo>
                        <a:pt x="105" y="184"/>
                      </a:lnTo>
                      <a:lnTo>
                        <a:pt x="104" y="190"/>
                      </a:lnTo>
                      <a:lnTo>
                        <a:pt x="101" y="193"/>
                      </a:lnTo>
                      <a:lnTo>
                        <a:pt x="98" y="195"/>
                      </a:lnTo>
                      <a:lnTo>
                        <a:pt x="95" y="200"/>
                      </a:lnTo>
                      <a:lnTo>
                        <a:pt x="92" y="202"/>
                      </a:lnTo>
                      <a:lnTo>
                        <a:pt x="86" y="204"/>
                      </a:lnTo>
                      <a:lnTo>
                        <a:pt x="81" y="205"/>
                      </a:lnTo>
                      <a:lnTo>
                        <a:pt x="77" y="203"/>
                      </a:lnTo>
                      <a:lnTo>
                        <a:pt x="74" y="200"/>
                      </a:lnTo>
                      <a:lnTo>
                        <a:pt x="72" y="198"/>
                      </a:lnTo>
                      <a:lnTo>
                        <a:pt x="71" y="194"/>
                      </a:lnTo>
                      <a:lnTo>
                        <a:pt x="68" y="190"/>
                      </a:lnTo>
                      <a:lnTo>
                        <a:pt x="63" y="184"/>
                      </a:lnTo>
                      <a:lnTo>
                        <a:pt x="62" y="180"/>
                      </a:lnTo>
                      <a:lnTo>
                        <a:pt x="58" y="176"/>
                      </a:lnTo>
                      <a:lnTo>
                        <a:pt x="57" y="175"/>
                      </a:lnTo>
                      <a:lnTo>
                        <a:pt x="53" y="174"/>
                      </a:lnTo>
                      <a:lnTo>
                        <a:pt x="49" y="173"/>
                      </a:lnTo>
                      <a:lnTo>
                        <a:pt x="45" y="172"/>
                      </a:lnTo>
                      <a:lnTo>
                        <a:pt x="41" y="173"/>
                      </a:lnTo>
                      <a:lnTo>
                        <a:pt x="36" y="174"/>
                      </a:lnTo>
                      <a:lnTo>
                        <a:pt x="32" y="174"/>
                      </a:lnTo>
                      <a:lnTo>
                        <a:pt x="30" y="173"/>
                      </a:lnTo>
                      <a:lnTo>
                        <a:pt x="27" y="171"/>
                      </a:lnTo>
                      <a:lnTo>
                        <a:pt x="23" y="168"/>
                      </a:lnTo>
                      <a:lnTo>
                        <a:pt x="20" y="164"/>
                      </a:lnTo>
                      <a:lnTo>
                        <a:pt x="18" y="159"/>
                      </a:lnTo>
                      <a:lnTo>
                        <a:pt x="17" y="153"/>
                      </a:lnTo>
                      <a:lnTo>
                        <a:pt x="14" y="145"/>
                      </a:lnTo>
                      <a:lnTo>
                        <a:pt x="11" y="135"/>
                      </a:lnTo>
                      <a:lnTo>
                        <a:pt x="9" y="129"/>
                      </a:lnTo>
                      <a:lnTo>
                        <a:pt x="6" y="118"/>
                      </a:lnTo>
                      <a:lnTo>
                        <a:pt x="3" y="106"/>
                      </a:lnTo>
                      <a:lnTo>
                        <a:pt x="2" y="92"/>
                      </a:lnTo>
                      <a:lnTo>
                        <a:pt x="0" y="79"/>
                      </a:lnTo>
                      <a:lnTo>
                        <a:pt x="0" y="69"/>
                      </a:lnTo>
                      <a:lnTo>
                        <a:pt x="0" y="59"/>
                      </a:lnTo>
                      <a:lnTo>
                        <a:pt x="1" y="52"/>
                      </a:lnTo>
                      <a:lnTo>
                        <a:pt x="3" y="47"/>
                      </a:lnTo>
                      <a:lnTo>
                        <a:pt x="6" y="43"/>
                      </a:lnTo>
                      <a:lnTo>
                        <a:pt x="8" y="37"/>
                      </a:lnTo>
                      <a:lnTo>
                        <a:pt x="13" y="31"/>
                      </a:lnTo>
                      <a:lnTo>
                        <a:pt x="17" y="29"/>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75" name="Freeform 28"/>
                <p:cNvSpPr/>
                <p:nvPr/>
              </p:nvSpPr>
              <p:spPr bwMode="auto">
                <a:xfrm>
                  <a:off x="2339" y="2920"/>
                  <a:ext cx="101" cy="144"/>
                </a:xfrm>
                <a:custGeom>
                  <a:avLst/>
                  <a:gdLst>
                    <a:gd name="T0" fmla="*/ 20 w 101"/>
                    <a:gd name="T1" fmla="*/ 18 h 144"/>
                    <a:gd name="T2" fmla="*/ 31 w 101"/>
                    <a:gd name="T3" fmla="*/ 8 h 144"/>
                    <a:gd name="T4" fmla="*/ 40 w 101"/>
                    <a:gd name="T5" fmla="*/ 1 h 144"/>
                    <a:gd name="T6" fmla="*/ 47 w 101"/>
                    <a:gd name="T7" fmla="*/ 0 h 144"/>
                    <a:gd name="T8" fmla="*/ 54 w 101"/>
                    <a:gd name="T9" fmla="*/ 0 h 144"/>
                    <a:gd name="T10" fmla="*/ 59 w 101"/>
                    <a:gd name="T11" fmla="*/ 3 h 144"/>
                    <a:gd name="T12" fmla="*/ 66 w 101"/>
                    <a:gd name="T13" fmla="*/ 11 h 144"/>
                    <a:gd name="T14" fmla="*/ 72 w 101"/>
                    <a:gd name="T15" fmla="*/ 17 h 144"/>
                    <a:gd name="T16" fmla="*/ 76 w 101"/>
                    <a:gd name="T17" fmla="*/ 23 h 144"/>
                    <a:gd name="T18" fmla="*/ 80 w 101"/>
                    <a:gd name="T19" fmla="*/ 27 h 144"/>
                    <a:gd name="T20" fmla="*/ 84 w 101"/>
                    <a:gd name="T21" fmla="*/ 28 h 144"/>
                    <a:gd name="T22" fmla="*/ 88 w 101"/>
                    <a:gd name="T23" fmla="*/ 25 h 144"/>
                    <a:gd name="T24" fmla="*/ 93 w 101"/>
                    <a:gd name="T25" fmla="*/ 21 h 144"/>
                    <a:gd name="T26" fmla="*/ 90 w 101"/>
                    <a:gd name="T27" fmla="*/ 30 h 144"/>
                    <a:gd name="T28" fmla="*/ 86 w 101"/>
                    <a:gd name="T29" fmla="*/ 35 h 144"/>
                    <a:gd name="T30" fmla="*/ 82 w 101"/>
                    <a:gd name="T31" fmla="*/ 37 h 144"/>
                    <a:gd name="T32" fmla="*/ 84 w 101"/>
                    <a:gd name="T33" fmla="*/ 44 h 144"/>
                    <a:gd name="T34" fmla="*/ 87 w 101"/>
                    <a:gd name="T35" fmla="*/ 46 h 144"/>
                    <a:gd name="T36" fmla="*/ 92 w 101"/>
                    <a:gd name="T37" fmla="*/ 47 h 144"/>
                    <a:gd name="T38" fmla="*/ 96 w 101"/>
                    <a:gd name="T39" fmla="*/ 42 h 144"/>
                    <a:gd name="T40" fmla="*/ 100 w 101"/>
                    <a:gd name="T41" fmla="*/ 43 h 144"/>
                    <a:gd name="T42" fmla="*/ 97 w 101"/>
                    <a:gd name="T43" fmla="*/ 50 h 144"/>
                    <a:gd name="T44" fmla="*/ 94 w 101"/>
                    <a:gd name="T45" fmla="*/ 58 h 144"/>
                    <a:gd name="T46" fmla="*/ 87 w 101"/>
                    <a:gd name="T47" fmla="*/ 64 h 144"/>
                    <a:gd name="T48" fmla="*/ 82 w 101"/>
                    <a:gd name="T49" fmla="*/ 66 h 144"/>
                    <a:gd name="T50" fmla="*/ 82 w 101"/>
                    <a:gd name="T51" fmla="*/ 68 h 144"/>
                    <a:gd name="T52" fmla="*/ 87 w 101"/>
                    <a:gd name="T53" fmla="*/ 72 h 144"/>
                    <a:gd name="T54" fmla="*/ 91 w 101"/>
                    <a:gd name="T55" fmla="*/ 78 h 144"/>
                    <a:gd name="T56" fmla="*/ 94 w 101"/>
                    <a:gd name="T57" fmla="*/ 88 h 144"/>
                    <a:gd name="T58" fmla="*/ 94 w 101"/>
                    <a:gd name="T59" fmla="*/ 96 h 144"/>
                    <a:gd name="T60" fmla="*/ 91 w 101"/>
                    <a:gd name="T61" fmla="*/ 107 h 144"/>
                    <a:gd name="T62" fmla="*/ 89 w 101"/>
                    <a:gd name="T63" fmla="*/ 99 h 144"/>
                    <a:gd name="T64" fmla="*/ 86 w 101"/>
                    <a:gd name="T65" fmla="*/ 92 h 144"/>
                    <a:gd name="T66" fmla="*/ 81 w 101"/>
                    <a:gd name="T67" fmla="*/ 90 h 144"/>
                    <a:gd name="T68" fmla="*/ 75 w 101"/>
                    <a:gd name="T69" fmla="*/ 94 h 144"/>
                    <a:gd name="T70" fmla="*/ 73 w 101"/>
                    <a:gd name="T71" fmla="*/ 102 h 144"/>
                    <a:gd name="T72" fmla="*/ 72 w 101"/>
                    <a:gd name="T73" fmla="*/ 111 h 144"/>
                    <a:gd name="T74" fmla="*/ 72 w 101"/>
                    <a:gd name="T75" fmla="*/ 118 h 144"/>
                    <a:gd name="T76" fmla="*/ 77 w 101"/>
                    <a:gd name="T77" fmla="*/ 121 h 144"/>
                    <a:gd name="T78" fmla="*/ 80 w 101"/>
                    <a:gd name="T79" fmla="*/ 121 h 144"/>
                    <a:gd name="T80" fmla="*/ 82 w 101"/>
                    <a:gd name="T81" fmla="*/ 121 h 144"/>
                    <a:gd name="T82" fmla="*/ 80 w 101"/>
                    <a:gd name="T83" fmla="*/ 128 h 144"/>
                    <a:gd name="T84" fmla="*/ 77 w 101"/>
                    <a:gd name="T85" fmla="*/ 133 h 144"/>
                    <a:gd name="T86" fmla="*/ 71 w 101"/>
                    <a:gd name="T87" fmla="*/ 138 h 144"/>
                    <a:gd name="T88" fmla="*/ 64 w 101"/>
                    <a:gd name="T89" fmla="*/ 142 h 144"/>
                    <a:gd name="T90" fmla="*/ 58 w 101"/>
                    <a:gd name="T91" fmla="*/ 142 h 144"/>
                    <a:gd name="T92" fmla="*/ 55 w 101"/>
                    <a:gd name="T93" fmla="*/ 139 h 144"/>
                    <a:gd name="T94" fmla="*/ 51 w 101"/>
                    <a:gd name="T95" fmla="*/ 134 h 144"/>
                    <a:gd name="T96" fmla="*/ 45 w 101"/>
                    <a:gd name="T97" fmla="*/ 127 h 144"/>
                    <a:gd name="T98" fmla="*/ 42 w 101"/>
                    <a:gd name="T99" fmla="*/ 124 h 144"/>
                    <a:gd name="T100" fmla="*/ 36 w 101"/>
                    <a:gd name="T101" fmla="*/ 122 h 144"/>
                    <a:gd name="T102" fmla="*/ 30 w 101"/>
                    <a:gd name="T103" fmla="*/ 124 h 144"/>
                    <a:gd name="T104" fmla="*/ 23 w 101"/>
                    <a:gd name="T105" fmla="*/ 125 h 144"/>
                    <a:gd name="T106" fmla="*/ 17 w 101"/>
                    <a:gd name="T107" fmla="*/ 122 h 144"/>
                    <a:gd name="T108" fmla="*/ 14 w 101"/>
                    <a:gd name="T109" fmla="*/ 120 h 144"/>
                    <a:gd name="T110" fmla="*/ 11 w 101"/>
                    <a:gd name="T111" fmla="*/ 110 h 144"/>
                    <a:gd name="T112" fmla="*/ 7 w 101"/>
                    <a:gd name="T113" fmla="*/ 99 h 144"/>
                    <a:gd name="T114" fmla="*/ 4 w 101"/>
                    <a:gd name="T115" fmla="*/ 88 h 144"/>
                    <a:gd name="T116" fmla="*/ 1 w 101"/>
                    <a:gd name="T117" fmla="*/ 70 h 144"/>
                    <a:gd name="T118" fmla="*/ 0 w 101"/>
                    <a:gd name="T119" fmla="*/ 53 h 144"/>
                    <a:gd name="T120" fmla="*/ 2 w 101"/>
                    <a:gd name="T121" fmla="*/ 40 h 144"/>
                    <a:gd name="T122" fmla="*/ 5 w 101"/>
                    <a:gd name="T123" fmla="*/ 34 h 144"/>
                    <a:gd name="T124" fmla="*/ 11 w 101"/>
                    <a:gd name="T125" fmla="*/ 25 h 1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1" h="144">
                      <a:moveTo>
                        <a:pt x="14" y="22"/>
                      </a:moveTo>
                      <a:lnTo>
                        <a:pt x="20" y="18"/>
                      </a:lnTo>
                      <a:lnTo>
                        <a:pt x="26" y="13"/>
                      </a:lnTo>
                      <a:lnTo>
                        <a:pt x="31" y="8"/>
                      </a:lnTo>
                      <a:lnTo>
                        <a:pt x="35" y="5"/>
                      </a:lnTo>
                      <a:lnTo>
                        <a:pt x="40" y="1"/>
                      </a:lnTo>
                      <a:lnTo>
                        <a:pt x="44" y="0"/>
                      </a:lnTo>
                      <a:lnTo>
                        <a:pt x="47" y="0"/>
                      </a:lnTo>
                      <a:lnTo>
                        <a:pt x="52" y="0"/>
                      </a:lnTo>
                      <a:lnTo>
                        <a:pt x="54" y="0"/>
                      </a:lnTo>
                      <a:lnTo>
                        <a:pt x="57" y="2"/>
                      </a:lnTo>
                      <a:lnTo>
                        <a:pt x="59" y="3"/>
                      </a:lnTo>
                      <a:lnTo>
                        <a:pt x="64" y="7"/>
                      </a:lnTo>
                      <a:lnTo>
                        <a:pt x="66" y="11"/>
                      </a:lnTo>
                      <a:lnTo>
                        <a:pt x="69" y="14"/>
                      </a:lnTo>
                      <a:lnTo>
                        <a:pt x="72" y="17"/>
                      </a:lnTo>
                      <a:lnTo>
                        <a:pt x="73" y="22"/>
                      </a:lnTo>
                      <a:lnTo>
                        <a:pt x="76" y="23"/>
                      </a:lnTo>
                      <a:lnTo>
                        <a:pt x="78" y="25"/>
                      </a:lnTo>
                      <a:lnTo>
                        <a:pt x="80" y="27"/>
                      </a:lnTo>
                      <a:lnTo>
                        <a:pt x="81" y="27"/>
                      </a:lnTo>
                      <a:lnTo>
                        <a:pt x="84" y="28"/>
                      </a:lnTo>
                      <a:lnTo>
                        <a:pt x="85" y="27"/>
                      </a:lnTo>
                      <a:lnTo>
                        <a:pt x="88" y="25"/>
                      </a:lnTo>
                      <a:lnTo>
                        <a:pt x="90" y="22"/>
                      </a:lnTo>
                      <a:lnTo>
                        <a:pt x="93" y="21"/>
                      </a:lnTo>
                      <a:lnTo>
                        <a:pt x="92" y="25"/>
                      </a:lnTo>
                      <a:lnTo>
                        <a:pt x="90" y="30"/>
                      </a:lnTo>
                      <a:lnTo>
                        <a:pt x="88" y="34"/>
                      </a:lnTo>
                      <a:lnTo>
                        <a:pt x="86" y="35"/>
                      </a:lnTo>
                      <a:lnTo>
                        <a:pt x="85" y="35"/>
                      </a:lnTo>
                      <a:lnTo>
                        <a:pt x="82" y="37"/>
                      </a:lnTo>
                      <a:lnTo>
                        <a:pt x="83" y="39"/>
                      </a:lnTo>
                      <a:lnTo>
                        <a:pt x="84" y="44"/>
                      </a:lnTo>
                      <a:lnTo>
                        <a:pt x="85" y="44"/>
                      </a:lnTo>
                      <a:lnTo>
                        <a:pt x="87" y="46"/>
                      </a:lnTo>
                      <a:lnTo>
                        <a:pt x="90" y="47"/>
                      </a:lnTo>
                      <a:lnTo>
                        <a:pt x="92" y="47"/>
                      </a:lnTo>
                      <a:lnTo>
                        <a:pt x="94" y="44"/>
                      </a:lnTo>
                      <a:lnTo>
                        <a:pt x="96" y="42"/>
                      </a:lnTo>
                      <a:lnTo>
                        <a:pt x="100" y="38"/>
                      </a:lnTo>
                      <a:lnTo>
                        <a:pt x="100" y="43"/>
                      </a:lnTo>
                      <a:lnTo>
                        <a:pt x="100" y="47"/>
                      </a:lnTo>
                      <a:lnTo>
                        <a:pt x="97" y="50"/>
                      </a:lnTo>
                      <a:lnTo>
                        <a:pt x="95" y="53"/>
                      </a:lnTo>
                      <a:lnTo>
                        <a:pt x="94" y="58"/>
                      </a:lnTo>
                      <a:lnTo>
                        <a:pt x="90" y="61"/>
                      </a:lnTo>
                      <a:lnTo>
                        <a:pt x="87" y="64"/>
                      </a:lnTo>
                      <a:lnTo>
                        <a:pt x="84" y="65"/>
                      </a:lnTo>
                      <a:lnTo>
                        <a:pt x="82" y="66"/>
                      </a:lnTo>
                      <a:lnTo>
                        <a:pt x="78" y="66"/>
                      </a:lnTo>
                      <a:lnTo>
                        <a:pt x="82" y="68"/>
                      </a:lnTo>
                      <a:lnTo>
                        <a:pt x="85" y="69"/>
                      </a:lnTo>
                      <a:lnTo>
                        <a:pt x="87" y="72"/>
                      </a:lnTo>
                      <a:lnTo>
                        <a:pt x="89" y="75"/>
                      </a:lnTo>
                      <a:lnTo>
                        <a:pt x="91" y="78"/>
                      </a:lnTo>
                      <a:lnTo>
                        <a:pt x="93" y="83"/>
                      </a:lnTo>
                      <a:lnTo>
                        <a:pt x="94" y="88"/>
                      </a:lnTo>
                      <a:lnTo>
                        <a:pt x="94" y="92"/>
                      </a:lnTo>
                      <a:lnTo>
                        <a:pt x="94" y="96"/>
                      </a:lnTo>
                      <a:lnTo>
                        <a:pt x="93" y="100"/>
                      </a:lnTo>
                      <a:lnTo>
                        <a:pt x="91" y="107"/>
                      </a:lnTo>
                      <a:lnTo>
                        <a:pt x="90" y="102"/>
                      </a:lnTo>
                      <a:lnTo>
                        <a:pt x="89" y="99"/>
                      </a:lnTo>
                      <a:lnTo>
                        <a:pt x="87" y="96"/>
                      </a:lnTo>
                      <a:lnTo>
                        <a:pt x="86" y="92"/>
                      </a:lnTo>
                      <a:lnTo>
                        <a:pt x="83" y="91"/>
                      </a:lnTo>
                      <a:lnTo>
                        <a:pt x="81" y="90"/>
                      </a:lnTo>
                      <a:lnTo>
                        <a:pt x="78" y="92"/>
                      </a:lnTo>
                      <a:lnTo>
                        <a:pt x="75" y="94"/>
                      </a:lnTo>
                      <a:lnTo>
                        <a:pt x="73" y="98"/>
                      </a:lnTo>
                      <a:lnTo>
                        <a:pt x="73" y="102"/>
                      </a:lnTo>
                      <a:lnTo>
                        <a:pt x="72" y="107"/>
                      </a:lnTo>
                      <a:lnTo>
                        <a:pt x="72" y="111"/>
                      </a:lnTo>
                      <a:lnTo>
                        <a:pt x="72" y="116"/>
                      </a:lnTo>
                      <a:lnTo>
                        <a:pt x="72" y="118"/>
                      </a:lnTo>
                      <a:lnTo>
                        <a:pt x="75" y="121"/>
                      </a:lnTo>
                      <a:lnTo>
                        <a:pt x="77" y="121"/>
                      </a:lnTo>
                      <a:lnTo>
                        <a:pt x="79" y="121"/>
                      </a:lnTo>
                      <a:lnTo>
                        <a:pt x="80" y="121"/>
                      </a:lnTo>
                      <a:lnTo>
                        <a:pt x="82" y="119"/>
                      </a:lnTo>
                      <a:lnTo>
                        <a:pt x="82" y="121"/>
                      </a:lnTo>
                      <a:lnTo>
                        <a:pt x="81" y="124"/>
                      </a:lnTo>
                      <a:lnTo>
                        <a:pt x="80" y="128"/>
                      </a:lnTo>
                      <a:lnTo>
                        <a:pt x="78" y="132"/>
                      </a:lnTo>
                      <a:lnTo>
                        <a:pt x="77" y="133"/>
                      </a:lnTo>
                      <a:lnTo>
                        <a:pt x="75" y="135"/>
                      </a:lnTo>
                      <a:lnTo>
                        <a:pt x="71" y="138"/>
                      </a:lnTo>
                      <a:lnTo>
                        <a:pt x="68" y="141"/>
                      </a:lnTo>
                      <a:lnTo>
                        <a:pt x="64" y="142"/>
                      </a:lnTo>
                      <a:lnTo>
                        <a:pt x="60" y="143"/>
                      </a:lnTo>
                      <a:lnTo>
                        <a:pt x="58" y="142"/>
                      </a:lnTo>
                      <a:lnTo>
                        <a:pt x="56" y="141"/>
                      </a:lnTo>
                      <a:lnTo>
                        <a:pt x="55" y="139"/>
                      </a:lnTo>
                      <a:lnTo>
                        <a:pt x="53" y="137"/>
                      </a:lnTo>
                      <a:lnTo>
                        <a:pt x="51" y="134"/>
                      </a:lnTo>
                      <a:lnTo>
                        <a:pt x="47" y="130"/>
                      </a:lnTo>
                      <a:lnTo>
                        <a:pt x="45" y="127"/>
                      </a:lnTo>
                      <a:lnTo>
                        <a:pt x="43" y="125"/>
                      </a:lnTo>
                      <a:lnTo>
                        <a:pt x="42" y="124"/>
                      </a:lnTo>
                      <a:lnTo>
                        <a:pt x="39" y="122"/>
                      </a:lnTo>
                      <a:lnTo>
                        <a:pt x="36" y="122"/>
                      </a:lnTo>
                      <a:lnTo>
                        <a:pt x="34" y="122"/>
                      </a:lnTo>
                      <a:lnTo>
                        <a:pt x="30" y="124"/>
                      </a:lnTo>
                      <a:lnTo>
                        <a:pt x="26" y="125"/>
                      </a:lnTo>
                      <a:lnTo>
                        <a:pt x="23" y="125"/>
                      </a:lnTo>
                      <a:lnTo>
                        <a:pt x="20" y="124"/>
                      </a:lnTo>
                      <a:lnTo>
                        <a:pt x="17" y="122"/>
                      </a:lnTo>
                      <a:lnTo>
                        <a:pt x="16" y="121"/>
                      </a:lnTo>
                      <a:lnTo>
                        <a:pt x="14" y="120"/>
                      </a:lnTo>
                      <a:lnTo>
                        <a:pt x="13" y="115"/>
                      </a:lnTo>
                      <a:lnTo>
                        <a:pt x="11" y="110"/>
                      </a:lnTo>
                      <a:lnTo>
                        <a:pt x="9" y="106"/>
                      </a:lnTo>
                      <a:lnTo>
                        <a:pt x="7" y="99"/>
                      </a:lnTo>
                      <a:lnTo>
                        <a:pt x="5" y="93"/>
                      </a:lnTo>
                      <a:lnTo>
                        <a:pt x="4" y="88"/>
                      </a:lnTo>
                      <a:lnTo>
                        <a:pt x="2" y="78"/>
                      </a:lnTo>
                      <a:lnTo>
                        <a:pt x="1" y="70"/>
                      </a:lnTo>
                      <a:lnTo>
                        <a:pt x="0" y="61"/>
                      </a:lnTo>
                      <a:lnTo>
                        <a:pt x="0" y="53"/>
                      </a:lnTo>
                      <a:lnTo>
                        <a:pt x="1" y="46"/>
                      </a:lnTo>
                      <a:lnTo>
                        <a:pt x="2" y="40"/>
                      </a:lnTo>
                      <a:lnTo>
                        <a:pt x="3" y="36"/>
                      </a:lnTo>
                      <a:lnTo>
                        <a:pt x="5" y="34"/>
                      </a:lnTo>
                      <a:lnTo>
                        <a:pt x="7" y="30"/>
                      </a:lnTo>
                      <a:lnTo>
                        <a:pt x="11" y="25"/>
                      </a:lnTo>
                      <a:lnTo>
                        <a:pt x="14" y="22"/>
                      </a:lnTo>
                    </a:path>
                  </a:pathLst>
                </a:custGeom>
                <a:solidFill>
                  <a:srgbClr val="FF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76" name="Freeform 29"/>
                <p:cNvSpPr/>
                <p:nvPr/>
              </p:nvSpPr>
              <p:spPr bwMode="auto">
                <a:xfrm>
                  <a:off x="2350" y="2959"/>
                  <a:ext cx="53" cy="78"/>
                </a:xfrm>
                <a:custGeom>
                  <a:avLst/>
                  <a:gdLst>
                    <a:gd name="T0" fmla="*/ 10 w 53"/>
                    <a:gd name="T1" fmla="*/ 9 h 78"/>
                    <a:gd name="T2" fmla="*/ 15 w 53"/>
                    <a:gd name="T3" fmla="*/ 3 h 78"/>
                    <a:gd name="T4" fmla="*/ 20 w 53"/>
                    <a:gd name="T5" fmla="*/ 0 h 78"/>
                    <a:gd name="T6" fmla="*/ 24 w 53"/>
                    <a:gd name="T7" fmla="*/ 0 h 78"/>
                    <a:gd name="T8" fmla="*/ 28 w 53"/>
                    <a:gd name="T9" fmla="*/ 0 h 78"/>
                    <a:gd name="T10" fmla="*/ 31 w 53"/>
                    <a:gd name="T11" fmla="*/ 1 h 78"/>
                    <a:gd name="T12" fmla="*/ 35 w 53"/>
                    <a:gd name="T13" fmla="*/ 4 h 78"/>
                    <a:gd name="T14" fmla="*/ 37 w 53"/>
                    <a:gd name="T15" fmla="*/ 9 h 78"/>
                    <a:gd name="T16" fmla="*/ 39 w 53"/>
                    <a:gd name="T17" fmla="*/ 11 h 78"/>
                    <a:gd name="T18" fmla="*/ 41 w 53"/>
                    <a:gd name="T19" fmla="*/ 14 h 78"/>
                    <a:gd name="T20" fmla="*/ 43 w 53"/>
                    <a:gd name="T21" fmla="*/ 14 h 78"/>
                    <a:gd name="T22" fmla="*/ 46 w 53"/>
                    <a:gd name="T23" fmla="*/ 11 h 78"/>
                    <a:gd name="T24" fmla="*/ 47 w 53"/>
                    <a:gd name="T25" fmla="*/ 13 h 78"/>
                    <a:gd name="T26" fmla="*/ 45 w 53"/>
                    <a:gd name="T27" fmla="*/ 18 h 78"/>
                    <a:gd name="T28" fmla="*/ 44 w 53"/>
                    <a:gd name="T29" fmla="*/ 20 h 78"/>
                    <a:gd name="T30" fmla="*/ 42 w 53"/>
                    <a:gd name="T31" fmla="*/ 21 h 78"/>
                    <a:gd name="T32" fmla="*/ 44 w 53"/>
                    <a:gd name="T33" fmla="*/ 25 h 78"/>
                    <a:gd name="T34" fmla="*/ 47 w 53"/>
                    <a:gd name="T35" fmla="*/ 25 h 78"/>
                    <a:gd name="T36" fmla="*/ 50 w 53"/>
                    <a:gd name="T37" fmla="*/ 23 h 78"/>
                    <a:gd name="T38" fmla="*/ 52 w 53"/>
                    <a:gd name="T39" fmla="*/ 22 h 78"/>
                    <a:gd name="T40" fmla="*/ 50 w 53"/>
                    <a:gd name="T41" fmla="*/ 26 h 78"/>
                    <a:gd name="T42" fmla="*/ 49 w 53"/>
                    <a:gd name="T43" fmla="*/ 30 h 78"/>
                    <a:gd name="T44" fmla="*/ 45 w 53"/>
                    <a:gd name="T45" fmla="*/ 33 h 78"/>
                    <a:gd name="T46" fmla="*/ 42 w 53"/>
                    <a:gd name="T47" fmla="*/ 34 h 78"/>
                    <a:gd name="T48" fmla="*/ 43 w 53"/>
                    <a:gd name="T49" fmla="*/ 36 h 78"/>
                    <a:gd name="T50" fmla="*/ 44 w 53"/>
                    <a:gd name="T51" fmla="*/ 38 h 78"/>
                    <a:gd name="T52" fmla="*/ 47 w 53"/>
                    <a:gd name="T53" fmla="*/ 42 h 78"/>
                    <a:gd name="T54" fmla="*/ 48 w 53"/>
                    <a:gd name="T55" fmla="*/ 46 h 78"/>
                    <a:gd name="T56" fmla="*/ 49 w 53"/>
                    <a:gd name="T57" fmla="*/ 51 h 78"/>
                    <a:gd name="T58" fmla="*/ 47 w 53"/>
                    <a:gd name="T59" fmla="*/ 56 h 78"/>
                    <a:gd name="T60" fmla="*/ 46 w 53"/>
                    <a:gd name="T61" fmla="*/ 52 h 78"/>
                    <a:gd name="T62" fmla="*/ 44 w 53"/>
                    <a:gd name="T63" fmla="*/ 50 h 78"/>
                    <a:gd name="T64" fmla="*/ 41 w 53"/>
                    <a:gd name="T65" fmla="*/ 49 h 78"/>
                    <a:gd name="T66" fmla="*/ 39 w 53"/>
                    <a:gd name="T67" fmla="*/ 50 h 78"/>
                    <a:gd name="T68" fmla="*/ 37 w 53"/>
                    <a:gd name="T69" fmla="*/ 55 h 78"/>
                    <a:gd name="T70" fmla="*/ 37 w 53"/>
                    <a:gd name="T71" fmla="*/ 60 h 78"/>
                    <a:gd name="T72" fmla="*/ 38 w 53"/>
                    <a:gd name="T73" fmla="*/ 64 h 78"/>
                    <a:gd name="T74" fmla="*/ 39 w 53"/>
                    <a:gd name="T75" fmla="*/ 65 h 78"/>
                    <a:gd name="T76" fmla="*/ 40 w 53"/>
                    <a:gd name="T77" fmla="*/ 65 h 78"/>
                    <a:gd name="T78" fmla="*/ 42 w 53"/>
                    <a:gd name="T79" fmla="*/ 65 h 78"/>
                    <a:gd name="T80" fmla="*/ 41 w 53"/>
                    <a:gd name="T81" fmla="*/ 68 h 78"/>
                    <a:gd name="T82" fmla="*/ 40 w 53"/>
                    <a:gd name="T83" fmla="*/ 71 h 78"/>
                    <a:gd name="T84" fmla="*/ 37 w 53"/>
                    <a:gd name="T85" fmla="*/ 73 h 78"/>
                    <a:gd name="T86" fmla="*/ 34 w 53"/>
                    <a:gd name="T87" fmla="*/ 76 h 78"/>
                    <a:gd name="T88" fmla="*/ 29 w 53"/>
                    <a:gd name="T89" fmla="*/ 77 h 78"/>
                    <a:gd name="T90" fmla="*/ 29 w 53"/>
                    <a:gd name="T91" fmla="*/ 73 h 78"/>
                    <a:gd name="T92" fmla="*/ 26 w 53"/>
                    <a:gd name="T93" fmla="*/ 71 h 78"/>
                    <a:gd name="T94" fmla="*/ 23 w 53"/>
                    <a:gd name="T95" fmla="*/ 67 h 78"/>
                    <a:gd name="T96" fmla="*/ 20 w 53"/>
                    <a:gd name="T97" fmla="*/ 66 h 78"/>
                    <a:gd name="T98" fmla="*/ 17 w 53"/>
                    <a:gd name="T99" fmla="*/ 66 h 78"/>
                    <a:gd name="T100" fmla="*/ 13 w 53"/>
                    <a:gd name="T101" fmla="*/ 67 h 78"/>
                    <a:gd name="T102" fmla="*/ 10 w 53"/>
                    <a:gd name="T103" fmla="*/ 66 h 78"/>
                    <a:gd name="T104" fmla="*/ 8 w 53"/>
                    <a:gd name="T105" fmla="*/ 65 h 78"/>
                    <a:gd name="T106" fmla="*/ 6 w 53"/>
                    <a:gd name="T107" fmla="*/ 59 h 78"/>
                    <a:gd name="T108" fmla="*/ 3 w 53"/>
                    <a:gd name="T109" fmla="*/ 53 h 78"/>
                    <a:gd name="T110" fmla="*/ 3 w 53"/>
                    <a:gd name="T111" fmla="*/ 47 h 78"/>
                    <a:gd name="T112" fmla="*/ 1 w 53"/>
                    <a:gd name="T113" fmla="*/ 36 h 78"/>
                    <a:gd name="T114" fmla="*/ 0 w 53"/>
                    <a:gd name="T115" fmla="*/ 28 h 78"/>
                    <a:gd name="T116" fmla="*/ 1 w 53"/>
                    <a:gd name="T117" fmla="*/ 22 h 78"/>
                    <a:gd name="T118" fmla="*/ 3 w 53"/>
                    <a:gd name="T119" fmla="*/ 18 h 78"/>
                    <a:gd name="T120" fmla="*/ 5 w 53"/>
                    <a:gd name="T121" fmla="*/ 13 h 7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3" h="78">
                      <a:moveTo>
                        <a:pt x="7" y="11"/>
                      </a:moveTo>
                      <a:lnTo>
                        <a:pt x="10" y="9"/>
                      </a:lnTo>
                      <a:lnTo>
                        <a:pt x="13" y="6"/>
                      </a:lnTo>
                      <a:lnTo>
                        <a:pt x="15" y="3"/>
                      </a:lnTo>
                      <a:lnTo>
                        <a:pt x="18" y="2"/>
                      </a:lnTo>
                      <a:lnTo>
                        <a:pt x="20" y="0"/>
                      </a:lnTo>
                      <a:lnTo>
                        <a:pt x="22" y="0"/>
                      </a:lnTo>
                      <a:lnTo>
                        <a:pt x="24" y="0"/>
                      </a:lnTo>
                      <a:lnTo>
                        <a:pt x="26" y="0"/>
                      </a:lnTo>
                      <a:lnTo>
                        <a:pt x="28" y="0"/>
                      </a:lnTo>
                      <a:lnTo>
                        <a:pt x="29" y="0"/>
                      </a:lnTo>
                      <a:lnTo>
                        <a:pt x="31" y="1"/>
                      </a:lnTo>
                      <a:lnTo>
                        <a:pt x="33" y="3"/>
                      </a:lnTo>
                      <a:lnTo>
                        <a:pt x="35" y="4"/>
                      </a:lnTo>
                      <a:lnTo>
                        <a:pt x="35" y="6"/>
                      </a:lnTo>
                      <a:lnTo>
                        <a:pt x="37" y="9"/>
                      </a:lnTo>
                      <a:lnTo>
                        <a:pt x="39" y="11"/>
                      </a:lnTo>
                      <a:lnTo>
                        <a:pt x="40" y="12"/>
                      </a:lnTo>
                      <a:lnTo>
                        <a:pt x="41" y="14"/>
                      </a:lnTo>
                      <a:lnTo>
                        <a:pt x="42" y="14"/>
                      </a:lnTo>
                      <a:lnTo>
                        <a:pt x="43" y="14"/>
                      </a:lnTo>
                      <a:lnTo>
                        <a:pt x="44" y="13"/>
                      </a:lnTo>
                      <a:lnTo>
                        <a:pt x="46" y="11"/>
                      </a:lnTo>
                      <a:lnTo>
                        <a:pt x="48" y="11"/>
                      </a:lnTo>
                      <a:lnTo>
                        <a:pt x="47" y="13"/>
                      </a:lnTo>
                      <a:lnTo>
                        <a:pt x="47" y="16"/>
                      </a:lnTo>
                      <a:lnTo>
                        <a:pt x="45" y="18"/>
                      </a:lnTo>
                      <a:lnTo>
                        <a:pt x="44" y="19"/>
                      </a:lnTo>
                      <a:lnTo>
                        <a:pt x="44" y="20"/>
                      </a:lnTo>
                      <a:lnTo>
                        <a:pt x="42" y="20"/>
                      </a:lnTo>
                      <a:lnTo>
                        <a:pt x="42" y="21"/>
                      </a:lnTo>
                      <a:lnTo>
                        <a:pt x="44" y="23"/>
                      </a:lnTo>
                      <a:lnTo>
                        <a:pt x="44" y="25"/>
                      </a:lnTo>
                      <a:lnTo>
                        <a:pt x="46" y="26"/>
                      </a:lnTo>
                      <a:lnTo>
                        <a:pt x="47" y="25"/>
                      </a:lnTo>
                      <a:lnTo>
                        <a:pt x="49" y="24"/>
                      </a:lnTo>
                      <a:lnTo>
                        <a:pt x="50" y="23"/>
                      </a:lnTo>
                      <a:lnTo>
                        <a:pt x="52" y="21"/>
                      </a:lnTo>
                      <a:lnTo>
                        <a:pt x="52" y="22"/>
                      </a:lnTo>
                      <a:lnTo>
                        <a:pt x="52" y="26"/>
                      </a:lnTo>
                      <a:lnTo>
                        <a:pt x="50" y="26"/>
                      </a:lnTo>
                      <a:lnTo>
                        <a:pt x="49" y="28"/>
                      </a:lnTo>
                      <a:lnTo>
                        <a:pt x="49" y="30"/>
                      </a:lnTo>
                      <a:lnTo>
                        <a:pt x="46" y="33"/>
                      </a:lnTo>
                      <a:lnTo>
                        <a:pt x="45" y="33"/>
                      </a:lnTo>
                      <a:lnTo>
                        <a:pt x="44" y="34"/>
                      </a:lnTo>
                      <a:lnTo>
                        <a:pt x="42" y="34"/>
                      </a:lnTo>
                      <a:lnTo>
                        <a:pt x="40" y="34"/>
                      </a:lnTo>
                      <a:lnTo>
                        <a:pt x="43" y="36"/>
                      </a:lnTo>
                      <a:lnTo>
                        <a:pt x="44" y="37"/>
                      </a:lnTo>
                      <a:lnTo>
                        <a:pt x="44" y="38"/>
                      </a:lnTo>
                      <a:lnTo>
                        <a:pt x="46" y="40"/>
                      </a:lnTo>
                      <a:lnTo>
                        <a:pt x="47" y="42"/>
                      </a:lnTo>
                      <a:lnTo>
                        <a:pt x="47" y="44"/>
                      </a:lnTo>
                      <a:lnTo>
                        <a:pt x="48" y="46"/>
                      </a:lnTo>
                      <a:lnTo>
                        <a:pt x="49" y="49"/>
                      </a:lnTo>
                      <a:lnTo>
                        <a:pt x="49" y="51"/>
                      </a:lnTo>
                      <a:lnTo>
                        <a:pt x="48" y="53"/>
                      </a:lnTo>
                      <a:lnTo>
                        <a:pt x="47" y="56"/>
                      </a:lnTo>
                      <a:lnTo>
                        <a:pt x="46" y="55"/>
                      </a:lnTo>
                      <a:lnTo>
                        <a:pt x="46" y="52"/>
                      </a:lnTo>
                      <a:lnTo>
                        <a:pt x="45" y="50"/>
                      </a:lnTo>
                      <a:lnTo>
                        <a:pt x="44" y="50"/>
                      </a:lnTo>
                      <a:lnTo>
                        <a:pt x="43" y="49"/>
                      </a:lnTo>
                      <a:lnTo>
                        <a:pt x="41" y="49"/>
                      </a:lnTo>
                      <a:lnTo>
                        <a:pt x="39" y="49"/>
                      </a:lnTo>
                      <a:lnTo>
                        <a:pt x="39" y="50"/>
                      </a:lnTo>
                      <a:lnTo>
                        <a:pt x="39" y="52"/>
                      </a:lnTo>
                      <a:lnTo>
                        <a:pt x="37" y="55"/>
                      </a:lnTo>
                      <a:lnTo>
                        <a:pt x="38" y="57"/>
                      </a:lnTo>
                      <a:lnTo>
                        <a:pt x="37" y="60"/>
                      </a:lnTo>
                      <a:lnTo>
                        <a:pt x="38" y="61"/>
                      </a:lnTo>
                      <a:lnTo>
                        <a:pt x="38" y="64"/>
                      </a:lnTo>
                      <a:lnTo>
                        <a:pt x="38" y="65"/>
                      </a:lnTo>
                      <a:lnTo>
                        <a:pt x="39" y="65"/>
                      </a:lnTo>
                      <a:lnTo>
                        <a:pt x="39" y="66"/>
                      </a:lnTo>
                      <a:lnTo>
                        <a:pt x="40" y="65"/>
                      </a:lnTo>
                      <a:lnTo>
                        <a:pt x="41" y="65"/>
                      </a:lnTo>
                      <a:lnTo>
                        <a:pt x="42" y="65"/>
                      </a:lnTo>
                      <a:lnTo>
                        <a:pt x="42" y="67"/>
                      </a:lnTo>
                      <a:lnTo>
                        <a:pt x="41" y="68"/>
                      </a:lnTo>
                      <a:lnTo>
                        <a:pt x="40" y="70"/>
                      </a:lnTo>
                      <a:lnTo>
                        <a:pt x="40" y="71"/>
                      </a:lnTo>
                      <a:lnTo>
                        <a:pt x="39" y="73"/>
                      </a:lnTo>
                      <a:lnTo>
                        <a:pt x="37" y="73"/>
                      </a:lnTo>
                      <a:lnTo>
                        <a:pt x="36" y="76"/>
                      </a:lnTo>
                      <a:lnTo>
                        <a:pt x="34" y="76"/>
                      </a:lnTo>
                      <a:lnTo>
                        <a:pt x="31" y="77"/>
                      </a:lnTo>
                      <a:lnTo>
                        <a:pt x="29" y="77"/>
                      </a:lnTo>
                      <a:lnTo>
                        <a:pt x="29" y="74"/>
                      </a:lnTo>
                      <a:lnTo>
                        <a:pt x="29" y="73"/>
                      </a:lnTo>
                      <a:lnTo>
                        <a:pt x="27" y="73"/>
                      </a:lnTo>
                      <a:lnTo>
                        <a:pt x="26" y="71"/>
                      </a:lnTo>
                      <a:lnTo>
                        <a:pt x="24" y="69"/>
                      </a:lnTo>
                      <a:lnTo>
                        <a:pt x="23" y="67"/>
                      </a:lnTo>
                      <a:lnTo>
                        <a:pt x="22" y="66"/>
                      </a:lnTo>
                      <a:lnTo>
                        <a:pt x="20" y="66"/>
                      </a:lnTo>
                      <a:lnTo>
                        <a:pt x="18" y="66"/>
                      </a:lnTo>
                      <a:lnTo>
                        <a:pt x="17" y="66"/>
                      </a:lnTo>
                      <a:lnTo>
                        <a:pt x="15" y="66"/>
                      </a:lnTo>
                      <a:lnTo>
                        <a:pt x="13" y="67"/>
                      </a:lnTo>
                      <a:lnTo>
                        <a:pt x="12" y="66"/>
                      </a:lnTo>
                      <a:lnTo>
                        <a:pt x="10" y="66"/>
                      </a:lnTo>
                      <a:lnTo>
                        <a:pt x="9" y="66"/>
                      </a:lnTo>
                      <a:lnTo>
                        <a:pt x="8" y="65"/>
                      </a:lnTo>
                      <a:lnTo>
                        <a:pt x="7" y="62"/>
                      </a:lnTo>
                      <a:lnTo>
                        <a:pt x="6" y="59"/>
                      </a:lnTo>
                      <a:lnTo>
                        <a:pt x="5" y="57"/>
                      </a:lnTo>
                      <a:lnTo>
                        <a:pt x="3" y="53"/>
                      </a:lnTo>
                      <a:lnTo>
                        <a:pt x="3" y="50"/>
                      </a:lnTo>
                      <a:lnTo>
                        <a:pt x="3" y="47"/>
                      </a:lnTo>
                      <a:lnTo>
                        <a:pt x="1" y="42"/>
                      </a:lnTo>
                      <a:lnTo>
                        <a:pt x="1" y="36"/>
                      </a:lnTo>
                      <a:lnTo>
                        <a:pt x="0" y="33"/>
                      </a:lnTo>
                      <a:lnTo>
                        <a:pt x="0" y="28"/>
                      </a:lnTo>
                      <a:lnTo>
                        <a:pt x="0" y="24"/>
                      </a:lnTo>
                      <a:lnTo>
                        <a:pt x="1" y="22"/>
                      </a:lnTo>
                      <a:lnTo>
                        <a:pt x="2" y="20"/>
                      </a:lnTo>
                      <a:lnTo>
                        <a:pt x="3" y="18"/>
                      </a:lnTo>
                      <a:lnTo>
                        <a:pt x="4" y="16"/>
                      </a:lnTo>
                      <a:lnTo>
                        <a:pt x="5" y="13"/>
                      </a:lnTo>
                      <a:lnTo>
                        <a:pt x="7" y="11"/>
                      </a:lnTo>
                    </a:path>
                  </a:pathLst>
                </a:custGeom>
                <a:solidFill>
                  <a:srgbClr val="FF8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77" name="Freeform 30"/>
                <p:cNvSpPr/>
                <p:nvPr/>
              </p:nvSpPr>
              <p:spPr bwMode="auto">
                <a:xfrm>
                  <a:off x="2350" y="2976"/>
                  <a:ext cx="36" cy="52"/>
                </a:xfrm>
                <a:custGeom>
                  <a:avLst/>
                  <a:gdLst>
                    <a:gd name="T0" fmla="*/ 7 w 36"/>
                    <a:gd name="T1" fmla="*/ 6 h 52"/>
                    <a:gd name="T2" fmla="*/ 11 w 36"/>
                    <a:gd name="T3" fmla="*/ 3 h 52"/>
                    <a:gd name="T4" fmla="*/ 14 w 36"/>
                    <a:gd name="T5" fmla="*/ 0 h 52"/>
                    <a:gd name="T6" fmla="*/ 16 w 36"/>
                    <a:gd name="T7" fmla="*/ 0 h 52"/>
                    <a:gd name="T8" fmla="*/ 19 w 36"/>
                    <a:gd name="T9" fmla="*/ 0 h 52"/>
                    <a:gd name="T10" fmla="*/ 21 w 36"/>
                    <a:gd name="T11" fmla="*/ 1 h 52"/>
                    <a:gd name="T12" fmla="*/ 22 w 36"/>
                    <a:gd name="T13" fmla="*/ 3 h 52"/>
                    <a:gd name="T14" fmla="*/ 24 w 36"/>
                    <a:gd name="T15" fmla="*/ 6 h 52"/>
                    <a:gd name="T16" fmla="*/ 26 w 36"/>
                    <a:gd name="T17" fmla="*/ 8 h 52"/>
                    <a:gd name="T18" fmla="*/ 27 w 36"/>
                    <a:gd name="T19" fmla="*/ 10 h 52"/>
                    <a:gd name="T20" fmla="*/ 29 w 36"/>
                    <a:gd name="T21" fmla="*/ 10 h 52"/>
                    <a:gd name="T22" fmla="*/ 31 w 36"/>
                    <a:gd name="T23" fmla="*/ 7 h 52"/>
                    <a:gd name="T24" fmla="*/ 31 w 36"/>
                    <a:gd name="T25" fmla="*/ 9 h 52"/>
                    <a:gd name="T26" fmla="*/ 30 w 36"/>
                    <a:gd name="T27" fmla="*/ 13 h 52"/>
                    <a:gd name="T28" fmla="*/ 28 w 36"/>
                    <a:gd name="T29" fmla="*/ 14 h 52"/>
                    <a:gd name="T30" fmla="*/ 29 w 36"/>
                    <a:gd name="T31" fmla="*/ 17 h 52"/>
                    <a:gd name="T32" fmla="*/ 31 w 36"/>
                    <a:gd name="T33" fmla="*/ 17 h 52"/>
                    <a:gd name="T34" fmla="*/ 33 w 36"/>
                    <a:gd name="T35" fmla="*/ 15 h 52"/>
                    <a:gd name="T36" fmla="*/ 35 w 36"/>
                    <a:gd name="T37" fmla="*/ 15 h 52"/>
                    <a:gd name="T38" fmla="*/ 33 w 36"/>
                    <a:gd name="T39" fmla="*/ 17 h 52"/>
                    <a:gd name="T40" fmla="*/ 32 w 36"/>
                    <a:gd name="T41" fmla="*/ 20 h 52"/>
                    <a:gd name="T42" fmla="*/ 30 w 36"/>
                    <a:gd name="T43" fmla="*/ 22 h 52"/>
                    <a:gd name="T44" fmla="*/ 28 w 36"/>
                    <a:gd name="T45" fmla="*/ 23 h 52"/>
                    <a:gd name="T46" fmla="*/ 28 w 36"/>
                    <a:gd name="T47" fmla="*/ 25 h 52"/>
                    <a:gd name="T48" fmla="*/ 29 w 36"/>
                    <a:gd name="T49" fmla="*/ 25 h 52"/>
                    <a:gd name="T50" fmla="*/ 31 w 36"/>
                    <a:gd name="T51" fmla="*/ 28 h 52"/>
                    <a:gd name="T52" fmla="*/ 32 w 36"/>
                    <a:gd name="T53" fmla="*/ 30 h 52"/>
                    <a:gd name="T54" fmla="*/ 32 w 36"/>
                    <a:gd name="T55" fmla="*/ 35 h 52"/>
                    <a:gd name="T56" fmla="*/ 31 w 36"/>
                    <a:gd name="T57" fmla="*/ 35 h 52"/>
                    <a:gd name="T58" fmla="*/ 29 w 36"/>
                    <a:gd name="T59" fmla="*/ 34 h 52"/>
                    <a:gd name="T60" fmla="*/ 28 w 36"/>
                    <a:gd name="T61" fmla="*/ 32 h 52"/>
                    <a:gd name="T62" fmla="*/ 26 w 36"/>
                    <a:gd name="T63" fmla="*/ 33 h 52"/>
                    <a:gd name="T64" fmla="*/ 24 w 36"/>
                    <a:gd name="T65" fmla="*/ 35 h 52"/>
                    <a:gd name="T66" fmla="*/ 24 w 36"/>
                    <a:gd name="T67" fmla="*/ 40 h 52"/>
                    <a:gd name="T68" fmla="*/ 25 w 36"/>
                    <a:gd name="T69" fmla="*/ 43 h 52"/>
                    <a:gd name="T70" fmla="*/ 27 w 36"/>
                    <a:gd name="T71" fmla="*/ 43 h 52"/>
                    <a:gd name="T72" fmla="*/ 26 w 36"/>
                    <a:gd name="T73" fmla="*/ 46 h 52"/>
                    <a:gd name="T74" fmla="*/ 26 w 36"/>
                    <a:gd name="T75" fmla="*/ 48 h 52"/>
                    <a:gd name="T76" fmla="*/ 23 w 36"/>
                    <a:gd name="T77" fmla="*/ 50 h 52"/>
                    <a:gd name="T78" fmla="*/ 20 w 36"/>
                    <a:gd name="T79" fmla="*/ 51 h 52"/>
                    <a:gd name="T80" fmla="*/ 19 w 36"/>
                    <a:gd name="T81" fmla="*/ 49 h 52"/>
                    <a:gd name="T82" fmla="*/ 17 w 36"/>
                    <a:gd name="T83" fmla="*/ 48 h 52"/>
                    <a:gd name="T84" fmla="*/ 15 w 36"/>
                    <a:gd name="T85" fmla="*/ 46 h 52"/>
                    <a:gd name="T86" fmla="*/ 14 w 36"/>
                    <a:gd name="T87" fmla="*/ 44 h 52"/>
                    <a:gd name="T88" fmla="*/ 12 w 36"/>
                    <a:gd name="T89" fmla="*/ 43 h 52"/>
                    <a:gd name="T90" fmla="*/ 10 w 36"/>
                    <a:gd name="T91" fmla="*/ 44 h 52"/>
                    <a:gd name="T92" fmla="*/ 8 w 36"/>
                    <a:gd name="T93" fmla="*/ 46 h 52"/>
                    <a:gd name="T94" fmla="*/ 6 w 36"/>
                    <a:gd name="T95" fmla="*/ 44 h 52"/>
                    <a:gd name="T96" fmla="*/ 4 w 36"/>
                    <a:gd name="T97" fmla="*/ 41 h 52"/>
                    <a:gd name="T98" fmla="*/ 3 w 36"/>
                    <a:gd name="T99" fmla="*/ 37 h 52"/>
                    <a:gd name="T100" fmla="*/ 2 w 36"/>
                    <a:gd name="T101" fmla="*/ 34 h 52"/>
                    <a:gd name="T102" fmla="*/ 1 w 36"/>
                    <a:gd name="T103" fmla="*/ 29 h 52"/>
                    <a:gd name="T104" fmla="*/ 1 w 36"/>
                    <a:gd name="T105" fmla="*/ 22 h 52"/>
                    <a:gd name="T106" fmla="*/ 0 w 36"/>
                    <a:gd name="T107" fmla="*/ 17 h 52"/>
                    <a:gd name="T108" fmla="*/ 1 w 36"/>
                    <a:gd name="T109" fmla="*/ 14 h 52"/>
                    <a:gd name="T110" fmla="*/ 3 w 36"/>
                    <a:gd name="T111" fmla="*/ 12 h 52"/>
                    <a:gd name="T112" fmla="*/ 5 w 36"/>
                    <a:gd name="T113" fmla="*/ 8 h 5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6" h="52">
                      <a:moveTo>
                        <a:pt x="5" y="8"/>
                      </a:moveTo>
                      <a:lnTo>
                        <a:pt x="7" y="6"/>
                      </a:lnTo>
                      <a:lnTo>
                        <a:pt x="9" y="4"/>
                      </a:lnTo>
                      <a:lnTo>
                        <a:pt x="11" y="3"/>
                      </a:lnTo>
                      <a:lnTo>
                        <a:pt x="12" y="2"/>
                      </a:lnTo>
                      <a:lnTo>
                        <a:pt x="14" y="0"/>
                      </a:lnTo>
                      <a:lnTo>
                        <a:pt x="15" y="0"/>
                      </a:lnTo>
                      <a:lnTo>
                        <a:pt x="16" y="0"/>
                      </a:lnTo>
                      <a:lnTo>
                        <a:pt x="18" y="0"/>
                      </a:lnTo>
                      <a:lnTo>
                        <a:pt x="19" y="0"/>
                      </a:lnTo>
                      <a:lnTo>
                        <a:pt x="21" y="1"/>
                      </a:lnTo>
                      <a:lnTo>
                        <a:pt x="22" y="2"/>
                      </a:lnTo>
                      <a:lnTo>
                        <a:pt x="22" y="3"/>
                      </a:lnTo>
                      <a:lnTo>
                        <a:pt x="24" y="5"/>
                      </a:lnTo>
                      <a:lnTo>
                        <a:pt x="24" y="6"/>
                      </a:lnTo>
                      <a:lnTo>
                        <a:pt x="25" y="7"/>
                      </a:lnTo>
                      <a:lnTo>
                        <a:pt x="26" y="8"/>
                      </a:lnTo>
                      <a:lnTo>
                        <a:pt x="26" y="10"/>
                      </a:lnTo>
                      <a:lnTo>
                        <a:pt x="27" y="10"/>
                      </a:lnTo>
                      <a:lnTo>
                        <a:pt x="28" y="10"/>
                      </a:lnTo>
                      <a:lnTo>
                        <a:pt x="29" y="10"/>
                      </a:lnTo>
                      <a:lnTo>
                        <a:pt x="30" y="9"/>
                      </a:lnTo>
                      <a:lnTo>
                        <a:pt x="31" y="7"/>
                      </a:lnTo>
                      <a:lnTo>
                        <a:pt x="32" y="7"/>
                      </a:lnTo>
                      <a:lnTo>
                        <a:pt x="31" y="9"/>
                      </a:lnTo>
                      <a:lnTo>
                        <a:pt x="31" y="11"/>
                      </a:lnTo>
                      <a:lnTo>
                        <a:pt x="30" y="13"/>
                      </a:lnTo>
                      <a:lnTo>
                        <a:pt x="29" y="13"/>
                      </a:lnTo>
                      <a:lnTo>
                        <a:pt x="28" y="14"/>
                      </a:lnTo>
                      <a:lnTo>
                        <a:pt x="29" y="16"/>
                      </a:lnTo>
                      <a:lnTo>
                        <a:pt x="29" y="17"/>
                      </a:lnTo>
                      <a:lnTo>
                        <a:pt x="30" y="17"/>
                      </a:lnTo>
                      <a:lnTo>
                        <a:pt x="31" y="17"/>
                      </a:lnTo>
                      <a:lnTo>
                        <a:pt x="32" y="16"/>
                      </a:lnTo>
                      <a:lnTo>
                        <a:pt x="33" y="15"/>
                      </a:lnTo>
                      <a:lnTo>
                        <a:pt x="33" y="13"/>
                      </a:lnTo>
                      <a:lnTo>
                        <a:pt x="35" y="15"/>
                      </a:lnTo>
                      <a:lnTo>
                        <a:pt x="35" y="17"/>
                      </a:lnTo>
                      <a:lnTo>
                        <a:pt x="33" y="17"/>
                      </a:lnTo>
                      <a:lnTo>
                        <a:pt x="32" y="17"/>
                      </a:lnTo>
                      <a:lnTo>
                        <a:pt x="32" y="20"/>
                      </a:lnTo>
                      <a:lnTo>
                        <a:pt x="31" y="21"/>
                      </a:lnTo>
                      <a:lnTo>
                        <a:pt x="30" y="22"/>
                      </a:lnTo>
                      <a:lnTo>
                        <a:pt x="29" y="22"/>
                      </a:lnTo>
                      <a:lnTo>
                        <a:pt x="28" y="23"/>
                      </a:lnTo>
                      <a:lnTo>
                        <a:pt x="26" y="22"/>
                      </a:lnTo>
                      <a:lnTo>
                        <a:pt x="28" y="25"/>
                      </a:lnTo>
                      <a:lnTo>
                        <a:pt x="29" y="24"/>
                      </a:lnTo>
                      <a:lnTo>
                        <a:pt x="29" y="25"/>
                      </a:lnTo>
                      <a:lnTo>
                        <a:pt x="30" y="26"/>
                      </a:lnTo>
                      <a:lnTo>
                        <a:pt x="31" y="28"/>
                      </a:lnTo>
                      <a:lnTo>
                        <a:pt x="32" y="29"/>
                      </a:lnTo>
                      <a:lnTo>
                        <a:pt x="32" y="30"/>
                      </a:lnTo>
                      <a:lnTo>
                        <a:pt x="32" y="33"/>
                      </a:lnTo>
                      <a:lnTo>
                        <a:pt x="32" y="35"/>
                      </a:lnTo>
                      <a:lnTo>
                        <a:pt x="31" y="37"/>
                      </a:lnTo>
                      <a:lnTo>
                        <a:pt x="31" y="35"/>
                      </a:lnTo>
                      <a:lnTo>
                        <a:pt x="30" y="34"/>
                      </a:lnTo>
                      <a:lnTo>
                        <a:pt x="29" y="34"/>
                      </a:lnTo>
                      <a:lnTo>
                        <a:pt x="29" y="33"/>
                      </a:lnTo>
                      <a:lnTo>
                        <a:pt x="28" y="32"/>
                      </a:lnTo>
                      <a:lnTo>
                        <a:pt x="26" y="32"/>
                      </a:lnTo>
                      <a:lnTo>
                        <a:pt x="26" y="33"/>
                      </a:lnTo>
                      <a:lnTo>
                        <a:pt x="25" y="34"/>
                      </a:lnTo>
                      <a:lnTo>
                        <a:pt x="24" y="35"/>
                      </a:lnTo>
                      <a:lnTo>
                        <a:pt x="24" y="38"/>
                      </a:lnTo>
                      <a:lnTo>
                        <a:pt x="24" y="40"/>
                      </a:lnTo>
                      <a:lnTo>
                        <a:pt x="25" y="42"/>
                      </a:lnTo>
                      <a:lnTo>
                        <a:pt x="25" y="43"/>
                      </a:lnTo>
                      <a:lnTo>
                        <a:pt x="26" y="43"/>
                      </a:lnTo>
                      <a:lnTo>
                        <a:pt x="27" y="43"/>
                      </a:lnTo>
                      <a:lnTo>
                        <a:pt x="27" y="44"/>
                      </a:lnTo>
                      <a:lnTo>
                        <a:pt x="26" y="46"/>
                      </a:lnTo>
                      <a:lnTo>
                        <a:pt x="26" y="47"/>
                      </a:lnTo>
                      <a:lnTo>
                        <a:pt x="26" y="48"/>
                      </a:lnTo>
                      <a:lnTo>
                        <a:pt x="24" y="50"/>
                      </a:lnTo>
                      <a:lnTo>
                        <a:pt x="23" y="50"/>
                      </a:lnTo>
                      <a:lnTo>
                        <a:pt x="22" y="51"/>
                      </a:lnTo>
                      <a:lnTo>
                        <a:pt x="20" y="51"/>
                      </a:lnTo>
                      <a:lnTo>
                        <a:pt x="19" y="50"/>
                      </a:lnTo>
                      <a:lnTo>
                        <a:pt x="19" y="49"/>
                      </a:lnTo>
                      <a:lnTo>
                        <a:pt x="18" y="48"/>
                      </a:lnTo>
                      <a:lnTo>
                        <a:pt x="17" y="48"/>
                      </a:lnTo>
                      <a:lnTo>
                        <a:pt x="15" y="47"/>
                      </a:lnTo>
                      <a:lnTo>
                        <a:pt x="15" y="46"/>
                      </a:lnTo>
                      <a:lnTo>
                        <a:pt x="14" y="45"/>
                      </a:lnTo>
                      <a:lnTo>
                        <a:pt x="14" y="44"/>
                      </a:lnTo>
                      <a:lnTo>
                        <a:pt x="13" y="44"/>
                      </a:lnTo>
                      <a:lnTo>
                        <a:pt x="12" y="43"/>
                      </a:lnTo>
                      <a:lnTo>
                        <a:pt x="12" y="44"/>
                      </a:lnTo>
                      <a:lnTo>
                        <a:pt x="10" y="44"/>
                      </a:lnTo>
                      <a:lnTo>
                        <a:pt x="9" y="45"/>
                      </a:lnTo>
                      <a:lnTo>
                        <a:pt x="8" y="46"/>
                      </a:lnTo>
                      <a:lnTo>
                        <a:pt x="6" y="45"/>
                      </a:lnTo>
                      <a:lnTo>
                        <a:pt x="6" y="44"/>
                      </a:lnTo>
                      <a:lnTo>
                        <a:pt x="5" y="43"/>
                      </a:lnTo>
                      <a:lnTo>
                        <a:pt x="4" y="41"/>
                      </a:lnTo>
                      <a:lnTo>
                        <a:pt x="4" y="40"/>
                      </a:lnTo>
                      <a:lnTo>
                        <a:pt x="3" y="37"/>
                      </a:lnTo>
                      <a:lnTo>
                        <a:pt x="2" y="35"/>
                      </a:lnTo>
                      <a:lnTo>
                        <a:pt x="2" y="34"/>
                      </a:lnTo>
                      <a:lnTo>
                        <a:pt x="2" y="31"/>
                      </a:lnTo>
                      <a:lnTo>
                        <a:pt x="1" y="29"/>
                      </a:lnTo>
                      <a:lnTo>
                        <a:pt x="0" y="25"/>
                      </a:lnTo>
                      <a:lnTo>
                        <a:pt x="1" y="22"/>
                      </a:lnTo>
                      <a:lnTo>
                        <a:pt x="1" y="19"/>
                      </a:lnTo>
                      <a:lnTo>
                        <a:pt x="0" y="17"/>
                      </a:lnTo>
                      <a:lnTo>
                        <a:pt x="1" y="15"/>
                      </a:lnTo>
                      <a:lnTo>
                        <a:pt x="1" y="14"/>
                      </a:lnTo>
                      <a:lnTo>
                        <a:pt x="2" y="13"/>
                      </a:lnTo>
                      <a:lnTo>
                        <a:pt x="3" y="12"/>
                      </a:lnTo>
                      <a:lnTo>
                        <a:pt x="4" y="10"/>
                      </a:lnTo>
                      <a:lnTo>
                        <a:pt x="5" y="8"/>
                      </a:lnTo>
                    </a:path>
                  </a:pathLst>
                </a:custGeom>
                <a:solidFill>
                  <a:srgbClr val="FFFF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272" name="Freeform 31"/>
              <p:cNvSpPr/>
              <p:nvPr/>
            </p:nvSpPr>
            <p:spPr bwMode="auto">
              <a:xfrm>
                <a:off x="2342" y="2614"/>
                <a:ext cx="25" cy="32"/>
              </a:xfrm>
              <a:custGeom>
                <a:avLst/>
                <a:gdLst>
                  <a:gd name="T0" fmla="*/ 1 w 25"/>
                  <a:gd name="T1" fmla="*/ 17 h 32"/>
                  <a:gd name="T2" fmla="*/ 1 w 25"/>
                  <a:gd name="T3" fmla="*/ 15 h 32"/>
                  <a:gd name="T4" fmla="*/ 3 w 25"/>
                  <a:gd name="T5" fmla="*/ 13 h 32"/>
                  <a:gd name="T6" fmla="*/ 4 w 25"/>
                  <a:gd name="T7" fmla="*/ 11 h 32"/>
                  <a:gd name="T8" fmla="*/ 6 w 25"/>
                  <a:gd name="T9" fmla="*/ 9 h 32"/>
                  <a:gd name="T10" fmla="*/ 8 w 25"/>
                  <a:gd name="T11" fmla="*/ 7 h 32"/>
                  <a:gd name="T12" fmla="*/ 10 w 25"/>
                  <a:gd name="T13" fmla="*/ 7 h 32"/>
                  <a:gd name="T14" fmla="*/ 13 w 25"/>
                  <a:gd name="T15" fmla="*/ 7 h 32"/>
                  <a:gd name="T16" fmla="*/ 15 w 25"/>
                  <a:gd name="T17" fmla="*/ 5 h 32"/>
                  <a:gd name="T18" fmla="*/ 16 w 25"/>
                  <a:gd name="T19" fmla="*/ 4 h 32"/>
                  <a:gd name="T20" fmla="*/ 17 w 25"/>
                  <a:gd name="T21" fmla="*/ 3 h 32"/>
                  <a:gd name="T22" fmla="*/ 18 w 25"/>
                  <a:gd name="T23" fmla="*/ 1 h 32"/>
                  <a:gd name="T24" fmla="*/ 17 w 25"/>
                  <a:gd name="T25" fmla="*/ 3 h 32"/>
                  <a:gd name="T26" fmla="*/ 16 w 25"/>
                  <a:gd name="T27" fmla="*/ 6 h 32"/>
                  <a:gd name="T28" fmla="*/ 18 w 25"/>
                  <a:gd name="T29" fmla="*/ 4 h 32"/>
                  <a:gd name="T30" fmla="*/ 20 w 25"/>
                  <a:gd name="T31" fmla="*/ 4 h 32"/>
                  <a:gd name="T32" fmla="*/ 21 w 25"/>
                  <a:gd name="T33" fmla="*/ 1 h 32"/>
                  <a:gd name="T34" fmla="*/ 22 w 25"/>
                  <a:gd name="T35" fmla="*/ 0 h 32"/>
                  <a:gd name="T36" fmla="*/ 24 w 25"/>
                  <a:gd name="T37" fmla="*/ 2 h 32"/>
                  <a:gd name="T38" fmla="*/ 22 w 25"/>
                  <a:gd name="T39" fmla="*/ 4 h 32"/>
                  <a:gd name="T40" fmla="*/ 21 w 25"/>
                  <a:gd name="T41" fmla="*/ 7 h 32"/>
                  <a:gd name="T42" fmla="*/ 19 w 25"/>
                  <a:gd name="T43" fmla="*/ 10 h 32"/>
                  <a:gd name="T44" fmla="*/ 19 w 25"/>
                  <a:gd name="T45" fmla="*/ 10 h 32"/>
                  <a:gd name="T46" fmla="*/ 21 w 25"/>
                  <a:gd name="T47" fmla="*/ 10 h 32"/>
                  <a:gd name="T48" fmla="*/ 22 w 25"/>
                  <a:gd name="T49" fmla="*/ 14 h 32"/>
                  <a:gd name="T50" fmla="*/ 24 w 25"/>
                  <a:gd name="T51" fmla="*/ 15 h 32"/>
                  <a:gd name="T52" fmla="*/ 22 w 25"/>
                  <a:gd name="T53" fmla="*/ 15 h 32"/>
                  <a:gd name="T54" fmla="*/ 22 w 25"/>
                  <a:gd name="T55" fmla="*/ 15 h 32"/>
                  <a:gd name="T56" fmla="*/ 20 w 25"/>
                  <a:gd name="T57" fmla="*/ 14 h 32"/>
                  <a:gd name="T58" fmla="*/ 20 w 25"/>
                  <a:gd name="T59" fmla="*/ 15 h 32"/>
                  <a:gd name="T60" fmla="*/ 18 w 25"/>
                  <a:gd name="T61" fmla="*/ 15 h 32"/>
                  <a:gd name="T62" fmla="*/ 17 w 25"/>
                  <a:gd name="T63" fmla="*/ 16 h 32"/>
                  <a:gd name="T64" fmla="*/ 18 w 25"/>
                  <a:gd name="T65" fmla="*/ 17 h 32"/>
                  <a:gd name="T66" fmla="*/ 19 w 25"/>
                  <a:gd name="T67" fmla="*/ 18 h 32"/>
                  <a:gd name="T68" fmla="*/ 20 w 25"/>
                  <a:gd name="T69" fmla="*/ 16 h 32"/>
                  <a:gd name="T70" fmla="*/ 20 w 25"/>
                  <a:gd name="T71" fmla="*/ 18 h 32"/>
                  <a:gd name="T72" fmla="*/ 18 w 25"/>
                  <a:gd name="T73" fmla="*/ 20 h 32"/>
                  <a:gd name="T74" fmla="*/ 17 w 25"/>
                  <a:gd name="T75" fmla="*/ 22 h 32"/>
                  <a:gd name="T76" fmla="*/ 16 w 25"/>
                  <a:gd name="T77" fmla="*/ 23 h 32"/>
                  <a:gd name="T78" fmla="*/ 14 w 25"/>
                  <a:gd name="T79" fmla="*/ 23 h 32"/>
                  <a:gd name="T80" fmla="*/ 12 w 25"/>
                  <a:gd name="T81" fmla="*/ 23 h 32"/>
                  <a:gd name="T82" fmla="*/ 10 w 25"/>
                  <a:gd name="T83" fmla="*/ 23 h 32"/>
                  <a:gd name="T84" fmla="*/ 9 w 25"/>
                  <a:gd name="T85" fmla="*/ 24 h 32"/>
                  <a:gd name="T86" fmla="*/ 9 w 25"/>
                  <a:gd name="T87" fmla="*/ 27 h 32"/>
                  <a:gd name="T88" fmla="*/ 10 w 25"/>
                  <a:gd name="T89" fmla="*/ 26 h 32"/>
                  <a:gd name="T90" fmla="*/ 9 w 25"/>
                  <a:gd name="T91" fmla="*/ 28 h 32"/>
                  <a:gd name="T92" fmla="*/ 7 w 25"/>
                  <a:gd name="T93" fmla="*/ 30 h 32"/>
                  <a:gd name="T94" fmla="*/ 5 w 25"/>
                  <a:gd name="T95" fmla="*/ 31 h 32"/>
                  <a:gd name="T96" fmla="*/ 3 w 25"/>
                  <a:gd name="T97" fmla="*/ 31 h 32"/>
                  <a:gd name="T98" fmla="*/ 3 w 25"/>
                  <a:gd name="T99" fmla="*/ 29 h 32"/>
                  <a:gd name="T100" fmla="*/ 1 w 25"/>
                  <a:gd name="T101" fmla="*/ 29 h 32"/>
                  <a:gd name="T102" fmla="*/ 1 w 25"/>
                  <a:gd name="T103" fmla="*/ 27 h 32"/>
                  <a:gd name="T104" fmla="*/ 1 w 25"/>
                  <a:gd name="T105" fmla="*/ 25 h 32"/>
                  <a:gd name="T106" fmla="*/ 0 w 25"/>
                  <a:gd name="T107" fmla="*/ 20 h 32"/>
                  <a:gd name="T108" fmla="*/ 0 w 25"/>
                  <a:gd name="T109" fmla="*/ 17 h 3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5" h="32">
                    <a:moveTo>
                      <a:pt x="0" y="17"/>
                    </a:moveTo>
                    <a:lnTo>
                      <a:pt x="1" y="17"/>
                    </a:lnTo>
                    <a:lnTo>
                      <a:pt x="1" y="16"/>
                    </a:lnTo>
                    <a:lnTo>
                      <a:pt x="1" y="15"/>
                    </a:lnTo>
                    <a:lnTo>
                      <a:pt x="2" y="14"/>
                    </a:lnTo>
                    <a:lnTo>
                      <a:pt x="3" y="13"/>
                    </a:lnTo>
                    <a:lnTo>
                      <a:pt x="3" y="11"/>
                    </a:lnTo>
                    <a:lnTo>
                      <a:pt x="4" y="11"/>
                    </a:lnTo>
                    <a:lnTo>
                      <a:pt x="6" y="10"/>
                    </a:lnTo>
                    <a:lnTo>
                      <a:pt x="6" y="9"/>
                    </a:lnTo>
                    <a:lnTo>
                      <a:pt x="8" y="8"/>
                    </a:lnTo>
                    <a:lnTo>
                      <a:pt x="8" y="7"/>
                    </a:lnTo>
                    <a:lnTo>
                      <a:pt x="9" y="7"/>
                    </a:lnTo>
                    <a:lnTo>
                      <a:pt x="10" y="7"/>
                    </a:lnTo>
                    <a:lnTo>
                      <a:pt x="12" y="7"/>
                    </a:lnTo>
                    <a:lnTo>
                      <a:pt x="13" y="7"/>
                    </a:lnTo>
                    <a:lnTo>
                      <a:pt x="14" y="6"/>
                    </a:lnTo>
                    <a:lnTo>
                      <a:pt x="15" y="5"/>
                    </a:lnTo>
                    <a:lnTo>
                      <a:pt x="15" y="4"/>
                    </a:lnTo>
                    <a:lnTo>
                      <a:pt x="16" y="4"/>
                    </a:lnTo>
                    <a:lnTo>
                      <a:pt x="16" y="3"/>
                    </a:lnTo>
                    <a:lnTo>
                      <a:pt x="17" y="3"/>
                    </a:lnTo>
                    <a:lnTo>
                      <a:pt x="17" y="2"/>
                    </a:lnTo>
                    <a:lnTo>
                      <a:pt x="18" y="1"/>
                    </a:lnTo>
                    <a:lnTo>
                      <a:pt x="17" y="2"/>
                    </a:lnTo>
                    <a:lnTo>
                      <a:pt x="17" y="3"/>
                    </a:lnTo>
                    <a:lnTo>
                      <a:pt x="17" y="4"/>
                    </a:lnTo>
                    <a:lnTo>
                      <a:pt x="16" y="6"/>
                    </a:lnTo>
                    <a:lnTo>
                      <a:pt x="17" y="5"/>
                    </a:lnTo>
                    <a:lnTo>
                      <a:pt x="18" y="4"/>
                    </a:lnTo>
                    <a:lnTo>
                      <a:pt x="19" y="4"/>
                    </a:lnTo>
                    <a:lnTo>
                      <a:pt x="20" y="4"/>
                    </a:lnTo>
                    <a:lnTo>
                      <a:pt x="20" y="2"/>
                    </a:lnTo>
                    <a:lnTo>
                      <a:pt x="21" y="1"/>
                    </a:lnTo>
                    <a:lnTo>
                      <a:pt x="22" y="0"/>
                    </a:lnTo>
                    <a:lnTo>
                      <a:pt x="22" y="1"/>
                    </a:lnTo>
                    <a:lnTo>
                      <a:pt x="24" y="2"/>
                    </a:lnTo>
                    <a:lnTo>
                      <a:pt x="22" y="3"/>
                    </a:lnTo>
                    <a:lnTo>
                      <a:pt x="22" y="4"/>
                    </a:lnTo>
                    <a:lnTo>
                      <a:pt x="22" y="6"/>
                    </a:lnTo>
                    <a:lnTo>
                      <a:pt x="21" y="7"/>
                    </a:lnTo>
                    <a:lnTo>
                      <a:pt x="20" y="9"/>
                    </a:lnTo>
                    <a:lnTo>
                      <a:pt x="19" y="10"/>
                    </a:lnTo>
                    <a:lnTo>
                      <a:pt x="18" y="10"/>
                    </a:lnTo>
                    <a:lnTo>
                      <a:pt x="19" y="10"/>
                    </a:lnTo>
                    <a:lnTo>
                      <a:pt x="20" y="10"/>
                    </a:lnTo>
                    <a:lnTo>
                      <a:pt x="21" y="10"/>
                    </a:lnTo>
                    <a:lnTo>
                      <a:pt x="22" y="11"/>
                    </a:lnTo>
                    <a:lnTo>
                      <a:pt x="22" y="14"/>
                    </a:lnTo>
                    <a:lnTo>
                      <a:pt x="24" y="14"/>
                    </a:lnTo>
                    <a:lnTo>
                      <a:pt x="24" y="15"/>
                    </a:lnTo>
                    <a:lnTo>
                      <a:pt x="22" y="15"/>
                    </a:lnTo>
                    <a:lnTo>
                      <a:pt x="21" y="15"/>
                    </a:lnTo>
                    <a:lnTo>
                      <a:pt x="20" y="14"/>
                    </a:lnTo>
                    <a:lnTo>
                      <a:pt x="20" y="15"/>
                    </a:lnTo>
                    <a:lnTo>
                      <a:pt x="19" y="15"/>
                    </a:lnTo>
                    <a:lnTo>
                      <a:pt x="18" y="15"/>
                    </a:lnTo>
                    <a:lnTo>
                      <a:pt x="18" y="16"/>
                    </a:lnTo>
                    <a:lnTo>
                      <a:pt x="17" y="16"/>
                    </a:lnTo>
                    <a:lnTo>
                      <a:pt x="18" y="16"/>
                    </a:lnTo>
                    <a:lnTo>
                      <a:pt x="18" y="17"/>
                    </a:lnTo>
                    <a:lnTo>
                      <a:pt x="18" y="18"/>
                    </a:lnTo>
                    <a:lnTo>
                      <a:pt x="19" y="18"/>
                    </a:lnTo>
                    <a:lnTo>
                      <a:pt x="20" y="17"/>
                    </a:lnTo>
                    <a:lnTo>
                      <a:pt x="20" y="16"/>
                    </a:lnTo>
                    <a:lnTo>
                      <a:pt x="20" y="17"/>
                    </a:lnTo>
                    <a:lnTo>
                      <a:pt x="20" y="18"/>
                    </a:lnTo>
                    <a:lnTo>
                      <a:pt x="19" y="19"/>
                    </a:lnTo>
                    <a:lnTo>
                      <a:pt x="18" y="20"/>
                    </a:lnTo>
                    <a:lnTo>
                      <a:pt x="18" y="22"/>
                    </a:lnTo>
                    <a:lnTo>
                      <a:pt x="17" y="22"/>
                    </a:lnTo>
                    <a:lnTo>
                      <a:pt x="17" y="23"/>
                    </a:lnTo>
                    <a:lnTo>
                      <a:pt x="16" y="23"/>
                    </a:lnTo>
                    <a:lnTo>
                      <a:pt x="15" y="23"/>
                    </a:lnTo>
                    <a:lnTo>
                      <a:pt x="14" y="23"/>
                    </a:lnTo>
                    <a:lnTo>
                      <a:pt x="13" y="23"/>
                    </a:lnTo>
                    <a:lnTo>
                      <a:pt x="12" y="23"/>
                    </a:lnTo>
                    <a:lnTo>
                      <a:pt x="11" y="23"/>
                    </a:lnTo>
                    <a:lnTo>
                      <a:pt x="10" y="23"/>
                    </a:lnTo>
                    <a:lnTo>
                      <a:pt x="10" y="24"/>
                    </a:lnTo>
                    <a:lnTo>
                      <a:pt x="9" y="24"/>
                    </a:lnTo>
                    <a:lnTo>
                      <a:pt x="9" y="26"/>
                    </a:lnTo>
                    <a:lnTo>
                      <a:pt x="9" y="27"/>
                    </a:lnTo>
                    <a:lnTo>
                      <a:pt x="10" y="27"/>
                    </a:lnTo>
                    <a:lnTo>
                      <a:pt x="10" y="26"/>
                    </a:lnTo>
                    <a:lnTo>
                      <a:pt x="10" y="27"/>
                    </a:lnTo>
                    <a:lnTo>
                      <a:pt x="9" y="28"/>
                    </a:lnTo>
                    <a:lnTo>
                      <a:pt x="8" y="29"/>
                    </a:lnTo>
                    <a:lnTo>
                      <a:pt x="7" y="30"/>
                    </a:lnTo>
                    <a:lnTo>
                      <a:pt x="6" y="31"/>
                    </a:lnTo>
                    <a:lnTo>
                      <a:pt x="5" y="31"/>
                    </a:lnTo>
                    <a:lnTo>
                      <a:pt x="4" y="31"/>
                    </a:lnTo>
                    <a:lnTo>
                      <a:pt x="3" y="31"/>
                    </a:lnTo>
                    <a:lnTo>
                      <a:pt x="3" y="30"/>
                    </a:lnTo>
                    <a:lnTo>
                      <a:pt x="3" y="29"/>
                    </a:lnTo>
                    <a:lnTo>
                      <a:pt x="1" y="30"/>
                    </a:lnTo>
                    <a:lnTo>
                      <a:pt x="1" y="29"/>
                    </a:lnTo>
                    <a:lnTo>
                      <a:pt x="1" y="28"/>
                    </a:lnTo>
                    <a:lnTo>
                      <a:pt x="1" y="27"/>
                    </a:lnTo>
                    <a:lnTo>
                      <a:pt x="1" y="26"/>
                    </a:lnTo>
                    <a:lnTo>
                      <a:pt x="1" y="25"/>
                    </a:lnTo>
                    <a:lnTo>
                      <a:pt x="1" y="23"/>
                    </a:lnTo>
                    <a:lnTo>
                      <a:pt x="0" y="20"/>
                    </a:lnTo>
                    <a:lnTo>
                      <a:pt x="0" y="19"/>
                    </a:lnTo>
                    <a:lnTo>
                      <a:pt x="0" y="17"/>
                    </a:lnTo>
                  </a:path>
                </a:pathLst>
              </a:custGeom>
              <a:solidFill>
                <a:srgbClr val="FFFF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73" name="Freeform 32"/>
              <p:cNvSpPr/>
              <p:nvPr/>
            </p:nvSpPr>
            <p:spPr bwMode="auto">
              <a:xfrm>
                <a:off x="2343" y="2743"/>
                <a:ext cx="44" cy="69"/>
              </a:xfrm>
              <a:custGeom>
                <a:avLst/>
                <a:gdLst>
                  <a:gd name="T0" fmla="*/ 2 w 44"/>
                  <a:gd name="T1" fmla="*/ 8 h 69"/>
                  <a:gd name="T2" fmla="*/ 8 w 44"/>
                  <a:gd name="T3" fmla="*/ 4 h 69"/>
                  <a:gd name="T4" fmla="*/ 11 w 44"/>
                  <a:gd name="T5" fmla="*/ 4 h 69"/>
                  <a:gd name="T6" fmla="*/ 14 w 44"/>
                  <a:gd name="T7" fmla="*/ 6 h 69"/>
                  <a:gd name="T8" fmla="*/ 18 w 44"/>
                  <a:gd name="T9" fmla="*/ 3 h 69"/>
                  <a:gd name="T10" fmla="*/ 23 w 44"/>
                  <a:gd name="T11" fmla="*/ 1 h 69"/>
                  <a:gd name="T12" fmla="*/ 23 w 44"/>
                  <a:gd name="T13" fmla="*/ 3 h 69"/>
                  <a:gd name="T14" fmla="*/ 19 w 44"/>
                  <a:gd name="T15" fmla="*/ 10 h 69"/>
                  <a:gd name="T16" fmla="*/ 31 w 44"/>
                  <a:gd name="T17" fmla="*/ 3 h 69"/>
                  <a:gd name="T18" fmla="*/ 35 w 44"/>
                  <a:gd name="T19" fmla="*/ 1 h 69"/>
                  <a:gd name="T20" fmla="*/ 34 w 44"/>
                  <a:gd name="T21" fmla="*/ 7 h 69"/>
                  <a:gd name="T22" fmla="*/ 34 w 44"/>
                  <a:gd name="T23" fmla="*/ 8 h 69"/>
                  <a:gd name="T24" fmla="*/ 36 w 44"/>
                  <a:gd name="T25" fmla="*/ 8 h 69"/>
                  <a:gd name="T26" fmla="*/ 40 w 44"/>
                  <a:gd name="T27" fmla="*/ 11 h 69"/>
                  <a:gd name="T28" fmla="*/ 37 w 44"/>
                  <a:gd name="T29" fmla="*/ 15 h 69"/>
                  <a:gd name="T30" fmla="*/ 35 w 44"/>
                  <a:gd name="T31" fmla="*/ 16 h 69"/>
                  <a:gd name="T32" fmla="*/ 33 w 44"/>
                  <a:gd name="T33" fmla="*/ 21 h 69"/>
                  <a:gd name="T34" fmla="*/ 34 w 44"/>
                  <a:gd name="T35" fmla="*/ 23 h 69"/>
                  <a:gd name="T36" fmla="*/ 35 w 44"/>
                  <a:gd name="T37" fmla="*/ 29 h 69"/>
                  <a:gd name="T38" fmla="*/ 38 w 44"/>
                  <a:gd name="T39" fmla="*/ 30 h 69"/>
                  <a:gd name="T40" fmla="*/ 40 w 44"/>
                  <a:gd name="T41" fmla="*/ 31 h 69"/>
                  <a:gd name="T42" fmla="*/ 43 w 44"/>
                  <a:gd name="T43" fmla="*/ 33 h 69"/>
                  <a:gd name="T44" fmla="*/ 38 w 44"/>
                  <a:gd name="T45" fmla="*/ 34 h 69"/>
                  <a:gd name="T46" fmla="*/ 34 w 44"/>
                  <a:gd name="T47" fmla="*/ 35 h 69"/>
                  <a:gd name="T48" fmla="*/ 29 w 44"/>
                  <a:gd name="T49" fmla="*/ 34 h 69"/>
                  <a:gd name="T50" fmla="*/ 27 w 44"/>
                  <a:gd name="T51" fmla="*/ 30 h 69"/>
                  <a:gd name="T52" fmla="*/ 27 w 44"/>
                  <a:gd name="T53" fmla="*/ 31 h 69"/>
                  <a:gd name="T54" fmla="*/ 29 w 44"/>
                  <a:gd name="T55" fmla="*/ 37 h 69"/>
                  <a:gd name="T56" fmla="*/ 31 w 44"/>
                  <a:gd name="T57" fmla="*/ 42 h 69"/>
                  <a:gd name="T58" fmla="*/ 29 w 44"/>
                  <a:gd name="T59" fmla="*/ 45 h 69"/>
                  <a:gd name="T60" fmla="*/ 25 w 44"/>
                  <a:gd name="T61" fmla="*/ 44 h 69"/>
                  <a:gd name="T62" fmla="*/ 23 w 44"/>
                  <a:gd name="T63" fmla="*/ 43 h 69"/>
                  <a:gd name="T64" fmla="*/ 20 w 44"/>
                  <a:gd name="T65" fmla="*/ 43 h 69"/>
                  <a:gd name="T66" fmla="*/ 19 w 44"/>
                  <a:gd name="T67" fmla="*/ 47 h 69"/>
                  <a:gd name="T68" fmla="*/ 20 w 44"/>
                  <a:gd name="T69" fmla="*/ 51 h 69"/>
                  <a:gd name="T70" fmla="*/ 24 w 44"/>
                  <a:gd name="T71" fmla="*/ 51 h 69"/>
                  <a:gd name="T72" fmla="*/ 28 w 44"/>
                  <a:gd name="T73" fmla="*/ 52 h 69"/>
                  <a:gd name="T74" fmla="*/ 24 w 44"/>
                  <a:gd name="T75" fmla="*/ 56 h 69"/>
                  <a:gd name="T76" fmla="*/ 19 w 44"/>
                  <a:gd name="T77" fmla="*/ 56 h 69"/>
                  <a:gd name="T78" fmla="*/ 14 w 44"/>
                  <a:gd name="T79" fmla="*/ 58 h 69"/>
                  <a:gd name="T80" fmla="*/ 14 w 44"/>
                  <a:gd name="T81" fmla="*/ 63 h 69"/>
                  <a:gd name="T82" fmla="*/ 17 w 44"/>
                  <a:gd name="T83" fmla="*/ 64 h 69"/>
                  <a:gd name="T84" fmla="*/ 18 w 44"/>
                  <a:gd name="T85" fmla="*/ 66 h 69"/>
                  <a:gd name="T86" fmla="*/ 14 w 44"/>
                  <a:gd name="T87" fmla="*/ 68 h 69"/>
                  <a:gd name="T88" fmla="*/ 10 w 44"/>
                  <a:gd name="T89" fmla="*/ 65 h 69"/>
                  <a:gd name="T90" fmla="*/ 6 w 44"/>
                  <a:gd name="T91" fmla="*/ 62 h 69"/>
                  <a:gd name="T92" fmla="*/ 2 w 44"/>
                  <a:gd name="T93" fmla="*/ 63 h 69"/>
                  <a:gd name="T94" fmla="*/ 0 w 44"/>
                  <a:gd name="T95" fmla="*/ 58 h 69"/>
                  <a:gd name="T96" fmla="*/ 0 w 44"/>
                  <a:gd name="T97" fmla="*/ 53 h 69"/>
                  <a:gd name="T98" fmla="*/ 1 w 44"/>
                  <a:gd name="T99" fmla="*/ 46 h 69"/>
                  <a:gd name="T100" fmla="*/ 2 w 44"/>
                  <a:gd name="T101" fmla="*/ 43 h 69"/>
                  <a:gd name="T102" fmla="*/ 2 w 44"/>
                  <a:gd name="T103" fmla="*/ 37 h 69"/>
                  <a:gd name="T104" fmla="*/ 2 w 44"/>
                  <a:gd name="T105" fmla="*/ 32 h 69"/>
                  <a:gd name="T106" fmla="*/ 2 w 44"/>
                  <a:gd name="T107" fmla="*/ 25 h 69"/>
                  <a:gd name="T108" fmla="*/ 1 w 44"/>
                  <a:gd name="T109" fmla="*/ 18 h 69"/>
                  <a:gd name="T110" fmla="*/ 2 w 44"/>
                  <a:gd name="T111" fmla="*/ 10 h 6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4" h="69">
                    <a:moveTo>
                      <a:pt x="2" y="10"/>
                    </a:moveTo>
                    <a:lnTo>
                      <a:pt x="2" y="8"/>
                    </a:lnTo>
                    <a:lnTo>
                      <a:pt x="6" y="6"/>
                    </a:lnTo>
                    <a:lnTo>
                      <a:pt x="8" y="4"/>
                    </a:lnTo>
                    <a:lnTo>
                      <a:pt x="10" y="3"/>
                    </a:lnTo>
                    <a:lnTo>
                      <a:pt x="11" y="4"/>
                    </a:lnTo>
                    <a:lnTo>
                      <a:pt x="13" y="7"/>
                    </a:lnTo>
                    <a:lnTo>
                      <a:pt x="14" y="6"/>
                    </a:lnTo>
                    <a:lnTo>
                      <a:pt x="17" y="4"/>
                    </a:lnTo>
                    <a:lnTo>
                      <a:pt x="18" y="3"/>
                    </a:lnTo>
                    <a:lnTo>
                      <a:pt x="19" y="2"/>
                    </a:lnTo>
                    <a:lnTo>
                      <a:pt x="23" y="1"/>
                    </a:lnTo>
                    <a:lnTo>
                      <a:pt x="24" y="1"/>
                    </a:lnTo>
                    <a:lnTo>
                      <a:pt x="23" y="3"/>
                    </a:lnTo>
                    <a:lnTo>
                      <a:pt x="19" y="9"/>
                    </a:lnTo>
                    <a:lnTo>
                      <a:pt x="19" y="10"/>
                    </a:lnTo>
                    <a:lnTo>
                      <a:pt x="26" y="7"/>
                    </a:lnTo>
                    <a:lnTo>
                      <a:pt x="31" y="3"/>
                    </a:lnTo>
                    <a:lnTo>
                      <a:pt x="35" y="0"/>
                    </a:lnTo>
                    <a:lnTo>
                      <a:pt x="35" y="1"/>
                    </a:lnTo>
                    <a:lnTo>
                      <a:pt x="34" y="3"/>
                    </a:lnTo>
                    <a:lnTo>
                      <a:pt x="34" y="7"/>
                    </a:lnTo>
                    <a:lnTo>
                      <a:pt x="32" y="9"/>
                    </a:lnTo>
                    <a:lnTo>
                      <a:pt x="34" y="8"/>
                    </a:lnTo>
                    <a:lnTo>
                      <a:pt x="35" y="8"/>
                    </a:lnTo>
                    <a:lnTo>
                      <a:pt x="36" y="8"/>
                    </a:lnTo>
                    <a:lnTo>
                      <a:pt x="38" y="9"/>
                    </a:lnTo>
                    <a:lnTo>
                      <a:pt x="40" y="11"/>
                    </a:lnTo>
                    <a:lnTo>
                      <a:pt x="38" y="12"/>
                    </a:lnTo>
                    <a:lnTo>
                      <a:pt x="37" y="15"/>
                    </a:lnTo>
                    <a:lnTo>
                      <a:pt x="36" y="15"/>
                    </a:lnTo>
                    <a:lnTo>
                      <a:pt x="35" y="16"/>
                    </a:lnTo>
                    <a:lnTo>
                      <a:pt x="34" y="18"/>
                    </a:lnTo>
                    <a:lnTo>
                      <a:pt x="33" y="21"/>
                    </a:lnTo>
                    <a:lnTo>
                      <a:pt x="32" y="22"/>
                    </a:lnTo>
                    <a:lnTo>
                      <a:pt x="34" y="23"/>
                    </a:lnTo>
                    <a:lnTo>
                      <a:pt x="34" y="26"/>
                    </a:lnTo>
                    <a:lnTo>
                      <a:pt x="35" y="29"/>
                    </a:lnTo>
                    <a:lnTo>
                      <a:pt x="36" y="30"/>
                    </a:lnTo>
                    <a:lnTo>
                      <a:pt x="38" y="30"/>
                    </a:lnTo>
                    <a:lnTo>
                      <a:pt x="39" y="30"/>
                    </a:lnTo>
                    <a:lnTo>
                      <a:pt x="40" y="31"/>
                    </a:lnTo>
                    <a:lnTo>
                      <a:pt x="41" y="31"/>
                    </a:lnTo>
                    <a:lnTo>
                      <a:pt x="43" y="33"/>
                    </a:lnTo>
                    <a:lnTo>
                      <a:pt x="40" y="33"/>
                    </a:lnTo>
                    <a:lnTo>
                      <a:pt x="38" y="34"/>
                    </a:lnTo>
                    <a:lnTo>
                      <a:pt x="36" y="35"/>
                    </a:lnTo>
                    <a:lnTo>
                      <a:pt x="34" y="35"/>
                    </a:lnTo>
                    <a:lnTo>
                      <a:pt x="32" y="34"/>
                    </a:lnTo>
                    <a:lnTo>
                      <a:pt x="29" y="34"/>
                    </a:lnTo>
                    <a:lnTo>
                      <a:pt x="28" y="30"/>
                    </a:lnTo>
                    <a:lnTo>
                      <a:pt x="27" y="30"/>
                    </a:lnTo>
                    <a:lnTo>
                      <a:pt x="25" y="28"/>
                    </a:lnTo>
                    <a:lnTo>
                      <a:pt x="27" y="31"/>
                    </a:lnTo>
                    <a:lnTo>
                      <a:pt x="28" y="36"/>
                    </a:lnTo>
                    <a:lnTo>
                      <a:pt x="29" y="37"/>
                    </a:lnTo>
                    <a:lnTo>
                      <a:pt x="30" y="39"/>
                    </a:lnTo>
                    <a:lnTo>
                      <a:pt x="31" y="42"/>
                    </a:lnTo>
                    <a:lnTo>
                      <a:pt x="32" y="45"/>
                    </a:lnTo>
                    <a:lnTo>
                      <a:pt x="29" y="45"/>
                    </a:lnTo>
                    <a:lnTo>
                      <a:pt x="28" y="45"/>
                    </a:lnTo>
                    <a:lnTo>
                      <a:pt x="25" y="44"/>
                    </a:lnTo>
                    <a:lnTo>
                      <a:pt x="24" y="44"/>
                    </a:lnTo>
                    <a:lnTo>
                      <a:pt x="23" y="43"/>
                    </a:lnTo>
                    <a:lnTo>
                      <a:pt x="23" y="41"/>
                    </a:lnTo>
                    <a:lnTo>
                      <a:pt x="20" y="43"/>
                    </a:lnTo>
                    <a:lnTo>
                      <a:pt x="19" y="45"/>
                    </a:lnTo>
                    <a:lnTo>
                      <a:pt x="19" y="47"/>
                    </a:lnTo>
                    <a:lnTo>
                      <a:pt x="20" y="50"/>
                    </a:lnTo>
                    <a:lnTo>
                      <a:pt x="20" y="51"/>
                    </a:lnTo>
                    <a:lnTo>
                      <a:pt x="23" y="52"/>
                    </a:lnTo>
                    <a:lnTo>
                      <a:pt x="24" y="51"/>
                    </a:lnTo>
                    <a:lnTo>
                      <a:pt x="26" y="51"/>
                    </a:lnTo>
                    <a:lnTo>
                      <a:pt x="28" y="52"/>
                    </a:lnTo>
                    <a:lnTo>
                      <a:pt x="26" y="53"/>
                    </a:lnTo>
                    <a:lnTo>
                      <a:pt x="24" y="56"/>
                    </a:lnTo>
                    <a:lnTo>
                      <a:pt x="22" y="56"/>
                    </a:lnTo>
                    <a:lnTo>
                      <a:pt x="19" y="56"/>
                    </a:lnTo>
                    <a:lnTo>
                      <a:pt x="16" y="57"/>
                    </a:lnTo>
                    <a:lnTo>
                      <a:pt x="14" y="58"/>
                    </a:lnTo>
                    <a:lnTo>
                      <a:pt x="14" y="60"/>
                    </a:lnTo>
                    <a:lnTo>
                      <a:pt x="14" y="63"/>
                    </a:lnTo>
                    <a:lnTo>
                      <a:pt x="15" y="64"/>
                    </a:lnTo>
                    <a:lnTo>
                      <a:pt x="17" y="64"/>
                    </a:lnTo>
                    <a:lnTo>
                      <a:pt x="19" y="65"/>
                    </a:lnTo>
                    <a:lnTo>
                      <a:pt x="18" y="66"/>
                    </a:lnTo>
                    <a:lnTo>
                      <a:pt x="16" y="68"/>
                    </a:lnTo>
                    <a:lnTo>
                      <a:pt x="14" y="68"/>
                    </a:lnTo>
                    <a:lnTo>
                      <a:pt x="12" y="66"/>
                    </a:lnTo>
                    <a:lnTo>
                      <a:pt x="10" y="65"/>
                    </a:lnTo>
                    <a:lnTo>
                      <a:pt x="7" y="64"/>
                    </a:lnTo>
                    <a:lnTo>
                      <a:pt x="6" y="62"/>
                    </a:lnTo>
                    <a:lnTo>
                      <a:pt x="5" y="63"/>
                    </a:lnTo>
                    <a:lnTo>
                      <a:pt x="2" y="63"/>
                    </a:lnTo>
                    <a:lnTo>
                      <a:pt x="1" y="61"/>
                    </a:lnTo>
                    <a:lnTo>
                      <a:pt x="0" y="58"/>
                    </a:lnTo>
                    <a:lnTo>
                      <a:pt x="0" y="56"/>
                    </a:lnTo>
                    <a:lnTo>
                      <a:pt x="0" y="53"/>
                    </a:lnTo>
                    <a:lnTo>
                      <a:pt x="1" y="50"/>
                    </a:lnTo>
                    <a:lnTo>
                      <a:pt x="1" y="46"/>
                    </a:lnTo>
                    <a:lnTo>
                      <a:pt x="2" y="45"/>
                    </a:lnTo>
                    <a:lnTo>
                      <a:pt x="2" y="43"/>
                    </a:lnTo>
                    <a:lnTo>
                      <a:pt x="2" y="41"/>
                    </a:lnTo>
                    <a:lnTo>
                      <a:pt x="2" y="37"/>
                    </a:lnTo>
                    <a:lnTo>
                      <a:pt x="2" y="34"/>
                    </a:lnTo>
                    <a:lnTo>
                      <a:pt x="2" y="32"/>
                    </a:lnTo>
                    <a:lnTo>
                      <a:pt x="3" y="29"/>
                    </a:lnTo>
                    <a:lnTo>
                      <a:pt x="2" y="25"/>
                    </a:lnTo>
                    <a:lnTo>
                      <a:pt x="1" y="22"/>
                    </a:lnTo>
                    <a:lnTo>
                      <a:pt x="1" y="18"/>
                    </a:lnTo>
                    <a:lnTo>
                      <a:pt x="1" y="13"/>
                    </a:lnTo>
                    <a:lnTo>
                      <a:pt x="2" y="10"/>
                    </a:lnTo>
                  </a:path>
                </a:pathLst>
              </a:custGeom>
              <a:solidFill>
                <a:srgbClr val="FF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150" name="Group 33"/>
            <p:cNvGrpSpPr/>
            <p:nvPr/>
          </p:nvGrpSpPr>
          <p:grpSpPr bwMode="auto">
            <a:xfrm>
              <a:off x="2132" y="2507"/>
              <a:ext cx="224" cy="629"/>
              <a:chOff x="2132" y="2507"/>
              <a:chExt cx="224" cy="629"/>
            </a:xfrm>
          </p:grpSpPr>
          <p:grpSp>
            <p:nvGrpSpPr>
              <p:cNvPr id="47151" name="Group 34"/>
              <p:cNvGrpSpPr/>
              <p:nvPr/>
            </p:nvGrpSpPr>
            <p:grpSpPr bwMode="auto">
              <a:xfrm>
                <a:off x="2135" y="2542"/>
                <a:ext cx="221" cy="594"/>
                <a:chOff x="2135" y="2542"/>
                <a:chExt cx="221" cy="594"/>
              </a:xfrm>
            </p:grpSpPr>
            <p:sp>
              <p:nvSpPr>
                <p:cNvPr id="47156" name="Freeform 35"/>
                <p:cNvSpPr/>
                <p:nvPr/>
              </p:nvSpPr>
              <p:spPr bwMode="auto">
                <a:xfrm>
                  <a:off x="2271" y="2608"/>
                  <a:ext cx="79" cy="528"/>
                </a:xfrm>
                <a:custGeom>
                  <a:avLst/>
                  <a:gdLst>
                    <a:gd name="T0" fmla="*/ 0 w 79"/>
                    <a:gd name="T1" fmla="*/ 0 h 528"/>
                    <a:gd name="T2" fmla="*/ 78 w 79"/>
                    <a:gd name="T3" fmla="*/ 0 h 528"/>
                    <a:gd name="T4" fmla="*/ 78 w 79"/>
                    <a:gd name="T5" fmla="*/ 527 h 528"/>
                    <a:gd name="T6" fmla="*/ 0 w 79"/>
                    <a:gd name="T7" fmla="*/ 527 h 528"/>
                    <a:gd name="T8" fmla="*/ 0 w 79"/>
                    <a:gd name="T9" fmla="*/ 0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528">
                      <a:moveTo>
                        <a:pt x="0" y="0"/>
                      </a:moveTo>
                      <a:lnTo>
                        <a:pt x="78" y="0"/>
                      </a:lnTo>
                      <a:lnTo>
                        <a:pt x="78" y="527"/>
                      </a:lnTo>
                      <a:lnTo>
                        <a:pt x="0" y="527"/>
                      </a:lnTo>
                      <a:lnTo>
                        <a:pt x="0" y="0"/>
                      </a:lnTo>
                    </a:path>
                  </a:pathLst>
                </a:custGeom>
                <a:solidFill>
                  <a:srgbClr val="E0E0E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57" name="Freeform 36"/>
                <p:cNvSpPr/>
                <p:nvPr/>
              </p:nvSpPr>
              <p:spPr bwMode="auto">
                <a:xfrm>
                  <a:off x="2137" y="2542"/>
                  <a:ext cx="132" cy="594"/>
                </a:xfrm>
                <a:custGeom>
                  <a:avLst/>
                  <a:gdLst>
                    <a:gd name="T0" fmla="*/ 0 w 132"/>
                    <a:gd name="T1" fmla="*/ 451 h 594"/>
                    <a:gd name="T2" fmla="*/ 131 w 132"/>
                    <a:gd name="T3" fmla="*/ 593 h 594"/>
                    <a:gd name="T4" fmla="*/ 131 w 132"/>
                    <a:gd name="T5" fmla="*/ 70 h 594"/>
                    <a:gd name="T6" fmla="*/ 111 w 132"/>
                    <a:gd name="T7" fmla="*/ 45 h 594"/>
                    <a:gd name="T8" fmla="*/ 0 w 132"/>
                    <a:gd name="T9" fmla="*/ 0 h 594"/>
                    <a:gd name="T10" fmla="*/ 0 w 132"/>
                    <a:gd name="T11" fmla="*/ 451 h 5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2" h="594">
                      <a:moveTo>
                        <a:pt x="0" y="451"/>
                      </a:moveTo>
                      <a:lnTo>
                        <a:pt x="131" y="593"/>
                      </a:lnTo>
                      <a:lnTo>
                        <a:pt x="131" y="70"/>
                      </a:lnTo>
                      <a:lnTo>
                        <a:pt x="111" y="45"/>
                      </a:lnTo>
                      <a:lnTo>
                        <a:pt x="0" y="0"/>
                      </a:lnTo>
                      <a:lnTo>
                        <a:pt x="0" y="451"/>
                      </a:lnTo>
                    </a:path>
                  </a:pathLst>
                </a:custGeom>
                <a:solidFill>
                  <a:srgbClr val="60606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58" name="Freeform 37"/>
                <p:cNvSpPr/>
                <p:nvPr/>
              </p:nvSpPr>
              <p:spPr bwMode="auto">
                <a:xfrm>
                  <a:off x="2269" y="2608"/>
                  <a:ext cx="80" cy="58"/>
                </a:xfrm>
                <a:custGeom>
                  <a:avLst/>
                  <a:gdLst>
                    <a:gd name="T0" fmla="*/ 0 w 80"/>
                    <a:gd name="T1" fmla="*/ 0 h 58"/>
                    <a:gd name="T2" fmla="*/ 79 w 80"/>
                    <a:gd name="T3" fmla="*/ 0 h 58"/>
                    <a:gd name="T4" fmla="*/ 79 w 80"/>
                    <a:gd name="T5" fmla="*/ 57 h 58"/>
                    <a:gd name="T6" fmla="*/ 0 w 80"/>
                    <a:gd name="T7" fmla="*/ 27 h 58"/>
                    <a:gd name="T8" fmla="*/ 0 w 80"/>
                    <a:gd name="T9" fmla="*/ 0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58">
                      <a:moveTo>
                        <a:pt x="0" y="0"/>
                      </a:moveTo>
                      <a:lnTo>
                        <a:pt x="79" y="0"/>
                      </a:lnTo>
                      <a:lnTo>
                        <a:pt x="79" y="57"/>
                      </a:lnTo>
                      <a:lnTo>
                        <a:pt x="0" y="27"/>
                      </a:lnTo>
                      <a:lnTo>
                        <a:pt x="0" y="0"/>
                      </a:lnTo>
                    </a:path>
                  </a:pathLst>
                </a:custGeom>
                <a:solidFill>
                  <a:srgbClr val="80808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59" name="Freeform 38"/>
                <p:cNvSpPr/>
                <p:nvPr/>
              </p:nvSpPr>
              <p:spPr bwMode="auto">
                <a:xfrm>
                  <a:off x="2272" y="2687"/>
                  <a:ext cx="37" cy="28"/>
                </a:xfrm>
                <a:custGeom>
                  <a:avLst/>
                  <a:gdLst>
                    <a:gd name="T0" fmla="*/ 36 w 37"/>
                    <a:gd name="T1" fmla="*/ 0 h 28"/>
                    <a:gd name="T2" fmla="*/ 0 w 37"/>
                    <a:gd name="T3" fmla="*/ 0 h 28"/>
                    <a:gd name="T4" fmla="*/ 0 w 37"/>
                    <a:gd name="T5" fmla="*/ 27 h 28"/>
                    <a:gd name="T6" fmla="*/ 36 w 37"/>
                    <a:gd name="T7" fmla="*/ 27 h 28"/>
                    <a:gd name="T8" fmla="*/ 36 w 3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28">
                      <a:moveTo>
                        <a:pt x="36" y="0"/>
                      </a:moveTo>
                      <a:lnTo>
                        <a:pt x="0" y="0"/>
                      </a:lnTo>
                      <a:lnTo>
                        <a:pt x="0" y="27"/>
                      </a:lnTo>
                      <a:lnTo>
                        <a:pt x="36" y="27"/>
                      </a:lnTo>
                      <a:lnTo>
                        <a:pt x="36"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0" name="Freeform 39"/>
                <p:cNvSpPr/>
                <p:nvPr/>
              </p:nvSpPr>
              <p:spPr bwMode="auto">
                <a:xfrm>
                  <a:off x="2313" y="2686"/>
                  <a:ext cx="39" cy="29"/>
                </a:xfrm>
                <a:custGeom>
                  <a:avLst/>
                  <a:gdLst>
                    <a:gd name="T0" fmla="*/ 38 w 39"/>
                    <a:gd name="T1" fmla="*/ 0 h 29"/>
                    <a:gd name="T2" fmla="*/ 0 w 39"/>
                    <a:gd name="T3" fmla="*/ 0 h 29"/>
                    <a:gd name="T4" fmla="*/ 0 w 39"/>
                    <a:gd name="T5" fmla="*/ 28 h 29"/>
                    <a:gd name="T6" fmla="*/ 38 w 39"/>
                    <a:gd name="T7" fmla="*/ 28 h 29"/>
                    <a:gd name="T8" fmla="*/ 38 w 39"/>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9">
                      <a:moveTo>
                        <a:pt x="38" y="0"/>
                      </a:moveTo>
                      <a:lnTo>
                        <a:pt x="0" y="0"/>
                      </a:lnTo>
                      <a:lnTo>
                        <a:pt x="0" y="28"/>
                      </a:lnTo>
                      <a:lnTo>
                        <a:pt x="38" y="28"/>
                      </a:lnTo>
                      <a:lnTo>
                        <a:pt x="38"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1" name="Freeform 40"/>
                <p:cNvSpPr/>
                <p:nvPr/>
              </p:nvSpPr>
              <p:spPr bwMode="auto">
                <a:xfrm>
                  <a:off x="2293" y="2650"/>
                  <a:ext cx="37" cy="28"/>
                </a:xfrm>
                <a:custGeom>
                  <a:avLst/>
                  <a:gdLst>
                    <a:gd name="T0" fmla="*/ 36 w 37"/>
                    <a:gd name="T1" fmla="*/ 0 h 28"/>
                    <a:gd name="T2" fmla="*/ 0 w 37"/>
                    <a:gd name="T3" fmla="*/ 0 h 28"/>
                    <a:gd name="T4" fmla="*/ 0 w 37"/>
                    <a:gd name="T5" fmla="*/ 27 h 28"/>
                    <a:gd name="T6" fmla="*/ 36 w 37"/>
                    <a:gd name="T7" fmla="*/ 27 h 28"/>
                    <a:gd name="T8" fmla="*/ 36 w 3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28">
                      <a:moveTo>
                        <a:pt x="36" y="0"/>
                      </a:moveTo>
                      <a:lnTo>
                        <a:pt x="0" y="0"/>
                      </a:lnTo>
                      <a:lnTo>
                        <a:pt x="0" y="27"/>
                      </a:lnTo>
                      <a:lnTo>
                        <a:pt x="36" y="27"/>
                      </a:lnTo>
                      <a:lnTo>
                        <a:pt x="36" y="0"/>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2" name="Freeform 41"/>
                <p:cNvSpPr/>
                <p:nvPr/>
              </p:nvSpPr>
              <p:spPr bwMode="auto">
                <a:xfrm>
                  <a:off x="2334" y="2650"/>
                  <a:ext cx="22" cy="28"/>
                </a:xfrm>
                <a:custGeom>
                  <a:avLst/>
                  <a:gdLst>
                    <a:gd name="T0" fmla="*/ 21 w 22"/>
                    <a:gd name="T1" fmla="*/ 0 h 28"/>
                    <a:gd name="T2" fmla="*/ 0 w 22"/>
                    <a:gd name="T3" fmla="*/ 0 h 28"/>
                    <a:gd name="T4" fmla="*/ 0 w 22"/>
                    <a:gd name="T5" fmla="*/ 27 h 28"/>
                    <a:gd name="T6" fmla="*/ 21 w 22"/>
                    <a:gd name="T7" fmla="*/ 27 h 28"/>
                    <a:gd name="T8" fmla="*/ 21 w 22"/>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8">
                      <a:moveTo>
                        <a:pt x="21" y="0"/>
                      </a:moveTo>
                      <a:lnTo>
                        <a:pt x="0" y="0"/>
                      </a:lnTo>
                      <a:lnTo>
                        <a:pt x="0" y="27"/>
                      </a:lnTo>
                      <a:lnTo>
                        <a:pt x="21" y="27"/>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3" name="Freeform 42"/>
                <p:cNvSpPr/>
                <p:nvPr/>
              </p:nvSpPr>
              <p:spPr bwMode="auto">
                <a:xfrm>
                  <a:off x="2267" y="2650"/>
                  <a:ext cx="22" cy="28"/>
                </a:xfrm>
                <a:custGeom>
                  <a:avLst/>
                  <a:gdLst>
                    <a:gd name="T0" fmla="*/ 21 w 22"/>
                    <a:gd name="T1" fmla="*/ 0 h 28"/>
                    <a:gd name="T2" fmla="*/ 0 w 22"/>
                    <a:gd name="T3" fmla="*/ 0 h 28"/>
                    <a:gd name="T4" fmla="*/ 0 w 22"/>
                    <a:gd name="T5" fmla="*/ 27 h 28"/>
                    <a:gd name="T6" fmla="*/ 21 w 22"/>
                    <a:gd name="T7" fmla="*/ 27 h 28"/>
                    <a:gd name="T8" fmla="*/ 21 w 22"/>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8">
                      <a:moveTo>
                        <a:pt x="21" y="0"/>
                      </a:moveTo>
                      <a:lnTo>
                        <a:pt x="0" y="0"/>
                      </a:lnTo>
                      <a:lnTo>
                        <a:pt x="0" y="27"/>
                      </a:lnTo>
                      <a:lnTo>
                        <a:pt x="21" y="27"/>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4" name="Freeform 43"/>
                <p:cNvSpPr/>
                <p:nvPr/>
              </p:nvSpPr>
              <p:spPr bwMode="auto">
                <a:xfrm>
                  <a:off x="2272" y="2615"/>
                  <a:ext cx="37" cy="28"/>
                </a:xfrm>
                <a:custGeom>
                  <a:avLst/>
                  <a:gdLst>
                    <a:gd name="T0" fmla="*/ 36 w 37"/>
                    <a:gd name="T1" fmla="*/ 0 h 28"/>
                    <a:gd name="T2" fmla="*/ 0 w 37"/>
                    <a:gd name="T3" fmla="*/ 0 h 28"/>
                    <a:gd name="T4" fmla="*/ 0 w 37"/>
                    <a:gd name="T5" fmla="*/ 27 h 28"/>
                    <a:gd name="T6" fmla="*/ 36 w 37"/>
                    <a:gd name="T7" fmla="*/ 27 h 28"/>
                    <a:gd name="T8" fmla="*/ 36 w 3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28">
                      <a:moveTo>
                        <a:pt x="36" y="0"/>
                      </a:moveTo>
                      <a:lnTo>
                        <a:pt x="0" y="0"/>
                      </a:lnTo>
                      <a:lnTo>
                        <a:pt x="0" y="27"/>
                      </a:lnTo>
                      <a:lnTo>
                        <a:pt x="36" y="27"/>
                      </a:lnTo>
                      <a:lnTo>
                        <a:pt x="36"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5" name="Freeform 44"/>
                <p:cNvSpPr/>
                <p:nvPr/>
              </p:nvSpPr>
              <p:spPr bwMode="auto">
                <a:xfrm>
                  <a:off x="2314" y="2615"/>
                  <a:ext cx="39" cy="31"/>
                </a:xfrm>
                <a:custGeom>
                  <a:avLst/>
                  <a:gdLst>
                    <a:gd name="T0" fmla="*/ 38 w 39"/>
                    <a:gd name="T1" fmla="*/ 0 h 31"/>
                    <a:gd name="T2" fmla="*/ 0 w 39"/>
                    <a:gd name="T3" fmla="*/ 0 h 31"/>
                    <a:gd name="T4" fmla="*/ 0 w 39"/>
                    <a:gd name="T5" fmla="*/ 30 h 31"/>
                    <a:gd name="T6" fmla="*/ 38 w 39"/>
                    <a:gd name="T7" fmla="*/ 30 h 31"/>
                    <a:gd name="T8" fmla="*/ 38 w 39"/>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1">
                      <a:moveTo>
                        <a:pt x="38" y="0"/>
                      </a:moveTo>
                      <a:lnTo>
                        <a:pt x="0" y="0"/>
                      </a:lnTo>
                      <a:lnTo>
                        <a:pt x="0" y="30"/>
                      </a:lnTo>
                      <a:lnTo>
                        <a:pt x="38" y="30"/>
                      </a:lnTo>
                      <a:lnTo>
                        <a:pt x="38"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6" name="Freeform 45"/>
                <p:cNvSpPr/>
                <p:nvPr/>
              </p:nvSpPr>
              <p:spPr bwMode="auto">
                <a:xfrm>
                  <a:off x="2270" y="2757"/>
                  <a:ext cx="36" cy="28"/>
                </a:xfrm>
                <a:custGeom>
                  <a:avLst/>
                  <a:gdLst>
                    <a:gd name="T0" fmla="*/ 35 w 36"/>
                    <a:gd name="T1" fmla="*/ 0 h 28"/>
                    <a:gd name="T2" fmla="*/ 0 w 36"/>
                    <a:gd name="T3" fmla="*/ 0 h 28"/>
                    <a:gd name="T4" fmla="*/ 0 w 36"/>
                    <a:gd name="T5" fmla="*/ 27 h 28"/>
                    <a:gd name="T6" fmla="*/ 35 w 36"/>
                    <a:gd name="T7" fmla="*/ 27 h 28"/>
                    <a:gd name="T8" fmla="*/ 35 w 3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8">
                      <a:moveTo>
                        <a:pt x="35" y="0"/>
                      </a:moveTo>
                      <a:lnTo>
                        <a:pt x="0" y="0"/>
                      </a:lnTo>
                      <a:lnTo>
                        <a:pt x="0" y="27"/>
                      </a:lnTo>
                      <a:lnTo>
                        <a:pt x="35" y="27"/>
                      </a:lnTo>
                      <a:lnTo>
                        <a:pt x="35"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7" name="Freeform 46"/>
                <p:cNvSpPr/>
                <p:nvPr/>
              </p:nvSpPr>
              <p:spPr bwMode="auto">
                <a:xfrm>
                  <a:off x="2314" y="2757"/>
                  <a:ext cx="39" cy="28"/>
                </a:xfrm>
                <a:custGeom>
                  <a:avLst/>
                  <a:gdLst>
                    <a:gd name="T0" fmla="*/ 38 w 39"/>
                    <a:gd name="T1" fmla="*/ 0 h 28"/>
                    <a:gd name="T2" fmla="*/ 0 w 39"/>
                    <a:gd name="T3" fmla="*/ 0 h 28"/>
                    <a:gd name="T4" fmla="*/ 0 w 39"/>
                    <a:gd name="T5" fmla="*/ 27 h 28"/>
                    <a:gd name="T6" fmla="*/ 38 w 39"/>
                    <a:gd name="T7" fmla="*/ 27 h 28"/>
                    <a:gd name="T8" fmla="*/ 38 w 39"/>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8">
                      <a:moveTo>
                        <a:pt x="38" y="0"/>
                      </a:moveTo>
                      <a:lnTo>
                        <a:pt x="0" y="0"/>
                      </a:lnTo>
                      <a:lnTo>
                        <a:pt x="0" y="27"/>
                      </a:lnTo>
                      <a:lnTo>
                        <a:pt x="38" y="27"/>
                      </a:lnTo>
                      <a:lnTo>
                        <a:pt x="38"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8" name="Freeform 47"/>
                <p:cNvSpPr/>
                <p:nvPr/>
              </p:nvSpPr>
              <p:spPr bwMode="auto">
                <a:xfrm>
                  <a:off x="2292" y="2724"/>
                  <a:ext cx="38" cy="27"/>
                </a:xfrm>
                <a:custGeom>
                  <a:avLst/>
                  <a:gdLst>
                    <a:gd name="T0" fmla="*/ 37 w 38"/>
                    <a:gd name="T1" fmla="*/ 0 h 27"/>
                    <a:gd name="T2" fmla="*/ 0 w 38"/>
                    <a:gd name="T3" fmla="*/ 0 h 27"/>
                    <a:gd name="T4" fmla="*/ 0 w 38"/>
                    <a:gd name="T5" fmla="*/ 26 h 27"/>
                    <a:gd name="T6" fmla="*/ 37 w 38"/>
                    <a:gd name="T7" fmla="*/ 26 h 27"/>
                    <a:gd name="T8" fmla="*/ 37 w 38"/>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7">
                      <a:moveTo>
                        <a:pt x="37" y="0"/>
                      </a:moveTo>
                      <a:lnTo>
                        <a:pt x="0" y="0"/>
                      </a:lnTo>
                      <a:lnTo>
                        <a:pt x="0" y="26"/>
                      </a:lnTo>
                      <a:lnTo>
                        <a:pt x="37" y="26"/>
                      </a:lnTo>
                      <a:lnTo>
                        <a:pt x="37" y="0"/>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69" name="Freeform 48"/>
                <p:cNvSpPr/>
                <p:nvPr/>
              </p:nvSpPr>
              <p:spPr bwMode="auto">
                <a:xfrm>
                  <a:off x="2334" y="2724"/>
                  <a:ext cx="22" cy="27"/>
                </a:xfrm>
                <a:custGeom>
                  <a:avLst/>
                  <a:gdLst>
                    <a:gd name="T0" fmla="*/ 21 w 22"/>
                    <a:gd name="T1" fmla="*/ 0 h 27"/>
                    <a:gd name="T2" fmla="*/ 0 w 22"/>
                    <a:gd name="T3" fmla="*/ 0 h 27"/>
                    <a:gd name="T4" fmla="*/ 0 w 22"/>
                    <a:gd name="T5" fmla="*/ 26 h 27"/>
                    <a:gd name="T6" fmla="*/ 21 w 22"/>
                    <a:gd name="T7" fmla="*/ 26 h 27"/>
                    <a:gd name="T8" fmla="*/ 21 w 22"/>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7">
                      <a:moveTo>
                        <a:pt x="21" y="0"/>
                      </a:moveTo>
                      <a:lnTo>
                        <a:pt x="0" y="0"/>
                      </a:lnTo>
                      <a:lnTo>
                        <a:pt x="0" y="26"/>
                      </a:lnTo>
                      <a:lnTo>
                        <a:pt x="21" y="26"/>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0" name="Freeform 49"/>
                <p:cNvSpPr/>
                <p:nvPr/>
              </p:nvSpPr>
              <p:spPr bwMode="auto">
                <a:xfrm>
                  <a:off x="2272" y="2724"/>
                  <a:ext cx="22" cy="27"/>
                </a:xfrm>
                <a:custGeom>
                  <a:avLst/>
                  <a:gdLst>
                    <a:gd name="T0" fmla="*/ 21 w 22"/>
                    <a:gd name="T1" fmla="*/ 0 h 27"/>
                    <a:gd name="T2" fmla="*/ 0 w 22"/>
                    <a:gd name="T3" fmla="*/ 0 h 27"/>
                    <a:gd name="T4" fmla="*/ 0 w 22"/>
                    <a:gd name="T5" fmla="*/ 26 h 27"/>
                    <a:gd name="T6" fmla="*/ 21 w 22"/>
                    <a:gd name="T7" fmla="*/ 26 h 27"/>
                    <a:gd name="T8" fmla="*/ 21 w 22"/>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7">
                      <a:moveTo>
                        <a:pt x="21" y="0"/>
                      </a:moveTo>
                      <a:lnTo>
                        <a:pt x="0" y="0"/>
                      </a:lnTo>
                      <a:lnTo>
                        <a:pt x="0" y="26"/>
                      </a:lnTo>
                      <a:lnTo>
                        <a:pt x="21" y="26"/>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1" name="Freeform 50"/>
                <p:cNvSpPr/>
                <p:nvPr/>
              </p:nvSpPr>
              <p:spPr bwMode="auto">
                <a:xfrm>
                  <a:off x="2269" y="2825"/>
                  <a:ext cx="38" cy="28"/>
                </a:xfrm>
                <a:custGeom>
                  <a:avLst/>
                  <a:gdLst>
                    <a:gd name="T0" fmla="*/ 37 w 38"/>
                    <a:gd name="T1" fmla="*/ 0 h 28"/>
                    <a:gd name="T2" fmla="*/ 0 w 38"/>
                    <a:gd name="T3" fmla="*/ 0 h 28"/>
                    <a:gd name="T4" fmla="*/ 0 w 38"/>
                    <a:gd name="T5" fmla="*/ 27 h 28"/>
                    <a:gd name="T6" fmla="*/ 37 w 38"/>
                    <a:gd name="T7" fmla="*/ 27 h 28"/>
                    <a:gd name="T8" fmla="*/ 37 w 38"/>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8">
                      <a:moveTo>
                        <a:pt x="37" y="0"/>
                      </a:moveTo>
                      <a:lnTo>
                        <a:pt x="0" y="0"/>
                      </a:lnTo>
                      <a:lnTo>
                        <a:pt x="0" y="27"/>
                      </a:lnTo>
                      <a:lnTo>
                        <a:pt x="37" y="27"/>
                      </a:lnTo>
                      <a:lnTo>
                        <a:pt x="37"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2" name="Freeform 51"/>
                <p:cNvSpPr/>
                <p:nvPr/>
              </p:nvSpPr>
              <p:spPr bwMode="auto">
                <a:xfrm>
                  <a:off x="2314" y="2825"/>
                  <a:ext cx="39" cy="28"/>
                </a:xfrm>
                <a:custGeom>
                  <a:avLst/>
                  <a:gdLst>
                    <a:gd name="T0" fmla="*/ 38 w 39"/>
                    <a:gd name="T1" fmla="*/ 0 h 28"/>
                    <a:gd name="T2" fmla="*/ 0 w 39"/>
                    <a:gd name="T3" fmla="*/ 0 h 28"/>
                    <a:gd name="T4" fmla="*/ 0 w 39"/>
                    <a:gd name="T5" fmla="*/ 27 h 28"/>
                    <a:gd name="T6" fmla="*/ 38 w 39"/>
                    <a:gd name="T7" fmla="*/ 27 h 28"/>
                    <a:gd name="T8" fmla="*/ 38 w 39"/>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8">
                      <a:moveTo>
                        <a:pt x="38" y="0"/>
                      </a:moveTo>
                      <a:lnTo>
                        <a:pt x="0" y="0"/>
                      </a:lnTo>
                      <a:lnTo>
                        <a:pt x="0" y="27"/>
                      </a:lnTo>
                      <a:lnTo>
                        <a:pt x="38" y="27"/>
                      </a:lnTo>
                      <a:lnTo>
                        <a:pt x="38"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3" name="Freeform 52"/>
                <p:cNvSpPr/>
                <p:nvPr/>
              </p:nvSpPr>
              <p:spPr bwMode="auto">
                <a:xfrm>
                  <a:off x="2292" y="2792"/>
                  <a:ext cx="38" cy="27"/>
                </a:xfrm>
                <a:custGeom>
                  <a:avLst/>
                  <a:gdLst>
                    <a:gd name="T0" fmla="*/ 37 w 38"/>
                    <a:gd name="T1" fmla="*/ 0 h 27"/>
                    <a:gd name="T2" fmla="*/ 0 w 38"/>
                    <a:gd name="T3" fmla="*/ 0 h 27"/>
                    <a:gd name="T4" fmla="*/ 0 w 38"/>
                    <a:gd name="T5" fmla="*/ 26 h 27"/>
                    <a:gd name="T6" fmla="*/ 37 w 38"/>
                    <a:gd name="T7" fmla="*/ 26 h 27"/>
                    <a:gd name="T8" fmla="*/ 37 w 38"/>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7">
                      <a:moveTo>
                        <a:pt x="37" y="0"/>
                      </a:moveTo>
                      <a:lnTo>
                        <a:pt x="0" y="0"/>
                      </a:lnTo>
                      <a:lnTo>
                        <a:pt x="0" y="26"/>
                      </a:lnTo>
                      <a:lnTo>
                        <a:pt x="37" y="26"/>
                      </a:lnTo>
                      <a:lnTo>
                        <a:pt x="37"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4" name="Freeform 53"/>
                <p:cNvSpPr/>
                <p:nvPr/>
              </p:nvSpPr>
              <p:spPr bwMode="auto">
                <a:xfrm>
                  <a:off x="2334" y="2792"/>
                  <a:ext cx="22" cy="27"/>
                </a:xfrm>
                <a:custGeom>
                  <a:avLst/>
                  <a:gdLst>
                    <a:gd name="T0" fmla="*/ 21 w 22"/>
                    <a:gd name="T1" fmla="*/ 0 h 27"/>
                    <a:gd name="T2" fmla="*/ 0 w 22"/>
                    <a:gd name="T3" fmla="*/ 0 h 27"/>
                    <a:gd name="T4" fmla="*/ 0 w 22"/>
                    <a:gd name="T5" fmla="*/ 26 h 27"/>
                    <a:gd name="T6" fmla="*/ 21 w 22"/>
                    <a:gd name="T7" fmla="*/ 26 h 27"/>
                    <a:gd name="T8" fmla="*/ 21 w 22"/>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7">
                      <a:moveTo>
                        <a:pt x="21" y="0"/>
                      </a:moveTo>
                      <a:lnTo>
                        <a:pt x="0" y="0"/>
                      </a:lnTo>
                      <a:lnTo>
                        <a:pt x="0" y="26"/>
                      </a:lnTo>
                      <a:lnTo>
                        <a:pt x="21" y="26"/>
                      </a:lnTo>
                      <a:lnTo>
                        <a:pt x="21" y="0"/>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5" name="Freeform 54"/>
                <p:cNvSpPr/>
                <p:nvPr/>
              </p:nvSpPr>
              <p:spPr bwMode="auto">
                <a:xfrm>
                  <a:off x="2268" y="2792"/>
                  <a:ext cx="22" cy="27"/>
                </a:xfrm>
                <a:custGeom>
                  <a:avLst/>
                  <a:gdLst>
                    <a:gd name="T0" fmla="*/ 21 w 22"/>
                    <a:gd name="T1" fmla="*/ 0 h 27"/>
                    <a:gd name="T2" fmla="*/ 0 w 22"/>
                    <a:gd name="T3" fmla="*/ 0 h 27"/>
                    <a:gd name="T4" fmla="*/ 0 w 22"/>
                    <a:gd name="T5" fmla="*/ 26 h 27"/>
                    <a:gd name="T6" fmla="*/ 21 w 22"/>
                    <a:gd name="T7" fmla="*/ 26 h 27"/>
                    <a:gd name="T8" fmla="*/ 21 w 22"/>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7">
                      <a:moveTo>
                        <a:pt x="21" y="0"/>
                      </a:moveTo>
                      <a:lnTo>
                        <a:pt x="0" y="0"/>
                      </a:lnTo>
                      <a:lnTo>
                        <a:pt x="0" y="26"/>
                      </a:lnTo>
                      <a:lnTo>
                        <a:pt x="21" y="26"/>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6" name="Freeform 55"/>
                <p:cNvSpPr/>
                <p:nvPr/>
              </p:nvSpPr>
              <p:spPr bwMode="auto">
                <a:xfrm>
                  <a:off x="2270" y="2895"/>
                  <a:ext cx="36" cy="28"/>
                </a:xfrm>
                <a:custGeom>
                  <a:avLst/>
                  <a:gdLst>
                    <a:gd name="T0" fmla="*/ 35 w 36"/>
                    <a:gd name="T1" fmla="*/ 0 h 28"/>
                    <a:gd name="T2" fmla="*/ 0 w 36"/>
                    <a:gd name="T3" fmla="*/ 0 h 28"/>
                    <a:gd name="T4" fmla="*/ 0 w 36"/>
                    <a:gd name="T5" fmla="*/ 27 h 28"/>
                    <a:gd name="T6" fmla="*/ 35 w 36"/>
                    <a:gd name="T7" fmla="*/ 27 h 28"/>
                    <a:gd name="T8" fmla="*/ 35 w 3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8">
                      <a:moveTo>
                        <a:pt x="35" y="0"/>
                      </a:moveTo>
                      <a:lnTo>
                        <a:pt x="0" y="0"/>
                      </a:lnTo>
                      <a:lnTo>
                        <a:pt x="0" y="27"/>
                      </a:lnTo>
                      <a:lnTo>
                        <a:pt x="35" y="27"/>
                      </a:lnTo>
                      <a:lnTo>
                        <a:pt x="35"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7" name="Freeform 56"/>
                <p:cNvSpPr/>
                <p:nvPr/>
              </p:nvSpPr>
              <p:spPr bwMode="auto">
                <a:xfrm>
                  <a:off x="2312" y="2895"/>
                  <a:ext cx="38" cy="28"/>
                </a:xfrm>
                <a:custGeom>
                  <a:avLst/>
                  <a:gdLst>
                    <a:gd name="T0" fmla="*/ 37 w 38"/>
                    <a:gd name="T1" fmla="*/ 0 h 28"/>
                    <a:gd name="T2" fmla="*/ 0 w 38"/>
                    <a:gd name="T3" fmla="*/ 0 h 28"/>
                    <a:gd name="T4" fmla="*/ 0 w 38"/>
                    <a:gd name="T5" fmla="*/ 27 h 28"/>
                    <a:gd name="T6" fmla="*/ 37 w 38"/>
                    <a:gd name="T7" fmla="*/ 27 h 28"/>
                    <a:gd name="T8" fmla="*/ 37 w 38"/>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8">
                      <a:moveTo>
                        <a:pt x="37" y="0"/>
                      </a:moveTo>
                      <a:lnTo>
                        <a:pt x="0" y="0"/>
                      </a:lnTo>
                      <a:lnTo>
                        <a:pt x="0" y="27"/>
                      </a:lnTo>
                      <a:lnTo>
                        <a:pt x="37" y="27"/>
                      </a:lnTo>
                      <a:lnTo>
                        <a:pt x="37"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8" name="Freeform 57"/>
                <p:cNvSpPr/>
                <p:nvPr/>
              </p:nvSpPr>
              <p:spPr bwMode="auto">
                <a:xfrm>
                  <a:off x="2290" y="2862"/>
                  <a:ext cx="39" cy="27"/>
                </a:xfrm>
                <a:custGeom>
                  <a:avLst/>
                  <a:gdLst>
                    <a:gd name="T0" fmla="*/ 38 w 39"/>
                    <a:gd name="T1" fmla="*/ 0 h 27"/>
                    <a:gd name="T2" fmla="*/ 0 w 39"/>
                    <a:gd name="T3" fmla="*/ 0 h 27"/>
                    <a:gd name="T4" fmla="*/ 0 w 39"/>
                    <a:gd name="T5" fmla="*/ 26 h 27"/>
                    <a:gd name="T6" fmla="*/ 38 w 39"/>
                    <a:gd name="T7" fmla="*/ 26 h 27"/>
                    <a:gd name="T8" fmla="*/ 38 w 39"/>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7">
                      <a:moveTo>
                        <a:pt x="38" y="0"/>
                      </a:moveTo>
                      <a:lnTo>
                        <a:pt x="0" y="0"/>
                      </a:lnTo>
                      <a:lnTo>
                        <a:pt x="0" y="26"/>
                      </a:lnTo>
                      <a:lnTo>
                        <a:pt x="38" y="26"/>
                      </a:lnTo>
                      <a:lnTo>
                        <a:pt x="38" y="0"/>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79" name="Freeform 58"/>
                <p:cNvSpPr/>
                <p:nvPr/>
              </p:nvSpPr>
              <p:spPr bwMode="auto">
                <a:xfrm>
                  <a:off x="2334" y="2862"/>
                  <a:ext cx="22" cy="27"/>
                </a:xfrm>
                <a:custGeom>
                  <a:avLst/>
                  <a:gdLst>
                    <a:gd name="T0" fmla="*/ 21 w 22"/>
                    <a:gd name="T1" fmla="*/ 0 h 27"/>
                    <a:gd name="T2" fmla="*/ 0 w 22"/>
                    <a:gd name="T3" fmla="*/ 0 h 27"/>
                    <a:gd name="T4" fmla="*/ 0 w 22"/>
                    <a:gd name="T5" fmla="*/ 26 h 27"/>
                    <a:gd name="T6" fmla="*/ 21 w 22"/>
                    <a:gd name="T7" fmla="*/ 26 h 27"/>
                    <a:gd name="T8" fmla="*/ 21 w 22"/>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7">
                      <a:moveTo>
                        <a:pt x="21" y="0"/>
                      </a:moveTo>
                      <a:lnTo>
                        <a:pt x="0" y="0"/>
                      </a:lnTo>
                      <a:lnTo>
                        <a:pt x="0" y="26"/>
                      </a:lnTo>
                      <a:lnTo>
                        <a:pt x="21" y="26"/>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0" name="Freeform 59"/>
                <p:cNvSpPr/>
                <p:nvPr/>
              </p:nvSpPr>
              <p:spPr bwMode="auto">
                <a:xfrm>
                  <a:off x="2272" y="2862"/>
                  <a:ext cx="22" cy="27"/>
                </a:xfrm>
                <a:custGeom>
                  <a:avLst/>
                  <a:gdLst>
                    <a:gd name="T0" fmla="*/ 21 w 22"/>
                    <a:gd name="T1" fmla="*/ 0 h 27"/>
                    <a:gd name="T2" fmla="*/ 0 w 22"/>
                    <a:gd name="T3" fmla="*/ 0 h 27"/>
                    <a:gd name="T4" fmla="*/ 0 w 22"/>
                    <a:gd name="T5" fmla="*/ 26 h 27"/>
                    <a:gd name="T6" fmla="*/ 21 w 22"/>
                    <a:gd name="T7" fmla="*/ 26 h 27"/>
                    <a:gd name="T8" fmla="*/ 21 w 22"/>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7">
                      <a:moveTo>
                        <a:pt x="21" y="0"/>
                      </a:moveTo>
                      <a:lnTo>
                        <a:pt x="0" y="0"/>
                      </a:lnTo>
                      <a:lnTo>
                        <a:pt x="0" y="26"/>
                      </a:lnTo>
                      <a:lnTo>
                        <a:pt x="21" y="26"/>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1" name="Freeform 60"/>
                <p:cNvSpPr/>
                <p:nvPr/>
              </p:nvSpPr>
              <p:spPr bwMode="auto">
                <a:xfrm>
                  <a:off x="2270" y="2966"/>
                  <a:ext cx="39" cy="28"/>
                </a:xfrm>
                <a:custGeom>
                  <a:avLst/>
                  <a:gdLst>
                    <a:gd name="T0" fmla="*/ 38 w 39"/>
                    <a:gd name="T1" fmla="*/ 0 h 28"/>
                    <a:gd name="T2" fmla="*/ 0 w 39"/>
                    <a:gd name="T3" fmla="*/ 0 h 28"/>
                    <a:gd name="T4" fmla="*/ 0 w 39"/>
                    <a:gd name="T5" fmla="*/ 27 h 28"/>
                    <a:gd name="T6" fmla="*/ 38 w 39"/>
                    <a:gd name="T7" fmla="*/ 27 h 28"/>
                    <a:gd name="T8" fmla="*/ 38 w 39"/>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8">
                      <a:moveTo>
                        <a:pt x="38" y="0"/>
                      </a:moveTo>
                      <a:lnTo>
                        <a:pt x="0" y="0"/>
                      </a:lnTo>
                      <a:lnTo>
                        <a:pt x="0" y="27"/>
                      </a:lnTo>
                      <a:lnTo>
                        <a:pt x="38" y="27"/>
                      </a:lnTo>
                      <a:lnTo>
                        <a:pt x="38"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2" name="Freeform 61"/>
                <p:cNvSpPr/>
                <p:nvPr/>
              </p:nvSpPr>
              <p:spPr bwMode="auto">
                <a:xfrm>
                  <a:off x="2313" y="2966"/>
                  <a:ext cx="39" cy="28"/>
                </a:xfrm>
                <a:custGeom>
                  <a:avLst/>
                  <a:gdLst>
                    <a:gd name="T0" fmla="*/ 38 w 39"/>
                    <a:gd name="T1" fmla="*/ 0 h 28"/>
                    <a:gd name="T2" fmla="*/ 0 w 39"/>
                    <a:gd name="T3" fmla="*/ 0 h 28"/>
                    <a:gd name="T4" fmla="*/ 0 w 39"/>
                    <a:gd name="T5" fmla="*/ 27 h 28"/>
                    <a:gd name="T6" fmla="*/ 38 w 39"/>
                    <a:gd name="T7" fmla="*/ 27 h 28"/>
                    <a:gd name="T8" fmla="*/ 38 w 39"/>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8">
                      <a:moveTo>
                        <a:pt x="38" y="0"/>
                      </a:moveTo>
                      <a:lnTo>
                        <a:pt x="0" y="0"/>
                      </a:lnTo>
                      <a:lnTo>
                        <a:pt x="0" y="27"/>
                      </a:lnTo>
                      <a:lnTo>
                        <a:pt x="38" y="27"/>
                      </a:lnTo>
                      <a:lnTo>
                        <a:pt x="38"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3" name="Freeform 62"/>
                <p:cNvSpPr/>
                <p:nvPr/>
              </p:nvSpPr>
              <p:spPr bwMode="auto">
                <a:xfrm>
                  <a:off x="2293" y="2930"/>
                  <a:ext cx="37" cy="29"/>
                </a:xfrm>
                <a:custGeom>
                  <a:avLst/>
                  <a:gdLst>
                    <a:gd name="T0" fmla="*/ 36 w 37"/>
                    <a:gd name="T1" fmla="*/ 0 h 29"/>
                    <a:gd name="T2" fmla="*/ 0 w 37"/>
                    <a:gd name="T3" fmla="*/ 0 h 29"/>
                    <a:gd name="T4" fmla="*/ 0 w 37"/>
                    <a:gd name="T5" fmla="*/ 28 h 29"/>
                    <a:gd name="T6" fmla="*/ 36 w 37"/>
                    <a:gd name="T7" fmla="*/ 28 h 29"/>
                    <a:gd name="T8" fmla="*/ 36 w 37"/>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29">
                      <a:moveTo>
                        <a:pt x="36" y="0"/>
                      </a:moveTo>
                      <a:lnTo>
                        <a:pt x="0" y="0"/>
                      </a:lnTo>
                      <a:lnTo>
                        <a:pt x="0" y="28"/>
                      </a:lnTo>
                      <a:lnTo>
                        <a:pt x="36" y="28"/>
                      </a:lnTo>
                      <a:lnTo>
                        <a:pt x="36"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4" name="Freeform 63"/>
                <p:cNvSpPr/>
                <p:nvPr/>
              </p:nvSpPr>
              <p:spPr bwMode="auto">
                <a:xfrm>
                  <a:off x="2334" y="2930"/>
                  <a:ext cx="22" cy="29"/>
                </a:xfrm>
                <a:custGeom>
                  <a:avLst/>
                  <a:gdLst>
                    <a:gd name="T0" fmla="*/ 21 w 22"/>
                    <a:gd name="T1" fmla="*/ 0 h 29"/>
                    <a:gd name="T2" fmla="*/ 0 w 22"/>
                    <a:gd name="T3" fmla="*/ 0 h 29"/>
                    <a:gd name="T4" fmla="*/ 0 w 22"/>
                    <a:gd name="T5" fmla="*/ 28 h 29"/>
                    <a:gd name="T6" fmla="*/ 21 w 22"/>
                    <a:gd name="T7" fmla="*/ 28 h 29"/>
                    <a:gd name="T8" fmla="*/ 21 w 22"/>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9">
                      <a:moveTo>
                        <a:pt x="21" y="0"/>
                      </a:moveTo>
                      <a:lnTo>
                        <a:pt x="0" y="0"/>
                      </a:lnTo>
                      <a:lnTo>
                        <a:pt x="0" y="28"/>
                      </a:lnTo>
                      <a:lnTo>
                        <a:pt x="21" y="28"/>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5" name="Freeform 64"/>
                <p:cNvSpPr/>
                <p:nvPr/>
              </p:nvSpPr>
              <p:spPr bwMode="auto">
                <a:xfrm>
                  <a:off x="2269" y="3036"/>
                  <a:ext cx="38" cy="28"/>
                </a:xfrm>
                <a:custGeom>
                  <a:avLst/>
                  <a:gdLst>
                    <a:gd name="T0" fmla="*/ 37 w 38"/>
                    <a:gd name="T1" fmla="*/ 0 h 28"/>
                    <a:gd name="T2" fmla="*/ 0 w 38"/>
                    <a:gd name="T3" fmla="*/ 0 h 28"/>
                    <a:gd name="T4" fmla="*/ 0 w 38"/>
                    <a:gd name="T5" fmla="*/ 27 h 28"/>
                    <a:gd name="T6" fmla="*/ 37 w 38"/>
                    <a:gd name="T7" fmla="*/ 27 h 28"/>
                    <a:gd name="T8" fmla="*/ 37 w 38"/>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8">
                      <a:moveTo>
                        <a:pt x="37" y="0"/>
                      </a:moveTo>
                      <a:lnTo>
                        <a:pt x="0" y="0"/>
                      </a:lnTo>
                      <a:lnTo>
                        <a:pt x="0" y="27"/>
                      </a:lnTo>
                      <a:lnTo>
                        <a:pt x="37" y="27"/>
                      </a:lnTo>
                      <a:lnTo>
                        <a:pt x="37" y="0"/>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6" name="Freeform 65"/>
                <p:cNvSpPr/>
                <p:nvPr/>
              </p:nvSpPr>
              <p:spPr bwMode="auto">
                <a:xfrm>
                  <a:off x="2314" y="3036"/>
                  <a:ext cx="39" cy="28"/>
                </a:xfrm>
                <a:custGeom>
                  <a:avLst/>
                  <a:gdLst>
                    <a:gd name="T0" fmla="*/ 38 w 39"/>
                    <a:gd name="T1" fmla="*/ 0 h 28"/>
                    <a:gd name="T2" fmla="*/ 0 w 39"/>
                    <a:gd name="T3" fmla="*/ 0 h 28"/>
                    <a:gd name="T4" fmla="*/ 0 w 39"/>
                    <a:gd name="T5" fmla="*/ 27 h 28"/>
                    <a:gd name="T6" fmla="*/ 38 w 39"/>
                    <a:gd name="T7" fmla="*/ 27 h 28"/>
                    <a:gd name="T8" fmla="*/ 38 w 39"/>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8">
                      <a:moveTo>
                        <a:pt x="38" y="0"/>
                      </a:moveTo>
                      <a:lnTo>
                        <a:pt x="0" y="0"/>
                      </a:lnTo>
                      <a:lnTo>
                        <a:pt x="0" y="27"/>
                      </a:lnTo>
                      <a:lnTo>
                        <a:pt x="38" y="27"/>
                      </a:lnTo>
                      <a:lnTo>
                        <a:pt x="38"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7" name="Freeform 66"/>
                <p:cNvSpPr/>
                <p:nvPr/>
              </p:nvSpPr>
              <p:spPr bwMode="auto">
                <a:xfrm>
                  <a:off x="2292" y="3001"/>
                  <a:ext cx="38" cy="28"/>
                </a:xfrm>
                <a:custGeom>
                  <a:avLst/>
                  <a:gdLst>
                    <a:gd name="T0" fmla="*/ 37 w 38"/>
                    <a:gd name="T1" fmla="*/ 0 h 28"/>
                    <a:gd name="T2" fmla="*/ 0 w 38"/>
                    <a:gd name="T3" fmla="*/ 0 h 28"/>
                    <a:gd name="T4" fmla="*/ 0 w 38"/>
                    <a:gd name="T5" fmla="*/ 27 h 28"/>
                    <a:gd name="T6" fmla="*/ 37 w 38"/>
                    <a:gd name="T7" fmla="*/ 27 h 28"/>
                    <a:gd name="T8" fmla="*/ 37 w 38"/>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8">
                      <a:moveTo>
                        <a:pt x="37" y="0"/>
                      </a:moveTo>
                      <a:lnTo>
                        <a:pt x="0" y="0"/>
                      </a:lnTo>
                      <a:lnTo>
                        <a:pt x="0" y="27"/>
                      </a:lnTo>
                      <a:lnTo>
                        <a:pt x="37" y="27"/>
                      </a:lnTo>
                      <a:lnTo>
                        <a:pt x="37" y="0"/>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8" name="Freeform 67"/>
                <p:cNvSpPr/>
                <p:nvPr/>
              </p:nvSpPr>
              <p:spPr bwMode="auto">
                <a:xfrm>
                  <a:off x="2334" y="3001"/>
                  <a:ext cx="22" cy="28"/>
                </a:xfrm>
                <a:custGeom>
                  <a:avLst/>
                  <a:gdLst>
                    <a:gd name="T0" fmla="*/ 21 w 22"/>
                    <a:gd name="T1" fmla="*/ 0 h 28"/>
                    <a:gd name="T2" fmla="*/ 0 w 22"/>
                    <a:gd name="T3" fmla="*/ 0 h 28"/>
                    <a:gd name="T4" fmla="*/ 0 w 22"/>
                    <a:gd name="T5" fmla="*/ 27 h 28"/>
                    <a:gd name="T6" fmla="*/ 21 w 22"/>
                    <a:gd name="T7" fmla="*/ 27 h 28"/>
                    <a:gd name="T8" fmla="*/ 21 w 22"/>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8">
                      <a:moveTo>
                        <a:pt x="21" y="0"/>
                      </a:moveTo>
                      <a:lnTo>
                        <a:pt x="0" y="0"/>
                      </a:lnTo>
                      <a:lnTo>
                        <a:pt x="0" y="27"/>
                      </a:lnTo>
                      <a:lnTo>
                        <a:pt x="21" y="27"/>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89" name="Freeform 68"/>
                <p:cNvSpPr/>
                <p:nvPr/>
              </p:nvSpPr>
              <p:spPr bwMode="auto">
                <a:xfrm>
                  <a:off x="2272" y="3001"/>
                  <a:ext cx="22" cy="28"/>
                </a:xfrm>
                <a:custGeom>
                  <a:avLst/>
                  <a:gdLst>
                    <a:gd name="T0" fmla="*/ 21 w 22"/>
                    <a:gd name="T1" fmla="*/ 0 h 28"/>
                    <a:gd name="T2" fmla="*/ 0 w 22"/>
                    <a:gd name="T3" fmla="*/ 0 h 28"/>
                    <a:gd name="T4" fmla="*/ 0 w 22"/>
                    <a:gd name="T5" fmla="*/ 27 h 28"/>
                    <a:gd name="T6" fmla="*/ 21 w 22"/>
                    <a:gd name="T7" fmla="*/ 27 h 28"/>
                    <a:gd name="T8" fmla="*/ 21 w 22"/>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8">
                      <a:moveTo>
                        <a:pt x="21" y="0"/>
                      </a:moveTo>
                      <a:lnTo>
                        <a:pt x="0" y="0"/>
                      </a:lnTo>
                      <a:lnTo>
                        <a:pt x="0" y="27"/>
                      </a:lnTo>
                      <a:lnTo>
                        <a:pt x="21" y="27"/>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0" name="Freeform 69"/>
                <p:cNvSpPr/>
                <p:nvPr/>
              </p:nvSpPr>
              <p:spPr bwMode="auto">
                <a:xfrm>
                  <a:off x="2270" y="3106"/>
                  <a:ext cx="36" cy="26"/>
                </a:xfrm>
                <a:custGeom>
                  <a:avLst/>
                  <a:gdLst>
                    <a:gd name="T0" fmla="*/ 35 w 36"/>
                    <a:gd name="T1" fmla="*/ 0 h 26"/>
                    <a:gd name="T2" fmla="*/ 0 w 36"/>
                    <a:gd name="T3" fmla="*/ 0 h 26"/>
                    <a:gd name="T4" fmla="*/ 0 w 36"/>
                    <a:gd name="T5" fmla="*/ 25 h 26"/>
                    <a:gd name="T6" fmla="*/ 35 w 36"/>
                    <a:gd name="T7" fmla="*/ 25 h 26"/>
                    <a:gd name="T8" fmla="*/ 35 w 36"/>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6">
                      <a:moveTo>
                        <a:pt x="35" y="0"/>
                      </a:moveTo>
                      <a:lnTo>
                        <a:pt x="0" y="0"/>
                      </a:lnTo>
                      <a:lnTo>
                        <a:pt x="0" y="25"/>
                      </a:lnTo>
                      <a:lnTo>
                        <a:pt x="35" y="25"/>
                      </a:lnTo>
                      <a:lnTo>
                        <a:pt x="35"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1" name="Freeform 70"/>
                <p:cNvSpPr/>
                <p:nvPr/>
              </p:nvSpPr>
              <p:spPr bwMode="auto">
                <a:xfrm>
                  <a:off x="2314" y="3105"/>
                  <a:ext cx="39" cy="29"/>
                </a:xfrm>
                <a:custGeom>
                  <a:avLst/>
                  <a:gdLst>
                    <a:gd name="T0" fmla="*/ 38 w 39"/>
                    <a:gd name="T1" fmla="*/ 0 h 29"/>
                    <a:gd name="T2" fmla="*/ 0 w 39"/>
                    <a:gd name="T3" fmla="*/ 0 h 29"/>
                    <a:gd name="T4" fmla="*/ 0 w 39"/>
                    <a:gd name="T5" fmla="*/ 28 h 29"/>
                    <a:gd name="T6" fmla="*/ 38 w 39"/>
                    <a:gd name="T7" fmla="*/ 28 h 29"/>
                    <a:gd name="T8" fmla="*/ 38 w 39"/>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9">
                      <a:moveTo>
                        <a:pt x="38" y="0"/>
                      </a:moveTo>
                      <a:lnTo>
                        <a:pt x="0" y="0"/>
                      </a:lnTo>
                      <a:lnTo>
                        <a:pt x="0" y="28"/>
                      </a:lnTo>
                      <a:lnTo>
                        <a:pt x="38" y="28"/>
                      </a:lnTo>
                      <a:lnTo>
                        <a:pt x="38" y="0"/>
                      </a:lnTo>
                    </a:path>
                  </a:pathLst>
                </a:custGeom>
                <a:solidFill>
                  <a:srgbClr val="4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2" name="Freeform 71"/>
                <p:cNvSpPr/>
                <p:nvPr/>
              </p:nvSpPr>
              <p:spPr bwMode="auto">
                <a:xfrm>
                  <a:off x="2292" y="3070"/>
                  <a:ext cx="38" cy="27"/>
                </a:xfrm>
                <a:custGeom>
                  <a:avLst/>
                  <a:gdLst>
                    <a:gd name="T0" fmla="*/ 37 w 38"/>
                    <a:gd name="T1" fmla="*/ 0 h 27"/>
                    <a:gd name="T2" fmla="*/ 0 w 38"/>
                    <a:gd name="T3" fmla="*/ 0 h 27"/>
                    <a:gd name="T4" fmla="*/ 0 w 38"/>
                    <a:gd name="T5" fmla="*/ 26 h 27"/>
                    <a:gd name="T6" fmla="*/ 37 w 38"/>
                    <a:gd name="T7" fmla="*/ 26 h 27"/>
                    <a:gd name="T8" fmla="*/ 37 w 38"/>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7">
                      <a:moveTo>
                        <a:pt x="37" y="0"/>
                      </a:moveTo>
                      <a:lnTo>
                        <a:pt x="0" y="0"/>
                      </a:lnTo>
                      <a:lnTo>
                        <a:pt x="0" y="26"/>
                      </a:lnTo>
                      <a:lnTo>
                        <a:pt x="37" y="26"/>
                      </a:lnTo>
                      <a:lnTo>
                        <a:pt x="37" y="0"/>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3" name="Freeform 72"/>
                <p:cNvSpPr/>
                <p:nvPr/>
              </p:nvSpPr>
              <p:spPr bwMode="auto">
                <a:xfrm>
                  <a:off x="2334" y="3070"/>
                  <a:ext cx="22" cy="27"/>
                </a:xfrm>
                <a:custGeom>
                  <a:avLst/>
                  <a:gdLst>
                    <a:gd name="T0" fmla="*/ 21 w 22"/>
                    <a:gd name="T1" fmla="*/ 0 h 27"/>
                    <a:gd name="T2" fmla="*/ 0 w 22"/>
                    <a:gd name="T3" fmla="*/ 0 h 27"/>
                    <a:gd name="T4" fmla="*/ 0 w 22"/>
                    <a:gd name="T5" fmla="*/ 26 h 27"/>
                    <a:gd name="T6" fmla="*/ 21 w 22"/>
                    <a:gd name="T7" fmla="*/ 26 h 27"/>
                    <a:gd name="T8" fmla="*/ 21 w 22"/>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7">
                      <a:moveTo>
                        <a:pt x="21" y="0"/>
                      </a:moveTo>
                      <a:lnTo>
                        <a:pt x="0" y="0"/>
                      </a:lnTo>
                      <a:lnTo>
                        <a:pt x="0" y="26"/>
                      </a:lnTo>
                      <a:lnTo>
                        <a:pt x="21" y="26"/>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4" name="Freeform 73"/>
                <p:cNvSpPr/>
                <p:nvPr/>
              </p:nvSpPr>
              <p:spPr bwMode="auto">
                <a:xfrm>
                  <a:off x="2268" y="3070"/>
                  <a:ext cx="22" cy="27"/>
                </a:xfrm>
                <a:custGeom>
                  <a:avLst/>
                  <a:gdLst>
                    <a:gd name="T0" fmla="*/ 21 w 22"/>
                    <a:gd name="T1" fmla="*/ 0 h 27"/>
                    <a:gd name="T2" fmla="*/ 0 w 22"/>
                    <a:gd name="T3" fmla="*/ 0 h 27"/>
                    <a:gd name="T4" fmla="*/ 0 w 22"/>
                    <a:gd name="T5" fmla="*/ 26 h 27"/>
                    <a:gd name="T6" fmla="*/ 21 w 22"/>
                    <a:gd name="T7" fmla="*/ 26 h 27"/>
                    <a:gd name="T8" fmla="*/ 21 w 22"/>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7">
                      <a:moveTo>
                        <a:pt x="21" y="0"/>
                      </a:moveTo>
                      <a:lnTo>
                        <a:pt x="0" y="0"/>
                      </a:lnTo>
                      <a:lnTo>
                        <a:pt x="0" y="26"/>
                      </a:lnTo>
                      <a:lnTo>
                        <a:pt x="21" y="26"/>
                      </a:lnTo>
                      <a:lnTo>
                        <a:pt x="21" y="0"/>
                      </a:lnTo>
                    </a:path>
                  </a:pathLst>
                </a:custGeom>
                <a:solidFill>
                  <a:srgbClr val="E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5" name="Freeform 74"/>
                <p:cNvSpPr/>
                <p:nvPr/>
              </p:nvSpPr>
              <p:spPr bwMode="auto">
                <a:xfrm>
                  <a:off x="2259" y="3096"/>
                  <a:ext cx="21" cy="35"/>
                </a:xfrm>
                <a:custGeom>
                  <a:avLst/>
                  <a:gdLst>
                    <a:gd name="T0" fmla="*/ 20 w 21"/>
                    <a:gd name="T1" fmla="*/ 8 h 35"/>
                    <a:gd name="T2" fmla="*/ 20 w 21"/>
                    <a:gd name="T3" fmla="*/ 34 h 35"/>
                    <a:gd name="T4" fmla="*/ 0 w 21"/>
                    <a:gd name="T5" fmla="*/ 24 h 35"/>
                    <a:gd name="T6" fmla="*/ 0 w 21"/>
                    <a:gd name="T7" fmla="*/ 0 h 35"/>
                    <a:gd name="T8" fmla="*/ 20 w 21"/>
                    <a:gd name="T9" fmla="*/ 8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5">
                      <a:moveTo>
                        <a:pt x="20" y="8"/>
                      </a:moveTo>
                      <a:lnTo>
                        <a:pt x="20" y="34"/>
                      </a:lnTo>
                      <a:lnTo>
                        <a:pt x="0" y="24"/>
                      </a:lnTo>
                      <a:lnTo>
                        <a:pt x="0" y="0"/>
                      </a:lnTo>
                      <a:lnTo>
                        <a:pt x="20" y="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6" name="Freeform 75"/>
                <p:cNvSpPr/>
                <p:nvPr/>
              </p:nvSpPr>
              <p:spPr bwMode="auto">
                <a:xfrm>
                  <a:off x="2224" y="3057"/>
                  <a:ext cx="33" cy="63"/>
                </a:xfrm>
                <a:custGeom>
                  <a:avLst/>
                  <a:gdLst>
                    <a:gd name="T0" fmla="*/ 32 w 33"/>
                    <a:gd name="T1" fmla="*/ 34 h 63"/>
                    <a:gd name="T2" fmla="*/ 32 w 33"/>
                    <a:gd name="T3" fmla="*/ 62 h 63"/>
                    <a:gd name="T4" fmla="*/ 0 w 33"/>
                    <a:gd name="T5" fmla="*/ 26 h 63"/>
                    <a:gd name="T6" fmla="*/ 0 w 33"/>
                    <a:gd name="T7" fmla="*/ 0 h 63"/>
                    <a:gd name="T8" fmla="*/ 32 w 33"/>
                    <a:gd name="T9" fmla="*/ 34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63">
                      <a:moveTo>
                        <a:pt x="32" y="34"/>
                      </a:moveTo>
                      <a:lnTo>
                        <a:pt x="32" y="62"/>
                      </a:lnTo>
                      <a:lnTo>
                        <a:pt x="0" y="26"/>
                      </a:lnTo>
                      <a:lnTo>
                        <a:pt x="0" y="0"/>
                      </a:lnTo>
                      <a:lnTo>
                        <a:pt x="32" y="34"/>
                      </a:lnTo>
                    </a:path>
                  </a:pathLst>
                </a:custGeom>
                <a:solidFill>
                  <a:srgbClr val="4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7" name="Freeform 76"/>
                <p:cNvSpPr/>
                <p:nvPr/>
              </p:nvSpPr>
              <p:spPr bwMode="auto">
                <a:xfrm>
                  <a:off x="2190" y="3020"/>
                  <a:ext cx="31" cy="58"/>
                </a:xfrm>
                <a:custGeom>
                  <a:avLst/>
                  <a:gdLst>
                    <a:gd name="T0" fmla="*/ 30 w 31"/>
                    <a:gd name="T1" fmla="*/ 32 h 58"/>
                    <a:gd name="T2" fmla="*/ 30 w 31"/>
                    <a:gd name="T3" fmla="*/ 57 h 58"/>
                    <a:gd name="T4" fmla="*/ 0 w 31"/>
                    <a:gd name="T5" fmla="*/ 24 h 58"/>
                    <a:gd name="T6" fmla="*/ 0 w 31"/>
                    <a:gd name="T7" fmla="*/ 0 h 58"/>
                    <a:gd name="T8" fmla="*/ 30 w 31"/>
                    <a:gd name="T9" fmla="*/ 32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8">
                      <a:moveTo>
                        <a:pt x="30" y="32"/>
                      </a:moveTo>
                      <a:lnTo>
                        <a:pt x="30" y="57"/>
                      </a:lnTo>
                      <a:lnTo>
                        <a:pt x="0" y="24"/>
                      </a:lnTo>
                      <a:lnTo>
                        <a:pt x="0" y="0"/>
                      </a:lnTo>
                      <a:lnTo>
                        <a:pt x="30" y="32"/>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8" name="Freeform 77"/>
                <p:cNvSpPr/>
                <p:nvPr/>
              </p:nvSpPr>
              <p:spPr bwMode="auto">
                <a:xfrm>
                  <a:off x="2152" y="2983"/>
                  <a:ext cx="31" cy="60"/>
                </a:xfrm>
                <a:custGeom>
                  <a:avLst/>
                  <a:gdLst>
                    <a:gd name="T0" fmla="*/ 30 w 31"/>
                    <a:gd name="T1" fmla="*/ 33 h 60"/>
                    <a:gd name="T2" fmla="*/ 30 w 31"/>
                    <a:gd name="T3" fmla="*/ 59 h 60"/>
                    <a:gd name="T4" fmla="*/ 0 w 31"/>
                    <a:gd name="T5" fmla="*/ 24 h 60"/>
                    <a:gd name="T6" fmla="*/ 0 w 31"/>
                    <a:gd name="T7" fmla="*/ 0 h 60"/>
                    <a:gd name="T8" fmla="*/ 30 w 31"/>
                    <a:gd name="T9" fmla="*/ 33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60">
                      <a:moveTo>
                        <a:pt x="30" y="33"/>
                      </a:moveTo>
                      <a:lnTo>
                        <a:pt x="30" y="59"/>
                      </a:lnTo>
                      <a:lnTo>
                        <a:pt x="0" y="24"/>
                      </a:lnTo>
                      <a:lnTo>
                        <a:pt x="0" y="0"/>
                      </a:lnTo>
                      <a:lnTo>
                        <a:pt x="30" y="33"/>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99" name="Freeform 78"/>
                <p:cNvSpPr/>
                <p:nvPr/>
              </p:nvSpPr>
              <p:spPr bwMode="auto">
                <a:xfrm>
                  <a:off x="2135" y="2962"/>
                  <a:ext cx="21" cy="43"/>
                </a:xfrm>
                <a:custGeom>
                  <a:avLst/>
                  <a:gdLst>
                    <a:gd name="T0" fmla="*/ 20 w 21"/>
                    <a:gd name="T1" fmla="*/ 17 h 43"/>
                    <a:gd name="T2" fmla="*/ 20 w 21"/>
                    <a:gd name="T3" fmla="*/ 42 h 43"/>
                    <a:gd name="T4" fmla="*/ 0 w 21"/>
                    <a:gd name="T5" fmla="*/ 23 h 43"/>
                    <a:gd name="T6" fmla="*/ 0 w 21"/>
                    <a:gd name="T7" fmla="*/ 0 h 43"/>
                    <a:gd name="T8" fmla="*/ 20 w 21"/>
                    <a:gd name="T9" fmla="*/ 17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3">
                      <a:moveTo>
                        <a:pt x="20" y="17"/>
                      </a:moveTo>
                      <a:lnTo>
                        <a:pt x="20" y="42"/>
                      </a:lnTo>
                      <a:lnTo>
                        <a:pt x="0" y="23"/>
                      </a:lnTo>
                      <a:lnTo>
                        <a:pt x="0" y="0"/>
                      </a:lnTo>
                      <a:lnTo>
                        <a:pt x="20" y="17"/>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0" name="Freeform 79"/>
                <p:cNvSpPr/>
                <p:nvPr/>
              </p:nvSpPr>
              <p:spPr bwMode="auto">
                <a:xfrm>
                  <a:off x="2259" y="2610"/>
                  <a:ext cx="21" cy="31"/>
                </a:xfrm>
                <a:custGeom>
                  <a:avLst/>
                  <a:gdLst>
                    <a:gd name="T0" fmla="*/ 20 w 21"/>
                    <a:gd name="T1" fmla="*/ 3 h 31"/>
                    <a:gd name="T2" fmla="*/ 20 w 21"/>
                    <a:gd name="T3" fmla="*/ 30 h 31"/>
                    <a:gd name="T4" fmla="*/ 0 w 21"/>
                    <a:gd name="T5" fmla="*/ 24 h 31"/>
                    <a:gd name="T6" fmla="*/ 0 w 21"/>
                    <a:gd name="T7" fmla="*/ 0 h 31"/>
                    <a:gd name="T8" fmla="*/ 20 w 21"/>
                    <a:gd name="T9" fmla="*/ 3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1">
                      <a:moveTo>
                        <a:pt x="20" y="3"/>
                      </a:moveTo>
                      <a:lnTo>
                        <a:pt x="20" y="30"/>
                      </a:lnTo>
                      <a:lnTo>
                        <a:pt x="0" y="24"/>
                      </a:lnTo>
                      <a:lnTo>
                        <a:pt x="0" y="0"/>
                      </a:lnTo>
                      <a:lnTo>
                        <a:pt x="20" y="3"/>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1" name="Freeform 80"/>
                <p:cNvSpPr/>
                <p:nvPr/>
              </p:nvSpPr>
              <p:spPr bwMode="auto">
                <a:xfrm>
                  <a:off x="2224" y="2593"/>
                  <a:ext cx="33" cy="43"/>
                </a:xfrm>
                <a:custGeom>
                  <a:avLst/>
                  <a:gdLst>
                    <a:gd name="T0" fmla="*/ 32 w 33"/>
                    <a:gd name="T1" fmla="*/ 15 h 43"/>
                    <a:gd name="T2" fmla="*/ 32 w 33"/>
                    <a:gd name="T3" fmla="*/ 42 h 43"/>
                    <a:gd name="T4" fmla="*/ 0 w 33"/>
                    <a:gd name="T5" fmla="*/ 24 h 43"/>
                    <a:gd name="T6" fmla="*/ 0 w 33"/>
                    <a:gd name="T7" fmla="*/ 0 h 43"/>
                    <a:gd name="T8" fmla="*/ 32 w 33"/>
                    <a:gd name="T9" fmla="*/ 15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43">
                      <a:moveTo>
                        <a:pt x="32" y="15"/>
                      </a:moveTo>
                      <a:lnTo>
                        <a:pt x="32" y="42"/>
                      </a:lnTo>
                      <a:lnTo>
                        <a:pt x="0" y="24"/>
                      </a:lnTo>
                      <a:lnTo>
                        <a:pt x="0" y="0"/>
                      </a:lnTo>
                      <a:lnTo>
                        <a:pt x="32" y="15"/>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2" name="Freeform 81"/>
                <p:cNvSpPr/>
                <p:nvPr/>
              </p:nvSpPr>
              <p:spPr bwMode="auto">
                <a:xfrm>
                  <a:off x="2190" y="2573"/>
                  <a:ext cx="31" cy="40"/>
                </a:xfrm>
                <a:custGeom>
                  <a:avLst/>
                  <a:gdLst>
                    <a:gd name="T0" fmla="*/ 30 w 31"/>
                    <a:gd name="T1" fmla="*/ 15 h 40"/>
                    <a:gd name="T2" fmla="*/ 30 w 31"/>
                    <a:gd name="T3" fmla="*/ 39 h 40"/>
                    <a:gd name="T4" fmla="*/ 0 w 31"/>
                    <a:gd name="T5" fmla="*/ 22 h 40"/>
                    <a:gd name="T6" fmla="*/ 0 w 31"/>
                    <a:gd name="T7" fmla="*/ 0 h 40"/>
                    <a:gd name="T8" fmla="*/ 30 w 31"/>
                    <a:gd name="T9" fmla="*/ 15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0">
                      <a:moveTo>
                        <a:pt x="30" y="15"/>
                      </a:moveTo>
                      <a:lnTo>
                        <a:pt x="30" y="39"/>
                      </a:lnTo>
                      <a:lnTo>
                        <a:pt x="0" y="22"/>
                      </a:lnTo>
                      <a:lnTo>
                        <a:pt x="0" y="0"/>
                      </a:lnTo>
                      <a:lnTo>
                        <a:pt x="30" y="15"/>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3" name="Freeform 82"/>
                <p:cNvSpPr/>
                <p:nvPr/>
              </p:nvSpPr>
              <p:spPr bwMode="auto">
                <a:xfrm>
                  <a:off x="2152" y="2553"/>
                  <a:ext cx="31" cy="42"/>
                </a:xfrm>
                <a:custGeom>
                  <a:avLst/>
                  <a:gdLst>
                    <a:gd name="T0" fmla="*/ 30 w 31"/>
                    <a:gd name="T1" fmla="*/ 16 h 42"/>
                    <a:gd name="T2" fmla="*/ 30 w 31"/>
                    <a:gd name="T3" fmla="*/ 41 h 42"/>
                    <a:gd name="T4" fmla="*/ 0 w 31"/>
                    <a:gd name="T5" fmla="*/ 24 h 42"/>
                    <a:gd name="T6" fmla="*/ 0 w 31"/>
                    <a:gd name="T7" fmla="*/ 0 h 42"/>
                    <a:gd name="T8" fmla="*/ 30 w 31"/>
                    <a:gd name="T9" fmla="*/ 16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2">
                      <a:moveTo>
                        <a:pt x="30" y="16"/>
                      </a:moveTo>
                      <a:lnTo>
                        <a:pt x="30" y="41"/>
                      </a:lnTo>
                      <a:lnTo>
                        <a:pt x="0" y="24"/>
                      </a:lnTo>
                      <a:lnTo>
                        <a:pt x="0" y="0"/>
                      </a:lnTo>
                      <a:lnTo>
                        <a:pt x="30" y="16"/>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4" name="Freeform 83"/>
                <p:cNvSpPr/>
                <p:nvPr/>
              </p:nvSpPr>
              <p:spPr bwMode="auto">
                <a:xfrm>
                  <a:off x="2135" y="2545"/>
                  <a:ext cx="21" cy="32"/>
                </a:xfrm>
                <a:custGeom>
                  <a:avLst/>
                  <a:gdLst>
                    <a:gd name="T0" fmla="*/ 20 w 21"/>
                    <a:gd name="T1" fmla="*/ 7 h 32"/>
                    <a:gd name="T2" fmla="*/ 20 w 21"/>
                    <a:gd name="T3" fmla="*/ 31 h 32"/>
                    <a:gd name="T4" fmla="*/ 0 w 21"/>
                    <a:gd name="T5" fmla="*/ 23 h 32"/>
                    <a:gd name="T6" fmla="*/ 0 w 21"/>
                    <a:gd name="T7" fmla="*/ 0 h 32"/>
                    <a:gd name="T8" fmla="*/ 20 w 21"/>
                    <a:gd name="T9" fmla="*/ 7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2">
                      <a:moveTo>
                        <a:pt x="20" y="7"/>
                      </a:moveTo>
                      <a:lnTo>
                        <a:pt x="20" y="31"/>
                      </a:lnTo>
                      <a:lnTo>
                        <a:pt x="0" y="23"/>
                      </a:lnTo>
                      <a:lnTo>
                        <a:pt x="0" y="0"/>
                      </a:lnTo>
                      <a:lnTo>
                        <a:pt x="20" y="7"/>
                      </a:lnTo>
                    </a:path>
                  </a:pathLst>
                </a:custGeom>
                <a:solidFill>
                  <a:srgbClr val="4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5" name="Freeform 84"/>
                <p:cNvSpPr/>
                <p:nvPr/>
              </p:nvSpPr>
              <p:spPr bwMode="auto">
                <a:xfrm>
                  <a:off x="2224" y="2658"/>
                  <a:ext cx="33" cy="47"/>
                </a:xfrm>
                <a:custGeom>
                  <a:avLst/>
                  <a:gdLst>
                    <a:gd name="T0" fmla="*/ 32 w 33"/>
                    <a:gd name="T1" fmla="*/ 19 h 47"/>
                    <a:gd name="T2" fmla="*/ 32 w 33"/>
                    <a:gd name="T3" fmla="*/ 46 h 47"/>
                    <a:gd name="T4" fmla="*/ 0 w 33"/>
                    <a:gd name="T5" fmla="*/ 25 h 47"/>
                    <a:gd name="T6" fmla="*/ 0 w 33"/>
                    <a:gd name="T7" fmla="*/ 0 h 47"/>
                    <a:gd name="T8" fmla="*/ 32 w 33"/>
                    <a:gd name="T9" fmla="*/ 19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47">
                      <a:moveTo>
                        <a:pt x="32" y="19"/>
                      </a:moveTo>
                      <a:lnTo>
                        <a:pt x="32" y="46"/>
                      </a:lnTo>
                      <a:lnTo>
                        <a:pt x="0" y="25"/>
                      </a:lnTo>
                      <a:lnTo>
                        <a:pt x="0" y="0"/>
                      </a:lnTo>
                      <a:lnTo>
                        <a:pt x="32" y="19"/>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6" name="Freeform 85"/>
                <p:cNvSpPr/>
                <p:nvPr/>
              </p:nvSpPr>
              <p:spPr bwMode="auto">
                <a:xfrm>
                  <a:off x="2190" y="2638"/>
                  <a:ext cx="31" cy="44"/>
                </a:xfrm>
                <a:custGeom>
                  <a:avLst/>
                  <a:gdLst>
                    <a:gd name="T0" fmla="*/ 30 w 31"/>
                    <a:gd name="T1" fmla="*/ 19 h 44"/>
                    <a:gd name="T2" fmla="*/ 30 w 31"/>
                    <a:gd name="T3" fmla="*/ 43 h 44"/>
                    <a:gd name="T4" fmla="*/ 0 w 31"/>
                    <a:gd name="T5" fmla="*/ 23 h 44"/>
                    <a:gd name="T6" fmla="*/ 0 w 31"/>
                    <a:gd name="T7" fmla="*/ 0 h 44"/>
                    <a:gd name="T8" fmla="*/ 30 w 31"/>
                    <a:gd name="T9" fmla="*/ 19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4">
                      <a:moveTo>
                        <a:pt x="30" y="19"/>
                      </a:moveTo>
                      <a:lnTo>
                        <a:pt x="30" y="43"/>
                      </a:lnTo>
                      <a:lnTo>
                        <a:pt x="0" y="23"/>
                      </a:lnTo>
                      <a:lnTo>
                        <a:pt x="0" y="0"/>
                      </a:lnTo>
                      <a:lnTo>
                        <a:pt x="30" y="19"/>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7" name="Freeform 86"/>
                <p:cNvSpPr/>
                <p:nvPr/>
              </p:nvSpPr>
              <p:spPr bwMode="auto">
                <a:xfrm>
                  <a:off x="2152" y="2615"/>
                  <a:ext cx="31" cy="44"/>
                </a:xfrm>
                <a:custGeom>
                  <a:avLst/>
                  <a:gdLst>
                    <a:gd name="T0" fmla="*/ 30 w 31"/>
                    <a:gd name="T1" fmla="*/ 19 h 44"/>
                    <a:gd name="T2" fmla="*/ 30 w 31"/>
                    <a:gd name="T3" fmla="*/ 43 h 44"/>
                    <a:gd name="T4" fmla="*/ 0 w 31"/>
                    <a:gd name="T5" fmla="*/ 24 h 44"/>
                    <a:gd name="T6" fmla="*/ 0 w 31"/>
                    <a:gd name="T7" fmla="*/ 0 h 44"/>
                    <a:gd name="T8" fmla="*/ 30 w 31"/>
                    <a:gd name="T9" fmla="*/ 19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4">
                      <a:moveTo>
                        <a:pt x="30" y="19"/>
                      </a:moveTo>
                      <a:lnTo>
                        <a:pt x="30" y="43"/>
                      </a:lnTo>
                      <a:lnTo>
                        <a:pt x="0" y="24"/>
                      </a:lnTo>
                      <a:lnTo>
                        <a:pt x="0" y="0"/>
                      </a:lnTo>
                      <a:lnTo>
                        <a:pt x="30" y="19"/>
                      </a:lnTo>
                    </a:path>
                  </a:pathLst>
                </a:custGeom>
                <a:solidFill>
                  <a:srgbClr val="4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8" name="Freeform 87"/>
                <p:cNvSpPr/>
                <p:nvPr/>
              </p:nvSpPr>
              <p:spPr bwMode="auto">
                <a:xfrm>
                  <a:off x="2135" y="2605"/>
                  <a:ext cx="21" cy="35"/>
                </a:xfrm>
                <a:custGeom>
                  <a:avLst/>
                  <a:gdLst>
                    <a:gd name="T0" fmla="*/ 20 w 21"/>
                    <a:gd name="T1" fmla="*/ 8 h 35"/>
                    <a:gd name="T2" fmla="*/ 20 w 21"/>
                    <a:gd name="T3" fmla="*/ 34 h 35"/>
                    <a:gd name="T4" fmla="*/ 0 w 21"/>
                    <a:gd name="T5" fmla="*/ 24 h 35"/>
                    <a:gd name="T6" fmla="*/ 0 w 21"/>
                    <a:gd name="T7" fmla="*/ 0 h 35"/>
                    <a:gd name="T8" fmla="*/ 20 w 21"/>
                    <a:gd name="T9" fmla="*/ 8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5">
                      <a:moveTo>
                        <a:pt x="20" y="8"/>
                      </a:moveTo>
                      <a:lnTo>
                        <a:pt x="20" y="34"/>
                      </a:lnTo>
                      <a:lnTo>
                        <a:pt x="0" y="24"/>
                      </a:lnTo>
                      <a:lnTo>
                        <a:pt x="0" y="0"/>
                      </a:lnTo>
                      <a:lnTo>
                        <a:pt x="20" y="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9" name="Freeform 88"/>
                <p:cNvSpPr/>
                <p:nvPr/>
              </p:nvSpPr>
              <p:spPr bwMode="auto">
                <a:xfrm>
                  <a:off x="2259" y="2750"/>
                  <a:ext cx="21" cy="35"/>
                </a:xfrm>
                <a:custGeom>
                  <a:avLst/>
                  <a:gdLst>
                    <a:gd name="T0" fmla="*/ 20 w 21"/>
                    <a:gd name="T1" fmla="*/ 6 h 35"/>
                    <a:gd name="T2" fmla="*/ 20 w 21"/>
                    <a:gd name="T3" fmla="*/ 34 h 35"/>
                    <a:gd name="T4" fmla="*/ 0 w 21"/>
                    <a:gd name="T5" fmla="*/ 26 h 35"/>
                    <a:gd name="T6" fmla="*/ 0 w 21"/>
                    <a:gd name="T7" fmla="*/ 0 h 35"/>
                    <a:gd name="T8" fmla="*/ 20 w 21"/>
                    <a:gd name="T9" fmla="*/ 6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5">
                      <a:moveTo>
                        <a:pt x="20" y="6"/>
                      </a:moveTo>
                      <a:lnTo>
                        <a:pt x="20" y="34"/>
                      </a:lnTo>
                      <a:lnTo>
                        <a:pt x="0" y="26"/>
                      </a:lnTo>
                      <a:lnTo>
                        <a:pt x="0" y="0"/>
                      </a:lnTo>
                      <a:lnTo>
                        <a:pt x="20" y="6"/>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0" name="Freeform 89"/>
                <p:cNvSpPr/>
                <p:nvPr/>
              </p:nvSpPr>
              <p:spPr bwMode="auto">
                <a:xfrm>
                  <a:off x="2224" y="2724"/>
                  <a:ext cx="33" cy="49"/>
                </a:xfrm>
                <a:custGeom>
                  <a:avLst/>
                  <a:gdLst>
                    <a:gd name="T0" fmla="*/ 32 w 33"/>
                    <a:gd name="T1" fmla="*/ 21 h 49"/>
                    <a:gd name="T2" fmla="*/ 32 w 33"/>
                    <a:gd name="T3" fmla="*/ 48 h 49"/>
                    <a:gd name="T4" fmla="*/ 0 w 33"/>
                    <a:gd name="T5" fmla="*/ 25 h 49"/>
                    <a:gd name="T6" fmla="*/ 0 w 33"/>
                    <a:gd name="T7" fmla="*/ 0 h 49"/>
                    <a:gd name="T8" fmla="*/ 32 w 33"/>
                    <a:gd name="T9" fmla="*/ 21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49">
                      <a:moveTo>
                        <a:pt x="32" y="21"/>
                      </a:moveTo>
                      <a:lnTo>
                        <a:pt x="32" y="48"/>
                      </a:lnTo>
                      <a:lnTo>
                        <a:pt x="0" y="25"/>
                      </a:lnTo>
                      <a:lnTo>
                        <a:pt x="0" y="0"/>
                      </a:lnTo>
                      <a:lnTo>
                        <a:pt x="32" y="21"/>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1" name="Freeform 90"/>
                <p:cNvSpPr/>
                <p:nvPr/>
              </p:nvSpPr>
              <p:spPr bwMode="auto">
                <a:xfrm>
                  <a:off x="2190" y="2701"/>
                  <a:ext cx="31" cy="47"/>
                </a:xfrm>
                <a:custGeom>
                  <a:avLst/>
                  <a:gdLst>
                    <a:gd name="T0" fmla="*/ 30 w 31"/>
                    <a:gd name="T1" fmla="*/ 22 h 47"/>
                    <a:gd name="T2" fmla="*/ 30 w 31"/>
                    <a:gd name="T3" fmla="*/ 46 h 47"/>
                    <a:gd name="T4" fmla="*/ 0 w 31"/>
                    <a:gd name="T5" fmla="*/ 23 h 47"/>
                    <a:gd name="T6" fmla="*/ 0 w 31"/>
                    <a:gd name="T7" fmla="*/ 0 h 47"/>
                    <a:gd name="T8" fmla="*/ 30 w 31"/>
                    <a:gd name="T9" fmla="*/ 22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7">
                      <a:moveTo>
                        <a:pt x="30" y="22"/>
                      </a:moveTo>
                      <a:lnTo>
                        <a:pt x="30" y="46"/>
                      </a:lnTo>
                      <a:lnTo>
                        <a:pt x="0" y="23"/>
                      </a:lnTo>
                      <a:lnTo>
                        <a:pt x="0" y="0"/>
                      </a:lnTo>
                      <a:lnTo>
                        <a:pt x="30" y="22"/>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2" name="Freeform 91"/>
                <p:cNvSpPr/>
                <p:nvPr/>
              </p:nvSpPr>
              <p:spPr bwMode="auto">
                <a:xfrm>
                  <a:off x="2152" y="2677"/>
                  <a:ext cx="31" cy="47"/>
                </a:xfrm>
                <a:custGeom>
                  <a:avLst/>
                  <a:gdLst>
                    <a:gd name="T0" fmla="*/ 30 w 31"/>
                    <a:gd name="T1" fmla="*/ 21 h 47"/>
                    <a:gd name="T2" fmla="*/ 30 w 31"/>
                    <a:gd name="T3" fmla="*/ 46 h 47"/>
                    <a:gd name="T4" fmla="*/ 0 w 31"/>
                    <a:gd name="T5" fmla="*/ 25 h 47"/>
                    <a:gd name="T6" fmla="*/ 0 w 31"/>
                    <a:gd name="T7" fmla="*/ 0 h 47"/>
                    <a:gd name="T8" fmla="*/ 30 w 31"/>
                    <a:gd name="T9" fmla="*/ 21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7">
                      <a:moveTo>
                        <a:pt x="30" y="21"/>
                      </a:moveTo>
                      <a:lnTo>
                        <a:pt x="30" y="46"/>
                      </a:lnTo>
                      <a:lnTo>
                        <a:pt x="0" y="25"/>
                      </a:lnTo>
                      <a:lnTo>
                        <a:pt x="0" y="0"/>
                      </a:lnTo>
                      <a:lnTo>
                        <a:pt x="30" y="21"/>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3" name="Freeform 92"/>
                <p:cNvSpPr/>
                <p:nvPr/>
              </p:nvSpPr>
              <p:spPr bwMode="auto">
                <a:xfrm>
                  <a:off x="2135" y="2665"/>
                  <a:ext cx="21" cy="37"/>
                </a:xfrm>
                <a:custGeom>
                  <a:avLst/>
                  <a:gdLst>
                    <a:gd name="T0" fmla="*/ 20 w 21"/>
                    <a:gd name="T1" fmla="*/ 10 h 37"/>
                    <a:gd name="T2" fmla="*/ 20 w 21"/>
                    <a:gd name="T3" fmla="*/ 36 h 37"/>
                    <a:gd name="T4" fmla="*/ 0 w 21"/>
                    <a:gd name="T5" fmla="*/ 24 h 37"/>
                    <a:gd name="T6" fmla="*/ 0 w 21"/>
                    <a:gd name="T7" fmla="*/ 0 h 37"/>
                    <a:gd name="T8" fmla="*/ 20 w 21"/>
                    <a:gd name="T9" fmla="*/ 1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7">
                      <a:moveTo>
                        <a:pt x="20" y="10"/>
                      </a:moveTo>
                      <a:lnTo>
                        <a:pt x="20" y="36"/>
                      </a:lnTo>
                      <a:lnTo>
                        <a:pt x="0" y="24"/>
                      </a:lnTo>
                      <a:lnTo>
                        <a:pt x="0" y="0"/>
                      </a:lnTo>
                      <a:lnTo>
                        <a:pt x="20" y="10"/>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4" name="Freeform 93"/>
                <p:cNvSpPr/>
                <p:nvPr/>
              </p:nvSpPr>
              <p:spPr bwMode="auto">
                <a:xfrm>
                  <a:off x="2259" y="2818"/>
                  <a:ext cx="21" cy="35"/>
                </a:xfrm>
                <a:custGeom>
                  <a:avLst/>
                  <a:gdLst>
                    <a:gd name="T0" fmla="*/ 20 w 21"/>
                    <a:gd name="T1" fmla="*/ 8 h 35"/>
                    <a:gd name="T2" fmla="*/ 20 w 21"/>
                    <a:gd name="T3" fmla="*/ 34 h 35"/>
                    <a:gd name="T4" fmla="*/ 0 w 21"/>
                    <a:gd name="T5" fmla="*/ 26 h 35"/>
                    <a:gd name="T6" fmla="*/ 0 w 21"/>
                    <a:gd name="T7" fmla="*/ 0 h 35"/>
                    <a:gd name="T8" fmla="*/ 20 w 21"/>
                    <a:gd name="T9" fmla="*/ 8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5">
                      <a:moveTo>
                        <a:pt x="20" y="8"/>
                      </a:moveTo>
                      <a:lnTo>
                        <a:pt x="20" y="34"/>
                      </a:lnTo>
                      <a:lnTo>
                        <a:pt x="0" y="26"/>
                      </a:lnTo>
                      <a:lnTo>
                        <a:pt x="0" y="0"/>
                      </a:lnTo>
                      <a:lnTo>
                        <a:pt x="20" y="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5" name="Freeform 94"/>
                <p:cNvSpPr/>
                <p:nvPr/>
              </p:nvSpPr>
              <p:spPr bwMode="auto">
                <a:xfrm>
                  <a:off x="2224" y="2791"/>
                  <a:ext cx="33" cy="50"/>
                </a:xfrm>
                <a:custGeom>
                  <a:avLst/>
                  <a:gdLst>
                    <a:gd name="T0" fmla="*/ 32 w 33"/>
                    <a:gd name="T1" fmla="*/ 22 h 50"/>
                    <a:gd name="T2" fmla="*/ 32 w 33"/>
                    <a:gd name="T3" fmla="*/ 49 h 50"/>
                    <a:gd name="T4" fmla="*/ 0 w 33"/>
                    <a:gd name="T5" fmla="*/ 25 h 50"/>
                    <a:gd name="T6" fmla="*/ 0 w 33"/>
                    <a:gd name="T7" fmla="*/ 0 h 50"/>
                    <a:gd name="T8" fmla="*/ 32 w 33"/>
                    <a:gd name="T9" fmla="*/ 22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50">
                      <a:moveTo>
                        <a:pt x="32" y="22"/>
                      </a:moveTo>
                      <a:lnTo>
                        <a:pt x="32" y="49"/>
                      </a:lnTo>
                      <a:lnTo>
                        <a:pt x="0" y="25"/>
                      </a:lnTo>
                      <a:lnTo>
                        <a:pt x="0" y="0"/>
                      </a:lnTo>
                      <a:lnTo>
                        <a:pt x="32" y="22"/>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6" name="Freeform 95"/>
                <p:cNvSpPr/>
                <p:nvPr/>
              </p:nvSpPr>
              <p:spPr bwMode="auto">
                <a:xfrm>
                  <a:off x="2190" y="2764"/>
                  <a:ext cx="31" cy="52"/>
                </a:xfrm>
                <a:custGeom>
                  <a:avLst/>
                  <a:gdLst>
                    <a:gd name="T0" fmla="*/ 30 w 31"/>
                    <a:gd name="T1" fmla="*/ 25 h 52"/>
                    <a:gd name="T2" fmla="*/ 30 w 31"/>
                    <a:gd name="T3" fmla="*/ 51 h 52"/>
                    <a:gd name="T4" fmla="*/ 0 w 31"/>
                    <a:gd name="T5" fmla="*/ 25 h 52"/>
                    <a:gd name="T6" fmla="*/ 0 w 31"/>
                    <a:gd name="T7" fmla="*/ 0 h 52"/>
                    <a:gd name="T8" fmla="*/ 30 w 31"/>
                    <a:gd name="T9" fmla="*/ 25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2">
                      <a:moveTo>
                        <a:pt x="30" y="25"/>
                      </a:moveTo>
                      <a:lnTo>
                        <a:pt x="30" y="51"/>
                      </a:lnTo>
                      <a:lnTo>
                        <a:pt x="0" y="25"/>
                      </a:lnTo>
                      <a:lnTo>
                        <a:pt x="0" y="0"/>
                      </a:lnTo>
                      <a:lnTo>
                        <a:pt x="30" y="25"/>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7" name="Freeform 96"/>
                <p:cNvSpPr/>
                <p:nvPr/>
              </p:nvSpPr>
              <p:spPr bwMode="auto">
                <a:xfrm>
                  <a:off x="2152" y="2737"/>
                  <a:ext cx="31" cy="50"/>
                </a:xfrm>
                <a:custGeom>
                  <a:avLst/>
                  <a:gdLst>
                    <a:gd name="T0" fmla="*/ 30 w 31"/>
                    <a:gd name="T1" fmla="*/ 24 h 50"/>
                    <a:gd name="T2" fmla="*/ 30 w 31"/>
                    <a:gd name="T3" fmla="*/ 49 h 50"/>
                    <a:gd name="T4" fmla="*/ 0 w 31"/>
                    <a:gd name="T5" fmla="*/ 24 h 50"/>
                    <a:gd name="T6" fmla="*/ 0 w 31"/>
                    <a:gd name="T7" fmla="*/ 0 h 50"/>
                    <a:gd name="T8" fmla="*/ 30 w 31"/>
                    <a:gd name="T9" fmla="*/ 24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0">
                      <a:moveTo>
                        <a:pt x="30" y="24"/>
                      </a:moveTo>
                      <a:lnTo>
                        <a:pt x="30" y="49"/>
                      </a:lnTo>
                      <a:lnTo>
                        <a:pt x="0" y="24"/>
                      </a:lnTo>
                      <a:lnTo>
                        <a:pt x="0" y="0"/>
                      </a:lnTo>
                      <a:lnTo>
                        <a:pt x="30" y="24"/>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8" name="Freeform 97"/>
                <p:cNvSpPr/>
                <p:nvPr/>
              </p:nvSpPr>
              <p:spPr bwMode="auto">
                <a:xfrm>
                  <a:off x="2135" y="2725"/>
                  <a:ext cx="21" cy="37"/>
                </a:xfrm>
                <a:custGeom>
                  <a:avLst/>
                  <a:gdLst>
                    <a:gd name="T0" fmla="*/ 20 w 21"/>
                    <a:gd name="T1" fmla="*/ 11 h 37"/>
                    <a:gd name="T2" fmla="*/ 20 w 21"/>
                    <a:gd name="T3" fmla="*/ 36 h 37"/>
                    <a:gd name="T4" fmla="*/ 0 w 21"/>
                    <a:gd name="T5" fmla="*/ 23 h 37"/>
                    <a:gd name="T6" fmla="*/ 0 w 21"/>
                    <a:gd name="T7" fmla="*/ 0 h 37"/>
                    <a:gd name="T8" fmla="*/ 20 w 21"/>
                    <a:gd name="T9" fmla="*/ 1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7">
                      <a:moveTo>
                        <a:pt x="20" y="11"/>
                      </a:moveTo>
                      <a:lnTo>
                        <a:pt x="20" y="36"/>
                      </a:lnTo>
                      <a:lnTo>
                        <a:pt x="0" y="23"/>
                      </a:lnTo>
                      <a:lnTo>
                        <a:pt x="0" y="0"/>
                      </a:lnTo>
                      <a:lnTo>
                        <a:pt x="20" y="11"/>
                      </a:lnTo>
                    </a:path>
                  </a:pathLst>
                </a:custGeom>
                <a:solidFill>
                  <a:srgbClr val="4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19" name="Freeform 98"/>
                <p:cNvSpPr/>
                <p:nvPr/>
              </p:nvSpPr>
              <p:spPr bwMode="auto">
                <a:xfrm>
                  <a:off x="2259" y="2888"/>
                  <a:ext cx="21" cy="35"/>
                </a:xfrm>
                <a:custGeom>
                  <a:avLst/>
                  <a:gdLst>
                    <a:gd name="T0" fmla="*/ 20 w 21"/>
                    <a:gd name="T1" fmla="*/ 8 h 35"/>
                    <a:gd name="T2" fmla="*/ 20 w 21"/>
                    <a:gd name="T3" fmla="*/ 34 h 35"/>
                    <a:gd name="T4" fmla="*/ 0 w 21"/>
                    <a:gd name="T5" fmla="*/ 25 h 35"/>
                    <a:gd name="T6" fmla="*/ 0 w 21"/>
                    <a:gd name="T7" fmla="*/ 0 h 35"/>
                    <a:gd name="T8" fmla="*/ 20 w 21"/>
                    <a:gd name="T9" fmla="*/ 8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5">
                      <a:moveTo>
                        <a:pt x="20" y="8"/>
                      </a:moveTo>
                      <a:lnTo>
                        <a:pt x="20" y="34"/>
                      </a:lnTo>
                      <a:lnTo>
                        <a:pt x="0" y="25"/>
                      </a:lnTo>
                      <a:lnTo>
                        <a:pt x="0" y="0"/>
                      </a:lnTo>
                      <a:lnTo>
                        <a:pt x="20" y="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0" name="Freeform 99"/>
                <p:cNvSpPr/>
                <p:nvPr/>
              </p:nvSpPr>
              <p:spPr bwMode="auto">
                <a:xfrm>
                  <a:off x="2224" y="2858"/>
                  <a:ext cx="33" cy="51"/>
                </a:xfrm>
                <a:custGeom>
                  <a:avLst/>
                  <a:gdLst>
                    <a:gd name="T0" fmla="*/ 32 w 33"/>
                    <a:gd name="T1" fmla="*/ 25 h 51"/>
                    <a:gd name="T2" fmla="*/ 32 w 33"/>
                    <a:gd name="T3" fmla="*/ 50 h 51"/>
                    <a:gd name="T4" fmla="*/ 0 w 33"/>
                    <a:gd name="T5" fmla="*/ 25 h 51"/>
                    <a:gd name="T6" fmla="*/ 0 w 33"/>
                    <a:gd name="T7" fmla="*/ 0 h 51"/>
                    <a:gd name="T8" fmla="*/ 32 w 33"/>
                    <a:gd name="T9" fmla="*/ 25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51">
                      <a:moveTo>
                        <a:pt x="32" y="25"/>
                      </a:moveTo>
                      <a:lnTo>
                        <a:pt x="32" y="50"/>
                      </a:lnTo>
                      <a:lnTo>
                        <a:pt x="0" y="25"/>
                      </a:lnTo>
                      <a:lnTo>
                        <a:pt x="0" y="0"/>
                      </a:lnTo>
                      <a:lnTo>
                        <a:pt x="32" y="25"/>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1" name="Freeform 100"/>
                <p:cNvSpPr/>
                <p:nvPr/>
              </p:nvSpPr>
              <p:spPr bwMode="auto">
                <a:xfrm>
                  <a:off x="2190" y="2828"/>
                  <a:ext cx="31" cy="52"/>
                </a:xfrm>
                <a:custGeom>
                  <a:avLst/>
                  <a:gdLst>
                    <a:gd name="T0" fmla="*/ 30 w 31"/>
                    <a:gd name="T1" fmla="*/ 26 h 52"/>
                    <a:gd name="T2" fmla="*/ 30 w 31"/>
                    <a:gd name="T3" fmla="*/ 51 h 52"/>
                    <a:gd name="T4" fmla="*/ 0 w 31"/>
                    <a:gd name="T5" fmla="*/ 24 h 52"/>
                    <a:gd name="T6" fmla="*/ 0 w 31"/>
                    <a:gd name="T7" fmla="*/ 0 h 52"/>
                    <a:gd name="T8" fmla="*/ 30 w 31"/>
                    <a:gd name="T9" fmla="*/ 26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2">
                      <a:moveTo>
                        <a:pt x="30" y="26"/>
                      </a:moveTo>
                      <a:lnTo>
                        <a:pt x="30" y="51"/>
                      </a:lnTo>
                      <a:lnTo>
                        <a:pt x="0" y="24"/>
                      </a:lnTo>
                      <a:lnTo>
                        <a:pt x="0" y="0"/>
                      </a:lnTo>
                      <a:lnTo>
                        <a:pt x="30" y="26"/>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2" name="Freeform 101"/>
                <p:cNvSpPr/>
                <p:nvPr/>
              </p:nvSpPr>
              <p:spPr bwMode="auto">
                <a:xfrm>
                  <a:off x="2152" y="2799"/>
                  <a:ext cx="31" cy="51"/>
                </a:xfrm>
                <a:custGeom>
                  <a:avLst/>
                  <a:gdLst>
                    <a:gd name="T0" fmla="*/ 30 w 31"/>
                    <a:gd name="T1" fmla="*/ 25 h 51"/>
                    <a:gd name="T2" fmla="*/ 30 w 31"/>
                    <a:gd name="T3" fmla="*/ 50 h 51"/>
                    <a:gd name="T4" fmla="*/ 0 w 31"/>
                    <a:gd name="T5" fmla="*/ 23 h 51"/>
                    <a:gd name="T6" fmla="*/ 0 w 31"/>
                    <a:gd name="T7" fmla="*/ 0 h 51"/>
                    <a:gd name="T8" fmla="*/ 30 w 31"/>
                    <a:gd name="T9" fmla="*/ 25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1">
                      <a:moveTo>
                        <a:pt x="30" y="25"/>
                      </a:moveTo>
                      <a:lnTo>
                        <a:pt x="30" y="50"/>
                      </a:lnTo>
                      <a:lnTo>
                        <a:pt x="0" y="23"/>
                      </a:lnTo>
                      <a:lnTo>
                        <a:pt x="0" y="0"/>
                      </a:lnTo>
                      <a:lnTo>
                        <a:pt x="30" y="25"/>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3" name="Freeform 102"/>
                <p:cNvSpPr/>
                <p:nvPr/>
              </p:nvSpPr>
              <p:spPr bwMode="auto">
                <a:xfrm>
                  <a:off x="2135" y="2785"/>
                  <a:ext cx="21" cy="37"/>
                </a:xfrm>
                <a:custGeom>
                  <a:avLst/>
                  <a:gdLst>
                    <a:gd name="T0" fmla="*/ 20 w 21"/>
                    <a:gd name="T1" fmla="*/ 12 h 37"/>
                    <a:gd name="T2" fmla="*/ 20 w 21"/>
                    <a:gd name="T3" fmla="*/ 36 h 37"/>
                    <a:gd name="T4" fmla="*/ 0 w 21"/>
                    <a:gd name="T5" fmla="*/ 23 h 37"/>
                    <a:gd name="T6" fmla="*/ 0 w 21"/>
                    <a:gd name="T7" fmla="*/ 0 h 37"/>
                    <a:gd name="T8" fmla="*/ 20 w 21"/>
                    <a:gd name="T9" fmla="*/ 1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7">
                      <a:moveTo>
                        <a:pt x="20" y="12"/>
                      </a:moveTo>
                      <a:lnTo>
                        <a:pt x="20" y="36"/>
                      </a:lnTo>
                      <a:lnTo>
                        <a:pt x="0" y="23"/>
                      </a:lnTo>
                      <a:lnTo>
                        <a:pt x="0" y="0"/>
                      </a:lnTo>
                      <a:lnTo>
                        <a:pt x="20" y="12"/>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4" name="Freeform 103"/>
                <p:cNvSpPr/>
                <p:nvPr/>
              </p:nvSpPr>
              <p:spPr bwMode="auto">
                <a:xfrm>
                  <a:off x="2259" y="2958"/>
                  <a:ext cx="21" cy="33"/>
                </a:xfrm>
                <a:custGeom>
                  <a:avLst/>
                  <a:gdLst>
                    <a:gd name="T0" fmla="*/ 20 w 21"/>
                    <a:gd name="T1" fmla="*/ 7 h 33"/>
                    <a:gd name="T2" fmla="*/ 20 w 21"/>
                    <a:gd name="T3" fmla="*/ 32 h 33"/>
                    <a:gd name="T4" fmla="*/ 0 w 21"/>
                    <a:gd name="T5" fmla="*/ 22 h 33"/>
                    <a:gd name="T6" fmla="*/ 0 w 21"/>
                    <a:gd name="T7" fmla="*/ 0 h 33"/>
                    <a:gd name="T8" fmla="*/ 20 w 21"/>
                    <a:gd name="T9" fmla="*/ 7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3">
                      <a:moveTo>
                        <a:pt x="20" y="7"/>
                      </a:moveTo>
                      <a:lnTo>
                        <a:pt x="20" y="32"/>
                      </a:lnTo>
                      <a:lnTo>
                        <a:pt x="0" y="22"/>
                      </a:lnTo>
                      <a:lnTo>
                        <a:pt x="0" y="0"/>
                      </a:lnTo>
                      <a:lnTo>
                        <a:pt x="20" y="7"/>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5" name="Freeform 104"/>
                <p:cNvSpPr/>
                <p:nvPr/>
              </p:nvSpPr>
              <p:spPr bwMode="auto">
                <a:xfrm>
                  <a:off x="2224" y="2922"/>
                  <a:ext cx="33" cy="60"/>
                </a:xfrm>
                <a:custGeom>
                  <a:avLst/>
                  <a:gdLst>
                    <a:gd name="T0" fmla="*/ 32 w 33"/>
                    <a:gd name="T1" fmla="*/ 29 h 60"/>
                    <a:gd name="T2" fmla="*/ 32 w 33"/>
                    <a:gd name="T3" fmla="*/ 59 h 60"/>
                    <a:gd name="T4" fmla="*/ 0 w 33"/>
                    <a:gd name="T5" fmla="*/ 27 h 60"/>
                    <a:gd name="T6" fmla="*/ 0 w 33"/>
                    <a:gd name="T7" fmla="*/ 0 h 60"/>
                    <a:gd name="T8" fmla="*/ 32 w 33"/>
                    <a:gd name="T9" fmla="*/ 29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60">
                      <a:moveTo>
                        <a:pt x="32" y="29"/>
                      </a:moveTo>
                      <a:lnTo>
                        <a:pt x="32" y="59"/>
                      </a:lnTo>
                      <a:lnTo>
                        <a:pt x="0" y="27"/>
                      </a:lnTo>
                      <a:lnTo>
                        <a:pt x="0" y="0"/>
                      </a:lnTo>
                      <a:lnTo>
                        <a:pt x="32" y="29"/>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6" name="Freeform 105"/>
                <p:cNvSpPr/>
                <p:nvPr/>
              </p:nvSpPr>
              <p:spPr bwMode="auto">
                <a:xfrm>
                  <a:off x="2190" y="2892"/>
                  <a:ext cx="31" cy="55"/>
                </a:xfrm>
                <a:custGeom>
                  <a:avLst/>
                  <a:gdLst>
                    <a:gd name="T0" fmla="*/ 30 w 31"/>
                    <a:gd name="T1" fmla="*/ 29 h 55"/>
                    <a:gd name="T2" fmla="*/ 30 w 31"/>
                    <a:gd name="T3" fmla="*/ 54 h 55"/>
                    <a:gd name="T4" fmla="*/ 0 w 31"/>
                    <a:gd name="T5" fmla="*/ 24 h 55"/>
                    <a:gd name="T6" fmla="*/ 0 w 31"/>
                    <a:gd name="T7" fmla="*/ 0 h 55"/>
                    <a:gd name="T8" fmla="*/ 30 w 31"/>
                    <a:gd name="T9" fmla="*/ 29 h 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5">
                      <a:moveTo>
                        <a:pt x="30" y="29"/>
                      </a:moveTo>
                      <a:lnTo>
                        <a:pt x="30" y="54"/>
                      </a:lnTo>
                      <a:lnTo>
                        <a:pt x="0" y="24"/>
                      </a:lnTo>
                      <a:lnTo>
                        <a:pt x="0" y="0"/>
                      </a:lnTo>
                      <a:lnTo>
                        <a:pt x="30" y="29"/>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7" name="Freeform 106"/>
                <p:cNvSpPr/>
                <p:nvPr/>
              </p:nvSpPr>
              <p:spPr bwMode="auto">
                <a:xfrm>
                  <a:off x="2152" y="2861"/>
                  <a:ext cx="31" cy="53"/>
                </a:xfrm>
                <a:custGeom>
                  <a:avLst/>
                  <a:gdLst>
                    <a:gd name="T0" fmla="*/ 30 w 31"/>
                    <a:gd name="T1" fmla="*/ 28 h 53"/>
                    <a:gd name="T2" fmla="*/ 30 w 31"/>
                    <a:gd name="T3" fmla="*/ 52 h 53"/>
                    <a:gd name="T4" fmla="*/ 0 w 31"/>
                    <a:gd name="T5" fmla="*/ 23 h 53"/>
                    <a:gd name="T6" fmla="*/ 0 w 31"/>
                    <a:gd name="T7" fmla="*/ 0 h 53"/>
                    <a:gd name="T8" fmla="*/ 30 w 31"/>
                    <a:gd name="T9" fmla="*/ 28 h 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3">
                      <a:moveTo>
                        <a:pt x="30" y="28"/>
                      </a:moveTo>
                      <a:lnTo>
                        <a:pt x="30" y="52"/>
                      </a:lnTo>
                      <a:lnTo>
                        <a:pt x="0" y="23"/>
                      </a:lnTo>
                      <a:lnTo>
                        <a:pt x="0" y="0"/>
                      </a:lnTo>
                      <a:lnTo>
                        <a:pt x="30" y="2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8" name="Freeform 107"/>
                <p:cNvSpPr/>
                <p:nvPr/>
              </p:nvSpPr>
              <p:spPr bwMode="auto">
                <a:xfrm>
                  <a:off x="2135" y="2844"/>
                  <a:ext cx="21" cy="38"/>
                </a:xfrm>
                <a:custGeom>
                  <a:avLst/>
                  <a:gdLst>
                    <a:gd name="T0" fmla="*/ 20 w 21"/>
                    <a:gd name="T1" fmla="*/ 12 h 38"/>
                    <a:gd name="T2" fmla="*/ 20 w 21"/>
                    <a:gd name="T3" fmla="*/ 37 h 38"/>
                    <a:gd name="T4" fmla="*/ 0 w 21"/>
                    <a:gd name="T5" fmla="*/ 22 h 38"/>
                    <a:gd name="T6" fmla="*/ 0 w 21"/>
                    <a:gd name="T7" fmla="*/ 0 h 38"/>
                    <a:gd name="T8" fmla="*/ 20 w 21"/>
                    <a:gd name="T9" fmla="*/ 12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8">
                      <a:moveTo>
                        <a:pt x="20" y="12"/>
                      </a:moveTo>
                      <a:lnTo>
                        <a:pt x="20" y="37"/>
                      </a:lnTo>
                      <a:lnTo>
                        <a:pt x="0" y="22"/>
                      </a:lnTo>
                      <a:lnTo>
                        <a:pt x="0" y="0"/>
                      </a:lnTo>
                      <a:lnTo>
                        <a:pt x="20" y="12"/>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29" name="Freeform 108"/>
                <p:cNvSpPr/>
                <p:nvPr/>
              </p:nvSpPr>
              <p:spPr bwMode="auto">
                <a:xfrm>
                  <a:off x="2259" y="3026"/>
                  <a:ext cx="21" cy="39"/>
                </a:xfrm>
                <a:custGeom>
                  <a:avLst/>
                  <a:gdLst>
                    <a:gd name="T0" fmla="*/ 20 w 21"/>
                    <a:gd name="T1" fmla="*/ 10 h 39"/>
                    <a:gd name="T2" fmla="*/ 20 w 21"/>
                    <a:gd name="T3" fmla="*/ 38 h 39"/>
                    <a:gd name="T4" fmla="*/ 0 w 21"/>
                    <a:gd name="T5" fmla="*/ 26 h 39"/>
                    <a:gd name="T6" fmla="*/ 0 w 21"/>
                    <a:gd name="T7" fmla="*/ 0 h 39"/>
                    <a:gd name="T8" fmla="*/ 20 w 21"/>
                    <a:gd name="T9" fmla="*/ 10 h 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9">
                      <a:moveTo>
                        <a:pt x="20" y="10"/>
                      </a:moveTo>
                      <a:lnTo>
                        <a:pt x="20" y="38"/>
                      </a:lnTo>
                      <a:lnTo>
                        <a:pt x="0" y="26"/>
                      </a:lnTo>
                      <a:lnTo>
                        <a:pt x="0" y="0"/>
                      </a:lnTo>
                      <a:lnTo>
                        <a:pt x="20" y="10"/>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0" name="Freeform 109"/>
                <p:cNvSpPr/>
                <p:nvPr/>
              </p:nvSpPr>
              <p:spPr bwMode="auto">
                <a:xfrm>
                  <a:off x="2224" y="2990"/>
                  <a:ext cx="33" cy="60"/>
                </a:xfrm>
                <a:custGeom>
                  <a:avLst/>
                  <a:gdLst>
                    <a:gd name="T0" fmla="*/ 32 w 33"/>
                    <a:gd name="T1" fmla="*/ 31 h 60"/>
                    <a:gd name="T2" fmla="*/ 32 w 33"/>
                    <a:gd name="T3" fmla="*/ 59 h 60"/>
                    <a:gd name="T4" fmla="*/ 0 w 33"/>
                    <a:gd name="T5" fmla="*/ 26 h 60"/>
                    <a:gd name="T6" fmla="*/ 0 w 33"/>
                    <a:gd name="T7" fmla="*/ 0 h 60"/>
                    <a:gd name="T8" fmla="*/ 32 w 33"/>
                    <a:gd name="T9" fmla="*/ 31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60">
                      <a:moveTo>
                        <a:pt x="32" y="31"/>
                      </a:moveTo>
                      <a:lnTo>
                        <a:pt x="32" y="59"/>
                      </a:lnTo>
                      <a:lnTo>
                        <a:pt x="0" y="26"/>
                      </a:lnTo>
                      <a:lnTo>
                        <a:pt x="0" y="0"/>
                      </a:lnTo>
                      <a:lnTo>
                        <a:pt x="32" y="31"/>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1" name="Freeform 110"/>
                <p:cNvSpPr/>
                <p:nvPr/>
              </p:nvSpPr>
              <p:spPr bwMode="auto">
                <a:xfrm>
                  <a:off x="2190" y="2956"/>
                  <a:ext cx="31" cy="58"/>
                </a:xfrm>
                <a:custGeom>
                  <a:avLst/>
                  <a:gdLst>
                    <a:gd name="T0" fmla="*/ 30 w 31"/>
                    <a:gd name="T1" fmla="*/ 32 h 58"/>
                    <a:gd name="T2" fmla="*/ 30 w 31"/>
                    <a:gd name="T3" fmla="*/ 57 h 58"/>
                    <a:gd name="T4" fmla="*/ 0 w 31"/>
                    <a:gd name="T5" fmla="*/ 25 h 58"/>
                    <a:gd name="T6" fmla="*/ 0 w 31"/>
                    <a:gd name="T7" fmla="*/ 0 h 58"/>
                    <a:gd name="T8" fmla="*/ 30 w 31"/>
                    <a:gd name="T9" fmla="*/ 32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8">
                      <a:moveTo>
                        <a:pt x="30" y="32"/>
                      </a:moveTo>
                      <a:lnTo>
                        <a:pt x="30" y="57"/>
                      </a:lnTo>
                      <a:lnTo>
                        <a:pt x="0" y="25"/>
                      </a:lnTo>
                      <a:lnTo>
                        <a:pt x="0" y="0"/>
                      </a:lnTo>
                      <a:lnTo>
                        <a:pt x="30" y="32"/>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2" name="Freeform 111"/>
                <p:cNvSpPr/>
                <p:nvPr/>
              </p:nvSpPr>
              <p:spPr bwMode="auto">
                <a:xfrm>
                  <a:off x="2152" y="2921"/>
                  <a:ext cx="31" cy="56"/>
                </a:xfrm>
                <a:custGeom>
                  <a:avLst/>
                  <a:gdLst>
                    <a:gd name="T0" fmla="*/ 30 w 31"/>
                    <a:gd name="T1" fmla="*/ 30 h 56"/>
                    <a:gd name="T2" fmla="*/ 30 w 31"/>
                    <a:gd name="T3" fmla="*/ 55 h 56"/>
                    <a:gd name="T4" fmla="*/ 0 w 31"/>
                    <a:gd name="T5" fmla="*/ 24 h 56"/>
                    <a:gd name="T6" fmla="*/ 0 w 31"/>
                    <a:gd name="T7" fmla="*/ 0 h 56"/>
                    <a:gd name="T8" fmla="*/ 30 w 31"/>
                    <a:gd name="T9" fmla="*/ 30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56">
                      <a:moveTo>
                        <a:pt x="30" y="30"/>
                      </a:moveTo>
                      <a:lnTo>
                        <a:pt x="30" y="55"/>
                      </a:lnTo>
                      <a:lnTo>
                        <a:pt x="0" y="24"/>
                      </a:lnTo>
                      <a:lnTo>
                        <a:pt x="0" y="0"/>
                      </a:lnTo>
                      <a:lnTo>
                        <a:pt x="30" y="30"/>
                      </a:lnTo>
                    </a:path>
                  </a:pathLst>
                </a:custGeom>
                <a:solidFill>
                  <a:srgbClr val="2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3" name="Freeform 112"/>
                <p:cNvSpPr/>
                <p:nvPr/>
              </p:nvSpPr>
              <p:spPr bwMode="auto">
                <a:xfrm>
                  <a:off x="2135" y="2904"/>
                  <a:ext cx="21" cy="40"/>
                </a:xfrm>
                <a:custGeom>
                  <a:avLst/>
                  <a:gdLst>
                    <a:gd name="T0" fmla="*/ 20 w 21"/>
                    <a:gd name="T1" fmla="*/ 13 h 40"/>
                    <a:gd name="T2" fmla="*/ 20 w 21"/>
                    <a:gd name="T3" fmla="*/ 39 h 40"/>
                    <a:gd name="T4" fmla="*/ 0 w 21"/>
                    <a:gd name="T5" fmla="*/ 21 h 40"/>
                    <a:gd name="T6" fmla="*/ 0 w 21"/>
                    <a:gd name="T7" fmla="*/ 0 h 40"/>
                    <a:gd name="T8" fmla="*/ 20 w 21"/>
                    <a:gd name="T9" fmla="*/ 13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40">
                      <a:moveTo>
                        <a:pt x="20" y="13"/>
                      </a:moveTo>
                      <a:lnTo>
                        <a:pt x="20" y="39"/>
                      </a:lnTo>
                      <a:lnTo>
                        <a:pt x="0" y="21"/>
                      </a:lnTo>
                      <a:lnTo>
                        <a:pt x="0" y="0"/>
                      </a:lnTo>
                      <a:lnTo>
                        <a:pt x="20" y="13"/>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4" name="Freeform 113"/>
                <p:cNvSpPr/>
                <p:nvPr/>
              </p:nvSpPr>
              <p:spPr bwMode="auto">
                <a:xfrm>
                  <a:off x="2135" y="2935"/>
                  <a:ext cx="25" cy="49"/>
                </a:xfrm>
                <a:custGeom>
                  <a:avLst/>
                  <a:gdLst>
                    <a:gd name="T0" fmla="*/ 24 w 25"/>
                    <a:gd name="T1" fmla="*/ 26 h 49"/>
                    <a:gd name="T2" fmla="*/ 24 w 25"/>
                    <a:gd name="T3" fmla="*/ 48 h 49"/>
                    <a:gd name="T4" fmla="*/ 0 w 25"/>
                    <a:gd name="T5" fmla="*/ 22 h 49"/>
                    <a:gd name="T6" fmla="*/ 0 w 25"/>
                    <a:gd name="T7" fmla="*/ 0 h 49"/>
                    <a:gd name="T8" fmla="*/ 24 w 25"/>
                    <a:gd name="T9" fmla="*/ 26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49">
                      <a:moveTo>
                        <a:pt x="24" y="26"/>
                      </a:moveTo>
                      <a:lnTo>
                        <a:pt x="24" y="48"/>
                      </a:lnTo>
                      <a:lnTo>
                        <a:pt x="0" y="22"/>
                      </a:lnTo>
                      <a:lnTo>
                        <a:pt x="0" y="0"/>
                      </a:lnTo>
                      <a:lnTo>
                        <a:pt x="24" y="26"/>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5" name="Freeform 114"/>
                <p:cNvSpPr/>
                <p:nvPr/>
              </p:nvSpPr>
              <p:spPr bwMode="auto">
                <a:xfrm>
                  <a:off x="2231" y="3031"/>
                  <a:ext cx="36" cy="66"/>
                </a:xfrm>
                <a:custGeom>
                  <a:avLst/>
                  <a:gdLst>
                    <a:gd name="T0" fmla="*/ 35 w 36"/>
                    <a:gd name="T1" fmla="*/ 38 h 66"/>
                    <a:gd name="T2" fmla="*/ 35 w 36"/>
                    <a:gd name="T3" fmla="*/ 65 h 66"/>
                    <a:gd name="T4" fmla="*/ 0 w 36"/>
                    <a:gd name="T5" fmla="*/ 27 h 66"/>
                    <a:gd name="T6" fmla="*/ 0 w 36"/>
                    <a:gd name="T7" fmla="*/ 0 h 66"/>
                    <a:gd name="T8" fmla="*/ 35 w 36"/>
                    <a:gd name="T9" fmla="*/ 38 h 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66">
                      <a:moveTo>
                        <a:pt x="35" y="38"/>
                      </a:moveTo>
                      <a:lnTo>
                        <a:pt x="35" y="65"/>
                      </a:lnTo>
                      <a:lnTo>
                        <a:pt x="0" y="27"/>
                      </a:lnTo>
                      <a:lnTo>
                        <a:pt x="0" y="0"/>
                      </a:lnTo>
                      <a:lnTo>
                        <a:pt x="35" y="3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6" name="Freeform 115"/>
                <p:cNvSpPr/>
                <p:nvPr/>
              </p:nvSpPr>
              <p:spPr bwMode="auto">
                <a:xfrm>
                  <a:off x="2198" y="2998"/>
                  <a:ext cx="29" cy="57"/>
                </a:xfrm>
                <a:custGeom>
                  <a:avLst/>
                  <a:gdLst>
                    <a:gd name="T0" fmla="*/ 28 w 29"/>
                    <a:gd name="T1" fmla="*/ 30 h 57"/>
                    <a:gd name="T2" fmla="*/ 28 w 29"/>
                    <a:gd name="T3" fmla="*/ 56 h 57"/>
                    <a:gd name="T4" fmla="*/ 0 w 29"/>
                    <a:gd name="T5" fmla="*/ 25 h 57"/>
                    <a:gd name="T6" fmla="*/ 0 w 29"/>
                    <a:gd name="T7" fmla="*/ 0 h 57"/>
                    <a:gd name="T8" fmla="*/ 28 w 29"/>
                    <a:gd name="T9" fmla="*/ 3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57">
                      <a:moveTo>
                        <a:pt x="28" y="30"/>
                      </a:moveTo>
                      <a:lnTo>
                        <a:pt x="28" y="56"/>
                      </a:lnTo>
                      <a:lnTo>
                        <a:pt x="0" y="25"/>
                      </a:lnTo>
                      <a:lnTo>
                        <a:pt x="0" y="0"/>
                      </a:lnTo>
                      <a:lnTo>
                        <a:pt x="28" y="30"/>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7" name="Freeform 116"/>
                <p:cNvSpPr/>
                <p:nvPr/>
              </p:nvSpPr>
              <p:spPr bwMode="auto">
                <a:xfrm>
                  <a:off x="2164" y="2964"/>
                  <a:ext cx="32" cy="56"/>
                </a:xfrm>
                <a:custGeom>
                  <a:avLst/>
                  <a:gdLst>
                    <a:gd name="T0" fmla="*/ 31 w 32"/>
                    <a:gd name="T1" fmla="*/ 30 h 56"/>
                    <a:gd name="T2" fmla="*/ 31 w 32"/>
                    <a:gd name="T3" fmla="*/ 55 h 56"/>
                    <a:gd name="T4" fmla="*/ 0 w 32"/>
                    <a:gd name="T5" fmla="*/ 22 h 56"/>
                    <a:gd name="T6" fmla="*/ 0 w 32"/>
                    <a:gd name="T7" fmla="*/ 0 h 56"/>
                    <a:gd name="T8" fmla="*/ 31 w 32"/>
                    <a:gd name="T9" fmla="*/ 30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56">
                      <a:moveTo>
                        <a:pt x="31" y="30"/>
                      </a:moveTo>
                      <a:lnTo>
                        <a:pt x="31" y="55"/>
                      </a:lnTo>
                      <a:lnTo>
                        <a:pt x="0" y="22"/>
                      </a:lnTo>
                      <a:lnTo>
                        <a:pt x="0" y="0"/>
                      </a:lnTo>
                      <a:lnTo>
                        <a:pt x="31" y="30"/>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8" name="Freeform 117"/>
                <p:cNvSpPr/>
                <p:nvPr/>
              </p:nvSpPr>
              <p:spPr bwMode="auto">
                <a:xfrm>
                  <a:off x="2135" y="2576"/>
                  <a:ext cx="27" cy="37"/>
                </a:xfrm>
                <a:custGeom>
                  <a:avLst/>
                  <a:gdLst>
                    <a:gd name="T0" fmla="*/ 26 w 27"/>
                    <a:gd name="T1" fmla="*/ 14 h 37"/>
                    <a:gd name="T2" fmla="*/ 26 w 27"/>
                    <a:gd name="T3" fmla="*/ 36 h 37"/>
                    <a:gd name="T4" fmla="*/ 0 w 27"/>
                    <a:gd name="T5" fmla="*/ 21 h 37"/>
                    <a:gd name="T6" fmla="*/ 0 w 27"/>
                    <a:gd name="T7" fmla="*/ 0 h 37"/>
                    <a:gd name="T8" fmla="*/ 26 w 27"/>
                    <a:gd name="T9" fmla="*/ 14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37">
                      <a:moveTo>
                        <a:pt x="26" y="14"/>
                      </a:moveTo>
                      <a:lnTo>
                        <a:pt x="26" y="36"/>
                      </a:lnTo>
                      <a:lnTo>
                        <a:pt x="0" y="21"/>
                      </a:lnTo>
                      <a:lnTo>
                        <a:pt x="0" y="0"/>
                      </a:lnTo>
                      <a:lnTo>
                        <a:pt x="26" y="14"/>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39" name="Freeform 118"/>
                <p:cNvSpPr/>
                <p:nvPr/>
              </p:nvSpPr>
              <p:spPr bwMode="auto">
                <a:xfrm>
                  <a:off x="2200" y="2612"/>
                  <a:ext cx="31" cy="43"/>
                </a:xfrm>
                <a:custGeom>
                  <a:avLst/>
                  <a:gdLst>
                    <a:gd name="T0" fmla="*/ 30 w 31"/>
                    <a:gd name="T1" fmla="*/ 16 h 43"/>
                    <a:gd name="T2" fmla="*/ 30 w 31"/>
                    <a:gd name="T3" fmla="*/ 42 h 43"/>
                    <a:gd name="T4" fmla="*/ 0 w 31"/>
                    <a:gd name="T5" fmla="*/ 25 h 43"/>
                    <a:gd name="T6" fmla="*/ 0 w 31"/>
                    <a:gd name="T7" fmla="*/ 0 h 43"/>
                    <a:gd name="T8" fmla="*/ 30 w 31"/>
                    <a:gd name="T9" fmla="*/ 16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3">
                      <a:moveTo>
                        <a:pt x="30" y="16"/>
                      </a:moveTo>
                      <a:lnTo>
                        <a:pt x="30" y="42"/>
                      </a:lnTo>
                      <a:lnTo>
                        <a:pt x="0" y="25"/>
                      </a:lnTo>
                      <a:lnTo>
                        <a:pt x="0" y="0"/>
                      </a:lnTo>
                      <a:lnTo>
                        <a:pt x="30" y="16"/>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0" name="Freeform 119"/>
                <p:cNvSpPr/>
                <p:nvPr/>
              </p:nvSpPr>
              <p:spPr bwMode="auto">
                <a:xfrm>
                  <a:off x="2166" y="2593"/>
                  <a:ext cx="31" cy="43"/>
                </a:xfrm>
                <a:custGeom>
                  <a:avLst/>
                  <a:gdLst>
                    <a:gd name="T0" fmla="*/ 30 w 31"/>
                    <a:gd name="T1" fmla="*/ 17 h 43"/>
                    <a:gd name="T2" fmla="*/ 30 w 31"/>
                    <a:gd name="T3" fmla="*/ 42 h 43"/>
                    <a:gd name="T4" fmla="*/ 0 w 31"/>
                    <a:gd name="T5" fmla="*/ 23 h 43"/>
                    <a:gd name="T6" fmla="*/ 0 w 31"/>
                    <a:gd name="T7" fmla="*/ 0 h 43"/>
                    <a:gd name="T8" fmla="*/ 30 w 31"/>
                    <a:gd name="T9" fmla="*/ 17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3">
                      <a:moveTo>
                        <a:pt x="30" y="17"/>
                      </a:moveTo>
                      <a:lnTo>
                        <a:pt x="30" y="42"/>
                      </a:lnTo>
                      <a:lnTo>
                        <a:pt x="0" y="23"/>
                      </a:lnTo>
                      <a:lnTo>
                        <a:pt x="0" y="0"/>
                      </a:lnTo>
                      <a:lnTo>
                        <a:pt x="30" y="17"/>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1" name="Freeform 120"/>
                <p:cNvSpPr/>
                <p:nvPr/>
              </p:nvSpPr>
              <p:spPr bwMode="auto">
                <a:xfrm>
                  <a:off x="2135" y="2634"/>
                  <a:ext cx="27" cy="43"/>
                </a:xfrm>
                <a:custGeom>
                  <a:avLst/>
                  <a:gdLst>
                    <a:gd name="T0" fmla="*/ 26 w 27"/>
                    <a:gd name="T1" fmla="*/ 18 h 43"/>
                    <a:gd name="T2" fmla="*/ 26 w 27"/>
                    <a:gd name="T3" fmla="*/ 42 h 43"/>
                    <a:gd name="T4" fmla="*/ 0 w 27"/>
                    <a:gd name="T5" fmla="*/ 23 h 43"/>
                    <a:gd name="T6" fmla="*/ 0 w 27"/>
                    <a:gd name="T7" fmla="*/ 0 h 43"/>
                    <a:gd name="T8" fmla="*/ 26 w 27"/>
                    <a:gd name="T9" fmla="*/ 18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43">
                      <a:moveTo>
                        <a:pt x="26" y="18"/>
                      </a:moveTo>
                      <a:lnTo>
                        <a:pt x="26" y="42"/>
                      </a:lnTo>
                      <a:lnTo>
                        <a:pt x="0" y="23"/>
                      </a:lnTo>
                      <a:lnTo>
                        <a:pt x="0" y="0"/>
                      </a:lnTo>
                      <a:lnTo>
                        <a:pt x="26" y="1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2" name="Freeform 121"/>
                <p:cNvSpPr/>
                <p:nvPr/>
              </p:nvSpPr>
              <p:spPr bwMode="auto">
                <a:xfrm>
                  <a:off x="2232" y="2700"/>
                  <a:ext cx="36" cy="48"/>
                </a:xfrm>
                <a:custGeom>
                  <a:avLst/>
                  <a:gdLst>
                    <a:gd name="T0" fmla="*/ 35 w 36"/>
                    <a:gd name="T1" fmla="*/ 20 h 48"/>
                    <a:gd name="T2" fmla="*/ 35 w 36"/>
                    <a:gd name="T3" fmla="*/ 47 h 48"/>
                    <a:gd name="T4" fmla="*/ 0 w 36"/>
                    <a:gd name="T5" fmla="*/ 25 h 48"/>
                    <a:gd name="T6" fmla="*/ 0 w 36"/>
                    <a:gd name="T7" fmla="*/ 0 h 48"/>
                    <a:gd name="T8" fmla="*/ 35 w 36"/>
                    <a:gd name="T9" fmla="*/ 20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48">
                      <a:moveTo>
                        <a:pt x="35" y="20"/>
                      </a:moveTo>
                      <a:lnTo>
                        <a:pt x="35" y="47"/>
                      </a:lnTo>
                      <a:lnTo>
                        <a:pt x="0" y="25"/>
                      </a:lnTo>
                      <a:lnTo>
                        <a:pt x="0" y="0"/>
                      </a:lnTo>
                      <a:lnTo>
                        <a:pt x="35" y="20"/>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3" name="Freeform 122"/>
                <p:cNvSpPr/>
                <p:nvPr/>
              </p:nvSpPr>
              <p:spPr bwMode="auto">
                <a:xfrm>
                  <a:off x="2200" y="2677"/>
                  <a:ext cx="31" cy="45"/>
                </a:xfrm>
                <a:custGeom>
                  <a:avLst/>
                  <a:gdLst>
                    <a:gd name="T0" fmla="*/ 30 w 31"/>
                    <a:gd name="T1" fmla="*/ 17 h 45"/>
                    <a:gd name="T2" fmla="*/ 30 w 31"/>
                    <a:gd name="T3" fmla="*/ 44 h 45"/>
                    <a:gd name="T4" fmla="*/ 0 w 31"/>
                    <a:gd name="T5" fmla="*/ 25 h 45"/>
                    <a:gd name="T6" fmla="*/ 0 w 31"/>
                    <a:gd name="T7" fmla="*/ 0 h 45"/>
                    <a:gd name="T8" fmla="*/ 30 w 31"/>
                    <a:gd name="T9" fmla="*/ 17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5">
                      <a:moveTo>
                        <a:pt x="30" y="17"/>
                      </a:moveTo>
                      <a:lnTo>
                        <a:pt x="30" y="44"/>
                      </a:lnTo>
                      <a:lnTo>
                        <a:pt x="0" y="25"/>
                      </a:lnTo>
                      <a:lnTo>
                        <a:pt x="0" y="0"/>
                      </a:lnTo>
                      <a:lnTo>
                        <a:pt x="30" y="17"/>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4" name="Freeform 123"/>
                <p:cNvSpPr/>
                <p:nvPr/>
              </p:nvSpPr>
              <p:spPr bwMode="auto">
                <a:xfrm>
                  <a:off x="2166" y="2656"/>
                  <a:ext cx="31" cy="45"/>
                </a:xfrm>
                <a:custGeom>
                  <a:avLst/>
                  <a:gdLst>
                    <a:gd name="T0" fmla="*/ 30 w 31"/>
                    <a:gd name="T1" fmla="*/ 19 h 45"/>
                    <a:gd name="T2" fmla="*/ 30 w 31"/>
                    <a:gd name="T3" fmla="*/ 44 h 45"/>
                    <a:gd name="T4" fmla="*/ 0 w 31"/>
                    <a:gd name="T5" fmla="*/ 23 h 45"/>
                    <a:gd name="T6" fmla="*/ 0 w 31"/>
                    <a:gd name="T7" fmla="*/ 0 h 45"/>
                    <a:gd name="T8" fmla="*/ 30 w 31"/>
                    <a:gd name="T9" fmla="*/ 19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5">
                      <a:moveTo>
                        <a:pt x="30" y="19"/>
                      </a:moveTo>
                      <a:lnTo>
                        <a:pt x="30" y="44"/>
                      </a:lnTo>
                      <a:lnTo>
                        <a:pt x="0" y="23"/>
                      </a:lnTo>
                      <a:lnTo>
                        <a:pt x="0" y="0"/>
                      </a:lnTo>
                      <a:lnTo>
                        <a:pt x="30" y="19"/>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5" name="Freeform 124"/>
                <p:cNvSpPr/>
                <p:nvPr/>
              </p:nvSpPr>
              <p:spPr bwMode="auto">
                <a:xfrm>
                  <a:off x="2135" y="2695"/>
                  <a:ext cx="27" cy="43"/>
                </a:xfrm>
                <a:custGeom>
                  <a:avLst/>
                  <a:gdLst>
                    <a:gd name="T0" fmla="*/ 26 w 27"/>
                    <a:gd name="T1" fmla="*/ 18 h 43"/>
                    <a:gd name="T2" fmla="*/ 26 w 27"/>
                    <a:gd name="T3" fmla="*/ 42 h 43"/>
                    <a:gd name="T4" fmla="*/ 0 w 27"/>
                    <a:gd name="T5" fmla="*/ 23 h 43"/>
                    <a:gd name="T6" fmla="*/ 0 w 27"/>
                    <a:gd name="T7" fmla="*/ 0 h 43"/>
                    <a:gd name="T8" fmla="*/ 26 w 27"/>
                    <a:gd name="T9" fmla="*/ 18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43">
                      <a:moveTo>
                        <a:pt x="26" y="18"/>
                      </a:moveTo>
                      <a:lnTo>
                        <a:pt x="26" y="42"/>
                      </a:lnTo>
                      <a:lnTo>
                        <a:pt x="0" y="23"/>
                      </a:lnTo>
                      <a:lnTo>
                        <a:pt x="0" y="0"/>
                      </a:lnTo>
                      <a:lnTo>
                        <a:pt x="26" y="1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6" name="Freeform 125"/>
                <p:cNvSpPr/>
                <p:nvPr/>
              </p:nvSpPr>
              <p:spPr bwMode="auto">
                <a:xfrm>
                  <a:off x="2200" y="2741"/>
                  <a:ext cx="31" cy="48"/>
                </a:xfrm>
                <a:custGeom>
                  <a:avLst/>
                  <a:gdLst>
                    <a:gd name="T0" fmla="*/ 30 w 31"/>
                    <a:gd name="T1" fmla="*/ 20 h 48"/>
                    <a:gd name="T2" fmla="*/ 30 w 31"/>
                    <a:gd name="T3" fmla="*/ 47 h 48"/>
                    <a:gd name="T4" fmla="*/ 0 w 31"/>
                    <a:gd name="T5" fmla="*/ 26 h 48"/>
                    <a:gd name="T6" fmla="*/ 0 w 31"/>
                    <a:gd name="T7" fmla="*/ 0 h 48"/>
                    <a:gd name="T8" fmla="*/ 30 w 31"/>
                    <a:gd name="T9" fmla="*/ 20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8">
                      <a:moveTo>
                        <a:pt x="30" y="20"/>
                      </a:moveTo>
                      <a:lnTo>
                        <a:pt x="30" y="47"/>
                      </a:lnTo>
                      <a:lnTo>
                        <a:pt x="0" y="26"/>
                      </a:lnTo>
                      <a:lnTo>
                        <a:pt x="0" y="0"/>
                      </a:lnTo>
                      <a:lnTo>
                        <a:pt x="30" y="20"/>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7" name="Freeform 126"/>
                <p:cNvSpPr/>
                <p:nvPr/>
              </p:nvSpPr>
              <p:spPr bwMode="auto">
                <a:xfrm>
                  <a:off x="2166" y="2718"/>
                  <a:ext cx="31" cy="47"/>
                </a:xfrm>
                <a:custGeom>
                  <a:avLst/>
                  <a:gdLst>
                    <a:gd name="T0" fmla="*/ 30 w 31"/>
                    <a:gd name="T1" fmla="*/ 21 h 47"/>
                    <a:gd name="T2" fmla="*/ 30 w 31"/>
                    <a:gd name="T3" fmla="*/ 46 h 47"/>
                    <a:gd name="T4" fmla="*/ 0 w 31"/>
                    <a:gd name="T5" fmla="*/ 23 h 47"/>
                    <a:gd name="T6" fmla="*/ 0 w 31"/>
                    <a:gd name="T7" fmla="*/ 0 h 47"/>
                    <a:gd name="T8" fmla="*/ 30 w 31"/>
                    <a:gd name="T9" fmla="*/ 21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7">
                      <a:moveTo>
                        <a:pt x="30" y="21"/>
                      </a:moveTo>
                      <a:lnTo>
                        <a:pt x="30" y="46"/>
                      </a:lnTo>
                      <a:lnTo>
                        <a:pt x="0" y="23"/>
                      </a:lnTo>
                      <a:lnTo>
                        <a:pt x="0" y="0"/>
                      </a:lnTo>
                      <a:lnTo>
                        <a:pt x="30" y="21"/>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8" name="Freeform 127"/>
                <p:cNvSpPr/>
                <p:nvPr/>
              </p:nvSpPr>
              <p:spPr bwMode="auto">
                <a:xfrm>
                  <a:off x="2135" y="2755"/>
                  <a:ext cx="25" cy="43"/>
                </a:xfrm>
                <a:custGeom>
                  <a:avLst/>
                  <a:gdLst>
                    <a:gd name="T0" fmla="*/ 24 w 25"/>
                    <a:gd name="T1" fmla="*/ 19 h 43"/>
                    <a:gd name="T2" fmla="*/ 24 w 25"/>
                    <a:gd name="T3" fmla="*/ 42 h 43"/>
                    <a:gd name="T4" fmla="*/ 0 w 25"/>
                    <a:gd name="T5" fmla="*/ 22 h 43"/>
                    <a:gd name="T6" fmla="*/ 0 w 25"/>
                    <a:gd name="T7" fmla="*/ 0 h 43"/>
                    <a:gd name="T8" fmla="*/ 24 w 25"/>
                    <a:gd name="T9" fmla="*/ 19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43">
                      <a:moveTo>
                        <a:pt x="24" y="19"/>
                      </a:moveTo>
                      <a:lnTo>
                        <a:pt x="24" y="42"/>
                      </a:lnTo>
                      <a:lnTo>
                        <a:pt x="0" y="22"/>
                      </a:lnTo>
                      <a:lnTo>
                        <a:pt x="0" y="0"/>
                      </a:lnTo>
                      <a:lnTo>
                        <a:pt x="24" y="19"/>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49" name="Freeform 128"/>
                <p:cNvSpPr/>
                <p:nvPr/>
              </p:nvSpPr>
              <p:spPr bwMode="auto">
                <a:xfrm>
                  <a:off x="2232" y="2832"/>
                  <a:ext cx="37" cy="55"/>
                </a:xfrm>
                <a:custGeom>
                  <a:avLst/>
                  <a:gdLst>
                    <a:gd name="T0" fmla="*/ 36 w 37"/>
                    <a:gd name="T1" fmla="*/ 27 h 55"/>
                    <a:gd name="T2" fmla="*/ 36 w 37"/>
                    <a:gd name="T3" fmla="*/ 54 h 55"/>
                    <a:gd name="T4" fmla="*/ 0 w 37"/>
                    <a:gd name="T5" fmla="*/ 26 h 55"/>
                    <a:gd name="T6" fmla="*/ 0 w 37"/>
                    <a:gd name="T7" fmla="*/ 0 h 55"/>
                    <a:gd name="T8" fmla="*/ 36 w 37"/>
                    <a:gd name="T9" fmla="*/ 27 h 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55">
                      <a:moveTo>
                        <a:pt x="36" y="27"/>
                      </a:moveTo>
                      <a:lnTo>
                        <a:pt x="36" y="54"/>
                      </a:lnTo>
                      <a:lnTo>
                        <a:pt x="0" y="26"/>
                      </a:lnTo>
                      <a:lnTo>
                        <a:pt x="0" y="0"/>
                      </a:lnTo>
                      <a:lnTo>
                        <a:pt x="36" y="27"/>
                      </a:lnTo>
                    </a:path>
                  </a:pathLst>
                </a:custGeom>
                <a:solidFill>
                  <a:srgbClr val="4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0" name="Freeform 129"/>
                <p:cNvSpPr/>
                <p:nvPr/>
              </p:nvSpPr>
              <p:spPr bwMode="auto">
                <a:xfrm>
                  <a:off x="2198" y="2805"/>
                  <a:ext cx="29" cy="50"/>
                </a:xfrm>
                <a:custGeom>
                  <a:avLst/>
                  <a:gdLst>
                    <a:gd name="T0" fmla="*/ 28 w 29"/>
                    <a:gd name="T1" fmla="*/ 21 h 50"/>
                    <a:gd name="T2" fmla="*/ 28 w 29"/>
                    <a:gd name="T3" fmla="*/ 49 h 50"/>
                    <a:gd name="T4" fmla="*/ 0 w 29"/>
                    <a:gd name="T5" fmla="*/ 25 h 50"/>
                    <a:gd name="T6" fmla="*/ 0 w 29"/>
                    <a:gd name="T7" fmla="*/ 0 h 50"/>
                    <a:gd name="T8" fmla="*/ 28 w 29"/>
                    <a:gd name="T9" fmla="*/ 21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50">
                      <a:moveTo>
                        <a:pt x="28" y="21"/>
                      </a:moveTo>
                      <a:lnTo>
                        <a:pt x="28" y="49"/>
                      </a:lnTo>
                      <a:lnTo>
                        <a:pt x="0" y="25"/>
                      </a:lnTo>
                      <a:lnTo>
                        <a:pt x="0" y="0"/>
                      </a:lnTo>
                      <a:lnTo>
                        <a:pt x="28" y="21"/>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1" name="Freeform 130"/>
                <p:cNvSpPr/>
                <p:nvPr/>
              </p:nvSpPr>
              <p:spPr bwMode="auto">
                <a:xfrm>
                  <a:off x="2164" y="2778"/>
                  <a:ext cx="32" cy="48"/>
                </a:xfrm>
                <a:custGeom>
                  <a:avLst/>
                  <a:gdLst>
                    <a:gd name="T0" fmla="*/ 31 w 32"/>
                    <a:gd name="T1" fmla="*/ 23 h 48"/>
                    <a:gd name="T2" fmla="*/ 31 w 32"/>
                    <a:gd name="T3" fmla="*/ 47 h 48"/>
                    <a:gd name="T4" fmla="*/ 0 w 32"/>
                    <a:gd name="T5" fmla="*/ 24 h 48"/>
                    <a:gd name="T6" fmla="*/ 0 w 32"/>
                    <a:gd name="T7" fmla="*/ 0 h 48"/>
                    <a:gd name="T8" fmla="*/ 31 w 32"/>
                    <a:gd name="T9" fmla="*/ 23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8">
                      <a:moveTo>
                        <a:pt x="31" y="23"/>
                      </a:moveTo>
                      <a:lnTo>
                        <a:pt x="31" y="47"/>
                      </a:lnTo>
                      <a:lnTo>
                        <a:pt x="0" y="24"/>
                      </a:lnTo>
                      <a:lnTo>
                        <a:pt x="0" y="0"/>
                      </a:lnTo>
                      <a:lnTo>
                        <a:pt x="31" y="23"/>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2" name="Freeform 131"/>
                <p:cNvSpPr/>
                <p:nvPr/>
              </p:nvSpPr>
              <p:spPr bwMode="auto">
                <a:xfrm>
                  <a:off x="2135" y="2815"/>
                  <a:ext cx="25" cy="45"/>
                </a:xfrm>
                <a:custGeom>
                  <a:avLst/>
                  <a:gdLst>
                    <a:gd name="T0" fmla="*/ 24 w 25"/>
                    <a:gd name="T1" fmla="*/ 20 h 45"/>
                    <a:gd name="T2" fmla="*/ 24 w 25"/>
                    <a:gd name="T3" fmla="*/ 44 h 45"/>
                    <a:gd name="T4" fmla="*/ 0 w 25"/>
                    <a:gd name="T5" fmla="*/ 22 h 45"/>
                    <a:gd name="T6" fmla="*/ 0 w 25"/>
                    <a:gd name="T7" fmla="*/ 0 h 45"/>
                    <a:gd name="T8" fmla="*/ 24 w 25"/>
                    <a:gd name="T9" fmla="*/ 20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45">
                      <a:moveTo>
                        <a:pt x="24" y="20"/>
                      </a:moveTo>
                      <a:lnTo>
                        <a:pt x="24" y="44"/>
                      </a:lnTo>
                      <a:lnTo>
                        <a:pt x="0" y="22"/>
                      </a:lnTo>
                      <a:lnTo>
                        <a:pt x="0" y="0"/>
                      </a:lnTo>
                      <a:lnTo>
                        <a:pt x="24" y="20"/>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3" name="Freeform 132"/>
                <p:cNvSpPr/>
                <p:nvPr/>
              </p:nvSpPr>
              <p:spPr bwMode="auto">
                <a:xfrm>
                  <a:off x="2232" y="2899"/>
                  <a:ext cx="37" cy="57"/>
                </a:xfrm>
                <a:custGeom>
                  <a:avLst/>
                  <a:gdLst>
                    <a:gd name="T0" fmla="*/ 36 w 37"/>
                    <a:gd name="T1" fmla="*/ 30 h 57"/>
                    <a:gd name="T2" fmla="*/ 36 w 37"/>
                    <a:gd name="T3" fmla="*/ 56 h 57"/>
                    <a:gd name="T4" fmla="*/ 0 w 37"/>
                    <a:gd name="T5" fmla="*/ 26 h 57"/>
                    <a:gd name="T6" fmla="*/ 0 w 37"/>
                    <a:gd name="T7" fmla="*/ 0 h 57"/>
                    <a:gd name="T8" fmla="*/ 36 w 37"/>
                    <a:gd name="T9" fmla="*/ 3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57">
                      <a:moveTo>
                        <a:pt x="36" y="30"/>
                      </a:moveTo>
                      <a:lnTo>
                        <a:pt x="36" y="56"/>
                      </a:lnTo>
                      <a:lnTo>
                        <a:pt x="0" y="26"/>
                      </a:lnTo>
                      <a:lnTo>
                        <a:pt x="0" y="0"/>
                      </a:lnTo>
                      <a:lnTo>
                        <a:pt x="36" y="30"/>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4" name="Freeform 133"/>
                <p:cNvSpPr/>
                <p:nvPr/>
              </p:nvSpPr>
              <p:spPr bwMode="auto">
                <a:xfrm>
                  <a:off x="2198" y="2870"/>
                  <a:ext cx="29" cy="53"/>
                </a:xfrm>
                <a:custGeom>
                  <a:avLst/>
                  <a:gdLst>
                    <a:gd name="T0" fmla="*/ 28 w 29"/>
                    <a:gd name="T1" fmla="*/ 25 h 53"/>
                    <a:gd name="T2" fmla="*/ 28 w 29"/>
                    <a:gd name="T3" fmla="*/ 52 h 53"/>
                    <a:gd name="T4" fmla="*/ 0 w 29"/>
                    <a:gd name="T5" fmla="*/ 25 h 53"/>
                    <a:gd name="T6" fmla="*/ 0 w 29"/>
                    <a:gd name="T7" fmla="*/ 0 h 53"/>
                    <a:gd name="T8" fmla="*/ 28 w 29"/>
                    <a:gd name="T9" fmla="*/ 25 h 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53">
                      <a:moveTo>
                        <a:pt x="28" y="25"/>
                      </a:moveTo>
                      <a:lnTo>
                        <a:pt x="28" y="52"/>
                      </a:lnTo>
                      <a:lnTo>
                        <a:pt x="0" y="25"/>
                      </a:lnTo>
                      <a:lnTo>
                        <a:pt x="0" y="0"/>
                      </a:lnTo>
                      <a:lnTo>
                        <a:pt x="28" y="25"/>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5" name="Freeform 134"/>
                <p:cNvSpPr/>
                <p:nvPr/>
              </p:nvSpPr>
              <p:spPr bwMode="auto">
                <a:xfrm>
                  <a:off x="2164" y="2840"/>
                  <a:ext cx="32" cy="53"/>
                </a:xfrm>
                <a:custGeom>
                  <a:avLst/>
                  <a:gdLst>
                    <a:gd name="T0" fmla="*/ 31 w 32"/>
                    <a:gd name="T1" fmla="*/ 26 h 53"/>
                    <a:gd name="T2" fmla="*/ 31 w 32"/>
                    <a:gd name="T3" fmla="*/ 52 h 53"/>
                    <a:gd name="T4" fmla="*/ 0 w 32"/>
                    <a:gd name="T5" fmla="*/ 24 h 53"/>
                    <a:gd name="T6" fmla="*/ 0 w 32"/>
                    <a:gd name="T7" fmla="*/ 0 h 53"/>
                    <a:gd name="T8" fmla="*/ 31 w 32"/>
                    <a:gd name="T9" fmla="*/ 26 h 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53">
                      <a:moveTo>
                        <a:pt x="31" y="26"/>
                      </a:moveTo>
                      <a:lnTo>
                        <a:pt x="31" y="52"/>
                      </a:lnTo>
                      <a:lnTo>
                        <a:pt x="0" y="24"/>
                      </a:lnTo>
                      <a:lnTo>
                        <a:pt x="0" y="0"/>
                      </a:lnTo>
                      <a:lnTo>
                        <a:pt x="31" y="26"/>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6" name="Freeform 135"/>
                <p:cNvSpPr/>
                <p:nvPr/>
              </p:nvSpPr>
              <p:spPr bwMode="auto">
                <a:xfrm>
                  <a:off x="2135" y="2873"/>
                  <a:ext cx="25" cy="51"/>
                </a:xfrm>
                <a:custGeom>
                  <a:avLst/>
                  <a:gdLst>
                    <a:gd name="T0" fmla="*/ 24 w 25"/>
                    <a:gd name="T1" fmla="*/ 26 h 51"/>
                    <a:gd name="T2" fmla="*/ 24 w 25"/>
                    <a:gd name="T3" fmla="*/ 50 h 51"/>
                    <a:gd name="T4" fmla="*/ 0 w 25"/>
                    <a:gd name="T5" fmla="*/ 25 h 51"/>
                    <a:gd name="T6" fmla="*/ 0 w 25"/>
                    <a:gd name="T7" fmla="*/ 0 h 51"/>
                    <a:gd name="T8" fmla="*/ 24 w 25"/>
                    <a:gd name="T9" fmla="*/ 26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1">
                      <a:moveTo>
                        <a:pt x="24" y="26"/>
                      </a:moveTo>
                      <a:lnTo>
                        <a:pt x="24" y="50"/>
                      </a:lnTo>
                      <a:lnTo>
                        <a:pt x="0" y="25"/>
                      </a:lnTo>
                      <a:lnTo>
                        <a:pt x="0" y="0"/>
                      </a:lnTo>
                      <a:lnTo>
                        <a:pt x="24" y="26"/>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7" name="Freeform 136"/>
                <p:cNvSpPr/>
                <p:nvPr/>
              </p:nvSpPr>
              <p:spPr bwMode="auto">
                <a:xfrm>
                  <a:off x="2232" y="2965"/>
                  <a:ext cx="37" cy="63"/>
                </a:xfrm>
                <a:custGeom>
                  <a:avLst/>
                  <a:gdLst>
                    <a:gd name="T0" fmla="*/ 36 w 37"/>
                    <a:gd name="T1" fmla="*/ 34 h 63"/>
                    <a:gd name="T2" fmla="*/ 36 w 37"/>
                    <a:gd name="T3" fmla="*/ 62 h 63"/>
                    <a:gd name="T4" fmla="*/ 0 w 37"/>
                    <a:gd name="T5" fmla="*/ 27 h 63"/>
                    <a:gd name="T6" fmla="*/ 0 w 37"/>
                    <a:gd name="T7" fmla="*/ 0 h 63"/>
                    <a:gd name="T8" fmla="*/ 36 w 37"/>
                    <a:gd name="T9" fmla="*/ 34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63">
                      <a:moveTo>
                        <a:pt x="36" y="34"/>
                      </a:moveTo>
                      <a:lnTo>
                        <a:pt x="36" y="62"/>
                      </a:lnTo>
                      <a:lnTo>
                        <a:pt x="0" y="27"/>
                      </a:lnTo>
                      <a:lnTo>
                        <a:pt x="0" y="0"/>
                      </a:lnTo>
                      <a:lnTo>
                        <a:pt x="36" y="34"/>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8" name="Freeform 137"/>
                <p:cNvSpPr/>
                <p:nvPr/>
              </p:nvSpPr>
              <p:spPr bwMode="auto">
                <a:xfrm>
                  <a:off x="2198" y="2936"/>
                  <a:ext cx="29" cy="55"/>
                </a:xfrm>
                <a:custGeom>
                  <a:avLst/>
                  <a:gdLst>
                    <a:gd name="T0" fmla="*/ 28 w 29"/>
                    <a:gd name="T1" fmla="*/ 26 h 55"/>
                    <a:gd name="T2" fmla="*/ 28 w 29"/>
                    <a:gd name="T3" fmla="*/ 54 h 55"/>
                    <a:gd name="T4" fmla="*/ 0 w 29"/>
                    <a:gd name="T5" fmla="*/ 24 h 55"/>
                    <a:gd name="T6" fmla="*/ 0 w 29"/>
                    <a:gd name="T7" fmla="*/ 0 h 55"/>
                    <a:gd name="T8" fmla="*/ 28 w 29"/>
                    <a:gd name="T9" fmla="*/ 26 h 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55">
                      <a:moveTo>
                        <a:pt x="28" y="26"/>
                      </a:moveTo>
                      <a:lnTo>
                        <a:pt x="28" y="54"/>
                      </a:lnTo>
                      <a:lnTo>
                        <a:pt x="0" y="24"/>
                      </a:lnTo>
                      <a:lnTo>
                        <a:pt x="0" y="0"/>
                      </a:lnTo>
                      <a:lnTo>
                        <a:pt x="28" y="26"/>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59" name="Freeform 138"/>
                <p:cNvSpPr/>
                <p:nvPr/>
              </p:nvSpPr>
              <p:spPr bwMode="auto">
                <a:xfrm>
                  <a:off x="2164" y="2901"/>
                  <a:ext cx="32" cy="54"/>
                </a:xfrm>
                <a:custGeom>
                  <a:avLst/>
                  <a:gdLst>
                    <a:gd name="T0" fmla="*/ 31 w 32"/>
                    <a:gd name="T1" fmla="*/ 28 h 54"/>
                    <a:gd name="T2" fmla="*/ 31 w 32"/>
                    <a:gd name="T3" fmla="*/ 53 h 54"/>
                    <a:gd name="T4" fmla="*/ 0 w 32"/>
                    <a:gd name="T5" fmla="*/ 24 h 54"/>
                    <a:gd name="T6" fmla="*/ 0 w 32"/>
                    <a:gd name="T7" fmla="*/ 0 h 54"/>
                    <a:gd name="T8" fmla="*/ 31 w 32"/>
                    <a:gd name="T9" fmla="*/ 28 h 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54">
                      <a:moveTo>
                        <a:pt x="31" y="28"/>
                      </a:moveTo>
                      <a:lnTo>
                        <a:pt x="31" y="53"/>
                      </a:lnTo>
                      <a:lnTo>
                        <a:pt x="0" y="24"/>
                      </a:lnTo>
                      <a:lnTo>
                        <a:pt x="0" y="0"/>
                      </a:lnTo>
                      <a:lnTo>
                        <a:pt x="31" y="2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0" name="Freeform 139"/>
                <p:cNvSpPr/>
                <p:nvPr/>
              </p:nvSpPr>
              <p:spPr bwMode="auto">
                <a:xfrm>
                  <a:off x="2233" y="2631"/>
                  <a:ext cx="34" cy="47"/>
                </a:xfrm>
                <a:custGeom>
                  <a:avLst/>
                  <a:gdLst>
                    <a:gd name="T0" fmla="*/ 33 w 34"/>
                    <a:gd name="T1" fmla="*/ 18 h 47"/>
                    <a:gd name="T2" fmla="*/ 33 w 34"/>
                    <a:gd name="T3" fmla="*/ 46 h 47"/>
                    <a:gd name="T4" fmla="*/ 0 w 34"/>
                    <a:gd name="T5" fmla="*/ 25 h 47"/>
                    <a:gd name="T6" fmla="*/ 0 w 34"/>
                    <a:gd name="T7" fmla="*/ 0 h 47"/>
                    <a:gd name="T8" fmla="*/ 33 w 34"/>
                    <a:gd name="T9" fmla="*/ 18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7">
                      <a:moveTo>
                        <a:pt x="33" y="18"/>
                      </a:moveTo>
                      <a:lnTo>
                        <a:pt x="33" y="46"/>
                      </a:lnTo>
                      <a:lnTo>
                        <a:pt x="0" y="25"/>
                      </a:lnTo>
                      <a:lnTo>
                        <a:pt x="0" y="0"/>
                      </a:lnTo>
                      <a:lnTo>
                        <a:pt x="33" y="18"/>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1" name="Freeform 140"/>
                <p:cNvSpPr/>
                <p:nvPr/>
              </p:nvSpPr>
              <p:spPr bwMode="auto">
                <a:xfrm>
                  <a:off x="2259" y="2680"/>
                  <a:ext cx="21" cy="35"/>
                </a:xfrm>
                <a:custGeom>
                  <a:avLst/>
                  <a:gdLst>
                    <a:gd name="T0" fmla="*/ 20 w 21"/>
                    <a:gd name="T1" fmla="*/ 7 h 35"/>
                    <a:gd name="T2" fmla="*/ 20 w 21"/>
                    <a:gd name="T3" fmla="*/ 34 h 35"/>
                    <a:gd name="T4" fmla="*/ 0 w 21"/>
                    <a:gd name="T5" fmla="*/ 26 h 35"/>
                    <a:gd name="T6" fmla="*/ 0 w 21"/>
                    <a:gd name="T7" fmla="*/ 0 h 35"/>
                    <a:gd name="T8" fmla="*/ 20 w 21"/>
                    <a:gd name="T9" fmla="*/ 7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5">
                      <a:moveTo>
                        <a:pt x="20" y="7"/>
                      </a:moveTo>
                      <a:lnTo>
                        <a:pt x="20" y="34"/>
                      </a:lnTo>
                      <a:lnTo>
                        <a:pt x="0" y="26"/>
                      </a:lnTo>
                      <a:lnTo>
                        <a:pt x="0" y="0"/>
                      </a:lnTo>
                      <a:lnTo>
                        <a:pt x="20" y="7"/>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2" name="Freeform 141"/>
                <p:cNvSpPr/>
                <p:nvPr/>
              </p:nvSpPr>
              <p:spPr bwMode="auto">
                <a:xfrm>
                  <a:off x="2233" y="2764"/>
                  <a:ext cx="34" cy="52"/>
                </a:xfrm>
                <a:custGeom>
                  <a:avLst/>
                  <a:gdLst>
                    <a:gd name="T0" fmla="*/ 33 w 34"/>
                    <a:gd name="T1" fmla="*/ 23 h 52"/>
                    <a:gd name="T2" fmla="*/ 33 w 34"/>
                    <a:gd name="T3" fmla="*/ 51 h 52"/>
                    <a:gd name="T4" fmla="*/ 0 w 34"/>
                    <a:gd name="T5" fmla="*/ 27 h 52"/>
                    <a:gd name="T6" fmla="*/ 0 w 34"/>
                    <a:gd name="T7" fmla="*/ 0 h 52"/>
                    <a:gd name="T8" fmla="*/ 33 w 34"/>
                    <a:gd name="T9" fmla="*/ 23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52">
                      <a:moveTo>
                        <a:pt x="33" y="23"/>
                      </a:moveTo>
                      <a:lnTo>
                        <a:pt x="33" y="51"/>
                      </a:lnTo>
                      <a:lnTo>
                        <a:pt x="0" y="27"/>
                      </a:lnTo>
                      <a:lnTo>
                        <a:pt x="0" y="0"/>
                      </a:lnTo>
                      <a:lnTo>
                        <a:pt x="33" y="23"/>
                      </a:lnTo>
                    </a:path>
                  </a:pathLst>
                </a:custGeom>
                <a:solidFill>
                  <a:srgbClr val="8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63" name="Freeform 142"/>
                <p:cNvSpPr/>
                <p:nvPr/>
              </p:nvSpPr>
              <p:spPr bwMode="auto">
                <a:xfrm>
                  <a:off x="2268" y="2930"/>
                  <a:ext cx="22" cy="29"/>
                </a:xfrm>
                <a:custGeom>
                  <a:avLst/>
                  <a:gdLst>
                    <a:gd name="T0" fmla="*/ 21 w 22"/>
                    <a:gd name="T1" fmla="*/ 0 h 29"/>
                    <a:gd name="T2" fmla="*/ 0 w 22"/>
                    <a:gd name="T3" fmla="*/ 0 h 29"/>
                    <a:gd name="T4" fmla="*/ 0 w 22"/>
                    <a:gd name="T5" fmla="*/ 28 h 29"/>
                    <a:gd name="T6" fmla="*/ 21 w 22"/>
                    <a:gd name="T7" fmla="*/ 28 h 29"/>
                    <a:gd name="T8" fmla="*/ 21 w 22"/>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9">
                      <a:moveTo>
                        <a:pt x="21" y="0"/>
                      </a:moveTo>
                      <a:lnTo>
                        <a:pt x="0" y="0"/>
                      </a:lnTo>
                      <a:lnTo>
                        <a:pt x="0" y="28"/>
                      </a:lnTo>
                      <a:lnTo>
                        <a:pt x="21" y="28"/>
                      </a:lnTo>
                      <a:lnTo>
                        <a:pt x="21" y="0"/>
                      </a:lnTo>
                    </a:path>
                  </a:pathLst>
                </a:custGeom>
                <a:solidFill>
                  <a:srgbClr val="6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152" name="Group 143"/>
              <p:cNvGrpSpPr/>
              <p:nvPr/>
            </p:nvGrpSpPr>
            <p:grpSpPr bwMode="auto">
              <a:xfrm>
                <a:off x="2132" y="2507"/>
                <a:ext cx="221" cy="101"/>
                <a:chOff x="2132" y="2507"/>
                <a:chExt cx="221" cy="101"/>
              </a:xfrm>
            </p:grpSpPr>
            <p:sp>
              <p:nvSpPr>
                <p:cNvPr id="47153" name="Freeform 144"/>
                <p:cNvSpPr/>
                <p:nvPr/>
              </p:nvSpPr>
              <p:spPr bwMode="auto">
                <a:xfrm>
                  <a:off x="2132" y="2507"/>
                  <a:ext cx="221" cy="59"/>
                </a:xfrm>
                <a:custGeom>
                  <a:avLst/>
                  <a:gdLst>
                    <a:gd name="T0" fmla="*/ 0 w 221"/>
                    <a:gd name="T1" fmla="*/ 0 h 59"/>
                    <a:gd name="T2" fmla="*/ 94 w 221"/>
                    <a:gd name="T3" fmla="*/ 3 h 59"/>
                    <a:gd name="T4" fmla="*/ 220 w 221"/>
                    <a:gd name="T5" fmla="*/ 55 h 59"/>
                    <a:gd name="T6" fmla="*/ 132 w 221"/>
                    <a:gd name="T7" fmla="*/ 58 h 59"/>
                    <a:gd name="T8" fmla="*/ 0 w 221"/>
                    <a:gd name="T9" fmla="*/ 0 h 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59">
                      <a:moveTo>
                        <a:pt x="0" y="0"/>
                      </a:moveTo>
                      <a:lnTo>
                        <a:pt x="94" y="3"/>
                      </a:lnTo>
                      <a:lnTo>
                        <a:pt x="220" y="55"/>
                      </a:lnTo>
                      <a:lnTo>
                        <a:pt x="132" y="58"/>
                      </a:lnTo>
                      <a:lnTo>
                        <a:pt x="0" y="0"/>
                      </a:lnTo>
                    </a:path>
                  </a:pathLst>
                </a:custGeom>
                <a:solidFill>
                  <a:srgbClr val="C0C0C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54" name="Freeform 145"/>
                <p:cNvSpPr/>
                <p:nvPr/>
              </p:nvSpPr>
              <p:spPr bwMode="auto">
                <a:xfrm>
                  <a:off x="2269" y="2565"/>
                  <a:ext cx="84" cy="43"/>
                </a:xfrm>
                <a:custGeom>
                  <a:avLst/>
                  <a:gdLst>
                    <a:gd name="T0" fmla="*/ 1 w 84"/>
                    <a:gd name="T1" fmla="*/ 0 h 43"/>
                    <a:gd name="T2" fmla="*/ 83 w 84"/>
                    <a:gd name="T3" fmla="*/ 0 h 43"/>
                    <a:gd name="T4" fmla="*/ 83 w 84"/>
                    <a:gd name="T5" fmla="*/ 42 h 43"/>
                    <a:gd name="T6" fmla="*/ 0 w 84"/>
                    <a:gd name="T7" fmla="*/ 42 h 43"/>
                    <a:gd name="T8" fmla="*/ 1 w 84"/>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43">
                      <a:moveTo>
                        <a:pt x="1" y="0"/>
                      </a:moveTo>
                      <a:lnTo>
                        <a:pt x="83" y="0"/>
                      </a:lnTo>
                      <a:lnTo>
                        <a:pt x="83" y="42"/>
                      </a:lnTo>
                      <a:lnTo>
                        <a:pt x="0" y="42"/>
                      </a:lnTo>
                      <a:lnTo>
                        <a:pt x="1" y="0"/>
                      </a:lnTo>
                    </a:path>
                  </a:pathLst>
                </a:custGeom>
                <a:solidFill>
                  <a:srgbClr val="E0E0E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55" name="Freeform 146"/>
                <p:cNvSpPr/>
                <p:nvPr/>
              </p:nvSpPr>
              <p:spPr bwMode="auto">
                <a:xfrm>
                  <a:off x="2133" y="2508"/>
                  <a:ext cx="135" cy="100"/>
                </a:xfrm>
                <a:custGeom>
                  <a:avLst/>
                  <a:gdLst>
                    <a:gd name="T0" fmla="*/ 0 w 135"/>
                    <a:gd name="T1" fmla="*/ 0 h 100"/>
                    <a:gd name="T2" fmla="*/ 0 w 135"/>
                    <a:gd name="T3" fmla="*/ 33 h 100"/>
                    <a:gd name="T4" fmla="*/ 134 w 135"/>
                    <a:gd name="T5" fmla="*/ 99 h 100"/>
                    <a:gd name="T6" fmla="*/ 134 w 135"/>
                    <a:gd name="T7" fmla="*/ 54 h 100"/>
                    <a:gd name="T8" fmla="*/ 0 w 135"/>
                    <a:gd name="T9" fmla="*/ 0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 h="100">
                      <a:moveTo>
                        <a:pt x="0" y="0"/>
                      </a:moveTo>
                      <a:lnTo>
                        <a:pt x="0" y="33"/>
                      </a:lnTo>
                      <a:lnTo>
                        <a:pt x="134" y="99"/>
                      </a:lnTo>
                      <a:lnTo>
                        <a:pt x="134" y="54"/>
                      </a:lnTo>
                      <a:lnTo>
                        <a:pt x="0" y="0"/>
                      </a:lnTo>
                    </a:path>
                  </a:pathLst>
                </a:custGeom>
                <a:solidFill>
                  <a:srgbClr val="A0A0A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47116" name="Line 147"/>
          <p:cNvSpPr>
            <a:spLocks noChangeShapeType="1"/>
          </p:cNvSpPr>
          <p:nvPr/>
        </p:nvSpPr>
        <p:spPr bwMode="auto">
          <a:xfrm flipH="1">
            <a:off x="7172325" y="2744788"/>
            <a:ext cx="1588" cy="24257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7117" name="Group 148"/>
          <p:cNvGrpSpPr/>
          <p:nvPr/>
        </p:nvGrpSpPr>
        <p:grpSpPr bwMode="auto">
          <a:xfrm>
            <a:off x="7172325" y="3362325"/>
            <a:ext cx="968375" cy="1808163"/>
            <a:chOff x="4518" y="2118"/>
            <a:chExt cx="610" cy="1139"/>
          </a:xfrm>
        </p:grpSpPr>
        <p:sp>
          <p:nvSpPr>
            <p:cNvPr id="47138" name="Line 149"/>
            <p:cNvSpPr>
              <a:spLocks noChangeShapeType="1"/>
            </p:cNvSpPr>
            <p:nvPr/>
          </p:nvSpPr>
          <p:spPr bwMode="auto">
            <a:xfrm>
              <a:off x="4518" y="2313"/>
              <a:ext cx="0" cy="130"/>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9" name="Line 150"/>
            <p:cNvSpPr>
              <a:spLocks noChangeShapeType="1"/>
            </p:cNvSpPr>
            <p:nvPr/>
          </p:nvSpPr>
          <p:spPr bwMode="auto">
            <a:xfrm>
              <a:off x="4518" y="2639"/>
              <a:ext cx="0" cy="130"/>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0" name="Line 151"/>
            <p:cNvSpPr>
              <a:spLocks noChangeShapeType="1"/>
            </p:cNvSpPr>
            <p:nvPr/>
          </p:nvSpPr>
          <p:spPr bwMode="auto">
            <a:xfrm>
              <a:off x="4518" y="3127"/>
              <a:ext cx="0" cy="130"/>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1" name="Line 152"/>
            <p:cNvSpPr>
              <a:spLocks noChangeShapeType="1"/>
            </p:cNvSpPr>
            <p:nvPr/>
          </p:nvSpPr>
          <p:spPr bwMode="auto">
            <a:xfrm>
              <a:off x="4518" y="2118"/>
              <a:ext cx="0" cy="130"/>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2" name="Line 153"/>
            <p:cNvSpPr>
              <a:spLocks noChangeShapeType="1"/>
            </p:cNvSpPr>
            <p:nvPr/>
          </p:nvSpPr>
          <p:spPr bwMode="auto">
            <a:xfrm>
              <a:off x="4518" y="2899"/>
              <a:ext cx="0" cy="130"/>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3" name="Line 154"/>
            <p:cNvSpPr>
              <a:spLocks noChangeShapeType="1"/>
            </p:cNvSpPr>
            <p:nvPr/>
          </p:nvSpPr>
          <p:spPr bwMode="auto">
            <a:xfrm flipV="1">
              <a:off x="4518" y="2378"/>
              <a:ext cx="39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44" name="Object 155"/>
            <p:cNvGraphicFramePr>
              <a:graphicFrameLocks noChangeAspect="1"/>
            </p:cNvGraphicFramePr>
            <p:nvPr/>
          </p:nvGraphicFramePr>
          <p:xfrm>
            <a:off x="4868" y="2215"/>
            <a:ext cx="260" cy="299"/>
          </p:xfrm>
          <a:graphic>
            <a:graphicData uri="http://schemas.openxmlformats.org/presentationml/2006/ole">
              <mc:AlternateContent xmlns:mc="http://schemas.openxmlformats.org/markup-compatibility/2006">
                <mc:Choice xmlns:v="urn:schemas-microsoft-com:vml" Requires="v">
                  <p:oleObj spid="_x0000_s104471" name="Microsoft ClipArt Gallery" r:id="rId2" imgW="1927225" imgH="3383280" progId="MS_ClipArt_Gallery">
                    <p:embed/>
                  </p:oleObj>
                </mc:Choice>
                <mc:Fallback>
                  <p:oleObj name="Microsoft ClipArt Gallery" r:id="rId2" imgW="1927225" imgH="3383280" progId="MS_ClipArt_Gallery">
                    <p:embed/>
                    <p:pic>
                      <p:nvPicPr>
                        <p:cNvPr id="0" name="图片 1044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8" y="2215"/>
                          <a:ext cx="26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45" name="Line 156"/>
            <p:cNvSpPr>
              <a:spLocks noChangeShapeType="1"/>
            </p:cNvSpPr>
            <p:nvPr/>
          </p:nvSpPr>
          <p:spPr bwMode="auto">
            <a:xfrm>
              <a:off x="4518" y="2704"/>
              <a:ext cx="39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46" name="Object 157"/>
            <p:cNvGraphicFramePr>
              <a:graphicFrameLocks noChangeAspect="1"/>
            </p:cNvGraphicFramePr>
            <p:nvPr/>
          </p:nvGraphicFramePr>
          <p:xfrm>
            <a:off x="4868" y="2508"/>
            <a:ext cx="260" cy="299"/>
          </p:xfrm>
          <a:graphic>
            <a:graphicData uri="http://schemas.openxmlformats.org/presentationml/2006/ole">
              <mc:AlternateContent xmlns:mc="http://schemas.openxmlformats.org/markup-compatibility/2006">
                <mc:Choice xmlns:v="urn:schemas-microsoft-com:vml" Requires="v">
                  <p:oleObj spid="_x0000_s104472" name="Microsoft ClipArt Gallery" r:id="rId4" imgW="1927225" imgH="3383280" progId="MS_ClipArt_Gallery">
                    <p:embed/>
                  </p:oleObj>
                </mc:Choice>
                <mc:Fallback>
                  <p:oleObj name="Microsoft ClipArt Gallery" r:id="rId4" imgW="1927225" imgH="3383280" progId="MS_ClipArt_Gallery">
                    <p:embed/>
                    <p:pic>
                      <p:nvPicPr>
                        <p:cNvPr id="0" name="图片 1044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8" y="2508"/>
                          <a:ext cx="26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47" name="Line 158"/>
            <p:cNvSpPr>
              <a:spLocks noChangeShapeType="1"/>
            </p:cNvSpPr>
            <p:nvPr/>
          </p:nvSpPr>
          <p:spPr bwMode="auto">
            <a:xfrm>
              <a:off x="4518" y="2964"/>
              <a:ext cx="39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48" name="Object 159"/>
            <p:cNvGraphicFramePr>
              <a:graphicFrameLocks noChangeAspect="1"/>
            </p:cNvGraphicFramePr>
            <p:nvPr/>
          </p:nvGraphicFramePr>
          <p:xfrm>
            <a:off x="4868" y="2834"/>
            <a:ext cx="260" cy="299"/>
          </p:xfrm>
          <a:graphic>
            <a:graphicData uri="http://schemas.openxmlformats.org/presentationml/2006/ole">
              <mc:AlternateContent xmlns:mc="http://schemas.openxmlformats.org/markup-compatibility/2006">
                <mc:Choice xmlns:v="urn:schemas-microsoft-com:vml" Requires="v">
                  <p:oleObj spid="_x0000_s104473" name="Microsoft ClipArt Gallery" r:id="rId5" imgW="1927225" imgH="3383280" progId="MS_ClipArt_Gallery">
                    <p:embed/>
                  </p:oleObj>
                </mc:Choice>
                <mc:Fallback>
                  <p:oleObj name="Microsoft ClipArt Gallery" r:id="rId5" imgW="1927225" imgH="3383280" progId="MS_ClipArt_Gallery">
                    <p:embed/>
                    <p:pic>
                      <p:nvPicPr>
                        <p:cNvPr id="0" name="图片 1044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8" y="2834"/>
                          <a:ext cx="26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45728" name="Text Box 160"/>
          <p:cNvSpPr txBox="1">
            <a:spLocks noChangeArrowheads="1"/>
          </p:cNvSpPr>
          <p:nvPr/>
        </p:nvSpPr>
        <p:spPr bwMode="auto">
          <a:xfrm>
            <a:off x="7315200" y="3048000"/>
            <a:ext cx="184150" cy="3968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7" tIns="45714" rIns="91427" bIns="45714" anchor="ctr">
            <a:spAutoFit/>
          </a:bodyPr>
          <a:lstStyle/>
          <a:p>
            <a:pPr algn="ctr" eaLnBrk="0" hangingPunct="0">
              <a:defRPr/>
            </a:pPr>
            <a:endParaRPr lang="zh-CN" altLang="zh-CN" sz="2000" b="1">
              <a:effectLst>
                <a:outerShdw blurRad="38100" dist="38100" dir="2700000" algn="tl">
                  <a:srgbClr val="C0C0C0"/>
                </a:outerShdw>
              </a:effectLst>
              <a:latin typeface="Arial" panose="020B0604020202020204" pitchFamily="34" charset="0"/>
            </a:endParaRPr>
          </a:p>
        </p:txBody>
      </p:sp>
      <p:sp>
        <p:nvSpPr>
          <p:cNvPr id="47119" name="Line 161"/>
          <p:cNvSpPr>
            <a:spLocks noChangeShapeType="1"/>
          </p:cNvSpPr>
          <p:nvPr/>
        </p:nvSpPr>
        <p:spPr bwMode="auto">
          <a:xfrm>
            <a:off x="6775450" y="4581525"/>
            <a:ext cx="4000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7120" name="Picture 162"/>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42200" y="2514600"/>
            <a:ext cx="339725" cy="782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7121" name="Object 163"/>
          <p:cNvGraphicFramePr>
            <a:graphicFrameLocks noChangeAspect="1"/>
          </p:cNvGraphicFramePr>
          <p:nvPr/>
        </p:nvGraphicFramePr>
        <p:xfrm>
          <a:off x="8323263" y="1822450"/>
          <a:ext cx="412750" cy="474663"/>
        </p:xfrm>
        <a:graphic>
          <a:graphicData uri="http://schemas.openxmlformats.org/presentationml/2006/ole">
            <mc:AlternateContent xmlns:mc="http://schemas.openxmlformats.org/markup-compatibility/2006">
              <mc:Choice xmlns:v="urn:schemas-microsoft-com:vml" Requires="v">
                <p:oleObj spid="_x0000_s104474" name="Microsoft ClipArt Gallery" r:id="rId6" imgW="1927225" imgH="3383280" progId="MS_ClipArt_Gallery">
                  <p:embed/>
                </p:oleObj>
              </mc:Choice>
              <mc:Fallback>
                <p:oleObj name="Microsoft ClipArt Gallery" r:id="rId6" imgW="1927225" imgH="3383280" progId="MS_ClipArt_Gallery">
                  <p:embed/>
                  <p:pic>
                    <p:nvPicPr>
                      <p:cNvPr id="0" name="图片 1044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3263" y="1822450"/>
                        <a:ext cx="412750"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22" name="Object 164"/>
          <p:cNvGraphicFramePr>
            <a:graphicFrameLocks noChangeAspect="1"/>
          </p:cNvGraphicFramePr>
          <p:nvPr/>
        </p:nvGraphicFramePr>
        <p:xfrm>
          <a:off x="8340725" y="2509838"/>
          <a:ext cx="412750" cy="474662"/>
        </p:xfrm>
        <a:graphic>
          <a:graphicData uri="http://schemas.openxmlformats.org/presentationml/2006/ole">
            <mc:AlternateContent xmlns:mc="http://schemas.openxmlformats.org/markup-compatibility/2006">
              <mc:Choice xmlns:v="urn:schemas-microsoft-com:vml" Requires="v">
                <p:oleObj spid="_x0000_s104475" name="Microsoft ClipArt Gallery" r:id="rId7" imgW="1927225" imgH="3383280" progId="MS_ClipArt_Gallery">
                  <p:embed/>
                </p:oleObj>
              </mc:Choice>
              <mc:Fallback>
                <p:oleObj name="Microsoft ClipArt Gallery" r:id="rId7" imgW="1927225" imgH="3383280" progId="MS_ClipArt_Gallery">
                  <p:embed/>
                  <p:pic>
                    <p:nvPicPr>
                      <p:cNvPr id="0" name="图片 1044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0725" y="2509838"/>
                        <a:ext cx="41275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23" name="Line 165"/>
          <p:cNvSpPr>
            <a:spLocks noChangeShapeType="1"/>
          </p:cNvSpPr>
          <p:nvPr/>
        </p:nvSpPr>
        <p:spPr bwMode="auto">
          <a:xfrm flipH="1">
            <a:off x="8112125" y="1685925"/>
            <a:ext cx="1588" cy="136683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4" name="Line 166"/>
          <p:cNvSpPr>
            <a:spLocks noChangeShapeType="1"/>
          </p:cNvSpPr>
          <p:nvPr/>
        </p:nvSpPr>
        <p:spPr bwMode="auto">
          <a:xfrm>
            <a:off x="7704138" y="2916238"/>
            <a:ext cx="4000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5" name="Line 167"/>
          <p:cNvSpPr>
            <a:spLocks noChangeShapeType="1"/>
          </p:cNvSpPr>
          <p:nvPr/>
        </p:nvSpPr>
        <p:spPr bwMode="auto">
          <a:xfrm>
            <a:off x="1779588" y="4627563"/>
            <a:ext cx="50641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6" name="Line 168"/>
          <p:cNvSpPr>
            <a:spLocks noChangeShapeType="1"/>
          </p:cNvSpPr>
          <p:nvPr/>
        </p:nvSpPr>
        <p:spPr bwMode="auto">
          <a:xfrm>
            <a:off x="1371600" y="5484813"/>
            <a:ext cx="4000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7" name="Line 169"/>
          <p:cNvSpPr>
            <a:spLocks noChangeShapeType="1"/>
          </p:cNvSpPr>
          <p:nvPr/>
        </p:nvSpPr>
        <p:spPr bwMode="auto">
          <a:xfrm>
            <a:off x="1352550" y="4765675"/>
            <a:ext cx="40005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28" name="Object 170"/>
          <p:cNvGraphicFramePr>
            <a:graphicFrameLocks noChangeAspect="1"/>
          </p:cNvGraphicFramePr>
          <p:nvPr/>
        </p:nvGraphicFramePr>
        <p:xfrm>
          <a:off x="1093788" y="4495800"/>
          <a:ext cx="412750" cy="474663"/>
        </p:xfrm>
        <a:graphic>
          <a:graphicData uri="http://schemas.openxmlformats.org/presentationml/2006/ole">
            <mc:AlternateContent xmlns:mc="http://schemas.openxmlformats.org/markup-compatibility/2006">
              <mc:Choice xmlns:v="urn:schemas-microsoft-com:vml" Requires="v">
                <p:oleObj spid="_x0000_s104476" name="Microsoft ClipArt Gallery" r:id="rId8" imgW="1927225" imgH="3383280" progId="MS_ClipArt_Gallery">
                  <p:embed/>
                </p:oleObj>
              </mc:Choice>
              <mc:Fallback>
                <p:oleObj name="Microsoft ClipArt Gallery" r:id="rId8" imgW="1927225" imgH="3383280" progId="MS_ClipArt_Gallery">
                  <p:embed/>
                  <p:pic>
                    <p:nvPicPr>
                      <p:cNvPr id="0" name="图片 1044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788" y="4495800"/>
                        <a:ext cx="412750"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29" name="Object 171"/>
          <p:cNvGraphicFramePr>
            <a:graphicFrameLocks noChangeAspect="1"/>
          </p:cNvGraphicFramePr>
          <p:nvPr/>
        </p:nvGraphicFramePr>
        <p:xfrm>
          <a:off x="1111250" y="5183188"/>
          <a:ext cx="412750" cy="474662"/>
        </p:xfrm>
        <a:graphic>
          <a:graphicData uri="http://schemas.openxmlformats.org/presentationml/2006/ole">
            <mc:AlternateContent xmlns:mc="http://schemas.openxmlformats.org/markup-compatibility/2006">
              <mc:Choice xmlns:v="urn:schemas-microsoft-com:vml" Requires="v">
                <p:oleObj spid="_x0000_s104477" name="Microsoft ClipArt Gallery" r:id="rId9" imgW="1927225" imgH="3383280" progId="MS_ClipArt_Gallery">
                  <p:embed/>
                </p:oleObj>
              </mc:Choice>
              <mc:Fallback>
                <p:oleObj name="Microsoft ClipArt Gallery" r:id="rId9" imgW="1927225" imgH="3383280" progId="MS_ClipArt_Gallery">
                  <p:embed/>
                  <p:pic>
                    <p:nvPicPr>
                      <p:cNvPr id="0" name="图片 1044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250" y="5183188"/>
                        <a:ext cx="41275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30" name="Line 172"/>
          <p:cNvSpPr>
            <a:spLocks noChangeShapeType="1"/>
          </p:cNvSpPr>
          <p:nvPr/>
        </p:nvSpPr>
        <p:spPr bwMode="auto">
          <a:xfrm>
            <a:off x="1752600" y="4343400"/>
            <a:ext cx="0" cy="1371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1" name="Text Box 173"/>
          <p:cNvSpPr txBox="1">
            <a:spLocks noChangeArrowheads="1"/>
          </p:cNvSpPr>
          <p:nvPr/>
        </p:nvSpPr>
        <p:spPr bwMode="auto">
          <a:xfrm>
            <a:off x="3152775" y="5270500"/>
            <a:ext cx="23463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lang="en-US" altLang="zh-CN" b="1"/>
              <a:t>1. </a:t>
            </a:r>
            <a:r>
              <a:rPr lang="zh-CN" altLang="en-US" b="1"/>
              <a:t>企业内联网</a:t>
            </a:r>
            <a:endParaRPr lang="zh-CN" altLang="zh-CN" b="1"/>
          </a:p>
        </p:txBody>
      </p:sp>
      <p:sp>
        <p:nvSpPr>
          <p:cNvPr id="47132" name="Line 174"/>
          <p:cNvSpPr>
            <a:spLocks noChangeShapeType="1"/>
          </p:cNvSpPr>
          <p:nvPr/>
        </p:nvSpPr>
        <p:spPr bwMode="auto">
          <a:xfrm flipV="1">
            <a:off x="5116513" y="4648200"/>
            <a:ext cx="1208087" cy="588963"/>
          </a:xfrm>
          <a:prstGeom prst="line">
            <a:avLst/>
          </a:prstGeom>
          <a:noFill/>
          <a:ln w="76200">
            <a:solidFill>
              <a:schemeClr val="tx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3" name="Text Box 175"/>
          <p:cNvSpPr txBox="1">
            <a:spLocks noChangeArrowheads="1"/>
          </p:cNvSpPr>
          <p:nvPr/>
        </p:nvSpPr>
        <p:spPr bwMode="auto">
          <a:xfrm>
            <a:off x="4349750" y="1690688"/>
            <a:ext cx="2454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3" tIns="45717" rIns="91433" bIns="45717">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lang="en-US" altLang="zh-CN" b="1"/>
              <a:t>2. </a:t>
            </a:r>
            <a:r>
              <a:rPr lang="zh-CN" altLang="en-US" b="1"/>
              <a:t>部门子网</a:t>
            </a:r>
            <a:endParaRPr lang="zh-CN" altLang="zh-CN" b="1"/>
          </a:p>
        </p:txBody>
      </p:sp>
      <p:sp>
        <p:nvSpPr>
          <p:cNvPr id="47134" name="Line 176"/>
          <p:cNvSpPr>
            <a:spLocks noChangeShapeType="1"/>
          </p:cNvSpPr>
          <p:nvPr/>
        </p:nvSpPr>
        <p:spPr bwMode="auto">
          <a:xfrm>
            <a:off x="6469063" y="2003425"/>
            <a:ext cx="917575" cy="495300"/>
          </a:xfrm>
          <a:prstGeom prst="line">
            <a:avLst/>
          </a:prstGeom>
          <a:noFill/>
          <a:ln w="76200">
            <a:solidFill>
              <a:schemeClr val="tx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5" name="Text Box 177"/>
          <p:cNvSpPr txBox="1">
            <a:spLocks noChangeArrowheads="1"/>
          </p:cNvSpPr>
          <p:nvPr/>
        </p:nvSpPr>
        <p:spPr bwMode="auto">
          <a:xfrm>
            <a:off x="866775" y="2300288"/>
            <a:ext cx="23463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lang="en-US" altLang="zh-CN" b="1"/>
              <a:t>3. </a:t>
            </a:r>
            <a:r>
              <a:rPr lang="zh-CN" altLang="en-US" b="1"/>
              <a:t>分公司网络</a:t>
            </a:r>
            <a:endParaRPr lang="zh-CN" altLang="zh-CN" b="1"/>
          </a:p>
        </p:txBody>
      </p:sp>
      <p:sp>
        <p:nvSpPr>
          <p:cNvPr id="47136" name="Line 178"/>
          <p:cNvSpPr>
            <a:spLocks noChangeShapeType="1"/>
          </p:cNvSpPr>
          <p:nvPr/>
        </p:nvSpPr>
        <p:spPr bwMode="auto">
          <a:xfrm>
            <a:off x="1849438" y="2925763"/>
            <a:ext cx="369887" cy="1112837"/>
          </a:xfrm>
          <a:prstGeom prst="line">
            <a:avLst/>
          </a:prstGeom>
          <a:noFill/>
          <a:ln w="76200">
            <a:solidFill>
              <a:schemeClr val="tx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7" name="Rectangle 179"/>
          <p:cNvSpPr>
            <a:spLocks noGrp="1" noChangeArrowheads="1"/>
          </p:cNvSpPr>
          <p:nvPr>
            <p:ph type="title"/>
          </p:nvPr>
        </p:nvSpPr>
        <p:spPr/>
        <p:txBody>
          <a:bodyPr/>
          <a:lstStyle/>
          <a:p>
            <a:pPr eaLnBrk="1" hangingPunct="1"/>
            <a:r>
              <a:rPr lang="zh-CN" altLang="en-US" smtClean="0">
                <a:solidFill>
                  <a:schemeClr val="tx1"/>
                </a:solidFill>
              </a:rPr>
              <a:t>防火墙示意图</a:t>
            </a:r>
            <a:endParaRPr lang="zh-CN" altLang="en-US" smtClean="0">
              <a:solidFill>
                <a:schemeClr val="tx1"/>
              </a:solidFill>
            </a:endParaRPr>
          </a:p>
        </p:txBody>
      </p:sp>
    </p:spTree>
  </p:cSld>
  <p:clrMapOvr>
    <a:masterClrMapping/>
  </p:clrMapOvr>
  <p:transition spd="slow"/>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p:cNvSpPr>
            <a:spLocks noGrp="1"/>
          </p:cNvSpPr>
          <p:nvPr>
            <p:ph type="dt" sz="quarter" idx="4294967295"/>
          </p:nvPr>
        </p:nvSpPr>
        <p:spPr>
          <a:xfrm>
            <a:off x="685800" y="6248400"/>
            <a:ext cx="1905000" cy="45720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5F0686BE-544F-42E0-A78C-740917F7EA36}"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53251"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2F64BEE7-FA1C-4E10-80E5-DB22DBB4E868}"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53252" name="Rectangle 2"/>
          <p:cNvSpPr>
            <a:spLocks noGrp="1" noChangeArrowheads="1"/>
          </p:cNvSpPr>
          <p:nvPr>
            <p:ph type="title"/>
          </p:nvPr>
        </p:nvSpPr>
        <p:spPr/>
        <p:txBody>
          <a:bodyPr/>
          <a:lstStyle/>
          <a:p>
            <a:pPr eaLnBrk="1" hangingPunct="1"/>
            <a:r>
              <a:rPr lang="zh-CN" altLang="en-US" smtClean="0"/>
              <a:t>防火墙的分类</a:t>
            </a:r>
            <a:endParaRPr lang="zh-CN" altLang="en-US" smtClean="0"/>
          </a:p>
        </p:txBody>
      </p:sp>
      <p:sp>
        <p:nvSpPr>
          <p:cNvPr id="155654" name="Rectangle 3"/>
          <p:cNvSpPr>
            <a:spLocks noGrp="1" noChangeArrowheads="1"/>
          </p:cNvSpPr>
          <p:nvPr>
            <p:ph type="body" idx="1"/>
          </p:nvPr>
        </p:nvSpPr>
        <p:spPr>
          <a:xfrm>
            <a:off x="684213" y="1700213"/>
            <a:ext cx="7920037" cy="4465637"/>
          </a:xfrm>
        </p:spPr>
        <p:txBody>
          <a:bodyPr>
            <a:normAutofit fontScale="92500"/>
          </a:bodyPr>
          <a:lstStyle/>
          <a:p>
            <a:pPr eaLnBrk="1" hangingPunct="1">
              <a:defRPr/>
            </a:pPr>
            <a:r>
              <a:rPr lang="zh-CN" altLang="en-US" smtClean="0"/>
              <a:t>防火墙按照使用对象可分为：</a:t>
            </a:r>
            <a:r>
              <a:rPr lang="zh-CN" altLang="en-US" smtClean="0">
                <a:solidFill>
                  <a:schemeClr val="accent2"/>
                </a:solidFill>
              </a:rPr>
              <a:t>个人防火墙和企业防火墙。</a:t>
            </a:r>
            <a:endParaRPr lang="zh-CN" altLang="en-US" smtClean="0">
              <a:solidFill>
                <a:schemeClr val="accent2"/>
              </a:solidFill>
            </a:endParaRPr>
          </a:p>
          <a:p>
            <a:pPr lvl="1" eaLnBrk="1" hangingPunct="1">
              <a:defRPr/>
            </a:pPr>
            <a:r>
              <a:rPr lang="zh-CN" altLang="en-US" smtClean="0">
                <a:solidFill>
                  <a:schemeClr val="accent2"/>
                </a:solidFill>
              </a:rPr>
              <a:t>个人防火墙</a:t>
            </a:r>
            <a:r>
              <a:rPr lang="zh-CN" altLang="en-US" smtClean="0"/>
              <a:t>一般以</a:t>
            </a:r>
            <a:r>
              <a:rPr lang="zh-CN" altLang="en-US" smtClean="0">
                <a:solidFill>
                  <a:schemeClr val="accent2"/>
                </a:solidFill>
              </a:rPr>
              <a:t>软件服务</a:t>
            </a:r>
            <a:r>
              <a:rPr lang="zh-CN" altLang="en-US" smtClean="0"/>
              <a:t>的形式实现，它为个人计算机提供简单的防火墙功能。个人防火墙可能会随操作系统附带，价格较低。</a:t>
            </a:r>
            <a:endParaRPr lang="zh-CN" altLang="en-US" smtClean="0"/>
          </a:p>
          <a:p>
            <a:pPr lvl="1" eaLnBrk="1" hangingPunct="1">
              <a:defRPr/>
            </a:pPr>
            <a:r>
              <a:rPr lang="zh-CN" altLang="en-US" smtClean="0">
                <a:solidFill>
                  <a:schemeClr val="accent2"/>
                </a:solidFill>
              </a:rPr>
              <a:t>企业防火墙</a:t>
            </a:r>
            <a:r>
              <a:rPr lang="zh-CN" altLang="en-US" smtClean="0"/>
              <a:t>指的是隔离在本地网络与外界网络之间的一道</a:t>
            </a:r>
            <a:r>
              <a:rPr lang="zh-CN" altLang="en-US" smtClean="0">
                <a:solidFill>
                  <a:schemeClr val="accent2"/>
                </a:solidFill>
              </a:rPr>
              <a:t>防御系统</a:t>
            </a:r>
            <a:r>
              <a:rPr lang="zh-CN" altLang="en-US" smtClean="0"/>
              <a:t>。企业防火墙可以使企业内部局域网（</a:t>
            </a:r>
            <a:r>
              <a:rPr lang="en-US" altLang="zh-CN" smtClean="0"/>
              <a:t>LAN</a:t>
            </a:r>
            <a:r>
              <a:rPr lang="zh-CN" altLang="en-US" smtClean="0"/>
              <a:t>）网络与</a:t>
            </a:r>
            <a:r>
              <a:rPr lang="en-US" altLang="zh-CN" smtClean="0"/>
              <a:t>Internet</a:t>
            </a:r>
            <a:r>
              <a:rPr lang="zh-CN" altLang="en-US" smtClean="0"/>
              <a:t>之间或者与其他外部网络互相隔离、限制网络互访用来保护内部网络。实现形式：软件、硬件。</a:t>
            </a:r>
            <a:r>
              <a:rPr lang="zh-CN" altLang="en-US" sz="3000" smtClean="0"/>
              <a:t>   </a:t>
            </a:r>
            <a:endParaRPr lang="zh-CN" altLang="en-US" sz="3000" smtClean="0"/>
          </a:p>
        </p:txBody>
      </p:sp>
    </p:spTree>
  </p:cSld>
  <p:clrMapOvr>
    <a:masterClrMapping/>
  </p:clrMapOvr>
  <p:transition spd="slow"/>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p:cNvSpPr>
            <a:spLocks noGrp="1"/>
          </p:cNvSpPr>
          <p:nvPr>
            <p:ph type="dt" sz="quarter" idx="4294967295"/>
          </p:nvPr>
        </p:nvSpPr>
        <p:spPr>
          <a:xfrm>
            <a:off x="685800" y="6248400"/>
            <a:ext cx="1905000" cy="45720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3C794AE9-9CD6-45E5-B9C2-B06336F0D00B}"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54275"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8313011B-4267-4EAF-837E-9B5FFCECE12B}"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54276" name="Rectangle 2"/>
          <p:cNvSpPr>
            <a:spLocks noGrp="1" noChangeArrowheads="1"/>
          </p:cNvSpPr>
          <p:nvPr>
            <p:ph type="title"/>
          </p:nvPr>
        </p:nvSpPr>
        <p:spPr/>
        <p:txBody>
          <a:bodyPr/>
          <a:lstStyle/>
          <a:p>
            <a:pPr eaLnBrk="1" hangingPunct="1"/>
            <a:r>
              <a:rPr lang="zh-CN" altLang="en-US" smtClean="0"/>
              <a:t>防火墙的分类</a:t>
            </a:r>
            <a:r>
              <a:rPr lang="en-US" altLang="zh-CN" smtClean="0"/>
              <a:t>(2)</a:t>
            </a:r>
            <a:endParaRPr lang="en-US" altLang="zh-CN" smtClean="0"/>
          </a:p>
        </p:txBody>
      </p:sp>
      <p:sp>
        <p:nvSpPr>
          <p:cNvPr id="54277" name="Rectangle 3"/>
          <p:cNvSpPr>
            <a:spLocks noGrp="1" noChangeArrowheads="1"/>
          </p:cNvSpPr>
          <p:nvPr>
            <p:ph type="body" idx="1"/>
          </p:nvPr>
        </p:nvSpPr>
        <p:spPr/>
        <p:txBody>
          <a:bodyPr/>
          <a:lstStyle/>
          <a:p>
            <a:pPr eaLnBrk="1" hangingPunct="1"/>
            <a:r>
              <a:rPr lang="zh-CN" altLang="en-US" dirty="0" smtClean="0"/>
              <a:t>从使用的技术上划分，防火墙可以分为：</a:t>
            </a:r>
            <a:endParaRPr lang="zh-CN" altLang="en-US" dirty="0" smtClean="0"/>
          </a:p>
          <a:p>
            <a:pPr lvl="1" eaLnBrk="1" hangingPunct="1"/>
            <a:r>
              <a:rPr lang="zh-CN" altLang="en-US" dirty="0" smtClean="0"/>
              <a:t>包过滤防火墙</a:t>
            </a:r>
            <a:endParaRPr lang="zh-CN" altLang="en-US" dirty="0" smtClean="0"/>
          </a:p>
          <a:p>
            <a:pPr lvl="2" eaLnBrk="1" hangingPunct="1"/>
            <a:r>
              <a:rPr lang="zh-CN" altLang="en-US" dirty="0" smtClean="0"/>
              <a:t>静态包过滤防火墙</a:t>
            </a:r>
            <a:endParaRPr lang="zh-CN" altLang="en-US" dirty="0" smtClean="0"/>
          </a:p>
          <a:p>
            <a:pPr lvl="2" eaLnBrk="1" hangingPunct="1"/>
            <a:r>
              <a:rPr lang="zh-CN" altLang="en-US" dirty="0" smtClean="0"/>
              <a:t>动态包过滤防火墙</a:t>
            </a:r>
            <a:endParaRPr lang="zh-CN" altLang="en-US" dirty="0" smtClean="0"/>
          </a:p>
          <a:p>
            <a:pPr lvl="1" eaLnBrk="1" hangingPunct="1"/>
            <a:r>
              <a:rPr lang="zh-CN" altLang="en-US" dirty="0" smtClean="0"/>
              <a:t>代理服务器型防火墙</a:t>
            </a:r>
            <a:endParaRPr lang="zh-CN" altLang="en-US" dirty="0" smtClean="0"/>
          </a:p>
          <a:p>
            <a:pPr lvl="1" eaLnBrk="1" hangingPunct="1"/>
            <a:r>
              <a:rPr lang="zh-CN" altLang="en-US" dirty="0" smtClean="0"/>
              <a:t>电路级网关</a:t>
            </a:r>
            <a:endParaRPr lang="zh-CN" altLang="en-US" dirty="0" smtClean="0"/>
          </a:p>
          <a:p>
            <a:pPr lvl="1" eaLnBrk="1" hangingPunct="1"/>
            <a:r>
              <a:rPr lang="zh-CN" altLang="en-US" dirty="0" smtClean="0"/>
              <a:t>混合型防火墙</a:t>
            </a:r>
            <a:endParaRPr lang="zh-CN" altLang="en-US" dirty="0" smtClean="0"/>
          </a:p>
        </p:txBody>
      </p:sp>
    </p:spTree>
  </p:cSld>
  <p:clrMapOvr>
    <a:masterClrMapping/>
  </p:clrMapOvr>
  <p:transition spd="slow"/>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3"/>
          <p:cNvSpPr>
            <a:spLocks noGrp="1"/>
          </p:cNvSpPr>
          <p:nvPr>
            <p:ph type="dt" sz="quarter" idx="4294967295"/>
          </p:nvPr>
        </p:nvSpPr>
        <p:spPr>
          <a:xfrm>
            <a:off x="685800" y="6248400"/>
            <a:ext cx="1905000" cy="45720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19F56B49-377A-4561-A971-FAAC25BEC7F2}"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66563"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507B19C7-B57D-44D6-9052-3CF2480FCE9F}"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66564" name="Rectangle 2"/>
          <p:cNvSpPr>
            <a:spLocks noGrp="1" noChangeArrowheads="1"/>
          </p:cNvSpPr>
          <p:nvPr>
            <p:ph type="title"/>
          </p:nvPr>
        </p:nvSpPr>
        <p:spPr/>
        <p:txBody>
          <a:bodyPr/>
          <a:lstStyle/>
          <a:p>
            <a:pPr eaLnBrk="1" hangingPunct="1"/>
            <a:r>
              <a:rPr lang="zh-CN" altLang="en-US" smtClean="0"/>
              <a:t>防火墙的技术</a:t>
            </a:r>
            <a:endParaRPr lang="zh-CN" altLang="en-US" smtClean="0"/>
          </a:p>
        </p:txBody>
      </p:sp>
      <p:sp>
        <p:nvSpPr>
          <p:cNvPr id="66565" name="Rectangle 3"/>
          <p:cNvSpPr>
            <a:spLocks noGrp="1" noChangeArrowheads="1"/>
          </p:cNvSpPr>
          <p:nvPr>
            <p:ph type="body" idx="1"/>
          </p:nvPr>
        </p:nvSpPr>
        <p:spPr>
          <a:xfrm>
            <a:off x="684213" y="1700213"/>
            <a:ext cx="7920037" cy="4465637"/>
          </a:xfrm>
        </p:spPr>
        <p:txBody>
          <a:bodyPr/>
          <a:lstStyle/>
          <a:p>
            <a:pPr eaLnBrk="1" hangingPunct="1"/>
            <a:r>
              <a:rPr lang="zh-CN" altLang="en-US" dirty="0" smtClean="0"/>
              <a:t>包过滤防火墙</a:t>
            </a:r>
            <a:endParaRPr lang="zh-CN" altLang="en-US" dirty="0" smtClean="0"/>
          </a:p>
          <a:p>
            <a:pPr eaLnBrk="1" hangingPunct="1"/>
            <a:r>
              <a:rPr lang="zh-CN" altLang="en-US" dirty="0" smtClean="0"/>
              <a:t>代理型防火墙</a:t>
            </a:r>
            <a:endParaRPr lang="zh-CN" altLang="en-US" dirty="0" smtClean="0"/>
          </a:p>
          <a:p>
            <a:pPr eaLnBrk="1" hangingPunct="1"/>
            <a:r>
              <a:rPr lang="zh-CN" altLang="en-US" dirty="0" smtClean="0"/>
              <a:t>电路级网关</a:t>
            </a:r>
            <a:endParaRPr lang="zh-CN" altLang="en-US" dirty="0" smtClean="0"/>
          </a:p>
          <a:p>
            <a:pPr eaLnBrk="1" hangingPunct="1"/>
            <a:r>
              <a:rPr lang="zh-CN" altLang="en-US" dirty="0" smtClean="0"/>
              <a:t>混合型防火墙</a:t>
            </a:r>
            <a:endParaRPr lang="zh-CN" altLang="en-US" dirty="0" smtClean="0"/>
          </a:p>
        </p:txBody>
      </p:sp>
    </p:spTree>
  </p:cSld>
  <p:clrMapOvr>
    <a:masterClrMapping/>
  </p:clrMapOvr>
  <p:transition spd="slow"/>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68611"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68612" name="Rectangle 2"/>
          <p:cNvSpPr>
            <a:spLocks noGrp="1"/>
          </p:cNvSpPr>
          <p:nvPr>
            <p:ph type="title"/>
          </p:nvPr>
        </p:nvSpPr>
        <p:spPr/>
        <p:txBody>
          <a:bodyPr vert="horz" wrap="square" lIns="91440" tIns="45720" rIns="91440" bIns="45720" anchor="ctr" anchorCtr="0"/>
          <a:p>
            <a:pPr eaLnBrk="1" hangingPunct="1"/>
            <a:r>
              <a:rPr lang="zh-CN" altLang="en-US" dirty="0"/>
              <a:t>包过滤防火墙</a:t>
            </a:r>
            <a:endParaRPr lang="zh-CN" altLang="en-US" dirty="0"/>
          </a:p>
        </p:txBody>
      </p:sp>
      <p:sp>
        <p:nvSpPr>
          <p:cNvPr id="68613" name="Rectangle 3"/>
          <p:cNvSpPr>
            <a:spLocks noGrp="1"/>
          </p:cNvSpPr>
          <p:nvPr>
            <p:ph idx="1"/>
          </p:nvPr>
        </p:nvSpPr>
        <p:spPr/>
        <p:txBody>
          <a:bodyPr vert="horz" wrap="square" lIns="91440" tIns="45720" rIns="91440" bIns="45720" anchor="t" anchorCtr="0"/>
          <a:p>
            <a:pPr eaLnBrk="1" hangingPunct="1"/>
            <a:r>
              <a:rPr lang="zh-CN" altLang="en-US" dirty="0"/>
              <a:t>包过滤式防火墙会在系统进行</a:t>
            </a:r>
            <a:r>
              <a:rPr lang="en-US" altLang="zh-CN" dirty="0"/>
              <a:t>IP</a:t>
            </a:r>
            <a:r>
              <a:rPr lang="zh-CN" altLang="en-US" dirty="0"/>
              <a:t>数据包转发时设定访问控制列表，检查</a:t>
            </a:r>
            <a:r>
              <a:rPr lang="zh-CN" altLang="en-US" dirty="0">
                <a:solidFill>
                  <a:schemeClr val="tx2"/>
                </a:solidFill>
              </a:rPr>
              <a:t>所有通过的数据包信息</a:t>
            </a:r>
            <a:r>
              <a:rPr lang="zh-CN" altLang="en-US" dirty="0"/>
              <a:t>，并按照给定的规则进行访问控制和过滤。</a:t>
            </a:r>
            <a:endParaRPr lang="zh-CN" altLang="en-US" dirty="0"/>
          </a:p>
          <a:p>
            <a:pPr eaLnBrk="1" hangingPunct="1"/>
            <a:r>
              <a:rPr lang="zh-CN" altLang="en-US" dirty="0"/>
              <a:t>如果对防火墙设定某一</a:t>
            </a:r>
            <a:r>
              <a:rPr lang="en-US" altLang="zh-CN" dirty="0"/>
              <a:t>IP</a:t>
            </a:r>
            <a:r>
              <a:rPr lang="zh-CN" altLang="en-US" dirty="0"/>
              <a:t>地址的站点为不适宜访问的话，那么，从这个地址来的所有信息都会被防火墙屏蔽掉。 </a:t>
            </a:r>
            <a:endParaRPr lang="zh-CN" altLang="en-US" dirty="0"/>
          </a:p>
          <a:p>
            <a:pPr eaLnBrk="1" hangingPunct="1"/>
            <a:endParaRPr lang="en-US" altLang="zh-CN" dirty="0"/>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80899"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80900" name="Rectangle 2"/>
          <p:cNvSpPr>
            <a:spLocks noGrp="1"/>
          </p:cNvSpPr>
          <p:nvPr>
            <p:ph type="title"/>
          </p:nvPr>
        </p:nvSpPr>
        <p:spPr/>
        <p:txBody>
          <a:bodyPr vert="horz" wrap="square" lIns="91440" tIns="45720" rIns="91440" bIns="45720" anchor="ctr" anchorCtr="0"/>
          <a:p>
            <a:pPr eaLnBrk="1" hangingPunct="1"/>
            <a:r>
              <a:rPr lang="zh-CN" altLang="en-US" dirty="0"/>
              <a:t>包过滤防火墙的优缺点</a:t>
            </a:r>
            <a:endParaRPr lang="zh-CN" altLang="en-US" dirty="0"/>
          </a:p>
        </p:txBody>
      </p:sp>
      <p:sp>
        <p:nvSpPr>
          <p:cNvPr id="80901" name="Rectangle 3"/>
          <p:cNvSpPr>
            <a:spLocks noGrp="1"/>
          </p:cNvSpPr>
          <p:nvPr>
            <p:ph idx="1"/>
          </p:nvPr>
        </p:nvSpPr>
        <p:spPr/>
        <p:txBody>
          <a:bodyPr vert="horz" wrap="square" lIns="91440" tIns="45720" rIns="91440" bIns="45720" anchor="t" anchorCtr="0"/>
          <a:p>
            <a:pPr eaLnBrk="1" hangingPunct="1"/>
            <a:r>
              <a:rPr lang="zh-CN" altLang="en-US" dirty="0">
                <a:solidFill>
                  <a:schemeClr val="accent2"/>
                </a:solidFill>
              </a:rPr>
              <a:t>优点</a:t>
            </a:r>
            <a:endParaRPr lang="zh-CN" altLang="en-US" dirty="0">
              <a:solidFill>
                <a:schemeClr val="accent2"/>
              </a:solidFill>
            </a:endParaRPr>
          </a:p>
          <a:p>
            <a:pPr lvl="1" eaLnBrk="1" hangingPunct="1"/>
            <a:r>
              <a:rPr lang="zh-CN" altLang="en-US" dirty="0"/>
              <a:t>逻辑简单，价格便宜，对网络性能的影响较小，有较强的透明性。</a:t>
            </a:r>
            <a:endParaRPr lang="zh-CN" altLang="en-US" dirty="0"/>
          </a:p>
          <a:p>
            <a:pPr lvl="1" eaLnBrk="1" hangingPunct="1"/>
            <a:r>
              <a:rPr lang="zh-CN" altLang="en-US" dirty="0"/>
              <a:t>与应用层无关，无需改动任何客户机和主机上的应用程序，易于安装和使用。</a:t>
            </a:r>
            <a:endParaRPr lang="zh-CN" altLang="en-US" dirty="0"/>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81923"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81924" name="Rectangle 2"/>
          <p:cNvSpPr>
            <a:spLocks noGrp="1"/>
          </p:cNvSpPr>
          <p:nvPr>
            <p:ph type="title"/>
          </p:nvPr>
        </p:nvSpPr>
        <p:spPr/>
        <p:txBody>
          <a:bodyPr vert="horz" wrap="square" lIns="91440" tIns="45720" rIns="91440" bIns="45720" anchor="ctr" anchorCtr="0"/>
          <a:p>
            <a:pPr eaLnBrk="1" hangingPunct="1"/>
            <a:r>
              <a:rPr lang="zh-CN" altLang="en-US" dirty="0"/>
              <a:t>包过滤防火墙的优缺点</a:t>
            </a:r>
            <a:endParaRPr lang="zh-CN" altLang="en-US" dirty="0"/>
          </a:p>
        </p:txBody>
      </p:sp>
      <p:sp>
        <p:nvSpPr>
          <p:cNvPr id="81925" name="Rectangle 3"/>
          <p:cNvSpPr>
            <a:spLocks noGrp="1"/>
          </p:cNvSpPr>
          <p:nvPr>
            <p:ph idx="1"/>
          </p:nvPr>
        </p:nvSpPr>
        <p:spPr/>
        <p:txBody>
          <a:bodyPr vert="horz" wrap="square" lIns="91440" tIns="45720" rIns="91440" bIns="45720" anchor="t" anchorCtr="0"/>
          <a:p>
            <a:pPr eaLnBrk="1" hangingPunct="1">
              <a:lnSpc>
                <a:spcPct val="80000"/>
              </a:lnSpc>
            </a:pPr>
            <a:r>
              <a:rPr lang="zh-CN" altLang="en-US" dirty="0">
                <a:solidFill>
                  <a:schemeClr val="accent2"/>
                </a:solidFill>
              </a:rPr>
              <a:t>缺点</a:t>
            </a:r>
            <a:endParaRPr lang="zh-CN" altLang="en-US" dirty="0">
              <a:solidFill>
                <a:schemeClr val="accent2"/>
              </a:solidFill>
            </a:endParaRPr>
          </a:p>
          <a:p>
            <a:pPr lvl="1" eaLnBrk="1" hangingPunct="1">
              <a:lnSpc>
                <a:spcPct val="80000"/>
              </a:lnSpc>
            </a:pPr>
            <a:r>
              <a:rPr lang="zh-CN" altLang="en-US" dirty="0"/>
              <a:t>配置基于包过滤方式的防火墙，需要对</a:t>
            </a:r>
            <a:r>
              <a:rPr lang="en-US" altLang="zh-CN" dirty="0"/>
              <a:t>IP</a:t>
            </a:r>
            <a:r>
              <a:rPr lang="zh-CN" altLang="en-US" dirty="0"/>
              <a:t>、</a:t>
            </a:r>
            <a:r>
              <a:rPr lang="en-US" altLang="zh-CN" dirty="0"/>
              <a:t>TCP</a:t>
            </a:r>
            <a:r>
              <a:rPr lang="zh-CN" altLang="en-US" dirty="0"/>
              <a:t>、</a:t>
            </a:r>
            <a:r>
              <a:rPr lang="en-US" altLang="zh-CN" dirty="0"/>
              <a:t>UDP</a:t>
            </a:r>
            <a:r>
              <a:rPr lang="zh-CN" altLang="en-US" dirty="0"/>
              <a:t>和</a:t>
            </a:r>
            <a:r>
              <a:rPr lang="en-US" altLang="zh-CN" dirty="0"/>
              <a:t>ICMP</a:t>
            </a:r>
            <a:r>
              <a:rPr lang="zh-CN" altLang="en-US" dirty="0"/>
              <a:t>等各种协议有深入的了解，否则容易出现因配置不当带来的问题；</a:t>
            </a:r>
            <a:endParaRPr lang="zh-CN" altLang="en-US" dirty="0"/>
          </a:p>
          <a:p>
            <a:pPr lvl="1" eaLnBrk="1" hangingPunct="1">
              <a:lnSpc>
                <a:spcPct val="80000"/>
              </a:lnSpc>
            </a:pPr>
            <a:r>
              <a:rPr lang="zh-CN" altLang="en-US" dirty="0"/>
              <a:t>由于过滤判别的只有网络层和传输层的有限信息，所以各种安全要求难以得到充分的满足；</a:t>
            </a:r>
            <a:endParaRPr lang="zh-CN" altLang="en-US" dirty="0"/>
          </a:p>
          <a:p>
            <a:pPr lvl="1" eaLnBrk="1" hangingPunct="1">
              <a:lnSpc>
                <a:spcPct val="80000"/>
              </a:lnSpc>
            </a:pPr>
            <a:r>
              <a:rPr lang="zh-CN" altLang="en-US" dirty="0"/>
              <a:t>由于数据包的地址及端口号都在数据包的头部，因而不能彻底防止地址欺骗，及外部客户与内部主机直接连接，不提供用户的鉴别机制。</a:t>
            </a:r>
            <a:endParaRPr lang="zh-CN" altLang="en-US" dirty="0"/>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82947"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82948" name="Rectangle 2"/>
          <p:cNvSpPr>
            <a:spLocks noGrp="1"/>
          </p:cNvSpPr>
          <p:nvPr>
            <p:ph type="title"/>
          </p:nvPr>
        </p:nvSpPr>
        <p:spPr/>
        <p:txBody>
          <a:bodyPr vert="horz" wrap="square" lIns="91440" tIns="45720" rIns="91440" bIns="45720" anchor="ctr" anchorCtr="0"/>
          <a:p>
            <a:pPr eaLnBrk="1" hangingPunct="1"/>
            <a:r>
              <a:rPr lang="zh-CN" altLang="en-US" dirty="0"/>
              <a:t>代理型防火墙</a:t>
            </a:r>
            <a:endParaRPr lang="zh-CN" altLang="en-US" dirty="0"/>
          </a:p>
        </p:txBody>
      </p:sp>
      <p:sp>
        <p:nvSpPr>
          <p:cNvPr id="82949" name="Rectangle 3"/>
          <p:cNvSpPr>
            <a:spLocks noGrp="1"/>
          </p:cNvSpPr>
          <p:nvPr>
            <p:ph idx="1"/>
          </p:nvPr>
        </p:nvSpPr>
        <p:spPr/>
        <p:txBody>
          <a:bodyPr vert="horz" wrap="square" lIns="91440" tIns="45720" rIns="91440" bIns="45720" anchor="t" anchorCtr="0"/>
          <a:p>
            <a:pPr eaLnBrk="1" hangingPunct="1"/>
            <a:r>
              <a:rPr lang="zh-CN" altLang="en-US" dirty="0"/>
              <a:t>代理服务器型防火墙通过在主机上运行代理的服务程序，直接对特定的应用层进行服务，因此，也称为</a:t>
            </a:r>
            <a:r>
              <a:rPr lang="zh-CN" altLang="en-US" dirty="0">
                <a:solidFill>
                  <a:schemeClr val="accent2"/>
                </a:solidFill>
              </a:rPr>
              <a:t>应用型防火墙</a:t>
            </a:r>
            <a:r>
              <a:rPr lang="zh-CN" altLang="en-US" dirty="0"/>
              <a:t>。</a:t>
            </a:r>
            <a:endParaRPr lang="zh-CN" altLang="en-US" dirty="0"/>
          </a:p>
          <a:p>
            <a:pPr eaLnBrk="1" hangingPunct="1"/>
            <a:r>
              <a:rPr lang="zh-CN" altLang="en-US" dirty="0"/>
              <a:t>其</a:t>
            </a:r>
            <a:r>
              <a:rPr lang="zh-CN" altLang="en-US" dirty="0">
                <a:solidFill>
                  <a:schemeClr val="accent2"/>
                </a:solidFill>
              </a:rPr>
              <a:t>核心</a:t>
            </a:r>
            <a:r>
              <a:rPr lang="zh-CN" altLang="en-US" dirty="0"/>
              <a:t>是运行于防火墙主机上的</a:t>
            </a:r>
            <a:r>
              <a:rPr lang="zh-CN" altLang="en-US" dirty="0">
                <a:solidFill>
                  <a:schemeClr val="accent2"/>
                </a:solidFill>
              </a:rPr>
              <a:t>代理服务器程序</a:t>
            </a:r>
            <a:r>
              <a:rPr lang="zh-CN" altLang="en-US" dirty="0"/>
              <a:t>。</a:t>
            </a:r>
            <a:endParaRPr lang="zh-CN" altLang="en-US" dirty="0"/>
          </a:p>
          <a:p>
            <a:pPr eaLnBrk="1" hangingPunct="1"/>
            <a:r>
              <a:rPr lang="zh-CN" altLang="en-US" dirty="0"/>
              <a:t>针对不同的应用程序，代理服务型防火墙需要不同的代理模块。</a:t>
            </a:r>
            <a:endParaRPr lang="zh-CN" altLang="en-US" dirty="0"/>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88067"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88068" name="Rectangle 2"/>
          <p:cNvSpPr>
            <a:spLocks noGrp="1"/>
          </p:cNvSpPr>
          <p:nvPr>
            <p:ph type="title"/>
          </p:nvPr>
        </p:nvSpPr>
        <p:spPr/>
        <p:txBody>
          <a:bodyPr vert="horz" wrap="square" lIns="91440" tIns="45720" rIns="91440" bIns="45720" anchor="ctr" anchorCtr="0"/>
          <a:p>
            <a:pPr eaLnBrk="1" hangingPunct="1"/>
            <a:r>
              <a:rPr lang="zh-CN" altLang="en-US" sz="3400" dirty="0"/>
              <a:t>代理防火墙的优点</a:t>
            </a:r>
            <a:endParaRPr lang="zh-CN" altLang="en-US" sz="3400" dirty="0"/>
          </a:p>
        </p:txBody>
      </p:sp>
      <p:sp>
        <p:nvSpPr>
          <p:cNvPr id="88069" name="Rectangle 3"/>
          <p:cNvSpPr>
            <a:spLocks noGrp="1"/>
          </p:cNvSpPr>
          <p:nvPr>
            <p:ph idx="1"/>
          </p:nvPr>
        </p:nvSpPr>
        <p:spPr/>
        <p:txBody>
          <a:bodyPr vert="horz" wrap="square" lIns="91440" tIns="45720" rIns="91440" bIns="45720" anchor="t" anchorCtr="0"/>
          <a:p>
            <a:pPr eaLnBrk="1" hangingPunct="1">
              <a:lnSpc>
                <a:spcPct val="90000"/>
              </a:lnSpc>
            </a:pPr>
            <a:r>
              <a:rPr lang="zh-CN" altLang="en-US" sz="2600" dirty="0"/>
              <a:t>易于配置，界面友好；</a:t>
            </a:r>
            <a:endParaRPr lang="zh-CN" altLang="en-US" sz="2600" dirty="0"/>
          </a:p>
          <a:p>
            <a:pPr eaLnBrk="1" hangingPunct="1">
              <a:lnSpc>
                <a:spcPct val="90000"/>
              </a:lnSpc>
            </a:pPr>
            <a:r>
              <a:rPr lang="zh-CN" altLang="en-US" sz="2600" dirty="0"/>
              <a:t>不允许内外网主机的直接连接；</a:t>
            </a:r>
            <a:endParaRPr lang="zh-CN" altLang="en-US" sz="2600" dirty="0"/>
          </a:p>
          <a:p>
            <a:pPr eaLnBrk="1" hangingPunct="1">
              <a:lnSpc>
                <a:spcPct val="90000"/>
              </a:lnSpc>
            </a:pPr>
            <a:r>
              <a:rPr lang="zh-CN" altLang="en-US" sz="2600" dirty="0"/>
              <a:t>可以提供比包过滤更详细的日志记录，例如在一个</a:t>
            </a:r>
            <a:r>
              <a:rPr lang="en-US" altLang="zh-CN" sz="2600" dirty="0"/>
              <a:t>HTTP</a:t>
            </a:r>
            <a:r>
              <a:rPr lang="zh-CN" altLang="en-US" sz="2600" dirty="0"/>
              <a:t>连接中，包过滤只能记录单个的数据包，而应用网关还可以记录文件名，</a:t>
            </a:r>
            <a:r>
              <a:rPr lang="en-US" altLang="zh-CN" sz="2600" dirty="0"/>
              <a:t>URL</a:t>
            </a:r>
            <a:r>
              <a:rPr lang="zh-CN" altLang="en-US" sz="2600" dirty="0"/>
              <a:t>等信息；</a:t>
            </a:r>
            <a:endParaRPr lang="zh-CN" altLang="en-US" sz="2600" dirty="0"/>
          </a:p>
          <a:p>
            <a:pPr eaLnBrk="1" hangingPunct="1">
              <a:lnSpc>
                <a:spcPct val="90000"/>
              </a:lnSpc>
            </a:pPr>
            <a:r>
              <a:rPr lang="zh-CN" altLang="en-US" sz="2600" dirty="0"/>
              <a:t>可以隐藏用户内部</a:t>
            </a:r>
            <a:r>
              <a:rPr lang="en-US" altLang="zh-CN" sz="2600" dirty="0"/>
              <a:t>IP</a:t>
            </a:r>
            <a:r>
              <a:rPr lang="zh-CN" altLang="en-US" sz="2600" dirty="0"/>
              <a:t>地址；</a:t>
            </a:r>
            <a:endParaRPr lang="zh-CN" altLang="en-US" sz="2600" dirty="0"/>
          </a:p>
          <a:p>
            <a:pPr eaLnBrk="1" hangingPunct="1">
              <a:lnSpc>
                <a:spcPct val="90000"/>
              </a:lnSpc>
            </a:pPr>
            <a:r>
              <a:rPr lang="zh-CN" altLang="en-US" sz="2600" dirty="0"/>
              <a:t>可以给单个用户授权；</a:t>
            </a:r>
            <a:endParaRPr lang="zh-CN" altLang="en-US" sz="2600" dirty="0"/>
          </a:p>
          <a:p>
            <a:pPr eaLnBrk="1" hangingPunct="1">
              <a:lnSpc>
                <a:spcPct val="90000"/>
              </a:lnSpc>
            </a:pPr>
            <a:r>
              <a:rPr lang="zh-CN" altLang="en-US" sz="2600" dirty="0"/>
              <a:t>可以为用户提供透明的加密机制；</a:t>
            </a:r>
            <a:endParaRPr lang="zh-CN" altLang="en-US" sz="2600" dirty="0"/>
          </a:p>
          <a:p>
            <a:pPr eaLnBrk="1" hangingPunct="1">
              <a:lnSpc>
                <a:spcPct val="90000"/>
              </a:lnSpc>
            </a:pPr>
            <a:r>
              <a:rPr lang="zh-CN" altLang="en-US" sz="2600" dirty="0"/>
              <a:t>可以与认证、授权等安全手段方便的集成。</a:t>
            </a:r>
            <a:endParaRPr lang="zh-CN" altLang="en-US" sz="2600" dirty="0"/>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94211"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94212" name="Rectangle 2"/>
          <p:cNvSpPr>
            <a:spLocks noGrp="1"/>
          </p:cNvSpPr>
          <p:nvPr>
            <p:ph type="title"/>
          </p:nvPr>
        </p:nvSpPr>
        <p:spPr/>
        <p:txBody>
          <a:bodyPr vert="horz" wrap="square" lIns="91440" tIns="45720" rIns="91440" bIns="45720" anchor="ctr" anchorCtr="0"/>
          <a:p>
            <a:pPr eaLnBrk="1" hangingPunct="1"/>
            <a:r>
              <a:rPr lang="zh-CN" altLang="en-US" dirty="0"/>
              <a:t>电路级网关</a:t>
            </a:r>
            <a:endParaRPr lang="zh-CN" altLang="en-US" dirty="0"/>
          </a:p>
        </p:txBody>
      </p:sp>
      <p:sp>
        <p:nvSpPr>
          <p:cNvPr id="94213" name="Rectangle 3"/>
          <p:cNvSpPr>
            <a:spLocks noGrp="1"/>
          </p:cNvSpPr>
          <p:nvPr>
            <p:ph idx="1"/>
          </p:nvPr>
        </p:nvSpPr>
        <p:spPr/>
        <p:txBody>
          <a:bodyPr vert="horz" wrap="square" lIns="91440" tIns="45720" rIns="91440" bIns="45720" anchor="t" anchorCtr="0"/>
          <a:p>
            <a:pPr eaLnBrk="1" hangingPunct="1"/>
            <a:r>
              <a:rPr lang="zh-CN" altLang="en-US" sz="2600" dirty="0"/>
              <a:t>电路级网关提供一个重要的安全功能：网络地址转换（</a:t>
            </a:r>
            <a:r>
              <a:rPr lang="en-US" altLang="zh-CN" sz="2600" dirty="0"/>
              <a:t>NAT</a:t>
            </a:r>
            <a:r>
              <a:rPr lang="zh-CN" altLang="en-US" sz="2600" dirty="0"/>
              <a:t>）将所有内部</a:t>
            </a:r>
            <a:r>
              <a:rPr lang="en-US" altLang="zh-CN" sz="2600" dirty="0"/>
              <a:t>IP</a:t>
            </a:r>
            <a:r>
              <a:rPr lang="zh-CN" altLang="en-US" sz="2600" dirty="0"/>
              <a:t>地址映射到防火墙使用的一个</a:t>
            </a:r>
            <a:r>
              <a:rPr lang="zh-CN" altLang="en-US" sz="2600" dirty="0">
                <a:latin typeface="Arial" panose="020B0604020202020204" pitchFamily="34" charset="0"/>
              </a:rPr>
              <a:t>“</a:t>
            </a:r>
            <a:r>
              <a:rPr lang="zh-CN" altLang="en-US" sz="2600" dirty="0"/>
              <a:t>安全</a:t>
            </a:r>
            <a:r>
              <a:rPr lang="zh-CN" altLang="en-US" sz="2600" dirty="0">
                <a:latin typeface="Arial" panose="020B0604020202020204" pitchFamily="34" charset="0"/>
              </a:rPr>
              <a:t>”</a:t>
            </a:r>
            <a:r>
              <a:rPr lang="zh-CN" altLang="en-US" sz="2600" dirty="0"/>
              <a:t>的</a:t>
            </a:r>
            <a:r>
              <a:rPr lang="en-US" altLang="zh-CN" sz="2600" dirty="0"/>
              <a:t>IP</a:t>
            </a:r>
            <a:r>
              <a:rPr lang="zh-CN" altLang="en-US" sz="2600" dirty="0"/>
              <a:t>地址，使得传递的数据似乎起源于防火墙，从而隐藏了被保护网络的信息。</a:t>
            </a:r>
            <a:endParaRPr lang="zh-CN" altLang="en-US" sz="2600" dirty="0"/>
          </a:p>
          <a:p>
            <a:pPr eaLnBrk="1" hangingPunct="1"/>
            <a:r>
              <a:rPr lang="zh-CN" altLang="en-US" sz="2600" dirty="0"/>
              <a:t>实际上，电路级网关并非作为一个独立的产品存在，它通常与其他的应用级网关结合在一起，所以有人也把电路级网关归为应用级网关，但它在会话层上过滤数据包，无法检查应用层级的数据包。 </a:t>
            </a:r>
            <a:endParaRPr lang="zh-CN" altLang="en-US" sz="2600" dirty="0"/>
          </a:p>
          <a:p>
            <a:pPr eaLnBrk="1" hangingPunct="1"/>
            <a:endParaRPr lang="en-US" altLang="zh-CN" sz="2600" dirty="0"/>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100355"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100356" name="Rectangle 2"/>
          <p:cNvSpPr>
            <a:spLocks noGrp="1"/>
          </p:cNvSpPr>
          <p:nvPr>
            <p:ph type="title"/>
          </p:nvPr>
        </p:nvSpPr>
        <p:spPr/>
        <p:txBody>
          <a:bodyPr vert="horz" wrap="square" lIns="91440" tIns="45720" rIns="91440" bIns="45720" anchor="ctr" anchorCtr="0"/>
          <a:p>
            <a:pPr eaLnBrk="1" hangingPunct="1"/>
            <a:r>
              <a:rPr lang="zh-CN" altLang="en-US" dirty="0"/>
              <a:t>混合型防火墙</a:t>
            </a:r>
            <a:endParaRPr lang="zh-CN" altLang="en-US" dirty="0"/>
          </a:p>
        </p:txBody>
      </p:sp>
      <p:sp>
        <p:nvSpPr>
          <p:cNvPr id="100357" name="Rectangle 3"/>
          <p:cNvSpPr>
            <a:spLocks noGrp="1"/>
          </p:cNvSpPr>
          <p:nvPr>
            <p:ph idx="1"/>
          </p:nvPr>
        </p:nvSpPr>
        <p:spPr/>
        <p:txBody>
          <a:bodyPr vert="horz" wrap="square" lIns="91440" tIns="45720" rIns="91440" bIns="45720" anchor="t" anchorCtr="0"/>
          <a:p>
            <a:pPr eaLnBrk="1" hangingPunct="1">
              <a:lnSpc>
                <a:spcPct val="90000"/>
              </a:lnSpc>
            </a:pPr>
            <a:r>
              <a:rPr lang="zh-CN" altLang="en-US" sz="2200" dirty="0"/>
              <a:t>当前的防火墙产品已不是单一的包过滤型或代理服务器型防火墙，而是将各种安全技术结合起来，综合各类型防火墙的优点，形成一个混合的多级防火墙。</a:t>
            </a:r>
            <a:endParaRPr lang="zh-CN" altLang="en-US" sz="2200" dirty="0"/>
          </a:p>
          <a:p>
            <a:pPr eaLnBrk="1" hangingPunct="1">
              <a:lnSpc>
                <a:spcPct val="90000"/>
              </a:lnSpc>
            </a:pPr>
            <a:r>
              <a:rPr lang="zh-CN" altLang="en-US" sz="2200" dirty="0"/>
              <a:t>不同的防火墙侧重点不同。从某种意义上来说，防火墙实际上代表了一个网络的访问原则。如果某个网络决定设立防火墙，那么首先需要决定本网络的安全策略，即确定哪些类型的信息允许通过防火墙，哪些类型的信息不允许通过防火墙。防火墙的职责就是根据本单位的安全策略，对外部网络与内部网络交流的数据进行检查，对符合安全策略的数据予以放行，将不符合的拒之门外。</a:t>
            </a:r>
            <a:endParaRPr lang="zh-CN" altLang="en-US" sz="2200" dirty="0"/>
          </a:p>
          <a:p>
            <a:pPr eaLnBrk="1" hangingPunct="1">
              <a:lnSpc>
                <a:spcPct val="90000"/>
              </a:lnSpc>
            </a:pPr>
            <a:r>
              <a:rPr lang="zh-CN" altLang="en-US" sz="2200" dirty="0"/>
              <a:t>在设计防火墙时，还要确定防火墙的类型和拓扑结构。一般来说，防火墙被设置在可信赖的内部网络和不可信赖的外部网络之间。</a:t>
            </a:r>
            <a:endParaRPr lang="zh-CN" altLang="en-US" sz="2200" dirty="0"/>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日期占位符 3"/>
          <p:cNvSpPr>
            <a:spLocks noGrp="1"/>
          </p:cNvSpPr>
          <p:nvPr>
            <p:ph type="dt" sz="quarter" idx="4294967295"/>
          </p:nvPr>
        </p:nvSpPr>
        <p:spPr>
          <a:xfrm>
            <a:off x="685800" y="6248400"/>
            <a:ext cx="1905000" cy="45720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397E8C24-D212-460A-ACF3-ADC6E568C1BF}"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102403"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D3FB8BFA-9B70-4B4B-8053-88FF18BBD228}"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102404" name="Rectangle 2"/>
          <p:cNvSpPr>
            <a:spLocks noGrp="1" noChangeArrowheads="1"/>
          </p:cNvSpPr>
          <p:nvPr>
            <p:ph type="title"/>
          </p:nvPr>
        </p:nvSpPr>
        <p:spPr/>
        <p:txBody>
          <a:bodyPr/>
          <a:lstStyle/>
          <a:p>
            <a:pPr eaLnBrk="1" hangingPunct="1"/>
            <a:r>
              <a:rPr lang="zh-CN" altLang="en-US" smtClean="0"/>
              <a:t>防火墙的配置方案</a:t>
            </a:r>
            <a:endParaRPr lang="zh-CN" altLang="en-US" smtClean="0"/>
          </a:p>
        </p:txBody>
      </p:sp>
      <p:sp>
        <p:nvSpPr>
          <p:cNvPr id="192518" name="Rectangle 3"/>
          <p:cNvSpPr>
            <a:spLocks noGrp="1" noChangeArrowheads="1"/>
          </p:cNvSpPr>
          <p:nvPr>
            <p:ph type="body" idx="1"/>
          </p:nvPr>
        </p:nvSpPr>
        <p:spPr/>
        <p:txBody>
          <a:bodyPr>
            <a:normAutofit fontScale="92500"/>
          </a:bodyPr>
          <a:lstStyle/>
          <a:p>
            <a:pPr eaLnBrk="1" hangingPunct="1">
              <a:defRPr/>
            </a:pPr>
            <a:r>
              <a:rPr lang="zh-CN" altLang="en-US" smtClean="0"/>
              <a:t>最简单的防火墙配置，就是直接在内部网和外部网之间加装一个包过滤路由器或者应用网关。为更好地实现网络安全，有时还要将几种防火墙技术组合起来构建防火墙系统。</a:t>
            </a:r>
            <a:endParaRPr lang="zh-CN" altLang="en-US" smtClean="0"/>
          </a:p>
          <a:p>
            <a:pPr eaLnBrk="1" hangingPunct="1">
              <a:defRPr/>
            </a:pPr>
            <a:r>
              <a:rPr lang="zh-CN" altLang="en-US" smtClean="0"/>
              <a:t>目前比较流行的有以下三种防火墙配置方案。</a:t>
            </a:r>
            <a:endParaRPr lang="zh-CN" altLang="en-US" smtClean="0"/>
          </a:p>
          <a:p>
            <a:pPr lvl="1" eaLnBrk="1" hangingPunct="1">
              <a:defRPr/>
            </a:pPr>
            <a:r>
              <a:rPr lang="zh-CN" altLang="en-US" smtClean="0"/>
              <a:t>双宿主机模式</a:t>
            </a:r>
            <a:endParaRPr lang="zh-CN" altLang="en-US" smtClean="0"/>
          </a:p>
          <a:p>
            <a:pPr lvl="1" eaLnBrk="1" hangingPunct="1">
              <a:defRPr/>
            </a:pPr>
            <a:r>
              <a:rPr lang="zh-CN" altLang="en-US" smtClean="0"/>
              <a:t>屏蔽主机模式</a:t>
            </a:r>
            <a:endParaRPr lang="zh-CN" altLang="en-US" smtClean="0"/>
          </a:p>
          <a:p>
            <a:pPr lvl="1" eaLnBrk="1" hangingPunct="1">
              <a:defRPr/>
            </a:pPr>
            <a:r>
              <a:rPr lang="zh-CN" altLang="en-US" smtClean="0"/>
              <a:t>屏蔽子网模式</a:t>
            </a:r>
            <a:endParaRPr lang="zh-CN" altLang="en-US" smtClean="0"/>
          </a:p>
        </p:txBody>
      </p:sp>
    </p:spTree>
  </p:cSld>
  <p:clrMapOvr>
    <a:masterClrMapping/>
  </p:clrMapOvr>
  <p:transition spd="slow"/>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105475"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105476" name="Rectangle 2"/>
          <p:cNvSpPr>
            <a:spLocks noGrp="1"/>
          </p:cNvSpPr>
          <p:nvPr>
            <p:ph type="title"/>
          </p:nvPr>
        </p:nvSpPr>
        <p:spPr/>
        <p:txBody>
          <a:bodyPr vert="horz" wrap="square" lIns="91440" tIns="45720" rIns="91440" bIns="45720" anchor="ctr" anchorCtr="0"/>
          <a:p>
            <a:pPr eaLnBrk="1" hangingPunct="1"/>
            <a:r>
              <a:rPr lang="zh-CN" altLang="en-US" dirty="0"/>
              <a:t>双宿主机模式</a:t>
            </a:r>
            <a:r>
              <a:rPr lang="en-US" altLang="zh-CN" dirty="0"/>
              <a:t>(cont.)</a:t>
            </a:r>
            <a:endParaRPr lang="en-US" altLang="zh-CN" dirty="0"/>
          </a:p>
        </p:txBody>
      </p:sp>
      <p:sp>
        <p:nvSpPr>
          <p:cNvPr id="105477" name="Rectangle 3"/>
          <p:cNvSpPr>
            <a:spLocks noGrp="1"/>
          </p:cNvSpPr>
          <p:nvPr>
            <p:ph idx="1"/>
          </p:nvPr>
        </p:nvSpPr>
        <p:spPr/>
        <p:txBody>
          <a:bodyPr vert="horz" wrap="square" lIns="91440" tIns="45720" rIns="91440" bIns="45720" anchor="t" anchorCtr="0"/>
          <a:p>
            <a:pPr eaLnBrk="1" hangingPunct="1"/>
            <a:r>
              <a:rPr lang="zh-CN" altLang="en-US" dirty="0"/>
              <a:t>双宿主机即一台配有多个网络接口的主机，它可以用来在内部网络和外部网络之间进行寻径，与它相连的内部和外部网络都可以执行由它所提供的网络应用，如果这个应用允许的话，它们就可以共享数据。</a:t>
            </a:r>
            <a:endParaRPr lang="zh-CN" altLang="en-US" dirty="0"/>
          </a:p>
          <a:p>
            <a:pPr eaLnBrk="1" hangingPunct="1"/>
            <a:r>
              <a:rPr lang="zh-CN" altLang="en-US" dirty="0"/>
              <a:t>如果在一台双宿主机中寻径功能被禁止了，则这个主机可以隔离与它相连的内部网络和外部网络之间的通信。</a:t>
            </a:r>
            <a:endParaRPr lang="zh-CN" altLang="en-US" dirty="0"/>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104451"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104452" name="Rectangle 2"/>
          <p:cNvSpPr>
            <a:spLocks noGrp="1"/>
          </p:cNvSpPr>
          <p:nvPr>
            <p:ph type="title"/>
          </p:nvPr>
        </p:nvSpPr>
        <p:spPr/>
        <p:txBody>
          <a:bodyPr vert="horz" wrap="square" lIns="91440" tIns="45720" rIns="91440" bIns="45720" anchor="ctr" anchorCtr="0"/>
          <a:p>
            <a:pPr eaLnBrk="1" hangingPunct="1"/>
            <a:r>
              <a:rPr lang="zh-CN" altLang="en-US" dirty="0"/>
              <a:t>双宿主机模式</a:t>
            </a:r>
            <a:r>
              <a:rPr lang="en-US" altLang="zh-CN" dirty="0"/>
              <a:t>(cont.)</a:t>
            </a:r>
            <a:endParaRPr lang="en-US" altLang="zh-CN" dirty="0"/>
          </a:p>
        </p:txBody>
      </p:sp>
      <p:sp>
        <p:nvSpPr>
          <p:cNvPr id="104453" name="Rectangle 3"/>
          <p:cNvSpPr>
            <a:spLocks noGrp="1"/>
          </p:cNvSpPr>
          <p:nvPr>
            <p:ph idx="1"/>
          </p:nvPr>
        </p:nvSpPr>
        <p:spPr/>
        <p:txBody>
          <a:bodyPr vert="horz" wrap="square" lIns="91440" tIns="45720" rIns="91440" bIns="45720" anchor="t" anchorCtr="0"/>
          <a:p>
            <a:pPr eaLnBrk="1" hangingPunct="1"/>
            <a:r>
              <a:rPr lang="zh-CN" altLang="en-US" dirty="0"/>
              <a:t>堡垒主机上运行着防火墙软件，可以转发数据，提供服务等。</a:t>
            </a:r>
            <a:endParaRPr lang="zh-CN" altLang="en-US" dirty="0"/>
          </a:p>
        </p:txBody>
      </p:sp>
      <p:pic>
        <p:nvPicPr>
          <p:cNvPr id="104454" name="Picture 4"/>
          <p:cNvPicPr>
            <a:picLocks noChangeAspect="1"/>
          </p:cNvPicPr>
          <p:nvPr/>
        </p:nvPicPr>
        <p:blipFill>
          <a:blip r:embed="rId1"/>
          <a:stretch>
            <a:fillRect/>
          </a:stretch>
        </p:blipFill>
        <p:spPr>
          <a:xfrm>
            <a:off x="1908175" y="2997200"/>
            <a:ext cx="5532438" cy="3043238"/>
          </a:xfrm>
          <a:prstGeom prst="rect">
            <a:avLst/>
          </a:prstGeom>
          <a:noFill/>
          <a:ln w="9525">
            <a:noFill/>
          </a:ln>
        </p:spPr>
      </p:pic>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106499"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106500" name="Rectangle 2"/>
          <p:cNvSpPr>
            <a:spLocks noGrp="1"/>
          </p:cNvSpPr>
          <p:nvPr>
            <p:ph type="title"/>
          </p:nvPr>
        </p:nvSpPr>
        <p:spPr/>
        <p:txBody>
          <a:bodyPr vert="horz" wrap="square" lIns="91440" tIns="45720" rIns="91440" bIns="45720" anchor="ctr" anchorCtr="0"/>
          <a:p>
            <a:pPr eaLnBrk="1" hangingPunct="1"/>
            <a:r>
              <a:rPr lang="zh-CN" altLang="en-US" dirty="0"/>
              <a:t>双宿主机模式</a:t>
            </a:r>
            <a:r>
              <a:rPr lang="en-US" altLang="zh-CN" dirty="0"/>
              <a:t>(cont.)</a:t>
            </a:r>
            <a:endParaRPr lang="en-US" altLang="zh-CN" dirty="0"/>
          </a:p>
        </p:txBody>
      </p:sp>
      <p:sp>
        <p:nvSpPr>
          <p:cNvPr id="106501" name="Rectangle 3"/>
          <p:cNvSpPr>
            <a:spLocks noGrp="1"/>
          </p:cNvSpPr>
          <p:nvPr>
            <p:ph idx="1"/>
          </p:nvPr>
        </p:nvSpPr>
        <p:spPr/>
        <p:txBody>
          <a:bodyPr vert="horz" wrap="square" lIns="91440" tIns="45720" rIns="91440" bIns="45720" anchor="t" anchorCtr="0"/>
          <a:p>
            <a:pPr eaLnBrk="1" hangingPunct="1"/>
            <a:r>
              <a:rPr lang="zh-CN" altLang="en-US" sz="2600" dirty="0"/>
              <a:t>这样就保证内部网络和外部网络的某些节点之间可以通过双宿主机上的共享数据传递信息，但内部网络与外部网络之间却不能传递信息，从而达到保护内部网络的作用。</a:t>
            </a:r>
            <a:endParaRPr lang="zh-CN" altLang="en-US" sz="2600" dirty="0"/>
          </a:p>
          <a:p>
            <a:pPr eaLnBrk="1" hangingPunct="1"/>
            <a:r>
              <a:rPr lang="zh-CN" altLang="en-US" sz="2600" dirty="0"/>
              <a:t>这种防火墙的特点是主机的路由功能是被禁止的，两个网络之间的通信通过双宿主机来完成。</a:t>
            </a:r>
            <a:endParaRPr lang="zh-CN" altLang="en-US" sz="2600" dirty="0"/>
          </a:p>
          <a:p>
            <a:pPr eaLnBrk="1" hangingPunct="1"/>
            <a:r>
              <a:rPr lang="zh-CN" altLang="en-US" sz="2600" dirty="0"/>
              <a:t>双宿主机有一个致命弱点，一旦入侵者侵入堡垒主机并使该主机只具有路由器功能，则任何网上用户均可以随便访问有保护的内部网络。</a:t>
            </a:r>
            <a:endParaRPr lang="zh-CN" altLang="en-US" sz="2600" dirty="0"/>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日期占位符 1"/>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solidFill>
                  <a:schemeClr val="tx1"/>
                </a:solidFill>
                <a:latin typeface="Verdana" panose="020B0604030504040204" pitchFamily="34" charset="0"/>
              </a:rPr>
            </a:fld>
            <a:endParaRPr lang="zh-CN" altLang="en-US" sz="1400" dirty="0">
              <a:solidFill>
                <a:schemeClr val="tx1"/>
              </a:solidFill>
              <a:latin typeface="Verdana" panose="020B0604030504040204" pitchFamily="34" charset="0"/>
            </a:endParaRPr>
          </a:p>
        </p:txBody>
      </p:sp>
      <p:sp>
        <p:nvSpPr>
          <p:cNvPr id="107523" name="页脚占位符 2"/>
          <p:cNvSpPr txBox="1">
            <a:spLocks noGrp="1"/>
          </p:cNvSpPr>
          <p:nvPr>
            <p:ph type="ftr" sz="quarter" idx="11"/>
          </p:nvPr>
        </p:nvSpPr>
        <p:spPr>
          <a:xfrm>
            <a:off x="3124200" y="6245225"/>
            <a:ext cx="28956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en-US" altLang="zh-CN" sz="1400" dirty="0">
                <a:solidFill>
                  <a:schemeClr val="tx1"/>
                </a:solidFill>
                <a:latin typeface="Verdana" panose="020B0604030504040204" pitchFamily="34" charset="0"/>
              </a:rPr>
              <a:t>网络入侵与防范讲义</a:t>
            </a:r>
            <a:endParaRPr lang="en-US" altLang="zh-CN" sz="1400" dirty="0">
              <a:solidFill>
                <a:schemeClr val="tx1"/>
              </a:solidFill>
              <a:latin typeface="Verdana" panose="020B0604030504040204" pitchFamily="34" charset="0"/>
            </a:endParaRPr>
          </a:p>
        </p:txBody>
      </p:sp>
      <p:sp>
        <p:nvSpPr>
          <p:cNvPr id="107524" name="灯片编号占位符 3"/>
          <p:cNvSpPr txBox="1">
            <a:spLocks noGrp="1"/>
          </p:cNvSpPr>
          <p:nvPr>
            <p:ph type="sldNum" sz="quarter" idx="12"/>
          </p:nvPr>
        </p:nvSpPr>
        <p:spPr>
          <a:xfrm>
            <a:off x="65532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solidFill>
                  <a:schemeClr val="tx1"/>
                </a:solidFill>
                <a:latin typeface="Verdana" panose="020B0604030504040204" pitchFamily="34" charset="0"/>
              </a:rPr>
            </a:fld>
            <a:endParaRPr lang="en-US" altLang="zh-CN" sz="1400" dirty="0">
              <a:solidFill>
                <a:schemeClr val="tx1"/>
              </a:solidFill>
              <a:latin typeface="Verdana" panose="020B0604030504040204" pitchFamily="34" charset="0"/>
            </a:endParaRPr>
          </a:p>
        </p:txBody>
      </p:sp>
      <p:sp>
        <p:nvSpPr>
          <p:cNvPr id="107525" name="Rectangle 2"/>
          <p:cNvSpPr/>
          <p:nvPr/>
        </p:nvSpPr>
        <p:spPr>
          <a:xfrm>
            <a:off x="0" y="0"/>
            <a:ext cx="9144000" cy="6858000"/>
          </a:xfrm>
          <a:prstGeom prst="rect">
            <a:avLst/>
          </a:prstGeom>
          <a:solidFill>
            <a:schemeClr val="bg1"/>
          </a:solidFill>
          <a:ln w="28575">
            <a:noFill/>
          </a:ln>
        </p:spPr>
        <p:txBody>
          <a:bodyPr wrap="none" anchor="ctr" anchorCtr="0"/>
          <a:p>
            <a:pPr>
              <a:buNone/>
            </a:pPr>
            <a:endParaRPr lang="zh-CN" altLang="en-US" dirty="0">
              <a:solidFill>
                <a:schemeClr val="tx1"/>
              </a:solidFill>
              <a:latin typeface="Times New Roman" panose="02020603050405020304" pitchFamily="18" charset="0"/>
            </a:endParaRPr>
          </a:p>
        </p:txBody>
      </p:sp>
      <p:sp>
        <p:nvSpPr>
          <p:cNvPr id="107526" name="Rectangle 3"/>
          <p:cNvSpPr/>
          <p:nvPr/>
        </p:nvSpPr>
        <p:spPr>
          <a:xfrm>
            <a:off x="3505200" y="0"/>
            <a:ext cx="2667000" cy="519113"/>
          </a:xfrm>
          <a:prstGeom prst="rect">
            <a:avLst/>
          </a:prstGeom>
          <a:noFill/>
          <a:ln w="76200">
            <a:noFill/>
          </a:ln>
        </p:spPr>
        <p:txBody>
          <a:bodyPr>
            <a:spAutoFit/>
          </a:bodyPr>
          <a:p>
            <a:pPr eaLnBrk="0" hangingPunct="0">
              <a:spcBef>
                <a:spcPct val="50000"/>
              </a:spcBef>
              <a:buFont typeface="Wingdings" panose="05000000000000000000" pitchFamily="2" charset="2"/>
              <a:buNone/>
            </a:pPr>
            <a:r>
              <a:rPr lang="zh-CN" altLang="en-US" b="1" dirty="0">
                <a:solidFill>
                  <a:schemeClr val="tx1"/>
                </a:solidFill>
                <a:effectLst>
                  <a:outerShdw blurRad="38100" dist="38100" dir="2700000">
                    <a:srgbClr val="000000"/>
                  </a:outerShdw>
                </a:effectLst>
                <a:latin typeface="Times New Roman" panose="02020603050405020304" pitchFamily="18" charset="0"/>
              </a:rPr>
              <a:t>双宿主机模式</a:t>
            </a:r>
            <a:endParaRPr lang="zh-CN" altLang="en-US" b="1" dirty="0">
              <a:solidFill>
                <a:schemeClr val="tx1"/>
              </a:solidFill>
              <a:effectLst>
                <a:outerShdw blurRad="38100" dist="38100" dir="2700000">
                  <a:srgbClr val="000000"/>
                </a:outerShdw>
              </a:effectLst>
              <a:latin typeface="Times New Roman" panose="02020603050405020304" pitchFamily="18" charset="0"/>
            </a:endParaRPr>
          </a:p>
        </p:txBody>
      </p:sp>
      <p:grpSp>
        <p:nvGrpSpPr>
          <p:cNvPr id="107527" name="Group 4"/>
          <p:cNvGrpSpPr/>
          <p:nvPr/>
        </p:nvGrpSpPr>
        <p:grpSpPr>
          <a:xfrm>
            <a:off x="971550" y="5105400"/>
            <a:ext cx="2076450" cy="711200"/>
            <a:chOff x="960" y="3168"/>
            <a:chExt cx="1056" cy="448"/>
          </a:xfrm>
        </p:grpSpPr>
        <p:pic>
          <p:nvPicPr>
            <p:cNvPr id="107549" name="Picture 5"/>
            <p:cNvPicPr/>
            <p:nvPr/>
          </p:nvPicPr>
          <p:blipFill>
            <a:blip r:embed="rId1"/>
            <a:stretch>
              <a:fillRect/>
            </a:stretch>
          </p:blipFill>
          <p:spPr>
            <a:xfrm>
              <a:off x="960" y="3168"/>
              <a:ext cx="1056" cy="448"/>
            </a:xfrm>
            <a:prstGeom prst="rect">
              <a:avLst/>
            </a:prstGeom>
            <a:noFill/>
            <a:ln w="12700">
              <a:noFill/>
            </a:ln>
          </p:spPr>
        </p:pic>
        <p:sp>
          <p:nvSpPr>
            <p:cNvPr id="107550" name="Text Box 6"/>
            <p:cNvSpPr txBox="1"/>
            <p:nvPr/>
          </p:nvSpPr>
          <p:spPr>
            <a:xfrm>
              <a:off x="1200" y="3312"/>
              <a:ext cx="672" cy="250"/>
            </a:xfrm>
            <a:prstGeom prst="rect">
              <a:avLst/>
            </a:prstGeom>
            <a:noFill/>
            <a:ln w="38100">
              <a:noFill/>
            </a:ln>
          </p:spPr>
          <p:txBody>
            <a:bodyPr>
              <a:spAutoFit/>
            </a:bodyPr>
            <a:p>
              <a:pPr algn="ctr" eaLnBrk="0" hangingPunct="0">
                <a:spcBef>
                  <a:spcPct val="50000"/>
                </a:spcBef>
                <a:buFont typeface="Wingdings" panose="05000000000000000000" pitchFamily="2" charset="2"/>
                <a:buNone/>
              </a:pPr>
              <a:r>
                <a:rPr lang="zh-CN" altLang="en-US" sz="2000" b="1" dirty="0">
                  <a:solidFill>
                    <a:schemeClr val="tx1"/>
                  </a:solidFill>
                  <a:latin typeface="Times New Roman" panose="02020603050405020304" pitchFamily="18" charset="0"/>
                </a:rPr>
                <a:t>内部网络</a:t>
              </a:r>
              <a:endParaRPr lang="zh-CN" altLang="en-US" sz="2000" b="1" dirty="0">
                <a:solidFill>
                  <a:schemeClr val="tx1"/>
                </a:solidFill>
                <a:latin typeface="Times New Roman" panose="02020603050405020304" pitchFamily="18" charset="0"/>
              </a:endParaRPr>
            </a:p>
          </p:txBody>
        </p:sp>
      </p:grpSp>
      <p:grpSp>
        <p:nvGrpSpPr>
          <p:cNvPr id="107528" name="Group 7"/>
          <p:cNvGrpSpPr/>
          <p:nvPr/>
        </p:nvGrpSpPr>
        <p:grpSpPr>
          <a:xfrm>
            <a:off x="7485063" y="5105400"/>
            <a:ext cx="1658937" cy="711200"/>
            <a:chOff x="4416" y="3168"/>
            <a:chExt cx="1045" cy="448"/>
          </a:xfrm>
        </p:grpSpPr>
        <p:pic>
          <p:nvPicPr>
            <p:cNvPr id="107547" name="Picture 8"/>
            <p:cNvPicPr/>
            <p:nvPr/>
          </p:nvPicPr>
          <p:blipFill>
            <a:blip r:embed="rId2"/>
            <a:stretch>
              <a:fillRect/>
            </a:stretch>
          </p:blipFill>
          <p:spPr>
            <a:xfrm>
              <a:off x="4416" y="3168"/>
              <a:ext cx="1045" cy="448"/>
            </a:xfrm>
            <a:prstGeom prst="rect">
              <a:avLst/>
            </a:prstGeom>
            <a:noFill/>
            <a:ln w="12700">
              <a:noFill/>
            </a:ln>
          </p:spPr>
        </p:pic>
        <p:sp>
          <p:nvSpPr>
            <p:cNvPr id="107548" name="Rectangle 9"/>
            <p:cNvSpPr/>
            <p:nvPr/>
          </p:nvSpPr>
          <p:spPr>
            <a:xfrm>
              <a:off x="4608" y="3262"/>
              <a:ext cx="756" cy="250"/>
            </a:xfrm>
            <a:prstGeom prst="rect">
              <a:avLst/>
            </a:prstGeom>
            <a:noFill/>
            <a:ln w="38100">
              <a:noFill/>
            </a:ln>
          </p:spPr>
          <p:txBody>
            <a:bodyPr wrap="none">
              <a:spAutoFit/>
            </a:bodyPr>
            <a:p>
              <a:pPr algn="ctr" eaLnBrk="0" hangingPunct="0">
                <a:spcBef>
                  <a:spcPct val="50000"/>
                </a:spcBef>
                <a:buFont typeface="Wingdings" panose="05000000000000000000" pitchFamily="2" charset="2"/>
                <a:buNone/>
              </a:pPr>
              <a:r>
                <a:rPr lang="zh-CN" altLang="en-US" sz="2000" b="1" dirty="0">
                  <a:solidFill>
                    <a:schemeClr val="tx1"/>
                  </a:solidFill>
                  <a:latin typeface="Times New Roman" panose="02020603050405020304" pitchFamily="18" charset="0"/>
                </a:rPr>
                <a:t>外部网络</a:t>
              </a:r>
              <a:endParaRPr lang="zh-CN" altLang="en-US" sz="2000" b="1" dirty="0">
                <a:solidFill>
                  <a:schemeClr val="tx1"/>
                </a:solidFill>
                <a:latin typeface="Times New Roman" panose="02020603050405020304" pitchFamily="18" charset="0"/>
              </a:endParaRPr>
            </a:p>
          </p:txBody>
        </p:sp>
      </p:grpSp>
      <p:sp>
        <p:nvSpPr>
          <p:cNvPr id="1790986" name="Line 10"/>
          <p:cNvSpPr/>
          <p:nvPr/>
        </p:nvSpPr>
        <p:spPr>
          <a:xfrm>
            <a:off x="3048000" y="5410200"/>
            <a:ext cx="4419600" cy="0"/>
          </a:xfrm>
          <a:prstGeom prst="line">
            <a:avLst/>
          </a:prstGeom>
          <a:ln w="38100" cap="flat" cmpd="sng">
            <a:solidFill>
              <a:srgbClr val="808080"/>
            </a:solidFill>
            <a:prstDash val="solid"/>
            <a:headEnd type="none" w="med" len="med"/>
            <a:tailEnd type="triangle" w="med" len="med"/>
          </a:ln>
        </p:spPr>
      </p:sp>
      <p:pic>
        <p:nvPicPr>
          <p:cNvPr id="107530" name="Picture 11"/>
          <p:cNvPicPr/>
          <p:nvPr/>
        </p:nvPicPr>
        <p:blipFill>
          <a:blip r:embed="rId3"/>
          <a:stretch>
            <a:fillRect/>
          </a:stretch>
        </p:blipFill>
        <p:spPr>
          <a:xfrm>
            <a:off x="4648200" y="1066800"/>
            <a:ext cx="1257300" cy="1066800"/>
          </a:xfrm>
          <a:prstGeom prst="rect">
            <a:avLst/>
          </a:prstGeom>
          <a:noFill/>
          <a:ln w="9525">
            <a:noFill/>
          </a:ln>
        </p:spPr>
      </p:pic>
      <p:sp>
        <p:nvSpPr>
          <p:cNvPr id="1790988" name="Text Box 12"/>
          <p:cNvSpPr txBox="1">
            <a:spLocks noChangeArrowheads="1"/>
          </p:cNvSpPr>
          <p:nvPr/>
        </p:nvSpPr>
        <p:spPr bwMode="auto">
          <a:xfrm>
            <a:off x="3962400" y="5943600"/>
            <a:ext cx="3276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defTabSz="914400" eaLnBrk="0" hangingPunct="0">
              <a:spcBef>
                <a:spcPct val="50000"/>
              </a:spcBef>
              <a:buClrTx/>
              <a:buSzTx/>
              <a:buFont typeface="Wingdings" panose="05000000000000000000" pitchFamily="2" charset="2"/>
              <a:buChar char="v"/>
              <a:defRPr/>
            </a:pPr>
            <a:r>
              <a:rPr kumimoji="1" lang="en-US" altLang="zh-CN" sz="14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1" lang="zh-CN" altLang="en-US" sz="14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禁止内外网络之间直接通信</a:t>
            </a:r>
            <a:endParaRPr kumimoji="1" lang="zh-CN" altLang="en-US" sz="14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07532" name="Text Box 13"/>
          <p:cNvSpPr txBox="1"/>
          <p:nvPr/>
        </p:nvSpPr>
        <p:spPr>
          <a:xfrm>
            <a:off x="3995738" y="944563"/>
            <a:ext cx="1600200" cy="396875"/>
          </a:xfrm>
          <a:prstGeom prst="rect">
            <a:avLst/>
          </a:prstGeom>
          <a:noFill/>
          <a:ln w="38100">
            <a:noFill/>
          </a:ln>
        </p:spPr>
        <p:txBody>
          <a:bodyPr>
            <a:spAutoFit/>
          </a:bodyPr>
          <a:p>
            <a:pPr algn="ctr" eaLnBrk="0" hangingPunct="0">
              <a:spcBef>
                <a:spcPct val="50000"/>
              </a:spcBef>
              <a:buFont typeface="Wingdings" panose="05000000000000000000" pitchFamily="2" charset="2"/>
              <a:buNone/>
            </a:pPr>
            <a:r>
              <a:rPr lang="zh-CN" altLang="en-US" sz="2000" dirty="0">
                <a:solidFill>
                  <a:schemeClr val="tx1"/>
                </a:solidFill>
                <a:latin typeface="Times New Roman" panose="02020603050405020304" pitchFamily="18" charset="0"/>
              </a:rPr>
              <a:t>双宿主机</a:t>
            </a:r>
            <a:endParaRPr lang="zh-CN" altLang="en-US" sz="2000" dirty="0">
              <a:solidFill>
                <a:schemeClr val="tx1"/>
              </a:solidFill>
              <a:latin typeface="Times New Roman" panose="02020603050405020304" pitchFamily="18" charset="0"/>
            </a:endParaRPr>
          </a:p>
        </p:txBody>
      </p:sp>
      <p:sp>
        <p:nvSpPr>
          <p:cNvPr id="1790990" name="Line 14"/>
          <p:cNvSpPr/>
          <p:nvPr/>
        </p:nvSpPr>
        <p:spPr>
          <a:xfrm flipV="1">
            <a:off x="2057400" y="1676400"/>
            <a:ext cx="0" cy="3429000"/>
          </a:xfrm>
          <a:prstGeom prst="line">
            <a:avLst/>
          </a:prstGeom>
          <a:ln w="38100" cap="flat" cmpd="sng">
            <a:solidFill>
              <a:srgbClr val="808080"/>
            </a:solidFill>
            <a:prstDash val="solid"/>
            <a:headEnd type="none" w="med" len="med"/>
            <a:tailEnd type="triangle" w="med" len="med"/>
          </a:ln>
        </p:spPr>
      </p:sp>
      <p:sp>
        <p:nvSpPr>
          <p:cNvPr id="1790991" name="Line 15"/>
          <p:cNvSpPr/>
          <p:nvPr/>
        </p:nvSpPr>
        <p:spPr>
          <a:xfrm>
            <a:off x="2057400" y="1676400"/>
            <a:ext cx="2514600" cy="0"/>
          </a:xfrm>
          <a:prstGeom prst="line">
            <a:avLst/>
          </a:prstGeom>
          <a:ln w="38100" cap="flat" cmpd="sng">
            <a:solidFill>
              <a:srgbClr val="808080"/>
            </a:solidFill>
            <a:prstDash val="solid"/>
            <a:headEnd type="none" w="med" len="med"/>
            <a:tailEnd type="triangle" w="med" len="med"/>
          </a:ln>
        </p:spPr>
      </p:sp>
      <p:sp>
        <p:nvSpPr>
          <p:cNvPr id="1790992" name="Line 16"/>
          <p:cNvSpPr/>
          <p:nvPr/>
        </p:nvSpPr>
        <p:spPr>
          <a:xfrm>
            <a:off x="5943600" y="1676400"/>
            <a:ext cx="2362200" cy="0"/>
          </a:xfrm>
          <a:prstGeom prst="line">
            <a:avLst/>
          </a:prstGeom>
          <a:ln w="38100" cap="flat" cmpd="sng">
            <a:solidFill>
              <a:srgbClr val="808080"/>
            </a:solidFill>
            <a:prstDash val="solid"/>
            <a:headEnd type="none" w="med" len="med"/>
            <a:tailEnd type="triangle" w="med" len="med"/>
          </a:ln>
        </p:spPr>
      </p:sp>
      <p:sp>
        <p:nvSpPr>
          <p:cNvPr id="1790993" name="Line 17"/>
          <p:cNvSpPr/>
          <p:nvPr/>
        </p:nvSpPr>
        <p:spPr>
          <a:xfrm flipV="1">
            <a:off x="8305800" y="1676400"/>
            <a:ext cx="0" cy="3352800"/>
          </a:xfrm>
          <a:prstGeom prst="line">
            <a:avLst/>
          </a:prstGeom>
          <a:ln w="38100" cap="flat" cmpd="sng">
            <a:solidFill>
              <a:srgbClr val="808080"/>
            </a:solidFill>
            <a:prstDash val="solid"/>
            <a:headEnd type="triangle" w="med" len="med"/>
            <a:tailEnd type="none" w="med" len="med"/>
          </a:ln>
        </p:spPr>
      </p:sp>
      <p:sp>
        <p:nvSpPr>
          <p:cNvPr id="1790994" name="Text Box 18"/>
          <p:cNvSpPr txBox="1">
            <a:spLocks noChangeArrowheads="1"/>
          </p:cNvSpPr>
          <p:nvPr/>
        </p:nvSpPr>
        <p:spPr bwMode="auto">
          <a:xfrm>
            <a:off x="4572000" y="2133600"/>
            <a:ext cx="3200400"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defTabSz="914400" eaLnBrk="0" hangingPunct="0">
              <a:spcBef>
                <a:spcPct val="50000"/>
              </a:spcBef>
              <a:buClrTx/>
              <a:buSzTx/>
              <a:buFont typeface="Wingdings" panose="05000000000000000000" pitchFamily="2" charset="2"/>
              <a:buChar char="v"/>
              <a:defRPr/>
            </a:pPr>
            <a:r>
              <a:rPr kumimoji="1" lang="en-US" altLang="zh-CN" sz="1200" kern="1200" cap="none" spc="0" normalizeH="0" baseline="0" noProof="0">
                <a:solidFill>
                  <a:schemeClr val="tx1"/>
                </a:solidFill>
                <a:latin typeface="Times New Roman" panose="02020603050405020304" pitchFamily="18" charset="0"/>
                <a:ea typeface="宋体" panose="02010600030101010101" pitchFamily="2" charset="-122"/>
                <a:cs typeface="+mn-cs"/>
              </a:rPr>
              <a:t> </a:t>
            </a:r>
            <a:r>
              <a:rPr kumimoji="1" lang="zh-CN" altLang="en-US" sz="14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通过应用代理</a:t>
            </a:r>
            <a:endParaRPr kumimoji="1" lang="zh-CN" altLang="en-US" sz="14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defTabSz="914400" eaLnBrk="0" hangingPunct="0">
              <a:spcBef>
                <a:spcPct val="50000"/>
              </a:spcBef>
              <a:buClrTx/>
              <a:buSzTx/>
              <a:buFont typeface="Wingdings" panose="05000000000000000000" pitchFamily="2" charset="2"/>
              <a:buChar char="v"/>
              <a:defRPr/>
            </a:pPr>
            <a:r>
              <a:rPr kumimoji="1" lang="zh-CN" altLang="en-US" sz="14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通过登陆到双宿主主机上获得服务</a:t>
            </a:r>
            <a:endParaRPr kumimoji="1" lang="zh-CN" altLang="en-US" sz="14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790995" name="Text Box 19"/>
          <p:cNvSpPr txBox="1">
            <a:spLocks noChangeArrowheads="1"/>
          </p:cNvSpPr>
          <p:nvPr/>
        </p:nvSpPr>
        <p:spPr bwMode="auto">
          <a:xfrm>
            <a:off x="3886200" y="3505200"/>
            <a:ext cx="2895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R="0" defTabSz="914400" eaLnBrk="0" hangingPunct="0">
              <a:spcBef>
                <a:spcPct val="50000"/>
              </a:spcBef>
              <a:buClrTx/>
              <a:buSzTx/>
              <a:buFont typeface="Wingdings" panose="05000000000000000000" pitchFamily="2" charset="2"/>
              <a:buNone/>
              <a:defRPr/>
            </a:pPr>
            <a:r>
              <a:rPr kumimoji="1" lang="zh-CN" altLang="en-US" sz="20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缺点：如何保护双宿主机本身的安全</a:t>
            </a:r>
            <a:endParaRPr kumimoji="1" lang="zh-CN" altLang="en-US" sz="2000" b="1"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790996" name="Line 20"/>
          <p:cNvSpPr/>
          <p:nvPr/>
        </p:nvSpPr>
        <p:spPr>
          <a:xfrm flipH="1">
            <a:off x="2971800" y="5562600"/>
            <a:ext cx="4495800" cy="0"/>
          </a:xfrm>
          <a:prstGeom prst="line">
            <a:avLst/>
          </a:prstGeom>
          <a:ln w="38100" cap="flat" cmpd="sng">
            <a:solidFill>
              <a:srgbClr val="808080"/>
            </a:solidFill>
            <a:prstDash val="solid"/>
            <a:headEnd type="none" w="med" len="med"/>
            <a:tailEnd type="triangle" w="med" len="med"/>
          </a:ln>
        </p:spPr>
      </p:sp>
      <p:sp>
        <p:nvSpPr>
          <p:cNvPr id="1790997" name="AutoShape 21"/>
          <p:cNvSpPr/>
          <p:nvPr/>
        </p:nvSpPr>
        <p:spPr>
          <a:xfrm>
            <a:off x="4800600" y="5105400"/>
            <a:ext cx="838200" cy="762000"/>
          </a:xfrm>
          <a:prstGeom prst="flowChartSummingJunction">
            <a:avLst/>
          </a:prstGeom>
          <a:solidFill>
            <a:schemeClr val="accent1"/>
          </a:solidFill>
          <a:ln w="38100" cap="flat" cmpd="sng">
            <a:solidFill>
              <a:schemeClr val="hlink"/>
            </a:solidFill>
            <a:prstDash val="solid"/>
            <a:headEnd type="none" w="med" len="med"/>
            <a:tailEnd type="none" w="med" len="med"/>
          </a:ln>
        </p:spPr>
        <p:txBody>
          <a:bodyPr wrap="none" anchor="ctr" anchorCtr="0"/>
          <a:p>
            <a:pPr>
              <a:buNone/>
            </a:pPr>
            <a:endParaRPr lang="zh-CN" altLang="en-US" dirty="0">
              <a:solidFill>
                <a:schemeClr val="tx1"/>
              </a:solidFill>
              <a:latin typeface="Times New Roman" panose="02020603050405020304" pitchFamily="18" charset="0"/>
            </a:endParaRPr>
          </a:p>
        </p:txBody>
      </p:sp>
      <p:sp>
        <p:nvSpPr>
          <p:cNvPr id="1790998" name="Rectangle 22"/>
          <p:cNvSpPr>
            <a:spLocks noChangeArrowheads="1"/>
          </p:cNvSpPr>
          <p:nvPr/>
        </p:nvSpPr>
        <p:spPr bwMode="auto">
          <a:xfrm>
            <a:off x="1992313" y="1371600"/>
            <a:ext cx="271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marL="0" marR="0" lvl="0" indent="0" algn="ctr" defTabSz="914400" rtl="0" eaLnBrk="0" fontAlgn="base" latinLnBrk="0" hangingPunct="0">
              <a:lnSpc>
                <a:spcPct val="100000"/>
              </a:lnSpc>
              <a:spcBef>
                <a:spcPct val="50000"/>
              </a:spcBef>
              <a:spcAft>
                <a:spcPct val="0"/>
              </a:spcAft>
              <a:buClrTx/>
              <a:buSzTx/>
              <a:buFont typeface="Wingdings" panose="05000000000000000000" pitchFamily="2" charset="2"/>
              <a:buNone/>
              <a:defRPr/>
            </a:pPr>
            <a:r>
              <a:rPr kumimoji="1" lang="en-US" altLang="zh-CN" sz="1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1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所有的通信必须经过双宿主主机</a:t>
            </a:r>
            <a:endParaRPr kumimoji="1" lang="zh-CN" altLang="en-US" sz="1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790999" name="Line 23"/>
          <p:cNvSpPr/>
          <p:nvPr/>
        </p:nvSpPr>
        <p:spPr>
          <a:xfrm>
            <a:off x="4495800" y="1752600"/>
            <a:ext cx="0" cy="990600"/>
          </a:xfrm>
          <a:prstGeom prst="line">
            <a:avLst/>
          </a:prstGeom>
          <a:ln w="76200" cap="flat" cmpd="tri">
            <a:solidFill>
              <a:schemeClr val="hlink"/>
            </a:solidFill>
            <a:prstDash val="solid"/>
            <a:headEnd type="none" w="med" len="med"/>
            <a:tailEnd type="triangle" w="med" len="med"/>
          </a:ln>
        </p:spPr>
      </p:sp>
      <p:sp>
        <p:nvSpPr>
          <p:cNvPr id="1791000" name="Line 24"/>
          <p:cNvSpPr/>
          <p:nvPr/>
        </p:nvSpPr>
        <p:spPr>
          <a:xfrm>
            <a:off x="4495800" y="2819400"/>
            <a:ext cx="3124200" cy="0"/>
          </a:xfrm>
          <a:prstGeom prst="line">
            <a:avLst/>
          </a:prstGeom>
          <a:ln w="76200" cap="flat" cmpd="tri">
            <a:solidFill>
              <a:schemeClr val="hlink"/>
            </a:solidFill>
            <a:prstDash val="solid"/>
            <a:headEnd type="none" w="med" len="med"/>
            <a:tailEnd type="triangle" w="med" len="med"/>
          </a:ln>
        </p:spPr>
      </p:sp>
      <p:sp>
        <p:nvSpPr>
          <p:cNvPr id="1791001" name="Line 25"/>
          <p:cNvSpPr/>
          <p:nvPr/>
        </p:nvSpPr>
        <p:spPr>
          <a:xfrm flipV="1">
            <a:off x="7620000" y="2209800"/>
            <a:ext cx="0" cy="533400"/>
          </a:xfrm>
          <a:prstGeom prst="line">
            <a:avLst/>
          </a:prstGeom>
          <a:ln w="76200" cap="flat" cmpd="tri">
            <a:solidFill>
              <a:schemeClr val="hlink"/>
            </a:solidFill>
            <a:prstDash val="solid"/>
            <a:headEnd type="none" w="med" len="med"/>
            <a:tailEnd type="triangle" w="med" len="med"/>
          </a:ln>
        </p:spPr>
      </p:sp>
      <p:sp>
        <p:nvSpPr>
          <p:cNvPr id="1791002" name="Line 26"/>
          <p:cNvSpPr/>
          <p:nvPr/>
        </p:nvSpPr>
        <p:spPr>
          <a:xfrm flipH="1">
            <a:off x="5943600" y="2209800"/>
            <a:ext cx="1676400" cy="0"/>
          </a:xfrm>
          <a:prstGeom prst="line">
            <a:avLst/>
          </a:prstGeom>
          <a:ln w="76200" cap="flat" cmpd="tri">
            <a:solidFill>
              <a:schemeClr val="hlink"/>
            </a:solidFill>
            <a:prstDash val="solid"/>
            <a:headEnd type="none" w="med" len="med"/>
            <a:tailEnd type="triangle" w="med" len="med"/>
          </a:ln>
        </p:spPr>
      </p:sp>
      <p:sp>
        <p:nvSpPr>
          <p:cNvPr id="1791003" name="Line 27"/>
          <p:cNvSpPr/>
          <p:nvPr/>
        </p:nvSpPr>
        <p:spPr>
          <a:xfrm flipV="1">
            <a:off x="5943600" y="1676400"/>
            <a:ext cx="0" cy="533400"/>
          </a:xfrm>
          <a:prstGeom prst="line">
            <a:avLst/>
          </a:prstGeom>
          <a:ln w="76200" cap="flat" cmpd="tri">
            <a:solidFill>
              <a:schemeClr val="hlink"/>
            </a:solidFill>
            <a:prstDash val="solid"/>
            <a:headEnd type="none" w="med" len="med"/>
            <a:tailEnd type="triangle" w="med" len="med"/>
          </a:ln>
        </p:spPr>
      </p:sp>
    </p:spTree>
    <p:custDataLst>
      <p:tags r:id="rId4"/>
    </p:custDataLst>
  </p:cSld>
  <p:clrMapOvr>
    <a:masterClrMapping/>
  </p:clrMapOvr>
  <p:transition spd="slow" advTm="10562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90986"/>
                                        </p:tgtEl>
                                        <p:attrNameLst>
                                          <p:attrName>style.visibility</p:attrName>
                                        </p:attrNameLst>
                                      </p:cBhvr>
                                      <p:to>
                                        <p:strVal val="visible"/>
                                      </p:to>
                                    </p:set>
                                    <p:animEffect transition="in" filter="wipe(left)">
                                      <p:cBhvr>
                                        <p:cTn id="7" dur="500"/>
                                        <p:tgtEl>
                                          <p:spTgt spid="1790986"/>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790996"/>
                                        </p:tgtEl>
                                        <p:attrNameLst>
                                          <p:attrName>style.visibility</p:attrName>
                                        </p:attrNameLst>
                                      </p:cBhvr>
                                      <p:to>
                                        <p:strVal val="visible"/>
                                      </p:to>
                                    </p:set>
                                    <p:animEffect transition="in" filter="wipe(right)">
                                      <p:cBhvr>
                                        <p:cTn id="11" dur="500"/>
                                        <p:tgtEl>
                                          <p:spTgt spid="1790996"/>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1790997"/>
                                        </p:tgtEl>
                                        <p:attrNameLst>
                                          <p:attrName>style.visibility</p:attrName>
                                        </p:attrNameLst>
                                      </p:cBhvr>
                                      <p:to>
                                        <p:strVal val="visible"/>
                                      </p:to>
                                    </p:set>
                                    <p:anim calcmode="lin" valueType="num">
                                      <p:cBhvr>
                                        <p:cTn id="15" dur="500" fill="hold"/>
                                        <p:tgtEl>
                                          <p:spTgt spid="1790997"/>
                                        </p:tgtEl>
                                        <p:attrNameLst>
                                          <p:attrName>ppt_w</p:attrName>
                                        </p:attrNameLst>
                                      </p:cBhvr>
                                      <p:tavLst>
                                        <p:tav tm="0">
                                          <p:val>
                                            <p:fltVal val="0.000000"/>
                                          </p:val>
                                        </p:tav>
                                        <p:tav tm="100000">
                                          <p:val>
                                            <p:strVal val="#ppt_w"/>
                                          </p:val>
                                        </p:tav>
                                      </p:tavLst>
                                    </p:anim>
                                    <p:anim calcmode="lin" valueType="num">
                                      <p:cBhvr>
                                        <p:cTn id="16" dur="500" fill="hold"/>
                                        <p:tgtEl>
                                          <p:spTgt spid="1790997"/>
                                        </p:tgtEl>
                                        <p:attrNameLst>
                                          <p:attrName>ppt_h</p:attrName>
                                        </p:attrNameLst>
                                      </p:cBhvr>
                                      <p:tavLst>
                                        <p:tav tm="0">
                                          <p:val>
                                            <p:fltVal val="0.000000"/>
                                          </p:val>
                                        </p:tav>
                                        <p:tav tm="100000">
                                          <p:val>
                                            <p:strVal val="#ppt_h"/>
                                          </p:val>
                                        </p:tav>
                                      </p:tavLst>
                                    </p:anim>
                                  </p:childTnLst>
                                </p:cTn>
                              </p:par>
                            </p:childTnLst>
                          </p:cTn>
                        </p:par>
                        <p:par>
                          <p:cTn id="17" fill="hold">
                            <p:stCondLst>
                              <p:cond delay="1500"/>
                            </p:stCondLst>
                            <p:childTnLst>
                              <p:par>
                                <p:cTn id="18" presetID="12" presetClass="entr" presetSubtype="4" fill="hold" grpId="0" nodeType="afterEffect">
                                  <p:stCondLst>
                                    <p:cond delay="0"/>
                                  </p:stCondLst>
                                  <p:childTnLst>
                                    <p:set>
                                      <p:cBhvr>
                                        <p:cTn id="19" dur="1" fill="hold">
                                          <p:stCondLst>
                                            <p:cond delay="0"/>
                                          </p:stCondLst>
                                        </p:cTn>
                                        <p:tgtEl>
                                          <p:spTgt spid="1790988"/>
                                        </p:tgtEl>
                                        <p:attrNameLst>
                                          <p:attrName>style.visibility</p:attrName>
                                        </p:attrNameLst>
                                      </p:cBhvr>
                                      <p:to>
                                        <p:strVal val="visible"/>
                                      </p:to>
                                    </p:set>
                                    <p:animEffect transition="in" filter="slide(fromBottom)">
                                      <p:cBhvr>
                                        <p:cTn id="20" dur="500"/>
                                        <p:tgtEl>
                                          <p:spTgt spid="179098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790990"/>
                                        </p:tgtEl>
                                        <p:attrNameLst>
                                          <p:attrName>style.visibility</p:attrName>
                                        </p:attrNameLst>
                                      </p:cBhvr>
                                      <p:to>
                                        <p:strVal val="visible"/>
                                      </p:to>
                                    </p:set>
                                    <p:animEffect transition="in" filter="wipe(down)">
                                      <p:cBhvr>
                                        <p:cTn id="25" dur="500"/>
                                        <p:tgtEl>
                                          <p:spTgt spid="1790990"/>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790991"/>
                                        </p:tgtEl>
                                        <p:attrNameLst>
                                          <p:attrName>style.visibility</p:attrName>
                                        </p:attrNameLst>
                                      </p:cBhvr>
                                      <p:to>
                                        <p:strVal val="visible"/>
                                      </p:to>
                                    </p:set>
                                    <p:animEffect transition="in" filter="wipe(left)">
                                      <p:cBhvr>
                                        <p:cTn id="29" dur="500"/>
                                        <p:tgtEl>
                                          <p:spTgt spid="1790991"/>
                                        </p:tgtEl>
                                      </p:cBhvr>
                                    </p:animEffect>
                                  </p:childTnLst>
                                </p:cTn>
                              </p:par>
                            </p:childTnLst>
                          </p:cTn>
                        </p:par>
                        <p:par>
                          <p:cTn id="30" fill="hold">
                            <p:stCondLst>
                              <p:cond delay="1000"/>
                            </p:stCondLst>
                            <p:childTnLst>
                              <p:par>
                                <p:cTn id="31" presetID="12" presetClass="entr" presetSubtype="8" fill="hold" grpId="0" nodeType="afterEffect">
                                  <p:stCondLst>
                                    <p:cond delay="0"/>
                                  </p:stCondLst>
                                  <p:childTnLst>
                                    <p:set>
                                      <p:cBhvr>
                                        <p:cTn id="32" dur="1" fill="hold">
                                          <p:stCondLst>
                                            <p:cond delay="0"/>
                                          </p:stCondLst>
                                        </p:cTn>
                                        <p:tgtEl>
                                          <p:spTgt spid="1790998"/>
                                        </p:tgtEl>
                                        <p:attrNameLst>
                                          <p:attrName>style.visibility</p:attrName>
                                        </p:attrNameLst>
                                      </p:cBhvr>
                                      <p:to>
                                        <p:strVal val="visible"/>
                                      </p:to>
                                    </p:set>
                                    <p:animEffect transition="in" filter="slide(fromLeft)">
                                      <p:cBhvr>
                                        <p:cTn id="33" dur="500"/>
                                        <p:tgtEl>
                                          <p:spTgt spid="179099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790999"/>
                                        </p:tgtEl>
                                        <p:attrNameLst>
                                          <p:attrName>style.visibility</p:attrName>
                                        </p:attrNameLst>
                                      </p:cBhvr>
                                      <p:to>
                                        <p:strVal val="visible"/>
                                      </p:to>
                                    </p:set>
                                    <p:animEffect transition="in" filter="wipe(up)">
                                      <p:cBhvr>
                                        <p:cTn id="38" dur="500"/>
                                        <p:tgtEl>
                                          <p:spTgt spid="1790999"/>
                                        </p:tgtEl>
                                      </p:cBhvr>
                                    </p:animEffect>
                                  </p:childTnLst>
                                </p:cTn>
                              </p:par>
                            </p:childTnLst>
                          </p:cTn>
                        </p:par>
                        <p:par>
                          <p:cTn id="39" fill="hold">
                            <p:stCondLst>
                              <p:cond delay="500"/>
                            </p:stCondLst>
                            <p:childTnLst>
                              <p:par>
                                <p:cTn id="40" presetID="12" presetClass="entr" presetSubtype="4" fill="hold" grpId="0" nodeType="afterEffect">
                                  <p:stCondLst>
                                    <p:cond delay="0"/>
                                  </p:stCondLst>
                                  <p:childTnLst>
                                    <p:set>
                                      <p:cBhvr>
                                        <p:cTn id="41" dur="1" fill="hold">
                                          <p:stCondLst>
                                            <p:cond delay="0"/>
                                          </p:stCondLst>
                                        </p:cTn>
                                        <p:tgtEl>
                                          <p:spTgt spid="1790994">
                                            <p:txEl>
                                              <p:charRg st="4294967295" end="4294967295"/>
                                            </p:txEl>
                                          </p:spTgt>
                                        </p:tgtEl>
                                        <p:attrNameLst>
                                          <p:attrName>style.visibility</p:attrName>
                                        </p:attrNameLst>
                                      </p:cBhvr>
                                      <p:to>
                                        <p:strVal val="visible"/>
                                      </p:to>
                                    </p:set>
                                    <p:animEffect transition="in" filter="slide(fromBottom)">
                                      <p:cBhvr>
                                        <p:cTn id="42" dur="500"/>
                                        <p:tgtEl>
                                          <p:spTgt spid="1790994">
                                            <p:txEl>
                                              <p:charRg st="4294967295" end="4294967295"/>
                                            </p:txEl>
                                          </p:spTgt>
                                        </p:tgtEl>
                                      </p:cBhvr>
                                    </p:animEffect>
                                  </p:childTnLst>
                                </p:cTn>
                              </p:par>
                            </p:childTnLst>
                          </p:cTn>
                        </p:par>
                        <p:par>
                          <p:cTn id="43" fill="hold">
                            <p:stCondLst>
                              <p:cond delay="1000"/>
                            </p:stCondLst>
                            <p:childTnLst>
                              <p:par>
                                <p:cTn id="44" presetID="12" presetClass="entr" presetSubtype="4" fill="hold" grpId="0" nodeType="afterEffect">
                                  <p:stCondLst>
                                    <p:cond delay="0"/>
                                  </p:stCondLst>
                                  <p:childTnLst>
                                    <p:set>
                                      <p:cBhvr>
                                        <p:cTn id="45" dur="1" fill="hold">
                                          <p:stCondLst>
                                            <p:cond delay="0"/>
                                          </p:stCondLst>
                                        </p:cTn>
                                        <p:tgtEl>
                                          <p:spTgt spid="1790994">
                                            <p:txEl>
                                              <p:charRg st="0" end="8"/>
                                            </p:txEl>
                                          </p:spTgt>
                                        </p:tgtEl>
                                        <p:attrNameLst>
                                          <p:attrName>style.visibility</p:attrName>
                                        </p:attrNameLst>
                                      </p:cBhvr>
                                      <p:to>
                                        <p:strVal val="visible"/>
                                      </p:to>
                                    </p:set>
                                    <p:animEffect transition="in" filter="slide(fromBottom)">
                                      <p:cBhvr>
                                        <p:cTn id="46" dur="500"/>
                                        <p:tgtEl>
                                          <p:spTgt spid="1790994">
                                            <p:txEl>
                                              <p:charRg st="0" end="8"/>
                                            </p:txEl>
                                          </p:spTgt>
                                        </p:tgtEl>
                                      </p:cBhvr>
                                    </p:animEffect>
                                  </p:childTnLst>
                                </p:cTn>
                              </p:par>
                            </p:childTnLst>
                          </p:cTn>
                        </p:par>
                        <p:par>
                          <p:cTn id="47" fill="hold">
                            <p:stCondLst>
                              <p:cond delay="1500"/>
                            </p:stCondLst>
                            <p:childTnLst>
                              <p:par>
                                <p:cTn id="48" presetID="12" presetClass="entr" presetSubtype="4" fill="hold" grpId="0" nodeType="afterEffect">
                                  <p:stCondLst>
                                    <p:cond delay="0"/>
                                  </p:stCondLst>
                                  <p:childTnLst>
                                    <p:set>
                                      <p:cBhvr>
                                        <p:cTn id="49" dur="1" fill="hold">
                                          <p:stCondLst>
                                            <p:cond delay="0"/>
                                          </p:stCondLst>
                                        </p:cTn>
                                        <p:tgtEl>
                                          <p:spTgt spid="1790994">
                                            <p:txEl>
                                              <p:charRg st="8" end="25"/>
                                            </p:txEl>
                                          </p:spTgt>
                                        </p:tgtEl>
                                        <p:attrNameLst>
                                          <p:attrName>style.visibility</p:attrName>
                                        </p:attrNameLst>
                                      </p:cBhvr>
                                      <p:to>
                                        <p:strVal val="visible"/>
                                      </p:to>
                                    </p:set>
                                    <p:animEffect transition="in" filter="slide(fromBottom)">
                                      <p:cBhvr>
                                        <p:cTn id="50" dur="500"/>
                                        <p:tgtEl>
                                          <p:spTgt spid="1790994">
                                            <p:txEl>
                                              <p:charRg st="8" end="25"/>
                                            </p:txEl>
                                          </p:spTgt>
                                        </p:tgtEl>
                                      </p:cBhvr>
                                    </p:animEffect>
                                  </p:childTnLst>
                                </p:cTn>
                              </p:par>
                            </p:childTnLst>
                          </p:cTn>
                        </p:par>
                        <p:par>
                          <p:cTn id="51" fill="hold">
                            <p:stCondLst>
                              <p:cond delay="2000"/>
                            </p:stCondLst>
                            <p:childTnLst>
                              <p:par>
                                <p:cTn id="52" presetID="22" presetClass="entr" presetSubtype="8" fill="hold" nodeType="afterEffect">
                                  <p:stCondLst>
                                    <p:cond delay="0"/>
                                  </p:stCondLst>
                                  <p:childTnLst>
                                    <p:set>
                                      <p:cBhvr>
                                        <p:cTn id="53" dur="1" fill="hold">
                                          <p:stCondLst>
                                            <p:cond delay="0"/>
                                          </p:stCondLst>
                                        </p:cTn>
                                        <p:tgtEl>
                                          <p:spTgt spid="1791000"/>
                                        </p:tgtEl>
                                        <p:attrNameLst>
                                          <p:attrName>style.visibility</p:attrName>
                                        </p:attrNameLst>
                                      </p:cBhvr>
                                      <p:to>
                                        <p:strVal val="visible"/>
                                      </p:to>
                                    </p:set>
                                    <p:animEffect transition="in" filter="wipe(left)">
                                      <p:cBhvr>
                                        <p:cTn id="54" dur="500"/>
                                        <p:tgtEl>
                                          <p:spTgt spid="1791000"/>
                                        </p:tgtEl>
                                      </p:cBhvr>
                                    </p:animEffect>
                                  </p:childTnLst>
                                </p:cTn>
                              </p:par>
                            </p:childTnLst>
                          </p:cTn>
                        </p:par>
                        <p:par>
                          <p:cTn id="55" fill="hold">
                            <p:stCondLst>
                              <p:cond delay="2500"/>
                            </p:stCondLst>
                            <p:childTnLst>
                              <p:par>
                                <p:cTn id="56" presetID="22" presetClass="entr" presetSubtype="4" fill="hold" nodeType="afterEffect">
                                  <p:stCondLst>
                                    <p:cond delay="0"/>
                                  </p:stCondLst>
                                  <p:childTnLst>
                                    <p:set>
                                      <p:cBhvr>
                                        <p:cTn id="57" dur="1" fill="hold">
                                          <p:stCondLst>
                                            <p:cond delay="0"/>
                                          </p:stCondLst>
                                        </p:cTn>
                                        <p:tgtEl>
                                          <p:spTgt spid="1791001"/>
                                        </p:tgtEl>
                                        <p:attrNameLst>
                                          <p:attrName>style.visibility</p:attrName>
                                        </p:attrNameLst>
                                      </p:cBhvr>
                                      <p:to>
                                        <p:strVal val="visible"/>
                                      </p:to>
                                    </p:set>
                                    <p:animEffect transition="in" filter="wipe(down)">
                                      <p:cBhvr>
                                        <p:cTn id="58" dur="500"/>
                                        <p:tgtEl>
                                          <p:spTgt spid="1791001"/>
                                        </p:tgtEl>
                                      </p:cBhvr>
                                    </p:animEffect>
                                  </p:childTnLst>
                                </p:cTn>
                              </p:par>
                            </p:childTnLst>
                          </p:cTn>
                        </p:par>
                        <p:par>
                          <p:cTn id="59" fill="hold">
                            <p:stCondLst>
                              <p:cond delay="3000"/>
                            </p:stCondLst>
                            <p:childTnLst>
                              <p:par>
                                <p:cTn id="60" presetID="22" presetClass="entr" presetSubtype="2" fill="hold" nodeType="afterEffect">
                                  <p:stCondLst>
                                    <p:cond delay="0"/>
                                  </p:stCondLst>
                                  <p:childTnLst>
                                    <p:set>
                                      <p:cBhvr>
                                        <p:cTn id="61" dur="1" fill="hold">
                                          <p:stCondLst>
                                            <p:cond delay="0"/>
                                          </p:stCondLst>
                                        </p:cTn>
                                        <p:tgtEl>
                                          <p:spTgt spid="1791002"/>
                                        </p:tgtEl>
                                        <p:attrNameLst>
                                          <p:attrName>style.visibility</p:attrName>
                                        </p:attrNameLst>
                                      </p:cBhvr>
                                      <p:to>
                                        <p:strVal val="visible"/>
                                      </p:to>
                                    </p:set>
                                    <p:animEffect transition="in" filter="wipe(right)">
                                      <p:cBhvr>
                                        <p:cTn id="62" dur="500"/>
                                        <p:tgtEl>
                                          <p:spTgt spid="1791002"/>
                                        </p:tgtEl>
                                      </p:cBhvr>
                                    </p:animEffect>
                                  </p:childTnLst>
                                </p:cTn>
                              </p:par>
                            </p:childTnLst>
                          </p:cTn>
                        </p:par>
                        <p:par>
                          <p:cTn id="63" fill="hold">
                            <p:stCondLst>
                              <p:cond delay="3500"/>
                            </p:stCondLst>
                            <p:childTnLst>
                              <p:par>
                                <p:cTn id="64" presetID="22" presetClass="entr" presetSubtype="4" fill="hold" nodeType="afterEffect">
                                  <p:stCondLst>
                                    <p:cond delay="0"/>
                                  </p:stCondLst>
                                  <p:childTnLst>
                                    <p:set>
                                      <p:cBhvr>
                                        <p:cTn id="65" dur="1" fill="hold">
                                          <p:stCondLst>
                                            <p:cond delay="0"/>
                                          </p:stCondLst>
                                        </p:cTn>
                                        <p:tgtEl>
                                          <p:spTgt spid="1791003"/>
                                        </p:tgtEl>
                                        <p:attrNameLst>
                                          <p:attrName>style.visibility</p:attrName>
                                        </p:attrNameLst>
                                      </p:cBhvr>
                                      <p:to>
                                        <p:strVal val="visible"/>
                                      </p:to>
                                    </p:set>
                                    <p:animEffect transition="in" filter="wipe(down)">
                                      <p:cBhvr>
                                        <p:cTn id="66" dur="500"/>
                                        <p:tgtEl>
                                          <p:spTgt spid="179100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790992"/>
                                        </p:tgtEl>
                                        <p:attrNameLst>
                                          <p:attrName>style.visibility</p:attrName>
                                        </p:attrNameLst>
                                      </p:cBhvr>
                                      <p:to>
                                        <p:strVal val="visible"/>
                                      </p:to>
                                    </p:set>
                                    <p:animEffect transition="in" filter="wipe(left)">
                                      <p:cBhvr>
                                        <p:cTn id="71" dur="500"/>
                                        <p:tgtEl>
                                          <p:spTgt spid="1790992"/>
                                        </p:tgtEl>
                                      </p:cBhvr>
                                    </p:animEffect>
                                  </p:childTnLst>
                                </p:cTn>
                              </p:par>
                            </p:childTnLst>
                          </p:cTn>
                        </p:par>
                        <p:par>
                          <p:cTn id="72" fill="hold">
                            <p:stCondLst>
                              <p:cond delay="500"/>
                            </p:stCondLst>
                            <p:childTnLst>
                              <p:par>
                                <p:cTn id="73" presetID="22" presetClass="entr" presetSubtype="1" fill="hold" nodeType="afterEffect">
                                  <p:stCondLst>
                                    <p:cond delay="0"/>
                                  </p:stCondLst>
                                  <p:childTnLst>
                                    <p:set>
                                      <p:cBhvr>
                                        <p:cTn id="74" dur="1" fill="hold">
                                          <p:stCondLst>
                                            <p:cond delay="0"/>
                                          </p:stCondLst>
                                        </p:cTn>
                                        <p:tgtEl>
                                          <p:spTgt spid="1790993"/>
                                        </p:tgtEl>
                                        <p:attrNameLst>
                                          <p:attrName>style.visibility</p:attrName>
                                        </p:attrNameLst>
                                      </p:cBhvr>
                                      <p:to>
                                        <p:strVal val="visible"/>
                                      </p:to>
                                    </p:set>
                                    <p:animEffect transition="in" filter="wipe(up)">
                                      <p:cBhvr>
                                        <p:cTn id="75" dur="500"/>
                                        <p:tgtEl>
                                          <p:spTgt spid="1790993"/>
                                        </p:tgtEl>
                                      </p:cBhvr>
                                    </p:animEffect>
                                  </p:childTnLst>
                                </p:cTn>
                              </p:par>
                            </p:childTnLst>
                          </p:cTn>
                        </p:par>
                        <p:par>
                          <p:cTn id="76" fill="hold">
                            <p:stCondLst>
                              <p:cond delay="1000"/>
                            </p:stCondLst>
                            <p:childTnLst>
                              <p:par>
                                <p:cTn id="77" presetID="23" presetClass="entr" presetSubtype="36" fill="hold" grpId="0" nodeType="afterEffect">
                                  <p:stCondLst>
                                    <p:cond delay="0"/>
                                  </p:stCondLst>
                                  <p:childTnLst>
                                    <p:set>
                                      <p:cBhvr>
                                        <p:cTn id="78" dur="1" fill="hold">
                                          <p:stCondLst>
                                            <p:cond delay="0"/>
                                          </p:stCondLst>
                                        </p:cTn>
                                        <p:tgtEl>
                                          <p:spTgt spid="1790995"/>
                                        </p:tgtEl>
                                        <p:attrNameLst>
                                          <p:attrName>style.visibility</p:attrName>
                                        </p:attrNameLst>
                                      </p:cBhvr>
                                      <p:to>
                                        <p:strVal val="visible"/>
                                      </p:to>
                                    </p:set>
                                    <p:anim calcmode="lin" valueType="num">
                                      <p:cBhvr>
                                        <p:cTn id="79" dur="500" fill="hold"/>
                                        <p:tgtEl>
                                          <p:spTgt spid="1790995"/>
                                        </p:tgtEl>
                                        <p:attrNameLst>
                                          <p:attrName>ppt_w</p:attrName>
                                        </p:attrNameLst>
                                      </p:cBhvr>
                                      <p:tavLst>
                                        <p:tav tm="0">
                                          <p:val>
                                            <p:strVal val="(6*min(max(#ppt_w*#ppt_h,.3),1)-7.4)/-.7*#ppt_w"/>
                                          </p:val>
                                        </p:tav>
                                        <p:tav tm="100000">
                                          <p:val>
                                            <p:strVal val="#ppt_w"/>
                                          </p:val>
                                        </p:tav>
                                      </p:tavLst>
                                    </p:anim>
                                    <p:anim calcmode="lin" valueType="num">
                                      <p:cBhvr>
                                        <p:cTn id="80" dur="500" fill="hold"/>
                                        <p:tgtEl>
                                          <p:spTgt spid="1790995"/>
                                        </p:tgtEl>
                                        <p:attrNameLst>
                                          <p:attrName>ppt_h</p:attrName>
                                        </p:attrNameLst>
                                      </p:cBhvr>
                                      <p:tavLst>
                                        <p:tav tm="0">
                                          <p:val>
                                            <p:strVal val="(6*min(max(#ppt_w*#ppt_h,.3),1)-7.4)/-.7*#ppt_h"/>
                                          </p:val>
                                        </p:tav>
                                        <p:tav tm="100000">
                                          <p:val>
                                            <p:strVal val="#ppt_h"/>
                                          </p:val>
                                        </p:tav>
                                      </p:tavLst>
                                    </p:anim>
                                    <p:anim calcmode="lin" valueType="num">
                                      <p:cBhvr>
                                        <p:cTn id="81" dur="500" fill="hold"/>
                                        <p:tgtEl>
                                          <p:spTgt spid="1790995"/>
                                        </p:tgtEl>
                                        <p:attrNameLst>
                                          <p:attrName>ppt_x</p:attrName>
                                        </p:attrNameLst>
                                      </p:cBhvr>
                                      <p:tavLst>
                                        <p:tav tm="0">
                                          <p:val>
                                            <p:fltVal val="0.500000"/>
                                          </p:val>
                                        </p:tav>
                                        <p:tav tm="100000">
                                          <p:val>
                                            <p:strVal val="#ppt_x"/>
                                          </p:val>
                                        </p:tav>
                                      </p:tavLst>
                                    </p:anim>
                                    <p:anim calcmode="lin" valueType="num">
                                      <p:cBhvr>
                                        <p:cTn id="82" dur="500" fill="hold"/>
                                        <p:tgtEl>
                                          <p:spTgt spid="1790995"/>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0988" grpId="0" bldLvl="0" animBg="1"/>
      <p:bldP spid="1790994" grpId="0" advAuto="1000" build="p"/>
      <p:bldP spid="1790995" grpId="0" bldLvl="0" animBg="1"/>
      <p:bldP spid="1790997" grpId="0" bldLvl="0" animBg="1"/>
      <p:bldP spid="1790998" grpId="0" bldLvl="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p:cNvSpPr>
            <a:spLocks noGrp="1"/>
          </p:cNvSpPr>
          <p:nvPr>
            <p:ph type="dt" sz="quarter" idx="4294967295"/>
          </p:nvPr>
        </p:nvSpPr>
        <p:spPr>
          <a:xfrm>
            <a:off x="685800" y="6248400"/>
            <a:ext cx="1905000" cy="45720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4218A538-94AB-4880-9FD4-F552A8017773}"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108547"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1983DD3C-9F2F-4BF8-990A-9A617604B365}"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108548" name="Rectangle 2"/>
          <p:cNvSpPr>
            <a:spLocks noGrp="1" noChangeArrowheads="1"/>
          </p:cNvSpPr>
          <p:nvPr>
            <p:ph type="title"/>
          </p:nvPr>
        </p:nvSpPr>
        <p:spPr/>
        <p:txBody>
          <a:bodyPr/>
          <a:lstStyle/>
          <a:p>
            <a:pPr eaLnBrk="1" hangingPunct="1"/>
            <a:r>
              <a:rPr lang="zh-CN" altLang="en-US" smtClean="0"/>
              <a:t>屏蔽主机模式</a:t>
            </a:r>
            <a:endParaRPr lang="zh-CN" altLang="en-US" smtClean="0"/>
          </a:p>
        </p:txBody>
      </p:sp>
      <p:sp>
        <p:nvSpPr>
          <p:cNvPr id="108549" name="Rectangle 3"/>
          <p:cNvSpPr>
            <a:spLocks noGrp="1" noChangeArrowheads="1"/>
          </p:cNvSpPr>
          <p:nvPr>
            <p:ph type="body" idx="1"/>
          </p:nvPr>
        </p:nvSpPr>
        <p:spPr/>
        <p:txBody>
          <a:bodyPr/>
          <a:lstStyle/>
          <a:p>
            <a:pPr eaLnBrk="1" hangingPunct="1"/>
            <a:r>
              <a:rPr lang="zh-CN" altLang="en-US" dirty="0" smtClean="0"/>
              <a:t>在这种模式下，一个包过滤路由器连接外部网络，堡垒主机安装在内部网络上。</a:t>
            </a:r>
            <a:endParaRPr lang="zh-CN" altLang="en-US" dirty="0" smtClean="0"/>
          </a:p>
        </p:txBody>
      </p:sp>
      <p:pic>
        <p:nvPicPr>
          <p:cNvPr id="10855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2997200"/>
            <a:ext cx="6335712"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109571"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109572" name="Rectangle 2"/>
          <p:cNvSpPr>
            <a:spLocks noGrp="1"/>
          </p:cNvSpPr>
          <p:nvPr>
            <p:ph type="title"/>
          </p:nvPr>
        </p:nvSpPr>
        <p:spPr/>
        <p:txBody>
          <a:bodyPr vert="horz" wrap="square" lIns="91440" tIns="45720" rIns="91440" bIns="45720" anchor="ctr" anchorCtr="0"/>
          <a:p>
            <a:pPr eaLnBrk="1" hangingPunct="1"/>
            <a:r>
              <a:rPr lang="zh-CN" altLang="en-US" dirty="0"/>
              <a:t>屏蔽主机模式</a:t>
            </a:r>
            <a:r>
              <a:rPr lang="en-US" altLang="zh-CN" dirty="0"/>
              <a:t>(2)</a:t>
            </a:r>
            <a:endParaRPr lang="en-US" altLang="zh-CN" dirty="0"/>
          </a:p>
        </p:txBody>
      </p:sp>
      <p:sp>
        <p:nvSpPr>
          <p:cNvPr id="109573" name="Rectangle 3"/>
          <p:cNvSpPr>
            <a:spLocks noGrp="1"/>
          </p:cNvSpPr>
          <p:nvPr>
            <p:ph idx="1"/>
          </p:nvPr>
        </p:nvSpPr>
        <p:spPr>
          <a:xfrm>
            <a:off x="566738" y="1752600"/>
            <a:ext cx="8253412" cy="4267200"/>
          </a:xfrm>
        </p:spPr>
        <p:txBody>
          <a:bodyPr vert="horz" wrap="square" lIns="91440" tIns="45720" rIns="91440" bIns="45720" anchor="t" anchorCtr="0"/>
          <a:p>
            <a:pPr eaLnBrk="1" hangingPunct="1"/>
            <a:r>
              <a:rPr lang="zh-CN" altLang="en-US" sz="2800" dirty="0"/>
              <a:t>通常在路由器上设立过滤规则，并使这个堡垒主机成为从外部网络唯一可直接到达的主机，这确保了内部网络不受未被授权的外部用户的攻击。屏蔽主机防火墙实现了网络层和应用层的安全，因而比单独的包过滤或应用网关代理更安全。</a:t>
            </a:r>
            <a:endParaRPr lang="zh-CN" altLang="en-US" sz="2800" dirty="0"/>
          </a:p>
          <a:p>
            <a:pPr eaLnBrk="1" hangingPunct="1"/>
            <a:r>
              <a:rPr lang="zh-CN" altLang="en-US" sz="2800" dirty="0"/>
              <a:t>在这一方式下，过滤路由器是否配置正确是这种防火墙安全与否的关键，如果路由表遭到破坏，堡垒主机就可能被越过，使内部网完全暴露。</a:t>
            </a:r>
            <a:endParaRPr lang="zh-CN" altLang="en-US" sz="2800" dirty="0"/>
          </a:p>
        </p:txBody>
      </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日期占位符 1"/>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110595" name="页脚占位符 2"/>
          <p:cNvSpPr txBox="1">
            <a:spLocks noGrp="1"/>
          </p:cNvSpPr>
          <p:nvPr>
            <p:ph type="ftr" sz="quarter" idx="11"/>
          </p:nvPr>
        </p:nvSpPr>
        <p:spPr>
          <a:xfrm>
            <a:off x="3124200" y="6245225"/>
            <a:ext cx="28956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r>
              <a:rPr lang="en-US" altLang="zh-CN" sz="1400" dirty="0">
                <a:latin typeface="Verdana" panose="020B0604030504040204" pitchFamily="34" charset="0"/>
              </a:rPr>
              <a:t>网络入侵与防范讲义</a:t>
            </a:r>
            <a:endParaRPr lang="en-US" altLang="zh-CN" sz="1400" dirty="0">
              <a:latin typeface="Verdana" panose="020B0604030504040204" pitchFamily="34" charset="0"/>
            </a:endParaRPr>
          </a:p>
        </p:txBody>
      </p:sp>
      <p:sp>
        <p:nvSpPr>
          <p:cNvPr id="110596" name="灯片编号占位符 3"/>
          <p:cNvSpPr txBox="1">
            <a:spLocks noGrp="1"/>
          </p:cNvSpPr>
          <p:nvPr>
            <p:ph type="sldNum" sz="quarter" idx="12"/>
          </p:nvPr>
        </p:nvSpPr>
        <p:spPr>
          <a:xfrm>
            <a:off x="65532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110597" name="Rectangle 2"/>
          <p:cNvSpPr/>
          <p:nvPr/>
        </p:nvSpPr>
        <p:spPr>
          <a:xfrm>
            <a:off x="0" y="0"/>
            <a:ext cx="9144000" cy="6858000"/>
          </a:xfrm>
          <a:prstGeom prst="rect">
            <a:avLst/>
          </a:prstGeom>
          <a:solidFill>
            <a:schemeClr val="bg1"/>
          </a:solidFill>
          <a:ln w="28575">
            <a:noFill/>
          </a:ln>
        </p:spPr>
        <p:txBody>
          <a:bodyPr wrap="none" anchor="ctr" anchorCtr="0"/>
          <a:p>
            <a:pPr>
              <a:buNone/>
            </a:pPr>
            <a:endParaRPr lang="zh-CN" altLang="en-US" dirty="0">
              <a:latin typeface="Times New Roman" panose="02020603050405020304" pitchFamily="18" charset="0"/>
            </a:endParaRPr>
          </a:p>
        </p:txBody>
      </p:sp>
      <p:sp>
        <p:nvSpPr>
          <p:cNvPr id="110598" name="Line 3"/>
          <p:cNvSpPr/>
          <p:nvPr/>
        </p:nvSpPr>
        <p:spPr>
          <a:xfrm flipV="1">
            <a:off x="6553200" y="1447800"/>
            <a:ext cx="609600" cy="609600"/>
          </a:xfrm>
          <a:prstGeom prst="line">
            <a:avLst/>
          </a:prstGeom>
          <a:ln w="38100" cap="flat" cmpd="sng">
            <a:solidFill>
              <a:srgbClr val="808080"/>
            </a:solidFill>
            <a:prstDash val="solid"/>
            <a:headEnd type="none" w="med" len="med"/>
            <a:tailEnd type="none" w="med" len="med"/>
          </a:ln>
        </p:spPr>
      </p:sp>
      <p:sp>
        <p:nvSpPr>
          <p:cNvPr id="110599" name="Rectangle 4"/>
          <p:cNvSpPr/>
          <p:nvPr/>
        </p:nvSpPr>
        <p:spPr>
          <a:xfrm>
            <a:off x="3505200" y="0"/>
            <a:ext cx="2667000" cy="457200"/>
          </a:xfrm>
          <a:prstGeom prst="rect">
            <a:avLst/>
          </a:prstGeom>
          <a:noFill/>
          <a:ln w="76200">
            <a:noFill/>
          </a:ln>
        </p:spPr>
        <p:txBody>
          <a:bodyPr>
            <a:spAutoFit/>
          </a:bodyPr>
          <a:p>
            <a:pPr eaLnBrk="0" hangingPunct="0">
              <a:spcBef>
                <a:spcPct val="50000"/>
              </a:spcBef>
              <a:buFont typeface="Wingdings" panose="05000000000000000000" pitchFamily="2" charset="2"/>
              <a:buNone/>
            </a:pPr>
            <a:r>
              <a:rPr lang="zh-CN" altLang="en-US" sz="2400" b="1" dirty="0">
                <a:solidFill>
                  <a:schemeClr val="folHlink"/>
                </a:solidFill>
                <a:effectLst>
                  <a:outerShdw blurRad="38100" dist="38100" dir="2700000">
                    <a:srgbClr val="000000"/>
                  </a:outerShdw>
                </a:effectLst>
                <a:latin typeface="Times New Roman" panose="02020603050405020304" pitchFamily="18" charset="0"/>
              </a:rPr>
              <a:t>屏蔽主机模式</a:t>
            </a:r>
            <a:endParaRPr lang="zh-CN" altLang="en-US" sz="2400" b="1" dirty="0">
              <a:solidFill>
                <a:schemeClr val="folHlink"/>
              </a:solidFill>
              <a:effectLst>
                <a:outerShdw blurRad="38100" dist="38100" dir="2700000">
                  <a:srgbClr val="000000"/>
                </a:outerShdw>
              </a:effectLst>
              <a:latin typeface="Times New Roman" panose="02020603050405020304" pitchFamily="18" charset="0"/>
            </a:endParaRPr>
          </a:p>
        </p:txBody>
      </p:sp>
      <p:grpSp>
        <p:nvGrpSpPr>
          <p:cNvPr id="110600" name="Group 5"/>
          <p:cNvGrpSpPr/>
          <p:nvPr/>
        </p:nvGrpSpPr>
        <p:grpSpPr>
          <a:xfrm>
            <a:off x="3810000" y="5181600"/>
            <a:ext cx="4343400" cy="1066800"/>
            <a:chOff x="2304" y="3264"/>
            <a:chExt cx="2736" cy="672"/>
          </a:xfrm>
        </p:grpSpPr>
        <p:pic>
          <p:nvPicPr>
            <p:cNvPr id="110638" name="Picture 6" descr="Monitor"/>
            <p:cNvPicPr>
              <a:picLocks noChangeAspect="1"/>
            </p:cNvPicPr>
            <p:nvPr/>
          </p:nvPicPr>
          <p:blipFill>
            <a:blip r:embed="rId1"/>
            <a:stretch>
              <a:fillRect/>
            </a:stretch>
          </p:blipFill>
          <p:spPr>
            <a:xfrm>
              <a:off x="3079" y="3504"/>
              <a:ext cx="399" cy="414"/>
            </a:xfrm>
            <a:prstGeom prst="rect">
              <a:avLst/>
            </a:prstGeom>
            <a:noFill/>
            <a:ln w="9525">
              <a:noFill/>
            </a:ln>
          </p:spPr>
        </p:pic>
        <p:sp>
          <p:nvSpPr>
            <p:cNvPr id="110639" name="Line 7"/>
            <p:cNvSpPr/>
            <p:nvPr/>
          </p:nvSpPr>
          <p:spPr>
            <a:xfrm>
              <a:off x="2400" y="3264"/>
              <a:ext cx="2640" cy="0"/>
            </a:xfrm>
            <a:prstGeom prst="line">
              <a:avLst/>
            </a:prstGeom>
            <a:ln w="28575" cap="flat" cmpd="sng">
              <a:solidFill>
                <a:srgbClr val="808080"/>
              </a:solidFill>
              <a:prstDash val="solid"/>
              <a:headEnd type="none" w="med" len="med"/>
              <a:tailEnd type="none" w="med" len="med"/>
            </a:ln>
          </p:spPr>
        </p:sp>
        <p:pic>
          <p:nvPicPr>
            <p:cNvPr id="110640" name="Picture 8"/>
            <p:cNvPicPr/>
            <p:nvPr/>
          </p:nvPicPr>
          <p:blipFill>
            <a:blip r:embed="rId2"/>
            <a:stretch>
              <a:fillRect/>
            </a:stretch>
          </p:blipFill>
          <p:spPr>
            <a:xfrm>
              <a:off x="4656" y="3504"/>
              <a:ext cx="384" cy="384"/>
            </a:xfrm>
            <a:prstGeom prst="rect">
              <a:avLst/>
            </a:prstGeom>
            <a:noFill/>
            <a:ln w="9525">
              <a:noFill/>
            </a:ln>
          </p:spPr>
        </p:pic>
        <p:pic>
          <p:nvPicPr>
            <p:cNvPr id="110641" name="Picture 9"/>
            <p:cNvPicPr/>
            <p:nvPr/>
          </p:nvPicPr>
          <p:blipFill>
            <a:blip r:embed="rId2"/>
            <a:stretch>
              <a:fillRect/>
            </a:stretch>
          </p:blipFill>
          <p:spPr>
            <a:xfrm>
              <a:off x="3840" y="3504"/>
              <a:ext cx="384" cy="384"/>
            </a:xfrm>
            <a:prstGeom prst="rect">
              <a:avLst/>
            </a:prstGeom>
            <a:noFill/>
            <a:ln w="9525">
              <a:noFill/>
            </a:ln>
          </p:spPr>
        </p:pic>
        <p:pic>
          <p:nvPicPr>
            <p:cNvPr id="110642" name="Picture 10"/>
            <p:cNvPicPr/>
            <p:nvPr/>
          </p:nvPicPr>
          <p:blipFill>
            <a:blip r:embed="rId2"/>
            <a:stretch>
              <a:fillRect/>
            </a:stretch>
          </p:blipFill>
          <p:spPr>
            <a:xfrm>
              <a:off x="2304" y="3552"/>
              <a:ext cx="384" cy="384"/>
            </a:xfrm>
            <a:prstGeom prst="rect">
              <a:avLst/>
            </a:prstGeom>
            <a:noFill/>
            <a:ln w="9525">
              <a:noFill/>
            </a:ln>
          </p:spPr>
        </p:pic>
        <p:sp>
          <p:nvSpPr>
            <p:cNvPr id="110643" name="Line 11"/>
            <p:cNvSpPr/>
            <p:nvPr/>
          </p:nvSpPr>
          <p:spPr>
            <a:xfrm>
              <a:off x="2544" y="3264"/>
              <a:ext cx="0" cy="288"/>
            </a:xfrm>
            <a:prstGeom prst="line">
              <a:avLst/>
            </a:prstGeom>
            <a:ln w="28575" cap="flat" cmpd="sng">
              <a:solidFill>
                <a:srgbClr val="808080"/>
              </a:solidFill>
              <a:prstDash val="solid"/>
              <a:headEnd type="none" w="med" len="med"/>
              <a:tailEnd type="none" w="med" len="med"/>
            </a:ln>
          </p:spPr>
        </p:sp>
        <p:sp>
          <p:nvSpPr>
            <p:cNvPr id="110644" name="Line 12"/>
            <p:cNvSpPr/>
            <p:nvPr/>
          </p:nvSpPr>
          <p:spPr>
            <a:xfrm>
              <a:off x="3264" y="3264"/>
              <a:ext cx="0" cy="240"/>
            </a:xfrm>
            <a:prstGeom prst="line">
              <a:avLst/>
            </a:prstGeom>
            <a:ln w="28575" cap="flat" cmpd="sng">
              <a:solidFill>
                <a:srgbClr val="808080"/>
              </a:solidFill>
              <a:prstDash val="solid"/>
              <a:headEnd type="none" w="med" len="med"/>
              <a:tailEnd type="none" w="med" len="med"/>
            </a:ln>
          </p:spPr>
        </p:sp>
        <p:sp>
          <p:nvSpPr>
            <p:cNvPr id="110645" name="Line 13"/>
            <p:cNvSpPr/>
            <p:nvPr/>
          </p:nvSpPr>
          <p:spPr>
            <a:xfrm>
              <a:off x="4080" y="3264"/>
              <a:ext cx="0" cy="240"/>
            </a:xfrm>
            <a:prstGeom prst="line">
              <a:avLst/>
            </a:prstGeom>
            <a:ln w="28575" cap="flat" cmpd="sng">
              <a:solidFill>
                <a:srgbClr val="808080"/>
              </a:solidFill>
              <a:prstDash val="solid"/>
              <a:headEnd type="none" w="med" len="med"/>
              <a:tailEnd type="none" w="med" len="med"/>
            </a:ln>
          </p:spPr>
        </p:sp>
        <p:sp>
          <p:nvSpPr>
            <p:cNvPr id="110646" name="Line 14"/>
            <p:cNvSpPr/>
            <p:nvPr/>
          </p:nvSpPr>
          <p:spPr>
            <a:xfrm>
              <a:off x="4896" y="3264"/>
              <a:ext cx="0" cy="240"/>
            </a:xfrm>
            <a:prstGeom prst="line">
              <a:avLst/>
            </a:prstGeom>
            <a:ln w="28575" cap="flat" cmpd="sng">
              <a:solidFill>
                <a:srgbClr val="808080"/>
              </a:solidFill>
              <a:prstDash val="solid"/>
              <a:headEnd type="none" w="med" len="med"/>
              <a:tailEnd type="none" w="med" len="med"/>
            </a:ln>
          </p:spPr>
        </p:sp>
      </p:grpSp>
      <p:sp>
        <p:nvSpPr>
          <p:cNvPr id="110601" name="Text Box 15"/>
          <p:cNvSpPr txBox="1"/>
          <p:nvPr/>
        </p:nvSpPr>
        <p:spPr>
          <a:xfrm>
            <a:off x="4648200" y="6324600"/>
            <a:ext cx="1579563" cy="396875"/>
          </a:xfrm>
          <a:prstGeom prst="rect">
            <a:avLst/>
          </a:prstGeom>
          <a:noFill/>
          <a:ln w="38100">
            <a:noFill/>
          </a:ln>
        </p:spPr>
        <p:txBody>
          <a:bodyPr>
            <a:spAutoFit/>
          </a:bodyPr>
          <a:p>
            <a:pPr algn="ctr" eaLnBrk="0" hangingPunct="0">
              <a:spcBef>
                <a:spcPct val="50000"/>
              </a:spcBef>
              <a:buFont typeface="Wingdings" panose="05000000000000000000" pitchFamily="2" charset="2"/>
              <a:buNone/>
            </a:pPr>
            <a:r>
              <a:rPr lang="zh-CN" altLang="en-US" sz="2000" dirty="0">
                <a:latin typeface="Times New Roman" panose="02020603050405020304" pitchFamily="18" charset="0"/>
              </a:rPr>
              <a:t>堡垒主机</a:t>
            </a:r>
            <a:endParaRPr lang="zh-CN" altLang="en-US" sz="2000" dirty="0">
              <a:latin typeface="Times New Roman" panose="02020603050405020304" pitchFamily="18" charset="0"/>
            </a:endParaRPr>
          </a:p>
        </p:txBody>
      </p:sp>
      <p:sp>
        <p:nvSpPr>
          <p:cNvPr id="1794064" name="Text Box 16"/>
          <p:cNvSpPr txBox="1"/>
          <p:nvPr/>
        </p:nvSpPr>
        <p:spPr>
          <a:xfrm>
            <a:off x="3505200" y="3048000"/>
            <a:ext cx="2057400" cy="1006475"/>
          </a:xfrm>
          <a:prstGeom prst="rect">
            <a:avLst/>
          </a:prstGeom>
          <a:noFill/>
          <a:ln w="38100">
            <a:noFill/>
          </a:ln>
        </p:spPr>
        <p:txBody>
          <a:bodyPr>
            <a:spAutoFit/>
          </a:bodyPr>
          <a:p>
            <a:pPr algn="ctr" eaLnBrk="0" hangingPunct="0">
              <a:spcBef>
                <a:spcPct val="50000"/>
              </a:spcBef>
              <a:buFont typeface="Wingdings" panose="05000000000000000000" pitchFamily="2" charset="2"/>
              <a:buNone/>
            </a:pPr>
            <a:r>
              <a:rPr lang="zh-CN" altLang="en-US" sz="2000" dirty="0">
                <a:latin typeface="Times New Roman" panose="02020603050405020304" pitchFamily="18" charset="0"/>
              </a:rPr>
              <a:t>进行规则配置，只允许外部主机与堡垒主机通讯</a:t>
            </a:r>
            <a:endParaRPr lang="zh-CN" altLang="en-US" sz="2000" dirty="0">
              <a:latin typeface="Times New Roman" panose="02020603050405020304" pitchFamily="18" charset="0"/>
            </a:endParaRPr>
          </a:p>
        </p:txBody>
      </p:sp>
      <p:sp>
        <p:nvSpPr>
          <p:cNvPr id="110603" name="Line 17"/>
          <p:cNvSpPr/>
          <p:nvPr/>
        </p:nvSpPr>
        <p:spPr>
          <a:xfrm>
            <a:off x="6172200" y="2362200"/>
            <a:ext cx="0" cy="2819400"/>
          </a:xfrm>
          <a:prstGeom prst="line">
            <a:avLst/>
          </a:prstGeom>
          <a:ln w="28575" cap="flat" cmpd="sng">
            <a:solidFill>
              <a:srgbClr val="808080"/>
            </a:solidFill>
            <a:prstDash val="solid"/>
            <a:headEnd type="none" w="med" len="med"/>
            <a:tailEnd type="none" w="med" len="med"/>
          </a:ln>
        </p:spPr>
      </p:sp>
      <p:pic>
        <p:nvPicPr>
          <p:cNvPr id="110604" name="Picture 18"/>
          <p:cNvPicPr/>
          <p:nvPr/>
        </p:nvPicPr>
        <p:blipFill>
          <a:blip r:embed="rId3"/>
          <a:stretch>
            <a:fillRect/>
          </a:stretch>
        </p:blipFill>
        <p:spPr>
          <a:xfrm>
            <a:off x="5715000" y="4267200"/>
            <a:ext cx="933450" cy="381000"/>
          </a:xfrm>
          <a:prstGeom prst="rect">
            <a:avLst/>
          </a:prstGeom>
          <a:noFill/>
          <a:ln w="12700">
            <a:noFill/>
          </a:ln>
        </p:spPr>
      </p:pic>
      <p:pic>
        <p:nvPicPr>
          <p:cNvPr id="110605" name="Picture 19"/>
          <p:cNvPicPr/>
          <p:nvPr/>
        </p:nvPicPr>
        <p:blipFill>
          <a:blip r:embed="rId4"/>
          <a:stretch>
            <a:fillRect/>
          </a:stretch>
        </p:blipFill>
        <p:spPr>
          <a:xfrm>
            <a:off x="5562600" y="2971800"/>
            <a:ext cx="1219200" cy="381000"/>
          </a:xfrm>
          <a:prstGeom prst="rect">
            <a:avLst/>
          </a:prstGeom>
          <a:noFill/>
          <a:ln w="12700">
            <a:noFill/>
          </a:ln>
        </p:spPr>
      </p:pic>
      <p:pic>
        <p:nvPicPr>
          <p:cNvPr id="110606" name="Picture 20"/>
          <p:cNvPicPr/>
          <p:nvPr/>
        </p:nvPicPr>
        <p:blipFill>
          <a:blip r:embed="rId5"/>
          <a:stretch>
            <a:fillRect/>
          </a:stretch>
        </p:blipFill>
        <p:spPr>
          <a:xfrm>
            <a:off x="5715000" y="1905000"/>
            <a:ext cx="1054100" cy="457200"/>
          </a:xfrm>
          <a:prstGeom prst="rect">
            <a:avLst/>
          </a:prstGeom>
          <a:noFill/>
          <a:ln w="12700">
            <a:noFill/>
          </a:ln>
        </p:spPr>
      </p:pic>
      <p:grpSp>
        <p:nvGrpSpPr>
          <p:cNvPr id="110607" name="Group 21"/>
          <p:cNvGrpSpPr/>
          <p:nvPr/>
        </p:nvGrpSpPr>
        <p:grpSpPr>
          <a:xfrm>
            <a:off x="6934200" y="762000"/>
            <a:ext cx="1600200" cy="914400"/>
            <a:chOff x="1248" y="720"/>
            <a:chExt cx="1296" cy="864"/>
          </a:xfrm>
        </p:grpSpPr>
        <p:grpSp>
          <p:nvGrpSpPr>
            <p:cNvPr id="110631" name="Group 22"/>
            <p:cNvGrpSpPr/>
            <p:nvPr/>
          </p:nvGrpSpPr>
          <p:grpSpPr>
            <a:xfrm>
              <a:off x="1248" y="720"/>
              <a:ext cx="1296" cy="864"/>
              <a:chOff x="2976" y="912"/>
              <a:chExt cx="960" cy="576"/>
            </a:xfrm>
          </p:grpSpPr>
          <p:sp>
            <p:nvSpPr>
              <p:cNvPr id="110633" name="Oval 23"/>
              <p:cNvSpPr/>
              <p:nvPr/>
            </p:nvSpPr>
            <p:spPr>
              <a:xfrm>
                <a:off x="2976" y="1104"/>
                <a:ext cx="576" cy="288"/>
              </a:xfrm>
              <a:prstGeom prst="ellipse">
                <a:avLst/>
              </a:prstGeom>
              <a:gradFill rotWithShape="0">
                <a:gsLst>
                  <a:gs pos="0">
                    <a:srgbClr val="CCFFCC"/>
                  </a:gs>
                  <a:gs pos="100000">
                    <a:srgbClr val="8FB38F"/>
                  </a:gs>
                </a:gsLst>
                <a:path path="shape">
                  <a:fillToRect l="50000" t="50000" r="50000" b="50000"/>
                </a:path>
                <a:tileRect/>
              </a:gradFill>
              <a:ln w="12700">
                <a:noFill/>
              </a:ln>
            </p:spPr>
            <p:txBody>
              <a:bodyPr wrap="none" anchor="ctr" anchorCtr="0"/>
              <a:p>
                <a:pPr>
                  <a:buNone/>
                </a:pPr>
                <a:endParaRPr lang="zh-CN" altLang="en-US" dirty="0">
                  <a:latin typeface="Times New Roman" panose="02020603050405020304" pitchFamily="18" charset="0"/>
                </a:endParaRPr>
              </a:p>
            </p:txBody>
          </p:sp>
          <p:sp>
            <p:nvSpPr>
              <p:cNvPr id="110634" name="Oval 24"/>
              <p:cNvSpPr/>
              <p:nvPr/>
            </p:nvSpPr>
            <p:spPr>
              <a:xfrm>
                <a:off x="2976" y="960"/>
                <a:ext cx="672" cy="336"/>
              </a:xfrm>
              <a:prstGeom prst="ellipse">
                <a:avLst/>
              </a:prstGeom>
              <a:gradFill rotWithShape="0">
                <a:gsLst>
                  <a:gs pos="0">
                    <a:srgbClr val="CCFFCC"/>
                  </a:gs>
                  <a:gs pos="100000">
                    <a:srgbClr val="8FB38F"/>
                  </a:gs>
                </a:gsLst>
                <a:path path="shape">
                  <a:fillToRect l="50000" t="50000" r="50000" b="50000"/>
                </a:path>
                <a:tileRect/>
              </a:gradFill>
              <a:ln w="12700">
                <a:noFill/>
              </a:ln>
            </p:spPr>
            <p:txBody>
              <a:bodyPr wrap="none" anchor="ctr" anchorCtr="0"/>
              <a:p>
                <a:pPr>
                  <a:buNone/>
                </a:pPr>
                <a:endParaRPr lang="zh-CN" altLang="en-US" dirty="0">
                  <a:latin typeface="Times New Roman" panose="02020603050405020304" pitchFamily="18" charset="0"/>
                </a:endParaRPr>
              </a:p>
            </p:txBody>
          </p:sp>
          <p:sp>
            <p:nvSpPr>
              <p:cNvPr id="110635" name="Oval 25"/>
              <p:cNvSpPr/>
              <p:nvPr/>
            </p:nvSpPr>
            <p:spPr>
              <a:xfrm>
                <a:off x="3120" y="1104"/>
                <a:ext cx="672" cy="384"/>
              </a:xfrm>
              <a:prstGeom prst="ellipse">
                <a:avLst/>
              </a:prstGeom>
              <a:gradFill rotWithShape="0">
                <a:gsLst>
                  <a:gs pos="0">
                    <a:srgbClr val="CCFFCC"/>
                  </a:gs>
                  <a:gs pos="100000">
                    <a:srgbClr val="8FB38F"/>
                  </a:gs>
                </a:gsLst>
                <a:path path="shape">
                  <a:fillToRect l="50000" t="50000" r="50000" b="50000"/>
                </a:path>
                <a:tileRect/>
              </a:gradFill>
              <a:ln w="12700">
                <a:noFill/>
              </a:ln>
            </p:spPr>
            <p:txBody>
              <a:bodyPr wrap="none" anchor="ctr" anchorCtr="0"/>
              <a:p>
                <a:pPr>
                  <a:buNone/>
                </a:pPr>
                <a:endParaRPr lang="zh-CN" altLang="en-US" dirty="0">
                  <a:latin typeface="Times New Roman" panose="02020603050405020304" pitchFamily="18" charset="0"/>
                </a:endParaRPr>
              </a:p>
            </p:txBody>
          </p:sp>
          <p:sp>
            <p:nvSpPr>
              <p:cNvPr id="110636" name="Oval 26"/>
              <p:cNvSpPr/>
              <p:nvPr/>
            </p:nvSpPr>
            <p:spPr>
              <a:xfrm>
                <a:off x="3216" y="912"/>
                <a:ext cx="624" cy="384"/>
              </a:xfrm>
              <a:prstGeom prst="ellipse">
                <a:avLst/>
              </a:prstGeom>
              <a:gradFill rotWithShape="0">
                <a:gsLst>
                  <a:gs pos="0">
                    <a:srgbClr val="CCFFCC"/>
                  </a:gs>
                  <a:gs pos="100000">
                    <a:srgbClr val="8FB38F"/>
                  </a:gs>
                </a:gsLst>
                <a:path path="shape">
                  <a:fillToRect l="50000" t="50000" r="50000" b="50000"/>
                </a:path>
                <a:tileRect/>
              </a:gradFill>
              <a:ln w="12700">
                <a:noFill/>
              </a:ln>
            </p:spPr>
            <p:txBody>
              <a:bodyPr wrap="none" anchor="ctr" anchorCtr="0"/>
              <a:p>
                <a:pPr>
                  <a:buNone/>
                </a:pPr>
                <a:endParaRPr lang="zh-CN" altLang="en-US" dirty="0">
                  <a:latin typeface="Times New Roman" panose="02020603050405020304" pitchFamily="18" charset="0"/>
                </a:endParaRPr>
              </a:p>
            </p:txBody>
          </p:sp>
          <p:sp>
            <p:nvSpPr>
              <p:cNvPr id="110637" name="Oval 27"/>
              <p:cNvSpPr/>
              <p:nvPr/>
            </p:nvSpPr>
            <p:spPr>
              <a:xfrm>
                <a:off x="3504" y="1104"/>
                <a:ext cx="432" cy="288"/>
              </a:xfrm>
              <a:prstGeom prst="ellipse">
                <a:avLst/>
              </a:prstGeom>
              <a:gradFill rotWithShape="0">
                <a:gsLst>
                  <a:gs pos="0">
                    <a:srgbClr val="CCFFCC"/>
                  </a:gs>
                  <a:gs pos="100000">
                    <a:srgbClr val="8FB38F"/>
                  </a:gs>
                </a:gsLst>
                <a:path path="shape">
                  <a:fillToRect l="50000" t="50000" r="50000" b="50000"/>
                </a:path>
                <a:tileRect/>
              </a:gradFill>
              <a:ln w="12700">
                <a:noFill/>
              </a:ln>
            </p:spPr>
            <p:txBody>
              <a:bodyPr wrap="none" anchor="ctr" anchorCtr="0"/>
              <a:p>
                <a:pPr>
                  <a:buNone/>
                </a:pPr>
                <a:endParaRPr lang="zh-CN" altLang="en-US" dirty="0">
                  <a:latin typeface="Times New Roman" panose="02020603050405020304" pitchFamily="18" charset="0"/>
                </a:endParaRPr>
              </a:p>
            </p:txBody>
          </p:sp>
        </p:grpSp>
        <p:sp>
          <p:nvSpPr>
            <p:cNvPr id="1794076" name="Text Box 28"/>
            <p:cNvSpPr txBox="1">
              <a:spLocks noChangeArrowheads="1"/>
            </p:cNvSpPr>
            <p:nvPr/>
          </p:nvSpPr>
          <p:spPr bwMode="auto">
            <a:xfrm>
              <a:off x="1440" y="1116"/>
              <a:ext cx="643" cy="31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99CC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eaLnBrk="0" hangingPunct="0">
                <a:buClrTx/>
                <a:buSzTx/>
                <a:buFontTx/>
                <a:buNone/>
                <a:defRPr/>
              </a:pPr>
              <a:r>
                <a:rPr kumimoji="1" lang="zh-TW" altLang="en-US" sz="1600" b="1" kern="1200" cap="none" spc="0" normalizeH="0" baseline="0" noProof="0">
                  <a:solidFill>
                    <a:schemeClr val="hlink"/>
                  </a:solidFill>
                  <a:effectLst>
                    <a:outerShdw blurRad="38100" dist="38100" dir="2700000" algn="tl">
                      <a:srgbClr val="C0C0C0"/>
                    </a:outerShdw>
                  </a:effectLst>
                  <a:latin typeface="Impact" panose="020B0806030902050204" pitchFamily="34" charset="0"/>
                  <a:ea typeface="宋体" panose="02010600030101010101" pitchFamily="2" charset="-122"/>
                  <a:cs typeface="+mn-cs"/>
                </a:rPr>
                <a:t>互联网</a:t>
              </a:r>
              <a:endParaRPr kumimoji="1" lang="zh-TW" altLang="en-US" sz="1600" b="1" kern="1200" cap="none" spc="0" normalizeH="0" baseline="0" noProof="0">
                <a:solidFill>
                  <a:schemeClr val="hlink"/>
                </a:solidFill>
                <a:effectLst>
                  <a:outerShdw blurRad="38100" dist="38100" dir="2700000" algn="tl">
                    <a:srgbClr val="C0C0C0"/>
                  </a:outerShdw>
                </a:effectLst>
                <a:latin typeface="Impact" panose="020B0806030902050204" pitchFamily="34" charset="0"/>
                <a:ea typeface="宋体" panose="02010600030101010101" pitchFamily="2" charset="-122"/>
                <a:cs typeface="+mn-cs"/>
              </a:endParaRPr>
            </a:p>
          </p:txBody>
        </p:sp>
      </p:grpSp>
      <p:pic>
        <p:nvPicPr>
          <p:cNvPr id="1794077" name="Picture 29" descr="Monitor-Red"/>
          <p:cNvPicPr>
            <a:picLocks noChangeAspect="1"/>
          </p:cNvPicPr>
          <p:nvPr/>
        </p:nvPicPr>
        <p:blipFill>
          <a:blip r:embed="rId6"/>
          <a:stretch>
            <a:fillRect/>
          </a:stretch>
        </p:blipFill>
        <p:spPr>
          <a:xfrm>
            <a:off x="4876800" y="5410200"/>
            <a:ext cx="887413" cy="914400"/>
          </a:xfrm>
          <a:prstGeom prst="rect">
            <a:avLst/>
          </a:prstGeom>
          <a:noFill/>
          <a:ln w="9525">
            <a:noFill/>
          </a:ln>
        </p:spPr>
      </p:pic>
      <p:sp>
        <p:nvSpPr>
          <p:cNvPr id="1794078" name="Freeform 30"/>
          <p:cNvSpPr/>
          <p:nvPr/>
        </p:nvSpPr>
        <p:spPr>
          <a:xfrm>
            <a:off x="5334000" y="1447800"/>
            <a:ext cx="1752600" cy="4038600"/>
          </a:xfrm>
          <a:custGeom>
            <a:avLst/>
            <a:gdLst/>
            <a:ahLst/>
            <a:cxnLst>
              <a:cxn ang="0">
                <a:pos x="0" y="2147483647"/>
              </a:cxn>
              <a:cxn ang="0">
                <a:pos x="0" y="2147483647"/>
              </a:cxn>
              <a:cxn ang="0">
                <a:pos x="2147483647" y="2147483647"/>
              </a:cxn>
              <a:cxn ang="0">
                <a:pos x="2147483647" y="2147483647"/>
              </a:cxn>
              <a:cxn ang="0">
                <a:pos x="2147483647" y="0"/>
              </a:cxn>
            </a:cxnLst>
            <a:pathLst>
              <a:path w="1104" h="2544">
                <a:moveTo>
                  <a:pt x="0" y="2544"/>
                </a:moveTo>
                <a:lnTo>
                  <a:pt x="0" y="2352"/>
                </a:lnTo>
                <a:lnTo>
                  <a:pt x="528" y="2352"/>
                </a:lnTo>
                <a:lnTo>
                  <a:pt x="528" y="576"/>
                </a:lnTo>
                <a:lnTo>
                  <a:pt x="1104" y="0"/>
                </a:lnTo>
              </a:path>
            </a:pathLst>
          </a:custGeom>
          <a:noFill/>
          <a:ln w="38100" cap="flat" cmpd="sng">
            <a:solidFill>
              <a:schemeClr val="accent2">
                <a:alpha val="100000"/>
              </a:schemeClr>
            </a:solidFill>
            <a:prstDash val="solid"/>
            <a:round/>
            <a:headEnd type="none" w="med" len="med"/>
            <a:tailEnd type="triangle" w="med" len="med"/>
          </a:ln>
        </p:spPr>
        <p:txBody>
          <a:bodyPr/>
          <a:p>
            <a:endParaRPr lang="zh-CN" altLang="en-US"/>
          </a:p>
        </p:txBody>
      </p:sp>
      <p:sp>
        <p:nvSpPr>
          <p:cNvPr id="1794079" name="Freeform 31"/>
          <p:cNvSpPr/>
          <p:nvPr/>
        </p:nvSpPr>
        <p:spPr>
          <a:xfrm>
            <a:off x="5334000" y="1447800"/>
            <a:ext cx="1828800" cy="4114800"/>
          </a:xfrm>
          <a:custGeom>
            <a:avLst/>
            <a:gdLst/>
            <a:ahLst/>
            <a:cxnLst>
              <a:cxn ang="0">
                <a:pos x="2147483647" y="0"/>
              </a:cxn>
              <a:cxn ang="0">
                <a:pos x="2147483647" y="2147483647"/>
              </a:cxn>
              <a:cxn ang="0">
                <a:pos x="2147483647" y="2147483647"/>
              </a:cxn>
              <a:cxn ang="0">
                <a:pos x="0" y="2147483647"/>
              </a:cxn>
              <a:cxn ang="0">
                <a:pos x="0" y="2147483647"/>
              </a:cxn>
            </a:cxnLst>
            <a:pathLst>
              <a:path w="1152" h="2592">
                <a:moveTo>
                  <a:pt x="1152" y="0"/>
                </a:moveTo>
                <a:lnTo>
                  <a:pt x="528" y="624"/>
                </a:lnTo>
                <a:lnTo>
                  <a:pt x="528" y="2352"/>
                </a:lnTo>
                <a:lnTo>
                  <a:pt x="0" y="2352"/>
                </a:lnTo>
                <a:lnTo>
                  <a:pt x="0" y="2592"/>
                </a:lnTo>
              </a:path>
            </a:pathLst>
          </a:custGeom>
          <a:noFill/>
          <a:ln w="38100" cap="flat" cmpd="sng">
            <a:solidFill>
              <a:schemeClr val="hlink">
                <a:alpha val="100000"/>
              </a:schemeClr>
            </a:solidFill>
            <a:prstDash val="solid"/>
            <a:round/>
            <a:headEnd type="none" w="med" len="med"/>
            <a:tailEnd type="none" w="med" len="med"/>
          </a:ln>
        </p:spPr>
        <p:txBody>
          <a:bodyPr/>
          <a:p>
            <a:endParaRPr lang="zh-CN" altLang="en-US"/>
          </a:p>
        </p:txBody>
      </p:sp>
      <p:sp>
        <p:nvSpPr>
          <p:cNvPr id="1794080" name="AutoShape 32"/>
          <p:cNvSpPr/>
          <p:nvPr/>
        </p:nvSpPr>
        <p:spPr>
          <a:xfrm>
            <a:off x="5867400" y="2895600"/>
            <a:ext cx="609600" cy="609600"/>
          </a:xfrm>
          <a:prstGeom prst="flowChartSummingJunction">
            <a:avLst/>
          </a:prstGeom>
          <a:solidFill>
            <a:srgbClr val="5F5F5F"/>
          </a:solidFill>
          <a:ln w="38100" cap="flat" cmpd="sng">
            <a:solidFill>
              <a:schemeClr val="hlink"/>
            </a:solidFill>
            <a:prstDash val="solid"/>
            <a:headEnd type="none" w="med" len="med"/>
            <a:tailEnd type="none" w="med" len="med"/>
          </a:ln>
        </p:spPr>
        <p:txBody>
          <a:bodyPr wrap="none" anchor="ctr" anchorCtr="0"/>
          <a:p>
            <a:pPr>
              <a:buNone/>
            </a:pPr>
            <a:endParaRPr lang="zh-CN" altLang="en-US" dirty="0">
              <a:latin typeface="Times New Roman" panose="02020603050405020304" pitchFamily="18" charset="0"/>
            </a:endParaRPr>
          </a:p>
        </p:txBody>
      </p:sp>
      <p:sp>
        <p:nvSpPr>
          <p:cNvPr id="1794081" name="Freeform 33"/>
          <p:cNvSpPr/>
          <p:nvPr/>
        </p:nvSpPr>
        <p:spPr>
          <a:xfrm>
            <a:off x="4267200" y="1447800"/>
            <a:ext cx="2743200" cy="4191000"/>
          </a:xfrm>
          <a:custGeom>
            <a:avLst/>
            <a:gdLst/>
            <a:ahLst/>
            <a:cxnLst>
              <a:cxn ang="0">
                <a:pos x="2147483647" y="0"/>
              </a:cxn>
              <a:cxn ang="0">
                <a:pos x="2147483647" y="2147483647"/>
              </a:cxn>
              <a:cxn ang="0">
                <a:pos x="2147483647" y="2147483647"/>
              </a:cxn>
              <a:cxn ang="0">
                <a:pos x="0" y="2147483647"/>
              </a:cxn>
              <a:cxn ang="0">
                <a:pos x="0" y="2147483647"/>
              </a:cxn>
            </a:cxnLst>
            <a:pathLst>
              <a:path w="1728" h="2640">
                <a:moveTo>
                  <a:pt x="1728" y="0"/>
                </a:moveTo>
                <a:lnTo>
                  <a:pt x="1200" y="528"/>
                </a:lnTo>
                <a:lnTo>
                  <a:pt x="1200" y="2352"/>
                </a:lnTo>
                <a:lnTo>
                  <a:pt x="0" y="2352"/>
                </a:lnTo>
                <a:lnTo>
                  <a:pt x="0" y="2640"/>
                </a:lnTo>
              </a:path>
            </a:pathLst>
          </a:custGeom>
          <a:noFill/>
          <a:ln w="38100" cap="flat" cmpd="sng">
            <a:solidFill>
              <a:srgbClr val="0000CC">
                <a:alpha val="100000"/>
              </a:srgbClr>
            </a:solidFill>
            <a:prstDash val="solid"/>
            <a:round/>
            <a:headEnd type="none" w="med" len="med"/>
            <a:tailEnd type="triangle" w="med" len="med"/>
          </a:ln>
        </p:spPr>
        <p:txBody>
          <a:bodyPr/>
          <a:p>
            <a:endParaRPr lang="zh-CN" altLang="en-US"/>
          </a:p>
        </p:txBody>
      </p:sp>
      <p:sp>
        <p:nvSpPr>
          <p:cNvPr id="1794082" name="Freeform 34"/>
          <p:cNvSpPr/>
          <p:nvPr/>
        </p:nvSpPr>
        <p:spPr>
          <a:xfrm>
            <a:off x="6172200" y="1447800"/>
            <a:ext cx="914400" cy="4114800"/>
          </a:xfrm>
          <a:custGeom>
            <a:avLst/>
            <a:gdLst/>
            <a:ahLst/>
            <a:cxnLst>
              <a:cxn ang="0">
                <a:pos x="2147483647" y="0"/>
              </a:cxn>
              <a:cxn ang="0">
                <a:pos x="0" y="2147483647"/>
              </a:cxn>
              <a:cxn ang="0">
                <a:pos x="0" y="2147483647"/>
              </a:cxn>
              <a:cxn ang="0">
                <a:pos x="2147483647" y="2147483647"/>
              </a:cxn>
              <a:cxn ang="0">
                <a:pos x="2147483647" y="2147483647"/>
              </a:cxn>
            </a:cxnLst>
            <a:pathLst>
              <a:path w="576" h="2592">
                <a:moveTo>
                  <a:pt x="576" y="0"/>
                </a:moveTo>
                <a:lnTo>
                  <a:pt x="0" y="576"/>
                </a:lnTo>
                <a:lnTo>
                  <a:pt x="0" y="2352"/>
                </a:lnTo>
                <a:lnTo>
                  <a:pt x="288" y="2352"/>
                </a:lnTo>
                <a:lnTo>
                  <a:pt x="288" y="2592"/>
                </a:lnTo>
              </a:path>
            </a:pathLst>
          </a:custGeom>
          <a:noFill/>
          <a:ln w="38100" cap="flat" cmpd="sng">
            <a:solidFill>
              <a:schemeClr val="accent2">
                <a:alpha val="100000"/>
              </a:schemeClr>
            </a:solidFill>
            <a:prstDash val="solid"/>
            <a:round/>
            <a:headEnd type="none" w="med" len="med"/>
            <a:tailEnd type="triangle" w="med" len="med"/>
          </a:ln>
        </p:spPr>
        <p:txBody>
          <a:bodyPr/>
          <a:p>
            <a:endParaRPr lang="zh-CN" altLang="en-US"/>
          </a:p>
        </p:txBody>
      </p:sp>
      <p:sp>
        <p:nvSpPr>
          <p:cNvPr id="1794083" name="Freeform 35"/>
          <p:cNvSpPr/>
          <p:nvPr/>
        </p:nvSpPr>
        <p:spPr>
          <a:xfrm>
            <a:off x="6172200" y="1447800"/>
            <a:ext cx="1752600" cy="4114800"/>
          </a:xfrm>
          <a:custGeom>
            <a:avLst/>
            <a:gdLst/>
            <a:ahLst/>
            <a:cxnLst>
              <a:cxn ang="0">
                <a:pos x="2147483647" y="0"/>
              </a:cxn>
              <a:cxn ang="0">
                <a:pos x="0" y="2147483647"/>
              </a:cxn>
              <a:cxn ang="0">
                <a:pos x="0" y="2147483647"/>
              </a:cxn>
              <a:cxn ang="0">
                <a:pos x="2147483647" y="2147483647"/>
              </a:cxn>
              <a:cxn ang="0">
                <a:pos x="2147483647" y="2147483647"/>
              </a:cxn>
            </a:cxnLst>
            <a:pathLst>
              <a:path w="1104" h="2592">
                <a:moveTo>
                  <a:pt x="576" y="0"/>
                </a:moveTo>
                <a:lnTo>
                  <a:pt x="0" y="576"/>
                </a:lnTo>
                <a:lnTo>
                  <a:pt x="0" y="2352"/>
                </a:lnTo>
                <a:lnTo>
                  <a:pt x="1104" y="2352"/>
                </a:lnTo>
                <a:lnTo>
                  <a:pt x="1104" y="2592"/>
                </a:lnTo>
              </a:path>
            </a:pathLst>
          </a:custGeom>
          <a:noFill/>
          <a:ln w="38100" cap="flat" cmpd="sng">
            <a:solidFill>
              <a:srgbClr val="FF3300">
                <a:alpha val="100000"/>
              </a:srgbClr>
            </a:solidFill>
            <a:prstDash val="solid"/>
            <a:round/>
            <a:headEnd type="none" w="med" len="med"/>
            <a:tailEnd type="triangle" w="med" len="med"/>
          </a:ln>
        </p:spPr>
        <p:txBody>
          <a:bodyPr/>
          <a:p>
            <a:endParaRPr lang="zh-CN" altLang="en-US"/>
          </a:p>
        </p:txBody>
      </p:sp>
      <p:sp>
        <p:nvSpPr>
          <p:cNvPr id="1794084" name="AutoShape 36"/>
          <p:cNvSpPr/>
          <p:nvPr/>
        </p:nvSpPr>
        <p:spPr>
          <a:xfrm>
            <a:off x="5867400" y="2895600"/>
            <a:ext cx="609600" cy="609600"/>
          </a:xfrm>
          <a:prstGeom prst="flowChartSummingJunction">
            <a:avLst/>
          </a:prstGeom>
          <a:solidFill>
            <a:srgbClr val="5F5F5F"/>
          </a:solidFill>
          <a:ln w="38100" cap="flat" cmpd="sng">
            <a:solidFill>
              <a:schemeClr val="hlink"/>
            </a:solidFill>
            <a:prstDash val="solid"/>
            <a:headEnd type="none" w="med" len="med"/>
            <a:tailEnd type="none" w="med" len="med"/>
          </a:ln>
        </p:spPr>
        <p:txBody>
          <a:bodyPr wrap="none" anchor="ctr" anchorCtr="0"/>
          <a:p>
            <a:pPr>
              <a:buNone/>
            </a:pPr>
            <a:endParaRPr lang="zh-CN" altLang="en-US" dirty="0">
              <a:latin typeface="Times New Roman" panose="02020603050405020304" pitchFamily="18" charset="0"/>
            </a:endParaRPr>
          </a:p>
        </p:txBody>
      </p:sp>
      <p:sp>
        <p:nvSpPr>
          <p:cNvPr id="1794085" name="AutoShape 37"/>
          <p:cNvSpPr/>
          <p:nvPr/>
        </p:nvSpPr>
        <p:spPr>
          <a:xfrm>
            <a:off x="5867400" y="2895600"/>
            <a:ext cx="609600" cy="609600"/>
          </a:xfrm>
          <a:prstGeom prst="flowChartSummingJunction">
            <a:avLst/>
          </a:prstGeom>
          <a:solidFill>
            <a:srgbClr val="5F5F5F"/>
          </a:solidFill>
          <a:ln w="38100" cap="flat" cmpd="sng">
            <a:solidFill>
              <a:schemeClr val="hlink"/>
            </a:solidFill>
            <a:prstDash val="solid"/>
            <a:headEnd type="none" w="med" len="med"/>
            <a:tailEnd type="none" w="med" len="med"/>
          </a:ln>
        </p:spPr>
        <p:txBody>
          <a:bodyPr wrap="none" anchor="ctr" anchorCtr="0"/>
          <a:p>
            <a:pPr>
              <a:buNone/>
            </a:pPr>
            <a:endParaRPr lang="zh-CN" altLang="en-US" dirty="0">
              <a:latin typeface="Times New Roman" panose="02020603050405020304" pitchFamily="18" charset="0"/>
            </a:endParaRPr>
          </a:p>
        </p:txBody>
      </p:sp>
      <p:sp>
        <p:nvSpPr>
          <p:cNvPr id="1794086" name="Freeform 38"/>
          <p:cNvSpPr/>
          <p:nvPr/>
        </p:nvSpPr>
        <p:spPr>
          <a:xfrm>
            <a:off x="5334000" y="1447800"/>
            <a:ext cx="1752600" cy="4038600"/>
          </a:xfrm>
          <a:custGeom>
            <a:avLst/>
            <a:gdLst/>
            <a:ahLst/>
            <a:cxnLst>
              <a:cxn ang="0">
                <a:pos x="2147483647" y="0"/>
              </a:cxn>
              <a:cxn ang="0">
                <a:pos x="2147483647" y="2147483647"/>
              </a:cxn>
              <a:cxn ang="0">
                <a:pos x="2147483647" y="2147483647"/>
              </a:cxn>
              <a:cxn ang="0">
                <a:pos x="0" y="2147483647"/>
              </a:cxn>
              <a:cxn ang="0">
                <a:pos x="0" y="2147483647"/>
              </a:cxn>
            </a:cxnLst>
            <a:pathLst>
              <a:path w="1104" h="2544">
                <a:moveTo>
                  <a:pt x="1104" y="0"/>
                </a:moveTo>
                <a:lnTo>
                  <a:pt x="528" y="576"/>
                </a:lnTo>
                <a:lnTo>
                  <a:pt x="528" y="2400"/>
                </a:lnTo>
                <a:lnTo>
                  <a:pt x="0" y="2400"/>
                </a:lnTo>
                <a:lnTo>
                  <a:pt x="0" y="2544"/>
                </a:lnTo>
              </a:path>
            </a:pathLst>
          </a:custGeom>
          <a:noFill/>
          <a:ln w="28575" cap="flat" cmpd="sng">
            <a:solidFill>
              <a:srgbClr val="6600FF">
                <a:alpha val="100000"/>
              </a:srgbClr>
            </a:solidFill>
            <a:prstDash val="solid"/>
            <a:round/>
            <a:headEnd type="none" w="med" len="med"/>
            <a:tailEnd type="triangle" w="med" len="med"/>
          </a:ln>
        </p:spPr>
        <p:txBody>
          <a:bodyPr/>
          <a:p>
            <a:endParaRPr lang="zh-CN" altLang="en-US"/>
          </a:p>
        </p:txBody>
      </p:sp>
      <p:sp>
        <p:nvSpPr>
          <p:cNvPr id="1794087" name="Text Box 39"/>
          <p:cNvSpPr txBox="1"/>
          <p:nvPr/>
        </p:nvSpPr>
        <p:spPr>
          <a:xfrm>
            <a:off x="2314575" y="4797425"/>
            <a:ext cx="1752600" cy="1006475"/>
          </a:xfrm>
          <a:prstGeom prst="rect">
            <a:avLst/>
          </a:prstGeom>
          <a:noFill/>
          <a:ln w="38100">
            <a:noFill/>
          </a:ln>
        </p:spPr>
        <p:txBody>
          <a:bodyPr>
            <a:spAutoFit/>
          </a:bodyPr>
          <a:p>
            <a:pPr algn="ctr" eaLnBrk="0" hangingPunct="0">
              <a:spcBef>
                <a:spcPct val="50000"/>
              </a:spcBef>
              <a:buFont typeface="Wingdings" panose="05000000000000000000" pitchFamily="2" charset="2"/>
              <a:buNone/>
            </a:pPr>
            <a:r>
              <a:rPr lang="zh-CN" altLang="en-US" sz="2000" dirty="0">
                <a:latin typeface="Times New Roman" panose="02020603050405020304" pitchFamily="18" charset="0"/>
              </a:rPr>
              <a:t>对内部其他主机的访问必须经过堡垒主机</a:t>
            </a:r>
            <a:endParaRPr lang="zh-CN" altLang="en-US" sz="2000" dirty="0">
              <a:latin typeface="Times New Roman" panose="02020603050405020304" pitchFamily="18" charset="0"/>
            </a:endParaRPr>
          </a:p>
        </p:txBody>
      </p:sp>
      <p:sp>
        <p:nvSpPr>
          <p:cNvPr id="1794088" name="Line 40"/>
          <p:cNvSpPr/>
          <p:nvPr/>
        </p:nvSpPr>
        <p:spPr>
          <a:xfrm flipV="1">
            <a:off x="5334000" y="5029200"/>
            <a:ext cx="0" cy="457200"/>
          </a:xfrm>
          <a:prstGeom prst="line">
            <a:avLst/>
          </a:prstGeom>
          <a:ln w="38100" cap="flat" cmpd="sng">
            <a:solidFill>
              <a:schemeClr val="accent2"/>
            </a:solidFill>
            <a:prstDash val="solid"/>
            <a:headEnd type="none" w="med" len="med"/>
            <a:tailEnd type="triangle" w="med" len="med"/>
          </a:ln>
        </p:spPr>
      </p:sp>
      <p:sp>
        <p:nvSpPr>
          <p:cNvPr id="1794089" name="Line 41"/>
          <p:cNvSpPr/>
          <p:nvPr/>
        </p:nvSpPr>
        <p:spPr>
          <a:xfrm flipH="1">
            <a:off x="4191000" y="5029200"/>
            <a:ext cx="1143000" cy="0"/>
          </a:xfrm>
          <a:prstGeom prst="line">
            <a:avLst/>
          </a:prstGeom>
          <a:ln w="38100" cap="flat" cmpd="sng">
            <a:solidFill>
              <a:schemeClr val="accent2"/>
            </a:solidFill>
            <a:prstDash val="solid"/>
            <a:headEnd type="none" w="med" len="med"/>
            <a:tailEnd type="triangle" w="med" len="med"/>
          </a:ln>
        </p:spPr>
      </p:sp>
      <p:sp>
        <p:nvSpPr>
          <p:cNvPr id="1794090" name="Line 42"/>
          <p:cNvSpPr/>
          <p:nvPr/>
        </p:nvSpPr>
        <p:spPr>
          <a:xfrm>
            <a:off x="4191000" y="5029200"/>
            <a:ext cx="0" cy="609600"/>
          </a:xfrm>
          <a:prstGeom prst="line">
            <a:avLst/>
          </a:prstGeom>
          <a:ln w="38100" cap="flat" cmpd="sng">
            <a:solidFill>
              <a:schemeClr val="accent2"/>
            </a:solidFill>
            <a:prstDash val="solid"/>
            <a:headEnd type="none" w="med" len="med"/>
            <a:tailEnd type="triangle" w="med" len="med"/>
          </a:ln>
        </p:spPr>
      </p:sp>
      <p:sp>
        <p:nvSpPr>
          <p:cNvPr id="1794091" name="Line 43"/>
          <p:cNvSpPr/>
          <p:nvPr/>
        </p:nvSpPr>
        <p:spPr>
          <a:xfrm flipV="1">
            <a:off x="5334000" y="4953000"/>
            <a:ext cx="0" cy="533400"/>
          </a:xfrm>
          <a:prstGeom prst="line">
            <a:avLst/>
          </a:prstGeom>
          <a:ln w="38100" cap="flat" cmpd="sng">
            <a:solidFill>
              <a:schemeClr val="hlink"/>
            </a:solidFill>
            <a:prstDash val="solid"/>
            <a:headEnd type="none" w="med" len="med"/>
            <a:tailEnd type="triangle" w="med" len="med"/>
          </a:ln>
        </p:spPr>
      </p:sp>
      <p:sp>
        <p:nvSpPr>
          <p:cNvPr id="1794092" name="Line 44"/>
          <p:cNvSpPr/>
          <p:nvPr/>
        </p:nvSpPr>
        <p:spPr>
          <a:xfrm>
            <a:off x="5334000" y="4953000"/>
            <a:ext cx="1295400" cy="0"/>
          </a:xfrm>
          <a:prstGeom prst="line">
            <a:avLst/>
          </a:prstGeom>
          <a:ln w="38100" cap="flat" cmpd="sng">
            <a:solidFill>
              <a:schemeClr val="hlink"/>
            </a:solidFill>
            <a:prstDash val="solid"/>
            <a:headEnd type="none" w="med" len="med"/>
            <a:tailEnd type="triangle" w="med" len="med"/>
          </a:ln>
        </p:spPr>
      </p:sp>
      <p:sp>
        <p:nvSpPr>
          <p:cNvPr id="1794093" name="Line 45"/>
          <p:cNvSpPr/>
          <p:nvPr/>
        </p:nvSpPr>
        <p:spPr>
          <a:xfrm>
            <a:off x="6629400" y="4953000"/>
            <a:ext cx="0" cy="609600"/>
          </a:xfrm>
          <a:prstGeom prst="line">
            <a:avLst/>
          </a:prstGeom>
          <a:ln w="38100" cap="flat" cmpd="sng">
            <a:solidFill>
              <a:schemeClr val="hlink"/>
            </a:solidFill>
            <a:prstDash val="solid"/>
            <a:headEnd type="none" w="med" len="med"/>
            <a:tailEnd type="triangle" w="med" len="med"/>
          </a:ln>
        </p:spPr>
      </p:sp>
      <p:sp>
        <p:nvSpPr>
          <p:cNvPr id="1794094" name="Line 46"/>
          <p:cNvSpPr/>
          <p:nvPr/>
        </p:nvSpPr>
        <p:spPr>
          <a:xfrm flipV="1">
            <a:off x="5410200" y="4800600"/>
            <a:ext cx="0" cy="685800"/>
          </a:xfrm>
          <a:prstGeom prst="line">
            <a:avLst/>
          </a:prstGeom>
          <a:ln w="38100" cap="flat" cmpd="sng">
            <a:solidFill>
              <a:srgbClr val="333333"/>
            </a:solidFill>
            <a:prstDash val="solid"/>
            <a:headEnd type="none" w="med" len="med"/>
            <a:tailEnd type="triangle" w="med" len="med"/>
          </a:ln>
        </p:spPr>
      </p:sp>
      <p:sp>
        <p:nvSpPr>
          <p:cNvPr id="1794095" name="Line 47"/>
          <p:cNvSpPr/>
          <p:nvPr/>
        </p:nvSpPr>
        <p:spPr>
          <a:xfrm>
            <a:off x="5410200" y="4800600"/>
            <a:ext cx="2590800" cy="0"/>
          </a:xfrm>
          <a:prstGeom prst="line">
            <a:avLst/>
          </a:prstGeom>
          <a:ln w="38100" cap="flat" cmpd="sng">
            <a:solidFill>
              <a:srgbClr val="333333"/>
            </a:solidFill>
            <a:prstDash val="solid"/>
            <a:headEnd type="none" w="med" len="med"/>
            <a:tailEnd type="triangle" w="med" len="med"/>
          </a:ln>
        </p:spPr>
      </p:sp>
      <p:sp>
        <p:nvSpPr>
          <p:cNvPr id="1794096" name="Line 48"/>
          <p:cNvSpPr/>
          <p:nvPr/>
        </p:nvSpPr>
        <p:spPr>
          <a:xfrm>
            <a:off x="8001000" y="4800600"/>
            <a:ext cx="0" cy="762000"/>
          </a:xfrm>
          <a:prstGeom prst="line">
            <a:avLst/>
          </a:prstGeom>
          <a:ln w="38100" cap="flat" cmpd="sng">
            <a:solidFill>
              <a:srgbClr val="333333"/>
            </a:solidFill>
            <a:prstDash val="solid"/>
            <a:headEnd type="none" w="med" len="med"/>
            <a:tailEnd type="triangle" w="med" len="med"/>
          </a:ln>
        </p:spPr>
      </p:sp>
      <p:sp>
        <p:nvSpPr>
          <p:cNvPr id="1794097" name="Text Box 49"/>
          <p:cNvSpPr txBox="1"/>
          <p:nvPr/>
        </p:nvSpPr>
        <p:spPr>
          <a:xfrm>
            <a:off x="107950" y="765175"/>
            <a:ext cx="4968875" cy="1920875"/>
          </a:xfrm>
          <a:prstGeom prst="rect">
            <a:avLst/>
          </a:prstGeom>
          <a:noFill/>
          <a:ln w="9525">
            <a:noFill/>
          </a:ln>
        </p:spPr>
        <p:txBody>
          <a:bodyPr/>
          <a:p>
            <a:pPr marL="469900" indent="-469900">
              <a:spcBef>
                <a:spcPct val="20000"/>
              </a:spcBef>
              <a:buClr>
                <a:schemeClr val="accent2"/>
              </a:buClr>
              <a:buFont typeface="Wingdings" panose="05000000000000000000" pitchFamily="2" charset="2"/>
              <a:buChar char="o"/>
            </a:pPr>
            <a:r>
              <a:rPr lang="zh-CN" altLang="en-US" sz="2400" b="1" dirty="0">
                <a:latin typeface="Verdana" panose="020B0604030504040204" pitchFamily="34" charset="0"/>
              </a:rPr>
              <a:t>缺点：</a:t>
            </a:r>
            <a:endParaRPr lang="zh-CN" altLang="en-US" sz="2400" b="1" dirty="0">
              <a:latin typeface="Verdana" panose="020B0604030504040204" pitchFamily="34" charset="0"/>
            </a:endParaRPr>
          </a:p>
          <a:p>
            <a:pPr marL="908050" lvl="1" indent="-436245" eaLnBrk="1" hangingPunct="1">
              <a:spcBef>
                <a:spcPct val="20000"/>
              </a:spcBef>
              <a:buClr>
                <a:schemeClr val="accent2"/>
              </a:buClr>
              <a:buFont typeface="Wingdings" panose="05000000000000000000" pitchFamily="2" charset="2"/>
              <a:buChar char="n"/>
            </a:pPr>
            <a:r>
              <a:rPr lang="zh-CN" altLang="en-US" sz="2000" dirty="0">
                <a:latin typeface="Verdana" panose="020B0604030504040204" pitchFamily="34" charset="0"/>
              </a:rPr>
              <a:t>堡垒主机与其他主机在同一个子网</a:t>
            </a:r>
            <a:endParaRPr lang="zh-CN" altLang="en-US" sz="2000" dirty="0">
              <a:latin typeface="Verdana" panose="020B0604030504040204" pitchFamily="34" charset="0"/>
            </a:endParaRPr>
          </a:p>
          <a:p>
            <a:pPr marL="908050" lvl="1" indent="-436245" eaLnBrk="1" hangingPunct="1">
              <a:spcBef>
                <a:spcPct val="20000"/>
              </a:spcBef>
              <a:buClr>
                <a:schemeClr val="accent2"/>
              </a:buClr>
              <a:buFont typeface="Wingdings" panose="05000000000000000000" pitchFamily="2" charset="2"/>
              <a:buChar char="n"/>
            </a:pPr>
            <a:r>
              <a:rPr lang="zh-CN" altLang="en-US" sz="2000" dirty="0">
                <a:latin typeface="Verdana" panose="020B0604030504040204" pitchFamily="34" charset="0"/>
              </a:rPr>
              <a:t>一旦堡垒主机被攻破或被越过，整个内网和    堡垒主机之间就再也没有任何阻挡。</a:t>
            </a:r>
            <a:endParaRPr lang="zh-CN" altLang="en-US" sz="2000" dirty="0">
              <a:latin typeface="Verdana" panose="020B0604030504040204" pitchFamily="34" charset="0"/>
            </a:endParaRPr>
          </a:p>
        </p:txBody>
      </p:sp>
      <p:sp>
        <p:nvSpPr>
          <p:cNvPr id="1794098" name="Text Box 50"/>
          <p:cNvSpPr txBox="1"/>
          <p:nvPr/>
        </p:nvSpPr>
        <p:spPr>
          <a:xfrm>
            <a:off x="6705600" y="2895600"/>
            <a:ext cx="2057400" cy="1311275"/>
          </a:xfrm>
          <a:prstGeom prst="rect">
            <a:avLst/>
          </a:prstGeom>
          <a:noFill/>
          <a:ln w="38100">
            <a:noFill/>
          </a:ln>
        </p:spPr>
        <p:txBody>
          <a:bodyPr>
            <a:spAutoFit/>
          </a:bodyPr>
          <a:p>
            <a:pPr eaLnBrk="0" hangingPunct="0">
              <a:spcBef>
                <a:spcPct val="50000"/>
              </a:spcBef>
              <a:buFont typeface="Wingdings" panose="05000000000000000000" pitchFamily="2" charset="2"/>
              <a:buNone/>
            </a:pPr>
            <a:r>
              <a:rPr lang="zh-CN" altLang="en-US" sz="2000" dirty="0">
                <a:latin typeface="Times New Roman" panose="02020603050405020304" pitchFamily="18" charset="0"/>
              </a:rPr>
              <a:t>不允许外部主机直接访问除堡垒主机之外的其他主机</a:t>
            </a:r>
            <a:endParaRPr lang="zh-CN" altLang="en-US" sz="2000" dirty="0">
              <a:latin typeface="Times New Roman" panose="02020603050405020304" pitchFamily="18" charset="0"/>
            </a:endParaRPr>
          </a:p>
        </p:txBody>
      </p:sp>
      <p:sp>
        <p:nvSpPr>
          <p:cNvPr id="110630" name="Text Box 51"/>
          <p:cNvSpPr txBox="1"/>
          <p:nvPr/>
        </p:nvSpPr>
        <p:spPr>
          <a:xfrm>
            <a:off x="5148263" y="2636838"/>
            <a:ext cx="1100137" cy="396875"/>
          </a:xfrm>
          <a:prstGeom prst="rect">
            <a:avLst/>
          </a:prstGeom>
          <a:noFill/>
          <a:ln w="38100">
            <a:noFill/>
          </a:ln>
        </p:spPr>
        <p:txBody>
          <a:bodyPr>
            <a:spAutoFit/>
          </a:bodyPr>
          <a:p>
            <a:pPr algn="ctr" eaLnBrk="0" hangingPunct="0">
              <a:spcBef>
                <a:spcPct val="50000"/>
              </a:spcBef>
              <a:buFont typeface="Wingdings" panose="05000000000000000000" pitchFamily="2" charset="2"/>
              <a:buNone/>
            </a:pPr>
            <a:r>
              <a:rPr lang="zh-CN" altLang="en-US" sz="2000" dirty="0">
                <a:latin typeface="Times New Roman" panose="02020603050405020304" pitchFamily="18" charset="0"/>
              </a:rPr>
              <a:t>过滤器</a:t>
            </a:r>
            <a:endParaRPr lang="zh-CN" altLang="en-US" sz="2000" dirty="0">
              <a:latin typeface="Times New Roman" panose="02020603050405020304" pitchFamily="18" charset="0"/>
            </a:endParaRPr>
          </a:p>
        </p:txBody>
      </p:sp>
    </p:spTree>
    <p:custDataLst>
      <p:tags r:id="rId7"/>
    </p:custDataLst>
  </p:cSld>
  <p:clrMapOvr>
    <a:masterClrMapping/>
  </p:clrMapOvr>
  <p:transition spd="slow" advTm="19172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794077"/>
                                        </p:tgtEl>
                                        <p:attrNameLst>
                                          <p:attrName>style.visibility</p:attrName>
                                        </p:attrNameLst>
                                      </p:cBhvr>
                                      <p:to>
                                        <p:strVal val="visible"/>
                                      </p:to>
                                    </p:set>
                                    <p:anim calcmode="lin" valueType="num">
                                      <p:cBhvr>
                                        <p:cTn id="7" dur="500" fill="hold"/>
                                        <p:tgtEl>
                                          <p:spTgt spid="1794077"/>
                                        </p:tgtEl>
                                        <p:attrNameLst>
                                          <p:attrName>ppt_w</p:attrName>
                                        </p:attrNameLst>
                                      </p:cBhvr>
                                      <p:tavLst>
                                        <p:tav tm="0">
                                          <p:val>
                                            <p:fltVal val="0.000000"/>
                                          </p:val>
                                        </p:tav>
                                        <p:tav tm="100000">
                                          <p:val>
                                            <p:strVal val="#ppt_w"/>
                                          </p:val>
                                        </p:tav>
                                      </p:tavLst>
                                    </p:anim>
                                    <p:anim calcmode="lin" valueType="num">
                                      <p:cBhvr>
                                        <p:cTn id="8" dur="500" fill="hold"/>
                                        <p:tgtEl>
                                          <p:spTgt spid="1794077"/>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794078"/>
                                        </p:tgtEl>
                                        <p:attrNameLst>
                                          <p:attrName>style.visibility</p:attrName>
                                        </p:attrNameLst>
                                      </p:cBhvr>
                                      <p:to>
                                        <p:strVal val="visible"/>
                                      </p:to>
                                    </p:set>
                                    <p:animEffect transition="in" filter="wipe(down)">
                                      <p:cBhvr>
                                        <p:cTn id="13" dur="500"/>
                                        <p:tgtEl>
                                          <p:spTgt spid="1794078"/>
                                        </p:tgtEl>
                                      </p:cBhvr>
                                    </p:animEffect>
                                  </p:childTnLst>
                                  <p:subTnLst>
                                    <p:set>
                                      <p:cBhvr override="childStyle">
                                        <p:cTn dur="1" fill="hold" display="0" masterRel="sameClick" afterEffect="1">
                                          <p:stCondLst>
                                            <p:cond evt="end" delay="0">
                                              <p:tn val="11"/>
                                            </p:cond>
                                          </p:stCondLst>
                                        </p:cTn>
                                        <p:tgtEl>
                                          <p:spTgt spid="1794078"/>
                                        </p:tgtEl>
                                        <p:attrNameLst>
                                          <p:attrName>style.visibility</p:attrName>
                                        </p:attrNameLst>
                                      </p:cBhvr>
                                      <p:to>
                                        <p:strVal val="hidden"/>
                                      </p:to>
                                    </p:set>
                                  </p:sub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794079"/>
                                        </p:tgtEl>
                                        <p:attrNameLst>
                                          <p:attrName>style.visibility</p:attrName>
                                        </p:attrNameLst>
                                      </p:cBhvr>
                                      <p:to>
                                        <p:strVal val="visible"/>
                                      </p:to>
                                    </p:set>
                                    <p:animEffect transition="in" filter="wipe(up)">
                                      <p:cBhvr>
                                        <p:cTn id="17" dur="500"/>
                                        <p:tgtEl>
                                          <p:spTgt spid="1794079"/>
                                        </p:tgtEl>
                                      </p:cBhvr>
                                    </p:animEffect>
                                  </p:childTnLst>
                                  <p:subTnLst>
                                    <p:set>
                                      <p:cBhvr override="childStyle">
                                        <p:cTn dur="1" fill="hold" display="0" masterRel="sameClick" afterEffect="1">
                                          <p:stCondLst>
                                            <p:cond evt="end" delay="0">
                                              <p:tn val="15"/>
                                            </p:cond>
                                          </p:stCondLst>
                                        </p:cTn>
                                        <p:tgtEl>
                                          <p:spTgt spid="1794079"/>
                                        </p:tgtEl>
                                        <p:attrNameLst>
                                          <p:attrName>style.visibility</p:attrName>
                                        </p:attrNameLst>
                                      </p:cBhvr>
                                      <p:to>
                                        <p:strVal val="hidden"/>
                                      </p:to>
                                    </p:set>
                                  </p:subTnLst>
                                </p:cTn>
                              </p:par>
                            </p:childTnLst>
                          </p:cTn>
                        </p:par>
                        <p:par>
                          <p:cTn id="18" fill="hold">
                            <p:stCondLst>
                              <p:cond delay="1000"/>
                            </p:stCondLst>
                            <p:childTnLst>
                              <p:par>
                                <p:cTn id="19" presetID="12" presetClass="entr" presetSubtype="2" fill="hold" grpId="0" nodeType="afterEffect">
                                  <p:stCondLst>
                                    <p:cond delay="0"/>
                                  </p:stCondLst>
                                  <p:childTnLst>
                                    <p:set>
                                      <p:cBhvr>
                                        <p:cTn id="20" dur="1" fill="hold">
                                          <p:stCondLst>
                                            <p:cond delay="0"/>
                                          </p:stCondLst>
                                        </p:cTn>
                                        <p:tgtEl>
                                          <p:spTgt spid="1794064"/>
                                        </p:tgtEl>
                                        <p:attrNameLst>
                                          <p:attrName>style.visibility</p:attrName>
                                        </p:attrNameLst>
                                      </p:cBhvr>
                                      <p:to>
                                        <p:strVal val="visible"/>
                                      </p:to>
                                    </p:set>
                                    <p:animEffect transition="in" filter="slide(fromRight)">
                                      <p:cBhvr>
                                        <p:cTn id="21" dur="500"/>
                                        <p:tgtEl>
                                          <p:spTgt spid="179406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794081"/>
                                        </p:tgtEl>
                                        <p:attrNameLst>
                                          <p:attrName>style.visibility</p:attrName>
                                        </p:attrNameLst>
                                      </p:cBhvr>
                                      <p:to>
                                        <p:strVal val="visible"/>
                                      </p:to>
                                    </p:set>
                                    <p:animEffect transition="in" filter="wipe(up)">
                                      <p:cBhvr>
                                        <p:cTn id="26" dur="500"/>
                                        <p:tgtEl>
                                          <p:spTgt spid="1794081"/>
                                        </p:tgtEl>
                                      </p:cBhvr>
                                    </p:animEffect>
                                  </p:childTnLst>
                                  <p:subTnLst>
                                    <p:set>
                                      <p:cBhvr override="childStyle">
                                        <p:cTn dur="1" fill="hold" display="0" masterRel="sameClick" afterEffect="1">
                                          <p:stCondLst>
                                            <p:cond evt="end" delay="0">
                                              <p:tn val="24"/>
                                            </p:cond>
                                          </p:stCondLst>
                                        </p:cTn>
                                        <p:tgtEl>
                                          <p:spTgt spid="1794081"/>
                                        </p:tgtEl>
                                        <p:attrNameLst>
                                          <p:attrName>style.visibility</p:attrName>
                                        </p:attrNameLst>
                                      </p:cBhvr>
                                      <p:to>
                                        <p:strVal val="hidden"/>
                                      </p:to>
                                    </p:set>
                                  </p:subTnLst>
                                </p:cTn>
                              </p:par>
                            </p:childTnLst>
                          </p:cTn>
                        </p:par>
                        <p:par>
                          <p:cTn id="27" fill="hold">
                            <p:stCondLst>
                              <p:cond delay="500"/>
                            </p:stCondLst>
                            <p:childTnLst>
                              <p:par>
                                <p:cTn id="28" presetID="23" presetClass="entr" presetSubtype="16" fill="hold" grpId="0" nodeType="afterEffect">
                                  <p:stCondLst>
                                    <p:cond delay="0"/>
                                  </p:stCondLst>
                                  <p:childTnLst>
                                    <p:set>
                                      <p:cBhvr>
                                        <p:cTn id="29" dur="1" fill="hold">
                                          <p:stCondLst>
                                            <p:cond delay="0"/>
                                          </p:stCondLst>
                                        </p:cTn>
                                        <p:tgtEl>
                                          <p:spTgt spid="1794085"/>
                                        </p:tgtEl>
                                        <p:attrNameLst>
                                          <p:attrName>style.visibility</p:attrName>
                                        </p:attrNameLst>
                                      </p:cBhvr>
                                      <p:to>
                                        <p:strVal val="visible"/>
                                      </p:to>
                                    </p:set>
                                    <p:anim calcmode="lin" valueType="num">
                                      <p:cBhvr>
                                        <p:cTn id="30" dur="500" fill="hold"/>
                                        <p:tgtEl>
                                          <p:spTgt spid="1794085"/>
                                        </p:tgtEl>
                                        <p:attrNameLst>
                                          <p:attrName>ppt_w</p:attrName>
                                        </p:attrNameLst>
                                      </p:cBhvr>
                                      <p:tavLst>
                                        <p:tav tm="0">
                                          <p:val>
                                            <p:fltVal val="0.000000"/>
                                          </p:val>
                                        </p:tav>
                                        <p:tav tm="100000">
                                          <p:val>
                                            <p:strVal val="#ppt_w"/>
                                          </p:val>
                                        </p:tav>
                                      </p:tavLst>
                                    </p:anim>
                                    <p:anim calcmode="lin" valueType="num">
                                      <p:cBhvr>
                                        <p:cTn id="31" dur="500" fill="hold"/>
                                        <p:tgtEl>
                                          <p:spTgt spid="1794085"/>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794085"/>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1794082"/>
                                        </p:tgtEl>
                                        <p:attrNameLst>
                                          <p:attrName>style.visibility</p:attrName>
                                        </p:attrNameLst>
                                      </p:cBhvr>
                                      <p:to>
                                        <p:strVal val="visible"/>
                                      </p:to>
                                    </p:set>
                                    <p:animEffect transition="in" filter="wipe(up)">
                                      <p:cBhvr>
                                        <p:cTn id="36" dur="500"/>
                                        <p:tgtEl>
                                          <p:spTgt spid="1794082"/>
                                        </p:tgtEl>
                                      </p:cBhvr>
                                    </p:animEffect>
                                  </p:childTnLst>
                                  <p:subTnLst>
                                    <p:set>
                                      <p:cBhvr override="childStyle">
                                        <p:cTn dur="1" fill="hold" display="0" masterRel="sameClick" afterEffect="1">
                                          <p:stCondLst>
                                            <p:cond evt="end" delay="0">
                                              <p:tn val="34"/>
                                            </p:cond>
                                          </p:stCondLst>
                                        </p:cTn>
                                        <p:tgtEl>
                                          <p:spTgt spid="1794082"/>
                                        </p:tgtEl>
                                        <p:attrNameLst>
                                          <p:attrName>style.visibility</p:attrName>
                                        </p:attrNameLst>
                                      </p:cBhvr>
                                      <p:to>
                                        <p:strVal val="hidden"/>
                                      </p:to>
                                    </p:set>
                                  </p:subTnLst>
                                </p:cTn>
                              </p:par>
                            </p:childTnLst>
                          </p:cTn>
                        </p:par>
                        <p:par>
                          <p:cTn id="37" fill="hold">
                            <p:stCondLst>
                              <p:cond delay="500"/>
                            </p:stCondLst>
                            <p:childTnLst>
                              <p:par>
                                <p:cTn id="38" presetID="23" presetClass="entr" presetSubtype="16" fill="hold" grpId="0" nodeType="afterEffect">
                                  <p:stCondLst>
                                    <p:cond delay="0"/>
                                  </p:stCondLst>
                                  <p:childTnLst>
                                    <p:set>
                                      <p:cBhvr>
                                        <p:cTn id="39" dur="1" fill="hold">
                                          <p:stCondLst>
                                            <p:cond delay="0"/>
                                          </p:stCondLst>
                                        </p:cTn>
                                        <p:tgtEl>
                                          <p:spTgt spid="1794080"/>
                                        </p:tgtEl>
                                        <p:attrNameLst>
                                          <p:attrName>style.visibility</p:attrName>
                                        </p:attrNameLst>
                                      </p:cBhvr>
                                      <p:to>
                                        <p:strVal val="visible"/>
                                      </p:to>
                                    </p:set>
                                    <p:anim calcmode="lin" valueType="num">
                                      <p:cBhvr>
                                        <p:cTn id="40" dur="500" fill="hold"/>
                                        <p:tgtEl>
                                          <p:spTgt spid="1794080"/>
                                        </p:tgtEl>
                                        <p:attrNameLst>
                                          <p:attrName>ppt_w</p:attrName>
                                        </p:attrNameLst>
                                      </p:cBhvr>
                                      <p:tavLst>
                                        <p:tav tm="0">
                                          <p:val>
                                            <p:fltVal val="0.000000"/>
                                          </p:val>
                                        </p:tav>
                                        <p:tav tm="100000">
                                          <p:val>
                                            <p:strVal val="#ppt_w"/>
                                          </p:val>
                                        </p:tav>
                                      </p:tavLst>
                                    </p:anim>
                                    <p:anim calcmode="lin" valueType="num">
                                      <p:cBhvr>
                                        <p:cTn id="41" dur="500" fill="hold"/>
                                        <p:tgtEl>
                                          <p:spTgt spid="1794080"/>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79408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794083"/>
                                        </p:tgtEl>
                                        <p:attrNameLst>
                                          <p:attrName>style.visibility</p:attrName>
                                        </p:attrNameLst>
                                      </p:cBhvr>
                                      <p:to>
                                        <p:strVal val="visible"/>
                                      </p:to>
                                    </p:set>
                                    <p:animEffect transition="in" filter="wipe(up)">
                                      <p:cBhvr>
                                        <p:cTn id="46" dur="500"/>
                                        <p:tgtEl>
                                          <p:spTgt spid="1794083"/>
                                        </p:tgtEl>
                                      </p:cBhvr>
                                    </p:animEffect>
                                  </p:childTnLst>
                                  <p:subTnLst>
                                    <p:set>
                                      <p:cBhvr override="childStyle">
                                        <p:cTn dur="1" fill="hold" display="0" masterRel="sameClick" afterEffect="1">
                                          <p:stCondLst>
                                            <p:cond evt="end" delay="0">
                                              <p:tn val="44"/>
                                            </p:cond>
                                          </p:stCondLst>
                                        </p:cTn>
                                        <p:tgtEl>
                                          <p:spTgt spid="1794083"/>
                                        </p:tgtEl>
                                        <p:attrNameLst>
                                          <p:attrName>style.visibility</p:attrName>
                                        </p:attrNameLst>
                                      </p:cBhvr>
                                      <p:to>
                                        <p:strVal val="hidden"/>
                                      </p:to>
                                    </p:set>
                                  </p:subTnLst>
                                </p:cTn>
                              </p:par>
                            </p:childTnLst>
                          </p:cTn>
                        </p:par>
                        <p:par>
                          <p:cTn id="47" fill="hold">
                            <p:stCondLst>
                              <p:cond delay="500"/>
                            </p:stCondLst>
                            <p:childTnLst>
                              <p:par>
                                <p:cTn id="48" presetID="23" presetClass="entr" presetSubtype="16" fill="hold" grpId="0" nodeType="afterEffect">
                                  <p:stCondLst>
                                    <p:cond delay="0"/>
                                  </p:stCondLst>
                                  <p:childTnLst>
                                    <p:set>
                                      <p:cBhvr>
                                        <p:cTn id="49" dur="1" fill="hold">
                                          <p:stCondLst>
                                            <p:cond delay="0"/>
                                          </p:stCondLst>
                                        </p:cTn>
                                        <p:tgtEl>
                                          <p:spTgt spid="1794084"/>
                                        </p:tgtEl>
                                        <p:attrNameLst>
                                          <p:attrName>style.visibility</p:attrName>
                                        </p:attrNameLst>
                                      </p:cBhvr>
                                      <p:to>
                                        <p:strVal val="visible"/>
                                      </p:to>
                                    </p:set>
                                    <p:anim calcmode="lin" valueType="num">
                                      <p:cBhvr>
                                        <p:cTn id="50" dur="500" fill="hold"/>
                                        <p:tgtEl>
                                          <p:spTgt spid="1794084"/>
                                        </p:tgtEl>
                                        <p:attrNameLst>
                                          <p:attrName>ppt_w</p:attrName>
                                        </p:attrNameLst>
                                      </p:cBhvr>
                                      <p:tavLst>
                                        <p:tav tm="0">
                                          <p:val>
                                            <p:fltVal val="0.000000"/>
                                          </p:val>
                                        </p:tav>
                                        <p:tav tm="100000">
                                          <p:val>
                                            <p:strVal val="#ppt_w"/>
                                          </p:val>
                                        </p:tav>
                                      </p:tavLst>
                                    </p:anim>
                                    <p:anim calcmode="lin" valueType="num">
                                      <p:cBhvr>
                                        <p:cTn id="51" dur="500" fill="hold"/>
                                        <p:tgtEl>
                                          <p:spTgt spid="1794084"/>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794084"/>
                                        </p:tgtEl>
                                        <p:attrNameLst>
                                          <p:attrName>style.visibility</p:attrName>
                                        </p:attrNameLst>
                                      </p:cBhvr>
                                      <p:to>
                                        <p:strVal val="hidden"/>
                                      </p:to>
                                    </p:set>
                                  </p:subTnLst>
                                </p:cTn>
                              </p:par>
                            </p:childTnLst>
                          </p:cTn>
                        </p:par>
                        <p:par>
                          <p:cTn id="52" fill="hold">
                            <p:stCondLst>
                              <p:cond delay="1000"/>
                            </p:stCondLst>
                            <p:childTnLst>
                              <p:par>
                                <p:cTn id="53" presetID="12" presetClass="entr" presetSubtype="8" fill="hold" grpId="0" nodeType="afterEffect">
                                  <p:stCondLst>
                                    <p:cond delay="0"/>
                                  </p:stCondLst>
                                  <p:childTnLst>
                                    <p:set>
                                      <p:cBhvr>
                                        <p:cTn id="54" dur="1" fill="hold">
                                          <p:stCondLst>
                                            <p:cond delay="0"/>
                                          </p:stCondLst>
                                        </p:cTn>
                                        <p:tgtEl>
                                          <p:spTgt spid="1794098"/>
                                        </p:tgtEl>
                                        <p:attrNameLst>
                                          <p:attrName>style.visibility</p:attrName>
                                        </p:attrNameLst>
                                      </p:cBhvr>
                                      <p:to>
                                        <p:strVal val="visible"/>
                                      </p:to>
                                    </p:set>
                                    <p:animEffect transition="in" filter="slide(fromLeft)">
                                      <p:cBhvr>
                                        <p:cTn id="55" dur="500"/>
                                        <p:tgtEl>
                                          <p:spTgt spid="179409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1794086"/>
                                        </p:tgtEl>
                                        <p:attrNameLst>
                                          <p:attrName>style.visibility</p:attrName>
                                        </p:attrNameLst>
                                      </p:cBhvr>
                                      <p:to>
                                        <p:strVal val="visible"/>
                                      </p:to>
                                    </p:set>
                                    <p:animEffect transition="in" filter="wipe(up)">
                                      <p:cBhvr>
                                        <p:cTn id="60" dur="500"/>
                                        <p:tgtEl>
                                          <p:spTgt spid="179408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1794088"/>
                                        </p:tgtEl>
                                        <p:attrNameLst>
                                          <p:attrName>style.visibility</p:attrName>
                                        </p:attrNameLst>
                                      </p:cBhvr>
                                      <p:to>
                                        <p:strVal val="visible"/>
                                      </p:to>
                                    </p:set>
                                    <p:animEffect transition="in" filter="wipe(down)">
                                      <p:cBhvr>
                                        <p:cTn id="65" dur="500"/>
                                        <p:tgtEl>
                                          <p:spTgt spid="1794088"/>
                                        </p:tgtEl>
                                      </p:cBhvr>
                                    </p:animEffect>
                                  </p:childTnLst>
                                </p:cTn>
                              </p:par>
                            </p:childTnLst>
                          </p:cTn>
                        </p:par>
                        <p:par>
                          <p:cTn id="66" fill="hold">
                            <p:stCondLst>
                              <p:cond delay="500"/>
                            </p:stCondLst>
                            <p:childTnLst>
                              <p:par>
                                <p:cTn id="67" presetID="22" presetClass="entr" presetSubtype="2" fill="hold" nodeType="afterEffect">
                                  <p:stCondLst>
                                    <p:cond delay="0"/>
                                  </p:stCondLst>
                                  <p:childTnLst>
                                    <p:set>
                                      <p:cBhvr>
                                        <p:cTn id="68" dur="1" fill="hold">
                                          <p:stCondLst>
                                            <p:cond delay="0"/>
                                          </p:stCondLst>
                                        </p:cTn>
                                        <p:tgtEl>
                                          <p:spTgt spid="1794089"/>
                                        </p:tgtEl>
                                        <p:attrNameLst>
                                          <p:attrName>style.visibility</p:attrName>
                                        </p:attrNameLst>
                                      </p:cBhvr>
                                      <p:to>
                                        <p:strVal val="visible"/>
                                      </p:to>
                                    </p:set>
                                    <p:animEffect transition="in" filter="wipe(right)">
                                      <p:cBhvr>
                                        <p:cTn id="69" dur="500"/>
                                        <p:tgtEl>
                                          <p:spTgt spid="1794089"/>
                                        </p:tgtEl>
                                      </p:cBhvr>
                                    </p:animEffect>
                                  </p:childTnLst>
                                </p:cTn>
                              </p:par>
                            </p:childTnLst>
                          </p:cTn>
                        </p:par>
                        <p:par>
                          <p:cTn id="70" fill="hold">
                            <p:stCondLst>
                              <p:cond delay="1000"/>
                            </p:stCondLst>
                            <p:childTnLst>
                              <p:par>
                                <p:cTn id="71" presetID="22" presetClass="entr" presetSubtype="1" fill="hold" nodeType="afterEffect">
                                  <p:stCondLst>
                                    <p:cond delay="0"/>
                                  </p:stCondLst>
                                  <p:childTnLst>
                                    <p:set>
                                      <p:cBhvr>
                                        <p:cTn id="72" dur="1" fill="hold">
                                          <p:stCondLst>
                                            <p:cond delay="0"/>
                                          </p:stCondLst>
                                        </p:cTn>
                                        <p:tgtEl>
                                          <p:spTgt spid="1794090"/>
                                        </p:tgtEl>
                                        <p:attrNameLst>
                                          <p:attrName>style.visibility</p:attrName>
                                        </p:attrNameLst>
                                      </p:cBhvr>
                                      <p:to>
                                        <p:strVal val="visible"/>
                                      </p:to>
                                    </p:set>
                                    <p:animEffect transition="in" filter="wipe(up)">
                                      <p:cBhvr>
                                        <p:cTn id="73" dur="500"/>
                                        <p:tgtEl>
                                          <p:spTgt spid="1794090"/>
                                        </p:tgtEl>
                                      </p:cBhvr>
                                    </p:animEffect>
                                  </p:childTnLst>
                                </p:cTn>
                              </p:par>
                            </p:childTnLst>
                          </p:cTn>
                        </p:par>
                        <p:par>
                          <p:cTn id="74" fill="hold">
                            <p:stCondLst>
                              <p:cond delay="1500"/>
                            </p:stCondLst>
                            <p:childTnLst>
                              <p:par>
                                <p:cTn id="75" presetID="22" presetClass="entr" presetSubtype="4" fill="hold" nodeType="afterEffect">
                                  <p:stCondLst>
                                    <p:cond delay="0"/>
                                  </p:stCondLst>
                                  <p:childTnLst>
                                    <p:set>
                                      <p:cBhvr>
                                        <p:cTn id="76" dur="1" fill="hold">
                                          <p:stCondLst>
                                            <p:cond delay="0"/>
                                          </p:stCondLst>
                                        </p:cTn>
                                        <p:tgtEl>
                                          <p:spTgt spid="1794091"/>
                                        </p:tgtEl>
                                        <p:attrNameLst>
                                          <p:attrName>style.visibility</p:attrName>
                                        </p:attrNameLst>
                                      </p:cBhvr>
                                      <p:to>
                                        <p:strVal val="visible"/>
                                      </p:to>
                                    </p:set>
                                    <p:animEffect transition="in" filter="wipe(down)">
                                      <p:cBhvr>
                                        <p:cTn id="77" dur="500"/>
                                        <p:tgtEl>
                                          <p:spTgt spid="1794091"/>
                                        </p:tgtEl>
                                      </p:cBhvr>
                                    </p:animEffect>
                                  </p:childTnLst>
                                </p:cTn>
                              </p:par>
                            </p:childTnLst>
                          </p:cTn>
                        </p:par>
                        <p:par>
                          <p:cTn id="78" fill="hold">
                            <p:stCondLst>
                              <p:cond delay="2000"/>
                            </p:stCondLst>
                            <p:childTnLst>
                              <p:par>
                                <p:cTn id="79" presetID="22" presetClass="entr" presetSubtype="8" fill="hold" nodeType="afterEffect">
                                  <p:stCondLst>
                                    <p:cond delay="0"/>
                                  </p:stCondLst>
                                  <p:childTnLst>
                                    <p:set>
                                      <p:cBhvr>
                                        <p:cTn id="80" dur="1" fill="hold">
                                          <p:stCondLst>
                                            <p:cond delay="0"/>
                                          </p:stCondLst>
                                        </p:cTn>
                                        <p:tgtEl>
                                          <p:spTgt spid="1794092"/>
                                        </p:tgtEl>
                                        <p:attrNameLst>
                                          <p:attrName>style.visibility</p:attrName>
                                        </p:attrNameLst>
                                      </p:cBhvr>
                                      <p:to>
                                        <p:strVal val="visible"/>
                                      </p:to>
                                    </p:set>
                                    <p:animEffect transition="in" filter="wipe(left)">
                                      <p:cBhvr>
                                        <p:cTn id="81" dur="500"/>
                                        <p:tgtEl>
                                          <p:spTgt spid="1794092"/>
                                        </p:tgtEl>
                                      </p:cBhvr>
                                    </p:animEffect>
                                  </p:childTnLst>
                                </p:cTn>
                              </p:par>
                            </p:childTnLst>
                          </p:cTn>
                        </p:par>
                        <p:par>
                          <p:cTn id="82" fill="hold">
                            <p:stCondLst>
                              <p:cond delay="2500"/>
                            </p:stCondLst>
                            <p:childTnLst>
                              <p:par>
                                <p:cTn id="83" presetID="22" presetClass="entr" presetSubtype="1" fill="hold" nodeType="afterEffect">
                                  <p:stCondLst>
                                    <p:cond delay="0"/>
                                  </p:stCondLst>
                                  <p:childTnLst>
                                    <p:set>
                                      <p:cBhvr>
                                        <p:cTn id="84" dur="1" fill="hold">
                                          <p:stCondLst>
                                            <p:cond delay="0"/>
                                          </p:stCondLst>
                                        </p:cTn>
                                        <p:tgtEl>
                                          <p:spTgt spid="1794093"/>
                                        </p:tgtEl>
                                        <p:attrNameLst>
                                          <p:attrName>style.visibility</p:attrName>
                                        </p:attrNameLst>
                                      </p:cBhvr>
                                      <p:to>
                                        <p:strVal val="visible"/>
                                      </p:to>
                                    </p:set>
                                    <p:animEffect transition="in" filter="wipe(up)">
                                      <p:cBhvr>
                                        <p:cTn id="85" dur="500"/>
                                        <p:tgtEl>
                                          <p:spTgt spid="1794093"/>
                                        </p:tgtEl>
                                      </p:cBhvr>
                                    </p:animEffect>
                                  </p:childTnLst>
                                </p:cTn>
                              </p:par>
                            </p:childTnLst>
                          </p:cTn>
                        </p:par>
                        <p:par>
                          <p:cTn id="86" fill="hold">
                            <p:stCondLst>
                              <p:cond delay="3000"/>
                            </p:stCondLst>
                            <p:childTnLst>
                              <p:par>
                                <p:cTn id="87" presetID="22" presetClass="entr" presetSubtype="4" fill="hold" nodeType="afterEffect">
                                  <p:stCondLst>
                                    <p:cond delay="0"/>
                                  </p:stCondLst>
                                  <p:childTnLst>
                                    <p:set>
                                      <p:cBhvr>
                                        <p:cTn id="88" dur="1" fill="hold">
                                          <p:stCondLst>
                                            <p:cond delay="0"/>
                                          </p:stCondLst>
                                        </p:cTn>
                                        <p:tgtEl>
                                          <p:spTgt spid="1794094"/>
                                        </p:tgtEl>
                                        <p:attrNameLst>
                                          <p:attrName>style.visibility</p:attrName>
                                        </p:attrNameLst>
                                      </p:cBhvr>
                                      <p:to>
                                        <p:strVal val="visible"/>
                                      </p:to>
                                    </p:set>
                                    <p:animEffect transition="in" filter="wipe(down)">
                                      <p:cBhvr>
                                        <p:cTn id="89" dur="500"/>
                                        <p:tgtEl>
                                          <p:spTgt spid="1794094"/>
                                        </p:tgtEl>
                                      </p:cBhvr>
                                    </p:animEffect>
                                  </p:childTnLst>
                                </p:cTn>
                              </p:par>
                            </p:childTnLst>
                          </p:cTn>
                        </p:par>
                        <p:par>
                          <p:cTn id="90" fill="hold">
                            <p:stCondLst>
                              <p:cond delay="3500"/>
                            </p:stCondLst>
                            <p:childTnLst>
                              <p:par>
                                <p:cTn id="91" presetID="22" presetClass="entr" presetSubtype="8" fill="hold" nodeType="afterEffect">
                                  <p:stCondLst>
                                    <p:cond delay="0"/>
                                  </p:stCondLst>
                                  <p:childTnLst>
                                    <p:set>
                                      <p:cBhvr>
                                        <p:cTn id="92" dur="1" fill="hold">
                                          <p:stCondLst>
                                            <p:cond delay="0"/>
                                          </p:stCondLst>
                                        </p:cTn>
                                        <p:tgtEl>
                                          <p:spTgt spid="1794095"/>
                                        </p:tgtEl>
                                        <p:attrNameLst>
                                          <p:attrName>style.visibility</p:attrName>
                                        </p:attrNameLst>
                                      </p:cBhvr>
                                      <p:to>
                                        <p:strVal val="visible"/>
                                      </p:to>
                                    </p:set>
                                    <p:animEffect transition="in" filter="wipe(left)">
                                      <p:cBhvr>
                                        <p:cTn id="93" dur="500"/>
                                        <p:tgtEl>
                                          <p:spTgt spid="1794095"/>
                                        </p:tgtEl>
                                      </p:cBhvr>
                                    </p:animEffect>
                                  </p:childTnLst>
                                </p:cTn>
                              </p:par>
                            </p:childTnLst>
                          </p:cTn>
                        </p:par>
                        <p:par>
                          <p:cTn id="94" fill="hold">
                            <p:stCondLst>
                              <p:cond delay="4000"/>
                            </p:stCondLst>
                            <p:childTnLst>
                              <p:par>
                                <p:cTn id="95" presetID="22" presetClass="entr" presetSubtype="1" fill="hold" nodeType="afterEffect">
                                  <p:stCondLst>
                                    <p:cond delay="0"/>
                                  </p:stCondLst>
                                  <p:childTnLst>
                                    <p:set>
                                      <p:cBhvr>
                                        <p:cTn id="96" dur="1" fill="hold">
                                          <p:stCondLst>
                                            <p:cond delay="0"/>
                                          </p:stCondLst>
                                        </p:cTn>
                                        <p:tgtEl>
                                          <p:spTgt spid="1794096"/>
                                        </p:tgtEl>
                                        <p:attrNameLst>
                                          <p:attrName>style.visibility</p:attrName>
                                        </p:attrNameLst>
                                      </p:cBhvr>
                                      <p:to>
                                        <p:strVal val="visible"/>
                                      </p:to>
                                    </p:set>
                                    <p:animEffect transition="in" filter="wipe(up)">
                                      <p:cBhvr>
                                        <p:cTn id="97" dur="500"/>
                                        <p:tgtEl>
                                          <p:spTgt spid="1794096"/>
                                        </p:tgtEl>
                                      </p:cBhvr>
                                    </p:animEffect>
                                  </p:childTnLst>
                                </p:cTn>
                              </p:par>
                            </p:childTnLst>
                          </p:cTn>
                        </p:par>
                        <p:par>
                          <p:cTn id="98" fill="hold">
                            <p:stCondLst>
                              <p:cond delay="4500"/>
                            </p:stCondLst>
                            <p:childTnLst>
                              <p:par>
                                <p:cTn id="99" presetID="12" presetClass="entr" presetSubtype="2" fill="hold" grpId="0" nodeType="afterEffect">
                                  <p:stCondLst>
                                    <p:cond delay="0"/>
                                  </p:stCondLst>
                                  <p:childTnLst>
                                    <p:set>
                                      <p:cBhvr>
                                        <p:cTn id="100" dur="1" fill="hold">
                                          <p:stCondLst>
                                            <p:cond delay="0"/>
                                          </p:stCondLst>
                                        </p:cTn>
                                        <p:tgtEl>
                                          <p:spTgt spid="1794087"/>
                                        </p:tgtEl>
                                        <p:attrNameLst>
                                          <p:attrName>style.visibility</p:attrName>
                                        </p:attrNameLst>
                                      </p:cBhvr>
                                      <p:to>
                                        <p:strVal val="visible"/>
                                      </p:to>
                                    </p:set>
                                    <p:animEffect transition="in" filter="slide(fromRight)">
                                      <p:cBhvr>
                                        <p:cTn id="101" dur="500"/>
                                        <p:tgtEl>
                                          <p:spTgt spid="1794087"/>
                                        </p:tgtEl>
                                      </p:cBhvr>
                                    </p:animEffect>
                                  </p:childTnLst>
                                </p:cTn>
                              </p:par>
                            </p:childTnLst>
                          </p:cTn>
                        </p:par>
                        <p:par>
                          <p:cTn id="102" fill="hold">
                            <p:stCondLst>
                              <p:cond delay="5000"/>
                            </p:stCondLst>
                            <p:childTnLst>
                              <p:par>
                                <p:cTn id="103" presetID="23" presetClass="entr" presetSubtype="16" fill="hold" grpId="0" nodeType="afterEffect">
                                  <p:stCondLst>
                                    <p:cond delay="0"/>
                                  </p:stCondLst>
                                  <p:childTnLst>
                                    <p:set>
                                      <p:cBhvr>
                                        <p:cTn id="104" dur="1" fill="hold">
                                          <p:stCondLst>
                                            <p:cond delay="0"/>
                                          </p:stCondLst>
                                        </p:cTn>
                                        <p:tgtEl>
                                          <p:spTgt spid="1794097"/>
                                        </p:tgtEl>
                                        <p:attrNameLst>
                                          <p:attrName>style.visibility</p:attrName>
                                        </p:attrNameLst>
                                      </p:cBhvr>
                                      <p:to>
                                        <p:strVal val="visible"/>
                                      </p:to>
                                    </p:set>
                                    <p:anim calcmode="lin" valueType="num">
                                      <p:cBhvr>
                                        <p:cTn id="105" dur="500" fill="hold"/>
                                        <p:tgtEl>
                                          <p:spTgt spid="1794097"/>
                                        </p:tgtEl>
                                        <p:attrNameLst>
                                          <p:attrName>ppt_w</p:attrName>
                                        </p:attrNameLst>
                                      </p:cBhvr>
                                      <p:tavLst>
                                        <p:tav tm="0">
                                          <p:val>
                                            <p:fltVal val="0.000000"/>
                                          </p:val>
                                        </p:tav>
                                        <p:tav tm="100000">
                                          <p:val>
                                            <p:strVal val="#ppt_w"/>
                                          </p:val>
                                        </p:tav>
                                      </p:tavLst>
                                    </p:anim>
                                    <p:anim calcmode="lin" valueType="num">
                                      <p:cBhvr>
                                        <p:cTn id="106" dur="500" fill="hold"/>
                                        <p:tgtEl>
                                          <p:spTgt spid="1794097"/>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4064" grpId="0"/>
      <p:bldP spid="1794080" grpId="0" bldLvl="0" animBg="1"/>
      <p:bldP spid="1794084" grpId="0" bldLvl="0" animBg="1"/>
      <p:bldP spid="1794085" grpId="0" bldLvl="0" animBg="1"/>
      <p:bldP spid="1794087" grpId="0"/>
      <p:bldP spid="1794097" grpId="0"/>
      <p:bldP spid="1794098"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3"/>
          <p:cNvSpPr>
            <a:spLocks noGrp="1"/>
          </p:cNvSpPr>
          <p:nvPr>
            <p:ph type="dt" sz="quarter" idx="4294967295"/>
          </p:nvPr>
        </p:nvSpPr>
        <p:spPr>
          <a:xfrm>
            <a:off x="685800" y="6248400"/>
            <a:ext cx="1905000" cy="45720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3ECF2438-3280-41A1-B90E-4C726EAC8580}"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109571"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C3A4E7F0-6D07-46AA-AF87-488E0A93E5C0}"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109572" name="Rectangle 2"/>
          <p:cNvSpPr>
            <a:spLocks noGrp="1" noChangeArrowheads="1"/>
          </p:cNvSpPr>
          <p:nvPr>
            <p:ph type="title"/>
          </p:nvPr>
        </p:nvSpPr>
        <p:spPr/>
        <p:txBody>
          <a:bodyPr/>
          <a:lstStyle/>
          <a:p>
            <a:pPr eaLnBrk="1" hangingPunct="1"/>
            <a:r>
              <a:rPr lang="zh-CN" altLang="en-US" dirty="0" smtClean="0"/>
              <a:t>屏蔽主机模式</a:t>
            </a:r>
            <a:endParaRPr lang="en-US" altLang="zh-CN" dirty="0" smtClean="0"/>
          </a:p>
        </p:txBody>
      </p:sp>
      <p:sp>
        <p:nvSpPr>
          <p:cNvPr id="109573" name="Rectangle 3"/>
          <p:cNvSpPr>
            <a:spLocks noGrp="1" noChangeArrowheads="1"/>
          </p:cNvSpPr>
          <p:nvPr>
            <p:ph type="body" idx="1"/>
          </p:nvPr>
        </p:nvSpPr>
        <p:spPr>
          <a:xfrm>
            <a:off x="566738" y="1752600"/>
            <a:ext cx="8253412" cy="4267200"/>
          </a:xfrm>
        </p:spPr>
        <p:txBody>
          <a:bodyPr/>
          <a:lstStyle/>
          <a:p>
            <a:r>
              <a:rPr lang="zh-CN" altLang="zh-CN" sz="2800" dirty="0"/>
              <a:t>一般说来，路由器只提供非常有限的服务，所以保卫路由器比保卫主机更容易实现，从这一点可以看出，被屏蔽主机结构能提供比双宿主主机更好的安全性和可用性。</a:t>
            </a:r>
            <a:endParaRPr lang="zh-CN" altLang="zh-CN" sz="2800" dirty="0"/>
          </a:p>
          <a:p>
            <a:r>
              <a:rPr lang="zh-CN" altLang="zh-CN" sz="2800" dirty="0"/>
              <a:t>但是，如果侵袭者设法侵入堡垒主机，则在堡垒主机和其余内部主机之间没有任何保护网络安全的东西。路由器同样会出现这样的问题，如果路由器被损害，整个网络对侵袭者是开放的。因此，被屏蔽子网体系结构变得日益普及。</a:t>
            </a:r>
            <a:endParaRPr lang="zh-CN" altLang="zh-CN" sz="2800" dirty="0"/>
          </a:p>
        </p:txBody>
      </p:sp>
    </p:spTree>
  </p:cSld>
  <p:clrMapOvr>
    <a:masterClrMapping/>
  </p:clrMapOvr>
  <p:transition spd="slow"/>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日期占位符 3"/>
          <p:cNvSpPr txBox="1">
            <a:spLocks noGrp="1"/>
          </p:cNvSpPr>
          <p:nvPr>
            <p:ph type="dt" sz="half" idx="10"/>
          </p:nvPr>
        </p:nvSpPr>
        <p:spPr>
          <a:xfrm>
            <a:off x="685800" y="6248400"/>
            <a:ext cx="1905000" cy="45720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400" dirty="0">
                <a:latin typeface="Verdana" panose="020B0604030504040204" pitchFamily="34" charset="0"/>
              </a:rPr>
            </a:fld>
            <a:endParaRPr lang="zh-CN" altLang="en-US" sz="1400" dirty="0">
              <a:latin typeface="Verdana" panose="020B0604030504040204" pitchFamily="34" charset="0"/>
            </a:endParaRPr>
          </a:p>
        </p:txBody>
      </p:sp>
      <p:sp>
        <p:nvSpPr>
          <p:cNvPr id="111619" name="页脚占位符 4"/>
          <p:cNvSpPr txBox="1">
            <a:spLocks noGrp="1"/>
          </p:cNvSpPr>
          <p:nvPr>
            <p:ph type="ftr" sz="quarter" idx="11"/>
          </p:nvPr>
        </p:nvSpPr>
        <p:spPr>
          <a:xfrm>
            <a:off x="3124200" y="6245225"/>
            <a:ext cx="28956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1400" dirty="0">
                <a:latin typeface="Verdana" panose="020B0604030504040204" pitchFamily="34" charset="0"/>
              </a:rPr>
              <a:t>网络入侵与防范讲义</a:t>
            </a:r>
            <a:endParaRPr lang="en-US" altLang="zh-CN" sz="1400" dirty="0">
              <a:latin typeface="Verdana" panose="020B0604030504040204" pitchFamily="34" charset="0"/>
            </a:endParaRPr>
          </a:p>
        </p:txBody>
      </p:sp>
      <p:sp>
        <p:nvSpPr>
          <p:cNvPr id="111620" name="灯片编号占位符 5"/>
          <p:cNvSpPr txBox="1">
            <a:spLocks noGrp="1"/>
          </p:cNvSpPr>
          <p:nvPr>
            <p:ph type="sldNum" sz="quarter" idx="12"/>
          </p:nvPr>
        </p:nvSpPr>
        <p:spPr>
          <a:xfrm>
            <a:off x="6553200" y="6245225"/>
            <a:ext cx="1981200" cy="476250"/>
          </a:xfrm>
        </p:spPr>
        <p: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en-US" altLang="zh-CN" sz="1400" dirty="0">
                <a:latin typeface="Verdana" panose="020B0604030504040204" pitchFamily="34" charset="0"/>
              </a:rPr>
            </a:fld>
            <a:endParaRPr lang="en-US" altLang="zh-CN" sz="1400" dirty="0">
              <a:latin typeface="Verdana" panose="020B0604030504040204" pitchFamily="34" charset="0"/>
            </a:endParaRPr>
          </a:p>
        </p:txBody>
      </p:sp>
      <p:sp>
        <p:nvSpPr>
          <p:cNvPr id="111621" name="Rectangle 2"/>
          <p:cNvSpPr>
            <a:spLocks noGrp="1"/>
          </p:cNvSpPr>
          <p:nvPr>
            <p:ph type="title"/>
          </p:nvPr>
        </p:nvSpPr>
        <p:spPr/>
        <p:txBody>
          <a:bodyPr vert="horz" wrap="square" lIns="91440" tIns="45720" rIns="91440" bIns="45720" anchor="ctr" anchorCtr="0"/>
          <a:p>
            <a:pPr eaLnBrk="1" hangingPunct="1"/>
            <a:r>
              <a:rPr lang="zh-CN" altLang="en-US" dirty="0"/>
              <a:t>屏蔽子网模式</a:t>
            </a:r>
            <a:endParaRPr lang="zh-CN" altLang="en-US" dirty="0"/>
          </a:p>
        </p:txBody>
      </p:sp>
      <p:sp>
        <p:nvSpPr>
          <p:cNvPr id="111622" name="Rectangle 3"/>
          <p:cNvSpPr>
            <a:spLocks noGrp="1"/>
          </p:cNvSpPr>
          <p:nvPr>
            <p:ph idx="1"/>
          </p:nvPr>
        </p:nvSpPr>
        <p:spPr>
          <a:xfrm>
            <a:off x="684213" y="1557338"/>
            <a:ext cx="7772400" cy="4114800"/>
          </a:xfrm>
        </p:spPr>
        <p:txBody>
          <a:bodyPr vert="horz" wrap="square" lIns="91440" tIns="45720" rIns="91440" bIns="45720" anchor="t" anchorCtr="0"/>
          <a:p>
            <a:pPr eaLnBrk="1" hangingPunct="1"/>
            <a:r>
              <a:rPr lang="zh-CN" altLang="en-US" dirty="0"/>
              <a:t>屏蔽子网防火墙是目前较流行的一种结构，采用了两个包过滤路由器和一个堡垒主机，在内外网络之间建立了一个被隔离的子网，定义为</a:t>
            </a:r>
            <a:r>
              <a:rPr lang="en-US" altLang="zh-CN" dirty="0"/>
              <a:t>DMZ</a:t>
            </a:r>
            <a:r>
              <a:rPr lang="zh-CN" altLang="en-US" dirty="0"/>
              <a:t>（非军事区、隔离区）。</a:t>
            </a:r>
            <a:endParaRPr lang="zh-CN" altLang="en-US" dirty="0"/>
          </a:p>
        </p:txBody>
      </p:sp>
      <p:pic>
        <p:nvPicPr>
          <p:cNvPr id="111623" name="Picture 4" descr="subnet"/>
          <p:cNvPicPr>
            <a:picLocks noChangeAspect="1"/>
          </p:cNvPicPr>
          <p:nvPr/>
        </p:nvPicPr>
        <p:blipFill>
          <a:blip r:embed="rId1"/>
          <a:srcRect t="18770" b="22206"/>
          <a:stretch>
            <a:fillRect/>
          </a:stretch>
        </p:blipFill>
        <p:spPr>
          <a:xfrm>
            <a:off x="1585913" y="4149725"/>
            <a:ext cx="6332537" cy="2590800"/>
          </a:xfrm>
          <a:prstGeom prst="rect">
            <a:avLst/>
          </a:prstGeom>
          <a:noFill/>
          <a:ln w="9525">
            <a:noFill/>
          </a:ln>
        </p:spPr>
      </p:pic>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日期占位符 3"/>
          <p:cNvSpPr>
            <a:spLocks noGrp="1"/>
          </p:cNvSpPr>
          <p:nvPr>
            <p:ph type="dt" sz="quarter" idx="4294967295"/>
          </p:nvPr>
        </p:nvSpPr>
        <p:spPr>
          <a:xfrm>
            <a:off x="685800" y="6248400"/>
            <a:ext cx="1905000" cy="45720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61DC4E36-B606-4BBF-8269-0BD4CD39D65A}" type="datetime1">
              <a:rPr lang="zh-CN" altLang="en-US" sz="1400">
                <a:latin typeface="Verdana" panose="020B0604030504040204" pitchFamily="34" charset="0"/>
              </a:rPr>
            </a:fld>
            <a:endParaRPr lang="en-US" altLang="zh-CN" sz="1400">
              <a:latin typeface="Verdana" panose="020B0604030504040204" pitchFamily="34" charset="0"/>
            </a:endParaRPr>
          </a:p>
        </p:txBody>
      </p:sp>
      <p:sp>
        <p:nvSpPr>
          <p:cNvPr id="115715" name="灯片编号占位符 5"/>
          <p:cNvSpPr>
            <a:spLocks noGrp="1"/>
          </p:cNvSpPr>
          <p:nvPr>
            <p:ph type="sldNum" sz="quarter" idx="4294967295"/>
          </p:nvPr>
        </p:nvSpPr>
        <p:spPr>
          <a:xfrm>
            <a:off x="6553200" y="6245225"/>
            <a:ext cx="1981200" cy="476250"/>
          </a:xfrm>
          <a:prstGeom prst="rect">
            <a:avLst/>
          </a:prstGeo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BA77D008-7C52-4366-B111-7C2E859CF5D7}" type="slidenum">
              <a:rPr lang="en-US" altLang="zh-CN" sz="1400">
                <a:latin typeface="Verdana" panose="020B0604030504040204" pitchFamily="34" charset="0"/>
              </a:rPr>
            </a:fld>
            <a:endParaRPr lang="en-US" altLang="zh-CN" sz="1400">
              <a:latin typeface="Verdana" panose="020B0604030504040204" pitchFamily="34" charset="0"/>
            </a:endParaRPr>
          </a:p>
        </p:txBody>
      </p:sp>
      <p:sp>
        <p:nvSpPr>
          <p:cNvPr id="115716" name="Rectangle 2"/>
          <p:cNvSpPr>
            <a:spLocks noGrp="1" noChangeArrowheads="1"/>
          </p:cNvSpPr>
          <p:nvPr>
            <p:ph type="title"/>
          </p:nvPr>
        </p:nvSpPr>
        <p:spPr/>
        <p:txBody>
          <a:bodyPr/>
          <a:lstStyle/>
          <a:p>
            <a:pPr eaLnBrk="1" hangingPunct="1"/>
            <a:r>
              <a:rPr lang="zh-CN" altLang="en-US" smtClean="0"/>
              <a:t>屏蔽子网模式</a:t>
            </a:r>
            <a:r>
              <a:rPr lang="en-US" altLang="zh-CN" smtClean="0"/>
              <a:t>(cont.)</a:t>
            </a:r>
            <a:endParaRPr lang="en-US" altLang="zh-CN" smtClean="0"/>
          </a:p>
        </p:txBody>
      </p:sp>
      <p:sp>
        <p:nvSpPr>
          <p:cNvPr id="115717" name="Rectangle 3"/>
          <p:cNvSpPr>
            <a:spLocks noGrp="1" noChangeArrowheads="1"/>
          </p:cNvSpPr>
          <p:nvPr>
            <p:ph type="body" idx="1"/>
          </p:nvPr>
        </p:nvSpPr>
        <p:spPr/>
        <p:txBody>
          <a:bodyPr/>
          <a:lstStyle/>
          <a:p>
            <a:pPr eaLnBrk="1" hangingPunct="1"/>
            <a:r>
              <a:rPr lang="zh-CN" altLang="en-US" smtClean="0"/>
              <a:t>在这一配置中，即使堡垒主机被入侵者控制，内部网仍受到内部包过滤路由器的保护。</a:t>
            </a:r>
            <a:endParaRPr lang="zh-CN" altLang="en-US" smtClean="0"/>
          </a:p>
          <a:p>
            <a:pPr eaLnBrk="1" hangingPunct="1"/>
            <a:r>
              <a:rPr lang="zh-CN" altLang="en-US" smtClean="0"/>
              <a:t>这种结构的防火墙安全性能高，具有很强的抗攻击能力，但需要的设备多，造价高。</a:t>
            </a:r>
            <a:endParaRPr lang="zh-CN" altLang="en-US" smtClean="0"/>
          </a:p>
        </p:txBody>
      </p:sp>
    </p:spTree>
  </p:cSld>
  <p:clrMapOvr>
    <a:masterClrMapping/>
  </p:clrMapOvr>
  <p:transition spd="slow"/>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000" b="1" dirty="0" smtClean="0">
                <a:ea typeface="PMingLiU" pitchFamily="18" charset="-120"/>
              </a:rPr>
              <a:t>入侵检测系统</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本讲内容</a:t>
            </a:r>
            <a:endParaRPr lang="zh-CN" altLang="en-US" dirty="0"/>
          </a:p>
        </p:txBody>
      </p:sp>
      <p:sp>
        <p:nvSpPr>
          <p:cNvPr id="3" name="内容占位符 2"/>
          <p:cNvSpPr>
            <a:spLocks noGrp="1"/>
          </p:cNvSpPr>
          <p:nvPr>
            <p:ph idx="1"/>
          </p:nvPr>
        </p:nvSpPr>
        <p:spPr/>
        <p:txBody>
          <a:bodyPr/>
          <a:lstStyle/>
          <a:p>
            <a:pPr>
              <a:defRPr/>
            </a:pPr>
            <a:r>
              <a:rPr lang="zh-CN" altLang="en-US" dirty="0" smtClean="0"/>
              <a:t>入侵检测的概念</a:t>
            </a:r>
            <a:endParaRPr lang="en-US" altLang="zh-CN" dirty="0" smtClean="0"/>
          </a:p>
          <a:p>
            <a:pPr>
              <a:defRPr/>
            </a:pPr>
            <a:r>
              <a:rPr lang="zh-CN" altLang="en-US" dirty="0" smtClean="0"/>
              <a:t>网络常用攻击手段 （了解）</a:t>
            </a:r>
            <a:endParaRPr lang="en-US" altLang="zh-CN" dirty="0" smtClean="0"/>
          </a:p>
          <a:p>
            <a:pPr>
              <a:defRPr/>
            </a:pPr>
            <a:r>
              <a:rPr lang="zh-CN" altLang="en-US" dirty="0" smtClean="0"/>
              <a:t>三类入侵检测系统</a:t>
            </a:r>
            <a:endParaRPr lang="en-US" altLang="zh-CN" dirty="0" smtClean="0"/>
          </a:p>
          <a:p>
            <a:pPr>
              <a:defRPr/>
            </a:pPr>
            <a:r>
              <a:rPr lang="zh-CN" altLang="en-US" dirty="0" smtClean="0"/>
              <a:t>入侵检测技术及其发展</a:t>
            </a:r>
            <a:endParaRPr lang="en-US" altLang="zh-CN" dirty="0" smtClean="0"/>
          </a:p>
          <a:p>
            <a:pPr>
              <a:defRPr/>
            </a:pP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4294967295"/>
          </p:nvPr>
        </p:nvSpPr>
        <p:spPr>
          <a:xfrm>
            <a:off x="3124200" y="6248400"/>
            <a:ext cx="2895600" cy="457200"/>
          </a:xfrm>
          <a:prstGeom prst="rect">
            <a:avLst/>
          </a:prstGeom>
        </p:spPr>
        <p:txBody>
          <a:bodyPr/>
          <a:lstStyle/>
          <a:p>
            <a:pPr algn="ctr">
              <a:defRPr/>
            </a:pPr>
            <a:fld id="{6107FB63-EF4F-4E47-988D-51F2FB553957}" type="slidenum">
              <a:rPr lang="zh-CN" altLang="en-US"/>
            </a:fld>
            <a:endParaRPr lang="zh-CN" altLang="en-US"/>
          </a:p>
        </p:txBody>
      </p:sp>
      <p:sp>
        <p:nvSpPr>
          <p:cNvPr id="960514" name="Rectangle 2"/>
          <p:cNvSpPr>
            <a:spLocks noGrp="1" noChangeArrowheads="1"/>
          </p:cNvSpPr>
          <p:nvPr>
            <p:ph type="title"/>
          </p:nvPr>
        </p:nvSpPr>
        <p:spPr/>
        <p:txBody>
          <a:bodyPr/>
          <a:lstStyle/>
          <a:p>
            <a:pPr eaLnBrk="1" hangingPunct="1">
              <a:defRPr/>
            </a:pPr>
            <a:r>
              <a:rPr lang="zh-CN" altLang="en-US" smtClean="0">
                <a:solidFill>
                  <a:schemeClr val="tx1"/>
                </a:solidFill>
              </a:rPr>
              <a:t>1、入侵检测的概念</a:t>
            </a:r>
            <a:endParaRPr lang="zh-CN" altLang="en-US" smtClean="0">
              <a:solidFill>
                <a:schemeClr val="tx1"/>
              </a:solidFill>
            </a:endParaRPr>
          </a:p>
        </p:txBody>
      </p:sp>
      <p:sp>
        <p:nvSpPr>
          <p:cNvPr id="12292" name="Text Box 3"/>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一、什么是入侵检测</a:t>
            </a:r>
            <a:endParaRPr lang="zh-CN" altLang="en-US">
              <a:solidFill>
                <a:schemeClr val="tx1"/>
              </a:solidFill>
              <a:latin typeface="宋体" panose="02010600030101010101" pitchFamily="2" charset="-122"/>
            </a:endParaRPr>
          </a:p>
        </p:txBody>
      </p:sp>
      <p:sp>
        <p:nvSpPr>
          <p:cNvPr id="12293" name="Text Box 4"/>
          <p:cNvSpPr txBox="1">
            <a:spLocks noChangeArrowheads="1"/>
          </p:cNvSpPr>
          <p:nvPr/>
        </p:nvSpPr>
        <p:spPr bwMode="auto">
          <a:xfrm>
            <a:off x="381000" y="1219200"/>
            <a:ext cx="8534400" cy="550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3200">
                <a:solidFill>
                  <a:schemeClr val="tx1"/>
                </a:solidFill>
                <a:latin typeface="Times New Roman" panose="02020603050405020304" pitchFamily="18" charset="0"/>
              </a:rPr>
              <a:t>入侵检测的内容：试图闯入、成功闯入、冒充其他用户、违反安全策略、合法用户的泄漏、独占资源以及恶意使用。</a:t>
            </a:r>
            <a:endParaRPr lang="zh-CN" altLang="en-US" sz="3200">
              <a:solidFill>
                <a:schemeClr val="tx1"/>
              </a:solidFill>
              <a:latin typeface="Times New Roman" panose="02020603050405020304" pitchFamily="18" charset="0"/>
            </a:endParaRPr>
          </a:p>
          <a:p>
            <a:pPr algn="just" eaLnBrk="1" hangingPunct="1">
              <a:spcBef>
                <a:spcPct val="50000"/>
              </a:spcBef>
            </a:pPr>
            <a:r>
              <a:rPr lang="zh-CN" altLang="en-US" sz="3200">
                <a:solidFill>
                  <a:schemeClr val="tx1"/>
                </a:solidFill>
                <a:latin typeface="Times New Roman" panose="02020603050405020304" pitchFamily="18" charset="0"/>
              </a:rPr>
              <a:t>入侵检测（</a:t>
            </a:r>
            <a:r>
              <a:rPr lang="en-US" altLang="zh-CN" sz="3200">
                <a:solidFill>
                  <a:schemeClr val="tx1"/>
                </a:solidFill>
                <a:latin typeface="Times New Roman" panose="02020603050405020304" pitchFamily="18" charset="0"/>
              </a:rPr>
              <a:t>Intrusion Detection）：</a:t>
            </a:r>
            <a:r>
              <a:rPr lang="zh-CN" altLang="en-US" sz="3200">
                <a:solidFill>
                  <a:schemeClr val="tx1"/>
                </a:solidFill>
                <a:latin typeface="Times New Roman" panose="02020603050405020304" pitchFamily="18" charset="0"/>
              </a:rPr>
              <a:t>通过从计算机网络或计算机系统的关键点收集信息并进行分析，从中发现网络或系统中是否有违反安全策略的行为和被攻击的迹象。</a:t>
            </a:r>
            <a:endParaRPr lang="zh-CN" altLang="en-US" sz="3200">
              <a:solidFill>
                <a:schemeClr val="tx1"/>
              </a:solidFill>
              <a:latin typeface="Times New Roman" panose="02020603050405020304" pitchFamily="18" charset="0"/>
            </a:endParaRPr>
          </a:p>
          <a:p>
            <a:pPr algn="just" eaLnBrk="1" hangingPunct="1">
              <a:spcBef>
                <a:spcPct val="50000"/>
              </a:spcBef>
            </a:pPr>
            <a:r>
              <a:rPr lang="zh-CN" altLang="en-US" sz="3200">
                <a:solidFill>
                  <a:schemeClr val="tx1"/>
                </a:solidFill>
                <a:latin typeface="Times New Roman" panose="02020603050405020304" pitchFamily="18" charset="0"/>
              </a:rPr>
              <a:t>入侵检测系统（</a:t>
            </a:r>
            <a:r>
              <a:rPr lang="en-US" altLang="zh-CN" sz="3200">
                <a:solidFill>
                  <a:schemeClr val="tx1"/>
                </a:solidFill>
                <a:latin typeface="Times New Roman" panose="02020603050405020304" pitchFamily="18" charset="0"/>
              </a:rPr>
              <a:t>IDS）：</a:t>
            </a:r>
            <a:r>
              <a:rPr lang="zh-CN" altLang="en-US" sz="3200">
                <a:solidFill>
                  <a:schemeClr val="tx1"/>
                </a:solidFill>
                <a:latin typeface="Times New Roman" panose="02020603050405020304" pitchFamily="18" charset="0"/>
              </a:rPr>
              <a:t>入侵检测的软件与硬件的组合，是防火墙的合理补充，是防火墙之后的第二道安全闸门。</a:t>
            </a:r>
            <a:endParaRPr lang="zh-CN" altLang="en-US" sz="3200">
              <a:solidFill>
                <a:schemeClr val="tx1"/>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Text Box 4"/>
          <p:cNvSpPr txBox="1">
            <a:spLocks noChangeArrowheads="1"/>
          </p:cNvSpPr>
          <p:nvPr/>
        </p:nvSpPr>
        <p:spPr bwMode="auto">
          <a:xfrm>
            <a:off x="900113" y="2636912"/>
            <a:ext cx="7696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4400" dirty="0" smtClean="0">
                <a:latin typeface="+mj-lt"/>
                <a:ea typeface="+mj-ea"/>
                <a:cs typeface="+mj-cs"/>
              </a:rPr>
              <a:t>入侵</a:t>
            </a:r>
            <a:r>
              <a:rPr lang="zh-CN" altLang="en-US" sz="4400" dirty="0">
                <a:latin typeface="+mj-lt"/>
                <a:ea typeface="+mj-ea"/>
                <a:cs typeface="+mj-cs"/>
              </a:rPr>
              <a:t>检测</a:t>
            </a:r>
            <a:r>
              <a:rPr lang="zh-CN" altLang="en-US" sz="4400" dirty="0" smtClean="0">
                <a:latin typeface="+mj-lt"/>
                <a:ea typeface="+mj-ea"/>
                <a:cs typeface="+mj-cs"/>
              </a:rPr>
              <a:t>系统分类</a:t>
            </a:r>
            <a:endParaRPr lang="zh-CN" altLang="en-US" sz="4400" dirty="0">
              <a:latin typeface="+mj-lt"/>
              <a:ea typeface="+mj-ea"/>
              <a:cs typeface="+mj-cs"/>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6" name="Rectangle 2050"/>
          <p:cNvSpPr>
            <a:spLocks noGrp="1" noChangeArrowheads="1"/>
          </p:cNvSpPr>
          <p:nvPr>
            <p:ph type="title"/>
          </p:nvPr>
        </p:nvSpPr>
        <p:spPr/>
        <p:txBody>
          <a:bodyPr>
            <a:normAutofit/>
          </a:bodyPr>
          <a:lstStyle/>
          <a:p>
            <a:pPr eaLnBrk="1" hangingPunct="1">
              <a:defRPr/>
            </a:pPr>
            <a:r>
              <a:rPr lang="zh-CN" altLang="en-US" dirty="0" smtClean="0">
                <a:solidFill>
                  <a:schemeClr val="tx1"/>
                </a:solidFill>
              </a:rPr>
              <a:t>基于网络的入侵检测（</a:t>
            </a:r>
            <a:r>
              <a:rPr lang="en-US" altLang="zh-CN" dirty="0" smtClean="0">
                <a:solidFill>
                  <a:schemeClr val="tx1"/>
                </a:solidFill>
              </a:rPr>
              <a:t>NIDS</a:t>
            </a:r>
            <a:r>
              <a:rPr lang="zh-CN" altLang="en-US" dirty="0" smtClean="0">
                <a:solidFill>
                  <a:schemeClr val="tx1"/>
                </a:solidFill>
              </a:rPr>
              <a:t>）</a:t>
            </a:r>
            <a:endParaRPr lang="zh-CN" altLang="en-US" dirty="0" smtClean="0">
              <a:solidFill>
                <a:schemeClr val="tx1"/>
              </a:solidFill>
            </a:endParaRPr>
          </a:p>
        </p:txBody>
      </p:sp>
      <p:sp>
        <p:nvSpPr>
          <p:cNvPr id="7" name="灯片编号占位符 4"/>
          <p:cNvSpPr>
            <a:spLocks noGrp="1"/>
          </p:cNvSpPr>
          <p:nvPr>
            <p:ph type="sldNum" sz="quarter" idx="4294967295"/>
          </p:nvPr>
        </p:nvSpPr>
        <p:spPr>
          <a:xfrm>
            <a:off x="6553200" y="6243638"/>
            <a:ext cx="2133600" cy="457200"/>
          </a:xfrm>
          <a:prstGeom prst="rect">
            <a:avLst/>
          </a:prstGeom>
        </p:spPr>
        <p:txBody>
          <a:bodyPr/>
          <a:lstStyle/>
          <a:p>
            <a:pPr>
              <a:defRPr/>
            </a:pPr>
            <a:fld id="{450EE30D-DDDA-4BC1-B8EF-FFE2F3D6A1D3}" type="slidenum">
              <a:rPr lang="zh-CN" altLang="en-US"/>
            </a:fld>
            <a:endParaRPr lang="zh-CN" altLang="en-US"/>
          </a:p>
        </p:txBody>
      </p:sp>
      <p:sp>
        <p:nvSpPr>
          <p:cNvPr id="86020" name="Text Box 2051"/>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二、入侵检测产品分析</a:t>
            </a:r>
            <a:endParaRPr lang="zh-CN" altLang="en-US">
              <a:solidFill>
                <a:schemeClr val="tx1"/>
              </a:solidFill>
              <a:latin typeface="宋体" panose="02010600030101010101" pitchFamily="2" charset="-122"/>
            </a:endParaRPr>
          </a:p>
        </p:txBody>
      </p:sp>
      <p:sp>
        <p:nvSpPr>
          <p:cNvPr id="86021" name="Text Box 2052"/>
          <p:cNvSpPr txBox="1">
            <a:spLocks noChangeArrowheads="1"/>
          </p:cNvSpPr>
          <p:nvPr/>
        </p:nvSpPr>
        <p:spPr bwMode="auto">
          <a:xfrm>
            <a:off x="304800" y="1295400"/>
            <a:ext cx="8610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r>
              <a:rPr lang="zh-CN" altLang="zh-CN" sz="2800" dirty="0" smtClean="0">
                <a:solidFill>
                  <a:schemeClr val="tx1"/>
                </a:solidFill>
              </a:rPr>
              <a:t>数据</a:t>
            </a:r>
            <a:r>
              <a:rPr lang="zh-CN" altLang="zh-CN" sz="2800" dirty="0">
                <a:solidFill>
                  <a:schemeClr val="tx1"/>
                </a:solidFill>
              </a:rPr>
              <a:t>来源于网络上的数据流</a:t>
            </a:r>
            <a:r>
              <a:rPr lang="zh-CN" altLang="zh-CN" sz="2800" dirty="0" smtClean="0">
                <a:solidFill>
                  <a:schemeClr val="tx1"/>
                </a:solidFill>
              </a:rPr>
              <a:t>。</a:t>
            </a:r>
            <a:endParaRPr lang="en-US" altLang="zh-CN" sz="2800" dirty="0" smtClean="0">
              <a:solidFill>
                <a:schemeClr val="tx1"/>
              </a:solidFill>
            </a:endParaRPr>
          </a:p>
          <a:p>
            <a:endParaRPr lang="en-US" altLang="zh-CN" sz="2800" dirty="0">
              <a:solidFill>
                <a:schemeClr val="tx1"/>
              </a:solidFill>
            </a:endParaRPr>
          </a:p>
          <a:p>
            <a:r>
              <a:rPr lang="en-US" altLang="zh-CN" sz="2800" dirty="0" smtClean="0">
                <a:solidFill>
                  <a:schemeClr val="tx1"/>
                </a:solidFill>
              </a:rPr>
              <a:t>NIDS</a:t>
            </a:r>
            <a:r>
              <a:rPr lang="zh-CN" altLang="zh-CN" sz="2800" dirty="0">
                <a:solidFill>
                  <a:schemeClr val="tx1"/>
                </a:solidFill>
              </a:rPr>
              <a:t>能够截获网络中的数据包，提取其特征并与知识库中已知的攻击签名相比较，从而达到检测的目的</a:t>
            </a:r>
            <a:r>
              <a:rPr lang="zh-CN" altLang="zh-CN" sz="2800" dirty="0" smtClean="0">
                <a:solidFill>
                  <a:schemeClr val="tx1"/>
                </a:solidFill>
              </a:rPr>
              <a:t>。</a:t>
            </a:r>
            <a:endParaRPr lang="en-US" altLang="zh-CN" sz="2800" dirty="0" smtClean="0">
              <a:solidFill>
                <a:schemeClr val="tx1"/>
              </a:solidFill>
            </a:endParaRPr>
          </a:p>
          <a:p>
            <a:endParaRPr lang="en-US" altLang="zh-CN" sz="2800" dirty="0">
              <a:solidFill>
                <a:schemeClr val="tx1"/>
              </a:solidFill>
            </a:endParaRPr>
          </a:p>
          <a:p>
            <a:r>
              <a:rPr lang="zh-CN" altLang="zh-CN" sz="2800" dirty="0" smtClean="0">
                <a:solidFill>
                  <a:schemeClr val="tx1"/>
                </a:solidFill>
              </a:rPr>
              <a:t>其</a:t>
            </a:r>
            <a:r>
              <a:rPr lang="zh-CN" altLang="zh-CN" sz="2800" dirty="0">
                <a:solidFill>
                  <a:schemeClr val="tx1"/>
                </a:solidFill>
              </a:rPr>
              <a:t>优点是侦测速度快、隐蔽性好，不容易受到攻击、对主机资源消耗少</a:t>
            </a:r>
            <a:r>
              <a:rPr lang="zh-CN" altLang="zh-CN" sz="2800" dirty="0" smtClean="0">
                <a:solidFill>
                  <a:schemeClr val="tx1"/>
                </a:solidFill>
              </a:rPr>
              <a:t>；</a:t>
            </a:r>
            <a:endParaRPr lang="en-US" altLang="zh-CN" sz="2800" dirty="0" smtClean="0">
              <a:solidFill>
                <a:schemeClr val="tx1"/>
              </a:solidFill>
            </a:endParaRPr>
          </a:p>
          <a:p>
            <a:endParaRPr lang="en-US" altLang="zh-CN" sz="2800" dirty="0">
              <a:solidFill>
                <a:schemeClr val="tx1"/>
              </a:solidFill>
            </a:endParaRPr>
          </a:p>
          <a:p>
            <a:r>
              <a:rPr lang="zh-CN" altLang="zh-CN" sz="2800" dirty="0" smtClean="0">
                <a:solidFill>
                  <a:schemeClr val="tx1"/>
                </a:solidFill>
              </a:rPr>
              <a:t>缺点</a:t>
            </a:r>
            <a:r>
              <a:rPr lang="zh-CN" altLang="zh-CN" sz="2800" dirty="0">
                <a:solidFill>
                  <a:schemeClr val="tx1"/>
                </a:solidFill>
              </a:rPr>
              <a:t>是有些攻击是由服务器的键盘发出的，不经过网络，因而无法识别，误报率较高。 </a:t>
            </a:r>
            <a:endParaRPr lang="zh-CN" altLang="zh-CN" sz="2800" dirty="0">
              <a:solidFill>
                <a:schemeClr val="tx1"/>
              </a:solidFill>
            </a:endParaRPr>
          </a:p>
        </p:txBody>
      </p:sp>
      <p:sp>
        <p:nvSpPr>
          <p:cNvPr id="86022" name="Rectangle 2053"/>
          <p:cNvSpPr>
            <a:spLocks noChangeArrowheads="1"/>
          </p:cNvSpPr>
          <p:nvPr/>
        </p:nvSpPr>
        <p:spPr bwMode="auto">
          <a:xfrm>
            <a:off x="2657475" y="2357438"/>
            <a:ext cx="91440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6" name="Rectangle 2050"/>
          <p:cNvSpPr>
            <a:spLocks noGrp="1" noChangeArrowheads="1"/>
          </p:cNvSpPr>
          <p:nvPr>
            <p:ph type="title"/>
          </p:nvPr>
        </p:nvSpPr>
        <p:spPr/>
        <p:txBody>
          <a:bodyPr/>
          <a:lstStyle/>
          <a:p>
            <a:pPr>
              <a:defRPr/>
            </a:pPr>
            <a:r>
              <a:rPr lang="zh-CN" altLang="zh-CN" dirty="0"/>
              <a:t> 基于主机的入侵检测系统（</a:t>
            </a:r>
            <a:r>
              <a:rPr lang="en-US" altLang="zh-CN" dirty="0"/>
              <a:t>HIDS</a:t>
            </a:r>
            <a:r>
              <a:rPr lang="zh-CN" altLang="zh-CN" dirty="0"/>
              <a:t>）</a:t>
            </a:r>
            <a:endParaRPr lang="zh-CN" altLang="en-US" dirty="0" smtClean="0">
              <a:solidFill>
                <a:schemeClr val="tx1"/>
              </a:solidFill>
            </a:endParaRPr>
          </a:p>
        </p:txBody>
      </p:sp>
      <p:sp>
        <p:nvSpPr>
          <p:cNvPr id="7" name="灯片编号占位符 4"/>
          <p:cNvSpPr>
            <a:spLocks noGrp="1"/>
          </p:cNvSpPr>
          <p:nvPr>
            <p:ph type="sldNum" sz="quarter" idx="4294967295"/>
          </p:nvPr>
        </p:nvSpPr>
        <p:spPr>
          <a:xfrm>
            <a:off x="6553200" y="6243638"/>
            <a:ext cx="2133600" cy="457200"/>
          </a:xfrm>
          <a:prstGeom prst="rect">
            <a:avLst/>
          </a:prstGeom>
        </p:spPr>
        <p:txBody>
          <a:bodyPr/>
          <a:lstStyle/>
          <a:p>
            <a:pPr>
              <a:defRPr/>
            </a:pPr>
            <a:fld id="{450EE30D-DDDA-4BC1-B8EF-FFE2F3D6A1D3}" type="slidenum">
              <a:rPr lang="zh-CN" altLang="en-US"/>
            </a:fld>
            <a:endParaRPr lang="zh-CN" altLang="en-US"/>
          </a:p>
        </p:txBody>
      </p:sp>
      <p:sp>
        <p:nvSpPr>
          <p:cNvPr id="86020" name="Text Box 2051"/>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二、入侵检测产品分析</a:t>
            </a:r>
            <a:endParaRPr lang="zh-CN" altLang="en-US">
              <a:solidFill>
                <a:schemeClr val="tx1"/>
              </a:solidFill>
              <a:latin typeface="宋体" panose="02010600030101010101" pitchFamily="2" charset="-122"/>
            </a:endParaRPr>
          </a:p>
        </p:txBody>
      </p:sp>
      <p:sp>
        <p:nvSpPr>
          <p:cNvPr id="86021" name="Text Box 2052"/>
          <p:cNvSpPr txBox="1">
            <a:spLocks noChangeArrowheads="1"/>
          </p:cNvSpPr>
          <p:nvPr/>
        </p:nvSpPr>
        <p:spPr bwMode="auto">
          <a:xfrm>
            <a:off x="304800" y="1988840"/>
            <a:ext cx="8610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r>
              <a:rPr lang="zh-CN" altLang="zh-CN" sz="2800" dirty="0">
                <a:solidFill>
                  <a:schemeClr val="tx1"/>
                </a:solidFill>
              </a:rPr>
              <a:t>数据来源于主机</a:t>
            </a:r>
            <a:r>
              <a:rPr lang="zh-CN" altLang="zh-CN" sz="2800" dirty="0" smtClean="0">
                <a:solidFill>
                  <a:schemeClr val="tx1"/>
                </a:solidFill>
              </a:rPr>
              <a:t>系统</a:t>
            </a:r>
            <a:r>
              <a:rPr lang="zh-CN" altLang="en-US" sz="2800" dirty="0">
                <a:solidFill>
                  <a:schemeClr val="tx1"/>
                </a:solidFill>
              </a:rPr>
              <a:t>，</a:t>
            </a:r>
            <a:r>
              <a:rPr lang="zh-CN" altLang="zh-CN" sz="2800" dirty="0" smtClean="0">
                <a:solidFill>
                  <a:schemeClr val="tx1"/>
                </a:solidFill>
              </a:rPr>
              <a:t>通常</a:t>
            </a:r>
            <a:r>
              <a:rPr lang="zh-CN" altLang="zh-CN" sz="2800" dirty="0">
                <a:solidFill>
                  <a:schemeClr val="tx1"/>
                </a:solidFill>
              </a:rPr>
              <a:t>是系统日志和审计记录</a:t>
            </a:r>
            <a:r>
              <a:rPr lang="zh-CN" altLang="zh-CN" sz="2800" dirty="0" smtClean="0">
                <a:solidFill>
                  <a:schemeClr val="tx1"/>
                </a:solidFill>
              </a:rPr>
              <a:t>。</a:t>
            </a:r>
            <a:endParaRPr lang="en-US" altLang="zh-CN" sz="2800" dirty="0" smtClean="0">
              <a:solidFill>
                <a:schemeClr val="tx1"/>
              </a:solidFill>
            </a:endParaRPr>
          </a:p>
          <a:p>
            <a:r>
              <a:rPr lang="zh-CN" altLang="zh-CN" sz="2800" dirty="0" smtClean="0">
                <a:solidFill>
                  <a:schemeClr val="tx1"/>
                </a:solidFill>
              </a:rPr>
              <a:t> </a:t>
            </a:r>
            <a:endParaRPr lang="en-US" altLang="zh-CN" sz="2800" dirty="0" smtClean="0">
              <a:solidFill>
                <a:schemeClr val="tx1"/>
              </a:solidFill>
            </a:endParaRPr>
          </a:p>
          <a:p>
            <a:r>
              <a:rPr lang="zh-CN" altLang="zh-CN" sz="2800" dirty="0" smtClean="0">
                <a:solidFill>
                  <a:schemeClr val="tx1"/>
                </a:solidFill>
              </a:rPr>
              <a:t>Ｈ</a:t>
            </a:r>
            <a:r>
              <a:rPr lang="en-US" altLang="zh-CN" sz="2800" dirty="0">
                <a:solidFill>
                  <a:schemeClr val="tx1"/>
                </a:solidFill>
              </a:rPr>
              <a:t>IDS</a:t>
            </a:r>
            <a:r>
              <a:rPr lang="zh-CN" altLang="zh-CN" sz="2800" dirty="0">
                <a:solidFill>
                  <a:schemeClr val="tx1"/>
                </a:solidFill>
              </a:rPr>
              <a:t>通过对系统日志和审计记录的不断监控和分析来发现攻击后的误操作</a:t>
            </a:r>
            <a:r>
              <a:rPr lang="zh-CN" altLang="zh-CN" sz="2800" dirty="0" smtClean="0">
                <a:solidFill>
                  <a:schemeClr val="tx1"/>
                </a:solidFill>
              </a:rPr>
              <a:t>。</a:t>
            </a:r>
            <a:endParaRPr lang="en-US" altLang="zh-CN" sz="2800" dirty="0" smtClean="0">
              <a:solidFill>
                <a:schemeClr val="tx1"/>
              </a:solidFill>
            </a:endParaRPr>
          </a:p>
          <a:p>
            <a:endParaRPr lang="en-US" altLang="zh-CN" sz="2800" dirty="0">
              <a:solidFill>
                <a:schemeClr val="tx1"/>
              </a:solidFill>
            </a:endParaRPr>
          </a:p>
          <a:p>
            <a:r>
              <a:rPr lang="zh-CN" altLang="zh-CN" sz="2800" dirty="0" smtClean="0">
                <a:solidFill>
                  <a:schemeClr val="tx1"/>
                </a:solidFill>
              </a:rPr>
              <a:t>优点</a:t>
            </a:r>
            <a:r>
              <a:rPr lang="zh-CN" altLang="zh-CN" sz="2800" dirty="0">
                <a:solidFill>
                  <a:schemeClr val="tx1"/>
                </a:solidFill>
              </a:rPr>
              <a:t>是针对不同操作系统捕获应用层入侵，误报少； </a:t>
            </a:r>
            <a:endParaRPr lang="en-US" altLang="zh-CN" sz="2800" dirty="0" smtClean="0">
              <a:solidFill>
                <a:schemeClr val="tx1"/>
              </a:solidFill>
            </a:endParaRPr>
          </a:p>
          <a:p>
            <a:endParaRPr lang="en-US" altLang="zh-CN" sz="2800" dirty="0">
              <a:solidFill>
                <a:schemeClr val="tx1"/>
              </a:solidFill>
            </a:endParaRPr>
          </a:p>
          <a:p>
            <a:r>
              <a:rPr lang="zh-CN" altLang="zh-CN" sz="2800" dirty="0" smtClean="0">
                <a:solidFill>
                  <a:schemeClr val="tx1"/>
                </a:solidFill>
              </a:rPr>
              <a:t>缺点</a:t>
            </a:r>
            <a:r>
              <a:rPr lang="zh-CN" altLang="zh-CN" sz="2800" dirty="0">
                <a:solidFill>
                  <a:schemeClr val="tx1"/>
                </a:solidFill>
              </a:rPr>
              <a:t>是依赖于主机及其审计子系统，实时性差。</a:t>
            </a:r>
            <a:r>
              <a:rPr lang="en-US" altLang="zh-CN" sz="2800" dirty="0">
                <a:solidFill>
                  <a:schemeClr val="tx1"/>
                </a:solidFill>
              </a:rPr>
              <a:t> </a:t>
            </a:r>
            <a:endParaRPr lang="zh-CN" altLang="zh-CN" sz="2800" dirty="0">
              <a:solidFill>
                <a:schemeClr val="tx1"/>
              </a:solidFill>
            </a:endParaRPr>
          </a:p>
        </p:txBody>
      </p:sp>
      <p:sp>
        <p:nvSpPr>
          <p:cNvPr id="86022" name="Rectangle 2053"/>
          <p:cNvSpPr>
            <a:spLocks noChangeArrowheads="1"/>
          </p:cNvSpPr>
          <p:nvPr/>
        </p:nvSpPr>
        <p:spPr bwMode="auto">
          <a:xfrm>
            <a:off x="2657475" y="2357438"/>
            <a:ext cx="91440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6" name="Rectangle 2050"/>
          <p:cNvSpPr>
            <a:spLocks noGrp="1" noChangeArrowheads="1"/>
          </p:cNvSpPr>
          <p:nvPr>
            <p:ph type="title"/>
          </p:nvPr>
        </p:nvSpPr>
        <p:spPr/>
        <p:txBody>
          <a:bodyPr/>
          <a:lstStyle/>
          <a:p>
            <a:pPr>
              <a:defRPr/>
            </a:pPr>
            <a:r>
              <a:rPr lang="zh-CN" altLang="zh-CN" dirty="0"/>
              <a:t>分布式入侵检测系统（</a:t>
            </a:r>
            <a:r>
              <a:rPr lang="en-US" altLang="zh-CN" dirty="0"/>
              <a:t>DIDS </a:t>
            </a:r>
            <a:r>
              <a:rPr lang="zh-CN" altLang="zh-CN" dirty="0" smtClean="0"/>
              <a:t>）</a:t>
            </a:r>
            <a:endParaRPr lang="zh-CN" altLang="en-US" dirty="0" smtClean="0">
              <a:solidFill>
                <a:schemeClr val="tx1"/>
              </a:solidFill>
            </a:endParaRPr>
          </a:p>
        </p:txBody>
      </p:sp>
      <p:sp>
        <p:nvSpPr>
          <p:cNvPr id="7" name="灯片编号占位符 4"/>
          <p:cNvSpPr>
            <a:spLocks noGrp="1"/>
          </p:cNvSpPr>
          <p:nvPr>
            <p:ph type="sldNum" sz="quarter" idx="4294967295"/>
          </p:nvPr>
        </p:nvSpPr>
        <p:spPr>
          <a:xfrm>
            <a:off x="6553200" y="6243638"/>
            <a:ext cx="2133600" cy="457200"/>
          </a:xfrm>
          <a:prstGeom prst="rect">
            <a:avLst/>
          </a:prstGeom>
        </p:spPr>
        <p:txBody>
          <a:bodyPr/>
          <a:lstStyle/>
          <a:p>
            <a:pPr>
              <a:defRPr/>
            </a:pPr>
            <a:fld id="{450EE30D-DDDA-4BC1-B8EF-FFE2F3D6A1D3}" type="slidenum">
              <a:rPr lang="zh-CN" altLang="en-US"/>
            </a:fld>
            <a:endParaRPr lang="zh-CN" altLang="en-US"/>
          </a:p>
        </p:txBody>
      </p:sp>
      <p:sp>
        <p:nvSpPr>
          <p:cNvPr id="86020" name="Text Box 2051"/>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二、入侵检测产品分析</a:t>
            </a:r>
            <a:endParaRPr lang="zh-CN" altLang="en-US">
              <a:solidFill>
                <a:schemeClr val="tx1"/>
              </a:solidFill>
              <a:latin typeface="宋体" panose="02010600030101010101" pitchFamily="2" charset="-122"/>
            </a:endParaRPr>
          </a:p>
        </p:txBody>
      </p:sp>
      <p:sp>
        <p:nvSpPr>
          <p:cNvPr id="86021" name="Text Box 2052"/>
          <p:cNvSpPr txBox="1">
            <a:spLocks noChangeArrowheads="1"/>
          </p:cNvSpPr>
          <p:nvPr/>
        </p:nvSpPr>
        <p:spPr bwMode="auto">
          <a:xfrm>
            <a:off x="304800" y="1988840"/>
            <a:ext cx="86106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tx1"/>
                </a:solidFill>
              </a:rPr>
              <a:t>同时</a:t>
            </a:r>
            <a:r>
              <a:rPr lang="zh-CN" altLang="zh-CN" sz="2800" dirty="0" smtClean="0">
                <a:solidFill>
                  <a:schemeClr val="tx1"/>
                </a:solidFill>
              </a:rPr>
              <a:t>采用</a:t>
            </a:r>
            <a:r>
              <a:rPr lang="zh-CN" altLang="zh-CN" sz="2800" dirty="0">
                <a:solidFill>
                  <a:schemeClr val="tx1"/>
                </a:solidFill>
              </a:rPr>
              <a:t>上述两种数据</a:t>
            </a:r>
            <a:r>
              <a:rPr lang="zh-CN" altLang="zh-CN" sz="2800" dirty="0" smtClean="0">
                <a:solidFill>
                  <a:schemeClr val="tx1"/>
                </a:solidFill>
              </a:rPr>
              <a:t>来源</a:t>
            </a:r>
            <a:r>
              <a:rPr lang="zh-CN" altLang="en-US" sz="2800" dirty="0" smtClean="0">
                <a:solidFill>
                  <a:schemeClr val="tx1"/>
                </a:solidFill>
              </a:rPr>
              <a:t>，</a:t>
            </a:r>
            <a:r>
              <a:rPr lang="zh-CN" altLang="zh-CN" sz="2800" dirty="0">
                <a:solidFill>
                  <a:schemeClr val="tx1"/>
                </a:solidFill>
              </a:rPr>
              <a:t>能够同时分析来自主机系统审计日志和网络数据流的入侵检测系统，一般为分布式结构， 由多个部件组成。</a:t>
            </a:r>
            <a:endParaRPr lang="en-US" altLang="zh-CN" sz="2800" dirty="0" smtClean="0">
              <a:solidFill>
                <a:schemeClr val="tx1"/>
              </a:solidFill>
            </a:endParaRPr>
          </a:p>
          <a:p>
            <a:r>
              <a:rPr lang="zh-CN" altLang="zh-CN" sz="2800" dirty="0" smtClean="0">
                <a:solidFill>
                  <a:schemeClr val="tx1"/>
                </a:solidFill>
              </a:rPr>
              <a:t> </a:t>
            </a:r>
            <a:endParaRPr lang="en-US" altLang="zh-CN" sz="2800" dirty="0" smtClean="0">
              <a:solidFill>
                <a:schemeClr val="tx1"/>
              </a:solidFill>
            </a:endParaRPr>
          </a:p>
          <a:p>
            <a:r>
              <a:rPr lang="en-US" altLang="zh-CN" sz="2800" dirty="0">
                <a:solidFill>
                  <a:schemeClr val="tx1"/>
                </a:solidFill>
              </a:rPr>
              <a:t>DIDS</a:t>
            </a:r>
            <a:r>
              <a:rPr lang="zh-CN" altLang="zh-CN" sz="2800" dirty="0">
                <a:solidFill>
                  <a:schemeClr val="tx1"/>
                </a:solidFill>
              </a:rPr>
              <a:t>可以从多个主机获取数据也可以从网络传输取得数据</a:t>
            </a:r>
            <a:r>
              <a:rPr lang="en-US" altLang="zh-CN" sz="2800" dirty="0">
                <a:solidFill>
                  <a:schemeClr val="tx1"/>
                </a:solidFill>
              </a:rPr>
              <a:t>, </a:t>
            </a:r>
            <a:r>
              <a:rPr lang="zh-CN" altLang="zh-CN" sz="2800" dirty="0">
                <a:solidFill>
                  <a:schemeClr val="tx1"/>
                </a:solidFill>
              </a:rPr>
              <a:t>克服了单一的</a:t>
            </a:r>
            <a:r>
              <a:rPr lang="en-US" altLang="zh-CN" sz="2800" dirty="0">
                <a:solidFill>
                  <a:schemeClr val="tx1"/>
                </a:solidFill>
              </a:rPr>
              <a:t>HIDS</a:t>
            </a:r>
            <a:r>
              <a:rPr lang="zh-CN" altLang="zh-CN" sz="2800" dirty="0">
                <a:solidFill>
                  <a:schemeClr val="tx1"/>
                </a:solidFill>
              </a:rPr>
              <a:t>、</a:t>
            </a:r>
            <a:r>
              <a:rPr lang="en-US" altLang="zh-CN" sz="2800" dirty="0">
                <a:solidFill>
                  <a:schemeClr val="tx1"/>
                </a:solidFill>
              </a:rPr>
              <a:t>NIDS</a:t>
            </a:r>
            <a:r>
              <a:rPr lang="zh-CN" altLang="zh-CN" sz="2800" dirty="0">
                <a:solidFill>
                  <a:schemeClr val="tx1"/>
                </a:solidFill>
              </a:rPr>
              <a:t>的不足</a:t>
            </a:r>
            <a:r>
              <a:rPr lang="zh-CN" altLang="zh-CN" sz="2800" dirty="0"/>
              <a:t>。 </a:t>
            </a:r>
            <a:endParaRPr lang="zh-CN" altLang="zh-CN" sz="2800" dirty="0"/>
          </a:p>
          <a:p>
            <a:r>
              <a:rPr lang="en-US" altLang="zh-CN" sz="2800" dirty="0"/>
              <a:t> </a:t>
            </a:r>
            <a:endParaRPr lang="zh-CN" altLang="zh-CN"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4294967295"/>
          </p:nvPr>
        </p:nvSpPr>
        <p:spPr>
          <a:xfrm>
            <a:off x="3124200" y="6248400"/>
            <a:ext cx="2895600" cy="457200"/>
          </a:xfrm>
          <a:prstGeom prst="rect">
            <a:avLst/>
          </a:prstGeom>
        </p:spPr>
        <p:txBody>
          <a:bodyPr/>
          <a:lstStyle/>
          <a:p>
            <a:pPr algn="ctr">
              <a:defRPr/>
            </a:pPr>
            <a:fld id="{D151E581-A7AF-4893-85AC-13B7C287FFD7}" type="slidenum">
              <a:rPr lang="zh-CN" altLang="en-US"/>
            </a:fld>
            <a:endParaRPr lang="zh-CN" altLang="en-US"/>
          </a:p>
        </p:txBody>
      </p:sp>
      <p:sp>
        <p:nvSpPr>
          <p:cNvPr id="1347586" name="Rectangle 2"/>
          <p:cNvSpPr>
            <a:spLocks noGrp="1" noChangeArrowheads="1"/>
          </p:cNvSpPr>
          <p:nvPr>
            <p:ph type="title"/>
          </p:nvPr>
        </p:nvSpPr>
        <p:spPr/>
        <p:txBody>
          <a:bodyPr>
            <a:normAutofit/>
          </a:bodyPr>
          <a:lstStyle/>
          <a:p>
            <a:pPr>
              <a:defRPr/>
            </a:pPr>
            <a:r>
              <a:rPr lang="zh-CN" altLang="en-US" sz="3800" dirty="0" smtClean="0"/>
              <a:t>入侵检测的设计准则</a:t>
            </a:r>
            <a:endParaRPr lang="zh-CN" altLang="en-US" sz="3800" dirty="0" smtClean="0"/>
          </a:p>
        </p:txBody>
      </p:sp>
      <p:sp>
        <p:nvSpPr>
          <p:cNvPr id="109572" name="Text Box 3"/>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三、入侵检测技术分析</a:t>
            </a:r>
            <a:endParaRPr lang="zh-CN" altLang="en-US">
              <a:solidFill>
                <a:schemeClr val="tx1"/>
              </a:solidFill>
              <a:latin typeface="宋体" panose="02010600030101010101" pitchFamily="2" charset="-122"/>
            </a:endParaRPr>
          </a:p>
        </p:txBody>
      </p:sp>
      <p:sp>
        <p:nvSpPr>
          <p:cNvPr id="109573" name="Text Box 4"/>
          <p:cNvSpPr txBox="1">
            <a:spLocks noChangeArrowheads="1"/>
          </p:cNvSpPr>
          <p:nvPr/>
        </p:nvSpPr>
        <p:spPr bwMode="auto">
          <a:xfrm>
            <a:off x="333152" y="1556792"/>
            <a:ext cx="8458200" cy="969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r>
              <a:rPr lang="zh-CN" altLang="zh-CN" sz="3200" dirty="0">
                <a:solidFill>
                  <a:schemeClr val="tx1"/>
                </a:solidFill>
              </a:rPr>
              <a:t>设计准则：</a:t>
            </a:r>
            <a:endParaRPr lang="zh-CN" altLang="zh-CN" sz="3200" dirty="0">
              <a:solidFill>
                <a:schemeClr val="tx1"/>
              </a:solidFill>
            </a:endParaRPr>
          </a:p>
          <a:p>
            <a:r>
              <a:rPr lang="en-US" altLang="zh-CN" sz="3200" dirty="0">
                <a:solidFill>
                  <a:schemeClr val="tx1"/>
                </a:solidFill>
              </a:rPr>
              <a:t>(1) </a:t>
            </a:r>
            <a:r>
              <a:rPr lang="zh-CN" altLang="zh-CN" sz="3200" dirty="0">
                <a:solidFill>
                  <a:schemeClr val="tx1"/>
                </a:solidFill>
              </a:rPr>
              <a:t>其配置结束后可以自我运行。</a:t>
            </a:r>
            <a:endParaRPr lang="zh-CN" altLang="zh-CN" sz="3200" dirty="0">
              <a:solidFill>
                <a:schemeClr val="tx1"/>
              </a:solidFill>
            </a:endParaRPr>
          </a:p>
          <a:p>
            <a:r>
              <a:rPr lang="en-US" altLang="zh-CN" sz="3200" dirty="0">
                <a:solidFill>
                  <a:schemeClr val="tx1"/>
                </a:solidFill>
              </a:rPr>
              <a:t>(2) </a:t>
            </a:r>
            <a:r>
              <a:rPr lang="zh-CN" altLang="zh-CN" sz="3200" dirty="0">
                <a:solidFill>
                  <a:schemeClr val="tx1"/>
                </a:solidFill>
              </a:rPr>
              <a:t>工作时必须时刻保持积极的工作状态且自身不易被攻击。</a:t>
            </a:r>
            <a:endParaRPr lang="zh-CN" altLang="zh-CN" sz="3200" dirty="0">
              <a:solidFill>
                <a:schemeClr val="tx1"/>
              </a:solidFill>
            </a:endParaRPr>
          </a:p>
          <a:p>
            <a:r>
              <a:rPr lang="en-US" altLang="zh-CN" sz="3200" dirty="0">
                <a:solidFill>
                  <a:schemeClr val="tx1"/>
                </a:solidFill>
              </a:rPr>
              <a:t>(3) </a:t>
            </a:r>
            <a:r>
              <a:rPr lang="zh-CN" altLang="zh-CN" sz="3200" dirty="0">
                <a:solidFill>
                  <a:schemeClr val="tx1"/>
                </a:solidFill>
              </a:rPr>
              <a:t>能够识别系统不常见的行为，每一个入侵检测系统都会遗漏一些异常行为，不过一个好的系统能够尽可能多得发现入侵行为。</a:t>
            </a:r>
            <a:endParaRPr lang="zh-CN" altLang="zh-CN" sz="3200" dirty="0">
              <a:solidFill>
                <a:schemeClr val="tx1"/>
              </a:solidFill>
            </a:endParaRPr>
          </a:p>
          <a:p>
            <a:r>
              <a:rPr lang="en-US" altLang="zh-CN" sz="3200" dirty="0">
                <a:solidFill>
                  <a:schemeClr val="tx1"/>
                </a:solidFill>
              </a:rPr>
              <a:t>(4) </a:t>
            </a:r>
            <a:r>
              <a:rPr lang="zh-CN" altLang="zh-CN" sz="3200" dirty="0">
                <a:solidFill>
                  <a:schemeClr val="tx1"/>
                </a:solidFill>
              </a:rPr>
              <a:t>系统运行要尽可能减少对正常工作的影响。</a:t>
            </a:r>
            <a:endParaRPr lang="zh-CN" altLang="zh-CN" sz="3200" dirty="0">
              <a:solidFill>
                <a:schemeClr val="tx1"/>
              </a:solidFill>
            </a:endParaRPr>
          </a:p>
          <a:p>
            <a:r>
              <a:rPr lang="en-US" altLang="zh-CN" sz="3200" dirty="0">
                <a:solidFill>
                  <a:schemeClr val="tx1"/>
                </a:solidFill>
              </a:rPr>
              <a:t>(5) </a:t>
            </a:r>
            <a:r>
              <a:rPr lang="zh-CN" altLang="zh-CN" sz="3200" dirty="0">
                <a:solidFill>
                  <a:schemeClr val="tx1"/>
                </a:solidFill>
              </a:rPr>
              <a:t>系统必须可控，可调试。</a:t>
            </a:r>
            <a:endParaRPr lang="zh-CN" altLang="zh-CN" sz="3200" dirty="0">
              <a:solidFill>
                <a:schemeClr val="tx1"/>
              </a:solidFill>
            </a:endParaRPr>
          </a:p>
          <a:p>
            <a:endParaRPr lang="en-US" altLang="zh-CN" sz="3200" b="1" dirty="0" smtClean="0">
              <a:solidFill>
                <a:schemeClr val="tx1"/>
              </a:solidFill>
            </a:endParaRPr>
          </a:p>
          <a:p>
            <a:endParaRPr lang="en-US" altLang="zh-CN" sz="3200" b="1" dirty="0" smtClean="0">
              <a:solidFill>
                <a:schemeClr val="tx1"/>
              </a:solidFill>
            </a:endParaRPr>
          </a:p>
          <a:p>
            <a:endParaRPr lang="en-US" altLang="zh-CN" sz="3200" b="1" dirty="0">
              <a:solidFill>
                <a:schemeClr val="tx1"/>
              </a:solidFill>
            </a:endParaRPr>
          </a:p>
          <a:p>
            <a:endParaRPr lang="en-US" altLang="zh-CN" sz="3200" b="1" dirty="0" smtClean="0">
              <a:solidFill>
                <a:schemeClr val="tx1"/>
              </a:solidFill>
            </a:endParaRPr>
          </a:p>
          <a:p>
            <a:r>
              <a:rPr lang="zh-CN" altLang="zh-CN" sz="3200" b="1" dirty="0" smtClean="0">
                <a:solidFill>
                  <a:schemeClr val="tx1"/>
                </a:solidFill>
              </a:rPr>
              <a:t>入侵</a:t>
            </a:r>
            <a:r>
              <a:rPr lang="zh-CN" altLang="zh-CN" sz="3200" b="1" dirty="0">
                <a:solidFill>
                  <a:schemeClr val="tx1"/>
                </a:solidFill>
              </a:rPr>
              <a:t>检测系统的检测机制一般可以分为三种：基于异常的检测机制，基于特征的检测机制，以及两者混合的检测机制</a:t>
            </a:r>
            <a:r>
              <a:rPr lang="zh-CN" altLang="zh-CN" sz="3200" b="1" dirty="0" smtClean="0">
                <a:solidFill>
                  <a:schemeClr val="tx1"/>
                </a:solidFill>
              </a:rPr>
              <a:t>。</a:t>
            </a:r>
            <a:endParaRPr lang="en-US" altLang="zh-CN" sz="3200" b="1" dirty="0" smtClean="0">
              <a:solidFill>
                <a:schemeClr val="tx1"/>
              </a:solidFill>
            </a:endParaRPr>
          </a:p>
          <a:p>
            <a:endParaRPr lang="en-US" altLang="zh-CN" sz="3200" b="1" dirty="0" smtClean="0">
              <a:solidFill>
                <a:schemeClr val="tx1"/>
              </a:solidFill>
            </a:endParaRPr>
          </a:p>
          <a:p>
            <a:pPr algn="just" eaLnBrk="1" hangingPunct="1">
              <a:spcBef>
                <a:spcPct val="50000"/>
              </a:spcBef>
            </a:pPr>
            <a:endParaRPr lang="zh-CN" altLang="en-US" sz="3200" dirty="0">
              <a:solidFill>
                <a:schemeClr val="tx1"/>
              </a:solidFill>
              <a:latin typeface="Times New Roman" panose="02020603050405020304" pitchFamily="18" charset="0"/>
            </a:endParaRPr>
          </a:p>
        </p:txBody>
      </p:sp>
      <p:sp>
        <p:nvSpPr>
          <p:cNvPr id="109574" name="Rectangle 5"/>
          <p:cNvSpPr>
            <a:spLocks noChangeArrowheads="1"/>
          </p:cNvSpPr>
          <p:nvPr/>
        </p:nvSpPr>
        <p:spPr bwMode="auto">
          <a:xfrm>
            <a:off x="2657475" y="2357438"/>
            <a:ext cx="91440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4294967295"/>
          </p:nvPr>
        </p:nvSpPr>
        <p:spPr>
          <a:xfrm>
            <a:off x="3124200" y="6248400"/>
            <a:ext cx="2895600" cy="457200"/>
          </a:xfrm>
          <a:prstGeom prst="rect">
            <a:avLst/>
          </a:prstGeom>
        </p:spPr>
        <p:txBody>
          <a:bodyPr/>
          <a:lstStyle/>
          <a:p>
            <a:pPr algn="ctr">
              <a:defRPr/>
            </a:pPr>
            <a:fld id="{D151E581-A7AF-4893-85AC-13B7C287FFD7}" type="slidenum">
              <a:rPr lang="zh-CN" altLang="en-US"/>
            </a:fld>
            <a:endParaRPr lang="zh-CN" altLang="en-US"/>
          </a:p>
        </p:txBody>
      </p:sp>
      <p:sp>
        <p:nvSpPr>
          <p:cNvPr id="1347586" name="Rectangle 2"/>
          <p:cNvSpPr>
            <a:spLocks noGrp="1" noChangeArrowheads="1"/>
          </p:cNvSpPr>
          <p:nvPr>
            <p:ph type="title"/>
          </p:nvPr>
        </p:nvSpPr>
        <p:spPr/>
        <p:txBody>
          <a:bodyPr>
            <a:normAutofit/>
          </a:bodyPr>
          <a:lstStyle/>
          <a:p>
            <a:pPr>
              <a:defRPr/>
            </a:pPr>
            <a:r>
              <a:rPr lang="zh-CN" altLang="en-US" sz="3800" dirty="0" smtClean="0"/>
              <a:t>入侵检测的检测机理</a:t>
            </a:r>
            <a:endParaRPr lang="zh-CN" altLang="en-US" sz="3800" dirty="0" smtClean="0"/>
          </a:p>
        </p:txBody>
      </p:sp>
      <p:sp>
        <p:nvSpPr>
          <p:cNvPr id="109572" name="Text Box 3"/>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三、入侵检测技术分析</a:t>
            </a:r>
            <a:endParaRPr lang="zh-CN" altLang="en-US">
              <a:solidFill>
                <a:schemeClr val="tx1"/>
              </a:solidFill>
              <a:latin typeface="宋体" panose="02010600030101010101" pitchFamily="2" charset="-122"/>
            </a:endParaRPr>
          </a:p>
        </p:txBody>
      </p:sp>
      <p:sp>
        <p:nvSpPr>
          <p:cNvPr id="109573" name="Text Box 4"/>
          <p:cNvSpPr txBox="1">
            <a:spLocks noChangeArrowheads="1"/>
          </p:cNvSpPr>
          <p:nvPr/>
        </p:nvSpPr>
        <p:spPr bwMode="auto">
          <a:xfrm>
            <a:off x="333152" y="1556792"/>
            <a:ext cx="84582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endParaRPr lang="en-US" altLang="zh-CN" sz="3200" b="1" dirty="0" smtClean="0">
              <a:solidFill>
                <a:schemeClr val="tx1"/>
              </a:solidFill>
            </a:endParaRPr>
          </a:p>
          <a:p>
            <a:endParaRPr lang="en-US" altLang="zh-CN" sz="3200" b="1" dirty="0">
              <a:solidFill>
                <a:schemeClr val="tx1"/>
              </a:solidFill>
            </a:endParaRPr>
          </a:p>
          <a:p>
            <a:endParaRPr lang="en-US" altLang="zh-CN" sz="3200" b="1" dirty="0" smtClean="0">
              <a:solidFill>
                <a:schemeClr val="tx1"/>
              </a:solidFill>
            </a:endParaRPr>
          </a:p>
          <a:p>
            <a:r>
              <a:rPr lang="zh-CN" altLang="zh-CN" sz="3200" b="1" dirty="0" smtClean="0">
                <a:solidFill>
                  <a:schemeClr val="tx1"/>
                </a:solidFill>
              </a:rPr>
              <a:t>入侵</a:t>
            </a:r>
            <a:r>
              <a:rPr lang="zh-CN" altLang="zh-CN" sz="3200" b="1" dirty="0">
                <a:solidFill>
                  <a:schemeClr val="tx1"/>
                </a:solidFill>
              </a:rPr>
              <a:t>检测系统的检测机制一般可以分为三种：基于异常的检测机制，基于特征的检测机制，以及两者混合的检测机制</a:t>
            </a:r>
            <a:r>
              <a:rPr lang="zh-CN" altLang="zh-CN" sz="3200" b="1" dirty="0" smtClean="0">
                <a:solidFill>
                  <a:schemeClr val="tx1"/>
                </a:solidFill>
              </a:rPr>
              <a:t>。</a:t>
            </a:r>
            <a:endParaRPr lang="en-US" altLang="zh-CN" sz="3200" b="1" dirty="0" smtClean="0">
              <a:solidFill>
                <a:schemeClr val="tx1"/>
              </a:solidFill>
            </a:endParaRPr>
          </a:p>
          <a:p>
            <a:endParaRPr lang="en-US" altLang="zh-CN" sz="3200" b="1" dirty="0" smtClean="0">
              <a:solidFill>
                <a:schemeClr val="tx1"/>
              </a:solidFill>
            </a:endParaRPr>
          </a:p>
          <a:p>
            <a:pPr algn="just" eaLnBrk="1" hangingPunct="1">
              <a:spcBef>
                <a:spcPct val="50000"/>
              </a:spcBef>
            </a:pPr>
            <a:endParaRPr lang="zh-CN" altLang="en-US" sz="3200" dirty="0">
              <a:solidFill>
                <a:schemeClr val="tx1"/>
              </a:solidFill>
              <a:latin typeface="Times New Roman" panose="02020603050405020304" pitchFamily="18" charset="0"/>
            </a:endParaRPr>
          </a:p>
        </p:txBody>
      </p:sp>
      <p:sp>
        <p:nvSpPr>
          <p:cNvPr id="109574" name="Rectangle 5"/>
          <p:cNvSpPr>
            <a:spLocks noChangeArrowheads="1"/>
          </p:cNvSpPr>
          <p:nvPr/>
        </p:nvSpPr>
        <p:spPr bwMode="auto">
          <a:xfrm>
            <a:off x="2657475" y="2357438"/>
            <a:ext cx="91440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4294967295"/>
          </p:nvPr>
        </p:nvSpPr>
        <p:spPr>
          <a:xfrm>
            <a:off x="3124200" y="6248400"/>
            <a:ext cx="2895600" cy="457200"/>
          </a:xfrm>
          <a:prstGeom prst="rect">
            <a:avLst/>
          </a:prstGeom>
        </p:spPr>
        <p:txBody>
          <a:bodyPr/>
          <a:lstStyle/>
          <a:p>
            <a:pPr algn="ctr">
              <a:defRPr/>
            </a:pPr>
            <a:fld id="{D151E581-A7AF-4893-85AC-13B7C287FFD7}" type="slidenum">
              <a:rPr lang="zh-CN" altLang="en-US"/>
            </a:fld>
            <a:endParaRPr lang="zh-CN" altLang="en-US"/>
          </a:p>
        </p:txBody>
      </p:sp>
      <p:sp>
        <p:nvSpPr>
          <p:cNvPr id="1347586" name="Rectangle 2"/>
          <p:cNvSpPr>
            <a:spLocks noGrp="1" noChangeArrowheads="1"/>
          </p:cNvSpPr>
          <p:nvPr>
            <p:ph type="title"/>
          </p:nvPr>
        </p:nvSpPr>
        <p:spPr/>
        <p:txBody>
          <a:bodyPr>
            <a:normAutofit/>
          </a:bodyPr>
          <a:lstStyle/>
          <a:p>
            <a:pPr>
              <a:defRPr/>
            </a:pPr>
            <a:r>
              <a:rPr lang="zh-CN" altLang="zh-CN" sz="4000" dirty="0"/>
              <a:t>基于异常的检测</a:t>
            </a:r>
            <a:r>
              <a:rPr lang="zh-CN" altLang="zh-CN" sz="4000" dirty="0" smtClean="0"/>
              <a:t>机制</a:t>
            </a:r>
            <a:endParaRPr lang="zh-CN" altLang="en-US" sz="3800" dirty="0" smtClean="0"/>
          </a:p>
        </p:txBody>
      </p:sp>
      <p:sp>
        <p:nvSpPr>
          <p:cNvPr id="109572" name="Text Box 3"/>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三、入侵检测技术分析</a:t>
            </a:r>
            <a:endParaRPr lang="zh-CN" altLang="en-US">
              <a:solidFill>
                <a:schemeClr val="tx1"/>
              </a:solidFill>
              <a:latin typeface="宋体" panose="02010600030101010101" pitchFamily="2" charset="-122"/>
            </a:endParaRPr>
          </a:p>
        </p:txBody>
      </p:sp>
      <p:sp>
        <p:nvSpPr>
          <p:cNvPr id="109573" name="Text Box 4"/>
          <p:cNvSpPr txBox="1">
            <a:spLocks noChangeArrowheads="1"/>
          </p:cNvSpPr>
          <p:nvPr/>
        </p:nvSpPr>
        <p:spPr bwMode="auto">
          <a:xfrm>
            <a:off x="333152" y="2306638"/>
            <a:ext cx="8458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r>
              <a:rPr lang="zh-CN" altLang="zh-CN" sz="3200" dirty="0">
                <a:solidFill>
                  <a:schemeClr val="tx1"/>
                </a:solidFill>
              </a:rPr>
              <a:t>基于异常的检测，通过将系统或用户行为与正常行为进行比较来判别是否为入侵行为，通常会首先给出一个系统正常行为的特征列表，即“白名单”列表。然后将系统或用户行为特征和“白名单”中的行为特征进行比较，如果匹配，则判定系统或用户的行为是正常行为，否则，判定系统或用户的行为是入侵行为。</a:t>
            </a:r>
            <a:endParaRPr lang="zh-CN" altLang="zh-CN" sz="3200" dirty="0">
              <a:solidFill>
                <a:schemeClr val="tx1"/>
              </a:solidFill>
            </a:endParaRPr>
          </a:p>
        </p:txBody>
      </p:sp>
      <p:sp>
        <p:nvSpPr>
          <p:cNvPr id="109574" name="Rectangle 5"/>
          <p:cNvSpPr>
            <a:spLocks noChangeArrowheads="1"/>
          </p:cNvSpPr>
          <p:nvPr/>
        </p:nvSpPr>
        <p:spPr bwMode="auto">
          <a:xfrm>
            <a:off x="2657475" y="2357438"/>
            <a:ext cx="91440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4294967295"/>
          </p:nvPr>
        </p:nvSpPr>
        <p:spPr>
          <a:xfrm>
            <a:off x="3124200" y="6248400"/>
            <a:ext cx="2895600" cy="457200"/>
          </a:xfrm>
          <a:prstGeom prst="rect">
            <a:avLst/>
          </a:prstGeom>
        </p:spPr>
        <p:txBody>
          <a:bodyPr/>
          <a:lstStyle/>
          <a:p>
            <a:pPr algn="ctr">
              <a:defRPr/>
            </a:pPr>
            <a:fld id="{D151E581-A7AF-4893-85AC-13B7C287FFD7}" type="slidenum">
              <a:rPr lang="zh-CN" altLang="en-US"/>
            </a:fld>
            <a:endParaRPr lang="zh-CN" altLang="en-US"/>
          </a:p>
        </p:txBody>
      </p:sp>
      <p:sp>
        <p:nvSpPr>
          <p:cNvPr id="1347586" name="Rectangle 2"/>
          <p:cNvSpPr>
            <a:spLocks noGrp="1" noChangeArrowheads="1"/>
          </p:cNvSpPr>
          <p:nvPr>
            <p:ph type="title"/>
          </p:nvPr>
        </p:nvSpPr>
        <p:spPr/>
        <p:txBody>
          <a:bodyPr>
            <a:normAutofit/>
          </a:bodyPr>
          <a:lstStyle/>
          <a:p>
            <a:pPr>
              <a:defRPr/>
            </a:pPr>
            <a:r>
              <a:rPr lang="zh-CN" altLang="zh-CN" sz="4000" dirty="0" smtClean="0"/>
              <a:t>基于</a:t>
            </a:r>
            <a:r>
              <a:rPr lang="zh-CN" altLang="en-US" sz="4000" dirty="0" smtClean="0"/>
              <a:t>特征</a:t>
            </a:r>
            <a:r>
              <a:rPr lang="zh-CN" altLang="zh-CN" sz="4000" dirty="0" smtClean="0"/>
              <a:t>的</a:t>
            </a:r>
            <a:r>
              <a:rPr lang="zh-CN" altLang="zh-CN" sz="4000" dirty="0"/>
              <a:t>检测</a:t>
            </a:r>
            <a:r>
              <a:rPr lang="zh-CN" altLang="zh-CN" sz="4000" dirty="0" smtClean="0"/>
              <a:t>机制</a:t>
            </a:r>
            <a:endParaRPr lang="zh-CN" altLang="en-US" sz="3800" dirty="0" smtClean="0"/>
          </a:p>
        </p:txBody>
      </p:sp>
      <p:sp>
        <p:nvSpPr>
          <p:cNvPr id="109572" name="Text Box 3"/>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三、入侵检测技术分析</a:t>
            </a:r>
            <a:endParaRPr lang="zh-CN" altLang="en-US">
              <a:solidFill>
                <a:schemeClr val="tx1"/>
              </a:solidFill>
              <a:latin typeface="宋体" panose="02010600030101010101" pitchFamily="2" charset="-122"/>
            </a:endParaRPr>
          </a:p>
        </p:txBody>
      </p:sp>
      <p:sp>
        <p:nvSpPr>
          <p:cNvPr id="109573" name="Text Box 4"/>
          <p:cNvSpPr txBox="1">
            <a:spLocks noChangeArrowheads="1"/>
          </p:cNvSpPr>
          <p:nvPr/>
        </p:nvSpPr>
        <p:spPr bwMode="auto">
          <a:xfrm>
            <a:off x="333152" y="2306638"/>
            <a:ext cx="84582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r>
              <a:rPr lang="zh-CN" altLang="zh-CN" sz="3200" dirty="0">
                <a:solidFill>
                  <a:schemeClr val="tx1"/>
                </a:solidFill>
              </a:rPr>
              <a:t>不同于异常检测，特征检测假定每个入侵行为都能够用一个独特的模式或特征所代表，因此在系统中建立异常行为的特征库，然后将系统或用户的行为与特征库进行比较。若特征相互匹配，则判定系统或用户的行为是入侵行为，若不能匹配，则判定系统或用户行为是正常行为。</a:t>
            </a:r>
            <a:endParaRPr lang="zh-CN" altLang="zh-CN" sz="3200" dirty="0">
              <a:solidFill>
                <a:schemeClr val="tx1"/>
              </a:solidFill>
            </a:endParaRPr>
          </a:p>
          <a:p>
            <a:endParaRPr lang="zh-CN" altLang="zh-CN" sz="3200" dirty="0">
              <a:solidFill>
                <a:schemeClr val="tx1"/>
              </a:solidFill>
            </a:endParaRPr>
          </a:p>
        </p:txBody>
      </p:sp>
      <p:sp>
        <p:nvSpPr>
          <p:cNvPr id="109574" name="Rectangle 5"/>
          <p:cNvSpPr>
            <a:spLocks noChangeArrowheads="1"/>
          </p:cNvSpPr>
          <p:nvPr/>
        </p:nvSpPr>
        <p:spPr bwMode="auto">
          <a:xfrm>
            <a:off x="2657475" y="2357438"/>
            <a:ext cx="91440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4294967295"/>
          </p:nvPr>
        </p:nvSpPr>
        <p:spPr>
          <a:xfrm>
            <a:off x="3124200" y="6248400"/>
            <a:ext cx="2895600" cy="457200"/>
          </a:xfrm>
          <a:prstGeom prst="rect">
            <a:avLst/>
          </a:prstGeom>
        </p:spPr>
        <p:txBody>
          <a:bodyPr/>
          <a:lstStyle/>
          <a:p>
            <a:pPr algn="ctr">
              <a:defRPr/>
            </a:pPr>
            <a:fld id="{D151E581-A7AF-4893-85AC-13B7C287FFD7}" type="slidenum">
              <a:rPr lang="zh-CN" altLang="en-US"/>
            </a:fld>
            <a:endParaRPr lang="zh-CN" altLang="en-US"/>
          </a:p>
        </p:txBody>
      </p:sp>
      <p:sp>
        <p:nvSpPr>
          <p:cNvPr id="1347586" name="Rectangle 2"/>
          <p:cNvSpPr>
            <a:spLocks noGrp="1" noChangeArrowheads="1"/>
          </p:cNvSpPr>
          <p:nvPr>
            <p:ph type="title"/>
          </p:nvPr>
        </p:nvSpPr>
        <p:spPr/>
        <p:txBody>
          <a:bodyPr>
            <a:normAutofit/>
          </a:bodyPr>
          <a:lstStyle/>
          <a:p>
            <a:pPr>
              <a:defRPr/>
            </a:pPr>
            <a:r>
              <a:rPr lang="zh-CN" altLang="zh-CN" sz="4000" dirty="0" smtClean="0"/>
              <a:t>基于</a:t>
            </a:r>
            <a:r>
              <a:rPr lang="zh-CN" altLang="en-US" sz="4000" dirty="0" smtClean="0"/>
              <a:t>特征</a:t>
            </a:r>
            <a:r>
              <a:rPr lang="zh-CN" altLang="zh-CN" sz="4000" dirty="0" smtClean="0"/>
              <a:t>的</a:t>
            </a:r>
            <a:r>
              <a:rPr lang="zh-CN" altLang="zh-CN" sz="4000" dirty="0"/>
              <a:t>检测</a:t>
            </a:r>
            <a:r>
              <a:rPr lang="zh-CN" altLang="zh-CN" sz="4000" dirty="0" smtClean="0"/>
              <a:t>机制</a:t>
            </a:r>
            <a:endParaRPr lang="zh-CN" altLang="en-US" sz="3800" dirty="0" smtClean="0"/>
          </a:p>
        </p:txBody>
      </p:sp>
      <p:sp>
        <p:nvSpPr>
          <p:cNvPr id="109572" name="Text Box 3"/>
          <p:cNvSpPr txBox="1">
            <a:spLocks noChangeArrowheads="1"/>
          </p:cNvSpPr>
          <p:nvPr/>
        </p:nvSpPr>
        <p:spPr bwMode="auto">
          <a:xfrm>
            <a:off x="3505200" y="0"/>
            <a:ext cx="5638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tx1"/>
                </a:solidFill>
                <a:latin typeface="宋体" panose="02010600030101010101" pitchFamily="2" charset="-122"/>
              </a:rPr>
              <a:t>三、入侵检测技术分析</a:t>
            </a:r>
            <a:endParaRPr lang="zh-CN" altLang="en-US">
              <a:solidFill>
                <a:schemeClr val="tx1"/>
              </a:solidFill>
              <a:latin typeface="宋体" panose="02010600030101010101" pitchFamily="2" charset="-122"/>
            </a:endParaRPr>
          </a:p>
        </p:txBody>
      </p:sp>
      <p:sp>
        <p:nvSpPr>
          <p:cNvPr id="109573" name="Text Box 4"/>
          <p:cNvSpPr txBox="1">
            <a:spLocks noChangeArrowheads="1"/>
          </p:cNvSpPr>
          <p:nvPr/>
        </p:nvSpPr>
        <p:spPr bwMode="auto">
          <a:xfrm>
            <a:off x="333152" y="2306638"/>
            <a:ext cx="84582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2"/>
                </a:solidFill>
                <a:latin typeface="Arial" panose="020B0604020202020204" pitchFamily="34" charset="0"/>
                <a:ea typeface="宋体" panose="02010600030101010101" pitchFamily="2" charset="-122"/>
              </a:defRPr>
            </a:lvl1pPr>
            <a:lvl2pPr marL="742950" indent="-285750" eaLnBrk="0" hangingPunct="0">
              <a:defRPr>
                <a:solidFill>
                  <a:schemeClr val="tx2"/>
                </a:solidFill>
                <a:latin typeface="Arial" panose="020B0604020202020204" pitchFamily="34" charset="0"/>
                <a:ea typeface="宋体" panose="02010600030101010101" pitchFamily="2" charset="-122"/>
              </a:defRPr>
            </a:lvl2pPr>
            <a:lvl3pPr marL="1143000" indent="-228600" eaLnBrk="0" hangingPunct="0">
              <a:defRPr>
                <a:solidFill>
                  <a:schemeClr val="tx2"/>
                </a:solidFill>
                <a:latin typeface="Arial" panose="020B0604020202020204" pitchFamily="34" charset="0"/>
                <a:ea typeface="宋体" panose="02010600030101010101" pitchFamily="2" charset="-122"/>
              </a:defRPr>
            </a:lvl3pPr>
            <a:lvl4pPr marL="1600200" indent="-228600" eaLnBrk="0" hangingPunct="0">
              <a:defRPr>
                <a:solidFill>
                  <a:schemeClr val="tx2"/>
                </a:solidFill>
                <a:latin typeface="Arial" panose="020B0604020202020204" pitchFamily="34" charset="0"/>
                <a:ea typeface="宋体" panose="02010600030101010101" pitchFamily="2" charset="-122"/>
              </a:defRPr>
            </a:lvl4pPr>
            <a:lvl5pPr marL="2057400" indent="-228600" eaLnBrk="0" hangingPunct="0">
              <a:defRPr>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2"/>
                </a:solidFill>
                <a:latin typeface="Arial" panose="020B0604020202020204" pitchFamily="34" charset="0"/>
                <a:ea typeface="宋体" panose="02010600030101010101" pitchFamily="2" charset="-122"/>
              </a:defRPr>
            </a:lvl9pPr>
          </a:lstStyle>
          <a:p>
            <a:r>
              <a:rPr lang="zh-CN" altLang="zh-CN" sz="3200" dirty="0">
                <a:solidFill>
                  <a:schemeClr val="tx1"/>
                </a:solidFill>
              </a:rPr>
              <a:t>不同于异常检测，特征检测假定每个入侵行为都能够用一个独特的模式或特征所代表，因此在系统中建立异常行为的特征库，然后将系统或用户的行为与特征库进行比较。若特征相互匹配，则判定系统或用户的行为是入侵行为，若不能匹配，则判定系统或用户行为是正常行为。</a:t>
            </a:r>
            <a:endParaRPr lang="zh-CN" altLang="zh-CN" sz="3200" dirty="0">
              <a:solidFill>
                <a:schemeClr val="tx1"/>
              </a:solidFill>
            </a:endParaRPr>
          </a:p>
          <a:p>
            <a:endParaRPr lang="zh-CN" altLang="zh-CN" sz="3200" dirty="0">
              <a:solidFill>
                <a:schemeClr val="tx1"/>
              </a:solidFill>
            </a:endParaRPr>
          </a:p>
        </p:txBody>
      </p:sp>
      <p:sp>
        <p:nvSpPr>
          <p:cNvPr id="109574" name="Rectangle 5"/>
          <p:cNvSpPr>
            <a:spLocks noChangeArrowheads="1"/>
          </p:cNvSpPr>
          <p:nvPr/>
        </p:nvSpPr>
        <p:spPr bwMode="auto">
          <a:xfrm>
            <a:off x="2657475" y="2357438"/>
            <a:ext cx="91440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基于上述两者混合的检测机制</a:t>
            </a:r>
            <a:endParaRPr lang="zh-CN" altLang="en-US" dirty="0"/>
          </a:p>
        </p:txBody>
      </p:sp>
      <p:sp>
        <p:nvSpPr>
          <p:cNvPr id="3" name="内容占位符 2"/>
          <p:cNvSpPr>
            <a:spLocks noGrp="1"/>
          </p:cNvSpPr>
          <p:nvPr>
            <p:ph idx="1"/>
          </p:nvPr>
        </p:nvSpPr>
        <p:spPr/>
        <p:txBody>
          <a:bodyPr/>
          <a:lstStyle/>
          <a:p>
            <a:pPr algn="just">
              <a:spcBef>
                <a:spcPct val="50000"/>
              </a:spcBef>
            </a:pPr>
            <a:r>
              <a:rPr lang="zh-CN" altLang="en-US" dirty="0" smtClean="0">
                <a:latin typeface="Times New Roman" panose="02020603050405020304" pitchFamily="18" charset="0"/>
              </a:rPr>
              <a:t>使用结合上述两种方法的分布式方法</a:t>
            </a:r>
            <a:r>
              <a:rPr lang="zh-CN" altLang="en-US" dirty="0">
                <a:latin typeface="Times New Roman" panose="02020603050405020304" pitchFamily="18" charset="0"/>
              </a:rPr>
              <a:t>来检测分布式的攻击，关键技术为检测信息的协同</a:t>
            </a:r>
            <a:r>
              <a:rPr lang="zh-CN" altLang="en-US" dirty="0" smtClean="0">
                <a:latin typeface="Times New Roman" panose="02020603050405020304" pitchFamily="18" charset="0"/>
              </a:rPr>
              <a:t>处理。</a:t>
            </a:r>
            <a:endParaRPr lang="zh-CN" altLang="en-US" dirty="0">
              <a:latin typeface="Times New Roman" panose="02020603050405020304" pitchFamily="18" charset="0"/>
            </a:endParaRPr>
          </a:p>
          <a:p>
            <a:pPr algn="just">
              <a:spcBef>
                <a:spcPct val="50000"/>
              </a:spcBef>
            </a:pPr>
            <a:r>
              <a:rPr lang="zh-CN" altLang="en-US" dirty="0">
                <a:latin typeface="Times New Roman" panose="02020603050405020304" pitchFamily="18" charset="0"/>
              </a:rPr>
              <a:t>解决异构系统及大规模网络的入侵检测，发展分布式入侵检测技术与通用入侵检测架构</a:t>
            </a:r>
            <a:endParaRPr lang="zh-CN" alt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ChangeArrowheads="1"/>
          </p:cNvSpPr>
          <p:nvPr/>
        </p:nvSpPr>
        <p:spPr bwMode="auto">
          <a:xfrm>
            <a:off x="2089533" y="2852936"/>
            <a:ext cx="5746010" cy="79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lstStyle/>
          <a:p>
            <a:pPr marL="416560" indent="-416560" algn="ctr"/>
            <a:r>
              <a:rPr lang="zh-CN" altLang="en-US" sz="5400" b="1" dirty="0"/>
              <a:t>安全框架与评估标准</a:t>
            </a:r>
            <a:endParaRPr lang="en-US" altLang="zh-CN" sz="5000" b="1" dirty="0">
              <a:ea typeface="PMingLiU" pitchFamily="18" charset="-120"/>
            </a:endParaRPr>
          </a:p>
        </p:txBody>
      </p:sp>
      <p:sp>
        <p:nvSpPr>
          <p:cNvPr id="815108" name="Rectangle 4"/>
          <p:cNvSpPr>
            <a:spLocks noChangeArrowheads="1"/>
          </p:cNvSpPr>
          <p:nvPr/>
        </p:nvSpPr>
        <p:spPr bwMode="auto">
          <a:xfrm>
            <a:off x="2078182" y="1357312"/>
            <a:ext cx="6511636" cy="1071563"/>
          </a:xfrm>
          <a:prstGeom prst="rect">
            <a:avLst/>
          </a:prstGeom>
          <a:noFill/>
          <a:ln w="9525">
            <a:noFill/>
            <a:miter lim="800000"/>
          </a:ln>
          <a:effectLst/>
        </p:spPr>
        <p:txBody>
          <a:bodyPr lIns="84216" tIns="42108" rIns="84216" bIns="42108"/>
          <a:lstStyle/>
          <a:p>
            <a:pPr marL="417195" indent="-417195">
              <a:spcBef>
                <a:spcPct val="0"/>
              </a:spcBef>
              <a:defRPr/>
            </a:pPr>
            <a:endParaRPr lang="en-US" altLang="zh-CN" sz="6100" dirty="0">
              <a:effectLst>
                <a:outerShdw blurRad="38100" dist="38100" dir="2700000" algn="tl">
                  <a:srgbClr val="C0C0C0"/>
                </a:outerShdw>
              </a:effectLst>
              <a:ea typeface="黑体" panose="0201060906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815107"/>
                                        </p:tgtEl>
                                        <p:attrNameLst>
                                          <p:attrName>style.visibility</p:attrName>
                                        </p:attrNameLst>
                                      </p:cBhvr>
                                      <p:to>
                                        <p:strVal val="visible"/>
                                      </p:to>
                                    </p:set>
                                    <p:anim calcmode="lin" valueType="num">
                                      <p:cBhvr>
                                        <p:cTn id="7" dur="500" fill="hold"/>
                                        <p:tgtEl>
                                          <p:spTgt spid="815107"/>
                                        </p:tgtEl>
                                        <p:attrNameLst>
                                          <p:attrName>ppt_x</p:attrName>
                                        </p:attrNameLst>
                                      </p:cBhvr>
                                      <p:tavLst>
                                        <p:tav tm="0">
                                          <p:val>
                                            <p:strVal val="#ppt_x+#ppt_w/2"/>
                                          </p:val>
                                        </p:tav>
                                        <p:tav tm="100000">
                                          <p:val>
                                            <p:strVal val="#ppt_x"/>
                                          </p:val>
                                        </p:tav>
                                      </p:tavLst>
                                    </p:anim>
                                    <p:anim calcmode="lin" valueType="num">
                                      <p:cBhvr>
                                        <p:cTn id="8" dur="500" fill="hold"/>
                                        <p:tgtEl>
                                          <p:spTgt spid="815107"/>
                                        </p:tgtEl>
                                        <p:attrNameLst>
                                          <p:attrName>ppt_y</p:attrName>
                                        </p:attrNameLst>
                                      </p:cBhvr>
                                      <p:tavLst>
                                        <p:tav tm="0">
                                          <p:val>
                                            <p:strVal val="#ppt_y"/>
                                          </p:val>
                                        </p:tav>
                                        <p:tav tm="100000">
                                          <p:val>
                                            <p:strVal val="#ppt_y"/>
                                          </p:val>
                                        </p:tav>
                                      </p:tavLst>
                                    </p:anim>
                                    <p:anim calcmode="lin" valueType="num">
                                      <p:cBhvr>
                                        <p:cTn id="9" dur="500" fill="hold"/>
                                        <p:tgtEl>
                                          <p:spTgt spid="815107"/>
                                        </p:tgtEl>
                                        <p:attrNameLst>
                                          <p:attrName>ppt_w</p:attrName>
                                        </p:attrNameLst>
                                      </p:cBhvr>
                                      <p:tavLst>
                                        <p:tav tm="0">
                                          <p:val>
                                            <p:fltVal val="0"/>
                                          </p:val>
                                        </p:tav>
                                        <p:tav tm="100000">
                                          <p:val>
                                            <p:strVal val="#ppt_w"/>
                                          </p:val>
                                        </p:tav>
                                      </p:tavLst>
                                    </p:anim>
                                    <p:anim calcmode="lin" valueType="num">
                                      <p:cBhvr>
                                        <p:cTn id="10" dur="500" fill="hold"/>
                                        <p:tgtEl>
                                          <p:spTgt spid="8151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150938" y="838200"/>
            <a:ext cx="6316662" cy="838200"/>
          </a:xfrm>
        </p:spPr>
        <p:txBody>
          <a:bodyPr/>
          <a:lstStyle/>
          <a:p>
            <a:pPr algn="ctr" eaLnBrk="1" hangingPunct="1"/>
            <a:r>
              <a:rPr lang="en-US" altLang="zh-CN" smtClean="0"/>
              <a:t>PDR</a:t>
            </a:r>
            <a:r>
              <a:rPr lang="zh-CN" altLang="en-US" smtClean="0"/>
              <a:t>模型</a:t>
            </a:r>
            <a:endParaRPr lang="zh-CN" altLang="en-US" smtClean="0"/>
          </a:p>
        </p:txBody>
      </p:sp>
      <p:sp>
        <p:nvSpPr>
          <p:cNvPr id="14339" name="Rectangle 3"/>
          <p:cNvSpPr>
            <a:spLocks noGrp="1" noChangeArrowheads="1"/>
          </p:cNvSpPr>
          <p:nvPr>
            <p:ph type="body" idx="1"/>
          </p:nvPr>
        </p:nvSpPr>
        <p:spPr>
          <a:xfrm>
            <a:off x="457200" y="2017713"/>
            <a:ext cx="8077200" cy="4114800"/>
          </a:xfrm>
        </p:spPr>
        <p:txBody>
          <a:bodyPr/>
          <a:lstStyle/>
          <a:p>
            <a:pPr lvl="1" eaLnBrk="1" hangingPunct="1"/>
            <a:r>
              <a:rPr lang="zh-CN" altLang="en-US" smtClean="0"/>
              <a:t>防护（</a:t>
            </a:r>
            <a:r>
              <a:rPr lang="en-US" altLang="zh-CN" smtClean="0"/>
              <a:t>Protection</a:t>
            </a:r>
            <a:r>
              <a:rPr lang="zh-CN" altLang="en-US" smtClean="0"/>
              <a:t>）指采用可能采取的手段保障信息的保密性、完整性、可用性、可控性和不可否认性。</a:t>
            </a:r>
            <a:endParaRPr lang="zh-CN" altLang="en-US" smtClean="0"/>
          </a:p>
          <a:p>
            <a:pPr lvl="1" eaLnBrk="1" hangingPunct="1"/>
            <a:r>
              <a:rPr lang="zh-CN" altLang="en-US" smtClean="0"/>
              <a:t>检测（</a:t>
            </a:r>
            <a:r>
              <a:rPr lang="en-US" altLang="zh-CN" smtClean="0"/>
              <a:t>Detection</a:t>
            </a:r>
            <a:r>
              <a:rPr lang="zh-CN" altLang="en-US" smtClean="0"/>
              <a:t>）指提供工具检查系统可能存在的黑客攻击、白领犯罪和病毒泛滥等脆弱性。检测是动态响应和加强防护的依据。</a:t>
            </a:r>
            <a:endParaRPr lang="zh-CN" altLang="en-US" smtClean="0"/>
          </a:p>
          <a:p>
            <a:pPr lvl="1" eaLnBrk="1" hangingPunct="1"/>
            <a:r>
              <a:rPr lang="zh-CN" altLang="en-US" smtClean="0"/>
              <a:t>响应（</a:t>
            </a:r>
            <a:r>
              <a:rPr lang="en-US" altLang="zh-CN" smtClean="0"/>
              <a:t>Reaction</a:t>
            </a:r>
            <a:r>
              <a:rPr lang="zh-CN" altLang="en-US" smtClean="0"/>
              <a:t>）指对危及安全的事件、行为、过程及时做出响应处理，杜绝危害的进一步蔓延扩大，力求系统尚能提供正常服务。</a:t>
            </a:r>
            <a:endParaRPr lang="zh-CN" altLang="en-US" smtClean="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descr="0311240001">
            <a:hlinkClick r:id="rId1"/>
          </p:cNvPr>
          <p:cNvPicPr>
            <a:picLocks noGrp="1" noChangeAspect="1" noChangeArrowheads="1"/>
          </p:cNvPicPr>
          <p:nvPr>
            <p:ph type="body" sz="half" idx="1"/>
          </p:nvPr>
        </p:nvPicPr>
        <p:blipFill>
          <a:blip r:embed="rId2">
            <a:extLst>
              <a:ext uri="{28A0092B-C50C-407E-A947-70E740481C1C}">
                <a14:useLocalDpi xmlns:a14="http://schemas.microsoft.com/office/drawing/2010/main" val="0"/>
              </a:ext>
            </a:extLst>
          </a:blip>
          <a:srcRect/>
          <a:stretch>
            <a:fillRect/>
          </a:stretch>
        </p:blipFill>
        <p:spPr>
          <a:xfrm>
            <a:off x="381000" y="2286000"/>
            <a:ext cx="3200400" cy="3429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387" name="Rectangle 15"/>
          <p:cNvSpPr>
            <a:spLocks noGrp="1" noChangeArrowheads="1"/>
          </p:cNvSpPr>
          <p:nvPr>
            <p:ph type="body" sz="half" idx="2"/>
          </p:nvPr>
        </p:nvSpPr>
        <p:spPr>
          <a:xfrm>
            <a:off x="3733800" y="1828800"/>
            <a:ext cx="5221288" cy="4303713"/>
          </a:xfrm>
        </p:spPr>
        <p:txBody>
          <a:bodyPr>
            <a:normAutofit lnSpcReduction="10000"/>
          </a:bodyPr>
          <a:lstStyle/>
          <a:p>
            <a:pPr eaLnBrk="1" hangingPunct="1"/>
            <a:r>
              <a:rPr lang="en-US" altLang="zh-CN" sz="2400" smtClean="0"/>
              <a:t>P2DR</a:t>
            </a:r>
            <a:r>
              <a:rPr lang="zh-CN" altLang="en-US" sz="2400" smtClean="0"/>
              <a:t>：安全策略</a:t>
            </a:r>
            <a:r>
              <a:rPr lang="en-US" altLang="zh-CN" sz="2400" smtClean="0"/>
              <a:t>(Policy)</a:t>
            </a:r>
            <a:r>
              <a:rPr lang="zh-CN" altLang="en-US" sz="2400" smtClean="0"/>
              <a:t>、防护</a:t>
            </a:r>
            <a:r>
              <a:rPr lang="en-US" altLang="zh-CN" sz="2400" smtClean="0"/>
              <a:t>(Protection)</a:t>
            </a:r>
            <a:r>
              <a:rPr lang="zh-CN" altLang="en-US" sz="2400" smtClean="0"/>
              <a:t>、检测</a:t>
            </a:r>
            <a:r>
              <a:rPr lang="en-US" altLang="zh-CN" sz="2400" smtClean="0"/>
              <a:t>(Detection)</a:t>
            </a:r>
            <a:r>
              <a:rPr lang="zh-CN" altLang="en-US" sz="2400" smtClean="0"/>
              <a:t>、响应</a:t>
            </a:r>
            <a:r>
              <a:rPr lang="en-US" altLang="zh-CN" sz="2400" smtClean="0"/>
              <a:t>(Reaction)</a:t>
            </a:r>
            <a:r>
              <a:rPr lang="zh-CN" altLang="en-US" sz="2400" smtClean="0"/>
              <a:t>。</a:t>
            </a:r>
            <a:endParaRPr lang="zh-CN" altLang="en-US" sz="2400" smtClean="0"/>
          </a:p>
          <a:p>
            <a:pPr eaLnBrk="1" hangingPunct="1"/>
            <a:r>
              <a:rPr lang="zh-CN" altLang="en-US" smtClean="0"/>
              <a:t>防护、检测和响应组成了一个完整的、动态的安全循环。在安全策略的指导下保证信息系统的安全。 </a:t>
            </a:r>
            <a:endParaRPr lang="zh-CN" altLang="en-US" smtClean="0"/>
          </a:p>
          <a:p>
            <a:pPr eaLnBrk="1" hangingPunct="1"/>
            <a:r>
              <a:rPr lang="zh-CN" altLang="en-US" smtClean="0"/>
              <a:t>安全策略是整个网络安全的依据，不同的网络需要不同的策略。</a:t>
            </a:r>
            <a:endParaRPr lang="zh-CN" altLang="en-US" smtClean="0"/>
          </a:p>
          <a:p>
            <a:pPr eaLnBrk="1" hangingPunct="1">
              <a:buFont typeface="Wingdings" panose="05000000000000000000" pitchFamily="2" charset="2"/>
              <a:buNone/>
            </a:pPr>
            <a:endParaRPr lang="en-US" altLang="zh-CN" smtClean="0"/>
          </a:p>
        </p:txBody>
      </p:sp>
      <p:sp>
        <p:nvSpPr>
          <p:cNvPr id="16388" name="Rectangle 16"/>
          <p:cNvSpPr>
            <a:spLocks noGrp="1" noChangeArrowheads="1"/>
          </p:cNvSpPr>
          <p:nvPr>
            <p:ph type="title"/>
          </p:nvPr>
        </p:nvSpPr>
        <p:spPr>
          <a:xfrm>
            <a:off x="1150938" y="685800"/>
            <a:ext cx="6164262" cy="990600"/>
          </a:xfrm>
          <a:noFill/>
        </p:spPr>
        <p:txBody>
          <a:bodyPr/>
          <a:lstStyle/>
          <a:p>
            <a:pPr algn="ctr" eaLnBrk="1" hangingPunct="1"/>
            <a:r>
              <a:rPr lang="en-US" altLang="zh-CN" smtClean="0"/>
              <a:t>P2DR</a:t>
            </a:r>
            <a:r>
              <a:rPr lang="zh-CN" altLang="en-US" smtClean="0"/>
              <a:t>模型</a:t>
            </a:r>
            <a:endParaRPr lang="zh-CN" altLang="en-US" smtClean="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日期占位符 1"/>
          <p:cNvSpPr>
            <a:spLocks noGrp="1"/>
          </p:cNvSpPr>
          <p:nvPr>
            <p:ph type="dt" sz="quarter" idx="4294967295"/>
          </p:nvPr>
        </p:nvSpPr>
        <p:spPr>
          <a:xfrm>
            <a:off x="457200" y="6356350"/>
            <a:ext cx="2133600" cy="365125"/>
          </a:xfrm>
          <a:prstGeom prst="rect">
            <a:avLst/>
          </a:prstGeom>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623F151-338A-4360-BF29-3998532774B1}" type="datetime1">
              <a:rPr lang="zh-CN" altLang="en-US" smtClean="0"/>
            </a:fld>
            <a:endParaRPr lang="en-US" altLang="zh-CN" smtClean="0"/>
          </a:p>
        </p:txBody>
      </p:sp>
      <p:sp>
        <p:nvSpPr>
          <p:cNvPr id="354308" name="灯片编号占位符 3"/>
          <p:cNvSpPr>
            <a:spLocks noGrp="1"/>
          </p:cNvSpPr>
          <p:nvPr>
            <p:ph type="sldNum" sz="quarter" idx="4294967295"/>
          </p:nvPr>
        </p:nvSpPr>
        <p:spPr>
          <a:xfrm>
            <a:off x="6553200" y="6356350"/>
            <a:ext cx="2133600" cy="365125"/>
          </a:xfrm>
          <a:prstGeom prst="rect">
            <a:avLst/>
          </a:prstGeom>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CE17F1E9-C948-4FB3-9950-5EC71EF95844}" type="slidenum">
              <a:rPr lang="en-US" altLang="zh-CN" smtClean="0"/>
            </a:fld>
            <a:endParaRPr lang="en-US" altLang="zh-CN" smtClean="0"/>
          </a:p>
        </p:txBody>
      </p:sp>
      <p:pic>
        <p:nvPicPr>
          <p:cNvPr id="168962" name="Picture 2"/>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46288" y="1839913"/>
            <a:ext cx="4630737" cy="290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168962"/>
                                        </p:tgtEl>
                                        <p:attrNameLst>
                                          <p:attrName>style.visibility</p:attrName>
                                        </p:attrNameLst>
                                      </p:cBhvr>
                                      <p:to>
                                        <p:strVal val="visible"/>
                                      </p:to>
                                    </p:set>
                                    <p:animEffect transition="in" filter="barn(inHorizontal)">
                                      <p:cBhvr>
                                        <p:cTn id="7" dur="500"/>
                                        <p:tgtEl>
                                          <p:spTgt spid="168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TIMING" val="|22.9|14.6|8.4|5.7"/>
</p:tagLst>
</file>

<file path=ppt/tags/tag2.xml><?xml version="1.0" encoding="utf-8"?>
<p:tagLst xmlns:p="http://schemas.openxmlformats.org/presentationml/2006/main">
  <p:tag name="TIMING" val="|15.7|15.8|20.4|3.8|4.6|20.3|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15519</Words>
  <Application>WPS 演示</Application>
  <PresentationFormat>全屏显示(4:3)</PresentationFormat>
  <Paragraphs>1326</Paragraphs>
  <Slides>138</Slides>
  <Notes>44</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8</vt:i4>
      </vt:variant>
      <vt:variant>
        <vt:lpstr>幻灯片标题</vt:lpstr>
      </vt:variant>
      <vt:variant>
        <vt:i4>138</vt:i4>
      </vt:variant>
    </vt:vector>
  </HeadingPairs>
  <TitlesOfParts>
    <vt:vector size="172" baseType="lpstr">
      <vt:lpstr>Arial</vt:lpstr>
      <vt:lpstr>宋体</vt:lpstr>
      <vt:lpstr>Wingdings</vt:lpstr>
      <vt:lpstr>微软雅黑</vt:lpstr>
      <vt:lpstr>PMingLiU</vt:lpstr>
      <vt:lpstr>MingLiU-ExtB</vt:lpstr>
      <vt:lpstr>黑体</vt:lpstr>
      <vt:lpstr>Verdana</vt:lpstr>
      <vt:lpstr>Lucida Sans Unicode</vt:lpstr>
      <vt:lpstr>Gulim</vt:lpstr>
      <vt:lpstr>Malgun Gothic</vt:lpstr>
      <vt:lpstr>Calibri</vt:lpstr>
      <vt:lpstr>Arial Unicode MS</vt:lpstr>
      <vt:lpstr>华文新魏</vt:lpstr>
      <vt:lpstr>楷体_GB2312</vt:lpstr>
      <vt:lpstr>新宋体</vt:lpstr>
      <vt:lpstr>Times New Roman</vt:lpstr>
      <vt:lpstr>Tahoma</vt:lpstr>
      <vt:lpstr>Arial Unicode MS</vt:lpstr>
      <vt:lpstr>Garamond</vt:lpstr>
      <vt:lpstr>Arial</vt:lpstr>
      <vt:lpstr>Constantia</vt:lpstr>
      <vt:lpstr>Symbol</vt:lpstr>
      <vt:lpstr>隶书</vt:lpstr>
      <vt:lpstr>Impact</vt:lpstr>
      <vt:lpstr>Office 主题​​</vt:lpstr>
      <vt:lpstr>PBrush</vt:lpstr>
      <vt:lpstr>MS_ClipArt_Gallery</vt:lpstr>
      <vt:lpstr>MS_ClipArt_Gallery</vt:lpstr>
      <vt:lpstr>MS_ClipArt_Gallery</vt:lpstr>
      <vt:lpstr>MS_ClipArt_Gallery</vt:lpstr>
      <vt:lpstr>MS_ClipArt_Gallery</vt:lpstr>
      <vt:lpstr>MS_ClipArt_Gallery</vt:lpstr>
      <vt:lpstr>MS_ClipArt_Gallery</vt:lpstr>
      <vt:lpstr>网络攻防技术 第十一讲 课程复习</vt:lpstr>
      <vt:lpstr>PowerPoint 演示文稿</vt:lpstr>
      <vt:lpstr>复习纲要</vt:lpstr>
      <vt:lpstr>课程安排</vt:lpstr>
      <vt:lpstr>课程安排</vt:lpstr>
      <vt:lpstr>信息安全概论</vt:lpstr>
      <vt:lpstr>信息安全概论</vt:lpstr>
      <vt:lpstr>PowerPoint 演示文稿</vt:lpstr>
      <vt:lpstr>信息安全概论——定义</vt:lpstr>
      <vt:lpstr>信息安全应具有的特征 </vt:lpstr>
      <vt:lpstr>信息安全概述——研究内容</vt:lpstr>
      <vt:lpstr>信息安全概述——密码理论与技术</vt:lpstr>
      <vt:lpstr>信息安全概述——安全体系结构理论与技术</vt:lpstr>
      <vt:lpstr>信息安全概述——信息对抗理论与技术</vt:lpstr>
      <vt:lpstr>信息安全概述——网络安全与安全产品</vt:lpstr>
      <vt:lpstr>信息安全概述——安全模型</vt:lpstr>
      <vt:lpstr>信息安全概述——安全模型</vt:lpstr>
      <vt:lpstr>PowerPoint 演示文稿</vt:lpstr>
      <vt:lpstr>PowerPoint 演示文稿</vt:lpstr>
      <vt:lpstr> 目的 &amp;内容</vt:lpstr>
      <vt:lpstr>PowerPoint 演示文稿</vt:lpstr>
      <vt:lpstr>目的 &amp;内容</vt:lpstr>
      <vt:lpstr>安全保密涉及的学科</vt:lpstr>
      <vt:lpstr>PowerPoint 演示文稿</vt:lpstr>
      <vt:lpstr>PowerPoint 演示文稿</vt:lpstr>
      <vt:lpstr>PowerPoint 演示文稿</vt:lpstr>
      <vt:lpstr>三、著名密码体系</vt:lpstr>
      <vt:lpstr>1）、DES数据加密标准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一、认证的基本原理 </vt:lpstr>
      <vt:lpstr>PowerPoint 演示文稿</vt:lpstr>
      <vt:lpstr>PowerPoint 演示文稿</vt:lpstr>
      <vt:lpstr>PowerPoint 演示文稿</vt:lpstr>
      <vt:lpstr>三、基于智能卡的身份认证 </vt:lpstr>
      <vt:lpstr>PowerPoint 演示文稿</vt:lpstr>
      <vt:lpstr>PowerPoint 演示文稿</vt:lpstr>
      <vt:lpstr>PowerPoint 演示文稿</vt:lpstr>
      <vt:lpstr>PowerPoint 演示文稿</vt:lpstr>
      <vt:lpstr>三、基于智能卡的身份认证 </vt:lpstr>
      <vt:lpstr>PowerPoint 演示文稿</vt:lpstr>
      <vt:lpstr>PowerPoint 演示文稿</vt:lpstr>
      <vt:lpstr>3)事件同步身份认证 </vt:lpstr>
      <vt:lpstr>PowerPoint 演示文稿</vt:lpstr>
      <vt:lpstr>PowerPoint 演示文稿</vt:lpstr>
      <vt:lpstr>一、访问控制的概念</vt:lpstr>
      <vt:lpstr>PowerPoint 演示文稿</vt:lpstr>
      <vt:lpstr>其他内容</vt:lpstr>
      <vt:lpstr>PowerPoint 演示文稿</vt:lpstr>
      <vt:lpstr>内容</vt:lpstr>
      <vt:lpstr>我们为什么需要PKI</vt:lpstr>
      <vt:lpstr>什么是PKI</vt:lpstr>
      <vt:lpstr>PowerPoint 演示文稿</vt:lpstr>
      <vt:lpstr>PowerPoint 演示文稿</vt:lpstr>
      <vt:lpstr>PowerPoint 演示文稿</vt:lpstr>
      <vt:lpstr>Web应用</vt:lpstr>
      <vt:lpstr>SSL协议 </vt:lpstr>
      <vt:lpstr>SSL协议层与TCP/IP 协议关系图 </vt:lpstr>
      <vt:lpstr>握手协议顺序</vt:lpstr>
      <vt:lpstr> 数据传送过程 </vt:lpstr>
      <vt:lpstr>虚拟专用网VPN </vt:lpstr>
      <vt:lpstr>VPN</vt:lpstr>
      <vt:lpstr>IPSec协议</vt:lpstr>
      <vt:lpstr>安全电子邮件 </vt:lpstr>
      <vt:lpstr>安全电子邮件</vt:lpstr>
      <vt:lpstr>USB Key在PKI中的应用 </vt:lpstr>
      <vt:lpstr>USB Key 的特点 </vt:lpstr>
      <vt:lpstr>USB Key 的特点</vt:lpstr>
      <vt:lpstr>SET支付 </vt:lpstr>
      <vt:lpstr>PowerPoint 演示文稿</vt:lpstr>
      <vt:lpstr>PowerPoint 演示文稿</vt:lpstr>
      <vt:lpstr>PowerPoint 演示文稿</vt:lpstr>
      <vt:lpstr>PowerPoint 演示文稿</vt:lpstr>
      <vt:lpstr>PowerPoint 演示文稿</vt:lpstr>
      <vt:lpstr>本讲主要内容</vt:lpstr>
      <vt:lpstr>PowerPoint 演示文稿</vt:lpstr>
      <vt:lpstr>PowerPoint 演示文稿</vt:lpstr>
      <vt:lpstr>PowerPoint 演示文稿</vt:lpstr>
      <vt:lpstr>PowerPoint 演示文稿</vt:lpstr>
      <vt:lpstr>PowerPoint 演示文稿</vt:lpstr>
      <vt:lpstr>用户认证 </vt:lpstr>
      <vt:lpstr>访问控制  </vt:lpstr>
      <vt:lpstr>PowerPoint 演示文稿</vt:lpstr>
      <vt:lpstr>本讲主要内容</vt:lpstr>
      <vt:lpstr>PowerPoint 演示文稿</vt:lpstr>
      <vt:lpstr>本讲内容</vt:lpstr>
      <vt:lpstr>软件安全的概念</vt:lpstr>
      <vt:lpstr>安全设计原则</vt:lpstr>
      <vt:lpstr>通用安全编码准则</vt:lpstr>
      <vt:lpstr>PowerPoint 演示文稿</vt:lpstr>
      <vt:lpstr>防火墙的基本原理</vt:lpstr>
      <vt:lpstr>防火墙示意图</vt:lpstr>
      <vt:lpstr>防火墙的分类</vt:lpstr>
      <vt:lpstr>防火墙的分类(2)</vt:lpstr>
      <vt:lpstr>防火墙的技术</vt:lpstr>
      <vt:lpstr>包过滤防火墙（2）</vt:lpstr>
      <vt:lpstr>包过滤防火墙的优缺点</vt:lpstr>
      <vt:lpstr>包过滤防火墙的优缺点</vt:lpstr>
      <vt:lpstr>代理型防火墙</vt:lpstr>
      <vt:lpstr>代理防火墙的优点</vt:lpstr>
      <vt:lpstr>电路级网关</vt:lpstr>
      <vt:lpstr>混合型防火墙</vt:lpstr>
      <vt:lpstr>防火墙的配置方案</vt:lpstr>
      <vt:lpstr>双宿主机模式(cont.)</vt:lpstr>
      <vt:lpstr>双宿主机模式(cont.)</vt:lpstr>
      <vt:lpstr>双宿主机模式(cont.)</vt:lpstr>
      <vt:lpstr>PowerPoint 演示文稿</vt:lpstr>
      <vt:lpstr>屏蔽主机模式</vt:lpstr>
      <vt:lpstr>屏蔽主机模式(2)</vt:lpstr>
      <vt:lpstr>PowerPoint 演示文稿</vt:lpstr>
      <vt:lpstr>屏蔽主机模式</vt:lpstr>
      <vt:lpstr>屏蔽子网模式</vt:lpstr>
      <vt:lpstr>屏蔽子网模式(cont.)</vt:lpstr>
      <vt:lpstr>PowerPoint 演示文稿</vt:lpstr>
      <vt:lpstr>本讲内容</vt:lpstr>
      <vt:lpstr>1、入侵检测的概念</vt:lpstr>
      <vt:lpstr>PowerPoint 演示文稿</vt:lpstr>
      <vt:lpstr>基于网络的入侵检测（NIDS）</vt:lpstr>
      <vt:lpstr> 基于主机的入侵检测系统（HIDS）</vt:lpstr>
      <vt:lpstr>分布式入侵检测系统（DIDS ）</vt:lpstr>
      <vt:lpstr>入侵检测的设计准则</vt:lpstr>
      <vt:lpstr>入侵检测的检测机理</vt:lpstr>
      <vt:lpstr>基于异常的检测机制</vt:lpstr>
      <vt:lpstr>基于特征的检测机制</vt:lpstr>
      <vt:lpstr>基于特征的检测机制</vt:lpstr>
      <vt:lpstr>基于上述两者混合的检测机制</vt:lpstr>
      <vt:lpstr>PowerPoint 演示文稿</vt:lpstr>
      <vt:lpstr>PDR模型</vt:lpstr>
      <vt:lpstr>P2DR模型</vt:lpstr>
      <vt:lpstr>PowerPoint 演示文稿</vt:lpstr>
    </vt:vector>
  </TitlesOfParts>
  <Company>您的公司名</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Liang</cp:lastModifiedBy>
  <cp:revision>107</cp:revision>
  <dcterms:created xsi:type="dcterms:W3CDTF">2019-02-24T09:07:00Z</dcterms:created>
  <dcterms:modified xsi:type="dcterms:W3CDTF">2024-12-04T20:14:08Z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81C9F686072B43DEBA04BAF65CE17A79_13</vt:lpwstr>
  </property>
  <property fmtid="{D5CDD505-2E9C-101B-9397-08002B2CF9AE}" pid="3" name="KSOProductBuildVer">
    <vt:lpwstr>2052-12.1.0.19302</vt:lpwstr>
  </property>
</Properties>
</file>