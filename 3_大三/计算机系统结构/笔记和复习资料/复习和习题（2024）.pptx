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notesMasterIdLst>
    <p:notesMasterId r:id="rId88"/>
  </p:notesMasterIdLst>
  <p:handoutMasterIdLst>
    <p:handoutMasterId r:id="rId89"/>
  </p:handoutMasterIdLst>
  <p:sldIdLst>
    <p:sldId id="256" r:id="rId7"/>
    <p:sldId id="435" r:id="rId8"/>
    <p:sldId id="280" r:id="rId9"/>
    <p:sldId id="416" r:id="rId10"/>
    <p:sldId id="264" r:id="rId11"/>
    <p:sldId id="265" r:id="rId12"/>
    <p:sldId id="266" r:id="rId13"/>
    <p:sldId id="267" r:id="rId14"/>
    <p:sldId id="268" r:id="rId15"/>
    <p:sldId id="269" r:id="rId16"/>
    <p:sldId id="270" r:id="rId17"/>
    <p:sldId id="272" r:id="rId18"/>
    <p:sldId id="273" r:id="rId19"/>
    <p:sldId id="274" r:id="rId20"/>
    <p:sldId id="275" r:id="rId21"/>
    <p:sldId id="276" r:id="rId22"/>
    <p:sldId id="277" r:id="rId23"/>
    <p:sldId id="279" r:id="rId24"/>
    <p:sldId id="418" r:id="rId25"/>
    <p:sldId id="419" r:id="rId26"/>
    <p:sldId id="420" r:id="rId27"/>
    <p:sldId id="421" r:id="rId28"/>
    <p:sldId id="422" r:id="rId29"/>
    <p:sldId id="423" r:id="rId30"/>
    <p:sldId id="424" r:id="rId31"/>
    <p:sldId id="339" r:id="rId32"/>
    <p:sldId id="425" r:id="rId33"/>
    <p:sldId id="434" r:id="rId34"/>
    <p:sldId id="284"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426" r:id="rId50"/>
    <p:sldId id="427" r:id="rId51"/>
    <p:sldId id="428" r:id="rId52"/>
    <p:sldId id="429" r:id="rId53"/>
    <p:sldId id="430" r:id="rId54"/>
    <p:sldId id="301" r:id="rId55"/>
    <p:sldId id="302" r:id="rId56"/>
    <p:sldId id="303" r:id="rId57"/>
    <p:sldId id="304" r:id="rId58"/>
    <p:sldId id="305" r:id="rId59"/>
    <p:sldId id="306" r:id="rId60"/>
    <p:sldId id="307" r:id="rId61"/>
    <p:sldId id="308" r:id="rId62"/>
    <p:sldId id="309" r:id="rId63"/>
    <p:sldId id="436" r:id="rId64"/>
    <p:sldId id="310" r:id="rId65"/>
    <p:sldId id="311" r:id="rId66"/>
    <p:sldId id="312" r:id="rId67"/>
    <p:sldId id="313" r:id="rId68"/>
    <p:sldId id="314" r:id="rId69"/>
    <p:sldId id="315" r:id="rId70"/>
    <p:sldId id="316" r:id="rId71"/>
    <p:sldId id="317" r:id="rId72"/>
    <p:sldId id="318" r:id="rId73"/>
    <p:sldId id="322" r:id="rId74"/>
    <p:sldId id="323" r:id="rId75"/>
    <p:sldId id="324" r:id="rId76"/>
    <p:sldId id="325" r:id="rId77"/>
    <p:sldId id="332" r:id="rId78"/>
    <p:sldId id="431" r:id="rId79"/>
    <p:sldId id="432" r:id="rId80"/>
    <p:sldId id="326" r:id="rId81"/>
    <p:sldId id="327" r:id="rId82"/>
    <p:sldId id="328" r:id="rId83"/>
    <p:sldId id="329" r:id="rId84"/>
    <p:sldId id="330" r:id="rId85"/>
    <p:sldId id="331" r:id="rId86"/>
    <p:sldId id="433" r:id="rId87"/>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4" userDrawn="1">
          <p15:clr>
            <a:srgbClr val="A4A3A4"/>
          </p15:clr>
        </p15:guide>
        <p15:guide id="2" pos="285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ger" initials="t" lastIdx="3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4" d="100"/>
          <a:sy n="64" d="100"/>
        </p:scale>
        <p:origin x="1266" y="72"/>
      </p:cViewPr>
      <p:guideLst>
        <p:guide orient="horz" pos="2164"/>
        <p:guide pos="285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commentAuthors" Target="commentAuthors.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3.xml"/><Relationship Id="rId89" Type="http://schemas.openxmlformats.org/officeDocument/2006/relationships/handoutMaster" Target="handoutMasters/handoutMaster1.xml"/><Relationship Id="rId88" Type="http://schemas.openxmlformats.org/officeDocument/2006/relationships/notesMaster" Target="notesMasters/notesMaster1.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Master" Target="slideMasters/slideMaster5.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7172"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7173"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533400"/>
            <a:ext cx="60198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image" Target="../media/image1.jpe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p:nvPr>
        </p:nvSpPr>
        <p:spPr>
          <a:xfrm>
            <a:off x="457200" y="1447800"/>
            <a:ext cx="8229600" cy="48006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p:spPr>
        <p:txBody>
          <a:bodyPr vert="horz" wrap="square" lIns="91440" tIns="45720" rIns="91440" bIns="45720" numCol="1" anchor="t" anchorCtr="0" compatLnSpc="1"/>
          <a:lstStyle>
            <a:lvl1pPr eaLnBrk="1" fontAlgn="auto" hangingPunct="1">
              <a:spcBef>
                <a:spcPts val="0"/>
              </a:spcBef>
              <a:spcAft>
                <a:spcPts val="0"/>
              </a:spcAft>
              <a:defRPr sz="1200">
                <a:solidFill>
                  <a:schemeClr val="bg1"/>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bg1"/>
              </a:solidFill>
              <a:effectLst/>
              <a:uLnTx/>
              <a:uFillTx/>
              <a:latin typeface="+mn-lt"/>
              <a:ea typeface="+mn-ea"/>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p:spPr>
        <p:txBody>
          <a:bodyPr vert="horz" wrap="square" lIns="91440" tIns="45720" rIns="91440" bIns="45720" numCol="1" anchor="t" anchorCtr="0" compatLnSpc="1"/>
          <a:lstStyle>
            <a:lvl1pPr algn="ctr" eaLnBrk="1" fontAlgn="auto" hangingPunct="1">
              <a:spcBef>
                <a:spcPts val="0"/>
              </a:spcBef>
              <a:spcAft>
                <a:spcPts val="0"/>
              </a:spcAft>
              <a:defRPr sz="1200">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p:spPr>
        <p:txBody>
          <a:bodyPr vert="horz" wrap="square" lIns="91440" tIns="45720" rIns="91440" bIns="45720" numCol="1" anchor="t" anchorCtr="0" compatLnSpc="1"/>
          <a:lstStyle>
            <a:lvl1pPr algn="ctr" eaLnBrk="1" hangingPunct="1">
              <a:defRPr sz="1200">
                <a:solidFill>
                  <a:schemeClr val="bg1"/>
                </a:solidFill>
                <a:latin typeface="黑体" panose="02010609060101010101" pitchFamily="49" charset="-122"/>
                <a:ea typeface="黑体" panose="02010609060101010101" pitchFamily="49"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2299B19C-DFB5-4568-92CC-009302A4D88E}" type="slidenum">
              <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rPr>
            </a:fld>
            <a:endParaRPr kumimoji="0" lang="en-US" altLang="zh-CN" sz="1200" b="0" i="0" u="none" strike="noStrike" kern="1200" cap="none" spc="0" normalizeH="0" baseline="0" noProof="0">
              <a:ln>
                <a:noFill/>
              </a:ln>
              <a:solidFill>
                <a:schemeClr val="bg1"/>
              </a:solidFill>
              <a:effectLst/>
              <a:uLnTx/>
              <a:uFillTx/>
              <a:latin typeface="黑体" panose="02010609060101010101" pitchFamily="49" charset="-122"/>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wmf"/><Relationship Id="rId7" Type="http://schemas.openxmlformats.org/officeDocument/2006/relationships/oleObject" Target="../embeddings/oleObject2.bin"/><Relationship Id="rId6" Type="http://schemas.openxmlformats.org/officeDocument/2006/relationships/tags" Target="../tags/tag3.xml"/><Relationship Id="rId5" Type="http://schemas.openxmlformats.org/officeDocument/2006/relationships/image" Target="../media/image5.wmf"/><Relationship Id="rId4" Type="http://schemas.openxmlformats.org/officeDocument/2006/relationships/oleObject" Target="../embeddings/oleObject1.bin"/><Relationship Id="rId3" Type="http://schemas.openxmlformats.org/officeDocument/2006/relationships/tags" Target="../tags/tag2.xml"/><Relationship Id="rId2" Type="http://schemas.openxmlformats.org/officeDocument/2006/relationships/image" Target="../media/image4.png"/><Relationship Id="rId12" Type="http://schemas.openxmlformats.org/officeDocument/2006/relationships/vmlDrawing" Target="../drawings/vmlDrawing1.vml"/><Relationship Id="rId11" Type="http://schemas.openxmlformats.org/officeDocument/2006/relationships/slideLayout" Target="../slideLayouts/slideLayout2.xml"/><Relationship Id="rId10" Type="http://schemas.openxmlformats.org/officeDocument/2006/relationships/image" Target="../media/image8.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wmf"/><Relationship Id="rId7" Type="http://schemas.openxmlformats.org/officeDocument/2006/relationships/oleObject" Target="../embeddings/oleObject4.bin"/><Relationship Id="rId6" Type="http://schemas.openxmlformats.org/officeDocument/2006/relationships/tags" Target="../tags/tag6.xml"/><Relationship Id="rId5" Type="http://schemas.openxmlformats.org/officeDocument/2006/relationships/image" Target="../media/image10.png"/><Relationship Id="rId4" Type="http://schemas.openxmlformats.org/officeDocument/2006/relationships/image" Target="../media/image9.wmf"/><Relationship Id="rId3" Type="http://schemas.openxmlformats.org/officeDocument/2006/relationships/oleObject" Target="../embeddings/oleObject3.bin"/><Relationship Id="rId2" Type="http://schemas.openxmlformats.org/officeDocument/2006/relationships/tags" Target="../tags/tag5.xml"/><Relationship Id="rId10" Type="http://schemas.openxmlformats.org/officeDocument/2006/relationships/vmlDrawing" Target="../drawings/vmlDrawing2.v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2.xml"/><Relationship Id="rId7" Type="http://schemas.openxmlformats.org/officeDocument/2006/relationships/image" Target="../media/image13.wmf"/><Relationship Id="rId6" Type="http://schemas.openxmlformats.org/officeDocument/2006/relationships/oleObject" Target="../embeddings/oleObject6.bin"/><Relationship Id="rId5" Type="http://schemas.openxmlformats.org/officeDocument/2006/relationships/tags" Target="../tags/tag9.xml"/><Relationship Id="rId4" Type="http://schemas.openxmlformats.org/officeDocument/2006/relationships/image" Target="../media/image12.wmf"/><Relationship Id="rId3" Type="http://schemas.openxmlformats.org/officeDocument/2006/relationships/oleObject" Target="../embeddings/oleObject5.bin"/><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image" Target="../media/image15.wmf"/><Relationship Id="rId6" Type="http://schemas.openxmlformats.org/officeDocument/2006/relationships/oleObject" Target="../embeddings/oleObject8.bin"/><Relationship Id="rId5" Type="http://schemas.openxmlformats.org/officeDocument/2006/relationships/tags" Target="../tags/tag13.xml"/><Relationship Id="rId4" Type="http://schemas.openxmlformats.org/officeDocument/2006/relationships/image" Target="../media/image14.wmf"/><Relationship Id="rId3" Type="http://schemas.openxmlformats.org/officeDocument/2006/relationships/oleObject" Target="../embeddings/oleObject7.bin"/><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10.bin"/><Relationship Id="rId4" Type="http://schemas.openxmlformats.org/officeDocument/2006/relationships/tags" Target="../tags/tag19.xml"/><Relationship Id="rId3" Type="http://schemas.openxmlformats.org/officeDocument/2006/relationships/image" Target="../media/image26.wmf"/><Relationship Id="rId2" Type="http://schemas.openxmlformats.org/officeDocument/2006/relationships/oleObject" Target="../embeddings/oleObject9.bin"/><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13.bin"/><Relationship Id="rId4" Type="http://schemas.openxmlformats.org/officeDocument/2006/relationships/image" Target="../media/image29.wmf"/><Relationship Id="rId3" Type="http://schemas.openxmlformats.org/officeDocument/2006/relationships/oleObject" Target="../embeddings/oleObject12.bin"/><Relationship Id="rId2" Type="http://schemas.openxmlformats.org/officeDocument/2006/relationships/image" Target="../media/image28.wmf"/><Relationship Id="rId1"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14.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tags" Target="../tags/tag24.xml"/><Relationship Id="rId7" Type="http://schemas.openxmlformats.org/officeDocument/2006/relationships/image" Target="../media/image42.wmf"/><Relationship Id="rId6" Type="http://schemas.openxmlformats.org/officeDocument/2006/relationships/oleObject" Target="../embeddings/oleObject15.bin"/><Relationship Id="rId5" Type="http://schemas.openxmlformats.org/officeDocument/2006/relationships/tags" Target="../tags/tag23.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5" Type="http://schemas.openxmlformats.org/officeDocument/2006/relationships/vmlDrawing" Target="../drawings/vmlDrawing8.vml"/><Relationship Id="rId14" Type="http://schemas.openxmlformats.org/officeDocument/2006/relationships/slideLayout" Target="../slideLayouts/slideLayout2.xml"/><Relationship Id="rId13" Type="http://schemas.openxmlformats.org/officeDocument/2006/relationships/image" Target="../media/image44.wmf"/><Relationship Id="rId12" Type="http://schemas.openxmlformats.org/officeDocument/2006/relationships/oleObject" Target="../embeddings/oleObject17.bin"/><Relationship Id="rId11" Type="http://schemas.openxmlformats.org/officeDocument/2006/relationships/tags" Target="../tags/tag25.xml"/><Relationship Id="rId10" Type="http://schemas.openxmlformats.org/officeDocument/2006/relationships/image" Target="../media/image43.wmf"/><Relationship Id="rId1" Type="http://schemas.openxmlformats.org/officeDocument/2006/relationships/tags" Target="../tags/tag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tags" Target="../tags/tag28.xml"/><Relationship Id="rId4" Type="http://schemas.openxmlformats.org/officeDocument/2006/relationships/image" Target="../media/image45.wmf"/><Relationship Id="rId3" Type="http://schemas.openxmlformats.org/officeDocument/2006/relationships/oleObject" Target="../embeddings/oleObject18.bin"/><Relationship Id="rId2" Type="http://schemas.openxmlformats.org/officeDocument/2006/relationships/tags" Target="../tags/tag27.xml"/><Relationship Id="rId1" Type="http://schemas.openxmlformats.org/officeDocument/2006/relationships/tags" Target="../tags/tag26.xml"/></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tags" Target="../tags/tag32.xml"/><Relationship Id="rId7" Type="http://schemas.openxmlformats.org/officeDocument/2006/relationships/image" Target="../media/image48.wmf"/><Relationship Id="rId6" Type="http://schemas.openxmlformats.org/officeDocument/2006/relationships/oleObject" Target="../embeddings/oleObject20.bin"/><Relationship Id="rId5" Type="http://schemas.openxmlformats.org/officeDocument/2006/relationships/tags" Target="../tags/tag31.xml"/><Relationship Id="rId4" Type="http://schemas.openxmlformats.org/officeDocument/2006/relationships/image" Target="../media/image47.wmf"/><Relationship Id="rId3" Type="http://schemas.openxmlformats.org/officeDocument/2006/relationships/oleObject" Target="../embeddings/oleObject19.bin"/><Relationship Id="rId2" Type="http://schemas.openxmlformats.org/officeDocument/2006/relationships/tags" Target="../tags/tag30.xml"/><Relationship Id="rId12" Type="http://schemas.openxmlformats.org/officeDocument/2006/relationships/vmlDrawing" Target="../drawings/vmlDrawing10.vml"/><Relationship Id="rId11" Type="http://schemas.openxmlformats.org/officeDocument/2006/relationships/slideLayout" Target="../slideLayouts/slideLayout2.xml"/><Relationship Id="rId10" Type="http://schemas.openxmlformats.org/officeDocument/2006/relationships/image" Target="../media/image49.wmf"/><Relationship Id="rId1" Type="http://schemas.openxmlformats.org/officeDocument/2006/relationships/tags" Target="../tags/tag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image" Target="../media/image52.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tags" Target="../tags/tag3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5" Type="http://schemas.openxmlformats.org/officeDocument/2006/relationships/slideLayout" Target="../slideLayouts/slideLayout2.xml"/><Relationship Id="rId24" Type="http://schemas.openxmlformats.org/officeDocument/2006/relationships/tags" Target="../tags/tag57.xml"/><Relationship Id="rId23" Type="http://schemas.openxmlformats.org/officeDocument/2006/relationships/tags" Target="../tags/tag56.xml"/><Relationship Id="rId22" Type="http://schemas.openxmlformats.org/officeDocument/2006/relationships/tags" Target="../tags/tag55.xml"/><Relationship Id="rId21" Type="http://schemas.openxmlformats.org/officeDocument/2006/relationships/tags" Target="../tags/tag54.xml"/><Relationship Id="rId20" Type="http://schemas.openxmlformats.org/officeDocument/2006/relationships/tags" Target="../tags/tag53.xml"/><Relationship Id="rId2" Type="http://schemas.openxmlformats.org/officeDocument/2006/relationships/tags" Target="../tags/tag35.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tags" Target="../tags/tag58.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0.png"/><Relationship Id="rId2" Type="http://schemas.openxmlformats.org/officeDocument/2006/relationships/tags" Target="../tags/tag60.xml"/><Relationship Id="rId1" Type="http://schemas.openxmlformats.org/officeDocument/2006/relationships/tags" Target="../tags/tag59.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tags" Target="../tags/tag61.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2.png"/><Relationship Id="rId1" Type="http://schemas.openxmlformats.org/officeDocument/2006/relationships/tags" Target="../tags/tag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5.png"/><Relationship Id="rId1" Type="http://schemas.openxmlformats.org/officeDocument/2006/relationships/image" Target="../media/image74.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73.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oleObject" Target="../embeddings/oleObject23.bin"/><Relationship Id="rId3" Type="http://schemas.openxmlformats.org/officeDocument/2006/relationships/image" Target="../media/image78.wmf"/><Relationship Id="rId2" Type="http://schemas.openxmlformats.org/officeDocument/2006/relationships/oleObject" Target="../embeddings/oleObject22.bin"/><Relationship Id="rId1" Type="http://schemas.openxmlformats.org/officeDocument/2006/relationships/tags" Target="../tags/tag6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1"/>
          <p:cNvSpPr>
            <a:spLocks noGrp="1"/>
          </p:cNvSpPr>
          <p:nvPr>
            <p:ph type="ctrTitle"/>
          </p:nvPr>
        </p:nvSpPr>
        <p:spPr>
          <a:noFill/>
          <a:ln>
            <a:noFill/>
          </a:ln>
        </p:spPr>
        <p:txBody>
          <a:bodyPr anchor="t" anchorCtr="0"/>
          <a:p>
            <a:pPr algn="ctr" eaLnBrk="1" hangingPunct="1">
              <a:buClrTx/>
              <a:buSzTx/>
              <a:buFontTx/>
            </a:pPr>
            <a:r>
              <a:rPr lang="zh-CN" altLang="en-US" sz="4000" dirty="0">
                <a:latin typeface="Times New Roman" panose="02020603050405020304" pitchFamily="18" charset="0"/>
              </a:rPr>
              <a:t>复习和</a:t>
            </a:r>
            <a:r>
              <a:rPr lang="zh-CN" altLang="en-US" sz="4000" dirty="0">
                <a:latin typeface="Times New Roman" panose="02020603050405020304" pitchFamily="18" charset="0"/>
              </a:rPr>
              <a:t>习题</a:t>
            </a:r>
            <a:endParaRPr lang="zh-CN" altLang="en-US" sz="4000" dirty="0">
              <a:latin typeface="Times New Roman" panose="02020603050405020304" pitchFamily="18" charset="0"/>
            </a:endParaRPr>
          </a:p>
        </p:txBody>
      </p:sp>
      <p:sp>
        <p:nvSpPr>
          <p:cNvPr id="8194" name="副标题 2"/>
          <p:cNvSpPr>
            <a:spLocks noGrp="1"/>
          </p:cNvSpPr>
          <p:nvPr>
            <p:ph type="subTitle" idx="1"/>
          </p:nvPr>
        </p:nvSpPr>
        <p:spPr>
          <a:noFill/>
          <a:ln>
            <a:noFill/>
          </a:ln>
        </p:spPr>
        <p:txBody>
          <a:bodyPr anchor="t" anchorCtr="0"/>
          <a:p>
            <a:pPr eaLnBrk="1" hangingPunct="1">
              <a:buSzTx/>
            </a:pPr>
            <a:r>
              <a:rPr lang="zh-CN" altLang="en-US" sz="3200" dirty="0">
                <a:latin typeface="Times New Roman" panose="02020603050405020304" pitchFamily="18" charset="0"/>
                <a:ea typeface="+mn-ea"/>
                <a:cs typeface="+mn-cs"/>
              </a:rPr>
              <a:t>计算机系统结构</a:t>
            </a:r>
            <a:endParaRPr lang="en-US" altLang="zh-CN" sz="3200" dirty="0">
              <a:latin typeface="Times New Roman" panose="02020603050405020304" pitchFamily="18" charset="0"/>
              <a:ea typeface="+mn-ea"/>
              <a:cs typeface="+mn-cs"/>
            </a:endParaRPr>
          </a:p>
          <a:p>
            <a:pPr eaLnBrk="1" hangingPunct="1">
              <a:buSzTx/>
            </a:pPr>
            <a:r>
              <a:rPr lang="en-US" altLang="zh-CN" dirty="0">
                <a:latin typeface="Times New Roman" panose="02020603050405020304" pitchFamily="18" charset="0"/>
                <a:ea typeface="+mn-ea"/>
                <a:cs typeface="+mn-cs"/>
              </a:rPr>
              <a:t>2024</a:t>
            </a:r>
            <a:endParaRPr lang="en-US" altLang="zh-CN" dirty="0">
              <a:latin typeface="Times New Roman" panose="02020603050405020304" pitchFamily="18" charset="0"/>
              <a:ea typeface="+mn-ea"/>
              <a:cs typeface="+mn-cs"/>
            </a:endParaRPr>
          </a:p>
          <a:p>
            <a:pPr eaLnBrk="1" hangingPunct="1">
              <a:buSzTx/>
            </a:pPr>
            <a:endParaRPr lang="zh-CN" altLang="en-US" dirty="0">
              <a:latin typeface="Times New Roman" panose="02020603050405020304"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panose="02020603050405020304" pitchFamily="18" charset="0"/>
                <a:cs typeface="Times New Roman" panose="02020603050405020304" pitchFamily="18" charset="0"/>
              </a:rPr>
              <a:t>2024</a:t>
            </a:r>
            <a:r>
              <a:rPr lang="zh-CN" altLang="en-US">
                <a:latin typeface="Times New Roman" panose="02020603050405020304" pitchFamily="18" charset="0"/>
                <a:cs typeface="Times New Roman" panose="02020603050405020304" pitchFamily="18" charset="0"/>
              </a:rPr>
              <a:t>《计算机系统结构》考试大纲</a:t>
            </a:r>
            <a:endParaRPr lang="zh-CN" altLang="en-US">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a:srcRect t="10007"/>
          <a:stretch>
            <a:fillRect/>
          </a:stretch>
        </p:blipFill>
        <p:spPr>
          <a:xfrm>
            <a:off x="1331595" y="1196975"/>
            <a:ext cx="5950585" cy="5179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第一章</a:t>
            </a:r>
            <a:r>
              <a:rPr lang="en-US" altLang="zh-CN"/>
              <a:t> </a:t>
            </a:r>
            <a:r>
              <a:rPr lang="zh-CN" altLang="en-US"/>
              <a:t>基本</a:t>
            </a:r>
            <a:r>
              <a:rPr lang="zh-CN" altLang="en-US"/>
              <a:t>概念</a:t>
            </a:r>
            <a:endParaRPr lang="zh-CN" altLang="en-US"/>
          </a:p>
        </p:txBody>
      </p:sp>
      <p:sp>
        <p:nvSpPr>
          <p:cNvPr id="4" name="内容占位符 3"/>
          <p:cNvSpPr>
            <a:spLocks noGrp="1"/>
          </p:cNvSpPr>
          <p:nvPr>
            <p:ph idx="1"/>
            <p:custDataLst>
              <p:tags r:id="rId1"/>
            </p:custDataLst>
          </p:nvPr>
        </p:nvSpPr>
        <p:spPr>
          <a:xfrm>
            <a:off x="395605" y="1309370"/>
            <a:ext cx="8229600" cy="4817110"/>
          </a:xfrm>
        </p:spPr>
        <p:txBody>
          <a:bodyPr/>
          <a:p>
            <a:pPr latinLnBrk="0">
              <a:spcBef>
                <a:spcPts val="1200"/>
              </a:spcBef>
            </a:pPr>
            <a:r>
              <a:rPr lang="zh-CN" altLang="en-US" sz="2400">
                <a:latin typeface="Times New Roman" panose="02020603050405020304" pitchFamily="18" charset="0"/>
                <a:cs typeface="Times New Roman" panose="02020603050405020304" pitchFamily="18" charset="0"/>
                <a:sym typeface="+mn-ea"/>
              </a:rPr>
              <a:t>计算机系统的设计技术：</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en-US" altLang="zh-CN" sz="2400">
                <a:latin typeface="Times New Roman" panose="02020603050405020304" pitchFamily="18" charset="0"/>
                <a:cs typeface="Times New Roman" panose="02020603050405020304" pitchFamily="18" charset="0"/>
                <a:sym typeface="+mn-ea"/>
              </a:rPr>
              <a:t> </a:t>
            </a:r>
            <a:r>
              <a:rPr lang="zh-CN" altLang="en-US" sz="2000">
                <a:solidFill>
                  <a:srgbClr val="FF0000"/>
                </a:solidFill>
                <a:latin typeface="Times New Roman" panose="02020603050405020304" pitchFamily="18" charset="0"/>
                <a:cs typeface="Times New Roman" panose="02020603050405020304" pitchFamily="18" charset="0"/>
                <a:sym typeface="+mn-ea"/>
              </a:rPr>
              <a:t>加快经常性事件</a:t>
            </a:r>
            <a:r>
              <a:rPr lang="zh-CN" altLang="en-US" sz="2000">
                <a:latin typeface="Times New Roman" panose="02020603050405020304" pitchFamily="18" charset="0"/>
                <a:cs typeface="Times New Roman" panose="02020603050405020304" pitchFamily="18" charset="0"/>
                <a:sym typeface="+mn-ea"/>
              </a:rPr>
              <a:t>的速度</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1200"/>
              </a:spcBef>
            </a:pPr>
            <a:r>
              <a:rPr lang="en-US" altLang="zh-CN" sz="2000">
                <a:latin typeface="Times New Roman" panose="02020603050405020304" pitchFamily="18" charset="0"/>
                <a:cs typeface="Times New Roman" panose="02020603050405020304" pitchFamily="18" charset="0"/>
              </a:rPr>
              <a:t>Amdahl</a:t>
            </a:r>
            <a:r>
              <a:rPr lang="zh-CN" altLang="en-US" sz="2000">
                <a:latin typeface="Times New Roman" panose="02020603050405020304" pitchFamily="18" charset="0"/>
                <a:cs typeface="Times New Roman" panose="02020603050405020304" pitchFamily="18" charset="0"/>
              </a:rPr>
              <a:t>阿姆达尔定律</a:t>
            </a:r>
            <a:endParaRPr lang="zh-CN" altLang="en-US" sz="2000">
              <a:latin typeface="Times New Roman" panose="02020603050405020304" pitchFamily="18" charset="0"/>
              <a:cs typeface="Times New Roman" panose="02020603050405020304" pitchFamily="18" charset="0"/>
            </a:endParaRPr>
          </a:p>
          <a:p>
            <a:pPr lvl="1" latinLnBrk="0">
              <a:spcBef>
                <a:spcPts val="1200"/>
              </a:spcBef>
            </a:pPr>
            <a:endParaRPr lang="zh-CN" altLang="en-US" sz="2000">
              <a:latin typeface="Times New Roman" panose="02020603050405020304" pitchFamily="18" charset="0"/>
              <a:cs typeface="Times New Roman" panose="02020603050405020304" pitchFamily="18" charset="0"/>
            </a:endParaRPr>
          </a:p>
          <a:p>
            <a:pPr lvl="1" latinLnBrk="0">
              <a:spcBef>
                <a:spcPts val="1200"/>
              </a:spcBef>
            </a:pPr>
            <a:endParaRPr lang="zh-CN" altLang="en-US" sz="2000">
              <a:latin typeface="Times New Roman" panose="02020603050405020304" pitchFamily="18" charset="0"/>
              <a:cs typeface="Times New Roman" panose="02020603050405020304" pitchFamily="18" charset="0"/>
            </a:endParaRPr>
          </a:p>
          <a:p>
            <a:pPr lvl="1" latinLnBrk="0">
              <a:spcBef>
                <a:spcPts val="1200"/>
              </a:spcBef>
            </a:pPr>
            <a:endParaRPr lang="zh-CN" altLang="en-US" sz="2000">
              <a:latin typeface="Times New Roman" panose="02020603050405020304" pitchFamily="18" charset="0"/>
              <a:cs typeface="Times New Roman" panose="02020603050405020304" pitchFamily="18" charset="0"/>
            </a:endParaRPr>
          </a:p>
          <a:p>
            <a:pPr lvl="1" latinLnBrk="0">
              <a:spcBef>
                <a:spcPts val="1200"/>
              </a:spcBef>
            </a:pPr>
            <a:endParaRPr lang="zh-CN" altLang="en-US" sz="2000">
              <a:latin typeface="Times New Roman" panose="02020603050405020304" pitchFamily="18" charset="0"/>
              <a:cs typeface="Times New Roman" panose="02020603050405020304" pitchFamily="18" charset="0"/>
            </a:endParaRPr>
          </a:p>
          <a:p>
            <a:pPr lvl="1" latinLnBrk="0">
              <a:spcBef>
                <a:spcPts val="1200"/>
              </a:spcBef>
            </a:pPr>
            <a:endParaRPr lang="zh-CN" altLang="en-US" sz="2000">
              <a:latin typeface="Times New Roman" panose="02020603050405020304" pitchFamily="18" charset="0"/>
              <a:cs typeface="Times New Roman" panose="02020603050405020304" pitchFamily="18" charset="0"/>
            </a:endParaRPr>
          </a:p>
          <a:p>
            <a:pPr lvl="1" algn="l" latinLnBrk="0">
              <a:spcBef>
                <a:spcPts val="1200"/>
              </a:spcBef>
              <a:buSzTx/>
            </a:pPr>
            <a:r>
              <a:rPr lang="en-US" altLang="zh-CN" sz="2000">
                <a:latin typeface="Times New Roman" panose="02020603050405020304" pitchFamily="18" charset="0"/>
                <a:cs typeface="Times New Roman" panose="02020603050405020304" pitchFamily="18" charset="0"/>
              </a:rPr>
              <a:t>CPU性能公式 </a:t>
            </a:r>
            <a:endParaRPr lang="en-US" altLang="zh-CN" sz="2000">
              <a:latin typeface="Times New Roman" panose="02020603050405020304" pitchFamily="18" charset="0"/>
              <a:cs typeface="Times New Roman" panose="02020603050405020304" pitchFamily="18" charset="0"/>
            </a:endParaRPr>
          </a:p>
          <a:p>
            <a:pPr lvl="1" latinLnBrk="0">
              <a:spcBef>
                <a:spcPts val="1200"/>
              </a:spcBef>
            </a:pPr>
            <a:endParaRPr lang="en-US" altLang="zh-CN"/>
          </a:p>
          <a:p>
            <a:pPr lvl="2" latinLnBrk="0">
              <a:spcBef>
                <a:spcPts val="1200"/>
              </a:spcBef>
            </a:pPr>
            <a:endParaRPr lang="zh-CN" altLang="en-US">
              <a:latin typeface="Times New Roman" panose="02020603050405020304" pitchFamily="18" charset="0"/>
              <a:cs typeface="Times New Roman" panose="02020603050405020304" pitchFamily="18" charset="0"/>
            </a:endParaRPr>
          </a:p>
          <a:p>
            <a:pPr lvl="1" latinLnBrk="0">
              <a:spcBef>
                <a:spcPts val="1200"/>
              </a:spcBef>
            </a:pPr>
            <a:endParaRPr lang="zh-CN" altLang="en-US" sz="2055">
              <a:latin typeface="Times New Roman" panose="02020603050405020304" pitchFamily="18" charset="0"/>
              <a:cs typeface="Times New Roman" panose="02020603050405020304" pitchFamily="18" charset="0"/>
              <a:sym typeface="+mn-ea"/>
            </a:endParaRPr>
          </a:p>
        </p:txBody>
      </p:sp>
      <p:pic>
        <p:nvPicPr>
          <p:cNvPr id="5" name="图片 4"/>
          <p:cNvPicPr>
            <a:picLocks noChangeAspect="1"/>
          </p:cNvPicPr>
          <p:nvPr/>
        </p:nvPicPr>
        <p:blipFill>
          <a:blip r:embed="rId2"/>
          <a:stretch>
            <a:fillRect/>
          </a:stretch>
        </p:blipFill>
        <p:spPr>
          <a:xfrm>
            <a:off x="971550" y="2853055"/>
            <a:ext cx="3689350" cy="819150"/>
          </a:xfrm>
          <a:prstGeom prst="rect">
            <a:avLst/>
          </a:prstGeom>
        </p:spPr>
      </p:pic>
      <p:graphicFrame>
        <p:nvGraphicFramePr>
          <p:cNvPr id="50184" name="Object 6"/>
          <p:cNvGraphicFramePr>
            <a:graphicFrameLocks noChangeAspect="1"/>
          </p:cNvGraphicFramePr>
          <p:nvPr>
            <p:custDataLst>
              <p:tags r:id="rId3"/>
            </p:custDataLst>
          </p:nvPr>
        </p:nvGraphicFramePr>
        <p:xfrm>
          <a:off x="2915920" y="3789045"/>
          <a:ext cx="2622550" cy="985838"/>
        </p:xfrm>
        <a:graphic>
          <a:graphicData uri="http://schemas.openxmlformats.org/presentationml/2006/ole">
            <mc:AlternateContent xmlns:mc="http://schemas.openxmlformats.org/markup-compatibility/2006">
              <mc:Choice xmlns:v="urn:schemas-microsoft-com:vml" Requires="v">
                <p:oleObj spid="_x0000_s8" name="" r:id="rId4" imgW="3746500" imgH="1409700" progId="Equation.DSMT4">
                  <p:embed/>
                </p:oleObj>
              </mc:Choice>
              <mc:Fallback>
                <p:oleObj name="" r:id="rId4" imgW="3746500" imgH="1409700" progId="Equation.DSMT4">
                  <p:embed/>
                  <p:pic>
                    <p:nvPicPr>
                      <p:cNvPr id="0" name="图片 3089"/>
                      <p:cNvPicPr/>
                      <p:nvPr/>
                    </p:nvPicPr>
                    <p:blipFill>
                      <a:blip r:embed="rId5"/>
                      <a:stretch>
                        <a:fillRect/>
                      </a:stretch>
                    </p:blipFill>
                    <p:spPr>
                      <a:xfrm>
                        <a:off x="2915920" y="3789045"/>
                        <a:ext cx="2622550" cy="985838"/>
                      </a:xfrm>
                      <a:prstGeom prst="rect">
                        <a:avLst/>
                      </a:prstGeom>
                      <a:noFill/>
                      <a:ln w="38100">
                        <a:noFill/>
                        <a:miter/>
                      </a:ln>
                    </p:spPr>
                  </p:pic>
                </p:oleObj>
              </mc:Fallback>
            </mc:AlternateContent>
          </a:graphicData>
        </a:graphic>
      </p:graphicFrame>
      <p:graphicFrame>
        <p:nvGraphicFramePr>
          <p:cNvPr id="50182" name="Object 4"/>
          <p:cNvGraphicFramePr>
            <a:graphicFrameLocks noChangeAspect="1"/>
          </p:cNvGraphicFramePr>
          <p:nvPr>
            <p:custDataLst>
              <p:tags r:id="rId6"/>
            </p:custDataLst>
          </p:nvPr>
        </p:nvGraphicFramePr>
        <p:xfrm>
          <a:off x="4860290" y="2853055"/>
          <a:ext cx="3635375" cy="808038"/>
        </p:xfrm>
        <a:graphic>
          <a:graphicData uri="http://schemas.openxmlformats.org/presentationml/2006/ole">
            <mc:AlternateContent xmlns:mc="http://schemas.openxmlformats.org/markup-compatibility/2006">
              <mc:Choice xmlns:v="urn:schemas-microsoft-com:vml" Requires="v">
                <p:oleObj spid="_x0000_s6" name="" r:id="rId7" imgW="5194300" imgH="1152525" progId="Equation.3">
                  <p:embed/>
                </p:oleObj>
              </mc:Choice>
              <mc:Fallback>
                <p:oleObj name="" r:id="rId7" imgW="5194300" imgH="1152525" progId="Equation.3">
                  <p:embed/>
                  <p:pic>
                    <p:nvPicPr>
                      <p:cNvPr id="0" name="图片 3083"/>
                      <p:cNvPicPr/>
                      <p:nvPr/>
                    </p:nvPicPr>
                    <p:blipFill>
                      <a:blip r:embed="rId8"/>
                      <a:stretch>
                        <a:fillRect/>
                      </a:stretch>
                    </p:blipFill>
                    <p:spPr>
                      <a:xfrm>
                        <a:off x="4860290" y="2853055"/>
                        <a:ext cx="3635375" cy="808038"/>
                      </a:xfrm>
                      <a:prstGeom prst="rect">
                        <a:avLst/>
                      </a:prstGeom>
                      <a:noFill/>
                      <a:ln w="38100">
                        <a:noFill/>
                        <a:miter/>
                      </a:ln>
                    </p:spPr>
                  </p:pic>
                </p:oleObj>
              </mc:Fallback>
            </mc:AlternateContent>
          </a:graphicData>
        </a:graphic>
      </p:graphicFrame>
      <p:pic>
        <p:nvPicPr>
          <p:cNvPr id="7" name="图片 6"/>
          <p:cNvPicPr>
            <a:picLocks noChangeAspect="1"/>
          </p:cNvPicPr>
          <p:nvPr/>
        </p:nvPicPr>
        <p:blipFill>
          <a:blip r:embed="rId9"/>
          <a:stretch>
            <a:fillRect/>
          </a:stretch>
        </p:blipFill>
        <p:spPr>
          <a:xfrm>
            <a:off x="899795" y="5589270"/>
            <a:ext cx="4163060" cy="745490"/>
          </a:xfrm>
          <a:prstGeom prst="rect">
            <a:avLst/>
          </a:prstGeom>
        </p:spPr>
      </p:pic>
      <p:pic>
        <p:nvPicPr>
          <p:cNvPr id="9" name="图片 8"/>
          <p:cNvPicPr>
            <a:picLocks noChangeAspect="1"/>
          </p:cNvPicPr>
          <p:nvPr/>
        </p:nvPicPr>
        <p:blipFill>
          <a:blip r:embed="rId10"/>
          <a:stretch>
            <a:fillRect/>
          </a:stretch>
        </p:blipFill>
        <p:spPr>
          <a:xfrm>
            <a:off x="5580380" y="5589270"/>
            <a:ext cx="2752725" cy="7689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第一章</a:t>
            </a:r>
            <a:endParaRPr lang="zh-CN" altLang="en-US"/>
          </a:p>
        </p:txBody>
      </p:sp>
      <p:sp>
        <p:nvSpPr>
          <p:cNvPr id="4" name="内容占位符 3"/>
          <p:cNvSpPr>
            <a:spLocks noGrp="1"/>
          </p:cNvSpPr>
          <p:nvPr>
            <p:ph idx="1"/>
            <p:custDataLst>
              <p:tags r:id="rId1"/>
            </p:custDataLst>
          </p:nvPr>
        </p:nvSpPr>
        <p:spPr>
          <a:xfrm>
            <a:off x="395605" y="1309370"/>
            <a:ext cx="8229600" cy="4817110"/>
          </a:xfrm>
        </p:spPr>
        <p:txBody>
          <a:bodyPr/>
          <a:p>
            <a:pPr latinLnBrk="0">
              <a:spcBef>
                <a:spcPts val="1200"/>
              </a:spcBef>
            </a:pPr>
            <a:r>
              <a:rPr lang="zh-CN" altLang="en-US" sz="2400">
                <a:latin typeface="Times New Roman" panose="02020603050405020304" pitchFamily="18" charset="0"/>
                <a:cs typeface="Times New Roman" panose="02020603050405020304" pitchFamily="18" charset="0"/>
                <a:sym typeface="+mn-ea"/>
              </a:rPr>
              <a:t>系统性能：执行程序的</a:t>
            </a:r>
            <a:r>
              <a:rPr lang="zh-CN" altLang="en-US" sz="2400">
                <a:latin typeface="Times New Roman" panose="02020603050405020304" pitchFamily="18" charset="0"/>
                <a:cs typeface="Times New Roman" panose="02020603050405020304" pitchFamily="18" charset="0"/>
                <a:sym typeface="+mn-ea"/>
              </a:rPr>
              <a:t>时间</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en-US" altLang="zh-CN" sz="2400">
                <a:latin typeface="Times New Roman" panose="02020603050405020304" pitchFamily="18" charset="0"/>
                <a:cs typeface="Times New Roman" panose="02020603050405020304" pitchFamily="18" charset="0"/>
                <a:sym typeface="+mn-ea"/>
              </a:rPr>
              <a:t> </a:t>
            </a:r>
            <a:r>
              <a:rPr lang="en-US" altLang="zh-CN" sz="2000">
                <a:solidFill>
                  <a:srgbClr val="FF0000"/>
                </a:solidFill>
                <a:latin typeface="Times New Roman" panose="02020603050405020304" pitchFamily="18" charset="0"/>
                <a:cs typeface="Times New Roman" panose="02020603050405020304" pitchFamily="18" charset="0"/>
                <a:sym typeface="+mn-ea"/>
              </a:rPr>
              <a:t>MIPS</a:t>
            </a:r>
            <a:endParaRPr lang="en-US" altLang="zh-CN" sz="2000">
              <a:solidFill>
                <a:srgbClr val="FF0000"/>
              </a:solidFill>
              <a:latin typeface="Times New Roman" panose="02020603050405020304" pitchFamily="18" charset="0"/>
              <a:cs typeface="Times New Roman" panose="02020603050405020304" pitchFamily="18" charset="0"/>
              <a:sym typeface="+mn-ea"/>
            </a:endParaRPr>
          </a:p>
          <a:p>
            <a:pPr lvl="1" latinLnBrk="0">
              <a:spcBef>
                <a:spcPts val="1200"/>
              </a:spcBef>
            </a:pPr>
            <a:endParaRPr lang="en-US" altLang="zh-CN" sz="2000">
              <a:solidFill>
                <a:srgbClr val="FF0000"/>
              </a:solidFill>
              <a:latin typeface="Times New Roman" panose="02020603050405020304" pitchFamily="18" charset="0"/>
              <a:cs typeface="Times New Roman" panose="02020603050405020304" pitchFamily="18" charset="0"/>
              <a:sym typeface="+mn-ea"/>
            </a:endParaRPr>
          </a:p>
          <a:p>
            <a:pPr lvl="1" latinLnBrk="0">
              <a:spcBef>
                <a:spcPts val="1200"/>
              </a:spcBef>
            </a:pPr>
            <a:endParaRPr lang="en-US" altLang="zh-CN" sz="2000">
              <a:solidFill>
                <a:srgbClr val="FF0000"/>
              </a:solidFill>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solidFill>
                  <a:srgbClr val="FF0000"/>
                </a:solidFill>
                <a:latin typeface="Times New Roman" panose="02020603050405020304" pitchFamily="18" charset="0"/>
                <a:cs typeface="Times New Roman" panose="02020603050405020304" pitchFamily="18" charset="0"/>
                <a:sym typeface="+mn-ea"/>
              </a:rPr>
              <a:t>等效指令速度</a:t>
            </a:r>
            <a:endParaRPr lang="zh-CN" altLang="en-US" sz="2000">
              <a:solidFill>
                <a:srgbClr val="FF0000"/>
              </a:solidFill>
              <a:latin typeface="Times New Roman" panose="02020603050405020304" pitchFamily="18" charset="0"/>
              <a:cs typeface="Times New Roman" panose="02020603050405020304" pitchFamily="18" charset="0"/>
              <a:sym typeface="+mn-ea"/>
            </a:endParaRPr>
          </a:p>
          <a:p>
            <a:pPr lvl="2" latinLnBrk="0">
              <a:spcBef>
                <a:spcPts val="600"/>
              </a:spcBef>
            </a:pPr>
            <a:r>
              <a:rPr lang="en-US" altLang="zh-CN" sz="2000">
                <a:latin typeface="Times New Roman" panose="02020603050405020304" pitchFamily="18" charset="0"/>
                <a:cs typeface="Times New Roman" panose="02020603050405020304" pitchFamily="18" charset="0"/>
              </a:rPr>
              <a:t>Wi</a:t>
            </a:r>
            <a:r>
              <a:rPr lang="zh-CN" altLang="en-US" sz="2000">
                <a:latin typeface="Times New Roman" panose="02020603050405020304" pitchFamily="18" charset="0"/>
                <a:cs typeface="Times New Roman" panose="02020603050405020304" pitchFamily="18" charset="0"/>
              </a:rPr>
              <a:t>：指令使用频度，</a:t>
            </a:r>
            <a:r>
              <a:rPr lang="en-US" altLang="zh-CN" sz="2000">
                <a:latin typeface="Times New Roman" panose="02020603050405020304" pitchFamily="18" charset="0"/>
                <a:cs typeface="Times New Roman" panose="02020603050405020304" pitchFamily="18" charset="0"/>
              </a:rPr>
              <a:t>i</a:t>
            </a:r>
            <a:r>
              <a:rPr lang="zh-CN" altLang="en-US" sz="2000">
                <a:latin typeface="Times New Roman" panose="02020603050405020304" pitchFamily="18" charset="0"/>
                <a:cs typeface="Times New Roman" panose="02020603050405020304" pitchFamily="18" charset="0"/>
              </a:rPr>
              <a:t>：指令种类</a:t>
            </a:r>
            <a:endParaRPr lang="zh-CN" altLang="en-US" sz="2000">
              <a:latin typeface="Times New Roman" panose="02020603050405020304" pitchFamily="18" charset="0"/>
              <a:cs typeface="Times New Roman" panose="02020603050405020304" pitchFamily="18" charset="0"/>
            </a:endParaRPr>
          </a:p>
          <a:p>
            <a:pPr lvl="2" latinLnBrk="0">
              <a:spcBef>
                <a:spcPts val="600"/>
              </a:spcBef>
            </a:pPr>
            <a:r>
              <a:rPr lang="zh-CN" altLang="en-US" sz="2000">
                <a:latin typeface="Times New Roman" panose="02020603050405020304" pitchFamily="18" charset="0"/>
                <a:cs typeface="Times New Roman" panose="02020603050405020304" pitchFamily="18" charset="0"/>
              </a:rPr>
              <a:t>静态指令使用频度：在程序中直接统计</a:t>
            </a:r>
            <a:endParaRPr lang="zh-CN" altLang="en-US" sz="2000">
              <a:latin typeface="Times New Roman" panose="02020603050405020304" pitchFamily="18" charset="0"/>
              <a:cs typeface="Times New Roman" panose="02020603050405020304" pitchFamily="18" charset="0"/>
            </a:endParaRPr>
          </a:p>
          <a:p>
            <a:pPr lvl="2" latinLnBrk="0">
              <a:spcBef>
                <a:spcPts val="1200"/>
              </a:spcBef>
            </a:pPr>
            <a:endParaRPr lang="zh-CN" altLang="en-US"/>
          </a:p>
          <a:p>
            <a:pPr lvl="1" latinLnBrk="0">
              <a:spcBef>
                <a:spcPts val="1200"/>
              </a:spcBef>
            </a:pPr>
            <a:endParaRPr lang="en-US" altLang="zh-CN"/>
          </a:p>
          <a:p>
            <a:pPr lvl="2" latinLnBrk="0">
              <a:spcBef>
                <a:spcPts val="1200"/>
              </a:spcBef>
            </a:pPr>
            <a:endParaRPr lang="zh-CN" altLang="en-US">
              <a:latin typeface="Times New Roman" panose="02020603050405020304" pitchFamily="18" charset="0"/>
              <a:cs typeface="Times New Roman" panose="02020603050405020304" pitchFamily="18" charset="0"/>
            </a:endParaRPr>
          </a:p>
          <a:p>
            <a:pPr lvl="1" latinLnBrk="0">
              <a:spcBef>
                <a:spcPts val="1200"/>
              </a:spcBef>
            </a:pPr>
            <a:endParaRPr lang="zh-CN" altLang="en-US" sz="2055">
              <a:latin typeface="Times New Roman" panose="02020603050405020304" pitchFamily="18" charset="0"/>
              <a:cs typeface="Times New Roman" panose="02020603050405020304" pitchFamily="18" charset="0"/>
              <a:sym typeface="+mn-ea"/>
            </a:endParaRPr>
          </a:p>
        </p:txBody>
      </p:sp>
      <p:graphicFrame>
        <p:nvGraphicFramePr>
          <p:cNvPr id="79877" name="Object 5"/>
          <p:cNvGraphicFramePr>
            <a:graphicFrameLocks noChangeAspect="1"/>
          </p:cNvGraphicFramePr>
          <p:nvPr>
            <p:custDataLst>
              <p:tags r:id="rId2"/>
            </p:custDataLst>
          </p:nvPr>
        </p:nvGraphicFramePr>
        <p:xfrm>
          <a:off x="1043940" y="2348865"/>
          <a:ext cx="4194810" cy="828675"/>
        </p:xfrm>
        <a:graphic>
          <a:graphicData uri="http://schemas.openxmlformats.org/presentationml/2006/ole">
            <mc:AlternateContent xmlns:mc="http://schemas.openxmlformats.org/markup-compatibility/2006">
              <mc:Choice xmlns:v="urn:schemas-microsoft-com:vml" Requires="v">
                <p:oleObj spid="_x0000_s3" name="" r:id="rId3" imgW="4508500" imgH="890905" progId="Equation.3">
                  <p:embed/>
                </p:oleObj>
              </mc:Choice>
              <mc:Fallback>
                <p:oleObj name="" r:id="rId3" imgW="4508500" imgH="890905" progId="Equation.3">
                  <p:embed/>
                  <p:pic>
                    <p:nvPicPr>
                      <p:cNvPr id="0" name="图片 3076"/>
                      <p:cNvPicPr/>
                      <p:nvPr/>
                    </p:nvPicPr>
                    <p:blipFill>
                      <a:blip r:embed="rId4"/>
                      <a:stretch>
                        <a:fillRect/>
                      </a:stretch>
                    </p:blipFill>
                    <p:spPr>
                      <a:xfrm>
                        <a:off x="1043940" y="2348865"/>
                        <a:ext cx="4194810" cy="828675"/>
                      </a:xfrm>
                      <a:prstGeom prst="rect">
                        <a:avLst/>
                      </a:prstGeom>
                      <a:noFill/>
                      <a:ln w="38100">
                        <a:noFill/>
                        <a:miter/>
                      </a:ln>
                    </p:spPr>
                  </p:pic>
                </p:oleObj>
              </mc:Fallback>
            </mc:AlternateContent>
          </a:graphicData>
        </a:graphic>
      </p:graphicFrame>
      <p:pic>
        <p:nvPicPr>
          <p:cNvPr id="10" name="图片 9"/>
          <p:cNvPicPr>
            <a:picLocks noChangeAspect="1"/>
          </p:cNvPicPr>
          <p:nvPr/>
        </p:nvPicPr>
        <p:blipFill>
          <a:blip r:embed="rId5"/>
          <a:stretch>
            <a:fillRect/>
          </a:stretch>
        </p:blipFill>
        <p:spPr>
          <a:xfrm>
            <a:off x="5652135" y="2348865"/>
            <a:ext cx="2204085" cy="852170"/>
          </a:xfrm>
          <a:prstGeom prst="rect">
            <a:avLst/>
          </a:prstGeom>
        </p:spPr>
      </p:pic>
      <p:graphicFrame>
        <p:nvGraphicFramePr>
          <p:cNvPr id="83972" name="Object 3"/>
          <p:cNvGraphicFramePr>
            <a:graphicFrameLocks noChangeAspect="1"/>
          </p:cNvGraphicFramePr>
          <p:nvPr>
            <p:custDataLst>
              <p:tags r:id="rId6"/>
            </p:custDataLst>
          </p:nvPr>
        </p:nvGraphicFramePr>
        <p:xfrm>
          <a:off x="2484120" y="4437380"/>
          <a:ext cx="3268345" cy="1954530"/>
        </p:xfrm>
        <a:graphic>
          <a:graphicData uri="http://schemas.openxmlformats.org/presentationml/2006/ole">
            <mc:AlternateContent xmlns:mc="http://schemas.openxmlformats.org/markup-compatibility/2006">
              <mc:Choice xmlns:v="urn:schemas-microsoft-com:vml" Requires="v">
                <p:oleObj spid="_x0000_s11" name="" r:id="rId7" imgW="5118100" imgH="3060700" progId="Equation.3">
                  <p:embed/>
                </p:oleObj>
              </mc:Choice>
              <mc:Fallback>
                <p:oleObj name="" r:id="rId7" imgW="5118100" imgH="3060700" progId="Equation.3">
                  <p:embed/>
                  <p:pic>
                    <p:nvPicPr>
                      <p:cNvPr id="0" name="图片 3078"/>
                      <p:cNvPicPr/>
                      <p:nvPr/>
                    </p:nvPicPr>
                    <p:blipFill>
                      <a:blip r:embed="rId8"/>
                      <a:stretch>
                        <a:fillRect/>
                      </a:stretch>
                    </p:blipFill>
                    <p:spPr>
                      <a:xfrm>
                        <a:off x="2484120" y="4437380"/>
                        <a:ext cx="3268345" cy="1954530"/>
                      </a:xfrm>
                      <a:prstGeom prst="rect">
                        <a:avLst/>
                      </a:prstGeom>
                      <a:noFill/>
                      <a:ln w="38100">
                        <a:noFill/>
                        <a:miter/>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Amdahl定律</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86868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假设将某系统的某一部件的处理速度加快到10倍,但该部件的原处理时间仅为整个运行时间的40%，则采用加快措施后能使整个系统的性能提高多少？</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解：由题意可知：Fe=0.4, Se=10，根据Amdahl定律</a:t>
            </a:r>
            <a:endParaRPr lang="zh-CN" altLang="en-US" sz="2400">
              <a:latin typeface="Times New Roman" panose="02020603050405020304" pitchFamily="18" charset="0"/>
              <a:cs typeface="Times New Roman" panose="02020603050405020304" pitchFamily="18" charset="0"/>
              <a:sym typeface="+mn-ea"/>
            </a:endParaRPr>
          </a:p>
        </p:txBody>
      </p:sp>
      <p:graphicFrame>
        <p:nvGraphicFramePr>
          <p:cNvPr id="52229" name="Object 5"/>
          <p:cNvGraphicFramePr>
            <a:graphicFrameLocks noChangeAspect="1"/>
          </p:cNvGraphicFramePr>
          <p:nvPr>
            <p:custDataLst>
              <p:tags r:id="rId2"/>
            </p:custDataLst>
          </p:nvPr>
        </p:nvGraphicFramePr>
        <p:xfrm>
          <a:off x="2116455" y="4805045"/>
          <a:ext cx="4224338" cy="1403350"/>
        </p:xfrm>
        <a:graphic>
          <a:graphicData uri="http://schemas.openxmlformats.org/presentationml/2006/ole">
            <mc:AlternateContent xmlns:mc="http://schemas.openxmlformats.org/markup-compatibility/2006">
              <mc:Choice xmlns:v="urn:schemas-microsoft-com:vml" Requires="v">
                <p:oleObj spid="_x0000_s4" name="" r:id="rId3" imgW="1752600" imgH="584200" progId="Equation.3">
                  <p:embed/>
                </p:oleObj>
              </mc:Choice>
              <mc:Fallback>
                <p:oleObj name="" r:id="rId3" imgW="1752600" imgH="584200" progId="Equation.3">
                  <p:embed/>
                  <p:pic>
                    <p:nvPicPr>
                      <p:cNvPr id="0" name="图片 3085"/>
                      <p:cNvPicPr/>
                      <p:nvPr/>
                    </p:nvPicPr>
                    <p:blipFill>
                      <a:blip r:embed="rId4"/>
                      <a:stretch>
                        <a:fillRect/>
                      </a:stretch>
                    </p:blipFill>
                    <p:spPr>
                      <a:xfrm>
                        <a:off x="2116455" y="4805045"/>
                        <a:ext cx="4224338" cy="1403350"/>
                      </a:xfrm>
                      <a:prstGeom prst="rect">
                        <a:avLst/>
                      </a:prstGeom>
                      <a:noFill/>
                      <a:ln w="38100">
                        <a:noFill/>
                        <a:miter/>
                      </a:ln>
                    </p:spPr>
                  </p:pic>
                </p:oleObj>
              </mc:Fallback>
            </mc:AlternateContent>
          </a:graphicData>
        </a:graphic>
      </p:graphicFrame>
      <p:graphicFrame>
        <p:nvGraphicFramePr>
          <p:cNvPr id="52230" name="Object 16"/>
          <p:cNvGraphicFramePr>
            <a:graphicFrameLocks noChangeAspect="1"/>
          </p:cNvGraphicFramePr>
          <p:nvPr>
            <p:custDataLst>
              <p:tags r:id="rId5"/>
            </p:custDataLst>
          </p:nvPr>
        </p:nvGraphicFramePr>
        <p:xfrm>
          <a:off x="2195830" y="3213100"/>
          <a:ext cx="3586163" cy="1409700"/>
        </p:xfrm>
        <a:graphic>
          <a:graphicData uri="http://schemas.openxmlformats.org/presentationml/2006/ole">
            <mc:AlternateContent xmlns:mc="http://schemas.openxmlformats.org/markup-compatibility/2006">
              <mc:Choice xmlns:v="urn:schemas-microsoft-com:vml" Requires="v">
                <p:oleObj spid="_x0000_s5" name="" r:id="rId6" imgW="1485265" imgH="584200" progId="Equation.DSMT4">
                  <p:embed/>
                </p:oleObj>
              </mc:Choice>
              <mc:Fallback>
                <p:oleObj name="" r:id="rId6" imgW="1485265" imgH="584200" progId="Equation.DSMT4">
                  <p:embed/>
                  <p:pic>
                    <p:nvPicPr>
                      <p:cNvPr id="0" name="图片 3084"/>
                      <p:cNvPicPr/>
                      <p:nvPr/>
                    </p:nvPicPr>
                    <p:blipFill>
                      <a:blip r:embed="rId7"/>
                      <a:srcRect/>
                      <a:stretch>
                        <a:fillRect/>
                      </a:stretch>
                    </p:blipFill>
                    <p:spPr>
                      <a:xfrm>
                        <a:off x="2195830" y="3213100"/>
                        <a:ext cx="3586163" cy="1409700"/>
                      </a:xfrm>
                      <a:prstGeom prst="rect">
                        <a:avLst/>
                      </a:prstGeom>
                      <a:noFill/>
                      <a:ln w="38100">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——Amdahl定律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530725"/>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采用哪种实现技术来求浮点数平方根FPSQR的操作对系统的性能影响较大。</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假设FPSQR操作占整个测试程序执行时间的20%。</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一种实现方法是采用FPSQR硬件，使FPSQR操作的速度加快到10倍。</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另一种实现方法是使所有浮点数据指令的速度加快，使FP指令的速度加快到2倍，还假设FP指令占整个执行时间的50%。</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请比较这两种设计方案。</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解：分别计算出这两种设计方案所能得到的加速比：</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使所有浮点数据指令的速度加快这一方案更好</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graphicFrame>
        <p:nvGraphicFramePr>
          <p:cNvPr id="54277" name="Object 8"/>
          <p:cNvGraphicFramePr>
            <a:graphicFrameLocks noChangeAspect="1"/>
          </p:cNvGraphicFramePr>
          <p:nvPr>
            <p:custDataLst>
              <p:tags r:id="rId2"/>
            </p:custDataLst>
          </p:nvPr>
        </p:nvGraphicFramePr>
        <p:xfrm>
          <a:off x="1905000" y="3218180"/>
          <a:ext cx="5017135" cy="2636520"/>
        </p:xfrm>
        <a:graphic>
          <a:graphicData uri="http://schemas.openxmlformats.org/presentationml/2006/ole">
            <mc:AlternateContent xmlns:mc="http://schemas.openxmlformats.org/markup-compatibility/2006">
              <mc:Choice xmlns:v="urn:schemas-microsoft-com:vml" Requires="v">
                <p:oleObj spid="_x0000_s4" name="" r:id="rId3" imgW="2273300" imgH="1193800" progId="Equation.3">
                  <p:embed/>
                </p:oleObj>
              </mc:Choice>
              <mc:Fallback>
                <p:oleObj name="" r:id="rId3" imgW="2273300" imgH="1193800" progId="Equation.3">
                  <p:embed/>
                  <p:pic>
                    <p:nvPicPr>
                      <p:cNvPr id="0" name="图片 3086"/>
                      <p:cNvPicPr/>
                      <p:nvPr/>
                    </p:nvPicPr>
                    <p:blipFill>
                      <a:blip r:embed="rId4"/>
                      <a:stretch>
                        <a:fillRect/>
                      </a:stretch>
                    </p:blipFill>
                    <p:spPr>
                      <a:xfrm>
                        <a:off x="1905000" y="3218180"/>
                        <a:ext cx="5017135" cy="2636520"/>
                      </a:xfrm>
                      <a:prstGeom prst="rect">
                        <a:avLst/>
                      </a:prstGeom>
                      <a:noFill/>
                      <a:ln w="38100">
                        <a:noFill/>
                        <a:miter/>
                      </a:ln>
                    </p:spPr>
                  </p:pic>
                </p:oleObj>
              </mc:Fallback>
            </mc:AlternateContent>
          </a:graphicData>
        </a:graphic>
      </p:graphicFrame>
      <p:graphicFrame>
        <p:nvGraphicFramePr>
          <p:cNvPr id="54278" name="Object 9"/>
          <p:cNvGraphicFramePr>
            <a:graphicFrameLocks noChangeAspect="1"/>
          </p:cNvGraphicFramePr>
          <p:nvPr>
            <p:custDataLst>
              <p:tags r:id="rId5"/>
            </p:custDataLst>
          </p:nvPr>
        </p:nvGraphicFramePr>
        <p:xfrm>
          <a:off x="1971675" y="1927225"/>
          <a:ext cx="3087370" cy="1213485"/>
        </p:xfrm>
        <a:graphic>
          <a:graphicData uri="http://schemas.openxmlformats.org/presentationml/2006/ole">
            <mc:AlternateContent xmlns:mc="http://schemas.openxmlformats.org/markup-compatibility/2006">
              <mc:Choice xmlns:v="urn:schemas-microsoft-com:vml" Requires="v">
                <p:oleObj spid="_x0000_s5" name="" r:id="rId6" imgW="1485265" imgH="584200" progId="Equation.3">
                  <p:embed/>
                </p:oleObj>
              </mc:Choice>
              <mc:Fallback>
                <p:oleObj name="" r:id="rId6" imgW="1485265" imgH="584200" progId="Equation.3">
                  <p:embed/>
                  <p:pic>
                    <p:nvPicPr>
                      <p:cNvPr id="0" name="图片 3087"/>
                      <p:cNvPicPr/>
                      <p:nvPr/>
                    </p:nvPicPr>
                    <p:blipFill>
                      <a:blip r:embed="rId7"/>
                      <a:srcRect/>
                      <a:stretch>
                        <a:fillRect/>
                      </a:stretch>
                    </p:blipFill>
                    <p:spPr>
                      <a:xfrm>
                        <a:off x="1971675" y="1927225"/>
                        <a:ext cx="3087370" cy="1213485"/>
                      </a:xfrm>
                      <a:prstGeom prst="rect">
                        <a:avLst/>
                      </a:prstGeom>
                      <a:noFill/>
                      <a:ln w="38100">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等效</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CPI</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如果FP操作的比例为25%，FP操作的平均CPI=4.0，其它指令的平均CPI为1.33，其中FPSQR操作的比例为2%，FPSQR的CPI为20。</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假设有两种设计方案：</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a:t>
            </a:r>
            <a:r>
              <a:rPr lang="en-US" altLang="zh-CN" sz="2055">
                <a:latin typeface="Times New Roman" panose="02020603050405020304" pitchFamily="18" charset="0"/>
                <a:cs typeface="Times New Roman" panose="02020603050405020304" pitchFamily="18" charset="0"/>
                <a:sym typeface="+mn-ea"/>
              </a:rPr>
              <a:t>1</a:t>
            </a:r>
            <a:r>
              <a:rPr lang="zh-CN" altLang="en-US" sz="2055">
                <a:latin typeface="Times New Roman" panose="02020603050405020304" pitchFamily="18" charset="0"/>
                <a:cs typeface="Times New Roman" panose="02020603050405020304" pitchFamily="18" charset="0"/>
                <a:sym typeface="+mn-ea"/>
              </a:rPr>
              <a:t>）把FPSQR操作的CPI减为2；</a:t>
            </a:r>
            <a:endParaRPr lang="zh-CN" altLang="en-US" sz="2055">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a:t>
            </a:r>
            <a:r>
              <a:rPr lang="en-US" altLang="zh-CN" sz="2055">
                <a:latin typeface="Times New Roman" panose="02020603050405020304" pitchFamily="18" charset="0"/>
                <a:cs typeface="Times New Roman" panose="02020603050405020304" pitchFamily="18" charset="0"/>
                <a:sym typeface="+mn-ea"/>
              </a:rPr>
              <a:t>2</a:t>
            </a:r>
            <a:r>
              <a:rPr lang="zh-CN" altLang="en-US" sz="2055">
                <a:latin typeface="Times New Roman" panose="02020603050405020304" pitchFamily="18" charset="0"/>
                <a:cs typeface="Times New Roman" panose="02020603050405020304" pitchFamily="18" charset="0"/>
                <a:sym typeface="+mn-ea"/>
              </a:rPr>
              <a:t>）把所有FP操作的CPI减为2。</a:t>
            </a:r>
            <a:endParaRPr lang="zh-CN" altLang="en-US" sz="2055">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试利用CPU性能公式比较这两种设计方案哪一个更好(只改变CPI而时钟频率和指令条数保持不变)。</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等效</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CPI</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000">
                <a:latin typeface="Times New Roman" panose="02020603050405020304" pitchFamily="18" charset="0"/>
                <a:cs typeface="Times New Roman" panose="02020603050405020304" pitchFamily="18" charset="0"/>
                <a:sym typeface="+mn-ea"/>
              </a:rPr>
              <a:t>解：原系统的CPI原=25%×4+75%×1.33=2</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方案1(使FPSQR操作的CPI为2)系统</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00">
                <a:latin typeface="Times New Roman" panose="02020603050405020304" pitchFamily="18" charset="0"/>
                <a:cs typeface="Times New Roman" panose="02020603050405020304" pitchFamily="18" charset="0"/>
                <a:sym typeface="+mn-ea"/>
              </a:rPr>
              <a:t>CPI=CPI原-2%×(20-2)=2-2%×18=</a:t>
            </a:r>
            <a:r>
              <a:rPr lang="zh-CN" altLang="en-US" sz="2000" b="1">
                <a:solidFill>
                  <a:srgbClr val="FF0000"/>
                </a:solidFill>
                <a:latin typeface="Times New Roman" panose="02020603050405020304" pitchFamily="18" charset="0"/>
                <a:cs typeface="Times New Roman" panose="02020603050405020304" pitchFamily="18" charset="0"/>
                <a:sym typeface="+mn-ea"/>
              </a:rPr>
              <a:t>1.64</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方案2(提高所有FP指令的处理速度)系统</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00">
                <a:latin typeface="Times New Roman" panose="02020603050405020304" pitchFamily="18" charset="0"/>
                <a:cs typeface="Times New Roman" panose="02020603050405020304" pitchFamily="18" charset="0"/>
                <a:sym typeface="+mn-ea"/>
              </a:rPr>
              <a:t>CPI=CPI原-25%×(4-2)=2-25%×2=</a:t>
            </a:r>
            <a:r>
              <a:rPr lang="zh-CN" altLang="en-US" sz="2000" b="1">
                <a:solidFill>
                  <a:srgbClr val="FF0000"/>
                </a:solidFill>
                <a:latin typeface="Times New Roman" panose="02020603050405020304" pitchFamily="18" charset="0"/>
                <a:cs typeface="Times New Roman" panose="02020603050405020304" pitchFamily="18" charset="0"/>
                <a:sym typeface="+mn-ea"/>
              </a:rPr>
              <a:t>1.5</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方案2也可根据以下公式计算出CPI</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00">
                <a:latin typeface="Times New Roman" panose="02020603050405020304" pitchFamily="18" charset="0"/>
                <a:cs typeface="Times New Roman" panose="02020603050405020304" pitchFamily="18" charset="0"/>
                <a:sym typeface="+mn-ea"/>
              </a:rPr>
              <a:t>CPI= 75%×1.33+25%×2=1.5</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显然，提高所有FP指令处理速度的方案要比提高FPSQR处理速度的方案要好。</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方案2的加速比</a:t>
            </a:r>
            <a:r>
              <a:rPr lang="zh-CN" altLang="en-US" sz="2000">
                <a:solidFill>
                  <a:srgbClr val="FF0000"/>
                </a:solidFill>
                <a:latin typeface="Times New Roman" panose="02020603050405020304" pitchFamily="18" charset="0"/>
                <a:cs typeface="Times New Roman" panose="02020603050405020304" pitchFamily="18" charset="0"/>
                <a:sym typeface="+mn-ea"/>
              </a:rPr>
              <a:t>Sn=2/1.5= 1.33</a:t>
            </a:r>
            <a:endParaRPr lang="zh-CN" altLang="en-US" sz="2000">
              <a:solidFill>
                <a:srgbClr val="FF0000"/>
              </a:solidFill>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000">
              <a:solidFill>
                <a:srgbClr val="FF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时间</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假设两台机器的指令系统中，执行条件转移指令需2个时钟周期，而其它指令只需1个时钟周期。</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CPU</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采用一条</a:t>
            </a:r>
            <a:r>
              <a:rPr lang="zh-CN" altLang="en-US" sz="2000">
                <a:solidFill>
                  <a:srgbClr val="FF0000"/>
                </a:solidFill>
                <a:latin typeface="Times New Roman" panose="02020603050405020304" pitchFamily="18" charset="0"/>
                <a:cs typeface="Times New Roman" panose="02020603050405020304" pitchFamily="18" charset="0"/>
                <a:sym typeface="+mn-ea"/>
              </a:rPr>
              <a:t>比较指令</a:t>
            </a:r>
            <a:r>
              <a:rPr lang="zh-CN" altLang="en-US" sz="2000">
                <a:latin typeface="Times New Roman" panose="02020603050405020304" pitchFamily="18" charset="0"/>
                <a:cs typeface="Times New Roman" panose="02020603050405020304" pitchFamily="18" charset="0"/>
                <a:sym typeface="+mn-ea"/>
              </a:rPr>
              <a:t>来设置相应的条件码，由紧随其后的一条</a:t>
            </a:r>
            <a:r>
              <a:rPr lang="zh-CN" altLang="en-US" sz="2000">
                <a:solidFill>
                  <a:srgbClr val="FF0000"/>
                </a:solidFill>
                <a:latin typeface="Times New Roman" panose="02020603050405020304" pitchFamily="18" charset="0"/>
                <a:cs typeface="Times New Roman" panose="02020603050405020304" pitchFamily="18" charset="0"/>
                <a:sym typeface="+mn-ea"/>
              </a:rPr>
              <a:t>转移指令</a:t>
            </a:r>
            <a:r>
              <a:rPr lang="zh-CN" altLang="en-US" sz="2000">
                <a:latin typeface="Times New Roman" panose="02020603050405020304" pitchFamily="18" charset="0"/>
                <a:cs typeface="Times New Roman" panose="02020603050405020304" pitchFamily="18" charset="0"/>
                <a:sym typeface="+mn-ea"/>
              </a:rPr>
              <a:t>对此条件码进行测试，以确定是否进行转移。</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显然实现一次条件转移要执行比较和转移两条指令。</a:t>
            </a:r>
            <a:endParaRPr lang="zh-CN" altLang="en-US" sz="171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solidFill>
                  <a:srgbClr val="FF0000"/>
                </a:solidFill>
                <a:latin typeface="Times New Roman" panose="02020603050405020304" pitchFamily="18" charset="0"/>
                <a:cs typeface="Times New Roman" panose="02020603050405020304" pitchFamily="18" charset="0"/>
                <a:sym typeface="+mn-ea"/>
              </a:rPr>
              <a:t>转移指令占总执行指令条数的20%。</a:t>
            </a:r>
            <a:endParaRPr lang="zh-CN" altLang="en-US" sz="171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由于每条转移指令都需要一条比较指令，所以比较指令也将占20%。</a:t>
            </a:r>
            <a:endParaRPr lang="zh-CN" altLang="en-US" sz="171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CPU</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采用比较功能和判别是否实现转移功能合在一条指令的方法</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实现一次条件转移就只需一条指令就可以完成。</a:t>
            </a:r>
            <a:endParaRPr lang="zh-CN" altLang="en-US" sz="171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CPU</a:t>
            </a:r>
            <a:r>
              <a:rPr lang="zh-CN" altLang="en-US" sz="1710" baseline="-25000">
                <a:latin typeface="Times New Roman" panose="02020603050405020304" pitchFamily="18" charset="0"/>
                <a:cs typeface="Times New Roman" panose="02020603050405020304" pitchFamily="18" charset="0"/>
                <a:sym typeface="+mn-ea"/>
              </a:rPr>
              <a:t>B</a:t>
            </a:r>
            <a:r>
              <a:rPr lang="zh-CN" altLang="en-US" sz="1710">
                <a:latin typeface="Times New Roman" panose="02020603050405020304" pitchFamily="18" charset="0"/>
                <a:cs typeface="Times New Roman" panose="02020603050405020304" pitchFamily="18" charset="0"/>
                <a:sym typeface="+mn-ea"/>
              </a:rPr>
              <a:t>在转移指令中包含了比较功能，它的时钟周期比CPU</a:t>
            </a:r>
            <a:r>
              <a:rPr lang="zh-CN" altLang="en-US" sz="1710" baseline="-25000">
                <a:latin typeface="Times New Roman" panose="02020603050405020304" pitchFamily="18" charset="0"/>
                <a:cs typeface="Times New Roman" panose="02020603050405020304" pitchFamily="18" charset="0"/>
                <a:sym typeface="+mn-ea"/>
              </a:rPr>
              <a:t>A</a:t>
            </a:r>
            <a:r>
              <a:rPr lang="zh-CN" altLang="en-US" sz="1710">
                <a:latin typeface="Times New Roman" panose="02020603050405020304" pitchFamily="18" charset="0"/>
                <a:cs typeface="Times New Roman" panose="02020603050405020304" pitchFamily="18" charset="0"/>
                <a:sym typeface="+mn-ea"/>
              </a:rPr>
              <a:t>慢25%。</a:t>
            </a:r>
            <a:endParaRPr lang="zh-CN" altLang="en-US" sz="171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采用不同转移指令方案的CPU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和CPU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a:t>
            </a:r>
            <a:r>
              <a:rPr lang="zh-CN" altLang="en-US" sz="2400">
                <a:latin typeface="Times New Roman" panose="02020603050405020304" pitchFamily="18" charset="0"/>
                <a:cs typeface="Times New Roman" panose="02020603050405020304" pitchFamily="18" charset="0"/>
                <a:sym typeface="+mn-ea"/>
              </a:rPr>
              <a:t>哪个工作速度会更快些？</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时间</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36015"/>
            <a:ext cx="8229600" cy="5478145"/>
          </a:xfrm>
        </p:spPr>
        <p:txBody>
          <a:bodyPr/>
          <a:lstStyle/>
          <a:p>
            <a:pPr latinLnBrk="0">
              <a:spcBef>
                <a:spcPts val="600"/>
              </a:spcBef>
            </a:pPr>
            <a:r>
              <a:rPr lang="zh-CN" altLang="en-US" sz="2000">
                <a:latin typeface="Times New Roman" panose="02020603050405020304" pitchFamily="18" charset="0"/>
                <a:cs typeface="Times New Roman" panose="02020603050405020304" pitchFamily="18" charset="0"/>
                <a:sym typeface="+mn-ea"/>
              </a:rPr>
              <a:t>解：执行条件转移指令需2个时钟周期，而其它指令只需1个时钟周期</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1800">
                <a:latin typeface="Times New Roman" panose="02020603050405020304" pitchFamily="18" charset="0"/>
                <a:cs typeface="Times New Roman" panose="02020603050405020304" pitchFamily="18" charset="0"/>
                <a:sym typeface="+mn-ea"/>
              </a:rPr>
              <a:t>CPU</a:t>
            </a:r>
            <a:r>
              <a:rPr lang="zh-CN" altLang="en-US" sz="1800" baseline="-25000">
                <a:latin typeface="Times New Roman" panose="02020603050405020304" pitchFamily="18" charset="0"/>
                <a:cs typeface="Times New Roman" panose="02020603050405020304" pitchFamily="18" charset="0"/>
                <a:sym typeface="+mn-ea"/>
              </a:rPr>
              <a:t>A</a:t>
            </a:r>
            <a:r>
              <a:rPr lang="zh-CN" altLang="en-US" sz="1800">
                <a:latin typeface="Times New Roman" panose="02020603050405020304" pitchFamily="18" charset="0"/>
                <a:cs typeface="Times New Roman" panose="02020603050405020304" pitchFamily="18" charset="0"/>
                <a:sym typeface="+mn-ea"/>
              </a:rPr>
              <a:t>条件转移指令占总执行指令条数的20%</a:t>
            </a:r>
            <a:endParaRPr lang="zh-CN" altLang="en-US" sz="18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1800">
                <a:latin typeface="Times New Roman" panose="02020603050405020304" pitchFamily="18" charset="0"/>
                <a:cs typeface="Times New Roman" panose="02020603050405020304" pitchFamily="18" charset="0"/>
                <a:sym typeface="+mn-ea"/>
              </a:rPr>
              <a:t>CPI</a:t>
            </a:r>
            <a:r>
              <a:rPr lang="zh-CN" altLang="en-US" sz="1800" baseline="-25000">
                <a:latin typeface="Times New Roman" panose="02020603050405020304" pitchFamily="18" charset="0"/>
                <a:cs typeface="Times New Roman" panose="02020603050405020304" pitchFamily="18" charset="0"/>
                <a:sym typeface="+mn-ea"/>
              </a:rPr>
              <a:t>A</a:t>
            </a:r>
            <a:r>
              <a:rPr lang="zh-CN" altLang="en-US" sz="1800">
                <a:latin typeface="Times New Roman" panose="02020603050405020304" pitchFamily="18" charset="0"/>
                <a:cs typeface="Times New Roman" panose="02020603050405020304" pitchFamily="18" charset="0"/>
                <a:sym typeface="+mn-ea"/>
              </a:rPr>
              <a:t>=0.2×2+(1-0.2)×1=1.2</a:t>
            </a:r>
            <a:endParaRPr lang="zh-CN" altLang="en-US" sz="18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1800">
                <a:latin typeface="Times New Roman" panose="02020603050405020304" pitchFamily="18" charset="0"/>
                <a:cs typeface="Times New Roman" panose="02020603050405020304" pitchFamily="18" charset="0"/>
                <a:sym typeface="+mn-ea"/>
              </a:rPr>
              <a:t>T</a:t>
            </a:r>
            <a:r>
              <a:rPr lang="zh-CN" altLang="en-US" sz="1800" baseline="-25000">
                <a:latin typeface="Times New Roman" panose="02020603050405020304" pitchFamily="18" charset="0"/>
                <a:cs typeface="Times New Roman" panose="02020603050405020304" pitchFamily="18" charset="0"/>
                <a:sym typeface="+mn-ea"/>
              </a:rPr>
              <a:t>CPUA</a:t>
            </a:r>
            <a:r>
              <a:rPr lang="zh-CN" altLang="en-US" sz="1800">
                <a:latin typeface="Times New Roman" panose="02020603050405020304" pitchFamily="18" charset="0"/>
                <a:cs typeface="Times New Roman" panose="02020603050405020304" pitchFamily="18" charset="0"/>
                <a:sym typeface="+mn-ea"/>
              </a:rPr>
              <a:t>=IC</a:t>
            </a:r>
            <a:r>
              <a:rPr lang="zh-CN" altLang="en-US" sz="1800" baseline="-25000">
                <a:latin typeface="Times New Roman" panose="02020603050405020304" pitchFamily="18" charset="0"/>
                <a:cs typeface="Times New Roman" panose="02020603050405020304" pitchFamily="18" charset="0"/>
                <a:sym typeface="+mn-ea"/>
              </a:rPr>
              <a:t>A</a:t>
            </a:r>
            <a:r>
              <a:rPr lang="zh-CN" altLang="en-US" sz="1800">
                <a:latin typeface="Times New Roman" panose="02020603050405020304" pitchFamily="18" charset="0"/>
                <a:cs typeface="Times New Roman" panose="02020603050405020304" pitchFamily="18" charset="0"/>
                <a:sym typeface="+mn-ea"/>
              </a:rPr>
              <a:t>×1.2×t</a:t>
            </a:r>
            <a:r>
              <a:rPr lang="zh-CN" altLang="en-US" sz="1800" baseline="-25000">
                <a:latin typeface="Times New Roman" panose="02020603050405020304" pitchFamily="18" charset="0"/>
                <a:cs typeface="Times New Roman" panose="02020603050405020304" pitchFamily="18" charset="0"/>
                <a:sym typeface="+mn-ea"/>
              </a:rPr>
              <a:t>A</a:t>
            </a:r>
            <a:endParaRPr lang="zh-CN" altLang="en-US" sz="18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000">
                <a:latin typeface="Times New Roman" panose="02020603050405020304" pitchFamily="18" charset="0"/>
                <a:cs typeface="Times New Roman" panose="02020603050405020304" pitchFamily="18" charset="0"/>
                <a:sym typeface="+mn-ea"/>
              </a:rPr>
              <a:t>由于CPU</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中没有比较指令，因此IC</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 = 0.8×IC</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a:t>
            </a:r>
            <a:endParaRPr lang="zh-CN" altLang="en-US" sz="2000">
              <a:latin typeface="Times New Roman" panose="02020603050405020304" pitchFamily="18" charset="0"/>
              <a:cs typeface="Times New Roman" panose="02020603050405020304" pitchFamily="18" charset="0"/>
              <a:sym typeface="+mn-ea"/>
            </a:endParaRPr>
          </a:p>
          <a:p>
            <a:pPr lvl="1" algn="l" latinLnBrk="0">
              <a:spcBef>
                <a:spcPts val="600"/>
              </a:spcBef>
              <a:buSzTx/>
            </a:pPr>
            <a:r>
              <a:rPr lang="zh-CN" altLang="en-US" sz="1800">
                <a:latin typeface="Times New Roman" panose="02020603050405020304" pitchFamily="18" charset="0"/>
                <a:cs typeface="Times New Roman" panose="02020603050405020304" pitchFamily="18" charset="0"/>
                <a:sym typeface="+mn-ea"/>
              </a:rPr>
              <a:t>CPUB转移指令比例为20%÷80%=25%</a:t>
            </a:r>
            <a:endParaRPr lang="zh-CN" altLang="en-US" sz="18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1800">
                <a:latin typeface="Times New Roman" panose="02020603050405020304" pitchFamily="18" charset="0"/>
                <a:cs typeface="Times New Roman" panose="02020603050405020304" pitchFamily="18" charset="0"/>
                <a:sym typeface="+mn-ea"/>
              </a:rPr>
              <a:t>CPI</a:t>
            </a:r>
            <a:r>
              <a:rPr lang="zh-CN" altLang="en-US" sz="1800" baseline="-25000">
                <a:latin typeface="Times New Roman" panose="02020603050405020304" pitchFamily="18" charset="0"/>
                <a:cs typeface="Times New Roman" panose="02020603050405020304" pitchFamily="18" charset="0"/>
                <a:sym typeface="+mn-ea"/>
              </a:rPr>
              <a:t>B </a:t>
            </a:r>
            <a:r>
              <a:rPr lang="zh-CN" altLang="en-US" sz="1800">
                <a:latin typeface="Times New Roman" panose="02020603050405020304" pitchFamily="18" charset="0"/>
                <a:cs typeface="Times New Roman" panose="02020603050405020304" pitchFamily="18" charset="0"/>
                <a:sym typeface="+mn-ea"/>
              </a:rPr>
              <a:t>= 0.25×2+(1-0.25)×1=1.25</a:t>
            </a:r>
            <a:endParaRPr lang="zh-CN" altLang="en-US" sz="18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000">
                <a:latin typeface="Times New Roman" panose="02020603050405020304" pitchFamily="18" charset="0"/>
                <a:cs typeface="Times New Roman" panose="02020603050405020304" pitchFamily="18" charset="0"/>
                <a:sym typeface="+mn-ea"/>
              </a:rPr>
              <a:t>时钟周期就比CPU</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要慢25% </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1800">
                <a:latin typeface="Times New Roman" panose="02020603050405020304" pitchFamily="18" charset="0"/>
                <a:cs typeface="Times New Roman" panose="02020603050405020304" pitchFamily="18" charset="0"/>
                <a:sym typeface="+mn-ea"/>
              </a:rPr>
              <a:t>t </a:t>
            </a:r>
            <a:r>
              <a:rPr lang="zh-CN" altLang="en-US" sz="1800" baseline="-25000">
                <a:latin typeface="Times New Roman" panose="02020603050405020304" pitchFamily="18" charset="0"/>
                <a:cs typeface="Times New Roman" panose="02020603050405020304" pitchFamily="18" charset="0"/>
                <a:sym typeface="+mn-ea"/>
              </a:rPr>
              <a:t>B</a:t>
            </a:r>
            <a:r>
              <a:rPr lang="zh-CN" altLang="en-US" sz="1800">
                <a:latin typeface="Times New Roman" panose="02020603050405020304" pitchFamily="18" charset="0"/>
                <a:cs typeface="Times New Roman" panose="02020603050405020304" pitchFamily="18" charset="0"/>
                <a:sym typeface="+mn-ea"/>
              </a:rPr>
              <a:t> = 1.25t</a:t>
            </a:r>
            <a:r>
              <a:rPr lang="zh-CN" altLang="en-US" sz="1800" baseline="-25000">
                <a:latin typeface="Times New Roman" panose="02020603050405020304" pitchFamily="18" charset="0"/>
                <a:cs typeface="Times New Roman" panose="02020603050405020304" pitchFamily="18" charset="0"/>
                <a:sym typeface="+mn-ea"/>
              </a:rPr>
              <a:t>A</a:t>
            </a:r>
            <a:endParaRPr lang="zh-CN" altLang="en-US" sz="18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1800">
                <a:latin typeface="Times New Roman" panose="02020603050405020304" pitchFamily="18" charset="0"/>
                <a:cs typeface="Times New Roman" panose="02020603050405020304" pitchFamily="18" charset="0"/>
                <a:sym typeface="+mn-ea"/>
              </a:rPr>
              <a:t>T</a:t>
            </a:r>
            <a:r>
              <a:rPr lang="zh-CN" altLang="en-US" sz="1800" baseline="-25000">
                <a:latin typeface="Times New Roman" panose="02020603050405020304" pitchFamily="18" charset="0"/>
                <a:cs typeface="Times New Roman" panose="02020603050405020304" pitchFamily="18" charset="0"/>
                <a:sym typeface="+mn-ea"/>
              </a:rPr>
              <a:t>CPUB</a:t>
            </a:r>
            <a:r>
              <a:rPr lang="zh-CN" altLang="en-US" sz="1800">
                <a:latin typeface="Times New Roman" panose="02020603050405020304" pitchFamily="18" charset="0"/>
                <a:cs typeface="Times New Roman" panose="02020603050405020304" pitchFamily="18" charset="0"/>
                <a:sym typeface="+mn-ea"/>
              </a:rPr>
              <a:t> = IC</a:t>
            </a:r>
            <a:r>
              <a:rPr lang="zh-CN" altLang="en-US" sz="1800" baseline="-25000">
                <a:latin typeface="Times New Roman" panose="02020603050405020304" pitchFamily="18" charset="0"/>
                <a:cs typeface="Times New Roman" panose="02020603050405020304" pitchFamily="18" charset="0"/>
                <a:sym typeface="+mn-ea"/>
              </a:rPr>
              <a:t>B</a:t>
            </a:r>
            <a:r>
              <a:rPr lang="zh-CN" altLang="en-US" sz="1800">
                <a:latin typeface="Times New Roman" panose="02020603050405020304" pitchFamily="18" charset="0"/>
                <a:cs typeface="Times New Roman" panose="02020603050405020304" pitchFamily="18" charset="0"/>
                <a:sym typeface="+mn-ea"/>
              </a:rPr>
              <a:t>×CPI</a:t>
            </a:r>
            <a:r>
              <a:rPr lang="zh-CN" altLang="en-US" sz="1800" baseline="-25000">
                <a:latin typeface="Times New Roman" panose="02020603050405020304" pitchFamily="18" charset="0"/>
                <a:cs typeface="Times New Roman" panose="02020603050405020304" pitchFamily="18" charset="0"/>
                <a:sym typeface="+mn-ea"/>
              </a:rPr>
              <a:t>B</a:t>
            </a:r>
            <a:r>
              <a:rPr lang="zh-CN" altLang="en-US" sz="1800">
                <a:latin typeface="Times New Roman" panose="02020603050405020304" pitchFamily="18" charset="0"/>
                <a:cs typeface="Times New Roman" panose="02020603050405020304" pitchFamily="18" charset="0"/>
                <a:sym typeface="+mn-ea"/>
              </a:rPr>
              <a:t>×t</a:t>
            </a:r>
            <a:r>
              <a:rPr lang="zh-CN" altLang="en-US" sz="1800" baseline="-25000">
                <a:latin typeface="Times New Roman" panose="02020603050405020304" pitchFamily="18" charset="0"/>
                <a:cs typeface="Times New Roman" panose="02020603050405020304" pitchFamily="18" charset="0"/>
                <a:sym typeface="+mn-ea"/>
              </a:rPr>
              <a:t>B</a:t>
            </a:r>
            <a:r>
              <a:rPr lang="zh-CN" altLang="en-US" sz="1800">
                <a:latin typeface="Times New Roman" panose="02020603050405020304" pitchFamily="18" charset="0"/>
                <a:cs typeface="Times New Roman" panose="02020603050405020304" pitchFamily="18" charset="0"/>
                <a:sym typeface="+mn-ea"/>
              </a:rPr>
              <a:t>  = 0.8 IC</a:t>
            </a:r>
            <a:r>
              <a:rPr lang="zh-CN" altLang="en-US" sz="1800" baseline="-25000">
                <a:latin typeface="Times New Roman" panose="02020603050405020304" pitchFamily="18" charset="0"/>
                <a:cs typeface="Times New Roman" panose="02020603050405020304" pitchFamily="18" charset="0"/>
                <a:sym typeface="+mn-ea"/>
              </a:rPr>
              <a:t>A</a:t>
            </a:r>
            <a:r>
              <a:rPr lang="zh-CN" altLang="en-US" sz="1800">
                <a:latin typeface="Times New Roman" panose="02020603050405020304" pitchFamily="18" charset="0"/>
                <a:cs typeface="Times New Roman" panose="02020603050405020304" pitchFamily="18" charset="0"/>
                <a:sym typeface="+mn-ea"/>
              </a:rPr>
              <a:t>×1.25×1.25t</a:t>
            </a:r>
            <a:r>
              <a:rPr lang="zh-CN" altLang="en-US" sz="1800" baseline="-25000">
                <a:latin typeface="Times New Roman" panose="02020603050405020304" pitchFamily="18" charset="0"/>
                <a:cs typeface="Times New Roman" panose="02020603050405020304" pitchFamily="18" charset="0"/>
                <a:sym typeface="+mn-ea"/>
              </a:rPr>
              <a:t>A</a:t>
            </a:r>
            <a:r>
              <a:rPr lang="zh-CN" altLang="en-US" sz="1800">
                <a:latin typeface="Times New Roman" panose="02020603050405020304" pitchFamily="18" charset="0"/>
                <a:cs typeface="Times New Roman" panose="02020603050405020304" pitchFamily="18" charset="0"/>
                <a:sym typeface="+mn-ea"/>
              </a:rPr>
              <a:t> = 1.25 IC</a:t>
            </a:r>
            <a:r>
              <a:rPr lang="zh-CN" altLang="en-US" sz="1800" baseline="-25000">
                <a:latin typeface="Times New Roman" panose="02020603050405020304" pitchFamily="18" charset="0"/>
                <a:cs typeface="Times New Roman" panose="02020603050405020304" pitchFamily="18" charset="0"/>
                <a:sym typeface="+mn-ea"/>
              </a:rPr>
              <a:t>A</a:t>
            </a:r>
            <a:r>
              <a:rPr lang="zh-CN" altLang="en-US" sz="1800">
                <a:latin typeface="Times New Roman" panose="02020603050405020304" pitchFamily="18" charset="0"/>
                <a:cs typeface="Times New Roman" panose="02020603050405020304" pitchFamily="18" charset="0"/>
                <a:sym typeface="+mn-ea"/>
              </a:rPr>
              <a:t>×t</a:t>
            </a:r>
            <a:r>
              <a:rPr lang="zh-CN" altLang="en-US" sz="1800" baseline="-25000">
                <a:latin typeface="Times New Roman" panose="02020603050405020304" pitchFamily="18" charset="0"/>
                <a:cs typeface="Times New Roman" panose="02020603050405020304" pitchFamily="18" charset="0"/>
                <a:sym typeface="+mn-ea"/>
              </a:rPr>
              <a:t>A</a:t>
            </a:r>
            <a:endParaRPr lang="zh-CN" altLang="en-US" sz="18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000">
                <a:latin typeface="Times New Roman" panose="02020603050405020304" pitchFamily="18" charset="0"/>
                <a:cs typeface="Times New Roman" panose="02020603050405020304" pitchFamily="18" charset="0"/>
                <a:sym typeface="+mn-ea"/>
              </a:rPr>
              <a:t>T</a:t>
            </a:r>
            <a:r>
              <a:rPr lang="zh-CN" altLang="en-US" sz="2000" baseline="-25000">
                <a:latin typeface="Times New Roman" panose="02020603050405020304" pitchFamily="18" charset="0"/>
                <a:cs typeface="Times New Roman" panose="02020603050405020304" pitchFamily="18" charset="0"/>
                <a:sym typeface="+mn-ea"/>
              </a:rPr>
              <a:t>CPUA</a:t>
            </a:r>
            <a:r>
              <a:rPr lang="zh-CN" altLang="en-US" sz="2000">
                <a:latin typeface="Times New Roman" panose="02020603050405020304" pitchFamily="18" charset="0"/>
                <a:cs typeface="Times New Roman" panose="02020603050405020304" pitchFamily="18" charset="0"/>
                <a:sym typeface="+mn-ea"/>
              </a:rPr>
              <a:t>比T</a:t>
            </a:r>
            <a:r>
              <a:rPr lang="zh-CN" altLang="en-US" sz="2000" baseline="-25000">
                <a:latin typeface="Times New Roman" panose="02020603050405020304" pitchFamily="18" charset="0"/>
                <a:cs typeface="Times New Roman" panose="02020603050405020304" pitchFamily="18" charset="0"/>
                <a:sym typeface="+mn-ea"/>
              </a:rPr>
              <a:t>CPUB</a:t>
            </a:r>
            <a:r>
              <a:rPr lang="zh-CN" altLang="en-US" sz="2000">
                <a:latin typeface="Times New Roman" panose="02020603050405020304" pitchFamily="18" charset="0"/>
                <a:cs typeface="Times New Roman" panose="02020603050405020304" pitchFamily="18" charset="0"/>
                <a:sym typeface="+mn-ea"/>
              </a:rPr>
              <a:t>小，所以CPU</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比CPU</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运行得更快些</a:t>
            </a:r>
            <a:endParaRPr lang="zh-CN"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时间</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395605" y="1309370"/>
            <a:ext cx="839343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在例1.4中，如果CPU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的时钟周期只比CPU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的慢10%，那么哪一个CPU会工作得更快些？</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解：T</a:t>
            </a:r>
            <a:r>
              <a:rPr lang="zh-CN" altLang="en-US" sz="2400" baseline="-25000">
                <a:latin typeface="Times New Roman" panose="02020603050405020304" pitchFamily="18" charset="0"/>
                <a:cs typeface="Times New Roman" panose="02020603050405020304" pitchFamily="18" charset="0"/>
                <a:sym typeface="+mn-ea"/>
              </a:rPr>
              <a:t>CPUA</a:t>
            </a:r>
            <a:r>
              <a:rPr lang="zh-CN" altLang="en-US" sz="2400">
                <a:latin typeface="Times New Roman" panose="02020603050405020304" pitchFamily="18" charset="0"/>
                <a:cs typeface="Times New Roman" panose="02020603050405020304" pitchFamily="18" charset="0"/>
                <a:sym typeface="+mn-ea"/>
              </a:rPr>
              <a:t> = 1.2IC</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×t</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 因t</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 = 1.10t</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，所以</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T</a:t>
            </a:r>
            <a:r>
              <a:rPr lang="zh-CN" altLang="en-US" sz="2400" baseline="-25000">
                <a:latin typeface="Times New Roman" panose="02020603050405020304" pitchFamily="18" charset="0"/>
                <a:cs typeface="Times New Roman" panose="02020603050405020304" pitchFamily="18" charset="0"/>
                <a:sym typeface="+mn-ea"/>
              </a:rPr>
              <a:t>CPUB</a:t>
            </a:r>
            <a:r>
              <a:rPr lang="zh-CN" altLang="en-US" sz="2400">
                <a:latin typeface="Times New Roman" panose="02020603050405020304" pitchFamily="18" charset="0"/>
                <a:cs typeface="Times New Roman" panose="02020603050405020304" pitchFamily="18" charset="0"/>
                <a:sym typeface="+mn-ea"/>
              </a:rPr>
              <a:t> = 0.8 IC</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×1.25×1.10t</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1.10 IC</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×t</a:t>
            </a:r>
            <a:r>
              <a:rPr lang="zh-CN" altLang="en-US" sz="2400" baseline="-25000">
                <a:latin typeface="Times New Roman" panose="02020603050405020304" pitchFamily="18" charset="0"/>
                <a:cs typeface="Times New Roman" panose="02020603050405020304" pitchFamily="18" charset="0"/>
                <a:sym typeface="+mn-ea"/>
              </a:rPr>
              <a:t>A</a:t>
            </a:r>
            <a:endParaRPr lang="zh-CN" altLang="en-US" sz="2400" baseline="-250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所需时间较少，所以CPU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比CPU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运行得更快些。</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2条指令合成1条</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3个时钟周期的动作挤在2个时钟周期</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练习</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——Amdahl定律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文本框 3"/>
          <p:cNvSpPr txBox="1"/>
          <p:nvPr/>
        </p:nvSpPr>
        <p:spPr>
          <a:xfrm>
            <a:off x="466090" y="1484630"/>
            <a:ext cx="7910195" cy="3599815"/>
          </a:xfrm>
          <a:prstGeom prst="rect">
            <a:avLst/>
          </a:prstGeom>
          <a:noFill/>
        </p:spPr>
        <p:txBody>
          <a:bodyPr wrap="square" rtlCol="0" anchor="t">
            <a:spAutoFit/>
          </a:bodyPr>
          <a:p>
            <a:r>
              <a:rPr lang="zh-CN" altLang="en-US" sz="2400" b="1" kern="0">
                <a:solidFill>
                  <a:schemeClr val="hlink"/>
                </a:solidFill>
                <a:latin typeface="Times New Roman" panose="02020603050405020304" pitchFamily="18" charset="0"/>
                <a:ea typeface="+mn-ea"/>
                <a:cs typeface="Times New Roman" panose="02020603050405020304" pitchFamily="18" charset="0"/>
              </a:rPr>
              <a:t>如果某计算机系统有3个部件可以改进，则这3个部件经改进后达到的加速比分别为：S1=30,S2=20,S3=10。</a:t>
            </a:r>
            <a:endParaRPr lang="zh-CN" altLang="en-US" sz="2400" b="1" kern="0">
              <a:solidFill>
                <a:schemeClr val="hlink"/>
              </a:solidFill>
              <a:latin typeface="Times New Roman" panose="02020603050405020304" pitchFamily="18" charset="0"/>
              <a:ea typeface="+mn-ea"/>
              <a:cs typeface="Times New Roman" panose="02020603050405020304" pitchFamily="18" charset="0"/>
            </a:endParaRPr>
          </a:p>
          <a:p>
            <a:pPr marL="914400" lvl="1" indent="-457200">
              <a:spcBef>
                <a:spcPts val="1200"/>
              </a:spcBef>
              <a:buFont typeface="+mj-ea"/>
              <a:buAutoNum type="circleNumDbPlain"/>
            </a:pPr>
            <a:r>
              <a:rPr lang="zh-CN" altLang="en-US" sz="2000" b="1" kern="0">
                <a:solidFill>
                  <a:schemeClr val="hlink"/>
                </a:solidFill>
                <a:latin typeface="Times New Roman" panose="02020603050405020304" pitchFamily="18" charset="0"/>
                <a:ea typeface="+mn-ea"/>
                <a:cs typeface="Times New Roman" panose="02020603050405020304" pitchFamily="18" charset="0"/>
              </a:rPr>
              <a:t>如果部件1和部件2改进前的执行时间占整个系统执行时间的比例都为30%,那么,部件3改进前的执行时间占整个系统时间的比例为多少，才能使3个部件都改进后的整个系统的加速比Sn达到10?</a:t>
            </a:r>
            <a:endParaRPr lang="zh-CN" altLang="en-US" sz="2000" b="1" kern="0">
              <a:solidFill>
                <a:schemeClr val="hlink"/>
              </a:solidFill>
              <a:latin typeface="Times New Roman" panose="02020603050405020304" pitchFamily="18" charset="0"/>
              <a:ea typeface="+mn-ea"/>
              <a:cs typeface="Times New Roman" panose="02020603050405020304" pitchFamily="18" charset="0"/>
            </a:endParaRPr>
          </a:p>
          <a:p>
            <a:pPr marL="914400" lvl="1" indent="-457200">
              <a:spcBef>
                <a:spcPts val="1200"/>
              </a:spcBef>
              <a:buFont typeface="+mj-ea"/>
              <a:buAutoNum type="circleNumDbPlain"/>
            </a:pPr>
            <a:r>
              <a:rPr lang="zh-CN" altLang="en-US" sz="2000" b="1" kern="0">
                <a:solidFill>
                  <a:schemeClr val="hlink"/>
                </a:solidFill>
                <a:latin typeface="Times New Roman" panose="02020603050405020304" pitchFamily="18" charset="0"/>
                <a:ea typeface="+mn-ea"/>
                <a:cs typeface="Times New Roman" panose="02020603050405020304" pitchFamily="18" charset="0"/>
              </a:rPr>
              <a:t>如果3个部件改进前执行时间占整个系统执行时间的比例分别是30%、30%和20%,那么,3个部件都改进后系统的加速比是多少?未改进部件执行时间在改进后的系统执行时间中占的比例多少?</a:t>
            </a:r>
            <a:endParaRPr lang="zh-CN" altLang="en-US" sz="2000" b="1" kern="0">
              <a:solidFill>
                <a:schemeClr val="hlink"/>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AI claude 3.5 sonnet)</a:t>
            </a:r>
            <a:endParaRPr lang="en-US" altLang="zh-CN">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650240" y="1545590"/>
            <a:ext cx="7078345" cy="42233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解答</a:t>
            </a:r>
            <a:r>
              <a:rPr lang="zh-CN" altLang="en-US">
                <a:latin typeface="Times New Roman" panose="02020603050405020304" pitchFamily="18" charset="0"/>
                <a:cs typeface="Times New Roman" panose="02020603050405020304" pitchFamily="18" charset="0"/>
                <a:sym typeface="+mn-ea"/>
              </a:rPr>
              <a:t>（</a:t>
            </a:r>
            <a:r>
              <a:rPr lang="en-US" altLang="zh-CN">
                <a:latin typeface="Times New Roman" panose="02020603050405020304" pitchFamily="18" charset="0"/>
                <a:cs typeface="Times New Roman" panose="02020603050405020304" pitchFamily="18" charset="0"/>
                <a:sym typeface="+mn-ea"/>
              </a:rPr>
              <a:t>AI claude 3.5 sonnet)</a:t>
            </a:r>
            <a:endParaRPr lang="zh-CN" altLang="en-US"/>
          </a:p>
        </p:txBody>
      </p:sp>
      <p:pic>
        <p:nvPicPr>
          <p:cNvPr id="4" name="图片 3"/>
          <p:cNvPicPr>
            <a:picLocks noChangeAspect="1"/>
          </p:cNvPicPr>
          <p:nvPr/>
        </p:nvPicPr>
        <p:blipFill>
          <a:blip r:embed="rId1"/>
          <a:stretch>
            <a:fillRect/>
          </a:stretch>
        </p:blipFill>
        <p:spPr>
          <a:xfrm>
            <a:off x="611505" y="1484630"/>
            <a:ext cx="6193790" cy="4394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练习</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加速比</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文本框 2"/>
          <p:cNvSpPr txBox="1"/>
          <p:nvPr/>
        </p:nvSpPr>
        <p:spPr>
          <a:xfrm>
            <a:off x="539750" y="1484630"/>
            <a:ext cx="7932420" cy="1198880"/>
          </a:xfrm>
          <a:prstGeom prst="rect">
            <a:avLst/>
          </a:prstGeom>
          <a:noFill/>
        </p:spPr>
        <p:txBody>
          <a:bodyPr wrap="square" rtlCol="0" anchor="t">
            <a:spAutoFit/>
          </a:bodyPr>
          <a:p>
            <a:pPr lvl="0" algn="l">
              <a:buClrTx/>
              <a:buSzTx/>
              <a:buFontTx/>
            </a:pPr>
            <a:r>
              <a:rPr lang="en-US" altLang="zh-CN" sz="2400" b="1" kern="0">
                <a:solidFill>
                  <a:schemeClr val="hlink"/>
                </a:solidFill>
                <a:latin typeface="Times New Roman" panose="02020603050405020304" pitchFamily="18" charset="0"/>
                <a:ea typeface="+mn-ea"/>
                <a:cs typeface="Times New Roman" panose="02020603050405020304" pitchFamily="18" charset="0"/>
                <a:sym typeface="+mn-ea"/>
              </a:rPr>
              <a:t>2</a:t>
            </a:r>
            <a:r>
              <a:rPr lang="en-US" altLang="zh-CN" sz="2400" b="1" kern="0">
                <a:solidFill>
                  <a:schemeClr val="hlink"/>
                </a:solidFill>
                <a:latin typeface="Times New Roman" panose="02020603050405020304" pitchFamily="18" charset="0"/>
                <a:ea typeface="+mn-ea"/>
                <a:cs typeface="Times New Roman" panose="02020603050405020304" pitchFamily="18" charset="0"/>
                <a:sym typeface="+mn-ea"/>
              </a:rPr>
              <a:t>. </a:t>
            </a:r>
            <a:r>
              <a:rPr lang="zh-CN" altLang="en-US" sz="2400" b="1" kern="0">
                <a:solidFill>
                  <a:schemeClr val="hlink"/>
                </a:solidFill>
                <a:latin typeface="Times New Roman" panose="02020603050405020304" pitchFamily="18" charset="0"/>
                <a:ea typeface="+mn-ea"/>
                <a:cs typeface="Times New Roman" panose="02020603050405020304" pitchFamily="18" charset="0"/>
                <a:sym typeface="+mn-ea"/>
              </a:rPr>
              <a:t>假设高速缓存Cache的工作速度为主存的5倍，且Cache被访问命中的概率为90%,那么,采用Cache后能使整个存储系统获得多高的加速比?</a:t>
            </a:r>
            <a:endParaRPr lang="zh-CN" altLang="en-US" sz="2400" b="1" kern="0">
              <a:solidFill>
                <a:schemeClr val="hlink"/>
              </a:solidFill>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539750" y="1340485"/>
            <a:ext cx="6313805" cy="4473575"/>
          </a:xfrm>
          <a:prstGeom prst="rect">
            <a:avLst/>
          </a:prstGeom>
        </p:spPr>
      </p:pic>
      <p:sp>
        <p:nvSpPr>
          <p:cNvPr id="5" name="标题 1"/>
          <p:cNvSpPr>
            <a:spLocks noGrp="1"/>
          </p:cNvSpPr>
          <p:nvPr/>
        </p:nvSpPr>
        <p:spPr>
          <a:xfrm>
            <a:off x="584200" y="401638"/>
            <a:ext cx="8229600" cy="1143000"/>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r>
              <a:rPr lang="zh-CN" altLang="en-US">
                <a:sym typeface="+mn-ea"/>
              </a:rPr>
              <a:t>解答</a:t>
            </a:r>
            <a:r>
              <a:rPr lang="zh-CN" altLang="en-US">
                <a:latin typeface="Times New Roman" panose="02020603050405020304" pitchFamily="18" charset="0"/>
                <a:cs typeface="Times New Roman" panose="02020603050405020304" pitchFamily="18" charset="0"/>
                <a:sym typeface="+mn-ea"/>
              </a:rPr>
              <a:t>（</a:t>
            </a:r>
            <a:r>
              <a:rPr lang="en-US" altLang="zh-CN">
                <a:latin typeface="Times New Roman" panose="02020603050405020304" pitchFamily="18" charset="0"/>
                <a:cs typeface="Times New Roman" panose="02020603050405020304" pitchFamily="18" charset="0"/>
                <a:sym typeface="+mn-ea"/>
              </a:rPr>
              <a:t>AI claude 3.5 sonnet)</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33805"/>
            <a:ext cx="8229600" cy="4892675"/>
          </a:xfrm>
        </p:spPr>
        <p:txBody>
          <a:bodyPr/>
          <a:lstStyle/>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假设在程序中浮点开平方操作FPSQR的比例为2%，它的CPI为100；其他浮点操作FP的比例为23%，它的CPI= 4.0；其余75%指令的CPI=1.33，计算该处理机的等效CPI。如果FPSQR操作的CPI也为4.0，重新计算等效CPI。</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解：</a:t>
            </a:r>
            <a:endParaRPr sz="24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sz="2400" dirty="0">
                <a:latin typeface="Times New Roman" panose="02020603050405020304" pitchFamily="18" charset="0"/>
                <a:cs typeface="Times New Roman" panose="02020603050405020304" pitchFamily="18" charset="0"/>
                <a:sym typeface="+mn-ea"/>
              </a:rPr>
              <a:t>等效CPI</a:t>
            </a:r>
            <a:r>
              <a:rPr lang="en-US" sz="2400" baseline="-25000" dirty="0">
                <a:latin typeface="Times New Roman" panose="02020603050405020304" pitchFamily="18" charset="0"/>
                <a:cs typeface="Times New Roman" panose="02020603050405020304" pitchFamily="18" charset="0"/>
                <a:sym typeface="+mn-ea"/>
              </a:rPr>
              <a:t>1</a:t>
            </a:r>
            <a:r>
              <a:rPr sz="2400" dirty="0">
                <a:latin typeface="Times New Roman" panose="02020603050405020304" pitchFamily="18" charset="0"/>
                <a:cs typeface="Times New Roman" panose="02020603050405020304" pitchFamily="18" charset="0"/>
                <a:sym typeface="+mn-ea"/>
              </a:rPr>
              <a:t>=100*2%+4*23%+1.33*75% =3.92</a:t>
            </a:r>
            <a:endParaRPr sz="24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sz="2400" dirty="0">
                <a:latin typeface="Times New Roman" panose="02020603050405020304" pitchFamily="18" charset="0"/>
                <a:cs typeface="Times New Roman" panose="02020603050405020304" pitchFamily="18" charset="0"/>
                <a:sym typeface="+mn-ea"/>
              </a:rPr>
              <a:t>等效CPI</a:t>
            </a:r>
            <a:r>
              <a:rPr sz="2400" baseline="-25000" dirty="0">
                <a:latin typeface="Times New Roman" panose="02020603050405020304" pitchFamily="18" charset="0"/>
                <a:cs typeface="Times New Roman" panose="02020603050405020304" pitchFamily="18" charset="0"/>
                <a:sym typeface="+mn-ea"/>
              </a:rPr>
              <a:t>2</a:t>
            </a:r>
            <a:r>
              <a:rPr sz="2400" dirty="0">
                <a:latin typeface="Times New Roman" panose="02020603050405020304" pitchFamily="18" charset="0"/>
                <a:cs typeface="Times New Roman" panose="02020603050405020304" pitchFamily="18" charset="0"/>
                <a:sym typeface="+mn-ea"/>
              </a:rPr>
              <a:t>=4*25%+1.33*75%=2.00</a:t>
            </a:r>
            <a:endParaRPr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等效</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CPI</a:t>
            </a:r>
            <a:endPar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a:xfrm>
            <a:off x="457200" y="1600200"/>
            <a:ext cx="8449945" cy="4526280"/>
          </a:xfrm>
        </p:spPr>
        <p:txBody>
          <a:bodyPr/>
          <a:p>
            <a:r>
              <a:rPr lang="zh-CN" altLang="en-US" sz="2400">
                <a:latin typeface="Times New Roman" panose="02020603050405020304" pitchFamily="18" charset="0"/>
                <a:cs typeface="Times New Roman" panose="02020603050405020304" pitchFamily="18" charset="0"/>
              </a:rPr>
              <a:t>在一个时钟频率 f 为 40MHz 的处理机上执行一个典型测试程序，该程序有 4 种类型指令，每种类型指令在程序中出现的条数和每种指令的 CPI 如表 所示。</a:t>
            </a:r>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pPr marL="0" indent="0">
              <a:buNone/>
            </a:pPr>
            <a:r>
              <a:rPr lang="zh-CN" altLang="en-US" sz="2400">
                <a:latin typeface="Times New Roman" panose="02020603050405020304" pitchFamily="18" charset="0"/>
                <a:cs typeface="Times New Roman" panose="02020603050405020304" pitchFamily="18" charset="0"/>
              </a:rPr>
              <a:t>计算这个测试程序在该处理机上运行的 CPI 和相应的 MIPS。</a:t>
            </a:r>
            <a:endParaRPr lang="zh-CN" altLang="en-US" sz="2400">
              <a:latin typeface="Times New Roman" panose="02020603050405020304" pitchFamily="18" charset="0"/>
              <a:cs typeface="Times New Roman" panose="02020603050405020304" pitchFamily="18" charset="0"/>
            </a:endParaRPr>
          </a:p>
          <a:p>
            <a:pPr marL="0" indent="0">
              <a:buNone/>
            </a:pPr>
            <a:endParaRPr lang="zh-CN" altLang="en-US" sz="24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1187450" y="2853055"/>
            <a:ext cx="7048500" cy="19310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611505" y="1628775"/>
            <a:ext cx="7927340" cy="24288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a:xfrm>
            <a:off x="457200" y="1600200"/>
            <a:ext cx="8415655" cy="4526280"/>
          </a:xfrm>
        </p:spPr>
        <p:txBody>
          <a:bodyPr/>
          <a:p>
            <a:pPr latinLnBrk="0">
              <a:spcBef>
                <a:spcPts val="600"/>
              </a:spcBef>
            </a:pPr>
            <a:r>
              <a:rPr lang="zh-CN" altLang="en-US" sz="2400">
                <a:latin typeface="Times New Roman" panose="02020603050405020304" pitchFamily="18" charset="0"/>
                <a:cs typeface="Times New Roman" panose="02020603050405020304" pitchFamily="18" charset="0"/>
              </a:rPr>
              <a:t>某个处理机的时钟频率为 15MHz，执行测试程序的速率为 10MIPS，假设每次存储器存取需 1 个时钟周期的时间：</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（1）处理机的 CPI 值是多少？</a:t>
            </a:r>
            <a:endParaRPr lang="zh-CN" altLang="en-US" sz="20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（2）假设将处理机的时钟频率提高到 30MHz，但存储器的工作速率不变，这使得每次存储器存取需 2 个时钟周期。如果测试程序的 30%指令需要 1 次访存，5%指令需要 2 次访存，其他指令不需要访存，试求测试程序在改进后的处理机上执行的 MIPS。</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467360" y="1484630"/>
            <a:ext cx="8219440" cy="46208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已知 4 个程序在计算机 A、B、C 上的执行时间（s）分别如表所示</a:t>
            </a:r>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pPr marL="457200" lvl="1" indent="0">
              <a:buNone/>
            </a:pPr>
            <a:r>
              <a:rPr lang="zh-CN" altLang="en-US" sz="2000">
                <a:latin typeface="Times New Roman" panose="02020603050405020304" pitchFamily="18" charset="0"/>
                <a:cs typeface="Times New Roman" panose="02020603050405020304" pitchFamily="18" charset="0"/>
              </a:rPr>
              <a:t>假设 4 个程序都分别执行 100×10</a:t>
            </a:r>
            <a:r>
              <a:rPr lang="zh-CN" altLang="en-US" sz="2000" baseline="30000">
                <a:latin typeface="Times New Roman" panose="02020603050405020304" pitchFamily="18" charset="0"/>
                <a:cs typeface="Times New Roman" panose="02020603050405020304" pitchFamily="18" charset="0"/>
              </a:rPr>
              <a:t>6 </a:t>
            </a:r>
            <a:r>
              <a:rPr lang="zh-CN" altLang="en-US" sz="2000">
                <a:latin typeface="Times New Roman" panose="02020603050405020304" pitchFamily="18" charset="0"/>
                <a:cs typeface="Times New Roman" panose="02020603050405020304" pitchFamily="18" charset="0"/>
              </a:rPr>
              <a:t>条指令，计算这 4 个程序分别在计算机 A、B、C 上执行的 MIPS。根据这些速率值，你能否直接评价这 3 台计算机相对性能的优劣？如果不能，你能否找到一种方法对这 3 台计算机的相对性能进行排序？</a:t>
            </a:r>
            <a:endParaRPr lang="zh-CN" altLang="en-US" sz="20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827405" y="2493010"/>
            <a:ext cx="7430770" cy="17805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899795" y="1417955"/>
            <a:ext cx="7016750" cy="1200150"/>
          </a:xfrm>
          <a:prstGeom prst="rect">
            <a:avLst/>
          </a:prstGeom>
        </p:spPr>
      </p:pic>
      <p:pic>
        <p:nvPicPr>
          <p:cNvPr id="5" name="图片 4"/>
          <p:cNvPicPr>
            <a:picLocks noChangeAspect="1"/>
          </p:cNvPicPr>
          <p:nvPr/>
        </p:nvPicPr>
        <p:blipFill>
          <a:blip r:embed="rId2"/>
          <a:stretch>
            <a:fillRect/>
          </a:stretch>
        </p:blipFill>
        <p:spPr>
          <a:xfrm>
            <a:off x="1043305" y="3573145"/>
            <a:ext cx="6796405" cy="1725295"/>
          </a:xfrm>
          <a:prstGeom prst="rect">
            <a:avLst/>
          </a:prstGeom>
        </p:spPr>
      </p:pic>
      <p:sp>
        <p:nvSpPr>
          <p:cNvPr id="7" name="文本框 6"/>
          <p:cNvSpPr txBox="1"/>
          <p:nvPr/>
        </p:nvSpPr>
        <p:spPr>
          <a:xfrm>
            <a:off x="1115695" y="3140710"/>
            <a:ext cx="3752850" cy="368300"/>
          </a:xfrm>
          <a:prstGeom prst="rect">
            <a:avLst/>
          </a:prstGeom>
          <a:noFill/>
        </p:spPr>
        <p:txBody>
          <a:bodyPr wrap="square" rtlCol="0">
            <a:spAutoFit/>
          </a:bodyPr>
          <a:p>
            <a:r>
              <a:rPr lang="zh-CN" altLang="en-US" b="1">
                <a:solidFill>
                  <a:schemeClr val="accent4"/>
                </a:solidFill>
                <a:latin typeface="Times New Roman" panose="02020603050405020304" pitchFamily="18" charset="0"/>
                <a:ea typeface="微软雅黑" panose="020B0503020204020204" charset="-122"/>
                <a:cs typeface="Times New Roman" panose="02020603050405020304" pitchFamily="18" charset="0"/>
              </a:rPr>
              <a:t>程序在各计算机上执行的 MIPS 值</a:t>
            </a:r>
            <a:endParaRPr lang="zh-CN" altLang="en-US" b="1">
              <a:solidFill>
                <a:schemeClr val="accent4"/>
              </a:solidFill>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r>
              <a:rPr lang="zh-CN" altLang="en-US"/>
              <a:t>续）</a:t>
            </a:r>
            <a:endParaRPr lang="zh-CN" altLang="en-US"/>
          </a:p>
        </p:txBody>
      </p:sp>
      <p:sp>
        <p:nvSpPr>
          <p:cNvPr id="3" name="内容占位符 2"/>
          <p:cNvSpPr>
            <a:spLocks noGrp="1"/>
          </p:cNvSpPr>
          <p:nvPr>
            <p:ph idx="1"/>
          </p:nvPr>
        </p:nvSpPr>
        <p:spPr>
          <a:xfrm>
            <a:off x="457200" y="1353820"/>
            <a:ext cx="8229600" cy="2498090"/>
          </a:xfrm>
        </p:spPr>
        <p:txBody>
          <a:bodyPr/>
          <a:p>
            <a:r>
              <a:rPr lang="zh-CN" altLang="en-US" sz="1800">
                <a:latin typeface="Times New Roman" panose="02020603050405020304" pitchFamily="18" charset="0"/>
                <a:cs typeface="Times New Roman" panose="02020603050405020304" pitchFamily="18" charset="0"/>
              </a:rPr>
              <a:t>可见，</a:t>
            </a:r>
            <a:r>
              <a:rPr lang="zh-CN" altLang="en-US" sz="1800">
                <a:solidFill>
                  <a:srgbClr val="FF0000"/>
                </a:solidFill>
                <a:latin typeface="Times New Roman" panose="02020603050405020304" pitchFamily="18" charset="0"/>
                <a:cs typeface="Times New Roman" panose="02020603050405020304" pitchFamily="18" charset="0"/>
              </a:rPr>
              <a:t>不同的程序在同一台机器上执行时的 MIPS 值不同</a:t>
            </a:r>
            <a:r>
              <a:rPr lang="zh-CN" altLang="en-US" sz="1800">
                <a:latin typeface="Times New Roman" panose="02020603050405020304" pitchFamily="18" charset="0"/>
                <a:cs typeface="Times New Roman" panose="02020603050405020304" pitchFamily="18" charset="0"/>
              </a:rPr>
              <a:t>，甚至差别很大，这还说明了在同一台机器上运行的不同程序使用了该机器指令集的不同指令，以及</a:t>
            </a:r>
            <a:r>
              <a:rPr lang="zh-CN" altLang="en-US" sz="1800">
                <a:solidFill>
                  <a:srgbClr val="FF0000"/>
                </a:solidFill>
                <a:latin typeface="Times New Roman" panose="02020603050405020304" pitchFamily="18" charset="0"/>
                <a:cs typeface="Times New Roman" panose="02020603050405020304" pitchFamily="18" charset="0"/>
              </a:rPr>
              <a:t>使用的指令在不同程序中有不同的使用频度</a:t>
            </a:r>
            <a:r>
              <a:rPr lang="zh-CN" altLang="en-US" sz="1800">
                <a:latin typeface="Times New Roman" panose="02020603050405020304" pitchFamily="18" charset="0"/>
                <a:cs typeface="Times New Roman" panose="02020603050405020304" pitchFamily="18" charset="0"/>
              </a:rPr>
              <a:t>，因此，在同一台机器上运行的不同程序有不同的 CPI值，从而表现出不同的 MIPS 值。</a:t>
            </a:r>
            <a:endParaRPr lang="zh-CN" altLang="en-US" sz="1800">
              <a:latin typeface="Times New Roman" panose="02020603050405020304" pitchFamily="18" charset="0"/>
              <a:cs typeface="Times New Roman" panose="02020603050405020304" pitchFamily="18" charset="0"/>
            </a:endParaRPr>
          </a:p>
          <a:p>
            <a:pPr latinLnBrk="0">
              <a:spcBef>
                <a:spcPts val="600"/>
              </a:spcBef>
            </a:pPr>
            <a:r>
              <a:rPr lang="zh-CN" altLang="en-US" sz="1800">
                <a:latin typeface="Times New Roman" panose="02020603050405020304" pitchFamily="18" charset="0"/>
                <a:cs typeface="Times New Roman" panose="02020603050405020304" pitchFamily="18" charset="0"/>
              </a:rPr>
              <a:t>仅用一个程序在不同计算机上运行的 MIPS值来评价计算机之间的性能优劣是不可靠的，例如，若选用程序 1 的测试结果来评价，那么，计算机 A 的性能最好，计算机 C 的性能最差；若选用程序 2 的测试结果来评价，那么，计算机 A 的性能最差，计算机 C 的性能最好。</a:t>
            </a:r>
            <a:endParaRPr lang="zh-CN" altLang="en-US" sz="18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971550" y="3933190"/>
            <a:ext cx="7361555" cy="20866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altLang="en-US">
                <a:sym typeface="+mn-ea"/>
              </a:rPr>
              <a:t>第三章</a:t>
            </a:r>
            <a:r>
              <a:rPr lang="en-US" altLang="zh-CN">
                <a:sym typeface="+mn-ea"/>
              </a:rPr>
              <a:t> </a:t>
            </a:r>
            <a:r>
              <a:rPr lang="zh-CN" altLang="en-US">
                <a:sym typeface="+mn-ea"/>
              </a:rPr>
              <a:t>存储</a:t>
            </a:r>
            <a:r>
              <a:rPr lang="zh-CN" altLang="en-US">
                <a:sym typeface="+mn-ea"/>
              </a:rPr>
              <a:t>系统</a:t>
            </a:r>
            <a:endParaRPr lang="zh-CN" altLang="en-US">
              <a:sym typeface="+mn-ea"/>
            </a:endParaRPr>
          </a:p>
        </p:txBody>
      </p:sp>
      <p:sp>
        <p:nvSpPr>
          <p:cNvPr id="30723" name="Rectangle 3"/>
          <p:cNvSpPr>
            <a:spLocks noGrp="1"/>
          </p:cNvSpPr>
          <p:nvPr>
            <p:ph idx="1"/>
          </p:nvPr>
        </p:nvSpPr>
        <p:spPr>
          <a:xfrm>
            <a:off x="514985" y="1413510"/>
            <a:ext cx="8114030" cy="4637405"/>
          </a:xfrm>
          <a:noFill/>
          <a:ln>
            <a:noFill/>
          </a:ln>
        </p:spPr>
        <p:txBody>
          <a:bodyPr/>
          <a:p>
            <a:pPr lvl="0" algn="just" eaLnBrk="1" latinLnBrk="0" hangingPunct="1">
              <a:spcBef>
                <a:spcPts val="1800"/>
              </a:spcBef>
              <a:buSzTx/>
            </a:pPr>
            <a:r>
              <a:rPr lang="zh-CN" altLang="en-US" sz="2400"/>
              <a:t>存储系统的访问效率：</a:t>
            </a:r>
            <a:endParaRPr lang="zh-CN" altLang="en-US" sz="2400"/>
          </a:p>
          <a:p>
            <a:pPr lvl="1" algn="just" eaLnBrk="1" latinLnBrk="0" hangingPunct="1">
              <a:spcBef>
                <a:spcPts val="1200"/>
              </a:spcBef>
              <a:buSzTx/>
            </a:pPr>
            <a:r>
              <a:rPr lang="zh-CN" altLang="en-US" sz="2000" b="0" dirty="0">
                <a:solidFill>
                  <a:schemeClr val="tx1"/>
                </a:solidFill>
                <a:latin typeface="Times New Roman" panose="02020603050405020304" pitchFamily="18" charset="0"/>
                <a:cs typeface="Times New Roman" panose="02020603050405020304" pitchFamily="18" charset="0"/>
              </a:rPr>
              <a:t>主要与</a:t>
            </a:r>
            <a:r>
              <a:rPr lang="zh-CN" altLang="en-US" sz="2000" b="0" dirty="0">
                <a:solidFill>
                  <a:srgbClr val="FF0000"/>
                </a:solidFill>
                <a:latin typeface="Times New Roman" panose="02020603050405020304" pitchFamily="18" charset="0"/>
                <a:cs typeface="Times New Roman" panose="02020603050405020304" pitchFamily="18" charset="0"/>
              </a:rPr>
              <a:t>命中率</a:t>
            </a:r>
            <a:r>
              <a:rPr lang="zh-CN" altLang="en-US" sz="2000" b="0" dirty="0">
                <a:solidFill>
                  <a:schemeClr val="tx1"/>
                </a:solidFill>
                <a:latin typeface="Times New Roman" panose="02020603050405020304" pitchFamily="18" charset="0"/>
                <a:cs typeface="Times New Roman" panose="02020603050405020304" pitchFamily="18" charset="0"/>
              </a:rPr>
              <a:t>和</a:t>
            </a:r>
            <a:r>
              <a:rPr lang="zh-CN" altLang="en-US" sz="2000" b="0" dirty="0">
                <a:solidFill>
                  <a:srgbClr val="FF0000"/>
                </a:solidFill>
                <a:latin typeface="Times New Roman" panose="02020603050405020304" pitchFamily="18" charset="0"/>
                <a:cs typeface="Times New Roman" panose="02020603050405020304" pitchFamily="18" charset="0"/>
              </a:rPr>
              <a:t>两级存储器的速度之比</a:t>
            </a:r>
            <a:r>
              <a:rPr lang="zh-CN" altLang="en-US" sz="2000" b="0" dirty="0">
                <a:solidFill>
                  <a:schemeClr val="tx1"/>
                </a:solidFill>
                <a:latin typeface="Times New Roman" panose="02020603050405020304" pitchFamily="18" charset="0"/>
                <a:cs typeface="Times New Roman" panose="02020603050405020304" pitchFamily="18" charset="0"/>
              </a:rPr>
              <a:t>有关</a:t>
            </a:r>
            <a:endParaRPr lang="zh-CN" altLang="en-US" sz="2000" b="0" dirty="0">
              <a:solidFill>
                <a:schemeClr val="tx1"/>
              </a:solidFill>
              <a:latin typeface="Times New Roman" panose="02020603050405020304" pitchFamily="18" charset="0"/>
              <a:cs typeface="Times New Roman" panose="02020603050405020304" pitchFamily="18" charset="0"/>
            </a:endParaRPr>
          </a:p>
          <a:p>
            <a:pPr lvl="1" algn="just" eaLnBrk="1" latinLnBrk="0" hangingPunct="1">
              <a:spcBef>
                <a:spcPts val="1800"/>
              </a:spcBef>
              <a:buSzTx/>
            </a:pPr>
            <a:endParaRPr lang="zh-CN" altLang="en-US" sz="1800" b="0" dirty="0">
              <a:solidFill>
                <a:schemeClr val="tx1"/>
              </a:solidFill>
              <a:latin typeface="Times New Roman" panose="02020603050405020304" pitchFamily="18" charset="0"/>
              <a:cs typeface="Times New Roman" panose="02020603050405020304" pitchFamily="18" charset="0"/>
            </a:endParaRPr>
          </a:p>
          <a:p>
            <a:pPr lvl="1" algn="just" eaLnBrk="1" latinLnBrk="0" hangingPunct="1">
              <a:spcBef>
                <a:spcPts val="1800"/>
              </a:spcBef>
              <a:buSzTx/>
            </a:pPr>
            <a:endParaRPr lang="zh-CN" altLang="en-US" sz="1800" b="0" dirty="0">
              <a:solidFill>
                <a:schemeClr val="tx1"/>
              </a:solidFill>
              <a:latin typeface="Times New Roman" panose="02020603050405020304" pitchFamily="18" charset="0"/>
              <a:cs typeface="Times New Roman" panose="02020603050405020304" pitchFamily="18" charset="0"/>
            </a:endParaRPr>
          </a:p>
          <a:p>
            <a:pPr lvl="0" algn="just" eaLnBrk="1" latinLnBrk="0" hangingPunct="1">
              <a:spcBef>
                <a:spcPts val="1800"/>
              </a:spcBef>
              <a:buSzTx/>
            </a:pPr>
            <a:r>
              <a:rPr lang="zh-CN" altLang="en-US" sz="2400"/>
              <a:t>采用预取技术提高命中率</a:t>
            </a:r>
            <a:endParaRPr lang="zh-CN" altLang="en-US" sz="2400"/>
          </a:p>
          <a:p>
            <a:pPr lvl="1" algn="just" eaLnBrk="1" latinLnBrk="0" hangingPunct="1">
              <a:spcBef>
                <a:spcPts val="1200"/>
              </a:spcBef>
              <a:buSzTx/>
            </a:pPr>
            <a:r>
              <a:rPr lang="zh-CN" altLang="en-US" sz="2000" dirty="0">
                <a:latin typeface="Times New Roman" panose="02020603050405020304" pitchFamily="18" charset="0"/>
                <a:cs typeface="Times New Roman" panose="02020603050405020304" pitchFamily="18" charset="0"/>
              </a:rPr>
              <a:t>不命中时，把M2存储器中相邻几个单元组成的数据块送入M1</a:t>
            </a:r>
            <a:endParaRPr lang="zh-CN" altLang="en-US" sz="2000" dirty="0">
              <a:latin typeface="Times New Roman" panose="02020603050405020304" pitchFamily="18" charset="0"/>
              <a:cs typeface="Times New Roman" panose="02020603050405020304" pitchFamily="18" charset="0"/>
            </a:endParaRPr>
          </a:p>
          <a:p>
            <a:pPr lvl="1" algn="just" eaLnBrk="1" latinLnBrk="0" hangingPunct="1">
              <a:spcBef>
                <a:spcPts val="1200"/>
              </a:spcBef>
              <a:buSzTx/>
            </a:pPr>
            <a:endParaRPr lang="zh-CN" altLang="en-US" sz="2000" dirty="0">
              <a:latin typeface="Times New Roman" panose="02020603050405020304" pitchFamily="18" charset="0"/>
              <a:cs typeface="Times New Roman" panose="02020603050405020304" pitchFamily="18" charset="0"/>
            </a:endParaRPr>
          </a:p>
          <a:p>
            <a:pPr lvl="1" algn="just" eaLnBrk="1" latinLnBrk="0" hangingPunct="1">
              <a:spcBef>
                <a:spcPts val="1200"/>
              </a:spcBef>
              <a:buSzTx/>
            </a:pPr>
            <a:endParaRPr lang="zh-CN" altLang="en-US" sz="2000" dirty="0">
              <a:latin typeface="Times New Roman" panose="02020603050405020304" pitchFamily="18" charset="0"/>
              <a:cs typeface="Times New Roman" panose="02020603050405020304" pitchFamily="18" charset="0"/>
            </a:endParaRPr>
          </a:p>
          <a:p>
            <a:pPr lvl="2" algn="just" eaLnBrk="1" latinLnBrk="0" hangingPunct="1">
              <a:spcBef>
                <a:spcPts val="1200"/>
              </a:spcBef>
              <a:buSzTx/>
            </a:pPr>
            <a:r>
              <a:rPr lang="zh-CN" altLang="en-US" sz="1710" dirty="0">
                <a:latin typeface="Times New Roman" panose="02020603050405020304" pitchFamily="18" charset="0"/>
                <a:cs typeface="Times New Roman" panose="02020603050405020304" pitchFamily="18" charset="0"/>
              </a:rPr>
              <a:t>H’是采用预取技术后的命中率；H是原来的命中率；n为数据块大小与数据重复使用次数的乘积</a:t>
            </a:r>
            <a:endParaRPr lang="zh-CN" altLang="en-US" sz="2000" dirty="0">
              <a:latin typeface="Times New Roman" panose="02020603050405020304" pitchFamily="18" charset="0"/>
              <a:cs typeface="Times New Roman" panose="02020603050405020304" pitchFamily="18" charset="0"/>
            </a:endParaRPr>
          </a:p>
        </p:txBody>
      </p:sp>
      <p:graphicFrame>
        <p:nvGraphicFramePr>
          <p:cNvPr id="38917" name="Object 3"/>
          <p:cNvGraphicFramePr>
            <a:graphicFrameLocks noChangeAspect="1"/>
          </p:cNvGraphicFramePr>
          <p:nvPr>
            <p:custDataLst>
              <p:tags r:id="rId1"/>
            </p:custDataLst>
          </p:nvPr>
        </p:nvGraphicFramePr>
        <p:xfrm>
          <a:off x="1187450" y="2420620"/>
          <a:ext cx="6681470" cy="965835"/>
        </p:xfrm>
        <a:graphic>
          <a:graphicData uri="http://schemas.openxmlformats.org/presentationml/2006/ole">
            <mc:AlternateContent xmlns:mc="http://schemas.openxmlformats.org/markup-compatibility/2006">
              <mc:Choice xmlns:v="urn:schemas-microsoft-com:vml" Requires="v">
                <p:oleObj spid="_x0000_s3076" name="" r:id="rId2" imgW="7261225" imgH="1049655" progId="Equation.3">
                  <p:embed/>
                </p:oleObj>
              </mc:Choice>
              <mc:Fallback>
                <p:oleObj name="" r:id="rId2" imgW="7261225" imgH="1049655" progId="Equation.3">
                  <p:embed/>
                  <p:pic>
                    <p:nvPicPr>
                      <p:cNvPr id="0" name="图片 3075"/>
                      <p:cNvPicPr/>
                      <p:nvPr/>
                    </p:nvPicPr>
                    <p:blipFill>
                      <a:blip r:embed="rId3"/>
                      <a:stretch>
                        <a:fillRect/>
                      </a:stretch>
                    </p:blipFill>
                    <p:spPr>
                      <a:xfrm>
                        <a:off x="1187450" y="2420620"/>
                        <a:ext cx="6681470" cy="965835"/>
                      </a:xfrm>
                      <a:prstGeom prst="rect">
                        <a:avLst/>
                      </a:prstGeom>
                      <a:noFill/>
                      <a:ln w="38100">
                        <a:noFill/>
                        <a:miter/>
                      </a:ln>
                    </p:spPr>
                  </p:pic>
                </p:oleObj>
              </mc:Fallback>
            </mc:AlternateContent>
          </a:graphicData>
        </a:graphic>
      </p:graphicFrame>
      <p:graphicFrame>
        <p:nvGraphicFramePr>
          <p:cNvPr id="47109" name="Object 4"/>
          <p:cNvGraphicFramePr>
            <a:graphicFrameLocks noChangeAspect="1"/>
          </p:cNvGraphicFramePr>
          <p:nvPr>
            <p:custDataLst>
              <p:tags r:id="rId4"/>
            </p:custDataLst>
          </p:nvPr>
        </p:nvGraphicFramePr>
        <p:xfrm>
          <a:off x="3131820" y="4509135"/>
          <a:ext cx="1532890" cy="805815"/>
        </p:xfrm>
        <a:graphic>
          <a:graphicData uri="http://schemas.openxmlformats.org/presentationml/2006/ole">
            <mc:AlternateContent xmlns:mc="http://schemas.openxmlformats.org/markup-compatibility/2006">
              <mc:Choice xmlns:v="urn:schemas-microsoft-com:vml" Requires="v">
                <p:oleObj spid="_x0000_s3079" name="" r:id="rId5" imgW="2374900" imgH="1252855" progId="Equation.3">
                  <p:embed/>
                </p:oleObj>
              </mc:Choice>
              <mc:Fallback>
                <p:oleObj name="" r:id="rId5" imgW="2374900" imgH="1252855" progId="Equation.3">
                  <p:embed/>
                  <p:pic>
                    <p:nvPicPr>
                      <p:cNvPr id="0" name="图片 3078"/>
                      <p:cNvPicPr/>
                      <p:nvPr/>
                    </p:nvPicPr>
                    <p:blipFill>
                      <a:blip r:embed="rId6"/>
                      <a:stretch>
                        <a:fillRect/>
                      </a:stretch>
                    </p:blipFill>
                    <p:spPr>
                      <a:xfrm>
                        <a:off x="3131820" y="4509135"/>
                        <a:ext cx="1532890" cy="805815"/>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CACHE性能的评估和改进</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488569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nSpc>
                <a:spcPct val="12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性能的定量计算：</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程序执行时间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执行程序的时间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等待存储访问时间</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基于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的计算：</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20000"/>
              </a:lnSpc>
              <a:spcBef>
                <a:spcPts val="12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存储器阻塞时钟周期</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marL="914400" lvl="2" indent="0">
              <a:lnSpc>
                <a:spcPct val="120000"/>
              </a:lnSpc>
              <a:spcBef>
                <a:spcPts val="1200"/>
              </a:spcBef>
              <a:buNone/>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（存储器总访问次数</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指令数）*缺失率*缺失代价</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2">
              <a:lnSpc>
                <a:spcPct val="120000"/>
              </a:lnSpc>
              <a:spcBef>
                <a:spcPts val="12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平均访问时间（</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AMAT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命中时间</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缺失率*缺失代价</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n二维数组无冲突访问</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518731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600"/>
              </a:spcBef>
            </a:pPr>
            <a:r>
              <a:rPr lang="en-US" altLang="zh-CN" sz="2000" dirty="0">
                <a:latin typeface="Times New Roman" panose="02020603050405020304" pitchFamily="18" charset="0"/>
                <a:cs typeface="Times New Roman" panose="02020603050405020304" pitchFamily="18" charset="0"/>
                <a:sym typeface="+mn-ea"/>
              </a:rPr>
              <a:t>n*n</a:t>
            </a:r>
            <a:r>
              <a:rPr lang="zh-CN" altLang="en-US" sz="2000" dirty="0">
                <a:latin typeface="Times New Roman" panose="02020603050405020304" pitchFamily="18" charset="0"/>
                <a:cs typeface="Times New Roman" panose="02020603050405020304" pitchFamily="18" charset="0"/>
                <a:sym typeface="+mn-ea"/>
              </a:rPr>
              <a:t>二维数组要求按行、列、对角线、反对角线无冲突访问</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存储体个数</a:t>
            </a:r>
            <a:r>
              <a:rPr lang="en-US" altLang="zh-CN" sz="2000" dirty="0">
                <a:latin typeface="Times New Roman" panose="02020603050405020304" pitchFamily="18" charset="0"/>
                <a:cs typeface="Times New Roman" panose="02020603050405020304" pitchFamily="18" charset="0"/>
                <a:sym typeface="+mn-ea"/>
              </a:rPr>
              <a:t>m&gt;=n,</a:t>
            </a:r>
            <a:r>
              <a:rPr lang="zh-CN" altLang="en-US" sz="2000" dirty="0">
                <a:latin typeface="Times New Roman" panose="02020603050405020304" pitchFamily="18" charset="0"/>
                <a:cs typeface="Times New Roman" panose="02020603050405020304" pitchFamily="18" charset="0"/>
                <a:sym typeface="+mn-ea"/>
              </a:rPr>
              <a:t>且取质数</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同一列相邻元素在存储体中错开</a:t>
            </a:r>
            <a:r>
              <a:rPr lang="en-US" altLang="zh-CN" sz="2000"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个存储体</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同一行相邻元素在存储体中错开</a:t>
            </a:r>
            <a:r>
              <a:rPr lang="en-US" altLang="zh-CN" sz="2000"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个存储体</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en-US" altLang="zh-CN" sz="2000" dirty="0">
                <a:latin typeface="Times New Roman" panose="02020603050405020304" pitchFamily="18" charset="0"/>
                <a:cs typeface="Times New Roman" panose="02020603050405020304" pitchFamily="18" charset="0"/>
                <a:sym typeface="+mn-ea"/>
              </a:rPr>
              <a:t>m=2</a:t>
            </a:r>
            <a:r>
              <a:rPr lang="en-US" altLang="zh-CN" sz="2000" baseline="30000" dirty="0">
                <a:latin typeface="Times New Roman" panose="02020603050405020304" pitchFamily="18" charset="0"/>
                <a:cs typeface="Times New Roman" panose="02020603050405020304" pitchFamily="18" charset="0"/>
                <a:sym typeface="+mn-ea"/>
              </a:rPr>
              <a:t>2p</a:t>
            </a:r>
            <a:r>
              <a:rPr lang="en-US" altLang="zh-CN" sz="2000" dirty="0">
                <a:latin typeface="Times New Roman" panose="02020603050405020304" pitchFamily="18" charset="0"/>
                <a:cs typeface="Times New Roman" panose="02020603050405020304" pitchFamily="18" charset="0"/>
                <a:sym typeface="+mn-ea"/>
              </a:rPr>
              <a:t>+1, d</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=2</a:t>
            </a:r>
            <a:r>
              <a:rPr lang="en-US" altLang="zh-CN" sz="2000" baseline="30000" dirty="0">
                <a:latin typeface="Times New Roman" panose="02020603050405020304" pitchFamily="18" charset="0"/>
                <a:cs typeface="Times New Roman" panose="02020603050405020304" pitchFamily="18" charset="0"/>
                <a:sym typeface="+mn-ea"/>
              </a:rPr>
              <a:t>p</a:t>
            </a:r>
            <a:r>
              <a:rPr lang="en-US" altLang="zh-CN" sz="2000"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=1</a:t>
            </a:r>
            <a:endParaRPr lang="en-US" altLang="zh-CN" sz="2000" dirty="0">
              <a:latin typeface="Times New Roman" panose="02020603050405020304" pitchFamily="18" charset="0"/>
              <a:cs typeface="Times New Roman" panose="02020603050405020304" pitchFamily="18" charset="0"/>
            </a:endParaRPr>
          </a:p>
          <a:p>
            <a:pPr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假设</a:t>
            </a:r>
            <a:r>
              <a:rPr lang="en-US" altLang="zh-CN" sz="2000" dirty="0">
                <a:latin typeface="Times New Roman" panose="02020603050405020304" pitchFamily="18" charset="0"/>
                <a:cs typeface="Times New Roman" panose="02020603050405020304" pitchFamily="18" charset="0"/>
                <a:sym typeface="+mn-ea"/>
              </a:rPr>
              <a:t>a</a:t>
            </a:r>
            <a:r>
              <a:rPr lang="en-US" altLang="zh-CN" sz="2000" baseline="-25000" dirty="0">
                <a:latin typeface="Times New Roman" panose="02020603050405020304" pitchFamily="18" charset="0"/>
                <a:cs typeface="Times New Roman" panose="02020603050405020304" pitchFamily="18" charset="0"/>
                <a:sym typeface="+mn-ea"/>
              </a:rPr>
              <a:t>ij</a:t>
            </a:r>
            <a:r>
              <a:rPr lang="zh-CN" altLang="en-US" sz="2000" dirty="0">
                <a:latin typeface="Times New Roman" panose="02020603050405020304" pitchFamily="18" charset="0"/>
                <a:cs typeface="Times New Roman" panose="02020603050405020304" pitchFamily="18" charset="0"/>
                <a:sym typeface="+mn-ea"/>
              </a:rPr>
              <a:t>是</a:t>
            </a:r>
            <a:r>
              <a:rPr lang="en-US" altLang="zh-CN" sz="2000" dirty="0">
                <a:latin typeface="Times New Roman" panose="02020603050405020304" pitchFamily="18" charset="0"/>
                <a:cs typeface="Times New Roman" panose="02020603050405020304" pitchFamily="18" charset="0"/>
                <a:sym typeface="+mn-ea"/>
              </a:rPr>
              <a:t>n×n</a:t>
            </a:r>
            <a:r>
              <a:rPr lang="zh-CN" altLang="en-US" sz="2000" dirty="0">
                <a:latin typeface="Times New Roman" panose="02020603050405020304" pitchFamily="18" charset="0"/>
                <a:cs typeface="Times New Roman" panose="02020603050405020304" pitchFamily="18" charset="0"/>
                <a:sym typeface="+mn-ea"/>
              </a:rPr>
              <a:t>二维数组中的任意一个元素，则</a:t>
            </a:r>
            <a:r>
              <a:rPr lang="en-US" altLang="zh-CN" sz="2000" dirty="0">
                <a:latin typeface="Times New Roman" panose="02020603050405020304" pitchFamily="18" charset="0"/>
                <a:cs typeface="Times New Roman" panose="02020603050405020304" pitchFamily="18" charset="0"/>
                <a:sym typeface="+mn-ea"/>
              </a:rPr>
              <a:t>a</a:t>
            </a:r>
            <a:r>
              <a:rPr lang="en-US" altLang="zh-CN" sz="2000" baseline="-25000" dirty="0">
                <a:latin typeface="Times New Roman" panose="02020603050405020304" pitchFamily="18" charset="0"/>
                <a:cs typeface="Times New Roman" panose="02020603050405020304" pitchFamily="18" charset="0"/>
                <a:sym typeface="+mn-ea"/>
              </a:rPr>
              <a:t>ij</a:t>
            </a:r>
            <a:r>
              <a:rPr lang="zh-CN" altLang="en-US" sz="2000" dirty="0">
                <a:latin typeface="Times New Roman" panose="02020603050405020304" pitchFamily="18" charset="0"/>
                <a:cs typeface="Times New Roman" panose="02020603050405020304" pitchFamily="18" charset="0"/>
                <a:sym typeface="+mn-ea"/>
              </a:rPr>
              <a:t>在无冲突并行存储器中</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体号地址：</a:t>
            </a:r>
            <a:r>
              <a:rPr lang="en-US" altLang="zh-CN" sz="2000" dirty="0">
                <a:latin typeface="Times New Roman" panose="02020603050405020304" pitchFamily="18" charset="0"/>
                <a:cs typeface="Times New Roman" panose="02020603050405020304" pitchFamily="18" charset="0"/>
                <a:sym typeface="+mn-ea"/>
              </a:rPr>
              <a:t>(2</a:t>
            </a:r>
            <a:r>
              <a:rPr lang="en-US" altLang="zh-CN" sz="2000" baseline="30000" dirty="0">
                <a:latin typeface="Times New Roman" panose="02020603050405020304" pitchFamily="18" charset="0"/>
                <a:cs typeface="Times New Roman" panose="02020603050405020304" pitchFamily="18" charset="0"/>
                <a:sym typeface="+mn-ea"/>
              </a:rPr>
              <a:t>p </a:t>
            </a:r>
            <a:r>
              <a:rPr lang="en-US" altLang="zh-CN" sz="2000" dirty="0">
                <a:latin typeface="Times New Roman" panose="02020603050405020304" pitchFamily="18" charset="0"/>
                <a:cs typeface="Times New Roman" panose="02020603050405020304" pitchFamily="18" charset="0"/>
                <a:sym typeface="+mn-ea"/>
              </a:rPr>
              <a:t>i+j+k) MOD m</a:t>
            </a: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体内地址：</a:t>
            </a:r>
            <a:r>
              <a:rPr lang="en-US" altLang="zh-CN" sz="2000" dirty="0">
                <a:latin typeface="Times New Roman" panose="02020603050405020304" pitchFamily="18" charset="0"/>
                <a:cs typeface="Times New Roman" panose="02020603050405020304" pitchFamily="18" charset="0"/>
                <a:sym typeface="+mn-ea"/>
              </a:rPr>
              <a:t>i </a:t>
            </a:r>
            <a:r>
              <a:rPr lang="zh-CN" altLang="en-US" sz="2000" dirty="0">
                <a:latin typeface="Times New Roman" panose="02020603050405020304" pitchFamily="18" charset="0"/>
                <a:cs typeface="Times New Roman" panose="02020603050405020304" pitchFamily="18" charset="0"/>
                <a:sym typeface="+mn-ea"/>
              </a:rPr>
              <a:t>（行）</a:t>
            </a: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其中</a:t>
            </a:r>
            <a:endParaRPr lang="zh-CN" altLang="en-US" sz="20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1600" dirty="0">
                <a:latin typeface="Times New Roman" panose="02020603050405020304" pitchFamily="18" charset="0"/>
                <a:cs typeface="Times New Roman" panose="02020603050405020304" pitchFamily="18" charset="0"/>
                <a:sym typeface="+mn-ea"/>
              </a:rPr>
              <a:t>0≤i≤n-1</a:t>
            </a:r>
            <a:r>
              <a:rPr lang="zh-CN" altLang="en-US" sz="1600" dirty="0">
                <a:latin typeface="Times New Roman" panose="02020603050405020304" pitchFamily="18" charset="0"/>
                <a:cs typeface="Times New Roman" panose="02020603050405020304" pitchFamily="18" charset="0"/>
                <a:sym typeface="+mn-ea"/>
              </a:rPr>
              <a:t>，</a:t>
            </a:r>
            <a:r>
              <a:rPr lang="en-US" altLang="zh-CN" sz="1600" dirty="0">
                <a:latin typeface="Times New Roman" panose="02020603050405020304" pitchFamily="18" charset="0"/>
                <a:cs typeface="Times New Roman" panose="02020603050405020304" pitchFamily="18" charset="0"/>
                <a:sym typeface="+mn-ea"/>
              </a:rPr>
              <a:t>0≤j≤n-1</a:t>
            </a:r>
            <a:endParaRPr lang="en-US" altLang="zh-CN" sz="16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1600" dirty="0">
                <a:latin typeface="Times New Roman" panose="02020603050405020304" pitchFamily="18" charset="0"/>
                <a:cs typeface="Times New Roman" panose="02020603050405020304" pitchFamily="18" charset="0"/>
                <a:sym typeface="+mn-ea"/>
              </a:rPr>
              <a:t>k</a:t>
            </a:r>
            <a:r>
              <a:rPr lang="zh-CN" altLang="en-US" sz="1600" dirty="0">
                <a:latin typeface="Times New Roman" panose="02020603050405020304" pitchFamily="18" charset="0"/>
                <a:cs typeface="Times New Roman" panose="02020603050405020304" pitchFamily="18" charset="0"/>
                <a:sym typeface="+mn-ea"/>
              </a:rPr>
              <a:t>为数组第一个元素</a:t>
            </a:r>
            <a:r>
              <a:rPr lang="en-US" altLang="zh-CN" sz="1600" dirty="0">
                <a:latin typeface="Times New Roman" panose="02020603050405020304" pitchFamily="18" charset="0"/>
                <a:cs typeface="Times New Roman" panose="02020603050405020304" pitchFamily="18" charset="0"/>
                <a:sym typeface="+mn-ea"/>
              </a:rPr>
              <a:t>a</a:t>
            </a:r>
            <a:r>
              <a:rPr lang="en-US" altLang="zh-CN" sz="1600" baseline="-25000" dirty="0">
                <a:latin typeface="Times New Roman" panose="02020603050405020304" pitchFamily="18" charset="0"/>
                <a:cs typeface="Times New Roman" panose="02020603050405020304" pitchFamily="18" charset="0"/>
                <a:sym typeface="+mn-ea"/>
              </a:rPr>
              <a:t>00</a:t>
            </a:r>
            <a:r>
              <a:rPr lang="zh-CN" altLang="en-US" sz="1600" dirty="0">
                <a:latin typeface="Times New Roman" panose="02020603050405020304" pitchFamily="18" charset="0"/>
                <a:cs typeface="Times New Roman" panose="02020603050405020304" pitchFamily="18" charset="0"/>
                <a:sym typeface="+mn-ea"/>
              </a:rPr>
              <a:t>所在体号，一般情况下取</a:t>
            </a:r>
            <a:r>
              <a:rPr lang="en-US" altLang="zh-CN" sz="1600" dirty="0">
                <a:latin typeface="Times New Roman" panose="02020603050405020304" pitchFamily="18" charset="0"/>
                <a:cs typeface="Times New Roman" panose="02020603050405020304" pitchFamily="18" charset="0"/>
                <a:sym typeface="+mn-ea"/>
              </a:rPr>
              <a:t>k=0</a:t>
            </a:r>
            <a:endParaRPr lang="en-US" altLang="zh-CN" sz="16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1600" dirty="0">
                <a:latin typeface="Times New Roman" panose="02020603050405020304" pitchFamily="18" charset="0"/>
                <a:cs typeface="Times New Roman" panose="02020603050405020304" pitchFamily="18" charset="0"/>
                <a:sym typeface="+mn-ea"/>
              </a:rPr>
              <a:t>m</a:t>
            </a:r>
            <a:r>
              <a:rPr lang="zh-CN" altLang="en-US" sz="1600" dirty="0">
                <a:latin typeface="Times New Roman" panose="02020603050405020304" pitchFamily="18" charset="0"/>
                <a:cs typeface="Times New Roman" panose="02020603050405020304" pitchFamily="18" charset="0"/>
                <a:sym typeface="+mn-ea"/>
              </a:rPr>
              <a:t>是并行存储体的个数，要求</a:t>
            </a:r>
            <a:r>
              <a:rPr lang="en-US" altLang="zh-CN" sz="1600" dirty="0">
                <a:latin typeface="Times New Roman" panose="02020603050405020304" pitchFamily="18" charset="0"/>
                <a:cs typeface="Times New Roman" panose="02020603050405020304" pitchFamily="18" charset="0"/>
                <a:sym typeface="+mn-ea"/>
              </a:rPr>
              <a:t>m≥n</a:t>
            </a:r>
            <a:r>
              <a:rPr lang="zh-CN" altLang="en-US" sz="1600" dirty="0">
                <a:latin typeface="Times New Roman" panose="02020603050405020304" pitchFamily="18" charset="0"/>
                <a:cs typeface="Times New Roman" panose="02020603050405020304" pitchFamily="18" charset="0"/>
                <a:sym typeface="+mn-ea"/>
              </a:rPr>
              <a:t>且为质数</a:t>
            </a:r>
            <a:endParaRPr lang="zh-CN" altLang="en-US" sz="16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1600" dirty="0">
                <a:latin typeface="Times New Roman" panose="02020603050405020304" pitchFamily="18" charset="0"/>
                <a:cs typeface="Times New Roman" panose="02020603050405020304" pitchFamily="18" charset="0"/>
                <a:sym typeface="+mn-ea"/>
              </a:rPr>
              <a:t>p</a:t>
            </a:r>
            <a:r>
              <a:rPr lang="zh-CN" altLang="en-US" sz="1600" dirty="0">
                <a:latin typeface="Times New Roman" panose="02020603050405020304" pitchFamily="18" charset="0"/>
                <a:cs typeface="Times New Roman" panose="02020603050405020304" pitchFamily="18" charset="0"/>
                <a:sym typeface="+mn-ea"/>
              </a:rPr>
              <a:t>是满足</a:t>
            </a:r>
            <a:r>
              <a:rPr lang="en-US" altLang="zh-CN" sz="1600" dirty="0">
                <a:latin typeface="Times New Roman" panose="02020603050405020304" pitchFamily="18" charset="0"/>
                <a:cs typeface="Times New Roman" panose="02020603050405020304" pitchFamily="18" charset="0"/>
                <a:sym typeface="+mn-ea"/>
              </a:rPr>
              <a:t>m=2</a:t>
            </a:r>
            <a:r>
              <a:rPr lang="en-US" altLang="zh-CN" sz="1600" baseline="30000" dirty="0">
                <a:latin typeface="Times New Roman" panose="02020603050405020304" pitchFamily="18" charset="0"/>
                <a:cs typeface="Times New Roman" panose="02020603050405020304" pitchFamily="18" charset="0"/>
                <a:sym typeface="+mn-ea"/>
              </a:rPr>
              <a:t>2p</a:t>
            </a:r>
            <a:r>
              <a:rPr lang="en-US" altLang="zh-CN" sz="1600" dirty="0">
                <a:latin typeface="Times New Roman" panose="02020603050405020304" pitchFamily="18" charset="0"/>
                <a:cs typeface="Times New Roman" panose="02020603050405020304" pitchFamily="18" charset="0"/>
                <a:sym typeface="+mn-ea"/>
              </a:rPr>
              <a:t>+1</a:t>
            </a:r>
            <a:r>
              <a:rPr lang="zh-CN" altLang="en-US" sz="1600" dirty="0">
                <a:latin typeface="Times New Roman" panose="02020603050405020304" pitchFamily="18" charset="0"/>
                <a:cs typeface="Times New Roman" panose="02020603050405020304" pitchFamily="18" charset="0"/>
                <a:sym typeface="+mn-ea"/>
              </a:rPr>
              <a:t>关系的任意自然数</a:t>
            </a:r>
            <a:endParaRPr lang="zh-CN" altLang="en-US" sz="16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1600" dirty="0">
                <a:latin typeface="Times New Roman" panose="02020603050405020304" pitchFamily="18" charset="0"/>
                <a:cs typeface="Times New Roman" panose="02020603050405020304" pitchFamily="18" charset="0"/>
                <a:sym typeface="+mn-ea"/>
              </a:rPr>
              <a:t>MOD</a:t>
            </a:r>
            <a:r>
              <a:rPr lang="zh-CN" altLang="en-US" sz="1600" dirty="0">
                <a:latin typeface="Times New Roman" panose="02020603050405020304" pitchFamily="18" charset="0"/>
                <a:cs typeface="Times New Roman" panose="02020603050405020304" pitchFamily="18" charset="0"/>
                <a:sym typeface="+mn-ea"/>
              </a:rPr>
              <a:t>是模运算的符号</a:t>
            </a:r>
            <a:endParaRPr lang="zh-CN" altLang="en-US" sz="16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endParaRPr lang="zh-CN" altLang="en-US" sz="18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altLang="en-US" sz="3600" dirty="0">
                <a:sym typeface="+mn-ea"/>
              </a:rPr>
              <a:t>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Rectangle 3"/>
          <p:cNvSpPr>
            <a:spLocks noGrp="1"/>
          </p:cNvSpPr>
          <p:nvPr/>
        </p:nvSpPr>
        <p:spPr>
          <a:xfrm>
            <a:off x="251460" y="1196975"/>
            <a:ext cx="8510270" cy="479742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170180" indent="-170180" defTabSz="914400" eaLnBrk="1" hangingPunct="1">
              <a:tabLst>
                <a:tab pos="4089400" algn="l"/>
              </a:tabLst>
            </a:pPr>
            <a:r>
              <a:rPr lang="zh-CN" altLang="en-US" sz="2400" dirty="0">
                <a:latin typeface="Times New Roman" panose="02020603050405020304" pitchFamily="18" charset="0"/>
                <a:cs typeface="Times New Roman" panose="02020603050405020304" pitchFamily="18" charset="0"/>
                <a:sym typeface="+mn-ea"/>
              </a:rPr>
              <a:t>在一个</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存储系统中，当</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的块大小为一个字时，命中率</a:t>
            </a:r>
            <a:r>
              <a:rPr lang="en-US" altLang="zh-CN" sz="2400" dirty="0">
                <a:latin typeface="Times New Roman" panose="02020603050405020304" pitchFamily="18" charset="0"/>
                <a:cs typeface="Times New Roman" panose="02020603050405020304" pitchFamily="18" charset="0"/>
                <a:sym typeface="+mn-ea"/>
              </a:rPr>
              <a:t>H=0.8</a:t>
            </a:r>
            <a:r>
              <a:rPr lang="zh-CN" altLang="en-US" sz="2400" dirty="0">
                <a:latin typeface="Times New Roman" panose="02020603050405020304" pitchFamily="18" charset="0"/>
                <a:cs typeface="Times New Roman" panose="02020603050405020304" pitchFamily="18" charset="0"/>
                <a:sym typeface="+mn-ea"/>
              </a:rPr>
              <a:t>；假设数据的重复利用率为</a:t>
            </a:r>
            <a:r>
              <a:rPr lang="en-US" altLang="zh-CN" sz="2400" dirty="0">
                <a:latin typeface="Times New Roman" panose="02020603050405020304" pitchFamily="18" charset="0"/>
                <a:cs typeface="Times New Roman" panose="02020603050405020304" pitchFamily="18" charset="0"/>
                <a:sym typeface="+mn-ea"/>
              </a:rPr>
              <a:t>5</a:t>
            </a:r>
            <a:r>
              <a:rPr lang="zh-CN" altLang="en-US" sz="2400" dirty="0">
                <a:latin typeface="Times New Roman" panose="02020603050405020304" pitchFamily="18" charset="0"/>
                <a:cs typeface="Times New Roman" panose="02020603050405020304" pitchFamily="18" charset="0"/>
                <a:sym typeface="+mn-ea"/>
              </a:rPr>
              <a:t>，计算块大小为４个字时，</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存储系统的命中率是多少？假设</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=5T</a:t>
            </a:r>
            <a:r>
              <a:rPr lang="en-US" altLang="zh-CN" sz="2400" baseline="-250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，分别计算访问效率。</a:t>
            </a: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hangingPunct="1">
              <a:spcBef>
                <a:spcPts val="1200"/>
              </a:spcBef>
              <a:tabLst>
                <a:tab pos="4089400" algn="l"/>
              </a:tabLst>
            </a:pPr>
            <a:r>
              <a:rPr lang="en-US" altLang="zh-CN" sz="2000" dirty="0">
                <a:latin typeface="Times New Roman" panose="02020603050405020304" pitchFamily="18" charset="0"/>
                <a:cs typeface="Times New Roman" panose="02020603050405020304" pitchFamily="18" charset="0"/>
                <a:sym typeface="+mn-ea"/>
              </a:rPr>
              <a:t>n=4*5=20</a:t>
            </a:r>
            <a:endParaRPr lang="en-US" altLang="zh-CN" sz="20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r>
              <a:rPr lang="zh-CN" altLang="en-US" sz="2000" dirty="0">
                <a:latin typeface="Times New Roman" panose="02020603050405020304" pitchFamily="18" charset="0"/>
                <a:cs typeface="Times New Roman" panose="02020603050405020304" pitchFamily="18" charset="0"/>
                <a:sym typeface="+mn-ea"/>
              </a:rPr>
              <a:t>采用预取技术后</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命中率提高到：</a:t>
            </a:r>
            <a:endParaRPr lang="zh-CN" altLang="en-US" sz="20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r>
              <a:rPr lang="en-US" altLang="zh-CN" sz="2000" dirty="0">
                <a:latin typeface="Times New Roman" panose="02020603050405020304" pitchFamily="18" charset="0"/>
                <a:cs typeface="Times New Roman" panose="02020603050405020304" pitchFamily="18" charset="0"/>
                <a:sym typeface="+mn-ea"/>
              </a:rPr>
              <a:t>Cache</a:t>
            </a:r>
            <a:r>
              <a:rPr lang="zh-CN" altLang="en-US" sz="2000" dirty="0">
                <a:latin typeface="Times New Roman" panose="02020603050405020304" pitchFamily="18" charset="0"/>
                <a:cs typeface="Times New Roman" panose="02020603050405020304" pitchFamily="18" charset="0"/>
                <a:sym typeface="+mn-ea"/>
              </a:rPr>
              <a:t>块为</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个字大时</a:t>
            </a:r>
            <a:r>
              <a:rPr lang="en-US" altLang="zh-CN" sz="2000" dirty="0">
                <a:latin typeface="Times New Roman" panose="02020603050405020304" pitchFamily="18" charset="0"/>
                <a:cs typeface="Times New Roman" panose="02020603050405020304" pitchFamily="18" charset="0"/>
                <a:sym typeface="+mn-ea"/>
              </a:rPr>
              <a:t>, H=0.8, </a:t>
            </a:r>
            <a:r>
              <a:rPr lang="zh-CN" altLang="en-US" sz="2000" dirty="0">
                <a:latin typeface="Times New Roman" panose="02020603050405020304" pitchFamily="18" charset="0"/>
                <a:cs typeface="Times New Roman" panose="02020603050405020304" pitchFamily="18" charset="0"/>
                <a:sym typeface="+mn-ea"/>
              </a:rPr>
              <a:t>访问效率为</a:t>
            </a:r>
            <a:r>
              <a:rPr lang="en-US" altLang="zh-CN" sz="2000" dirty="0">
                <a:latin typeface="Times New Roman" panose="02020603050405020304" pitchFamily="18" charset="0"/>
                <a:cs typeface="Times New Roman" panose="02020603050405020304" pitchFamily="18" charset="0"/>
                <a:sym typeface="+mn-ea"/>
              </a:rPr>
              <a:t>:</a:t>
            </a:r>
            <a:br>
              <a:rPr lang="en-US" altLang="zh-CN" sz="2400" dirty="0">
                <a:latin typeface="Times New Roman" panose="02020603050405020304" pitchFamily="18" charset="0"/>
                <a:cs typeface="Times New Roman" panose="02020603050405020304" pitchFamily="18" charset="0"/>
                <a:sym typeface="+mn-ea"/>
              </a:rPr>
            </a:br>
            <a:endParaRPr lang="en-US" altLang="zh-CN" sz="2400" dirty="0">
              <a:latin typeface="Times New Roman" panose="02020603050405020304" pitchFamily="18" charset="0"/>
              <a:cs typeface="Times New Roman" panose="02020603050405020304" pitchFamily="18" charset="0"/>
            </a:endParaRPr>
          </a:p>
          <a:p>
            <a:pPr marL="465455" lvl="1" indent="-180975" defTabSz="914400" eaLnBrk="1" hangingPunct="1">
              <a:spcBef>
                <a:spcPts val="1800"/>
              </a:spcBef>
              <a:tabLst>
                <a:tab pos="4089400" algn="l"/>
              </a:tabLst>
            </a:pPr>
            <a:r>
              <a:rPr lang="en-US" altLang="zh-CN" sz="2000" dirty="0">
                <a:latin typeface="Times New Roman" panose="02020603050405020304" pitchFamily="18" charset="0"/>
                <a:cs typeface="Times New Roman" panose="02020603050405020304" pitchFamily="18" charset="0"/>
                <a:sym typeface="+mn-ea"/>
              </a:rPr>
              <a:t>Cache</a:t>
            </a:r>
            <a:r>
              <a:rPr lang="zh-CN" altLang="en-US" sz="2000" dirty="0">
                <a:latin typeface="Times New Roman" panose="02020603050405020304" pitchFamily="18" charset="0"/>
                <a:cs typeface="Times New Roman" panose="02020603050405020304" pitchFamily="18" charset="0"/>
                <a:sym typeface="+mn-ea"/>
              </a:rPr>
              <a:t>块为</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个字大时</a:t>
            </a:r>
            <a:r>
              <a:rPr lang="en-US" altLang="zh-CN" sz="2000" dirty="0">
                <a:latin typeface="Times New Roman" panose="02020603050405020304" pitchFamily="18" charset="0"/>
                <a:cs typeface="Times New Roman" panose="02020603050405020304" pitchFamily="18" charset="0"/>
                <a:sym typeface="+mn-ea"/>
              </a:rPr>
              <a:t>, H=0.99, </a:t>
            </a:r>
            <a:r>
              <a:rPr lang="zh-CN" altLang="en-US" sz="2000" dirty="0">
                <a:latin typeface="Times New Roman" panose="02020603050405020304" pitchFamily="18" charset="0"/>
                <a:cs typeface="Times New Roman" panose="02020603050405020304" pitchFamily="18" charset="0"/>
                <a:sym typeface="+mn-ea"/>
              </a:rPr>
              <a:t>访问效率为</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graphicFrame>
        <p:nvGraphicFramePr>
          <p:cNvPr id="439299" name="Object 3"/>
          <p:cNvGraphicFramePr>
            <a:graphicFrameLocks noChangeAspect="1"/>
          </p:cNvGraphicFramePr>
          <p:nvPr/>
        </p:nvGraphicFramePr>
        <p:xfrm>
          <a:off x="1456690" y="3573145"/>
          <a:ext cx="3643630" cy="771525"/>
        </p:xfrm>
        <a:graphic>
          <a:graphicData uri="http://schemas.openxmlformats.org/presentationml/2006/ole">
            <mc:AlternateContent xmlns:mc="http://schemas.openxmlformats.org/markup-compatibility/2006">
              <mc:Choice xmlns:v="urn:schemas-microsoft-com:vml" Requires="v">
                <p:oleObj spid="_x0000_s3081" name="" r:id="rId1" imgW="4660900" imgH="1170305" progId="Equation.3">
                  <p:embed/>
                </p:oleObj>
              </mc:Choice>
              <mc:Fallback>
                <p:oleObj name="" r:id="rId1" imgW="4660900" imgH="1170305" progId="Equation.3">
                  <p:embed/>
                  <p:pic>
                    <p:nvPicPr>
                      <p:cNvPr id="0" name="图片 3080"/>
                      <p:cNvPicPr/>
                      <p:nvPr/>
                    </p:nvPicPr>
                    <p:blipFill>
                      <a:blip r:embed="rId2"/>
                      <a:stretch>
                        <a:fillRect/>
                      </a:stretch>
                    </p:blipFill>
                    <p:spPr>
                      <a:xfrm>
                        <a:off x="1456690" y="3573145"/>
                        <a:ext cx="3643630" cy="771525"/>
                      </a:xfrm>
                      <a:prstGeom prst="rect">
                        <a:avLst/>
                      </a:prstGeom>
                      <a:noFill/>
                      <a:ln w="38100">
                        <a:noFill/>
                        <a:miter/>
                      </a:ln>
                    </p:spPr>
                  </p:pic>
                </p:oleObj>
              </mc:Fallback>
            </mc:AlternateContent>
          </a:graphicData>
        </a:graphic>
      </p:graphicFrame>
      <p:graphicFrame>
        <p:nvGraphicFramePr>
          <p:cNvPr id="439300" name="Object 4"/>
          <p:cNvGraphicFramePr>
            <a:graphicFrameLocks noChangeAspect="1"/>
          </p:cNvGraphicFramePr>
          <p:nvPr/>
        </p:nvGraphicFramePr>
        <p:xfrm>
          <a:off x="1475740" y="4869180"/>
          <a:ext cx="4037965" cy="456565"/>
        </p:xfrm>
        <a:graphic>
          <a:graphicData uri="http://schemas.openxmlformats.org/presentationml/2006/ole">
            <mc:AlternateContent xmlns:mc="http://schemas.openxmlformats.org/markup-compatibility/2006">
              <mc:Choice xmlns:v="urn:schemas-microsoft-com:vml" Requires="v">
                <p:oleObj spid="_x0000_s3083" name="" r:id="rId3" imgW="6108700" imgH="850900" progId="Equation.3">
                  <p:embed/>
                </p:oleObj>
              </mc:Choice>
              <mc:Fallback>
                <p:oleObj name="" r:id="rId3" imgW="6108700" imgH="850900" progId="Equation.3">
                  <p:embed/>
                  <p:pic>
                    <p:nvPicPr>
                      <p:cNvPr id="0" name="图片 3082"/>
                      <p:cNvPicPr/>
                      <p:nvPr/>
                    </p:nvPicPr>
                    <p:blipFill>
                      <a:blip r:embed="rId4"/>
                      <a:stretch>
                        <a:fillRect/>
                      </a:stretch>
                    </p:blipFill>
                    <p:spPr>
                      <a:xfrm>
                        <a:off x="1475740" y="4869180"/>
                        <a:ext cx="4037965" cy="456565"/>
                      </a:xfrm>
                      <a:prstGeom prst="rect">
                        <a:avLst/>
                      </a:prstGeom>
                      <a:noFill/>
                      <a:ln w="38100">
                        <a:noFill/>
                        <a:miter/>
                      </a:ln>
                    </p:spPr>
                  </p:pic>
                </p:oleObj>
              </mc:Fallback>
            </mc:AlternateContent>
          </a:graphicData>
        </a:graphic>
      </p:graphicFrame>
      <p:graphicFrame>
        <p:nvGraphicFramePr>
          <p:cNvPr id="439301" name="Object 5"/>
          <p:cNvGraphicFramePr>
            <a:graphicFrameLocks noChangeAspect="1"/>
          </p:cNvGraphicFramePr>
          <p:nvPr/>
        </p:nvGraphicFramePr>
        <p:xfrm>
          <a:off x="1403985" y="5805170"/>
          <a:ext cx="4397375" cy="426720"/>
        </p:xfrm>
        <a:graphic>
          <a:graphicData uri="http://schemas.openxmlformats.org/presentationml/2006/ole">
            <mc:AlternateContent xmlns:mc="http://schemas.openxmlformats.org/markup-compatibility/2006">
              <mc:Choice xmlns:v="urn:schemas-microsoft-com:vml" Requires="v">
                <p:oleObj spid="_x0000_s3082" name="" r:id="rId5" imgW="6283325" imgH="795655" progId="Equation.3">
                  <p:embed/>
                </p:oleObj>
              </mc:Choice>
              <mc:Fallback>
                <p:oleObj name="" r:id="rId5" imgW="6283325" imgH="795655" progId="Equation.3">
                  <p:embed/>
                  <p:pic>
                    <p:nvPicPr>
                      <p:cNvPr id="0" name="图片 3081"/>
                      <p:cNvPicPr/>
                      <p:nvPr/>
                    </p:nvPicPr>
                    <p:blipFill>
                      <a:blip r:embed="rId6"/>
                      <a:stretch>
                        <a:fillRect/>
                      </a:stretch>
                    </p:blipFill>
                    <p:spPr>
                      <a:xfrm>
                        <a:off x="1403985" y="5805170"/>
                        <a:ext cx="4397375" cy="4267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2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3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9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p:nvPr>
            <p:ph idx="1"/>
          </p:nvPr>
        </p:nvSpPr>
        <p:spPr>
          <a:xfrm>
            <a:off x="395605" y="1297305"/>
            <a:ext cx="8229600" cy="4829175"/>
          </a:xfrm>
        </p:spPr>
        <p:txBody>
          <a:bodyPr/>
          <a:p>
            <a:pPr marL="170180" indent="-170180" eaLnBrk="1" hangingPunct="1"/>
            <a:r>
              <a:rPr lang="zh-CN" altLang="en-US" sz="2400" dirty="0">
                <a:latin typeface="Times New Roman" panose="02020603050405020304" pitchFamily="18" charset="0"/>
                <a:cs typeface="Times New Roman" panose="02020603050405020304" pitchFamily="18" charset="0"/>
                <a:sym typeface="+mn-ea"/>
              </a:rPr>
              <a:t>在一个虚拟存储系统中，</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=10</a:t>
            </a:r>
            <a:r>
              <a:rPr lang="en-US" altLang="zh-CN" sz="2400" baseline="30000" dirty="0">
                <a:latin typeface="Times New Roman" panose="02020603050405020304" pitchFamily="18" charset="0"/>
                <a:cs typeface="Times New Roman" panose="02020603050405020304" pitchFamily="18" charset="0"/>
                <a:sym typeface="+mn-ea"/>
              </a:rPr>
              <a:t>5</a:t>
            </a:r>
            <a:r>
              <a:rPr lang="en-US" altLang="zh-CN" sz="2400" dirty="0">
                <a:latin typeface="Times New Roman" panose="02020603050405020304" pitchFamily="18" charset="0"/>
                <a:cs typeface="Times New Roman" panose="02020603050405020304" pitchFamily="18" charset="0"/>
                <a:sym typeface="+mn-ea"/>
              </a:rPr>
              <a:t> T</a:t>
            </a:r>
            <a:r>
              <a:rPr lang="en-US" altLang="zh-CN" sz="2400" baseline="-250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，原来的命中率只有</a:t>
            </a:r>
            <a:r>
              <a:rPr lang="en-US" altLang="zh-CN" sz="2400" dirty="0">
                <a:latin typeface="Times New Roman" panose="02020603050405020304" pitchFamily="18" charset="0"/>
                <a:cs typeface="Times New Roman" panose="02020603050405020304" pitchFamily="18" charset="0"/>
                <a:sym typeface="+mn-ea"/>
              </a:rPr>
              <a:t>0.8</a:t>
            </a:r>
            <a:r>
              <a:rPr lang="zh-CN" altLang="en-US" sz="2400" dirty="0">
                <a:latin typeface="Times New Roman" panose="02020603050405020304" pitchFamily="18" charset="0"/>
                <a:cs typeface="Times New Roman" panose="02020603050405020304" pitchFamily="18" charset="0"/>
                <a:sym typeface="+mn-ea"/>
              </a:rPr>
              <a:t>，如果访问磁盘存储器的数据块大小为</a:t>
            </a:r>
            <a:r>
              <a:rPr lang="en-US" altLang="zh-CN" sz="2400" dirty="0">
                <a:latin typeface="Times New Roman" panose="02020603050405020304" pitchFamily="18" charset="0"/>
                <a:cs typeface="Times New Roman" panose="02020603050405020304" pitchFamily="18" charset="0"/>
                <a:sym typeface="+mn-ea"/>
              </a:rPr>
              <a:t>4K</a:t>
            </a:r>
            <a:r>
              <a:rPr lang="zh-CN" altLang="en-US" sz="2400" dirty="0">
                <a:latin typeface="Times New Roman" panose="02020603050405020304" pitchFamily="18" charset="0"/>
                <a:cs typeface="Times New Roman" panose="02020603050405020304" pitchFamily="18" charset="0"/>
                <a:sym typeface="+mn-ea"/>
              </a:rPr>
              <a:t>字，并要求访问效率不低于</a:t>
            </a:r>
            <a:r>
              <a:rPr lang="en-US" altLang="zh-CN" sz="2400" dirty="0">
                <a:latin typeface="Times New Roman" panose="02020603050405020304" pitchFamily="18" charset="0"/>
                <a:cs typeface="Times New Roman" panose="02020603050405020304" pitchFamily="18" charset="0"/>
                <a:sym typeface="+mn-ea"/>
              </a:rPr>
              <a:t>0.9</a:t>
            </a:r>
            <a:r>
              <a:rPr lang="zh-CN" altLang="en-US" sz="2400" dirty="0">
                <a:latin typeface="Times New Roman" panose="02020603050405020304" pitchFamily="18" charset="0"/>
                <a:cs typeface="Times New Roman" panose="02020603050405020304" pitchFamily="18" charset="0"/>
                <a:sym typeface="+mn-ea"/>
              </a:rPr>
              <a:t>，计算数据在主存储器中的重复利用率至少为多少？</a:t>
            </a:r>
            <a:endParaRPr lang="zh-CN" altLang="en-US" sz="2400" dirty="0">
              <a:latin typeface="Times New Roman" panose="02020603050405020304" pitchFamily="18" charset="0"/>
              <a:cs typeface="Times New Roman" panose="02020603050405020304" pitchFamily="18" charset="0"/>
            </a:endParaRPr>
          </a:p>
          <a:p>
            <a:pPr marL="170180" indent="-170180" eaLnBrk="1" latinLnBrk="0" hangingPunct="1">
              <a:spcBef>
                <a:spcPts val="600"/>
              </a:spcBef>
            </a:pPr>
            <a:r>
              <a:rPr lang="zh-CN" altLang="en-US" sz="2400" dirty="0">
                <a:latin typeface="Times New Roman" panose="02020603050405020304" pitchFamily="18" charset="0"/>
                <a:cs typeface="Times New Roman" panose="02020603050405020304" pitchFamily="18" charset="0"/>
                <a:sym typeface="+mn-ea"/>
              </a:rPr>
              <a:t>解：</a:t>
            </a:r>
            <a:endParaRPr lang="zh-CN" altLang="en-US" sz="2400" dirty="0">
              <a:latin typeface="Times New Roman" panose="02020603050405020304" pitchFamily="18" charset="0"/>
              <a:cs typeface="Times New Roman" panose="02020603050405020304" pitchFamily="18" charset="0"/>
            </a:endParaRPr>
          </a:p>
          <a:p>
            <a:pPr marL="465455" lvl="1" indent="-180975" eaLnBrk="1" hangingPunct="1"/>
            <a:r>
              <a:rPr lang="zh-CN" altLang="en-US" sz="2000" dirty="0">
                <a:latin typeface="Times New Roman" panose="02020603050405020304" pitchFamily="18" charset="0"/>
                <a:cs typeface="Times New Roman" panose="02020603050405020304" pitchFamily="18" charset="0"/>
                <a:sym typeface="+mn-ea"/>
              </a:rPr>
              <a:t>假设数据在主存储器中的重复利用率为</a:t>
            </a:r>
            <a:r>
              <a:rPr lang="en-US" altLang="zh-CN" sz="2000" dirty="0">
                <a:latin typeface="Times New Roman" panose="02020603050405020304" pitchFamily="18" charset="0"/>
                <a:cs typeface="Times New Roman" panose="02020603050405020304" pitchFamily="18" charset="0"/>
                <a:sym typeface="+mn-ea"/>
              </a:rPr>
              <a:t>m</a:t>
            </a:r>
            <a:r>
              <a:rPr lang="zh-CN" altLang="en-US" sz="2000" dirty="0">
                <a:latin typeface="Times New Roman" panose="02020603050405020304" pitchFamily="18" charset="0"/>
                <a:cs typeface="Times New Roman" panose="02020603050405020304" pitchFamily="18" charset="0"/>
                <a:sym typeface="+mn-ea"/>
              </a:rPr>
              <a:t>，根据前面给出的关系：</a:t>
            </a:r>
            <a:endParaRPr lang="zh-CN" altLang="en-US" sz="2000" dirty="0">
              <a:latin typeface="Times New Roman" panose="02020603050405020304" pitchFamily="18" charset="0"/>
              <a:cs typeface="Times New Roman" panose="02020603050405020304" pitchFamily="18" charset="0"/>
            </a:endParaRPr>
          </a:p>
          <a:p>
            <a:pPr marL="465455" lvl="1" indent="-180975" eaLnBrk="1" hangingPunct="1"/>
            <a:endParaRPr lang="zh-CN" altLang="en-US" sz="2400" dirty="0">
              <a:latin typeface="Times New Roman" panose="02020603050405020304" pitchFamily="18" charset="0"/>
              <a:cs typeface="Times New Roman" panose="02020603050405020304" pitchFamily="18" charset="0"/>
            </a:endParaRPr>
          </a:p>
          <a:p>
            <a:pPr marL="465455" lvl="1" indent="-180975" eaLnBrk="1" hangingPunct="1"/>
            <a:endParaRPr lang="zh-CN" altLang="en-US" sz="2400" dirty="0">
              <a:latin typeface="Times New Roman" panose="02020603050405020304" pitchFamily="18" charset="0"/>
              <a:cs typeface="Times New Roman" panose="02020603050405020304" pitchFamily="18" charset="0"/>
            </a:endParaRPr>
          </a:p>
          <a:p>
            <a:pPr marL="465455" lvl="1" indent="-180975" eaLnBrk="1" hangingPunct="1"/>
            <a:endParaRPr lang="zh-CN" altLang="en-US" sz="2400" dirty="0">
              <a:latin typeface="Times New Roman" panose="02020603050405020304" pitchFamily="18" charset="0"/>
              <a:cs typeface="Times New Roman" panose="02020603050405020304" pitchFamily="18" charset="0"/>
              <a:sym typeface="+mn-ea"/>
            </a:endParaRPr>
          </a:p>
          <a:p>
            <a:pPr marL="465455" lvl="1" indent="-180975" eaLnBrk="1" hangingPunct="1"/>
            <a:r>
              <a:rPr lang="zh-CN" altLang="en-US" sz="2000" dirty="0">
                <a:latin typeface="Times New Roman" panose="02020603050405020304" pitchFamily="18" charset="0"/>
                <a:cs typeface="Times New Roman" panose="02020603050405020304" pitchFamily="18" charset="0"/>
                <a:sym typeface="+mn-ea"/>
              </a:rPr>
              <a:t>得</a:t>
            </a:r>
            <a:r>
              <a:rPr lang="en-US" altLang="zh-CN" sz="2000" dirty="0">
                <a:latin typeface="Times New Roman" panose="02020603050405020304" pitchFamily="18" charset="0"/>
                <a:cs typeface="Times New Roman" panose="02020603050405020304" pitchFamily="18" charset="0"/>
                <a:sym typeface="+mn-ea"/>
              </a:rPr>
              <a:t>m=44</a:t>
            </a:r>
            <a:r>
              <a:rPr lang="zh-CN" altLang="en-US" sz="2000" dirty="0">
                <a:latin typeface="Times New Roman" panose="02020603050405020304" pitchFamily="18" charset="0"/>
                <a:cs typeface="Times New Roman" panose="02020603050405020304" pitchFamily="18" charset="0"/>
                <a:sym typeface="+mn-ea"/>
              </a:rPr>
              <a:t>，即数据在主存储器中的重复利用率至少为</a:t>
            </a:r>
            <a:r>
              <a:rPr lang="en-US" altLang="zh-CN" sz="2000" dirty="0">
                <a:latin typeface="Times New Roman" panose="02020603050405020304" pitchFamily="18" charset="0"/>
                <a:cs typeface="Times New Roman" panose="02020603050405020304" pitchFamily="18" charset="0"/>
                <a:sym typeface="+mn-ea"/>
              </a:rPr>
              <a:t>44</a:t>
            </a:r>
            <a:r>
              <a:rPr lang="zh-CN" altLang="en-US" sz="2000" dirty="0">
                <a:latin typeface="Times New Roman" panose="02020603050405020304" pitchFamily="18" charset="0"/>
                <a:cs typeface="Times New Roman" panose="02020603050405020304" pitchFamily="18" charset="0"/>
                <a:sym typeface="+mn-ea"/>
              </a:rPr>
              <a:t>次。</a:t>
            </a:r>
            <a:endParaRPr lang="zh-CN" altLang="en-US" sz="20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61950" y="266700"/>
            <a:ext cx="7772400" cy="114300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b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b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41347" name="Object 3"/>
          <p:cNvGraphicFramePr>
            <a:graphicFrameLocks noChangeAspect="1"/>
          </p:cNvGraphicFramePr>
          <p:nvPr/>
        </p:nvGraphicFramePr>
        <p:xfrm>
          <a:off x="1547178" y="3717290"/>
          <a:ext cx="6162675" cy="955675"/>
        </p:xfrm>
        <a:graphic>
          <a:graphicData uri="http://schemas.openxmlformats.org/presentationml/2006/ole">
            <mc:AlternateContent xmlns:mc="http://schemas.openxmlformats.org/markup-compatibility/2006">
              <mc:Choice xmlns:v="urn:schemas-microsoft-com:vml" Requires="v">
                <p:oleObj spid="_x0000_s3084" name="" r:id="rId1" imgW="6162675" imgH="955675" progId="Equation.3">
                  <p:embed/>
                </p:oleObj>
              </mc:Choice>
              <mc:Fallback>
                <p:oleObj name="" r:id="rId1" imgW="6162675" imgH="955675" progId="Equation.3">
                  <p:embed/>
                  <p:pic>
                    <p:nvPicPr>
                      <p:cNvPr id="0" name="图片 3083"/>
                      <p:cNvPicPr/>
                      <p:nvPr/>
                    </p:nvPicPr>
                    <p:blipFill>
                      <a:blip r:embed="rId2"/>
                      <a:stretch>
                        <a:fillRect/>
                      </a:stretch>
                    </p:blipFill>
                    <p:spPr>
                      <a:xfrm>
                        <a:off x="1547178" y="3717290"/>
                        <a:ext cx="6162675" cy="9556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1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设存储系统由二级 Cache 和主存组成，第一级 Cache 和第二级 Cache 的访问周期均为 Tc，主存访问周期为 Tm，第一级 Cache 和第二级 Cache 的命中率分别为 Hc</a:t>
            </a:r>
            <a:r>
              <a:rPr lang="zh-CN" altLang="en-US" sz="2400" baseline="-250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和 Hc</a:t>
            </a:r>
            <a:r>
              <a:rPr lang="zh-CN" altLang="en-US" sz="2400" baseline="-250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（1）求该存储系统的平均访问周期。</a:t>
            </a:r>
            <a:endParaRPr lang="zh-CN" altLang="en-US" sz="20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（2）该存储系统相对于直接对主存进行访存的加速比是多少？加速比的最大值是多少？</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755650" y="1484630"/>
            <a:ext cx="7574280" cy="45446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一个二级虚拟存储器，CPU 访问主存 M1 和辅存 M2 的平均访问时间分别为 T1=1µs 和 T2=1ms。经实测，此虚拟存储器平均访问时间为 T=100µs。试提出使虚拟存储器平均访问时间下降到 10µs 的几种方法。</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683895" y="1628775"/>
            <a:ext cx="7763510" cy="370649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r>
              <a:rPr lang="zh-CN" altLang="en-US"/>
              <a:t>续）</a:t>
            </a:r>
            <a:endParaRPr lang="zh-CN" altLang="en-US"/>
          </a:p>
        </p:txBody>
      </p:sp>
      <p:pic>
        <p:nvPicPr>
          <p:cNvPr id="4" name="图片 3"/>
          <p:cNvPicPr>
            <a:picLocks noChangeAspect="1"/>
          </p:cNvPicPr>
          <p:nvPr/>
        </p:nvPicPr>
        <p:blipFill>
          <a:blip r:embed="rId1"/>
          <a:stretch>
            <a:fillRect/>
          </a:stretch>
        </p:blipFill>
        <p:spPr>
          <a:xfrm>
            <a:off x="327660" y="1988820"/>
            <a:ext cx="8488680" cy="280543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r>
              <a:rPr lang="en-US" altLang="zh-CN"/>
              <a:t>——</a:t>
            </a:r>
            <a:r>
              <a:rPr lang="zh-CN" altLang="en-US"/>
              <a:t>无冲突</a:t>
            </a:r>
            <a:r>
              <a:rPr lang="zh-CN" altLang="en-US"/>
              <a:t>访问</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一个 16×16 的矩阵存储在多体并行存储器中，要求在一个存储访问周期实现对矩阵按行、按列、按对角线的无冲突访问，至少需要多少个存储体？写出矩阵各元素在存储器中存放位置的表达式。</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611505" y="1557020"/>
            <a:ext cx="7840980" cy="2326640"/>
          </a:xfrm>
          <a:prstGeom prst="rect">
            <a:avLst/>
          </a:prstGeom>
        </p:spPr>
      </p:pic>
      <p:pic>
        <p:nvPicPr>
          <p:cNvPr id="5" name="图片 4"/>
          <p:cNvPicPr>
            <a:picLocks noChangeAspect="1"/>
          </p:cNvPicPr>
          <p:nvPr/>
        </p:nvPicPr>
        <p:blipFill>
          <a:blip r:embed="rId2"/>
          <a:stretch>
            <a:fillRect/>
          </a:stretch>
        </p:blipFill>
        <p:spPr>
          <a:xfrm>
            <a:off x="611505" y="4149090"/>
            <a:ext cx="7748270" cy="118999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a:xfrm>
            <a:off x="325120" y="1600200"/>
            <a:ext cx="8450580" cy="4526280"/>
          </a:xfrm>
        </p:spPr>
        <p:txBody>
          <a:bodyPr/>
          <a:p>
            <a:r>
              <a:rPr lang="zh-CN" altLang="en-US" sz="2400">
                <a:latin typeface="Times New Roman" panose="02020603050405020304" pitchFamily="18" charset="0"/>
                <a:cs typeface="Times New Roman" panose="02020603050405020304" pitchFamily="18" charset="0"/>
              </a:rPr>
              <a:t>设主存每个分体的存取周期为 2µs，存储字长为 4B，采用 m 个分体低位交叉编址。由于各种原因，主存实际频宽只能达到最大频宽的 0.6 倍，现要求主存实际频宽为 4MB/s，问主存分体数应取多少？</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755650" y="1422400"/>
            <a:ext cx="7435850" cy="1791970"/>
          </a:xfrm>
          <a:prstGeom prst="rect">
            <a:avLst/>
          </a:prstGeom>
        </p:spPr>
      </p:pic>
      <p:pic>
        <p:nvPicPr>
          <p:cNvPr id="5" name="图片 4"/>
          <p:cNvPicPr>
            <a:picLocks noChangeAspect="1"/>
          </p:cNvPicPr>
          <p:nvPr/>
        </p:nvPicPr>
        <p:blipFill>
          <a:blip r:embed="rId2"/>
          <a:stretch>
            <a:fillRect/>
          </a:stretch>
        </p:blipFill>
        <p:spPr>
          <a:xfrm>
            <a:off x="827405" y="3357880"/>
            <a:ext cx="7364095" cy="251904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标题 1"/>
          <p:cNvSpPr>
            <a:spLocks noGrp="1"/>
          </p:cNvSpPr>
          <p:nvPr>
            <p:ph type="title"/>
          </p:nvPr>
        </p:nvSpPr>
        <p:spPr>
          <a:xfrm>
            <a:off x="457200" y="260350"/>
            <a:ext cx="8281988" cy="583565"/>
          </a:xfrm>
        </p:spPr>
        <p:txBody>
          <a:bodyPr vert="horz" wrap="square" lIns="91440" tIns="45720" rIns="91440" bIns="45720" anchor="t" anchorCtr="0">
            <a:spAutoFit/>
          </a:bodyPr>
          <a:p>
            <a:pPr eaLnBrk="1" hangingPunct="1">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9026" name="内容占位符 2"/>
          <p:cNvSpPr>
            <a:spLocks noGrp="1"/>
          </p:cNvSpPr>
          <p:nvPr>
            <p:ph idx="1"/>
          </p:nvPr>
        </p:nvSpPr>
        <p:spPr>
          <a:xfrm>
            <a:off x="457200" y="1125538"/>
            <a:ext cx="8229600" cy="4857750"/>
          </a:xfrm>
        </p:spPr>
        <p:txBody>
          <a:bodyPr vert="horz" wrap="square" lIns="91440" tIns="45720" rIns="91440" bIns="45720" anchor="t" anchorCtr="0"/>
          <a:p>
            <a:pPr>
              <a:lnSpc>
                <a:spcPct val="120000"/>
              </a:lnSpc>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假设指令cache的缺失率为2%</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，数据cache的缺失率为</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20000"/>
              </a:lnSpc>
              <a:buNone/>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处理器的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CPI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（没有存储器阻塞），且每次</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缺失的代价</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个时钟周期，那么配置一个从不发生缺失的理想的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，处理器的速度快多少？假定全部</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LOAD</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STORE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的频率为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36%.</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20000"/>
              </a:lnSpc>
              <a:spcBef>
                <a:spcPts val="6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指令缺失</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100=2.0I</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20000"/>
              </a:lnSpc>
              <a:spcBef>
                <a:spcPts val="6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数据缺失</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36%</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100=1.44I</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2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总的存储器阻塞时钟周期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=2.0I+1.44I=3.44I</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2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总的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CPI=2+3.44=5.44</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2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配置理想</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后的性能是原来的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5.44/2=2.72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倍</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02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902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902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902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90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标题 1"/>
          <p:cNvSpPr>
            <a:spLocks noGrp="1"/>
          </p:cNvSpPr>
          <p:nvPr>
            <p:ph type="title"/>
          </p:nvPr>
        </p:nvSpPr>
        <p:spPr>
          <a:xfrm>
            <a:off x="395288" y="332423"/>
            <a:ext cx="8229600" cy="583565"/>
          </a:xfrm>
        </p:spPr>
        <p:txBody>
          <a:bodyPr vert="horz" wrap="square" lIns="91440" tIns="45720" rIns="91440" bIns="45720" anchor="t" anchorCtr="0">
            <a:spAutoFit/>
          </a:bodyPr>
          <a:p>
            <a:pPr eaLnBrk="1" hangingPunct="1">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0050" name="内容占位符 2"/>
          <p:cNvSpPr>
            <a:spLocks noGrp="1"/>
          </p:cNvSpPr>
          <p:nvPr>
            <p:ph idx="1"/>
          </p:nvPr>
        </p:nvSpPr>
        <p:spPr>
          <a:xfrm>
            <a:off x="468313" y="1166813"/>
            <a:ext cx="8229600" cy="4999037"/>
          </a:xfrm>
        </p:spPr>
        <p:txBody>
          <a:bodyPr vert="horz" wrap="square" lIns="91440" tIns="45720" rIns="91440" bIns="45720" anchor="t" anchorCtr="0"/>
          <a:p>
            <a:pPr>
              <a:lnSpc>
                <a:spcPct val="13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处理器时钟周期的时间</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1ns,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缺失代价</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是</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个时钟周期，缺失率为每条指令</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0.05</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次缺失，</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的访问时间（包括命中判断）</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个时钟周期。假设读操作和写操作的缺失代价相同并且忽略其它写阻塞。请计算</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AMAT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30000"/>
              </a:lnSpc>
              <a:spcBef>
                <a:spcPts val="18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每条指令的平均存储器访问时间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AMAT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为：</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3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AMAT=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命中时间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缺失率*缺失代价</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30000"/>
              </a:lnSpc>
              <a:buFontTx/>
              <a:buNone/>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=1+0.05</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20</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30000"/>
              </a:lnSpc>
              <a:buFontTx/>
              <a:buNone/>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个时钟周期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5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05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005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05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标题 1"/>
          <p:cNvSpPr>
            <a:spLocks noGrp="1"/>
          </p:cNvSpPr>
          <p:nvPr>
            <p:ph type="title"/>
          </p:nvPr>
        </p:nvSpPr>
        <p:spPr>
          <a:xfrm>
            <a:off x="395288" y="260350"/>
            <a:ext cx="8281987" cy="583565"/>
          </a:xfrm>
        </p:spPr>
        <p:txBody>
          <a:bodyPr vert="horz" wrap="square" lIns="91440" tIns="45720" rIns="91440" bIns="45720" anchor="t" anchorCtr="0">
            <a:spAutoFit/>
          </a:bodyPr>
          <a:p>
            <a:pPr algn="l" eaLnBrk="1" hangingPunct="1">
              <a:buClrTx/>
              <a:buSzTx/>
              <a:buFontTx/>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1074" name="内容占位符 2"/>
          <p:cNvSpPr>
            <a:spLocks noGrp="1"/>
          </p:cNvSpPr>
          <p:nvPr>
            <p:ph idx="1"/>
          </p:nvPr>
        </p:nvSpPr>
        <p:spPr>
          <a:xfrm>
            <a:off x="508000" y="1389380"/>
            <a:ext cx="8229600" cy="4376420"/>
          </a:xfrm>
        </p:spPr>
        <p:txBody>
          <a:bodyPr vert="horz" wrap="square" lIns="91440" tIns="45720" rIns="91440" bIns="45720" anchor="t" anchorCtr="0"/>
          <a:p>
            <a:pPr latinLnBrk="0">
              <a:lnSpc>
                <a:spcPct val="100000"/>
              </a:lnSpc>
              <a:spcBef>
                <a:spcPts val="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假定处理器基本的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CPI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，时钟频率为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4GHz</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。假定</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marL="0" indent="0" latinLnBrk="0">
              <a:lnSpc>
                <a:spcPct val="100000"/>
              </a:lnSpc>
              <a:spcBef>
                <a:spcPts val="0"/>
              </a:spcBef>
              <a:buNone/>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主存访问时间为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100ns</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，其中包括缺失处理时间。设一级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中每条指令缺失率为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。如果增加一个二级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，命中或缺失访问的时间都是</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5ns</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，而且容量大到必须使访问主存的缺失率减少到</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0.5%,</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这时的处理器速率能提高多少？</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答案</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2098" name="内容占位符 2"/>
          <p:cNvSpPr>
            <a:spLocks noGrp="1"/>
          </p:cNvSpPr>
          <p:nvPr>
            <p:ph idx="1"/>
          </p:nvPr>
        </p:nvSpPr>
        <p:spPr>
          <a:xfrm>
            <a:off x="513080" y="1312545"/>
            <a:ext cx="8229600" cy="4996180"/>
          </a:xfrm>
        </p:spPr>
        <p:txBody>
          <a:bodyPr vert="horz" wrap="square" lIns="91440" tIns="45720" rIns="91440" bIns="45720" anchor="t" anchorCtr="0"/>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主存的缺失代价：</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100ns/(0.25ns/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=400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个时钟周期</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只有一级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时：</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总的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CPI=1.0+2%*400=9</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对于两级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二级</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的缺失代价：</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5ns/(0.25ns/</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=20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个时钟周期</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总的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CPI=1+2%*20+0.5%*400=3.4</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有二级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的处理器性能是没有二级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性能的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9.0/3.4=2.6</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倍</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a:sym typeface="+mn-ea"/>
              </a:rPr>
              <a:t>第五章</a:t>
            </a:r>
            <a:r>
              <a:rPr lang="en-US" altLang="zh-CN" sz="3600">
                <a:sym typeface="+mn-ea"/>
              </a:rPr>
              <a:t> </a:t>
            </a:r>
            <a:r>
              <a:rPr lang="zh-CN" altLang="en-US" sz="3600">
                <a:sym typeface="+mn-ea"/>
              </a:rPr>
              <a:t>标量处理机</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62380"/>
            <a:ext cx="8420100" cy="461200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90000"/>
              </a:lnSpc>
            </a:pPr>
            <a:r>
              <a:rPr lang="zh-CN" altLang="en-US" sz="2400" dirty="0">
                <a:latin typeface="Times New Roman" panose="02020603050405020304" pitchFamily="18" charset="0"/>
                <a:cs typeface="Times New Roman" panose="02020603050405020304" pitchFamily="18" charset="0"/>
                <a:sym typeface="+mn-ea"/>
              </a:rPr>
              <a:t>流水线性能的主要指标有：吞吐率</a:t>
            </a:r>
            <a:r>
              <a:rPr lang="en-US" altLang="zh-CN" sz="2400" dirty="0">
                <a:latin typeface="Times New Roman" panose="02020603050405020304" pitchFamily="18" charset="0"/>
                <a:cs typeface="Times New Roman" panose="02020603050405020304" pitchFamily="18" charset="0"/>
                <a:sym typeface="+mn-ea"/>
              </a:rPr>
              <a:t>TP</a:t>
            </a:r>
            <a:r>
              <a:rPr lang="zh-CN" altLang="en-US" sz="2400" dirty="0">
                <a:latin typeface="Times New Roman" panose="02020603050405020304" pitchFamily="18" charset="0"/>
                <a:cs typeface="Times New Roman" panose="02020603050405020304" pitchFamily="18" charset="0"/>
                <a:sym typeface="+mn-ea"/>
              </a:rPr>
              <a:t>、加速比</a:t>
            </a:r>
            <a:r>
              <a:rPr lang="en-US" altLang="zh-CN" sz="2400" dirty="0">
                <a:latin typeface="Times New Roman" panose="02020603050405020304" pitchFamily="18" charset="0"/>
                <a:cs typeface="Times New Roman" panose="02020603050405020304" pitchFamily="18" charset="0"/>
                <a:sym typeface="+mn-ea"/>
              </a:rPr>
              <a:t>S</a:t>
            </a:r>
            <a:r>
              <a:rPr lang="zh-CN" altLang="en-US" sz="2400" dirty="0">
                <a:latin typeface="Times New Roman" panose="02020603050405020304" pitchFamily="18" charset="0"/>
                <a:cs typeface="Times New Roman" panose="02020603050405020304" pitchFamily="18" charset="0"/>
                <a:sym typeface="+mn-ea"/>
              </a:rPr>
              <a:t>和效率</a:t>
            </a:r>
            <a:r>
              <a:rPr lang="en-US" altLang="zh-CN" sz="2400" dirty="0">
                <a:latin typeface="Times New Roman" panose="02020603050405020304" pitchFamily="18" charset="0"/>
                <a:cs typeface="Times New Roman" panose="02020603050405020304" pitchFamily="18" charset="0"/>
                <a:sym typeface="+mn-ea"/>
              </a:rPr>
              <a:t>E</a:t>
            </a:r>
            <a:endParaRPr lang="en-US" altLang="zh-CN" sz="2400" dirty="0">
              <a:latin typeface="Times New Roman" panose="02020603050405020304" pitchFamily="18" charset="0"/>
              <a:cs typeface="Times New Roman" panose="02020603050405020304" pitchFamily="18" charset="0"/>
            </a:endParaRPr>
          </a:p>
          <a:p>
            <a:pPr lvl="1" eaLnBrk="1" hangingPunct="1">
              <a:lnSpc>
                <a:spcPct val="90000"/>
              </a:lnSpc>
              <a:spcBef>
                <a:spcPts val="1200"/>
              </a:spcBef>
            </a:pPr>
            <a:r>
              <a:rPr lang="zh-CN" altLang="en-US" sz="2400" dirty="0">
                <a:solidFill>
                  <a:srgbClr val="FF0000"/>
                </a:solidFill>
                <a:latin typeface="Times New Roman" panose="02020603050405020304" pitchFamily="18" charset="0"/>
                <a:cs typeface="Times New Roman" panose="02020603050405020304" pitchFamily="18" charset="0"/>
                <a:sym typeface="+mn-ea"/>
              </a:rPr>
              <a:t>吞吐率</a:t>
            </a:r>
            <a:endParaRPr lang="zh-CN" altLang="en-US" sz="2400" dirty="0">
              <a:latin typeface="Times New Roman" panose="02020603050405020304" pitchFamily="18" charset="0"/>
              <a:cs typeface="Times New Roman" panose="02020603050405020304" pitchFamily="18" charset="0"/>
              <a:sym typeface="+mn-ea"/>
            </a:endParaRPr>
          </a:p>
          <a:p>
            <a:pPr lvl="2" algn="l" eaLnBrk="1" hangingPunct="1">
              <a:lnSpc>
                <a:spcPct val="90000"/>
              </a:lnSpc>
              <a:spcBef>
                <a:spcPts val="600"/>
              </a:spcBef>
              <a:buSzTx/>
              <a:buFontTx/>
            </a:pPr>
            <a:r>
              <a:rPr lang="en-US" altLang="zh-CN" sz="1710" dirty="0">
                <a:latin typeface="Times New Roman" panose="02020603050405020304" pitchFamily="18" charset="0"/>
                <a:cs typeface="Times New Roman" panose="02020603050405020304" pitchFamily="18" charset="0"/>
                <a:sym typeface="+mn-ea"/>
              </a:rPr>
              <a:t>n为任务数，Tk为完成n个任务所用时间</a:t>
            </a:r>
            <a:endParaRPr lang="en-US" altLang="zh-CN" sz="1710" dirty="0">
              <a:latin typeface="Times New Roman" panose="02020603050405020304" pitchFamily="18" charset="0"/>
              <a:cs typeface="Times New Roman" panose="02020603050405020304" pitchFamily="18" charset="0"/>
            </a:endParaRPr>
          </a:p>
          <a:p>
            <a:pPr lvl="1" eaLnBrk="1" hangingPunct="1">
              <a:lnSpc>
                <a:spcPct val="90000"/>
              </a:lnSpc>
              <a:spcBef>
                <a:spcPts val="1200"/>
              </a:spcBef>
            </a:pPr>
            <a:endParaRPr lang="zh-CN" altLang="en-US" sz="2400" dirty="0">
              <a:solidFill>
                <a:srgbClr val="FF0000"/>
              </a:solidFill>
              <a:latin typeface="Times New Roman" panose="02020603050405020304" pitchFamily="18" charset="0"/>
              <a:cs typeface="Times New Roman" panose="02020603050405020304" pitchFamily="18" charset="0"/>
              <a:sym typeface="+mn-ea"/>
            </a:endParaRPr>
          </a:p>
          <a:p>
            <a:pPr lvl="1" eaLnBrk="1" hangingPunct="1">
              <a:lnSpc>
                <a:spcPct val="90000"/>
              </a:lnSpc>
              <a:spcBef>
                <a:spcPts val="1200"/>
              </a:spcBef>
            </a:pPr>
            <a:endParaRPr lang="zh-CN" altLang="en-US" sz="2400" dirty="0">
              <a:solidFill>
                <a:srgbClr val="FF0000"/>
              </a:solidFill>
              <a:latin typeface="Times New Roman" panose="02020603050405020304" pitchFamily="18" charset="0"/>
              <a:cs typeface="Times New Roman" panose="02020603050405020304" pitchFamily="18" charset="0"/>
              <a:sym typeface="+mn-ea"/>
            </a:endParaRPr>
          </a:p>
          <a:p>
            <a:pPr lvl="1" eaLnBrk="1" hangingPunct="1">
              <a:lnSpc>
                <a:spcPct val="90000"/>
              </a:lnSpc>
              <a:spcBef>
                <a:spcPts val="1200"/>
              </a:spcBef>
            </a:pPr>
            <a:r>
              <a:rPr lang="zh-CN" altLang="en-US" sz="2400" dirty="0">
                <a:solidFill>
                  <a:srgbClr val="FF0000"/>
                </a:solidFill>
                <a:latin typeface="Times New Roman" panose="02020603050405020304" pitchFamily="18" charset="0"/>
                <a:cs typeface="Times New Roman" panose="02020603050405020304" pitchFamily="18" charset="0"/>
                <a:sym typeface="+mn-ea"/>
              </a:rPr>
              <a:t>加速比</a:t>
            </a:r>
            <a:endParaRPr lang="zh-CN" altLang="en-US" sz="2400" dirty="0">
              <a:latin typeface="Times New Roman" panose="02020603050405020304" pitchFamily="18" charset="0"/>
              <a:cs typeface="Times New Roman" panose="02020603050405020304" pitchFamily="18" charset="0"/>
              <a:sym typeface="+mn-ea"/>
            </a:endParaRPr>
          </a:p>
          <a:p>
            <a:pPr lvl="2" eaLnBrk="1" hangingPunct="1">
              <a:lnSpc>
                <a:spcPct val="90000"/>
              </a:lnSpc>
              <a:spcBef>
                <a:spcPts val="600"/>
              </a:spcBef>
            </a:pPr>
            <a:r>
              <a:rPr lang="en-US" altLang="zh-CN" sz="1710" dirty="0">
                <a:latin typeface="Times New Roman" panose="02020603050405020304" pitchFamily="18" charset="0"/>
                <a:cs typeface="Times New Roman" panose="02020603050405020304" pitchFamily="18" charset="0"/>
                <a:sym typeface="+mn-ea"/>
              </a:rPr>
              <a:t>S = </a:t>
            </a:r>
            <a:r>
              <a:rPr lang="zh-CN" altLang="en-US" sz="1710" dirty="0">
                <a:latin typeface="Times New Roman" panose="02020603050405020304" pitchFamily="18" charset="0"/>
                <a:cs typeface="Times New Roman" panose="02020603050405020304" pitchFamily="18" charset="0"/>
                <a:sym typeface="+mn-ea"/>
              </a:rPr>
              <a:t>顺序执行时间</a:t>
            </a:r>
            <a:r>
              <a:rPr lang="en-US" altLang="zh-CN" sz="1710" dirty="0">
                <a:latin typeface="Times New Roman" panose="02020603050405020304" pitchFamily="18" charset="0"/>
                <a:cs typeface="Times New Roman" panose="02020603050405020304" pitchFamily="18" charset="0"/>
                <a:sym typeface="+mn-ea"/>
              </a:rPr>
              <a:t>T</a:t>
            </a:r>
            <a:r>
              <a:rPr lang="en-US" altLang="zh-CN" sz="1710" baseline="-25000" dirty="0">
                <a:latin typeface="Times New Roman" panose="02020603050405020304" pitchFamily="18" charset="0"/>
                <a:cs typeface="Times New Roman" panose="02020603050405020304" pitchFamily="18" charset="0"/>
                <a:sym typeface="+mn-ea"/>
              </a:rPr>
              <a:t>0</a:t>
            </a:r>
            <a:r>
              <a:rPr lang="en-US" altLang="zh-CN" sz="1710" dirty="0">
                <a:latin typeface="Times New Roman" panose="02020603050405020304" pitchFamily="18" charset="0"/>
                <a:cs typeface="Times New Roman" panose="02020603050405020304" pitchFamily="18" charset="0"/>
                <a:sym typeface="+mn-ea"/>
              </a:rPr>
              <a:t> / </a:t>
            </a:r>
            <a:r>
              <a:rPr lang="zh-CN" altLang="en-US" sz="1710" dirty="0">
                <a:latin typeface="Times New Roman" panose="02020603050405020304" pitchFamily="18" charset="0"/>
                <a:cs typeface="Times New Roman" panose="02020603050405020304" pitchFamily="18" charset="0"/>
                <a:sym typeface="+mn-ea"/>
              </a:rPr>
              <a:t>流水线执行时间</a:t>
            </a:r>
            <a:r>
              <a:rPr lang="en-US" altLang="zh-CN" sz="1710" dirty="0">
                <a:latin typeface="Times New Roman" panose="02020603050405020304" pitchFamily="18" charset="0"/>
                <a:cs typeface="Times New Roman" panose="02020603050405020304" pitchFamily="18" charset="0"/>
                <a:sym typeface="+mn-ea"/>
              </a:rPr>
              <a:t>T</a:t>
            </a:r>
            <a:r>
              <a:rPr lang="en-US" altLang="zh-CN" sz="1710" baseline="-25000" dirty="0">
                <a:latin typeface="Times New Roman" panose="02020603050405020304" pitchFamily="18" charset="0"/>
                <a:cs typeface="Times New Roman" panose="02020603050405020304" pitchFamily="18" charset="0"/>
                <a:sym typeface="+mn-ea"/>
              </a:rPr>
              <a:t>k</a:t>
            </a:r>
            <a:endParaRPr lang="en-US" altLang="zh-CN" sz="171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4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400" dirty="0">
              <a:latin typeface="Times New Roman" panose="02020603050405020304" pitchFamily="18" charset="0"/>
              <a:cs typeface="Times New Roman" panose="02020603050405020304" pitchFamily="18" charset="0"/>
            </a:endParaRPr>
          </a:p>
          <a:p>
            <a:pPr lvl="1" eaLnBrk="1" hangingPunct="1">
              <a:lnSpc>
                <a:spcPct val="90000"/>
              </a:lnSpc>
              <a:spcBef>
                <a:spcPts val="1800"/>
              </a:spcBef>
            </a:pPr>
            <a:r>
              <a:rPr lang="zh-CN" altLang="en-US" sz="2400" dirty="0">
                <a:solidFill>
                  <a:srgbClr val="FF0000"/>
                </a:solidFill>
                <a:latin typeface="Times New Roman" panose="02020603050405020304" pitchFamily="18" charset="0"/>
                <a:cs typeface="Times New Roman" panose="02020603050405020304" pitchFamily="18" charset="0"/>
                <a:sym typeface="+mn-ea"/>
              </a:rPr>
              <a:t>效率</a:t>
            </a:r>
            <a:endParaRPr lang="en-US" altLang="zh-CN" sz="2400" dirty="0">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pic>
        <p:nvPicPr>
          <p:cNvPr id="7" name="图片 6"/>
          <p:cNvPicPr>
            <a:picLocks noChangeAspect="1"/>
          </p:cNvPicPr>
          <p:nvPr/>
        </p:nvPicPr>
        <p:blipFill>
          <a:blip r:embed="rId2"/>
          <a:stretch>
            <a:fillRect/>
          </a:stretch>
        </p:blipFill>
        <p:spPr>
          <a:xfrm>
            <a:off x="971550" y="2560320"/>
            <a:ext cx="2762250" cy="806450"/>
          </a:xfrm>
          <a:prstGeom prst="rect">
            <a:avLst/>
          </a:prstGeom>
        </p:spPr>
      </p:pic>
      <p:pic>
        <p:nvPicPr>
          <p:cNvPr id="8" name="图片 7"/>
          <p:cNvPicPr>
            <a:picLocks noChangeAspect="1"/>
          </p:cNvPicPr>
          <p:nvPr/>
        </p:nvPicPr>
        <p:blipFill>
          <a:blip r:embed="rId3"/>
          <a:stretch>
            <a:fillRect/>
          </a:stretch>
        </p:blipFill>
        <p:spPr>
          <a:xfrm>
            <a:off x="3996055" y="2545715"/>
            <a:ext cx="3784600" cy="831850"/>
          </a:xfrm>
          <a:prstGeom prst="rect">
            <a:avLst/>
          </a:prstGeom>
        </p:spPr>
      </p:pic>
      <p:pic>
        <p:nvPicPr>
          <p:cNvPr id="9" name="图片 8"/>
          <p:cNvPicPr>
            <a:picLocks noChangeAspect="1"/>
          </p:cNvPicPr>
          <p:nvPr/>
        </p:nvPicPr>
        <p:blipFill>
          <a:blip r:embed="rId4"/>
          <a:stretch>
            <a:fillRect/>
          </a:stretch>
        </p:blipFill>
        <p:spPr>
          <a:xfrm>
            <a:off x="971550" y="4293235"/>
            <a:ext cx="3863340" cy="800735"/>
          </a:xfrm>
          <a:prstGeom prst="rect">
            <a:avLst/>
          </a:prstGeom>
        </p:spPr>
      </p:pic>
      <p:graphicFrame>
        <p:nvGraphicFramePr>
          <p:cNvPr id="93190" name="Object 4"/>
          <p:cNvGraphicFramePr>
            <a:graphicFrameLocks noChangeAspect="1"/>
          </p:cNvGraphicFramePr>
          <p:nvPr>
            <p:custDataLst>
              <p:tags r:id="rId5"/>
            </p:custDataLst>
          </p:nvPr>
        </p:nvGraphicFramePr>
        <p:xfrm>
          <a:off x="5147945" y="4289425"/>
          <a:ext cx="2882900" cy="804545"/>
        </p:xfrm>
        <a:graphic>
          <a:graphicData uri="http://schemas.openxmlformats.org/presentationml/2006/ole">
            <mc:AlternateContent xmlns:mc="http://schemas.openxmlformats.org/markup-compatibility/2006">
              <mc:Choice xmlns:v="urn:schemas-microsoft-com:vml" Requires="v">
                <p:oleObj spid="_x0000_s10" name="" r:id="rId6" imgW="3594100" imgH="1003300" progId="Equation.3">
                  <p:embed/>
                </p:oleObj>
              </mc:Choice>
              <mc:Fallback>
                <p:oleObj name="" r:id="rId6" imgW="3594100" imgH="1003300" progId="Equation.3">
                  <p:embed/>
                  <p:pic>
                    <p:nvPicPr>
                      <p:cNvPr id="0" name="图片 3092"/>
                      <p:cNvPicPr/>
                      <p:nvPr/>
                    </p:nvPicPr>
                    <p:blipFill>
                      <a:blip r:embed="rId7"/>
                      <a:stretch>
                        <a:fillRect/>
                      </a:stretch>
                    </p:blipFill>
                    <p:spPr>
                      <a:xfrm>
                        <a:off x="5147945" y="4289425"/>
                        <a:ext cx="2882900" cy="804545"/>
                      </a:xfrm>
                      <a:prstGeom prst="rect">
                        <a:avLst/>
                      </a:prstGeom>
                      <a:solidFill>
                        <a:srgbClr val="99CCFF"/>
                      </a:solidFill>
                      <a:ln w="38100">
                        <a:noFill/>
                        <a:miter/>
                      </a:ln>
                    </p:spPr>
                  </p:pic>
                </p:oleObj>
              </mc:Fallback>
            </mc:AlternateContent>
          </a:graphicData>
        </a:graphic>
      </p:graphicFrame>
      <p:graphicFrame>
        <p:nvGraphicFramePr>
          <p:cNvPr id="97286" name="Object 4"/>
          <p:cNvGraphicFramePr>
            <a:graphicFrameLocks noChangeAspect="1"/>
          </p:cNvGraphicFramePr>
          <p:nvPr>
            <p:custDataLst>
              <p:tags r:id="rId8"/>
            </p:custDataLst>
          </p:nvPr>
        </p:nvGraphicFramePr>
        <p:xfrm>
          <a:off x="971550" y="5661025"/>
          <a:ext cx="3436620" cy="741680"/>
        </p:xfrm>
        <a:graphic>
          <a:graphicData uri="http://schemas.openxmlformats.org/presentationml/2006/ole">
            <mc:AlternateContent xmlns:mc="http://schemas.openxmlformats.org/markup-compatibility/2006">
              <mc:Choice xmlns:v="urn:schemas-microsoft-com:vml" Requires="v">
                <p:oleObj spid="_x0000_s11" name="" r:id="rId9" imgW="1943100" imgH="419100" progId="Equation.3">
                  <p:embed/>
                </p:oleObj>
              </mc:Choice>
              <mc:Fallback>
                <p:oleObj name="" r:id="rId9" imgW="1943100" imgH="419100" progId="Equation.3">
                  <p:embed/>
                  <p:pic>
                    <p:nvPicPr>
                      <p:cNvPr id="0" name="图片 3096"/>
                      <p:cNvPicPr/>
                      <p:nvPr/>
                    </p:nvPicPr>
                    <p:blipFill>
                      <a:blip r:embed="rId10"/>
                      <a:stretch>
                        <a:fillRect/>
                      </a:stretch>
                    </p:blipFill>
                    <p:spPr>
                      <a:xfrm>
                        <a:off x="971550" y="5661025"/>
                        <a:ext cx="3436620" cy="741680"/>
                      </a:xfrm>
                      <a:prstGeom prst="rect">
                        <a:avLst/>
                      </a:prstGeom>
                      <a:solidFill>
                        <a:srgbClr val="99CCFF"/>
                      </a:solidFill>
                      <a:ln w="38100">
                        <a:noFill/>
                        <a:miter/>
                      </a:ln>
                    </p:spPr>
                  </p:pic>
                </p:oleObj>
              </mc:Fallback>
            </mc:AlternateContent>
          </a:graphicData>
        </a:graphic>
      </p:graphicFrame>
      <p:graphicFrame>
        <p:nvGraphicFramePr>
          <p:cNvPr id="97287" name="Object 5"/>
          <p:cNvGraphicFramePr>
            <a:graphicFrameLocks noChangeAspect="1"/>
          </p:cNvGraphicFramePr>
          <p:nvPr>
            <p:custDataLst>
              <p:tags r:id="rId11"/>
            </p:custDataLst>
          </p:nvPr>
        </p:nvGraphicFramePr>
        <p:xfrm>
          <a:off x="4716145" y="5660390"/>
          <a:ext cx="2726690" cy="742315"/>
        </p:xfrm>
        <a:graphic>
          <a:graphicData uri="http://schemas.openxmlformats.org/presentationml/2006/ole">
            <mc:AlternateContent xmlns:mc="http://schemas.openxmlformats.org/markup-compatibility/2006">
              <mc:Choice xmlns:v="urn:schemas-microsoft-com:vml" Requires="v">
                <p:oleObj spid="_x0000_s12" name="" r:id="rId12" imgW="1447165" imgH="393700" progId="Equation.3">
                  <p:embed/>
                </p:oleObj>
              </mc:Choice>
              <mc:Fallback>
                <p:oleObj name="" r:id="rId12" imgW="1447165" imgH="393700" progId="Equation.3">
                  <p:embed/>
                  <p:pic>
                    <p:nvPicPr>
                      <p:cNvPr id="0" name="图片 3097"/>
                      <p:cNvPicPr/>
                      <p:nvPr/>
                    </p:nvPicPr>
                    <p:blipFill>
                      <a:blip r:embed="rId13"/>
                      <a:stretch>
                        <a:fillRect/>
                      </a:stretch>
                    </p:blipFill>
                    <p:spPr>
                      <a:xfrm>
                        <a:off x="4716145" y="5660390"/>
                        <a:ext cx="2726690" cy="742315"/>
                      </a:xfrm>
                      <a:prstGeom prst="rect">
                        <a:avLst/>
                      </a:prstGeom>
                      <a:solidFill>
                        <a:srgbClr val="99CCFF"/>
                      </a:solidFill>
                      <a:ln w="38100">
                        <a:noFill/>
                        <a:miter/>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非线性流水线的</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调度</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417955"/>
            <a:ext cx="8229600" cy="4935220"/>
          </a:xfrm>
        </p:spPr>
        <p:txBody>
          <a:bodyPr/>
          <a:lstStyle/>
          <a:p>
            <a:pPr eaLnBrk="1" hangingPunct="1"/>
            <a:r>
              <a:rPr lang="zh-CN" altLang="en-US" sz="2000" dirty="0">
                <a:latin typeface="Times New Roman" panose="02020603050405020304" pitchFamily="18" charset="0"/>
                <a:cs typeface="Times New Roman" panose="02020603050405020304" pitchFamily="18" charset="0"/>
                <a:sym typeface="+mn-ea"/>
              </a:rPr>
              <a:t>非线性流水线的</a:t>
            </a:r>
            <a:r>
              <a:rPr lang="zh-CN" altLang="en-US" sz="2000" dirty="0">
                <a:solidFill>
                  <a:srgbClr val="FF5050"/>
                </a:solidFill>
                <a:latin typeface="Times New Roman" panose="02020603050405020304" pitchFamily="18" charset="0"/>
                <a:cs typeface="Times New Roman" panose="02020603050405020304" pitchFamily="18" charset="0"/>
                <a:sym typeface="+mn-ea"/>
              </a:rPr>
              <a:t>禁止向量</a:t>
            </a:r>
            <a:r>
              <a:rPr lang="en-US" altLang="zh-CN" sz="2000" dirty="0">
                <a:solidFill>
                  <a:srgbClr val="FF5050"/>
                </a:solidFill>
                <a:latin typeface="Times New Roman" panose="02020603050405020304" pitchFamily="18" charset="0"/>
                <a:cs typeface="Times New Roman" panose="02020603050405020304" pitchFamily="18" charset="0"/>
                <a:sym typeface="+mn-ea"/>
              </a:rPr>
              <a:t>F</a:t>
            </a:r>
            <a:r>
              <a:rPr lang="en-US" altLang="zh-CN" sz="2000" dirty="0">
                <a:solidFill>
                  <a:schemeClr val="tx1"/>
                </a:solidFill>
                <a:latin typeface="Times New Roman" panose="02020603050405020304" pitchFamily="18" charset="0"/>
                <a:cs typeface="Times New Roman" panose="02020603050405020304" pitchFamily="18" charset="0"/>
                <a:sym typeface="+mn-ea"/>
              </a:rPr>
              <a:t>(</a:t>
            </a:r>
            <a:r>
              <a:rPr lang="zh-CN" altLang="en-US" sz="2000" dirty="0">
                <a:solidFill>
                  <a:schemeClr val="tx1"/>
                </a:solidFill>
                <a:latin typeface="Times New Roman" panose="02020603050405020304" pitchFamily="18" charset="0"/>
                <a:cs typeface="Times New Roman" panose="02020603050405020304" pitchFamily="18" charset="0"/>
                <a:sym typeface="+mn-ea"/>
              </a:rPr>
              <a:t>所有禁止启动距离</a:t>
            </a:r>
            <a:r>
              <a:rPr lang="en-US" altLang="zh-CN" sz="2000" dirty="0">
                <a:solidFill>
                  <a:schemeClr val="tx1"/>
                </a:solidFill>
                <a:latin typeface="Times New Roman" panose="02020603050405020304" pitchFamily="18" charset="0"/>
                <a:cs typeface="Times New Roman" panose="02020603050405020304" pitchFamily="18" charset="0"/>
                <a:sym typeface="+mn-ea"/>
              </a:rPr>
              <a:t>)</a:t>
            </a:r>
            <a:endParaRPr lang="en-US" altLang="zh-CN" sz="2000" dirty="0">
              <a:solidFill>
                <a:schemeClr val="accent2"/>
              </a:solidFill>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计算预约表中每一行任意两个“</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之间的距离</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solidFill>
                  <a:srgbClr val="FF5050"/>
                </a:solidFill>
                <a:latin typeface="Times New Roman" panose="02020603050405020304" pitchFamily="18" charset="0"/>
                <a:cs typeface="Times New Roman" panose="02020603050405020304" pitchFamily="18" charset="0"/>
                <a:sym typeface="+mn-ea"/>
              </a:rPr>
              <a:t>空到</a:t>
            </a:r>
            <a:r>
              <a:rPr lang="en-US" altLang="zh-CN" sz="2000" dirty="0">
                <a:solidFill>
                  <a:srgbClr val="FF5050"/>
                </a:solidFill>
                <a:latin typeface="Times New Roman" panose="02020603050405020304" pitchFamily="18" charset="0"/>
                <a:cs typeface="Times New Roman" panose="02020603050405020304" pitchFamily="18" charset="0"/>
                <a:sym typeface="+mn-ea"/>
              </a:rPr>
              <a:t>X</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去掉重复的</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空到</a:t>
            </a:r>
            <a:r>
              <a:rPr lang="en-US" altLang="zh-CN" sz="2000" dirty="0">
                <a:latin typeface="Times New Roman" panose="02020603050405020304" pitchFamily="18" charset="0"/>
                <a:cs typeface="Times New Roman" panose="02020603050405020304" pitchFamily="18" charset="0"/>
                <a:sym typeface="+mn-ea"/>
              </a:rPr>
              <a:t>X</a:t>
            </a:r>
            <a:r>
              <a:rPr lang="zh-CN" altLang="en-US" sz="2000" dirty="0">
                <a:latin typeface="Times New Roman" panose="02020603050405020304" pitchFamily="18" charset="0"/>
                <a:cs typeface="Times New Roman" panose="02020603050405020304" pitchFamily="18" charset="0"/>
                <a:sym typeface="+mn-ea"/>
              </a:rPr>
              <a:t>间距作为启动距离必定冲突</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由禁止向量</a:t>
            </a:r>
            <a:r>
              <a:rPr lang="en-US" altLang="zh-CN" sz="2000" dirty="0">
                <a:latin typeface="Times New Roman" panose="02020603050405020304" pitchFamily="18" charset="0"/>
                <a:cs typeface="Times New Roman" panose="02020603050405020304" pitchFamily="18" charset="0"/>
                <a:sym typeface="+mn-ea"/>
              </a:rPr>
              <a:t>F</a:t>
            </a:r>
            <a:r>
              <a:rPr lang="zh-CN" altLang="en-US" sz="2000" dirty="0">
                <a:latin typeface="Times New Roman" panose="02020603050405020304" pitchFamily="18" charset="0"/>
                <a:cs typeface="Times New Roman" panose="02020603050405020304" pitchFamily="18" charset="0"/>
                <a:sym typeface="+mn-ea"/>
              </a:rPr>
              <a:t>得到</a:t>
            </a:r>
            <a:r>
              <a:rPr lang="zh-CN" altLang="en-US" sz="2000" dirty="0">
                <a:solidFill>
                  <a:srgbClr val="FF5050"/>
                </a:solidFill>
                <a:latin typeface="Times New Roman" panose="02020603050405020304" pitchFamily="18" charset="0"/>
                <a:cs typeface="Times New Roman" panose="02020603050405020304" pitchFamily="18" charset="0"/>
                <a:sym typeface="+mn-ea"/>
              </a:rPr>
              <a:t>冲突向量</a:t>
            </a:r>
            <a:r>
              <a:rPr lang="en-US" altLang="zh-CN" sz="2000" dirty="0">
                <a:solidFill>
                  <a:srgbClr val="FF5050"/>
                </a:solidFill>
                <a:latin typeface="Times New Roman" panose="02020603050405020304" pitchFamily="18" charset="0"/>
                <a:cs typeface="Times New Roman" panose="02020603050405020304" pitchFamily="18" charset="0"/>
                <a:sym typeface="+mn-ea"/>
              </a:rPr>
              <a:t>C</a:t>
            </a:r>
            <a:endParaRPr lang="en-US" altLang="zh-CN" sz="2000" dirty="0">
              <a:solidFill>
                <a:srgbClr val="FF5050"/>
              </a:solidFill>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C=(C</a:t>
            </a:r>
            <a:r>
              <a:rPr lang="en-US" altLang="zh-CN" sz="2000" baseline="-25000" dirty="0">
                <a:latin typeface="Times New Roman" panose="02020603050405020304" pitchFamily="18" charset="0"/>
                <a:cs typeface="Times New Roman" panose="02020603050405020304" pitchFamily="18" charset="0"/>
                <a:sym typeface="+mn-ea"/>
              </a:rPr>
              <a:t>m</a:t>
            </a:r>
            <a:r>
              <a:rPr lang="en-US" altLang="zh-CN" sz="2000"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m-1</a:t>
            </a:r>
            <a:r>
              <a:rPr lang="en-US" altLang="zh-CN" sz="2000"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其中：</a:t>
            </a:r>
            <a:r>
              <a:rPr lang="en-US" altLang="zh-CN" sz="2000" dirty="0">
                <a:latin typeface="Times New Roman" panose="02020603050405020304" pitchFamily="18" charset="0"/>
                <a:cs typeface="Times New Roman" panose="02020603050405020304" pitchFamily="18" charset="0"/>
                <a:sym typeface="+mn-ea"/>
              </a:rPr>
              <a:t>m</a:t>
            </a:r>
            <a:r>
              <a:rPr lang="zh-CN" altLang="en-US" sz="2000" dirty="0">
                <a:latin typeface="Times New Roman" panose="02020603050405020304" pitchFamily="18" charset="0"/>
                <a:cs typeface="Times New Roman" panose="02020603050405020304" pitchFamily="18" charset="0"/>
                <a:sym typeface="+mn-ea"/>
              </a:rPr>
              <a:t>是禁止向量</a:t>
            </a:r>
            <a:r>
              <a:rPr lang="en-US" altLang="zh-CN" sz="2000" dirty="0">
                <a:latin typeface="Times New Roman" panose="02020603050405020304" pitchFamily="18" charset="0"/>
                <a:cs typeface="Times New Roman" panose="02020603050405020304" pitchFamily="18" charset="0"/>
                <a:sym typeface="+mn-ea"/>
              </a:rPr>
              <a:t>F</a:t>
            </a:r>
            <a:r>
              <a:rPr lang="zh-CN" altLang="en-US" sz="2000" dirty="0">
                <a:latin typeface="Times New Roman" panose="02020603050405020304" pitchFamily="18" charset="0"/>
                <a:cs typeface="Times New Roman" panose="02020603050405020304" pitchFamily="18" charset="0"/>
                <a:sym typeface="+mn-ea"/>
              </a:rPr>
              <a:t>中的最大值</a:t>
            </a:r>
            <a:endParaRPr lang="zh-CN" altLang="en-US" sz="2000" dirty="0">
              <a:latin typeface="Times New Roman" panose="02020603050405020304" pitchFamily="18" charset="0"/>
              <a:cs typeface="Times New Roman" panose="02020603050405020304" pitchFamily="18" charset="0"/>
            </a:endParaRPr>
          </a:p>
          <a:p>
            <a:pPr lvl="2" eaLnBrk="1" hangingPunct="1"/>
            <a:r>
              <a:rPr lang="zh-CN" altLang="en-US" sz="2000" dirty="0">
                <a:latin typeface="Times New Roman" panose="02020603050405020304" pitchFamily="18" charset="0"/>
                <a:cs typeface="Times New Roman" panose="02020603050405020304" pitchFamily="18" charset="0"/>
                <a:sym typeface="+mn-ea"/>
              </a:rPr>
              <a:t>如果</a:t>
            </a:r>
            <a:r>
              <a:rPr lang="en-US" altLang="zh-CN" sz="2000" dirty="0">
                <a:latin typeface="Times New Roman" panose="02020603050405020304" pitchFamily="18" charset="0"/>
                <a:cs typeface="Times New Roman" panose="02020603050405020304" pitchFamily="18" charset="0"/>
                <a:sym typeface="+mn-ea"/>
              </a:rPr>
              <a:t>i</a:t>
            </a:r>
            <a:r>
              <a:rPr lang="zh-CN" altLang="en-US" sz="2000" dirty="0">
                <a:latin typeface="Times New Roman" panose="02020603050405020304" pitchFamily="18" charset="0"/>
                <a:cs typeface="Times New Roman" panose="02020603050405020304" pitchFamily="18" charset="0"/>
                <a:sym typeface="+mn-ea"/>
              </a:rPr>
              <a:t>在禁止向量</a:t>
            </a:r>
            <a:r>
              <a:rPr lang="en-US" altLang="zh-CN" sz="2000" dirty="0">
                <a:latin typeface="Times New Roman" panose="02020603050405020304" pitchFamily="18" charset="0"/>
                <a:cs typeface="Times New Roman" panose="02020603050405020304" pitchFamily="18" charset="0"/>
                <a:sym typeface="+mn-ea"/>
              </a:rPr>
              <a:t>F</a:t>
            </a:r>
            <a:r>
              <a:rPr lang="zh-CN" altLang="en-US" sz="2000" dirty="0">
                <a:latin typeface="Times New Roman" panose="02020603050405020304" pitchFamily="18" charset="0"/>
                <a:cs typeface="Times New Roman" panose="02020603050405020304" pitchFamily="18" charset="0"/>
                <a:sym typeface="+mn-ea"/>
              </a:rPr>
              <a:t>中，则</a:t>
            </a:r>
            <a:r>
              <a:rPr lang="en-US" altLang="zh-CN" sz="2000"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i</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，否则</a:t>
            </a:r>
            <a:r>
              <a:rPr lang="en-US" altLang="zh-CN" sz="2000"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i</a:t>
            </a:r>
            <a:r>
              <a:rPr lang="en-US" altLang="zh-CN" sz="2000" dirty="0">
                <a:latin typeface="Times New Roman" panose="02020603050405020304" pitchFamily="18" charset="0"/>
                <a:cs typeface="Times New Roman" panose="02020603050405020304" pitchFamily="18" charset="0"/>
                <a:sym typeface="+mn-ea"/>
              </a:rPr>
              <a:t>=0</a:t>
            </a:r>
            <a:endParaRPr lang="en-US" altLang="zh-CN" sz="2000" dirty="0">
              <a:latin typeface="Times New Roman" panose="02020603050405020304" pitchFamily="18" charset="0"/>
              <a:cs typeface="Times New Roman" panose="02020603050405020304" pitchFamily="18" charset="0"/>
            </a:endParaRPr>
          </a:p>
          <a:p>
            <a:pPr lvl="2" eaLnBrk="1" hangingPunct="1"/>
            <a:r>
              <a:rPr lang="en-US" altLang="zh-CN" sz="2000"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i</a:t>
            </a:r>
            <a:r>
              <a:rPr lang="en-US" altLang="zh-CN" sz="2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表示相应的间距可叠加，相应列任一行均无冲突</a:t>
            </a:r>
            <a:endParaRPr lang="zh-CN" altLang="en-US" sz="2000" dirty="0">
              <a:latin typeface="Times New Roman" panose="02020603050405020304" pitchFamily="18" charset="0"/>
              <a:cs typeface="Times New Roman" panose="02020603050405020304" pitchFamily="18" charset="0"/>
              <a:sym typeface="+mn-ea"/>
            </a:endParaRPr>
          </a:p>
          <a:p>
            <a:pPr defTabSz="914400" eaLnBrk="1" latinLnBrk="0" hangingPunct="1">
              <a:spcBef>
                <a:spcPts val="1200"/>
              </a:spcBef>
              <a:tabLst>
                <a:tab pos="4121150" algn="l"/>
              </a:tabLst>
            </a:pPr>
            <a:r>
              <a:rPr lang="zh-CN" altLang="en-US" sz="2000" dirty="0">
                <a:latin typeface="Times New Roman" panose="02020603050405020304" pitchFamily="18" charset="0"/>
                <a:cs typeface="Times New Roman" panose="02020603050405020304" pitchFamily="18" charset="0"/>
                <a:sym typeface="+mn-ea"/>
              </a:rPr>
              <a:t>把</a:t>
            </a:r>
            <a:r>
              <a:rPr lang="zh-CN" altLang="en-US" sz="2000" dirty="0">
                <a:solidFill>
                  <a:srgbClr val="FF5050"/>
                </a:solidFill>
                <a:latin typeface="Times New Roman" panose="02020603050405020304" pitchFamily="18" charset="0"/>
                <a:cs typeface="Times New Roman" panose="02020603050405020304" pitchFamily="18" charset="0"/>
                <a:sym typeface="+mn-ea"/>
              </a:rPr>
              <a:t>冲突向量</a:t>
            </a:r>
            <a:r>
              <a:rPr lang="zh-CN" altLang="en-US" sz="2000" dirty="0">
                <a:latin typeface="Times New Roman" panose="02020603050405020304" pitchFamily="18" charset="0"/>
                <a:cs typeface="Times New Roman" panose="02020603050405020304" pitchFamily="18" charset="0"/>
                <a:sym typeface="+mn-ea"/>
              </a:rPr>
              <a:t>送入一个</a:t>
            </a:r>
            <a:r>
              <a:rPr lang="en-US" altLang="zh-CN" sz="2000" dirty="0">
                <a:latin typeface="Times New Roman" panose="02020603050405020304" pitchFamily="18" charset="0"/>
                <a:cs typeface="Times New Roman" panose="02020603050405020304" pitchFamily="18" charset="0"/>
                <a:sym typeface="+mn-ea"/>
              </a:rPr>
              <a:t>m</a:t>
            </a:r>
            <a:r>
              <a:rPr lang="zh-CN" altLang="en-US" sz="2000" dirty="0">
                <a:latin typeface="Times New Roman" panose="02020603050405020304" pitchFamily="18" charset="0"/>
                <a:cs typeface="Times New Roman" panose="02020603050405020304" pitchFamily="18" charset="0"/>
                <a:sym typeface="+mn-ea"/>
              </a:rPr>
              <a:t>位逻辑</a:t>
            </a:r>
            <a:r>
              <a:rPr lang="zh-CN" altLang="en-US" sz="2000" dirty="0">
                <a:solidFill>
                  <a:srgbClr val="FF5050"/>
                </a:solidFill>
                <a:latin typeface="Times New Roman" panose="02020603050405020304" pitchFamily="18" charset="0"/>
                <a:cs typeface="Times New Roman" panose="02020603050405020304" pitchFamily="18" charset="0"/>
                <a:sym typeface="+mn-ea"/>
              </a:rPr>
              <a:t>右移移位器</a:t>
            </a:r>
            <a:r>
              <a:rPr lang="zh-CN" altLang="en-US" sz="2000" dirty="0">
                <a:latin typeface="Times New Roman" panose="02020603050405020304" pitchFamily="18" charset="0"/>
                <a:cs typeface="Times New Roman" panose="02020603050405020304" pitchFamily="18" charset="0"/>
                <a:sym typeface="+mn-ea"/>
              </a:rPr>
              <a:t>：</a:t>
            </a:r>
            <a:endParaRPr lang="zh-CN" altLang="en-US" sz="2000" dirty="0">
              <a:latin typeface="Times New Roman" panose="02020603050405020304" pitchFamily="18" charset="0"/>
              <a:cs typeface="Times New Roman" panose="02020603050405020304" pitchFamily="18" charset="0"/>
              <a:sym typeface="+mn-ea"/>
            </a:endParaRPr>
          </a:p>
          <a:p>
            <a:pPr lvl="1" defTabSz="914400" eaLnBrk="1" latinLnBrk="0" hangingPunct="1">
              <a:spcBef>
                <a:spcPts val="600"/>
              </a:spcBef>
              <a:tabLst>
                <a:tab pos="4121150" algn="l"/>
              </a:tabLst>
            </a:pPr>
            <a:r>
              <a:rPr lang="zh-CN" altLang="en-US" sz="2000" dirty="0">
                <a:latin typeface="Times New Roman" panose="02020603050405020304" pitchFamily="18" charset="0"/>
                <a:cs typeface="Times New Roman" panose="02020603050405020304" pitchFamily="18" charset="0"/>
                <a:sym typeface="+mn-ea"/>
              </a:rPr>
              <a:t>当移位器</a:t>
            </a:r>
            <a:r>
              <a:rPr lang="zh-CN" altLang="en-US" sz="2000" dirty="0">
                <a:solidFill>
                  <a:srgbClr val="FF5050"/>
                </a:solidFill>
                <a:latin typeface="Times New Roman" panose="02020603050405020304" pitchFamily="18" charset="0"/>
                <a:cs typeface="Times New Roman" panose="02020603050405020304" pitchFamily="18" charset="0"/>
                <a:sym typeface="+mn-ea"/>
              </a:rPr>
              <a:t>移出</a:t>
            </a:r>
            <a:r>
              <a:rPr lang="en-US" altLang="zh-CN" sz="2000" dirty="0">
                <a:solidFill>
                  <a:srgbClr val="FF5050"/>
                </a:solidFill>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时，用移位器中的值与初始冲突向量</a:t>
            </a:r>
            <a:r>
              <a:rPr lang="en-US" altLang="zh-CN" sz="2000" dirty="0">
                <a:latin typeface="Times New Roman" panose="02020603050405020304" pitchFamily="18" charset="0"/>
                <a:cs typeface="Times New Roman" panose="02020603050405020304" pitchFamily="18" charset="0"/>
                <a:sym typeface="+mn-ea"/>
              </a:rPr>
              <a:t>C</a:t>
            </a:r>
            <a:r>
              <a:rPr lang="zh-CN" altLang="en-US" sz="2000" dirty="0">
                <a:latin typeface="Times New Roman" panose="02020603050405020304" pitchFamily="18" charset="0"/>
                <a:cs typeface="Times New Roman" panose="02020603050405020304" pitchFamily="18" charset="0"/>
                <a:sym typeface="+mn-ea"/>
              </a:rPr>
              <a:t>作“</a:t>
            </a:r>
            <a:r>
              <a:rPr lang="zh-CN" altLang="en-US" sz="2000" dirty="0">
                <a:solidFill>
                  <a:srgbClr val="FF5050"/>
                </a:solidFill>
                <a:latin typeface="Times New Roman" panose="02020603050405020304" pitchFamily="18" charset="0"/>
                <a:cs typeface="Times New Roman" panose="02020603050405020304" pitchFamily="18" charset="0"/>
                <a:sym typeface="+mn-ea"/>
              </a:rPr>
              <a:t>按位或</a:t>
            </a:r>
            <a:r>
              <a:rPr lang="zh-CN" altLang="en-US" sz="2000" dirty="0">
                <a:latin typeface="Times New Roman" panose="02020603050405020304" pitchFamily="18" charset="0"/>
                <a:cs typeface="Times New Roman" panose="02020603050405020304" pitchFamily="18" charset="0"/>
                <a:sym typeface="+mn-ea"/>
              </a:rPr>
              <a:t>”，得到一个</a:t>
            </a:r>
            <a:r>
              <a:rPr lang="zh-CN" altLang="en-US" sz="2000" dirty="0">
                <a:solidFill>
                  <a:srgbClr val="FF5050"/>
                </a:solidFill>
                <a:latin typeface="Times New Roman" panose="02020603050405020304" pitchFamily="18" charset="0"/>
                <a:cs typeface="Times New Roman" panose="02020603050405020304" pitchFamily="18" charset="0"/>
                <a:sym typeface="+mn-ea"/>
              </a:rPr>
              <a:t>新的冲突向量</a:t>
            </a:r>
            <a:r>
              <a:rPr lang="zh-CN" altLang="en-US" sz="2000" dirty="0">
                <a:latin typeface="Times New Roman" panose="02020603050405020304" pitchFamily="18" charset="0"/>
                <a:cs typeface="Times New Roman" panose="02020603050405020304" pitchFamily="18" charset="0"/>
                <a:sym typeface="+mn-ea"/>
              </a:rPr>
              <a:t>；否则不作任何处理；重复</a:t>
            </a:r>
            <a:r>
              <a:rPr lang="en-US" altLang="zh-CN" sz="2000" dirty="0">
                <a:latin typeface="Times New Roman" panose="02020603050405020304" pitchFamily="18" charset="0"/>
                <a:cs typeface="Times New Roman" panose="02020603050405020304" pitchFamily="18" charset="0"/>
                <a:sym typeface="+mn-ea"/>
              </a:rPr>
              <a:t>m</a:t>
            </a:r>
            <a:r>
              <a:rPr lang="zh-CN" altLang="en-US" sz="2000" dirty="0">
                <a:latin typeface="Times New Roman" panose="02020603050405020304" pitchFamily="18" charset="0"/>
                <a:cs typeface="Times New Roman" panose="02020603050405020304" pitchFamily="18" charset="0"/>
                <a:sym typeface="+mn-ea"/>
              </a:rPr>
              <a:t>次</a:t>
            </a:r>
            <a:endParaRPr lang="zh-CN" altLang="en-US" sz="2000" dirty="0">
              <a:latin typeface="Times New Roman" panose="02020603050405020304" pitchFamily="18" charset="0"/>
              <a:cs typeface="Times New Roman" panose="02020603050405020304" pitchFamily="18" charset="0"/>
            </a:endParaRPr>
          </a:p>
          <a:p>
            <a:pPr lvl="1" defTabSz="914400" eaLnBrk="1" latinLnBrk="0" hangingPunct="1">
              <a:spcBef>
                <a:spcPts val="600"/>
              </a:spcBef>
              <a:tabLst>
                <a:tab pos="4121150" algn="l"/>
              </a:tabLst>
            </a:pPr>
            <a:r>
              <a:rPr lang="zh-CN" altLang="en-US" sz="2000" dirty="0">
                <a:latin typeface="Times New Roman" panose="02020603050405020304" pitchFamily="18" charset="0"/>
                <a:cs typeface="Times New Roman" panose="02020603050405020304" pitchFamily="18" charset="0"/>
                <a:sym typeface="+mn-ea"/>
              </a:rPr>
              <a:t>中间形成的每一个新的冲突向量，也按上述方法进行处理</a:t>
            </a:r>
            <a:endParaRPr lang="zh-CN" altLang="en-US" sz="2000" dirty="0">
              <a:latin typeface="Times New Roman" panose="02020603050405020304" pitchFamily="18" charset="0"/>
              <a:cs typeface="Times New Roman" panose="02020603050405020304" pitchFamily="18" charset="0"/>
            </a:endParaRPr>
          </a:p>
          <a:p>
            <a:pPr lvl="1" defTabSz="914400" eaLnBrk="1" latinLnBrk="0" hangingPunct="1">
              <a:spcBef>
                <a:spcPts val="600"/>
              </a:spcBef>
              <a:tabLst>
                <a:tab pos="4121150" algn="l"/>
              </a:tabLst>
            </a:pPr>
            <a:r>
              <a:rPr lang="zh-CN" altLang="en-US" sz="2000" dirty="0">
                <a:latin typeface="Times New Roman" panose="02020603050405020304" pitchFamily="18" charset="0"/>
                <a:cs typeface="Times New Roman" panose="02020603050405020304" pitchFamily="18" charset="0"/>
                <a:sym typeface="+mn-ea"/>
              </a:rPr>
              <a:t>由冲突向量构造状态图</a:t>
            </a:r>
            <a:endParaRPr lang="zh-CN" altLang="en-US" sz="2000" dirty="0">
              <a:latin typeface="Times New Roman" panose="02020603050405020304" pitchFamily="18" charset="0"/>
              <a:cs typeface="Times New Roman" panose="02020603050405020304" pitchFamily="18" charset="0"/>
              <a:sym typeface="+mn-ea"/>
            </a:endParaRPr>
          </a:p>
          <a:p>
            <a:pPr lvl="0" eaLnBrk="1" hangingPunct="1"/>
            <a:endParaRPr lang="zh-CN" altLang="en-US" sz="2000" dirty="0">
              <a:solidFill>
                <a:srgbClr val="4844EE"/>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相关性分析</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与静态流水线</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调度</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417955"/>
            <a:ext cx="8229600" cy="4935220"/>
          </a:xfrm>
        </p:spPr>
        <p:txBody>
          <a:bodyPr/>
          <a:lstStyle/>
          <a:p>
            <a:pPr eaLnBrk="1" hangingPunct="1"/>
            <a:r>
              <a:rPr lang="zh-CN" altLang="en-US" sz="2000" dirty="0">
                <a:latin typeface="Times New Roman" panose="02020603050405020304" pitchFamily="18" charset="0"/>
                <a:cs typeface="Times New Roman" panose="02020603050405020304" pitchFamily="18" charset="0"/>
              </a:rPr>
              <a:t>相关性分析</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数据相关；</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写后读、读后写、写后写；</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数据重命名技术</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控制相关；</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分支导致；</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提前形成条件码</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结构相关；</a:t>
            </a:r>
            <a:endParaRPr lang="zh-CN" altLang="en-US" sz="2000" dirty="0">
              <a:latin typeface="Times New Roman" panose="02020603050405020304" pitchFamily="18" charset="0"/>
              <a:cs typeface="Times New Roman" panose="02020603050405020304" pitchFamily="18" charset="0"/>
            </a:endParaRPr>
          </a:p>
          <a:p>
            <a:pPr algn="l" eaLnBrk="1" latinLnBrk="0" hangingPunct="1">
              <a:spcBef>
                <a:spcPts val="1200"/>
              </a:spcBef>
              <a:buSzTx/>
            </a:pPr>
            <a:r>
              <a:rPr lang="zh-CN" altLang="en-US" sz="2000" dirty="0">
                <a:latin typeface="Times New Roman" panose="02020603050405020304" pitchFamily="18" charset="0"/>
                <a:cs typeface="Times New Roman" panose="02020603050405020304" pitchFamily="18" charset="0"/>
              </a:rPr>
              <a:t>数据重命名</a:t>
            </a:r>
            <a:r>
              <a:rPr lang="zh-CN" altLang="en-US" sz="2000" dirty="0">
                <a:latin typeface="Times New Roman" panose="02020603050405020304" pitchFamily="18" charset="0"/>
                <a:cs typeface="Times New Roman" panose="02020603050405020304" pitchFamily="18" charset="0"/>
              </a:rPr>
              <a:t>技术</a:t>
            </a:r>
            <a:endParaRPr lang="zh-CN" altLang="en-US" sz="2000" dirty="0">
              <a:latin typeface="Times New Roman" panose="02020603050405020304" pitchFamily="18" charset="0"/>
              <a:cs typeface="Times New Roman" panose="02020603050405020304" pitchFamily="18" charset="0"/>
            </a:endParaRPr>
          </a:p>
          <a:p>
            <a:pPr algn="l" eaLnBrk="1" latinLnBrk="0" hangingPunct="1">
              <a:spcBef>
                <a:spcPts val="1200"/>
              </a:spcBef>
              <a:buSzTx/>
            </a:pPr>
            <a:r>
              <a:rPr lang="zh-CN" altLang="en-US" sz="2000" dirty="0">
                <a:latin typeface="Times New Roman" panose="02020603050405020304" pitchFamily="18" charset="0"/>
                <a:cs typeface="Times New Roman" panose="02020603050405020304" pitchFamily="18" charset="0"/>
              </a:rPr>
              <a:t>循环展开调度方法</a:t>
            </a:r>
            <a:endParaRPr lang="zh-CN" altLang="en-US" sz="2000" dirty="0">
              <a:latin typeface="Times New Roman" panose="02020603050405020304" pitchFamily="18" charset="0"/>
              <a:cs typeface="Times New Roman" panose="02020603050405020304" pitchFamily="18" charset="0"/>
            </a:endParaRPr>
          </a:p>
          <a:p>
            <a:pPr lvl="0" eaLnBrk="1" hangingPunct="1"/>
            <a:endParaRPr lang="zh-CN" altLang="en-US" sz="2000" dirty="0">
              <a:solidFill>
                <a:srgbClr val="4844EE"/>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超标量处理机性能</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98880"/>
            <a:ext cx="8396605" cy="5229860"/>
          </a:xfrm>
        </p:spPr>
        <p:txBody>
          <a:bodyPr vert="horz" wrap="square" lIns="91440" tIns="45720" rIns="91440" bIns="45720" anchor="t" anchorCtr="0"/>
          <a:lstStyle/>
          <a:p>
            <a:pPr eaLnBrk="1" hangingPunct="1"/>
            <a:r>
              <a:rPr lang="zh-CN" altLang="en-US" sz="2000" dirty="0">
                <a:latin typeface="Times New Roman" panose="02020603050405020304" pitchFamily="18" charset="0"/>
                <a:cs typeface="Times New Roman" panose="02020603050405020304" pitchFamily="18" charset="0"/>
                <a:sym typeface="+mn-ea"/>
              </a:rPr>
              <a:t>理想情况下，</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条指令在单流水线标量处理机上的执行时间</a:t>
            </a:r>
            <a:br>
              <a:rPr lang="zh-CN" altLang="en-US" sz="2000" dirty="0">
                <a:latin typeface="Times New Roman" panose="02020603050405020304" pitchFamily="18" charset="0"/>
                <a:cs typeface="Times New Roman" panose="02020603050405020304" pitchFamily="18" charset="0"/>
                <a:sym typeface="+mn-ea"/>
              </a:rPr>
            </a:b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T(1,1)=(k+N-1)</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t</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相同的</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条指令在每个周期发射</a:t>
            </a:r>
            <a:r>
              <a:rPr lang="en-US" altLang="zh-CN" sz="2000" dirty="0">
                <a:latin typeface="Times New Roman" panose="02020603050405020304" pitchFamily="18" charset="0"/>
                <a:cs typeface="Times New Roman" panose="02020603050405020304" pitchFamily="18" charset="0"/>
                <a:sym typeface="+mn-ea"/>
              </a:rPr>
              <a:t>m</a:t>
            </a:r>
            <a:r>
              <a:rPr lang="zh-CN" altLang="en-US" sz="2000" dirty="0">
                <a:latin typeface="Times New Roman" panose="02020603050405020304" pitchFamily="18" charset="0"/>
                <a:cs typeface="Times New Roman" panose="02020603050405020304" pitchFamily="18" charset="0"/>
                <a:sym typeface="+mn-ea"/>
              </a:rPr>
              <a:t>条指令的超标量处理机上执行的时间</a:t>
            </a:r>
            <a:br>
              <a:rPr lang="zh-CN" altLang="en-US" sz="2000" dirty="0">
                <a:latin typeface="Times New Roman" panose="02020603050405020304" pitchFamily="18" charset="0"/>
                <a:cs typeface="Times New Roman" panose="02020603050405020304" pitchFamily="18" charset="0"/>
                <a:sym typeface="+mn-ea"/>
              </a:rPr>
            </a:br>
            <a:r>
              <a:rPr lang="zh-CN" altLang="en-US" sz="2000" dirty="0">
                <a:latin typeface="Times New Roman" panose="02020603050405020304" pitchFamily="18" charset="0"/>
                <a:cs typeface="Times New Roman" panose="02020603050405020304" pitchFamily="18" charset="0"/>
                <a:sym typeface="+mn-ea"/>
              </a:rPr>
              <a:t>		</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T(m,1)=(k+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t</a:t>
            </a:r>
            <a:endParaRPr lang="en-US" altLang="zh-CN" sz="2000" dirty="0">
              <a:latin typeface="Times New Roman" panose="02020603050405020304" pitchFamily="18" charset="0"/>
              <a:cs typeface="Times New Roman" panose="02020603050405020304" pitchFamily="18" charset="0"/>
            </a:endParaRPr>
          </a:p>
          <a:p>
            <a:pPr lvl="1" eaLnBrk="1" hangingPunct="1"/>
            <a:endParaRPr lang="en-US" altLang="zh-CN" sz="2000" dirty="0">
              <a:latin typeface="Times New Roman" panose="02020603050405020304" pitchFamily="18" charset="0"/>
              <a:cs typeface="Times New Roman" panose="02020603050405020304" pitchFamily="18" charset="0"/>
              <a:sym typeface="+mn-ea"/>
            </a:endParaRPr>
          </a:p>
          <a:p>
            <a:pPr lvl="1" eaLnBrk="1" hangingPunct="1"/>
            <a:r>
              <a:rPr lang="en-US" altLang="zh-CN" sz="2000" dirty="0">
                <a:latin typeface="Times New Roman" panose="02020603050405020304" pitchFamily="18" charset="0"/>
                <a:cs typeface="Times New Roman" panose="02020603050405020304" pitchFamily="18" charset="0"/>
                <a:sym typeface="+mn-ea"/>
              </a:rPr>
              <a:t>k</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t		</a:t>
            </a:r>
            <a:r>
              <a:rPr lang="zh-CN" altLang="en-US" sz="2000" dirty="0">
                <a:latin typeface="Times New Roman" panose="02020603050405020304" pitchFamily="18" charset="0"/>
                <a:cs typeface="Times New Roman" panose="02020603050405020304" pitchFamily="18" charset="0"/>
                <a:sym typeface="+mn-ea"/>
              </a:rPr>
              <a:t>第一条</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批</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指令的</a:t>
            </a:r>
            <a:r>
              <a:rPr lang="zh-CN" altLang="en-US" sz="2000" dirty="0">
                <a:solidFill>
                  <a:srgbClr val="FF3300"/>
                </a:solidFill>
                <a:latin typeface="Times New Roman" panose="02020603050405020304" pitchFamily="18" charset="0"/>
                <a:cs typeface="Times New Roman" panose="02020603050405020304" pitchFamily="18" charset="0"/>
                <a:sym typeface="+mn-ea"/>
              </a:rPr>
              <a:t>流过时间</a:t>
            </a:r>
            <a:endParaRPr lang="zh-CN" altLang="en-US" sz="2000" dirty="0">
              <a:solidFill>
                <a:srgbClr val="FF3300"/>
              </a:solidFill>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(N-m)</a:t>
            </a:r>
            <a:r>
              <a:rPr lang="en-US" altLang="zh-CN" sz="2000" dirty="0">
                <a:latin typeface="Times New Roman" panose="02020603050405020304" pitchFamily="18" charset="0"/>
                <a:cs typeface="Times New Roman" panose="02020603050405020304" pitchFamily="18" charset="0"/>
                <a:sym typeface="+mn-ea"/>
              </a:rPr>
              <a:t>/m	</a:t>
            </a:r>
            <a:r>
              <a:rPr lang="zh-CN" altLang="en-US" sz="2000" dirty="0">
                <a:latin typeface="Times New Roman" panose="02020603050405020304" pitchFamily="18" charset="0"/>
                <a:cs typeface="Times New Roman" panose="02020603050405020304" pitchFamily="18" charset="0"/>
                <a:sym typeface="+mn-ea"/>
              </a:rPr>
              <a:t>后续指令批数</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隔</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t</a:t>
            </a:r>
            <a:r>
              <a:rPr lang="zh-CN" altLang="en-US" sz="2000" dirty="0">
                <a:latin typeface="Times New Roman" panose="02020603050405020304" pitchFamily="18" charset="0"/>
                <a:cs typeface="Times New Roman" panose="02020603050405020304" pitchFamily="18" charset="0"/>
                <a:sym typeface="+mn-ea"/>
              </a:rPr>
              <a:t>流</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solidFill>
                  <a:srgbClr val="FF3300"/>
                </a:solidFill>
                <a:latin typeface="Times New Roman" panose="02020603050405020304" pitchFamily="18" charset="0"/>
                <a:cs typeface="Times New Roman" panose="02020603050405020304" pitchFamily="18" charset="0"/>
                <a:sym typeface="+mn-ea"/>
              </a:rPr>
              <a:t>吐</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出一批</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超标量处理机相对于单流水线标量处理机的加速比</a:t>
            </a:r>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800"/>
              </a:spcBef>
            </a:pPr>
            <a:r>
              <a:rPr lang="zh-CN" altLang="en-US" sz="2000" dirty="0">
                <a:latin typeface="Times New Roman" panose="02020603050405020304" pitchFamily="18" charset="0"/>
                <a:cs typeface="Times New Roman" panose="02020603050405020304" pitchFamily="18" charset="0"/>
                <a:sym typeface="+mn-ea"/>
              </a:rPr>
              <a:t>理想情况下，超标量处理机的加速比的最大值</a:t>
            </a:r>
            <a:endParaRPr lang="zh-CN" altLang="en-US" sz="2000" dirty="0">
              <a:latin typeface="Times New Roman" panose="02020603050405020304" pitchFamily="18" charset="0"/>
              <a:cs typeface="Times New Roman" panose="02020603050405020304" pitchFamily="18" charset="0"/>
              <a:sym typeface="+mn-ea"/>
            </a:endParaRPr>
          </a:p>
          <a:p>
            <a:pPr marL="457200" lvl="1" indent="0" eaLnBrk="1" latinLnBrk="0" hangingPunct="1">
              <a:spcBef>
                <a:spcPts val="1200"/>
              </a:spcBef>
              <a:buNone/>
            </a:pPr>
            <a:r>
              <a:rPr lang="en-US" altLang="zh-CN" sz="2000" dirty="0">
                <a:latin typeface="Times New Roman" panose="02020603050405020304" pitchFamily="18" charset="0"/>
                <a:cs typeface="Times New Roman" panose="02020603050405020304" pitchFamily="18" charset="0"/>
                <a:sym typeface="+mn-ea"/>
              </a:rPr>
              <a:t>        </a:t>
            </a:r>
            <a:r>
              <a:rPr lang="en-US" altLang="zh-CN" sz="2400" dirty="0">
                <a:latin typeface="Times New Roman" panose="02020603050405020304" pitchFamily="18" charset="0"/>
                <a:cs typeface="Times New Roman" panose="02020603050405020304" pitchFamily="18" charset="0"/>
                <a:sym typeface="+mn-ea"/>
              </a:rPr>
              <a:t>        S(m,1)</a:t>
            </a:r>
            <a:r>
              <a:rPr lang="en-US" altLang="zh-CN" sz="2400" baseline="-25000" dirty="0">
                <a:latin typeface="Times New Roman" panose="02020603050405020304" pitchFamily="18" charset="0"/>
                <a:cs typeface="Times New Roman" panose="02020603050405020304" pitchFamily="18" charset="0"/>
                <a:sym typeface="+mn-ea"/>
              </a:rPr>
              <a:t>MAX</a:t>
            </a:r>
            <a:r>
              <a:rPr lang="en-US" altLang="zh-CN" sz="2400" dirty="0">
                <a:latin typeface="Times New Roman" panose="02020603050405020304" pitchFamily="18" charset="0"/>
                <a:cs typeface="Times New Roman" panose="02020603050405020304" pitchFamily="18" charset="0"/>
                <a:sym typeface="+mn-ea"/>
              </a:rPr>
              <a:t>=m</a:t>
            </a:r>
            <a:endParaRPr lang="en-US" altLang="zh-CN" sz="2400" dirty="0">
              <a:latin typeface="Times New Roman" panose="02020603050405020304" pitchFamily="18" charset="0"/>
              <a:cs typeface="Times New Roman" panose="02020603050405020304" pitchFamily="18" charset="0"/>
            </a:endParaRPr>
          </a:p>
          <a:p>
            <a:pPr eaLnBrk="1" latinLnBrk="0" hangingPunct="1">
              <a:spcBef>
                <a:spcPts val="1200"/>
              </a:spcBef>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243717" name="Object 4"/>
          <p:cNvGraphicFramePr>
            <a:graphicFrameLocks noChangeAspect="1"/>
          </p:cNvGraphicFramePr>
          <p:nvPr>
            <p:custDataLst>
              <p:tags r:id="rId2"/>
            </p:custDataLst>
          </p:nvPr>
        </p:nvGraphicFramePr>
        <p:xfrm>
          <a:off x="2627630" y="2515870"/>
          <a:ext cx="982345" cy="736600"/>
        </p:xfrm>
        <a:graphic>
          <a:graphicData uri="http://schemas.openxmlformats.org/presentationml/2006/ole">
            <mc:AlternateContent xmlns:mc="http://schemas.openxmlformats.org/markup-compatibility/2006">
              <mc:Choice xmlns:v="urn:schemas-microsoft-com:vml" Requires="v">
                <p:oleObj spid="_x0000_s3079" name="" r:id="rId3" imgW="609600" imgH="457200" progId="Equation.3">
                  <p:embed/>
                </p:oleObj>
              </mc:Choice>
              <mc:Fallback>
                <p:oleObj name="" r:id="rId3" imgW="609600" imgH="457200" progId="Equation.3">
                  <p:embed/>
                  <p:pic>
                    <p:nvPicPr>
                      <p:cNvPr id="0" name="图片 3117"/>
                      <p:cNvPicPr/>
                      <p:nvPr/>
                    </p:nvPicPr>
                    <p:blipFill>
                      <a:blip r:embed="rId4"/>
                      <a:stretch>
                        <a:fillRect/>
                      </a:stretch>
                    </p:blipFill>
                    <p:spPr>
                      <a:xfrm>
                        <a:off x="2627630" y="2515870"/>
                        <a:ext cx="982345" cy="736600"/>
                      </a:xfrm>
                      <a:prstGeom prst="rect">
                        <a:avLst/>
                      </a:prstGeom>
                      <a:noFill/>
                      <a:ln w="38100">
                        <a:noFill/>
                        <a:miter/>
                      </a:ln>
                    </p:spPr>
                  </p:pic>
                </p:oleObj>
              </mc:Fallback>
            </mc:AlternateContent>
          </a:graphicData>
        </a:graphic>
      </p:graphicFrame>
      <p:pic>
        <p:nvPicPr>
          <p:cNvPr id="2" name="图片 1"/>
          <p:cNvPicPr>
            <a:picLocks noChangeAspect="1"/>
          </p:cNvPicPr>
          <p:nvPr>
            <p:custDataLst>
              <p:tags r:id="rId5"/>
            </p:custDataLst>
          </p:nvPr>
        </p:nvPicPr>
        <p:blipFill>
          <a:blip r:embed="rId6"/>
          <a:stretch>
            <a:fillRect/>
          </a:stretch>
        </p:blipFill>
        <p:spPr>
          <a:xfrm>
            <a:off x="2267585" y="4653280"/>
            <a:ext cx="3917950" cy="8445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超流水线处理机性能</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29030"/>
            <a:ext cx="8396605" cy="5299710"/>
          </a:xfrm>
        </p:spPr>
        <p:txBody>
          <a:bodyPr vert="horz" wrap="square" lIns="91440" tIns="45720" rIns="91440" bIns="45720" anchor="t" anchorCtr="0"/>
          <a:lstStyle/>
          <a:p>
            <a:pPr algn="l" eaLnBrk="1" hangingPunct="1">
              <a:buSzTx/>
              <a:buFont typeface="Wingdings" panose="05000000000000000000" pitchFamily="2" charset="2"/>
            </a:pPr>
            <a:r>
              <a:rPr lang="en-US" altLang="zh-CN" sz="2000" dirty="0">
                <a:latin typeface="Times New Roman" panose="02020603050405020304" pitchFamily="18" charset="0"/>
                <a:cs typeface="Times New Roman" panose="02020603050405020304" pitchFamily="18" charset="0"/>
                <a:sym typeface="+mn-ea"/>
              </a:rPr>
              <a:t>指令级并行度为(1,n)的超流水线处理机，执行N条指令时间</a:t>
            </a:r>
            <a:endParaRPr lang="zh-CN" altLang="en-US" sz="2000" dirty="0">
              <a:latin typeface="Times New Roman" panose="02020603050405020304" pitchFamily="18" charset="0"/>
              <a:cs typeface="Times New Roman" panose="02020603050405020304" pitchFamily="18" charset="0"/>
            </a:endParaRPr>
          </a:p>
          <a:p>
            <a:pPr eaLnBrk="1" hangingPunct="1">
              <a:buClr>
                <a:srgbClr val="0000FF"/>
              </a:buClr>
              <a:buSzPct val="60000"/>
              <a:buFont typeface="Wingdings" panose="05000000000000000000" pitchFamily="2" charset="2"/>
            </a:pPr>
            <a:endParaRPr lang="zh-CN" altLang="en-US" sz="2000" dirty="0">
              <a:latin typeface="Times New Roman" panose="02020603050405020304" pitchFamily="18" charset="0"/>
              <a:cs typeface="Times New Roman" panose="02020603050405020304" pitchFamily="18" charset="0"/>
            </a:endParaRPr>
          </a:p>
          <a:p>
            <a:pPr lvl="1" eaLnBrk="1" hangingPunct="1">
              <a:buClr>
                <a:schemeClr val="accent1"/>
              </a:buClr>
              <a:buSzPct val="60000"/>
              <a:buFont typeface="Wingdings" panose="05000000000000000000" pitchFamily="2" charset="2"/>
            </a:pP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buClr>
                <a:schemeClr val="accent1"/>
              </a:buClr>
              <a:buSzPct val="60000"/>
              <a:buFont typeface="Wingdings" panose="05000000000000000000" pitchFamily="2" charset="2"/>
            </a:pPr>
            <a:r>
              <a:rPr lang="en-US" altLang="zh-CN" sz="2000" dirty="0">
                <a:latin typeface="Times New Roman" panose="02020603050405020304" pitchFamily="18" charset="0"/>
                <a:cs typeface="Times New Roman" panose="02020603050405020304" pitchFamily="18" charset="0"/>
                <a:sym typeface="+mn-ea"/>
              </a:rPr>
              <a:t>k</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t		  </a:t>
            </a:r>
            <a:r>
              <a:rPr lang="zh-CN" altLang="en-US" sz="2000" dirty="0">
                <a:latin typeface="Times New Roman" panose="02020603050405020304" pitchFamily="18" charset="0"/>
                <a:cs typeface="Times New Roman" panose="02020603050405020304" pitchFamily="18" charset="0"/>
                <a:sym typeface="+mn-ea"/>
              </a:rPr>
              <a:t>第一条指令的</a:t>
            </a:r>
            <a:r>
              <a:rPr lang="zh-CN" altLang="en-US" sz="2000" dirty="0">
                <a:solidFill>
                  <a:srgbClr val="FF3300"/>
                </a:solidFill>
                <a:latin typeface="Times New Roman" panose="02020603050405020304" pitchFamily="18" charset="0"/>
                <a:cs typeface="Times New Roman" panose="02020603050405020304" pitchFamily="18" charset="0"/>
                <a:sym typeface="+mn-ea"/>
              </a:rPr>
              <a:t>流过时间</a:t>
            </a:r>
            <a:r>
              <a:rPr lang="en-US" altLang="zh-CN" sz="2000" dirty="0">
                <a:latin typeface="Times New Roman" panose="02020603050405020304" pitchFamily="18" charset="0"/>
                <a:cs typeface="Times New Roman" panose="02020603050405020304" pitchFamily="18" charset="0"/>
                <a:sym typeface="+mn-ea"/>
              </a:rPr>
              <a:t>, k=</a:t>
            </a:r>
            <a:r>
              <a:rPr lang="zh-CN" altLang="en-US" sz="2000" dirty="0">
                <a:latin typeface="Times New Roman" panose="02020603050405020304" pitchFamily="18" charset="0"/>
                <a:cs typeface="Times New Roman" panose="02020603050405020304" pitchFamily="18" charset="0"/>
                <a:sym typeface="+mn-ea"/>
              </a:rPr>
              <a:t>未细分的段数</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t=T</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600"/>
              </a:spcBef>
              <a:buClr>
                <a:schemeClr val="accent1"/>
              </a:buClr>
              <a:buSzPct val="60000"/>
              <a:buFont typeface="Wingdings" panose="05000000000000000000" pitchFamily="2" charset="2"/>
            </a:pP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(N-1)</a:t>
            </a:r>
            <a:r>
              <a:rPr lang="en-US" altLang="zh-CN" sz="2000" dirty="0">
                <a:latin typeface="Times New Roman" panose="02020603050405020304" pitchFamily="18" charset="0"/>
                <a:cs typeface="Times New Roman" panose="02020603050405020304" pitchFamily="18" charset="0"/>
                <a:sym typeface="+mn-ea"/>
              </a:rPr>
              <a:t>t/n	  </a:t>
            </a:r>
            <a:r>
              <a:rPr lang="zh-CN" altLang="en-US" sz="2000" dirty="0">
                <a:latin typeface="Times New Roman" panose="02020603050405020304" pitchFamily="18" charset="0"/>
                <a:cs typeface="Times New Roman" panose="02020603050405020304" pitchFamily="18" charset="0"/>
                <a:sym typeface="+mn-ea"/>
              </a:rPr>
              <a:t>后续指令隔</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t/n</a:t>
            </a:r>
            <a:r>
              <a:rPr lang="zh-CN" altLang="en-US" sz="2000" dirty="0">
                <a:latin typeface="Times New Roman" panose="02020603050405020304" pitchFamily="18" charset="0"/>
                <a:cs typeface="Times New Roman" panose="02020603050405020304" pitchFamily="18" charset="0"/>
                <a:sym typeface="+mn-ea"/>
              </a:rPr>
              <a:t>流</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solidFill>
                  <a:srgbClr val="FF0101"/>
                </a:solidFill>
                <a:latin typeface="Times New Roman" panose="02020603050405020304" pitchFamily="18" charset="0"/>
                <a:cs typeface="Times New Roman" panose="02020603050405020304" pitchFamily="18" charset="0"/>
                <a:sym typeface="+mn-ea"/>
              </a:rPr>
              <a:t>吐</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出一条</a:t>
            </a:r>
            <a:endParaRPr lang="zh-CN" altLang="en-US" sz="2000" dirty="0">
              <a:latin typeface="Times New Roman" panose="02020603050405020304" pitchFamily="18" charset="0"/>
              <a:cs typeface="Times New Roman" panose="02020603050405020304" pitchFamily="18" charset="0"/>
            </a:endParaRPr>
          </a:p>
          <a:p>
            <a:pPr algn="l" eaLnBrk="1" latinLnBrk="0" hangingPunct="1">
              <a:spcBef>
                <a:spcPts val="1200"/>
              </a:spcBef>
              <a:buSzTx/>
              <a:buFont typeface="Wingdings" panose="05000000000000000000" pitchFamily="2" charset="2"/>
            </a:pPr>
            <a:r>
              <a:rPr lang="en-US" altLang="zh-CN" sz="2000" dirty="0">
                <a:latin typeface="Times New Roman" panose="02020603050405020304" pitchFamily="18" charset="0"/>
                <a:cs typeface="Times New Roman" panose="02020603050405020304" pitchFamily="18" charset="0"/>
                <a:sym typeface="+mn-ea"/>
              </a:rPr>
              <a:t>超流水线处理机相对于单流水线普通标量处理机的加速比</a:t>
            </a:r>
            <a:endParaRPr lang="en-US" altLang="zh-CN" sz="2000" dirty="0">
              <a:latin typeface="Times New Roman" panose="02020603050405020304" pitchFamily="18" charset="0"/>
              <a:cs typeface="Times New Roman" panose="02020603050405020304" pitchFamily="18" charset="0"/>
            </a:endParaRPr>
          </a:p>
          <a:p>
            <a:pPr eaLnBrk="1" hangingPunct="1">
              <a:buClr>
                <a:srgbClr val="0000FF"/>
              </a:buClr>
              <a:buSzPct val="60000"/>
              <a:buFont typeface="Wingdings" panose="05000000000000000000" pitchFamily="2" charset="2"/>
            </a:pPr>
            <a:endParaRPr lang="zh-CN" altLang="en-US" sz="2000" dirty="0">
              <a:latin typeface="Times New Roman" panose="02020603050405020304" pitchFamily="18" charset="0"/>
              <a:cs typeface="Times New Roman" panose="02020603050405020304" pitchFamily="18" charset="0"/>
            </a:endParaRPr>
          </a:p>
          <a:p>
            <a:pPr eaLnBrk="1" hangingPunct="1">
              <a:buClr>
                <a:srgbClr val="0000FF"/>
              </a:buClr>
              <a:buSzPct val="60000"/>
              <a:buFont typeface="Wingdings" panose="05000000000000000000" pitchFamily="2" charset="2"/>
            </a:pPr>
            <a:endParaRPr lang="zh-CN" altLang="en-US" sz="2000" dirty="0">
              <a:latin typeface="Times New Roman" panose="02020603050405020304" pitchFamily="18" charset="0"/>
              <a:cs typeface="Times New Roman" panose="02020603050405020304" pitchFamily="18" charset="0"/>
            </a:endParaRPr>
          </a:p>
          <a:p>
            <a:pPr eaLnBrk="1" hangingPunct="1">
              <a:buClr>
                <a:srgbClr val="0000FF"/>
              </a:buClr>
              <a:buSzPct val="60000"/>
              <a:buFont typeface="Wingdings" panose="05000000000000000000" pitchFamily="2" charset="2"/>
            </a:pPr>
            <a:endParaRPr lang="zh-CN" altLang="en-US" sz="2000" dirty="0">
              <a:latin typeface="Times New Roman" panose="02020603050405020304" pitchFamily="18" charset="0"/>
              <a:cs typeface="Times New Roman" panose="02020603050405020304" pitchFamily="18" charset="0"/>
            </a:endParaRPr>
          </a:p>
          <a:p>
            <a:pPr algn="l" eaLnBrk="1" hangingPunct="1">
              <a:buSzTx/>
              <a:buFont typeface="Wingdings" panose="05000000000000000000" pitchFamily="2" charset="2"/>
            </a:pPr>
            <a:r>
              <a:rPr lang="en-US" altLang="zh-CN" sz="2000" dirty="0">
                <a:latin typeface="Times New Roman" panose="02020603050405020304" pitchFamily="18" charset="0"/>
                <a:cs typeface="Times New Roman" panose="02020603050405020304" pitchFamily="18" charset="0"/>
                <a:sym typeface="+mn-ea"/>
              </a:rPr>
              <a:t>即</a:t>
            </a:r>
            <a:endParaRPr lang="en-US" altLang="zh-CN" sz="2000" dirty="0">
              <a:latin typeface="Times New Roman" panose="02020603050405020304" pitchFamily="18" charset="0"/>
              <a:cs typeface="Times New Roman" panose="02020603050405020304" pitchFamily="18" charset="0"/>
              <a:sym typeface="+mn-ea"/>
            </a:endParaRPr>
          </a:p>
          <a:p>
            <a:pPr algn="l" eaLnBrk="1" hangingPunct="1">
              <a:buSzTx/>
              <a:buFont typeface="Wingdings" panose="05000000000000000000" pitchFamily="2" charset="2"/>
            </a:pPr>
            <a:endParaRPr lang="en-US" altLang="zh-CN" sz="2000" dirty="0">
              <a:latin typeface="Times New Roman" panose="02020603050405020304" pitchFamily="18" charset="0"/>
              <a:cs typeface="Times New Roman" panose="02020603050405020304" pitchFamily="18" charset="0"/>
            </a:endParaRPr>
          </a:p>
          <a:p>
            <a:pPr algn="l" eaLnBrk="1" hangingPunct="1">
              <a:buSzTx/>
              <a:buFont typeface="Wingdings" panose="05000000000000000000" pitchFamily="2" charset="2"/>
            </a:pPr>
            <a:endParaRPr lang="en-US" altLang="zh-CN" sz="2000" dirty="0">
              <a:latin typeface="Times New Roman" panose="02020603050405020304" pitchFamily="18" charset="0"/>
              <a:cs typeface="Times New Roman" panose="02020603050405020304" pitchFamily="18" charset="0"/>
            </a:endParaRPr>
          </a:p>
          <a:p>
            <a:pPr algn="l" eaLnBrk="1" hangingPunct="1">
              <a:buSzTx/>
              <a:buFont typeface="Wingdings" panose="05000000000000000000" pitchFamily="2" charset="2"/>
            </a:pPr>
            <a:r>
              <a:rPr lang="en-US" altLang="zh-CN" sz="2000" dirty="0">
                <a:latin typeface="Times New Roman" panose="02020603050405020304" pitchFamily="18" charset="0"/>
                <a:cs typeface="Times New Roman" panose="02020603050405020304" pitchFamily="18" charset="0"/>
                <a:sym typeface="+mn-ea"/>
              </a:rPr>
              <a:t>超流水线处理机的加速比的最大值</a:t>
            </a:r>
            <a:endParaRPr lang="en-US" altLang="zh-CN" sz="2000" dirty="0">
              <a:latin typeface="Times New Roman" panose="02020603050405020304" pitchFamily="18" charset="0"/>
              <a:cs typeface="Times New Roman" panose="02020603050405020304" pitchFamily="18" charset="0"/>
            </a:endParaRPr>
          </a:p>
          <a:p>
            <a:pPr lvl="1" eaLnBrk="1" hangingPunct="1">
              <a:buClr>
                <a:schemeClr val="accent1"/>
              </a:buClr>
              <a:buSzPct val="60000"/>
              <a:buFont typeface="Wingdings" panose="05000000000000000000" pitchFamily="2" charset="2"/>
            </a:pPr>
            <a:r>
              <a:rPr lang="en-US" altLang="zh-CN" sz="2000" dirty="0">
                <a:solidFill>
                  <a:schemeClr val="tx2"/>
                </a:solidFill>
                <a:latin typeface="Times New Roman" panose="02020603050405020304" pitchFamily="18" charset="0"/>
                <a:cs typeface="Times New Roman" panose="02020603050405020304" pitchFamily="18" charset="0"/>
                <a:sym typeface="+mn-ea"/>
              </a:rPr>
              <a:t>S(1,n)</a:t>
            </a:r>
            <a:r>
              <a:rPr lang="en-US" altLang="zh-CN" sz="2000" baseline="-25000" dirty="0">
                <a:solidFill>
                  <a:schemeClr val="tx2"/>
                </a:solidFill>
                <a:latin typeface="Times New Roman" panose="02020603050405020304" pitchFamily="18" charset="0"/>
                <a:cs typeface="Times New Roman" panose="02020603050405020304" pitchFamily="18" charset="0"/>
                <a:sym typeface="+mn-ea"/>
              </a:rPr>
              <a:t>MAX </a:t>
            </a:r>
            <a:r>
              <a:rPr lang="en-US" altLang="zh-CN" sz="2000" dirty="0">
                <a:solidFill>
                  <a:schemeClr val="tx2"/>
                </a:solidFill>
                <a:latin typeface="Times New Roman" panose="02020603050405020304" pitchFamily="18" charset="0"/>
                <a:cs typeface="Times New Roman" panose="02020603050405020304" pitchFamily="18" charset="0"/>
                <a:sym typeface="+mn-ea"/>
              </a:rPr>
              <a:t>= n</a:t>
            </a:r>
            <a:endParaRPr lang="en-US" altLang="zh-CN" sz="2000" dirty="0">
              <a:solidFill>
                <a:schemeClr val="tx2"/>
              </a:solidFill>
              <a:latin typeface="Times New Roman" panose="02020603050405020304" pitchFamily="18" charset="0"/>
              <a:cs typeface="Times New Roman" panose="02020603050405020304" pitchFamily="18" charset="0"/>
            </a:endParaRPr>
          </a:p>
          <a:p>
            <a:pPr eaLnBrk="1" latinLnBrk="0" hangingPunct="1">
              <a:spcBef>
                <a:spcPts val="1200"/>
              </a:spcBef>
            </a:pPr>
            <a:endParaRPr lang="en-US" altLang="zh-CN"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261125" name="Object 3"/>
          <p:cNvGraphicFramePr>
            <a:graphicFrameLocks noChangeAspect="1"/>
          </p:cNvGraphicFramePr>
          <p:nvPr>
            <p:custDataLst>
              <p:tags r:id="rId2"/>
            </p:custDataLst>
          </p:nvPr>
        </p:nvGraphicFramePr>
        <p:xfrm>
          <a:off x="2483485" y="1557020"/>
          <a:ext cx="3207385" cy="741045"/>
        </p:xfrm>
        <a:graphic>
          <a:graphicData uri="http://schemas.openxmlformats.org/presentationml/2006/ole">
            <mc:AlternateContent xmlns:mc="http://schemas.openxmlformats.org/markup-compatibility/2006">
              <mc:Choice xmlns:v="urn:schemas-microsoft-com:vml" Requires="v">
                <p:oleObj spid="_x0000_s3079" name="" r:id="rId3" imgW="4356100" imgH="1006475" progId="Equation.3">
                  <p:embed/>
                </p:oleObj>
              </mc:Choice>
              <mc:Fallback>
                <p:oleObj name="" r:id="rId3" imgW="4356100" imgH="1006475" progId="Equation.3">
                  <p:embed/>
                  <p:pic>
                    <p:nvPicPr>
                      <p:cNvPr id="0" name="图片 3156"/>
                      <p:cNvPicPr/>
                      <p:nvPr/>
                    </p:nvPicPr>
                    <p:blipFill>
                      <a:blip r:embed="rId4"/>
                      <a:stretch>
                        <a:fillRect/>
                      </a:stretch>
                    </p:blipFill>
                    <p:spPr>
                      <a:xfrm>
                        <a:off x="2483485" y="1557020"/>
                        <a:ext cx="3207385" cy="741045"/>
                      </a:xfrm>
                      <a:prstGeom prst="rect">
                        <a:avLst/>
                      </a:prstGeom>
                      <a:noFill/>
                      <a:ln w="38100">
                        <a:noFill/>
                        <a:miter/>
                      </a:ln>
                    </p:spPr>
                  </p:pic>
                </p:oleObj>
              </mc:Fallback>
            </mc:AlternateContent>
          </a:graphicData>
        </a:graphic>
      </p:graphicFrame>
      <p:graphicFrame>
        <p:nvGraphicFramePr>
          <p:cNvPr id="261126" name="Object 4"/>
          <p:cNvGraphicFramePr>
            <a:graphicFrameLocks noChangeAspect="1"/>
          </p:cNvGraphicFramePr>
          <p:nvPr>
            <p:custDataLst>
              <p:tags r:id="rId5"/>
            </p:custDataLst>
          </p:nvPr>
        </p:nvGraphicFramePr>
        <p:xfrm>
          <a:off x="2483485" y="3500755"/>
          <a:ext cx="3912235" cy="979805"/>
        </p:xfrm>
        <a:graphic>
          <a:graphicData uri="http://schemas.openxmlformats.org/presentationml/2006/ole">
            <mc:AlternateContent xmlns:mc="http://schemas.openxmlformats.org/markup-compatibility/2006">
              <mc:Choice xmlns:v="urn:schemas-microsoft-com:vml" Requires="v">
                <p:oleObj spid="_x0000_s2" name="" r:id="rId6" imgW="5651500" imgH="1414780" progId="Equation.3">
                  <p:embed/>
                </p:oleObj>
              </mc:Choice>
              <mc:Fallback>
                <p:oleObj name="" r:id="rId6" imgW="5651500" imgH="1414780" progId="Equation.3">
                  <p:embed/>
                  <p:pic>
                    <p:nvPicPr>
                      <p:cNvPr id="0" name="图片 3158"/>
                      <p:cNvPicPr/>
                      <p:nvPr/>
                    </p:nvPicPr>
                    <p:blipFill>
                      <a:blip r:embed="rId7"/>
                      <a:stretch>
                        <a:fillRect/>
                      </a:stretch>
                    </p:blipFill>
                    <p:spPr>
                      <a:xfrm>
                        <a:off x="2483485" y="3500755"/>
                        <a:ext cx="3912235" cy="979805"/>
                      </a:xfrm>
                      <a:prstGeom prst="rect">
                        <a:avLst/>
                      </a:prstGeom>
                      <a:noFill/>
                      <a:ln w="38100">
                        <a:noFill/>
                        <a:miter/>
                      </a:ln>
                    </p:spPr>
                  </p:pic>
                </p:oleObj>
              </mc:Fallback>
            </mc:AlternateContent>
          </a:graphicData>
        </a:graphic>
      </p:graphicFrame>
      <p:graphicFrame>
        <p:nvGraphicFramePr>
          <p:cNvPr id="261127" name="Object 6"/>
          <p:cNvGraphicFramePr>
            <a:graphicFrameLocks noChangeAspect="1"/>
          </p:cNvGraphicFramePr>
          <p:nvPr>
            <p:custDataLst>
              <p:tags r:id="rId8"/>
            </p:custDataLst>
          </p:nvPr>
        </p:nvGraphicFramePr>
        <p:xfrm>
          <a:off x="2483485" y="4725035"/>
          <a:ext cx="2705100" cy="796925"/>
        </p:xfrm>
        <a:graphic>
          <a:graphicData uri="http://schemas.openxmlformats.org/presentationml/2006/ole">
            <mc:AlternateContent xmlns:mc="http://schemas.openxmlformats.org/markup-compatibility/2006">
              <mc:Choice xmlns:v="urn:schemas-microsoft-com:vml" Requires="v">
                <p:oleObj spid="_x0000_s3" name="" r:id="rId9" imgW="2705100" imgH="796925" progId="Equation.3">
                  <p:embed/>
                </p:oleObj>
              </mc:Choice>
              <mc:Fallback>
                <p:oleObj name="" r:id="rId9" imgW="2705100" imgH="796925" progId="Equation.3">
                  <p:embed/>
                  <p:pic>
                    <p:nvPicPr>
                      <p:cNvPr id="0" name="图片 3157"/>
                      <p:cNvPicPr/>
                      <p:nvPr/>
                    </p:nvPicPr>
                    <p:blipFill>
                      <a:blip r:embed="rId10"/>
                      <a:srcRect/>
                      <a:stretch>
                        <a:fillRect/>
                      </a:stretch>
                    </p:blipFill>
                    <p:spPr>
                      <a:xfrm>
                        <a:off x="2483485" y="4725035"/>
                        <a:ext cx="2705100" cy="796925"/>
                      </a:xfrm>
                      <a:prstGeom prst="rect">
                        <a:avLst/>
                      </a:prstGeom>
                      <a:noFill/>
                      <a:ln w="38100">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练习——流水线时空图</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内容占位符 2"/>
          <p:cNvSpPr>
            <a:spLocks noGrp="1"/>
          </p:cNvSpPr>
          <p:nvPr>
            <p:ph idx="1"/>
          </p:nvPr>
        </p:nvSpPr>
        <p:spPr/>
        <p:txBody>
          <a:bodyPr/>
          <a:lstStyle/>
          <a:p>
            <a:r>
              <a:rPr lang="zh-CN" altLang="en-US" sz="2400">
                <a:latin typeface="Times New Roman" panose="02020603050405020304" pitchFamily="18" charset="0"/>
                <a:cs typeface="Times New Roman" panose="02020603050405020304" pitchFamily="18" charset="0"/>
              </a:rPr>
              <a:t>某个流水线由 4 个功能部件组成，每个功能部件的执行时间都为∆t。当连续输入 10 个数据后，停顿 5∆t，又连续输入 10 个数据，如此重复。画出时空图，计算流水线的实际吞吐率、加速比和效率。</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解答</a:t>
            </a:r>
            <a:endParaRPr lang="zh-CN" altLang="en-US"/>
          </a:p>
        </p:txBody>
      </p:sp>
      <p:pic>
        <p:nvPicPr>
          <p:cNvPr id="4" name="图片 3"/>
          <p:cNvPicPr>
            <a:picLocks noChangeAspect="1"/>
          </p:cNvPicPr>
          <p:nvPr/>
        </p:nvPicPr>
        <p:blipFill>
          <a:blip r:embed="rId1"/>
          <a:stretch>
            <a:fillRect/>
          </a:stretch>
        </p:blipFill>
        <p:spPr>
          <a:xfrm>
            <a:off x="457200" y="1628775"/>
            <a:ext cx="8284210" cy="46132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练习——流水线时空图</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内容占位符 2"/>
          <p:cNvSpPr>
            <a:spLocks noGrp="1"/>
          </p:cNvSpPr>
          <p:nvPr>
            <p:ph idx="1"/>
          </p:nvPr>
        </p:nvSpPr>
        <p:spPr>
          <a:xfrm>
            <a:off x="457200" y="1600200"/>
            <a:ext cx="8229600" cy="2935605"/>
          </a:xfrm>
        </p:spPr>
        <p:txBody>
          <a:bodyPr/>
          <a:lstStyle/>
          <a:p>
            <a:r>
              <a:rPr lang="zh-CN" altLang="en-US" sz="2400">
                <a:latin typeface="Times New Roman" panose="02020603050405020304" pitchFamily="18" charset="0"/>
                <a:cs typeface="Times New Roman" panose="02020603050405020304" pitchFamily="18" charset="0"/>
              </a:rPr>
              <a:t>有一条 4 段（S1~S4）组成的数据处理流水线如下图所示。其中，S1、S2和 S3 的执行时间均为∆t，S4 的执行时间为 3∆t。</a:t>
            </a:r>
            <a:endParaRPr lang="zh-CN" altLang="en-US" sz="24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（1）试画出连续处理 4 个数据的处理过程时空图，并求出流水线的实际吞吐率和效率。</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（2）说明消除瓶颈段的两种方法。采取两种方法改造流水线，分别画出改造后的流水线和连续处理 4 个数据的时空图，并求出流水线的实际吞吐率和效率。</a:t>
            </a:r>
            <a:endParaRPr lang="zh-CN" altLang="en-US" sz="20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1532255" y="4664710"/>
            <a:ext cx="6430645" cy="10718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解答</a:t>
            </a:r>
            <a:endParaRPr lang="zh-CN" altLang="en-US"/>
          </a:p>
        </p:txBody>
      </p:sp>
      <p:pic>
        <p:nvPicPr>
          <p:cNvPr id="4" name="内容占位符 3"/>
          <p:cNvPicPr>
            <a:picLocks noGrp="1" noChangeAspect="1"/>
          </p:cNvPicPr>
          <p:nvPr>
            <p:ph idx="1"/>
          </p:nvPr>
        </p:nvPicPr>
        <p:blipFill>
          <a:blip r:embed="rId1"/>
          <a:stretch>
            <a:fillRect/>
          </a:stretch>
        </p:blipFill>
        <p:spPr>
          <a:xfrm>
            <a:off x="1115695" y="2207895"/>
            <a:ext cx="6845300" cy="1839595"/>
          </a:xfrm>
          <a:prstGeom prst="rect">
            <a:avLst/>
          </a:prstGeom>
        </p:spPr>
      </p:pic>
      <p:sp>
        <p:nvSpPr>
          <p:cNvPr id="5" name="矩形 4"/>
          <p:cNvSpPr/>
          <p:nvPr/>
        </p:nvSpPr>
        <p:spPr>
          <a:xfrm>
            <a:off x="323850" y="4258310"/>
            <a:ext cx="7901940" cy="368300"/>
          </a:xfrm>
          <a:prstGeom prst="rect">
            <a:avLst/>
          </a:prstGeom>
        </p:spPr>
        <p:txBody>
          <a:bodyPr vert="horz" wrap="square" rtlCol="0" anchor="t"/>
          <a:lstStyle/>
          <a:p>
            <a:pPr marL="342900" lvl="0" indent="-342900" algn="l">
              <a:spcBef>
                <a:spcPct val="20000"/>
              </a:spcBef>
              <a:buClr>
                <a:schemeClr val="hlink"/>
              </a:buClr>
              <a:buSzTx/>
              <a:buFont typeface="Wingdings" panose="05000000000000000000" pitchFamily="2" charset="2"/>
              <a:buChar char="v"/>
            </a:pPr>
            <a:r>
              <a:rPr lang="zh-CN" altLang="en-US" sz="2400" b="1" kern="0">
                <a:solidFill>
                  <a:schemeClr val="hlink"/>
                </a:solidFill>
                <a:latin typeface="Times New Roman" panose="02020603050405020304" pitchFamily="18" charset="0"/>
                <a:ea typeface="+mn-ea"/>
                <a:cs typeface="Times New Roman" panose="02020603050405020304" pitchFamily="18" charset="0"/>
                <a:sym typeface="+mn-ea"/>
              </a:rPr>
              <a:t>流水线的实际吞吐率和效率分别为</a:t>
            </a:r>
            <a:endParaRPr lang="zh-CN" altLang="en-US" sz="2400" b="1" kern="0">
              <a:solidFill>
                <a:schemeClr val="hlink"/>
              </a:solidFill>
              <a:latin typeface="Times New Roman" panose="02020603050405020304" pitchFamily="18" charset="0"/>
              <a:ea typeface="+mn-ea"/>
              <a:cs typeface="Times New Roman" panose="02020603050405020304" pitchFamily="18" charset="0"/>
              <a:sym typeface="+mn-ea"/>
            </a:endParaRPr>
          </a:p>
        </p:txBody>
      </p:sp>
      <p:pic>
        <p:nvPicPr>
          <p:cNvPr id="6" name="图片 5"/>
          <p:cNvPicPr>
            <a:picLocks noChangeAspect="1"/>
          </p:cNvPicPr>
          <p:nvPr/>
        </p:nvPicPr>
        <p:blipFill>
          <a:blip r:embed="rId2"/>
          <a:stretch>
            <a:fillRect/>
          </a:stretch>
        </p:blipFill>
        <p:spPr>
          <a:xfrm>
            <a:off x="2484120" y="4797425"/>
            <a:ext cx="3655695" cy="1357630"/>
          </a:xfrm>
          <a:prstGeom prst="rect">
            <a:avLst/>
          </a:prstGeom>
        </p:spPr>
      </p:pic>
      <p:sp>
        <p:nvSpPr>
          <p:cNvPr id="7" name="矩形 6"/>
          <p:cNvSpPr/>
          <p:nvPr/>
        </p:nvSpPr>
        <p:spPr>
          <a:xfrm>
            <a:off x="457200" y="1628775"/>
            <a:ext cx="7901940" cy="368300"/>
          </a:xfrm>
          <a:prstGeom prst="rect">
            <a:avLst/>
          </a:prstGeom>
        </p:spPr>
        <p:txBody>
          <a:bodyPr vert="horz" wrap="square" rtlCol="0" anchor="t"/>
          <a:lstStyle/>
          <a:p>
            <a:pPr marL="342900" lvl="0" indent="-342900" algn="l">
              <a:spcBef>
                <a:spcPct val="20000"/>
              </a:spcBef>
              <a:buClr>
                <a:schemeClr val="hlink"/>
              </a:buClr>
              <a:buSzTx/>
              <a:buFont typeface="Wingdings" panose="05000000000000000000" pitchFamily="2" charset="2"/>
              <a:buChar char="v"/>
            </a:pPr>
            <a:r>
              <a:rPr lang="zh-CN" altLang="en-US" sz="2400" b="1" kern="0">
                <a:solidFill>
                  <a:schemeClr val="hlink"/>
                </a:solidFill>
                <a:latin typeface="Times New Roman" panose="02020603050405020304" pitchFamily="18" charset="0"/>
                <a:ea typeface="+mn-ea"/>
                <a:cs typeface="Times New Roman" panose="02020603050405020304" pitchFamily="18" charset="0"/>
                <a:sym typeface="+mn-ea"/>
              </a:rPr>
              <a:t>流水线的时空图：</a:t>
            </a:r>
            <a:endParaRPr lang="zh-CN" altLang="en-US" sz="2400" b="1" kern="0">
              <a:solidFill>
                <a:schemeClr val="hlink"/>
              </a:solidFill>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解答</a:t>
            </a:r>
            <a:endParaRPr lang="zh-CN" altLang="en-US"/>
          </a:p>
        </p:txBody>
      </p:sp>
      <p:sp>
        <p:nvSpPr>
          <p:cNvPr id="7" name="矩形 6"/>
          <p:cNvSpPr/>
          <p:nvPr/>
        </p:nvSpPr>
        <p:spPr>
          <a:xfrm>
            <a:off x="457200" y="1417955"/>
            <a:ext cx="8266430" cy="1844040"/>
          </a:xfrm>
          <a:prstGeom prst="rect">
            <a:avLst/>
          </a:prstGeom>
        </p:spPr>
        <p:txBody>
          <a:bodyPr vert="horz" wrap="square" rtlCol="0" anchor="t"/>
          <a:lstStyle/>
          <a:p>
            <a:pPr marL="342900" lvl="0" indent="-342900" algn="l">
              <a:spcBef>
                <a:spcPct val="20000"/>
              </a:spcBef>
              <a:buClr>
                <a:schemeClr val="hlink"/>
              </a:buClr>
              <a:buSzTx/>
              <a:buFont typeface="Wingdings" panose="05000000000000000000" pitchFamily="2" charset="2"/>
              <a:buChar char="v"/>
            </a:pP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消除流水线瓶颈段的 2 种方法分别是瓶颈段细分和瓶颈段并联。瓶颈段细分是将瓶颈段细分为若干子段，使每个子段不再成为瓶颈。瓶颈段并联是将若干个瓶颈段并联起来，通过资源重复来消除瓶颈。</a:t>
            </a:r>
            <a:endParaRPr lang="zh-CN" altLang="en-US" sz="2000" b="1" kern="0">
              <a:solidFill>
                <a:schemeClr val="hlink"/>
              </a:solidFill>
              <a:latin typeface="Times New Roman" panose="02020603050405020304" pitchFamily="18" charset="0"/>
              <a:ea typeface="+mn-ea"/>
              <a:cs typeface="Times New Roman" panose="02020603050405020304" pitchFamily="18" charset="0"/>
              <a:sym typeface="+mn-ea"/>
            </a:endParaRPr>
          </a:p>
          <a:p>
            <a:pPr marL="914400" lvl="1" indent="-457200" algn="l">
              <a:spcBef>
                <a:spcPts val="1200"/>
              </a:spcBef>
              <a:buClr>
                <a:schemeClr val="hlink"/>
              </a:buClr>
              <a:buSzTx/>
              <a:buFont typeface="+mj-lt"/>
              <a:buAutoNum type="arabicPeriod"/>
            </a:pPr>
            <a:r>
              <a:rPr lang="zh-CN" altLang="en-US" sz="2000" b="1" kern="0">
                <a:solidFill>
                  <a:schemeClr val="accent1"/>
                </a:solidFill>
                <a:latin typeface="Times New Roman" panose="02020603050405020304" pitchFamily="18" charset="0"/>
                <a:ea typeface="+mn-ea"/>
                <a:cs typeface="Times New Roman" panose="02020603050405020304" pitchFamily="18" charset="0"/>
                <a:sym typeface="+mn-ea"/>
              </a:rPr>
              <a:t>瓶颈段细分后的流水线和时空图：</a:t>
            </a:r>
            <a:endParaRPr lang="zh-CN" altLang="en-US" sz="2000" b="1" kern="0">
              <a:solidFill>
                <a:schemeClr val="accent1"/>
              </a:solidFill>
              <a:latin typeface="Times New Roman" panose="02020603050405020304" pitchFamily="18" charset="0"/>
              <a:ea typeface="+mn-ea"/>
              <a:cs typeface="Times New Roman" panose="02020603050405020304" pitchFamily="18" charset="0"/>
              <a:sym typeface="+mn-ea"/>
            </a:endParaRPr>
          </a:p>
          <a:p>
            <a:pPr marL="342900" lvl="0" indent="-342900" algn="l">
              <a:spcBef>
                <a:spcPct val="20000"/>
              </a:spcBef>
              <a:buClr>
                <a:schemeClr val="hlink"/>
              </a:buClr>
              <a:buSzTx/>
              <a:buFont typeface="Wingdings" panose="05000000000000000000" pitchFamily="2" charset="2"/>
              <a:buChar char="v"/>
            </a:pPr>
            <a:endParaRPr lang="zh-CN" altLang="en-US" sz="2000" b="1" kern="0">
              <a:solidFill>
                <a:schemeClr val="accent1"/>
              </a:solidFill>
              <a:latin typeface="Times New Roman" panose="02020603050405020304" pitchFamily="18" charset="0"/>
              <a:ea typeface="+mn-ea"/>
              <a:cs typeface="Times New Roman" panose="02020603050405020304" pitchFamily="18" charset="0"/>
              <a:sym typeface="+mn-ea"/>
            </a:endParaRPr>
          </a:p>
        </p:txBody>
      </p:sp>
      <p:pic>
        <p:nvPicPr>
          <p:cNvPr id="8" name="图片 7"/>
          <p:cNvPicPr>
            <a:picLocks noChangeAspect="1"/>
          </p:cNvPicPr>
          <p:nvPr/>
        </p:nvPicPr>
        <p:blipFill>
          <a:blip r:embed="rId1"/>
          <a:stretch>
            <a:fillRect/>
          </a:stretch>
        </p:blipFill>
        <p:spPr>
          <a:xfrm>
            <a:off x="1475740" y="2997200"/>
            <a:ext cx="5983605" cy="875665"/>
          </a:xfrm>
          <a:prstGeom prst="rect">
            <a:avLst/>
          </a:prstGeom>
        </p:spPr>
      </p:pic>
      <p:pic>
        <p:nvPicPr>
          <p:cNvPr id="9" name="图片 8"/>
          <p:cNvPicPr>
            <a:picLocks noChangeAspect="1"/>
          </p:cNvPicPr>
          <p:nvPr/>
        </p:nvPicPr>
        <p:blipFill>
          <a:blip r:embed="rId2"/>
          <a:stretch>
            <a:fillRect/>
          </a:stretch>
        </p:blipFill>
        <p:spPr>
          <a:xfrm>
            <a:off x="732790" y="4077335"/>
            <a:ext cx="4368165" cy="2120900"/>
          </a:xfrm>
          <a:prstGeom prst="rect">
            <a:avLst/>
          </a:prstGeom>
        </p:spPr>
      </p:pic>
      <p:pic>
        <p:nvPicPr>
          <p:cNvPr id="3" name="图片 2"/>
          <p:cNvPicPr>
            <a:picLocks noChangeAspect="1"/>
          </p:cNvPicPr>
          <p:nvPr/>
        </p:nvPicPr>
        <p:blipFill>
          <a:blip r:embed="rId3"/>
          <a:stretch>
            <a:fillRect/>
          </a:stretch>
        </p:blipFill>
        <p:spPr>
          <a:xfrm>
            <a:off x="5407660" y="4683760"/>
            <a:ext cx="3420745" cy="1485900"/>
          </a:xfrm>
          <a:prstGeom prst="rect">
            <a:avLst/>
          </a:prstGeom>
        </p:spPr>
      </p:pic>
      <p:sp>
        <p:nvSpPr>
          <p:cNvPr id="4" name="文本框 3"/>
          <p:cNvSpPr txBox="1"/>
          <p:nvPr/>
        </p:nvSpPr>
        <p:spPr>
          <a:xfrm>
            <a:off x="5877560" y="4220845"/>
            <a:ext cx="2809240" cy="398780"/>
          </a:xfrm>
          <a:prstGeom prst="rect">
            <a:avLst/>
          </a:prstGeom>
          <a:noFill/>
        </p:spPr>
        <p:txBody>
          <a:bodyPr wrap="square" rtlCol="0">
            <a:spAutoFit/>
          </a:bodyPr>
          <a:lstStyle/>
          <a:p>
            <a:r>
              <a:rPr lang="zh-CN" altLang="en-US" sz="2000" b="1" kern="0">
                <a:solidFill>
                  <a:schemeClr val="accent1"/>
                </a:solidFill>
                <a:latin typeface="Times New Roman" panose="02020603050405020304" pitchFamily="18" charset="0"/>
                <a:ea typeface="+mn-ea"/>
                <a:cs typeface="Times New Roman" panose="02020603050405020304" pitchFamily="18" charset="0"/>
              </a:rPr>
              <a:t>流水线吞吐率和效率：</a:t>
            </a:r>
            <a:endParaRPr lang="zh-CN" altLang="en-US" sz="2000" b="1" kern="0">
              <a:solidFill>
                <a:schemeClr val="accent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解答</a:t>
            </a:r>
            <a:endParaRPr lang="zh-CN" altLang="en-US"/>
          </a:p>
        </p:txBody>
      </p:sp>
      <p:sp>
        <p:nvSpPr>
          <p:cNvPr id="7" name="矩形 6"/>
          <p:cNvSpPr/>
          <p:nvPr/>
        </p:nvSpPr>
        <p:spPr>
          <a:xfrm>
            <a:off x="457200" y="1417955"/>
            <a:ext cx="8266430" cy="1844040"/>
          </a:xfrm>
          <a:prstGeom prst="rect">
            <a:avLst/>
          </a:prstGeom>
        </p:spPr>
        <p:txBody>
          <a:bodyPr vert="horz" wrap="square" rtlCol="0" anchor="t"/>
          <a:lstStyle/>
          <a:p>
            <a:pPr marL="342900" lvl="0" indent="-342900" algn="l">
              <a:spcBef>
                <a:spcPct val="20000"/>
              </a:spcBef>
              <a:buClr>
                <a:schemeClr val="hlink"/>
              </a:buClr>
              <a:buSzTx/>
              <a:buFont typeface="Wingdings" panose="05000000000000000000" pitchFamily="2" charset="2"/>
              <a:buChar char="v"/>
            </a:pP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消除流水线瓶颈段的 2 种方法分别是瓶颈段细分和瓶颈段并联。瓶颈段细分是将瓶颈段细分为若干子段，使每个子段不再成为瓶颈。瓶颈段并联是将若干个瓶颈段并联起来，通过资源重复来消除瓶颈。</a:t>
            </a:r>
            <a:endParaRPr lang="zh-CN" altLang="en-US" sz="2000" b="1" kern="0">
              <a:solidFill>
                <a:schemeClr val="hlink"/>
              </a:solidFill>
              <a:latin typeface="Times New Roman" panose="02020603050405020304" pitchFamily="18" charset="0"/>
              <a:ea typeface="+mn-ea"/>
              <a:cs typeface="Times New Roman" panose="02020603050405020304" pitchFamily="18" charset="0"/>
              <a:sym typeface="+mn-ea"/>
            </a:endParaRPr>
          </a:p>
          <a:p>
            <a:pPr marL="914400" lvl="1" indent="-457200" algn="l">
              <a:spcBef>
                <a:spcPts val="1200"/>
              </a:spcBef>
              <a:buClr>
                <a:schemeClr val="hlink"/>
              </a:buClr>
              <a:buSzTx/>
              <a:buFont typeface="+mj-lt"/>
              <a:buAutoNum type="arabicPeriod"/>
            </a:pPr>
            <a:r>
              <a:rPr lang="zh-CN" altLang="en-US" sz="2000" b="1" kern="0">
                <a:solidFill>
                  <a:schemeClr val="accent1"/>
                </a:solidFill>
                <a:latin typeface="Times New Roman" panose="02020603050405020304" pitchFamily="18" charset="0"/>
                <a:ea typeface="+mn-ea"/>
                <a:cs typeface="Times New Roman" panose="02020603050405020304" pitchFamily="18" charset="0"/>
                <a:sym typeface="+mn-ea"/>
              </a:rPr>
              <a:t>瓶颈段并联后的流水线和时空图：</a:t>
            </a:r>
            <a:endParaRPr lang="zh-CN" altLang="en-US" sz="2000" b="1" kern="0">
              <a:solidFill>
                <a:schemeClr val="accent1"/>
              </a:solidFill>
              <a:latin typeface="Times New Roman" panose="02020603050405020304" pitchFamily="18" charset="0"/>
              <a:ea typeface="+mn-ea"/>
              <a:cs typeface="Times New Roman" panose="02020603050405020304" pitchFamily="18" charset="0"/>
              <a:sym typeface="+mn-ea"/>
            </a:endParaRPr>
          </a:p>
          <a:p>
            <a:pPr marL="342900" lvl="0" indent="-342900" algn="l">
              <a:spcBef>
                <a:spcPct val="20000"/>
              </a:spcBef>
              <a:buClr>
                <a:schemeClr val="hlink"/>
              </a:buClr>
              <a:buSzTx/>
              <a:buFont typeface="Wingdings" panose="05000000000000000000" pitchFamily="2" charset="2"/>
              <a:buChar char="v"/>
            </a:pPr>
            <a:endParaRPr lang="zh-CN" altLang="en-US" sz="2000" b="1" kern="0">
              <a:solidFill>
                <a:schemeClr val="accent1"/>
              </a:solidFill>
              <a:latin typeface="Times New Roman" panose="02020603050405020304" pitchFamily="18" charset="0"/>
              <a:ea typeface="+mn-ea"/>
              <a:cs typeface="Times New Roman" panose="02020603050405020304" pitchFamily="18" charset="0"/>
              <a:sym typeface="+mn-ea"/>
            </a:endParaRPr>
          </a:p>
        </p:txBody>
      </p:sp>
      <p:sp>
        <p:nvSpPr>
          <p:cNvPr id="4" name="文本框 3"/>
          <p:cNvSpPr txBox="1"/>
          <p:nvPr/>
        </p:nvSpPr>
        <p:spPr>
          <a:xfrm>
            <a:off x="5321300" y="3860800"/>
            <a:ext cx="2809240" cy="398780"/>
          </a:xfrm>
          <a:prstGeom prst="rect">
            <a:avLst/>
          </a:prstGeom>
          <a:noFill/>
        </p:spPr>
        <p:txBody>
          <a:bodyPr wrap="square" rtlCol="0">
            <a:spAutoFit/>
          </a:bodyPr>
          <a:lstStyle/>
          <a:p>
            <a:r>
              <a:rPr lang="zh-CN" altLang="en-US" sz="2000" b="1" kern="0">
                <a:solidFill>
                  <a:schemeClr val="accent1"/>
                </a:solidFill>
                <a:latin typeface="Times New Roman" panose="02020603050405020304" pitchFamily="18" charset="0"/>
                <a:ea typeface="+mn-ea"/>
                <a:cs typeface="Times New Roman" panose="02020603050405020304" pitchFamily="18" charset="0"/>
              </a:rPr>
              <a:t>流水线吞吐率和效率：</a:t>
            </a:r>
            <a:endParaRPr lang="zh-CN" altLang="en-US" sz="2000" b="1" kern="0">
              <a:solidFill>
                <a:schemeClr val="accent1"/>
              </a:solidFill>
              <a:latin typeface="Times New Roman" panose="02020603050405020304" pitchFamily="18" charset="0"/>
              <a:ea typeface="+mn-ea"/>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1176020" y="2924810"/>
            <a:ext cx="3503930" cy="1337310"/>
          </a:xfrm>
          <a:prstGeom prst="rect">
            <a:avLst/>
          </a:prstGeom>
        </p:spPr>
      </p:pic>
      <p:pic>
        <p:nvPicPr>
          <p:cNvPr id="6" name="图片 5"/>
          <p:cNvPicPr>
            <a:picLocks noChangeAspect="1"/>
          </p:cNvPicPr>
          <p:nvPr/>
        </p:nvPicPr>
        <p:blipFill>
          <a:blip r:embed="rId2"/>
          <a:stretch>
            <a:fillRect/>
          </a:stretch>
        </p:blipFill>
        <p:spPr>
          <a:xfrm>
            <a:off x="1081405" y="4437380"/>
            <a:ext cx="3598545" cy="1758950"/>
          </a:xfrm>
          <a:prstGeom prst="rect">
            <a:avLst/>
          </a:prstGeom>
        </p:spPr>
      </p:pic>
      <p:pic>
        <p:nvPicPr>
          <p:cNvPr id="10" name="图片 9"/>
          <p:cNvPicPr>
            <a:picLocks noChangeAspect="1"/>
          </p:cNvPicPr>
          <p:nvPr/>
        </p:nvPicPr>
        <p:blipFill>
          <a:blip r:embed="rId3"/>
          <a:stretch>
            <a:fillRect/>
          </a:stretch>
        </p:blipFill>
        <p:spPr>
          <a:xfrm>
            <a:off x="4859655" y="4509135"/>
            <a:ext cx="3732530" cy="109283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标题 1"/>
          <p:cNvSpPr>
            <a:spLocks noGrp="1"/>
          </p:cNvSpPr>
          <p:nvPr>
            <p:ph type="title"/>
          </p:nvPr>
        </p:nvSpPr>
        <p:spPr>
          <a:xfrm>
            <a:off x="457200" y="260350"/>
            <a:ext cx="8281988" cy="583565"/>
          </a:xfrm>
        </p:spPr>
        <p:txBody>
          <a:bodyPr vert="horz" wrap="square" lIns="91440" tIns="45720" rIns="91440" bIns="45720" anchor="t" anchorCtr="0">
            <a:spAutoFit/>
          </a:bodyPr>
          <a:lstStyle/>
          <a:p>
            <a:pPr eaLnBrk="1" hangingPunct="1">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——非线性流水线调度</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9026" name="内容占位符 2"/>
          <p:cNvSpPr>
            <a:spLocks noGrp="1"/>
          </p:cNvSpPr>
          <p:nvPr>
            <p:ph idx="1"/>
          </p:nvPr>
        </p:nvSpPr>
        <p:spPr>
          <a:xfrm>
            <a:off x="457200" y="1220470"/>
            <a:ext cx="8229600" cy="2512695"/>
          </a:xfrm>
        </p:spPr>
        <p:txBody>
          <a:bodyPr vert="horz" wrap="square" lIns="91440" tIns="45720" rIns="91440" bIns="45720" anchor="t" anchorCtr="0"/>
          <a:lstStyle/>
          <a:p>
            <a:pPr eaLnBrk="1" latinLnBrk="0" hangingPunct="1">
              <a:spcBef>
                <a:spcPts val="1200"/>
              </a:spcBef>
              <a:buClr>
                <a:srgbClr val="0000FF"/>
              </a:buClr>
              <a:buSzPct val="60000"/>
              <a:buFont typeface="Wingdings" panose="05000000000000000000" pitchFamily="2" charset="2"/>
            </a:pPr>
            <a:r>
              <a:rPr lang="zh-CN" altLang="en-US" sz="2400" dirty="0">
                <a:latin typeface="Times New Roman" panose="02020603050405020304" pitchFamily="18" charset="0"/>
                <a:cs typeface="Times New Roman" panose="02020603050405020304" pitchFamily="18" charset="0"/>
                <a:sym typeface="+mn-ea"/>
              </a:rPr>
              <a:t>一条有</a:t>
            </a:r>
            <a:r>
              <a:rPr lang="en-US" altLang="zh-CN" sz="2400" dirty="0">
                <a:latin typeface="Times New Roman" panose="02020603050405020304" pitchFamily="18" charset="0"/>
                <a:cs typeface="Times New Roman" panose="02020603050405020304" pitchFamily="18" charset="0"/>
                <a:sym typeface="+mn-ea"/>
              </a:rPr>
              <a:t>4</a:t>
            </a:r>
            <a:r>
              <a:rPr lang="zh-CN" altLang="en-US" sz="2400" dirty="0">
                <a:latin typeface="Times New Roman" panose="02020603050405020304" pitchFamily="18" charset="0"/>
                <a:cs typeface="Times New Roman" panose="02020603050405020304" pitchFamily="18" charset="0"/>
                <a:sym typeface="+mn-ea"/>
              </a:rPr>
              <a:t>个功能段的非线性流水线，每个功能段的延迟时间都相等</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buClr>
                <a:schemeClr val="accent1"/>
              </a:buClr>
              <a:buSzPct val="60000"/>
              <a:buFont typeface="Wingdings" panose="05000000000000000000" pitchFamily="2" charset="2"/>
            </a:pPr>
            <a:r>
              <a:rPr lang="zh-CN" altLang="en-US" sz="2000" dirty="0">
                <a:latin typeface="Times New Roman" panose="02020603050405020304" pitchFamily="18" charset="0"/>
                <a:cs typeface="Times New Roman" panose="02020603050405020304" pitchFamily="18" charset="0"/>
                <a:sym typeface="+mn-ea"/>
              </a:rPr>
              <a:t>写出流水线的禁止向量</a:t>
            </a:r>
            <a:r>
              <a:rPr lang="en-US" altLang="zh-CN" sz="2000" dirty="0">
                <a:latin typeface="Times New Roman" panose="02020603050405020304" pitchFamily="18" charset="0"/>
                <a:cs typeface="Times New Roman" panose="02020603050405020304" pitchFamily="18" charset="0"/>
                <a:sym typeface="+mn-ea"/>
              </a:rPr>
              <a:t>F</a:t>
            </a:r>
            <a:r>
              <a:rPr lang="zh-CN" altLang="en-US" sz="2000" dirty="0">
                <a:latin typeface="Times New Roman" panose="02020603050405020304" pitchFamily="18" charset="0"/>
                <a:cs typeface="Times New Roman" panose="02020603050405020304" pitchFamily="18" charset="0"/>
                <a:sym typeface="+mn-ea"/>
              </a:rPr>
              <a:t>和初始冲突向量</a:t>
            </a:r>
            <a:r>
              <a:rPr lang="en-US" altLang="zh-CN" sz="2000" dirty="0">
                <a:latin typeface="Times New Roman" panose="02020603050405020304" pitchFamily="18" charset="0"/>
                <a:cs typeface="Times New Roman" panose="02020603050405020304" pitchFamily="18" charset="0"/>
                <a:sym typeface="+mn-ea"/>
              </a:rPr>
              <a:t>C</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1200"/>
              </a:spcBef>
              <a:buClr>
                <a:schemeClr val="accent1"/>
              </a:buClr>
              <a:buSzPct val="60000"/>
              <a:buFont typeface="Wingdings" panose="05000000000000000000" pitchFamily="2" charset="2"/>
            </a:pPr>
            <a:r>
              <a:rPr lang="zh-CN" altLang="en-US" sz="2000" dirty="0">
                <a:latin typeface="Times New Roman" panose="02020603050405020304" pitchFamily="18" charset="0"/>
                <a:cs typeface="Times New Roman" panose="02020603050405020304" pitchFamily="18" charset="0"/>
                <a:sym typeface="+mn-ea"/>
              </a:rPr>
              <a:t>画出调度流水线的状态图</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buClr>
                <a:schemeClr val="accent1"/>
              </a:buClr>
              <a:buSzPct val="60000"/>
              <a:buFont typeface="Wingdings" panose="05000000000000000000" pitchFamily="2" charset="2"/>
            </a:pPr>
            <a:r>
              <a:rPr lang="zh-CN" altLang="en-US" sz="2000" dirty="0">
                <a:latin typeface="Times New Roman" panose="02020603050405020304" pitchFamily="18" charset="0"/>
                <a:cs typeface="Times New Roman" panose="02020603050405020304" pitchFamily="18" charset="0"/>
                <a:sym typeface="+mn-ea"/>
              </a:rPr>
              <a:t>求流水线的最小启动循环和最小平均启动距离</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buClr>
                <a:schemeClr val="accent1"/>
              </a:buClr>
              <a:buSzPct val="60000"/>
              <a:buFont typeface="Wingdings" panose="05000000000000000000" pitchFamily="2" charset="2"/>
            </a:pPr>
            <a:r>
              <a:rPr lang="zh-CN" altLang="en-US" sz="2000" dirty="0">
                <a:latin typeface="Times New Roman" panose="02020603050405020304" pitchFamily="18" charset="0"/>
                <a:cs typeface="Times New Roman" panose="02020603050405020304" pitchFamily="18" charset="0"/>
                <a:sym typeface="+mn-ea"/>
              </a:rPr>
              <a:t>求平均启动距离最小的恒定循环</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1"/>
            </p:custDataLst>
          </p:nvPr>
        </p:nvPicPr>
        <p:blipFill>
          <a:blip r:embed="rId2"/>
          <a:stretch>
            <a:fillRect/>
          </a:stretch>
        </p:blipFill>
        <p:spPr>
          <a:xfrm>
            <a:off x="1734185" y="3974465"/>
            <a:ext cx="5464810" cy="239903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标题 1"/>
          <p:cNvSpPr>
            <a:spLocks noGrp="1"/>
          </p:cNvSpPr>
          <p:nvPr>
            <p:ph type="title"/>
          </p:nvPr>
        </p:nvSpPr>
        <p:spPr>
          <a:xfrm>
            <a:off x="395288" y="332423"/>
            <a:ext cx="8229600" cy="583565"/>
          </a:xfrm>
        </p:spPr>
        <p:txBody>
          <a:bodyPr vert="horz" wrap="square" lIns="91440" tIns="45720" rIns="91440" bIns="45720" anchor="t" anchorCtr="0">
            <a:spAutoFit/>
          </a:bodyPr>
          <a:lstStyle/>
          <a:p>
            <a:pPr eaLnBrk="1" hangingPunct="1">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解答</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0050" name="内容占位符 2"/>
          <p:cNvSpPr>
            <a:spLocks noGrp="1"/>
          </p:cNvSpPr>
          <p:nvPr>
            <p:ph idx="1"/>
          </p:nvPr>
        </p:nvSpPr>
        <p:spPr>
          <a:xfrm>
            <a:off x="468313" y="1166813"/>
            <a:ext cx="8229600" cy="4999037"/>
          </a:xfrm>
        </p:spPr>
        <p:txBody>
          <a:bodyPr vert="horz" wrap="square" lIns="91440" tIns="45720" rIns="91440" bIns="45720" anchor="t" anchorCtr="0"/>
          <a:lstStyle/>
          <a:p>
            <a:pPr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1.</a:t>
            </a:r>
            <a:r>
              <a:rPr lang="zh-CN" altLang="en-US" sz="1800" dirty="0">
                <a:latin typeface="Times New Roman" panose="02020603050405020304" pitchFamily="18" charset="0"/>
                <a:cs typeface="Times New Roman" panose="02020603050405020304" pitchFamily="18" charset="0"/>
                <a:sym typeface="+mn-ea"/>
              </a:rPr>
              <a:t>禁止向量为：</a:t>
            </a:r>
            <a:r>
              <a:rPr lang="en-US" altLang="zh-CN" sz="1800" dirty="0">
                <a:latin typeface="Times New Roman" panose="02020603050405020304" pitchFamily="18" charset="0"/>
                <a:cs typeface="Times New Roman" panose="02020603050405020304" pitchFamily="18" charset="0"/>
                <a:sym typeface="+mn-ea"/>
              </a:rPr>
              <a:t>F=(2</a:t>
            </a:r>
            <a:r>
              <a:rPr lang="zh-CN" altLang="en-US" sz="1800" dirty="0">
                <a:latin typeface="Times New Roman" panose="02020603050405020304" pitchFamily="18" charset="0"/>
                <a:cs typeface="Times New Roman" panose="02020603050405020304" pitchFamily="18" charset="0"/>
                <a:sym typeface="+mn-ea"/>
              </a:rPr>
              <a:t>，</a:t>
            </a:r>
            <a:r>
              <a:rPr lang="en-US" altLang="zh-CN" sz="1800" dirty="0">
                <a:latin typeface="Times New Roman" panose="02020603050405020304" pitchFamily="18" charset="0"/>
                <a:cs typeface="Times New Roman" panose="02020603050405020304" pitchFamily="18" charset="0"/>
                <a:sym typeface="+mn-ea"/>
              </a:rPr>
              <a:t>4</a:t>
            </a:r>
            <a:r>
              <a:rPr lang="zh-CN" altLang="en-US" sz="1800" dirty="0">
                <a:latin typeface="Times New Roman" panose="02020603050405020304" pitchFamily="18" charset="0"/>
                <a:cs typeface="Times New Roman" panose="02020603050405020304" pitchFamily="18" charset="0"/>
                <a:sym typeface="+mn-ea"/>
              </a:rPr>
              <a:t>，</a:t>
            </a:r>
            <a:r>
              <a:rPr lang="en-US" altLang="zh-CN" sz="1800" dirty="0">
                <a:latin typeface="Times New Roman" panose="02020603050405020304" pitchFamily="18" charset="0"/>
                <a:cs typeface="Times New Roman" panose="02020603050405020304" pitchFamily="18" charset="0"/>
                <a:sym typeface="+mn-ea"/>
              </a:rPr>
              <a:t>6)</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zh-CN" altLang="en-US" sz="1800" dirty="0">
                <a:latin typeface="Times New Roman" panose="02020603050405020304" pitchFamily="18" charset="0"/>
                <a:cs typeface="Times New Roman" panose="02020603050405020304" pitchFamily="18" charset="0"/>
                <a:sym typeface="+mn-ea"/>
              </a:rPr>
              <a:t>初始冲突向量：</a:t>
            </a:r>
            <a:r>
              <a:rPr lang="en-US" altLang="zh-CN" sz="1800" dirty="0">
                <a:latin typeface="Times New Roman" panose="02020603050405020304" pitchFamily="18" charset="0"/>
                <a:cs typeface="Times New Roman" panose="02020603050405020304" pitchFamily="18" charset="0"/>
                <a:sym typeface="+mn-ea"/>
              </a:rPr>
              <a:t>C=101010			(0)</a:t>
            </a:r>
            <a:endParaRPr lang="en-US" altLang="zh-CN" sz="1800" dirty="0">
              <a:latin typeface="Times New Roman" panose="02020603050405020304" pitchFamily="18" charset="0"/>
              <a:cs typeface="Times New Roman" panose="02020603050405020304" pitchFamily="18" charset="0"/>
            </a:endParaRPr>
          </a:p>
          <a:p>
            <a:pPr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2.</a:t>
            </a:r>
            <a:r>
              <a:rPr lang="zh-CN" altLang="en-US" sz="1800" dirty="0">
                <a:latin typeface="Times New Roman" panose="02020603050405020304" pitchFamily="18" charset="0"/>
                <a:cs typeface="Times New Roman" panose="02020603050405020304" pitchFamily="18" charset="0"/>
                <a:sym typeface="+mn-ea"/>
              </a:rPr>
              <a:t>初始冲突向量逻辑右移</a:t>
            </a:r>
            <a:r>
              <a:rPr lang="en-US" altLang="zh-CN" sz="1800" dirty="0">
                <a:latin typeface="Times New Roman" panose="02020603050405020304" pitchFamily="18" charset="0"/>
                <a:cs typeface="Times New Roman" panose="02020603050405020304" pitchFamily="18" charset="0"/>
                <a:sym typeface="+mn-ea"/>
              </a:rPr>
              <a:t>2</a:t>
            </a:r>
            <a:r>
              <a:rPr lang="zh-CN" altLang="en-US" sz="1800" dirty="0">
                <a:latin typeface="Times New Roman" panose="02020603050405020304" pitchFamily="18" charset="0"/>
                <a:cs typeface="Times New Roman" panose="02020603050405020304" pitchFamily="18" charset="0"/>
                <a:sym typeface="+mn-ea"/>
              </a:rPr>
              <a:t>、</a:t>
            </a:r>
            <a:r>
              <a:rPr lang="en-US" altLang="zh-CN" sz="1800" dirty="0">
                <a:latin typeface="Times New Roman" panose="02020603050405020304" pitchFamily="18" charset="0"/>
                <a:cs typeface="Times New Roman" panose="02020603050405020304" pitchFamily="18" charset="0"/>
                <a:sym typeface="+mn-ea"/>
              </a:rPr>
              <a:t>4</a:t>
            </a:r>
            <a:r>
              <a:rPr lang="zh-CN" altLang="en-US" sz="1800" dirty="0">
                <a:latin typeface="Times New Roman" panose="02020603050405020304" pitchFamily="18" charset="0"/>
                <a:cs typeface="Times New Roman" panose="02020603050405020304" pitchFamily="18" charset="0"/>
                <a:sym typeface="+mn-ea"/>
              </a:rPr>
              <a:t>、</a:t>
            </a:r>
            <a:r>
              <a:rPr lang="en-US" altLang="zh-CN" sz="1800" dirty="0">
                <a:latin typeface="Times New Roman" panose="02020603050405020304" pitchFamily="18" charset="0"/>
                <a:cs typeface="Times New Roman" panose="02020603050405020304" pitchFamily="18" charset="0"/>
                <a:sym typeface="+mn-ea"/>
              </a:rPr>
              <a:t>6</a:t>
            </a:r>
            <a:r>
              <a:rPr lang="zh-CN" altLang="en-US" sz="1800" dirty="0">
                <a:latin typeface="Times New Roman" panose="02020603050405020304" pitchFamily="18" charset="0"/>
                <a:cs typeface="Times New Roman" panose="02020603050405020304" pitchFamily="18" charset="0"/>
                <a:sym typeface="+mn-ea"/>
              </a:rPr>
              <a:t>位时，不作任何处理</a:t>
            </a:r>
            <a:r>
              <a:rPr lang="en-US" altLang="zh-CN" sz="1800" dirty="0">
                <a:latin typeface="Times New Roman" panose="02020603050405020304" pitchFamily="18" charset="0"/>
                <a:cs typeface="Times New Roman" panose="02020603050405020304" pitchFamily="18" charset="0"/>
                <a:sym typeface="+mn-ea"/>
              </a:rPr>
              <a:t>(</a:t>
            </a:r>
            <a:r>
              <a:rPr lang="zh-CN" altLang="en-US" sz="1800" dirty="0">
                <a:solidFill>
                  <a:srgbClr val="FF3300"/>
                </a:solidFill>
                <a:latin typeface="Times New Roman" panose="02020603050405020304" pitchFamily="18" charset="0"/>
                <a:cs typeface="Times New Roman" panose="02020603050405020304" pitchFamily="18" charset="0"/>
                <a:sym typeface="+mn-ea"/>
              </a:rPr>
              <a:t>冲突</a:t>
            </a:r>
            <a:r>
              <a:rPr lang="en-US" altLang="zh-CN" sz="1800" dirty="0">
                <a:latin typeface="Times New Roman" panose="02020603050405020304" pitchFamily="18" charset="0"/>
                <a:cs typeface="Times New Roman" panose="02020603050405020304" pitchFamily="18" charset="0"/>
                <a:sym typeface="+mn-ea"/>
              </a:rPr>
              <a:t>)</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zh-CN" altLang="en-US" sz="1800" dirty="0">
                <a:latin typeface="Times New Roman" panose="02020603050405020304" pitchFamily="18" charset="0"/>
                <a:cs typeface="Times New Roman" panose="02020603050405020304" pitchFamily="18" charset="0"/>
                <a:sym typeface="+mn-ea"/>
              </a:rPr>
              <a:t>逻辑右移</a:t>
            </a:r>
            <a:r>
              <a:rPr lang="en-US" altLang="zh-CN" sz="1800" dirty="0">
                <a:latin typeface="Times New Roman" panose="02020603050405020304" pitchFamily="18" charset="0"/>
                <a:cs typeface="Times New Roman" panose="02020603050405020304" pitchFamily="18" charset="0"/>
                <a:sym typeface="+mn-ea"/>
              </a:rPr>
              <a:t>1</a:t>
            </a:r>
            <a:r>
              <a:rPr lang="zh-CN" altLang="en-US" sz="1800" dirty="0">
                <a:latin typeface="Times New Roman" panose="02020603050405020304" pitchFamily="18" charset="0"/>
                <a:cs typeface="Times New Roman" panose="02020603050405020304" pitchFamily="18" charset="0"/>
                <a:sym typeface="+mn-ea"/>
              </a:rPr>
              <a:t>、</a:t>
            </a:r>
            <a:r>
              <a:rPr lang="en-US" altLang="zh-CN" sz="1800" dirty="0">
                <a:latin typeface="Times New Roman" panose="02020603050405020304" pitchFamily="18" charset="0"/>
                <a:cs typeface="Times New Roman" panose="02020603050405020304" pitchFamily="18" charset="0"/>
                <a:sym typeface="+mn-ea"/>
              </a:rPr>
              <a:t>3</a:t>
            </a:r>
            <a:r>
              <a:rPr lang="zh-CN" altLang="en-US" sz="1800" dirty="0">
                <a:latin typeface="Times New Roman" panose="02020603050405020304" pitchFamily="18" charset="0"/>
                <a:cs typeface="Times New Roman" panose="02020603050405020304" pitchFamily="18" charset="0"/>
                <a:sym typeface="+mn-ea"/>
              </a:rPr>
              <a:t>、</a:t>
            </a:r>
            <a:r>
              <a:rPr lang="en-US" altLang="zh-CN" sz="1800" dirty="0">
                <a:latin typeface="Times New Roman" panose="02020603050405020304" pitchFamily="18" charset="0"/>
                <a:cs typeface="Times New Roman" panose="02020603050405020304" pitchFamily="18" charset="0"/>
                <a:sym typeface="+mn-ea"/>
              </a:rPr>
              <a:t>5</a:t>
            </a:r>
            <a:r>
              <a:rPr lang="zh-CN" altLang="en-US" sz="1800" dirty="0">
                <a:latin typeface="Times New Roman" panose="02020603050405020304" pitchFamily="18" charset="0"/>
                <a:cs typeface="Times New Roman" panose="02020603050405020304" pitchFamily="18" charset="0"/>
                <a:sym typeface="+mn-ea"/>
              </a:rPr>
              <a:t>和大于等于</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时，移出</a:t>
            </a: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，要进行处理</a:t>
            </a:r>
            <a:r>
              <a:rPr lang="en-US" altLang="zh-CN" sz="1800" dirty="0">
                <a:latin typeface="Times New Roman" panose="02020603050405020304" pitchFamily="18" charset="0"/>
                <a:cs typeface="Times New Roman" panose="02020603050405020304" pitchFamily="18" charset="0"/>
                <a:sym typeface="+mn-ea"/>
              </a:rPr>
              <a:t>(</a:t>
            </a:r>
            <a:r>
              <a:rPr lang="zh-CN" altLang="en-US" sz="1800" dirty="0">
                <a:solidFill>
                  <a:srgbClr val="FF3300"/>
                </a:solidFill>
                <a:latin typeface="Times New Roman" panose="02020603050405020304" pitchFamily="18" charset="0"/>
                <a:cs typeface="Times New Roman" panose="02020603050405020304" pitchFamily="18" charset="0"/>
                <a:sym typeface="+mn-ea"/>
              </a:rPr>
              <a:t>叠加</a:t>
            </a:r>
            <a:r>
              <a:rPr lang="en-US" altLang="zh-CN" sz="1800" dirty="0">
                <a:latin typeface="Times New Roman" panose="02020603050405020304" pitchFamily="18" charset="0"/>
                <a:cs typeface="Times New Roman" panose="02020603050405020304" pitchFamily="18" charset="0"/>
                <a:sym typeface="+mn-ea"/>
              </a:rPr>
              <a:t>)</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1</a:t>
            </a:r>
            <a:r>
              <a:rPr lang="zh-CN" altLang="en-US" sz="1800" dirty="0">
                <a:latin typeface="Times New Roman" panose="02020603050405020304" pitchFamily="18" charset="0"/>
                <a:cs typeface="Times New Roman" panose="02020603050405020304" pitchFamily="18" charset="0"/>
                <a:sym typeface="+mn-ea"/>
              </a:rPr>
              <a:t>位之后：</a:t>
            </a:r>
            <a:r>
              <a:rPr lang="en-US" altLang="zh-CN" sz="1800" dirty="0">
                <a:latin typeface="Times New Roman" panose="02020603050405020304" pitchFamily="18" charset="0"/>
                <a:cs typeface="Times New Roman" panose="02020603050405020304" pitchFamily="18" charset="0"/>
                <a:sym typeface="+mn-ea"/>
              </a:rPr>
              <a:t>010101v101010=111111	(0)--1--&gt;(1)</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3</a:t>
            </a:r>
            <a:r>
              <a:rPr lang="zh-CN" altLang="en-US" sz="1800" dirty="0">
                <a:latin typeface="Times New Roman" panose="02020603050405020304" pitchFamily="18" charset="0"/>
                <a:cs typeface="Times New Roman" panose="02020603050405020304" pitchFamily="18" charset="0"/>
                <a:sym typeface="+mn-ea"/>
              </a:rPr>
              <a:t>位之后：</a:t>
            </a:r>
            <a:r>
              <a:rPr lang="en-US" altLang="zh-CN" sz="1800" dirty="0">
                <a:latin typeface="Times New Roman" panose="02020603050405020304" pitchFamily="18" charset="0"/>
                <a:cs typeface="Times New Roman" panose="02020603050405020304" pitchFamily="18" charset="0"/>
                <a:sym typeface="+mn-ea"/>
              </a:rPr>
              <a:t>000101v101010=101111	(0)--3--&gt;(2)</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5</a:t>
            </a:r>
            <a:r>
              <a:rPr lang="zh-CN" altLang="en-US" sz="1800" dirty="0">
                <a:latin typeface="Times New Roman" panose="02020603050405020304" pitchFamily="18" charset="0"/>
                <a:cs typeface="Times New Roman" panose="02020603050405020304" pitchFamily="18" charset="0"/>
                <a:sym typeface="+mn-ea"/>
              </a:rPr>
              <a:t>位之后：</a:t>
            </a:r>
            <a:r>
              <a:rPr lang="en-US" altLang="zh-CN" sz="1800" dirty="0">
                <a:latin typeface="Times New Roman" panose="02020603050405020304" pitchFamily="18" charset="0"/>
                <a:cs typeface="Times New Roman" panose="02020603050405020304" pitchFamily="18" charset="0"/>
                <a:sym typeface="+mn-ea"/>
              </a:rPr>
              <a:t>000001v101010=101011	(0)--5--&gt;(3)</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位或大于</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位后，还原到</a:t>
            </a:r>
            <a:r>
              <a:rPr lang="en-US" altLang="zh-CN" sz="1800" dirty="0">
                <a:latin typeface="Times New Roman" panose="02020603050405020304" pitchFamily="18" charset="0"/>
                <a:cs typeface="Times New Roman" panose="02020603050405020304" pitchFamily="18" charset="0"/>
                <a:sym typeface="+mn-ea"/>
              </a:rPr>
              <a:t>(0)		(0)--7*-&gt;(0)</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(1)</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位或大于</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位后，还原到</a:t>
            </a:r>
            <a:r>
              <a:rPr lang="en-US" altLang="zh-CN" sz="1800" dirty="0">
                <a:latin typeface="Times New Roman" panose="02020603050405020304" pitchFamily="18" charset="0"/>
                <a:cs typeface="Times New Roman" panose="02020603050405020304" pitchFamily="18" charset="0"/>
                <a:sym typeface="+mn-ea"/>
              </a:rPr>
              <a:t>(0)		(1)--7*-&gt;(0)</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(2)</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5</a:t>
            </a:r>
            <a:r>
              <a:rPr lang="zh-CN" altLang="en-US" sz="1800" dirty="0">
                <a:latin typeface="Times New Roman" panose="02020603050405020304" pitchFamily="18" charset="0"/>
                <a:cs typeface="Times New Roman" panose="02020603050405020304" pitchFamily="18" charset="0"/>
                <a:sym typeface="+mn-ea"/>
              </a:rPr>
              <a:t>位之后：</a:t>
            </a:r>
            <a:r>
              <a:rPr lang="en-US" altLang="zh-CN" sz="1800" dirty="0">
                <a:latin typeface="Times New Roman" panose="02020603050405020304" pitchFamily="18" charset="0"/>
                <a:cs typeface="Times New Roman" panose="02020603050405020304" pitchFamily="18" charset="0"/>
                <a:sym typeface="+mn-ea"/>
              </a:rPr>
              <a:t>000001v101010=101011	(2)--5--&gt;(3)</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(2)</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位或大于</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位后，还原到</a:t>
            </a:r>
            <a:r>
              <a:rPr lang="en-US" altLang="zh-CN" sz="1800" dirty="0">
                <a:latin typeface="Times New Roman" panose="02020603050405020304" pitchFamily="18" charset="0"/>
                <a:cs typeface="Times New Roman" panose="02020603050405020304" pitchFamily="18" charset="0"/>
                <a:sym typeface="+mn-ea"/>
              </a:rPr>
              <a:t>(0)		(2)--7*-&gt;(0)</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(3)</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3</a:t>
            </a:r>
            <a:r>
              <a:rPr lang="zh-CN" altLang="en-US" sz="1800" dirty="0">
                <a:latin typeface="Times New Roman" panose="02020603050405020304" pitchFamily="18" charset="0"/>
                <a:cs typeface="Times New Roman" panose="02020603050405020304" pitchFamily="18" charset="0"/>
                <a:sym typeface="+mn-ea"/>
              </a:rPr>
              <a:t>位之后：</a:t>
            </a:r>
            <a:r>
              <a:rPr lang="en-US" altLang="zh-CN" sz="1800" dirty="0">
                <a:latin typeface="Times New Roman" panose="02020603050405020304" pitchFamily="18" charset="0"/>
                <a:cs typeface="Times New Roman" panose="02020603050405020304" pitchFamily="18" charset="0"/>
                <a:sym typeface="+mn-ea"/>
              </a:rPr>
              <a:t>000101v101010=101111	(3)--3--&gt;(2)</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(3)</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5</a:t>
            </a:r>
            <a:r>
              <a:rPr lang="zh-CN" altLang="en-US" sz="1800" dirty="0">
                <a:latin typeface="Times New Roman" panose="02020603050405020304" pitchFamily="18" charset="0"/>
                <a:cs typeface="Times New Roman" panose="02020603050405020304" pitchFamily="18" charset="0"/>
                <a:sym typeface="+mn-ea"/>
              </a:rPr>
              <a:t>位之后：</a:t>
            </a:r>
            <a:r>
              <a:rPr lang="en-US" altLang="zh-CN" sz="1800" dirty="0">
                <a:latin typeface="Times New Roman" panose="02020603050405020304" pitchFamily="18" charset="0"/>
                <a:cs typeface="Times New Roman" panose="02020603050405020304" pitchFamily="18" charset="0"/>
                <a:sym typeface="+mn-ea"/>
              </a:rPr>
              <a:t>000001v101010=101011	(3)--5--&gt;(3)</a:t>
            </a:r>
            <a:endParaRPr lang="en-US" altLang="zh-CN" sz="1800" dirty="0">
              <a:latin typeface="Times New Roman" panose="02020603050405020304" pitchFamily="18" charset="0"/>
              <a:cs typeface="Times New Roman" panose="02020603050405020304" pitchFamily="18" charset="0"/>
            </a:endParaRPr>
          </a:p>
          <a:p>
            <a:pPr lvl="1" eaLnBrk="1" hangingPunct="1">
              <a:lnSpc>
                <a:spcPct val="85000"/>
              </a:lnSpc>
            </a:pPr>
            <a:r>
              <a:rPr lang="en-US" altLang="zh-CN" sz="1800" dirty="0">
                <a:latin typeface="Times New Roman" panose="02020603050405020304" pitchFamily="18" charset="0"/>
                <a:cs typeface="Times New Roman" panose="02020603050405020304" pitchFamily="18" charset="0"/>
                <a:sym typeface="+mn-ea"/>
              </a:rPr>
              <a:t>(3)</a:t>
            </a:r>
            <a:r>
              <a:rPr lang="zh-CN" altLang="en-US" sz="1800" dirty="0">
                <a:latin typeface="Times New Roman" panose="02020603050405020304" pitchFamily="18" charset="0"/>
                <a:cs typeface="Times New Roman" panose="02020603050405020304" pitchFamily="18" charset="0"/>
                <a:sym typeface="+mn-ea"/>
              </a:rPr>
              <a:t>右移</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位或大于</a:t>
            </a:r>
            <a:r>
              <a:rPr lang="en-US" altLang="zh-CN" sz="1800" dirty="0">
                <a:latin typeface="Times New Roman" panose="02020603050405020304" pitchFamily="18" charset="0"/>
                <a:cs typeface="Times New Roman" panose="02020603050405020304" pitchFamily="18" charset="0"/>
                <a:sym typeface="+mn-ea"/>
              </a:rPr>
              <a:t>7</a:t>
            </a:r>
            <a:r>
              <a:rPr lang="zh-CN" altLang="en-US" sz="1800" dirty="0">
                <a:latin typeface="Times New Roman" panose="02020603050405020304" pitchFamily="18" charset="0"/>
                <a:cs typeface="Times New Roman" panose="02020603050405020304" pitchFamily="18" charset="0"/>
                <a:sym typeface="+mn-ea"/>
              </a:rPr>
              <a:t>位后，还原到</a:t>
            </a:r>
            <a:r>
              <a:rPr lang="en-US" altLang="zh-CN" sz="1800" dirty="0">
                <a:latin typeface="Times New Roman" panose="02020603050405020304" pitchFamily="18" charset="0"/>
                <a:cs typeface="Times New Roman" panose="02020603050405020304" pitchFamily="18" charset="0"/>
                <a:sym typeface="+mn-ea"/>
              </a:rPr>
              <a:t>(0)		(3)--7*-&gt;(0)</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标题 1"/>
          <p:cNvSpPr>
            <a:spLocks noGrp="1"/>
          </p:cNvSpPr>
          <p:nvPr>
            <p:ph type="title"/>
          </p:nvPr>
        </p:nvSpPr>
        <p:spPr>
          <a:xfrm>
            <a:off x="395288" y="260350"/>
            <a:ext cx="8281987" cy="583565"/>
          </a:xfrm>
        </p:spPr>
        <p:txBody>
          <a:bodyPr vert="horz" wrap="square" lIns="91440" tIns="45720" rIns="91440" bIns="45720" anchor="t" anchorCtr="0">
            <a:spAutoFit/>
          </a:bodyPr>
          <a:lstStyle/>
          <a:p>
            <a:pPr algn="l" eaLnBrk="1" hangingPunct="1">
              <a:buClrTx/>
              <a:buSzTx/>
              <a:buFontTx/>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解答</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1074" name="内容占位符 2"/>
          <p:cNvSpPr>
            <a:spLocks noGrp="1"/>
          </p:cNvSpPr>
          <p:nvPr>
            <p:ph idx="1"/>
          </p:nvPr>
        </p:nvSpPr>
        <p:spPr>
          <a:xfrm>
            <a:off x="323850" y="1576070"/>
            <a:ext cx="3215640" cy="4448175"/>
          </a:xfrm>
        </p:spPr>
        <p:txBody>
          <a:bodyPr vert="horz" wrap="square" lIns="91440" tIns="45720" rIns="91440" bIns="45720" anchor="t" anchorCtr="0"/>
          <a:lstStyle/>
          <a:p>
            <a:pPr latinLnBrk="0">
              <a:lnSpc>
                <a:spcPct val="100000"/>
              </a:lnSpc>
              <a:spcBef>
                <a:spcPts val="1200"/>
              </a:spcBef>
            </a:pPr>
            <a:r>
              <a:rPr lang="en-US" altLang="zh-CN" sz="2400" dirty="0">
                <a:solidFill>
                  <a:srgbClr val="4844EE"/>
                </a:solidFill>
                <a:latin typeface="Times New Roman" panose="02020603050405020304" pitchFamily="18" charset="0"/>
                <a:cs typeface="Times New Roman" panose="02020603050405020304" pitchFamily="18" charset="0"/>
                <a:sym typeface="+mn-ea"/>
              </a:rPr>
              <a:t>7*</a:t>
            </a:r>
            <a:r>
              <a:rPr lang="zh-CN" altLang="en-US" sz="2400" dirty="0">
                <a:solidFill>
                  <a:srgbClr val="4844EE"/>
                </a:solidFill>
                <a:latin typeface="Times New Roman" panose="02020603050405020304" pitchFamily="18" charset="0"/>
                <a:cs typeface="Times New Roman" panose="02020603050405020304" pitchFamily="18" charset="0"/>
                <a:sym typeface="+mn-ea"/>
              </a:rPr>
              <a:t>表示大于等于</a:t>
            </a:r>
            <a:r>
              <a:rPr lang="en-US" altLang="zh-CN" sz="2400" dirty="0">
                <a:solidFill>
                  <a:srgbClr val="4844EE"/>
                </a:solidFill>
                <a:latin typeface="Times New Roman" panose="02020603050405020304" pitchFamily="18" charset="0"/>
                <a:cs typeface="Times New Roman" panose="02020603050405020304" pitchFamily="18" charset="0"/>
                <a:sym typeface="+mn-ea"/>
              </a:rPr>
              <a:t>7</a:t>
            </a:r>
            <a:endParaRPr lang="en-US" altLang="zh-CN" sz="2400" dirty="0">
              <a:solidFill>
                <a:srgbClr val="4844EE"/>
              </a:solidFill>
              <a:latin typeface="Times New Roman" panose="02020603050405020304" pitchFamily="18" charset="0"/>
              <a:cs typeface="Times New Roman" panose="02020603050405020304" pitchFamily="18" charset="0"/>
            </a:endParaRPr>
          </a:p>
          <a:p>
            <a:pPr latinLnBrk="0">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右移</a:t>
            </a:r>
            <a:r>
              <a:rPr lang="en-US" altLang="zh-CN" sz="2400" dirty="0">
                <a:latin typeface="Times New Roman" panose="02020603050405020304" pitchFamily="18" charset="0"/>
                <a:cs typeface="Times New Roman" panose="02020603050405020304" pitchFamily="18" charset="0"/>
                <a:sym typeface="+mn-ea"/>
              </a:rPr>
              <a:t>2</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4</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6</a:t>
            </a:r>
            <a:r>
              <a:rPr lang="zh-CN" altLang="en-US" sz="2400" dirty="0">
                <a:latin typeface="Times New Roman" panose="02020603050405020304" pitchFamily="18" charset="0"/>
                <a:cs typeface="Times New Roman" panose="02020603050405020304" pitchFamily="18" charset="0"/>
                <a:sym typeface="+mn-ea"/>
              </a:rPr>
              <a:t>位，移出位为</a:t>
            </a:r>
            <a:r>
              <a:rPr lang="en-US" altLang="zh-CN" sz="24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，表示用这些启动距离输入新任务要发生冲突，不做任何处理</a:t>
            </a:r>
            <a:endParaRPr lang="zh-CN" altLang="en-US" sz="2400" dirty="0">
              <a:latin typeface="Times New Roman" panose="02020603050405020304" pitchFamily="18" charset="0"/>
              <a:cs typeface="Times New Roman" panose="02020603050405020304" pitchFamily="18" charset="0"/>
            </a:endParaRPr>
          </a:p>
          <a:p>
            <a:pPr latinLnBrk="0">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右移</a:t>
            </a:r>
            <a:r>
              <a:rPr lang="en-US" altLang="zh-CN" sz="24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3</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5</a:t>
            </a:r>
            <a:r>
              <a:rPr lang="zh-CN" altLang="en-US" sz="2400" dirty="0">
                <a:latin typeface="Times New Roman" panose="02020603050405020304" pitchFamily="18" charset="0"/>
                <a:cs typeface="Times New Roman" panose="02020603050405020304" pitchFamily="18" charset="0"/>
                <a:sym typeface="+mn-ea"/>
              </a:rPr>
              <a:t>和大于等于</a:t>
            </a:r>
            <a:r>
              <a:rPr lang="en-US" altLang="zh-CN" sz="2400" dirty="0">
                <a:latin typeface="Times New Roman" panose="02020603050405020304" pitchFamily="18" charset="0"/>
                <a:cs typeface="Times New Roman" panose="02020603050405020304" pitchFamily="18" charset="0"/>
                <a:sym typeface="+mn-ea"/>
              </a:rPr>
              <a:t>7</a:t>
            </a:r>
            <a:r>
              <a:rPr lang="zh-CN" altLang="en-US" sz="2400" dirty="0">
                <a:latin typeface="Times New Roman" panose="02020603050405020304" pitchFamily="18" charset="0"/>
                <a:cs typeface="Times New Roman" panose="02020603050405020304" pitchFamily="18" charset="0"/>
                <a:sym typeface="+mn-ea"/>
              </a:rPr>
              <a:t>位，移出位是</a:t>
            </a:r>
            <a:r>
              <a:rPr lang="en-US" altLang="zh-CN" sz="2400" dirty="0">
                <a:latin typeface="Times New Roman" panose="02020603050405020304" pitchFamily="18" charset="0"/>
                <a:cs typeface="Times New Roman" panose="02020603050405020304" pitchFamily="18" charset="0"/>
                <a:sym typeface="+mn-ea"/>
              </a:rPr>
              <a:t>0</a:t>
            </a:r>
            <a:r>
              <a:rPr lang="zh-CN" altLang="en-US" sz="2400" dirty="0">
                <a:latin typeface="Times New Roman" panose="02020603050405020304" pitchFamily="18" charset="0"/>
                <a:cs typeface="Times New Roman" panose="02020603050405020304" pitchFamily="18" charset="0"/>
                <a:sym typeface="+mn-ea"/>
              </a:rPr>
              <a:t>，表示用这些启动距离输入新任务不会发生冲突</a:t>
            </a:r>
            <a:endParaRPr lang="zh-CN" altLang="en-US" sz="2400" dirty="0">
              <a:latin typeface="Times New Roman" panose="02020603050405020304" pitchFamily="18" charset="0"/>
              <a:cs typeface="Times New Roman" panose="02020603050405020304" pitchFamily="18" charset="0"/>
            </a:endParaRPr>
          </a:p>
          <a:p>
            <a:pPr>
              <a:lnSpc>
                <a:spcPct val="150000"/>
              </a:lnSpc>
            </a:pP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19817" name="Group 37"/>
          <p:cNvGrpSpPr/>
          <p:nvPr/>
        </p:nvGrpSpPr>
        <p:grpSpPr>
          <a:xfrm>
            <a:off x="3755390" y="1649730"/>
            <a:ext cx="5153025" cy="4374697"/>
            <a:chOff x="1338" y="288"/>
            <a:chExt cx="4128" cy="3412"/>
          </a:xfrm>
        </p:grpSpPr>
        <p:grpSp>
          <p:nvGrpSpPr>
            <p:cNvPr id="119822" name="Group 38"/>
            <p:cNvGrpSpPr/>
            <p:nvPr/>
          </p:nvGrpSpPr>
          <p:grpSpPr>
            <a:xfrm>
              <a:off x="1338" y="619"/>
              <a:ext cx="4128" cy="2812"/>
              <a:chOff x="1338" y="527"/>
              <a:chExt cx="4128" cy="2812"/>
            </a:xfrm>
          </p:grpSpPr>
          <p:sp>
            <p:nvSpPr>
              <p:cNvPr id="119827" name="Text Box 39"/>
              <p:cNvSpPr txBox="1"/>
              <p:nvPr>
                <p:custDataLst>
                  <p:tags r:id="rId1"/>
                </p:custDataLst>
              </p:nvPr>
            </p:nvSpPr>
            <p:spPr>
              <a:xfrm>
                <a:off x="2066" y="527"/>
                <a:ext cx="1026" cy="359"/>
              </a:xfrm>
              <a:prstGeom prst="rect">
                <a:avLst/>
              </a:prstGeom>
              <a:noFill/>
              <a:ln w="9525" cap="flat" cmpd="sng">
                <a:solidFill>
                  <a:schemeClr val="tx1"/>
                </a:solidFill>
                <a:prstDash val="solid"/>
                <a:miter/>
                <a:headEnd type="none" w="med" len="med"/>
                <a:tailEnd type="none" w="med" len="med"/>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algn="ctr" eaLnBrk="1" hangingPunct="1">
                  <a:spcBef>
                    <a:spcPct val="50000"/>
                  </a:spcBef>
                  <a:buClrTx/>
                  <a:buSzTx/>
                  <a:buFontTx/>
                  <a:buNone/>
                </a:pPr>
                <a:r>
                  <a:rPr lang="en-US" altLang="zh-CN" dirty="0"/>
                  <a:t>101010</a:t>
                </a:r>
                <a:endParaRPr lang="en-US" altLang="zh-CN" dirty="0"/>
              </a:p>
            </p:txBody>
          </p:sp>
          <p:sp>
            <p:nvSpPr>
              <p:cNvPr id="119828" name="Text Box 40"/>
              <p:cNvSpPr txBox="1"/>
              <p:nvPr>
                <p:custDataLst>
                  <p:tags r:id="rId2"/>
                </p:custDataLst>
              </p:nvPr>
            </p:nvSpPr>
            <p:spPr>
              <a:xfrm>
                <a:off x="1527" y="1669"/>
                <a:ext cx="1079" cy="359"/>
              </a:xfrm>
              <a:prstGeom prst="rect">
                <a:avLst/>
              </a:prstGeom>
              <a:noFill/>
              <a:ln w="9525" cap="flat" cmpd="sng">
                <a:solidFill>
                  <a:schemeClr val="tx1"/>
                </a:solidFill>
                <a:prstDash val="solid"/>
                <a:miter/>
                <a:headEnd type="none" w="med" len="med"/>
                <a:tailEnd type="none" w="med" len="med"/>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algn="ctr" eaLnBrk="1" hangingPunct="1">
                  <a:spcBef>
                    <a:spcPct val="50000"/>
                  </a:spcBef>
                  <a:buClrTx/>
                  <a:buSzTx/>
                  <a:buFontTx/>
                  <a:buNone/>
                </a:pPr>
                <a:r>
                  <a:rPr lang="en-US" altLang="zh-CN" dirty="0"/>
                  <a:t>111111</a:t>
                </a:r>
                <a:endParaRPr lang="en-US" altLang="zh-CN" dirty="0"/>
              </a:p>
            </p:txBody>
          </p:sp>
          <p:sp>
            <p:nvSpPr>
              <p:cNvPr id="119829" name="Text Box 41"/>
              <p:cNvSpPr txBox="1"/>
              <p:nvPr>
                <p:custDataLst>
                  <p:tags r:id="rId3"/>
                </p:custDataLst>
              </p:nvPr>
            </p:nvSpPr>
            <p:spPr>
              <a:xfrm>
                <a:off x="3308" y="1669"/>
                <a:ext cx="917" cy="359"/>
              </a:xfrm>
              <a:prstGeom prst="rect">
                <a:avLst/>
              </a:prstGeom>
              <a:noFill/>
              <a:ln w="9525" cap="flat" cmpd="sng">
                <a:solidFill>
                  <a:schemeClr val="tx1"/>
                </a:solidFill>
                <a:prstDash val="solid"/>
                <a:miter/>
                <a:headEnd type="none" w="med" len="med"/>
                <a:tailEnd type="none" w="med" len="med"/>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algn="ctr" eaLnBrk="1" hangingPunct="1">
                  <a:spcBef>
                    <a:spcPct val="50000"/>
                  </a:spcBef>
                  <a:buClrTx/>
                  <a:buSzTx/>
                  <a:buFontTx/>
                  <a:buNone/>
                </a:pPr>
                <a:r>
                  <a:rPr lang="en-US" altLang="zh-CN" dirty="0"/>
                  <a:t>101111</a:t>
                </a:r>
                <a:endParaRPr lang="en-US" altLang="zh-CN" dirty="0"/>
              </a:p>
            </p:txBody>
          </p:sp>
          <p:sp>
            <p:nvSpPr>
              <p:cNvPr id="119830" name="Text Box 42"/>
              <p:cNvSpPr txBox="1"/>
              <p:nvPr>
                <p:custDataLst>
                  <p:tags r:id="rId4"/>
                </p:custDataLst>
              </p:nvPr>
            </p:nvSpPr>
            <p:spPr>
              <a:xfrm>
                <a:off x="2660" y="2812"/>
                <a:ext cx="1025" cy="359"/>
              </a:xfrm>
              <a:prstGeom prst="rect">
                <a:avLst/>
              </a:prstGeom>
              <a:noFill/>
              <a:ln w="9525" cap="flat" cmpd="sng">
                <a:solidFill>
                  <a:schemeClr val="tx1"/>
                </a:solidFill>
                <a:prstDash val="solid"/>
                <a:miter/>
                <a:headEnd type="none" w="med" len="med"/>
                <a:tailEnd type="none" w="med" len="med"/>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algn="ctr" eaLnBrk="1" hangingPunct="1">
                  <a:spcBef>
                    <a:spcPct val="50000"/>
                  </a:spcBef>
                  <a:buClrTx/>
                  <a:buSzTx/>
                  <a:buFontTx/>
                  <a:buNone/>
                </a:pPr>
                <a:r>
                  <a:rPr lang="en-US" altLang="zh-CN" dirty="0"/>
                  <a:t>101011</a:t>
                </a:r>
                <a:endParaRPr lang="en-US" altLang="zh-CN" dirty="0"/>
              </a:p>
            </p:txBody>
          </p:sp>
          <p:sp>
            <p:nvSpPr>
              <p:cNvPr id="119831" name="Line 43"/>
              <p:cNvSpPr/>
              <p:nvPr>
                <p:custDataLst>
                  <p:tags r:id="rId5"/>
                </p:custDataLst>
              </p:nvPr>
            </p:nvSpPr>
            <p:spPr>
              <a:xfrm flipH="1">
                <a:off x="1904" y="799"/>
                <a:ext cx="522" cy="870"/>
              </a:xfrm>
              <a:prstGeom prst="line">
                <a:avLst/>
              </a:prstGeom>
              <a:ln w="9525" cap="flat" cmpd="sng">
                <a:solidFill>
                  <a:schemeClr val="tx1"/>
                </a:solidFill>
                <a:prstDash val="solid"/>
                <a:miter/>
                <a:headEnd type="none" w="med" len="med"/>
                <a:tailEnd type="triangle" w="lg" len="lg"/>
              </a:ln>
            </p:spPr>
            <p:txBody>
              <a:bodyPr/>
              <a:lstStyle/>
              <a:p>
                <a:endParaRPr lang="zh-CN" altLang="en-US"/>
              </a:p>
            </p:txBody>
          </p:sp>
          <p:sp>
            <p:nvSpPr>
              <p:cNvPr id="119832" name="Line 44"/>
              <p:cNvSpPr/>
              <p:nvPr>
                <p:custDataLst>
                  <p:tags r:id="rId6"/>
                </p:custDataLst>
              </p:nvPr>
            </p:nvSpPr>
            <p:spPr>
              <a:xfrm>
                <a:off x="2835" y="799"/>
                <a:ext cx="680" cy="862"/>
              </a:xfrm>
              <a:prstGeom prst="line">
                <a:avLst/>
              </a:prstGeom>
              <a:ln w="9525" cap="flat" cmpd="sng">
                <a:solidFill>
                  <a:schemeClr val="tx1"/>
                </a:solidFill>
                <a:prstDash val="solid"/>
                <a:miter/>
                <a:headEnd type="none" w="med" len="med"/>
                <a:tailEnd type="triangle" w="lg" len="lg"/>
              </a:ln>
            </p:spPr>
            <p:txBody>
              <a:bodyPr/>
              <a:lstStyle/>
              <a:p>
                <a:endParaRPr lang="zh-CN" altLang="en-US"/>
              </a:p>
            </p:txBody>
          </p:sp>
          <p:sp>
            <p:nvSpPr>
              <p:cNvPr id="119833" name="Line 45"/>
              <p:cNvSpPr/>
              <p:nvPr>
                <p:custDataLst>
                  <p:tags r:id="rId7"/>
                </p:custDataLst>
              </p:nvPr>
            </p:nvSpPr>
            <p:spPr>
              <a:xfrm>
                <a:off x="2653" y="799"/>
                <a:ext cx="439" cy="2013"/>
              </a:xfrm>
              <a:prstGeom prst="line">
                <a:avLst/>
              </a:prstGeom>
              <a:ln w="9525" cap="flat" cmpd="sng">
                <a:solidFill>
                  <a:schemeClr val="tx1"/>
                </a:solidFill>
                <a:prstDash val="solid"/>
                <a:miter/>
                <a:headEnd type="none" w="med" len="med"/>
                <a:tailEnd type="triangle" w="lg" len="lg"/>
              </a:ln>
            </p:spPr>
            <p:txBody>
              <a:bodyPr/>
              <a:lstStyle/>
              <a:p>
                <a:endParaRPr lang="zh-CN" altLang="en-US"/>
              </a:p>
            </p:txBody>
          </p:sp>
          <p:sp>
            <p:nvSpPr>
              <p:cNvPr id="119834" name="Freeform 46"/>
              <p:cNvSpPr/>
              <p:nvPr>
                <p:custDataLst>
                  <p:tags r:id="rId8"/>
                </p:custDataLst>
              </p:nvPr>
            </p:nvSpPr>
            <p:spPr>
              <a:xfrm>
                <a:off x="1338" y="628"/>
                <a:ext cx="728" cy="1041"/>
              </a:xfrm>
              <a:custGeom>
                <a:avLst/>
                <a:gdLst/>
                <a:ahLst/>
                <a:cxnLst>
                  <a:cxn ang="0">
                    <a:pos x="295548" y="2147483646"/>
                  </a:cxn>
                  <a:cxn ang="0">
                    <a:pos x="19473" y="1921634686"/>
                  </a:cxn>
                  <a:cxn ang="0">
                    <a:pos x="178072" y="304997616"/>
                  </a:cxn>
                  <a:cxn ang="0">
                    <a:pos x="532609" y="101950833"/>
                  </a:cxn>
                </a:cxnLst>
                <a:rect l="0" t="0" r="0" b="0"/>
                <a:pathLst>
                  <a:path w="612" h="703">
                    <a:moveTo>
                      <a:pt x="340" y="703"/>
                    </a:moveTo>
                    <a:cubicBezTo>
                      <a:pt x="193" y="620"/>
                      <a:pt x="46" y="537"/>
                      <a:pt x="23" y="431"/>
                    </a:cubicBezTo>
                    <a:cubicBezTo>
                      <a:pt x="0" y="325"/>
                      <a:pt x="106" y="136"/>
                      <a:pt x="204" y="68"/>
                    </a:cubicBezTo>
                    <a:cubicBezTo>
                      <a:pt x="302" y="0"/>
                      <a:pt x="544" y="30"/>
                      <a:pt x="612" y="23"/>
                    </a:cubicBezTo>
                  </a:path>
                </a:pathLst>
              </a:custGeom>
              <a:noFill/>
              <a:ln w="9525" cap="flat" cmpd="sng">
                <a:solidFill>
                  <a:schemeClr val="tx1">
                    <a:alpha val="100000"/>
                  </a:schemeClr>
                </a:solidFill>
                <a:prstDash val="solid"/>
                <a:miter lim="800000"/>
                <a:headEnd type="none" w="med" len="med"/>
                <a:tailEnd type="triangle" w="lg" len="lg"/>
              </a:ln>
            </p:spPr>
            <p:txBody>
              <a:bodyPr/>
              <a:lstStyle/>
              <a:p>
                <a:endParaRPr lang="zh-CN" altLang="en-US"/>
              </a:p>
            </p:txBody>
          </p:sp>
          <p:sp>
            <p:nvSpPr>
              <p:cNvPr id="119835" name="Line 47"/>
              <p:cNvSpPr/>
              <p:nvPr>
                <p:custDataLst>
                  <p:tags r:id="rId9"/>
                </p:custDataLst>
              </p:nvPr>
            </p:nvSpPr>
            <p:spPr>
              <a:xfrm flipH="1">
                <a:off x="3308" y="1979"/>
                <a:ext cx="162" cy="833"/>
              </a:xfrm>
              <a:prstGeom prst="line">
                <a:avLst/>
              </a:prstGeom>
              <a:ln w="9525" cap="flat" cmpd="sng">
                <a:solidFill>
                  <a:schemeClr val="tx1"/>
                </a:solidFill>
                <a:prstDash val="solid"/>
                <a:miter/>
                <a:headEnd type="none" w="med" len="med"/>
                <a:tailEnd type="triangle" w="lg" len="lg"/>
              </a:ln>
            </p:spPr>
            <p:txBody>
              <a:bodyPr/>
              <a:lstStyle/>
              <a:p>
                <a:endParaRPr lang="zh-CN" altLang="en-US"/>
              </a:p>
            </p:txBody>
          </p:sp>
          <p:sp>
            <p:nvSpPr>
              <p:cNvPr id="119836" name="Text Box 48"/>
              <p:cNvSpPr txBox="1"/>
              <p:nvPr>
                <p:custDataLst>
                  <p:tags r:id="rId10"/>
                </p:custDataLst>
              </p:nvPr>
            </p:nvSpPr>
            <p:spPr>
              <a:xfrm>
                <a:off x="1474" y="863"/>
                <a:ext cx="539"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7*</a:t>
                </a:r>
                <a:endParaRPr lang="en-US" altLang="zh-CN" dirty="0"/>
              </a:p>
            </p:txBody>
          </p:sp>
          <p:sp>
            <p:nvSpPr>
              <p:cNvPr id="119837" name="Text Box 49"/>
              <p:cNvSpPr txBox="1"/>
              <p:nvPr>
                <p:custDataLst>
                  <p:tags r:id="rId11"/>
                </p:custDataLst>
              </p:nvPr>
            </p:nvSpPr>
            <p:spPr>
              <a:xfrm>
                <a:off x="2174" y="1131"/>
                <a:ext cx="539"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1</a:t>
                </a:r>
                <a:endParaRPr lang="en-US" altLang="zh-CN" dirty="0"/>
              </a:p>
            </p:txBody>
          </p:sp>
          <p:sp>
            <p:nvSpPr>
              <p:cNvPr id="119838" name="Text Box 50"/>
              <p:cNvSpPr txBox="1"/>
              <p:nvPr>
                <p:custDataLst>
                  <p:tags r:id="rId12"/>
                </p:custDataLst>
              </p:nvPr>
            </p:nvSpPr>
            <p:spPr>
              <a:xfrm>
                <a:off x="2930" y="1468"/>
                <a:ext cx="485"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5</a:t>
                </a:r>
                <a:endParaRPr lang="en-US" altLang="zh-CN" dirty="0"/>
              </a:p>
            </p:txBody>
          </p:sp>
          <p:sp>
            <p:nvSpPr>
              <p:cNvPr id="119839" name="Text Box 51"/>
              <p:cNvSpPr txBox="1"/>
              <p:nvPr>
                <p:custDataLst>
                  <p:tags r:id="rId13"/>
                </p:custDataLst>
              </p:nvPr>
            </p:nvSpPr>
            <p:spPr>
              <a:xfrm>
                <a:off x="3470" y="981"/>
                <a:ext cx="486"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7*</a:t>
                </a:r>
                <a:endParaRPr lang="en-US" altLang="zh-CN" dirty="0"/>
              </a:p>
            </p:txBody>
          </p:sp>
          <p:sp>
            <p:nvSpPr>
              <p:cNvPr id="119840" name="Text Box 52"/>
              <p:cNvSpPr txBox="1"/>
              <p:nvPr>
                <p:custDataLst>
                  <p:tags r:id="rId14"/>
                </p:custDataLst>
              </p:nvPr>
            </p:nvSpPr>
            <p:spPr>
              <a:xfrm>
                <a:off x="3198" y="1026"/>
                <a:ext cx="317"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3</a:t>
                </a:r>
                <a:endParaRPr lang="en-US" altLang="zh-CN" dirty="0"/>
              </a:p>
            </p:txBody>
          </p:sp>
          <p:sp>
            <p:nvSpPr>
              <p:cNvPr id="119841" name="Text Box 53"/>
              <p:cNvSpPr txBox="1"/>
              <p:nvPr>
                <p:custDataLst>
                  <p:tags r:id="rId15"/>
                </p:custDataLst>
              </p:nvPr>
            </p:nvSpPr>
            <p:spPr>
              <a:xfrm>
                <a:off x="3523" y="2275"/>
                <a:ext cx="486"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5</a:t>
                </a:r>
                <a:endParaRPr lang="en-US" altLang="zh-CN" dirty="0"/>
              </a:p>
            </p:txBody>
          </p:sp>
          <p:sp>
            <p:nvSpPr>
              <p:cNvPr id="119842" name="Freeform 54"/>
              <p:cNvSpPr/>
              <p:nvPr>
                <p:custDataLst>
                  <p:tags r:id="rId16"/>
                </p:custDataLst>
              </p:nvPr>
            </p:nvSpPr>
            <p:spPr>
              <a:xfrm>
                <a:off x="3696" y="1979"/>
                <a:ext cx="409" cy="962"/>
              </a:xfrm>
              <a:custGeom>
                <a:avLst/>
                <a:gdLst/>
                <a:ahLst/>
                <a:cxnLst>
                  <a:cxn ang="0">
                    <a:pos x="0" y="510875559"/>
                  </a:cxn>
                  <a:cxn ang="0">
                    <a:pos x="14322" y="375091386"/>
                  </a:cxn>
                  <a:cxn ang="0">
                    <a:pos x="14322" y="0"/>
                  </a:cxn>
                </a:cxnLst>
                <a:rect l="0" t="0" r="0" b="0"/>
                <a:pathLst>
                  <a:path w="371" h="680">
                    <a:moveTo>
                      <a:pt x="0" y="680"/>
                    </a:moveTo>
                    <a:cubicBezTo>
                      <a:pt x="132" y="646"/>
                      <a:pt x="265" y="612"/>
                      <a:pt x="318" y="499"/>
                    </a:cubicBezTo>
                    <a:cubicBezTo>
                      <a:pt x="371" y="386"/>
                      <a:pt x="318" y="76"/>
                      <a:pt x="318" y="0"/>
                    </a:cubicBezTo>
                  </a:path>
                </a:pathLst>
              </a:custGeom>
              <a:noFill/>
              <a:ln w="9525" cap="flat" cmpd="sng">
                <a:solidFill>
                  <a:schemeClr val="tx1">
                    <a:alpha val="100000"/>
                  </a:schemeClr>
                </a:solidFill>
                <a:prstDash val="solid"/>
                <a:miter lim="800000"/>
                <a:headEnd type="none" w="med" len="med"/>
                <a:tailEnd type="triangle" w="lg" len="lg"/>
              </a:ln>
            </p:spPr>
            <p:txBody>
              <a:bodyPr/>
              <a:lstStyle/>
              <a:p>
                <a:endParaRPr lang="zh-CN" altLang="en-US"/>
              </a:p>
            </p:txBody>
          </p:sp>
          <p:sp>
            <p:nvSpPr>
              <p:cNvPr id="119843" name="Text Box 55"/>
              <p:cNvSpPr txBox="1"/>
              <p:nvPr>
                <p:custDataLst>
                  <p:tags r:id="rId17"/>
                </p:custDataLst>
              </p:nvPr>
            </p:nvSpPr>
            <p:spPr>
              <a:xfrm>
                <a:off x="4105" y="2296"/>
                <a:ext cx="378"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3</a:t>
                </a:r>
                <a:endParaRPr lang="en-US" altLang="zh-CN" dirty="0"/>
              </a:p>
            </p:txBody>
          </p:sp>
          <p:sp>
            <p:nvSpPr>
              <p:cNvPr id="119844" name="Freeform 56"/>
              <p:cNvSpPr/>
              <p:nvPr>
                <p:custDataLst>
                  <p:tags r:id="rId18"/>
                </p:custDataLst>
              </p:nvPr>
            </p:nvSpPr>
            <p:spPr>
              <a:xfrm>
                <a:off x="3146" y="573"/>
                <a:ext cx="1826" cy="2766"/>
              </a:xfrm>
              <a:custGeom>
                <a:avLst/>
                <a:gdLst/>
                <a:ahLst/>
                <a:cxnLst>
                  <a:cxn ang="0">
                    <a:pos x="395230" y="2147483646"/>
                  </a:cxn>
                  <a:cxn ang="0">
                    <a:pos x="909187" y="2147483646"/>
                  </a:cxn>
                  <a:cxn ang="0">
                    <a:pos x="1305487" y="2147483646"/>
                  </a:cxn>
                  <a:cxn ang="0">
                    <a:pos x="1106563" y="687706663"/>
                  </a:cxn>
                  <a:cxn ang="0">
                    <a:pos x="0" y="274061590"/>
                  </a:cxn>
                </a:cxnLst>
                <a:rect l="0" t="0" r="0" b="0"/>
                <a:pathLst>
                  <a:path w="1535" h="1867">
                    <a:moveTo>
                      <a:pt x="453" y="1738"/>
                    </a:moveTo>
                    <a:cubicBezTo>
                      <a:pt x="661" y="1802"/>
                      <a:pt x="869" y="1867"/>
                      <a:pt x="1043" y="1738"/>
                    </a:cubicBezTo>
                    <a:cubicBezTo>
                      <a:pt x="1217" y="1609"/>
                      <a:pt x="1459" y="1231"/>
                      <a:pt x="1497" y="967"/>
                    </a:cubicBezTo>
                    <a:cubicBezTo>
                      <a:pt x="1535" y="703"/>
                      <a:pt x="1519" y="302"/>
                      <a:pt x="1270" y="151"/>
                    </a:cubicBezTo>
                    <a:cubicBezTo>
                      <a:pt x="1021" y="0"/>
                      <a:pt x="212" y="75"/>
                      <a:pt x="0" y="60"/>
                    </a:cubicBezTo>
                  </a:path>
                </a:pathLst>
              </a:custGeom>
              <a:noFill/>
              <a:ln w="9525" cap="flat" cmpd="sng">
                <a:solidFill>
                  <a:schemeClr val="tx1">
                    <a:alpha val="100000"/>
                  </a:schemeClr>
                </a:solidFill>
                <a:prstDash val="solid"/>
                <a:miter lim="800000"/>
                <a:headEnd type="none" w="med" len="med"/>
                <a:tailEnd type="triangle" w="lg" len="lg"/>
              </a:ln>
            </p:spPr>
            <p:txBody>
              <a:bodyPr/>
              <a:lstStyle/>
              <a:p>
                <a:endParaRPr lang="zh-CN" altLang="en-US"/>
              </a:p>
            </p:txBody>
          </p:sp>
          <p:sp>
            <p:nvSpPr>
              <p:cNvPr id="119845" name="Text Box 57"/>
              <p:cNvSpPr txBox="1"/>
              <p:nvPr>
                <p:custDataLst>
                  <p:tags r:id="rId19"/>
                </p:custDataLst>
              </p:nvPr>
            </p:nvSpPr>
            <p:spPr>
              <a:xfrm>
                <a:off x="4981" y="1333"/>
                <a:ext cx="485"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7*</a:t>
                </a:r>
                <a:endParaRPr lang="en-US" altLang="zh-CN" dirty="0"/>
              </a:p>
            </p:txBody>
          </p:sp>
          <p:sp>
            <p:nvSpPr>
              <p:cNvPr id="119846" name="Line 58"/>
              <p:cNvSpPr/>
              <p:nvPr>
                <p:custDataLst>
                  <p:tags r:id="rId20"/>
                </p:custDataLst>
              </p:nvPr>
            </p:nvSpPr>
            <p:spPr>
              <a:xfrm flipH="1" flipV="1">
                <a:off x="3107" y="799"/>
                <a:ext cx="862" cy="862"/>
              </a:xfrm>
              <a:prstGeom prst="line">
                <a:avLst/>
              </a:prstGeom>
              <a:ln w="9525" cap="flat" cmpd="sng">
                <a:solidFill>
                  <a:schemeClr val="tx1"/>
                </a:solidFill>
                <a:prstDash val="solid"/>
                <a:miter/>
                <a:headEnd type="none" w="med" len="med"/>
                <a:tailEnd type="triangle" w="lg" len="lg"/>
              </a:ln>
            </p:spPr>
            <p:txBody>
              <a:bodyPr/>
              <a:lstStyle/>
              <a:p>
                <a:endParaRPr lang="zh-CN" altLang="en-US"/>
              </a:p>
            </p:txBody>
          </p:sp>
        </p:grpSp>
        <p:sp>
          <p:nvSpPr>
            <p:cNvPr id="119823" name="Freeform 59"/>
            <p:cNvSpPr/>
            <p:nvPr>
              <p:custDataLst>
                <p:tags r:id="rId21"/>
              </p:custDataLst>
            </p:nvPr>
          </p:nvSpPr>
          <p:spPr>
            <a:xfrm rot="-147242">
              <a:off x="2744" y="3168"/>
              <a:ext cx="726" cy="280"/>
            </a:xfrm>
            <a:custGeom>
              <a:avLst/>
              <a:gdLst/>
              <a:ahLst/>
              <a:cxnLst>
                <a:cxn ang="0">
                  <a:pos x="0" y="0"/>
                </a:cxn>
                <a:cxn ang="0">
                  <a:pos x="363" y="272"/>
                </a:cxn>
                <a:cxn ang="0">
                  <a:pos x="726" y="46"/>
                </a:cxn>
              </a:cxnLst>
              <a:rect l="0" t="0" r="0" b="0"/>
              <a:pathLst>
                <a:path w="726" h="280">
                  <a:moveTo>
                    <a:pt x="0" y="0"/>
                  </a:moveTo>
                  <a:cubicBezTo>
                    <a:pt x="121" y="132"/>
                    <a:pt x="242" y="264"/>
                    <a:pt x="363" y="272"/>
                  </a:cubicBezTo>
                  <a:cubicBezTo>
                    <a:pt x="484" y="280"/>
                    <a:pt x="666" y="84"/>
                    <a:pt x="726" y="46"/>
                  </a:cubicBezTo>
                </a:path>
              </a:pathLst>
            </a:custGeom>
            <a:noFill/>
            <a:ln w="9525" cap="flat" cmpd="sng">
              <a:solidFill>
                <a:schemeClr val="tx1">
                  <a:alpha val="100000"/>
                </a:schemeClr>
              </a:solidFill>
              <a:prstDash val="solid"/>
              <a:miter lim="800000"/>
              <a:headEnd type="none" w="med" len="med"/>
              <a:tailEnd type="triangle" w="lg" len="lg"/>
            </a:ln>
          </p:spPr>
          <p:txBody>
            <a:bodyPr/>
            <a:lstStyle/>
            <a:p>
              <a:endParaRPr lang="zh-CN" altLang="en-US"/>
            </a:p>
          </p:txBody>
        </p:sp>
        <p:sp>
          <p:nvSpPr>
            <p:cNvPr id="119824" name="Text Box 60"/>
            <p:cNvSpPr txBox="1"/>
            <p:nvPr>
              <p:custDataLst>
                <p:tags r:id="rId22"/>
              </p:custDataLst>
            </p:nvPr>
          </p:nvSpPr>
          <p:spPr>
            <a:xfrm>
              <a:off x="3288" y="3341"/>
              <a:ext cx="272"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5</a:t>
              </a:r>
              <a:endParaRPr lang="en-US" altLang="zh-CN" dirty="0"/>
            </a:p>
          </p:txBody>
        </p:sp>
        <p:sp>
          <p:nvSpPr>
            <p:cNvPr id="119825" name="Freeform 61"/>
            <p:cNvSpPr/>
            <p:nvPr>
              <p:custDataLst>
                <p:tags r:id="rId23"/>
              </p:custDataLst>
            </p:nvPr>
          </p:nvSpPr>
          <p:spPr>
            <a:xfrm rot="10552831">
              <a:off x="2256" y="344"/>
              <a:ext cx="726" cy="280"/>
            </a:xfrm>
            <a:custGeom>
              <a:avLst/>
              <a:gdLst/>
              <a:ahLst/>
              <a:cxnLst>
                <a:cxn ang="0">
                  <a:pos x="0" y="0"/>
                </a:cxn>
                <a:cxn ang="0">
                  <a:pos x="363" y="272"/>
                </a:cxn>
                <a:cxn ang="0">
                  <a:pos x="726" y="46"/>
                </a:cxn>
              </a:cxnLst>
              <a:rect l="0" t="0" r="0" b="0"/>
              <a:pathLst>
                <a:path w="726" h="280">
                  <a:moveTo>
                    <a:pt x="0" y="0"/>
                  </a:moveTo>
                  <a:cubicBezTo>
                    <a:pt x="121" y="132"/>
                    <a:pt x="242" y="264"/>
                    <a:pt x="363" y="272"/>
                  </a:cubicBezTo>
                  <a:cubicBezTo>
                    <a:pt x="484" y="280"/>
                    <a:pt x="666" y="84"/>
                    <a:pt x="726" y="46"/>
                  </a:cubicBezTo>
                </a:path>
              </a:pathLst>
            </a:custGeom>
            <a:noFill/>
            <a:ln w="9525" cap="flat" cmpd="sng">
              <a:solidFill>
                <a:schemeClr val="tx1">
                  <a:alpha val="100000"/>
                </a:schemeClr>
              </a:solidFill>
              <a:prstDash val="solid"/>
              <a:miter lim="800000"/>
              <a:headEnd type="triangle" w="lg" len="lg"/>
              <a:tailEnd type="none" w="med" len="med"/>
            </a:ln>
          </p:spPr>
          <p:txBody>
            <a:bodyPr/>
            <a:lstStyle/>
            <a:p>
              <a:endParaRPr lang="zh-CN" altLang="en-US"/>
            </a:p>
          </p:txBody>
        </p:sp>
        <p:sp>
          <p:nvSpPr>
            <p:cNvPr id="119826" name="Text Box 62"/>
            <p:cNvSpPr txBox="1"/>
            <p:nvPr>
              <p:custDataLst>
                <p:tags r:id="rId24"/>
              </p:custDataLst>
            </p:nvPr>
          </p:nvSpPr>
          <p:spPr>
            <a:xfrm>
              <a:off x="2160" y="288"/>
              <a:ext cx="368" cy="359"/>
            </a:xfrm>
            <a:prstGeom prst="rect">
              <a:avLst/>
            </a:prstGeom>
            <a:noFill/>
            <a:ln w="9525">
              <a:noFill/>
            </a:ln>
          </p:spPr>
          <p:txBody>
            <a:bodyPr>
              <a:spAutoFit/>
            </a:bodyPr>
            <a:lstStyle>
              <a:lvl1pPr marL="173355" indent="-173355" algn="l" rtl="0" eaLnBrk="0" fontAlgn="base" hangingPunct="0">
                <a:spcBef>
                  <a:spcPct val="0"/>
                </a:spcBef>
                <a:spcAft>
                  <a:spcPct val="0"/>
                </a:spcAft>
                <a:buClr>
                  <a:srgbClr val="0000FF"/>
                </a:buClr>
                <a:buSzPct val="60000"/>
                <a:buFont typeface="Wingdings" panose="05000000000000000000" pitchFamily="2" charset="2"/>
                <a:buChar char="n"/>
                <a:defRPr sz="2400">
                  <a:solidFill>
                    <a:schemeClr val="tx1"/>
                  </a:solidFill>
                  <a:latin typeface="+mn-lt"/>
                  <a:ea typeface="+mn-ea"/>
                  <a:cs typeface="+mn-cs"/>
                </a:defRPr>
              </a:lvl1pPr>
              <a:lvl2pPr marL="457200" indent="-170180" algn="l" rtl="0" eaLnBrk="0" fontAlgn="base" hangingPunct="0">
                <a:spcBef>
                  <a:spcPct val="0"/>
                </a:spcBef>
                <a:spcAft>
                  <a:spcPct val="0"/>
                </a:spcAft>
                <a:buClr>
                  <a:schemeClr val="accent1"/>
                </a:buClr>
                <a:buSzPct val="60000"/>
                <a:buFont typeface="Wingdings" panose="05000000000000000000" pitchFamily="2" charset="2"/>
                <a:buChar char="n"/>
                <a:defRPr sz="2400">
                  <a:solidFill>
                    <a:schemeClr val="tx1"/>
                  </a:solidFill>
                  <a:latin typeface="+mn-lt"/>
                  <a:ea typeface="+mn-ea"/>
                </a:defRPr>
              </a:lvl2pPr>
              <a:lvl3pPr marL="741680" indent="-170180" algn="l" rtl="0" eaLnBrk="0" fontAlgn="base" hangingPunct="0">
                <a:spcBef>
                  <a:spcPct val="0"/>
                </a:spcBef>
                <a:spcAft>
                  <a:spcPct val="0"/>
                </a:spcAft>
                <a:buClr>
                  <a:srgbClr val="FF33CC"/>
                </a:buClr>
                <a:buSzPct val="60000"/>
                <a:buFont typeface="Wingdings" panose="05000000000000000000" pitchFamily="2" charset="2"/>
                <a:buChar char="n"/>
                <a:defRPr sz="2400">
                  <a:solidFill>
                    <a:schemeClr val="tx1"/>
                  </a:solidFill>
                  <a:latin typeface="+mn-lt"/>
                  <a:ea typeface="+mn-ea"/>
                </a:defRPr>
              </a:lvl3pPr>
              <a:lvl4pPr marL="1025525" indent="-170180" algn="l" rtl="0" eaLnBrk="0" fontAlgn="base" hangingPunct="0">
                <a:spcBef>
                  <a:spcPct val="0"/>
                </a:spcBef>
                <a:spcAft>
                  <a:spcPct val="0"/>
                </a:spcAft>
                <a:buClr>
                  <a:srgbClr val="FF9900"/>
                </a:buClr>
                <a:buSzPct val="60000"/>
                <a:buFont typeface="Wingdings" panose="05000000000000000000" pitchFamily="2" charset="2"/>
                <a:buChar char="n"/>
                <a:defRPr sz="2400">
                  <a:solidFill>
                    <a:schemeClr val="tx1"/>
                  </a:solidFill>
                  <a:latin typeface="+mn-lt"/>
                  <a:ea typeface="+mn-ea"/>
                </a:defRPr>
              </a:lvl4pPr>
              <a:lvl5pPr marL="1311275" indent="-171450" algn="l" rtl="0" eaLnBrk="0" fontAlgn="base" hangingPunct="0">
                <a:spcBef>
                  <a:spcPct val="0"/>
                </a:spcBef>
                <a:spcAft>
                  <a:spcPct val="0"/>
                </a:spcAft>
                <a:buClr>
                  <a:srgbClr val="800000"/>
                </a:buClr>
                <a:buSzPct val="60000"/>
                <a:buFont typeface="Wingdings" panose="05000000000000000000" pitchFamily="2" charset="2"/>
                <a:buChar char="n"/>
                <a:defRPr sz="2400">
                  <a:solidFill>
                    <a:schemeClr val="tx1"/>
                  </a:solidFill>
                  <a:latin typeface="+mn-lt"/>
                  <a:ea typeface="+mn-ea"/>
                </a:defRPr>
              </a:lvl5pPr>
            </a:lstStyle>
            <a:p>
              <a:pPr marL="0" lvl="0" indent="0" eaLnBrk="1" hangingPunct="1">
                <a:spcBef>
                  <a:spcPct val="50000"/>
                </a:spcBef>
                <a:buClrTx/>
                <a:buSzTx/>
                <a:buFontTx/>
                <a:buNone/>
              </a:pPr>
              <a:r>
                <a:rPr lang="en-US" altLang="zh-CN" dirty="0"/>
                <a:t>7*</a:t>
              </a:r>
              <a:endParaRPr lang="en-US" altLang="zh-CN" dirty="0"/>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解答</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2098" name="内容占位符 2"/>
          <p:cNvSpPr>
            <a:spLocks noGrp="1"/>
          </p:cNvSpPr>
          <p:nvPr>
            <p:ph idx="1"/>
          </p:nvPr>
        </p:nvSpPr>
        <p:spPr>
          <a:xfrm>
            <a:off x="513080" y="1312545"/>
            <a:ext cx="8229600" cy="4996180"/>
          </a:xfrm>
        </p:spPr>
        <p:txBody>
          <a:bodyPr vert="horz" wrap="square" lIns="91440" tIns="45720" rIns="91440" bIns="45720" anchor="t" anchorCtr="0"/>
          <a:lstStyle/>
          <a:p>
            <a:pPr eaLnBrk="1" hangingPunct="1">
              <a:buClr>
                <a:srgbClr val="0000FF"/>
              </a:buClr>
              <a:buSzPct val="60000"/>
              <a:buFont typeface="Wingdings" panose="05000000000000000000" pitchFamily="2" charset="2"/>
            </a:pPr>
            <a:endParaRPr lang="zh-CN" altLang="en-US" sz="2000" dirty="0"/>
          </a:p>
          <a:p>
            <a:pPr eaLnBrk="1" hangingPunct="1">
              <a:buClr>
                <a:srgbClr val="0000FF"/>
              </a:buClr>
              <a:buSzPct val="60000"/>
              <a:buFont typeface="Wingdings" panose="05000000000000000000" pitchFamily="2" charset="2"/>
            </a:pPr>
            <a:r>
              <a:rPr lang="zh-CN" altLang="en-US" sz="2000" dirty="0">
                <a:sym typeface="+mn-ea"/>
              </a:rPr>
              <a:t>简单循环：状态图中各个冲突向量最多只经过一次的启动循环</a:t>
            </a:r>
            <a:endParaRPr lang="zh-CN" altLang="en-US" sz="2000" dirty="0"/>
          </a:p>
          <a:p>
            <a:pPr lvl="1" eaLnBrk="1" hangingPunct="1">
              <a:buClr>
                <a:schemeClr val="accent1"/>
              </a:buClr>
              <a:buSzPct val="60000"/>
              <a:buFont typeface="Wingdings" panose="05000000000000000000" pitchFamily="2" charset="2"/>
            </a:pPr>
            <a:r>
              <a:rPr lang="en-US" altLang="zh-CN" sz="2000" dirty="0">
                <a:solidFill>
                  <a:srgbClr val="FF3300"/>
                </a:solidFill>
                <a:sym typeface="+mn-ea"/>
              </a:rPr>
              <a:t>7*</a:t>
            </a:r>
            <a:r>
              <a:rPr lang="zh-CN" altLang="en-US" sz="2000" dirty="0">
                <a:solidFill>
                  <a:srgbClr val="FF3300"/>
                </a:solidFill>
                <a:sym typeface="+mn-ea"/>
              </a:rPr>
              <a:t>只能最后一个</a:t>
            </a:r>
            <a:endParaRPr lang="zh-CN" altLang="en-US" sz="2000" dirty="0">
              <a:solidFill>
                <a:srgbClr val="FF3300"/>
              </a:solidFill>
            </a:endParaRPr>
          </a:p>
          <a:p>
            <a:pPr eaLnBrk="1" hangingPunct="1">
              <a:buClr>
                <a:srgbClr val="0000FF"/>
              </a:buClr>
              <a:buSzPct val="60000"/>
              <a:buFont typeface="Wingdings" panose="05000000000000000000" pitchFamily="2" charset="2"/>
            </a:pPr>
            <a:r>
              <a:rPr lang="zh-CN" altLang="en-US" sz="2000" dirty="0">
                <a:sym typeface="+mn-ea"/>
              </a:rPr>
              <a:t>简单循环的个数一般是有限的</a:t>
            </a:r>
            <a:endParaRPr lang="zh-CN" altLang="en-US" sz="2000" dirty="0"/>
          </a:p>
          <a:p>
            <a:pPr eaLnBrk="1" hangingPunct="1">
              <a:buClr>
                <a:srgbClr val="0000FF"/>
              </a:buClr>
              <a:buSzPct val="60000"/>
              <a:buFont typeface="Wingdings" panose="05000000000000000000" pitchFamily="2" charset="2"/>
            </a:pPr>
            <a:r>
              <a:rPr lang="zh-CN" altLang="en-US" sz="2000" dirty="0">
                <a:sym typeface="+mn-ea"/>
              </a:rPr>
              <a:t>由简单循环可计算出</a:t>
            </a:r>
            <a:r>
              <a:rPr lang="zh-CN" altLang="en-US" sz="2000" dirty="0">
                <a:solidFill>
                  <a:srgbClr val="FF3300"/>
                </a:solidFill>
                <a:sym typeface="+mn-ea"/>
              </a:rPr>
              <a:t>平均启动距离</a:t>
            </a:r>
            <a:endParaRPr lang="zh-CN" altLang="en-US" sz="2000" dirty="0">
              <a:solidFill>
                <a:srgbClr val="FF3300"/>
              </a:solidFill>
            </a:endParaRPr>
          </a:p>
          <a:p>
            <a:pPr eaLnBrk="1" hangingPunct="1">
              <a:buClr>
                <a:srgbClr val="0000FF"/>
              </a:buClr>
              <a:buSzPct val="60000"/>
              <a:buFont typeface="Wingdings" panose="05000000000000000000" pitchFamily="2" charset="2"/>
            </a:pPr>
            <a:endParaRPr lang="zh-CN" altLang="en-US" sz="2000" dirty="0"/>
          </a:p>
          <a:p>
            <a:pPr eaLnBrk="1" hangingPunct="1">
              <a:buClr>
                <a:srgbClr val="0000FF"/>
              </a:buClr>
              <a:buSzPct val="60000"/>
              <a:buFont typeface="Wingdings" panose="05000000000000000000" pitchFamily="2" charset="2"/>
            </a:pPr>
            <a:r>
              <a:rPr lang="zh-CN" altLang="en-US" sz="2000" dirty="0">
                <a:solidFill>
                  <a:srgbClr val="FF3300"/>
                </a:solidFill>
                <a:sym typeface="+mn-ea"/>
              </a:rPr>
              <a:t>最小的启动循环</a:t>
            </a:r>
            <a:r>
              <a:rPr lang="zh-CN" altLang="en-US" sz="2000" dirty="0">
                <a:sym typeface="+mn-ea"/>
              </a:rPr>
              <a:t>为</a:t>
            </a:r>
            <a:r>
              <a:rPr lang="en-US" altLang="zh-CN" sz="2000" dirty="0">
                <a:sym typeface="+mn-ea"/>
              </a:rPr>
              <a:t>(1</a:t>
            </a:r>
            <a:r>
              <a:rPr lang="zh-CN" altLang="en-US" sz="2000" dirty="0">
                <a:sym typeface="+mn-ea"/>
              </a:rPr>
              <a:t>，</a:t>
            </a:r>
            <a:r>
              <a:rPr lang="en-US" altLang="zh-CN" sz="2000" dirty="0">
                <a:sym typeface="+mn-ea"/>
              </a:rPr>
              <a:t>7)</a:t>
            </a:r>
            <a:r>
              <a:rPr lang="zh-CN" altLang="en-US" sz="2000" dirty="0">
                <a:sym typeface="+mn-ea"/>
              </a:rPr>
              <a:t>或</a:t>
            </a:r>
            <a:r>
              <a:rPr lang="en-US" altLang="zh-CN" sz="2000" dirty="0">
                <a:sym typeface="+mn-ea"/>
              </a:rPr>
              <a:t>(3</a:t>
            </a:r>
            <a:r>
              <a:rPr lang="zh-CN" altLang="en-US" sz="2000" dirty="0">
                <a:sym typeface="+mn-ea"/>
              </a:rPr>
              <a:t>，</a:t>
            </a:r>
            <a:r>
              <a:rPr lang="en-US" altLang="zh-CN" sz="2000" dirty="0">
                <a:sym typeface="+mn-ea"/>
              </a:rPr>
              <a:t>5)</a:t>
            </a:r>
            <a:endParaRPr lang="en-US" altLang="zh-CN" sz="2000" dirty="0"/>
          </a:p>
          <a:p>
            <a:pPr lvl="1" eaLnBrk="1" hangingPunct="1">
              <a:buClr>
                <a:schemeClr val="accent1"/>
              </a:buClr>
              <a:buSzPct val="60000"/>
              <a:buFont typeface="Wingdings" panose="05000000000000000000" pitchFamily="2" charset="2"/>
            </a:pPr>
            <a:r>
              <a:rPr lang="zh-CN" altLang="en-US" sz="2000" dirty="0">
                <a:sym typeface="+mn-ea"/>
              </a:rPr>
              <a:t>其平均启动距离为 </a:t>
            </a:r>
            <a:r>
              <a:rPr lang="en-US" altLang="zh-CN" sz="2000" dirty="0">
                <a:sym typeface="+mn-ea"/>
              </a:rPr>
              <a:t>4</a:t>
            </a:r>
            <a:endParaRPr lang="en-US" altLang="zh-CN" sz="2000" dirty="0"/>
          </a:p>
          <a:p>
            <a:pPr eaLnBrk="1" hangingPunct="1">
              <a:buClr>
                <a:srgbClr val="0000FF"/>
              </a:buClr>
              <a:buSzPct val="60000"/>
              <a:buFont typeface="Wingdings" panose="05000000000000000000" pitchFamily="2" charset="2"/>
            </a:pPr>
            <a:r>
              <a:rPr lang="zh-CN" altLang="en-US" sz="2000" dirty="0">
                <a:sym typeface="+mn-ea"/>
              </a:rPr>
              <a:t>平均启动距离最小的</a:t>
            </a:r>
            <a:r>
              <a:rPr lang="zh-CN" altLang="en-US" sz="2000" dirty="0">
                <a:solidFill>
                  <a:srgbClr val="FF3300"/>
                </a:solidFill>
                <a:sym typeface="+mn-ea"/>
              </a:rPr>
              <a:t>恒定循环</a:t>
            </a:r>
            <a:r>
              <a:rPr lang="zh-CN" altLang="en-US" sz="2000" dirty="0">
                <a:sym typeface="+mn-ea"/>
              </a:rPr>
              <a:t>为</a:t>
            </a:r>
            <a:r>
              <a:rPr lang="en-US" altLang="zh-CN" sz="2000" dirty="0">
                <a:sym typeface="+mn-ea"/>
              </a:rPr>
              <a:t>(5)</a:t>
            </a:r>
            <a:endParaRPr lang="en-US" altLang="zh-CN" sz="2000" dirty="0"/>
          </a:p>
          <a:p>
            <a:pPr eaLnBrk="1" hangingPunct="1">
              <a:buClr>
                <a:srgbClr val="0000FF"/>
              </a:buClr>
              <a:buSzPct val="60000"/>
              <a:buFont typeface="Wingdings" panose="05000000000000000000" pitchFamily="2" charset="2"/>
            </a:pPr>
            <a:endParaRPr lang="en-US" altLang="zh-CN" sz="2000" dirty="0"/>
          </a:p>
          <a:p>
            <a:pPr eaLnBrk="1" hangingPunct="1">
              <a:buClr>
                <a:srgbClr val="0000FF"/>
              </a:buClr>
              <a:buSzPct val="60000"/>
              <a:buFont typeface="Wingdings" panose="05000000000000000000" pitchFamily="2" charset="2"/>
            </a:pPr>
            <a:r>
              <a:rPr lang="en-US" altLang="zh-CN" sz="2000" dirty="0">
                <a:solidFill>
                  <a:schemeClr val="tx1"/>
                </a:solidFill>
                <a:sym typeface="+mn-ea"/>
              </a:rPr>
              <a:t>(7)</a:t>
            </a:r>
            <a:r>
              <a:rPr lang="zh-CN" altLang="en-US" sz="2000" dirty="0">
                <a:solidFill>
                  <a:schemeClr val="tx1"/>
                </a:solidFill>
                <a:sym typeface="+mn-ea"/>
              </a:rPr>
              <a:t>串行处理，性能最差</a:t>
            </a:r>
            <a:endPar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1"/>
            </p:custDataLst>
          </p:nvPr>
        </p:nvPicPr>
        <p:blipFill>
          <a:blip r:embed="rId2"/>
          <a:stretch>
            <a:fillRect/>
          </a:stretch>
        </p:blipFill>
        <p:spPr>
          <a:xfrm>
            <a:off x="5436235" y="2997200"/>
            <a:ext cx="2795270" cy="336169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练习——非线性流水线调度</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内容占位符 2"/>
          <p:cNvSpPr>
            <a:spLocks noGrp="1"/>
          </p:cNvSpPr>
          <p:nvPr>
            <p:ph idx="1"/>
          </p:nvPr>
        </p:nvSpPr>
        <p:spPr>
          <a:xfrm>
            <a:off x="457200" y="1340485"/>
            <a:ext cx="8229600" cy="2592070"/>
          </a:xfrm>
        </p:spPr>
        <p:txBody>
          <a:bodyPr/>
          <a:lstStyle/>
          <a:p>
            <a:r>
              <a:rPr lang="zh-CN" altLang="en-US" sz="2400">
                <a:latin typeface="Times New Roman" panose="02020603050405020304" pitchFamily="18" charset="0"/>
                <a:cs typeface="Times New Roman" panose="02020603050405020304" pitchFamily="18" charset="0"/>
              </a:rPr>
              <a:t>在一个 5 段的流水线处理机上需经 9∆t 才能完成一个任务，各段执行时间均为∆t，任务处理过程对各段使用时间的预约表如下表所示。</a:t>
            </a:r>
            <a:endParaRPr lang="zh-CN" altLang="en-US" sz="24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（1）画出流水线的状态有向图，并由状态图得出流水线的最优调度策略和最大吞吐率。</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（2）按最优调度策略输入 6 个任务，求流水线的实际吞吐率、加速比和效率。</a:t>
            </a:r>
            <a:endParaRPr lang="zh-CN" altLang="en-US" sz="2000">
              <a:latin typeface="Times New Roman" panose="02020603050405020304" pitchFamily="18" charset="0"/>
              <a:cs typeface="Times New Roman" panose="02020603050405020304" pitchFamily="18" charset="0"/>
            </a:endParaRPr>
          </a:p>
          <a:p>
            <a:pPr lvl="1"/>
            <a:endParaRPr lang="zh-CN" altLang="en-US" sz="20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2021840" y="3933190"/>
            <a:ext cx="5100955" cy="228409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解答</a:t>
            </a:r>
            <a:endParaRPr lang="zh-CN" altLang="en-US"/>
          </a:p>
        </p:txBody>
      </p:sp>
      <p:pic>
        <p:nvPicPr>
          <p:cNvPr id="4" name="图片 3"/>
          <p:cNvPicPr>
            <a:picLocks noChangeAspect="1"/>
          </p:cNvPicPr>
          <p:nvPr/>
        </p:nvPicPr>
        <p:blipFill>
          <a:blip r:embed="rId1"/>
          <a:srcRect r="5527"/>
          <a:stretch>
            <a:fillRect/>
          </a:stretch>
        </p:blipFill>
        <p:spPr>
          <a:xfrm>
            <a:off x="179705" y="980440"/>
            <a:ext cx="3972560" cy="2090420"/>
          </a:xfrm>
          <a:prstGeom prst="rect">
            <a:avLst/>
          </a:prstGeom>
        </p:spPr>
      </p:pic>
      <p:pic>
        <p:nvPicPr>
          <p:cNvPr id="5" name="图片 4"/>
          <p:cNvPicPr>
            <a:picLocks noChangeAspect="1"/>
          </p:cNvPicPr>
          <p:nvPr/>
        </p:nvPicPr>
        <p:blipFill>
          <a:blip r:embed="rId2"/>
          <a:stretch>
            <a:fillRect/>
          </a:stretch>
        </p:blipFill>
        <p:spPr>
          <a:xfrm>
            <a:off x="179705" y="3140710"/>
            <a:ext cx="3972560" cy="2382520"/>
          </a:xfrm>
          <a:prstGeom prst="rect">
            <a:avLst/>
          </a:prstGeom>
        </p:spPr>
      </p:pic>
      <p:pic>
        <p:nvPicPr>
          <p:cNvPr id="6" name="图片 5"/>
          <p:cNvPicPr>
            <a:picLocks noChangeAspect="1"/>
          </p:cNvPicPr>
          <p:nvPr/>
        </p:nvPicPr>
        <p:blipFill>
          <a:blip r:embed="rId3"/>
          <a:stretch>
            <a:fillRect/>
          </a:stretch>
        </p:blipFill>
        <p:spPr>
          <a:xfrm>
            <a:off x="4283710" y="620395"/>
            <a:ext cx="4698365" cy="4145915"/>
          </a:xfrm>
          <a:prstGeom prst="rect">
            <a:avLst/>
          </a:prstGeom>
        </p:spPr>
      </p:pic>
      <p:pic>
        <p:nvPicPr>
          <p:cNvPr id="7" name="图片 6"/>
          <p:cNvPicPr>
            <a:picLocks noChangeAspect="1"/>
          </p:cNvPicPr>
          <p:nvPr/>
        </p:nvPicPr>
        <p:blipFill>
          <a:blip r:embed="rId4"/>
          <a:stretch>
            <a:fillRect/>
          </a:stretch>
        </p:blipFill>
        <p:spPr>
          <a:xfrm>
            <a:off x="4859655" y="4940935"/>
            <a:ext cx="3414395" cy="1467485"/>
          </a:xfrm>
          <a:prstGeom prst="rect">
            <a:avLst/>
          </a:prstGeom>
        </p:spPr>
      </p:pic>
      <p:sp>
        <p:nvSpPr>
          <p:cNvPr id="8" name="文本框 7"/>
          <p:cNvSpPr txBox="1"/>
          <p:nvPr/>
        </p:nvSpPr>
        <p:spPr>
          <a:xfrm>
            <a:off x="179705" y="5733415"/>
            <a:ext cx="4572000" cy="583565"/>
          </a:xfrm>
          <a:prstGeom prst="rect">
            <a:avLst/>
          </a:prstGeom>
          <a:noFill/>
        </p:spPr>
        <p:txBody>
          <a:bodyPr wrap="square" rtlCol="0" anchor="t">
            <a:spAutoFit/>
          </a:bodyPr>
          <a:lstStyle/>
          <a:p>
            <a:r>
              <a:rPr lang="zh-CN" altLang="en-US" sz="1600">
                <a:solidFill>
                  <a:schemeClr val="tx1"/>
                </a:solidFill>
                <a:latin typeface="宋体" panose="02010600030101010101" pitchFamily="2" charset="-122"/>
                <a:ea typeface="宋体" panose="02010600030101010101" pitchFamily="2" charset="-122"/>
                <a:cs typeface="宋体" panose="02010600030101010101" pitchFamily="2" charset="-122"/>
              </a:rPr>
              <a:t>最优调度策略是(2, 5)，流水线的最大吞吐率就是最优调度策略的最大吞吐率：Pmax=1/3.5∆t。</a:t>
            </a:r>
            <a:endParaRPr lang="zh-CN" altLang="en-US" sz="16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解答（续）</a:t>
            </a:r>
            <a:endParaRPr lang="zh-CN" altLang="en-US"/>
          </a:p>
        </p:txBody>
      </p:sp>
      <p:pic>
        <p:nvPicPr>
          <p:cNvPr id="4" name="图片 3"/>
          <p:cNvPicPr>
            <a:picLocks noChangeAspect="1"/>
          </p:cNvPicPr>
          <p:nvPr/>
        </p:nvPicPr>
        <p:blipFill>
          <a:blip r:embed="rId1"/>
          <a:stretch>
            <a:fillRect/>
          </a:stretch>
        </p:blipFill>
        <p:spPr>
          <a:xfrm>
            <a:off x="1043940" y="1196975"/>
            <a:ext cx="6134100" cy="1364615"/>
          </a:xfrm>
          <a:prstGeom prst="rect">
            <a:avLst/>
          </a:prstGeom>
        </p:spPr>
      </p:pic>
      <p:pic>
        <p:nvPicPr>
          <p:cNvPr id="5" name="图片 4"/>
          <p:cNvPicPr>
            <a:picLocks noChangeAspect="1"/>
          </p:cNvPicPr>
          <p:nvPr/>
        </p:nvPicPr>
        <p:blipFill>
          <a:blip r:embed="rId2"/>
          <a:stretch>
            <a:fillRect/>
          </a:stretch>
        </p:blipFill>
        <p:spPr>
          <a:xfrm>
            <a:off x="1110615" y="2708910"/>
            <a:ext cx="6067425" cy="1452880"/>
          </a:xfrm>
          <a:prstGeom prst="rect">
            <a:avLst/>
          </a:prstGeom>
        </p:spPr>
      </p:pic>
      <p:sp>
        <p:nvSpPr>
          <p:cNvPr id="6" name="文本框 5"/>
          <p:cNvSpPr txBox="1"/>
          <p:nvPr/>
        </p:nvSpPr>
        <p:spPr>
          <a:xfrm>
            <a:off x="565150" y="4368165"/>
            <a:ext cx="8087995" cy="583565"/>
          </a:xfrm>
          <a:prstGeom prst="rect">
            <a:avLst/>
          </a:prstGeom>
          <a:noFill/>
        </p:spPr>
        <p:txBody>
          <a:bodyPr wrap="square" rtlCol="0" anchor="t">
            <a:spAutoFit/>
          </a:bodyPr>
          <a:lstStyle/>
          <a:p>
            <a:pPr lvl="0" algn="l">
              <a:buClrTx/>
              <a:buSzTx/>
              <a:buFontTx/>
            </a:pPr>
            <a:r>
              <a:rPr lang="zh-CN" altLang="en-US" sz="160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6 个任务在流水线中确实不发生段争用冲突，6 个任务的执行时间为 25∆t。由时空图可计算出流水线的效率为：</a:t>
            </a:r>
            <a:endParaRPr lang="zh-CN" altLang="en-US" sz="160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7" name="图片 6"/>
          <p:cNvPicPr>
            <a:picLocks noChangeAspect="1"/>
          </p:cNvPicPr>
          <p:nvPr/>
        </p:nvPicPr>
        <p:blipFill>
          <a:blip r:embed="rId3"/>
          <a:stretch>
            <a:fillRect/>
          </a:stretch>
        </p:blipFill>
        <p:spPr>
          <a:xfrm>
            <a:off x="2124075" y="5157470"/>
            <a:ext cx="3943350" cy="6680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发掘ILP的编译器技术</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98880"/>
            <a:ext cx="8396605" cy="2160905"/>
          </a:xfrm>
        </p:spPr>
        <p:txBody>
          <a:bodyPr vert="horz" wrap="square" lIns="91440" tIns="45720" rIns="91440" bIns="45720" anchor="t" anchorCtr="0"/>
          <a:lstStyle/>
          <a:p>
            <a:pPr algn="l" eaLnBrk="1" hangingPunct="1">
              <a:lnSpc>
                <a:spcPct val="100000"/>
              </a:lnSpc>
              <a:buSzTx/>
            </a:pPr>
            <a:r>
              <a:rPr lang="zh-CN" altLang="en-US" sz="2400" dirty="0">
                <a:sym typeface="+mn-ea"/>
              </a:rPr>
              <a:t>流水线调度</a:t>
            </a:r>
            <a:endParaRPr lang="zh-CN" altLang="en-US" sz="2400" dirty="0">
              <a:cs typeface="+mn-cs"/>
            </a:endParaRPr>
          </a:p>
          <a:p>
            <a:pPr lvl="1" eaLnBrk="1" hangingPunct="1">
              <a:lnSpc>
                <a:spcPct val="90000"/>
              </a:lnSpc>
              <a:spcBef>
                <a:spcPts val="1200"/>
              </a:spcBef>
              <a:buSzPct val="55000"/>
              <a:buFont typeface="Wingdings" panose="05000000000000000000" charset="0"/>
              <a:buChar char="n"/>
            </a:pPr>
            <a:r>
              <a:rPr lang="zh-CN" altLang="en-US" sz="2000" noProof="0">
                <a:ln>
                  <a:noFill/>
                </a:ln>
                <a:solidFill>
                  <a:srgbClr val="0033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分离导致流水线延迟的指令</a:t>
            </a:r>
            <a:endParaRPr lang="zh-CN" altLang="en-US" sz="2000" noProof="0">
              <a:ln>
                <a:noFill/>
              </a:ln>
              <a:solidFill>
                <a:srgbClr val="0033CC"/>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algn="l" eaLnBrk="1" latinLnBrk="0" hangingPunct="1">
              <a:lnSpc>
                <a:spcPct val="100000"/>
              </a:lnSpc>
              <a:spcBef>
                <a:spcPts val="1200"/>
              </a:spcBef>
              <a:buSzTx/>
            </a:pPr>
            <a:r>
              <a:rPr lang="zh-CN" altLang="en-US" sz="2400" dirty="0">
                <a:sym typeface="+mn-ea"/>
              </a:rPr>
              <a:t>例子：</a:t>
            </a:r>
            <a:endParaRPr lang="zh-CN" altLang="en-US" sz="2400" dirty="0">
              <a:cs typeface="+mn-cs"/>
            </a:endParaRPr>
          </a:p>
          <a:p>
            <a:pPr lvl="1" eaLnBrk="1" hangingPunct="1">
              <a:lnSpc>
                <a:spcPct val="90000"/>
              </a:lnSpc>
              <a:buSzPct val="55000"/>
              <a:buFont typeface="Wingdings" panose="05000000000000000000" pitchFamily="2" charset="2"/>
              <a:buNone/>
            </a:pPr>
            <a:r>
              <a:rPr lang="en-US" altLang="zh-CN" sz="2000" dirty="0">
                <a:latin typeface="Times New Roman" panose="02020603050405020304" pitchFamily="18" charset="0"/>
                <a:ea typeface="黑体" panose="02010609060101010101" pitchFamily="49" charset="-122"/>
                <a:sym typeface="+mn-ea"/>
              </a:rPr>
              <a:t>for (i=999; i&gt;=0; i=i-1)</a:t>
            </a:r>
            <a:endParaRPr lang="en-US" altLang="zh-CN" sz="2000" dirty="0">
              <a:latin typeface="Times New Roman" panose="02020603050405020304" pitchFamily="18" charset="0"/>
              <a:ea typeface="黑体" panose="02010609060101010101" pitchFamily="49" charset="-122"/>
            </a:endParaRPr>
          </a:p>
          <a:p>
            <a:pPr lvl="1" eaLnBrk="1" hangingPunct="1">
              <a:lnSpc>
                <a:spcPct val="90000"/>
              </a:lnSpc>
              <a:buSzPct val="55000"/>
              <a:buFont typeface="Wingdings" panose="05000000000000000000" pitchFamily="2" charset="2"/>
              <a:buNone/>
            </a:pPr>
            <a:r>
              <a:rPr lang="en-US" altLang="zh-CN" sz="2000" dirty="0">
                <a:latin typeface="Times New Roman" panose="02020603050405020304" pitchFamily="18" charset="0"/>
                <a:ea typeface="黑体" panose="02010609060101010101" pitchFamily="49" charset="-122"/>
                <a:sym typeface="+mn-ea"/>
              </a:rPr>
              <a:t>  x[i] = x[i] + s;</a:t>
            </a:r>
            <a:endParaRPr lang="en-US" altLang="zh-CN" sz="2000" dirty="0">
              <a:latin typeface="Times New Roman" panose="02020603050405020304" pitchFamily="18" charset="0"/>
              <a:ea typeface="黑体" panose="02010609060101010101" pitchFamily="49" charset="-122"/>
              <a:sym typeface="+mn-ea"/>
            </a:endParaRPr>
          </a:p>
          <a:p>
            <a:pPr lvl="1" eaLnBrk="1" hangingPunct="1">
              <a:lnSpc>
                <a:spcPct val="90000"/>
              </a:lnSpc>
              <a:buSzPct val="55000"/>
              <a:buFont typeface="Wingdings" panose="05000000000000000000" pitchFamily="2" charset="2"/>
              <a:buNone/>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hangingPunct="1">
              <a:lnSpc>
                <a:spcPct val="90000"/>
              </a:lnSpc>
              <a:buSzPct val="55000"/>
              <a:buFont typeface="Wingdings" panose="05000000000000000000" pitchFamily="2" charset="2"/>
              <a:buNone/>
            </a:pPr>
            <a:r>
              <a:rPr lang="en-US" altLang="zh-CN" sz="2400" dirty="0">
                <a:latin typeface="Times New Roman" panose="02020603050405020304" pitchFamily="18" charset="0"/>
                <a:ea typeface="黑体" panose="02010609060101010101" pitchFamily="49" charset="-122"/>
                <a:sym typeface="+mn-ea"/>
              </a:rPr>
              <a:t>for (i=999; i&gt;=0; i=i-4){</a:t>
            </a:r>
            <a:endParaRPr lang="en-US" altLang="zh-CN" sz="2400" dirty="0">
              <a:latin typeface="Times New Roman" panose="02020603050405020304" pitchFamily="18" charset="0"/>
              <a:ea typeface="黑体" panose="02010609060101010101" pitchFamily="49" charset="-122"/>
            </a:endParaRPr>
          </a:p>
          <a:p>
            <a:pPr lvl="1" eaLnBrk="1" hangingPunct="1">
              <a:lnSpc>
                <a:spcPct val="90000"/>
              </a:lnSpc>
              <a:buSzPct val="55000"/>
              <a:buFont typeface="Wingdings" panose="05000000000000000000" pitchFamily="2" charset="2"/>
              <a:buNone/>
            </a:pPr>
            <a:r>
              <a:rPr lang="en-US" altLang="zh-CN" sz="2400" dirty="0">
                <a:latin typeface="Times New Roman" panose="02020603050405020304" pitchFamily="18" charset="0"/>
                <a:ea typeface="黑体" panose="02010609060101010101" pitchFamily="49" charset="-122"/>
                <a:sym typeface="+mn-ea"/>
              </a:rPr>
              <a:t>  	x[i] = x[i] + s;</a:t>
            </a:r>
            <a:endParaRPr lang="en-US" altLang="zh-CN" sz="2400" dirty="0">
              <a:latin typeface="Times New Roman" panose="02020603050405020304" pitchFamily="18" charset="0"/>
              <a:ea typeface="黑体" panose="02010609060101010101" pitchFamily="49" charset="-122"/>
              <a:sym typeface="+mn-ea"/>
            </a:endParaRPr>
          </a:p>
          <a:p>
            <a:pPr lvl="1" indent="0" eaLnBrk="1" hangingPunct="1">
              <a:lnSpc>
                <a:spcPct val="90000"/>
              </a:lnSpc>
              <a:buSzPct val="55000"/>
              <a:buFont typeface="Wingdings" panose="05000000000000000000" pitchFamily="2" charset="2"/>
              <a:buNone/>
            </a:pPr>
            <a:r>
              <a:rPr lang="en-US" altLang="zh-CN" sz="2400" dirty="0">
                <a:latin typeface="Times New Roman" panose="02020603050405020304" pitchFamily="18" charset="0"/>
                <a:ea typeface="黑体" panose="02010609060101010101" pitchFamily="49" charset="-122"/>
                <a:sym typeface="+mn-ea"/>
              </a:rPr>
              <a:t>x[i-1] = x[i-1] + s;</a:t>
            </a:r>
            <a:endParaRPr lang="en-US" altLang="zh-CN" sz="2400" dirty="0">
              <a:latin typeface="Times New Roman" panose="02020603050405020304" pitchFamily="18" charset="0"/>
              <a:ea typeface="黑体" panose="02010609060101010101" pitchFamily="49" charset="-122"/>
              <a:sym typeface="+mn-ea"/>
            </a:endParaRPr>
          </a:p>
          <a:p>
            <a:pPr lvl="1" indent="0" eaLnBrk="1" hangingPunct="1">
              <a:lnSpc>
                <a:spcPct val="90000"/>
              </a:lnSpc>
              <a:buSzPct val="55000"/>
              <a:buFont typeface="Wingdings" panose="05000000000000000000" pitchFamily="2" charset="2"/>
              <a:buNone/>
            </a:pPr>
            <a:r>
              <a:rPr lang="en-US" altLang="zh-CN" sz="2400" dirty="0">
                <a:latin typeface="Times New Roman" panose="02020603050405020304" pitchFamily="18" charset="0"/>
                <a:ea typeface="黑体" panose="02010609060101010101" pitchFamily="49" charset="-122"/>
                <a:sym typeface="+mn-ea"/>
              </a:rPr>
              <a:t>x[i-2] = x[i-2] + s;</a:t>
            </a:r>
            <a:endParaRPr lang="en-US" altLang="zh-CN" sz="2400" dirty="0">
              <a:latin typeface="Times New Roman" panose="02020603050405020304" pitchFamily="18" charset="0"/>
              <a:ea typeface="黑体" panose="02010609060101010101" pitchFamily="49" charset="-122"/>
              <a:sym typeface="+mn-ea"/>
            </a:endParaRPr>
          </a:p>
          <a:p>
            <a:pPr lvl="1" indent="0" eaLnBrk="1" hangingPunct="1">
              <a:lnSpc>
                <a:spcPct val="90000"/>
              </a:lnSpc>
              <a:buSzPct val="55000"/>
              <a:buFont typeface="Wingdings" panose="05000000000000000000" pitchFamily="2" charset="2"/>
              <a:buNone/>
            </a:pPr>
            <a:r>
              <a:rPr lang="en-US" altLang="zh-CN" sz="2400" dirty="0">
                <a:latin typeface="Times New Roman" panose="02020603050405020304" pitchFamily="18" charset="0"/>
                <a:ea typeface="黑体" panose="02010609060101010101" pitchFamily="49" charset="-122"/>
                <a:sym typeface="+mn-ea"/>
              </a:rPr>
              <a:t>x[i...] = x[i] + s;</a:t>
            </a:r>
            <a:endParaRPr lang="en-US" altLang="zh-CN" sz="2400" dirty="0">
              <a:latin typeface="Times New Roman" panose="02020603050405020304" pitchFamily="18" charset="0"/>
              <a:ea typeface="黑体" panose="02010609060101010101" pitchFamily="49" charset="-122"/>
              <a:sym typeface="+mn-ea"/>
            </a:endParaRPr>
          </a:p>
          <a:p>
            <a:pPr lvl="1" eaLnBrk="1" hangingPunct="1">
              <a:lnSpc>
                <a:spcPct val="90000"/>
              </a:lnSpc>
              <a:buSzPct val="55000"/>
              <a:buFont typeface="Wingdings" panose="05000000000000000000" pitchFamily="2" charset="2"/>
              <a:buNone/>
            </a:pPr>
            <a:r>
              <a:rPr lang="en-US" altLang="zh-CN" sz="2400" dirty="0">
                <a:latin typeface="Times New Roman" panose="02020603050405020304" pitchFamily="18" charset="0"/>
                <a:ea typeface="黑体" panose="02010609060101010101" pitchFamily="49" charset="-122"/>
                <a:sym typeface="+mn-ea"/>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hangingPunct="1">
              <a:lnSpc>
                <a:spcPct val="90000"/>
              </a:lnSpc>
              <a:buSzPct val="55000"/>
              <a:buFont typeface="Wingdings" panose="05000000000000000000" pitchFamily="2" charset="2"/>
              <a:buNone/>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345092" name="Picture 2"/>
          <p:cNvPicPr>
            <a:picLocks noChangeAspect="1"/>
          </p:cNvPicPr>
          <p:nvPr>
            <p:custDataLst>
              <p:tags r:id="rId2"/>
            </p:custDataLst>
          </p:nvPr>
        </p:nvPicPr>
        <p:blipFill>
          <a:blip r:embed="rId3"/>
          <a:stretch>
            <a:fillRect/>
          </a:stretch>
        </p:blipFill>
        <p:spPr>
          <a:xfrm>
            <a:off x="827088" y="4149090"/>
            <a:ext cx="7626350" cy="2138363"/>
          </a:xfrm>
          <a:prstGeom prst="rect">
            <a:avLst/>
          </a:prstGeom>
          <a:noFill/>
          <a:ln w="9525">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发掘ILP的编译器技术</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39750" y="1124585"/>
            <a:ext cx="8396605" cy="4504055"/>
          </a:xfrm>
        </p:spPr>
        <p:txBody>
          <a:bodyPr vert="horz" wrap="square" lIns="91440" tIns="45720" rIns="91440" bIns="45720" anchor="t" anchorCtr="0"/>
          <a:lstStyle/>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Loop:	L.D	F0,0(R1)</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stall</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ADD.D F4,F0,F2</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stall</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stall</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S.D F4,0(R1)</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DADDUI R1,R1,#-8</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stall</a:t>
            </a: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(assume integer load latency is 1)</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SzPct val="60000"/>
              <a:buFont typeface="Wingdings" panose="05000000000000000000" pitchFamily="2" charset="2"/>
              <a:buNone/>
            </a:pP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BNE R1,R2,Loop</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eaLnBrk="1" hangingPunct="1">
              <a:spcBef>
                <a:spcPts val="600"/>
              </a:spcBef>
              <a:buSzPct val="60000"/>
              <a:buFont typeface="Wingdings" panose="05000000000000000000" pitchFamily="2" charset="2"/>
              <a:buNone/>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spcBef>
                <a:spcPts val="600"/>
              </a:spcBef>
              <a:buSzPct val="60000"/>
              <a:buFont typeface="Wingdings" panose="05000000000000000000" pitchFamily="2" charset="2"/>
              <a:buNone/>
            </a:pPr>
            <a:r>
              <a:rPr lang="zh-CN" altLang="en-US" sz="2400" dirty="0">
                <a:solidFill>
                  <a:srgbClr val="0039A6"/>
                </a:solidFill>
                <a:latin typeface="Times New Roman" panose="02020603050405020304" pitchFamily="18" charset="0"/>
                <a:ea typeface="黑体" panose="02010609060101010101" pitchFamily="49" charset="-122"/>
                <a:sym typeface="+mn-ea"/>
              </a:rPr>
              <a:t>未调度时：</a:t>
            </a:r>
            <a:r>
              <a:rPr lang="zh-CN" altLang="en-US" sz="2400" dirty="0">
                <a:solidFill>
                  <a:srgbClr val="FF0000"/>
                </a:solidFill>
                <a:latin typeface="Times New Roman" panose="02020603050405020304" pitchFamily="18" charset="0"/>
                <a:ea typeface="黑体" panose="02010609060101010101" pitchFamily="49" charset="-122"/>
                <a:sym typeface="+mn-ea"/>
              </a:rPr>
              <a:t>一次循环迭代</a:t>
            </a:r>
            <a:r>
              <a:rPr lang="en-US" altLang="zh-CN" sz="2400" dirty="0">
                <a:solidFill>
                  <a:srgbClr val="FF0000"/>
                </a:solidFill>
                <a:latin typeface="Times New Roman" panose="02020603050405020304" pitchFamily="18" charset="0"/>
                <a:ea typeface="黑体" panose="02010609060101010101" pitchFamily="49" charset="-122"/>
                <a:sym typeface="+mn-ea"/>
              </a:rPr>
              <a:t>9</a:t>
            </a:r>
            <a:r>
              <a:rPr lang="zh-CN" altLang="en-US" sz="2400" dirty="0">
                <a:solidFill>
                  <a:srgbClr val="FF0000"/>
                </a:solidFill>
                <a:latin typeface="Times New Roman" panose="02020603050405020304" pitchFamily="18" charset="0"/>
                <a:ea typeface="黑体" panose="02010609060101010101" pitchFamily="49" charset="-122"/>
                <a:sym typeface="+mn-ea"/>
              </a:rPr>
              <a:t>个时钟周期</a:t>
            </a:r>
            <a:r>
              <a:rPr lang="zh-CN" altLang="en-US" sz="2400" dirty="0">
                <a:solidFill>
                  <a:srgbClr val="0039A6"/>
                </a:solidFill>
                <a:latin typeface="Times New Roman" panose="02020603050405020304" pitchFamily="18" charset="0"/>
                <a:ea typeface="黑体" panose="02010609060101010101" pitchFamily="49" charset="-122"/>
                <a:sym typeface="+mn-ea"/>
              </a:rPr>
              <a:t>。</a:t>
            </a:r>
            <a:endParaRPr lang="zh-CN" altLang="en-US" sz="2400" dirty="0">
              <a:solidFill>
                <a:srgbClr val="0039A6"/>
              </a:solidFill>
              <a:latin typeface="Times New Roman" panose="02020603050405020304" pitchFamily="18" charset="0"/>
              <a:ea typeface="黑体" panose="02010609060101010101" pitchFamily="49" charset="-122"/>
            </a:endParaRPr>
          </a:p>
          <a:p>
            <a:pPr eaLnBrk="1" hangingPunct="1">
              <a:spcBef>
                <a:spcPts val="600"/>
              </a:spcBef>
              <a:buSzPct val="60000"/>
              <a:buFont typeface="Wingdings" panose="05000000000000000000" pitchFamily="2" charset="2"/>
              <a:buNone/>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nvPicPr>
        <p:blipFill>
          <a:blip r:embed="rId2"/>
          <a:stretch>
            <a:fillRect/>
          </a:stretch>
        </p:blipFill>
        <p:spPr>
          <a:xfrm>
            <a:off x="4488180" y="0"/>
            <a:ext cx="4655820" cy="35052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流水线调度</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98880"/>
            <a:ext cx="8396605" cy="5229860"/>
          </a:xfrm>
        </p:spPr>
        <p:txBody>
          <a:bodyPr vert="horz" wrap="square" lIns="91440" tIns="45720" rIns="91440" bIns="45720" anchor="t" anchorCtr="0"/>
          <a:lstStyle/>
          <a:p>
            <a:pPr marL="342900" marR="0" lvl="0" indent="-342900" algn="l" defTabSz="914400" rtl="0" eaLnBrk="1" fontAlgn="base" latinLnBrk="0" hangingPunct="1">
              <a:lnSpc>
                <a:spcPct val="100000"/>
              </a:lnSpc>
              <a:spcBef>
                <a:spcPts val="600"/>
              </a:spcBef>
              <a:spcAft>
                <a:spcPct val="0"/>
              </a:spcAft>
              <a:buClr>
                <a:srgbClr val="0033CC"/>
              </a:buClr>
              <a:buSzPct val="60000"/>
              <a:buFont typeface="Wingdings" panose="05000000000000000000" pitchFamily="2" charset="2"/>
              <a:buNone/>
              <a:defRPr/>
            </a:pPr>
            <a:r>
              <a:rPr lang="en-US" altLang="zh-CN" sz="2000" b="1" u="sng"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Scheduled code:</a:t>
            </a:r>
            <a:endParaRPr kumimoji="0" lang="en-US" altLang="zh-CN" sz="2000" b="1" i="0" u="sng" strike="noStrike" kern="0" cap="none" spc="0" normalizeH="0" baseline="0"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23850" marR="0" lvl="0" indent="-342900" algn="l" defTabSz="914400" rtl="0" eaLnBrk="1" fontAlgn="base" latinLnBrk="0" hangingPunct="1">
              <a:lnSpc>
                <a:spcPct val="100000"/>
              </a:lnSpc>
              <a:spcBef>
                <a:spcPts val="1800"/>
              </a:spcBef>
              <a:spcAft>
                <a:spcPct val="0"/>
              </a:spcAft>
              <a:buClr>
                <a:srgbClr val="0033CC"/>
              </a:buClr>
              <a:buSzPct val="60000"/>
              <a:buFont typeface="Wingdings" panose="05000000000000000000" pitchFamily="2" charset="2"/>
              <a:buNone/>
              <a:defRPr/>
            </a:pPr>
            <a:r>
              <a:rPr lang="en-US" altLang="zh-CN" sz="2000" b="1"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Loop:	L.D	F0,0(R1)</a:t>
            </a:r>
            <a:endParaRPr kumimoji="0" lang="en-US" altLang="zh-CN" sz="2000" b="1" i="0" u="none" strike="noStrike" kern="0" cap="none" spc="0" normalizeH="0" baseline="0"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
                <a:srgbClr val="0033CC"/>
              </a:buClr>
              <a:buSzPct val="60000"/>
              <a:buFont typeface="Wingdings" panose="05000000000000000000" pitchFamily="2" charset="2"/>
              <a:buNone/>
              <a:defRPr/>
            </a:pPr>
            <a:r>
              <a:rPr lang="en-US" altLang="zh-CN" sz="2000" b="1"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DADDUI R1,R1,#-8</a:t>
            </a:r>
            <a:endPar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
                <a:srgbClr val="0033CC"/>
              </a:buClr>
              <a:buSzPct val="60000"/>
              <a:buFont typeface="Wingdings" panose="05000000000000000000" pitchFamily="2" charset="2"/>
              <a:buNone/>
              <a:defRPr/>
            </a:pPr>
            <a:r>
              <a:rPr lang="en-US" altLang="zh-CN" sz="2000" b="1"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ADD.D F4,F0,F2</a:t>
            </a:r>
            <a:endParaRPr kumimoji="0" lang="en-US" altLang="zh-CN" sz="2000" b="1" i="0" u="none" strike="noStrike" kern="0" cap="none" spc="0" normalizeH="0" baseline="0"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
                <a:srgbClr val="0033CC"/>
              </a:buClr>
              <a:buSzPct val="60000"/>
              <a:buFont typeface="Wingdings" panose="05000000000000000000" pitchFamily="2" charset="2"/>
              <a:buNone/>
              <a:defRPr/>
            </a:pPr>
            <a:r>
              <a:rPr lang="en-US" altLang="zh-CN" sz="2000" b="1"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b="1"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stall</a:t>
            </a:r>
            <a:endPar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
                <a:srgbClr val="0033CC"/>
              </a:buClr>
              <a:buSzPct val="60000"/>
              <a:buFont typeface="Wingdings" panose="05000000000000000000" pitchFamily="2" charset="2"/>
              <a:buNone/>
              <a:defRPr/>
            </a:pPr>
            <a:r>
              <a:rPr lang="en-US" altLang="zh-CN" sz="2000" b="1"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b="1"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stall</a:t>
            </a:r>
            <a:endPar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
                <a:srgbClr val="0033CC"/>
              </a:buClr>
              <a:buSzPct val="60000"/>
              <a:buFont typeface="Wingdings" panose="05000000000000000000" pitchFamily="2" charset="2"/>
              <a:buNone/>
              <a:defRPr/>
            </a:pPr>
            <a:r>
              <a:rPr lang="en-US" altLang="zh-CN" sz="2000" b="1"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S.D F4,8(R1)</a:t>
            </a:r>
            <a:endParaRPr kumimoji="0" lang="en-US" altLang="zh-CN" sz="2000" b="1" i="0" u="none" strike="noStrike" kern="0" cap="none" spc="0" normalizeH="0" baseline="0"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
                <a:srgbClr val="0033CC"/>
              </a:buClr>
              <a:buSzPct val="60000"/>
              <a:buFont typeface="Wingdings" panose="05000000000000000000" pitchFamily="2" charset="2"/>
              <a:buNone/>
              <a:defRPr/>
            </a:pPr>
            <a:r>
              <a:rPr lang="en-US" altLang="zh-CN" sz="2000" b="1"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BNE R1,R2,Loop</a:t>
            </a:r>
            <a:endParaRPr kumimoji="0" lang="en-US" altLang="zh-CN" sz="2000" b="1" i="0" u="none" strike="noStrike" kern="0" cap="none" spc="0" normalizeH="0" baseline="0" noProof="0" dirty="0">
              <a:ln>
                <a:noFill/>
              </a:ln>
              <a:solidFill>
                <a:srgbClr val="0033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zh-CN" altLang="en-US" sz="2000" b="1" dirty="0">
              <a:latin typeface="Times New Roman" panose="02020603050405020304" pitchFamily="18" charset="0"/>
              <a:cs typeface="Times New Roman" panose="02020603050405020304" pitchFamily="18" charset="0"/>
            </a:endParaRPr>
          </a:p>
          <a:p>
            <a:pPr lvl="1" eaLnBrk="1" hangingPunct="1"/>
            <a:endParaRPr lang="zh-CN" altLang="en-US" sz="2000" b="1" dirty="0">
              <a:latin typeface="Times New Roman" panose="02020603050405020304" pitchFamily="18" charset="0"/>
              <a:cs typeface="Times New Roman" panose="02020603050405020304" pitchFamily="18" charset="0"/>
            </a:endParaRPr>
          </a:p>
          <a:p>
            <a:pPr marL="342900" lvl="0" indent="-342900">
              <a:lnSpc>
                <a:spcPct val="150000"/>
              </a:lnSpc>
              <a:spcBef>
                <a:spcPct val="0"/>
              </a:spcBef>
              <a:buClrTx/>
              <a:buSzTx/>
              <a:buFont typeface="Wingdings" panose="05000000000000000000" pitchFamily="2" charset="2"/>
              <a:buChar char="u"/>
            </a:pPr>
            <a:r>
              <a:rPr lang="zh-CN" altLang="en-US" sz="2000" b="1" dirty="0">
                <a:solidFill>
                  <a:srgbClr val="0039A6"/>
                </a:solidFill>
                <a:latin typeface="Times New Roman" panose="02020603050405020304" pitchFamily="18" charset="0"/>
                <a:ea typeface="黑体" panose="02010609060101010101" pitchFamily="49" charset="-122"/>
                <a:cs typeface="Times New Roman" panose="02020603050405020304" pitchFamily="18" charset="0"/>
                <a:sym typeface="+mn-ea"/>
              </a:rPr>
              <a:t>调度后：</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一次循环迭代</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7</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个时钟周期。</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循环展开</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98880"/>
            <a:ext cx="8396605" cy="5229860"/>
          </a:xfrm>
        </p:spPr>
        <p:txBody>
          <a:bodyPr vert="horz" wrap="square" lIns="91440" tIns="45720" rIns="91440" bIns="45720" anchor="t" anchorCtr="0"/>
          <a:lstStyle/>
          <a:p>
            <a:pPr algn="l" eaLnBrk="1" hangingPunct="1">
              <a:lnSpc>
                <a:spcPct val="100000"/>
              </a:lnSpc>
              <a:buSzTx/>
            </a:pPr>
            <a:r>
              <a:rPr lang="zh-CN" altLang="en-US" sz="2000" dirty="0">
                <a:sym typeface="+mn-ea"/>
              </a:rPr>
              <a:t>循环展开</a:t>
            </a:r>
            <a:endParaRPr lang="zh-CN" altLang="en-US" sz="2000" dirty="0"/>
          </a:p>
          <a:p>
            <a:pPr lvl="1" eaLnBrk="1" hangingPunct="1">
              <a:lnSpc>
                <a:spcPct val="90000"/>
              </a:lnSpc>
              <a:spcBef>
                <a:spcPts val="1200"/>
              </a:spcBef>
              <a:buSzPct val="55000"/>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sym typeface="+mn-ea"/>
              </a:rPr>
              <a:t>展开因子</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sym typeface="+mn-ea"/>
              </a:rPr>
              <a:t>4 (assume # elements is divisible by 4)</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buSzPct val="55000"/>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sym typeface="+mn-ea"/>
              </a:rPr>
              <a:t>消除不必要的指令</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spcBef>
                <a:spcPts val="1200"/>
              </a:spcBef>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Loop:	L.D F0,0(R1)</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ADD.D F4,F0,F2</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S.D F4,0(R1) ;</a:t>
            </a:r>
            <a:r>
              <a:rPr lang="en-US" altLang="zh-CN" sz="1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drop DADDUI &amp; BNE</a:t>
            </a:r>
            <a:endPar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L.D F6,-8(R1)</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ADD.D F8,F6,F2</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S.D F8,-8(R1) ;</a:t>
            </a:r>
            <a:r>
              <a:rPr lang="en-US" altLang="zh-CN" sz="1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drop DADDUI &amp; BNE</a:t>
            </a:r>
            <a:endPar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L.D F10,-16(R1)</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ADD.D F12,F10,F2</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S.D F12,-16(R1) ;</a:t>
            </a:r>
            <a:r>
              <a:rPr lang="en-US" altLang="zh-CN" sz="1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drop DADDUI &amp; BNE</a:t>
            </a:r>
            <a:endPar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L.D F14,-24(R1)</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ADD.D F16,F14,F2</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S.D F16,-24(R1)</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DADDUI R1,R1,#-32</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rPr>
              <a:t>		BNE R1,R2,Loop</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 name="文本框 1"/>
          <p:cNvSpPr txBox="1"/>
          <p:nvPr>
            <p:custDataLst>
              <p:tags r:id="rId2"/>
            </p:custDataLst>
          </p:nvPr>
        </p:nvSpPr>
        <p:spPr>
          <a:xfrm>
            <a:off x="5868035" y="2065338"/>
            <a:ext cx="2954338" cy="279273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60000"/>
              <a:buFont typeface="Wingdings" panose="05000000000000000000" pitchFamily="2" charset="2"/>
              <a:buChar char="n"/>
              <a:defRPr sz="3200">
                <a:solidFill>
                  <a:srgbClr val="003399"/>
                </a:solidFill>
                <a:latin typeface="+mn-lt"/>
                <a:ea typeface="+mn-ea"/>
                <a:cs typeface="+mn-cs"/>
              </a:defRPr>
            </a:lvl1pPr>
            <a:lvl2pPr marL="742950" indent="-285750" algn="l" rtl="0" eaLnBrk="0" fontAlgn="base" hangingPunct="0">
              <a:spcBef>
                <a:spcPct val="20000"/>
              </a:spcBef>
              <a:spcAft>
                <a:spcPct val="0"/>
              </a:spcAft>
              <a:buClr>
                <a:srgbClr val="003399"/>
              </a:buClr>
              <a:buSzPct val="55000"/>
              <a:buFont typeface="Wingdings" panose="05000000000000000000" pitchFamily="2" charset="2"/>
              <a:buChar char="n"/>
              <a:defRPr sz="2800">
                <a:solidFill>
                  <a:srgbClr val="0033CC"/>
                </a:solidFill>
                <a:latin typeface="+mn-lt"/>
              </a:defRPr>
            </a:lvl2pPr>
            <a:lvl3pPr marL="1143000" indent="-228600" algn="l" rtl="0" eaLnBrk="0" fontAlgn="base" hangingPunct="0">
              <a:spcBef>
                <a:spcPct val="20000"/>
              </a:spcBef>
              <a:spcAft>
                <a:spcPct val="0"/>
              </a:spcAft>
              <a:buClr>
                <a:srgbClr val="0033CC"/>
              </a:buClr>
              <a:buSzPct val="50000"/>
              <a:buFont typeface="Wingdings" panose="05000000000000000000" pitchFamily="2" charset="2"/>
              <a:buChar char="n"/>
              <a:defRPr sz="2400">
                <a:solidFill>
                  <a:srgbClr val="000066"/>
                </a:solidFill>
                <a:latin typeface="+mn-lt"/>
              </a:defRPr>
            </a:lvl3pPr>
            <a:lvl4pPr marL="1600200" indent="-228600" algn="l" rtl="0" eaLnBrk="0" fontAlgn="base" hangingPunct="0">
              <a:spcBef>
                <a:spcPct val="20000"/>
              </a:spcBef>
              <a:spcAft>
                <a:spcPct val="0"/>
              </a:spcAft>
              <a:buClr>
                <a:srgbClr val="000066"/>
              </a:buClr>
              <a:buSzPct val="55000"/>
              <a:buFont typeface="Wingdings" panose="05000000000000000000" pitchFamily="2" charset="2"/>
              <a:buChar char="n"/>
              <a:defRPr sz="2000">
                <a:solidFill>
                  <a:srgbClr val="0066FF"/>
                </a:solidFill>
                <a:latin typeface="+mn-lt"/>
              </a:defRPr>
            </a:lvl4pPr>
            <a:lvl5pPr marL="2057400" indent="-228600" algn="l" rtl="0" eaLnBrk="0" fontAlgn="base" hangingPunct="0">
              <a:spcBef>
                <a:spcPct val="20000"/>
              </a:spcBef>
              <a:spcAft>
                <a:spcPct val="0"/>
              </a:spcAft>
              <a:buClr>
                <a:srgbClr val="3399FF"/>
              </a:buClr>
              <a:buSzPct val="50000"/>
              <a:buFont typeface="Wingdings" panose="05000000000000000000" pitchFamily="2" charset="2"/>
              <a:buChar char="n"/>
              <a:defRPr sz="2000">
                <a:solidFill>
                  <a:srgbClr val="3399FF"/>
                </a:solidFill>
                <a:latin typeface="+mn-lt"/>
              </a:defRPr>
            </a:lvl5pPr>
          </a:lstStyle>
          <a:p>
            <a:pPr marL="342900" lvl="0" indent="-342900">
              <a:lnSpc>
                <a:spcPct val="130000"/>
              </a:lnSpc>
              <a:spcBef>
                <a:spcPts val="1200"/>
              </a:spcBef>
              <a:buClrTx/>
              <a:buSzTx/>
              <a:buFont typeface="Wingdings" panose="05000000000000000000" pitchFamily="2" charset="2"/>
              <a:buChar char="l"/>
            </a:pP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循环展开</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次；</a:t>
            </a:r>
            <a:endPar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lvl="0" indent="-342900">
              <a:lnSpc>
                <a:spcPct val="130000"/>
              </a:lnSpc>
              <a:spcBef>
                <a:spcPts val="1200"/>
              </a:spcBef>
              <a:buClrTx/>
              <a:buSzTx/>
              <a:buFont typeface="Wingdings" panose="05000000000000000000" pitchFamily="2" charset="2"/>
              <a:buChar char="l"/>
            </a:pP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使用不同的寄存器；</a:t>
            </a:r>
            <a:endPar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lvl="0" indent="-342900">
              <a:lnSpc>
                <a:spcPct val="130000"/>
              </a:lnSpc>
              <a:spcBef>
                <a:spcPts val="1200"/>
              </a:spcBef>
              <a:buClrTx/>
              <a:buSzTx/>
              <a:buFont typeface="Wingdings" panose="05000000000000000000" pitchFamily="2" charset="2"/>
              <a:buChar char="l"/>
            </a:pP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四个元素共</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27</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个时钟周期：</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14+3</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4+1</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每个</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LOAD</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一次停顿，每个</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ADD</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两次停顿，</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DADDUI</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一次停顿</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lvl="0" indent="-342900">
              <a:lnSpc>
                <a:spcPct val="130000"/>
              </a:lnSpc>
              <a:spcBef>
                <a:spcPts val="1200"/>
              </a:spcBef>
              <a:buClrTx/>
              <a:buSzTx/>
              <a:buFont typeface="Wingdings" panose="05000000000000000000" pitchFamily="2" charset="2"/>
              <a:buChar char="l"/>
            </a:pP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每个元素：</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27/4=6.75</a:t>
            </a:r>
            <a:endPar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循环展开+流水线调度</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98880"/>
            <a:ext cx="8396605" cy="5229860"/>
          </a:xfrm>
        </p:spPr>
        <p:txBody>
          <a:bodyPr vert="horz" wrap="square" lIns="91440" tIns="45720" rIns="91440" bIns="45720" anchor="t" anchorCtr="0"/>
          <a:lstStyle/>
          <a:p>
            <a:pPr algn="l" eaLnBrk="1" hangingPunct="1">
              <a:lnSpc>
                <a:spcPct val="100000"/>
              </a:lnSpc>
              <a:buSzTx/>
            </a:pPr>
            <a:r>
              <a:rPr lang="zh-CN" altLang="en-US" sz="2000" dirty="0">
                <a:sym typeface="+mn-ea"/>
              </a:rPr>
              <a:t>调度展开后的循环:</a:t>
            </a:r>
            <a:endParaRPr lang="zh-CN" altLang="en-US" sz="2000" dirty="0"/>
          </a:p>
          <a:p>
            <a:pPr eaLnBrk="1" hangingPunct="1">
              <a:lnSpc>
                <a:spcPct val="90000"/>
              </a:lnSpc>
              <a:buSzPct val="60000"/>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Loop:	L.D F0,0(R1)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L.D F6,-8(R1)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L.D F10,-16(R1)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L.D F14,-24(R1)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ADD.D F4,F0,F2</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ADD.D F8,F6,F2</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ADD.D F12,F10,F2</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ADD.D F16,F14,F2</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S.D F4,0(R1)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S.D F8,-8(R1)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DADDUI R1,R1,#-32</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S.D F12,16(R1)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S.D F16,8(R1)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60000"/>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		BNE R1,R2,Loop</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7" name="文本框 6"/>
          <p:cNvSpPr txBox="1"/>
          <p:nvPr>
            <p:custDataLst>
              <p:tags r:id="rId2"/>
            </p:custDataLst>
          </p:nvPr>
        </p:nvSpPr>
        <p:spPr>
          <a:xfrm>
            <a:off x="4914900" y="1844675"/>
            <a:ext cx="3671888" cy="4169410"/>
          </a:xfrm>
          <a:prstGeom prst="rect">
            <a:avLst/>
          </a:prstGeom>
          <a:noFill/>
        </p:spPr>
        <p:txBody>
          <a:bodyPr>
            <a:spAutoFit/>
          </a:bodyPr>
          <a:lstStyle/>
          <a:p>
            <a:pPr marL="342900" marR="0" indent="-342900" defTabSz="914400">
              <a:lnSpc>
                <a:spcPct val="150000"/>
              </a:lnSpc>
              <a:spcBef>
                <a:spcPts val="600"/>
              </a:spcBef>
              <a:buClrTx/>
              <a:buSzTx/>
              <a:buFont typeface="Wingdings" panose="05000000000000000000" pitchFamily="2" charset="2"/>
              <a:buChar char="l"/>
              <a:defRPr/>
            </a:pP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循环展开</a:t>
            </a:r>
            <a:r>
              <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次；</a:t>
            </a:r>
            <a:endPar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marR="0" indent="-342900" defTabSz="914400">
              <a:lnSpc>
                <a:spcPct val="150000"/>
              </a:lnSpc>
              <a:spcBef>
                <a:spcPts val="600"/>
              </a:spcBef>
              <a:buClrTx/>
              <a:buSzTx/>
              <a:buFont typeface="Wingdings" panose="05000000000000000000" pitchFamily="2" charset="2"/>
              <a:buChar char="l"/>
              <a:defRPr/>
            </a:pP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调度展开后的循环；</a:t>
            </a:r>
            <a:endPar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marR="0" indent="-342900" defTabSz="914400">
              <a:lnSpc>
                <a:spcPct val="150000"/>
              </a:lnSpc>
              <a:spcBef>
                <a:spcPts val="600"/>
              </a:spcBef>
              <a:buClrTx/>
              <a:buSzTx/>
              <a:buFont typeface="Wingdings" panose="05000000000000000000" pitchFamily="2" charset="2"/>
              <a:buChar char="l"/>
              <a:defRPr/>
            </a:pPr>
            <a:r>
              <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个元素共</a:t>
            </a:r>
            <a:r>
              <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14</a:t>
            </a: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个时钟周期：没有停顿；</a:t>
            </a:r>
            <a:endPar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marR="0" indent="-342900" defTabSz="914400">
              <a:lnSpc>
                <a:spcPct val="150000"/>
              </a:lnSpc>
              <a:spcBef>
                <a:spcPts val="600"/>
              </a:spcBef>
              <a:buClrTx/>
              <a:buSzTx/>
              <a:buFont typeface="Wingdings" panose="05000000000000000000" pitchFamily="2" charset="2"/>
              <a:buChar char="l"/>
              <a:defRPr/>
            </a:pP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每个元素：</a:t>
            </a:r>
            <a:r>
              <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14/4=3.5</a:t>
            </a: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个时钟周期</a:t>
            </a:r>
            <a:endPar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marR="0" indent="-342900" defTabSz="914400">
              <a:lnSpc>
                <a:spcPct val="150000"/>
              </a:lnSpc>
              <a:spcBef>
                <a:spcPts val="600"/>
              </a:spcBef>
              <a:buClrTx/>
              <a:buSzTx/>
              <a:buFont typeface="Wingdings" panose="05000000000000000000" pitchFamily="2" charset="2"/>
              <a:buChar char="l"/>
              <a:defRPr/>
            </a:pP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总体性能提升：</a:t>
            </a:r>
            <a:endPar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R="0" defTabSz="914400">
              <a:lnSpc>
                <a:spcPct val="150000"/>
              </a:lnSpc>
              <a:spcBef>
                <a:spcPts val="600"/>
              </a:spcBef>
              <a:buClrTx/>
              <a:buSzTx/>
              <a:buFontTx/>
              <a:buNone/>
              <a:defRPr/>
            </a:pP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9/3.5=2.57</a:t>
            </a:r>
            <a:r>
              <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倍</a:t>
            </a:r>
            <a:endParaRPr kumimoji="0" lang="zh-CN" altLang="en-US" sz="2000" kern="1200" cap="none" spc="0" normalizeH="0" baseline="0" noProof="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lstStyle/>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依靠编译器进行数据重定向的例子</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0" name="组合 19"/>
          <p:cNvGrpSpPr/>
          <p:nvPr/>
        </p:nvGrpSpPr>
        <p:grpSpPr>
          <a:xfrm>
            <a:off x="612140" y="1341120"/>
            <a:ext cx="8126730" cy="4842510"/>
            <a:chOff x="964" y="2225"/>
            <a:chExt cx="12798" cy="7626"/>
          </a:xfrm>
        </p:grpSpPr>
        <p:pic>
          <p:nvPicPr>
            <p:cNvPr id="3" name="图片 2"/>
            <p:cNvPicPr>
              <a:picLocks noChangeAspect="1"/>
            </p:cNvPicPr>
            <p:nvPr>
              <p:custDataLst>
                <p:tags r:id="rId1"/>
              </p:custDataLst>
            </p:nvPr>
          </p:nvPicPr>
          <p:blipFill>
            <a:blip r:embed="rId2"/>
            <a:stretch>
              <a:fillRect/>
            </a:stretch>
          </p:blipFill>
          <p:spPr>
            <a:xfrm>
              <a:off x="964" y="2225"/>
              <a:ext cx="12798" cy="7626"/>
            </a:xfrm>
            <a:prstGeom prst="rect">
              <a:avLst/>
            </a:prstGeom>
          </p:spPr>
        </p:pic>
        <p:cxnSp>
          <p:nvCxnSpPr>
            <p:cNvPr id="2" name="直接箭头连接符 1"/>
            <p:cNvCxnSpPr/>
            <p:nvPr/>
          </p:nvCxnSpPr>
          <p:spPr>
            <a:xfrm flipV="1">
              <a:off x="5304" y="3245"/>
              <a:ext cx="4050" cy="976"/>
            </a:xfrm>
            <a:prstGeom prst="straightConnector1">
              <a:avLst/>
            </a:prstGeom>
            <a:solidFill>
              <a:srgbClr val="FFFFFF"/>
            </a:solidFill>
            <a:ln w="9525" cap="flat" cmpd="sng" algn="ctr">
              <a:solidFill>
                <a:srgbClr val="FF0000"/>
              </a:solidFill>
              <a:prstDash val="solid"/>
              <a:round/>
              <a:headEnd type="none" w="med" len="med"/>
              <a:tailEnd type="arrow" w="med" len="med"/>
            </a:ln>
          </p:spPr>
        </p:cxnSp>
        <p:cxnSp>
          <p:nvCxnSpPr>
            <p:cNvPr id="4" name="直接箭头连接符 3"/>
            <p:cNvCxnSpPr/>
            <p:nvPr/>
          </p:nvCxnSpPr>
          <p:spPr>
            <a:xfrm flipV="1">
              <a:off x="5386" y="3812"/>
              <a:ext cx="3968" cy="1884"/>
            </a:xfrm>
            <a:prstGeom prst="straightConnector1">
              <a:avLst/>
            </a:prstGeom>
            <a:solidFill>
              <a:srgbClr val="FFFFFF"/>
            </a:solidFill>
            <a:ln w="9525" cap="flat" cmpd="sng" algn="ctr">
              <a:solidFill>
                <a:srgbClr val="FF0000"/>
              </a:solidFill>
              <a:prstDash val="solid"/>
              <a:round/>
              <a:headEnd type="none" w="med" len="med"/>
              <a:tailEnd type="arrow" w="med" len="med"/>
            </a:ln>
          </p:spPr>
        </p:cxnSp>
        <p:cxnSp>
          <p:nvCxnSpPr>
            <p:cNvPr id="5" name="直接箭头连接符 4"/>
            <p:cNvCxnSpPr/>
            <p:nvPr/>
          </p:nvCxnSpPr>
          <p:spPr>
            <a:xfrm flipV="1">
              <a:off x="5488" y="4266"/>
              <a:ext cx="3980" cy="2905"/>
            </a:xfrm>
            <a:prstGeom prst="straightConnector1">
              <a:avLst/>
            </a:prstGeom>
            <a:solidFill>
              <a:srgbClr val="FFFFFF"/>
            </a:solidFill>
            <a:ln w="9525" cap="flat" cmpd="sng" algn="ctr">
              <a:solidFill>
                <a:srgbClr val="FF0000"/>
              </a:solidFill>
              <a:prstDash val="solid"/>
              <a:round/>
              <a:headEnd type="none" w="med" len="med"/>
              <a:tailEnd type="arrow" w="med" len="med"/>
            </a:ln>
          </p:spPr>
        </p:cxnSp>
        <p:sp>
          <p:nvSpPr>
            <p:cNvPr id="8" name="左中括号 7"/>
            <p:cNvSpPr/>
            <p:nvPr/>
          </p:nvSpPr>
          <p:spPr>
            <a:xfrm>
              <a:off x="2324" y="2678"/>
              <a:ext cx="119" cy="1021"/>
            </a:xfrm>
            <a:prstGeom prst="leftBracket">
              <a:avLst/>
            </a:prstGeom>
            <a:solidFill>
              <a:srgbClr val="FFFFFF"/>
            </a:solidFill>
            <a:ln w="63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左中括号 8"/>
            <p:cNvSpPr/>
            <p:nvPr/>
          </p:nvSpPr>
          <p:spPr>
            <a:xfrm>
              <a:off x="2324" y="4039"/>
              <a:ext cx="119" cy="1021"/>
            </a:xfrm>
            <a:prstGeom prst="leftBracket">
              <a:avLst/>
            </a:prstGeom>
            <a:solidFill>
              <a:srgbClr val="FFFFFF"/>
            </a:solidFill>
            <a:ln w="63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左中括号 9"/>
            <p:cNvSpPr/>
            <p:nvPr/>
          </p:nvSpPr>
          <p:spPr>
            <a:xfrm>
              <a:off x="2324" y="5627"/>
              <a:ext cx="119" cy="1021"/>
            </a:xfrm>
            <a:prstGeom prst="leftBracket">
              <a:avLst/>
            </a:prstGeom>
            <a:solidFill>
              <a:srgbClr val="FFFFFF"/>
            </a:solidFill>
            <a:ln w="63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左中括号 10"/>
            <p:cNvSpPr/>
            <p:nvPr/>
          </p:nvSpPr>
          <p:spPr>
            <a:xfrm>
              <a:off x="2324" y="7101"/>
              <a:ext cx="119" cy="1021"/>
            </a:xfrm>
            <a:prstGeom prst="leftBracket">
              <a:avLst/>
            </a:prstGeom>
            <a:solidFill>
              <a:srgbClr val="FFFFFF"/>
            </a:solidFill>
            <a:ln w="6350"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右中括号 11"/>
            <p:cNvSpPr/>
            <p:nvPr/>
          </p:nvSpPr>
          <p:spPr>
            <a:xfrm>
              <a:off x="12756" y="2678"/>
              <a:ext cx="119" cy="1588"/>
            </a:xfrm>
            <a:prstGeom prst="rightBracket">
              <a:avLst/>
            </a:prstGeom>
            <a:solidFill>
              <a:srgbClr val="FFFFFF"/>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右中括号 12"/>
            <p:cNvSpPr/>
            <p:nvPr/>
          </p:nvSpPr>
          <p:spPr>
            <a:xfrm>
              <a:off x="12751" y="4493"/>
              <a:ext cx="119" cy="1588"/>
            </a:xfrm>
            <a:prstGeom prst="rightBracket">
              <a:avLst/>
            </a:prstGeom>
            <a:solidFill>
              <a:srgbClr val="FFFFFF"/>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右中括号 13"/>
            <p:cNvSpPr/>
            <p:nvPr/>
          </p:nvSpPr>
          <p:spPr>
            <a:xfrm>
              <a:off x="12756" y="6534"/>
              <a:ext cx="120" cy="637"/>
            </a:xfrm>
            <a:prstGeom prst="rightBracket">
              <a:avLst/>
            </a:prstGeom>
            <a:solidFill>
              <a:srgbClr val="FFFFFF"/>
            </a:solid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矩形 14"/>
            <p:cNvSpPr/>
            <p:nvPr/>
          </p:nvSpPr>
          <p:spPr>
            <a:xfrm>
              <a:off x="2324" y="8348"/>
              <a:ext cx="3288" cy="1134"/>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p:cNvSpPr/>
            <p:nvPr/>
          </p:nvSpPr>
          <p:spPr>
            <a:xfrm>
              <a:off x="9354" y="7441"/>
              <a:ext cx="3288" cy="501"/>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矩形 16"/>
            <p:cNvSpPr/>
            <p:nvPr/>
          </p:nvSpPr>
          <p:spPr>
            <a:xfrm>
              <a:off x="9354" y="8462"/>
              <a:ext cx="3288" cy="501"/>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8" name="直接箭头连接符 17"/>
            <p:cNvCxnSpPr/>
            <p:nvPr/>
          </p:nvCxnSpPr>
          <p:spPr>
            <a:xfrm flipV="1">
              <a:off x="5667" y="7668"/>
              <a:ext cx="3574" cy="1091"/>
            </a:xfrm>
            <a:prstGeom prst="straightConnector1">
              <a:avLst/>
            </a:prstGeom>
            <a:solidFill>
              <a:srgbClr val="FFFFFF"/>
            </a:solidFill>
            <a:ln w="9525" cap="flat" cmpd="sng" algn="ctr">
              <a:solidFill>
                <a:srgbClr val="FF0000"/>
              </a:solidFill>
              <a:prstDash val="solid"/>
              <a:round/>
              <a:headEnd type="none" w="med" len="med"/>
              <a:tailEnd type="arrow" w="med" len="med"/>
            </a:ln>
          </p:spPr>
        </p:cxnSp>
        <p:cxnSp>
          <p:nvCxnSpPr>
            <p:cNvPr id="19" name="直接箭头连接符 18"/>
            <p:cNvCxnSpPr>
              <a:endCxn id="17" idx="1"/>
            </p:cNvCxnSpPr>
            <p:nvPr/>
          </p:nvCxnSpPr>
          <p:spPr>
            <a:xfrm flipV="1">
              <a:off x="5612" y="8713"/>
              <a:ext cx="3742" cy="504"/>
            </a:xfrm>
            <a:prstGeom prst="straightConnector1">
              <a:avLst/>
            </a:prstGeom>
            <a:solidFill>
              <a:srgbClr val="FFFFFF"/>
            </a:solidFill>
            <a:ln w="9525" cap="flat" cmpd="sng" algn="ctr">
              <a:solidFill>
                <a:srgbClr val="FF0000"/>
              </a:solidFill>
              <a:prstDash val="solid"/>
              <a:round/>
              <a:headEnd type="none" w="med" len="med"/>
              <a:tailEnd type="arrow" w="med" len="med"/>
            </a:ln>
          </p:spPr>
        </p:cxn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练习——超标量和超流水处理机</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内容占位符 2"/>
          <p:cNvSpPr>
            <a:spLocks noGrp="1"/>
          </p:cNvSpPr>
          <p:nvPr>
            <p:ph idx="1"/>
          </p:nvPr>
        </p:nvSpPr>
        <p:spPr/>
        <p:txBody>
          <a:bodyPr/>
          <a:lstStyle/>
          <a:p>
            <a:r>
              <a:rPr lang="zh-CN" altLang="en-US" sz="2400" dirty="0">
                <a:latin typeface="Times New Roman" panose="02020603050405020304" pitchFamily="18" charset="0"/>
                <a:cs typeface="Times New Roman" panose="02020603050405020304" pitchFamily="18" charset="0"/>
              </a:rPr>
              <a:t>设指令流水线由取指、分析、执行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个部件组成，每个部件经过的时间为∆</a:t>
            </a:r>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，连续流入 </a:t>
            </a:r>
            <a:r>
              <a:rPr lang="en-US" altLang="zh-CN" sz="2400" dirty="0">
                <a:latin typeface="Times New Roman" panose="02020603050405020304" pitchFamily="18" charset="0"/>
                <a:cs typeface="Times New Roman" panose="02020603050405020304" pitchFamily="18" charset="0"/>
              </a:rPr>
              <a:t>12 </a:t>
            </a:r>
            <a:r>
              <a:rPr lang="zh-CN" altLang="en-US" sz="2400" dirty="0">
                <a:latin typeface="Times New Roman" panose="02020603050405020304" pitchFamily="18" charset="0"/>
                <a:cs typeface="Times New Roman" panose="02020603050405020304" pitchFamily="18" charset="0"/>
              </a:rPr>
              <a:t>条指令。请分别画出标量流水处理机以及 </a:t>
            </a:r>
            <a:r>
              <a:rPr lang="en-US" altLang="zh-CN" sz="2400" dirty="0">
                <a:latin typeface="Times New Roman" panose="02020603050405020304" pitchFamily="18" charset="0"/>
                <a:cs typeface="Times New Roman" panose="02020603050405020304" pitchFamily="18" charset="0"/>
              </a:rPr>
              <a:t>ILP </a:t>
            </a:r>
            <a:r>
              <a:rPr lang="zh-CN" altLang="en-US" sz="2400" dirty="0">
                <a:latin typeface="Times New Roman" panose="02020603050405020304" pitchFamily="18" charset="0"/>
                <a:cs typeface="Times New Roman" panose="02020603050405020304" pitchFamily="18" charset="0"/>
              </a:rPr>
              <a:t>均为 </a:t>
            </a:r>
            <a:r>
              <a:rPr lang="en-US" altLang="zh-CN" sz="2400" dirty="0">
                <a:latin typeface="Times New Roman" panose="02020603050405020304" pitchFamily="18" charset="0"/>
                <a:cs typeface="Times New Roman" panose="02020603050405020304" pitchFamily="18" charset="0"/>
              </a:rPr>
              <a:t>4 </a:t>
            </a:r>
            <a:r>
              <a:rPr lang="zh-CN" altLang="en-US" sz="2400" dirty="0">
                <a:latin typeface="Times New Roman" panose="02020603050405020304" pitchFamily="18" charset="0"/>
                <a:cs typeface="Times New Roman" panose="02020603050405020304" pitchFamily="18" charset="0"/>
              </a:rPr>
              <a:t>的超标量处理机、超流水处理机的时空图，并分别计算出它们相对于标量流水处理机的加速比。</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解答</a:t>
            </a:r>
            <a:endParaRPr lang="zh-CN" altLang="en-US" dirty="0"/>
          </a:p>
        </p:txBody>
      </p:sp>
      <p:pic>
        <p:nvPicPr>
          <p:cNvPr id="5" name="图片 4"/>
          <p:cNvPicPr>
            <a:picLocks noChangeAspect="1"/>
          </p:cNvPicPr>
          <p:nvPr/>
        </p:nvPicPr>
        <p:blipFill>
          <a:blip r:embed="rId1"/>
          <a:stretch>
            <a:fillRect/>
          </a:stretch>
        </p:blipFill>
        <p:spPr>
          <a:xfrm>
            <a:off x="714375" y="2195512"/>
            <a:ext cx="7715250" cy="246697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解答</a:t>
            </a:r>
            <a:endParaRPr lang="zh-CN" altLang="en-US" dirty="0"/>
          </a:p>
        </p:txBody>
      </p:sp>
      <p:sp>
        <p:nvSpPr>
          <p:cNvPr id="3" name="内容占位符 2"/>
          <p:cNvSpPr>
            <a:spLocks noGrp="1"/>
          </p:cNvSpPr>
          <p:nvPr>
            <p:ph idx="1"/>
          </p:nvPr>
        </p:nvSpPr>
        <p:spPr>
          <a:xfrm>
            <a:off x="468412" y="1417638"/>
            <a:ext cx="8229600" cy="604664"/>
          </a:xfrm>
        </p:spPr>
        <p:txBody>
          <a:bodyPr/>
          <a:lstStyle/>
          <a:p>
            <a:r>
              <a:rPr lang="zh-CN" altLang="en-US" dirty="0"/>
              <a:t>超标量时空图：</a:t>
            </a:r>
            <a:endParaRPr lang="zh-CN" altLang="en-US" dirty="0"/>
          </a:p>
        </p:txBody>
      </p:sp>
      <p:pic>
        <p:nvPicPr>
          <p:cNvPr id="5" name="图片 4"/>
          <p:cNvPicPr>
            <a:picLocks noChangeAspect="1"/>
          </p:cNvPicPr>
          <p:nvPr/>
        </p:nvPicPr>
        <p:blipFill>
          <a:blip r:embed="rId1"/>
          <a:stretch>
            <a:fillRect/>
          </a:stretch>
        </p:blipFill>
        <p:spPr>
          <a:xfrm>
            <a:off x="3476014" y="1565077"/>
            <a:ext cx="4269126" cy="3727846"/>
          </a:xfrm>
          <a:prstGeom prst="rect">
            <a:avLst/>
          </a:prstGeom>
        </p:spPr>
      </p:pic>
      <p:pic>
        <p:nvPicPr>
          <p:cNvPr id="7" name="图片 6"/>
          <p:cNvPicPr>
            <a:picLocks noChangeAspect="1"/>
          </p:cNvPicPr>
          <p:nvPr/>
        </p:nvPicPr>
        <p:blipFill>
          <a:blip r:embed="rId2"/>
          <a:stretch>
            <a:fillRect/>
          </a:stretch>
        </p:blipFill>
        <p:spPr>
          <a:xfrm>
            <a:off x="857250" y="5440362"/>
            <a:ext cx="7429500" cy="9144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解答</a:t>
            </a:r>
            <a:endParaRPr lang="zh-CN" altLang="en-US" dirty="0"/>
          </a:p>
        </p:txBody>
      </p:sp>
      <p:sp>
        <p:nvSpPr>
          <p:cNvPr id="3" name="内容占位符 2"/>
          <p:cNvSpPr>
            <a:spLocks noGrp="1"/>
          </p:cNvSpPr>
          <p:nvPr>
            <p:ph idx="1"/>
          </p:nvPr>
        </p:nvSpPr>
        <p:spPr>
          <a:xfrm>
            <a:off x="468412" y="1417638"/>
            <a:ext cx="8229600" cy="604664"/>
          </a:xfrm>
        </p:spPr>
        <p:txBody>
          <a:bodyPr/>
          <a:lstStyle/>
          <a:p>
            <a:r>
              <a:rPr lang="zh-CN" altLang="en-US" dirty="0"/>
              <a:t>超流水时空图：</a:t>
            </a:r>
            <a:endParaRPr lang="zh-CN" altLang="en-US" dirty="0"/>
          </a:p>
        </p:txBody>
      </p:sp>
      <p:pic>
        <p:nvPicPr>
          <p:cNvPr id="6" name="图片 5"/>
          <p:cNvPicPr>
            <a:picLocks noChangeAspect="1"/>
          </p:cNvPicPr>
          <p:nvPr/>
        </p:nvPicPr>
        <p:blipFill>
          <a:blip r:embed="rId1"/>
          <a:stretch>
            <a:fillRect/>
          </a:stretch>
        </p:blipFill>
        <p:spPr>
          <a:xfrm>
            <a:off x="3635896" y="1648215"/>
            <a:ext cx="4680520" cy="3315790"/>
          </a:xfrm>
          <a:prstGeom prst="rect">
            <a:avLst/>
          </a:prstGeom>
        </p:spPr>
      </p:pic>
      <p:pic>
        <p:nvPicPr>
          <p:cNvPr id="9" name="图片 8"/>
          <p:cNvPicPr>
            <a:picLocks noChangeAspect="1"/>
          </p:cNvPicPr>
          <p:nvPr/>
        </p:nvPicPr>
        <p:blipFill>
          <a:blip r:embed="rId2"/>
          <a:stretch>
            <a:fillRect/>
          </a:stretch>
        </p:blipFill>
        <p:spPr>
          <a:xfrm>
            <a:off x="698902" y="5229200"/>
            <a:ext cx="7627882" cy="864096"/>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第七章</a:t>
            </a:r>
            <a:r>
              <a:rPr lang="en-US" altLang="zh-CN"/>
              <a:t> </a:t>
            </a:r>
            <a:r>
              <a:rPr lang="zh-CN" altLang="en-US"/>
              <a:t>互连</a:t>
            </a:r>
            <a:r>
              <a:rPr lang="zh-CN" altLang="en-US"/>
              <a:t>网络</a:t>
            </a:r>
            <a:endParaRPr lang="zh-CN" altLang="en-US"/>
          </a:p>
        </p:txBody>
      </p:sp>
      <p:sp>
        <p:nvSpPr>
          <p:cNvPr id="125954" name="Rectangle 3"/>
          <p:cNvSpPr>
            <a:spLocks noGrp="1"/>
          </p:cNvSpPr>
          <p:nvPr>
            <p:ph idx="1"/>
            <p:custDataLst>
              <p:tags r:id="rId1"/>
            </p:custDataLst>
          </p:nvPr>
        </p:nvSpPr>
        <p:spPr>
          <a:xfrm>
            <a:off x="558800" y="1303020"/>
            <a:ext cx="8396605" cy="4900295"/>
          </a:xfrm>
        </p:spPr>
        <p:txBody>
          <a:bodyPr vert="horz" wrap="square" lIns="91440" tIns="45720" rIns="91440" bIns="45720" anchor="t" anchorCtr="0"/>
          <a:p>
            <a:pPr eaLnBrk="1" hangingPunct="1"/>
            <a:r>
              <a:rPr lang="zh-CN" altLang="en-US" sz="2400" dirty="0">
                <a:latin typeface="Times New Roman" panose="02020603050405020304" pitchFamily="18" charset="0"/>
                <a:cs typeface="Times New Roman" panose="02020603050405020304" pitchFamily="18" charset="0"/>
                <a:sym typeface="+mn-ea"/>
              </a:rPr>
              <a:t>常用的互连</a:t>
            </a:r>
            <a:r>
              <a:rPr lang="zh-CN" altLang="en-US" sz="2400" dirty="0">
                <a:latin typeface="Times New Roman" panose="02020603050405020304" pitchFamily="18" charset="0"/>
                <a:cs typeface="Times New Roman" panose="02020603050405020304" pitchFamily="18" charset="0"/>
                <a:sym typeface="+mn-ea"/>
              </a:rPr>
              <a:t>函数</a:t>
            </a:r>
            <a:endParaRPr lang="zh-CN" altLang="en-US" sz="24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恒等置换</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交换置换</a:t>
            </a:r>
            <a:endParaRPr lang="zh-CN" altLang="en-US" sz="2000" dirty="0">
              <a:latin typeface="Times New Roman" panose="02020603050405020304" pitchFamily="18" charset="0"/>
              <a:cs typeface="Times New Roman" panose="02020603050405020304" pitchFamily="18" charset="0"/>
              <a:sym typeface="+mn-ea"/>
            </a:endParaRPr>
          </a:p>
          <a:p>
            <a:pPr lvl="1" algn="l" eaLnBrk="1" latinLnBrk="0" hangingPunct="1">
              <a:spcBef>
                <a:spcPts val="600"/>
              </a:spcBef>
              <a:buSzTx/>
            </a:pPr>
            <a:r>
              <a:rPr lang="zh-CN" altLang="en-US" sz="2000" dirty="0">
                <a:latin typeface="Times New Roman" panose="02020603050405020304" pitchFamily="18" charset="0"/>
                <a:cs typeface="Times New Roman" panose="02020603050405020304" pitchFamily="18" charset="0"/>
              </a:rPr>
              <a:t>方体</a:t>
            </a:r>
            <a:r>
              <a:rPr lang="zh-CN" altLang="en-US" sz="2000" dirty="0">
                <a:latin typeface="Times New Roman" panose="02020603050405020304" pitchFamily="18" charset="0"/>
                <a:cs typeface="Times New Roman" panose="02020603050405020304" pitchFamily="18" charset="0"/>
              </a:rPr>
              <a:t>置换</a:t>
            </a:r>
            <a:endParaRPr lang="zh-CN" altLang="en-US" sz="2000" dirty="0">
              <a:latin typeface="Times New Roman" panose="02020603050405020304" pitchFamily="18" charset="0"/>
              <a:cs typeface="Times New Roman" panose="02020603050405020304" pitchFamily="18" charset="0"/>
            </a:endParaRPr>
          </a:p>
          <a:p>
            <a:pPr lvl="1" algn="l" eaLnBrk="1" latinLnBrk="0" hangingPunct="1">
              <a:spcBef>
                <a:spcPts val="600"/>
              </a:spcBef>
              <a:buSzTx/>
            </a:pPr>
            <a:r>
              <a:rPr lang="zh-CN" altLang="en-US" sz="2000" dirty="0">
                <a:latin typeface="Times New Roman" panose="02020603050405020304" pitchFamily="18" charset="0"/>
                <a:cs typeface="Times New Roman" panose="02020603050405020304" pitchFamily="18" charset="0"/>
              </a:rPr>
              <a:t>混洗</a:t>
            </a:r>
            <a:r>
              <a:rPr lang="zh-CN" altLang="en-US" sz="2000" dirty="0">
                <a:latin typeface="Times New Roman" panose="02020603050405020304" pitchFamily="18" charset="0"/>
                <a:cs typeface="Times New Roman" panose="02020603050405020304" pitchFamily="18" charset="0"/>
              </a:rPr>
              <a:t>函数</a:t>
            </a:r>
            <a:endParaRPr lang="zh-CN" altLang="en-US" sz="2000" dirty="0">
              <a:latin typeface="Times New Roman" panose="02020603050405020304" pitchFamily="18" charset="0"/>
              <a:cs typeface="Times New Roman" panose="02020603050405020304" pitchFamily="18" charset="0"/>
            </a:endParaRPr>
          </a:p>
          <a:p>
            <a:pPr lvl="1" algn="l" eaLnBrk="1" latinLnBrk="0" hangingPunct="1">
              <a:spcBef>
                <a:spcPts val="600"/>
              </a:spcBef>
              <a:buSzTx/>
            </a:pPr>
            <a:r>
              <a:rPr lang="zh-CN" altLang="en-US" sz="2000" dirty="0">
                <a:latin typeface="Times New Roman" panose="02020603050405020304" pitchFamily="18" charset="0"/>
                <a:cs typeface="Times New Roman" panose="02020603050405020304" pitchFamily="18" charset="0"/>
              </a:rPr>
              <a:t>蝶式</a:t>
            </a:r>
            <a:r>
              <a:rPr lang="zh-CN" altLang="en-US" sz="2000" dirty="0">
                <a:latin typeface="Times New Roman" panose="02020603050405020304" pitchFamily="18" charset="0"/>
                <a:cs typeface="Times New Roman" panose="02020603050405020304" pitchFamily="18" charset="0"/>
              </a:rPr>
              <a:t>函数</a:t>
            </a:r>
            <a:endParaRPr lang="zh-CN" altLang="en-US" sz="2000" dirty="0">
              <a:latin typeface="Times New Roman" panose="02020603050405020304" pitchFamily="18" charset="0"/>
              <a:cs typeface="Times New Roman" panose="02020603050405020304" pitchFamily="18" charset="0"/>
            </a:endParaRPr>
          </a:p>
          <a:p>
            <a:pPr lvl="1" algn="l" eaLnBrk="1" latinLnBrk="0" hangingPunct="1">
              <a:spcBef>
                <a:spcPts val="600"/>
              </a:spcBef>
              <a:buSzTx/>
            </a:pPr>
            <a:r>
              <a:rPr lang="zh-CN" altLang="en-US" sz="2000" dirty="0">
                <a:latin typeface="Times New Roman" panose="02020603050405020304" pitchFamily="18" charset="0"/>
                <a:cs typeface="Times New Roman" panose="02020603050405020304" pitchFamily="18" charset="0"/>
              </a:rPr>
              <a:t>移</a:t>
            </a:r>
            <a:r>
              <a:rPr lang="zh-CN" altLang="en-US" sz="2000" dirty="0">
                <a:latin typeface="Times New Roman" panose="02020603050405020304" pitchFamily="18" charset="0"/>
                <a:cs typeface="Times New Roman" panose="02020603050405020304" pitchFamily="18" charset="0"/>
              </a:rPr>
              <a:t>数函数</a:t>
            </a:r>
            <a:endParaRPr lang="zh-CN" altLang="en-US" sz="2000" dirty="0">
              <a:latin typeface="Times New Roman" panose="02020603050405020304" pitchFamily="18" charset="0"/>
              <a:cs typeface="Times New Roman" panose="02020603050405020304" pitchFamily="18" charset="0"/>
            </a:endParaRPr>
          </a:p>
          <a:p>
            <a:pPr marL="342900" lvl="1" indent="-342900" algn="l" eaLnBrk="1" latinLnBrk="0" hangingPunct="1">
              <a:spcBef>
                <a:spcPts val="1200"/>
              </a:spcBef>
              <a:buSzTx/>
              <a:buChar char="v"/>
            </a:pPr>
            <a:r>
              <a:rPr lang="zh-CN" altLang="en-US" sz="2400" b="1" dirty="0">
                <a:solidFill>
                  <a:schemeClr val="hlink"/>
                </a:solidFill>
                <a:latin typeface="Times New Roman" panose="02020603050405020304" pitchFamily="18" charset="0"/>
                <a:cs typeface="Times New Roman" panose="02020603050405020304" pitchFamily="18" charset="0"/>
                <a:sym typeface="+mn-ea"/>
              </a:rPr>
              <a:t> </a:t>
            </a:r>
            <a:r>
              <a:rPr lang="zh-CN" altLang="en-US" sz="2400" b="1" dirty="0">
                <a:solidFill>
                  <a:schemeClr val="hlink"/>
                </a:solidFill>
                <a:latin typeface="Times New Roman" panose="02020603050405020304" pitchFamily="18" charset="0"/>
                <a:cs typeface="Times New Roman" panose="02020603050405020304" pitchFamily="18" charset="0"/>
                <a:sym typeface="+mn-ea"/>
              </a:rPr>
              <a:t>多级互连网络的开关控制和寻径</a:t>
            </a:r>
            <a:r>
              <a:rPr lang="zh-CN" altLang="en-US" sz="2400" b="1" dirty="0">
                <a:solidFill>
                  <a:schemeClr val="hlink"/>
                </a:solidFill>
                <a:latin typeface="Times New Roman" panose="02020603050405020304" pitchFamily="18" charset="0"/>
                <a:cs typeface="Times New Roman" panose="02020603050405020304" pitchFamily="18" charset="0"/>
                <a:sym typeface="+mn-ea"/>
              </a:rPr>
              <a:t>算法</a:t>
            </a:r>
            <a:endParaRPr lang="zh-CN" altLang="en-US" sz="2400" b="1" dirty="0">
              <a:solidFill>
                <a:schemeClr val="hlink"/>
              </a:solidFill>
              <a:latin typeface="Times New Roman" panose="02020603050405020304" pitchFamily="18" charset="0"/>
              <a:cs typeface="Times New Roman" panose="02020603050405020304" pitchFamily="18" charset="0"/>
              <a:sym typeface="+mn-ea"/>
            </a:endParaRPr>
          </a:p>
          <a:p>
            <a:pPr lvl="1" algn="l" eaLnBrk="1" latinLnBrk="0" hangingPunct="1">
              <a:spcBef>
                <a:spcPts val="600"/>
              </a:spcBef>
              <a:buSzTx/>
              <a:buChar char="§"/>
            </a:pPr>
            <a:r>
              <a:rPr lang="zh-CN" altLang="en-US" sz="2000" dirty="0">
                <a:latin typeface="Times New Roman" panose="02020603050405020304" pitchFamily="18" charset="0"/>
                <a:cs typeface="Times New Roman" panose="02020603050405020304" pitchFamily="18" charset="0"/>
                <a:sym typeface="+mn-ea"/>
              </a:rPr>
              <a:t>简介二进制</a:t>
            </a:r>
            <a:r>
              <a:rPr lang="zh-CN" altLang="en-US" sz="2000" dirty="0">
                <a:latin typeface="Times New Roman" panose="02020603050405020304" pitchFamily="18" charset="0"/>
                <a:cs typeface="Times New Roman" panose="02020603050405020304" pitchFamily="18" charset="0"/>
                <a:sym typeface="+mn-ea"/>
              </a:rPr>
              <a:t>N立方体网络</a:t>
            </a:r>
            <a:endParaRPr lang="zh-CN" altLang="en-US" sz="2000" dirty="0">
              <a:latin typeface="Times New Roman" panose="02020603050405020304" pitchFamily="18" charset="0"/>
              <a:cs typeface="Times New Roman" panose="02020603050405020304" pitchFamily="18" charset="0"/>
              <a:sym typeface="+mn-ea"/>
            </a:endParaRPr>
          </a:p>
          <a:p>
            <a:pPr lvl="1" algn="l" eaLnBrk="1" latinLnBrk="0" hangingPunct="1">
              <a:spcBef>
                <a:spcPts val="600"/>
              </a:spcBef>
              <a:buSzTx/>
              <a:buChar char="§"/>
            </a:pPr>
            <a:r>
              <a:rPr lang="zh-CN" altLang="en-US" sz="2000" dirty="0">
                <a:latin typeface="Times New Roman" panose="02020603050405020304" pitchFamily="18" charset="0"/>
                <a:cs typeface="Times New Roman" panose="02020603050405020304" pitchFamily="18" charset="0"/>
                <a:sym typeface="+mn-ea"/>
              </a:rPr>
              <a:t>Omega网络</a:t>
            </a:r>
            <a:endParaRPr lang="zh-CN" altLang="en-US" sz="2000" dirty="0">
              <a:latin typeface="Times New Roman" panose="02020603050405020304" pitchFamily="18" charset="0"/>
              <a:cs typeface="Times New Roman" panose="02020603050405020304" pitchFamily="18" charset="0"/>
              <a:sym typeface="+mn-ea"/>
            </a:endParaRPr>
          </a:p>
          <a:p>
            <a:pPr lvl="1" algn="l" eaLnBrk="1" hangingPunct="1">
              <a:spcBef>
                <a:spcPts val="600"/>
              </a:spcBef>
              <a:buSzTx/>
            </a:pPr>
            <a:endParaRPr lang="zh-CN" altLang="en-US"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间接二进制</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立方体网络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351145"/>
          </a:xfrm>
        </p:spPr>
        <p:txBody>
          <a:bodyPr vert="horz" wrap="square" lIns="91440" tIns="45720" rIns="91440" bIns="45720" anchor="t" anchorCtr="0"/>
          <a:p>
            <a:pPr marL="122555" indent="-122555" eaLnBrk="1" latinLnBrk="0" hangingPunct="1">
              <a:spcBef>
                <a:spcPts val="1200"/>
              </a:spcBef>
            </a:pPr>
            <a:r>
              <a:rPr lang="zh-CN" altLang="en-US" sz="2000">
                <a:latin typeface="Times New Roman" panose="02020603050405020304" pitchFamily="18" charset="0"/>
                <a:cs typeface="Times New Roman" panose="02020603050405020304" pitchFamily="18" charset="0"/>
              </a:rPr>
              <a:t>若间接二进制</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方体网络的输入端或输出端数为</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，则网络级数为</a:t>
            </a:r>
            <a:r>
              <a:rPr lang="en-US" altLang="zh-CN" sz="2000">
                <a:latin typeface="Times New Roman" panose="02020603050405020304" pitchFamily="18" charset="0"/>
                <a:cs typeface="Times New Roman" panose="02020603050405020304" pitchFamily="18" charset="0"/>
              </a:rPr>
              <a:t> m=log</a:t>
            </a:r>
            <a:r>
              <a:rPr lang="en-US" altLang="zh-CN" sz="2000" baseline="-25000">
                <a:latin typeface="Times New Roman" panose="02020603050405020304" pitchFamily="18" charset="0"/>
                <a:cs typeface="Times New Roman" panose="02020603050405020304" pitchFamily="18" charset="0"/>
              </a:rPr>
              <a:t>2</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每级有</a:t>
            </a:r>
            <a:r>
              <a:rPr lang="en-US" altLang="zh-CN" sz="2000">
                <a:latin typeface="Times New Roman" panose="02020603050405020304" pitchFamily="18" charset="0"/>
                <a:cs typeface="Times New Roman" panose="02020603050405020304" pitchFamily="18" charset="0"/>
              </a:rPr>
              <a:t>N/2</a:t>
            </a:r>
            <a:r>
              <a:rPr lang="zh-CN" altLang="en-US" sz="2000">
                <a:latin typeface="Times New Roman" panose="02020603050405020304" pitchFamily="18" charset="0"/>
                <a:cs typeface="Times New Roman" panose="02020603050405020304" pitchFamily="18" charset="0"/>
              </a:rPr>
              <a:t>个交叉开关，故</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方体网络的开关数为</a:t>
            </a:r>
            <a:r>
              <a:rPr lang="en-US" altLang="zh-CN" sz="2000">
                <a:latin typeface="Times New Roman" panose="02020603050405020304" pitchFamily="18" charset="0"/>
                <a:cs typeface="Times New Roman" panose="02020603050405020304" pitchFamily="18" charset="0"/>
              </a:rPr>
              <a:t>(N/2)1og</a:t>
            </a:r>
            <a:r>
              <a:rPr lang="en-US" altLang="zh-CN" sz="2000" baseline="-25000">
                <a:latin typeface="Times New Roman" panose="02020603050405020304" pitchFamily="18" charset="0"/>
                <a:cs typeface="Times New Roman" panose="02020603050405020304" pitchFamily="18" charset="0"/>
                <a:sym typeface="+mn-ea"/>
              </a:rPr>
              <a:t>2</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。间接二进制</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方体网络的结构特点是</a:t>
            </a:r>
            <a:r>
              <a:rPr lang="en-US" altLang="zh-CN" sz="2000">
                <a:latin typeface="Times New Roman" panose="02020603050405020304" pitchFamily="18" charset="0"/>
                <a:cs typeface="Times New Roman" panose="02020603050405020304" pitchFamily="18" charset="0"/>
              </a:rPr>
              <a:t>:</a:t>
            </a:r>
            <a:endParaRPr lang="en-US" altLang="zh-CN" sz="200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(1)采用2</a:t>
            </a:r>
            <a:r>
              <a:rPr lang="en-US" altLang="zh-CN" sz="1800" dirty="0">
                <a:latin typeface="Times New Roman" panose="02020603050405020304" pitchFamily="18" charset="0"/>
                <a:cs typeface="Times New Roman" panose="02020603050405020304" pitchFamily="18" charset="0"/>
                <a:sym typeface="+mn-ea"/>
              </a:rPr>
              <a:t>×</a:t>
            </a:r>
            <a:r>
              <a:rPr lang="zh-CN" altLang="en-US" sz="1800" dirty="0">
                <a:latin typeface="Times New Roman" panose="02020603050405020304" pitchFamily="18" charset="0"/>
                <a:cs typeface="Times New Roman" panose="02020603050405020304" pitchFamily="18" charset="0"/>
              </a:rPr>
              <a:t>2的2功能交叉开关，两个功能为直送和交叉。</a:t>
            </a:r>
            <a:endParaRPr lang="zh-CN" altLang="en-US" sz="1800" dirty="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(2)各级交叉开关级的级号</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从网络输入端到输出端，依次为K</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n-1</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(3)级间连接模式从网络输入端到输出端依次表示为 C</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，其中，C</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是恒等置换，C</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n-1</a:t>
            </a:r>
            <a:r>
              <a:rPr lang="zh-CN" altLang="en-US" sz="1800" dirty="0">
                <a:latin typeface="Times New Roman" panose="02020603050405020304" pitchFamily="18" charset="0"/>
                <a:cs typeface="Times New Roman" panose="02020603050405020304" pitchFamily="18" charset="0"/>
              </a:rPr>
              <a:t>都是子蝶式置换，Cn是逆洗牌置换。</a:t>
            </a:r>
            <a:endParaRPr lang="zh-CN" altLang="en-US" sz="1800" dirty="0">
              <a:latin typeface="Times New Roman" panose="02020603050405020304" pitchFamily="18" charset="0"/>
              <a:cs typeface="Times New Roman" panose="02020603050405020304" pitchFamily="18" charset="0"/>
            </a:endParaRPr>
          </a:p>
          <a:p>
            <a:pPr marL="0" lvl="0" indent="-114300" algn="l" eaLnBrk="1" latinLnBrk="0" hangingPunct="1">
              <a:spcBef>
                <a:spcPts val="1200"/>
              </a:spcBef>
              <a:buSzTx/>
            </a:pPr>
            <a:r>
              <a:rPr lang="zh-CN" altLang="en-US" sz="2000">
                <a:solidFill>
                  <a:srgbClr val="FF0000"/>
                </a:solidFill>
                <a:latin typeface="Times New Roman" panose="02020603050405020304" pitchFamily="18" charset="0"/>
                <a:cs typeface="Times New Roman" panose="02020603050405020304" pitchFamily="18" charset="0"/>
              </a:rPr>
              <a:t>n方体网络的开关控制与寻径算法</a:t>
            </a:r>
            <a:r>
              <a:rPr lang="zh-CN" altLang="en-US" sz="2000">
                <a:latin typeface="Times New Roman" panose="02020603050405020304" pitchFamily="18" charset="0"/>
                <a:cs typeface="Times New Roman" panose="02020603050405020304" pitchFamily="18" charset="0"/>
                <a:sym typeface="+mn-ea"/>
              </a:rPr>
              <a:t>:</a:t>
            </a:r>
            <a:endParaRPr lang="zh-CN" altLang="en-US" sz="2000">
              <a:latin typeface="Times New Roman" panose="02020603050405020304" pitchFamily="18" charset="0"/>
              <a:cs typeface="Times New Roman" panose="02020603050405020304" pitchFamily="18" charset="0"/>
              <a:sym typeface="+mn-ea"/>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设输入端二进制地址为 S=</a:t>
            </a:r>
            <a:r>
              <a:rPr lang="en-US" altLang="zh-CN" sz="1800" dirty="0">
                <a:latin typeface="Times New Roman" panose="02020603050405020304" pitchFamily="18" charset="0"/>
                <a:cs typeface="Times New Roman" panose="02020603050405020304" pitchFamily="18" charset="0"/>
              </a:rPr>
              <a:t>S</a:t>
            </a:r>
            <a:r>
              <a:rPr lang="zh-CN" altLang="en-US" sz="1800" baseline="-25000" dirty="0">
                <a:latin typeface="Times New Roman" panose="02020603050405020304" pitchFamily="18" charset="0"/>
                <a:cs typeface="Times New Roman" panose="02020603050405020304" pitchFamily="18" charset="0"/>
              </a:rPr>
              <a:t>n-</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S</a:t>
            </a:r>
            <a:r>
              <a:rPr lang="zh-CN" altLang="en-US" sz="1800" baseline="-25000" dirty="0">
                <a:latin typeface="Times New Roman" panose="02020603050405020304" pitchFamily="18" charset="0"/>
                <a:cs typeface="Times New Roman" panose="02020603050405020304" pitchFamily="18" charset="0"/>
              </a:rPr>
              <a:t>n-2</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S</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S</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，输出端二进制地址为 D=d</a:t>
            </a:r>
            <a:r>
              <a:rPr lang="zh-CN" altLang="en-US" sz="1800" baseline="-25000" dirty="0">
                <a:latin typeface="Times New Roman" panose="02020603050405020304" pitchFamily="18" charset="0"/>
                <a:cs typeface="Times New Roman" panose="02020603050405020304" pitchFamily="18" charset="0"/>
              </a:rPr>
              <a:t>n-</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d</a:t>
            </a:r>
            <a:r>
              <a:rPr lang="zh-CN" altLang="en-US" sz="1800" baseline="-25000" dirty="0">
                <a:latin typeface="Times New Roman" panose="02020603050405020304" pitchFamily="18" charset="0"/>
                <a:cs typeface="Times New Roman" panose="02020603050405020304" pitchFamily="18" charset="0"/>
              </a:rPr>
              <a:t>n-2</a:t>
            </a:r>
            <a:r>
              <a:rPr lang="zh-CN" altLang="en-US" sz="1800" dirty="0">
                <a:latin typeface="Times New Roman" panose="02020603050405020304" pitchFamily="18" charset="0"/>
                <a:cs typeface="Times New Roman" panose="02020603050405020304" pitchFamily="18" charset="0"/>
              </a:rPr>
              <a:t>…d</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 d</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a:t>
            </a:r>
            <a:r>
              <a:rPr lang="zh-CN" altLang="en-US" sz="1800" dirty="0">
                <a:solidFill>
                  <a:srgbClr val="FF0000"/>
                </a:solidFill>
                <a:latin typeface="Times New Roman" panose="02020603050405020304" pitchFamily="18" charset="0"/>
                <a:cs typeface="Times New Roman" panose="02020603050405020304" pitchFamily="18" charset="0"/>
              </a:rPr>
              <a:t>则 </a:t>
            </a:r>
            <a:r>
              <a:rPr lang="en-US" altLang="zh-CN" sz="1800" dirty="0">
                <a:solidFill>
                  <a:srgbClr val="FF0000"/>
                </a:solidFill>
                <a:latin typeface="Times New Roman" panose="02020603050405020304" pitchFamily="18" charset="0"/>
                <a:cs typeface="Times New Roman" panose="02020603050405020304" pitchFamily="18" charset="0"/>
              </a:rPr>
              <a:t>s</a:t>
            </a:r>
            <a:r>
              <a:rPr lang="en-US" altLang="zh-CN" sz="1800" baseline="-25000" dirty="0">
                <a:solidFill>
                  <a:srgbClr val="FF0000"/>
                </a:solidFill>
                <a:latin typeface="Times New Roman" panose="02020603050405020304" pitchFamily="18" charset="0"/>
                <a:cs typeface="Times New Roman" panose="02020603050405020304" pitchFamily="18" charset="0"/>
              </a:rPr>
              <a:t>i</a:t>
            </a:r>
            <a:r>
              <a:rPr lang="en-US" altLang="zh-CN" sz="1800" dirty="0">
                <a:solidFill>
                  <a:srgbClr val="FF0000"/>
                </a:solidFill>
                <a:latin typeface="Times New Roman" panose="02020603050405020304" pitchFamily="18" charset="0"/>
                <a:cs typeface="Times New Roman" panose="02020603050405020304" pitchFamily="18" charset="0"/>
              </a:rPr>
              <a:t>     d</a:t>
            </a:r>
            <a:r>
              <a:rPr lang="en-US" altLang="zh-CN" sz="1800" baseline="-25000" dirty="0">
                <a:solidFill>
                  <a:srgbClr val="FF0000"/>
                </a:solidFill>
                <a:latin typeface="Times New Roman" panose="02020603050405020304" pitchFamily="18" charset="0"/>
                <a:cs typeface="Times New Roman" panose="02020603050405020304" pitchFamily="18" charset="0"/>
              </a:rPr>
              <a:t>i</a:t>
            </a:r>
            <a:r>
              <a:rPr lang="zh-CN" altLang="en-US" sz="1800" dirty="0">
                <a:solidFill>
                  <a:srgbClr val="FF0000"/>
                </a:solidFill>
                <a:latin typeface="Times New Roman" panose="02020603050405020304" pitchFamily="18" charset="0"/>
                <a:cs typeface="Times New Roman" panose="02020603050405020304" pitchFamily="18" charset="0"/>
              </a:rPr>
              <a:t>决定了开关级K</a:t>
            </a:r>
            <a:r>
              <a:rPr lang="en-US" altLang="zh-CN" sz="1800" baseline="-25000" dirty="0">
                <a:solidFill>
                  <a:srgbClr val="FF0000"/>
                </a:solidFill>
                <a:latin typeface="Times New Roman" panose="02020603050405020304" pitchFamily="18" charset="0"/>
                <a:cs typeface="Times New Roman" panose="02020603050405020304" pitchFamily="18" charset="0"/>
              </a:rPr>
              <a:t>i</a:t>
            </a:r>
            <a:r>
              <a:rPr lang="zh-CN" altLang="en-US" sz="1800" dirty="0">
                <a:solidFill>
                  <a:srgbClr val="FF0000"/>
                </a:solidFill>
                <a:latin typeface="Times New Roman" panose="02020603050405020304" pitchFamily="18" charset="0"/>
                <a:cs typeface="Times New Roman" panose="02020603050405020304" pitchFamily="18" charset="0"/>
              </a:rPr>
              <a:t>上相应交叉开关的状态</a:t>
            </a:r>
            <a:r>
              <a:rPr lang="zh-CN" altLang="en-US" sz="1800" dirty="0">
                <a:latin typeface="Times New Roman" panose="02020603050405020304" pitchFamily="18" charset="0"/>
                <a:cs typeface="Times New Roman" panose="02020603050405020304" pitchFamily="18" charset="0"/>
              </a:rPr>
              <a:t>。若</a:t>
            </a:r>
            <a:r>
              <a:rPr lang="zh-CN" altLang="en-US" sz="1800" dirty="0">
                <a:latin typeface="Times New Roman" panose="02020603050405020304" pitchFamily="18" charset="0"/>
                <a:cs typeface="Times New Roman" panose="02020603050405020304" pitchFamily="18" charset="0"/>
                <a:sym typeface="+mn-ea"/>
              </a:rPr>
              <a:t> </a:t>
            </a:r>
            <a:r>
              <a:rPr lang="en-US" altLang="zh-CN" sz="1800" dirty="0">
                <a:latin typeface="Times New Roman" panose="02020603050405020304" pitchFamily="18" charset="0"/>
                <a:cs typeface="Times New Roman" panose="02020603050405020304" pitchFamily="18" charset="0"/>
                <a:sym typeface="+mn-ea"/>
              </a:rPr>
              <a:t>s</a:t>
            </a:r>
            <a:r>
              <a:rPr lang="en-US" altLang="zh-CN" sz="1800" baseline="-25000" dirty="0">
                <a:latin typeface="Times New Roman" panose="02020603050405020304" pitchFamily="18" charset="0"/>
                <a:cs typeface="Times New Roman" panose="02020603050405020304" pitchFamily="18" charset="0"/>
                <a:sym typeface="+mn-ea"/>
              </a:rPr>
              <a:t>i</a:t>
            </a:r>
            <a:r>
              <a:rPr lang="en-US" altLang="zh-CN" sz="1800" dirty="0">
                <a:latin typeface="Times New Roman" panose="02020603050405020304" pitchFamily="18" charset="0"/>
                <a:cs typeface="Times New Roman" panose="02020603050405020304" pitchFamily="18" charset="0"/>
                <a:sym typeface="+mn-ea"/>
              </a:rPr>
              <a:t>     d</a:t>
            </a:r>
            <a:r>
              <a:rPr lang="en-US" altLang="zh-CN" sz="1800" baseline="-250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rPr>
              <a:t>=0，则K</a:t>
            </a:r>
            <a:r>
              <a:rPr lang="en-US" altLang="zh-CN" sz="1800" baseline="-250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rPr>
              <a:t>上相应交叉开关为</a:t>
            </a:r>
            <a:r>
              <a:rPr lang="zh-CN" altLang="en-US" sz="1800" dirty="0">
                <a:solidFill>
                  <a:srgbClr val="FF0000"/>
                </a:solidFill>
                <a:latin typeface="Times New Roman" panose="02020603050405020304" pitchFamily="18" charset="0"/>
                <a:cs typeface="Times New Roman" panose="02020603050405020304" pitchFamily="18" charset="0"/>
              </a:rPr>
              <a:t>直送状态</a:t>
            </a:r>
            <a:r>
              <a:rPr lang="zh-CN" altLang="en-US" sz="1800" dirty="0">
                <a:latin typeface="Times New Roman" panose="02020603050405020304" pitchFamily="18" charset="0"/>
                <a:cs typeface="Times New Roman" panose="02020603050405020304" pitchFamily="18" charset="0"/>
              </a:rPr>
              <a:t>，否则为</a:t>
            </a:r>
            <a:r>
              <a:rPr lang="zh-CN" altLang="en-US" sz="1800" dirty="0">
                <a:solidFill>
                  <a:srgbClr val="FF0000"/>
                </a:solidFill>
                <a:latin typeface="Times New Roman" panose="02020603050405020304" pitchFamily="18" charset="0"/>
                <a:cs typeface="Times New Roman" panose="02020603050405020304" pitchFamily="18" charset="0"/>
              </a:rPr>
              <a:t>交叉状态</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例如,当源端地址为 S=100 和终端地址为D=010时，从输入端 4到输出端2的路径上的 K</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级相应开关为直送，K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级和 K</a:t>
            </a:r>
            <a:r>
              <a:rPr lang="en-US" altLang="zh-CN" sz="1800" baseline="-250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级的相应开关为交叉。若同时有从输入端7到输出端6的连接要求，则会发生争用开关冲突。所以</a:t>
            </a:r>
            <a:r>
              <a:rPr lang="zh-CN" altLang="en-US" sz="1800" dirty="0">
                <a:solidFill>
                  <a:srgbClr val="FF0000"/>
                </a:solidFill>
                <a:latin typeface="Times New Roman" panose="02020603050405020304" pitchFamily="18" charset="0"/>
                <a:cs typeface="Times New Roman" panose="02020603050405020304" pitchFamily="18" charset="0"/>
              </a:rPr>
              <a:t>间接二进制n方体网络是阻塞网</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graphicFrame>
        <p:nvGraphicFramePr>
          <p:cNvPr id="3" name="对象 2"/>
          <p:cNvGraphicFramePr/>
          <p:nvPr/>
        </p:nvGraphicFramePr>
        <p:xfrm>
          <a:off x="1331278" y="4461828"/>
          <a:ext cx="894080" cy="339725"/>
        </p:xfrm>
        <a:graphic>
          <a:graphicData uri="http://schemas.openxmlformats.org/presentationml/2006/ole">
            <mc:AlternateContent xmlns:mc="http://schemas.openxmlformats.org/markup-compatibility/2006">
              <mc:Choice xmlns:v="urn:schemas-microsoft-com:vml" Requires="v">
                <p:oleObj spid="_x0000_s4" name="" r:id="rId2" imgW="384175" imgH="245110" progId="Equation.KSEE3">
                  <p:embed/>
                </p:oleObj>
              </mc:Choice>
              <mc:Fallback>
                <p:oleObj name="" r:id="rId2" imgW="384175" imgH="245110" progId="Equation.KSEE3">
                  <p:embed/>
                  <p:pic>
                    <p:nvPicPr>
                      <p:cNvPr id="0" name="图片 3"/>
                      <p:cNvPicPr/>
                      <p:nvPr/>
                    </p:nvPicPr>
                    <p:blipFill>
                      <a:blip r:embed="rId3"/>
                      <a:stretch>
                        <a:fillRect/>
                      </a:stretch>
                    </p:blipFill>
                    <p:spPr>
                      <a:xfrm>
                        <a:off x="1331278" y="4461828"/>
                        <a:ext cx="894080" cy="339725"/>
                      </a:xfrm>
                      <a:prstGeom prst="rect">
                        <a:avLst/>
                      </a:prstGeom>
                    </p:spPr>
                  </p:pic>
                </p:oleObj>
              </mc:Fallback>
            </mc:AlternateContent>
          </a:graphicData>
        </a:graphic>
      </p:graphicFrame>
      <p:graphicFrame>
        <p:nvGraphicFramePr>
          <p:cNvPr id="5" name="对象 4"/>
          <p:cNvGraphicFramePr/>
          <p:nvPr/>
        </p:nvGraphicFramePr>
        <p:xfrm>
          <a:off x="6300153" y="4508818"/>
          <a:ext cx="894080" cy="339725"/>
        </p:xfrm>
        <a:graphic>
          <a:graphicData uri="http://schemas.openxmlformats.org/presentationml/2006/ole">
            <mc:AlternateContent xmlns:mc="http://schemas.openxmlformats.org/markup-compatibility/2006">
              <mc:Choice xmlns:v="urn:schemas-microsoft-com:vml" Requires="v">
                <p:oleObj spid="_x0000_s6" name="" r:id="rId4" imgW="384175" imgH="245110" progId="Equation.KSEE3">
                  <p:embed/>
                </p:oleObj>
              </mc:Choice>
              <mc:Fallback>
                <p:oleObj name="" r:id="rId4" imgW="384175" imgH="245110" progId="Equation.KSEE3">
                  <p:embed/>
                  <p:pic>
                    <p:nvPicPr>
                      <p:cNvPr id="0" name="图片 3"/>
                      <p:cNvPicPr/>
                      <p:nvPr/>
                    </p:nvPicPr>
                    <p:blipFill>
                      <a:blip r:embed="rId3"/>
                      <a:stretch>
                        <a:fillRect/>
                      </a:stretch>
                    </p:blipFill>
                    <p:spPr>
                      <a:xfrm>
                        <a:off x="6300153" y="4508818"/>
                        <a:ext cx="894080" cy="339725"/>
                      </a:xfrm>
                      <a:prstGeom prst="rect">
                        <a:avLst/>
                      </a:prstGeom>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Omega网络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297815" y="1111250"/>
            <a:ext cx="8657590" cy="5295265"/>
          </a:xfrm>
        </p:spPr>
        <p:txBody>
          <a:bodyPr vert="horz" wrap="square" lIns="91440" tIns="45720" rIns="91440" bIns="45720" anchor="t" anchorCtr="0"/>
          <a:p>
            <a:pPr marL="122555" indent="-122555"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采用全混洗函数和交换函数，又称混洗交换网络</a:t>
            </a:r>
            <a:endParaRPr lang="zh-CN" altLang="en-US" sz="2000" dirty="0">
              <a:latin typeface="Times New Roman" panose="02020603050405020304" pitchFamily="18" charset="0"/>
              <a:cs typeface="Times New Roman" panose="02020603050405020304" pitchFamily="18" charset="0"/>
            </a:endParaRPr>
          </a:p>
          <a:p>
            <a:pPr marL="579755" lvl="1" indent="-122555" eaLnBrk="1" latinLnBrk="0" hangingPunct="1">
              <a:spcBef>
                <a:spcPts val="1200"/>
              </a:spcBef>
            </a:pPr>
            <a:r>
              <a:rPr lang="zh-CN" altLang="en-US" sz="1800" dirty="0">
                <a:latin typeface="Times New Roman" panose="02020603050405020304" pitchFamily="18" charset="0"/>
                <a:cs typeface="Times New Roman" panose="02020603050405020304" pitchFamily="18" charset="0"/>
                <a:sym typeface="+mn-ea"/>
              </a:rPr>
              <a:t>用于伊利诺依大学的</a:t>
            </a:r>
            <a:r>
              <a:rPr lang="en-US" altLang="zh-CN" sz="1800" dirty="0">
                <a:latin typeface="Times New Roman" panose="02020603050405020304" pitchFamily="18" charset="0"/>
                <a:cs typeface="Times New Roman" panose="02020603050405020304" pitchFamily="18" charset="0"/>
                <a:sym typeface="+mn-ea"/>
              </a:rPr>
              <a:t>Cedar</a:t>
            </a:r>
            <a:r>
              <a:rPr lang="zh-CN" altLang="en-US" sz="1800" dirty="0">
                <a:latin typeface="Times New Roman" panose="02020603050405020304" pitchFamily="18" charset="0"/>
                <a:cs typeface="Times New Roman" panose="02020603050405020304" pitchFamily="18" charset="0"/>
                <a:sym typeface="+mn-ea"/>
              </a:rPr>
              <a:t>多处理机、</a:t>
            </a:r>
            <a:r>
              <a:rPr lang="en-US" altLang="zh-CN" sz="1800" dirty="0">
                <a:latin typeface="Times New Roman" panose="02020603050405020304" pitchFamily="18" charset="0"/>
                <a:cs typeface="Times New Roman" panose="02020603050405020304" pitchFamily="18" charset="0"/>
                <a:sym typeface="+mn-ea"/>
              </a:rPr>
              <a:t>IBM</a:t>
            </a:r>
            <a:r>
              <a:rPr lang="zh-CN" altLang="en-US" sz="1800" dirty="0">
                <a:latin typeface="Times New Roman" panose="02020603050405020304" pitchFamily="18" charset="0"/>
                <a:cs typeface="Times New Roman" panose="02020603050405020304" pitchFamily="18" charset="0"/>
                <a:sym typeface="+mn-ea"/>
              </a:rPr>
              <a:t>的</a:t>
            </a:r>
            <a:r>
              <a:rPr lang="en-US" altLang="zh-CN" sz="1800" dirty="0">
                <a:latin typeface="Times New Roman" panose="02020603050405020304" pitchFamily="18" charset="0"/>
                <a:cs typeface="Times New Roman" panose="02020603050405020304" pitchFamily="18" charset="0"/>
                <a:sym typeface="+mn-ea"/>
              </a:rPr>
              <a:t>RP3</a:t>
            </a:r>
            <a:r>
              <a:rPr lang="zh-CN" altLang="en-US" sz="1800" dirty="0">
                <a:latin typeface="Times New Roman" panose="02020603050405020304" pitchFamily="18" charset="0"/>
                <a:cs typeface="Times New Roman" panose="02020603050405020304" pitchFamily="18" charset="0"/>
                <a:sym typeface="+mn-ea"/>
              </a:rPr>
              <a:t>系统和纽约大学</a:t>
            </a:r>
            <a:r>
              <a:rPr lang="en-US" altLang="zh-CN" sz="1800" dirty="0">
                <a:latin typeface="Times New Roman" panose="02020603050405020304" pitchFamily="18" charset="0"/>
                <a:cs typeface="Times New Roman" panose="02020603050405020304" pitchFamily="18" charset="0"/>
                <a:sym typeface="+mn-ea"/>
              </a:rPr>
              <a:t>Ultracomputer</a:t>
            </a:r>
            <a:endParaRPr lang="en-US" altLang="zh-CN" sz="1800" dirty="0">
              <a:latin typeface="Times New Roman" panose="02020603050405020304" pitchFamily="18" charset="0"/>
              <a:cs typeface="Times New Roman" panose="02020603050405020304" pitchFamily="18" charset="0"/>
            </a:endParaRPr>
          </a:p>
          <a:p>
            <a:pPr marL="122555" indent="-122555"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个输入的</a:t>
            </a:r>
            <a:r>
              <a:rPr lang="en-US" altLang="zh-CN" sz="2000" dirty="0">
                <a:latin typeface="Times New Roman" panose="02020603050405020304" pitchFamily="18" charset="0"/>
                <a:cs typeface="Times New Roman" panose="02020603050405020304" pitchFamily="18" charset="0"/>
                <a:sym typeface="+mn-ea"/>
              </a:rPr>
              <a:t>Omega</a:t>
            </a:r>
            <a:r>
              <a:rPr lang="zh-CN" altLang="en-US" sz="2000" dirty="0">
                <a:latin typeface="Times New Roman" panose="02020603050405020304" pitchFamily="18" charset="0"/>
                <a:cs typeface="Times New Roman" panose="02020603050405020304" pitchFamily="18" charset="0"/>
                <a:sym typeface="+mn-ea"/>
              </a:rPr>
              <a:t>网络有</a:t>
            </a:r>
            <a:r>
              <a:rPr lang="en-US" altLang="zh-CN" sz="2000" dirty="0">
                <a:latin typeface="Times New Roman" panose="02020603050405020304" pitchFamily="18" charset="0"/>
                <a:cs typeface="Times New Roman" panose="02020603050405020304" pitchFamily="18" charset="0"/>
                <a:sym typeface="+mn-ea"/>
              </a:rPr>
              <a:t>log</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N级</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每级有</a:t>
            </a:r>
            <a:r>
              <a:rPr lang="en-US" altLang="zh-CN" sz="2000" dirty="0">
                <a:latin typeface="Times New Roman" panose="02020603050405020304" pitchFamily="18" charset="0"/>
                <a:cs typeface="Times New Roman" panose="02020603050405020304" pitchFamily="18" charset="0"/>
                <a:sym typeface="+mn-ea"/>
              </a:rPr>
              <a:t>N/2</a:t>
            </a:r>
            <a:r>
              <a:rPr lang="zh-CN" altLang="en-US" sz="2000" dirty="0">
                <a:latin typeface="Times New Roman" panose="02020603050405020304" pitchFamily="18" charset="0"/>
                <a:cs typeface="Times New Roman" panose="02020603050405020304" pitchFamily="18" charset="0"/>
                <a:sym typeface="+mn-ea"/>
              </a:rPr>
              <a:t>个</a:t>
            </a:r>
            <a:r>
              <a:rPr lang="en-US" altLang="zh-CN" sz="2000" dirty="0">
                <a:latin typeface="Times New Roman" panose="02020603050405020304" pitchFamily="18" charset="0"/>
                <a:cs typeface="Times New Roman" panose="02020603050405020304" pitchFamily="18" charset="0"/>
                <a:sym typeface="+mn-ea"/>
              </a:rPr>
              <a:t>2×2</a:t>
            </a:r>
            <a:r>
              <a:rPr lang="zh-CN" altLang="en-US" sz="2000" dirty="0">
                <a:latin typeface="Times New Roman" panose="02020603050405020304" pitchFamily="18" charset="0"/>
                <a:cs typeface="Times New Roman" panose="02020603050405020304" pitchFamily="18" charset="0"/>
                <a:sym typeface="+mn-ea"/>
              </a:rPr>
              <a:t>的四功能交换开关</a:t>
            </a:r>
            <a:endParaRPr lang="zh-CN" altLang="en-US" sz="2000" dirty="0">
              <a:latin typeface="Times New Roman" panose="02020603050405020304" pitchFamily="18" charset="0"/>
              <a:cs typeface="Times New Roman" panose="02020603050405020304" pitchFamily="18" charset="0"/>
            </a:endParaRPr>
          </a:p>
          <a:p>
            <a:pPr marL="579755" lvl="1" indent="-122555"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每级的拓扑结构相同，采用单元控制</a:t>
            </a:r>
            <a:endParaRPr lang="zh-CN" altLang="en-US" sz="1800" dirty="0">
              <a:latin typeface="Times New Roman" panose="02020603050405020304" pitchFamily="18" charset="0"/>
              <a:cs typeface="Times New Roman" panose="02020603050405020304" pitchFamily="18" charset="0"/>
              <a:sym typeface="+mn-ea"/>
            </a:endParaRPr>
          </a:p>
          <a:p>
            <a:pPr marL="579755" lvl="1" indent="-122555" algn="l" eaLnBrk="1" latinLnBrk="0" hangingPunct="1">
              <a:spcBef>
                <a:spcPts val="600"/>
              </a:spcBef>
              <a:buSzTx/>
            </a:pPr>
            <a:r>
              <a:rPr lang="zh-CN" altLang="en-US" sz="1800" dirty="0">
                <a:latin typeface="Times New Roman" panose="02020603050405020304" pitchFamily="18" charset="0"/>
                <a:cs typeface="Times New Roman" panose="02020603050405020304" pitchFamily="18" charset="0"/>
                <a:sym typeface="+mn-ea"/>
              </a:rPr>
              <a:t>各级交叉开关的级</a:t>
            </a:r>
            <a:r>
              <a:rPr lang="zh-CN" altLang="en-US" sz="1800" dirty="0">
                <a:latin typeface="Times New Roman" panose="02020603050405020304" pitchFamily="18" charset="0"/>
                <a:cs typeface="Times New Roman" panose="02020603050405020304" pitchFamily="18" charset="0"/>
              </a:rPr>
              <a:t>号编排从网络输入端到输出端，依次为K</a:t>
            </a:r>
            <a:r>
              <a:rPr lang="en-US" altLang="zh-CN" sz="1800" baseline="-25000" dirty="0">
                <a:latin typeface="Times New Roman" panose="02020603050405020304" pitchFamily="18" charset="0"/>
                <a:cs typeface="Times New Roman" panose="02020603050405020304" pitchFamily="18" charset="0"/>
              </a:rPr>
              <a:t>n-</a:t>
            </a:r>
            <a:r>
              <a:rPr lang="zh-CN" altLang="en-US"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p>
            <a:pPr marL="579755" lvl="1" indent="-122555" algn="l" eaLnBrk="1" latinLnBrk="0" hangingPunct="1">
              <a:spcBef>
                <a:spcPts val="600"/>
              </a:spcBef>
              <a:buSzTx/>
            </a:pPr>
            <a:r>
              <a:rPr lang="zh-CN" altLang="en-US" sz="1800" dirty="0">
                <a:solidFill>
                  <a:srgbClr val="FF0000"/>
                </a:solidFill>
                <a:latin typeface="Times New Roman" panose="02020603050405020304" pitchFamily="18" charset="0"/>
                <a:cs typeface="Times New Roman" panose="02020603050405020304" pitchFamily="18" charset="0"/>
                <a:sym typeface="+mn-ea"/>
              </a:rPr>
              <a:t>级间互连采用均匀洗牌连接方式</a:t>
            </a:r>
            <a:endParaRPr lang="zh-CN" altLang="en-US" sz="1800" dirty="0">
              <a:latin typeface="Times New Roman" panose="02020603050405020304" pitchFamily="18" charset="0"/>
              <a:cs typeface="Times New Roman" panose="02020603050405020304" pitchFamily="18" charset="0"/>
            </a:endParaRPr>
          </a:p>
          <a:p>
            <a:pPr marL="122555" indent="-122555" eaLnBrk="1" latinLnBrk="0" hangingPunct="1">
              <a:spcBef>
                <a:spcPts val="1200"/>
              </a:spcBef>
            </a:pPr>
            <a:r>
              <a:rPr lang="zh-CN" altLang="en-US" sz="2000" dirty="0">
                <a:solidFill>
                  <a:srgbClr val="FF0000"/>
                </a:solidFill>
                <a:latin typeface="Times New Roman" panose="02020603050405020304" pitchFamily="18" charset="0"/>
                <a:cs typeface="Times New Roman" panose="02020603050405020304" pitchFamily="18" charset="0"/>
                <a:sym typeface="+mn-ea"/>
              </a:rPr>
              <a:t>Omega</a:t>
            </a:r>
            <a:r>
              <a:rPr lang="zh-CN" altLang="en-US" sz="2000" dirty="0">
                <a:solidFill>
                  <a:srgbClr val="FF0000"/>
                </a:solidFill>
                <a:latin typeface="Times New Roman" panose="02020603050405020304" pitchFamily="18" charset="0"/>
                <a:cs typeface="Times New Roman" panose="02020603050405020304" pitchFamily="18" charset="0"/>
              </a:rPr>
              <a:t>网络的开关控制与寻径算法</a:t>
            </a:r>
            <a:r>
              <a:rPr lang="zh-CN" altLang="en-US"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marL="579755" lvl="1" indent="-122555" eaLnBrk="1" latinLnBrk="0" hangingPunct="1">
              <a:spcBef>
                <a:spcPts val="1200"/>
              </a:spcBef>
            </a:pPr>
            <a:r>
              <a:rPr lang="zh-CN" altLang="en-US" sz="1800" dirty="0">
                <a:latin typeface="Times New Roman" panose="02020603050405020304" pitchFamily="18" charset="0"/>
                <a:cs typeface="Times New Roman" panose="02020603050405020304" pitchFamily="18" charset="0"/>
                <a:sym typeface="+mn-ea"/>
              </a:rPr>
              <a:t>通过检查二进制目的地址编码来控制数据路径</a:t>
            </a:r>
            <a:r>
              <a:rPr lang="en-US" altLang="zh-CN" sz="1800" dirty="0">
                <a:latin typeface="Times New Roman" panose="02020603050405020304" pitchFamily="18" charset="0"/>
                <a:cs typeface="Times New Roman" panose="02020603050405020304" pitchFamily="18" charset="0"/>
                <a:sym typeface="+mn-ea"/>
              </a:rPr>
              <a:t>(</a:t>
            </a:r>
            <a:r>
              <a:rPr lang="zh-CN" altLang="en-US" sz="1800" dirty="0">
                <a:solidFill>
                  <a:srgbClr val="FF0000"/>
                </a:solidFill>
                <a:latin typeface="Times New Roman" panose="02020603050405020304" pitchFamily="18" charset="0"/>
                <a:cs typeface="Times New Roman" panose="02020603050405020304" pitchFamily="18" charset="0"/>
                <a:sym typeface="+mn-ea"/>
              </a:rPr>
              <a:t>终端标记寻径</a:t>
            </a:r>
            <a:r>
              <a:rPr lang="zh-CN" altLang="en-US" sz="1800" dirty="0">
                <a:latin typeface="Times New Roman" panose="02020603050405020304" pitchFamily="18" charset="0"/>
                <a:cs typeface="Times New Roman" panose="02020603050405020304" pitchFamily="18" charset="0"/>
                <a:sym typeface="+mn-ea"/>
              </a:rPr>
              <a:t>）：目的地址编码从高位开始的第</a:t>
            </a:r>
            <a:r>
              <a:rPr lang="en-US" altLang="zh-CN" sz="18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sym typeface="+mn-ea"/>
              </a:rPr>
              <a:t>位为</a:t>
            </a: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时，第</a:t>
            </a:r>
            <a:r>
              <a:rPr lang="en-US" altLang="zh-CN" sz="18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sym typeface="+mn-ea"/>
              </a:rPr>
              <a:t>级的</a:t>
            </a:r>
            <a:r>
              <a:rPr lang="en-US" altLang="zh-CN" sz="1800" dirty="0">
                <a:latin typeface="Times New Roman" panose="02020603050405020304" pitchFamily="18" charset="0"/>
                <a:cs typeface="Times New Roman" panose="02020603050405020304" pitchFamily="18" charset="0"/>
                <a:sym typeface="+mn-ea"/>
              </a:rPr>
              <a:t>2×2</a:t>
            </a:r>
            <a:r>
              <a:rPr lang="zh-CN" altLang="en-US" sz="1800" dirty="0">
                <a:latin typeface="Times New Roman" panose="02020603050405020304" pitchFamily="18" charset="0"/>
                <a:cs typeface="Times New Roman" panose="02020603050405020304" pitchFamily="18" charset="0"/>
                <a:sym typeface="+mn-ea"/>
              </a:rPr>
              <a:t>开关的输入端与上输出端连接，否则输入端与下输出端连接</a:t>
            </a:r>
            <a:endParaRPr lang="zh-CN" altLang="en-US" sz="1800" dirty="0">
              <a:latin typeface="Times New Roman" panose="02020603050405020304" pitchFamily="18" charset="0"/>
              <a:cs typeface="Times New Roman" panose="02020603050405020304" pitchFamily="18" charset="0"/>
              <a:sym typeface="+mn-ea"/>
            </a:endParaRPr>
          </a:p>
          <a:p>
            <a:pPr marL="579755" lvl="1" indent="-122555"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当源端地址为 S =010，终端地址为 </a:t>
            </a:r>
            <a:r>
              <a:rPr lang="zh-CN" altLang="en-US" sz="1800" dirty="0">
                <a:solidFill>
                  <a:srgbClr val="FF0000"/>
                </a:solidFill>
                <a:latin typeface="Times New Roman" panose="02020603050405020304" pitchFamily="18" charset="0"/>
                <a:cs typeface="Times New Roman" panose="02020603050405020304" pitchFamily="18" charset="0"/>
              </a:rPr>
              <a:t>D=110</a:t>
            </a:r>
            <a:r>
              <a:rPr lang="zh-CN" altLang="en-US" sz="1800" dirty="0">
                <a:latin typeface="Times New Roman" panose="02020603050405020304" pitchFamily="18" charset="0"/>
                <a:cs typeface="Times New Roman" panose="02020603050405020304" pitchFamily="18" charset="0"/>
              </a:rPr>
              <a:t> 时，连接源端 010 的 K₂级的交叉开关因终端地址 D=110 的 </a:t>
            </a:r>
            <a:r>
              <a:rPr lang="en-US" altLang="zh-CN" sz="1800" dirty="0">
                <a:latin typeface="Times New Roman" panose="02020603050405020304" pitchFamily="18" charset="0"/>
                <a:cs typeface="Times New Roman" panose="02020603050405020304" pitchFamily="18" charset="0"/>
              </a:rPr>
              <a:t>d</a:t>
            </a:r>
            <a:r>
              <a:rPr lang="en-US" altLang="zh-CN" sz="1800" baseline="-250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=1,故使该交叉开关输入端与下输出端相连。同样,因d</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=1,故 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级的对应交叉开关的输入端与下输出端相连</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因 d</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=0，故 K</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级的对应交叉开关的输入端与上输出端相连。从而完成了网络源端 S=010 到终端 D=110 的连接。</a:t>
            </a:r>
            <a:r>
              <a:rPr lang="zh-CN" altLang="en-US" sz="1800" dirty="0">
                <a:solidFill>
                  <a:srgbClr val="FF0000"/>
                </a:solidFill>
                <a:latin typeface="Times New Roman" panose="02020603050405020304" pitchFamily="18" charset="0"/>
                <a:cs typeface="Times New Roman" panose="02020603050405020304" pitchFamily="18" charset="0"/>
              </a:rPr>
              <a:t>Omega网络也是一种阻塞网络</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练习——互连函数</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内容占位符 2"/>
          <p:cNvSpPr>
            <a:spLocks noGrp="1"/>
          </p:cNvSpPr>
          <p:nvPr>
            <p:ph idx="1"/>
          </p:nvPr>
        </p:nvSpPr>
        <p:spPr>
          <a:xfrm>
            <a:off x="457200" y="1170940"/>
            <a:ext cx="8229600" cy="4955540"/>
          </a:xfrm>
        </p:spPr>
        <p:txBody>
          <a:bodyPr/>
          <a:p>
            <a:r>
              <a:rPr lang="zh-CN" altLang="en-US" sz="2400">
                <a:latin typeface="Times New Roman" panose="02020603050405020304" pitchFamily="18" charset="0"/>
                <a:cs typeface="Times New Roman" panose="02020603050405020304" pitchFamily="18" charset="0"/>
              </a:rPr>
              <a:t>设</a:t>
            </a:r>
            <a:r>
              <a:rPr lang="en-US" altLang="zh-CN" sz="2400">
                <a:latin typeface="Times New Roman" panose="02020603050405020304" pitchFamily="18" charset="0"/>
                <a:cs typeface="Times New Roman" panose="02020603050405020304" pitchFamily="18" charset="0"/>
              </a:rPr>
              <a:t> 16 </a:t>
            </a:r>
            <a:r>
              <a:rPr lang="zh-CN" altLang="en-US" sz="2400">
                <a:latin typeface="Times New Roman" panose="02020603050405020304" pitchFamily="18" charset="0"/>
                <a:cs typeface="Times New Roman" panose="02020603050405020304" pitchFamily="18" charset="0"/>
              </a:rPr>
              <a:t>个处理器编号分别为</a:t>
            </a:r>
            <a:r>
              <a:rPr lang="en-US" altLang="zh-CN" sz="2400">
                <a:latin typeface="Times New Roman" panose="02020603050405020304" pitchFamily="18" charset="0"/>
                <a:cs typeface="Times New Roman" panose="02020603050405020304" pitchFamily="18" charset="0"/>
              </a:rPr>
              <a:t> 0</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15</a:t>
            </a:r>
            <a:r>
              <a:rPr lang="zh-CN" altLang="en-US" sz="2400">
                <a:latin typeface="Times New Roman" panose="02020603050405020304" pitchFamily="18" charset="0"/>
                <a:cs typeface="Times New Roman" panose="02020603050405020304" pitchFamily="18" charset="0"/>
              </a:rPr>
              <a:t>，用一个</a:t>
            </a:r>
            <a:r>
              <a:rPr lang="en-US" altLang="zh-CN" sz="2400">
                <a:latin typeface="Times New Roman" panose="02020603050405020304" pitchFamily="18" charset="0"/>
                <a:cs typeface="Times New Roman" panose="02020603050405020304" pitchFamily="18" charset="0"/>
              </a:rPr>
              <a:t> N=16 </a:t>
            </a:r>
            <a:r>
              <a:rPr lang="zh-CN" altLang="en-US" sz="2400">
                <a:latin typeface="Times New Roman" panose="02020603050405020304" pitchFamily="18" charset="0"/>
                <a:cs typeface="Times New Roman" panose="02020603050405020304" pitchFamily="18" charset="0"/>
              </a:rPr>
              <a:t>的互联网络互联，当互联网络实现的互联函数分别为：</a:t>
            </a:r>
            <a:endParaRPr lang="zh-CN" altLang="en-US" sz="24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1</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Cube3</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2</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PM2</a:t>
            </a:r>
            <a:r>
              <a:rPr lang="en-US" altLang="zh-CN" sz="2000" baseline="-25000">
                <a:latin typeface="Times New Roman" panose="02020603050405020304" pitchFamily="18" charset="0"/>
                <a:cs typeface="Times New Roman" panose="02020603050405020304" pitchFamily="18" charset="0"/>
              </a:rPr>
              <a:t>+3</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3</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PM2</a:t>
            </a:r>
            <a:r>
              <a:rPr lang="en-US" altLang="zh-CN" sz="2000" baseline="-25000">
                <a:latin typeface="Times New Roman" panose="02020603050405020304" pitchFamily="18" charset="0"/>
                <a:cs typeface="Times New Roman" panose="02020603050405020304" pitchFamily="18" charset="0"/>
              </a:rPr>
              <a:t>-0</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4</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Shuffle</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5</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Shuffle (Shuffle)</a:t>
            </a:r>
            <a:endParaRPr lang="en-US" altLang="zh-CN" sz="2000">
              <a:latin typeface="Times New Roman" panose="02020603050405020304" pitchFamily="18" charset="0"/>
              <a:cs typeface="Times New Roman" panose="02020603050405020304" pitchFamily="18" charset="0"/>
            </a:endParaRPr>
          </a:p>
          <a:p>
            <a:pPr lvl="1" algn="l" eaLnBrk="1" latinLnBrk="0" hangingPunct="1">
              <a:spcBef>
                <a:spcPts val="1200"/>
              </a:spcBef>
              <a:buSzTx/>
              <a:buChar char="§"/>
            </a:pPr>
            <a:r>
              <a:rPr lang="zh-CN" altLang="en-US" sz="2000" dirty="0">
                <a:latin typeface="Times New Roman" panose="02020603050405020304" pitchFamily="18" charset="0"/>
                <a:cs typeface="Times New Roman" panose="02020603050405020304" pitchFamily="18" charset="0"/>
              </a:rPr>
              <a:t>分别指出与第 13 号处理器连接的处理器。处理器 i 的输出通道连接互联网络的输入端i，处理器 i 的输入通道连接互联网络的输出端 i。</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539750" y="1340485"/>
            <a:ext cx="7918450" cy="26924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457200" y="1484630"/>
            <a:ext cx="8170545" cy="433895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练习</a:t>
            </a:r>
            <a:endParaRPr lang="zh-CN" altLang="en-US"/>
          </a:p>
        </p:txBody>
      </p:sp>
      <p:sp>
        <p:nvSpPr>
          <p:cNvPr id="3" name="内容占位符 2"/>
          <p:cNvSpPr>
            <a:spLocks noGrp="1"/>
          </p:cNvSpPr>
          <p:nvPr>
            <p:ph idx="1"/>
          </p:nvPr>
        </p:nvSpPr>
        <p:spPr/>
        <p:txBody>
          <a:bodyPr/>
          <a:p>
            <a:r>
              <a:rPr lang="en-US" altLang="zh-CN" sz="2400">
                <a:latin typeface="Times New Roman" panose="02020603050405020304" pitchFamily="18" charset="0"/>
                <a:cs typeface="Times New Roman" panose="02020603050405020304" pitchFamily="18" charset="0"/>
              </a:rPr>
              <a:t>N=8</a:t>
            </a:r>
            <a:r>
              <a:rPr lang="zh-CN" altLang="en-US" sz="2400">
                <a:latin typeface="Times New Roman" panose="02020603050405020304" pitchFamily="18" charset="0"/>
                <a:cs typeface="Times New Roman" panose="02020603050405020304" pitchFamily="18" charset="0"/>
              </a:rPr>
              <a:t>的蝶式变换连接如图</a:t>
            </a:r>
            <a:r>
              <a:rPr lang="zh-CN" altLang="en-US" sz="2000">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pPr lvl="1"/>
            <a:endParaRPr lang="en-US" altLang="zh-CN" sz="2000">
              <a:latin typeface="Times New Roman" panose="02020603050405020304" pitchFamily="18" charset="0"/>
              <a:cs typeface="Times New Roman" panose="02020603050405020304" pitchFamily="18" charset="0"/>
            </a:endParaRPr>
          </a:p>
          <a:p>
            <a:pPr lvl="1"/>
            <a:r>
              <a:rPr lang="en-US" altLang="zh-CN" sz="2000">
                <a:latin typeface="Times New Roman" panose="02020603050405020304" pitchFamily="18" charset="0"/>
                <a:cs typeface="Times New Roman" panose="02020603050405020304" pitchFamily="18" charset="0"/>
              </a:rPr>
              <a:t>(1)</a:t>
            </a:r>
            <a:r>
              <a:rPr lang="zh-CN" altLang="en-US" sz="2000">
                <a:latin typeface="Times New Roman" panose="02020603050405020304" pitchFamily="18" charset="0"/>
                <a:cs typeface="Times New Roman" panose="02020603050405020304" pitchFamily="18" charset="0"/>
              </a:rPr>
              <a:t>写出互联函数表达式。</a:t>
            </a:r>
            <a:endParaRPr lang="zh-CN" altLang="en-US" sz="2000">
              <a:latin typeface="Times New Roman" panose="02020603050405020304" pitchFamily="18" charset="0"/>
              <a:cs typeface="Times New Roman" panose="02020603050405020304" pitchFamily="18" charset="0"/>
            </a:endParaRPr>
          </a:p>
          <a:p>
            <a:pPr lvl="1"/>
            <a:r>
              <a:rPr lang="en-US" altLang="zh-CN" sz="2000">
                <a:latin typeface="Times New Roman" panose="02020603050405020304" pitchFamily="18" charset="0"/>
                <a:cs typeface="Times New Roman" panose="02020603050405020304" pitchFamily="18" charset="0"/>
              </a:rPr>
              <a:t>(2)</a:t>
            </a:r>
            <a:r>
              <a:rPr lang="zh-CN" altLang="en-US" sz="2000">
                <a:latin typeface="Times New Roman" panose="02020603050405020304" pitchFamily="18" charset="0"/>
                <a:cs typeface="Times New Roman" panose="02020603050405020304" pitchFamily="18" charset="0"/>
              </a:rPr>
              <a:t>若采用</a:t>
            </a:r>
            <a:r>
              <a:rPr lang="en-US" altLang="zh-CN" sz="2000">
                <a:latin typeface="Times New Roman" panose="02020603050405020304" pitchFamily="18" charset="0"/>
                <a:cs typeface="Times New Roman" panose="02020603050405020304" pitchFamily="18" charset="0"/>
              </a:rPr>
              <a:t> Omega </a:t>
            </a:r>
            <a:r>
              <a:rPr lang="zh-CN" altLang="en-US" sz="2000">
                <a:latin typeface="Times New Roman" panose="02020603050405020304" pitchFamily="18" charset="0"/>
                <a:cs typeface="Times New Roman" panose="02020603050405020304" pitchFamily="18" charset="0"/>
              </a:rPr>
              <a:t>网络实现要求的连接，</a:t>
            </a:r>
            <a:r>
              <a:rPr lang="en-US" altLang="zh-CN" sz="2000">
                <a:latin typeface="Times New Roman" panose="02020603050405020304" pitchFamily="18" charset="0"/>
                <a:cs typeface="Times New Roman" panose="02020603050405020304" pitchFamily="18" charset="0"/>
              </a:rPr>
              <a:t>Omega </a:t>
            </a:r>
            <a:r>
              <a:rPr lang="zh-CN" altLang="en-US" sz="2000">
                <a:latin typeface="Times New Roman" panose="02020603050405020304" pitchFamily="18" charset="0"/>
                <a:cs typeface="Times New Roman" panose="02020603050405020304" pitchFamily="18" charset="0"/>
              </a:rPr>
              <a:t>网络的单元控制采用终端标记寻径。那么，</a:t>
            </a:r>
            <a:r>
              <a:rPr lang="en-US" altLang="zh-CN" sz="2000">
                <a:latin typeface="Times New Roman" panose="02020603050405020304" pitchFamily="18" charset="0"/>
                <a:cs typeface="Times New Roman" panose="02020603050405020304" pitchFamily="18" charset="0"/>
              </a:rPr>
              <a:t>Omega </a:t>
            </a:r>
            <a:r>
              <a:rPr lang="zh-CN" altLang="en-US" sz="2000">
                <a:latin typeface="Times New Roman" panose="02020603050405020304" pitchFamily="18" charset="0"/>
                <a:cs typeface="Times New Roman" panose="02020603050405020304" pitchFamily="18" charset="0"/>
              </a:rPr>
              <a:t>网络最少需要连接几次，才能完成输入端</a:t>
            </a:r>
            <a:r>
              <a:rPr lang="en-US" altLang="zh-CN" sz="2000">
                <a:latin typeface="Times New Roman" panose="02020603050405020304" pitchFamily="18" charset="0"/>
                <a:cs typeface="Times New Roman" panose="02020603050405020304" pitchFamily="18" charset="0"/>
              </a:rPr>
              <a:t> 0~7</a:t>
            </a:r>
            <a:r>
              <a:rPr lang="zh-CN" altLang="en-US" sz="2000">
                <a:latin typeface="Times New Roman" panose="02020603050405020304" pitchFamily="18" charset="0"/>
                <a:cs typeface="Times New Roman" panose="02020603050405020304" pitchFamily="18" charset="0"/>
              </a:rPr>
              <a:t>到输出端</a:t>
            </a:r>
            <a:r>
              <a:rPr lang="en-US" altLang="zh-CN" sz="2000">
                <a:latin typeface="Times New Roman" panose="02020603050405020304" pitchFamily="18" charset="0"/>
                <a:cs typeface="Times New Roman" panose="02020603050405020304" pitchFamily="18" charset="0"/>
              </a:rPr>
              <a:t> 0~7</a:t>
            </a:r>
            <a:r>
              <a:rPr lang="zh-CN" altLang="en-US" sz="2000">
                <a:latin typeface="Times New Roman" panose="02020603050405020304" pitchFamily="18" charset="0"/>
                <a:cs typeface="Times New Roman" panose="02020603050405020304" pitchFamily="18" charset="0"/>
              </a:rPr>
              <a:t>所要求的连接</a:t>
            </a:r>
            <a:r>
              <a:rPr lang="en-US" altLang="zh-CN" sz="2000">
                <a:latin typeface="Times New Roman" panose="02020603050405020304" pitchFamily="18" charset="0"/>
                <a:cs typeface="Times New Roman" panose="02020603050405020304" pitchFamily="18" charset="0"/>
              </a:rPr>
              <a:t>?</a:t>
            </a:r>
            <a:endParaRPr lang="en-US" altLang="zh-CN" sz="2000">
              <a:latin typeface="Times New Roman" panose="02020603050405020304" pitchFamily="18" charset="0"/>
              <a:cs typeface="Times New Roman" panose="02020603050405020304" pitchFamily="18" charset="0"/>
            </a:endParaRPr>
          </a:p>
          <a:p>
            <a:pPr lvl="1"/>
            <a:r>
              <a:rPr lang="en-US" altLang="zh-CN" sz="2000">
                <a:latin typeface="Times New Roman" panose="02020603050405020304" pitchFamily="18" charset="0"/>
                <a:cs typeface="Times New Roman" panose="02020603050405020304" pitchFamily="18" charset="0"/>
              </a:rPr>
              <a:t>(3)</a:t>
            </a:r>
            <a:r>
              <a:rPr lang="zh-CN" altLang="en-US" sz="2000">
                <a:latin typeface="Times New Roman" panose="02020603050405020304" pitchFamily="18" charset="0"/>
                <a:cs typeface="Times New Roman" panose="02020603050405020304" pitchFamily="18" charset="0"/>
              </a:rPr>
              <a:t>画出</a:t>
            </a:r>
            <a:r>
              <a:rPr lang="en-US" altLang="zh-CN" sz="2000">
                <a:latin typeface="Times New Roman" panose="02020603050405020304" pitchFamily="18" charset="0"/>
                <a:cs typeface="Times New Roman" panose="02020603050405020304" pitchFamily="18" charset="0"/>
              </a:rPr>
              <a:t> Omega </a:t>
            </a:r>
            <a:r>
              <a:rPr lang="zh-CN" altLang="en-US" sz="2000">
                <a:latin typeface="Times New Roman" panose="02020603050405020304" pitchFamily="18" charset="0"/>
                <a:cs typeface="Times New Roman" panose="02020603050405020304" pitchFamily="18" charset="0"/>
              </a:rPr>
              <a:t>网络实现输入端到输出端连接要求的各次连接的开关状态图。</a:t>
            </a:r>
            <a:endParaRPr lang="zh-CN" altLang="en-US" sz="20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4716145" y="1844675"/>
            <a:ext cx="3086100" cy="212217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内容占位符 3"/>
          <p:cNvPicPr>
            <a:picLocks noChangeAspect="1"/>
          </p:cNvPicPr>
          <p:nvPr>
            <p:ph idx="1"/>
          </p:nvPr>
        </p:nvPicPr>
        <p:blipFill>
          <a:blip r:embed="rId1"/>
          <a:stretch>
            <a:fillRect/>
          </a:stretch>
        </p:blipFill>
        <p:spPr>
          <a:xfrm>
            <a:off x="2915920" y="1417955"/>
            <a:ext cx="2342515" cy="497840"/>
          </a:xfrm>
          <a:prstGeom prst="rect">
            <a:avLst/>
          </a:prstGeom>
        </p:spPr>
      </p:pic>
      <p:pic>
        <p:nvPicPr>
          <p:cNvPr id="5" name="图片 4"/>
          <p:cNvPicPr>
            <a:picLocks noChangeAspect="1"/>
          </p:cNvPicPr>
          <p:nvPr/>
        </p:nvPicPr>
        <p:blipFill>
          <a:blip r:embed="rId2"/>
          <a:stretch>
            <a:fillRect/>
          </a:stretch>
        </p:blipFill>
        <p:spPr>
          <a:xfrm>
            <a:off x="670560" y="2060575"/>
            <a:ext cx="7618730" cy="2818765"/>
          </a:xfrm>
          <a:prstGeom prst="rect">
            <a:avLst/>
          </a:prstGeom>
        </p:spPr>
      </p:pic>
      <p:pic>
        <p:nvPicPr>
          <p:cNvPr id="6" name="图片 5"/>
          <p:cNvPicPr>
            <a:picLocks noChangeAspect="1"/>
          </p:cNvPicPr>
          <p:nvPr/>
        </p:nvPicPr>
        <p:blipFill>
          <a:blip r:embed="rId3"/>
          <a:stretch>
            <a:fillRect/>
          </a:stretch>
        </p:blipFill>
        <p:spPr>
          <a:xfrm>
            <a:off x="2700020" y="5013325"/>
            <a:ext cx="3409315" cy="128524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7" name="图片 6"/>
          <p:cNvPicPr>
            <a:picLocks noChangeAspect="1"/>
          </p:cNvPicPr>
          <p:nvPr/>
        </p:nvPicPr>
        <p:blipFill>
          <a:blip r:embed="rId1"/>
          <a:stretch>
            <a:fillRect/>
          </a:stretch>
        </p:blipFill>
        <p:spPr>
          <a:xfrm>
            <a:off x="827405" y="1628775"/>
            <a:ext cx="7487285" cy="3075305"/>
          </a:xfrm>
          <a:prstGeom prst="rect">
            <a:avLst/>
          </a:prstGeom>
        </p:spPr>
      </p:pic>
      <p:sp>
        <p:nvSpPr>
          <p:cNvPr id="8" name="文本框 7"/>
          <p:cNvSpPr txBox="1"/>
          <p:nvPr/>
        </p:nvSpPr>
        <p:spPr>
          <a:xfrm>
            <a:off x="899795" y="4963160"/>
            <a:ext cx="5731510" cy="706755"/>
          </a:xfrm>
          <a:prstGeom prst="rect">
            <a:avLst/>
          </a:prstGeom>
          <a:noFill/>
        </p:spPr>
        <p:txBody>
          <a:bodyPr wrap="square" rtlCol="0" anchor="t">
            <a:spAutoFit/>
          </a:bodyPr>
          <a:p>
            <a:pPr marL="342900" indent="-342900">
              <a:buFont typeface="Wingdings" panose="05000000000000000000" charset="0"/>
              <a:buChar char="Ø"/>
            </a:pPr>
            <a:r>
              <a:rPr lang="zh-CN" altLang="en-US" sz="2000" kern="0">
                <a:solidFill>
                  <a:schemeClr val="tx1"/>
                </a:solidFill>
                <a:latin typeface="Times New Roman" panose="02020603050405020304" pitchFamily="18" charset="0"/>
                <a:ea typeface="+mn-ea"/>
                <a:cs typeface="Times New Roman" panose="02020603050405020304" pitchFamily="18" charset="0"/>
              </a:rPr>
              <a:t>第1次实现:0-&gt;0，1-&gt;4，2-&gt;2，3-&gt;6;</a:t>
            </a:r>
            <a:endParaRPr lang="zh-CN" altLang="en-US" sz="2000" kern="0">
              <a:solidFill>
                <a:schemeClr val="tx1"/>
              </a:solidFill>
              <a:latin typeface="Times New Roman" panose="02020603050405020304" pitchFamily="18" charset="0"/>
              <a:ea typeface="+mn-ea"/>
              <a:cs typeface="Times New Roman" panose="02020603050405020304" pitchFamily="18" charset="0"/>
            </a:endParaRPr>
          </a:p>
          <a:p>
            <a:pPr marL="342900" indent="-342900">
              <a:buFont typeface="Wingdings" panose="05000000000000000000" charset="0"/>
              <a:buChar char="Ø"/>
            </a:pPr>
            <a:r>
              <a:rPr lang="zh-CN" altLang="en-US" sz="2000" kern="0">
                <a:solidFill>
                  <a:schemeClr val="tx1"/>
                </a:solidFill>
                <a:latin typeface="Times New Roman" panose="02020603050405020304" pitchFamily="18" charset="0"/>
                <a:ea typeface="+mn-ea"/>
                <a:cs typeface="Times New Roman" panose="02020603050405020304" pitchFamily="18" charset="0"/>
              </a:rPr>
              <a:t>第</a:t>
            </a:r>
            <a:r>
              <a:rPr lang="en-US" altLang="zh-CN" sz="2000" kern="0">
                <a:solidFill>
                  <a:schemeClr val="tx1"/>
                </a:solidFill>
                <a:latin typeface="Times New Roman" panose="02020603050405020304" pitchFamily="18" charset="0"/>
                <a:ea typeface="+mn-ea"/>
                <a:cs typeface="Times New Roman" panose="02020603050405020304" pitchFamily="18" charset="0"/>
              </a:rPr>
              <a:t>2</a:t>
            </a:r>
            <a:r>
              <a:rPr lang="zh-CN" altLang="en-US" sz="2000" kern="0">
                <a:solidFill>
                  <a:schemeClr val="tx1"/>
                </a:solidFill>
                <a:latin typeface="Times New Roman" panose="02020603050405020304" pitchFamily="18" charset="0"/>
                <a:ea typeface="+mn-ea"/>
                <a:cs typeface="Times New Roman" panose="02020603050405020304" pitchFamily="18" charset="0"/>
              </a:rPr>
              <a:t>次实现</a:t>
            </a:r>
            <a:r>
              <a:rPr lang="en-US" altLang="zh-CN" sz="2000" kern="0">
                <a:solidFill>
                  <a:schemeClr val="tx1"/>
                </a:solidFill>
                <a:latin typeface="Times New Roman" panose="02020603050405020304" pitchFamily="18" charset="0"/>
                <a:ea typeface="+mn-ea"/>
                <a:cs typeface="Times New Roman" panose="02020603050405020304" pitchFamily="18" charset="0"/>
              </a:rPr>
              <a:t>:4-&gt;1</a:t>
            </a:r>
            <a:r>
              <a:rPr lang="zh-CN"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5-&gt;5</a:t>
            </a:r>
            <a:r>
              <a:rPr lang="zh-CN"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6</a:t>
            </a:r>
            <a:r>
              <a:rPr lang="en-US"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&gt;3</a:t>
            </a:r>
            <a:r>
              <a:rPr lang="zh-CN"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7-&gt;7.</a:t>
            </a:r>
            <a:endParaRPr lang="en-US" altLang="zh-CN" sz="2000" kern="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考试注意</a:t>
            </a:r>
            <a:r>
              <a:rPr lang="zh-CN" altLang="en-US"/>
              <a:t>事项</a:t>
            </a:r>
            <a:endParaRPr lang="zh-CN" altLang="en-US"/>
          </a:p>
        </p:txBody>
      </p:sp>
      <p:sp>
        <p:nvSpPr>
          <p:cNvPr id="3" name="内容占位符 2"/>
          <p:cNvSpPr>
            <a:spLocks noGrp="1"/>
          </p:cNvSpPr>
          <p:nvPr>
            <p:ph idx="1"/>
          </p:nvPr>
        </p:nvSpPr>
        <p:spPr/>
        <p:txBody>
          <a:bodyPr/>
          <a:p>
            <a:r>
              <a:rPr lang="zh-CN" altLang="en-US"/>
              <a:t>关于</a:t>
            </a:r>
            <a:r>
              <a:rPr lang="zh-CN" altLang="en-US"/>
              <a:t>答题</a:t>
            </a:r>
            <a:endParaRPr lang="zh-CN" altLang="en-US"/>
          </a:p>
          <a:p>
            <a:r>
              <a:rPr lang="zh-CN" altLang="en-US"/>
              <a:t>关于</a:t>
            </a:r>
            <a:r>
              <a:rPr lang="zh-CN" altLang="en-US"/>
              <a:t>诚信</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10507</Words>
  <Application>WPS 演示</Application>
  <PresentationFormat>全屏显示(4:3)</PresentationFormat>
  <Paragraphs>700</Paragraphs>
  <Slides>81</Slides>
  <Notes>0</Notes>
  <HiddenSlides>0</HiddenSlides>
  <MMClips>0</MMClips>
  <ScaleCrop>false</ScaleCrop>
  <HeadingPairs>
    <vt:vector size="8" baseType="variant">
      <vt:variant>
        <vt:lpstr>已用的字体</vt:lpstr>
      </vt:variant>
      <vt:variant>
        <vt:i4>10</vt:i4>
      </vt:variant>
      <vt:variant>
        <vt:lpstr>主题</vt:lpstr>
      </vt:variant>
      <vt:variant>
        <vt:i4>5</vt:i4>
      </vt:variant>
      <vt:variant>
        <vt:lpstr>嵌入 OLE 服务器</vt:lpstr>
      </vt:variant>
      <vt:variant>
        <vt:i4>23</vt:i4>
      </vt:variant>
      <vt:variant>
        <vt:lpstr>幻灯片标题</vt:lpstr>
      </vt:variant>
      <vt:variant>
        <vt:i4>81</vt:i4>
      </vt:variant>
    </vt:vector>
  </HeadingPairs>
  <TitlesOfParts>
    <vt:vector size="119" baseType="lpstr">
      <vt:lpstr>Arial</vt:lpstr>
      <vt:lpstr>宋体</vt:lpstr>
      <vt:lpstr>Wingdings</vt:lpstr>
      <vt:lpstr>黑体</vt:lpstr>
      <vt:lpstr>Times New Roman</vt:lpstr>
      <vt:lpstr>微软雅黑</vt:lpstr>
      <vt:lpstr>Arial Unicode MS</vt:lpstr>
      <vt:lpstr>Calibri</vt:lpstr>
      <vt:lpstr>Symbol</vt:lpstr>
      <vt:lpstr>Wingdings</vt:lpstr>
      <vt:lpstr>主题1</vt:lpstr>
      <vt:lpstr>1_24美金的ppt模板</vt:lpstr>
      <vt:lpstr>24美金的ppt模板_3</vt:lpstr>
      <vt:lpstr>24美金的ppt模板_4</vt:lpstr>
      <vt:lpstr>24美金的ppt模板_5</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Equation.3</vt:lpstr>
      <vt:lpstr>Equation.3</vt:lpstr>
      <vt:lpstr>Equation.DSMT4</vt:lpstr>
      <vt:lpstr>Equation.3</vt:lpstr>
      <vt:lpstr>Equation.3</vt:lpstr>
      <vt:lpstr>Equation.3</vt:lpstr>
      <vt:lpstr>复习和习题</vt:lpstr>
      <vt:lpstr>2024《计算机系统结构》考试大纲</vt:lpstr>
      <vt:lpstr>第一章 基本概念</vt:lpstr>
      <vt:lpstr>第一章</vt:lpstr>
      <vt:lpstr>例——Amdahl定律</vt:lpstr>
      <vt:lpstr>例——Amdahl定律</vt:lpstr>
      <vt:lpstr>例</vt:lpstr>
      <vt:lpstr>例——等效CPI</vt:lpstr>
      <vt:lpstr>例——等效CPI</vt:lpstr>
      <vt:lpstr>例——CPU时间</vt:lpstr>
      <vt:lpstr>例——CPU时间</vt:lpstr>
      <vt:lpstr>例——CPU时间</vt:lpstr>
      <vt:lpstr>练习——Amdahl定律</vt:lpstr>
      <vt:lpstr>解答（AI claude 3.5 sonnet)</vt:lpstr>
      <vt:lpstr>解答（AI claude 3.5 sonnet)</vt:lpstr>
      <vt:lpstr>练习——加速比</vt:lpstr>
      <vt:lpstr>PowerPoint 演示文稿</vt:lpstr>
      <vt:lpstr>例——等效CPI</vt:lpstr>
      <vt:lpstr>练习</vt:lpstr>
      <vt:lpstr>解答</vt:lpstr>
      <vt:lpstr>练习</vt:lpstr>
      <vt:lpstr>解答</vt:lpstr>
      <vt:lpstr>练习</vt:lpstr>
      <vt:lpstr>解答</vt:lpstr>
      <vt:lpstr>解答（续）</vt:lpstr>
      <vt:lpstr>第三章 存储系统</vt:lpstr>
      <vt:lpstr>CACHE性能的评估和改进</vt:lpstr>
      <vt:lpstr>n*n二维数组无冲突访问</vt:lpstr>
      <vt:lpstr>例</vt:lpstr>
      <vt:lpstr>例 </vt:lpstr>
      <vt:lpstr>练习：</vt:lpstr>
      <vt:lpstr>解答</vt:lpstr>
      <vt:lpstr>练习</vt:lpstr>
      <vt:lpstr>解答</vt:lpstr>
      <vt:lpstr>解答（续）</vt:lpstr>
      <vt:lpstr>练习——无冲突访问</vt:lpstr>
      <vt:lpstr>解答</vt:lpstr>
      <vt:lpstr>练习</vt:lpstr>
      <vt:lpstr>解答</vt:lpstr>
      <vt:lpstr>例</vt:lpstr>
      <vt:lpstr>例</vt:lpstr>
      <vt:lpstr>例</vt:lpstr>
      <vt:lpstr>答案</vt:lpstr>
      <vt:lpstr>第五章 标量处理机</vt:lpstr>
      <vt:lpstr>非线性流水线的调度</vt:lpstr>
      <vt:lpstr>相关性分析与静态流水线调度</vt:lpstr>
      <vt:lpstr>超标量处理机性能</vt:lpstr>
      <vt:lpstr>超流水线处理机性能</vt:lpstr>
      <vt:lpstr>练习——流水线时空图</vt:lpstr>
      <vt:lpstr>解答</vt:lpstr>
      <vt:lpstr>练习——流水线时空图</vt:lpstr>
      <vt:lpstr>解答</vt:lpstr>
      <vt:lpstr>解答</vt:lpstr>
      <vt:lpstr>解答</vt:lpstr>
      <vt:lpstr>例——非线性流水线调度</vt:lpstr>
      <vt:lpstr>解答</vt:lpstr>
      <vt:lpstr>解答</vt:lpstr>
      <vt:lpstr>解答</vt:lpstr>
      <vt:lpstr>练习——非线性流水线调度</vt:lpstr>
      <vt:lpstr>解答</vt:lpstr>
      <vt:lpstr>解答（续）</vt:lpstr>
      <vt:lpstr>例——发掘ILP的编译器技术</vt:lpstr>
      <vt:lpstr>例——发掘ILP的编译器技术</vt:lpstr>
      <vt:lpstr>例——流水线调度</vt:lpstr>
      <vt:lpstr>例——循环展开</vt:lpstr>
      <vt:lpstr>例——循环展开+流水线调度</vt:lpstr>
      <vt:lpstr>例——依靠编译器进行数据重定向的例子</vt:lpstr>
      <vt:lpstr>练习——超标量和超流水处理机</vt:lpstr>
      <vt:lpstr>解答</vt:lpstr>
      <vt:lpstr>解答</vt:lpstr>
      <vt:lpstr>解答</vt:lpstr>
      <vt:lpstr>第七章 互连网络</vt:lpstr>
      <vt:lpstr>间接二进制N立方体网络</vt:lpstr>
      <vt:lpstr>Omega网络</vt:lpstr>
      <vt:lpstr>练习——互连函数</vt:lpstr>
      <vt:lpstr>解答</vt:lpstr>
      <vt:lpstr>解答</vt:lpstr>
      <vt:lpstr>练习</vt:lpstr>
      <vt:lpstr>解答</vt:lpstr>
      <vt:lpstr>解答</vt:lpstr>
      <vt:lpstr>考试注意事项</vt:lpstr>
    </vt:vector>
  </TitlesOfParts>
  <Company>Lenovo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前言</dc:title>
  <dc:creator>lenovo</dc:creator>
  <cp:lastModifiedBy>锕狗</cp:lastModifiedBy>
  <cp:revision>58</cp:revision>
  <dcterms:created xsi:type="dcterms:W3CDTF">2013-02-24T08:52:00Z</dcterms:created>
  <dcterms:modified xsi:type="dcterms:W3CDTF">2024-12-12T19:29:15Z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F7B8A25A7EBD4366A845E9B5693E1699_13</vt:lpwstr>
  </property>
  <property fmtid="{D5CDD505-2E9C-101B-9397-08002B2CF9AE}" pid="3" name="KSOProductBuildVer">
    <vt:lpwstr>2052-12.1.0.19302</vt:lpwstr>
  </property>
</Properties>
</file>