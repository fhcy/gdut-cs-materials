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 id="2147483674" r:id="rId4"/>
    <p:sldMasterId id="2147483687" r:id="rId5"/>
    <p:sldMasterId id="2147483700" r:id="rId6"/>
    <p:sldMasterId id="2147483713" r:id="rId7"/>
    <p:sldMasterId id="2147483728" r:id="rId8"/>
    <p:sldMasterId id="2147483740" r:id="rId9"/>
    <p:sldMasterId id="2147483753" r:id="rId10"/>
    <p:sldMasterId id="2147483766" r:id="rId11"/>
  </p:sldMasterIdLst>
  <p:notesMasterIdLst>
    <p:notesMasterId r:id="rId13"/>
  </p:notesMasterIdLst>
  <p:handoutMasterIdLst>
    <p:handoutMasterId r:id="rId99"/>
  </p:handoutMasterIdLst>
  <p:sldIdLst>
    <p:sldId id="257" r:id="rId12"/>
    <p:sldId id="258" r:id="rId14"/>
    <p:sldId id="349" r:id="rId15"/>
    <p:sldId id="262" r:id="rId16"/>
    <p:sldId id="478" r:id="rId17"/>
    <p:sldId id="351" r:id="rId18"/>
    <p:sldId id="844" r:id="rId19"/>
    <p:sldId id="845" r:id="rId20"/>
    <p:sldId id="847" r:id="rId21"/>
    <p:sldId id="846" r:id="rId22"/>
    <p:sldId id="352" r:id="rId23"/>
    <p:sldId id="480" r:id="rId24"/>
    <p:sldId id="588" r:id="rId25"/>
    <p:sldId id="587" r:id="rId26"/>
    <p:sldId id="515" r:id="rId27"/>
    <p:sldId id="589" r:id="rId28"/>
    <p:sldId id="590" r:id="rId29"/>
    <p:sldId id="848" r:id="rId30"/>
    <p:sldId id="591" r:id="rId31"/>
    <p:sldId id="487" r:id="rId32"/>
    <p:sldId id="488" r:id="rId33"/>
    <p:sldId id="595" r:id="rId34"/>
    <p:sldId id="594" r:id="rId35"/>
    <p:sldId id="852" r:id="rId36"/>
    <p:sldId id="853" r:id="rId37"/>
    <p:sldId id="849" r:id="rId38"/>
    <p:sldId id="694" r:id="rId39"/>
    <p:sldId id="851" r:id="rId40"/>
    <p:sldId id="850" r:id="rId41"/>
    <p:sldId id="781" r:id="rId42"/>
    <p:sldId id="782" r:id="rId43"/>
    <p:sldId id="785" r:id="rId44"/>
    <p:sldId id="786" r:id="rId45"/>
    <p:sldId id="787" r:id="rId46"/>
    <p:sldId id="696" r:id="rId47"/>
    <p:sldId id="697" r:id="rId48"/>
    <p:sldId id="698" r:id="rId49"/>
    <p:sldId id="699" r:id="rId50"/>
    <p:sldId id="702" r:id="rId51"/>
    <p:sldId id="703" r:id="rId52"/>
    <p:sldId id="704" r:id="rId53"/>
    <p:sldId id="788" r:id="rId54"/>
    <p:sldId id="705" r:id="rId55"/>
    <p:sldId id="709" r:id="rId56"/>
    <p:sldId id="707" r:id="rId57"/>
    <p:sldId id="710" r:id="rId58"/>
    <p:sldId id="711" r:id="rId59"/>
    <p:sldId id="712" r:id="rId60"/>
    <p:sldId id="713" r:id="rId61"/>
    <p:sldId id="714" r:id="rId62"/>
    <p:sldId id="715" r:id="rId63"/>
    <p:sldId id="716" r:id="rId64"/>
    <p:sldId id="717" r:id="rId65"/>
    <p:sldId id="718" r:id="rId66"/>
    <p:sldId id="719" r:id="rId67"/>
    <p:sldId id="720" r:id="rId68"/>
    <p:sldId id="749" r:id="rId69"/>
    <p:sldId id="750" r:id="rId70"/>
    <p:sldId id="754" r:id="rId71"/>
    <p:sldId id="753" r:id="rId72"/>
    <p:sldId id="755" r:id="rId73"/>
    <p:sldId id="756" r:id="rId74"/>
    <p:sldId id="757" r:id="rId75"/>
    <p:sldId id="758" r:id="rId76"/>
    <p:sldId id="759" r:id="rId77"/>
    <p:sldId id="783" r:id="rId78"/>
    <p:sldId id="784" r:id="rId79"/>
    <p:sldId id="923" r:id="rId80"/>
    <p:sldId id="924" r:id="rId81"/>
    <p:sldId id="760" r:id="rId82"/>
    <p:sldId id="761" r:id="rId83"/>
    <p:sldId id="762" r:id="rId84"/>
    <p:sldId id="763" r:id="rId85"/>
    <p:sldId id="764" r:id="rId86"/>
    <p:sldId id="765" r:id="rId87"/>
    <p:sldId id="766" r:id="rId88"/>
    <p:sldId id="768" r:id="rId89"/>
    <p:sldId id="769" r:id="rId90"/>
    <p:sldId id="770" r:id="rId91"/>
    <p:sldId id="771" r:id="rId92"/>
    <p:sldId id="772" r:id="rId93"/>
    <p:sldId id="773" r:id="rId94"/>
    <p:sldId id="774" r:id="rId95"/>
    <p:sldId id="775" r:id="rId96"/>
    <p:sldId id="776" r:id="rId97"/>
    <p:sldId id="777" r:id="rId98"/>
  </p:sldIdLst>
  <p:sldSz cx="9144000" cy="6858000" type="screen4x3"/>
  <p:notesSz cx="6858000" cy="9144000"/>
  <p:custDataLst>
    <p:tags r:id="rId104"/>
  </p:custDataLst>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9pPr>
  </p:defaultTextStyle>
  <p:extLst>
    <p:ext uri="{EFAFB233-063F-42B5-8137-9DF3F51BA10A}">
      <p15:sldGuideLst xmlns:p15="http://schemas.microsoft.com/office/powerpoint/2012/main">
        <p15:guide id="1" orient="horz" pos="2188" userDrawn="1">
          <p15:clr>
            <a:srgbClr val="A4A3A4"/>
          </p15:clr>
        </p15:guide>
        <p15:guide id="2" pos="281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iger" initials="t" lastIdx="3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FF"/>
    <a:srgbClr val="000000"/>
    <a:srgbClr val="800000"/>
    <a:srgbClr val="000066"/>
    <a:srgbClr val="663300"/>
    <a:srgbClr val="9900FF"/>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9632"/>
    <p:restoredTop sz="92988"/>
  </p:normalViewPr>
  <p:slideViewPr>
    <p:cSldViewPr showGuides="1">
      <p:cViewPr varScale="1">
        <p:scale>
          <a:sx n="63" d="100"/>
          <a:sy n="63" d="100"/>
        </p:scale>
        <p:origin x="1140" y="72"/>
      </p:cViewPr>
      <p:guideLst>
        <p:guide orient="horz" pos="2188"/>
        <p:guide pos="2812"/>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3306"/>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handoutMaster" Target="handoutMasters/handoutMaster1.xml"/><Relationship Id="rId98" Type="http://schemas.openxmlformats.org/officeDocument/2006/relationships/slide" Target="slides/slide86.xml"/><Relationship Id="rId97" Type="http://schemas.openxmlformats.org/officeDocument/2006/relationships/slide" Target="slides/slide85.xml"/><Relationship Id="rId96" Type="http://schemas.openxmlformats.org/officeDocument/2006/relationships/slide" Target="slides/slide84.xml"/><Relationship Id="rId95" Type="http://schemas.openxmlformats.org/officeDocument/2006/relationships/slide" Target="slides/slide83.xml"/><Relationship Id="rId94" Type="http://schemas.openxmlformats.org/officeDocument/2006/relationships/slide" Target="slides/slide82.xml"/><Relationship Id="rId93" Type="http://schemas.openxmlformats.org/officeDocument/2006/relationships/slide" Target="slides/slide81.xml"/><Relationship Id="rId92" Type="http://schemas.openxmlformats.org/officeDocument/2006/relationships/slide" Target="slides/slide80.xml"/><Relationship Id="rId91" Type="http://schemas.openxmlformats.org/officeDocument/2006/relationships/slide" Target="slides/slide79.xml"/><Relationship Id="rId90" Type="http://schemas.openxmlformats.org/officeDocument/2006/relationships/slide" Target="slides/slide78.xml"/><Relationship Id="rId9" Type="http://schemas.openxmlformats.org/officeDocument/2006/relationships/slideMaster" Target="slideMasters/slideMaster8.xml"/><Relationship Id="rId89" Type="http://schemas.openxmlformats.org/officeDocument/2006/relationships/slide" Target="slides/slide77.xml"/><Relationship Id="rId88" Type="http://schemas.openxmlformats.org/officeDocument/2006/relationships/slide" Target="slides/slide76.xml"/><Relationship Id="rId87" Type="http://schemas.openxmlformats.org/officeDocument/2006/relationships/slide" Target="slides/slide75.xml"/><Relationship Id="rId86" Type="http://schemas.openxmlformats.org/officeDocument/2006/relationships/slide" Target="slides/slide74.xml"/><Relationship Id="rId85" Type="http://schemas.openxmlformats.org/officeDocument/2006/relationships/slide" Target="slides/slide73.xml"/><Relationship Id="rId84" Type="http://schemas.openxmlformats.org/officeDocument/2006/relationships/slide" Target="slides/slide72.xml"/><Relationship Id="rId83" Type="http://schemas.openxmlformats.org/officeDocument/2006/relationships/slide" Target="slides/slide71.xml"/><Relationship Id="rId82" Type="http://schemas.openxmlformats.org/officeDocument/2006/relationships/slide" Target="slides/slide70.xml"/><Relationship Id="rId81" Type="http://schemas.openxmlformats.org/officeDocument/2006/relationships/slide" Target="slides/slide69.xml"/><Relationship Id="rId80" Type="http://schemas.openxmlformats.org/officeDocument/2006/relationships/slide" Target="slides/slide68.xml"/><Relationship Id="rId8" Type="http://schemas.openxmlformats.org/officeDocument/2006/relationships/slideMaster" Target="slideMasters/slideMaster7.xml"/><Relationship Id="rId79" Type="http://schemas.openxmlformats.org/officeDocument/2006/relationships/slide" Target="slides/slide67.xml"/><Relationship Id="rId78" Type="http://schemas.openxmlformats.org/officeDocument/2006/relationships/slide" Target="slides/slide66.xml"/><Relationship Id="rId77" Type="http://schemas.openxmlformats.org/officeDocument/2006/relationships/slide" Target="slides/slide65.xml"/><Relationship Id="rId76" Type="http://schemas.openxmlformats.org/officeDocument/2006/relationships/slide" Target="slides/slide64.xml"/><Relationship Id="rId75" Type="http://schemas.openxmlformats.org/officeDocument/2006/relationships/slide" Target="slides/slide63.xml"/><Relationship Id="rId74" Type="http://schemas.openxmlformats.org/officeDocument/2006/relationships/slide" Target="slides/slide62.xml"/><Relationship Id="rId73" Type="http://schemas.openxmlformats.org/officeDocument/2006/relationships/slide" Target="slides/slide61.xml"/><Relationship Id="rId72" Type="http://schemas.openxmlformats.org/officeDocument/2006/relationships/slide" Target="slides/slide60.xml"/><Relationship Id="rId71" Type="http://schemas.openxmlformats.org/officeDocument/2006/relationships/slide" Target="slides/slide59.xml"/><Relationship Id="rId70" Type="http://schemas.openxmlformats.org/officeDocument/2006/relationships/slide" Target="slides/slide58.xml"/><Relationship Id="rId7" Type="http://schemas.openxmlformats.org/officeDocument/2006/relationships/slideMaster" Target="slideMasters/slideMaster6.xml"/><Relationship Id="rId69" Type="http://schemas.openxmlformats.org/officeDocument/2006/relationships/slide" Target="slides/slide57.xml"/><Relationship Id="rId68" Type="http://schemas.openxmlformats.org/officeDocument/2006/relationships/slide" Target="slides/slide56.xml"/><Relationship Id="rId67" Type="http://schemas.openxmlformats.org/officeDocument/2006/relationships/slide" Target="slides/slide55.xml"/><Relationship Id="rId66" Type="http://schemas.openxmlformats.org/officeDocument/2006/relationships/slide" Target="slides/slide54.xml"/><Relationship Id="rId65" Type="http://schemas.openxmlformats.org/officeDocument/2006/relationships/slide" Target="slides/slide53.xml"/><Relationship Id="rId64" Type="http://schemas.openxmlformats.org/officeDocument/2006/relationships/slide" Target="slides/slide52.xml"/><Relationship Id="rId63" Type="http://schemas.openxmlformats.org/officeDocument/2006/relationships/slide" Target="slides/slide51.xml"/><Relationship Id="rId62" Type="http://schemas.openxmlformats.org/officeDocument/2006/relationships/slide" Target="slides/slide50.xml"/><Relationship Id="rId61" Type="http://schemas.openxmlformats.org/officeDocument/2006/relationships/slide" Target="slides/slide49.xml"/><Relationship Id="rId60" Type="http://schemas.openxmlformats.org/officeDocument/2006/relationships/slide" Target="slides/slide48.xml"/><Relationship Id="rId6" Type="http://schemas.openxmlformats.org/officeDocument/2006/relationships/slideMaster" Target="slideMasters/slideMaster5.xml"/><Relationship Id="rId59" Type="http://schemas.openxmlformats.org/officeDocument/2006/relationships/slide" Target="slides/slide47.xml"/><Relationship Id="rId58" Type="http://schemas.openxmlformats.org/officeDocument/2006/relationships/slide" Target="slides/slide46.xml"/><Relationship Id="rId57" Type="http://schemas.openxmlformats.org/officeDocument/2006/relationships/slide" Target="slides/slide45.xml"/><Relationship Id="rId56" Type="http://schemas.openxmlformats.org/officeDocument/2006/relationships/slide" Target="slides/slide44.xml"/><Relationship Id="rId55" Type="http://schemas.openxmlformats.org/officeDocument/2006/relationships/slide" Target="slides/slide43.xml"/><Relationship Id="rId54" Type="http://schemas.openxmlformats.org/officeDocument/2006/relationships/slide" Target="slides/slide42.xml"/><Relationship Id="rId53" Type="http://schemas.openxmlformats.org/officeDocument/2006/relationships/slide" Target="slides/slide41.xml"/><Relationship Id="rId52" Type="http://schemas.openxmlformats.org/officeDocument/2006/relationships/slide" Target="slides/slide40.xml"/><Relationship Id="rId51" Type="http://schemas.openxmlformats.org/officeDocument/2006/relationships/slide" Target="slides/slide39.xml"/><Relationship Id="rId50" Type="http://schemas.openxmlformats.org/officeDocument/2006/relationships/slide" Target="slides/slide38.xml"/><Relationship Id="rId5" Type="http://schemas.openxmlformats.org/officeDocument/2006/relationships/slideMaster" Target="slideMasters/slideMaster4.xml"/><Relationship Id="rId49" Type="http://schemas.openxmlformats.org/officeDocument/2006/relationships/slide" Target="slides/slide37.xml"/><Relationship Id="rId48" Type="http://schemas.openxmlformats.org/officeDocument/2006/relationships/slide" Target="slides/slide36.xml"/><Relationship Id="rId47" Type="http://schemas.openxmlformats.org/officeDocument/2006/relationships/slide" Target="slides/slide35.xml"/><Relationship Id="rId46" Type="http://schemas.openxmlformats.org/officeDocument/2006/relationships/slide" Target="slides/slide34.xml"/><Relationship Id="rId45" Type="http://schemas.openxmlformats.org/officeDocument/2006/relationships/slide" Target="slides/slide33.xml"/><Relationship Id="rId44" Type="http://schemas.openxmlformats.org/officeDocument/2006/relationships/slide" Target="slides/slide32.xml"/><Relationship Id="rId43" Type="http://schemas.openxmlformats.org/officeDocument/2006/relationships/slide" Target="slides/slide31.xml"/><Relationship Id="rId42" Type="http://schemas.openxmlformats.org/officeDocument/2006/relationships/slide" Target="slides/slide30.xml"/><Relationship Id="rId41" Type="http://schemas.openxmlformats.org/officeDocument/2006/relationships/slide" Target="slides/slide29.xml"/><Relationship Id="rId40" Type="http://schemas.openxmlformats.org/officeDocument/2006/relationships/slide" Target="slides/slide28.xml"/><Relationship Id="rId4" Type="http://schemas.openxmlformats.org/officeDocument/2006/relationships/slideMaster" Target="slideMasters/slideMaster3.xml"/><Relationship Id="rId39" Type="http://schemas.openxmlformats.org/officeDocument/2006/relationships/slide" Target="slides/slide27.xml"/><Relationship Id="rId38" Type="http://schemas.openxmlformats.org/officeDocument/2006/relationships/slide" Target="slides/slide26.xml"/><Relationship Id="rId37" Type="http://schemas.openxmlformats.org/officeDocument/2006/relationships/slide" Target="slides/slide25.xml"/><Relationship Id="rId36" Type="http://schemas.openxmlformats.org/officeDocument/2006/relationships/slide" Target="slides/slide24.xml"/><Relationship Id="rId35" Type="http://schemas.openxmlformats.org/officeDocument/2006/relationships/slide" Target="slides/slide23.xml"/><Relationship Id="rId34" Type="http://schemas.openxmlformats.org/officeDocument/2006/relationships/slide" Target="slides/slide22.xml"/><Relationship Id="rId33" Type="http://schemas.openxmlformats.org/officeDocument/2006/relationships/slide" Target="slides/slide21.xml"/><Relationship Id="rId32" Type="http://schemas.openxmlformats.org/officeDocument/2006/relationships/slide" Target="slides/slide20.xml"/><Relationship Id="rId31" Type="http://schemas.openxmlformats.org/officeDocument/2006/relationships/slide" Target="slides/slide19.xml"/><Relationship Id="rId30" Type="http://schemas.openxmlformats.org/officeDocument/2006/relationships/slide" Target="slides/slide18.xml"/><Relationship Id="rId3" Type="http://schemas.openxmlformats.org/officeDocument/2006/relationships/slideMaster" Target="slideMasters/slideMaster2.xml"/><Relationship Id="rId29" Type="http://schemas.openxmlformats.org/officeDocument/2006/relationships/slide" Target="slides/slide17.xml"/><Relationship Id="rId28" Type="http://schemas.openxmlformats.org/officeDocument/2006/relationships/slide" Target="slides/slide16.xml"/><Relationship Id="rId27" Type="http://schemas.openxmlformats.org/officeDocument/2006/relationships/slide" Target="slides/slide15.xml"/><Relationship Id="rId26" Type="http://schemas.openxmlformats.org/officeDocument/2006/relationships/slide" Target="slides/slide14.xml"/><Relationship Id="rId25" Type="http://schemas.openxmlformats.org/officeDocument/2006/relationships/slide" Target="slides/slide13.xml"/><Relationship Id="rId24" Type="http://schemas.openxmlformats.org/officeDocument/2006/relationships/slide" Target="slides/slide12.xml"/><Relationship Id="rId23" Type="http://schemas.openxmlformats.org/officeDocument/2006/relationships/slide" Target="slides/slide11.xml"/><Relationship Id="rId22" Type="http://schemas.openxmlformats.org/officeDocument/2006/relationships/slide" Target="slides/slide10.xml"/><Relationship Id="rId21" Type="http://schemas.openxmlformats.org/officeDocument/2006/relationships/slide" Target="slides/slide9.xml"/><Relationship Id="rId20" Type="http://schemas.openxmlformats.org/officeDocument/2006/relationships/slide" Target="slides/slide8.xml"/><Relationship Id="rId2" Type="http://schemas.openxmlformats.org/officeDocument/2006/relationships/theme" Target="theme/theme1.xml"/><Relationship Id="rId19" Type="http://schemas.openxmlformats.org/officeDocument/2006/relationships/slide" Target="slides/slide7.xml"/><Relationship Id="rId18" Type="http://schemas.openxmlformats.org/officeDocument/2006/relationships/slide" Target="slides/slide6.xml"/><Relationship Id="rId17" Type="http://schemas.openxmlformats.org/officeDocument/2006/relationships/slide" Target="slides/slide5.xml"/><Relationship Id="rId16" Type="http://schemas.openxmlformats.org/officeDocument/2006/relationships/slide" Target="slides/slide4.xml"/><Relationship Id="rId15" Type="http://schemas.openxmlformats.org/officeDocument/2006/relationships/slide" Target="slides/slide3.xml"/><Relationship Id="rId14" Type="http://schemas.openxmlformats.org/officeDocument/2006/relationships/slide" Target="slides/slide2.xml"/><Relationship Id="rId13" Type="http://schemas.openxmlformats.org/officeDocument/2006/relationships/notesMaster" Target="notesMasters/notesMaster1.xml"/><Relationship Id="rId12" Type="http://schemas.openxmlformats.org/officeDocument/2006/relationships/slide" Target="slides/slide1.xml"/><Relationship Id="rId11" Type="http://schemas.openxmlformats.org/officeDocument/2006/relationships/slideMaster" Target="slideMasters/slideMaster10.xml"/><Relationship Id="rId104" Type="http://schemas.openxmlformats.org/officeDocument/2006/relationships/tags" Target="tags/tag130.xml"/><Relationship Id="rId103" Type="http://schemas.openxmlformats.org/officeDocument/2006/relationships/commentAuthors" Target="commentAuthors.xml"/><Relationship Id="rId102" Type="http://schemas.openxmlformats.org/officeDocument/2006/relationships/tableStyles" Target="tableStyles.xml"/><Relationship Id="rId101" Type="http://schemas.openxmlformats.org/officeDocument/2006/relationships/viewProps" Target="viewProps.xml"/><Relationship Id="rId100" Type="http://schemas.openxmlformats.org/officeDocument/2006/relationships/presProps" Target="presProps.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4-03-24T14:39:40.630" idx="30">
    <p:pos x="10" y="10"/>
    <p:text>14p201</p:text>
  </p:cm>
</p:cmLst>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85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8547"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8548"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8549"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C9B7136E-35E3-4CB5-819C-A3750A4D98FC}" type="slidenum">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662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627"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508" name="Rectangle 4"/>
          <p:cNvSpPr>
            <a:spLocks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6629"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630"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631"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192BB19F-FA50-41FD-9928-F504B09AF80C}" type="slidenum">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fld>
            <a:endParaRPr lang="zh-CN" altLang="en-US" dirty="0"/>
          </a:p>
        </p:txBody>
      </p:sp>
      <p:sp>
        <p:nvSpPr>
          <p:cNvPr id="24579" name="Rectangle 2"/>
          <p:cNvSpPr>
            <a:spLocks noTextEdit="1"/>
          </p:cNvSpPr>
          <p:nvPr>
            <p:ph type="sldImg"/>
          </p:nvPr>
        </p:nvSpPr>
        <p:spPr>
          <a:solidFill>
            <a:srgbClr val="FFFFFF">
              <a:alpha val="100000"/>
            </a:srgbClr>
          </a:solidFill>
        </p:spPr>
      </p:sp>
      <p:sp>
        <p:nvSpPr>
          <p:cNvPr id="24580" name="Rectangle 3"/>
          <p:cNvSpPr/>
          <p:nvPr>
            <p:ph type="body" idx="1"/>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dirty="0"/>
              <a:t>欢迎辞</a:t>
            </a:r>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7" name="Rectangle 2"/>
          <p:cNvSpPr txBox="1">
            <a:spLocks noGrp="1"/>
          </p:cNvSpPr>
          <p:nvPr>
            <p:ph type="hdr" sz="quarter"/>
          </p:nvPr>
        </p:nvSpPr>
        <p:spPr>
          <a:xfrm>
            <a:off x="0" y="0"/>
            <a:ext cx="2879725" cy="488950"/>
          </a:xfrm>
          <a:prstGeom prst="rect">
            <a:avLst/>
          </a:prstGeom>
          <a:noFill/>
          <a:ln w="9525">
            <a:noFill/>
          </a:ln>
        </p:spPr>
        <p:txBody>
          <a:bodyPr vert="horz" wrap="square" lIns="92075" tIns="46038" rIns="92075" bIns="46038" anchor="t" anchorCtr="0"/>
          <a:p>
            <a:pPr lvl="0" defTabSz="936625" eaLnBrk="1" hangingPunct="1"/>
            <a:r>
              <a:rPr lang="en-US" altLang="zh-CN" sz="1300" dirty="0">
                <a:solidFill>
                  <a:srgbClr val="000000"/>
                </a:solidFill>
                <a:latin typeface="Times New Roman" panose="02020603050405020304" pitchFamily="18" charset="0"/>
                <a:ea typeface="宋体" panose="02010600030101010101" pitchFamily="2" charset="-122"/>
              </a:rPr>
              <a:t>The University of Adelaide, School of Computer Science</a:t>
            </a:r>
            <a:endParaRPr lang="en-US" altLang="zh-CN" sz="1300" dirty="0">
              <a:solidFill>
                <a:srgbClr val="000000"/>
              </a:solidFill>
              <a:latin typeface="Times New Roman" panose="02020603050405020304" pitchFamily="18" charset="0"/>
              <a:ea typeface="宋体" panose="02010600030101010101" pitchFamily="2" charset="-122"/>
            </a:endParaRPr>
          </a:p>
        </p:txBody>
      </p:sp>
      <p:sp>
        <p:nvSpPr>
          <p:cNvPr id="126978" name="Rectangle 3"/>
          <p:cNvSpPr txBox="1">
            <a:spLocks noGrp="1"/>
          </p:cNvSpPr>
          <p:nvPr>
            <p:ph type="dt" sz="half"/>
          </p:nvPr>
        </p:nvSpPr>
        <p:spPr>
          <a:xfrm>
            <a:off x="3765550" y="0"/>
            <a:ext cx="2879725" cy="488950"/>
          </a:xfrm>
          <a:prstGeom prst="rect">
            <a:avLst/>
          </a:prstGeom>
          <a:noFill/>
          <a:ln w="9525">
            <a:noFill/>
          </a:ln>
        </p:spPr>
        <p:txBody>
          <a:bodyPr vert="horz" wrap="square" lIns="92075" tIns="46038" rIns="92075" bIns="46038" anchor="t" anchorCtr="0"/>
          <a:p>
            <a:pPr lvl="0" algn="r" defTabSz="936625" eaLnBrk="1" hangingPunct="1"/>
            <a:fld id="{BB962C8B-B14F-4D97-AF65-F5344CB8AC3E}" type="datetime3">
              <a:rPr lang="en-US" altLang="zh-CN" sz="1300" dirty="0">
                <a:solidFill>
                  <a:srgbClr val="000000"/>
                </a:solidFill>
                <a:latin typeface="Times New Roman" panose="02020603050405020304" pitchFamily="18" charset="0"/>
                <a:ea typeface="宋体" panose="02010600030101010101" pitchFamily="2" charset="-122"/>
              </a:rPr>
            </a:fld>
            <a:endParaRPr lang="en-US" altLang="zh-CN" sz="1300" dirty="0">
              <a:solidFill>
                <a:srgbClr val="000000"/>
              </a:solidFill>
              <a:latin typeface="Times New Roman" panose="02020603050405020304" pitchFamily="18" charset="0"/>
              <a:ea typeface="宋体" panose="02010600030101010101" pitchFamily="2" charset="-122"/>
            </a:endParaRPr>
          </a:p>
        </p:txBody>
      </p:sp>
      <p:sp>
        <p:nvSpPr>
          <p:cNvPr id="126979" name="Rectangle 6"/>
          <p:cNvSpPr txBox="1">
            <a:spLocks noGrp="1"/>
          </p:cNvSpPr>
          <p:nvPr>
            <p:ph type="ftr" sz="quarter"/>
          </p:nvPr>
        </p:nvSpPr>
        <p:spPr>
          <a:xfrm>
            <a:off x="0" y="9288463"/>
            <a:ext cx="2879725" cy="488950"/>
          </a:xfrm>
          <a:prstGeom prst="rect">
            <a:avLst/>
          </a:prstGeom>
          <a:noFill/>
          <a:ln w="9525">
            <a:noFill/>
          </a:ln>
        </p:spPr>
        <p:txBody>
          <a:bodyPr vert="horz" wrap="square" lIns="92075" tIns="46038" rIns="92075" bIns="46038" anchor="b" anchorCtr="0"/>
          <a:p>
            <a:pPr lvl="0" defTabSz="936625" eaLnBrk="1" hangingPunct="1"/>
            <a:r>
              <a:rPr lang="en-US" altLang="zh-CN" sz="1300" dirty="0">
                <a:solidFill>
                  <a:srgbClr val="000000"/>
                </a:solidFill>
                <a:latin typeface="Times New Roman" panose="02020603050405020304" pitchFamily="18" charset="0"/>
                <a:ea typeface="宋体" panose="02010600030101010101" pitchFamily="2" charset="-122"/>
              </a:rPr>
              <a:t>Chapter 2 — Instructions: Language of the Computer</a:t>
            </a:r>
            <a:endParaRPr lang="en-US" altLang="zh-CN" sz="1300" dirty="0">
              <a:solidFill>
                <a:srgbClr val="000000"/>
              </a:solidFill>
              <a:latin typeface="Times New Roman" panose="02020603050405020304" pitchFamily="18" charset="0"/>
              <a:ea typeface="宋体" panose="02010600030101010101" pitchFamily="2" charset="-122"/>
            </a:endParaRPr>
          </a:p>
        </p:txBody>
      </p:sp>
      <p:sp>
        <p:nvSpPr>
          <p:cNvPr id="126980" name="Rectangle 7"/>
          <p:cNvSpPr txBox="1">
            <a:spLocks noGrp="1"/>
          </p:cNvSpPr>
          <p:nvPr>
            <p:ph type="sldNum" sz="quarter"/>
          </p:nvPr>
        </p:nvSpPr>
        <p:spPr>
          <a:xfrm>
            <a:off x="3765550" y="9288463"/>
            <a:ext cx="2879725" cy="488950"/>
          </a:xfrm>
          <a:prstGeom prst="rect">
            <a:avLst/>
          </a:prstGeom>
          <a:noFill/>
          <a:ln w="9525">
            <a:noFill/>
          </a:ln>
        </p:spPr>
        <p:txBody>
          <a:bodyPr vert="horz" wrap="square" lIns="92075" tIns="46038" rIns="92075" bIns="46038" anchor="b" anchorCtr="0"/>
          <a:p>
            <a:pPr lvl="0" algn="r" defTabSz="936625"/>
            <a:fld id="{9A0DB2DC-4C9A-4742-B13C-FB6460FD3503}" type="slidenum">
              <a:rPr lang="en-US" altLang="zh-CN" sz="1300" dirty="0">
                <a:solidFill>
                  <a:srgbClr val="000000"/>
                </a:solidFill>
                <a:latin typeface="Times New Roman" panose="02020603050405020304" pitchFamily="18" charset="0"/>
                <a:ea typeface="宋体" panose="02010600030101010101" pitchFamily="2" charset="-122"/>
              </a:rPr>
            </a:fld>
            <a:endParaRPr lang="en-US" altLang="zh-CN" sz="1300" dirty="0">
              <a:solidFill>
                <a:srgbClr val="000000"/>
              </a:solidFill>
              <a:latin typeface="Times New Roman" panose="02020603050405020304" pitchFamily="18" charset="0"/>
              <a:ea typeface="宋体" panose="02010600030101010101" pitchFamily="2" charset="-122"/>
            </a:endParaRPr>
          </a:p>
        </p:txBody>
      </p:sp>
      <p:sp>
        <p:nvSpPr>
          <p:cNvPr id="126981" name="Rectangle 2"/>
          <p:cNvSpPr>
            <a:spLocks noGrp="1" noRot="1" noChangeAspect="1" noTextEdit="1"/>
          </p:cNvSpPr>
          <p:nvPr>
            <p:ph type="sldImg"/>
          </p:nvPr>
        </p:nvSpPr>
        <p:spPr/>
      </p:sp>
      <p:sp>
        <p:nvSpPr>
          <p:cNvPr id="126982" name="Rectangle 3"/>
          <p:cNvSpPr>
            <a:spLocks noGrp="1"/>
          </p:cNvSpPr>
          <p:nvPr>
            <p:ph type="body"/>
          </p:nvPr>
        </p:nvSpPr>
        <p:spPr/>
        <p:txBody>
          <a:bodyPr wrap="square" lIns="92075" tIns="46038" rIns="92075" bIns="46038" anchor="t" anchorCtr="0"/>
          <a:p>
            <a:pPr lvl="0" eaLnBrk="1" hangingPunct="1"/>
            <a:endParaRPr lang="en-AU"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69" name="Rectangle 2"/>
          <p:cNvSpPr txBox="1">
            <a:spLocks noGrp="1"/>
          </p:cNvSpPr>
          <p:nvPr>
            <p:ph type="hdr" sz="quarter"/>
          </p:nvPr>
        </p:nvSpPr>
        <p:spPr>
          <a:xfrm>
            <a:off x="0" y="0"/>
            <a:ext cx="2879725" cy="488950"/>
          </a:xfrm>
          <a:prstGeom prst="rect">
            <a:avLst/>
          </a:prstGeom>
          <a:noFill/>
          <a:ln w="9525">
            <a:noFill/>
          </a:ln>
        </p:spPr>
        <p:txBody>
          <a:bodyPr vert="horz" wrap="square" lIns="92075" tIns="46038" rIns="92075" bIns="46038" anchor="t" anchorCtr="0"/>
          <a:p>
            <a:pPr lvl="0" defTabSz="936625" eaLnBrk="1" hangingPunct="1"/>
            <a:r>
              <a:rPr lang="en-US" altLang="zh-CN" sz="1300" dirty="0">
                <a:solidFill>
                  <a:srgbClr val="000000"/>
                </a:solidFill>
                <a:latin typeface="Times New Roman" panose="02020603050405020304" pitchFamily="18" charset="0"/>
                <a:ea typeface="宋体" panose="02010600030101010101" pitchFamily="2" charset="-122"/>
              </a:rPr>
              <a:t>The University of Adelaide, School of Computer Science</a:t>
            </a:r>
            <a:endParaRPr lang="en-US" altLang="zh-CN" sz="1300" dirty="0">
              <a:solidFill>
                <a:srgbClr val="000000"/>
              </a:solidFill>
              <a:latin typeface="Times New Roman" panose="02020603050405020304" pitchFamily="18" charset="0"/>
              <a:ea typeface="宋体" panose="02010600030101010101" pitchFamily="2" charset="-122"/>
            </a:endParaRPr>
          </a:p>
        </p:txBody>
      </p:sp>
      <p:sp>
        <p:nvSpPr>
          <p:cNvPr id="135170" name="Rectangle 3"/>
          <p:cNvSpPr txBox="1">
            <a:spLocks noGrp="1"/>
          </p:cNvSpPr>
          <p:nvPr>
            <p:ph type="dt" sz="half"/>
          </p:nvPr>
        </p:nvSpPr>
        <p:spPr>
          <a:xfrm>
            <a:off x="3765550" y="0"/>
            <a:ext cx="2879725" cy="488950"/>
          </a:xfrm>
          <a:prstGeom prst="rect">
            <a:avLst/>
          </a:prstGeom>
          <a:noFill/>
          <a:ln w="9525">
            <a:noFill/>
          </a:ln>
        </p:spPr>
        <p:txBody>
          <a:bodyPr vert="horz" wrap="square" lIns="92075" tIns="46038" rIns="92075" bIns="46038" anchor="t" anchorCtr="0"/>
          <a:p>
            <a:pPr lvl="0" algn="r" defTabSz="936625" eaLnBrk="1" hangingPunct="1"/>
            <a:fld id="{BB962C8B-B14F-4D97-AF65-F5344CB8AC3E}" type="datetime3">
              <a:rPr lang="en-US" altLang="zh-CN" sz="1300" dirty="0">
                <a:solidFill>
                  <a:srgbClr val="000000"/>
                </a:solidFill>
                <a:latin typeface="Times New Roman" panose="02020603050405020304" pitchFamily="18" charset="0"/>
                <a:ea typeface="宋体" panose="02010600030101010101" pitchFamily="2" charset="-122"/>
              </a:rPr>
            </a:fld>
            <a:endParaRPr lang="en-US" altLang="zh-CN" sz="1300" dirty="0">
              <a:solidFill>
                <a:srgbClr val="000000"/>
              </a:solidFill>
              <a:latin typeface="Times New Roman" panose="02020603050405020304" pitchFamily="18" charset="0"/>
              <a:ea typeface="宋体" panose="02010600030101010101" pitchFamily="2" charset="-122"/>
            </a:endParaRPr>
          </a:p>
        </p:txBody>
      </p:sp>
      <p:sp>
        <p:nvSpPr>
          <p:cNvPr id="135171" name="Rectangle 6"/>
          <p:cNvSpPr txBox="1">
            <a:spLocks noGrp="1"/>
          </p:cNvSpPr>
          <p:nvPr>
            <p:ph type="ftr" sz="quarter"/>
          </p:nvPr>
        </p:nvSpPr>
        <p:spPr>
          <a:xfrm>
            <a:off x="0" y="9288463"/>
            <a:ext cx="2879725" cy="488950"/>
          </a:xfrm>
          <a:prstGeom prst="rect">
            <a:avLst/>
          </a:prstGeom>
          <a:noFill/>
          <a:ln w="9525">
            <a:noFill/>
          </a:ln>
        </p:spPr>
        <p:txBody>
          <a:bodyPr vert="horz" wrap="square" lIns="92075" tIns="46038" rIns="92075" bIns="46038" anchor="b" anchorCtr="0"/>
          <a:p>
            <a:pPr lvl="0" defTabSz="936625" eaLnBrk="1" hangingPunct="1"/>
            <a:r>
              <a:rPr lang="en-US" altLang="zh-CN" sz="1300" dirty="0">
                <a:solidFill>
                  <a:srgbClr val="000000"/>
                </a:solidFill>
                <a:latin typeface="Times New Roman" panose="02020603050405020304" pitchFamily="18" charset="0"/>
                <a:ea typeface="宋体" panose="02010600030101010101" pitchFamily="2" charset="-122"/>
              </a:rPr>
              <a:t>Chapter 2 — Instructions: Language of the Computer</a:t>
            </a:r>
            <a:endParaRPr lang="en-US" altLang="zh-CN" sz="1300" dirty="0">
              <a:solidFill>
                <a:srgbClr val="000000"/>
              </a:solidFill>
              <a:latin typeface="Times New Roman" panose="02020603050405020304" pitchFamily="18" charset="0"/>
              <a:ea typeface="宋体" panose="02010600030101010101" pitchFamily="2" charset="-122"/>
            </a:endParaRPr>
          </a:p>
        </p:txBody>
      </p:sp>
      <p:sp>
        <p:nvSpPr>
          <p:cNvPr id="135172" name="Rectangle 7"/>
          <p:cNvSpPr txBox="1">
            <a:spLocks noGrp="1"/>
          </p:cNvSpPr>
          <p:nvPr>
            <p:ph type="sldNum" sz="quarter"/>
          </p:nvPr>
        </p:nvSpPr>
        <p:spPr>
          <a:xfrm>
            <a:off x="3765550" y="9288463"/>
            <a:ext cx="2879725" cy="488950"/>
          </a:xfrm>
          <a:prstGeom prst="rect">
            <a:avLst/>
          </a:prstGeom>
          <a:noFill/>
          <a:ln w="9525">
            <a:noFill/>
          </a:ln>
        </p:spPr>
        <p:txBody>
          <a:bodyPr vert="horz" wrap="square" lIns="92075" tIns="46038" rIns="92075" bIns="46038" anchor="b" anchorCtr="0"/>
          <a:p>
            <a:pPr lvl="0" algn="r" defTabSz="936625"/>
            <a:fld id="{9A0DB2DC-4C9A-4742-B13C-FB6460FD3503}" type="slidenum">
              <a:rPr lang="en-US" altLang="zh-CN" sz="1300" dirty="0">
                <a:solidFill>
                  <a:srgbClr val="000000"/>
                </a:solidFill>
                <a:latin typeface="Times New Roman" panose="02020603050405020304" pitchFamily="18" charset="0"/>
                <a:ea typeface="宋体" panose="02010600030101010101" pitchFamily="2" charset="-122"/>
              </a:rPr>
            </a:fld>
            <a:endParaRPr lang="en-US" altLang="zh-CN" sz="1300" dirty="0">
              <a:solidFill>
                <a:srgbClr val="000000"/>
              </a:solidFill>
              <a:latin typeface="Times New Roman" panose="02020603050405020304" pitchFamily="18" charset="0"/>
              <a:ea typeface="宋体" panose="02010600030101010101" pitchFamily="2" charset="-122"/>
            </a:endParaRPr>
          </a:p>
        </p:txBody>
      </p:sp>
      <p:sp>
        <p:nvSpPr>
          <p:cNvPr id="135173" name="Rectangle 2"/>
          <p:cNvSpPr>
            <a:spLocks noGrp="1" noRot="1" noChangeAspect="1" noTextEdit="1"/>
          </p:cNvSpPr>
          <p:nvPr>
            <p:ph type="sldImg"/>
          </p:nvPr>
        </p:nvSpPr>
        <p:spPr/>
      </p:sp>
      <p:sp>
        <p:nvSpPr>
          <p:cNvPr id="135174" name="Rectangle 3"/>
          <p:cNvSpPr>
            <a:spLocks noGrp="1"/>
          </p:cNvSpPr>
          <p:nvPr>
            <p:ph type="body"/>
          </p:nvPr>
        </p:nvSpPr>
        <p:spPr/>
        <p:txBody>
          <a:bodyPr wrap="square" lIns="92075" tIns="46038" rIns="92075" bIns="46038" anchor="t" anchorCtr="0"/>
          <a:p>
            <a:pPr lvl="0" eaLnBrk="1" hangingPunct="1"/>
            <a:endParaRPr lang="en-AU"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8.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9.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pitchFamily="2" charset="-122"/>
              </a:defRPr>
            </a:lvl1pPr>
          </a:lstStyle>
          <a:p>
            <a:r>
              <a:rPr lang="zh-CN" altLang="en-US"/>
              <a:t>单击此处编辑母版标题样式</a:t>
            </a:r>
            <a:endParaRPr lang="en-US"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pitchFamily="2" charset="-122"/>
              </a:defRPr>
            </a:lvl1pPr>
            <a:lvl2pPr>
              <a:lnSpc>
                <a:spcPct val="90000"/>
              </a:lnSpc>
              <a:defRPr>
                <a:ea typeface="华文中宋" panose="02010600040101010101" pitchFamily="2" charset="-122"/>
              </a:defRPr>
            </a:lvl2pPr>
            <a:lvl3pPr>
              <a:lnSpc>
                <a:spcPct val="90000"/>
              </a:lnSpc>
              <a:defRPr>
                <a:ea typeface="华文中宋" panose="02010600040101010101" pitchFamily="2" charset="-122"/>
              </a:defRPr>
            </a:lvl3pPr>
            <a:lvl4pPr>
              <a:lnSpc>
                <a:spcPct val="90000"/>
              </a:lnSpc>
              <a:defRPr>
                <a:ea typeface="华文中宋" panose="02010600040101010101" pitchFamily="2" charset="-122"/>
              </a:defRPr>
            </a:lvl4pPr>
            <a:lvl5pPr>
              <a:lnSpc>
                <a:spcPct val="90000"/>
              </a:lnSpc>
              <a:defRPr>
                <a:ea typeface="华文中宋" panose="02010600040101010101" pitchFamily="2"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transition>
    <p:fade/>
  </p:transition>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dgm">
  <p:cSld name="Title and Diagram or Organization Char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11188" y="115888"/>
            <a:ext cx="8281987" cy="701675"/>
          </a:xfrm>
          <a:prstGeom prst="rect">
            <a:avLst/>
          </a:prstGeom>
        </p:spPr>
        <p:txBody>
          <a:bodyPr/>
          <a:lstStyle/>
          <a:p>
            <a:pPr fontAlgn="base"/>
            <a:r>
              <a:rPr lang="en-US" strike="noStrike" noProof="1"/>
              <a:t>Click to edit Master title style</a:t>
            </a:r>
            <a:endParaRPr lang="en-US" strike="noStrike" noProof="1"/>
          </a:p>
        </p:txBody>
      </p:sp>
      <p:sp>
        <p:nvSpPr>
          <p:cNvPr id="3" name="SmartArt Placeholder 2"/>
          <p:cNvSpPr>
            <a:spLocks noGrp="1"/>
          </p:cNvSpPr>
          <p:nvPr>
            <p:ph type="pic" idx="1"/>
          </p:nvPr>
        </p:nvSpPr>
        <p:spPr>
          <a:xfrm>
            <a:off x="684213" y="1125538"/>
            <a:ext cx="8270875" cy="5111750"/>
          </a:xfrm>
          <a:prstGeom prst="rect">
            <a:avLst/>
          </a:prstGeom>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endParaRPr kumimoji="0" lang="en-US" sz="2800" b="1" i="0" u="none" strike="noStrike" kern="0" cap="none" spc="0" normalizeH="0" baseline="0" noProof="0">
              <a:ln>
                <a:noFill/>
              </a:ln>
              <a:solidFill>
                <a:schemeClr val="hlink"/>
              </a:solidFill>
              <a:effectLst/>
              <a:uLnTx/>
              <a:uFillTx/>
              <a:latin typeface="+mn-lt"/>
              <a:ea typeface="+mn-ea"/>
              <a:cs typeface="+mn-cs"/>
            </a:endParaRPr>
          </a:p>
        </p:txBody>
      </p:sp>
      <p:sp>
        <p:nvSpPr>
          <p:cNvPr id="4" name="Footer Placeholder 3"/>
          <p:cNvSpPr>
            <a:spLocks noGrp="1"/>
          </p:cNvSpPr>
          <p:nvPr>
            <p:ph type="ftr" sz="quarter" idx="3"/>
          </p:nvPr>
        </p:nvSpPr>
        <p:spPr>
          <a:xfrm>
            <a:off x="1042988" y="6381750"/>
            <a:ext cx="7272338" cy="358775"/>
          </a:xfrm>
          <a:prstGeom prst="rect">
            <a:avLst/>
          </a:prstGeom>
        </p:spPr>
        <p:txBody>
          <a:bodyPr/>
          <a:lstStyle>
            <a:lvl1pPr algn="ctr" eaLnBrk="1" hangingPunct="1">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AU" sz="1800" b="0" i="0" u="none" strike="noStrike" kern="1200" cap="none" spc="0" normalizeH="0" baseline="0" noProof="0">
                <a:ln>
                  <a:noFill/>
                </a:ln>
                <a:solidFill>
                  <a:schemeClr val="accent2"/>
                </a:solidFill>
                <a:effectLst/>
                <a:uLnTx/>
                <a:uFillTx/>
                <a:latin typeface="+mn-lt"/>
                <a:ea typeface="+mn-ea"/>
                <a:cs typeface="+mn-cs"/>
              </a:rPr>
              <a:t>Copyright © 2012, Elsevier Inc. All rights reserved.</a:t>
            </a:r>
            <a:endParaRPr kumimoji="0" lang="en-AU" sz="1800" b="0" i="0" u="none" strike="noStrike" kern="1200" cap="none" spc="0" normalizeH="0" baseline="0" noProof="0">
              <a:ln>
                <a:noFill/>
              </a:ln>
              <a:solidFill>
                <a:schemeClr val="accent2"/>
              </a:solidFill>
              <a:effectLst/>
              <a:uLnTx/>
              <a:uFillTx/>
              <a:latin typeface="+mn-lt"/>
              <a:ea typeface="+mn-ea"/>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4478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4478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9" name="灯片编号占位符 8"/>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5" name="灯片编号占位符 4"/>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4" name="灯片编号占位符 3"/>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533400"/>
            <a:ext cx="6019800" cy="57150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pitchFamily="2" charset="-122"/>
              </a:defRPr>
            </a:lvl1pPr>
          </a:lstStyle>
          <a:p>
            <a:r>
              <a:rPr lang="zh-CN" altLang="en-US"/>
              <a:t>单击此处编辑母版标题样式</a:t>
            </a:r>
            <a:endParaRPr lang="en-US"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pitchFamily="2" charset="-122"/>
              </a:defRPr>
            </a:lvl1pPr>
            <a:lvl2pPr>
              <a:lnSpc>
                <a:spcPct val="90000"/>
              </a:lnSpc>
              <a:defRPr>
                <a:ea typeface="华文中宋" panose="02010600040101010101" pitchFamily="2" charset="-122"/>
              </a:defRPr>
            </a:lvl2pPr>
            <a:lvl3pPr>
              <a:lnSpc>
                <a:spcPct val="90000"/>
              </a:lnSpc>
              <a:defRPr>
                <a:ea typeface="华文中宋" panose="02010600040101010101" pitchFamily="2" charset="-122"/>
              </a:defRPr>
            </a:lvl3pPr>
            <a:lvl4pPr>
              <a:lnSpc>
                <a:spcPct val="90000"/>
              </a:lnSpc>
              <a:defRPr>
                <a:ea typeface="华文中宋" panose="02010600040101010101" pitchFamily="2" charset="-122"/>
              </a:defRPr>
            </a:lvl4pPr>
            <a:lvl5pPr>
              <a:lnSpc>
                <a:spcPct val="90000"/>
              </a:lnSpc>
              <a:defRPr>
                <a:ea typeface="华文中宋" panose="02010600040101010101" pitchFamily="2"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pitchFamily="2" charset="-122"/>
              </a:defRPr>
            </a:lvl1pPr>
          </a:lstStyle>
          <a:p>
            <a:r>
              <a:rPr lang="zh-CN" altLang="en-US"/>
              <a:t>单击此处编辑母版标题样式</a:t>
            </a:r>
            <a:endParaRPr lang="en-US"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pitchFamily="2" charset="-122"/>
              </a:defRPr>
            </a:lvl1pPr>
            <a:lvl2pPr>
              <a:lnSpc>
                <a:spcPct val="90000"/>
              </a:lnSpc>
              <a:defRPr>
                <a:ea typeface="华文中宋" panose="02010600040101010101" pitchFamily="2" charset="-122"/>
              </a:defRPr>
            </a:lvl2pPr>
            <a:lvl3pPr>
              <a:lnSpc>
                <a:spcPct val="90000"/>
              </a:lnSpc>
              <a:defRPr>
                <a:ea typeface="华文中宋" panose="02010600040101010101" pitchFamily="2" charset="-122"/>
              </a:defRPr>
            </a:lvl3pPr>
            <a:lvl4pPr>
              <a:lnSpc>
                <a:spcPct val="90000"/>
              </a:lnSpc>
              <a:defRPr>
                <a:ea typeface="华文中宋" panose="02010600040101010101" pitchFamily="2" charset="-122"/>
              </a:defRPr>
            </a:lvl4pPr>
            <a:lvl5pPr>
              <a:lnSpc>
                <a:spcPct val="90000"/>
              </a:lnSpc>
              <a:defRPr>
                <a:ea typeface="华文中宋" panose="02010600040101010101" pitchFamily="2"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transition>
    <p:fade/>
  </p:transition>
  <p:timing>
    <p:tnLst>
      <p:par>
        <p:cTn id="1" dur="indefinite" restart="never" nodeType="tmRoot"/>
      </p:par>
    </p:tn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pitchFamily="2" charset="-122"/>
              </a:defRPr>
            </a:lvl1pPr>
          </a:lstStyle>
          <a:p>
            <a:r>
              <a:rPr lang="zh-CN" altLang="en-US"/>
              <a:t>单击此处编辑母版标题样式</a:t>
            </a:r>
            <a:endParaRPr lang="en-US"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pitchFamily="2" charset="-122"/>
              </a:defRPr>
            </a:lvl1pPr>
            <a:lvl2pPr>
              <a:lnSpc>
                <a:spcPct val="90000"/>
              </a:lnSpc>
              <a:defRPr>
                <a:ea typeface="华文中宋" panose="02010600040101010101" pitchFamily="2" charset="-122"/>
              </a:defRPr>
            </a:lvl2pPr>
            <a:lvl3pPr>
              <a:lnSpc>
                <a:spcPct val="90000"/>
              </a:lnSpc>
              <a:defRPr>
                <a:ea typeface="华文中宋" panose="02010600040101010101" pitchFamily="2" charset="-122"/>
              </a:defRPr>
            </a:lvl3pPr>
            <a:lvl4pPr>
              <a:lnSpc>
                <a:spcPct val="90000"/>
              </a:lnSpc>
              <a:defRPr>
                <a:ea typeface="华文中宋" panose="02010600040101010101" pitchFamily="2" charset="-122"/>
              </a:defRPr>
            </a:lvl4pPr>
            <a:lvl5pPr>
              <a:lnSpc>
                <a:spcPct val="90000"/>
              </a:lnSpc>
              <a:defRPr>
                <a:ea typeface="华文中宋" panose="02010600040101010101" pitchFamily="2"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pitchFamily="2" charset="-122"/>
              </a:defRPr>
            </a:lvl1pPr>
          </a:lstStyle>
          <a:p>
            <a:r>
              <a:rPr lang="zh-CN" altLang="en-US"/>
              <a:t>单击此处编辑母版标题样式</a:t>
            </a:r>
            <a:endParaRPr lang="en-US"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pitchFamily="2" charset="-122"/>
              </a:defRPr>
            </a:lvl1pPr>
            <a:lvl2pPr>
              <a:lnSpc>
                <a:spcPct val="90000"/>
              </a:lnSpc>
              <a:defRPr>
                <a:ea typeface="华文中宋" panose="02010600040101010101" pitchFamily="2" charset="-122"/>
              </a:defRPr>
            </a:lvl2pPr>
            <a:lvl3pPr>
              <a:lnSpc>
                <a:spcPct val="90000"/>
              </a:lnSpc>
              <a:defRPr>
                <a:ea typeface="华文中宋" panose="02010600040101010101" pitchFamily="2" charset="-122"/>
              </a:defRPr>
            </a:lvl3pPr>
            <a:lvl4pPr>
              <a:lnSpc>
                <a:spcPct val="90000"/>
              </a:lnSpc>
              <a:defRPr>
                <a:ea typeface="华文中宋" panose="02010600040101010101" pitchFamily="2" charset="-122"/>
              </a:defRPr>
            </a:lvl4pPr>
            <a:lvl5pPr>
              <a:lnSpc>
                <a:spcPct val="90000"/>
              </a:lnSpc>
              <a:defRPr>
                <a:ea typeface="华文中宋" panose="02010600040101010101" pitchFamily="2"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transition>
    <p:fade/>
  </p:transition>
  <p:hf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type="dgm">
  <p:cSld name="Title and Diagram or Organization Char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11188" y="115888"/>
            <a:ext cx="8281987" cy="701675"/>
          </a:xfrm>
          <a:prstGeom prst="rect">
            <a:avLst/>
          </a:prstGeom>
        </p:spPr>
        <p:txBody>
          <a:bodyPr/>
          <a:lstStyle/>
          <a:p>
            <a:r>
              <a:rPr lang="en-US"/>
              <a:t>Click to edit Master title style</a:t>
            </a:r>
            <a:endParaRPr lang="en-US"/>
          </a:p>
        </p:txBody>
      </p:sp>
      <p:sp>
        <p:nvSpPr>
          <p:cNvPr id="3" name="SmartArt Placeholder 2"/>
          <p:cNvSpPr>
            <a:spLocks noGrp="1"/>
          </p:cNvSpPr>
          <p:nvPr>
            <p:ph type="pic" idx="1"/>
          </p:nvPr>
        </p:nvSpPr>
        <p:spPr>
          <a:xfrm>
            <a:off x="684213" y="1125538"/>
            <a:ext cx="8270875" cy="5111750"/>
          </a:xfrm>
          <a:prstGeom prst="rect">
            <a:avLst/>
          </a:prstGeom>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endParaRPr kumimoji="0" lang="en-US" sz="2800" b="1" i="0" u="none" strike="noStrike" kern="0" cap="none" spc="0" normalizeH="0" baseline="0" noProof="0">
              <a:ln>
                <a:noFill/>
              </a:ln>
              <a:solidFill>
                <a:schemeClr val="hlink"/>
              </a:solidFill>
              <a:effectLst/>
              <a:uLnTx/>
              <a:uFillTx/>
              <a:latin typeface="+mn-lt"/>
              <a:ea typeface="+mn-ea"/>
              <a:cs typeface="+mn-cs"/>
            </a:endParaRPr>
          </a:p>
        </p:txBody>
      </p:sp>
      <p:sp>
        <p:nvSpPr>
          <p:cNvPr id="4" name="Footer Placeholder 3"/>
          <p:cNvSpPr>
            <a:spLocks noGrp="1"/>
          </p:cNvSpPr>
          <p:nvPr>
            <p:ph type="ftr" sz="quarter" idx="3"/>
          </p:nvPr>
        </p:nvSpPr>
        <p:spPr>
          <a:xfrm>
            <a:off x="1042988" y="6381750"/>
            <a:ext cx="7272338" cy="358775"/>
          </a:xfrm>
          <a:prstGeom prst="rect">
            <a:avLst/>
          </a:prstGeom>
        </p:spPr>
        <p:txBody>
          <a:bodyPr/>
          <a:lstStyle>
            <a:lvl1pPr algn="ctr" eaLnBrk="1" hangingPunct="1">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AU" sz="1800" b="0" i="0" u="none" strike="noStrike" kern="1200" cap="none" spc="0" normalizeH="0" baseline="0" noProof="0">
                <a:ln>
                  <a:noFill/>
                </a:ln>
                <a:solidFill>
                  <a:schemeClr val="accent2"/>
                </a:solidFill>
                <a:effectLst/>
                <a:uLnTx/>
                <a:uFillTx/>
                <a:latin typeface="+mn-lt"/>
                <a:ea typeface="+mn-ea"/>
                <a:cs typeface="+mn-cs"/>
              </a:rPr>
              <a:t>Copyright © 2012, Elsevier Inc. All rights reserved.</a:t>
            </a:r>
            <a:endParaRPr kumimoji="0" lang="en-AU" sz="1800" b="0" i="0" u="none" strike="noStrike" kern="1200" cap="none" spc="0" normalizeH="0" baseline="0" noProof="0">
              <a:ln>
                <a:noFill/>
              </a:ln>
              <a:solidFill>
                <a:schemeClr val="accent2"/>
              </a:solidFill>
              <a:effectLst/>
              <a:uLnTx/>
              <a:uFillTx/>
              <a:latin typeface="+mn-lt"/>
              <a:ea typeface="+mn-ea"/>
              <a:cs typeface="+mn-cs"/>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bl">
  <p:cSld name="标题和表格">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301625" y="381000"/>
            <a:ext cx="8540750" cy="1143000"/>
          </a:xfrm>
          <a:prstGeom prst="rect">
            <a:avLst/>
          </a:prstGeo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301625" y="1752600"/>
            <a:ext cx="8540750" cy="4270375"/>
          </a:xfrm>
          <a:prstGeom prst="rect">
            <a:avLst/>
          </a:prstGeom>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endParaRPr kumimoji="0" lang="zh-CN" altLang="en-US" sz="2800" b="1" i="0" u="none" strike="noStrike" kern="0" cap="none" spc="0" normalizeH="0" baseline="0" noProof="0">
              <a:ln>
                <a:noFill/>
              </a:ln>
              <a:solidFill>
                <a:schemeClr val="hlink"/>
              </a:solidFill>
              <a:effectLst/>
              <a:uLnTx/>
              <a:uFillTx/>
              <a:latin typeface="+mn-lt"/>
              <a:ea typeface="+mn-ea"/>
              <a:cs typeface="+mn-cs"/>
            </a:endParaRPr>
          </a:p>
        </p:txBody>
      </p:sp>
      <p:sp>
        <p:nvSpPr>
          <p:cNvPr id="4" name="日期占位符 3"/>
          <p:cNvSpPr>
            <a:spLocks noGrp="1"/>
          </p:cNvSpPr>
          <p:nvPr>
            <p:ph type="dt" sz="half" idx="2"/>
          </p:nvPr>
        </p:nvSpPr>
        <p:spPr>
          <a:xfrm>
            <a:off x="301625" y="6172200"/>
            <a:ext cx="2289175" cy="47625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3"/>
          </p:nvPr>
        </p:nvSpPr>
        <p:spPr>
          <a:xfrm>
            <a:off x="3124200" y="6172200"/>
            <a:ext cx="2895600" cy="47625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4"/>
          </p:nvPr>
        </p:nvSpPr>
        <p:spPr>
          <a:xfrm>
            <a:off x="6553200" y="6172200"/>
            <a:ext cx="2289175" cy="47625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41DFF3DE-CA92-4B08-B1C4-941A0785216B}" type="slidenum">
              <a:rPr kumimoji="0" lang="en-US" altLang="zh-CN" sz="18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rPr>
            </a:fld>
            <a:endParaRPr kumimoji="0" lang="en-US" altLang="zh-CN" sz="18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4478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4478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9" name="灯片编号占位符 8"/>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5" name="灯片编号占位符 4"/>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4" name="灯片编号占位符 3"/>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533400"/>
            <a:ext cx="6019800" cy="57150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pitchFamily="2" charset="-122"/>
              </a:defRPr>
            </a:lvl1pPr>
          </a:lstStyle>
          <a:p>
            <a:r>
              <a:rPr lang="zh-CN" altLang="en-US"/>
              <a:t>单击此处编辑母版标题样式</a:t>
            </a:r>
            <a:endParaRPr lang="en-US"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pitchFamily="2" charset="-122"/>
              </a:defRPr>
            </a:lvl1pPr>
            <a:lvl2pPr>
              <a:lnSpc>
                <a:spcPct val="90000"/>
              </a:lnSpc>
              <a:defRPr>
                <a:ea typeface="华文中宋" panose="02010600040101010101" pitchFamily="2" charset="-122"/>
              </a:defRPr>
            </a:lvl2pPr>
            <a:lvl3pPr>
              <a:lnSpc>
                <a:spcPct val="90000"/>
              </a:lnSpc>
              <a:defRPr>
                <a:ea typeface="华文中宋" panose="02010600040101010101" pitchFamily="2" charset="-122"/>
              </a:defRPr>
            </a:lvl3pPr>
            <a:lvl4pPr>
              <a:lnSpc>
                <a:spcPct val="90000"/>
              </a:lnSpc>
              <a:defRPr>
                <a:ea typeface="华文中宋" panose="02010600040101010101" pitchFamily="2" charset="-122"/>
              </a:defRPr>
            </a:lvl4pPr>
            <a:lvl5pPr>
              <a:lnSpc>
                <a:spcPct val="90000"/>
              </a:lnSpc>
              <a:defRPr>
                <a:ea typeface="华文中宋" panose="02010600040101010101" pitchFamily="2"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pitchFamily="2" charset="-122"/>
              </a:defRPr>
            </a:lvl1pPr>
          </a:lstStyle>
          <a:p>
            <a:r>
              <a:rPr lang="zh-CN" altLang="en-US"/>
              <a:t>单击此处编辑母版标题样式</a:t>
            </a:r>
            <a:endParaRPr lang="en-US"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pitchFamily="2" charset="-122"/>
              </a:defRPr>
            </a:lvl1pPr>
            <a:lvl2pPr>
              <a:lnSpc>
                <a:spcPct val="90000"/>
              </a:lnSpc>
              <a:defRPr>
                <a:ea typeface="华文中宋" panose="02010600040101010101" pitchFamily="2" charset="-122"/>
              </a:defRPr>
            </a:lvl2pPr>
            <a:lvl3pPr>
              <a:lnSpc>
                <a:spcPct val="90000"/>
              </a:lnSpc>
              <a:defRPr>
                <a:ea typeface="华文中宋" panose="02010600040101010101" pitchFamily="2" charset="-122"/>
              </a:defRPr>
            </a:lvl3pPr>
            <a:lvl4pPr>
              <a:lnSpc>
                <a:spcPct val="90000"/>
              </a:lnSpc>
              <a:defRPr>
                <a:ea typeface="华文中宋" panose="02010600040101010101" pitchFamily="2" charset="-122"/>
              </a:defRPr>
            </a:lvl4pPr>
            <a:lvl5pPr>
              <a:lnSpc>
                <a:spcPct val="90000"/>
              </a:lnSpc>
              <a:defRPr>
                <a:ea typeface="华文中宋" panose="02010600040101010101" pitchFamily="2"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transition>
    <p:fade/>
  </p:transition>
  <p:timing>
    <p:tnLst>
      <p:par>
        <p:cTn id="1" dur="indefinite" restart="never" nodeType="tmRoot"/>
      </p:par>
    </p:tnLst>
  </p:timing>
</p:sldLayout>
</file>

<file path=ppt/slideLayouts/slideLayout1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pitchFamily="2" charset="-122"/>
              </a:defRPr>
            </a:lvl1pPr>
          </a:lstStyle>
          <a:p>
            <a:r>
              <a:rPr lang="zh-CN" altLang="en-US"/>
              <a:t>单击此处编辑母版标题样式</a:t>
            </a:r>
            <a:endParaRPr lang="en-US"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pitchFamily="2" charset="-122"/>
              </a:defRPr>
            </a:lvl1pPr>
            <a:lvl2pPr>
              <a:lnSpc>
                <a:spcPct val="90000"/>
              </a:lnSpc>
              <a:defRPr>
                <a:ea typeface="华文中宋" panose="02010600040101010101" pitchFamily="2" charset="-122"/>
              </a:defRPr>
            </a:lvl2pPr>
            <a:lvl3pPr>
              <a:lnSpc>
                <a:spcPct val="90000"/>
              </a:lnSpc>
              <a:defRPr>
                <a:ea typeface="华文中宋" panose="02010600040101010101" pitchFamily="2" charset="-122"/>
              </a:defRPr>
            </a:lvl3pPr>
            <a:lvl4pPr>
              <a:lnSpc>
                <a:spcPct val="90000"/>
              </a:lnSpc>
              <a:defRPr>
                <a:ea typeface="华文中宋" panose="02010600040101010101" pitchFamily="2" charset="-122"/>
              </a:defRPr>
            </a:lvl4pPr>
            <a:lvl5pPr>
              <a:lnSpc>
                <a:spcPct val="90000"/>
              </a:lnSpc>
              <a:defRPr>
                <a:ea typeface="华文中宋" panose="02010600040101010101" pitchFamily="2"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3" Type="http://schemas.openxmlformats.org/officeDocument/2006/relationships/theme" Target="../theme/theme2.xml"/><Relationship Id="rId12" Type="http://schemas.openxmlformats.org/officeDocument/2006/relationships/image" Target="../media/image2.jpeg"/><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3.xml"/><Relationship Id="rId8" Type="http://schemas.openxmlformats.org/officeDocument/2006/relationships/slideLayout" Target="../slideLayouts/slideLayout32.xml"/><Relationship Id="rId7" Type="http://schemas.openxmlformats.org/officeDocument/2006/relationships/slideLayout" Target="../slideLayouts/slideLayout31.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3" Type="http://schemas.openxmlformats.org/officeDocument/2006/relationships/slideLayout" Target="../slideLayouts/slideLayout27.xml"/><Relationship Id="rId2" Type="http://schemas.openxmlformats.org/officeDocument/2006/relationships/slideLayout" Target="../slideLayouts/slideLayout26.xml"/><Relationship Id="rId14" Type="http://schemas.openxmlformats.org/officeDocument/2006/relationships/theme" Target="../theme/theme3.xml"/><Relationship Id="rId13" Type="http://schemas.openxmlformats.org/officeDocument/2006/relationships/image" Target="../media/image1.jpeg"/><Relationship Id="rId12" Type="http://schemas.openxmlformats.org/officeDocument/2006/relationships/slideLayout" Target="../slideLayouts/slideLayout36.xml"/><Relationship Id="rId11" Type="http://schemas.openxmlformats.org/officeDocument/2006/relationships/slideLayout" Target="../slideLayouts/slideLayout35.xml"/><Relationship Id="rId10" Type="http://schemas.openxmlformats.org/officeDocument/2006/relationships/slideLayout" Target="../slideLayouts/slideLayout34.xml"/><Relationship Id="rId1"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5.xml"/><Relationship Id="rId8" Type="http://schemas.openxmlformats.org/officeDocument/2006/relationships/slideLayout" Target="../slideLayouts/slideLayout44.xml"/><Relationship Id="rId7" Type="http://schemas.openxmlformats.org/officeDocument/2006/relationships/slideLayout" Target="../slideLayouts/slideLayout43.xml"/><Relationship Id="rId6" Type="http://schemas.openxmlformats.org/officeDocument/2006/relationships/slideLayout" Target="../slideLayouts/slideLayout42.xml"/><Relationship Id="rId5" Type="http://schemas.openxmlformats.org/officeDocument/2006/relationships/slideLayout" Target="../slideLayouts/slideLayout41.xml"/><Relationship Id="rId4" Type="http://schemas.openxmlformats.org/officeDocument/2006/relationships/slideLayout" Target="../slideLayouts/slideLayout40.xml"/><Relationship Id="rId3" Type="http://schemas.openxmlformats.org/officeDocument/2006/relationships/slideLayout" Target="../slideLayouts/slideLayout39.xml"/><Relationship Id="rId2" Type="http://schemas.openxmlformats.org/officeDocument/2006/relationships/slideLayout" Target="../slideLayouts/slideLayout38.xml"/><Relationship Id="rId14" Type="http://schemas.openxmlformats.org/officeDocument/2006/relationships/theme" Target="../theme/theme4.xml"/><Relationship Id="rId13" Type="http://schemas.openxmlformats.org/officeDocument/2006/relationships/image" Target="../media/image1.jpeg"/><Relationship Id="rId12" Type="http://schemas.openxmlformats.org/officeDocument/2006/relationships/slideLayout" Target="../slideLayouts/slideLayout48.xml"/><Relationship Id="rId11" Type="http://schemas.openxmlformats.org/officeDocument/2006/relationships/slideLayout" Target="../slideLayouts/slideLayout47.xml"/><Relationship Id="rId10" Type="http://schemas.openxmlformats.org/officeDocument/2006/relationships/slideLayout" Target="../slideLayouts/slideLayout46.xml"/><Relationship Id="rId1" Type="http://schemas.openxmlformats.org/officeDocument/2006/relationships/slideLayout" Target="../slideLayouts/slideLayout37.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7.xml"/><Relationship Id="rId8" Type="http://schemas.openxmlformats.org/officeDocument/2006/relationships/slideLayout" Target="../slideLayouts/slideLayout56.xml"/><Relationship Id="rId7" Type="http://schemas.openxmlformats.org/officeDocument/2006/relationships/slideLayout" Target="../slideLayouts/slideLayout55.xml"/><Relationship Id="rId6" Type="http://schemas.openxmlformats.org/officeDocument/2006/relationships/slideLayout" Target="../slideLayouts/slideLayout54.xml"/><Relationship Id="rId5" Type="http://schemas.openxmlformats.org/officeDocument/2006/relationships/slideLayout" Target="../slideLayouts/slideLayout53.xml"/><Relationship Id="rId4" Type="http://schemas.openxmlformats.org/officeDocument/2006/relationships/slideLayout" Target="../slideLayouts/slideLayout52.xml"/><Relationship Id="rId3" Type="http://schemas.openxmlformats.org/officeDocument/2006/relationships/slideLayout" Target="../slideLayouts/slideLayout51.xml"/><Relationship Id="rId2" Type="http://schemas.openxmlformats.org/officeDocument/2006/relationships/slideLayout" Target="../slideLayouts/slideLayout50.xml"/><Relationship Id="rId14" Type="http://schemas.openxmlformats.org/officeDocument/2006/relationships/theme" Target="../theme/theme5.xml"/><Relationship Id="rId13" Type="http://schemas.openxmlformats.org/officeDocument/2006/relationships/image" Target="../media/image1.jpeg"/><Relationship Id="rId12" Type="http://schemas.openxmlformats.org/officeDocument/2006/relationships/slideLayout" Target="../slideLayouts/slideLayout60.xml"/><Relationship Id="rId11" Type="http://schemas.openxmlformats.org/officeDocument/2006/relationships/slideLayout" Target="../slideLayouts/slideLayout59.xml"/><Relationship Id="rId10" Type="http://schemas.openxmlformats.org/officeDocument/2006/relationships/slideLayout" Target="../slideLayouts/slideLayout58.xml"/><Relationship Id="rId1" Type="http://schemas.openxmlformats.org/officeDocument/2006/relationships/slideLayout" Target="../slideLayouts/slideLayout49.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9.xml"/><Relationship Id="rId8" Type="http://schemas.openxmlformats.org/officeDocument/2006/relationships/slideLayout" Target="../slideLayouts/slideLayout68.xml"/><Relationship Id="rId7" Type="http://schemas.openxmlformats.org/officeDocument/2006/relationships/slideLayout" Target="../slideLayouts/slideLayout67.xml"/><Relationship Id="rId6" Type="http://schemas.openxmlformats.org/officeDocument/2006/relationships/slideLayout" Target="../slideLayouts/slideLayout66.xml"/><Relationship Id="rId5" Type="http://schemas.openxmlformats.org/officeDocument/2006/relationships/slideLayout" Target="../slideLayouts/slideLayout65.xml"/><Relationship Id="rId4" Type="http://schemas.openxmlformats.org/officeDocument/2006/relationships/slideLayout" Target="../slideLayouts/slideLayout64.xml"/><Relationship Id="rId3" Type="http://schemas.openxmlformats.org/officeDocument/2006/relationships/slideLayout" Target="../slideLayouts/slideLayout63.xml"/><Relationship Id="rId2" Type="http://schemas.openxmlformats.org/officeDocument/2006/relationships/slideLayout" Target="../slideLayouts/slideLayout62.xml"/><Relationship Id="rId16" Type="http://schemas.openxmlformats.org/officeDocument/2006/relationships/theme" Target="../theme/theme6.xml"/><Relationship Id="rId15" Type="http://schemas.openxmlformats.org/officeDocument/2006/relationships/image" Target="../media/image1.jpeg"/><Relationship Id="rId14" Type="http://schemas.openxmlformats.org/officeDocument/2006/relationships/slideLayout" Target="../slideLayouts/slideLayout74.xml"/><Relationship Id="rId13" Type="http://schemas.openxmlformats.org/officeDocument/2006/relationships/slideLayout" Target="../slideLayouts/slideLayout73.xml"/><Relationship Id="rId12" Type="http://schemas.openxmlformats.org/officeDocument/2006/relationships/slideLayout" Target="../slideLayouts/slideLayout72.xml"/><Relationship Id="rId11" Type="http://schemas.openxmlformats.org/officeDocument/2006/relationships/slideLayout" Target="../slideLayouts/slideLayout71.xml"/><Relationship Id="rId10" Type="http://schemas.openxmlformats.org/officeDocument/2006/relationships/slideLayout" Target="../slideLayouts/slideLayout70.xml"/><Relationship Id="rId1" Type="http://schemas.openxmlformats.org/officeDocument/2006/relationships/slideLayout" Target="../slideLayouts/slideLayout61.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83.xml"/><Relationship Id="rId8" Type="http://schemas.openxmlformats.org/officeDocument/2006/relationships/slideLayout" Target="../slideLayouts/slideLayout82.xml"/><Relationship Id="rId7" Type="http://schemas.openxmlformats.org/officeDocument/2006/relationships/slideLayout" Target="../slideLayouts/slideLayout81.xml"/><Relationship Id="rId6" Type="http://schemas.openxmlformats.org/officeDocument/2006/relationships/slideLayout" Target="../slideLayouts/slideLayout80.xml"/><Relationship Id="rId5" Type="http://schemas.openxmlformats.org/officeDocument/2006/relationships/slideLayout" Target="../slideLayouts/slideLayout79.xml"/><Relationship Id="rId4" Type="http://schemas.openxmlformats.org/officeDocument/2006/relationships/slideLayout" Target="../slideLayouts/slideLayout78.xml"/><Relationship Id="rId3" Type="http://schemas.openxmlformats.org/officeDocument/2006/relationships/slideLayout" Target="../slideLayouts/slideLayout77.xml"/><Relationship Id="rId2" Type="http://schemas.openxmlformats.org/officeDocument/2006/relationships/slideLayout" Target="../slideLayouts/slideLayout76.xml"/><Relationship Id="rId13" Type="http://schemas.openxmlformats.org/officeDocument/2006/relationships/theme" Target="../theme/theme7.xml"/><Relationship Id="rId12" Type="http://schemas.openxmlformats.org/officeDocument/2006/relationships/image" Target="../media/image2.jpeg"/><Relationship Id="rId11" Type="http://schemas.openxmlformats.org/officeDocument/2006/relationships/slideLayout" Target="../slideLayouts/slideLayout85.xml"/><Relationship Id="rId10" Type="http://schemas.openxmlformats.org/officeDocument/2006/relationships/slideLayout" Target="../slideLayouts/slideLayout84.xml"/><Relationship Id="rId1"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94.xml"/><Relationship Id="rId8" Type="http://schemas.openxmlformats.org/officeDocument/2006/relationships/slideLayout" Target="../slideLayouts/slideLayout93.xml"/><Relationship Id="rId7" Type="http://schemas.openxmlformats.org/officeDocument/2006/relationships/slideLayout" Target="../slideLayouts/slideLayout92.xml"/><Relationship Id="rId6" Type="http://schemas.openxmlformats.org/officeDocument/2006/relationships/slideLayout" Target="../slideLayouts/slideLayout91.xml"/><Relationship Id="rId5" Type="http://schemas.openxmlformats.org/officeDocument/2006/relationships/slideLayout" Target="../slideLayouts/slideLayout90.xml"/><Relationship Id="rId4" Type="http://schemas.openxmlformats.org/officeDocument/2006/relationships/slideLayout" Target="../slideLayouts/slideLayout89.xml"/><Relationship Id="rId3" Type="http://schemas.openxmlformats.org/officeDocument/2006/relationships/slideLayout" Target="../slideLayouts/slideLayout88.xml"/><Relationship Id="rId2" Type="http://schemas.openxmlformats.org/officeDocument/2006/relationships/slideLayout" Target="../slideLayouts/slideLayout87.xml"/><Relationship Id="rId14" Type="http://schemas.openxmlformats.org/officeDocument/2006/relationships/theme" Target="../theme/theme8.xml"/><Relationship Id="rId13" Type="http://schemas.openxmlformats.org/officeDocument/2006/relationships/image" Target="../media/image1.jpeg"/><Relationship Id="rId12" Type="http://schemas.openxmlformats.org/officeDocument/2006/relationships/slideLayout" Target="../slideLayouts/slideLayout97.xml"/><Relationship Id="rId11" Type="http://schemas.openxmlformats.org/officeDocument/2006/relationships/slideLayout" Target="../slideLayouts/slideLayout96.xml"/><Relationship Id="rId10" Type="http://schemas.openxmlformats.org/officeDocument/2006/relationships/slideLayout" Target="../slideLayouts/slideLayout95.xml"/><Relationship Id="rId1" Type="http://schemas.openxmlformats.org/officeDocument/2006/relationships/slideLayout" Target="../slideLayouts/slideLayout86.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106.xml"/><Relationship Id="rId8" Type="http://schemas.openxmlformats.org/officeDocument/2006/relationships/slideLayout" Target="../slideLayouts/slideLayout105.xml"/><Relationship Id="rId7" Type="http://schemas.openxmlformats.org/officeDocument/2006/relationships/slideLayout" Target="../slideLayouts/slideLayout104.xml"/><Relationship Id="rId6" Type="http://schemas.openxmlformats.org/officeDocument/2006/relationships/slideLayout" Target="../slideLayouts/slideLayout103.xml"/><Relationship Id="rId5" Type="http://schemas.openxmlformats.org/officeDocument/2006/relationships/slideLayout" Target="../slideLayouts/slideLayout102.xml"/><Relationship Id="rId4" Type="http://schemas.openxmlformats.org/officeDocument/2006/relationships/slideLayout" Target="../slideLayouts/slideLayout101.xml"/><Relationship Id="rId3" Type="http://schemas.openxmlformats.org/officeDocument/2006/relationships/slideLayout" Target="../slideLayouts/slideLayout100.xml"/><Relationship Id="rId2" Type="http://schemas.openxmlformats.org/officeDocument/2006/relationships/slideLayout" Target="../slideLayouts/slideLayout99.xml"/><Relationship Id="rId14" Type="http://schemas.openxmlformats.org/officeDocument/2006/relationships/theme" Target="../theme/theme9.xml"/><Relationship Id="rId13" Type="http://schemas.openxmlformats.org/officeDocument/2006/relationships/image" Target="../media/image1.jpeg"/><Relationship Id="rId12" Type="http://schemas.openxmlformats.org/officeDocument/2006/relationships/slideLayout" Target="../slideLayouts/slideLayout109.xml"/><Relationship Id="rId11" Type="http://schemas.openxmlformats.org/officeDocument/2006/relationships/slideLayout" Target="../slideLayouts/slideLayout108.xml"/><Relationship Id="rId10" Type="http://schemas.openxmlformats.org/officeDocument/2006/relationships/slideLayout" Target="../slideLayouts/slideLayout107.xml"/><Relationship Id="rId1" Type="http://schemas.openxmlformats.org/officeDocument/2006/relationships/slideLayout" Target="../slideLayouts/slideLayout98.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18.xml"/><Relationship Id="rId8" Type="http://schemas.openxmlformats.org/officeDocument/2006/relationships/slideLayout" Target="../slideLayouts/slideLayout117.xml"/><Relationship Id="rId7" Type="http://schemas.openxmlformats.org/officeDocument/2006/relationships/slideLayout" Target="../slideLayouts/slideLayout116.xml"/><Relationship Id="rId6" Type="http://schemas.openxmlformats.org/officeDocument/2006/relationships/slideLayout" Target="../slideLayouts/slideLayout115.xml"/><Relationship Id="rId5" Type="http://schemas.openxmlformats.org/officeDocument/2006/relationships/slideLayout" Target="../slideLayouts/slideLayout114.xml"/><Relationship Id="rId4" Type="http://schemas.openxmlformats.org/officeDocument/2006/relationships/slideLayout" Target="../slideLayouts/slideLayout113.xml"/><Relationship Id="rId3" Type="http://schemas.openxmlformats.org/officeDocument/2006/relationships/slideLayout" Target="../slideLayouts/slideLayout112.xml"/><Relationship Id="rId2" Type="http://schemas.openxmlformats.org/officeDocument/2006/relationships/slideLayout" Target="../slideLayouts/slideLayout111.xml"/><Relationship Id="rId14" Type="http://schemas.openxmlformats.org/officeDocument/2006/relationships/theme" Target="../theme/theme10.xml"/><Relationship Id="rId13" Type="http://schemas.openxmlformats.org/officeDocument/2006/relationships/image" Target="../media/image1.jpeg"/><Relationship Id="rId12" Type="http://schemas.openxmlformats.org/officeDocument/2006/relationships/slideLayout" Target="../slideLayouts/slideLayout121.xml"/><Relationship Id="rId11" Type="http://schemas.openxmlformats.org/officeDocument/2006/relationships/slideLayout" Target="../slideLayouts/slideLayout120.xml"/><Relationship Id="rId10" Type="http://schemas.openxmlformats.org/officeDocument/2006/relationships/slideLayout" Target="../slideLayouts/slideLayout119.xml"/><Relationship Id="rId1" Type="http://schemas.openxmlformats.org/officeDocument/2006/relationships/slideLayout" Target="../slideLayouts/slideLayout1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4"/>
          <a:stretch>
            <a:fillRect/>
          </a:stretch>
        </a:blipFill>
        <a:effectLst/>
      </p:bgPr>
    </p:bg>
    <p:spTree>
      <p:nvGrpSpPr>
        <p:cNvPr id="1" name=""/>
        <p:cNvGrpSpPr/>
        <p:nvPr/>
      </p:nvGrpSpPr>
      <p:grpSpPr/>
      <p:sp>
        <p:nvSpPr>
          <p:cNvPr id="1026" name="Line 87"/>
          <p:cNvSpPr/>
          <p:nvPr/>
        </p:nvSpPr>
        <p:spPr>
          <a:xfrm>
            <a:off x="225425" y="1054100"/>
            <a:ext cx="7461250" cy="0"/>
          </a:xfrm>
          <a:prstGeom prst="line">
            <a:avLst/>
          </a:prstGeom>
          <a:ln w="38100" cap="flat" cmpd="sng">
            <a:solidFill>
              <a:srgbClr val="003366"/>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stretch>
            <a:fillRect/>
          </a:stretch>
        </a:blipFill>
        <a:effectLst/>
      </p:bgPr>
    </p:bg>
    <p:spTree>
      <p:nvGrpSpPr>
        <p:cNvPr id="1" name=""/>
        <p:cNvGrpSpPr/>
        <p:nvPr/>
      </p:nvGrpSpPr>
      <p:grpSpPr/>
      <p:sp>
        <p:nvSpPr>
          <p:cNvPr id="2050" name="Rectangle 3"/>
          <p:cNvSpPr>
            <a:spLocks noGrp="1"/>
          </p:cNvSpPr>
          <p:nvPr>
            <p:ph type="body" idx="1"/>
          </p:nvPr>
        </p:nvSpPr>
        <p:spPr>
          <a:xfrm>
            <a:off x="457200" y="1447800"/>
            <a:ext cx="8229600" cy="48006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051" name="Rectangle 2"/>
          <p:cNvSpPr>
            <a:spLocks noGrp="1"/>
          </p:cNvSpPr>
          <p:nvPr>
            <p:ph type="title"/>
          </p:nvPr>
        </p:nvSpPr>
        <p:spPr>
          <a:xfrm>
            <a:off x="457200" y="533400"/>
            <a:ext cx="7696200" cy="563563"/>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2052" name="Rectangle 4"/>
          <p:cNvSpPr>
            <a:spLocks noGrp="1" noChangeArrowheads="1"/>
          </p:cNvSpPr>
          <p:nvPr>
            <p:ph type="dt" sz="half" idx="2"/>
          </p:nvPr>
        </p:nvSpPr>
        <p:spPr bwMode="auto">
          <a:xfrm>
            <a:off x="457200" y="647700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solidFill>
                  <a:schemeClr val="bg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2053" name="Rectangle 5"/>
          <p:cNvSpPr>
            <a:spLocks noGrp="1" noChangeArrowheads="1"/>
          </p:cNvSpPr>
          <p:nvPr>
            <p:ph type="ftr" sz="quarter" idx="3"/>
          </p:nvPr>
        </p:nvSpPr>
        <p:spPr bwMode="auto">
          <a:xfrm>
            <a:off x="3124200" y="6477000"/>
            <a:ext cx="2895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2054" name="Rectangle 6"/>
          <p:cNvSpPr>
            <a:spLocks noGrp="1" noChangeArrowheads="1"/>
          </p:cNvSpPr>
          <p:nvPr>
            <p:ph type="sldNum" sz="quarter" idx="4"/>
          </p:nvPr>
        </p:nvSpPr>
        <p:spPr bwMode="auto">
          <a:xfrm>
            <a:off x="6553200" y="647700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solidFill>
                  <a:schemeClr val="bg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3074" name="Line 87"/>
          <p:cNvSpPr/>
          <p:nvPr/>
        </p:nvSpPr>
        <p:spPr>
          <a:xfrm>
            <a:off x="225425" y="1054100"/>
            <a:ext cx="7461250" cy="0"/>
          </a:xfrm>
          <a:prstGeom prst="line">
            <a:avLst/>
          </a:prstGeom>
          <a:ln w="38100" cap="flat" cmpd="sng">
            <a:solidFill>
              <a:srgbClr val="003366"/>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4098" name="Line 87"/>
          <p:cNvSpPr/>
          <p:nvPr/>
        </p:nvSpPr>
        <p:spPr>
          <a:xfrm>
            <a:off x="225425" y="1054100"/>
            <a:ext cx="7461250" cy="0"/>
          </a:xfrm>
          <a:prstGeom prst="line">
            <a:avLst/>
          </a:prstGeom>
          <a:ln w="38100" cap="flat" cmpd="sng">
            <a:solidFill>
              <a:srgbClr val="003366"/>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iming>
    <p:tnLst>
      <p:par>
        <p:cTn id="1" dur="indefinite" restart="never" nodeType="tmRoot"/>
      </p:par>
    </p:tnLst>
  </p:timing>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5122" name="Line 87"/>
          <p:cNvSpPr/>
          <p:nvPr/>
        </p:nvSpPr>
        <p:spPr>
          <a:xfrm>
            <a:off x="225425" y="1054100"/>
            <a:ext cx="7461250" cy="0"/>
          </a:xfrm>
          <a:prstGeom prst="line">
            <a:avLst/>
          </a:prstGeom>
          <a:ln w="38100" cap="flat" cmpd="sng">
            <a:solidFill>
              <a:srgbClr val="003366"/>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stretch>
            <a:fillRect/>
          </a:stretch>
        </a:blipFill>
        <a:effectLst/>
      </p:bgPr>
    </p:bg>
    <p:spTree>
      <p:nvGrpSpPr>
        <p:cNvPr id="1" name=""/>
        <p:cNvGrpSpPr/>
        <p:nvPr/>
      </p:nvGrpSpPr>
      <p:grpSpPr/>
      <p:sp>
        <p:nvSpPr>
          <p:cNvPr id="6146" name="Line 87"/>
          <p:cNvSpPr/>
          <p:nvPr/>
        </p:nvSpPr>
        <p:spPr>
          <a:xfrm>
            <a:off x="225425" y="1054100"/>
            <a:ext cx="7461250" cy="0"/>
          </a:xfrm>
          <a:prstGeom prst="line">
            <a:avLst/>
          </a:prstGeom>
          <a:ln w="38100" cap="flat" cmpd="sng">
            <a:solidFill>
              <a:srgbClr val="003366"/>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stretch>
            <a:fillRect/>
          </a:stretch>
        </a:blipFill>
        <a:effectLst/>
      </p:bgPr>
    </p:bg>
    <p:spTree>
      <p:nvGrpSpPr>
        <p:cNvPr id="1" name=""/>
        <p:cNvGrpSpPr/>
        <p:nvPr/>
      </p:nvGrpSpPr>
      <p:grpSpPr/>
      <p:sp>
        <p:nvSpPr>
          <p:cNvPr id="7170" name="Rectangle 3"/>
          <p:cNvSpPr>
            <a:spLocks noGrp="1"/>
          </p:cNvSpPr>
          <p:nvPr>
            <p:ph type="body" idx="1"/>
          </p:nvPr>
        </p:nvSpPr>
        <p:spPr>
          <a:xfrm>
            <a:off x="457200" y="1447800"/>
            <a:ext cx="8229600" cy="48006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171" name="Rectangle 2"/>
          <p:cNvSpPr>
            <a:spLocks noGrp="1"/>
          </p:cNvSpPr>
          <p:nvPr>
            <p:ph type="title"/>
          </p:nvPr>
        </p:nvSpPr>
        <p:spPr>
          <a:xfrm>
            <a:off x="457200" y="533400"/>
            <a:ext cx="7696200" cy="563563"/>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2052" name="Rectangle 4"/>
          <p:cNvSpPr>
            <a:spLocks noGrp="1" noChangeArrowheads="1"/>
          </p:cNvSpPr>
          <p:nvPr>
            <p:ph type="dt" sz="half" idx="2"/>
          </p:nvPr>
        </p:nvSpPr>
        <p:spPr bwMode="auto">
          <a:xfrm>
            <a:off x="457200" y="647700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solidFill>
                  <a:schemeClr val="bg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2053" name="Rectangle 5"/>
          <p:cNvSpPr>
            <a:spLocks noGrp="1" noChangeArrowheads="1"/>
          </p:cNvSpPr>
          <p:nvPr>
            <p:ph type="ftr" sz="quarter" idx="3"/>
          </p:nvPr>
        </p:nvSpPr>
        <p:spPr bwMode="auto">
          <a:xfrm>
            <a:off x="3124200" y="6477000"/>
            <a:ext cx="2895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2054" name="Rectangle 6"/>
          <p:cNvSpPr>
            <a:spLocks noGrp="1" noChangeArrowheads="1"/>
          </p:cNvSpPr>
          <p:nvPr>
            <p:ph type="sldNum" sz="quarter" idx="4"/>
          </p:nvPr>
        </p:nvSpPr>
        <p:spPr bwMode="auto">
          <a:xfrm>
            <a:off x="6553200" y="647700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solidFill>
                  <a:schemeClr val="bg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8194" name="Line 87"/>
          <p:cNvSpPr/>
          <p:nvPr/>
        </p:nvSpPr>
        <p:spPr>
          <a:xfrm>
            <a:off x="225425" y="1054100"/>
            <a:ext cx="7461250" cy="0"/>
          </a:xfrm>
          <a:prstGeom prst="line">
            <a:avLst/>
          </a:prstGeom>
          <a:ln w="38100" cap="flat" cmpd="sng">
            <a:solidFill>
              <a:srgbClr val="003366"/>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 id="2147483752"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9218" name="Line 87"/>
          <p:cNvSpPr/>
          <p:nvPr/>
        </p:nvSpPr>
        <p:spPr>
          <a:xfrm>
            <a:off x="225425" y="1054100"/>
            <a:ext cx="7461250" cy="0"/>
          </a:xfrm>
          <a:prstGeom prst="line">
            <a:avLst/>
          </a:prstGeom>
          <a:ln w="38100" cap="flat" cmpd="sng">
            <a:solidFill>
              <a:srgbClr val="003366"/>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 id="2147483765" r:id="rId12"/>
  </p:sldLayoutIdLst>
  <p:timing>
    <p:tnLst>
      <p:par>
        <p:cTn id="1" dur="indefinite" restart="never" nodeType="tmRoot"/>
      </p:par>
    </p:tnLst>
  </p:timing>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10242" name="Line 87"/>
          <p:cNvSpPr/>
          <p:nvPr/>
        </p:nvSpPr>
        <p:spPr>
          <a:xfrm>
            <a:off x="225425" y="1054100"/>
            <a:ext cx="7461250" cy="0"/>
          </a:xfrm>
          <a:prstGeom prst="line">
            <a:avLst/>
          </a:prstGeom>
          <a:ln w="38100" cap="flat" cmpd="sng">
            <a:solidFill>
              <a:srgbClr val="003366"/>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 id="2147483778"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62.xml"/><Relationship Id="rId2" Type="http://schemas.openxmlformats.org/officeDocument/2006/relationships/image" Target="../media/image3.png"/><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3.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12.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tags" Target="../tags/tag15.xml"/><Relationship Id="rId3" Type="http://schemas.openxmlformats.org/officeDocument/2006/relationships/image" Target="../media/image7.png"/><Relationship Id="rId2" Type="http://schemas.openxmlformats.org/officeDocument/2006/relationships/tags" Target="../tags/tag14.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vmlDrawing" Target="../drawings/vmlDrawing1.vml"/><Relationship Id="rId7" Type="http://schemas.openxmlformats.org/officeDocument/2006/relationships/slideLayout" Target="../slideLayouts/slideLayout2.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image" Target="../media/image9.wmf"/><Relationship Id="rId2" Type="http://schemas.openxmlformats.org/officeDocument/2006/relationships/oleObject" Target="../embeddings/oleObject1.bin"/><Relationship Id="rId1" Type="http://schemas.openxmlformats.org/officeDocument/2006/relationships/tags" Target="../tags/tag16.xml"/></Relationships>
</file>

<file path=ppt/slides/_rels/slide17.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2.xml"/><Relationship Id="rId3" Type="http://schemas.openxmlformats.org/officeDocument/2006/relationships/image" Target="../media/image10.wmf"/><Relationship Id="rId2" Type="http://schemas.openxmlformats.org/officeDocument/2006/relationships/oleObject" Target="../embeddings/oleObject2.bin"/><Relationship Id="rId1" Type="http://schemas.openxmlformats.org/officeDocument/2006/relationships/tags" Target="../tags/tag2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2.xml"/><Relationship Id="rId3" Type="http://schemas.openxmlformats.org/officeDocument/2006/relationships/image" Target="../media/image11.wmf"/><Relationship Id="rId2" Type="http://schemas.openxmlformats.org/officeDocument/2006/relationships/oleObject" Target="../embeddings/oleObject3.bin"/><Relationship Id="rId1" Type="http://schemas.openxmlformats.org/officeDocument/2006/relationships/tags" Target="../tags/tag21.xml"/></Relationships>
</file>

<file path=ppt/slides/_rels/slide20.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slideLayout" Target="../slideLayouts/slideLayout2.xml"/><Relationship Id="rId3" Type="http://schemas.openxmlformats.org/officeDocument/2006/relationships/image" Target="../media/image11.wmf"/><Relationship Id="rId2" Type="http://schemas.openxmlformats.org/officeDocument/2006/relationships/oleObject" Target="../embeddings/oleObject4.bin"/><Relationship Id="rId1" Type="http://schemas.openxmlformats.org/officeDocument/2006/relationships/tags" Target="../tags/tag2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image" Target="../media/image12.wmf"/><Relationship Id="rId2" Type="http://schemas.openxmlformats.org/officeDocument/2006/relationships/oleObject" Target="../embeddings/oleObject5.bin"/><Relationship Id="rId1" Type="http://schemas.openxmlformats.org/officeDocument/2006/relationships/tags" Target="../tags/tag23.xml"/></Relationships>
</file>

<file path=ppt/slides/_rels/slide23.xml.rels><?xml version="1.0" encoding="UTF-8" standalone="yes"?>
<Relationships xmlns="http://schemas.openxmlformats.org/package/2006/relationships"><Relationship Id="rId8" Type="http://schemas.openxmlformats.org/officeDocument/2006/relationships/vmlDrawing" Target="../drawings/vmlDrawing6.vml"/><Relationship Id="rId7" Type="http://schemas.openxmlformats.org/officeDocument/2006/relationships/slideLayout" Target="../slideLayouts/slideLayout2.xml"/><Relationship Id="rId6" Type="http://schemas.openxmlformats.org/officeDocument/2006/relationships/image" Target="../media/image14.wmf"/><Relationship Id="rId5" Type="http://schemas.openxmlformats.org/officeDocument/2006/relationships/oleObject" Target="../embeddings/oleObject7.bin"/><Relationship Id="rId4" Type="http://schemas.openxmlformats.org/officeDocument/2006/relationships/tags" Target="../tags/tag25.xml"/><Relationship Id="rId3" Type="http://schemas.openxmlformats.org/officeDocument/2006/relationships/image" Target="../media/image13.wmf"/><Relationship Id="rId2" Type="http://schemas.openxmlformats.org/officeDocument/2006/relationships/oleObject" Target="../embeddings/oleObject6.bin"/><Relationship Id="rId1" Type="http://schemas.openxmlformats.org/officeDocument/2006/relationships/tags" Target="../tags/tag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vmlDrawing" Target="../drawings/vmlDrawing7.vml"/><Relationship Id="rId7" Type="http://schemas.openxmlformats.org/officeDocument/2006/relationships/slideLayout" Target="../slideLayouts/slideLayout2.xml"/><Relationship Id="rId6" Type="http://schemas.openxmlformats.org/officeDocument/2006/relationships/image" Target="../media/image18.wmf"/><Relationship Id="rId5" Type="http://schemas.openxmlformats.org/officeDocument/2006/relationships/oleObject" Target="../embeddings/oleObject10.bin"/><Relationship Id="rId4" Type="http://schemas.openxmlformats.org/officeDocument/2006/relationships/image" Target="../media/image17.wmf"/><Relationship Id="rId3" Type="http://schemas.openxmlformats.org/officeDocument/2006/relationships/oleObject" Target="../embeddings/oleObject9.bin"/><Relationship Id="rId2" Type="http://schemas.openxmlformats.org/officeDocument/2006/relationships/image" Target="../media/image16.wmf"/><Relationship Id="rId1" Type="http://schemas.openxmlformats.org/officeDocument/2006/relationships/oleObject" Target="../embeddings/oleObject8.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19.wmf"/><Relationship Id="rId1" Type="http://schemas.openxmlformats.org/officeDocument/2006/relationships/oleObject" Target="../embeddings/oleObject11.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tags" Target="../tags/tag26.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tags" Target="../tags/tag27.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4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tags" Target="../tags/tag35.xml"/><Relationship Id="rId3" Type="http://schemas.openxmlformats.org/officeDocument/2006/relationships/image" Target="../media/image25.png"/><Relationship Id="rId2" Type="http://schemas.openxmlformats.org/officeDocument/2006/relationships/tags" Target="../tags/tag34.xml"/><Relationship Id="rId1" Type="http://schemas.openxmlformats.org/officeDocument/2006/relationships/tags" Target="../tags/tag33.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tags" Target="../tags/tag39.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tags" Target="../tags/tag42.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tags" Target="../tags/tag43.xml"/></Relationships>
</file>

<file path=ppt/slides/_rels/slide53.xml.rels><?xml version="1.0" encoding="UTF-8" standalone="yes"?>
<Relationships xmlns="http://schemas.openxmlformats.org/package/2006/relationships"><Relationship Id="rId8" Type="http://schemas.openxmlformats.org/officeDocument/2006/relationships/vmlDrawing" Target="../drawings/vmlDrawing9.vml"/><Relationship Id="rId7"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tags" Target="../tags/tag46.xml"/><Relationship Id="rId4" Type="http://schemas.openxmlformats.org/officeDocument/2006/relationships/image" Target="../media/image30.wmf"/><Relationship Id="rId3" Type="http://schemas.openxmlformats.org/officeDocument/2006/relationships/oleObject" Target="../embeddings/oleObject12.bin"/><Relationship Id="rId2" Type="http://schemas.openxmlformats.org/officeDocument/2006/relationships/tags" Target="../tags/tag45.xml"/><Relationship Id="rId1" Type="http://schemas.openxmlformats.org/officeDocument/2006/relationships/tags" Target="../tags/tag44.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5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2.png"/><Relationship Id="rId2" Type="http://schemas.openxmlformats.org/officeDocument/2006/relationships/tags" Target="../tags/tag49.xml"/><Relationship Id="rId1" Type="http://schemas.openxmlformats.org/officeDocument/2006/relationships/tags" Target="../tags/tag48.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0.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1.xml"/></Relationships>
</file>

<file path=ppt/slides/_rels/slide5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3.png"/><Relationship Id="rId2" Type="http://schemas.openxmlformats.org/officeDocument/2006/relationships/tags" Target="../tags/tag53.xml"/><Relationship Id="rId1" Type="http://schemas.openxmlformats.org/officeDocument/2006/relationships/tags" Target="../tags/tag52.xml"/></Relationships>
</file>

<file path=ppt/slides/_rels/slide5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tags" Target="../tags/tag56.xml"/><Relationship Id="rId3" Type="http://schemas.openxmlformats.org/officeDocument/2006/relationships/image" Target="../media/image34.png"/><Relationship Id="rId2" Type="http://schemas.openxmlformats.org/officeDocument/2006/relationships/tags" Target="../tags/tag55.xml"/><Relationship Id="rId1" Type="http://schemas.openxmlformats.org/officeDocument/2006/relationships/tags" Target="../tags/tag54.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7.xml"/></Relationships>
</file>

<file path=ppt/slides/_rels/slide6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6.png"/><Relationship Id="rId2" Type="http://schemas.openxmlformats.org/officeDocument/2006/relationships/tags" Target="../tags/tag59.xml"/><Relationship Id="rId1" Type="http://schemas.openxmlformats.org/officeDocument/2006/relationships/tags" Target="../tags/tag58.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6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7.png"/><Relationship Id="rId2" Type="http://schemas.openxmlformats.org/officeDocument/2006/relationships/tags" Target="../tags/tag63.xml"/><Relationship Id="rId1" Type="http://schemas.openxmlformats.org/officeDocument/2006/relationships/tags" Target="../tags/tag62.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9.png"/><Relationship Id="rId1" Type="http://schemas.openxmlformats.org/officeDocument/2006/relationships/image" Target="../media/image3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1.png"/><Relationship Id="rId1" Type="http://schemas.openxmlformats.org/officeDocument/2006/relationships/image" Target="../media/image40.png"/></Relationships>
</file>

<file path=ppt/slides/_rels/slide70.xml.rels><?xml version="1.0" encoding="UTF-8" standalone="yes"?>
<Relationships xmlns="http://schemas.openxmlformats.org/package/2006/relationships"><Relationship Id="rId9" Type="http://schemas.openxmlformats.org/officeDocument/2006/relationships/tags" Target="../tags/tag73.xml"/><Relationship Id="rId8" Type="http://schemas.openxmlformats.org/officeDocument/2006/relationships/tags" Target="../tags/tag72.xml"/><Relationship Id="rId7" Type="http://schemas.openxmlformats.org/officeDocument/2006/relationships/tags" Target="../tags/tag71.xml"/><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tags" Target="../tags/tag68.xml"/><Relationship Id="rId3" Type="http://schemas.openxmlformats.org/officeDocument/2006/relationships/tags" Target="../tags/tag67.xml"/><Relationship Id="rId2" Type="http://schemas.openxmlformats.org/officeDocument/2006/relationships/tags" Target="../tags/tag66.xml"/><Relationship Id="rId17" Type="http://schemas.openxmlformats.org/officeDocument/2006/relationships/slideLayout" Target="../slideLayouts/slideLayout2.xml"/><Relationship Id="rId16" Type="http://schemas.openxmlformats.org/officeDocument/2006/relationships/tags" Target="../tags/tag80.xml"/><Relationship Id="rId15" Type="http://schemas.openxmlformats.org/officeDocument/2006/relationships/tags" Target="../tags/tag79.xml"/><Relationship Id="rId14" Type="http://schemas.openxmlformats.org/officeDocument/2006/relationships/tags" Target="../tags/tag78.xml"/><Relationship Id="rId13" Type="http://schemas.openxmlformats.org/officeDocument/2006/relationships/tags" Target="../tags/tag77.xml"/><Relationship Id="rId12" Type="http://schemas.openxmlformats.org/officeDocument/2006/relationships/tags" Target="../tags/tag76.xml"/><Relationship Id="rId11" Type="http://schemas.openxmlformats.org/officeDocument/2006/relationships/tags" Target="../tags/tag75.xml"/><Relationship Id="rId10" Type="http://schemas.openxmlformats.org/officeDocument/2006/relationships/tags" Target="../tags/tag74.xml"/><Relationship Id="rId1" Type="http://schemas.openxmlformats.org/officeDocument/2006/relationships/tags" Target="../tags/tag65.xml"/></Relationships>
</file>

<file path=ppt/slides/_rels/slide71.xml.rels><?xml version="1.0" encoding="UTF-8" standalone="yes"?>
<Relationships xmlns="http://schemas.openxmlformats.org/package/2006/relationships"><Relationship Id="rId9" Type="http://schemas.openxmlformats.org/officeDocument/2006/relationships/tags" Target="../tags/tag89.xml"/><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1" Type="http://schemas.openxmlformats.org/officeDocument/2006/relationships/slideLayout" Target="../slideLayouts/slideLayout2.xml"/><Relationship Id="rId10" Type="http://schemas.openxmlformats.org/officeDocument/2006/relationships/tags" Target="../tags/tag90.xml"/><Relationship Id="rId1" Type="http://schemas.openxmlformats.org/officeDocument/2006/relationships/tags" Target="../tags/tag81.xml"/></Relationships>
</file>

<file path=ppt/slides/_rels/slide72.xml.rels><?xml version="1.0" encoding="UTF-8" standalone="yes"?>
<Relationships xmlns="http://schemas.openxmlformats.org/package/2006/relationships"><Relationship Id="rId9" Type="http://schemas.openxmlformats.org/officeDocument/2006/relationships/tags" Target="../tags/tag99.xml"/><Relationship Id="rId8" Type="http://schemas.openxmlformats.org/officeDocument/2006/relationships/tags" Target="../tags/tag98.xml"/><Relationship Id="rId7" Type="http://schemas.openxmlformats.org/officeDocument/2006/relationships/tags" Target="../tags/tag97.xml"/><Relationship Id="rId6" Type="http://schemas.openxmlformats.org/officeDocument/2006/relationships/tags" Target="../tags/tag96.xml"/><Relationship Id="rId5" Type="http://schemas.openxmlformats.org/officeDocument/2006/relationships/tags" Target="../tags/tag95.xml"/><Relationship Id="rId4" Type="http://schemas.openxmlformats.org/officeDocument/2006/relationships/tags" Target="../tags/tag94.xml"/><Relationship Id="rId3" Type="http://schemas.openxmlformats.org/officeDocument/2006/relationships/tags" Target="../tags/tag93.xml"/><Relationship Id="rId2" Type="http://schemas.openxmlformats.org/officeDocument/2006/relationships/tags" Target="../tags/tag92.xml"/><Relationship Id="rId19" Type="http://schemas.openxmlformats.org/officeDocument/2006/relationships/slideLayout" Target="../slideLayouts/slideLayout2.xml"/><Relationship Id="rId18" Type="http://schemas.openxmlformats.org/officeDocument/2006/relationships/tags" Target="../tags/tag108.xml"/><Relationship Id="rId17" Type="http://schemas.openxmlformats.org/officeDocument/2006/relationships/tags" Target="../tags/tag107.xml"/><Relationship Id="rId16" Type="http://schemas.openxmlformats.org/officeDocument/2006/relationships/tags" Target="../tags/tag106.xml"/><Relationship Id="rId15" Type="http://schemas.openxmlformats.org/officeDocument/2006/relationships/tags" Target="../tags/tag105.xml"/><Relationship Id="rId14" Type="http://schemas.openxmlformats.org/officeDocument/2006/relationships/tags" Target="../tags/tag104.xml"/><Relationship Id="rId13" Type="http://schemas.openxmlformats.org/officeDocument/2006/relationships/tags" Target="../tags/tag103.xml"/><Relationship Id="rId12" Type="http://schemas.openxmlformats.org/officeDocument/2006/relationships/tags" Target="../tags/tag102.xml"/><Relationship Id="rId11" Type="http://schemas.openxmlformats.org/officeDocument/2006/relationships/tags" Target="../tags/tag101.xml"/><Relationship Id="rId10" Type="http://schemas.openxmlformats.org/officeDocument/2006/relationships/tags" Target="../tags/tag100.xml"/><Relationship Id="rId1" Type="http://schemas.openxmlformats.org/officeDocument/2006/relationships/tags" Target="../tags/tag91.xml"/></Relationships>
</file>

<file path=ppt/slides/_rels/slide73.xml.rels><?xml version="1.0" encoding="UTF-8" standalone="yes"?>
<Relationships xmlns="http://schemas.openxmlformats.org/package/2006/relationships"><Relationship Id="rId9" Type="http://schemas.openxmlformats.org/officeDocument/2006/relationships/tags" Target="../tags/tag117.xml"/><Relationship Id="rId8" Type="http://schemas.openxmlformats.org/officeDocument/2006/relationships/tags" Target="../tags/tag116.xml"/><Relationship Id="rId7" Type="http://schemas.openxmlformats.org/officeDocument/2006/relationships/tags" Target="../tags/tag115.xml"/><Relationship Id="rId6" Type="http://schemas.openxmlformats.org/officeDocument/2006/relationships/tags" Target="../tags/tag114.xml"/><Relationship Id="rId5" Type="http://schemas.openxmlformats.org/officeDocument/2006/relationships/tags" Target="../tags/tag113.xml"/><Relationship Id="rId4" Type="http://schemas.openxmlformats.org/officeDocument/2006/relationships/tags" Target="../tags/tag112.xml"/><Relationship Id="rId3" Type="http://schemas.openxmlformats.org/officeDocument/2006/relationships/tags" Target="../tags/tag111.xml"/><Relationship Id="rId2" Type="http://schemas.openxmlformats.org/officeDocument/2006/relationships/tags" Target="../tags/tag110.xml"/><Relationship Id="rId17" Type="http://schemas.openxmlformats.org/officeDocument/2006/relationships/slideLayout" Target="../slideLayouts/slideLayout2.xml"/><Relationship Id="rId16" Type="http://schemas.openxmlformats.org/officeDocument/2006/relationships/tags" Target="../tags/tag124.xml"/><Relationship Id="rId15" Type="http://schemas.openxmlformats.org/officeDocument/2006/relationships/tags" Target="../tags/tag123.xml"/><Relationship Id="rId14" Type="http://schemas.openxmlformats.org/officeDocument/2006/relationships/tags" Target="../tags/tag122.xml"/><Relationship Id="rId13" Type="http://schemas.openxmlformats.org/officeDocument/2006/relationships/tags" Target="../tags/tag121.xml"/><Relationship Id="rId12" Type="http://schemas.openxmlformats.org/officeDocument/2006/relationships/tags" Target="../tags/tag120.xml"/><Relationship Id="rId11" Type="http://schemas.openxmlformats.org/officeDocument/2006/relationships/tags" Target="../tags/tag119.xml"/><Relationship Id="rId10" Type="http://schemas.openxmlformats.org/officeDocument/2006/relationships/tags" Target="../tags/tag118.xml"/><Relationship Id="rId1" Type="http://schemas.openxmlformats.org/officeDocument/2006/relationships/tags" Target="../tags/tag109.xml"/></Relationships>
</file>

<file path=ppt/slides/_rels/slide7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2.png"/><Relationship Id="rId2" Type="http://schemas.openxmlformats.org/officeDocument/2006/relationships/tags" Target="../tags/tag126.xml"/><Relationship Id="rId1" Type="http://schemas.openxmlformats.org/officeDocument/2006/relationships/tags" Target="../tags/tag125.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7.xml"/></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3.png"/><Relationship Id="rId1" Type="http://schemas.openxmlformats.org/officeDocument/2006/relationships/tags" Target="../tags/tag128.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9.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243205" y="1917065"/>
            <a:ext cx="8632825" cy="1599565"/>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br>
              <a:rPr lang="zh-CN" altLang="en-US" sz="3200" b="1" kern="0" noProof="0" dirty="0">
                <a:ln>
                  <a:noFill/>
                </a:ln>
                <a:solidFill>
                  <a:srgbClr val="CC0000"/>
                </a:solidFill>
                <a:effectLst/>
                <a:uLnTx/>
                <a:uFillTx/>
                <a:latin typeface="微软雅黑" panose="020B0503020204020204" charset="-122"/>
                <a:ea typeface="微软雅黑" panose="020B0503020204020204" charset="-122"/>
                <a:cs typeface="Times New Roman" panose="02020603050405020304" pitchFamily="18" charset="0"/>
                <a:sym typeface="+mn-ea"/>
              </a:rPr>
            </a:br>
            <a:r>
              <a:rPr lang="zh-CN" altLang="en-US" sz="6600" b="1" kern="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Times New Roman" panose="02020603050405020304" pitchFamily="18" charset="0"/>
                <a:sym typeface="+mn-ea"/>
              </a:rPr>
              <a:t>计算机系统结构</a:t>
            </a:r>
            <a:endParaRPr lang="zh-CN" altLang="en-US" sz="6600" b="1" kern="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Times New Roman" panose="02020603050405020304" pitchFamily="18" charset="0"/>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5698" name="Rectangle 2"/>
          <p:cNvSpPr>
            <a:spLocks noGrp="1" noChangeArrowheads="1"/>
          </p:cNvSpPr>
          <p:nvPr>
            <p:ph type="ctrTitle"/>
          </p:nvPr>
        </p:nvSpPr>
        <p:spPr>
          <a:xfrm>
            <a:off x="971550" y="2060575"/>
            <a:ext cx="7772400" cy="1944688"/>
          </a:xfrm>
        </p:spPr>
        <p:txBody>
          <a:bodyPr/>
          <a:lstStyle/>
          <a:p>
            <a:pPr marL="0" marR="0" lvl="0" indent="0" algn="l" defTabSz="914400" rtl="0" eaLnBrk="1" fontAlgn="base" latinLnBrk="0" hangingPunct="1">
              <a:lnSpc>
                <a:spcPct val="140000"/>
              </a:lnSpc>
              <a:spcBef>
                <a:spcPct val="0"/>
              </a:spcBef>
              <a:spcAft>
                <a:spcPct val="0"/>
              </a:spcAft>
              <a:buClrTx/>
              <a:buSzTx/>
              <a:buFontTx/>
              <a:buNone/>
              <a:defRPr/>
            </a:pPr>
            <a:r>
              <a:rPr kumimoji="0" lang="zh-CN" altLang="en-US" sz="54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第</a:t>
            </a:r>
            <a:r>
              <a:rPr kumimoji="0" lang="en-US" altLang="zh-CN" sz="54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3</a:t>
            </a:r>
            <a:r>
              <a:rPr kumimoji="0" lang="zh-CN" altLang="en-US" sz="54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章 存储</a:t>
            </a:r>
            <a:r>
              <a:rPr kumimoji="0" lang="zh-CN" altLang="en-US" sz="54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系统</a:t>
            </a:r>
            <a:endParaRPr kumimoji="0" lang="zh-CN" altLang="en-US" sz="54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p:cNvSpPr>
          <p:nvPr>
            <p:ph type="title"/>
          </p:nvPr>
        </p:nvSpPr>
        <p:spPr>
          <a:xfrm>
            <a:off x="361950" y="266700"/>
            <a:ext cx="7772400" cy="1143000"/>
          </a:xfrm>
          <a:noFill/>
          <a:ln>
            <a:noFill/>
          </a:ln>
        </p:spPr>
        <p:txBody>
          <a:bodyPr/>
          <a:p>
            <a:pPr eaLnBrk="1" hangingPunct="1"/>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本章内容</a:t>
            </a:r>
            <a:endPar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0723" name="Rectangle 3"/>
          <p:cNvSpPr>
            <a:spLocks noGrp="1"/>
          </p:cNvSpPr>
          <p:nvPr>
            <p:ph idx="1"/>
          </p:nvPr>
        </p:nvSpPr>
        <p:spPr>
          <a:xfrm>
            <a:off x="539750" y="1486535"/>
            <a:ext cx="7848600" cy="4873625"/>
          </a:xfrm>
          <a:noFill/>
          <a:ln>
            <a:noFill/>
          </a:ln>
        </p:spPr>
        <p:txBody>
          <a:bodyPr/>
          <a:p>
            <a:pPr eaLnBrk="1" hangingPunct="1">
              <a:lnSpc>
                <a:spcPct val="140000"/>
              </a:lnSpc>
            </a:pPr>
            <a:r>
              <a:rPr dirty="0">
                <a:latin typeface="Times New Roman" panose="02020603050405020304" pitchFamily="18" charset="0"/>
                <a:cs typeface="Times New Roman" panose="02020603050405020304" pitchFamily="18" charset="0"/>
                <a:sym typeface="+mn-ea"/>
              </a:rPr>
              <a:t>3.1 存储系统原理</a:t>
            </a:r>
            <a:endParaRPr dirty="0">
              <a:latin typeface="Times New Roman" panose="02020603050405020304" pitchFamily="18" charset="0"/>
              <a:cs typeface="Times New Roman" panose="02020603050405020304" pitchFamily="18" charset="0"/>
              <a:sym typeface="+mn-ea"/>
            </a:endParaRPr>
          </a:p>
          <a:p>
            <a:pPr eaLnBrk="1" hangingPunct="1">
              <a:lnSpc>
                <a:spcPct val="140000"/>
              </a:lnSpc>
            </a:pPr>
            <a:r>
              <a:rPr dirty="0">
                <a:latin typeface="Times New Roman" panose="02020603050405020304" pitchFamily="18" charset="0"/>
                <a:cs typeface="Times New Roman" panose="02020603050405020304" pitchFamily="18" charset="0"/>
                <a:sym typeface="+mn-ea"/>
              </a:rPr>
              <a:t>***3.2 虚拟存储器</a:t>
            </a:r>
            <a:endParaRPr dirty="0">
              <a:latin typeface="Times New Roman" panose="02020603050405020304" pitchFamily="18" charset="0"/>
              <a:cs typeface="Times New Roman" panose="02020603050405020304" pitchFamily="18" charset="0"/>
              <a:sym typeface="+mn-ea"/>
            </a:endParaRPr>
          </a:p>
          <a:p>
            <a:pPr eaLnBrk="1" hangingPunct="1">
              <a:lnSpc>
                <a:spcPct val="140000"/>
              </a:lnSpc>
            </a:pPr>
            <a:r>
              <a:rPr dirty="0">
                <a:latin typeface="Times New Roman" panose="02020603050405020304" pitchFamily="18" charset="0"/>
                <a:cs typeface="Times New Roman" panose="02020603050405020304" pitchFamily="18" charset="0"/>
                <a:sym typeface="+mn-ea"/>
              </a:rPr>
              <a:t>***3.3 高速缓冲存储器(Cache)</a:t>
            </a:r>
            <a:endParaRPr dirty="0">
              <a:latin typeface="Times New Roman" panose="02020603050405020304" pitchFamily="18" charset="0"/>
              <a:cs typeface="Times New Roman" panose="02020603050405020304" pitchFamily="18" charset="0"/>
              <a:sym typeface="+mn-ea"/>
            </a:endParaRPr>
          </a:p>
          <a:p>
            <a:pPr eaLnBrk="1" hangingPunct="1">
              <a:lnSpc>
                <a:spcPct val="140000"/>
              </a:lnSpc>
            </a:pPr>
            <a:r>
              <a:rPr dirty="0">
                <a:latin typeface="Times New Roman" panose="02020603050405020304" pitchFamily="18" charset="0"/>
                <a:cs typeface="Times New Roman" panose="02020603050405020304" pitchFamily="18" charset="0"/>
                <a:sym typeface="+mn-ea"/>
              </a:rPr>
              <a:t>3.4 三级存储系统</a:t>
            </a:r>
            <a:endParaRPr dirty="0">
              <a:latin typeface="Times New Roman" panose="02020603050405020304" pitchFamily="18" charset="0"/>
              <a:cs typeface="Times New Roman" panose="02020603050405020304" pitchFamily="18" charset="0"/>
              <a:sym typeface="+mn-ea"/>
            </a:endParaRPr>
          </a:p>
          <a:p>
            <a:pPr eaLnBrk="1" hangingPunct="1">
              <a:lnSpc>
                <a:spcPct val="140000"/>
              </a:lnSpc>
            </a:pPr>
            <a:endParaRPr dirty="0">
              <a:latin typeface="Times New Roman" panose="02020603050405020304" pitchFamily="18" charset="0"/>
              <a:cs typeface="Times New Roman" panose="02020603050405020304" pitchFamily="18" charset="0"/>
              <a:sym typeface="+mn-ea"/>
            </a:endParaRPr>
          </a:p>
          <a:p>
            <a:pPr lvl="1" eaLnBrk="1" hangingPunct="1">
              <a:lnSpc>
                <a:spcPct val="140000"/>
              </a:lnSpc>
            </a:pPr>
            <a:r>
              <a:rPr sz="2000" dirty="0">
                <a:latin typeface="Times New Roman" panose="02020603050405020304" pitchFamily="18" charset="0"/>
                <a:cs typeface="Times New Roman" panose="02020603050405020304" pitchFamily="18" charset="0"/>
                <a:sym typeface="+mn-ea"/>
              </a:rPr>
              <a:t>定量、性能分析</a:t>
            </a:r>
            <a:endParaRPr sz="2000" dirty="0">
              <a:latin typeface="Times New Roman" panose="02020603050405020304" pitchFamily="18" charset="0"/>
              <a:cs typeface="Times New Roman" panose="02020603050405020304" pitchFamily="18" charset="0"/>
              <a:sym typeface="+mn-ea"/>
            </a:endParaRPr>
          </a:p>
          <a:p>
            <a:pPr lvl="1" eaLnBrk="1" hangingPunct="1">
              <a:lnSpc>
                <a:spcPct val="140000"/>
              </a:lnSpc>
            </a:pPr>
            <a:r>
              <a:rPr sz="2000" dirty="0">
                <a:latin typeface="Times New Roman" panose="02020603050405020304" pitchFamily="18" charset="0"/>
                <a:cs typeface="Times New Roman" panose="02020603050405020304" pitchFamily="18" charset="0"/>
                <a:sym typeface="+mn-ea"/>
              </a:rPr>
              <a:t>强调频带平衡、无访问冲突、散列函数</a:t>
            </a:r>
            <a:endParaRPr sz="2000" dirty="0">
              <a:latin typeface="Times New Roman" panose="02020603050405020304" pitchFamily="18" charset="0"/>
              <a:cs typeface="Times New Roman" panose="02020603050405020304" pitchFamily="18" charset="0"/>
              <a:sym typeface="+mn-ea"/>
            </a:endParaRPr>
          </a:p>
          <a:p>
            <a:pPr lvl="1" eaLnBrk="1" hangingPunct="1">
              <a:lnSpc>
                <a:spcPct val="140000"/>
              </a:lnSpc>
            </a:pPr>
            <a:r>
              <a:rPr sz="2000" dirty="0">
                <a:latin typeface="Times New Roman" panose="02020603050405020304" pitchFamily="18" charset="0"/>
                <a:cs typeface="Times New Roman" panose="02020603050405020304" pitchFamily="18" charset="0"/>
                <a:sym typeface="+mn-ea"/>
              </a:rPr>
              <a:t>三级存储系统、虚拟地址Cache</a:t>
            </a:r>
            <a:endParaRPr sz="2000"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p:cNvSpPr>
          <p:nvPr>
            <p:ph type="title"/>
          </p:nvPr>
        </p:nvSpPr>
        <p:spPr>
          <a:xfrm>
            <a:off x="361950" y="266700"/>
            <a:ext cx="8614410" cy="1143000"/>
          </a:xfrm>
          <a:noFill/>
          <a:ln>
            <a:noFill/>
          </a:ln>
        </p:spPr>
        <p:txBody>
          <a:bodyPr/>
          <a:p>
            <a:pPr eaLnBrk="1" hangingPunct="1"/>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存储系统</a:t>
            </a:r>
            <a:endParaRPr lang="en-US" alt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14722" name="Rectangle 2"/>
          <p:cNvSpPr>
            <a:spLocks noChangeArrowheads="1"/>
          </p:cNvSpPr>
          <p:nvPr/>
        </p:nvSpPr>
        <p:spPr bwMode="auto">
          <a:xfrm>
            <a:off x="394970" y="1188720"/>
            <a:ext cx="8280400" cy="52343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lvl1pPr indent="276225">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marL="342900" marR="0" lvl="0" indent="-342900" algn="just" rtl="0" eaLnBrk="1" hangingPunct="1">
              <a:lnSpc>
                <a:spcPct val="100000"/>
              </a:lnSpc>
              <a:spcBef>
                <a:spcPts val="1200"/>
              </a:spcBef>
              <a:buClr>
                <a:schemeClr val="hlink"/>
              </a:buClr>
              <a:buSzTx/>
              <a:buFont typeface="Wingdings" panose="05000000000000000000" pitchFamily="2" charset="2"/>
              <a:buChar char="v"/>
            </a:pPr>
            <a:r>
              <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现代计算机系统都</a:t>
            </a:r>
            <a:r>
              <a:rPr lang="zh-CN" altLang="en-GB" sz="2400" i="0" u="none" strike="noStrike" kern="0" cap="none" spc="0" normalizeH="0" baseline="0" dirty="0">
                <a:solidFill>
                  <a:srgbClr val="FF0000"/>
                </a:solidFill>
                <a:latin typeface="Times New Roman" panose="02020603050405020304" pitchFamily="18" charset="0"/>
                <a:ea typeface="+mn-ea"/>
                <a:cs typeface="Times New Roman" panose="02020603050405020304" pitchFamily="18" charset="0"/>
              </a:rPr>
              <a:t>以存储器为中心</a:t>
            </a:r>
            <a:endPar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a:p>
            <a:pPr marL="342900" marR="0" lvl="0" indent="-342900" algn="just" rtl="0" eaLnBrk="1" hangingPunct="1">
              <a:lnSpc>
                <a:spcPct val="100000"/>
              </a:lnSpc>
              <a:spcBef>
                <a:spcPts val="1200"/>
              </a:spcBef>
              <a:buClr>
                <a:schemeClr val="hlink"/>
              </a:buClr>
              <a:buSzTx/>
              <a:buFont typeface="Wingdings" panose="05000000000000000000" pitchFamily="2" charset="2"/>
              <a:buChar char="v"/>
            </a:pPr>
            <a:r>
              <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计算机运行过程中，存储器是各种信息存储和交换的中心</a:t>
            </a:r>
            <a:endPar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a:p>
            <a:pPr marL="342900" marR="0" lvl="0" indent="-342900" algn="just" rtl="0" eaLnBrk="1" hangingPunct="1">
              <a:lnSpc>
                <a:spcPct val="100000"/>
              </a:lnSpc>
              <a:spcBef>
                <a:spcPts val="1200"/>
              </a:spcBef>
              <a:buClr>
                <a:schemeClr val="hlink"/>
              </a:buClr>
              <a:buSzTx/>
              <a:buFont typeface="Wingdings" panose="05000000000000000000" pitchFamily="2" charset="2"/>
              <a:buChar char="v"/>
            </a:pPr>
            <a:endPar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a:p>
            <a:pPr marL="342900" marR="0" lvl="0" indent="-342900" algn="just" rtl="0" eaLnBrk="1" hangingPunct="1">
              <a:lnSpc>
                <a:spcPct val="100000"/>
              </a:lnSpc>
              <a:spcBef>
                <a:spcPts val="1200"/>
              </a:spcBef>
              <a:buClr>
                <a:schemeClr val="hlink"/>
              </a:buClr>
              <a:buSzTx/>
              <a:buFont typeface="Wingdings" panose="05000000000000000000" pitchFamily="2" charset="2"/>
              <a:buChar char="v"/>
            </a:pPr>
            <a:endPar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a:p>
            <a:pPr marL="342900" marR="0" lvl="0" indent="-342900" algn="just" rtl="0" eaLnBrk="1" hangingPunct="1">
              <a:lnSpc>
                <a:spcPct val="100000"/>
              </a:lnSpc>
              <a:spcBef>
                <a:spcPts val="1200"/>
              </a:spcBef>
              <a:buClr>
                <a:schemeClr val="hlink"/>
              </a:buClr>
              <a:buSzTx/>
              <a:buFont typeface="Wingdings" panose="05000000000000000000" pitchFamily="2" charset="2"/>
              <a:buChar char="v"/>
            </a:pPr>
            <a:endPar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a:p>
            <a:pPr marL="342900" marR="0" lvl="0" indent="-342900" algn="just" rtl="0" eaLnBrk="1" hangingPunct="1">
              <a:lnSpc>
                <a:spcPct val="100000"/>
              </a:lnSpc>
              <a:spcBef>
                <a:spcPts val="1200"/>
              </a:spcBef>
              <a:buClr>
                <a:schemeClr val="hlink"/>
              </a:buClr>
              <a:buSzTx/>
              <a:buFont typeface="Wingdings" panose="05000000000000000000" pitchFamily="2" charset="2"/>
              <a:buChar char="v"/>
            </a:pPr>
            <a:endPar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a:p>
            <a:pPr marL="342900" marR="0" lvl="0" indent="-342900" algn="just" rtl="0" eaLnBrk="1" hangingPunct="1">
              <a:lnSpc>
                <a:spcPct val="100000"/>
              </a:lnSpc>
              <a:spcBef>
                <a:spcPts val="1200"/>
              </a:spcBef>
              <a:buClr>
                <a:schemeClr val="hlink"/>
              </a:buClr>
              <a:buSzTx/>
              <a:buFont typeface="Wingdings" panose="05000000000000000000" pitchFamily="2" charset="2"/>
              <a:buChar char="v"/>
            </a:pPr>
            <a:endPar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a:p>
            <a:pPr marL="342900" marR="0" lvl="0" indent="-342900" algn="just" rtl="0" eaLnBrk="1" hangingPunct="1">
              <a:lnSpc>
                <a:spcPct val="100000"/>
              </a:lnSpc>
              <a:spcBef>
                <a:spcPts val="1200"/>
              </a:spcBef>
              <a:buClr>
                <a:schemeClr val="hlink"/>
              </a:buClr>
              <a:buSzTx/>
              <a:buFont typeface="Wingdings" panose="05000000000000000000" pitchFamily="2" charset="2"/>
              <a:buChar char="v"/>
            </a:pPr>
            <a:endPar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a:p>
            <a:pPr marL="342900" marR="0" lvl="0" indent="-342900" algn="just" rtl="0" eaLnBrk="1" hangingPunct="1">
              <a:lnSpc>
                <a:spcPct val="100000"/>
              </a:lnSpc>
              <a:spcBef>
                <a:spcPts val="1200"/>
              </a:spcBef>
              <a:buClr>
                <a:schemeClr val="hlink"/>
              </a:buClr>
              <a:buSzTx/>
              <a:buFont typeface="Wingdings" panose="05000000000000000000" pitchFamily="2" charset="2"/>
              <a:buChar char="v"/>
            </a:pPr>
            <a:r>
              <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从系统结构的角度介绍存储系统的原理</a:t>
            </a:r>
            <a:endPar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a:p>
            <a:pPr marL="342900" marR="0" lvl="0" indent="-342900" algn="just" rtl="0" eaLnBrk="1" hangingPunct="1">
              <a:lnSpc>
                <a:spcPct val="100000"/>
              </a:lnSpc>
              <a:spcBef>
                <a:spcPts val="1200"/>
              </a:spcBef>
              <a:buClr>
                <a:schemeClr val="hlink"/>
              </a:buClr>
              <a:buSzTx/>
              <a:buFont typeface="Wingdings" panose="05000000000000000000" pitchFamily="2" charset="2"/>
              <a:buChar char="v"/>
            </a:pPr>
            <a:r>
              <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虚拟存储系统和Cache存储系统，以及全Cache存储系统</a:t>
            </a:r>
            <a:endPar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p:txBody>
      </p:sp>
      <p:pic>
        <p:nvPicPr>
          <p:cNvPr id="2" name="图片 1"/>
          <p:cNvPicPr>
            <a:picLocks noChangeAspect="1"/>
          </p:cNvPicPr>
          <p:nvPr>
            <p:custDataLst>
              <p:tags r:id="rId1"/>
            </p:custDataLst>
          </p:nvPr>
        </p:nvPicPr>
        <p:blipFill>
          <a:blip r:embed="rId2"/>
          <a:stretch>
            <a:fillRect/>
          </a:stretch>
        </p:blipFill>
        <p:spPr>
          <a:xfrm>
            <a:off x="2484120" y="2277110"/>
            <a:ext cx="3209290" cy="312483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1"/>
          <p:cNvSpPr>
            <a:spLocks noGrp="1"/>
          </p:cNvSpPr>
          <p:nvPr/>
        </p:nvSpPr>
        <p:spPr>
          <a:xfrm>
            <a:off x="457200" y="274638"/>
            <a:ext cx="8229600" cy="1143000"/>
          </a:xfrm>
          <a:prstGeom prst="rect">
            <a:avLst/>
          </a:prstGeom>
          <a:noFill/>
          <a:ln>
            <a:noFill/>
          </a:ln>
        </p:spPr>
        <p:txBody>
          <a:bodyPr vert="horz" rtlCol="0">
            <a:normAutofit lnSpcReduction="10000"/>
          </a:bodyPr>
          <a:lst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a:lstStyle>
          <a:p>
            <a:pPr lvl="0" algn="l" eaLnBrk="1" hangingPunct="1">
              <a:buClrTx/>
              <a:buSzTx/>
              <a:buFontTx/>
            </a:pP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3.1 存储系统原理</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414722" name="Rectangle 2"/>
          <p:cNvSpPr>
            <a:spLocks noChangeArrowheads="1"/>
          </p:cNvSpPr>
          <p:nvPr>
            <p:custDataLst>
              <p:tags r:id="rId1"/>
            </p:custDataLst>
          </p:nvPr>
        </p:nvSpPr>
        <p:spPr bwMode="auto">
          <a:xfrm>
            <a:off x="394970" y="1529080"/>
            <a:ext cx="8280400" cy="44583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lvl1pPr indent="276225">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marL="342900" marR="0" lvl="0" indent="-342900" algn="just" rtl="0" eaLnBrk="1" hangingPunct="1">
              <a:lnSpc>
                <a:spcPct val="100000"/>
              </a:lnSpc>
              <a:spcBef>
                <a:spcPts val="1200"/>
              </a:spcBef>
              <a:buClr>
                <a:schemeClr val="hlink"/>
              </a:buClr>
              <a:buSzTx/>
              <a:buFont typeface="Wingdings" panose="05000000000000000000" pitchFamily="2" charset="2"/>
              <a:buChar char="v"/>
            </a:pPr>
            <a:r>
              <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3.1.1 存储系统的定义</a:t>
            </a:r>
            <a:endPar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a:p>
            <a:pPr marL="342900" marR="0" lvl="0" indent="-342900" algn="just" rtl="0" eaLnBrk="1" hangingPunct="1">
              <a:lnSpc>
                <a:spcPct val="100000"/>
              </a:lnSpc>
              <a:spcBef>
                <a:spcPts val="1200"/>
              </a:spcBef>
              <a:buClr>
                <a:schemeClr val="hlink"/>
              </a:buClr>
              <a:buSzTx/>
              <a:buFont typeface="Wingdings" panose="05000000000000000000" pitchFamily="2" charset="2"/>
              <a:buChar char="v"/>
            </a:pPr>
            <a:r>
              <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3.1.2 存储系统的层次结构</a:t>
            </a:r>
            <a:endPar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a:p>
            <a:pPr marL="342900" marR="0" lvl="0" indent="-342900" algn="just" rtl="0" eaLnBrk="1" hangingPunct="1">
              <a:lnSpc>
                <a:spcPct val="100000"/>
              </a:lnSpc>
              <a:spcBef>
                <a:spcPts val="1200"/>
              </a:spcBef>
              <a:buClr>
                <a:schemeClr val="hlink"/>
              </a:buClr>
              <a:buSzTx/>
              <a:buFont typeface="Wingdings" panose="05000000000000000000" pitchFamily="2" charset="2"/>
              <a:buChar char="v"/>
            </a:pPr>
            <a:r>
              <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3.1.3 存储系统的频带平衡</a:t>
            </a:r>
            <a:endPar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a:p>
            <a:pPr marL="342900" marR="0" lvl="0" indent="-342900" algn="just" rtl="0" eaLnBrk="1" hangingPunct="1">
              <a:lnSpc>
                <a:spcPct val="100000"/>
              </a:lnSpc>
              <a:spcBef>
                <a:spcPts val="1200"/>
              </a:spcBef>
              <a:buClr>
                <a:schemeClr val="hlink"/>
              </a:buClr>
              <a:buSzTx/>
              <a:buFont typeface="Wingdings" panose="05000000000000000000" pitchFamily="2" charset="2"/>
              <a:buChar char="v"/>
            </a:pPr>
            <a:r>
              <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3.1.4 并行存储器</a:t>
            </a:r>
            <a:endPar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rtl="0">
              <a:lnSpc>
                <a:spcPct val="100000"/>
              </a:lnSpc>
              <a:spcBef>
                <a:spcPts val="1200"/>
              </a:spcBef>
              <a:buClr>
                <a:schemeClr val="accent1"/>
              </a:buClr>
              <a:buSzTx/>
              <a:buFont typeface="Wingdings" panose="05000000000000000000" pitchFamily="2" charset="2"/>
              <a:buChar char="§"/>
            </a:pPr>
            <a:r>
              <a:rPr lang="zh-CN" altLang="en-US" sz="2400" i="0" u="none" strike="noStrike" kern="0" cap="none" spc="0" normalizeH="0" baseline="0">
                <a:solidFill>
                  <a:schemeClr val="tx1"/>
                </a:solidFill>
                <a:latin typeface="Times New Roman" panose="02020603050405020304" pitchFamily="18" charset="0"/>
                <a:ea typeface="+mn-ea"/>
                <a:cs typeface="Times New Roman" panose="02020603050405020304" pitchFamily="18" charset="0"/>
              </a:rPr>
              <a:t>3.1.4.1 并行访问存储器</a:t>
            </a:r>
            <a:endParaRPr lang="zh-CN" altLang="en-US" sz="2400" i="0" u="none" strike="noStrike" kern="0" cap="none" spc="0" normalizeH="0" baseline="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rtl="0">
              <a:lnSpc>
                <a:spcPct val="100000"/>
              </a:lnSpc>
              <a:spcBef>
                <a:spcPts val="1200"/>
              </a:spcBef>
              <a:buClr>
                <a:schemeClr val="accent1"/>
              </a:buClr>
              <a:buSzTx/>
              <a:buFont typeface="Wingdings" panose="05000000000000000000" pitchFamily="2" charset="2"/>
              <a:buChar char="§"/>
            </a:pPr>
            <a:r>
              <a:rPr lang="zh-CN" altLang="en-US" sz="2400" i="0" u="none" strike="noStrike" kern="0" cap="none" spc="0" normalizeH="0" baseline="0">
                <a:solidFill>
                  <a:schemeClr val="tx1"/>
                </a:solidFill>
                <a:latin typeface="Times New Roman" panose="02020603050405020304" pitchFamily="18" charset="0"/>
                <a:ea typeface="+mn-ea"/>
                <a:cs typeface="Times New Roman" panose="02020603050405020304" pitchFamily="18" charset="0"/>
              </a:rPr>
              <a:t>3.1.4.2 交叉访问存储器</a:t>
            </a:r>
            <a:endParaRPr lang="zh-CN" altLang="en-US" sz="2400" i="0" u="none" strike="noStrike" kern="0" cap="none" spc="0" normalizeH="0" baseline="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rtl="0">
              <a:lnSpc>
                <a:spcPct val="100000"/>
              </a:lnSpc>
              <a:spcBef>
                <a:spcPts val="1200"/>
              </a:spcBef>
              <a:buClr>
                <a:schemeClr val="accent1"/>
              </a:buClr>
              <a:buSzTx/>
              <a:buFont typeface="Wingdings" panose="05000000000000000000" pitchFamily="2" charset="2"/>
              <a:buChar char="§"/>
            </a:pPr>
            <a:r>
              <a:rPr lang="zh-CN" altLang="en-US" sz="2400" i="0" u="none" strike="noStrike" kern="0" cap="none" spc="0" normalizeH="0" baseline="0">
                <a:solidFill>
                  <a:schemeClr val="tx1"/>
                </a:solidFill>
                <a:latin typeface="Times New Roman" panose="02020603050405020304" pitchFamily="18" charset="0"/>
                <a:ea typeface="+mn-ea"/>
                <a:cs typeface="Times New Roman" panose="02020603050405020304" pitchFamily="18" charset="0"/>
              </a:rPr>
              <a:t>3.1.4.3 无冲突访问存储器</a:t>
            </a:r>
            <a:endParaRPr lang="zh-CN" altLang="en-US" sz="2400" i="0" u="none" strike="noStrike" kern="0" cap="none" spc="0" normalizeH="0" baseline="0">
              <a:solidFill>
                <a:schemeClr val="tx1"/>
              </a:solidFill>
              <a:latin typeface="Times New Roman" panose="02020603050405020304" pitchFamily="18" charset="0"/>
              <a:ea typeface="+mn-ea"/>
              <a:cs typeface="Times New Roman" panose="02020603050405020304" pitchFamily="18" charset="0"/>
            </a:endParaRPr>
          </a:p>
          <a:p>
            <a:pPr marL="342900" marR="0" lvl="0" indent="-342900" algn="just" rtl="0" eaLnBrk="1" hangingPunct="1">
              <a:lnSpc>
                <a:spcPct val="100000"/>
              </a:lnSpc>
              <a:spcBef>
                <a:spcPts val="1200"/>
              </a:spcBef>
              <a:buClr>
                <a:schemeClr val="hlink"/>
              </a:buClr>
              <a:buSzTx/>
              <a:buFont typeface="Wingdings" panose="05000000000000000000" pitchFamily="2" charset="2"/>
              <a:buChar char="v"/>
            </a:pPr>
            <a:endPar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存储系统</a:t>
            </a:r>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性能</a:t>
            </a:r>
            <a:endPar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414722" name="Rectangle 2"/>
          <p:cNvSpPr>
            <a:spLocks noChangeArrowheads="1"/>
          </p:cNvSpPr>
          <p:nvPr>
            <p:custDataLst>
              <p:tags r:id="rId1"/>
            </p:custDataLst>
          </p:nvPr>
        </p:nvSpPr>
        <p:spPr bwMode="auto">
          <a:xfrm>
            <a:off x="394970" y="1500505"/>
            <a:ext cx="8280400" cy="49174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lvl1pPr indent="276225">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marL="342900" marR="0" lvl="0" indent="-342900" algn="just" rtl="0" eaLnBrk="1" hangingPunct="1">
              <a:lnSpc>
                <a:spcPct val="100000"/>
              </a:lnSpc>
              <a:spcBef>
                <a:spcPts val="1200"/>
              </a:spcBef>
              <a:buClr>
                <a:schemeClr val="hlink"/>
              </a:buClr>
              <a:buSzTx/>
              <a:buFont typeface="Wingdings" panose="05000000000000000000" pitchFamily="2" charset="2"/>
              <a:buChar char="v"/>
            </a:pPr>
            <a:r>
              <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存储器的主要性能：</a:t>
            </a:r>
            <a:endPar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rtl="0">
              <a:lnSpc>
                <a:spcPct val="100000"/>
              </a:lnSpc>
              <a:spcBef>
                <a:spcPts val="1200"/>
              </a:spcBef>
              <a:buClr>
                <a:schemeClr val="accent1"/>
              </a:buClr>
              <a:buSzTx/>
              <a:buFont typeface="Wingdings" panose="05000000000000000000" pitchFamily="2" charset="2"/>
              <a:buChar char="§"/>
            </a:pPr>
            <a:r>
              <a:rPr lang="zh-CN" altLang="en-US" sz="2400" i="0" u="none" strike="noStrike" kern="0" cap="none" spc="0" normalizeH="0" baseline="0">
                <a:solidFill>
                  <a:schemeClr val="tx1"/>
                </a:solidFill>
                <a:latin typeface="Times New Roman" panose="02020603050405020304" pitchFamily="18" charset="0"/>
                <a:ea typeface="+mn-ea"/>
                <a:cs typeface="Times New Roman" panose="02020603050405020304" pitchFamily="18" charset="0"/>
              </a:rPr>
              <a:t>速度、容量、价格</a:t>
            </a:r>
            <a:endParaRPr lang="zh-CN" altLang="en-US" sz="2400" i="0" u="none" strike="noStrike" kern="0" cap="none" spc="0" normalizeH="0" baseline="0">
              <a:solidFill>
                <a:schemeClr val="tx1"/>
              </a:solidFill>
              <a:latin typeface="Times New Roman" panose="02020603050405020304" pitchFamily="18" charset="0"/>
              <a:ea typeface="+mn-ea"/>
              <a:cs typeface="Times New Roman" panose="02020603050405020304" pitchFamily="18" charset="0"/>
            </a:endParaRPr>
          </a:p>
          <a:p>
            <a:pPr marL="342900" marR="0" lvl="0" indent="-342900" algn="just" rtl="0" eaLnBrk="1" hangingPunct="1">
              <a:lnSpc>
                <a:spcPct val="100000"/>
              </a:lnSpc>
              <a:spcBef>
                <a:spcPts val="1200"/>
              </a:spcBef>
              <a:buClr>
                <a:schemeClr val="hlink"/>
              </a:buClr>
              <a:buSzTx/>
              <a:buFont typeface="Wingdings" panose="05000000000000000000" pitchFamily="2" charset="2"/>
              <a:buChar char="v"/>
            </a:pPr>
            <a:r>
              <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速度：</a:t>
            </a:r>
            <a:endPar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rtl="0">
              <a:lnSpc>
                <a:spcPct val="100000"/>
              </a:lnSpc>
              <a:spcBef>
                <a:spcPts val="1200"/>
              </a:spcBef>
              <a:buClr>
                <a:schemeClr val="accent1"/>
              </a:buClr>
              <a:buSzTx/>
              <a:buFont typeface="Wingdings" panose="05000000000000000000" pitchFamily="2" charset="2"/>
              <a:buChar char="§"/>
            </a:pPr>
            <a:r>
              <a:rPr lang="zh-CN" altLang="en-US" sz="2400" i="0" u="none" strike="noStrike" kern="0" cap="none" spc="0" normalizeH="0" baseline="0">
                <a:solidFill>
                  <a:schemeClr val="tx1"/>
                </a:solidFill>
                <a:latin typeface="Times New Roman" panose="02020603050405020304" pitchFamily="18" charset="0"/>
                <a:ea typeface="+mn-ea"/>
                <a:cs typeface="Times New Roman" panose="02020603050405020304" pitchFamily="18" charset="0"/>
              </a:rPr>
              <a:t>用存储器的</a:t>
            </a:r>
            <a:r>
              <a:rPr lang="zh-CN" altLang="en-US" sz="2400" i="0" u="none" strike="noStrike" kern="0" cap="none" spc="0" normalizeH="0" baseline="0">
                <a:latin typeface="Times New Roman" panose="02020603050405020304" pitchFamily="18" charset="0"/>
                <a:ea typeface="+mn-ea"/>
                <a:cs typeface="Times New Roman" panose="02020603050405020304" pitchFamily="18" charset="0"/>
              </a:rPr>
              <a:t>访问周期、读出时间、频带宽度</a:t>
            </a:r>
            <a:r>
              <a:rPr lang="zh-CN" altLang="en-US" sz="2400" i="0" u="none" strike="noStrike" kern="0" cap="none" spc="0" normalizeH="0" baseline="0">
                <a:solidFill>
                  <a:schemeClr val="tx1"/>
                </a:solidFill>
                <a:latin typeface="Times New Roman" panose="02020603050405020304" pitchFamily="18" charset="0"/>
                <a:ea typeface="+mn-ea"/>
                <a:cs typeface="Times New Roman" panose="02020603050405020304" pitchFamily="18" charset="0"/>
              </a:rPr>
              <a:t>等表示</a:t>
            </a:r>
            <a:endParaRPr lang="zh-CN" altLang="en-US" sz="2400" i="0" u="none" strike="noStrike" kern="0" cap="none" spc="0" normalizeH="0" baseline="0">
              <a:solidFill>
                <a:schemeClr val="tx1"/>
              </a:solidFill>
              <a:latin typeface="Times New Roman" panose="02020603050405020304" pitchFamily="18" charset="0"/>
              <a:ea typeface="+mn-ea"/>
              <a:cs typeface="Times New Roman" panose="02020603050405020304" pitchFamily="18" charset="0"/>
            </a:endParaRPr>
          </a:p>
          <a:p>
            <a:pPr marL="342900" marR="0" lvl="0" indent="-342900" algn="just" rtl="0" eaLnBrk="1" hangingPunct="1">
              <a:lnSpc>
                <a:spcPct val="100000"/>
              </a:lnSpc>
              <a:spcBef>
                <a:spcPts val="1200"/>
              </a:spcBef>
              <a:buClr>
                <a:schemeClr val="hlink"/>
              </a:buClr>
              <a:buSzTx/>
              <a:buFont typeface="Wingdings" panose="05000000000000000000" pitchFamily="2" charset="2"/>
              <a:buChar char="v"/>
            </a:pPr>
            <a:r>
              <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容量：</a:t>
            </a:r>
            <a:endPar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rtl="0">
              <a:lnSpc>
                <a:spcPct val="100000"/>
              </a:lnSpc>
              <a:spcBef>
                <a:spcPts val="1200"/>
              </a:spcBef>
              <a:buClr>
                <a:schemeClr val="accent1"/>
              </a:buClr>
              <a:buSzTx/>
              <a:buFont typeface="Wingdings" panose="05000000000000000000" pitchFamily="2" charset="2"/>
              <a:buChar char="§"/>
            </a:pPr>
            <a:r>
              <a:rPr lang="zh-CN" altLang="en-US" sz="2400" i="0" u="none" strike="noStrike" kern="0" cap="none" spc="0" normalizeH="0" baseline="0">
                <a:solidFill>
                  <a:schemeClr val="tx1"/>
                </a:solidFill>
                <a:latin typeface="Times New Roman" panose="02020603050405020304" pitchFamily="18" charset="0"/>
                <a:ea typeface="+mn-ea"/>
                <a:cs typeface="Times New Roman" panose="02020603050405020304" pitchFamily="18" charset="0"/>
              </a:rPr>
              <a:t>字节(B)、千字节(KB)、兆字节(MB)和千兆字节(GB)</a:t>
            </a:r>
            <a:endParaRPr lang="zh-CN" altLang="en-US" sz="2400" i="0" u="none" strike="noStrike" kern="0" cap="none" spc="0" normalizeH="0" baseline="0">
              <a:solidFill>
                <a:schemeClr val="tx1"/>
              </a:solidFill>
              <a:latin typeface="Times New Roman" panose="02020603050405020304" pitchFamily="18" charset="0"/>
              <a:ea typeface="+mn-ea"/>
              <a:cs typeface="Times New Roman" panose="02020603050405020304" pitchFamily="18" charset="0"/>
            </a:endParaRPr>
          </a:p>
          <a:p>
            <a:pPr marL="342900" marR="0" lvl="0" indent="-342900" algn="just" rtl="0" eaLnBrk="1" hangingPunct="1">
              <a:lnSpc>
                <a:spcPct val="100000"/>
              </a:lnSpc>
              <a:spcBef>
                <a:spcPts val="1200"/>
              </a:spcBef>
              <a:buClr>
                <a:schemeClr val="hlink"/>
              </a:buClr>
              <a:buSzTx/>
              <a:buFont typeface="Wingdings" panose="05000000000000000000" pitchFamily="2" charset="2"/>
              <a:buChar char="v"/>
            </a:pPr>
            <a:r>
              <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rPr>
              <a:t>价格：</a:t>
            </a:r>
            <a:endParaRPr lang="zh-CN" altLang="en-GB" sz="2400" i="0" u="none" strike="noStrike" kern="0" cap="none" spc="0" normalizeH="0" baseline="0"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rtl="0">
              <a:lnSpc>
                <a:spcPct val="100000"/>
              </a:lnSpc>
              <a:spcBef>
                <a:spcPts val="1200"/>
              </a:spcBef>
              <a:buClr>
                <a:schemeClr val="accent1"/>
              </a:buClr>
              <a:buSzTx/>
              <a:buFont typeface="Wingdings" panose="05000000000000000000" pitchFamily="2" charset="2"/>
              <a:buChar char="§"/>
            </a:pPr>
            <a:r>
              <a:rPr lang="zh-CN" altLang="en-US" sz="2400" i="0" u="none" strike="noStrike" kern="0" cap="none" spc="0" normalizeH="0" baseline="0">
                <a:solidFill>
                  <a:schemeClr val="tx1"/>
                </a:solidFill>
                <a:latin typeface="Times New Roman" panose="02020603050405020304" pitchFamily="18" charset="0"/>
                <a:ea typeface="+mn-ea"/>
                <a:cs typeface="Times New Roman" panose="02020603050405020304" pitchFamily="18" charset="0"/>
              </a:rPr>
              <a:t>用单位容量的价格表示，如$C/bit </a:t>
            </a:r>
            <a:endParaRPr lang="zh-CN" altLang="en-US" sz="2400" i="0" u="none" strike="noStrike" kern="0" cap="none" spc="0" normalizeH="0" baseline="0">
              <a:solidFill>
                <a:schemeClr val="tx1"/>
              </a:solidFill>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存储与处理</a:t>
            </a:r>
            <a:r>
              <a:rPr lang="zh-CN" altLang="en-US"/>
              <a:t>性能差距</a:t>
            </a:r>
            <a:endParaRPr lang="zh-CN" altLang="en-US"/>
          </a:p>
        </p:txBody>
      </p:sp>
      <p:sp>
        <p:nvSpPr>
          <p:cNvPr id="11270" name="文本框 1"/>
          <p:cNvSpPr txBox="1"/>
          <p:nvPr/>
        </p:nvSpPr>
        <p:spPr>
          <a:xfrm>
            <a:off x="395288" y="5517515"/>
            <a:ext cx="8434387" cy="101473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60000"/>
              <a:buFont typeface="Wingdings" panose="05000000000000000000" pitchFamily="2" charset="2"/>
              <a:buChar char="n"/>
              <a:defRPr sz="3200">
                <a:solidFill>
                  <a:srgbClr val="003399"/>
                </a:solidFill>
                <a:latin typeface="+mn-lt"/>
                <a:ea typeface="+mn-ea"/>
                <a:cs typeface="+mn-cs"/>
              </a:defRPr>
            </a:lvl1pPr>
            <a:lvl2pPr marL="742950" indent="-285750" algn="l" rtl="0" eaLnBrk="0" fontAlgn="base" hangingPunct="0">
              <a:spcBef>
                <a:spcPct val="20000"/>
              </a:spcBef>
              <a:spcAft>
                <a:spcPct val="0"/>
              </a:spcAft>
              <a:buClr>
                <a:srgbClr val="003399"/>
              </a:buClr>
              <a:buSzPct val="55000"/>
              <a:buFont typeface="Wingdings" panose="05000000000000000000" pitchFamily="2" charset="2"/>
              <a:buChar char="n"/>
              <a:defRPr sz="2800">
                <a:solidFill>
                  <a:srgbClr val="0033CC"/>
                </a:solidFill>
                <a:latin typeface="+mn-lt"/>
              </a:defRPr>
            </a:lvl2pPr>
            <a:lvl3pPr marL="1143000" indent="-228600" algn="l" rtl="0" eaLnBrk="0" fontAlgn="base" hangingPunct="0">
              <a:spcBef>
                <a:spcPct val="20000"/>
              </a:spcBef>
              <a:spcAft>
                <a:spcPct val="0"/>
              </a:spcAft>
              <a:buClr>
                <a:srgbClr val="0033CC"/>
              </a:buClr>
              <a:buSzPct val="50000"/>
              <a:buFont typeface="Wingdings" panose="05000000000000000000" pitchFamily="2" charset="2"/>
              <a:buChar char="n"/>
              <a:defRPr sz="2400">
                <a:solidFill>
                  <a:srgbClr val="000066"/>
                </a:solidFill>
                <a:latin typeface="+mn-lt"/>
              </a:defRPr>
            </a:lvl3pPr>
            <a:lvl4pPr marL="1600200" indent="-228600" algn="l" rtl="0" eaLnBrk="0" fontAlgn="base" hangingPunct="0">
              <a:spcBef>
                <a:spcPct val="20000"/>
              </a:spcBef>
              <a:spcAft>
                <a:spcPct val="0"/>
              </a:spcAft>
              <a:buClr>
                <a:srgbClr val="000066"/>
              </a:buClr>
              <a:buSzPct val="55000"/>
              <a:buFont typeface="Wingdings" panose="05000000000000000000" pitchFamily="2" charset="2"/>
              <a:buChar char="n"/>
              <a:defRPr sz="2000">
                <a:solidFill>
                  <a:srgbClr val="0066FF"/>
                </a:solidFill>
                <a:latin typeface="+mn-lt"/>
              </a:defRPr>
            </a:lvl4pPr>
            <a:lvl5pPr marL="2057400" indent="-228600" algn="l" rtl="0" eaLnBrk="0" fontAlgn="base" hangingPunct="0">
              <a:spcBef>
                <a:spcPct val="20000"/>
              </a:spcBef>
              <a:spcAft>
                <a:spcPct val="0"/>
              </a:spcAft>
              <a:buClr>
                <a:srgbClr val="3399FF"/>
              </a:buClr>
              <a:buSzPct val="50000"/>
              <a:buFont typeface="Wingdings" panose="05000000000000000000" pitchFamily="2" charset="2"/>
              <a:buChar char="n"/>
              <a:defRPr sz="2000">
                <a:solidFill>
                  <a:srgbClr val="3399FF"/>
                </a:solidFill>
                <a:latin typeface="+mn-lt"/>
              </a:defRPr>
            </a:lvl5pPr>
          </a:lstStyle>
          <a:p>
            <a:pPr lvl="0" algn="just" eaLnBrk="1" hangingPunct="1">
              <a:spcBef>
                <a:spcPct val="0"/>
              </a:spcBef>
              <a:buClrTx/>
              <a:buSzTx/>
              <a:buFont typeface="Arial" panose="020B0604020202020204" pitchFamily="34" charset="0"/>
              <a:buChar char="•"/>
            </a:pPr>
            <a:r>
              <a:rPr lang="zh-CN" altLang="en-US" sz="20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处理器性能一直比存储器性能增长得快，处理器性能增长在放缓</a:t>
            </a:r>
            <a:endParaRPr lang="zh-CN" altLang="en-US" sz="20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a:p>
            <a:pPr lvl="0" algn="just" eaLnBrk="1" hangingPunct="1">
              <a:spcBef>
                <a:spcPct val="0"/>
              </a:spcBef>
              <a:buClrTx/>
              <a:buSzTx/>
              <a:buFont typeface="Arial" panose="020B0604020202020204" pitchFamily="34" charset="0"/>
              <a:buChar char="•"/>
            </a:pP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内存墙：处理器的速度提升远快于内存访问速度的提升，导致内存访问成为系统性能的主要瓶颈。</a:t>
            </a:r>
            <a:endPar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1269" name="Picture 2"/>
          <p:cNvPicPr>
            <a:picLocks noChangeAspect="1"/>
          </p:cNvPicPr>
          <p:nvPr/>
        </p:nvPicPr>
        <p:blipFill>
          <a:blip r:embed="rId1"/>
          <a:stretch>
            <a:fillRect/>
          </a:stretch>
        </p:blipFill>
        <p:spPr>
          <a:xfrm>
            <a:off x="727710" y="1268730"/>
            <a:ext cx="7687945" cy="4083685"/>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存储与处理性能差距</a:t>
            </a:r>
            <a:endParaRPr lang="zh-CN" altLang="en-US"/>
          </a:p>
        </p:txBody>
      </p:sp>
      <p:sp>
        <p:nvSpPr>
          <p:cNvPr id="13314" name="Rectangle 3"/>
          <p:cNvSpPr>
            <a:spLocks noGrp="1"/>
          </p:cNvSpPr>
          <p:nvPr>
            <p:ph idx="1"/>
          </p:nvPr>
        </p:nvSpPr>
        <p:spPr>
          <a:xfrm>
            <a:off x="539750" y="1268413"/>
            <a:ext cx="8270875" cy="4522787"/>
          </a:xfrm>
        </p:spPr>
        <p:txBody>
          <a:bodyPr vert="horz" wrap="square" lIns="91440" tIns="45720" rIns="91440" bIns="45720" anchor="t" anchorCtr="0"/>
          <a:p>
            <a:pPr eaLnBrk="1" hangingPunct="1">
              <a:lnSpc>
                <a:spcPct val="90000"/>
              </a:lnSpc>
            </a:pPr>
            <a:r>
              <a:rPr lang="zh-CN" altLang="en-US" sz="2800" dirty="0">
                <a:latin typeface="Arial Black" panose="020B0A04020102020204" pitchFamily="34" charset="0"/>
                <a:ea typeface="黑体" panose="02010609060101010101" pitchFamily="49" charset="-122"/>
              </a:rPr>
              <a:t>多核技术存储需求</a:t>
            </a:r>
            <a:r>
              <a:rPr lang="en-US" altLang="zh-CN" sz="2800" dirty="0">
                <a:latin typeface="Arial Black" panose="020B0A04020102020204" pitchFamily="34" charset="0"/>
                <a:ea typeface="黑体" panose="02010609060101010101" pitchFamily="49" charset="-122"/>
              </a:rPr>
              <a:t>:</a:t>
            </a:r>
            <a:endParaRPr lang="en-US" altLang="zh-CN" sz="2800" dirty="0">
              <a:latin typeface="Arial Black" panose="020B0A04020102020204" pitchFamily="34" charset="0"/>
              <a:ea typeface="黑体" panose="02010609060101010101" pitchFamily="49" charset="-122"/>
            </a:endParaRPr>
          </a:p>
          <a:p>
            <a:pPr lvl="1" eaLnBrk="1" hangingPunct="1">
              <a:lnSpc>
                <a:spcPct val="90000"/>
              </a:lnSpc>
              <a:spcBef>
                <a:spcPts val="1200"/>
              </a:spcBef>
            </a:pPr>
            <a:r>
              <a:rPr lang="zh-CN" altLang="en-US" sz="2400" dirty="0">
                <a:latin typeface="Arial Black" panose="020B0A04020102020204" pitchFamily="34" charset="0"/>
                <a:ea typeface="黑体" panose="02010609060101010101" pitchFamily="49" charset="-122"/>
              </a:rPr>
              <a:t>总体峰值带宽需求增加</a:t>
            </a:r>
            <a:r>
              <a:rPr lang="en-US" altLang="zh-CN" sz="2400" dirty="0">
                <a:latin typeface="Arial Black" panose="020B0A04020102020204" pitchFamily="34" charset="0"/>
                <a:ea typeface="黑体" panose="02010609060101010101" pitchFamily="49" charset="-122"/>
              </a:rPr>
              <a:t>:</a:t>
            </a:r>
            <a:endParaRPr lang="en-US" altLang="zh-CN" sz="2400" dirty="0">
              <a:latin typeface="Arial Black" panose="020B0A04020102020204" pitchFamily="34" charset="0"/>
              <a:ea typeface="黑体" panose="02010609060101010101" pitchFamily="49" charset="-122"/>
            </a:endParaRPr>
          </a:p>
          <a:p>
            <a:pPr lvl="2" eaLnBrk="1" hangingPunct="1">
              <a:lnSpc>
                <a:spcPct val="90000"/>
              </a:lnSpc>
            </a:pPr>
            <a:r>
              <a:rPr lang="en-US" altLang="zh-CN" sz="2000" dirty="0">
                <a:latin typeface="Arial Black" panose="020B0A04020102020204" pitchFamily="34" charset="0"/>
                <a:ea typeface="黑体" panose="02010609060101010101" pitchFamily="49" charset="-122"/>
              </a:rPr>
              <a:t>Intel Core i7 </a:t>
            </a:r>
            <a:r>
              <a:rPr lang="zh-CN" altLang="en-US" sz="2000" dirty="0">
                <a:latin typeface="Arial Black" panose="020B0A04020102020204" pitchFamily="34" charset="0"/>
                <a:ea typeface="黑体" panose="02010609060101010101" pitchFamily="49" charset="-122"/>
              </a:rPr>
              <a:t>每核每时钟周期产生两个存储访问</a:t>
            </a:r>
            <a:endParaRPr lang="en-US" altLang="zh-CN" sz="2000" dirty="0">
              <a:latin typeface="Arial Black" panose="020B0A04020102020204" pitchFamily="34" charset="0"/>
              <a:ea typeface="黑体" panose="02010609060101010101" pitchFamily="49" charset="-122"/>
            </a:endParaRPr>
          </a:p>
          <a:p>
            <a:pPr lvl="2" eaLnBrk="1" hangingPunct="1">
              <a:lnSpc>
                <a:spcPct val="90000"/>
              </a:lnSpc>
            </a:pPr>
            <a:r>
              <a:rPr lang="zh-CN" altLang="en-US" sz="2000" dirty="0">
                <a:latin typeface="Arial Black" panose="020B0A04020102020204" pitchFamily="34" charset="0"/>
                <a:ea typeface="黑体" panose="02010609060101010101" pitchFamily="49" charset="-122"/>
              </a:rPr>
              <a:t>以</a:t>
            </a:r>
            <a:r>
              <a:rPr lang="en-US" altLang="zh-CN" sz="2000" dirty="0">
                <a:latin typeface="Arial Black" panose="020B0A04020102020204" pitchFamily="34" charset="0"/>
                <a:ea typeface="黑体" panose="02010609060101010101" pitchFamily="49" charset="-122"/>
              </a:rPr>
              <a:t>4</a:t>
            </a:r>
            <a:r>
              <a:rPr lang="zh-CN" altLang="en-US" sz="2000" dirty="0">
                <a:latin typeface="Arial Black" panose="020B0A04020102020204" pitchFamily="34" charset="0"/>
                <a:ea typeface="黑体" panose="02010609060101010101" pitchFamily="49" charset="-122"/>
              </a:rPr>
              <a:t>核、</a:t>
            </a:r>
            <a:r>
              <a:rPr lang="en-US" altLang="zh-CN" sz="2000" dirty="0">
                <a:latin typeface="Arial Black" panose="020B0A04020102020204" pitchFamily="34" charset="0"/>
                <a:ea typeface="黑体" panose="02010609060101010101" pitchFamily="49" charset="-122"/>
              </a:rPr>
              <a:t>3.2 GHz </a:t>
            </a:r>
            <a:r>
              <a:rPr lang="zh-CN" altLang="en-US" sz="2000" dirty="0">
                <a:latin typeface="Arial Black" panose="020B0A04020102020204" pitchFamily="34" charset="0"/>
                <a:ea typeface="黑体" panose="02010609060101010101" pitchFamily="49" charset="-122"/>
              </a:rPr>
              <a:t>时钟频率为例</a:t>
            </a:r>
            <a:endParaRPr lang="en-US" altLang="zh-CN" sz="2000" dirty="0">
              <a:latin typeface="Arial Black" panose="020B0A04020102020204" pitchFamily="34" charset="0"/>
              <a:ea typeface="黑体" panose="02010609060101010101" pitchFamily="49" charset="-122"/>
            </a:endParaRPr>
          </a:p>
          <a:p>
            <a:pPr lvl="3" eaLnBrk="1" hangingPunct="1">
              <a:lnSpc>
                <a:spcPct val="90000"/>
              </a:lnSpc>
            </a:pPr>
            <a:r>
              <a:rPr lang="en-US" altLang="zh-CN" dirty="0">
                <a:latin typeface="Arial Black" panose="020B0A04020102020204" pitchFamily="34" charset="0"/>
                <a:ea typeface="黑体" panose="02010609060101010101" pitchFamily="49" charset="-122"/>
              </a:rPr>
              <a:t>25.6 billion 64-bit </a:t>
            </a:r>
            <a:r>
              <a:rPr lang="zh-CN" altLang="en-US" dirty="0">
                <a:latin typeface="Arial Black" panose="020B0A04020102020204" pitchFamily="34" charset="0"/>
                <a:ea typeface="黑体" panose="02010609060101010101" pitchFamily="49" charset="-122"/>
              </a:rPr>
              <a:t>数据访问</a:t>
            </a:r>
            <a:r>
              <a:rPr lang="en-US" altLang="zh-CN" dirty="0">
                <a:latin typeface="Arial Black" panose="020B0A04020102020204" pitchFamily="34" charset="0"/>
                <a:ea typeface="黑体" panose="02010609060101010101" pitchFamily="49" charset="-122"/>
              </a:rPr>
              <a:t>/</a:t>
            </a:r>
            <a:r>
              <a:rPr lang="zh-CN" altLang="en-US" dirty="0">
                <a:latin typeface="Arial Black" panose="020B0A04020102020204" pitchFamily="34" charset="0"/>
                <a:ea typeface="黑体" panose="02010609060101010101" pitchFamily="49" charset="-122"/>
              </a:rPr>
              <a:t>秒</a:t>
            </a:r>
            <a:r>
              <a:rPr lang="en-US" altLang="zh-CN" dirty="0">
                <a:latin typeface="Arial Black" panose="020B0A04020102020204" pitchFamily="34" charset="0"/>
                <a:ea typeface="黑体" panose="02010609060101010101" pitchFamily="49" charset="-122"/>
              </a:rPr>
              <a:t> +</a:t>
            </a:r>
            <a:endParaRPr lang="en-US" altLang="zh-CN" dirty="0">
              <a:latin typeface="Arial Black" panose="020B0A04020102020204" pitchFamily="34" charset="0"/>
              <a:ea typeface="黑体" panose="02010609060101010101" pitchFamily="49" charset="-122"/>
            </a:endParaRPr>
          </a:p>
          <a:p>
            <a:pPr lvl="3" eaLnBrk="1" hangingPunct="1">
              <a:lnSpc>
                <a:spcPct val="90000"/>
              </a:lnSpc>
            </a:pPr>
            <a:r>
              <a:rPr lang="en-US" altLang="zh-CN" dirty="0">
                <a:latin typeface="Arial Black" panose="020B0A04020102020204" pitchFamily="34" charset="0"/>
                <a:ea typeface="黑体" panose="02010609060101010101" pitchFamily="49" charset="-122"/>
              </a:rPr>
              <a:t>12.8 billion 128-bit </a:t>
            </a:r>
            <a:r>
              <a:rPr lang="zh-CN" altLang="en-US" dirty="0">
                <a:latin typeface="Arial Black" panose="020B0A04020102020204" pitchFamily="34" charset="0"/>
                <a:ea typeface="黑体" panose="02010609060101010101" pitchFamily="49" charset="-122"/>
              </a:rPr>
              <a:t>指令访问</a:t>
            </a:r>
            <a:endParaRPr lang="en-US" altLang="zh-CN" dirty="0">
              <a:latin typeface="Arial Black" panose="020B0A04020102020204" pitchFamily="34" charset="0"/>
              <a:ea typeface="黑体" panose="02010609060101010101" pitchFamily="49" charset="-122"/>
            </a:endParaRPr>
          </a:p>
          <a:p>
            <a:pPr lvl="3" eaLnBrk="1" hangingPunct="1">
              <a:lnSpc>
                <a:spcPct val="90000"/>
              </a:lnSpc>
            </a:pPr>
            <a:r>
              <a:rPr lang="en-US" altLang="zh-CN" dirty="0">
                <a:latin typeface="Arial Black" panose="020B0A04020102020204" pitchFamily="34" charset="0"/>
                <a:ea typeface="黑体" panose="02010609060101010101" pitchFamily="49" charset="-122"/>
              </a:rPr>
              <a:t>= </a:t>
            </a:r>
            <a:r>
              <a:rPr lang="en-US" altLang="zh-CN" b="1" dirty="0">
                <a:solidFill>
                  <a:srgbClr val="FF0000"/>
                </a:solidFill>
                <a:latin typeface="Arial Black" panose="020B0A04020102020204" pitchFamily="34" charset="0"/>
                <a:ea typeface="黑体" panose="02010609060101010101" pitchFamily="49" charset="-122"/>
              </a:rPr>
              <a:t>409.6 GB/s!</a:t>
            </a:r>
            <a:endParaRPr lang="en-US" altLang="zh-CN" b="1" dirty="0">
              <a:solidFill>
                <a:srgbClr val="FF0000"/>
              </a:solidFill>
              <a:latin typeface="Arial Black" panose="020B0A04020102020204" pitchFamily="34" charset="0"/>
              <a:ea typeface="黑体" panose="02010609060101010101" pitchFamily="49" charset="-122"/>
            </a:endParaRPr>
          </a:p>
          <a:p>
            <a:pPr lvl="2" eaLnBrk="1" hangingPunct="1">
              <a:lnSpc>
                <a:spcPct val="90000"/>
              </a:lnSpc>
              <a:spcBef>
                <a:spcPts val="1200"/>
              </a:spcBef>
            </a:pPr>
            <a:r>
              <a:rPr lang="en-US" altLang="zh-CN" dirty="0">
                <a:latin typeface="Arial Black" panose="020B0A04020102020204" pitchFamily="34" charset="0"/>
                <a:ea typeface="黑体" panose="02010609060101010101" pitchFamily="49" charset="-122"/>
              </a:rPr>
              <a:t>DRAM </a:t>
            </a:r>
            <a:r>
              <a:rPr lang="zh-CN" altLang="en-US" dirty="0">
                <a:latin typeface="Arial Black" panose="020B0A04020102020204" pitchFamily="34" charset="0"/>
                <a:ea typeface="黑体" panose="02010609060101010101" pitchFamily="49" charset="-122"/>
              </a:rPr>
              <a:t>带宽只有</a:t>
            </a:r>
            <a:r>
              <a:rPr lang="en-US" altLang="zh-CN" dirty="0">
                <a:solidFill>
                  <a:srgbClr val="FF0000"/>
                </a:solidFill>
                <a:latin typeface="Arial Black" panose="020B0A04020102020204" pitchFamily="34" charset="0"/>
                <a:ea typeface="黑体" panose="02010609060101010101" pitchFamily="49" charset="-122"/>
              </a:rPr>
              <a:t>6% </a:t>
            </a:r>
            <a:r>
              <a:rPr lang="en-US" altLang="zh-CN" dirty="0">
                <a:latin typeface="Arial Black" panose="020B0A04020102020204" pitchFamily="34" charset="0"/>
                <a:ea typeface="黑体" panose="02010609060101010101" pitchFamily="49" charset="-122"/>
              </a:rPr>
              <a:t>(25 GB/s)</a:t>
            </a:r>
            <a:endParaRPr lang="en-US" altLang="zh-CN" dirty="0">
              <a:latin typeface="Arial Black" panose="020B0A04020102020204" pitchFamily="34" charset="0"/>
              <a:ea typeface="黑体" panose="02010609060101010101" pitchFamily="49" charset="-122"/>
            </a:endParaRPr>
          </a:p>
          <a:p>
            <a:pPr lvl="2" eaLnBrk="1" hangingPunct="1">
              <a:lnSpc>
                <a:spcPct val="90000"/>
              </a:lnSpc>
              <a:spcBef>
                <a:spcPts val="1200"/>
              </a:spcBef>
            </a:pPr>
            <a:r>
              <a:rPr lang="zh-CN" altLang="en-US" dirty="0">
                <a:latin typeface="Arial Black" panose="020B0A04020102020204" pitchFamily="34" charset="0"/>
                <a:ea typeface="黑体" panose="02010609060101010101" pitchFamily="49" charset="-122"/>
              </a:rPr>
              <a:t>需求</a:t>
            </a:r>
            <a:r>
              <a:rPr lang="en-US" altLang="zh-CN" dirty="0">
                <a:latin typeface="Arial Black" panose="020B0A04020102020204" pitchFamily="34" charset="0"/>
                <a:ea typeface="黑体" panose="02010609060101010101" pitchFamily="49" charset="-122"/>
              </a:rPr>
              <a:t>:</a:t>
            </a:r>
            <a:endParaRPr lang="en-US" altLang="zh-CN" dirty="0">
              <a:latin typeface="Arial Black" panose="020B0A04020102020204" pitchFamily="34" charset="0"/>
              <a:ea typeface="黑体" panose="02010609060101010101" pitchFamily="49" charset="-122"/>
            </a:endParaRPr>
          </a:p>
          <a:p>
            <a:pPr lvl="3" eaLnBrk="1" hangingPunct="1">
              <a:lnSpc>
                <a:spcPct val="90000"/>
              </a:lnSpc>
            </a:pPr>
            <a:r>
              <a:rPr lang="zh-CN" altLang="en-US" dirty="0">
                <a:latin typeface="Arial Black" panose="020B0A04020102020204" pitchFamily="34" charset="0"/>
                <a:ea typeface="黑体" panose="02010609060101010101" pitchFamily="49" charset="-122"/>
              </a:rPr>
              <a:t>多端口、流水线</a:t>
            </a:r>
            <a:r>
              <a:rPr lang="en-US" altLang="zh-CN" dirty="0">
                <a:latin typeface="Arial Black" panose="020B0A04020102020204" pitchFamily="34" charset="0"/>
                <a:ea typeface="黑体" panose="02010609060101010101" pitchFamily="49" charset="-122"/>
              </a:rPr>
              <a:t>CACHE;</a:t>
            </a:r>
            <a:endParaRPr lang="en-US" altLang="zh-CN" dirty="0">
              <a:latin typeface="Arial Black" panose="020B0A04020102020204" pitchFamily="34" charset="0"/>
              <a:ea typeface="黑体" panose="02010609060101010101" pitchFamily="49" charset="-122"/>
            </a:endParaRPr>
          </a:p>
          <a:p>
            <a:pPr lvl="3" eaLnBrk="1" hangingPunct="1">
              <a:lnSpc>
                <a:spcPct val="90000"/>
              </a:lnSpc>
            </a:pPr>
            <a:r>
              <a:rPr lang="zh-CN" altLang="en-US" dirty="0">
                <a:latin typeface="Arial Black" panose="020B0A04020102020204" pitchFamily="34" charset="0"/>
                <a:ea typeface="黑体" panose="02010609060101010101" pitchFamily="49" charset="-122"/>
              </a:rPr>
              <a:t>每核两级</a:t>
            </a:r>
            <a:r>
              <a:rPr lang="en-US" altLang="zh-CN" dirty="0">
                <a:latin typeface="Arial Black" panose="020B0A04020102020204" pitchFamily="34" charset="0"/>
                <a:ea typeface="黑体" panose="02010609060101010101" pitchFamily="49" charset="-122"/>
              </a:rPr>
              <a:t>CACHE;</a:t>
            </a:r>
            <a:endParaRPr lang="en-US" altLang="zh-CN" dirty="0">
              <a:latin typeface="Arial Black" panose="020B0A04020102020204" pitchFamily="34" charset="0"/>
              <a:ea typeface="黑体" panose="02010609060101010101" pitchFamily="49" charset="-122"/>
            </a:endParaRPr>
          </a:p>
          <a:p>
            <a:pPr lvl="3" eaLnBrk="1" hangingPunct="1">
              <a:lnSpc>
                <a:spcPct val="90000"/>
              </a:lnSpc>
            </a:pPr>
            <a:r>
              <a:rPr lang="zh-CN" altLang="en-US" dirty="0">
                <a:latin typeface="Arial Black" panose="020B0A04020102020204" pitchFamily="34" charset="0"/>
                <a:ea typeface="黑体" panose="02010609060101010101" pitchFamily="49" charset="-122"/>
              </a:rPr>
              <a:t>片上共享的</a:t>
            </a:r>
            <a:r>
              <a:rPr lang="en-US" altLang="zh-CN" dirty="0">
                <a:latin typeface="Arial Black" panose="020B0A04020102020204" pitchFamily="34" charset="0"/>
                <a:ea typeface="黑体" panose="02010609060101010101" pitchFamily="49" charset="-122"/>
              </a:rPr>
              <a:t>3</a:t>
            </a:r>
            <a:r>
              <a:rPr lang="zh-CN" altLang="en-US" dirty="0">
                <a:latin typeface="Arial Black" panose="020B0A04020102020204" pitchFamily="34" charset="0"/>
                <a:ea typeface="黑体" panose="02010609060101010101" pitchFamily="49" charset="-122"/>
              </a:rPr>
              <a:t>级</a:t>
            </a:r>
            <a:r>
              <a:rPr lang="en-US" altLang="zh-CN" dirty="0">
                <a:latin typeface="Arial Black" panose="020B0A04020102020204" pitchFamily="34" charset="0"/>
                <a:ea typeface="黑体" panose="02010609060101010101" pitchFamily="49" charset="-122"/>
              </a:rPr>
              <a:t>CACHE</a:t>
            </a:r>
            <a:endParaRPr lang="en-US" altLang="zh-CN" dirty="0">
              <a:latin typeface="Arial Black" panose="020B0A04020102020204" pitchFamily="34" charset="0"/>
              <a:ea typeface="黑体" panose="02010609060101010101" pitchFamily="49" charset="-122"/>
            </a:endParaRPr>
          </a:p>
        </p:txBody>
      </p:sp>
      <p:sp>
        <p:nvSpPr>
          <p:cNvPr id="13318" name="文本框 5"/>
          <p:cNvSpPr txBox="1"/>
          <p:nvPr/>
        </p:nvSpPr>
        <p:spPr>
          <a:xfrm>
            <a:off x="347663" y="5989638"/>
            <a:ext cx="8434387" cy="584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60000"/>
              <a:buFont typeface="Wingdings" panose="05000000000000000000" pitchFamily="2" charset="2"/>
              <a:buChar char="n"/>
              <a:defRPr sz="3200">
                <a:solidFill>
                  <a:srgbClr val="003399"/>
                </a:solidFill>
                <a:latin typeface="+mn-lt"/>
                <a:ea typeface="+mn-ea"/>
                <a:cs typeface="+mn-cs"/>
              </a:defRPr>
            </a:lvl1pPr>
            <a:lvl2pPr marL="742950" indent="-285750" algn="l" rtl="0" eaLnBrk="0" fontAlgn="base" hangingPunct="0">
              <a:spcBef>
                <a:spcPct val="20000"/>
              </a:spcBef>
              <a:spcAft>
                <a:spcPct val="0"/>
              </a:spcAft>
              <a:buClr>
                <a:srgbClr val="003399"/>
              </a:buClr>
              <a:buSzPct val="55000"/>
              <a:buFont typeface="Wingdings" panose="05000000000000000000" pitchFamily="2" charset="2"/>
              <a:buChar char="n"/>
              <a:defRPr sz="2800">
                <a:solidFill>
                  <a:srgbClr val="0033CC"/>
                </a:solidFill>
                <a:latin typeface="+mn-lt"/>
              </a:defRPr>
            </a:lvl2pPr>
            <a:lvl3pPr marL="1143000" indent="-228600" algn="l" rtl="0" eaLnBrk="0" fontAlgn="base" hangingPunct="0">
              <a:spcBef>
                <a:spcPct val="20000"/>
              </a:spcBef>
              <a:spcAft>
                <a:spcPct val="0"/>
              </a:spcAft>
              <a:buClr>
                <a:srgbClr val="0033CC"/>
              </a:buClr>
              <a:buSzPct val="50000"/>
              <a:buFont typeface="Wingdings" panose="05000000000000000000" pitchFamily="2" charset="2"/>
              <a:buChar char="n"/>
              <a:defRPr sz="2400">
                <a:solidFill>
                  <a:srgbClr val="000066"/>
                </a:solidFill>
                <a:latin typeface="+mn-lt"/>
              </a:defRPr>
            </a:lvl3pPr>
            <a:lvl4pPr marL="1600200" indent="-228600" algn="l" rtl="0" eaLnBrk="0" fontAlgn="base" hangingPunct="0">
              <a:spcBef>
                <a:spcPct val="20000"/>
              </a:spcBef>
              <a:spcAft>
                <a:spcPct val="0"/>
              </a:spcAft>
              <a:buClr>
                <a:srgbClr val="000066"/>
              </a:buClr>
              <a:buSzPct val="55000"/>
              <a:buFont typeface="Wingdings" panose="05000000000000000000" pitchFamily="2" charset="2"/>
              <a:buChar char="n"/>
              <a:defRPr sz="2000">
                <a:solidFill>
                  <a:srgbClr val="0066FF"/>
                </a:solidFill>
                <a:latin typeface="+mn-lt"/>
              </a:defRPr>
            </a:lvl4pPr>
            <a:lvl5pPr marL="2057400" indent="-228600" algn="l" rtl="0" eaLnBrk="0" fontAlgn="base" hangingPunct="0">
              <a:spcBef>
                <a:spcPct val="20000"/>
              </a:spcBef>
              <a:spcAft>
                <a:spcPct val="0"/>
              </a:spcAft>
              <a:buClr>
                <a:srgbClr val="3399FF"/>
              </a:buClr>
              <a:buSzPct val="50000"/>
              <a:buFont typeface="Wingdings" panose="05000000000000000000" pitchFamily="2" charset="2"/>
              <a:buChar char="n"/>
              <a:defRPr sz="2000">
                <a:solidFill>
                  <a:srgbClr val="3399FF"/>
                </a:solidFill>
                <a:latin typeface="+mn-lt"/>
              </a:defRPr>
            </a:lvl5pPr>
          </a:lstStyle>
          <a:p>
            <a:pPr marL="0" lvl="0" indent="0" eaLnBrk="1" hangingPunct="1">
              <a:spcBef>
                <a:spcPct val="0"/>
              </a:spcBef>
              <a:buClrTx/>
              <a:buSzTx/>
              <a:buFontTx/>
              <a:buNone/>
            </a:pPr>
            <a:r>
              <a:rPr lang="zh-CN" altLang="en-US" dirty="0">
                <a:solidFill>
                  <a:srgbClr val="FF0000"/>
                </a:solidFill>
                <a:latin typeface="Arial Black" panose="020B0A04020102020204" pitchFamily="34" charset="0"/>
                <a:ea typeface="黑体" panose="02010609060101010101" pitchFamily="49" charset="-122"/>
              </a:rPr>
              <a:t>处理器与存储器性能不平衡的趋势在继续。。。</a:t>
            </a:r>
            <a:endParaRPr lang="en-US" altLang="zh-CN" dirty="0">
              <a:solidFill>
                <a:srgbClr val="FF0000"/>
              </a:solidFill>
              <a:latin typeface="Arial Black" panose="020B0A04020102020204" pitchFamily="34" charset="0"/>
              <a:ea typeface="黑体" panose="02010609060101010101" pitchFamily="49"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存储与处理性能差距</a:t>
            </a:r>
            <a:endParaRPr lang="zh-CN" altLang="en-US"/>
          </a:p>
        </p:txBody>
      </p:sp>
      <p:pic>
        <p:nvPicPr>
          <p:cNvPr id="29700" name="Picture 2"/>
          <p:cNvPicPr>
            <a:picLocks noChangeAspect="1"/>
          </p:cNvPicPr>
          <p:nvPr/>
        </p:nvPicPr>
        <p:blipFill>
          <a:blip r:embed="rId1"/>
          <a:stretch>
            <a:fillRect/>
          </a:stretch>
        </p:blipFill>
        <p:spPr>
          <a:xfrm>
            <a:off x="468313" y="1628775"/>
            <a:ext cx="8126412" cy="3938588"/>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存储与处理性能差距（</a:t>
            </a:r>
            <a:r>
              <a:rPr lang="en-US" altLang="zh-CN">
                <a:latin typeface="Times New Roman" panose="02020603050405020304" pitchFamily="18" charset="0"/>
                <a:cs typeface="Times New Roman" panose="02020603050405020304" pitchFamily="18" charset="0"/>
              </a:rPr>
              <a:t>AI</a:t>
            </a:r>
            <a:r>
              <a:rPr lang="zh-CN" altLang="en-US">
                <a:latin typeface="Times New Roman" panose="02020603050405020304" pitchFamily="18" charset="0"/>
                <a:cs typeface="Times New Roman" panose="02020603050405020304" pitchFamily="18" charset="0"/>
              </a:rPr>
              <a:t>场景</a:t>
            </a:r>
            <a:r>
              <a:rPr lang="zh-CN" altLang="en-US"/>
              <a:t>）</a:t>
            </a:r>
            <a:endParaRPr lang="zh-CN" altLang="en-US"/>
          </a:p>
        </p:txBody>
      </p:sp>
      <p:pic>
        <p:nvPicPr>
          <p:cNvPr id="4" name="图片 3"/>
          <p:cNvPicPr>
            <a:picLocks noChangeAspect="1"/>
          </p:cNvPicPr>
          <p:nvPr/>
        </p:nvPicPr>
        <p:blipFill>
          <a:blip r:embed="rId1"/>
          <a:stretch>
            <a:fillRect/>
          </a:stretch>
        </p:blipFill>
        <p:spPr>
          <a:xfrm>
            <a:off x="611505" y="1196975"/>
            <a:ext cx="7687310" cy="4180840"/>
          </a:xfrm>
          <a:prstGeom prst="rect">
            <a:avLst/>
          </a:prstGeom>
        </p:spPr>
      </p:pic>
      <p:sp>
        <p:nvSpPr>
          <p:cNvPr id="5" name="文本框 4"/>
          <p:cNvSpPr txBox="1"/>
          <p:nvPr/>
        </p:nvSpPr>
        <p:spPr>
          <a:xfrm>
            <a:off x="393065" y="5535930"/>
            <a:ext cx="8293735" cy="983615"/>
          </a:xfrm>
          <a:prstGeom prst="rect">
            <a:avLst/>
          </a:prstGeom>
          <a:noFill/>
        </p:spPr>
        <p:txBody>
          <a:bodyPr wrap="square" rtlCol="0" anchor="t">
            <a:spAutoFit/>
          </a:bodyPr>
          <a:p>
            <a:pPr marL="285750" indent="-285750" algn="just">
              <a:buFont typeface="Arial" panose="020B0604020202020204" pitchFamily="34" charset="0"/>
              <a:buChar char="•"/>
            </a:pPr>
            <a:r>
              <a:rPr lang="zh-CN" altLang="en-US" sz="20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近 20 年间，运算设备的算力提高了 90000 倍；存储器和通讯带宽的增长只有 30 倍，和算力相比提高幅度非常缓慢</a:t>
            </a:r>
            <a:r>
              <a:rPr lang="zh-CN" altLang="en-US" sz="1800">
                <a:solidFill>
                  <a:schemeClr val="tx1"/>
                </a:solidFill>
                <a:latin typeface="Times New Roman" panose="02020603050405020304" pitchFamily="18" charset="0"/>
                <a:cs typeface="Times New Roman" panose="02020603050405020304" pitchFamily="18" charset="0"/>
              </a:rPr>
              <a:t>。</a:t>
            </a:r>
            <a:endParaRPr lang="zh-CN" altLang="en-US" sz="180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zh-CN" altLang="en-US" sz="1800">
                <a:solidFill>
                  <a:schemeClr val="tx1"/>
                </a:solidFill>
                <a:latin typeface="Times New Roman" panose="02020603050405020304" pitchFamily="18" charset="0"/>
                <a:cs typeface="Times New Roman" panose="02020603050405020304" pitchFamily="18" charset="0"/>
              </a:rPr>
              <a:t>https://www.eet-china.com/mp/a215608.html</a:t>
            </a:r>
            <a:endParaRPr lang="zh-CN" altLang="en-US" sz="180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3.1.1 存储系统的定义</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0723" name="Rectangle 3"/>
          <p:cNvSpPr>
            <a:spLocks noGrp="1"/>
          </p:cNvSpPr>
          <p:nvPr>
            <p:ph idx="1"/>
            <p:custDataLst>
              <p:tags r:id="rId1"/>
            </p:custDataLst>
          </p:nvPr>
        </p:nvSpPr>
        <p:spPr>
          <a:xfrm>
            <a:off x="514985" y="1413510"/>
            <a:ext cx="8114030" cy="4637405"/>
          </a:xfrm>
          <a:noFill/>
          <a:ln>
            <a:noFill/>
          </a:ln>
        </p:spPr>
        <p:txBody>
          <a:bodyPr/>
          <a:p>
            <a:pPr eaLnBrk="1" latinLnBrk="0" hangingPunct="1">
              <a:spcBef>
                <a:spcPts val="1200"/>
              </a:spcBef>
            </a:pPr>
            <a:r>
              <a:rPr lang="zh-CN" altLang="en-US" sz="2400" dirty="0">
                <a:latin typeface="Times New Roman" panose="02020603050405020304" pitchFamily="18" charset="0"/>
                <a:cs typeface="Times New Roman" panose="02020603050405020304" pitchFamily="18" charset="0"/>
                <a:sym typeface="+mn-ea"/>
              </a:rPr>
              <a:t>在一台计算机中，通常有多种存储器</a:t>
            </a:r>
            <a:endParaRPr lang="zh-CN" altLang="en-US" sz="24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400" dirty="0">
                <a:latin typeface="Times New Roman" panose="02020603050405020304" pitchFamily="18" charset="0"/>
                <a:cs typeface="Times New Roman" panose="02020603050405020304" pitchFamily="18" charset="0"/>
                <a:sym typeface="+mn-ea"/>
              </a:rPr>
              <a:t>用途</a:t>
            </a:r>
            <a:endParaRPr lang="zh-CN" altLang="en-US" sz="24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主存储器、</a:t>
            </a:r>
            <a:r>
              <a:rPr lang="en-US" altLang="zh-CN" sz="2000" dirty="0">
                <a:latin typeface="Times New Roman" panose="02020603050405020304" pitchFamily="18" charset="0"/>
                <a:cs typeface="Times New Roman" panose="02020603050405020304" pitchFamily="18" charset="0"/>
                <a:sym typeface="+mn-ea"/>
              </a:rPr>
              <a:t>Cache</a:t>
            </a:r>
            <a:r>
              <a:rPr lang="zh-CN" altLang="en-US" sz="2000" dirty="0">
                <a:latin typeface="Times New Roman" panose="02020603050405020304" pitchFamily="18" charset="0"/>
                <a:cs typeface="Times New Roman" panose="02020603050405020304" pitchFamily="18" charset="0"/>
                <a:sym typeface="+mn-ea"/>
              </a:rPr>
              <a:t>、通用寄存器、先行缓冲存储器、磁盘存储器、磁带存储器、光盘存储器等</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400" dirty="0">
                <a:latin typeface="Times New Roman" panose="02020603050405020304" pitchFamily="18" charset="0"/>
                <a:cs typeface="Times New Roman" panose="02020603050405020304" pitchFamily="18" charset="0"/>
                <a:sym typeface="+mn-ea"/>
              </a:rPr>
              <a:t>材料工艺</a:t>
            </a:r>
            <a:endParaRPr lang="zh-CN" altLang="en-US" sz="24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en-US" altLang="zh-CN" sz="2000" dirty="0">
                <a:latin typeface="Times New Roman" panose="02020603050405020304" pitchFamily="18" charset="0"/>
                <a:cs typeface="Times New Roman" panose="02020603050405020304" pitchFamily="18" charset="0"/>
                <a:sym typeface="+mn-ea"/>
              </a:rPr>
              <a:t>ECL</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TTL</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MOS</a:t>
            </a:r>
            <a:endParaRPr lang="en-US" altLang="zh-CN" sz="20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磁表面、激光</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en-US" altLang="zh-CN" sz="2000" dirty="0">
                <a:latin typeface="Times New Roman" panose="02020603050405020304" pitchFamily="18" charset="0"/>
                <a:cs typeface="Times New Roman" panose="02020603050405020304" pitchFamily="18" charset="0"/>
                <a:sym typeface="+mn-ea"/>
              </a:rPr>
              <a:t>SRAM</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DRAM</a:t>
            </a:r>
            <a:endParaRPr lang="en-US" altLang="zh-CN"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400" dirty="0">
                <a:latin typeface="Times New Roman" panose="02020603050405020304" pitchFamily="18" charset="0"/>
                <a:cs typeface="Times New Roman" panose="02020603050405020304" pitchFamily="18" charset="0"/>
                <a:sym typeface="+mn-ea"/>
              </a:rPr>
              <a:t>访问方式</a:t>
            </a:r>
            <a:endParaRPr lang="zh-CN" altLang="en-US" sz="24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直接译码、先进先出、随机访问、相联访问、块传送、文件组</a:t>
            </a:r>
            <a:endParaRPr lang="zh-CN" altLang="en-US" sz="2000" b="0" dirty="0">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存储系统的定义</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414722" name="Rectangle 2"/>
          <p:cNvSpPr>
            <a:spLocks noChangeArrowheads="1"/>
          </p:cNvSpPr>
          <p:nvPr>
            <p:custDataLst>
              <p:tags r:id="rId1"/>
            </p:custDataLst>
          </p:nvPr>
        </p:nvSpPr>
        <p:spPr bwMode="auto">
          <a:xfrm>
            <a:off x="394970" y="1188720"/>
            <a:ext cx="8280400" cy="47986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lvl1pPr indent="276225">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marL="342900" marR="0" lvl="0" indent="-342900" algn="just" rtl="0" eaLnBrk="1" hangingPunct="1">
              <a:lnSpc>
                <a:spcPct val="100000"/>
              </a:lnSpc>
              <a:spcBef>
                <a:spcPts val="1200"/>
              </a:spcBef>
              <a:buClr>
                <a:schemeClr val="hlink"/>
              </a:buClr>
              <a:buSzTx/>
              <a:buFont typeface="Wingdings" panose="05000000000000000000" pitchFamily="2" charset="2"/>
              <a:buChar char="v"/>
            </a:pPr>
            <a:r>
              <a:rPr lang="zh-CN" altLang="en-GB" sz="2400" i="0" u="none" strike="noStrike" kern="0" cap="none" spc="0" normalizeH="0" baseline="0" dirty="0">
                <a:latin typeface="Times New Roman" panose="02020603050405020304" pitchFamily="18" charset="0"/>
                <a:ea typeface="+mn-ea"/>
                <a:cs typeface="Times New Roman" panose="02020603050405020304" pitchFamily="18" charset="0"/>
              </a:rPr>
              <a:t>存储系统的关键</a:t>
            </a:r>
            <a:endParaRPr lang="zh-CN" altLang="en-GB" sz="2400" i="0" u="none" strike="noStrike" kern="0" cap="none" spc="0" normalizeH="0" baseline="0" dirty="0">
              <a:latin typeface="Times New Roman" panose="02020603050405020304" pitchFamily="18" charset="0"/>
              <a:ea typeface="+mn-ea"/>
              <a:cs typeface="Times New Roman" panose="02020603050405020304" pitchFamily="18" charset="0"/>
            </a:endParaRPr>
          </a:p>
          <a:p>
            <a:pPr marL="742950" marR="0" lvl="1" indent="-285750" algn="l" rtl="0" eaLnBrk="1" hangingPunct="1">
              <a:lnSpc>
                <a:spcPct val="100000"/>
              </a:lnSpc>
              <a:spcBef>
                <a:spcPts val="1200"/>
              </a:spcBef>
              <a:buClr>
                <a:schemeClr val="accent1"/>
              </a:buClr>
              <a:buSzTx/>
              <a:buFont typeface="Wingdings" panose="05000000000000000000" pitchFamily="2" charset="2"/>
              <a:buChar char="§"/>
            </a:pPr>
            <a:r>
              <a:rPr lang="zh-CN" altLang="en-US" sz="2000" i="0" u="none" strike="noStrike" kern="0" cap="none" spc="0" normalizeH="0" baseline="0" dirty="0">
                <a:latin typeface="Times New Roman" panose="02020603050405020304" pitchFamily="18" charset="0"/>
                <a:ea typeface="+mn-ea"/>
                <a:cs typeface="Times New Roman" panose="02020603050405020304" pitchFamily="18" charset="0"/>
              </a:rPr>
              <a:t>组织好速度、容量和价格均不相同的存储器</a:t>
            </a:r>
            <a:endParaRPr lang="zh-CN" altLang="en-US" sz="2000" i="0" u="none" strike="noStrike" kern="0" cap="none" spc="0" normalizeH="0" baseline="0" dirty="0">
              <a:latin typeface="Times New Roman" panose="02020603050405020304" pitchFamily="18" charset="0"/>
              <a:ea typeface="+mn-ea"/>
              <a:cs typeface="Times New Roman" panose="02020603050405020304" pitchFamily="18" charset="0"/>
            </a:endParaRPr>
          </a:p>
          <a:p>
            <a:pPr marL="1257300" marR="0" lvl="2" indent="-342900" algn="just" rtl="0" eaLnBrk="1" hangingPunct="1">
              <a:lnSpc>
                <a:spcPct val="100000"/>
              </a:lnSpc>
              <a:spcBef>
                <a:spcPts val="600"/>
              </a:spcBef>
              <a:buClr>
                <a:srgbClr val="2B93FF"/>
              </a:buClr>
              <a:buSzPct val="50000"/>
              <a:buFont typeface="Wingdings" panose="05000000000000000000" charset="0"/>
              <a:buChar char="n"/>
            </a:pPr>
            <a:r>
              <a:rPr lang="zh-CN" altLang="en-GB" sz="2000" i="0" u="none" strike="noStrike" kern="0" cap="none" spc="0" normalizeH="0" baseline="0" dirty="0">
                <a:latin typeface="Times New Roman" panose="02020603050405020304" pitchFamily="18" charset="0"/>
                <a:ea typeface="+mn-ea"/>
                <a:cs typeface="Times New Roman" panose="02020603050405020304" pitchFamily="18" charset="0"/>
              </a:rPr>
              <a:t>速度接近</a:t>
            </a:r>
            <a:r>
              <a:rPr lang="zh-CN" altLang="en-GB" sz="2000" i="0" u="none" strike="noStrike" kern="0" cap="none" spc="0" normalizeH="0" baseline="0" dirty="0">
                <a:solidFill>
                  <a:srgbClr val="FF0000"/>
                </a:solidFill>
                <a:latin typeface="Times New Roman" panose="02020603050405020304" pitchFamily="18" charset="0"/>
                <a:ea typeface="+mn-ea"/>
                <a:cs typeface="Times New Roman" panose="02020603050405020304" pitchFamily="18" charset="0"/>
              </a:rPr>
              <a:t>速度最快</a:t>
            </a:r>
            <a:r>
              <a:rPr lang="zh-CN" altLang="en-GB" sz="2000" i="0" u="none" strike="noStrike" kern="0" cap="none" spc="0" normalizeH="0" baseline="0" dirty="0">
                <a:latin typeface="Times New Roman" panose="02020603050405020304" pitchFamily="18" charset="0"/>
                <a:ea typeface="+mn-ea"/>
                <a:cs typeface="Times New Roman" panose="02020603050405020304" pitchFamily="18" charset="0"/>
              </a:rPr>
              <a:t>的那个存储器</a:t>
            </a:r>
            <a:endParaRPr lang="zh-CN" altLang="en-GB" sz="2000" i="0" u="none" strike="noStrike" kern="0" cap="none" spc="0" normalizeH="0" baseline="0" dirty="0">
              <a:latin typeface="Times New Roman" panose="02020603050405020304" pitchFamily="18" charset="0"/>
              <a:ea typeface="+mn-ea"/>
              <a:cs typeface="Times New Roman" panose="02020603050405020304" pitchFamily="18" charset="0"/>
            </a:endParaRPr>
          </a:p>
          <a:p>
            <a:pPr marL="1257300" marR="0" lvl="2" indent="-342900" algn="just" rtl="0" eaLnBrk="1" hangingPunct="1">
              <a:lnSpc>
                <a:spcPct val="100000"/>
              </a:lnSpc>
              <a:spcBef>
                <a:spcPts val="600"/>
              </a:spcBef>
              <a:buClr>
                <a:srgbClr val="2B93FF"/>
              </a:buClr>
              <a:buSzPct val="50000"/>
              <a:buFont typeface="Wingdings" panose="05000000000000000000" charset="0"/>
              <a:buChar char="n"/>
            </a:pPr>
            <a:r>
              <a:rPr lang="zh-CN" altLang="en-GB" sz="2000" i="0" u="none" strike="noStrike" kern="0" cap="none" spc="0" normalizeH="0" baseline="0" dirty="0">
                <a:latin typeface="Times New Roman" panose="02020603050405020304" pitchFamily="18" charset="0"/>
                <a:ea typeface="+mn-ea"/>
                <a:cs typeface="Times New Roman" panose="02020603050405020304" pitchFamily="18" charset="0"/>
              </a:rPr>
              <a:t>存储容量与</a:t>
            </a:r>
            <a:r>
              <a:rPr lang="zh-CN" altLang="en-GB" sz="2000" i="0" u="none" strike="noStrike" kern="0" cap="none" spc="0" normalizeH="0" baseline="0" dirty="0">
                <a:solidFill>
                  <a:srgbClr val="FF0000"/>
                </a:solidFill>
                <a:latin typeface="Times New Roman" panose="02020603050405020304" pitchFamily="18" charset="0"/>
                <a:ea typeface="+mn-ea"/>
                <a:cs typeface="Times New Roman" panose="02020603050405020304" pitchFamily="18" charset="0"/>
              </a:rPr>
              <a:t>容量最大</a:t>
            </a:r>
            <a:r>
              <a:rPr lang="zh-CN" altLang="en-GB" sz="2000" i="0" u="none" strike="noStrike" kern="0" cap="none" spc="0" normalizeH="0" baseline="0" dirty="0">
                <a:latin typeface="Times New Roman" panose="02020603050405020304" pitchFamily="18" charset="0"/>
                <a:ea typeface="+mn-ea"/>
                <a:cs typeface="Times New Roman" panose="02020603050405020304" pitchFamily="18" charset="0"/>
              </a:rPr>
              <a:t>的那个存储器相等</a:t>
            </a:r>
            <a:endParaRPr lang="zh-CN" altLang="en-GB" sz="2000" i="0" u="none" strike="noStrike" kern="0" cap="none" spc="0" normalizeH="0" baseline="0" dirty="0">
              <a:latin typeface="Times New Roman" panose="02020603050405020304" pitchFamily="18" charset="0"/>
              <a:ea typeface="+mn-ea"/>
              <a:cs typeface="Times New Roman" panose="02020603050405020304" pitchFamily="18" charset="0"/>
            </a:endParaRPr>
          </a:p>
          <a:p>
            <a:pPr marL="1257300" marR="0" lvl="2" indent="-342900" algn="just" rtl="0" eaLnBrk="1" hangingPunct="1">
              <a:lnSpc>
                <a:spcPct val="100000"/>
              </a:lnSpc>
              <a:spcBef>
                <a:spcPts val="600"/>
              </a:spcBef>
              <a:buClr>
                <a:srgbClr val="2B93FF"/>
              </a:buClr>
              <a:buSzPct val="50000"/>
              <a:buFont typeface="Wingdings" panose="05000000000000000000" charset="0"/>
              <a:buChar char="n"/>
            </a:pPr>
            <a:r>
              <a:rPr lang="zh-CN" altLang="en-GB" sz="2000" i="0" u="none" strike="noStrike" kern="0" cap="none" spc="0" normalizeH="0" baseline="0" dirty="0">
                <a:latin typeface="Times New Roman" panose="02020603050405020304" pitchFamily="18" charset="0"/>
                <a:ea typeface="+mn-ea"/>
                <a:cs typeface="Times New Roman" panose="02020603050405020304" pitchFamily="18" charset="0"/>
              </a:rPr>
              <a:t>单位容量的价</a:t>
            </a:r>
            <a:r>
              <a:rPr lang="zh-CN" altLang="en-GB" sz="2000" i="0" u="none" strike="noStrike" kern="0" cap="none" spc="0" normalizeH="0" baseline="0" dirty="0">
                <a:solidFill>
                  <a:srgbClr val="FF0000"/>
                </a:solidFill>
                <a:latin typeface="Times New Roman" panose="02020603050405020304" pitchFamily="18" charset="0"/>
                <a:ea typeface="+mn-ea"/>
                <a:cs typeface="Times New Roman" panose="02020603050405020304" pitchFamily="18" charset="0"/>
              </a:rPr>
              <a:t>格接近最便宜</a:t>
            </a:r>
            <a:r>
              <a:rPr lang="zh-CN" altLang="en-GB" sz="2000" i="0" u="none" strike="noStrike" kern="0" cap="none" spc="0" normalizeH="0" baseline="0" dirty="0">
                <a:latin typeface="Times New Roman" panose="02020603050405020304" pitchFamily="18" charset="0"/>
                <a:ea typeface="+mn-ea"/>
                <a:cs typeface="Times New Roman" panose="02020603050405020304" pitchFamily="18" charset="0"/>
              </a:rPr>
              <a:t>的那个存储器</a:t>
            </a:r>
            <a:endParaRPr lang="zh-CN" altLang="en-GB" sz="2000" i="0" u="none" strike="noStrike" kern="0" cap="none" spc="0" normalizeH="0" baseline="0" dirty="0">
              <a:latin typeface="Times New Roman" panose="02020603050405020304" pitchFamily="18" charset="0"/>
              <a:ea typeface="+mn-ea"/>
              <a:cs typeface="Times New Roman" panose="02020603050405020304" pitchFamily="18" charset="0"/>
            </a:endParaRPr>
          </a:p>
          <a:p>
            <a:pPr marL="742950" marR="0" lvl="1" indent="-285750" algn="l" rtl="0" eaLnBrk="1" hangingPunct="1">
              <a:lnSpc>
                <a:spcPct val="100000"/>
              </a:lnSpc>
              <a:spcBef>
                <a:spcPts val="1200"/>
              </a:spcBef>
              <a:buClr>
                <a:schemeClr val="accent1"/>
              </a:buClr>
              <a:buSzTx/>
              <a:buFont typeface="Wingdings" panose="05000000000000000000" pitchFamily="2" charset="2"/>
              <a:buChar char="§"/>
            </a:pPr>
            <a:r>
              <a:rPr lang="zh-CN" altLang="en-US" sz="2000" i="0" u="none" strike="noStrike" kern="0" cap="none" spc="0" normalizeH="0" baseline="0" dirty="0">
                <a:latin typeface="Times New Roman" panose="02020603050405020304" pitchFamily="18" charset="0"/>
                <a:ea typeface="+mn-ea"/>
                <a:cs typeface="Times New Roman" panose="02020603050405020304" pitchFamily="18" charset="0"/>
              </a:rPr>
              <a:t>存储系统(存储体系、存储层次)</a:t>
            </a:r>
            <a:endParaRPr lang="zh-CN" altLang="en-US" sz="2000" i="0" u="none" strike="noStrike" kern="0" cap="none" spc="0" normalizeH="0" baseline="0" dirty="0">
              <a:latin typeface="Times New Roman" panose="02020603050405020304" pitchFamily="18" charset="0"/>
              <a:ea typeface="+mn-ea"/>
              <a:cs typeface="Times New Roman" panose="02020603050405020304" pitchFamily="18" charset="0"/>
            </a:endParaRPr>
          </a:p>
          <a:p>
            <a:pPr marL="1257300" marR="0" lvl="2" indent="-342900" algn="just" rtl="0" eaLnBrk="1" hangingPunct="1">
              <a:lnSpc>
                <a:spcPct val="100000"/>
              </a:lnSpc>
              <a:spcBef>
                <a:spcPts val="1200"/>
              </a:spcBef>
              <a:buClr>
                <a:srgbClr val="2B93FF"/>
              </a:buClr>
              <a:buSzPct val="50000"/>
              <a:buFont typeface="Wingdings" panose="05000000000000000000" charset="0"/>
              <a:buChar char="n"/>
            </a:pPr>
            <a:r>
              <a:rPr lang="zh-CN" altLang="en-GB" sz="2000" i="0" u="none" strike="noStrike" kern="0" cap="none" spc="0" normalizeH="0" baseline="0" dirty="0">
                <a:latin typeface="Times New Roman" panose="02020603050405020304" pitchFamily="18" charset="0"/>
                <a:ea typeface="+mn-ea"/>
                <a:cs typeface="Times New Roman" panose="02020603050405020304" pitchFamily="18" charset="0"/>
              </a:rPr>
              <a:t>两个或两个以上</a:t>
            </a:r>
            <a:r>
              <a:rPr lang="zh-CN" altLang="en-GB" sz="2000" i="0" u="none" strike="noStrike" kern="0" cap="none" spc="0" normalizeH="0" baseline="0" dirty="0">
                <a:solidFill>
                  <a:srgbClr val="FF0000"/>
                </a:solidFill>
                <a:latin typeface="Times New Roman" panose="02020603050405020304" pitchFamily="18" charset="0"/>
                <a:ea typeface="+mn-ea"/>
                <a:cs typeface="Times New Roman" panose="02020603050405020304" pitchFamily="18" charset="0"/>
              </a:rPr>
              <a:t>速度、容量和价格各不相同</a:t>
            </a:r>
            <a:r>
              <a:rPr lang="zh-CN" altLang="en-GB" sz="2000" i="0" u="none" strike="noStrike" kern="0" cap="none" spc="0" normalizeH="0" baseline="0" dirty="0">
                <a:latin typeface="Times New Roman" panose="02020603050405020304" pitchFamily="18" charset="0"/>
                <a:ea typeface="+mn-ea"/>
                <a:cs typeface="Times New Roman" panose="02020603050405020304" pitchFamily="18" charset="0"/>
              </a:rPr>
              <a:t>的存储器用</a:t>
            </a:r>
            <a:r>
              <a:rPr lang="zh-CN" altLang="en-GB" sz="2000" i="0" u="none" strike="noStrike" kern="0" cap="none" spc="0" normalizeH="0" baseline="0" dirty="0">
                <a:solidFill>
                  <a:srgbClr val="FF0000"/>
                </a:solidFill>
                <a:latin typeface="Times New Roman" panose="02020603050405020304" pitchFamily="18" charset="0"/>
                <a:ea typeface="+mn-ea"/>
                <a:cs typeface="Times New Roman" panose="02020603050405020304" pitchFamily="18" charset="0"/>
              </a:rPr>
              <a:t>硬件、软件、或软件与硬件相结合</a:t>
            </a:r>
            <a:r>
              <a:rPr lang="zh-CN" altLang="en-GB" sz="2000" i="0" u="none" strike="noStrike" kern="0" cap="none" spc="0" normalizeH="0" baseline="0" dirty="0">
                <a:latin typeface="Times New Roman" panose="02020603050405020304" pitchFamily="18" charset="0"/>
                <a:ea typeface="+mn-ea"/>
                <a:cs typeface="Times New Roman" panose="02020603050405020304" pitchFamily="18" charset="0"/>
              </a:rPr>
              <a:t>的方法连接成为一个存储系统</a:t>
            </a:r>
            <a:endParaRPr lang="zh-CN" altLang="en-GB" sz="2000" i="0" u="none" strike="noStrike" kern="0" cap="none" spc="0" normalizeH="0" baseline="0" dirty="0">
              <a:latin typeface="Times New Roman" panose="02020603050405020304" pitchFamily="18" charset="0"/>
              <a:ea typeface="+mn-ea"/>
              <a:cs typeface="Times New Roman" panose="02020603050405020304" pitchFamily="18" charset="0"/>
            </a:endParaRPr>
          </a:p>
          <a:p>
            <a:pPr marL="742950" marR="0" lvl="1" indent="-285750" algn="l" rtl="0" eaLnBrk="1" hangingPunct="1">
              <a:lnSpc>
                <a:spcPct val="100000"/>
              </a:lnSpc>
              <a:spcBef>
                <a:spcPts val="1200"/>
              </a:spcBef>
              <a:buClr>
                <a:schemeClr val="accent1"/>
              </a:buClr>
              <a:buSzTx/>
              <a:buFont typeface="Wingdings" panose="05000000000000000000" pitchFamily="2" charset="2"/>
              <a:buChar char="§"/>
            </a:pPr>
            <a:r>
              <a:rPr lang="zh-CN" altLang="en-US" sz="2000" i="0" u="none" strike="noStrike" kern="0" cap="none" spc="0" normalizeH="0" baseline="0" dirty="0">
                <a:latin typeface="Times New Roman" panose="02020603050405020304" pitchFamily="18" charset="0"/>
                <a:ea typeface="+mn-ea"/>
                <a:cs typeface="Times New Roman" panose="02020603050405020304" pitchFamily="18" charset="0"/>
              </a:rPr>
              <a:t>这个系统对应用程序员透明</a:t>
            </a:r>
            <a:endParaRPr lang="zh-CN" altLang="en-US" sz="2000" i="0" u="none" strike="noStrike" kern="0" cap="none" spc="0" normalizeH="0" baseline="0" dirty="0">
              <a:latin typeface="Times New Roman" panose="02020603050405020304" pitchFamily="18" charset="0"/>
              <a:ea typeface="+mn-ea"/>
              <a:cs typeface="Times New Roman" panose="02020603050405020304" pitchFamily="18" charset="0"/>
            </a:endParaRPr>
          </a:p>
          <a:p>
            <a:pPr marL="1257300" marR="0" lvl="2" indent="-342900" algn="just" rtl="0" eaLnBrk="1" hangingPunct="1">
              <a:lnSpc>
                <a:spcPct val="100000"/>
              </a:lnSpc>
              <a:spcBef>
                <a:spcPts val="600"/>
              </a:spcBef>
              <a:buClr>
                <a:srgbClr val="2B93FF"/>
              </a:buClr>
              <a:buSzPct val="50000"/>
              <a:buFont typeface="Wingdings" panose="05000000000000000000" charset="0"/>
              <a:buChar char="n"/>
            </a:pPr>
            <a:r>
              <a:rPr lang="zh-CN" altLang="en-GB" sz="2000" i="0" u="none" strike="noStrike" kern="0" cap="none" spc="0" normalizeH="0" baseline="0" dirty="0">
                <a:latin typeface="Times New Roman" panose="02020603050405020304" pitchFamily="18" charset="0"/>
                <a:ea typeface="+mn-ea"/>
                <a:cs typeface="Times New Roman" panose="02020603050405020304" pitchFamily="18" charset="0"/>
              </a:rPr>
              <a:t>从应用程序员看，它是一个存储器</a:t>
            </a:r>
            <a:endParaRPr lang="zh-CN" altLang="en-GB" sz="2400" i="0" u="none" strike="noStrike" kern="0" cap="none" spc="0" normalizeH="0" baseline="0" dirty="0">
              <a:latin typeface="Times New Roman" panose="02020603050405020304" pitchFamily="18" charset="0"/>
              <a:ea typeface="+mn-ea"/>
              <a:cs typeface="Times New Roman" panose="02020603050405020304" pitchFamily="18" charset="0"/>
            </a:endParaRPr>
          </a:p>
          <a:p>
            <a:pPr marL="1257300" marR="0" lvl="2" indent="-342900" algn="just" rtl="0" eaLnBrk="1" hangingPunct="1">
              <a:lnSpc>
                <a:spcPct val="100000"/>
              </a:lnSpc>
              <a:spcBef>
                <a:spcPts val="600"/>
              </a:spcBef>
              <a:buClr>
                <a:srgbClr val="2B93FF"/>
              </a:buClr>
              <a:buSzPct val="50000"/>
              <a:buFont typeface="Wingdings" panose="05000000000000000000" charset="0"/>
              <a:buChar char="n"/>
            </a:pPr>
            <a:r>
              <a:rPr lang="zh-CN" altLang="en-GB" sz="2000" i="0" u="none" strike="noStrike" kern="0" cap="none" spc="0" normalizeH="0" baseline="0" dirty="0">
                <a:latin typeface="Times New Roman" panose="02020603050405020304" pitchFamily="18" charset="0"/>
                <a:ea typeface="+mn-ea"/>
                <a:cs typeface="Times New Roman" panose="02020603050405020304" pitchFamily="18" charset="0"/>
              </a:rPr>
              <a:t>虚拟存储系统：对应用程序员透明</a:t>
            </a:r>
            <a:endParaRPr lang="zh-CN" altLang="en-GB" sz="2000" i="0" u="none" strike="noStrike" kern="0" cap="none" spc="0" normalizeH="0" baseline="0" dirty="0">
              <a:latin typeface="Times New Roman" panose="02020603050405020304" pitchFamily="18" charset="0"/>
              <a:ea typeface="+mn-ea"/>
              <a:cs typeface="Times New Roman" panose="02020603050405020304" pitchFamily="18" charset="0"/>
            </a:endParaRPr>
          </a:p>
          <a:p>
            <a:pPr marL="1257300" marR="0" lvl="2" indent="-342900" algn="just" rtl="0" eaLnBrk="1" hangingPunct="1">
              <a:lnSpc>
                <a:spcPct val="100000"/>
              </a:lnSpc>
              <a:spcBef>
                <a:spcPts val="600"/>
              </a:spcBef>
              <a:buClr>
                <a:srgbClr val="2B93FF"/>
              </a:buClr>
              <a:buSzPct val="50000"/>
              <a:buFont typeface="Wingdings" panose="05000000000000000000" charset="0"/>
              <a:buChar char="n"/>
            </a:pPr>
            <a:r>
              <a:rPr lang="zh-CN" altLang="en-GB" sz="2000" i="0" u="none" strike="noStrike" kern="0" cap="none" spc="0" normalizeH="0" baseline="0" dirty="0">
                <a:latin typeface="Times New Roman" panose="02020603050405020304" pitchFamily="18" charset="0"/>
                <a:ea typeface="+mn-ea"/>
                <a:cs typeface="Times New Roman" panose="02020603050405020304" pitchFamily="18" charset="0"/>
              </a:rPr>
              <a:t>Cache存储系统：对系统程序员以上均透明</a:t>
            </a:r>
            <a:endParaRPr lang="zh-CN" altLang="en-GB" sz="2000" i="0" u="none" strike="noStrike" kern="0" cap="none" spc="0" normalizeH="0" baseline="0" dirty="0">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noFill/>
          <a:ln>
            <a:noFill/>
          </a:ln>
        </p:spPr>
        <p:txBody>
          <a:bodyPr vert="horz" rtlCol="0">
            <a:normAutofit/>
          </a:bodyPr>
          <a:lstStyle/>
          <a:p>
            <a:pPr lvl="0" algn="l" eaLnBrk="1" hangingPunct="1">
              <a:buClrTx/>
              <a:buSzTx/>
              <a:buFontTx/>
            </a:pP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由多个存储器构成的存储系统 </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414722" name="Rectangle 2"/>
          <p:cNvSpPr>
            <a:spLocks noChangeArrowheads="1"/>
          </p:cNvSpPr>
          <p:nvPr>
            <p:custDataLst>
              <p:tags r:id="rId1"/>
            </p:custDataLst>
          </p:nvPr>
        </p:nvSpPr>
        <p:spPr bwMode="auto">
          <a:xfrm>
            <a:off x="394970" y="1474470"/>
            <a:ext cx="8280400" cy="45129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lvl1pPr indent="276225">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marL="342900" indent="-342900" algn="just" eaLnBrk="1" hangingPunct="1">
              <a:spcBef>
                <a:spcPts val="1200"/>
              </a:spcBef>
              <a:buClr>
                <a:schemeClr val="hlink"/>
              </a:buClr>
              <a:buSzTx/>
              <a:buFont typeface="Wingdings" panose="05000000000000000000" pitchFamily="2" charset="2"/>
              <a:buChar char="v"/>
            </a:pPr>
            <a:r>
              <a:rPr lang="zh-CN" altLang="en-GB" sz="2400" kern="0" dirty="0">
                <a:latin typeface="Times New Roman" panose="02020603050405020304" pitchFamily="18" charset="0"/>
                <a:ea typeface="+mn-ea"/>
                <a:cs typeface="Times New Roman" panose="02020603050405020304" pitchFamily="18" charset="0"/>
                <a:sym typeface="+mn-ea"/>
              </a:rPr>
              <a:t>从外部看</a:t>
            </a:r>
            <a:endParaRPr lang="zh-CN" altLang="en-GB" sz="2400" kern="0" dirty="0">
              <a:latin typeface="Times New Roman" panose="02020603050405020304" pitchFamily="18" charset="0"/>
              <a:ea typeface="+mn-ea"/>
              <a:cs typeface="Times New Roman" panose="02020603050405020304" pitchFamily="18" charset="0"/>
            </a:endParaRPr>
          </a:p>
          <a:p>
            <a:pPr eaLnBrk="1" hangingPunct="1"/>
            <a:endParaRPr lang="zh-CN" altLang="en-US" sz="2000" dirty="0"/>
          </a:p>
          <a:p>
            <a:pPr eaLnBrk="1" hangingPunct="1"/>
            <a:endParaRPr lang="zh-CN" altLang="en-US" sz="2000" dirty="0"/>
          </a:p>
          <a:p>
            <a:pPr eaLnBrk="1" hangingPunct="1"/>
            <a:endParaRPr lang="zh-CN" altLang="en-US" sz="2000" dirty="0"/>
          </a:p>
          <a:p>
            <a:pPr eaLnBrk="1" hangingPunct="1"/>
            <a:endParaRPr lang="zh-CN" altLang="en-US" sz="2000" dirty="0"/>
          </a:p>
          <a:p>
            <a:pPr eaLnBrk="1" hangingPunct="1"/>
            <a:endParaRPr lang="zh-CN" altLang="en-US" sz="2000" dirty="0"/>
          </a:p>
          <a:p>
            <a:pPr eaLnBrk="1" hangingPunct="1"/>
            <a:endParaRPr lang="zh-CN" altLang="en-US" sz="2000" dirty="0"/>
          </a:p>
          <a:p>
            <a:pPr eaLnBrk="1" hangingPunct="1"/>
            <a:endParaRPr lang="zh-CN" altLang="en-US" sz="2000" dirty="0"/>
          </a:p>
          <a:p>
            <a:pPr eaLnBrk="1" hangingPunct="1"/>
            <a:endParaRPr lang="zh-CN" altLang="en-US" sz="2000" dirty="0"/>
          </a:p>
          <a:p>
            <a:pPr eaLnBrk="1" hangingPunct="1">
              <a:spcBef>
                <a:spcPts val="1200"/>
              </a:spcBef>
            </a:pPr>
            <a:r>
              <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T≈ min(T</a:t>
            </a:r>
            <a:r>
              <a:rPr lang="en-US" altLang="zh-CN" sz="2000" baseline="-25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1</a:t>
            </a:r>
            <a:r>
              <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 T</a:t>
            </a:r>
            <a:r>
              <a:rPr lang="en-US" altLang="zh-CN" sz="2000" baseline="-25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2</a:t>
            </a:r>
            <a:r>
              <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 …, T</a:t>
            </a:r>
            <a:r>
              <a:rPr lang="en-US" altLang="zh-CN" sz="2000" baseline="-25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n</a:t>
            </a:r>
            <a:r>
              <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0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sym typeface="+mn-ea"/>
              </a:rPr>
              <a:t>, </a:t>
            </a:r>
            <a:r>
              <a:rPr lang="zh-CN" altLang="en-US" sz="20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sym typeface="+mn-ea"/>
              </a:rPr>
              <a:t>用存储周期表示</a:t>
            </a:r>
            <a:endParaRPr lang="zh-CN" altLang="en-US" sz="20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a:p>
            <a:pPr eaLnBrk="1" hangingPunct="1">
              <a:spcBef>
                <a:spcPts val="1200"/>
              </a:spcBef>
            </a:pPr>
            <a:r>
              <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S = max(S</a:t>
            </a:r>
            <a:r>
              <a:rPr lang="en-US" altLang="zh-CN" sz="2000" baseline="-25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1</a:t>
            </a:r>
            <a:r>
              <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 S</a:t>
            </a:r>
            <a:r>
              <a:rPr lang="en-US" altLang="zh-CN" sz="2000" baseline="-25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2</a:t>
            </a:r>
            <a:r>
              <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 …, S</a:t>
            </a:r>
            <a:r>
              <a:rPr lang="en-US" altLang="zh-CN" sz="2000" baseline="-25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n</a:t>
            </a:r>
            <a:r>
              <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0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sym typeface="+mn-ea"/>
              </a:rPr>
              <a:t>, </a:t>
            </a:r>
            <a:r>
              <a:rPr lang="zh-CN" altLang="en-US" sz="20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sym typeface="+mn-ea"/>
              </a:rPr>
              <a:t>用</a:t>
            </a:r>
            <a:r>
              <a:rPr lang="en-US" altLang="zh-CN" sz="20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sym typeface="+mn-ea"/>
              </a:rPr>
              <a:t>MB</a:t>
            </a:r>
            <a:r>
              <a:rPr lang="zh-CN" altLang="en-US" sz="20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sym typeface="+mn-ea"/>
              </a:rPr>
              <a:t>或</a:t>
            </a:r>
            <a:r>
              <a:rPr lang="en-US" altLang="zh-CN" sz="20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sym typeface="+mn-ea"/>
              </a:rPr>
              <a:t>GB</a:t>
            </a:r>
            <a:r>
              <a:rPr lang="zh-CN" altLang="en-US" sz="20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sym typeface="+mn-ea"/>
              </a:rPr>
              <a:t>表示</a:t>
            </a:r>
            <a:endParaRPr lang="zh-CN" altLang="en-US" sz="20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a:p>
            <a:pPr eaLnBrk="1" hangingPunct="1">
              <a:spcBef>
                <a:spcPts val="1200"/>
              </a:spcBef>
            </a:pPr>
            <a:r>
              <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C≈ min(C</a:t>
            </a:r>
            <a:r>
              <a:rPr lang="en-US" altLang="zh-CN" sz="2000" baseline="-25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1</a:t>
            </a:r>
            <a:r>
              <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 C</a:t>
            </a:r>
            <a:r>
              <a:rPr lang="en-US" altLang="zh-CN" sz="2000" baseline="-25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2</a:t>
            </a:r>
            <a:r>
              <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 …, C</a:t>
            </a:r>
            <a:r>
              <a:rPr lang="en-US" altLang="zh-CN" sz="2000" baseline="-25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n</a:t>
            </a:r>
            <a:r>
              <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0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sym typeface="+mn-ea"/>
              </a:rPr>
              <a:t>, </a:t>
            </a:r>
            <a:r>
              <a:rPr lang="zh-CN" altLang="en-US" sz="20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sym typeface="+mn-ea"/>
              </a:rPr>
              <a:t>用每位的价格表示</a:t>
            </a:r>
            <a:endParaRPr lang="zh-CN" altLang="en-GB" sz="1800" i="0" u="none" strike="noStrike" kern="0" cap="none" spc="0" normalizeH="0" baseline="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30724" name="Group 3"/>
          <p:cNvGrpSpPr/>
          <p:nvPr/>
        </p:nvGrpSpPr>
        <p:grpSpPr>
          <a:xfrm>
            <a:off x="672148" y="2264093"/>
            <a:ext cx="8004175" cy="1527175"/>
            <a:chOff x="383" y="1055"/>
            <a:chExt cx="5042" cy="962"/>
          </a:xfrm>
        </p:grpSpPr>
        <p:sp>
          <p:nvSpPr>
            <p:cNvPr id="30726" name="Rectangle 4"/>
            <p:cNvSpPr/>
            <p:nvPr>
              <p:custDataLst>
                <p:tags r:id="rId2"/>
              </p:custDataLst>
            </p:nvPr>
          </p:nvSpPr>
          <p:spPr>
            <a:xfrm>
              <a:off x="527" y="1199"/>
              <a:ext cx="1202" cy="674"/>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eaLnBrk="1" hangingPunct="1">
                <a:lnSpc>
                  <a:spcPct val="80000"/>
                </a:lnSpc>
              </a:pPr>
              <a:r>
                <a:rPr lang="en-US" altLang="zh-CN" dirty="0">
                  <a:solidFill>
                    <a:schemeClr val="tx2"/>
                  </a:solidFill>
                  <a:latin typeface="Tahoma" panose="020B0604030504040204" pitchFamily="34" charset="0"/>
                </a:rPr>
                <a:t>M</a:t>
              </a:r>
              <a:r>
                <a:rPr lang="en-US" altLang="zh-CN" baseline="-25000" dirty="0">
                  <a:solidFill>
                    <a:schemeClr val="tx2"/>
                  </a:solidFill>
                  <a:latin typeface="Tahoma" panose="020B0604030504040204" pitchFamily="34" charset="0"/>
                </a:rPr>
                <a:t>1</a:t>
              </a:r>
              <a:endParaRPr lang="en-US" altLang="zh-CN" dirty="0">
                <a:solidFill>
                  <a:schemeClr val="tx2"/>
                </a:solidFill>
                <a:latin typeface="Tahoma" panose="020B0604030504040204" pitchFamily="34" charset="0"/>
              </a:endParaRPr>
            </a:p>
            <a:p>
              <a:pPr algn="ctr" eaLnBrk="1" hangingPunct="1">
                <a:lnSpc>
                  <a:spcPct val="80000"/>
                </a:lnSpc>
              </a:pPr>
              <a:r>
                <a:rPr lang="en-US" altLang="zh-CN" dirty="0">
                  <a:solidFill>
                    <a:schemeClr val="tx2"/>
                  </a:solidFill>
                  <a:latin typeface="Tahoma" panose="020B0604030504040204" pitchFamily="34" charset="0"/>
                </a:rPr>
                <a:t>(T</a:t>
              </a:r>
              <a:r>
                <a:rPr lang="en-US" altLang="zh-CN" baseline="-25000" dirty="0">
                  <a:solidFill>
                    <a:schemeClr val="tx2"/>
                  </a:solidFill>
                  <a:latin typeface="Tahoma" panose="020B0604030504040204" pitchFamily="34" charset="0"/>
                </a:rPr>
                <a:t>1</a:t>
              </a:r>
              <a:r>
                <a:rPr lang="en-US" altLang="zh-CN" dirty="0">
                  <a:solidFill>
                    <a:schemeClr val="tx2"/>
                  </a:solidFill>
                  <a:latin typeface="Tahoma" panose="020B0604030504040204" pitchFamily="34" charset="0"/>
                </a:rPr>
                <a:t>, S</a:t>
              </a:r>
              <a:r>
                <a:rPr lang="en-US" altLang="zh-CN" baseline="-25000" dirty="0">
                  <a:solidFill>
                    <a:schemeClr val="tx2"/>
                  </a:solidFill>
                  <a:latin typeface="Tahoma" panose="020B0604030504040204" pitchFamily="34" charset="0"/>
                </a:rPr>
                <a:t>1</a:t>
              </a:r>
              <a:r>
                <a:rPr lang="en-US" altLang="zh-CN" dirty="0">
                  <a:solidFill>
                    <a:schemeClr val="tx2"/>
                  </a:solidFill>
                  <a:latin typeface="Tahoma" panose="020B0604030504040204" pitchFamily="34" charset="0"/>
                </a:rPr>
                <a:t>, C</a:t>
              </a:r>
              <a:r>
                <a:rPr lang="en-US" altLang="zh-CN" baseline="-25000" dirty="0">
                  <a:solidFill>
                    <a:schemeClr val="tx2"/>
                  </a:solidFill>
                  <a:latin typeface="Tahoma" panose="020B0604030504040204" pitchFamily="34" charset="0"/>
                </a:rPr>
                <a:t>1</a:t>
              </a:r>
              <a:r>
                <a:rPr lang="en-US" altLang="zh-CN" dirty="0">
                  <a:solidFill>
                    <a:schemeClr val="tx2"/>
                  </a:solidFill>
                  <a:latin typeface="Tahoma" panose="020B0604030504040204" pitchFamily="34" charset="0"/>
                </a:rPr>
                <a:t>)</a:t>
              </a:r>
              <a:endParaRPr lang="en-US" altLang="zh-CN" dirty="0">
                <a:solidFill>
                  <a:schemeClr val="tx2"/>
                </a:solidFill>
                <a:latin typeface="Tahoma" panose="020B0604030504040204" pitchFamily="34" charset="0"/>
              </a:endParaRPr>
            </a:p>
          </p:txBody>
        </p:sp>
        <p:sp>
          <p:nvSpPr>
            <p:cNvPr id="30727" name="Rectangle 5"/>
            <p:cNvSpPr/>
            <p:nvPr>
              <p:custDataLst>
                <p:tags r:id="rId3"/>
              </p:custDataLst>
            </p:nvPr>
          </p:nvSpPr>
          <p:spPr>
            <a:xfrm>
              <a:off x="2159" y="1199"/>
              <a:ext cx="1202" cy="674"/>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eaLnBrk="1" hangingPunct="1">
                <a:lnSpc>
                  <a:spcPct val="80000"/>
                </a:lnSpc>
              </a:pPr>
              <a:r>
                <a:rPr lang="en-US" altLang="zh-CN" dirty="0">
                  <a:solidFill>
                    <a:schemeClr val="tx2"/>
                  </a:solidFill>
                  <a:latin typeface="Tahoma" panose="020B0604030504040204" pitchFamily="34" charset="0"/>
                </a:rPr>
                <a:t>M</a:t>
              </a:r>
              <a:r>
                <a:rPr lang="en-US" altLang="zh-CN" baseline="-25000" dirty="0">
                  <a:solidFill>
                    <a:schemeClr val="tx2"/>
                  </a:solidFill>
                  <a:latin typeface="Tahoma" panose="020B0604030504040204" pitchFamily="34" charset="0"/>
                </a:rPr>
                <a:t>2</a:t>
              </a:r>
              <a:endParaRPr lang="en-US" altLang="zh-CN" dirty="0">
                <a:solidFill>
                  <a:schemeClr val="tx2"/>
                </a:solidFill>
                <a:latin typeface="Tahoma" panose="020B0604030504040204" pitchFamily="34" charset="0"/>
              </a:endParaRPr>
            </a:p>
            <a:p>
              <a:pPr algn="ctr" eaLnBrk="1" hangingPunct="1">
                <a:lnSpc>
                  <a:spcPct val="80000"/>
                </a:lnSpc>
              </a:pPr>
              <a:r>
                <a:rPr lang="en-US" altLang="zh-CN" dirty="0">
                  <a:solidFill>
                    <a:schemeClr val="tx2"/>
                  </a:solidFill>
                  <a:latin typeface="Tahoma" panose="020B0604030504040204" pitchFamily="34" charset="0"/>
                </a:rPr>
                <a:t>(T</a:t>
              </a:r>
              <a:r>
                <a:rPr lang="en-US" altLang="zh-CN" baseline="-25000" dirty="0">
                  <a:solidFill>
                    <a:schemeClr val="tx2"/>
                  </a:solidFill>
                  <a:latin typeface="Tahoma" panose="020B0604030504040204" pitchFamily="34" charset="0"/>
                </a:rPr>
                <a:t>2</a:t>
              </a:r>
              <a:r>
                <a:rPr lang="en-US" altLang="zh-CN" dirty="0">
                  <a:solidFill>
                    <a:schemeClr val="tx2"/>
                  </a:solidFill>
                  <a:latin typeface="Tahoma" panose="020B0604030504040204" pitchFamily="34" charset="0"/>
                </a:rPr>
                <a:t>, S</a:t>
              </a:r>
              <a:r>
                <a:rPr lang="en-US" altLang="zh-CN" baseline="-25000" dirty="0">
                  <a:solidFill>
                    <a:schemeClr val="tx2"/>
                  </a:solidFill>
                  <a:latin typeface="Tahoma" panose="020B0604030504040204" pitchFamily="34" charset="0"/>
                </a:rPr>
                <a:t>2</a:t>
              </a:r>
              <a:r>
                <a:rPr lang="en-US" altLang="zh-CN" dirty="0">
                  <a:solidFill>
                    <a:schemeClr val="tx2"/>
                  </a:solidFill>
                  <a:latin typeface="Tahoma" panose="020B0604030504040204" pitchFamily="34" charset="0"/>
                </a:rPr>
                <a:t>, C</a:t>
              </a:r>
              <a:r>
                <a:rPr lang="en-US" altLang="zh-CN" baseline="-25000" dirty="0">
                  <a:solidFill>
                    <a:schemeClr val="tx2"/>
                  </a:solidFill>
                  <a:latin typeface="Tahoma" panose="020B0604030504040204" pitchFamily="34" charset="0"/>
                </a:rPr>
                <a:t>2</a:t>
              </a:r>
              <a:r>
                <a:rPr lang="en-US" altLang="zh-CN" dirty="0">
                  <a:solidFill>
                    <a:schemeClr val="tx2"/>
                  </a:solidFill>
                  <a:latin typeface="Tahoma" panose="020B0604030504040204" pitchFamily="34" charset="0"/>
                </a:rPr>
                <a:t>)</a:t>
              </a:r>
              <a:endParaRPr lang="en-US" altLang="zh-CN" dirty="0">
                <a:solidFill>
                  <a:schemeClr val="tx2"/>
                </a:solidFill>
                <a:latin typeface="Tahoma" panose="020B0604030504040204" pitchFamily="34" charset="0"/>
              </a:endParaRPr>
            </a:p>
          </p:txBody>
        </p:sp>
        <p:sp>
          <p:nvSpPr>
            <p:cNvPr id="30728" name="Rectangle 6"/>
            <p:cNvSpPr/>
            <p:nvPr>
              <p:custDataLst>
                <p:tags r:id="rId4"/>
              </p:custDataLst>
            </p:nvPr>
          </p:nvSpPr>
          <p:spPr>
            <a:xfrm>
              <a:off x="4127" y="1199"/>
              <a:ext cx="1202" cy="674"/>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eaLnBrk="1" hangingPunct="1">
                <a:lnSpc>
                  <a:spcPct val="80000"/>
                </a:lnSpc>
              </a:pPr>
              <a:r>
                <a:rPr lang="en-US" altLang="zh-CN" dirty="0">
                  <a:solidFill>
                    <a:schemeClr val="tx2"/>
                  </a:solidFill>
                  <a:latin typeface="Tahoma" panose="020B0604030504040204" pitchFamily="34" charset="0"/>
                </a:rPr>
                <a:t>M</a:t>
              </a:r>
              <a:r>
                <a:rPr lang="en-US" altLang="zh-CN" baseline="-25000" dirty="0">
                  <a:solidFill>
                    <a:schemeClr val="tx2"/>
                  </a:solidFill>
                  <a:latin typeface="Tahoma" panose="020B0604030504040204" pitchFamily="34" charset="0"/>
                </a:rPr>
                <a:t>n</a:t>
              </a:r>
              <a:endParaRPr lang="en-US" altLang="zh-CN" dirty="0">
                <a:solidFill>
                  <a:schemeClr val="tx2"/>
                </a:solidFill>
                <a:latin typeface="Tahoma" panose="020B0604030504040204" pitchFamily="34" charset="0"/>
              </a:endParaRPr>
            </a:p>
            <a:p>
              <a:pPr algn="ctr" eaLnBrk="1" hangingPunct="1">
                <a:lnSpc>
                  <a:spcPct val="80000"/>
                </a:lnSpc>
              </a:pPr>
              <a:r>
                <a:rPr lang="en-US" altLang="zh-CN" dirty="0">
                  <a:solidFill>
                    <a:schemeClr val="tx2"/>
                  </a:solidFill>
                  <a:latin typeface="Tahoma" panose="020B0604030504040204" pitchFamily="34" charset="0"/>
                </a:rPr>
                <a:t>(T</a:t>
              </a:r>
              <a:r>
                <a:rPr lang="en-US" altLang="zh-CN" baseline="-25000" dirty="0">
                  <a:solidFill>
                    <a:schemeClr val="tx2"/>
                  </a:solidFill>
                  <a:latin typeface="Tahoma" panose="020B0604030504040204" pitchFamily="34" charset="0"/>
                </a:rPr>
                <a:t>n</a:t>
              </a:r>
              <a:r>
                <a:rPr lang="en-US" altLang="zh-CN" dirty="0">
                  <a:solidFill>
                    <a:schemeClr val="tx2"/>
                  </a:solidFill>
                  <a:latin typeface="Tahoma" panose="020B0604030504040204" pitchFamily="34" charset="0"/>
                </a:rPr>
                <a:t>, S</a:t>
              </a:r>
              <a:r>
                <a:rPr lang="en-US" altLang="zh-CN" baseline="-25000" dirty="0">
                  <a:solidFill>
                    <a:schemeClr val="tx2"/>
                  </a:solidFill>
                  <a:latin typeface="Tahoma" panose="020B0604030504040204" pitchFamily="34" charset="0"/>
                </a:rPr>
                <a:t>n</a:t>
              </a:r>
              <a:r>
                <a:rPr lang="en-US" altLang="zh-CN" dirty="0">
                  <a:solidFill>
                    <a:schemeClr val="tx2"/>
                  </a:solidFill>
                  <a:latin typeface="Tahoma" panose="020B0604030504040204" pitchFamily="34" charset="0"/>
                </a:rPr>
                <a:t>, C</a:t>
              </a:r>
              <a:r>
                <a:rPr lang="en-US" altLang="zh-CN" baseline="-25000" dirty="0">
                  <a:solidFill>
                    <a:schemeClr val="tx2"/>
                  </a:solidFill>
                  <a:latin typeface="Tahoma" panose="020B0604030504040204" pitchFamily="34" charset="0"/>
                </a:rPr>
                <a:t>n</a:t>
              </a:r>
              <a:r>
                <a:rPr lang="en-US" altLang="zh-CN" dirty="0">
                  <a:solidFill>
                    <a:schemeClr val="tx2"/>
                  </a:solidFill>
                  <a:latin typeface="Tahoma" panose="020B0604030504040204" pitchFamily="34" charset="0"/>
                </a:rPr>
                <a:t>)</a:t>
              </a:r>
              <a:endParaRPr lang="en-US" altLang="zh-CN" dirty="0">
                <a:solidFill>
                  <a:schemeClr val="tx2"/>
                </a:solidFill>
                <a:latin typeface="Tahoma" panose="020B0604030504040204" pitchFamily="34" charset="0"/>
              </a:endParaRPr>
            </a:p>
          </p:txBody>
        </p:sp>
        <p:sp>
          <p:nvSpPr>
            <p:cNvPr id="30729" name="Line 7"/>
            <p:cNvSpPr/>
            <p:nvPr>
              <p:custDataLst>
                <p:tags r:id="rId5"/>
              </p:custDataLst>
            </p:nvPr>
          </p:nvSpPr>
          <p:spPr>
            <a:xfrm>
              <a:off x="1728" y="1536"/>
              <a:ext cx="432" cy="0"/>
            </a:xfrm>
            <a:prstGeom prst="line">
              <a:avLst/>
            </a:prstGeom>
            <a:ln w="25400" cap="flat" cmpd="sng">
              <a:solidFill>
                <a:schemeClr val="tx2"/>
              </a:solidFill>
              <a:prstDash val="solid"/>
              <a:headEnd type="triangle" w="lg" len="lg"/>
              <a:tailEnd type="triangle" w="lg" len="lg"/>
            </a:ln>
          </p:spPr>
        </p:sp>
        <p:sp>
          <p:nvSpPr>
            <p:cNvPr id="30730" name="Line 8"/>
            <p:cNvSpPr/>
            <p:nvPr>
              <p:custDataLst>
                <p:tags r:id="rId6"/>
              </p:custDataLst>
            </p:nvPr>
          </p:nvSpPr>
          <p:spPr>
            <a:xfrm>
              <a:off x="3360" y="1536"/>
              <a:ext cx="768" cy="0"/>
            </a:xfrm>
            <a:prstGeom prst="line">
              <a:avLst/>
            </a:prstGeom>
            <a:ln w="25400" cap="flat" cmpd="sng">
              <a:solidFill>
                <a:schemeClr val="tx2"/>
              </a:solidFill>
              <a:prstDash val="lgDash"/>
              <a:headEnd type="triangle" w="lg" len="lg"/>
              <a:tailEnd type="triangle" w="lg" len="lg"/>
            </a:ln>
          </p:spPr>
        </p:sp>
        <p:sp>
          <p:nvSpPr>
            <p:cNvPr id="30731" name="Rectangle 9"/>
            <p:cNvSpPr/>
            <p:nvPr>
              <p:custDataLst>
                <p:tags r:id="rId7"/>
              </p:custDataLst>
            </p:nvPr>
          </p:nvSpPr>
          <p:spPr>
            <a:xfrm>
              <a:off x="383" y="1055"/>
              <a:ext cx="5042" cy="962"/>
            </a:xfrm>
            <a:prstGeom prst="rect">
              <a:avLst/>
            </a:prstGeom>
            <a:noFill/>
            <a:ln w="25400" cap="flat" cmpd="sng">
              <a:solidFill>
                <a:schemeClr val="tx2"/>
              </a:solidFill>
              <a:prstDash val="lgDash"/>
              <a:miter/>
              <a:headEnd type="none" w="med" len="med"/>
              <a:tailEnd type="none" w="med" len="med"/>
            </a:ln>
          </p:spPr>
          <p:txBody>
            <a:bodyPr wrap="none" lIns="71438" tIns="36513" rIns="71438" bIns="36513" anchor="ctr" anchorCtr="0"/>
            <a:p>
              <a:pPr algn="ctr" eaLnBrk="1" hangingPunct="1">
                <a:lnSpc>
                  <a:spcPct val="80000"/>
                </a:lnSpc>
              </a:pPr>
              <a:endParaRPr lang="en-US" altLang="zh-CN" sz="1400" dirty="0">
                <a:latin typeface="Tahoma" panose="020B0604030504040204" pitchFamily="34" charset="0"/>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两种存储系统</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421890" name="Group 2"/>
          <p:cNvGraphicFramePr>
            <a:graphicFrameLocks noGrp="1"/>
          </p:cNvGraphicFramePr>
          <p:nvPr>
            <p:custDataLst>
              <p:tags r:id="rId1"/>
            </p:custDataLst>
          </p:nvPr>
        </p:nvGraphicFramePr>
        <p:xfrm>
          <a:off x="350520" y="1340485"/>
          <a:ext cx="8526145" cy="3292475"/>
        </p:xfrm>
        <a:graphic>
          <a:graphicData uri="http://schemas.openxmlformats.org/drawingml/2006/table">
            <a:tbl>
              <a:tblPr/>
              <a:tblGrid>
                <a:gridCol w="1231900"/>
                <a:gridCol w="3528060"/>
                <a:gridCol w="3765868"/>
              </a:tblGrid>
              <a:tr h="457200">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存储系统</a:t>
                      </a:r>
                      <a:endParaRPr kumimoji="0" lang="zh-CN" altLang="en-US" sz="20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T="45729" marB="45729" anchor="ctr" anchorCtr="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2"/>
                          </a:solidFill>
                          <a:effectLst/>
                          <a:latin typeface="Times New Roman" panose="02020603050405020304" pitchFamily="18" charset="0"/>
                          <a:ea typeface="黑体" panose="02010609060101010101" pitchFamily="49" charset="-122"/>
                          <a:cs typeface="Times New Roman" panose="02020603050405020304" pitchFamily="18" charset="0"/>
                        </a:rPr>
                        <a:t>Cache</a:t>
                      </a:r>
                      <a:r>
                        <a:rPr kumimoji="0" lang="zh-CN" altLang="en-US" sz="2000" b="0" i="0" u="none" strike="noStrike" cap="none" normalizeH="0" baseline="0">
                          <a:ln>
                            <a:noFill/>
                          </a:ln>
                          <a:solidFill>
                            <a:schemeClr val="tx2"/>
                          </a:solidFill>
                          <a:effectLst/>
                          <a:latin typeface="Times New Roman" panose="02020603050405020304" pitchFamily="18" charset="0"/>
                          <a:ea typeface="黑体" panose="02010609060101010101" pitchFamily="49" charset="-122"/>
                          <a:cs typeface="Times New Roman" panose="02020603050405020304" pitchFamily="18" charset="0"/>
                        </a:rPr>
                        <a:t>存储系统</a:t>
                      </a:r>
                      <a:endParaRPr kumimoji="0" lang="zh-CN" altLang="en-US" sz="2000" b="0" i="0" u="none" strike="noStrike" cap="none" normalizeH="0" baseline="0">
                        <a:ln>
                          <a:noFill/>
                        </a:ln>
                        <a:solidFill>
                          <a:schemeClr val="tx2"/>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729" marB="45729" anchor="ctr" anchorCtr="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a:ln>
                            <a:noFill/>
                          </a:ln>
                          <a:solidFill>
                            <a:schemeClr val="tx2"/>
                          </a:solidFill>
                          <a:effectLst/>
                          <a:latin typeface="Times New Roman" panose="02020603050405020304" pitchFamily="18" charset="0"/>
                          <a:ea typeface="黑体" panose="02010609060101010101" pitchFamily="49" charset="-122"/>
                        </a:rPr>
                        <a:t>虚拟存储系统</a:t>
                      </a:r>
                      <a:endParaRPr kumimoji="0" lang="zh-CN" altLang="en-US" sz="2000" b="0" i="0" u="none" strike="noStrike" cap="none" normalizeH="0" baseline="0">
                        <a:ln>
                          <a:noFill/>
                        </a:ln>
                        <a:solidFill>
                          <a:schemeClr val="tx2"/>
                        </a:solidFill>
                        <a:effectLst/>
                        <a:latin typeface="Times New Roman" panose="02020603050405020304" pitchFamily="18" charset="0"/>
                        <a:ea typeface="黑体" panose="02010609060101010101" pitchFamily="49" charset="-122"/>
                      </a:endParaRPr>
                    </a:p>
                  </a:txBody>
                  <a:tcPr marT="45729" marB="45729" anchor="ctr" anchorCtr="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823119">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组成</a:t>
                      </a:r>
                      <a:endParaRPr kumimoji="0" lang="zh-CN" altLang="en-US" sz="20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T="45729" marB="45729" anchor="ctr" anchorCtr="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由</a:t>
                      </a:r>
                      <a:r>
                        <a:rPr kumimoji="0" lang="en-US" altLang="zh-CN" sz="20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Cache</a:t>
                      </a:r>
                      <a:r>
                        <a:rPr kumimoji="0" lang="zh-CN" altLang="en-US" sz="20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和主存储器构成</a:t>
                      </a:r>
                      <a:endParaRPr kumimoji="0" lang="zh-CN" altLang="en-US" sz="20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729" marB="45729" anchor="ctr" anchorCtr="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由主存储器和磁盘存储器构成</a:t>
                      </a:r>
                      <a:endParaRPr kumimoji="0" lang="zh-CN" altLang="en-US" sz="20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T="45729" marB="45729" anchor="ctr" anchorCtr="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457288">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主要目的</a:t>
                      </a:r>
                      <a:endParaRPr kumimoji="0" lang="zh-CN" altLang="en-US" sz="20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T="45729" marB="45729" anchor="ctr" anchorCtr="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提高存储器速度</a:t>
                      </a:r>
                      <a:endParaRPr kumimoji="0" lang="zh-CN" altLang="en-US" sz="20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T="45729" marB="45729" anchor="ctr" anchorCtr="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扩大存储器容量</a:t>
                      </a:r>
                      <a:endParaRPr kumimoji="0" lang="zh-CN" altLang="en-US" sz="20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T="45729" marB="45729" anchor="ctr" anchorCtr="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1554780">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特点</a:t>
                      </a:r>
                      <a:endParaRPr kumimoji="0" lang="zh-CN" altLang="en-US" sz="2000" b="0"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T="45729" marB="45729" anchor="ctr" anchorCtr="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a:ln>
                            <a:noFill/>
                          </a:ln>
                          <a:solidFill>
                            <a:schemeClr val="tx2"/>
                          </a:solidFill>
                          <a:effectLst/>
                          <a:latin typeface="Times New Roman" panose="02020603050405020304" pitchFamily="18" charset="0"/>
                          <a:ea typeface="黑体" panose="02010609060101010101" pitchFamily="49" charset="-122"/>
                          <a:cs typeface="Times New Roman" panose="02020603050405020304" pitchFamily="18" charset="0"/>
                        </a:rPr>
                        <a:t>从系统程序员的角度看</a:t>
                      </a:r>
                      <a:r>
                        <a:rPr kumimoji="0" lang="en-US" altLang="zh-CN" sz="2000" b="0" i="0" u="none" strike="noStrike" cap="none" normalizeH="0" baseline="0">
                          <a:ln>
                            <a:noFill/>
                          </a:ln>
                          <a:solidFill>
                            <a:schemeClr val="tx2"/>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2000" b="0" i="0" u="none" strike="noStrike" cap="none" normalizeH="0" baseline="0">
                        <a:ln>
                          <a:noFill/>
                        </a:ln>
                        <a:solidFill>
                          <a:schemeClr val="tx2"/>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800100" marR="0" lvl="1" indent="-342900" algn="l" defTabSz="914400" rtl="0" eaLnBrk="1" fontAlgn="base" latinLnBrk="0" hangingPunct="1">
                        <a:lnSpc>
                          <a:spcPct val="100000"/>
                        </a:lnSpc>
                        <a:spcBef>
                          <a:spcPct val="0"/>
                        </a:spcBef>
                        <a:spcAft>
                          <a:spcPct val="0"/>
                        </a:spcAft>
                        <a:buClrTx/>
                        <a:buSzTx/>
                        <a:buFont typeface="+mj-ea"/>
                        <a:buAutoNum type="circleNumDbPlain"/>
                      </a:pPr>
                      <a:r>
                        <a:rPr kumimoji="0" lang="zh-CN" altLang="en-US" sz="1800" b="1" i="0" u="none" strike="noStrike" cap="none" normalizeH="0" baseline="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速度</a:t>
                      </a:r>
                      <a:r>
                        <a:rPr kumimoji="0" lang="zh-CN" altLang="en-US" sz="1800" b="0" i="0" u="none" strike="noStrike" cap="none" normalizeH="0" baseline="0">
                          <a:ln>
                            <a:noFill/>
                          </a:ln>
                          <a:solidFill>
                            <a:schemeClr val="tx2"/>
                          </a:solidFill>
                          <a:effectLst/>
                          <a:latin typeface="Times New Roman" panose="02020603050405020304" pitchFamily="18" charset="0"/>
                          <a:ea typeface="黑体" panose="02010609060101010101" pitchFamily="49" charset="-122"/>
                          <a:cs typeface="Times New Roman" panose="02020603050405020304" pitchFamily="18" charset="0"/>
                        </a:rPr>
                        <a:t>接近</a:t>
                      </a:r>
                      <a:r>
                        <a:rPr kumimoji="0" lang="en-US" altLang="zh-CN" sz="1800" b="0" i="0" u="none" strike="noStrike" cap="none" normalizeH="0" baseline="0">
                          <a:ln>
                            <a:noFill/>
                          </a:ln>
                          <a:solidFill>
                            <a:schemeClr val="tx2"/>
                          </a:solidFill>
                          <a:effectLst/>
                          <a:latin typeface="Times New Roman" panose="02020603050405020304" pitchFamily="18" charset="0"/>
                          <a:ea typeface="黑体" panose="02010609060101010101" pitchFamily="49" charset="-122"/>
                          <a:cs typeface="Times New Roman" panose="02020603050405020304" pitchFamily="18" charset="0"/>
                        </a:rPr>
                        <a:t>Cache</a:t>
                      </a:r>
                      <a:r>
                        <a:rPr kumimoji="0" lang="zh-CN" altLang="en-US" sz="1800" b="0" i="0" u="none" strike="noStrike" cap="none" normalizeH="0" baseline="0">
                          <a:ln>
                            <a:noFill/>
                          </a:ln>
                          <a:solidFill>
                            <a:schemeClr val="tx2"/>
                          </a:solidFill>
                          <a:effectLst/>
                          <a:latin typeface="Times New Roman" panose="02020603050405020304" pitchFamily="18" charset="0"/>
                          <a:ea typeface="黑体" panose="02010609060101010101" pitchFamily="49" charset="-122"/>
                          <a:cs typeface="Times New Roman" panose="02020603050405020304" pitchFamily="18" charset="0"/>
                        </a:rPr>
                        <a:t>的速度</a:t>
                      </a:r>
                      <a:r>
                        <a:rPr kumimoji="0" lang="en-US" altLang="zh-CN" sz="1800" b="0" i="0" u="none" strike="noStrike" cap="none" normalizeH="0" baseline="0">
                          <a:ln>
                            <a:noFill/>
                          </a:ln>
                          <a:solidFill>
                            <a:schemeClr val="tx2"/>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1800" b="0" i="0" u="none" strike="noStrike" cap="none" normalizeH="0" baseline="0">
                        <a:ln>
                          <a:noFill/>
                        </a:ln>
                        <a:solidFill>
                          <a:schemeClr val="tx2"/>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800100" marR="0" lvl="1" indent="-342900" algn="l" defTabSz="914400" rtl="0" eaLnBrk="1" fontAlgn="base" latinLnBrk="0" hangingPunct="1">
                        <a:lnSpc>
                          <a:spcPct val="100000"/>
                        </a:lnSpc>
                        <a:spcBef>
                          <a:spcPct val="0"/>
                        </a:spcBef>
                        <a:spcAft>
                          <a:spcPct val="0"/>
                        </a:spcAft>
                        <a:buClrTx/>
                        <a:buSzTx/>
                        <a:buFont typeface="+mj-ea"/>
                        <a:buAutoNum type="circleNumDbPlain"/>
                      </a:pPr>
                      <a:r>
                        <a:rPr kumimoji="0" lang="zh-CN" altLang="en-US" sz="1800" b="1" i="0" u="none" strike="noStrike" cap="none" normalizeH="0" baseline="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存储容量</a:t>
                      </a:r>
                      <a:r>
                        <a:rPr kumimoji="0" lang="zh-CN" altLang="en-US" sz="1800" b="0" i="0" u="none" strike="noStrike" cap="none" normalizeH="0" baseline="0">
                          <a:ln>
                            <a:noFill/>
                          </a:ln>
                          <a:solidFill>
                            <a:schemeClr val="tx2"/>
                          </a:solidFill>
                          <a:effectLst/>
                          <a:latin typeface="Times New Roman" panose="02020603050405020304" pitchFamily="18" charset="0"/>
                          <a:ea typeface="黑体" panose="02010609060101010101" pitchFamily="49" charset="-122"/>
                          <a:cs typeface="Times New Roman" panose="02020603050405020304" pitchFamily="18" charset="0"/>
                        </a:rPr>
                        <a:t>是主存的容量</a:t>
                      </a:r>
                      <a:r>
                        <a:rPr kumimoji="0" lang="en-US" altLang="zh-CN" sz="1800" b="0" i="0" u="none" strike="noStrike" cap="none" normalizeH="0" baseline="0">
                          <a:ln>
                            <a:noFill/>
                          </a:ln>
                          <a:solidFill>
                            <a:schemeClr val="tx2"/>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1800" b="0" i="0" u="none" strike="noStrike" cap="none" normalizeH="0" baseline="0">
                        <a:ln>
                          <a:noFill/>
                        </a:ln>
                        <a:solidFill>
                          <a:schemeClr val="tx2"/>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800100" marR="0" lvl="1" indent="-342900" algn="l" defTabSz="914400" rtl="0" eaLnBrk="1" fontAlgn="base" latinLnBrk="0" hangingPunct="1">
                        <a:lnSpc>
                          <a:spcPct val="100000"/>
                        </a:lnSpc>
                        <a:spcBef>
                          <a:spcPct val="0"/>
                        </a:spcBef>
                        <a:spcAft>
                          <a:spcPct val="0"/>
                        </a:spcAft>
                        <a:buClrTx/>
                        <a:buSzTx/>
                        <a:buFont typeface="+mj-ea"/>
                        <a:buAutoNum type="circleNumDbPlain"/>
                      </a:pPr>
                      <a:r>
                        <a:rPr kumimoji="0" lang="zh-CN" altLang="en-US" sz="1800" b="1" i="0" u="none" strike="noStrike" cap="none" normalizeH="0" baseline="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每位价格</a:t>
                      </a:r>
                      <a:r>
                        <a:rPr kumimoji="0" lang="zh-CN" altLang="en-US" sz="1800" b="0" i="0" u="none" strike="noStrike" cap="none" normalizeH="0" baseline="0">
                          <a:ln>
                            <a:noFill/>
                          </a:ln>
                          <a:solidFill>
                            <a:schemeClr val="tx2"/>
                          </a:solidFill>
                          <a:effectLst/>
                          <a:latin typeface="Times New Roman" panose="02020603050405020304" pitchFamily="18" charset="0"/>
                          <a:ea typeface="黑体" panose="02010609060101010101" pitchFamily="49" charset="-122"/>
                          <a:cs typeface="Times New Roman" panose="02020603050405020304" pitchFamily="18" charset="0"/>
                        </a:rPr>
                        <a:t>接近主存储器</a:t>
                      </a:r>
                      <a:endParaRPr kumimoji="0" lang="zh-CN" altLang="en-US" sz="1800" b="0" i="0" u="none" strike="noStrike" cap="none" normalizeH="0" baseline="0">
                        <a:ln>
                          <a:noFill/>
                        </a:ln>
                        <a:solidFill>
                          <a:schemeClr val="tx2"/>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729" marB="45729" anchor="ctr" anchorCtr="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a:ln>
                            <a:noFill/>
                          </a:ln>
                          <a:solidFill>
                            <a:schemeClr val="tx2"/>
                          </a:solidFill>
                          <a:effectLst/>
                          <a:latin typeface="Times New Roman" panose="02020603050405020304" pitchFamily="18" charset="0"/>
                          <a:ea typeface="黑体" panose="02010609060101010101" pitchFamily="49" charset="-122"/>
                          <a:cs typeface="Times New Roman" panose="02020603050405020304" pitchFamily="18" charset="0"/>
                        </a:rPr>
                        <a:t>从应用程序员的角度看</a:t>
                      </a:r>
                      <a:r>
                        <a:rPr kumimoji="0" lang="en-US" altLang="zh-CN" sz="2000" b="0" i="0" u="none" strike="noStrike" cap="none" normalizeH="0" baseline="0">
                          <a:ln>
                            <a:noFill/>
                          </a:ln>
                          <a:solidFill>
                            <a:schemeClr val="tx2"/>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2000" b="0" i="0" u="none" strike="noStrike" cap="none" normalizeH="0" baseline="0">
                        <a:ln>
                          <a:noFill/>
                        </a:ln>
                        <a:solidFill>
                          <a:schemeClr val="tx2"/>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800100" marR="0" lvl="1" indent="-342900" algn="l" defTabSz="914400" rtl="0" eaLnBrk="1" fontAlgn="base" latinLnBrk="0" hangingPunct="1">
                        <a:lnSpc>
                          <a:spcPct val="100000"/>
                        </a:lnSpc>
                        <a:spcBef>
                          <a:spcPct val="0"/>
                        </a:spcBef>
                        <a:spcAft>
                          <a:spcPct val="0"/>
                        </a:spcAft>
                        <a:buClrTx/>
                        <a:buSzTx/>
                        <a:buFont typeface="+mj-ea"/>
                        <a:buAutoNum type="circleNumDbPlain"/>
                      </a:pPr>
                      <a:r>
                        <a:rPr kumimoji="0" lang="zh-CN" altLang="en-US" sz="1800" b="0" i="0" u="none" strike="noStrike" cap="none" normalizeH="0" baseline="0">
                          <a:ln>
                            <a:noFill/>
                          </a:ln>
                          <a:solidFill>
                            <a:schemeClr val="tx2"/>
                          </a:solidFill>
                          <a:effectLst/>
                          <a:latin typeface="Times New Roman" panose="02020603050405020304" pitchFamily="18" charset="0"/>
                          <a:ea typeface="黑体" panose="02010609060101010101" pitchFamily="49" charset="-122"/>
                          <a:cs typeface="Times New Roman" panose="02020603050405020304" pitchFamily="18" charset="0"/>
                        </a:rPr>
                        <a:t>速度接近主存储器的速度</a:t>
                      </a:r>
                      <a:r>
                        <a:rPr kumimoji="0" lang="en-US" altLang="zh-CN" sz="1800" b="0" i="0" u="none" strike="noStrike" cap="none" normalizeH="0" baseline="0">
                          <a:ln>
                            <a:noFill/>
                          </a:ln>
                          <a:solidFill>
                            <a:schemeClr val="tx2"/>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1800" b="0" i="0" u="none" strike="noStrike" cap="none" normalizeH="0" baseline="0">
                        <a:ln>
                          <a:noFill/>
                        </a:ln>
                        <a:solidFill>
                          <a:schemeClr val="tx2"/>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800100" marR="0" lvl="1" indent="-342900" algn="l" defTabSz="914400" rtl="0" eaLnBrk="1" fontAlgn="base" latinLnBrk="0" hangingPunct="1">
                        <a:lnSpc>
                          <a:spcPct val="100000"/>
                        </a:lnSpc>
                        <a:spcBef>
                          <a:spcPct val="0"/>
                        </a:spcBef>
                        <a:spcAft>
                          <a:spcPct val="0"/>
                        </a:spcAft>
                        <a:buClrTx/>
                        <a:buSzTx/>
                        <a:buFont typeface="+mj-ea"/>
                        <a:buAutoNum type="circleNumDbPlain"/>
                      </a:pPr>
                      <a:r>
                        <a:rPr kumimoji="0" lang="zh-CN" altLang="en-US" sz="1800" b="0" i="0" u="none" strike="noStrike" cap="none" normalizeH="0" baseline="0">
                          <a:ln>
                            <a:noFill/>
                          </a:ln>
                          <a:solidFill>
                            <a:schemeClr val="tx2"/>
                          </a:solidFill>
                          <a:effectLst/>
                          <a:latin typeface="Times New Roman" panose="02020603050405020304" pitchFamily="18" charset="0"/>
                          <a:ea typeface="黑体" panose="02010609060101010101" pitchFamily="49" charset="-122"/>
                          <a:cs typeface="Times New Roman" panose="02020603050405020304" pitchFamily="18" charset="0"/>
                        </a:rPr>
                        <a:t>存储容量是虚拟地址空间</a:t>
                      </a:r>
                      <a:r>
                        <a:rPr kumimoji="0" lang="en-US" altLang="zh-CN" sz="1800" b="0" i="0" u="none" strike="noStrike" cap="none" normalizeH="0" baseline="0">
                          <a:ln>
                            <a:noFill/>
                          </a:ln>
                          <a:solidFill>
                            <a:schemeClr val="tx2"/>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1800" b="0" i="0" u="none" strike="noStrike" cap="none" normalizeH="0" baseline="0">
                        <a:ln>
                          <a:noFill/>
                        </a:ln>
                        <a:solidFill>
                          <a:schemeClr val="tx2"/>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800100" marR="0" lvl="1" indent="-342900" algn="l" defTabSz="914400" rtl="0" eaLnBrk="1" fontAlgn="base" latinLnBrk="0" hangingPunct="1">
                        <a:lnSpc>
                          <a:spcPct val="100000"/>
                        </a:lnSpc>
                        <a:spcBef>
                          <a:spcPct val="0"/>
                        </a:spcBef>
                        <a:spcAft>
                          <a:spcPct val="0"/>
                        </a:spcAft>
                        <a:buClrTx/>
                        <a:buSzTx/>
                        <a:buFont typeface="+mj-ea"/>
                        <a:buAutoNum type="circleNumDbPlain"/>
                      </a:pPr>
                      <a:r>
                        <a:rPr kumimoji="0" lang="zh-CN" altLang="en-US" sz="1800" b="0" i="0" u="none" strike="noStrike" cap="none" normalizeH="0" baseline="0">
                          <a:ln>
                            <a:noFill/>
                          </a:ln>
                          <a:solidFill>
                            <a:schemeClr val="tx2"/>
                          </a:solidFill>
                          <a:effectLst/>
                          <a:latin typeface="Times New Roman" panose="02020603050405020304" pitchFamily="18" charset="0"/>
                          <a:ea typeface="黑体" panose="02010609060101010101" pitchFamily="49" charset="-122"/>
                          <a:cs typeface="Times New Roman" panose="02020603050405020304" pitchFamily="18" charset="0"/>
                        </a:rPr>
                        <a:t>每位价格接近磁盘存储器</a:t>
                      </a:r>
                      <a:endParaRPr kumimoji="0" lang="zh-CN" altLang="en-US" sz="1800" b="0" i="0" u="none" strike="noStrike" cap="none" normalizeH="0" baseline="0">
                        <a:ln>
                          <a:noFill/>
                        </a:ln>
                        <a:solidFill>
                          <a:schemeClr val="tx2"/>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T="45729" marB="45729" anchor="ctr" anchorCtr="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p:pic>
        <p:nvPicPr>
          <p:cNvPr id="32794" name="Picture 25" descr="P-3-1-2"/>
          <p:cNvPicPr>
            <a:picLocks noChangeAspect="1"/>
          </p:cNvPicPr>
          <p:nvPr>
            <p:custDataLst>
              <p:tags r:id="rId2"/>
            </p:custDataLst>
          </p:nvPr>
        </p:nvPicPr>
        <p:blipFill>
          <a:blip r:embed="rId3"/>
          <a:srcRect t="21601" b="13672"/>
          <a:stretch>
            <a:fillRect/>
          </a:stretch>
        </p:blipFill>
        <p:spPr>
          <a:xfrm>
            <a:off x="323215" y="4940935"/>
            <a:ext cx="3888105" cy="1312228"/>
          </a:xfrm>
          <a:prstGeom prst="rect">
            <a:avLst/>
          </a:prstGeom>
          <a:noFill/>
          <a:ln w="9525">
            <a:noFill/>
          </a:ln>
        </p:spPr>
      </p:pic>
      <p:pic>
        <p:nvPicPr>
          <p:cNvPr id="32795" name="Picture 26" descr="p-3-1-15"/>
          <p:cNvPicPr>
            <a:picLocks noChangeAspect="1"/>
          </p:cNvPicPr>
          <p:nvPr>
            <p:custDataLst>
              <p:tags r:id="rId4"/>
            </p:custDataLst>
          </p:nvPr>
        </p:nvPicPr>
        <p:blipFill>
          <a:blip r:embed="rId5"/>
          <a:srcRect t="21601" b="12607"/>
          <a:stretch>
            <a:fillRect/>
          </a:stretch>
        </p:blipFill>
        <p:spPr>
          <a:xfrm>
            <a:off x="4859655" y="4940935"/>
            <a:ext cx="3889375" cy="1333818"/>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p:cNvSpPr>
          <p:nvPr>
            <p:ph type="title"/>
          </p:nvPr>
        </p:nvSpPr>
        <p:spPr>
          <a:xfrm>
            <a:off x="361950" y="266700"/>
            <a:ext cx="8506460" cy="1143000"/>
          </a:xfrm>
          <a:noFill/>
          <a:ln>
            <a:noFill/>
          </a:ln>
        </p:spPr>
        <p:txBody>
          <a:bodyPr/>
          <a:p>
            <a:pPr eaLnBrk="1" hangingPunct="1"/>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两级存储器组成的存储系统的S、C、T</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0723" name="Rectangle 3"/>
          <p:cNvSpPr>
            <a:spLocks noGrp="1"/>
          </p:cNvSpPr>
          <p:nvPr>
            <p:ph idx="1"/>
          </p:nvPr>
        </p:nvSpPr>
        <p:spPr>
          <a:xfrm>
            <a:off x="514985" y="1409065"/>
            <a:ext cx="8114030" cy="4690110"/>
          </a:xfrm>
          <a:noFill/>
          <a:ln>
            <a:noFill/>
          </a:ln>
        </p:spPr>
        <p:txBody>
          <a:bodyPr/>
          <a:p>
            <a:pPr algn="l" latinLnBrk="0">
              <a:lnSpc>
                <a:spcPct val="100000"/>
              </a:lnSpc>
              <a:spcBef>
                <a:spcPts val="1200"/>
              </a:spcBef>
              <a:buSzTx/>
            </a:pPr>
            <a:r>
              <a:rPr lang="zh-CN" altLang="en-US">
                <a:latin typeface="Times New Roman" panose="02020603050405020304" pitchFamily="18" charset="0"/>
                <a:cs typeface="Times New Roman" panose="02020603050405020304" pitchFamily="18" charset="0"/>
                <a:sym typeface="+mn-ea"/>
              </a:rPr>
              <a:t>存储系统的容量</a:t>
            </a:r>
            <a:endParaRPr lang="zh-CN" altLang="en-US">
              <a:latin typeface="Times New Roman" panose="02020603050405020304" pitchFamily="18" charset="0"/>
              <a:cs typeface="Times New Roman" panose="02020603050405020304" pitchFamily="18" charset="0"/>
            </a:endParaRPr>
          </a:p>
          <a:p>
            <a:pPr marL="465455" lvl="1" indent="-180975" eaLnBrk="1" latinLnBrk="0" hangingPunct="1">
              <a:lnSpc>
                <a:spcPct val="90000"/>
              </a:lnSpc>
              <a:spcBef>
                <a:spcPts val="1200"/>
              </a:spcBef>
            </a:pPr>
            <a:r>
              <a:rPr lang="zh-CN" altLang="en-US" sz="2400">
                <a:latin typeface="Times New Roman" panose="02020603050405020304" pitchFamily="18" charset="0"/>
                <a:cs typeface="Times New Roman" panose="02020603050405020304" pitchFamily="18" charset="0"/>
                <a:sym typeface="+mn-ea"/>
              </a:rPr>
              <a:t>要求</a:t>
            </a:r>
            <a:endParaRPr lang="zh-CN" altLang="en-US" sz="2400">
              <a:latin typeface="Times New Roman" panose="02020603050405020304" pitchFamily="18" charset="0"/>
              <a:cs typeface="Times New Roman" panose="02020603050405020304" pitchFamily="18" charset="0"/>
            </a:endParaRPr>
          </a:p>
          <a:p>
            <a:pPr marL="744855" lvl="2" indent="-165100" eaLnBrk="1" latinLnBrk="0" hangingPunct="1">
              <a:lnSpc>
                <a:spcPct val="90000"/>
              </a:lnSpc>
              <a:spcBef>
                <a:spcPts val="1200"/>
              </a:spcBef>
            </a:pPr>
            <a:r>
              <a:rPr lang="zh-CN" altLang="en-US" dirty="0">
                <a:latin typeface="Times New Roman" panose="02020603050405020304" pitchFamily="18" charset="0"/>
                <a:cs typeface="Times New Roman" panose="02020603050405020304" pitchFamily="18" charset="0"/>
                <a:sym typeface="+mn-ea"/>
              </a:rPr>
              <a:t>存储系统的容量等于</a:t>
            </a:r>
            <a:r>
              <a:rPr lang="en-US" altLang="zh-CN" dirty="0">
                <a:latin typeface="Times New Roman" panose="02020603050405020304" pitchFamily="18" charset="0"/>
                <a:cs typeface="Times New Roman" panose="02020603050405020304" pitchFamily="18" charset="0"/>
                <a:sym typeface="+mn-ea"/>
              </a:rPr>
              <a:t>M</a:t>
            </a:r>
            <a:r>
              <a:rPr lang="en-US" altLang="zh-CN" baseline="-25000" dirty="0">
                <a:latin typeface="Times New Roman" panose="02020603050405020304" pitchFamily="18" charset="0"/>
                <a:cs typeface="Times New Roman" panose="02020603050405020304" pitchFamily="18" charset="0"/>
                <a:sym typeface="+mn-ea"/>
              </a:rPr>
              <a:t>2</a:t>
            </a:r>
            <a:r>
              <a:rPr lang="zh-CN" altLang="en-US" dirty="0">
                <a:latin typeface="Times New Roman" panose="02020603050405020304" pitchFamily="18" charset="0"/>
                <a:cs typeface="Times New Roman" panose="02020603050405020304" pitchFamily="18" charset="0"/>
                <a:sym typeface="+mn-ea"/>
              </a:rPr>
              <a:t>存储器的容量</a:t>
            </a:r>
            <a:endParaRPr lang="zh-CN" altLang="en-US" dirty="0">
              <a:latin typeface="Times New Roman" panose="02020603050405020304" pitchFamily="18" charset="0"/>
              <a:cs typeface="Times New Roman" panose="02020603050405020304" pitchFamily="18" charset="0"/>
            </a:endParaRPr>
          </a:p>
          <a:p>
            <a:pPr marL="744855" lvl="2" indent="-165100" eaLnBrk="1" latinLnBrk="0" hangingPunct="1">
              <a:lnSpc>
                <a:spcPct val="90000"/>
              </a:lnSpc>
              <a:spcBef>
                <a:spcPts val="1200"/>
              </a:spcBef>
            </a:pPr>
            <a:r>
              <a:rPr lang="zh-CN" altLang="en-US" dirty="0">
                <a:latin typeface="Times New Roman" panose="02020603050405020304" pitchFamily="18" charset="0"/>
                <a:cs typeface="Times New Roman" panose="02020603050405020304" pitchFamily="18" charset="0"/>
                <a:sym typeface="+mn-ea"/>
              </a:rPr>
              <a:t>提供尽可能大、能随机访问的地址空间</a:t>
            </a:r>
            <a:endParaRPr lang="zh-CN" altLang="en-US" dirty="0">
              <a:latin typeface="Times New Roman" panose="02020603050405020304" pitchFamily="18" charset="0"/>
              <a:cs typeface="Times New Roman" panose="02020603050405020304" pitchFamily="18" charset="0"/>
            </a:endParaRPr>
          </a:p>
          <a:p>
            <a:pPr marL="465455" lvl="1" indent="-180975" algn="l" eaLnBrk="1" latinLnBrk="0" hangingPunct="1">
              <a:lnSpc>
                <a:spcPct val="90000"/>
              </a:lnSpc>
              <a:spcBef>
                <a:spcPts val="2400"/>
              </a:spcBef>
              <a:buSzTx/>
            </a:pPr>
            <a:r>
              <a:rPr lang="zh-CN" altLang="en-US" sz="2400">
                <a:latin typeface="Times New Roman" panose="02020603050405020304" pitchFamily="18" charset="0"/>
                <a:cs typeface="Times New Roman" panose="02020603050405020304" pitchFamily="18" charset="0"/>
                <a:sym typeface="+mn-ea"/>
              </a:rPr>
              <a:t>方法有两种</a:t>
            </a:r>
            <a:endParaRPr lang="zh-CN" altLang="en-US" sz="2400">
              <a:latin typeface="Times New Roman" panose="02020603050405020304" pitchFamily="18" charset="0"/>
              <a:cs typeface="Times New Roman" panose="02020603050405020304" pitchFamily="18" charset="0"/>
            </a:endParaRPr>
          </a:p>
          <a:p>
            <a:pPr marL="744855" lvl="2" indent="-165100" eaLnBrk="1" latinLnBrk="0" hangingPunct="1">
              <a:lnSpc>
                <a:spcPct val="90000"/>
              </a:lnSpc>
              <a:spcBef>
                <a:spcPts val="1200"/>
              </a:spcBef>
            </a:pPr>
            <a:r>
              <a:rPr lang="en-US" altLang="zh-CN" dirty="0">
                <a:latin typeface="Times New Roman" panose="02020603050405020304" pitchFamily="18" charset="0"/>
                <a:cs typeface="Times New Roman" panose="02020603050405020304" pitchFamily="18" charset="0"/>
                <a:sym typeface="+mn-ea"/>
              </a:rPr>
              <a:t>Cache</a:t>
            </a:r>
            <a:r>
              <a:rPr lang="zh-CN" altLang="en-US" dirty="0">
                <a:latin typeface="Times New Roman" panose="02020603050405020304" pitchFamily="18" charset="0"/>
                <a:cs typeface="Times New Roman" panose="02020603050405020304" pitchFamily="18" charset="0"/>
                <a:sym typeface="+mn-ea"/>
              </a:rPr>
              <a:t>存储系统：</a:t>
            </a:r>
            <a:endParaRPr lang="zh-CN" altLang="en-US" dirty="0">
              <a:latin typeface="Times New Roman" panose="02020603050405020304" pitchFamily="18" charset="0"/>
              <a:cs typeface="Times New Roman" panose="02020603050405020304" pitchFamily="18" charset="0"/>
              <a:sym typeface="+mn-ea"/>
            </a:endParaRPr>
          </a:p>
          <a:p>
            <a:pPr marL="1202055" lvl="3" indent="-165100" eaLnBrk="1" latinLnBrk="0" hangingPunct="1">
              <a:lnSpc>
                <a:spcPct val="90000"/>
              </a:lnSpc>
              <a:spcBef>
                <a:spcPts val="1200"/>
              </a:spcBef>
            </a:pPr>
            <a:r>
              <a:rPr lang="zh-CN" altLang="en-US" dirty="0">
                <a:solidFill>
                  <a:srgbClr val="FF0000"/>
                </a:solidFill>
                <a:latin typeface="Times New Roman" panose="02020603050405020304" pitchFamily="18" charset="0"/>
                <a:cs typeface="Times New Roman" panose="02020603050405020304" pitchFamily="18" charset="0"/>
                <a:sym typeface="+mn-ea"/>
              </a:rPr>
              <a:t>对</a:t>
            </a:r>
            <a:r>
              <a:rPr lang="en-US" altLang="zh-CN" dirty="0">
                <a:solidFill>
                  <a:srgbClr val="FF0000"/>
                </a:solidFill>
                <a:latin typeface="Times New Roman" panose="02020603050405020304" pitchFamily="18" charset="0"/>
                <a:cs typeface="Times New Roman" panose="02020603050405020304" pitchFamily="18" charset="0"/>
                <a:sym typeface="+mn-ea"/>
              </a:rPr>
              <a:t>M</a:t>
            </a:r>
            <a:r>
              <a:rPr lang="en-US" altLang="zh-CN" baseline="-25000" dirty="0">
                <a:solidFill>
                  <a:srgbClr val="FF0000"/>
                </a:solidFill>
                <a:latin typeface="Times New Roman" panose="02020603050405020304" pitchFamily="18" charset="0"/>
                <a:cs typeface="Times New Roman" panose="02020603050405020304" pitchFamily="18" charset="0"/>
                <a:sym typeface="+mn-ea"/>
              </a:rPr>
              <a:t>2</a:t>
            </a:r>
            <a:r>
              <a:rPr lang="zh-CN" altLang="en-US" dirty="0">
                <a:solidFill>
                  <a:srgbClr val="FF0000"/>
                </a:solidFill>
                <a:latin typeface="Times New Roman" panose="02020603050405020304" pitchFamily="18" charset="0"/>
                <a:cs typeface="Times New Roman" panose="02020603050405020304" pitchFamily="18" charset="0"/>
                <a:sym typeface="+mn-ea"/>
              </a:rPr>
              <a:t>存储器进行编址，</a:t>
            </a:r>
            <a:r>
              <a:rPr lang="en-US" altLang="zh-CN" dirty="0">
                <a:solidFill>
                  <a:srgbClr val="FF0000"/>
                </a:solidFill>
                <a:latin typeface="Times New Roman" panose="02020603050405020304" pitchFamily="18" charset="0"/>
                <a:cs typeface="Times New Roman" panose="02020603050405020304" pitchFamily="18" charset="0"/>
                <a:sym typeface="+mn-ea"/>
              </a:rPr>
              <a:t>M</a:t>
            </a:r>
            <a:r>
              <a:rPr lang="en-US" altLang="zh-CN" baseline="-25000" dirty="0">
                <a:solidFill>
                  <a:srgbClr val="FF0000"/>
                </a:solidFill>
                <a:latin typeface="Times New Roman" panose="02020603050405020304" pitchFamily="18" charset="0"/>
                <a:cs typeface="Times New Roman" panose="02020603050405020304" pitchFamily="18" charset="0"/>
                <a:sym typeface="+mn-ea"/>
              </a:rPr>
              <a:t>1</a:t>
            </a:r>
            <a:r>
              <a:rPr lang="zh-CN" altLang="en-US" dirty="0">
                <a:solidFill>
                  <a:srgbClr val="FF0000"/>
                </a:solidFill>
                <a:latin typeface="Times New Roman" panose="02020603050405020304" pitchFamily="18" charset="0"/>
                <a:cs typeface="Times New Roman" panose="02020603050405020304" pitchFamily="18" charset="0"/>
                <a:sym typeface="+mn-ea"/>
              </a:rPr>
              <a:t>存储器只在内部编址</a:t>
            </a:r>
            <a:endParaRPr lang="zh-CN" altLang="en-US" dirty="0">
              <a:latin typeface="Times New Roman" panose="02020603050405020304" pitchFamily="18" charset="0"/>
              <a:cs typeface="Times New Roman" panose="02020603050405020304" pitchFamily="18" charset="0"/>
            </a:endParaRPr>
          </a:p>
          <a:p>
            <a:pPr marL="744855" lvl="2" indent="-165100" eaLnBrk="1" latinLnBrk="0" hangingPunct="1">
              <a:lnSpc>
                <a:spcPct val="90000"/>
              </a:lnSpc>
              <a:spcBef>
                <a:spcPts val="1200"/>
              </a:spcBef>
            </a:pPr>
            <a:r>
              <a:rPr lang="zh-CN" altLang="en-US" dirty="0">
                <a:latin typeface="Times New Roman" panose="02020603050405020304" pitchFamily="18" charset="0"/>
                <a:cs typeface="Times New Roman" panose="02020603050405020304" pitchFamily="18" charset="0"/>
                <a:sym typeface="+mn-ea"/>
              </a:rPr>
              <a:t>虚拟存储系统：</a:t>
            </a:r>
            <a:endParaRPr lang="zh-CN" altLang="en-US" dirty="0">
              <a:latin typeface="Times New Roman" panose="02020603050405020304" pitchFamily="18" charset="0"/>
              <a:cs typeface="Times New Roman" panose="02020603050405020304" pitchFamily="18" charset="0"/>
              <a:sym typeface="+mn-ea"/>
            </a:endParaRPr>
          </a:p>
          <a:p>
            <a:pPr marL="1202055" lvl="3" indent="-165100" eaLnBrk="1" latinLnBrk="0" hangingPunct="1">
              <a:lnSpc>
                <a:spcPct val="90000"/>
              </a:lnSpc>
              <a:spcBef>
                <a:spcPts val="1200"/>
              </a:spcBef>
            </a:pPr>
            <a:r>
              <a:rPr lang="zh-CN" altLang="en-US" dirty="0">
                <a:latin typeface="Times New Roman" panose="02020603050405020304" pitchFamily="18" charset="0"/>
                <a:cs typeface="Times New Roman" panose="02020603050405020304" pitchFamily="18" charset="0"/>
                <a:sym typeface="+mn-ea"/>
              </a:rPr>
              <a:t>设计一个容量很大的</a:t>
            </a:r>
            <a:r>
              <a:rPr lang="zh-CN" altLang="en-US" dirty="0">
                <a:solidFill>
                  <a:srgbClr val="FF0000"/>
                </a:solidFill>
                <a:latin typeface="Times New Roman" panose="02020603050405020304" pitchFamily="18" charset="0"/>
                <a:cs typeface="Times New Roman" panose="02020603050405020304" pitchFamily="18" charset="0"/>
                <a:sym typeface="+mn-ea"/>
              </a:rPr>
              <a:t>逻辑地址空间</a:t>
            </a:r>
            <a:endParaRPr lang="zh-CN" altLang="en-US" dirty="0">
              <a:solidFill>
                <a:srgbClr val="FF0000"/>
              </a:solidFill>
              <a:latin typeface="Times New Roman" panose="02020603050405020304" pitchFamily="18" charset="0"/>
              <a:cs typeface="Times New Roman" panose="02020603050405020304" pitchFamily="18" charset="0"/>
            </a:endParaRPr>
          </a:p>
          <a:p>
            <a:pPr marL="170180" indent="-170180" eaLnBrk="1" hangingPunct="1">
              <a:lnSpc>
                <a:spcPct val="90000"/>
              </a:lnSpc>
            </a:pPr>
            <a:endParaRPr lang="zh-CN" altLang="en-US" sz="3200" dirty="0">
              <a:latin typeface="Times New Roman" panose="02020603050405020304" pitchFamily="18" charset="0"/>
              <a:cs typeface="Times New Roman" panose="02020603050405020304" pitchFamily="18" charset="0"/>
            </a:endParaRPr>
          </a:p>
          <a:p>
            <a:pPr algn="l">
              <a:lnSpc>
                <a:spcPct val="100000"/>
              </a:lnSpc>
              <a:spcBef>
                <a:spcPts val="1200"/>
              </a:spcBef>
              <a:buSzTx/>
            </a:pPr>
            <a:endParaRPr lang="zh-CN" altLang="en-US" sz="3200" b="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两级存储器组成的存储系统的S、C、T</a:t>
            </a:r>
            <a:endParaRPr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nvPr>
        </p:nvSpPr>
        <p:spPr>
          <a:xfrm>
            <a:off x="457200" y="1212850"/>
            <a:ext cx="8229600" cy="5203190"/>
          </a:xfrm>
        </p:spPr>
        <p:txBody>
          <a:bodyPr/>
          <a:p>
            <a:pPr algn="l">
              <a:lnSpc>
                <a:spcPct val="100000"/>
              </a:lnSpc>
              <a:spcBef>
                <a:spcPts val="1200"/>
              </a:spcBef>
              <a:buSzTx/>
            </a:pPr>
            <a:r>
              <a:rPr lang="zh-CN" altLang="en-US" sz="2400">
                <a:sym typeface="+mn-ea"/>
              </a:rPr>
              <a:t>存储系统的单位容量平均价格</a:t>
            </a:r>
            <a:endParaRPr lang="zh-CN" altLang="en-US" sz="2400"/>
          </a:p>
          <a:p>
            <a:pPr lvl="1" algn="l">
              <a:lnSpc>
                <a:spcPct val="100000"/>
              </a:lnSpc>
              <a:spcBef>
                <a:spcPts val="1200"/>
              </a:spcBef>
              <a:buSzTx/>
            </a:pPr>
            <a:r>
              <a:rPr lang="zh-CN" altLang="en-US" sz="2000">
                <a:cs typeface="+mn-ea"/>
                <a:sym typeface="+mn-ea"/>
              </a:rPr>
              <a:t>计算公式</a:t>
            </a:r>
            <a:endParaRPr lang="zh-CN" altLang="en-US" sz="2000" b="0">
              <a:solidFill>
                <a:schemeClr val="tx1"/>
              </a:solidFill>
              <a:cs typeface="+mn-ea"/>
            </a:endParaRPr>
          </a:p>
          <a:p>
            <a:pPr latinLnBrk="0">
              <a:spcBef>
                <a:spcPts val="1200"/>
              </a:spcBef>
            </a:pPr>
            <a:endParaRPr lang="zh-CN" altLang="en-US" sz="2000">
              <a:cs typeface="+mn-ea"/>
              <a:sym typeface="+mn-ea"/>
            </a:endParaRPr>
          </a:p>
          <a:p>
            <a:pPr latinLnBrk="0">
              <a:spcBef>
                <a:spcPts val="1200"/>
              </a:spcBef>
            </a:pPr>
            <a:endParaRPr lang="zh-CN" altLang="en-US" sz="2000">
              <a:cs typeface="+mn-ea"/>
              <a:sym typeface="+mn-ea"/>
            </a:endParaRPr>
          </a:p>
          <a:p>
            <a:pPr latinLnBrk="0">
              <a:spcBef>
                <a:spcPts val="1200"/>
              </a:spcBef>
            </a:pPr>
            <a:endParaRPr lang="zh-CN" altLang="en-US" sz="2000">
              <a:cs typeface="+mn-ea"/>
              <a:sym typeface="+mn-ea"/>
            </a:endParaRPr>
          </a:p>
          <a:p>
            <a:pPr latinLnBrk="0">
              <a:spcBef>
                <a:spcPts val="1200"/>
              </a:spcBef>
            </a:pPr>
            <a:endParaRPr lang="zh-CN" altLang="en-US" sz="2000">
              <a:cs typeface="+mn-ea"/>
              <a:sym typeface="+mn-ea"/>
            </a:endParaRPr>
          </a:p>
          <a:p>
            <a:pPr latinLnBrk="0">
              <a:spcBef>
                <a:spcPts val="1200"/>
              </a:spcBef>
            </a:pPr>
            <a:endParaRPr lang="zh-CN" altLang="en-US" sz="2000">
              <a:cs typeface="+mn-ea"/>
              <a:sym typeface="+mn-ea"/>
            </a:endParaRPr>
          </a:p>
          <a:p>
            <a:pPr marL="0" lvl="1" latinLnBrk="0">
              <a:spcBef>
                <a:spcPts val="1200"/>
              </a:spcBef>
            </a:pPr>
            <a:endParaRPr lang="en-US" altLang="zh-CN" sz="2000" dirty="0">
              <a:latin typeface="Times New Roman" panose="02020603050405020304" pitchFamily="18" charset="0"/>
              <a:cs typeface="Times New Roman" panose="02020603050405020304" pitchFamily="18" charset="0"/>
              <a:sym typeface="+mn-ea"/>
            </a:endParaRPr>
          </a:p>
          <a:p>
            <a:pPr marL="0" lvl="1" latinLnBrk="0">
              <a:spcBef>
                <a:spcPts val="1200"/>
              </a:spcBef>
            </a:pPr>
            <a:r>
              <a:rPr lang="en-US" altLang="zh-CN" sz="2000" dirty="0">
                <a:latin typeface="Times New Roman" panose="02020603050405020304" pitchFamily="18" charset="0"/>
                <a:cs typeface="Times New Roman" panose="02020603050405020304" pitchFamily="18" charset="0"/>
                <a:sym typeface="+mn-ea"/>
              </a:rPr>
              <a:t>S</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dirty="0">
                <a:latin typeface="Times New Roman" panose="02020603050405020304" pitchFamily="18" charset="0"/>
                <a:cs typeface="Times New Roman" panose="02020603050405020304" pitchFamily="18" charset="0"/>
                <a:sym typeface="+mn-ea"/>
              </a:rPr>
              <a:t>&gt;&gt;S</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cs typeface="Times New Roman" panose="02020603050405020304" pitchFamily="18" charset="0"/>
                <a:sym typeface="+mn-ea"/>
              </a:rPr>
              <a:t>时</a:t>
            </a:r>
            <a:r>
              <a:rPr lang="en-US" altLang="zh-CN" sz="2000" dirty="0">
                <a:latin typeface="Times New Roman" panose="02020603050405020304" pitchFamily="18" charset="0"/>
                <a:cs typeface="Times New Roman" panose="02020603050405020304" pitchFamily="18" charset="0"/>
                <a:sym typeface="+mn-ea"/>
              </a:rPr>
              <a:t>, C≈C</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但</a:t>
            </a:r>
            <a:r>
              <a:rPr lang="en-US" altLang="zh-CN" sz="2000" dirty="0">
                <a:latin typeface="Times New Roman" panose="02020603050405020304" pitchFamily="18" charset="0"/>
                <a:cs typeface="Times New Roman" panose="02020603050405020304" pitchFamily="18" charset="0"/>
                <a:sym typeface="+mn-ea"/>
              </a:rPr>
              <a:t>S</a:t>
            </a:r>
            <a:r>
              <a:rPr lang="en-US" altLang="zh-CN" sz="2000" baseline="-25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cs typeface="Times New Roman" panose="02020603050405020304" pitchFamily="18" charset="0"/>
                <a:sym typeface="+mn-ea"/>
              </a:rPr>
              <a:t>与</a:t>
            </a:r>
            <a:r>
              <a:rPr lang="en-US" altLang="zh-CN" sz="2000" dirty="0">
                <a:latin typeface="Times New Roman" panose="02020603050405020304" pitchFamily="18" charset="0"/>
                <a:cs typeface="Times New Roman" panose="02020603050405020304" pitchFamily="18" charset="0"/>
                <a:sym typeface="+mn-ea"/>
              </a:rPr>
              <a:t>S</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cs typeface="Times New Roman" panose="02020603050405020304" pitchFamily="18" charset="0"/>
                <a:sym typeface="+mn-ea"/>
              </a:rPr>
              <a:t>不能相差太大</a:t>
            </a:r>
            <a:endParaRPr lang="zh-CN" altLang="en-US" sz="2000" dirty="0">
              <a:latin typeface="Times New Roman" panose="02020603050405020304" pitchFamily="18" charset="0"/>
              <a:cs typeface="Times New Roman" panose="02020603050405020304" pitchFamily="18" charset="0"/>
            </a:endParaRPr>
          </a:p>
          <a:p>
            <a:pPr latinLnBrk="0">
              <a:spcBef>
                <a:spcPts val="1200"/>
              </a:spcBef>
            </a:pPr>
            <a:endParaRPr lang="zh-CN" altLang="en-US" sz="2000">
              <a:latin typeface="Times New Roman" panose="02020603050405020304" pitchFamily="18" charset="0"/>
              <a:cs typeface="Times New Roman" panose="02020603050405020304" pitchFamily="18" charset="0"/>
              <a:sym typeface="+mn-ea"/>
            </a:endParaRPr>
          </a:p>
        </p:txBody>
      </p:sp>
      <p:graphicFrame>
        <p:nvGraphicFramePr>
          <p:cNvPr id="34820" name="Object 3"/>
          <p:cNvGraphicFramePr>
            <a:graphicFrameLocks noChangeAspect="1"/>
          </p:cNvGraphicFramePr>
          <p:nvPr>
            <p:custDataLst>
              <p:tags r:id="rId1"/>
            </p:custDataLst>
          </p:nvPr>
        </p:nvGraphicFramePr>
        <p:xfrm>
          <a:off x="1331913" y="2596198"/>
          <a:ext cx="2908300" cy="977900"/>
        </p:xfrm>
        <a:graphic>
          <a:graphicData uri="http://schemas.openxmlformats.org/presentationml/2006/ole">
            <mc:AlternateContent xmlns:mc="http://schemas.openxmlformats.org/markup-compatibility/2006">
              <mc:Choice xmlns:v="urn:schemas-microsoft-com:vml" Requires="v">
                <p:oleObj spid="_x0000_s3076" name="" r:id="rId2" imgW="2908300" imgH="977900" progId="Equation.3">
                  <p:embed/>
                </p:oleObj>
              </mc:Choice>
              <mc:Fallback>
                <p:oleObj name="" r:id="rId2" imgW="2908300" imgH="977900" progId="Equation.3">
                  <p:embed/>
                  <p:pic>
                    <p:nvPicPr>
                      <p:cNvPr id="0" name="图片 3075"/>
                      <p:cNvPicPr/>
                      <p:nvPr/>
                    </p:nvPicPr>
                    <p:blipFill>
                      <a:blip r:embed="rId3"/>
                      <a:stretch>
                        <a:fillRect/>
                      </a:stretch>
                    </p:blipFill>
                    <p:spPr>
                      <a:xfrm>
                        <a:off x="1331913" y="2596198"/>
                        <a:ext cx="2908300" cy="977900"/>
                      </a:xfrm>
                      <a:prstGeom prst="rect">
                        <a:avLst/>
                      </a:prstGeom>
                      <a:noFill/>
                      <a:ln w="38100">
                        <a:noFill/>
                        <a:miter/>
                      </a:ln>
                    </p:spPr>
                  </p:pic>
                </p:oleObj>
              </mc:Fallback>
            </mc:AlternateContent>
          </a:graphicData>
        </a:graphic>
      </p:graphicFrame>
      <p:grpSp>
        <p:nvGrpSpPr>
          <p:cNvPr id="34821" name="Group 4"/>
          <p:cNvGrpSpPr/>
          <p:nvPr/>
        </p:nvGrpSpPr>
        <p:grpSpPr>
          <a:xfrm>
            <a:off x="5076190" y="1988820"/>
            <a:ext cx="2460625" cy="2368550"/>
            <a:chOff x="4311" y="2351"/>
            <a:chExt cx="1154" cy="1250"/>
          </a:xfrm>
        </p:grpSpPr>
        <p:sp>
          <p:nvSpPr>
            <p:cNvPr id="34823" name="Rectangle 5"/>
            <p:cNvSpPr/>
            <p:nvPr>
              <p:custDataLst>
                <p:tags r:id="rId4"/>
              </p:custDataLst>
            </p:nvPr>
          </p:nvSpPr>
          <p:spPr>
            <a:xfrm>
              <a:off x="4311" y="2351"/>
              <a:ext cx="1154" cy="434"/>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eaLnBrk="1" hangingPunct="1">
                <a:lnSpc>
                  <a:spcPct val="80000"/>
                </a:lnSpc>
              </a:pPr>
              <a:r>
                <a:rPr lang="en-US" altLang="zh-CN" dirty="0">
                  <a:solidFill>
                    <a:schemeClr val="tx2"/>
                  </a:solidFill>
                  <a:latin typeface="Tahoma" panose="020B0604030504040204" pitchFamily="34" charset="0"/>
                </a:rPr>
                <a:t>M</a:t>
              </a:r>
              <a:r>
                <a:rPr lang="en-US" altLang="zh-CN" sz="2500" baseline="-25000" dirty="0">
                  <a:solidFill>
                    <a:schemeClr val="tx2"/>
                  </a:solidFill>
                  <a:latin typeface="Tahoma" panose="020B0604030504040204" pitchFamily="34" charset="0"/>
                </a:rPr>
                <a:t>1</a:t>
              </a:r>
              <a:endParaRPr lang="en-US" altLang="zh-CN" dirty="0">
                <a:solidFill>
                  <a:schemeClr val="tx2"/>
                </a:solidFill>
                <a:latin typeface="Tahoma" panose="020B0604030504040204" pitchFamily="34" charset="0"/>
              </a:endParaRPr>
            </a:p>
            <a:p>
              <a:pPr algn="ctr" eaLnBrk="1" hangingPunct="1">
                <a:lnSpc>
                  <a:spcPct val="80000"/>
                </a:lnSpc>
              </a:pPr>
              <a:r>
                <a:rPr lang="en-US" altLang="zh-CN" dirty="0">
                  <a:solidFill>
                    <a:schemeClr val="tx2"/>
                  </a:solidFill>
                  <a:latin typeface="Tahoma" panose="020B0604030504040204" pitchFamily="34" charset="0"/>
                </a:rPr>
                <a:t>(S</a:t>
              </a:r>
              <a:r>
                <a:rPr lang="en-US" altLang="zh-CN" sz="2500" baseline="-25000" dirty="0">
                  <a:solidFill>
                    <a:schemeClr val="tx2"/>
                  </a:solidFill>
                  <a:latin typeface="Tahoma" panose="020B0604030504040204" pitchFamily="34" charset="0"/>
                </a:rPr>
                <a:t>1</a:t>
              </a:r>
              <a:r>
                <a:rPr lang="en-US" altLang="zh-CN" dirty="0">
                  <a:solidFill>
                    <a:schemeClr val="tx2"/>
                  </a:solidFill>
                  <a:latin typeface="Tahoma" panose="020B0604030504040204" pitchFamily="34" charset="0"/>
                </a:rPr>
                <a:t>, C</a:t>
              </a:r>
              <a:r>
                <a:rPr lang="en-US" altLang="zh-CN" sz="2500" baseline="-25000" dirty="0">
                  <a:solidFill>
                    <a:schemeClr val="tx2"/>
                  </a:solidFill>
                  <a:latin typeface="Tahoma" panose="020B0604030504040204" pitchFamily="34" charset="0"/>
                </a:rPr>
                <a:t>1 </a:t>
              </a:r>
              <a:r>
                <a:rPr lang="en-US" altLang="zh-CN" dirty="0">
                  <a:solidFill>
                    <a:schemeClr val="tx2"/>
                  </a:solidFill>
                  <a:latin typeface="Tahoma" panose="020B0604030504040204" pitchFamily="34" charset="0"/>
                </a:rPr>
                <a:t>, T</a:t>
              </a:r>
              <a:r>
                <a:rPr lang="en-US" altLang="zh-CN" sz="2500" baseline="-25000" dirty="0">
                  <a:solidFill>
                    <a:schemeClr val="tx2"/>
                  </a:solidFill>
                  <a:latin typeface="Tahoma" panose="020B0604030504040204" pitchFamily="34" charset="0"/>
                </a:rPr>
                <a:t>1</a:t>
              </a:r>
              <a:r>
                <a:rPr lang="en-US" altLang="zh-CN" dirty="0">
                  <a:solidFill>
                    <a:schemeClr val="tx2"/>
                  </a:solidFill>
                  <a:latin typeface="Tahoma" panose="020B0604030504040204" pitchFamily="34" charset="0"/>
                </a:rPr>
                <a:t>)</a:t>
              </a:r>
              <a:endParaRPr lang="en-US" altLang="zh-CN" dirty="0">
                <a:solidFill>
                  <a:schemeClr val="tx2"/>
                </a:solidFill>
                <a:latin typeface="Tahoma" panose="020B0604030504040204" pitchFamily="34" charset="0"/>
              </a:endParaRPr>
            </a:p>
          </p:txBody>
        </p:sp>
        <p:sp>
          <p:nvSpPr>
            <p:cNvPr id="34824" name="Rectangle 6"/>
            <p:cNvSpPr/>
            <p:nvPr>
              <p:custDataLst>
                <p:tags r:id="rId5"/>
              </p:custDataLst>
            </p:nvPr>
          </p:nvSpPr>
          <p:spPr>
            <a:xfrm>
              <a:off x="4311" y="3167"/>
              <a:ext cx="1154" cy="434"/>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eaLnBrk="1" hangingPunct="1">
                <a:lnSpc>
                  <a:spcPct val="80000"/>
                </a:lnSpc>
              </a:pPr>
              <a:r>
                <a:rPr lang="en-US" altLang="zh-CN" dirty="0">
                  <a:solidFill>
                    <a:schemeClr val="tx2"/>
                  </a:solidFill>
                  <a:latin typeface="Tahoma" panose="020B0604030504040204" pitchFamily="34" charset="0"/>
                </a:rPr>
                <a:t>M</a:t>
              </a:r>
              <a:r>
                <a:rPr lang="en-US" altLang="zh-CN" sz="2500" baseline="-25000" dirty="0">
                  <a:solidFill>
                    <a:schemeClr val="tx2"/>
                  </a:solidFill>
                  <a:latin typeface="Tahoma" panose="020B0604030504040204" pitchFamily="34" charset="0"/>
                </a:rPr>
                <a:t>2</a:t>
              </a:r>
              <a:endParaRPr lang="en-US" altLang="zh-CN" dirty="0">
                <a:solidFill>
                  <a:schemeClr val="tx2"/>
                </a:solidFill>
                <a:latin typeface="Tahoma" panose="020B0604030504040204" pitchFamily="34" charset="0"/>
              </a:endParaRPr>
            </a:p>
            <a:p>
              <a:pPr algn="ctr" eaLnBrk="1" hangingPunct="1">
                <a:lnSpc>
                  <a:spcPct val="80000"/>
                </a:lnSpc>
              </a:pPr>
              <a:r>
                <a:rPr lang="en-US" altLang="zh-CN" dirty="0">
                  <a:solidFill>
                    <a:schemeClr val="tx2"/>
                  </a:solidFill>
                  <a:latin typeface="Tahoma" panose="020B0604030504040204" pitchFamily="34" charset="0"/>
                </a:rPr>
                <a:t>(S</a:t>
              </a:r>
              <a:r>
                <a:rPr lang="en-US" altLang="zh-CN" sz="2500" baseline="-25000" dirty="0">
                  <a:solidFill>
                    <a:schemeClr val="tx2"/>
                  </a:solidFill>
                  <a:latin typeface="Tahoma" panose="020B0604030504040204" pitchFamily="34" charset="0"/>
                </a:rPr>
                <a:t>2</a:t>
              </a:r>
              <a:r>
                <a:rPr lang="en-US" altLang="zh-CN" dirty="0">
                  <a:solidFill>
                    <a:schemeClr val="tx2"/>
                  </a:solidFill>
                  <a:latin typeface="Tahoma" panose="020B0604030504040204" pitchFamily="34" charset="0"/>
                </a:rPr>
                <a:t>, C</a:t>
              </a:r>
              <a:r>
                <a:rPr lang="en-US" altLang="zh-CN" sz="2500" baseline="-25000" dirty="0">
                  <a:solidFill>
                    <a:schemeClr val="tx2"/>
                  </a:solidFill>
                  <a:latin typeface="Tahoma" panose="020B0604030504040204" pitchFamily="34" charset="0"/>
                </a:rPr>
                <a:t>2 </a:t>
              </a:r>
              <a:r>
                <a:rPr lang="en-US" altLang="zh-CN" dirty="0">
                  <a:solidFill>
                    <a:schemeClr val="tx2"/>
                  </a:solidFill>
                  <a:latin typeface="Tahoma" panose="020B0604030504040204" pitchFamily="34" charset="0"/>
                </a:rPr>
                <a:t>, T</a:t>
              </a:r>
              <a:r>
                <a:rPr lang="en-US" altLang="zh-CN" sz="2500" baseline="-25000" dirty="0">
                  <a:solidFill>
                    <a:schemeClr val="tx2"/>
                  </a:solidFill>
                  <a:latin typeface="Tahoma" panose="020B0604030504040204" pitchFamily="34" charset="0"/>
                </a:rPr>
                <a:t>2</a:t>
              </a:r>
              <a:r>
                <a:rPr lang="en-US" altLang="zh-CN" dirty="0">
                  <a:solidFill>
                    <a:schemeClr val="tx2"/>
                  </a:solidFill>
                  <a:latin typeface="Tahoma" panose="020B0604030504040204" pitchFamily="34" charset="0"/>
                </a:rPr>
                <a:t>)</a:t>
              </a:r>
              <a:endParaRPr lang="en-US" altLang="zh-CN" dirty="0">
                <a:solidFill>
                  <a:schemeClr val="tx2"/>
                </a:solidFill>
                <a:latin typeface="Tahoma" panose="020B0604030504040204" pitchFamily="34" charset="0"/>
              </a:endParaRPr>
            </a:p>
          </p:txBody>
        </p:sp>
        <p:sp>
          <p:nvSpPr>
            <p:cNvPr id="34825" name="Line 7"/>
            <p:cNvSpPr/>
            <p:nvPr>
              <p:custDataLst>
                <p:tags r:id="rId6"/>
              </p:custDataLst>
            </p:nvPr>
          </p:nvSpPr>
          <p:spPr>
            <a:xfrm flipH="1" flipV="1">
              <a:off x="4895" y="2831"/>
              <a:ext cx="1" cy="277"/>
            </a:xfrm>
            <a:prstGeom prst="line">
              <a:avLst/>
            </a:prstGeom>
            <a:ln w="25400" cap="flat" cmpd="sng">
              <a:solidFill>
                <a:schemeClr val="tx2"/>
              </a:solidFill>
              <a:prstDash val="solid"/>
              <a:headEnd type="triangle" w="lg" len="lg"/>
              <a:tailEnd type="triangle" w="lg" len="lg"/>
            </a:ln>
          </p:spPr>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存储系统的速度</a:t>
            </a:r>
            <a:endParaRPr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nvPr>
        </p:nvSpPr>
        <p:spPr>
          <a:xfrm>
            <a:off x="457200" y="1212850"/>
            <a:ext cx="8229600" cy="2961005"/>
          </a:xfrm>
        </p:spPr>
        <p:txBody>
          <a:bodyPr/>
          <a:p>
            <a:pPr latinLnBrk="0">
              <a:spcBef>
                <a:spcPts val="1200"/>
              </a:spcBef>
            </a:pPr>
            <a:r>
              <a:rPr lang="zh-CN" altLang="en-US" sz="2400" dirty="0">
                <a:sym typeface="+mn-ea"/>
              </a:rPr>
              <a:t>存储系统的速度</a:t>
            </a:r>
            <a:endParaRPr lang="zh-CN" altLang="en-US" sz="2400" dirty="0">
              <a:sym typeface="+mn-ea"/>
            </a:endParaRPr>
          </a:p>
          <a:p>
            <a:pPr lvl="1" algn="l" latinLnBrk="0">
              <a:spcBef>
                <a:spcPts val="1200"/>
              </a:spcBef>
              <a:buSzTx/>
            </a:pPr>
            <a:r>
              <a:rPr lang="zh-CN" altLang="en-US" sz="2400">
                <a:cs typeface="+mn-ea"/>
                <a:sym typeface="+mn-ea"/>
              </a:rPr>
              <a:t>表示方法</a:t>
            </a:r>
            <a:endParaRPr lang="zh-CN" altLang="en-US" sz="2400">
              <a:cs typeface="+mn-ea"/>
            </a:endParaRPr>
          </a:p>
          <a:p>
            <a:pPr marL="1104900" lvl="3" indent="0" defTabSz="914400" eaLnBrk="1" latinLnBrk="0" hangingPunct="1">
              <a:spcBef>
                <a:spcPts val="1200"/>
              </a:spcBef>
              <a:tabLst>
                <a:tab pos="4089400" algn="l"/>
              </a:tabLst>
            </a:pPr>
            <a:r>
              <a:rPr lang="zh-CN" altLang="en-US" sz="1800" dirty="0">
                <a:sym typeface="+mn-ea"/>
              </a:rPr>
              <a:t>访问周期、存取周期、存储周期、存取时间、读出时间等</a:t>
            </a:r>
            <a:endParaRPr lang="zh-CN" altLang="en-US" sz="1800" dirty="0"/>
          </a:p>
          <a:p>
            <a:pPr marL="0" indent="0" defTabSz="914400" eaLnBrk="1" latinLnBrk="0" hangingPunct="1">
              <a:spcBef>
                <a:spcPts val="1200"/>
              </a:spcBef>
              <a:tabLst>
                <a:tab pos="4089400" algn="l"/>
              </a:tabLst>
            </a:pPr>
            <a:r>
              <a:rPr lang="zh-CN" altLang="en-US" sz="2400" dirty="0">
                <a:solidFill>
                  <a:srgbClr val="FF3300"/>
                </a:solidFill>
                <a:latin typeface="Times New Roman" panose="02020603050405020304" pitchFamily="18" charset="0"/>
                <a:cs typeface="Times New Roman" panose="02020603050405020304" pitchFamily="18" charset="0"/>
                <a:sym typeface="+mn-ea"/>
              </a:rPr>
              <a:t>命中率</a:t>
            </a:r>
            <a:r>
              <a:rPr lang="zh-CN" altLang="en-US" sz="2400" dirty="0">
                <a:solidFill>
                  <a:schemeClr val="tx2"/>
                </a:solidFill>
                <a:latin typeface="Times New Roman" panose="02020603050405020304" pitchFamily="18" charset="0"/>
                <a:cs typeface="Times New Roman" panose="02020603050405020304" pitchFamily="18" charset="0"/>
                <a:sym typeface="+mn-ea"/>
              </a:rPr>
              <a:t>定义：</a:t>
            </a:r>
            <a:r>
              <a:rPr lang="zh-CN" altLang="en-US" sz="2400" dirty="0">
                <a:latin typeface="Times New Roman" panose="02020603050405020304" pitchFamily="18" charset="0"/>
                <a:cs typeface="Times New Roman" panose="02020603050405020304" pitchFamily="18" charset="0"/>
                <a:sym typeface="+mn-ea"/>
              </a:rPr>
              <a:t>在</a:t>
            </a:r>
            <a:r>
              <a:rPr lang="en-US" altLang="zh-CN" sz="2400" dirty="0">
                <a:latin typeface="Times New Roman" panose="02020603050405020304" pitchFamily="18" charset="0"/>
                <a:cs typeface="Times New Roman" panose="02020603050405020304" pitchFamily="18" charset="0"/>
                <a:sym typeface="+mn-ea"/>
              </a:rPr>
              <a:t>M1</a:t>
            </a:r>
            <a:r>
              <a:rPr lang="zh-CN" altLang="en-US" sz="2400" dirty="0">
                <a:latin typeface="Times New Roman" panose="02020603050405020304" pitchFamily="18" charset="0"/>
                <a:cs typeface="Times New Roman" panose="02020603050405020304" pitchFamily="18" charset="0"/>
                <a:sym typeface="+mn-ea"/>
              </a:rPr>
              <a:t>存储器中访问到的概率</a:t>
            </a:r>
            <a:endParaRPr lang="zh-CN" altLang="en-US" sz="2400" dirty="0">
              <a:latin typeface="Times New Roman" panose="02020603050405020304" pitchFamily="18" charset="0"/>
              <a:cs typeface="Times New Roman" panose="02020603050405020304" pitchFamily="18" charset="0"/>
            </a:endParaRPr>
          </a:p>
          <a:p>
            <a:pPr marL="0" indent="0" defTabSz="914400" eaLnBrk="1" hangingPunct="1">
              <a:tabLst>
                <a:tab pos="4089400" algn="l"/>
              </a:tabLst>
            </a:pPr>
            <a:endParaRPr lang="zh-CN" altLang="en-US" sz="2400" dirty="0"/>
          </a:p>
          <a:p>
            <a:pPr marL="0" indent="0" defTabSz="914400" eaLnBrk="1" hangingPunct="1">
              <a:tabLst>
                <a:tab pos="4089400" algn="l"/>
              </a:tabLst>
            </a:pPr>
            <a:endParaRPr lang="zh-CN" altLang="en-US" sz="2400" dirty="0"/>
          </a:p>
          <a:p>
            <a:pPr marL="0" indent="0" defTabSz="914400" eaLnBrk="1" hangingPunct="1">
              <a:tabLst>
                <a:tab pos="4089400" algn="l"/>
              </a:tabLst>
            </a:pPr>
            <a:endParaRPr lang="zh-CN" altLang="en-US" sz="2400" dirty="0"/>
          </a:p>
          <a:p>
            <a:pPr lvl="1" algn="l" latinLnBrk="0">
              <a:spcBef>
                <a:spcPts val="600"/>
              </a:spcBef>
              <a:buSzTx/>
            </a:pPr>
            <a:r>
              <a:rPr lang="zh-CN" altLang="en-US" sz="2000">
                <a:latin typeface="Times New Roman" panose="02020603050405020304" pitchFamily="18" charset="0"/>
                <a:cs typeface="Times New Roman" panose="02020603050405020304" pitchFamily="18" charset="0"/>
                <a:sym typeface="+mn-ea"/>
              </a:rPr>
              <a:t>N</a:t>
            </a:r>
            <a:r>
              <a:rPr lang="zh-CN" altLang="en-US" sz="2000" baseline="-25000">
                <a:latin typeface="Times New Roman" panose="02020603050405020304" pitchFamily="18" charset="0"/>
                <a:cs typeface="Times New Roman" panose="02020603050405020304" pitchFamily="18" charset="0"/>
                <a:sym typeface="+mn-ea"/>
              </a:rPr>
              <a:t>1</a:t>
            </a:r>
            <a:r>
              <a:rPr lang="zh-CN" altLang="en-US" sz="2000">
                <a:latin typeface="Times New Roman" panose="02020603050405020304" pitchFamily="18" charset="0"/>
                <a:cs typeface="Times New Roman" panose="02020603050405020304" pitchFamily="18" charset="0"/>
                <a:sym typeface="+mn-ea"/>
              </a:rPr>
              <a:t>: M</a:t>
            </a:r>
            <a:r>
              <a:rPr lang="zh-CN" altLang="en-US" sz="2000" baseline="-25000">
                <a:latin typeface="Times New Roman" panose="02020603050405020304" pitchFamily="18" charset="0"/>
                <a:cs typeface="Times New Roman" panose="02020603050405020304" pitchFamily="18" charset="0"/>
                <a:sym typeface="+mn-ea"/>
              </a:rPr>
              <a:t>1</a:t>
            </a:r>
            <a:r>
              <a:rPr lang="zh-CN" altLang="en-US" sz="2000">
                <a:latin typeface="Times New Roman" panose="02020603050405020304" pitchFamily="18" charset="0"/>
                <a:cs typeface="Times New Roman" panose="02020603050405020304" pitchFamily="18" charset="0"/>
                <a:sym typeface="+mn-ea"/>
              </a:rPr>
              <a:t>的访问次数</a:t>
            </a:r>
            <a:endParaRPr lang="zh-CN" altLang="en-US" sz="2000">
              <a:latin typeface="Times New Roman" panose="02020603050405020304" pitchFamily="18" charset="0"/>
              <a:cs typeface="Times New Roman" panose="02020603050405020304" pitchFamily="18" charset="0"/>
            </a:endParaRPr>
          </a:p>
          <a:p>
            <a:pPr lvl="1" algn="l" latinLnBrk="0">
              <a:spcBef>
                <a:spcPts val="600"/>
              </a:spcBef>
              <a:buSzTx/>
            </a:pPr>
            <a:r>
              <a:rPr lang="zh-CN" altLang="en-US" sz="2000">
                <a:latin typeface="Times New Roman" panose="02020603050405020304" pitchFamily="18" charset="0"/>
                <a:cs typeface="Times New Roman" panose="02020603050405020304" pitchFamily="18" charset="0"/>
                <a:sym typeface="+mn-ea"/>
              </a:rPr>
              <a:t>N</a:t>
            </a:r>
            <a:r>
              <a:rPr lang="zh-CN" altLang="en-US" sz="2000" baseline="-25000">
                <a:latin typeface="Times New Roman" panose="02020603050405020304" pitchFamily="18" charset="0"/>
                <a:cs typeface="Times New Roman" panose="02020603050405020304" pitchFamily="18" charset="0"/>
                <a:sym typeface="+mn-ea"/>
              </a:rPr>
              <a:t>2</a:t>
            </a:r>
            <a:r>
              <a:rPr lang="zh-CN" altLang="en-US" sz="2000">
                <a:latin typeface="Times New Roman" panose="02020603050405020304" pitchFamily="18" charset="0"/>
                <a:cs typeface="Times New Roman" panose="02020603050405020304" pitchFamily="18" charset="0"/>
                <a:sym typeface="+mn-ea"/>
              </a:rPr>
              <a:t>: M</a:t>
            </a:r>
            <a:r>
              <a:rPr lang="zh-CN" altLang="en-US" sz="2000" baseline="-25000">
                <a:latin typeface="Times New Roman" panose="02020603050405020304" pitchFamily="18" charset="0"/>
                <a:cs typeface="Times New Roman" panose="02020603050405020304" pitchFamily="18" charset="0"/>
                <a:sym typeface="+mn-ea"/>
              </a:rPr>
              <a:t>2</a:t>
            </a:r>
            <a:r>
              <a:rPr lang="zh-CN" altLang="en-US" sz="2000">
                <a:latin typeface="Times New Roman" panose="02020603050405020304" pitchFamily="18" charset="0"/>
                <a:cs typeface="Times New Roman" panose="02020603050405020304" pitchFamily="18" charset="0"/>
                <a:sym typeface="+mn-ea"/>
              </a:rPr>
              <a:t>的访问次数</a:t>
            </a:r>
            <a:endParaRPr lang="zh-CN" altLang="en-US" sz="2000">
              <a:latin typeface="Times New Roman" panose="02020603050405020304" pitchFamily="18" charset="0"/>
              <a:cs typeface="Times New Roman" panose="02020603050405020304" pitchFamily="18" charset="0"/>
            </a:endParaRPr>
          </a:p>
          <a:p>
            <a:pPr marL="0" indent="0" defTabSz="914400" eaLnBrk="1" hangingPunct="1">
              <a:tabLst>
                <a:tab pos="4089400" algn="l"/>
              </a:tabLst>
            </a:pPr>
            <a:r>
              <a:rPr lang="zh-CN" altLang="en-US" sz="2400" dirty="0">
                <a:solidFill>
                  <a:schemeClr val="tx2"/>
                </a:solidFill>
                <a:sym typeface="+mn-ea"/>
              </a:rPr>
              <a:t>访问</a:t>
            </a:r>
            <a:r>
              <a:rPr lang="zh-CN" altLang="en-US" sz="2400" dirty="0">
                <a:solidFill>
                  <a:schemeClr val="tx2"/>
                </a:solidFill>
                <a:sym typeface="+mn-ea"/>
              </a:rPr>
              <a:t>时间与命中率的关系</a:t>
            </a:r>
            <a:endParaRPr lang="zh-CN" altLang="en-US" sz="2400" dirty="0">
              <a:solidFill>
                <a:schemeClr val="tx2"/>
              </a:solidFill>
            </a:endParaRPr>
          </a:p>
          <a:p>
            <a:pPr lvl="1" algn="l">
              <a:spcBef>
                <a:spcPts val="600"/>
              </a:spcBef>
              <a:buSzTx/>
            </a:pPr>
            <a:r>
              <a:rPr lang="zh-CN" altLang="en-US" sz="2000">
                <a:latin typeface="Times New Roman" panose="02020603050405020304" pitchFamily="18" charset="0"/>
                <a:cs typeface="Times New Roman" panose="02020603050405020304" pitchFamily="18" charset="0"/>
                <a:sym typeface="+mn-ea"/>
              </a:rPr>
              <a:t>T=HT</a:t>
            </a:r>
            <a:r>
              <a:rPr lang="zh-CN" altLang="en-US" sz="2000" baseline="-25000">
                <a:latin typeface="Times New Roman" panose="02020603050405020304" pitchFamily="18" charset="0"/>
                <a:cs typeface="Times New Roman" panose="02020603050405020304" pitchFamily="18" charset="0"/>
                <a:sym typeface="+mn-ea"/>
              </a:rPr>
              <a:t>1</a:t>
            </a:r>
            <a:r>
              <a:rPr lang="zh-CN" altLang="en-US" sz="2000">
                <a:latin typeface="Times New Roman" panose="02020603050405020304" pitchFamily="18" charset="0"/>
                <a:cs typeface="Times New Roman" panose="02020603050405020304" pitchFamily="18" charset="0"/>
                <a:sym typeface="+mn-ea"/>
              </a:rPr>
              <a:t>+(1-H)T</a:t>
            </a:r>
            <a:r>
              <a:rPr lang="zh-CN" altLang="en-US" sz="2000" baseline="-25000">
                <a:latin typeface="Times New Roman" panose="02020603050405020304" pitchFamily="18" charset="0"/>
                <a:cs typeface="Times New Roman" panose="02020603050405020304" pitchFamily="18" charset="0"/>
                <a:sym typeface="+mn-ea"/>
              </a:rPr>
              <a:t>2</a:t>
            </a:r>
            <a:endParaRPr lang="zh-CN" altLang="en-US" sz="2000">
              <a:latin typeface="Times New Roman" panose="02020603050405020304" pitchFamily="18" charset="0"/>
              <a:cs typeface="Times New Roman" panose="02020603050405020304" pitchFamily="18" charset="0"/>
            </a:endParaRPr>
          </a:p>
          <a:p>
            <a:pPr lvl="1" algn="l">
              <a:spcBef>
                <a:spcPts val="600"/>
              </a:spcBef>
              <a:buSzTx/>
            </a:pPr>
            <a:r>
              <a:rPr lang="zh-CN" altLang="en-US" sz="2000">
                <a:latin typeface="Times New Roman" panose="02020603050405020304" pitchFamily="18" charset="0"/>
                <a:cs typeface="Times New Roman" panose="02020603050405020304" pitchFamily="18" charset="0"/>
                <a:sym typeface="+mn-ea"/>
              </a:rPr>
              <a:t>当命中率H→1时，T→T</a:t>
            </a:r>
            <a:r>
              <a:rPr lang="zh-CN" altLang="en-US" sz="2000" baseline="-25000">
                <a:latin typeface="Times New Roman" panose="02020603050405020304" pitchFamily="18" charset="0"/>
                <a:cs typeface="Times New Roman" panose="02020603050405020304" pitchFamily="18" charset="0"/>
                <a:sym typeface="+mn-ea"/>
              </a:rPr>
              <a:t>1</a:t>
            </a:r>
            <a:endParaRPr lang="zh-CN" altLang="en-US" sz="2400">
              <a:sym typeface="+mn-ea"/>
            </a:endParaRPr>
          </a:p>
        </p:txBody>
      </p:sp>
      <p:graphicFrame>
        <p:nvGraphicFramePr>
          <p:cNvPr id="36868" name="Object 3"/>
          <p:cNvGraphicFramePr>
            <a:graphicFrameLocks noChangeAspect="1"/>
          </p:cNvGraphicFramePr>
          <p:nvPr>
            <p:custDataLst>
              <p:tags r:id="rId1"/>
            </p:custDataLst>
          </p:nvPr>
        </p:nvGraphicFramePr>
        <p:xfrm>
          <a:off x="1979613" y="3284855"/>
          <a:ext cx="1944687" cy="898525"/>
        </p:xfrm>
        <a:graphic>
          <a:graphicData uri="http://schemas.openxmlformats.org/presentationml/2006/ole">
            <mc:AlternateContent xmlns:mc="http://schemas.openxmlformats.org/markup-compatibility/2006">
              <mc:Choice xmlns:v="urn:schemas-microsoft-com:vml" Requires="v">
                <p:oleObj spid="_x0000_s3077" name="" r:id="rId2" imgW="1945005" imgH="898525" progId="Equation.3">
                  <p:embed/>
                </p:oleObj>
              </mc:Choice>
              <mc:Fallback>
                <p:oleObj name="" r:id="rId2" imgW="1945005" imgH="898525" progId="Equation.3">
                  <p:embed/>
                  <p:pic>
                    <p:nvPicPr>
                      <p:cNvPr id="0" name="图片 3076"/>
                      <p:cNvPicPr/>
                      <p:nvPr/>
                    </p:nvPicPr>
                    <p:blipFill>
                      <a:blip r:embed="rId3"/>
                      <a:stretch>
                        <a:fillRect/>
                      </a:stretch>
                    </p:blipFill>
                    <p:spPr>
                      <a:xfrm>
                        <a:off x="1979613" y="3284855"/>
                        <a:ext cx="1944687" cy="898525"/>
                      </a:xfrm>
                      <a:prstGeom prst="rect">
                        <a:avLst/>
                      </a:prstGeom>
                      <a:noFill/>
                      <a:ln w="38100">
                        <a:noFill/>
                        <a:miter/>
                      </a:ln>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几个概念（以</a:t>
            </a:r>
            <a:r>
              <a:rPr lang="en-US" altLang="zh-CN"/>
              <a:t>cache</a:t>
            </a:r>
            <a:r>
              <a:rPr lang="zh-CN" altLang="en-US"/>
              <a:t>为例）</a:t>
            </a:r>
            <a:endParaRPr lang="zh-CN" altLang="en-US"/>
          </a:p>
        </p:txBody>
      </p:sp>
      <p:sp>
        <p:nvSpPr>
          <p:cNvPr id="3" name="内容占位符 2"/>
          <p:cNvSpPr>
            <a:spLocks noGrp="1"/>
          </p:cNvSpPr>
          <p:nvPr>
            <p:ph idx="1"/>
          </p:nvPr>
        </p:nvSpPr>
        <p:spPr>
          <a:xfrm>
            <a:off x="457200" y="1316990"/>
            <a:ext cx="8396605" cy="5336540"/>
          </a:xfrm>
        </p:spPr>
        <p:txBody>
          <a:bodyPr/>
          <a:p>
            <a:pPr latinLnBrk="0">
              <a:lnSpc>
                <a:spcPct val="100000"/>
              </a:lnSpc>
              <a:spcBef>
                <a:spcPts val="0"/>
              </a:spcBef>
            </a:pPr>
            <a:r>
              <a:rPr lang="zh-CN" altLang="en-US">
                <a:solidFill>
                  <a:srgbClr val="FF0000"/>
                </a:solidFill>
              </a:rPr>
              <a:t>命中</a:t>
            </a:r>
            <a:r>
              <a:rPr lang="zh-CN" altLang="en-US"/>
              <a:t>：</a:t>
            </a:r>
            <a:endParaRPr lang="zh-CN" altLang="en-US"/>
          </a:p>
          <a:p>
            <a:pPr lvl="1" latinLnBrk="0">
              <a:lnSpc>
                <a:spcPct val="100000"/>
              </a:lnSpc>
              <a:spcBef>
                <a:spcPts val="0"/>
              </a:spcBef>
            </a:pPr>
            <a:r>
              <a:rPr lang="zh-CN" altLang="en-US" sz="2400"/>
              <a:t>处理器需要的数据在高层存储器的某个块（行）中；</a:t>
            </a:r>
            <a:endParaRPr lang="zh-CN" altLang="en-US" sz="2400"/>
          </a:p>
          <a:p>
            <a:pPr latinLnBrk="0">
              <a:lnSpc>
                <a:spcPct val="100000"/>
              </a:lnSpc>
              <a:spcBef>
                <a:spcPts val="1200"/>
              </a:spcBef>
            </a:pPr>
            <a:r>
              <a:rPr lang="zh-CN" altLang="en-US">
                <a:solidFill>
                  <a:srgbClr val="FF0000"/>
                </a:solidFill>
              </a:rPr>
              <a:t>缺失</a:t>
            </a:r>
            <a:r>
              <a:rPr lang="zh-CN" altLang="en-US"/>
              <a:t>：</a:t>
            </a:r>
            <a:endParaRPr lang="zh-CN" altLang="en-US"/>
          </a:p>
          <a:p>
            <a:pPr lvl="1" latinLnBrk="0">
              <a:lnSpc>
                <a:spcPct val="100000"/>
              </a:lnSpc>
              <a:spcBef>
                <a:spcPts val="0"/>
              </a:spcBef>
            </a:pPr>
            <a:r>
              <a:rPr lang="zh-CN" altLang="en-US"/>
              <a:t>在</a:t>
            </a:r>
            <a:r>
              <a:rPr lang="zh-CN" altLang="en-US" sz="2400"/>
              <a:t>高层存储器中未找到需要的数据</a:t>
            </a:r>
            <a:endParaRPr lang="zh-CN" altLang="en-US" sz="2400"/>
          </a:p>
          <a:p>
            <a:pPr latinLnBrk="0">
              <a:lnSpc>
                <a:spcPct val="100000"/>
              </a:lnSpc>
              <a:spcBef>
                <a:spcPts val="1200"/>
              </a:spcBef>
            </a:pPr>
            <a:r>
              <a:rPr lang="zh-CN" altLang="en-US">
                <a:solidFill>
                  <a:srgbClr val="FF0000"/>
                </a:solidFill>
              </a:rPr>
              <a:t>命中率</a:t>
            </a:r>
            <a:r>
              <a:rPr lang="zh-CN" altLang="en-US"/>
              <a:t>：</a:t>
            </a:r>
            <a:r>
              <a:rPr lang="zh-CN" altLang="en-US" sz="2400" b="0">
                <a:solidFill>
                  <a:schemeClr val="tx1"/>
                </a:solidFill>
                <a:cs typeface="+mn-ea"/>
              </a:rPr>
              <a:t>命中的比率</a:t>
            </a:r>
            <a:endParaRPr lang="zh-CN" altLang="en-US"/>
          </a:p>
          <a:p>
            <a:pPr latinLnBrk="0">
              <a:lnSpc>
                <a:spcPct val="100000"/>
              </a:lnSpc>
              <a:spcBef>
                <a:spcPts val="1200"/>
              </a:spcBef>
            </a:pPr>
            <a:r>
              <a:rPr lang="zh-CN" altLang="en-US">
                <a:solidFill>
                  <a:srgbClr val="FF0000"/>
                </a:solidFill>
              </a:rPr>
              <a:t>缺失率</a:t>
            </a:r>
            <a:r>
              <a:rPr lang="zh-CN" altLang="en-US"/>
              <a:t>：</a:t>
            </a:r>
            <a:r>
              <a:rPr lang="zh-CN" altLang="en-US" sz="2400" b="0">
                <a:solidFill>
                  <a:schemeClr val="tx1"/>
                </a:solidFill>
                <a:cs typeface="+mn-ea"/>
              </a:rPr>
              <a:t>1-命中率</a:t>
            </a:r>
            <a:endParaRPr lang="zh-CN" altLang="en-US" sz="2400" b="0">
              <a:solidFill>
                <a:schemeClr val="tx1"/>
              </a:solidFill>
              <a:cs typeface="+mn-ea"/>
            </a:endParaRPr>
          </a:p>
          <a:p>
            <a:pPr eaLnBrk="1" latinLnBrk="0" hangingPunct="1">
              <a:lnSpc>
                <a:spcPct val="100000"/>
              </a:lnSpc>
              <a:spcBef>
                <a:spcPts val="1200"/>
              </a:spcBef>
            </a:pPr>
            <a:r>
              <a:rPr lang="zh-CN" altLang="en-US" dirty="0">
                <a:solidFill>
                  <a:srgbClr val="FF0000"/>
                </a:solidFill>
                <a:latin typeface="黑体" panose="02010609060101010101" pitchFamily="49" charset="-122"/>
                <a:ea typeface="黑体" panose="02010609060101010101" pitchFamily="49" charset="-122"/>
                <a:sym typeface="+mn-ea"/>
              </a:rPr>
              <a:t>命中时间</a:t>
            </a:r>
            <a:r>
              <a:rPr lang="zh-CN" altLang="en-US" dirty="0">
                <a:latin typeface="黑体" panose="02010609060101010101" pitchFamily="49" charset="-122"/>
                <a:ea typeface="黑体" panose="02010609060101010101" pitchFamily="49" charset="-122"/>
                <a:sym typeface="+mn-ea"/>
              </a:rPr>
              <a:t>：</a:t>
            </a:r>
            <a:endParaRPr lang="en-US" altLang="zh-CN" dirty="0">
              <a:latin typeface="黑体" panose="02010609060101010101" pitchFamily="49" charset="-122"/>
              <a:ea typeface="黑体" panose="02010609060101010101" pitchFamily="49" charset="-122"/>
            </a:endParaRPr>
          </a:p>
          <a:p>
            <a:pPr lvl="1" algn="l" latinLnBrk="0">
              <a:lnSpc>
                <a:spcPct val="100000"/>
              </a:lnSpc>
              <a:spcBef>
                <a:spcPts val="0"/>
              </a:spcBef>
              <a:buSzTx/>
            </a:pPr>
            <a:r>
              <a:rPr lang="zh-CN" altLang="en-US" sz="2400">
                <a:cs typeface="+mn-ea"/>
                <a:sym typeface="+mn-ea"/>
              </a:rPr>
              <a:t>命中时访问需要的时间，包括判断是否命中的时间；</a:t>
            </a:r>
            <a:endParaRPr lang="zh-CN" altLang="en-US" sz="2400">
              <a:cs typeface="+mn-ea"/>
            </a:endParaRPr>
          </a:p>
          <a:p>
            <a:pPr eaLnBrk="1" latinLnBrk="0" hangingPunct="1">
              <a:lnSpc>
                <a:spcPct val="100000"/>
              </a:lnSpc>
              <a:spcBef>
                <a:spcPts val="1200"/>
              </a:spcBef>
            </a:pPr>
            <a:r>
              <a:rPr lang="zh-CN" altLang="en-US" dirty="0">
                <a:solidFill>
                  <a:srgbClr val="FF0000"/>
                </a:solidFill>
                <a:latin typeface="黑体" panose="02010609060101010101" pitchFamily="49" charset="-122"/>
                <a:ea typeface="黑体" panose="02010609060101010101" pitchFamily="49" charset="-122"/>
                <a:sym typeface="+mn-ea"/>
              </a:rPr>
              <a:t>缺失代价</a:t>
            </a:r>
            <a:r>
              <a:rPr lang="zh-CN" altLang="en-US" dirty="0">
                <a:latin typeface="黑体" panose="02010609060101010101" pitchFamily="49" charset="-122"/>
                <a:ea typeface="黑体" panose="02010609060101010101" pitchFamily="49" charset="-122"/>
                <a:sym typeface="+mn-ea"/>
              </a:rPr>
              <a:t>：</a:t>
            </a:r>
            <a:endParaRPr lang="en-US" altLang="zh-CN" dirty="0">
              <a:latin typeface="黑体" panose="02010609060101010101" pitchFamily="49" charset="-122"/>
              <a:ea typeface="黑体" panose="02010609060101010101" pitchFamily="49" charset="-122"/>
            </a:endParaRPr>
          </a:p>
          <a:p>
            <a:pPr lvl="1" algn="l" latinLnBrk="0">
              <a:lnSpc>
                <a:spcPct val="100000"/>
              </a:lnSpc>
              <a:spcBef>
                <a:spcPts val="0"/>
              </a:spcBef>
              <a:buSzTx/>
            </a:pPr>
            <a:r>
              <a:rPr lang="zh-CN" altLang="en-US" sz="2400">
                <a:cs typeface="+mn-ea"/>
                <a:sym typeface="+mn-ea"/>
              </a:rPr>
              <a:t>从内存中替代块的时间；</a:t>
            </a:r>
            <a:endParaRPr lang="zh-CN" altLang="en-US" sz="2400">
              <a:cs typeface="+mn-ea"/>
            </a:endParaRPr>
          </a:p>
          <a:p>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p:cNvSpPr>
          <p:nvPr>
            <p:ph type="title"/>
          </p:nvPr>
        </p:nvSpPr>
        <p:spPr>
          <a:xfrm>
            <a:off x="361950" y="266700"/>
            <a:ext cx="7772400" cy="1143000"/>
          </a:xfrm>
          <a:noFill/>
          <a:ln>
            <a:noFill/>
          </a:ln>
        </p:spPr>
        <p:txBody>
          <a:bodyPr/>
          <a:p>
            <a:pPr eaLnBrk="1" hangingPunct="1"/>
            <a:r>
              <a:rPr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存储系统的访问效率</a:t>
            </a:r>
            <a:endParaRPr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0723" name="Rectangle 3"/>
          <p:cNvSpPr>
            <a:spLocks noGrp="1"/>
          </p:cNvSpPr>
          <p:nvPr>
            <p:ph idx="1"/>
          </p:nvPr>
        </p:nvSpPr>
        <p:spPr>
          <a:xfrm>
            <a:off x="514985" y="1413510"/>
            <a:ext cx="8114030" cy="4637405"/>
          </a:xfrm>
          <a:noFill/>
          <a:ln>
            <a:noFill/>
          </a:ln>
        </p:spPr>
        <p:txBody>
          <a:bodyPr/>
          <a:p>
            <a:pPr marL="0" lvl="0" indent="0" algn="just" eaLnBrk="1" latinLnBrk="0" hangingPunct="1">
              <a:spcBef>
                <a:spcPts val="1800"/>
              </a:spcBef>
              <a:buSzTx/>
              <a:buNone/>
            </a:pPr>
            <a:endParaRPr lang="zh-CN" altLang="en-US" sz="2400" b="0" dirty="0">
              <a:solidFill>
                <a:schemeClr val="tx1"/>
              </a:solidFill>
              <a:latin typeface="Times New Roman" panose="02020603050405020304" pitchFamily="18" charset="0"/>
              <a:cs typeface="Times New Roman" panose="02020603050405020304" pitchFamily="18" charset="0"/>
            </a:endParaRPr>
          </a:p>
          <a:p>
            <a:pPr lvl="0" algn="just" eaLnBrk="1" latinLnBrk="0" hangingPunct="1">
              <a:spcBef>
                <a:spcPts val="1800"/>
              </a:spcBef>
              <a:buSzTx/>
            </a:pPr>
            <a:r>
              <a:rPr lang="zh-CN" altLang="en-US" sz="2400" b="0" dirty="0">
                <a:solidFill>
                  <a:schemeClr val="tx1"/>
                </a:solidFill>
                <a:latin typeface="Times New Roman" panose="02020603050405020304" pitchFamily="18" charset="0"/>
                <a:cs typeface="Times New Roman" panose="02020603050405020304" pitchFamily="18" charset="0"/>
              </a:rPr>
              <a:t>主要与</a:t>
            </a:r>
            <a:r>
              <a:rPr lang="zh-CN" altLang="en-US" sz="2400" b="0" dirty="0">
                <a:solidFill>
                  <a:srgbClr val="FF0000"/>
                </a:solidFill>
                <a:latin typeface="Times New Roman" panose="02020603050405020304" pitchFamily="18" charset="0"/>
                <a:cs typeface="Times New Roman" panose="02020603050405020304" pitchFamily="18" charset="0"/>
              </a:rPr>
              <a:t>命中率</a:t>
            </a:r>
            <a:r>
              <a:rPr lang="zh-CN" altLang="en-US" sz="2400" b="0" dirty="0">
                <a:solidFill>
                  <a:schemeClr val="tx1"/>
                </a:solidFill>
                <a:latin typeface="Times New Roman" panose="02020603050405020304" pitchFamily="18" charset="0"/>
                <a:cs typeface="Times New Roman" panose="02020603050405020304" pitchFamily="18" charset="0"/>
              </a:rPr>
              <a:t>和</a:t>
            </a:r>
            <a:r>
              <a:rPr lang="zh-CN" altLang="en-US" sz="2400" b="0" dirty="0">
                <a:solidFill>
                  <a:srgbClr val="FF0000"/>
                </a:solidFill>
                <a:latin typeface="Times New Roman" panose="02020603050405020304" pitchFamily="18" charset="0"/>
                <a:cs typeface="Times New Roman" panose="02020603050405020304" pitchFamily="18" charset="0"/>
              </a:rPr>
              <a:t>两级存储器的速度之比</a:t>
            </a:r>
            <a:r>
              <a:rPr lang="zh-CN" altLang="en-US" sz="2400" b="0" dirty="0">
                <a:solidFill>
                  <a:schemeClr val="tx1"/>
                </a:solidFill>
                <a:latin typeface="Times New Roman" panose="02020603050405020304" pitchFamily="18" charset="0"/>
                <a:cs typeface="Times New Roman" panose="02020603050405020304" pitchFamily="18" charset="0"/>
              </a:rPr>
              <a:t>有关</a:t>
            </a:r>
            <a:endParaRPr lang="zh-CN" altLang="en-US" sz="2400" b="0" dirty="0">
              <a:solidFill>
                <a:schemeClr val="tx1"/>
              </a:solidFill>
              <a:latin typeface="Times New Roman" panose="02020603050405020304" pitchFamily="18" charset="0"/>
              <a:cs typeface="Times New Roman" panose="02020603050405020304" pitchFamily="18" charset="0"/>
            </a:endParaRPr>
          </a:p>
        </p:txBody>
      </p:sp>
      <p:graphicFrame>
        <p:nvGraphicFramePr>
          <p:cNvPr id="38917" name="Object 3"/>
          <p:cNvGraphicFramePr>
            <a:graphicFrameLocks noChangeAspect="1"/>
          </p:cNvGraphicFramePr>
          <p:nvPr>
            <p:custDataLst>
              <p:tags r:id="rId1"/>
            </p:custDataLst>
          </p:nvPr>
        </p:nvGraphicFramePr>
        <p:xfrm>
          <a:off x="755333" y="3068955"/>
          <a:ext cx="7261225" cy="1049338"/>
        </p:xfrm>
        <a:graphic>
          <a:graphicData uri="http://schemas.openxmlformats.org/presentationml/2006/ole">
            <mc:AlternateContent xmlns:mc="http://schemas.openxmlformats.org/markup-compatibility/2006">
              <mc:Choice xmlns:v="urn:schemas-microsoft-com:vml" Requires="v">
                <p:oleObj spid="_x0000_s3076" name="" r:id="rId2" imgW="7261225" imgH="1049655" progId="Equation.3">
                  <p:embed/>
                </p:oleObj>
              </mc:Choice>
              <mc:Fallback>
                <p:oleObj name="" r:id="rId2" imgW="7261225" imgH="1049655" progId="Equation.3">
                  <p:embed/>
                  <p:pic>
                    <p:nvPicPr>
                      <p:cNvPr id="0" name="图片 3075"/>
                      <p:cNvPicPr/>
                      <p:nvPr/>
                    </p:nvPicPr>
                    <p:blipFill>
                      <a:blip r:embed="rId3"/>
                      <a:stretch>
                        <a:fillRect/>
                      </a:stretch>
                    </p:blipFill>
                    <p:spPr>
                      <a:xfrm>
                        <a:off x="755333" y="3068955"/>
                        <a:ext cx="7261225" cy="1049338"/>
                      </a:xfrm>
                      <a:prstGeom prst="rect">
                        <a:avLst/>
                      </a:prstGeom>
                      <a:noFill/>
                      <a:ln w="38100">
                        <a:noFill/>
                        <a:miter/>
                      </a:ln>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例</a:t>
            </a:r>
            <a:endParaRPr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nvPr>
        </p:nvSpPr>
        <p:spPr>
          <a:xfrm>
            <a:off x="457200" y="1309370"/>
            <a:ext cx="8229600" cy="4817110"/>
          </a:xfrm>
        </p:spPr>
        <p:txBody>
          <a:bodyPr/>
          <a:p>
            <a:pPr eaLnBrk="1" latinLnBrk="0" hangingPunct="1">
              <a:spcBef>
                <a:spcPts val="1200"/>
              </a:spcBef>
            </a:pPr>
            <a:r>
              <a:rPr lang="zh-CN" altLang="en-US" sz="2400" dirty="0">
                <a:latin typeface="Times New Roman" panose="02020603050405020304" pitchFamily="18" charset="0"/>
                <a:cs typeface="Times New Roman" panose="02020603050405020304" pitchFamily="18" charset="0"/>
                <a:sym typeface="+mn-ea"/>
              </a:rPr>
              <a:t>假设</a:t>
            </a:r>
            <a:r>
              <a:rPr lang="en-US" altLang="zh-CN" sz="2400" dirty="0">
                <a:latin typeface="Times New Roman" panose="02020603050405020304" pitchFamily="18" charset="0"/>
                <a:cs typeface="Times New Roman" panose="02020603050405020304" pitchFamily="18" charset="0"/>
                <a:sym typeface="+mn-ea"/>
              </a:rPr>
              <a:t>T</a:t>
            </a:r>
            <a:r>
              <a:rPr lang="en-US" altLang="zh-CN" sz="2400" baseline="-25000" dirty="0">
                <a:latin typeface="Times New Roman" panose="02020603050405020304" pitchFamily="18" charset="0"/>
                <a:cs typeface="Times New Roman" panose="02020603050405020304" pitchFamily="18" charset="0"/>
                <a:sym typeface="+mn-ea"/>
              </a:rPr>
              <a:t>2</a:t>
            </a:r>
            <a:r>
              <a:rPr lang="en-US" altLang="zh-CN" sz="2400" dirty="0">
                <a:latin typeface="Times New Roman" panose="02020603050405020304" pitchFamily="18" charset="0"/>
                <a:cs typeface="Times New Roman" panose="02020603050405020304" pitchFamily="18" charset="0"/>
                <a:sym typeface="+mn-ea"/>
              </a:rPr>
              <a:t>=5T</a:t>
            </a:r>
            <a:r>
              <a:rPr lang="en-US" altLang="zh-CN" sz="2400" baseline="-25000" dirty="0">
                <a:latin typeface="Times New Roman" panose="02020603050405020304" pitchFamily="18" charset="0"/>
                <a:cs typeface="Times New Roman" panose="02020603050405020304" pitchFamily="18" charset="0"/>
                <a:sym typeface="+mn-ea"/>
              </a:rPr>
              <a:t>1</a:t>
            </a:r>
            <a:r>
              <a:rPr lang="en-US" altLang="zh-CN" sz="2400" dirty="0">
                <a:latin typeface="Times New Roman" panose="02020603050405020304" pitchFamily="18" charset="0"/>
                <a:cs typeface="Times New Roman" panose="02020603050405020304" pitchFamily="18" charset="0"/>
                <a:sym typeface="+mn-ea"/>
              </a:rPr>
              <a:t> </a:t>
            </a:r>
            <a:r>
              <a:rPr lang="zh-CN" altLang="en-US" sz="2400" dirty="0">
                <a:latin typeface="Times New Roman" panose="02020603050405020304" pitchFamily="18" charset="0"/>
                <a:cs typeface="Times New Roman" panose="02020603050405020304" pitchFamily="18" charset="0"/>
                <a:sym typeface="+mn-ea"/>
              </a:rPr>
              <a:t>，在命中率</a:t>
            </a:r>
            <a:r>
              <a:rPr lang="en-US" altLang="zh-CN" sz="2400" dirty="0">
                <a:latin typeface="Times New Roman" panose="02020603050405020304" pitchFamily="18" charset="0"/>
                <a:cs typeface="Times New Roman" panose="02020603050405020304" pitchFamily="18" charset="0"/>
                <a:sym typeface="+mn-ea"/>
              </a:rPr>
              <a:t>H</a:t>
            </a:r>
            <a:r>
              <a:rPr lang="zh-CN" altLang="en-US" sz="2400" dirty="0">
                <a:latin typeface="Times New Roman" panose="02020603050405020304" pitchFamily="18" charset="0"/>
                <a:cs typeface="Times New Roman" panose="02020603050405020304" pitchFamily="18" charset="0"/>
                <a:sym typeface="+mn-ea"/>
              </a:rPr>
              <a:t>为</a:t>
            </a:r>
            <a:r>
              <a:rPr lang="en-US" altLang="zh-CN" sz="2400" dirty="0">
                <a:latin typeface="Times New Roman" panose="02020603050405020304" pitchFamily="18" charset="0"/>
                <a:cs typeface="Times New Roman" panose="02020603050405020304" pitchFamily="18" charset="0"/>
                <a:sym typeface="+mn-ea"/>
              </a:rPr>
              <a:t>0.9</a:t>
            </a:r>
            <a:r>
              <a:rPr lang="zh-CN" altLang="en-US" sz="2400" dirty="0">
                <a:latin typeface="Times New Roman" panose="02020603050405020304" pitchFamily="18" charset="0"/>
                <a:cs typeface="Times New Roman" panose="02020603050405020304" pitchFamily="18" charset="0"/>
                <a:sym typeface="+mn-ea"/>
              </a:rPr>
              <a:t>和</a:t>
            </a:r>
            <a:r>
              <a:rPr lang="en-US" altLang="zh-CN" sz="2400" dirty="0">
                <a:latin typeface="Times New Roman" panose="02020603050405020304" pitchFamily="18" charset="0"/>
                <a:cs typeface="Times New Roman" panose="02020603050405020304" pitchFamily="18" charset="0"/>
                <a:sym typeface="+mn-ea"/>
              </a:rPr>
              <a:t>0.99</a:t>
            </a:r>
            <a:r>
              <a:rPr lang="zh-CN" altLang="en-US" sz="2400" dirty="0">
                <a:latin typeface="Times New Roman" panose="02020603050405020304" pitchFamily="18" charset="0"/>
                <a:cs typeface="Times New Roman" panose="02020603050405020304" pitchFamily="18" charset="0"/>
                <a:sym typeface="+mn-ea"/>
              </a:rPr>
              <a:t>两种情况下，分别计算存储系统的访问效率。</a:t>
            </a:r>
            <a:endParaRPr lang="zh-CN" altLang="en-US" sz="24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400" dirty="0">
                <a:latin typeface="Times New Roman" panose="02020603050405020304" pitchFamily="18" charset="0"/>
                <a:cs typeface="Times New Roman" panose="02020603050405020304" pitchFamily="18" charset="0"/>
                <a:sym typeface="+mn-ea"/>
              </a:rPr>
              <a:t>解：</a:t>
            </a:r>
            <a:endParaRPr lang="zh-CN" altLang="en-US" sz="2400" dirty="0">
              <a:latin typeface="Times New Roman" panose="02020603050405020304" pitchFamily="18" charset="0"/>
              <a:cs typeface="Times New Roman" panose="02020603050405020304" pitchFamily="18" charset="0"/>
            </a:endParaRPr>
          </a:p>
          <a:p>
            <a:pPr eaLnBrk="1" latinLnBrk="0" hangingPunct="1">
              <a:spcBef>
                <a:spcPts val="1200"/>
              </a:spcBef>
            </a:pPr>
            <a:endParaRPr lang="zh-CN" altLang="en-US" sz="2400" dirty="0">
              <a:latin typeface="Times New Roman" panose="02020603050405020304" pitchFamily="18" charset="0"/>
              <a:cs typeface="Times New Roman" panose="02020603050405020304" pitchFamily="18" charset="0"/>
            </a:endParaRPr>
          </a:p>
          <a:p>
            <a:pPr eaLnBrk="1" latinLnBrk="0" hangingPunct="1">
              <a:spcBef>
                <a:spcPts val="1200"/>
              </a:spcBef>
            </a:pPr>
            <a:endParaRPr lang="zh-CN" altLang="en-US" sz="2400" dirty="0">
              <a:latin typeface="Times New Roman" panose="02020603050405020304" pitchFamily="18" charset="0"/>
              <a:cs typeface="Times New Roman" panose="02020603050405020304" pitchFamily="18" charset="0"/>
            </a:endParaRPr>
          </a:p>
          <a:p>
            <a:pPr eaLnBrk="1" latinLnBrk="0" hangingPunct="1">
              <a:spcBef>
                <a:spcPts val="1200"/>
              </a:spcBef>
            </a:pPr>
            <a:endParaRPr lang="zh-CN" altLang="en-US" sz="24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cs typeface="Times New Roman" panose="02020603050405020304" pitchFamily="18" charset="0"/>
                <a:sym typeface="+mn-ea"/>
              </a:rPr>
              <a:t>当</a:t>
            </a:r>
            <a:r>
              <a:rPr lang="en-US" altLang="zh-CN" sz="2400" dirty="0">
                <a:latin typeface="Times New Roman" panose="02020603050405020304" pitchFamily="18" charset="0"/>
                <a:cs typeface="Times New Roman" panose="02020603050405020304" pitchFamily="18" charset="0"/>
                <a:sym typeface="+mn-ea"/>
              </a:rPr>
              <a:t>H=0.9</a:t>
            </a:r>
            <a:r>
              <a:rPr lang="zh-CN" altLang="en-US" sz="2400" dirty="0">
                <a:latin typeface="Times New Roman" panose="02020603050405020304" pitchFamily="18" charset="0"/>
                <a:cs typeface="Times New Roman" panose="02020603050405020304" pitchFamily="18" charset="0"/>
                <a:sym typeface="+mn-ea"/>
              </a:rPr>
              <a:t>时</a:t>
            </a:r>
            <a:r>
              <a:rPr lang="en-US" altLang="zh-CN" sz="2400" dirty="0">
                <a:latin typeface="Times New Roman" panose="02020603050405020304" pitchFamily="18" charset="0"/>
                <a:cs typeface="Times New Roman" panose="02020603050405020304" pitchFamily="18" charset="0"/>
                <a:sym typeface="+mn-ea"/>
              </a:rPr>
              <a:t>, e</a:t>
            </a:r>
            <a:r>
              <a:rPr lang="en-US" altLang="zh-CN" sz="2400" baseline="-25000" dirty="0">
                <a:latin typeface="Times New Roman" panose="02020603050405020304" pitchFamily="18" charset="0"/>
                <a:cs typeface="Times New Roman" panose="02020603050405020304" pitchFamily="18" charset="0"/>
                <a:sym typeface="+mn-ea"/>
              </a:rPr>
              <a:t>1</a:t>
            </a:r>
            <a:r>
              <a:rPr lang="en-US" altLang="zh-CN" sz="2400" dirty="0">
                <a:latin typeface="Times New Roman" panose="02020603050405020304" pitchFamily="18" charset="0"/>
                <a:cs typeface="Times New Roman" panose="02020603050405020304" pitchFamily="18" charset="0"/>
                <a:sym typeface="+mn-ea"/>
              </a:rPr>
              <a:t>=1/(0.9+(1-0.9)*5)=0.72</a:t>
            </a:r>
            <a:endParaRPr lang="en-US" altLang="zh-CN" sz="24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cs typeface="Times New Roman" panose="02020603050405020304" pitchFamily="18" charset="0"/>
                <a:sym typeface="+mn-ea"/>
              </a:rPr>
              <a:t>当</a:t>
            </a:r>
            <a:r>
              <a:rPr lang="en-US" altLang="zh-CN" sz="2400" dirty="0">
                <a:latin typeface="Times New Roman" panose="02020603050405020304" pitchFamily="18" charset="0"/>
                <a:cs typeface="Times New Roman" panose="02020603050405020304" pitchFamily="18" charset="0"/>
                <a:sym typeface="+mn-ea"/>
              </a:rPr>
              <a:t>H=0.99</a:t>
            </a:r>
            <a:r>
              <a:rPr lang="zh-CN" altLang="en-US" sz="2400" dirty="0">
                <a:latin typeface="Times New Roman" panose="02020603050405020304" pitchFamily="18" charset="0"/>
                <a:cs typeface="Times New Roman" panose="02020603050405020304" pitchFamily="18" charset="0"/>
                <a:sym typeface="+mn-ea"/>
              </a:rPr>
              <a:t>时</a:t>
            </a:r>
            <a:r>
              <a:rPr lang="en-US" altLang="zh-CN" sz="2400" dirty="0">
                <a:latin typeface="Times New Roman" panose="02020603050405020304" pitchFamily="18" charset="0"/>
                <a:cs typeface="Times New Roman" panose="02020603050405020304" pitchFamily="18" charset="0"/>
                <a:sym typeface="+mn-ea"/>
              </a:rPr>
              <a:t>, e</a:t>
            </a:r>
            <a:r>
              <a:rPr lang="en-US" altLang="zh-CN" sz="2400" baseline="-25000" dirty="0">
                <a:latin typeface="Times New Roman" panose="02020603050405020304" pitchFamily="18" charset="0"/>
                <a:cs typeface="Times New Roman" panose="02020603050405020304" pitchFamily="18" charset="0"/>
                <a:sym typeface="+mn-ea"/>
              </a:rPr>
              <a:t>2</a:t>
            </a:r>
            <a:r>
              <a:rPr lang="en-US" altLang="zh-CN" sz="2400" dirty="0">
                <a:latin typeface="Times New Roman" panose="02020603050405020304" pitchFamily="18" charset="0"/>
                <a:cs typeface="Times New Roman" panose="02020603050405020304" pitchFamily="18" charset="0"/>
                <a:sym typeface="+mn-ea"/>
              </a:rPr>
              <a:t>=1/(0.99+(1-0.99)*5)=0.96</a:t>
            </a:r>
            <a:endParaRPr lang="zh-CN" altLang="en-US" sz="2400">
              <a:latin typeface="Times New Roman" panose="02020603050405020304" pitchFamily="18" charset="0"/>
              <a:cs typeface="Times New Roman" panose="02020603050405020304" pitchFamily="18" charset="0"/>
              <a:sym typeface="+mn-ea"/>
            </a:endParaRPr>
          </a:p>
        </p:txBody>
      </p:sp>
      <p:graphicFrame>
        <p:nvGraphicFramePr>
          <p:cNvPr id="40965" name="Object 4"/>
          <p:cNvGraphicFramePr>
            <a:graphicFrameLocks noChangeAspect="1"/>
          </p:cNvGraphicFramePr>
          <p:nvPr>
            <p:custDataLst>
              <p:tags r:id="rId1"/>
            </p:custDataLst>
          </p:nvPr>
        </p:nvGraphicFramePr>
        <p:xfrm>
          <a:off x="947738" y="2852738"/>
          <a:ext cx="7261225" cy="1049337"/>
        </p:xfrm>
        <a:graphic>
          <a:graphicData uri="http://schemas.openxmlformats.org/presentationml/2006/ole">
            <mc:AlternateContent xmlns:mc="http://schemas.openxmlformats.org/markup-compatibility/2006">
              <mc:Choice xmlns:v="urn:schemas-microsoft-com:vml" Requires="v">
                <p:oleObj spid="_x0000_s3078" name="" r:id="rId2" imgW="7261225" imgH="1049655" progId="Equation.3">
                  <p:embed/>
                </p:oleObj>
              </mc:Choice>
              <mc:Fallback>
                <p:oleObj name="" r:id="rId2" imgW="7261225" imgH="1049655" progId="Equation.3">
                  <p:embed/>
                  <p:pic>
                    <p:nvPicPr>
                      <p:cNvPr id="0" name="图片 3077"/>
                      <p:cNvPicPr/>
                      <p:nvPr/>
                    </p:nvPicPr>
                    <p:blipFill>
                      <a:blip r:embed="rId3"/>
                      <a:stretch>
                        <a:fillRect/>
                      </a:stretch>
                    </p:blipFill>
                    <p:spPr>
                      <a:xfrm>
                        <a:off x="947738" y="2852738"/>
                        <a:ext cx="7261225" cy="1049337"/>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提高存储系统速度的两条途径</a:t>
            </a:r>
            <a:endParaRPr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 name="内容占位符 2"/>
          <p:cNvSpPr>
            <a:spLocks noGrp="1"/>
          </p:cNvSpPr>
          <p:nvPr>
            <p:ph idx="1"/>
          </p:nvPr>
        </p:nvSpPr>
        <p:spPr>
          <a:xfrm>
            <a:off x="457200" y="1215390"/>
            <a:ext cx="8229600" cy="4911090"/>
          </a:xfrm>
        </p:spPr>
        <p:txBody>
          <a:bodyPr/>
          <a:p>
            <a:pPr marL="170180" indent="-170180" defTabSz="914400" eaLnBrk="1" latinLnBrk="0" hangingPunct="1">
              <a:spcBef>
                <a:spcPts val="1200"/>
              </a:spcBef>
              <a:tabLst>
                <a:tab pos="4089400" algn="l"/>
              </a:tabLst>
            </a:pPr>
            <a:r>
              <a:rPr lang="zh-CN" altLang="en-US" sz="2400" dirty="0">
                <a:latin typeface="Times New Roman" panose="02020603050405020304" pitchFamily="18" charset="0"/>
                <a:cs typeface="Times New Roman" panose="02020603050405020304" pitchFamily="18" charset="0"/>
                <a:sym typeface="+mn-ea"/>
              </a:rPr>
              <a:t>一是提高</a:t>
            </a:r>
            <a:r>
              <a:rPr lang="zh-CN" altLang="en-US" sz="2400" dirty="0">
                <a:solidFill>
                  <a:srgbClr val="FF0000"/>
                </a:solidFill>
                <a:latin typeface="Times New Roman" panose="02020603050405020304" pitchFamily="18" charset="0"/>
                <a:cs typeface="Times New Roman" panose="02020603050405020304" pitchFamily="18" charset="0"/>
                <a:sym typeface="+mn-ea"/>
              </a:rPr>
              <a:t>命中率</a:t>
            </a:r>
            <a:r>
              <a:rPr lang="en-US" altLang="zh-CN" sz="2400" dirty="0">
                <a:latin typeface="Times New Roman" panose="02020603050405020304" pitchFamily="18" charset="0"/>
                <a:cs typeface="Times New Roman" panose="02020603050405020304" pitchFamily="18" charset="0"/>
                <a:sym typeface="+mn-ea"/>
              </a:rPr>
              <a:t>H</a:t>
            </a:r>
            <a:r>
              <a:rPr lang="zh-CN" altLang="en-US" sz="2400" dirty="0">
                <a:latin typeface="Times New Roman" panose="02020603050405020304" pitchFamily="18" charset="0"/>
                <a:cs typeface="Times New Roman" panose="02020603050405020304" pitchFamily="18" charset="0"/>
                <a:sym typeface="+mn-ea"/>
              </a:rPr>
              <a:t>，二是两个存储器的</a:t>
            </a:r>
            <a:r>
              <a:rPr lang="zh-CN" altLang="en-US" sz="2400" dirty="0">
                <a:solidFill>
                  <a:srgbClr val="FF0000"/>
                </a:solidFill>
                <a:latin typeface="Times New Roman" panose="02020603050405020304" pitchFamily="18" charset="0"/>
                <a:cs typeface="Times New Roman" panose="02020603050405020304" pitchFamily="18" charset="0"/>
                <a:sym typeface="+mn-ea"/>
              </a:rPr>
              <a:t>速度不要相差太大</a:t>
            </a:r>
            <a:endParaRPr lang="zh-CN" altLang="en-US" sz="2400" dirty="0">
              <a:latin typeface="Times New Roman" panose="02020603050405020304" pitchFamily="18" charset="0"/>
              <a:cs typeface="Times New Roman" panose="02020603050405020304" pitchFamily="18" charset="0"/>
            </a:endParaRPr>
          </a:p>
          <a:p>
            <a:pPr marL="170180" indent="-170180" defTabSz="914400" eaLnBrk="1" latinLnBrk="0" hangingPunct="1">
              <a:spcBef>
                <a:spcPts val="1200"/>
              </a:spcBef>
              <a:tabLst>
                <a:tab pos="4089400" algn="l"/>
              </a:tabLst>
            </a:pPr>
            <a:r>
              <a:rPr lang="zh-CN" altLang="en-US" sz="2400" dirty="0">
                <a:latin typeface="Times New Roman" panose="02020603050405020304" pitchFamily="18" charset="0"/>
                <a:cs typeface="Times New Roman" panose="02020603050405020304" pitchFamily="18" charset="0"/>
                <a:sym typeface="+mn-ea"/>
              </a:rPr>
              <a:t>虚拟存储器</a:t>
            </a:r>
            <a:endParaRPr lang="zh-CN" altLang="en-US" sz="2400" dirty="0">
              <a:latin typeface="Times New Roman" panose="02020603050405020304" pitchFamily="18" charset="0"/>
              <a:cs typeface="Times New Roman" panose="02020603050405020304" pitchFamily="18" charset="0"/>
            </a:endParaRPr>
          </a:p>
          <a:p>
            <a:pPr marL="465455" lvl="1" indent="-180975" defTabSz="914400" eaLnBrk="1" latinLnBrk="0" hangingPunct="1">
              <a:spcBef>
                <a:spcPts val="600"/>
              </a:spcBef>
              <a:tabLst>
                <a:tab pos="4089400" algn="l"/>
              </a:tabLst>
            </a:pPr>
            <a:r>
              <a:rPr lang="zh-CN" altLang="en-US" sz="2000" dirty="0">
                <a:latin typeface="Times New Roman" panose="02020603050405020304" pitchFamily="18" charset="0"/>
                <a:cs typeface="Times New Roman" panose="02020603050405020304" pitchFamily="18" charset="0"/>
                <a:sym typeface="+mn-ea"/>
              </a:rPr>
              <a:t>寻址时间长，两级存储器的速度相差得特别悬殊</a:t>
            </a:r>
            <a:r>
              <a:rPr lang="en-US" altLang="zh-CN" sz="2000" dirty="0">
                <a:latin typeface="Times New Roman" panose="02020603050405020304" pitchFamily="18" charset="0"/>
                <a:cs typeface="Times New Roman" panose="02020603050405020304" pitchFamily="18" charset="0"/>
                <a:sym typeface="+mn-ea"/>
              </a:rPr>
              <a:t>T</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dirty="0">
                <a:latin typeface="Times New Roman" panose="02020603050405020304" pitchFamily="18" charset="0"/>
                <a:cs typeface="Times New Roman" panose="02020603050405020304" pitchFamily="18" charset="0"/>
                <a:sym typeface="+mn-ea"/>
              </a:rPr>
              <a:t>T</a:t>
            </a:r>
            <a:r>
              <a:rPr lang="en-US" altLang="zh-CN" sz="2000" baseline="-25000" dirty="0">
                <a:latin typeface="Times New Roman" panose="02020603050405020304" pitchFamily="18" charset="0"/>
                <a:cs typeface="Times New Roman" panose="02020603050405020304" pitchFamily="18" charset="0"/>
                <a:sym typeface="+mn-ea"/>
              </a:rPr>
              <a:t>1</a:t>
            </a:r>
            <a:r>
              <a:rPr lang="en-US" altLang="zh-CN" sz="2000" dirty="0">
                <a:latin typeface="Times New Roman" panose="02020603050405020304" pitchFamily="18" charset="0"/>
                <a:cs typeface="Times New Roman" panose="02020603050405020304" pitchFamily="18" charset="0"/>
                <a:sym typeface="+mn-ea"/>
              </a:rPr>
              <a:t>&gt;10^5</a:t>
            </a:r>
            <a:endParaRPr lang="en-US" altLang="zh-CN" sz="2000" dirty="0">
              <a:latin typeface="Times New Roman" panose="02020603050405020304" pitchFamily="18" charset="0"/>
              <a:cs typeface="Times New Roman" panose="02020603050405020304" pitchFamily="18" charset="0"/>
            </a:endParaRPr>
          </a:p>
          <a:p>
            <a:pPr marL="465455" lvl="1" indent="-180975" defTabSz="914400" eaLnBrk="1" latinLnBrk="0" hangingPunct="1">
              <a:spcBef>
                <a:spcPts val="600"/>
              </a:spcBef>
              <a:tabLst>
                <a:tab pos="4089400" algn="l"/>
              </a:tabLst>
            </a:pPr>
            <a:r>
              <a:rPr lang="zh-CN" altLang="en-US" sz="2000" dirty="0">
                <a:latin typeface="Times New Roman" panose="02020603050405020304" pitchFamily="18" charset="0"/>
                <a:cs typeface="Times New Roman" panose="02020603050405020304" pitchFamily="18" charset="0"/>
                <a:sym typeface="+mn-ea"/>
              </a:rPr>
              <a:t>数据传输速率较快，主要</a:t>
            </a:r>
            <a:r>
              <a:rPr lang="zh-CN" altLang="en-US" sz="2000" dirty="0">
                <a:solidFill>
                  <a:srgbClr val="FF0000"/>
                </a:solidFill>
                <a:latin typeface="Times New Roman" panose="02020603050405020304" pitchFamily="18" charset="0"/>
                <a:cs typeface="Times New Roman" panose="02020603050405020304" pitchFamily="18" charset="0"/>
                <a:sym typeface="+mn-ea"/>
              </a:rPr>
              <a:t>依靠较大量的预取</a:t>
            </a:r>
            <a:r>
              <a:rPr lang="zh-CN" altLang="en-US" sz="2000" dirty="0">
                <a:latin typeface="Times New Roman" panose="02020603050405020304" pitchFamily="18" charset="0"/>
                <a:cs typeface="Times New Roman" panose="02020603050405020304" pitchFamily="18" charset="0"/>
                <a:sym typeface="+mn-ea"/>
              </a:rPr>
              <a:t>提高命中率</a:t>
            </a:r>
            <a:endParaRPr lang="zh-CN" altLang="en-US" sz="2000" dirty="0">
              <a:latin typeface="Times New Roman" panose="02020603050405020304" pitchFamily="18" charset="0"/>
              <a:cs typeface="Times New Roman" panose="02020603050405020304" pitchFamily="18" charset="0"/>
            </a:endParaRPr>
          </a:p>
          <a:p>
            <a:pPr marL="744855" lvl="2" indent="-165100" defTabSz="914400" eaLnBrk="1" latinLnBrk="0" hangingPunct="1">
              <a:spcBef>
                <a:spcPts val="600"/>
              </a:spcBef>
              <a:tabLst>
                <a:tab pos="4089400" algn="l"/>
              </a:tabLst>
            </a:pPr>
            <a:r>
              <a:rPr lang="zh-CN" altLang="en-US" sz="2000" dirty="0">
                <a:latin typeface="Times New Roman" panose="02020603050405020304" pitchFamily="18" charset="0"/>
                <a:cs typeface="Times New Roman" panose="02020603050405020304" pitchFamily="18" charset="0"/>
                <a:sym typeface="+mn-ea"/>
              </a:rPr>
              <a:t>物理上以块为单位</a:t>
            </a:r>
            <a:r>
              <a:rPr lang="en-US" altLang="zh-CN" sz="2000" dirty="0">
                <a:latin typeface="Times New Roman" panose="02020603050405020304" pitchFamily="18" charset="0"/>
                <a:cs typeface="Times New Roman" panose="02020603050405020304" pitchFamily="18" charset="0"/>
                <a:sym typeface="+mn-ea"/>
              </a:rPr>
              <a:t>(512B)</a:t>
            </a:r>
            <a:r>
              <a:rPr lang="zh-CN" altLang="en-US" sz="2000" dirty="0">
                <a:latin typeface="Times New Roman" panose="02020603050405020304" pitchFamily="18" charset="0"/>
                <a:cs typeface="Times New Roman" panose="02020603050405020304" pitchFamily="18" charset="0"/>
                <a:sym typeface="+mn-ea"/>
              </a:rPr>
              <a:t>访问，逻辑上通常以</a:t>
            </a:r>
            <a:r>
              <a:rPr lang="en-US" altLang="zh-CN" sz="2000" dirty="0">
                <a:latin typeface="Times New Roman" panose="02020603050405020304" pitchFamily="18" charset="0"/>
                <a:cs typeface="Times New Roman" panose="02020603050405020304" pitchFamily="18" charset="0"/>
                <a:sym typeface="+mn-ea"/>
              </a:rPr>
              <a:t>1KB</a:t>
            </a:r>
            <a:r>
              <a:rPr lang="zh-CN" altLang="en-US" sz="2000" dirty="0">
                <a:latin typeface="Times New Roman" panose="02020603050405020304" pitchFamily="18" charset="0"/>
                <a:cs typeface="Times New Roman" panose="02020603050405020304" pitchFamily="18" charset="0"/>
                <a:sym typeface="+mn-ea"/>
              </a:rPr>
              <a:t>以上为单位访问</a:t>
            </a:r>
            <a:endParaRPr lang="zh-CN" altLang="en-US" sz="2000" dirty="0">
              <a:latin typeface="Times New Roman" panose="02020603050405020304" pitchFamily="18" charset="0"/>
              <a:cs typeface="Times New Roman" panose="02020603050405020304" pitchFamily="18" charset="0"/>
            </a:endParaRPr>
          </a:p>
          <a:p>
            <a:pPr marL="744855" lvl="2" indent="-165100" defTabSz="914400" eaLnBrk="1" latinLnBrk="0" hangingPunct="1">
              <a:spcBef>
                <a:spcPts val="600"/>
              </a:spcBef>
              <a:tabLst>
                <a:tab pos="4089400" algn="l"/>
              </a:tabLst>
            </a:pPr>
            <a:r>
              <a:rPr lang="zh-CN" altLang="en-US" sz="2000" dirty="0">
                <a:latin typeface="Times New Roman" panose="02020603050405020304" pitchFamily="18" charset="0"/>
                <a:cs typeface="Times New Roman" panose="02020603050405020304" pitchFamily="18" charset="0"/>
                <a:sym typeface="+mn-ea"/>
              </a:rPr>
              <a:t>磁盘存储器的寻址时间很长，传输速率还是相当高的</a:t>
            </a:r>
            <a:endParaRPr lang="zh-CN" altLang="en-US" sz="2000" dirty="0">
              <a:latin typeface="Times New Roman" panose="02020603050405020304" pitchFamily="18" charset="0"/>
              <a:cs typeface="Times New Roman" panose="02020603050405020304" pitchFamily="18" charset="0"/>
            </a:endParaRPr>
          </a:p>
          <a:p>
            <a:pPr marL="744855" lvl="2" indent="-165100" defTabSz="914400" eaLnBrk="1" latinLnBrk="0" hangingPunct="1">
              <a:spcBef>
                <a:spcPts val="600"/>
              </a:spcBef>
              <a:tabLst>
                <a:tab pos="4089400" algn="l"/>
              </a:tabLst>
            </a:pPr>
            <a:r>
              <a:rPr lang="zh-CN" altLang="en-US" sz="2000" dirty="0">
                <a:latin typeface="Times New Roman" panose="02020603050405020304" pitchFamily="18" charset="0"/>
                <a:cs typeface="Times New Roman" panose="02020603050405020304" pitchFamily="18" charset="0"/>
                <a:sym typeface="+mn-ea"/>
              </a:rPr>
              <a:t>当不命中时，把将要使用的一大批程序和数据都调入主存储器</a:t>
            </a:r>
            <a:endParaRPr lang="zh-CN" altLang="en-US" sz="2000" dirty="0">
              <a:latin typeface="Times New Roman" panose="02020603050405020304" pitchFamily="18" charset="0"/>
              <a:cs typeface="Times New Roman" panose="02020603050405020304" pitchFamily="18" charset="0"/>
              <a:sym typeface="+mn-ea"/>
            </a:endParaRPr>
          </a:p>
          <a:p>
            <a:pPr marL="744855" lvl="2" indent="-165100" defTabSz="914400" eaLnBrk="1" latinLnBrk="0" hangingPunct="1">
              <a:spcBef>
                <a:spcPts val="600"/>
              </a:spcBef>
              <a:tabLst>
                <a:tab pos="4089400" algn="l"/>
              </a:tabLst>
            </a:pPr>
            <a:r>
              <a:rPr lang="zh-CN" altLang="en-US" sz="2000" dirty="0">
                <a:latin typeface="Times New Roman" panose="02020603050405020304" pitchFamily="18" charset="0"/>
                <a:cs typeface="Times New Roman" panose="02020603050405020304" pitchFamily="18" charset="0"/>
                <a:sym typeface="+mn-ea"/>
              </a:rPr>
              <a:t>以后的几万次，乃至几十万次以上的访问，都能在主存命中</a:t>
            </a:r>
            <a:endParaRPr lang="zh-CN" altLang="en-US" sz="2000" dirty="0">
              <a:latin typeface="Times New Roman" panose="02020603050405020304" pitchFamily="18" charset="0"/>
              <a:cs typeface="Times New Roman" panose="02020603050405020304" pitchFamily="18" charset="0"/>
            </a:endParaRPr>
          </a:p>
          <a:p>
            <a:pPr marL="170180" indent="-170180" defTabSz="914400" eaLnBrk="1" latinLnBrk="0" hangingPunct="1">
              <a:spcBef>
                <a:spcPts val="1200"/>
              </a:spcBef>
              <a:tabLst>
                <a:tab pos="4089400" algn="l"/>
              </a:tabLst>
            </a:pPr>
            <a:r>
              <a:rPr lang="en-US" altLang="zh-CN" sz="2400" dirty="0">
                <a:latin typeface="Times New Roman" panose="02020603050405020304" pitchFamily="18" charset="0"/>
                <a:cs typeface="Times New Roman" panose="02020603050405020304" pitchFamily="18" charset="0"/>
                <a:sym typeface="+mn-ea"/>
              </a:rPr>
              <a:t>Cache</a:t>
            </a:r>
            <a:r>
              <a:rPr lang="zh-CN" altLang="en-US" sz="2400" dirty="0">
                <a:latin typeface="Times New Roman" panose="02020603050405020304" pitchFamily="18" charset="0"/>
                <a:cs typeface="Times New Roman" panose="02020603050405020304" pitchFamily="18" charset="0"/>
                <a:sym typeface="+mn-ea"/>
              </a:rPr>
              <a:t>存储系统</a:t>
            </a:r>
            <a:endParaRPr lang="zh-CN" altLang="en-US" sz="2400" dirty="0">
              <a:latin typeface="Times New Roman" panose="02020603050405020304" pitchFamily="18" charset="0"/>
              <a:cs typeface="Times New Roman" panose="02020603050405020304" pitchFamily="18" charset="0"/>
            </a:endParaRPr>
          </a:p>
          <a:p>
            <a:pPr marL="465455" lvl="1" indent="-180975" defTabSz="914400" eaLnBrk="1" latinLnBrk="0" hangingPunct="1">
              <a:spcBef>
                <a:spcPts val="600"/>
              </a:spcBef>
              <a:tabLst>
                <a:tab pos="4089400" algn="l"/>
              </a:tabLst>
            </a:pPr>
            <a:r>
              <a:rPr lang="zh-CN" altLang="en-US" sz="2000" dirty="0">
                <a:latin typeface="Times New Roman" panose="02020603050405020304" pitchFamily="18" charset="0"/>
                <a:cs typeface="Times New Roman" panose="02020603050405020304" pitchFamily="18" charset="0"/>
                <a:sym typeface="+mn-ea"/>
              </a:rPr>
              <a:t>提高命中率有困难</a:t>
            </a:r>
            <a:r>
              <a:rPr lang="zh-CN" altLang="en-US" sz="2000" dirty="0">
                <a:highlight>
                  <a:srgbClr val="FFFF00"/>
                </a:highlight>
                <a:latin typeface="Times New Roman" panose="02020603050405020304" pitchFamily="18" charset="0"/>
                <a:cs typeface="Times New Roman" panose="02020603050405020304" pitchFamily="18" charset="0"/>
                <a:sym typeface="+mn-ea"/>
              </a:rPr>
              <a:t>（提高命中率的方法有哪些？）</a:t>
            </a:r>
            <a:endParaRPr lang="zh-CN" altLang="en-US" sz="2000" dirty="0">
              <a:highlight>
                <a:srgbClr val="FFFF00"/>
              </a:highlight>
              <a:latin typeface="Times New Roman" panose="02020603050405020304" pitchFamily="18" charset="0"/>
              <a:cs typeface="Times New Roman" panose="02020603050405020304" pitchFamily="18" charset="0"/>
            </a:endParaRPr>
          </a:p>
          <a:p>
            <a:pPr marL="465455" lvl="1" indent="-180975" defTabSz="914400" eaLnBrk="1" latinLnBrk="0" hangingPunct="1">
              <a:spcBef>
                <a:spcPts val="600"/>
              </a:spcBef>
              <a:tabLst>
                <a:tab pos="4089400" algn="l"/>
              </a:tabLst>
            </a:pPr>
            <a:r>
              <a:rPr lang="zh-CN" altLang="en-US" sz="2000" dirty="0">
                <a:latin typeface="Times New Roman" panose="02020603050405020304" pitchFamily="18" charset="0"/>
                <a:cs typeface="Times New Roman" panose="02020603050405020304" pitchFamily="18" charset="0"/>
                <a:sym typeface="+mn-ea"/>
              </a:rPr>
              <a:t>两个存储器的速度不要相差两个数量级</a:t>
            </a:r>
            <a:endParaRPr lang="zh-CN" altLang="en-US" sz="2000" dirty="0">
              <a:latin typeface="Times New Roman" panose="02020603050405020304" pitchFamily="18" charset="0"/>
              <a:cs typeface="Times New Roman" panose="02020603050405020304" pitchFamily="18" charset="0"/>
            </a:endParaRPr>
          </a:p>
          <a:p>
            <a:pPr marL="465455" lvl="1" indent="-180975" defTabSz="914400" eaLnBrk="1" latinLnBrk="0" hangingPunct="1">
              <a:spcBef>
                <a:spcPts val="600"/>
              </a:spcBef>
              <a:tabLst>
                <a:tab pos="4089400" algn="l"/>
              </a:tabLst>
            </a:pPr>
            <a:r>
              <a:rPr lang="zh-CN" altLang="en-US" sz="2000" dirty="0">
                <a:latin typeface="Times New Roman" panose="02020603050405020304" pitchFamily="18" charset="0"/>
                <a:cs typeface="Times New Roman" panose="02020603050405020304" pitchFamily="18" charset="0"/>
                <a:sym typeface="+mn-ea"/>
              </a:rPr>
              <a:t>两级、三级</a:t>
            </a:r>
            <a:r>
              <a:rPr lang="en-US" altLang="zh-CN" sz="2000" dirty="0">
                <a:latin typeface="Times New Roman" panose="02020603050405020304" pitchFamily="18" charset="0"/>
                <a:cs typeface="Times New Roman" panose="02020603050405020304" pitchFamily="18" charset="0"/>
                <a:sym typeface="+mn-ea"/>
              </a:rPr>
              <a:t>Cache</a:t>
            </a:r>
            <a:endParaRPr lang="en-US" altLang="zh-CN" sz="2000"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1403350"/>
            <a:ext cx="8229600" cy="4723130"/>
          </a:xfrm>
        </p:spPr>
        <p:txBody>
          <a:bodyPr/>
          <a:p>
            <a:pPr marL="170180" indent="-170180" defTabSz="914400" eaLnBrk="1" latinLnBrk="0" hangingPunct="1">
              <a:spcBef>
                <a:spcPts val="1200"/>
              </a:spcBef>
              <a:tabLst>
                <a:tab pos="4089400" algn="l"/>
              </a:tabLst>
            </a:pPr>
            <a:r>
              <a:rPr lang="zh-CN" altLang="en-US" sz="2400" dirty="0">
                <a:latin typeface="Times New Roman" panose="02020603050405020304" pitchFamily="18" charset="0"/>
                <a:cs typeface="Times New Roman" panose="02020603050405020304" pitchFamily="18" charset="0"/>
                <a:sym typeface="+mn-ea"/>
              </a:rPr>
              <a:t>在虚拟存储系统中，两级存储器的速度相差特别悬殊</a:t>
            </a:r>
            <a:r>
              <a:rPr lang="en-US" altLang="zh-CN" sz="2400" dirty="0">
                <a:latin typeface="Times New Roman" panose="02020603050405020304" pitchFamily="18" charset="0"/>
                <a:cs typeface="Times New Roman" panose="02020603050405020304" pitchFamily="18" charset="0"/>
                <a:sym typeface="+mn-ea"/>
              </a:rPr>
              <a:t>T</a:t>
            </a:r>
            <a:r>
              <a:rPr lang="en-US" altLang="zh-CN" sz="2400" baseline="-25000" dirty="0">
                <a:latin typeface="Times New Roman" panose="02020603050405020304" pitchFamily="18" charset="0"/>
                <a:cs typeface="Times New Roman" panose="02020603050405020304" pitchFamily="18" charset="0"/>
                <a:sym typeface="+mn-ea"/>
              </a:rPr>
              <a:t>2</a:t>
            </a:r>
            <a:r>
              <a:rPr lang="en-US" altLang="zh-CN" sz="2400" dirty="0">
                <a:latin typeface="Times New Roman" panose="02020603050405020304" pitchFamily="18" charset="0"/>
                <a:cs typeface="Times New Roman" panose="02020603050405020304" pitchFamily="18" charset="0"/>
                <a:sym typeface="+mn-ea"/>
              </a:rPr>
              <a:t>=10</a:t>
            </a:r>
            <a:r>
              <a:rPr lang="en-US" altLang="zh-CN" sz="2400" baseline="30000" dirty="0">
                <a:latin typeface="Times New Roman" panose="02020603050405020304" pitchFamily="18" charset="0"/>
                <a:cs typeface="Times New Roman" panose="02020603050405020304" pitchFamily="18" charset="0"/>
                <a:sym typeface="+mn-ea"/>
              </a:rPr>
              <a:t>5</a:t>
            </a:r>
            <a:r>
              <a:rPr lang="en-US" altLang="zh-CN" sz="2400" dirty="0">
                <a:latin typeface="Times New Roman" panose="02020603050405020304" pitchFamily="18" charset="0"/>
                <a:cs typeface="Times New Roman" panose="02020603050405020304" pitchFamily="18" charset="0"/>
                <a:sym typeface="+mn-ea"/>
              </a:rPr>
              <a:t>T</a:t>
            </a:r>
            <a:r>
              <a:rPr lang="en-US" altLang="zh-CN" sz="2400" baseline="-25000" dirty="0">
                <a:latin typeface="Times New Roman" panose="02020603050405020304" pitchFamily="18" charset="0"/>
                <a:cs typeface="Times New Roman" panose="02020603050405020304" pitchFamily="18" charset="0"/>
                <a:sym typeface="+mn-ea"/>
              </a:rPr>
              <a:t>1</a:t>
            </a:r>
            <a:r>
              <a:rPr lang="zh-CN" altLang="en-US" sz="2400" dirty="0">
                <a:latin typeface="Times New Roman" panose="02020603050405020304" pitchFamily="18" charset="0"/>
                <a:cs typeface="Times New Roman" panose="02020603050405020304" pitchFamily="18" charset="0"/>
                <a:sym typeface="+mn-ea"/>
              </a:rPr>
              <a:t>。要使访问效率</a:t>
            </a:r>
            <a:r>
              <a:rPr lang="en-US" altLang="zh-CN" sz="2400" dirty="0">
                <a:latin typeface="Times New Roman" panose="02020603050405020304" pitchFamily="18" charset="0"/>
                <a:cs typeface="Times New Roman" panose="02020603050405020304" pitchFamily="18" charset="0"/>
                <a:sym typeface="+mn-ea"/>
              </a:rPr>
              <a:t>e=0.9</a:t>
            </a:r>
            <a:r>
              <a:rPr lang="zh-CN" altLang="en-US" sz="2400" dirty="0">
                <a:latin typeface="Times New Roman" panose="02020603050405020304" pitchFamily="18" charset="0"/>
                <a:cs typeface="Times New Roman" panose="02020603050405020304" pitchFamily="18" charset="0"/>
                <a:sym typeface="+mn-ea"/>
              </a:rPr>
              <a:t>，问需要有多高的命中率</a:t>
            </a:r>
            <a:r>
              <a:rPr lang="en-US" altLang="zh-CN" sz="2400" dirty="0">
                <a:latin typeface="Times New Roman" panose="02020603050405020304" pitchFamily="18" charset="0"/>
                <a:cs typeface="Times New Roman" panose="02020603050405020304" pitchFamily="18" charset="0"/>
                <a:sym typeface="+mn-ea"/>
              </a:rPr>
              <a:t>?</a:t>
            </a:r>
            <a:endParaRPr lang="en-US" altLang="zh-CN" sz="2400" dirty="0">
              <a:latin typeface="Times New Roman" panose="02020603050405020304" pitchFamily="18" charset="0"/>
              <a:cs typeface="Times New Roman" panose="02020603050405020304" pitchFamily="18" charset="0"/>
            </a:endParaRPr>
          </a:p>
          <a:p>
            <a:pPr marL="170180" indent="-170180" defTabSz="914400" eaLnBrk="1" latinLnBrk="0" hangingPunct="1">
              <a:spcBef>
                <a:spcPts val="1200"/>
              </a:spcBef>
              <a:tabLst>
                <a:tab pos="4089400" algn="l"/>
              </a:tabLst>
            </a:pPr>
            <a:r>
              <a:rPr lang="zh-CN" altLang="en-US" sz="2400" dirty="0">
                <a:latin typeface="Times New Roman" panose="02020603050405020304" pitchFamily="18" charset="0"/>
                <a:cs typeface="Times New Roman" panose="02020603050405020304" pitchFamily="18" charset="0"/>
                <a:sym typeface="+mn-ea"/>
              </a:rPr>
              <a:t>解</a:t>
            </a:r>
            <a:r>
              <a:rPr lang="en-US" altLang="zh-CN" sz="2400" dirty="0">
                <a:latin typeface="Times New Roman" panose="02020603050405020304" pitchFamily="18" charset="0"/>
                <a:cs typeface="Times New Roman" panose="02020603050405020304" pitchFamily="18" charset="0"/>
                <a:sym typeface="+mn-ea"/>
              </a:rPr>
              <a:t>:</a:t>
            </a:r>
            <a:endParaRPr lang="en-US" altLang="zh-CN" sz="2400" dirty="0">
              <a:latin typeface="Times New Roman" panose="02020603050405020304" pitchFamily="18" charset="0"/>
              <a:cs typeface="Times New Roman" panose="02020603050405020304" pitchFamily="18" charset="0"/>
            </a:endParaRPr>
          </a:p>
          <a:p>
            <a:pPr marL="170180" indent="-170180" defTabSz="914400" eaLnBrk="1" latinLnBrk="0" hangingPunct="1">
              <a:spcBef>
                <a:spcPts val="1200"/>
              </a:spcBef>
              <a:tabLst>
                <a:tab pos="4089400" algn="l"/>
              </a:tabLst>
            </a:pPr>
            <a:endParaRPr lang="en-US" altLang="zh-CN" sz="2400" dirty="0">
              <a:latin typeface="Times New Roman" panose="02020603050405020304" pitchFamily="18" charset="0"/>
              <a:cs typeface="Times New Roman" panose="02020603050405020304" pitchFamily="18" charset="0"/>
            </a:endParaRPr>
          </a:p>
          <a:p>
            <a:pPr marL="465455" lvl="1" indent="-180975" defTabSz="914400" eaLnBrk="1" latinLnBrk="0" hangingPunct="1">
              <a:spcBef>
                <a:spcPts val="1200"/>
              </a:spcBef>
              <a:tabLst>
                <a:tab pos="4089400" algn="l"/>
              </a:tabLst>
            </a:pPr>
            <a:endParaRPr lang="en-US" altLang="zh-CN" sz="2400" dirty="0">
              <a:latin typeface="Times New Roman" panose="02020603050405020304" pitchFamily="18" charset="0"/>
              <a:cs typeface="Times New Roman" panose="02020603050405020304" pitchFamily="18" charset="0"/>
            </a:endParaRPr>
          </a:p>
          <a:p>
            <a:pPr marL="465455" lvl="1" indent="-180975" defTabSz="914400" eaLnBrk="1" latinLnBrk="0" hangingPunct="1">
              <a:spcBef>
                <a:spcPts val="1200"/>
              </a:spcBef>
              <a:tabLst>
                <a:tab pos="4089400" algn="l"/>
              </a:tabLst>
            </a:pPr>
            <a:endParaRPr lang="en-US" altLang="zh-CN" sz="2400" dirty="0">
              <a:latin typeface="Times New Roman" panose="02020603050405020304" pitchFamily="18" charset="0"/>
              <a:cs typeface="Times New Roman" panose="02020603050405020304" pitchFamily="18" charset="0"/>
            </a:endParaRPr>
          </a:p>
          <a:p>
            <a:pPr marL="465455" lvl="1" indent="-180975" defTabSz="914400" eaLnBrk="1" latinLnBrk="0" hangingPunct="1">
              <a:spcBef>
                <a:spcPts val="1200"/>
              </a:spcBef>
              <a:tabLst>
                <a:tab pos="4089400" algn="l"/>
              </a:tabLst>
            </a:pPr>
            <a:r>
              <a:rPr lang="zh-CN" altLang="en-US" sz="2400" dirty="0">
                <a:latin typeface="Times New Roman" panose="02020603050405020304" pitchFamily="18" charset="0"/>
                <a:cs typeface="Times New Roman" panose="02020603050405020304" pitchFamily="18" charset="0"/>
                <a:sym typeface="+mn-ea"/>
              </a:rPr>
              <a:t>得</a:t>
            </a:r>
            <a:r>
              <a:rPr lang="en-US" altLang="zh-CN" sz="2400" dirty="0">
                <a:latin typeface="Times New Roman" panose="02020603050405020304" pitchFamily="18" charset="0"/>
                <a:cs typeface="Times New Roman" panose="02020603050405020304" pitchFamily="18" charset="0"/>
                <a:sym typeface="+mn-ea"/>
              </a:rPr>
              <a:t>: H=0.999998888877777...≈0.999999</a:t>
            </a:r>
            <a:endParaRPr lang="en-US" altLang="zh-CN" sz="2400" dirty="0">
              <a:latin typeface="Times New Roman" panose="02020603050405020304" pitchFamily="18" charset="0"/>
              <a:cs typeface="Times New Roman" panose="02020603050405020304" pitchFamily="18" charset="0"/>
              <a:sym typeface="+mn-ea"/>
            </a:endParaRPr>
          </a:p>
        </p:txBody>
      </p:sp>
      <p:sp>
        <p:nvSpPr>
          <p:cNvPr id="32770" name="Rectangle 2"/>
          <p:cNvSpPr>
            <a:spLocks noGrp="1"/>
          </p:cNvSpPr>
          <p:nvPr>
            <p:ph type="title"/>
          </p:nvPr>
        </p:nvSpPr>
        <p:spPr>
          <a:xfrm>
            <a:off x="395605" y="260985"/>
            <a:ext cx="7772400" cy="1143000"/>
          </a:xfrm>
          <a:noFill/>
          <a:ln>
            <a:noFill/>
          </a:ln>
        </p:spPr>
        <p:txBody>
          <a:bodyPr/>
          <a:p>
            <a:pPr eaLnBrk="1" hangingPunct="1"/>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例</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graphicFrame>
        <p:nvGraphicFramePr>
          <p:cNvPr id="434179" name="Object 3"/>
          <p:cNvGraphicFramePr/>
          <p:nvPr>
            <p:custDataLst>
              <p:tags r:id="rId1"/>
            </p:custDataLst>
          </p:nvPr>
        </p:nvGraphicFramePr>
        <p:xfrm>
          <a:off x="1619885" y="2853055"/>
          <a:ext cx="3510280" cy="1166495"/>
        </p:xfrm>
        <a:graphic>
          <a:graphicData uri="http://schemas.openxmlformats.org/presentationml/2006/ole">
            <mc:AlternateContent xmlns:mc="http://schemas.openxmlformats.org/markup-compatibility/2006">
              <mc:Choice xmlns:v="urn:schemas-microsoft-com:vml" Requires="v">
                <p:oleObj spid="_x0000_s3077" name="" r:id="rId2" imgW="3060700" imgH="1035050" progId="Equation.3">
                  <p:embed/>
                </p:oleObj>
              </mc:Choice>
              <mc:Fallback>
                <p:oleObj name="" r:id="rId2" imgW="3060700" imgH="1035050" progId="Equation.3">
                  <p:embed/>
                  <p:pic>
                    <p:nvPicPr>
                      <p:cNvPr id="0" name="图片 3076"/>
                      <p:cNvPicPr/>
                      <p:nvPr/>
                    </p:nvPicPr>
                    <p:blipFill>
                      <a:blip r:embed="rId3"/>
                      <a:stretch>
                        <a:fillRect/>
                      </a:stretch>
                    </p:blipFill>
                    <p:spPr>
                      <a:xfrm>
                        <a:off x="1619885" y="2853055"/>
                        <a:ext cx="3510280" cy="116649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434179"/>
                                        </p:tgtEl>
                                        <p:attrNameLst>
                                          <p:attrName>style.visibility</p:attrName>
                                        </p:attrNameLst>
                                      </p:cBhvr>
                                      <p:to>
                                        <p:strVal val="visible"/>
                                      </p:to>
                                    </p:set>
                                    <p:anim calcmode="lin" valueType="num">
                                      <p:cBhvr additive="base">
                                        <p:cTn id="7" dur="500" fill="hold"/>
                                        <p:tgtEl>
                                          <p:spTgt spid="434179"/>
                                        </p:tgtEl>
                                        <p:attrNameLst>
                                          <p:attrName>ppt_x</p:attrName>
                                        </p:attrNameLst>
                                      </p:cBhvr>
                                      <p:tavLst>
                                        <p:tav tm="0">
                                          <p:val>
                                            <p:strVal val="1+#ppt_w/2"/>
                                          </p:val>
                                        </p:tav>
                                        <p:tav tm="100000">
                                          <p:val>
                                            <p:strVal val="#ppt_x"/>
                                          </p:val>
                                        </p:tav>
                                      </p:tavLst>
                                    </p:anim>
                                    <p:anim calcmode="lin" valueType="num">
                                      <p:cBhvr additive="base">
                                        <p:cTn id="8" dur="500" fill="hold"/>
                                        <p:tgtEl>
                                          <p:spTgt spid="43417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CARBRAKE.WAV"/>
                                        </p:tgtEl>
                                      </p:cMediaNode>
                                    </p:audio>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51460" y="1199515"/>
            <a:ext cx="8303895" cy="5154930"/>
          </a:xfrm>
        </p:spPr>
        <p:txBody>
          <a:bodyPr/>
          <a:p>
            <a:pPr marL="170180" indent="-170180" defTabSz="914400" eaLnBrk="1" latinLnBrk="0" hangingPunct="1">
              <a:spcBef>
                <a:spcPts val="1200"/>
              </a:spcBef>
              <a:tabLst>
                <a:tab pos="4089400" algn="l"/>
              </a:tabLst>
            </a:pPr>
            <a:r>
              <a:rPr lang="zh-CN" altLang="en-US" sz="2400" dirty="0">
                <a:solidFill>
                  <a:schemeClr val="tx2"/>
                </a:solidFill>
                <a:latin typeface="Times New Roman" panose="02020603050405020304" pitchFamily="18" charset="0"/>
                <a:cs typeface="Times New Roman" panose="02020603050405020304" pitchFamily="18" charset="0"/>
                <a:sym typeface="+mn-ea"/>
              </a:rPr>
              <a:t>方法</a:t>
            </a:r>
            <a:endParaRPr lang="zh-CN" altLang="en-US" sz="2400" dirty="0">
              <a:solidFill>
                <a:schemeClr val="tx2"/>
              </a:solidFill>
              <a:latin typeface="Times New Roman" panose="02020603050405020304" pitchFamily="18" charset="0"/>
              <a:cs typeface="Times New Roman" panose="02020603050405020304" pitchFamily="18" charset="0"/>
            </a:endParaRPr>
          </a:p>
          <a:p>
            <a:pPr marL="465455" lvl="1" indent="-180975" defTabSz="914400" eaLnBrk="1" latinLnBrk="0" hangingPunct="1">
              <a:spcBef>
                <a:spcPts val="1200"/>
              </a:spcBef>
              <a:tabLst>
                <a:tab pos="4089400" algn="l"/>
              </a:tabLst>
            </a:pPr>
            <a:r>
              <a:rPr lang="zh-CN" altLang="en-US" sz="2000" dirty="0">
                <a:latin typeface="Times New Roman" panose="02020603050405020304" pitchFamily="18" charset="0"/>
                <a:cs typeface="Times New Roman" panose="02020603050405020304" pitchFamily="18" charset="0"/>
                <a:sym typeface="+mn-ea"/>
              </a:rPr>
              <a:t>不命中时，把</a:t>
            </a:r>
            <a:r>
              <a:rPr lang="en-US" altLang="zh-CN" sz="2000" dirty="0">
                <a:latin typeface="Times New Roman" panose="02020603050405020304" pitchFamily="18" charset="0"/>
                <a:cs typeface="Times New Roman" panose="02020603050405020304" pitchFamily="18" charset="0"/>
                <a:sym typeface="+mn-ea"/>
              </a:rPr>
              <a:t>M</a:t>
            </a:r>
            <a:r>
              <a:rPr lang="en-US" altLang="zh-CN" sz="2000" baseline="-25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cs typeface="Times New Roman" panose="02020603050405020304" pitchFamily="18" charset="0"/>
                <a:sym typeface="+mn-ea"/>
              </a:rPr>
              <a:t>存储器中相邻几个单元组成的数据块取出送入</a:t>
            </a:r>
            <a:r>
              <a:rPr lang="en-US" altLang="zh-CN" sz="2000" dirty="0">
                <a:latin typeface="Times New Roman" panose="02020603050405020304" pitchFamily="18" charset="0"/>
                <a:cs typeface="Times New Roman" panose="02020603050405020304" pitchFamily="18" charset="0"/>
                <a:sym typeface="+mn-ea"/>
              </a:rPr>
              <a:t>M</a:t>
            </a:r>
            <a:r>
              <a:rPr lang="en-US" altLang="zh-CN" sz="2000" baseline="-25000" dirty="0">
                <a:latin typeface="Times New Roman" panose="02020603050405020304" pitchFamily="18" charset="0"/>
                <a:cs typeface="Times New Roman" panose="02020603050405020304" pitchFamily="18" charset="0"/>
                <a:sym typeface="+mn-ea"/>
              </a:rPr>
              <a:t>1</a:t>
            </a:r>
            <a:endParaRPr lang="zh-CN" altLang="en-US" sz="2000" dirty="0">
              <a:latin typeface="Times New Roman" panose="02020603050405020304" pitchFamily="18" charset="0"/>
              <a:cs typeface="Times New Roman" panose="02020603050405020304" pitchFamily="18" charset="0"/>
            </a:endParaRPr>
          </a:p>
          <a:p>
            <a:pPr marL="170180" indent="-170180" defTabSz="914400" eaLnBrk="1" latinLnBrk="0" hangingPunct="1">
              <a:spcBef>
                <a:spcPts val="1200"/>
              </a:spcBef>
              <a:tabLst>
                <a:tab pos="4089400" algn="l"/>
              </a:tabLst>
            </a:pPr>
            <a:r>
              <a:rPr lang="zh-CN" altLang="en-US" sz="2400" dirty="0">
                <a:solidFill>
                  <a:schemeClr val="tx2"/>
                </a:solidFill>
                <a:latin typeface="Times New Roman" panose="02020603050405020304" pitchFamily="18" charset="0"/>
                <a:cs typeface="Times New Roman" panose="02020603050405020304" pitchFamily="18" charset="0"/>
                <a:sym typeface="+mn-ea"/>
              </a:rPr>
              <a:t>计算公式</a:t>
            </a:r>
            <a:endParaRPr lang="zh-CN" altLang="en-US" sz="2400" dirty="0">
              <a:solidFill>
                <a:schemeClr val="tx2"/>
              </a:solidFill>
              <a:latin typeface="Times New Roman" panose="02020603050405020304" pitchFamily="18" charset="0"/>
              <a:cs typeface="Times New Roman" panose="02020603050405020304" pitchFamily="18" charset="0"/>
            </a:endParaRPr>
          </a:p>
          <a:p>
            <a:pPr marL="170180" indent="-170180" defTabSz="914400" eaLnBrk="1" latinLnBrk="0" hangingPunct="1">
              <a:spcBef>
                <a:spcPts val="1200"/>
              </a:spcBef>
              <a:tabLst>
                <a:tab pos="4089400" algn="l"/>
              </a:tabLst>
            </a:pPr>
            <a:endParaRPr lang="zh-CN" altLang="en-US" sz="2400" dirty="0">
              <a:solidFill>
                <a:schemeClr val="tx2"/>
              </a:solidFill>
              <a:latin typeface="Times New Roman" panose="02020603050405020304" pitchFamily="18" charset="0"/>
              <a:cs typeface="Times New Roman" panose="02020603050405020304" pitchFamily="18" charset="0"/>
            </a:endParaRPr>
          </a:p>
          <a:p>
            <a:pPr marL="170180" indent="-170180" defTabSz="914400" eaLnBrk="1" latinLnBrk="0" hangingPunct="1">
              <a:spcBef>
                <a:spcPts val="1200"/>
              </a:spcBef>
              <a:tabLst>
                <a:tab pos="4089400" algn="l"/>
              </a:tabLst>
            </a:pPr>
            <a:r>
              <a:rPr lang="zh-CN" altLang="en-US" sz="2400" dirty="0">
                <a:latin typeface="Times New Roman" panose="02020603050405020304" pitchFamily="18" charset="0"/>
                <a:cs typeface="Times New Roman" panose="02020603050405020304" pitchFamily="18" charset="0"/>
                <a:sym typeface="+mn-ea"/>
              </a:rPr>
              <a:t>其中</a:t>
            </a:r>
            <a:endParaRPr lang="zh-CN" altLang="en-US" sz="2400" dirty="0">
              <a:latin typeface="Times New Roman" panose="02020603050405020304" pitchFamily="18" charset="0"/>
              <a:cs typeface="Times New Roman" panose="02020603050405020304" pitchFamily="18" charset="0"/>
            </a:endParaRPr>
          </a:p>
          <a:p>
            <a:pPr marL="744855" lvl="2" indent="-165100" defTabSz="914400" eaLnBrk="1" latinLnBrk="0" hangingPunct="1">
              <a:spcBef>
                <a:spcPts val="600"/>
              </a:spcBef>
              <a:tabLst>
                <a:tab pos="4089400" algn="l"/>
              </a:tabLst>
            </a:pPr>
            <a:r>
              <a:rPr lang="en-US" altLang="zh-CN" sz="2000" dirty="0">
                <a:solidFill>
                  <a:schemeClr val="tx2"/>
                </a:solidFill>
                <a:latin typeface="Times New Roman" panose="02020603050405020304" pitchFamily="18" charset="0"/>
                <a:cs typeface="Times New Roman" panose="02020603050405020304" pitchFamily="18" charset="0"/>
                <a:sym typeface="+mn-ea"/>
              </a:rPr>
              <a:t>H’</a:t>
            </a:r>
            <a:r>
              <a:rPr lang="zh-CN" altLang="en-US" sz="2000" dirty="0">
                <a:latin typeface="Times New Roman" panose="02020603050405020304" pitchFamily="18" charset="0"/>
                <a:cs typeface="Times New Roman" panose="02020603050405020304" pitchFamily="18" charset="0"/>
                <a:sym typeface="+mn-ea"/>
              </a:rPr>
              <a:t>是采用预取技术后的命中率</a:t>
            </a:r>
            <a:endParaRPr lang="zh-CN" altLang="en-US" sz="2000" dirty="0">
              <a:latin typeface="Times New Roman" panose="02020603050405020304" pitchFamily="18" charset="0"/>
              <a:cs typeface="Times New Roman" panose="02020603050405020304" pitchFamily="18" charset="0"/>
            </a:endParaRPr>
          </a:p>
          <a:p>
            <a:pPr marL="744855" lvl="2" indent="-165100" defTabSz="914400" eaLnBrk="1" latinLnBrk="0" hangingPunct="1">
              <a:spcBef>
                <a:spcPts val="600"/>
              </a:spcBef>
              <a:tabLst>
                <a:tab pos="4089400" algn="l"/>
              </a:tabLst>
            </a:pPr>
            <a:r>
              <a:rPr lang="en-US" altLang="zh-CN" sz="2000" dirty="0">
                <a:solidFill>
                  <a:schemeClr val="tx2"/>
                </a:solidFill>
                <a:latin typeface="Times New Roman" panose="02020603050405020304" pitchFamily="18" charset="0"/>
                <a:cs typeface="Times New Roman" panose="02020603050405020304" pitchFamily="18" charset="0"/>
                <a:sym typeface="+mn-ea"/>
              </a:rPr>
              <a:t>H</a:t>
            </a:r>
            <a:r>
              <a:rPr lang="zh-CN" altLang="en-US" sz="2000" dirty="0">
                <a:latin typeface="Times New Roman" panose="02020603050405020304" pitchFamily="18" charset="0"/>
                <a:cs typeface="Times New Roman" panose="02020603050405020304" pitchFamily="18" charset="0"/>
                <a:sym typeface="+mn-ea"/>
              </a:rPr>
              <a:t>是原来的命中率</a:t>
            </a:r>
            <a:endParaRPr lang="zh-CN" altLang="en-US" sz="2000" dirty="0">
              <a:latin typeface="Times New Roman" panose="02020603050405020304" pitchFamily="18" charset="0"/>
              <a:cs typeface="Times New Roman" panose="02020603050405020304" pitchFamily="18" charset="0"/>
            </a:endParaRPr>
          </a:p>
          <a:p>
            <a:pPr marL="744855" lvl="2" indent="-165100" defTabSz="914400" eaLnBrk="1" latinLnBrk="0" hangingPunct="1">
              <a:spcBef>
                <a:spcPts val="600"/>
              </a:spcBef>
              <a:tabLst>
                <a:tab pos="4089400" algn="l"/>
              </a:tabLst>
            </a:pPr>
            <a:r>
              <a:rPr lang="en-US" altLang="zh-CN" sz="2000" dirty="0">
                <a:solidFill>
                  <a:schemeClr val="tx2"/>
                </a:solidFill>
                <a:latin typeface="Times New Roman" panose="02020603050405020304" pitchFamily="18" charset="0"/>
                <a:cs typeface="Times New Roman" panose="02020603050405020304" pitchFamily="18" charset="0"/>
                <a:sym typeface="+mn-ea"/>
              </a:rPr>
              <a:t>n</a:t>
            </a:r>
            <a:r>
              <a:rPr lang="zh-CN" altLang="en-US" sz="2000" dirty="0">
                <a:latin typeface="Times New Roman" panose="02020603050405020304" pitchFamily="18" charset="0"/>
                <a:cs typeface="Times New Roman" panose="02020603050405020304" pitchFamily="18" charset="0"/>
                <a:sym typeface="+mn-ea"/>
              </a:rPr>
              <a:t>为数据块大小与数据重复使用次数的乘积</a:t>
            </a:r>
            <a:endParaRPr lang="zh-CN" altLang="en-US" sz="2000" dirty="0">
              <a:latin typeface="Times New Roman" panose="02020603050405020304" pitchFamily="18" charset="0"/>
              <a:cs typeface="Times New Roman" panose="02020603050405020304" pitchFamily="18" charset="0"/>
            </a:endParaRPr>
          </a:p>
          <a:p>
            <a:pPr marL="170180" indent="-170180" defTabSz="914400" eaLnBrk="1" latinLnBrk="0" hangingPunct="1">
              <a:spcBef>
                <a:spcPts val="1200"/>
              </a:spcBef>
              <a:tabLst>
                <a:tab pos="4089400" algn="l"/>
              </a:tabLst>
            </a:pPr>
            <a:r>
              <a:rPr lang="zh-CN" altLang="en-US" sz="2400" dirty="0">
                <a:latin typeface="Times New Roman" panose="02020603050405020304" pitchFamily="18" charset="0"/>
                <a:cs typeface="Times New Roman" panose="02020603050405020304" pitchFamily="18" charset="0"/>
                <a:sym typeface="+mn-ea"/>
              </a:rPr>
              <a:t>采用预取技术之后，不命中率降低</a:t>
            </a:r>
            <a:r>
              <a:rPr lang="en-US" altLang="zh-CN" sz="2400" dirty="0">
                <a:latin typeface="Times New Roman" panose="02020603050405020304" pitchFamily="18" charset="0"/>
                <a:cs typeface="Times New Roman" panose="02020603050405020304" pitchFamily="18" charset="0"/>
                <a:sym typeface="+mn-ea"/>
              </a:rPr>
              <a:t>n</a:t>
            </a:r>
            <a:r>
              <a:rPr lang="zh-CN" altLang="en-US" sz="2400" dirty="0">
                <a:latin typeface="Times New Roman" panose="02020603050405020304" pitchFamily="18" charset="0"/>
                <a:cs typeface="Times New Roman" panose="02020603050405020304" pitchFamily="18" charset="0"/>
                <a:sym typeface="+mn-ea"/>
              </a:rPr>
              <a:t>倍</a:t>
            </a:r>
            <a:endParaRPr lang="zh-CN" altLang="en-US" sz="2400" dirty="0">
              <a:latin typeface="Times New Roman" panose="02020603050405020304" pitchFamily="18" charset="0"/>
              <a:cs typeface="Times New Roman" panose="02020603050405020304" pitchFamily="18" charset="0"/>
              <a:sym typeface="+mn-ea"/>
            </a:endParaRPr>
          </a:p>
        </p:txBody>
      </p:sp>
      <p:sp>
        <p:nvSpPr>
          <p:cNvPr id="32770" name="Rectangle 2"/>
          <p:cNvSpPr>
            <a:spLocks noGrp="1"/>
          </p:cNvSpPr>
          <p:nvPr>
            <p:ph type="title"/>
          </p:nvPr>
        </p:nvSpPr>
        <p:spPr>
          <a:xfrm>
            <a:off x="395605" y="260985"/>
            <a:ext cx="7772400" cy="1143000"/>
          </a:xfrm>
          <a:noFill/>
          <a:ln>
            <a:noFill/>
          </a:ln>
        </p:spPr>
        <p:txBody>
          <a:bodyPr/>
          <a:p>
            <a:pPr eaLnBrk="1" hangingPunct="1"/>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采用预取技术提高命中率</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graphicFrame>
        <p:nvGraphicFramePr>
          <p:cNvPr id="47109" name="Object 4"/>
          <p:cNvGraphicFramePr>
            <a:graphicFrameLocks noChangeAspect="1"/>
          </p:cNvGraphicFramePr>
          <p:nvPr>
            <p:custDataLst>
              <p:tags r:id="rId1"/>
            </p:custDataLst>
          </p:nvPr>
        </p:nvGraphicFramePr>
        <p:xfrm>
          <a:off x="3542665" y="2420620"/>
          <a:ext cx="1804035" cy="948690"/>
        </p:xfrm>
        <a:graphic>
          <a:graphicData uri="http://schemas.openxmlformats.org/presentationml/2006/ole">
            <mc:AlternateContent xmlns:mc="http://schemas.openxmlformats.org/markup-compatibility/2006">
              <mc:Choice xmlns:v="urn:schemas-microsoft-com:vml" Requires="v">
                <p:oleObj spid="_x0000_s3079" name="" r:id="rId2" imgW="2374900" imgH="1252855" progId="Equation.3">
                  <p:embed/>
                </p:oleObj>
              </mc:Choice>
              <mc:Fallback>
                <p:oleObj name="" r:id="rId2" imgW="2374900" imgH="1252855" progId="Equation.3">
                  <p:embed/>
                  <p:pic>
                    <p:nvPicPr>
                      <p:cNvPr id="0" name="图片 3078"/>
                      <p:cNvPicPr/>
                      <p:nvPr/>
                    </p:nvPicPr>
                    <p:blipFill>
                      <a:blip r:embed="rId3"/>
                      <a:stretch>
                        <a:fillRect/>
                      </a:stretch>
                    </p:blipFill>
                    <p:spPr>
                      <a:xfrm>
                        <a:off x="3542665" y="2420620"/>
                        <a:ext cx="1804035" cy="948690"/>
                      </a:xfrm>
                      <a:prstGeom prst="rect">
                        <a:avLst/>
                      </a:prstGeom>
                      <a:noFill/>
                      <a:ln w="38100">
                        <a:noFill/>
                        <a:miter/>
                      </a:ln>
                    </p:spPr>
                  </p:pic>
                </p:oleObj>
              </mc:Fallback>
            </mc:AlternateContent>
          </a:graphicData>
        </a:graphic>
      </p:graphicFrame>
      <p:graphicFrame>
        <p:nvGraphicFramePr>
          <p:cNvPr id="47110" name="Object 5"/>
          <p:cNvGraphicFramePr>
            <a:graphicFrameLocks noChangeAspect="1"/>
          </p:cNvGraphicFramePr>
          <p:nvPr>
            <p:custDataLst>
              <p:tags r:id="rId4"/>
            </p:custDataLst>
          </p:nvPr>
        </p:nvGraphicFramePr>
        <p:xfrm>
          <a:off x="2284413" y="5444808"/>
          <a:ext cx="3994150" cy="987425"/>
        </p:xfrm>
        <a:graphic>
          <a:graphicData uri="http://schemas.openxmlformats.org/presentationml/2006/ole">
            <mc:AlternateContent xmlns:mc="http://schemas.openxmlformats.org/markup-compatibility/2006">
              <mc:Choice xmlns:v="urn:schemas-microsoft-com:vml" Requires="v">
                <p:oleObj spid="_x0000_s3080" name="" r:id="rId5" imgW="1600200" imgH="393700" progId="Equation.3">
                  <p:embed/>
                </p:oleObj>
              </mc:Choice>
              <mc:Fallback>
                <p:oleObj name="" r:id="rId5" imgW="1600200" imgH="393700" progId="Equation.3">
                  <p:embed/>
                  <p:pic>
                    <p:nvPicPr>
                      <p:cNvPr id="0" name="图片 3079"/>
                      <p:cNvPicPr/>
                      <p:nvPr/>
                    </p:nvPicPr>
                    <p:blipFill>
                      <a:blip r:embed="rId6"/>
                      <a:stretch>
                        <a:fillRect/>
                      </a:stretch>
                    </p:blipFill>
                    <p:spPr>
                      <a:xfrm>
                        <a:off x="2284413" y="5444808"/>
                        <a:ext cx="3994150" cy="987425"/>
                      </a:xfrm>
                      <a:prstGeom prst="rect">
                        <a:avLst/>
                      </a:prstGeom>
                      <a:noFill/>
                      <a:ln w="38100">
                        <a:noFill/>
                        <a:miter/>
                      </a:ln>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5"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例（</a:t>
            </a:r>
            <a:r>
              <a:rPr lang="zh-CN" altLang="en-US" dirty="0">
                <a:latin typeface="Times New Roman" panose="02020603050405020304" pitchFamily="18" charset="0"/>
              </a:rPr>
              <a:t>回顾）</a:t>
            </a:r>
            <a:endParaRPr lang="zh-CN" altLang="en-US" dirty="0">
              <a:latin typeface="Times New Roman" panose="02020603050405020304" pitchFamily="18" charset="0"/>
            </a:endParaRPr>
          </a:p>
        </p:txBody>
      </p:sp>
      <p:sp>
        <p:nvSpPr>
          <p:cNvPr id="129026" name="内容占位符 2"/>
          <p:cNvSpPr>
            <a:spLocks noGrp="1"/>
          </p:cNvSpPr>
          <p:nvPr>
            <p:ph idx="1"/>
          </p:nvPr>
        </p:nvSpPr>
        <p:spPr>
          <a:xfrm>
            <a:off x="457200" y="1196975"/>
            <a:ext cx="8229600" cy="5400675"/>
          </a:xfrm>
          <a:noFill/>
          <a:ln>
            <a:noFill/>
          </a:ln>
        </p:spPr>
        <p:txBody>
          <a:bodyPr anchor="t" anchorCtr="0"/>
          <a:p>
            <a:pPr algn="just"/>
            <a:r>
              <a:rPr lang="zh-CN" altLang="en-US" sz="2400" dirty="0">
                <a:latin typeface="Times New Roman" panose="02020603050405020304" pitchFamily="18" charset="0"/>
              </a:rPr>
              <a:t>设某机主存容量为</a:t>
            </a:r>
            <a:r>
              <a:rPr lang="en-US" altLang="zh-CN" sz="2400" dirty="0">
                <a:latin typeface="Times New Roman" panose="02020603050405020304" pitchFamily="18" charset="0"/>
              </a:rPr>
              <a:t>4MB</a:t>
            </a:r>
            <a:r>
              <a:rPr lang="zh-CN" altLang="en-US" sz="2400" dirty="0">
                <a:latin typeface="Times New Roman" panose="02020603050405020304" pitchFamily="18" charset="0"/>
              </a:rPr>
              <a:t>，按字节编址，</a:t>
            </a:r>
            <a:r>
              <a:rPr lang="en-US" altLang="zh-CN" sz="2400" dirty="0">
                <a:latin typeface="Times New Roman" panose="02020603050405020304" pitchFamily="18" charset="0"/>
              </a:rPr>
              <a:t>Cache</a:t>
            </a:r>
            <a:r>
              <a:rPr lang="zh-CN" altLang="en-US" sz="2400" dirty="0">
                <a:latin typeface="Times New Roman" panose="02020603050405020304" pitchFamily="18" charset="0"/>
              </a:rPr>
              <a:t>容量为</a:t>
            </a:r>
            <a:r>
              <a:rPr lang="en-US" altLang="zh-CN" sz="2400" dirty="0">
                <a:latin typeface="Times New Roman" panose="02020603050405020304" pitchFamily="18" charset="0"/>
              </a:rPr>
              <a:t>16KB</a:t>
            </a:r>
            <a:r>
              <a:rPr lang="zh-CN" altLang="en-US" sz="2400" dirty="0">
                <a:latin typeface="Times New Roman" panose="02020603050405020304" pitchFamily="18" charset="0"/>
              </a:rPr>
              <a:t>，每块包含</a:t>
            </a:r>
            <a:r>
              <a:rPr lang="en-US" altLang="zh-CN" sz="2400" dirty="0">
                <a:latin typeface="Times New Roman" panose="02020603050405020304" pitchFamily="18" charset="0"/>
              </a:rPr>
              <a:t>8</a:t>
            </a:r>
            <a:r>
              <a:rPr lang="zh-CN" altLang="en-US" sz="2400" dirty="0">
                <a:latin typeface="Times New Roman" panose="02020603050405020304" pitchFamily="18" charset="0"/>
              </a:rPr>
              <a:t>个字，每字</a:t>
            </a:r>
            <a:r>
              <a:rPr lang="en-US" altLang="zh-CN" sz="2400" dirty="0">
                <a:latin typeface="Times New Roman" panose="02020603050405020304" pitchFamily="18" charset="0"/>
              </a:rPr>
              <a:t>32</a:t>
            </a:r>
            <a:r>
              <a:rPr lang="zh-CN" altLang="en-US" sz="2400" dirty="0">
                <a:latin typeface="Times New Roman" panose="02020603050405020304" pitchFamily="18" charset="0"/>
              </a:rPr>
              <a:t>位，设计一个四路组相联映像（</a:t>
            </a:r>
            <a:r>
              <a:rPr lang="en-US" altLang="zh-CN" sz="2400" dirty="0">
                <a:latin typeface="Times New Roman" panose="02020603050405020304" pitchFamily="18" charset="0"/>
              </a:rPr>
              <a:t>Cache</a:t>
            </a:r>
            <a:r>
              <a:rPr lang="zh-CN" altLang="en-US" sz="2400" dirty="0">
                <a:latin typeface="Times New Roman" panose="02020603050405020304" pitchFamily="18" charset="0"/>
              </a:rPr>
              <a:t>每组内共有四个块）的</a:t>
            </a:r>
            <a:r>
              <a:rPr lang="en-US" altLang="zh-CN" sz="2400" dirty="0">
                <a:latin typeface="Times New Roman" panose="02020603050405020304" pitchFamily="18" charset="0"/>
              </a:rPr>
              <a:t>Cache</a:t>
            </a:r>
            <a:r>
              <a:rPr lang="zh-CN" altLang="en-US" sz="2400" dirty="0">
                <a:latin typeface="Times New Roman" panose="02020603050405020304" pitchFamily="18" charset="0"/>
              </a:rPr>
              <a:t>组织，要求：</a:t>
            </a:r>
            <a:endParaRPr lang="zh-CN" altLang="en-US" sz="2400" dirty="0">
              <a:latin typeface="Times New Roman" panose="02020603050405020304" pitchFamily="18" charset="0"/>
            </a:endParaRPr>
          </a:p>
          <a:p>
            <a:pPr lvl="1" algn="just">
              <a:spcBef>
                <a:spcPts val="2400"/>
              </a:spcBef>
            </a:pPr>
            <a:r>
              <a:rPr lang="zh-CN" altLang="en-US" sz="2400" dirty="0">
                <a:latin typeface="Times New Roman" panose="02020603050405020304" pitchFamily="18" charset="0"/>
              </a:rPr>
              <a:t>画出主存地址字段中各段的位数。</a:t>
            </a:r>
            <a:endParaRPr lang="zh-CN" altLang="en-US" sz="2400" dirty="0">
              <a:latin typeface="Times New Roman" panose="02020603050405020304" pitchFamily="18" charset="0"/>
            </a:endParaRPr>
          </a:p>
          <a:p>
            <a:pPr lvl="1" algn="just">
              <a:spcBef>
                <a:spcPts val="1200"/>
              </a:spcBef>
            </a:pPr>
            <a:r>
              <a:rPr lang="zh-CN" altLang="en-US" sz="2400" dirty="0">
                <a:latin typeface="Times New Roman" panose="02020603050405020304" pitchFamily="18" charset="0"/>
              </a:rPr>
              <a:t>设</a:t>
            </a:r>
            <a:r>
              <a:rPr lang="en-US" altLang="zh-CN" sz="2400" dirty="0">
                <a:latin typeface="Times New Roman" panose="02020603050405020304" pitchFamily="18" charset="0"/>
              </a:rPr>
              <a:t>Cache</a:t>
            </a:r>
            <a:r>
              <a:rPr lang="zh-CN" altLang="en-US" sz="2400" dirty="0">
                <a:latin typeface="Times New Roman" panose="02020603050405020304" pitchFamily="18" charset="0"/>
              </a:rPr>
              <a:t>的初态为空，</a:t>
            </a:r>
            <a:r>
              <a:rPr lang="en-US" altLang="zh-CN" sz="2400" dirty="0">
                <a:latin typeface="Times New Roman" panose="02020603050405020304" pitchFamily="18" charset="0"/>
              </a:rPr>
              <a:t>CPU</a:t>
            </a:r>
            <a:r>
              <a:rPr lang="zh-CN" altLang="en-US" sz="2400" dirty="0">
                <a:latin typeface="Times New Roman" panose="02020603050405020304" pitchFamily="18" charset="0"/>
              </a:rPr>
              <a:t>依次从主存第</a:t>
            </a:r>
            <a:r>
              <a:rPr lang="en-US" altLang="zh-CN" sz="2400" dirty="0">
                <a:latin typeface="Times New Roman" panose="02020603050405020304" pitchFamily="18" charset="0"/>
              </a:rPr>
              <a:t>0</a:t>
            </a:r>
            <a:r>
              <a:rPr lang="zh-CN" altLang="en-US" sz="2400" dirty="0">
                <a:latin typeface="Times New Roman" panose="02020603050405020304" pitchFamily="18" charset="0"/>
              </a:rPr>
              <a:t>、</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a:t>
            </a:r>
            <a:r>
              <a:rPr lang="zh-CN" altLang="en-US" sz="2400" dirty="0">
                <a:latin typeface="Times New Roman" panose="02020603050405020304" pitchFamily="18" charset="0"/>
              </a:rPr>
              <a:t>、</a:t>
            </a:r>
            <a:r>
              <a:rPr lang="en-US" altLang="zh-CN" sz="2400" dirty="0">
                <a:latin typeface="Times New Roman" panose="02020603050405020304" pitchFamily="18" charset="0"/>
              </a:rPr>
              <a:t>99</a:t>
            </a:r>
            <a:r>
              <a:rPr lang="zh-CN" altLang="en-US" sz="2400" dirty="0">
                <a:latin typeface="Times New Roman" panose="02020603050405020304" pitchFamily="18" charset="0"/>
              </a:rPr>
              <a:t>号单元读出</a:t>
            </a:r>
            <a:r>
              <a:rPr lang="en-US" altLang="zh-CN" sz="2400" dirty="0">
                <a:latin typeface="Times New Roman" panose="02020603050405020304" pitchFamily="18" charset="0"/>
              </a:rPr>
              <a:t>100</a:t>
            </a:r>
            <a:r>
              <a:rPr lang="zh-CN" altLang="en-US" sz="2400" dirty="0">
                <a:latin typeface="Times New Roman" panose="02020603050405020304" pitchFamily="18" charset="0"/>
              </a:rPr>
              <a:t>个字（主存一次读出一个字），并重复按此次序读</a:t>
            </a:r>
            <a:r>
              <a:rPr lang="en-US" altLang="zh-CN" sz="2400" dirty="0">
                <a:latin typeface="Times New Roman" panose="02020603050405020304" pitchFamily="18" charset="0"/>
              </a:rPr>
              <a:t>8</a:t>
            </a:r>
            <a:r>
              <a:rPr lang="zh-CN" altLang="en-US" sz="2400" dirty="0">
                <a:latin typeface="Times New Roman" panose="02020603050405020304" pitchFamily="18" charset="0"/>
              </a:rPr>
              <a:t>次，问命中率是多少？</a:t>
            </a:r>
            <a:endParaRPr lang="zh-CN" altLang="en-US" sz="2400" dirty="0">
              <a:latin typeface="Times New Roman" panose="02020603050405020304" pitchFamily="18" charset="0"/>
            </a:endParaRPr>
          </a:p>
          <a:p>
            <a:pPr lvl="1" algn="just">
              <a:spcBef>
                <a:spcPts val="1200"/>
              </a:spcBef>
            </a:pPr>
            <a:r>
              <a:rPr lang="zh-CN" altLang="en-US" sz="2400" dirty="0">
                <a:latin typeface="Times New Roman" panose="02020603050405020304" pitchFamily="18" charset="0"/>
              </a:rPr>
              <a:t>若</a:t>
            </a:r>
            <a:r>
              <a:rPr lang="en-US" altLang="zh-CN" sz="2400" dirty="0">
                <a:latin typeface="Times New Roman" panose="02020603050405020304" pitchFamily="18" charset="0"/>
              </a:rPr>
              <a:t>Cache</a:t>
            </a:r>
            <a:r>
              <a:rPr lang="zh-CN" altLang="en-US" sz="2400" dirty="0">
                <a:latin typeface="Times New Roman" panose="02020603050405020304" pitchFamily="18" charset="0"/>
              </a:rPr>
              <a:t>的速度是主存的</a:t>
            </a:r>
            <a:r>
              <a:rPr lang="en-US" altLang="zh-CN" sz="2400" dirty="0">
                <a:latin typeface="Times New Roman" panose="02020603050405020304" pitchFamily="18" charset="0"/>
              </a:rPr>
              <a:t>6</a:t>
            </a:r>
            <a:r>
              <a:rPr lang="zh-CN" altLang="en-US" sz="2400" dirty="0">
                <a:latin typeface="Times New Roman" panose="02020603050405020304" pitchFamily="18" charset="0"/>
              </a:rPr>
              <a:t>倍，试问有</a:t>
            </a:r>
            <a:r>
              <a:rPr lang="en-US" altLang="zh-CN" sz="2400" dirty="0">
                <a:latin typeface="Times New Roman" panose="02020603050405020304" pitchFamily="18" charset="0"/>
              </a:rPr>
              <a:t>Cache</a:t>
            </a:r>
            <a:r>
              <a:rPr lang="zh-CN" altLang="en-US" sz="2400" dirty="0">
                <a:latin typeface="Times New Roman" panose="02020603050405020304" pitchFamily="18" charset="0"/>
              </a:rPr>
              <a:t>和无</a:t>
            </a:r>
            <a:r>
              <a:rPr lang="en-US" altLang="zh-CN" sz="2400" dirty="0">
                <a:latin typeface="Times New Roman" panose="02020603050405020304" pitchFamily="18" charset="0"/>
              </a:rPr>
              <a:t>Cache</a:t>
            </a:r>
            <a:r>
              <a:rPr lang="zh-CN" altLang="en-US" sz="2400" dirty="0">
                <a:latin typeface="Times New Roman" panose="02020603050405020304" pitchFamily="18" charset="0"/>
              </a:rPr>
              <a:t>相比，速度提高多少倍？</a:t>
            </a:r>
            <a:endParaRPr lang="zh-CN" altLang="en-US" sz="2400" dirty="0">
              <a:latin typeface="Times New Roman" panose="02020603050405020304" pitchFamily="18" charset="0"/>
            </a:endParaRPr>
          </a:p>
          <a:p>
            <a:pPr algn="just"/>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49"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解答</a:t>
            </a:r>
            <a:endParaRPr lang="zh-CN" altLang="en-US" dirty="0">
              <a:latin typeface="Times New Roman" panose="02020603050405020304" pitchFamily="18" charset="0"/>
              <a:ea typeface="Times New Roman" panose="02020603050405020304" pitchFamily="18" charset="0"/>
            </a:endParaRPr>
          </a:p>
        </p:txBody>
      </p:sp>
      <p:pic>
        <p:nvPicPr>
          <p:cNvPr id="130050" name="Picture 4" descr="55"/>
          <p:cNvPicPr>
            <a:picLocks noChangeAspect="1"/>
          </p:cNvPicPr>
          <p:nvPr/>
        </p:nvPicPr>
        <p:blipFill>
          <a:blip r:embed="rId1"/>
          <a:stretch>
            <a:fillRect/>
          </a:stretch>
        </p:blipFill>
        <p:spPr>
          <a:xfrm>
            <a:off x="688975" y="1390650"/>
            <a:ext cx="7770813" cy="4170363"/>
          </a:xfrm>
          <a:prstGeom prst="rect">
            <a:avLst/>
          </a:prstGeom>
          <a:noFill/>
          <a:ln w="9525">
            <a:noFill/>
          </a:ln>
        </p:spPr>
      </p:pic>
      <p:sp>
        <p:nvSpPr>
          <p:cNvPr id="130051" name="Text Box 5"/>
          <p:cNvSpPr txBox="1"/>
          <p:nvPr/>
        </p:nvSpPr>
        <p:spPr>
          <a:xfrm>
            <a:off x="573088" y="5918200"/>
            <a:ext cx="7997825" cy="396875"/>
          </a:xfrm>
          <a:prstGeom prst="rect">
            <a:avLst/>
          </a:prstGeom>
          <a:noFill/>
          <a:ln w="6350">
            <a:noFill/>
          </a:ln>
        </p:spPr>
        <p:txBody>
          <a:bodyPr wrap="none" anchor="t" anchorCtr="0">
            <a:spAutoFit/>
          </a:bodyPr>
          <a:p>
            <a:r>
              <a:rPr lang="zh-CN" altLang="en-US" sz="2000" b="1" dirty="0">
                <a:solidFill>
                  <a:srgbClr val="FF0000"/>
                </a:solidFill>
                <a:latin typeface="Times New Roman" panose="02020603050405020304" pitchFamily="18" charset="0"/>
                <a:ea typeface="仿宋_GB2312" pitchFamily="49" charset="-122"/>
              </a:rPr>
              <a:t>无</a:t>
            </a:r>
            <a:r>
              <a:rPr lang="en-US" altLang="zh-CN" sz="2000" b="1" dirty="0">
                <a:solidFill>
                  <a:srgbClr val="FF0000"/>
                </a:solidFill>
                <a:latin typeface="Times New Roman" panose="02020603050405020304" pitchFamily="18" charset="0"/>
                <a:ea typeface="仿宋_GB2312" pitchFamily="49" charset="-122"/>
              </a:rPr>
              <a:t>Cache </a:t>
            </a:r>
            <a:r>
              <a:rPr lang="zh-CN" altLang="en-US" sz="2000" b="1" dirty="0">
                <a:solidFill>
                  <a:srgbClr val="FF0000"/>
                </a:solidFill>
                <a:latin typeface="Times New Roman" panose="02020603050405020304" pitchFamily="18" charset="0"/>
                <a:ea typeface="仿宋_GB2312" pitchFamily="49" charset="-122"/>
              </a:rPr>
              <a:t>的访存时间为</a:t>
            </a:r>
            <a:r>
              <a:rPr lang="en-US" altLang="zh-CN" sz="2000" b="1" dirty="0">
                <a:solidFill>
                  <a:srgbClr val="FF0000"/>
                </a:solidFill>
                <a:latin typeface="Times New Roman" panose="02020603050405020304" pitchFamily="18" charset="0"/>
                <a:ea typeface="仿宋_GB2312" pitchFamily="49" charset="-122"/>
              </a:rPr>
              <a:t>6T</a:t>
            </a:r>
            <a:r>
              <a:rPr lang="zh-CN" altLang="en-US" sz="2000" b="1" dirty="0">
                <a:solidFill>
                  <a:srgbClr val="FF0000"/>
                </a:solidFill>
                <a:latin typeface="Times New Roman" panose="02020603050405020304" pitchFamily="18" charset="0"/>
                <a:ea typeface="仿宋_GB2312" pitchFamily="49" charset="-122"/>
              </a:rPr>
              <a:t>，所以速度提高倍数＝</a:t>
            </a:r>
            <a:r>
              <a:rPr lang="en-US" altLang="zh-CN" sz="2000" b="1" dirty="0">
                <a:solidFill>
                  <a:srgbClr val="FF0000"/>
                </a:solidFill>
                <a:latin typeface="Times New Roman" panose="02020603050405020304" pitchFamily="18" charset="0"/>
                <a:ea typeface="仿宋_GB2312" pitchFamily="49" charset="-122"/>
              </a:rPr>
              <a:t>6T/1.096T</a:t>
            </a:r>
            <a:r>
              <a:rPr lang="zh-CN" altLang="en-US" sz="2000" b="1" dirty="0">
                <a:solidFill>
                  <a:srgbClr val="FF0000"/>
                </a:solidFill>
                <a:latin typeface="Times New Roman" panose="02020603050405020304" pitchFamily="18" charset="0"/>
                <a:ea typeface="仿宋_GB2312" pitchFamily="49" charset="-122"/>
              </a:rPr>
              <a:t>＝</a:t>
            </a:r>
            <a:r>
              <a:rPr lang="en-US" altLang="zh-CN" sz="2000" b="1" dirty="0">
                <a:solidFill>
                  <a:srgbClr val="FF0000"/>
                </a:solidFill>
                <a:latin typeface="Times New Roman" panose="02020603050405020304" pitchFamily="18" charset="0"/>
                <a:ea typeface="仿宋_GB2312" pitchFamily="49" charset="-122"/>
              </a:rPr>
              <a:t>5.47</a:t>
            </a:r>
            <a:r>
              <a:rPr lang="zh-CN" altLang="en-US" sz="2000" b="1" dirty="0">
                <a:solidFill>
                  <a:srgbClr val="FF0000"/>
                </a:solidFill>
                <a:latin typeface="Times New Roman" panose="02020603050405020304" pitchFamily="18" charset="0"/>
                <a:ea typeface="仿宋_GB2312" pitchFamily="49" charset="-122"/>
              </a:rPr>
              <a:t>倍。</a:t>
            </a:r>
            <a:endParaRPr lang="zh-CN" altLang="en-US" sz="2000" b="1" dirty="0">
              <a:solidFill>
                <a:srgbClr val="FF0000"/>
              </a:solidFill>
              <a:latin typeface="Times New Roman" panose="02020603050405020304" pitchFamily="18" charset="0"/>
              <a:ea typeface="仿宋_GB2312" pitchFamily="49"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p:cNvSpPr>
          <p:nvPr>
            <p:ph type="title"/>
          </p:nvPr>
        </p:nvSpPr>
        <p:spPr>
          <a:xfrm>
            <a:off x="361950" y="266700"/>
            <a:ext cx="7772400" cy="1143000"/>
          </a:xfrm>
          <a:noFill/>
          <a:ln>
            <a:noFill/>
          </a:ln>
        </p:spPr>
        <p:txBody>
          <a:bodyPr/>
          <a:p>
            <a:pPr eaLnBrk="1" hangingPunct="1"/>
            <a:r>
              <a:rPr lang="zh-CN" altLang="en-US" sz="3600" dirty="0">
                <a:sym typeface="+mn-ea"/>
              </a:rPr>
              <a:t>例</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 name="Rectangle 3"/>
          <p:cNvSpPr>
            <a:spLocks noGrp="1"/>
          </p:cNvSpPr>
          <p:nvPr/>
        </p:nvSpPr>
        <p:spPr>
          <a:xfrm>
            <a:off x="251460" y="1196975"/>
            <a:ext cx="8510270" cy="4797425"/>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170180" indent="-170180" defTabSz="914400" eaLnBrk="1" hangingPunct="1">
              <a:tabLst>
                <a:tab pos="4089400" algn="l"/>
              </a:tabLst>
            </a:pPr>
            <a:r>
              <a:rPr lang="zh-CN" altLang="en-US" sz="2400" dirty="0">
                <a:latin typeface="Times New Roman" panose="02020603050405020304" pitchFamily="18" charset="0"/>
                <a:cs typeface="Times New Roman" panose="02020603050405020304" pitchFamily="18" charset="0"/>
                <a:sym typeface="+mn-ea"/>
              </a:rPr>
              <a:t>在一个</a:t>
            </a:r>
            <a:r>
              <a:rPr lang="en-US" altLang="zh-CN" sz="2400" dirty="0">
                <a:latin typeface="Times New Roman" panose="02020603050405020304" pitchFamily="18" charset="0"/>
                <a:cs typeface="Times New Roman" panose="02020603050405020304" pitchFamily="18" charset="0"/>
                <a:sym typeface="+mn-ea"/>
              </a:rPr>
              <a:t>Cache</a:t>
            </a:r>
            <a:r>
              <a:rPr lang="zh-CN" altLang="en-US" sz="2400" dirty="0">
                <a:latin typeface="Times New Roman" panose="02020603050405020304" pitchFamily="18" charset="0"/>
                <a:cs typeface="Times New Roman" panose="02020603050405020304" pitchFamily="18" charset="0"/>
                <a:sym typeface="+mn-ea"/>
              </a:rPr>
              <a:t>存储系统中，当</a:t>
            </a:r>
            <a:r>
              <a:rPr lang="en-US" altLang="zh-CN" sz="2400" dirty="0">
                <a:latin typeface="Times New Roman" panose="02020603050405020304" pitchFamily="18" charset="0"/>
                <a:cs typeface="Times New Roman" panose="02020603050405020304" pitchFamily="18" charset="0"/>
                <a:sym typeface="+mn-ea"/>
              </a:rPr>
              <a:t>Cache</a:t>
            </a:r>
            <a:r>
              <a:rPr lang="zh-CN" altLang="en-US" sz="2400" dirty="0">
                <a:latin typeface="Times New Roman" panose="02020603050405020304" pitchFamily="18" charset="0"/>
                <a:cs typeface="Times New Roman" panose="02020603050405020304" pitchFamily="18" charset="0"/>
                <a:sym typeface="+mn-ea"/>
              </a:rPr>
              <a:t>的块大小为一个字时，命中率</a:t>
            </a:r>
            <a:r>
              <a:rPr lang="en-US" altLang="zh-CN" sz="2400" dirty="0">
                <a:latin typeface="Times New Roman" panose="02020603050405020304" pitchFamily="18" charset="0"/>
                <a:cs typeface="Times New Roman" panose="02020603050405020304" pitchFamily="18" charset="0"/>
                <a:sym typeface="+mn-ea"/>
              </a:rPr>
              <a:t>H=0.8</a:t>
            </a:r>
            <a:r>
              <a:rPr lang="zh-CN" altLang="en-US" sz="2400" dirty="0">
                <a:latin typeface="Times New Roman" panose="02020603050405020304" pitchFamily="18" charset="0"/>
                <a:cs typeface="Times New Roman" panose="02020603050405020304" pitchFamily="18" charset="0"/>
                <a:sym typeface="+mn-ea"/>
              </a:rPr>
              <a:t>；假设数据的重复利用率为</a:t>
            </a:r>
            <a:r>
              <a:rPr lang="en-US" altLang="zh-CN" sz="2400" dirty="0">
                <a:latin typeface="Times New Roman" panose="02020603050405020304" pitchFamily="18" charset="0"/>
                <a:cs typeface="Times New Roman" panose="02020603050405020304" pitchFamily="18" charset="0"/>
                <a:sym typeface="+mn-ea"/>
              </a:rPr>
              <a:t>5</a:t>
            </a:r>
            <a:r>
              <a:rPr lang="zh-CN" altLang="en-US" sz="2400" dirty="0">
                <a:latin typeface="Times New Roman" panose="02020603050405020304" pitchFamily="18" charset="0"/>
                <a:cs typeface="Times New Roman" panose="02020603050405020304" pitchFamily="18" charset="0"/>
                <a:sym typeface="+mn-ea"/>
              </a:rPr>
              <a:t>，计算块大小为４个字时，</a:t>
            </a:r>
            <a:r>
              <a:rPr lang="en-US" altLang="zh-CN" sz="2400" dirty="0">
                <a:latin typeface="Times New Roman" panose="02020603050405020304" pitchFamily="18" charset="0"/>
                <a:cs typeface="Times New Roman" panose="02020603050405020304" pitchFamily="18" charset="0"/>
                <a:sym typeface="+mn-ea"/>
              </a:rPr>
              <a:t>Cache</a:t>
            </a:r>
            <a:r>
              <a:rPr lang="zh-CN" altLang="en-US" sz="2400" dirty="0">
                <a:latin typeface="Times New Roman" panose="02020603050405020304" pitchFamily="18" charset="0"/>
                <a:cs typeface="Times New Roman" panose="02020603050405020304" pitchFamily="18" charset="0"/>
                <a:sym typeface="+mn-ea"/>
              </a:rPr>
              <a:t>存储系统的命中率是多少？假设</a:t>
            </a:r>
            <a:r>
              <a:rPr lang="en-US" altLang="zh-CN" sz="2400" dirty="0">
                <a:latin typeface="Times New Roman" panose="02020603050405020304" pitchFamily="18" charset="0"/>
                <a:cs typeface="Times New Roman" panose="02020603050405020304" pitchFamily="18" charset="0"/>
                <a:sym typeface="+mn-ea"/>
              </a:rPr>
              <a:t>T</a:t>
            </a:r>
            <a:r>
              <a:rPr lang="en-US" altLang="zh-CN" sz="2400" baseline="-25000" dirty="0">
                <a:latin typeface="Times New Roman" panose="02020603050405020304" pitchFamily="18" charset="0"/>
                <a:cs typeface="Times New Roman" panose="02020603050405020304" pitchFamily="18" charset="0"/>
                <a:sym typeface="+mn-ea"/>
              </a:rPr>
              <a:t>2</a:t>
            </a:r>
            <a:r>
              <a:rPr lang="en-US" altLang="zh-CN" sz="2400" dirty="0">
                <a:latin typeface="Times New Roman" panose="02020603050405020304" pitchFamily="18" charset="0"/>
                <a:cs typeface="Times New Roman" panose="02020603050405020304" pitchFamily="18" charset="0"/>
                <a:sym typeface="+mn-ea"/>
              </a:rPr>
              <a:t>=5T</a:t>
            </a:r>
            <a:r>
              <a:rPr lang="en-US" altLang="zh-CN" sz="2400" baseline="-25000" dirty="0">
                <a:latin typeface="Times New Roman" panose="02020603050405020304" pitchFamily="18" charset="0"/>
                <a:cs typeface="Times New Roman" panose="02020603050405020304" pitchFamily="18" charset="0"/>
                <a:sym typeface="+mn-ea"/>
              </a:rPr>
              <a:t>1</a:t>
            </a:r>
            <a:r>
              <a:rPr lang="zh-CN" altLang="en-US" sz="2400" dirty="0">
                <a:latin typeface="Times New Roman" panose="02020603050405020304" pitchFamily="18" charset="0"/>
                <a:cs typeface="Times New Roman" panose="02020603050405020304" pitchFamily="18" charset="0"/>
                <a:sym typeface="+mn-ea"/>
              </a:rPr>
              <a:t>，分别计算访问效率。</a:t>
            </a:r>
            <a:endParaRPr lang="zh-CN" altLang="en-US" sz="2400" dirty="0">
              <a:latin typeface="Times New Roman" panose="02020603050405020304" pitchFamily="18" charset="0"/>
              <a:cs typeface="Times New Roman" panose="02020603050405020304" pitchFamily="18" charset="0"/>
            </a:endParaRPr>
          </a:p>
          <a:p>
            <a:pPr marL="170180" indent="-170180" defTabSz="914400" eaLnBrk="1" hangingPunct="1">
              <a:tabLst>
                <a:tab pos="4089400" algn="l"/>
              </a:tabLst>
            </a:pPr>
            <a:endParaRPr lang="en-US" altLang="zh-CN" sz="2000" dirty="0">
              <a:latin typeface="Times New Roman" panose="02020603050405020304" pitchFamily="18" charset="0"/>
              <a:ea typeface="Times New Roman" panose="02020603050405020304" pitchFamily="18" charset="0"/>
              <a:cs typeface="Times New Roman" panose="02020603050405020304" pitchFamily="18" charset="0"/>
              <a:sym typeface="+mn-ea"/>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p:cNvSpPr>
          <p:nvPr>
            <p:ph type="title"/>
          </p:nvPr>
        </p:nvSpPr>
        <p:spPr>
          <a:xfrm>
            <a:off x="361950" y="266700"/>
            <a:ext cx="7772400" cy="1143000"/>
          </a:xfrm>
          <a:noFill/>
          <a:ln>
            <a:noFill/>
          </a:ln>
        </p:spPr>
        <p:txBody>
          <a:bodyPr/>
          <a:p>
            <a:pPr eaLnBrk="1" hangingPunct="1"/>
            <a:r>
              <a:rPr lang="zh-CN" altLang="en-US" sz="3600" dirty="0">
                <a:sym typeface="+mn-ea"/>
              </a:rPr>
              <a:t>例</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 name="Rectangle 3"/>
          <p:cNvSpPr>
            <a:spLocks noGrp="1"/>
          </p:cNvSpPr>
          <p:nvPr/>
        </p:nvSpPr>
        <p:spPr>
          <a:xfrm>
            <a:off x="251460" y="1196975"/>
            <a:ext cx="8510270" cy="4797425"/>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170180" indent="-170180" defTabSz="914400" eaLnBrk="1" hangingPunct="1">
              <a:tabLst>
                <a:tab pos="4089400" algn="l"/>
              </a:tabLst>
            </a:pPr>
            <a:r>
              <a:rPr lang="zh-CN" altLang="en-US" sz="2400" dirty="0">
                <a:latin typeface="Times New Roman" panose="02020603050405020304" pitchFamily="18" charset="0"/>
                <a:cs typeface="Times New Roman" panose="02020603050405020304" pitchFamily="18" charset="0"/>
                <a:sym typeface="+mn-ea"/>
              </a:rPr>
              <a:t>在一个</a:t>
            </a:r>
            <a:r>
              <a:rPr lang="en-US" altLang="zh-CN" sz="2400" dirty="0">
                <a:latin typeface="Times New Roman" panose="02020603050405020304" pitchFamily="18" charset="0"/>
                <a:cs typeface="Times New Roman" panose="02020603050405020304" pitchFamily="18" charset="0"/>
                <a:sym typeface="+mn-ea"/>
              </a:rPr>
              <a:t>Cache</a:t>
            </a:r>
            <a:r>
              <a:rPr lang="zh-CN" altLang="en-US" sz="2400" dirty="0">
                <a:latin typeface="Times New Roman" panose="02020603050405020304" pitchFamily="18" charset="0"/>
                <a:cs typeface="Times New Roman" panose="02020603050405020304" pitchFamily="18" charset="0"/>
                <a:sym typeface="+mn-ea"/>
              </a:rPr>
              <a:t>存储系统中，当</a:t>
            </a:r>
            <a:r>
              <a:rPr lang="en-US" altLang="zh-CN" sz="2400" dirty="0">
                <a:latin typeface="Times New Roman" panose="02020603050405020304" pitchFamily="18" charset="0"/>
                <a:cs typeface="Times New Roman" panose="02020603050405020304" pitchFamily="18" charset="0"/>
                <a:sym typeface="+mn-ea"/>
              </a:rPr>
              <a:t>Cache</a:t>
            </a:r>
            <a:r>
              <a:rPr lang="zh-CN" altLang="en-US" sz="2400" dirty="0">
                <a:latin typeface="Times New Roman" panose="02020603050405020304" pitchFamily="18" charset="0"/>
                <a:cs typeface="Times New Roman" panose="02020603050405020304" pitchFamily="18" charset="0"/>
                <a:sym typeface="+mn-ea"/>
              </a:rPr>
              <a:t>的块大小为一个字时，命中率</a:t>
            </a:r>
            <a:r>
              <a:rPr lang="en-US" altLang="zh-CN" sz="2400" dirty="0">
                <a:latin typeface="Times New Roman" panose="02020603050405020304" pitchFamily="18" charset="0"/>
                <a:cs typeface="Times New Roman" panose="02020603050405020304" pitchFamily="18" charset="0"/>
                <a:sym typeface="+mn-ea"/>
              </a:rPr>
              <a:t>H=0.8</a:t>
            </a:r>
            <a:r>
              <a:rPr lang="zh-CN" altLang="en-US" sz="2400" dirty="0">
                <a:latin typeface="Times New Roman" panose="02020603050405020304" pitchFamily="18" charset="0"/>
                <a:cs typeface="Times New Roman" panose="02020603050405020304" pitchFamily="18" charset="0"/>
                <a:sym typeface="+mn-ea"/>
              </a:rPr>
              <a:t>；假设数据的重复利用率为</a:t>
            </a:r>
            <a:r>
              <a:rPr lang="en-US" altLang="zh-CN" sz="2400" dirty="0">
                <a:latin typeface="Times New Roman" panose="02020603050405020304" pitchFamily="18" charset="0"/>
                <a:cs typeface="Times New Roman" panose="02020603050405020304" pitchFamily="18" charset="0"/>
                <a:sym typeface="+mn-ea"/>
              </a:rPr>
              <a:t>5</a:t>
            </a:r>
            <a:r>
              <a:rPr lang="zh-CN" altLang="en-US" sz="2400" dirty="0">
                <a:latin typeface="Times New Roman" panose="02020603050405020304" pitchFamily="18" charset="0"/>
                <a:cs typeface="Times New Roman" panose="02020603050405020304" pitchFamily="18" charset="0"/>
                <a:sym typeface="+mn-ea"/>
              </a:rPr>
              <a:t>，计算块大小为４个字时，</a:t>
            </a:r>
            <a:r>
              <a:rPr lang="en-US" altLang="zh-CN" sz="2400" dirty="0">
                <a:latin typeface="Times New Roman" panose="02020603050405020304" pitchFamily="18" charset="0"/>
                <a:cs typeface="Times New Roman" panose="02020603050405020304" pitchFamily="18" charset="0"/>
                <a:sym typeface="+mn-ea"/>
              </a:rPr>
              <a:t>Cache</a:t>
            </a:r>
            <a:r>
              <a:rPr lang="zh-CN" altLang="en-US" sz="2400" dirty="0">
                <a:latin typeface="Times New Roman" panose="02020603050405020304" pitchFamily="18" charset="0"/>
                <a:cs typeface="Times New Roman" panose="02020603050405020304" pitchFamily="18" charset="0"/>
                <a:sym typeface="+mn-ea"/>
              </a:rPr>
              <a:t>存储系统的命中率是多少？假设</a:t>
            </a:r>
            <a:r>
              <a:rPr lang="en-US" altLang="zh-CN" sz="2400" dirty="0">
                <a:latin typeface="Times New Roman" panose="02020603050405020304" pitchFamily="18" charset="0"/>
                <a:cs typeface="Times New Roman" panose="02020603050405020304" pitchFamily="18" charset="0"/>
                <a:sym typeface="+mn-ea"/>
              </a:rPr>
              <a:t>T</a:t>
            </a:r>
            <a:r>
              <a:rPr lang="en-US" altLang="zh-CN" sz="2400" baseline="-25000" dirty="0">
                <a:latin typeface="Times New Roman" panose="02020603050405020304" pitchFamily="18" charset="0"/>
                <a:cs typeface="Times New Roman" panose="02020603050405020304" pitchFamily="18" charset="0"/>
                <a:sym typeface="+mn-ea"/>
              </a:rPr>
              <a:t>2</a:t>
            </a:r>
            <a:r>
              <a:rPr lang="en-US" altLang="zh-CN" sz="2400" dirty="0">
                <a:latin typeface="Times New Roman" panose="02020603050405020304" pitchFamily="18" charset="0"/>
                <a:cs typeface="Times New Roman" panose="02020603050405020304" pitchFamily="18" charset="0"/>
                <a:sym typeface="+mn-ea"/>
              </a:rPr>
              <a:t>=5T</a:t>
            </a:r>
            <a:r>
              <a:rPr lang="en-US" altLang="zh-CN" sz="2400" baseline="-25000" dirty="0">
                <a:latin typeface="Times New Roman" panose="02020603050405020304" pitchFamily="18" charset="0"/>
                <a:cs typeface="Times New Roman" panose="02020603050405020304" pitchFamily="18" charset="0"/>
                <a:sym typeface="+mn-ea"/>
              </a:rPr>
              <a:t>1</a:t>
            </a:r>
            <a:r>
              <a:rPr lang="zh-CN" altLang="en-US" sz="2400" dirty="0">
                <a:latin typeface="Times New Roman" panose="02020603050405020304" pitchFamily="18" charset="0"/>
                <a:cs typeface="Times New Roman" panose="02020603050405020304" pitchFamily="18" charset="0"/>
                <a:sym typeface="+mn-ea"/>
              </a:rPr>
              <a:t>，分别计算访问效率。</a:t>
            </a:r>
            <a:endParaRPr lang="zh-CN" altLang="en-US" sz="2400" dirty="0">
              <a:latin typeface="Times New Roman" panose="02020603050405020304" pitchFamily="18" charset="0"/>
              <a:cs typeface="Times New Roman" panose="02020603050405020304" pitchFamily="18" charset="0"/>
            </a:endParaRPr>
          </a:p>
          <a:p>
            <a:pPr marL="170180" indent="-170180" defTabSz="914400" eaLnBrk="1" hangingPunct="1">
              <a:tabLst>
                <a:tab pos="4089400" algn="l"/>
              </a:tabLst>
            </a:pPr>
            <a:r>
              <a:rPr lang="zh-CN" altLang="en-US" sz="2400" dirty="0">
                <a:latin typeface="Times New Roman" panose="02020603050405020304" pitchFamily="18" charset="0"/>
                <a:cs typeface="Times New Roman" panose="02020603050405020304" pitchFamily="18" charset="0"/>
                <a:sym typeface="+mn-ea"/>
              </a:rPr>
              <a:t>解：</a:t>
            </a:r>
            <a:endParaRPr lang="zh-CN" altLang="en-US" sz="2400" dirty="0">
              <a:latin typeface="Times New Roman" panose="02020603050405020304" pitchFamily="18" charset="0"/>
              <a:cs typeface="Times New Roman" panose="02020603050405020304" pitchFamily="18" charset="0"/>
            </a:endParaRPr>
          </a:p>
          <a:p>
            <a:pPr marL="465455" lvl="1" indent="-180975" defTabSz="914400" eaLnBrk="1" hangingPunct="1">
              <a:tabLst>
                <a:tab pos="4089400" algn="l"/>
              </a:tabLst>
            </a:pPr>
            <a:r>
              <a:rPr lang="en-US" altLang="zh-CN" sz="2000" dirty="0">
                <a:latin typeface="Times New Roman" panose="02020603050405020304" pitchFamily="18" charset="0"/>
                <a:cs typeface="Times New Roman" panose="02020603050405020304" pitchFamily="18" charset="0"/>
                <a:sym typeface="+mn-ea"/>
              </a:rPr>
              <a:t>n=4*5=20</a:t>
            </a:r>
            <a:endParaRPr lang="en-US" altLang="zh-CN" sz="2000" dirty="0">
              <a:latin typeface="Times New Roman" panose="02020603050405020304" pitchFamily="18" charset="0"/>
              <a:cs typeface="Times New Roman" panose="02020603050405020304" pitchFamily="18" charset="0"/>
            </a:endParaRPr>
          </a:p>
          <a:p>
            <a:pPr marL="465455" lvl="1" indent="-180975" defTabSz="914400" eaLnBrk="1" hangingPunct="1">
              <a:tabLst>
                <a:tab pos="4089400" algn="l"/>
              </a:tabLst>
            </a:pPr>
            <a:r>
              <a:rPr lang="zh-CN" altLang="en-US" sz="2000" dirty="0">
                <a:latin typeface="Times New Roman" panose="02020603050405020304" pitchFamily="18" charset="0"/>
                <a:cs typeface="Times New Roman" panose="02020603050405020304" pitchFamily="18" charset="0"/>
                <a:sym typeface="+mn-ea"/>
              </a:rPr>
              <a:t>采用预取技术后</a:t>
            </a: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命中率提高到：</a:t>
            </a:r>
            <a:endParaRPr lang="zh-CN" altLang="en-US" sz="2000" dirty="0">
              <a:latin typeface="Times New Roman" panose="02020603050405020304" pitchFamily="18" charset="0"/>
              <a:cs typeface="Times New Roman" panose="02020603050405020304" pitchFamily="18" charset="0"/>
            </a:endParaRPr>
          </a:p>
          <a:p>
            <a:pPr marL="465455" lvl="1" indent="-180975" defTabSz="914400" eaLnBrk="1" hangingPunct="1">
              <a:tabLst>
                <a:tab pos="4089400" algn="l"/>
              </a:tabLst>
            </a:pPr>
            <a:endParaRPr lang="zh-CN" altLang="en-US" sz="2400" dirty="0">
              <a:latin typeface="Times New Roman" panose="02020603050405020304" pitchFamily="18" charset="0"/>
              <a:cs typeface="Times New Roman" panose="02020603050405020304" pitchFamily="18" charset="0"/>
            </a:endParaRPr>
          </a:p>
          <a:p>
            <a:pPr marL="465455" lvl="1" indent="-180975" defTabSz="914400" eaLnBrk="1" hangingPunct="1">
              <a:tabLst>
                <a:tab pos="4089400" algn="l"/>
              </a:tabLst>
            </a:pPr>
            <a:endParaRPr lang="zh-CN" altLang="en-US" sz="2400" dirty="0">
              <a:latin typeface="Times New Roman" panose="02020603050405020304" pitchFamily="18" charset="0"/>
              <a:cs typeface="Times New Roman" panose="02020603050405020304" pitchFamily="18" charset="0"/>
            </a:endParaRPr>
          </a:p>
          <a:p>
            <a:pPr marL="465455" lvl="1" indent="-180975" defTabSz="914400" eaLnBrk="1" hangingPunct="1">
              <a:tabLst>
                <a:tab pos="4089400" algn="l"/>
              </a:tabLst>
            </a:pPr>
            <a:r>
              <a:rPr lang="en-US" altLang="zh-CN" sz="2000" dirty="0">
                <a:latin typeface="Times New Roman" panose="02020603050405020304" pitchFamily="18" charset="0"/>
                <a:cs typeface="Times New Roman" panose="02020603050405020304" pitchFamily="18" charset="0"/>
                <a:sym typeface="+mn-ea"/>
              </a:rPr>
              <a:t>Cache</a:t>
            </a:r>
            <a:r>
              <a:rPr lang="zh-CN" altLang="en-US" sz="2000" dirty="0">
                <a:latin typeface="Times New Roman" panose="02020603050405020304" pitchFamily="18" charset="0"/>
                <a:cs typeface="Times New Roman" panose="02020603050405020304" pitchFamily="18" charset="0"/>
                <a:sym typeface="+mn-ea"/>
              </a:rPr>
              <a:t>块为</a:t>
            </a:r>
            <a:r>
              <a:rPr lang="en-US" altLang="zh-CN" sz="2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cs typeface="Times New Roman" panose="02020603050405020304" pitchFamily="18" charset="0"/>
                <a:sym typeface="+mn-ea"/>
              </a:rPr>
              <a:t>个字大时</a:t>
            </a:r>
            <a:r>
              <a:rPr lang="en-US" altLang="zh-CN" sz="2000" dirty="0">
                <a:latin typeface="Times New Roman" panose="02020603050405020304" pitchFamily="18" charset="0"/>
                <a:cs typeface="Times New Roman" panose="02020603050405020304" pitchFamily="18" charset="0"/>
                <a:sym typeface="+mn-ea"/>
              </a:rPr>
              <a:t>, H=0.8, </a:t>
            </a:r>
            <a:r>
              <a:rPr lang="zh-CN" altLang="en-US" sz="2000" dirty="0">
                <a:latin typeface="Times New Roman" panose="02020603050405020304" pitchFamily="18" charset="0"/>
                <a:cs typeface="Times New Roman" panose="02020603050405020304" pitchFamily="18" charset="0"/>
                <a:sym typeface="+mn-ea"/>
              </a:rPr>
              <a:t>访问效率为</a:t>
            </a:r>
            <a:r>
              <a:rPr lang="en-US" altLang="zh-CN" sz="2000" dirty="0">
                <a:latin typeface="Times New Roman" panose="02020603050405020304" pitchFamily="18" charset="0"/>
                <a:cs typeface="Times New Roman" panose="02020603050405020304" pitchFamily="18" charset="0"/>
                <a:sym typeface="+mn-ea"/>
              </a:rPr>
              <a:t>:</a:t>
            </a:r>
            <a:br>
              <a:rPr lang="en-US" altLang="zh-CN" sz="2400" dirty="0">
                <a:latin typeface="Times New Roman" panose="02020603050405020304" pitchFamily="18" charset="0"/>
                <a:cs typeface="Times New Roman" panose="02020603050405020304" pitchFamily="18" charset="0"/>
                <a:sym typeface="+mn-ea"/>
              </a:rPr>
            </a:br>
            <a:endParaRPr lang="en-US" altLang="zh-CN" sz="2400" dirty="0">
              <a:latin typeface="Times New Roman" panose="02020603050405020304" pitchFamily="18" charset="0"/>
              <a:cs typeface="Times New Roman" panose="02020603050405020304" pitchFamily="18" charset="0"/>
            </a:endParaRPr>
          </a:p>
          <a:p>
            <a:pPr marL="465455" lvl="1" indent="-180975" defTabSz="914400" eaLnBrk="1" hangingPunct="1">
              <a:spcBef>
                <a:spcPts val="1800"/>
              </a:spcBef>
              <a:tabLst>
                <a:tab pos="4089400" algn="l"/>
              </a:tabLst>
            </a:pPr>
            <a:r>
              <a:rPr lang="en-US" altLang="zh-CN" sz="2000" dirty="0">
                <a:latin typeface="Times New Roman" panose="02020603050405020304" pitchFamily="18" charset="0"/>
                <a:cs typeface="Times New Roman" panose="02020603050405020304" pitchFamily="18" charset="0"/>
                <a:sym typeface="+mn-ea"/>
              </a:rPr>
              <a:t>Cache</a:t>
            </a:r>
            <a:r>
              <a:rPr lang="zh-CN" altLang="en-US" sz="2000" dirty="0">
                <a:latin typeface="Times New Roman" panose="02020603050405020304" pitchFamily="18" charset="0"/>
                <a:cs typeface="Times New Roman" panose="02020603050405020304" pitchFamily="18" charset="0"/>
                <a:sym typeface="+mn-ea"/>
              </a:rPr>
              <a:t>块为</a:t>
            </a:r>
            <a:r>
              <a:rPr lang="en-US" altLang="zh-CN" sz="2000" dirty="0">
                <a:latin typeface="Times New Roman" panose="02020603050405020304" pitchFamily="18" charset="0"/>
                <a:cs typeface="Times New Roman" panose="02020603050405020304" pitchFamily="18" charset="0"/>
                <a:sym typeface="+mn-ea"/>
              </a:rPr>
              <a:t>4</a:t>
            </a:r>
            <a:r>
              <a:rPr lang="zh-CN" altLang="en-US" sz="2000" dirty="0">
                <a:latin typeface="Times New Roman" panose="02020603050405020304" pitchFamily="18" charset="0"/>
                <a:cs typeface="Times New Roman" panose="02020603050405020304" pitchFamily="18" charset="0"/>
                <a:sym typeface="+mn-ea"/>
              </a:rPr>
              <a:t>个字大时</a:t>
            </a:r>
            <a:r>
              <a:rPr lang="en-US" altLang="zh-CN" sz="2000" dirty="0">
                <a:latin typeface="Times New Roman" panose="02020603050405020304" pitchFamily="18" charset="0"/>
                <a:cs typeface="Times New Roman" panose="02020603050405020304" pitchFamily="18" charset="0"/>
                <a:sym typeface="+mn-ea"/>
              </a:rPr>
              <a:t>, H=0.99, </a:t>
            </a:r>
            <a:r>
              <a:rPr lang="zh-CN" altLang="en-US" sz="2000" dirty="0">
                <a:latin typeface="Times New Roman" panose="02020603050405020304" pitchFamily="18" charset="0"/>
                <a:cs typeface="Times New Roman" panose="02020603050405020304" pitchFamily="18" charset="0"/>
                <a:sym typeface="+mn-ea"/>
              </a:rPr>
              <a:t>访问效率为</a:t>
            </a:r>
            <a:r>
              <a:rPr lang="en-US" altLang="zh-CN" sz="2000" dirty="0">
                <a:latin typeface="Times New Roman" panose="02020603050405020304" pitchFamily="18" charset="0"/>
                <a:cs typeface="Times New Roman" panose="02020603050405020304" pitchFamily="18" charset="0"/>
                <a:sym typeface="+mn-ea"/>
              </a:rPr>
              <a:t>:</a:t>
            </a:r>
            <a:endParaRPr lang="en-US" altLang="zh-CN" sz="2000" dirty="0">
              <a:latin typeface="Times New Roman" panose="02020603050405020304" pitchFamily="18" charset="0"/>
              <a:ea typeface="Times New Roman" panose="02020603050405020304" pitchFamily="18" charset="0"/>
              <a:cs typeface="Times New Roman" panose="02020603050405020304" pitchFamily="18" charset="0"/>
              <a:sym typeface="+mn-ea"/>
            </a:endParaRPr>
          </a:p>
        </p:txBody>
      </p:sp>
      <p:graphicFrame>
        <p:nvGraphicFramePr>
          <p:cNvPr id="439299" name="Object 3"/>
          <p:cNvGraphicFramePr>
            <a:graphicFrameLocks noChangeAspect="1"/>
          </p:cNvGraphicFramePr>
          <p:nvPr/>
        </p:nvGraphicFramePr>
        <p:xfrm>
          <a:off x="1259840" y="3933190"/>
          <a:ext cx="3643630" cy="771525"/>
        </p:xfrm>
        <a:graphic>
          <a:graphicData uri="http://schemas.openxmlformats.org/presentationml/2006/ole">
            <mc:AlternateContent xmlns:mc="http://schemas.openxmlformats.org/markup-compatibility/2006">
              <mc:Choice xmlns:v="urn:schemas-microsoft-com:vml" Requires="v">
                <p:oleObj spid="_x0000_s3081" name="" r:id="rId1" imgW="4660900" imgH="1170305" progId="Equation.3">
                  <p:embed/>
                </p:oleObj>
              </mc:Choice>
              <mc:Fallback>
                <p:oleObj name="" r:id="rId1" imgW="4660900" imgH="1170305" progId="Equation.3">
                  <p:embed/>
                  <p:pic>
                    <p:nvPicPr>
                      <p:cNvPr id="0" name="图片 3080"/>
                      <p:cNvPicPr/>
                      <p:nvPr/>
                    </p:nvPicPr>
                    <p:blipFill>
                      <a:blip r:embed="rId2"/>
                      <a:stretch>
                        <a:fillRect/>
                      </a:stretch>
                    </p:blipFill>
                    <p:spPr>
                      <a:xfrm>
                        <a:off x="1259840" y="3933190"/>
                        <a:ext cx="3643630" cy="771525"/>
                      </a:xfrm>
                      <a:prstGeom prst="rect">
                        <a:avLst/>
                      </a:prstGeom>
                      <a:noFill/>
                      <a:ln w="38100">
                        <a:noFill/>
                        <a:miter/>
                      </a:ln>
                    </p:spPr>
                  </p:pic>
                </p:oleObj>
              </mc:Fallback>
            </mc:AlternateContent>
          </a:graphicData>
        </a:graphic>
      </p:graphicFrame>
      <p:graphicFrame>
        <p:nvGraphicFramePr>
          <p:cNvPr id="439300" name="Object 4"/>
          <p:cNvGraphicFramePr>
            <a:graphicFrameLocks noChangeAspect="1"/>
          </p:cNvGraphicFramePr>
          <p:nvPr/>
        </p:nvGraphicFramePr>
        <p:xfrm>
          <a:off x="1259840" y="5170805"/>
          <a:ext cx="4037965" cy="456565"/>
        </p:xfrm>
        <a:graphic>
          <a:graphicData uri="http://schemas.openxmlformats.org/presentationml/2006/ole">
            <mc:AlternateContent xmlns:mc="http://schemas.openxmlformats.org/markup-compatibility/2006">
              <mc:Choice xmlns:v="urn:schemas-microsoft-com:vml" Requires="v">
                <p:oleObj spid="_x0000_s3083" name="" r:id="rId3" imgW="6108700" imgH="850900" progId="Equation.3">
                  <p:embed/>
                </p:oleObj>
              </mc:Choice>
              <mc:Fallback>
                <p:oleObj name="" r:id="rId3" imgW="6108700" imgH="850900" progId="Equation.3">
                  <p:embed/>
                  <p:pic>
                    <p:nvPicPr>
                      <p:cNvPr id="0" name="图片 3082"/>
                      <p:cNvPicPr/>
                      <p:nvPr/>
                    </p:nvPicPr>
                    <p:blipFill>
                      <a:blip r:embed="rId4"/>
                      <a:stretch>
                        <a:fillRect/>
                      </a:stretch>
                    </p:blipFill>
                    <p:spPr>
                      <a:xfrm>
                        <a:off x="1259840" y="5170805"/>
                        <a:ext cx="4037965" cy="456565"/>
                      </a:xfrm>
                      <a:prstGeom prst="rect">
                        <a:avLst/>
                      </a:prstGeom>
                      <a:noFill/>
                      <a:ln w="38100">
                        <a:noFill/>
                        <a:miter/>
                      </a:ln>
                    </p:spPr>
                  </p:pic>
                </p:oleObj>
              </mc:Fallback>
            </mc:AlternateContent>
          </a:graphicData>
        </a:graphic>
      </p:graphicFrame>
      <p:graphicFrame>
        <p:nvGraphicFramePr>
          <p:cNvPr id="439301" name="Object 5"/>
          <p:cNvGraphicFramePr>
            <a:graphicFrameLocks noChangeAspect="1"/>
          </p:cNvGraphicFramePr>
          <p:nvPr/>
        </p:nvGraphicFramePr>
        <p:xfrm>
          <a:off x="1259840" y="6092825"/>
          <a:ext cx="4397375" cy="426720"/>
        </p:xfrm>
        <a:graphic>
          <a:graphicData uri="http://schemas.openxmlformats.org/presentationml/2006/ole">
            <mc:AlternateContent xmlns:mc="http://schemas.openxmlformats.org/markup-compatibility/2006">
              <mc:Choice xmlns:v="urn:schemas-microsoft-com:vml" Requires="v">
                <p:oleObj spid="_x0000_s3082" name="" r:id="rId5" imgW="6283325" imgH="795655" progId="Equation.3">
                  <p:embed/>
                </p:oleObj>
              </mc:Choice>
              <mc:Fallback>
                <p:oleObj name="" r:id="rId5" imgW="6283325" imgH="795655" progId="Equation.3">
                  <p:embed/>
                  <p:pic>
                    <p:nvPicPr>
                      <p:cNvPr id="0" name="图片 3081"/>
                      <p:cNvPicPr/>
                      <p:nvPr/>
                    </p:nvPicPr>
                    <p:blipFill>
                      <a:blip r:embed="rId6"/>
                      <a:stretch>
                        <a:fillRect/>
                      </a:stretch>
                    </p:blipFill>
                    <p:spPr>
                      <a:xfrm>
                        <a:off x="1259840" y="6092825"/>
                        <a:ext cx="4397375" cy="42672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92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93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93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p:nvPr>
            <p:ph idx="1"/>
          </p:nvPr>
        </p:nvSpPr>
        <p:spPr>
          <a:xfrm>
            <a:off x="395605" y="1297305"/>
            <a:ext cx="8229600" cy="4829175"/>
          </a:xfrm>
        </p:spPr>
        <p:txBody>
          <a:bodyPr/>
          <a:p>
            <a:pPr marL="170180" indent="-170180" eaLnBrk="1" hangingPunct="1"/>
            <a:r>
              <a:rPr lang="zh-CN" altLang="en-US" sz="2400" dirty="0">
                <a:latin typeface="Times New Roman" panose="02020603050405020304" pitchFamily="18" charset="0"/>
                <a:cs typeface="Times New Roman" panose="02020603050405020304" pitchFamily="18" charset="0"/>
                <a:sym typeface="+mn-ea"/>
              </a:rPr>
              <a:t>在一个虚拟存储系统中，</a:t>
            </a:r>
            <a:r>
              <a:rPr lang="en-US" altLang="zh-CN" sz="2400" dirty="0">
                <a:latin typeface="Times New Roman" panose="02020603050405020304" pitchFamily="18" charset="0"/>
                <a:cs typeface="Times New Roman" panose="02020603050405020304" pitchFamily="18" charset="0"/>
                <a:sym typeface="+mn-ea"/>
              </a:rPr>
              <a:t>T</a:t>
            </a:r>
            <a:r>
              <a:rPr lang="en-US" altLang="zh-CN" sz="2400" baseline="-25000" dirty="0">
                <a:latin typeface="Times New Roman" panose="02020603050405020304" pitchFamily="18" charset="0"/>
                <a:cs typeface="Times New Roman" panose="02020603050405020304" pitchFamily="18" charset="0"/>
                <a:sym typeface="+mn-ea"/>
              </a:rPr>
              <a:t>2</a:t>
            </a:r>
            <a:r>
              <a:rPr lang="en-US" altLang="zh-CN" sz="2400" dirty="0">
                <a:latin typeface="Times New Roman" panose="02020603050405020304" pitchFamily="18" charset="0"/>
                <a:cs typeface="Times New Roman" panose="02020603050405020304" pitchFamily="18" charset="0"/>
                <a:sym typeface="+mn-ea"/>
              </a:rPr>
              <a:t>=10</a:t>
            </a:r>
            <a:r>
              <a:rPr lang="en-US" altLang="zh-CN" sz="2400" baseline="30000" dirty="0">
                <a:latin typeface="Times New Roman" panose="02020603050405020304" pitchFamily="18" charset="0"/>
                <a:cs typeface="Times New Roman" panose="02020603050405020304" pitchFamily="18" charset="0"/>
                <a:sym typeface="+mn-ea"/>
              </a:rPr>
              <a:t>5</a:t>
            </a:r>
            <a:r>
              <a:rPr lang="en-US" altLang="zh-CN" sz="2400" dirty="0">
                <a:latin typeface="Times New Roman" panose="02020603050405020304" pitchFamily="18" charset="0"/>
                <a:cs typeface="Times New Roman" panose="02020603050405020304" pitchFamily="18" charset="0"/>
                <a:sym typeface="+mn-ea"/>
              </a:rPr>
              <a:t> T</a:t>
            </a:r>
            <a:r>
              <a:rPr lang="en-US" altLang="zh-CN" sz="2400" baseline="-25000" dirty="0">
                <a:latin typeface="Times New Roman" panose="02020603050405020304" pitchFamily="18" charset="0"/>
                <a:cs typeface="Times New Roman" panose="02020603050405020304" pitchFamily="18" charset="0"/>
                <a:sym typeface="+mn-ea"/>
              </a:rPr>
              <a:t>1</a:t>
            </a:r>
            <a:r>
              <a:rPr lang="zh-CN" altLang="en-US" sz="2400" dirty="0">
                <a:latin typeface="Times New Roman" panose="02020603050405020304" pitchFamily="18" charset="0"/>
                <a:cs typeface="Times New Roman" panose="02020603050405020304" pitchFamily="18" charset="0"/>
                <a:sym typeface="+mn-ea"/>
              </a:rPr>
              <a:t>，原来的命中率只有</a:t>
            </a:r>
            <a:r>
              <a:rPr lang="en-US" altLang="zh-CN" sz="2400" dirty="0">
                <a:latin typeface="Times New Roman" panose="02020603050405020304" pitchFamily="18" charset="0"/>
                <a:cs typeface="Times New Roman" panose="02020603050405020304" pitchFamily="18" charset="0"/>
                <a:sym typeface="+mn-ea"/>
              </a:rPr>
              <a:t>0.8</a:t>
            </a:r>
            <a:r>
              <a:rPr lang="zh-CN" altLang="en-US" sz="2400" dirty="0">
                <a:latin typeface="Times New Roman" panose="02020603050405020304" pitchFamily="18" charset="0"/>
                <a:cs typeface="Times New Roman" panose="02020603050405020304" pitchFamily="18" charset="0"/>
                <a:sym typeface="+mn-ea"/>
              </a:rPr>
              <a:t>，如果访问磁盘存储器的数据块大小为</a:t>
            </a:r>
            <a:r>
              <a:rPr lang="en-US" altLang="zh-CN" sz="2400" dirty="0">
                <a:latin typeface="Times New Roman" panose="02020603050405020304" pitchFamily="18" charset="0"/>
                <a:cs typeface="Times New Roman" panose="02020603050405020304" pitchFamily="18" charset="0"/>
                <a:sym typeface="+mn-ea"/>
              </a:rPr>
              <a:t>4K</a:t>
            </a:r>
            <a:r>
              <a:rPr lang="zh-CN" altLang="en-US" sz="2400" dirty="0">
                <a:latin typeface="Times New Roman" panose="02020603050405020304" pitchFamily="18" charset="0"/>
                <a:cs typeface="Times New Roman" panose="02020603050405020304" pitchFamily="18" charset="0"/>
                <a:sym typeface="+mn-ea"/>
              </a:rPr>
              <a:t>字，并要求访问效率不低于</a:t>
            </a:r>
            <a:r>
              <a:rPr lang="en-US" altLang="zh-CN" sz="2400" dirty="0">
                <a:latin typeface="Times New Roman" panose="02020603050405020304" pitchFamily="18" charset="0"/>
                <a:cs typeface="Times New Roman" panose="02020603050405020304" pitchFamily="18" charset="0"/>
                <a:sym typeface="+mn-ea"/>
              </a:rPr>
              <a:t>0.9</a:t>
            </a:r>
            <a:r>
              <a:rPr lang="zh-CN" altLang="en-US" sz="2400" dirty="0">
                <a:latin typeface="Times New Roman" panose="02020603050405020304" pitchFamily="18" charset="0"/>
                <a:cs typeface="Times New Roman" panose="02020603050405020304" pitchFamily="18" charset="0"/>
                <a:sym typeface="+mn-ea"/>
              </a:rPr>
              <a:t>，计算数据在主存储器中的重复利用率至少为多少？</a:t>
            </a:r>
            <a:endParaRPr lang="zh-CN" altLang="en-US" sz="2400" dirty="0">
              <a:latin typeface="Times New Roman" panose="02020603050405020304" pitchFamily="18" charset="0"/>
              <a:cs typeface="Times New Roman" panose="02020603050405020304" pitchFamily="18" charset="0"/>
            </a:endParaRPr>
          </a:p>
          <a:p>
            <a:pPr marL="170180" indent="-170180" eaLnBrk="1" latinLnBrk="0" hangingPunct="1">
              <a:spcBef>
                <a:spcPts val="600"/>
              </a:spcBef>
            </a:pPr>
            <a:endParaRPr lang="zh-CN" altLang="en-US" sz="2400" dirty="0">
              <a:latin typeface="Times New Roman" panose="02020603050405020304" pitchFamily="18" charset="0"/>
              <a:cs typeface="Times New Roman" panose="02020603050405020304" pitchFamily="18" charset="0"/>
              <a:sym typeface="+mn-ea"/>
            </a:endParaRPr>
          </a:p>
        </p:txBody>
      </p:sp>
      <p:sp>
        <p:nvSpPr>
          <p:cNvPr id="32770" name="Rectangle 2"/>
          <p:cNvSpPr>
            <a:spLocks noGrp="1"/>
          </p:cNvSpPr>
          <p:nvPr>
            <p:ph type="title"/>
          </p:nvPr>
        </p:nvSpPr>
        <p:spPr>
          <a:xfrm>
            <a:off x="361950" y="266700"/>
            <a:ext cx="7772400" cy="1143000"/>
          </a:xfrm>
          <a:noFill/>
          <a:ln>
            <a:noFill/>
          </a:ln>
        </p:spPr>
        <p:txBody>
          <a:bodyPr/>
          <a:p>
            <a:pPr eaLnBrk="1" hangingPunct="1"/>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例</a:t>
            </a:r>
            <a:b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b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p:nvPr>
            <p:ph idx="1"/>
          </p:nvPr>
        </p:nvSpPr>
        <p:spPr>
          <a:xfrm>
            <a:off x="395605" y="1297305"/>
            <a:ext cx="8229600" cy="4829175"/>
          </a:xfrm>
        </p:spPr>
        <p:txBody>
          <a:bodyPr/>
          <a:p>
            <a:pPr marL="170180" indent="-170180" eaLnBrk="1" hangingPunct="1"/>
            <a:r>
              <a:rPr lang="zh-CN" altLang="en-US" sz="2400" dirty="0">
                <a:latin typeface="Times New Roman" panose="02020603050405020304" pitchFamily="18" charset="0"/>
                <a:cs typeface="Times New Roman" panose="02020603050405020304" pitchFamily="18" charset="0"/>
                <a:sym typeface="+mn-ea"/>
              </a:rPr>
              <a:t>在一个虚拟存储系统中，</a:t>
            </a:r>
            <a:r>
              <a:rPr lang="en-US" altLang="zh-CN" sz="2400" dirty="0">
                <a:latin typeface="Times New Roman" panose="02020603050405020304" pitchFamily="18" charset="0"/>
                <a:cs typeface="Times New Roman" panose="02020603050405020304" pitchFamily="18" charset="0"/>
                <a:sym typeface="+mn-ea"/>
              </a:rPr>
              <a:t>T</a:t>
            </a:r>
            <a:r>
              <a:rPr lang="en-US" altLang="zh-CN" sz="2400" baseline="-25000" dirty="0">
                <a:latin typeface="Times New Roman" panose="02020603050405020304" pitchFamily="18" charset="0"/>
                <a:cs typeface="Times New Roman" panose="02020603050405020304" pitchFamily="18" charset="0"/>
                <a:sym typeface="+mn-ea"/>
              </a:rPr>
              <a:t>2</a:t>
            </a:r>
            <a:r>
              <a:rPr lang="en-US" altLang="zh-CN" sz="2400" dirty="0">
                <a:latin typeface="Times New Roman" panose="02020603050405020304" pitchFamily="18" charset="0"/>
                <a:cs typeface="Times New Roman" panose="02020603050405020304" pitchFamily="18" charset="0"/>
                <a:sym typeface="+mn-ea"/>
              </a:rPr>
              <a:t>=10</a:t>
            </a:r>
            <a:r>
              <a:rPr lang="en-US" altLang="zh-CN" sz="2400" baseline="30000" dirty="0">
                <a:latin typeface="Times New Roman" panose="02020603050405020304" pitchFamily="18" charset="0"/>
                <a:cs typeface="Times New Roman" panose="02020603050405020304" pitchFamily="18" charset="0"/>
                <a:sym typeface="+mn-ea"/>
              </a:rPr>
              <a:t>5</a:t>
            </a:r>
            <a:r>
              <a:rPr lang="en-US" altLang="zh-CN" sz="2400" dirty="0">
                <a:latin typeface="Times New Roman" panose="02020603050405020304" pitchFamily="18" charset="0"/>
                <a:cs typeface="Times New Roman" panose="02020603050405020304" pitchFamily="18" charset="0"/>
                <a:sym typeface="+mn-ea"/>
              </a:rPr>
              <a:t> T</a:t>
            </a:r>
            <a:r>
              <a:rPr lang="en-US" altLang="zh-CN" sz="2400" baseline="-25000" dirty="0">
                <a:latin typeface="Times New Roman" panose="02020603050405020304" pitchFamily="18" charset="0"/>
                <a:cs typeface="Times New Roman" panose="02020603050405020304" pitchFamily="18" charset="0"/>
                <a:sym typeface="+mn-ea"/>
              </a:rPr>
              <a:t>1</a:t>
            </a:r>
            <a:r>
              <a:rPr lang="zh-CN" altLang="en-US" sz="2400" dirty="0">
                <a:latin typeface="Times New Roman" panose="02020603050405020304" pitchFamily="18" charset="0"/>
                <a:cs typeface="Times New Roman" panose="02020603050405020304" pitchFamily="18" charset="0"/>
                <a:sym typeface="+mn-ea"/>
              </a:rPr>
              <a:t>，原来的命中率只有</a:t>
            </a:r>
            <a:r>
              <a:rPr lang="en-US" altLang="zh-CN" sz="2400" dirty="0">
                <a:latin typeface="Times New Roman" panose="02020603050405020304" pitchFamily="18" charset="0"/>
                <a:cs typeface="Times New Roman" panose="02020603050405020304" pitchFamily="18" charset="0"/>
                <a:sym typeface="+mn-ea"/>
              </a:rPr>
              <a:t>0.8</a:t>
            </a:r>
            <a:r>
              <a:rPr lang="zh-CN" altLang="en-US" sz="2400" dirty="0">
                <a:latin typeface="Times New Roman" panose="02020603050405020304" pitchFamily="18" charset="0"/>
                <a:cs typeface="Times New Roman" panose="02020603050405020304" pitchFamily="18" charset="0"/>
                <a:sym typeface="+mn-ea"/>
              </a:rPr>
              <a:t>，如果访问磁盘存储器的数据块大小为</a:t>
            </a:r>
            <a:r>
              <a:rPr lang="en-US" altLang="zh-CN" sz="2400" dirty="0">
                <a:latin typeface="Times New Roman" panose="02020603050405020304" pitchFamily="18" charset="0"/>
                <a:cs typeface="Times New Roman" panose="02020603050405020304" pitchFamily="18" charset="0"/>
                <a:sym typeface="+mn-ea"/>
              </a:rPr>
              <a:t>4K</a:t>
            </a:r>
            <a:r>
              <a:rPr lang="zh-CN" altLang="en-US" sz="2400" dirty="0">
                <a:latin typeface="Times New Roman" panose="02020603050405020304" pitchFamily="18" charset="0"/>
                <a:cs typeface="Times New Roman" panose="02020603050405020304" pitchFamily="18" charset="0"/>
                <a:sym typeface="+mn-ea"/>
              </a:rPr>
              <a:t>字，并要求访问效率不低于</a:t>
            </a:r>
            <a:r>
              <a:rPr lang="en-US" altLang="zh-CN" sz="2400" dirty="0">
                <a:latin typeface="Times New Roman" panose="02020603050405020304" pitchFamily="18" charset="0"/>
                <a:cs typeface="Times New Roman" panose="02020603050405020304" pitchFamily="18" charset="0"/>
                <a:sym typeface="+mn-ea"/>
              </a:rPr>
              <a:t>0.9</a:t>
            </a:r>
            <a:r>
              <a:rPr lang="zh-CN" altLang="en-US" sz="2400" dirty="0">
                <a:latin typeface="Times New Roman" panose="02020603050405020304" pitchFamily="18" charset="0"/>
                <a:cs typeface="Times New Roman" panose="02020603050405020304" pitchFamily="18" charset="0"/>
                <a:sym typeface="+mn-ea"/>
              </a:rPr>
              <a:t>，计算数据在主存储器中的重复利用率至少为多少？</a:t>
            </a:r>
            <a:endParaRPr lang="zh-CN" altLang="en-US" sz="2400" dirty="0">
              <a:latin typeface="Times New Roman" panose="02020603050405020304" pitchFamily="18" charset="0"/>
              <a:cs typeface="Times New Roman" panose="02020603050405020304" pitchFamily="18" charset="0"/>
            </a:endParaRPr>
          </a:p>
          <a:p>
            <a:pPr marL="170180" indent="-170180" eaLnBrk="1" latinLnBrk="0" hangingPunct="1">
              <a:spcBef>
                <a:spcPts val="600"/>
              </a:spcBef>
            </a:pPr>
            <a:r>
              <a:rPr lang="zh-CN" altLang="en-US" sz="2400" dirty="0">
                <a:latin typeface="Times New Roman" panose="02020603050405020304" pitchFamily="18" charset="0"/>
                <a:cs typeface="Times New Roman" panose="02020603050405020304" pitchFamily="18" charset="0"/>
                <a:sym typeface="+mn-ea"/>
              </a:rPr>
              <a:t>解：</a:t>
            </a:r>
            <a:endParaRPr lang="zh-CN" altLang="en-US" sz="2400" dirty="0">
              <a:latin typeface="Times New Roman" panose="02020603050405020304" pitchFamily="18" charset="0"/>
              <a:cs typeface="Times New Roman" panose="02020603050405020304" pitchFamily="18" charset="0"/>
            </a:endParaRPr>
          </a:p>
          <a:p>
            <a:pPr marL="465455" lvl="1" indent="-180975" eaLnBrk="1" hangingPunct="1"/>
            <a:r>
              <a:rPr lang="zh-CN" altLang="en-US" sz="2400" dirty="0">
                <a:latin typeface="Times New Roman" panose="02020603050405020304" pitchFamily="18" charset="0"/>
                <a:cs typeface="Times New Roman" panose="02020603050405020304" pitchFamily="18" charset="0"/>
                <a:sym typeface="+mn-ea"/>
              </a:rPr>
              <a:t>假设数据在主存储器中的重复利用率为</a:t>
            </a:r>
            <a:r>
              <a:rPr lang="en-US" altLang="zh-CN" sz="2400" dirty="0">
                <a:latin typeface="Times New Roman" panose="02020603050405020304" pitchFamily="18" charset="0"/>
                <a:cs typeface="Times New Roman" panose="02020603050405020304" pitchFamily="18" charset="0"/>
                <a:sym typeface="+mn-ea"/>
              </a:rPr>
              <a:t>m</a:t>
            </a:r>
            <a:r>
              <a:rPr lang="zh-CN" altLang="en-US" sz="2400" dirty="0">
                <a:latin typeface="Times New Roman" panose="02020603050405020304" pitchFamily="18" charset="0"/>
                <a:cs typeface="Times New Roman" panose="02020603050405020304" pitchFamily="18" charset="0"/>
                <a:sym typeface="+mn-ea"/>
              </a:rPr>
              <a:t>，根据前面给出的关系：</a:t>
            </a:r>
            <a:endParaRPr lang="zh-CN" altLang="en-US" sz="2400" dirty="0">
              <a:latin typeface="Times New Roman" panose="02020603050405020304" pitchFamily="18" charset="0"/>
              <a:cs typeface="Times New Roman" panose="02020603050405020304" pitchFamily="18" charset="0"/>
            </a:endParaRPr>
          </a:p>
          <a:p>
            <a:pPr marL="465455" lvl="1" indent="-180975" eaLnBrk="1" hangingPunct="1"/>
            <a:endParaRPr lang="zh-CN" altLang="en-US" sz="2400" dirty="0">
              <a:latin typeface="Times New Roman" panose="02020603050405020304" pitchFamily="18" charset="0"/>
              <a:cs typeface="Times New Roman" panose="02020603050405020304" pitchFamily="18" charset="0"/>
            </a:endParaRPr>
          </a:p>
          <a:p>
            <a:pPr marL="465455" lvl="1" indent="-180975" eaLnBrk="1" hangingPunct="1"/>
            <a:endParaRPr lang="zh-CN" altLang="en-US" sz="2400" dirty="0">
              <a:latin typeface="Times New Roman" panose="02020603050405020304" pitchFamily="18" charset="0"/>
              <a:cs typeface="Times New Roman" panose="02020603050405020304" pitchFamily="18" charset="0"/>
            </a:endParaRPr>
          </a:p>
          <a:p>
            <a:pPr marL="465455" lvl="1" indent="-180975" eaLnBrk="1" hangingPunct="1"/>
            <a:endParaRPr lang="zh-CN" altLang="en-US" sz="2400" dirty="0">
              <a:latin typeface="Times New Roman" panose="02020603050405020304" pitchFamily="18" charset="0"/>
              <a:cs typeface="Times New Roman" panose="02020603050405020304" pitchFamily="18" charset="0"/>
              <a:sym typeface="+mn-ea"/>
            </a:endParaRPr>
          </a:p>
          <a:p>
            <a:pPr marL="465455" lvl="1" indent="-180975" eaLnBrk="1" hangingPunct="1"/>
            <a:r>
              <a:rPr lang="zh-CN" altLang="en-US" sz="2400" dirty="0">
                <a:latin typeface="Times New Roman" panose="02020603050405020304" pitchFamily="18" charset="0"/>
                <a:cs typeface="Times New Roman" panose="02020603050405020304" pitchFamily="18" charset="0"/>
                <a:sym typeface="+mn-ea"/>
              </a:rPr>
              <a:t>得</a:t>
            </a:r>
            <a:r>
              <a:rPr lang="en-US" altLang="zh-CN" sz="2400" dirty="0">
                <a:latin typeface="Times New Roman" panose="02020603050405020304" pitchFamily="18" charset="0"/>
                <a:cs typeface="Times New Roman" panose="02020603050405020304" pitchFamily="18" charset="0"/>
                <a:sym typeface="+mn-ea"/>
              </a:rPr>
              <a:t>m=44</a:t>
            </a:r>
            <a:r>
              <a:rPr lang="zh-CN" altLang="en-US" sz="2400" dirty="0">
                <a:latin typeface="Times New Roman" panose="02020603050405020304" pitchFamily="18" charset="0"/>
                <a:cs typeface="Times New Roman" panose="02020603050405020304" pitchFamily="18" charset="0"/>
                <a:sym typeface="+mn-ea"/>
              </a:rPr>
              <a:t>，即数据在主存储器中的重复利用率至少为</a:t>
            </a:r>
            <a:r>
              <a:rPr lang="en-US" altLang="zh-CN" sz="2400" dirty="0">
                <a:latin typeface="Times New Roman" panose="02020603050405020304" pitchFamily="18" charset="0"/>
                <a:cs typeface="Times New Roman" panose="02020603050405020304" pitchFamily="18" charset="0"/>
                <a:sym typeface="+mn-ea"/>
              </a:rPr>
              <a:t>44</a:t>
            </a:r>
            <a:r>
              <a:rPr lang="zh-CN" altLang="en-US" sz="2400" dirty="0">
                <a:latin typeface="Times New Roman" panose="02020603050405020304" pitchFamily="18" charset="0"/>
                <a:cs typeface="Times New Roman" panose="02020603050405020304" pitchFamily="18" charset="0"/>
                <a:sym typeface="+mn-ea"/>
              </a:rPr>
              <a:t>次。</a:t>
            </a:r>
            <a:endParaRPr lang="zh-CN" altLang="en-US" sz="2400" dirty="0">
              <a:latin typeface="Times New Roman" panose="02020603050405020304" pitchFamily="18" charset="0"/>
              <a:cs typeface="Times New Roman" panose="02020603050405020304" pitchFamily="18" charset="0"/>
              <a:sym typeface="+mn-ea"/>
            </a:endParaRPr>
          </a:p>
        </p:txBody>
      </p:sp>
      <p:sp>
        <p:nvSpPr>
          <p:cNvPr id="32770" name="Rectangle 2"/>
          <p:cNvSpPr>
            <a:spLocks noGrp="1"/>
          </p:cNvSpPr>
          <p:nvPr>
            <p:ph type="title"/>
          </p:nvPr>
        </p:nvSpPr>
        <p:spPr>
          <a:xfrm>
            <a:off x="361950" y="266700"/>
            <a:ext cx="7772400" cy="1143000"/>
          </a:xfrm>
          <a:noFill/>
          <a:ln>
            <a:noFill/>
          </a:ln>
        </p:spPr>
        <p:txBody>
          <a:bodyPr/>
          <a:p>
            <a:pPr eaLnBrk="1" hangingPunct="1"/>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例</a:t>
            </a:r>
            <a:b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b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441347" name="Object 3"/>
          <p:cNvGraphicFramePr>
            <a:graphicFrameLocks noChangeAspect="1"/>
          </p:cNvGraphicFramePr>
          <p:nvPr/>
        </p:nvGraphicFramePr>
        <p:xfrm>
          <a:off x="1490663" y="4293235"/>
          <a:ext cx="6162675" cy="955675"/>
        </p:xfrm>
        <a:graphic>
          <a:graphicData uri="http://schemas.openxmlformats.org/presentationml/2006/ole">
            <mc:AlternateContent xmlns:mc="http://schemas.openxmlformats.org/markup-compatibility/2006">
              <mc:Choice xmlns:v="urn:schemas-microsoft-com:vml" Requires="v">
                <p:oleObj spid="_x0000_s3084" name="" r:id="rId1" imgW="6162675" imgH="955675" progId="Equation.3">
                  <p:embed/>
                </p:oleObj>
              </mc:Choice>
              <mc:Fallback>
                <p:oleObj name="" r:id="rId1" imgW="6162675" imgH="955675" progId="Equation.3">
                  <p:embed/>
                  <p:pic>
                    <p:nvPicPr>
                      <p:cNvPr id="0" name="图片 3083"/>
                      <p:cNvPicPr/>
                      <p:nvPr/>
                    </p:nvPicPr>
                    <p:blipFill>
                      <a:blip r:embed="rId2"/>
                      <a:stretch>
                        <a:fillRect/>
                      </a:stretch>
                    </p:blipFill>
                    <p:spPr>
                      <a:xfrm>
                        <a:off x="1490663" y="4293235"/>
                        <a:ext cx="6162675" cy="95567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13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练习：</a:t>
            </a:r>
            <a:endParaRPr lang="zh-CN" altLang="en-US"/>
          </a:p>
        </p:txBody>
      </p:sp>
      <p:sp>
        <p:nvSpPr>
          <p:cNvPr id="3" name="内容占位符 2"/>
          <p:cNvSpPr>
            <a:spLocks noGrp="1"/>
          </p:cNvSpPr>
          <p:nvPr>
            <p:ph idx="1"/>
          </p:nvPr>
        </p:nvSpPr>
        <p:spPr/>
        <p:txBody>
          <a:bodyPr/>
          <a:p>
            <a:r>
              <a:rPr lang="zh-CN" altLang="en-US" sz="2400">
                <a:latin typeface="Times New Roman" panose="02020603050405020304" pitchFamily="18" charset="0"/>
                <a:cs typeface="Times New Roman" panose="02020603050405020304" pitchFamily="18" charset="0"/>
              </a:rPr>
              <a:t>设存储系统由二级 Cache 和主存组成，第一级 Cache 和第二级 Cache 的访问周期均为 Tc，主存访问周期为 Tm，第一级 Cache 和第二级 Cache 的命中率分别为 Hc</a:t>
            </a:r>
            <a:r>
              <a:rPr lang="zh-CN" altLang="en-US" sz="2400" baseline="-25000">
                <a:latin typeface="Times New Roman" panose="02020603050405020304" pitchFamily="18" charset="0"/>
                <a:cs typeface="Times New Roman" panose="02020603050405020304" pitchFamily="18" charset="0"/>
              </a:rPr>
              <a:t>1</a:t>
            </a:r>
            <a:r>
              <a:rPr lang="zh-CN" altLang="en-US" sz="2400">
                <a:latin typeface="Times New Roman" panose="02020603050405020304" pitchFamily="18" charset="0"/>
                <a:cs typeface="Times New Roman" panose="02020603050405020304" pitchFamily="18" charset="0"/>
              </a:rPr>
              <a:t>和 Hc</a:t>
            </a:r>
            <a:r>
              <a:rPr lang="zh-CN" altLang="en-US" sz="2400" baseline="-25000">
                <a:latin typeface="Times New Roman" panose="02020603050405020304" pitchFamily="18" charset="0"/>
                <a:cs typeface="Times New Roman" panose="02020603050405020304" pitchFamily="18" charset="0"/>
              </a:rPr>
              <a:t>2</a:t>
            </a:r>
            <a:r>
              <a:rPr lang="zh-CN" altLang="en-US" sz="2400">
                <a:latin typeface="Times New Roman" panose="02020603050405020304" pitchFamily="18" charset="0"/>
                <a:cs typeface="Times New Roman" panose="02020603050405020304" pitchFamily="18" charset="0"/>
              </a:rPr>
              <a:t>。</a:t>
            </a:r>
            <a:endParaRPr lang="zh-CN" altLang="en-US" sz="2400">
              <a:latin typeface="Times New Roman" panose="02020603050405020304" pitchFamily="18" charset="0"/>
              <a:cs typeface="Times New Roman" panose="02020603050405020304" pitchFamily="18" charset="0"/>
            </a:endParaRPr>
          </a:p>
          <a:p>
            <a:pPr lvl="1"/>
            <a:r>
              <a:rPr lang="zh-CN" altLang="en-US" sz="2400">
                <a:latin typeface="Times New Roman" panose="02020603050405020304" pitchFamily="18" charset="0"/>
                <a:cs typeface="Times New Roman" panose="02020603050405020304" pitchFamily="18" charset="0"/>
              </a:rPr>
              <a:t>（1）求该存储系统的平均访问周期。</a:t>
            </a:r>
            <a:endParaRPr lang="zh-CN" altLang="en-US" sz="2400">
              <a:latin typeface="Times New Roman" panose="02020603050405020304" pitchFamily="18" charset="0"/>
              <a:cs typeface="Times New Roman" panose="02020603050405020304" pitchFamily="18" charset="0"/>
            </a:endParaRPr>
          </a:p>
          <a:p>
            <a:pPr lvl="1"/>
            <a:r>
              <a:rPr lang="zh-CN" altLang="en-US" sz="2400">
                <a:latin typeface="Times New Roman" panose="02020603050405020304" pitchFamily="18" charset="0"/>
                <a:cs typeface="Times New Roman" panose="02020603050405020304" pitchFamily="18" charset="0"/>
              </a:rPr>
              <a:t>（2）该存储系统相对于直接对主存进行访存的加速比是多少？加速比的最大值是多少？</a:t>
            </a:r>
            <a:endParaRPr lang="zh-CN" alt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解答</a:t>
            </a:r>
            <a:endParaRPr lang="zh-CN" altLang="en-US"/>
          </a:p>
        </p:txBody>
      </p:sp>
      <p:pic>
        <p:nvPicPr>
          <p:cNvPr id="4" name="图片 3"/>
          <p:cNvPicPr>
            <a:picLocks noChangeAspect="1"/>
          </p:cNvPicPr>
          <p:nvPr/>
        </p:nvPicPr>
        <p:blipFill>
          <a:blip r:embed="rId1"/>
          <a:stretch>
            <a:fillRect/>
          </a:stretch>
        </p:blipFill>
        <p:spPr>
          <a:xfrm>
            <a:off x="755650" y="1484630"/>
            <a:ext cx="7574280" cy="454469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练习</a:t>
            </a:r>
            <a:endParaRPr lang="zh-CN" altLang="en-US"/>
          </a:p>
        </p:txBody>
      </p:sp>
      <p:sp>
        <p:nvSpPr>
          <p:cNvPr id="3" name="内容占位符 2"/>
          <p:cNvSpPr>
            <a:spLocks noGrp="1"/>
          </p:cNvSpPr>
          <p:nvPr>
            <p:ph idx="1"/>
          </p:nvPr>
        </p:nvSpPr>
        <p:spPr/>
        <p:txBody>
          <a:bodyPr/>
          <a:p>
            <a:r>
              <a:rPr lang="zh-CN" altLang="en-US" sz="2400">
                <a:latin typeface="Times New Roman" panose="02020603050405020304" pitchFamily="18" charset="0"/>
                <a:cs typeface="Times New Roman" panose="02020603050405020304" pitchFamily="18" charset="0"/>
              </a:rPr>
              <a:t>一个二级虚拟存储器，CPU 访问主存 M1 和辅存 M2 的平均访问时间分别为 T1=1µs 和 T2=1ms。经实测，此虚拟存储器平均访问时间为 T=100µs。试提出使虚拟存储器平均访问时间下降到 10µs 的几种方法。</a:t>
            </a:r>
            <a:endParaRPr lang="zh-CN" alt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解答</a:t>
            </a:r>
            <a:endParaRPr lang="zh-CN" altLang="en-US"/>
          </a:p>
        </p:txBody>
      </p:sp>
      <p:pic>
        <p:nvPicPr>
          <p:cNvPr id="4" name="图片 3"/>
          <p:cNvPicPr>
            <a:picLocks noChangeAspect="1"/>
          </p:cNvPicPr>
          <p:nvPr/>
        </p:nvPicPr>
        <p:blipFill>
          <a:blip r:embed="rId1"/>
          <a:stretch>
            <a:fillRect/>
          </a:stretch>
        </p:blipFill>
        <p:spPr>
          <a:xfrm>
            <a:off x="683895" y="1628775"/>
            <a:ext cx="7763510" cy="370649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解答（</a:t>
            </a:r>
            <a:r>
              <a:rPr lang="zh-CN" altLang="en-US"/>
              <a:t>续）</a:t>
            </a:r>
            <a:endParaRPr lang="zh-CN" altLang="en-US"/>
          </a:p>
        </p:txBody>
      </p:sp>
      <p:pic>
        <p:nvPicPr>
          <p:cNvPr id="4" name="图片 3"/>
          <p:cNvPicPr>
            <a:picLocks noChangeAspect="1"/>
          </p:cNvPicPr>
          <p:nvPr/>
        </p:nvPicPr>
        <p:blipFill>
          <a:blip r:embed="rId1"/>
          <a:stretch>
            <a:fillRect/>
          </a:stretch>
        </p:blipFill>
        <p:spPr>
          <a:xfrm>
            <a:off x="327660" y="1988820"/>
            <a:ext cx="8488680" cy="280543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p:cNvSpPr>
          <p:nvPr>
            <p:ph type="title"/>
          </p:nvPr>
        </p:nvSpPr>
        <p:spPr>
          <a:xfrm>
            <a:off x="361950" y="266700"/>
            <a:ext cx="7772400" cy="1143000"/>
          </a:xfrm>
          <a:noFill/>
          <a:ln>
            <a:noFill/>
          </a:ln>
        </p:spPr>
        <p:txBody>
          <a:bodyPr/>
          <a:p>
            <a:pPr eaLnBrk="1" hangingPunct="1"/>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3.1.2 存储器的层次结构</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 name="Rectangle 3"/>
          <p:cNvSpPr>
            <a:spLocks noGrp="1"/>
          </p:cNvSpPr>
          <p:nvPr/>
        </p:nvSpPr>
        <p:spPr>
          <a:xfrm>
            <a:off x="361950" y="1341120"/>
            <a:ext cx="8420100" cy="1788160"/>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0" indent="0" defTabSz="914400" eaLnBrk="1" hangingPunct="1">
              <a:tabLst>
                <a:tab pos="4089400" algn="l"/>
              </a:tabLst>
            </a:pPr>
            <a:r>
              <a:rPr lang="zh-CN" altLang="en-US" sz="2400" dirty="0">
                <a:solidFill>
                  <a:schemeClr val="tx2"/>
                </a:solidFill>
                <a:latin typeface="Times New Roman" panose="02020603050405020304" pitchFamily="18" charset="0"/>
                <a:cs typeface="Times New Roman" panose="02020603050405020304" pitchFamily="18" charset="0"/>
                <a:sym typeface="+mn-ea"/>
              </a:rPr>
              <a:t>多个层次的存储器</a:t>
            </a:r>
            <a:endParaRPr lang="zh-CN" altLang="en-US" sz="2400" dirty="0">
              <a:solidFill>
                <a:schemeClr val="tx2"/>
              </a:solidFill>
              <a:latin typeface="Times New Roman" panose="02020603050405020304" pitchFamily="18" charset="0"/>
              <a:cs typeface="Times New Roman" panose="02020603050405020304" pitchFamily="18" charset="0"/>
            </a:endParaRPr>
          </a:p>
          <a:p>
            <a:pPr marL="438785" lvl="1" indent="365760" defTabSz="914400" eaLnBrk="1" hangingPunct="1">
              <a:spcBef>
                <a:spcPts val="1200"/>
              </a:spcBef>
              <a:tabLst>
                <a:tab pos="447675" algn="l"/>
                <a:tab pos="4089400" algn="l"/>
              </a:tabLst>
            </a:pPr>
            <a:r>
              <a:rPr lang="en-US" altLang="zh-CN" sz="2395" dirty="0">
                <a:latin typeface="Times New Roman" panose="02020603050405020304" pitchFamily="18" charset="0"/>
                <a:cs typeface="Times New Roman" panose="02020603050405020304" pitchFamily="18" charset="0"/>
                <a:sym typeface="+mn-ea"/>
              </a:rPr>
              <a:t>Register Files </a:t>
            </a:r>
            <a:endParaRPr lang="en-US" altLang="zh-CN" sz="2395" dirty="0">
              <a:latin typeface="Times New Roman" panose="02020603050405020304" pitchFamily="18" charset="0"/>
              <a:cs typeface="Times New Roman" panose="02020603050405020304" pitchFamily="18" charset="0"/>
            </a:endParaRPr>
          </a:p>
          <a:p>
            <a:pPr marL="438785" lvl="1" indent="365760" defTabSz="914400" eaLnBrk="1" hangingPunct="1">
              <a:spcBef>
                <a:spcPts val="1200"/>
              </a:spcBef>
              <a:tabLst>
                <a:tab pos="447675" algn="l"/>
                <a:tab pos="4089400" algn="l"/>
              </a:tabLst>
            </a:pPr>
            <a:r>
              <a:rPr lang="en-US" altLang="zh-CN" sz="2395" dirty="0">
                <a:latin typeface="Times New Roman" panose="02020603050405020304" pitchFamily="18" charset="0"/>
                <a:cs typeface="Times New Roman" panose="02020603050405020304" pitchFamily="18" charset="0"/>
                <a:sym typeface="+mn-ea"/>
              </a:rPr>
              <a:t>Buffers(Lookahead) </a:t>
            </a:r>
            <a:endParaRPr lang="en-US" altLang="zh-CN" sz="2395" dirty="0">
              <a:latin typeface="Times New Roman" panose="02020603050405020304" pitchFamily="18" charset="0"/>
              <a:cs typeface="Times New Roman" panose="02020603050405020304" pitchFamily="18" charset="0"/>
            </a:endParaRPr>
          </a:p>
          <a:p>
            <a:pPr marL="438785" lvl="1" indent="365760" defTabSz="914400" eaLnBrk="1" hangingPunct="1">
              <a:spcBef>
                <a:spcPts val="1200"/>
              </a:spcBef>
              <a:tabLst>
                <a:tab pos="447675" algn="l"/>
                <a:tab pos="4089400" algn="l"/>
              </a:tabLst>
            </a:pPr>
            <a:r>
              <a:rPr lang="en-US" altLang="zh-CN" sz="2395" dirty="0">
                <a:latin typeface="Times New Roman" panose="02020603050405020304" pitchFamily="18" charset="0"/>
                <a:cs typeface="Times New Roman" panose="02020603050405020304" pitchFamily="18" charset="0"/>
                <a:sym typeface="+mn-ea"/>
              </a:rPr>
              <a:t>Cache </a:t>
            </a:r>
            <a:endParaRPr lang="en-US" altLang="zh-CN" sz="2395" dirty="0">
              <a:latin typeface="Times New Roman" panose="02020603050405020304" pitchFamily="18" charset="0"/>
              <a:cs typeface="Times New Roman" panose="02020603050405020304" pitchFamily="18" charset="0"/>
            </a:endParaRPr>
          </a:p>
          <a:p>
            <a:pPr marL="438785" lvl="1" indent="365760" defTabSz="914400" eaLnBrk="1" hangingPunct="1">
              <a:spcBef>
                <a:spcPts val="1200"/>
              </a:spcBef>
              <a:tabLst>
                <a:tab pos="447675" algn="l"/>
                <a:tab pos="4089400" algn="l"/>
              </a:tabLst>
            </a:pPr>
            <a:r>
              <a:rPr lang="en-US" altLang="zh-CN" sz="2395" dirty="0">
                <a:latin typeface="Times New Roman" panose="02020603050405020304" pitchFamily="18" charset="0"/>
                <a:cs typeface="Times New Roman" panose="02020603050405020304" pitchFamily="18" charset="0"/>
                <a:sym typeface="+mn-ea"/>
              </a:rPr>
              <a:t>Main Memory </a:t>
            </a:r>
            <a:endParaRPr lang="en-US" altLang="zh-CN" sz="2395" dirty="0">
              <a:latin typeface="Times New Roman" panose="02020603050405020304" pitchFamily="18" charset="0"/>
              <a:cs typeface="Times New Roman" panose="02020603050405020304" pitchFamily="18" charset="0"/>
            </a:endParaRPr>
          </a:p>
          <a:p>
            <a:pPr marL="438785" lvl="1" indent="365760" defTabSz="914400" eaLnBrk="1" hangingPunct="1">
              <a:spcBef>
                <a:spcPts val="1200"/>
              </a:spcBef>
              <a:tabLst>
                <a:tab pos="447675" algn="l"/>
                <a:tab pos="4089400" algn="l"/>
              </a:tabLst>
            </a:pPr>
            <a:r>
              <a:rPr lang="en-US" altLang="zh-CN" sz="2395" dirty="0">
                <a:latin typeface="Times New Roman" panose="02020603050405020304" pitchFamily="18" charset="0"/>
                <a:cs typeface="Times New Roman" panose="02020603050405020304" pitchFamily="18" charset="0"/>
                <a:sym typeface="+mn-ea"/>
              </a:rPr>
              <a:t>Online Storage </a:t>
            </a:r>
            <a:endParaRPr lang="en-US" altLang="zh-CN" sz="2395" dirty="0">
              <a:latin typeface="Times New Roman" panose="02020603050405020304" pitchFamily="18" charset="0"/>
              <a:cs typeface="Times New Roman" panose="02020603050405020304" pitchFamily="18" charset="0"/>
            </a:endParaRPr>
          </a:p>
          <a:p>
            <a:pPr marL="438785" lvl="1" indent="365760" defTabSz="914400" eaLnBrk="1" hangingPunct="1">
              <a:spcBef>
                <a:spcPts val="1200"/>
              </a:spcBef>
              <a:tabLst>
                <a:tab pos="447675" algn="l"/>
                <a:tab pos="4089400" algn="l"/>
              </a:tabLst>
            </a:pPr>
            <a:r>
              <a:rPr lang="en-US" altLang="zh-CN" sz="2395" dirty="0">
                <a:latin typeface="Times New Roman" panose="02020603050405020304" pitchFamily="18" charset="0"/>
                <a:cs typeface="Times New Roman" panose="02020603050405020304" pitchFamily="18" charset="0"/>
                <a:sym typeface="+mn-ea"/>
              </a:rPr>
              <a:t>Off-line Storage</a:t>
            </a:r>
            <a:endParaRPr lang="en-US" altLang="zh-CN" sz="2395" dirty="0">
              <a:latin typeface="Times New Roman" panose="02020603050405020304" pitchFamily="18" charset="0"/>
              <a:cs typeface="Times New Roman" panose="02020603050405020304" pitchFamily="18" charset="0"/>
            </a:endParaRPr>
          </a:p>
          <a:p>
            <a:pPr lvl="1" eaLnBrk="1" hangingPunct="1">
              <a:spcBef>
                <a:spcPts val="1200"/>
              </a:spcBef>
            </a:pPr>
            <a:endParaRPr lang="zh-CN" sz="2400" dirty="0">
              <a:latin typeface="Times New Roman" panose="02020603050405020304" pitchFamily="18" charset="0"/>
              <a:cs typeface="Times New Roman" panose="02020603050405020304" pitchFamily="18" charset="0"/>
              <a:sym typeface="+mn-ea"/>
            </a:endParaRPr>
          </a:p>
          <a:p>
            <a:pPr lvl="1" eaLnBrk="1" hangingPunct="1">
              <a:spcBef>
                <a:spcPts val="1200"/>
              </a:spcBef>
            </a:pPr>
            <a:endParaRPr lang="zh-CN" altLang="en-US" sz="2055"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p:cNvSpPr>
          <p:nvPr>
            <p:ph type="title"/>
          </p:nvPr>
        </p:nvSpPr>
        <p:spPr>
          <a:xfrm>
            <a:off x="361950" y="266700"/>
            <a:ext cx="7772400" cy="1143000"/>
          </a:xfrm>
          <a:noFill/>
          <a:ln>
            <a:noFill/>
          </a:ln>
        </p:spPr>
        <p:txBody>
          <a:bodyPr/>
          <a:p>
            <a:pPr eaLnBrk="1" hangingPunct="1"/>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存储器的层次结构</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 name="图片 1"/>
          <p:cNvPicPr>
            <a:picLocks noChangeAspect="1"/>
          </p:cNvPicPr>
          <p:nvPr>
            <p:custDataLst>
              <p:tags r:id="rId1"/>
            </p:custDataLst>
          </p:nvPr>
        </p:nvPicPr>
        <p:blipFill>
          <a:blip r:embed="rId2"/>
          <a:stretch>
            <a:fillRect/>
          </a:stretch>
        </p:blipFill>
        <p:spPr>
          <a:xfrm>
            <a:off x="1331595" y="1268730"/>
            <a:ext cx="5706745" cy="50292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p:cNvSpPr>
          <p:nvPr>
            <p:ph type="title"/>
          </p:nvPr>
        </p:nvSpPr>
        <p:spPr>
          <a:xfrm>
            <a:off x="361950" y="266700"/>
            <a:ext cx="7772400" cy="1143000"/>
          </a:xfrm>
          <a:noFill/>
          <a:ln>
            <a:noFill/>
          </a:ln>
        </p:spPr>
        <p:txBody>
          <a:bodyPr/>
          <a:p>
            <a:pPr eaLnBrk="1" hangingPunct="1"/>
            <a:r>
              <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表3.1 各种存储器的主要性能特性</a:t>
            </a:r>
            <a:endParaRPr lang="zh-CN" altLang="en-US"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图片 2"/>
          <p:cNvPicPr>
            <a:picLocks noChangeAspect="1"/>
          </p:cNvPicPr>
          <p:nvPr>
            <p:custDataLst>
              <p:tags r:id="rId1"/>
            </p:custDataLst>
          </p:nvPr>
        </p:nvPicPr>
        <p:blipFill>
          <a:blip r:embed="rId2"/>
          <a:stretch>
            <a:fillRect/>
          </a:stretch>
        </p:blipFill>
        <p:spPr>
          <a:xfrm>
            <a:off x="539750" y="1340485"/>
            <a:ext cx="7854950" cy="477012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p:cNvSpPr>
          <p:nvPr>
            <p:ph type="title"/>
          </p:nvPr>
        </p:nvSpPr>
        <p:spPr>
          <a:xfrm>
            <a:off x="361950" y="266700"/>
            <a:ext cx="7772400" cy="821690"/>
          </a:xfrm>
          <a:noFill/>
          <a:ln>
            <a:noFill/>
          </a:ln>
        </p:spPr>
        <p:txBody>
          <a:bodyPr/>
          <a:p>
            <a:pPr eaLnBrk="1" hangingPunct="1"/>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CPU与主存储器的速度差距越来越大</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 name="Rectangle 3"/>
          <p:cNvSpPr>
            <a:spLocks noGrp="1"/>
          </p:cNvSpPr>
          <p:nvPr>
            <p:custDataLst>
              <p:tags r:id="rId1"/>
            </p:custDataLst>
          </p:nvPr>
        </p:nvSpPr>
        <p:spPr>
          <a:xfrm>
            <a:off x="361950" y="1341120"/>
            <a:ext cx="8420100" cy="4533265"/>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eaLnBrk="1" hangingPunct="1">
              <a:spcBef>
                <a:spcPts val="1200"/>
              </a:spcBef>
            </a:pPr>
            <a:r>
              <a:rPr lang="zh-CN" altLang="en-US" sz="2400" dirty="0">
                <a:latin typeface="Times New Roman" panose="02020603050405020304" pitchFamily="18" charset="0"/>
                <a:cs typeface="Times New Roman" panose="02020603050405020304" pitchFamily="18" charset="0"/>
                <a:sym typeface="+mn-ea"/>
              </a:rPr>
              <a:t>存储系统要研究和得到的目标</a:t>
            </a:r>
            <a:endParaRPr lang="zh-CN" altLang="en-US" sz="2400" dirty="0">
              <a:latin typeface="Times New Roman" panose="02020603050405020304" pitchFamily="18" charset="0"/>
              <a:cs typeface="Times New Roman" panose="02020603050405020304" pitchFamily="18" charset="0"/>
            </a:endParaRPr>
          </a:p>
          <a:p>
            <a:pPr lvl="1" eaLnBrk="1" hangingPunct="1">
              <a:spcBef>
                <a:spcPts val="1200"/>
              </a:spcBef>
            </a:pPr>
            <a:r>
              <a:rPr lang="zh-CN" altLang="en-US" sz="2000" dirty="0">
                <a:latin typeface="Times New Roman" panose="02020603050405020304" pitchFamily="18" charset="0"/>
                <a:cs typeface="Times New Roman" panose="02020603050405020304" pitchFamily="18" charset="0"/>
                <a:sym typeface="+mn-ea"/>
              </a:rPr>
              <a:t>从</a:t>
            </a:r>
            <a:r>
              <a:rPr lang="en-US" altLang="zh-CN" sz="2000" dirty="0">
                <a:latin typeface="Times New Roman" panose="02020603050405020304" pitchFamily="18" charset="0"/>
                <a:cs typeface="Times New Roman" panose="02020603050405020304" pitchFamily="18" charset="0"/>
                <a:sym typeface="+mn-ea"/>
              </a:rPr>
              <a:t>CPU</a:t>
            </a:r>
            <a:r>
              <a:rPr lang="zh-CN" altLang="en-US" sz="2000" dirty="0">
                <a:latin typeface="Times New Roman" panose="02020603050405020304" pitchFamily="18" charset="0"/>
                <a:cs typeface="Times New Roman" panose="02020603050405020304" pitchFamily="18" charset="0"/>
                <a:sym typeface="+mn-ea"/>
              </a:rPr>
              <a:t>的角度，希望各层次存储器的工作速度向上靠拢，存储容量、价格向下靠拢</a:t>
            </a:r>
            <a:endParaRPr lang="zh-CN" altLang="en-US" sz="2400" dirty="0">
              <a:latin typeface="Times New Roman" panose="02020603050405020304" pitchFamily="18" charset="0"/>
              <a:cs typeface="Times New Roman" panose="02020603050405020304" pitchFamily="18" charset="0"/>
            </a:endParaRPr>
          </a:p>
          <a:p>
            <a:pPr eaLnBrk="1" hangingPunct="1">
              <a:spcBef>
                <a:spcPts val="1200"/>
              </a:spcBef>
            </a:pPr>
            <a:r>
              <a:rPr lang="en-US" altLang="zh-CN" sz="2400" dirty="0">
                <a:latin typeface="Times New Roman" panose="02020603050405020304" pitchFamily="18" charset="0"/>
                <a:cs typeface="Times New Roman" panose="02020603050405020304" pitchFamily="18" charset="0"/>
                <a:sym typeface="+mn-ea"/>
              </a:rPr>
              <a:t>1955</a:t>
            </a:r>
            <a:r>
              <a:rPr lang="zh-CN" altLang="en-US" sz="2400" dirty="0">
                <a:latin typeface="Times New Roman" panose="02020603050405020304" pitchFamily="18" charset="0"/>
                <a:cs typeface="Times New Roman" panose="02020603050405020304" pitchFamily="18" charset="0"/>
                <a:sym typeface="+mn-ea"/>
              </a:rPr>
              <a:t>年，第一台大型机</a:t>
            </a:r>
            <a:r>
              <a:rPr lang="en-US" altLang="zh-CN" sz="2400" dirty="0">
                <a:latin typeface="Times New Roman" panose="02020603050405020304" pitchFamily="18" charset="0"/>
                <a:cs typeface="Times New Roman" panose="02020603050405020304" pitchFamily="18" charset="0"/>
                <a:sym typeface="+mn-ea"/>
              </a:rPr>
              <a:t>IBM704</a:t>
            </a:r>
            <a:r>
              <a:rPr lang="zh-CN" altLang="en-US" sz="2400" dirty="0">
                <a:latin typeface="Times New Roman" panose="02020603050405020304" pitchFamily="18" charset="0"/>
                <a:cs typeface="Times New Roman" panose="02020603050405020304" pitchFamily="18" charset="0"/>
                <a:sym typeface="+mn-ea"/>
              </a:rPr>
              <a:t>，</a:t>
            </a:r>
            <a:r>
              <a:rPr lang="en-US" altLang="zh-CN" sz="2400" dirty="0">
                <a:latin typeface="Times New Roman" panose="02020603050405020304" pitchFamily="18" charset="0"/>
                <a:cs typeface="Times New Roman" panose="02020603050405020304" pitchFamily="18" charset="0"/>
                <a:sym typeface="+mn-ea"/>
              </a:rPr>
              <a:t>CPU</a:t>
            </a:r>
            <a:r>
              <a:rPr lang="zh-CN" altLang="en-US" sz="2400" dirty="0">
                <a:latin typeface="Times New Roman" panose="02020603050405020304" pitchFamily="18" charset="0"/>
                <a:cs typeface="Times New Roman" panose="02020603050405020304" pitchFamily="18" charset="0"/>
                <a:sym typeface="+mn-ea"/>
              </a:rPr>
              <a:t>和主存储器的工作周期均为</a:t>
            </a:r>
            <a:r>
              <a:rPr lang="en-US" altLang="zh-CN" sz="2400" dirty="0">
                <a:latin typeface="Times New Roman" panose="02020603050405020304" pitchFamily="18" charset="0"/>
                <a:cs typeface="Times New Roman" panose="02020603050405020304" pitchFamily="18" charset="0"/>
                <a:sym typeface="+mn-ea"/>
              </a:rPr>
              <a:t>12</a:t>
            </a:r>
            <a:r>
              <a:rPr lang="zh-CN" altLang="en-US" sz="2400" dirty="0">
                <a:latin typeface="Times New Roman" panose="02020603050405020304" pitchFamily="18" charset="0"/>
                <a:cs typeface="Times New Roman" panose="02020603050405020304" pitchFamily="18" charset="0"/>
                <a:sym typeface="+mn-ea"/>
              </a:rPr>
              <a:t>微秒</a:t>
            </a:r>
            <a:endParaRPr lang="zh-CN" altLang="en-US" sz="2400" dirty="0">
              <a:latin typeface="Times New Roman" panose="02020603050405020304" pitchFamily="18" charset="0"/>
              <a:cs typeface="Times New Roman" panose="02020603050405020304" pitchFamily="18" charset="0"/>
            </a:endParaRPr>
          </a:p>
          <a:p>
            <a:pPr eaLnBrk="1" hangingPunct="1">
              <a:spcBef>
                <a:spcPts val="1200"/>
              </a:spcBef>
            </a:pPr>
            <a:r>
              <a:rPr lang="zh-CN" altLang="en-US" sz="2400" dirty="0">
                <a:latin typeface="Times New Roman" panose="02020603050405020304" pitchFamily="18" charset="0"/>
                <a:cs typeface="Times New Roman" panose="02020603050405020304" pitchFamily="18" charset="0"/>
                <a:sym typeface="+mn-ea"/>
              </a:rPr>
              <a:t>目前</a:t>
            </a:r>
            <a:r>
              <a:rPr lang="en-US" altLang="zh-CN" sz="2400" dirty="0">
                <a:latin typeface="Times New Roman" panose="02020603050405020304" pitchFamily="18" charset="0"/>
                <a:cs typeface="Times New Roman" panose="02020603050405020304" pitchFamily="18" charset="0"/>
                <a:sym typeface="+mn-ea"/>
              </a:rPr>
              <a:t>CPU</a:t>
            </a:r>
            <a:r>
              <a:rPr lang="zh-CN" altLang="en-US" sz="2400" dirty="0">
                <a:latin typeface="Times New Roman" panose="02020603050405020304" pitchFamily="18" charset="0"/>
                <a:cs typeface="Times New Roman" panose="02020603050405020304" pitchFamily="18" charset="0"/>
                <a:sym typeface="+mn-ea"/>
              </a:rPr>
              <a:t>的工作速度提高了</a:t>
            </a:r>
            <a:r>
              <a:rPr lang="en-US" altLang="zh-CN" sz="2400" dirty="0">
                <a:latin typeface="Times New Roman" panose="02020603050405020304" pitchFamily="18" charset="0"/>
                <a:cs typeface="Times New Roman" panose="02020603050405020304" pitchFamily="18" charset="0"/>
                <a:sym typeface="+mn-ea"/>
              </a:rPr>
              <a:t>4</a:t>
            </a:r>
            <a:r>
              <a:rPr lang="zh-CN" altLang="en-US" sz="2400" dirty="0">
                <a:latin typeface="Times New Roman" panose="02020603050405020304" pitchFamily="18" charset="0"/>
                <a:cs typeface="Times New Roman" panose="02020603050405020304" pitchFamily="18" charset="0"/>
                <a:sym typeface="+mn-ea"/>
              </a:rPr>
              <a:t>个数量级以上，主存储器的工作速度仅提高两个数量级</a:t>
            </a:r>
            <a:endParaRPr lang="zh-CN" altLang="en-US" sz="2400" dirty="0">
              <a:latin typeface="Times New Roman" panose="02020603050405020304" pitchFamily="18" charset="0"/>
              <a:cs typeface="Times New Roman" panose="02020603050405020304" pitchFamily="18" charset="0"/>
            </a:endParaRPr>
          </a:p>
          <a:p>
            <a:pPr eaLnBrk="1" hangingPunct="1">
              <a:spcBef>
                <a:spcPts val="1200"/>
              </a:spcBef>
            </a:pPr>
            <a:r>
              <a:rPr lang="zh-CN" altLang="en-US" sz="2400" dirty="0">
                <a:latin typeface="Times New Roman" panose="02020603050405020304" pitchFamily="18" charset="0"/>
                <a:cs typeface="Times New Roman" panose="02020603050405020304" pitchFamily="18" charset="0"/>
                <a:sym typeface="+mn-ea"/>
              </a:rPr>
              <a:t>今后</a:t>
            </a:r>
            <a:r>
              <a:rPr lang="en-US" altLang="zh-CN" sz="2400" dirty="0">
                <a:latin typeface="Times New Roman" panose="02020603050405020304" pitchFamily="18" charset="0"/>
                <a:cs typeface="Times New Roman" panose="02020603050405020304" pitchFamily="18" charset="0"/>
                <a:sym typeface="+mn-ea"/>
              </a:rPr>
              <a:t>CPU</a:t>
            </a:r>
            <a:r>
              <a:rPr lang="zh-CN" altLang="en-US" sz="2400" dirty="0">
                <a:latin typeface="Times New Roman" panose="02020603050405020304" pitchFamily="18" charset="0"/>
                <a:cs typeface="Times New Roman" panose="02020603050405020304" pitchFamily="18" charset="0"/>
                <a:sym typeface="+mn-ea"/>
              </a:rPr>
              <a:t>与主存储器的速度差距会更大</a:t>
            </a:r>
            <a:endParaRPr lang="zh-CN" altLang="en-US" sz="2400" dirty="0">
              <a:latin typeface="Times New Roman" panose="02020603050405020304" pitchFamily="18" charset="0"/>
              <a:cs typeface="Times New Roman" panose="02020603050405020304" pitchFamily="18" charset="0"/>
            </a:endParaRPr>
          </a:p>
          <a:p>
            <a:pPr lvl="1" eaLnBrk="1" hangingPunct="1">
              <a:spcBef>
                <a:spcPts val="1200"/>
              </a:spcBef>
            </a:pPr>
            <a:r>
              <a:rPr lang="zh-CN" altLang="en-US" sz="2000" dirty="0">
                <a:latin typeface="Times New Roman" panose="02020603050405020304" pitchFamily="18" charset="0"/>
                <a:cs typeface="Times New Roman" panose="02020603050405020304" pitchFamily="18" charset="0"/>
                <a:sym typeface="+mn-ea"/>
              </a:rPr>
              <a:t>主存储器更多考虑容量的提高</a:t>
            </a:r>
            <a:endParaRPr lang="zh-CN" altLang="en-US" sz="2400" dirty="0">
              <a:latin typeface="Times New Roman" panose="02020603050405020304" pitchFamily="18" charset="0"/>
              <a:cs typeface="Times New Roman" panose="02020603050405020304" pitchFamily="18" charset="0"/>
            </a:endParaRPr>
          </a:p>
          <a:p>
            <a:pPr eaLnBrk="1" hangingPunct="1">
              <a:spcBef>
                <a:spcPts val="1200"/>
              </a:spcBef>
            </a:pPr>
            <a:r>
              <a:rPr lang="zh-CN" altLang="en-US" sz="2400" dirty="0">
                <a:latin typeface="Times New Roman" panose="02020603050405020304" pitchFamily="18" charset="0"/>
                <a:cs typeface="Times New Roman" panose="02020603050405020304" pitchFamily="18" charset="0"/>
                <a:sym typeface="+mn-ea"/>
              </a:rPr>
              <a:t>研究存储系统的目的就是要找出解决这一问题的办法</a:t>
            </a:r>
            <a:endParaRPr lang="zh-CN" altLang="en-US" sz="2400" dirty="0">
              <a:latin typeface="Times New Roman" panose="02020603050405020304" pitchFamily="18" charset="0"/>
              <a:cs typeface="Times New Roman" panose="02020603050405020304" pitchFamily="18" charset="0"/>
            </a:endParaRPr>
          </a:p>
          <a:p>
            <a:pPr lvl="1" eaLnBrk="1" hangingPunct="1">
              <a:spcBef>
                <a:spcPts val="1200"/>
              </a:spcBef>
            </a:pPr>
            <a:endParaRPr lang="zh-CN" sz="2400" dirty="0">
              <a:latin typeface="Times New Roman" panose="02020603050405020304" pitchFamily="18" charset="0"/>
              <a:cs typeface="Times New Roman" panose="02020603050405020304" pitchFamily="18" charset="0"/>
              <a:sym typeface="+mn-ea"/>
            </a:endParaRPr>
          </a:p>
          <a:p>
            <a:pPr lvl="1" eaLnBrk="1" hangingPunct="1">
              <a:spcBef>
                <a:spcPts val="1200"/>
              </a:spcBef>
            </a:pPr>
            <a:endParaRPr lang="zh-CN" altLang="en-US" sz="2055" dirty="0">
              <a:latin typeface="Times New Roman" panose="02020603050405020304" pitchFamily="18" charset="0"/>
              <a:cs typeface="Times New Roman" panose="02020603050405020304" pitchFamily="18" charset="0"/>
              <a:sym typeface="+mn-ea"/>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3.1.3 频带平衡</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Rectangle 3"/>
          <p:cNvSpPr>
            <a:spLocks noGrp="1"/>
          </p:cNvSpPr>
          <p:nvPr>
            <p:custDataLst>
              <p:tags r:id="rId1"/>
            </p:custDataLst>
          </p:nvPr>
        </p:nvSpPr>
        <p:spPr>
          <a:xfrm>
            <a:off x="361950" y="1341120"/>
            <a:ext cx="8420100" cy="4533265"/>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eaLnBrk="1" hangingPunct="1">
              <a:lnSpc>
                <a:spcPct val="100000"/>
              </a:lnSpc>
              <a:spcBef>
                <a:spcPts val="1200"/>
              </a:spcBef>
            </a:pPr>
            <a:r>
              <a:rPr lang="zh-CN" altLang="en-US" sz="2400" dirty="0">
                <a:latin typeface="Times New Roman" panose="02020603050405020304" pitchFamily="18" charset="0"/>
                <a:cs typeface="Times New Roman" panose="02020603050405020304" pitchFamily="18" charset="0"/>
                <a:sym typeface="+mn-ea"/>
              </a:rPr>
              <a:t>现代计算机系统都以存储器为中心</a:t>
            </a:r>
            <a:endParaRPr lang="zh-CN" altLang="en-US" sz="2400" dirty="0">
              <a:latin typeface="Times New Roman" panose="02020603050405020304" pitchFamily="18" charset="0"/>
              <a:cs typeface="Times New Roman" panose="02020603050405020304" pitchFamily="18" charset="0"/>
            </a:endParaRPr>
          </a:p>
          <a:p>
            <a:pPr eaLnBrk="1" hangingPunct="1">
              <a:lnSpc>
                <a:spcPct val="100000"/>
              </a:lnSpc>
              <a:spcBef>
                <a:spcPts val="1200"/>
              </a:spcBef>
            </a:pPr>
            <a:r>
              <a:rPr lang="zh-CN" altLang="en-US" sz="2400" dirty="0">
                <a:latin typeface="Times New Roman" panose="02020603050405020304" pitchFamily="18" charset="0"/>
                <a:cs typeface="Times New Roman" panose="02020603050405020304" pitchFamily="18" charset="0"/>
                <a:sym typeface="+mn-ea"/>
              </a:rPr>
              <a:t>存储器的访问速度影响整个计算机系统的性能</a:t>
            </a:r>
            <a:endParaRPr lang="zh-CN" altLang="en-US" sz="2400" dirty="0">
              <a:latin typeface="Times New Roman" panose="02020603050405020304" pitchFamily="18" charset="0"/>
              <a:cs typeface="Times New Roman" panose="02020603050405020304" pitchFamily="18" charset="0"/>
            </a:endParaRPr>
          </a:p>
          <a:p>
            <a:pPr eaLnBrk="1" hangingPunct="1">
              <a:lnSpc>
                <a:spcPct val="100000"/>
              </a:lnSpc>
              <a:spcBef>
                <a:spcPts val="1200"/>
              </a:spcBef>
            </a:pPr>
            <a:r>
              <a:rPr lang="zh-CN" altLang="en-US" sz="2400" dirty="0">
                <a:solidFill>
                  <a:srgbClr val="FF0000"/>
                </a:solidFill>
                <a:latin typeface="Times New Roman" panose="02020603050405020304" pitchFamily="18" charset="0"/>
                <a:cs typeface="Times New Roman" panose="02020603050405020304" pitchFamily="18" charset="0"/>
                <a:sym typeface="+mn-ea"/>
              </a:rPr>
              <a:t>计算机中各级存储器频带应该达到平衡</a:t>
            </a:r>
            <a:endParaRPr lang="zh-CN" altLang="en-US" sz="2400" dirty="0">
              <a:solidFill>
                <a:srgbClr val="FF0000"/>
              </a:solidFill>
              <a:latin typeface="Times New Roman" panose="02020603050405020304" pitchFamily="18" charset="0"/>
              <a:cs typeface="Times New Roman" panose="02020603050405020304" pitchFamily="18" charset="0"/>
            </a:endParaRPr>
          </a:p>
          <a:p>
            <a:pPr eaLnBrk="1" hangingPunct="1">
              <a:lnSpc>
                <a:spcPct val="90000"/>
              </a:lnSpc>
            </a:pPr>
            <a:endParaRPr lang="zh-CN" altLang="en-US" sz="2400" dirty="0">
              <a:solidFill>
                <a:schemeClr val="tx2"/>
              </a:solidFill>
              <a:latin typeface="Times New Roman" panose="02020603050405020304" pitchFamily="18" charset="0"/>
              <a:cs typeface="Times New Roman" panose="02020603050405020304" pitchFamily="18" charset="0"/>
            </a:endParaRPr>
          </a:p>
          <a:p>
            <a:pPr lvl="1" eaLnBrk="1" hangingPunct="1">
              <a:spcBef>
                <a:spcPts val="1200"/>
              </a:spcBef>
            </a:pPr>
            <a:endParaRPr lang="zh-CN" altLang="en-US" sz="2055"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p:cNvSpPr>
          <p:nvPr>
            <p:ph type="title"/>
          </p:nvPr>
        </p:nvSpPr>
        <p:spPr>
          <a:xfrm>
            <a:off x="361950" y="266700"/>
            <a:ext cx="7772400" cy="821690"/>
          </a:xfrm>
          <a:noFill/>
          <a:ln>
            <a:noFill/>
          </a:ln>
        </p:spPr>
        <p:txBody>
          <a:bodyPr/>
          <a:p>
            <a:pPr eaLnBrk="1" hangingPunct="1"/>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3.1.3 频带平衡</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 name="Rectangle 3"/>
          <p:cNvSpPr>
            <a:spLocks noGrp="1"/>
          </p:cNvSpPr>
          <p:nvPr>
            <p:custDataLst>
              <p:tags r:id="rId1"/>
            </p:custDataLst>
          </p:nvPr>
        </p:nvSpPr>
        <p:spPr>
          <a:xfrm>
            <a:off x="361950" y="1341120"/>
            <a:ext cx="8420100" cy="4533265"/>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eaLnBrk="1" hangingPunct="1">
              <a:lnSpc>
                <a:spcPct val="100000"/>
              </a:lnSpc>
              <a:spcBef>
                <a:spcPts val="1200"/>
              </a:spcBef>
            </a:pPr>
            <a:r>
              <a:rPr lang="zh-CN" altLang="en-US" sz="2400" dirty="0">
                <a:solidFill>
                  <a:schemeClr val="tx2"/>
                </a:solidFill>
                <a:latin typeface="Times New Roman" panose="02020603050405020304" pitchFamily="18" charset="0"/>
                <a:cs typeface="Times New Roman" panose="02020603050405020304" pitchFamily="18" charset="0"/>
                <a:sym typeface="+mn-ea"/>
              </a:rPr>
              <a:t>存储器频带的计算</a:t>
            </a:r>
            <a:endParaRPr lang="zh-CN" altLang="en-US" sz="2400" dirty="0">
              <a:solidFill>
                <a:schemeClr val="tx2"/>
              </a:solidFill>
              <a:latin typeface="Times New Roman" panose="02020603050405020304" pitchFamily="18" charset="0"/>
              <a:cs typeface="Times New Roman" panose="02020603050405020304" pitchFamily="18" charset="0"/>
            </a:endParaRPr>
          </a:p>
          <a:p>
            <a:pPr marL="465455" lvl="1" indent="-178435" eaLnBrk="1" hangingPunct="1">
              <a:lnSpc>
                <a:spcPct val="100000"/>
              </a:lnSpc>
              <a:spcBef>
                <a:spcPts val="1200"/>
              </a:spcBef>
            </a:pPr>
            <a:r>
              <a:rPr lang="zh-CN" altLang="en-US" sz="2400" dirty="0">
                <a:latin typeface="Times New Roman" panose="02020603050405020304" pitchFamily="18" charset="0"/>
                <a:cs typeface="Times New Roman" panose="02020603050405020304" pitchFamily="18" charset="0"/>
                <a:sym typeface="+mn-ea"/>
              </a:rPr>
              <a:t>一台速度为</a:t>
            </a:r>
            <a:r>
              <a:rPr lang="en-US" altLang="zh-CN" sz="2400" dirty="0">
                <a:latin typeface="Times New Roman" panose="02020603050405020304" pitchFamily="18" charset="0"/>
                <a:cs typeface="Times New Roman" panose="02020603050405020304" pitchFamily="18" charset="0"/>
                <a:sym typeface="+mn-ea"/>
              </a:rPr>
              <a:t>500MIPS</a:t>
            </a:r>
            <a:r>
              <a:rPr lang="zh-CN" altLang="en-US" sz="2400" dirty="0">
                <a:latin typeface="Times New Roman" panose="02020603050405020304" pitchFamily="18" charset="0"/>
                <a:cs typeface="Times New Roman" panose="02020603050405020304" pitchFamily="18" charset="0"/>
                <a:sym typeface="+mn-ea"/>
              </a:rPr>
              <a:t>的计算机系统</a:t>
            </a:r>
            <a:r>
              <a:rPr lang="en-US" altLang="zh-CN" sz="2400" dirty="0">
                <a:latin typeface="Times New Roman" panose="02020603050405020304" pitchFamily="18" charset="0"/>
                <a:cs typeface="Times New Roman" panose="02020603050405020304" pitchFamily="18" charset="0"/>
                <a:sym typeface="+mn-ea"/>
              </a:rPr>
              <a:t>, </a:t>
            </a:r>
            <a:r>
              <a:rPr lang="zh-CN" altLang="en-US" sz="2400" dirty="0">
                <a:latin typeface="Times New Roman" panose="02020603050405020304" pitchFamily="18" charset="0"/>
                <a:cs typeface="Times New Roman" panose="02020603050405020304" pitchFamily="18" charset="0"/>
                <a:sym typeface="+mn-ea"/>
              </a:rPr>
              <a:t>主存储器的各种访问源的频带宽度</a:t>
            </a:r>
            <a:endParaRPr lang="zh-CN" altLang="en-US" sz="2400" dirty="0">
              <a:latin typeface="Times New Roman" panose="02020603050405020304" pitchFamily="18" charset="0"/>
              <a:cs typeface="Times New Roman" panose="02020603050405020304" pitchFamily="18" charset="0"/>
            </a:endParaRPr>
          </a:p>
          <a:p>
            <a:pPr marL="744855" lvl="2" indent="-165100" eaLnBrk="1" hangingPunct="1">
              <a:lnSpc>
                <a:spcPct val="100000"/>
              </a:lnSpc>
              <a:spcBef>
                <a:spcPts val="1200"/>
              </a:spcBef>
            </a:pPr>
            <a:r>
              <a:rPr lang="en-US" altLang="zh-CN" sz="2400" dirty="0">
                <a:solidFill>
                  <a:schemeClr val="tx2"/>
                </a:solidFill>
                <a:latin typeface="Times New Roman" panose="02020603050405020304" pitchFamily="18" charset="0"/>
                <a:cs typeface="Times New Roman" panose="02020603050405020304" pitchFamily="18" charset="0"/>
                <a:sym typeface="+mn-ea"/>
              </a:rPr>
              <a:t>CPU</a:t>
            </a:r>
            <a:r>
              <a:rPr lang="zh-CN" altLang="en-US" sz="2400" dirty="0">
                <a:solidFill>
                  <a:schemeClr val="tx2"/>
                </a:solidFill>
                <a:latin typeface="Times New Roman" panose="02020603050405020304" pitchFamily="18" charset="0"/>
                <a:cs typeface="Times New Roman" panose="02020603050405020304" pitchFamily="18" charset="0"/>
                <a:sym typeface="+mn-ea"/>
              </a:rPr>
              <a:t>取指令</a:t>
            </a:r>
            <a:r>
              <a:rPr lang="en-US" altLang="zh-CN" sz="2400" dirty="0">
                <a:solidFill>
                  <a:schemeClr val="tx2"/>
                </a:solidFill>
                <a:latin typeface="Times New Roman" panose="02020603050405020304" pitchFamily="18" charset="0"/>
                <a:cs typeface="Times New Roman" panose="02020603050405020304" pitchFamily="18" charset="0"/>
                <a:sym typeface="+mn-ea"/>
              </a:rPr>
              <a:t>:</a:t>
            </a:r>
            <a:r>
              <a:rPr lang="en-US" altLang="zh-CN" sz="2400" dirty="0">
                <a:latin typeface="Times New Roman" panose="02020603050405020304" pitchFamily="18" charset="0"/>
                <a:cs typeface="Times New Roman" panose="02020603050405020304" pitchFamily="18" charset="0"/>
                <a:sym typeface="+mn-ea"/>
              </a:rPr>
              <a:t> 500MW/s</a:t>
            </a:r>
            <a:endParaRPr lang="en-US" altLang="zh-CN" sz="2400" dirty="0">
              <a:latin typeface="Times New Roman" panose="02020603050405020304" pitchFamily="18" charset="0"/>
              <a:cs typeface="Times New Roman" panose="02020603050405020304" pitchFamily="18" charset="0"/>
            </a:endParaRPr>
          </a:p>
          <a:p>
            <a:pPr marL="744855" lvl="2" indent="-165100" eaLnBrk="1" hangingPunct="1">
              <a:lnSpc>
                <a:spcPct val="100000"/>
              </a:lnSpc>
              <a:spcBef>
                <a:spcPts val="1200"/>
              </a:spcBef>
            </a:pPr>
            <a:r>
              <a:rPr lang="en-US" altLang="zh-CN" sz="2400" dirty="0">
                <a:solidFill>
                  <a:schemeClr val="tx2"/>
                </a:solidFill>
                <a:latin typeface="Times New Roman" panose="02020603050405020304" pitchFamily="18" charset="0"/>
                <a:cs typeface="Times New Roman" panose="02020603050405020304" pitchFamily="18" charset="0"/>
                <a:sym typeface="+mn-ea"/>
              </a:rPr>
              <a:t>CPU</a:t>
            </a:r>
            <a:r>
              <a:rPr lang="zh-CN" altLang="en-US" sz="2400" dirty="0">
                <a:solidFill>
                  <a:schemeClr val="tx2"/>
                </a:solidFill>
                <a:latin typeface="Times New Roman" panose="02020603050405020304" pitchFamily="18" charset="0"/>
                <a:cs typeface="Times New Roman" panose="02020603050405020304" pitchFamily="18" charset="0"/>
                <a:sym typeface="+mn-ea"/>
              </a:rPr>
              <a:t>取操作数和保存运算结果：</a:t>
            </a:r>
            <a:r>
              <a:rPr lang="en-US" altLang="zh-CN" sz="2400" dirty="0">
                <a:latin typeface="Times New Roman" panose="02020603050405020304" pitchFamily="18" charset="0"/>
                <a:cs typeface="Times New Roman" panose="02020603050405020304" pitchFamily="18" charset="0"/>
                <a:sym typeface="+mn-ea"/>
              </a:rPr>
              <a:t>1000MW/s</a:t>
            </a:r>
            <a:endParaRPr lang="en-US" altLang="zh-CN" sz="2400" dirty="0">
              <a:latin typeface="Times New Roman" panose="02020603050405020304" pitchFamily="18" charset="0"/>
              <a:cs typeface="Times New Roman" panose="02020603050405020304" pitchFamily="18" charset="0"/>
            </a:endParaRPr>
          </a:p>
          <a:p>
            <a:pPr marL="744855" lvl="2" indent="-165100" eaLnBrk="1" hangingPunct="1">
              <a:lnSpc>
                <a:spcPct val="100000"/>
              </a:lnSpc>
              <a:spcBef>
                <a:spcPts val="1200"/>
              </a:spcBef>
            </a:pPr>
            <a:r>
              <a:rPr lang="zh-CN" altLang="en-US" sz="2400" dirty="0">
                <a:solidFill>
                  <a:schemeClr val="tx2"/>
                </a:solidFill>
                <a:latin typeface="Times New Roman" panose="02020603050405020304" pitchFamily="18" charset="0"/>
                <a:cs typeface="Times New Roman" panose="02020603050405020304" pitchFamily="18" charset="0"/>
                <a:sym typeface="+mn-ea"/>
              </a:rPr>
              <a:t>各种输入输出设备访问存储器：</a:t>
            </a:r>
            <a:r>
              <a:rPr lang="en-US" altLang="zh-CN" sz="2400" dirty="0">
                <a:latin typeface="Times New Roman" panose="02020603050405020304" pitchFamily="18" charset="0"/>
                <a:cs typeface="Times New Roman" panose="02020603050405020304" pitchFamily="18" charset="0"/>
                <a:sym typeface="+mn-ea"/>
              </a:rPr>
              <a:t>50MW/s</a:t>
            </a:r>
            <a:endParaRPr lang="en-US" altLang="zh-CN" sz="2400" dirty="0">
              <a:latin typeface="Times New Roman" panose="02020603050405020304" pitchFamily="18" charset="0"/>
              <a:cs typeface="Times New Roman" panose="02020603050405020304" pitchFamily="18" charset="0"/>
            </a:endParaRPr>
          </a:p>
          <a:p>
            <a:pPr marL="744855" lvl="2" indent="-165100" eaLnBrk="1" hangingPunct="1">
              <a:lnSpc>
                <a:spcPct val="100000"/>
              </a:lnSpc>
              <a:spcBef>
                <a:spcPts val="1200"/>
              </a:spcBef>
            </a:pPr>
            <a:r>
              <a:rPr lang="zh-CN" altLang="en-US" sz="2400" dirty="0">
                <a:latin typeface="Times New Roman" panose="02020603050405020304" pitchFamily="18" charset="0"/>
                <a:cs typeface="Times New Roman" panose="02020603050405020304" pitchFamily="18" charset="0"/>
                <a:sym typeface="+mn-ea"/>
              </a:rPr>
              <a:t>三项相加，要求存储器的频带宽度不低于</a:t>
            </a:r>
            <a:r>
              <a:rPr lang="en-US" altLang="zh-CN" sz="2400" dirty="0">
                <a:latin typeface="Times New Roman" panose="02020603050405020304" pitchFamily="18" charset="0"/>
                <a:cs typeface="Times New Roman" panose="02020603050405020304" pitchFamily="18" charset="0"/>
                <a:sym typeface="+mn-ea"/>
              </a:rPr>
              <a:t>1550MW/s, </a:t>
            </a:r>
            <a:r>
              <a:rPr lang="zh-CN" altLang="en-US" sz="2400" dirty="0">
                <a:latin typeface="Times New Roman" panose="02020603050405020304" pitchFamily="18" charset="0"/>
                <a:cs typeface="Times New Roman" panose="02020603050405020304" pitchFamily="18" charset="0"/>
                <a:sym typeface="+mn-ea"/>
              </a:rPr>
              <a:t>访问周期不大于</a:t>
            </a:r>
            <a:r>
              <a:rPr lang="en-US" altLang="zh-CN" sz="2400" dirty="0">
                <a:solidFill>
                  <a:srgbClr val="FF3300"/>
                </a:solidFill>
                <a:latin typeface="Times New Roman" panose="02020603050405020304" pitchFamily="18" charset="0"/>
                <a:cs typeface="Times New Roman" panose="02020603050405020304" pitchFamily="18" charset="0"/>
                <a:sym typeface="+mn-ea"/>
              </a:rPr>
              <a:t>0.64ns</a:t>
            </a:r>
            <a:endParaRPr lang="en-US" altLang="zh-CN" sz="2400" dirty="0">
              <a:solidFill>
                <a:srgbClr val="FF3300"/>
              </a:solidFill>
              <a:latin typeface="Times New Roman" panose="02020603050405020304" pitchFamily="18" charset="0"/>
              <a:cs typeface="Times New Roman" panose="02020603050405020304" pitchFamily="18" charset="0"/>
            </a:endParaRPr>
          </a:p>
          <a:p>
            <a:pPr marL="744855" lvl="2" indent="-165100" eaLnBrk="1" hangingPunct="1">
              <a:lnSpc>
                <a:spcPct val="100000"/>
              </a:lnSpc>
              <a:spcBef>
                <a:spcPts val="1200"/>
              </a:spcBef>
            </a:pPr>
            <a:r>
              <a:rPr lang="zh-CN" altLang="en-US" sz="2400" dirty="0">
                <a:latin typeface="Times New Roman" panose="02020603050405020304" pitchFamily="18" charset="0"/>
                <a:cs typeface="Times New Roman" panose="02020603050405020304" pitchFamily="18" charset="0"/>
                <a:sym typeface="+mn-ea"/>
              </a:rPr>
              <a:t>目前主存储器的工作周期为</a:t>
            </a:r>
            <a:r>
              <a:rPr lang="en-US" altLang="zh-CN" sz="2400" dirty="0">
                <a:latin typeface="Times New Roman" panose="02020603050405020304" pitchFamily="18" charset="0"/>
                <a:cs typeface="Times New Roman" panose="02020603050405020304" pitchFamily="18" charset="0"/>
                <a:sym typeface="+mn-ea"/>
              </a:rPr>
              <a:t>10ns</a:t>
            </a:r>
            <a:r>
              <a:rPr lang="zh-CN" altLang="en-US" sz="2400" dirty="0">
                <a:latin typeface="Times New Roman" panose="02020603050405020304" pitchFamily="18" charset="0"/>
                <a:cs typeface="Times New Roman" panose="02020603050405020304" pitchFamily="18" charset="0"/>
                <a:sym typeface="+mn-ea"/>
              </a:rPr>
              <a:t>左右</a:t>
            </a:r>
            <a:r>
              <a:rPr lang="en-US" altLang="zh-CN" sz="2400" dirty="0">
                <a:latin typeface="Times New Roman" panose="02020603050405020304" pitchFamily="18" charset="0"/>
                <a:cs typeface="Times New Roman" panose="02020603050405020304" pitchFamily="18" charset="0"/>
                <a:sym typeface="+mn-ea"/>
              </a:rPr>
              <a:t>, </a:t>
            </a:r>
            <a:r>
              <a:rPr lang="zh-CN" altLang="en-US" sz="2400" dirty="0">
                <a:latin typeface="Times New Roman" panose="02020603050405020304" pitchFamily="18" charset="0"/>
                <a:cs typeface="Times New Roman" panose="02020603050405020304" pitchFamily="18" charset="0"/>
                <a:sym typeface="+mn-ea"/>
              </a:rPr>
              <a:t>两者相差</a:t>
            </a:r>
            <a:r>
              <a:rPr lang="en-US" altLang="zh-CN" sz="2400" dirty="0">
                <a:latin typeface="Times New Roman" panose="02020603050405020304" pitchFamily="18" charset="0"/>
                <a:cs typeface="Times New Roman" panose="02020603050405020304" pitchFamily="18" charset="0"/>
                <a:sym typeface="+mn-ea"/>
              </a:rPr>
              <a:t>15</a:t>
            </a:r>
            <a:r>
              <a:rPr lang="zh-CN" altLang="en-US" sz="2400" dirty="0">
                <a:latin typeface="Times New Roman" panose="02020603050405020304" pitchFamily="18" charset="0"/>
                <a:cs typeface="Times New Roman" panose="02020603050405020304" pitchFamily="18" charset="0"/>
                <a:sym typeface="+mn-ea"/>
              </a:rPr>
              <a:t>倍多</a:t>
            </a:r>
            <a:endParaRPr lang="zh-CN" altLang="en-US" sz="2400" dirty="0">
              <a:latin typeface="Times New Roman" panose="02020603050405020304" pitchFamily="18" charset="0"/>
              <a:cs typeface="Times New Roman" panose="02020603050405020304" pitchFamily="18" charset="0"/>
            </a:endParaRPr>
          </a:p>
          <a:p>
            <a:pPr lvl="1" eaLnBrk="1" hangingPunct="1">
              <a:spcBef>
                <a:spcPts val="1200"/>
              </a:spcBef>
            </a:pPr>
            <a:endParaRPr lang="zh-CN" sz="2400" dirty="0">
              <a:latin typeface="Times New Roman" panose="02020603050405020304" pitchFamily="18" charset="0"/>
              <a:cs typeface="Times New Roman" panose="02020603050405020304" pitchFamily="18" charset="0"/>
              <a:sym typeface="+mn-ea"/>
            </a:endParaRPr>
          </a:p>
          <a:p>
            <a:pPr lvl="1" eaLnBrk="1" hangingPunct="1">
              <a:spcBef>
                <a:spcPts val="1200"/>
              </a:spcBef>
            </a:pPr>
            <a:endParaRPr lang="zh-CN" altLang="en-US" sz="2055" dirty="0">
              <a:latin typeface="Times New Roman" panose="02020603050405020304" pitchFamily="18" charset="0"/>
              <a:cs typeface="Times New Roman" panose="02020603050405020304" pitchFamily="18" charset="0"/>
              <a:sym typeface="+mn-ea"/>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解决存储器频带平衡方法</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Rectangle 3"/>
          <p:cNvSpPr>
            <a:spLocks noGrp="1"/>
          </p:cNvSpPr>
          <p:nvPr>
            <p:custDataLst>
              <p:tags r:id="rId1"/>
            </p:custDataLst>
          </p:nvPr>
        </p:nvSpPr>
        <p:spPr>
          <a:xfrm>
            <a:off x="361950" y="1341120"/>
            <a:ext cx="8420100" cy="4533265"/>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eaLnBrk="1" hangingPunct="1">
              <a:spcBef>
                <a:spcPts val="1200"/>
              </a:spcBef>
            </a:pPr>
            <a:r>
              <a:rPr lang="zh-CN" altLang="en-US" sz="2400" dirty="0">
                <a:latin typeface="Times New Roman" panose="02020603050405020304" pitchFamily="18" charset="0"/>
                <a:cs typeface="Times New Roman" panose="02020603050405020304" pitchFamily="18" charset="0"/>
                <a:sym typeface="+mn-ea"/>
              </a:rPr>
              <a:t>多个存储器并行工作</a:t>
            </a:r>
            <a:r>
              <a:rPr lang="en-US" altLang="zh-CN" sz="2400" dirty="0">
                <a:latin typeface="Times New Roman" panose="02020603050405020304" pitchFamily="18" charset="0"/>
                <a:cs typeface="Times New Roman" panose="02020603050405020304" pitchFamily="18" charset="0"/>
                <a:sym typeface="+mn-ea"/>
              </a:rPr>
              <a:t>(</a:t>
            </a:r>
            <a:r>
              <a:rPr lang="zh-CN" altLang="en-US" sz="2400" dirty="0">
                <a:latin typeface="Times New Roman" panose="02020603050405020304" pitchFamily="18" charset="0"/>
                <a:cs typeface="Times New Roman" panose="02020603050405020304" pitchFamily="18" charset="0"/>
                <a:sym typeface="+mn-ea"/>
              </a:rPr>
              <a:t>本节</a:t>
            </a:r>
            <a:r>
              <a:rPr lang="en-US" altLang="zh-CN" sz="2400" dirty="0">
                <a:latin typeface="Times New Roman" panose="02020603050405020304" pitchFamily="18" charset="0"/>
                <a:cs typeface="Times New Roman" panose="02020603050405020304" pitchFamily="18" charset="0"/>
                <a:sym typeface="+mn-ea"/>
              </a:rPr>
              <a:t>)</a:t>
            </a:r>
            <a:endParaRPr lang="en-US" altLang="zh-CN" sz="2400" dirty="0">
              <a:latin typeface="Times New Roman" panose="02020603050405020304" pitchFamily="18" charset="0"/>
              <a:cs typeface="Times New Roman" panose="02020603050405020304" pitchFamily="18" charset="0"/>
            </a:endParaRPr>
          </a:p>
          <a:p>
            <a:pPr lvl="1" eaLnBrk="1" hangingPunct="1">
              <a:spcBef>
                <a:spcPts val="1200"/>
              </a:spcBef>
            </a:pPr>
            <a:r>
              <a:rPr lang="zh-CN" altLang="en-US" sz="2400" dirty="0">
                <a:latin typeface="Times New Roman" panose="02020603050405020304" pitchFamily="18" charset="0"/>
                <a:cs typeface="Times New Roman" panose="02020603050405020304" pitchFamily="18" charset="0"/>
                <a:sym typeface="+mn-ea"/>
              </a:rPr>
              <a:t>并行访问、交叉访问</a:t>
            </a:r>
            <a:endParaRPr lang="zh-CN" altLang="en-US" sz="2400" dirty="0">
              <a:latin typeface="Times New Roman" panose="02020603050405020304" pitchFamily="18" charset="0"/>
              <a:cs typeface="Times New Roman" panose="02020603050405020304" pitchFamily="18" charset="0"/>
            </a:endParaRPr>
          </a:p>
          <a:p>
            <a:pPr eaLnBrk="1" hangingPunct="1">
              <a:spcBef>
                <a:spcPts val="1200"/>
              </a:spcBef>
            </a:pPr>
            <a:r>
              <a:rPr lang="zh-CN" altLang="en-US" sz="2400" dirty="0">
                <a:latin typeface="Times New Roman" panose="02020603050405020304" pitchFamily="18" charset="0"/>
                <a:cs typeface="Times New Roman" panose="02020603050405020304" pitchFamily="18" charset="0"/>
                <a:sym typeface="+mn-ea"/>
              </a:rPr>
              <a:t>设置各种缓冲存储器</a:t>
            </a:r>
            <a:r>
              <a:rPr lang="en-US" altLang="zh-CN" sz="2400" dirty="0">
                <a:latin typeface="Times New Roman" panose="02020603050405020304" pitchFamily="18" charset="0"/>
                <a:cs typeface="Times New Roman" panose="02020603050405020304" pitchFamily="18" charset="0"/>
                <a:sym typeface="+mn-ea"/>
              </a:rPr>
              <a:t>(</a:t>
            </a:r>
            <a:r>
              <a:rPr lang="zh-CN" altLang="en-US" sz="2400" dirty="0">
                <a:latin typeface="Times New Roman" panose="02020603050405020304" pitchFamily="18" charset="0"/>
                <a:cs typeface="Times New Roman" panose="02020603050405020304" pitchFamily="18" charset="0"/>
                <a:sym typeface="+mn-ea"/>
              </a:rPr>
              <a:t>第五章</a:t>
            </a:r>
            <a:r>
              <a:rPr lang="en-US" altLang="zh-CN" sz="2400" dirty="0">
                <a:latin typeface="Times New Roman" panose="02020603050405020304" pitchFamily="18" charset="0"/>
                <a:cs typeface="Times New Roman" panose="02020603050405020304" pitchFamily="18" charset="0"/>
                <a:sym typeface="+mn-ea"/>
              </a:rPr>
              <a:t>)</a:t>
            </a:r>
            <a:endParaRPr lang="en-US" altLang="zh-CN" sz="2400" dirty="0">
              <a:latin typeface="Times New Roman" panose="02020603050405020304" pitchFamily="18" charset="0"/>
              <a:cs typeface="Times New Roman" panose="02020603050405020304" pitchFamily="18" charset="0"/>
            </a:endParaRPr>
          </a:p>
          <a:p>
            <a:pPr lvl="1" eaLnBrk="1" hangingPunct="1">
              <a:spcBef>
                <a:spcPts val="1200"/>
              </a:spcBef>
            </a:pPr>
            <a:r>
              <a:rPr lang="zh-CN" altLang="en-US" sz="2400" dirty="0">
                <a:latin typeface="Times New Roman" panose="02020603050405020304" pitchFamily="18" charset="0"/>
                <a:cs typeface="Times New Roman" panose="02020603050405020304" pitchFamily="18" charset="0"/>
                <a:sym typeface="+mn-ea"/>
              </a:rPr>
              <a:t>预取指令缓冲栈、操作数先行缓冲栈、运算结果后行缓冲栈、通用寄存器</a:t>
            </a:r>
            <a:endParaRPr lang="zh-CN" altLang="en-US" sz="2400" dirty="0">
              <a:latin typeface="Times New Roman" panose="02020603050405020304" pitchFamily="18" charset="0"/>
              <a:cs typeface="Times New Roman" panose="02020603050405020304" pitchFamily="18" charset="0"/>
            </a:endParaRPr>
          </a:p>
          <a:p>
            <a:pPr eaLnBrk="1" hangingPunct="1">
              <a:spcBef>
                <a:spcPts val="1200"/>
              </a:spcBef>
            </a:pPr>
            <a:r>
              <a:rPr lang="zh-CN" altLang="en-US" sz="2400" dirty="0">
                <a:latin typeface="Times New Roman" panose="02020603050405020304" pitchFamily="18" charset="0"/>
                <a:cs typeface="Times New Roman" panose="02020603050405020304" pitchFamily="18" charset="0"/>
                <a:sym typeface="+mn-ea"/>
              </a:rPr>
              <a:t>采用存储系统</a:t>
            </a:r>
            <a:r>
              <a:rPr lang="en-US" altLang="zh-CN" sz="2400" dirty="0">
                <a:latin typeface="Times New Roman" panose="02020603050405020304" pitchFamily="18" charset="0"/>
                <a:cs typeface="Times New Roman" panose="02020603050405020304" pitchFamily="18" charset="0"/>
                <a:sym typeface="+mn-ea"/>
              </a:rPr>
              <a:t>(</a:t>
            </a:r>
            <a:r>
              <a:rPr lang="zh-CN" altLang="en-US" sz="2400" dirty="0">
                <a:latin typeface="Times New Roman" panose="02020603050405020304" pitchFamily="18" charset="0"/>
                <a:cs typeface="Times New Roman" panose="02020603050405020304" pitchFamily="18" charset="0"/>
                <a:sym typeface="+mn-ea"/>
              </a:rPr>
              <a:t>本章下两节</a:t>
            </a:r>
            <a:r>
              <a:rPr lang="en-US" altLang="zh-CN" sz="2400" dirty="0">
                <a:latin typeface="Times New Roman" panose="02020603050405020304" pitchFamily="18" charset="0"/>
                <a:cs typeface="Times New Roman" panose="02020603050405020304" pitchFamily="18" charset="0"/>
                <a:sym typeface="+mn-ea"/>
              </a:rPr>
              <a:t>)</a:t>
            </a:r>
            <a:endParaRPr lang="en-US" altLang="zh-CN" sz="2400" dirty="0">
              <a:latin typeface="Times New Roman" panose="02020603050405020304" pitchFamily="18" charset="0"/>
              <a:cs typeface="Times New Roman" panose="02020603050405020304" pitchFamily="18" charset="0"/>
            </a:endParaRPr>
          </a:p>
          <a:p>
            <a:pPr lvl="1" eaLnBrk="1" hangingPunct="1">
              <a:spcBef>
                <a:spcPts val="1200"/>
              </a:spcBef>
            </a:pPr>
            <a:r>
              <a:rPr lang="zh-CN" altLang="en-US" sz="2400" dirty="0">
                <a:latin typeface="Times New Roman" panose="02020603050405020304" pitchFamily="18" charset="0"/>
                <a:cs typeface="Times New Roman" panose="02020603050405020304" pitchFamily="18" charset="0"/>
                <a:sym typeface="+mn-ea"/>
              </a:rPr>
              <a:t>多级</a:t>
            </a:r>
            <a:r>
              <a:rPr lang="en-US" altLang="zh-CN" sz="2400" dirty="0">
                <a:latin typeface="Times New Roman" panose="02020603050405020304" pitchFamily="18" charset="0"/>
                <a:cs typeface="Times New Roman" panose="02020603050405020304" pitchFamily="18" charset="0"/>
                <a:sym typeface="+mn-ea"/>
              </a:rPr>
              <a:t>Cache</a:t>
            </a:r>
            <a:r>
              <a:rPr lang="zh-CN" altLang="en-US" sz="2400" dirty="0">
                <a:latin typeface="Times New Roman" panose="02020603050405020304" pitchFamily="18" charset="0"/>
                <a:cs typeface="Times New Roman" panose="02020603050405020304" pitchFamily="18" charset="0"/>
                <a:sym typeface="+mn-ea"/>
              </a:rPr>
              <a:t>存储系统</a:t>
            </a:r>
            <a:endParaRPr lang="zh-CN" altLang="en-US" sz="2400" dirty="0">
              <a:latin typeface="Times New Roman" panose="02020603050405020304" pitchFamily="18" charset="0"/>
              <a:cs typeface="Times New Roman" panose="02020603050405020304" pitchFamily="18" charset="0"/>
            </a:endParaRPr>
          </a:p>
          <a:p>
            <a:pPr eaLnBrk="1" hangingPunct="1">
              <a:lnSpc>
                <a:spcPct val="90000"/>
              </a:lnSpc>
              <a:spcBef>
                <a:spcPts val="1200"/>
              </a:spcBef>
            </a:pPr>
            <a:endParaRPr lang="zh-CN" altLang="en-US" sz="2400" dirty="0">
              <a:solidFill>
                <a:schemeClr val="tx2"/>
              </a:solidFill>
              <a:latin typeface="Times New Roman" panose="02020603050405020304" pitchFamily="18" charset="0"/>
              <a:cs typeface="Times New Roman" panose="02020603050405020304" pitchFamily="18" charset="0"/>
            </a:endParaRPr>
          </a:p>
          <a:p>
            <a:pPr lvl="1" eaLnBrk="1" hangingPunct="1">
              <a:spcBef>
                <a:spcPts val="1200"/>
              </a:spcBef>
            </a:pPr>
            <a:endParaRPr lang="zh-CN" sz="2400" dirty="0">
              <a:latin typeface="Times New Roman" panose="02020603050405020304" pitchFamily="18" charset="0"/>
              <a:cs typeface="Times New Roman" panose="02020603050405020304" pitchFamily="18" charset="0"/>
              <a:sym typeface="+mn-ea"/>
            </a:endParaRPr>
          </a:p>
          <a:p>
            <a:pPr lvl="1" eaLnBrk="1" hangingPunct="1">
              <a:spcBef>
                <a:spcPts val="1200"/>
              </a:spcBef>
            </a:pPr>
            <a:endParaRPr lang="zh-CN" altLang="en-US" sz="2055"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例：</a:t>
            </a:r>
            <a:endParaRPr lang="zh-CN" altLang="en-US"/>
          </a:p>
        </p:txBody>
      </p:sp>
      <p:sp>
        <p:nvSpPr>
          <p:cNvPr id="3" name="内容占位符 2"/>
          <p:cNvSpPr>
            <a:spLocks noGrp="1"/>
          </p:cNvSpPr>
          <p:nvPr>
            <p:ph idx="1"/>
          </p:nvPr>
        </p:nvSpPr>
        <p:spPr/>
        <p:txBody>
          <a:bodyPr/>
          <a:p>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3.1.4 并行存储器</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Rectangle 3"/>
          <p:cNvSpPr>
            <a:spLocks noGrp="1"/>
          </p:cNvSpPr>
          <p:nvPr>
            <p:custDataLst>
              <p:tags r:id="rId1"/>
            </p:custDataLst>
          </p:nvPr>
        </p:nvSpPr>
        <p:spPr>
          <a:xfrm>
            <a:off x="361950" y="1341120"/>
            <a:ext cx="8420100" cy="4533265"/>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eaLnBrk="1" hangingPunct="1">
              <a:spcBef>
                <a:spcPts val="1200"/>
              </a:spcBef>
            </a:pPr>
            <a:r>
              <a:rPr lang="zh-CN" altLang="en-US" sz="2400" dirty="0">
                <a:sym typeface="+mn-ea"/>
              </a:rPr>
              <a:t>并行访问存储器</a:t>
            </a:r>
            <a:endParaRPr lang="zh-CN" altLang="en-US" sz="2400" dirty="0"/>
          </a:p>
          <a:p>
            <a:pPr eaLnBrk="1" hangingPunct="1">
              <a:spcBef>
                <a:spcPts val="1200"/>
              </a:spcBef>
            </a:pPr>
            <a:r>
              <a:rPr lang="zh-CN" altLang="en-US" sz="2400" dirty="0">
                <a:sym typeface="+mn-ea"/>
              </a:rPr>
              <a:t>交叉访问存储器</a:t>
            </a:r>
            <a:endParaRPr lang="zh-CN" altLang="en-US" sz="2400" dirty="0"/>
          </a:p>
          <a:p>
            <a:pPr eaLnBrk="1" hangingPunct="1">
              <a:spcBef>
                <a:spcPts val="1200"/>
              </a:spcBef>
            </a:pPr>
            <a:r>
              <a:rPr lang="zh-CN" altLang="en-US" sz="2400" dirty="0">
                <a:sym typeface="+mn-ea"/>
              </a:rPr>
              <a:t>无访问冲突并行存储器</a:t>
            </a:r>
            <a:endParaRPr lang="zh-CN" altLang="en-US" sz="2400" dirty="0"/>
          </a:p>
          <a:p>
            <a:pPr eaLnBrk="1" hangingPunct="1">
              <a:lnSpc>
                <a:spcPct val="90000"/>
              </a:lnSpc>
              <a:spcBef>
                <a:spcPts val="1200"/>
              </a:spcBef>
            </a:pPr>
            <a:endParaRPr lang="zh-CN" altLang="en-US" sz="2400" dirty="0">
              <a:solidFill>
                <a:schemeClr val="tx2"/>
              </a:solidFill>
              <a:latin typeface="Times New Roman" panose="02020603050405020304" pitchFamily="18" charset="0"/>
              <a:cs typeface="Times New Roman" panose="02020603050405020304" pitchFamily="18" charset="0"/>
            </a:endParaRPr>
          </a:p>
          <a:p>
            <a:pPr lvl="1" eaLnBrk="1" hangingPunct="1">
              <a:spcBef>
                <a:spcPts val="1200"/>
              </a:spcBef>
            </a:pPr>
            <a:endParaRPr lang="zh-CN" sz="2400" dirty="0">
              <a:latin typeface="Times New Roman" panose="02020603050405020304" pitchFamily="18" charset="0"/>
              <a:cs typeface="Times New Roman" panose="02020603050405020304" pitchFamily="18" charset="0"/>
              <a:sym typeface="+mn-ea"/>
            </a:endParaRPr>
          </a:p>
          <a:p>
            <a:pPr lvl="1" eaLnBrk="1" hangingPunct="1">
              <a:spcBef>
                <a:spcPts val="1200"/>
              </a:spcBef>
            </a:pPr>
            <a:endParaRPr lang="zh-CN" altLang="en-US" sz="2055"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3.1.4.1 并行访问存储器</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Rectangle 3"/>
          <p:cNvSpPr>
            <a:spLocks noGrp="1"/>
          </p:cNvSpPr>
          <p:nvPr>
            <p:custDataLst>
              <p:tags r:id="rId1"/>
            </p:custDataLst>
          </p:nvPr>
        </p:nvSpPr>
        <p:spPr>
          <a:xfrm>
            <a:off x="361950" y="1203960"/>
            <a:ext cx="8420100" cy="2520315"/>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eaLnBrk="1" hangingPunct="1"/>
            <a:r>
              <a:rPr lang="zh-CN" altLang="en-US" sz="2400" dirty="0">
                <a:latin typeface="Times New Roman" panose="02020603050405020304" pitchFamily="18" charset="0"/>
                <a:cs typeface="Times New Roman" panose="02020603050405020304" pitchFamily="18" charset="0"/>
                <a:sym typeface="+mn-ea"/>
              </a:rPr>
              <a:t>增大存储器的字长，一个存储周期内访问更多的机器字</a:t>
            </a:r>
            <a:endParaRPr lang="zh-CN" altLang="en-US" sz="2400" dirty="0">
              <a:latin typeface="Times New Roman" panose="02020603050405020304" pitchFamily="18" charset="0"/>
              <a:cs typeface="Times New Roman" panose="02020603050405020304" pitchFamily="18" charset="0"/>
            </a:endParaRPr>
          </a:p>
          <a:p>
            <a:pPr eaLnBrk="1" hangingPunct="1"/>
            <a:r>
              <a:rPr lang="zh-CN" altLang="en-US" sz="2400" dirty="0">
                <a:latin typeface="Times New Roman" panose="02020603050405020304" pitchFamily="18" charset="0"/>
                <a:cs typeface="Times New Roman" panose="02020603050405020304" pitchFamily="18" charset="0"/>
                <a:sym typeface="+mn-ea"/>
              </a:rPr>
              <a:t>方法：把</a:t>
            </a:r>
            <a:r>
              <a:rPr lang="en-US" altLang="zh-CN" sz="2400" dirty="0">
                <a:latin typeface="Times New Roman" panose="02020603050405020304" pitchFamily="18" charset="0"/>
                <a:cs typeface="Times New Roman" panose="02020603050405020304" pitchFamily="18" charset="0"/>
                <a:sym typeface="+mn-ea"/>
              </a:rPr>
              <a:t>m</a:t>
            </a:r>
            <a:r>
              <a:rPr lang="zh-CN" altLang="en-US" sz="2400" dirty="0">
                <a:latin typeface="Times New Roman" panose="02020603050405020304" pitchFamily="18" charset="0"/>
                <a:cs typeface="Times New Roman" panose="02020603050405020304" pitchFamily="18" charset="0"/>
                <a:sym typeface="+mn-ea"/>
              </a:rPr>
              <a:t>字</a:t>
            </a:r>
            <a:r>
              <a:rPr lang="en-US" altLang="zh-CN" sz="2400" dirty="0">
                <a:latin typeface="Times New Roman" panose="02020603050405020304" pitchFamily="18" charset="0"/>
                <a:cs typeface="Times New Roman" panose="02020603050405020304" pitchFamily="18" charset="0"/>
                <a:sym typeface="+mn-ea"/>
              </a:rPr>
              <a:t>w</a:t>
            </a:r>
            <a:r>
              <a:rPr lang="zh-CN" altLang="en-US" sz="2400" dirty="0">
                <a:latin typeface="Times New Roman" panose="02020603050405020304" pitchFamily="18" charset="0"/>
                <a:cs typeface="Times New Roman" panose="02020603050405020304" pitchFamily="18" charset="0"/>
                <a:sym typeface="+mn-ea"/>
              </a:rPr>
              <a:t>位的存储器改变成为</a:t>
            </a:r>
            <a:r>
              <a:rPr lang="en-US" altLang="zh-CN" sz="2400" dirty="0">
                <a:latin typeface="Times New Roman" panose="02020603050405020304" pitchFamily="18" charset="0"/>
                <a:cs typeface="Times New Roman" panose="02020603050405020304" pitchFamily="18" charset="0"/>
                <a:sym typeface="+mn-ea"/>
              </a:rPr>
              <a:t>m/n</a:t>
            </a:r>
            <a:r>
              <a:rPr lang="zh-CN" altLang="en-US" sz="2400" dirty="0">
                <a:latin typeface="Times New Roman" panose="02020603050405020304" pitchFamily="18" charset="0"/>
                <a:cs typeface="Times New Roman" panose="02020603050405020304" pitchFamily="18" charset="0"/>
                <a:sym typeface="+mn-ea"/>
              </a:rPr>
              <a:t>字</a:t>
            </a:r>
            <a:r>
              <a:rPr lang="en-US" altLang="zh-CN" sz="2400" dirty="0">
                <a:latin typeface="Times New Roman" panose="02020603050405020304" pitchFamily="18" charset="0"/>
                <a:cs typeface="Times New Roman" panose="02020603050405020304" pitchFamily="18" charset="0"/>
                <a:sym typeface="+mn-ea"/>
              </a:rPr>
              <a:t>n×w</a:t>
            </a:r>
            <a:r>
              <a:rPr lang="zh-CN" altLang="en-US" sz="2400" dirty="0">
                <a:latin typeface="Times New Roman" panose="02020603050405020304" pitchFamily="18" charset="0"/>
                <a:cs typeface="Times New Roman" panose="02020603050405020304" pitchFamily="18" charset="0"/>
                <a:sym typeface="+mn-ea"/>
              </a:rPr>
              <a:t>位的存储器</a:t>
            </a:r>
            <a:endParaRPr lang="zh-CN" altLang="en-US" sz="2400" dirty="0">
              <a:latin typeface="Times New Roman" panose="02020603050405020304" pitchFamily="18" charset="0"/>
              <a:cs typeface="Times New Roman" panose="02020603050405020304" pitchFamily="18" charset="0"/>
            </a:endParaRPr>
          </a:p>
          <a:p>
            <a:pPr eaLnBrk="1" hangingPunct="1"/>
            <a:r>
              <a:rPr lang="zh-CN" altLang="en-US" sz="2400" dirty="0">
                <a:latin typeface="Times New Roman" panose="02020603050405020304" pitchFamily="18" charset="0"/>
                <a:cs typeface="Times New Roman" panose="02020603050405020304" pitchFamily="18" charset="0"/>
                <a:sym typeface="+mn-ea"/>
              </a:rPr>
              <a:t>逻辑实现：把地址码分成两个部分</a:t>
            </a:r>
            <a:endParaRPr lang="zh-CN" altLang="en-US" sz="2400" dirty="0">
              <a:latin typeface="Times New Roman" panose="02020603050405020304" pitchFamily="18" charset="0"/>
              <a:cs typeface="Times New Roman" panose="02020603050405020304" pitchFamily="18" charset="0"/>
            </a:endParaRPr>
          </a:p>
          <a:p>
            <a:pPr lvl="1" eaLnBrk="1" hangingPunct="1"/>
            <a:r>
              <a:rPr lang="zh-CN" altLang="en-US" sz="2000" dirty="0">
                <a:latin typeface="Times New Roman" panose="02020603050405020304" pitchFamily="18" charset="0"/>
                <a:cs typeface="Times New Roman" panose="02020603050405020304" pitchFamily="18" charset="0"/>
                <a:sym typeface="+mn-ea"/>
              </a:rPr>
              <a:t>一部分作为存储器的地址</a:t>
            </a:r>
            <a:endParaRPr lang="zh-CN" altLang="en-US" sz="2000" dirty="0">
              <a:latin typeface="Times New Roman" panose="02020603050405020304" pitchFamily="18" charset="0"/>
              <a:cs typeface="Times New Roman" panose="02020603050405020304" pitchFamily="18" charset="0"/>
            </a:endParaRPr>
          </a:p>
          <a:p>
            <a:pPr lvl="1" eaLnBrk="1" hangingPunct="1"/>
            <a:r>
              <a:rPr lang="zh-CN" altLang="en-US" sz="2000" dirty="0">
                <a:latin typeface="Times New Roman" panose="02020603050405020304" pitchFamily="18" charset="0"/>
                <a:cs typeface="Times New Roman" panose="02020603050405020304" pitchFamily="18" charset="0"/>
                <a:sym typeface="+mn-ea"/>
              </a:rPr>
              <a:t>另一部分负责选择数据</a:t>
            </a:r>
            <a:endParaRPr lang="zh-CN" altLang="en-US" sz="2000" dirty="0">
              <a:latin typeface="Times New Roman" panose="02020603050405020304" pitchFamily="18" charset="0"/>
              <a:cs typeface="Times New Roman" panose="02020603050405020304" pitchFamily="18" charset="0"/>
            </a:endParaRPr>
          </a:p>
          <a:p>
            <a:pPr eaLnBrk="1" hangingPunct="1">
              <a:lnSpc>
                <a:spcPct val="90000"/>
              </a:lnSpc>
              <a:spcBef>
                <a:spcPts val="1200"/>
              </a:spcBef>
            </a:pPr>
            <a:endParaRPr lang="zh-CN" altLang="en-US" sz="2400" dirty="0">
              <a:solidFill>
                <a:schemeClr val="tx2"/>
              </a:solidFill>
              <a:latin typeface="Times New Roman" panose="02020603050405020304" pitchFamily="18" charset="0"/>
              <a:cs typeface="Times New Roman" panose="02020603050405020304" pitchFamily="18" charset="0"/>
            </a:endParaRPr>
          </a:p>
          <a:p>
            <a:pPr lvl="1" eaLnBrk="1" hangingPunct="1">
              <a:spcBef>
                <a:spcPts val="1200"/>
              </a:spcBef>
            </a:pPr>
            <a:endParaRPr lang="zh-CN" sz="2400" dirty="0">
              <a:latin typeface="Times New Roman" panose="02020603050405020304" pitchFamily="18" charset="0"/>
              <a:cs typeface="Times New Roman" panose="02020603050405020304" pitchFamily="18" charset="0"/>
              <a:sym typeface="+mn-ea"/>
            </a:endParaRPr>
          </a:p>
          <a:p>
            <a:pPr lvl="1" eaLnBrk="1" hangingPunct="1">
              <a:spcBef>
                <a:spcPts val="1200"/>
              </a:spcBef>
            </a:pPr>
            <a:endParaRPr lang="zh-CN" altLang="en-US" sz="2055" dirty="0">
              <a:latin typeface="Times New Roman" panose="02020603050405020304" pitchFamily="18" charset="0"/>
              <a:cs typeface="Times New Roman" panose="02020603050405020304" pitchFamily="18" charset="0"/>
              <a:sym typeface="+mn-ea"/>
            </a:endParaRPr>
          </a:p>
        </p:txBody>
      </p:sp>
      <p:pic>
        <p:nvPicPr>
          <p:cNvPr id="3" name="图片 2"/>
          <p:cNvPicPr>
            <a:picLocks noChangeAspect="1"/>
          </p:cNvPicPr>
          <p:nvPr>
            <p:custDataLst>
              <p:tags r:id="rId2"/>
            </p:custDataLst>
          </p:nvPr>
        </p:nvPicPr>
        <p:blipFill>
          <a:blip r:embed="rId3"/>
          <a:stretch>
            <a:fillRect/>
          </a:stretch>
        </p:blipFill>
        <p:spPr>
          <a:xfrm>
            <a:off x="1004570" y="3429000"/>
            <a:ext cx="1811020" cy="3145155"/>
          </a:xfrm>
          <a:prstGeom prst="rect">
            <a:avLst/>
          </a:prstGeom>
        </p:spPr>
      </p:pic>
      <p:pic>
        <p:nvPicPr>
          <p:cNvPr id="5" name="图片 4"/>
          <p:cNvPicPr>
            <a:picLocks noChangeAspect="1"/>
          </p:cNvPicPr>
          <p:nvPr>
            <p:custDataLst>
              <p:tags r:id="rId4"/>
            </p:custDataLst>
          </p:nvPr>
        </p:nvPicPr>
        <p:blipFill>
          <a:blip r:embed="rId5"/>
          <a:stretch>
            <a:fillRect/>
          </a:stretch>
        </p:blipFill>
        <p:spPr>
          <a:xfrm>
            <a:off x="4644390" y="2599055"/>
            <a:ext cx="3931920" cy="39751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并</a:t>
            </a:r>
            <a:r>
              <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行访问存储器主要缺点</a:t>
            </a:r>
            <a:endParaRPr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Rectangle 3"/>
          <p:cNvSpPr>
            <a:spLocks noGrp="1"/>
          </p:cNvSpPr>
          <p:nvPr>
            <p:custDataLst>
              <p:tags r:id="rId1"/>
            </p:custDataLst>
          </p:nvPr>
        </p:nvSpPr>
        <p:spPr>
          <a:xfrm>
            <a:off x="361950" y="1255395"/>
            <a:ext cx="8420100" cy="5164455"/>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eaLnBrk="1" hangingPunct="1">
              <a:lnSpc>
                <a:spcPct val="100000"/>
              </a:lnSpc>
              <a:spcBef>
                <a:spcPts val="1200"/>
              </a:spcBef>
            </a:pPr>
            <a:r>
              <a:rPr lang="zh-CN" altLang="en-US" sz="2400" dirty="0">
                <a:latin typeface="Times New Roman" panose="02020603050405020304" pitchFamily="18" charset="0"/>
                <a:cs typeface="Times New Roman" panose="02020603050405020304" pitchFamily="18" charset="0"/>
                <a:sym typeface="+mn-ea"/>
              </a:rPr>
              <a:t>并行访问存储器主要缺点：访问冲突大</a:t>
            </a:r>
            <a:endParaRPr lang="zh-CN" altLang="en-US" sz="2400" dirty="0">
              <a:latin typeface="Times New Roman" panose="02020603050405020304" pitchFamily="18" charset="0"/>
              <a:cs typeface="Times New Roman" panose="02020603050405020304" pitchFamily="18" charset="0"/>
            </a:endParaRPr>
          </a:p>
          <a:p>
            <a:pPr lvl="1" eaLnBrk="1" hangingPunct="1">
              <a:lnSpc>
                <a:spcPct val="100000"/>
              </a:lnSpc>
              <a:spcBef>
                <a:spcPts val="600"/>
              </a:spcBef>
            </a:pPr>
            <a:r>
              <a:rPr lang="zh-CN" altLang="en-US" sz="2000" dirty="0">
                <a:latin typeface="Times New Roman" panose="02020603050405020304" pitchFamily="18" charset="0"/>
                <a:cs typeface="Times New Roman" panose="02020603050405020304" pitchFamily="18" charset="0"/>
                <a:sym typeface="+mn-ea"/>
              </a:rPr>
              <a:t>取指令冲突：转移发生时，其后同时取出的指令无用</a:t>
            </a:r>
            <a:endParaRPr lang="zh-CN" altLang="en-US" sz="2000" dirty="0">
              <a:latin typeface="Times New Roman" panose="02020603050405020304" pitchFamily="18" charset="0"/>
              <a:cs typeface="Times New Roman" panose="02020603050405020304" pitchFamily="18" charset="0"/>
            </a:endParaRPr>
          </a:p>
          <a:p>
            <a:pPr lvl="1" eaLnBrk="1" hangingPunct="1">
              <a:lnSpc>
                <a:spcPct val="100000"/>
              </a:lnSpc>
              <a:spcBef>
                <a:spcPts val="600"/>
              </a:spcBef>
            </a:pPr>
            <a:r>
              <a:rPr lang="zh-CN" altLang="en-US" sz="2000" dirty="0">
                <a:latin typeface="Times New Roman" panose="02020603050405020304" pitchFamily="18" charset="0"/>
                <a:cs typeface="Times New Roman" panose="02020603050405020304" pitchFamily="18" charset="0"/>
                <a:sym typeface="+mn-ea"/>
              </a:rPr>
              <a:t>读操作数冲突：同时取出的多个操作数，不一定都有用</a:t>
            </a:r>
            <a:endParaRPr lang="zh-CN" altLang="en-US" sz="2000" dirty="0">
              <a:latin typeface="Times New Roman" panose="02020603050405020304" pitchFamily="18" charset="0"/>
              <a:cs typeface="Times New Roman" panose="02020603050405020304" pitchFamily="18" charset="0"/>
            </a:endParaRPr>
          </a:p>
          <a:p>
            <a:pPr lvl="1" eaLnBrk="1" hangingPunct="1">
              <a:lnSpc>
                <a:spcPct val="100000"/>
              </a:lnSpc>
              <a:spcBef>
                <a:spcPts val="600"/>
              </a:spcBef>
            </a:pPr>
            <a:r>
              <a:rPr lang="zh-CN" altLang="en-US" sz="2000" dirty="0">
                <a:latin typeface="Times New Roman" panose="02020603050405020304" pitchFamily="18" charset="0"/>
                <a:cs typeface="Times New Roman" panose="02020603050405020304" pitchFamily="18" charset="0"/>
                <a:sym typeface="+mn-ea"/>
              </a:rPr>
              <a:t>写数据冲突：</a:t>
            </a:r>
            <a:r>
              <a:rPr lang="en-US" altLang="zh-CN" sz="2000" dirty="0">
                <a:latin typeface="Times New Roman" panose="02020603050405020304" pitchFamily="18" charset="0"/>
                <a:cs typeface="Times New Roman" panose="02020603050405020304" pitchFamily="18" charset="0"/>
                <a:sym typeface="+mn-ea"/>
              </a:rPr>
              <a:t>n</a:t>
            </a:r>
            <a:r>
              <a:rPr lang="zh-CN" altLang="en-US" sz="2000" dirty="0">
                <a:latin typeface="Times New Roman" panose="02020603050405020304" pitchFamily="18" charset="0"/>
                <a:cs typeface="Times New Roman" panose="02020603050405020304" pitchFamily="18" charset="0"/>
                <a:sym typeface="+mn-ea"/>
              </a:rPr>
              <a:t>个机器字</a:t>
            </a:r>
            <a:r>
              <a:rPr lang="en-US" altLang="zh-CN" sz="2000" dirty="0">
                <a:latin typeface="Times New Roman" panose="02020603050405020304" pitchFamily="18" charset="0"/>
                <a:cs typeface="Times New Roman" panose="02020603050405020304" pitchFamily="18" charset="0"/>
                <a:sym typeface="+mn-ea"/>
              </a:rPr>
              <a:t>(nw</a:t>
            </a:r>
            <a:r>
              <a:rPr lang="zh-CN" altLang="en-US" sz="2000" dirty="0">
                <a:latin typeface="Times New Roman" panose="02020603050405020304" pitchFamily="18" charset="0"/>
                <a:cs typeface="Times New Roman" panose="02020603050405020304" pitchFamily="18" charset="0"/>
                <a:sym typeface="+mn-ea"/>
              </a:rPr>
              <a:t>位</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同时写回存储器</a:t>
            </a:r>
            <a:endParaRPr lang="zh-CN" altLang="en-US" sz="2000" dirty="0">
              <a:latin typeface="Times New Roman" panose="02020603050405020304" pitchFamily="18" charset="0"/>
              <a:cs typeface="Times New Roman" panose="02020603050405020304" pitchFamily="18" charset="0"/>
            </a:endParaRPr>
          </a:p>
          <a:p>
            <a:pPr lvl="1" eaLnBrk="1" hangingPunct="1">
              <a:lnSpc>
                <a:spcPct val="100000"/>
              </a:lnSpc>
              <a:spcBef>
                <a:spcPts val="600"/>
              </a:spcBef>
            </a:pPr>
            <a:r>
              <a:rPr lang="zh-CN" altLang="en-US" sz="2000" dirty="0">
                <a:latin typeface="Times New Roman" panose="02020603050405020304" pitchFamily="18" charset="0"/>
                <a:cs typeface="Times New Roman" panose="02020603050405020304" pitchFamily="18" charset="0"/>
                <a:sym typeface="+mn-ea"/>
              </a:rPr>
              <a:t>读写冲突：读出和写入的机器字同在一个存储字</a:t>
            </a:r>
            <a:endParaRPr lang="zh-CN" altLang="en-US" sz="2000" dirty="0">
              <a:latin typeface="Times New Roman" panose="02020603050405020304" pitchFamily="18" charset="0"/>
              <a:cs typeface="Times New Roman" panose="02020603050405020304" pitchFamily="18" charset="0"/>
            </a:endParaRPr>
          </a:p>
          <a:p>
            <a:pPr eaLnBrk="1" hangingPunct="1">
              <a:lnSpc>
                <a:spcPct val="100000"/>
              </a:lnSpc>
              <a:spcBef>
                <a:spcPts val="1200"/>
              </a:spcBef>
            </a:pPr>
            <a:r>
              <a:rPr lang="zh-CN" altLang="en-US" sz="2400" dirty="0">
                <a:latin typeface="Times New Roman" panose="02020603050405020304" pitchFamily="18" charset="0"/>
                <a:cs typeface="Times New Roman" panose="02020603050405020304" pitchFamily="18" charset="0"/>
                <a:sym typeface="+mn-ea"/>
              </a:rPr>
              <a:t>冲突</a:t>
            </a:r>
            <a:r>
              <a:rPr lang="en-US" altLang="zh-CN" sz="2400" dirty="0">
                <a:latin typeface="Times New Roman" panose="02020603050405020304" pitchFamily="18" charset="0"/>
                <a:cs typeface="Times New Roman" panose="02020603050405020304" pitchFamily="18" charset="0"/>
                <a:sym typeface="+mn-ea"/>
              </a:rPr>
              <a:t>1</a:t>
            </a:r>
            <a:r>
              <a:rPr lang="zh-CN" altLang="en-US" sz="2400" dirty="0">
                <a:latin typeface="Times New Roman" panose="02020603050405020304" pitchFamily="18" charset="0"/>
                <a:cs typeface="Times New Roman" panose="02020603050405020304" pitchFamily="18" charset="0"/>
                <a:sym typeface="+mn-ea"/>
              </a:rPr>
              <a:t>的概率比较小，</a:t>
            </a:r>
            <a:r>
              <a:rPr lang="zh-CN" altLang="en-US" sz="2400" dirty="0">
                <a:latin typeface="Times New Roman" panose="02020603050405020304" pitchFamily="18" charset="0"/>
                <a:cs typeface="Times New Roman" panose="02020603050405020304" pitchFamily="18" charset="0"/>
                <a:sym typeface="+mn-ea"/>
              </a:rPr>
              <a:t>冲突</a:t>
            </a:r>
            <a:r>
              <a:rPr lang="en-US" altLang="zh-CN" sz="2400" dirty="0">
                <a:latin typeface="Times New Roman" panose="02020603050405020304" pitchFamily="18" charset="0"/>
                <a:cs typeface="Times New Roman" panose="02020603050405020304" pitchFamily="18" charset="0"/>
                <a:sym typeface="+mn-ea"/>
              </a:rPr>
              <a:t>2</a:t>
            </a:r>
            <a:r>
              <a:rPr lang="zh-CN" altLang="en-US" sz="2400" dirty="0">
                <a:latin typeface="Times New Roman" panose="02020603050405020304" pitchFamily="18" charset="0"/>
                <a:cs typeface="Times New Roman" panose="02020603050405020304" pitchFamily="18" charset="0"/>
                <a:sym typeface="+mn-ea"/>
              </a:rPr>
              <a:t>的概率比较大</a:t>
            </a:r>
            <a:endParaRPr lang="zh-CN" altLang="en-US" sz="2400" dirty="0">
              <a:latin typeface="Times New Roman" panose="02020603050405020304" pitchFamily="18" charset="0"/>
              <a:cs typeface="Times New Roman" panose="02020603050405020304" pitchFamily="18" charset="0"/>
            </a:endParaRPr>
          </a:p>
          <a:p>
            <a:pPr lvl="1" eaLnBrk="1" hangingPunct="1">
              <a:lnSpc>
                <a:spcPct val="100000"/>
              </a:lnSpc>
              <a:spcBef>
                <a:spcPts val="600"/>
              </a:spcBef>
            </a:pPr>
            <a:r>
              <a:rPr lang="zh-CN" altLang="en-US" sz="2000" dirty="0">
                <a:latin typeface="Times New Roman" panose="02020603050405020304" pitchFamily="18" charset="0"/>
                <a:cs typeface="Times New Roman" panose="02020603050405020304" pitchFamily="18" charset="0"/>
                <a:sym typeface="+mn-ea"/>
              </a:rPr>
              <a:t>程序在大多数情况下是顺序执行的</a:t>
            </a:r>
            <a:endParaRPr lang="zh-CN" altLang="en-US" sz="2000" dirty="0">
              <a:latin typeface="Times New Roman" panose="02020603050405020304" pitchFamily="18" charset="0"/>
              <a:cs typeface="Times New Roman" panose="02020603050405020304" pitchFamily="18" charset="0"/>
              <a:sym typeface="+mn-ea"/>
            </a:endParaRPr>
          </a:p>
          <a:p>
            <a:pPr lvl="1" algn="l" eaLnBrk="1" hangingPunct="1">
              <a:lnSpc>
                <a:spcPct val="100000"/>
              </a:lnSpc>
              <a:spcBef>
                <a:spcPts val="600"/>
              </a:spcBef>
              <a:buSzTx/>
            </a:pPr>
            <a:r>
              <a:rPr lang="zh-CN" altLang="en-US" sz="2000" dirty="0">
                <a:latin typeface="Times New Roman" panose="02020603050405020304" pitchFamily="18" charset="0"/>
                <a:cs typeface="Times New Roman" panose="02020603050405020304" pitchFamily="18" charset="0"/>
                <a:sym typeface="+mn-ea"/>
              </a:rPr>
              <a:t>操作数的随机性比程序要大</a:t>
            </a:r>
            <a:endParaRPr lang="zh-CN" altLang="en-US" sz="2000" dirty="0">
              <a:latin typeface="Times New Roman" panose="02020603050405020304" pitchFamily="18" charset="0"/>
              <a:cs typeface="Times New Roman" panose="02020603050405020304" pitchFamily="18" charset="0"/>
            </a:endParaRPr>
          </a:p>
          <a:p>
            <a:pPr eaLnBrk="1" hangingPunct="1">
              <a:lnSpc>
                <a:spcPct val="100000"/>
              </a:lnSpc>
              <a:spcBef>
                <a:spcPts val="1200"/>
              </a:spcBef>
            </a:pPr>
            <a:r>
              <a:rPr lang="zh-CN" altLang="en-US" sz="2400" dirty="0">
                <a:latin typeface="Times New Roman" panose="02020603050405020304" pitchFamily="18" charset="0"/>
                <a:cs typeface="Times New Roman" panose="02020603050405020304" pitchFamily="18" charset="0"/>
                <a:sym typeface="+mn-ea"/>
              </a:rPr>
              <a:t>第</a:t>
            </a:r>
            <a:r>
              <a:rPr lang="en-US" altLang="zh-CN" sz="2400" dirty="0">
                <a:latin typeface="Times New Roman" panose="02020603050405020304" pitchFamily="18" charset="0"/>
                <a:cs typeface="Times New Roman" panose="02020603050405020304" pitchFamily="18" charset="0"/>
                <a:sym typeface="+mn-ea"/>
              </a:rPr>
              <a:t>3</a:t>
            </a:r>
            <a:r>
              <a:rPr lang="zh-CN" altLang="en-US" sz="2400" dirty="0">
                <a:latin typeface="Times New Roman" panose="02020603050405020304" pitchFamily="18" charset="0"/>
                <a:cs typeface="Times New Roman" panose="02020603050405020304" pitchFamily="18" charset="0"/>
                <a:sym typeface="+mn-ea"/>
              </a:rPr>
              <a:t>、</a:t>
            </a:r>
            <a:r>
              <a:rPr lang="en-US" altLang="zh-CN" sz="2400" dirty="0">
                <a:latin typeface="Times New Roman" panose="02020603050405020304" pitchFamily="18" charset="0"/>
                <a:cs typeface="Times New Roman" panose="02020603050405020304" pitchFamily="18" charset="0"/>
                <a:sym typeface="+mn-ea"/>
              </a:rPr>
              <a:t>4</a:t>
            </a:r>
            <a:r>
              <a:rPr lang="zh-CN" altLang="en-US" sz="2400" dirty="0">
                <a:latin typeface="Times New Roman" panose="02020603050405020304" pitchFamily="18" charset="0"/>
                <a:cs typeface="Times New Roman" panose="02020603050405020304" pitchFamily="18" charset="0"/>
                <a:sym typeface="+mn-ea"/>
              </a:rPr>
              <a:t>种冲突，需要专门进行控制。</a:t>
            </a:r>
            <a:endParaRPr lang="zh-CN" altLang="en-US" sz="2400" dirty="0">
              <a:latin typeface="Times New Roman" panose="02020603050405020304" pitchFamily="18" charset="0"/>
              <a:cs typeface="Times New Roman" panose="02020603050405020304" pitchFamily="18" charset="0"/>
            </a:endParaRPr>
          </a:p>
          <a:p>
            <a:pPr eaLnBrk="1" hangingPunct="1">
              <a:lnSpc>
                <a:spcPct val="100000"/>
              </a:lnSpc>
              <a:spcBef>
                <a:spcPts val="1200"/>
              </a:spcBef>
            </a:pPr>
            <a:r>
              <a:rPr lang="zh-CN" altLang="en-US" sz="2400" dirty="0">
                <a:latin typeface="Times New Roman" panose="02020603050405020304" pitchFamily="18" charset="0"/>
                <a:cs typeface="Times New Roman" panose="02020603050405020304" pitchFamily="18" charset="0"/>
                <a:sym typeface="+mn-ea"/>
              </a:rPr>
              <a:t>发生这些冲突的原因</a:t>
            </a:r>
            <a:endParaRPr lang="zh-CN" altLang="en-US" sz="2400" dirty="0">
              <a:latin typeface="Times New Roman" panose="02020603050405020304" pitchFamily="18" charset="0"/>
              <a:cs typeface="Times New Roman" panose="02020603050405020304" pitchFamily="18" charset="0"/>
            </a:endParaRPr>
          </a:p>
          <a:p>
            <a:pPr lvl="1" eaLnBrk="1" hangingPunct="1">
              <a:lnSpc>
                <a:spcPct val="100000"/>
              </a:lnSpc>
              <a:spcBef>
                <a:spcPts val="600"/>
              </a:spcBef>
            </a:pPr>
            <a:r>
              <a:rPr lang="zh-CN" altLang="en-US" sz="2000" dirty="0">
                <a:latin typeface="Times New Roman" panose="02020603050405020304" pitchFamily="18" charset="0"/>
                <a:cs typeface="Times New Roman" panose="02020603050405020304" pitchFamily="18" charset="0"/>
                <a:sym typeface="+mn-ea"/>
              </a:rPr>
              <a:t>从存储器本身看，地址寄存器和控制逻辑只有一套</a:t>
            </a:r>
            <a:endParaRPr lang="zh-CN" altLang="en-US" sz="2000" dirty="0">
              <a:latin typeface="Times New Roman" panose="02020603050405020304" pitchFamily="18" charset="0"/>
              <a:cs typeface="Times New Roman" panose="02020603050405020304" pitchFamily="18" charset="0"/>
            </a:endParaRPr>
          </a:p>
          <a:p>
            <a:pPr lvl="1" eaLnBrk="1" hangingPunct="1">
              <a:lnSpc>
                <a:spcPct val="100000"/>
              </a:lnSpc>
              <a:spcBef>
                <a:spcPts val="600"/>
              </a:spcBef>
            </a:pPr>
            <a:r>
              <a:rPr lang="zh-CN" altLang="en-US" sz="2000" dirty="0">
                <a:latin typeface="Times New Roman" panose="02020603050405020304" pitchFamily="18" charset="0"/>
                <a:cs typeface="Times New Roman" panose="02020603050405020304" pitchFamily="18" charset="0"/>
                <a:sym typeface="+mn-ea"/>
              </a:rPr>
              <a:t>如有</a:t>
            </a:r>
            <a:r>
              <a:rPr lang="en-US" altLang="zh-CN" sz="2000" dirty="0">
                <a:latin typeface="Times New Roman" panose="02020603050405020304" pitchFamily="18" charset="0"/>
                <a:cs typeface="Times New Roman" panose="02020603050405020304" pitchFamily="18" charset="0"/>
                <a:sym typeface="+mn-ea"/>
              </a:rPr>
              <a:t>n</a:t>
            </a:r>
            <a:r>
              <a:rPr lang="zh-CN" altLang="en-US" sz="2000" dirty="0">
                <a:latin typeface="Times New Roman" panose="02020603050405020304" pitchFamily="18" charset="0"/>
                <a:cs typeface="Times New Roman" panose="02020603050405020304" pitchFamily="18" charset="0"/>
                <a:sym typeface="+mn-ea"/>
              </a:rPr>
              <a:t>套，可解决冲突</a:t>
            </a:r>
            <a:r>
              <a:rPr lang="en-US" altLang="zh-CN" sz="2000" dirty="0">
                <a:latin typeface="Times New Roman" panose="02020603050405020304" pitchFamily="18" charset="0"/>
                <a:cs typeface="Times New Roman" panose="02020603050405020304" pitchFamily="18" charset="0"/>
                <a:sym typeface="+mn-ea"/>
              </a:rPr>
              <a:t>3</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4</a:t>
            </a:r>
            <a:r>
              <a:rPr lang="zh-CN" altLang="en-US" sz="2000" dirty="0">
                <a:latin typeface="Times New Roman" panose="02020603050405020304" pitchFamily="18" charset="0"/>
                <a:cs typeface="Times New Roman" panose="02020603050405020304" pitchFamily="18" charset="0"/>
                <a:sym typeface="+mn-ea"/>
              </a:rPr>
              <a:t>，冲突</a:t>
            </a:r>
            <a:r>
              <a:rPr lang="en-US" altLang="zh-CN" sz="2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cs typeface="Times New Roman" panose="02020603050405020304" pitchFamily="18" charset="0"/>
                <a:sym typeface="+mn-ea"/>
              </a:rPr>
              <a:t>也会有所缓解</a:t>
            </a:r>
            <a:endParaRPr lang="zh-CN" altLang="en-US" sz="2400" dirty="0">
              <a:solidFill>
                <a:schemeClr val="tx2"/>
              </a:solidFill>
              <a:latin typeface="Times New Roman" panose="02020603050405020304" pitchFamily="18" charset="0"/>
              <a:cs typeface="Times New Roman" panose="02020603050405020304" pitchFamily="18" charset="0"/>
            </a:endParaRPr>
          </a:p>
          <a:p>
            <a:pPr lvl="1" eaLnBrk="1" hangingPunct="1">
              <a:lnSpc>
                <a:spcPct val="100000"/>
              </a:lnSpc>
              <a:spcBef>
                <a:spcPts val="1200"/>
              </a:spcBef>
            </a:pPr>
            <a:endParaRPr lang="zh-CN" sz="2400" dirty="0">
              <a:latin typeface="Times New Roman" panose="02020603050405020304" pitchFamily="18" charset="0"/>
              <a:cs typeface="Times New Roman" panose="02020603050405020304" pitchFamily="18" charset="0"/>
              <a:sym typeface="+mn-ea"/>
            </a:endParaRPr>
          </a:p>
          <a:p>
            <a:pPr lvl="1" eaLnBrk="1" hangingPunct="1">
              <a:spcBef>
                <a:spcPts val="1200"/>
              </a:spcBef>
            </a:pPr>
            <a:endParaRPr lang="zh-CN" altLang="en-US" sz="2055"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3.1.4.2 交叉访问存储器</a:t>
            </a:r>
            <a:endPar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Rectangle 3"/>
          <p:cNvSpPr>
            <a:spLocks noGrp="1"/>
          </p:cNvSpPr>
          <p:nvPr>
            <p:custDataLst>
              <p:tags r:id="rId1"/>
            </p:custDataLst>
          </p:nvPr>
        </p:nvSpPr>
        <p:spPr>
          <a:xfrm>
            <a:off x="361950" y="1341120"/>
            <a:ext cx="8420100" cy="4533265"/>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eaLnBrk="1" hangingPunct="1">
              <a:spcBef>
                <a:spcPts val="1200"/>
              </a:spcBef>
            </a:pPr>
            <a:r>
              <a:rPr lang="zh-CN" altLang="en-US" sz="2400" dirty="0">
                <a:sym typeface="+mn-ea"/>
              </a:rPr>
              <a:t>高位交叉访问存储器</a:t>
            </a:r>
            <a:endParaRPr lang="zh-CN" altLang="en-US" sz="2400" dirty="0"/>
          </a:p>
          <a:p>
            <a:pPr eaLnBrk="1" hangingPunct="1">
              <a:spcBef>
                <a:spcPts val="1200"/>
              </a:spcBef>
            </a:pPr>
            <a:r>
              <a:rPr lang="zh-CN" altLang="en-US" sz="2400" dirty="0">
                <a:sym typeface="+mn-ea"/>
              </a:rPr>
              <a:t>低位交叉访问存储器</a:t>
            </a:r>
            <a:endParaRPr lang="zh-CN" altLang="en-US" sz="2400" dirty="0"/>
          </a:p>
          <a:p>
            <a:pPr eaLnBrk="1" hangingPunct="1">
              <a:lnSpc>
                <a:spcPct val="90000"/>
              </a:lnSpc>
              <a:spcBef>
                <a:spcPts val="1200"/>
              </a:spcBef>
            </a:pPr>
            <a:endParaRPr lang="zh-CN" altLang="en-US" sz="2400" dirty="0">
              <a:solidFill>
                <a:schemeClr val="tx2"/>
              </a:solidFill>
              <a:latin typeface="Times New Roman" panose="02020603050405020304" pitchFamily="18" charset="0"/>
              <a:cs typeface="Times New Roman" panose="02020603050405020304" pitchFamily="18" charset="0"/>
            </a:endParaRPr>
          </a:p>
          <a:p>
            <a:pPr lvl="1" eaLnBrk="1" hangingPunct="1">
              <a:spcBef>
                <a:spcPts val="1200"/>
              </a:spcBef>
            </a:pPr>
            <a:endParaRPr lang="zh-CN" sz="2400" dirty="0">
              <a:latin typeface="Times New Roman" panose="02020603050405020304" pitchFamily="18" charset="0"/>
              <a:cs typeface="Times New Roman" panose="02020603050405020304" pitchFamily="18" charset="0"/>
              <a:sym typeface="+mn-ea"/>
            </a:endParaRPr>
          </a:p>
          <a:p>
            <a:pPr lvl="1" eaLnBrk="1" hangingPunct="1">
              <a:spcBef>
                <a:spcPts val="1200"/>
              </a:spcBef>
            </a:pPr>
            <a:endParaRPr lang="zh-CN" altLang="en-US" sz="2055"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高位交叉访问存储器</a:t>
            </a:r>
            <a:endPar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Rectangle 3"/>
          <p:cNvSpPr>
            <a:spLocks noGrp="1"/>
          </p:cNvSpPr>
          <p:nvPr>
            <p:custDataLst>
              <p:tags r:id="rId1"/>
            </p:custDataLst>
          </p:nvPr>
        </p:nvSpPr>
        <p:spPr>
          <a:xfrm>
            <a:off x="361950" y="1341120"/>
            <a:ext cx="8420100" cy="4533265"/>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eaLnBrk="1" hangingPunct="1"/>
            <a:r>
              <a:rPr lang="zh-CN" altLang="en-US" sz="2400" dirty="0">
                <a:solidFill>
                  <a:schemeClr val="tx2"/>
                </a:solidFill>
                <a:latin typeface="Times New Roman" panose="02020603050405020304" pitchFamily="18" charset="0"/>
                <a:cs typeface="Times New Roman" panose="02020603050405020304" pitchFamily="18" charset="0"/>
                <a:sym typeface="+mn-ea"/>
              </a:rPr>
              <a:t>主要目的：</a:t>
            </a:r>
            <a:r>
              <a:rPr lang="zh-CN" altLang="en-US" sz="2400" dirty="0">
                <a:latin typeface="Times New Roman" panose="02020603050405020304" pitchFamily="18" charset="0"/>
                <a:cs typeface="Times New Roman" panose="02020603050405020304" pitchFamily="18" charset="0"/>
                <a:sym typeface="+mn-ea"/>
              </a:rPr>
              <a:t>扩大存储器容量</a:t>
            </a:r>
            <a:endParaRPr lang="zh-CN" altLang="en-US" sz="2400" dirty="0">
              <a:latin typeface="Times New Roman" panose="02020603050405020304" pitchFamily="18" charset="0"/>
              <a:cs typeface="Times New Roman" panose="02020603050405020304" pitchFamily="18" charset="0"/>
            </a:endParaRPr>
          </a:p>
          <a:p>
            <a:pPr eaLnBrk="1" hangingPunct="1"/>
            <a:r>
              <a:rPr lang="zh-CN" altLang="en-US" sz="2400" dirty="0">
                <a:solidFill>
                  <a:schemeClr val="tx2"/>
                </a:solidFill>
                <a:latin typeface="Times New Roman" panose="02020603050405020304" pitchFamily="18" charset="0"/>
                <a:cs typeface="Times New Roman" panose="02020603050405020304" pitchFamily="18" charset="0"/>
                <a:sym typeface="+mn-ea"/>
              </a:rPr>
              <a:t>实现方法：</a:t>
            </a:r>
            <a:r>
              <a:rPr lang="zh-CN" altLang="en-US" sz="2400" dirty="0">
                <a:latin typeface="Times New Roman" panose="02020603050405020304" pitchFamily="18" charset="0"/>
                <a:cs typeface="Times New Roman" panose="02020603050405020304" pitchFamily="18" charset="0"/>
                <a:sym typeface="+mn-ea"/>
              </a:rPr>
              <a:t>用地址码的高位区分存储体号</a:t>
            </a:r>
            <a:endParaRPr lang="zh-CN" altLang="en-US" sz="2400" dirty="0">
              <a:latin typeface="Times New Roman" panose="02020603050405020304" pitchFamily="18" charset="0"/>
              <a:cs typeface="Times New Roman" panose="02020603050405020304" pitchFamily="18" charset="0"/>
            </a:endParaRPr>
          </a:p>
          <a:p>
            <a:pPr eaLnBrk="1" hangingPunct="1"/>
            <a:r>
              <a:rPr lang="zh-CN" altLang="en-US" sz="2400" dirty="0">
                <a:solidFill>
                  <a:schemeClr val="tx2"/>
                </a:solidFill>
                <a:latin typeface="Times New Roman" panose="02020603050405020304" pitchFamily="18" charset="0"/>
                <a:cs typeface="Times New Roman" panose="02020603050405020304" pitchFamily="18" charset="0"/>
                <a:sym typeface="+mn-ea"/>
              </a:rPr>
              <a:t>参数计算方法</a:t>
            </a:r>
            <a:endParaRPr lang="zh-CN" altLang="en-US" sz="2400" dirty="0">
              <a:latin typeface="Times New Roman" panose="02020603050405020304" pitchFamily="18" charset="0"/>
              <a:cs typeface="Times New Roman" panose="02020603050405020304" pitchFamily="18" charset="0"/>
            </a:endParaRPr>
          </a:p>
          <a:p>
            <a:pPr lvl="1" eaLnBrk="1" hangingPunct="1"/>
            <a:r>
              <a:rPr lang="en-US" altLang="zh-CN" sz="2400" dirty="0">
                <a:latin typeface="Times New Roman" panose="02020603050405020304" pitchFamily="18" charset="0"/>
                <a:cs typeface="Times New Roman" panose="02020603050405020304" pitchFamily="18" charset="0"/>
                <a:sym typeface="+mn-ea"/>
              </a:rPr>
              <a:t>m</a:t>
            </a:r>
            <a:r>
              <a:rPr lang="zh-CN" altLang="en-US" sz="2400" dirty="0">
                <a:latin typeface="Times New Roman" panose="02020603050405020304" pitchFamily="18" charset="0"/>
                <a:cs typeface="Times New Roman" panose="02020603050405020304" pitchFamily="18" charset="0"/>
                <a:sym typeface="+mn-ea"/>
              </a:rPr>
              <a:t>：每个存储体的容量</a:t>
            </a:r>
            <a:endParaRPr lang="zh-CN" altLang="en-US" sz="2400" dirty="0">
              <a:latin typeface="Times New Roman" panose="02020603050405020304" pitchFamily="18" charset="0"/>
              <a:cs typeface="Times New Roman" panose="02020603050405020304" pitchFamily="18" charset="0"/>
            </a:endParaRPr>
          </a:p>
          <a:p>
            <a:pPr lvl="1" eaLnBrk="1" hangingPunct="1"/>
            <a:r>
              <a:rPr lang="en-US" altLang="zh-CN" sz="2400" dirty="0">
                <a:latin typeface="Times New Roman" panose="02020603050405020304" pitchFamily="18" charset="0"/>
                <a:cs typeface="Times New Roman" panose="02020603050405020304" pitchFamily="18" charset="0"/>
                <a:sym typeface="+mn-ea"/>
              </a:rPr>
              <a:t>n</a:t>
            </a:r>
            <a:r>
              <a:rPr lang="zh-CN" altLang="en-US" sz="2400" dirty="0">
                <a:latin typeface="Times New Roman" panose="02020603050405020304" pitchFamily="18" charset="0"/>
                <a:cs typeface="Times New Roman" panose="02020603050405020304" pitchFamily="18" charset="0"/>
                <a:sym typeface="+mn-ea"/>
              </a:rPr>
              <a:t>：总共的存储体个数</a:t>
            </a:r>
            <a:endParaRPr lang="zh-CN" altLang="en-US" sz="2400" dirty="0">
              <a:latin typeface="Times New Roman" panose="02020603050405020304" pitchFamily="18" charset="0"/>
              <a:cs typeface="Times New Roman" panose="02020603050405020304" pitchFamily="18" charset="0"/>
            </a:endParaRPr>
          </a:p>
          <a:p>
            <a:pPr lvl="1" eaLnBrk="1" hangingPunct="1"/>
            <a:r>
              <a:rPr lang="en-US" altLang="zh-CN" sz="2400" dirty="0">
                <a:latin typeface="Times New Roman" panose="02020603050405020304" pitchFamily="18" charset="0"/>
                <a:cs typeface="Times New Roman" panose="02020603050405020304" pitchFamily="18" charset="0"/>
                <a:sym typeface="+mn-ea"/>
              </a:rPr>
              <a:t>j</a:t>
            </a:r>
            <a:r>
              <a:rPr lang="zh-CN" altLang="en-US" sz="2400" dirty="0">
                <a:latin typeface="Times New Roman" panose="02020603050405020304" pitchFamily="18" charset="0"/>
                <a:cs typeface="Times New Roman" panose="02020603050405020304" pitchFamily="18" charset="0"/>
                <a:sym typeface="+mn-ea"/>
              </a:rPr>
              <a:t>：存储体的体内地址，</a:t>
            </a:r>
            <a:r>
              <a:rPr lang="en-US" altLang="zh-CN" sz="2400" dirty="0">
                <a:latin typeface="Times New Roman" panose="02020603050405020304" pitchFamily="18" charset="0"/>
                <a:cs typeface="Times New Roman" panose="02020603050405020304" pitchFamily="18" charset="0"/>
                <a:sym typeface="+mn-ea"/>
              </a:rPr>
              <a:t>j=0, 1, 2, …, m-1</a:t>
            </a:r>
            <a:endParaRPr lang="en-US" altLang="zh-CN" sz="2400" dirty="0">
              <a:latin typeface="Times New Roman" panose="02020603050405020304" pitchFamily="18" charset="0"/>
              <a:cs typeface="Times New Roman" panose="02020603050405020304" pitchFamily="18" charset="0"/>
            </a:endParaRPr>
          </a:p>
          <a:p>
            <a:pPr lvl="1" eaLnBrk="1" hangingPunct="1"/>
            <a:r>
              <a:rPr lang="en-US" altLang="zh-CN" sz="2400" dirty="0">
                <a:latin typeface="Times New Roman" panose="02020603050405020304" pitchFamily="18" charset="0"/>
                <a:cs typeface="Times New Roman" panose="02020603050405020304" pitchFamily="18" charset="0"/>
                <a:sym typeface="+mn-ea"/>
              </a:rPr>
              <a:t>k</a:t>
            </a:r>
            <a:r>
              <a:rPr lang="zh-CN" altLang="en-US" sz="2400" dirty="0">
                <a:latin typeface="Times New Roman" panose="02020603050405020304" pitchFamily="18" charset="0"/>
                <a:cs typeface="Times New Roman" panose="02020603050405020304" pitchFamily="18" charset="0"/>
                <a:sym typeface="+mn-ea"/>
              </a:rPr>
              <a:t>：存储体的体号，</a:t>
            </a:r>
            <a:r>
              <a:rPr lang="en-US" altLang="zh-CN" sz="2400" dirty="0">
                <a:latin typeface="Times New Roman" panose="02020603050405020304" pitchFamily="18" charset="0"/>
                <a:cs typeface="Times New Roman" panose="02020603050405020304" pitchFamily="18" charset="0"/>
                <a:sym typeface="+mn-ea"/>
              </a:rPr>
              <a:t>k=0, 1, 2, …, n-1</a:t>
            </a:r>
            <a:endParaRPr lang="en-US" altLang="zh-CN" sz="2400" dirty="0">
              <a:latin typeface="Times New Roman" panose="02020603050405020304" pitchFamily="18" charset="0"/>
              <a:cs typeface="Times New Roman" panose="02020603050405020304" pitchFamily="18" charset="0"/>
            </a:endParaRPr>
          </a:p>
          <a:p>
            <a:pPr lvl="1" eaLnBrk="1" hangingPunct="1"/>
            <a:r>
              <a:rPr lang="zh-CN" altLang="en-US" sz="2400" dirty="0">
                <a:solidFill>
                  <a:srgbClr val="FF0000"/>
                </a:solidFill>
                <a:latin typeface="Times New Roman" panose="02020603050405020304" pitchFamily="18" charset="0"/>
                <a:cs typeface="Times New Roman" panose="02020603050405020304" pitchFamily="18" charset="0"/>
                <a:sym typeface="+mn-ea"/>
              </a:rPr>
              <a:t>存储器的地址</a:t>
            </a:r>
            <a:r>
              <a:rPr lang="zh-CN" altLang="en-US" sz="2400" dirty="0">
                <a:latin typeface="Times New Roman" panose="02020603050405020304" pitchFamily="18" charset="0"/>
                <a:cs typeface="Times New Roman" panose="02020603050405020304" pitchFamily="18" charset="0"/>
                <a:sym typeface="+mn-ea"/>
              </a:rPr>
              <a:t>：</a:t>
            </a:r>
            <a:r>
              <a:rPr lang="en-US" altLang="zh-CN" sz="2400" dirty="0">
                <a:latin typeface="Times New Roman" panose="02020603050405020304" pitchFamily="18" charset="0"/>
                <a:cs typeface="Times New Roman" panose="02020603050405020304" pitchFamily="18" charset="0"/>
                <a:sym typeface="+mn-ea"/>
              </a:rPr>
              <a:t>A=m×k+j</a:t>
            </a:r>
            <a:endParaRPr lang="en-US" altLang="zh-CN" sz="2400" dirty="0">
              <a:latin typeface="Times New Roman" panose="02020603050405020304" pitchFamily="18" charset="0"/>
              <a:cs typeface="Times New Roman" panose="02020603050405020304" pitchFamily="18" charset="0"/>
            </a:endParaRPr>
          </a:p>
          <a:p>
            <a:pPr lvl="1" eaLnBrk="1" hangingPunct="1"/>
            <a:r>
              <a:rPr lang="zh-CN" altLang="en-US" sz="2400" dirty="0">
                <a:latin typeface="Times New Roman" panose="02020603050405020304" pitchFamily="18" charset="0"/>
                <a:cs typeface="Times New Roman" panose="02020603050405020304" pitchFamily="18" charset="0"/>
                <a:sym typeface="+mn-ea"/>
              </a:rPr>
              <a:t>存储器的</a:t>
            </a:r>
            <a:r>
              <a:rPr lang="zh-CN" altLang="en-US" sz="2400" dirty="0">
                <a:solidFill>
                  <a:srgbClr val="FF0000"/>
                </a:solidFill>
                <a:latin typeface="Times New Roman" panose="02020603050405020304" pitchFamily="18" charset="0"/>
                <a:cs typeface="Times New Roman" panose="02020603050405020304" pitchFamily="18" charset="0"/>
                <a:sym typeface="+mn-ea"/>
              </a:rPr>
              <a:t>体内地址</a:t>
            </a:r>
            <a:r>
              <a:rPr lang="zh-CN" altLang="en-US" sz="2400" dirty="0">
                <a:latin typeface="Times New Roman" panose="02020603050405020304" pitchFamily="18" charset="0"/>
                <a:cs typeface="Times New Roman" panose="02020603050405020304" pitchFamily="18" charset="0"/>
                <a:sym typeface="+mn-ea"/>
              </a:rPr>
              <a:t>：</a:t>
            </a:r>
            <a:r>
              <a:rPr lang="en-US" altLang="zh-CN" sz="2400" dirty="0">
                <a:latin typeface="Times New Roman" panose="02020603050405020304" pitchFamily="18" charset="0"/>
                <a:cs typeface="Times New Roman" panose="02020603050405020304" pitchFamily="18" charset="0"/>
                <a:sym typeface="+mn-ea"/>
              </a:rPr>
              <a:t>A</a:t>
            </a:r>
            <a:r>
              <a:rPr lang="en-US" altLang="zh-CN" sz="2400" baseline="-25000" dirty="0">
                <a:latin typeface="Times New Roman" panose="02020603050405020304" pitchFamily="18" charset="0"/>
                <a:cs typeface="Times New Roman" panose="02020603050405020304" pitchFamily="18" charset="0"/>
                <a:sym typeface="+mn-ea"/>
              </a:rPr>
              <a:t>j</a:t>
            </a:r>
            <a:r>
              <a:rPr lang="en-US" altLang="zh-CN" sz="2400" dirty="0">
                <a:latin typeface="Times New Roman" panose="02020603050405020304" pitchFamily="18" charset="0"/>
                <a:cs typeface="Times New Roman" panose="02020603050405020304" pitchFamily="18" charset="0"/>
                <a:sym typeface="+mn-ea"/>
              </a:rPr>
              <a:t>=A mod m</a:t>
            </a:r>
            <a:r>
              <a:rPr lang="zh-CN" altLang="en-US" sz="2400" dirty="0">
                <a:latin typeface="Times New Roman" panose="02020603050405020304" pitchFamily="18" charset="0"/>
                <a:cs typeface="Times New Roman" panose="02020603050405020304" pitchFamily="18" charset="0"/>
                <a:sym typeface="+mn-ea"/>
              </a:rPr>
              <a:t>（低位）</a:t>
            </a:r>
            <a:endParaRPr lang="en-US" altLang="zh-CN" sz="2400" dirty="0">
              <a:latin typeface="Times New Roman" panose="02020603050405020304" pitchFamily="18" charset="0"/>
              <a:cs typeface="Times New Roman" panose="02020603050405020304" pitchFamily="18" charset="0"/>
            </a:endParaRPr>
          </a:p>
          <a:p>
            <a:pPr lvl="1" eaLnBrk="1" hangingPunct="1"/>
            <a:r>
              <a:rPr lang="zh-CN" altLang="en-US" sz="2400" dirty="0">
                <a:latin typeface="Times New Roman" panose="02020603050405020304" pitchFamily="18" charset="0"/>
                <a:cs typeface="Times New Roman" panose="02020603050405020304" pitchFamily="18" charset="0"/>
                <a:sym typeface="+mn-ea"/>
              </a:rPr>
              <a:t>存储器的体号：  </a:t>
            </a:r>
            <a:r>
              <a:rPr lang="en-US" altLang="zh-CN" sz="2400" dirty="0">
                <a:latin typeface="Times New Roman" panose="02020603050405020304" pitchFamily="18" charset="0"/>
                <a:cs typeface="Times New Roman" panose="02020603050405020304" pitchFamily="18" charset="0"/>
                <a:sym typeface="+mn-ea"/>
              </a:rPr>
              <a:t>A</a:t>
            </a:r>
            <a:r>
              <a:rPr lang="en-US" altLang="zh-CN" sz="2400" baseline="-25000" dirty="0">
                <a:latin typeface="Times New Roman" panose="02020603050405020304" pitchFamily="18" charset="0"/>
                <a:cs typeface="Times New Roman" panose="02020603050405020304" pitchFamily="18" charset="0"/>
                <a:sym typeface="+mn-ea"/>
              </a:rPr>
              <a:t>k</a:t>
            </a:r>
            <a:r>
              <a:rPr lang="en-US" altLang="zh-CN" sz="2400" dirty="0">
                <a:latin typeface="Times New Roman" panose="02020603050405020304" pitchFamily="18" charset="0"/>
                <a:cs typeface="Times New Roman" panose="02020603050405020304" pitchFamily="18" charset="0"/>
                <a:sym typeface="+mn-ea"/>
              </a:rPr>
              <a:t>= </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cs typeface="Times New Roman" panose="02020603050405020304" pitchFamily="18" charset="0"/>
                <a:sym typeface="+mn-ea"/>
              </a:rPr>
              <a:t>A/m)</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dirty="0">
                <a:latin typeface="Times New Roman" panose="02020603050405020304" pitchFamily="18" charset="0"/>
                <a:cs typeface="Times New Roman" panose="02020603050405020304" pitchFamily="18" charset="0"/>
                <a:sym typeface="Symbol" panose="05050102010706020507" pitchFamily="18" charset="2"/>
              </a:rPr>
              <a:t>（高位）</a:t>
            </a:r>
            <a:endParaRPr lang="en-US" altLang="zh-CN" sz="2400" dirty="0">
              <a:latin typeface="Times New Roman" panose="02020603050405020304" pitchFamily="18" charset="0"/>
              <a:cs typeface="Times New Roman" panose="02020603050405020304" pitchFamily="18" charset="0"/>
              <a:sym typeface="Symbol" panose="05050102010706020507" pitchFamily="18" charset="2"/>
            </a:endParaRPr>
          </a:p>
          <a:p>
            <a:pPr eaLnBrk="1" hangingPunct="1">
              <a:lnSpc>
                <a:spcPct val="90000"/>
              </a:lnSpc>
              <a:spcBef>
                <a:spcPts val="1200"/>
              </a:spcBef>
            </a:pPr>
            <a:endParaRPr lang="zh-CN" altLang="en-US" sz="2400" dirty="0">
              <a:solidFill>
                <a:schemeClr val="tx2"/>
              </a:solidFill>
              <a:latin typeface="Times New Roman" panose="02020603050405020304" pitchFamily="18" charset="0"/>
              <a:cs typeface="Times New Roman" panose="02020603050405020304" pitchFamily="18" charset="0"/>
            </a:endParaRPr>
          </a:p>
          <a:p>
            <a:pPr lvl="1" eaLnBrk="1" hangingPunct="1">
              <a:spcBef>
                <a:spcPts val="1200"/>
              </a:spcBef>
            </a:pPr>
            <a:endParaRPr lang="zh-CN" sz="2400" dirty="0">
              <a:latin typeface="Times New Roman" panose="02020603050405020304" pitchFamily="18" charset="0"/>
              <a:cs typeface="Times New Roman" panose="02020603050405020304" pitchFamily="18" charset="0"/>
              <a:sym typeface="+mn-ea"/>
            </a:endParaRPr>
          </a:p>
          <a:p>
            <a:pPr lvl="1" eaLnBrk="1" hangingPunct="1">
              <a:spcBef>
                <a:spcPts val="1200"/>
              </a:spcBef>
            </a:pPr>
            <a:endParaRPr lang="zh-CN" altLang="en-US" sz="2055"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高位交叉访问存储器</a:t>
            </a:r>
            <a:endPar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图片 2"/>
          <p:cNvPicPr>
            <a:picLocks noChangeAspect="1"/>
          </p:cNvPicPr>
          <p:nvPr>
            <p:custDataLst>
              <p:tags r:id="rId1"/>
            </p:custDataLst>
          </p:nvPr>
        </p:nvPicPr>
        <p:blipFill>
          <a:blip r:embed="rId2"/>
          <a:stretch>
            <a:fillRect/>
          </a:stretch>
        </p:blipFill>
        <p:spPr>
          <a:xfrm>
            <a:off x="899795" y="1700530"/>
            <a:ext cx="7499350" cy="41656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高位交叉访问存储器</a:t>
            </a:r>
            <a:endPar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Rectangle 3"/>
          <p:cNvSpPr>
            <a:spLocks noGrp="1"/>
          </p:cNvSpPr>
          <p:nvPr>
            <p:custDataLst>
              <p:tags r:id="rId1"/>
            </p:custDataLst>
          </p:nvPr>
        </p:nvSpPr>
        <p:spPr>
          <a:xfrm>
            <a:off x="361950" y="1341120"/>
            <a:ext cx="8420100" cy="4533265"/>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eaLnBrk="1" hangingPunct="1">
              <a:lnSpc>
                <a:spcPct val="100000"/>
              </a:lnSpc>
              <a:spcBef>
                <a:spcPts val="1200"/>
              </a:spcBef>
            </a:pPr>
            <a:r>
              <a:rPr lang="zh-CN" altLang="en-US" sz="2400" dirty="0">
                <a:sym typeface="+mn-ea"/>
              </a:rPr>
              <a:t>模块化结构：</a:t>
            </a:r>
            <a:endParaRPr lang="zh-CN" altLang="en-US" sz="2400" dirty="0">
              <a:sym typeface="+mn-ea"/>
            </a:endParaRPr>
          </a:p>
          <a:p>
            <a:pPr lvl="1" eaLnBrk="1" hangingPunct="1">
              <a:lnSpc>
                <a:spcPct val="100000"/>
              </a:lnSpc>
              <a:spcBef>
                <a:spcPts val="1200"/>
              </a:spcBef>
            </a:pPr>
            <a:r>
              <a:rPr lang="zh-CN" altLang="en-US" sz="2000" dirty="0">
                <a:sym typeface="+mn-ea"/>
              </a:rPr>
              <a:t>一个存储体作为一个模块独立工作，有各自独立的部件</a:t>
            </a:r>
            <a:endParaRPr lang="zh-CN" altLang="en-US" sz="2000" dirty="0"/>
          </a:p>
          <a:p>
            <a:pPr lvl="1" eaLnBrk="1" hangingPunct="1">
              <a:lnSpc>
                <a:spcPct val="100000"/>
              </a:lnSpc>
              <a:spcBef>
                <a:spcPts val="1200"/>
              </a:spcBef>
            </a:pPr>
            <a:r>
              <a:rPr lang="zh-CN" altLang="en-US" sz="2000" dirty="0">
                <a:sym typeface="+mn-ea"/>
              </a:rPr>
              <a:t>包括：控制部件、地址寄存器、地址译码器、驱动</a:t>
            </a:r>
            <a:r>
              <a:rPr lang="en-US" altLang="zh-CN" sz="2000" dirty="0">
                <a:sym typeface="+mn-ea"/>
              </a:rPr>
              <a:t>/</a:t>
            </a:r>
            <a:r>
              <a:rPr lang="zh-CN" altLang="en-US" sz="2000" dirty="0">
                <a:sym typeface="+mn-ea"/>
              </a:rPr>
              <a:t>放大电路、读写控制电路、数据寄存器、校验及校正电路、高速缓冲存储部件</a:t>
            </a:r>
            <a:endParaRPr lang="zh-CN" altLang="en-US" sz="2000" dirty="0"/>
          </a:p>
          <a:p>
            <a:pPr eaLnBrk="1" hangingPunct="1">
              <a:lnSpc>
                <a:spcPct val="100000"/>
              </a:lnSpc>
              <a:spcBef>
                <a:spcPts val="1200"/>
              </a:spcBef>
            </a:pPr>
            <a:r>
              <a:rPr lang="zh-CN" altLang="en-US" sz="2400" dirty="0">
                <a:sym typeface="+mn-ea"/>
              </a:rPr>
              <a:t>并行</a:t>
            </a:r>
            <a:r>
              <a:rPr lang="zh-CN" altLang="en-US" sz="2400" dirty="0">
                <a:sym typeface="+mn-ea"/>
              </a:rPr>
              <a:t>特点：</a:t>
            </a:r>
            <a:endParaRPr lang="zh-CN" altLang="en-US" sz="2400" dirty="0">
              <a:sym typeface="+mn-ea"/>
            </a:endParaRPr>
          </a:p>
          <a:p>
            <a:pPr lvl="1" algn="l" eaLnBrk="1" hangingPunct="1">
              <a:lnSpc>
                <a:spcPct val="100000"/>
              </a:lnSpc>
              <a:spcBef>
                <a:spcPts val="1200"/>
              </a:spcBef>
              <a:buSzTx/>
            </a:pPr>
            <a:r>
              <a:rPr lang="zh-CN" altLang="en-US" sz="2000" dirty="0">
                <a:sym typeface="+mn-ea"/>
              </a:rPr>
              <a:t>大多数时候一个存储体忙碌，其余空闲</a:t>
            </a:r>
            <a:endParaRPr lang="zh-CN" altLang="en-US" sz="2000" dirty="0"/>
          </a:p>
          <a:p>
            <a:pPr lvl="1" algn="l" eaLnBrk="1" hangingPunct="1">
              <a:lnSpc>
                <a:spcPct val="100000"/>
              </a:lnSpc>
              <a:spcBef>
                <a:spcPts val="1200"/>
              </a:spcBef>
              <a:buSzTx/>
            </a:pPr>
            <a:r>
              <a:rPr lang="zh-CN" altLang="en-US" sz="2000" dirty="0">
                <a:sym typeface="+mn-ea"/>
              </a:rPr>
              <a:t>指令/数据跨越两个存储体时，才可能并行工作</a:t>
            </a:r>
            <a:endParaRPr lang="zh-CN" altLang="en-US" sz="2000" dirty="0"/>
          </a:p>
          <a:p>
            <a:pPr eaLnBrk="1" hangingPunct="1">
              <a:lnSpc>
                <a:spcPct val="100000"/>
              </a:lnSpc>
              <a:spcBef>
                <a:spcPts val="1200"/>
              </a:spcBef>
            </a:pPr>
            <a:r>
              <a:rPr lang="zh-CN" altLang="en-US" sz="2400" dirty="0">
                <a:sym typeface="+mn-ea"/>
              </a:rPr>
              <a:t>在单任务系统中：</a:t>
            </a:r>
            <a:endParaRPr lang="zh-CN" altLang="en-US" sz="2400" dirty="0">
              <a:sym typeface="+mn-ea"/>
            </a:endParaRPr>
          </a:p>
          <a:p>
            <a:pPr lvl="1" algn="l" eaLnBrk="1" hangingPunct="1">
              <a:lnSpc>
                <a:spcPct val="100000"/>
              </a:lnSpc>
              <a:spcBef>
                <a:spcPts val="1200"/>
              </a:spcBef>
              <a:buSzTx/>
            </a:pPr>
            <a:r>
              <a:rPr lang="zh-CN" altLang="en-US" sz="2000" dirty="0"/>
              <a:t>用来扩大存储器容量，而且</a:t>
            </a:r>
            <a:r>
              <a:rPr lang="zh-CN" altLang="en-US" sz="2000" dirty="0">
                <a:sym typeface="+mn-ea"/>
              </a:rPr>
              <a:t>，扩大存储容量非常方便</a:t>
            </a:r>
            <a:endParaRPr lang="zh-CN" altLang="en-US" sz="2000" dirty="0"/>
          </a:p>
          <a:p>
            <a:pPr eaLnBrk="1" hangingPunct="1">
              <a:lnSpc>
                <a:spcPct val="100000"/>
              </a:lnSpc>
              <a:spcBef>
                <a:spcPts val="1200"/>
              </a:spcBef>
            </a:pPr>
            <a:r>
              <a:rPr lang="zh-CN" altLang="en-US" sz="2400" dirty="0">
                <a:sym typeface="+mn-ea"/>
              </a:rPr>
              <a:t>在多任务或多用户系统中：</a:t>
            </a:r>
            <a:endParaRPr lang="zh-CN" altLang="en-US" sz="2400" dirty="0">
              <a:sym typeface="+mn-ea"/>
            </a:endParaRPr>
          </a:p>
          <a:p>
            <a:pPr lvl="1" algn="l" eaLnBrk="1" hangingPunct="1">
              <a:lnSpc>
                <a:spcPct val="100000"/>
              </a:lnSpc>
              <a:spcBef>
                <a:spcPts val="1200"/>
              </a:spcBef>
              <a:buSzTx/>
            </a:pPr>
            <a:r>
              <a:rPr lang="zh-CN" altLang="en-US" sz="2000" dirty="0">
                <a:sym typeface="+mn-ea"/>
              </a:rPr>
              <a:t>通过把不同的任务分配在不同的存储体中来提高存储器的访问速度</a:t>
            </a:r>
            <a:endParaRPr lang="zh-CN" altLang="en-US" sz="2000" dirty="0"/>
          </a:p>
          <a:p>
            <a:pPr eaLnBrk="1" hangingPunct="1">
              <a:lnSpc>
                <a:spcPct val="90000"/>
              </a:lnSpc>
              <a:spcBef>
                <a:spcPts val="1200"/>
              </a:spcBef>
            </a:pPr>
            <a:endParaRPr lang="zh-CN" altLang="en-US" sz="2400" dirty="0">
              <a:solidFill>
                <a:schemeClr val="tx2"/>
              </a:solidFill>
              <a:latin typeface="Times New Roman" panose="02020603050405020304" pitchFamily="18" charset="0"/>
              <a:cs typeface="Times New Roman" panose="02020603050405020304" pitchFamily="18" charset="0"/>
            </a:endParaRPr>
          </a:p>
          <a:p>
            <a:pPr lvl="1" eaLnBrk="1" hangingPunct="1">
              <a:spcBef>
                <a:spcPts val="1200"/>
              </a:spcBef>
            </a:pPr>
            <a:endParaRPr lang="zh-CN" sz="2400" dirty="0">
              <a:latin typeface="Times New Roman" panose="02020603050405020304" pitchFamily="18" charset="0"/>
              <a:cs typeface="Times New Roman" panose="02020603050405020304" pitchFamily="18" charset="0"/>
              <a:sym typeface="+mn-ea"/>
            </a:endParaRPr>
          </a:p>
          <a:p>
            <a:pPr lvl="1" eaLnBrk="1" hangingPunct="1">
              <a:spcBef>
                <a:spcPts val="1200"/>
              </a:spcBef>
            </a:pPr>
            <a:endParaRPr lang="zh-CN" altLang="en-US" sz="2055"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低位交叉访问存储器</a:t>
            </a:r>
            <a:endPar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Rectangle 3"/>
          <p:cNvSpPr>
            <a:spLocks noGrp="1"/>
          </p:cNvSpPr>
          <p:nvPr>
            <p:custDataLst>
              <p:tags r:id="rId1"/>
            </p:custDataLst>
          </p:nvPr>
        </p:nvSpPr>
        <p:spPr>
          <a:xfrm>
            <a:off x="361950" y="1341120"/>
            <a:ext cx="8420100" cy="4533265"/>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eaLnBrk="1" hangingPunct="1">
              <a:spcBef>
                <a:spcPts val="1200"/>
              </a:spcBef>
            </a:pPr>
            <a:r>
              <a:rPr lang="zh-CN" altLang="en-US" sz="2400" dirty="0">
                <a:solidFill>
                  <a:schemeClr val="tx2"/>
                </a:solidFill>
                <a:latin typeface="Times New Roman" panose="02020603050405020304" pitchFamily="18" charset="0"/>
                <a:cs typeface="Times New Roman" panose="02020603050405020304" pitchFamily="18" charset="0"/>
                <a:sym typeface="+mn-ea"/>
              </a:rPr>
              <a:t>主要目的：</a:t>
            </a:r>
            <a:r>
              <a:rPr lang="zh-CN" altLang="en-US" sz="2400" dirty="0">
                <a:latin typeface="Times New Roman" panose="02020603050405020304" pitchFamily="18" charset="0"/>
                <a:cs typeface="Times New Roman" panose="02020603050405020304" pitchFamily="18" charset="0"/>
                <a:sym typeface="+mn-ea"/>
              </a:rPr>
              <a:t>提高存储器访问速度</a:t>
            </a:r>
            <a:endParaRPr lang="zh-CN" altLang="en-US" sz="2400" dirty="0">
              <a:latin typeface="Times New Roman" panose="02020603050405020304" pitchFamily="18" charset="0"/>
              <a:cs typeface="Times New Roman" panose="02020603050405020304" pitchFamily="18" charset="0"/>
            </a:endParaRPr>
          </a:p>
          <a:p>
            <a:pPr eaLnBrk="1" hangingPunct="1">
              <a:spcBef>
                <a:spcPts val="1200"/>
              </a:spcBef>
            </a:pPr>
            <a:r>
              <a:rPr lang="zh-CN" altLang="en-US" sz="2400" dirty="0">
                <a:solidFill>
                  <a:schemeClr val="tx2"/>
                </a:solidFill>
                <a:latin typeface="Times New Roman" panose="02020603050405020304" pitchFamily="18" charset="0"/>
                <a:cs typeface="Times New Roman" panose="02020603050405020304" pitchFamily="18" charset="0"/>
                <a:sym typeface="+mn-ea"/>
              </a:rPr>
              <a:t>实现方法：</a:t>
            </a:r>
            <a:r>
              <a:rPr lang="zh-CN" altLang="en-US" sz="2400" dirty="0">
                <a:latin typeface="Times New Roman" panose="02020603050405020304" pitchFamily="18" charset="0"/>
                <a:cs typeface="Times New Roman" panose="02020603050405020304" pitchFamily="18" charset="0"/>
                <a:sym typeface="+mn-ea"/>
              </a:rPr>
              <a:t>用地址码的低位区分存储体号</a:t>
            </a:r>
            <a:endParaRPr lang="zh-CN" altLang="en-US" sz="2400" dirty="0">
              <a:latin typeface="Times New Roman" panose="02020603050405020304" pitchFamily="18" charset="0"/>
              <a:cs typeface="Times New Roman" panose="02020603050405020304" pitchFamily="18" charset="0"/>
            </a:endParaRPr>
          </a:p>
          <a:p>
            <a:pPr eaLnBrk="1" hangingPunct="1">
              <a:spcBef>
                <a:spcPts val="1200"/>
              </a:spcBef>
            </a:pPr>
            <a:r>
              <a:rPr lang="zh-CN" altLang="en-US" sz="2400" dirty="0">
                <a:solidFill>
                  <a:schemeClr val="tx2"/>
                </a:solidFill>
                <a:latin typeface="Times New Roman" panose="02020603050405020304" pitchFamily="18" charset="0"/>
                <a:cs typeface="Times New Roman" panose="02020603050405020304" pitchFamily="18" charset="0"/>
                <a:sym typeface="+mn-ea"/>
              </a:rPr>
              <a:t>参数计算方法</a:t>
            </a:r>
            <a:endParaRPr lang="zh-CN" altLang="en-US" sz="2400" dirty="0">
              <a:solidFill>
                <a:schemeClr val="tx2"/>
              </a:solidFill>
              <a:latin typeface="Times New Roman" panose="02020603050405020304" pitchFamily="18" charset="0"/>
              <a:cs typeface="Times New Roman" panose="02020603050405020304" pitchFamily="18" charset="0"/>
            </a:endParaRPr>
          </a:p>
          <a:p>
            <a:pPr lvl="1" eaLnBrk="1" hangingPunct="1"/>
            <a:r>
              <a:rPr lang="en-US" altLang="zh-CN" sz="2400" dirty="0">
                <a:latin typeface="Times New Roman" panose="02020603050405020304" pitchFamily="18" charset="0"/>
                <a:cs typeface="Times New Roman" panose="02020603050405020304" pitchFamily="18" charset="0"/>
                <a:sym typeface="+mn-ea"/>
              </a:rPr>
              <a:t>m</a:t>
            </a:r>
            <a:r>
              <a:rPr lang="zh-CN" altLang="en-US" sz="2400" dirty="0">
                <a:latin typeface="Times New Roman" panose="02020603050405020304" pitchFamily="18" charset="0"/>
                <a:cs typeface="Times New Roman" panose="02020603050405020304" pitchFamily="18" charset="0"/>
                <a:sym typeface="+mn-ea"/>
              </a:rPr>
              <a:t>：每个存储体的容量</a:t>
            </a:r>
            <a:endParaRPr lang="zh-CN" altLang="en-US" sz="2400" dirty="0">
              <a:latin typeface="Times New Roman" panose="02020603050405020304" pitchFamily="18" charset="0"/>
              <a:cs typeface="Times New Roman" panose="02020603050405020304" pitchFamily="18" charset="0"/>
            </a:endParaRPr>
          </a:p>
          <a:p>
            <a:pPr lvl="1" eaLnBrk="1" hangingPunct="1"/>
            <a:r>
              <a:rPr lang="en-US" altLang="zh-CN" sz="2400" dirty="0">
                <a:latin typeface="Times New Roman" panose="02020603050405020304" pitchFamily="18" charset="0"/>
                <a:cs typeface="Times New Roman" panose="02020603050405020304" pitchFamily="18" charset="0"/>
                <a:sym typeface="+mn-ea"/>
              </a:rPr>
              <a:t>n</a:t>
            </a:r>
            <a:r>
              <a:rPr lang="zh-CN" altLang="en-US" sz="2400" dirty="0">
                <a:latin typeface="Times New Roman" panose="02020603050405020304" pitchFamily="18" charset="0"/>
                <a:cs typeface="Times New Roman" panose="02020603050405020304" pitchFamily="18" charset="0"/>
                <a:sym typeface="+mn-ea"/>
              </a:rPr>
              <a:t>：总共的存储体个数</a:t>
            </a:r>
            <a:endParaRPr lang="zh-CN" altLang="en-US" sz="2400" dirty="0">
              <a:latin typeface="Times New Roman" panose="02020603050405020304" pitchFamily="18" charset="0"/>
              <a:cs typeface="Times New Roman" panose="02020603050405020304" pitchFamily="18" charset="0"/>
            </a:endParaRPr>
          </a:p>
          <a:p>
            <a:pPr lvl="1" eaLnBrk="1" hangingPunct="1"/>
            <a:r>
              <a:rPr lang="en-US" altLang="zh-CN" sz="2400" dirty="0">
                <a:latin typeface="Times New Roman" panose="02020603050405020304" pitchFamily="18" charset="0"/>
                <a:cs typeface="Times New Roman" panose="02020603050405020304" pitchFamily="18" charset="0"/>
                <a:sym typeface="+mn-ea"/>
              </a:rPr>
              <a:t>j</a:t>
            </a:r>
            <a:r>
              <a:rPr lang="zh-CN" altLang="en-US" sz="2400" dirty="0">
                <a:latin typeface="Times New Roman" panose="02020603050405020304" pitchFamily="18" charset="0"/>
                <a:cs typeface="Times New Roman" panose="02020603050405020304" pitchFamily="18" charset="0"/>
                <a:sym typeface="+mn-ea"/>
              </a:rPr>
              <a:t>：存储体的体内地址，</a:t>
            </a:r>
            <a:r>
              <a:rPr lang="en-US" altLang="zh-CN" sz="2400" dirty="0">
                <a:latin typeface="Times New Roman" panose="02020603050405020304" pitchFamily="18" charset="0"/>
                <a:cs typeface="Times New Roman" panose="02020603050405020304" pitchFamily="18" charset="0"/>
                <a:sym typeface="+mn-ea"/>
              </a:rPr>
              <a:t>j=0, 1, 2, …, m-1</a:t>
            </a:r>
            <a:endParaRPr lang="en-US" altLang="zh-CN" sz="2400" dirty="0">
              <a:latin typeface="Times New Roman" panose="02020603050405020304" pitchFamily="18" charset="0"/>
              <a:cs typeface="Times New Roman" panose="02020603050405020304" pitchFamily="18" charset="0"/>
            </a:endParaRPr>
          </a:p>
          <a:p>
            <a:pPr lvl="1" eaLnBrk="1" hangingPunct="1"/>
            <a:r>
              <a:rPr lang="en-US" altLang="zh-CN" sz="2400" dirty="0">
                <a:latin typeface="Times New Roman" panose="02020603050405020304" pitchFamily="18" charset="0"/>
                <a:cs typeface="Times New Roman" panose="02020603050405020304" pitchFamily="18" charset="0"/>
                <a:sym typeface="+mn-ea"/>
              </a:rPr>
              <a:t>k</a:t>
            </a:r>
            <a:r>
              <a:rPr lang="zh-CN" altLang="en-US" sz="2400" dirty="0">
                <a:latin typeface="Times New Roman" panose="02020603050405020304" pitchFamily="18" charset="0"/>
                <a:cs typeface="Times New Roman" panose="02020603050405020304" pitchFamily="18" charset="0"/>
                <a:sym typeface="+mn-ea"/>
              </a:rPr>
              <a:t>：存储体的体号，</a:t>
            </a:r>
            <a:r>
              <a:rPr lang="en-US" altLang="zh-CN" sz="2400" dirty="0">
                <a:latin typeface="Times New Roman" panose="02020603050405020304" pitchFamily="18" charset="0"/>
                <a:cs typeface="Times New Roman" panose="02020603050405020304" pitchFamily="18" charset="0"/>
                <a:sym typeface="+mn-ea"/>
              </a:rPr>
              <a:t>k=0, 1, 2, …, n-1</a:t>
            </a:r>
            <a:endParaRPr lang="en-US" altLang="zh-CN" sz="2400" dirty="0">
              <a:latin typeface="Times New Roman" panose="02020603050405020304" pitchFamily="18" charset="0"/>
              <a:cs typeface="Times New Roman" panose="02020603050405020304" pitchFamily="18" charset="0"/>
            </a:endParaRPr>
          </a:p>
          <a:p>
            <a:pPr lvl="1" eaLnBrk="1" hangingPunct="1"/>
            <a:r>
              <a:rPr lang="zh-CN" altLang="en-US" sz="2400" dirty="0">
                <a:latin typeface="Times New Roman" panose="02020603050405020304" pitchFamily="18" charset="0"/>
                <a:cs typeface="Times New Roman" panose="02020603050405020304" pitchFamily="18" charset="0"/>
                <a:sym typeface="+mn-ea"/>
              </a:rPr>
              <a:t>存储器地址</a:t>
            </a:r>
            <a:r>
              <a:rPr lang="en-US" altLang="zh-CN" sz="2400" dirty="0">
                <a:latin typeface="Times New Roman" panose="02020603050405020304" pitchFamily="18" charset="0"/>
                <a:cs typeface="Times New Roman" panose="02020603050405020304" pitchFamily="18" charset="0"/>
                <a:sym typeface="+mn-ea"/>
              </a:rPr>
              <a:t>A</a:t>
            </a:r>
            <a:r>
              <a:rPr lang="zh-CN" altLang="en-US" sz="2400" dirty="0">
                <a:latin typeface="Times New Roman" panose="02020603050405020304" pitchFamily="18" charset="0"/>
                <a:cs typeface="Times New Roman" panose="02020603050405020304" pitchFamily="18" charset="0"/>
                <a:sym typeface="+mn-ea"/>
              </a:rPr>
              <a:t>的计算公式为：</a:t>
            </a:r>
            <a:r>
              <a:rPr lang="en-US" altLang="zh-CN" sz="2400" dirty="0">
                <a:latin typeface="Times New Roman" panose="02020603050405020304" pitchFamily="18" charset="0"/>
                <a:cs typeface="Times New Roman" panose="02020603050405020304" pitchFamily="18" charset="0"/>
                <a:sym typeface="+mn-ea"/>
              </a:rPr>
              <a:t>A=n x j+k</a:t>
            </a:r>
            <a:endParaRPr lang="en-US" altLang="zh-CN" sz="2400" dirty="0">
              <a:latin typeface="Times New Roman" panose="02020603050405020304" pitchFamily="18" charset="0"/>
              <a:cs typeface="Times New Roman" panose="02020603050405020304" pitchFamily="18" charset="0"/>
            </a:endParaRPr>
          </a:p>
          <a:p>
            <a:pPr lvl="1" eaLnBrk="1" hangingPunct="1"/>
            <a:r>
              <a:rPr lang="zh-CN" altLang="en-US" sz="2400" dirty="0">
                <a:latin typeface="Times New Roman" panose="02020603050405020304" pitchFamily="18" charset="0"/>
                <a:cs typeface="Times New Roman" panose="02020603050405020304" pitchFamily="18" charset="0"/>
                <a:sym typeface="+mn-ea"/>
              </a:rPr>
              <a:t>存储器的体内地址：</a:t>
            </a:r>
            <a:r>
              <a:rPr lang="en-US" altLang="zh-CN" sz="2400" dirty="0">
                <a:latin typeface="Times New Roman" panose="02020603050405020304" pitchFamily="18" charset="0"/>
                <a:cs typeface="Times New Roman" panose="02020603050405020304" pitchFamily="18" charset="0"/>
                <a:sym typeface="+mn-ea"/>
              </a:rPr>
              <a:t>A</a:t>
            </a:r>
            <a:r>
              <a:rPr lang="en-US" altLang="zh-CN" sz="2400" baseline="-25000" dirty="0">
                <a:latin typeface="Times New Roman" panose="02020603050405020304" pitchFamily="18" charset="0"/>
                <a:cs typeface="Times New Roman" panose="02020603050405020304" pitchFamily="18" charset="0"/>
                <a:sym typeface="+mn-ea"/>
              </a:rPr>
              <a:t>j</a:t>
            </a:r>
            <a:r>
              <a:rPr lang="en-US" altLang="zh-CN" sz="2400" dirty="0">
                <a:latin typeface="Times New Roman" panose="02020603050405020304" pitchFamily="18" charset="0"/>
                <a:cs typeface="Times New Roman" panose="02020603050405020304" pitchFamily="18" charset="0"/>
                <a:sym typeface="+mn-ea"/>
              </a:rPr>
              <a:t>=</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cs typeface="Times New Roman" panose="02020603050405020304" pitchFamily="18" charset="0"/>
                <a:sym typeface="+mn-ea"/>
              </a:rPr>
              <a:t>A/n)</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dirty="0">
                <a:latin typeface="Times New Roman" panose="02020603050405020304" pitchFamily="18" charset="0"/>
                <a:cs typeface="Times New Roman" panose="02020603050405020304" pitchFamily="18" charset="0"/>
                <a:sym typeface="Symbol" panose="05050102010706020507" pitchFamily="18" charset="2"/>
              </a:rPr>
              <a:t>（高位）</a:t>
            </a:r>
            <a:endParaRPr lang="en-US" altLang="zh-CN" sz="2400" dirty="0">
              <a:latin typeface="Times New Roman" panose="02020603050405020304" pitchFamily="18" charset="0"/>
              <a:cs typeface="Times New Roman" panose="02020603050405020304" pitchFamily="18" charset="0"/>
            </a:endParaRPr>
          </a:p>
          <a:p>
            <a:pPr lvl="1" eaLnBrk="1" hangingPunct="1"/>
            <a:r>
              <a:rPr lang="zh-CN" altLang="en-US" sz="2400" dirty="0">
                <a:latin typeface="Times New Roman" panose="02020603050405020304" pitchFamily="18" charset="0"/>
                <a:cs typeface="Times New Roman" panose="02020603050405020304" pitchFamily="18" charset="0"/>
                <a:sym typeface="+mn-ea"/>
              </a:rPr>
              <a:t>存储器的体号：</a:t>
            </a:r>
            <a:r>
              <a:rPr lang="en-US" altLang="zh-CN" sz="2400" dirty="0">
                <a:latin typeface="Times New Roman" panose="02020603050405020304" pitchFamily="18" charset="0"/>
                <a:cs typeface="Times New Roman" panose="02020603050405020304" pitchFamily="18" charset="0"/>
                <a:sym typeface="+mn-ea"/>
              </a:rPr>
              <a:t>A</a:t>
            </a:r>
            <a:r>
              <a:rPr lang="en-US" altLang="zh-CN" sz="2400" baseline="-25000" dirty="0">
                <a:latin typeface="Times New Roman" panose="02020603050405020304" pitchFamily="18" charset="0"/>
                <a:cs typeface="Times New Roman" panose="02020603050405020304" pitchFamily="18" charset="0"/>
                <a:sym typeface="+mn-ea"/>
              </a:rPr>
              <a:t>k</a:t>
            </a:r>
            <a:r>
              <a:rPr lang="en-US" altLang="zh-CN" sz="2400" dirty="0">
                <a:latin typeface="Times New Roman" panose="02020603050405020304" pitchFamily="18" charset="0"/>
                <a:cs typeface="Times New Roman" panose="02020603050405020304" pitchFamily="18" charset="0"/>
                <a:sym typeface="+mn-ea"/>
              </a:rPr>
              <a:t>=A mod n </a:t>
            </a:r>
            <a:r>
              <a:rPr lang="zh-CN" altLang="en-US" sz="2400" dirty="0">
                <a:latin typeface="Times New Roman" panose="02020603050405020304" pitchFamily="18" charset="0"/>
                <a:cs typeface="Times New Roman" panose="02020603050405020304" pitchFamily="18" charset="0"/>
                <a:sym typeface="+mn-ea"/>
              </a:rPr>
              <a:t>（低位）</a:t>
            </a:r>
            <a:endParaRPr lang="en-US" altLang="zh-CN" sz="2400" dirty="0">
              <a:latin typeface="Times New Roman" panose="02020603050405020304" pitchFamily="18" charset="0"/>
              <a:cs typeface="Times New Roman" panose="02020603050405020304" pitchFamily="18" charset="0"/>
            </a:endParaRPr>
          </a:p>
          <a:p>
            <a:pPr eaLnBrk="1" hangingPunct="1">
              <a:lnSpc>
                <a:spcPct val="90000"/>
              </a:lnSpc>
              <a:spcBef>
                <a:spcPts val="1200"/>
              </a:spcBef>
            </a:pPr>
            <a:endParaRPr lang="zh-CN" altLang="en-US" sz="2400" dirty="0">
              <a:solidFill>
                <a:schemeClr val="tx2"/>
              </a:solidFill>
              <a:latin typeface="Times New Roman" panose="02020603050405020304" pitchFamily="18" charset="0"/>
              <a:cs typeface="Times New Roman" panose="02020603050405020304" pitchFamily="18" charset="0"/>
            </a:endParaRPr>
          </a:p>
          <a:p>
            <a:pPr lvl="1" eaLnBrk="1" hangingPunct="1">
              <a:spcBef>
                <a:spcPts val="1200"/>
              </a:spcBef>
            </a:pPr>
            <a:endParaRPr lang="zh-CN" sz="2400" dirty="0">
              <a:latin typeface="Times New Roman" panose="02020603050405020304" pitchFamily="18" charset="0"/>
              <a:cs typeface="Times New Roman" panose="02020603050405020304" pitchFamily="18" charset="0"/>
              <a:sym typeface="+mn-ea"/>
            </a:endParaRPr>
          </a:p>
          <a:p>
            <a:pPr lvl="1" eaLnBrk="1" hangingPunct="1">
              <a:spcBef>
                <a:spcPts val="1200"/>
              </a:spcBef>
            </a:pPr>
            <a:endParaRPr lang="zh-CN" altLang="en-US" sz="2055"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低位交叉访问存储器</a:t>
            </a:r>
            <a:endPar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图片 2"/>
          <p:cNvPicPr>
            <a:picLocks noChangeAspect="1"/>
          </p:cNvPicPr>
          <p:nvPr>
            <p:custDataLst>
              <p:tags r:id="rId1"/>
            </p:custDataLst>
          </p:nvPr>
        </p:nvPicPr>
        <p:blipFill>
          <a:blip r:embed="rId2"/>
          <a:stretch>
            <a:fillRect/>
          </a:stretch>
        </p:blipFill>
        <p:spPr>
          <a:xfrm>
            <a:off x="755650" y="1628775"/>
            <a:ext cx="7499350" cy="44450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8个存储体构成的主存储器的低位交叉编址方式</a:t>
            </a:r>
            <a:endParaRPr lang="zh-CN"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图片 2"/>
          <p:cNvPicPr>
            <a:picLocks noChangeAspect="1"/>
          </p:cNvPicPr>
          <p:nvPr>
            <p:custDataLst>
              <p:tags r:id="rId1"/>
            </p:custDataLst>
          </p:nvPr>
        </p:nvPicPr>
        <p:blipFill>
          <a:blip r:embed="rId2"/>
          <a:stretch>
            <a:fillRect/>
          </a:stretch>
        </p:blipFill>
        <p:spPr>
          <a:xfrm>
            <a:off x="683895" y="1412875"/>
            <a:ext cx="7362825" cy="491871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低位交叉访问存储器</a:t>
            </a:r>
            <a:endPar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Rectangle 3"/>
          <p:cNvSpPr>
            <a:spLocks noGrp="1"/>
          </p:cNvSpPr>
          <p:nvPr>
            <p:custDataLst>
              <p:tags r:id="rId1"/>
            </p:custDataLst>
          </p:nvPr>
        </p:nvSpPr>
        <p:spPr>
          <a:xfrm>
            <a:off x="361950" y="1214755"/>
            <a:ext cx="8420100" cy="3618865"/>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eaLnBrk="1" hangingPunct="1"/>
            <a:r>
              <a:rPr lang="en-US" altLang="zh-CN" sz="2400" dirty="0">
                <a:latin typeface="Times New Roman" panose="02020603050405020304" pitchFamily="18" charset="0"/>
                <a:cs typeface="Times New Roman" panose="02020603050405020304" pitchFamily="18" charset="0"/>
                <a:sym typeface="+mn-ea"/>
              </a:rPr>
              <a:t>n</a:t>
            </a:r>
            <a:r>
              <a:rPr lang="zh-CN" altLang="en-US" sz="2400" dirty="0">
                <a:latin typeface="Times New Roman" panose="02020603050405020304" pitchFamily="18" charset="0"/>
                <a:cs typeface="Times New Roman" panose="02020603050405020304" pitchFamily="18" charset="0"/>
                <a:sym typeface="+mn-ea"/>
              </a:rPr>
              <a:t>个存储体分时启动</a:t>
            </a:r>
            <a:endParaRPr lang="zh-CN" altLang="en-US" sz="2400" dirty="0">
              <a:latin typeface="Times New Roman" panose="02020603050405020304" pitchFamily="18" charset="0"/>
              <a:cs typeface="Times New Roman" panose="02020603050405020304" pitchFamily="18" charset="0"/>
            </a:endParaRPr>
          </a:p>
          <a:p>
            <a:pPr lvl="1" eaLnBrk="1" hangingPunct="1"/>
            <a:r>
              <a:rPr lang="zh-CN" altLang="en-US" sz="2400" dirty="0">
                <a:latin typeface="Times New Roman" panose="02020603050405020304" pitchFamily="18" charset="0"/>
                <a:cs typeface="Times New Roman" panose="02020603050405020304" pitchFamily="18" charset="0"/>
                <a:sym typeface="+mn-ea"/>
              </a:rPr>
              <a:t>是一种采用流水线方式工作的并行存储器</a:t>
            </a:r>
            <a:endParaRPr lang="zh-CN" altLang="en-US" sz="2400" dirty="0">
              <a:latin typeface="Times New Roman" panose="02020603050405020304" pitchFamily="18" charset="0"/>
              <a:cs typeface="Times New Roman" panose="02020603050405020304" pitchFamily="18" charset="0"/>
            </a:endParaRPr>
          </a:p>
          <a:p>
            <a:pPr eaLnBrk="1" hangingPunct="1">
              <a:spcBef>
                <a:spcPts val="1200"/>
              </a:spcBef>
            </a:pPr>
            <a:r>
              <a:rPr lang="zh-CN" altLang="en-US" sz="2400" dirty="0">
                <a:latin typeface="Times New Roman" panose="02020603050405020304" pitchFamily="18" charset="0"/>
                <a:cs typeface="Times New Roman" panose="02020603050405020304" pitchFamily="18" charset="0"/>
                <a:sym typeface="+mn-ea"/>
              </a:rPr>
              <a:t>理论上，存储器的速度可望提高</a:t>
            </a:r>
            <a:r>
              <a:rPr lang="en-US" altLang="zh-CN" sz="2400" dirty="0">
                <a:latin typeface="Times New Roman" panose="02020603050405020304" pitchFamily="18" charset="0"/>
                <a:cs typeface="Times New Roman" panose="02020603050405020304" pitchFamily="18" charset="0"/>
                <a:sym typeface="+mn-ea"/>
              </a:rPr>
              <a:t>n</a:t>
            </a:r>
            <a:r>
              <a:rPr lang="zh-CN" altLang="en-US" sz="2400" dirty="0">
                <a:latin typeface="Times New Roman" panose="02020603050405020304" pitchFamily="18" charset="0"/>
                <a:cs typeface="Times New Roman" panose="02020603050405020304" pitchFamily="18" charset="0"/>
                <a:sym typeface="+mn-ea"/>
              </a:rPr>
              <a:t>倍</a:t>
            </a:r>
            <a:endParaRPr lang="zh-CN" altLang="en-US" sz="2400" dirty="0">
              <a:latin typeface="Times New Roman" panose="02020603050405020304" pitchFamily="18" charset="0"/>
              <a:cs typeface="Times New Roman" panose="02020603050405020304" pitchFamily="18" charset="0"/>
            </a:endParaRPr>
          </a:p>
          <a:p>
            <a:pPr lvl="1" eaLnBrk="1" hangingPunct="1"/>
            <a:r>
              <a:rPr lang="zh-CN" altLang="en-US" sz="2400" dirty="0">
                <a:latin typeface="Times New Roman" panose="02020603050405020304" pitchFamily="18" charset="0"/>
                <a:cs typeface="Times New Roman" panose="02020603050405020304" pitchFamily="18" charset="0"/>
                <a:sym typeface="+mn-ea"/>
              </a:rPr>
              <a:t>每存储体的启动间隔</a:t>
            </a:r>
            <a:r>
              <a:rPr lang="en-US" altLang="zh-CN" sz="2400" dirty="0">
                <a:latin typeface="Times New Roman" panose="02020603050405020304" pitchFamily="18" charset="0"/>
                <a:cs typeface="Times New Roman" panose="02020603050405020304" pitchFamily="18" charset="0"/>
                <a:sym typeface="+mn-ea"/>
              </a:rPr>
              <a:t>t</a:t>
            </a:r>
            <a:r>
              <a:rPr lang="zh-CN" altLang="en-US" sz="2400" dirty="0">
                <a:latin typeface="Times New Roman" panose="02020603050405020304" pitchFamily="18" charset="0"/>
                <a:cs typeface="Times New Roman" panose="02020603050405020304" pitchFamily="18" charset="0"/>
                <a:sym typeface="+mn-ea"/>
              </a:rPr>
              <a:t>为</a:t>
            </a:r>
            <a:endParaRPr lang="zh-CN" altLang="en-US" sz="2400" dirty="0">
              <a:latin typeface="Times New Roman" panose="02020603050405020304" pitchFamily="18" charset="0"/>
              <a:cs typeface="Times New Roman" panose="02020603050405020304" pitchFamily="18" charset="0"/>
              <a:sym typeface="+mn-ea"/>
            </a:endParaRPr>
          </a:p>
          <a:p>
            <a:pPr lvl="2" eaLnBrk="1" hangingPunct="1"/>
            <a:r>
              <a:rPr lang="zh-CN" altLang="en-US" sz="2000" dirty="0">
                <a:latin typeface="Times New Roman" panose="02020603050405020304" pitchFamily="18" charset="0"/>
                <a:cs typeface="Times New Roman" panose="02020603050405020304" pitchFamily="18" charset="0"/>
                <a:sym typeface="+mn-ea"/>
              </a:rPr>
              <a:t>其中</a:t>
            </a:r>
            <a:endParaRPr lang="zh-CN" altLang="en-US" sz="2000" dirty="0">
              <a:latin typeface="Times New Roman" panose="02020603050405020304" pitchFamily="18" charset="0"/>
              <a:cs typeface="Times New Roman" panose="02020603050405020304" pitchFamily="18" charset="0"/>
            </a:endParaRPr>
          </a:p>
          <a:p>
            <a:pPr lvl="3" eaLnBrk="1" hangingPunct="1"/>
            <a:r>
              <a:rPr lang="en-US" altLang="zh-CN" dirty="0">
                <a:latin typeface="Times New Roman" panose="02020603050405020304" pitchFamily="18" charset="0"/>
                <a:cs typeface="Times New Roman" panose="02020603050405020304" pitchFamily="18" charset="0"/>
                <a:sym typeface="+mn-ea"/>
              </a:rPr>
              <a:t>n</a:t>
            </a:r>
            <a:r>
              <a:rPr lang="zh-CN" altLang="en-US" dirty="0">
                <a:latin typeface="Times New Roman" panose="02020603050405020304" pitchFamily="18" charset="0"/>
                <a:cs typeface="Times New Roman" panose="02020603050405020304" pitchFamily="18" charset="0"/>
                <a:sym typeface="+mn-ea"/>
              </a:rPr>
              <a:t>为存储体个数</a:t>
            </a:r>
            <a:endParaRPr lang="zh-CN" altLang="en-US" dirty="0">
              <a:latin typeface="Times New Roman" panose="02020603050405020304" pitchFamily="18" charset="0"/>
              <a:cs typeface="Times New Roman" panose="02020603050405020304" pitchFamily="18" charset="0"/>
            </a:endParaRPr>
          </a:p>
          <a:p>
            <a:pPr lvl="3" eaLnBrk="1" hangingPunct="1"/>
            <a:r>
              <a:rPr lang="en-US" altLang="zh-CN" dirty="0">
                <a:latin typeface="Times New Roman" panose="02020603050405020304" pitchFamily="18" charset="0"/>
                <a:cs typeface="Times New Roman" panose="02020603050405020304" pitchFamily="18" charset="0"/>
                <a:sym typeface="+mn-ea"/>
              </a:rPr>
              <a:t>Tm</a:t>
            </a:r>
            <a:r>
              <a:rPr lang="zh-CN" altLang="en-US" dirty="0">
                <a:latin typeface="Times New Roman" panose="02020603050405020304" pitchFamily="18" charset="0"/>
                <a:cs typeface="Times New Roman" panose="02020603050405020304" pitchFamily="18" charset="0"/>
                <a:sym typeface="+mn-ea"/>
              </a:rPr>
              <a:t>为每个存储体的访问周期</a:t>
            </a:r>
            <a:endParaRPr lang="zh-CN" altLang="en-US" dirty="0">
              <a:latin typeface="Times New Roman" panose="02020603050405020304" pitchFamily="18" charset="0"/>
              <a:cs typeface="Times New Roman" panose="02020603050405020304" pitchFamily="18" charset="0"/>
            </a:endParaRPr>
          </a:p>
          <a:p>
            <a:pPr lvl="1" eaLnBrk="1" hangingPunct="1"/>
            <a:endParaRPr lang="zh-CN" altLang="en-US" sz="2400" dirty="0">
              <a:latin typeface="Times New Roman" panose="02020603050405020304" pitchFamily="18" charset="0"/>
              <a:cs typeface="Times New Roman" panose="02020603050405020304" pitchFamily="18" charset="0"/>
            </a:endParaRPr>
          </a:p>
          <a:p>
            <a:pPr marL="0" indent="0" eaLnBrk="1" hangingPunct="1">
              <a:lnSpc>
                <a:spcPct val="90000"/>
              </a:lnSpc>
              <a:spcBef>
                <a:spcPts val="1200"/>
              </a:spcBef>
              <a:buNone/>
            </a:pPr>
            <a:endParaRPr lang="zh-CN" sz="2400" dirty="0">
              <a:latin typeface="Times New Roman" panose="02020603050405020304" pitchFamily="18" charset="0"/>
              <a:cs typeface="Times New Roman" panose="02020603050405020304" pitchFamily="18" charset="0"/>
              <a:sym typeface="+mn-ea"/>
            </a:endParaRPr>
          </a:p>
          <a:p>
            <a:pPr lvl="1" eaLnBrk="1" hangingPunct="1">
              <a:spcBef>
                <a:spcPts val="1200"/>
              </a:spcBef>
            </a:pPr>
            <a:endParaRPr lang="zh-CN" altLang="en-US" sz="2055" dirty="0">
              <a:latin typeface="Times New Roman" panose="02020603050405020304" pitchFamily="18" charset="0"/>
              <a:cs typeface="Times New Roman" panose="02020603050405020304" pitchFamily="18" charset="0"/>
              <a:sym typeface="+mn-ea"/>
            </a:endParaRPr>
          </a:p>
        </p:txBody>
      </p:sp>
      <p:graphicFrame>
        <p:nvGraphicFramePr>
          <p:cNvPr id="87045" name="Object 3"/>
          <p:cNvGraphicFramePr>
            <a:graphicFrameLocks noChangeAspect="1"/>
          </p:cNvGraphicFramePr>
          <p:nvPr>
            <p:custDataLst>
              <p:tags r:id="rId2"/>
            </p:custDataLst>
          </p:nvPr>
        </p:nvGraphicFramePr>
        <p:xfrm>
          <a:off x="5724525" y="3213100"/>
          <a:ext cx="1558290" cy="1242060"/>
        </p:xfrm>
        <a:graphic>
          <a:graphicData uri="http://schemas.openxmlformats.org/presentationml/2006/ole">
            <mc:AlternateContent xmlns:mc="http://schemas.openxmlformats.org/markup-compatibility/2006">
              <mc:Choice xmlns:v="urn:schemas-microsoft-com:vml" Requires="v">
                <p:oleObj spid="_x0000_s3085" name="" r:id="rId3" imgW="1498600" imgH="1193800" progId="Equation.3">
                  <p:embed/>
                </p:oleObj>
              </mc:Choice>
              <mc:Fallback>
                <p:oleObj name="" r:id="rId3" imgW="1498600" imgH="1193800" progId="Equation.3">
                  <p:embed/>
                  <p:pic>
                    <p:nvPicPr>
                      <p:cNvPr id="0" name="图片 3084"/>
                      <p:cNvPicPr/>
                      <p:nvPr/>
                    </p:nvPicPr>
                    <p:blipFill>
                      <a:blip r:embed="rId4"/>
                      <a:stretch>
                        <a:fillRect/>
                      </a:stretch>
                    </p:blipFill>
                    <p:spPr>
                      <a:xfrm>
                        <a:off x="5724525" y="3213100"/>
                        <a:ext cx="1558290" cy="1242060"/>
                      </a:xfrm>
                      <a:prstGeom prst="rect">
                        <a:avLst/>
                      </a:prstGeom>
                      <a:noFill/>
                      <a:ln w="38100">
                        <a:noFill/>
                        <a:miter/>
                      </a:ln>
                    </p:spPr>
                  </p:pic>
                </p:oleObj>
              </mc:Fallback>
            </mc:AlternateContent>
          </a:graphicData>
        </a:graphic>
      </p:graphicFrame>
      <p:pic>
        <p:nvPicPr>
          <p:cNvPr id="3" name="图片 2"/>
          <p:cNvPicPr>
            <a:picLocks noChangeAspect="1"/>
          </p:cNvPicPr>
          <p:nvPr>
            <p:custDataLst>
              <p:tags r:id="rId5"/>
            </p:custDataLst>
          </p:nvPr>
        </p:nvPicPr>
        <p:blipFill>
          <a:blip r:embed="rId6"/>
          <a:stretch>
            <a:fillRect/>
          </a:stretch>
        </p:blipFill>
        <p:spPr>
          <a:xfrm>
            <a:off x="1188085" y="4455160"/>
            <a:ext cx="6321425" cy="200279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并行</a:t>
            </a:r>
            <a:endPar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Rectangle 3"/>
          <p:cNvSpPr>
            <a:spLocks noGrp="1"/>
          </p:cNvSpPr>
          <p:nvPr>
            <p:custDataLst>
              <p:tags r:id="rId1"/>
            </p:custDataLst>
          </p:nvPr>
        </p:nvSpPr>
        <p:spPr>
          <a:xfrm>
            <a:off x="361950" y="1341120"/>
            <a:ext cx="8420100" cy="4533265"/>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eaLnBrk="1" hangingPunct="1">
              <a:spcBef>
                <a:spcPts val="1200"/>
              </a:spcBef>
            </a:pPr>
            <a:r>
              <a:rPr lang="zh-CN" altLang="en-US" sz="2400" dirty="0">
                <a:sym typeface="+mn-ea"/>
              </a:rPr>
              <a:t>并发性并行</a:t>
            </a:r>
            <a:r>
              <a:rPr lang="en-US" altLang="zh-CN" sz="2400" dirty="0">
                <a:sym typeface="+mn-ea"/>
              </a:rPr>
              <a:t>---</a:t>
            </a:r>
            <a:r>
              <a:rPr lang="zh-CN" altLang="en-US" sz="2400" dirty="0">
                <a:sym typeface="+mn-ea"/>
              </a:rPr>
              <a:t>低位交叉访问存储器</a:t>
            </a:r>
            <a:endParaRPr lang="zh-CN" altLang="en-US" sz="2400" dirty="0"/>
          </a:p>
          <a:p>
            <a:pPr eaLnBrk="1" hangingPunct="1">
              <a:spcBef>
                <a:spcPts val="1200"/>
              </a:spcBef>
            </a:pPr>
            <a:r>
              <a:rPr lang="zh-CN" altLang="en-US" sz="2400" dirty="0">
                <a:sym typeface="+mn-ea"/>
              </a:rPr>
              <a:t>同时性并行</a:t>
            </a:r>
            <a:r>
              <a:rPr lang="en-US" altLang="zh-CN" sz="2400" dirty="0">
                <a:sym typeface="+mn-ea"/>
              </a:rPr>
              <a:t>---</a:t>
            </a:r>
            <a:r>
              <a:rPr lang="zh-CN" altLang="en-US" sz="2400" dirty="0">
                <a:sym typeface="+mn-ea"/>
              </a:rPr>
              <a:t>并行访问存储器</a:t>
            </a:r>
            <a:endParaRPr lang="zh-CN" altLang="en-US" sz="2400" dirty="0"/>
          </a:p>
          <a:p>
            <a:pPr eaLnBrk="1" hangingPunct="1">
              <a:lnSpc>
                <a:spcPct val="90000"/>
              </a:lnSpc>
              <a:spcBef>
                <a:spcPts val="1200"/>
              </a:spcBef>
            </a:pPr>
            <a:endParaRPr lang="zh-CN" altLang="en-US" sz="2400" dirty="0">
              <a:solidFill>
                <a:schemeClr val="tx2"/>
              </a:solidFill>
              <a:latin typeface="Times New Roman" panose="02020603050405020304" pitchFamily="18" charset="0"/>
              <a:cs typeface="Times New Roman" panose="02020603050405020304" pitchFamily="18" charset="0"/>
            </a:endParaRPr>
          </a:p>
          <a:p>
            <a:pPr lvl="1" eaLnBrk="1" hangingPunct="1">
              <a:spcBef>
                <a:spcPts val="1200"/>
              </a:spcBef>
            </a:pPr>
            <a:endParaRPr lang="zh-CN" sz="2400" dirty="0">
              <a:latin typeface="Times New Roman" panose="02020603050405020304" pitchFamily="18" charset="0"/>
              <a:cs typeface="Times New Roman" panose="02020603050405020304" pitchFamily="18" charset="0"/>
              <a:sym typeface="+mn-ea"/>
            </a:endParaRPr>
          </a:p>
          <a:p>
            <a:pPr lvl="1" eaLnBrk="1" hangingPunct="1">
              <a:spcBef>
                <a:spcPts val="1200"/>
              </a:spcBef>
            </a:pPr>
            <a:endParaRPr lang="zh-CN" altLang="en-US" sz="2055"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低位交叉访问存储器的访问冲突</a:t>
            </a:r>
            <a:endPar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Rectangle 3"/>
          <p:cNvSpPr>
            <a:spLocks noGrp="1"/>
          </p:cNvSpPr>
          <p:nvPr>
            <p:custDataLst>
              <p:tags r:id="rId1"/>
            </p:custDataLst>
          </p:nvPr>
        </p:nvSpPr>
        <p:spPr>
          <a:xfrm>
            <a:off x="361950" y="1243330"/>
            <a:ext cx="8420100" cy="2736850"/>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60325" indent="-60325" eaLnBrk="1" hangingPunct="1">
              <a:lnSpc>
                <a:spcPct val="100000"/>
              </a:lnSpc>
              <a:spcBef>
                <a:spcPts val="1200"/>
              </a:spcBef>
            </a:pPr>
            <a:r>
              <a:rPr lang="zh-CN" altLang="en-US" sz="2400" dirty="0">
                <a:sym typeface="+mn-ea"/>
              </a:rPr>
              <a:t>低位交叉访问存储器能大幅度提高存储器的速度</a:t>
            </a:r>
            <a:endParaRPr lang="zh-CN" altLang="en-US" sz="2400" dirty="0"/>
          </a:p>
          <a:p>
            <a:pPr marL="60325" indent="-60325" eaLnBrk="1" hangingPunct="1">
              <a:lnSpc>
                <a:spcPct val="100000"/>
              </a:lnSpc>
              <a:spcBef>
                <a:spcPts val="1200"/>
              </a:spcBef>
            </a:pPr>
            <a:r>
              <a:rPr lang="zh-CN" altLang="en-US" sz="2400" dirty="0">
                <a:sym typeface="+mn-ea"/>
              </a:rPr>
              <a:t>增加存储体的数目并不能得到速度的线性增长</a:t>
            </a:r>
            <a:endParaRPr lang="zh-CN" altLang="en-US" sz="2400" dirty="0"/>
          </a:p>
          <a:p>
            <a:pPr lvl="1" algn="l" eaLnBrk="1" hangingPunct="1">
              <a:lnSpc>
                <a:spcPct val="100000"/>
              </a:lnSpc>
              <a:spcBef>
                <a:spcPts val="600"/>
              </a:spcBef>
              <a:buSzTx/>
            </a:pPr>
            <a:r>
              <a:rPr lang="zh-CN" altLang="en-US" sz="2000" dirty="0">
                <a:latin typeface="Times New Roman" panose="02020603050405020304" pitchFamily="18" charset="0"/>
                <a:cs typeface="Times New Roman" panose="02020603050405020304" pitchFamily="18" charset="0"/>
                <a:sym typeface="+mn-ea"/>
              </a:rPr>
              <a:t>程序转移、操作数分散。。。最坏的情形，加速比为1</a:t>
            </a:r>
            <a:endParaRPr lang="zh-CN" altLang="en-US" sz="2000" dirty="0">
              <a:latin typeface="Times New Roman" panose="02020603050405020304" pitchFamily="18" charset="0"/>
              <a:cs typeface="Times New Roman" panose="02020603050405020304" pitchFamily="18" charset="0"/>
            </a:endParaRPr>
          </a:p>
          <a:p>
            <a:pPr marL="60325" indent="-60325" eaLnBrk="1" hangingPunct="1">
              <a:lnSpc>
                <a:spcPct val="100000"/>
              </a:lnSpc>
              <a:spcBef>
                <a:spcPts val="1200"/>
              </a:spcBef>
            </a:pPr>
            <a:r>
              <a:rPr lang="zh-CN" altLang="en-US" sz="2400" dirty="0">
                <a:sym typeface="+mn-ea"/>
              </a:rPr>
              <a:t>改进</a:t>
            </a:r>
            <a:endParaRPr lang="zh-CN" altLang="en-US" sz="2400" dirty="0"/>
          </a:p>
          <a:p>
            <a:pPr lvl="1" algn="l" eaLnBrk="1" hangingPunct="1">
              <a:lnSpc>
                <a:spcPct val="100000"/>
              </a:lnSpc>
              <a:spcBef>
                <a:spcPts val="600"/>
              </a:spcBef>
              <a:buSzTx/>
            </a:pPr>
            <a:r>
              <a:rPr lang="zh-CN" altLang="en-US" sz="2000" dirty="0">
                <a:latin typeface="Times New Roman" panose="02020603050405020304" pitchFamily="18" charset="0"/>
                <a:cs typeface="Times New Roman" panose="02020603050405020304" pitchFamily="18" charset="0"/>
                <a:sym typeface="+mn-ea"/>
              </a:rPr>
              <a:t>存储体的缓冲存储器、和Cache的配合</a:t>
            </a:r>
            <a:endParaRPr lang="zh-CN" altLang="en-US" sz="2000" dirty="0">
              <a:latin typeface="Times New Roman" panose="02020603050405020304" pitchFamily="18" charset="0"/>
              <a:cs typeface="Times New Roman" panose="02020603050405020304" pitchFamily="18" charset="0"/>
            </a:endParaRPr>
          </a:p>
          <a:p>
            <a:pPr eaLnBrk="1" hangingPunct="1">
              <a:lnSpc>
                <a:spcPct val="100000"/>
              </a:lnSpc>
              <a:spcBef>
                <a:spcPts val="600"/>
              </a:spcBef>
            </a:pPr>
            <a:endParaRPr lang="zh-CN" altLang="en-US" sz="2400" dirty="0">
              <a:solidFill>
                <a:schemeClr val="tx2"/>
              </a:solidFill>
              <a:latin typeface="Times New Roman" panose="02020603050405020304" pitchFamily="18" charset="0"/>
              <a:cs typeface="Times New Roman" panose="02020603050405020304" pitchFamily="18" charset="0"/>
            </a:endParaRPr>
          </a:p>
          <a:p>
            <a:pPr lvl="1" eaLnBrk="1" hangingPunct="1">
              <a:lnSpc>
                <a:spcPct val="100000"/>
              </a:lnSpc>
              <a:spcBef>
                <a:spcPts val="600"/>
              </a:spcBef>
            </a:pPr>
            <a:endParaRPr lang="zh-CN" sz="2400" dirty="0">
              <a:latin typeface="Times New Roman" panose="02020603050405020304" pitchFamily="18" charset="0"/>
              <a:cs typeface="Times New Roman" panose="02020603050405020304" pitchFamily="18" charset="0"/>
              <a:sym typeface="+mn-ea"/>
            </a:endParaRPr>
          </a:p>
          <a:p>
            <a:pPr lvl="1" eaLnBrk="1" hangingPunct="1">
              <a:spcBef>
                <a:spcPts val="1200"/>
              </a:spcBef>
            </a:pPr>
            <a:endParaRPr lang="zh-CN" altLang="en-US" sz="2055" dirty="0">
              <a:latin typeface="Times New Roman" panose="02020603050405020304" pitchFamily="18" charset="0"/>
              <a:cs typeface="Times New Roman" panose="02020603050405020304" pitchFamily="18" charset="0"/>
              <a:sym typeface="+mn-ea"/>
            </a:endParaRPr>
          </a:p>
        </p:txBody>
      </p:sp>
      <p:pic>
        <p:nvPicPr>
          <p:cNvPr id="5" name="图片 4"/>
          <p:cNvPicPr>
            <a:picLocks noChangeAspect="1"/>
          </p:cNvPicPr>
          <p:nvPr>
            <p:custDataLst>
              <p:tags r:id="rId2"/>
            </p:custDataLst>
          </p:nvPr>
        </p:nvPicPr>
        <p:blipFill>
          <a:blip r:embed="rId3"/>
          <a:stretch>
            <a:fillRect/>
          </a:stretch>
        </p:blipFill>
        <p:spPr>
          <a:xfrm>
            <a:off x="276225" y="3613785"/>
            <a:ext cx="8591550" cy="278765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endPar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Rectangle 3"/>
          <p:cNvSpPr>
            <a:spLocks noGrp="1"/>
          </p:cNvSpPr>
          <p:nvPr>
            <p:custDataLst>
              <p:tags r:id="rId1"/>
            </p:custDataLst>
          </p:nvPr>
        </p:nvSpPr>
        <p:spPr>
          <a:xfrm>
            <a:off x="361950" y="1341120"/>
            <a:ext cx="8420100" cy="4533265"/>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eaLnBrk="1" hangingPunct="1">
              <a:spcBef>
                <a:spcPts val="1200"/>
              </a:spcBef>
            </a:pPr>
            <a:r>
              <a:rPr lang="zh-CN" altLang="en-US" sz="2400" dirty="0">
                <a:sym typeface="+mn-ea"/>
              </a:rPr>
              <a:t>双通道技术是不是低位交叉访问存储器？</a:t>
            </a:r>
            <a:endParaRPr lang="zh-CN" altLang="en-US" sz="2400" dirty="0"/>
          </a:p>
          <a:p>
            <a:pPr eaLnBrk="1" hangingPunct="1">
              <a:spcBef>
                <a:spcPts val="1200"/>
              </a:spcBef>
            </a:pPr>
            <a:r>
              <a:rPr lang="zh-CN" altLang="en-US" sz="2400" dirty="0">
                <a:sym typeface="+mn-ea"/>
              </a:rPr>
              <a:t>双通道技术需要增加内存条上的部件吗？</a:t>
            </a:r>
            <a:endParaRPr lang="zh-CN" altLang="en-US" sz="2400" dirty="0"/>
          </a:p>
          <a:p>
            <a:pPr eaLnBrk="1" hangingPunct="1">
              <a:spcBef>
                <a:spcPts val="1200"/>
              </a:spcBef>
            </a:pPr>
            <a:r>
              <a:rPr lang="zh-CN" altLang="en-US" sz="2400" dirty="0">
                <a:sym typeface="+mn-ea"/>
              </a:rPr>
              <a:t>双通道技术需要增加内存条怎么配合？</a:t>
            </a:r>
            <a:endParaRPr lang="zh-CN" altLang="en-US" sz="2400" dirty="0"/>
          </a:p>
          <a:p>
            <a:pPr eaLnBrk="1" hangingPunct="1">
              <a:spcBef>
                <a:spcPts val="1200"/>
              </a:spcBef>
            </a:pPr>
            <a:r>
              <a:rPr lang="zh-CN" altLang="en-US" sz="2400" dirty="0">
                <a:sym typeface="+mn-ea"/>
              </a:rPr>
              <a:t>双端口技术是不是低位交叉访问存储器？</a:t>
            </a:r>
            <a:endParaRPr lang="zh-CN" altLang="en-US" sz="2400" dirty="0"/>
          </a:p>
          <a:p>
            <a:pPr eaLnBrk="1" hangingPunct="1">
              <a:spcBef>
                <a:spcPts val="1200"/>
              </a:spcBef>
            </a:pPr>
            <a:r>
              <a:rPr lang="zh-CN" altLang="en-US" sz="2400" dirty="0">
                <a:sym typeface="+mn-ea"/>
              </a:rPr>
              <a:t>低位交叉访问存储器使用一条数据总线？</a:t>
            </a:r>
            <a:endParaRPr lang="zh-CN" altLang="en-US" sz="2400" dirty="0"/>
          </a:p>
          <a:p>
            <a:pPr eaLnBrk="1" hangingPunct="1">
              <a:lnSpc>
                <a:spcPct val="100000"/>
              </a:lnSpc>
              <a:spcBef>
                <a:spcPts val="1200"/>
              </a:spcBef>
            </a:pPr>
            <a:endParaRPr lang="zh-CN" altLang="en-US" sz="2400" dirty="0">
              <a:solidFill>
                <a:schemeClr val="tx2"/>
              </a:solidFill>
              <a:latin typeface="Times New Roman" panose="02020603050405020304" pitchFamily="18" charset="0"/>
              <a:cs typeface="Times New Roman" panose="02020603050405020304" pitchFamily="18" charset="0"/>
            </a:endParaRPr>
          </a:p>
          <a:p>
            <a:pPr lvl="1" eaLnBrk="1" hangingPunct="1">
              <a:spcBef>
                <a:spcPts val="1200"/>
              </a:spcBef>
            </a:pPr>
            <a:endParaRPr lang="zh-CN" sz="2400" dirty="0">
              <a:latin typeface="Times New Roman" panose="02020603050405020304" pitchFamily="18" charset="0"/>
              <a:cs typeface="Times New Roman" panose="02020603050405020304" pitchFamily="18" charset="0"/>
              <a:sym typeface="+mn-ea"/>
            </a:endParaRPr>
          </a:p>
          <a:p>
            <a:pPr lvl="1" eaLnBrk="1" hangingPunct="1">
              <a:spcBef>
                <a:spcPts val="1200"/>
              </a:spcBef>
            </a:pPr>
            <a:endParaRPr lang="zh-CN" altLang="en-US" sz="2055"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3.1.4.3一种无访问冲突存储器</a:t>
            </a:r>
            <a:endPar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Rectangle 3"/>
          <p:cNvSpPr>
            <a:spLocks noGrp="1"/>
          </p:cNvSpPr>
          <p:nvPr>
            <p:custDataLst>
              <p:tags r:id="rId1"/>
            </p:custDataLst>
          </p:nvPr>
        </p:nvSpPr>
        <p:spPr>
          <a:xfrm>
            <a:off x="361950" y="1243330"/>
            <a:ext cx="8420100" cy="2736850"/>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0" indent="0" eaLnBrk="1" hangingPunct="1">
              <a:spcBef>
                <a:spcPts val="1200"/>
              </a:spcBef>
            </a:pPr>
            <a:r>
              <a:rPr lang="zh-CN" altLang="en-US" sz="2400" dirty="0">
                <a:latin typeface="Times New Roman" panose="02020603050405020304" pitchFamily="18" charset="0"/>
                <a:cs typeface="Times New Roman" panose="02020603050405020304" pitchFamily="18" charset="0"/>
                <a:sym typeface="+mn-ea"/>
              </a:rPr>
              <a:t>低位交叉访问技术</a:t>
            </a:r>
            <a:r>
              <a:rPr lang="en-US" altLang="zh-CN" sz="2400" dirty="0">
                <a:latin typeface="Times New Roman" panose="02020603050405020304" pitchFamily="18" charset="0"/>
                <a:cs typeface="Times New Roman" panose="02020603050405020304" pitchFamily="18" charset="0"/>
                <a:sym typeface="+mn-ea"/>
              </a:rPr>
              <a:t>n</a:t>
            </a:r>
            <a:r>
              <a:rPr lang="zh-CN" altLang="en-US" sz="2400" dirty="0">
                <a:latin typeface="Times New Roman" panose="02020603050405020304" pitchFamily="18" charset="0"/>
                <a:cs typeface="Times New Roman" panose="02020603050405020304" pitchFamily="18" charset="0"/>
                <a:sym typeface="+mn-ea"/>
              </a:rPr>
              <a:t>个存储体构成主存储器</a:t>
            </a:r>
            <a:endParaRPr lang="zh-CN" altLang="en-US" sz="2400" dirty="0">
              <a:latin typeface="Times New Roman" panose="02020603050405020304" pitchFamily="18" charset="0"/>
              <a:cs typeface="Times New Roman" panose="02020603050405020304" pitchFamily="18" charset="0"/>
            </a:endParaRPr>
          </a:p>
          <a:p>
            <a:pPr lvl="1" algn="l" eaLnBrk="1" hangingPunct="1">
              <a:spcBef>
                <a:spcPts val="1200"/>
              </a:spcBef>
              <a:buSzTx/>
            </a:pPr>
            <a:r>
              <a:rPr lang="zh-CN" altLang="en-US" sz="2400" dirty="0">
                <a:latin typeface="Times New Roman" panose="02020603050405020304" pitchFamily="18" charset="0"/>
                <a:cs typeface="Times New Roman" panose="02020603050405020304" pitchFamily="18" charset="0"/>
                <a:sym typeface="+mn-ea"/>
              </a:rPr>
              <a:t>速度并不能提高n倍</a:t>
            </a:r>
            <a:endParaRPr lang="zh-CN" altLang="en-US" sz="2400" dirty="0">
              <a:latin typeface="Times New Roman" panose="02020603050405020304" pitchFamily="18" charset="0"/>
              <a:cs typeface="Times New Roman" panose="02020603050405020304" pitchFamily="18" charset="0"/>
            </a:endParaRPr>
          </a:p>
          <a:p>
            <a:pPr lvl="1" algn="l" eaLnBrk="1" hangingPunct="1">
              <a:spcBef>
                <a:spcPts val="1200"/>
              </a:spcBef>
              <a:buSzTx/>
            </a:pPr>
            <a:r>
              <a:rPr lang="zh-CN" altLang="en-US" sz="2400" dirty="0">
                <a:latin typeface="Times New Roman" panose="02020603050405020304" pitchFamily="18" charset="0"/>
                <a:cs typeface="Times New Roman" panose="02020603050405020304" pitchFamily="18" charset="0"/>
                <a:sym typeface="+mn-ea"/>
              </a:rPr>
              <a:t>产生访问冲突</a:t>
            </a:r>
            <a:endParaRPr lang="zh-CN" altLang="en-US" sz="2400" dirty="0">
              <a:latin typeface="Times New Roman" panose="02020603050405020304" pitchFamily="18" charset="0"/>
              <a:cs typeface="Times New Roman" panose="02020603050405020304" pitchFamily="18" charset="0"/>
            </a:endParaRPr>
          </a:p>
          <a:p>
            <a:pPr marL="685800" lvl="3" indent="3175" eaLnBrk="1" hangingPunct="1">
              <a:spcBef>
                <a:spcPts val="1200"/>
              </a:spcBef>
            </a:pPr>
            <a:r>
              <a:rPr lang="zh-CN" altLang="en-US" sz="2400" dirty="0">
                <a:latin typeface="Times New Roman" panose="02020603050405020304" pitchFamily="18" charset="0"/>
                <a:cs typeface="Times New Roman" panose="02020603050405020304" pitchFamily="18" charset="0"/>
                <a:sym typeface="+mn-ea"/>
              </a:rPr>
              <a:t>程序中的转移指令</a:t>
            </a:r>
            <a:endParaRPr lang="zh-CN" altLang="en-US" sz="2400" dirty="0">
              <a:latin typeface="Times New Roman" panose="02020603050405020304" pitchFamily="18" charset="0"/>
              <a:cs typeface="Times New Roman" panose="02020603050405020304" pitchFamily="18" charset="0"/>
            </a:endParaRPr>
          </a:p>
          <a:p>
            <a:pPr marL="685800" lvl="3" indent="3175" eaLnBrk="1" hangingPunct="1">
              <a:spcBef>
                <a:spcPts val="1200"/>
              </a:spcBef>
            </a:pPr>
            <a:r>
              <a:rPr lang="zh-CN" altLang="en-US" sz="2400" dirty="0">
                <a:latin typeface="Times New Roman" panose="02020603050405020304" pitchFamily="18" charset="0"/>
                <a:cs typeface="Times New Roman" panose="02020603050405020304" pitchFamily="18" charset="0"/>
                <a:sym typeface="+mn-ea"/>
              </a:rPr>
              <a:t>数据引用的随机性</a:t>
            </a:r>
            <a:endParaRPr lang="zh-CN" altLang="en-US" sz="2400" dirty="0">
              <a:latin typeface="Times New Roman" panose="02020603050405020304" pitchFamily="18" charset="0"/>
              <a:cs typeface="Times New Roman" panose="02020603050405020304" pitchFamily="18" charset="0"/>
            </a:endParaRPr>
          </a:p>
          <a:p>
            <a:pPr eaLnBrk="1" hangingPunct="1">
              <a:lnSpc>
                <a:spcPct val="100000"/>
              </a:lnSpc>
              <a:spcBef>
                <a:spcPts val="600"/>
              </a:spcBef>
            </a:pPr>
            <a:endParaRPr lang="zh-CN" altLang="en-US" sz="2400" dirty="0">
              <a:solidFill>
                <a:schemeClr val="tx2"/>
              </a:solidFill>
              <a:latin typeface="Times New Roman" panose="02020603050405020304" pitchFamily="18" charset="0"/>
              <a:cs typeface="Times New Roman" panose="02020603050405020304" pitchFamily="18" charset="0"/>
            </a:endParaRPr>
          </a:p>
          <a:p>
            <a:pPr lvl="1" eaLnBrk="1" hangingPunct="1">
              <a:lnSpc>
                <a:spcPct val="100000"/>
              </a:lnSpc>
              <a:spcBef>
                <a:spcPts val="600"/>
              </a:spcBef>
            </a:pPr>
            <a:endParaRPr lang="zh-CN" sz="2400" dirty="0">
              <a:latin typeface="Times New Roman" panose="02020603050405020304" pitchFamily="18" charset="0"/>
              <a:cs typeface="Times New Roman" panose="02020603050405020304" pitchFamily="18" charset="0"/>
              <a:sym typeface="+mn-ea"/>
            </a:endParaRPr>
          </a:p>
          <a:p>
            <a:pPr lvl="1" eaLnBrk="1" hangingPunct="1">
              <a:spcBef>
                <a:spcPts val="1200"/>
              </a:spcBef>
            </a:pPr>
            <a:endParaRPr lang="zh-CN" altLang="en-US" sz="2055"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一维数组</a:t>
            </a:r>
            <a:endPar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Rectangle 3"/>
          <p:cNvSpPr>
            <a:spLocks noGrp="1"/>
          </p:cNvSpPr>
          <p:nvPr>
            <p:custDataLst>
              <p:tags r:id="rId1"/>
            </p:custDataLst>
          </p:nvPr>
        </p:nvSpPr>
        <p:spPr>
          <a:xfrm>
            <a:off x="361950" y="1243330"/>
            <a:ext cx="8420100" cy="4767580"/>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109855" indent="-109855" eaLnBrk="1" hangingPunct="1"/>
            <a:r>
              <a:rPr lang="zh-CN" altLang="en-US" sz="2400" dirty="0">
                <a:latin typeface="Times New Roman" panose="02020603050405020304" pitchFamily="18" charset="0"/>
                <a:cs typeface="Times New Roman" panose="02020603050405020304" pitchFamily="18" charset="0"/>
                <a:sym typeface="+mn-ea"/>
              </a:rPr>
              <a:t>并行递归算法的典型访问模式</a:t>
            </a:r>
            <a:endParaRPr lang="zh-CN" altLang="en-US" sz="2400" dirty="0">
              <a:latin typeface="Times New Roman" panose="02020603050405020304" pitchFamily="18" charset="0"/>
              <a:cs typeface="Times New Roman" panose="02020603050405020304" pitchFamily="18" charset="0"/>
            </a:endParaRPr>
          </a:p>
          <a:p>
            <a:pPr lvl="1" algn="l" eaLnBrk="1" hangingPunct="1">
              <a:spcBef>
                <a:spcPts val="1200"/>
              </a:spcBef>
              <a:buSzTx/>
            </a:pPr>
            <a:r>
              <a:rPr lang="zh-CN" altLang="en-US" sz="2000" dirty="0">
                <a:latin typeface="Times New Roman" panose="02020603050405020304" pitchFamily="18" charset="0"/>
                <a:cs typeface="Times New Roman" panose="02020603050405020304" pitchFamily="18" charset="0"/>
                <a:sym typeface="+mn-ea"/>
              </a:rPr>
              <a:t>向量子集(一维数组)的元素逐次按2的整数次幂相间访问</a:t>
            </a:r>
            <a:endParaRPr lang="zh-CN" altLang="en-US" sz="2000" dirty="0">
              <a:latin typeface="Times New Roman" panose="02020603050405020304" pitchFamily="18" charset="0"/>
              <a:cs typeface="Times New Roman" panose="02020603050405020304" pitchFamily="18" charset="0"/>
            </a:endParaRPr>
          </a:p>
          <a:p>
            <a:pPr marL="685800" lvl="3" indent="3175" algn="l" eaLnBrk="1" hangingPunct="1">
              <a:spcBef>
                <a:spcPts val="1200"/>
              </a:spcBef>
              <a:buClrTx/>
              <a:buSzTx/>
              <a:buFontTx/>
            </a:pPr>
            <a:r>
              <a:rPr lang="zh-CN" altLang="en-US" sz="2000" dirty="0">
                <a:latin typeface="Times New Roman" panose="02020603050405020304" pitchFamily="18" charset="0"/>
                <a:cs typeface="Times New Roman" panose="02020603050405020304" pitchFamily="18" charset="0"/>
                <a:sym typeface="+mn-ea"/>
              </a:rPr>
              <a:t>先间隔2^0=1访问</a:t>
            </a:r>
            <a:endParaRPr lang="zh-CN" altLang="en-US" sz="2000" dirty="0">
              <a:latin typeface="Times New Roman" panose="02020603050405020304" pitchFamily="18" charset="0"/>
              <a:cs typeface="Times New Roman" panose="02020603050405020304" pitchFamily="18" charset="0"/>
            </a:endParaRPr>
          </a:p>
          <a:p>
            <a:pPr marL="685800" lvl="3" indent="3175" algn="l" eaLnBrk="1" hangingPunct="1">
              <a:spcBef>
                <a:spcPts val="1200"/>
              </a:spcBef>
              <a:buClrTx/>
              <a:buSzTx/>
              <a:buFontTx/>
            </a:pPr>
            <a:r>
              <a:rPr lang="zh-CN" altLang="en-US" sz="2000" dirty="0">
                <a:latin typeface="Times New Roman" panose="02020603050405020304" pitchFamily="18" charset="0"/>
                <a:cs typeface="Times New Roman" panose="02020603050405020304" pitchFamily="18" charset="0"/>
                <a:sym typeface="+mn-ea"/>
              </a:rPr>
              <a:t>再间隔2^1=2访问</a:t>
            </a:r>
            <a:endParaRPr lang="zh-CN" altLang="en-US" sz="2000" dirty="0">
              <a:latin typeface="Times New Roman" panose="02020603050405020304" pitchFamily="18" charset="0"/>
              <a:cs typeface="Times New Roman" panose="02020603050405020304" pitchFamily="18" charset="0"/>
            </a:endParaRPr>
          </a:p>
          <a:p>
            <a:pPr marL="685800" lvl="3" indent="3175" algn="l" eaLnBrk="1" hangingPunct="1">
              <a:spcBef>
                <a:spcPts val="1200"/>
              </a:spcBef>
              <a:buClrTx/>
              <a:buSzTx/>
              <a:buFontTx/>
            </a:pPr>
            <a:r>
              <a:rPr lang="zh-CN" altLang="en-US" sz="2000" dirty="0">
                <a:latin typeface="Times New Roman" panose="02020603050405020304" pitchFamily="18" charset="0"/>
                <a:cs typeface="Times New Roman" panose="02020603050405020304" pitchFamily="18" charset="0"/>
                <a:sym typeface="+mn-ea"/>
              </a:rPr>
              <a:t>间隔2^2=4访问</a:t>
            </a:r>
            <a:endParaRPr lang="zh-CN" altLang="en-US" sz="2000" dirty="0">
              <a:latin typeface="Times New Roman" panose="02020603050405020304" pitchFamily="18" charset="0"/>
              <a:cs typeface="Times New Roman" panose="02020603050405020304" pitchFamily="18" charset="0"/>
            </a:endParaRPr>
          </a:p>
          <a:p>
            <a:pPr marL="627380" lvl="2" indent="-114300" eaLnBrk="1" hangingPunct="1"/>
            <a:r>
              <a:rPr lang="en-US" altLang="zh-CN" sz="2400" dirty="0">
                <a:latin typeface="Times New Roman" panose="02020603050405020304" pitchFamily="18" charset="0"/>
                <a:cs typeface="Times New Roman" panose="02020603050405020304" pitchFamily="18" charset="0"/>
                <a:sym typeface="+mn-ea"/>
              </a:rPr>
              <a:t>…</a:t>
            </a:r>
            <a:endParaRPr lang="en-US" altLang="zh-CN" sz="2400" dirty="0">
              <a:latin typeface="Times New Roman" panose="02020603050405020304" pitchFamily="18" charset="0"/>
              <a:cs typeface="Times New Roman" panose="02020603050405020304" pitchFamily="18" charset="0"/>
            </a:endParaRPr>
          </a:p>
          <a:p>
            <a:pPr marL="109855" indent="-109855" eaLnBrk="1" hangingPunct="1"/>
            <a:r>
              <a:rPr lang="zh-CN" altLang="en-US" sz="2400" dirty="0">
                <a:latin typeface="Times New Roman" panose="02020603050405020304" pitchFamily="18" charset="0"/>
                <a:cs typeface="Times New Roman" panose="02020603050405020304" pitchFamily="18" charset="0"/>
                <a:sym typeface="+mn-ea"/>
              </a:rPr>
              <a:t>产生访问冲突的原因</a:t>
            </a:r>
            <a:endParaRPr lang="zh-CN" altLang="en-US" sz="2400" dirty="0">
              <a:latin typeface="Times New Roman" panose="02020603050405020304" pitchFamily="18" charset="0"/>
              <a:cs typeface="Times New Roman" panose="02020603050405020304" pitchFamily="18" charset="0"/>
            </a:endParaRPr>
          </a:p>
          <a:p>
            <a:pPr lvl="1" algn="l" eaLnBrk="1" hangingPunct="1">
              <a:spcBef>
                <a:spcPts val="600"/>
              </a:spcBef>
              <a:buSzTx/>
            </a:pPr>
            <a:r>
              <a:rPr lang="zh-CN" altLang="en-US" sz="2000" dirty="0">
                <a:latin typeface="Times New Roman" panose="02020603050405020304" pitchFamily="18" charset="0"/>
                <a:cs typeface="Times New Roman" panose="02020603050405020304" pitchFamily="18" charset="0"/>
                <a:sym typeface="+mn-ea"/>
              </a:rPr>
              <a:t>传统低位交叉访问存储器的存储体个数n为2的整数次幂</a:t>
            </a:r>
            <a:endParaRPr lang="zh-CN" altLang="en-US" sz="2000" dirty="0">
              <a:latin typeface="Times New Roman" panose="02020603050405020304" pitchFamily="18" charset="0"/>
              <a:cs typeface="Times New Roman" panose="02020603050405020304" pitchFamily="18" charset="0"/>
            </a:endParaRPr>
          </a:p>
          <a:p>
            <a:pPr lvl="1" algn="l" eaLnBrk="1" hangingPunct="1">
              <a:spcBef>
                <a:spcPts val="600"/>
              </a:spcBef>
              <a:buSzTx/>
            </a:pPr>
            <a:r>
              <a:rPr lang="zh-CN" altLang="en-US" sz="2000" dirty="0">
                <a:latin typeface="Times New Roman" panose="02020603050405020304" pitchFamily="18" charset="0"/>
                <a:cs typeface="Times New Roman" panose="02020603050405020304" pitchFamily="18" charset="0"/>
                <a:sym typeface="+mn-ea"/>
              </a:rPr>
              <a:t>变址位移量是n的约数</a:t>
            </a:r>
            <a:endParaRPr lang="zh-CN" altLang="en-US" sz="2000" dirty="0">
              <a:latin typeface="Times New Roman" panose="02020603050405020304" pitchFamily="18" charset="0"/>
              <a:cs typeface="Times New Roman" panose="02020603050405020304" pitchFamily="18" charset="0"/>
            </a:endParaRPr>
          </a:p>
          <a:p>
            <a:pPr marL="109855" indent="-109855" eaLnBrk="1" hangingPunct="1"/>
            <a:r>
              <a:rPr lang="zh-CN" altLang="en-US" sz="2400" dirty="0">
                <a:latin typeface="Times New Roman" panose="02020603050405020304" pitchFamily="18" charset="0"/>
                <a:cs typeface="Times New Roman" panose="02020603050405020304" pitchFamily="18" charset="0"/>
                <a:sym typeface="+mn-ea"/>
              </a:rPr>
              <a:t>方案：存储体个数</a:t>
            </a:r>
            <a:r>
              <a:rPr lang="en-US" altLang="zh-CN" sz="2400" dirty="0">
                <a:latin typeface="Times New Roman" panose="02020603050405020304" pitchFamily="18" charset="0"/>
                <a:cs typeface="Times New Roman" panose="02020603050405020304" pitchFamily="18" charset="0"/>
                <a:sym typeface="+mn-ea"/>
              </a:rPr>
              <a:t>n</a:t>
            </a:r>
            <a:r>
              <a:rPr lang="zh-CN" altLang="en-US" sz="2400" dirty="0">
                <a:latin typeface="Times New Roman" panose="02020603050405020304" pitchFamily="18" charset="0"/>
                <a:cs typeface="Times New Roman" panose="02020603050405020304" pitchFamily="18" charset="0"/>
                <a:sym typeface="+mn-ea"/>
              </a:rPr>
              <a:t>选为质数，变址位移量必然与</a:t>
            </a:r>
            <a:r>
              <a:rPr lang="en-US" altLang="zh-CN" sz="2400" dirty="0">
                <a:latin typeface="Times New Roman" panose="02020603050405020304" pitchFamily="18" charset="0"/>
                <a:cs typeface="Times New Roman" panose="02020603050405020304" pitchFamily="18" charset="0"/>
                <a:sym typeface="+mn-ea"/>
              </a:rPr>
              <a:t>n</a:t>
            </a:r>
            <a:r>
              <a:rPr lang="zh-CN" altLang="en-US" sz="2400" dirty="0">
                <a:latin typeface="Times New Roman" panose="02020603050405020304" pitchFamily="18" charset="0"/>
                <a:cs typeface="Times New Roman" panose="02020603050405020304" pitchFamily="18" charset="0"/>
                <a:sym typeface="+mn-ea"/>
              </a:rPr>
              <a:t>互质</a:t>
            </a:r>
            <a:endParaRPr lang="zh-CN" altLang="en-US" sz="2400" dirty="0">
              <a:latin typeface="Times New Roman" panose="02020603050405020304" pitchFamily="18" charset="0"/>
              <a:cs typeface="Times New Roman" panose="02020603050405020304" pitchFamily="18" charset="0"/>
            </a:endParaRPr>
          </a:p>
          <a:p>
            <a:pPr lvl="1" algn="l" eaLnBrk="1" hangingPunct="1">
              <a:spcBef>
                <a:spcPts val="600"/>
              </a:spcBef>
              <a:buSzTx/>
            </a:pPr>
            <a:r>
              <a:rPr lang="zh-CN" altLang="en-US" sz="2000" dirty="0">
                <a:latin typeface="Times New Roman" panose="02020603050405020304" pitchFamily="18" charset="0"/>
                <a:cs typeface="Times New Roman" panose="02020603050405020304" pitchFamily="18" charset="0"/>
                <a:sym typeface="+mn-ea"/>
              </a:rPr>
              <a:t>向量计算大型计算机系统，其主存储器的存储体个数一般都是质数</a:t>
            </a:r>
            <a:endParaRPr lang="zh-CN" altLang="en-US" sz="2000" dirty="0">
              <a:latin typeface="Times New Roman" panose="02020603050405020304" pitchFamily="18" charset="0"/>
              <a:cs typeface="Times New Roman" panose="02020603050405020304" pitchFamily="18" charset="0"/>
            </a:endParaRPr>
          </a:p>
          <a:p>
            <a:pPr lvl="1" algn="l" eaLnBrk="1" hangingPunct="1">
              <a:spcBef>
                <a:spcPts val="600"/>
              </a:spcBef>
              <a:buSzTx/>
            </a:pPr>
            <a:r>
              <a:rPr lang="zh-CN" altLang="en-US" sz="2000" dirty="0">
                <a:latin typeface="Times New Roman" panose="02020603050405020304" pitchFamily="18" charset="0"/>
                <a:cs typeface="Times New Roman" panose="02020603050405020304" pitchFamily="18" charset="0"/>
                <a:sym typeface="+mn-ea"/>
              </a:rPr>
              <a:t>BSP存储体个数为17；银河巨型计算机，存储体的个数为31</a:t>
            </a:r>
            <a:endParaRPr lang="zh-CN" altLang="en-US" sz="2000" dirty="0">
              <a:latin typeface="Times New Roman" panose="02020603050405020304" pitchFamily="18" charset="0"/>
              <a:cs typeface="Times New Roman" panose="02020603050405020304" pitchFamily="18" charset="0"/>
            </a:endParaRPr>
          </a:p>
          <a:p>
            <a:pPr eaLnBrk="1" hangingPunct="1">
              <a:lnSpc>
                <a:spcPct val="100000"/>
              </a:lnSpc>
              <a:spcBef>
                <a:spcPts val="600"/>
              </a:spcBef>
            </a:pPr>
            <a:endParaRPr lang="zh-CN" altLang="en-US" sz="2400" dirty="0">
              <a:solidFill>
                <a:schemeClr val="tx2"/>
              </a:solidFill>
              <a:latin typeface="Times New Roman" panose="02020603050405020304" pitchFamily="18" charset="0"/>
              <a:cs typeface="Times New Roman" panose="02020603050405020304" pitchFamily="18" charset="0"/>
            </a:endParaRPr>
          </a:p>
          <a:p>
            <a:pPr lvl="1" eaLnBrk="1" hangingPunct="1">
              <a:lnSpc>
                <a:spcPct val="100000"/>
              </a:lnSpc>
              <a:spcBef>
                <a:spcPts val="600"/>
              </a:spcBef>
            </a:pPr>
            <a:endParaRPr lang="zh-CN" sz="2400" dirty="0">
              <a:latin typeface="Times New Roman" panose="02020603050405020304" pitchFamily="18" charset="0"/>
              <a:cs typeface="Times New Roman" panose="02020603050405020304" pitchFamily="18" charset="0"/>
              <a:sym typeface="+mn-ea"/>
            </a:endParaRPr>
          </a:p>
          <a:p>
            <a:pPr lvl="1" eaLnBrk="1" hangingPunct="1">
              <a:spcBef>
                <a:spcPts val="1200"/>
              </a:spcBef>
            </a:pPr>
            <a:endParaRPr lang="zh-CN" altLang="en-US" sz="2055" dirty="0">
              <a:latin typeface="Times New Roman" panose="02020603050405020304" pitchFamily="18" charset="0"/>
              <a:cs typeface="Times New Roman" panose="02020603050405020304" pitchFamily="18" charset="0"/>
              <a:sym typeface="+mn-ea"/>
            </a:endParaRPr>
          </a:p>
        </p:txBody>
      </p:sp>
      <p:pic>
        <p:nvPicPr>
          <p:cNvPr id="5" name="图片 4"/>
          <p:cNvPicPr>
            <a:picLocks noChangeAspect="1"/>
          </p:cNvPicPr>
          <p:nvPr>
            <p:custDataLst>
              <p:tags r:id="rId2"/>
            </p:custDataLst>
          </p:nvPr>
        </p:nvPicPr>
        <p:blipFill>
          <a:blip r:embed="rId3"/>
          <a:stretch>
            <a:fillRect/>
          </a:stretch>
        </p:blipFill>
        <p:spPr>
          <a:xfrm>
            <a:off x="4211955" y="2277110"/>
            <a:ext cx="3510280" cy="193548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二维数组</a:t>
            </a:r>
            <a:endPar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Rectangle 3"/>
          <p:cNvSpPr>
            <a:spLocks noGrp="1"/>
          </p:cNvSpPr>
          <p:nvPr>
            <p:custDataLst>
              <p:tags r:id="rId1"/>
            </p:custDataLst>
          </p:nvPr>
        </p:nvSpPr>
        <p:spPr>
          <a:xfrm>
            <a:off x="395605" y="1124585"/>
            <a:ext cx="8420100" cy="5511165"/>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170180" indent="-170180" eaLnBrk="1" hangingPunct="1"/>
            <a:r>
              <a:rPr lang="zh-CN" altLang="en-US" sz="2400" dirty="0">
                <a:sym typeface="+mn-ea"/>
              </a:rPr>
              <a:t>按列访问有冲突的存储方案</a:t>
            </a:r>
            <a:endParaRPr lang="zh-CN" altLang="en-US" sz="2400" dirty="0"/>
          </a:p>
          <a:p>
            <a:pPr marL="170180" indent="-170180" eaLnBrk="1" hangingPunct="1"/>
            <a:endParaRPr lang="zh-CN" altLang="en-US" sz="2400" dirty="0"/>
          </a:p>
          <a:p>
            <a:pPr marL="170180" indent="-170180" eaLnBrk="1" hangingPunct="1"/>
            <a:endParaRPr lang="zh-CN" altLang="en-US" sz="2400" dirty="0"/>
          </a:p>
          <a:p>
            <a:pPr marL="170180" indent="-170180" eaLnBrk="1" hangingPunct="1"/>
            <a:endParaRPr lang="zh-CN" altLang="en-US" sz="2400" dirty="0"/>
          </a:p>
          <a:p>
            <a:pPr marL="170180" indent="-170180" eaLnBrk="1" hangingPunct="1"/>
            <a:endParaRPr lang="zh-CN" altLang="en-US" sz="2400" dirty="0"/>
          </a:p>
          <a:p>
            <a:pPr marL="170180" indent="-170180" eaLnBrk="1" hangingPunct="1"/>
            <a:endParaRPr lang="zh-CN" altLang="en-US" sz="2400" dirty="0"/>
          </a:p>
          <a:p>
            <a:pPr marL="170180" indent="-170180" eaLnBrk="1" hangingPunct="1"/>
            <a:r>
              <a:rPr lang="zh-CN" altLang="en-US" sz="2400" dirty="0">
                <a:sym typeface="+mn-ea"/>
              </a:rPr>
              <a:t>按对角线访问有冲突的存储方案</a:t>
            </a:r>
            <a:r>
              <a:rPr lang="en-US" altLang="zh-CN" sz="2400" dirty="0">
                <a:sym typeface="+mn-ea"/>
              </a:rPr>
              <a:t>(</a:t>
            </a:r>
            <a:r>
              <a:rPr lang="zh-CN" altLang="en-US" sz="2400" dirty="0">
                <a:sym typeface="+mn-ea"/>
              </a:rPr>
              <a:t>按列访问无冲突</a:t>
            </a:r>
            <a:r>
              <a:rPr lang="en-US" altLang="zh-CN" sz="2400" dirty="0">
                <a:sym typeface="+mn-ea"/>
              </a:rPr>
              <a:t>)</a:t>
            </a:r>
            <a:endParaRPr lang="en-US" altLang="zh-CN" sz="2400" dirty="0"/>
          </a:p>
          <a:p>
            <a:pPr eaLnBrk="1" hangingPunct="1">
              <a:lnSpc>
                <a:spcPct val="100000"/>
              </a:lnSpc>
              <a:spcBef>
                <a:spcPts val="600"/>
              </a:spcBef>
            </a:pPr>
            <a:endParaRPr lang="zh-CN" altLang="en-US" sz="2400" dirty="0">
              <a:solidFill>
                <a:schemeClr val="tx2"/>
              </a:solidFill>
              <a:latin typeface="Times New Roman" panose="02020603050405020304" pitchFamily="18" charset="0"/>
              <a:cs typeface="Times New Roman" panose="02020603050405020304" pitchFamily="18" charset="0"/>
            </a:endParaRPr>
          </a:p>
          <a:p>
            <a:pPr lvl="1" eaLnBrk="1" hangingPunct="1">
              <a:lnSpc>
                <a:spcPct val="100000"/>
              </a:lnSpc>
              <a:spcBef>
                <a:spcPts val="600"/>
              </a:spcBef>
            </a:pPr>
            <a:endParaRPr lang="zh-CN" sz="2400" dirty="0">
              <a:latin typeface="Times New Roman" panose="02020603050405020304" pitchFamily="18" charset="0"/>
              <a:cs typeface="Times New Roman" panose="02020603050405020304" pitchFamily="18" charset="0"/>
              <a:sym typeface="+mn-ea"/>
            </a:endParaRPr>
          </a:p>
          <a:p>
            <a:pPr lvl="1" eaLnBrk="1" hangingPunct="1">
              <a:spcBef>
                <a:spcPts val="1200"/>
              </a:spcBef>
            </a:pPr>
            <a:endParaRPr lang="zh-CN" altLang="en-US" sz="2055" dirty="0">
              <a:latin typeface="Times New Roman" panose="02020603050405020304" pitchFamily="18" charset="0"/>
              <a:cs typeface="Times New Roman" panose="02020603050405020304" pitchFamily="18" charset="0"/>
              <a:sym typeface="+mn-ea"/>
            </a:endParaRPr>
          </a:p>
        </p:txBody>
      </p:sp>
      <p:pic>
        <p:nvPicPr>
          <p:cNvPr id="3" name="图片 2"/>
          <p:cNvPicPr>
            <a:picLocks noChangeAspect="1"/>
          </p:cNvPicPr>
          <p:nvPr>
            <p:custDataLst>
              <p:tags r:id="rId2"/>
            </p:custDataLst>
          </p:nvPr>
        </p:nvPicPr>
        <p:blipFill>
          <a:blip r:embed="rId3"/>
          <a:stretch>
            <a:fillRect/>
          </a:stretch>
        </p:blipFill>
        <p:spPr>
          <a:xfrm>
            <a:off x="1979930" y="1557020"/>
            <a:ext cx="3999230" cy="2175510"/>
          </a:xfrm>
          <a:prstGeom prst="rect">
            <a:avLst/>
          </a:prstGeom>
        </p:spPr>
      </p:pic>
      <p:pic>
        <p:nvPicPr>
          <p:cNvPr id="5" name="图片 4"/>
          <p:cNvPicPr>
            <a:picLocks noChangeAspect="1"/>
          </p:cNvPicPr>
          <p:nvPr>
            <p:custDataLst>
              <p:tags r:id="rId4"/>
            </p:custDataLst>
          </p:nvPr>
        </p:nvPicPr>
        <p:blipFill>
          <a:blip r:embed="rId5"/>
          <a:stretch>
            <a:fillRect/>
          </a:stretch>
        </p:blipFill>
        <p:spPr>
          <a:xfrm>
            <a:off x="1979930" y="4220845"/>
            <a:ext cx="4038600" cy="2200275"/>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二维数组</a:t>
            </a:r>
            <a:endPar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Rectangle 3"/>
          <p:cNvSpPr>
            <a:spLocks noGrp="1"/>
          </p:cNvSpPr>
          <p:nvPr>
            <p:custDataLst>
              <p:tags r:id="rId1"/>
            </p:custDataLst>
          </p:nvPr>
        </p:nvSpPr>
        <p:spPr>
          <a:xfrm>
            <a:off x="361950" y="1243330"/>
            <a:ext cx="8420100" cy="4885690"/>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eaLnBrk="1" hangingPunct="1">
              <a:spcBef>
                <a:spcPts val="1200"/>
              </a:spcBef>
            </a:pPr>
            <a:r>
              <a:rPr lang="zh-CN" altLang="en-US" sz="2400" dirty="0">
                <a:latin typeface="Times New Roman" panose="02020603050405020304" pitchFamily="18" charset="0"/>
                <a:cs typeface="Times New Roman" panose="02020603050405020304" pitchFamily="18" charset="0"/>
                <a:sym typeface="+mn-ea"/>
              </a:rPr>
              <a:t>不难证明</a:t>
            </a:r>
            <a:endParaRPr lang="zh-CN" altLang="en-US" sz="2400" dirty="0">
              <a:latin typeface="Times New Roman" panose="02020603050405020304" pitchFamily="18" charset="0"/>
              <a:cs typeface="Times New Roman" panose="02020603050405020304" pitchFamily="18" charset="0"/>
            </a:endParaRPr>
          </a:p>
          <a:p>
            <a:pPr lvl="1" indent="-169545" eaLnBrk="1" hangingPunct="1">
              <a:spcBef>
                <a:spcPts val="1200"/>
              </a:spcBef>
            </a:pPr>
            <a:r>
              <a:rPr lang="zh-CN" altLang="en-US" sz="2400" dirty="0">
                <a:latin typeface="Times New Roman" panose="02020603050405020304" pitchFamily="18" charset="0"/>
                <a:cs typeface="Times New Roman" panose="02020603050405020304" pitchFamily="18" charset="0"/>
                <a:sym typeface="+mn-ea"/>
              </a:rPr>
              <a:t>如果二维数组的各个元素采用</a:t>
            </a:r>
            <a:r>
              <a:rPr lang="zh-CN" altLang="en-US" sz="2400" dirty="0">
                <a:solidFill>
                  <a:srgbClr val="FF0000"/>
                </a:solidFill>
                <a:latin typeface="Times New Roman" panose="02020603050405020304" pitchFamily="18" charset="0"/>
                <a:cs typeface="Times New Roman" panose="02020603050405020304" pitchFamily="18" charset="0"/>
                <a:sym typeface="+mn-ea"/>
              </a:rPr>
              <a:t>按地址顺序存储</a:t>
            </a:r>
            <a:r>
              <a:rPr lang="zh-CN" altLang="en-US" sz="2400" dirty="0">
                <a:latin typeface="Times New Roman" panose="02020603050405020304" pitchFamily="18" charset="0"/>
                <a:cs typeface="Times New Roman" panose="02020603050405020304" pitchFamily="18" charset="0"/>
                <a:sym typeface="+mn-ea"/>
              </a:rPr>
              <a:t>的方案</a:t>
            </a:r>
            <a:endParaRPr lang="zh-CN" altLang="en-US" sz="2400" dirty="0">
              <a:latin typeface="Times New Roman" panose="02020603050405020304" pitchFamily="18" charset="0"/>
              <a:cs typeface="Times New Roman" panose="02020603050405020304" pitchFamily="18" charset="0"/>
            </a:endParaRPr>
          </a:p>
          <a:p>
            <a:pPr lvl="1" indent="-169545" eaLnBrk="1" hangingPunct="1">
              <a:spcBef>
                <a:spcPts val="1200"/>
              </a:spcBef>
            </a:pPr>
            <a:r>
              <a:rPr lang="zh-CN" altLang="en-US" sz="2400" dirty="0">
                <a:latin typeface="Times New Roman" panose="02020603050405020304" pitchFamily="18" charset="0"/>
                <a:cs typeface="Times New Roman" panose="02020603050405020304" pitchFamily="18" charset="0"/>
                <a:sym typeface="+mn-ea"/>
              </a:rPr>
              <a:t>当并行存储体的个数是偶数时</a:t>
            </a:r>
            <a:endParaRPr lang="zh-CN" altLang="en-US" sz="2400" dirty="0">
              <a:latin typeface="Times New Roman" panose="02020603050405020304" pitchFamily="18" charset="0"/>
              <a:cs typeface="Times New Roman" panose="02020603050405020304" pitchFamily="18" charset="0"/>
            </a:endParaRPr>
          </a:p>
          <a:p>
            <a:pPr lvl="1" indent="-169545" eaLnBrk="1" hangingPunct="1">
              <a:spcBef>
                <a:spcPts val="1200"/>
              </a:spcBef>
            </a:pPr>
            <a:r>
              <a:rPr lang="zh-CN" altLang="en-US" sz="2400" dirty="0">
                <a:latin typeface="Times New Roman" panose="02020603050405020304" pitchFamily="18" charset="0"/>
                <a:cs typeface="Times New Roman" panose="02020603050405020304" pitchFamily="18" charset="0"/>
                <a:sym typeface="+mn-ea"/>
              </a:rPr>
              <a:t>对于</a:t>
            </a:r>
            <a:r>
              <a:rPr lang="en-US" altLang="zh-CN" sz="2400" dirty="0">
                <a:latin typeface="Times New Roman" panose="02020603050405020304" pitchFamily="18" charset="0"/>
                <a:cs typeface="Times New Roman" panose="02020603050405020304" pitchFamily="18" charset="0"/>
                <a:sym typeface="+mn-ea"/>
              </a:rPr>
              <a:t>n×n</a:t>
            </a:r>
            <a:r>
              <a:rPr lang="zh-CN" altLang="en-US" sz="2400" dirty="0">
                <a:latin typeface="Times New Roman" panose="02020603050405020304" pitchFamily="18" charset="0"/>
                <a:cs typeface="Times New Roman" panose="02020603050405020304" pitchFamily="18" charset="0"/>
                <a:sym typeface="+mn-ea"/>
              </a:rPr>
              <a:t>二维数组就不可能实现按行、按列、按对角线和反对角线的无冲突访问</a:t>
            </a:r>
            <a:endParaRPr lang="zh-CN" altLang="en-US" sz="2400" dirty="0">
              <a:latin typeface="Times New Roman" panose="02020603050405020304" pitchFamily="18" charset="0"/>
              <a:cs typeface="Times New Roman" panose="02020603050405020304" pitchFamily="18" charset="0"/>
            </a:endParaRPr>
          </a:p>
          <a:p>
            <a:pPr eaLnBrk="1" hangingPunct="1">
              <a:spcBef>
                <a:spcPts val="1800"/>
              </a:spcBef>
            </a:pPr>
            <a:r>
              <a:rPr lang="zh-CN" altLang="en-US" sz="2400" dirty="0">
                <a:latin typeface="Times New Roman" panose="02020603050405020304" pitchFamily="18" charset="0"/>
                <a:cs typeface="Times New Roman" panose="02020603050405020304" pitchFamily="18" charset="0"/>
                <a:sym typeface="+mn-ea"/>
              </a:rPr>
              <a:t>可针对不同的数组采取各种变通的措施</a:t>
            </a:r>
            <a:endParaRPr lang="zh-CN" altLang="en-US" sz="2400" dirty="0">
              <a:latin typeface="Times New Roman" panose="02020603050405020304" pitchFamily="18" charset="0"/>
              <a:cs typeface="Times New Roman" panose="02020603050405020304" pitchFamily="18" charset="0"/>
            </a:endParaRPr>
          </a:p>
          <a:p>
            <a:pPr lvl="1" indent="-169545" eaLnBrk="1" hangingPunct="1">
              <a:spcBef>
                <a:spcPts val="1200"/>
              </a:spcBef>
            </a:pPr>
            <a:r>
              <a:rPr lang="zh-CN" altLang="en-US" sz="2400" dirty="0">
                <a:latin typeface="Times New Roman" panose="02020603050405020304" pitchFamily="18" charset="0"/>
                <a:cs typeface="Times New Roman" panose="02020603050405020304" pitchFamily="18" charset="0"/>
                <a:sym typeface="+mn-ea"/>
              </a:rPr>
              <a:t>如采用不同的错位存储方案</a:t>
            </a:r>
            <a:endParaRPr lang="zh-CN" altLang="en-US" sz="2400" dirty="0">
              <a:latin typeface="Times New Roman" panose="02020603050405020304" pitchFamily="18" charset="0"/>
              <a:cs typeface="Times New Roman" panose="02020603050405020304" pitchFamily="18" charset="0"/>
            </a:endParaRPr>
          </a:p>
          <a:p>
            <a:pPr lvl="1" indent="-169545" eaLnBrk="1" hangingPunct="1">
              <a:spcBef>
                <a:spcPts val="1200"/>
              </a:spcBef>
            </a:pPr>
            <a:r>
              <a:rPr lang="zh-CN" altLang="en-US" sz="2400" dirty="0">
                <a:latin typeface="Times New Roman" panose="02020603050405020304" pitchFamily="18" charset="0"/>
                <a:cs typeface="Times New Roman" panose="02020603050405020304" pitchFamily="18" charset="0"/>
                <a:sym typeface="+mn-ea"/>
              </a:rPr>
              <a:t>给编译程序增加很大的麻烦，硬件实现的代价也很高</a:t>
            </a:r>
            <a:endParaRPr lang="zh-CN" altLang="en-US" sz="2400" dirty="0">
              <a:latin typeface="Times New Roman" panose="02020603050405020304" pitchFamily="18" charset="0"/>
              <a:cs typeface="Times New Roman" panose="02020603050405020304" pitchFamily="18" charset="0"/>
            </a:endParaRPr>
          </a:p>
          <a:p>
            <a:pPr eaLnBrk="1" hangingPunct="1">
              <a:lnSpc>
                <a:spcPct val="100000"/>
              </a:lnSpc>
              <a:spcBef>
                <a:spcPts val="1200"/>
              </a:spcBef>
            </a:pPr>
            <a:endParaRPr lang="zh-CN" altLang="en-US" sz="2400" dirty="0">
              <a:solidFill>
                <a:schemeClr val="tx2"/>
              </a:solidFill>
              <a:latin typeface="Times New Roman" panose="02020603050405020304" pitchFamily="18" charset="0"/>
              <a:cs typeface="Times New Roman" panose="02020603050405020304" pitchFamily="18" charset="0"/>
            </a:endParaRPr>
          </a:p>
          <a:p>
            <a:pPr lvl="1" eaLnBrk="1" hangingPunct="1">
              <a:lnSpc>
                <a:spcPct val="100000"/>
              </a:lnSpc>
              <a:spcBef>
                <a:spcPts val="1200"/>
              </a:spcBef>
            </a:pPr>
            <a:endParaRPr lang="zh-CN" sz="2400" dirty="0">
              <a:latin typeface="Times New Roman" panose="02020603050405020304" pitchFamily="18" charset="0"/>
              <a:cs typeface="Times New Roman" panose="02020603050405020304" pitchFamily="18" charset="0"/>
              <a:sym typeface="+mn-ea"/>
            </a:endParaRPr>
          </a:p>
          <a:p>
            <a:pPr lvl="1" eaLnBrk="1" hangingPunct="1">
              <a:spcBef>
                <a:spcPts val="1200"/>
              </a:spcBef>
            </a:pPr>
            <a:endParaRPr lang="zh-CN" altLang="en-US" sz="2055"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nxn二维数组无冲突访问</a:t>
            </a:r>
            <a:endPar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Rectangle 3"/>
          <p:cNvSpPr>
            <a:spLocks noGrp="1"/>
          </p:cNvSpPr>
          <p:nvPr>
            <p:custDataLst>
              <p:tags r:id="rId1"/>
            </p:custDataLst>
          </p:nvPr>
        </p:nvSpPr>
        <p:spPr>
          <a:xfrm>
            <a:off x="361950" y="1243330"/>
            <a:ext cx="8420100" cy="4885690"/>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eaLnBrk="1" hangingPunct="1">
              <a:spcBef>
                <a:spcPts val="600"/>
              </a:spcBef>
            </a:pPr>
            <a:r>
              <a:rPr lang="en-US" altLang="zh-CN" sz="2000" dirty="0">
                <a:latin typeface="Times New Roman" panose="02020603050405020304" pitchFamily="18" charset="0"/>
                <a:cs typeface="Times New Roman" panose="02020603050405020304" pitchFamily="18" charset="0"/>
                <a:sym typeface="+mn-ea"/>
              </a:rPr>
              <a:t>nxn</a:t>
            </a:r>
            <a:r>
              <a:rPr lang="zh-CN" altLang="en-US" sz="2000" dirty="0">
                <a:latin typeface="Times New Roman" panose="02020603050405020304" pitchFamily="18" charset="0"/>
                <a:cs typeface="Times New Roman" panose="02020603050405020304" pitchFamily="18" charset="0"/>
                <a:sym typeface="+mn-ea"/>
              </a:rPr>
              <a:t>二维数组要求按行、列、对角线、反对角线</a:t>
            </a:r>
            <a:r>
              <a:rPr lang="zh-CN" altLang="en-US" sz="2000" dirty="0">
                <a:latin typeface="Times New Roman" panose="02020603050405020304" pitchFamily="18" charset="0"/>
                <a:cs typeface="Times New Roman" panose="02020603050405020304" pitchFamily="18" charset="0"/>
                <a:sym typeface="+mn-ea"/>
              </a:rPr>
              <a:t>无冲突访问</a:t>
            </a:r>
            <a:endParaRPr lang="zh-CN" altLang="en-US" sz="2000" dirty="0">
              <a:latin typeface="Times New Roman" panose="02020603050405020304" pitchFamily="18" charset="0"/>
              <a:cs typeface="Times New Roman" panose="02020603050405020304" pitchFamily="18" charset="0"/>
            </a:endParaRPr>
          </a:p>
          <a:p>
            <a:pPr lvl="1" indent="-169545" eaLnBrk="1" hangingPunct="1">
              <a:spcBef>
                <a:spcPts val="600"/>
              </a:spcBef>
            </a:pPr>
            <a:r>
              <a:rPr lang="zh-CN" altLang="en-US" sz="2000" dirty="0">
                <a:latin typeface="Times New Roman" panose="02020603050405020304" pitchFamily="18" charset="0"/>
                <a:cs typeface="Times New Roman" panose="02020603050405020304" pitchFamily="18" charset="0"/>
                <a:sym typeface="+mn-ea"/>
              </a:rPr>
              <a:t>存储体个数</a:t>
            </a:r>
            <a:r>
              <a:rPr lang="en-US" altLang="zh-CN" sz="2000" dirty="0">
                <a:latin typeface="Times New Roman" panose="02020603050405020304" pitchFamily="18" charset="0"/>
                <a:cs typeface="Times New Roman" panose="02020603050405020304" pitchFamily="18" charset="0"/>
                <a:sym typeface="+mn-ea"/>
              </a:rPr>
              <a:t>m&gt;=n,</a:t>
            </a:r>
            <a:r>
              <a:rPr lang="zh-CN" altLang="en-US" sz="2000" dirty="0">
                <a:latin typeface="Times New Roman" panose="02020603050405020304" pitchFamily="18" charset="0"/>
                <a:cs typeface="Times New Roman" panose="02020603050405020304" pitchFamily="18" charset="0"/>
                <a:sym typeface="+mn-ea"/>
              </a:rPr>
              <a:t>且取质数</a:t>
            </a:r>
            <a:endParaRPr lang="zh-CN" altLang="en-US" sz="2000" dirty="0">
              <a:latin typeface="Times New Roman" panose="02020603050405020304" pitchFamily="18" charset="0"/>
              <a:cs typeface="Times New Roman" panose="02020603050405020304" pitchFamily="18" charset="0"/>
            </a:endParaRPr>
          </a:p>
          <a:p>
            <a:pPr lvl="1" indent="-169545" eaLnBrk="1" hangingPunct="1">
              <a:spcBef>
                <a:spcPts val="600"/>
              </a:spcBef>
            </a:pPr>
            <a:r>
              <a:rPr lang="zh-CN" altLang="en-US" sz="2000" dirty="0">
                <a:latin typeface="Times New Roman" panose="02020603050405020304" pitchFamily="18" charset="0"/>
                <a:cs typeface="Times New Roman" panose="02020603050405020304" pitchFamily="18" charset="0"/>
                <a:sym typeface="+mn-ea"/>
              </a:rPr>
              <a:t>同一列相邻元素在存储体中错开</a:t>
            </a:r>
            <a:r>
              <a:rPr lang="en-US" altLang="zh-CN" sz="2000" dirty="0">
                <a:latin typeface="Times New Roman" panose="02020603050405020304" pitchFamily="18" charset="0"/>
                <a:cs typeface="Times New Roman" panose="02020603050405020304" pitchFamily="18" charset="0"/>
                <a:sym typeface="+mn-ea"/>
              </a:rPr>
              <a:t>d</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cs typeface="Times New Roman" panose="02020603050405020304" pitchFamily="18" charset="0"/>
                <a:sym typeface="+mn-ea"/>
              </a:rPr>
              <a:t>个存储体</a:t>
            </a:r>
            <a:endParaRPr lang="zh-CN" altLang="en-US" sz="2000" dirty="0">
              <a:latin typeface="Times New Roman" panose="02020603050405020304" pitchFamily="18" charset="0"/>
              <a:cs typeface="Times New Roman" panose="02020603050405020304" pitchFamily="18" charset="0"/>
            </a:endParaRPr>
          </a:p>
          <a:p>
            <a:pPr lvl="1" indent="-169545" eaLnBrk="1" hangingPunct="1">
              <a:spcBef>
                <a:spcPts val="600"/>
              </a:spcBef>
            </a:pPr>
            <a:r>
              <a:rPr lang="zh-CN" altLang="en-US" sz="2000" dirty="0">
                <a:latin typeface="Times New Roman" panose="02020603050405020304" pitchFamily="18" charset="0"/>
                <a:cs typeface="Times New Roman" panose="02020603050405020304" pitchFamily="18" charset="0"/>
                <a:sym typeface="+mn-ea"/>
              </a:rPr>
              <a:t>同一行相邻元素在存储体中错开</a:t>
            </a:r>
            <a:r>
              <a:rPr lang="en-US" altLang="zh-CN" sz="2000" dirty="0">
                <a:latin typeface="Times New Roman" panose="02020603050405020304" pitchFamily="18" charset="0"/>
                <a:cs typeface="Times New Roman" panose="02020603050405020304" pitchFamily="18" charset="0"/>
                <a:sym typeface="+mn-ea"/>
              </a:rPr>
              <a:t>d</a:t>
            </a:r>
            <a:r>
              <a:rPr lang="en-US" altLang="zh-CN" sz="2000" baseline="-25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cs typeface="Times New Roman" panose="02020603050405020304" pitchFamily="18" charset="0"/>
                <a:sym typeface="+mn-ea"/>
              </a:rPr>
              <a:t>个存储体</a:t>
            </a:r>
            <a:endParaRPr lang="zh-CN" altLang="en-US" sz="2000" dirty="0">
              <a:latin typeface="Times New Roman" panose="02020603050405020304" pitchFamily="18" charset="0"/>
              <a:cs typeface="Times New Roman" panose="02020603050405020304" pitchFamily="18" charset="0"/>
            </a:endParaRPr>
          </a:p>
          <a:p>
            <a:pPr lvl="1" indent="-169545" eaLnBrk="1" hangingPunct="1">
              <a:spcBef>
                <a:spcPts val="600"/>
              </a:spcBef>
            </a:pPr>
            <a:r>
              <a:rPr lang="en-US" altLang="zh-CN" sz="2000" dirty="0">
                <a:latin typeface="Times New Roman" panose="02020603050405020304" pitchFamily="18" charset="0"/>
                <a:cs typeface="Times New Roman" panose="02020603050405020304" pitchFamily="18" charset="0"/>
                <a:sym typeface="+mn-ea"/>
              </a:rPr>
              <a:t>m=2</a:t>
            </a:r>
            <a:r>
              <a:rPr lang="en-US" altLang="zh-CN" sz="2000" baseline="30000" dirty="0">
                <a:latin typeface="Times New Roman" panose="02020603050405020304" pitchFamily="18" charset="0"/>
                <a:cs typeface="Times New Roman" panose="02020603050405020304" pitchFamily="18" charset="0"/>
                <a:sym typeface="+mn-ea"/>
              </a:rPr>
              <a:t>2p</a:t>
            </a:r>
            <a:r>
              <a:rPr lang="en-US" altLang="zh-CN" sz="2000" dirty="0">
                <a:latin typeface="Times New Roman" panose="02020603050405020304" pitchFamily="18" charset="0"/>
                <a:cs typeface="Times New Roman" panose="02020603050405020304" pitchFamily="18" charset="0"/>
                <a:sym typeface="+mn-ea"/>
              </a:rPr>
              <a:t>+1, d</a:t>
            </a:r>
            <a:r>
              <a:rPr lang="en-US" altLang="zh-CN" sz="2000" baseline="-25000" dirty="0">
                <a:latin typeface="Times New Roman" panose="02020603050405020304" pitchFamily="18" charset="0"/>
                <a:cs typeface="Times New Roman" panose="02020603050405020304" pitchFamily="18" charset="0"/>
                <a:sym typeface="+mn-ea"/>
              </a:rPr>
              <a:t>1</a:t>
            </a:r>
            <a:r>
              <a:rPr lang="en-US" altLang="zh-CN" sz="2000" dirty="0">
                <a:latin typeface="Times New Roman" panose="02020603050405020304" pitchFamily="18" charset="0"/>
                <a:cs typeface="Times New Roman" panose="02020603050405020304" pitchFamily="18" charset="0"/>
                <a:sym typeface="+mn-ea"/>
              </a:rPr>
              <a:t>=2</a:t>
            </a:r>
            <a:r>
              <a:rPr lang="en-US" altLang="zh-CN" sz="2000" baseline="30000" dirty="0">
                <a:latin typeface="Times New Roman" panose="02020603050405020304" pitchFamily="18" charset="0"/>
                <a:cs typeface="Times New Roman" panose="02020603050405020304" pitchFamily="18" charset="0"/>
                <a:sym typeface="+mn-ea"/>
              </a:rPr>
              <a:t>p</a:t>
            </a:r>
            <a:r>
              <a:rPr lang="en-US" altLang="zh-CN" sz="2000" dirty="0">
                <a:latin typeface="Times New Roman" panose="02020603050405020304" pitchFamily="18" charset="0"/>
                <a:cs typeface="Times New Roman" panose="02020603050405020304" pitchFamily="18" charset="0"/>
                <a:sym typeface="+mn-ea"/>
              </a:rPr>
              <a:t>,d</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dirty="0">
                <a:latin typeface="Times New Roman" panose="02020603050405020304" pitchFamily="18" charset="0"/>
                <a:cs typeface="Times New Roman" panose="02020603050405020304" pitchFamily="18" charset="0"/>
                <a:sym typeface="+mn-ea"/>
              </a:rPr>
              <a:t>=1</a:t>
            </a:r>
            <a:endParaRPr lang="en-US" altLang="zh-CN" sz="2000" dirty="0">
              <a:latin typeface="Times New Roman" panose="02020603050405020304" pitchFamily="18" charset="0"/>
              <a:cs typeface="Times New Roman" panose="02020603050405020304" pitchFamily="18" charset="0"/>
            </a:endParaRPr>
          </a:p>
          <a:p>
            <a:pPr eaLnBrk="1" hangingPunct="1">
              <a:spcBef>
                <a:spcPts val="1200"/>
              </a:spcBef>
            </a:pPr>
            <a:r>
              <a:rPr lang="zh-CN" altLang="en-US" sz="2000" dirty="0">
                <a:latin typeface="Times New Roman" panose="02020603050405020304" pitchFamily="18" charset="0"/>
                <a:cs typeface="Times New Roman" panose="02020603050405020304" pitchFamily="18" charset="0"/>
                <a:sym typeface="+mn-ea"/>
              </a:rPr>
              <a:t>对于</a:t>
            </a:r>
            <a:r>
              <a:rPr lang="en-US" altLang="zh-CN" sz="2000" dirty="0">
                <a:latin typeface="Times New Roman" panose="02020603050405020304" pitchFamily="18" charset="0"/>
                <a:cs typeface="Times New Roman" panose="02020603050405020304" pitchFamily="18" charset="0"/>
                <a:sym typeface="+mn-ea"/>
              </a:rPr>
              <a:t>4x4</a:t>
            </a:r>
            <a:r>
              <a:rPr lang="zh-CN" altLang="en-US" sz="2000" dirty="0">
                <a:latin typeface="Times New Roman" panose="02020603050405020304" pitchFamily="18" charset="0"/>
                <a:cs typeface="Times New Roman" panose="02020603050405020304" pitchFamily="18" charset="0"/>
                <a:sym typeface="+mn-ea"/>
              </a:rPr>
              <a:t>的二维数组取</a:t>
            </a:r>
            <a:r>
              <a:rPr lang="en-US" altLang="zh-CN" sz="2000" dirty="0">
                <a:latin typeface="Times New Roman" panose="02020603050405020304" pitchFamily="18" charset="0"/>
                <a:cs typeface="Times New Roman" panose="02020603050405020304" pitchFamily="18" charset="0"/>
                <a:sym typeface="+mn-ea"/>
              </a:rPr>
              <a:t>m=5,</a:t>
            </a:r>
            <a:r>
              <a:rPr lang="zh-CN" altLang="en-US" sz="2000" dirty="0">
                <a:latin typeface="Times New Roman" panose="02020603050405020304" pitchFamily="18" charset="0"/>
                <a:cs typeface="Times New Roman" panose="02020603050405020304" pitchFamily="18" charset="0"/>
                <a:sym typeface="+mn-ea"/>
              </a:rPr>
              <a:t>解得</a:t>
            </a:r>
            <a:r>
              <a:rPr lang="en-US" altLang="zh-CN" sz="2000" dirty="0">
                <a:latin typeface="Times New Roman" panose="02020603050405020304" pitchFamily="18" charset="0"/>
                <a:cs typeface="Times New Roman" panose="02020603050405020304" pitchFamily="18" charset="0"/>
                <a:sym typeface="+mn-ea"/>
              </a:rPr>
              <a:t>p=1, d</a:t>
            </a:r>
            <a:r>
              <a:rPr lang="en-US" altLang="zh-CN" sz="2000" baseline="-25000" dirty="0">
                <a:latin typeface="Times New Roman" panose="02020603050405020304" pitchFamily="18" charset="0"/>
                <a:cs typeface="Times New Roman" panose="02020603050405020304" pitchFamily="18" charset="0"/>
                <a:sym typeface="+mn-ea"/>
              </a:rPr>
              <a:t>1</a:t>
            </a:r>
            <a:r>
              <a:rPr lang="en-US" altLang="zh-CN" sz="2000" dirty="0">
                <a:latin typeface="Times New Roman" panose="02020603050405020304" pitchFamily="18" charset="0"/>
                <a:cs typeface="Times New Roman" panose="02020603050405020304" pitchFamily="18" charset="0"/>
                <a:sym typeface="+mn-ea"/>
              </a:rPr>
              <a:t>=2,d</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dirty="0">
                <a:latin typeface="Times New Roman" panose="02020603050405020304" pitchFamily="18" charset="0"/>
                <a:cs typeface="Times New Roman" panose="02020603050405020304" pitchFamily="18" charset="0"/>
                <a:sym typeface="+mn-ea"/>
              </a:rPr>
              <a:t>=1</a:t>
            </a:r>
            <a:endParaRPr lang="en-US" altLang="zh-CN" sz="2000" dirty="0">
              <a:latin typeface="Times New Roman" panose="02020603050405020304" pitchFamily="18" charset="0"/>
              <a:cs typeface="Times New Roman" panose="02020603050405020304" pitchFamily="18" charset="0"/>
            </a:endParaRPr>
          </a:p>
          <a:p>
            <a:pPr lvl="1" indent="-169545" eaLnBrk="1" hangingPunct="1">
              <a:spcBef>
                <a:spcPts val="600"/>
              </a:spcBef>
            </a:pPr>
            <a:endParaRPr lang="en-US" altLang="zh-CN" sz="2000" dirty="0">
              <a:latin typeface="Times New Roman" panose="02020603050405020304" pitchFamily="18" charset="0"/>
              <a:cs typeface="Times New Roman" panose="02020603050405020304" pitchFamily="18" charset="0"/>
            </a:endParaRPr>
          </a:p>
          <a:p>
            <a:pPr lvl="1" indent="-169545" eaLnBrk="1" hangingPunct="1">
              <a:spcBef>
                <a:spcPts val="600"/>
              </a:spcBef>
            </a:pPr>
            <a:endParaRPr lang="en-US" altLang="zh-CN" sz="2000" dirty="0">
              <a:latin typeface="Times New Roman" panose="02020603050405020304" pitchFamily="18" charset="0"/>
              <a:cs typeface="Times New Roman" panose="02020603050405020304" pitchFamily="18" charset="0"/>
            </a:endParaRPr>
          </a:p>
          <a:p>
            <a:pPr lvl="1" indent="-169545" eaLnBrk="1" hangingPunct="1">
              <a:spcBef>
                <a:spcPts val="600"/>
              </a:spcBef>
            </a:pPr>
            <a:endParaRPr lang="en-US" altLang="zh-CN" sz="2000" dirty="0">
              <a:latin typeface="Times New Roman" panose="02020603050405020304" pitchFamily="18" charset="0"/>
              <a:cs typeface="Times New Roman" panose="02020603050405020304" pitchFamily="18" charset="0"/>
            </a:endParaRPr>
          </a:p>
          <a:p>
            <a:pPr lvl="1" indent="-169545" eaLnBrk="1" hangingPunct="1">
              <a:spcBef>
                <a:spcPts val="600"/>
              </a:spcBef>
            </a:pPr>
            <a:endParaRPr lang="en-US" altLang="zh-CN" sz="2000" dirty="0">
              <a:latin typeface="Times New Roman" panose="02020603050405020304" pitchFamily="18" charset="0"/>
              <a:cs typeface="Times New Roman" panose="02020603050405020304" pitchFamily="18" charset="0"/>
            </a:endParaRPr>
          </a:p>
          <a:p>
            <a:pPr lvl="1" indent="-169545" eaLnBrk="1" hangingPunct="1">
              <a:spcBef>
                <a:spcPts val="600"/>
              </a:spcBef>
            </a:pPr>
            <a:endParaRPr lang="en-US" altLang="zh-CN" sz="2000" dirty="0">
              <a:latin typeface="Times New Roman" panose="02020603050405020304" pitchFamily="18" charset="0"/>
              <a:cs typeface="Times New Roman" panose="02020603050405020304" pitchFamily="18" charset="0"/>
            </a:endParaRPr>
          </a:p>
          <a:p>
            <a:pPr lvl="1" indent="-169545" eaLnBrk="1" hangingPunct="1">
              <a:spcBef>
                <a:spcPts val="600"/>
              </a:spcBef>
            </a:pPr>
            <a:endParaRPr lang="en-US" altLang="zh-CN" sz="2000" dirty="0">
              <a:latin typeface="Times New Roman" panose="02020603050405020304" pitchFamily="18" charset="0"/>
              <a:cs typeface="Times New Roman" panose="02020603050405020304" pitchFamily="18" charset="0"/>
            </a:endParaRPr>
          </a:p>
          <a:p>
            <a:pPr lvl="1" indent="-169545" eaLnBrk="1" hangingPunct="1">
              <a:spcBef>
                <a:spcPts val="600"/>
              </a:spcBef>
            </a:pPr>
            <a:r>
              <a:rPr lang="zh-CN" altLang="en-US" sz="2000" dirty="0">
                <a:latin typeface="Times New Roman" panose="02020603050405020304" pitchFamily="18" charset="0"/>
                <a:cs typeface="Times New Roman" panose="02020603050405020304" pitchFamily="18" charset="0"/>
                <a:sym typeface="+mn-ea"/>
              </a:rPr>
              <a:t>有</a:t>
            </a:r>
            <a:r>
              <a:rPr lang="en-US" altLang="zh-CN" sz="2000" dirty="0">
                <a:latin typeface="Times New Roman" panose="02020603050405020304" pitchFamily="18" charset="0"/>
                <a:cs typeface="Times New Roman" panose="02020603050405020304" pitchFamily="18" charset="0"/>
                <a:sym typeface="+mn-ea"/>
              </a:rPr>
              <a:t>1/(n+1)</a:t>
            </a:r>
            <a:r>
              <a:rPr lang="zh-CN" altLang="en-US" sz="2000" dirty="0">
                <a:latin typeface="Times New Roman" panose="02020603050405020304" pitchFamily="18" charset="0"/>
                <a:cs typeface="Times New Roman" panose="02020603050405020304" pitchFamily="18" charset="0"/>
                <a:sym typeface="+mn-ea"/>
              </a:rPr>
              <a:t>的存储单元是浪费的，实际上浪费了一个存储体</a:t>
            </a:r>
            <a:endParaRPr lang="zh-CN" altLang="en-US" sz="2000" dirty="0">
              <a:latin typeface="Times New Roman" panose="02020603050405020304" pitchFamily="18" charset="0"/>
              <a:cs typeface="Times New Roman" panose="02020603050405020304" pitchFamily="18" charset="0"/>
            </a:endParaRPr>
          </a:p>
          <a:p>
            <a:pPr eaLnBrk="1" hangingPunct="1">
              <a:lnSpc>
                <a:spcPct val="100000"/>
              </a:lnSpc>
              <a:spcBef>
                <a:spcPts val="600"/>
              </a:spcBef>
            </a:pPr>
            <a:endParaRPr lang="zh-CN" altLang="en-US" sz="2000" dirty="0">
              <a:solidFill>
                <a:schemeClr val="tx2"/>
              </a:solidFill>
              <a:latin typeface="Times New Roman" panose="02020603050405020304" pitchFamily="18" charset="0"/>
              <a:cs typeface="Times New Roman" panose="02020603050405020304" pitchFamily="18" charset="0"/>
            </a:endParaRPr>
          </a:p>
          <a:p>
            <a:pPr lvl="1" eaLnBrk="1" hangingPunct="1">
              <a:lnSpc>
                <a:spcPct val="100000"/>
              </a:lnSpc>
              <a:spcBef>
                <a:spcPts val="600"/>
              </a:spcBef>
            </a:pPr>
            <a:endParaRPr lang="zh-CN" sz="2000" dirty="0">
              <a:latin typeface="Times New Roman" panose="02020603050405020304" pitchFamily="18" charset="0"/>
              <a:cs typeface="Times New Roman" panose="02020603050405020304" pitchFamily="18" charset="0"/>
              <a:sym typeface="+mn-ea"/>
            </a:endParaRPr>
          </a:p>
          <a:p>
            <a:pPr lvl="1" eaLnBrk="1" hangingPunct="1">
              <a:spcBef>
                <a:spcPts val="1200"/>
              </a:spcBef>
            </a:pPr>
            <a:endParaRPr lang="zh-CN" altLang="en-US" sz="2000" dirty="0">
              <a:latin typeface="Times New Roman" panose="02020603050405020304" pitchFamily="18" charset="0"/>
              <a:cs typeface="Times New Roman" panose="02020603050405020304" pitchFamily="18" charset="0"/>
              <a:sym typeface="+mn-ea"/>
            </a:endParaRPr>
          </a:p>
        </p:txBody>
      </p:sp>
      <p:pic>
        <p:nvPicPr>
          <p:cNvPr id="3" name="图片 2"/>
          <p:cNvPicPr>
            <a:picLocks noChangeAspect="1"/>
          </p:cNvPicPr>
          <p:nvPr>
            <p:custDataLst>
              <p:tags r:id="rId2"/>
            </p:custDataLst>
          </p:nvPr>
        </p:nvPicPr>
        <p:blipFill>
          <a:blip r:embed="rId3"/>
          <a:stretch>
            <a:fillRect/>
          </a:stretch>
        </p:blipFill>
        <p:spPr>
          <a:xfrm>
            <a:off x="1547495" y="3717290"/>
            <a:ext cx="4686300" cy="2096135"/>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计算数组元素的体号地址和体内地址</a:t>
            </a:r>
            <a:endPar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Rectangle 3"/>
          <p:cNvSpPr>
            <a:spLocks noGrp="1"/>
          </p:cNvSpPr>
          <p:nvPr>
            <p:custDataLst>
              <p:tags r:id="rId1"/>
            </p:custDataLst>
          </p:nvPr>
        </p:nvSpPr>
        <p:spPr>
          <a:xfrm>
            <a:off x="361950" y="1243330"/>
            <a:ext cx="8420100" cy="4885690"/>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eaLnBrk="1" hangingPunct="1">
              <a:spcBef>
                <a:spcPts val="600"/>
              </a:spcBef>
            </a:pPr>
            <a:r>
              <a:rPr lang="zh-CN" altLang="en-US" sz="2400" dirty="0">
                <a:latin typeface="Times New Roman" panose="02020603050405020304" pitchFamily="18" charset="0"/>
                <a:cs typeface="Times New Roman" panose="02020603050405020304" pitchFamily="18" charset="0"/>
                <a:sym typeface="+mn-ea"/>
              </a:rPr>
              <a:t>假设</a:t>
            </a:r>
            <a:r>
              <a:rPr lang="en-US" altLang="zh-CN" sz="2400" dirty="0">
                <a:latin typeface="Times New Roman" panose="02020603050405020304" pitchFamily="18" charset="0"/>
                <a:cs typeface="Times New Roman" panose="02020603050405020304" pitchFamily="18" charset="0"/>
                <a:sym typeface="+mn-ea"/>
              </a:rPr>
              <a:t>a</a:t>
            </a:r>
            <a:r>
              <a:rPr lang="en-US" altLang="zh-CN" sz="2400" baseline="-25000" dirty="0">
                <a:latin typeface="Times New Roman" panose="02020603050405020304" pitchFamily="18" charset="0"/>
                <a:cs typeface="Times New Roman" panose="02020603050405020304" pitchFamily="18" charset="0"/>
                <a:sym typeface="+mn-ea"/>
              </a:rPr>
              <a:t>ij</a:t>
            </a:r>
            <a:r>
              <a:rPr lang="zh-CN" altLang="en-US" sz="2400" dirty="0">
                <a:latin typeface="Times New Roman" panose="02020603050405020304" pitchFamily="18" charset="0"/>
                <a:cs typeface="Times New Roman" panose="02020603050405020304" pitchFamily="18" charset="0"/>
                <a:sym typeface="+mn-ea"/>
              </a:rPr>
              <a:t>是</a:t>
            </a:r>
            <a:r>
              <a:rPr lang="en-US" altLang="zh-CN" sz="2400" dirty="0">
                <a:latin typeface="Times New Roman" panose="02020603050405020304" pitchFamily="18" charset="0"/>
                <a:cs typeface="Times New Roman" panose="02020603050405020304" pitchFamily="18" charset="0"/>
                <a:sym typeface="+mn-ea"/>
              </a:rPr>
              <a:t>n×n</a:t>
            </a:r>
            <a:r>
              <a:rPr lang="zh-CN" altLang="en-US" sz="2400" dirty="0">
                <a:latin typeface="Times New Roman" panose="02020603050405020304" pitchFamily="18" charset="0"/>
                <a:cs typeface="Times New Roman" panose="02020603050405020304" pitchFamily="18" charset="0"/>
                <a:sym typeface="+mn-ea"/>
              </a:rPr>
              <a:t>二维数组中的任意一个元素，则</a:t>
            </a:r>
            <a:r>
              <a:rPr lang="en-US" altLang="zh-CN" sz="2400" dirty="0">
                <a:latin typeface="Times New Roman" panose="02020603050405020304" pitchFamily="18" charset="0"/>
                <a:cs typeface="Times New Roman" panose="02020603050405020304" pitchFamily="18" charset="0"/>
                <a:sym typeface="+mn-ea"/>
              </a:rPr>
              <a:t>a</a:t>
            </a:r>
            <a:r>
              <a:rPr lang="en-US" altLang="zh-CN" sz="2400" baseline="-25000" dirty="0">
                <a:latin typeface="Times New Roman" panose="02020603050405020304" pitchFamily="18" charset="0"/>
                <a:cs typeface="Times New Roman" panose="02020603050405020304" pitchFamily="18" charset="0"/>
                <a:sym typeface="+mn-ea"/>
              </a:rPr>
              <a:t>ij</a:t>
            </a:r>
            <a:r>
              <a:rPr lang="zh-CN" altLang="en-US" sz="2400" dirty="0">
                <a:latin typeface="Times New Roman" panose="02020603050405020304" pitchFamily="18" charset="0"/>
                <a:cs typeface="Times New Roman" panose="02020603050405020304" pitchFamily="18" charset="0"/>
                <a:sym typeface="+mn-ea"/>
              </a:rPr>
              <a:t>在无冲突并行存储器中</a:t>
            </a:r>
            <a:endParaRPr lang="zh-CN" altLang="en-US" sz="2400" dirty="0">
              <a:latin typeface="Times New Roman" panose="02020603050405020304" pitchFamily="18" charset="0"/>
              <a:cs typeface="Times New Roman" panose="02020603050405020304" pitchFamily="18" charset="0"/>
            </a:endParaRPr>
          </a:p>
          <a:p>
            <a:pPr lvl="1" indent="-169545" eaLnBrk="1" hangingPunct="1">
              <a:spcBef>
                <a:spcPts val="600"/>
              </a:spcBef>
            </a:pPr>
            <a:r>
              <a:rPr lang="zh-CN" altLang="en-US" sz="2400" dirty="0">
                <a:latin typeface="Times New Roman" panose="02020603050405020304" pitchFamily="18" charset="0"/>
                <a:cs typeface="Times New Roman" panose="02020603050405020304" pitchFamily="18" charset="0"/>
                <a:sym typeface="+mn-ea"/>
              </a:rPr>
              <a:t>体号地址：</a:t>
            </a:r>
            <a:r>
              <a:rPr lang="en-US" altLang="zh-CN" sz="2400" dirty="0">
                <a:latin typeface="Times New Roman" panose="02020603050405020304" pitchFamily="18" charset="0"/>
                <a:cs typeface="Times New Roman" panose="02020603050405020304" pitchFamily="18" charset="0"/>
                <a:sym typeface="+mn-ea"/>
              </a:rPr>
              <a:t>(2</a:t>
            </a:r>
            <a:r>
              <a:rPr lang="en-US" altLang="zh-CN" sz="2400" baseline="30000" dirty="0">
                <a:latin typeface="Times New Roman" panose="02020603050405020304" pitchFamily="18" charset="0"/>
                <a:cs typeface="Times New Roman" panose="02020603050405020304" pitchFamily="18" charset="0"/>
                <a:sym typeface="+mn-ea"/>
              </a:rPr>
              <a:t>p </a:t>
            </a:r>
            <a:r>
              <a:rPr lang="en-US" altLang="zh-CN" sz="2400" dirty="0">
                <a:latin typeface="Times New Roman" panose="02020603050405020304" pitchFamily="18" charset="0"/>
                <a:cs typeface="Times New Roman" panose="02020603050405020304" pitchFamily="18" charset="0"/>
                <a:sym typeface="+mn-ea"/>
              </a:rPr>
              <a:t>i+j+k) MOD m</a:t>
            </a:r>
            <a:endParaRPr lang="en-US" altLang="zh-CN" sz="2400" dirty="0">
              <a:latin typeface="Times New Roman" panose="02020603050405020304" pitchFamily="18" charset="0"/>
              <a:cs typeface="Times New Roman" panose="02020603050405020304" pitchFamily="18" charset="0"/>
            </a:endParaRPr>
          </a:p>
          <a:p>
            <a:pPr lvl="1" indent="-169545" eaLnBrk="1" hangingPunct="1">
              <a:spcBef>
                <a:spcPts val="600"/>
              </a:spcBef>
            </a:pPr>
            <a:r>
              <a:rPr lang="zh-CN" altLang="en-US" sz="2400" dirty="0">
                <a:latin typeface="Times New Roman" panose="02020603050405020304" pitchFamily="18" charset="0"/>
                <a:cs typeface="Times New Roman" panose="02020603050405020304" pitchFamily="18" charset="0"/>
                <a:sym typeface="+mn-ea"/>
              </a:rPr>
              <a:t>体内地址：</a:t>
            </a:r>
            <a:r>
              <a:rPr lang="en-US" altLang="zh-CN" sz="2400" dirty="0">
                <a:latin typeface="Times New Roman" panose="02020603050405020304" pitchFamily="18" charset="0"/>
                <a:cs typeface="Times New Roman" panose="02020603050405020304" pitchFamily="18" charset="0"/>
                <a:sym typeface="+mn-ea"/>
              </a:rPr>
              <a:t>i </a:t>
            </a:r>
            <a:r>
              <a:rPr lang="zh-CN" altLang="en-US" sz="2400" dirty="0">
                <a:latin typeface="Times New Roman" panose="02020603050405020304" pitchFamily="18" charset="0"/>
                <a:cs typeface="Times New Roman" panose="02020603050405020304" pitchFamily="18" charset="0"/>
                <a:sym typeface="+mn-ea"/>
              </a:rPr>
              <a:t>（行）</a:t>
            </a:r>
            <a:endParaRPr lang="en-US" altLang="zh-CN" sz="2400" dirty="0">
              <a:latin typeface="Times New Roman" panose="02020603050405020304" pitchFamily="18" charset="0"/>
              <a:cs typeface="Times New Roman" panose="02020603050405020304" pitchFamily="18" charset="0"/>
            </a:endParaRPr>
          </a:p>
          <a:p>
            <a:pPr lvl="1" indent="-169545" eaLnBrk="1" hangingPunct="1">
              <a:spcBef>
                <a:spcPts val="600"/>
              </a:spcBef>
            </a:pPr>
            <a:r>
              <a:rPr lang="zh-CN" altLang="en-US" sz="2400" dirty="0">
                <a:latin typeface="Times New Roman" panose="02020603050405020304" pitchFamily="18" charset="0"/>
                <a:cs typeface="Times New Roman" panose="02020603050405020304" pitchFamily="18" charset="0"/>
                <a:sym typeface="+mn-ea"/>
              </a:rPr>
              <a:t>其中</a:t>
            </a:r>
            <a:endParaRPr lang="zh-CN" altLang="en-US" sz="2400" dirty="0">
              <a:latin typeface="Times New Roman" panose="02020603050405020304" pitchFamily="18" charset="0"/>
              <a:cs typeface="Times New Roman" panose="02020603050405020304" pitchFamily="18" charset="0"/>
            </a:endParaRPr>
          </a:p>
          <a:p>
            <a:pPr lvl="2" eaLnBrk="1" hangingPunct="1">
              <a:spcBef>
                <a:spcPts val="600"/>
              </a:spcBef>
            </a:pPr>
            <a:r>
              <a:rPr lang="en-US" altLang="zh-CN" sz="2400" dirty="0">
                <a:latin typeface="Times New Roman" panose="02020603050405020304" pitchFamily="18" charset="0"/>
                <a:cs typeface="Times New Roman" panose="02020603050405020304" pitchFamily="18" charset="0"/>
                <a:sym typeface="+mn-ea"/>
              </a:rPr>
              <a:t>0≤i≤n-1</a:t>
            </a:r>
            <a:r>
              <a:rPr lang="zh-CN" altLang="en-US" sz="2400" dirty="0">
                <a:latin typeface="Times New Roman" panose="02020603050405020304" pitchFamily="18" charset="0"/>
                <a:cs typeface="Times New Roman" panose="02020603050405020304" pitchFamily="18" charset="0"/>
                <a:sym typeface="+mn-ea"/>
              </a:rPr>
              <a:t>，</a:t>
            </a:r>
            <a:r>
              <a:rPr lang="en-US" altLang="zh-CN" sz="2400" dirty="0">
                <a:latin typeface="Times New Roman" panose="02020603050405020304" pitchFamily="18" charset="0"/>
                <a:cs typeface="Times New Roman" panose="02020603050405020304" pitchFamily="18" charset="0"/>
                <a:sym typeface="+mn-ea"/>
              </a:rPr>
              <a:t>0≤j≤n-1</a:t>
            </a:r>
            <a:endParaRPr lang="en-US" altLang="zh-CN" sz="2400" dirty="0">
              <a:latin typeface="Times New Roman" panose="02020603050405020304" pitchFamily="18" charset="0"/>
              <a:cs typeface="Times New Roman" panose="02020603050405020304" pitchFamily="18" charset="0"/>
            </a:endParaRPr>
          </a:p>
          <a:p>
            <a:pPr lvl="2" eaLnBrk="1" hangingPunct="1">
              <a:spcBef>
                <a:spcPts val="600"/>
              </a:spcBef>
            </a:pPr>
            <a:r>
              <a:rPr lang="en-US" altLang="zh-CN" sz="2400" dirty="0">
                <a:latin typeface="Times New Roman" panose="02020603050405020304" pitchFamily="18" charset="0"/>
                <a:cs typeface="Times New Roman" panose="02020603050405020304" pitchFamily="18" charset="0"/>
                <a:sym typeface="+mn-ea"/>
              </a:rPr>
              <a:t>k</a:t>
            </a:r>
            <a:r>
              <a:rPr lang="zh-CN" altLang="en-US" sz="2400" dirty="0">
                <a:latin typeface="Times New Roman" panose="02020603050405020304" pitchFamily="18" charset="0"/>
                <a:cs typeface="Times New Roman" panose="02020603050405020304" pitchFamily="18" charset="0"/>
                <a:sym typeface="+mn-ea"/>
              </a:rPr>
              <a:t>为数组第一个元素</a:t>
            </a:r>
            <a:r>
              <a:rPr lang="en-US" altLang="zh-CN" sz="2400" dirty="0">
                <a:latin typeface="Times New Roman" panose="02020603050405020304" pitchFamily="18" charset="0"/>
                <a:cs typeface="Times New Roman" panose="02020603050405020304" pitchFamily="18" charset="0"/>
                <a:sym typeface="+mn-ea"/>
              </a:rPr>
              <a:t>a</a:t>
            </a:r>
            <a:r>
              <a:rPr lang="en-US" altLang="zh-CN" sz="2400" baseline="-25000" dirty="0">
                <a:latin typeface="Times New Roman" panose="02020603050405020304" pitchFamily="18" charset="0"/>
                <a:cs typeface="Times New Roman" panose="02020603050405020304" pitchFamily="18" charset="0"/>
                <a:sym typeface="+mn-ea"/>
              </a:rPr>
              <a:t>00</a:t>
            </a:r>
            <a:r>
              <a:rPr lang="zh-CN" altLang="en-US" sz="2400" dirty="0">
                <a:latin typeface="Times New Roman" panose="02020603050405020304" pitchFamily="18" charset="0"/>
                <a:cs typeface="Times New Roman" panose="02020603050405020304" pitchFamily="18" charset="0"/>
                <a:sym typeface="+mn-ea"/>
              </a:rPr>
              <a:t>所在体号，一般情况下取</a:t>
            </a:r>
            <a:r>
              <a:rPr lang="en-US" altLang="zh-CN" sz="2400" dirty="0">
                <a:latin typeface="Times New Roman" panose="02020603050405020304" pitchFamily="18" charset="0"/>
                <a:cs typeface="Times New Roman" panose="02020603050405020304" pitchFamily="18" charset="0"/>
                <a:sym typeface="+mn-ea"/>
              </a:rPr>
              <a:t>k=0</a:t>
            </a:r>
            <a:endParaRPr lang="en-US" altLang="zh-CN" sz="2400" dirty="0">
              <a:latin typeface="Times New Roman" panose="02020603050405020304" pitchFamily="18" charset="0"/>
              <a:cs typeface="Times New Roman" panose="02020603050405020304" pitchFamily="18" charset="0"/>
            </a:endParaRPr>
          </a:p>
          <a:p>
            <a:pPr lvl="2" eaLnBrk="1" hangingPunct="1">
              <a:spcBef>
                <a:spcPts val="600"/>
              </a:spcBef>
            </a:pPr>
            <a:r>
              <a:rPr lang="en-US" altLang="zh-CN" sz="2400" dirty="0">
                <a:latin typeface="Times New Roman" panose="02020603050405020304" pitchFamily="18" charset="0"/>
                <a:cs typeface="Times New Roman" panose="02020603050405020304" pitchFamily="18" charset="0"/>
                <a:sym typeface="+mn-ea"/>
              </a:rPr>
              <a:t>m</a:t>
            </a:r>
            <a:r>
              <a:rPr lang="zh-CN" altLang="en-US" sz="2400" dirty="0">
                <a:latin typeface="Times New Roman" panose="02020603050405020304" pitchFamily="18" charset="0"/>
                <a:cs typeface="Times New Roman" panose="02020603050405020304" pitchFamily="18" charset="0"/>
                <a:sym typeface="+mn-ea"/>
              </a:rPr>
              <a:t>是并行存储体的个数，要求</a:t>
            </a:r>
            <a:r>
              <a:rPr lang="en-US" altLang="zh-CN" sz="2400" dirty="0">
                <a:latin typeface="Times New Roman" panose="02020603050405020304" pitchFamily="18" charset="0"/>
                <a:cs typeface="Times New Roman" panose="02020603050405020304" pitchFamily="18" charset="0"/>
                <a:sym typeface="+mn-ea"/>
              </a:rPr>
              <a:t>m≥n</a:t>
            </a:r>
            <a:r>
              <a:rPr lang="zh-CN" altLang="en-US" sz="2400" dirty="0">
                <a:latin typeface="Times New Roman" panose="02020603050405020304" pitchFamily="18" charset="0"/>
                <a:cs typeface="Times New Roman" panose="02020603050405020304" pitchFamily="18" charset="0"/>
                <a:sym typeface="+mn-ea"/>
              </a:rPr>
              <a:t>且为质数</a:t>
            </a:r>
            <a:endParaRPr lang="zh-CN" altLang="en-US" sz="2400" dirty="0">
              <a:latin typeface="Times New Roman" panose="02020603050405020304" pitchFamily="18" charset="0"/>
              <a:cs typeface="Times New Roman" panose="02020603050405020304" pitchFamily="18" charset="0"/>
            </a:endParaRPr>
          </a:p>
          <a:p>
            <a:pPr lvl="2" eaLnBrk="1" hangingPunct="1">
              <a:spcBef>
                <a:spcPts val="600"/>
              </a:spcBef>
            </a:pPr>
            <a:r>
              <a:rPr lang="en-US" altLang="zh-CN" sz="2400" dirty="0">
                <a:latin typeface="Times New Roman" panose="02020603050405020304" pitchFamily="18" charset="0"/>
                <a:cs typeface="Times New Roman" panose="02020603050405020304" pitchFamily="18" charset="0"/>
                <a:sym typeface="+mn-ea"/>
              </a:rPr>
              <a:t>p</a:t>
            </a:r>
            <a:r>
              <a:rPr lang="zh-CN" altLang="en-US" sz="2400" dirty="0">
                <a:latin typeface="Times New Roman" panose="02020603050405020304" pitchFamily="18" charset="0"/>
                <a:cs typeface="Times New Roman" panose="02020603050405020304" pitchFamily="18" charset="0"/>
                <a:sym typeface="+mn-ea"/>
              </a:rPr>
              <a:t>是满足</a:t>
            </a:r>
            <a:r>
              <a:rPr lang="en-US" altLang="zh-CN" sz="2400" dirty="0">
                <a:latin typeface="Times New Roman" panose="02020603050405020304" pitchFamily="18" charset="0"/>
                <a:cs typeface="Times New Roman" panose="02020603050405020304" pitchFamily="18" charset="0"/>
                <a:sym typeface="+mn-ea"/>
              </a:rPr>
              <a:t>m=2</a:t>
            </a:r>
            <a:r>
              <a:rPr lang="en-US" altLang="zh-CN" sz="2400" baseline="30000" dirty="0">
                <a:latin typeface="Times New Roman" panose="02020603050405020304" pitchFamily="18" charset="0"/>
                <a:cs typeface="Times New Roman" panose="02020603050405020304" pitchFamily="18" charset="0"/>
                <a:sym typeface="+mn-ea"/>
              </a:rPr>
              <a:t>2p</a:t>
            </a:r>
            <a:r>
              <a:rPr lang="en-US" altLang="zh-CN" sz="2400" dirty="0">
                <a:latin typeface="Times New Roman" panose="02020603050405020304" pitchFamily="18" charset="0"/>
                <a:cs typeface="Times New Roman" panose="02020603050405020304" pitchFamily="18" charset="0"/>
                <a:sym typeface="+mn-ea"/>
              </a:rPr>
              <a:t>+1</a:t>
            </a:r>
            <a:r>
              <a:rPr lang="zh-CN" altLang="en-US" sz="2400" dirty="0">
                <a:latin typeface="Times New Roman" panose="02020603050405020304" pitchFamily="18" charset="0"/>
                <a:cs typeface="Times New Roman" panose="02020603050405020304" pitchFamily="18" charset="0"/>
                <a:sym typeface="+mn-ea"/>
              </a:rPr>
              <a:t>关系的任意自然数</a:t>
            </a:r>
            <a:endParaRPr lang="zh-CN" altLang="en-US" sz="2400" dirty="0">
              <a:latin typeface="Times New Roman" panose="02020603050405020304" pitchFamily="18" charset="0"/>
              <a:cs typeface="Times New Roman" panose="02020603050405020304" pitchFamily="18" charset="0"/>
            </a:endParaRPr>
          </a:p>
          <a:p>
            <a:pPr lvl="2" eaLnBrk="1" hangingPunct="1">
              <a:spcBef>
                <a:spcPts val="600"/>
              </a:spcBef>
            </a:pPr>
            <a:r>
              <a:rPr lang="en-US" altLang="zh-CN" sz="2400" dirty="0">
                <a:latin typeface="Times New Roman" panose="02020603050405020304" pitchFamily="18" charset="0"/>
                <a:cs typeface="Times New Roman" panose="02020603050405020304" pitchFamily="18" charset="0"/>
                <a:sym typeface="+mn-ea"/>
              </a:rPr>
              <a:t>MOD</a:t>
            </a:r>
            <a:r>
              <a:rPr lang="zh-CN" altLang="en-US" sz="2400" dirty="0">
                <a:latin typeface="Times New Roman" panose="02020603050405020304" pitchFamily="18" charset="0"/>
                <a:cs typeface="Times New Roman" panose="02020603050405020304" pitchFamily="18" charset="0"/>
                <a:sym typeface="+mn-ea"/>
              </a:rPr>
              <a:t>是模运算的符号</a:t>
            </a:r>
            <a:endParaRPr lang="zh-CN" altLang="en-US" sz="2400" dirty="0">
              <a:latin typeface="Times New Roman" panose="02020603050405020304" pitchFamily="18" charset="0"/>
              <a:cs typeface="Times New Roman" panose="02020603050405020304" pitchFamily="18" charset="0"/>
            </a:endParaRPr>
          </a:p>
          <a:p>
            <a:pPr eaLnBrk="1" hangingPunct="1">
              <a:lnSpc>
                <a:spcPct val="100000"/>
              </a:lnSpc>
              <a:spcBef>
                <a:spcPts val="600"/>
              </a:spcBef>
            </a:pPr>
            <a:endParaRPr lang="zh-CN" altLang="en-US" sz="2400" dirty="0">
              <a:solidFill>
                <a:schemeClr val="tx2"/>
              </a:solidFill>
              <a:latin typeface="Times New Roman" panose="02020603050405020304" pitchFamily="18" charset="0"/>
              <a:cs typeface="Times New Roman" panose="02020603050405020304" pitchFamily="18" charset="0"/>
            </a:endParaRPr>
          </a:p>
          <a:p>
            <a:pPr lvl="1" eaLnBrk="1" hangingPunct="1">
              <a:lnSpc>
                <a:spcPct val="100000"/>
              </a:lnSpc>
              <a:spcBef>
                <a:spcPts val="600"/>
              </a:spcBef>
            </a:pPr>
            <a:endParaRPr lang="zh-CN" sz="2400" dirty="0">
              <a:latin typeface="Times New Roman" panose="02020603050405020304" pitchFamily="18" charset="0"/>
              <a:cs typeface="Times New Roman" panose="02020603050405020304" pitchFamily="18" charset="0"/>
              <a:sym typeface="+mn-ea"/>
            </a:endParaRPr>
          </a:p>
          <a:p>
            <a:pPr lvl="1" eaLnBrk="1" hangingPunct="1">
              <a:spcBef>
                <a:spcPts val="1200"/>
              </a:spcBef>
            </a:pPr>
            <a:endParaRPr lang="zh-CN" altLang="en-US" sz="2055"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nxn的二维数组n个存储体实现的无冲突的存储方案</a:t>
            </a:r>
            <a:endParaRPr lang="zh-CN"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Rectangle 3"/>
          <p:cNvSpPr>
            <a:spLocks noGrp="1"/>
          </p:cNvSpPr>
          <p:nvPr>
            <p:custDataLst>
              <p:tags r:id="rId1"/>
            </p:custDataLst>
          </p:nvPr>
        </p:nvSpPr>
        <p:spPr>
          <a:xfrm>
            <a:off x="361950" y="1243330"/>
            <a:ext cx="8548370" cy="4885690"/>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eaLnBrk="1" hangingPunct="1">
              <a:lnSpc>
                <a:spcPct val="95000"/>
              </a:lnSpc>
              <a:spcBef>
                <a:spcPts val="1200"/>
              </a:spcBef>
            </a:pPr>
            <a:r>
              <a:rPr lang="zh-CN" altLang="en-US" sz="2400" dirty="0">
                <a:latin typeface="Times New Roman" panose="02020603050405020304" pitchFamily="18" charset="0"/>
                <a:cs typeface="Times New Roman" panose="02020603050405020304" pitchFamily="18" charset="0"/>
                <a:sym typeface="+mn-ea"/>
              </a:rPr>
              <a:t>对于任意一个</a:t>
            </a:r>
            <a:r>
              <a:rPr lang="en-US" altLang="zh-CN" sz="2400" dirty="0">
                <a:latin typeface="Times New Roman" panose="02020603050405020304" pitchFamily="18" charset="0"/>
                <a:cs typeface="Times New Roman" panose="02020603050405020304" pitchFamily="18" charset="0"/>
                <a:sym typeface="+mn-ea"/>
              </a:rPr>
              <a:t>n×n</a:t>
            </a:r>
            <a:r>
              <a:rPr lang="zh-CN" altLang="en-US" sz="2400" dirty="0">
                <a:latin typeface="Times New Roman" panose="02020603050405020304" pitchFamily="18" charset="0"/>
                <a:cs typeface="Times New Roman" panose="02020603050405020304" pitchFamily="18" charset="0"/>
                <a:sym typeface="+mn-ea"/>
              </a:rPr>
              <a:t>的二维数组，如果能够找到满足关系</a:t>
            </a:r>
            <a:r>
              <a:rPr lang="en-US" altLang="zh-CN" sz="2400" dirty="0">
                <a:latin typeface="Times New Roman" panose="02020603050405020304" pitchFamily="18" charset="0"/>
                <a:cs typeface="Times New Roman" panose="02020603050405020304" pitchFamily="18" charset="0"/>
                <a:sym typeface="+mn-ea"/>
              </a:rPr>
              <a:t>n=2</a:t>
            </a:r>
            <a:r>
              <a:rPr lang="en-US" altLang="zh-CN" sz="2400" baseline="30000" dirty="0">
                <a:latin typeface="Times New Roman" panose="02020603050405020304" pitchFamily="18" charset="0"/>
                <a:cs typeface="Times New Roman" panose="02020603050405020304" pitchFamily="18" charset="0"/>
                <a:sym typeface="+mn-ea"/>
              </a:rPr>
              <a:t>2p</a:t>
            </a:r>
            <a:r>
              <a:rPr lang="zh-CN" altLang="en-US" sz="2400" dirty="0">
                <a:latin typeface="Times New Roman" panose="02020603050405020304" pitchFamily="18" charset="0"/>
                <a:cs typeface="Times New Roman" panose="02020603050405020304" pitchFamily="18" charset="0"/>
                <a:sym typeface="+mn-ea"/>
              </a:rPr>
              <a:t>的任意自然数</a:t>
            </a:r>
            <a:r>
              <a:rPr lang="en-US" altLang="zh-CN" sz="2400" dirty="0">
                <a:latin typeface="Times New Roman" panose="02020603050405020304" pitchFamily="18" charset="0"/>
                <a:cs typeface="Times New Roman" panose="02020603050405020304" pitchFamily="18" charset="0"/>
                <a:sym typeface="+mn-ea"/>
              </a:rPr>
              <a:t>p</a:t>
            </a:r>
            <a:r>
              <a:rPr lang="zh-CN" altLang="en-US" sz="2400" dirty="0">
                <a:latin typeface="Times New Roman" panose="02020603050405020304" pitchFamily="18" charset="0"/>
                <a:cs typeface="Times New Roman" panose="02020603050405020304" pitchFamily="18" charset="0"/>
                <a:sym typeface="+mn-ea"/>
              </a:rPr>
              <a:t>，则这个二维数组就能够使用</a:t>
            </a:r>
            <a:r>
              <a:rPr lang="en-US" altLang="zh-CN" sz="2400" dirty="0">
                <a:latin typeface="Times New Roman" panose="02020603050405020304" pitchFamily="18" charset="0"/>
                <a:cs typeface="Times New Roman" panose="02020603050405020304" pitchFamily="18" charset="0"/>
                <a:sym typeface="+mn-ea"/>
              </a:rPr>
              <a:t>n</a:t>
            </a:r>
            <a:r>
              <a:rPr lang="zh-CN" altLang="en-US" sz="2400" dirty="0">
                <a:latin typeface="Times New Roman" panose="02020603050405020304" pitchFamily="18" charset="0"/>
                <a:cs typeface="Times New Roman" panose="02020603050405020304" pitchFamily="18" charset="0"/>
                <a:sym typeface="+mn-ea"/>
              </a:rPr>
              <a:t>个并行存储体实现按行、列、对角线和反对角线的无冲突访问</a:t>
            </a:r>
            <a:endParaRPr lang="zh-CN" altLang="en-US" sz="2400" dirty="0">
              <a:latin typeface="Times New Roman" panose="02020603050405020304" pitchFamily="18" charset="0"/>
              <a:cs typeface="Times New Roman" panose="02020603050405020304" pitchFamily="18" charset="0"/>
            </a:endParaRPr>
          </a:p>
          <a:p>
            <a:pPr lvl="0" eaLnBrk="1" hangingPunct="1">
              <a:lnSpc>
                <a:spcPct val="95000"/>
              </a:lnSpc>
              <a:spcBef>
                <a:spcPts val="1200"/>
              </a:spcBef>
            </a:pPr>
            <a:r>
              <a:rPr lang="zh-CN" altLang="en-US" sz="2400" dirty="0">
                <a:latin typeface="Times New Roman" panose="02020603050405020304" pitchFamily="18" charset="0"/>
                <a:cs typeface="Times New Roman" panose="02020603050405020304" pitchFamily="18" charset="0"/>
                <a:sym typeface="+mn-ea"/>
              </a:rPr>
              <a:t>以4×4二维数组为例，计算数组元素的体号地址和体内地址</a:t>
            </a:r>
            <a:endParaRPr lang="zh-CN" altLang="en-US" sz="2400" dirty="0">
              <a:latin typeface="Times New Roman" panose="02020603050405020304" pitchFamily="18" charset="0"/>
              <a:cs typeface="Times New Roman" panose="02020603050405020304" pitchFamily="18" charset="0"/>
            </a:endParaRPr>
          </a:p>
          <a:p>
            <a:pPr lvl="0" eaLnBrk="1" hangingPunct="1">
              <a:lnSpc>
                <a:spcPct val="95000"/>
              </a:lnSpc>
              <a:spcBef>
                <a:spcPts val="1200"/>
              </a:spcBef>
            </a:pPr>
            <a:r>
              <a:rPr lang="zh-CN" altLang="en-US" sz="2400" dirty="0">
                <a:latin typeface="Times New Roman" panose="02020603050405020304" pitchFamily="18" charset="0"/>
                <a:cs typeface="Times New Roman" panose="02020603050405020304" pitchFamily="18" charset="0"/>
                <a:sym typeface="+mn-ea"/>
              </a:rPr>
              <a:t>假设</a:t>
            </a:r>
            <a:r>
              <a:rPr lang="en-US" altLang="zh-CN" sz="2400" dirty="0">
                <a:latin typeface="Times New Roman" panose="02020603050405020304" pitchFamily="18" charset="0"/>
                <a:cs typeface="Times New Roman" panose="02020603050405020304" pitchFamily="18" charset="0"/>
                <a:sym typeface="+mn-ea"/>
              </a:rPr>
              <a:t>a</a:t>
            </a:r>
            <a:r>
              <a:rPr lang="en-US" altLang="zh-CN" sz="2400" baseline="-25000" dirty="0">
                <a:latin typeface="Times New Roman" panose="02020603050405020304" pitchFamily="18" charset="0"/>
                <a:cs typeface="Times New Roman" panose="02020603050405020304" pitchFamily="18" charset="0"/>
                <a:sym typeface="+mn-ea"/>
              </a:rPr>
              <a:t>ij</a:t>
            </a:r>
            <a:r>
              <a:rPr lang="zh-CN" altLang="en-US" sz="2400" dirty="0">
                <a:latin typeface="Times New Roman" panose="02020603050405020304" pitchFamily="18" charset="0"/>
                <a:cs typeface="Times New Roman" panose="02020603050405020304" pitchFamily="18" charset="0"/>
                <a:sym typeface="+mn-ea"/>
              </a:rPr>
              <a:t>是</a:t>
            </a:r>
            <a:r>
              <a:rPr lang="en-US" altLang="zh-CN" sz="2400" dirty="0">
                <a:latin typeface="Times New Roman" panose="02020603050405020304" pitchFamily="18" charset="0"/>
                <a:cs typeface="Times New Roman" panose="02020603050405020304" pitchFamily="18" charset="0"/>
                <a:sym typeface="+mn-ea"/>
              </a:rPr>
              <a:t>4×4</a:t>
            </a:r>
            <a:r>
              <a:rPr lang="zh-CN" altLang="en-US" sz="2400" dirty="0">
                <a:latin typeface="Times New Roman" panose="02020603050405020304" pitchFamily="18" charset="0"/>
                <a:cs typeface="Times New Roman" panose="02020603050405020304" pitchFamily="18" charset="0"/>
                <a:sym typeface="+mn-ea"/>
              </a:rPr>
              <a:t>二维数组中的任意一个元素，其中的下标</a:t>
            </a:r>
            <a:r>
              <a:rPr lang="en-US" altLang="zh-CN" sz="2400" dirty="0">
                <a:latin typeface="Times New Roman" panose="02020603050405020304" pitchFamily="18" charset="0"/>
                <a:cs typeface="Times New Roman" panose="02020603050405020304" pitchFamily="18" charset="0"/>
                <a:sym typeface="+mn-ea"/>
              </a:rPr>
              <a:t>i</a:t>
            </a:r>
            <a:r>
              <a:rPr lang="zh-CN" altLang="en-US" sz="2400" dirty="0">
                <a:latin typeface="Times New Roman" panose="02020603050405020304" pitchFamily="18" charset="0"/>
                <a:cs typeface="Times New Roman" panose="02020603050405020304" pitchFamily="18" charset="0"/>
                <a:sym typeface="+mn-ea"/>
              </a:rPr>
              <a:t>和</a:t>
            </a:r>
            <a:r>
              <a:rPr lang="en-US" altLang="zh-CN" sz="2400" dirty="0">
                <a:latin typeface="Times New Roman" panose="02020603050405020304" pitchFamily="18" charset="0"/>
                <a:cs typeface="Times New Roman" panose="02020603050405020304" pitchFamily="18" charset="0"/>
                <a:sym typeface="+mn-ea"/>
              </a:rPr>
              <a:t>j</a:t>
            </a:r>
            <a:r>
              <a:rPr lang="zh-CN" altLang="en-US" sz="2400" dirty="0">
                <a:latin typeface="Times New Roman" panose="02020603050405020304" pitchFamily="18" charset="0"/>
                <a:cs typeface="Times New Roman" panose="02020603050405020304" pitchFamily="18" charset="0"/>
                <a:sym typeface="+mn-ea"/>
              </a:rPr>
              <a:t>都可以用两位二进制数表示，假设</a:t>
            </a:r>
            <a:r>
              <a:rPr lang="en-US" altLang="zh-CN" sz="2400" dirty="0">
                <a:latin typeface="Times New Roman" panose="02020603050405020304" pitchFamily="18" charset="0"/>
                <a:cs typeface="Times New Roman" panose="02020603050405020304" pitchFamily="18" charset="0"/>
                <a:sym typeface="+mn-ea"/>
              </a:rPr>
              <a:t>i</a:t>
            </a:r>
            <a:r>
              <a:rPr lang="zh-CN" altLang="en-US" sz="2400" dirty="0">
                <a:latin typeface="Times New Roman" panose="02020603050405020304" pitchFamily="18" charset="0"/>
                <a:cs typeface="Times New Roman" panose="02020603050405020304" pitchFamily="18" charset="0"/>
                <a:sym typeface="+mn-ea"/>
              </a:rPr>
              <a:t>和</a:t>
            </a:r>
            <a:r>
              <a:rPr lang="en-US" altLang="zh-CN" sz="2400" dirty="0">
                <a:latin typeface="Times New Roman" panose="02020603050405020304" pitchFamily="18" charset="0"/>
                <a:cs typeface="Times New Roman" panose="02020603050405020304" pitchFamily="18" charset="0"/>
                <a:sym typeface="+mn-ea"/>
              </a:rPr>
              <a:t>j</a:t>
            </a:r>
            <a:r>
              <a:rPr lang="zh-CN" altLang="en-US" sz="2400" dirty="0">
                <a:latin typeface="Times New Roman" panose="02020603050405020304" pitchFamily="18" charset="0"/>
                <a:cs typeface="Times New Roman" panose="02020603050405020304" pitchFamily="18" charset="0"/>
                <a:sym typeface="+mn-ea"/>
              </a:rPr>
              <a:t>的高位和低位分别为</a:t>
            </a:r>
            <a:r>
              <a:rPr lang="en-US" altLang="zh-CN" sz="2400" dirty="0">
                <a:latin typeface="Times New Roman" panose="02020603050405020304" pitchFamily="18" charset="0"/>
                <a:cs typeface="Times New Roman" panose="02020603050405020304" pitchFamily="18" charset="0"/>
                <a:sym typeface="+mn-ea"/>
              </a:rPr>
              <a:t>i</a:t>
            </a:r>
            <a:r>
              <a:rPr lang="en-US" altLang="zh-CN" sz="2400" baseline="-25000" dirty="0">
                <a:latin typeface="Times New Roman" panose="02020603050405020304" pitchFamily="18" charset="0"/>
                <a:cs typeface="Times New Roman" panose="02020603050405020304" pitchFamily="18" charset="0"/>
                <a:sym typeface="+mn-ea"/>
              </a:rPr>
              <a:t>H</a:t>
            </a:r>
            <a:r>
              <a:rPr lang="zh-CN" altLang="en-US" sz="2400" dirty="0">
                <a:latin typeface="Times New Roman" panose="02020603050405020304" pitchFamily="18" charset="0"/>
                <a:cs typeface="Times New Roman" panose="02020603050405020304" pitchFamily="18" charset="0"/>
                <a:sym typeface="+mn-ea"/>
              </a:rPr>
              <a:t>、</a:t>
            </a:r>
            <a:r>
              <a:rPr lang="en-US" altLang="zh-CN" sz="2400" dirty="0">
                <a:latin typeface="Times New Roman" panose="02020603050405020304" pitchFamily="18" charset="0"/>
                <a:cs typeface="Times New Roman" panose="02020603050405020304" pitchFamily="18" charset="0"/>
                <a:sym typeface="+mn-ea"/>
              </a:rPr>
              <a:t>i</a:t>
            </a:r>
            <a:r>
              <a:rPr lang="en-US" altLang="zh-CN" sz="2400" baseline="-25000" dirty="0">
                <a:latin typeface="Times New Roman" panose="02020603050405020304" pitchFamily="18" charset="0"/>
                <a:cs typeface="Times New Roman" panose="02020603050405020304" pitchFamily="18" charset="0"/>
                <a:sym typeface="+mn-ea"/>
              </a:rPr>
              <a:t>L</a:t>
            </a:r>
            <a:r>
              <a:rPr lang="zh-CN" altLang="en-US" sz="2400" dirty="0">
                <a:latin typeface="Times New Roman" panose="02020603050405020304" pitchFamily="18" charset="0"/>
                <a:cs typeface="Times New Roman" panose="02020603050405020304" pitchFamily="18" charset="0"/>
                <a:sym typeface="+mn-ea"/>
              </a:rPr>
              <a:t>、</a:t>
            </a:r>
            <a:r>
              <a:rPr lang="en-US" altLang="zh-CN" sz="2400" dirty="0">
                <a:latin typeface="Times New Roman" panose="02020603050405020304" pitchFamily="18" charset="0"/>
                <a:cs typeface="Times New Roman" panose="02020603050405020304" pitchFamily="18" charset="0"/>
                <a:sym typeface="+mn-ea"/>
              </a:rPr>
              <a:t>j</a:t>
            </a:r>
            <a:r>
              <a:rPr lang="en-US" altLang="zh-CN" sz="2400" baseline="-25000" dirty="0">
                <a:latin typeface="Times New Roman" panose="02020603050405020304" pitchFamily="18" charset="0"/>
                <a:cs typeface="Times New Roman" panose="02020603050405020304" pitchFamily="18" charset="0"/>
                <a:sym typeface="+mn-ea"/>
              </a:rPr>
              <a:t>H</a:t>
            </a:r>
            <a:r>
              <a:rPr lang="zh-CN" altLang="en-US" sz="2400" dirty="0">
                <a:latin typeface="Times New Roman" panose="02020603050405020304" pitchFamily="18" charset="0"/>
                <a:cs typeface="Times New Roman" panose="02020603050405020304" pitchFamily="18" charset="0"/>
                <a:sym typeface="+mn-ea"/>
              </a:rPr>
              <a:t>和</a:t>
            </a:r>
            <a:r>
              <a:rPr lang="en-US" altLang="zh-CN" sz="2400" dirty="0">
                <a:latin typeface="Times New Roman" panose="02020603050405020304" pitchFamily="18" charset="0"/>
                <a:cs typeface="Times New Roman" panose="02020603050405020304" pitchFamily="18" charset="0"/>
                <a:sym typeface="+mn-ea"/>
              </a:rPr>
              <a:t>j</a:t>
            </a:r>
            <a:r>
              <a:rPr lang="en-US" altLang="zh-CN" sz="2400" baseline="-25000" dirty="0">
                <a:latin typeface="Times New Roman" panose="02020603050405020304" pitchFamily="18" charset="0"/>
                <a:cs typeface="Times New Roman" panose="02020603050405020304" pitchFamily="18" charset="0"/>
                <a:sym typeface="+mn-ea"/>
              </a:rPr>
              <a:t>L</a:t>
            </a:r>
            <a:r>
              <a:rPr lang="zh-CN" altLang="en-US" sz="2400" dirty="0">
                <a:latin typeface="Times New Roman" panose="02020603050405020304" pitchFamily="18" charset="0"/>
                <a:cs typeface="Times New Roman" panose="02020603050405020304" pitchFamily="18" charset="0"/>
                <a:sym typeface="+mn-ea"/>
              </a:rPr>
              <a:t>，则</a:t>
            </a:r>
            <a:r>
              <a:rPr lang="en-US" altLang="zh-CN" sz="2400" dirty="0">
                <a:latin typeface="Times New Roman" panose="02020603050405020304" pitchFamily="18" charset="0"/>
                <a:cs typeface="Times New Roman" panose="02020603050405020304" pitchFamily="18" charset="0"/>
                <a:sym typeface="+mn-ea"/>
              </a:rPr>
              <a:t>a</a:t>
            </a:r>
            <a:r>
              <a:rPr lang="en-US" altLang="zh-CN" sz="2400" baseline="-25000" dirty="0">
                <a:latin typeface="Times New Roman" panose="02020603050405020304" pitchFamily="18" charset="0"/>
                <a:cs typeface="Times New Roman" panose="02020603050405020304" pitchFamily="18" charset="0"/>
                <a:sym typeface="+mn-ea"/>
              </a:rPr>
              <a:t>ij</a:t>
            </a:r>
            <a:r>
              <a:rPr lang="zh-CN" altLang="en-US" sz="2400" dirty="0">
                <a:latin typeface="Times New Roman" panose="02020603050405020304" pitchFamily="18" charset="0"/>
                <a:cs typeface="Times New Roman" panose="02020603050405020304" pitchFamily="18" charset="0"/>
                <a:sym typeface="+mn-ea"/>
              </a:rPr>
              <a:t>在无冲突并行存储器中的体号地址和体内地址</a:t>
            </a:r>
            <a:endParaRPr lang="zh-CN" altLang="en-US" sz="2400" dirty="0">
              <a:latin typeface="Times New Roman" panose="02020603050405020304" pitchFamily="18" charset="0"/>
              <a:cs typeface="Times New Roman" panose="02020603050405020304" pitchFamily="18" charset="0"/>
            </a:endParaRPr>
          </a:p>
          <a:p>
            <a:pPr lvl="1" indent="-169545" eaLnBrk="1" hangingPunct="1">
              <a:lnSpc>
                <a:spcPct val="95000"/>
              </a:lnSpc>
              <a:spcBef>
                <a:spcPts val="1200"/>
              </a:spcBef>
            </a:pPr>
            <a:r>
              <a:rPr lang="zh-CN" altLang="en-US" sz="2395" dirty="0">
                <a:latin typeface="Times New Roman" panose="02020603050405020304" pitchFamily="18" charset="0"/>
                <a:cs typeface="Times New Roman" panose="02020603050405020304" pitchFamily="18" charset="0"/>
                <a:sym typeface="+mn-ea"/>
              </a:rPr>
              <a:t>体号地址：</a:t>
            </a:r>
            <a:r>
              <a:rPr lang="en-US" altLang="zh-CN" sz="2395" dirty="0">
                <a:latin typeface="Times New Roman" panose="02020603050405020304" pitchFamily="18" charset="0"/>
                <a:cs typeface="Times New Roman" panose="02020603050405020304" pitchFamily="18" charset="0"/>
                <a:sym typeface="+mn-ea"/>
              </a:rPr>
              <a:t>2(i</a:t>
            </a:r>
            <a:r>
              <a:rPr lang="en-US" altLang="zh-CN" sz="2395" baseline="-25000" dirty="0">
                <a:latin typeface="Times New Roman" panose="02020603050405020304" pitchFamily="18" charset="0"/>
                <a:cs typeface="Times New Roman" panose="02020603050405020304" pitchFamily="18" charset="0"/>
                <a:sym typeface="+mn-ea"/>
              </a:rPr>
              <a:t>L</a:t>
            </a:r>
            <a:r>
              <a:rPr lang="en-US" altLang="zh-CN" sz="2395"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395" dirty="0">
                <a:latin typeface="Times New Roman" panose="02020603050405020304" pitchFamily="18" charset="0"/>
                <a:cs typeface="Times New Roman" panose="02020603050405020304" pitchFamily="18" charset="0"/>
                <a:sym typeface="+mn-ea"/>
              </a:rPr>
              <a:t>j</a:t>
            </a:r>
            <a:r>
              <a:rPr lang="en-US" altLang="zh-CN" sz="2395" baseline="-25000" dirty="0">
                <a:latin typeface="Times New Roman" panose="02020603050405020304" pitchFamily="18" charset="0"/>
                <a:cs typeface="Times New Roman" panose="02020603050405020304" pitchFamily="18" charset="0"/>
                <a:sym typeface="+mn-ea"/>
              </a:rPr>
              <a:t>H</a:t>
            </a:r>
            <a:r>
              <a:rPr lang="en-US" altLang="zh-CN" sz="2395" dirty="0">
                <a:latin typeface="Times New Roman" panose="02020603050405020304" pitchFamily="18" charset="0"/>
                <a:cs typeface="Times New Roman" panose="02020603050405020304" pitchFamily="18" charset="0"/>
                <a:sym typeface="+mn-ea"/>
              </a:rPr>
              <a:t>)+(i</a:t>
            </a:r>
            <a:r>
              <a:rPr lang="en-US" altLang="zh-CN" sz="2395" baseline="-25000" dirty="0">
                <a:latin typeface="Times New Roman" panose="02020603050405020304" pitchFamily="18" charset="0"/>
                <a:cs typeface="Times New Roman" panose="02020603050405020304" pitchFamily="18" charset="0"/>
                <a:sym typeface="+mn-ea"/>
              </a:rPr>
              <a:t>H</a:t>
            </a:r>
            <a:r>
              <a:rPr lang="en-US" altLang="zh-CN" sz="2395"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395" dirty="0">
                <a:latin typeface="Times New Roman" panose="02020603050405020304" pitchFamily="18" charset="0"/>
                <a:cs typeface="Times New Roman" panose="02020603050405020304" pitchFamily="18" charset="0"/>
                <a:sym typeface="+mn-ea"/>
              </a:rPr>
              <a:t>i</a:t>
            </a:r>
            <a:r>
              <a:rPr lang="en-US" altLang="zh-CN" sz="2395" baseline="-25000" dirty="0">
                <a:latin typeface="Times New Roman" panose="02020603050405020304" pitchFamily="18" charset="0"/>
                <a:cs typeface="Times New Roman" panose="02020603050405020304" pitchFamily="18" charset="0"/>
                <a:sym typeface="+mn-ea"/>
              </a:rPr>
              <a:t>L</a:t>
            </a:r>
            <a:r>
              <a:rPr lang="en-US" altLang="zh-CN" sz="2395"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395" dirty="0">
                <a:latin typeface="Times New Roman" panose="02020603050405020304" pitchFamily="18" charset="0"/>
                <a:cs typeface="Times New Roman" panose="02020603050405020304" pitchFamily="18" charset="0"/>
                <a:sym typeface="+mn-ea"/>
              </a:rPr>
              <a:t>j</a:t>
            </a:r>
            <a:r>
              <a:rPr lang="en-US" altLang="zh-CN" sz="2395" baseline="-25000" dirty="0">
                <a:latin typeface="Times New Roman" panose="02020603050405020304" pitchFamily="18" charset="0"/>
                <a:cs typeface="Times New Roman" panose="02020603050405020304" pitchFamily="18" charset="0"/>
                <a:sym typeface="+mn-ea"/>
              </a:rPr>
              <a:t>L</a:t>
            </a:r>
            <a:r>
              <a:rPr lang="en-US" altLang="zh-CN" sz="2395" dirty="0">
                <a:latin typeface="Times New Roman" panose="02020603050405020304" pitchFamily="18" charset="0"/>
                <a:cs typeface="Times New Roman" panose="02020603050405020304" pitchFamily="18" charset="0"/>
                <a:sym typeface="+mn-ea"/>
              </a:rPr>
              <a:t>) </a:t>
            </a:r>
            <a:endParaRPr lang="en-US" altLang="zh-CN" sz="2395" dirty="0">
              <a:latin typeface="Times New Roman" panose="02020603050405020304" pitchFamily="18" charset="0"/>
              <a:cs typeface="Times New Roman" panose="02020603050405020304" pitchFamily="18" charset="0"/>
            </a:endParaRPr>
          </a:p>
          <a:p>
            <a:pPr lvl="1" indent="-169545" eaLnBrk="1" hangingPunct="1">
              <a:lnSpc>
                <a:spcPct val="95000"/>
              </a:lnSpc>
              <a:spcBef>
                <a:spcPts val="1200"/>
              </a:spcBef>
            </a:pPr>
            <a:r>
              <a:rPr lang="zh-CN" altLang="en-US" sz="2395" dirty="0">
                <a:latin typeface="Times New Roman" panose="02020603050405020304" pitchFamily="18" charset="0"/>
                <a:cs typeface="Times New Roman" panose="02020603050405020304" pitchFamily="18" charset="0"/>
                <a:sym typeface="+mn-ea"/>
              </a:rPr>
              <a:t>体内地址：</a:t>
            </a:r>
            <a:r>
              <a:rPr lang="en-US" altLang="zh-CN" sz="2395" dirty="0">
                <a:latin typeface="Times New Roman" panose="02020603050405020304" pitchFamily="18" charset="0"/>
                <a:cs typeface="Times New Roman" panose="02020603050405020304" pitchFamily="18" charset="0"/>
                <a:sym typeface="+mn-ea"/>
              </a:rPr>
              <a:t>j</a:t>
            </a:r>
            <a:endParaRPr lang="en-US" altLang="zh-CN" sz="2395" dirty="0">
              <a:latin typeface="Times New Roman" panose="02020603050405020304" pitchFamily="18" charset="0"/>
              <a:cs typeface="Times New Roman" panose="02020603050405020304" pitchFamily="18" charset="0"/>
            </a:endParaRPr>
          </a:p>
          <a:p>
            <a:pPr lvl="1" indent="-169545" eaLnBrk="1" hangingPunct="1">
              <a:lnSpc>
                <a:spcPct val="95000"/>
              </a:lnSpc>
              <a:spcBef>
                <a:spcPts val="1200"/>
              </a:spcBef>
            </a:pPr>
            <a:r>
              <a:rPr lang="zh-CN" altLang="en-US" sz="2395" dirty="0">
                <a:latin typeface="Times New Roman" panose="02020603050405020304" pitchFamily="18" charset="0"/>
                <a:cs typeface="Times New Roman" panose="02020603050405020304" pitchFamily="18" charset="0"/>
                <a:sym typeface="+mn-ea"/>
              </a:rPr>
              <a:t>其中</a:t>
            </a:r>
            <a:r>
              <a:rPr lang="en-US" altLang="zh-CN" sz="2395" dirty="0">
                <a:latin typeface="Times New Roman" panose="02020603050405020304" pitchFamily="18" charset="0"/>
                <a:cs typeface="Times New Roman" panose="02020603050405020304" pitchFamily="18" charset="0"/>
                <a:sym typeface="+mn-ea"/>
              </a:rPr>
              <a:t>0≤i≤3</a:t>
            </a:r>
            <a:r>
              <a:rPr lang="zh-CN" altLang="en-US" sz="2395" dirty="0">
                <a:latin typeface="Times New Roman" panose="02020603050405020304" pitchFamily="18" charset="0"/>
                <a:cs typeface="Times New Roman" panose="02020603050405020304" pitchFamily="18" charset="0"/>
                <a:sym typeface="+mn-ea"/>
              </a:rPr>
              <a:t>，</a:t>
            </a:r>
            <a:r>
              <a:rPr lang="en-US" altLang="zh-CN" sz="2395" dirty="0">
                <a:latin typeface="Times New Roman" panose="02020603050405020304" pitchFamily="18" charset="0"/>
                <a:cs typeface="Times New Roman" panose="02020603050405020304" pitchFamily="18" charset="0"/>
                <a:sym typeface="+mn-ea"/>
              </a:rPr>
              <a:t>0≤j≤3</a:t>
            </a:r>
            <a:r>
              <a:rPr lang="zh-CN" altLang="en-US" sz="2395" dirty="0">
                <a:latin typeface="Times New Roman" panose="02020603050405020304" pitchFamily="18" charset="0"/>
                <a:cs typeface="Times New Roman" panose="02020603050405020304" pitchFamily="18" charset="0"/>
                <a:sym typeface="+mn-ea"/>
              </a:rPr>
              <a:t>，</a:t>
            </a:r>
            <a:r>
              <a:rPr lang="en-US" altLang="zh-CN" sz="2395" dirty="0">
                <a:latin typeface="Times New Roman" panose="02020603050405020304" pitchFamily="18" charset="0"/>
                <a:cs typeface="Times New Roman" panose="02020603050405020304" pitchFamily="18" charset="0"/>
                <a:sym typeface="+mn-ea"/>
              </a:rPr>
              <a:t>i</a:t>
            </a:r>
            <a:r>
              <a:rPr lang="en-US" altLang="zh-CN" sz="2395" baseline="-25000" dirty="0">
                <a:latin typeface="Times New Roman" panose="02020603050405020304" pitchFamily="18" charset="0"/>
                <a:cs typeface="Times New Roman" panose="02020603050405020304" pitchFamily="18" charset="0"/>
                <a:sym typeface="+mn-ea"/>
              </a:rPr>
              <a:t>H</a:t>
            </a:r>
            <a:r>
              <a:rPr lang="zh-CN" altLang="en-US" sz="2395" dirty="0">
                <a:latin typeface="Times New Roman" panose="02020603050405020304" pitchFamily="18" charset="0"/>
                <a:cs typeface="Times New Roman" panose="02020603050405020304" pitchFamily="18" charset="0"/>
                <a:sym typeface="+mn-ea"/>
              </a:rPr>
              <a:t>、</a:t>
            </a:r>
            <a:r>
              <a:rPr lang="en-US" altLang="zh-CN" sz="2395" dirty="0">
                <a:latin typeface="Times New Roman" panose="02020603050405020304" pitchFamily="18" charset="0"/>
                <a:cs typeface="Times New Roman" panose="02020603050405020304" pitchFamily="18" charset="0"/>
                <a:sym typeface="+mn-ea"/>
              </a:rPr>
              <a:t>i</a:t>
            </a:r>
            <a:r>
              <a:rPr lang="en-US" altLang="zh-CN" sz="2395" baseline="-25000" dirty="0">
                <a:latin typeface="Times New Roman" panose="02020603050405020304" pitchFamily="18" charset="0"/>
                <a:cs typeface="Times New Roman" panose="02020603050405020304" pitchFamily="18" charset="0"/>
                <a:sym typeface="+mn-ea"/>
              </a:rPr>
              <a:t>L</a:t>
            </a:r>
            <a:r>
              <a:rPr lang="zh-CN" altLang="en-US" sz="2395" dirty="0">
                <a:latin typeface="Times New Roman" panose="02020603050405020304" pitchFamily="18" charset="0"/>
                <a:cs typeface="Times New Roman" panose="02020603050405020304" pitchFamily="18" charset="0"/>
                <a:sym typeface="+mn-ea"/>
              </a:rPr>
              <a:t>、</a:t>
            </a:r>
            <a:r>
              <a:rPr lang="en-US" altLang="zh-CN" sz="2395" dirty="0">
                <a:latin typeface="Times New Roman" panose="02020603050405020304" pitchFamily="18" charset="0"/>
                <a:cs typeface="Times New Roman" panose="02020603050405020304" pitchFamily="18" charset="0"/>
                <a:sym typeface="+mn-ea"/>
              </a:rPr>
              <a:t>j</a:t>
            </a:r>
            <a:r>
              <a:rPr lang="en-US" altLang="zh-CN" sz="2395" baseline="-25000" dirty="0">
                <a:latin typeface="Times New Roman" panose="02020603050405020304" pitchFamily="18" charset="0"/>
                <a:cs typeface="Times New Roman" panose="02020603050405020304" pitchFamily="18" charset="0"/>
                <a:sym typeface="+mn-ea"/>
              </a:rPr>
              <a:t>H</a:t>
            </a:r>
            <a:r>
              <a:rPr lang="zh-CN" altLang="en-US" sz="2395" dirty="0">
                <a:latin typeface="Times New Roman" panose="02020603050405020304" pitchFamily="18" charset="0"/>
                <a:cs typeface="Times New Roman" panose="02020603050405020304" pitchFamily="18" charset="0"/>
                <a:sym typeface="+mn-ea"/>
              </a:rPr>
              <a:t>和</a:t>
            </a:r>
            <a:r>
              <a:rPr lang="en-US" altLang="zh-CN" sz="2395" dirty="0">
                <a:latin typeface="Times New Roman" panose="02020603050405020304" pitchFamily="18" charset="0"/>
                <a:cs typeface="Times New Roman" panose="02020603050405020304" pitchFamily="18" charset="0"/>
                <a:sym typeface="+mn-ea"/>
              </a:rPr>
              <a:t>j</a:t>
            </a:r>
            <a:r>
              <a:rPr lang="en-US" altLang="zh-CN" sz="2395" baseline="-25000" dirty="0">
                <a:latin typeface="Times New Roman" panose="02020603050405020304" pitchFamily="18" charset="0"/>
                <a:cs typeface="Times New Roman" panose="02020603050405020304" pitchFamily="18" charset="0"/>
                <a:sym typeface="+mn-ea"/>
              </a:rPr>
              <a:t>L</a:t>
            </a:r>
            <a:r>
              <a:rPr lang="zh-CN" altLang="en-US" sz="2395" dirty="0">
                <a:latin typeface="Times New Roman" panose="02020603050405020304" pitchFamily="18" charset="0"/>
                <a:cs typeface="Times New Roman" panose="02020603050405020304" pitchFamily="18" charset="0"/>
                <a:sym typeface="+mn-ea"/>
              </a:rPr>
              <a:t>均为</a:t>
            </a:r>
            <a:r>
              <a:rPr lang="en-US" altLang="zh-CN" sz="2395" dirty="0">
                <a:latin typeface="Times New Roman" panose="02020603050405020304" pitchFamily="18" charset="0"/>
                <a:cs typeface="Times New Roman" panose="02020603050405020304" pitchFamily="18" charset="0"/>
                <a:sym typeface="+mn-ea"/>
              </a:rPr>
              <a:t>0</a:t>
            </a:r>
            <a:r>
              <a:rPr lang="zh-CN" altLang="en-US" sz="2395" dirty="0">
                <a:latin typeface="Times New Roman" panose="02020603050405020304" pitchFamily="18" charset="0"/>
                <a:cs typeface="Times New Roman" panose="02020603050405020304" pitchFamily="18" charset="0"/>
                <a:sym typeface="+mn-ea"/>
              </a:rPr>
              <a:t>或</a:t>
            </a:r>
            <a:r>
              <a:rPr lang="en-US" altLang="zh-CN" sz="2395" dirty="0">
                <a:latin typeface="Times New Roman" panose="02020603050405020304" pitchFamily="18" charset="0"/>
                <a:cs typeface="Times New Roman" panose="02020603050405020304" pitchFamily="18" charset="0"/>
                <a:sym typeface="+mn-ea"/>
              </a:rPr>
              <a:t>1</a:t>
            </a:r>
            <a:endParaRPr lang="en-US" altLang="zh-CN" sz="2395" dirty="0">
              <a:latin typeface="Times New Roman" panose="02020603050405020304" pitchFamily="18" charset="0"/>
              <a:cs typeface="Times New Roman" panose="02020603050405020304" pitchFamily="18" charset="0"/>
            </a:endParaRPr>
          </a:p>
          <a:p>
            <a:pPr eaLnBrk="1" hangingPunct="1">
              <a:lnSpc>
                <a:spcPct val="100000"/>
              </a:lnSpc>
              <a:spcBef>
                <a:spcPts val="1200"/>
              </a:spcBef>
            </a:pPr>
            <a:endParaRPr lang="zh-CN" altLang="en-US" sz="2400" dirty="0">
              <a:solidFill>
                <a:schemeClr val="tx2"/>
              </a:solidFill>
              <a:latin typeface="Times New Roman" panose="02020603050405020304" pitchFamily="18" charset="0"/>
              <a:cs typeface="Times New Roman" panose="02020603050405020304" pitchFamily="18" charset="0"/>
            </a:endParaRPr>
          </a:p>
          <a:p>
            <a:pPr lvl="1" eaLnBrk="1" hangingPunct="1">
              <a:lnSpc>
                <a:spcPct val="100000"/>
              </a:lnSpc>
              <a:spcBef>
                <a:spcPts val="1200"/>
              </a:spcBef>
            </a:pPr>
            <a:endParaRPr lang="zh-CN" sz="2400" dirty="0">
              <a:latin typeface="Times New Roman" panose="02020603050405020304" pitchFamily="18" charset="0"/>
              <a:cs typeface="Times New Roman" panose="02020603050405020304" pitchFamily="18" charset="0"/>
              <a:sym typeface="+mn-ea"/>
            </a:endParaRPr>
          </a:p>
          <a:p>
            <a:pPr lvl="1" eaLnBrk="1" hangingPunct="1">
              <a:spcBef>
                <a:spcPts val="1200"/>
              </a:spcBef>
            </a:pPr>
            <a:endParaRPr lang="zh-CN" altLang="en-US" sz="2055"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 4x4的二维数组4个存储体实现的无冲突的存储方案</a:t>
            </a:r>
            <a:endParaRPr lang="zh-CN"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Rectangle 3"/>
          <p:cNvSpPr>
            <a:spLocks noGrp="1"/>
          </p:cNvSpPr>
          <p:nvPr>
            <p:custDataLst>
              <p:tags r:id="rId1"/>
            </p:custDataLst>
          </p:nvPr>
        </p:nvSpPr>
        <p:spPr>
          <a:xfrm>
            <a:off x="361950" y="1141095"/>
            <a:ext cx="8420100" cy="4987925"/>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eaLnBrk="1" hangingPunct="1">
              <a:lnSpc>
                <a:spcPct val="95000"/>
              </a:lnSpc>
            </a:pPr>
            <a:r>
              <a:rPr lang="zh-CN" altLang="en-US" sz="2400" dirty="0">
                <a:latin typeface="Times New Roman" panose="02020603050405020304" pitchFamily="18" charset="0"/>
                <a:cs typeface="Times New Roman" panose="02020603050405020304" pitchFamily="18" charset="0"/>
                <a:sym typeface="+mn-ea"/>
              </a:rPr>
              <a:t>一个</a:t>
            </a:r>
            <a:r>
              <a:rPr lang="en-US" altLang="zh-CN" sz="2400" dirty="0">
                <a:latin typeface="Times New Roman" panose="02020603050405020304" pitchFamily="18" charset="0"/>
                <a:cs typeface="Times New Roman" panose="02020603050405020304" pitchFamily="18" charset="0"/>
                <a:sym typeface="+mn-ea"/>
              </a:rPr>
              <a:t>4×4</a:t>
            </a:r>
            <a:r>
              <a:rPr lang="zh-CN" altLang="en-US" sz="2400" dirty="0">
                <a:latin typeface="Times New Roman" panose="02020603050405020304" pitchFamily="18" charset="0"/>
                <a:cs typeface="Times New Roman" panose="02020603050405020304" pitchFamily="18" charset="0"/>
                <a:sym typeface="+mn-ea"/>
              </a:rPr>
              <a:t>二维数组在</a:t>
            </a:r>
            <a:r>
              <a:rPr lang="en-US" altLang="zh-CN" sz="2400" dirty="0">
                <a:latin typeface="Times New Roman" panose="02020603050405020304" pitchFamily="18" charset="0"/>
                <a:cs typeface="Times New Roman" panose="02020603050405020304" pitchFamily="18" charset="0"/>
                <a:sym typeface="+mn-ea"/>
              </a:rPr>
              <a:t>4</a:t>
            </a:r>
            <a:r>
              <a:rPr lang="zh-CN" altLang="en-US" sz="2400" dirty="0">
                <a:latin typeface="Times New Roman" panose="02020603050405020304" pitchFamily="18" charset="0"/>
                <a:cs typeface="Times New Roman" panose="02020603050405020304" pitchFamily="18" charset="0"/>
                <a:sym typeface="+mn-ea"/>
              </a:rPr>
              <a:t>个并行存储体中的存储方案如图</a:t>
            </a:r>
            <a:endParaRPr lang="en-US" altLang="zh-CN" sz="2400" dirty="0">
              <a:latin typeface="Times New Roman" panose="02020603050405020304" pitchFamily="18" charset="0"/>
              <a:cs typeface="Times New Roman" panose="02020603050405020304" pitchFamily="18" charset="0"/>
            </a:endParaRPr>
          </a:p>
          <a:p>
            <a:pPr lvl="1" eaLnBrk="1" hangingPunct="1">
              <a:lnSpc>
                <a:spcPct val="95000"/>
              </a:lnSpc>
            </a:pPr>
            <a:r>
              <a:rPr lang="zh-CN" altLang="en-US" sz="2400" dirty="0">
                <a:latin typeface="Times New Roman" panose="02020603050405020304" pitchFamily="18" charset="0"/>
                <a:cs typeface="Times New Roman" panose="02020603050405020304" pitchFamily="18" charset="0"/>
                <a:sym typeface="+mn-ea"/>
              </a:rPr>
              <a:t>能实现按行、列、对角线和反对角线的无冲突访问</a:t>
            </a:r>
            <a:endParaRPr lang="zh-CN" altLang="en-US" sz="2400" dirty="0">
              <a:latin typeface="Times New Roman" panose="02020603050405020304" pitchFamily="18" charset="0"/>
              <a:cs typeface="Times New Roman" panose="02020603050405020304" pitchFamily="18" charset="0"/>
              <a:sym typeface="+mn-ea"/>
            </a:endParaRPr>
          </a:p>
          <a:p>
            <a:pPr eaLnBrk="1" hangingPunct="1">
              <a:lnSpc>
                <a:spcPct val="95000"/>
              </a:lnSpc>
            </a:pPr>
            <a:endParaRPr lang="zh-CN" altLang="en-US" sz="2400" dirty="0">
              <a:latin typeface="Times New Roman" panose="02020603050405020304" pitchFamily="18" charset="0"/>
              <a:cs typeface="Times New Roman" panose="02020603050405020304" pitchFamily="18" charset="0"/>
              <a:sym typeface="+mn-ea"/>
            </a:endParaRPr>
          </a:p>
          <a:p>
            <a:pPr eaLnBrk="1" hangingPunct="1">
              <a:lnSpc>
                <a:spcPct val="95000"/>
              </a:lnSpc>
            </a:pPr>
            <a:endParaRPr lang="zh-CN" altLang="en-US" sz="2400" dirty="0">
              <a:latin typeface="Times New Roman" panose="02020603050405020304" pitchFamily="18" charset="0"/>
              <a:cs typeface="Times New Roman" panose="02020603050405020304" pitchFamily="18" charset="0"/>
              <a:sym typeface="+mn-ea"/>
            </a:endParaRPr>
          </a:p>
          <a:p>
            <a:pPr eaLnBrk="1" hangingPunct="1">
              <a:lnSpc>
                <a:spcPct val="95000"/>
              </a:lnSpc>
            </a:pPr>
            <a:endParaRPr lang="zh-CN" altLang="en-US" sz="2400" dirty="0">
              <a:latin typeface="Times New Roman" panose="02020603050405020304" pitchFamily="18" charset="0"/>
              <a:cs typeface="Times New Roman" panose="02020603050405020304" pitchFamily="18" charset="0"/>
              <a:sym typeface="+mn-ea"/>
            </a:endParaRPr>
          </a:p>
          <a:p>
            <a:pPr eaLnBrk="1" hangingPunct="1">
              <a:lnSpc>
                <a:spcPct val="95000"/>
              </a:lnSpc>
            </a:pPr>
            <a:endParaRPr lang="zh-CN" altLang="en-US" sz="2400" dirty="0">
              <a:latin typeface="Times New Roman" panose="02020603050405020304" pitchFamily="18" charset="0"/>
              <a:cs typeface="Times New Roman" panose="02020603050405020304" pitchFamily="18" charset="0"/>
            </a:endParaRPr>
          </a:p>
          <a:p>
            <a:pPr eaLnBrk="1" hangingPunct="1"/>
            <a:endParaRPr lang="zh-CN" altLang="en-US" sz="2400" dirty="0">
              <a:latin typeface="Times New Roman" panose="02020603050405020304" pitchFamily="18" charset="0"/>
              <a:cs typeface="Times New Roman" panose="02020603050405020304" pitchFamily="18" charset="0"/>
              <a:sym typeface="+mn-ea"/>
            </a:endParaRPr>
          </a:p>
          <a:p>
            <a:pPr eaLnBrk="1" hangingPunct="1"/>
            <a:endParaRPr lang="zh-CN" altLang="en-US" sz="2400" dirty="0">
              <a:latin typeface="Times New Roman" panose="02020603050405020304" pitchFamily="18" charset="0"/>
              <a:cs typeface="Times New Roman" panose="02020603050405020304" pitchFamily="18" charset="0"/>
              <a:sym typeface="+mn-ea"/>
            </a:endParaRPr>
          </a:p>
          <a:p>
            <a:pPr eaLnBrk="1" hangingPunct="1"/>
            <a:r>
              <a:rPr lang="zh-CN" altLang="en-US" sz="2400" dirty="0">
                <a:latin typeface="Times New Roman" panose="02020603050405020304" pitchFamily="18" charset="0"/>
                <a:cs typeface="Times New Roman" panose="02020603050405020304" pitchFamily="18" charset="0"/>
                <a:sym typeface="+mn-ea"/>
              </a:rPr>
              <a:t>当数组的</a:t>
            </a:r>
            <a:r>
              <a:rPr lang="en-US" altLang="zh-CN" sz="2400" dirty="0">
                <a:latin typeface="Times New Roman" panose="02020603050405020304" pitchFamily="18" charset="0"/>
                <a:cs typeface="Times New Roman" panose="02020603050405020304" pitchFamily="18" charset="0"/>
                <a:sym typeface="+mn-ea"/>
              </a:rPr>
              <a:t>n</a:t>
            </a:r>
            <a:r>
              <a:rPr lang="zh-CN" altLang="en-US" sz="2400" dirty="0">
                <a:latin typeface="Times New Roman" panose="02020603050405020304" pitchFamily="18" charset="0"/>
                <a:cs typeface="Times New Roman" panose="02020603050405020304" pitchFamily="18" charset="0"/>
                <a:sym typeface="+mn-ea"/>
              </a:rPr>
              <a:t>大于</a:t>
            </a:r>
            <a:r>
              <a:rPr lang="en-US" altLang="zh-CN" sz="2400" dirty="0">
                <a:latin typeface="Times New Roman" panose="02020603050405020304" pitchFamily="18" charset="0"/>
                <a:cs typeface="Times New Roman" panose="02020603050405020304" pitchFamily="18" charset="0"/>
                <a:sym typeface="+mn-ea"/>
              </a:rPr>
              <a:t>4</a:t>
            </a:r>
            <a:r>
              <a:rPr lang="zh-CN" altLang="en-US" sz="2400" dirty="0">
                <a:latin typeface="Times New Roman" panose="02020603050405020304" pitchFamily="18" charset="0"/>
                <a:cs typeface="Times New Roman" panose="02020603050405020304" pitchFamily="18" charset="0"/>
                <a:sym typeface="+mn-ea"/>
              </a:rPr>
              <a:t>时，可以把数组划分成多个</a:t>
            </a:r>
            <a:r>
              <a:rPr lang="en-US" altLang="zh-CN" sz="2400" dirty="0">
                <a:latin typeface="Times New Roman" panose="02020603050405020304" pitchFamily="18" charset="0"/>
                <a:cs typeface="Times New Roman" panose="02020603050405020304" pitchFamily="18" charset="0"/>
                <a:sym typeface="+mn-ea"/>
              </a:rPr>
              <a:t>4×4</a:t>
            </a:r>
            <a:r>
              <a:rPr lang="zh-CN" altLang="en-US" sz="2400" dirty="0">
                <a:latin typeface="Times New Roman" panose="02020603050405020304" pitchFamily="18" charset="0"/>
                <a:cs typeface="Times New Roman" panose="02020603050405020304" pitchFamily="18" charset="0"/>
                <a:sym typeface="+mn-ea"/>
              </a:rPr>
              <a:t>的子阵。只要每个子阵都能实现按行、列、对角线和反对角线的无冲突访问，则整个数组必然也能实现这种无冲突访问</a:t>
            </a:r>
            <a:endParaRPr lang="zh-CN" altLang="en-US" sz="2400" dirty="0">
              <a:latin typeface="Times New Roman" panose="02020603050405020304" pitchFamily="18" charset="0"/>
              <a:cs typeface="Times New Roman" panose="02020603050405020304" pitchFamily="18" charset="0"/>
            </a:endParaRPr>
          </a:p>
          <a:p>
            <a:pPr lvl="1" indent="-169545" eaLnBrk="1" hangingPunct="1"/>
            <a:r>
              <a:rPr lang="zh-CN" altLang="en-US" sz="2000" dirty="0">
                <a:latin typeface="Times New Roman" panose="02020603050405020304" pitchFamily="18" charset="0"/>
                <a:cs typeface="Times New Roman" panose="02020603050405020304" pitchFamily="18" charset="0"/>
                <a:sym typeface="+mn-ea"/>
              </a:rPr>
              <a:t>可把一个</a:t>
            </a:r>
            <a:r>
              <a:rPr lang="en-US" altLang="zh-CN" sz="2000" dirty="0">
                <a:solidFill>
                  <a:srgbClr val="FF3300"/>
                </a:solidFill>
                <a:latin typeface="Times New Roman" panose="02020603050405020304" pitchFamily="18" charset="0"/>
                <a:cs typeface="Times New Roman" panose="02020603050405020304" pitchFamily="18" charset="0"/>
                <a:sym typeface="+mn-ea"/>
              </a:rPr>
              <a:t>8×8</a:t>
            </a:r>
            <a:r>
              <a:rPr lang="zh-CN" altLang="en-US" sz="2000" dirty="0">
                <a:latin typeface="Times New Roman" panose="02020603050405020304" pitchFamily="18" charset="0"/>
                <a:cs typeface="Times New Roman" panose="02020603050405020304" pitchFamily="18" charset="0"/>
                <a:sym typeface="+mn-ea"/>
              </a:rPr>
              <a:t>二维数组划分成</a:t>
            </a:r>
            <a:r>
              <a:rPr lang="en-US" altLang="zh-CN" sz="2000" dirty="0">
                <a:latin typeface="Times New Roman" panose="02020603050405020304" pitchFamily="18" charset="0"/>
                <a:cs typeface="Times New Roman" panose="02020603050405020304" pitchFamily="18" charset="0"/>
                <a:sym typeface="+mn-ea"/>
              </a:rPr>
              <a:t>4</a:t>
            </a:r>
            <a:r>
              <a:rPr lang="zh-CN" altLang="en-US" sz="2000" dirty="0">
                <a:latin typeface="Times New Roman" panose="02020603050405020304" pitchFamily="18" charset="0"/>
                <a:cs typeface="Times New Roman" panose="02020603050405020304" pitchFamily="18" charset="0"/>
                <a:sym typeface="+mn-ea"/>
              </a:rPr>
              <a:t>个</a:t>
            </a:r>
            <a:r>
              <a:rPr lang="en-US" altLang="zh-CN" sz="2000" dirty="0">
                <a:latin typeface="Times New Roman" panose="02020603050405020304" pitchFamily="18" charset="0"/>
                <a:cs typeface="Times New Roman" panose="02020603050405020304" pitchFamily="18" charset="0"/>
                <a:sym typeface="+mn-ea"/>
              </a:rPr>
              <a:t>4×4</a:t>
            </a:r>
            <a:r>
              <a:rPr lang="zh-CN" altLang="en-US" sz="2000" dirty="0">
                <a:latin typeface="Times New Roman" panose="02020603050405020304" pitchFamily="18" charset="0"/>
                <a:cs typeface="Times New Roman" panose="02020603050405020304" pitchFamily="18" charset="0"/>
                <a:sym typeface="+mn-ea"/>
              </a:rPr>
              <a:t>子阵</a:t>
            </a:r>
            <a:endParaRPr lang="zh-CN" altLang="en-US" sz="2000" dirty="0">
              <a:latin typeface="Times New Roman" panose="02020603050405020304" pitchFamily="18" charset="0"/>
              <a:cs typeface="Times New Roman" panose="02020603050405020304" pitchFamily="18" charset="0"/>
            </a:endParaRPr>
          </a:p>
          <a:p>
            <a:pPr lvl="1" indent="-169545" eaLnBrk="1" hangingPunct="1"/>
            <a:r>
              <a:rPr lang="zh-CN" altLang="en-US" sz="2000" dirty="0">
                <a:latin typeface="Times New Roman" panose="02020603050405020304" pitchFamily="18" charset="0"/>
                <a:cs typeface="Times New Roman" panose="02020603050405020304" pitchFamily="18" charset="0"/>
                <a:sym typeface="+mn-ea"/>
              </a:rPr>
              <a:t>每个</a:t>
            </a:r>
            <a:r>
              <a:rPr lang="en-US" altLang="zh-CN" sz="2000" dirty="0">
                <a:latin typeface="Times New Roman" panose="02020603050405020304" pitchFamily="18" charset="0"/>
                <a:cs typeface="Times New Roman" panose="02020603050405020304" pitchFamily="18" charset="0"/>
                <a:sym typeface="+mn-ea"/>
              </a:rPr>
              <a:t>2×2</a:t>
            </a:r>
            <a:r>
              <a:rPr lang="zh-CN" altLang="en-US" sz="2000" dirty="0">
                <a:latin typeface="Times New Roman" panose="02020603050405020304" pitchFamily="18" charset="0"/>
                <a:cs typeface="Times New Roman" panose="02020603050405020304" pitchFamily="18" charset="0"/>
                <a:sym typeface="+mn-ea"/>
              </a:rPr>
              <a:t>子阵也都能实现行、列、对角线和反对角线的无冲突访问</a:t>
            </a:r>
            <a:endParaRPr lang="zh-CN" altLang="en-US" sz="2400" dirty="0">
              <a:latin typeface="Times New Roman" panose="02020603050405020304" pitchFamily="18" charset="0"/>
              <a:cs typeface="Times New Roman" panose="02020603050405020304" pitchFamily="18" charset="0"/>
            </a:endParaRPr>
          </a:p>
          <a:p>
            <a:pPr eaLnBrk="1" hangingPunct="1">
              <a:lnSpc>
                <a:spcPct val="100000"/>
              </a:lnSpc>
              <a:spcBef>
                <a:spcPts val="1200"/>
              </a:spcBef>
            </a:pPr>
            <a:endParaRPr lang="zh-CN" altLang="en-US" sz="2400" dirty="0">
              <a:solidFill>
                <a:schemeClr val="tx2"/>
              </a:solidFill>
              <a:latin typeface="Times New Roman" panose="02020603050405020304" pitchFamily="18" charset="0"/>
              <a:cs typeface="Times New Roman" panose="02020603050405020304" pitchFamily="18" charset="0"/>
            </a:endParaRPr>
          </a:p>
          <a:p>
            <a:pPr lvl="1" eaLnBrk="1" hangingPunct="1">
              <a:lnSpc>
                <a:spcPct val="100000"/>
              </a:lnSpc>
              <a:spcBef>
                <a:spcPts val="1200"/>
              </a:spcBef>
            </a:pPr>
            <a:endParaRPr lang="zh-CN" sz="2400" dirty="0">
              <a:latin typeface="Times New Roman" panose="02020603050405020304" pitchFamily="18" charset="0"/>
              <a:cs typeface="Times New Roman" panose="02020603050405020304" pitchFamily="18" charset="0"/>
              <a:sym typeface="+mn-ea"/>
            </a:endParaRPr>
          </a:p>
          <a:p>
            <a:pPr lvl="1" eaLnBrk="1" hangingPunct="1">
              <a:spcBef>
                <a:spcPts val="1200"/>
              </a:spcBef>
            </a:pPr>
            <a:endParaRPr lang="zh-CN" altLang="en-US" sz="2055" dirty="0">
              <a:latin typeface="Times New Roman" panose="02020603050405020304" pitchFamily="18" charset="0"/>
              <a:cs typeface="Times New Roman" panose="02020603050405020304" pitchFamily="18" charset="0"/>
              <a:sym typeface="+mn-ea"/>
            </a:endParaRPr>
          </a:p>
        </p:txBody>
      </p:sp>
      <p:pic>
        <p:nvPicPr>
          <p:cNvPr id="3" name="图片 2"/>
          <p:cNvPicPr>
            <a:picLocks noChangeAspect="1"/>
          </p:cNvPicPr>
          <p:nvPr>
            <p:custDataLst>
              <p:tags r:id="rId2"/>
            </p:custDataLst>
          </p:nvPr>
        </p:nvPicPr>
        <p:blipFill>
          <a:blip r:embed="rId3"/>
          <a:stretch>
            <a:fillRect/>
          </a:stretch>
        </p:blipFill>
        <p:spPr>
          <a:xfrm>
            <a:off x="2555875" y="2204720"/>
            <a:ext cx="3828415" cy="2085975"/>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比较两种二维数组无冲突访问的并行存储方案</a:t>
            </a:r>
            <a:endParaRPr lang="zh-CN"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Rectangle 3"/>
          <p:cNvSpPr>
            <a:spLocks noGrp="1"/>
          </p:cNvSpPr>
          <p:nvPr>
            <p:custDataLst>
              <p:tags r:id="rId1"/>
            </p:custDataLst>
          </p:nvPr>
        </p:nvSpPr>
        <p:spPr>
          <a:xfrm>
            <a:off x="361950" y="1243330"/>
            <a:ext cx="8420100" cy="5080635"/>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eaLnBrk="1" hangingPunct="1">
              <a:spcBef>
                <a:spcPts val="600"/>
              </a:spcBef>
            </a:pPr>
            <a:r>
              <a:rPr lang="zh-CN" altLang="en-US" sz="2400" dirty="0">
                <a:latin typeface="Times New Roman" panose="02020603050405020304" pitchFamily="18" charset="0"/>
                <a:cs typeface="Times New Roman" panose="02020603050405020304" pitchFamily="18" charset="0"/>
                <a:sym typeface="+mn-ea"/>
              </a:rPr>
              <a:t>两者的效果相同</a:t>
            </a:r>
            <a:endParaRPr lang="zh-CN" altLang="en-US" sz="2400" dirty="0">
              <a:latin typeface="Times New Roman" panose="02020603050405020304" pitchFamily="18" charset="0"/>
              <a:cs typeface="Times New Roman" panose="02020603050405020304" pitchFamily="18" charset="0"/>
            </a:endParaRPr>
          </a:p>
          <a:p>
            <a:pPr lvl="1" indent="-169545" eaLnBrk="1" hangingPunct="1">
              <a:spcBef>
                <a:spcPts val="600"/>
              </a:spcBef>
            </a:pPr>
            <a:r>
              <a:rPr lang="zh-CN" altLang="en-US" sz="2000" dirty="0">
                <a:latin typeface="Times New Roman" panose="02020603050405020304" pitchFamily="18" charset="0"/>
                <a:cs typeface="Times New Roman" panose="02020603050405020304" pitchFamily="18" charset="0"/>
                <a:sym typeface="+mn-ea"/>
              </a:rPr>
              <a:t>都能实现按行、列、对角线和反对角线的无冲突访问</a:t>
            </a:r>
            <a:endParaRPr lang="zh-CN" altLang="en-US" sz="2000" dirty="0">
              <a:latin typeface="Times New Roman" panose="02020603050405020304" pitchFamily="18" charset="0"/>
              <a:cs typeface="Times New Roman" panose="02020603050405020304" pitchFamily="18" charset="0"/>
            </a:endParaRPr>
          </a:p>
          <a:p>
            <a:pPr eaLnBrk="1" hangingPunct="1">
              <a:spcBef>
                <a:spcPts val="600"/>
              </a:spcBef>
            </a:pPr>
            <a:r>
              <a:rPr lang="zh-CN" altLang="en-US" sz="2400" dirty="0">
                <a:latin typeface="Times New Roman" panose="02020603050405020304" pitchFamily="18" charset="0"/>
                <a:cs typeface="Times New Roman" panose="02020603050405020304" pitchFamily="18" charset="0"/>
                <a:sym typeface="+mn-ea"/>
              </a:rPr>
              <a:t>前一种方案多用了一个存储体</a:t>
            </a:r>
            <a:endParaRPr lang="zh-CN" altLang="en-US" sz="2400" dirty="0">
              <a:latin typeface="Times New Roman" panose="02020603050405020304" pitchFamily="18" charset="0"/>
              <a:cs typeface="Times New Roman" panose="02020603050405020304" pitchFamily="18" charset="0"/>
            </a:endParaRPr>
          </a:p>
          <a:p>
            <a:pPr lvl="1" indent="-169545" eaLnBrk="1" hangingPunct="1">
              <a:spcBef>
                <a:spcPts val="600"/>
              </a:spcBef>
            </a:pPr>
            <a:r>
              <a:rPr lang="zh-CN" altLang="en-US" sz="2000" dirty="0">
                <a:latin typeface="Times New Roman" panose="02020603050405020304" pitchFamily="18" charset="0"/>
                <a:cs typeface="Times New Roman" panose="02020603050405020304" pitchFamily="18" charset="0"/>
                <a:sym typeface="+mn-ea"/>
              </a:rPr>
              <a:t>缺点：并行存储器中有</a:t>
            </a:r>
            <a:r>
              <a:rPr lang="en-US" altLang="zh-CN" sz="2000" dirty="0">
                <a:latin typeface="Times New Roman" panose="02020603050405020304" pitchFamily="18" charset="0"/>
                <a:cs typeface="Times New Roman" panose="02020603050405020304" pitchFamily="18" charset="0"/>
                <a:sym typeface="+mn-ea"/>
              </a:rPr>
              <a:t>1/5</a:t>
            </a:r>
            <a:r>
              <a:rPr lang="zh-CN" altLang="en-US" sz="2000" dirty="0">
                <a:latin typeface="Times New Roman" panose="02020603050405020304" pitchFamily="18" charset="0"/>
                <a:cs typeface="Times New Roman" panose="02020603050405020304" pitchFamily="18" charset="0"/>
                <a:sym typeface="+mn-ea"/>
              </a:rPr>
              <a:t>的存储单元是浪费的</a:t>
            </a:r>
            <a:endParaRPr lang="zh-CN" altLang="en-US" sz="2000" dirty="0">
              <a:latin typeface="Times New Roman" panose="02020603050405020304" pitchFamily="18" charset="0"/>
              <a:cs typeface="Times New Roman" panose="02020603050405020304" pitchFamily="18" charset="0"/>
            </a:endParaRPr>
          </a:p>
          <a:p>
            <a:pPr lvl="1" indent="-169545" eaLnBrk="1" hangingPunct="1">
              <a:spcBef>
                <a:spcPts val="600"/>
              </a:spcBef>
            </a:pPr>
            <a:r>
              <a:rPr lang="zh-CN" altLang="en-US" sz="2000" dirty="0">
                <a:latin typeface="Times New Roman" panose="02020603050405020304" pitchFamily="18" charset="0"/>
                <a:cs typeface="Times New Roman" panose="02020603050405020304" pitchFamily="18" charset="0"/>
                <a:sym typeface="+mn-ea"/>
              </a:rPr>
              <a:t>优点：在读或写并行存储器时所需要的</a:t>
            </a:r>
            <a:r>
              <a:rPr lang="zh-CN" altLang="en-US" sz="2000" dirty="0">
                <a:solidFill>
                  <a:srgbClr val="FF3300"/>
                </a:solidFill>
                <a:latin typeface="Times New Roman" panose="02020603050405020304" pitchFamily="18" charset="0"/>
                <a:cs typeface="Times New Roman" panose="02020603050405020304" pitchFamily="18" charset="0"/>
                <a:sym typeface="+mn-ea"/>
              </a:rPr>
              <a:t>对准网络</a:t>
            </a:r>
            <a:r>
              <a:rPr lang="zh-CN" altLang="en-US" sz="2000" dirty="0">
                <a:latin typeface="Times New Roman" panose="02020603050405020304" pitchFamily="18" charset="0"/>
                <a:cs typeface="Times New Roman" panose="02020603050405020304" pitchFamily="18" charset="0"/>
                <a:sym typeface="+mn-ea"/>
              </a:rPr>
              <a:t>非常简单</a:t>
            </a:r>
            <a:endParaRPr lang="zh-CN" altLang="en-US" sz="2000" dirty="0">
              <a:latin typeface="Times New Roman" panose="02020603050405020304" pitchFamily="18" charset="0"/>
              <a:cs typeface="Times New Roman" panose="02020603050405020304" pitchFamily="18" charset="0"/>
            </a:endParaRPr>
          </a:p>
          <a:p>
            <a:pPr eaLnBrk="1" hangingPunct="1">
              <a:spcBef>
                <a:spcPts val="600"/>
              </a:spcBef>
            </a:pPr>
            <a:r>
              <a:rPr lang="zh-CN" altLang="en-US" sz="2400" dirty="0">
                <a:latin typeface="Times New Roman" panose="02020603050405020304" pitchFamily="18" charset="0"/>
                <a:cs typeface="Times New Roman" panose="02020603050405020304" pitchFamily="18" charset="0"/>
                <a:sym typeface="+mn-ea"/>
              </a:rPr>
              <a:t>后一种方案虽然少用了一个存储体</a:t>
            </a:r>
            <a:endParaRPr lang="zh-CN" altLang="en-US" sz="2400" dirty="0">
              <a:latin typeface="Times New Roman" panose="02020603050405020304" pitchFamily="18" charset="0"/>
              <a:cs typeface="Times New Roman" panose="02020603050405020304" pitchFamily="18" charset="0"/>
            </a:endParaRPr>
          </a:p>
          <a:p>
            <a:pPr lvl="1" indent="-169545" eaLnBrk="1" hangingPunct="1">
              <a:spcBef>
                <a:spcPts val="600"/>
              </a:spcBef>
            </a:pPr>
            <a:r>
              <a:rPr lang="zh-CN" altLang="en-US" sz="2000" dirty="0">
                <a:latin typeface="Times New Roman" panose="02020603050405020304" pitchFamily="18" charset="0"/>
                <a:cs typeface="Times New Roman" panose="02020603050405020304" pitchFamily="18" charset="0"/>
                <a:sym typeface="+mn-ea"/>
              </a:rPr>
              <a:t>优点：没有浪费的存储单元</a:t>
            </a:r>
            <a:endParaRPr lang="zh-CN" altLang="en-US" sz="2000" dirty="0">
              <a:latin typeface="Times New Roman" panose="02020603050405020304" pitchFamily="18" charset="0"/>
              <a:cs typeface="Times New Roman" panose="02020603050405020304" pitchFamily="18" charset="0"/>
            </a:endParaRPr>
          </a:p>
          <a:p>
            <a:pPr lvl="1" indent="-169545" eaLnBrk="1" hangingPunct="1">
              <a:spcBef>
                <a:spcPts val="600"/>
              </a:spcBef>
            </a:pPr>
            <a:r>
              <a:rPr lang="zh-CN" altLang="en-US" sz="2000" dirty="0">
                <a:latin typeface="Times New Roman" panose="02020603050405020304" pitchFamily="18" charset="0"/>
                <a:cs typeface="Times New Roman" panose="02020603050405020304" pitchFamily="18" charset="0"/>
                <a:sym typeface="+mn-ea"/>
              </a:rPr>
              <a:t>缺点：执行并行读和并行写操作时需复杂的对准网络</a:t>
            </a:r>
            <a:endParaRPr lang="zh-CN" altLang="en-US" sz="2000" dirty="0">
              <a:latin typeface="Times New Roman" panose="02020603050405020304" pitchFamily="18" charset="0"/>
              <a:cs typeface="Times New Roman" panose="02020603050405020304" pitchFamily="18" charset="0"/>
            </a:endParaRPr>
          </a:p>
          <a:p>
            <a:pPr lvl="2" eaLnBrk="1" hangingPunct="1">
              <a:spcBef>
                <a:spcPts val="600"/>
              </a:spcBef>
            </a:pPr>
            <a:r>
              <a:rPr lang="zh-CN" altLang="en-US" sz="2000" dirty="0">
                <a:latin typeface="Times New Roman" panose="02020603050405020304" pitchFamily="18" charset="0"/>
                <a:cs typeface="Times New Roman" panose="02020603050405020304" pitchFamily="18" charset="0"/>
                <a:sym typeface="+mn-ea"/>
              </a:rPr>
              <a:t>在读并行存储器时，要通过一个对准网络把数组元素的地址变换成并行存储器的实际地址，读出的数据要通过另一个对准网络恢复成原来的顺序</a:t>
            </a:r>
            <a:endParaRPr lang="zh-CN" altLang="en-US" sz="2000" dirty="0">
              <a:latin typeface="Times New Roman" panose="02020603050405020304" pitchFamily="18" charset="0"/>
              <a:cs typeface="Times New Roman" panose="02020603050405020304" pitchFamily="18" charset="0"/>
            </a:endParaRPr>
          </a:p>
          <a:p>
            <a:pPr eaLnBrk="1" hangingPunct="1">
              <a:spcBef>
                <a:spcPts val="600"/>
              </a:spcBef>
            </a:pPr>
            <a:r>
              <a:rPr lang="zh-CN" altLang="en-US" sz="2400" dirty="0">
                <a:latin typeface="Times New Roman" panose="02020603050405020304" pitchFamily="18" charset="0"/>
                <a:cs typeface="Times New Roman" panose="02020603050405020304" pitchFamily="18" charset="0"/>
                <a:sym typeface="+mn-ea"/>
              </a:rPr>
              <a:t>在实际应用时要根据具体情况决定采用哪一种存储方案</a:t>
            </a:r>
            <a:endParaRPr lang="zh-CN" altLang="en-US" sz="2400" dirty="0">
              <a:latin typeface="Times New Roman" panose="02020603050405020304" pitchFamily="18" charset="0"/>
              <a:cs typeface="Times New Roman" panose="02020603050405020304" pitchFamily="18" charset="0"/>
            </a:endParaRPr>
          </a:p>
          <a:p>
            <a:pPr lvl="1" indent="-169545" eaLnBrk="1" hangingPunct="1">
              <a:spcBef>
                <a:spcPts val="600"/>
              </a:spcBef>
            </a:pPr>
            <a:r>
              <a:rPr lang="zh-CN" altLang="en-US" sz="2000" dirty="0">
                <a:latin typeface="Times New Roman" panose="02020603050405020304" pitchFamily="18" charset="0"/>
                <a:cs typeface="Times New Roman" panose="02020603050405020304" pitchFamily="18" charset="0"/>
                <a:sym typeface="+mn-ea"/>
              </a:rPr>
              <a:t>一般通用计算机的并行存储器中还存储有大量的一维数组和程序等</a:t>
            </a:r>
            <a:endParaRPr lang="zh-CN" altLang="en-US" sz="2000" dirty="0">
              <a:latin typeface="Times New Roman" panose="02020603050405020304" pitchFamily="18" charset="0"/>
              <a:cs typeface="Times New Roman" panose="02020603050405020304" pitchFamily="18" charset="0"/>
            </a:endParaRPr>
          </a:p>
          <a:p>
            <a:pPr eaLnBrk="1" hangingPunct="1">
              <a:lnSpc>
                <a:spcPct val="100000"/>
              </a:lnSpc>
              <a:spcBef>
                <a:spcPts val="600"/>
              </a:spcBef>
            </a:pPr>
            <a:endParaRPr lang="zh-CN" altLang="en-US" sz="2400" dirty="0">
              <a:solidFill>
                <a:schemeClr val="tx2"/>
              </a:solidFill>
              <a:latin typeface="Times New Roman" panose="02020603050405020304" pitchFamily="18" charset="0"/>
              <a:cs typeface="Times New Roman" panose="02020603050405020304" pitchFamily="18" charset="0"/>
            </a:endParaRPr>
          </a:p>
          <a:p>
            <a:pPr lvl="1" eaLnBrk="1" hangingPunct="1">
              <a:lnSpc>
                <a:spcPct val="100000"/>
              </a:lnSpc>
              <a:spcBef>
                <a:spcPts val="600"/>
              </a:spcBef>
            </a:pPr>
            <a:endParaRPr lang="zh-CN" sz="2400" dirty="0">
              <a:latin typeface="Times New Roman" panose="02020603050405020304" pitchFamily="18" charset="0"/>
              <a:cs typeface="Times New Roman" panose="02020603050405020304" pitchFamily="18" charset="0"/>
              <a:sym typeface="+mn-ea"/>
            </a:endParaRPr>
          </a:p>
          <a:p>
            <a:pPr lvl="1" eaLnBrk="1" hangingPunct="1">
              <a:spcBef>
                <a:spcPts val="1200"/>
              </a:spcBef>
            </a:pPr>
            <a:endParaRPr lang="zh-CN" altLang="en-US" sz="2055"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练习</a:t>
            </a:r>
            <a:endParaRPr lang="zh-CN" altLang="en-US"/>
          </a:p>
        </p:txBody>
      </p:sp>
      <p:sp>
        <p:nvSpPr>
          <p:cNvPr id="3" name="内容占位符 2"/>
          <p:cNvSpPr>
            <a:spLocks noGrp="1"/>
          </p:cNvSpPr>
          <p:nvPr>
            <p:ph idx="1"/>
          </p:nvPr>
        </p:nvSpPr>
        <p:spPr/>
        <p:txBody>
          <a:bodyPr/>
          <a:p>
            <a:r>
              <a:rPr lang="zh-CN" altLang="en-US" sz="2400">
                <a:latin typeface="Times New Roman" panose="02020603050405020304" pitchFamily="18" charset="0"/>
                <a:cs typeface="Times New Roman" panose="02020603050405020304" pitchFamily="18" charset="0"/>
              </a:rPr>
              <a:t>一个 16×16 的矩阵存储在多体并行存储器中，要求在一个存储访问周期实现对矩阵按行、按列、按对角线的无冲突访问，至少需要多少个存储体？写出矩阵各元素在存储器中存放位置的表达式。</a:t>
            </a:r>
            <a:endParaRPr lang="zh-CN" alt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解答</a:t>
            </a:r>
            <a:endParaRPr lang="zh-CN" altLang="en-US"/>
          </a:p>
        </p:txBody>
      </p:sp>
      <p:pic>
        <p:nvPicPr>
          <p:cNvPr id="4" name="图片 3"/>
          <p:cNvPicPr>
            <a:picLocks noChangeAspect="1"/>
          </p:cNvPicPr>
          <p:nvPr/>
        </p:nvPicPr>
        <p:blipFill>
          <a:blip r:embed="rId1"/>
          <a:stretch>
            <a:fillRect/>
          </a:stretch>
        </p:blipFill>
        <p:spPr>
          <a:xfrm>
            <a:off x="611505" y="1557020"/>
            <a:ext cx="7840980" cy="2326640"/>
          </a:xfrm>
          <a:prstGeom prst="rect">
            <a:avLst/>
          </a:prstGeom>
        </p:spPr>
      </p:pic>
      <p:pic>
        <p:nvPicPr>
          <p:cNvPr id="5" name="图片 4"/>
          <p:cNvPicPr>
            <a:picLocks noChangeAspect="1"/>
          </p:cNvPicPr>
          <p:nvPr/>
        </p:nvPicPr>
        <p:blipFill>
          <a:blip r:embed="rId2"/>
          <a:stretch>
            <a:fillRect/>
          </a:stretch>
        </p:blipFill>
        <p:spPr>
          <a:xfrm>
            <a:off x="611505" y="4149090"/>
            <a:ext cx="7748270" cy="118999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练习</a:t>
            </a:r>
            <a:endParaRPr lang="zh-CN" altLang="en-US"/>
          </a:p>
        </p:txBody>
      </p:sp>
      <p:sp>
        <p:nvSpPr>
          <p:cNvPr id="3" name="内容占位符 2"/>
          <p:cNvSpPr>
            <a:spLocks noGrp="1"/>
          </p:cNvSpPr>
          <p:nvPr>
            <p:ph idx="1"/>
          </p:nvPr>
        </p:nvSpPr>
        <p:spPr>
          <a:xfrm>
            <a:off x="325120" y="1600200"/>
            <a:ext cx="8450580" cy="4526280"/>
          </a:xfrm>
        </p:spPr>
        <p:txBody>
          <a:bodyPr/>
          <a:p>
            <a:r>
              <a:rPr lang="zh-CN" altLang="en-US" sz="2400">
                <a:latin typeface="Times New Roman" panose="02020603050405020304" pitchFamily="18" charset="0"/>
                <a:cs typeface="Times New Roman" panose="02020603050405020304" pitchFamily="18" charset="0"/>
              </a:rPr>
              <a:t>设主存每个分体的存取周期为 2µs，存储字长为 4B，采用 m 个分体低位交叉编址。由于各种原因，主存实际频宽只能达到最大频宽的 0.6 倍，现要求主存实际频宽为 4MB/s，问主存分体数应取多少？</a:t>
            </a:r>
            <a:endParaRPr lang="zh-CN" alt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解答</a:t>
            </a:r>
            <a:endParaRPr lang="zh-CN" altLang="en-US"/>
          </a:p>
        </p:txBody>
      </p:sp>
      <p:pic>
        <p:nvPicPr>
          <p:cNvPr id="4" name="图片 3"/>
          <p:cNvPicPr>
            <a:picLocks noChangeAspect="1"/>
          </p:cNvPicPr>
          <p:nvPr/>
        </p:nvPicPr>
        <p:blipFill>
          <a:blip r:embed="rId1"/>
          <a:stretch>
            <a:fillRect/>
          </a:stretch>
        </p:blipFill>
        <p:spPr>
          <a:xfrm>
            <a:off x="755650" y="1422400"/>
            <a:ext cx="7435850" cy="1791970"/>
          </a:xfrm>
          <a:prstGeom prst="rect">
            <a:avLst/>
          </a:prstGeom>
        </p:spPr>
      </p:pic>
      <p:pic>
        <p:nvPicPr>
          <p:cNvPr id="5" name="图片 4"/>
          <p:cNvPicPr>
            <a:picLocks noChangeAspect="1"/>
          </p:cNvPicPr>
          <p:nvPr/>
        </p:nvPicPr>
        <p:blipFill>
          <a:blip r:embed="rId2"/>
          <a:stretch>
            <a:fillRect/>
          </a:stretch>
        </p:blipFill>
        <p:spPr>
          <a:xfrm>
            <a:off x="827405" y="3357880"/>
            <a:ext cx="7364095" cy="2519045"/>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3.4  三级存储系统</a:t>
            </a:r>
            <a:endParaRPr lang="zh-CN"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Rectangle 3"/>
          <p:cNvSpPr>
            <a:spLocks noGrp="1"/>
          </p:cNvSpPr>
          <p:nvPr>
            <p:custDataLst>
              <p:tags r:id="rId1"/>
            </p:custDataLst>
          </p:nvPr>
        </p:nvSpPr>
        <p:spPr>
          <a:xfrm>
            <a:off x="361950" y="1196975"/>
            <a:ext cx="8420100" cy="1398905"/>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eaLnBrk="1" hangingPunct="1">
              <a:spcBef>
                <a:spcPts val="1200"/>
              </a:spcBef>
            </a:pPr>
            <a:r>
              <a:rPr lang="zh-CN" altLang="en-US" sz="2000" dirty="0">
                <a:solidFill>
                  <a:schemeClr val="tx2"/>
                </a:solidFill>
                <a:latin typeface="Times New Roman" panose="02020603050405020304" pitchFamily="18" charset="0"/>
                <a:cs typeface="Times New Roman" panose="02020603050405020304" pitchFamily="18" charset="0"/>
                <a:sym typeface="+mn-ea"/>
              </a:rPr>
              <a:t>大部分计算机系统既有虚拟存储器，也有</a:t>
            </a:r>
            <a:r>
              <a:rPr lang="en-US" altLang="zh-CN" sz="2000" dirty="0">
                <a:solidFill>
                  <a:schemeClr val="tx2"/>
                </a:solidFill>
                <a:latin typeface="Times New Roman" panose="02020603050405020304" pitchFamily="18" charset="0"/>
                <a:cs typeface="Times New Roman" panose="02020603050405020304" pitchFamily="18" charset="0"/>
                <a:sym typeface="+mn-ea"/>
              </a:rPr>
              <a:t>Cache</a:t>
            </a:r>
            <a:r>
              <a:rPr lang="zh-CN" altLang="en-US" sz="2000" dirty="0">
                <a:solidFill>
                  <a:schemeClr val="tx2"/>
                </a:solidFill>
                <a:latin typeface="Times New Roman" panose="02020603050405020304" pitchFamily="18" charset="0"/>
                <a:cs typeface="Times New Roman" panose="02020603050405020304" pitchFamily="18" charset="0"/>
                <a:sym typeface="+mn-ea"/>
              </a:rPr>
              <a:t>存储系统</a:t>
            </a:r>
            <a:endParaRPr lang="zh-CN" altLang="en-US" sz="2000" dirty="0">
              <a:solidFill>
                <a:schemeClr val="tx2"/>
              </a:solidFill>
              <a:latin typeface="Times New Roman" panose="02020603050405020304" pitchFamily="18" charset="0"/>
              <a:cs typeface="Times New Roman" panose="02020603050405020304" pitchFamily="18" charset="0"/>
            </a:endParaRPr>
          </a:p>
          <a:p>
            <a:pPr eaLnBrk="1" hangingPunct="1">
              <a:spcBef>
                <a:spcPts val="1200"/>
              </a:spcBef>
            </a:pPr>
            <a:r>
              <a:rPr lang="zh-CN" altLang="en-US" sz="2000" dirty="0">
                <a:solidFill>
                  <a:schemeClr val="tx2"/>
                </a:solidFill>
                <a:latin typeface="Times New Roman" panose="02020603050405020304" pitchFamily="18" charset="0"/>
                <a:cs typeface="Times New Roman" panose="02020603050405020304" pitchFamily="18" charset="0"/>
                <a:sym typeface="+mn-ea"/>
              </a:rPr>
              <a:t>存储系统可以有多种构成方法，不同的构成只是实现技术不同</a:t>
            </a:r>
            <a:endParaRPr lang="zh-CN" altLang="en-US" sz="2000" dirty="0">
              <a:solidFill>
                <a:schemeClr val="tx2"/>
              </a:solidFill>
              <a:latin typeface="Times New Roman" panose="02020603050405020304" pitchFamily="18" charset="0"/>
              <a:cs typeface="Times New Roman" panose="02020603050405020304" pitchFamily="18" charset="0"/>
            </a:endParaRPr>
          </a:p>
          <a:p>
            <a:pPr marL="0" indent="0" eaLnBrk="1" hangingPunct="1">
              <a:lnSpc>
                <a:spcPct val="100000"/>
              </a:lnSpc>
              <a:spcBef>
                <a:spcPts val="1200"/>
              </a:spcBef>
              <a:buNone/>
            </a:pPr>
            <a:endParaRPr lang="zh-CN" altLang="en-US" sz="2000" dirty="0">
              <a:solidFill>
                <a:schemeClr val="tx2"/>
              </a:solidFill>
              <a:latin typeface="Times New Roman" panose="02020603050405020304" pitchFamily="18" charset="0"/>
              <a:cs typeface="Times New Roman" panose="02020603050405020304" pitchFamily="18" charset="0"/>
            </a:endParaRPr>
          </a:p>
          <a:p>
            <a:pPr lvl="1" eaLnBrk="1" hangingPunct="1">
              <a:lnSpc>
                <a:spcPct val="100000"/>
              </a:lnSpc>
              <a:spcBef>
                <a:spcPts val="1200"/>
              </a:spcBef>
            </a:pPr>
            <a:endParaRPr lang="zh-CN" sz="2000" dirty="0">
              <a:latin typeface="Times New Roman" panose="02020603050405020304" pitchFamily="18" charset="0"/>
              <a:cs typeface="Times New Roman" panose="02020603050405020304" pitchFamily="18" charset="0"/>
              <a:sym typeface="+mn-ea"/>
            </a:endParaRPr>
          </a:p>
          <a:p>
            <a:pPr lvl="1" eaLnBrk="1" hangingPunct="1">
              <a:spcBef>
                <a:spcPts val="1200"/>
              </a:spcBef>
            </a:pPr>
            <a:endParaRPr lang="zh-CN" altLang="en-US" sz="2000" dirty="0">
              <a:latin typeface="Times New Roman" panose="02020603050405020304" pitchFamily="18" charset="0"/>
              <a:cs typeface="Times New Roman" panose="02020603050405020304" pitchFamily="18" charset="0"/>
              <a:sym typeface="+mn-ea"/>
            </a:endParaRPr>
          </a:p>
        </p:txBody>
      </p:sp>
      <p:sp>
        <p:nvSpPr>
          <p:cNvPr id="109573" name="Rectangle 4"/>
          <p:cNvSpPr/>
          <p:nvPr>
            <p:custDataLst>
              <p:tags r:id="rId2"/>
            </p:custDataLst>
          </p:nvPr>
        </p:nvSpPr>
        <p:spPr>
          <a:xfrm>
            <a:off x="963930" y="3742690"/>
            <a:ext cx="3992245" cy="414020"/>
          </a:xfrm>
          <a:prstGeom prst="rect">
            <a:avLst/>
          </a:prstGeom>
          <a:noFill/>
          <a:ln w="9525">
            <a:noFill/>
          </a:ln>
        </p:spPr>
        <p:txBody>
          <a:bodyPr wrap="none" lIns="71438" tIns="36513" rIns="71438" bIns="36513" anchor="ctr" anchorCtr="0"/>
          <a:p>
            <a:pPr algn="ctr">
              <a:lnSpc>
                <a:spcPct val="80000"/>
              </a:lnSpc>
            </a:pPr>
            <a:r>
              <a:rPr lang="zh-CN" altLang="en-US" dirty="0">
                <a:solidFill>
                  <a:schemeClr val="tx2"/>
                </a:solidFill>
                <a:latin typeface="Tahoma" panose="020B0604030504040204" pitchFamily="34" charset="0"/>
                <a:ea typeface="宋体" panose="02010600030101010101" pitchFamily="2" charset="-122"/>
              </a:rPr>
              <a:t>系统程序员看</a:t>
            </a:r>
            <a:endParaRPr lang="zh-CN" altLang="en-US" dirty="0">
              <a:solidFill>
                <a:schemeClr val="tx2"/>
              </a:solidFill>
              <a:latin typeface="Tahoma" panose="020B0604030504040204" pitchFamily="34" charset="0"/>
              <a:ea typeface="宋体" panose="02010600030101010101" pitchFamily="2" charset="-122"/>
            </a:endParaRPr>
          </a:p>
        </p:txBody>
      </p:sp>
      <p:grpSp>
        <p:nvGrpSpPr>
          <p:cNvPr id="109574" name="Group 5"/>
          <p:cNvGrpSpPr/>
          <p:nvPr/>
        </p:nvGrpSpPr>
        <p:grpSpPr>
          <a:xfrm rot="0">
            <a:off x="1035050" y="2335530"/>
            <a:ext cx="3994785" cy="1303655"/>
            <a:chOff x="479" y="2255"/>
            <a:chExt cx="2690" cy="1058"/>
          </a:xfrm>
        </p:grpSpPr>
        <p:sp>
          <p:nvSpPr>
            <p:cNvPr id="109575" name="Line 6"/>
            <p:cNvSpPr/>
            <p:nvPr>
              <p:custDataLst>
                <p:tags r:id="rId3"/>
              </p:custDataLst>
            </p:nvPr>
          </p:nvSpPr>
          <p:spPr>
            <a:xfrm>
              <a:off x="1440" y="2640"/>
              <a:ext cx="432" cy="0"/>
            </a:xfrm>
            <a:prstGeom prst="line">
              <a:avLst/>
            </a:prstGeom>
            <a:ln w="25400" cap="flat" cmpd="sng">
              <a:solidFill>
                <a:schemeClr val="tx2"/>
              </a:solidFill>
              <a:prstDash val="solid"/>
              <a:round/>
              <a:headEnd type="none" w="sm" len="sm"/>
              <a:tailEnd type="stealth" w="med" len="lg"/>
            </a:ln>
          </p:spPr>
        </p:sp>
        <p:sp>
          <p:nvSpPr>
            <p:cNvPr id="109576" name="Rectangle 7"/>
            <p:cNvSpPr/>
            <p:nvPr>
              <p:custDataLst>
                <p:tags r:id="rId4"/>
              </p:custDataLst>
            </p:nvPr>
          </p:nvSpPr>
          <p:spPr>
            <a:xfrm>
              <a:off x="623" y="2495"/>
              <a:ext cx="818" cy="578"/>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en-US" altLang="zh-CN" dirty="0">
                  <a:solidFill>
                    <a:schemeClr val="tx2"/>
                  </a:solidFill>
                  <a:latin typeface="Tahoma" panose="020B0604030504040204" pitchFamily="34" charset="0"/>
                  <a:ea typeface="宋体" panose="02010600030101010101" pitchFamily="2" charset="-122"/>
                </a:rPr>
                <a:t>Cache</a:t>
              </a:r>
              <a:endParaRPr lang="en-US" altLang="zh-CN" dirty="0">
                <a:solidFill>
                  <a:schemeClr val="tx2"/>
                </a:solidFill>
                <a:latin typeface="Tahoma" panose="020B0604030504040204" pitchFamily="34" charset="0"/>
                <a:ea typeface="宋体" panose="02010600030101010101" pitchFamily="2" charset="-122"/>
              </a:endParaRPr>
            </a:p>
          </p:txBody>
        </p:sp>
        <p:sp>
          <p:nvSpPr>
            <p:cNvPr id="109577" name="Rectangle 8"/>
            <p:cNvSpPr/>
            <p:nvPr>
              <p:custDataLst>
                <p:tags r:id="rId5"/>
              </p:custDataLst>
            </p:nvPr>
          </p:nvSpPr>
          <p:spPr>
            <a:xfrm>
              <a:off x="1871" y="2399"/>
              <a:ext cx="1154" cy="770"/>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zh-CN" altLang="en-US" dirty="0">
                  <a:solidFill>
                    <a:schemeClr val="tx2"/>
                  </a:solidFill>
                  <a:latin typeface="Tahoma" panose="020B0604030504040204" pitchFamily="34" charset="0"/>
                  <a:ea typeface="宋体" panose="02010600030101010101" pitchFamily="2" charset="-122"/>
                </a:rPr>
                <a:t>主存储器</a:t>
              </a:r>
              <a:endParaRPr lang="zh-CN" altLang="en-US" dirty="0">
                <a:solidFill>
                  <a:schemeClr val="tx2"/>
                </a:solidFill>
                <a:latin typeface="Tahoma" panose="020B0604030504040204" pitchFamily="34" charset="0"/>
                <a:ea typeface="宋体" panose="02010600030101010101" pitchFamily="2" charset="-122"/>
              </a:endParaRPr>
            </a:p>
          </p:txBody>
        </p:sp>
        <p:sp>
          <p:nvSpPr>
            <p:cNvPr id="109578" name="Line 9"/>
            <p:cNvSpPr/>
            <p:nvPr>
              <p:custDataLst>
                <p:tags r:id="rId6"/>
              </p:custDataLst>
            </p:nvPr>
          </p:nvSpPr>
          <p:spPr>
            <a:xfrm flipH="1">
              <a:off x="1440" y="2928"/>
              <a:ext cx="432" cy="0"/>
            </a:xfrm>
            <a:prstGeom prst="line">
              <a:avLst/>
            </a:prstGeom>
            <a:ln w="25400" cap="flat" cmpd="sng">
              <a:solidFill>
                <a:schemeClr val="tx2"/>
              </a:solidFill>
              <a:prstDash val="solid"/>
              <a:round/>
              <a:headEnd type="none" w="sm" len="sm"/>
              <a:tailEnd type="stealth" w="med" len="lg"/>
            </a:ln>
          </p:spPr>
        </p:sp>
        <p:sp>
          <p:nvSpPr>
            <p:cNvPr id="109579" name="Rectangle 10"/>
            <p:cNvSpPr/>
            <p:nvPr>
              <p:custDataLst>
                <p:tags r:id="rId7"/>
              </p:custDataLst>
            </p:nvPr>
          </p:nvSpPr>
          <p:spPr>
            <a:xfrm>
              <a:off x="479" y="2255"/>
              <a:ext cx="2690" cy="1058"/>
            </a:xfrm>
            <a:prstGeom prst="rect">
              <a:avLst/>
            </a:prstGeom>
            <a:noFill/>
            <a:ln w="25400" cap="flat" cmpd="sng">
              <a:solidFill>
                <a:schemeClr val="tx2"/>
              </a:solidFill>
              <a:prstDash val="lgDash"/>
              <a:miter/>
              <a:headEnd type="none" w="med" len="med"/>
              <a:tailEnd type="none" w="med" len="med"/>
            </a:ln>
          </p:spPr>
          <p:txBody>
            <a:bodyPr wrap="none" lIns="71438" tIns="36513" rIns="71438" bIns="36513" anchor="ctr" anchorCtr="0"/>
            <a:p>
              <a:pPr algn="ctr">
                <a:lnSpc>
                  <a:spcPct val="80000"/>
                </a:lnSpc>
              </a:pPr>
              <a:endParaRPr lang="en-US" altLang="zh-CN" dirty="0">
                <a:latin typeface="Tahoma" panose="020B0604030504040204" pitchFamily="34" charset="0"/>
                <a:ea typeface="宋体" panose="02010600030101010101" pitchFamily="2" charset="-122"/>
              </a:endParaRPr>
            </a:p>
          </p:txBody>
        </p:sp>
      </p:grpSp>
      <p:sp>
        <p:nvSpPr>
          <p:cNvPr id="109581" name="Rectangle 12"/>
          <p:cNvSpPr/>
          <p:nvPr>
            <p:custDataLst>
              <p:tags r:id="rId8"/>
            </p:custDataLst>
          </p:nvPr>
        </p:nvSpPr>
        <p:spPr>
          <a:xfrm>
            <a:off x="5292725" y="3222625"/>
            <a:ext cx="2997200" cy="416560"/>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en-US" altLang="zh-CN" dirty="0">
                <a:solidFill>
                  <a:schemeClr val="tx2"/>
                </a:solidFill>
                <a:latin typeface="Tahoma" panose="020B0604030504040204" pitchFamily="34" charset="0"/>
                <a:ea typeface="宋体" panose="02010600030101010101" pitchFamily="2" charset="-122"/>
              </a:rPr>
              <a:t>Cache</a:t>
            </a:r>
            <a:r>
              <a:rPr lang="zh-CN" altLang="en-US" dirty="0">
                <a:solidFill>
                  <a:schemeClr val="tx2"/>
                </a:solidFill>
                <a:latin typeface="Tahoma" panose="020B0604030504040204" pitchFamily="34" charset="0"/>
                <a:ea typeface="宋体" panose="02010600030101010101" pitchFamily="2" charset="-122"/>
              </a:rPr>
              <a:t>存储系统</a:t>
            </a:r>
            <a:endParaRPr lang="zh-CN" altLang="en-US" dirty="0">
              <a:solidFill>
                <a:schemeClr val="tx2"/>
              </a:solidFill>
              <a:latin typeface="Tahoma" panose="020B0604030504040204" pitchFamily="34" charset="0"/>
              <a:ea typeface="宋体" panose="02010600030101010101" pitchFamily="2" charset="-122"/>
            </a:endParaRPr>
          </a:p>
        </p:txBody>
      </p:sp>
      <p:sp>
        <p:nvSpPr>
          <p:cNvPr id="109583" name="Rectangle 16"/>
          <p:cNvSpPr/>
          <p:nvPr>
            <p:custDataLst>
              <p:tags r:id="rId9"/>
            </p:custDataLst>
          </p:nvPr>
        </p:nvSpPr>
        <p:spPr>
          <a:xfrm>
            <a:off x="962660" y="6042025"/>
            <a:ext cx="3952240" cy="442595"/>
          </a:xfrm>
          <a:prstGeom prst="rect">
            <a:avLst/>
          </a:prstGeom>
          <a:noFill/>
          <a:ln w="9525">
            <a:noFill/>
          </a:ln>
        </p:spPr>
        <p:txBody>
          <a:bodyPr wrap="none" lIns="71438" tIns="36513" rIns="71438" bIns="36513" anchor="ctr" anchorCtr="0"/>
          <a:p>
            <a:pPr algn="ctr">
              <a:lnSpc>
                <a:spcPct val="80000"/>
              </a:lnSpc>
            </a:pPr>
            <a:r>
              <a:rPr lang="zh-CN" altLang="en-US" dirty="0">
                <a:solidFill>
                  <a:schemeClr val="tx2"/>
                </a:solidFill>
                <a:latin typeface="Tahoma" panose="020B0604030504040204" pitchFamily="34" charset="0"/>
                <a:ea typeface="宋体" panose="02010600030101010101" pitchFamily="2" charset="-122"/>
              </a:rPr>
              <a:t>应用程序员看</a:t>
            </a:r>
            <a:endParaRPr lang="zh-CN" altLang="en-US" dirty="0">
              <a:solidFill>
                <a:schemeClr val="tx2"/>
              </a:solidFill>
              <a:latin typeface="Tahoma" panose="020B0604030504040204" pitchFamily="34" charset="0"/>
              <a:ea typeface="宋体" panose="02010600030101010101" pitchFamily="2" charset="-122"/>
            </a:endParaRPr>
          </a:p>
        </p:txBody>
      </p:sp>
      <p:grpSp>
        <p:nvGrpSpPr>
          <p:cNvPr id="109584" name="Group 17"/>
          <p:cNvGrpSpPr/>
          <p:nvPr/>
        </p:nvGrpSpPr>
        <p:grpSpPr>
          <a:xfrm rot="0">
            <a:off x="1033145" y="4580890"/>
            <a:ext cx="3955415" cy="1393825"/>
            <a:chOff x="479" y="287"/>
            <a:chExt cx="2690" cy="1058"/>
          </a:xfrm>
        </p:grpSpPr>
        <p:sp>
          <p:nvSpPr>
            <p:cNvPr id="109585" name="Line 18"/>
            <p:cNvSpPr/>
            <p:nvPr>
              <p:custDataLst>
                <p:tags r:id="rId10"/>
              </p:custDataLst>
            </p:nvPr>
          </p:nvSpPr>
          <p:spPr>
            <a:xfrm>
              <a:off x="1440" y="672"/>
              <a:ext cx="432" cy="0"/>
            </a:xfrm>
            <a:prstGeom prst="line">
              <a:avLst/>
            </a:prstGeom>
            <a:ln w="25400" cap="flat" cmpd="sng">
              <a:solidFill>
                <a:schemeClr val="tx2"/>
              </a:solidFill>
              <a:prstDash val="solid"/>
              <a:round/>
              <a:headEnd type="none" w="sm" len="sm"/>
              <a:tailEnd type="stealth" w="med" len="lg"/>
            </a:ln>
          </p:spPr>
        </p:sp>
        <p:sp>
          <p:nvSpPr>
            <p:cNvPr id="109586" name="Rectangle 19"/>
            <p:cNvSpPr/>
            <p:nvPr>
              <p:custDataLst>
                <p:tags r:id="rId11"/>
              </p:custDataLst>
            </p:nvPr>
          </p:nvSpPr>
          <p:spPr>
            <a:xfrm>
              <a:off x="623" y="527"/>
              <a:ext cx="818" cy="578"/>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zh-CN" altLang="en-US" dirty="0">
                  <a:solidFill>
                    <a:schemeClr val="tx2"/>
                  </a:solidFill>
                  <a:latin typeface="Tahoma" panose="020B0604030504040204" pitchFamily="34" charset="0"/>
                  <a:ea typeface="宋体" panose="02010600030101010101" pitchFamily="2" charset="-122"/>
                </a:rPr>
                <a:t>主存</a:t>
              </a:r>
              <a:br>
                <a:rPr lang="zh-CN" altLang="en-US" dirty="0">
                  <a:solidFill>
                    <a:schemeClr val="tx2"/>
                  </a:solidFill>
                  <a:latin typeface="Tahoma" panose="020B0604030504040204" pitchFamily="34" charset="0"/>
                  <a:ea typeface="宋体" panose="02010600030101010101" pitchFamily="2" charset="-122"/>
                </a:rPr>
              </a:br>
              <a:r>
                <a:rPr lang="zh-CN" altLang="en-US" dirty="0">
                  <a:solidFill>
                    <a:schemeClr val="tx2"/>
                  </a:solidFill>
                  <a:latin typeface="Tahoma" panose="020B0604030504040204" pitchFamily="34" charset="0"/>
                  <a:ea typeface="宋体" panose="02010600030101010101" pitchFamily="2" charset="-122"/>
                </a:rPr>
                <a:t>储器</a:t>
              </a:r>
              <a:endParaRPr lang="zh-CN" altLang="en-US" dirty="0">
                <a:solidFill>
                  <a:schemeClr val="tx2"/>
                </a:solidFill>
                <a:latin typeface="Tahoma" panose="020B0604030504040204" pitchFamily="34" charset="0"/>
                <a:ea typeface="宋体" panose="02010600030101010101" pitchFamily="2" charset="-122"/>
              </a:endParaRPr>
            </a:p>
          </p:txBody>
        </p:sp>
        <p:sp>
          <p:nvSpPr>
            <p:cNvPr id="109587" name="Rectangle 20"/>
            <p:cNvSpPr/>
            <p:nvPr>
              <p:custDataLst>
                <p:tags r:id="rId12"/>
              </p:custDataLst>
            </p:nvPr>
          </p:nvSpPr>
          <p:spPr>
            <a:xfrm>
              <a:off x="1871" y="431"/>
              <a:ext cx="1154" cy="770"/>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zh-CN" altLang="en-US" dirty="0">
                  <a:solidFill>
                    <a:schemeClr val="tx2"/>
                  </a:solidFill>
                  <a:latin typeface="Tahoma" panose="020B0604030504040204" pitchFamily="34" charset="0"/>
                  <a:ea typeface="宋体" panose="02010600030101010101" pitchFamily="2" charset="-122"/>
                </a:rPr>
                <a:t>磁盘</a:t>
              </a:r>
              <a:br>
                <a:rPr lang="zh-CN" altLang="en-US" dirty="0">
                  <a:solidFill>
                    <a:schemeClr val="tx2"/>
                  </a:solidFill>
                  <a:latin typeface="Tahoma" panose="020B0604030504040204" pitchFamily="34" charset="0"/>
                  <a:ea typeface="宋体" panose="02010600030101010101" pitchFamily="2" charset="-122"/>
                </a:rPr>
              </a:br>
              <a:r>
                <a:rPr lang="zh-CN" altLang="en-US" dirty="0">
                  <a:solidFill>
                    <a:schemeClr val="tx2"/>
                  </a:solidFill>
                  <a:latin typeface="Tahoma" panose="020B0604030504040204" pitchFamily="34" charset="0"/>
                  <a:ea typeface="宋体" panose="02010600030101010101" pitchFamily="2" charset="-122"/>
                </a:rPr>
                <a:t>存储器</a:t>
              </a:r>
              <a:endParaRPr lang="zh-CN" altLang="en-US" dirty="0">
                <a:solidFill>
                  <a:schemeClr val="tx2"/>
                </a:solidFill>
                <a:latin typeface="Tahoma" panose="020B0604030504040204" pitchFamily="34" charset="0"/>
                <a:ea typeface="宋体" panose="02010600030101010101" pitchFamily="2" charset="-122"/>
              </a:endParaRPr>
            </a:p>
          </p:txBody>
        </p:sp>
        <p:sp>
          <p:nvSpPr>
            <p:cNvPr id="109588" name="Line 21"/>
            <p:cNvSpPr/>
            <p:nvPr>
              <p:custDataLst>
                <p:tags r:id="rId13"/>
              </p:custDataLst>
            </p:nvPr>
          </p:nvSpPr>
          <p:spPr>
            <a:xfrm flipH="1">
              <a:off x="1440" y="960"/>
              <a:ext cx="432" cy="0"/>
            </a:xfrm>
            <a:prstGeom prst="line">
              <a:avLst/>
            </a:prstGeom>
            <a:ln w="25400" cap="flat" cmpd="sng">
              <a:solidFill>
                <a:schemeClr val="tx2"/>
              </a:solidFill>
              <a:prstDash val="solid"/>
              <a:round/>
              <a:headEnd type="none" w="sm" len="sm"/>
              <a:tailEnd type="stealth" w="med" len="lg"/>
            </a:ln>
          </p:spPr>
        </p:sp>
        <p:sp>
          <p:nvSpPr>
            <p:cNvPr id="109589" name="Rectangle 22"/>
            <p:cNvSpPr/>
            <p:nvPr>
              <p:custDataLst>
                <p:tags r:id="rId14"/>
              </p:custDataLst>
            </p:nvPr>
          </p:nvSpPr>
          <p:spPr>
            <a:xfrm>
              <a:off x="479" y="287"/>
              <a:ext cx="2690" cy="1058"/>
            </a:xfrm>
            <a:prstGeom prst="rect">
              <a:avLst/>
            </a:prstGeom>
            <a:noFill/>
            <a:ln w="25400" cap="flat" cmpd="sng">
              <a:solidFill>
                <a:schemeClr val="tx2"/>
              </a:solidFill>
              <a:prstDash val="lgDash"/>
              <a:miter/>
              <a:headEnd type="none" w="med" len="med"/>
              <a:tailEnd type="none" w="med" len="med"/>
            </a:ln>
          </p:spPr>
          <p:txBody>
            <a:bodyPr wrap="none" lIns="71438" tIns="36513" rIns="71438" bIns="36513" anchor="ctr" anchorCtr="0"/>
            <a:p>
              <a:pPr algn="ctr">
                <a:lnSpc>
                  <a:spcPct val="80000"/>
                </a:lnSpc>
              </a:pPr>
              <a:endParaRPr lang="en-US" altLang="zh-CN" dirty="0">
                <a:latin typeface="Tahoma" panose="020B0604030504040204" pitchFamily="34" charset="0"/>
                <a:ea typeface="宋体" panose="02010600030101010101" pitchFamily="2" charset="-122"/>
              </a:endParaRPr>
            </a:p>
          </p:txBody>
        </p:sp>
      </p:grpSp>
      <p:sp>
        <p:nvSpPr>
          <p:cNvPr id="109590" name="Rectangle 23"/>
          <p:cNvSpPr/>
          <p:nvPr>
            <p:custDataLst>
              <p:tags r:id="rId15"/>
            </p:custDataLst>
          </p:nvPr>
        </p:nvSpPr>
        <p:spPr>
          <a:xfrm>
            <a:off x="5269230" y="4519295"/>
            <a:ext cx="2823210" cy="1706880"/>
          </a:xfrm>
          <a:prstGeom prst="rect">
            <a:avLst/>
          </a:prstGeom>
          <a:noFill/>
          <a:ln w="9525">
            <a:noFill/>
          </a:ln>
        </p:spPr>
        <p:txBody>
          <a:bodyPr wrap="none" lIns="71438" tIns="36513" rIns="71438" bIns="36513" anchor="ctr" anchorCtr="0"/>
          <a:p>
            <a:pPr>
              <a:lnSpc>
                <a:spcPct val="80000"/>
              </a:lnSpc>
            </a:pPr>
            <a:endParaRPr lang="zh-CN" altLang="en-US" dirty="0">
              <a:solidFill>
                <a:schemeClr val="tx2"/>
              </a:solidFill>
              <a:latin typeface="Tahoma" panose="020B0604030504040204" pitchFamily="34" charset="0"/>
              <a:ea typeface="宋体" panose="02010600030101010101" pitchFamily="2" charset="-122"/>
            </a:endParaRPr>
          </a:p>
        </p:txBody>
      </p:sp>
      <p:sp>
        <p:nvSpPr>
          <p:cNvPr id="109591" name="Rectangle 24"/>
          <p:cNvSpPr/>
          <p:nvPr>
            <p:custDataLst>
              <p:tags r:id="rId16"/>
            </p:custDataLst>
          </p:nvPr>
        </p:nvSpPr>
        <p:spPr>
          <a:xfrm>
            <a:off x="5269230" y="5492115"/>
            <a:ext cx="2967355" cy="445135"/>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zh-CN" altLang="en-US" dirty="0">
                <a:solidFill>
                  <a:schemeClr val="tx2"/>
                </a:solidFill>
                <a:latin typeface="Tahoma" panose="020B0604030504040204" pitchFamily="34" charset="0"/>
                <a:ea typeface="宋体" panose="02010600030101010101" pitchFamily="2" charset="-122"/>
              </a:rPr>
              <a:t>虚拟存储系统</a:t>
            </a:r>
            <a:endParaRPr lang="zh-CN" altLang="en-US" dirty="0">
              <a:solidFill>
                <a:schemeClr val="tx2"/>
              </a:solidFill>
              <a:latin typeface="Tahoma" panose="020B0604030504040204" pitchFamily="34" charset="0"/>
              <a:ea typeface="宋体" panose="02010600030101010101" pitchFamily="2" charset="-122"/>
            </a:endParaRPr>
          </a:p>
        </p:txBody>
      </p:sp>
      <p:sp>
        <p:nvSpPr>
          <p:cNvPr id="3" name="文本框 2"/>
          <p:cNvSpPr txBox="1"/>
          <p:nvPr/>
        </p:nvSpPr>
        <p:spPr>
          <a:xfrm>
            <a:off x="5454015" y="2287270"/>
            <a:ext cx="2848610" cy="1004570"/>
          </a:xfrm>
          <a:prstGeom prst="rect">
            <a:avLst/>
          </a:prstGeom>
          <a:noFill/>
        </p:spPr>
        <p:txBody>
          <a:bodyPr wrap="square" rtlCol="0">
            <a:noAutofit/>
          </a:bodyPr>
          <a:p>
            <a:r>
              <a:rPr lang="zh-CN" altLang="en-US" dirty="0">
                <a:solidFill>
                  <a:schemeClr val="tx2"/>
                </a:solidFill>
                <a:latin typeface="Tahoma" panose="020B0604030504040204" pitchFamily="34" charset="0"/>
                <a:ea typeface="宋体" panose="02010600030101010101" pitchFamily="2" charset="-122"/>
                <a:sym typeface="+mn-ea"/>
              </a:rPr>
              <a:t>速度接近</a:t>
            </a:r>
            <a:r>
              <a:rPr lang="en-US" altLang="zh-CN" dirty="0">
                <a:solidFill>
                  <a:schemeClr val="tx2"/>
                </a:solidFill>
                <a:latin typeface="Tahoma" panose="020B0604030504040204" pitchFamily="34" charset="0"/>
                <a:ea typeface="宋体" panose="02010600030101010101" pitchFamily="2" charset="-122"/>
                <a:sym typeface="+mn-ea"/>
              </a:rPr>
              <a:t>Cache</a:t>
            </a:r>
            <a:r>
              <a:rPr lang="zh-CN" altLang="en-US" dirty="0">
                <a:solidFill>
                  <a:schemeClr val="tx2"/>
                </a:solidFill>
                <a:latin typeface="Tahoma" panose="020B0604030504040204" pitchFamily="34" charset="0"/>
                <a:ea typeface="宋体" panose="02010600030101010101" pitchFamily="2" charset="-122"/>
                <a:sym typeface="+mn-ea"/>
              </a:rPr>
              <a:t>的速度，</a:t>
            </a:r>
            <a:r>
              <a:rPr lang="zh-CN" altLang="en-US" dirty="0">
                <a:solidFill>
                  <a:schemeClr val="tx2"/>
                </a:solidFill>
                <a:latin typeface="Tahoma" panose="020B0604030504040204" pitchFamily="34" charset="0"/>
                <a:ea typeface="宋体" panose="02010600030101010101" pitchFamily="2" charset="-122"/>
                <a:sym typeface="+mn-ea"/>
              </a:rPr>
              <a:t>存储容量是主存的容量，每位价格接近主存储器</a:t>
            </a:r>
            <a:endParaRPr lang="zh-CN" altLang="en-US" dirty="0">
              <a:solidFill>
                <a:schemeClr val="tx2"/>
              </a:solidFill>
              <a:latin typeface="Tahoma" panose="020B0604030504040204" pitchFamily="34" charset="0"/>
              <a:ea typeface="宋体" panose="02010600030101010101" pitchFamily="2" charset="-122"/>
            </a:endParaRPr>
          </a:p>
          <a:p>
            <a:endParaRPr lang="zh-CN" altLang="en-US"/>
          </a:p>
        </p:txBody>
      </p:sp>
      <p:sp>
        <p:nvSpPr>
          <p:cNvPr id="5" name="文本框 4"/>
          <p:cNvSpPr txBox="1"/>
          <p:nvPr/>
        </p:nvSpPr>
        <p:spPr>
          <a:xfrm>
            <a:off x="5220970" y="4519930"/>
            <a:ext cx="2997200" cy="1004570"/>
          </a:xfrm>
          <a:prstGeom prst="rect">
            <a:avLst/>
          </a:prstGeom>
          <a:noFill/>
        </p:spPr>
        <p:txBody>
          <a:bodyPr wrap="square" rtlCol="0">
            <a:noAutofit/>
          </a:bodyPr>
          <a:p>
            <a:r>
              <a:rPr lang="zh-CN" altLang="en-US" dirty="0">
                <a:solidFill>
                  <a:schemeClr val="tx2"/>
                </a:solidFill>
                <a:latin typeface="Tahoma" panose="020B0604030504040204" pitchFamily="34" charset="0"/>
                <a:ea typeface="宋体" panose="02010600030101010101" pitchFamily="2" charset="-122"/>
                <a:sym typeface="+mn-ea"/>
              </a:rPr>
              <a:t>速度接近主存储器的速度，存储容量是虚拟地址空间，每位价格接近磁盘存储器</a:t>
            </a:r>
            <a:endParaRPr lang="zh-CN" altLang="en-US" dirty="0">
              <a:solidFill>
                <a:schemeClr val="tx2"/>
              </a:solidFill>
              <a:latin typeface="Tahoma" panose="020B0604030504040204" pitchFamily="34" charset="0"/>
              <a:ea typeface="宋体" panose="02010600030101010101" pitchFamily="2" charset="-122"/>
            </a:endParaRPr>
          </a:p>
          <a:p>
            <a:endParaRPr lang="zh-CN"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存储系统</a:t>
            </a:r>
            <a:endParaRPr lang="zh-CN"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111618" name="Group 11"/>
          <p:cNvGrpSpPr/>
          <p:nvPr/>
        </p:nvGrpSpPr>
        <p:grpSpPr>
          <a:xfrm>
            <a:off x="682943" y="2060575"/>
            <a:ext cx="3203575" cy="2517775"/>
            <a:chOff x="575" y="2063"/>
            <a:chExt cx="2018" cy="1586"/>
          </a:xfrm>
        </p:grpSpPr>
        <p:sp>
          <p:nvSpPr>
            <p:cNvPr id="111619" name="Rectangle 12"/>
            <p:cNvSpPr/>
            <p:nvPr>
              <p:custDataLst>
                <p:tags r:id="rId1"/>
              </p:custDataLst>
            </p:nvPr>
          </p:nvSpPr>
          <p:spPr>
            <a:xfrm>
              <a:off x="1055" y="2063"/>
              <a:ext cx="1058" cy="338"/>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en-US" altLang="zh-CN" dirty="0">
                  <a:solidFill>
                    <a:schemeClr val="tx2"/>
                  </a:solidFill>
                  <a:latin typeface="Tahoma" panose="020B0604030504040204" pitchFamily="34" charset="0"/>
                  <a:ea typeface="宋体" panose="02010600030101010101" pitchFamily="2" charset="-122"/>
                </a:rPr>
                <a:t>Cache</a:t>
              </a:r>
              <a:endParaRPr lang="en-US" altLang="zh-CN" dirty="0">
                <a:solidFill>
                  <a:schemeClr val="tx2"/>
                </a:solidFill>
                <a:latin typeface="Tahoma" panose="020B0604030504040204" pitchFamily="34" charset="0"/>
                <a:ea typeface="宋体" panose="02010600030101010101" pitchFamily="2" charset="-122"/>
              </a:endParaRPr>
            </a:p>
          </p:txBody>
        </p:sp>
        <p:sp>
          <p:nvSpPr>
            <p:cNvPr id="111620" name="Rectangle 13"/>
            <p:cNvSpPr/>
            <p:nvPr>
              <p:custDataLst>
                <p:tags r:id="rId2"/>
              </p:custDataLst>
            </p:nvPr>
          </p:nvSpPr>
          <p:spPr>
            <a:xfrm>
              <a:off x="863" y="2687"/>
              <a:ext cx="1442" cy="338"/>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zh-CN" altLang="en-US" dirty="0">
                  <a:solidFill>
                    <a:schemeClr val="tx2"/>
                  </a:solidFill>
                  <a:latin typeface="Tahoma" panose="020B0604030504040204" pitchFamily="34" charset="0"/>
                  <a:ea typeface="宋体" panose="02010600030101010101" pitchFamily="2" charset="-122"/>
                </a:rPr>
                <a:t>主存储器</a:t>
              </a:r>
              <a:endParaRPr lang="zh-CN" altLang="en-US" dirty="0">
                <a:solidFill>
                  <a:schemeClr val="tx2"/>
                </a:solidFill>
                <a:latin typeface="Tahoma" panose="020B0604030504040204" pitchFamily="34" charset="0"/>
                <a:ea typeface="宋体" panose="02010600030101010101" pitchFamily="2" charset="-122"/>
              </a:endParaRPr>
            </a:p>
          </p:txBody>
        </p:sp>
        <p:sp>
          <p:nvSpPr>
            <p:cNvPr id="111621" name="Rectangle 14"/>
            <p:cNvSpPr/>
            <p:nvPr>
              <p:custDataLst>
                <p:tags r:id="rId3"/>
              </p:custDataLst>
            </p:nvPr>
          </p:nvSpPr>
          <p:spPr>
            <a:xfrm>
              <a:off x="575" y="3311"/>
              <a:ext cx="2018" cy="338"/>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zh-CN" altLang="en-US" dirty="0">
                  <a:solidFill>
                    <a:schemeClr val="tx2"/>
                  </a:solidFill>
                  <a:latin typeface="Tahoma" panose="020B0604030504040204" pitchFamily="34" charset="0"/>
                  <a:ea typeface="宋体" panose="02010600030101010101" pitchFamily="2" charset="-122"/>
                </a:rPr>
                <a:t>磁盘存储器</a:t>
              </a:r>
              <a:endParaRPr lang="zh-CN" altLang="en-US" dirty="0">
                <a:solidFill>
                  <a:schemeClr val="tx2"/>
                </a:solidFill>
                <a:latin typeface="Tahoma" panose="020B0604030504040204" pitchFamily="34" charset="0"/>
                <a:ea typeface="宋体" panose="02010600030101010101" pitchFamily="2" charset="-122"/>
              </a:endParaRPr>
            </a:p>
          </p:txBody>
        </p:sp>
        <p:sp>
          <p:nvSpPr>
            <p:cNvPr id="111622" name="Line 15"/>
            <p:cNvSpPr/>
            <p:nvPr>
              <p:custDataLst>
                <p:tags r:id="rId4"/>
              </p:custDataLst>
            </p:nvPr>
          </p:nvSpPr>
          <p:spPr>
            <a:xfrm>
              <a:off x="1584" y="2400"/>
              <a:ext cx="0" cy="288"/>
            </a:xfrm>
            <a:prstGeom prst="line">
              <a:avLst/>
            </a:prstGeom>
            <a:ln w="25400" cap="flat" cmpd="sng">
              <a:solidFill>
                <a:schemeClr val="tx2"/>
              </a:solidFill>
              <a:prstDash val="solid"/>
              <a:round/>
              <a:headEnd type="stealth" w="med" len="lg"/>
              <a:tailEnd type="stealth" w="med" len="lg"/>
            </a:ln>
          </p:spPr>
        </p:sp>
        <p:sp>
          <p:nvSpPr>
            <p:cNvPr id="111623" name="Line 16"/>
            <p:cNvSpPr/>
            <p:nvPr>
              <p:custDataLst>
                <p:tags r:id="rId5"/>
              </p:custDataLst>
            </p:nvPr>
          </p:nvSpPr>
          <p:spPr>
            <a:xfrm>
              <a:off x="1584" y="3024"/>
              <a:ext cx="0" cy="288"/>
            </a:xfrm>
            <a:prstGeom prst="line">
              <a:avLst/>
            </a:prstGeom>
            <a:ln w="25400" cap="flat" cmpd="sng">
              <a:solidFill>
                <a:schemeClr val="tx2"/>
              </a:solidFill>
              <a:prstDash val="solid"/>
              <a:round/>
              <a:headEnd type="stealth" w="med" len="lg"/>
              <a:tailEnd type="stealth" w="med" len="lg"/>
            </a:ln>
          </p:spPr>
        </p:sp>
      </p:grpSp>
      <p:sp>
        <p:nvSpPr>
          <p:cNvPr id="111624" name="Rectangle 17"/>
          <p:cNvSpPr/>
          <p:nvPr>
            <p:custDataLst>
              <p:tags r:id="rId6"/>
            </p:custDataLst>
          </p:nvPr>
        </p:nvSpPr>
        <p:spPr>
          <a:xfrm>
            <a:off x="608330" y="4576763"/>
            <a:ext cx="3352800" cy="533400"/>
          </a:xfrm>
          <a:prstGeom prst="rect">
            <a:avLst/>
          </a:prstGeom>
          <a:noFill/>
          <a:ln w="9525">
            <a:noFill/>
          </a:ln>
        </p:spPr>
        <p:txBody>
          <a:bodyPr wrap="none" lIns="71438" tIns="36513" rIns="71438" bIns="36513" anchor="ctr" anchorCtr="0"/>
          <a:p>
            <a:pPr algn="ctr">
              <a:lnSpc>
                <a:spcPct val="80000"/>
              </a:lnSpc>
            </a:pPr>
            <a:r>
              <a:rPr lang="zh-CN" altLang="en-US" b="1" dirty="0">
                <a:solidFill>
                  <a:srgbClr val="FF0000"/>
                </a:solidFill>
                <a:latin typeface="Tahoma" panose="020B0604030504040204" pitchFamily="34" charset="0"/>
                <a:ea typeface="宋体" panose="02010600030101010101" pitchFamily="2" charset="-122"/>
              </a:rPr>
              <a:t>一种三级存储系统</a:t>
            </a:r>
            <a:endParaRPr lang="zh-CN" altLang="en-US" b="1" dirty="0">
              <a:solidFill>
                <a:srgbClr val="FF0000"/>
              </a:solidFill>
              <a:latin typeface="Tahoma" panose="020B0604030504040204" pitchFamily="34" charset="0"/>
              <a:ea typeface="宋体" panose="02010600030101010101" pitchFamily="2" charset="-122"/>
            </a:endParaRPr>
          </a:p>
        </p:txBody>
      </p:sp>
      <p:grpSp>
        <p:nvGrpSpPr>
          <p:cNvPr id="111625" name="Group 18"/>
          <p:cNvGrpSpPr/>
          <p:nvPr/>
        </p:nvGrpSpPr>
        <p:grpSpPr>
          <a:xfrm>
            <a:off x="4797743" y="2593975"/>
            <a:ext cx="3203575" cy="1527175"/>
            <a:chOff x="3167" y="2399"/>
            <a:chExt cx="2018" cy="962"/>
          </a:xfrm>
        </p:grpSpPr>
        <p:sp>
          <p:nvSpPr>
            <p:cNvPr id="111626" name="Rectangle 19"/>
            <p:cNvSpPr/>
            <p:nvPr>
              <p:custDataLst>
                <p:tags r:id="rId7"/>
              </p:custDataLst>
            </p:nvPr>
          </p:nvSpPr>
          <p:spPr>
            <a:xfrm>
              <a:off x="3647" y="2399"/>
              <a:ext cx="1058" cy="338"/>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en-US" altLang="zh-CN" dirty="0">
                  <a:solidFill>
                    <a:schemeClr val="tx2"/>
                  </a:solidFill>
                  <a:latin typeface="Tahoma" panose="020B0604030504040204" pitchFamily="34" charset="0"/>
                  <a:ea typeface="宋体" panose="02010600030101010101" pitchFamily="2" charset="-122"/>
                </a:rPr>
                <a:t>Cache</a:t>
              </a:r>
              <a:endParaRPr lang="en-US" altLang="zh-CN" dirty="0">
                <a:solidFill>
                  <a:schemeClr val="tx2"/>
                </a:solidFill>
                <a:latin typeface="Tahoma" panose="020B0604030504040204" pitchFamily="34" charset="0"/>
                <a:ea typeface="宋体" panose="02010600030101010101" pitchFamily="2" charset="-122"/>
              </a:endParaRPr>
            </a:p>
          </p:txBody>
        </p:sp>
        <p:sp>
          <p:nvSpPr>
            <p:cNvPr id="111627" name="Rectangle 20"/>
            <p:cNvSpPr/>
            <p:nvPr>
              <p:custDataLst>
                <p:tags r:id="rId8"/>
              </p:custDataLst>
            </p:nvPr>
          </p:nvSpPr>
          <p:spPr>
            <a:xfrm>
              <a:off x="3167" y="3023"/>
              <a:ext cx="2018" cy="338"/>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zh-CN" altLang="en-US" dirty="0">
                  <a:solidFill>
                    <a:schemeClr val="tx2"/>
                  </a:solidFill>
                  <a:latin typeface="Tahoma" panose="020B0604030504040204" pitchFamily="34" charset="0"/>
                  <a:ea typeface="宋体" panose="02010600030101010101" pitchFamily="2" charset="-122"/>
                </a:rPr>
                <a:t>磁盘存储器</a:t>
              </a:r>
              <a:endParaRPr lang="zh-CN" altLang="en-US" dirty="0">
                <a:solidFill>
                  <a:schemeClr val="tx2"/>
                </a:solidFill>
                <a:latin typeface="Tahoma" panose="020B0604030504040204" pitchFamily="34" charset="0"/>
                <a:ea typeface="宋体" panose="02010600030101010101" pitchFamily="2" charset="-122"/>
              </a:endParaRPr>
            </a:p>
          </p:txBody>
        </p:sp>
        <p:sp>
          <p:nvSpPr>
            <p:cNvPr id="111628" name="Line 21"/>
            <p:cNvSpPr/>
            <p:nvPr>
              <p:custDataLst>
                <p:tags r:id="rId9"/>
              </p:custDataLst>
            </p:nvPr>
          </p:nvSpPr>
          <p:spPr>
            <a:xfrm>
              <a:off x="4176" y="2736"/>
              <a:ext cx="0" cy="288"/>
            </a:xfrm>
            <a:prstGeom prst="line">
              <a:avLst/>
            </a:prstGeom>
            <a:ln w="25400" cap="flat" cmpd="sng">
              <a:solidFill>
                <a:schemeClr val="tx2"/>
              </a:solidFill>
              <a:prstDash val="solid"/>
              <a:round/>
              <a:headEnd type="stealth" w="med" len="lg"/>
              <a:tailEnd type="stealth" w="med" len="lg"/>
            </a:ln>
          </p:spPr>
        </p:sp>
      </p:grpSp>
      <p:sp>
        <p:nvSpPr>
          <p:cNvPr id="111629" name="Rectangle 22"/>
          <p:cNvSpPr/>
          <p:nvPr>
            <p:custDataLst>
              <p:tags r:id="rId10"/>
            </p:custDataLst>
          </p:nvPr>
        </p:nvSpPr>
        <p:spPr>
          <a:xfrm>
            <a:off x="4265930" y="4576763"/>
            <a:ext cx="4267200" cy="533400"/>
          </a:xfrm>
          <a:prstGeom prst="rect">
            <a:avLst/>
          </a:prstGeom>
          <a:noFill/>
          <a:ln w="9525">
            <a:noFill/>
          </a:ln>
        </p:spPr>
        <p:txBody>
          <a:bodyPr wrap="none" lIns="71438" tIns="36513" rIns="71438" bIns="36513" anchor="ctr" anchorCtr="0"/>
          <a:p>
            <a:pPr algn="ctr">
              <a:lnSpc>
                <a:spcPct val="80000"/>
              </a:lnSpc>
            </a:pPr>
            <a:r>
              <a:rPr lang="zh-CN" altLang="en-US" b="1" dirty="0">
                <a:solidFill>
                  <a:srgbClr val="FF0000"/>
                </a:solidFill>
                <a:latin typeface="Tahoma" panose="020B0604030504040204" pitchFamily="34" charset="0"/>
                <a:ea typeface="宋体" panose="02010600030101010101" pitchFamily="2" charset="-122"/>
              </a:rPr>
              <a:t>一种新的二级存储系统</a:t>
            </a:r>
            <a:endParaRPr lang="zh-CN" altLang="en-US" b="1" dirty="0">
              <a:solidFill>
                <a:srgbClr val="FF0000"/>
              </a:solidFill>
              <a:latin typeface="Tahoma" panose="020B0604030504040204" pitchFamily="34" charset="0"/>
              <a:ea typeface="宋体" panose="02010600030101010101" pitchFamily="2"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存储系统的几种组织方式</a:t>
            </a:r>
            <a:endParaRPr lang="zh-CN"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Rectangle 3"/>
          <p:cNvSpPr>
            <a:spLocks noGrp="1"/>
          </p:cNvSpPr>
          <p:nvPr>
            <p:custDataLst>
              <p:tags r:id="rId1"/>
            </p:custDataLst>
          </p:nvPr>
        </p:nvSpPr>
        <p:spPr>
          <a:xfrm>
            <a:off x="361950" y="1243330"/>
            <a:ext cx="8420100" cy="2395855"/>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eaLnBrk="1" hangingPunct="1"/>
            <a:r>
              <a:rPr lang="zh-CN" altLang="en-US" sz="2400" dirty="0">
                <a:solidFill>
                  <a:schemeClr val="tx2"/>
                </a:solidFill>
                <a:latin typeface="Times New Roman" panose="02020603050405020304" pitchFamily="18" charset="0"/>
                <a:cs typeface="Times New Roman" panose="02020603050405020304" pitchFamily="18" charset="0"/>
                <a:sym typeface="+mn-ea"/>
              </a:rPr>
              <a:t>两个存储系统的组织方式</a:t>
            </a:r>
            <a:endParaRPr lang="zh-CN" altLang="en-US" sz="2400" dirty="0">
              <a:solidFill>
                <a:schemeClr val="tx2"/>
              </a:solidFill>
              <a:latin typeface="Times New Roman" panose="02020603050405020304" pitchFamily="18" charset="0"/>
              <a:cs typeface="Times New Roman" panose="02020603050405020304" pitchFamily="18" charset="0"/>
            </a:endParaRPr>
          </a:p>
          <a:p>
            <a:pPr lvl="1" indent="-169545" eaLnBrk="1" hangingPunct="1">
              <a:spcBef>
                <a:spcPts val="1200"/>
              </a:spcBef>
            </a:pPr>
            <a:r>
              <a:rPr lang="en-US" altLang="zh-CN" sz="2400" dirty="0">
                <a:latin typeface="Times New Roman" panose="02020603050405020304" pitchFamily="18" charset="0"/>
                <a:cs typeface="Times New Roman" panose="02020603050405020304" pitchFamily="18" charset="0"/>
                <a:sym typeface="+mn-ea"/>
              </a:rPr>
              <a:t>"Cache-</a:t>
            </a:r>
            <a:r>
              <a:rPr lang="zh-CN" altLang="en-US" sz="2400" dirty="0">
                <a:latin typeface="Times New Roman" panose="02020603050405020304" pitchFamily="18" charset="0"/>
                <a:cs typeface="Times New Roman" panose="02020603050405020304" pitchFamily="18" charset="0"/>
                <a:sym typeface="+mn-ea"/>
              </a:rPr>
              <a:t>主存</a:t>
            </a:r>
            <a:r>
              <a:rPr lang="en-US" altLang="zh-CN" sz="2400" dirty="0">
                <a:latin typeface="Times New Roman" panose="02020603050405020304" pitchFamily="18" charset="0"/>
                <a:cs typeface="Times New Roman" panose="02020603050405020304" pitchFamily="18" charset="0"/>
                <a:sym typeface="+mn-ea"/>
              </a:rPr>
              <a:t>"</a:t>
            </a:r>
            <a:r>
              <a:rPr lang="zh-CN" altLang="en-US" sz="2400" dirty="0">
                <a:latin typeface="Times New Roman" panose="02020603050405020304" pitchFamily="18" charset="0"/>
                <a:cs typeface="Times New Roman" panose="02020603050405020304" pitchFamily="18" charset="0"/>
                <a:sym typeface="+mn-ea"/>
              </a:rPr>
              <a:t>和</a:t>
            </a:r>
            <a:r>
              <a:rPr lang="en-US" altLang="zh-CN" sz="2400" dirty="0">
                <a:latin typeface="Times New Roman" panose="02020603050405020304" pitchFamily="18" charset="0"/>
                <a:cs typeface="Times New Roman" panose="02020603050405020304" pitchFamily="18" charset="0"/>
                <a:sym typeface="+mn-ea"/>
              </a:rPr>
              <a:t>"</a:t>
            </a:r>
            <a:r>
              <a:rPr lang="zh-CN" altLang="en-US" sz="2400" dirty="0">
                <a:latin typeface="Times New Roman" panose="02020603050405020304" pitchFamily="18" charset="0"/>
                <a:cs typeface="Times New Roman" panose="02020603050405020304" pitchFamily="18" charset="0"/>
                <a:sym typeface="+mn-ea"/>
              </a:rPr>
              <a:t>主存</a:t>
            </a:r>
            <a:r>
              <a:rPr lang="en-US" altLang="zh-CN" sz="2400" dirty="0">
                <a:latin typeface="Times New Roman" panose="02020603050405020304" pitchFamily="18" charset="0"/>
                <a:cs typeface="Times New Roman" panose="02020603050405020304" pitchFamily="18" charset="0"/>
                <a:sym typeface="+mn-ea"/>
              </a:rPr>
              <a:t>-</a:t>
            </a:r>
            <a:r>
              <a:rPr lang="zh-CN" altLang="en-US" sz="2400" dirty="0">
                <a:latin typeface="Times New Roman" panose="02020603050405020304" pitchFamily="18" charset="0"/>
                <a:cs typeface="Times New Roman" panose="02020603050405020304" pitchFamily="18" charset="0"/>
                <a:sym typeface="+mn-ea"/>
              </a:rPr>
              <a:t>磁盘</a:t>
            </a:r>
            <a:r>
              <a:rPr lang="en-US" altLang="zh-CN" sz="2400" dirty="0">
                <a:latin typeface="Times New Roman" panose="02020603050405020304" pitchFamily="18" charset="0"/>
                <a:cs typeface="Times New Roman" panose="02020603050405020304" pitchFamily="18" charset="0"/>
                <a:sym typeface="+mn-ea"/>
              </a:rPr>
              <a:t>"</a:t>
            </a:r>
            <a:r>
              <a:rPr lang="zh-CN" altLang="en-US" sz="2400" dirty="0">
                <a:latin typeface="Times New Roman" panose="02020603050405020304" pitchFamily="18" charset="0"/>
                <a:cs typeface="Times New Roman" panose="02020603050405020304" pitchFamily="18" charset="0"/>
                <a:sym typeface="+mn-ea"/>
              </a:rPr>
              <a:t>两个独立的存储系统</a:t>
            </a:r>
            <a:endParaRPr lang="zh-CN" altLang="en-US" sz="2400" dirty="0">
              <a:latin typeface="Times New Roman" panose="02020603050405020304" pitchFamily="18" charset="0"/>
              <a:cs typeface="Times New Roman" panose="02020603050405020304" pitchFamily="18" charset="0"/>
            </a:endParaRPr>
          </a:p>
          <a:p>
            <a:pPr lvl="1" indent="-169545" eaLnBrk="1" hangingPunct="1">
              <a:spcBef>
                <a:spcPts val="1200"/>
              </a:spcBef>
            </a:pPr>
            <a:r>
              <a:rPr lang="zh-CN" altLang="en-US" sz="2400" dirty="0">
                <a:solidFill>
                  <a:srgbClr val="FF3300"/>
                </a:solidFill>
                <a:latin typeface="Times New Roman" panose="02020603050405020304" pitchFamily="18" charset="0"/>
                <a:cs typeface="Times New Roman" panose="02020603050405020304" pitchFamily="18" charset="0"/>
                <a:sym typeface="+mn-ea"/>
              </a:rPr>
              <a:t>物理地址</a:t>
            </a:r>
            <a:r>
              <a:rPr lang="en-US" altLang="zh-CN" sz="2400" dirty="0">
                <a:solidFill>
                  <a:srgbClr val="FF3300"/>
                </a:solidFill>
                <a:latin typeface="Times New Roman" panose="02020603050405020304" pitchFamily="18" charset="0"/>
                <a:cs typeface="Times New Roman" panose="02020603050405020304" pitchFamily="18" charset="0"/>
                <a:sym typeface="+mn-ea"/>
              </a:rPr>
              <a:t>Cache</a:t>
            </a:r>
            <a:r>
              <a:rPr lang="zh-CN" altLang="en-US" sz="2400" dirty="0">
                <a:latin typeface="Times New Roman" panose="02020603050405020304" pitchFamily="18" charset="0"/>
                <a:cs typeface="Times New Roman" panose="02020603050405020304" pitchFamily="18" charset="0"/>
                <a:sym typeface="+mn-ea"/>
              </a:rPr>
              <a:t>存储系统</a:t>
            </a:r>
            <a:endParaRPr lang="zh-CN" altLang="en-US" sz="2400" dirty="0">
              <a:latin typeface="Times New Roman" panose="02020603050405020304" pitchFamily="18" charset="0"/>
              <a:cs typeface="Times New Roman" panose="02020603050405020304" pitchFamily="18" charset="0"/>
            </a:endParaRPr>
          </a:p>
          <a:p>
            <a:pPr lvl="1" indent="-169545" eaLnBrk="1" hangingPunct="1">
              <a:spcBef>
                <a:spcPts val="1200"/>
              </a:spcBef>
            </a:pPr>
            <a:r>
              <a:rPr lang="zh-CN" altLang="en-US" sz="2400" dirty="0">
                <a:latin typeface="Times New Roman" panose="02020603050405020304" pitchFamily="18" charset="0"/>
                <a:cs typeface="Times New Roman" panose="02020603050405020304" pitchFamily="18" charset="0"/>
                <a:sym typeface="+mn-ea"/>
              </a:rPr>
              <a:t>目前大部分处理机，</a:t>
            </a:r>
            <a:r>
              <a:rPr lang="en-US" altLang="zh-CN" sz="2400" dirty="0">
                <a:latin typeface="Times New Roman" panose="02020603050405020304" pitchFamily="18" charset="0"/>
                <a:cs typeface="Times New Roman" panose="02020603050405020304" pitchFamily="18" charset="0"/>
                <a:sym typeface="+mn-ea"/>
              </a:rPr>
              <a:t>Intel i486,P4</a:t>
            </a:r>
            <a:r>
              <a:rPr lang="zh-CN" altLang="en-US" sz="2400" dirty="0">
                <a:latin typeface="Times New Roman" panose="02020603050405020304" pitchFamily="18" charset="0"/>
                <a:cs typeface="Times New Roman" panose="02020603050405020304" pitchFamily="18" charset="0"/>
                <a:sym typeface="+mn-ea"/>
              </a:rPr>
              <a:t>采用这种两级存储系统</a:t>
            </a:r>
            <a:endParaRPr lang="zh-CN" altLang="en-US" sz="2400" dirty="0">
              <a:latin typeface="Times New Roman" panose="02020603050405020304" pitchFamily="18" charset="0"/>
              <a:cs typeface="Times New Roman" panose="02020603050405020304" pitchFamily="18" charset="0"/>
            </a:endParaRPr>
          </a:p>
          <a:p>
            <a:pPr eaLnBrk="1" hangingPunct="1">
              <a:lnSpc>
                <a:spcPct val="100000"/>
              </a:lnSpc>
              <a:spcBef>
                <a:spcPts val="600"/>
              </a:spcBef>
            </a:pPr>
            <a:endParaRPr lang="zh-CN" altLang="en-US" sz="2400" dirty="0">
              <a:solidFill>
                <a:schemeClr val="tx2"/>
              </a:solidFill>
              <a:latin typeface="Times New Roman" panose="02020603050405020304" pitchFamily="18" charset="0"/>
              <a:cs typeface="Times New Roman" panose="02020603050405020304" pitchFamily="18" charset="0"/>
            </a:endParaRPr>
          </a:p>
          <a:p>
            <a:pPr lvl="1" eaLnBrk="1" hangingPunct="1">
              <a:lnSpc>
                <a:spcPct val="100000"/>
              </a:lnSpc>
              <a:spcBef>
                <a:spcPts val="600"/>
              </a:spcBef>
            </a:pPr>
            <a:endParaRPr lang="zh-CN" sz="2400" dirty="0">
              <a:latin typeface="Times New Roman" panose="02020603050405020304" pitchFamily="18" charset="0"/>
              <a:cs typeface="Times New Roman" panose="02020603050405020304" pitchFamily="18" charset="0"/>
              <a:sym typeface="+mn-ea"/>
            </a:endParaRPr>
          </a:p>
          <a:p>
            <a:pPr lvl="1" eaLnBrk="1" hangingPunct="1">
              <a:spcBef>
                <a:spcPts val="1200"/>
              </a:spcBef>
            </a:pPr>
            <a:endParaRPr lang="zh-CN" altLang="en-US" sz="2055" dirty="0">
              <a:latin typeface="Times New Roman" panose="02020603050405020304" pitchFamily="18" charset="0"/>
              <a:cs typeface="Times New Roman" panose="02020603050405020304" pitchFamily="18" charset="0"/>
              <a:sym typeface="+mn-ea"/>
            </a:endParaRPr>
          </a:p>
        </p:txBody>
      </p:sp>
      <p:grpSp>
        <p:nvGrpSpPr>
          <p:cNvPr id="113668" name="Group 4"/>
          <p:cNvGrpSpPr/>
          <p:nvPr/>
        </p:nvGrpSpPr>
        <p:grpSpPr>
          <a:xfrm>
            <a:off x="717868" y="3572828"/>
            <a:ext cx="7545387" cy="2294847"/>
            <a:chOff x="527" y="2160"/>
            <a:chExt cx="4753" cy="1586"/>
          </a:xfrm>
        </p:grpSpPr>
        <p:sp>
          <p:nvSpPr>
            <p:cNvPr id="113669" name="Line 5"/>
            <p:cNvSpPr/>
            <p:nvPr>
              <p:custDataLst>
                <p:tags r:id="rId2"/>
              </p:custDataLst>
            </p:nvPr>
          </p:nvSpPr>
          <p:spPr>
            <a:xfrm>
              <a:off x="1248" y="2496"/>
              <a:ext cx="672" cy="0"/>
            </a:xfrm>
            <a:prstGeom prst="line">
              <a:avLst/>
            </a:prstGeom>
            <a:ln w="25400" cap="flat" cmpd="sng">
              <a:solidFill>
                <a:schemeClr val="tx2"/>
              </a:solidFill>
              <a:prstDash val="solid"/>
              <a:round/>
              <a:headEnd type="none" w="sm" len="sm"/>
              <a:tailEnd type="stealth" w="med" len="lg"/>
            </a:ln>
          </p:spPr>
        </p:sp>
        <p:sp>
          <p:nvSpPr>
            <p:cNvPr id="113670" name="Rectangle 6"/>
            <p:cNvSpPr/>
            <p:nvPr>
              <p:custDataLst>
                <p:tags r:id="rId3"/>
              </p:custDataLst>
            </p:nvPr>
          </p:nvSpPr>
          <p:spPr>
            <a:xfrm>
              <a:off x="527" y="2207"/>
              <a:ext cx="722" cy="962"/>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en-US" altLang="zh-CN" dirty="0">
                  <a:solidFill>
                    <a:schemeClr val="tx2"/>
                  </a:solidFill>
                  <a:latin typeface="Tahoma" panose="020B0604030504040204" pitchFamily="34" charset="0"/>
                  <a:ea typeface="宋体" panose="02010600030101010101" pitchFamily="2" charset="-122"/>
                </a:rPr>
                <a:t>CPU</a:t>
              </a:r>
              <a:endParaRPr lang="en-US" altLang="zh-CN" dirty="0">
                <a:solidFill>
                  <a:schemeClr val="tx2"/>
                </a:solidFill>
                <a:latin typeface="Tahoma" panose="020B0604030504040204" pitchFamily="34" charset="0"/>
                <a:ea typeface="宋体" panose="02010600030101010101" pitchFamily="2" charset="-122"/>
              </a:endParaRPr>
            </a:p>
          </p:txBody>
        </p:sp>
        <p:sp>
          <p:nvSpPr>
            <p:cNvPr id="113671" name="Rectangle 7"/>
            <p:cNvSpPr/>
            <p:nvPr>
              <p:custDataLst>
                <p:tags r:id="rId4"/>
              </p:custDataLst>
            </p:nvPr>
          </p:nvSpPr>
          <p:spPr>
            <a:xfrm>
              <a:off x="1248" y="2242"/>
              <a:ext cx="624" cy="528"/>
            </a:xfrm>
            <a:prstGeom prst="rect">
              <a:avLst/>
            </a:prstGeom>
            <a:noFill/>
            <a:ln w="9525">
              <a:noFill/>
            </a:ln>
          </p:spPr>
          <p:txBody>
            <a:bodyPr wrap="none" lIns="71438" tIns="36513" rIns="71438" bIns="36513" anchor="ctr" anchorCtr="0"/>
            <a:p>
              <a:pPr algn="ctr"/>
              <a:r>
                <a:rPr lang="zh-CN" altLang="en-US" dirty="0">
                  <a:solidFill>
                    <a:schemeClr val="tx2"/>
                  </a:solidFill>
                  <a:latin typeface="Tahoma" panose="020B0604030504040204" pitchFamily="34" charset="0"/>
                  <a:ea typeface="宋体" panose="02010600030101010101" pitchFamily="2" charset="-122"/>
                </a:rPr>
                <a:t>虚拟</a:t>
              </a:r>
              <a:br>
                <a:rPr lang="zh-CN" altLang="en-US" dirty="0">
                  <a:solidFill>
                    <a:schemeClr val="tx2"/>
                  </a:solidFill>
                  <a:latin typeface="Tahoma" panose="020B0604030504040204" pitchFamily="34" charset="0"/>
                  <a:ea typeface="宋体" panose="02010600030101010101" pitchFamily="2" charset="-122"/>
                </a:rPr>
              </a:br>
              <a:r>
                <a:rPr lang="zh-CN" altLang="en-US" dirty="0">
                  <a:solidFill>
                    <a:schemeClr val="tx2"/>
                  </a:solidFill>
                  <a:latin typeface="Tahoma" panose="020B0604030504040204" pitchFamily="34" charset="0"/>
                  <a:ea typeface="宋体" panose="02010600030101010101" pitchFamily="2" charset="-122"/>
                </a:rPr>
                <a:t>地址</a:t>
              </a:r>
              <a:endParaRPr lang="zh-CN" altLang="en-US" dirty="0">
                <a:solidFill>
                  <a:schemeClr val="tx2"/>
                </a:solidFill>
                <a:latin typeface="Tahoma" panose="020B0604030504040204" pitchFamily="34" charset="0"/>
                <a:ea typeface="宋体" panose="02010600030101010101" pitchFamily="2" charset="-122"/>
              </a:endParaRPr>
            </a:p>
          </p:txBody>
        </p:sp>
        <p:sp>
          <p:nvSpPr>
            <p:cNvPr id="113672" name="Line 8"/>
            <p:cNvSpPr/>
            <p:nvPr>
              <p:custDataLst>
                <p:tags r:id="rId5"/>
              </p:custDataLst>
            </p:nvPr>
          </p:nvSpPr>
          <p:spPr>
            <a:xfrm flipV="1">
              <a:off x="864" y="3168"/>
              <a:ext cx="0" cy="240"/>
            </a:xfrm>
            <a:prstGeom prst="line">
              <a:avLst/>
            </a:prstGeom>
            <a:ln w="25400" cap="flat" cmpd="sng">
              <a:solidFill>
                <a:schemeClr val="tx2"/>
              </a:solidFill>
              <a:prstDash val="solid"/>
              <a:round/>
              <a:headEnd type="none" w="sm" len="sm"/>
              <a:tailEnd type="stealth" w="med" len="lg"/>
            </a:ln>
          </p:spPr>
        </p:sp>
        <p:sp>
          <p:nvSpPr>
            <p:cNvPr id="113673" name="Rectangle 9"/>
            <p:cNvSpPr/>
            <p:nvPr>
              <p:custDataLst>
                <p:tags r:id="rId6"/>
              </p:custDataLst>
            </p:nvPr>
          </p:nvSpPr>
          <p:spPr>
            <a:xfrm>
              <a:off x="1919" y="2303"/>
              <a:ext cx="818" cy="338"/>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en-US" altLang="zh-CN" dirty="0">
                  <a:solidFill>
                    <a:schemeClr val="tx2"/>
                  </a:solidFill>
                  <a:latin typeface="Tahoma" panose="020B0604030504040204" pitchFamily="34" charset="0"/>
                  <a:ea typeface="宋体" panose="02010600030101010101" pitchFamily="2" charset="-122"/>
                </a:rPr>
                <a:t>MMU</a:t>
              </a:r>
              <a:endParaRPr lang="en-US" altLang="zh-CN" dirty="0">
                <a:solidFill>
                  <a:schemeClr val="tx2"/>
                </a:solidFill>
                <a:latin typeface="Tahoma" panose="020B0604030504040204" pitchFamily="34" charset="0"/>
                <a:ea typeface="宋体" panose="02010600030101010101" pitchFamily="2" charset="-122"/>
              </a:endParaRPr>
            </a:p>
          </p:txBody>
        </p:sp>
        <p:sp>
          <p:nvSpPr>
            <p:cNvPr id="113674" name="Rectangle 10"/>
            <p:cNvSpPr/>
            <p:nvPr>
              <p:custDataLst>
                <p:tags r:id="rId7"/>
              </p:custDataLst>
            </p:nvPr>
          </p:nvSpPr>
          <p:spPr>
            <a:xfrm>
              <a:off x="3359" y="2303"/>
              <a:ext cx="818" cy="626"/>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en-US" altLang="zh-CN" dirty="0">
                  <a:solidFill>
                    <a:schemeClr val="tx2"/>
                  </a:solidFill>
                  <a:latin typeface="Tahoma" panose="020B0604030504040204" pitchFamily="34" charset="0"/>
                  <a:ea typeface="宋体" panose="02010600030101010101" pitchFamily="2" charset="-122"/>
                </a:rPr>
                <a:t>Cache</a:t>
              </a:r>
              <a:endParaRPr lang="en-US" altLang="zh-CN" dirty="0">
                <a:solidFill>
                  <a:schemeClr val="tx2"/>
                </a:solidFill>
                <a:latin typeface="Tahoma" panose="020B0604030504040204" pitchFamily="34" charset="0"/>
                <a:ea typeface="宋体" panose="02010600030101010101" pitchFamily="2" charset="-122"/>
              </a:endParaRPr>
            </a:p>
          </p:txBody>
        </p:sp>
        <p:sp>
          <p:nvSpPr>
            <p:cNvPr id="113675" name="Rectangle 11"/>
            <p:cNvSpPr/>
            <p:nvPr>
              <p:custDataLst>
                <p:tags r:id="rId8"/>
              </p:custDataLst>
            </p:nvPr>
          </p:nvSpPr>
          <p:spPr>
            <a:xfrm>
              <a:off x="4415" y="3023"/>
              <a:ext cx="818" cy="626"/>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zh-CN" altLang="en-US" dirty="0">
                  <a:solidFill>
                    <a:schemeClr val="tx2"/>
                  </a:solidFill>
                  <a:latin typeface="Tahoma" panose="020B0604030504040204" pitchFamily="34" charset="0"/>
                  <a:ea typeface="宋体" panose="02010600030101010101" pitchFamily="2" charset="-122"/>
                </a:rPr>
                <a:t>主存</a:t>
              </a:r>
              <a:br>
                <a:rPr lang="zh-CN" altLang="en-US" dirty="0">
                  <a:solidFill>
                    <a:schemeClr val="tx2"/>
                  </a:solidFill>
                  <a:latin typeface="Tahoma" panose="020B0604030504040204" pitchFamily="34" charset="0"/>
                  <a:ea typeface="宋体" panose="02010600030101010101" pitchFamily="2" charset="-122"/>
                </a:rPr>
              </a:br>
              <a:r>
                <a:rPr lang="zh-CN" altLang="en-US" dirty="0">
                  <a:solidFill>
                    <a:schemeClr val="tx2"/>
                  </a:solidFill>
                  <a:latin typeface="Tahoma" panose="020B0604030504040204" pitchFamily="34" charset="0"/>
                  <a:ea typeface="宋体" panose="02010600030101010101" pitchFamily="2" charset="-122"/>
                </a:rPr>
                <a:t>储器</a:t>
              </a:r>
              <a:endParaRPr lang="zh-CN" altLang="en-US" dirty="0">
                <a:solidFill>
                  <a:schemeClr val="tx2"/>
                </a:solidFill>
                <a:latin typeface="Tahoma" panose="020B0604030504040204" pitchFamily="34" charset="0"/>
                <a:ea typeface="宋体" panose="02010600030101010101" pitchFamily="2" charset="-122"/>
              </a:endParaRPr>
            </a:p>
          </p:txBody>
        </p:sp>
        <p:sp>
          <p:nvSpPr>
            <p:cNvPr id="113676" name="Line 12"/>
            <p:cNvSpPr/>
            <p:nvPr>
              <p:custDataLst>
                <p:tags r:id="rId9"/>
              </p:custDataLst>
            </p:nvPr>
          </p:nvSpPr>
          <p:spPr>
            <a:xfrm>
              <a:off x="2736" y="2496"/>
              <a:ext cx="624" cy="0"/>
            </a:xfrm>
            <a:prstGeom prst="line">
              <a:avLst/>
            </a:prstGeom>
            <a:ln w="25400" cap="flat" cmpd="sng">
              <a:solidFill>
                <a:schemeClr val="tx2"/>
              </a:solidFill>
              <a:prstDash val="solid"/>
              <a:round/>
              <a:headEnd type="none" w="sm" len="sm"/>
              <a:tailEnd type="stealth" w="med" len="lg"/>
            </a:ln>
          </p:spPr>
        </p:sp>
        <p:sp>
          <p:nvSpPr>
            <p:cNvPr id="113677" name="Rectangle 13"/>
            <p:cNvSpPr/>
            <p:nvPr>
              <p:custDataLst>
                <p:tags r:id="rId10"/>
              </p:custDataLst>
            </p:nvPr>
          </p:nvSpPr>
          <p:spPr>
            <a:xfrm>
              <a:off x="2688" y="2242"/>
              <a:ext cx="624" cy="528"/>
            </a:xfrm>
            <a:prstGeom prst="rect">
              <a:avLst/>
            </a:prstGeom>
            <a:noFill/>
            <a:ln w="9525">
              <a:noFill/>
            </a:ln>
          </p:spPr>
          <p:txBody>
            <a:bodyPr wrap="none" lIns="71438" tIns="36513" rIns="71438" bIns="36513" anchor="ctr" anchorCtr="0"/>
            <a:p>
              <a:pPr algn="ctr"/>
              <a:r>
                <a:rPr lang="zh-CN" altLang="en-US" dirty="0">
                  <a:solidFill>
                    <a:schemeClr val="tx2"/>
                  </a:solidFill>
                  <a:latin typeface="Tahoma" panose="020B0604030504040204" pitchFamily="34" charset="0"/>
                  <a:ea typeface="宋体" panose="02010600030101010101" pitchFamily="2" charset="-122"/>
                </a:rPr>
                <a:t>物理</a:t>
              </a:r>
              <a:br>
                <a:rPr lang="zh-CN" altLang="en-US" dirty="0">
                  <a:solidFill>
                    <a:schemeClr val="tx2"/>
                  </a:solidFill>
                  <a:latin typeface="Tahoma" panose="020B0604030504040204" pitchFamily="34" charset="0"/>
                  <a:ea typeface="宋体" panose="02010600030101010101" pitchFamily="2" charset="-122"/>
                </a:rPr>
              </a:br>
              <a:r>
                <a:rPr lang="zh-CN" altLang="en-US" dirty="0">
                  <a:solidFill>
                    <a:schemeClr val="tx2"/>
                  </a:solidFill>
                  <a:latin typeface="Tahoma" panose="020B0604030504040204" pitchFamily="34" charset="0"/>
                  <a:ea typeface="宋体" panose="02010600030101010101" pitchFamily="2" charset="-122"/>
                </a:rPr>
                <a:t>地址</a:t>
              </a:r>
              <a:endParaRPr lang="zh-CN" altLang="en-US" dirty="0">
                <a:solidFill>
                  <a:schemeClr val="tx2"/>
                </a:solidFill>
                <a:latin typeface="Tahoma" panose="020B0604030504040204" pitchFamily="34" charset="0"/>
                <a:ea typeface="宋体" panose="02010600030101010101" pitchFamily="2" charset="-122"/>
              </a:endParaRPr>
            </a:p>
          </p:txBody>
        </p:sp>
        <p:sp>
          <p:nvSpPr>
            <p:cNvPr id="113678" name="Line 14"/>
            <p:cNvSpPr/>
            <p:nvPr>
              <p:custDataLst>
                <p:tags r:id="rId11"/>
              </p:custDataLst>
            </p:nvPr>
          </p:nvSpPr>
          <p:spPr>
            <a:xfrm flipV="1">
              <a:off x="3600" y="2928"/>
              <a:ext cx="0" cy="480"/>
            </a:xfrm>
            <a:prstGeom prst="line">
              <a:avLst/>
            </a:prstGeom>
            <a:ln w="25400" cap="flat" cmpd="sng">
              <a:solidFill>
                <a:schemeClr val="tx2"/>
              </a:solidFill>
              <a:prstDash val="solid"/>
              <a:round/>
              <a:headEnd type="none" w="sm" len="sm"/>
              <a:tailEnd type="stealth" w="med" len="lg"/>
            </a:ln>
          </p:spPr>
        </p:sp>
        <p:sp>
          <p:nvSpPr>
            <p:cNvPr id="113679" name="Line 15"/>
            <p:cNvSpPr/>
            <p:nvPr>
              <p:custDataLst>
                <p:tags r:id="rId12"/>
              </p:custDataLst>
            </p:nvPr>
          </p:nvSpPr>
          <p:spPr>
            <a:xfrm flipH="1">
              <a:off x="864" y="3408"/>
              <a:ext cx="2736" cy="0"/>
            </a:xfrm>
            <a:prstGeom prst="line">
              <a:avLst/>
            </a:prstGeom>
            <a:ln w="25400" cap="flat" cmpd="sng">
              <a:solidFill>
                <a:schemeClr val="tx2"/>
              </a:solidFill>
              <a:prstDash val="solid"/>
              <a:round/>
              <a:headEnd type="none" w="sm" len="sm"/>
              <a:tailEnd type="none" w="sm" len="sm"/>
            </a:ln>
          </p:spPr>
        </p:sp>
        <p:sp>
          <p:nvSpPr>
            <p:cNvPr id="113680" name="Line 16"/>
            <p:cNvSpPr/>
            <p:nvPr>
              <p:custDataLst>
                <p:tags r:id="rId13"/>
              </p:custDataLst>
            </p:nvPr>
          </p:nvSpPr>
          <p:spPr>
            <a:xfrm flipV="1">
              <a:off x="3936" y="2928"/>
              <a:ext cx="0" cy="480"/>
            </a:xfrm>
            <a:prstGeom prst="line">
              <a:avLst/>
            </a:prstGeom>
            <a:ln w="25400" cap="flat" cmpd="sng">
              <a:solidFill>
                <a:schemeClr val="tx2"/>
              </a:solidFill>
              <a:prstDash val="solid"/>
              <a:round/>
              <a:headEnd type="none" w="sm" len="sm"/>
              <a:tailEnd type="stealth" w="med" len="lg"/>
            </a:ln>
          </p:spPr>
        </p:sp>
        <p:sp>
          <p:nvSpPr>
            <p:cNvPr id="113681" name="Line 17"/>
            <p:cNvSpPr/>
            <p:nvPr>
              <p:custDataLst>
                <p:tags r:id="rId14"/>
              </p:custDataLst>
            </p:nvPr>
          </p:nvSpPr>
          <p:spPr>
            <a:xfrm>
              <a:off x="3936" y="3408"/>
              <a:ext cx="480" cy="0"/>
            </a:xfrm>
            <a:prstGeom prst="line">
              <a:avLst/>
            </a:prstGeom>
            <a:ln w="25400" cap="flat" cmpd="sng">
              <a:solidFill>
                <a:schemeClr val="tx2"/>
              </a:solidFill>
              <a:prstDash val="solid"/>
              <a:round/>
              <a:headEnd type="none" w="sm" len="sm"/>
              <a:tailEnd type="stealth" w="med" len="lg"/>
            </a:ln>
          </p:spPr>
        </p:sp>
        <p:sp>
          <p:nvSpPr>
            <p:cNvPr id="113682" name="Rectangle 18"/>
            <p:cNvSpPr/>
            <p:nvPr>
              <p:custDataLst>
                <p:tags r:id="rId15"/>
              </p:custDataLst>
            </p:nvPr>
          </p:nvSpPr>
          <p:spPr>
            <a:xfrm>
              <a:off x="3072" y="3410"/>
              <a:ext cx="1344" cy="336"/>
            </a:xfrm>
            <a:prstGeom prst="rect">
              <a:avLst/>
            </a:prstGeom>
            <a:noFill/>
            <a:ln w="9525">
              <a:noFill/>
            </a:ln>
          </p:spPr>
          <p:txBody>
            <a:bodyPr wrap="none" lIns="71438" tIns="36513" rIns="71438" bIns="36513" anchor="ctr" anchorCtr="0"/>
            <a:p>
              <a:pPr algn="ctr"/>
              <a:r>
                <a:rPr lang="zh-CN" altLang="en-US" dirty="0">
                  <a:solidFill>
                    <a:schemeClr val="tx2"/>
                  </a:solidFill>
                  <a:latin typeface="Tahoma" panose="020B0604030504040204" pitchFamily="34" charset="0"/>
                  <a:ea typeface="宋体" panose="02010600030101010101" pitchFamily="2" charset="-122"/>
                </a:rPr>
                <a:t>数据或指令</a:t>
              </a:r>
              <a:endParaRPr lang="zh-CN" altLang="en-US" dirty="0">
                <a:solidFill>
                  <a:schemeClr val="tx2"/>
                </a:solidFill>
                <a:latin typeface="Tahoma" panose="020B0604030504040204" pitchFamily="34" charset="0"/>
                <a:ea typeface="宋体" panose="02010600030101010101" pitchFamily="2" charset="-122"/>
              </a:endParaRPr>
            </a:p>
          </p:txBody>
        </p:sp>
        <p:sp>
          <p:nvSpPr>
            <p:cNvPr id="113683" name="Line 19"/>
            <p:cNvSpPr/>
            <p:nvPr>
              <p:custDataLst>
                <p:tags r:id="rId16"/>
              </p:custDataLst>
            </p:nvPr>
          </p:nvSpPr>
          <p:spPr>
            <a:xfrm flipH="1">
              <a:off x="4176" y="2496"/>
              <a:ext cx="624" cy="0"/>
            </a:xfrm>
            <a:prstGeom prst="line">
              <a:avLst/>
            </a:prstGeom>
            <a:ln w="25400" cap="flat" cmpd="sng">
              <a:solidFill>
                <a:schemeClr val="tx2"/>
              </a:solidFill>
              <a:prstDash val="solid"/>
              <a:round/>
              <a:headEnd type="none" w="sm" len="sm"/>
              <a:tailEnd type="none" w="sm" len="sm"/>
            </a:ln>
          </p:spPr>
        </p:sp>
        <p:sp>
          <p:nvSpPr>
            <p:cNvPr id="113684" name="Rectangle 20"/>
            <p:cNvSpPr/>
            <p:nvPr>
              <p:custDataLst>
                <p:tags r:id="rId17"/>
              </p:custDataLst>
            </p:nvPr>
          </p:nvSpPr>
          <p:spPr>
            <a:xfrm>
              <a:off x="4128" y="2160"/>
              <a:ext cx="1152" cy="288"/>
            </a:xfrm>
            <a:prstGeom prst="rect">
              <a:avLst/>
            </a:prstGeom>
            <a:noFill/>
            <a:ln w="9525">
              <a:noFill/>
            </a:ln>
          </p:spPr>
          <p:txBody>
            <a:bodyPr wrap="none" lIns="71438" tIns="36513" rIns="71438" bIns="36513" anchor="ctr" anchorCtr="0"/>
            <a:p>
              <a:pPr algn="ctr"/>
              <a:r>
                <a:rPr lang="zh-CN" altLang="en-US" dirty="0">
                  <a:solidFill>
                    <a:schemeClr val="tx2"/>
                  </a:solidFill>
                  <a:latin typeface="Tahoma" panose="020B0604030504040204" pitchFamily="34" charset="0"/>
                  <a:ea typeface="宋体" panose="02010600030101010101" pitchFamily="2" charset="-122"/>
                </a:rPr>
                <a:t>物理地址</a:t>
              </a:r>
              <a:endParaRPr lang="zh-CN" altLang="en-US" dirty="0">
                <a:solidFill>
                  <a:schemeClr val="tx2"/>
                </a:solidFill>
                <a:latin typeface="Tahoma" panose="020B0604030504040204" pitchFamily="34" charset="0"/>
                <a:ea typeface="宋体" panose="02010600030101010101" pitchFamily="2" charset="-122"/>
              </a:endParaRPr>
            </a:p>
          </p:txBody>
        </p:sp>
        <p:sp>
          <p:nvSpPr>
            <p:cNvPr id="113685" name="Line 21"/>
            <p:cNvSpPr/>
            <p:nvPr>
              <p:custDataLst>
                <p:tags r:id="rId18"/>
              </p:custDataLst>
            </p:nvPr>
          </p:nvSpPr>
          <p:spPr>
            <a:xfrm>
              <a:off x="4800" y="2496"/>
              <a:ext cx="0" cy="528"/>
            </a:xfrm>
            <a:prstGeom prst="line">
              <a:avLst/>
            </a:prstGeom>
            <a:ln w="25400" cap="flat" cmpd="sng">
              <a:solidFill>
                <a:schemeClr val="tx2"/>
              </a:solidFill>
              <a:prstDash val="solid"/>
              <a:round/>
              <a:headEnd type="none" w="sm" len="sm"/>
              <a:tailEnd type="stealth" w="med" len="lg"/>
            </a:ln>
          </p:spPr>
        </p:sp>
      </p:gr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存储系统的几种组织方式</a:t>
            </a:r>
            <a:endParaRPr lang="zh-CN"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Rectangle 3"/>
          <p:cNvSpPr>
            <a:spLocks noGrp="1"/>
          </p:cNvSpPr>
          <p:nvPr>
            <p:custDataLst>
              <p:tags r:id="rId1"/>
            </p:custDataLst>
          </p:nvPr>
        </p:nvSpPr>
        <p:spPr>
          <a:xfrm>
            <a:off x="361950" y="1243330"/>
            <a:ext cx="8420100" cy="2378075"/>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eaLnBrk="1" hangingPunct="1">
              <a:spcBef>
                <a:spcPts val="600"/>
              </a:spcBef>
            </a:pPr>
            <a:r>
              <a:rPr lang="zh-CN" altLang="en-US" sz="2400" dirty="0">
                <a:solidFill>
                  <a:schemeClr val="tx2"/>
                </a:solidFill>
                <a:latin typeface="Times New Roman" panose="02020603050405020304" pitchFamily="18" charset="0"/>
                <a:cs typeface="Times New Roman" panose="02020603050405020304" pitchFamily="18" charset="0"/>
                <a:sym typeface="+mn-ea"/>
              </a:rPr>
              <a:t>一个存储系统组织方式</a:t>
            </a:r>
            <a:endParaRPr lang="zh-CN" altLang="en-US" sz="2400" dirty="0">
              <a:solidFill>
                <a:schemeClr val="tx2"/>
              </a:solidFill>
              <a:latin typeface="Times New Roman" panose="02020603050405020304" pitchFamily="18" charset="0"/>
              <a:cs typeface="Times New Roman" panose="02020603050405020304" pitchFamily="18" charset="0"/>
            </a:endParaRPr>
          </a:p>
          <a:p>
            <a:pPr lvl="1" indent="-169545" eaLnBrk="1" hangingPunct="1">
              <a:spcBef>
                <a:spcPts val="1200"/>
              </a:spcBef>
            </a:pPr>
            <a:r>
              <a:rPr lang="en-US" altLang="zh-CN" sz="2400" dirty="0">
                <a:latin typeface="Times New Roman" panose="02020603050405020304" pitchFamily="18" charset="0"/>
                <a:cs typeface="Times New Roman" panose="02020603050405020304" pitchFamily="18" charset="0"/>
                <a:sym typeface="+mn-ea"/>
              </a:rPr>
              <a:t>"Cache-</a:t>
            </a:r>
            <a:r>
              <a:rPr lang="zh-CN" altLang="en-US" sz="2400" dirty="0">
                <a:latin typeface="Times New Roman" panose="02020603050405020304" pitchFamily="18" charset="0"/>
                <a:cs typeface="Times New Roman" panose="02020603050405020304" pitchFamily="18" charset="0"/>
                <a:sym typeface="+mn-ea"/>
              </a:rPr>
              <a:t>主存</a:t>
            </a:r>
            <a:r>
              <a:rPr lang="en-US" altLang="zh-CN" sz="2400" dirty="0">
                <a:latin typeface="Times New Roman" panose="02020603050405020304" pitchFamily="18" charset="0"/>
                <a:cs typeface="Times New Roman" panose="02020603050405020304" pitchFamily="18" charset="0"/>
                <a:sym typeface="+mn-ea"/>
              </a:rPr>
              <a:t>-</a:t>
            </a:r>
            <a:r>
              <a:rPr lang="zh-CN" altLang="en-US" sz="2400" dirty="0">
                <a:latin typeface="Times New Roman" panose="02020603050405020304" pitchFamily="18" charset="0"/>
                <a:cs typeface="Times New Roman" panose="02020603050405020304" pitchFamily="18" charset="0"/>
                <a:sym typeface="+mn-ea"/>
              </a:rPr>
              <a:t>磁盘</a:t>
            </a:r>
            <a:r>
              <a:rPr lang="en-US" altLang="zh-CN" sz="2400" dirty="0">
                <a:latin typeface="Times New Roman" panose="02020603050405020304" pitchFamily="18" charset="0"/>
                <a:cs typeface="Times New Roman" panose="02020603050405020304" pitchFamily="18" charset="0"/>
                <a:sym typeface="+mn-ea"/>
              </a:rPr>
              <a:t>"</a:t>
            </a:r>
            <a:r>
              <a:rPr lang="zh-CN" altLang="en-US" sz="2400" dirty="0">
                <a:latin typeface="Times New Roman" panose="02020603050405020304" pitchFamily="18" charset="0"/>
                <a:cs typeface="Times New Roman" panose="02020603050405020304" pitchFamily="18" charset="0"/>
                <a:sym typeface="+mn-ea"/>
              </a:rPr>
              <a:t>一个存储系统</a:t>
            </a:r>
            <a:endParaRPr lang="zh-CN" altLang="en-US" sz="2400" dirty="0">
              <a:latin typeface="Times New Roman" panose="02020603050405020304" pitchFamily="18" charset="0"/>
              <a:cs typeface="Times New Roman" panose="02020603050405020304" pitchFamily="18" charset="0"/>
            </a:endParaRPr>
          </a:p>
          <a:p>
            <a:pPr lvl="1" indent="-169545" eaLnBrk="1" hangingPunct="1">
              <a:spcBef>
                <a:spcPts val="1200"/>
              </a:spcBef>
            </a:pPr>
            <a:r>
              <a:rPr lang="zh-CN" altLang="en-US" sz="2400" dirty="0">
                <a:solidFill>
                  <a:srgbClr val="FF3300"/>
                </a:solidFill>
                <a:latin typeface="Times New Roman" panose="02020603050405020304" pitchFamily="18" charset="0"/>
                <a:cs typeface="Times New Roman" panose="02020603050405020304" pitchFamily="18" charset="0"/>
                <a:sym typeface="+mn-ea"/>
              </a:rPr>
              <a:t>虚拟地址</a:t>
            </a:r>
            <a:r>
              <a:rPr lang="en-US" altLang="zh-CN" sz="2400" dirty="0">
                <a:solidFill>
                  <a:srgbClr val="FF3300"/>
                </a:solidFill>
                <a:latin typeface="Times New Roman" panose="02020603050405020304" pitchFamily="18" charset="0"/>
                <a:cs typeface="Times New Roman" panose="02020603050405020304" pitchFamily="18" charset="0"/>
                <a:sym typeface="+mn-ea"/>
              </a:rPr>
              <a:t>Cache</a:t>
            </a:r>
            <a:r>
              <a:rPr lang="zh-CN" altLang="en-US" sz="2400" dirty="0">
                <a:latin typeface="Times New Roman" panose="02020603050405020304" pitchFamily="18" charset="0"/>
                <a:cs typeface="Times New Roman" panose="02020603050405020304" pitchFamily="18" charset="0"/>
                <a:sym typeface="+mn-ea"/>
              </a:rPr>
              <a:t>存储系统</a:t>
            </a:r>
            <a:endParaRPr lang="zh-CN" altLang="en-US" sz="2400" dirty="0">
              <a:latin typeface="Times New Roman" panose="02020603050405020304" pitchFamily="18" charset="0"/>
              <a:cs typeface="Times New Roman" panose="02020603050405020304" pitchFamily="18" charset="0"/>
            </a:endParaRPr>
          </a:p>
          <a:p>
            <a:pPr lvl="1" indent="-169545" eaLnBrk="1" hangingPunct="1">
              <a:spcBef>
                <a:spcPts val="1200"/>
              </a:spcBef>
            </a:pPr>
            <a:r>
              <a:rPr lang="en-US" altLang="zh-CN" sz="2400" dirty="0">
                <a:latin typeface="Times New Roman" panose="02020603050405020304" pitchFamily="18" charset="0"/>
                <a:cs typeface="Times New Roman" panose="02020603050405020304" pitchFamily="18" charset="0"/>
                <a:sym typeface="+mn-ea"/>
              </a:rPr>
              <a:t>Intel</a:t>
            </a:r>
            <a:r>
              <a:rPr lang="zh-CN" altLang="en-US" sz="2400" dirty="0">
                <a:latin typeface="Times New Roman" panose="02020603050405020304" pitchFamily="18" charset="0"/>
                <a:cs typeface="Times New Roman" panose="02020603050405020304" pitchFamily="18" charset="0"/>
                <a:sym typeface="+mn-ea"/>
              </a:rPr>
              <a:t>公司的</a:t>
            </a:r>
            <a:r>
              <a:rPr lang="en-US" altLang="zh-CN" sz="2400" dirty="0">
                <a:latin typeface="Times New Roman" panose="02020603050405020304" pitchFamily="18" charset="0"/>
                <a:cs typeface="Times New Roman" panose="02020603050405020304" pitchFamily="18" charset="0"/>
                <a:sym typeface="+mn-ea"/>
              </a:rPr>
              <a:t>i860</a:t>
            </a:r>
            <a:r>
              <a:rPr lang="zh-CN" altLang="en-US" sz="2400" dirty="0">
                <a:latin typeface="Times New Roman" panose="02020603050405020304" pitchFamily="18" charset="0"/>
                <a:cs typeface="Times New Roman" panose="02020603050405020304" pitchFamily="18" charset="0"/>
                <a:sym typeface="+mn-ea"/>
              </a:rPr>
              <a:t>等处理机采用这种组织方式</a:t>
            </a:r>
            <a:endParaRPr lang="zh-CN" altLang="en-US" sz="2400" dirty="0">
              <a:latin typeface="Times New Roman" panose="02020603050405020304" pitchFamily="18" charset="0"/>
              <a:cs typeface="Times New Roman" panose="02020603050405020304" pitchFamily="18" charset="0"/>
            </a:endParaRPr>
          </a:p>
          <a:p>
            <a:pPr eaLnBrk="1" hangingPunct="1">
              <a:lnSpc>
                <a:spcPct val="100000"/>
              </a:lnSpc>
              <a:spcBef>
                <a:spcPts val="600"/>
              </a:spcBef>
            </a:pPr>
            <a:endParaRPr lang="zh-CN" altLang="en-US" sz="2400" dirty="0">
              <a:solidFill>
                <a:schemeClr val="tx2"/>
              </a:solidFill>
              <a:latin typeface="Times New Roman" panose="02020603050405020304" pitchFamily="18" charset="0"/>
              <a:cs typeface="Times New Roman" panose="02020603050405020304" pitchFamily="18" charset="0"/>
            </a:endParaRPr>
          </a:p>
          <a:p>
            <a:pPr lvl="1" eaLnBrk="1" hangingPunct="1">
              <a:lnSpc>
                <a:spcPct val="100000"/>
              </a:lnSpc>
              <a:spcBef>
                <a:spcPts val="600"/>
              </a:spcBef>
            </a:pPr>
            <a:endParaRPr lang="zh-CN" sz="2400" dirty="0">
              <a:latin typeface="Times New Roman" panose="02020603050405020304" pitchFamily="18" charset="0"/>
              <a:cs typeface="Times New Roman" panose="02020603050405020304" pitchFamily="18" charset="0"/>
              <a:sym typeface="+mn-ea"/>
            </a:endParaRPr>
          </a:p>
          <a:p>
            <a:pPr lvl="1" eaLnBrk="1" hangingPunct="1">
              <a:spcBef>
                <a:spcPts val="1200"/>
              </a:spcBef>
            </a:pPr>
            <a:endParaRPr lang="zh-CN" altLang="en-US" sz="2055" dirty="0">
              <a:latin typeface="Times New Roman" panose="02020603050405020304" pitchFamily="18" charset="0"/>
              <a:cs typeface="Times New Roman" panose="02020603050405020304" pitchFamily="18" charset="0"/>
              <a:sym typeface="+mn-ea"/>
            </a:endParaRPr>
          </a:p>
        </p:txBody>
      </p:sp>
      <p:grpSp>
        <p:nvGrpSpPr>
          <p:cNvPr id="115716" name="Group 22"/>
          <p:cNvGrpSpPr/>
          <p:nvPr/>
        </p:nvGrpSpPr>
        <p:grpSpPr>
          <a:xfrm>
            <a:off x="827405" y="3806294"/>
            <a:ext cx="7394575" cy="1782638"/>
            <a:chOff x="623" y="1583"/>
            <a:chExt cx="4658" cy="1351"/>
          </a:xfrm>
        </p:grpSpPr>
        <p:sp>
          <p:nvSpPr>
            <p:cNvPr id="115717" name="Line 23"/>
            <p:cNvSpPr/>
            <p:nvPr>
              <p:custDataLst>
                <p:tags r:id="rId2"/>
              </p:custDataLst>
            </p:nvPr>
          </p:nvSpPr>
          <p:spPr>
            <a:xfrm>
              <a:off x="2544" y="1824"/>
              <a:ext cx="240" cy="0"/>
            </a:xfrm>
            <a:prstGeom prst="line">
              <a:avLst/>
            </a:prstGeom>
            <a:ln w="25400" cap="flat" cmpd="sng">
              <a:solidFill>
                <a:schemeClr val="tx2"/>
              </a:solidFill>
              <a:prstDash val="solid"/>
              <a:round/>
              <a:headEnd type="none" w="sm" len="sm"/>
              <a:tailEnd type="stealth" w="med" len="lg"/>
            </a:ln>
          </p:spPr>
        </p:sp>
        <p:sp>
          <p:nvSpPr>
            <p:cNvPr id="115718" name="Rectangle 24"/>
            <p:cNvSpPr/>
            <p:nvPr>
              <p:custDataLst>
                <p:tags r:id="rId3"/>
              </p:custDataLst>
            </p:nvPr>
          </p:nvSpPr>
          <p:spPr>
            <a:xfrm>
              <a:off x="623" y="1583"/>
              <a:ext cx="722" cy="1106"/>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en-US" altLang="zh-CN" dirty="0">
                  <a:solidFill>
                    <a:schemeClr val="tx2"/>
                  </a:solidFill>
                  <a:latin typeface="Tahoma" panose="020B0604030504040204" pitchFamily="34" charset="0"/>
                  <a:ea typeface="宋体" panose="02010600030101010101" pitchFamily="2" charset="-122"/>
                </a:rPr>
                <a:t>CPU</a:t>
              </a:r>
              <a:endParaRPr lang="en-US" altLang="zh-CN" dirty="0">
                <a:solidFill>
                  <a:schemeClr val="tx2"/>
                </a:solidFill>
                <a:latin typeface="Tahoma" panose="020B0604030504040204" pitchFamily="34" charset="0"/>
                <a:ea typeface="宋体" panose="02010600030101010101" pitchFamily="2" charset="-122"/>
              </a:endParaRPr>
            </a:p>
          </p:txBody>
        </p:sp>
        <p:sp>
          <p:nvSpPr>
            <p:cNvPr id="115719" name="Rectangle 25"/>
            <p:cNvSpPr/>
            <p:nvPr>
              <p:custDataLst>
                <p:tags r:id="rId4"/>
              </p:custDataLst>
            </p:nvPr>
          </p:nvSpPr>
          <p:spPr>
            <a:xfrm>
              <a:off x="1392" y="1584"/>
              <a:ext cx="1104" cy="304"/>
            </a:xfrm>
            <a:prstGeom prst="rect">
              <a:avLst/>
            </a:prstGeom>
            <a:noFill/>
            <a:ln w="9525">
              <a:noFill/>
            </a:ln>
          </p:spPr>
          <p:txBody>
            <a:bodyPr wrap="none" lIns="71438" tIns="36513" rIns="71438" bIns="36513" anchor="ctr" anchorCtr="0"/>
            <a:p>
              <a:pPr algn="ctr"/>
              <a:r>
                <a:rPr lang="zh-CN" altLang="en-US" dirty="0">
                  <a:solidFill>
                    <a:schemeClr val="tx2"/>
                  </a:solidFill>
                  <a:latin typeface="Tahoma" panose="020B0604030504040204" pitchFamily="34" charset="0"/>
                  <a:ea typeface="宋体" panose="02010600030101010101" pitchFamily="2" charset="-122"/>
                </a:rPr>
                <a:t>虚拟地址</a:t>
              </a:r>
              <a:endParaRPr lang="zh-CN" altLang="en-US" dirty="0">
                <a:solidFill>
                  <a:schemeClr val="tx2"/>
                </a:solidFill>
                <a:latin typeface="Tahoma" panose="020B0604030504040204" pitchFamily="34" charset="0"/>
                <a:ea typeface="宋体" panose="02010600030101010101" pitchFamily="2" charset="-122"/>
              </a:endParaRPr>
            </a:p>
          </p:txBody>
        </p:sp>
        <p:sp>
          <p:nvSpPr>
            <p:cNvPr id="115720" name="Line 26"/>
            <p:cNvSpPr/>
            <p:nvPr>
              <p:custDataLst>
                <p:tags r:id="rId5"/>
              </p:custDataLst>
            </p:nvPr>
          </p:nvSpPr>
          <p:spPr>
            <a:xfrm flipH="1">
              <a:off x="1344" y="2592"/>
              <a:ext cx="1440" cy="0"/>
            </a:xfrm>
            <a:prstGeom prst="line">
              <a:avLst/>
            </a:prstGeom>
            <a:ln w="25400" cap="flat" cmpd="sng">
              <a:solidFill>
                <a:schemeClr val="tx2"/>
              </a:solidFill>
              <a:prstDash val="solid"/>
              <a:round/>
              <a:headEnd type="stealth" w="med" len="lg"/>
              <a:tailEnd type="stealth" w="med" len="lg"/>
            </a:ln>
          </p:spPr>
        </p:sp>
        <p:sp>
          <p:nvSpPr>
            <p:cNvPr id="115721" name="Rectangle 27"/>
            <p:cNvSpPr/>
            <p:nvPr>
              <p:custDataLst>
                <p:tags r:id="rId6"/>
              </p:custDataLst>
            </p:nvPr>
          </p:nvSpPr>
          <p:spPr>
            <a:xfrm>
              <a:off x="2831" y="1679"/>
              <a:ext cx="818" cy="338"/>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en-US" altLang="zh-CN" dirty="0">
                  <a:solidFill>
                    <a:schemeClr val="tx2"/>
                  </a:solidFill>
                  <a:latin typeface="Tahoma" panose="020B0604030504040204" pitchFamily="34" charset="0"/>
                  <a:ea typeface="宋体" panose="02010600030101010101" pitchFamily="2" charset="-122"/>
                </a:rPr>
                <a:t>MMU</a:t>
              </a:r>
              <a:endParaRPr lang="en-US" altLang="zh-CN" dirty="0">
                <a:solidFill>
                  <a:schemeClr val="tx2"/>
                </a:solidFill>
                <a:latin typeface="Tahoma" panose="020B0604030504040204" pitchFamily="34" charset="0"/>
                <a:ea typeface="宋体" panose="02010600030101010101" pitchFamily="2" charset="-122"/>
              </a:endParaRPr>
            </a:p>
          </p:txBody>
        </p:sp>
        <p:sp>
          <p:nvSpPr>
            <p:cNvPr id="115722" name="Rectangle 28"/>
            <p:cNvSpPr/>
            <p:nvPr>
              <p:custDataLst>
                <p:tags r:id="rId7"/>
              </p:custDataLst>
            </p:nvPr>
          </p:nvSpPr>
          <p:spPr>
            <a:xfrm>
              <a:off x="2783" y="2351"/>
              <a:ext cx="818" cy="338"/>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en-US" altLang="zh-CN" dirty="0">
                  <a:solidFill>
                    <a:schemeClr val="tx2"/>
                  </a:solidFill>
                  <a:latin typeface="Tahoma" panose="020B0604030504040204" pitchFamily="34" charset="0"/>
                  <a:ea typeface="宋体" panose="02010600030101010101" pitchFamily="2" charset="-122"/>
                </a:rPr>
                <a:t>Cache</a:t>
              </a:r>
              <a:endParaRPr lang="en-US" altLang="zh-CN" dirty="0">
                <a:solidFill>
                  <a:schemeClr val="tx2"/>
                </a:solidFill>
                <a:latin typeface="Tahoma" panose="020B0604030504040204" pitchFamily="34" charset="0"/>
                <a:ea typeface="宋体" panose="02010600030101010101" pitchFamily="2" charset="-122"/>
              </a:endParaRPr>
            </a:p>
          </p:txBody>
        </p:sp>
        <p:sp>
          <p:nvSpPr>
            <p:cNvPr id="115723" name="Rectangle 29"/>
            <p:cNvSpPr/>
            <p:nvPr>
              <p:custDataLst>
                <p:tags r:id="rId8"/>
              </p:custDataLst>
            </p:nvPr>
          </p:nvSpPr>
          <p:spPr>
            <a:xfrm>
              <a:off x="4463" y="1679"/>
              <a:ext cx="818" cy="1010"/>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zh-CN" altLang="en-US" dirty="0">
                  <a:solidFill>
                    <a:schemeClr val="tx2"/>
                  </a:solidFill>
                  <a:latin typeface="Tahoma" panose="020B0604030504040204" pitchFamily="34" charset="0"/>
                  <a:ea typeface="宋体" panose="02010600030101010101" pitchFamily="2" charset="-122"/>
                </a:rPr>
                <a:t>主存</a:t>
              </a:r>
              <a:br>
                <a:rPr lang="zh-CN" altLang="en-US" dirty="0">
                  <a:solidFill>
                    <a:schemeClr val="tx2"/>
                  </a:solidFill>
                  <a:latin typeface="Tahoma" panose="020B0604030504040204" pitchFamily="34" charset="0"/>
                  <a:ea typeface="宋体" panose="02010600030101010101" pitchFamily="2" charset="-122"/>
                </a:rPr>
              </a:br>
              <a:r>
                <a:rPr lang="zh-CN" altLang="en-US" dirty="0">
                  <a:solidFill>
                    <a:schemeClr val="tx2"/>
                  </a:solidFill>
                  <a:latin typeface="Tahoma" panose="020B0604030504040204" pitchFamily="34" charset="0"/>
                  <a:ea typeface="宋体" panose="02010600030101010101" pitchFamily="2" charset="-122"/>
                </a:rPr>
                <a:t>储器</a:t>
              </a:r>
              <a:endParaRPr lang="zh-CN" altLang="en-US" dirty="0">
                <a:solidFill>
                  <a:schemeClr val="tx2"/>
                </a:solidFill>
                <a:latin typeface="Tahoma" panose="020B0604030504040204" pitchFamily="34" charset="0"/>
                <a:ea typeface="宋体" panose="02010600030101010101" pitchFamily="2" charset="-122"/>
              </a:endParaRPr>
            </a:p>
          </p:txBody>
        </p:sp>
        <p:sp>
          <p:nvSpPr>
            <p:cNvPr id="115724" name="Rectangle 30"/>
            <p:cNvSpPr/>
            <p:nvPr>
              <p:custDataLst>
                <p:tags r:id="rId9"/>
              </p:custDataLst>
            </p:nvPr>
          </p:nvSpPr>
          <p:spPr>
            <a:xfrm>
              <a:off x="1392" y="2592"/>
              <a:ext cx="1344" cy="336"/>
            </a:xfrm>
            <a:prstGeom prst="rect">
              <a:avLst/>
            </a:prstGeom>
            <a:noFill/>
            <a:ln w="9525">
              <a:noFill/>
            </a:ln>
          </p:spPr>
          <p:txBody>
            <a:bodyPr wrap="none" lIns="71438" tIns="36513" rIns="71438" bIns="36513" anchor="ctr" anchorCtr="0"/>
            <a:p>
              <a:pPr algn="ctr"/>
              <a:r>
                <a:rPr lang="zh-CN" altLang="en-US" dirty="0">
                  <a:solidFill>
                    <a:schemeClr val="tx2"/>
                  </a:solidFill>
                  <a:latin typeface="Tahoma" panose="020B0604030504040204" pitchFamily="34" charset="0"/>
                  <a:ea typeface="宋体" panose="02010600030101010101" pitchFamily="2" charset="-122"/>
                </a:rPr>
                <a:t>数据或指令</a:t>
              </a:r>
              <a:endParaRPr lang="zh-CN" altLang="en-US" dirty="0">
                <a:solidFill>
                  <a:schemeClr val="tx2"/>
                </a:solidFill>
                <a:latin typeface="Tahoma" panose="020B0604030504040204" pitchFamily="34" charset="0"/>
                <a:ea typeface="宋体" panose="02010600030101010101" pitchFamily="2" charset="-122"/>
              </a:endParaRPr>
            </a:p>
          </p:txBody>
        </p:sp>
        <p:sp>
          <p:nvSpPr>
            <p:cNvPr id="115725" name="Rectangle 31"/>
            <p:cNvSpPr/>
            <p:nvPr>
              <p:custDataLst>
                <p:tags r:id="rId10"/>
              </p:custDataLst>
            </p:nvPr>
          </p:nvSpPr>
          <p:spPr>
            <a:xfrm>
              <a:off x="3744" y="1590"/>
              <a:ext cx="576" cy="576"/>
            </a:xfrm>
            <a:prstGeom prst="rect">
              <a:avLst/>
            </a:prstGeom>
            <a:noFill/>
            <a:ln w="9525">
              <a:noFill/>
            </a:ln>
          </p:spPr>
          <p:txBody>
            <a:bodyPr wrap="none" lIns="71438" tIns="36513" rIns="71438" bIns="36513" anchor="ctr" anchorCtr="0"/>
            <a:p>
              <a:pPr algn="ctr"/>
              <a:r>
                <a:rPr lang="zh-CN" altLang="en-US" dirty="0">
                  <a:solidFill>
                    <a:schemeClr val="tx2"/>
                  </a:solidFill>
                  <a:latin typeface="Tahoma" panose="020B0604030504040204" pitchFamily="34" charset="0"/>
                  <a:ea typeface="宋体" panose="02010600030101010101" pitchFamily="2" charset="-122"/>
                </a:rPr>
                <a:t>物理</a:t>
              </a:r>
              <a:br>
                <a:rPr lang="zh-CN" altLang="en-US" dirty="0">
                  <a:solidFill>
                    <a:schemeClr val="tx2"/>
                  </a:solidFill>
                  <a:latin typeface="Tahoma" panose="020B0604030504040204" pitchFamily="34" charset="0"/>
                  <a:ea typeface="宋体" panose="02010600030101010101" pitchFamily="2" charset="-122"/>
                </a:rPr>
              </a:br>
              <a:r>
                <a:rPr lang="zh-CN" altLang="en-US" dirty="0">
                  <a:solidFill>
                    <a:schemeClr val="tx2"/>
                  </a:solidFill>
                  <a:latin typeface="Tahoma" panose="020B0604030504040204" pitchFamily="34" charset="0"/>
                  <a:ea typeface="宋体" panose="02010600030101010101" pitchFamily="2" charset="-122"/>
                </a:rPr>
                <a:t>地址</a:t>
              </a:r>
              <a:endParaRPr lang="zh-CN" altLang="en-US" dirty="0">
                <a:solidFill>
                  <a:schemeClr val="tx2"/>
                </a:solidFill>
                <a:latin typeface="Tahoma" panose="020B0604030504040204" pitchFamily="34" charset="0"/>
                <a:ea typeface="宋体" panose="02010600030101010101" pitchFamily="2" charset="-122"/>
              </a:endParaRPr>
            </a:p>
          </p:txBody>
        </p:sp>
        <p:sp>
          <p:nvSpPr>
            <p:cNvPr id="115726" name="Line 32"/>
            <p:cNvSpPr/>
            <p:nvPr>
              <p:custDataLst>
                <p:tags r:id="rId11"/>
              </p:custDataLst>
            </p:nvPr>
          </p:nvSpPr>
          <p:spPr>
            <a:xfrm>
              <a:off x="2544" y="2448"/>
              <a:ext cx="240" cy="0"/>
            </a:xfrm>
            <a:prstGeom prst="line">
              <a:avLst/>
            </a:prstGeom>
            <a:ln w="25400" cap="flat" cmpd="sng">
              <a:solidFill>
                <a:schemeClr val="tx2"/>
              </a:solidFill>
              <a:prstDash val="solid"/>
              <a:round/>
              <a:headEnd type="none" w="sm" len="sm"/>
              <a:tailEnd type="stealth" w="med" len="lg"/>
            </a:ln>
          </p:spPr>
        </p:sp>
        <p:sp>
          <p:nvSpPr>
            <p:cNvPr id="115727" name="Line 33"/>
            <p:cNvSpPr/>
            <p:nvPr>
              <p:custDataLst>
                <p:tags r:id="rId12"/>
              </p:custDataLst>
            </p:nvPr>
          </p:nvSpPr>
          <p:spPr>
            <a:xfrm flipV="1">
              <a:off x="2544" y="1824"/>
              <a:ext cx="0" cy="624"/>
            </a:xfrm>
            <a:prstGeom prst="line">
              <a:avLst/>
            </a:prstGeom>
            <a:ln w="25400" cap="flat" cmpd="sng">
              <a:solidFill>
                <a:schemeClr val="tx2"/>
              </a:solidFill>
              <a:prstDash val="solid"/>
              <a:round/>
              <a:headEnd type="none" w="sm" len="sm"/>
              <a:tailEnd type="none" w="sm" len="sm"/>
            </a:ln>
          </p:spPr>
        </p:sp>
        <p:sp>
          <p:nvSpPr>
            <p:cNvPr id="115728" name="Line 34"/>
            <p:cNvSpPr/>
            <p:nvPr>
              <p:custDataLst>
                <p:tags r:id="rId13"/>
              </p:custDataLst>
            </p:nvPr>
          </p:nvSpPr>
          <p:spPr>
            <a:xfrm flipH="1">
              <a:off x="1344" y="1920"/>
              <a:ext cx="1200" cy="0"/>
            </a:xfrm>
            <a:prstGeom prst="line">
              <a:avLst/>
            </a:prstGeom>
            <a:ln w="25400" cap="flat" cmpd="sng">
              <a:solidFill>
                <a:schemeClr val="tx2"/>
              </a:solidFill>
              <a:prstDash val="solid"/>
              <a:round/>
              <a:headEnd type="none" w="sm" len="sm"/>
              <a:tailEnd type="none" w="sm" len="sm"/>
            </a:ln>
          </p:spPr>
        </p:sp>
        <p:sp>
          <p:nvSpPr>
            <p:cNvPr id="115729" name="Line 35"/>
            <p:cNvSpPr/>
            <p:nvPr>
              <p:custDataLst>
                <p:tags r:id="rId14"/>
              </p:custDataLst>
            </p:nvPr>
          </p:nvSpPr>
          <p:spPr>
            <a:xfrm>
              <a:off x="3666" y="1855"/>
              <a:ext cx="779" cy="4"/>
            </a:xfrm>
            <a:prstGeom prst="line">
              <a:avLst/>
            </a:prstGeom>
            <a:ln w="25400" cap="flat" cmpd="sng">
              <a:solidFill>
                <a:schemeClr val="tx2"/>
              </a:solidFill>
              <a:prstDash val="solid"/>
              <a:round/>
              <a:headEnd type="none" w="sm" len="sm"/>
              <a:tailEnd type="stealth" w="med" len="lg"/>
            </a:ln>
          </p:spPr>
        </p:sp>
        <p:sp>
          <p:nvSpPr>
            <p:cNvPr id="115730" name="Line 36"/>
            <p:cNvSpPr/>
            <p:nvPr>
              <p:custDataLst>
                <p:tags r:id="rId15"/>
              </p:custDataLst>
            </p:nvPr>
          </p:nvSpPr>
          <p:spPr>
            <a:xfrm flipH="1">
              <a:off x="3600" y="2592"/>
              <a:ext cx="864" cy="0"/>
            </a:xfrm>
            <a:prstGeom prst="line">
              <a:avLst/>
            </a:prstGeom>
            <a:ln w="25400" cap="flat" cmpd="sng">
              <a:solidFill>
                <a:schemeClr val="tx2"/>
              </a:solidFill>
              <a:prstDash val="solid"/>
              <a:round/>
              <a:headEnd type="stealth" w="med" len="lg"/>
              <a:tailEnd type="stealth" w="med" len="lg"/>
            </a:ln>
          </p:spPr>
        </p:sp>
        <p:sp>
          <p:nvSpPr>
            <p:cNvPr id="115731" name="Rectangle 37"/>
            <p:cNvSpPr/>
            <p:nvPr>
              <p:custDataLst>
                <p:tags r:id="rId16"/>
              </p:custDataLst>
            </p:nvPr>
          </p:nvSpPr>
          <p:spPr>
            <a:xfrm>
              <a:off x="3600" y="2310"/>
              <a:ext cx="864" cy="624"/>
            </a:xfrm>
            <a:prstGeom prst="rect">
              <a:avLst/>
            </a:prstGeom>
            <a:noFill/>
            <a:ln w="9525">
              <a:noFill/>
            </a:ln>
          </p:spPr>
          <p:txBody>
            <a:bodyPr wrap="none" lIns="71438" tIns="36513" rIns="71438" bIns="36513" anchor="ctr" anchorCtr="0"/>
            <a:p>
              <a:pPr algn="ctr"/>
              <a:r>
                <a:rPr lang="zh-CN" altLang="en-US" dirty="0">
                  <a:solidFill>
                    <a:schemeClr val="tx2"/>
                  </a:solidFill>
                  <a:latin typeface="Tahoma" panose="020B0604030504040204" pitchFamily="34" charset="0"/>
                  <a:ea typeface="宋体" panose="02010600030101010101" pitchFamily="2" charset="-122"/>
                </a:rPr>
                <a:t>数据</a:t>
              </a:r>
              <a:br>
                <a:rPr lang="zh-CN" altLang="en-US" dirty="0">
                  <a:solidFill>
                    <a:schemeClr val="tx2"/>
                  </a:solidFill>
                  <a:latin typeface="Tahoma" panose="020B0604030504040204" pitchFamily="34" charset="0"/>
                  <a:ea typeface="宋体" panose="02010600030101010101" pitchFamily="2" charset="-122"/>
                </a:rPr>
              </a:br>
              <a:r>
                <a:rPr lang="zh-CN" altLang="en-US" dirty="0">
                  <a:solidFill>
                    <a:schemeClr val="tx2"/>
                  </a:solidFill>
                  <a:latin typeface="Tahoma" panose="020B0604030504040204" pitchFamily="34" charset="0"/>
                  <a:ea typeface="宋体" panose="02010600030101010101" pitchFamily="2" charset="-122"/>
                </a:rPr>
                <a:t>或指令</a:t>
              </a:r>
              <a:endParaRPr lang="zh-CN" altLang="en-US" dirty="0">
                <a:solidFill>
                  <a:schemeClr val="tx2"/>
                </a:solidFill>
                <a:latin typeface="Tahoma" panose="020B0604030504040204" pitchFamily="34" charset="0"/>
                <a:ea typeface="宋体" panose="02010600030101010101" pitchFamily="2" charset="-122"/>
              </a:endParaRPr>
            </a:p>
          </p:txBody>
        </p:sp>
      </p:gr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存储系统的几种组织方式</a:t>
            </a:r>
            <a:endParaRPr lang="zh-CN"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Rectangle 3"/>
          <p:cNvSpPr>
            <a:spLocks noGrp="1"/>
          </p:cNvSpPr>
          <p:nvPr>
            <p:custDataLst>
              <p:tags r:id="rId1"/>
            </p:custDataLst>
          </p:nvPr>
        </p:nvSpPr>
        <p:spPr>
          <a:xfrm>
            <a:off x="361950" y="1243330"/>
            <a:ext cx="8420100" cy="5080635"/>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eaLnBrk="1" hangingPunct="1">
              <a:spcBef>
                <a:spcPts val="1200"/>
              </a:spcBef>
            </a:pPr>
            <a:r>
              <a:rPr lang="zh-CN" altLang="en-US" sz="2400" dirty="0">
                <a:latin typeface="Times New Roman" panose="02020603050405020304" pitchFamily="18" charset="0"/>
                <a:cs typeface="Times New Roman" panose="02020603050405020304" pitchFamily="18" charset="0"/>
                <a:sym typeface="+mn-ea"/>
              </a:rPr>
              <a:t>全</a:t>
            </a:r>
            <a:r>
              <a:rPr lang="en-US" altLang="zh-CN" sz="2400" dirty="0">
                <a:latin typeface="Times New Roman" panose="02020603050405020304" pitchFamily="18" charset="0"/>
                <a:cs typeface="Times New Roman" panose="02020603050405020304" pitchFamily="18" charset="0"/>
                <a:sym typeface="+mn-ea"/>
              </a:rPr>
              <a:t>Cache</a:t>
            </a:r>
            <a:r>
              <a:rPr lang="zh-CN" altLang="en-US" sz="2400" dirty="0">
                <a:latin typeface="Times New Roman" panose="02020603050405020304" pitchFamily="18" charset="0"/>
                <a:cs typeface="Times New Roman" panose="02020603050405020304" pitchFamily="18" charset="0"/>
                <a:sym typeface="+mn-ea"/>
              </a:rPr>
              <a:t>系统</a:t>
            </a:r>
            <a:endParaRPr lang="zh-CN" altLang="en-US" sz="2400" dirty="0">
              <a:latin typeface="Times New Roman" panose="02020603050405020304" pitchFamily="18" charset="0"/>
              <a:cs typeface="Times New Roman" panose="02020603050405020304" pitchFamily="18" charset="0"/>
            </a:endParaRPr>
          </a:p>
          <a:p>
            <a:pPr lvl="1" indent="-169545" eaLnBrk="1" hangingPunct="1">
              <a:spcBef>
                <a:spcPts val="1200"/>
              </a:spcBef>
            </a:pPr>
            <a:r>
              <a:rPr lang="zh-CN" altLang="en-US" sz="2400" dirty="0">
                <a:latin typeface="Times New Roman" panose="02020603050405020304" pitchFamily="18" charset="0"/>
                <a:cs typeface="Times New Roman" panose="02020603050405020304" pitchFamily="18" charset="0"/>
                <a:sym typeface="+mn-ea"/>
              </a:rPr>
              <a:t>没有主存储器</a:t>
            </a:r>
            <a:endParaRPr lang="zh-CN" altLang="en-US" sz="2400" dirty="0">
              <a:latin typeface="Times New Roman" panose="02020603050405020304" pitchFamily="18" charset="0"/>
              <a:cs typeface="Times New Roman" panose="02020603050405020304" pitchFamily="18" charset="0"/>
            </a:endParaRPr>
          </a:p>
          <a:p>
            <a:pPr lvl="1" indent="-169545" eaLnBrk="1" hangingPunct="1">
              <a:spcBef>
                <a:spcPts val="1200"/>
              </a:spcBef>
            </a:pPr>
            <a:r>
              <a:rPr lang="en-US" altLang="zh-CN" sz="2400" dirty="0">
                <a:latin typeface="Times New Roman" panose="02020603050405020304" pitchFamily="18" charset="0"/>
                <a:cs typeface="Times New Roman" panose="02020603050405020304" pitchFamily="18" charset="0"/>
                <a:sym typeface="+mn-ea"/>
              </a:rPr>
              <a:t>Cache-</a:t>
            </a:r>
            <a:r>
              <a:rPr lang="zh-CN" altLang="en-US" sz="2400" dirty="0">
                <a:latin typeface="Times New Roman" panose="02020603050405020304" pitchFamily="18" charset="0"/>
                <a:cs typeface="Times New Roman" panose="02020603050405020304" pitchFamily="18" charset="0"/>
                <a:sym typeface="+mn-ea"/>
              </a:rPr>
              <a:t>磁盘存储系统</a:t>
            </a:r>
            <a:endParaRPr lang="zh-CN" altLang="en-US" sz="2400" dirty="0">
              <a:latin typeface="Times New Roman" panose="02020603050405020304" pitchFamily="18" charset="0"/>
              <a:cs typeface="Times New Roman" panose="02020603050405020304" pitchFamily="18" charset="0"/>
            </a:endParaRPr>
          </a:p>
          <a:p>
            <a:pPr lvl="1" indent="-169545" eaLnBrk="1" hangingPunct="1">
              <a:spcBef>
                <a:spcPts val="1200"/>
              </a:spcBef>
            </a:pPr>
            <a:r>
              <a:rPr lang="en-US" altLang="zh-CN" sz="2400" dirty="0">
                <a:latin typeface="Times New Roman" panose="02020603050405020304" pitchFamily="18" charset="0"/>
                <a:cs typeface="Times New Roman" panose="02020603050405020304" pitchFamily="18" charset="0"/>
                <a:sym typeface="+mn-ea"/>
              </a:rPr>
              <a:t>COMA (Cache-Only Memory Architecture)</a:t>
            </a:r>
            <a:endParaRPr lang="en-US" altLang="zh-CN" sz="2400" dirty="0">
              <a:latin typeface="Times New Roman" panose="02020603050405020304" pitchFamily="18" charset="0"/>
              <a:cs typeface="Times New Roman" panose="02020603050405020304" pitchFamily="18" charset="0"/>
            </a:endParaRPr>
          </a:p>
          <a:p>
            <a:pPr eaLnBrk="1" hangingPunct="1">
              <a:lnSpc>
                <a:spcPct val="100000"/>
              </a:lnSpc>
              <a:spcBef>
                <a:spcPts val="1200"/>
              </a:spcBef>
            </a:pPr>
            <a:endParaRPr lang="zh-CN" altLang="en-US" sz="2400" dirty="0">
              <a:solidFill>
                <a:schemeClr val="tx2"/>
              </a:solidFill>
              <a:latin typeface="Times New Roman" panose="02020603050405020304" pitchFamily="18" charset="0"/>
              <a:cs typeface="Times New Roman" panose="02020603050405020304" pitchFamily="18" charset="0"/>
            </a:endParaRPr>
          </a:p>
          <a:p>
            <a:pPr lvl="1" eaLnBrk="1" hangingPunct="1">
              <a:lnSpc>
                <a:spcPct val="100000"/>
              </a:lnSpc>
              <a:spcBef>
                <a:spcPts val="1200"/>
              </a:spcBef>
            </a:pPr>
            <a:endParaRPr lang="zh-CN" sz="2400" dirty="0">
              <a:latin typeface="Times New Roman" panose="02020603050405020304" pitchFamily="18" charset="0"/>
              <a:cs typeface="Times New Roman" panose="02020603050405020304" pitchFamily="18" charset="0"/>
              <a:sym typeface="+mn-ea"/>
            </a:endParaRPr>
          </a:p>
          <a:p>
            <a:pPr lvl="1" eaLnBrk="1" hangingPunct="1">
              <a:spcBef>
                <a:spcPts val="1200"/>
              </a:spcBef>
            </a:pPr>
            <a:endParaRPr lang="zh-CN" altLang="en-US" sz="2055" dirty="0">
              <a:latin typeface="Times New Roman" panose="02020603050405020304" pitchFamily="18" charset="0"/>
              <a:cs typeface="Times New Roman" panose="02020603050405020304" pitchFamily="18" charset="0"/>
              <a:sym typeface="+mn-ea"/>
            </a:endParaRPr>
          </a:p>
        </p:txBody>
      </p:sp>
      <p:pic>
        <p:nvPicPr>
          <p:cNvPr id="3" name="图片 2"/>
          <p:cNvPicPr>
            <a:picLocks noChangeAspect="1"/>
          </p:cNvPicPr>
          <p:nvPr>
            <p:custDataLst>
              <p:tags r:id="rId2"/>
            </p:custDataLst>
          </p:nvPr>
        </p:nvPicPr>
        <p:blipFill>
          <a:blip r:embed="rId3"/>
          <a:stretch>
            <a:fillRect/>
          </a:stretch>
        </p:blipFill>
        <p:spPr>
          <a:xfrm>
            <a:off x="687070" y="3500755"/>
            <a:ext cx="7585710" cy="2604135"/>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3.4.1 虚拟地址Cache</a:t>
            </a:r>
            <a:endParaRPr lang="zh-CN"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Rectangle 3"/>
          <p:cNvSpPr>
            <a:spLocks noGrp="1"/>
          </p:cNvSpPr>
          <p:nvPr>
            <p:custDataLst>
              <p:tags r:id="rId1"/>
            </p:custDataLst>
          </p:nvPr>
        </p:nvSpPr>
        <p:spPr>
          <a:xfrm>
            <a:off x="361950" y="1243330"/>
            <a:ext cx="8420100" cy="4885690"/>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eaLnBrk="1" hangingPunct="1">
              <a:spcBef>
                <a:spcPts val="1200"/>
              </a:spcBef>
            </a:pPr>
            <a:r>
              <a:rPr lang="zh-CN" altLang="en-US" sz="2400" dirty="0">
                <a:latin typeface="Times New Roman" panose="02020603050405020304" pitchFamily="18" charset="0"/>
                <a:cs typeface="Times New Roman" panose="02020603050405020304" pitchFamily="18" charset="0"/>
                <a:sym typeface="+mn-ea"/>
              </a:rPr>
              <a:t>虚拟存储器采用</a:t>
            </a:r>
            <a:r>
              <a:rPr lang="zh-CN" altLang="en-US" sz="2400" dirty="0">
                <a:solidFill>
                  <a:srgbClr val="FF0000"/>
                </a:solidFill>
                <a:latin typeface="Times New Roman" panose="02020603050405020304" pitchFamily="18" charset="0"/>
                <a:cs typeface="Times New Roman" panose="02020603050405020304" pitchFamily="18" charset="0"/>
                <a:sym typeface="+mn-ea"/>
              </a:rPr>
              <a:t>位选择组相联方式</a:t>
            </a:r>
            <a:endParaRPr lang="zh-CN" altLang="en-US" sz="2400" b="1" dirty="0">
              <a:solidFill>
                <a:srgbClr val="FF0000"/>
              </a:solidFill>
              <a:latin typeface="Times New Roman" panose="02020603050405020304" pitchFamily="18" charset="0"/>
              <a:cs typeface="Times New Roman" panose="02020603050405020304" pitchFamily="18" charset="0"/>
            </a:endParaRPr>
          </a:p>
          <a:p>
            <a:pPr eaLnBrk="1" hangingPunct="1">
              <a:spcBef>
                <a:spcPts val="1200"/>
              </a:spcBef>
            </a:pPr>
            <a:r>
              <a:rPr lang="zh-CN" altLang="en-US" sz="2400" dirty="0">
                <a:solidFill>
                  <a:srgbClr val="0000FF"/>
                </a:solidFill>
                <a:latin typeface="Times New Roman" panose="02020603050405020304" pitchFamily="18" charset="0"/>
                <a:cs typeface="Times New Roman" panose="02020603050405020304" pitchFamily="18" charset="0"/>
                <a:sym typeface="+mn-ea"/>
              </a:rPr>
              <a:t>虚拟存储器中的一页等于</a:t>
            </a:r>
            <a:r>
              <a:rPr lang="zh-CN" altLang="en-US" sz="2400" dirty="0">
                <a:solidFill>
                  <a:srgbClr val="FF3300"/>
                </a:solidFill>
                <a:latin typeface="Times New Roman" panose="02020603050405020304" pitchFamily="18" charset="0"/>
                <a:cs typeface="Times New Roman" panose="02020603050405020304" pitchFamily="18" charset="0"/>
                <a:sym typeface="+mn-ea"/>
              </a:rPr>
              <a:t>主存储器的一个区</a:t>
            </a:r>
            <a:endParaRPr lang="zh-CN" altLang="en-US" sz="2400" b="1" dirty="0">
              <a:solidFill>
                <a:srgbClr val="FF3300"/>
              </a:solidFill>
              <a:latin typeface="Times New Roman" panose="02020603050405020304" pitchFamily="18" charset="0"/>
              <a:cs typeface="Times New Roman" panose="02020603050405020304" pitchFamily="18" charset="0"/>
            </a:endParaRPr>
          </a:p>
          <a:p>
            <a:pPr eaLnBrk="1" hangingPunct="1">
              <a:spcBef>
                <a:spcPts val="1200"/>
              </a:spcBef>
            </a:pPr>
            <a:r>
              <a:rPr lang="zh-CN" altLang="en-US" sz="2400" dirty="0">
                <a:latin typeface="Times New Roman" panose="02020603050405020304" pitchFamily="18" charset="0"/>
                <a:cs typeface="Times New Roman" panose="02020603050405020304" pitchFamily="18" charset="0"/>
                <a:sym typeface="+mn-ea"/>
              </a:rPr>
              <a:t>用虚拟地址中的虚页号访问快表</a:t>
            </a:r>
            <a:endParaRPr lang="zh-CN" altLang="en-US" sz="2400" dirty="0">
              <a:latin typeface="Times New Roman" panose="02020603050405020304" pitchFamily="18" charset="0"/>
              <a:cs typeface="Times New Roman" panose="02020603050405020304" pitchFamily="18" charset="0"/>
            </a:endParaRPr>
          </a:p>
          <a:p>
            <a:pPr lvl="1" indent="-169545" eaLnBrk="1" hangingPunct="1">
              <a:spcBef>
                <a:spcPts val="1200"/>
              </a:spcBef>
            </a:pPr>
            <a:r>
              <a:rPr lang="zh-CN" altLang="en-US" sz="2400" dirty="0">
                <a:latin typeface="Times New Roman" panose="02020603050405020304" pitchFamily="18" charset="0"/>
                <a:cs typeface="Times New Roman" panose="02020603050405020304" pitchFamily="18" charset="0"/>
                <a:sym typeface="+mn-ea"/>
              </a:rPr>
              <a:t>如果快表命中，把块表中的主存区号</a:t>
            </a:r>
            <a:r>
              <a:rPr lang="en-US" altLang="zh-CN" sz="2400" dirty="0">
                <a:latin typeface="Times New Roman" panose="02020603050405020304" pitchFamily="18" charset="0"/>
                <a:cs typeface="Times New Roman" panose="02020603050405020304" pitchFamily="18" charset="0"/>
                <a:sym typeface="+mn-ea"/>
              </a:rPr>
              <a:t>E</a:t>
            </a:r>
            <a:r>
              <a:rPr lang="zh-CN" altLang="en-US" sz="2400" dirty="0">
                <a:latin typeface="Times New Roman" panose="02020603050405020304" pitchFamily="18" charset="0"/>
                <a:cs typeface="Times New Roman" panose="02020603050405020304" pitchFamily="18" charset="0"/>
                <a:sym typeface="+mn-ea"/>
              </a:rPr>
              <a:t>与快表中的主存实页号</a:t>
            </a:r>
            <a:r>
              <a:rPr lang="en-US" altLang="zh-CN" sz="2400" dirty="0">
                <a:latin typeface="Times New Roman" panose="02020603050405020304" pitchFamily="18" charset="0"/>
                <a:cs typeface="Times New Roman" panose="02020603050405020304" pitchFamily="18" charset="0"/>
                <a:sym typeface="+mn-ea"/>
              </a:rPr>
              <a:t>P</a:t>
            </a:r>
            <a:r>
              <a:rPr lang="zh-CN" altLang="en-US" sz="2400" dirty="0">
                <a:latin typeface="Times New Roman" panose="02020603050405020304" pitchFamily="18" charset="0"/>
                <a:cs typeface="Times New Roman" panose="02020603050405020304" pitchFamily="18" charset="0"/>
                <a:sym typeface="+mn-ea"/>
              </a:rPr>
              <a:t>进行比较</a:t>
            </a:r>
            <a:endParaRPr lang="zh-CN" altLang="en-US" sz="2400" dirty="0">
              <a:latin typeface="Times New Roman" panose="02020603050405020304" pitchFamily="18" charset="0"/>
              <a:cs typeface="Times New Roman" panose="02020603050405020304" pitchFamily="18" charset="0"/>
            </a:endParaRPr>
          </a:p>
          <a:p>
            <a:pPr lvl="2" eaLnBrk="1" hangingPunct="1">
              <a:spcBef>
                <a:spcPts val="1200"/>
              </a:spcBef>
            </a:pPr>
            <a:r>
              <a:rPr lang="zh-CN" altLang="en-US" sz="2400" dirty="0">
                <a:latin typeface="Times New Roman" panose="02020603050405020304" pitchFamily="18" charset="0"/>
                <a:cs typeface="Times New Roman" panose="02020603050405020304" pitchFamily="18" charset="0"/>
                <a:sym typeface="+mn-ea"/>
              </a:rPr>
              <a:t>若比较结果相等，则</a:t>
            </a:r>
            <a:r>
              <a:rPr lang="en-US" altLang="zh-CN" sz="2400" dirty="0">
                <a:latin typeface="Times New Roman" panose="02020603050405020304" pitchFamily="18" charset="0"/>
                <a:cs typeface="Times New Roman" panose="02020603050405020304" pitchFamily="18" charset="0"/>
                <a:sym typeface="+mn-ea"/>
              </a:rPr>
              <a:t>Cache</a:t>
            </a:r>
            <a:r>
              <a:rPr lang="zh-CN" altLang="en-US" sz="2400" dirty="0">
                <a:latin typeface="Times New Roman" panose="02020603050405020304" pitchFamily="18" charset="0"/>
                <a:cs typeface="Times New Roman" panose="02020603050405020304" pitchFamily="18" charset="0"/>
                <a:sym typeface="+mn-ea"/>
              </a:rPr>
              <a:t>命中。读出</a:t>
            </a:r>
            <a:r>
              <a:rPr lang="en-US" altLang="zh-CN" sz="2400" dirty="0">
                <a:latin typeface="Times New Roman" panose="02020603050405020304" pitchFamily="18" charset="0"/>
                <a:cs typeface="Times New Roman" panose="02020603050405020304" pitchFamily="18" charset="0"/>
                <a:sym typeface="+mn-ea"/>
              </a:rPr>
              <a:t>Cache</a:t>
            </a:r>
            <a:r>
              <a:rPr lang="zh-CN" altLang="en-US" sz="2400" dirty="0">
                <a:latin typeface="Times New Roman" panose="02020603050405020304" pitchFamily="18" charset="0"/>
                <a:cs typeface="Times New Roman" panose="02020603050405020304" pitchFamily="18" charset="0"/>
                <a:sym typeface="+mn-ea"/>
              </a:rPr>
              <a:t>的块号</a:t>
            </a:r>
            <a:r>
              <a:rPr lang="en-US" altLang="zh-CN" sz="2400" dirty="0">
                <a:latin typeface="Times New Roman" panose="02020603050405020304" pitchFamily="18" charset="0"/>
                <a:cs typeface="Times New Roman" panose="02020603050405020304" pitchFamily="18" charset="0"/>
                <a:sym typeface="+mn-ea"/>
              </a:rPr>
              <a:t>b</a:t>
            </a:r>
            <a:r>
              <a:rPr lang="zh-CN" altLang="en-US" sz="2400" dirty="0">
                <a:latin typeface="Times New Roman" panose="02020603050405020304" pitchFamily="18" charset="0"/>
                <a:cs typeface="Times New Roman" panose="02020603050405020304" pitchFamily="18" charset="0"/>
                <a:sym typeface="+mn-ea"/>
              </a:rPr>
              <a:t>，并与</a:t>
            </a:r>
            <a:r>
              <a:rPr lang="en-US" altLang="zh-CN" sz="2400" dirty="0">
                <a:latin typeface="Times New Roman" panose="02020603050405020304" pitchFamily="18" charset="0"/>
                <a:cs typeface="Times New Roman" panose="02020603050405020304" pitchFamily="18" charset="0"/>
                <a:sym typeface="+mn-ea"/>
              </a:rPr>
              <a:t>B</a:t>
            </a:r>
            <a:r>
              <a:rPr lang="zh-CN" altLang="en-US" sz="2400" dirty="0">
                <a:latin typeface="Times New Roman" panose="02020603050405020304" pitchFamily="18" charset="0"/>
                <a:cs typeface="Times New Roman" panose="02020603050405020304" pitchFamily="18" charset="0"/>
                <a:sym typeface="+mn-ea"/>
              </a:rPr>
              <a:t>、</a:t>
            </a:r>
            <a:r>
              <a:rPr lang="en-US" altLang="zh-CN" sz="2400" dirty="0">
                <a:latin typeface="Times New Roman" panose="02020603050405020304" pitchFamily="18" charset="0"/>
                <a:cs typeface="Times New Roman" panose="02020603050405020304" pitchFamily="18" charset="0"/>
                <a:sym typeface="+mn-ea"/>
              </a:rPr>
              <a:t>b</a:t>
            </a:r>
            <a:r>
              <a:rPr lang="zh-CN" altLang="en-US" sz="2400" dirty="0">
                <a:latin typeface="Times New Roman" panose="02020603050405020304" pitchFamily="18" charset="0"/>
                <a:cs typeface="Times New Roman" panose="02020603050405020304" pitchFamily="18" charset="0"/>
                <a:sym typeface="+mn-ea"/>
              </a:rPr>
              <a:t>、</a:t>
            </a:r>
            <a:r>
              <a:rPr lang="en-US" altLang="zh-CN" sz="2400" dirty="0">
                <a:latin typeface="Times New Roman" panose="02020603050405020304" pitchFamily="18" charset="0"/>
                <a:cs typeface="Times New Roman" panose="02020603050405020304" pitchFamily="18" charset="0"/>
                <a:sym typeface="+mn-ea"/>
              </a:rPr>
              <a:t>W</a:t>
            </a:r>
            <a:r>
              <a:rPr lang="zh-CN" altLang="en-US" sz="2400" dirty="0">
                <a:latin typeface="Times New Roman" panose="02020603050405020304" pitchFamily="18" charset="0"/>
                <a:cs typeface="Times New Roman" panose="02020603050405020304" pitchFamily="18" charset="0"/>
                <a:sym typeface="+mn-ea"/>
              </a:rPr>
              <a:t>拼接得到</a:t>
            </a:r>
            <a:r>
              <a:rPr lang="en-US" altLang="zh-CN" sz="2400" dirty="0">
                <a:latin typeface="Times New Roman" panose="02020603050405020304" pitchFamily="18" charset="0"/>
                <a:cs typeface="Times New Roman" panose="02020603050405020304" pitchFamily="18" charset="0"/>
                <a:sym typeface="+mn-ea"/>
              </a:rPr>
              <a:t>Cache</a:t>
            </a:r>
            <a:r>
              <a:rPr lang="zh-CN" altLang="en-US" sz="2400" dirty="0">
                <a:latin typeface="Times New Roman" panose="02020603050405020304" pitchFamily="18" charset="0"/>
                <a:cs typeface="Times New Roman" panose="02020603050405020304" pitchFamily="18" charset="0"/>
                <a:sym typeface="+mn-ea"/>
              </a:rPr>
              <a:t>地址</a:t>
            </a:r>
            <a:endParaRPr lang="zh-CN" altLang="en-US" sz="2400" dirty="0">
              <a:latin typeface="Times New Roman" panose="02020603050405020304" pitchFamily="18" charset="0"/>
              <a:cs typeface="Times New Roman" panose="02020603050405020304" pitchFamily="18" charset="0"/>
            </a:endParaRPr>
          </a:p>
          <a:p>
            <a:pPr lvl="2" eaLnBrk="1" hangingPunct="1">
              <a:spcBef>
                <a:spcPts val="1200"/>
              </a:spcBef>
            </a:pPr>
            <a:r>
              <a:rPr lang="zh-CN" altLang="en-US" sz="2400" dirty="0">
                <a:latin typeface="Times New Roman" panose="02020603050405020304" pitchFamily="18" charset="0"/>
                <a:cs typeface="Times New Roman" panose="02020603050405020304" pitchFamily="18" charset="0"/>
                <a:sym typeface="+mn-ea"/>
              </a:rPr>
              <a:t>若</a:t>
            </a:r>
            <a:r>
              <a:rPr lang="en-US" altLang="zh-CN" sz="2400" dirty="0">
                <a:latin typeface="Times New Roman" panose="02020603050405020304" pitchFamily="18" charset="0"/>
                <a:cs typeface="Times New Roman" panose="02020603050405020304" pitchFamily="18" charset="0"/>
                <a:sym typeface="+mn-ea"/>
              </a:rPr>
              <a:t>Cache</a:t>
            </a:r>
            <a:r>
              <a:rPr lang="zh-CN" altLang="en-US" sz="2400" dirty="0">
                <a:latin typeface="Times New Roman" panose="02020603050405020304" pitchFamily="18" charset="0"/>
                <a:cs typeface="Times New Roman" panose="02020603050405020304" pitchFamily="18" charset="0"/>
                <a:sym typeface="+mn-ea"/>
              </a:rPr>
              <a:t>不命中，则用主存实页号</a:t>
            </a:r>
            <a:r>
              <a:rPr lang="en-US" altLang="zh-CN" sz="2400" dirty="0">
                <a:latin typeface="Times New Roman" panose="02020603050405020304" pitchFamily="18" charset="0"/>
                <a:cs typeface="Times New Roman" panose="02020603050405020304" pitchFamily="18" charset="0"/>
                <a:sym typeface="+mn-ea"/>
              </a:rPr>
              <a:t>P</a:t>
            </a:r>
            <a:r>
              <a:rPr lang="zh-CN" altLang="en-US" sz="2400" dirty="0">
                <a:latin typeface="Times New Roman" panose="02020603050405020304" pitchFamily="18" charset="0"/>
                <a:cs typeface="Times New Roman" panose="02020603050405020304" pitchFamily="18" charset="0"/>
                <a:sym typeface="+mn-ea"/>
              </a:rPr>
              <a:t>、及</a:t>
            </a:r>
            <a:r>
              <a:rPr lang="en-US" altLang="zh-CN" sz="2400" dirty="0">
                <a:latin typeface="Times New Roman" panose="02020603050405020304" pitchFamily="18" charset="0"/>
                <a:cs typeface="Times New Roman" panose="02020603050405020304" pitchFamily="18" charset="0"/>
                <a:sym typeface="+mn-ea"/>
              </a:rPr>
              <a:t>B</a:t>
            </a:r>
            <a:r>
              <a:rPr lang="zh-CN" altLang="en-US" sz="2400" dirty="0">
                <a:latin typeface="Times New Roman" panose="02020603050405020304" pitchFamily="18" charset="0"/>
                <a:cs typeface="Times New Roman" panose="02020603050405020304" pitchFamily="18" charset="0"/>
                <a:sym typeface="+mn-ea"/>
              </a:rPr>
              <a:t>和</a:t>
            </a:r>
            <a:r>
              <a:rPr lang="en-US" altLang="zh-CN" sz="2400" dirty="0">
                <a:latin typeface="Times New Roman" panose="02020603050405020304" pitchFamily="18" charset="0"/>
                <a:cs typeface="Times New Roman" panose="02020603050405020304" pitchFamily="18" charset="0"/>
                <a:sym typeface="+mn-ea"/>
              </a:rPr>
              <a:t>W</a:t>
            </a:r>
            <a:r>
              <a:rPr lang="zh-CN" altLang="en-US" sz="2400" dirty="0">
                <a:latin typeface="Times New Roman" panose="02020603050405020304" pitchFamily="18" charset="0"/>
                <a:cs typeface="Times New Roman" panose="02020603050405020304" pitchFamily="18" charset="0"/>
                <a:sym typeface="+mn-ea"/>
              </a:rPr>
              <a:t>拼接，得到主存实地址</a:t>
            </a:r>
            <a:endParaRPr lang="zh-CN" altLang="en-US" sz="2400" dirty="0">
              <a:latin typeface="Times New Roman" panose="02020603050405020304" pitchFamily="18" charset="0"/>
              <a:cs typeface="Times New Roman" panose="02020603050405020304" pitchFamily="18" charset="0"/>
            </a:endParaRPr>
          </a:p>
          <a:p>
            <a:pPr lvl="1" indent="-169545" eaLnBrk="1" hangingPunct="1">
              <a:spcBef>
                <a:spcPts val="1200"/>
              </a:spcBef>
            </a:pPr>
            <a:r>
              <a:rPr lang="zh-CN" altLang="en-US" sz="2400" dirty="0">
                <a:latin typeface="Times New Roman" panose="02020603050405020304" pitchFamily="18" charset="0"/>
                <a:cs typeface="Times New Roman" panose="02020603050405020304" pitchFamily="18" charset="0"/>
                <a:sym typeface="+mn-ea"/>
              </a:rPr>
              <a:t>若快表没有命中，通过软件查主存中的慢表</a:t>
            </a:r>
            <a:endParaRPr lang="zh-CN" altLang="en-US" sz="2400" dirty="0">
              <a:latin typeface="Times New Roman" panose="02020603050405020304" pitchFamily="18" charset="0"/>
              <a:cs typeface="Times New Roman" panose="02020603050405020304" pitchFamily="18" charset="0"/>
            </a:endParaRPr>
          </a:p>
          <a:p>
            <a:pPr eaLnBrk="1" hangingPunct="1">
              <a:lnSpc>
                <a:spcPct val="100000"/>
              </a:lnSpc>
              <a:spcBef>
                <a:spcPts val="1200"/>
              </a:spcBef>
            </a:pPr>
            <a:endParaRPr lang="zh-CN" altLang="en-US" sz="2400" dirty="0">
              <a:solidFill>
                <a:schemeClr val="tx2"/>
              </a:solidFill>
              <a:latin typeface="Times New Roman" panose="02020603050405020304" pitchFamily="18" charset="0"/>
              <a:cs typeface="Times New Roman" panose="02020603050405020304" pitchFamily="18" charset="0"/>
            </a:endParaRPr>
          </a:p>
          <a:p>
            <a:pPr lvl="1" eaLnBrk="1" hangingPunct="1">
              <a:lnSpc>
                <a:spcPct val="100000"/>
              </a:lnSpc>
              <a:spcBef>
                <a:spcPts val="1200"/>
              </a:spcBef>
            </a:pPr>
            <a:endParaRPr lang="zh-CN" sz="2400" dirty="0">
              <a:latin typeface="Times New Roman" panose="02020603050405020304" pitchFamily="18" charset="0"/>
              <a:cs typeface="Times New Roman" panose="02020603050405020304" pitchFamily="18" charset="0"/>
              <a:sym typeface="+mn-ea"/>
            </a:endParaRPr>
          </a:p>
          <a:p>
            <a:pPr lvl="1" eaLnBrk="1" hangingPunct="1">
              <a:spcBef>
                <a:spcPts val="1200"/>
              </a:spcBef>
            </a:pPr>
            <a:endParaRPr lang="zh-CN" altLang="en-US" sz="2055"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图3.60 一种虚拟地址Cache的地址变换过程</a:t>
            </a:r>
            <a:endParaRPr lang="zh-CN" sz="28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20836" name="Picture 4" descr="p_3_4_1"/>
          <p:cNvPicPr>
            <a:picLocks noChangeAspect="1"/>
          </p:cNvPicPr>
          <p:nvPr>
            <p:custDataLst>
              <p:tags r:id="rId1"/>
            </p:custDataLst>
          </p:nvPr>
        </p:nvPicPr>
        <p:blipFill>
          <a:blip r:embed="rId2"/>
          <a:stretch>
            <a:fillRect/>
          </a:stretch>
        </p:blipFill>
        <p:spPr>
          <a:xfrm>
            <a:off x="1043305" y="1268730"/>
            <a:ext cx="6904355" cy="5045075"/>
          </a:xfrm>
          <a:prstGeom prst="rect">
            <a:avLst/>
          </a:prstGeom>
          <a:noFill/>
          <a:ln w="9525">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存储基础——CACHE性能的评估和改进</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Rectangle 3"/>
          <p:cNvSpPr>
            <a:spLocks noGrp="1"/>
          </p:cNvSpPr>
          <p:nvPr>
            <p:custDataLst>
              <p:tags r:id="rId1"/>
            </p:custDataLst>
          </p:nvPr>
        </p:nvSpPr>
        <p:spPr>
          <a:xfrm>
            <a:off x="361950" y="1243330"/>
            <a:ext cx="8420100" cy="4885690"/>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nSpc>
                <a:spcPct val="120000"/>
              </a:lnSpc>
              <a:spcBef>
                <a:spcPts val="1800"/>
              </a:spcBef>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mn-ea"/>
              </a:rPr>
              <a:t>性能的定量计算：</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lvl="1">
              <a:lnSpc>
                <a:spcPct val="120000"/>
              </a:lnSpc>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mn-ea"/>
              </a:rPr>
              <a:t>程序执行时间</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sym typeface="+mn-ea"/>
              </a:rPr>
              <a:t>=CPU</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mn-ea"/>
              </a:rPr>
              <a:t>执行程序的时间</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mn-ea"/>
              </a:rPr>
              <a:t>等待存储访问时间</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lvl="1">
              <a:lnSpc>
                <a:spcPct val="120000"/>
              </a:lnSpc>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mn-ea"/>
              </a:rPr>
              <a:t>基于</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sym typeface="+mn-ea"/>
              </a:rPr>
              <a:t>CPI</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sym typeface="+mn-ea"/>
              </a:rPr>
              <a:t>的计算：</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lvl="2">
              <a:lnSpc>
                <a:spcPct val="120000"/>
              </a:lnSpc>
              <a:spcBef>
                <a:spcPts val="1200"/>
              </a:spcBef>
            </a:pP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存储器阻塞时钟周期</a:t>
            </a:r>
            <a:endPar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a:p>
            <a:pPr marL="914400" lvl="2" indent="0">
              <a:lnSpc>
                <a:spcPct val="120000"/>
              </a:lnSpc>
              <a:spcBef>
                <a:spcPts val="1200"/>
              </a:spcBef>
              <a:buNone/>
            </a:pP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 </a:t>
            </a:r>
            <a:r>
              <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          =</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（存储器总访问次数</a:t>
            </a:r>
            <a:r>
              <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指令数）*缺失率*缺失代价</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lvl="2">
              <a:lnSpc>
                <a:spcPct val="120000"/>
              </a:lnSpc>
              <a:spcBef>
                <a:spcPts val="1200"/>
              </a:spcBef>
            </a:pP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平均访问时间（</a:t>
            </a:r>
            <a:r>
              <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AMAT</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命中时间</a:t>
            </a:r>
            <a:r>
              <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缺失率*缺失代价</a:t>
            </a:r>
            <a:endPar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eaLnBrk="1" hangingPunct="1">
              <a:lnSpc>
                <a:spcPct val="100000"/>
              </a:lnSpc>
              <a:spcBef>
                <a:spcPts val="1200"/>
              </a:spcBef>
            </a:pPr>
            <a:endParaRPr lang="zh-CN" altLang="en-US" sz="2400" dirty="0">
              <a:solidFill>
                <a:schemeClr val="tx2"/>
              </a:solidFill>
              <a:latin typeface="Times New Roman" panose="02020603050405020304" pitchFamily="18" charset="0"/>
              <a:cs typeface="Times New Roman" panose="02020603050405020304" pitchFamily="18" charset="0"/>
            </a:endParaRPr>
          </a:p>
          <a:p>
            <a:pPr lvl="1" eaLnBrk="1" hangingPunct="1">
              <a:lnSpc>
                <a:spcPct val="100000"/>
              </a:lnSpc>
              <a:spcBef>
                <a:spcPts val="1200"/>
              </a:spcBef>
            </a:pPr>
            <a:endParaRPr lang="zh-CN" sz="2400" dirty="0">
              <a:latin typeface="Times New Roman" panose="02020603050405020304" pitchFamily="18" charset="0"/>
              <a:cs typeface="Times New Roman" panose="02020603050405020304" pitchFamily="18" charset="0"/>
              <a:sym typeface="+mn-ea"/>
            </a:endParaRPr>
          </a:p>
          <a:p>
            <a:pPr lvl="1" eaLnBrk="1" hangingPunct="1">
              <a:spcBef>
                <a:spcPts val="1200"/>
              </a:spcBef>
            </a:pPr>
            <a:endParaRPr lang="zh-CN" altLang="en-US" sz="2055"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3" name="Rectangle 2"/>
          <p:cNvSpPr>
            <a:spLocks noGrp="1"/>
          </p:cNvSpPr>
          <p:nvPr>
            <p:ph type="title"/>
          </p:nvPr>
        </p:nvSpPr>
        <p:spPr>
          <a:xfrm>
            <a:off x="323215" y="260350"/>
            <a:ext cx="8281988" cy="583565"/>
          </a:xfrm>
        </p:spPr>
        <p:txBody>
          <a:bodyPr vert="horz" wrap="square" lIns="91440" tIns="45720" rIns="91440" bIns="45720" anchor="t" anchorCtr="0">
            <a:spAutoFit/>
          </a:bodyPr>
          <a:p>
            <a:pPr eaLnBrk="1" hangingPunct="1">
              <a:buNone/>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缺失率与缺失类型</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nvPr>
        </p:nvSpPr>
        <p:spPr>
          <a:xfrm>
            <a:off x="558800" y="1198880"/>
            <a:ext cx="8396605" cy="4966970"/>
          </a:xfrm>
        </p:spPr>
        <p:txBody>
          <a:bodyPr vert="horz" wrap="square" lIns="91440" tIns="45720" rIns="91440" bIns="45720" anchor="t" anchorCtr="0"/>
          <a:p>
            <a:pPr eaLnBrk="1" hangingPunct="1">
              <a:lnSpc>
                <a:spcPct val="90000"/>
              </a:lnSpc>
            </a:pPr>
            <a:r>
              <a:rPr lang="zh-CN" altLang="en-US" sz="2400" kern="1200" dirty="0">
                <a:latin typeface="Times New Roman" panose="02020603050405020304" pitchFamily="18" charset="0"/>
                <a:cs typeface="Times New Roman" panose="02020603050405020304" pitchFamily="18" charset="0"/>
              </a:rPr>
              <a:t>缺失率</a:t>
            </a:r>
            <a:endParaRPr lang="zh-CN" altLang="en-US" sz="2400" kern="1200" dirty="0">
              <a:latin typeface="Times New Roman" panose="02020603050405020304" pitchFamily="18" charset="0"/>
              <a:cs typeface="Times New Roman" panose="02020603050405020304" pitchFamily="18" charset="0"/>
            </a:endParaRPr>
          </a:p>
          <a:p>
            <a:pPr lvl="1" eaLnBrk="1" hangingPunct="1">
              <a:lnSpc>
                <a:spcPct val="90000"/>
              </a:lnSpc>
            </a:pP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CACHE</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访问不命中的比率</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lnSpc>
                <a:spcPct val="90000"/>
              </a:lnSpc>
              <a:spcBef>
                <a:spcPts val="2400"/>
              </a:spcBef>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导致缺失的原因</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lnSpc>
                <a:spcPct val="90000"/>
              </a:lnSpc>
              <a:spcBef>
                <a:spcPts val="1800"/>
              </a:spcBef>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强制缺失</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lvl="2" eaLnBrk="1" hangingPunct="1">
              <a:lnSpc>
                <a:spcPct val="90000"/>
              </a:lnSpc>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第一次访问</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lnSpc>
                <a:spcPct val="90000"/>
              </a:lnSpc>
              <a:spcBef>
                <a:spcPts val="1800"/>
              </a:spcBef>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容量缺失</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lvl="2" eaLnBrk="1" hangingPunct="1">
              <a:lnSpc>
                <a:spcPct val="90000"/>
              </a:lnSpc>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块被移除后又被访问</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lnSpc>
                <a:spcPct val="90000"/>
              </a:lnSpc>
              <a:spcBef>
                <a:spcPts val="1800"/>
              </a:spcBef>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冲突缺失</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lvl="2" eaLnBrk="1" hangingPunct="1">
              <a:lnSpc>
                <a:spcPct val="90000"/>
              </a:lnSpc>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重复访问的多个地址映射在</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的同一位置</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1" name="标题 1"/>
          <p:cNvSpPr>
            <a:spLocks noGrp="1"/>
          </p:cNvSpPr>
          <p:nvPr>
            <p:ph type="title"/>
          </p:nvPr>
        </p:nvSpPr>
        <p:spPr>
          <a:xfrm>
            <a:off x="467043" y="332740"/>
            <a:ext cx="8074025" cy="583565"/>
          </a:xfrm>
        </p:spPr>
        <p:txBody>
          <a:bodyPr vert="horz" wrap="square" lIns="91440" tIns="45720" rIns="91440" bIns="45720" anchor="t" anchorCtr="0">
            <a:spAutoFit/>
          </a:bodyPr>
          <a:p>
            <a:pPr algn="l" eaLnBrk="1" hangingPunct="1">
              <a:buClrTx/>
              <a:buSzTx/>
              <a:buFontTx/>
              <a:buNone/>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关于缺失率</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8002" name="内容占位符 2"/>
          <p:cNvSpPr>
            <a:spLocks noGrp="1"/>
          </p:cNvSpPr>
          <p:nvPr>
            <p:ph idx="1"/>
          </p:nvPr>
        </p:nvSpPr>
        <p:spPr>
          <a:xfrm>
            <a:off x="539433" y="1196658"/>
            <a:ext cx="8064500" cy="4319587"/>
          </a:xfrm>
        </p:spPr>
        <p:txBody>
          <a:bodyPr vert="horz" wrap="square" lIns="91440" tIns="45720" rIns="91440" bIns="45720" anchor="t" anchorCtr="0"/>
          <a:p>
            <a:pPr eaLnBrk="1" hangingPunct="1">
              <a:lnSpc>
                <a:spcPct val="150000"/>
              </a:lnSpc>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混合</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CACHE</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（指令和数据混合）有较高的命中率；</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lnSpc>
                <a:spcPct val="150000"/>
              </a:lnSpc>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分离的指令</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CACHE</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和数据</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CACHE</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可提高带宽。</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lnSpc>
                <a:spcPct val="150000"/>
              </a:lnSpc>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缺失率不是衡量</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CACHE</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性能的唯一标准。</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5" name="标题 1"/>
          <p:cNvSpPr>
            <a:spLocks noGrp="1"/>
          </p:cNvSpPr>
          <p:nvPr>
            <p:ph type="title"/>
          </p:nvPr>
        </p:nvSpPr>
        <p:spPr>
          <a:xfrm>
            <a:off x="457200" y="260350"/>
            <a:ext cx="8281988" cy="583565"/>
          </a:xfrm>
        </p:spPr>
        <p:txBody>
          <a:bodyPr vert="horz" wrap="square" lIns="91440" tIns="45720" rIns="91440" bIns="45720" anchor="t" anchorCtr="0">
            <a:spAutoFit/>
          </a:bodyPr>
          <a:p>
            <a:pPr eaLnBrk="1" hangingPunct="1">
              <a:buNone/>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例1</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9026" name="内容占位符 2"/>
          <p:cNvSpPr>
            <a:spLocks noGrp="1"/>
          </p:cNvSpPr>
          <p:nvPr>
            <p:ph idx="1"/>
          </p:nvPr>
        </p:nvSpPr>
        <p:spPr>
          <a:xfrm>
            <a:off x="457200" y="1125538"/>
            <a:ext cx="8229600" cy="4857750"/>
          </a:xfrm>
        </p:spPr>
        <p:txBody>
          <a:bodyPr vert="horz" wrap="square" lIns="91440" tIns="45720" rIns="91440" bIns="45720" anchor="t" anchorCtr="0"/>
          <a:p>
            <a:pPr>
              <a:lnSpc>
                <a:spcPct val="120000"/>
              </a:lnSpc>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假设指令</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cache</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的缺失率为</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，数据</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cache</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的缺失率为</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a:p>
            <a:pPr marL="0" indent="0">
              <a:lnSpc>
                <a:spcPct val="120000"/>
              </a:lnSpc>
              <a:buNone/>
            </a:pP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4%</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，处理器的</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CPI</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为</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（没有存储器阻塞），且每次</a:t>
            </a:r>
            <a:r>
              <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缺失的代价</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为</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100</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个时钟周期，那么配置一个从不发生缺失的理想的</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cache</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，处理器的速度快多少？假定全部</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LOAD</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STORE</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的频率为</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36%.</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lvl="1">
              <a:lnSpc>
                <a:spcPct val="120000"/>
              </a:lnSpc>
            </a:pPr>
            <a:r>
              <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指令缺失</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时钟周期</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=I</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100=2.0I</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lvl="1">
              <a:lnSpc>
                <a:spcPct val="120000"/>
              </a:lnSpc>
            </a:pPr>
            <a:r>
              <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数据缺失</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时钟周期</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=I</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36%</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4%</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100=1.44I</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lvl="1">
              <a:lnSpc>
                <a:spcPct val="120000"/>
              </a:lnSpc>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总的存储器阻塞时钟周期</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=2.0I+1.44I=3.44I</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lvl="1">
              <a:lnSpc>
                <a:spcPct val="120000"/>
              </a:lnSpc>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总的</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CPI=2+3.44=5.44</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lvl="1">
              <a:lnSpc>
                <a:spcPct val="120000"/>
              </a:lnSpc>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配置理想</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CACHE</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后的性能是原来的</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5.44/2=2.72</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倍</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902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9026">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9026">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9026">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902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49" name="标题 1"/>
          <p:cNvSpPr>
            <a:spLocks noGrp="1"/>
          </p:cNvSpPr>
          <p:nvPr>
            <p:ph type="title"/>
          </p:nvPr>
        </p:nvSpPr>
        <p:spPr>
          <a:xfrm>
            <a:off x="395288" y="332423"/>
            <a:ext cx="8229600" cy="583565"/>
          </a:xfrm>
        </p:spPr>
        <p:txBody>
          <a:bodyPr vert="horz" wrap="square" lIns="91440" tIns="45720" rIns="91440" bIns="45720" anchor="t" anchorCtr="0">
            <a:spAutoFit/>
          </a:bodyPr>
          <a:p>
            <a:pPr eaLnBrk="1" hangingPunct="1">
              <a:buNone/>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例2</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0050" name="内容占位符 2"/>
          <p:cNvSpPr>
            <a:spLocks noGrp="1"/>
          </p:cNvSpPr>
          <p:nvPr>
            <p:ph idx="1"/>
          </p:nvPr>
        </p:nvSpPr>
        <p:spPr>
          <a:xfrm>
            <a:off x="468313" y="1166813"/>
            <a:ext cx="8229600" cy="4999037"/>
          </a:xfrm>
        </p:spPr>
        <p:txBody>
          <a:bodyPr vert="horz" wrap="square" lIns="91440" tIns="45720" rIns="91440" bIns="45720" anchor="t" anchorCtr="0"/>
          <a:p>
            <a:pPr>
              <a:lnSpc>
                <a:spcPct val="130000"/>
              </a:lnSpc>
              <a:spcBef>
                <a:spcPts val="1800"/>
              </a:spcBef>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处理器时钟周期的时间</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1ns,</a:t>
            </a:r>
            <a:r>
              <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缺失代价</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是</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20</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个时钟周期，缺失率为每条指令</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0.05</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次缺失，</a:t>
            </a:r>
            <a:r>
              <a:rPr lang="en-US" altLang="zh-CN"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cache</a:t>
            </a:r>
            <a:r>
              <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的访问时间（包括命中判断）</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为</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个时钟周期。假设读操作和写操作的缺失代价相同并且忽略其它写阻塞。请计算</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AMAT</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lvl="1">
              <a:lnSpc>
                <a:spcPct val="130000"/>
              </a:lnSpc>
              <a:spcBef>
                <a:spcPts val="1800"/>
              </a:spcBef>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每条指令的平均存储器访问时间</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AMAT</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为：</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lvl="2">
              <a:lnSpc>
                <a:spcPct val="130000"/>
              </a:lnSpc>
            </a:pPr>
            <a:r>
              <a:rPr lang="en-US" altLang="zh-CN" dirty="0">
                <a:latin typeface="Times New Roman" panose="02020603050405020304" pitchFamily="18" charset="0"/>
                <a:ea typeface="黑体" panose="02010609060101010101" pitchFamily="49" charset="-122"/>
                <a:cs typeface="Times New Roman" panose="02020603050405020304" pitchFamily="18" charset="0"/>
              </a:rPr>
              <a:t>AMAT=</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命中时间</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dirty="0">
                <a:latin typeface="Times New Roman" panose="02020603050405020304" pitchFamily="18" charset="0"/>
                <a:ea typeface="黑体" panose="02010609060101010101" pitchFamily="49" charset="-122"/>
                <a:cs typeface="Times New Roman" panose="02020603050405020304" pitchFamily="18" charset="0"/>
              </a:rPr>
              <a:t>缺失率*缺失代价</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lvl="2">
              <a:lnSpc>
                <a:spcPct val="130000"/>
              </a:lnSpc>
              <a:buFontTx/>
              <a:buNone/>
            </a:pPr>
            <a:r>
              <a:rPr lang="en-US" altLang="zh-CN" dirty="0">
                <a:latin typeface="Times New Roman" panose="02020603050405020304" pitchFamily="18" charset="0"/>
                <a:ea typeface="黑体" panose="02010609060101010101" pitchFamily="49" charset="-122"/>
                <a:cs typeface="Times New Roman" panose="02020603050405020304" pitchFamily="18" charset="0"/>
              </a:rPr>
              <a:t>                =1+0.05</a:t>
            </a:r>
            <a:r>
              <a:rPr lang="zh-CN" altLang="en-US"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a:latin typeface="Times New Roman" panose="02020603050405020304" pitchFamily="18" charset="0"/>
                <a:ea typeface="黑体" panose="02010609060101010101" pitchFamily="49" charset="-122"/>
                <a:cs typeface="Times New Roman" panose="02020603050405020304" pitchFamily="18" charset="0"/>
              </a:rPr>
              <a:t>20</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lvl="2">
              <a:lnSpc>
                <a:spcPct val="130000"/>
              </a:lnSpc>
              <a:buFontTx/>
              <a:buNone/>
            </a:pPr>
            <a:r>
              <a:rPr lang="en-US" altLang="zh-CN" dirty="0">
                <a:latin typeface="Times New Roman" panose="02020603050405020304" pitchFamily="18" charset="0"/>
                <a:ea typeface="黑体" panose="02010609060101010101" pitchFamily="49" charset="-122"/>
                <a:cs typeface="Times New Roman" panose="02020603050405020304" pitchFamily="18" charset="0"/>
              </a:rPr>
              <a:t>                =2</a:t>
            </a:r>
            <a:r>
              <a:rPr lang="zh-CN" altLang="en-US" dirty="0">
                <a:latin typeface="Times New Roman" panose="02020603050405020304" pitchFamily="18" charset="0"/>
                <a:ea typeface="黑体" panose="02010609060101010101" pitchFamily="49" charset="-122"/>
                <a:cs typeface="Times New Roman" panose="02020603050405020304" pitchFamily="18" charset="0"/>
              </a:rPr>
              <a:t>个时钟周期</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50">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0050">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0050">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005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3" name="标题 1"/>
          <p:cNvSpPr>
            <a:spLocks noGrp="1"/>
          </p:cNvSpPr>
          <p:nvPr>
            <p:ph type="title"/>
          </p:nvPr>
        </p:nvSpPr>
        <p:spPr>
          <a:xfrm>
            <a:off x="395288" y="260350"/>
            <a:ext cx="8281987" cy="583565"/>
          </a:xfrm>
        </p:spPr>
        <p:txBody>
          <a:bodyPr vert="horz" wrap="square" lIns="91440" tIns="45720" rIns="91440" bIns="45720" anchor="t" anchorCtr="0">
            <a:spAutoFit/>
          </a:bodyPr>
          <a:p>
            <a:pPr algn="l" eaLnBrk="1" hangingPunct="1">
              <a:buClrTx/>
              <a:buSzTx/>
              <a:buFontTx/>
              <a:buNone/>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例3</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1074" name="内容占位符 2"/>
          <p:cNvSpPr>
            <a:spLocks noGrp="1"/>
          </p:cNvSpPr>
          <p:nvPr>
            <p:ph idx="1"/>
          </p:nvPr>
        </p:nvSpPr>
        <p:spPr>
          <a:xfrm>
            <a:off x="508000" y="981075"/>
            <a:ext cx="8229600" cy="4784725"/>
          </a:xfrm>
        </p:spPr>
        <p:txBody>
          <a:bodyPr vert="horz" wrap="square" lIns="91440" tIns="45720" rIns="91440" bIns="45720" anchor="t" anchorCtr="0"/>
          <a:p>
            <a:pPr>
              <a:lnSpc>
                <a:spcPct val="150000"/>
              </a:lnSpc>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假定处理器基本的</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CPI</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为</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1.0</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，时钟频率为</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4GHz</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。假定</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a:p>
            <a:pPr marL="0" indent="0">
              <a:lnSpc>
                <a:spcPct val="150000"/>
              </a:lnSpc>
              <a:buNone/>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主存访问时间为</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100ns</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，其中包括缺失处理时间。设一级</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cache</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中每条指令缺失率为</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。如果增加一个二级</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cache</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，命中或缺失访问的时间都是</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5ns</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，而且容量大到必须使访问主存的缺失率减少到</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0.5%,</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这时的处理器速率能提高多少？</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答案</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2098" name="内容占位符 2"/>
          <p:cNvSpPr>
            <a:spLocks noGrp="1"/>
          </p:cNvSpPr>
          <p:nvPr>
            <p:ph idx="1"/>
          </p:nvPr>
        </p:nvSpPr>
        <p:spPr>
          <a:xfrm>
            <a:off x="513080" y="1312545"/>
            <a:ext cx="8229600" cy="4996180"/>
          </a:xfrm>
        </p:spPr>
        <p:txBody>
          <a:bodyPr vert="horz" wrap="square" lIns="91440" tIns="45720" rIns="91440" bIns="45720" anchor="t" anchorCtr="0"/>
          <a:p>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主存的缺失代价：</a:t>
            </a:r>
            <a:endParaRPr lang="en-US" altLang="zh-CN" sz="2800" dirty="0">
              <a:latin typeface="Times New Roman" panose="02020603050405020304" pitchFamily="18" charset="0"/>
              <a:ea typeface="黑体" panose="02010609060101010101" pitchFamily="49" charset="-122"/>
              <a:cs typeface="Times New Roman" panose="02020603050405020304" pitchFamily="18" charset="0"/>
            </a:endParaRPr>
          </a:p>
          <a:p>
            <a:pPr lvl="1"/>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100ns/(0.25ns/</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时钟周期）</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=400</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个时钟周期</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a:spcBef>
                <a:spcPts val="1800"/>
              </a:spcBef>
            </a:pP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只有一级</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cache</a:t>
            </a: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时：</a:t>
            </a:r>
            <a:endParaRPr lang="en-US" altLang="zh-CN" sz="2800" dirty="0">
              <a:latin typeface="Times New Roman" panose="02020603050405020304" pitchFamily="18" charset="0"/>
              <a:ea typeface="黑体" panose="02010609060101010101" pitchFamily="49" charset="-122"/>
              <a:cs typeface="Times New Roman" panose="02020603050405020304" pitchFamily="18" charset="0"/>
            </a:endParaRPr>
          </a:p>
          <a:p>
            <a:pPr lvl="1"/>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总的</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CPI=1.0+2%*400=9</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a:spcBef>
                <a:spcPts val="1800"/>
              </a:spcBef>
            </a:pP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对于两级</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cache</a:t>
            </a: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800" dirty="0">
              <a:latin typeface="Times New Roman" panose="02020603050405020304" pitchFamily="18" charset="0"/>
              <a:ea typeface="黑体" panose="02010609060101010101" pitchFamily="49" charset="-122"/>
              <a:cs typeface="Times New Roman" panose="02020603050405020304" pitchFamily="18" charset="0"/>
            </a:endParaRPr>
          </a:p>
          <a:p>
            <a:pPr lvl="1"/>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二级</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cache</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的缺失代价：</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lvl="2"/>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5ns/(0.25ns/</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时钟周期）</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=20</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个时钟周期</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1"/>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总的</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CPI=1+2%*20+0.5%*400=3.4</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a:spcBef>
                <a:spcPts val="1800"/>
              </a:spcBef>
            </a:pP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有二级</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cache</a:t>
            </a: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的处理器性能是没有二级</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cache</a:t>
            </a: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性能的</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9.0/3.4=2.6</a:t>
            </a: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倍</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1" name="标题 1"/>
          <p:cNvSpPr>
            <a:spLocks noGrp="1"/>
          </p:cNvSpPr>
          <p:nvPr>
            <p:ph type="title"/>
          </p:nvPr>
        </p:nvSpPr>
        <p:spPr>
          <a:xfrm>
            <a:off x="467360" y="33274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小结</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3122" name="内容占位符 2"/>
          <p:cNvSpPr>
            <a:spLocks noGrp="1"/>
          </p:cNvSpPr>
          <p:nvPr>
            <p:ph idx="1"/>
          </p:nvPr>
        </p:nvSpPr>
        <p:spPr>
          <a:xfrm>
            <a:off x="443230" y="1296035"/>
            <a:ext cx="8420100" cy="4869815"/>
          </a:xfrm>
        </p:spPr>
        <p:txBody>
          <a:bodyPr vert="horz" wrap="square" lIns="91440" tIns="45720" rIns="91440" bIns="45720" anchor="t" anchorCtr="0"/>
          <a:p>
            <a:pPr latinLnBrk="0">
              <a:lnSpc>
                <a:spcPct val="100000"/>
              </a:lnSpc>
              <a:spcBef>
                <a:spcPts val="1200"/>
              </a:spcBef>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存储系统对程序执行时间有重要影响；</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latinLnBrk="0">
              <a:lnSpc>
                <a:spcPct val="100000"/>
              </a:lnSpc>
              <a:spcBef>
                <a:spcPts val="1200"/>
              </a:spcBef>
            </a:pPr>
            <a:r>
              <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存储器阻塞周期数取决于缺失率和缺失代价</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latinLnBrk="0">
              <a:lnSpc>
                <a:spcPct val="100000"/>
              </a:lnSpc>
              <a:spcBef>
                <a:spcPts val="1200"/>
              </a:spcBef>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将数据块更灵活地放置可以降低缺失率，但会增加成本；</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latinLnBrk="0">
              <a:lnSpc>
                <a:spcPct val="100000"/>
              </a:lnSpc>
              <a:spcBef>
                <a:spcPts val="1200"/>
              </a:spcBef>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多级</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cache</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lvl="1" latinLnBrk="0">
              <a:lnSpc>
                <a:spcPct val="100000"/>
              </a:lnSpc>
              <a:spcBef>
                <a:spcPts val="1200"/>
              </a:spcBef>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一级</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cache</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和二级</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cache</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的设计思想不同：</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a:p>
            <a:pPr lvl="2" latinLnBrk="0">
              <a:lnSpc>
                <a:spcPct val="100000"/>
              </a:lnSpc>
              <a:spcBef>
                <a:spcPts val="1200"/>
              </a:spcBef>
            </a:pPr>
            <a:r>
              <a:rPr lang="zh-CN" altLang="en-US" sz="2055"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一级</a:t>
            </a:r>
            <a:r>
              <a:rPr lang="en-US" altLang="zh-CN" sz="2055"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cache</a:t>
            </a:r>
            <a:r>
              <a:rPr lang="zh-CN" altLang="en-US" sz="2055"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致力于减少命中时间</a:t>
            </a:r>
            <a:r>
              <a:rPr lang="zh-CN" altLang="en-US" sz="2055" dirty="0">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055" dirty="0">
              <a:latin typeface="Times New Roman" panose="02020603050405020304" pitchFamily="18" charset="0"/>
              <a:ea typeface="黑体" panose="02010609060101010101" pitchFamily="49" charset="-122"/>
              <a:cs typeface="Times New Roman" panose="02020603050405020304" pitchFamily="18" charset="0"/>
            </a:endParaRPr>
          </a:p>
          <a:p>
            <a:pPr lvl="2" latinLnBrk="0">
              <a:lnSpc>
                <a:spcPct val="100000"/>
              </a:lnSpc>
              <a:spcBef>
                <a:spcPts val="1200"/>
              </a:spcBef>
            </a:pPr>
            <a:r>
              <a:rPr lang="zh-CN" altLang="en-US" sz="2055"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二级</a:t>
            </a:r>
            <a:r>
              <a:rPr lang="en-US" altLang="zh-CN" sz="2055"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cache</a:t>
            </a:r>
            <a:r>
              <a:rPr lang="zh-CN" altLang="en-US" sz="2055"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致力于减少缺失率</a:t>
            </a:r>
            <a:r>
              <a:rPr lang="zh-CN" altLang="en-US" sz="2055" dirty="0">
                <a:latin typeface="Times New Roman" panose="02020603050405020304" pitchFamily="18" charset="0"/>
                <a:ea typeface="黑体" panose="02010609060101010101" pitchFamily="49" charset="-122"/>
                <a:cs typeface="Times New Roman" panose="02020603050405020304" pitchFamily="18" charset="0"/>
              </a:rPr>
              <a:t>（容量较大，较高的关联度）</a:t>
            </a:r>
            <a:endParaRPr lang="zh-CN" altLang="en-US" sz="2055"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5" name="Rectangle 3"/>
          <p:cNvSpPr>
            <a:spLocks noGrp="1"/>
          </p:cNvSpPr>
          <p:nvPr>
            <p:ph idx="1"/>
          </p:nvPr>
        </p:nvSpPr>
        <p:spPr>
          <a:xfrm>
            <a:off x="327025" y="1124585"/>
            <a:ext cx="8270875" cy="4979988"/>
          </a:xfrm>
        </p:spPr>
        <p:txBody>
          <a:bodyPr vert="horz" wrap="square" lIns="91440" tIns="45720" rIns="91440" bIns="45720" anchor="t" anchorCtr="0"/>
          <a:p>
            <a:pPr eaLnBrk="1" hangingPunct="1">
              <a:lnSpc>
                <a:spcPct val="90000"/>
              </a:lnSpc>
            </a:pP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6</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种基本的</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CACHE</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优化方法</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lnSpc>
                <a:spcPct val="90000"/>
              </a:lnSpc>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更大的块</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2" eaLnBrk="1" hangingPunct="1">
              <a:lnSpc>
                <a:spcPct val="90000"/>
              </a:lnSpc>
            </a:pP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强制缺失减少；</a:t>
            </a:r>
            <a:endParaRPr lang="en-US"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lvl="2" eaLnBrk="1" hangingPunct="1">
              <a:lnSpc>
                <a:spcPct val="90000"/>
              </a:lnSpc>
            </a:pP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容量和冲突缺失增加，缺失代价增加；</a:t>
            </a:r>
            <a:endParaRPr lang="en-US"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lnSpc>
                <a:spcPct val="90000"/>
              </a:lnSpc>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更大的</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CACHE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容量</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2" eaLnBrk="1" hangingPunct="1">
              <a:lnSpc>
                <a:spcPct val="90000"/>
              </a:lnSpc>
            </a:pP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缺失率降低；</a:t>
            </a:r>
            <a:endParaRPr lang="en-US"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lvl="2" eaLnBrk="1" hangingPunct="1">
              <a:lnSpc>
                <a:spcPct val="90000"/>
              </a:lnSpc>
            </a:pP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命中时间，功耗增加；</a:t>
            </a:r>
            <a:endParaRPr lang="en-US"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lnSpc>
                <a:spcPct val="90000"/>
              </a:lnSpc>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更高的相联度</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2" eaLnBrk="1" hangingPunct="1">
              <a:lnSpc>
                <a:spcPct val="90000"/>
              </a:lnSpc>
            </a:pP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冲突缺失减少；</a:t>
            </a:r>
            <a:endParaRPr lang="en-US"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lvl="2" eaLnBrk="1" hangingPunct="1">
              <a:lnSpc>
                <a:spcPct val="90000"/>
              </a:lnSpc>
            </a:pP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命中时间增加，功耗增加；</a:t>
            </a:r>
            <a:endParaRPr lang="en-US"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lnSpc>
                <a:spcPct val="90000"/>
              </a:lnSpc>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更多级</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CACHE</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2" eaLnBrk="1" hangingPunct="1">
              <a:lnSpc>
                <a:spcPct val="90000"/>
              </a:lnSpc>
            </a:pP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内存访问时间减少；</a:t>
            </a:r>
            <a:endParaRPr lang="en-US"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lnSpc>
                <a:spcPct val="90000"/>
              </a:lnSpc>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读缺失优先级更高</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2" eaLnBrk="1" hangingPunct="1">
              <a:lnSpc>
                <a:spcPct val="90000"/>
              </a:lnSpc>
            </a:pP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缺失代价降低；</a:t>
            </a:r>
            <a:endParaRPr lang="en-US"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lvl="1" eaLnBrk="1" hangingPunct="1">
              <a:lnSpc>
                <a:spcPct val="90000"/>
              </a:lnSpc>
              <a:spcBef>
                <a:spcPts val="6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缓存索引期间避免地址转换</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2" eaLnBrk="1" hangingPunct="1">
              <a:lnSpc>
                <a:spcPct val="90000"/>
              </a:lnSpc>
            </a:pP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减少命中时间；</a:t>
            </a:r>
            <a:endParaRPr lang="en-US" altLang="zh-CN" sz="16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4146" name="Rectangle 2"/>
          <p:cNvSpPr>
            <a:spLocks noGrp="1"/>
          </p:cNvSpPr>
          <p:nvPr>
            <p:ph type="title"/>
          </p:nvPr>
        </p:nvSpPr>
        <p:spPr>
          <a:xfrm>
            <a:off x="395288" y="260350"/>
            <a:ext cx="8281987"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层次化存储优化方法</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4147" name="右大括号 1"/>
          <p:cNvSpPr/>
          <p:nvPr/>
        </p:nvSpPr>
        <p:spPr>
          <a:xfrm>
            <a:off x="6165850" y="1803400"/>
            <a:ext cx="198438" cy="2079625"/>
          </a:xfrm>
          <a:prstGeom prst="rightBrace">
            <a:avLst>
              <a:gd name="adj1" fmla="val 8296"/>
              <a:gd name="adj2" fmla="val 50000"/>
            </a:avLst>
          </a:prstGeom>
          <a:noFill/>
          <a:ln w="9525" cap="flat" cmpd="sng">
            <a:solidFill>
              <a:srgbClr val="FF0000"/>
            </a:solidFill>
            <a:prstDash val="solid"/>
            <a:round/>
            <a:headEnd type="none" w="med" len="med"/>
            <a:tailEnd type="none" w="med" len="med"/>
          </a:ln>
        </p:spPr>
        <p:txBody>
          <a:bodyPr anchor="t" anchorCtr="0">
            <a:spAutoFit/>
          </a:bodyPr>
          <a:p>
            <a:pPr>
              <a:spcBef>
                <a:spcPct val="20000"/>
              </a:spcBef>
              <a:buClrTx/>
              <a:buSzPct val="60000"/>
              <a:buFont typeface="Wingdings" panose="05000000000000000000" pitchFamily="2" charset="2"/>
            </a:pPr>
            <a:endParaRPr lang="zh-CN" altLang="en-US" sz="3200" dirty="0">
              <a:solidFill>
                <a:srgbClr val="000000"/>
              </a:solidFill>
              <a:latin typeface="Arial Black" panose="020B0A04020102020204" pitchFamily="34" charset="0"/>
              <a:ea typeface="黑体" panose="02010609060101010101" pitchFamily="49" charset="-122"/>
            </a:endParaRPr>
          </a:p>
        </p:txBody>
      </p:sp>
      <p:sp>
        <p:nvSpPr>
          <p:cNvPr id="134148" name="线形标注 1(带强调线) 5"/>
          <p:cNvSpPr/>
          <p:nvPr/>
        </p:nvSpPr>
        <p:spPr>
          <a:xfrm>
            <a:off x="6407150" y="4005263"/>
            <a:ext cx="2547938" cy="523875"/>
          </a:xfrm>
          <a:prstGeom prst="accentCallout1">
            <a:avLst>
              <a:gd name="adj1" fmla="val 27949"/>
              <a:gd name="adj2" fmla="val -3926"/>
              <a:gd name="adj3" fmla="val 31727"/>
              <a:gd name="adj4" fmla="val -38718"/>
            </a:avLst>
          </a:prstGeom>
          <a:noFill/>
          <a:ln w="9525" cap="flat" cmpd="sng">
            <a:solidFill>
              <a:srgbClr val="FF0000"/>
            </a:solidFill>
            <a:prstDash val="solid"/>
            <a:round/>
            <a:headEnd type="none" w="med" len="med"/>
            <a:tailEnd type="none" w="med" len="med"/>
          </a:ln>
        </p:spPr>
        <p:txBody>
          <a:bodyPr anchor="t" anchorCtr="0">
            <a:spAutoFit/>
          </a:bodyPr>
          <a:p>
            <a:pPr>
              <a:spcBef>
                <a:spcPct val="20000"/>
              </a:spcBef>
              <a:buClrTx/>
              <a:buSzPct val="60000"/>
              <a:buFont typeface="Wingdings" panose="05000000000000000000" pitchFamily="2" charset="2"/>
            </a:pPr>
            <a:r>
              <a:rPr lang="zh-CN" altLang="en-US" sz="2800" dirty="0">
                <a:solidFill>
                  <a:srgbClr val="FF0000"/>
                </a:solidFill>
                <a:latin typeface="Arial Black" panose="020B0A04020102020204" pitchFamily="34" charset="0"/>
                <a:ea typeface="黑体" panose="02010609060101010101" pitchFamily="49" charset="-122"/>
              </a:rPr>
              <a:t>降低缺失代价</a:t>
            </a:r>
            <a:endParaRPr lang="zh-CN" altLang="en-US" sz="2800" dirty="0">
              <a:solidFill>
                <a:srgbClr val="FF0000"/>
              </a:solidFill>
              <a:latin typeface="Arial Black" panose="020B0A04020102020204" pitchFamily="34" charset="0"/>
              <a:ea typeface="黑体" panose="02010609060101010101" pitchFamily="49" charset="-122"/>
            </a:endParaRPr>
          </a:p>
        </p:txBody>
      </p:sp>
      <p:sp>
        <p:nvSpPr>
          <p:cNvPr id="134149" name="线形标注 1(带强调线) 10"/>
          <p:cNvSpPr/>
          <p:nvPr/>
        </p:nvSpPr>
        <p:spPr>
          <a:xfrm>
            <a:off x="6407150" y="4668838"/>
            <a:ext cx="2547938" cy="522287"/>
          </a:xfrm>
          <a:prstGeom prst="accentCallout1">
            <a:avLst>
              <a:gd name="adj1" fmla="val 27949"/>
              <a:gd name="adj2" fmla="val -3926"/>
              <a:gd name="adj3" fmla="val 31727"/>
              <a:gd name="adj4" fmla="val -38718"/>
            </a:avLst>
          </a:prstGeom>
          <a:noFill/>
          <a:ln w="9525" cap="flat" cmpd="sng">
            <a:solidFill>
              <a:srgbClr val="FF0000"/>
            </a:solidFill>
            <a:prstDash val="solid"/>
            <a:round/>
            <a:headEnd type="none" w="med" len="med"/>
            <a:tailEnd type="none" w="med" len="med"/>
          </a:ln>
        </p:spPr>
        <p:txBody>
          <a:bodyPr anchor="t" anchorCtr="0">
            <a:spAutoFit/>
          </a:bodyPr>
          <a:p>
            <a:pPr>
              <a:spcBef>
                <a:spcPct val="20000"/>
              </a:spcBef>
              <a:buClrTx/>
              <a:buSzPct val="60000"/>
              <a:buFont typeface="Wingdings" panose="05000000000000000000" pitchFamily="2" charset="2"/>
            </a:pPr>
            <a:r>
              <a:rPr lang="zh-CN" altLang="en-US" sz="2800" dirty="0">
                <a:solidFill>
                  <a:srgbClr val="FF0000"/>
                </a:solidFill>
                <a:latin typeface="Arial Black" panose="020B0A04020102020204" pitchFamily="34" charset="0"/>
                <a:ea typeface="黑体" panose="02010609060101010101" pitchFamily="49" charset="-122"/>
              </a:rPr>
              <a:t>降低缺失率</a:t>
            </a:r>
            <a:endParaRPr lang="zh-CN" altLang="en-US" sz="2800" dirty="0">
              <a:solidFill>
                <a:srgbClr val="FF0000"/>
              </a:solidFill>
              <a:latin typeface="Arial Black" panose="020B0A04020102020204" pitchFamily="34" charset="0"/>
              <a:ea typeface="黑体" panose="02010609060101010101" pitchFamily="49" charset="-122"/>
            </a:endParaRPr>
          </a:p>
        </p:txBody>
      </p:sp>
      <p:sp>
        <p:nvSpPr>
          <p:cNvPr id="134150" name="线形标注 1(带强调线) 11"/>
          <p:cNvSpPr/>
          <p:nvPr/>
        </p:nvSpPr>
        <p:spPr>
          <a:xfrm>
            <a:off x="6407150" y="5499100"/>
            <a:ext cx="2547938" cy="523875"/>
          </a:xfrm>
          <a:prstGeom prst="accentCallout1">
            <a:avLst>
              <a:gd name="adj1" fmla="val 27949"/>
              <a:gd name="adj2" fmla="val -3926"/>
              <a:gd name="adj3" fmla="val 31727"/>
              <a:gd name="adj4" fmla="val -38718"/>
            </a:avLst>
          </a:prstGeom>
          <a:noFill/>
          <a:ln w="9525" cap="flat" cmpd="sng">
            <a:solidFill>
              <a:srgbClr val="FF0000"/>
            </a:solidFill>
            <a:prstDash val="solid"/>
            <a:round/>
            <a:headEnd type="none" w="med" len="med"/>
            <a:tailEnd type="none" w="med" len="med"/>
          </a:ln>
        </p:spPr>
        <p:txBody>
          <a:bodyPr anchor="t" anchorCtr="0">
            <a:spAutoFit/>
          </a:bodyPr>
          <a:p>
            <a:pPr>
              <a:spcBef>
                <a:spcPct val="20000"/>
              </a:spcBef>
              <a:buClrTx/>
              <a:buSzPct val="60000"/>
              <a:buFont typeface="Wingdings" panose="05000000000000000000" pitchFamily="2" charset="2"/>
            </a:pPr>
            <a:r>
              <a:rPr lang="zh-CN" altLang="en-US" sz="2800" dirty="0">
                <a:solidFill>
                  <a:srgbClr val="FF0000"/>
                </a:solidFill>
                <a:latin typeface="Arial Black" panose="020B0A04020102020204" pitchFamily="34" charset="0"/>
                <a:ea typeface="黑体" panose="02010609060101010101" pitchFamily="49" charset="-122"/>
              </a:rPr>
              <a:t>缩短命中时间</a:t>
            </a:r>
            <a:endParaRPr lang="zh-CN" altLang="en-US" sz="2800" dirty="0">
              <a:solidFill>
                <a:srgbClr val="FF0000"/>
              </a:solidFill>
              <a:latin typeface="Arial Black" panose="020B0A04020102020204" pitchFamily="34" charset="0"/>
              <a:ea typeface="黑体" panose="02010609060101010101" pitchFamily="49" charset="-122"/>
            </a:endParaRPr>
          </a:p>
        </p:txBody>
      </p:sp>
      <p:sp>
        <p:nvSpPr>
          <p:cNvPr id="134151" name="文本框 1"/>
          <p:cNvSpPr txBox="1"/>
          <p:nvPr/>
        </p:nvSpPr>
        <p:spPr>
          <a:xfrm>
            <a:off x="627063" y="6022658"/>
            <a:ext cx="8270875" cy="400050"/>
          </a:xfrm>
          <a:prstGeom prst="rect">
            <a:avLst/>
          </a:prstGeom>
          <a:noFill/>
          <a:ln w="9525">
            <a:noFill/>
          </a:ln>
        </p:spPr>
        <p:txBody>
          <a:bodyPr anchor="t" anchorCtr="0">
            <a:spAutoFit/>
          </a:bodyPr>
          <a:p>
            <a:pPr>
              <a:buClrTx/>
              <a:buFontTx/>
            </a:pPr>
            <a:r>
              <a:rPr lang="zh-CN" altLang="en-US" sz="2000" dirty="0">
                <a:solidFill>
                  <a:srgbClr val="000000"/>
                </a:solidFill>
                <a:latin typeface="Arial Black" panose="020B0A04020102020204" pitchFamily="34" charset="0"/>
                <a:ea typeface="黑体" panose="02010609060101010101" pitchFamily="49" charset="-122"/>
              </a:rPr>
              <a:t>缓存优化度量：命中时间、缺失率、缺失代价；</a:t>
            </a:r>
            <a:r>
              <a:rPr lang="en-US" altLang="zh-CN" sz="2000" dirty="0">
                <a:solidFill>
                  <a:srgbClr val="000000"/>
                </a:solidFill>
                <a:latin typeface="Arial Black" panose="020B0A04020102020204" pitchFamily="34" charset="0"/>
                <a:ea typeface="黑体" panose="02010609060101010101" pitchFamily="49" charset="-122"/>
              </a:rPr>
              <a:t>+</a:t>
            </a:r>
            <a:r>
              <a:rPr lang="zh-CN" altLang="en-US" sz="2000" dirty="0">
                <a:solidFill>
                  <a:srgbClr val="000000"/>
                </a:solidFill>
                <a:latin typeface="Arial Black" panose="020B0A04020102020204" pitchFamily="34" charset="0"/>
                <a:ea typeface="黑体" panose="02010609060101010101" pitchFamily="49" charset="-122"/>
              </a:rPr>
              <a:t>（缓存带宽、功耗）</a:t>
            </a:r>
            <a:endParaRPr lang="zh-CN" altLang="en-US" sz="2000" dirty="0">
              <a:solidFill>
                <a:srgbClr val="000000"/>
              </a:solidFill>
              <a:latin typeface="Arial Black" panose="020B0A04020102020204" pitchFamily="34" charset="0"/>
              <a:ea typeface="黑体" panose="02010609060101010101" pitchFamily="49" charset="-122"/>
            </a:endParaRPr>
          </a:p>
        </p:txBody>
      </p:sp>
      <p:sp>
        <p:nvSpPr>
          <p:cNvPr id="134152" name="文本框 1"/>
          <p:cNvSpPr txBox="1"/>
          <p:nvPr/>
        </p:nvSpPr>
        <p:spPr>
          <a:xfrm>
            <a:off x="6516688" y="2565400"/>
            <a:ext cx="2233612" cy="584200"/>
          </a:xfrm>
          <a:prstGeom prst="rect">
            <a:avLst/>
          </a:prstGeom>
          <a:noFill/>
          <a:ln w="9525">
            <a:noFill/>
          </a:ln>
        </p:spPr>
        <p:txBody>
          <a:bodyPr anchor="t" anchorCtr="0">
            <a:spAutoFit/>
          </a:bodyPr>
          <a:p>
            <a:pPr>
              <a:spcBef>
                <a:spcPct val="20000"/>
              </a:spcBef>
              <a:buClrTx/>
              <a:buSzPct val="60000"/>
              <a:buFont typeface="Wingdings" panose="05000000000000000000" pitchFamily="2" charset="2"/>
            </a:pPr>
            <a:r>
              <a:rPr lang="zh-CN" altLang="en-US" sz="2800" dirty="0">
                <a:solidFill>
                  <a:srgbClr val="FF0000"/>
                </a:solidFill>
                <a:latin typeface="Arial Black" panose="020B0A04020102020204" pitchFamily="34" charset="0"/>
                <a:ea typeface="黑体" panose="02010609060101010101" pitchFamily="49" charset="-122"/>
              </a:rPr>
              <a:t>降低缺失率</a:t>
            </a:r>
            <a:endParaRPr lang="zh-CN" altLang="en-US" sz="2800" dirty="0">
              <a:solidFill>
                <a:srgbClr val="FF0000"/>
              </a:solidFill>
              <a:latin typeface="Arial Black" panose="020B0A04020102020204" pitchFamily="34" charset="0"/>
              <a:ea typeface="黑体" panose="02010609060101010101" pitchFamily="49" charset="-122"/>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3" name="灯片编号占位符 5"/>
          <p:cNvSpPr>
            <a:spLocks noGrp="1"/>
          </p:cNvSpPr>
          <p:nvPr>
            <p:ph type="sldNum" sz="quarter" idx="12"/>
          </p:nvPr>
        </p:nvSpPr>
        <p:spPr>
          <a:xfrm>
            <a:off x="7086600" y="6324600"/>
            <a:ext cx="1905000" cy="457200"/>
          </a:xfrm>
        </p:spPr>
        <p:txBody>
          <a:bodyPr wrap="square" lIns="92075" tIns="46038" rIns="92075" bIns="46038"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r" eaLnBrk="1" hangingPunct="1">
              <a:buSzTx/>
            </a:pPr>
            <a:fld id="{9A0DB2DC-4C9A-4742-B13C-FB6460FD3503}" type="slidenum">
              <a:rPr lang="en-US" altLang="zh-CN" sz="1400" dirty="0"/>
            </a:fld>
            <a:endParaRPr lang="en-US" altLang="zh-CN" sz="1400" dirty="0"/>
          </a:p>
        </p:txBody>
      </p:sp>
      <p:sp>
        <p:nvSpPr>
          <p:cNvPr id="136194" name="Rectangle 2"/>
          <p:cNvSpPr>
            <a:spLocks noGrp="1"/>
          </p:cNvSpPr>
          <p:nvPr>
            <p:ph type="title"/>
          </p:nvPr>
        </p:nvSpPr>
        <p:spPr>
          <a:xfrm>
            <a:off x="457200" y="274955"/>
            <a:ext cx="8229600" cy="847090"/>
          </a:xfrm>
        </p:spPr>
        <p:txBody>
          <a:bodyPr vert="horz" wrap="square" lIns="91440" tIns="45720" rIns="91440" bIns="45720" anchor="ctr" anchorCtr="0"/>
          <a:p>
            <a:pPr algn="l" eaLnBrk="1" hangingPunct="1">
              <a:buClrTx/>
              <a:buSzTx/>
              <a:buFontTx/>
            </a:pPr>
            <a:r>
              <a:rPr lang="zh-CN"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本章重点</a:t>
            </a:r>
            <a:endParaRPr lang="zh-CN"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6195" name="Rectangle 3"/>
          <p:cNvSpPr>
            <a:spLocks noGrp="1"/>
          </p:cNvSpPr>
          <p:nvPr>
            <p:ph idx="1"/>
          </p:nvPr>
        </p:nvSpPr>
        <p:spPr/>
        <p:txBody>
          <a:bodyPr vert="horz" wrap="square" lIns="91440" tIns="45720" rIns="91440" bIns="45720" anchor="t" anchorCtr="0"/>
          <a:p>
            <a:pPr eaLnBrk="1" latinLnBrk="0" hangingPunct="1">
              <a:spcBef>
                <a:spcPts val="1200"/>
              </a:spcBef>
            </a:pPr>
            <a:r>
              <a:rPr lang="zh-CN" altLang="en-US" sz="2400" dirty="0"/>
              <a:t>存储系统的定义及主要性能</a:t>
            </a:r>
            <a:endParaRPr lang="zh-CN" altLang="en-US" sz="2400" dirty="0"/>
          </a:p>
          <a:p>
            <a:pPr eaLnBrk="1" latinLnBrk="0" hangingPunct="1">
              <a:spcBef>
                <a:spcPts val="1200"/>
              </a:spcBef>
            </a:pPr>
            <a:r>
              <a:rPr lang="zh-CN" altLang="en-US" sz="2400" dirty="0"/>
              <a:t>并行存储器和无冲突访问存储器的工作原理</a:t>
            </a:r>
            <a:endParaRPr lang="zh-CN" altLang="en-US" sz="2400" dirty="0"/>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 name="KSO_WM_UNIT_TABLE_BEAUTIFY" val="smartTable{67fbac2f-093a-4f7e-9d82-93b64de1446f}"/>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COMMONDATA" val="eyJoZGlkIjoiNzgwZWUzYWQ0MzYxM2VlNjVhZWQ5MmMwYjc0MjZhZjkifQ=="/>
  <p:tag name="KSO_WPP_MARK_KEY" val="f64f1d04-d5ef-4124-ac0d-f11c60ba39f5"/>
</p:tagLst>
</file>

<file path=ppt/theme/theme1.xml><?xml version="1.0" encoding="utf-8"?>
<a:theme xmlns:a="http://schemas.openxmlformats.org/drawingml/2006/main" name="主题1">
  <a:themeElements>
    <a:clrScheme name="24美金的ppt模板_2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2">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2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2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2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24美金的ppt模板">
  <a:themeElements>
    <a:clrScheme name="1_24美金的ppt模板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1_24美金的ppt模板">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24美金的ppt模板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1_24美金的ppt模板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1_24美金的ppt模板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4美金的ppt模板_3">
  <a:themeElements>
    <a:clrScheme name="24美金的ppt模板_3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3">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3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3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3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4美金的ppt模板_4">
  <a:themeElements>
    <a:clrScheme name="24美金的ppt模板_4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4">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4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4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4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4美金的ppt模板_5">
  <a:themeElements>
    <a:clrScheme name="24美金的ppt模板_5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5">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5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5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5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主题1">
  <a:themeElements>
    <a:clrScheme name="24美金的ppt模板_2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2">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2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2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2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2_24美金的ppt模板">
  <a:themeElements>
    <a:clrScheme name="1_24美金的ppt模板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1_24美金的ppt模板">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24美金的ppt模板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1_24美金的ppt模板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1_24美金的ppt模板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_24美金的ppt模板_3">
  <a:themeElements>
    <a:clrScheme name="24美金的ppt模板_3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3">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3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3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3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1_24美金的ppt模板_4">
  <a:themeElements>
    <a:clrScheme name="24美金的ppt模板_4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4">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4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4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4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_24美金的ppt模板_5">
  <a:themeElements>
    <a:clrScheme name="24美金的ppt模板_5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5">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5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5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5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0</TotalTime>
  <Words>9578</Words>
  <Application>WPS 演示</Application>
  <PresentationFormat>全屏显示(4:3)</PresentationFormat>
  <Paragraphs>917</Paragraphs>
  <Slides>86</Slides>
  <Notes>2</Notes>
  <HiddenSlides>0</HiddenSlides>
  <MMClips>0</MMClips>
  <ScaleCrop>false</ScaleCrop>
  <HeadingPairs>
    <vt:vector size="8" baseType="variant">
      <vt:variant>
        <vt:lpstr>已用的字体</vt:lpstr>
      </vt:variant>
      <vt:variant>
        <vt:i4>15</vt:i4>
      </vt:variant>
      <vt:variant>
        <vt:lpstr>主题</vt:lpstr>
      </vt:variant>
      <vt:variant>
        <vt:i4>10</vt:i4>
      </vt:variant>
      <vt:variant>
        <vt:lpstr>嵌入 OLE 服务器</vt:lpstr>
      </vt:variant>
      <vt:variant>
        <vt:i4>12</vt:i4>
      </vt:variant>
      <vt:variant>
        <vt:lpstr>幻灯片标题</vt:lpstr>
      </vt:variant>
      <vt:variant>
        <vt:i4>86</vt:i4>
      </vt:variant>
    </vt:vector>
  </HeadingPairs>
  <TitlesOfParts>
    <vt:vector size="123" baseType="lpstr">
      <vt:lpstr>Arial</vt:lpstr>
      <vt:lpstr>宋体</vt:lpstr>
      <vt:lpstr>Wingdings</vt:lpstr>
      <vt:lpstr>华文行楷</vt:lpstr>
      <vt:lpstr>微软雅黑</vt:lpstr>
      <vt:lpstr>黑体</vt:lpstr>
      <vt:lpstr>华文中宋</vt:lpstr>
      <vt:lpstr>Times New Roman</vt:lpstr>
      <vt:lpstr>Arial Black</vt:lpstr>
      <vt:lpstr>Arial Unicode MS</vt:lpstr>
      <vt:lpstr>Wingdings</vt:lpstr>
      <vt:lpstr>Tahoma</vt:lpstr>
      <vt:lpstr>仿宋_GB2312</vt:lpstr>
      <vt:lpstr>仿宋</vt:lpstr>
      <vt:lpstr>Symbol</vt:lpstr>
      <vt:lpstr>主题1</vt:lpstr>
      <vt:lpstr>1_24美金的ppt模板</vt:lpstr>
      <vt:lpstr>24美金的ppt模板_3</vt:lpstr>
      <vt:lpstr>24美金的ppt模板_4</vt:lpstr>
      <vt:lpstr>24美金的ppt模板_5</vt:lpstr>
      <vt:lpstr>1_主题1</vt:lpstr>
      <vt:lpstr>2_24美金的ppt模板</vt:lpstr>
      <vt:lpstr>1_24美金的ppt模板_3</vt:lpstr>
      <vt:lpstr>1_24美金的ppt模板_4</vt:lpstr>
      <vt:lpstr>1_24美金的ppt模板_5</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PowerPoint 演示文稿</vt:lpstr>
      <vt:lpstr>第3章 存储系统</vt:lpstr>
      <vt:lpstr>本章内容</vt:lpstr>
      <vt:lpstr>存储系统</vt:lpstr>
      <vt:lpstr>PowerPoint 演示文稿</vt:lpstr>
      <vt:lpstr>存储系统性能</vt:lpstr>
      <vt:lpstr>存储与处理性能差距</vt:lpstr>
      <vt:lpstr>存储与处理性能差距</vt:lpstr>
      <vt:lpstr>存储与处理性能差距</vt:lpstr>
      <vt:lpstr>存储与处理性能差距（AI场景）</vt:lpstr>
      <vt:lpstr>3.1.1 存储系统的定义</vt:lpstr>
      <vt:lpstr>存储系统的定义</vt:lpstr>
      <vt:lpstr>由多个存储器构成的存储系统 </vt:lpstr>
      <vt:lpstr>两种存储系统</vt:lpstr>
      <vt:lpstr>两级存储器组成的存储系统的S、C、T</vt:lpstr>
      <vt:lpstr>两级存储器组成的存储系统的S、C、T</vt:lpstr>
      <vt:lpstr>存储系统的速度</vt:lpstr>
      <vt:lpstr>几个概念（以cache为例）</vt:lpstr>
      <vt:lpstr>存储系统的访问效率</vt:lpstr>
      <vt:lpstr>例</vt:lpstr>
      <vt:lpstr>提高存储系统速度的两条途径</vt:lpstr>
      <vt:lpstr>例</vt:lpstr>
      <vt:lpstr>采用预取技术提高命中率</vt:lpstr>
      <vt:lpstr>例（回顾）</vt:lpstr>
      <vt:lpstr>解答</vt:lpstr>
      <vt:lpstr>例</vt:lpstr>
      <vt:lpstr>例</vt:lpstr>
      <vt:lpstr>例 </vt:lpstr>
      <vt:lpstr>例 </vt:lpstr>
      <vt:lpstr>练习：</vt:lpstr>
      <vt:lpstr>解答</vt:lpstr>
      <vt:lpstr>练习</vt:lpstr>
      <vt:lpstr>解答</vt:lpstr>
      <vt:lpstr>解答（续）</vt:lpstr>
      <vt:lpstr>3.1.2 存储器的层次结构</vt:lpstr>
      <vt:lpstr>存储器的层次结构</vt:lpstr>
      <vt:lpstr>表3.1 各种存储器的主要性能特性</vt:lpstr>
      <vt:lpstr>CPU与主存储器的速度差距越来越大</vt:lpstr>
      <vt:lpstr>3.1.3 频带平衡</vt:lpstr>
      <vt:lpstr>3.1.3 频带平衡</vt:lpstr>
      <vt:lpstr>解决存储器频带平衡方法</vt:lpstr>
      <vt:lpstr>例：</vt:lpstr>
      <vt:lpstr>3.1.4 并行存储器</vt:lpstr>
      <vt:lpstr>3.1.4.1 并行访问存储器</vt:lpstr>
      <vt:lpstr>并行访问存储器主要缺点</vt:lpstr>
      <vt:lpstr>3.1.4.2 交叉访问存储器</vt:lpstr>
      <vt:lpstr>高位交叉访问存储器</vt:lpstr>
      <vt:lpstr>高位交叉访问存储器</vt:lpstr>
      <vt:lpstr>高位交叉访问存储器</vt:lpstr>
      <vt:lpstr>低位交叉访问存储器</vt:lpstr>
      <vt:lpstr>低位交叉访问存储器</vt:lpstr>
      <vt:lpstr>8个存储体构成的主存储器的低位交叉编址方式</vt:lpstr>
      <vt:lpstr>低位交叉访问存储器</vt:lpstr>
      <vt:lpstr>并行</vt:lpstr>
      <vt:lpstr>低位交叉访问存储器的访问冲突</vt:lpstr>
      <vt:lpstr>？</vt:lpstr>
      <vt:lpstr>3.1.4.3一种无访问冲突存储器</vt:lpstr>
      <vt:lpstr>一维数组</vt:lpstr>
      <vt:lpstr>二维数组</vt:lpstr>
      <vt:lpstr>二维数组</vt:lpstr>
      <vt:lpstr>nxn二维数组无冲突访问</vt:lpstr>
      <vt:lpstr>计算数组元素的体号地址和体内地址</vt:lpstr>
      <vt:lpstr>nxn的二维数组n个存储体实现的无冲突的存储方案</vt:lpstr>
      <vt:lpstr> 4x4的二维数组4个存储体实现的无冲突的存储方案</vt:lpstr>
      <vt:lpstr>比较两种二维数组无冲突访问的并行存储方案</vt:lpstr>
      <vt:lpstr>练习</vt:lpstr>
      <vt:lpstr>解答</vt:lpstr>
      <vt:lpstr>练习</vt:lpstr>
      <vt:lpstr>解答</vt:lpstr>
      <vt:lpstr>3.4  三级存储系统</vt:lpstr>
      <vt:lpstr>存储系统</vt:lpstr>
      <vt:lpstr>存储系统的几种组织方式</vt:lpstr>
      <vt:lpstr>存储系统的几种组织方式</vt:lpstr>
      <vt:lpstr>存储系统的几种组织方式</vt:lpstr>
      <vt:lpstr>3.4.1 虚拟地址Cache</vt:lpstr>
      <vt:lpstr>图3.60 一种虚拟地址Cache的地址变换过程</vt:lpstr>
      <vt:lpstr>存储基础——CACHE性能的评估和改进</vt:lpstr>
      <vt:lpstr>缺失率与缺失类型</vt:lpstr>
      <vt:lpstr>关于缺失率</vt:lpstr>
      <vt:lpstr>例1</vt:lpstr>
      <vt:lpstr>例2</vt:lpstr>
      <vt:lpstr>例3</vt:lpstr>
      <vt:lpstr>答案</vt:lpstr>
      <vt:lpstr>小结</vt:lpstr>
      <vt:lpstr>层次化存储优化方法</vt:lpstr>
      <vt:lpstr>本章重点</vt:lpstr>
    </vt:vector>
  </TitlesOfParts>
  <Company>北京理工大学计算机系</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概论</dc:title>
  <dc:creator>蒋本珊</dc:creator>
  <cp:lastModifiedBy>锕狗</cp:lastModifiedBy>
  <cp:revision>270</cp:revision>
  <dcterms:created xsi:type="dcterms:W3CDTF">2003-05-27T06:14:00Z</dcterms:created>
  <dcterms:modified xsi:type="dcterms:W3CDTF">2024-12-12T15:09:16Z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6258BA8A21A5467AAF084D541BBDD6CB_13</vt:lpwstr>
  </property>
  <property fmtid="{D5CDD505-2E9C-101B-9397-08002B2CF9AE}" pid="3" name="KSOProductBuildVer">
    <vt:lpwstr>2052-12.1.0.19302</vt:lpwstr>
  </property>
</Properties>
</file>