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4" r:id="rId4"/>
    <p:sldMasterId id="2147483687" r:id="rId5"/>
    <p:sldMasterId id="2147483700" r:id="rId6"/>
    <p:sldMasterId id="2147483713" r:id="rId7"/>
    <p:sldMasterId id="2147483728" r:id="rId8"/>
    <p:sldMasterId id="2147483740" r:id="rId9"/>
    <p:sldMasterId id="2147483753" r:id="rId10"/>
    <p:sldMasterId id="2147483766" r:id="rId11"/>
  </p:sldMasterIdLst>
  <p:notesMasterIdLst>
    <p:notesMasterId r:id="rId13"/>
  </p:notesMasterIdLst>
  <p:handoutMasterIdLst>
    <p:handoutMasterId r:id="rId110"/>
  </p:handoutMasterIdLst>
  <p:sldIdLst>
    <p:sldId id="257" r:id="rId12"/>
    <p:sldId id="704" r:id="rId14"/>
    <p:sldId id="258" r:id="rId15"/>
    <p:sldId id="349" r:id="rId16"/>
    <p:sldId id="262" r:id="rId17"/>
    <p:sldId id="478" r:id="rId18"/>
    <p:sldId id="351" r:id="rId19"/>
    <p:sldId id="352" r:id="rId20"/>
    <p:sldId id="480" r:id="rId21"/>
    <p:sldId id="588" r:id="rId22"/>
    <p:sldId id="587" r:id="rId23"/>
    <p:sldId id="515" r:id="rId24"/>
    <p:sldId id="589" r:id="rId25"/>
    <p:sldId id="590" r:id="rId26"/>
    <p:sldId id="591" r:id="rId27"/>
    <p:sldId id="488" r:id="rId28"/>
    <p:sldId id="487" r:id="rId29"/>
    <p:sldId id="595" r:id="rId30"/>
    <p:sldId id="594" r:id="rId31"/>
    <p:sldId id="592" r:id="rId32"/>
    <p:sldId id="490" r:id="rId33"/>
    <p:sldId id="491" r:id="rId34"/>
    <p:sldId id="492" r:id="rId35"/>
    <p:sldId id="493" r:id="rId36"/>
    <p:sldId id="494" r:id="rId37"/>
    <p:sldId id="495" r:id="rId38"/>
    <p:sldId id="496" r:id="rId39"/>
    <p:sldId id="497" r:id="rId40"/>
    <p:sldId id="498" r:id="rId41"/>
    <p:sldId id="499" r:id="rId42"/>
    <p:sldId id="500" r:id="rId43"/>
    <p:sldId id="501" r:id="rId44"/>
    <p:sldId id="502" r:id="rId45"/>
    <p:sldId id="503" r:id="rId46"/>
    <p:sldId id="504" r:id="rId47"/>
    <p:sldId id="788" r:id="rId48"/>
    <p:sldId id="505" r:id="rId49"/>
    <p:sldId id="506" r:id="rId50"/>
    <p:sldId id="507" r:id="rId51"/>
    <p:sldId id="508" r:id="rId52"/>
    <p:sldId id="509" r:id="rId53"/>
    <p:sldId id="510" r:id="rId54"/>
    <p:sldId id="524" r:id="rId55"/>
    <p:sldId id="525" r:id="rId56"/>
    <p:sldId id="526" r:id="rId57"/>
    <p:sldId id="789" r:id="rId58"/>
    <p:sldId id="527" r:id="rId59"/>
    <p:sldId id="651" r:id="rId60"/>
    <p:sldId id="840" r:id="rId61"/>
    <p:sldId id="841" r:id="rId62"/>
    <p:sldId id="652" r:id="rId63"/>
    <p:sldId id="842" r:id="rId64"/>
    <p:sldId id="839" r:id="rId65"/>
    <p:sldId id="529" r:id="rId66"/>
    <p:sldId id="530" r:id="rId67"/>
    <p:sldId id="531" r:id="rId68"/>
    <p:sldId id="532" r:id="rId69"/>
    <p:sldId id="533" r:id="rId70"/>
    <p:sldId id="534" r:id="rId71"/>
    <p:sldId id="523" r:id="rId72"/>
    <p:sldId id="535" r:id="rId73"/>
    <p:sldId id="536" r:id="rId74"/>
    <p:sldId id="537" r:id="rId75"/>
    <p:sldId id="538" r:id="rId76"/>
    <p:sldId id="540" r:id="rId77"/>
    <p:sldId id="541" r:id="rId78"/>
    <p:sldId id="542" r:id="rId79"/>
    <p:sldId id="543" r:id="rId80"/>
    <p:sldId id="544" r:id="rId81"/>
    <p:sldId id="578" r:id="rId82"/>
    <p:sldId id="579" r:id="rId83"/>
    <p:sldId id="580" r:id="rId84"/>
    <p:sldId id="581" r:id="rId85"/>
    <p:sldId id="583" r:id="rId86"/>
    <p:sldId id="889" r:id="rId87"/>
    <p:sldId id="584" r:id="rId88"/>
    <p:sldId id="397" r:id="rId89"/>
    <p:sldId id="679" r:id="rId90"/>
    <p:sldId id="680" r:id="rId91"/>
    <p:sldId id="682" r:id="rId92"/>
    <p:sldId id="683" r:id="rId93"/>
    <p:sldId id="684" r:id="rId94"/>
    <p:sldId id="685" r:id="rId95"/>
    <p:sldId id="686" r:id="rId96"/>
    <p:sldId id="687" r:id="rId97"/>
    <p:sldId id="688" r:id="rId98"/>
    <p:sldId id="689" r:id="rId99"/>
    <p:sldId id="690" r:id="rId100"/>
    <p:sldId id="691" r:id="rId101"/>
    <p:sldId id="882" r:id="rId102"/>
    <p:sldId id="883" r:id="rId103"/>
    <p:sldId id="884" r:id="rId104"/>
    <p:sldId id="885" r:id="rId105"/>
    <p:sldId id="886" r:id="rId106"/>
    <p:sldId id="887" r:id="rId107"/>
    <p:sldId id="888" r:id="rId108"/>
    <p:sldId id="692" r:id="rId109"/>
  </p:sldIdLst>
  <p:sldSz cx="9144000" cy="6858000" type="screen4x3"/>
  <p:notesSz cx="6858000" cy="9144000"/>
  <p:custDataLst>
    <p:tags r:id="rId114"/>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18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000000"/>
    <a:srgbClr val="800000"/>
    <a:srgbClr val="000066"/>
    <a:srgbClr val="663300"/>
    <a:srgbClr val="9900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32"/>
    <p:restoredTop sz="91155" autoAdjust="0"/>
  </p:normalViewPr>
  <p:slideViewPr>
    <p:cSldViewPr showGuides="1">
      <p:cViewPr varScale="1">
        <p:scale>
          <a:sx n="52" d="100"/>
          <a:sy n="52" d="100"/>
        </p:scale>
        <p:origin x="700" y="504"/>
      </p:cViewPr>
      <p:guideLst>
        <p:guide orient="horz" pos="2188"/>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30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7.xml"/><Relationship Id="rId98" Type="http://schemas.openxmlformats.org/officeDocument/2006/relationships/slide" Target="slides/slide86.xml"/><Relationship Id="rId97" Type="http://schemas.openxmlformats.org/officeDocument/2006/relationships/slide" Target="slides/slide85.xml"/><Relationship Id="rId96" Type="http://schemas.openxmlformats.org/officeDocument/2006/relationships/slide" Target="slides/slide84.xml"/><Relationship Id="rId95" Type="http://schemas.openxmlformats.org/officeDocument/2006/relationships/slide" Target="slides/slide83.xml"/><Relationship Id="rId94" Type="http://schemas.openxmlformats.org/officeDocument/2006/relationships/slide" Target="slides/slide82.xml"/><Relationship Id="rId93" Type="http://schemas.openxmlformats.org/officeDocument/2006/relationships/slide" Target="slides/slide81.xml"/><Relationship Id="rId92" Type="http://schemas.openxmlformats.org/officeDocument/2006/relationships/slide" Target="slides/slide80.xml"/><Relationship Id="rId91" Type="http://schemas.openxmlformats.org/officeDocument/2006/relationships/slide" Target="slides/slide79.xml"/><Relationship Id="rId90" Type="http://schemas.openxmlformats.org/officeDocument/2006/relationships/slide" Target="slides/slide78.xml"/><Relationship Id="rId9" Type="http://schemas.openxmlformats.org/officeDocument/2006/relationships/slideMaster" Target="slideMasters/slideMaster8.xml"/><Relationship Id="rId89" Type="http://schemas.openxmlformats.org/officeDocument/2006/relationships/slide" Target="slides/slide77.xml"/><Relationship Id="rId88" Type="http://schemas.openxmlformats.org/officeDocument/2006/relationships/slide" Target="slides/slide76.xml"/><Relationship Id="rId87" Type="http://schemas.openxmlformats.org/officeDocument/2006/relationships/slide" Target="slides/slide75.xml"/><Relationship Id="rId86" Type="http://schemas.openxmlformats.org/officeDocument/2006/relationships/slide" Target="slides/slide74.xml"/><Relationship Id="rId85" Type="http://schemas.openxmlformats.org/officeDocument/2006/relationships/slide" Target="slides/slide73.xml"/><Relationship Id="rId84" Type="http://schemas.openxmlformats.org/officeDocument/2006/relationships/slide" Target="slides/slide72.xml"/><Relationship Id="rId83" Type="http://schemas.openxmlformats.org/officeDocument/2006/relationships/slide" Target="slides/slide71.xml"/><Relationship Id="rId82" Type="http://schemas.openxmlformats.org/officeDocument/2006/relationships/slide" Target="slides/slide70.xml"/><Relationship Id="rId81" Type="http://schemas.openxmlformats.org/officeDocument/2006/relationships/slide" Target="slides/slide69.xml"/><Relationship Id="rId80" Type="http://schemas.openxmlformats.org/officeDocument/2006/relationships/slide" Target="slides/slide68.xml"/><Relationship Id="rId8" Type="http://schemas.openxmlformats.org/officeDocument/2006/relationships/slideMaster" Target="slideMasters/slideMaster7.xml"/><Relationship Id="rId79" Type="http://schemas.openxmlformats.org/officeDocument/2006/relationships/slide" Target="slides/slide67.xml"/><Relationship Id="rId78" Type="http://schemas.openxmlformats.org/officeDocument/2006/relationships/slide" Target="slides/slide66.xml"/><Relationship Id="rId77" Type="http://schemas.openxmlformats.org/officeDocument/2006/relationships/slide" Target="slides/slide65.xml"/><Relationship Id="rId76" Type="http://schemas.openxmlformats.org/officeDocument/2006/relationships/slide" Target="slides/slide64.xml"/><Relationship Id="rId75" Type="http://schemas.openxmlformats.org/officeDocument/2006/relationships/slide" Target="slides/slide63.xml"/><Relationship Id="rId74" Type="http://schemas.openxmlformats.org/officeDocument/2006/relationships/slide" Target="slides/slide62.xml"/><Relationship Id="rId73" Type="http://schemas.openxmlformats.org/officeDocument/2006/relationships/slide" Target="slides/slide6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4" Type="http://schemas.openxmlformats.org/officeDocument/2006/relationships/tags" Target="tags/tag232.xml"/><Relationship Id="rId113" Type="http://schemas.openxmlformats.org/officeDocument/2006/relationships/tableStyles" Target="tableStyles.xml"/><Relationship Id="rId112" Type="http://schemas.openxmlformats.org/officeDocument/2006/relationships/viewProps" Target="viewProps.xml"/><Relationship Id="rId111" Type="http://schemas.openxmlformats.org/officeDocument/2006/relationships/presProps" Target="presProps.xml"/><Relationship Id="rId110" Type="http://schemas.openxmlformats.org/officeDocument/2006/relationships/handoutMaster" Target="handoutMasters/handoutMaster1.xml"/><Relationship Id="rId11" Type="http://schemas.openxmlformats.org/officeDocument/2006/relationships/slideMaster" Target="slideMasters/slideMaster10.xml"/><Relationship Id="rId109" Type="http://schemas.openxmlformats.org/officeDocument/2006/relationships/slide" Target="slides/slide97.xml"/><Relationship Id="rId108" Type="http://schemas.openxmlformats.org/officeDocument/2006/relationships/slide" Target="slides/slide96.xml"/><Relationship Id="rId107" Type="http://schemas.openxmlformats.org/officeDocument/2006/relationships/slide" Target="slides/slide95.xml"/><Relationship Id="rId106" Type="http://schemas.openxmlformats.org/officeDocument/2006/relationships/slide" Target="slides/slide94.xml"/><Relationship Id="rId105" Type="http://schemas.openxmlformats.org/officeDocument/2006/relationships/slide" Target="slides/slide93.xml"/><Relationship Id="rId104" Type="http://schemas.openxmlformats.org/officeDocument/2006/relationships/slide" Target="slides/slide92.xml"/><Relationship Id="rId103" Type="http://schemas.openxmlformats.org/officeDocument/2006/relationships/slide" Target="slides/slide91.xml"/><Relationship Id="rId102" Type="http://schemas.openxmlformats.org/officeDocument/2006/relationships/slide" Target="slides/slide90.xml"/><Relationship Id="rId101" Type="http://schemas.openxmlformats.org/officeDocument/2006/relationships/slide" Target="slides/slide89.xml"/><Relationship Id="rId100" Type="http://schemas.openxmlformats.org/officeDocument/2006/relationships/slide" Target="slides/slide88.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9B7136E-35E3-4CB5-819C-A3750A4D98FC}"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508"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92BB19F-FA50-41FD-9928-F504B09AF80C}"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fld>
            <a:endParaRPr lang="zh-CN" altLang="en-US" dirty="0"/>
          </a:p>
        </p:txBody>
      </p:sp>
      <p:sp>
        <p:nvSpPr>
          <p:cNvPr id="24579" name="Rectangle 2"/>
          <p:cNvSpPr>
            <a:spLocks noGrp="1" noRot="1" noChangeAspect="1" noTextEdit="1"/>
          </p:cNvSpPr>
          <p:nvPr>
            <p:ph type="sldImg"/>
          </p:nvPr>
        </p:nvSpPr>
        <p:spPr>
          <a:solidFill>
            <a:srgbClr val="FFFFFF">
              <a:alpha val="100000"/>
            </a:srgbClr>
          </a:solidFill>
        </p:spPr>
      </p:sp>
      <p:sp>
        <p:nvSpPr>
          <p:cNvPr id="24580" name="Rectangle 3"/>
          <p:cNvSpPr>
            <a:spLocks noGrp="1"/>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lstStyle/>
          <a:p>
            <a:pPr lvl="0" eaLnBrk="1" hangingPunct="1"/>
            <a:r>
              <a:rPr lang="zh-CN" altLang="en-US" dirty="0"/>
              <a:t>欢迎辞</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计算机性能的提升和更新换代不仅仅依赖于硬件器件的更新，还需要系统结构的改进。具体来说：</a:t>
            </a:r>
            <a:endParaRPr lang="zh-CN" altLang="en-US" dirty="0"/>
          </a:p>
          <a:p>
            <a:endParaRPr lang="zh-CN" altLang="en-US" dirty="0"/>
          </a:p>
          <a:p>
            <a:r>
              <a:rPr lang="zh-CN" altLang="en-US" dirty="0"/>
              <a:t>器件的不断更新：计算机的硬件部分，包括处理器、存储器、输入输出设备等，随着技术的进步不断更新。例如，处理器的速度越来越快，存储器的容量越来越大，输入输出设备的性能也在不断提升。这些硬件的更新直接影响计算机的性能。</a:t>
            </a:r>
            <a:endParaRPr lang="zh-CN" altLang="en-US" dirty="0"/>
          </a:p>
          <a:p>
            <a:endParaRPr lang="zh-CN" altLang="en-US" dirty="0"/>
          </a:p>
          <a:p>
            <a:r>
              <a:rPr lang="zh-CN" altLang="en-US" dirty="0"/>
              <a:t>系统结构的不断改进：除了硬件的更新，计算机系统的结构设计也在不断改进。系统结构包括指令系统、存储系统、输入输出系统等方面的设计。例如，通过改进指令系统，可以提高指令的执行效率；通过优化存储系统，可以加快数据的存取速度；通过改进输入输出系统，可以提高数据传输的效率</a:t>
            </a:r>
            <a:r>
              <a:rPr lang="en-US" altLang="zh-CN" dirty="0"/>
              <a:t>1</a:t>
            </a:r>
            <a:r>
              <a:rPr lang="zh-CN" altLang="en-US" dirty="0"/>
              <a:t>。</a:t>
            </a:r>
            <a:endParaRPr lang="zh-CN" altLang="en-US" dirty="0"/>
          </a:p>
          <a:p>
            <a:endParaRPr lang="zh-CN" altLang="en-US" dirty="0"/>
          </a:p>
          <a:p>
            <a:r>
              <a:rPr lang="zh-CN" altLang="en-US" dirty="0"/>
              <a:t>总的来说，计算机性能的提升是硬件和系统结构共同作用的结果。硬件的更新提供了更强大的基础设施，而系统结构的改进则充分利用了这些硬件资源，从而实现性能的提升。</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solidFill>
                  <a:srgbClr val="262626"/>
                </a:solidFill>
                <a:effectLst/>
                <a:latin typeface="-apple-system"/>
              </a:rPr>
              <a:t>透明性在系统设计中非常重要，因为它可以提高系统的可用性、可扩展性和用户体验，同时减少用户和开发人员的负担。通过隐藏复杂性，透明性使得系统更易于使用和管理。</a:t>
            </a:r>
            <a:endParaRPr lang="zh-CN" altLang="en-US" dirty="0"/>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模拟与仿真的区别是：模拟是用机器语言程序解释指令，其解释程序存储在主存中；</a:t>
            </a:r>
            <a:endParaRPr lang="zh-CN" altLang="en-US"/>
          </a:p>
          <a:p>
            <a:r>
              <a:rPr lang="zh-CN" altLang="en-US"/>
              <a:t>仿真是用微程序解释指令，其解释程序存储在控制存储器中。</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188" y="115888"/>
            <a:ext cx="8281987" cy="701675"/>
          </a:xfrm>
          <a:prstGeom prst="rect">
            <a:avLst/>
          </a:prstGeom>
        </p:spPr>
        <p:txBody>
          <a:bodyPr/>
          <a:lstStyle/>
          <a:p>
            <a:pPr fontAlgn="base"/>
            <a:r>
              <a:rPr lang="en-US" strike="noStrike" noProof="1"/>
              <a:t>Click to edit Master title style</a:t>
            </a:r>
            <a:endParaRPr lang="en-US" strike="noStrike" noProof="1"/>
          </a:p>
        </p:txBody>
      </p:sp>
      <p:sp>
        <p:nvSpPr>
          <p:cNvPr id="3" name="SmartArt Placeholder 2"/>
          <p:cNvSpPr>
            <a:spLocks noGrp="1"/>
          </p:cNvSpPr>
          <p:nvPr>
            <p:ph type="pic" idx="1"/>
          </p:nvPr>
        </p:nvSpPr>
        <p:spPr>
          <a:xfrm>
            <a:off x="684213" y="1125538"/>
            <a:ext cx="8270875" cy="511175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Footer Placeholder 3"/>
          <p:cNvSpPr>
            <a:spLocks noGrp="1"/>
          </p:cNvSpPr>
          <p:nvPr>
            <p:ph type="ftr" sz="quarter" idx="3"/>
          </p:nvPr>
        </p:nvSpPr>
        <p:spPr>
          <a:xfrm>
            <a:off x="1042988" y="6381750"/>
            <a:ext cx="7272338" cy="358775"/>
          </a:xfrm>
          <a:prstGeom prst="rect">
            <a:avLst/>
          </a:prstGeom>
        </p:spPr>
        <p:txBody>
          <a:bodyPr/>
          <a:lstStyle>
            <a:lvl1pPr algn="ctr" eaLnBrk="1" hangingPunct="1">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AU" sz="1800" b="0" i="0" u="none" strike="noStrike" kern="1200" cap="none" spc="0" normalizeH="0" baseline="0" noProof="0">
                <a:ln>
                  <a:noFill/>
                </a:ln>
                <a:solidFill>
                  <a:schemeClr val="accent2"/>
                </a:solidFill>
                <a:effectLst/>
                <a:uLnTx/>
                <a:uFillTx/>
                <a:latin typeface="+mn-lt"/>
                <a:ea typeface="+mn-ea"/>
                <a:cs typeface="+mn-cs"/>
              </a:rPr>
              <a:t>Copyright © 2012, Elsevier Inc. All rights reserved.</a:t>
            </a:r>
            <a:endParaRPr kumimoji="0" lang="en-AU" sz="1800" b="0" i="0" u="none" strike="noStrike" kern="1200" cap="none" spc="0" normalizeH="0" baseline="0" noProof="0">
              <a:ln>
                <a:noFill/>
              </a:ln>
              <a:solidFill>
                <a:schemeClr val="accent2"/>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dgm">
  <p:cSld name="Title and Diagram or Organization Char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188" y="115888"/>
            <a:ext cx="8281987" cy="701675"/>
          </a:xfrm>
          <a:prstGeom prst="rect">
            <a:avLst/>
          </a:prstGeom>
        </p:spPr>
        <p:txBody>
          <a:bodyPr/>
          <a:lstStyle/>
          <a:p>
            <a:r>
              <a:rPr lang="en-US"/>
              <a:t>Click to edit Master title style</a:t>
            </a:r>
            <a:endParaRPr lang="en-US"/>
          </a:p>
        </p:txBody>
      </p:sp>
      <p:sp>
        <p:nvSpPr>
          <p:cNvPr id="3" name="SmartArt Placeholder 2"/>
          <p:cNvSpPr>
            <a:spLocks noGrp="1"/>
          </p:cNvSpPr>
          <p:nvPr>
            <p:ph type="pic" idx="1"/>
          </p:nvPr>
        </p:nvSpPr>
        <p:spPr>
          <a:xfrm>
            <a:off x="684213" y="1125538"/>
            <a:ext cx="8270875" cy="511175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Footer Placeholder 3"/>
          <p:cNvSpPr>
            <a:spLocks noGrp="1"/>
          </p:cNvSpPr>
          <p:nvPr>
            <p:ph type="ftr" sz="quarter" idx="3"/>
          </p:nvPr>
        </p:nvSpPr>
        <p:spPr>
          <a:xfrm>
            <a:off x="1042988" y="6381750"/>
            <a:ext cx="7272338" cy="358775"/>
          </a:xfrm>
          <a:prstGeom prst="rect">
            <a:avLst/>
          </a:prstGeom>
        </p:spPr>
        <p:txBody>
          <a:bodyPr/>
          <a:lstStyle>
            <a:lvl1pPr algn="ctr" eaLnBrk="1" hangingPunct="1">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AU" sz="1800" b="0" i="0" u="none" strike="noStrike" kern="1200" cap="none" spc="0" normalizeH="0" baseline="0" noProof="0">
                <a:ln>
                  <a:noFill/>
                </a:ln>
                <a:solidFill>
                  <a:schemeClr val="accent2"/>
                </a:solidFill>
                <a:effectLst/>
                <a:uLnTx/>
                <a:uFillTx/>
                <a:latin typeface="+mn-lt"/>
                <a:ea typeface="+mn-ea"/>
                <a:cs typeface="+mn-cs"/>
              </a:rPr>
              <a:t>Copyright © 2012, Elsevier Inc. All rights reserved.</a:t>
            </a:r>
            <a:endParaRPr kumimoji="0" lang="en-AU" sz="1800" b="0" i="0" u="none" strike="noStrike" kern="1200" cap="none" spc="0" normalizeH="0" baseline="0" noProof="0">
              <a:ln>
                <a:noFill/>
              </a:ln>
              <a:solidFill>
                <a:schemeClr val="accent2"/>
              </a:solidFill>
              <a:effectLst/>
              <a:uLnTx/>
              <a:uFillTx/>
              <a:latin typeface="+mn-lt"/>
              <a:ea typeface="+mn-ea"/>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bl">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1143000"/>
          </a:xfrm>
          <a:prstGeom prst="rect">
            <a:avLst/>
          </a:prstGeo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01625" y="1752600"/>
            <a:ext cx="8540750" cy="4270375"/>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日期占位符 3"/>
          <p:cNvSpPr>
            <a:spLocks noGrp="1"/>
          </p:cNvSpPr>
          <p:nvPr>
            <p:ph type="dt" sz="half" idx="2"/>
          </p:nvPr>
        </p:nvSpPr>
        <p:spPr>
          <a:xfrm>
            <a:off x="301625" y="617220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3"/>
          </p:nvPr>
        </p:nvSpPr>
        <p:spPr>
          <a:xfrm>
            <a:off x="3124200" y="6172200"/>
            <a:ext cx="2895600"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4"/>
          </p:nvPr>
        </p:nvSpPr>
        <p:spPr>
          <a:xfrm>
            <a:off x="6553200" y="617220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41DFF3DE-CA92-4B08-B1C4-941A0785216B}" type="slidenum">
              <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rPr>
            </a:fld>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6" Type="http://schemas.openxmlformats.org/officeDocument/2006/relationships/theme" Target="../theme/theme6.xml"/><Relationship Id="rId15" Type="http://schemas.openxmlformats.org/officeDocument/2006/relationships/image" Target="../media/image1.jpeg"/><Relationship Id="rId14" Type="http://schemas.openxmlformats.org/officeDocument/2006/relationships/slideLayout" Target="../slideLayouts/slideLayout74.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3.xml"/><Relationship Id="rId8" Type="http://schemas.openxmlformats.org/officeDocument/2006/relationships/slideLayout" Target="../slideLayouts/slideLayout82.xml"/><Relationship Id="rId7" Type="http://schemas.openxmlformats.org/officeDocument/2006/relationships/slideLayout" Target="../slideLayouts/slideLayout81.xml"/><Relationship Id="rId6" Type="http://schemas.openxmlformats.org/officeDocument/2006/relationships/slideLayout" Target="../slideLayouts/slideLayout80.xml"/><Relationship Id="rId5" Type="http://schemas.openxmlformats.org/officeDocument/2006/relationships/slideLayout" Target="../slideLayouts/slideLayout79.xml"/><Relationship Id="rId4" Type="http://schemas.openxmlformats.org/officeDocument/2006/relationships/slideLayout" Target="../slideLayouts/slideLayout78.xml"/><Relationship Id="rId3" Type="http://schemas.openxmlformats.org/officeDocument/2006/relationships/slideLayout" Target="../slideLayouts/slideLayout77.xml"/><Relationship Id="rId2" Type="http://schemas.openxmlformats.org/officeDocument/2006/relationships/slideLayout" Target="../slideLayouts/slideLayout76.xml"/><Relationship Id="rId13" Type="http://schemas.openxmlformats.org/officeDocument/2006/relationships/theme" Target="../theme/theme7.xml"/><Relationship Id="rId12" Type="http://schemas.openxmlformats.org/officeDocument/2006/relationships/image" Target="../media/image2.jpeg"/><Relationship Id="rId11" Type="http://schemas.openxmlformats.org/officeDocument/2006/relationships/slideLayout" Target="../slideLayouts/slideLayout85.xml"/><Relationship Id="rId10" Type="http://schemas.openxmlformats.org/officeDocument/2006/relationships/slideLayout" Target="../slideLayouts/slideLayout84.xml"/><Relationship Id="rId1"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4.xml"/><Relationship Id="rId8" Type="http://schemas.openxmlformats.org/officeDocument/2006/relationships/slideLayout" Target="../slideLayouts/slideLayout93.xml"/><Relationship Id="rId7" Type="http://schemas.openxmlformats.org/officeDocument/2006/relationships/slideLayout" Target="../slideLayouts/slideLayout92.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 Id="rId3" Type="http://schemas.openxmlformats.org/officeDocument/2006/relationships/slideLayout" Target="../slideLayouts/slideLayout88.xml"/><Relationship Id="rId2" Type="http://schemas.openxmlformats.org/officeDocument/2006/relationships/slideLayout" Target="../slideLayouts/slideLayout87.xml"/><Relationship Id="rId14" Type="http://schemas.openxmlformats.org/officeDocument/2006/relationships/theme" Target="../theme/theme8.xml"/><Relationship Id="rId13" Type="http://schemas.openxmlformats.org/officeDocument/2006/relationships/image" Target="../media/image1.jpeg"/><Relationship Id="rId12" Type="http://schemas.openxmlformats.org/officeDocument/2006/relationships/slideLayout" Target="../slideLayouts/slideLayout97.xml"/><Relationship Id="rId11" Type="http://schemas.openxmlformats.org/officeDocument/2006/relationships/slideLayout" Target="../slideLayouts/slideLayout96.xml"/><Relationship Id="rId10" Type="http://schemas.openxmlformats.org/officeDocument/2006/relationships/slideLayout" Target="../slideLayouts/slideLayout95.xml"/><Relationship Id="rId1"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06.xml"/><Relationship Id="rId8" Type="http://schemas.openxmlformats.org/officeDocument/2006/relationships/slideLayout" Target="../slideLayouts/slideLayout105.xml"/><Relationship Id="rId7" Type="http://schemas.openxmlformats.org/officeDocument/2006/relationships/slideLayout" Target="../slideLayouts/slideLayout104.xml"/><Relationship Id="rId6" Type="http://schemas.openxmlformats.org/officeDocument/2006/relationships/slideLayout" Target="../slideLayouts/slideLayout103.xml"/><Relationship Id="rId5" Type="http://schemas.openxmlformats.org/officeDocument/2006/relationships/slideLayout" Target="../slideLayouts/slideLayout102.xml"/><Relationship Id="rId4" Type="http://schemas.openxmlformats.org/officeDocument/2006/relationships/slideLayout" Target="../slideLayouts/slideLayout101.xml"/><Relationship Id="rId3" Type="http://schemas.openxmlformats.org/officeDocument/2006/relationships/slideLayout" Target="../slideLayouts/slideLayout100.xml"/><Relationship Id="rId2" Type="http://schemas.openxmlformats.org/officeDocument/2006/relationships/slideLayout" Target="../slideLayouts/slideLayout99.xml"/><Relationship Id="rId14" Type="http://schemas.openxmlformats.org/officeDocument/2006/relationships/theme" Target="../theme/theme9.xml"/><Relationship Id="rId13" Type="http://schemas.openxmlformats.org/officeDocument/2006/relationships/image" Target="../media/image1.jpeg"/><Relationship Id="rId12" Type="http://schemas.openxmlformats.org/officeDocument/2006/relationships/slideLayout" Target="../slideLayouts/slideLayout109.xml"/><Relationship Id="rId11" Type="http://schemas.openxmlformats.org/officeDocument/2006/relationships/slideLayout" Target="../slideLayouts/slideLayout108.xml"/><Relationship Id="rId10" Type="http://schemas.openxmlformats.org/officeDocument/2006/relationships/slideLayout" Target="../slideLayouts/slideLayout107.xml"/><Relationship Id="rId1" Type="http://schemas.openxmlformats.org/officeDocument/2006/relationships/slideLayout" Target="../slideLayouts/slideLayout98.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4" Type="http://schemas.openxmlformats.org/officeDocument/2006/relationships/theme" Target="../theme/theme10.xml"/><Relationship Id="rId13" Type="http://schemas.openxmlformats.org/officeDocument/2006/relationships/image" Target="../media/image1.jpeg"/><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050" name="Rectangle 3"/>
          <p:cNvSpPr>
            <a:spLocks noGrp="1"/>
          </p:cNvSpPr>
          <p:nvPr>
            <p:ph type="body" idx="1"/>
          </p:nvPr>
        </p:nvSpPr>
        <p:spPr>
          <a:xfrm>
            <a:off x="457200" y="1447800"/>
            <a:ext cx="8229600" cy="48006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3074"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4098"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5122"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6146"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7170" name="Rectangle 3"/>
          <p:cNvSpPr>
            <a:spLocks noGrp="1"/>
          </p:cNvSpPr>
          <p:nvPr>
            <p:ph type="body" idx="1"/>
          </p:nvPr>
        </p:nvSpPr>
        <p:spPr>
          <a:xfrm>
            <a:off x="457200" y="1447800"/>
            <a:ext cx="8229600" cy="48006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171" name="Rectangle 2"/>
          <p:cNvSpPr>
            <a:spLocks noGrp="1"/>
          </p:cNvSpPr>
          <p:nvPr>
            <p:ph type="title"/>
          </p:nvPr>
        </p:nvSpPr>
        <p:spPr>
          <a:xfrm>
            <a:off x="457200" y="533400"/>
            <a:ext cx="7696200" cy="563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8194"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9218"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42"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e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tags" Target="../tags/tag3.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tags" Target="../tags/tag7.xml"/><Relationship Id="rId2" Type="http://schemas.openxmlformats.org/officeDocument/2006/relationships/image" Target="../media/image5.png"/><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6" Type="http://schemas.openxmlformats.org/officeDocument/2006/relationships/slideLayout" Target="../slideLayouts/slideLayout2.xml"/><Relationship Id="rId15" Type="http://schemas.openxmlformats.org/officeDocument/2006/relationships/image" Target="../media/image13.png"/><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0" Type="http://schemas.openxmlformats.org/officeDocument/2006/relationships/slideLayout" Target="../slideLayouts/slideLayout2.xml"/><Relationship Id="rId3" Type="http://schemas.openxmlformats.org/officeDocument/2006/relationships/tags" Target="../tags/tag25.xml"/><Relationship Id="rId29" Type="http://schemas.openxmlformats.org/officeDocument/2006/relationships/image" Target="../media/image14.png"/><Relationship Id="rId28" Type="http://schemas.openxmlformats.org/officeDocument/2006/relationships/tags" Target="../tags/tag50.xml"/><Relationship Id="rId27" Type="http://schemas.openxmlformats.org/officeDocument/2006/relationships/tags" Target="../tags/tag49.xml"/><Relationship Id="rId26" Type="http://schemas.openxmlformats.org/officeDocument/2006/relationships/tags" Target="../tags/tag48.xml"/><Relationship Id="rId25" Type="http://schemas.openxmlformats.org/officeDocument/2006/relationships/tags" Target="../tags/tag47.xml"/><Relationship Id="rId24" Type="http://schemas.openxmlformats.org/officeDocument/2006/relationships/tags" Target="../tags/tag46.xml"/><Relationship Id="rId23" Type="http://schemas.openxmlformats.org/officeDocument/2006/relationships/tags" Target="../tags/tag45.xml"/><Relationship Id="rId22" Type="http://schemas.openxmlformats.org/officeDocument/2006/relationships/tags" Target="../tags/tag44.xml"/><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tags" Target="../tags/tag24.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2" Type="http://schemas.openxmlformats.org/officeDocument/2006/relationships/slideLayout" Target="../slideLayouts/slideLayout2.xml"/><Relationship Id="rId41" Type="http://schemas.openxmlformats.org/officeDocument/2006/relationships/image" Target="../media/image15.png"/><Relationship Id="rId40" Type="http://schemas.openxmlformats.org/officeDocument/2006/relationships/tags" Target="../tags/tag90.xml"/><Relationship Id="rId4" Type="http://schemas.openxmlformats.org/officeDocument/2006/relationships/tags" Target="../tags/tag54.xml"/><Relationship Id="rId39" Type="http://schemas.openxmlformats.org/officeDocument/2006/relationships/tags" Target="../tags/tag89.xml"/><Relationship Id="rId38" Type="http://schemas.openxmlformats.org/officeDocument/2006/relationships/tags" Target="../tags/tag88.xml"/><Relationship Id="rId37" Type="http://schemas.openxmlformats.org/officeDocument/2006/relationships/tags" Target="../tags/tag87.xml"/><Relationship Id="rId36" Type="http://schemas.openxmlformats.org/officeDocument/2006/relationships/tags" Target="../tags/tag86.xml"/><Relationship Id="rId35" Type="http://schemas.openxmlformats.org/officeDocument/2006/relationships/tags" Target="../tags/tag85.xml"/><Relationship Id="rId34" Type="http://schemas.openxmlformats.org/officeDocument/2006/relationships/tags" Target="../tags/tag84.xml"/><Relationship Id="rId33" Type="http://schemas.openxmlformats.org/officeDocument/2006/relationships/tags" Target="../tags/tag83.xml"/><Relationship Id="rId32" Type="http://schemas.openxmlformats.org/officeDocument/2006/relationships/tags" Target="../tags/tag82.xml"/><Relationship Id="rId31" Type="http://schemas.openxmlformats.org/officeDocument/2006/relationships/tags" Target="../tags/tag81.xml"/><Relationship Id="rId30" Type="http://schemas.openxmlformats.org/officeDocument/2006/relationships/tags" Target="../tags/tag80.xml"/><Relationship Id="rId3" Type="http://schemas.openxmlformats.org/officeDocument/2006/relationships/tags" Target="../tags/tag53.xml"/><Relationship Id="rId29" Type="http://schemas.openxmlformats.org/officeDocument/2006/relationships/tags" Target="../tags/tag79.xml"/><Relationship Id="rId28" Type="http://schemas.openxmlformats.org/officeDocument/2006/relationships/tags" Target="../tags/tag78.xml"/><Relationship Id="rId27" Type="http://schemas.openxmlformats.org/officeDocument/2006/relationships/tags" Target="../tags/tag77.xml"/><Relationship Id="rId26" Type="http://schemas.openxmlformats.org/officeDocument/2006/relationships/tags" Target="../tags/tag76.xml"/><Relationship Id="rId25" Type="http://schemas.openxmlformats.org/officeDocument/2006/relationships/tags" Target="../tags/tag75.xml"/><Relationship Id="rId24" Type="http://schemas.openxmlformats.org/officeDocument/2006/relationships/tags" Target="../tags/tag74.xml"/><Relationship Id="rId23" Type="http://schemas.openxmlformats.org/officeDocument/2006/relationships/tags" Target="../tags/tag73.xml"/><Relationship Id="rId22" Type="http://schemas.openxmlformats.org/officeDocument/2006/relationships/tags" Target="../tags/tag72.xml"/><Relationship Id="rId21" Type="http://schemas.openxmlformats.org/officeDocument/2006/relationships/tags" Target="../tags/tag71.xml"/><Relationship Id="rId20" Type="http://schemas.openxmlformats.org/officeDocument/2006/relationships/tags" Target="../tags/tag70.xml"/><Relationship Id="rId2" Type="http://schemas.openxmlformats.org/officeDocument/2006/relationships/tags" Target="../tags/tag52.xml"/><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tags" Target="../tags/tag65.xml"/><Relationship Id="rId14" Type="http://schemas.openxmlformats.org/officeDocument/2006/relationships/tags" Target="../tags/tag64.xml"/><Relationship Id="rId13" Type="http://schemas.openxmlformats.org/officeDocument/2006/relationships/tags" Target="../tags/tag63.xml"/><Relationship Id="rId12" Type="http://schemas.openxmlformats.org/officeDocument/2006/relationships/tags" Target="../tags/tag62.xml"/><Relationship Id="rId11" Type="http://schemas.openxmlformats.org/officeDocument/2006/relationships/tags" Target="../tags/tag61.xml"/><Relationship Id="rId10" Type="http://schemas.openxmlformats.org/officeDocument/2006/relationships/tags" Target="../tags/tag60.xml"/><Relationship Id="rId1" Type="http://schemas.openxmlformats.org/officeDocument/2006/relationships/tags" Target="../tags/tag51.xml"/></Relationships>
</file>

<file path=ppt/slides/_rels/slide24.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7" Type="http://schemas.openxmlformats.org/officeDocument/2006/relationships/slideLayout" Target="../slideLayouts/slideLayout2.xml"/><Relationship Id="rId46" Type="http://schemas.openxmlformats.org/officeDocument/2006/relationships/image" Target="../media/image16.png"/><Relationship Id="rId45" Type="http://schemas.openxmlformats.org/officeDocument/2006/relationships/tags" Target="../tags/tag135.xml"/><Relationship Id="rId44" Type="http://schemas.openxmlformats.org/officeDocument/2006/relationships/tags" Target="../tags/tag134.xml"/><Relationship Id="rId43" Type="http://schemas.openxmlformats.org/officeDocument/2006/relationships/tags" Target="../tags/tag133.xml"/><Relationship Id="rId42" Type="http://schemas.openxmlformats.org/officeDocument/2006/relationships/tags" Target="../tags/tag132.xml"/><Relationship Id="rId41" Type="http://schemas.openxmlformats.org/officeDocument/2006/relationships/tags" Target="../tags/tag131.xml"/><Relationship Id="rId40" Type="http://schemas.openxmlformats.org/officeDocument/2006/relationships/tags" Target="../tags/tag130.xml"/><Relationship Id="rId4" Type="http://schemas.openxmlformats.org/officeDocument/2006/relationships/tags" Target="../tags/tag94.xml"/><Relationship Id="rId39" Type="http://schemas.openxmlformats.org/officeDocument/2006/relationships/tags" Target="../tags/tag129.xml"/><Relationship Id="rId38" Type="http://schemas.openxmlformats.org/officeDocument/2006/relationships/tags" Target="../tags/tag128.xml"/><Relationship Id="rId37" Type="http://schemas.openxmlformats.org/officeDocument/2006/relationships/tags" Target="../tags/tag127.xml"/><Relationship Id="rId36" Type="http://schemas.openxmlformats.org/officeDocument/2006/relationships/tags" Target="../tags/tag126.xml"/><Relationship Id="rId35" Type="http://schemas.openxmlformats.org/officeDocument/2006/relationships/tags" Target="../tags/tag125.xml"/><Relationship Id="rId34" Type="http://schemas.openxmlformats.org/officeDocument/2006/relationships/tags" Target="../tags/tag124.xml"/><Relationship Id="rId33" Type="http://schemas.openxmlformats.org/officeDocument/2006/relationships/tags" Target="../tags/tag123.xml"/><Relationship Id="rId32" Type="http://schemas.openxmlformats.org/officeDocument/2006/relationships/tags" Target="../tags/tag122.xml"/><Relationship Id="rId31" Type="http://schemas.openxmlformats.org/officeDocument/2006/relationships/tags" Target="../tags/tag121.xml"/><Relationship Id="rId30" Type="http://schemas.openxmlformats.org/officeDocument/2006/relationships/tags" Target="../tags/tag120.xml"/><Relationship Id="rId3" Type="http://schemas.openxmlformats.org/officeDocument/2006/relationships/tags" Target="../tags/tag93.xml"/><Relationship Id="rId29" Type="http://schemas.openxmlformats.org/officeDocument/2006/relationships/tags" Target="../tags/tag119.xml"/><Relationship Id="rId28" Type="http://schemas.openxmlformats.org/officeDocument/2006/relationships/tags" Target="../tags/tag118.xml"/><Relationship Id="rId27" Type="http://schemas.openxmlformats.org/officeDocument/2006/relationships/tags" Target="../tags/tag117.xml"/><Relationship Id="rId26" Type="http://schemas.openxmlformats.org/officeDocument/2006/relationships/tags" Target="../tags/tag116.xml"/><Relationship Id="rId25" Type="http://schemas.openxmlformats.org/officeDocument/2006/relationships/tags" Target="../tags/tag115.xml"/><Relationship Id="rId24" Type="http://schemas.openxmlformats.org/officeDocument/2006/relationships/tags" Target="../tags/tag114.xml"/><Relationship Id="rId23" Type="http://schemas.openxmlformats.org/officeDocument/2006/relationships/tags" Target="../tags/tag113.xml"/><Relationship Id="rId22" Type="http://schemas.openxmlformats.org/officeDocument/2006/relationships/tags" Target="../tags/tag112.xml"/><Relationship Id="rId21" Type="http://schemas.openxmlformats.org/officeDocument/2006/relationships/tags" Target="../tags/tag111.xml"/><Relationship Id="rId20" Type="http://schemas.openxmlformats.org/officeDocument/2006/relationships/tags" Target="../tags/tag110.xml"/><Relationship Id="rId2" Type="http://schemas.openxmlformats.org/officeDocument/2006/relationships/tags" Target="../tags/tag92.xml"/><Relationship Id="rId19" Type="http://schemas.openxmlformats.org/officeDocument/2006/relationships/tags" Target="../tags/tag109.xml"/><Relationship Id="rId18" Type="http://schemas.openxmlformats.org/officeDocument/2006/relationships/tags" Target="../tags/tag108.xml"/><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29.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9" Type="http://schemas.openxmlformats.org/officeDocument/2006/relationships/slideLayout" Target="../slideLayouts/slideLayout2.xml"/><Relationship Id="rId38" Type="http://schemas.openxmlformats.org/officeDocument/2006/relationships/tags" Target="../tags/tag177.xml"/><Relationship Id="rId37" Type="http://schemas.openxmlformats.org/officeDocument/2006/relationships/tags" Target="../tags/tag176.xml"/><Relationship Id="rId36" Type="http://schemas.openxmlformats.org/officeDocument/2006/relationships/tags" Target="../tags/tag175.xml"/><Relationship Id="rId35" Type="http://schemas.openxmlformats.org/officeDocument/2006/relationships/tags" Target="../tags/tag174.xml"/><Relationship Id="rId34" Type="http://schemas.openxmlformats.org/officeDocument/2006/relationships/tags" Target="../tags/tag173.xml"/><Relationship Id="rId33" Type="http://schemas.openxmlformats.org/officeDocument/2006/relationships/tags" Target="../tags/tag172.xml"/><Relationship Id="rId32" Type="http://schemas.openxmlformats.org/officeDocument/2006/relationships/tags" Target="../tags/tag171.xml"/><Relationship Id="rId31" Type="http://schemas.openxmlformats.org/officeDocument/2006/relationships/tags" Target="../tags/tag170.xml"/><Relationship Id="rId30" Type="http://schemas.openxmlformats.org/officeDocument/2006/relationships/tags" Target="../tags/tag169.xml"/><Relationship Id="rId3" Type="http://schemas.openxmlformats.org/officeDocument/2006/relationships/tags" Target="../tags/tag142.xml"/><Relationship Id="rId29" Type="http://schemas.openxmlformats.org/officeDocument/2006/relationships/tags" Target="../tags/tag168.xml"/><Relationship Id="rId28" Type="http://schemas.openxmlformats.org/officeDocument/2006/relationships/tags" Target="../tags/tag167.xml"/><Relationship Id="rId27" Type="http://schemas.openxmlformats.org/officeDocument/2006/relationships/tags" Target="../tags/tag166.xml"/><Relationship Id="rId26" Type="http://schemas.openxmlformats.org/officeDocument/2006/relationships/tags" Target="../tags/tag165.xml"/><Relationship Id="rId25" Type="http://schemas.openxmlformats.org/officeDocument/2006/relationships/tags" Target="../tags/tag164.xml"/><Relationship Id="rId24" Type="http://schemas.openxmlformats.org/officeDocument/2006/relationships/tags" Target="../tags/tag163.xml"/><Relationship Id="rId23" Type="http://schemas.openxmlformats.org/officeDocument/2006/relationships/tags" Target="../tags/tag162.xml"/><Relationship Id="rId22" Type="http://schemas.openxmlformats.org/officeDocument/2006/relationships/tags" Target="../tags/tag161.xml"/><Relationship Id="rId21" Type="http://schemas.openxmlformats.org/officeDocument/2006/relationships/tags" Target="../tags/tag160.xml"/><Relationship Id="rId20" Type="http://schemas.openxmlformats.org/officeDocument/2006/relationships/tags" Target="../tags/tag159.xml"/><Relationship Id="rId2" Type="http://schemas.openxmlformats.org/officeDocument/2006/relationships/tags" Target="../tags/tag141.xml"/><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tags" Target="../tags/tag14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tags" Target="../tags/tag183.xml"/><Relationship Id="rId4" Type="http://schemas.openxmlformats.org/officeDocument/2006/relationships/image" Target="../media/image17.wmf"/><Relationship Id="rId3" Type="http://schemas.openxmlformats.org/officeDocument/2006/relationships/oleObject" Target="../embeddings/oleObject2.bin"/><Relationship Id="rId2" Type="http://schemas.openxmlformats.org/officeDocument/2006/relationships/tags" Target="../tags/tag182.xml"/><Relationship Id="rId1" Type="http://schemas.openxmlformats.org/officeDocument/2006/relationships/tags" Target="../tags/tag181.xml"/></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tags" Target="../tags/tag187.xml"/><Relationship Id="rId7" Type="http://schemas.openxmlformats.org/officeDocument/2006/relationships/image" Target="../media/image20.wmf"/><Relationship Id="rId6" Type="http://schemas.openxmlformats.org/officeDocument/2006/relationships/oleObject" Target="../embeddings/oleObject4.bin"/><Relationship Id="rId5" Type="http://schemas.openxmlformats.org/officeDocument/2006/relationships/tags" Target="../tags/tag186.xml"/><Relationship Id="rId4" Type="http://schemas.openxmlformats.org/officeDocument/2006/relationships/image" Target="../media/image19.wmf"/><Relationship Id="rId3" Type="http://schemas.openxmlformats.org/officeDocument/2006/relationships/oleObject" Target="../embeddings/oleObject3.bin"/><Relationship Id="rId2" Type="http://schemas.openxmlformats.org/officeDocument/2006/relationships/tags" Target="../tags/tag185.xml"/><Relationship Id="rId19" Type="http://schemas.openxmlformats.org/officeDocument/2006/relationships/vmlDrawing" Target="../drawings/vmlDrawing3.vml"/><Relationship Id="rId18" Type="http://schemas.openxmlformats.org/officeDocument/2006/relationships/slideLayout" Target="../slideLayouts/slideLayout2.xml"/><Relationship Id="rId17" Type="http://schemas.openxmlformats.org/officeDocument/2006/relationships/tags" Target="../tags/tag190.xml"/><Relationship Id="rId16" Type="http://schemas.openxmlformats.org/officeDocument/2006/relationships/image" Target="../media/image23.wmf"/><Relationship Id="rId15" Type="http://schemas.openxmlformats.org/officeDocument/2006/relationships/oleObject" Target="../embeddings/oleObject7.bin"/><Relationship Id="rId14" Type="http://schemas.openxmlformats.org/officeDocument/2006/relationships/tags" Target="../tags/tag189.xml"/><Relationship Id="rId13" Type="http://schemas.openxmlformats.org/officeDocument/2006/relationships/image" Target="../media/image22.wmf"/><Relationship Id="rId12" Type="http://schemas.openxmlformats.org/officeDocument/2006/relationships/oleObject" Target="../embeddings/oleObject6.bin"/><Relationship Id="rId11" Type="http://schemas.openxmlformats.org/officeDocument/2006/relationships/tags" Target="../tags/tag188.xml"/><Relationship Id="rId10" Type="http://schemas.openxmlformats.org/officeDocument/2006/relationships/image" Target="../media/image21.wmf"/><Relationship Id="rId1" Type="http://schemas.openxmlformats.org/officeDocument/2006/relationships/tags" Target="../tags/tag18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1.xml"/></Relationships>
</file>

<file path=ppt/slides/_rels/slide37.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image" Target="../media/image25.wmf"/><Relationship Id="rId6" Type="http://schemas.openxmlformats.org/officeDocument/2006/relationships/oleObject" Target="../embeddings/oleObject9.bin"/><Relationship Id="rId5" Type="http://schemas.openxmlformats.org/officeDocument/2006/relationships/tags" Target="../tags/tag194.xml"/><Relationship Id="rId4" Type="http://schemas.openxmlformats.org/officeDocument/2006/relationships/image" Target="../media/image24.wmf"/><Relationship Id="rId3" Type="http://schemas.openxmlformats.org/officeDocument/2006/relationships/oleObject" Target="../embeddings/oleObject8.bin"/><Relationship Id="rId2" Type="http://schemas.openxmlformats.org/officeDocument/2006/relationships/tags" Target="../tags/tag193.xml"/><Relationship Id="rId1" Type="http://schemas.openxmlformats.org/officeDocument/2006/relationships/tags" Target="../tags/tag19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5.xml"/></Relationships>
</file>

<file path=ppt/slides/_rels/slide39.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image" Target="../media/image27.wmf"/><Relationship Id="rId6" Type="http://schemas.openxmlformats.org/officeDocument/2006/relationships/oleObject" Target="../embeddings/oleObject11.bin"/><Relationship Id="rId5" Type="http://schemas.openxmlformats.org/officeDocument/2006/relationships/tags" Target="../tags/tag198.xml"/><Relationship Id="rId4" Type="http://schemas.openxmlformats.org/officeDocument/2006/relationships/image" Target="../media/image26.wmf"/><Relationship Id="rId3" Type="http://schemas.openxmlformats.org/officeDocument/2006/relationships/oleObject" Target="../embeddings/oleObject10.bin"/><Relationship Id="rId2" Type="http://schemas.openxmlformats.org/officeDocument/2006/relationships/tags" Target="../tags/tag197.xml"/><Relationship Id="rId1" Type="http://schemas.openxmlformats.org/officeDocument/2006/relationships/tags" Target="../tags/tag196.xml"/></Relationships>
</file>

<file path=ppt/slides/_rels/slide40.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image" Target="../media/image29.wmf"/><Relationship Id="rId6" Type="http://schemas.openxmlformats.org/officeDocument/2006/relationships/oleObject" Target="../embeddings/oleObject13.bin"/><Relationship Id="rId5" Type="http://schemas.openxmlformats.org/officeDocument/2006/relationships/tags" Target="../tags/tag201.xml"/><Relationship Id="rId4" Type="http://schemas.openxmlformats.org/officeDocument/2006/relationships/image" Target="../media/image28.wmf"/><Relationship Id="rId3" Type="http://schemas.openxmlformats.org/officeDocument/2006/relationships/oleObject" Target="../embeddings/oleObject12.bin"/><Relationship Id="rId2" Type="http://schemas.openxmlformats.org/officeDocument/2006/relationships/tags" Target="../tags/tag200.xml"/><Relationship Id="rId1" Type="http://schemas.openxmlformats.org/officeDocument/2006/relationships/tags" Target="../tags/tag199.xml"/></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tags" Target="../tags/tag205.xml"/><Relationship Id="rId7" Type="http://schemas.openxmlformats.org/officeDocument/2006/relationships/image" Target="../media/image31.wmf"/><Relationship Id="rId6" Type="http://schemas.openxmlformats.org/officeDocument/2006/relationships/oleObject" Target="../embeddings/oleObject15.bin"/><Relationship Id="rId5" Type="http://schemas.openxmlformats.org/officeDocument/2006/relationships/tags" Target="../tags/tag204.xml"/><Relationship Id="rId4" Type="http://schemas.openxmlformats.org/officeDocument/2006/relationships/image" Target="../media/image30.wmf"/><Relationship Id="rId3" Type="http://schemas.openxmlformats.org/officeDocument/2006/relationships/oleObject" Target="../embeddings/oleObject14.bin"/><Relationship Id="rId2" Type="http://schemas.openxmlformats.org/officeDocument/2006/relationships/tags" Target="../tags/tag203.xml"/><Relationship Id="rId12" Type="http://schemas.openxmlformats.org/officeDocument/2006/relationships/vmlDrawing" Target="../drawings/vmlDrawing7.vml"/><Relationship Id="rId11" Type="http://schemas.openxmlformats.org/officeDocument/2006/relationships/slideLayout" Target="../slideLayouts/slideLayout2.xml"/><Relationship Id="rId10" Type="http://schemas.openxmlformats.org/officeDocument/2006/relationships/image" Target="../media/image32.wmf"/><Relationship Id="rId1" Type="http://schemas.openxmlformats.org/officeDocument/2006/relationships/tags" Target="../tags/tag20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10.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tags" Target="../tags/tag2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image" Target="../media/image38.wmf"/><Relationship Id="rId5" Type="http://schemas.openxmlformats.org/officeDocument/2006/relationships/oleObject" Target="../embeddings/oleObject18.bin"/><Relationship Id="rId4" Type="http://schemas.openxmlformats.org/officeDocument/2006/relationships/tags" Target="../tags/tag213.xml"/><Relationship Id="rId3" Type="http://schemas.openxmlformats.org/officeDocument/2006/relationships/image" Target="../media/image37.wmf"/><Relationship Id="rId2" Type="http://schemas.openxmlformats.org/officeDocument/2006/relationships/oleObject" Target="../embeddings/oleObject17.bin"/><Relationship Id="rId1" Type="http://schemas.openxmlformats.org/officeDocument/2006/relationships/tags" Target="../tags/tag2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39.wmf"/><Relationship Id="rId2" Type="http://schemas.openxmlformats.org/officeDocument/2006/relationships/oleObject" Target="../embeddings/oleObject19.bin"/><Relationship Id="rId1" Type="http://schemas.openxmlformats.org/officeDocument/2006/relationships/tags" Target="../tags/tag2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tags" Target="../tags/tag215.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7.xml"/><Relationship Id="rId1" Type="http://schemas.openxmlformats.org/officeDocument/2006/relationships/tags" Target="../tags/tag216.xml"/></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tags" Target="../tags/tag220.xml"/><Relationship Id="rId3" Type="http://schemas.openxmlformats.org/officeDocument/2006/relationships/image" Target="../media/image41.png"/><Relationship Id="rId2" Type="http://schemas.openxmlformats.org/officeDocument/2006/relationships/tags" Target="../tags/tag219.xml"/><Relationship Id="rId1" Type="http://schemas.openxmlformats.org/officeDocument/2006/relationships/tags" Target="../tags/tag218.xml"/></Relationships>
</file>

<file path=ppt/slides/_rels/slide7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tags" Target="../tags/tag223.xml"/><Relationship Id="rId3" Type="http://schemas.openxmlformats.org/officeDocument/2006/relationships/image" Target="../media/image43.png"/><Relationship Id="rId2" Type="http://schemas.openxmlformats.org/officeDocument/2006/relationships/tags" Target="../tags/tag222.xml"/><Relationship Id="rId1" Type="http://schemas.openxmlformats.org/officeDocument/2006/relationships/tags" Target="../tags/tag221.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png"/><Relationship Id="rId2" Type="http://schemas.openxmlformats.org/officeDocument/2006/relationships/tags" Target="../tags/tag225.xml"/><Relationship Id="rId1" Type="http://schemas.openxmlformats.org/officeDocument/2006/relationships/tags" Target="../tags/tag224.xml"/></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6.png"/><Relationship Id="rId3" Type="http://schemas.openxmlformats.org/officeDocument/2006/relationships/tags" Target="../tags/tag228.xml"/><Relationship Id="rId2" Type="http://schemas.openxmlformats.org/officeDocument/2006/relationships/tags" Target="../tags/tag227.xml"/><Relationship Id="rId1" Type="http://schemas.openxmlformats.org/officeDocument/2006/relationships/tags" Target="../tags/tag22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0.xml"/><Relationship Id="rId1" Type="http://schemas.openxmlformats.org/officeDocument/2006/relationships/tags" Target="../tags/tag229.xml"/></Relationships>
</file>

<file path=ppt/slides/_rels/slide77.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47.wmf"/><Relationship Id="rId2" Type="http://schemas.openxmlformats.org/officeDocument/2006/relationships/oleObject" Target="../embeddings/oleObject20.bin"/><Relationship Id="rId1" Type="http://schemas.openxmlformats.org/officeDocument/2006/relationships/tags" Target="../tags/tag23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image" Target="../media/image52.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43205" y="1917065"/>
            <a:ext cx="8632825" cy="1599565"/>
          </a:xfrm>
          <a:prstGeom prst="rect">
            <a:avLst/>
          </a:prstGeom>
          <a:noFill/>
        </p:spPr>
        <p:txBody>
          <a:bodyPr wrap="square" rtlCol="0" ancho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rPr>
              <a:t>计算机系统结构</a:t>
            </a:r>
            <a:endPar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计算机系统结构</a:t>
            </a:r>
            <a:endParaRPr lang="zh-CN" altLang="en-US" dirty="0"/>
          </a:p>
        </p:txBody>
      </p:sp>
      <p:sp>
        <p:nvSpPr>
          <p:cNvPr id="3" name="内容占位符 2"/>
          <p:cNvSpPr>
            <a:spLocks noGrp="1"/>
          </p:cNvSpPr>
          <p:nvPr>
            <p:ph idx="1"/>
          </p:nvPr>
        </p:nvSpPr>
        <p:spPr/>
        <p:txBody>
          <a:bodyPr/>
          <a:lstStyle/>
          <a:p>
            <a:pPr marL="0" lvl="0" indent="0" eaLnBrk="1" hangingPunct="1"/>
            <a:r>
              <a:rPr lang="zh-CN" altLang="en-US" sz="2400" dirty="0">
                <a:solidFill>
                  <a:srgbClr val="CC3300"/>
                </a:solidFill>
                <a:latin typeface="宋体" panose="02010600030101010101" pitchFamily="2" charset="-122"/>
              </a:rPr>
              <a:t>第一章  基本概念</a:t>
            </a:r>
            <a:endParaRPr lang="zh-CN" altLang="en-US" sz="2400" dirty="0">
              <a:solidFill>
                <a:srgbClr val="CC3300"/>
              </a:solidFill>
              <a:latin typeface="宋体" panose="02010600030101010101" pitchFamily="2" charset="-122"/>
            </a:endParaRPr>
          </a:p>
          <a:p>
            <a:pPr marL="0" lvl="0" indent="0" eaLnBrk="1" hangingPunct="1"/>
            <a:r>
              <a:rPr lang="zh-CN" altLang="en-US" sz="2400" dirty="0">
                <a:latin typeface="宋体" panose="02010600030101010101" pitchFamily="2" charset="-122"/>
              </a:rPr>
              <a:t>第二章  指令系统**</a:t>
            </a:r>
            <a:endParaRPr lang="zh-CN" altLang="en-US" sz="2400" dirty="0">
              <a:latin typeface="宋体" panose="02010600030101010101" pitchFamily="2" charset="-122"/>
            </a:endParaRPr>
          </a:p>
          <a:p>
            <a:pPr marL="0" lvl="0" indent="0" eaLnBrk="1" hangingPunct="1"/>
            <a:r>
              <a:rPr lang="zh-CN" altLang="en-US" sz="2400" dirty="0">
                <a:latin typeface="宋体" panose="02010600030101010101" pitchFamily="2" charset="-122"/>
              </a:rPr>
              <a:t>第三章  存储系统</a:t>
            </a:r>
            <a:endParaRPr lang="zh-CN" altLang="en-US" sz="2400" dirty="0">
              <a:latin typeface="宋体" panose="02010600030101010101" pitchFamily="2" charset="-122"/>
            </a:endParaRPr>
          </a:p>
          <a:p>
            <a:pPr marL="0" lvl="0" indent="0" eaLnBrk="1" hangingPunct="1"/>
            <a:r>
              <a:rPr lang="zh-CN" altLang="en-US" sz="2400" dirty="0">
                <a:latin typeface="宋体" panose="02010600030101010101" pitchFamily="2" charset="-122"/>
              </a:rPr>
              <a:t>第四章  输入输出系统**</a:t>
            </a:r>
            <a:endParaRPr lang="zh-CN" altLang="en-US" sz="2400" dirty="0">
              <a:latin typeface="宋体" panose="02010600030101010101" pitchFamily="2" charset="-122"/>
            </a:endParaRPr>
          </a:p>
          <a:p>
            <a:pPr marL="0" lvl="0" indent="0" eaLnBrk="1" hangingPunct="1"/>
            <a:r>
              <a:rPr lang="zh-CN" altLang="en-US" sz="2400" dirty="0">
                <a:latin typeface="宋体" panose="02010600030101010101" pitchFamily="2" charset="-122"/>
              </a:rPr>
              <a:t>第五章  标量处理机</a:t>
            </a:r>
            <a:endParaRPr lang="zh-CN" altLang="en-US" sz="2400" dirty="0">
              <a:latin typeface="宋体" panose="02010600030101010101" pitchFamily="2" charset="-122"/>
            </a:endParaRPr>
          </a:p>
          <a:p>
            <a:pPr marL="0" lvl="0" indent="0" eaLnBrk="1" hangingPunct="1"/>
            <a:r>
              <a:rPr lang="zh-CN" altLang="en-US" sz="2400" dirty="0">
                <a:latin typeface="宋体" panose="02010600030101010101" pitchFamily="2" charset="-122"/>
              </a:rPr>
              <a:t>第六章  向量处理机**</a:t>
            </a:r>
            <a:endParaRPr lang="zh-CN" altLang="en-US" sz="2400" dirty="0">
              <a:latin typeface="宋体" panose="02010600030101010101" pitchFamily="2" charset="-122"/>
            </a:endParaRPr>
          </a:p>
          <a:p>
            <a:pPr marL="0" lvl="0" indent="0" eaLnBrk="1" hangingPunct="1"/>
            <a:r>
              <a:rPr lang="zh-CN" altLang="en-US" sz="2400" dirty="0">
                <a:latin typeface="宋体" panose="02010600030101010101" pitchFamily="2" charset="-122"/>
              </a:rPr>
              <a:t>第七章  互连网络</a:t>
            </a:r>
            <a:endParaRPr lang="zh-CN" altLang="en-US" sz="2400" dirty="0">
              <a:latin typeface="宋体" panose="02010600030101010101" pitchFamily="2" charset="-122"/>
            </a:endParaRPr>
          </a:p>
          <a:p>
            <a:pPr marL="0" lvl="0" indent="0" eaLnBrk="1" hangingPunct="1"/>
            <a:r>
              <a:rPr lang="zh-CN" altLang="en-US" sz="2400" dirty="0">
                <a:latin typeface="宋体" panose="02010600030101010101" pitchFamily="2" charset="-122"/>
              </a:rPr>
              <a:t>第八章  并行处理机</a:t>
            </a:r>
            <a:endParaRPr lang="zh-CN" altLang="en-US" sz="2400" dirty="0">
              <a:latin typeface="宋体" panose="02010600030101010101" pitchFamily="2" charset="-122"/>
            </a:endParaRPr>
          </a:p>
          <a:p>
            <a:pPr marL="0" lvl="0" indent="0" eaLnBrk="1" hangingPunct="1"/>
            <a:r>
              <a:rPr lang="zh-CN" altLang="en-US" sz="2400" dirty="0">
                <a:latin typeface="宋体" panose="02010600030101010101" pitchFamily="2" charset="-122"/>
              </a:rPr>
              <a:t>第九章  多处理机</a:t>
            </a:r>
            <a:endParaRPr lang="zh-CN" altLang="en-US" sz="2400" dirty="0">
              <a:latin typeface="宋体" panose="02010600030101010101" pitchFamily="2" charset="-122"/>
            </a:endParaRPr>
          </a:p>
          <a:p>
            <a:endParaRPr lang="zh-CN"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ctrTitle"/>
          </p:nvPr>
        </p:nvSpPr>
        <p:spPr>
          <a:xfrm>
            <a:off x="971550" y="2060575"/>
            <a:ext cx="7772400" cy="1944688"/>
          </a:xfrm>
        </p:spPr>
        <p:txBody>
          <a:bodyPr/>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第1章 基本概念</a:t>
            </a:r>
            <a:endPar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361950" y="266700"/>
            <a:ext cx="7772400" cy="1143000"/>
          </a:xfrm>
          <a:noFill/>
          <a:ln>
            <a:noFill/>
          </a:ln>
        </p:spPr>
        <p:txBody>
          <a:bodyPr/>
          <a:lstStyle/>
          <a:p>
            <a:pPr eaLnBrk="1" hangingPunct="1"/>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本章内容</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723" name="Rectangle 3"/>
          <p:cNvSpPr>
            <a:spLocks noGrp="1"/>
          </p:cNvSpPr>
          <p:nvPr>
            <p:ph idx="1"/>
          </p:nvPr>
        </p:nvSpPr>
        <p:spPr>
          <a:xfrm>
            <a:off x="539750" y="1773238"/>
            <a:ext cx="7848600" cy="3886200"/>
          </a:xfrm>
          <a:noFill/>
          <a:ln>
            <a:noFill/>
          </a:ln>
        </p:spPr>
        <p:txBody>
          <a:bodyPr/>
          <a:lstStyle/>
          <a:p>
            <a:pPr eaLnBrk="1" hangingPunct="1">
              <a:lnSpc>
                <a:spcPct val="140000"/>
              </a:lnSpc>
            </a:pPr>
            <a:r>
              <a:rPr lang="en-US" altLang="zh-CN" dirty="0">
                <a:latin typeface="Times New Roman" panose="02020603050405020304" pitchFamily="18" charset="0"/>
                <a:cs typeface="Times New Roman" panose="02020603050405020304" pitchFamily="18" charset="0"/>
                <a:sym typeface="+mn-ea"/>
              </a:rPr>
              <a:t>1.1 </a:t>
            </a:r>
            <a:r>
              <a:rPr lang="zh-CN" altLang="en-US" dirty="0">
                <a:latin typeface="Times New Roman" panose="02020603050405020304" pitchFamily="18" charset="0"/>
                <a:cs typeface="Times New Roman" panose="02020603050405020304" pitchFamily="18" charset="0"/>
                <a:sym typeface="+mn-ea"/>
              </a:rPr>
              <a:t>计算机系统结构</a:t>
            </a:r>
            <a:endParaRPr lang="zh-CN" altLang="en-US" dirty="0">
              <a:latin typeface="Times New Roman" panose="02020603050405020304" pitchFamily="18" charset="0"/>
              <a:cs typeface="Times New Roman" panose="02020603050405020304" pitchFamily="18" charset="0"/>
            </a:endParaRPr>
          </a:p>
          <a:p>
            <a:pPr eaLnBrk="1" hangingPunct="1">
              <a:lnSpc>
                <a:spcPct val="140000"/>
              </a:lnSpc>
            </a:pPr>
            <a:r>
              <a:rPr lang="en-US" altLang="zh-CN" dirty="0">
                <a:latin typeface="Times New Roman" panose="02020603050405020304" pitchFamily="18" charset="0"/>
                <a:cs typeface="Times New Roman" panose="02020603050405020304" pitchFamily="18" charset="0"/>
                <a:sym typeface="+mn-ea"/>
              </a:rPr>
              <a:t>1.2 </a:t>
            </a:r>
            <a:r>
              <a:rPr lang="zh-CN" altLang="en-US" dirty="0">
                <a:latin typeface="Times New Roman" panose="02020603050405020304" pitchFamily="18" charset="0"/>
                <a:cs typeface="Times New Roman" panose="02020603050405020304" pitchFamily="18" charset="0"/>
                <a:sym typeface="+mn-ea"/>
              </a:rPr>
              <a:t>计算机系统设计技术</a:t>
            </a:r>
            <a:endParaRPr lang="zh-CN" altLang="en-US" dirty="0">
              <a:latin typeface="Times New Roman" panose="02020603050405020304" pitchFamily="18" charset="0"/>
              <a:cs typeface="Times New Roman" panose="02020603050405020304" pitchFamily="18" charset="0"/>
            </a:endParaRPr>
          </a:p>
          <a:p>
            <a:pPr eaLnBrk="1" hangingPunct="1">
              <a:lnSpc>
                <a:spcPct val="140000"/>
              </a:lnSpc>
            </a:pPr>
            <a:r>
              <a:rPr lang="en-US" altLang="zh-CN" dirty="0">
                <a:latin typeface="Times New Roman" panose="02020603050405020304" pitchFamily="18" charset="0"/>
                <a:cs typeface="Times New Roman" panose="02020603050405020304" pitchFamily="18" charset="0"/>
                <a:sym typeface="+mn-ea"/>
              </a:rPr>
              <a:t>1.3 </a:t>
            </a:r>
            <a:r>
              <a:rPr lang="zh-CN" altLang="en-US" dirty="0">
                <a:latin typeface="Times New Roman" panose="02020603050405020304" pitchFamily="18" charset="0"/>
                <a:cs typeface="Times New Roman" panose="02020603050405020304" pitchFamily="18" charset="0"/>
                <a:sym typeface="+mn-ea"/>
              </a:rPr>
              <a:t>系统结构的评价标准</a:t>
            </a:r>
            <a:endParaRPr lang="zh-CN" altLang="en-US" dirty="0">
              <a:latin typeface="Times New Roman" panose="02020603050405020304" pitchFamily="18" charset="0"/>
              <a:cs typeface="Times New Roman" panose="02020603050405020304" pitchFamily="18" charset="0"/>
            </a:endParaRPr>
          </a:p>
          <a:p>
            <a:pPr eaLnBrk="1" hangingPunct="1">
              <a:lnSpc>
                <a:spcPct val="140000"/>
              </a:lnSpc>
            </a:pPr>
            <a:r>
              <a:rPr lang="en-US" altLang="zh-CN" dirty="0">
                <a:latin typeface="Times New Roman" panose="02020603050405020304" pitchFamily="18" charset="0"/>
                <a:cs typeface="Times New Roman" panose="02020603050405020304" pitchFamily="18" charset="0"/>
                <a:sym typeface="+mn-ea"/>
              </a:rPr>
              <a:t>1.4 </a:t>
            </a:r>
            <a:r>
              <a:rPr lang="zh-CN" altLang="en-US" dirty="0">
                <a:latin typeface="Times New Roman" panose="02020603050405020304" pitchFamily="18" charset="0"/>
                <a:cs typeface="Times New Roman" panose="02020603050405020304" pitchFamily="18" charset="0"/>
                <a:sym typeface="+mn-ea"/>
              </a:rPr>
              <a:t>计算机系统结构的发展</a:t>
            </a:r>
            <a:endParaRPr b="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361950" y="266700"/>
            <a:ext cx="8614410" cy="1143000"/>
          </a:xfrm>
          <a:noFill/>
          <a:ln>
            <a:noFill/>
          </a:ln>
        </p:spPr>
        <p:txBody>
          <a:bodyPr/>
          <a:lstStyle/>
          <a:p>
            <a:pPr eaLnBrk="1" hangingPunct="1"/>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1.1 </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计算机系统</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结构的定义</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14722" name="Rectangle 2"/>
          <p:cNvSpPr>
            <a:spLocks noChangeArrowheads="1"/>
          </p:cNvSpPr>
          <p:nvPr/>
        </p:nvSpPr>
        <p:spPr bwMode="auto">
          <a:xfrm>
            <a:off x="394970" y="1188720"/>
            <a:ext cx="8280400" cy="47986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计算机的更新换代</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第一代  电子管计算机</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第二代  晶体管计算机</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第三代  中小规模集成电路</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第四代  大规模集成电路</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第五代  VLSI(超大规模集成电路)</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计算机性能的大幅度提高或更新换代，一方面依靠</a:t>
            </a:r>
            <a:r>
              <a:rPr lang="zh-CN" altLang="en-GB"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器件</a:t>
            </a: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的不断更新，同时也依赖</a:t>
            </a:r>
            <a:r>
              <a:rPr lang="zh-CN" altLang="en-GB"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系统结构</a:t>
            </a: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的不断改进 </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457200" y="274638"/>
            <a:ext cx="8229600" cy="1143000"/>
          </a:xfrm>
          <a:prstGeom prst="rect">
            <a:avLst/>
          </a:prstGeom>
          <a:noFill/>
          <a:ln>
            <a:noFill/>
          </a:ln>
        </p:spPr>
        <p:txBody>
          <a:bodyPr vert="horz" rtlCol="0">
            <a:norm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1.1.1 </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计算机系统的层次结构</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47107" name="图片 1"/>
          <p:cNvPicPr>
            <a:picLocks noChangeAspect="1"/>
          </p:cNvPicPr>
          <p:nvPr/>
        </p:nvPicPr>
        <p:blipFill>
          <a:blip r:embed="rId1"/>
          <a:srcRect l="9546"/>
          <a:stretch>
            <a:fillRect/>
          </a:stretch>
        </p:blipFill>
        <p:spPr>
          <a:xfrm>
            <a:off x="0" y="1077913"/>
            <a:ext cx="6823075" cy="5541962"/>
          </a:xfrm>
          <a:prstGeom prst="rect">
            <a:avLst/>
          </a:prstGeom>
          <a:noFill/>
          <a:ln w="9525">
            <a:noFill/>
          </a:ln>
        </p:spPr>
      </p:pic>
      <p:sp>
        <p:nvSpPr>
          <p:cNvPr id="47108" name="矩形 11"/>
          <p:cNvSpPr/>
          <p:nvPr/>
        </p:nvSpPr>
        <p:spPr>
          <a:xfrm>
            <a:off x="6372225" y="5102225"/>
            <a:ext cx="2390775" cy="646113"/>
          </a:xfrm>
          <a:prstGeom prst="rect">
            <a:avLst/>
          </a:prstGeom>
          <a:noFill/>
          <a:ln w="9525" cap="flat" cmpd="sng">
            <a:solidFill>
              <a:schemeClr val="accent1"/>
            </a:solidFill>
            <a:prstDash val="solid"/>
            <a:miter/>
            <a:headEnd type="none" w="med" len="med"/>
            <a:tailEnd type="none" w="med" len="med"/>
          </a:ln>
        </p:spPr>
        <p:txBody>
          <a:bodyPr anchor="t" anchorCtr="0">
            <a:spAutoFit/>
          </a:bodyPr>
          <a:lstStyle/>
          <a:p>
            <a:r>
              <a:rPr lang="zh-CN" altLang="en-US" b="1" dirty="0">
                <a:solidFill>
                  <a:srgbClr val="FF0000"/>
                </a:solidFill>
                <a:latin typeface="Times New Roman" panose="02020603050405020304" pitchFamily="18" charset="0"/>
                <a:ea typeface="黑体" panose="02010609060101010101" pitchFamily="49" charset="-122"/>
              </a:rPr>
              <a:t>实际机器是指由硬件或固件实现的机器</a:t>
            </a:r>
            <a:endParaRPr lang="zh-CN" altLang="en-US" b="1" dirty="0">
              <a:solidFill>
                <a:srgbClr val="FF0000"/>
              </a:solidFill>
              <a:latin typeface="Times New Roman" panose="02020603050405020304" pitchFamily="18" charset="0"/>
              <a:ea typeface="黑体" panose="02010609060101010101" pitchFamily="49" charset="-122"/>
            </a:endParaRPr>
          </a:p>
        </p:txBody>
      </p:sp>
      <p:sp>
        <p:nvSpPr>
          <p:cNvPr id="47109" name="矩形 13"/>
          <p:cNvSpPr/>
          <p:nvPr/>
        </p:nvSpPr>
        <p:spPr>
          <a:xfrm>
            <a:off x="6424613" y="1365250"/>
            <a:ext cx="2286000" cy="923925"/>
          </a:xfrm>
          <a:prstGeom prst="rect">
            <a:avLst/>
          </a:prstGeom>
          <a:noFill/>
          <a:ln w="9525" cap="flat" cmpd="sng">
            <a:solidFill>
              <a:schemeClr val="accent1"/>
            </a:solidFill>
            <a:prstDash val="solid"/>
            <a:miter/>
            <a:headEnd type="none" w="med" len="med"/>
            <a:tailEnd type="none" w="med" len="med"/>
          </a:ln>
        </p:spPr>
        <p:txBody>
          <a:bodyPr anchor="t" anchorCtr="0">
            <a:spAutoFit/>
          </a:bodyPr>
          <a:lstStyle/>
          <a:p>
            <a:r>
              <a:rPr lang="zh-CN" altLang="en-US" b="1" dirty="0">
                <a:solidFill>
                  <a:srgbClr val="FF0000"/>
                </a:solidFill>
                <a:latin typeface="Times New Roman" panose="02020603050405020304" pitchFamily="18" charset="0"/>
                <a:ea typeface="黑体" panose="02010609060101010101" pitchFamily="49" charset="-122"/>
              </a:rPr>
              <a:t>虚拟机器是指以软件或以软件为主实现的机器</a:t>
            </a:r>
            <a:endParaRPr lang="zh-CN" altLang="en-US" b="1" dirty="0">
              <a:solidFill>
                <a:srgbClr val="FF0000"/>
              </a:solidFill>
              <a:latin typeface="Times New Roman" panose="02020603050405020304" pitchFamily="18" charset="0"/>
              <a:ea typeface="黑体" panose="02010609060101010101" pitchFamily="49" charset="-122"/>
            </a:endParaRPr>
          </a:p>
        </p:txBody>
      </p:sp>
      <p:sp>
        <p:nvSpPr>
          <p:cNvPr id="47110" name="矩形 28"/>
          <p:cNvSpPr/>
          <p:nvPr/>
        </p:nvSpPr>
        <p:spPr>
          <a:xfrm>
            <a:off x="6424930" y="2516505"/>
            <a:ext cx="2392045" cy="2365375"/>
          </a:xfrm>
          <a:prstGeom prst="rect">
            <a:avLst/>
          </a:prstGeom>
          <a:noFill/>
          <a:ln w="9525" cap="flat" cmpd="sng">
            <a:solidFill>
              <a:schemeClr val="accent1"/>
            </a:solidFill>
            <a:prstDash val="solid"/>
            <a:miter/>
            <a:headEnd type="none" w="med" len="med"/>
            <a:tailEnd type="none" w="med" len="med"/>
          </a:ln>
        </p:spPr>
        <p:txBody>
          <a:bodyPr anchor="t" anchorCtr="0">
            <a:noAutofit/>
          </a:bodyPr>
          <a:lstStyle/>
          <a:p>
            <a:r>
              <a:rPr lang="zh-CN" altLang="en-US" b="1" dirty="0">
                <a:solidFill>
                  <a:schemeClr val="tx1"/>
                </a:solidFill>
                <a:latin typeface="Times New Roman" panose="02020603050405020304" pitchFamily="18" charset="0"/>
                <a:ea typeface="黑体" panose="02010609060101010101" pitchFamily="49" charset="-122"/>
              </a:rPr>
              <a:t>从学科领域来划分</a:t>
            </a:r>
            <a:endParaRPr lang="zh-CN" altLang="en-US" b="1" dirty="0">
              <a:solidFill>
                <a:schemeClr val="tx1"/>
              </a:solidFill>
              <a:latin typeface="Times New Roman" panose="02020603050405020304" pitchFamily="18" charset="0"/>
              <a:ea typeface="黑体" panose="02010609060101010101" pitchFamily="49" charset="-122"/>
            </a:endParaRPr>
          </a:p>
          <a:p>
            <a:pPr marL="466090" lvl="1" indent="-227965">
              <a:lnSpc>
                <a:spcPct val="120000"/>
              </a:lnSpc>
              <a:buFont typeface="Wingdings" panose="05000000000000000000" charset="0"/>
              <a:buChar char="Ø"/>
            </a:pPr>
            <a:r>
              <a:rPr lang="zh-CN" altLang="en-US" b="1" dirty="0">
                <a:solidFill>
                  <a:schemeClr val="tx1"/>
                </a:solidFill>
                <a:latin typeface="Times New Roman" panose="02020603050405020304" pitchFamily="18" charset="0"/>
                <a:ea typeface="黑体" panose="02010609060101010101" pitchFamily="49" charset="-122"/>
              </a:rPr>
              <a:t>第0到第</a:t>
            </a:r>
            <a:r>
              <a:rPr lang="en-US" altLang="zh-CN" b="1" dirty="0">
                <a:solidFill>
                  <a:schemeClr val="tx1"/>
                </a:solidFill>
                <a:latin typeface="Times New Roman" panose="02020603050405020304" pitchFamily="18" charset="0"/>
                <a:ea typeface="黑体" panose="02010609060101010101" pitchFamily="49" charset="-122"/>
              </a:rPr>
              <a:t>2</a:t>
            </a:r>
            <a:r>
              <a:rPr lang="zh-CN" altLang="en-US" b="1" dirty="0">
                <a:solidFill>
                  <a:schemeClr val="tx1"/>
                </a:solidFill>
                <a:latin typeface="Times New Roman" panose="02020603050405020304" pitchFamily="18" charset="0"/>
                <a:ea typeface="黑体" panose="02010609060101010101" pitchFamily="49" charset="-122"/>
              </a:rPr>
              <a:t>级属于计算机组成与系统结构</a:t>
            </a:r>
            <a:endParaRPr lang="zh-CN" altLang="en-US" b="1" dirty="0">
              <a:solidFill>
                <a:schemeClr val="tx1"/>
              </a:solidFill>
              <a:latin typeface="Times New Roman" panose="02020603050405020304" pitchFamily="18" charset="0"/>
              <a:ea typeface="黑体" panose="02010609060101010101" pitchFamily="49" charset="-122"/>
            </a:endParaRPr>
          </a:p>
          <a:p>
            <a:pPr marL="466090" lvl="1" indent="-227965">
              <a:lnSpc>
                <a:spcPct val="120000"/>
              </a:lnSpc>
              <a:buFont typeface="Wingdings" panose="05000000000000000000" charset="0"/>
              <a:buChar char="Ø"/>
            </a:pPr>
            <a:r>
              <a:rPr lang="zh-CN" altLang="en-US" b="1" dirty="0">
                <a:solidFill>
                  <a:schemeClr val="tx1"/>
                </a:solidFill>
                <a:latin typeface="Times New Roman" panose="02020603050405020304" pitchFamily="18" charset="0"/>
                <a:ea typeface="黑体" panose="02010609060101010101" pitchFamily="49" charset="-122"/>
              </a:rPr>
              <a:t>第</a:t>
            </a:r>
            <a:r>
              <a:rPr lang="zh-CN" altLang="en-US" b="1" dirty="0">
                <a:solidFill>
                  <a:srgbClr val="FF0000"/>
                </a:solidFill>
                <a:latin typeface="Times New Roman" panose="02020603050405020304" pitchFamily="18" charset="0"/>
                <a:ea typeface="黑体" panose="02010609060101010101" pitchFamily="49" charset="-122"/>
              </a:rPr>
              <a:t>3</a:t>
            </a:r>
            <a:r>
              <a:rPr lang="zh-CN" altLang="en-US" b="1" dirty="0">
                <a:solidFill>
                  <a:schemeClr val="tx1"/>
                </a:solidFill>
                <a:latin typeface="Times New Roman" panose="02020603050405020304" pitchFamily="18" charset="0"/>
                <a:ea typeface="黑体" panose="02010609060101010101" pitchFamily="49" charset="-122"/>
              </a:rPr>
              <a:t>至第5级是系统软件</a:t>
            </a:r>
            <a:endParaRPr lang="zh-CN" altLang="en-US" b="1" dirty="0">
              <a:solidFill>
                <a:schemeClr val="tx1"/>
              </a:solidFill>
              <a:latin typeface="Times New Roman" panose="02020603050405020304" pitchFamily="18" charset="0"/>
              <a:ea typeface="黑体" panose="02010609060101010101" pitchFamily="49" charset="-122"/>
            </a:endParaRPr>
          </a:p>
          <a:p>
            <a:pPr marL="466090" lvl="1" indent="-227965">
              <a:lnSpc>
                <a:spcPct val="120000"/>
              </a:lnSpc>
              <a:buFont typeface="Wingdings" panose="05000000000000000000" charset="0"/>
              <a:buChar char="Ø"/>
            </a:pPr>
            <a:r>
              <a:rPr lang="zh-CN" altLang="en-US" b="1" dirty="0">
                <a:solidFill>
                  <a:schemeClr val="tx1"/>
                </a:solidFill>
                <a:latin typeface="Times New Roman" panose="02020603050405020304" pitchFamily="18" charset="0"/>
                <a:ea typeface="黑体" panose="02010609060101010101" pitchFamily="49" charset="-122"/>
              </a:rPr>
              <a:t>第6级是应用软件</a:t>
            </a:r>
            <a:endParaRPr lang="zh-CN" altLang="en-US" b="1" dirty="0">
              <a:solidFill>
                <a:schemeClr val="tx1"/>
              </a:solidFill>
              <a:latin typeface="Times New Roman" panose="02020603050405020304" pitchFamily="18" charset="0"/>
              <a:ea typeface="黑体" panose="02010609060101010101" pitchFamily="49" charset="-122"/>
            </a:endParaRPr>
          </a:p>
        </p:txBody>
      </p:sp>
      <p:sp>
        <p:nvSpPr>
          <p:cNvPr id="2" name="Rectangle 1030"/>
          <p:cNvSpPr>
            <a:spLocks noGrp="1"/>
          </p:cNvSpPr>
          <p:nvPr/>
        </p:nvSpPr>
        <p:spPr>
          <a:xfrm>
            <a:off x="4500563" y="6024563"/>
            <a:ext cx="4643437" cy="484187"/>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gn="ctr" eaLnBrk="1" hangingPunct="1">
              <a:lnSpc>
                <a:spcPct val="90000"/>
              </a:lnSpc>
              <a:buFontTx/>
              <a:buNone/>
            </a:pPr>
            <a:r>
              <a:rPr lang="zh-CN" altLang="en-US" sz="2400" dirty="0">
                <a:solidFill>
                  <a:schemeClr val="tx2"/>
                </a:solidFill>
                <a:latin typeface="Times New Roman" panose="02020603050405020304" pitchFamily="18" charset="0"/>
              </a:rPr>
              <a:t>图</a:t>
            </a:r>
            <a:r>
              <a:rPr lang="en-US" altLang="zh-CN" sz="2400" dirty="0">
                <a:solidFill>
                  <a:schemeClr val="tx2"/>
                </a:solidFill>
                <a:latin typeface="Times New Roman" panose="02020603050405020304" pitchFamily="18" charset="0"/>
              </a:rPr>
              <a:t> </a:t>
            </a:r>
            <a:r>
              <a:rPr lang="zh-CN" altLang="en-US" sz="2400" dirty="0">
                <a:solidFill>
                  <a:schemeClr val="tx2"/>
                </a:solidFill>
                <a:latin typeface="Times New Roman" panose="02020603050405020304" pitchFamily="18" charset="0"/>
              </a:rPr>
              <a:t> 计算机系统的多层次结构</a:t>
            </a:r>
            <a:endParaRPr lang="zh-CN" altLang="en-US" sz="2400" dirty="0">
              <a:solidFill>
                <a:schemeClr val="tx2"/>
              </a:solidFill>
              <a:latin typeface="Times New Roman" panose="02020603050405020304" pitchFamily="18"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1.1.2 </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计算机</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系统结构的定义</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14722" name="Rectangle 2"/>
          <p:cNvSpPr>
            <a:spLocks noChangeArrowheads="1"/>
          </p:cNvSpPr>
          <p:nvPr>
            <p:custDataLst>
              <p:tags r:id="rId1"/>
            </p:custDataLst>
          </p:nvPr>
        </p:nvSpPr>
        <p:spPr bwMode="auto">
          <a:xfrm>
            <a:off x="394970" y="1188720"/>
            <a:ext cx="8280400" cy="47986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Amdahl阿姆达尔1964年在推出IBM360系列计算机时提出</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GB"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机器语言程序员</a:t>
            </a: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所看到的计算机属性；</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1257300" lvl="2" indent="-342900" algn="just" eaLnBrk="1" hangingPunct="1">
              <a:spcBef>
                <a:spcPts val="1200"/>
              </a:spcBef>
              <a:buClr>
                <a:schemeClr val="hlink"/>
              </a:buClr>
              <a:buFont typeface="Wingdings" panose="05000000000000000000" charset="0"/>
              <a:buChar char="Ø"/>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即硬件子系统的</a:t>
            </a:r>
            <a:r>
              <a:rPr lang="zh-CN" altLang="en-GB"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概念结构</a:t>
            </a: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及其</a:t>
            </a:r>
            <a:r>
              <a:rPr lang="zh-CN" altLang="en-GB"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功能特性</a:t>
            </a:r>
            <a:endParaRPr lang="zh-CN" altLang="en-GB"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8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研究任务</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主要研究</a:t>
            </a:r>
            <a:r>
              <a:rPr lang="zh-CN" altLang="en-GB"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软件、硬件功能分配</a:t>
            </a: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和对</a:t>
            </a:r>
            <a:r>
              <a:rPr lang="zh-CN" altLang="en-GB"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软硬件界面的确定</a:t>
            </a:r>
            <a:endParaRPr lang="en-US" altLang="zh-CN" sz="24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US" sz="2400" b="1" kern="0" dirty="0">
                <a:solidFill>
                  <a:srgbClr val="FF0000"/>
                </a:solidFill>
                <a:latin typeface="Times New Roman" panose="02020603050405020304" pitchFamily="18" charset="0"/>
                <a:ea typeface="+mn-ea"/>
                <a:cs typeface="Times New Roman" panose="02020603050405020304" pitchFamily="18" charset="0"/>
              </a:rPr>
              <a:t>指令集体系结构（</a:t>
            </a:r>
            <a:r>
              <a:rPr lang="en-US" altLang="zh-CN" sz="2400" b="1" kern="0" dirty="0">
                <a:solidFill>
                  <a:srgbClr val="FF0000"/>
                </a:solidFill>
                <a:latin typeface="Times New Roman" panose="02020603050405020304" pitchFamily="18" charset="0"/>
                <a:ea typeface="+mn-ea"/>
                <a:cs typeface="Times New Roman" panose="02020603050405020304" pitchFamily="18" charset="0"/>
              </a:rPr>
              <a:t>ISA</a:t>
            </a:r>
            <a:r>
              <a:rPr lang="zh-CN" altLang="en-US" sz="2400" b="1" kern="0" dirty="0">
                <a:solidFill>
                  <a:srgbClr val="FF0000"/>
                </a:solidFill>
                <a:latin typeface="Times New Roman" panose="02020603050405020304" pitchFamily="18" charset="0"/>
                <a:ea typeface="+mn-ea"/>
                <a:cs typeface="Times New Roman" panose="02020603050405020304" pitchFamily="18" charset="0"/>
              </a:rPr>
              <a:t>）</a:t>
            </a: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 </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概念结构</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20485" name="Object 3"/>
          <p:cNvGraphicFramePr>
            <a:graphicFrameLocks noGrp="1" noChangeAspect="1"/>
          </p:cNvGraphicFramePr>
          <p:nvPr>
            <p:ph idx="1"/>
            <p:custDataLst>
              <p:tags r:id="rId1"/>
            </p:custDataLst>
          </p:nvPr>
        </p:nvGraphicFramePr>
        <p:xfrm>
          <a:off x="1403648" y="2636912"/>
          <a:ext cx="5976714" cy="3270070"/>
        </p:xfrm>
        <a:graphic>
          <a:graphicData uri="http://schemas.openxmlformats.org/presentationml/2006/ole">
            <mc:AlternateContent xmlns:mc="http://schemas.openxmlformats.org/markup-compatibility/2006">
              <mc:Choice xmlns:v="urn:schemas-microsoft-com:vml" Requires="v">
                <p:oleObj spid="_x0000_s3" name="" r:id="rId2" imgW="4486910" imgH="2453640" progId="Word.Document.8">
                  <p:embed/>
                </p:oleObj>
              </mc:Choice>
              <mc:Fallback>
                <p:oleObj name="" r:id="rId2" imgW="4486910" imgH="2453640" progId="Word.Document.8">
                  <p:embed/>
                  <p:pic>
                    <p:nvPicPr>
                      <p:cNvPr id="0" name="图片 3075"/>
                      <p:cNvPicPr/>
                      <p:nvPr/>
                    </p:nvPicPr>
                    <p:blipFill>
                      <a:blip r:embed="rId3"/>
                      <a:srcRect/>
                      <a:stretch>
                        <a:fillRect/>
                      </a:stretch>
                    </p:blipFill>
                    <p:spPr>
                      <a:xfrm>
                        <a:off x="1403648" y="2636912"/>
                        <a:ext cx="5976714" cy="3270070"/>
                      </a:xfrm>
                      <a:prstGeom prst="rect">
                        <a:avLst/>
                      </a:prstGeom>
                      <a:noFill/>
                      <a:ln w="38100">
                        <a:miter/>
                      </a:ln>
                    </p:spPr>
                  </p:pic>
                </p:oleObj>
              </mc:Fallback>
            </mc:AlternateContent>
          </a:graphicData>
        </a:graphic>
      </p:graphicFrame>
      <p:sp>
        <p:nvSpPr>
          <p:cNvPr id="414722" name="Rectangle 2"/>
          <p:cNvSpPr>
            <a:spLocks noChangeArrowheads="1"/>
          </p:cNvSpPr>
          <p:nvPr>
            <p:custDataLst>
              <p:tags r:id="rId4"/>
            </p:custDataLst>
          </p:nvPr>
        </p:nvSpPr>
        <p:spPr bwMode="auto">
          <a:xfrm>
            <a:off x="394970" y="1188720"/>
            <a:ext cx="8280400" cy="1664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IBM360系列计算机的概念性结构</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程序员：汇编语言、机器语言、编译程序、操作系统</a:t>
            </a:r>
            <a:endParaRPr lang="en-US" altLang="zh-CN"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charset="0"/>
              <a:buChar char="Ø"/>
            </a:pPr>
            <a:r>
              <a:rPr lang="zh-CN" altLang="en-US"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看到的：编写出能够在机器上正确运行的程序所必须了解到的</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功能特性: </a:t>
            </a:r>
            <a:r>
              <a:rPr sz="3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指令系统</a:t>
            </a: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及其执行模式</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14722" name="Rectangle 2"/>
          <p:cNvSpPr>
            <a:spLocks noChangeArrowheads="1"/>
          </p:cNvSpPr>
          <p:nvPr>
            <p:custDataLst>
              <p:tags r:id="rId1"/>
            </p:custDataLst>
          </p:nvPr>
        </p:nvSpPr>
        <p:spPr bwMode="auto">
          <a:xfrm>
            <a:off x="394970" y="1188720"/>
            <a:ext cx="8280400" cy="47986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数据表示</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：硬件能够直接识别和处理的数据类型</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寻址技术</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：编址方式、寻址方式和定位方式等</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寄存器组织</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：操作数寄存器、变址寄存器、控制寄存器及专用寄存器的定义、数量和使用规则等</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指令系统</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：操作类型、格式，指令间的排序控制等</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中断系统</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：中断类型、中断级别和中断响应方式等</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存储系统</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：寻址空间、虚拟存储器、Cache存储器等</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处理机工作状态</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：定义和切换方式，如管态和目态等</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输入输出系统</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：数据交换方式、交换过程的控制等</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信息保护</a:t>
            </a:r>
            <a:r>
              <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：信息保护方式和硬件对信息保护的支持等 </a:t>
            </a:r>
            <a:endParaRPr lang="zh-CN" altLang="en-GB" sz="20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透明性 </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14722" name="Rectangle 2"/>
          <p:cNvSpPr>
            <a:spLocks noChangeArrowheads="1"/>
          </p:cNvSpPr>
          <p:nvPr>
            <p:custDataLst>
              <p:tags r:id="rId1"/>
            </p:custDataLst>
          </p:nvPr>
        </p:nvSpPr>
        <p:spPr bwMode="auto">
          <a:xfrm>
            <a:off x="394970" y="1474470"/>
            <a:ext cx="8280400" cy="45129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kern="0" dirty="0">
                <a:latin typeface="Times New Roman" panose="02020603050405020304" pitchFamily="18" charset="0"/>
                <a:ea typeface="+mn-ea"/>
                <a:cs typeface="Times New Roman" panose="02020603050405020304" pitchFamily="18" charset="0"/>
                <a:sym typeface="+mn-ea"/>
              </a:rPr>
              <a:t>透明性：</a:t>
            </a:r>
            <a:r>
              <a:rPr lang="zh-CN" altLang="en-GB" sz="2000" b="1"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一种本来存在的事物或属性，但从某种角度来看似乎不存在</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计算机系统中，低层机器的属性往往对高层机器的程序员是透明的。</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CPU类型、型号、主存储器容量</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chemeClr val="hlink"/>
              </a:buClr>
              <a:buSzTx/>
              <a:buFont typeface="Wingdings" panose="05000000000000000000" charset="0"/>
              <a:buChar char="Ø"/>
            </a:pPr>
            <a:r>
              <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rPr>
              <a:t>对应用程序员                       		</a:t>
            </a:r>
            <a:r>
              <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透明</a:t>
            </a:r>
            <a:endPar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chemeClr val="hlink"/>
              </a:buClr>
              <a:buSzTx/>
              <a:buFont typeface="Wingdings" panose="05000000000000000000" charset="0"/>
              <a:buChar char="Ø"/>
            </a:pPr>
            <a:r>
              <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rPr>
              <a:t>对系统程序员、硬件设计人员等      	</a:t>
            </a:r>
            <a:r>
              <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不透明</a:t>
            </a:r>
            <a:endPar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浮点数表示、乘法指令</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chemeClr val="hlink"/>
              </a:buClr>
              <a:buSzTx/>
              <a:buFont typeface="Wingdings" panose="05000000000000000000" charset="0"/>
              <a:buChar char="Ø"/>
            </a:pPr>
            <a:r>
              <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rPr>
              <a:t>对高级语言程序员、应用程序员      	</a:t>
            </a:r>
            <a:r>
              <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透明</a:t>
            </a:r>
            <a:endPar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chemeClr val="hlink"/>
              </a:buClr>
              <a:buSzTx/>
              <a:buFont typeface="Wingdings" panose="05000000000000000000" charset="0"/>
              <a:buChar char="Ø"/>
            </a:pPr>
            <a:r>
              <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rPr>
              <a:t>对汇编语言程序员、机器语言程序员	</a:t>
            </a:r>
            <a:r>
              <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不透明</a:t>
            </a:r>
            <a:endPar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endParaRPr>
          </a:p>
          <a:p>
            <a:pPr marL="800100" marR="0" lvl="1"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数据总线宽度、微程序</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chemeClr val="hlink"/>
              </a:buClr>
              <a:buSzTx/>
              <a:buFont typeface="Wingdings" panose="05000000000000000000" charset="0"/>
              <a:buChar char="Ø"/>
            </a:pPr>
            <a:r>
              <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rPr>
              <a:t>对汇编语言程序员、机器语言程序员	</a:t>
            </a:r>
            <a:r>
              <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透明</a:t>
            </a:r>
            <a:endPar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chemeClr val="hlink"/>
              </a:buClr>
              <a:buSzTx/>
              <a:buFont typeface="Wingdings" panose="05000000000000000000" charset="0"/>
              <a:buChar char="Ø"/>
            </a:pPr>
            <a:r>
              <a:rPr lang="zh-CN" altLang="en-GB" sz="1800" i="0" u="none" strike="noStrike" kern="0" cap="none" spc="0" normalizeH="0" baseline="0" dirty="0">
                <a:latin typeface="Times New Roman" panose="02020603050405020304" pitchFamily="18" charset="0"/>
                <a:ea typeface="+mn-ea"/>
                <a:cs typeface="Times New Roman" panose="02020603050405020304" pitchFamily="18" charset="0"/>
              </a:rPr>
              <a:t>对硬件设计人员、计算机维修人员    	</a:t>
            </a:r>
            <a:r>
              <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不透明</a:t>
            </a:r>
            <a:endParaRPr lang="zh-CN" altLang="en-GB" sz="18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1.1.3 计算机</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系统的组成</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内容占位符 2"/>
          <p:cNvSpPr>
            <a:spLocks noGrp="1"/>
          </p:cNvSpPr>
          <p:nvPr>
            <p:ph idx="1"/>
          </p:nvPr>
        </p:nvSpPr>
        <p:spPr>
          <a:xfrm>
            <a:off x="457200" y="1198880"/>
            <a:ext cx="8331200" cy="4927600"/>
          </a:xfrm>
        </p:spPr>
        <p:txBody>
          <a:bodyPr/>
          <a:lstStyle/>
          <a:p>
            <a:r>
              <a:rPr lang="zh-CN" altLang="en-US"/>
              <a:t>定义</a:t>
            </a:r>
            <a:endParaRPr lang="zh-CN" altLang="en-US"/>
          </a:p>
          <a:p>
            <a:pPr lvl="1" algn="l" latinLnBrk="0">
              <a:spcBef>
                <a:spcPts val="1200"/>
              </a:spcBef>
              <a:buSzTx/>
            </a:pPr>
            <a:r>
              <a:rPr lang="zh-CN" altLang="en-US" sz="2400">
                <a:cs typeface="+mn-ea"/>
                <a:sym typeface="+mn-ea"/>
              </a:rPr>
              <a:t>计算机组成是</a:t>
            </a:r>
            <a:r>
              <a:rPr lang="zh-CN" altLang="en-US" sz="2400" b="1">
                <a:solidFill>
                  <a:srgbClr val="FF0000"/>
                </a:solidFill>
                <a:cs typeface="+mn-ea"/>
                <a:sym typeface="+mn-ea"/>
              </a:rPr>
              <a:t>系统结构的逻辑实现</a:t>
            </a:r>
            <a:r>
              <a:rPr lang="zh-CN" altLang="en-US" sz="2400">
                <a:cs typeface="+mn-ea"/>
                <a:sym typeface="+mn-ea"/>
              </a:rPr>
              <a:t>—设计图纸</a:t>
            </a:r>
            <a:endParaRPr lang="zh-CN" altLang="en-US" sz="2400">
              <a:cs typeface="+mn-ea"/>
            </a:endParaRPr>
          </a:p>
          <a:p>
            <a:pPr lvl="1" algn="l" latinLnBrk="0">
              <a:spcBef>
                <a:spcPts val="1200"/>
              </a:spcBef>
              <a:buSzTx/>
            </a:pPr>
            <a:r>
              <a:rPr lang="zh-CN" altLang="en-US" sz="2400">
                <a:cs typeface="+mn-ea"/>
              </a:rPr>
              <a:t>研究：</a:t>
            </a:r>
            <a:endParaRPr lang="zh-CN" altLang="en-US" sz="2400">
              <a:cs typeface="+mn-ea"/>
            </a:endParaRPr>
          </a:p>
          <a:p>
            <a:pPr lvl="2" algn="l" latinLnBrk="0">
              <a:spcBef>
                <a:spcPts val="600"/>
              </a:spcBef>
              <a:buSzTx/>
            </a:pPr>
            <a:r>
              <a:rPr lang="zh-CN" altLang="en-US" sz="2055">
                <a:cs typeface="+mn-ea"/>
              </a:rPr>
              <a:t>硬件系统</a:t>
            </a:r>
            <a:r>
              <a:rPr lang="zh-CN" altLang="en-US" sz="2055">
                <a:solidFill>
                  <a:srgbClr val="FF0000"/>
                </a:solidFill>
                <a:cs typeface="+mn-ea"/>
              </a:rPr>
              <a:t>各组成部分的内部构造和相互联系</a:t>
            </a:r>
            <a:r>
              <a:rPr lang="zh-CN" altLang="en-US" sz="2055">
                <a:cs typeface="+mn-ea"/>
              </a:rPr>
              <a:t>；</a:t>
            </a:r>
            <a:endParaRPr lang="zh-CN" altLang="en-US" sz="2055">
              <a:cs typeface="+mn-ea"/>
            </a:endParaRPr>
          </a:p>
          <a:p>
            <a:pPr lvl="2" algn="l" latinLnBrk="0">
              <a:spcBef>
                <a:spcPts val="600"/>
              </a:spcBef>
              <a:buSzTx/>
            </a:pPr>
            <a:r>
              <a:rPr lang="zh-CN" altLang="en-US" sz="2055">
                <a:cs typeface="+mn-ea"/>
              </a:rPr>
              <a:t>实现</a:t>
            </a:r>
            <a:r>
              <a:rPr lang="zh-CN" altLang="en-US" sz="2055">
                <a:solidFill>
                  <a:srgbClr val="FF0000"/>
                </a:solidFill>
                <a:cs typeface="+mn-ea"/>
              </a:rPr>
              <a:t>机器指令级</a:t>
            </a:r>
            <a:r>
              <a:rPr lang="zh-CN" altLang="en-US" sz="2055">
                <a:cs typeface="+mn-ea"/>
              </a:rPr>
              <a:t>的各种功能和特性</a:t>
            </a:r>
            <a:endParaRPr lang="zh-CN" altLang="en-US" sz="2055">
              <a:cs typeface="+mn-ea"/>
            </a:endParaRPr>
          </a:p>
          <a:p>
            <a:pPr lvl="1" algn="l" latinLnBrk="0">
              <a:spcBef>
                <a:spcPts val="1200"/>
              </a:spcBef>
              <a:buSzTx/>
            </a:pPr>
            <a:r>
              <a:rPr lang="zh-CN" altLang="en-US" sz="2400">
                <a:cs typeface="+mn-ea"/>
              </a:rPr>
              <a:t>目标：</a:t>
            </a:r>
            <a:endParaRPr lang="zh-CN" altLang="en-US" sz="2400">
              <a:cs typeface="+mn-ea"/>
            </a:endParaRPr>
          </a:p>
          <a:p>
            <a:pPr lvl="2" algn="l" latinLnBrk="0">
              <a:spcBef>
                <a:spcPts val="600"/>
              </a:spcBef>
              <a:buSzTx/>
            </a:pPr>
            <a:r>
              <a:rPr lang="zh-CN" altLang="en-US" sz="2055">
                <a:cs typeface="+mn-ea"/>
              </a:rPr>
              <a:t>以最合理地方式将各种设备和部件</a:t>
            </a:r>
            <a:r>
              <a:rPr lang="zh-CN" altLang="en-US" sz="2055">
                <a:solidFill>
                  <a:srgbClr val="FF0000"/>
                </a:solidFill>
                <a:cs typeface="+mn-ea"/>
              </a:rPr>
              <a:t>连接</a:t>
            </a:r>
            <a:r>
              <a:rPr lang="zh-CN" altLang="en-US" sz="2055">
                <a:cs typeface="+mn-ea"/>
              </a:rPr>
              <a:t>为计算机系统；</a:t>
            </a:r>
            <a:endParaRPr lang="zh-CN" altLang="en-US" sz="2055">
              <a:cs typeface="+mn-ea"/>
            </a:endParaRPr>
          </a:p>
          <a:p>
            <a:pPr lvl="2" algn="l" latinLnBrk="0">
              <a:spcBef>
                <a:spcPts val="600"/>
              </a:spcBef>
              <a:buSzTx/>
            </a:pPr>
            <a:r>
              <a:rPr lang="zh-CN" altLang="en-US" sz="2055">
                <a:cs typeface="+mn-ea"/>
              </a:rPr>
              <a:t>达到最优的</a:t>
            </a:r>
            <a:r>
              <a:rPr lang="zh-CN" altLang="en-US" sz="2055">
                <a:solidFill>
                  <a:srgbClr val="FF0000"/>
                </a:solidFill>
                <a:cs typeface="+mn-ea"/>
              </a:rPr>
              <a:t>性价比</a:t>
            </a:r>
            <a:r>
              <a:rPr lang="zh-CN" altLang="en-US" sz="2055">
                <a:cs typeface="+mn-ea"/>
              </a:rPr>
              <a:t>；</a:t>
            </a:r>
            <a:endParaRPr lang="zh-CN" altLang="en-US" sz="2055">
              <a:cs typeface="+mn-ea"/>
            </a:endParaRPr>
          </a:p>
          <a:p>
            <a:pPr lvl="2" algn="l" latinLnBrk="0">
              <a:spcBef>
                <a:spcPts val="600"/>
              </a:spcBef>
              <a:buSzTx/>
            </a:pPr>
            <a:r>
              <a:rPr lang="zh-CN" altLang="en-US" sz="2055">
                <a:cs typeface="+mn-ea"/>
              </a:rPr>
              <a:t>实现所确定的</a:t>
            </a:r>
            <a:r>
              <a:rPr lang="zh-CN" altLang="en-US" sz="2055">
                <a:solidFill>
                  <a:srgbClr val="FF0000"/>
                </a:solidFill>
                <a:cs typeface="+mn-ea"/>
              </a:rPr>
              <a:t>系统结构</a:t>
            </a:r>
            <a:endParaRPr lang="zh-CN" altLang="en-US" sz="2055">
              <a:solidFill>
                <a:srgbClr val="FF0000"/>
              </a:solidFill>
              <a:cs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361950" y="266700"/>
            <a:ext cx="7772400" cy="1143000"/>
          </a:xfrm>
          <a:noFill/>
          <a:ln>
            <a:noFill/>
          </a:ln>
        </p:spPr>
        <p:txBody>
          <a:bodyPr/>
          <a:lstStyle/>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1.1.3 计算机</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系统的</a:t>
            </a: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组成</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723" name="Rectangle 3"/>
          <p:cNvSpPr>
            <a:spLocks noGrp="1"/>
          </p:cNvSpPr>
          <p:nvPr>
            <p:ph idx="1"/>
          </p:nvPr>
        </p:nvSpPr>
        <p:spPr>
          <a:xfrm>
            <a:off x="514985" y="1409065"/>
            <a:ext cx="8114030" cy="4690110"/>
          </a:xfrm>
          <a:noFill/>
          <a:ln>
            <a:noFill/>
          </a:ln>
        </p:spPr>
        <p:txBody>
          <a:bodyPr/>
          <a:lstStyle/>
          <a:p>
            <a:pPr marL="0" indent="0" algn="just" eaLnBrk="1" latinLnBrk="0" hangingPunct="1">
              <a:spcBef>
                <a:spcPts val="1200"/>
              </a:spcBef>
              <a:buFont typeface="+mj-ea"/>
              <a:buNone/>
            </a:pPr>
            <a:r>
              <a:rPr lang="zh-CN" altLang="en-US" sz="2800" dirty="0"/>
              <a:t>研究内容：</a:t>
            </a:r>
            <a:endParaRPr lang="zh-CN" altLang="en-US" sz="2400" b="0" dirty="0">
              <a:solidFill>
                <a:srgbClr val="FF0000"/>
              </a:solidFill>
              <a:latin typeface="Times New Roman" panose="02020603050405020304" pitchFamily="18" charset="0"/>
              <a:cs typeface="Times New Roman" panose="02020603050405020304" pitchFamily="18" charset="0"/>
            </a:endParaRPr>
          </a:p>
          <a:p>
            <a:pPr marL="971550" lvl="1" indent="-514350" algn="just" eaLnBrk="1" latinLnBrk="0" hangingPunct="1">
              <a:spcBef>
                <a:spcPts val="1200"/>
              </a:spcBef>
              <a:buFont typeface="+mj-ea"/>
              <a:buAutoNum type="circleNumDbPlain"/>
            </a:pPr>
            <a:r>
              <a:rPr lang="zh-CN" altLang="en-US" sz="2000" b="0" dirty="0">
                <a:solidFill>
                  <a:srgbClr val="FF0000"/>
                </a:solidFill>
                <a:latin typeface="Times New Roman" panose="02020603050405020304" pitchFamily="18" charset="0"/>
                <a:cs typeface="Times New Roman" panose="02020603050405020304" pitchFamily="18" charset="0"/>
              </a:rPr>
              <a:t>数据通路宽度</a:t>
            </a:r>
            <a:r>
              <a:rPr lang="zh-CN" altLang="en-US" sz="2000" b="0" dirty="0">
                <a:solidFill>
                  <a:schemeClr val="tx1"/>
                </a:solidFill>
                <a:latin typeface="Times New Roman" panose="02020603050405020304" pitchFamily="18" charset="0"/>
                <a:cs typeface="Times New Roman" panose="02020603050405020304" pitchFamily="18" charset="0"/>
              </a:rPr>
              <a:t>：数据总线一次能并行传送信息的位数；</a:t>
            </a:r>
            <a:endParaRPr lang="en-US" altLang="zh-CN" sz="2000" b="0" dirty="0">
              <a:solidFill>
                <a:schemeClr val="tx1"/>
              </a:solidFill>
              <a:latin typeface="Times New Roman" panose="02020603050405020304" pitchFamily="18" charset="0"/>
              <a:cs typeface="Times New Roman" panose="02020603050405020304" pitchFamily="18" charset="0"/>
            </a:endParaRPr>
          </a:p>
          <a:p>
            <a:pPr marL="971550" lvl="1" indent="-514350" algn="just" eaLnBrk="1" latinLnBrk="0" hangingPunct="1">
              <a:spcBef>
                <a:spcPts val="1200"/>
              </a:spcBef>
              <a:buFont typeface="+mj-ea"/>
              <a:buAutoNum type="circleNumDbPlain"/>
            </a:pPr>
            <a:r>
              <a:rPr lang="zh-CN" altLang="en-US" sz="2000" b="0" dirty="0">
                <a:solidFill>
                  <a:srgbClr val="FF0000"/>
                </a:solidFill>
                <a:latin typeface="Times New Roman" panose="02020603050405020304" pitchFamily="18" charset="0"/>
                <a:cs typeface="Times New Roman" panose="02020603050405020304" pitchFamily="18" charset="0"/>
              </a:rPr>
              <a:t>专用部件设置</a:t>
            </a:r>
            <a:r>
              <a:rPr lang="zh-CN" altLang="en-US" sz="2000" b="0" dirty="0">
                <a:solidFill>
                  <a:schemeClr val="tx1"/>
                </a:solidFill>
                <a:latin typeface="Times New Roman" panose="02020603050405020304" pitchFamily="18" charset="0"/>
                <a:cs typeface="Times New Roman" panose="02020603050405020304" pitchFamily="18" charset="0"/>
              </a:rPr>
              <a:t>：乘除法、浮点、多媒体等；</a:t>
            </a:r>
            <a:endParaRPr lang="zh-CN" altLang="en-US" sz="2000" b="0" dirty="0">
              <a:solidFill>
                <a:schemeClr val="tx1"/>
              </a:solidFill>
              <a:latin typeface="Times New Roman" panose="02020603050405020304" pitchFamily="18" charset="0"/>
              <a:cs typeface="Times New Roman" panose="02020603050405020304" pitchFamily="18" charset="0"/>
            </a:endParaRPr>
          </a:p>
          <a:p>
            <a:pPr marL="971550" lvl="1" indent="-514350" algn="just" eaLnBrk="1" latinLnBrk="0" hangingPunct="1">
              <a:spcBef>
                <a:spcPts val="1200"/>
              </a:spcBef>
              <a:buFont typeface="+mj-ea"/>
              <a:buAutoNum type="circleNumDbPlain"/>
            </a:pPr>
            <a:r>
              <a:rPr lang="zh-CN" altLang="en-US" sz="2000" b="0" dirty="0">
                <a:solidFill>
                  <a:srgbClr val="FF0000"/>
                </a:solidFill>
                <a:latin typeface="Times New Roman" panose="02020603050405020304" pitchFamily="18" charset="0"/>
                <a:cs typeface="Times New Roman" panose="02020603050405020304" pitchFamily="18" charset="0"/>
              </a:rPr>
              <a:t>操作对硬件的共享程度</a:t>
            </a:r>
            <a:r>
              <a:rPr lang="zh-CN" altLang="en-US" sz="2000" b="0" dirty="0">
                <a:solidFill>
                  <a:schemeClr val="tx1"/>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独占、</a:t>
            </a:r>
            <a:r>
              <a:rPr lang="zh-CN" altLang="en-US" sz="2000" b="0" dirty="0">
                <a:solidFill>
                  <a:schemeClr val="tx1"/>
                </a:solidFill>
                <a:latin typeface="Times New Roman" panose="02020603050405020304" pitchFamily="18" charset="0"/>
                <a:cs typeface="Times New Roman" panose="02020603050405020304" pitchFamily="18" charset="0"/>
              </a:rPr>
              <a:t>分时共享；</a:t>
            </a:r>
            <a:endParaRPr lang="zh-CN" altLang="en-US" sz="2000" b="0" dirty="0">
              <a:solidFill>
                <a:schemeClr val="tx1"/>
              </a:solidFill>
              <a:latin typeface="Times New Roman" panose="02020603050405020304" pitchFamily="18" charset="0"/>
              <a:cs typeface="Times New Roman" panose="02020603050405020304" pitchFamily="18" charset="0"/>
            </a:endParaRPr>
          </a:p>
          <a:p>
            <a:pPr marL="971550" lvl="1" indent="-514350" algn="just" eaLnBrk="1" latinLnBrk="0" hangingPunct="1">
              <a:spcBef>
                <a:spcPts val="1200"/>
              </a:spcBef>
              <a:buFont typeface="+mj-ea"/>
              <a:buAutoNum type="circleNumDbPlain"/>
            </a:pPr>
            <a:r>
              <a:rPr lang="zh-CN" altLang="en-US" sz="2000" b="0" dirty="0">
                <a:solidFill>
                  <a:srgbClr val="FF0000"/>
                </a:solidFill>
                <a:latin typeface="Times New Roman" panose="02020603050405020304" pitchFamily="18" charset="0"/>
                <a:cs typeface="Times New Roman" panose="02020603050405020304" pitchFamily="18" charset="0"/>
              </a:rPr>
              <a:t>功能部件的并行度</a:t>
            </a:r>
            <a:r>
              <a:rPr lang="zh-CN" altLang="en-US" sz="2000" b="0" dirty="0">
                <a:solidFill>
                  <a:schemeClr val="tx1"/>
                </a:solidFill>
                <a:latin typeface="Times New Roman" panose="02020603050405020304" pitchFamily="18" charset="0"/>
                <a:cs typeface="Times New Roman" panose="02020603050405020304" pitchFamily="18" charset="0"/>
              </a:rPr>
              <a:t>：重叠、流水、分布式控制和处理；</a:t>
            </a:r>
            <a:endParaRPr lang="zh-CN" altLang="en-US" sz="2000" b="0" dirty="0">
              <a:solidFill>
                <a:schemeClr val="tx1"/>
              </a:solidFill>
              <a:latin typeface="Times New Roman" panose="02020603050405020304" pitchFamily="18" charset="0"/>
              <a:cs typeface="Times New Roman" panose="02020603050405020304" pitchFamily="18" charset="0"/>
            </a:endParaRPr>
          </a:p>
          <a:p>
            <a:pPr marL="971550" lvl="1" indent="-514350" algn="just" eaLnBrk="1" latinLnBrk="0" hangingPunct="1">
              <a:spcBef>
                <a:spcPts val="1200"/>
              </a:spcBef>
              <a:buFont typeface="+mj-ea"/>
              <a:buAutoNum type="circleNumDbPlain"/>
            </a:pPr>
            <a:r>
              <a:rPr lang="en-US" altLang="zh-CN" sz="2000" b="0" dirty="0">
                <a:solidFill>
                  <a:srgbClr val="FF0000"/>
                </a:solidFill>
                <a:latin typeface="Times New Roman" panose="02020603050405020304" pitchFamily="18" charset="0"/>
                <a:cs typeface="Times New Roman" panose="02020603050405020304" pitchFamily="18" charset="0"/>
              </a:rPr>
              <a:t>控制机构的组成方式</a:t>
            </a:r>
            <a:r>
              <a:rPr lang="zh-CN" altLang="en-US" sz="2000" b="0" dirty="0">
                <a:solidFill>
                  <a:schemeClr val="tx1"/>
                </a:solidFill>
                <a:latin typeface="Times New Roman" panose="02020603050405020304" pitchFamily="18" charset="0"/>
                <a:cs typeface="Times New Roman" panose="02020603050405020304" pitchFamily="18" charset="0"/>
              </a:rPr>
              <a:t>：组合</a:t>
            </a:r>
            <a:r>
              <a:rPr lang="en-US" altLang="zh-CN" sz="2000" b="0" dirty="0">
                <a:solidFill>
                  <a:schemeClr val="tx1"/>
                </a:solidFill>
                <a:latin typeface="Times New Roman" panose="02020603050405020304" pitchFamily="18" charset="0"/>
                <a:cs typeface="Times New Roman" panose="02020603050405020304" pitchFamily="18" charset="0"/>
              </a:rPr>
              <a:t>/</a:t>
            </a:r>
            <a:r>
              <a:rPr lang="zh-CN" altLang="en-US" sz="2000" b="0" dirty="0">
                <a:solidFill>
                  <a:schemeClr val="tx1"/>
                </a:solidFill>
                <a:latin typeface="Times New Roman" panose="02020603050405020304" pitchFamily="18" charset="0"/>
                <a:cs typeface="Times New Roman" panose="02020603050405020304" pitchFamily="18" charset="0"/>
              </a:rPr>
              <a:t>微程序、单机</a:t>
            </a:r>
            <a:r>
              <a:rPr lang="en-US" altLang="zh-CN" sz="2000" b="0" dirty="0">
                <a:solidFill>
                  <a:schemeClr val="tx1"/>
                </a:solidFill>
                <a:latin typeface="Times New Roman" panose="02020603050405020304" pitchFamily="18" charset="0"/>
                <a:cs typeface="Times New Roman" panose="02020603050405020304" pitchFamily="18" charset="0"/>
              </a:rPr>
              <a:t>/</a:t>
            </a:r>
            <a:r>
              <a:rPr lang="zh-CN" altLang="en-US" sz="2000" b="0" dirty="0">
                <a:solidFill>
                  <a:schemeClr val="tx1"/>
                </a:solidFill>
                <a:latin typeface="Times New Roman" panose="02020603050405020304" pitchFamily="18" charset="0"/>
                <a:cs typeface="Times New Roman" panose="02020603050405020304" pitchFamily="18" charset="0"/>
              </a:rPr>
              <a:t>多机；</a:t>
            </a:r>
            <a:endParaRPr lang="zh-CN" altLang="en-US" sz="2000" b="0" dirty="0">
              <a:solidFill>
                <a:schemeClr val="tx1"/>
              </a:solidFill>
              <a:latin typeface="Times New Roman" panose="02020603050405020304" pitchFamily="18" charset="0"/>
              <a:cs typeface="Times New Roman" panose="02020603050405020304" pitchFamily="18" charset="0"/>
            </a:endParaRPr>
          </a:p>
          <a:p>
            <a:pPr marL="971550" lvl="1" indent="-514350" algn="just" eaLnBrk="1" latinLnBrk="0" hangingPunct="1">
              <a:spcBef>
                <a:spcPts val="1200"/>
              </a:spcBef>
              <a:buFont typeface="+mj-ea"/>
              <a:buAutoNum type="circleNumDbPlain"/>
            </a:pPr>
            <a:r>
              <a:rPr lang="en-US" altLang="zh-CN" sz="2000" b="0" dirty="0">
                <a:solidFill>
                  <a:srgbClr val="FF0000"/>
                </a:solidFill>
                <a:latin typeface="Times New Roman" panose="02020603050405020304" pitchFamily="18" charset="0"/>
                <a:cs typeface="Times New Roman" panose="02020603050405020304" pitchFamily="18" charset="0"/>
              </a:rPr>
              <a:t>缓冲</a:t>
            </a:r>
            <a:r>
              <a:rPr lang="zh-CN" altLang="en-US" sz="2000" b="0" dirty="0">
                <a:solidFill>
                  <a:srgbClr val="FF0000"/>
                </a:solidFill>
                <a:latin typeface="Times New Roman" panose="02020603050405020304" pitchFamily="18" charset="0"/>
                <a:cs typeface="Times New Roman" panose="02020603050405020304" pitchFamily="18" charset="0"/>
              </a:rPr>
              <a:t>和顺序控制</a:t>
            </a:r>
            <a:r>
              <a:rPr lang="en-US" altLang="zh-CN" sz="2000" b="0" dirty="0">
                <a:solidFill>
                  <a:srgbClr val="FF0000"/>
                </a:solidFill>
                <a:latin typeface="Times New Roman" panose="02020603050405020304" pitchFamily="18" charset="0"/>
                <a:cs typeface="Times New Roman" panose="02020603050405020304" pitchFamily="18" charset="0"/>
              </a:rPr>
              <a:t>技术</a:t>
            </a:r>
            <a:r>
              <a:rPr lang="zh-CN" altLang="en-US" sz="2000" b="0" dirty="0">
                <a:solidFill>
                  <a:schemeClr val="tx1"/>
                </a:solidFill>
                <a:latin typeface="Times New Roman" panose="02020603050405020304" pitchFamily="18" charset="0"/>
                <a:cs typeface="Times New Roman" panose="02020603050405020304" pitchFamily="18" charset="0"/>
              </a:rPr>
              <a:t>：缓冲设置、时间处理顺序控制；</a:t>
            </a:r>
            <a:endParaRPr lang="zh-CN" altLang="en-US" sz="2000" b="0" dirty="0">
              <a:solidFill>
                <a:schemeClr val="tx1"/>
              </a:solidFill>
              <a:latin typeface="Times New Roman" panose="02020603050405020304" pitchFamily="18" charset="0"/>
              <a:cs typeface="Times New Roman" panose="02020603050405020304" pitchFamily="18" charset="0"/>
            </a:endParaRPr>
          </a:p>
          <a:p>
            <a:pPr marL="971550" lvl="1" indent="-514350" algn="just" eaLnBrk="1" latinLnBrk="0" hangingPunct="1">
              <a:spcBef>
                <a:spcPts val="1200"/>
              </a:spcBef>
              <a:buFont typeface="+mj-ea"/>
              <a:buAutoNum type="circleNumDbPlain"/>
            </a:pPr>
            <a:r>
              <a:rPr lang="zh-CN" altLang="en-US" sz="2000" b="0" dirty="0">
                <a:solidFill>
                  <a:srgbClr val="FF0000"/>
                </a:solidFill>
                <a:latin typeface="Times New Roman" panose="02020603050405020304" pitchFamily="18" charset="0"/>
                <a:cs typeface="Times New Roman" panose="02020603050405020304" pitchFamily="18" charset="0"/>
              </a:rPr>
              <a:t>预估、预判技术</a:t>
            </a:r>
            <a:r>
              <a:rPr lang="zh-CN" altLang="en-US" sz="2000" b="0" dirty="0">
                <a:solidFill>
                  <a:schemeClr val="tx1"/>
                </a:solidFill>
                <a:latin typeface="Times New Roman" panose="02020603050405020304" pitchFamily="18" charset="0"/>
                <a:cs typeface="Times New Roman" panose="02020603050405020304" pitchFamily="18" charset="0"/>
              </a:rPr>
              <a:t>：预测、预取；</a:t>
            </a:r>
            <a:endParaRPr lang="zh-CN" altLang="en-US" sz="2000" b="0" dirty="0">
              <a:solidFill>
                <a:schemeClr val="tx1"/>
              </a:solidFill>
              <a:latin typeface="Times New Roman" panose="02020603050405020304" pitchFamily="18" charset="0"/>
              <a:cs typeface="Times New Roman" panose="02020603050405020304" pitchFamily="18" charset="0"/>
            </a:endParaRPr>
          </a:p>
          <a:p>
            <a:pPr marL="971550" lvl="1" indent="-514350" algn="just" eaLnBrk="1" latinLnBrk="0" hangingPunct="1">
              <a:spcBef>
                <a:spcPts val="1200"/>
              </a:spcBef>
              <a:buFont typeface="+mj-ea"/>
              <a:buAutoNum type="circleNumDbPlain"/>
            </a:pPr>
            <a:r>
              <a:rPr lang="zh-CN" altLang="en-US" sz="2000" b="0" dirty="0">
                <a:solidFill>
                  <a:srgbClr val="FF0000"/>
                </a:solidFill>
                <a:latin typeface="Times New Roman" panose="02020603050405020304" pitchFamily="18" charset="0"/>
                <a:cs typeface="Times New Roman" panose="02020603050405020304" pitchFamily="18" charset="0"/>
              </a:rPr>
              <a:t>可靠性技术</a:t>
            </a:r>
            <a:r>
              <a:rPr lang="zh-CN" altLang="en-US" sz="2000" b="0" dirty="0">
                <a:solidFill>
                  <a:schemeClr val="tx1"/>
                </a:solidFill>
                <a:latin typeface="Times New Roman" panose="02020603050405020304" pitchFamily="18" charset="0"/>
                <a:cs typeface="Times New Roman" panose="02020603050405020304" pitchFamily="18" charset="0"/>
              </a:rPr>
              <a:t>：冗余、容错</a:t>
            </a:r>
            <a:endParaRPr lang="zh-CN" altLang="en-US" sz="2000" b="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1.1.4 </a:t>
            </a:r>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计算机</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系统的</a:t>
            </a:r>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实现</a:t>
            </a:r>
            <a:endParaRPr lang="zh-CN" altLang="en-US"/>
          </a:p>
        </p:txBody>
      </p:sp>
      <p:sp>
        <p:nvSpPr>
          <p:cNvPr id="3" name="内容占位符 2"/>
          <p:cNvSpPr>
            <a:spLocks noGrp="1"/>
          </p:cNvSpPr>
          <p:nvPr>
            <p:ph idx="1"/>
          </p:nvPr>
        </p:nvSpPr>
        <p:spPr>
          <a:xfrm>
            <a:off x="457200" y="1212850"/>
            <a:ext cx="8229600" cy="5203190"/>
          </a:xfrm>
        </p:spPr>
        <p:txBody>
          <a:bodyPr/>
          <a:lstStyle/>
          <a:p>
            <a:pPr latinLnBrk="0">
              <a:spcBef>
                <a:spcPts val="1200"/>
              </a:spcBef>
            </a:pPr>
            <a:r>
              <a:rPr lang="zh-CN" altLang="en-US" sz="2400">
                <a:sym typeface="+mn-ea"/>
              </a:rPr>
              <a:t>是计算机组成的</a:t>
            </a:r>
            <a:r>
              <a:rPr lang="zh-CN" altLang="en-US" sz="2400">
                <a:solidFill>
                  <a:srgbClr val="FF0000"/>
                </a:solidFill>
                <a:sym typeface="+mn-ea"/>
              </a:rPr>
              <a:t>物理实现</a:t>
            </a:r>
            <a:r>
              <a:rPr lang="zh-CN" altLang="en-US" sz="2400">
                <a:sym typeface="+mn-ea"/>
              </a:rPr>
              <a:t>：</a:t>
            </a:r>
            <a:endParaRPr lang="zh-CN" altLang="en-US" sz="2400">
              <a:sym typeface="+mn-ea"/>
            </a:endParaRPr>
          </a:p>
          <a:p>
            <a:pPr lvl="1" algn="l" latinLnBrk="0">
              <a:spcBef>
                <a:spcPts val="1200"/>
              </a:spcBef>
              <a:buSzTx/>
            </a:pPr>
            <a:r>
              <a:rPr lang="zh-CN" altLang="en-US" sz="2000">
                <a:cs typeface="+mn-ea"/>
                <a:sym typeface="+mn-ea"/>
              </a:rPr>
              <a:t>研究各部件的物理结构、机器的制造技术和工艺等</a:t>
            </a:r>
            <a:endParaRPr lang="zh-CN" altLang="en-US" sz="2000">
              <a:cs typeface="+mn-ea"/>
              <a:sym typeface="+mn-ea"/>
            </a:endParaRPr>
          </a:p>
          <a:p>
            <a:pPr lvl="1" algn="l" latinLnBrk="0">
              <a:spcBef>
                <a:spcPts val="1200"/>
              </a:spcBef>
              <a:buSzTx/>
            </a:pPr>
            <a:r>
              <a:rPr lang="zh-CN" altLang="en-US" sz="2000">
                <a:cs typeface="+mn-ea"/>
                <a:sym typeface="+mn-ea"/>
              </a:rPr>
              <a:t>着眼于</a:t>
            </a:r>
            <a:r>
              <a:rPr lang="zh-CN" altLang="en-US" sz="2000">
                <a:solidFill>
                  <a:srgbClr val="FF0000"/>
                </a:solidFill>
                <a:cs typeface="+mn-ea"/>
                <a:sym typeface="+mn-ea"/>
              </a:rPr>
              <a:t>器件</a:t>
            </a:r>
            <a:r>
              <a:rPr lang="zh-CN" altLang="en-US" sz="2000">
                <a:cs typeface="+mn-ea"/>
                <a:sym typeface="+mn-ea"/>
              </a:rPr>
              <a:t>技术和</a:t>
            </a:r>
            <a:r>
              <a:rPr lang="zh-CN" altLang="en-US" sz="2000">
                <a:solidFill>
                  <a:srgbClr val="FF0000"/>
                </a:solidFill>
                <a:cs typeface="+mn-ea"/>
                <a:sym typeface="+mn-ea"/>
              </a:rPr>
              <a:t>微组装</a:t>
            </a:r>
            <a:r>
              <a:rPr lang="zh-CN" altLang="en-US" sz="2000">
                <a:cs typeface="+mn-ea"/>
                <a:sym typeface="+mn-ea"/>
              </a:rPr>
              <a:t>技术，从设计图纸到物理芯片</a:t>
            </a:r>
            <a:endParaRPr lang="zh-CN" altLang="en-US" sz="2000">
              <a:cs typeface="+mn-ea"/>
              <a:sym typeface="+mn-ea"/>
            </a:endParaRPr>
          </a:p>
          <a:p>
            <a:pPr lvl="1" latinLnBrk="0">
              <a:spcBef>
                <a:spcPts val="1200"/>
              </a:spcBef>
            </a:pPr>
            <a:r>
              <a:rPr lang="zh-CN" altLang="en-US" sz="2000">
                <a:sym typeface="+mn-ea"/>
              </a:rPr>
              <a:t>如主存的物理实现：采用什么样器件，逻辑电路设计</a:t>
            </a:r>
            <a:endParaRPr lang="zh-CN" altLang="en-US" sz="2000">
              <a:sym typeface="+mn-ea"/>
            </a:endParaRPr>
          </a:p>
          <a:p>
            <a:pPr latinLnBrk="0">
              <a:spcBef>
                <a:spcPts val="1200"/>
              </a:spcBef>
            </a:pPr>
            <a:r>
              <a:rPr lang="zh-CN" altLang="en-US" sz="2400">
                <a:sym typeface="+mn-ea"/>
              </a:rPr>
              <a:t>主要包括</a:t>
            </a:r>
            <a:endParaRPr lang="zh-CN" altLang="en-US" sz="2400">
              <a:sym typeface="+mn-ea"/>
            </a:endParaRPr>
          </a:p>
          <a:p>
            <a:pPr lvl="1" latinLnBrk="0">
              <a:spcBef>
                <a:spcPts val="1200"/>
              </a:spcBef>
            </a:pPr>
            <a:r>
              <a:rPr lang="zh-CN" altLang="en-US" sz="2000">
                <a:cs typeface="+mn-ea"/>
                <a:sym typeface="+mn-ea"/>
              </a:rPr>
              <a:t>处理机、主存储器等部件的物理结构</a:t>
            </a:r>
            <a:endParaRPr lang="zh-CN" altLang="en-US" sz="2000">
              <a:cs typeface="+mn-ea"/>
              <a:sym typeface="+mn-ea"/>
            </a:endParaRPr>
          </a:p>
          <a:p>
            <a:pPr lvl="1" latinLnBrk="0">
              <a:spcBef>
                <a:spcPts val="1200"/>
              </a:spcBef>
            </a:pPr>
            <a:r>
              <a:rPr lang="zh-CN" altLang="en-US" sz="2000">
                <a:cs typeface="+mn-ea"/>
                <a:sym typeface="+mn-ea"/>
              </a:rPr>
              <a:t>器件的集成度和速度</a:t>
            </a:r>
            <a:endParaRPr lang="zh-CN" altLang="en-US" sz="2000">
              <a:cs typeface="+mn-ea"/>
              <a:sym typeface="+mn-ea"/>
            </a:endParaRPr>
          </a:p>
          <a:p>
            <a:pPr lvl="1" latinLnBrk="0">
              <a:spcBef>
                <a:spcPts val="1200"/>
              </a:spcBef>
            </a:pPr>
            <a:r>
              <a:rPr lang="zh-CN" altLang="en-US" sz="2000">
                <a:cs typeface="+mn-ea"/>
                <a:sym typeface="+mn-ea"/>
              </a:rPr>
              <a:t>专用器件的设计</a:t>
            </a:r>
            <a:endParaRPr lang="zh-CN" altLang="en-US" sz="2000">
              <a:cs typeface="+mn-ea"/>
              <a:sym typeface="+mn-ea"/>
            </a:endParaRPr>
          </a:p>
          <a:p>
            <a:pPr lvl="1" latinLnBrk="0">
              <a:spcBef>
                <a:spcPts val="1200"/>
              </a:spcBef>
            </a:pPr>
            <a:r>
              <a:rPr lang="zh-CN" altLang="en-US" sz="2000">
                <a:cs typeface="+mn-ea"/>
                <a:sym typeface="+mn-ea"/>
              </a:rPr>
              <a:t>器件、模块、插件、底版的划分与连接</a:t>
            </a:r>
            <a:endParaRPr lang="zh-CN" altLang="en-US" sz="2000">
              <a:cs typeface="+mn-ea"/>
              <a:sym typeface="+mn-ea"/>
            </a:endParaRPr>
          </a:p>
          <a:p>
            <a:pPr lvl="1" latinLnBrk="0">
              <a:spcBef>
                <a:spcPts val="1200"/>
              </a:spcBef>
            </a:pPr>
            <a:r>
              <a:rPr lang="zh-CN" altLang="en-US" sz="2000">
                <a:cs typeface="+mn-ea"/>
                <a:sym typeface="+mn-ea"/>
              </a:rPr>
              <a:t>信号传输技术</a:t>
            </a:r>
            <a:endParaRPr lang="zh-CN" altLang="en-US" sz="2000">
              <a:cs typeface="+mn-ea"/>
              <a:sym typeface="+mn-ea"/>
            </a:endParaRPr>
          </a:p>
          <a:p>
            <a:pPr lvl="1" latinLnBrk="0">
              <a:spcBef>
                <a:spcPts val="1200"/>
              </a:spcBef>
            </a:pPr>
            <a:r>
              <a:rPr lang="zh-CN" altLang="en-US" sz="2000">
                <a:cs typeface="+mn-ea"/>
                <a:sym typeface="+mn-ea"/>
              </a:rPr>
              <a:t>电源、冷却及装配技术，制造工艺及技术等</a:t>
            </a:r>
            <a:endParaRPr lang="zh-CN" altLang="en-US" sz="2000">
              <a:cs typeface="+mn-ea"/>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系统结构、组成和实现三者的关系</a:t>
            </a:r>
            <a:endPar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212850"/>
            <a:ext cx="8229600" cy="2961005"/>
          </a:xfrm>
        </p:spPr>
        <p:txBody>
          <a:bodyPr/>
          <a:lstStyle/>
          <a:p>
            <a:pPr latinLnBrk="0">
              <a:spcBef>
                <a:spcPts val="1200"/>
              </a:spcBef>
            </a:pPr>
            <a:r>
              <a:rPr lang="zh-CN" altLang="en-US" sz="2400">
                <a:sym typeface="+mn-ea"/>
              </a:rPr>
              <a:t>计算机组成是计算机系统结构的</a:t>
            </a:r>
            <a:r>
              <a:rPr lang="zh-CN" altLang="en-US" sz="2400">
                <a:solidFill>
                  <a:srgbClr val="FF0000"/>
                </a:solidFill>
                <a:sym typeface="+mn-ea"/>
              </a:rPr>
              <a:t>逻辑实现</a:t>
            </a:r>
            <a:r>
              <a:rPr lang="zh-CN" altLang="en-US" sz="2400">
                <a:sym typeface="+mn-ea"/>
              </a:rPr>
              <a:t>，计算机实现是计算机组成的</a:t>
            </a:r>
            <a:r>
              <a:rPr lang="zh-CN" altLang="en-US" sz="2400">
                <a:solidFill>
                  <a:srgbClr val="FF0000"/>
                </a:solidFill>
                <a:sym typeface="+mn-ea"/>
              </a:rPr>
              <a:t>物理实现</a:t>
            </a:r>
            <a:endParaRPr lang="zh-CN" altLang="en-US" sz="2400">
              <a:sym typeface="+mn-ea"/>
            </a:endParaRPr>
          </a:p>
          <a:p>
            <a:pPr lvl="1" latinLnBrk="0">
              <a:spcBef>
                <a:spcPts val="1200"/>
              </a:spcBef>
            </a:pPr>
            <a:r>
              <a:rPr lang="zh-CN" altLang="en-US" sz="2000">
                <a:sym typeface="+mn-ea"/>
              </a:rPr>
              <a:t>三者各自包含不同的内容，但又有着紧密的联系</a:t>
            </a:r>
            <a:endParaRPr lang="zh-CN" altLang="en-US" sz="2000">
              <a:sym typeface="+mn-ea"/>
            </a:endParaRPr>
          </a:p>
          <a:p>
            <a:pPr lvl="1" latinLnBrk="0">
              <a:spcBef>
                <a:spcPts val="1200"/>
              </a:spcBef>
            </a:pPr>
            <a:r>
              <a:rPr lang="zh-CN" altLang="en-US" sz="2000">
                <a:sym typeface="+mn-ea"/>
              </a:rPr>
              <a:t>一种系统结构可有多种组成</a:t>
            </a:r>
            <a:endParaRPr lang="zh-CN" altLang="en-US" sz="2000">
              <a:sym typeface="+mn-ea"/>
            </a:endParaRPr>
          </a:p>
          <a:p>
            <a:pPr lvl="1" latinLnBrk="0">
              <a:spcBef>
                <a:spcPts val="1200"/>
              </a:spcBef>
            </a:pPr>
            <a:r>
              <a:rPr lang="zh-CN" altLang="en-US" sz="2000">
                <a:sym typeface="+mn-ea"/>
              </a:rPr>
              <a:t>一种组成可以有多种物理实现</a:t>
            </a:r>
            <a:endParaRPr lang="zh-CN" altLang="en-US" sz="2000">
              <a:sym typeface="+mn-ea"/>
            </a:endParaRPr>
          </a:p>
          <a:p>
            <a:pPr latinLnBrk="0">
              <a:spcBef>
                <a:spcPts val="1200"/>
              </a:spcBef>
            </a:pPr>
            <a:endParaRPr lang="zh-CN" altLang="en-US" sz="2400">
              <a:sym typeface="+mn-ea"/>
            </a:endParaRPr>
          </a:p>
          <a:p>
            <a:pPr latinLnBrk="0">
              <a:spcBef>
                <a:spcPts val="1200"/>
              </a:spcBef>
            </a:pPr>
            <a:endParaRPr lang="zh-CN" altLang="en-US" sz="2400">
              <a:sym typeface="+mn-ea"/>
            </a:endParaRPr>
          </a:p>
          <a:p>
            <a:pPr latinLnBrk="0">
              <a:spcBef>
                <a:spcPts val="1200"/>
              </a:spcBef>
            </a:pPr>
            <a:endParaRPr lang="zh-CN" altLang="en-US" sz="2400">
              <a:sym typeface="+mn-ea"/>
            </a:endParaRPr>
          </a:p>
          <a:p>
            <a:pPr latinLnBrk="0">
              <a:spcBef>
                <a:spcPts val="1200"/>
              </a:spcBef>
            </a:pPr>
            <a:endParaRPr lang="zh-CN" altLang="en-US" sz="2400">
              <a:sym typeface="+mn-ea"/>
            </a:endParaRPr>
          </a:p>
          <a:p>
            <a:pPr marL="457200" lvl="1" indent="0">
              <a:buNone/>
            </a:pPr>
            <a:endParaRPr lang="zh-CN" altLang="en-US" sz="2400">
              <a:sym typeface="+mn-ea"/>
            </a:endParaRPr>
          </a:p>
        </p:txBody>
      </p:sp>
      <p:pic>
        <p:nvPicPr>
          <p:cNvPr id="4" name="图片 3"/>
          <p:cNvPicPr>
            <a:picLocks noChangeAspect="1"/>
          </p:cNvPicPr>
          <p:nvPr>
            <p:custDataLst>
              <p:tags r:id="rId1"/>
            </p:custDataLst>
          </p:nvPr>
        </p:nvPicPr>
        <p:blipFill>
          <a:blip r:embed="rId2"/>
          <a:stretch>
            <a:fillRect/>
          </a:stretch>
        </p:blipFill>
        <p:spPr>
          <a:xfrm>
            <a:off x="1763395" y="3645535"/>
            <a:ext cx="5238750" cy="91440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827405" y="4725670"/>
            <a:ext cx="7659370" cy="13246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361950" y="266700"/>
            <a:ext cx="7772400" cy="1143000"/>
          </a:xfrm>
          <a:noFill/>
          <a:ln>
            <a:noFill/>
          </a:ln>
        </p:spPr>
        <p:txBody>
          <a:bodyPr/>
          <a:lstStyle/>
          <a:p>
            <a:pPr eaLnBrk="1" hangingPunct="1"/>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系统结构、组成和实现三者的关系</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723" name="Rectangle 3"/>
          <p:cNvSpPr>
            <a:spLocks noGrp="1"/>
          </p:cNvSpPr>
          <p:nvPr>
            <p:ph idx="1"/>
          </p:nvPr>
        </p:nvSpPr>
        <p:spPr>
          <a:xfrm>
            <a:off x="514985" y="1413510"/>
            <a:ext cx="8114030" cy="4637405"/>
          </a:xfrm>
          <a:noFill/>
          <a:ln>
            <a:noFill/>
          </a:ln>
        </p:spPr>
        <p:txBody>
          <a:bodyPr/>
          <a:lstStyle/>
          <a:p>
            <a:pPr algn="just" eaLnBrk="1" latinLnBrk="0" hangingPunct="1">
              <a:spcBef>
                <a:spcPts val="1800"/>
              </a:spcBef>
              <a:buSzTx/>
            </a:pPr>
            <a:r>
              <a:rPr lang="zh-CN" altLang="en-US" sz="2400" b="0" dirty="0">
                <a:solidFill>
                  <a:schemeClr val="tx1"/>
                </a:solidFill>
                <a:latin typeface="Times New Roman" panose="02020603050405020304" pitchFamily="18" charset="0"/>
                <a:cs typeface="Times New Roman" panose="02020603050405020304" pitchFamily="18" charset="0"/>
              </a:rPr>
              <a:t>相同结构的计算机因速度不同采用不同的组成；</a:t>
            </a:r>
            <a:endParaRPr lang="zh-CN" altLang="en-US" sz="2800" b="0" dirty="0">
              <a:solidFill>
                <a:schemeClr val="tx1"/>
              </a:solidFill>
              <a:latin typeface="Times New Roman" panose="02020603050405020304" pitchFamily="18" charset="0"/>
              <a:cs typeface="Times New Roman" panose="02020603050405020304" pitchFamily="18" charset="0"/>
            </a:endParaRPr>
          </a:p>
          <a:p>
            <a:pPr lvl="1" algn="just" eaLnBrk="1" latinLnBrk="0" hangingPunct="1">
              <a:spcBef>
                <a:spcPts val="1200"/>
              </a:spcBef>
              <a:buClr>
                <a:srgbClr val="0A85FF"/>
              </a:buClr>
              <a:buSzPct val="70000"/>
              <a:buFont typeface="Wingdings" panose="05000000000000000000" charset="0"/>
              <a:buChar char="n"/>
            </a:pPr>
            <a:r>
              <a:rPr lang="zh-CN" altLang="en-US" sz="2000" b="0" dirty="0">
                <a:solidFill>
                  <a:srgbClr val="0000FF"/>
                </a:solidFill>
                <a:latin typeface="Times New Roman" panose="02020603050405020304" pitchFamily="18" charset="0"/>
                <a:cs typeface="Times New Roman" panose="02020603050405020304" pitchFamily="18" charset="0"/>
              </a:rPr>
              <a:t>相同指令序列：可顺序或重叠执行</a:t>
            </a:r>
            <a:r>
              <a:rPr lang="zh-CN" altLang="en-US" sz="2000" b="0" dirty="0">
                <a:solidFill>
                  <a:schemeClr val="tx1"/>
                </a:solidFill>
                <a:latin typeface="Times New Roman" panose="02020603050405020304" pitchFamily="18" charset="0"/>
                <a:cs typeface="Times New Roman" panose="02020603050405020304" pitchFamily="18" charset="0"/>
              </a:rPr>
              <a:t>；</a:t>
            </a:r>
            <a:endParaRPr lang="zh-CN" altLang="en-US" sz="2000" b="0" dirty="0">
              <a:solidFill>
                <a:schemeClr val="tx1"/>
              </a:solidFill>
              <a:latin typeface="Times New Roman" panose="02020603050405020304" pitchFamily="18" charset="0"/>
              <a:cs typeface="Times New Roman" panose="02020603050405020304" pitchFamily="18" charset="0"/>
            </a:endParaRPr>
          </a:p>
          <a:p>
            <a:pPr lvl="1" algn="just" eaLnBrk="1" latinLnBrk="0" hangingPunct="1">
              <a:spcBef>
                <a:spcPts val="1200"/>
              </a:spcBef>
              <a:buClr>
                <a:srgbClr val="0A85FF"/>
              </a:buClr>
              <a:buSzPct val="70000"/>
              <a:buFont typeface="Wingdings" panose="05000000000000000000" charset="0"/>
              <a:buChar char="n"/>
            </a:pPr>
            <a:r>
              <a:rPr lang="zh-CN" altLang="en-US" sz="2000" b="0" dirty="0">
                <a:solidFill>
                  <a:srgbClr val="0000FF"/>
                </a:solidFill>
                <a:latin typeface="Times New Roman" panose="02020603050405020304" pitchFamily="18" charset="0"/>
                <a:cs typeface="Times New Roman" panose="02020603050405020304" pitchFamily="18" charset="0"/>
              </a:rPr>
              <a:t>乘法运算：可用专门的乘法器或加法</a:t>
            </a:r>
            <a:r>
              <a:rPr lang="en-US" altLang="zh-CN" sz="2000" b="0" dirty="0">
                <a:solidFill>
                  <a:srgbClr val="0000FF"/>
                </a:solidFill>
                <a:latin typeface="Times New Roman" panose="02020603050405020304" pitchFamily="18" charset="0"/>
                <a:cs typeface="Times New Roman" panose="02020603050405020304" pitchFamily="18" charset="0"/>
              </a:rPr>
              <a:t>+</a:t>
            </a:r>
            <a:r>
              <a:rPr lang="zh-CN" altLang="en-US" sz="2000" b="0" dirty="0">
                <a:solidFill>
                  <a:srgbClr val="0000FF"/>
                </a:solidFill>
                <a:latin typeface="Times New Roman" panose="02020603050405020304" pitchFamily="18" charset="0"/>
                <a:cs typeface="Times New Roman" panose="02020603050405020304" pitchFamily="18" charset="0"/>
              </a:rPr>
              <a:t>移位实现；</a:t>
            </a:r>
            <a:endParaRPr lang="zh-CN" altLang="en-US" sz="2400" b="0" dirty="0">
              <a:solidFill>
                <a:srgbClr val="0000FF"/>
              </a:solidFill>
              <a:latin typeface="Times New Roman" panose="02020603050405020304" pitchFamily="18" charset="0"/>
              <a:cs typeface="Times New Roman" panose="02020603050405020304" pitchFamily="18" charset="0"/>
            </a:endParaRPr>
          </a:p>
          <a:p>
            <a:pPr algn="just" eaLnBrk="1" latinLnBrk="0" hangingPunct="1">
              <a:spcBef>
                <a:spcPts val="1800"/>
              </a:spcBef>
              <a:buSzTx/>
            </a:pPr>
            <a:r>
              <a:rPr lang="zh-CN" altLang="en-US" sz="2400" b="0" dirty="0">
                <a:solidFill>
                  <a:schemeClr val="tx1"/>
                </a:solidFill>
                <a:latin typeface="Times New Roman" panose="02020603050405020304" pitchFamily="18" charset="0"/>
                <a:cs typeface="Times New Roman" panose="02020603050405020304" pitchFamily="18" charset="0"/>
                <a:sym typeface="+mn-ea"/>
              </a:rPr>
              <a:t>相同的系统结构也可能采用不同的组成技术；</a:t>
            </a:r>
            <a:endParaRPr lang="zh-CN" altLang="en-US" sz="2400" b="0" dirty="0">
              <a:solidFill>
                <a:schemeClr val="tx1"/>
              </a:solidFill>
              <a:latin typeface="Times New Roman" panose="02020603050405020304" pitchFamily="18" charset="0"/>
              <a:cs typeface="Times New Roman" panose="02020603050405020304" pitchFamily="18" charset="0"/>
            </a:endParaRPr>
          </a:p>
          <a:p>
            <a:pPr lvl="1" algn="just" eaLnBrk="1" latinLnBrk="0" hangingPunct="1">
              <a:spcBef>
                <a:spcPts val="1200"/>
              </a:spcBef>
              <a:buSzPct val="70000"/>
              <a:buFont typeface="Wingdings" panose="05000000000000000000" charset="0"/>
              <a:buChar char="n"/>
            </a:pPr>
            <a:r>
              <a:rPr lang="zh-CN" altLang="en-US" sz="2000" b="0" dirty="0">
                <a:solidFill>
                  <a:srgbClr val="0000FF"/>
                </a:solidFill>
                <a:latin typeface="Times New Roman" panose="02020603050405020304" pitchFamily="18" charset="0"/>
                <a:cs typeface="Times New Roman" panose="02020603050405020304" pitchFamily="18" charset="0"/>
                <a:sym typeface="+mn-ea"/>
              </a:rPr>
              <a:t>面向寄存器的组成；</a:t>
            </a:r>
            <a:endParaRPr lang="zh-CN" altLang="en-US" sz="2000" b="0" dirty="0">
              <a:solidFill>
                <a:srgbClr val="0000FF"/>
              </a:solidFill>
              <a:latin typeface="Times New Roman" panose="02020603050405020304" pitchFamily="18" charset="0"/>
              <a:cs typeface="Times New Roman" panose="02020603050405020304" pitchFamily="18" charset="0"/>
            </a:endParaRPr>
          </a:p>
          <a:p>
            <a:pPr lvl="1" algn="just" eaLnBrk="1" latinLnBrk="0" hangingPunct="1">
              <a:spcBef>
                <a:spcPts val="1200"/>
              </a:spcBef>
              <a:buSzPct val="70000"/>
              <a:buFont typeface="Wingdings" panose="05000000000000000000" charset="0"/>
              <a:buChar char="n"/>
            </a:pPr>
            <a:r>
              <a:rPr lang="zh-CN" altLang="en-US" sz="2000" b="0" dirty="0">
                <a:solidFill>
                  <a:srgbClr val="0000FF"/>
                </a:solidFill>
                <a:latin typeface="Times New Roman" panose="02020603050405020304" pitchFamily="18" charset="0"/>
                <a:cs typeface="Times New Roman" panose="02020603050405020304" pitchFamily="18" charset="0"/>
                <a:sym typeface="+mn-ea"/>
              </a:rPr>
              <a:t>面向主存的组成</a:t>
            </a:r>
            <a:endParaRPr lang="zh-CN" altLang="en-US" sz="2000" b="0" dirty="0">
              <a:solidFill>
                <a:srgbClr val="0000FF"/>
              </a:solidFill>
              <a:latin typeface="Times New Roman" panose="02020603050405020304" pitchFamily="18" charset="0"/>
              <a:cs typeface="Times New Roman" panose="02020603050405020304" pitchFamily="18" charset="0"/>
            </a:endParaRPr>
          </a:p>
          <a:p>
            <a:pPr algn="just" eaLnBrk="1" latinLnBrk="0" hangingPunct="1">
              <a:spcBef>
                <a:spcPts val="1800"/>
              </a:spcBef>
              <a:buSzTx/>
            </a:pPr>
            <a:r>
              <a:rPr lang="zh-CN" altLang="en-US" sz="2400" b="0" dirty="0">
                <a:solidFill>
                  <a:schemeClr val="tx1"/>
                </a:solidFill>
                <a:latin typeface="Times New Roman" panose="02020603050405020304" pitchFamily="18" charset="0"/>
                <a:cs typeface="Times New Roman" panose="02020603050405020304" pitchFamily="18" charset="0"/>
              </a:rPr>
              <a:t>同一种组成可以有不同的实现</a:t>
            </a:r>
            <a:endParaRPr lang="zh-CN" altLang="en-US" sz="2400" b="0" dirty="0">
              <a:solidFill>
                <a:schemeClr val="tx1"/>
              </a:solidFill>
              <a:latin typeface="Times New Roman" panose="02020603050405020304" pitchFamily="18" charset="0"/>
              <a:cs typeface="Times New Roman" panose="02020603050405020304" pitchFamily="18" charset="0"/>
            </a:endParaRPr>
          </a:p>
          <a:p>
            <a:pPr lvl="1" algn="just" eaLnBrk="1" latinLnBrk="0" hangingPunct="1">
              <a:spcBef>
                <a:spcPts val="1200"/>
              </a:spcBef>
              <a:buSzTx/>
            </a:pPr>
            <a:r>
              <a:rPr lang="zh-CN" altLang="en-US" sz="2000" b="0" dirty="0">
                <a:solidFill>
                  <a:srgbClr val="0000FF"/>
                </a:solidFill>
                <a:latin typeface="Times New Roman" panose="02020603050405020304" pitchFamily="18" charset="0"/>
                <a:cs typeface="Times New Roman" panose="02020603050405020304" pitchFamily="18" charset="0"/>
              </a:rPr>
              <a:t>主存可以用DDR或FLASH，取决于性价比和器件；</a:t>
            </a:r>
            <a:endParaRPr lang="zh-CN" altLang="en-US" sz="2400" b="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系统结构、组成和实现三者的关系</a:t>
            </a:r>
            <a:endPar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309370"/>
            <a:ext cx="8229600" cy="4817110"/>
          </a:xfrm>
        </p:spPr>
        <p:txBody>
          <a:bodyPr/>
          <a:lstStyle/>
          <a:p>
            <a:pPr latinLnBrk="0">
              <a:spcBef>
                <a:spcPts val="1200"/>
              </a:spcBef>
            </a:pPr>
            <a:r>
              <a:rPr lang="zh-CN" altLang="en-US" sz="2400" dirty="0">
                <a:latin typeface="Times New Roman" panose="02020603050405020304" pitchFamily="18" charset="0"/>
                <a:cs typeface="Times New Roman" panose="02020603050405020304" pitchFamily="18" charset="0"/>
                <a:sym typeface="+mn-ea"/>
              </a:rPr>
              <a:t>IBM系列机有370/115、125、135、145、158、168等一系列从低速到高速的各种型号</a:t>
            </a:r>
            <a:endParaRPr lang="zh-CN" altLang="en-US" sz="2400" dirty="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dirty="0">
                <a:latin typeface="Times New Roman" panose="02020603050405020304" pitchFamily="18" charset="0"/>
                <a:cs typeface="Times New Roman" panose="02020603050405020304" pitchFamily="18" charset="0"/>
                <a:sym typeface="+mn-ea"/>
              </a:rPr>
              <a:t>它们有相同的系统结构，但采用不同的组成和实现技术</a:t>
            </a:r>
            <a:endParaRPr lang="zh-CN" altLang="en-US" sz="2000" dirty="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1995" dirty="0">
                <a:latin typeface="Times New Roman" panose="02020603050405020304" pitchFamily="18" charset="0"/>
                <a:cs typeface="Times New Roman" panose="02020603050405020304" pitchFamily="18" charset="0"/>
                <a:sym typeface="+mn-ea"/>
              </a:rPr>
              <a:t>如它们有相同的指令系统</a:t>
            </a:r>
            <a:endParaRPr lang="zh-CN" altLang="en-US" sz="1995" dirty="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dirty="0">
                <a:latin typeface="Times New Roman" panose="02020603050405020304" pitchFamily="18" charset="0"/>
                <a:cs typeface="Times New Roman" panose="02020603050405020304" pitchFamily="18" charset="0"/>
                <a:sym typeface="+mn-ea"/>
              </a:rPr>
              <a:t>在低档机上采用指令的分析和指令的执行</a:t>
            </a:r>
            <a:r>
              <a:rPr lang="zh-CN" altLang="en-US" sz="1710" dirty="0">
                <a:solidFill>
                  <a:srgbClr val="FF0000"/>
                </a:solidFill>
                <a:latin typeface="Times New Roman" panose="02020603050405020304" pitchFamily="18" charset="0"/>
                <a:cs typeface="Times New Roman" panose="02020603050405020304" pitchFamily="18" charset="0"/>
                <a:sym typeface="+mn-ea"/>
              </a:rPr>
              <a:t>顺序进行</a:t>
            </a:r>
            <a:r>
              <a:rPr lang="zh-CN" altLang="en-US" sz="1710" dirty="0">
                <a:latin typeface="Times New Roman" panose="02020603050405020304" pitchFamily="18" charset="0"/>
                <a:cs typeface="Times New Roman" panose="02020603050405020304" pitchFamily="18" charset="0"/>
                <a:sym typeface="+mn-ea"/>
              </a:rPr>
              <a:t>的方式</a:t>
            </a:r>
            <a:endParaRPr lang="zh-CN" altLang="en-US" sz="1710" dirty="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dirty="0">
                <a:latin typeface="Times New Roman" panose="02020603050405020304" pitchFamily="18" charset="0"/>
                <a:cs typeface="Times New Roman" panose="02020603050405020304" pitchFamily="18" charset="0"/>
                <a:sym typeface="+mn-ea"/>
              </a:rPr>
              <a:t>在高档机上采用</a:t>
            </a:r>
            <a:r>
              <a:rPr lang="zh-CN" altLang="en-US" sz="1710" dirty="0">
                <a:solidFill>
                  <a:srgbClr val="FF0000"/>
                </a:solidFill>
                <a:latin typeface="Times New Roman" panose="02020603050405020304" pitchFamily="18" charset="0"/>
                <a:cs typeface="Times New Roman" panose="02020603050405020304" pitchFamily="18" charset="0"/>
                <a:sym typeface="+mn-ea"/>
              </a:rPr>
              <a:t>重迭、流水和其它并行</a:t>
            </a:r>
            <a:r>
              <a:rPr lang="zh-CN" altLang="en-US" sz="1710" dirty="0">
                <a:latin typeface="Times New Roman" panose="02020603050405020304" pitchFamily="18" charset="0"/>
                <a:cs typeface="Times New Roman" panose="02020603050405020304" pitchFamily="18" charset="0"/>
                <a:sym typeface="+mn-ea"/>
              </a:rPr>
              <a:t>处理方式。</a:t>
            </a:r>
            <a:endParaRPr lang="zh-CN" altLang="en-US" sz="1710" dirty="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dirty="0">
                <a:latin typeface="Times New Roman" panose="02020603050405020304" pitchFamily="18" charset="0"/>
                <a:cs typeface="Times New Roman" panose="02020603050405020304" pitchFamily="18" charset="0"/>
                <a:sym typeface="+mn-ea"/>
              </a:rPr>
              <a:t>从程序设计者看，各档机器的字长都是32位</a:t>
            </a:r>
            <a:endParaRPr lang="zh-CN" altLang="en-US" sz="2000" dirty="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dirty="0">
                <a:latin typeface="Times New Roman" panose="02020603050405020304" pitchFamily="18" charset="0"/>
                <a:cs typeface="Times New Roman" panose="02020603050405020304" pitchFamily="18" charset="0"/>
                <a:sym typeface="+mn-ea"/>
              </a:rPr>
              <a:t>机器内部的数据通路的宽度不一样，低档机器只有8位；</a:t>
            </a:r>
            <a:endParaRPr lang="zh-CN" altLang="en-US" sz="1710" dirty="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dirty="0">
                <a:latin typeface="Times New Roman" panose="02020603050405020304" pitchFamily="18" charset="0"/>
                <a:cs typeface="Times New Roman" panose="02020603050405020304" pitchFamily="18" charset="0"/>
                <a:sym typeface="+mn-ea"/>
              </a:rPr>
              <a:t>高档机器32位甚至64位</a:t>
            </a:r>
            <a:endParaRPr lang="zh-CN" altLang="en-US" sz="1710" dirty="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1995" dirty="0">
                <a:latin typeface="Times New Roman" panose="02020603050405020304" pitchFamily="18" charset="0"/>
                <a:cs typeface="Times New Roman" panose="02020603050405020304" pitchFamily="18" charset="0"/>
                <a:sym typeface="+mn-ea"/>
              </a:rPr>
              <a:t>各档机器都采用通道方式进行输入输出</a:t>
            </a:r>
            <a:endParaRPr lang="zh-CN" altLang="en-US" sz="1995" dirty="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dirty="0">
                <a:latin typeface="Times New Roman" panose="02020603050405020304" pitchFamily="18" charset="0"/>
                <a:cs typeface="Times New Roman" panose="02020603050405020304" pitchFamily="18" charset="0"/>
                <a:sym typeface="+mn-ea"/>
              </a:rPr>
              <a:t>低档机器采用</a:t>
            </a:r>
            <a:r>
              <a:rPr lang="zh-CN" altLang="en-US" sz="1710" dirty="0">
                <a:solidFill>
                  <a:srgbClr val="FF0000"/>
                </a:solidFill>
                <a:latin typeface="Times New Roman" panose="02020603050405020304" pitchFamily="18" charset="0"/>
                <a:cs typeface="Times New Roman" panose="02020603050405020304" pitchFamily="18" charset="0"/>
                <a:sym typeface="+mn-ea"/>
              </a:rPr>
              <a:t>结合型通道</a:t>
            </a:r>
            <a:r>
              <a:rPr lang="zh-CN" altLang="en-US" sz="1710" dirty="0">
                <a:latin typeface="Times New Roman" panose="02020603050405020304" pitchFamily="18" charset="0"/>
                <a:cs typeface="Times New Roman" panose="02020603050405020304" pitchFamily="18" charset="0"/>
                <a:sym typeface="+mn-ea"/>
              </a:rPr>
              <a:t>，让通道的功能借用</a:t>
            </a:r>
            <a:r>
              <a:rPr lang="en-US" altLang="zh-CN" sz="1710" dirty="0">
                <a:latin typeface="Times New Roman" panose="02020603050405020304" pitchFamily="18" charset="0"/>
                <a:cs typeface="Times New Roman" panose="02020603050405020304" pitchFamily="18" charset="0"/>
                <a:sym typeface="+mn-ea"/>
              </a:rPr>
              <a:t>CPU</a:t>
            </a:r>
            <a:r>
              <a:rPr lang="zh-CN" altLang="en-US" sz="1710" dirty="0">
                <a:latin typeface="Times New Roman" panose="02020603050405020304" pitchFamily="18" charset="0"/>
                <a:cs typeface="Times New Roman" panose="02020603050405020304" pitchFamily="18" charset="0"/>
                <a:sym typeface="+mn-ea"/>
              </a:rPr>
              <a:t>的某些部件去完成</a:t>
            </a:r>
            <a:r>
              <a:rPr lang="en-US" altLang="zh-CN" sz="1710" dirty="0">
                <a:latin typeface="Times New Roman" panose="02020603050405020304" pitchFamily="18" charset="0"/>
                <a:cs typeface="Times New Roman" panose="02020603050405020304" pitchFamily="18" charset="0"/>
                <a:sym typeface="+mn-ea"/>
              </a:rPr>
              <a:t>;</a:t>
            </a:r>
            <a:endParaRPr lang="en-US" altLang="zh-CN" sz="1710" dirty="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dirty="0">
                <a:latin typeface="Times New Roman" panose="02020603050405020304" pitchFamily="18" charset="0"/>
                <a:cs typeface="Times New Roman" panose="02020603050405020304" pitchFamily="18" charset="0"/>
                <a:sym typeface="+mn-ea"/>
              </a:rPr>
              <a:t>高档机器上采用</a:t>
            </a:r>
            <a:r>
              <a:rPr lang="zh-CN" altLang="en-US" sz="1710" dirty="0">
                <a:solidFill>
                  <a:srgbClr val="FF0000"/>
                </a:solidFill>
                <a:latin typeface="Times New Roman" panose="02020603050405020304" pitchFamily="18" charset="0"/>
                <a:cs typeface="Times New Roman" panose="02020603050405020304" pitchFamily="18" charset="0"/>
                <a:sym typeface="+mn-ea"/>
              </a:rPr>
              <a:t>独立型通道</a:t>
            </a:r>
            <a:r>
              <a:rPr lang="zh-CN" altLang="en-US" sz="1710" dirty="0">
                <a:latin typeface="Times New Roman" panose="02020603050405020304" pitchFamily="18" charset="0"/>
                <a:cs typeface="Times New Roman" panose="02020603050405020304" pitchFamily="18" charset="0"/>
                <a:sym typeface="+mn-ea"/>
              </a:rPr>
              <a:t>，让通道独立设置硬件，与</a:t>
            </a:r>
            <a:r>
              <a:rPr lang="en-US" altLang="zh-CN" sz="1710" dirty="0">
                <a:latin typeface="Times New Roman" panose="02020603050405020304" pitchFamily="18" charset="0"/>
                <a:cs typeface="Times New Roman" panose="02020603050405020304" pitchFamily="18" charset="0"/>
                <a:sym typeface="+mn-ea"/>
              </a:rPr>
              <a:t>CPU</a:t>
            </a:r>
            <a:r>
              <a:rPr lang="zh-CN" altLang="en-US" sz="1710" dirty="0">
                <a:latin typeface="Times New Roman" panose="02020603050405020304" pitchFamily="18" charset="0"/>
                <a:cs typeface="Times New Roman" panose="02020603050405020304" pitchFamily="18" charset="0"/>
                <a:sym typeface="+mn-ea"/>
              </a:rPr>
              <a:t>并行工作</a:t>
            </a:r>
            <a:endParaRPr lang="zh-CN" altLang="en-US" sz="171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系统结构、组成和实现三者的关系</a:t>
            </a:r>
            <a:endPar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309370"/>
            <a:ext cx="8229600" cy="4817110"/>
          </a:xfrm>
        </p:spPr>
        <p:txBody>
          <a:bodyPr/>
          <a:lstStyle/>
          <a:p>
            <a:pPr latinLnBrk="0">
              <a:spcBef>
                <a:spcPts val="1200"/>
              </a:spcBef>
            </a:pPr>
            <a:r>
              <a:rPr lang="zh-CN" altLang="en-US" sz="2400">
                <a:sym typeface="+mn-ea"/>
              </a:rPr>
              <a:t>注意</a:t>
            </a:r>
            <a:endParaRPr lang="zh-CN" altLang="en-US" sz="2400">
              <a:sym typeface="+mn-ea"/>
            </a:endParaRPr>
          </a:p>
          <a:p>
            <a:pPr lvl="1" latinLnBrk="0">
              <a:spcBef>
                <a:spcPts val="1200"/>
              </a:spcBef>
            </a:pPr>
            <a:r>
              <a:rPr lang="zh-CN" altLang="en-US" sz="2000">
                <a:sym typeface="+mn-ea"/>
              </a:rPr>
              <a:t>系统结构设计不应对组成、实现技术的采用与发展有过多限制</a:t>
            </a:r>
            <a:endParaRPr lang="zh-CN" altLang="en-US" sz="2000">
              <a:sym typeface="+mn-ea"/>
            </a:endParaRPr>
          </a:p>
          <a:p>
            <a:pPr lvl="1" latinLnBrk="0">
              <a:spcBef>
                <a:spcPts val="1200"/>
              </a:spcBef>
            </a:pPr>
            <a:r>
              <a:rPr lang="zh-CN" altLang="en-US" sz="2000">
                <a:sym typeface="+mn-ea"/>
              </a:rPr>
              <a:t>计算机组成与实现是可以折衷权衡的</a:t>
            </a:r>
            <a:endParaRPr lang="zh-CN" altLang="en-US" sz="2000">
              <a:sym typeface="+mn-ea"/>
            </a:endParaRPr>
          </a:p>
          <a:p>
            <a:pPr lvl="1" latinLnBrk="0">
              <a:spcBef>
                <a:spcPts val="1200"/>
              </a:spcBef>
            </a:pPr>
            <a:r>
              <a:rPr lang="zh-CN" altLang="en-US" sz="2000">
                <a:solidFill>
                  <a:srgbClr val="FF0000"/>
                </a:solidFill>
                <a:sym typeface="+mn-ea"/>
              </a:rPr>
              <a:t>三者的内容不同时期会有所变化</a:t>
            </a:r>
            <a:endParaRPr lang="zh-CN" altLang="en-US" sz="2400">
              <a:sym typeface="+mn-ea"/>
            </a:endParaRPr>
          </a:p>
          <a:p>
            <a:pPr latinLnBrk="0">
              <a:spcBef>
                <a:spcPts val="1200"/>
              </a:spcBef>
            </a:pPr>
            <a:r>
              <a:rPr lang="zh-CN" altLang="en-US" sz="2400">
                <a:sym typeface="+mn-ea"/>
              </a:rPr>
              <a:t> 系统结构的设计与硬件的设计不可混淆</a:t>
            </a:r>
            <a:endParaRPr lang="zh-CN" altLang="en-US" sz="240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700808"/>
            <a:ext cx="5616624" cy="4525963"/>
          </a:xfrm>
        </p:spPr>
        <p:txBody>
          <a:bodyPr/>
          <a:lstStyle/>
          <a:p>
            <a:r>
              <a:rPr lang="zh-CN" altLang="en-US" dirty="0"/>
              <a:t>并行性的概念</a:t>
            </a:r>
            <a:endParaRPr lang="zh-CN" altLang="en-US" dirty="0"/>
          </a:p>
          <a:p>
            <a:pPr lvl="1" latinLnBrk="0">
              <a:spcBef>
                <a:spcPts val="1200"/>
              </a:spcBef>
            </a:pPr>
            <a:r>
              <a:rPr lang="zh-CN" altLang="en-US" sz="1800" dirty="0"/>
              <a:t>可同时运算或操作：</a:t>
            </a:r>
            <a:r>
              <a:rPr lang="zh-CN" altLang="en-US" sz="1800" dirty="0">
                <a:sym typeface="+mn-ea"/>
              </a:rPr>
              <a:t>同时性和并发性</a:t>
            </a:r>
            <a:r>
              <a:rPr lang="zh-CN" altLang="en-US" sz="1800" dirty="0"/>
              <a:t>；</a:t>
            </a:r>
            <a:endParaRPr lang="zh-CN" altLang="en-US" sz="1800" dirty="0"/>
          </a:p>
          <a:p>
            <a:pPr lvl="1" latinLnBrk="0">
              <a:spcBef>
                <a:spcPts val="1200"/>
              </a:spcBef>
            </a:pPr>
            <a:r>
              <a:rPr lang="zh-CN" altLang="en-US" sz="1800" dirty="0"/>
              <a:t>同时性：两个或多个事件在同一时刻发生；</a:t>
            </a:r>
            <a:endParaRPr lang="zh-CN" altLang="en-US" sz="1800" dirty="0"/>
          </a:p>
          <a:p>
            <a:pPr lvl="1" latinLnBrk="0">
              <a:spcBef>
                <a:spcPts val="1200"/>
              </a:spcBef>
            </a:pPr>
            <a:r>
              <a:rPr lang="zh-CN" altLang="en-US" sz="1800" dirty="0"/>
              <a:t>并发性：</a:t>
            </a:r>
            <a:r>
              <a:rPr lang="zh-CN" altLang="en-US" sz="1800" dirty="0">
                <a:sym typeface="+mn-ea"/>
              </a:rPr>
              <a:t>两个或多个事件在同一时间间隔发生</a:t>
            </a:r>
            <a:endParaRPr lang="zh-CN" altLang="en-US" sz="1800" dirty="0"/>
          </a:p>
          <a:p>
            <a:pPr lvl="0" latinLnBrk="0">
              <a:spcBef>
                <a:spcPts val="1800"/>
              </a:spcBef>
            </a:pPr>
            <a:r>
              <a:rPr lang="zh-CN" altLang="en-US" dirty="0"/>
              <a:t>并行性的分级：</a:t>
            </a:r>
            <a:endParaRPr lang="zh-CN" altLang="en-US" dirty="0"/>
          </a:p>
          <a:p>
            <a:pPr lvl="1" algn="l" latinLnBrk="0">
              <a:spcBef>
                <a:spcPts val="1200"/>
              </a:spcBef>
              <a:buSzTx/>
            </a:pPr>
            <a:r>
              <a:rPr lang="zh-CN" altLang="en-US" sz="1800" dirty="0">
                <a:cs typeface="+mn-ea"/>
              </a:rPr>
              <a:t>从执行程序：微操作级、指令级、进程级、作业级；</a:t>
            </a:r>
            <a:endParaRPr lang="zh-CN" altLang="en-US" sz="1800" dirty="0">
              <a:cs typeface="+mn-ea"/>
            </a:endParaRPr>
          </a:p>
          <a:p>
            <a:pPr lvl="1" algn="l" latinLnBrk="0">
              <a:spcBef>
                <a:spcPts val="1200"/>
              </a:spcBef>
              <a:buSzTx/>
            </a:pPr>
            <a:r>
              <a:rPr lang="zh-CN" altLang="en-US" sz="1800" dirty="0">
                <a:cs typeface="+mn-ea"/>
              </a:rPr>
              <a:t>从数据处理：字和位处理</a:t>
            </a:r>
            <a:endParaRPr lang="zh-CN" altLang="en-US" sz="1800" dirty="0">
              <a:cs typeface="+mn-ea"/>
            </a:endParaRPr>
          </a:p>
          <a:p>
            <a:pPr lvl="1" algn="l" latinLnBrk="0">
              <a:spcBef>
                <a:spcPts val="1200"/>
              </a:spcBef>
              <a:buSzTx/>
            </a:pPr>
            <a:r>
              <a:rPr lang="zh-CN" altLang="en-US" sz="1800" dirty="0">
                <a:cs typeface="+mn-ea"/>
              </a:rPr>
              <a:t>从信息处理和加工：存储器、处理器</a:t>
            </a:r>
            <a:endParaRPr lang="zh-CN" altLang="en-US" sz="2400" dirty="0">
              <a:cs typeface="+mn-ea"/>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1.1.</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5</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 计算机系统结构的分类</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5690175" y="1700808"/>
            <a:ext cx="3202305" cy="4113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460" y="1617980"/>
            <a:ext cx="3389630" cy="2259965"/>
          </a:xfrm>
        </p:spPr>
        <p:txBody>
          <a:bodyPr/>
          <a:lstStyle/>
          <a:p>
            <a:r>
              <a:rPr lang="zh-CN" altLang="en-US"/>
              <a:t>实现并行的途径</a:t>
            </a:r>
            <a:endParaRPr lang="zh-CN" altLang="en-US"/>
          </a:p>
          <a:p>
            <a:pPr lvl="1" latinLnBrk="0">
              <a:spcBef>
                <a:spcPts val="1200"/>
              </a:spcBef>
            </a:pPr>
            <a:r>
              <a:rPr lang="zh-CN" altLang="en-US" sz="2400">
                <a:sym typeface="+mn-ea"/>
              </a:rPr>
              <a:t>时间重叠</a:t>
            </a:r>
            <a:r>
              <a:rPr lang="zh-CN" altLang="en-US" sz="2400"/>
              <a:t>；</a:t>
            </a:r>
            <a:endParaRPr lang="zh-CN" altLang="en-US" sz="2400"/>
          </a:p>
          <a:p>
            <a:pPr lvl="1" latinLnBrk="0">
              <a:spcBef>
                <a:spcPts val="1200"/>
              </a:spcBef>
            </a:pPr>
            <a:r>
              <a:rPr lang="zh-CN" altLang="en-US" sz="2400"/>
              <a:t>资源重复；</a:t>
            </a:r>
            <a:endParaRPr lang="zh-CN" altLang="en-US" sz="2400"/>
          </a:p>
          <a:p>
            <a:pPr lvl="1" latinLnBrk="0">
              <a:spcBef>
                <a:spcPts val="1200"/>
              </a:spcBef>
            </a:pPr>
            <a:r>
              <a:rPr lang="zh-CN" altLang="en-US" sz="2400"/>
              <a:t>资源共享：</a:t>
            </a:r>
            <a:endParaRPr lang="zh-CN" altLang="en-US" sz="2400">
              <a:cs typeface="+mn-ea"/>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1.1.</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5</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 计算机系统结构的分类</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 name="组合 1"/>
          <p:cNvGrpSpPr/>
          <p:nvPr/>
        </p:nvGrpSpPr>
        <p:grpSpPr>
          <a:xfrm>
            <a:off x="251460" y="3975100"/>
            <a:ext cx="4608830" cy="2065020"/>
            <a:chOff x="5726" y="2565"/>
            <a:chExt cx="8390" cy="4389"/>
          </a:xfrm>
        </p:grpSpPr>
        <p:pic>
          <p:nvPicPr>
            <p:cNvPr id="101" name="图片 100"/>
            <p:cNvPicPr/>
            <p:nvPr/>
          </p:nvPicPr>
          <p:blipFill>
            <a:blip r:embed="rId1"/>
            <a:srcRect b="81617"/>
            <a:stretch>
              <a:fillRect/>
            </a:stretch>
          </p:blipFill>
          <p:spPr>
            <a:xfrm>
              <a:off x="5726" y="2565"/>
              <a:ext cx="8389" cy="929"/>
            </a:xfrm>
            <a:prstGeom prst="rect">
              <a:avLst/>
            </a:prstGeom>
            <a:noFill/>
            <a:ln w="9525">
              <a:noFill/>
            </a:ln>
          </p:spPr>
        </p:pic>
        <p:pic>
          <p:nvPicPr>
            <p:cNvPr id="102" name="图片 101"/>
            <p:cNvPicPr/>
            <p:nvPr/>
          </p:nvPicPr>
          <p:blipFill>
            <a:blip r:embed="rId2"/>
            <a:stretch>
              <a:fillRect/>
            </a:stretch>
          </p:blipFill>
          <p:spPr>
            <a:xfrm>
              <a:off x="5726" y="3700"/>
              <a:ext cx="8390" cy="3255"/>
            </a:xfrm>
            <a:prstGeom prst="rect">
              <a:avLst/>
            </a:prstGeom>
            <a:noFill/>
            <a:ln w="9525">
              <a:noFill/>
            </a:ln>
          </p:spPr>
        </p:pic>
      </p:grpSp>
      <p:pic>
        <p:nvPicPr>
          <p:cNvPr id="103" name="图片 102"/>
          <p:cNvPicPr/>
          <p:nvPr/>
        </p:nvPicPr>
        <p:blipFill>
          <a:blip r:embed="rId3"/>
          <a:stretch>
            <a:fillRect/>
          </a:stretch>
        </p:blipFill>
        <p:spPr>
          <a:xfrm>
            <a:off x="3563620" y="1701800"/>
            <a:ext cx="2661285" cy="1859280"/>
          </a:xfrm>
          <a:prstGeom prst="rect">
            <a:avLst/>
          </a:prstGeom>
          <a:noFill/>
          <a:ln w="9525">
            <a:noFill/>
          </a:ln>
        </p:spPr>
      </p:pic>
      <p:pic>
        <p:nvPicPr>
          <p:cNvPr id="104" name="图片 103"/>
          <p:cNvPicPr/>
          <p:nvPr/>
        </p:nvPicPr>
        <p:blipFill>
          <a:blip r:embed="rId4"/>
          <a:stretch>
            <a:fillRect/>
          </a:stretch>
        </p:blipFill>
        <p:spPr>
          <a:xfrm>
            <a:off x="6443980" y="1672590"/>
            <a:ext cx="2329180" cy="1888490"/>
          </a:xfrm>
          <a:prstGeom prst="rect">
            <a:avLst/>
          </a:prstGeom>
          <a:noFill/>
          <a:ln w="9525">
            <a:noFill/>
          </a:ln>
        </p:spPr>
      </p:pic>
      <p:pic>
        <p:nvPicPr>
          <p:cNvPr id="105" name="图片 104"/>
          <p:cNvPicPr/>
          <p:nvPr/>
        </p:nvPicPr>
        <p:blipFill>
          <a:blip r:embed="rId5"/>
          <a:stretch>
            <a:fillRect/>
          </a:stretch>
        </p:blipFill>
        <p:spPr>
          <a:xfrm>
            <a:off x="5003800" y="3975100"/>
            <a:ext cx="3907790" cy="2058035"/>
          </a:xfrm>
          <a:prstGeom prst="rect">
            <a:avLst/>
          </a:prstGeom>
          <a:noFill/>
          <a:ln w="9525">
            <a:noFill/>
          </a:ln>
        </p:spPr>
      </p:pic>
      <p:sp>
        <p:nvSpPr>
          <p:cNvPr id="4" name="文本框 3"/>
          <p:cNvSpPr txBox="1"/>
          <p:nvPr/>
        </p:nvSpPr>
        <p:spPr>
          <a:xfrm>
            <a:off x="4285615" y="3533140"/>
            <a:ext cx="1438275" cy="368300"/>
          </a:xfrm>
          <a:prstGeom prst="rect">
            <a:avLst/>
          </a:prstGeom>
          <a:noFill/>
        </p:spPr>
        <p:txBody>
          <a:bodyPr wrap="square" rtlCol="0">
            <a:spAutoFit/>
          </a:bodyPr>
          <a:lstStyle/>
          <a:p>
            <a:pPr algn="ctr"/>
            <a:r>
              <a:rPr lang="zh-CN" altLang="en-US">
                <a:solidFill>
                  <a:srgbClr val="0000FF"/>
                </a:solidFill>
                <a:latin typeface="+mn-lt"/>
                <a:ea typeface="+mn-lt"/>
              </a:rPr>
              <a:t>多处理器</a:t>
            </a:r>
            <a:endParaRPr lang="zh-CN" altLang="en-US">
              <a:solidFill>
                <a:srgbClr val="0000FF"/>
              </a:solidFill>
              <a:latin typeface="+mn-lt"/>
              <a:ea typeface="+mn-lt"/>
            </a:endParaRPr>
          </a:p>
        </p:txBody>
      </p:sp>
      <p:sp>
        <p:nvSpPr>
          <p:cNvPr id="5" name="文本框 4"/>
          <p:cNvSpPr txBox="1"/>
          <p:nvPr/>
        </p:nvSpPr>
        <p:spPr>
          <a:xfrm>
            <a:off x="6804025" y="3547745"/>
            <a:ext cx="1438275" cy="368300"/>
          </a:xfrm>
          <a:prstGeom prst="rect">
            <a:avLst/>
          </a:prstGeom>
          <a:noFill/>
        </p:spPr>
        <p:txBody>
          <a:bodyPr wrap="square" rtlCol="0">
            <a:spAutoFit/>
          </a:bodyPr>
          <a:lstStyle/>
          <a:p>
            <a:pPr algn="ctr"/>
            <a:r>
              <a:rPr lang="zh-CN" altLang="en-US">
                <a:solidFill>
                  <a:srgbClr val="0000FF"/>
                </a:solidFill>
                <a:latin typeface="+mn-lt"/>
                <a:ea typeface="+mn-lt"/>
              </a:rPr>
              <a:t>多核</a:t>
            </a:r>
            <a:endParaRPr lang="zh-CN" altLang="en-US">
              <a:solidFill>
                <a:srgbClr val="0000FF"/>
              </a:solidFill>
              <a:latin typeface="+mn-lt"/>
              <a:ea typeface="+mn-lt"/>
            </a:endParaRPr>
          </a:p>
        </p:txBody>
      </p:sp>
      <p:sp>
        <p:nvSpPr>
          <p:cNvPr id="6" name="文本框 5"/>
          <p:cNvSpPr txBox="1"/>
          <p:nvPr/>
        </p:nvSpPr>
        <p:spPr>
          <a:xfrm>
            <a:off x="6238875" y="6059170"/>
            <a:ext cx="1438275" cy="368300"/>
          </a:xfrm>
          <a:prstGeom prst="rect">
            <a:avLst/>
          </a:prstGeom>
          <a:noFill/>
        </p:spPr>
        <p:txBody>
          <a:bodyPr wrap="square" rtlCol="0">
            <a:spAutoFit/>
          </a:bodyPr>
          <a:lstStyle/>
          <a:p>
            <a:pPr algn="ctr"/>
            <a:r>
              <a:rPr lang="zh-CN" altLang="en-US">
                <a:solidFill>
                  <a:srgbClr val="0000FF"/>
                </a:solidFill>
                <a:latin typeface="+mn-lt"/>
                <a:ea typeface="+mn-lt"/>
              </a:rPr>
              <a:t>多核多线程</a:t>
            </a:r>
            <a:endParaRPr lang="zh-CN" altLang="en-US">
              <a:solidFill>
                <a:srgbClr val="0000FF"/>
              </a:solidFill>
              <a:latin typeface="+mn-lt"/>
              <a:ea typeface="+mn-lt"/>
            </a:endParaRPr>
          </a:p>
        </p:txBody>
      </p:sp>
      <p:sp>
        <p:nvSpPr>
          <p:cNvPr id="7" name="文本框 6"/>
          <p:cNvSpPr txBox="1"/>
          <p:nvPr/>
        </p:nvSpPr>
        <p:spPr>
          <a:xfrm>
            <a:off x="1979930" y="6093460"/>
            <a:ext cx="1438275" cy="368300"/>
          </a:xfrm>
          <a:prstGeom prst="rect">
            <a:avLst/>
          </a:prstGeom>
          <a:noFill/>
        </p:spPr>
        <p:txBody>
          <a:bodyPr wrap="square" rtlCol="0">
            <a:spAutoFit/>
          </a:bodyPr>
          <a:lstStyle/>
          <a:p>
            <a:pPr algn="ctr"/>
            <a:r>
              <a:rPr lang="zh-CN" altLang="en-US">
                <a:solidFill>
                  <a:srgbClr val="0000FF"/>
                </a:solidFill>
                <a:latin typeface="+mn-lt"/>
                <a:ea typeface="+mn-lt"/>
              </a:rPr>
              <a:t>时间重叠</a:t>
            </a:r>
            <a:endParaRPr lang="zh-CN" altLang="en-US">
              <a:solidFill>
                <a:srgbClr val="0000FF"/>
              </a:solidFill>
              <a:latin typeface="+mn-lt"/>
              <a:ea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1.1.</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5</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 计算机系统结构的分类</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817110"/>
          </a:xfrm>
        </p:spPr>
        <p:txBody>
          <a:bodyPr/>
          <a:lstStyle/>
          <a:p>
            <a:pPr latinLnBrk="0">
              <a:spcBef>
                <a:spcPts val="1200"/>
              </a:spcBef>
            </a:pPr>
            <a:r>
              <a:rPr lang="zh-CN" altLang="en-US" sz="2400" dirty="0">
                <a:latin typeface="Times New Roman" panose="02020603050405020304" pitchFamily="18" charset="0"/>
                <a:cs typeface="Times New Roman" panose="02020603050405020304" pitchFamily="18" charset="0"/>
                <a:sym typeface="+mn-ea"/>
              </a:rPr>
              <a:t>1 Flynn分类法</a:t>
            </a:r>
            <a:endParaRPr lang="zh-CN" altLang="en-US" sz="2400" dirty="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dirty="0">
                <a:latin typeface="Times New Roman" panose="02020603050405020304" pitchFamily="18" charset="0"/>
                <a:cs typeface="Times New Roman" panose="02020603050405020304" pitchFamily="18" charset="0"/>
                <a:sym typeface="+mn-ea"/>
              </a:rPr>
              <a:t>指令流(Instruction Stream,IS)  </a:t>
            </a:r>
            <a:endParaRPr lang="zh-CN" altLang="en-US" sz="2400" dirty="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dirty="0">
                <a:latin typeface="Times New Roman" panose="02020603050405020304" pitchFamily="18" charset="0"/>
                <a:cs typeface="Times New Roman" panose="02020603050405020304" pitchFamily="18" charset="0"/>
                <a:sym typeface="+mn-ea"/>
              </a:rPr>
              <a:t>数据流(Data Stream,DS)</a:t>
            </a:r>
            <a:endParaRPr lang="zh-CN" altLang="en-US" sz="2400" dirty="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dirty="0">
                <a:latin typeface="Times New Roman" panose="02020603050405020304" pitchFamily="18" charset="0"/>
                <a:cs typeface="Times New Roman" panose="02020603050405020304" pitchFamily="18" charset="0"/>
                <a:sym typeface="+mn-ea"/>
              </a:rPr>
              <a:t>多倍性(Multiplicity)：</a:t>
            </a:r>
            <a:r>
              <a:rPr lang="zh-CN" altLang="en-US" sz="2000" dirty="0">
                <a:solidFill>
                  <a:srgbClr val="FF0000"/>
                </a:solidFill>
                <a:latin typeface="Times New Roman" panose="02020603050405020304" pitchFamily="18" charset="0"/>
                <a:cs typeface="Times New Roman" panose="02020603050405020304" pitchFamily="18" charset="0"/>
                <a:sym typeface="+mn-ea"/>
              </a:rPr>
              <a:t>同时处于同一阶段的指令或数据的个数</a:t>
            </a:r>
            <a:endParaRPr lang="zh-CN" altLang="en-US" sz="2400" dirty="0">
              <a:solidFill>
                <a:srgbClr val="FF0000"/>
              </a:solidFill>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dirty="0">
                <a:latin typeface="Times New Roman" panose="02020603050405020304" pitchFamily="18" charset="0"/>
                <a:cs typeface="Times New Roman" panose="02020603050405020304" pitchFamily="18" charset="0"/>
                <a:sym typeface="+mn-ea"/>
              </a:rPr>
              <a:t>SISD(Single Instruction Stream Single Data Stream)</a:t>
            </a:r>
            <a:endParaRPr lang="zh-CN" altLang="en-US" sz="2055" dirty="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dirty="0">
                <a:latin typeface="Times New Roman" panose="02020603050405020304" pitchFamily="18" charset="0"/>
                <a:cs typeface="Times New Roman" panose="02020603050405020304" pitchFamily="18" charset="0"/>
                <a:sym typeface="+mn-ea"/>
              </a:rPr>
              <a:t>SIMD(Single Instruction Stream Multiple Data Stream)</a:t>
            </a:r>
            <a:endParaRPr lang="zh-CN" altLang="en-US" sz="2055" dirty="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dirty="0">
                <a:latin typeface="Times New Roman" panose="02020603050405020304" pitchFamily="18" charset="0"/>
                <a:cs typeface="Times New Roman" panose="02020603050405020304" pitchFamily="18" charset="0"/>
                <a:sym typeface="+mn-ea"/>
              </a:rPr>
              <a:t>MISD(Multiple Instruction Stream Single Data Stream)</a:t>
            </a:r>
            <a:endParaRPr lang="zh-CN" altLang="en-US" sz="2055" dirty="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dirty="0">
                <a:latin typeface="Times New Roman" panose="02020603050405020304" pitchFamily="18" charset="0"/>
                <a:cs typeface="Times New Roman" panose="02020603050405020304" pitchFamily="18" charset="0"/>
                <a:sym typeface="+mn-ea"/>
              </a:rPr>
              <a:t>MIMD(Multiple Instruction Stream Multiple Data Stream)</a:t>
            </a: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SISD</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216535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典型单处理机，传统的顺序处理机(串行机)</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单功能部件处理机：IBM1401，VAX-11</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多功能部件处理机：IBM360/91，370/168，CDC6600</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流水线处理机，指</a:t>
            </a:r>
            <a:r>
              <a:rPr lang="zh-CN" altLang="en-US" sz="2400">
                <a:solidFill>
                  <a:srgbClr val="FF0000"/>
                </a:solidFill>
                <a:latin typeface="Times New Roman" panose="02020603050405020304" pitchFamily="18" charset="0"/>
                <a:cs typeface="Times New Roman" panose="02020603050405020304" pitchFamily="18" charset="0"/>
                <a:sym typeface="+mn-ea"/>
              </a:rPr>
              <a:t>标量流水线处理机</a:t>
            </a:r>
            <a:endParaRPr lang="zh-CN" altLang="en-US" sz="2400">
              <a:solidFill>
                <a:srgbClr val="FF0000"/>
              </a:solidFill>
              <a:latin typeface="Times New Roman" panose="02020603050405020304" pitchFamily="18" charset="0"/>
              <a:cs typeface="Times New Roman" panose="02020603050405020304" pitchFamily="18" charset="0"/>
              <a:sym typeface="+mn-ea"/>
            </a:endParaRPr>
          </a:p>
        </p:txBody>
      </p:sp>
      <p:grpSp>
        <p:nvGrpSpPr>
          <p:cNvPr id="34821" name="Group 4"/>
          <p:cNvGrpSpPr/>
          <p:nvPr/>
        </p:nvGrpSpPr>
        <p:grpSpPr>
          <a:xfrm>
            <a:off x="667385" y="3789045"/>
            <a:ext cx="5638800" cy="2057400"/>
            <a:chOff x="1104" y="384"/>
            <a:chExt cx="3552" cy="1296"/>
          </a:xfrm>
        </p:grpSpPr>
        <p:sp>
          <p:nvSpPr>
            <p:cNvPr id="34822" name="Text Box 5"/>
            <p:cNvSpPr txBox="1"/>
            <p:nvPr>
              <p:custDataLst>
                <p:tags r:id="rId2"/>
              </p:custDataLst>
            </p:nvPr>
          </p:nvSpPr>
          <p:spPr>
            <a:xfrm>
              <a:off x="1104" y="960"/>
              <a:ext cx="816" cy="371"/>
            </a:xfrm>
            <a:prstGeom prst="rect">
              <a:avLst/>
            </a:prstGeom>
            <a:solidFill>
              <a:srgbClr val="3D41E9"/>
            </a:solidFill>
            <a:ln w="9525" cap="flat" cmpd="sng">
              <a:solidFill>
                <a:schemeClr val="tx1"/>
              </a:solidFill>
              <a:prstDash val="solid"/>
              <a:miter/>
              <a:headEnd type="none" w="med" len="med"/>
              <a:tailEnd type="none" w="med" len="med"/>
            </a:ln>
          </p:spPr>
          <p:txBody>
            <a:bodyPr>
              <a:spAutoFit/>
            </a:bodyPr>
            <a:lstStyle/>
            <a:p>
              <a:pPr algn="ctr" eaLnBrk="1" hangingPunct="1">
                <a:spcBef>
                  <a:spcPct val="50000"/>
                </a:spcBef>
              </a:pPr>
              <a:r>
                <a:rPr lang="en-US" altLang="zh-CN" sz="3200" i="1" dirty="0">
                  <a:solidFill>
                    <a:srgbClr val="FF0000"/>
                  </a:solidFill>
                  <a:latin typeface="Tahoma" panose="020B0604030504040204" pitchFamily="34" charset="0"/>
                </a:rPr>
                <a:t>CU</a:t>
              </a:r>
              <a:endParaRPr lang="en-US" altLang="zh-CN" sz="3200" i="1" dirty="0">
                <a:solidFill>
                  <a:srgbClr val="FF0000"/>
                </a:solidFill>
                <a:latin typeface="Tahoma" panose="020B0604030504040204" pitchFamily="34" charset="0"/>
              </a:endParaRPr>
            </a:p>
          </p:txBody>
        </p:sp>
        <p:sp>
          <p:nvSpPr>
            <p:cNvPr id="34823" name="Text Box 6"/>
            <p:cNvSpPr txBox="1"/>
            <p:nvPr>
              <p:custDataLst>
                <p:tags r:id="rId3"/>
              </p:custDataLst>
            </p:nvPr>
          </p:nvSpPr>
          <p:spPr>
            <a:xfrm>
              <a:off x="2496" y="960"/>
              <a:ext cx="720" cy="371"/>
            </a:xfrm>
            <a:prstGeom prst="rect">
              <a:avLst/>
            </a:prstGeom>
            <a:solidFill>
              <a:srgbClr val="3D41E9"/>
            </a:solidFill>
            <a:ln w="9525" cap="flat" cmpd="sng">
              <a:solidFill>
                <a:schemeClr val="tx1"/>
              </a:solidFill>
              <a:prstDash val="solid"/>
              <a:miter/>
              <a:headEnd type="none" w="med" len="med"/>
              <a:tailEnd type="none" w="med" len="med"/>
            </a:ln>
          </p:spPr>
          <p:txBody>
            <a:bodyPr>
              <a:spAutoFit/>
            </a:bodyPr>
            <a:lstStyle/>
            <a:p>
              <a:pPr algn="ctr" eaLnBrk="1" hangingPunct="1">
                <a:spcBef>
                  <a:spcPct val="50000"/>
                </a:spcBef>
              </a:pPr>
              <a:r>
                <a:rPr lang="en-US" altLang="zh-CN" sz="3200" i="1" dirty="0">
                  <a:solidFill>
                    <a:srgbClr val="FF0000"/>
                  </a:solidFill>
                  <a:latin typeface="Tahoma" panose="020B0604030504040204" pitchFamily="34" charset="0"/>
                </a:rPr>
                <a:t>PU</a:t>
              </a:r>
              <a:endParaRPr lang="en-US" altLang="zh-CN" sz="3200" i="1" dirty="0">
                <a:solidFill>
                  <a:srgbClr val="FF0000"/>
                </a:solidFill>
                <a:latin typeface="Tahoma" panose="020B0604030504040204" pitchFamily="34" charset="0"/>
              </a:endParaRPr>
            </a:p>
          </p:txBody>
        </p:sp>
        <p:sp>
          <p:nvSpPr>
            <p:cNvPr id="34824" name="Text Box 7"/>
            <p:cNvSpPr txBox="1"/>
            <p:nvPr>
              <p:custDataLst>
                <p:tags r:id="rId4"/>
              </p:custDataLst>
            </p:nvPr>
          </p:nvSpPr>
          <p:spPr>
            <a:xfrm>
              <a:off x="3936" y="960"/>
              <a:ext cx="720" cy="371"/>
            </a:xfrm>
            <a:prstGeom prst="rect">
              <a:avLst/>
            </a:prstGeom>
            <a:solidFill>
              <a:srgbClr val="3D41E9"/>
            </a:solidFill>
            <a:ln w="9525" cap="flat" cmpd="sng">
              <a:solidFill>
                <a:schemeClr val="tx1"/>
              </a:solidFill>
              <a:prstDash val="solid"/>
              <a:miter/>
              <a:headEnd type="none" w="med" len="med"/>
              <a:tailEnd type="none" w="med" len="med"/>
            </a:ln>
          </p:spPr>
          <p:txBody>
            <a:bodyPr>
              <a:spAutoFit/>
            </a:bodyPr>
            <a:lstStyle/>
            <a:p>
              <a:pPr algn="ctr" eaLnBrk="1" hangingPunct="1">
                <a:spcBef>
                  <a:spcPct val="50000"/>
                </a:spcBef>
              </a:pPr>
              <a:r>
                <a:rPr lang="en-US" altLang="zh-CN" sz="3200" i="1" dirty="0">
                  <a:solidFill>
                    <a:srgbClr val="FF0000"/>
                  </a:solidFill>
                  <a:latin typeface="Tahoma" panose="020B0604030504040204" pitchFamily="34" charset="0"/>
                </a:rPr>
                <a:t>MM</a:t>
              </a:r>
              <a:endParaRPr lang="en-US" altLang="zh-CN" sz="3200" i="1" dirty="0">
                <a:solidFill>
                  <a:srgbClr val="FF0000"/>
                </a:solidFill>
                <a:latin typeface="Tahoma" panose="020B0604030504040204" pitchFamily="34" charset="0"/>
              </a:endParaRPr>
            </a:p>
          </p:txBody>
        </p:sp>
        <p:sp>
          <p:nvSpPr>
            <p:cNvPr id="34825" name="Line 8"/>
            <p:cNvSpPr/>
            <p:nvPr>
              <p:custDataLst>
                <p:tags r:id="rId5"/>
              </p:custDataLst>
            </p:nvPr>
          </p:nvSpPr>
          <p:spPr>
            <a:xfrm flipV="1">
              <a:off x="4272" y="720"/>
              <a:ext cx="0" cy="24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4826" name="Line 9"/>
            <p:cNvSpPr/>
            <p:nvPr>
              <p:custDataLst>
                <p:tags r:id="rId6"/>
              </p:custDataLst>
            </p:nvPr>
          </p:nvSpPr>
          <p:spPr>
            <a:xfrm flipH="1">
              <a:off x="1536" y="720"/>
              <a:ext cx="2736" cy="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4827" name="Line 10"/>
            <p:cNvSpPr/>
            <p:nvPr>
              <p:custDataLst>
                <p:tags r:id="rId7"/>
              </p:custDataLst>
            </p:nvPr>
          </p:nvSpPr>
          <p:spPr>
            <a:xfrm>
              <a:off x="1536" y="720"/>
              <a:ext cx="0" cy="240"/>
            </a:xfrm>
            <a:prstGeom prst="line">
              <a:avLst/>
            </a:prstGeom>
            <a:ln w="38100" cap="flat" cmpd="sng">
              <a:solidFill>
                <a:srgbClr val="607634"/>
              </a:solidFill>
              <a:prstDash val="solid"/>
              <a:headEnd type="none" w="med" len="med"/>
              <a:tailEnd type="triangle" w="med" len="med"/>
            </a:ln>
          </p:spPr>
          <p:txBody>
            <a:bodyPr/>
            <a:lstStyle/>
            <a:p>
              <a:endParaRPr lang="zh-CN" altLang="en-US"/>
            </a:p>
          </p:txBody>
        </p:sp>
        <p:sp>
          <p:nvSpPr>
            <p:cNvPr id="34828" name="Text Box 11"/>
            <p:cNvSpPr txBox="1"/>
            <p:nvPr>
              <p:custDataLst>
                <p:tags r:id="rId8"/>
              </p:custDataLst>
            </p:nvPr>
          </p:nvSpPr>
          <p:spPr>
            <a:xfrm>
              <a:off x="1968" y="864"/>
              <a:ext cx="432" cy="288"/>
            </a:xfrm>
            <a:prstGeom prst="rect">
              <a:avLst/>
            </a:prstGeom>
            <a:noFill/>
            <a:ln w="9525">
              <a:noFill/>
            </a:ln>
          </p:spPr>
          <p:txBody>
            <a:bodyPr>
              <a:spAutoFit/>
            </a:bodyPr>
            <a:lstStyle/>
            <a:p>
              <a:pPr algn="ctr" eaLnBrk="1" hangingPunct="1">
                <a:spcBef>
                  <a:spcPct val="50000"/>
                </a:spcBef>
              </a:pPr>
              <a:r>
                <a:rPr lang="en-US" altLang="zh-CN" i="1" dirty="0">
                  <a:latin typeface="Tahoma" panose="020B0604030504040204" pitchFamily="34" charset="0"/>
                </a:rPr>
                <a:t>IS</a:t>
              </a:r>
              <a:endParaRPr lang="en-US" altLang="zh-CN" i="1" dirty="0">
                <a:latin typeface="Tahoma" panose="020B0604030504040204" pitchFamily="34" charset="0"/>
              </a:endParaRPr>
            </a:p>
          </p:txBody>
        </p:sp>
        <p:sp>
          <p:nvSpPr>
            <p:cNvPr id="34829" name="Text Box 12"/>
            <p:cNvSpPr txBox="1"/>
            <p:nvPr>
              <p:custDataLst>
                <p:tags r:id="rId9"/>
              </p:custDataLst>
            </p:nvPr>
          </p:nvSpPr>
          <p:spPr>
            <a:xfrm>
              <a:off x="3360" y="864"/>
              <a:ext cx="480" cy="288"/>
            </a:xfrm>
            <a:prstGeom prst="rect">
              <a:avLst/>
            </a:prstGeom>
            <a:noFill/>
            <a:ln w="9525">
              <a:noFill/>
            </a:ln>
          </p:spPr>
          <p:txBody>
            <a:bodyPr>
              <a:spAutoFit/>
            </a:bodyPr>
            <a:lstStyle/>
            <a:p>
              <a:pPr eaLnBrk="1" hangingPunct="1">
                <a:spcBef>
                  <a:spcPct val="50000"/>
                </a:spcBef>
              </a:pPr>
              <a:r>
                <a:rPr lang="en-US" altLang="zh-CN" i="1" dirty="0">
                  <a:latin typeface="Tahoma" panose="020B0604030504040204" pitchFamily="34" charset="0"/>
                </a:rPr>
                <a:t>DS</a:t>
              </a:r>
              <a:endParaRPr lang="en-US" altLang="zh-CN" i="1" dirty="0">
                <a:latin typeface="Tahoma" panose="020B0604030504040204" pitchFamily="34" charset="0"/>
              </a:endParaRPr>
            </a:p>
          </p:txBody>
        </p:sp>
        <p:sp>
          <p:nvSpPr>
            <p:cNvPr id="34830" name="Text Box 13"/>
            <p:cNvSpPr txBox="1"/>
            <p:nvPr>
              <p:custDataLst>
                <p:tags r:id="rId10"/>
              </p:custDataLst>
            </p:nvPr>
          </p:nvSpPr>
          <p:spPr>
            <a:xfrm>
              <a:off x="2592" y="384"/>
              <a:ext cx="384" cy="288"/>
            </a:xfrm>
            <a:prstGeom prst="rect">
              <a:avLst/>
            </a:prstGeom>
            <a:noFill/>
            <a:ln w="9525">
              <a:noFill/>
            </a:ln>
          </p:spPr>
          <p:txBody>
            <a:bodyPr>
              <a:spAutoFit/>
            </a:bodyPr>
            <a:lstStyle/>
            <a:p>
              <a:pPr eaLnBrk="1" hangingPunct="1">
                <a:spcBef>
                  <a:spcPct val="50000"/>
                </a:spcBef>
              </a:pPr>
              <a:r>
                <a:rPr lang="en-US" altLang="zh-CN" i="1" dirty="0">
                  <a:latin typeface="Tahoma" panose="020B0604030504040204" pitchFamily="34" charset="0"/>
                </a:rPr>
                <a:t>IS</a:t>
              </a:r>
              <a:endParaRPr lang="en-US" altLang="zh-CN" i="1" dirty="0">
                <a:latin typeface="Tahoma" panose="020B0604030504040204" pitchFamily="34" charset="0"/>
              </a:endParaRPr>
            </a:p>
          </p:txBody>
        </p:sp>
        <p:sp>
          <p:nvSpPr>
            <p:cNvPr id="34831" name="Text Box 14"/>
            <p:cNvSpPr txBox="1"/>
            <p:nvPr>
              <p:custDataLst>
                <p:tags r:id="rId11"/>
              </p:custDataLst>
            </p:nvPr>
          </p:nvSpPr>
          <p:spPr>
            <a:xfrm>
              <a:off x="2160" y="1392"/>
              <a:ext cx="864" cy="288"/>
            </a:xfrm>
            <a:prstGeom prst="rect">
              <a:avLst/>
            </a:prstGeom>
            <a:noFill/>
            <a:ln w="9525">
              <a:noFill/>
            </a:ln>
          </p:spPr>
          <p:txBody>
            <a:bodyPr>
              <a:spAutoFit/>
            </a:bodyPr>
            <a:lstStyle/>
            <a:p>
              <a:pPr algn="ctr" eaLnBrk="1" hangingPunct="1">
                <a:spcBef>
                  <a:spcPct val="50000"/>
                </a:spcBef>
              </a:pPr>
              <a:r>
                <a:rPr lang="en-US" altLang="zh-CN" dirty="0">
                  <a:latin typeface="Tahoma" panose="020B0604030504040204" pitchFamily="34" charset="0"/>
                </a:rPr>
                <a:t>SISD</a:t>
              </a:r>
              <a:endParaRPr lang="en-US" altLang="zh-CN" dirty="0">
                <a:latin typeface="Tahoma" panose="020B0604030504040204" pitchFamily="34" charset="0"/>
              </a:endParaRPr>
            </a:p>
          </p:txBody>
        </p:sp>
        <p:sp>
          <p:nvSpPr>
            <p:cNvPr id="34832" name="Line 15"/>
            <p:cNvSpPr/>
            <p:nvPr>
              <p:custDataLst>
                <p:tags r:id="rId12"/>
              </p:custDataLst>
            </p:nvPr>
          </p:nvSpPr>
          <p:spPr>
            <a:xfrm>
              <a:off x="1920" y="1152"/>
              <a:ext cx="576" cy="0"/>
            </a:xfrm>
            <a:prstGeom prst="line">
              <a:avLst/>
            </a:prstGeom>
            <a:ln w="38100" cap="flat" cmpd="sng">
              <a:solidFill>
                <a:srgbClr val="339966"/>
              </a:solidFill>
              <a:prstDash val="solid"/>
              <a:headEnd type="none" w="med" len="lg"/>
              <a:tailEnd type="triangle" w="med" len="lg"/>
            </a:ln>
          </p:spPr>
          <p:txBody>
            <a:bodyPr/>
            <a:lstStyle/>
            <a:p>
              <a:endParaRPr lang="zh-CN" altLang="en-US"/>
            </a:p>
          </p:txBody>
        </p:sp>
        <p:sp>
          <p:nvSpPr>
            <p:cNvPr id="34833" name="Line 16"/>
            <p:cNvSpPr/>
            <p:nvPr>
              <p:custDataLst>
                <p:tags r:id="rId13"/>
              </p:custDataLst>
            </p:nvPr>
          </p:nvSpPr>
          <p:spPr>
            <a:xfrm>
              <a:off x="3216" y="1152"/>
              <a:ext cx="720" cy="0"/>
            </a:xfrm>
            <a:prstGeom prst="line">
              <a:avLst/>
            </a:prstGeom>
            <a:ln w="38100" cap="flat" cmpd="sng">
              <a:solidFill>
                <a:srgbClr val="FF0000"/>
              </a:solidFill>
              <a:prstDash val="solid"/>
              <a:headEnd type="triangle" w="med" len="lg"/>
              <a:tailEnd type="triangle" w="med" len="lg"/>
            </a:ln>
          </p:spPr>
          <p:txBody>
            <a:bodyPr/>
            <a:lstStyle/>
            <a:p>
              <a:endParaRPr lang="zh-CN" altLang="en-US"/>
            </a:p>
          </p:txBody>
        </p:sp>
      </p:grpSp>
      <p:pic>
        <p:nvPicPr>
          <p:cNvPr id="4" name="图片 3"/>
          <p:cNvPicPr>
            <a:picLocks noChangeAspect="1"/>
          </p:cNvPicPr>
          <p:nvPr>
            <p:custDataLst>
              <p:tags r:id="rId14"/>
            </p:custDataLst>
          </p:nvPr>
        </p:nvPicPr>
        <p:blipFill>
          <a:blip r:embed="rId15"/>
          <a:stretch>
            <a:fillRect/>
          </a:stretch>
        </p:blipFill>
        <p:spPr>
          <a:xfrm>
            <a:off x="6588125" y="3509645"/>
            <a:ext cx="2336800" cy="2336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SIMD</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176020"/>
            <a:ext cx="8229600" cy="229870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阵列处理机，并行处理机</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多个PU按一定方式互连，在同一个CU控制下，对各自的数据完成同一条指令规定的操作</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从CU看指令顺序执行</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从PU看数据并行处理</a:t>
            </a:r>
            <a:endParaRPr lang="zh-CN" altLang="en-US" sz="2000">
              <a:latin typeface="Times New Roman" panose="02020603050405020304" pitchFamily="18" charset="0"/>
              <a:cs typeface="Times New Roman" panose="02020603050405020304" pitchFamily="18" charset="0"/>
              <a:sym typeface="+mn-ea"/>
            </a:endParaRPr>
          </a:p>
        </p:txBody>
      </p:sp>
      <p:grpSp>
        <p:nvGrpSpPr>
          <p:cNvPr id="35845" name="Group 60"/>
          <p:cNvGrpSpPr/>
          <p:nvPr/>
        </p:nvGrpSpPr>
        <p:grpSpPr>
          <a:xfrm>
            <a:off x="461645" y="3400425"/>
            <a:ext cx="4814570" cy="2785110"/>
            <a:chOff x="1152" y="1392"/>
            <a:chExt cx="3456" cy="2544"/>
          </a:xfrm>
        </p:grpSpPr>
        <p:sp>
          <p:nvSpPr>
            <p:cNvPr id="35846" name="Rectangle 18"/>
            <p:cNvSpPr/>
            <p:nvPr>
              <p:custDataLst>
                <p:tags r:id="rId2"/>
              </p:custDataLst>
            </p:nvPr>
          </p:nvSpPr>
          <p:spPr>
            <a:xfrm>
              <a:off x="3600" y="1920"/>
              <a:ext cx="1008" cy="201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eaLnBrk="1" hangingPunct="1"/>
              <a:endParaRPr lang="zh-CN" altLang="en-US" sz="1200" dirty="0">
                <a:latin typeface="Tahoma" panose="020B0604030504040204" pitchFamily="34" charset="0"/>
              </a:endParaRPr>
            </a:p>
          </p:txBody>
        </p:sp>
        <p:sp>
          <p:nvSpPr>
            <p:cNvPr id="35847" name="Text Box 19"/>
            <p:cNvSpPr txBox="1"/>
            <p:nvPr>
              <p:custDataLst>
                <p:tags r:id="rId3"/>
              </p:custDataLst>
            </p:nvPr>
          </p:nvSpPr>
          <p:spPr>
            <a:xfrm>
              <a:off x="1152" y="2592"/>
              <a:ext cx="624" cy="364"/>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CU</a:t>
              </a:r>
              <a:endParaRPr lang="en-US" altLang="zh-CN" sz="2000" i="1" dirty="0">
                <a:solidFill>
                  <a:srgbClr val="FF0000"/>
                </a:solidFill>
                <a:latin typeface="Tahoma" panose="020B0604030504040204" pitchFamily="34" charset="0"/>
              </a:endParaRPr>
            </a:p>
          </p:txBody>
        </p:sp>
        <p:sp>
          <p:nvSpPr>
            <p:cNvPr id="35848" name="Text Box 20"/>
            <p:cNvSpPr txBox="1"/>
            <p:nvPr>
              <p:custDataLst>
                <p:tags r:id="rId4"/>
              </p:custDataLst>
            </p:nvPr>
          </p:nvSpPr>
          <p:spPr>
            <a:xfrm>
              <a:off x="2352" y="2064"/>
              <a:ext cx="672" cy="364"/>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1</a:t>
              </a:r>
              <a:endParaRPr lang="en-US" altLang="zh-CN" sz="1400" i="1" dirty="0">
                <a:solidFill>
                  <a:srgbClr val="FF0000"/>
                </a:solidFill>
                <a:latin typeface="Tahoma" panose="020B0604030504040204" pitchFamily="34" charset="0"/>
              </a:endParaRPr>
            </a:p>
          </p:txBody>
        </p:sp>
        <p:sp>
          <p:nvSpPr>
            <p:cNvPr id="35849" name="Text Box 21"/>
            <p:cNvSpPr txBox="1"/>
            <p:nvPr>
              <p:custDataLst>
                <p:tags r:id="rId5"/>
              </p:custDataLst>
            </p:nvPr>
          </p:nvSpPr>
          <p:spPr>
            <a:xfrm>
              <a:off x="2352" y="2640"/>
              <a:ext cx="672" cy="364"/>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2</a:t>
              </a:r>
              <a:endParaRPr lang="en-US" altLang="zh-CN" sz="1400" i="1" dirty="0">
                <a:solidFill>
                  <a:srgbClr val="FF0000"/>
                </a:solidFill>
                <a:latin typeface="Tahoma" panose="020B0604030504040204" pitchFamily="34" charset="0"/>
              </a:endParaRPr>
            </a:p>
          </p:txBody>
        </p:sp>
        <p:sp>
          <p:nvSpPr>
            <p:cNvPr id="35850" name="Text Box 22"/>
            <p:cNvSpPr txBox="1"/>
            <p:nvPr>
              <p:custDataLst>
                <p:tags r:id="rId6"/>
              </p:custDataLst>
            </p:nvPr>
          </p:nvSpPr>
          <p:spPr>
            <a:xfrm>
              <a:off x="2352" y="3408"/>
              <a:ext cx="672" cy="364"/>
            </a:xfrm>
            <a:prstGeom prst="rect">
              <a:avLst/>
            </a:prstGeom>
            <a:solidFill>
              <a:srgbClr val="3D41E9"/>
            </a:solidFill>
            <a:ln w="9525" cap="flat" cmpd="sng">
              <a:solidFill>
                <a:srgbClr val="000066"/>
              </a:solidFill>
              <a:prstDash val="dash"/>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n</a:t>
              </a:r>
              <a:endParaRPr lang="en-US" altLang="zh-CN" sz="1400" i="1" dirty="0">
                <a:solidFill>
                  <a:srgbClr val="FF0000"/>
                </a:solidFill>
                <a:latin typeface="Tahoma" panose="020B0604030504040204" pitchFamily="34" charset="0"/>
              </a:endParaRPr>
            </a:p>
          </p:txBody>
        </p:sp>
        <p:sp>
          <p:nvSpPr>
            <p:cNvPr id="35851" name="Line 23"/>
            <p:cNvSpPr/>
            <p:nvPr>
              <p:custDataLst>
                <p:tags r:id="rId7"/>
              </p:custDataLst>
            </p:nvPr>
          </p:nvSpPr>
          <p:spPr>
            <a:xfrm>
              <a:off x="2688" y="3072"/>
              <a:ext cx="0" cy="192"/>
            </a:xfrm>
            <a:prstGeom prst="line">
              <a:avLst/>
            </a:prstGeom>
            <a:ln w="38100" cap="flat" cmpd="sng">
              <a:solidFill>
                <a:schemeClr val="tx1"/>
              </a:solidFill>
              <a:prstDash val="sysDot"/>
              <a:headEnd type="none" w="med" len="med"/>
              <a:tailEnd type="none" w="med" len="med"/>
            </a:ln>
          </p:spPr>
          <p:txBody>
            <a:bodyPr/>
            <a:lstStyle/>
            <a:p>
              <a:endParaRPr lang="zh-CN" altLang="en-US"/>
            </a:p>
          </p:txBody>
        </p:sp>
        <p:grpSp>
          <p:nvGrpSpPr>
            <p:cNvPr id="35852" name="Group 24"/>
            <p:cNvGrpSpPr/>
            <p:nvPr/>
          </p:nvGrpSpPr>
          <p:grpSpPr>
            <a:xfrm>
              <a:off x="1776" y="2208"/>
              <a:ext cx="576" cy="1392"/>
              <a:chOff x="1680" y="2016"/>
              <a:chExt cx="576" cy="1392"/>
            </a:xfrm>
          </p:grpSpPr>
          <p:sp>
            <p:nvSpPr>
              <p:cNvPr id="35869" name="Line 25"/>
              <p:cNvSpPr/>
              <p:nvPr>
                <p:custDataLst>
                  <p:tags r:id="rId8"/>
                </p:custDataLst>
              </p:nvPr>
            </p:nvSpPr>
            <p:spPr>
              <a:xfrm>
                <a:off x="2016" y="2016"/>
                <a:ext cx="240" cy="0"/>
              </a:xfrm>
              <a:prstGeom prst="line">
                <a:avLst/>
              </a:prstGeom>
              <a:ln w="38100" cap="flat" cmpd="sng">
                <a:solidFill>
                  <a:srgbClr val="607634"/>
                </a:solidFill>
                <a:prstDash val="solid"/>
                <a:headEnd type="none" w="med" len="med"/>
                <a:tailEnd type="triangle" w="med" len="med"/>
              </a:ln>
            </p:spPr>
            <p:txBody>
              <a:bodyPr/>
              <a:lstStyle/>
              <a:p>
                <a:endParaRPr lang="zh-CN" altLang="en-US"/>
              </a:p>
            </p:txBody>
          </p:sp>
          <p:sp>
            <p:nvSpPr>
              <p:cNvPr id="35870" name="Line 26"/>
              <p:cNvSpPr/>
              <p:nvPr>
                <p:custDataLst>
                  <p:tags r:id="rId9"/>
                </p:custDataLst>
              </p:nvPr>
            </p:nvSpPr>
            <p:spPr>
              <a:xfrm>
                <a:off x="2016" y="3408"/>
                <a:ext cx="240" cy="0"/>
              </a:xfrm>
              <a:prstGeom prst="line">
                <a:avLst/>
              </a:prstGeom>
              <a:ln w="38100" cap="flat" cmpd="sng">
                <a:solidFill>
                  <a:srgbClr val="607634"/>
                </a:solidFill>
                <a:prstDash val="solid"/>
                <a:headEnd type="none" w="med" len="med"/>
                <a:tailEnd type="triangle" w="med" len="med"/>
              </a:ln>
            </p:spPr>
            <p:txBody>
              <a:bodyPr/>
              <a:lstStyle/>
              <a:p>
                <a:endParaRPr lang="zh-CN" altLang="en-US"/>
              </a:p>
            </p:txBody>
          </p:sp>
          <p:sp>
            <p:nvSpPr>
              <p:cNvPr id="35871" name="Line 27"/>
              <p:cNvSpPr/>
              <p:nvPr>
                <p:custDataLst>
                  <p:tags r:id="rId10"/>
                </p:custDataLst>
              </p:nvPr>
            </p:nvSpPr>
            <p:spPr>
              <a:xfrm>
                <a:off x="2016" y="2016"/>
                <a:ext cx="0" cy="1392"/>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5872" name="Line 28"/>
              <p:cNvSpPr/>
              <p:nvPr>
                <p:custDataLst>
                  <p:tags r:id="rId11"/>
                </p:custDataLst>
              </p:nvPr>
            </p:nvSpPr>
            <p:spPr>
              <a:xfrm>
                <a:off x="1680" y="2592"/>
                <a:ext cx="576" cy="0"/>
              </a:xfrm>
              <a:prstGeom prst="line">
                <a:avLst/>
              </a:prstGeom>
              <a:ln w="38100" cap="flat" cmpd="sng">
                <a:solidFill>
                  <a:srgbClr val="607634"/>
                </a:solidFill>
                <a:prstDash val="solid"/>
                <a:headEnd type="none" w="med" len="med"/>
                <a:tailEnd type="triangle" w="med" len="med"/>
              </a:ln>
            </p:spPr>
            <p:txBody>
              <a:bodyPr/>
              <a:lstStyle/>
              <a:p>
                <a:endParaRPr lang="zh-CN" altLang="en-US"/>
              </a:p>
            </p:txBody>
          </p:sp>
        </p:grpSp>
        <p:sp>
          <p:nvSpPr>
            <p:cNvPr id="35853" name="Text Box 29"/>
            <p:cNvSpPr txBox="1"/>
            <p:nvPr>
              <p:custDataLst>
                <p:tags r:id="rId12"/>
              </p:custDataLst>
            </p:nvPr>
          </p:nvSpPr>
          <p:spPr>
            <a:xfrm>
              <a:off x="1776" y="2496"/>
              <a:ext cx="336" cy="252"/>
            </a:xfrm>
            <a:prstGeom prst="rect">
              <a:avLst/>
            </a:prstGeom>
            <a:noFill/>
            <a:ln w="9525">
              <a:noFill/>
            </a:ln>
          </p:spPr>
          <p:txBody>
            <a:bodyPr>
              <a:spAutoFit/>
            </a:bodyPr>
            <a:lstStyle/>
            <a:p>
              <a:pPr algn="ctr" eaLnBrk="1" hangingPunct="1">
                <a:spcBef>
                  <a:spcPct val="50000"/>
                </a:spcBef>
              </a:pPr>
              <a:r>
                <a:rPr lang="en-US" altLang="zh-CN" sz="1200" i="1" dirty="0">
                  <a:latin typeface="Tahoma" panose="020B0604030504040204" pitchFamily="34" charset="0"/>
                </a:rPr>
                <a:t>IS</a:t>
              </a:r>
              <a:endParaRPr lang="en-US" altLang="zh-CN" sz="1200" i="1" dirty="0">
                <a:latin typeface="Tahoma" panose="020B0604030504040204" pitchFamily="34" charset="0"/>
              </a:endParaRPr>
            </a:p>
          </p:txBody>
        </p:sp>
        <p:sp>
          <p:nvSpPr>
            <p:cNvPr id="35854" name="Text Box 30"/>
            <p:cNvSpPr txBox="1"/>
            <p:nvPr>
              <p:custDataLst>
                <p:tags r:id="rId13"/>
              </p:custDataLst>
            </p:nvPr>
          </p:nvSpPr>
          <p:spPr>
            <a:xfrm>
              <a:off x="3744" y="2064"/>
              <a:ext cx="672" cy="364"/>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1</a:t>
              </a:r>
              <a:endParaRPr lang="en-US" altLang="zh-CN" sz="1400" i="1" dirty="0">
                <a:solidFill>
                  <a:srgbClr val="FF0000"/>
                </a:solidFill>
                <a:latin typeface="Tahoma" panose="020B0604030504040204" pitchFamily="34" charset="0"/>
              </a:endParaRPr>
            </a:p>
          </p:txBody>
        </p:sp>
        <p:sp>
          <p:nvSpPr>
            <p:cNvPr id="35855" name="Text Box 31"/>
            <p:cNvSpPr txBox="1"/>
            <p:nvPr>
              <p:custDataLst>
                <p:tags r:id="rId14"/>
              </p:custDataLst>
            </p:nvPr>
          </p:nvSpPr>
          <p:spPr>
            <a:xfrm>
              <a:off x="3744" y="2640"/>
              <a:ext cx="672" cy="364"/>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2</a:t>
              </a:r>
              <a:endParaRPr lang="en-US" altLang="zh-CN" sz="1400" i="1" dirty="0">
                <a:solidFill>
                  <a:srgbClr val="FF0000"/>
                </a:solidFill>
                <a:latin typeface="Tahoma" panose="020B0604030504040204" pitchFamily="34" charset="0"/>
              </a:endParaRPr>
            </a:p>
          </p:txBody>
        </p:sp>
        <p:sp>
          <p:nvSpPr>
            <p:cNvPr id="35856" name="Text Box 32"/>
            <p:cNvSpPr txBox="1"/>
            <p:nvPr>
              <p:custDataLst>
                <p:tags r:id="rId15"/>
              </p:custDataLst>
            </p:nvPr>
          </p:nvSpPr>
          <p:spPr>
            <a:xfrm>
              <a:off x="3744" y="3408"/>
              <a:ext cx="672" cy="364"/>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n</a:t>
              </a:r>
              <a:endParaRPr lang="en-US" altLang="zh-CN" sz="1400" i="1" dirty="0">
                <a:solidFill>
                  <a:srgbClr val="FF0000"/>
                </a:solidFill>
                <a:latin typeface="Tahoma" panose="020B0604030504040204" pitchFamily="34" charset="0"/>
              </a:endParaRPr>
            </a:p>
          </p:txBody>
        </p:sp>
        <p:sp>
          <p:nvSpPr>
            <p:cNvPr id="35857" name="Line 33"/>
            <p:cNvSpPr/>
            <p:nvPr>
              <p:custDataLst>
                <p:tags r:id="rId16"/>
              </p:custDataLst>
            </p:nvPr>
          </p:nvSpPr>
          <p:spPr>
            <a:xfrm>
              <a:off x="4032" y="3120"/>
              <a:ext cx="0" cy="192"/>
            </a:xfrm>
            <a:prstGeom prst="line">
              <a:avLst/>
            </a:prstGeom>
            <a:ln w="38100" cap="flat" cmpd="sng">
              <a:solidFill>
                <a:schemeClr val="tx1"/>
              </a:solidFill>
              <a:prstDash val="sysDot"/>
              <a:headEnd type="none" w="med" len="med"/>
              <a:tailEnd type="none" w="med" len="med"/>
            </a:ln>
          </p:spPr>
          <p:txBody>
            <a:bodyPr/>
            <a:lstStyle/>
            <a:p>
              <a:endParaRPr lang="zh-CN" altLang="en-US"/>
            </a:p>
          </p:txBody>
        </p:sp>
        <p:sp>
          <p:nvSpPr>
            <p:cNvPr id="35858" name="Text Box 37"/>
            <p:cNvSpPr txBox="1"/>
            <p:nvPr>
              <p:custDataLst>
                <p:tags r:id="rId17"/>
              </p:custDataLst>
            </p:nvPr>
          </p:nvSpPr>
          <p:spPr>
            <a:xfrm>
              <a:off x="3168" y="1968"/>
              <a:ext cx="432" cy="280"/>
            </a:xfrm>
            <a:prstGeom prst="rect">
              <a:avLst/>
            </a:prstGeom>
            <a:noFill/>
            <a:ln w="9525">
              <a:noFill/>
            </a:ln>
          </p:spPr>
          <p:txBody>
            <a:bodyPr>
              <a:spAutoFit/>
            </a:bodyPr>
            <a:lstStyle/>
            <a:p>
              <a:pPr eaLnBrk="1" hangingPunct="1">
                <a:spcBef>
                  <a:spcPct val="50000"/>
                </a:spcBef>
              </a:pPr>
              <a:r>
                <a:rPr lang="en-US" altLang="zh-CN" sz="1400" i="1" dirty="0">
                  <a:latin typeface="Tahoma" panose="020B0604030504040204" pitchFamily="34" charset="0"/>
                </a:rPr>
                <a:t>DS</a:t>
              </a:r>
              <a:r>
                <a:rPr lang="en-US" altLang="zh-CN" sz="800" i="1" dirty="0">
                  <a:latin typeface="Tahoma" panose="020B0604030504040204" pitchFamily="34" charset="0"/>
                </a:rPr>
                <a:t>1</a:t>
              </a:r>
              <a:endParaRPr lang="en-US" altLang="zh-CN" sz="800" i="1" dirty="0">
                <a:latin typeface="Tahoma" panose="020B0604030504040204" pitchFamily="34" charset="0"/>
              </a:endParaRPr>
            </a:p>
          </p:txBody>
        </p:sp>
        <p:sp>
          <p:nvSpPr>
            <p:cNvPr id="35859" name="Text Box 38"/>
            <p:cNvSpPr txBox="1"/>
            <p:nvPr>
              <p:custDataLst>
                <p:tags r:id="rId18"/>
              </p:custDataLst>
            </p:nvPr>
          </p:nvSpPr>
          <p:spPr>
            <a:xfrm>
              <a:off x="3120" y="2544"/>
              <a:ext cx="432" cy="280"/>
            </a:xfrm>
            <a:prstGeom prst="rect">
              <a:avLst/>
            </a:prstGeom>
            <a:noFill/>
            <a:ln w="9525">
              <a:noFill/>
            </a:ln>
          </p:spPr>
          <p:txBody>
            <a:bodyPr>
              <a:spAutoFit/>
            </a:bodyPr>
            <a:lstStyle/>
            <a:p>
              <a:pPr eaLnBrk="1" hangingPunct="1">
                <a:spcBef>
                  <a:spcPct val="50000"/>
                </a:spcBef>
              </a:pPr>
              <a:r>
                <a:rPr lang="en-US" altLang="zh-CN" sz="1400" i="1" dirty="0">
                  <a:latin typeface="Tahoma" panose="020B0604030504040204" pitchFamily="34" charset="0"/>
                </a:rPr>
                <a:t>DS</a:t>
              </a:r>
              <a:r>
                <a:rPr lang="en-US" altLang="zh-CN" sz="800" i="1" dirty="0">
                  <a:latin typeface="Tahoma" panose="020B0604030504040204" pitchFamily="34" charset="0"/>
                </a:rPr>
                <a:t>2</a:t>
              </a:r>
              <a:endParaRPr lang="en-US" altLang="zh-CN" sz="800" i="1" dirty="0">
                <a:latin typeface="Tahoma" panose="020B0604030504040204" pitchFamily="34" charset="0"/>
              </a:endParaRPr>
            </a:p>
          </p:txBody>
        </p:sp>
        <p:sp>
          <p:nvSpPr>
            <p:cNvPr id="35860" name="Text Box 39"/>
            <p:cNvSpPr txBox="1"/>
            <p:nvPr>
              <p:custDataLst>
                <p:tags r:id="rId19"/>
              </p:custDataLst>
            </p:nvPr>
          </p:nvSpPr>
          <p:spPr>
            <a:xfrm>
              <a:off x="3120" y="3312"/>
              <a:ext cx="432" cy="280"/>
            </a:xfrm>
            <a:prstGeom prst="rect">
              <a:avLst/>
            </a:prstGeom>
            <a:noFill/>
            <a:ln w="9525">
              <a:noFill/>
            </a:ln>
          </p:spPr>
          <p:txBody>
            <a:bodyPr>
              <a:spAutoFit/>
            </a:bodyPr>
            <a:lstStyle/>
            <a:p>
              <a:pPr eaLnBrk="1" hangingPunct="1">
                <a:spcBef>
                  <a:spcPct val="50000"/>
                </a:spcBef>
              </a:pPr>
              <a:r>
                <a:rPr lang="en-US" altLang="zh-CN" sz="1400" i="1" dirty="0">
                  <a:latin typeface="Tahoma" panose="020B0604030504040204" pitchFamily="34" charset="0"/>
                </a:rPr>
                <a:t>DS</a:t>
              </a:r>
              <a:r>
                <a:rPr lang="en-US" altLang="zh-CN" sz="800" i="1" dirty="0">
                  <a:latin typeface="Tahoma" panose="020B0604030504040204" pitchFamily="34" charset="0"/>
                </a:rPr>
                <a:t>n</a:t>
              </a:r>
              <a:endParaRPr lang="en-US" altLang="zh-CN" sz="800" i="1" dirty="0">
                <a:latin typeface="Tahoma" panose="020B0604030504040204" pitchFamily="34" charset="0"/>
              </a:endParaRPr>
            </a:p>
          </p:txBody>
        </p:sp>
        <p:sp>
          <p:nvSpPr>
            <p:cNvPr id="35861" name="Line 40"/>
            <p:cNvSpPr/>
            <p:nvPr>
              <p:custDataLst>
                <p:tags r:id="rId20"/>
              </p:custDataLst>
            </p:nvPr>
          </p:nvSpPr>
          <p:spPr>
            <a:xfrm flipV="1">
              <a:off x="4080" y="1680"/>
              <a:ext cx="0" cy="24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5862" name="Line 41"/>
            <p:cNvSpPr/>
            <p:nvPr>
              <p:custDataLst>
                <p:tags r:id="rId21"/>
              </p:custDataLst>
            </p:nvPr>
          </p:nvSpPr>
          <p:spPr>
            <a:xfrm flipH="1">
              <a:off x="1536" y="1680"/>
              <a:ext cx="2544" cy="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5863" name="Line 42"/>
            <p:cNvSpPr/>
            <p:nvPr>
              <p:custDataLst>
                <p:tags r:id="rId22"/>
              </p:custDataLst>
            </p:nvPr>
          </p:nvSpPr>
          <p:spPr>
            <a:xfrm>
              <a:off x="1536" y="1680"/>
              <a:ext cx="0" cy="912"/>
            </a:xfrm>
            <a:prstGeom prst="line">
              <a:avLst/>
            </a:prstGeom>
            <a:ln w="38100" cap="flat" cmpd="sng">
              <a:solidFill>
                <a:srgbClr val="607634"/>
              </a:solidFill>
              <a:prstDash val="solid"/>
              <a:headEnd type="none" w="med" len="med"/>
              <a:tailEnd type="triangle" w="med" len="med"/>
            </a:ln>
          </p:spPr>
          <p:txBody>
            <a:bodyPr/>
            <a:lstStyle/>
            <a:p>
              <a:endParaRPr lang="zh-CN" altLang="en-US"/>
            </a:p>
          </p:txBody>
        </p:sp>
        <p:sp>
          <p:nvSpPr>
            <p:cNvPr id="35864" name="Text Box 43"/>
            <p:cNvSpPr txBox="1"/>
            <p:nvPr>
              <p:custDataLst>
                <p:tags r:id="rId23"/>
              </p:custDataLst>
            </p:nvPr>
          </p:nvSpPr>
          <p:spPr>
            <a:xfrm>
              <a:off x="1248" y="3504"/>
              <a:ext cx="816" cy="252"/>
            </a:xfrm>
            <a:prstGeom prst="rect">
              <a:avLst/>
            </a:prstGeom>
            <a:noFill/>
            <a:ln w="9525">
              <a:noFill/>
            </a:ln>
          </p:spPr>
          <p:txBody>
            <a:bodyPr>
              <a:spAutoFit/>
            </a:bodyPr>
            <a:lstStyle/>
            <a:p>
              <a:pPr eaLnBrk="1" hangingPunct="1">
                <a:spcBef>
                  <a:spcPct val="50000"/>
                </a:spcBef>
              </a:pPr>
              <a:r>
                <a:rPr lang="en-US" altLang="zh-CN" sz="1200" dirty="0">
                  <a:latin typeface="Tahoma" panose="020B0604030504040204" pitchFamily="34" charset="0"/>
                </a:rPr>
                <a:t>SIMD</a:t>
              </a:r>
              <a:endParaRPr lang="en-US" altLang="zh-CN" sz="1200" dirty="0">
                <a:latin typeface="Tahoma" panose="020B0604030504040204" pitchFamily="34" charset="0"/>
              </a:endParaRPr>
            </a:p>
          </p:txBody>
        </p:sp>
        <p:sp>
          <p:nvSpPr>
            <p:cNvPr id="35865" name="Line 54"/>
            <p:cNvSpPr/>
            <p:nvPr>
              <p:custDataLst>
                <p:tags r:id="rId24"/>
              </p:custDataLst>
            </p:nvPr>
          </p:nvSpPr>
          <p:spPr>
            <a:xfrm>
              <a:off x="3024" y="2256"/>
              <a:ext cx="576" cy="0"/>
            </a:xfrm>
            <a:prstGeom prst="line">
              <a:avLst/>
            </a:prstGeom>
            <a:ln w="38100" cap="flat" cmpd="sng">
              <a:solidFill>
                <a:srgbClr val="FF0000"/>
              </a:solidFill>
              <a:prstDash val="solid"/>
              <a:headEnd type="triangle" w="med" len="lg"/>
              <a:tailEnd type="triangle" w="med" len="lg"/>
            </a:ln>
          </p:spPr>
          <p:txBody>
            <a:bodyPr/>
            <a:lstStyle/>
            <a:p>
              <a:endParaRPr lang="zh-CN" altLang="en-US"/>
            </a:p>
          </p:txBody>
        </p:sp>
        <p:sp>
          <p:nvSpPr>
            <p:cNvPr id="35866" name="Line 56"/>
            <p:cNvSpPr/>
            <p:nvPr>
              <p:custDataLst>
                <p:tags r:id="rId25"/>
              </p:custDataLst>
            </p:nvPr>
          </p:nvSpPr>
          <p:spPr>
            <a:xfrm>
              <a:off x="3024" y="3600"/>
              <a:ext cx="576" cy="0"/>
            </a:xfrm>
            <a:prstGeom prst="line">
              <a:avLst/>
            </a:prstGeom>
            <a:ln w="38100" cap="flat" cmpd="sng">
              <a:solidFill>
                <a:srgbClr val="FF0000"/>
              </a:solidFill>
              <a:prstDash val="solid"/>
              <a:headEnd type="triangle" w="med" len="lg"/>
              <a:tailEnd type="triangle" w="med" len="lg"/>
            </a:ln>
          </p:spPr>
          <p:txBody>
            <a:bodyPr/>
            <a:lstStyle/>
            <a:p>
              <a:endParaRPr lang="zh-CN" altLang="en-US"/>
            </a:p>
          </p:txBody>
        </p:sp>
        <p:sp>
          <p:nvSpPr>
            <p:cNvPr id="35867" name="Line 57"/>
            <p:cNvSpPr/>
            <p:nvPr>
              <p:custDataLst>
                <p:tags r:id="rId26"/>
              </p:custDataLst>
            </p:nvPr>
          </p:nvSpPr>
          <p:spPr>
            <a:xfrm>
              <a:off x="3024" y="2832"/>
              <a:ext cx="576" cy="0"/>
            </a:xfrm>
            <a:prstGeom prst="line">
              <a:avLst/>
            </a:prstGeom>
            <a:ln w="38100" cap="flat" cmpd="sng">
              <a:solidFill>
                <a:srgbClr val="FF0000"/>
              </a:solidFill>
              <a:prstDash val="solid"/>
              <a:headEnd type="triangle" w="med" len="lg"/>
              <a:tailEnd type="triangle" w="med" len="lg"/>
            </a:ln>
          </p:spPr>
          <p:txBody>
            <a:bodyPr/>
            <a:lstStyle/>
            <a:p>
              <a:endParaRPr lang="zh-CN" altLang="en-US"/>
            </a:p>
          </p:txBody>
        </p:sp>
        <p:sp>
          <p:nvSpPr>
            <p:cNvPr id="35868" name="Text Box 59"/>
            <p:cNvSpPr txBox="1"/>
            <p:nvPr>
              <p:custDataLst>
                <p:tags r:id="rId27"/>
              </p:custDataLst>
            </p:nvPr>
          </p:nvSpPr>
          <p:spPr>
            <a:xfrm>
              <a:off x="2712" y="1392"/>
              <a:ext cx="336" cy="252"/>
            </a:xfrm>
            <a:prstGeom prst="rect">
              <a:avLst/>
            </a:prstGeom>
            <a:noFill/>
            <a:ln w="9525">
              <a:noFill/>
            </a:ln>
          </p:spPr>
          <p:txBody>
            <a:bodyPr>
              <a:spAutoFit/>
            </a:bodyPr>
            <a:lstStyle/>
            <a:p>
              <a:pPr algn="ctr" eaLnBrk="1" hangingPunct="1">
                <a:spcBef>
                  <a:spcPct val="50000"/>
                </a:spcBef>
              </a:pPr>
              <a:r>
                <a:rPr lang="en-US" altLang="zh-CN" sz="1200" i="1" dirty="0">
                  <a:latin typeface="Tahoma" panose="020B0604030504040204" pitchFamily="34" charset="0"/>
                </a:rPr>
                <a:t>IS</a:t>
              </a:r>
              <a:endParaRPr lang="en-US" altLang="zh-CN" sz="1200" i="1" dirty="0">
                <a:latin typeface="Tahoma" panose="020B0604030504040204" pitchFamily="34" charset="0"/>
              </a:endParaRPr>
            </a:p>
          </p:txBody>
        </p:sp>
      </p:grpSp>
      <p:pic>
        <p:nvPicPr>
          <p:cNvPr id="4" name="图片 3"/>
          <p:cNvPicPr>
            <a:picLocks noChangeAspect="1"/>
          </p:cNvPicPr>
          <p:nvPr>
            <p:custDataLst>
              <p:tags r:id="rId28"/>
            </p:custDataLst>
          </p:nvPr>
        </p:nvPicPr>
        <p:blipFill>
          <a:blip r:embed="rId29"/>
          <a:stretch>
            <a:fillRect/>
          </a:stretch>
        </p:blipFill>
        <p:spPr>
          <a:xfrm>
            <a:off x="5795645" y="3501390"/>
            <a:ext cx="2619375" cy="27000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M</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I</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S</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D</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176020"/>
            <a:ext cx="8229600" cy="229870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流水结构计算机，几条指令对同一个数据进行不同的处理</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效率低，编译器难以实现</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实际上不存在</a:t>
            </a:r>
            <a:endParaRPr lang="zh-CN" altLang="en-US" sz="2400">
              <a:latin typeface="Times New Roman" panose="02020603050405020304" pitchFamily="18" charset="0"/>
              <a:cs typeface="Times New Roman" panose="02020603050405020304" pitchFamily="18" charset="0"/>
              <a:sym typeface="+mn-ea"/>
            </a:endParaRPr>
          </a:p>
        </p:txBody>
      </p:sp>
      <p:grpSp>
        <p:nvGrpSpPr>
          <p:cNvPr id="36869" name="Group 57"/>
          <p:cNvGrpSpPr/>
          <p:nvPr/>
        </p:nvGrpSpPr>
        <p:grpSpPr>
          <a:xfrm>
            <a:off x="604520" y="3262630"/>
            <a:ext cx="4391025" cy="2794000"/>
            <a:chOff x="1152" y="528"/>
            <a:chExt cx="3504" cy="2592"/>
          </a:xfrm>
        </p:grpSpPr>
        <p:sp>
          <p:nvSpPr>
            <p:cNvPr id="36870" name="Text Box 4"/>
            <p:cNvSpPr txBox="1"/>
            <p:nvPr>
              <p:custDataLst>
                <p:tags r:id="rId2"/>
              </p:custDataLst>
            </p:nvPr>
          </p:nvSpPr>
          <p:spPr>
            <a:xfrm>
              <a:off x="2880" y="1056"/>
              <a:ext cx="624"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CU</a:t>
              </a:r>
              <a:r>
                <a:rPr lang="en-US" altLang="zh-CN" sz="1400" i="1" dirty="0">
                  <a:solidFill>
                    <a:srgbClr val="FF0000"/>
                  </a:solidFill>
                  <a:latin typeface="Tahoma" panose="020B0604030504040204" pitchFamily="34" charset="0"/>
                </a:rPr>
                <a:t>1</a:t>
              </a:r>
              <a:endParaRPr lang="en-US" altLang="zh-CN" sz="1400" i="1" dirty="0">
                <a:solidFill>
                  <a:srgbClr val="FF0000"/>
                </a:solidFill>
                <a:latin typeface="Tahoma" panose="020B0604030504040204" pitchFamily="34" charset="0"/>
              </a:endParaRPr>
            </a:p>
          </p:txBody>
        </p:sp>
        <p:sp>
          <p:nvSpPr>
            <p:cNvPr id="36871" name="Text Box 5"/>
            <p:cNvSpPr txBox="1"/>
            <p:nvPr>
              <p:custDataLst>
                <p:tags r:id="rId3"/>
              </p:custDataLst>
            </p:nvPr>
          </p:nvSpPr>
          <p:spPr>
            <a:xfrm>
              <a:off x="2880" y="1584"/>
              <a:ext cx="624"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CU</a:t>
              </a:r>
              <a:r>
                <a:rPr lang="en-US" altLang="zh-CN" sz="1400" i="1" dirty="0">
                  <a:solidFill>
                    <a:srgbClr val="FF0000"/>
                  </a:solidFill>
                  <a:latin typeface="Tahoma" panose="020B0604030504040204" pitchFamily="34" charset="0"/>
                </a:rPr>
                <a:t>2</a:t>
              </a:r>
              <a:endParaRPr lang="en-US" altLang="zh-CN" sz="1400" i="1" dirty="0">
                <a:solidFill>
                  <a:srgbClr val="FF0000"/>
                </a:solidFill>
                <a:latin typeface="Tahoma" panose="020B0604030504040204" pitchFamily="34" charset="0"/>
              </a:endParaRPr>
            </a:p>
          </p:txBody>
        </p:sp>
        <p:sp>
          <p:nvSpPr>
            <p:cNvPr id="36872" name="Text Box 6"/>
            <p:cNvSpPr txBox="1"/>
            <p:nvPr>
              <p:custDataLst>
                <p:tags r:id="rId4"/>
              </p:custDataLst>
            </p:nvPr>
          </p:nvSpPr>
          <p:spPr>
            <a:xfrm>
              <a:off x="2880" y="2400"/>
              <a:ext cx="624"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CU</a:t>
              </a:r>
              <a:r>
                <a:rPr lang="en-US" altLang="zh-CN" sz="1400" i="1" dirty="0">
                  <a:solidFill>
                    <a:srgbClr val="FF0000"/>
                  </a:solidFill>
                  <a:latin typeface="Tahoma" panose="020B0604030504040204" pitchFamily="34" charset="0"/>
                </a:rPr>
                <a:t>n</a:t>
              </a:r>
              <a:endParaRPr lang="en-US" altLang="zh-CN" sz="1400" i="1" dirty="0">
                <a:solidFill>
                  <a:srgbClr val="FF0000"/>
                </a:solidFill>
                <a:latin typeface="Tahoma" panose="020B0604030504040204" pitchFamily="34" charset="0"/>
              </a:endParaRPr>
            </a:p>
          </p:txBody>
        </p:sp>
        <p:sp>
          <p:nvSpPr>
            <p:cNvPr id="36873" name="Text Box 7"/>
            <p:cNvSpPr txBox="1"/>
            <p:nvPr>
              <p:custDataLst>
                <p:tags r:id="rId5"/>
              </p:custDataLst>
            </p:nvPr>
          </p:nvSpPr>
          <p:spPr>
            <a:xfrm>
              <a:off x="4032" y="1056"/>
              <a:ext cx="624"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1</a:t>
              </a:r>
              <a:endParaRPr lang="en-US" altLang="zh-CN" sz="1400" i="1" dirty="0">
                <a:solidFill>
                  <a:srgbClr val="FF0000"/>
                </a:solidFill>
                <a:latin typeface="Tahoma" panose="020B0604030504040204" pitchFamily="34" charset="0"/>
              </a:endParaRPr>
            </a:p>
          </p:txBody>
        </p:sp>
        <p:sp>
          <p:nvSpPr>
            <p:cNvPr id="36874" name="Text Box 8"/>
            <p:cNvSpPr txBox="1"/>
            <p:nvPr>
              <p:custDataLst>
                <p:tags r:id="rId6"/>
              </p:custDataLst>
            </p:nvPr>
          </p:nvSpPr>
          <p:spPr>
            <a:xfrm>
              <a:off x="4032" y="1584"/>
              <a:ext cx="624"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2</a:t>
              </a:r>
              <a:endParaRPr lang="en-US" altLang="zh-CN" sz="1400" i="1" dirty="0">
                <a:solidFill>
                  <a:srgbClr val="FF0000"/>
                </a:solidFill>
                <a:latin typeface="Tahoma" panose="020B0604030504040204" pitchFamily="34" charset="0"/>
              </a:endParaRPr>
            </a:p>
          </p:txBody>
        </p:sp>
        <p:sp>
          <p:nvSpPr>
            <p:cNvPr id="36875" name="Text Box 9"/>
            <p:cNvSpPr txBox="1"/>
            <p:nvPr>
              <p:custDataLst>
                <p:tags r:id="rId7"/>
              </p:custDataLst>
            </p:nvPr>
          </p:nvSpPr>
          <p:spPr>
            <a:xfrm>
              <a:off x="4032" y="2400"/>
              <a:ext cx="624"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n</a:t>
              </a:r>
              <a:endParaRPr lang="en-US" altLang="zh-CN" sz="1400" i="1" dirty="0">
                <a:solidFill>
                  <a:srgbClr val="FF0000"/>
                </a:solidFill>
                <a:latin typeface="Tahoma" panose="020B0604030504040204" pitchFamily="34" charset="0"/>
              </a:endParaRPr>
            </a:p>
          </p:txBody>
        </p:sp>
        <p:grpSp>
          <p:nvGrpSpPr>
            <p:cNvPr id="36876" name="Group 10"/>
            <p:cNvGrpSpPr/>
            <p:nvPr/>
          </p:nvGrpSpPr>
          <p:grpSpPr>
            <a:xfrm>
              <a:off x="1344" y="960"/>
              <a:ext cx="1056" cy="1920"/>
              <a:chOff x="1440" y="1536"/>
              <a:chExt cx="1056" cy="1920"/>
            </a:xfrm>
          </p:grpSpPr>
          <p:sp>
            <p:nvSpPr>
              <p:cNvPr id="36904" name="Rectangle 11"/>
              <p:cNvSpPr/>
              <p:nvPr>
                <p:custDataLst>
                  <p:tags r:id="rId8"/>
                </p:custDataLst>
              </p:nvPr>
            </p:nvSpPr>
            <p:spPr>
              <a:xfrm>
                <a:off x="1440" y="1536"/>
                <a:ext cx="1056" cy="192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eaLnBrk="1" hangingPunct="1"/>
                <a:endParaRPr lang="zh-CN" altLang="en-US" sz="1200" dirty="0">
                  <a:latin typeface="Tahoma" panose="020B0604030504040204" pitchFamily="34" charset="0"/>
                </a:endParaRPr>
              </a:p>
            </p:txBody>
          </p:sp>
          <p:sp>
            <p:nvSpPr>
              <p:cNvPr id="36905" name="Text Box 12"/>
              <p:cNvSpPr txBox="1"/>
              <p:nvPr>
                <p:custDataLst>
                  <p:tags r:id="rId9"/>
                </p:custDataLst>
              </p:nvPr>
            </p:nvSpPr>
            <p:spPr>
              <a:xfrm>
                <a:off x="1584" y="1632"/>
                <a:ext cx="768"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1</a:t>
                </a:r>
                <a:endParaRPr lang="en-US" altLang="zh-CN" sz="1400" i="1" dirty="0">
                  <a:solidFill>
                    <a:srgbClr val="FF0000"/>
                  </a:solidFill>
                  <a:latin typeface="Tahoma" panose="020B0604030504040204" pitchFamily="34" charset="0"/>
                </a:endParaRPr>
              </a:p>
            </p:txBody>
          </p:sp>
          <p:sp>
            <p:nvSpPr>
              <p:cNvPr id="36906" name="Text Box 13"/>
              <p:cNvSpPr txBox="1"/>
              <p:nvPr>
                <p:custDataLst>
                  <p:tags r:id="rId10"/>
                </p:custDataLst>
              </p:nvPr>
            </p:nvSpPr>
            <p:spPr>
              <a:xfrm>
                <a:off x="1584" y="2160"/>
                <a:ext cx="768"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2</a:t>
                </a:r>
                <a:endParaRPr lang="en-US" altLang="zh-CN" sz="1400" i="1" dirty="0">
                  <a:solidFill>
                    <a:srgbClr val="FF0000"/>
                  </a:solidFill>
                  <a:latin typeface="Tahoma" panose="020B0604030504040204" pitchFamily="34" charset="0"/>
                </a:endParaRPr>
              </a:p>
            </p:txBody>
          </p:sp>
          <p:sp>
            <p:nvSpPr>
              <p:cNvPr id="36907" name="Text Box 14"/>
              <p:cNvSpPr txBox="1"/>
              <p:nvPr>
                <p:custDataLst>
                  <p:tags r:id="rId11"/>
                </p:custDataLst>
              </p:nvPr>
            </p:nvSpPr>
            <p:spPr>
              <a:xfrm>
                <a:off x="1584" y="2976"/>
                <a:ext cx="768" cy="37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n</a:t>
                </a:r>
                <a:endParaRPr lang="en-US" altLang="zh-CN" sz="1400" i="1" dirty="0">
                  <a:solidFill>
                    <a:srgbClr val="FF0000"/>
                  </a:solidFill>
                  <a:latin typeface="Tahoma" panose="020B0604030504040204" pitchFamily="34" charset="0"/>
                </a:endParaRPr>
              </a:p>
            </p:txBody>
          </p:sp>
          <p:sp>
            <p:nvSpPr>
              <p:cNvPr id="36908" name="Line 15"/>
              <p:cNvSpPr/>
              <p:nvPr>
                <p:custDataLst>
                  <p:tags r:id="rId12"/>
                </p:custDataLst>
              </p:nvPr>
            </p:nvSpPr>
            <p:spPr>
              <a:xfrm>
                <a:off x="1920" y="2640"/>
                <a:ext cx="0" cy="240"/>
              </a:xfrm>
              <a:prstGeom prst="line">
                <a:avLst/>
              </a:prstGeom>
              <a:ln w="38100" cap="flat" cmpd="sng">
                <a:solidFill>
                  <a:schemeClr val="tx1"/>
                </a:solidFill>
                <a:prstDash val="sysDot"/>
                <a:headEnd type="none" w="med" len="med"/>
                <a:tailEnd type="none" w="med" len="med"/>
              </a:ln>
            </p:spPr>
            <p:txBody>
              <a:bodyPr/>
              <a:lstStyle/>
              <a:p>
                <a:endParaRPr lang="zh-CN" altLang="en-US"/>
              </a:p>
            </p:txBody>
          </p:sp>
        </p:grpSp>
        <p:sp>
          <p:nvSpPr>
            <p:cNvPr id="36877" name="Line 16"/>
            <p:cNvSpPr/>
            <p:nvPr>
              <p:custDataLst>
                <p:tags r:id="rId13"/>
              </p:custDataLst>
            </p:nvPr>
          </p:nvSpPr>
          <p:spPr>
            <a:xfrm>
              <a:off x="3168" y="2064"/>
              <a:ext cx="0" cy="240"/>
            </a:xfrm>
            <a:prstGeom prst="line">
              <a:avLst/>
            </a:prstGeom>
            <a:ln w="38100" cap="flat" cmpd="sng">
              <a:solidFill>
                <a:schemeClr val="tx1"/>
              </a:solidFill>
              <a:prstDash val="sysDot"/>
              <a:headEnd type="none" w="med" len="med"/>
              <a:tailEnd type="none" w="med" len="med"/>
            </a:ln>
          </p:spPr>
          <p:txBody>
            <a:bodyPr/>
            <a:lstStyle/>
            <a:p>
              <a:endParaRPr lang="zh-CN" altLang="en-US"/>
            </a:p>
          </p:txBody>
        </p:sp>
        <p:sp>
          <p:nvSpPr>
            <p:cNvPr id="36878" name="Line 17"/>
            <p:cNvSpPr/>
            <p:nvPr>
              <p:custDataLst>
                <p:tags r:id="rId14"/>
              </p:custDataLst>
            </p:nvPr>
          </p:nvSpPr>
          <p:spPr>
            <a:xfrm>
              <a:off x="4320" y="2064"/>
              <a:ext cx="0" cy="240"/>
            </a:xfrm>
            <a:prstGeom prst="line">
              <a:avLst/>
            </a:prstGeom>
            <a:ln w="38100" cap="flat" cmpd="sng">
              <a:solidFill>
                <a:srgbClr val="FF0000"/>
              </a:solidFill>
              <a:prstDash val="sysDot"/>
              <a:headEnd type="none" w="med" len="med"/>
              <a:tailEnd type="none" w="med" len="med"/>
            </a:ln>
          </p:spPr>
          <p:txBody>
            <a:bodyPr/>
            <a:lstStyle/>
            <a:p>
              <a:endParaRPr lang="zh-CN" altLang="en-US"/>
            </a:p>
          </p:txBody>
        </p:sp>
        <p:sp>
          <p:nvSpPr>
            <p:cNvPr id="36879" name="Line 18"/>
            <p:cNvSpPr/>
            <p:nvPr>
              <p:custDataLst>
                <p:tags r:id="rId15"/>
              </p:custDataLst>
            </p:nvPr>
          </p:nvSpPr>
          <p:spPr>
            <a:xfrm>
              <a:off x="4320" y="1440"/>
              <a:ext cx="0" cy="144"/>
            </a:xfrm>
            <a:prstGeom prst="line">
              <a:avLst/>
            </a:prstGeom>
            <a:ln w="38100" cap="flat" cmpd="sng">
              <a:solidFill>
                <a:srgbClr val="FF0000"/>
              </a:solidFill>
              <a:prstDash val="solid"/>
              <a:headEnd type="none" w="med" len="med"/>
              <a:tailEnd type="triangle" w="med" len="med"/>
            </a:ln>
          </p:spPr>
          <p:txBody>
            <a:bodyPr/>
            <a:lstStyle/>
            <a:p>
              <a:endParaRPr lang="zh-CN" altLang="en-US"/>
            </a:p>
          </p:txBody>
        </p:sp>
        <p:sp>
          <p:nvSpPr>
            <p:cNvPr id="36880" name="Line 19"/>
            <p:cNvSpPr/>
            <p:nvPr>
              <p:custDataLst>
                <p:tags r:id="rId16"/>
              </p:custDataLst>
            </p:nvPr>
          </p:nvSpPr>
          <p:spPr>
            <a:xfrm>
              <a:off x="4320" y="1968"/>
              <a:ext cx="0" cy="192"/>
            </a:xfrm>
            <a:prstGeom prst="line">
              <a:avLst/>
            </a:prstGeom>
            <a:ln w="38100" cap="flat" cmpd="sng">
              <a:solidFill>
                <a:srgbClr val="FF0000"/>
              </a:solidFill>
              <a:prstDash val="solid"/>
              <a:headEnd type="none" w="med" len="med"/>
              <a:tailEnd type="triangle" w="med" len="med"/>
            </a:ln>
          </p:spPr>
          <p:txBody>
            <a:bodyPr/>
            <a:lstStyle/>
            <a:p>
              <a:endParaRPr lang="zh-CN" altLang="en-US"/>
            </a:p>
          </p:txBody>
        </p:sp>
        <p:sp>
          <p:nvSpPr>
            <p:cNvPr id="36881" name="Line 20"/>
            <p:cNvSpPr/>
            <p:nvPr>
              <p:custDataLst>
                <p:tags r:id="rId17"/>
              </p:custDataLst>
            </p:nvPr>
          </p:nvSpPr>
          <p:spPr>
            <a:xfrm>
              <a:off x="4320" y="2304"/>
              <a:ext cx="0" cy="96"/>
            </a:xfrm>
            <a:prstGeom prst="line">
              <a:avLst/>
            </a:prstGeom>
            <a:ln w="38100" cap="flat" cmpd="sng">
              <a:solidFill>
                <a:srgbClr val="FF0000"/>
              </a:solidFill>
              <a:prstDash val="solid"/>
              <a:headEnd type="none" w="med" len="med"/>
              <a:tailEnd type="triangle" w="med" len="med"/>
            </a:ln>
          </p:spPr>
          <p:txBody>
            <a:bodyPr/>
            <a:lstStyle/>
            <a:p>
              <a:endParaRPr lang="zh-CN" altLang="en-US"/>
            </a:p>
          </p:txBody>
        </p:sp>
        <p:sp>
          <p:nvSpPr>
            <p:cNvPr id="36882" name="Text Box 25"/>
            <p:cNvSpPr txBox="1"/>
            <p:nvPr>
              <p:custDataLst>
                <p:tags r:id="rId18"/>
              </p:custDataLst>
            </p:nvPr>
          </p:nvSpPr>
          <p:spPr>
            <a:xfrm>
              <a:off x="3552" y="1008"/>
              <a:ext cx="384" cy="256"/>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IS1</a:t>
              </a:r>
              <a:endParaRPr lang="en-US" altLang="zh-CN" sz="1200" i="1" dirty="0">
                <a:latin typeface="Tahoma" panose="020B0604030504040204" pitchFamily="34" charset="0"/>
              </a:endParaRPr>
            </a:p>
          </p:txBody>
        </p:sp>
        <p:sp>
          <p:nvSpPr>
            <p:cNvPr id="36883" name="Text Box 26"/>
            <p:cNvSpPr txBox="1"/>
            <p:nvPr>
              <p:custDataLst>
                <p:tags r:id="rId19"/>
              </p:custDataLst>
            </p:nvPr>
          </p:nvSpPr>
          <p:spPr>
            <a:xfrm>
              <a:off x="3552" y="1392"/>
              <a:ext cx="384" cy="256"/>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IS2</a:t>
              </a:r>
              <a:endParaRPr lang="en-US" altLang="zh-CN" sz="1200" i="1" dirty="0">
                <a:latin typeface="Tahoma" panose="020B0604030504040204" pitchFamily="34" charset="0"/>
              </a:endParaRPr>
            </a:p>
          </p:txBody>
        </p:sp>
        <p:sp>
          <p:nvSpPr>
            <p:cNvPr id="36884" name="Text Box 27"/>
            <p:cNvSpPr txBox="1"/>
            <p:nvPr>
              <p:custDataLst>
                <p:tags r:id="rId20"/>
              </p:custDataLst>
            </p:nvPr>
          </p:nvSpPr>
          <p:spPr>
            <a:xfrm>
              <a:off x="3552" y="2256"/>
              <a:ext cx="384" cy="256"/>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ISn</a:t>
              </a:r>
              <a:endParaRPr lang="en-US" altLang="zh-CN" sz="1200" i="1" dirty="0">
                <a:latin typeface="Tahoma" panose="020B0604030504040204" pitchFamily="34" charset="0"/>
              </a:endParaRPr>
            </a:p>
          </p:txBody>
        </p:sp>
        <p:sp>
          <p:nvSpPr>
            <p:cNvPr id="36885" name="Text Box 31"/>
            <p:cNvSpPr txBox="1"/>
            <p:nvPr>
              <p:custDataLst>
                <p:tags r:id="rId21"/>
              </p:custDataLst>
            </p:nvPr>
          </p:nvSpPr>
          <p:spPr>
            <a:xfrm>
              <a:off x="2400" y="960"/>
              <a:ext cx="384" cy="256"/>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IS1</a:t>
              </a:r>
              <a:endParaRPr lang="en-US" altLang="zh-CN" sz="1200" i="1" dirty="0">
                <a:latin typeface="Tahoma" panose="020B0604030504040204" pitchFamily="34" charset="0"/>
              </a:endParaRPr>
            </a:p>
          </p:txBody>
        </p:sp>
        <p:sp>
          <p:nvSpPr>
            <p:cNvPr id="36886" name="Text Box 32"/>
            <p:cNvSpPr txBox="1"/>
            <p:nvPr>
              <p:custDataLst>
                <p:tags r:id="rId22"/>
              </p:custDataLst>
            </p:nvPr>
          </p:nvSpPr>
          <p:spPr>
            <a:xfrm>
              <a:off x="2448" y="1488"/>
              <a:ext cx="384" cy="256"/>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IS2</a:t>
              </a:r>
              <a:endParaRPr lang="en-US" altLang="zh-CN" sz="1200" i="1" dirty="0">
                <a:latin typeface="Tahoma" panose="020B0604030504040204" pitchFamily="34" charset="0"/>
              </a:endParaRPr>
            </a:p>
          </p:txBody>
        </p:sp>
        <p:sp>
          <p:nvSpPr>
            <p:cNvPr id="36887" name="Text Box 33"/>
            <p:cNvSpPr txBox="1"/>
            <p:nvPr>
              <p:custDataLst>
                <p:tags r:id="rId23"/>
              </p:custDataLst>
            </p:nvPr>
          </p:nvSpPr>
          <p:spPr>
            <a:xfrm>
              <a:off x="2448" y="2304"/>
              <a:ext cx="384" cy="256"/>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ISn</a:t>
              </a:r>
              <a:endParaRPr lang="en-US" altLang="zh-CN" sz="1200" i="1" dirty="0">
                <a:latin typeface="Tahoma" panose="020B0604030504040204" pitchFamily="34" charset="0"/>
              </a:endParaRPr>
            </a:p>
          </p:txBody>
        </p:sp>
        <p:sp>
          <p:nvSpPr>
            <p:cNvPr id="36888" name="Line 34"/>
            <p:cNvSpPr/>
            <p:nvPr>
              <p:custDataLst>
                <p:tags r:id="rId24"/>
              </p:custDataLst>
            </p:nvPr>
          </p:nvSpPr>
          <p:spPr>
            <a:xfrm flipH="1">
              <a:off x="1152" y="1248"/>
              <a:ext cx="192" cy="0"/>
            </a:xfrm>
            <a:prstGeom prst="line">
              <a:avLst/>
            </a:prstGeom>
            <a:ln w="38100" cap="flat" cmpd="sng">
              <a:solidFill>
                <a:srgbClr val="FF0000"/>
              </a:solidFill>
              <a:prstDash val="solid"/>
              <a:headEnd type="none" w="med" len="med"/>
              <a:tailEnd type="none" w="med" len="med"/>
            </a:ln>
          </p:spPr>
          <p:txBody>
            <a:bodyPr/>
            <a:lstStyle/>
            <a:p>
              <a:endParaRPr lang="zh-CN" altLang="en-US"/>
            </a:p>
          </p:txBody>
        </p:sp>
        <p:sp>
          <p:nvSpPr>
            <p:cNvPr id="36889" name="Line 35"/>
            <p:cNvSpPr/>
            <p:nvPr>
              <p:custDataLst>
                <p:tags r:id="rId25"/>
              </p:custDataLst>
            </p:nvPr>
          </p:nvSpPr>
          <p:spPr>
            <a:xfrm flipV="1">
              <a:off x="1152" y="816"/>
              <a:ext cx="0" cy="432"/>
            </a:xfrm>
            <a:prstGeom prst="line">
              <a:avLst/>
            </a:prstGeom>
            <a:ln w="38100" cap="flat" cmpd="sng">
              <a:solidFill>
                <a:srgbClr val="FF0000"/>
              </a:solidFill>
              <a:prstDash val="solid"/>
              <a:headEnd type="none" w="med" len="med"/>
              <a:tailEnd type="none" w="med" len="med"/>
            </a:ln>
          </p:spPr>
          <p:txBody>
            <a:bodyPr/>
            <a:lstStyle/>
            <a:p>
              <a:endParaRPr lang="zh-CN" altLang="en-US"/>
            </a:p>
          </p:txBody>
        </p:sp>
        <p:sp>
          <p:nvSpPr>
            <p:cNvPr id="36890" name="Line 36"/>
            <p:cNvSpPr/>
            <p:nvPr>
              <p:custDataLst>
                <p:tags r:id="rId26"/>
              </p:custDataLst>
            </p:nvPr>
          </p:nvSpPr>
          <p:spPr>
            <a:xfrm>
              <a:off x="1152" y="816"/>
              <a:ext cx="3168" cy="0"/>
            </a:xfrm>
            <a:prstGeom prst="line">
              <a:avLst/>
            </a:prstGeom>
            <a:ln w="38100" cap="flat" cmpd="sng">
              <a:solidFill>
                <a:srgbClr val="FF0000"/>
              </a:solidFill>
              <a:prstDash val="solid"/>
              <a:headEnd type="none" w="med" len="med"/>
              <a:tailEnd type="none" w="med" len="med"/>
            </a:ln>
          </p:spPr>
          <p:txBody>
            <a:bodyPr/>
            <a:lstStyle/>
            <a:p>
              <a:endParaRPr lang="zh-CN" altLang="en-US"/>
            </a:p>
          </p:txBody>
        </p:sp>
        <p:sp>
          <p:nvSpPr>
            <p:cNvPr id="36891" name="Line 37"/>
            <p:cNvSpPr/>
            <p:nvPr>
              <p:custDataLst>
                <p:tags r:id="rId27"/>
              </p:custDataLst>
            </p:nvPr>
          </p:nvSpPr>
          <p:spPr>
            <a:xfrm>
              <a:off x="4320" y="816"/>
              <a:ext cx="0" cy="240"/>
            </a:xfrm>
            <a:prstGeom prst="line">
              <a:avLst/>
            </a:prstGeom>
            <a:ln w="38100" cap="flat" cmpd="sng">
              <a:solidFill>
                <a:srgbClr val="FF0000"/>
              </a:solidFill>
              <a:prstDash val="solid"/>
              <a:headEnd type="none" w="med" len="med"/>
              <a:tailEnd type="triangle" w="med" len="med"/>
            </a:ln>
          </p:spPr>
          <p:txBody>
            <a:bodyPr/>
            <a:lstStyle/>
            <a:p>
              <a:endParaRPr lang="zh-CN" altLang="en-US"/>
            </a:p>
          </p:txBody>
        </p:sp>
        <p:sp>
          <p:nvSpPr>
            <p:cNvPr id="36892" name="Line 38"/>
            <p:cNvSpPr/>
            <p:nvPr>
              <p:custDataLst>
                <p:tags r:id="rId28"/>
              </p:custDataLst>
            </p:nvPr>
          </p:nvSpPr>
          <p:spPr>
            <a:xfrm>
              <a:off x="4320" y="2784"/>
              <a:ext cx="0" cy="336"/>
            </a:xfrm>
            <a:prstGeom prst="line">
              <a:avLst/>
            </a:prstGeom>
            <a:ln w="38100" cap="flat" cmpd="sng">
              <a:solidFill>
                <a:srgbClr val="FF0000"/>
              </a:solidFill>
              <a:prstDash val="solid"/>
              <a:headEnd type="none" w="med" len="med"/>
              <a:tailEnd type="none" w="med" len="med"/>
            </a:ln>
          </p:spPr>
          <p:txBody>
            <a:bodyPr/>
            <a:lstStyle/>
            <a:p>
              <a:endParaRPr lang="zh-CN" altLang="en-US"/>
            </a:p>
          </p:txBody>
        </p:sp>
        <p:sp>
          <p:nvSpPr>
            <p:cNvPr id="36893" name="Line 39"/>
            <p:cNvSpPr/>
            <p:nvPr>
              <p:custDataLst>
                <p:tags r:id="rId29"/>
              </p:custDataLst>
            </p:nvPr>
          </p:nvSpPr>
          <p:spPr>
            <a:xfrm flipH="1">
              <a:off x="1152" y="3120"/>
              <a:ext cx="3168" cy="0"/>
            </a:xfrm>
            <a:prstGeom prst="line">
              <a:avLst/>
            </a:prstGeom>
            <a:ln w="38100" cap="flat" cmpd="sng">
              <a:solidFill>
                <a:srgbClr val="FF0000"/>
              </a:solidFill>
              <a:prstDash val="solid"/>
              <a:headEnd type="none" w="med" len="med"/>
              <a:tailEnd type="none" w="med" len="med"/>
            </a:ln>
          </p:spPr>
          <p:txBody>
            <a:bodyPr/>
            <a:lstStyle/>
            <a:p>
              <a:endParaRPr lang="zh-CN" altLang="en-US"/>
            </a:p>
          </p:txBody>
        </p:sp>
        <p:sp>
          <p:nvSpPr>
            <p:cNvPr id="36894" name="Line 40"/>
            <p:cNvSpPr/>
            <p:nvPr>
              <p:custDataLst>
                <p:tags r:id="rId30"/>
              </p:custDataLst>
            </p:nvPr>
          </p:nvSpPr>
          <p:spPr>
            <a:xfrm flipV="1">
              <a:off x="1152" y="2640"/>
              <a:ext cx="0" cy="480"/>
            </a:xfrm>
            <a:prstGeom prst="line">
              <a:avLst/>
            </a:prstGeom>
            <a:ln w="38100" cap="flat" cmpd="sng">
              <a:solidFill>
                <a:srgbClr val="FF0000"/>
              </a:solidFill>
              <a:prstDash val="solid"/>
              <a:headEnd type="none" w="med" len="med"/>
              <a:tailEnd type="none" w="med" len="med"/>
            </a:ln>
          </p:spPr>
          <p:txBody>
            <a:bodyPr/>
            <a:lstStyle/>
            <a:p>
              <a:endParaRPr lang="zh-CN" altLang="en-US"/>
            </a:p>
          </p:txBody>
        </p:sp>
        <p:sp>
          <p:nvSpPr>
            <p:cNvPr id="36895" name="Line 41"/>
            <p:cNvSpPr/>
            <p:nvPr>
              <p:custDataLst>
                <p:tags r:id="rId31"/>
              </p:custDataLst>
            </p:nvPr>
          </p:nvSpPr>
          <p:spPr>
            <a:xfrm>
              <a:off x="1152" y="2640"/>
              <a:ext cx="192" cy="0"/>
            </a:xfrm>
            <a:prstGeom prst="line">
              <a:avLst/>
            </a:prstGeom>
            <a:ln w="38100" cap="flat" cmpd="sng">
              <a:solidFill>
                <a:srgbClr val="FF0000"/>
              </a:solidFill>
              <a:prstDash val="solid"/>
              <a:headEnd type="none" w="med" len="med"/>
              <a:tailEnd type="triangle" w="med" len="med"/>
            </a:ln>
          </p:spPr>
          <p:txBody>
            <a:bodyPr/>
            <a:lstStyle/>
            <a:p>
              <a:endParaRPr lang="zh-CN" altLang="en-US"/>
            </a:p>
          </p:txBody>
        </p:sp>
        <p:sp>
          <p:nvSpPr>
            <p:cNvPr id="36896" name="Text Box 42"/>
            <p:cNvSpPr txBox="1"/>
            <p:nvPr>
              <p:custDataLst>
                <p:tags r:id="rId32"/>
              </p:custDataLst>
            </p:nvPr>
          </p:nvSpPr>
          <p:spPr>
            <a:xfrm>
              <a:off x="1920" y="528"/>
              <a:ext cx="528" cy="256"/>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DS1</a:t>
              </a:r>
              <a:endParaRPr lang="en-US" altLang="zh-CN" sz="1200" i="1" dirty="0">
                <a:latin typeface="Tahoma" panose="020B0604030504040204" pitchFamily="34" charset="0"/>
              </a:endParaRPr>
            </a:p>
          </p:txBody>
        </p:sp>
        <p:sp>
          <p:nvSpPr>
            <p:cNvPr id="36897" name="Text Box 43"/>
            <p:cNvSpPr txBox="1"/>
            <p:nvPr>
              <p:custDataLst>
                <p:tags r:id="rId33"/>
              </p:custDataLst>
            </p:nvPr>
          </p:nvSpPr>
          <p:spPr>
            <a:xfrm>
              <a:off x="2544" y="2832"/>
              <a:ext cx="576" cy="285"/>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DS</a:t>
              </a:r>
              <a:r>
                <a:rPr lang="en-US" altLang="zh-CN" sz="1400" i="1" dirty="0">
                  <a:latin typeface="Tahoma" panose="020B0604030504040204" pitchFamily="34" charset="0"/>
                </a:rPr>
                <a:t>n</a:t>
              </a:r>
              <a:endParaRPr lang="en-US" altLang="zh-CN" sz="1400" i="1" dirty="0">
                <a:latin typeface="Tahoma" panose="020B0604030504040204" pitchFamily="34" charset="0"/>
              </a:endParaRPr>
            </a:p>
          </p:txBody>
        </p:sp>
        <p:sp>
          <p:nvSpPr>
            <p:cNvPr id="36898" name="Line 49"/>
            <p:cNvSpPr/>
            <p:nvPr>
              <p:custDataLst>
                <p:tags r:id="rId34"/>
              </p:custDataLst>
            </p:nvPr>
          </p:nvSpPr>
          <p:spPr>
            <a:xfrm>
              <a:off x="2400" y="1248"/>
              <a:ext cx="480" cy="0"/>
            </a:xfrm>
            <a:prstGeom prst="line">
              <a:avLst/>
            </a:prstGeom>
            <a:ln w="38100" cap="flat" cmpd="sng">
              <a:solidFill>
                <a:srgbClr val="607634"/>
              </a:solidFill>
              <a:prstDash val="solid"/>
              <a:headEnd type="none" w="med" len="med"/>
              <a:tailEnd type="triangle" w="med" len="lg"/>
            </a:ln>
          </p:spPr>
          <p:txBody>
            <a:bodyPr/>
            <a:lstStyle/>
            <a:p>
              <a:endParaRPr lang="zh-CN" altLang="en-US"/>
            </a:p>
          </p:txBody>
        </p:sp>
        <p:sp>
          <p:nvSpPr>
            <p:cNvPr id="36899" name="Line 50"/>
            <p:cNvSpPr/>
            <p:nvPr>
              <p:custDataLst>
                <p:tags r:id="rId35"/>
              </p:custDataLst>
            </p:nvPr>
          </p:nvSpPr>
          <p:spPr>
            <a:xfrm>
              <a:off x="2400" y="1776"/>
              <a:ext cx="480" cy="0"/>
            </a:xfrm>
            <a:prstGeom prst="line">
              <a:avLst/>
            </a:prstGeom>
            <a:ln w="38100" cap="flat" cmpd="sng">
              <a:solidFill>
                <a:srgbClr val="607634"/>
              </a:solidFill>
              <a:prstDash val="solid"/>
              <a:headEnd type="none" w="med" len="med"/>
              <a:tailEnd type="triangle" w="med" len="lg"/>
            </a:ln>
          </p:spPr>
          <p:txBody>
            <a:bodyPr/>
            <a:lstStyle/>
            <a:p>
              <a:endParaRPr lang="zh-CN" altLang="en-US"/>
            </a:p>
          </p:txBody>
        </p:sp>
        <p:sp>
          <p:nvSpPr>
            <p:cNvPr id="36900" name="Line 51"/>
            <p:cNvSpPr/>
            <p:nvPr>
              <p:custDataLst>
                <p:tags r:id="rId36"/>
              </p:custDataLst>
            </p:nvPr>
          </p:nvSpPr>
          <p:spPr>
            <a:xfrm>
              <a:off x="2400" y="2592"/>
              <a:ext cx="480" cy="0"/>
            </a:xfrm>
            <a:prstGeom prst="line">
              <a:avLst/>
            </a:prstGeom>
            <a:ln w="38100" cap="flat" cmpd="sng">
              <a:solidFill>
                <a:srgbClr val="607634"/>
              </a:solidFill>
              <a:prstDash val="solid"/>
              <a:headEnd type="none" w="med" len="med"/>
              <a:tailEnd type="triangle" w="med" len="lg"/>
            </a:ln>
          </p:spPr>
          <p:txBody>
            <a:bodyPr/>
            <a:lstStyle/>
            <a:p>
              <a:endParaRPr lang="zh-CN" altLang="en-US"/>
            </a:p>
          </p:txBody>
        </p:sp>
        <p:sp>
          <p:nvSpPr>
            <p:cNvPr id="36901" name="Line 54"/>
            <p:cNvSpPr/>
            <p:nvPr>
              <p:custDataLst>
                <p:tags r:id="rId37"/>
              </p:custDataLst>
            </p:nvPr>
          </p:nvSpPr>
          <p:spPr>
            <a:xfrm>
              <a:off x="3504" y="2592"/>
              <a:ext cx="528" cy="0"/>
            </a:xfrm>
            <a:prstGeom prst="line">
              <a:avLst/>
            </a:prstGeom>
            <a:ln w="38100" cap="flat" cmpd="sng">
              <a:solidFill>
                <a:srgbClr val="607634"/>
              </a:solidFill>
              <a:prstDash val="solid"/>
              <a:headEnd type="none" w="med" len="med"/>
              <a:tailEnd type="triangle" w="med" len="lg"/>
            </a:ln>
          </p:spPr>
          <p:txBody>
            <a:bodyPr/>
            <a:lstStyle/>
            <a:p>
              <a:endParaRPr lang="zh-CN" altLang="en-US"/>
            </a:p>
          </p:txBody>
        </p:sp>
        <p:sp>
          <p:nvSpPr>
            <p:cNvPr id="36902" name="Line 55"/>
            <p:cNvSpPr/>
            <p:nvPr>
              <p:custDataLst>
                <p:tags r:id="rId38"/>
              </p:custDataLst>
            </p:nvPr>
          </p:nvSpPr>
          <p:spPr>
            <a:xfrm>
              <a:off x="3504" y="1248"/>
              <a:ext cx="528" cy="0"/>
            </a:xfrm>
            <a:prstGeom prst="line">
              <a:avLst/>
            </a:prstGeom>
            <a:ln w="38100" cap="flat" cmpd="sng">
              <a:solidFill>
                <a:srgbClr val="607634"/>
              </a:solidFill>
              <a:prstDash val="solid"/>
              <a:headEnd type="none" w="med" len="med"/>
              <a:tailEnd type="triangle" w="med" len="lg"/>
            </a:ln>
          </p:spPr>
          <p:txBody>
            <a:bodyPr/>
            <a:lstStyle/>
            <a:p>
              <a:endParaRPr lang="zh-CN" altLang="en-US"/>
            </a:p>
          </p:txBody>
        </p:sp>
        <p:sp>
          <p:nvSpPr>
            <p:cNvPr id="36903" name="Line 56"/>
            <p:cNvSpPr/>
            <p:nvPr>
              <p:custDataLst>
                <p:tags r:id="rId39"/>
              </p:custDataLst>
            </p:nvPr>
          </p:nvSpPr>
          <p:spPr>
            <a:xfrm>
              <a:off x="3504" y="1776"/>
              <a:ext cx="528" cy="0"/>
            </a:xfrm>
            <a:prstGeom prst="line">
              <a:avLst/>
            </a:prstGeom>
            <a:ln w="38100" cap="flat" cmpd="sng">
              <a:solidFill>
                <a:srgbClr val="607634"/>
              </a:solidFill>
              <a:prstDash val="solid"/>
              <a:headEnd type="none" w="med" len="med"/>
              <a:tailEnd type="triangle" w="med" len="lg"/>
            </a:ln>
          </p:spPr>
          <p:txBody>
            <a:bodyPr/>
            <a:lstStyle/>
            <a:p>
              <a:endParaRPr lang="zh-CN" altLang="en-US"/>
            </a:p>
          </p:txBody>
        </p:sp>
      </p:grpSp>
      <p:pic>
        <p:nvPicPr>
          <p:cNvPr id="4" name="图片 3"/>
          <p:cNvPicPr>
            <a:picLocks noChangeAspect="1"/>
          </p:cNvPicPr>
          <p:nvPr>
            <p:custDataLst>
              <p:tags r:id="rId40"/>
            </p:custDataLst>
          </p:nvPr>
        </p:nvPicPr>
        <p:blipFill>
          <a:blip r:embed="rId41"/>
          <a:stretch>
            <a:fillRect/>
          </a:stretch>
        </p:blipFill>
        <p:spPr>
          <a:xfrm>
            <a:off x="5601335" y="3068955"/>
            <a:ext cx="3085465" cy="30854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MIMD</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176020"/>
            <a:ext cx="8229600" cy="2298700"/>
          </a:xfrm>
        </p:spPr>
        <p:txBody>
          <a:bodyPr/>
          <a:lstStyle/>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多处理机</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紧密耦合：</a:t>
            </a:r>
            <a:r>
              <a:rPr lang="en-US" altLang="zh-CN" sz="2400" dirty="0">
                <a:latin typeface="Times New Roman" panose="02020603050405020304" pitchFamily="18" charset="0"/>
                <a:cs typeface="Times New Roman" panose="02020603050405020304" pitchFamily="18" charset="0"/>
                <a:sym typeface="+mn-ea"/>
              </a:rPr>
              <a:t>IBM3081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IBM3084</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UNIVAC-1100/80</a:t>
            </a:r>
            <a:endParaRPr lang="en-US" altLang="zh-CN"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松散耦合：</a:t>
            </a:r>
            <a:r>
              <a:rPr lang="en-US" altLang="zh-CN" sz="2400" dirty="0">
                <a:latin typeface="Times New Roman" panose="02020603050405020304" pitchFamily="18" charset="0"/>
                <a:cs typeface="Times New Roman" panose="02020603050405020304" pitchFamily="18" charset="0"/>
                <a:sym typeface="+mn-ea"/>
              </a:rPr>
              <a:t>D-825, Cmmp, Cray-2</a:t>
            </a:r>
            <a:endParaRPr lang="zh-CN" altLang="en-US" sz="2400">
              <a:latin typeface="Times New Roman" panose="02020603050405020304" pitchFamily="18" charset="0"/>
              <a:cs typeface="Times New Roman" panose="02020603050405020304" pitchFamily="18" charset="0"/>
              <a:sym typeface="+mn-ea"/>
            </a:endParaRPr>
          </a:p>
        </p:txBody>
      </p:sp>
      <p:grpSp>
        <p:nvGrpSpPr>
          <p:cNvPr id="37893" name="Group 70"/>
          <p:cNvGrpSpPr/>
          <p:nvPr/>
        </p:nvGrpSpPr>
        <p:grpSpPr>
          <a:xfrm>
            <a:off x="325120" y="3582670"/>
            <a:ext cx="5564505" cy="2183130"/>
            <a:chOff x="480" y="1296"/>
            <a:chExt cx="4752" cy="2448"/>
          </a:xfrm>
        </p:grpSpPr>
        <p:grpSp>
          <p:nvGrpSpPr>
            <p:cNvPr id="37894" name="Group 4"/>
            <p:cNvGrpSpPr/>
            <p:nvPr/>
          </p:nvGrpSpPr>
          <p:grpSpPr>
            <a:xfrm>
              <a:off x="3600" y="1344"/>
              <a:ext cx="1056" cy="1920"/>
              <a:chOff x="1440" y="1536"/>
              <a:chExt cx="1056" cy="1920"/>
            </a:xfrm>
          </p:grpSpPr>
          <p:sp>
            <p:nvSpPr>
              <p:cNvPr id="37934" name="Rectangle 5"/>
              <p:cNvSpPr/>
              <p:nvPr>
                <p:custDataLst>
                  <p:tags r:id="rId2"/>
                </p:custDataLst>
              </p:nvPr>
            </p:nvSpPr>
            <p:spPr>
              <a:xfrm>
                <a:off x="1440" y="1536"/>
                <a:ext cx="1056" cy="192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eaLnBrk="1" hangingPunct="1"/>
                <a:endParaRPr lang="zh-CN" altLang="en-US" sz="1200" dirty="0">
                  <a:latin typeface="Tahoma" panose="020B0604030504040204" pitchFamily="34" charset="0"/>
                </a:endParaRPr>
              </a:p>
            </p:txBody>
          </p:sp>
          <p:sp>
            <p:nvSpPr>
              <p:cNvPr id="37935" name="Text Box 6"/>
              <p:cNvSpPr txBox="1"/>
              <p:nvPr>
                <p:custDataLst>
                  <p:tags r:id="rId3"/>
                </p:custDataLst>
              </p:nvPr>
            </p:nvSpPr>
            <p:spPr>
              <a:xfrm>
                <a:off x="1584" y="1632"/>
                <a:ext cx="768" cy="447"/>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1</a:t>
                </a:r>
                <a:endParaRPr lang="en-US" altLang="zh-CN" sz="1400" i="1" dirty="0">
                  <a:solidFill>
                    <a:srgbClr val="FF0000"/>
                  </a:solidFill>
                  <a:latin typeface="Tahoma" panose="020B0604030504040204" pitchFamily="34" charset="0"/>
                </a:endParaRPr>
              </a:p>
            </p:txBody>
          </p:sp>
          <p:sp>
            <p:nvSpPr>
              <p:cNvPr id="37936" name="Text Box 7"/>
              <p:cNvSpPr txBox="1"/>
              <p:nvPr>
                <p:custDataLst>
                  <p:tags r:id="rId4"/>
                </p:custDataLst>
              </p:nvPr>
            </p:nvSpPr>
            <p:spPr>
              <a:xfrm>
                <a:off x="1584" y="2160"/>
                <a:ext cx="768" cy="447"/>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2</a:t>
                </a:r>
                <a:endParaRPr lang="en-US" altLang="zh-CN" sz="1400" i="1" dirty="0">
                  <a:solidFill>
                    <a:srgbClr val="FF0000"/>
                  </a:solidFill>
                  <a:latin typeface="Tahoma" panose="020B0604030504040204" pitchFamily="34" charset="0"/>
                </a:endParaRPr>
              </a:p>
            </p:txBody>
          </p:sp>
          <p:sp>
            <p:nvSpPr>
              <p:cNvPr id="37937" name="Text Box 8"/>
              <p:cNvSpPr txBox="1"/>
              <p:nvPr>
                <p:custDataLst>
                  <p:tags r:id="rId5"/>
                </p:custDataLst>
              </p:nvPr>
            </p:nvSpPr>
            <p:spPr>
              <a:xfrm>
                <a:off x="1584" y="2976"/>
                <a:ext cx="768" cy="447"/>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MM</a:t>
                </a:r>
                <a:r>
                  <a:rPr lang="en-US" altLang="zh-CN" sz="1400" i="1" dirty="0">
                    <a:solidFill>
                      <a:srgbClr val="FF0000"/>
                    </a:solidFill>
                    <a:latin typeface="Tahoma" panose="020B0604030504040204" pitchFamily="34" charset="0"/>
                  </a:rPr>
                  <a:t>n</a:t>
                </a:r>
                <a:endParaRPr lang="en-US" altLang="zh-CN" sz="1400" i="1" dirty="0">
                  <a:solidFill>
                    <a:srgbClr val="FF0000"/>
                  </a:solidFill>
                  <a:latin typeface="Tahoma" panose="020B0604030504040204" pitchFamily="34" charset="0"/>
                </a:endParaRPr>
              </a:p>
            </p:txBody>
          </p:sp>
          <p:sp>
            <p:nvSpPr>
              <p:cNvPr id="37938" name="Line 9"/>
              <p:cNvSpPr/>
              <p:nvPr>
                <p:custDataLst>
                  <p:tags r:id="rId6"/>
                </p:custDataLst>
              </p:nvPr>
            </p:nvSpPr>
            <p:spPr>
              <a:xfrm>
                <a:off x="1920" y="2640"/>
                <a:ext cx="0" cy="240"/>
              </a:xfrm>
              <a:prstGeom prst="line">
                <a:avLst/>
              </a:prstGeom>
              <a:ln w="38100" cap="flat" cmpd="sng">
                <a:solidFill>
                  <a:schemeClr val="tx1"/>
                </a:solidFill>
                <a:prstDash val="sysDot"/>
                <a:headEnd type="none" w="med" len="med"/>
                <a:tailEnd type="none" w="med" len="med"/>
              </a:ln>
            </p:spPr>
            <p:txBody>
              <a:bodyPr/>
              <a:lstStyle/>
              <a:p>
                <a:endParaRPr lang="zh-CN" altLang="en-US"/>
              </a:p>
            </p:txBody>
          </p:sp>
        </p:grpSp>
        <p:grpSp>
          <p:nvGrpSpPr>
            <p:cNvPr id="37895" name="Group 10"/>
            <p:cNvGrpSpPr/>
            <p:nvPr/>
          </p:nvGrpSpPr>
          <p:grpSpPr>
            <a:xfrm>
              <a:off x="1152" y="1440"/>
              <a:ext cx="624" cy="1754"/>
              <a:chOff x="2832" y="1056"/>
              <a:chExt cx="624" cy="1804"/>
            </a:xfrm>
          </p:grpSpPr>
          <p:sp>
            <p:nvSpPr>
              <p:cNvPr id="37930" name="Text Box 11"/>
              <p:cNvSpPr txBox="1"/>
              <p:nvPr>
                <p:custDataLst>
                  <p:tags r:id="rId7"/>
                </p:custDataLst>
              </p:nvPr>
            </p:nvSpPr>
            <p:spPr>
              <a:xfrm>
                <a:off x="2832" y="1056"/>
                <a:ext cx="624" cy="46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CU</a:t>
                </a:r>
                <a:r>
                  <a:rPr lang="en-US" altLang="zh-CN" sz="1400" i="1" dirty="0">
                    <a:solidFill>
                      <a:srgbClr val="FF0000"/>
                    </a:solidFill>
                    <a:latin typeface="Tahoma" panose="020B0604030504040204" pitchFamily="34" charset="0"/>
                  </a:rPr>
                  <a:t>1</a:t>
                </a:r>
                <a:endParaRPr lang="en-US" altLang="zh-CN" sz="1400" i="1" dirty="0">
                  <a:solidFill>
                    <a:srgbClr val="FF0000"/>
                  </a:solidFill>
                  <a:latin typeface="Tahoma" panose="020B0604030504040204" pitchFamily="34" charset="0"/>
                </a:endParaRPr>
              </a:p>
            </p:txBody>
          </p:sp>
          <p:sp>
            <p:nvSpPr>
              <p:cNvPr id="37931" name="Text Box 12"/>
              <p:cNvSpPr txBox="1"/>
              <p:nvPr>
                <p:custDataLst>
                  <p:tags r:id="rId8"/>
                </p:custDataLst>
              </p:nvPr>
            </p:nvSpPr>
            <p:spPr>
              <a:xfrm>
                <a:off x="2832" y="1584"/>
                <a:ext cx="624" cy="46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CU</a:t>
                </a:r>
                <a:r>
                  <a:rPr lang="en-US" altLang="zh-CN" sz="1400" i="1" dirty="0">
                    <a:solidFill>
                      <a:srgbClr val="FF0000"/>
                    </a:solidFill>
                    <a:latin typeface="Tahoma" panose="020B0604030504040204" pitchFamily="34" charset="0"/>
                  </a:rPr>
                  <a:t>2</a:t>
                </a:r>
                <a:endParaRPr lang="en-US" altLang="zh-CN" sz="1400" i="1" dirty="0">
                  <a:solidFill>
                    <a:srgbClr val="FF0000"/>
                  </a:solidFill>
                  <a:latin typeface="Tahoma" panose="020B0604030504040204" pitchFamily="34" charset="0"/>
                </a:endParaRPr>
              </a:p>
            </p:txBody>
          </p:sp>
          <p:sp>
            <p:nvSpPr>
              <p:cNvPr id="37932" name="Text Box 13"/>
              <p:cNvSpPr txBox="1"/>
              <p:nvPr>
                <p:custDataLst>
                  <p:tags r:id="rId9"/>
                </p:custDataLst>
              </p:nvPr>
            </p:nvSpPr>
            <p:spPr>
              <a:xfrm>
                <a:off x="2832" y="2400"/>
                <a:ext cx="624" cy="460"/>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eaLnBrk="1" hangingPunct="1">
                  <a:spcBef>
                    <a:spcPct val="50000"/>
                  </a:spcBef>
                </a:pPr>
                <a:r>
                  <a:rPr lang="en-US" altLang="zh-CN" sz="2000" i="1" dirty="0">
                    <a:solidFill>
                      <a:srgbClr val="FF0000"/>
                    </a:solidFill>
                    <a:latin typeface="Tahoma" panose="020B0604030504040204" pitchFamily="34" charset="0"/>
                  </a:rPr>
                  <a:t>CU</a:t>
                </a:r>
                <a:r>
                  <a:rPr lang="en-US" altLang="zh-CN" sz="1400" i="1" dirty="0">
                    <a:solidFill>
                      <a:srgbClr val="FF0000"/>
                    </a:solidFill>
                    <a:latin typeface="Tahoma" panose="020B0604030504040204" pitchFamily="34" charset="0"/>
                  </a:rPr>
                  <a:t>n</a:t>
                </a:r>
                <a:endParaRPr lang="en-US" altLang="zh-CN" sz="1400" i="1" dirty="0">
                  <a:solidFill>
                    <a:srgbClr val="FF0000"/>
                  </a:solidFill>
                  <a:latin typeface="Tahoma" panose="020B0604030504040204" pitchFamily="34" charset="0"/>
                </a:endParaRPr>
              </a:p>
            </p:txBody>
          </p:sp>
          <p:sp>
            <p:nvSpPr>
              <p:cNvPr id="37933" name="Line 14"/>
              <p:cNvSpPr/>
              <p:nvPr>
                <p:custDataLst>
                  <p:tags r:id="rId10"/>
                </p:custDataLst>
              </p:nvPr>
            </p:nvSpPr>
            <p:spPr>
              <a:xfrm>
                <a:off x="3120" y="2064"/>
                <a:ext cx="0" cy="240"/>
              </a:xfrm>
              <a:prstGeom prst="line">
                <a:avLst/>
              </a:prstGeom>
              <a:ln w="38100" cap="flat" cmpd="sng">
                <a:solidFill>
                  <a:schemeClr val="tx1"/>
                </a:solidFill>
                <a:prstDash val="sysDot"/>
                <a:headEnd type="none" w="med" len="med"/>
                <a:tailEnd type="none" w="med" len="med"/>
              </a:ln>
            </p:spPr>
            <p:txBody>
              <a:bodyPr/>
              <a:lstStyle/>
              <a:p>
                <a:endParaRPr lang="zh-CN" altLang="en-US"/>
              </a:p>
            </p:txBody>
          </p:sp>
        </p:grpSp>
        <p:sp>
          <p:nvSpPr>
            <p:cNvPr id="37896" name="Text Box 16"/>
            <p:cNvSpPr txBox="1"/>
            <p:nvPr>
              <p:custDataLst>
                <p:tags r:id="rId11"/>
              </p:custDataLst>
            </p:nvPr>
          </p:nvSpPr>
          <p:spPr>
            <a:xfrm>
              <a:off x="2256" y="1440"/>
              <a:ext cx="624" cy="447"/>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1</a:t>
              </a:r>
              <a:endParaRPr lang="en-US" altLang="zh-CN" sz="1400" i="1" dirty="0">
                <a:solidFill>
                  <a:srgbClr val="FF0000"/>
                </a:solidFill>
                <a:latin typeface="Tahoma" panose="020B0604030504040204" pitchFamily="34" charset="0"/>
              </a:endParaRPr>
            </a:p>
          </p:txBody>
        </p:sp>
        <p:sp>
          <p:nvSpPr>
            <p:cNvPr id="37897" name="Text Box 17"/>
            <p:cNvSpPr txBox="1"/>
            <p:nvPr>
              <p:custDataLst>
                <p:tags r:id="rId12"/>
              </p:custDataLst>
            </p:nvPr>
          </p:nvSpPr>
          <p:spPr>
            <a:xfrm>
              <a:off x="2256" y="1968"/>
              <a:ext cx="624" cy="447"/>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2</a:t>
              </a:r>
              <a:endParaRPr lang="en-US" altLang="zh-CN" sz="1400" i="1" dirty="0">
                <a:solidFill>
                  <a:srgbClr val="FF0000"/>
                </a:solidFill>
                <a:latin typeface="Tahoma" panose="020B0604030504040204" pitchFamily="34" charset="0"/>
              </a:endParaRPr>
            </a:p>
          </p:txBody>
        </p:sp>
        <p:sp>
          <p:nvSpPr>
            <p:cNvPr id="37898" name="Text Box 18"/>
            <p:cNvSpPr txBox="1"/>
            <p:nvPr>
              <p:custDataLst>
                <p:tags r:id="rId13"/>
              </p:custDataLst>
            </p:nvPr>
          </p:nvSpPr>
          <p:spPr>
            <a:xfrm>
              <a:off x="2256" y="2736"/>
              <a:ext cx="624" cy="447"/>
            </a:xfrm>
            <a:prstGeom prst="rect">
              <a:avLst/>
            </a:prstGeom>
            <a:solidFill>
              <a:srgbClr val="3D41E9"/>
            </a:solidFill>
            <a:ln w="9525" cap="flat" cmpd="sng">
              <a:solidFill>
                <a:srgbClr val="000066"/>
              </a:solidFill>
              <a:prstDash val="solid"/>
              <a:miter/>
              <a:headEnd type="none" w="med" len="med"/>
              <a:tailEnd type="none" w="med" len="med"/>
            </a:ln>
          </p:spPr>
          <p:txBody>
            <a:bodyPr>
              <a:spAutoFit/>
            </a:bodyPr>
            <a:lstStyle/>
            <a:p>
              <a:pPr algn="ctr" eaLnBrk="1" hangingPunct="1">
                <a:spcBef>
                  <a:spcPct val="50000"/>
                </a:spcBef>
              </a:pPr>
              <a:r>
                <a:rPr lang="en-US" altLang="zh-CN" sz="2000" i="1" dirty="0">
                  <a:solidFill>
                    <a:srgbClr val="FF0000"/>
                  </a:solidFill>
                  <a:latin typeface="Tahoma" panose="020B0604030504040204" pitchFamily="34" charset="0"/>
                </a:rPr>
                <a:t>PU</a:t>
              </a:r>
              <a:r>
                <a:rPr lang="en-US" altLang="zh-CN" sz="1400" i="1" dirty="0">
                  <a:solidFill>
                    <a:srgbClr val="FF0000"/>
                  </a:solidFill>
                  <a:latin typeface="Tahoma" panose="020B0604030504040204" pitchFamily="34" charset="0"/>
                </a:rPr>
                <a:t>n</a:t>
              </a:r>
              <a:endParaRPr lang="en-US" altLang="zh-CN" sz="1400" i="1" dirty="0">
                <a:solidFill>
                  <a:srgbClr val="FF0000"/>
                </a:solidFill>
                <a:latin typeface="Tahoma" panose="020B0604030504040204" pitchFamily="34" charset="0"/>
              </a:endParaRPr>
            </a:p>
          </p:txBody>
        </p:sp>
        <p:sp>
          <p:nvSpPr>
            <p:cNvPr id="37899" name="Line 19"/>
            <p:cNvSpPr/>
            <p:nvPr>
              <p:custDataLst>
                <p:tags r:id="rId14"/>
              </p:custDataLst>
            </p:nvPr>
          </p:nvSpPr>
          <p:spPr>
            <a:xfrm>
              <a:off x="2544" y="2400"/>
              <a:ext cx="0" cy="240"/>
            </a:xfrm>
            <a:prstGeom prst="line">
              <a:avLst/>
            </a:prstGeom>
            <a:ln w="38100" cap="flat" cmpd="sng">
              <a:solidFill>
                <a:schemeClr val="tx1"/>
              </a:solidFill>
              <a:prstDash val="sysDot"/>
              <a:headEnd type="none" w="med" len="med"/>
              <a:tailEnd type="none" w="med" len="med"/>
            </a:ln>
          </p:spPr>
          <p:txBody>
            <a:bodyPr/>
            <a:lstStyle/>
            <a:p>
              <a:endParaRPr lang="zh-CN" altLang="en-US"/>
            </a:p>
          </p:txBody>
        </p:sp>
        <p:sp>
          <p:nvSpPr>
            <p:cNvPr id="37900" name="Text Box 27"/>
            <p:cNvSpPr txBox="1"/>
            <p:nvPr>
              <p:custDataLst>
                <p:tags r:id="rId15"/>
              </p:custDataLst>
            </p:nvPr>
          </p:nvSpPr>
          <p:spPr>
            <a:xfrm>
              <a:off x="2936" y="1344"/>
              <a:ext cx="448" cy="309"/>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DS1</a:t>
              </a:r>
              <a:endParaRPr lang="en-US" altLang="zh-CN" sz="1200" i="1" dirty="0">
                <a:latin typeface="Tahoma" panose="020B0604030504040204" pitchFamily="34" charset="0"/>
              </a:endParaRPr>
            </a:p>
          </p:txBody>
        </p:sp>
        <p:sp>
          <p:nvSpPr>
            <p:cNvPr id="37901" name="Text Box 28"/>
            <p:cNvSpPr txBox="1"/>
            <p:nvPr>
              <p:custDataLst>
                <p:tags r:id="rId16"/>
              </p:custDataLst>
            </p:nvPr>
          </p:nvSpPr>
          <p:spPr>
            <a:xfrm>
              <a:off x="2936" y="1824"/>
              <a:ext cx="448" cy="309"/>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DS2</a:t>
              </a:r>
              <a:endParaRPr lang="en-US" altLang="zh-CN" sz="1200" i="1" dirty="0">
                <a:latin typeface="Tahoma" panose="020B0604030504040204" pitchFamily="34" charset="0"/>
              </a:endParaRPr>
            </a:p>
          </p:txBody>
        </p:sp>
        <p:sp>
          <p:nvSpPr>
            <p:cNvPr id="37902" name="Text Box 29"/>
            <p:cNvSpPr txBox="1"/>
            <p:nvPr>
              <p:custDataLst>
                <p:tags r:id="rId17"/>
              </p:custDataLst>
            </p:nvPr>
          </p:nvSpPr>
          <p:spPr>
            <a:xfrm>
              <a:off x="2936" y="2640"/>
              <a:ext cx="448" cy="309"/>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DSn</a:t>
              </a:r>
              <a:endParaRPr lang="en-US" altLang="zh-CN" sz="1200" i="1" dirty="0">
                <a:latin typeface="Tahoma" panose="020B0604030504040204" pitchFamily="34" charset="0"/>
              </a:endParaRPr>
            </a:p>
          </p:txBody>
        </p:sp>
        <p:sp>
          <p:nvSpPr>
            <p:cNvPr id="37903" name="Text Box 34"/>
            <p:cNvSpPr txBox="1"/>
            <p:nvPr>
              <p:custDataLst>
                <p:tags r:id="rId18"/>
              </p:custDataLst>
            </p:nvPr>
          </p:nvSpPr>
          <p:spPr>
            <a:xfrm>
              <a:off x="1776" y="1296"/>
              <a:ext cx="384" cy="309"/>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IS1</a:t>
              </a:r>
              <a:endParaRPr lang="en-US" altLang="zh-CN" sz="1200" i="1" dirty="0">
                <a:latin typeface="Tahoma" panose="020B0604030504040204" pitchFamily="34" charset="0"/>
              </a:endParaRPr>
            </a:p>
          </p:txBody>
        </p:sp>
        <p:sp>
          <p:nvSpPr>
            <p:cNvPr id="37904" name="Text Box 35"/>
            <p:cNvSpPr txBox="1"/>
            <p:nvPr>
              <p:custDataLst>
                <p:tags r:id="rId19"/>
              </p:custDataLst>
            </p:nvPr>
          </p:nvSpPr>
          <p:spPr>
            <a:xfrm>
              <a:off x="1824" y="1824"/>
              <a:ext cx="384" cy="309"/>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IS2</a:t>
              </a:r>
              <a:endParaRPr lang="en-US" altLang="zh-CN" sz="1200" i="1" dirty="0">
                <a:latin typeface="Tahoma" panose="020B0604030504040204" pitchFamily="34" charset="0"/>
              </a:endParaRPr>
            </a:p>
          </p:txBody>
        </p:sp>
        <p:sp>
          <p:nvSpPr>
            <p:cNvPr id="37905" name="Text Box 36"/>
            <p:cNvSpPr txBox="1"/>
            <p:nvPr>
              <p:custDataLst>
                <p:tags r:id="rId20"/>
              </p:custDataLst>
            </p:nvPr>
          </p:nvSpPr>
          <p:spPr>
            <a:xfrm>
              <a:off x="1824" y="2640"/>
              <a:ext cx="384" cy="309"/>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ISn</a:t>
              </a:r>
              <a:endParaRPr lang="en-US" altLang="zh-CN" sz="1200" i="1" dirty="0">
                <a:latin typeface="Tahoma" panose="020B0604030504040204" pitchFamily="34" charset="0"/>
              </a:endParaRPr>
            </a:p>
          </p:txBody>
        </p:sp>
        <p:sp>
          <p:nvSpPr>
            <p:cNvPr id="37906" name="Line 37"/>
            <p:cNvSpPr/>
            <p:nvPr>
              <p:custDataLst>
                <p:tags r:id="rId21"/>
              </p:custDataLst>
            </p:nvPr>
          </p:nvSpPr>
          <p:spPr>
            <a:xfrm flipH="1">
              <a:off x="4656" y="1584"/>
              <a:ext cx="576" cy="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07" name="Line 38"/>
            <p:cNvSpPr/>
            <p:nvPr>
              <p:custDataLst>
                <p:tags r:id="rId22"/>
              </p:custDataLst>
            </p:nvPr>
          </p:nvSpPr>
          <p:spPr>
            <a:xfrm flipV="1">
              <a:off x="480" y="1632"/>
              <a:ext cx="0" cy="2112"/>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08" name="Line 39"/>
            <p:cNvSpPr/>
            <p:nvPr>
              <p:custDataLst>
                <p:tags r:id="rId23"/>
              </p:custDataLst>
            </p:nvPr>
          </p:nvSpPr>
          <p:spPr>
            <a:xfrm>
              <a:off x="480" y="3744"/>
              <a:ext cx="4752" cy="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09" name="Line 40"/>
            <p:cNvSpPr/>
            <p:nvPr>
              <p:custDataLst>
                <p:tags r:id="rId24"/>
              </p:custDataLst>
            </p:nvPr>
          </p:nvSpPr>
          <p:spPr>
            <a:xfrm>
              <a:off x="480" y="1632"/>
              <a:ext cx="672" cy="0"/>
            </a:xfrm>
            <a:prstGeom prst="line">
              <a:avLst/>
            </a:prstGeom>
            <a:ln w="38100" cap="flat" cmpd="sng">
              <a:solidFill>
                <a:srgbClr val="607634"/>
              </a:solidFill>
              <a:prstDash val="solid"/>
              <a:headEnd type="none" w="med" len="med"/>
              <a:tailEnd type="triangle" w="med" len="med"/>
            </a:ln>
          </p:spPr>
          <p:txBody>
            <a:bodyPr/>
            <a:lstStyle/>
            <a:p>
              <a:endParaRPr lang="zh-CN" altLang="en-US"/>
            </a:p>
          </p:txBody>
        </p:sp>
        <p:sp>
          <p:nvSpPr>
            <p:cNvPr id="37910" name="Line 41"/>
            <p:cNvSpPr/>
            <p:nvPr>
              <p:custDataLst>
                <p:tags r:id="rId25"/>
              </p:custDataLst>
            </p:nvPr>
          </p:nvSpPr>
          <p:spPr>
            <a:xfrm>
              <a:off x="4848" y="2976"/>
              <a:ext cx="0" cy="384"/>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11" name="Line 42"/>
            <p:cNvSpPr/>
            <p:nvPr>
              <p:custDataLst>
                <p:tags r:id="rId26"/>
              </p:custDataLst>
            </p:nvPr>
          </p:nvSpPr>
          <p:spPr>
            <a:xfrm flipH="1">
              <a:off x="768" y="3360"/>
              <a:ext cx="4080" cy="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12" name="Line 43"/>
            <p:cNvSpPr/>
            <p:nvPr>
              <p:custDataLst>
                <p:tags r:id="rId27"/>
              </p:custDataLst>
            </p:nvPr>
          </p:nvSpPr>
          <p:spPr>
            <a:xfrm flipV="1">
              <a:off x="768" y="2928"/>
              <a:ext cx="0" cy="432"/>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13" name="Line 44"/>
            <p:cNvSpPr/>
            <p:nvPr>
              <p:custDataLst>
                <p:tags r:id="rId28"/>
              </p:custDataLst>
            </p:nvPr>
          </p:nvSpPr>
          <p:spPr>
            <a:xfrm>
              <a:off x="768" y="2928"/>
              <a:ext cx="384" cy="0"/>
            </a:xfrm>
            <a:prstGeom prst="line">
              <a:avLst/>
            </a:prstGeom>
            <a:ln w="38100" cap="flat" cmpd="sng">
              <a:solidFill>
                <a:srgbClr val="607634"/>
              </a:solidFill>
              <a:prstDash val="solid"/>
              <a:headEnd type="none" w="med" len="med"/>
              <a:tailEnd type="triangle" w="med" len="med"/>
            </a:ln>
          </p:spPr>
          <p:txBody>
            <a:bodyPr/>
            <a:lstStyle/>
            <a:p>
              <a:endParaRPr lang="zh-CN" altLang="en-US"/>
            </a:p>
          </p:txBody>
        </p:sp>
        <p:sp>
          <p:nvSpPr>
            <p:cNvPr id="37914" name="Text Box 45"/>
            <p:cNvSpPr txBox="1"/>
            <p:nvPr>
              <p:custDataLst>
                <p:tags r:id="rId29"/>
              </p:custDataLst>
            </p:nvPr>
          </p:nvSpPr>
          <p:spPr>
            <a:xfrm>
              <a:off x="4704" y="1296"/>
              <a:ext cx="528" cy="309"/>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IS1</a:t>
              </a:r>
              <a:endParaRPr lang="en-US" altLang="zh-CN" sz="1200" i="1" dirty="0">
                <a:latin typeface="Tahoma" panose="020B0604030504040204" pitchFamily="34" charset="0"/>
              </a:endParaRPr>
            </a:p>
          </p:txBody>
        </p:sp>
        <p:sp>
          <p:nvSpPr>
            <p:cNvPr id="37915" name="Text Box 46"/>
            <p:cNvSpPr txBox="1"/>
            <p:nvPr>
              <p:custDataLst>
                <p:tags r:id="rId30"/>
              </p:custDataLst>
            </p:nvPr>
          </p:nvSpPr>
          <p:spPr>
            <a:xfrm>
              <a:off x="4656" y="1872"/>
              <a:ext cx="576" cy="344"/>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a:t>
              </a:r>
              <a:r>
                <a:rPr lang="en-US" altLang="zh-CN" sz="1400" i="1" dirty="0">
                  <a:latin typeface="Tahoma" panose="020B0604030504040204" pitchFamily="34" charset="0"/>
                </a:rPr>
                <a:t>2</a:t>
              </a:r>
              <a:endParaRPr lang="en-US" altLang="zh-CN" sz="1400" i="1" dirty="0">
                <a:latin typeface="Tahoma" panose="020B0604030504040204" pitchFamily="34" charset="0"/>
              </a:endParaRPr>
            </a:p>
          </p:txBody>
        </p:sp>
        <p:sp>
          <p:nvSpPr>
            <p:cNvPr id="37916" name="Line 47"/>
            <p:cNvSpPr/>
            <p:nvPr>
              <p:custDataLst>
                <p:tags r:id="rId31"/>
              </p:custDataLst>
            </p:nvPr>
          </p:nvSpPr>
          <p:spPr>
            <a:xfrm>
              <a:off x="4656" y="2976"/>
              <a:ext cx="192" cy="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17" name="Line 48"/>
            <p:cNvSpPr/>
            <p:nvPr>
              <p:custDataLst>
                <p:tags r:id="rId32"/>
              </p:custDataLst>
            </p:nvPr>
          </p:nvSpPr>
          <p:spPr>
            <a:xfrm>
              <a:off x="4656" y="2160"/>
              <a:ext cx="384" cy="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18" name="Line 49"/>
            <p:cNvSpPr/>
            <p:nvPr>
              <p:custDataLst>
                <p:tags r:id="rId33"/>
              </p:custDataLst>
            </p:nvPr>
          </p:nvSpPr>
          <p:spPr>
            <a:xfrm>
              <a:off x="5040" y="2160"/>
              <a:ext cx="0" cy="1344"/>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19" name="Line 50"/>
            <p:cNvSpPr/>
            <p:nvPr>
              <p:custDataLst>
                <p:tags r:id="rId34"/>
              </p:custDataLst>
            </p:nvPr>
          </p:nvSpPr>
          <p:spPr>
            <a:xfrm flipH="1">
              <a:off x="624" y="3504"/>
              <a:ext cx="4416" cy="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20" name="Line 51"/>
            <p:cNvSpPr/>
            <p:nvPr>
              <p:custDataLst>
                <p:tags r:id="rId35"/>
              </p:custDataLst>
            </p:nvPr>
          </p:nvSpPr>
          <p:spPr>
            <a:xfrm flipV="1">
              <a:off x="624" y="2112"/>
              <a:ext cx="0" cy="1392"/>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21" name="Line 52"/>
            <p:cNvSpPr/>
            <p:nvPr>
              <p:custDataLst>
                <p:tags r:id="rId36"/>
              </p:custDataLst>
            </p:nvPr>
          </p:nvSpPr>
          <p:spPr>
            <a:xfrm>
              <a:off x="624" y="2112"/>
              <a:ext cx="528" cy="0"/>
            </a:xfrm>
            <a:prstGeom prst="line">
              <a:avLst/>
            </a:prstGeom>
            <a:ln w="38100" cap="flat" cmpd="sng">
              <a:solidFill>
                <a:srgbClr val="607634"/>
              </a:solidFill>
              <a:prstDash val="solid"/>
              <a:headEnd type="none" w="med" len="med"/>
              <a:tailEnd type="triangle" w="med" len="med"/>
            </a:ln>
          </p:spPr>
          <p:txBody>
            <a:bodyPr/>
            <a:lstStyle/>
            <a:p>
              <a:endParaRPr lang="zh-CN" altLang="en-US"/>
            </a:p>
          </p:txBody>
        </p:sp>
        <p:sp>
          <p:nvSpPr>
            <p:cNvPr id="37922" name="Line 53"/>
            <p:cNvSpPr/>
            <p:nvPr>
              <p:custDataLst>
                <p:tags r:id="rId37"/>
              </p:custDataLst>
            </p:nvPr>
          </p:nvSpPr>
          <p:spPr>
            <a:xfrm>
              <a:off x="5232" y="1584"/>
              <a:ext cx="0" cy="2160"/>
            </a:xfrm>
            <a:prstGeom prst="line">
              <a:avLst/>
            </a:prstGeom>
            <a:ln w="38100" cap="flat" cmpd="sng">
              <a:solidFill>
                <a:srgbClr val="607634"/>
              </a:solidFill>
              <a:prstDash val="solid"/>
              <a:headEnd type="none" w="med" len="med"/>
              <a:tailEnd type="none" w="med" len="med"/>
            </a:ln>
          </p:spPr>
          <p:txBody>
            <a:bodyPr/>
            <a:lstStyle/>
            <a:p>
              <a:endParaRPr lang="zh-CN" altLang="en-US"/>
            </a:p>
          </p:txBody>
        </p:sp>
        <p:sp>
          <p:nvSpPr>
            <p:cNvPr id="37923" name="Text Box 54"/>
            <p:cNvSpPr txBox="1"/>
            <p:nvPr>
              <p:custDataLst>
                <p:tags r:id="rId38"/>
              </p:custDataLst>
            </p:nvPr>
          </p:nvSpPr>
          <p:spPr>
            <a:xfrm>
              <a:off x="4656" y="2688"/>
              <a:ext cx="576" cy="344"/>
            </a:xfrm>
            <a:prstGeom prst="rect">
              <a:avLst/>
            </a:prstGeom>
            <a:noFill/>
            <a:ln w="9525">
              <a:noFill/>
            </a:ln>
          </p:spPr>
          <p:txBody>
            <a:bodyPr>
              <a:spAutoFit/>
            </a:bodyPr>
            <a:lstStyle/>
            <a:p>
              <a:pPr eaLnBrk="1" hangingPunct="1">
                <a:spcBef>
                  <a:spcPct val="50000"/>
                </a:spcBef>
              </a:pPr>
              <a:r>
                <a:rPr lang="en-US" altLang="zh-CN" sz="1200" i="1" dirty="0">
                  <a:latin typeface="Tahoma" panose="020B0604030504040204" pitchFamily="34" charset="0"/>
                </a:rPr>
                <a:t>IS</a:t>
              </a:r>
              <a:r>
                <a:rPr lang="en-US" altLang="zh-CN" sz="1400" i="1" dirty="0">
                  <a:latin typeface="Tahoma" panose="020B0604030504040204" pitchFamily="34" charset="0"/>
                </a:rPr>
                <a:t>n</a:t>
              </a:r>
              <a:endParaRPr lang="en-US" altLang="zh-CN" sz="1400" i="1" dirty="0">
                <a:latin typeface="Tahoma" panose="020B0604030504040204" pitchFamily="34" charset="0"/>
              </a:endParaRPr>
            </a:p>
          </p:txBody>
        </p:sp>
        <p:sp>
          <p:nvSpPr>
            <p:cNvPr id="37924" name="Line 59"/>
            <p:cNvSpPr/>
            <p:nvPr>
              <p:custDataLst>
                <p:tags r:id="rId39"/>
              </p:custDataLst>
            </p:nvPr>
          </p:nvSpPr>
          <p:spPr>
            <a:xfrm>
              <a:off x="2880" y="1632"/>
              <a:ext cx="720" cy="0"/>
            </a:xfrm>
            <a:prstGeom prst="line">
              <a:avLst/>
            </a:prstGeom>
            <a:ln w="38100" cap="flat" cmpd="sng">
              <a:solidFill>
                <a:srgbClr val="FF0000"/>
              </a:solidFill>
              <a:prstDash val="solid"/>
              <a:headEnd type="triangle" w="med" len="lg"/>
              <a:tailEnd type="triangle" w="med" len="lg"/>
            </a:ln>
          </p:spPr>
          <p:txBody>
            <a:bodyPr/>
            <a:lstStyle/>
            <a:p>
              <a:endParaRPr lang="zh-CN" altLang="en-US"/>
            </a:p>
          </p:txBody>
        </p:sp>
        <p:sp>
          <p:nvSpPr>
            <p:cNvPr id="37925" name="Line 60"/>
            <p:cNvSpPr/>
            <p:nvPr>
              <p:custDataLst>
                <p:tags r:id="rId40"/>
              </p:custDataLst>
            </p:nvPr>
          </p:nvSpPr>
          <p:spPr>
            <a:xfrm>
              <a:off x="2880" y="2130"/>
              <a:ext cx="720" cy="0"/>
            </a:xfrm>
            <a:prstGeom prst="line">
              <a:avLst/>
            </a:prstGeom>
            <a:ln w="38100" cap="flat" cmpd="sng">
              <a:solidFill>
                <a:srgbClr val="FF0000"/>
              </a:solidFill>
              <a:prstDash val="solid"/>
              <a:headEnd type="triangle" w="med" len="lg"/>
              <a:tailEnd type="triangle" w="med" len="lg"/>
            </a:ln>
          </p:spPr>
          <p:txBody>
            <a:bodyPr/>
            <a:lstStyle/>
            <a:p>
              <a:endParaRPr lang="zh-CN" altLang="en-US"/>
            </a:p>
          </p:txBody>
        </p:sp>
        <p:sp>
          <p:nvSpPr>
            <p:cNvPr id="37926" name="Line 61"/>
            <p:cNvSpPr/>
            <p:nvPr>
              <p:custDataLst>
                <p:tags r:id="rId41"/>
              </p:custDataLst>
            </p:nvPr>
          </p:nvSpPr>
          <p:spPr>
            <a:xfrm>
              <a:off x="2880" y="2928"/>
              <a:ext cx="720" cy="0"/>
            </a:xfrm>
            <a:prstGeom prst="line">
              <a:avLst/>
            </a:prstGeom>
            <a:ln w="38100" cap="flat" cmpd="sng">
              <a:solidFill>
                <a:srgbClr val="FF0000"/>
              </a:solidFill>
              <a:prstDash val="solid"/>
              <a:headEnd type="triangle" w="med" len="lg"/>
              <a:tailEnd type="triangle" w="med" len="lg"/>
            </a:ln>
          </p:spPr>
          <p:txBody>
            <a:bodyPr/>
            <a:lstStyle/>
            <a:p>
              <a:endParaRPr lang="zh-CN" altLang="en-US"/>
            </a:p>
          </p:txBody>
        </p:sp>
        <p:sp>
          <p:nvSpPr>
            <p:cNvPr id="37927" name="Line 64"/>
            <p:cNvSpPr/>
            <p:nvPr>
              <p:custDataLst>
                <p:tags r:id="rId42"/>
              </p:custDataLst>
            </p:nvPr>
          </p:nvSpPr>
          <p:spPr>
            <a:xfrm>
              <a:off x="1776" y="1632"/>
              <a:ext cx="480" cy="0"/>
            </a:xfrm>
            <a:prstGeom prst="line">
              <a:avLst/>
            </a:prstGeom>
            <a:ln w="38100" cap="flat" cmpd="sng">
              <a:solidFill>
                <a:srgbClr val="339966"/>
              </a:solidFill>
              <a:prstDash val="solid"/>
              <a:headEnd type="none" w="med" len="lg"/>
              <a:tailEnd type="triangle" w="med" len="lg"/>
            </a:ln>
          </p:spPr>
          <p:txBody>
            <a:bodyPr/>
            <a:lstStyle/>
            <a:p>
              <a:endParaRPr lang="zh-CN" altLang="en-US"/>
            </a:p>
          </p:txBody>
        </p:sp>
        <p:sp>
          <p:nvSpPr>
            <p:cNvPr id="37928" name="Line 65"/>
            <p:cNvSpPr/>
            <p:nvPr>
              <p:custDataLst>
                <p:tags r:id="rId43"/>
              </p:custDataLst>
            </p:nvPr>
          </p:nvSpPr>
          <p:spPr>
            <a:xfrm>
              <a:off x="1776" y="2160"/>
              <a:ext cx="480" cy="0"/>
            </a:xfrm>
            <a:prstGeom prst="line">
              <a:avLst/>
            </a:prstGeom>
            <a:ln w="38100" cap="flat" cmpd="sng">
              <a:solidFill>
                <a:srgbClr val="339966"/>
              </a:solidFill>
              <a:prstDash val="solid"/>
              <a:headEnd type="none" w="med" len="lg"/>
              <a:tailEnd type="triangle" w="med" len="lg"/>
            </a:ln>
          </p:spPr>
          <p:txBody>
            <a:bodyPr/>
            <a:lstStyle/>
            <a:p>
              <a:endParaRPr lang="zh-CN" altLang="en-US"/>
            </a:p>
          </p:txBody>
        </p:sp>
        <p:sp>
          <p:nvSpPr>
            <p:cNvPr id="37929" name="Line 66"/>
            <p:cNvSpPr/>
            <p:nvPr>
              <p:custDataLst>
                <p:tags r:id="rId44"/>
              </p:custDataLst>
            </p:nvPr>
          </p:nvSpPr>
          <p:spPr>
            <a:xfrm>
              <a:off x="1776" y="2928"/>
              <a:ext cx="480" cy="0"/>
            </a:xfrm>
            <a:prstGeom prst="line">
              <a:avLst/>
            </a:prstGeom>
            <a:ln w="38100" cap="flat" cmpd="sng">
              <a:solidFill>
                <a:srgbClr val="339966"/>
              </a:solidFill>
              <a:prstDash val="solid"/>
              <a:headEnd type="none" w="med" len="lg"/>
              <a:tailEnd type="triangle" w="med" len="lg"/>
            </a:ln>
          </p:spPr>
          <p:txBody>
            <a:bodyPr/>
            <a:lstStyle/>
            <a:p>
              <a:endParaRPr lang="zh-CN" altLang="en-US"/>
            </a:p>
          </p:txBody>
        </p:sp>
      </p:grpSp>
      <p:pic>
        <p:nvPicPr>
          <p:cNvPr id="4" name="图片 3"/>
          <p:cNvPicPr>
            <a:picLocks noChangeAspect="1"/>
          </p:cNvPicPr>
          <p:nvPr>
            <p:custDataLst>
              <p:tags r:id="rId45"/>
            </p:custDataLst>
          </p:nvPr>
        </p:nvPicPr>
        <p:blipFill>
          <a:blip r:embed="rId46"/>
          <a:stretch>
            <a:fillRect/>
          </a:stretch>
        </p:blipFill>
        <p:spPr>
          <a:xfrm>
            <a:off x="6156325" y="3176905"/>
            <a:ext cx="2620645" cy="26206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81711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单核Intel CPU是哪一种?</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双核Intel CPU是哪一种?</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有硬件多线程时又如何?</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Flynn分类法的问题</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81711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主要缺点：</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(1)分类太粗</a:t>
            </a:r>
            <a:endParaRPr lang="zh-CN" altLang="en-US" sz="24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在SIMD中包括有多种处理机</a:t>
            </a:r>
            <a:endParaRPr lang="zh-CN" altLang="en-US" sz="2055">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对流水线处理机的划分不明确：</a:t>
            </a:r>
            <a:endParaRPr lang="zh-CN" altLang="en-US" sz="2055">
              <a:latin typeface="Times New Roman" panose="02020603050405020304" pitchFamily="18" charset="0"/>
              <a:cs typeface="Times New Roman" panose="02020603050405020304" pitchFamily="18" charset="0"/>
              <a:sym typeface="+mn-ea"/>
            </a:endParaRPr>
          </a:p>
          <a:p>
            <a:pPr lvl="3" latinLnBrk="0">
              <a:spcBef>
                <a:spcPts val="1200"/>
              </a:spcBef>
            </a:pPr>
            <a:r>
              <a:rPr lang="zh-CN" altLang="en-US" sz="1710">
                <a:latin typeface="Times New Roman" panose="02020603050405020304" pitchFamily="18" charset="0"/>
                <a:cs typeface="Times New Roman" panose="02020603050405020304" pitchFamily="18" charset="0"/>
                <a:sym typeface="+mn-ea"/>
              </a:rPr>
              <a:t>标量流水线为SISD，向量流水线为</a:t>
            </a:r>
            <a:r>
              <a:rPr lang="en-US" altLang="zh-CN" sz="1710">
                <a:latin typeface="Times New Roman" panose="02020603050405020304" pitchFamily="18" charset="0"/>
                <a:cs typeface="Times New Roman" panose="02020603050405020304" pitchFamily="18" charset="0"/>
                <a:sym typeface="+mn-ea"/>
              </a:rPr>
              <a:t>SIMD</a:t>
            </a:r>
            <a:endParaRPr lang="zh-CN" altLang="en-US" sz="1710">
              <a:latin typeface="Times New Roman" panose="02020603050405020304" pitchFamily="18" charset="0"/>
              <a:cs typeface="Times New Roman" panose="02020603050405020304" pitchFamily="18" charset="0"/>
              <a:sym typeface="+mn-ea"/>
            </a:endParaRPr>
          </a:p>
          <a:p>
            <a:pPr lvl="1" algn="l" latinLnBrk="0">
              <a:spcBef>
                <a:spcPts val="1800"/>
              </a:spcBef>
              <a:buSzTx/>
            </a:pPr>
            <a:r>
              <a:rPr lang="zh-CN" altLang="en-US" sz="2400">
                <a:latin typeface="Times New Roman" panose="02020603050405020304" pitchFamily="18" charset="0"/>
                <a:cs typeface="Times New Roman" panose="02020603050405020304" pitchFamily="18" charset="0"/>
                <a:sym typeface="+mn-ea"/>
              </a:rPr>
              <a:t>(2)根本问题是把两个不同等级的功能并列对待</a:t>
            </a:r>
            <a:endParaRPr lang="zh-CN" altLang="en-US" sz="2400">
              <a:latin typeface="Times New Roman" panose="02020603050405020304" pitchFamily="18" charset="0"/>
              <a:cs typeface="Times New Roman" panose="02020603050405020304" pitchFamily="18" charset="0"/>
              <a:sym typeface="+mn-ea"/>
            </a:endParaRPr>
          </a:p>
          <a:p>
            <a:pPr lvl="2" algn="l" latinLnBrk="0">
              <a:spcBef>
                <a:spcPts val="1200"/>
              </a:spcBef>
              <a:buSzTx/>
              <a:buFontTx/>
            </a:pPr>
            <a:r>
              <a:rPr lang="zh-CN" altLang="en-US" sz="2055">
                <a:solidFill>
                  <a:srgbClr val="FF0000"/>
                </a:solidFill>
                <a:latin typeface="Times New Roman" panose="02020603050405020304" pitchFamily="18" charset="0"/>
                <a:cs typeface="Times New Roman" panose="02020603050405020304" pitchFamily="18" charset="0"/>
                <a:sym typeface="+mn-ea"/>
              </a:rPr>
              <a:t>数据流</a:t>
            </a:r>
            <a:r>
              <a:rPr lang="zh-CN" altLang="en-US" sz="2055">
                <a:latin typeface="Times New Roman" panose="02020603050405020304" pitchFamily="18" charset="0"/>
                <a:cs typeface="Times New Roman" panose="02020603050405020304" pitchFamily="18" charset="0"/>
                <a:sym typeface="+mn-ea"/>
              </a:rPr>
              <a:t>受</a:t>
            </a:r>
            <a:r>
              <a:rPr lang="zh-CN" altLang="en-US" sz="2055">
                <a:solidFill>
                  <a:srgbClr val="FF0000"/>
                </a:solidFill>
                <a:latin typeface="Times New Roman" panose="02020603050405020304" pitchFamily="18" charset="0"/>
                <a:cs typeface="Times New Roman" panose="02020603050405020304" pitchFamily="18" charset="0"/>
                <a:sym typeface="+mn-ea"/>
              </a:rPr>
              <a:t>指令流</a:t>
            </a:r>
            <a:r>
              <a:rPr lang="zh-CN" altLang="en-US" sz="2055">
                <a:latin typeface="Times New Roman" panose="02020603050405020304" pitchFamily="18" charset="0"/>
                <a:cs typeface="Times New Roman" panose="02020603050405020304" pitchFamily="18" charset="0"/>
                <a:sym typeface="+mn-ea"/>
              </a:rPr>
              <a:t>控制，造成MISD不存在</a:t>
            </a:r>
            <a:endParaRPr lang="zh-CN" altLang="en-US" sz="2055">
              <a:latin typeface="Times New Roman" panose="02020603050405020304" pitchFamily="18" charset="0"/>
              <a:cs typeface="Times New Roman" panose="02020603050405020304" pitchFamily="18" charset="0"/>
              <a:sym typeface="+mn-ea"/>
            </a:endParaRPr>
          </a:p>
          <a:p>
            <a:pPr lvl="1" algn="l" latinLnBrk="0">
              <a:spcBef>
                <a:spcPts val="1800"/>
              </a:spcBef>
              <a:buSzTx/>
            </a:pPr>
            <a:r>
              <a:rPr lang="en-US" altLang="zh-CN" sz="2400">
                <a:latin typeface="Times New Roman" panose="02020603050405020304" pitchFamily="18" charset="0"/>
                <a:cs typeface="Times New Roman" panose="02020603050405020304" pitchFamily="18" charset="0"/>
                <a:sym typeface="+mn-ea"/>
              </a:rPr>
              <a:t>(3)</a:t>
            </a:r>
            <a:r>
              <a:rPr lang="zh-CN" altLang="en-US" sz="2400">
                <a:latin typeface="Times New Roman" panose="02020603050405020304" pitchFamily="18" charset="0"/>
                <a:cs typeface="Times New Roman" panose="02020603050405020304" pitchFamily="18" charset="0"/>
                <a:sym typeface="+mn-ea"/>
              </a:rPr>
              <a:t>非冯计算机的分类？其他新型计算机的分类</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2 冯氏分类法</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81711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1972年美籍华人冯泽云提出</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Pm: 最大并行度，指单位时间内能处理的最大二进制位数</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字宽为n位：</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1710">
                <a:latin typeface="Times New Roman" panose="02020603050405020304" pitchFamily="18" charset="0"/>
                <a:cs typeface="Times New Roman" panose="02020603050405020304" pitchFamily="18" charset="0"/>
                <a:sym typeface="+mn-ea"/>
              </a:rPr>
              <a:t>同一数据字的不同位</a:t>
            </a:r>
            <a:endParaRPr lang="zh-CN" altLang="en-US" sz="171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同时处理的位片宽度为m位：</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1710">
                <a:latin typeface="Times New Roman" panose="02020603050405020304" pitchFamily="18" charset="0"/>
                <a:cs typeface="Times New Roman" panose="02020603050405020304" pitchFamily="18" charset="0"/>
                <a:sym typeface="+mn-ea"/>
              </a:rPr>
              <a:t>即在一个位片中能同时处理的字数, 不同数据字的同一位</a:t>
            </a:r>
            <a:endParaRPr lang="zh-CN" altLang="en-US" sz="171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2 冯氏分类法</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81711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(1)字串位串WSBS(Word Serial and Bit Serial)</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n=1,m=1, 第一代计算机初期纯串行计算机,如EDVAC(1, 1)</a:t>
            </a:r>
            <a:endParaRPr lang="zh-CN" altLang="en-US" sz="20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(2)字并位串WPBS(Word Parallel and Bit Serial)</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n&gt;1,m=1,传统单处理机； 如：Pentium(32, 1)</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同一个字的各个位同时处理，不同字的同一个位串行处理</a:t>
            </a:r>
            <a:endParaRPr lang="zh-CN" altLang="en-US" sz="20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(3)字串位并WSBP(Word Serial and Bit Parallel)</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n=1,m&gt;1,并行计算机、MPP、相联计算机；如MPP(1, 16384), STARAN(1, 256)，DAP</a:t>
            </a:r>
            <a:endParaRPr lang="zh-CN" altLang="en-US" sz="20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(4)字并位并WPBP(Word Parallel and Bit Parallel)</a:t>
            </a:r>
            <a:endParaRPr lang="zh-CN" altLang="en-US" sz="2400">
              <a:latin typeface="Times New Roman" panose="02020603050405020304" pitchFamily="18" charset="0"/>
              <a:cs typeface="Times New Roman" panose="02020603050405020304" pitchFamily="18" charset="0"/>
              <a:sym typeface="+mn-ea"/>
            </a:endParaRPr>
          </a:p>
          <a:p>
            <a:pPr lvl="1" algn="l" latinLnBrk="0">
              <a:spcBef>
                <a:spcPts val="600"/>
              </a:spcBef>
              <a:buSzTx/>
            </a:pPr>
            <a:r>
              <a:rPr lang="zh-CN" altLang="en-US" sz="2000">
                <a:latin typeface="Times New Roman" panose="02020603050405020304" pitchFamily="18" charset="0"/>
                <a:cs typeface="Times New Roman" panose="02020603050405020304" pitchFamily="18" charset="0"/>
                <a:sym typeface="+mn-ea"/>
              </a:rPr>
              <a:t>n&gt;1,m&gt;1,全并行计算机；如ASC(64, 32)，IILIAC IV(64, 64) , PEPE(32, 288)，Cmmp(16, 16)</a:t>
            </a:r>
            <a:endParaRPr lang="zh-CN" altLang="en-US" sz="20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缺点：</a:t>
            </a:r>
            <a:r>
              <a:rPr lang="zh-CN" altLang="en-US" sz="2400">
                <a:solidFill>
                  <a:srgbClr val="FF0000"/>
                </a:solidFill>
                <a:latin typeface="Times New Roman" panose="02020603050405020304" pitchFamily="18" charset="0"/>
                <a:cs typeface="Times New Roman" panose="02020603050405020304" pitchFamily="18" charset="0"/>
                <a:sym typeface="+mn-ea"/>
              </a:rPr>
              <a:t>仅考虑数据并行，没有考虑指令, 任务, 作业的并行</a:t>
            </a:r>
            <a:endParaRPr lang="zh-CN" altLang="en-US" sz="2400">
              <a:solidFill>
                <a:srgbClr val="FF000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按最大并行度的冯氏分类法</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176020"/>
            <a:ext cx="8229600" cy="229870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最大并行度：横坐标</a:t>
            </a:r>
            <a:r>
              <a:rPr lang="en-US" altLang="zh-CN" sz="2400">
                <a:latin typeface="Times New Roman" panose="02020603050405020304" pitchFamily="18" charset="0"/>
                <a:cs typeface="Times New Roman" panose="02020603050405020304" pitchFamily="18" charset="0"/>
                <a:sym typeface="+mn-ea"/>
              </a:rPr>
              <a:t>*</a:t>
            </a:r>
            <a:r>
              <a:rPr lang="zh-CN" altLang="en-US" sz="2400">
                <a:latin typeface="Times New Roman" panose="02020603050405020304" pitchFamily="18" charset="0"/>
                <a:cs typeface="Times New Roman" panose="02020603050405020304" pitchFamily="18" charset="0"/>
                <a:sym typeface="+mn-ea"/>
              </a:rPr>
              <a:t>纵坐标</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Pm = n </a:t>
            </a:r>
            <a:r>
              <a:rPr lang="en-US" altLang="zh-CN" sz="2000">
                <a:latin typeface="Times New Roman" panose="02020603050405020304" pitchFamily="18" charset="0"/>
                <a:cs typeface="Times New Roman" panose="02020603050405020304" pitchFamily="18" charset="0"/>
                <a:sym typeface="+mn-ea"/>
              </a:rPr>
              <a:t>*</a:t>
            </a:r>
            <a:r>
              <a:rPr lang="zh-CN" altLang="en-US" sz="2000">
                <a:latin typeface="Times New Roman" panose="02020603050405020304" pitchFamily="18" charset="0"/>
                <a:cs typeface="Times New Roman" panose="02020603050405020304" pitchFamily="18" charset="0"/>
                <a:sym typeface="+mn-ea"/>
              </a:rPr>
              <a:t> m，字宽为n位</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同时处理的位片宽度为m位，并行处理数，ALU/PE数</a:t>
            </a:r>
            <a:endParaRPr lang="zh-CN" altLang="en-US" sz="2000">
              <a:latin typeface="Times New Roman" panose="02020603050405020304" pitchFamily="18" charset="0"/>
              <a:cs typeface="Times New Roman" panose="02020603050405020304" pitchFamily="18" charset="0"/>
              <a:sym typeface="+mn-ea"/>
            </a:endParaRPr>
          </a:p>
        </p:txBody>
      </p:sp>
      <p:grpSp>
        <p:nvGrpSpPr>
          <p:cNvPr id="43012" name="Group 2"/>
          <p:cNvGrpSpPr/>
          <p:nvPr/>
        </p:nvGrpSpPr>
        <p:grpSpPr>
          <a:xfrm>
            <a:off x="600075" y="2734310"/>
            <a:ext cx="7705725" cy="3752215"/>
            <a:chOff x="672" y="1104"/>
            <a:chExt cx="4752" cy="2793"/>
          </a:xfrm>
        </p:grpSpPr>
        <p:sp>
          <p:nvSpPr>
            <p:cNvPr id="43014" name="Line 3"/>
            <p:cNvSpPr/>
            <p:nvPr>
              <p:custDataLst>
                <p:tags r:id="rId2"/>
              </p:custDataLst>
            </p:nvPr>
          </p:nvSpPr>
          <p:spPr>
            <a:xfrm flipV="1">
              <a:off x="1392" y="1104"/>
              <a:ext cx="0" cy="240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43015" name="Line 4"/>
            <p:cNvSpPr/>
            <p:nvPr>
              <p:custDataLst>
                <p:tags r:id="rId3"/>
              </p:custDataLst>
            </p:nvPr>
          </p:nvSpPr>
          <p:spPr>
            <a:xfrm>
              <a:off x="1392" y="3504"/>
              <a:ext cx="3984" cy="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43016" name="Text Box 5"/>
            <p:cNvSpPr txBox="1"/>
            <p:nvPr>
              <p:custDataLst>
                <p:tags r:id="rId4"/>
              </p:custDataLst>
            </p:nvPr>
          </p:nvSpPr>
          <p:spPr>
            <a:xfrm>
              <a:off x="1248" y="3600"/>
              <a:ext cx="3936" cy="297"/>
            </a:xfrm>
            <a:prstGeom prst="rect">
              <a:avLst/>
            </a:prstGeom>
            <a:noFill/>
            <a:ln w="9525">
              <a:noFill/>
            </a:ln>
          </p:spPr>
          <p:txBody>
            <a:bodyPr>
              <a:spAutoFit/>
            </a:bodyPr>
            <a:lstStyle/>
            <a:p>
              <a:pPr eaLnBrk="1" hangingPunct="1">
                <a:spcBef>
                  <a:spcPct val="50000"/>
                </a:spcBef>
              </a:pPr>
              <a:r>
                <a:rPr lang="en-US" altLang="zh-CN" sz="2000" dirty="0">
                  <a:solidFill>
                    <a:srgbClr val="0000FF"/>
                  </a:solidFill>
                  <a:latin typeface="Times New Roman" panose="02020603050405020304" pitchFamily="18" charset="0"/>
                </a:rPr>
                <a:t>     1              16                        32                         64</a:t>
              </a:r>
              <a:endParaRPr lang="en-US" altLang="zh-CN" sz="2000" dirty="0">
                <a:solidFill>
                  <a:srgbClr val="0000FF"/>
                </a:solidFill>
                <a:latin typeface="Times New Roman" panose="02020603050405020304" pitchFamily="18" charset="0"/>
              </a:endParaRPr>
            </a:p>
          </p:txBody>
        </p:sp>
        <p:sp>
          <p:nvSpPr>
            <p:cNvPr id="43017" name="Line 6"/>
            <p:cNvSpPr/>
            <p:nvPr>
              <p:custDataLst>
                <p:tags r:id="rId5"/>
              </p:custDataLst>
            </p:nvPr>
          </p:nvSpPr>
          <p:spPr>
            <a:xfrm flipV="1">
              <a:off x="1536" y="1248"/>
              <a:ext cx="0" cy="2256"/>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18" name="Line 7"/>
            <p:cNvSpPr/>
            <p:nvPr>
              <p:custDataLst>
                <p:tags r:id="rId6"/>
              </p:custDataLst>
            </p:nvPr>
          </p:nvSpPr>
          <p:spPr>
            <a:xfrm flipV="1">
              <a:off x="2208" y="3120"/>
              <a:ext cx="0" cy="384"/>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19" name="Line 8"/>
            <p:cNvSpPr/>
            <p:nvPr>
              <p:custDataLst>
                <p:tags r:id="rId7"/>
              </p:custDataLst>
            </p:nvPr>
          </p:nvSpPr>
          <p:spPr>
            <a:xfrm flipV="1">
              <a:off x="3360" y="1824"/>
              <a:ext cx="0" cy="168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20" name="Line 9"/>
            <p:cNvSpPr/>
            <p:nvPr>
              <p:custDataLst>
                <p:tags r:id="rId8"/>
              </p:custDataLst>
            </p:nvPr>
          </p:nvSpPr>
          <p:spPr>
            <a:xfrm flipV="1">
              <a:off x="4512" y="2400"/>
              <a:ext cx="0" cy="1104"/>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21" name="Text Box 10"/>
            <p:cNvSpPr txBox="1"/>
            <p:nvPr>
              <p:custDataLst>
                <p:tags r:id="rId9"/>
              </p:custDataLst>
            </p:nvPr>
          </p:nvSpPr>
          <p:spPr>
            <a:xfrm>
              <a:off x="1008" y="1296"/>
              <a:ext cx="288" cy="231"/>
            </a:xfrm>
            <a:prstGeom prst="rect">
              <a:avLst/>
            </a:prstGeom>
            <a:noFill/>
            <a:ln w="9525">
              <a:noFill/>
            </a:ln>
          </p:spPr>
          <p:txBody>
            <a:bodyPr>
              <a:spAutoFit/>
            </a:bodyPr>
            <a:lstStyle/>
            <a:p>
              <a:pPr eaLnBrk="1" hangingPunct="1">
                <a:spcBef>
                  <a:spcPct val="50000"/>
                </a:spcBef>
              </a:pPr>
              <a:endParaRPr lang="en-US" altLang="zh-CN" sz="1800" dirty="0">
                <a:solidFill>
                  <a:srgbClr val="0000FF"/>
                </a:solidFill>
                <a:latin typeface="Times New Roman" panose="02020603050405020304" pitchFamily="18" charset="0"/>
              </a:endParaRPr>
            </a:p>
          </p:txBody>
        </p:sp>
        <p:sp>
          <p:nvSpPr>
            <p:cNvPr id="43022" name="Text Box 11"/>
            <p:cNvSpPr txBox="1"/>
            <p:nvPr>
              <p:custDataLst>
                <p:tags r:id="rId10"/>
              </p:custDataLst>
            </p:nvPr>
          </p:nvSpPr>
          <p:spPr>
            <a:xfrm>
              <a:off x="816" y="1152"/>
              <a:ext cx="576" cy="2359"/>
            </a:xfrm>
            <a:prstGeom prst="rect">
              <a:avLst/>
            </a:prstGeom>
            <a:noFill/>
            <a:ln w="9525">
              <a:noFill/>
            </a:ln>
          </p:spPr>
          <p:txBody>
            <a:bodyPr>
              <a:spAutoFit/>
            </a:bodyPr>
            <a:lstStyle/>
            <a:p>
              <a:pPr algn="r" eaLnBrk="1" hangingPunct="1">
                <a:spcBef>
                  <a:spcPct val="50000"/>
                </a:spcBef>
              </a:pPr>
              <a:r>
                <a:rPr lang="en-US" altLang="zh-CN" sz="2000" dirty="0">
                  <a:solidFill>
                    <a:srgbClr val="0000FF"/>
                  </a:solidFill>
                  <a:latin typeface="Times New Roman" panose="02020603050405020304" pitchFamily="18" charset="0"/>
                </a:rPr>
                <a:t>16384</a:t>
              </a:r>
              <a:endParaRPr lang="en-US" altLang="zh-CN" sz="2000" dirty="0">
                <a:solidFill>
                  <a:srgbClr val="0000FF"/>
                </a:solidFill>
                <a:latin typeface="Times New Roman" panose="02020603050405020304" pitchFamily="18" charset="0"/>
              </a:endParaRPr>
            </a:p>
            <a:p>
              <a:pPr algn="r" eaLnBrk="1" hangingPunct="1">
                <a:spcBef>
                  <a:spcPct val="50000"/>
                </a:spcBef>
              </a:pPr>
              <a:endParaRPr lang="en-US" altLang="zh-CN" sz="2000" dirty="0">
                <a:solidFill>
                  <a:srgbClr val="0000FF"/>
                </a:solidFill>
                <a:latin typeface="Times New Roman" panose="02020603050405020304" pitchFamily="18" charset="0"/>
              </a:endParaRPr>
            </a:p>
            <a:p>
              <a:pPr algn="r" eaLnBrk="1" hangingPunct="1">
                <a:spcBef>
                  <a:spcPct val="50000"/>
                </a:spcBef>
              </a:pPr>
              <a:r>
                <a:rPr lang="en-US" altLang="zh-CN" sz="2000" dirty="0">
                  <a:solidFill>
                    <a:srgbClr val="0000FF"/>
                  </a:solidFill>
                  <a:latin typeface="Times New Roman" panose="02020603050405020304" pitchFamily="18" charset="0"/>
                </a:rPr>
                <a:t>288</a:t>
              </a:r>
              <a:endParaRPr lang="en-US" altLang="zh-CN" sz="2000" dirty="0">
                <a:solidFill>
                  <a:srgbClr val="0000FF"/>
                </a:solidFill>
                <a:latin typeface="Times New Roman" panose="02020603050405020304" pitchFamily="18" charset="0"/>
              </a:endParaRPr>
            </a:p>
            <a:p>
              <a:pPr algn="r" eaLnBrk="1" hangingPunct="1">
                <a:spcBef>
                  <a:spcPct val="50000"/>
                </a:spcBef>
              </a:pPr>
              <a:r>
                <a:rPr lang="en-US" altLang="zh-CN" sz="2000" dirty="0">
                  <a:solidFill>
                    <a:srgbClr val="0000FF"/>
                  </a:solidFill>
                  <a:latin typeface="Times New Roman" panose="02020603050405020304" pitchFamily="18" charset="0"/>
                </a:rPr>
                <a:t>256</a:t>
              </a:r>
              <a:endParaRPr lang="en-US" altLang="zh-CN" sz="2000" dirty="0">
                <a:solidFill>
                  <a:srgbClr val="0000FF"/>
                </a:solidFill>
                <a:latin typeface="Times New Roman" panose="02020603050405020304" pitchFamily="18" charset="0"/>
              </a:endParaRPr>
            </a:p>
            <a:p>
              <a:pPr algn="r" eaLnBrk="1" hangingPunct="1">
                <a:spcBef>
                  <a:spcPct val="50000"/>
                </a:spcBef>
              </a:pPr>
              <a:r>
                <a:rPr lang="en-US" altLang="zh-CN" sz="2000" dirty="0">
                  <a:solidFill>
                    <a:srgbClr val="0000FF"/>
                  </a:solidFill>
                  <a:latin typeface="Times New Roman" panose="02020603050405020304" pitchFamily="18" charset="0"/>
                </a:rPr>
                <a:t>64</a:t>
              </a:r>
              <a:endParaRPr lang="en-US" altLang="zh-CN" sz="2000" dirty="0">
                <a:solidFill>
                  <a:srgbClr val="0000FF"/>
                </a:solidFill>
                <a:latin typeface="Times New Roman" panose="02020603050405020304" pitchFamily="18" charset="0"/>
              </a:endParaRPr>
            </a:p>
            <a:p>
              <a:pPr algn="r" eaLnBrk="1" hangingPunct="1">
                <a:spcBef>
                  <a:spcPct val="50000"/>
                </a:spcBef>
              </a:pPr>
              <a:r>
                <a:rPr lang="en-US" altLang="zh-CN" sz="2000" dirty="0">
                  <a:solidFill>
                    <a:srgbClr val="0000FF"/>
                  </a:solidFill>
                  <a:latin typeface="Times New Roman" panose="02020603050405020304" pitchFamily="18" charset="0"/>
                </a:rPr>
                <a:t>32</a:t>
              </a:r>
              <a:endParaRPr lang="en-US" altLang="zh-CN" sz="2000" dirty="0">
                <a:solidFill>
                  <a:srgbClr val="0000FF"/>
                </a:solidFill>
                <a:latin typeface="Times New Roman" panose="02020603050405020304" pitchFamily="18" charset="0"/>
              </a:endParaRPr>
            </a:p>
            <a:p>
              <a:pPr algn="r" eaLnBrk="1" hangingPunct="1">
                <a:spcBef>
                  <a:spcPct val="50000"/>
                </a:spcBef>
              </a:pPr>
              <a:r>
                <a:rPr lang="en-US" altLang="zh-CN" sz="2000" dirty="0">
                  <a:solidFill>
                    <a:srgbClr val="0000FF"/>
                  </a:solidFill>
                  <a:latin typeface="Times New Roman" panose="02020603050405020304" pitchFamily="18" charset="0"/>
                </a:rPr>
                <a:t>16</a:t>
              </a:r>
              <a:endParaRPr lang="en-US" altLang="zh-CN" sz="2000" dirty="0">
                <a:solidFill>
                  <a:srgbClr val="0000FF"/>
                </a:solidFill>
                <a:latin typeface="Times New Roman" panose="02020603050405020304" pitchFamily="18" charset="0"/>
              </a:endParaRPr>
            </a:p>
          </p:txBody>
        </p:sp>
        <p:sp>
          <p:nvSpPr>
            <p:cNvPr id="43023" name="Line 12"/>
            <p:cNvSpPr/>
            <p:nvPr>
              <p:custDataLst>
                <p:tags r:id="rId11"/>
              </p:custDataLst>
            </p:nvPr>
          </p:nvSpPr>
          <p:spPr>
            <a:xfrm>
              <a:off x="1392" y="1248"/>
              <a:ext cx="144" cy="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24" name="Line 13"/>
            <p:cNvSpPr/>
            <p:nvPr>
              <p:custDataLst>
                <p:tags r:id="rId12"/>
              </p:custDataLst>
            </p:nvPr>
          </p:nvSpPr>
          <p:spPr>
            <a:xfrm>
              <a:off x="1392" y="1824"/>
              <a:ext cx="1968" cy="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25" name="Line 14"/>
            <p:cNvSpPr/>
            <p:nvPr>
              <p:custDataLst>
                <p:tags r:id="rId13"/>
              </p:custDataLst>
            </p:nvPr>
          </p:nvSpPr>
          <p:spPr>
            <a:xfrm>
              <a:off x="1392" y="2160"/>
              <a:ext cx="144" cy="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26" name="Line 15"/>
            <p:cNvSpPr/>
            <p:nvPr>
              <p:custDataLst>
                <p:tags r:id="rId14"/>
              </p:custDataLst>
            </p:nvPr>
          </p:nvSpPr>
          <p:spPr>
            <a:xfrm flipV="1">
              <a:off x="1392" y="2400"/>
              <a:ext cx="3120" cy="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27" name="Line 16"/>
            <p:cNvSpPr/>
            <p:nvPr>
              <p:custDataLst>
                <p:tags r:id="rId15"/>
              </p:custDataLst>
            </p:nvPr>
          </p:nvSpPr>
          <p:spPr>
            <a:xfrm>
              <a:off x="1392" y="2736"/>
              <a:ext cx="3120" cy="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28" name="Line 17"/>
            <p:cNvSpPr/>
            <p:nvPr>
              <p:custDataLst>
                <p:tags r:id="rId16"/>
              </p:custDataLst>
            </p:nvPr>
          </p:nvSpPr>
          <p:spPr>
            <a:xfrm>
              <a:off x="1392" y="3120"/>
              <a:ext cx="816" cy="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29" name="Line 18"/>
            <p:cNvSpPr/>
            <p:nvPr>
              <p:custDataLst>
                <p:tags r:id="rId17"/>
              </p:custDataLst>
            </p:nvPr>
          </p:nvSpPr>
          <p:spPr>
            <a:xfrm>
              <a:off x="1392" y="3360"/>
              <a:ext cx="3504" cy="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3030" name="Oval 19"/>
            <p:cNvSpPr/>
            <p:nvPr>
              <p:custDataLst>
                <p:tags r:id="rId18"/>
              </p:custDataLst>
            </p:nvPr>
          </p:nvSpPr>
          <p:spPr>
            <a:xfrm>
              <a:off x="1536" y="124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1" name="Oval 20"/>
            <p:cNvSpPr/>
            <p:nvPr>
              <p:custDataLst>
                <p:tags r:id="rId19"/>
              </p:custDataLst>
            </p:nvPr>
          </p:nvSpPr>
          <p:spPr>
            <a:xfrm>
              <a:off x="1488" y="216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2" name="Oval 21"/>
            <p:cNvSpPr/>
            <p:nvPr>
              <p:custDataLst>
                <p:tags r:id="rId20"/>
              </p:custDataLst>
            </p:nvPr>
          </p:nvSpPr>
          <p:spPr>
            <a:xfrm>
              <a:off x="1536" y="336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3" name="Oval 22"/>
            <p:cNvSpPr/>
            <p:nvPr>
              <p:custDataLst>
                <p:tags r:id="rId21"/>
              </p:custDataLst>
            </p:nvPr>
          </p:nvSpPr>
          <p:spPr>
            <a:xfrm>
              <a:off x="2208" y="312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4" name="Oval 23"/>
            <p:cNvSpPr/>
            <p:nvPr>
              <p:custDataLst>
                <p:tags r:id="rId22"/>
              </p:custDataLst>
            </p:nvPr>
          </p:nvSpPr>
          <p:spPr>
            <a:xfrm>
              <a:off x="3312" y="1776"/>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5" name="Oval 24"/>
            <p:cNvSpPr/>
            <p:nvPr>
              <p:custDataLst>
                <p:tags r:id="rId23"/>
              </p:custDataLst>
            </p:nvPr>
          </p:nvSpPr>
          <p:spPr>
            <a:xfrm>
              <a:off x="4464" y="2400"/>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6" name="Oval 25"/>
            <p:cNvSpPr/>
            <p:nvPr>
              <p:custDataLst>
                <p:tags r:id="rId24"/>
              </p:custDataLst>
            </p:nvPr>
          </p:nvSpPr>
          <p:spPr>
            <a:xfrm>
              <a:off x="4464" y="2688"/>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7" name="Oval 26"/>
            <p:cNvSpPr/>
            <p:nvPr>
              <p:custDataLst>
                <p:tags r:id="rId25"/>
              </p:custDataLst>
            </p:nvPr>
          </p:nvSpPr>
          <p:spPr>
            <a:xfrm>
              <a:off x="2208" y="3312"/>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8" name="Oval 27"/>
            <p:cNvSpPr/>
            <p:nvPr>
              <p:custDataLst>
                <p:tags r:id="rId26"/>
              </p:custDataLst>
            </p:nvPr>
          </p:nvSpPr>
          <p:spPr>
            <a:xfrm>
              <a:off x="3312" y="3312"/>
              <a:ext cx="48" cy="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eaLnBrk="1" hangingPunct="1"/>
              <a:endParaRPr lang="zh-CN" altLang="en-US" dirty="0">
                <a:solidFill>
                  <a:srgbClr val="0000FF"/>
                </a:solidFill>
                <a:latin typeface="Tahoma" panose="020B0604030504040204" pitchFamily="34" charset="0"/>
              </a:endParaRPr>
            </a:p>
          </p:txBody>
        </p:sp>
        <p:sp>
          <p:nvSpPr>
            <p:cNvPr id="43039" name="Text Box 28"/>
            <p:cNvSpPr txBox="1"/>
            <p:nvPr>
              <p:custDataLst>
                <p:tags r:id="rId27"/>
              </p:custDataLst>
            </p:nvPr>
          </p:nvSpPr>
          <p:spPr>
            <a:xfrm>
              <a:off x="1632" y="1152"/>
              <a:ext cx="768" cy="583"/>
            </a:xfrm>
            <a:prstGeom prst="rect">
              <a:avLst/>
            </a:prstGeom>
            <a:noFill/>
            <a:ln w="9525">
              <a:noFill/>
            </a:ln>
          </p:spPr>
          <p:txBody>
            <a:bodyPr>
              <a:spAutoFit/>
            </a:bodyPr>
            <a:lstStyle/>
            <a:p>
              <a:pPr eaLnBrk="1" hangingPunct="1">
                <a:spcBef>
                  <a:spcPct val="50000"/>
                </a:spcBef>
              </a:pPr>
              <a:r>
                <a:rPr lang="en-US" altLang="zh-CN" sz="1800" b="1" dirty="0">
                  <a:solidFill>
                    <a:srgbClr val="0000FF"/>
                  </a:solidFill>
                  <a:latin typeface="Times New Roman" panose="02020603050405020304" pitchFamily="18" charset="0"/>
                </a:rPr>
                <a:t>MPP</a:t>
              </a:r>
              <a:endParaRPr lang="en-US" altLang="zh-CN" sz="1800" b="1" dirty="0">
                <a:solidFill>
                  <a:srgbClr val="0000FF"/>
                </a:solidFill>
                <a:latin typeface="Times New Roman" panose="02020603050405020304" pitchFamily="18" charset="0"/>
              </a:endParaRPr>
            </a:p>
            <a:p>
              <a:pPr eaLnBrk="1" hangingPunct="1">
                <a:spcBef>
                  <a:spcPct val="50000"/>
                </a:spcBef>
              </a:pPr>
              <a:r>
                <a:rPr lang="en-US" altLang="zh-CN" sz="1800" b="1" dirty="0">
                  <a:solidFill>
                    <a:srgbClr val="0000FF"/>
                  </a:solidFill>
                  <a:latin typeface="Times New Roman" panose="02020603050405020304" pitchFamily="18" charset="0"/>
                </a:rPr>
                <a:t>(1,16384)</a:t>
              </a:r>
              <a:endParaRPr lang="en-US" altLang="zh-CN" sz="1800" b="1" dirty="0">
                <a:solidFill>
                  <a:srgbClr val="0000FF"/>
                </a:solidFill>
                <a:latin typeface="Times New Roman" panose="02020603050405020304" pitchFamily="18" charset="0"/>
              </a:endParaRPr>
            </a:p>
          </p:txBody>
        </p:sp>
        <p:sp>
          <p:nvSpPr>
            <p:cNvPr id="43040" name="Text Box 29"/>
            <p:cNvSpPr txBox="1"/>
            <p:nvPr>
              <p:custDataLst>
                <p:tags r:id="rId28"/>
              </p:custDataLst>
            </p:nvPr>
          </p:nvSpPr>
          <p:spPr>
            <a:xfrm>
              <a:off x="1584" y="1968"/>
              <a:ext cx="912" cy="583"/>
            </a:xfrm>
            <a:prstGeom prst="rect">
              <a:avLst/>
            </a:prstGeom>
            <a:noFill/>
            <a:ln w="9525">
              <a:noFill/>
            </a:ln>
          </p:spPr>
          <p:txBody>
            <a:bodyPr>
              <a:spAutoFit/>
            </a:bodyPr>
            <a:lstStyle/>
            <a:p>
              <a:pPr eaLnBrk="1" hangingPunct="1">
                <a:spcBef>
                  <a:spcPct val="50000"/>
                </a:spcBef>
              </a:pPr>
              <a:r>
                <a:rPr lang="en-US" altLang="zh-CN" sz="1800" b="1" dirty="0">
                  <a:solidFill>
                    <a:srgbClr val="0000FF"/>
                  </a:solidFill>
                  <a:latin typeface="Times New Roman" panose="02020603050405020304" pitchFamily="18" charset="0"/>
                </a:rPr>
                <a:t>STARAN</a:t>
              </a:r>
              <a:endParaRPr lang="en-US" altLang="zh-CN" sz="1800" b="1" dirty="0">
                <a:solidFill>
                  <a:srgbClr val="0000FF"/>
                </a:solidFill>
                <a:latin typeface="Times New Roman" panose="02020603050405020304" pitchFamily="18" charset="0"/>
              </a:endParaRPr>
            </a:p>
            <a:p>
              <a:pPr eaLnBrk="1" hangingPunct="1">
                <a:spcBef>
                  <a:spcPct val="50000"/>
                </a:spcBef>
              </a:pPr>
              <a:r>
                <a:rPr lang="en-US" altLang="zh-CN" sz="1800" b="1" dirty="0">
                  <a:solidFill>
                    <a:srgbClr val="0000FF"/>
                  </a:solidFill>
                  <a:latin typeface="Times New Roman" panose="02020603050405020304" pitchFamily="18" charset="0"/>
                </a:rPr>
                <a:t>(1,256)</a:t>
              </a:r>
              <a:endParaRPr lang="en-US" altLang="zh-CN" sz="1800" b="1" dirty="0">
                <a:solidFill>
                  <a:srgbClr val="0000FF"/>
                </a:solidFill>
                <a:latin typeface="Times New Roman" panose="02020603050405020304" pitchFamily="18" charset="0"/>
              </a:endParaRPr>
            </a:p>
          </p:txBody>
        </p:sp>
        <p:sp>
          <p:nvSpPr>
            <p:cNvPr id="43041" name="Text Box 30"/>
            <p:cNvSpPr txBox="1"/>
            <p:nvPr>
              <p:custDataLst>
                <p:tags r:id="rId29"/>
              </p:custDataLst>
            </p:nvPr>
          </p:nvSpPr>
          <p:spPr>
            <a:xfrm>
              <a:off x="2208" y="2688"/>
              <a:ext cx="816" cy="526"/>
            </a:xfrm>
            <a:prstGeom prst="rect">
              <a:avLst/>
            </a:prstGeom>
            <a:noFill/>
            <a:ln w="9525">
              <a:noFill/>
            </a:ln>
          </p:spPr>
          <p:txBody>
            <a:bodyPr>
              <a:spAutoFit/>
            </a:bodyPr>
            <a:lstStyle/>
            <a:p>
              <a:pPr eaLnBrk="1" hangingPunct="1">
                <a:spcBef>
                  <a:spcPct val="50000"/>
                </a:spcBef>
              </a:pPr>
              <a:r>
                <a:rPr lang="en-US" altLang="zh-CN" sz="1600" b="1" dirty="0">
                  <a:solidFill>
                    <a:srgbClr val="0000FF"/>
                  </a:solidFill>
                  <a:latin typeface="Times New Roman" panose="02020603050405020304" pitchFamily="18" charset="0"/>
                </a:rPr>
                <a:t>Cmmp</a:t>
              </a:r>
              <a:endParaRPr lang="en-US" altLang="zh-CN" sz="1600" b="1" dirty="0">
                <a:solidFill>
                  <a:srgbClr val="0000FF"/>
                </a:solidFill>
                <a:latin typeface="Times New Roman" panose="02020603050405020304" pitchFamily="18" charset="0"/>
              </a:endParaRPr>
            </a:p>
            <a:p>
              <a:pPr eaLnBrk="1" hangingPunct="1">
                <a:spcBef>
                  <a:spcPct val="50000"/>
                </a:spcBef>
              </a:pPr>
              <a:r>
                <a:rPr lang="en-US" altLang="zh-CN" sz="1600" b="1" dirty="0">
                  <a:solidFill>
                    <a:srgbClr val="0000FF"/>
                  </a:solidFill>
                  <a:latin typeface="Times New Roman" panose="02020603050405020304" pitchFamily="18" charset="0"/>
                </a:rPr>
                <a:t>(16,16)</a:t>
              </a:r>
              <a:endParaRPr lang="en-US" altLang="zh-CN" sz="1600" b="1" dirty="0">
                <a:solidFill>
                  <a:srgbClr val="0000FF"/>
                </a:solidFill>
                <a:latin typeface="Times New Roman" panose="02020603050405020304" pitchFamily="18" charset="0"/>
              </a:endParaRPr>
            </a:p>
          </p:txBody>
        </p:sp>
        <p:sp>
          <p:nvSpPr>
            <p:cNvPr id="43042" name="Text Box 31"/>
            <p:cNvSpPr txBox="1"/>
            <p:nvPr>
              <p:custDataLst>
                <p:tags r:id="rId30"/>
              </p:custDataLst>
            </p:nvPr>
          </p:nvSpPr>
          <p:spPr>
            <a:xfrm>
              <a:off x="2304" y="3168"/>
              <a:ext cx="624" cy="526"/>
            </a:xfrm>
            <a:prstGeom prst="rect">
              <a:avLst/>
            </a:prstGeom>
            <a:noFill/>
            <a:ln w="9525">
              <a:noFill/>
            </a:ln>
          </p:spPr>
          <p:txBody>
            <a:bodyPr>
              <a:spAutoFit/>
            </a:bodyPr>
            <a:lstStyle/>
            <a:p>
              <a:pPr eaLnBrk="1" hangingPunct="1">
                <a:spcBef>
                  <a:spcPct val="50000"/>
                </a:spcBef>
              </a:pPr>
              <a:r>
                <a:rPr lang="en-US" altLang="zh-CN" sz="1600" b="1" dirty="0">
                  <a:solidFill>
                    <a:srgbClr val="0000FF"/>
                  </a:solidFill>
                  <a:latin typeface="Times New Roman" panose="02020603050405020304" pitchFamily="18" charset="0"/>
                </a:rPr>
                <a:t>PDP-11</a:t>
              </a:r>
              <a:endParaRPr lang="en-US" altLang="zh-CN" sz="1600" b="1" dirty="0">
                <a:solidFill>
                  <a:srgbClr val="0000FF"/>
                </a:solidFill>
                <a:latin typeface="Times New Roman" panose="02020603050405020304" pitchFamily="18" charset="0"/>
              </a:endParaRPr>
            </a:p>
            <a:p>
              <a:pPr eaLnBrk="1" hangingPunct="1">
                <a:spcBef>
                  <a:spcPct val="50000"/>
                </a:spcBef>
              </a:pPr>
              <a:r>
                <a:rPr lang="en-US" altLang="zh-CN" sz="1600" b="1" dirty="0">
                  <a:solidFill>
                    <a:srgbClr val="0000FF"/>
                  </a:solidFill>
                  <a:latin typeface="Times New Roman" panose="02020603050405020304" pitchFamily="18" charset="0"/>
                </a:rPr>
                <a:t>(16,1)</a:t>
              </a:r>
              <a:endParaRPr lang="en-US" altLang="zh-CN" sz="1600" b="1" dirty="0">
                <a:solidFill>
                  <a:srgbClr val="0000FF"/>
                </a:solidFill>
                <a:latin typeface="Times New Roman" panose="02020603050405020304" pitchFamily="18" charset="0"/>
              </a:endParaRPr>
            </a:p>
          </p:txBody>
        </p:sp>
        <p:sp>
          <p:nvSpPr>
            <p:cNvPr id="43043" name="Text Box 32"/>
            <p:cNvSpPr txBox="1"/>
            <p:nvPr>
              <p:custDataLst>
                <p:tags r:id="rId31"/>
              </p:custDataLst>
            </p:nvPr>
          </p:nvSpPr>
          <p:spPr>
            <a:xfrm>
              <a:off x="1536" y="3024"/>
              <a:ext cx="672" cy="583"/>
            </a:xfrm>
            <a:prstGeom prst="rect">
              <a:avLst/>
            </a:prstGeom>
            <a:noFill/>
            <a:ln w="9525">
              <a:noFill/>
            </a:ln>
          </p:spPr>
          <p:txBody>
            <a:bodyPr>
              <a:spAutoFit/>
            </a:bodyPr>
            <a:lstStyle/>
            <a:p>
              <a:pPr eaLnBrk="1" hangingPunct="1">
                <a:spcBef>
                  <a:spcPct val="50000"/>
                </a:spcBef>
              </a:pPr>
              <a:r>
                <a:rPr lang="en-US" altLang="zh-CN" sz="1800" b="1" dirty="0">
                  <a:solidFill>
                    <a:srgbClr val="0000FF"/>
                  </a:solidFill>
                  <a:latin typeface="Times New Roman" panose="02020603050405020304" pitchFamily="18" charset="0"/>
                </a:rPr>
                <a:t>EDVAC</a:t>
              </a:r>
              <a:endParaRPr lang="en-US" altLang="zh-CN" sz="1800" b="1" dirty="0">
                <a:solidFill>
                  <a:srgbClr val="0000FF"/>
                </a:solidFill>
                <a:latin typeface="Times New Roman" panose="02020603050405020304" pitchFamily="18" charset="0"/>
              </a:endParaRPr>
            </a:p>
            <a:p>
              <a:pPr eaLnBrk="1" hangingPunct="1">
                <a:spcBef>
                  <a:spcPct val="50000"/>
                </a:spcBef>
              </a:pPr>
              <a:r>
                <a:rPr lang="en-US" altLang="zh-CN" sz="1800" b="1" dirty="0">
                  <a:solidFill>
                    <a:srgbClr val="0000FF"/>
                  </a:solidFill>
                  <a:latin typeface="Times New Roman" panose="02020603050405020304" pitchFamily="18" charset="0"/>
                </a:rPr>
                <a:t>(1,1)</a:t>
              </a:r>
              <a:endParaRPr lang="en-US" altLang="zh-CN" sz="1800" b="1" dirty="0">
                <a:solidFill>
                  <a:srgbClr val="0000FF"/>
                </a:solidFill>
                <a:latin typeface="Times New Roman" panose="02020603050405020304" pitchFamily="18" charset="0"/>
              </a:endParaRPr>
            </a:p>
          </p:txBody>
        </p:sp>
        <p:sp>
          <p:nvSpPr>
            <p:cNvPr id="43044" name="Text Box 33"/>
            <p:cNvSpPr txBox="1"/>
            <p:nvPr>
              <p:custDataLst>
                <p:tags r:id="rId32"/>
              </p:custDataLst>
            </p:nvPr>
          </p:nvSpPr>
          <p:spPr>
            <a:xfrm>
              <a:off x="3360" y="3024"/>
              <a:ext cx="1056" cy="583"/>
            </a:xfrm>
            <a:prstGeom prst="rect">
              <a:avLst/>
            </a:prstGeom>
            <a:noFill/>
            <a:ln w="9525">
              <a:noFill/>
            </a:ln>
          </p:spPr>
          <p:txBody>
            <a:bodyPr>
              <a:spAutoFit/>
            </a:bodyPr>
            <a:lstStyle/>
            <a:p>
              <a:pPr eaLnBrk="1" hangingPunct="1">
                <a:spcBef>
                  <a:spcPct val="50000"/>
                </a:spcBef>
              </a:pPr>
              <a:r>
                <a:rPr lang="en-US" altLang="zh-CN" sz="1800" b="1" dirty="0">
                  <a:solidFill>
                    <a:srgbClr val="0000FF"/>
                  </a:solidFill>
                  <a:latin typeface="Times New Roman" panose="02020603050405020304" pitchFamily="18" charset="0"/>
                </a:rPr>
                <a:t>IBM 370/168</a:t>
              </a:r>
              <a:endParaRPr lang="en-US" altLang="zh-CN" sz="1800" b="1" dirty="0">
                <a:solidFill>
                  <a:srgbClr val="0000FF"/>
                </a:solidFill>
                <a:latin typeface="Times New Roman" panose="02020603050405020304" pitchFamily="18" charset="0"/>
              </a:endParaRPr>
            </a:p>
            <a:p>
              <a:pPr eaLnBrk="1" hangingPunct="1">
                <a:spcBef>
                  <a:spcPct val="50000"/>
                </a:spcBef>
              </a:pPr>
              <a:r>
                <a:rPr lang="en-US" altLang="zh-CN" sz="1800" b="1" dirty="0">
                  <a:solidFill>
                    <a:srgbClr val="0000FF"/>
                  </a:solidFill>
                  <a:latin typeface="Times New Roman" panose="02020603050405020304" pitchFamily="18" charset="0"/>
                </a:rPr>
                <a:t>(32,1)</a:t>
              </a:r>
              <a:endParaRPr lang="en-US" altLang="zh-CN" sz="1800" b="1" dirty="0">
                <a:solidFill>
                  <a:srgbClr val="0000FF"/>
                </a:solidFill>
                <a:latin typeface="Times New Roman" panose="02020603050405020304" pitchFamily="18" charset="0"/>
              </a:endParaRPr>
            </a:p>
          </p:txBody>
        </p:sp>
        <p:sp>
          <p:nvSpPr>
            <p:cNvPr id="43045" name="Text Box 34"/>
            <p:cNvSpPr txBox="1"/>
            <p:nvPr>
              <p:custDataLst>
                <p:tags r:id="rId33"/>
              </p:custDataLst>
            </p:nvPr>
          </p:nvSpPr>
          <p:spPr>
            <a:xfrm>
              <a:off x="3408" y="1344"/>
              <a:ext cx="864" cy="583"/>
            </a:xfrm>
            <a:prstGeom prst="rect">
              <a:avLst/>
            </a:prstGeom>
            <a:noFill/>
            <a:ln w="9525">
              <a:noFill/>
            </a:ln>
          </p:spPr>
          <p:txBody>
            <a:bodyPr>
              <a:spAutoFit/>
            </a:bodyPr>
            <a:lstStyle/>
            <a:p>
              <a:pPr eaLnBrk="1" hangingPunct="1">
                <a:spcBef>
                  <a:spcPct val="50000"/>
                </a:spcBef>
              </a:pPr>
              <a:r>
                <a:rPr lang="en-US" altLang="zh-CN" sz="1800" b="1" dirty="0">
                  <a:solidFill>
                    <a:srgbClr val="0000FF"/>
                  </a:solidFill>
                  <a:latin typeface="Times New Roman" panose="02020603050405020304" pitchFamily="18" charset="0"/>
                </a:rPr>
                <a:t>PEPE</a:t>
              </a:r>
              <a:endParaRPr lang="en-US" altLang="zh-CN" sz="1800" b="1" dirty="0">
                <a:solidFill>
                  <a:srgbClr val="0000FF"/>
                </a:solidFill>
                <a:latin typeface="Times New Roman" panose="02020603050405020304" pitchFamily="18" charset="0"/>
              </a:endParaRPr>
            </a:p>
            <a:p>
              <a:pPr eaLnBrk="1" hangingPunct="1">
                <a:spcBef>
                  <a:spcPct val="50000"/>
                </a:spcBef>
              </a:pPr>
              <a:r>
                <a:rPr lang="en-US" altLang="zh-CN" sz="1800" b="1" dirty="0">
                  <a:solidFill>
                    <a:srgbClr val="0000FF"/>
                  </a:solidFill>
                  <a:latin typeface="Times New Roman" panose="02020603050405020304" pitchFamily="18" charset="0"/>
                </a:rPr>
                <a:t>(32,288)</a:t>
              </a:r>
              <a:endParaRPr lang="en-US" altLang="zh-CN" sz="1800" b="1" dirty="0">
                <a:solidFill>
                  <a:srgbClr val="0000FF"/>
                </a:solidFill>
                <a:latin typeface="Times New Roman" panose="02020603050405020304" pitchFamily="18" charset="0"/>
              </a:endParaRPr>
            </a:p>
          </p:txBody>
        </p:sp>
        <p:sp>
          <p:nvSpPr>
            <p:cNvPr id="43046" name="Text Box 35"/>
            <p:cNvSpPr txBox="1"/>
            <p:nvPr>
              <p:custDataLst>
                <p:tags r:id="rId34"/>
              </p:custDataLst>
            </p:nvPr>
          </p:nvSpPr>
          <p:spPr>
            <a:xfrm>
              <a:off x="4512" y="2064"/>
              <a:ext cx="864" cy="583"/>
            </a:xfrm>
            <a:prstGeom prst="rect">
              <a:avLst/>
            </a:prstGeom>
            <a:noFill/>
            <a:ln w="9525">
              <a:noFill/>
            </a:ln>
          </p:spPr>
          <p:txBody>
            <a:bodyPr>
              <a:spAutoFit/>
            </a:bodyPr>
            <a:lstStyle/>
            <a:p>
              <a:pPr algn="ctr" eaLnBrk="1" hangingPunct="1">
                <a:spcBef>
                  <a:spcPct val="50000"/>
                </a:spcBef>
              </a:pPr>
              <a:r>
                <a:rPr lang="en-US" altLang="zh-CN" sz="1800" b="1" dirty="0">
                  <a:solidFill>
                    <a:srgbClr val="0000FF"/>
                  </a:solidFill>
                  <a:latin typeface="Times New Roman" panose="02020603050405020304" pitchFamily="18" charset="0"/>
                </a:rPr>
                <a:t>ILLIAC-IV</a:t>
              </a:r>
              <a:endParaRPr lang="en-US" altLang="zh-CN" sz="1800" b="1" dirty="0">
                <a:solidFill>
                  <a:srgbClr val="0000FF"/>
                </a:solidFill>
                <a:latin typeface="Times New Roman" panose="02020603050405020304" pitchFamily="18" charset="0"/>
              </a:endParaRPr>
            </a:p>
            <a:p>
              <a:pPr algn="ctr" eaLnBrk="1" hangingPunct="1">
                <a:spcBef>
                  <a:spcPct val="50000"/>
                </a:spcBef>
              </a:pPr>
              <a:r>
                <a:rPr lang="en-US" altLang="zh-CN" sz="1800" b="1" dirty="0">
                  <a:solidFill>
                    <a:srgbClr val="0000FF"/>
                  </a:solidFill>
                  <a:latin typeface="Times New Roman" panose="02020603050405020304" pitchFamily="18" charset="0"/>
                </a:rPr>
                <a:t>(64,64)</a:t>
              </a:r>
              <a:endParaRPr lang="en-US" altLang="zh-CN" sz="1800" b="1" dirty="0">
                <a:solidFill>
                  <a:srgbClr val="0000FF"/>
                </a:solidFill>
                <a:latin typeface="Times New Roman" panose="02020603050405020304" pitchFamily="18" charset="0"/>
              </a:endParaRPr>
            </a:p>
          </p:txBody>
        </p:sp>
        <p:sp>
          <p:nvSpPr>
            <p:cNvPr id="43047" name="Text Box 36"/>
            <p:cNvSpPr txBox="1"/>
            <p:nvPr>
              <p:custDataLst>
                <p:tags r:id="rId35"/>
              </p:custDataLst>
            </p:nvPr>
          </p:nvSpPr>
          <p:spPr>
            <a:xfrm>
              <a:off x="4608" y="2592"/>
              <a:ext cx="768" cy="583"/>
            </a:xfrm>
            <a:prstGeom prst="rect">
              <a:avLst/>
            </a:prstGeom>
            <a:noFill/>
            <a:ln w="9525">
              <a:noFill/>
            </a:ln>
          </p:spPr>
          <p:txBody>
            <a:bodyPr>
              <a:spAutoFit/>
            </a:bodyPr>
            <a:lstStyle/>
            <a:p>
              <a:pPr eaLnBrk="1" hangingPunct="1">
                <a:spcBef>
                  <a:spcPct val="50000"/>
                </a:spcBef>
              </a:pPr>
              <a:r>
                <a:rPr lang="en-US" altLang="zh-CN" sz="1800" b="1" dirty="0">
                  <a:solidFill>
                    <a:srgbClr val="0000FF"/>
                  </a:solidFill>
                  <a:latin typeface="Times New Roman" panose="02020603050405020304" pitchFamily="18" charset="0"/>
                </a:rPr>
                <a:t>TI-ASC</a:t>
              </a:r>
              <a:endParaRPr lang="en-US" altLang="zh-CN" sz="1800" b="1" dirty="0">
                <a:solidFill>
                  <a:srgbClr val="0000FF"/>
                </a:solidFill>
                <a:latin typeface="Times New Roman" panose="02020603050405020304" pitchFamily="18" charset="0"/>
              </a:endParaRPr>
            </a:p>
            <a:p>
              <a:pPr eaLnBrk="1" hangingPunct="1">
                <a:spcBef>
                  <a:spcPct val="50000"/>
                </a:spcBef>
              </a:pPr>
              <a:r>
                <a:rPr lang="en-US" altLang="zh-CN" sz="1800" b="1" dirty="0">
                  <a:solidFill>
                    <a:srgbClr val="0000FF"/>
                  </a:solidFill>
                  <a:latin typeface="Times New Roman" panose="02020603050405020304" pitchFamily="18" charset="0"/>
                </a:rPr>
                <a:t>(64,32)</a:t>
              </a:r>
              <a:endParaRPr lang="en-US" altLang="zh-CN" sz="1800" b="1" dirty="0">
                <a:solidFill>
                  <a:srgbClr val="0000FF"/>
                </a:solidFill>
                <a:latin typeface="Times New Roman" panose="02020603050405020304" pitchFamily="18" charset="0"/>
              </a:endParaRPr>
            </a:p>
          </p:txBody>
        </p:sp>
        <p:sp>
          <p:nvSpPr>
            <p:cNvPr id="43048" name="Text Box 37"/>
            <p:cNvSpPr txBox="1"/>
            <p:nvPr>
              <p:custDataLst>
                <p:tags r:id="rId36"/>
              </p:custDataLst>
            </p:nvPr>
          </p:nvSpPr>
          <p:spPr>
            <a:xfrm>
              <a:off x="4752" y="3504"/>
              <a:ext cx="672" cy="297"/>
            </a:xfrm>
            <a:prstGeom prst="rect">
              <a:avLst/>
            </a:prstGeom>
            <a:noFill/>
            <a:ln w="9525">
              <a:noFill/>
            </a:ln>
          </p:spPr>
          <p:txBody>
            <a:bodyPr>
              <a:spAutoFit/>
            </a:bodyPr>
            <a:lstStyle/>
            <a:p>
              <a:pPr eaLnBrk="1" hangingPunct="1">
                <a:spcBef>
                  <a:spcPct val="50000"/>
                </a:spcBef>
              </a:pPr>
              <a:r>
                <a:rPr lang="zh-CN" altLang="en-US" sz="2000" b="1" dirty="0">
                  <a:solidFill>
                    <a:srgbClr val="0000FF"/>
                  </a:solidFill>
                  <a:latin typeface="Times New Roman" panose="02020603050405020304" pitchFamily="18" charset="0"/>
                </a:rPr>
                <a:t>字宽</a:t>
              </a:r>
              <a:r>
                <a:rPr lang="en-US" altLang="zh-CN" sz="2000" b="1" dirty="0">
                  <a:solidFill>
                    <a:srgbClr val="0000FF"/>
                  </a:solidFill>
                  <a:latin typeface="Times New Roman" panose="02020603050405020304" pitchFamily="18" charset="0"/>
                </a:rPr>
                <a:t>(n)</a:t>
              </a:r>
              <a:endParaRPr lang="en-US" altLang="zh-CN" sz="2000" b="1" dirty="0">
                <a:solidFill>
                  <a:srgbClr val="0000FF"/>
                </a:solidFill>
                <a:latin typeface="Times New Roman" panose="02020603050405020304" pitchFamily="18" charset="0"/>
              </a:endParaRPr>
            </a:p>
          </p:txBody>
        </p:sp>
        <p:sp>
          <p:nvSpPr>
            <p:cNvPr id="43049" name="Text Box 38"/>
            <p:cNvSpPr txBox="1"/>
            <p:nvPr>
              <p:custDataLst>
                <p:tags r:id="rId37"/>
              </p:custDataLst>
            </p:nvPr>
          </p:nvSpPr>
          <p:spPr>
            <a:xfrm>
              <a:off x="672" y="1536"/>
              <a:ext cx="423" cy="1200"/>
            </a:xfrm>
            <a:prstGeom prst="rect">
              <a:avLst/>
            </a:prstGeom>
            <a:noFill/>
            <a:ln w="9525">
              <a:noFill/>
            </a:ln>
          </p:spPr>
          <p:txBody>
            <a:bodyPr vert="eaVert">
              <a:spAutoFit/>
            </a:bodyPr>
            <a:lstStyle/>
            <a:p>
              <a:pPr eaLnBrk="1" hangingPunct="1">
                <a:spcBef>
                  <a:spcPct val="50000"/>
                </a:spcBef>
              </a:pPr>
              <a:endParaRPr lang="en-US" altLang="zh-CN" sz="3200" dirty="0">
                <a:solidFill>
                  <a:srgbClr val="0000FF"/>
                </a:solidFill>
                <a:latin typeface="Times New Roman" panose="02020603050405020304" pitchFamily="18" charset="0"/>
              </a:endParaRPr>
            </a:p>
          </p:txBody>
        </p:sp>
        <p:sp>
          <p:nvSpPr>
            <p:cNvPr id="43050" name="Text Box 39"/>
            <p:cNvSpPr txBox="1"/>
            <p:nvPr>
              <p:custDataLst>
                <p:tags r:id="rId38"/>
              </p:custDataLst>
            </p:nvPr>
          </p:nvSpPr>
          <p:spPr>
            <a:xfrm>
              <a:off x="754" y="1728"/>
              <a:ext cx="302" cy="1344"/>
            </a:xfrm>
            <a:prstGeom prst="rect">
              <a:avLst/>
            </a:prstGeom>
            <a:noFill/>
            <a:ln w="9525">
              <a:noFill/>
            </a:ln>
          </p:spPr>
          <p:txBody>
            <a:bodyPr vert="eaVert">
              <a:spAutoFit/>
            </a:bodyPr>
            <a:lstStyle/>
            <a:p>
              <a:pPr eaLnBrk="1" hangingPunct="1">
                <a:spcBef>
                  <a:spcPct val="50000"/>
                </a:spcBef>
              </a:pPr>
              <a:r>
                <a:rPr lang="zh-CN" altLang="en-US" sz="2000" dirty="0">
                  <a:solidFill>
                    <a:srgbClr val="0000FF"/>
                  </a:solidFill>
                  <a:latin typeface="Times New Roman" panose="02020603050405020304" pitchFamily="18" charset="0"/>
                </a:rPr>
                <a:t>位片宽</a:t>
              </a:r>
              <a:r>
                <a:rPr lang="en-US" altLang="zh-CN" sz="2000" dirty="0">
                  <a:solidFill>
                    <a:srgbClr val="0000FF"/>
                  </a:solidFill>
                  <a:latin typeface="Times New Roman" panose="02020603050405020304" pitchFamily="18" charset="0"/>
                </a:rPr>
                <a:t>(m)</a:t>
              </a:r>
              <a:endParaRPr lang="en-US" altLang="zh-CN" sz="2000" dirty="0">
                <a:solidFill>
                  <a:srgbClr val="0000FF"/>
                </a:solidFill>
                <a:latin typeface="Times New Roman" panose="02020603050405020304" pitchFamily="18" charset="0"/>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3 Händler分类法</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81711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根据并行度和流水线提出的一种分类法</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程序级</a:t>
            </a:r>
            <a:r>
              <a:rPr lang="en-US" altLang="zh-CN" sz="2400">
                <a:latin typeface="Times New Roman" panose="02020603050405020304" pitchFamily="18" charset="0"/>
                <a:cs typeface="Times New Roman" panose="02020603050405020304" pitchFamily="18" charset="0"/>
                <a:sym typeface="+mn-ea"/>
              </a:rPr>
              <a:t>k</a:t>
            </a:r>
            <a:r>
              <a:rPr lang="zh-CN" altLang="en-US" sz="2400">
                <a:latin typeface="Times New Roman" panose="02020603050405020304" pitchFamily="18" charset="0"/>
                <a:cs typeface="Times New Roman" panose="02020603050405020304" pitchFamily="18" charset="0"/>
                <a:sym typeface="+mn-ea"/>
              </a:rPr>
              <a:t>：程序控制部件(PCU)的个数k</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操作级</a:t>
            </a:r>
            <a:r>
              <a:rPr lang="en-US" altLang="zh-CN" sz="2400">
                <a:latin typeface="Times New Roman" panose="02020603050405020304" pitchFamily="18" charset="0"/>
                <a:cs typeface="Times New Roman" panose="02020603050405020304" pitchFamily="18" charset="0"/>
                <a:sym typeface="+mn-ea"/>
              </a:rPr>
              <a:t>d</a:t>
            </a:r>
            <a:r>
              <a:rPr lang="zh-CN" altLang="en-US" sz="2400">
                <a:latin typeface="Times New Roman" panose="02020603050405020304" pitchFamily="18" charset="0"/>
                <a:cs typeface="Times New Roman" panose="02020603050405020304" pitchFamily="18" charset="0"/>
                <a:sym typeface="+mn-ea"/>
              </a:rPr>
              <a:t>：算术逻辑部件(ALU)或处理部件(PE)的个数d</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逻辑级</a:t>
            </a:r>
            <a:r>
              <a:rPr lang="en-US" altLang="zh-CN" sz="2400">
                <a:latin typeface="Times New Roman" panose="02020603050405020304" pitchFamily="18" charset="0"/>
                <a:cs typeface="Times New Roman" panose="02020603050405020304" pitchFamily="18" charset="0"/>
                <a:sym typeface="+mn-ea"/>
              </a:rPr>
              <a:t>w</a:t>
            </a:r>
            <a:r>
              <a:rPr lang="zh-CN" altLang="en-US" sz="2400">
                <a:latin typeface="Times New Roman" panose="02020603050405020304" pitchFamily="18" charset="0"/>
                <a:cs typeface="Times New Roman" panose="02020603050405020304" pitchFamily="18" charset="0"/>
                <a:sym typeface="+mn-ea"/>
              </a:rPr>
              <a:t>：每个算术逻辑部件包含基本逻辑线路(ELC)的套数w。</a:t>
            </a:r>
            <a:endParaRPr lang="zh-CN" altLang="en-US" sz="24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如加法器位数</a:t>
            </a:r>
            <a:endParaRPr lang="zh-CN" altLang="en-US" sz="2055">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表示方法：t(系统型号)=(k,d,w)</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3 Händler分类法</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240020"/>
          </a:xfrm>
        </p:spPr>
        <p:txBody>
          <a:bodyPr/>
          <a:lstStyle/>
          <a:p>
            <a:pPr lvl="0" eaLnBrk="1" latinLnBrk="0" hangingPunct="1">
              <a:lnSpc>
                <a:spcPct val="100000"/>
              </a:lnSpc>
              <a:spcBef>
                <a:spcPts val="600"/>
              </a:spcBef>
            </a:pPr>
            <a:r>
              <a:rPr lang="zh-CN" altLang="en-US" sz="2400" dirty="0">
                <a:latin typeface="Times New Roman" panose="02020603050405020304" pitchFamily="18" charset="0"/>
                <a:cs typeface="Times New Roman" panose="02020603050405020304" pitchFamily="18" charset="0"/>
                <a:sym typeface="+mn-ea"/>
              </a:rPr>
              <a:t>为了表示流水线，采用</a:t>
            </a:r>
            <a:endParaRPr lang="zh-CN" altLang="en-US" sz="24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en-US" altLang="zh-CN" sz="2000" dirty="0">
                <a:solidFill>
                  <a:srgbClr val="FF0000"/>
                </a:solidFill>
                <a:latin typeface="Times New Roman" panose="02020603050405020304" pitchFamily="18" charset="0"/>
                <a:cs typeface="Times New Roman" panose="02020603050405020304" pitchFamily="18" charset="0"/>
                <a:sym typeface="+mn-ea"/>
              </a:rPr>
              <a:t>t(</a:t>
            </a:r>
            <a:r>
              <a:rPr lang="zh-CN" altLang="en-US" sz="2000" dirty="0">
                <a:solidFill>
                  <a:srgbClr val="FF0000"/>
                </a:solidFill>
                <a:latin typeface="Times New Roman" panose="02020603050405020304" pitchFamily="18" charset="0"/>
                <a:cs typeface="Times New Roman" panose="02020603050405020304" pitchFamily="18" charset="0"/>
                <a:sym typeface="+mn-ea"/>
              </a:rPr>
              <a:t>系统型号</a:t>
            </a:r>
            <a:r>
              <a:rPr lang="en-US" altLang="zh-CN" sz="2000" dirty="0">
                <a:solidFill>
                  <a:srgbClr val="FF0000"/>
                </a:solidFill>
                <a:latin typeface="Times New Roman" panose="02020603050405020304" pitchFamily="18" charset="0"/>
                <a:cs typeface="Times New Roman" panose="02020603050405020304" pitchFamily="18" charset="0"/>
                <a:sym typeface="+mn-ea"/>
              </a:rPr>
              <a:t>)</a:t>
            </a:r>
            <a:r>
              <a:rPr lang="zh-CN" altLang="en-US" sz="2000" dirty="0">
                <a:solidFill>
                  <a:srgbClr val="FF0000"/>
                </a:solidFill>
                <a:latin typeface="Times New Roman" panose="02020603050405020304" pitchFamily="18" charset="0"/>
                <a:cs typeface="Times New Roman" panose="02020603050405020304" pitchFamily="18"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(k×k’</a:t>
            </a:r>
            <a:r>
              <a:rPr lang="zh-CN" altLang="en-US" sz="2000" dirty="0">
                <a:solidFill>
                  <a:srgbClr val="FF0000"/>
                </a:solidFill>
                <a:latin typeface="Times New Roman" panose="02020603050405020304" pitchFamily="18" charset="0"/>
                <a:cs typeface="Times New Roman" panose="02020603050405020304" pitchFamily="18"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d×d’</a:t>
            </a:r>
            <a:r>
              <a:rPr lang="zh-CN" altLang="en-US" sz="2000" dirty="0">
                <a:solidFill>
                  <a:srgbClr val="FF0000"/>
                </a:solidFill>
                <a:latin typeface="Times New Roman" panose="02020603050405020304" pitchFamily="18" charset="0"/>
                <a:cs typeface="Times New Roman" panose="02020603050405020304" pitchFamily="18"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w×w’)</a:t>
            </a:r>
            <a:endParaRPr lang="en-US" altLang="zh-CN" sz="2000" dirty="0">
              <a:latin typeface="Times New Roman" panose="02020603050405020304" pitchFamily="18" charset="0"/>
              <a:cs typeface="Times New Roman" panose="02020603050405020304" pitchFamily="18" charset="0"/>
            </a:endParaRPr>
          </a:p>
          <a:p>
            <a:pPr lvl="2" eaLnBrk="1" latinLnBrk="0" hangingPunct="1">
              <a:lnSpc>
                <a:spcPct val="100000"/>
              </a:lnSpc>
              <a:spcBef>
                <a:spcPts val="600"/>
              </a:spcBef>
            </a:pPr>
            <a:r>
              <a:rPr lang="en-US" altLang="zh-CN" sz="2000" dirty="0">
                <a:latin typeface="Times New Roman" panose="02020603050405020304" pitchFamily="18" charset="0"/>
                <a:cs typeface="Times New Roman" panose="02020603050405020304" pitchFamily="18" charset="0"/>
                <a:sym typeface="+mn-ea"/>
              </a:rPr>
              <a:t>k’ </a:t>
            </a:r>
            <a:r>
              <a:rPr lang="zh-CN" altLang="en-US" sz="2000" dirty="0">
                <a:latin typeface="Times New Roman" panose="02020603050405020304" pitchFamily="18" charset="0"/>
                <a:cs typeface="Times New Roman" panose="02020603050405020304" pitchFamily="18" charset="0"/>
                <a:sym typeface="+mn-ea"/>
              </a:rPr>
              <a:t>表示宏流水线中程序控制部件的个数</a:t>
            </a:r>
            <a:endParaRPr lang="zh-CN" altLang="en-US" sz="2000" dirty="0">
              <a:latin typeface="Times New Roman" panose="02020603050405020304" pitchFamily="18" charset="0"/>
              <a:cs typeface="Times New Roman" panose="02020603050405020304" pitchFamily="18" charset="0"/>
            </a:endParaRPr>
          </a:p>
          <a:p>
            <a:pPr lvl="2" eaLnBrk="1" latinLnBrk="0" hangingPunct="1">
              <a:lnSpc>
                <a:spcPct val="100000"/>
              </a:lnSpc>
              <a:spcBef>
                <a:spcPts val="600"/>
              </a:spcBef>
            </a:pPr>
            <a:r>
              <a:rPr lang="en-US" altLang="zh-CN" sz="2000" dirty="0">
                <a:latin typeface="Times New Roman" panose="02020603050405020304" pitchFamily="18" charset="0"/>
                <a:cs typeface="Times New Roman" panose="02020603050405020304" pitchFamily="18" charset="0"/>
                <a:sym typeface="+mn-ea"/>
              </a:rPr>
              <a:t>d’ </a:t>
            </a:r>
            <a:r>
              <a:rPr lang="zh-CN" altLang="en-US" sz="2000" dirty="0">
                <a:latin typeface="Times New Roman" panose="02020603050405020304" pitchFamily="18" charset="0"/>
                <a:cs typeface="Times New Roman" panose="02020603050405020304" pitchFamily="18" charset="0"/>
                <a:sym typeface="+mn-ea"/>
              </a:rPr>
              <a:t>表示流水线中算术逻辑部件的个数</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指令流水线级数</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lvl="2" eaLnBrk="1" latinLnBrk="0" hangingPunct="1">
              <a:lnSpc>
                <a:spcPct val="100000"/>
              </a:lnSpc>
              <a:spcBef>
                <a:spcPts val="600"/>
              </a:spcBef>
            </a:pPr>
            <a:r>
              <a:rPr lang="en-US" altLang="zh-CN" sz="2000" dirty="0">
                <a:latin typeface="Times New Roman" panose="02020603050405020304" pitchFamily="18" charset="0"/>
                <a:cs typeface="Times New Roman" panose="02020603050405020304" pitchFamily="18" charset="0"/>
                <a:sym typeface="+mn-ea"/>
              </a:rPr>
              <a:t>w’ </a:t>
            </a:r>
            <a:r>
              <a:rPr lang="zh-CN" altLang="en-US" sz="2000" dirty="0">
                <a:latin typeface="Times New Roman" panose="02020603050405020304" pitchFamily="18" charset="0"/>
                <a:cs typeface="Times New Roman" panose="02020603050405020304" pitchFamily="18" charset="0"/>
                <a:sym typeface="+mn-ea"/>
              </a:rPr>
              <a:t>表示流水线中基本逻辑线路的套数</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算术流水线级数</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lvl="0" eaLnBrk="1" latinLnBrk="0"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如</a:t>
            </a:r>
            <a:r>
              <a:rPr lang="en-US" altLang="zh-CN" sz="2400" dirty="0">
                <a:latin typeface="Times New Roman" panose="02020603050405020304" pitchFamily="18" charset="0"/>
                <a:cs typeface="Times New Roman" panose="02020603050405020304" pitchFamily="18" charset="0"/>
                <a:sym typeface="+mn-ea"/>
              </a:rPr>
              <a:t>Cray 1</a:t>
            </a:r>
            <a:r>
              <a:rPr lang="zh-CN" altLang="en-US" sz="2400" dirty="0">
                <a:latin typeface="Times New Roman" panose="02020603050405020304" pitchFamily="18" charset="0"/>
                <a:cs typeface="Times New Roman" panose="02020603050405020304" pitchFamily="18" charset="0"/>
                <a:sym typeface="+mn-ea"/>
              </a:rPr>
              <a:t>有</a:t>
            </a:r>
            <a:r>
              <a:rPr lang="en-US" altLang="zh-CN" sz="24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个</a:t>
            </a:r>
            <a:r>
              <a:rPr lang="en-US" altLang="zh-CN" sz="2400" dirty="0">
                <a:latin typeface="Times New Roman" panose="02020603050405020304" pitchFamily="18" charset="0"/>
                <a:cs typeface="Times New Roman" panose="02020603050405020304" pitchFamily="18" charset="0"/>
                <a:sym typeface="+mn-ea"/>
              </a:rPr>
              <a:t>CPU</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12</a:t>
            </a:r>
            <a:r>
              <a:rPr lang="zh-CN" altLang="en-US" sz="2400" dirty="0">
                <a:latin typeface="Times New Roman" panose="02020603050405020304" pitchFamily="18" charset="0"/>
                <a:cs typeface="Times New Roman" panose="02020603050405020304" pitchFamily="18" charset="0"/>
                <a:sym typeface="+mn-ea"/>
              </a:rPr>
              <a:t>个相当于</a:t>
            </a:r>
            <a:r>
              <a:rPr lang="en-US" altLang="zh-CN" sz="2400" dirty="0">
                <a:latin typeface="Times New Roman" panose="02020603050405020304" pitchFamily="18" charset="0"/>
                <a:cs typeface="Times New Roman" panose="02020603050405020304" pitchFamily="18" charset="0"/>
                <a:sym typeface="+mn-ea"/>
              </a:rPr>
              <a:t>ALU</a:t>
            </a:r>
            <a:r>
              <a:rPr lang="zh-CN" altLang="en-US" sz="2400" dirty="0">
                <a:latin typeface="Times New Roman" panose="02020603050405020304" pitchFamily="18" charset="0"/>
                <a:cs typeface="Times New Roman" panose="02020603050405020304" pitchFamily="18" charset="0"/>
                <a:sym typeface="+mn-ea"/>
              </a:rPr>
              <a:t>或</a:t>
            </a:r>
            <a:r>
              <a:rPr lang="en-US" altLang="zh-CN" sz="2400" dirty="0">
                <a:latin typeface="Times New Roman" panose="02020603050405020304" pitchFamily="18" charset="0"/>
                <a:cs typeface="Times New Roman" panose="02020603050405020304" pitchFamily="18" charset="0"/>
                <a:sym typeface="+mn-ea"/>
              </a:rPr>
              <a:t>PE</a:t>
            </a:r>
            <a:r>
              <a:rPr lang="zh-CN" altLang="en-US" sz="2400" dirty="0">
                <a:latin typeface="Times New Roman" panose="02020603050405020304" pitchFamily="18" charset="0"/>
                <a:cs typeface="Times New Roman" panose="02020603050405020304" pitchFamily="18" charset="0"/>
                <a:sym typeface="+mn-ea"/>
              </a:rPr>
              <a:t>的处理部件，最多</a:t>
            </a:r>
            <a:r>
              <a:rPr lang="en-US" altLang="zh-CN" sz="2400" dirty="0">
                <a:latin typeface="Times New Roman" panose="02020603050405020304" pitchFamily="18" charset="0"/>
                <a:cs typeface="Times New Roman" panose="02020603050405020304" pitchFamily="18" charset="0"/>
                <a:sym typeface="+mn-ea"/>
              </a:rPr>
              <a:t>8</a:t>
            </a:r>
            <a:r>
              <a:rPr lang="zh-CN" altLang="en-US" sz="2400" dirty="0">
                <a:latin typeface="Times New Roman" panose="02020603050405020304" pitchFamily="18" charset="0"/>
                <a:cs typeface="Times New Roman" panose="02020603050405020304" pitchFamily="18" charset="0"/>
                <a:sym typeface="+mn-ea"/>
              </a:rPr>
              <a:t>级流水线，字长为</a:t>
            </a:r>
            <a:r>
              <a:rPr lang="en-US" altLang="zh-CN" sz="2400" dirty="0">
                <a:latin typeface="Times New Roman" panose="02020603050405020304" pitchFamily="18" charset="0"/>
                <a:cs typeface="Times New Roman" panose="02020603050405020304" pitchFamily="18" charset="0"/>
                <a:sym typeface="+mn-ea"/>
              </a:rPr>
              <a:t>64</a:t>
            </a:r>
            <a:r>
              <a:rPr lang="zh-CN" altLang="en-US" sz="2400" dirty="0">
                <a:latin typeface="Times New Roman" panose="02020603050405020304" pitchFamily="18" charset="0"/>
                <a:cs typeface="Times New Roman" panose="02020603050405020304" pitchFamily="18" charset="0"/>
                <a:sym typeface="+mn-ea"/>
              </a:rPr>
              <a:t>位，可以实现 </a:t>
            </a:r>
            <a:r>
              <a:rPr lang="en-US" altLang="zh-CN" sz="24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14</a:t>
            </a:r>
            <a:r>
              <a:rPr lang="zh-CN" altLang="en-US" sz="2400" dirty="0">
                <a:latin typeface="Times New Roman" panose="02020603050405020304" pitchFamily="18" charset="0"/>
                <a:cs typeface="Times New Roman" panose="02020603050405020304" pitchFamily="18" charset="0"/>
                <a:sym typeface="+mn-ea"/>
              </a:rPr>
              <a:t>位流水线</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算术流水线级数</a:t>
            </a:r>
            <a:r>
              <a:rPr lang="en-US" altLang="zh-CN" sz="2400" dirty="0">
                <a:latin typeface="Times New Roman" panose="02020603050405020304" pitchFamily="18" charset="0"/>
                <a:cs typeface="Times New Roman" panose="02020603050405020304" pitchFamily="18" charset="0"/>
                <a:sym typeface="+mn-ea"/>
              </a:rPr>
              <a:t>)</a:t>
            </a:r>
            <a:endParaRPr lang="en-US" altLang="zh-CN" sz="24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表示为：</a:t>
            </a:r>
            <a:r>
              <a:rPr lang="en-US" altLang="zh-CN" sz="2000" dirty="0">
                <a:solidFill>
                  <a:srgbClr val="FF0000"/>
                </a:solidFill>
                <a:latin typeface="Times New Roman" panose="02020603050405020304" pitchFamily="18" charset="0"/>
                <a:cs typeface="Times New Roman" panose="02020603050405020304" pitchFamily="18" charset="0"/>
                <a:sym typeface="+mn-ea"/>
              </a:rPr>
              <a:t>t(Cray 1)</a:t>
            </a:r>
            <a:r>
              <a:rPr lang="zh-CN" altLang="en-US" sz="2000" dirty="0">
                <a:solidFill>
                  <a:srgbClr val="FF0000"/>
                </a:solidFill>
                <a:latin typeface="Times New Roman" panose="02020603050405020304" pitchFamily="18" charset="0"/>
                <a:cs typeface="Times New Roman" panose="02020603050405020304" pitchFamily="18"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(1</a:t>
            </a:r>
            <a:r>
              <a:rPr lang="zh-CN" altLang="en-US" sz="2000" dirty="0">
                <a:solidFill>
                  <a:srgbClr val="FF0000"/>
                </a:solidFill>
                <a:latin typeface="Times New Roman" panose="02020603050405020304" pitchFamily="18" charset="0"/>
                <a:cs typeface="Times New Roman" panose="02020603050405020304" pitchFamily="18"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12×8</a:t>
            </a:r>
            <a:r>
              <a:rPr lang="zh-CN" altLang="en-US" sz="2000" dirty="0">
                <a:solidFill>
                  <a:srgbClr val="FF0000"/>
                </a:solidFill>
                <a:latin typeface="Times New Roman" panose="02020603050405020304" pitchFamily="18" charset="0"/>
                <a:cs typeface="Times New Roman" panose="02020603050405020304" pitchFamily="18"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64(1</a:t>
            </a:r>
            <a:r>
              <a:rPr lang="zh-CN" altLang="en-US" sz="2000" dirty="0">
                <a:solidFill>
                  <a:srgbClr val="FF0000"/>
                </a:solidFill>
                <a:latin typeface="Times New Roman" panose="02020603050405020304" pitchFamily="18" charset="0"/>
                <a:cs typeface="Times New Roman" panose="02020603050405020304" pitchFamily="18"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14))</a:t>
            </a:r>
            <a:endParaRPr lang="en-US" altLang="zh-CN" sz="2000" dirty="0">
              <a:solidFill>
                <a:srgbClr val="FF0000"/>
              </a:solidFill>
              <a:latin typeface="Times New Roman" panose="02020603050405020304" pitchFamily="18" charset="0"/>
              <a:cs typeface="Times New Roman" panose="02020603050405020304" pitchFamily="18" charset="0"/>
            </a:endParaRPr>
          </a:p>
          <a:p>
            <a:pPr lvl="0" eaLnBrk="1" latinLnBrk="0"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又例如</a:t>
            </a:r>
            <a:endParaRPr lang="zh-CN" altLang="en-US" sz="24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en-US" altLang="zh-CN" sz="2000" dirty="0">
                <a:latin typeface="Times New Roman" panose="02020603050405020304" pitchFamily="18" charset="0"/>
                <a:cs typeface="Times New Roman" panose="02020603050405020304" pitchFamily="18" charset="0"/>
                <a:sym typeface="+mn-ea"/>
              </a:rPr>
              <a:t>t(PEPE)</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(1×3</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288</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32)</a:t>
            </a:r>
            <a:endParaRPr lang="en-US" altLang="zh-CN" sz="20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en-US" altLang="zh-CN" sz="2000" dirty="0">
                <a:latin typeface="Times New Roman" panose="02020603050405020304" pitchFamily="18" charset="0"/>
                <a:cs typeface="Times New Roman" panose="02020603050405020304" pitchFamily="18" charset="0"/>
                <a:sym typeface="+mn-ea"/>
              </a:rPr>
              <a:t>t(TI ASC)</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64×8)</a:t>
            </a:r>
            <a:endParaRPr lang="en-US" altLang="zh-CN"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1.2 计算机系统的设计技术</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计算机系统的设计技术</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817110"/>
          </a:xfrm>
        </p:spPr>
        <p:txBody>
          <a:bodyPr/>
          <a:lstStyle/>
          <a:p>
            <a:pPr latinLnBrk="0">
              <a:spcBef>
                <a:spcPts val="1200"/>
              </a:spcBef>
            </a:pPr>
            <a:r>
              <a:rPr lang="en-US" altLang="zh-CN" sz="2400">
                <a:latin typeface="Times New Roman" panose="02020603050405020304" pitchFamily="18" charset="0"/>
                <a:cs typeface="Times New Roman" panose="02020603050405020304" pitchFamily="18" charset="0"/>
                <a:sym typeface="+mn-ea"/>
              </a:rPr>
              <a:t>1 </a:t>
            </a:r>
            <a:r>
              <a:rPr lang="zh-CN" altLang="en-US" sz="2400">
                <a:solidFill>
                  <a:srgbClr val="FF0000"/>
                </a:solidFill>
                <a:latin typeface="Times New Roman" panose="02020603050405020304" pitchFamily="18" charset="0"/>
                <a:cs typeface="Times New Roman" panose="02020603050405020304" pitchFamily="18" charset="0"/>
                <a:sym typeface="+mn-ea"/>
              </a:rPr>
              <a:t>加快经常性事件</a:t>
            </a:r>
            <a:r>
              <a:rPr lang="zh-CN" altLang="en-US" sz="2400">
                <a:latin typeface="Times New Roman" panose="02020603050405020304" pitchFamily="18" charset="0"/>
                <a:cs typeface="Times New Roman" panose="02020603050405020304" pitchFamily="18" charset="0"/>
                <a:sym typeface="+mn-ea"/>
              </a:rPr>
              <a:t>的速度</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计算机设计中最重要也最广泛采用的设计准则</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使经常性事件处理速度加快能明显提高整个系统性能</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在CPU中两个数进行相加运算时，相加结果可能出现溢出现象，也可能无溢出发生，显然经常出现的事件是不发生溢出的情况，而溢出是偶然发生的事件</a:t>
            </a:r>
            <a:endParaRPr lang="zh-CN" altLang="en-US" sz="24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在设计时应优化不发生溢出的情况，使这个经常性事件的处理速度尽可能快，对溢出处理则不必过多考虑优化。</a:t>
            </a:r>
            <a:endParaRPr lang="zh-CN" altLang="en-US" sz="2055">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因为发生溢出的概率很小，即使发生了，处理得慢一些也不会对系统性能产生很大的影响</a:t>
            </a:r>
            <a:endParaRPr lang="zh-CN" altLang="en-US" sz="2055">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2 </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Amdahl定律</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86868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 Amdahl阿姆达尔定律</a:t>
            </a:r>
            <a:endParaRPr lang="zh-CN" altLang="en-US" sz="2055">
              <a:latin typeface="Times New Roman" panose="02020603050405020304" pitchFamily="18" charset="0"/>
              <a:cs typeface="Times New Roman" panose="02020603050405020304" pitchFamily="18" charset="0"/>
              <a:sym typeface="+mn-ea"/>
            </a:endParaRPr>
          </a:p>
        </p:txBody>
      </p:sp>
      <p:graphicFrame>
        <p:nvGraphicFramePr>
          <p:cNvPr id="48133" name="Object 4"/>
          <p:cNvGraphicFramePr>
            <a:graphicFrameLocks noChangeAspect="1"/>
          </p:cNvGraphicFramePr>
          <p:nvPr>
            <p:custDataLst>
              <p:tags r:id="rId2"/>
            </p:custDataLst>
          </p:nvPr>
        </p:nvGraphicFramePr>
        <p:xfrm>
          <a:off x="1236980" y="2230120"/>
          <a:ext cx="4810125" cy="790575"/>
        </p:xfrm>
        <a:graphic>
          <a:graphicData uri="http://schemas.openxmlformats.org/presentationml/2006/ole">
            <mc:AlternateContent xmlns:mc="http://schemas.openxmlformats.org/markup-compatibility/2006">
              <mc:Choice xmlns:v="urn:schemas-microsoft-com:vml" Requires="v">
                <p:oleObj spid="_x0000_s4" name="" r:id="rId3" imgW="6870700" imgH="1130300" progId="Equation.3">
                  <p:embed/>
                </p:oleObj>
              </mc:Choice>
              <mc:Fallback>
                <p:oleObj name="" r:id="rId3" imgW="6870700" imgH="1130300" progId="Equation.3">
                  <p:embed/>
                  <p:pic>
                    <p:nvPicPr>
                      <p:cNvPr id="0" name="图片 3079"/>
                      <p:cNvPicPr/>
                      <p:nvPr/>
                    </p:nvPicPr>
                    <p:blipFill>
                      <a:blip r:embed="rId4"/>
                      <a:stretch>
                        <a:fillRect/>
                      </a:stretch>
                    </p:blipFill>
                    <p:spPr>
                      <a:xfrm>
                        <a:off x="1236980" y="2230120"/>
                        <a:ext cx="4810125" cy="790575"/>
                      </a:xfrm>
                      <a:prstGeom prst="rect">
                        <a:avLst/>
                      </a:prstGeom>
                      <a:noFill/>
                      <a:ln w="38100">
                        <a:noFill/>
                        <a:miter/>
                      </a:ln>
                    </p:spPr>
                  </p:pic>
                </p:oleObj>
              </mc:Fallback>
            </mc:AlternateContent>
          </a:graphicData>
        </a:graphic>
      </p:graphicFrame>
      <p:pic>
        <p:nvPicPr>
          <p:cNvPr id="5" name="图片 4"/>
          <p:cNvPicPr>
            <a:picLocks noChangeAspect="1"/>
          </p:cNvPicPr>
          <p:nvPr>
            <p:custDataLst>
              <p:tags r:id="rId5"/>
            </p:custDataLst>
          </p:nvPr>
        </p:nvPicPr>
        <p:blipFill>
          <a:blip r:embed="rId6"/>
          <a:stretch>
            <a:fillRect/>
          </a:stretch>
        </p:blipFill>
        <p:spPr>
          <a:xfrm>
            <a:off x="2193925" y="3357245"/>
            <a:ext cx="4756150" cy="19939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加速比</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86868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 可改进极限受Fe的约束：</a:t>
            </a:r>
            <a:endParaRPr lang="zh-CN" altLang="en-US" sz="2400">
              <a:latin typeface="Times New Roman" panose="02020603050405020304" pitchFamily="18" charset="0"/>
              <a:cs typeface="Times New Roman" panose="02020603050405020304" pitchFamily="18" charset="0"/>
              <a:sym typeface="+mn-ea"/>
            </a:endParaRPr>
          </a:p>
        </p:txBody>
      </p:sp>
      <p:graphicFrame>
        <p:nvGraphicFramePr>
          <p:cNvPr id="50186" name="对象 2"/>
          <p:cNvGraphicFramePr>
            <a:graphicFrameLocks noChangeAspect="1"/>
          </p:cNvGraphicFramePr>
          <p:nvPr>
            <p:custDataLst>
              <p:tags r:id="rId2"/>
            </p:custDataLst>
          </p:nvPr>
        </p:nvGraphicFramePr>
        <p:xfrm>
          <a:off x="1907540" y="5157470"/>
          <a:ext cx="4240530" cy="1095375"/>
        </p:xfrm>
        <a:graphic>
          <a:graphicData uri="http://schemas.openxmlformats.org/presentationml/2006/ole">
            <mc:AlternateContent xmlns:mc="http://schemas.openxmlformats.org/markup-compatibility/2006">
              <mc:Choice xmlns:v="urn:schemas-microsoft-com:vml" Requires="v">
                <p:oleObj spid="_x0000_s4" name="" r:id="rId3" imgW="2286000" imgH="622300" progId="Equation.DSMT4">
                  <p:embed/>
                </p:oleObj>
              </mc:Choice>
              <mc:Fallback>
                <p:oleObj name="" r:id="rId3" imgW="2286000" imgH="622300" progId="Equation.DSMT4">
                  <p:embed/>
                  <p:pic>
                    <p:nvPicPr>
                      <p:cNvPr id="0" name="图片 3088"/>
                      <p:cNvPicPr/>
                      <p:nvPr/>
                    </p:nvPicPr>
                    <p:blipFill>
                      <a:blip r:embed="rId4"/>
                      <a:stretch>
                        <a:fillRect/>
                      </a:stretch>
                    </p:blipFill>
                    <p:spPr>
                      <a:xfrm>
                        <a:off x="1907540" y="5157470"/>
                        <a:ext cx="4240530" cy="1095375"/>
                      </a:xfrm>
                      <a:prstGeom prst="rect">
                        <a:avLst/>
                      </a:prstGeom>
                      <a:noFill/>
                      <a:ln w="38100">
                        <a:noFill/>
                        <a:miter/>
                      </a:ln>
                    </p:spPr>
                  </p:pic>
                </p:oleObj>
              </mc:Fallback>
            </mc:AlternateContent>
          </a:graphicData>
        </a:graphic>
      </p:graphicFrame>
      <p:graphicFrame>
        <p:nvGraphicFramePr>
          <p:cNvPr id="50181" name="Object 3"/>
          <p:cNvGraphicFramePr>
            <a:graphicFrameLocks noChangeAspect="1"/>
          </p:cNvGraphicFramePr>
          <p:nvPr>
            <p:custDataLst>
              <p:tags r:id="rId5"/>
            </p:custDataLst>
          </p:nvPr>
        </p:nvGraphicFramePr>
        <p:xfrm>
          <a:off x="827405" y="1988820"/>
          <a:ext cx="3689350" cy="817563"/>
        </p:xfrm>
        <a:graphic>
          <a:graphicData uri="http://schemas.openxmlformats.org/presentationml/2006/ole">
            <mc:AlternateContent xmlns:mc="http://schemas.openxmlformats.org/markup-compatibility/2006">
              <mc:Choice xmlns:v="urn:schemas-microsoft-com:vml" Requires="v">
                <p:oleObj spid="_x0000_s5" name="" r:id="rId6" imgW="5270500" imgH="1168400" progId="Equation.3">
                  <p:embed/>
                </p:oleObj>
              </mc:Choice>
              <mc:Fallback>
                <p:oleObj name="" r:id="rId6" imgW="5270500" imgH="1168400" progId="Equation.3">
                  <p:embed/>
                  <p:pic>
                    <p:nvPicPr>
                      <p:cNvPr id="0" name="图片 3082"/>
                      <p:cNvPicPr/>
                      <p:nvPr/>
                    </p:nvPicPr>
                    <p:blipFill>
                      <a:blip r:embed="rId7"/>
                      <a:stretch>
                        <a:fillRect/>
                      </a:stretch>
                    </p:blipFill>
                    <p:spPr>
                      <a:xfrm>
                        <a:off x="827405" y="1988820"/>
                        <a:ext cx="3689350" cy="817563"/>
                      </a:xfrm>
                      <a:prstGeom prst="rect">
                        <a:avLst/>
                      </a:prstGeom>
                      <a:noFill/>
                      <a:ln w="38100">
                        <a:noFill/>
                        <a:miter/>
                      </a:ln>
                    </p:spPr>
                  </p:pic>
                </p:oleObj>
              </mc:Fallback>
            </mc:AlternateContent>
          </a:graphicData>
        </a:graphic>
      </p:graphicFrame>
      <p:graphicFrame>
        <p:nvGraphicFramePr>
          <p:cNvPr id="50182" name="Object 4"/>
          <p:cNvGraphicFramePr>
            <a:graphicFrameLocks noChangeAspect="1"/>
          </p:cNvGraphicFramePr>
          <p:nvPr>
            <p:custDataLst>
              <p:tags r:id="rId8"/>
            </p:custDataLst>
          </p:nvPr>
        </p:nvGraphicFramePr>
        <p:xfrm>
          <a:off x="827405" y="3268980"/>
          <a:ext cx="3635375" cy="808038"/>
        </p:xfrm>
        <a:graphic>
          <a:graphicData uri="http://schemas.openxmlformats.org/presentationml/2006/ole">
            <mc:AlternateContent xmlns:mc="http://schemas.openxmlformats.org/markup-compatibility/2006">
              <mc:Choice xmlns:v="urn:schemas-microsoft-com:vml" Requires="v">
                <p:oleObj spid="_x0000_s6" name="" r:id="rId9" imgW="5194300" imgH="1152525" progId="Equation.3">
                  <p:embed/>
                </p:oleObj>
              </mc:Choice>
              <mc:Fallback>
                <p:oleObj name="" r:id="rId9" imgW="5194300" imgH="1152525" progId="Equation.3">
                  <p:embed/>
                  <p:pic>
                    <p:nvPicPr>
                      <p:cNvPr id="0" name="图片 3083"/>
                      <p:cNvPicPr/>
                      <p:nvPr/>
                    </p:nvPicPr>
                    <p:blipFill>
                      <a:blip r:embed="rId10"/>
                      <a:stretch>
                        <a:fillRect/>
                      </a:stretch>
                    </p:blipFill>
                    <p:spPr>
                      <a:xfrm>
                        <a:off x="827405" y="3268980"/>
                        <a:ext cx="3635375" cy="808038"/>
                      </a:xfrm>
                      <a:prstGeom prst="rect">
                        <a:avLst/>
                      </a:prstGeom>
                      <a:noFill/>
                      <a:ln w="38100">
                        <a:noFill/>
                        <a:miter/>
                      </a:ln>
                    </p:spPr>
                  </p:pic>
                </p:oleObj>
              </mc:Fallback>
            </mc:AlternateContent>
          </a:graphicData>
        </a:graphic>
      </p:graphicFrame>
      <p:graphicFrame>
        <p:nvGraphicFramePr>
          <p:cNvPr id="50183" name="Object 5"/>
          <p:cNvGraphicFramePr>
            <a:graphicFrameLocks noChangeAspect="1"/>
          </p:cNvGraphicFramePr>
          <p:nvPr>
            <p:custDataLst>
              <p:tags r:id="rId11"/>
            </p:custDataLst>
          </p:nvPr>
        </p:nvGraphicFramePr>
        <p:xfrm>
          <a:off x="4931728" y="1988820"/>
          <a:ext cx="2782887" cy="771525"/>
        </p:xfrm>
        <a:graphic>
          <a:graphicData uri="http://schemas.openxmlformats.org/presentationml/2006/ole">
            <mc:AlternateContent xmlns:mc="http://schemas.openxmlformats.org/markup-compatibility/2006">
              <mc:Choice xmlns:v="urn:schemas-microsoft-com:vml" Requires="v">
                <p:oleObj spid="_x0000_s7" name="" r:id="rId12" imgW="3975100" imgH="1103630" progId="Equation.3">
                  <p:embed/>
                </p:oleObj>
              </mc:Choice>
              <mc:Fallback>
                <p:oleObj name="" r:id="rId12" imgW="3975100" imgH="1103630" progId="Equation.3">
                  <p:embed/>
                  <p:pic>
                    <p:nvPicPr>
                      <p:cNvPr id="0" name="图片 3081"/>
                      <p:cNvPicPr/>
                      <p:nvPr/>
                    </p:nvPicPr>
                    <p:blipFill>
                      <a:blip r:embed="rId13"/>
                      <a:stretch>
                        <a:fillRect/>
                      </a:stretch>
                    </p:blipFill>
                    <p:spPr>
                      <a:xfrm>
                        <a:off x="4931728" y="1988820"/>
                        <a:ext cx="2782887" cy="771525"/>
                      </a:xfrm>
                      <a:prstGeom prst="rect">
                        <a:avLst/>
                      </a:prstGeom>
                      <a:noFill/>
                      <a:ln w="38100">
                        <a:noFill/>
                        <a:miter/>
                      </a:ln>
                    </p:spPr>
                  </p:pic>
                </p:oleObj>
              </mc:Fallback>
            </mc:AlternateContent>
          </a:graphicData>
        </a:graphic>
      </p:graphicFrame>
      <p:graphicFrame>
        <p:nvGraphicFramePr>
          <p:cNvPr id="50184" name="Object 6"/>
          <p:cNvGraphicFramePr>
            <a:graphicFrameLocks noChangeAspect="1"/>
          </p:cNvGraphicFramePr>
          <p:nvPr>
            <p:custDataLst>
              <p:tags r:id="rId14"/>
            </p:custDataLst>
          </p:nvPr>
        </p:nvGraphicFramePr>
        <p:xfrm>
          <a:off x="4932045" y="3091180"/>
          <a:ext cx="2622550" cy="985838"/>
        </p:xfrm>
        <a:graphic>
          <a:graphicData uri="http://schemas.openxmlformats.org/presentationml/2006/ole">
            <mc:AlternateContent xmlns:mc="http://schemas.openxmlformats.org/markup-compatibility/2006">
              <mc:Choice xmlns:v="urn:schemas-microsoft-com:vml" Requires="v">
                <p:oleObj spid="_x0000_s8" name="" r:id="rId15" imgW="3746500" imgH="1409700" progId="Equation.DSMT4">
                  <p:embed/>
                </p:oleObj>
              </mc:Choice>
              <mc:Fallback>
                <p:oleObj name="" r:id="rId15" imgW="3746500" imgH="1409700" progId="Equation.DSMT4">
                  <p:embed/>
                  <p:pic>
                    <p:nvPicPr>
                      <p:cNvPr id="0" name="图片 3089"/>
                      <p:cNvPicPr/>
                      <p:nvPr/>
                    </p:nvPicPr>
                    <p:blipFill>
                      <a:blip r:embed="rId16"/>
                      <a:stretch>
                        <a:fillRect/>
                      </a:stretch>
                    </p:blipFill>
                    <p:spPr>
                      <a:xfrm>
                        <a:off x="4932045" y="3091180"/>
                        <a:ext cx="2622550" cy="985838"/>
                      </a:xfrm>
                      <a:prstGeom prst="rect">
                        <a:avLst/>
                      </a:prstGeom>
                      <a:noFill/>
                      <a:ln w="38100">
                        <a:noFill/>
                        <a:miter/>
                      </a:ln>
                    </p:spPr>
                  </p:pic>
                </p:oleObj>
              </mc:Fallback>
            </mc:AlternateContent>
          </a:graphicData>
        </a:graphic>
      </p:graphicFrame>
      <p:sp>
        <p:nvSpPr>
          <p:cNvPr id="9" name="内容占位符 2"/>
          <p:cNvSpPr>
            <a:spLocks noGrp="1"/>
          </p:cNvSpPr>
          <p:nvPr>
            <p:custDataLst>
              <p:tags r:id="rId17"/>
            </p:custDataLst>
          </p:nvPr>
        </p:nvSpPr>
        <p:spPr>
          <a:xfrm>
            <a:off x="457200" y="4581525"/>
            <a:ext cx="8229600" cy="868680"/>
          </a:xfrm>
          <a:prstGeom prst="rect">
            <a:avLst/>
          </a:prstGeom>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 同时改进多个部件时：</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例1.1</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86868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假设将某系统的某一部件的处理速度加快到10倍,但该部件的原处理时间仅为整个运行时间的40%，则采用加快措施后能使整个系统的性能提高多少？</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例1.1</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86868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假设将某系统的某一部件的处理速度加快到10倍,但该部件的原处理时间仅为整个运行时间的40%，则采用加快措施后能使整个系统的性能提高多少？</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解：由题意可知：Fe=0.4, Se=10，根据Amdahl定律</a:t>
            </a:r>
            <a:endParaRPr lang="zh-CN" altLang="en-US" sz="2400">
              <a:latin typeface="Times New Roman" panose="02020603050405020304" pitchFamily="18" charset="0"/>
              <a:cs typeface="Times New Roman" panose="02020603050405020304" pitchFamily="18" charset="0"/>
              <a:sym typeface="+mn-ea"/>
            </a:endParaRPr>
          </a:p>
        </p:txBody>
      </p:sp>
      <p:graphicFrame>
        <p:nvGraphicFramePr>
          <p:cNvPr id="52229" name="Object 5"/>
          <p:cNvGraphicFramePr>
            <a:graphicFrameLocks noChangeAspect="1"/>
          </p:cNvGraphicFramePr>
          <p:nvPr>
            <p:custDataLst>
              <p:tags r:id="rId2"/>
            </p:custDataLst>
          </p:nvPr>
        </p:nvGraphicFramePr>
        <p:xfrm>
          <a:off x="2116455" y="4805045"/>
          <a:ext cx="4224338" cy="1403350"/>
        </p:xfrm>
        <a:graphic>
          <a:graphicData uri="http://schemas.openxmlformats.org/presentationml/2006/ole">
            <mc:AlternateContent xmlns:mc="http://schemas.openxmlformats.org/markup-compatibility/2006">
              <mc:Choice xmlns:v="urn:schemas-microsoft-com:vml" Requires="v">
                <p:oleObj spid="_x0000_s4" name="" r:id="rId3" imgW="1752600" imgH="584200" progId="Equation.3">
                  <p:embed/>
                </p:oleObj>
              </mc:Choice>
              <mc:Fallback>
                <p:oleObj name="" r:id="rId3" imgW="1752600" imgH="584200" progId="Equation.3">
                  <p:embed/>
                  <p:pic>
                    <p:nvPicPr>
                      <p:cNvPr id="0" name="图片 3085"/>
                      <p:cNvPicPr/>
                      <p:nvPr/>
                    </p:nvPicPr>
                    <p:blipFill>
                      <a:blip r:embed="rId4"/>
                      <a:stretch>
                        <a:fillRect/>
                      </a:stretch>
                    </p:blipFill>
                    <p:spPr>
                      <a:xfrm>
                        <a:off x="2116455" y="4805045"/>
                        <a:ext cx="4224338" cy="1403350"/>
                      </a:xfrm>
                      <a:prstGeom prst="rect">
                        <a:avLst/>
                      </a:prstGeom>
                      <a:noFill/>
                      <a:ln w="38100">
                        <a:noFill/>
                        <a:miter/>
                      </a:ln>
                    </p:spPr>
                  </p:pic>
                </p:oleObj>
              </mc:Fallback>
            </mc:AlternateContent>
          </a:graphicData>
        </a:graphic>
      </p:graphicFrame>
      <p:graphicFrame>
        <p:nvGraphicFramePr>
          <p:cNvPr id="52230" name="Object 16"/>
          <p:cNvGraphicFramePr>
            <a:graphicFrameLocks noChangeAspect="1"/>
          </p:cNvGraphicFramePr>
          <p:nvPr>
            <p:custDataLst>
              <p:tags r:id="rId5"/>
            </p:custDataLst>
          </p:nvPr>
        </p:nvGraphicFramePr>
        <p:xfrm>
          <a:off x="2195830" y="3213100"/>
          <a:ext cx="3586163" cy="1409700"/>
        </p:xfrm>
        <a:graphic>
          <a:graphicData uri="http://schemas.openxmlformats.org/presentationml/2006/ole">
            <mc:AlternateContent xmlns:mc="http://schemas.openxmlformats.org/markup-compatibility/2006">
              <mc:Choice xmlns:v="urn:schemas-microsoft-com:vml" Requires="v">
                <p:oleObj spid="_x0000_s5" name="" r:id="rId6" imgW="1485265" imgH="584200" progId="Equation.DSMT4">
                  <p:embed/>
                </p:oleObj>
              </mc:Choice>
              <mc:Fallback>
                <p:oleObj name="" r:id="rId6" imgW="1485265" imgH="584200" progId="Equation.DSMT4">
                  <p:embed/>
                  <p:pic>
                    <p:nvPicPr>
                      <p:cNvPr id="0" name="图片 3084"/>
                      <p:cNvPicPr/>
                      <p:nvPr/>
                    </p:nvPicPr>
                    <p:blipFill>
                      <a:blip r:embed="rId7"/>
                      <a:srcRect/>
                      <a:stretch>
                        <a:fillRect/>
                      </a:stretch>
                    </p:blipFill>
                    <p:spPr>
                      <a:xfrm>
                        <a:off x="2195830" y="3213100"/>
                        <a:ext cx="3586163" cy="1409700"/>
                      </a:xfrm>
                      <a:prstGeom prst="rect">
                        <a:avLst/>
                      </a:prstGeom>
                      <a:noFill/>
                      <a:ln w="38100">
                        <a:miter/>
                      </a:ln>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例1.2</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4530725"/>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采用哪种实现技术来求浮点数平方根FPSQR的操作对系统的性能影响较大。</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假设FPSQR操作占整个测试程序执行时间的20%。</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一种实现方法是采用FPSQR硬件，使FPSQR操作的速度加快到10倍。</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另一种实现方法是使所有浮点数据指令的速度加快，使FP指令的速度加快到2倍，还假设FP指令占整个执行时间的50%。</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请比较这两种设计方案。</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例1.2</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解：分别计算出这两种设计方案所能得到的加速比：</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使所有浮点数据指令的速度加快这一方案更好</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graphicFrame>
        <p:nvGraphicFramePr>
          <p:cNvPr id="54277" name="Object 8"/>
          <p:cNvGraphicFramePr>
            <a:graphicFrameLocks noChangeAspect="1"/>
          </p:cNvGraphicFramePr>
          <p:nvPr>
            <p:custDataLst>
              <p:tags r:id="rId2"/>
            </p:custDataLst>
          </p:nvPr>
        </p:nvGraphicFramePr>
        <p:xfrm>
          <a:off x="1905000" y="3218180"/>
          <a:ext cx="5017135" cy="2636520"/>
        </p:xfrm>
        <a:graphic>
          <a:graphicData uri="http://schemas.openxmlformats.org/presentationml/2006/ole">
            <mc:AlternateContent xmlns:mc="http://schemas.openxmlformats.org/markup-compatibility/2006">
              <mc:Choice xmlns:v="urn:schemas-microsoft-com:vml" Requires="v">
                <p:oleObj spid="_x0000_s4" name="" r:id="rId3" imgW="2273300" imgH="1193800" progId="Equation.3">
                  <p:embed/>
                </p:oleObj>
              </mc:Choice>
              <mc:Fallback>
                <p:oleObj name="" r:id="rId3" imgW="2273300" imgH="1193800" progId="Equation.3">
                  <p:embed/>
                  <p:pic>
                    <p:nvPicPr>
                      <p:cNvPr id="0" name="图片 3086"/>
                      <p:cNvPicPr/>
                      <p:nvPr/>
                    </p:nvPicPr>
                    <p:blipFill>
                      <a:blip r:embed="rId4"/>
                      <a:stretch>
                        <a:fillRect/>
                      </a:stretch>
                    </p:blipFill>
                    <p:spPr>
                      <a:xfrm>
                        <a:off x="1905000" y="3218180"/>
                        <a:ext cx="5017135" cy="2636520"/>
                      </a:xfrm>
                      <a:prstGeom prst="rect">
                        <a:avLst/>
                      </a:prstGeom>
                      <a:noFill/>
                      <a:ln w="38100">
                        <a:noFill/>
                        <a:miter/>
                      </a:ln>
                    </p:spPr>
                  </p:pic>
                </p:oleObj>
              </mc:Fallback>
            </mc:AlternateContent>
          </a:graphicData>
        </a:graphic>
      </p:graphicFrame>
      <p:graphicFrame>
        <p:nvGraphicFramePr>
          <p:cNvPr id="54278" name="Object 9"/>
          <p:cNvGraphicFramePr>
            <a:graphicFrameLocks noChangeAspect="1"/>
          </p:cNvGraphicFramePr>
          <p:nvPr>
            <p:custDataLst>
              <p:tags r:id="rId5"/>
            </p:custDataLst>
          </p:nvPr>
        </p:nvGraphicFramePr>
        <p:xfrm>
          <a:off x="1971675" y="1927225"/>
          <a:ext cx="3087370" cy="1213485"/>
        </p:xfrm>
        <a:graphic>
          <a:graphicData uri="http://schemas.openxmlformats.org/presentationml/2006/ole">
            <mc:AlternateContent xmlns:mc="http://schemas.openxmlformats.org/markup-compatibility/2006">
              <mc:Choice xmlns:v="urn:schemas-microsoft-com:vml" Requires="v">
                <p:oleObj spid="_x0000_s5" name="" r:id="rId6" imgW="1485265" imgH="584200" progId="Equation.3">
                  <p:embed/>
                </p:oleObj>
              </mc:Choice>
              <mc:Fallback>
                <p:oleObj name="" r:id="rId6" imgW="1485265" imgH="584200" progId="Equation.3">
                  <p:embed/>
                  <p:pic>
                    <p:nvPicPr>
                      <p:cNvPr id="0" name="图片 3087"/>
                      <p:cNvPicPr/>
                      <p:nvPr/>
                    </p:nvPicPr>
                    <p:blipFill>
                      <a:blip r:embed="rId7"/>
                      <a:srcRect/>
                      <a:stretch>
                        <a:fillRect/>
                      </a:stretch>
                    </p:blipFill>
                    <p:spPr>
                      <a:xfrm>
                        <a:off x="1971675" y="1927225"/>
                        <a:ext cx="3087370" cy="1213485"/>
                      </a:xfrm>
                      <a:prstGeom prst="rect">
                        <a:avLst/>
                      </a:prstGeom>
                      <a:noFill/>
                      <a:ln w="38100">
                        <a:miter/>
                      </a:ln>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3 CPU性能公式 </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193800"/>
            <a:ext cx="8229600" cy="1685925"/>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 CPU的性能取决于三个要素</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solidFill>
                  <a:srgbClr val="FF0000"/>
                </a:solidFill>
                <a:latin typeface="Times New Roman" panose="02020603050405020304" pitchFamily="18" charset="0"/>
                <a:cs typeface="Times New Roman" panose="02020603050405020304" pitchFamily="18" charset="0"/>
                <a:sym typeface="+mn-ea"/>
              </a:rPr>
              <a:t>时钟频率f</a:t>
            </a:r>
            <a:r>
              <a:rPr lang="zh-CN" altLang="en-US" sz="2000">
                <a:latin typeface="Times New Roman" panose="02020603050405020304" pitchFamily="18" charset="0"/>
                <a:cs typeface="Times New Roman" panose="02020603050405020304" pitchFamily="18" charset="0"/>
                <a:sym typeface="+mn-ea"/>
              </a:rPr>
              <a:t>(或时钟周期t), t=1/f, f=1/t</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每条指令所花的时钟周期数</a:t>
            </a:r>
            <a:r>
              <a:rPr lang="zh-CN" altLang="en-US" sz="2000">
                <a:solidFill>
                  <a:srgbClr val="FF0000"/>
                </a:solidFill>
                <a:latin typeface="Times New Roman" panose="02020603050405020304" pitchFamily="18" charset="0"/>
                <a:cs typeface="Times New Roman" panose="02020603050405020304" pitchFamily="18" charset="0"/>
                <a:sym typeface="+mn-ea"/>
              </a:rPr>
              <a:t>CPI</a:t>
            </a:r>
            <a:endParaRPr lang="zh-CN" altLang="en-US" sz="2000">
              <a:solidFill>
                <a:srgbClr val="FF0000"/>
              </a:solidFill>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指令条数</a:t>
            </a:r>
            <a:r>
              <a:rPr lang="zh-CN" altLang="en-US" sz="2000">
                <a:solidFill>
                  <a:srgbClr val="FF0000"/>
                </a:solidFill>
                <a:latin typeface="Times New Roman" panose="02020603050405020304" pitchFamily="18" charset="0"/>
                <a:cs typeface="Times New Roman" panose="02020603050405020304" pitchFamily="18" charset="0"/>
                <a:sym typeface="+mn-ea"/>
              </a:rPr>
              <a:t>IC</a:t>
            </a:r>
            <a:endParaRPr lang="zh-CN" altLang="en-US" sz="2000">
              <a:latin typeface="Times New Roman" panose="02020603050405020304" pitchFamily="18" charset="0"/>
              <a:cs typeface="Times New Roman" panose="02020603050405020304" pitchFamily="18" charset="0"/>
              <a:sym typeface="+mn-ea"/>
            </a:endParaRPr>
          </a:p>
          <a:p>
            <a:pPr latinLnBrk="0">
              <a:spcBef>
                <a:spcPts val="1800"/>
              </a:spcBef>
            </a:pPr>
            <a:r>
              <a:rPr lang="zh-CN" altLang="en-US" sz="2400">
                <a:latin typeface="Times New Roman" panose="02020603050405020304" pitchFamily="18" charset="0"/>
                <a:cs typeface="Times New Roman" panose="02020603050405020304" pitchFamily="18" charset="0"/>
                <a:sym typeface="+mn-ea"/>
              </a:rPr>
              <a:t>一个程序所花的CPU时间(T)可以用两种方式来表示</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CPU时间(T)=CPU时钟周期数(CPI×IC)*时钟周期长(t) </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每条指令的</a:t>
            </a:r>
            <a:r>
              <a:rPr lang="zh-CN" altLang="en-US" sz="2000" b="1">
                <a:solidFill>
                  <a:srgbClr val="FF0000"/>
                </a:solidFill>
                <a:latin typeface="Times New Roman" panose="02020603050405020304" pitchFamily="18" charset="0"/>
                <a:cs typeface="Times New Roman" panose="02020603050405020304" pitchFamily="18" charset="0"/>
                <a:sym typeface="+mn-ea"/>
              </a:rPr>
              <a:t>平均时钟周期数</a:t>
            </a:r>
            <a:r>
              <a:rPr lang="zh-CN" altLang="en-US" sz="2000">
                <a:latin typeface="Times New Roman" panose="02020603050405020304" pitchFamily="18" charset="0"/>
                <a:cs typeface="Times New Roman" panose="02020603050405020304" pitchFamily="18" charset="0"/>
                <a:sym typeface="+mn-ea"/>
              </a:rPr>
              <a:t>CPI</a:t>
            </a:r>
            <a:endParaRPr lang="zh-CN" altLang="en-US" sz="2000">
              <a:latin typeface="Times New Roman" panose="02020603050405020304" pitchFamily="18" charset="0"/>
              <a:cs typeface="Times New Roman" panose="02020603050405020304" pitchFamily="18" charset="0"/>
              <a:sym typeface="+mn-ea"/>
            </a:endParaRPr>
          </a:p>
        </p:txBody>
      </p:sp>
      <p:graphicFrame>
        <p:nvGraphicFramePr>
          <p:cNvPr id="56325" name="Object 5"/>
          <p:cNvGraphicFramePr>
            <a:graphicFrameLocks noChangeAspect="1"/>
          </p:cNvGraphicFramePr>
          <p:nvPr>
            <p:custDataLst>
              <p:tags r:id="rId2"/>
            </p:custDataLst>
          </p:nvPr>
        </p:nvGraphicFramePr>
        <p:xfrm>
          <a:off x="1619250" y="3861435"/>
          <a:ext cx="5499100" cy="982663"/>
        </p:xfrm>
        <a:graphic>
          <a:graphicData uri="http://schemas.openxmlformats.org/presentationml/2006/ole">
            <mc:AlternateContent xmlns:mc="http://schemas.openxmlformats.org/markup-compatibility/2006">
              <mc:Choice xmlns:v="urn:schemas-microsoft-com:vml" Requires="v">
                <p:oleObj spid="_x0000_s4" name="" r:id="rId3" imgW="5499100" imgH="982345" progId="Equation.3">
                  <p:embed/>
                </p:oleObj>
              </mc:Choice>
              <mc:Fallback>
                <p:oleObj name="" r:id="rId3" imgW="5499100" imgH="982345" progId="Equation.3">
                  <p:embed/>
                  <p:pic>
                    <p:nvPicPr>
                      <p:cNvPr id="0" name="图片 3090"/>
                      <p:cNvPicPr/>
                      <p:nvPr/>
                    </p:nvPicPr>
                    <p:blipFill>
                      <a:blip r:embed="rId4"/>
                      <a:stretch>
                        <a:fillRect/>
                      </a:stretch>
                    </p:blipFill>
                    <p:spPr>
                      <a:xfrm>
                        <a:off x="1619250" y="3861435"/>
                        <a:ext cx="5499100" cy="982663"/>
                      </a:xfrm>
                      <a:prstGeom prst="rect">
                        <a:avLst/>
                      </a:prstGeom>
                      <a:noFill/>
                      <a:ln w="38100">
                        <a:noFill/>
                        <a:miter/>
                      </a:ln>
                    </p:spPr>
                  </p:pic>
                </p:oleObj>
              </mc:Fallback>
            </mc:AlternateContent>
          </a:graphicData>
        </a:graphic>
      </p:graphicFrame>
      <p:graphicFrame>
        <p:nvGraphicFramePr>
          <p:cNvPr id="56326" name="Object 8"/>
          <p:cNvGraphicFramePr>
            <a:graphicFrameLocks noChangeAspect="1"/>
          </p:cNvGraphicFramePr>
          <p:nvPr>
            <p:custDataLst>
              <p:tags r:id="rId5"/>
            </p:custDataLst>
          </p:nvPr>
        </p:nvGraphicFramePr>
        <p:xfrm>
          <a:off x="1979295" y="5374005"/>
          <a:ext cx="3365500" cy="939800"/>
        </p:xfrm>
        <a:graphic>
          <a:graphicData uri="http://schemas.openxmlformats.org/presentationml/2006/ole">
            <mc:AlternateContent xmlns:mc="http://schemas.openxmlformats.org/markup-compatibility/2006">
              <mc:Choice xmlns:v="urn:schemas-microsoft-com:vml" Requires="v">
                <p:oleObj spid="_x0000_s5" name="" r:id="rId6" imgW="3365500" imgH="939800" progId="Equation.3">
                  <p:embed/>
                </p:oleObj>
              </mc:Choice>
              <mc:Fallback>
                <p:oleObj name="" r:id="rId6" imgW="3365500" imgH="939800" progId="Equation.3">
                  <p:embed/>
                  <p:pic>
                    <p:nvPicPr>
                      <p:cNvPr id="0" name="图片 3091"/>
                      <p:cNvPicPr/>
                      <p:nvPr/>
                    </p:nvPicPr>
                    <p:blipFill>
                      <a:blip r:embed="rId7"/>
                      <a:stretch>
                        <a:fillRect/>
                      </a:stretch>
                    </p:blipFill>
                    <p:spPr>
                      <a:xfrm>
                        <a:off x="1979295" y="5374005"/>
                        <a:ext cx="3365500" cy="939800"/>
                      </a:xfrm>
                      <a:prstGeom prst="rect">
                        <a:avLst/>
                      </a:prstGeom>
                      <a:noFill/>
                      <a:ln w="38100">
                        <a:noFill/>
                        <a:miter/>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考虑不同指令的CPI不同 </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193800"/>
            <a:ext cx="8229600" cy="98425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n是指令种类数</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Ii是第i种指令的执行次数</a:t>
            </a:r>
            <a:endParaRPr lang="zh-CN" altLang="en-US" sz="2400">
              <a:latin typeface="Times New Roman" panose="02020603050405020304" pitchFamily="18" charset="0"/>
              <a:cs typeface="Times New Roman" panose="02020603050405020304" pitchFamily="18" charset="0"/>
              <a:sym typeface="+mn-ea"/>
            </a:endParaRPr>
          </a:p>
          <a:p>
            <a:pPr latinLnBrk="0">
              <a:spcBef>
                <a:spcPts val="1800"/>
              </a:spcBef>
            </a:pPr>
            <a:r>
              <a:rPr lang="zh-CN" altLang="en-US" sz="2400">
                <a:latin typeface="Times New Roman" panose="02020603050405020304" pitchFamily="18" charset="0"/>
                <a:cs typeface="Times New Roman" panose="02020603050405020304" pitchFamily="18" charset="0"/>
                <a:sym typeface="+mn-ea"/>
              </a:rPr>
              <a:t>Ii/IC是第i种指令所占比例</a:t>
            </a:r>
            <a:endParaRPr lang="zh-CN" altLang="en-US" sz="2400">
              <a:latin typeface="Times New Roman" panose="02020603050405020304" pitchFamily="18" charset="0"/>
              <a:cs typeface="Times New Roman" panose="02020603050405020304" pitchFamily="18" charset="0"/>
              <a:sym typeface="+mn-ea"/>
            </a:endParaRPr>
          </a:p>
          <a:p>
            <a:pPr latinLnBrk="0">
              <a:spcBef>
                <a:spcPts val="1800"/>
              </a:spcBef>
            </a:pPr>
            <a:r>
              <a:rPr lang="zh-CN" altLang="en-US" sz="2400">
                <a:latin typeface="Times New Roman" panose="02020603050405020304" pitchFamily="18" charset="0"/>
                <a:cs typeface="Times New Roman" panose="02020603050405020304" pitchFamily="18" charset="0"/>
                <a:sym typeface="+mn-ea"/>
              </a:rPr>
              <a:t>一个程序所花的CPU时间(T)</a:t>
            </a:r>
            <a:endParaRPr lang="zh-CN" altLang="en-US" sz="2000">
              <a:latin typeface="Times New Roman" panose="02020603050405020304" pitchFamily="18" charset="0"/>
              <a:cs typeface="Times New Roman" panose="02020603050405020304" pitchFamily="18" charset="0"/>
              <a:sym typeface="+mn-ea"/>
            </a:endParaRPr>
          </a:p>
        </p:txBody>
      </p:sp>
      <p:graphicFrame>
        <p:nvGraphicFramePr>
          <p:cNvPr id="58373" name="Object 28"/>
          <p:cNvGraphicFramePr>
            <a:graphicFrameLocks noChangeAspect="1"/>
          </p:cNvGraphicFramePr>
          <p:nvPr>
            <p:custDataLst>
              <p:tags r:id="rId2"/>
            </p:custDataLst>
          </p:nvPr>
        </p:nvGraphicFramePr>
        <p:xfrm>
          <a:off x="1475740" y="3356928"/>
          <a:ext cx="4037013" cy="863600"/>
        </p:xfrm>
        <a:graphic>
          <a:graphicData uri="http://schemas.openxmlformats.org/presentationml/2006/ole">
            <mc:AlternateContent xmlns:mc="http://schemas.openxmlformats.org/markup-compatibility/2006">
              <mc:Choice xmlns:v="urn:schemas-microsoft-com:vml" Requires="v">
                <p:oleObj spid="_x0000_s4" name="" r:id="rId3" imgW="2019300" imgH="431800" progId="Equation.3">
                  <p:embed/>
                </p:oleObj>
              </mc:Choice>
              <mc:Fallback>
                <p:oleObj name="" r:id="rId3" imgW="2019300" imgH="431800" progId="Equation.3">
                  <p:embed/>
                  <p:pic>
                    <p:nvPicPr>
                      <p:cNvPr id="0" name="图片 3092"/>
                      <p:cNvPicPr/>
                      <p:nvPr/>
                    </p:nvPicPr>
                    <p:blipFill>
                      <a:blip r:embed="rId4"/>
                      <a:stretch>
                        <a:fillRect/>
                      </a:stretch>
                    </p:blipFill>
                    <p:spPr>
                      <a:xfrm>
                        <a:off x="1475740" y="3356928"/>
                        <a:ext cx="4037013" cy="863600"/>
                      </a:xfrm>
                      <a:prstGeom prst="rect">
                        <a:avLst/>
                      </a:prstGeom>
                      <a:noFill/>
                      <a:ln w="38100">
                        <a:noFill/>
                        <a:miter/>
                      </a:ln>
                    </p:spPr>
                  </p:pic>
                </p:oleObj>
              </mc:Fallback>
            </mc:AlternateContent>
          </a:graphicData>
        </a:graphic>
      </p:graphicFrame>
      <p:graphicFrame>
        <p:nvGraphicFramePr>
          <p:cNvPr id="58374" name="Object 29"/>
          <p:cNvGraphicFramePr>
            <a:graphicFrameLocks noChangeAspect="1"/>
          </p:cNvGraphicFramePr>
          <p:nvPr>
            <p:custDataLst>
              <p:tags r:id="rId5"/>
            </p:custDataLst>
          </p:nvPr>
        </p:nvGraphicFramePr>
        <p:xfrm>
          <a:off x="1547495" y="4293235"/>
          <a:ext cx="5535613" cy="863600"/>
        </p:xfrm>
        <a:graphic>
          <a:graphicData uri="http://schemas.openxmlformats.org/presentationml/2006/ole">
            <mc:AlternateContent xmlns:mc="http://schemas.openxmlformats.org/markup-compatibility/2006">
              <mc:Choice xmlns:v="urn:schemas-microsoft-com:vml" Requires="v">
                <p:oleObj spid="_x0000_s5" name="" r:id="rId6" imgW="2768600" imgH="431800" progId="Equation.3">
                  <p:embed/>
                </p:oleObj>
              </mc:Choice>
              <mc:Fallback>
                <p:oleObj name="" r:id="rId6" imgW="2768600" imgH="431800" progId="Equation.3">
                  <p:embed/>
                  <p:pic>
                    <p:nvPicPr>
                      <p:cNvPr id="0" name="图片 3094"/>
                      <p:cNvPicPr/>
                      <p:nvPr/>
                    </p:nvPicPr>
                    <p:blipFill>
                      <a:blip r:embed="rId7"/>
                      <a:stretch>
                        <a:fillRect/>
                      </a:stretch>
                    </p:blipFill>
                    <p:spPr>
                      <a:xfrm>
                        <a:off x="1547495" y="4293235"/>
                        <a:ext cx="5535613" cy="863600"/>
                      </a:xfrm>
                      <a:prstGeom prst="rect">
                        <a:avLst/>
                      </a:prstGeom>
                      <a:noFill/>
                      <a:ln w="38100">
                        <a:noFill/>
                        <a:miter/>
                      </a:ln>
                    </p:spPr>
                  </p:pic>
                </p:oleObj>
              </mc:Fallback>
            </mc:AlternateContent>
          </a:graphicData>
        </a:graphic>
      </p:graphicFrame>
      <p:graphicFrame>
        <p:nvGraphicFramePr>
          <p:cNvPr id="58375" name="Object 31"/>
          <p:cNvGraphicFramePr>
            <a:graphicFrameLocks noChangeAspect="1"/>
          </p:cNvGraphicFramePr>
          <p:nvPr>
            <p:custDataLst>
              <p:tags r:id="rId8"/>
            </p:custDataLst>
          </p:nvPr>
        </p:nvGraphicFramePr>
        <p:xfrm>
          <a:off x="1547495" y="5085715"/>
          <a:ext cx="4519613" cy="1268413"/>
        </p:xfrm>
        <a:graphic>
          <a:graphicData uri="http://schemas.openxmlformats.org/presentationml/2006/ole">
            <mc:AlternateContent xmlns:mc="http://schemas.openxmlformats.org/markup-compatibility/2006">
              <mc:Choice xmlns:v="urn:schemas-microsoft-com:vml" Requires="v">
                <p:oleObj spid="_x0000_s6" name="" r:id="rId9" imgW="2260600" imgH="635000" progId="Equation.3">
                  <p:embed/>
                </p:oleObj>
              </mc:Choice>
              <mc:Fallback>
                <p:oleObj name="" r:id="rId9" imgW="2260600" imgH="635000" progId="Equation.3">
                  <p:embed/>
                  <p:pic>
                    <p:nvPicPr>
                      <p:cNvPr id="0" name="图片 3093"/>
                      <p:cNvPicPr/>
                      <p:nvPr/>
                    </p:nvPicPr>
                    <p:blipFill>
                      <a:blip r:embed="rId10"/>
                      <a:stretch>
                        <a:fillRect/>
                      </a:stretch>
                    </p:blipFill>
                    <p:spPr>
                      <a:xfrm>
                        <a:off x="1547495" y="5085715"/>
                        <a:ext cx="4519613" cy="1268413"/>
                      </a:xfrm>
                      <a:prstGeom prst="rect">
                        <a:avLst/>
                      </a:prstGeom>
                      <a:noFill/>
                      <a:ln w="38100">
                        <a:noFill/>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3</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如果FP操作的比例为25%，FP操作的平均CPI=4.0，其它指令的平均CPI为1.33，FPSQR操作的比例为2%，FPSQR的CPI为20。</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假设有两种设计方案：</a:t>
            </a:r>
            <a:endParaRPr lang="zh-CN" altLang="en-US" sz="24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a:t>
            </a:r>
            <a:r>
              <a:rPr lang="en-US" altLang="zh-CN" sz="2055">
                <a:latin typeface="Times New Roman" panose="02020603050405020304" pitchFamily="18" charset="0"/>
                <a:cs typeface="Times New Roman" panose="02020603050405020304" pitchFamily="18" charset="0"/>
                <a:sym typeface="+mn-ea"/>
              </a:rPr>
              <a:t>1</a:t>
            </a:r>
            <a:r>
              <a:rPr lang="zh-CN" altLang="en-US" sz="2055">
                <a:latin typeface="Times New Roman" panose="02020603050405020304" pitchFamily="18" charset="0"/>
                <a:cs typeface="Times New Roman" panose="02020603050405020304" pitchFamily="18" charset="0"/>
                <a:sym typeface="+mn-ea"/>
              </a:rPr>
              <a:t>）把FPSQR操作的CPI减为2；</a:t>
            </a:r>
            <a:endParaRPr lang="zh-CN" altLang="en-US" sz="2055">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a:t>
            </a:r>
            <a:r>
              <a:rPr lang="en-US" altLang="zh-CN" sz="2055">
                <a:latin typeface="Times New Roman" panose="02020603050405020304" pitchFamily="18" charset="0"/>
                <a:cs typeface="Times New Roman" panose="02020603050405020304" pitchFamily="18" charset="0"/>
                <a:sym typeface="+mn-ea"/>
              </a:rPr>
              <a:t>2</a:t>
            </a:r>
            <a:r>
              <a:rPr lang="zh-CN" altLang="en-US" sz="2055">
                <a:latin typeface="Times New Roman" panose="02020603050405020304" pitchFamily="18" charset="0"/>
                <a:cs typeface="Times New Roman" panose="02020603050405020304" pitchFamily="18" charset="0"/>
                <a:sym typeface="+mn-ea"/>
              </a:rPr>
              <a:t>）把所有FP操作的CPI减为2。</a:t>
            </a:r>
            <a:endParaRPr lang="zh-CN" altLang="en-US" sz="2055">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试利用CPU性能公式比较这两种设计方案哪一个更好(只改变CPI而时钟频率和指令条数保持不变)。</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3</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解：原系统的CPI原=25%×4+75%×1.33=2</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方案1(使FPSQR操作的CPI为2)系统</a:t>
            </a:r>
            <a:endParaRPr lang="zh-CN" altLang="en-US" sz="24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CPI=CPI原-2%×(20-2)=2-2%×18=</a:t>
            </a:r>
            <a:r>
              <a:rPr lang="zh-CN" altLang="en-US" sz="2055" b="1">
                <a:solidFill>
                  <a:srgbClr val="FF0000"/>
                </a:solidFill>
                <a:latin typeface="Times New Roman" panose="02020603050405020304" pitchFamily="18" charset="0"/>
                <a:cs typeface="Times New Roman" panose="02020603050405020304" pitchFamily="18" charset="0"/>
                <a:sym typeface="+mn-ea"/>
              </a:rPr>
              <a:t>1.64</a:t>
            </a:r>
            <a:endParaRPr lang="zh-CN" altLang="en-US" sz="2055">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方案2(提高所有FP指令的处理速度)系统</a:t>
            </a:r>
            <a:endParaRPr lang="zh-CN" altLang="en-US" sz="24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CPI=CPI原-25%×(4-2)=2-25%×2=</a:t>
            </a:r>
            <a:r>
              <a:rPr lang="zh-CN" altLang="en-US" sz="2055" b="1">
                <a:solidFill>
                  <a:srgbClr val="FF0000"/>
                </a:solidFill>
                <a:latin typeface="Times New Roman" panose="02020603050405020304" pitchFamily="18" charset="0"/>
                <a:cs typeface="Times New Roman" panose="02020603050405020304" pitchFamily="18" charset="0"/>
                <a:sym typeface="+mn-ea"/>
              </a:rPr>
              <a:t>1.5</a:t>
            </a:r>
            <a:endParaRPr lang="zh-CN" altLang="en-US" sz="2055">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方案2也可根据以下公式计算出CPI</a:t>
            </a:r>
            <a:endParaRPr lang="zh-CN" altLang="en-US" sz="2400">
              <a:latin typeface="Times New Roman" panose="02020603050405020304" pitchFamily="18" charset="0"/>
              <a:cs typeface="Times New Roman" panose="02020603050405020304" pitchFamily="18" charset="0"/>
              <a:sym typeface="+mn-ea"/>
            </a:endParaRPr>
          </a:p>
          <a:p>
            <a:pPr lvl="2" latinLnBrk="0">
              <a:spcBef>
                <a:spcPts val="1200"/>
              </a:spcBef>
            </a:pPr>
            <a:r>
              <a:rPr lang="zh-CN" altLang="en-US" sz="2055">
                <a:latin typeface="Times New Roman" panose="02020603050405020304" pitchFamily="18" charset="0"/>
                <a:cs typeface="Times New Roman" panose="02020603050405020304" pitchFamily="18" charset="0"/>
                <a:sym typeface="+mn-ea"/>
              </a:rPr>
              <a:t>CPI= 75%×1.33+25%×2=1.5</a:t>
            </a:r>
            <a:endParaRPr lang="zh-CN" altLang="en-US" sz="2055">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显然，提高所有FP指令处理速度的方案要比提高FPSQR处理速度的方案要好。</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395">
                <a:latin typeface="Times New Roman" panose="02020603050405020304" pitchFamily="18" charset="0"/>
                <a:cs typeface="Times New Roman" panose="02020603050405020304" pitchFamily="18" charset="0"/>
                <a:sym typeface="+mn-ea"/>
              </a:rPr>
              <a:t>方案2的加速比</a:t>
            </a:r>
            <a:r>
              <a:rPr lang="zh-CN" altLang="en-US" sz="2395">
                <a:solidFill>
                  <a:srgbClr val="FF0000"/>
                </a:solidFill>
                <a:latin typeface="Times New Roman" panose="02020603050405020304" pitchFamily="18" charset="0"/>
                <a:cs typeface="Times New Roman" panose="02020603050405020304" pitchFamily="18" charset="0"/>
                <a:sym typeface="+mn-ea"/>
              </a:rPr>
              <a:t>Sn=2/1.5= 1.33</a:t>
            </a:r>
            <a:endParaRPr lang="zh-CN" altLang="en-US" sz="2395">
              <a:solidFill>
                <a:srgbClr val="FF0000"/>
              </a:solidFill>
              <a:latin typeface="Times New Roman" panose="02020603050405020304" pitchFamily="18" charset="0"/>
              <a:cs typeface="Times New Roman" panose="02020603050405020304" pitchFamily="18" charset="0"/>
              <a:sym typeface="+mn-ea"/>
            </a:endParaRPr>
          </a:p>
          <a:p>
            <a:pPr lvl="1" latinLnBrk="0">
              <a:spcBef>
                <a:spcPts val="1200"/>
              </a:spcBef>
            </a:pPr>
            <a:endParaRPr lang="zh-CN" altLang="en-US" sz="2395">
              <a:solidFill>
                <a:srgbClr val="FF000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例1.4</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309370"/>
            <a:ext cx="822960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假设两台机器的指令系统中，执行条件转移指令需2个时钟周期，而其它指令只需1个时钟周期。</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CPU</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采用一条</a:t>
            </a:r>
            <a:r>
              <a:rPr lang="zh-CN" altLang="en-US" sz="2000">
                <a:solidFill>
                  <a:srgbClr val="FF0000"/>
                </a:solidFill>
                <a:latin typeface="Times New Roman" panose="02020603050405020304" pitchFamily="18" charset="0"/>
                <a:cs typeface="Times New Roman" panose="02020603050405020304" pitchFamily="18" charset="0"/>
                <a:sym typeface="+mn-ea"/>
              </a:rPr>
              <a:t>比较指令</a:t>
            </a:r>
            <a:r>
              <a:rPr lang="zh-CN" altLang="en-US" sz="2000">
                <a:latin typeface="Times New Roman" panose="02020603050405020304" pitchFamily="18" charset="0"/>
                <a:cs typeface="Times New Roman" panose="02020603050405020304" pitchFamily="18" charset="0"/>
                <a:sym typeface="+mn-ea"/>
              </a:rPr>
              <a:t>来设置相应的条件码，由紧随其后的一条</a:t>
            </a:r>
            <a:r>
              <a:rPr lang="zh-CN" altLang="en-US" sz="2000">
                <a:solidFill>
                  <a:srgbClr val="FF0000"/>
                </a:solidFill>
                <a:latin typeface="Times New Roman" panose="02020603050405020304" pitchFamily="18" charset="0"/>
                <a:cs typeface="Times New Roman" panose="02020603050405020304" pitchFamily="18" charset="0"/>
                <a:sym typeface="+mn-ea"/>
              </a:rPr>
              <a:t>转移指令</a:t>
            </a:r>
            <a:r>
              <a:rPr lang="zh-CN" altLang="en-US" sz="2000">
                <a:latin typeface="Times New Roman" panose="02020603050405020304" pitchFamily="18" charset="0"/>
                <a:cs typeface="Times New Roman" panose="02020603050405020304" pitchFamily="18" charset="0"/>
                <a:sym typeface="+mn-ea"/>
              </a:rPr>
              <a:t>对此条件码进行测试，以确定是否进行转移。</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latin typeface="Times New Roman" panose="02020603050405020304" pitchFamily="18" charset="0"/>
                <a:cs typeface="Times New Roman" panose="02020603050405020304" pitchFamily="18" charset="0"/>
                <a:sym typeface="+mn-ea"/>
              </a:rPr>
              <a:t>显然实现一次条件转移要执行比较和转移两条指令。</a:t>
            </a:r>
            <a:endParaRPr lang="zh-CN" altLang="en-US" sz="171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solidFill>
                  <a:srgbClr val="FF0000"/>
                </a:solidFill>
                <a:latin typeface="Times New Roman" panose="02020603050405020304" pitchFamily="18" charset="0"/>
                <a:cs typeface="Times New Roman" panose="02020603050405020304" pitchFamily="18" charset="0"/>
                <a:sym typeface="+mn-ea"/>
              </a:rPr>
              <a:t>转移指令占总执行指令条数的20%。</a:t>
            </a:r>
            <a:endParaRPr lang="zh-CN" altLang="en-US" sz="171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latin typeface="Times New Roman" panose="02020603050405020304" pitchFamily="18" charset="0"/>
                <a:cs typeface="Times New Roman" panose="02020603050405020304" pitchFamily="18" charset="0"/>
                <a:sym typeface="+mn-ea"/>
              </a:rPr>
              <a:t>由于每条转移指令都需要一条比较指令，所以比较指令也将占20%。</a:t>
            </a:r>
            <a:endParaRPr lang="zh-CN" altLang="en-US" sz="171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000">
                <a:latin typeface="Times New Roman" panose="02020603050405020304" pitchFamily="18" charset="0"/>
                <a:cs typeface="Times New Roman" panose="02020603050405020304" pitchFamily="18" charset="0"/>
                <a:sym typeface="+mn-ea"/>
              </a:rPr>
              <a:t>CPU</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采用比较功能和判别是否实现转移功能合在一条指令的方法</a:t>
            </a:r>
            <a:endParaRPr lang="zh-CN" altLang="en-US" sz="200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latin typeface="Times New Roman" panose="02020603050405020304" pitchFamily="18" charset="0"/>
                <a:cs typeface="Times New Roman" panose="02020603050405020304" pitchFamily="18" charset="0"/>
                <a:sym typeface="+mn-ea"/>
              </a:rPr>
              <a:t>实现一次条件转移就只需一条指令就可以完成。</a:t>
            </a:r>
            <a:endParaRPr lang="zh-CN" altLang="en-US" sz="1710">
              <a:latin typeface="Times New Roman" panose="02020603050405020304" pitchFamily="18" charset="0"/>
              <a:cs typeface="Times New Roman" panose="02020603050405020304" pitchFamily="18" charset="0"/>
              <a:sym typeface="+mn-ea"/>
            </a:endParaRPr>
          </a:p>
          <a:p>
            <a:pPr lvl="2" latinLnBrk="0">
              <a:spcBef>
                <a:spcPts val="600"/>
              </a:spcBef>
            </a:pPr>
            <a:r>
              <a:rPr lang="zh-CN" altLang="en-US" sz="1710">
                <a:latin typeface="Times New Roman" panose="02020603050405020304" pitchFamily="18" charset="0"/>
                <a:cs typeface="Times New Roman" panose="02020603050405020304" pitchFamily="18" charset="0"/>
                <a:sym typeface="+mn-ea"/>
              </a:rPr>
              <a:t>CPU</a:t>
            </a:r>
            <a:r>
              <a:rPr lang="zh-CN" altLang="en-US" sz="1710" baseline="-25000">
                <a:latin typeface="Times New Roman" panose="02020603050405020304" pitchFamily="18" charset="0"/>
                <a:cs typeface="Times New Roman" panose="02020603050405020304" pitchFamily="18" charset="0"/>
                <a:sym typeface="+mn-ea"/>
              </a:rPr>
              <a:t>B</a:t>
            </a:r>
            <a:r>
              <a:rPr lang="zh-CN" altLang="en-US" sz="1710">
                <a:latin typeface="Times New Roman" panose="02020603050405020304" pitchFamily="18" charset="0"/>
                <a:cs typeface="Times New Roman" panose="02020603050405020304" pitchFamily="18" charset="0"/>
                <a:sym typeface="+mn-ea"/>
              </a:rPr>
              <a:t>在转移指令中包含了比较功能，它的时钟周期比CPU</a:t>
            </a:r>
            <a:r>
              <a:rPr lang="zh-CN" altLang="en-US" sz="1710" baseline="-25000">
                <a:latin typeface="Times New Roman" panose="02020603050405020304" pitchFamily="18" charset="0"/>
                <a:cs typeface="Times New Roman" panose="02020603050405020304" pitchFamily="18" charset="0"/>
                <a:sym typeface="+mn-ea"/>
              </a:rPr>
              <a:t>A</a:t>
            </a:r>
            <a:r>
              <a:rPr lang="zh-CN" altLang="en-US" sz="1710">
                <a:latin typeface="Times New Roman" panose="02020603050405020304" pitchFamily="18" charset="0"/>
                <a:cs typeface="Times New Roman" panose="02020603050405020304" pitchFamily="18" charset="0"/>
                <a:sym typeface="+mn-ea"/>
              </a:rPr>
              <a:t>慢25%。</a:t>
            </a:r>
            <a:endParaRPr lang="zh-CN" altLang="en-US" sz="171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采用不同转移指令方案的CPU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和CPU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a:t>
            </a:r>
            <a:r>
              <a:rPr lang="zh-CN" altLang="en-US" sz="2400">
                <a:latin typeface="Times New Roman" panose="02020603050405020304" pitchFamily="18" charset="0"/>
                <a:cs typeface="Times New Roman" panose="02020603050405020304" pitchFamily="18" charset="0"/>
                <a:sym typeface="+mn-ea"/>
              </a:rPr>
              <a:t>哪个工作速度会更快些？</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4</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custDataLst>
              <p:tags r:id="rId1"/>
            </p:custDataLst>
          </p:nvPr>
        </p:nvSpPr>
        <p:spPr>
          <a:xfrm>
            <a:off x="395605" y="1136015"/>
            <a:ext cx="8229600" cy="5478145"/>
          </a:xfrm>
        </p:spPr>
        <p:txBody>
          <a:bodyPr/>
          <a:lstStyle/>
          <a:p>
            <a:pPr latinLnBrk="0">
              <a:spcBef>
                <a:spcPts val="600"/>
              </a:spcBef>
            </a:pPr>
            <a:r>
              <a:rPr lang="zh-CN" altLang="en-US" sz="2400">
                <a:latin typeface="Times New Roman" panose="02020603050405020304" pitchFamily="18" charset="0"/>
                <a:cs typeface="Times New Roman" panose="02020603050405020304" pitchFamily="18" charset="0"/>
                <a:sym typeface="+mn-ea"/>
              </a:rPr>
              <a:t>解：执行条件转移指令需2个时钟周期，而其它指令只需1个时钟周期</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CPU</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条件转移指令占总执行指令条数的20%</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CPI</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=0.2×2+(1-0.2)×1=1.2</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T</a:t>
            </a:r>
            <a:r>
              <a:rPr lang="zh-CN" altLang="en-US" sz="2000" baseline="-25000">
                <a:latin typeface="Times New Roman" panose="02020603050405020304" pitchFamily="18" charset="0"/>
                <a:cs typeface="Times New Roman" panose="02020603050405020304" pitchFamily="18" charset="0"/>
                <a:sym typeface="+mn-ea"/>
              </a:rPr>
              <a:t>CPUA</a:t>
            </a:r>
            <a:r>
              <a:rPr lang="zh-CN" altLang="en-US" sz="2000">
                <a:latin typeface="Times New Roman" panose="02020603050405020304" pitchFamily="18" charset="0"/>
                <a:cs typeface="Times New Roman" panose="02020603050405020304" pitchFamily="18" charset="0"/>
                <a:sym typeface="+mn-ea"/>
              </a:rPr>
              <a:t>=IC</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×1.2×t</a:t>
            </a:r>
            <a:r>
              <a:rPr lang="zh-CN" altLang="en-US" sz="2000" baseline="-25000">
                <a:latin typeface="Times New Roman" panose="02020603050405020304" pitchFamily="18" charset="0"/>
                <a:cs typeface="Times New Roman" panose="02020603050405020304" pitchFamily="18" charset="0"/>
                <a:sym typeface="+mn-ea"/>
              </a:rPr>
              <a:t>A</a:t>
            </a:r>
            <a:endParaRPr lang="zh-CN" altLang="en-US" sz="20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由于CPU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中没有比较指令，因此IC</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 = 0.8×IC</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a:t>
            </a:r>
            <a:endParaRPr lang="zh-CN" altLang="en-US" sz="2400">
              <a:latin typeface="Times New Roman" panose="02020603050405020304" pitchFamily="18" charset="0"/>
              <a:cs typeface="Times New Roman" panose="02020603050405020304" pitchFamily="18" charset="0"/>
              <a:sym typeface="+mn-ea"/>
            </a:endParaRPr>
          </a:p>
          <a:p>
            <a:pPr lvl="1" algn="l" latinLnBrk="0">
              <a:spcBef>
                <a:spcPts val="600"/>
              </a:spcBef>
              <a:buSzTx/>
            </a:pPr>
            <a:r>
              <a:rPr lang="zh-CN" altLang="en-US" sz="2000">
                <a:latin typeface="Times New Roman" panose="02020603050405020304" pitchFamily="18" charset="0"/>
                <a:cs typeface="Times New Roman" panose="02020603050405020304" pitchFamily="18" charset="0"/>
                <a:sym typeface="+mn-ea"/>
              </a:rPr>
              <a:t>CPUB转移指令比例为20%÷80%=25%</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CPI</a:t>
            </a:r>
            <a:r>
              <a:rPr lang="zh-CN" altLang="en-US" sz="2000" baseline="-25000">
                <a:latin typeface="Times New Roman" panose="02020603050405020304" pitchFamily="18" charset="0"/>
                <a:cs typeface="Times New Roman" panose="02020603050405020304" pitchFamily="18" charset="0"/>
                <a:sym typeface="+mn-ea"/>
              </a:rPr>
              <a:t>B </a:t>
            </a:r>
            <a:r>
              <a:rPr lang="zh-CN" altLang="en-US" sz="2000">
                <a:latin typeface="Times New Roman" panose="02020603050405020304" pitchFamily="18" charset="0"/>
                <a:cs typeface="Times New Roman" panose="02020603050405020304" pitchFamily="18" charset="0"/>
                <a:sym typeface="+mn-ea"/>
              </a:rPr>
              <a:t>= 0.25×2+(1-0.25)×1=1.25</a:t>
            </a:r>
            <a:endParaRPr lang="zh-CN" altLang="en-US" sz="20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时钟周期就比CPU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要慢25% </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t </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 = 1.25t</a:t>
            </a:r>
            <a:r>
              <a:rPr lang="zh-CN" altLang="en-US" sz="2000" baseline="-25000">
                <a:latin typeface="Times New Roman" panose="02020603050405020304" pitchFamily="18" charset="0"/>
                <a:cs typeface="Times New Roman" panose="02020603050405020304" pitchFamily="18" charset="0"/>
                <a:sym typeface="+mn-ea"/>
              </a:rPr>
              <a:t>A</a:t>
            </a:r>
            <a:endParaRPr lang="zh-CN" altLang="en-US" sz="200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a:latin typeface="Times New Roman" panose="02020603050405020304" pitchFamily="18" charset="0"/>
                <a:cs typeface="Times New Roman" panose="02020603050405020304" pitchFamily="18" charset="0"/>
                <a:sym typeface="+mn-ea"/>
              </a:rPr>
              <a:t>T</a:t>
            </a:r>
            <a:r>
              <a:rPr lang="zh-CN" altLang="en-US" sz="2000" baseline="-25000">
                <a:latin typeface="Times New Roman" panose="02020603050405020304" pitchFamily="18" charset="0"/>
                <a:cs typeface="Times New Roman" panose="02020603050405020304" pitchFamily="18" charset="0"/>
                <a:sym typeface="+mn-ea"/>
              </a:rPr>
              <a:t>CPUB</a:t>
            </a:r>
            <a:r>
              <a:rPr lang="zh-CN" altLang="en-US" sz="2000">
                <a:latin typeface="Times New Roman" panose="02020603050405020304" pitchFamily="18" charset="0"/>
                <a:cs typeface="Times New Roman" panose="02020603050405020304" pitchFamily="18" charset="0"/>
                <a:sym typeface="+mn-ea"/>
              </a:rPr>
              <a:t> = IC</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×CPI</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×t</a:t>
            </a:r>
            <a:r>
              <a:rPr lang="zh-CN" altLang="en-US" sz="2000" baseline="-25000">
                <a:latin typeface="Times New Roman" panose="02020603050405020304" pitchFamily="18" charset="0"/>
                <a:cs typeface="Times New Roman" panose="02020603050405020304" pitchFamily="18" charset="0"/>
                <a:sym typeface="+mn-ea"/>
              </a:rPr>
              <a:t>B</a:t>
            </a:r>
            <a:r>
              <a:rPr lang="zh-CN" altLang="en-US" sz="2000">
                <a:latin typeface="Times New Roman" panose="02020603050405020304" pitchFamily="18" charset="0"/>
                <a:cs typeface="Times New Roman" panose="02020603050405020304" pitchFamily="18" charset="0"/>
                <a:sym typeface="+mn-ea"/>
              </a:rPr>
              <a:t>  = 0.8 IC</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×1.25×1.25t</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 = 1.25 IC</a:t>
            </a:r>
            <a:r>
              <a:rPr lang="zh-CN" altLang="en-US" sz="2000" baseline="-25000">
                <a:latin typeface="Times New Roman" panose="02020603050405020304" pitchFamily="18" charset="0"/>
                <a:cs typeface="Times New Roman" panose="02020603050405020304" pitchFamily="18" charset="0"/>
                <a:sym typeface="+mn-ea"/>
              </a:rPr>
              <a:t>A</a:t>
            </a:r>
            <a:r>
              <a:rPr lang="zh-CN" altLang="en-US" sz="2000">
                <a:latin typeface="Times New Roman" panose="02020603050405020304" pitchFamily="18" charset="0"/>
                <a:cs typeface="Times New Roman" panose="02020603050405020304" pitchFamily="18" charset="0"/>
                <a:sym typeface="+mn-ea"/>
              </a:rPr>
              <a:t>×t</a:t>
            </a:r>
            <a:r>
              <a:rPr lang="zh-CN" altLang="en-US" sz="2000" baseline="-25000">
                <a:latin typeface="Times New Roman" panose="02020603050405020304" pitchFamily="18" charset="0"/>
                <a:cs typeface="Times New Roman" panose="02020603050405020304" pitchFamily="18" charset="0"/>
                <a:sym typeface="+mn-ea"/>
              </a:rPr>
              <a:t>A</a:t>
            </a:r>
            <a:endParaRPr lang="zh-CN" altLang="en-US" sz="20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T</a:t>
            </a:r>
            <a:r>
              <a:rPr lang="zh-CN" altLang="en-US" sz="2400" baseline="-25000">
                <a:latin typeface="Times New Roman" panose="02020603050405020304" pitchFamily="18" charset="0"/>
                <a:cs typeface="Times New Roman" panose="02020603050405020304" pitchFamily="18" charset="0"/>
                <a:sym typeface="+mn-ea"/>
              </a:rPr>
              <a:t>CPUA</a:t>
            </a:r>
            <a:r>
              <a:rPr lang="zh-CN" altLang="en-US" sz="2400">
                <a:latin typeface="Times New Roman" panose="02020603050405020304" pitchFamily="18" charset="0"/>
                <a:cs typeface="Times New Roman" panose="02020603050405020304" pitchFamily="18" charset="0"/>
                <a:sym typeface="+mn-ea"/>
              </a:rPr>
              <a:t>比T</a:t>
            </a:r>
            <a:r>
              <a:rPr lang="zh-CN" altLang="en-US" sz="2400" baseline="-25000">
                <a:latin typeface="Times New Roman" panose="02020603050405020304" pitchFamily="18" charset="0"/>
                <a:cs typeface="Times New Roman" panose="02020603050405020304" pitchFamily="18" charset="0"/>
                <a:sym typeface="+mn-ea"/>
              </a:rPr>
              <a:t>CPUB</a:t>
            </a:r>
            <a:r>
              <a:rPr lang="zh-CN" altLang="en-US" sz="2400">
                <a:latin typeface="Times New Roman" panose="02020603050405020304" pitchFamily="18" charset="0"/>
                <a:cs typeface="Times New Roman" panose="02020603050405020304" pitchFamily="18" charset="0"/>
                <a:sym typeface="+mn-ea"/>
              </a:rPr>
              <a:t>小，所以CPU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比CPU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运行得更快些</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例1.5</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395605" y="1309370"/>
            <a:ext cx="839343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在例1.4中，如果CPU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的时钟周期只比CPU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的慢10%，那么哪一个CPU会工作得更快些？</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例1.5</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395605" y="1309370"/>
            <a:ext cx="8393430" cy="530479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sym typeface="+mn-ea"/>
              </a:rPr>
              <a:t>在例1.4中，如果CPU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的时钟周期只比CPU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的慢10%，那么哪一个CPU会工作得更快些？</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解：T</a:t>
            </a:r>
            <a:r>
              <a:rPr lang="zh-CN" altLang="en-US" sz="2400" baseline="-25000">
                <a:latin typeface="Times New Roman" panose="02020603050405020304" pitchFamily="18" charset="0"/>
                <a:cs typeface="Times New Roman" panose="02020603050405020304" pitchFamily="18" charset="0"/>
                <a:sym typeface="+mn-ea"/>
              </a:rPr>
              <a:t>CPUA</a:t>
            </a:r>
            <a:r>
              <a:rPr lang="zh-CN" altLang="en-US" sz="2400">
                <a:latin typeface="Times New Roman" panose="02020603050405020304" pitchFamily="18" charset="0"/>
                <a:cs typeface="Times New Roman" panose="02020603050405020304" pitchFamily="18" charset="0"/>
                <a:sym typeface="+mn-ea"/>
              </a:rPr>
              <a:t> = 1.2IC</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 ×t</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 , 因t</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 = 1.10t</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，所以</a:t>
            </a:r>
            <a:endParaRPr lang="zh-CN" altLang="en-US" sz="24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T</a:t>
            </a:r>
            <a:r>
              <a:rPr lang="zh-CN" altLang="en-US" sz="2400" baseline="-25000">
                <a:latin typeface="Times New Roman" panose="02020603050405020304" pitchFamily="18" charset="0"/>
                <a:cs typeface="Times New Roman" panose="02020603050405020304" pitchFamily="18" charset="0"/>
                <a:sym typeface="+mn-ea"/>
              </a:rPr>
              <a:t>CPUB</a:t>
            </a:r>
            <a:r>
              <a:rPr lang="zh-CN" altLang="en-US" sz="2400">
                <a:latin typeface="Times New Roman" panose="02020603050405020304" pitchFamily="18" charset="0"/>
                <a:cs typeface="Times New Roman" panose="02020603050405020304" pitchFamily="18" charset="0"/>
                <a:sym typeface="+mn-ea"/>
              </a:rPr>
              <a:t> = 0.8 IC</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×1.25×1.10t</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 1.10 IC</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 ×t</a:t>
            </a:r>
            <a:r>
              <a:rPr lang="zh-CN" altLang="en-US" sz="2400" baseline="-25000">
                <a:latin typeface="Times New Roman" panose="02020603050405020304" pitchFamily="18" charset="0"/>
                <a:cs typeface="Times New Roman" panose="02020603050405020304" pitchFamily="18" charset="0"/>
                <a:sym typeface="+mn-ea"/>
              </a:rPr>
              <a:t>A</a:t>
            </a:r>
            <a:endParaRPr lang="zh-CN" altLang="en-US" sz="2400" baseline="-25000">
              <a:latin typeface="Times New Roman" panose="02020603050405020304" pitchFamily="18" charset="0"/>
              <a:cs typeface="Times New Roman" panose="02020603050405020304" pitchFamily="18" charset="0"/>
              <a:sym typeface="+mn-ea"/>
            </a:endParaRPr>
          </a:p>
          <a:p>
            <a:pPr lvl="1" latinLnBrk="0">
              <a:spcBef>
                <a:spcPts val="1200"/>
              </a:spcBef>
            </a:pPr>
            <a:r>
              <a:rPr lang="zh-CN" altLang="en-US" sz="2400">
                <a:latin typeface="Times New Roman" panose="02020603050405020304" pitchFamily="18" charset="0"/>
                <a:cs typeface="Times New Roman" panose="02020603050405020304" pitchFamily="18" charset="0"/>
                <a:sym typeface="+mn-ea"/>
              </a:rPr>
              <a:t>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所需时间较少，所以CPU</a:t>
            </a:r>
            <a:r>
              <a:rPr lang="zh-CN" altLang="en-US" sz="2400" baseline="-25000">
                <a:latin typeface="Times New Roman" panose="02020603050405020304" pitchFamily="18" charset="0"/>
                <a:cs typeface="Times New Roman" panose="02020603050405020304" pitchFamily="18" charset="0"/>
                <a:sym typeface="+mn-ea"/>
              </a:rPr>
              <a:t>B</a:t>
            </a:r>
            <a:r>
              <a:rPr lang="zh-CN" altLang="en-US" sz="2400">
                <a:latin typeface="Times New Roman" panose="02020603050405020304" pitchFamily="18" charset="0"/>
                <a:cs typeface="Times New Roman" panose="02020603050405020304" pitchFamily="18" charset="0"/>
                <a:sym typeface="+mn-ea"/>
              </a:rPr>
              <a:t>比CPU</a:t>
            </a:r>
            <a:r>
              <a:rPr lang="zh-CN" altLang="en-US" sz="2400" baseline="-25000">
                <a:latin typeface="Times New Roman" panose="02020603050405020304" pitchFamily="18" charset="0"/>
                <a:cs typeface="Times New Roman" panose="02020603050405020304" pitchFamily="18" charset="0"/>
                <a:sym typeface="+mn-ea"/>
              </a:rPr>
              <a:t>A</a:t>
            </a:r>
            <a:r>
              <a:rPr lang="zh-CN" altLang="en-US" sz="2400">
                <a:latin typeface="Times New Roman" panose="02020603050405020304" pitchFamily="18" charset="0"/>
                <a:cs typeface="Times New Roman" panose="02020603050405020304" pitchFamily="18" charset="0"/>
                <a:sym typeface="+mn-ea"/>
              </a:rPr>
              <a:t>运行得更快些。</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2条指令合成1条</a:t>
            </a:r>
            <a:endParaRPr lang="zh-CN" altLang="en-US" sz="2400">
              <a:latin typeface="Times New Roman" panose="02020603050405020304" pitchFamily="18" charset="0"/>
              <a:cs typeface="Times New Roman" panose="02020603050405020304" pitchFamily="18" charset="0"/>
              <a:sym typeface="+mn-ea"/>
            </a:endParaRPr>
          </a:p>
          <a:p>
            <a:pPr latinLnBrk="0">
              <a:spcBef>
                <a:spcPts val="1200"/>
              </a:spcBef>
            </a:pPr>
            <a:r>
              <a:rPr lang="zh-CN" altLang="en-US" sz="2400">
                <a:latin typeface="Times New Roman" panose="02020603050405020304" pitchFamily="18" charset="0"/>
                <a:cs typeface="Times New Roman" panose="02020603050405020304" pitchFamily="18" charset="0"/>
                <a:sym typeface="+mn-ea"/>
              </a:rPr>
              <a:t>3个时钟周期的动作挤在2个时钟周期</a:t>
            </a:r>
            <a:endParaRPr lang="zh-CN" altLang="en-US" sz="240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练习</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文本框 3"/>
          <p:cNvSpPr txBox="1"/>
          <p:nvPr/>
        </p:nvSpPr>
        <p:spPr>
          <a:xfrm>
            <a:off x="466090" y="1484630"/>
            <a:ext cx="7910195" cy="4092575"/>
          </a:xfrm>
          <a:prstGeom prst="rect">
            <a:avLst/>
          </a:prstGeom>
          <a:noFill/>
        </p:spPr>
        <p:txBody>
          <a:bodyPr wrap="square" rtlCol="0" anchor="t">
            <a:spAutoFit/>
          </a:bodyPr>
          <a:p>
            <a:r>
              <a:rPr lang="en-US" altLang="zh-CN" sz="2400" b="1" kern="0">
                <a:solidFill>
                  <a:schemeClr val="hlink"/>
                </a:solidFill>
                <a:latin typeface="Times New Roman" panose="02020603050405020304" pitchFamily="18" charset="0"/>
                <a:ea typeface="+mn-ea"/>
                <a:cs typeface="Times New Roman" panose="02020603050405020304" pitchFamily="18" charset="0"/>
              </a:rPr>
              <a:t>1. </a:t>
            </a:r>
            <a:r>
              <a:rPr lang="zh-CN" altLang="en-US" sz="2400" b="1" kern="0">
                <a:solidFill>
                  <a:schemeClr val="hlink"/>
                </a:solidFill>
                <a:latin typeface="Times New Roman" panose="02020603050405020304" pitchFamily="18" charset="0"/>
                <a:ea typeface="+mn-ea"/>
                <a:cs typeface="Times New Roman" panose="02020603050405020304" pitchFamily="18" charset="0"/>
              </a:rPr>
              <a:t>如果某计算机系统有3个部件可以改进，则这3个部件经改进后达到的加速比分别为：S1=30,S2=20,S3=10。</a:t>
            </a:r>
            <a:endParaRPr lang="zh-CN" altLang="en-US" sz="2400" b="1" kern="0">
              <a:solidFill>
                <a:schemeClr val="hlink"/>
              </a:solidFill>
              <a:latin typeface="Times New Roman" panose="02020603050405020304" pitchFamily="18" charset="0"/>
              <a:ea typeface="+mn-ea"/>
              <a:cs typeface="Times New Roman" panose="02020603050405020304" pitchFamily="18" charset="0"/>
            </a:endParaRPr>
          </a:p>
          <a:p>
            <a:pPr marL="457200" indent="-457200">
              <a:spcBef>
                <a:spcPts val="1200"/>
              </a:spcBef>
              <a:buFont typeface="+mj-ea"/>
              <a:buAutoNum type="circleNumDbPlain"/>
            </a:pPr>
            <a:r>
              <a:rPr lang="zh-CN" altLang="en-US" sz="2400" b="1" kern="0">
                <a:solidFill>
                  <a:schemeClr val="hlink"/>
                </a:solidFill>
                <a:latin typeface="Times New Roman" panose="02020603050405020304" pitchFamily="18" charset="0"/>
                <a:ea typeface="+mn-ea"/>
                <a:cs typeface="Times New Roman" panose="02020603050405020304" pitchFamily="18" charset="0"/>
              </a:rPr>
              <a:t>如果部件1和部件2改进前的执行时间占整个系统执行时间的比例都为30%,那么,部件3改进前的执行时间占整个系统时间的比例为多少，才能使3个部件都改进后的整个系统的加速比Sn达到10?</a:t>
            </a:r>
            <a:endParaRPr lang="zh-CN" altLang="en-US" sz="2400" b="1" kern="0">
              <a:solidFill>
                <a:schemeClr val="hlink"/>
              </a:solidFill>
              <a:latin typeface="Times New Roman" panose="02020603050405020304" pitchFamily="18" charset="0"/>
              <a:ea typeface="+mn-ea"/>
              <a:cs typeface="Times New Roman" panose="02020603050405020304" pitchFamily="18" charset="0"/>
            </a:endParaRPr>
          </a:p>
          <a:p>
            <a:pPr marL="457200" indent="-457200">
              <a:spcBef>
                <a:spcPts val="1200"/>
              </a:spcBef>
              <a:buFont typeface="+mj-ea"/>
              <a:buAutoNum type="circleNumDbPlain"/>
            </a:pPr>
            <a:r>
              <a:rPr lang="zh-CN" altLang="en-US" sz="2400" b="1" kern="0">
                <a:solidFill>
                  <a:schemeClr val="hlink"/>
                </a:solidFill>
                <a:latin typeface="Times New Roman" panose="02020603050405020304" pitchFamily="18" charset="0"/>
                <a:ea typeface="+mn-ea"/>
                <a:cs typeface="Times New Roman" panose="02020603050405020304" pitchFamily="18" charset="0"/>
              </a:rPr>
              <a:t>如果3个部件改进前执行时间占整个系统执行时间的比例分别是30%、30%和20%,那么,3个部件都改进后系统的加速比是多少?未改进部件执行时间在改进后的系统执行时间中占的比例多少?</a:t>
            </a:r>
            <a:endParaRPr lang="zh-CN" altLang="en-US" sz="2400" b="1" kern="0">
              <a:solidFill>
                <a:schemeClr val="hlink"/>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AI claude 3.5 sonnet)</a:t>
            </a:r>
            <a:endParaRPr lang="en-US" altLang="zh-CN">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650240" y="1545590"/>
            <a:ext cx="7078345" cy="422338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解答</a:t>
            </a:r>
            <a:r>
              <a:rPr lang="zh-CN" altLang="en-US">
                <a:latin typeface="Times New Roman" panose="02020603050405020304" pitchFamily="18" charset="0"/>
                <a:cs typeface="Times New Roman" panose="02020603050405020304" pitchFamily="18" charset="0"/>
                <a:sym typeface="+mn-ea"/>
              </a:rPr>
              <a:t>（</a:t>
            </a:r>
            <a:r>
              <a:rPr lang="en-US" altLang="zh-CN">
                <a:latin typeface="Times New Roman" panose="02020603050405020304" pitchFamily="18" charset="0"/>
                <a:cs typeface="Times New Roman" panose="02020603050405020304" pitchFamily="18" charset="0"/>
                <a:sym typeface="+mn-ea"/>
              </a:rPr>
              <a:t>AI claude 3.5 sonnet)</a:t>
            </a:r>
            <a:endParaRPr lang="zh-CN" altLang="en-US"/>
          </a:p>
        </p:txBody>
      </p:sp>
      <p:pic>
        <p:nvPicPr>
          <p:cNvPr id="4" name="图片 3"/>
          <p:cNvPicPr>
            <a:picLocks noChangeAspect="1"/>
          </p:cNvPicPr>
          <p:nvPr/>
        </p:nvPicPr>
        <p:blipFill>
          <a:blip r:embed="rId1"/>
          <a:stretch>
            <a:fillRect/>
          </a:stretch>
        </p:blipFill>
        <p:spPr>
          <a:xfrm>
            <a:off x="611505" y="1484630"/>
            <a:ext cx="6193790" cy="43942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练习</a:t>
            </a:r>
            <a:endParaRPr lang="zh-CN" altLang="en-US"/>
          </a:p>
        </p:txBody>
      </p:sp>
      <p:sp>
        <p:nvSpPr>
          <p:cNvPr id="3" name="文本框 2"/>
          <p:cNvSpPr txBox="1"/>
          <p:nvPr/>
        </p:nvSpPr>
        <p:spPr>
          <a:xfrm>
            <a:off x="539750" y="1484630"/>
            <a:ext cx="7932420" cy="1198880"/>
          </a:xfrm>
          <a:prstGeom prst="rect">
            <a:avLst/>
          </a:prstGeom>
          <a:noFill/>
        </p:spPr>
        <p:txBody>
          <a:bodyPr wrap="square" rtlCol="0" anchor="t">
            <a:spAutoFit/>
          </a:bodyPr>
          <a:p>
            <a:pPr lvl="0" algn="l">
              <a:buClrTx/>
              <a:buSzTx/>
              <a:buFontTx/>
            </a:pPr>
            <a:r>
              <a:rPr lang="en-US" altLang="zh-CN" sz="2400" b="1" kern="0">
                <a:solidFill>
                  <a:schemeClr val="hlink"/>
                </a:solidFill>
                <a:latin typeface="Times New Roman" panose="02020603050405020304" pitchFamily="18" charset="0"/>
                <a:ea typeface="+mn-ea"/>
                <a:cs typeface="Times New Roman" panose="02020603050405020304" pitchFamily="18" charset="0"/>
                <a:sym typeface="+mn-ea"/>
              </a:rPr>
              <a:t>2</a:t>
            </a:r>
            <a:r>
              <a:rPr lang="en-US" altLang="zh-CN" sz="2400" b="1" kern="0">
                <a:solidFill>
                  <a:schemeClr val="hlink"/>
                </a:solidFill>
                <a:latin typeface="Times New Roman" panose="02020603050405020304" pitchFamily="18" charset="0"/>
                <a:ea typeface="+mn-ea"/>
                <a:cs typeface="Times New Roman" panose="02020603050405020304" pitchFamily="18" charset="0"/>
                <a:sym typeface="+mn-ea"/>
              </a:rPr>
              <a:t>. </a:t>
            </a:r>
            <a:r>
              <a:rPr lang="zh-CN" altLang="en-US" sz="2400" b="1" kern="0">
                <a:solidFill>
                  <a:schemeClr val="hlink"/>
                </a:solidFill>
                <a:latin typeface="Times New Roman" panose="02020603050405020304" pitchFamily="18" charset="0"/>
                <a:ea typeface="+mn-ea"/>
                <a:cs typeface="Times New Roman" panose="02020603050405020304" pitchFamily="18" charset="0"/>
                <a:sym typeface="+mn-ea"/>
              </a:rPr>
              <a:t>假设高速缓存Cache的工作速度为主存的5倍，且Cache被访问命中的概率为90%,那么,采用Cache后能使整个存储系统获得多高的加速比?</a:t>
            </a:r>
            <a:endParaRPr lang="zh-CN" altLang="en-US" sz="2400" b="1" kern="0">
              <a:solidFill>
                <a:schemeClr val="hlink"/>
              </a:solidFill>
              <a:latin typeface="Times New Roman" panose="02020603050405020304" pitchFamily="18" charset="0"/>
              <a:ea typeface="+mn-ea"/>
              <a:cs typeface="Times New Roman" panose="02020603050405020304" pitchFamily="18" charset="0"/>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539750" y="1340485"/>
            <a:ext cx="6313805" cy="4473575"/>
          </a:xfrm>
          <a:prstGeom prst="rect">
            <a:avLst/>
          </a:prstGeom>
        </p:spPr>
      </p:pic>
      <p:sp>
        <p:nvSpPr>
          <p:cNvPr id="5" name="标题 1"/>
          <p:cNvSpPr>
            <a:spLocks noGrp="1"/>
          </p:cNvSpPr>
          <p:nvPr/>
        </p:nvSpPr>
        <p:spPr>
          <a:xfrm>
            <a:off x="584200" y="401638"/>
            <a:ext cx="8229600" cy="1143000"/>
          </a:xfrm>
          <a:prstGeom prst="rect">
            <a:avLst/>
          </a:prstGeom>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r>
              <a:rPr lang="zh-CN" altLang="en-US">
                <a:sym typeface="+mn-ea"/>
              </a:rPr>
              <a:t>解答</a:t>
            </a:r>
            <a:r>
              <a:rPr lang="zh-CN" altLang="en-US">
                <a:latin typeface="Times New Roman" panose="02020603050405020304" pitchFamily="18" charset="0"/>
                <a:cs typeface="Times New Roman" panose="02020603050405020304" pitchFamily="18" charset="0"/>
                <a:sym typeface="+mn-ea"/>
              </a:rPr>
              <a:t>（</a:t>
            </a:r>
            <a:r>
              <a:rPr lang="en-US" altLang="zh-CN">
                <a:latin typeface="Times New Roman" panose="02020603050405020304" pitchFamily="18" charset="0"/>
                <a:cs typeface="Times New Roman" panose="02020603050405020304" pitchFamily="18" charset="0"/>
                <a:sym typeface="+mn-ea"/>
              </a:rPr>
              <a:t>AI claude 3.5 sonnet)</a:t>
            </a: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atinLnBrk="0">
              <a:spcBef>
                <a:spcPts val="1200"/>
              </a:spcBef>
            </a:pPr>
            <a:r>
              <a:rPr lang="zh-CN" altLang="en-US" sz="2400"/>
              <a:t>局部性分时间上的局部性和空间上的局部性</a:t>
            </a:r>
            <a:endParaRPr lang="zh-CN" altLang="en-US" sz="2400"/>
          </a:p>
          <a:p>
            <a:pPr lvl="1" latinLnBrk="0">
              <a:spcBef>
                <a:spcPts val="1200"/>
              </a:spcBef>
            </a:pPr>
            <a:r>
              <a:rPr lang="zh-CN" altLang="en-US" sz="2000"/>
              <a:t>时间局部性：最近访问过的代码是不久将被访问的代码</a:t>
            </a:r>
            <a:endParaRPr lang="zh-CN" altLang="en-US" sz="2000"/>
          </a:p>
          <a:p>
            <a:pPr lvl="1" latinLnBrk="0">
              <a:spcBef>
                <a:spcPts val="1200"/>
              </a:spcBef>
            </a:pPr>
            <a:r>
              <a:rPr lang="zh-CN" altLang="en-US" sz="2000"/>
              <a:t>空间局部性：那些地址上相邻的代码可能会被一起访问</a:t>
            </a:r>
            <a:endParaRPr lang="zh-CN" altLang="en-US" sz="2000"/>
          </a:p>
          <a:p>
            <a:pPr latinLnBrk="0">
              <a:spcBef>
                <a:spcPts val="1200"/>
              </a:spcBef>
            </a:pPr>
            <a:r>
              <a:rPr lang="zh-CN" altLang="en-US" sz="2400"/>
              <a:t>存储器体系的构成就是以访问的局部性原理为基础的</a:t>
            </a:r>
            <a:endParaRPr lang="zh-CN" altLang="en-US" sz="2400"/>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 访问的局部性原理(略)</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1575"/>
            <a:ext cx="8229600" cy="800735"/>
          </a:xfrm>
        </p:spPr>
        <p:txBody>
          <a:bodyPr/>
          <a:lstStyle/>
          <a:p>
            <a:r>
              <a:rPr lang="zh-CN" altLang="en-US" sz="2400"/>
              <a:t>1 根据用户要求进行需求分析</a:t>
            </a:r>
            <a:endParaRPr lang="zh-CN" altLang="en-US" sz="2400"/>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1.2.2 计算机系统设计者的主要任务</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6380" name="Group 60"/>
          <p:cNvGraphicFramePr>
            <a:graphicFrameLocks noGrp="1"/>
          </p:cNvGraphicFramePr>
          <p:nvPr>
            <p:custDataLst>
              <p:tags r:id="rId1"/>
            </p:custDataLst>
          </p:nvPr>
        </p:nvGraphicFramePr>
        <p:xfrm>
          <a:off x="1089025" y="1773555"/>
          <a:ext cx="6921500" cy="4654356"/>
        </p:xfrm>
        <a:graphic>
          <a:graphicData uri="http://schemas.openxmlformats.org/drawingml/2006/table">
            <a:tbl>
              <a:tblPr/>
              <a:tblGrid>
                <a:gridCol w="1717675"/>
                <a:gridCol w="5203825"/>
              </a:tblGrid>
              <a:tr h="33782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rPr>
                        <a:t>功能要求</a:t>
                      </a:r>
                      <a:endPar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rPr>
                        <a:t>应具备或支持的典型特性</a:t>
                      </a:r>
                      <a:endPar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7696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rPr>
                        <a:t>应用领域</a:t>
                      </a:r>
                      <a:endParaRPr kumimoji="0"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通用</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科学计算</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商用</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rPr>
                        <a:t>决定对计算机系统的性能要求</a:t>
                      </a:r>
                      <a:endPar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对一系列任务有较好的性能</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具有较好的浮点运算功能</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支持</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COBOL</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、数据库、和事务处理等功能</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3058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rPr>
                        <a:t>软件兼容级别</a:t>
                      </a:r>
                      <a:endParaRPr kumimoji="0"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编程语言级</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目标代码级</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rPr>
                        <a:t>决定机器可以运行哪些软件</a:t>
                      </a:r>
                      <a:endPar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设计者的自由度较大，但需要新的编译器</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系统结构已经确定，无须投资软件</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7696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rPr>
                        <a:t>操作系统要求</a:t>
                      </a:r>
                      <a:endParaRPr kumimoji="0"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地址空间大小</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内存管理</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安全保护</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rPr>
                        <a:t>为支持选定的操作系统所需要的特性</a:t>
                      </a:r>
                      <a:endPar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非常重要的特性，可能限制程序的运行</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页式或段式等管理方式，现代操作系统需要</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操作系统和应用程序需要</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2334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rPr>
                        <a:t>标准</a:t>
                      </a:r>
                      <a:endParaRPr kumimoji="0"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浮点</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I/O</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总线</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编程语言</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网络</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rPr>
                        <a:t>市场上已有的，某种需要满足的标准</a:t>
                      </a:r>
                      <a:endParaRPr kumimoji="0"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格式和算法：</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IEEE</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DEC</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IBM</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等</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I/O</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设备：</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VME</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SCSI</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PCI</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、光纤等</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影响指令集：</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C</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FORTAN</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COBOL</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等</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p>
                      <a:pPr marL="0" marR="0" lvl="0" indent="0" algn="l" defTabSz="914400" rtl="0" eaLnBrk="1" fontAlgn="base" latinLnBrk="0" hangingPunct="1">
                        <a:lnSpc>
                          <a:spcPct val="90000"/>
                        </a:lnSpc>
                        <a:spcBef>
                          <a:spcPct val="0"/>
                        </a:spcBef>
                        <a:spcAft>
                          <a:spcPct val="0"/>
                        </a:spcAft>
                        <a:buClr>
                          <a:srgbClr val="0000FF"/>
                        </a:buClr>
                        <a:buSzPct val="60000"/>
                        <a:buFont typeface="Wingdings" panose="05000000000000000000" pitchFamily="2" charset="2"/>
                        <a:buNone/>
                      </a:pP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对不同网络的支持：内部互连网、</a:t>
                      </a:r>
                      <a:r>
                        <a:rPr kumimoji="0"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Ethernet</a:t>
                      </a:r>
                      <a:r>
                        <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等</a:t>
                      </a: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1575"/>
            <a:ext cx="8229600" cy="5307965"/>
          </a:xfrm>
        </p:spPr>
        <p:txBody>
          <a:bodyPr/>
          <a:lstStyle/>
          <a:p>
            <a:r>
              <a:rPr lang="zh-CN" altLang="en-US" sz="2400">
                <a:latin typeface="Times New Roman" panose="02020603050405020304" pitchFamily="18" charset="0"/>
                <a:cs typeface="Times New Roman" panose="02020603050405020304" pitchFamily="18" charset="0"/>
              </a:rPr>
              <a:t>2 进行软硬件平衡</a:t>
            </a:r>
            <a:endParaRPr lang="zh-CN" altLang="en-US" sz="24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软硬件实现在功能上等效</a:t>
            </a:r>
            <a:endParaRPr lang="zh-CN" altLang="en-US"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软件与硬件实现的特点</a:t>
            </a:r>
            <a:endParaRPr lang="zh-CN" altLang="en-US" sz="2000">
              <a:latin typeface="Times New Roman" panose="02020603050405020304" pitchFamily="18" charset="0"/>
              <a:cs typeface="Times New Roman" panose="02020603050405020304" pitchFamily="18" charset="0"/>
            </a:endParaRPr>
          </a:p>
          <a:p>
            <a:pPr lvl="2"/>
            <a:r>
              <a:rPr lang="zh-CN" altLang="en-US" sz="2000">
                <a:latin typeface="Times New Roman" panose="02020603050405020304" pitchFamily="18" charset="0"/>
                <a:cs typeface="Times New Roman" panose="02020603050405020304" pitchFamily="18" charset="0"/>
              </a:rPr>
              <a:t>硬件实现：速度快、成本高；灵活性差、占用内存少</a:t>
            </a:r>
            <a:endParaRPr lang="zh-CN" altLang="en-US" sz="2000">
              <a:latin typeface="Times New Roman" panose="02020603050405020304" pitchFamily="18" charset="0"/>
              <a:cs typeface="Times New Roman" panose="02020603050405020304" pitchFamily="18" charset="0"/>
            </a:endParaRPr>
          </a:p>
          <a:p>
            <a:pPr lvl="2"/>
            <a:r>
              <a:rPr lang="zh-CN" altLang="en-US" sz="2000">
                <a:latin typeface="Times New Roman" panose="02020603050405020304" pitchFamily="18" charset="0"/>
                <a:cs typeface="Times New Roman" panose="02020603050405020304" pitchFamily="18" charset="0"/>
              </a:rPr>
              <a:t>软件实现：速度低、复制费用低；灵活性好、占用内存多</a:t>
            </a:r>
            <a:endParaRPr lang="zh-CN" altLang="en-US"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发展趋势</a:t>
            </a:r>
            <a:endParaRPr lang="zh-CN" altLang="en-US" sz="2000">
              <a:latin typeface="Times New Roman" panose="02020603050405020304" pitchFamily="18" charset="0"/>
              <a:cs typeface="Times New Roman" panose="02020603050405020304" pitchFamily="18" charset="0"/>
            </a:endParaRPr>
          </a:p>
          <a:p>
            <a:pPr lvl="2"/>
            <a:r>
              <a:rPr lang="zh-CN" altLang="en-US" sz="2000">
                <a:latin typeface="Times New Roman" panose="02020603050405020304" pitchFamily="18" charset="0"/>
                <a:cs typeface="Times New Roman" panose="02020603050405020304" pitchFamily="18" charset="0"/>
              </a:rPr>
              <a:t>硬件实现的比例越来越高，硬件所占的成本越来越低</a:t>
            </a:r>
            <a:endParaRPr lang="zh-CN" altLang="en-US" sz="2000">
              <a:latin typeface="Times New Roman" panose="02020603050405020304" pitchFamily="18" charset="0"/>
              <a:cs typeface="Times New Roman" panose="02020603050405020304" pitchFamily="18" charset="0"/>
            </a:endParaRPr>
          </a:p>
          <a:p>
            <a:pPr marL="342900" lvl="2" indent="-342900" algn="l">
              <a:buSzTx/>
              <a:buFont typeface="Wingdings" panose="05000000000000000000" pitchFamily="2" charset="2"/>
              <a:buChar char="v"/>
            </a:pPr>
            <a:endParaRPr lang="zh-CN" altLang="en-US" sz="2400" b="1">
              <a:solidFill>
                <a:schemeClr val="hlink"/>
              </a:solidFill>
              <a:latin typeface="Times New Roman" panose="02020603050405020304" pitchFamily="18" charset="0"/>
              <a:cs typeface="Times New Roman" panose="02020603050405020304" pitchFamily="18" charset="0"/>
            </a:endParaRPr>
          </a:p>
          <a:p>
            <a:pPr marL="342900" lvl="2" indent="-342900" algn="l">
              <a:buSzTx/>
              <a:buFont typeface="Wingdings" panose="05000000000000000000" pitchFamily="2" charset="2"/>
              <a:buChar char="v"/>
            </a:pPr>
            <a:endParaRPr lang="zh-CN" altLang="en-US" sz="2400" b="1">
              <a:solidFill>
                <a:schemeClr val="hlink"/>
              </a:solidFill>
              <a:latin typeface="Times New Roman" panose="02020603050405020304" pitchFamily="18" charset="0"/>
              <a:cs typeface="Times New Roman" panose="02020603050405020304" pitchFamily="18" charset="0"/>
            </a:endParaRPr>
          </a:p>
          <a:p>
            <a:pPr marL="342900" lvl="2" indent="-342900" algn="l">
              <a:buSzTx/>
              <a:buFont typeface="Wingdings" panose="05000000000000000000" pitchFamily="2" charset="2"/>
              <a:buChar char="v"/>
            </a:pPr>
            <a:endParaRPr lang="zh-CN" altLang="en-US" sz="2400" b="1">
              <a:solidFill>
                <a:schemeClr val="hlink"/>
              </a:solidFill>
              <a:latin typeface="Times New Roman" panose="02020603050405020304" pitchFamily="18" charset="0"/>
              <a:cs typeface="Times New Roman" panose="02020603050405020304" pitchFamily="18" charset="0"/>
            </a:endParaRPr>
          </a:p>
          <a:p>
            <a:pPr marL="342900" lvl="2" indent="-342900" algn="l">
              <a:buSzTx/>
              <a:buFont typeface="Wingdings" panose="05000000000000000000" pitchFamily="2" charset="2"/>
              <a:buChar char="v"/>
            </a:pPr>
            <a:endParaRPr lang="zh-CN" altLang="en-US" sz="2400" b="1">
              <a:solidFill>
                <a:schemeClr val="hlink"/>
              </a:solidFill>
              <a:latin typeface="Times New Roman" panose="02020603050405020304" pitchFamily="18" charset="0"/>
              <a:cs typeface="Times New Roman" panose="02020603050405020304" pitchFamily="18" charset="0"/>
            </a:endParaRPr>
          </a:p>
          <a:p>
            <a:pPr marL="342900" lvl="2" indent="-342900" algn="l">
              <a:buSzTx/>
              <a:buFont typeface="Wingdings" panose="05000000000000000000" pitchFamily="2" charset="2"/>
              <a:buChar char="v"/>
            </a:pPr>
            <a:endParaRPr lang="zh-CN" altLang="en-US" sz="2400" b="1">
              <a:solidFill>
                <a:schemeClr val="hlink"/>
              </a:solidFill>
              <a:latin typeface="Times New Roman" panose="02020603050405020304" pitchFamily="18" charset="0"/>
              <a:cs typeface="Times New Roman" panose="02020603050405020304" pitchFamily="18" charset="0"/>
            </a:endParaRPr>
          </a:p>
          <a:p>
            <a:pPr marL="342900" lvl="2" indent="-342900" algn="l">
              <a:buSzTx/>
              <a:buFont typeface="Wingdings" panose="05000000000000000000" pitchFamily="2" charset="2"/>
              <a:buChar char="v"/>
            </a:pPr>
            <a:r>
              <a:rPr lang="zh-CN" altLang="en-US" sz="2400" b="1">
                <a:solidFill>
                  <a:schemeClr val="hlink"/>
                </a:solidFill>
                <a:latin typeface="Times New Roman" panose="02020603050405020304" pitchFamily="18" charset="0"/>
                <a:cs typeface="Times New Roman" panose="02020603050405020304" pitchFamily="18" charset="0"/>
              </a:rPr>
              <a:t>3 设计出符合今后发展方向的系统结构</a:t>
            </a:r>
            <a:endParaRPr lang="zh-CN" altLang="en-US" sz="2400" b="1">
              <a:solidFill>
                <a:schemeClr val="hlink"/>
              </a:solidFill>
              <a:latin typeface="Times New Roman" panose="02020603050405020304" pitchFamily="18" charset="0"/>
              <a:cs typeface="Times New Roman" panose="02020603050405020304" pitchFamily="18" charset="0"/>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1.2.2 计算机系统设计者的主要任务</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图片 3"/>
          <p:cNvPicPr>
            <a:picLocks noChangeAspect="1"/>
          </p:cNvPicPr>
          <p:nvPr>
            <p:custDataLst>
              <p:tags r:id="rId1"/>
            </p:custDataLst>
          </p:nvPr>
        </p:nvPicPr>
        <p:blipFill>
          <a:blip r:embed="rId2"/>
          <a:stretch>
            <a:fillRect/>
          </a:stretch>
        </p:blipFill>
        <p:spPr>
          <a:xfrm>
            <a:off x="1339850" y="3933190"/>
            <a:ext cx="6391910" cy="186626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a:t>设计思路</a:t>
            </a:r>
            <a:endParaRPr lang="zh-CN" altLang="en-US"/>
          </a:p>
          <a:p>
            <a:pPr lvl="1" latinLnBrk="0">
              <a:spcBef>
                <a:spcPts val="1800"/>
              </a:spcBef>
            </a:pPr>
            <a:r>
              <a:rPr lang="zh-CN" altLang="en-US" sz="2400"/>
              <a:t>自上而下；</a:t>
            </a:r>
            <a:endParaRPr lang="zh-CN" altLang="en-US" sz="2400"/>
          </a:p>
          <a:p>
            <a:pPr lvl="1" latinLnBrk="0">
              <a:spcBef>
                <a:spcPts val="1200"/>
              </a:spcBef>
            </a:pPr>
            <a:r>
              <a:rPr lang="zh-CN" altLang="en-US" sz="2400"/>
              <a:t>自下而上；</a:t>
            </a:r>
            <a:endParaRPr lang="zh-CN" altLang="en-US" sz="2400"/>
          </a:p>
          <a:p>
            <a:pPr lvl="1" latinLnBrk="0">
              <a:spcBef>
                <a:spcPts val="1200"/>
              </a:spcBef>
            </a:pPr>
            <a:r>
              <a:rPr lang="zh-CN" altLang="en-US" sz="2400"/>
              <a:t>由中间开始</a:t>
            </a:r>
            <a:endParaRPr lang="zh-CN" altLang="en-US" sz="2400"/>
          </a:p>
          <a:p>
            <a:pPr lvl="2" latinLnBrk="0">
              <a:spcBef>
                <a:spcPts val="1200"/>
              </a:spcBef>
            </a:pPr>
            <a:r>
              <a:rPr lang="zh-CN" altLang="en-US" sz="2055">
                <a:solidFill>
                  <a:srgbClr val="0000FF"/>
                </a:solidFill>
              </a:rPr>
              <a:t>进行合理的软硬件功能划分；</a:t>
            </a:r>
            <a:endParaRPr lang="zh-CN" altLang="en-US" sz="2055">
              <a:solidFill>
                <a:srgbClr val="0000FF"/>
              </a:solidFill>
            </a:endParaRPr>
          </a:p>
          <a:p>
            <a:pPr lvl="2" latinLnBrk="0">
              <a:spcBef>
                <a:spcPts val="1200"/>
              </a:spcBef>
            </a:pPr>
            <a:r>
              <a:rPr lang="zh-CN" altLang="en-US" sz="2055">
                <a:solidFill>
                  <a:srgbClr val="0000FF"/>
                </a:solidFill>
              </a:rPr>
              <a:t>软件和硬件并行设计</a:t>
            </a:r>
            <a:endParaRPr lang="zh-CN" altLang="en-US" sz="2055">
              <a:solidFill>
                <a:srgbClr val="0000FF"/>
              </a:solidFill>
            </a:endParaRPr>
          </a:p>
          <a:p>
            <a:pPr lvl="2" latinLnBrk="0">
              <a:spcBef>
                <a:spcPts val="1200"/>
              </a:spcBef>
            </a:pPr>
            <a:endParaRPr lang="zh-CN" altLang="en-US" sz="2055">
              <a:solidFill>
                <a:srgbClr val="0000FF"/>
              </a:solidFill>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1.2.3 计算机系统设计的主要方法(略)</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56995"/>
            <a:ext cx="8229600" cy="4769485"/>
          </a:xfrm>
        </p:spPr>
        <p:txBody>
          <a:bodyPr/>
          <a:lstStyle/>
          <a:p>
            <a:r>
              <a:rPr lang="zh-CN" altLang="en-US" sz="2400"/>
              <a:t>设计过程</a:t>
            </a:r>
            <a:endParaRPr lang="zh-CN" altLang="en-US" sz="2400"/>
          </a:p>
          <a:p>
            <a:pPr lvl="1"/>
            <a:r>
              <a:rPr lang="zh-CN" altLang="en-US" sz="2000"/>
              <a:t>由上向下</a:t>
            </a:r>
            <a:endParaRPr lang="zh-CN" altLang="en-US" sz="2000"/>
          </a:p>
          <a:p>
            <a:pPr lvl="1"/>
            <a:r>
              <a:rPr lang="zh-CN" altLang="en-US" sz="2000"/>
              <a:t>面向应用的数学模型</a:t>
            </a:r>
            <a:endParaRPr lang="zh-CN" altLang="en-US" sz="2000"/>
          </a:p>
          <a:p>
            <a:pPr lvl="1"/>
            <a:r>
              <a:rPr lang="zh-CN" altLang="en-US" sz="2000"/>
              <a:t>面向应用的高级语言</a:t>
            </a:r>
            <a:endParaRPr lang="zh-CN" altLang="en-US" sz="2000"/>
          </a:p>
          <a:p>
            <a:pPr lvl="1"/>
            <a:r>
              <a:rPr lang="zh-CN" altLang="en-US" sz="2000"/>
              <a:t>面向应用的操作系统</a:t>
            </a:r>
            <a:endParaRPr lang="zh-CN" altLang="en-US" sz="2000"/>
          </a:p>
          <a:p>
            <a:pPr lvl="1"/>
            <a:r>
              <a:rPr lang="zh-CN" altLang="en-US" sz="2000"/>
              <a:t>面向操作系统和高级语言的机器语言</a:t>
            </a:r>
            <a:endParaRPr lang="zh-CN" altLang="en-US" sz="2000"/>
          </a:p>
          <a:p>
            <a:pPr lvl="1"/>
            <a:r>
              <a:rPr lang="zh-CN" altLang="en-US" sz="2000"/>
              <a:t>面向机器语言的微指令系统和硬件实现</a:t>
            </a:r>
            <a:endParaRPr lang="zh-CN" altLang="en-US" sz="2000"/>
          </a:p>
          <a:p>
            <a:pPr latinLnBrk="0">
              <a:spcBef>
                <a:spcPts val="1200"/>
              </a:spcBef>
            </a:pPr>
            <a:r>
              <a:rPr lang="zh-CN" altLang="en-US" sz="2400"/>
              <a:t>应用场合</a:t>
            </a:r>
            <a:endParaRPr lang="zh-CN" altLang="en-US" sz="2400"/>
          </a:p>
          <a:p>
            <a:pPr lvl="1"/>
            <a:r>
              <a:rPr lang="zh-CN" altLang="en-US" sz="2000">
                <a:solidFill>
                  <a:srgbClr val="FF0000"/>
                </a:solidFill>
              </a:rPr>
              <a:t>专用计算机的设计(早期计算机的设计)</a:t>
            </a:r>
            <a:endParaRPr lang="zh-CN" altLang="en-US" sz="2000"/>
          </a:p>
          <a:p>
            <a:pPr latinLnBrk="0">
              <a:spcBef>
                <a:spcPts val="1200"/>
              </a:spcBef>
            </a:pPr>
            <a:r>
              <a:rPr lang="zh-CN" altLang="en-US" sz="2400"/>
              <a:t>特点</a:t>
            </a:r>
            <a:endParaRPr lang="zh-CN" altLang="en-US" sz="2400"/>
          </a:p>
          <a:p>
            <a:pPr lvl="1"/>
            <a:r>
              <a:rPr lang="zh-CN" altLang="en-US" sz="2000"/>
              <a:t>对于所面向的应用领域，性能和性能价格比很高</a:t>
            </a:r>
            <a:endParaRPr lang="zh-CN" altLang="en-US" sz="2000"/>
          </a:p>
          <a:p>
            <a:pPr lvl="1"/>
            <a:r>
              <a:rPr lang="zh-CN" altLang="en-US" sz="2000"/>
              <a:t>随着通用计算机价格降低，目前已经很少采用</a:t>
            </a:r>
            <a:endParaRPr lang="zh-CN" altLang="en-US" sz="2000"/>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 由上往下设计(略)</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56995"/>
            <a:ext cx="8229600" cy="4769485"/>
          </a:xfrm>
        </p:spPr>
        <p:txBody>
          <a:bodyPr/>
          <a:lstStyle/>
          <a:p>
            <a:pPr latinLnBrk="0">
              <a:spcBef>
                <a:spcPts val="1200"/>
              </a:spcBef>
            </a:pPr>
            <a:r>
              <a:rPr lang="zh-CN" altLang="en-US" sz="2400"/>
              <a:t>设计过程</a:t>
            </a:r>
            <a:endParaRPr lang="zh-CN" altLang="en-US" sz="2400"/>
          </a:p>
          <a:p>
            <a:pPr lvl="1" latinLnBrk="0">
              <a:spcBef>
                <a:spcPts val="1200"/>
              </a:spcBef>
            </a:pPr>
            <a:r>
              <a:rPr lang="zh-CN" altLang="en-US" sz="2000"/>
              <a:t>根据当时的器件水平，设计微程序机器级和传统机器级</a:t>
            </a:r>
            <a:endParaRPr lang="zh-CN" altLang="en-US" sz="2000"/>
          </a:p>
          <a:p>
            <a:pPr lvl="1" latinLnBrk="0">
              <a:spcBef>
                <a:spcPts val="1200"/>
              </a:spcBef>
            </a:pPr>
            <a:r>
              <a:rPr lang="zh-CN" altLang="en-US" sz="2000"/>
              <a:t>根据应用领域设计多种操作系统、汇编语言、高级语言编译器等</a:t>
            </a:r>
            <a:endParaRPr lang="zh-CN" altLang="en-US" sz="2000"/>
          </a:p>
          <a:p>
            <a:pPr lvl="1" latinLnBrk="0">
              <a:spcBef>
                <a:spcPts val="1200"/>
              </a:spcBef>
            </a:pPr>
            <a:r>
              <a:rPr lang="zh-CN" altLang="en-US" sz="2000"/>
              <a:t>最后设计面向应用的虚拟机器级</a:t>
            </a:r>
            <a:endParaRPr lang="zh-CN" altLang="en-US" sz="2000"/>
          </a:p>
          <a:p>
            <a:pPr algn="l" latinLnBrk="0">
              <a:spcBef>
                <a:spcPts val="1200"/>
              </a:spcBef>
              <a:buSzTx/>
            </a:pPr>
            <a:r>
              <a:rPr lang="zh-CN" altLang="en-US" sz="2400"/>
              <a:t>应用场合</a:t>
            </a:r>
            <a:endParaRPr lang="zh-CN" altLang="en-US" sz="2400"/>
          </a:p>
          <a:p>
            <a:pPr lvl="1" latinLnBrk="0">
              <a:spcBef>
                <a:spcPts val="1200"/>
              </a:spcBef>
            </a:pPr>
            <a:r>
              <a:rPr lang="zh-CN" altLang="en-US" sz="2000">
                <a:solidFill>
                  <a:srgbClr val="FF0000"/>
                </a:solidFill>
              </a:rPr>
              <a:t>在计算机早期设计中(60～70年代)广为采用</a:t>
            </a:r>
            <a:endParaRPr lang="zh-CN" altLang="en-US" sz="2000"/>
          </a:p>
          <a:p>
            <a:pPr latinLnBrk="0">
              <a:spcBef>
                <a:spcPts val="1200"/>
              </a:spcBef>
            </a:pPr>
            <a:r>
              <a:rPr lang="zh-CN" altLang="en-US" sz="2400"/>
              <a:t>特点</a:t>
            </a:r>
            <a:endParaRPr lang="zh-CN" altLang="en-US" sz="2400"/>
          </a:p>
          <a:p>
            <a:pPr lvl="1" latinLnBrk="0">
              <a:spcBef>
                <a:spcPts val="1200"/>
              </a:spcBef>
            </a:pPr>
            <a:r>
              <a:rPr lang="zh-CN" altLang="en-US" sz="2000"/>
              <a:t>容易使软件和硬件脱节，整个计算机系统的效率降低</a:t>
            </a:r>
            <a:endParaRPr lang="zh-CN" altLang="en-US" sz="2000"/>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 由下往上设计(略)</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9830"/>
            <a:ext cx="8229600" cy="5307965"/>
          </a:xfrm>
        </p:spPr>
        <p:txBody>
          <a:bodyPr/>
          <a:lstStyle/>
          <a:p>
            <a:r>
              <a:rPr lang="zh-CN" altLang="en-US" sz="2400">
                <a:latin typeface="Times New Roman" panose="02020603050405020304" pitchFamily="18" charset="0"/>
                <a:cs typeface="Times New Roman" panose="02020603050405020304" pitchFamily="18" charset="0"/>
              </a:rPr>
              <a:t>设计过程</a:t>
            </a:r>
            <a:endParaRPr lang="zh-CN" altLang="en-US" sz="24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首先定义软硬件的分界面</a:t>
            </a:r>
            <a:endParaRPr lang="zh-CN" altLang="en-US" sz="2000">
              <a:latin typeface="Times New Roman" panose="02020603050405020304" pitchFamily="18" charset="0"/>
              <a:cs typeface="Times New Roman" panose="02020603050405020304" pitchFamily="18" charset="0"/>
            </a:endParaRPr>
          </a:p>
          <a:p>
            <a:pPr lvl="2" latinLnBrk="0">
              <a:spcBef>
                <a:spcPts val="600"/>
              </a:spcBef>
            </a:pPr>
            <a:r>
              <a:rPr lang="zh-CN" altLang="en-US" sz="2000">
                <a:latin typeface="Times New Roman" panose="02020603050405020304" pitchFamily="18" charset="0"/>
                <a:cs typeface="Times New Roman" panose="02020603050405020304" pitchFamily="18" charset="0"/>
              </a:rPr>
              <a:t>包括：指令系统、存储系统、输入输出系统、中断系统、硬件对操作系统和编译系统的支持等</a:t>
            </a:r>
            <a:endParaRPr lang="zh-CN" altLang="en-US" sz="20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然后各个层次分别进行设计</a:t>
            </a:r>
            <a:endParaRPr lang="zh-CN" altLang="en-US" sz="2000">
              <a:latin typeface="Times New Roman" panose="02020603050405020304" pitchFamily="18" charset="0"/>
              <a:cs typeface="Times New Roman" panose="02020603050405020304" pitchFamily="18" charset="0"/>
            </a:endParaRPr>
          </a:p>
          <a:p>
            <a:pPr lvl="2" latinLnBrk="0">
              <a:spcBef>
                <a:spcPts val="600"/>
              </a:spcBef>
            </a:pPr>
            <a:r>
              <a:rPr lang="zh-CN" altLang="en-US" sz="2000">
                <a:latin typeface="Times New Roman" panose="02020603050405020304" pitchFamily="18" charset="0"/>
                <a:cs typeface="Times New Roman" panose="02020603050405020304" pitchFamily="18" charset="0"/>
              </a:rPr>
              <a:t>软件设计人员设计</a:t>
            </a:r>
            <a:r>
              <a:rPr lang="en-US" altLang="zh-CN" sz="2000">
                <a:latin typeface="Times New Roman" panose="02020603050405020304" pitchFamily="18" charset="0"/>
                <a:cs typeface="Times New Roman" panose="02020603050405020304" pitchFamily="18" charset="0"/>
              </a:rPr>
              <a:t>OS</a:t>
            </a:r>
            <a:r>
              <a:rPr lang="zh-CN" altLang="en-US" sz="2000">
                <a:latin typeface="Times New Roman" panose="02020603050405020304" pitchFamily="18" charset="0"/>
                <a:cs typeface="Times New Roman" panose="02020603050405020304" pitchFamily="18" charset="0"/>
              </a:rPr>
              <a:t>、高级语言、汇编语言、应用实现等</a:t>
            </a:r>
            <a:endParaRPr lang="zh-CN" altLang="en-US" sz="2000">
              <a:latin typeface="Times New Roman" panose="02020603050405020304" pitchFamily="18" charset="0"/>
              <a:cs typeface="Times New Roman" panose="02020603050405020304" pitchFamily="18" charset="0"/>
            </a:endParaRPr>
          </a:p>
          <a:p>
            <a:pPr lvl="2" latinLnBrk="0">
              <a:spcBef>
                <a:spcPts val="600"/>
              </a:spcBef>
            </a:pPr>
            <a:r>
              <a:rPr lang="zh-CN" altLang="en-US" sz="2000">
                <a:latin typeface="Times New Roman" panose="02020603050405020304" pitchFamily="18" charset="0"/>
                <a:cs typeface="Times New Roman" panose="02020603050405020304" pitchFamily="18" charset="0"/>
              </a:rPr>
              <a:t>硬件设计人员设计传统机器、微程序、硬联逻辑等</a:t>
            </a:r>
            <a:endParaRPr lang="zh-CN" altLang="en-US" sz="20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应用场合</a:t>
            </a:r>
            <a:endParaRPr lang="zh-CN" altLang="en-US" sz="2400">
              <a:latin typeface="Times New Roman" panose="02020603050405020304" pitchFamily="18" charset="0"/>
              <a:cs typeface="Times New Roman" panose="02020603050405020304" pitchFamily="18" charset="0"/>
            </a:endParaRPr>
          </a:p>
          <a:p>
            <a:pPr lvl="1"/>
            <a:r>
              <a:rPr lang="zh-CN" altLang="en-US" sz="2400">
                <a:solidFill>
                  <a:srgbClr val="FF0000"/>
                </a:solidFill>
                <a:latin typeface="Times New Roman" panose="02020603050405020304" pitchFamily="18" charset="0"/>
                <a:cs typeface="Times New Roman" panose="02020603050405020304" pitchFamily="18" charset="0"/>
              </a:rPr>
              <a:t>用于系列机的设计</a:t>
            </a:r>
            <a:endParaRPr lang="zh-CN" altLang="en-US"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特点</a:t>
            </a:r>
            <a:endParaRPr lang="zh-CN" altLang="en-US" sz="24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软硬件的分界面在上升</a:t>
            </a:r>
            <a:endParaRPr lang="zh-CN" altLang="en-US"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硬件价格下降，软件价格上升</a:t>
            </a:r>
            <a:endParaRPr lang="zh-CN" altLang="en-US"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软硬件人员结合共同设计</a:t>
            </a:r>
            <a:endParaRPr lang="zh-CN" altLang="en-US" sz="2000">
              <a:latin typeface="Times New Roman" panose="02020603050405020304" pitchFamily="18" charset="0"/>
              <a:cs typeface="Times New Roman" panose="02020603050405020304" pitchFamily="18" charset="0"/>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 由中间开始设计(略)</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a:t>硬件和软件实现的不同</a:t>
            </a:r>
            <a:endParaRPr lang="zh-CN" altLang="en-US"/>
          </a:p>
          <a:p>
            <a:pPr lvl="1" latinLnBrk="0">
              <a:spcBef>
                <a:spcPts val="1200"/>
              </a:spcBef>
            </a:pPr>
            <a:r>
              <a:rPr lang="zh-CN" altLang="en-US" sz="2400"/>
              <a:t>机器的性能和速度；</a:t>
            </a:r>
            <a:endParaRPr lang="zh-CN" altLang="en-US" sz="2400"/>
          </a:p>
          <a:p>
            <a:pPr lvl="1" latinLnBrk="0">
              <a:spcBef>
                <a:spcPts val="1200"/>
              </a:spcBef>
            </a:pPr>
            <a:r>
              <a:rPr lang="zh-CN" altLang="en-US" sz="2400"/>
              <a:t>硬件成本和利用率；</a:t>
            </a:r>
            <a:endParaRPr lang="zh-CN" altLang="en-US" sz="2400"/>
          </a:p>
          <a:p>
            <a:pPr lvl="1" latinLnBrk="0">
              <a:spcBef>
                <a:spcPts val="1200"/>
              </a:spcBef>
            </a:pPr>
            <a:r>
              <a:rPr lang="zh-CN" altLang="en-US" sz="2400"/>
              <a:t>系统的灵活性和适应性；</a:t>
            </a:r>
            <a:endParaRPr lang="zh-CN" altLang="en-US" sz="2400"/>
          </a:p>
          <a:p>
            <a:pPr lvl="0" latinLnBrk="0">
              <a:spcBef>
                <a:spcPts val="1800"/>
              </a:spcBef>
            </a:pPr>
            <a:r>
              <a:rPr lang="zh-CN" altLang="en-US"/>
              <a:t>软硬件取舍的基本原则</a:t>
            </a:r>
            <a:endParaRPr lang="zh-CN" altLang="en-US"/>
          </a:p>
          <a:p>
            <a:pPr lvl="1" algn="l" latinLnBrk="0">
              <a:spcBef>
                <a:spcPts val="1200"/>
              </a:spcBef>
              <a:buSzTx/>
            </a:pPr>
            <a:r>
              <a:rPr lang="zh-CN" altLang="en-US" sz="2400">
                <a:cs typeface="+mn-ea"/>
              </a:rPr>
              <a:t>性价比：研发费用和重复生产费用；</a:t>
            </a:r>
            <a:endParaRPr lang="zh-CN" altLang="en-US" sz="2400">
              <a:cs typeface="+mn-ea"/>
            </a:endParaRPr>
          </a:p>
          <a:p>
            <a:pPr lvl="1" algn="l" latinLnBrk="0">
              <a:spcBef>
                <a:spcPts val="1200"/>
              </a:spcBef>
              <a:buSzTx/>
            </a:pPr>
            <a:r>
              <a:rPr lang="zh-CN" altLang="en-US" sz="2400">
                <a:cs typeface="+mn-ea"/>
              </a:rPr>
              <a:t>可灵活扩展：各种组成和实现技术</a:t>
            </a:r>
            <a:endParaRPr lang="zh-CN" altLang="en-US" sz="2400">
              <a:cs typeface="+mn-ea"/>
            </a:endParaRPr>
          </a:p>
          <a:p>
            <a:pPr lvl="1" algn="l" latinLnBrk="0">
              <a:spcBef>
                <a:spcPts val="1200"/>
              </a:spcBef>
              <a:buSzTx/>
            </a:pPr>
            <a:r>
              <a:rPr lang="zh-CN" altLang="en-US" sz="2400">
                <a:solidFill>
                  <a:srgbClr val="FF0000"/>
                </a:solidFill>
                <a:cs typeface="+mn-ea"/>
              </a:rPr>
              <a:t>尽可能缩小语义差距：</a:t>
            </a:r>
            <a:endParaRPr lang="zh-CN" altLang="en-US" sz="2400">
              <a:solidFill>
                <a:srgbClr val="FF0000"/>
              </a:solidFill>
              <a:cs typeface="+mn-ea"/>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软硬件取舍的基本原则</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atinLnBrk="0">
              <a:lnSpc>
                <a:spcPct val="150000"/>
              </a:lnSpc>
              <a:spcBef>
                <a:spcPts val="0"/>
              </a:spcBef>
            </a:pPr>
            <a:r>
              <a:rPr lang="zh-CN" altLang="en-US"/>
              <a:t>评价一个计算机系统结构好坏的标准：</a:t>
            </a:r>
            <a:endParaRPr lang="zh-CN" altLang="en-US"/>
          </a:p>
          <a:p>
            <a:pPr lvl="1" latinLnBrk="0">
              <a:lnSpc>
                <a:spcPct val="150000"/>
              </a:lnSpc>
              <a:spcBef>
                <a:spcPts val="0"/>
              </a:spcBef>
            </a:pPr>
            <a:r>
              <a:rPr lang="zh-CN" altLang="en-US" sz="2400"/>
              <a:t>性能</a:t>
            </a:r>
            <a:endParaRPr lang="zh-CN" altLang="en-US" sz="2400"/>
          </a:p>
          <a:p>
            <a:pPr lvl="1" latinLnBrk="0">
              <a:lnSpc>
                <a:spcPct val="150000"/>
              </a:lnSpc>
              <a:spcBef>
                <a:spcPts val="0"/>
              </a:spcBef>
            </a:pPr>
            <a:r>
              <a:rPr lang="zh-CN" altLang="en-US" sz="2400"/>
              <a:t>成本</a:t>
            </a:r>
            <a:endParaRPr lang="zh-CN" altLang="en-US" sz="2400"/>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1.3 系统结构的评价标准</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81100"/>
            <a:ext cx="8229600" cy="4945380"/>
          </a:xfrm>
        </p:spPr>
        <p:txBody>
          <a:bodyPr/>
          <a:lstStyle/>
          <a:p>
            <a:r>
              <a:rPr lang="zh-CN" altLang="en-US" sz="2400">
                <a:latin typeface="Times New Roman" panose="02020603050405020304" pitchFamily="18" charset="0"/>
                <a:cs typeface="Times New Roman" panose="02020603050405020304" pitchFamily="18" charset="0"/>
              </a:rPr>
              <a:t>衡量机器性能的唯一固定且可靠的标准：</a:t>
            </a:r>
            <a:r>
              <a:rPr lang="zh-CN" altLang="en-US" sz="2400">
                <a:solidFill>
                  <a:srgbClr val="FF0000"/>
                </a:solidFill>
                <a:latin typeface="Times New Roman" panose="02020603050405020304" pitchFamily="18" charset="0"/>
                <a:cs typeface="Times New Roman" panose="02020603050405020304" pitchFamily="18" charset="0"/>
              </a:rPr>
              <a:t>执行程序的时间</a:t>
            </a:r>
            <a:endParaRPr lang="zh-CN" altLang="en-US" sz="2400">
              <a:latin typeface="Times New Roman" panose="02020603050405020304" pitchFamily="18" charset="0"/>
              <a:cs typeface="Times New Roman" panose="02020603050405020304" pitchFamily="18" charset="0"/>
            </a:endParaRPr>
          </a:p>
          <a:p>
            <a:pPr lvl="0"/>
            <a:r>
              <a:rPr lang="zh-CN" altLang="en-US" sz="2400">
                <a:latin typeface="Times New Roman" panose="02020603050405020304" pitchFamily="18" charset="0"/>
                <a:cs typeface="Times New Roman" panose="02020603050405020304" pitchFamily="18" charset="0"/>
              </a:rPr>
              <a:t>主要标准</a:t>
            </a:r>
            <a:endParaRPr lang="zh-CN" altLang="en-US" sz="2400">
              <a:latin typeface="Times New Roman" panose="02020603050405020304" pitchFamily="18" charset="0"/>
              <a:cs typeface="Times New Roman" panose="02020603050405020304" pitchFamily="18" charset="0"/>
            </a:endParaRPr>
          </a:p>
          <a:p>
            <a:pPr lvl="1"/>
            <a:r>
              <a:rPr lang="zh-CN" altLang="en-US" sz="2395">
                <a:latin typeface="Times New Roman" panose="02020603050405020304" pitchFamily="18" charset="0"/>
                <a:cs typeface="Times New Roman" panose="02020603050405020304" pitchFamily="18" charset="0"/>
              </a:rPr>
              <a:t>(1) MIPS</a:t>
            </a:r>
            <a:endParaRPr lang="zh-CN" altLang="en-US" sz="2395">
              <a:latin typeface="Times New Roman" panose="02020603050405020304" pitchFamily="18" charset="0"/>
              <a:cs typeface="Times New Roman" panose="02020603050405020304" pitchFamily="18" charset="0"/>
            </a:endParaRPr>
          </a:p>
          <a:p>
            <a:pPr lvl="2"/>
            <a:r>
              <a:rPr lang="zh-CN" altLang="en-US" sz="2050">
                <a:latin typeface="Times New Roman" panose="02020603050405020304" pitchFamily="18" charset="0"/>
                <a:cs typeface="Times New Roman" panose="02020603050405020304" pitchFamily="18" charset="0"/>
              </a:rPr>
              <a:t>MIPS 表示每秒百万指令条数。对于一个给定的程序，MIPS 定义为</a:t>
            </a:r>
            <a:endParaRPr lang="zh-CN" altLang="en-US" sz="2050">
              <a:latin typeface="Times New Roman" panose="02020603050405020304" pitchFamily="18" charset="0"/>
              <a:cs typeface="Times New Roman" panose="02020603050405020304" pitchFamily="18" charset="0"/>
            </a:endParaRPr>
          </a:p>
          <a:p>
            <a:pPr lvl="2"/>
            <a:endParaRPr lang="zh-CN" altLang="en-US" sz="2050">
              <a:latin typeface="Times New Roman" panose="02020603050405020304" pitchFamily="18" charset="0"/>
              <a:cs typeface="Times New Roman" panose="02020603050405020304" pitchFamily="18" charset="0"/>
            </a:endParaRPr>
          </a:p>
          <a:p>
            <a:pPr lvl="2"/>
            <a:endParaRPr lang="zh-CN" altLang="en-US" sz="2050">
              <a:latin typeface="Times New Roman" panose="02020603050405020304" pitchFamily="18" charset="0"/>
              <a:cs typeface="Times New Roman" panose="02020603050405020304" pitchFamily="18" charset="0"/>
            </a:endParaRPr>
          </a:p>
          <a:p>
            <a:pPr lvl="2"/>
            <a:endParaRPr lang="zh-CN" altLang="en-US" sz="2050">
              <a:latin typeface="Times New Roman" panose="02020603050405020304" pitchFamily="18" charset="0"/>
              <a:cs typeface="Times New Roman" panose="02020603050405020304" pitchFamily="18" charset="0"/>
            </a:endParaRPr>
          </a:p>
          <a:p>
            <a:pPr lvl="2"/>
            <a:r>
              <a:rPr lang="zh-CN" altLang="en-US" sz="2050" dirty="0">
                <a:latin typeface="Times New Roman" panose="02020603050405020304" pitchFamily="18" charset="0"/>
                <a:cs typeface="Times New Roman" panose="02020603050405020304" pitchFamily="18" charset="0"/>
                <a:sym typeface="+mn-ea"/>
              </a:rPr>
              <a:t>程序的执行时间</a:t>
            </a:r>
            <a:endParaRPr lang="zh-CN" altLang="en-US" sz="2050" dirty="0">
              <a:latin typeface="Times New Roman" panose="02020603050405020304" pitchFamily="18" charset="0"/>
              <a:cs typeface="Times New Roman" panose="02020603050405020304" pitchFamily="18" charset="0"/>
              <a:sym typeface="+mn-ea"/>
            </a:endParaRPr>
          </a:p>
          <a:p>
            <a:pPr lvl="2"/>
            <a:endParaRPr lang="zh-CN" altLang="en-US" sz="2050" dirty="0">
              <a:latin typeface="Times New Roman" panose="02020603050405020304" pitchFamily="18" charset="0"/>
              <a:cs typeface="Times New Roman" panose="02020603050405020304" pitchFamily="18" charset="0"/>
              <a:sym typeface="+mn-ea"/>
            </a:endParaRPr>
          </a:p>
          <a:p>
            <a:pPr lvl="2"/>
            <a:endParaRPr lang="zh-CN" altLang="en-US" sz="2050" dirty="0">
              <a:latin typeface="Times New Roman" panose="02020603050405020304" pitchFamily="18" charset="0"/>
              <a:cs typeface="Times New Roman" panose="02020603050405020304" pitchFamily="18" charset="0"/>
              <a:sym typeface="+mn-ea"/>
            </a:endParaRPr>
          </a:p>
          <a:p>
            <a:pPr lvl="2"/>
            <a:endParaRPr lang="zh-CN" altLang="en-US" sz="2050" dirty="0">
              <a:latin typeface="Times New Roman" panose="02020603050405020304" pitchFamily="18" charset="0"/>
              <a:cs typeface="Times New Roman" panose="02020603050405020304" pitchFamily="18" charset="0"/>
              <a:sym typeface="+mn-ea"/>
            </a:endParaRPr>
          </a:p>
          <a:p>
            <a:pPr lvl="2"/>
            <a:r>
              <a:rPr lang="zh-CN" altLang="en-US" sz="2050" dirty="0">
                <a:latin typeface="Times New Roman" panose="02020603050405020304" pitchFamily="18" charset="0"/>
                <a:cs typeface="Times New Roman" panose="02020603050405020304" pitchFamily="18" charset="0"/>
                <a:sym typeface="+mn-ea"/>
              </a:rPr>
              <a:t>越快的机器其</a:t>
            </a:r>
            <a:r>
              <a:rPr lang="en-US" altLang="zh-CN" sz="2050" dirty="0">
                <a:latin typeface="Times New Roman" panose="02020603050405020304" pitchFamily="18" charset="0"/>
                <a:cs typeface="Times New Roman" panose="02020603050405020304" pitchFamily="18" charset="0"/>
                <a:sym typeface="+mn-ea"/>
              </a:rPr>
              <a:t>MIPS</a:t>
            </a:r>
            <a:r>
              <a:rPr lang="zh-CN" altLang="en-US" sz="2050" dirty="0">
                <a:latin typeface="Times New Roman" panose="02020603050405020304" pitchFamily="18" charset="0"/>
                <a:cs typeface="Times New Roman" panose="02020603050405020304" pitchFamily="18" charset="0"/>
                <a:sym typeface="+mn-ea"/>
              </a:rPr>
              <a:t>越高</a:t>
            </a:r>
            <a:endParaRPr lang="zh-CN" altLang="en-US" sz="2050" dirty="0">
              <a:latin typeface="Times New Roman" panose="02020603050405020304" pitchFamily="18" charset="0"/>
              <a:cs typeface="Times New Roman" panose="02020603050405020304" pitchFamily="18" charset="0"/>
              <a:sym typeface="+mn-ea"/>
            </a:endParaRPr>
          </a:p>
          <a:p>
            <a:pPr lvl="2"/>
            <a:endParaRPr lang="zh-CN" altLang="en-US" sz="2050">
              <a:latin typeface="Times New Roman" panose="02020603050405020304" pitchFamily="18" charset="0"/>
              <a:cs typeface="Times New Roman" panose="02020603050405020304" pitchFamily="18" charset="0"/>
            </a:endParaRPr>
          </a:p>
          <a:p>
            <a:pPr lvl="2"/>
            <a:endParaRPr lang="zh-CN" altLang="en-US" sz="2050">
              <a:latin typeface="Times New Roman" panose="02020603050405020304" pitchFamily="18" charset="0"/>
              <a:cs typeface="Times New Roman" panose="02020603050405020304" pitchFamily="18" charset="0"/>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1.3.1性能</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9877" name="Object 5"/>
          <p:cNvGraphicFramePr>
            <a:graphicFrameLocks noChangeAspect="1"/>
          </p:cNvGraphicFramePr>
          <p:nvPr>
            <p:custDataLst>
              <p:tags r:id="rId1"/>
            </p:custDataLst>
          </p:nvPr>
        </p:nvGraphicFramePr>
        <p:xfrm>
          <a:off x="2054225" y="3357245"/>
          <a:ext cx="4508500" cy="890588"/>
        </p:xfrm>
        <a:graphic>
          <a:graphicData uri="http://schemas.openxmlformats.org/presentationml/2006/ole">
            <mc:AlternateContent xmlns:mc="http://schemas.openxmlformats.org/markup-compatibility/2006">
              <mc:Choice xmlns:v="urn:schemas-microsoft-com:vml" Requires="v">
                <p:oleObj spid="_x0000_s2" name="" r:id="rId2" imgW="4508500" imgH="890905" progId="Equation.3">
                  <p:embed/>
                </p:oleObj>
              </mc:Choice>
              <mc:Fallback>
                <p:oleObj name="" r:id="rId2" imgW="4508500" imgH="890905" progId="Equation.3">
                  <p:embed/>
                  <p:pic>
                    <p:nvPicPr>
                      <p:cNvPr id="0" name="图片 3076"/>
                      <p:cNvPicPr/>
                      <p:nvPr/>
                    </p:nvPicPr>
                    <p:blipFill>
                      <a:blip r:embed="rId3"/>
                      <a:stretch>
                        <a:fillRect/>
                      </a:stretch>
                    </p:blipFill>
                    <p:spPr>
                      <a:xfrm>
                        <a:off x="2054225" y="3357245"/>
                        <a:ext cx="4508500" cy="890588"/>
                      </a:xfrm>
                      <a:prstGeom prst="rect">
                        <a:avLst/>
                      </a:prstGeom>
                      <a:noFill/>
                      <a:ln w="38100">
                        <a:noFill/>
                        <a:miter/>
                      </a:ln>
                    </p:spPr>
                  </p:pic>
                </p:oleObj>
              </mc:Fallback>
            </mc:AlternateContent>
          </a:graphicData>
        </a:graphic>
      </p:graphicFrame>
      <p:graphicFrame>
        <p:nvGraphicFramePr>
          <p:cNvPr id="79878" name="Object 7"/>
          <p:cNvGraphicFramePr>
            <a:graphicFrameLocks noChangeAspect="1"/>
          </p:cNvGraphicFramePr>
          <p:nvPr>
            <p:custDataLst>
              <p:tags r:id="rId4"/>
            </p:custDataLst>
          </p:nvPr>
        </p:nvGraphicFramePr>
        <p:xfrm>
          <a:off x="2700020" y="4797425"/>
          <a:ext cx="2298700" cy="889000"/>
        </p:xfrm>
        <a:graphic>
          <a:graphicData uri="http://schemas.openxmlformats.org/presentationml/2006/ole">
            <mc:AlternateContent xmlns:mc="http://schemas.openxmlformats.org/markup-compatibility/2006">
              <mc:Choice xmlns:v="urn:schemas-microsoft-com:vml" Requires="v">
                <p:oleObj spid="_x0000_s4" name="" r:id="rId5" imgW="2298700" imgH="889000" progId="Equation.3">
                  <p:embed/>
                </p:oleObj>
              </mc:Choice>
              <mc:Fallback>
                <p:oleObj name="" r:id="rId5" imgW="2298700" imgH="889000" progId="Equation.3">
                  <p:embed/>
                  <p:pic>
                    <p:nvPicPr>
                      <p:cNvPr id="0" name="图片 3075"/>
                      <p:cNvPicPr/>
                      <p:nvPr/>
                    </p:nvPicPr>
                    <p:blipFill>
                      <a:blip r:embed="rId6"/>
                      <a:stretch>
                        <a:fillRect/>
                      </a:stretch>
                    </p:blipFill>
                    <p:spPr>
                      <a:xfrm>
                        <a:off x="2700020" y="4797425"/>
                        <a:ext cx="2298700" cy="889000"/>
                      </a:xfrm>
                      <a:prstGeom prst="rect">
                        <a:avLst/>
                      </a:prstGeom>
                      <a:noFill/>
                      <a:ln w="38100">
                        <a:noFill/>
                        <a:miter/>
                      </a:ln>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eaLnBrk="1" hangingPunct="1"/>
            <a:r>
              <a:rPr lang="zh-CN" altLang="en-US" dirty="0">
                <a:latin typeface="Times New Roman" panose="02020603050405020304" pitchFamily="18" charset="0"/>
                <a:cs typeface="Times New Roman" panose="02020603050405020304" pitchFamily="18" charset="0"/>
                <a:sym typeface="+mn-ea"/>
              </a:rPr>
              <a:t>解：由于</a:t>
            </a:r>
            <a:r>
              <a:rPr lang="en-US" altLang="zh-CN" dirty="0">
                <a:latin typeface="Times New Roman" panose="02020603050405020304" pitchFamily="18" charset="0"/>
                <a:cs typeface="Times New Roman" panose="02020603050405020304" pitchFamily="18" charset="0"/>
                <a:sym typeface="+mn-ea"/>
              </a:rPr>
              <a:t>Pentium II 450</a:t>
            </a:r>
            <a:r>
              <a:rPr lang="zh-CN" altLang="en-US" dirty="0">
                <a:latin typeface="Times New Roman" panose="02020603050405020304" pitchFamily="18" charset="0"/>
                <a:cs typeface="Times New Roman" panose="02020603050405020304" pitchFamily="18" charset="0"/>
                <a:sym typeface="+mn-ea"/>
              </a:rPr>
              <a:t>处理机的</a:t>
            </a:r>
            <a:r>
              <a:rPr lang="en-US" altLang="zh-CN" dirty="0">
                <a:latin typeface="Times New Roman" panose="02020603050405020304" pitchFamily="18" charset="0"/>
                <a:cs typeface="Times New Roman" panose="02020603050405020304" pitchFamily="18" charset="0"/>
                <a:sym typeface="+mn-ea"/>
              </a:rPr>
              <a:t>IPC=2 (</a:t>
            </a:r>
            <a:r>
              <a:rPr lang="zh-CN" altLang="en-US" dirty="0">
                <a:latin typeface="Times New Roman" panose="02020603050405020304" pitchFamily="18" charset="0"/>
                <a:cs typeface="Times New Roman" panose="02020603050405020304" pitchFamily="18" charset="0"/>
                <a:sym typeface="+mn-ea"/>
              </a:rPr>
              <a:t>或</a:t>
            </a:r>
            <a:r>
              <a:rPr lang="en-US" altLang="zh-CN" dirty="0">
                <a:latin typeface="Times New Roman" panose="02020603050405020304" pitchFamily="18" charset="0"/>
                <a:cs typeface="Times New Roman" panose="02020603050405020304" pitchFamily="18" charset="0"/>
                <a:sym typeface="+mn-ea"/>
              </a:rPr>
              <a:t>CPI=0.5), Fz=450MHz</a:t>
            </a:r>
            <a:r>
              <a:rPr lang="zh-CN" altLang="en-US" dirty="0">
                <a:latin typeface="Times New Roman" panose="02020603050405020304" pitchFamily="18" charset="0"/>
                <a:cs typeface="Times New Roman" panose="02020603050405020304" pitchFamily="18" charset="0"/>
                <a:sym typeface="+mn-ea"/>
              </a:rPr>
              <a:t>，因此，</a:t>
            </a:r>
            <a:endParaRPr lang="zh-CN" altLang="en-US"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400" dirty="0">
                <a:latin typeface="Times New Roman" panose="02020603050405020304" pitchFamily="18" charset="0"/>
                <a:cs typeface="Times New Roman" panose="02020603050405020304" pitchFamily="18" charset="0"/>
                <a:sym typeface="+mn-ea"/>
              </a:rPr>
              <a:t>MIPS</a:t>
            </a:r>
            <a:r>
              <a:rPr lang="en-US" altLang="zh-CN" sz="2400" baseline="-25000" dirty="0">
                <a:latin typeface="Times New Roman" panose="02020603050405020304" pitchFamily="18" charset="0"/>
                <a:cs typeface="Times New Roman" panose="02020603050405020304" pitchFamily="18" charset="0"/>
                <a:sym typeface="+mn-ea"/>
              </a:rPr>
              <a:t>Pentium II</a:t>
            </a:r>
            <a:r>
              <a:rPr lang="en-US" altLang="zh-CN" sz="2400" dirty="0">
                <a:latin typeface="Times New Roman" panose="02020603050405020304" pitchFamily="18" charset="0"/>
                <a:cs typeface="Times New Roman" panose="02020603050405020304" pitchFamily="18" charset="0"/>
                <a:sym typeface="+mn-ea"/>
              </a:rPr>
              <a:t> 450=Fz×IPC=450×2=900(MIPS)</a:t>
            </a:r>
            <a:endParaRPr lang="en-US" altLang="zh-CN" sz="24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1.6</a:t>
            </a:r>
            <a:r>
              <a:rPr lang="zh-CN" alt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：计算Pentium II 450处理机的运算速度</a:t>
            </a:r>
            <a:endParaRPr lang="zh-CN" altLang="en-US"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33805"/>
            <a:ext cx="8229600" cy="4892675"/>
          </a:xfrm>
        </p:spPr>
        <p:txBody>
          <a:bodyPr/>
          <a:lstStyle/>
          <a:p>
            <a:pPr eaLnBrk="1" hangingPunct="1"/>
            <a:r>
              <a:rPr sz="2400" dirty="0">
                <a:latin typeface="Times New Roman" panose="02020603050405020304" pitchFamily="18" charset="0"/>
                <a:cs typeface="Times New Roman" panose="02020603050405020304" pitchFamily="18" charset="0"/>
                <a:sym typeface="+mn-ea"/>
              </a:rPr>
              <a:t>对于用户来说，MIPS有三个方面的缺陷</a:t>
            </a:r>
            <a:endParaRPr sz="24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sz="2000" dirty="0">
                <a:latin typeface="Times New Roman" panose="02020603050405020304" pitchFamily="18" charset="0"/>
                <a:cs typeface="Times New Roman" panose="02020603050405020304" pitchFamily="18" charset="0"/>
                <a:sym typeface="+mn-ea"/>
              </a:rPr>
              <a:t>1)MIPS依赖于指令集</a:t>
            </a:r>
            <a:endParaRPr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sz="2000" dirty="0">
                <a:latin typeface="Times New Roman" panose="02020603050405020304" pitchFamily="18" charset="0"/>
                <a:cs typeface="Times New Roman" panose="02020603050405020304" pitchFamily="18" charset="0"/>
                <a:sym typeface="+mn-ea"/>
              </a:rPr>
              <a:t>2)在同一台机器上，MIPS因程序不同而变化</a:t>
            </a:r>
            <a:endParaRPr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sz="2000" dirty="0">
                <a:latin typeface="Times New Roman" panose="02020603050405020304" pitchFamily="18" charset="0"/>
                <a:cs typeface="Times New Roman" panose="02020603050405020304" pitchFamily="18" charset="0"/>
                <a:sym typeface="+mn-ea"/>
              </a:rPr>
              <a:t>3)</a:t>
            </a:r>
            <a:r>
              <a:rPr lang="zh-CN" sz="2000" dirty="0">
                <a:latin typeface="Times New Roman" panose="02020603050405020304" pitchFamily="18" charset="0"/>
                <a:cs typeface="Times New Roman" panose="02020603050405020304" pitchFamily="18" charset="0"/>
                <a:sym typeface="+mn-ea"/>
              </a:rPr>
              <a:t>有相当多的非功能性指令</a:t>
            </a:r>
            <a:endParaRPr sz="20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等效指令速度：吉普森(Gibson)法(略)</a:t>
            </a:r>
            <a:endParaRPr sz="2400" dirty="0">
              <a:latin typeface="Times New Roman" panose="02020603050405020304" pitchFamily="18" charset="0"/>
              <a:cs typeface="Times New Roman" panose="02020603050405020304" pitchFamily="18" charset="0"/>
              <a:sym typeface="+mn-ea"/>
            </a:endParaRPr>
          </a:p>
          <a:p>
            <a:pPr lvl="2" eaLnBrk="1" latinLnBrk="0" hangingPunct="1">
              <a:spcBef>
                <a:spcPts val="600"/>
              </a:spcBef>
            </a:pPr>
            <a:r>
              <a:rPr lang="en-US" altLang="zh-CN" sz="2000" dirty="0">
                <a:solidFill>
                  <a:schemeClr val="tx2"/>
                </a:solidFill>
                <a:latin typeface="Times New Roman" panose="02020603050405020304" pitchFamily="18" charset="0"/>
                <a:cs typeface="Times New Roman" panose="02020603050405020304" pitchFamily="18" charset="0"/>
                <a:sym typeface="+mn-ea"/>
              </a:rPr>
              <a:t>Wi</a:t>
            </a:r>
            <a:r>
              <a:rPr lang="zh-CN" altLang="en-US" sz="2000" dirty="0">
                <a:solidFill>
                  <a:schemeClr val="tx2"/>
                </a:solidFill>
                <a:latin typeface="Times New Roman" panose="02020603050405020304" pitchFamily="18" charset="0"/>
                <a:cs typeface="Times New Roman" panose="02020603050405020304" pitchFamily="18" charset="0"/>
                <a:sym typeface="+mn-ea"/>
              </a:rPr>
              <a:t>：指令使用频度，</a:t>
            </a:r>
            <a:r>
              <a:rPr lang="en-US" altLang="zh-CN" sz="2000" dirty="0">
                <a:solidFill>
                  <a:schemeClr val="tx2"/>
                </a:solidFill>
                <a:latin typeface="Times New Roman" panose="02020603050405020304" pitchFamily="18" charset="0"/>
                <a:cs typeface="Times New Roman" panose="02020603050405020304" pitchFamily="18" charset="0"/>
                <a:sym typeface="+mn-ea"/>
              </a:rPr>
              <a:t>i</a:t>
            </a:r>
            <a:r>
              <a:rPr lang="zh-CN" altLang="en-US" sz="2000" dirty="0">
                <a:solidFill>
                  <a:schemeClr val="tx2"/>
                </a:solidFill>
                <a:latin typeface="Times New Roman" panose="02020603050405020304" pitchFamily="18" charset="0"/>
                <a:cs typeface="Times New Roman" panose="02020603050405020304" pitchFamily="18" charset="0"/>
                <a:sym typeface="+mn-ea"/>
              </a:rPr>
              <a:t>：指令种类</a:t>
            </a:r>
            <a:endParaRPr lang="zh-CN" altLang="en-US" sz="2000" dirty="0">
              <a:solidFill>
                <a:schemeClr val="tx2"/>
              </a:solidFill>
              <a:latin typeface="Times New Roman" panose="02020603050405020304" pitchFamily="18" charset="0"/>
              <a:cs typeface="Times New Roman" panose="02020603050405020304" pitchFamily="18" charset="0"/>
            </a:endParaRPr>
          </a:p>
          <a:p>
            <a:pPr lvl="2"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静态指令使用频度：在程序中直接统计</a:t>
            </a:r>
            <a:endParaRPr lang="zh-CN" altLang="en-US" sz="2000" dirty="0">
              <a:solidFill>
                <a:schemeClr val="tx2"/>
              </a:solidFill>
              <a:latin typeface="Times New Roman" panose="02020603050405020304" pitchFamily="18" charset="0"/>
              <a:cs typeface="Times New Roman" panose="02020603050405020304" pitchFamily="18" charset="0"/>
            </a:endParaRPr>
          </a:p>
          <a:p>
            <a:pPr eaLnBrk="1" latinLnBrk="0" hangingPunct="1">
              <a:spcBef>
                <a:spcPts val="1200"/>
              </a:spcBef>
            </a:pP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endParaRPr sz="24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等效指令速度</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3972" name="Object 3"/>
          <p:cNvGraphicFramePr>
            <a:graphicFrameLocks noChangeAspect="1"/>
          </p:cNvGraphicFramePr>
          <p:nvPr>
            <p:custDataLst>
              <p:tags r:id="rId1"/>
            </p:custDataLst>
          </p:nvPr>
        </p:nvGraphicFramePr>
        <p:xfrm>
          <a:off x="2051685" y="4293235"/>
          <a:ext cx="3777615" cy="2259330"/>
        </p:xfrm>
        <a:graphic>
          <a:graphicData uri="http://schemas.openxmlformats.org/presentationml/2006/ole">
            <mc:AlternateContent xmlns:mc="http://schemas.openxmlformats.org/markup-compatibility/2006">
              <mc:Choice xmlns:v="urn:schemas-microsoft-com:vml" Requires="v">
                <p:oleObj spid="_x0000_s2" name="" r:id="rId2" imgW="5118100" imgH="3060700" progId="Equation.3">
                  <p:embed/>
                </p:oleObj>
              </mc:Choice>
              <mc:Fallback>
                <p:oleObj name="" r:id="rId2" imgW="5118100" imgH="3060700" progId="Equation.3">
                  <p:embed/>
                  <p:pic>
                    <p:nvPicPr>
                      <p:cNvPr id="0" name="图片 3078"/>
                      <p:cNvPicPr/>
                      <p:nvPr/>
                    </p:nvPicPr>
                    <p:blipFill>
                      <a:blip r:embed="rId3"/>
                      <a:stretch>
                        <a:fillRect/>
                      </a:stretch>
                    </p:blipFill>
                    <p:spPr>
                      <a:xfrm>
                        <a:off x="2051685" y="4293235"/>
                        <a:ext cx="3777615" cy="2259330"/>
                      </a:xfrm>
                      <a:prstGeom prst="rect">
                        <a:avLst/>
                      </a:prstGeom>
                      <a:noFill/>
                      <a:ln w="38100">
                        <a:noFill/>
                        <a:miter/>
                      </a:ln>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33805"/>
            <a:ext cx="8229600" cy="4892675"/>
          </a:xfrm>
        </p:spPr>
        <p:txBody>
          <a:bodyPr/>
          <a:lstStyle/>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假设在程序中浮点开平方操作FPSQR的比例为2%，它的CPI为100；其他浮点操作FP的比例为23%，它的CPI= 4.0；其余75%指令的CPI=1.33，计算该处理机的等效CPI。如果FPSQR操作的CPI也为4.0，重新计算等效CPI。</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解：</a:t>
            </a:r>
            <a:endParaRPr sz="24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sz="2400" dirty="0">
                <a:latin typeface="Times New Roman" panose="02020603050405020304" pitchFamily="18" charset="0"/>
                <a:cs typeface="Times New Roman" panose="02020603050405020304" pitchFamily="18" charset="0"/>
                <a:sym typeface="+mn-ea"/>
              </a:rPr>
              <a:t>等效CPI</a:t>
            </a:r>
            <a:r>
              <a:rPr lang="en-US" sz="2400" baseline="-25000" dirty="0">
                <a:latin typeface="Times New Roman" panose="02020603050405020304" pitchFamily="18" charset="0"/>
                <a:cs typeface="Times New Roman" panose="02020603050405020304" pitchFamily="18" charset="0"/>
                <a:sym typeface="+mn-ea"/>
              </a:rPr>
              <a:t>1</a:t>
            </a:r>
            <a:r>
              <a:rPr sz="2400" dirty="0">
                <a:latin typeface="Times New Roman" panose="02020603050405020304" pitchFamily="18" charset="0"/>
                <a:cs typeface="Times New Roman" panose="02020603050405020304" pitchFamily="18" charset="0"/>
                <a:sym typeface="+mn-ea"/>
              </a:rPr>
              <a:t>=100*2%+4*23%+1.33*75% =3.92</a:t>
            </a:r>
            <a:endParaRPr sz="24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sz="2400" dirty="0">
                <a:latin typeface="Times New Roman" panose="02020603050405020304" pitchFamily="18" charset="0"/>
                <a:cs typeface="Times New Roman" panose="02020603050405020304" pitchFamily="18" charset="0"/>
                <a:sym typeface="+mn-ea"/>
              </a:rPr>
              <a:t>等效CPI</a:t>
            </a:r>
            <a:r>
              <a:rPr sz="2400" baseline="-25000" dirty="0">
                <a:latin typeface="Times New Roman" panose="02020603050405020304" pitchFamily="18" charset="0"/>
                <a:cs typeface="Times New Roman" panose="02020603050405020304" pitchFamily="18" charset="0"/>
                <a:sym typeface="+mn-ea"/>
              </a:rPr>
              <a:t>2</a:t>
            </a:r>
            <a:r>
              <a:rPr sz="2400" dirty="0">
                <a:latin typeface="Times New Roman" panose="02020603050405020304" pitchFamily="18" charset="0"/>
                <a:cs typeface="Times New Roman" panose="02020603050405020304" pitchFamily="18" charset="0"/>
                <a:sym typeface="+mn-ea"/>
              </a:rPr>
              <a:t>=4*25%+1.33*75%=2.00</a:t>
            </a:r>
            <a:endParaRPr sz="24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1.8</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32865"/>
            <a:ext cx="8229600" cy="4793615"/>
          </a:xfrm>
        </p:spPr>
        <p:txBody>
          <a:bodyPr/>
          <a:lstStyle/>
          <a:p>
            <a:pPr latinLnBrk="0">
              <a:spcBef>
                <a:spcPts val="600"/>
              </a:spcBef>
            </a:pPr>
            <a:r>
              <a:rPr lang="zh-CN" altLang="en-US" sz="2400">
                <a:latin typeface="Times New Roman" panose="02020603050405020304" pitchFamily="18" charset="0"/>
                <a:cs typeface="Times New Roman" panose="02020603050405020304" pitchFamily="18" charset="0"/>
              </a:rPr>
              <a:t>MFLOPS即每秒百万次浮点操作次数</a:t>
            </a:r>
            <a:endParaRPr lang="zh-CN" altLang="en-US" sz="2400">
              <a:latin typeface="Times New Roman" panose="02020603050405020304" pitchFamily="18" charset="0"/>
              <a:cs typeface="Times New Roman" panose="02020603050405020304" pitchFamily="18" charset="0"/>
            </a:endParaRPr>
          </a:p>
          <a:p>
            <a:pPr lvl="1" algn="l" latinLnBrk="0">
              <a:spcBef>
                <a:spcPts val="1200"/>
              </a:spcBef>
              <a:buSzTx/>
            </a:pPr>
            <a:r>
              <a:rPr lang="zh-CN" altLang="en-US" sz="2395">
                <a:latin typeface="Times New Roman" panose="02020603050405020304" pitchFamily="18" charset="0"/>
                <a:cs typeface="Times New Roman" panose="02020603050405020304" pitchFamily="18" charset="0"/>
              </a:rPr>
              <a:t>取决于机器和程序两个方面</a:t>
            </a:r>
            <a:endParaRPr lang="zh-CN" altLang="en-US" sz="2395">
              <a:latin typeface="Times New Roman" panose="02020603050405020304" pitchFamily="18" charset="0"/>
              <a:cs typeface="Times New Roman" panose="02020603050405020304" pitchFamily="18" charset="0"/>
            </a:endParaRPr>
          </a:p>
          <a:p>
            <a:pPr lvl="1" algn="l" latinLnBrk="0">
              <a:spcBef>
                <a:spcPts val="1200"/>
              </a:spcBef>
              <a:buSzTx/>
            </a:pPr>
            <a:r>
              <a:rPr lang="zh-CN" altLang="en-US" sz="2395">
                <a:latin typeface="Times New Roman" panose="02020603050405020304" pitchFamily="18" charset="0"/>
                <a:cs typeface="Times New Roman" panose="02020603050405020304" pitchFamily="18" charset="0"/>
              </a:rPr>
              <a:t>用来</a:t>
            </a:r>
            <a:r>
              <a:rPr lang="zh-CN" altLang="en-US" sz="2395">
                <a:solidFill>
                  <a:srgbClr val="FF0000"/>
                </a:solidFill>
                <a:latin typeface="Times New Roman" panose="02020603050405020304" pitchFamily="18" charset="0"/>
                <a:cs typeface="Times New Roman" panose="02020603050405020304" pitchFamily="18" charset="0"/>
              </a:rPr>
              <a:t>衡量机器浮点操作</a:t>
            </a:r>
            <a:r>
              <a:rPr lang="zh-CN" altLang="en-US" sz="2395">
                <a:latin typeface="Times New Roman" panose="02020603050405020304" pitchFamily="18" charset="0"/>
                <a:cs typeface="Times New Roman" panose="02020603050405020304" pitchFamily="18" charset="0"/>
              </a:rPr>
              <a:t>的性能，不能体现整体性能</a:t>
            </a:r>
            <a:endParaRPr lang="zh-CN" altLang="en-US" sz="2395">
              <a:latin typeface="Times New Roman" panose="02020603050405020304" pitchFamily="18" charset="0"/>
              <a:cs typeface="Times New Roman" panose="02020603050405020304" pitchFamily="18" charset="0"/>
            </a:endParaRPr>
          </a:p>
          <a:p>
            <a:pPr lvl="2" latinLnBrk="0">
              <a:spcBef>
                <a:spcPts val="1200"/>
              </a:spcBef>
            </a:pPr>
            <a:r>
              <a:rPr lang="zh-CN" altLang="en-US" sz="2055">
                <a:latin typeface="Times New Roman" panose="02020603050405020304" pitchFamily="18" charset="0"/>
                <a:cs typeface="Times New Roman" panose="02020603050405020304" pitchFamily="18" charset="0"/>
              </a:rPr>
              <a:t>例如编译程序，不管机器性能多好，它的MFLOPS不会太高</a:t>
            </a:r>
            <a:endParaRPr lang="zh-CN" altLang="en-US" sz="2055">
              <a:latin typeface="Times New Roman" panose="02020603050405020304" pitchFamily="18" charset="0"/>
              <a:cs typeface="Times New Roman" panose="02020603050405020304" pitchFamily="18" charset="0"/>
            </a:endParaRPr>
          </a:p>
          <a:p>
            <a:pPr lvl="1" latinLnBrk="0">
              <a:spcBef>
                <a:spcPts val="1200"/>
              </a:spcBef>
            </a:pPr>
            <a:r>
              <a:rPr lang="zh-CN" altLang="en-US" sz="2395">
                <a:solidFill>
                  <a:srgbClr val="FF0000"/>
                </a:solidFill>
                <a:latin typeface="Times New Roman" panose="02020603050405020304" pitchFamily="18" charset="0"/>
                <a:cs typeface="Times New Roman" panose="02020603050405020304" pitchFamily="18" charset="0"/>
              </a:rPr>
              <a:t>基于操作而非指令</a:t>
            </a:r>
            <a:r>
              <a:rPr lang="zh-CN" altLang="en-US" sz="2395">
                <a:latin typeface="Times New Roman" panose="02020603050405020304" pitchFamily="18" charset="0"/>
                <a:cs typeface="Times New Roman" panose="02020603050405020304" pitchFamily="18" charset="0"/>
              </a:rPr>
              <a:t>，所以可用来比较两种不同的机器</a:t>
            </a:r>
            <a:endParaRPr lang="zh-CN" altLang="en-US" sz="2395">
              <a:latin typeface="Times New Roman" panose="02020603050405020304" pitchFamily="18" charset="0"/>
              <a:cs typeface="Times New Roman" panose="02020603050405020304" pitchFamily="18" charset="0"/>
            </a:endParaRPr>
          </a:p>
          <a:p>
            <a:pPr lvl="1" latinLnBrk="0">
              <a:spcBef>
                <a:spcPts val="1200"/>
              </a:spcBef>
            </a:pPr>
            <a:r>
              <a:rPr lang="zh-CN" altLang="en-US" sz="2395">
                <a:latin typeface="Times New Roman" panose="02020603050405020304" pitchFamily="18" charset="0"/>
                <a:cs typeface="Times New Roman" panose="02020603050405020304" pitchFamily="18" charset="0"/>
              </a:rPr>
              <a:t>依赖于操作类型</a:t>
            </a:r>
            <a:endParaRPr lang="zh-CN" altLang="en-US" sz="2395">
              <a:latin typeface="Times New Roman" panose="02020603050405020304" pitchFamily="18" charset="0"/>
              <a:cs typeface="Times New Roman" panose="02020603050405020304" pitchFamily="18" charset="0"/>
            </a:endParaRPr>
          </a:p>
          <a:p>
            <a:pPr lvl="2" latinLnBrk="0">
              <a:spcBef>
                <a:spcPts val="1200"/>
              </a:spcBef>
            </a:pPr>
            <a:r>
              <a:rPr lang="zh-CN" altLang="en-US" sz="2055">
                <a:latin typeface="Times New Roman" panose="02020603050405020304" pitchFamily="18" charset="0"/>
                <a:cs typeface="Times New Roman" panose="02020603050405020304" pitchFamily="18" charset="0"/>
              </a:rPr>
              <a:t>如100%的浮点加要远快于100%的浮点除</a:t>
            </a:r>
            <a:endParaRPr lang="zh-CN" altLang="en-US" sz="2055">
              <a:latin typeface="Times New Roman" panose="02020603050405020304" pitchFamily="18" charset="0"/>
              <a:cs typeface="Times New Roman" panose="02020603050405020304" pitchFamily="18" charset="0"/>
            </a:endParaRPr>
          </a:p>
          <a:p>
            <a:pPr lvl="1" latinLnBrk="0">
              <a:spcBef>
                <a:spcPts val="1200"/>
              </a:spcBef>
            </a:pPr>
            <a:r>
              <a:rPr lang="zh-CN" altLang="en-US" sz="2400">
                <a:latin typeface="Times New Roman" panose="02020603050405020304" pitchFamily="18" charset="0"/>
                <a:cs typeface="Times New Roman" panose="02020603050405020304" pitchFamily="18" charset="0"/>
              </a:rPr>
              <a:t>单个程序的MFLOPS值并不能反映机器的性能</a:t>
            </a:r>
            <a:endParaRPr lang="zh-CN" altLang="en-US" sz="2400">
              <a:latin typeface="Times New Roman" panose="02020603050405020304" pitchFamily="18" charset="0"/>
              <a:cs typeface="Times New Roman" panose="02020603050405020304" pitchFamily="18" charset="0"/>
            </a:endParaRPr>
          </a:p>
          <a:p>
            <a:pPr lvl="2"/>
            <a:endParaRPr lang="zh-CN" altLang="en-US" sz="2050">
              <a:latin typeface="Times New Roman" panose="02020603050405020304" pitchFamily="18" charset="0"/>
              <a:cs typeface="Times New Roman" panose="02020603050405020304" pitchFamily="18" charset="0"/>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 MFLOPS</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32865"/>
            <a:ext cx="8229600" cy="4793615"/>
          </a:xfrm>
        </p:spPr>
        <p:txBody>
          <a:bodyPr/>
          <a:lstStyle/>
          <a:p>
            <a:pPr latinLnBrk="0">
              <a:spcBef>
                <a:spcPts val="600"/>
              </a:spcBef>
            </a:pPr>
            <a:r>
              <a:rPr lang="zh-CN" altLang="en-US" sz="2400">
                <a:latin typeface="Times New Roman" panose="02020603050405020304" pitchFamily="18" charset="0"/>
                <a:cs typeface="Times New Roman" panose="02020603050405020304" pitchFamily="18" charset="0"/>
              </a:rPr>
              <a:t>按评价准确性递减的顺序列出几种测试程序</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400">
                <a:latin typeface="Times New Roman" panose="02020603050405020304" pitchFamily="18" charset="0"/>
                <a:cs typeface="Times New Roman" panose="02020603050405020304" pitchFamily="18" charset="0"/>
              </a:rPr>
              <a:t>实际的应用程序方法</a:t>
            </a:r>
            <a:endParaRPr lang="zh-CN" altLang="en-US" sz="2400">
              <a:latin typeface="Times New Roman" panose="02020603050405020304" pitchFamily="18" charset="0"/>
              <a:cs typeface="Times New Roman" panose="02020603050405020304" pitchFamily="18" charset="0"/>
            </a:endParaRPr>
          </a:p>
          <a:p>
            <a:pPr lvl="2" latinLnBrk="0">
              <a:spcBef>
                <a:spcPts val="600"/>
              </a:spcBef>
            </a:pPr>
            <a:r>
              <a:rPr lang="zh-CN" altLang="en-US" sz="2055">
                <a:latin typeface="Times New Roman" panose="02020603050405020304" pitchFamily="18" charset="0"/>
                <a:cs typeface="Times New Roman" panose="02020603050405020304" pitchFamily="18" charset="0"/>
              </a:rPr>
              <a:t>运行例如C编译程序、Tex正文处理软件、CAD工具等等</a:t>
            </a:r>
            <a:endParaRPr lang="zh-CN" altLang="en-US" sz="2055">
              <a:latin typeface="Times New Roman" panose="02020603050405020304" pitchFamily="18" charset="0"/>
              <a:cs typeface="Times New Roman" panose="02020603050405020304" pitchFamily="18" charset="0"/>
            </a:endParaRPr>
          </a:p>
          <a:p>
            <a:pPr lvl="1" algn="l" latinLnBrk="0">
              <a:spcBef>
                <a:spcPts val="1200"/>
              </a:spcBef>
              <a:buSzTx/>
            </a:pPr>
            <a:r>
              <a:rPr lang="zh-CN" altLang="en-US" sz="2400">
                <a:latin typeface="Times New Roman" panose="02020603050405020304" pitchFamily="18" charset="0"/>
                <a:cs typeface="Times New Roman" panose="02020603050405020304" pitchFamily="18" charset="0"/>
              </a:rPr>
              <a:t>核心程序方法</a:t>
            </a:r>
            <a:endParaRPr lang="zh-CN" altLang="en-US" sz="2400">
              <a:latin typeface="Times New Roman" panose="02020603050405020304" pitchFamily="18" charset="0"/>
              <a:cs typeface="Times New Roman" panose="02020603050405020304" pitchFamily="18" charset="0"/>
            </a:endParaRPr>
          </a:p>
          <a:p>
            <a:pPr lvl="2" latinLnBrk="0">
              <a:spcBef>
                <a:spcPts val="600"/>
              </a:spcBef>
            </a:pPr>
            <a:r>
              <a:rPr lang="zh-CN" altLang="en-US" sz="2055">
                <a:latin typeface="Times New Roman" panose="02020603050405020304" pitchFamily="18" charset="0"/>
                <a:cs typeface="Times New Roman" panose="02020603050405020304" pitchFamily="18" charset="0"/>
              </a:rPr>
              <a:t>从实际程序中抽取少量关键循环程序段，用来评价机器性能</a:t>
            </a:r>
            <a:endParaRPr lang="zh-CN" altLang="en-US" sz="2055">
              <a:latin typeface="Times New Roman" panose="02020603050405020304" pitchFamily="18" charset="0"/>
              <a:cs typeface="Times New Roman" panose="02020603050405020304" pitchFamily="18" charset="0"/>
            </a:endParaRPr>
          </a:p>
          <a:p>
            <a:pPr lvl="1" algn="l" latinLnBrk="0">
              <a:spcBef>
                <a:spcPts val="1200"/>
              </a:spcBef>
              <a:buSzTx/>
            </a:pPr>
            <a:r>
              <a:rPr lang="zh-CN" altLang="en-US" sz="2400">
                <a:latin typeface="Times New Roman" panose="02020603050405020304" pitchFamily="18" charset="0"/>
                <a:cs typeface="Times New Roman" panose="02020603050405020304" pitchFamily="18" charset="0"/>
              </a:rPr>
              <a:t>玩具基准测试程序</a:t>
            </a:r>
            <a:endParaRPr lang="zh-CN" altLang="en-US" sz="2400">
              <a:latin typeface="Times New Roman" panose="02020603050405020304" pitchFamily="18" charset="0"/>
              <a:cs typeface="Times New Roman" panose="02020603050405020304" pitchFamily="18" charset="0"/>
            </a:endParaRPr>
          </a:p>
          <a:p>
            <a:pPr lvl="2" latinLnBrk="0">
              <a:spcBef>
                <a:spcPts val="600"/>
              </a:spcBef>
            </a:pPr>
            <a:r>
              <a:rPr lang="zh-CN" altLang="en-US" sz="2055">
                <a:latin typeface="Times New Roman" panose="02020603050405020304" pitchFamily="18" charset="0"/>
                <a:cs typeface="Times New Roman" panose="02020603050405020304" pitchFamily="18" charset="0"/>
              </a:rPr>
              <a:t>玩具基准测试程序通常只有10-100行且运行结果可预知</a:t>
            </a:r>
            <a:endParaRPr lang="zh-CN" altLang="en-US" sz="2055">
              <a:latin typeface="Times New Roman" panose="02020603050405020304" pitchFamily="18" charset="0"/>
              <a:cs typeface="Times New Roman" panose="02020603050405020304" pitchFamily="18" charset="0"/>
            </a:endParaRPr>
          </a:p>
          <a:p>
            <a:pPr lvl="1" algn="l" latinLnBrk="0">
              <a:spcBef>
                <a:spcPts val="1200"/>
              </a:spcBef>
              <a:buSzTx/>
            </a:pPr>
            <a:r>
              <a:rPr lang="zh-CN" altLang="en-US" sz="2400">
                <a:latin typeface="Times New Roman" panose="02020603050405020304" pitchFamily="18" charset="0"/>
                <a:cs typeface="Times New Roman" panose="02020603050405020304" pitchFamily="18" charset="0"/>
              </a:rPr>
              <a:t>综合基准测试程序</a:t>
            </a:r>
            <a:endParaRPr lang="zh-CN" altLang="en-US" sz="2400">
              <a:latin typeface="Times New Roman" panose="02020603050405020304" pitchFamily="18" charset="0"/>
              <a:cs typeface="Times New Roman" panose="02020603050405020304" pitchFamily="18" charset="0"/>
            </a:endParaRPr>
          </a:p>
          <a:p>
            <a:pPr lvl="2" latinLnBrk="0">
              <a:spcBef>
                <a:spcPts val="600"/>
              </a:spcBef>
            </a:pPr>
            <a:r>
              <a:rPr lang="zh-CN" altLang="en-US" sz="2055">
                <a:latin typeface="Times New Roman" panose="02020603050405020304" pitchFamily="18" charset="0"/>
                <a:cs typeface="Times New Roman" panose="02020603050405020304" pitchFamily="18" charset="0"/>
              </a:rPr>
              <a:t>为了体现平均执行时间而人为编制，类似于核心程序</a:t>
            </a:r>
            <a:endParaRPr lang="zh-CN" altLang="en-US" sz="2055">
              <a:latin typeface="Times New Roman" panose="02020603050405020304" pitchFamily="18" charset="0"/>
              <a:cs typeface="Times New Roman" panose="02020603050405020304" pitchFamily="18" charset="0"/>
            </a:endParaRPr>
          </a:p>
          <a:p>
            <a:pPr lvl="2" latinLnBrk="0">
              <a:spcBef>
                <a:spcPts val="600"/>
              </a:spcBef>
            </a:pPr>
            <a:r>
              <a:rPr lang="zh-CN" altLang="en-US" sz="2055">
                <a:latin typeface="Times New Roman" panose="02020603050405020304" pitchFamily="18" charset="0"/>
                <a:cs typeface="Times New Roman" panose="02020603050405020304" pitchFamily="18" charset="0"/>
              </a:rPr>
              <a:t>更专业、全面、公正</a:t>
            </a:r>
            <a:endParaRPr lang="zh-CN" altLang="en-US" sz="2055">
              <a:latin typeface="Times New Roman" panose="02020603050405020304" pitchFamily="18" charset="0"/>
              <a:cs typeface="Times New Roman" panose="02020603050405020304" pitchFamily="18" charset="0"/>
            </a:endParaRPr>
          </a:p>
        </p:txBody>
      </p:sp>
      <p:sp>
        <p:nvSpPr>
          <p:cNvPr id="32770" name="Rectangle 2"/>
          <p:cNvSpPr>
            <a:spLocks noGrp="1"/>
          </p:cNvSpPr>
          <p:nvPr>
            <p:ph type="title"/>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(3)用基准测试程序来测试机器性能</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32865"/>
            <a:ext cx="8229600" cy="4793615"/>
          </a:xfrm>
        </p:spPr>
        <p:txBody>
          <a:bodyPr/>
          <a:lstStyle/>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由</a:t>
            </a:r>
            <a:r>
              <a:rPr lang="en-US" altLang="zh-CN" sz="2000" dirty="0">
                <a:latin typeface="Times New Roman" panose="02020603050405020304" pitchFamily="18" charset="0"/>
                <a:cs typeface="Times New Roman" panose="02020603050405020304" pitchFamily="18" charset="0"/>
                <a:sym typeface="+mn-ea"/>
              </a:rPr>
              <a:t>30</a:t>
            </a:r>
            <a:r>
              <a:rPr lang="zh-CN" altLang="en-US" sz="2000" dirty="0">
                <a:latin typeface="Times New Roman" panose="02020603050405020304" pitchFamily="18" charset="0"/>
                <a:cs typeface="Times New Roman" panose="02020603050405020304" pitchFamily="18" charset="0"/>
                <a:sym typeface="+mn-ea"/>
              </a:rPr>
              <a:t>个左右世界知名计算机大厂商所支持的非盈利性国际合作组织，包括：</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IBM</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AT&amp;T</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BULL</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Compaq</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CDC</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DG</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DEC</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Fujitsu</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HP</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Intel</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MIPS</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Motolola</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SGI</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SUN</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Unisys</a:t>
            </a:r>
            <a:r>
              <a:rPr lang="zh-CN" altLang="en-US" sz="2000" dirty="0">
                <a:latin typeface="Times New Roman" panose="02020603050405020304" pitchFamily="18" charset="0"/>
                <a:cs typeface="Times New Roman" panose="02020603050405020304" pitchFamily="18" charset="0"/>
                <a:sym typeface="+mn-ea"/>
              </a:rPr>
              <a:t>等</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1989</a:t>
            </a:r>
            <a:r>
              <a:rPr lang="zh-CN" altLang="en-US" sz="2000" dirty="0">
                <a:latin typeface="Times New Roman" panose="02020603050405020304" pitchFamily="18" charset="0"/>
                <a:cs typeface="Times New Roman" panose="02020603050405020304" pitchFamily="18" charset="0"/>
                <a:sym typeface="+mn-ea"/>
              </a:rPr>
              <a:t>年</a:t>
            </a:r>
            <a:r>
              <a:rPr lang="en-US" altLang="zh-CN" sz="2000" dirty="0">
                <a:latin typeface="Times New Roman" panose="02020603050405020304" pitchFamily="18" charset="0"/>
                <a:cs typeface="Times New Roman" panose="02020603050405020304" pitchFamily="18" charset="0"/>
                <a:sym typeface="+mn-ea"/>
              </a:rPr>
              <a:t>10</a:t>
            </a:r>
            <a:r>
              <a:rPr lang="zh-CN" altLang="en-US" sz="2000" dirty="0">
                <a:latin typeface="Times New Roman" panose="02020603050405020304" pitchFamily="18" charset="0"/>
                <a:cs typeface="Times New Roman" panose="02020603050405020304" pitchFamily="18" charset="0"/>
                <a:sym typeface="+mn-ea"/>
              </a:rPr>
              <a:t>月宣布</a:t>
            </a:r>
            <a:r>
              <a:rPr lang="en-US" altLang="zh-CN" sz="2000" dirty="0">
                <a:latin typeface="Times New Roman" panose="02020603050405020304" pitchFamily="18" charset="0"/>
                <a:cs typeface="Times New Roman" panose="02020603050405020304" pitchFamily="18" charset="0"/>
                <a:sym typeface="+mn-ea"/>
              </a:rPr>
              <a:t>SPEC1.0</a:t>
            </a:r>
            <a:r>
              <a:rPr lang="zh-CN" altLang="en-US" sz="2000" dirty="0">
                <a:latin typeface="Times New Roman" panose="02020603050405020304" pitchFamily="18" charset="0"/>
                <a:cs typeface="Times New Roman" panose="02020603050405020304" pitchFamily="18" charset="0"/>
                <a:sym typeface="+mn-ea"/>
              </a:rPr>
              <a:t>，程序量超过</a:t>
            </a:r>
            <a:r>
              <a:rPr lang="en-US" altLang="zh-CN" sz="2000" dirty="0">
                <a:latin typeface="Times New Roman" panose="02020603050405020304" pitchFamily="18" charset="0"/>
                <a:cs typeface="Times New Roman" panose="02020603050405020304" pitchFamily="18" charset="0"/>
                <a:sym typeface="+mn-ea"/>
              </a:rPr>
              <a:t>15</a:t>
            </a:r>
            <a:r>
              <a:rPr lang="zh-CN" altLang="en-US" sz="2000" dirty="0">
                <a:latin typeface="Times New Roman" panose="02020603050405020304" pitchFamily="18" charset="0"/>
                <a:cs typeface="Times New Roman" panose="02020603050405020304" pitchFamily="18" charset="0"/>
                <a:sym typeface="+mn-ea"/>
              </a:rPr>
              <a:t>万行</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包含</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个定点程序和</a:t>
            </a:r>
            <a:r>
              <a:rPr lang="en-US" altLang="zh-CN" sz="2000" dirty="0">
                <a:latin typeface="Times New Roman" panose="02020603050405020304" pitchFamily="18" charset="0"/>
                <a:cs typeface="Times New Roman" panose="02020603050405020304" pitchFamily="18" charset="0"/>
                <a:sym typeface="+mn-ea"/>
              </a:rPr>
              <a:t>6</a:t>
            </a:r>
            <a:r>
              <a:rPr lang="zh-CN" altLang="en-US" sz="2000" dirty="0">
                <a:latin typeface="Times New Roman" panose="02020603050405020304" pitchFamily="18" charset="0"/>
                <a:cs typeface="Times New Roman" panose="02020603050405020304" pitchFamily="18" charset="0"/>
                <a:sym typeface="+mn-ea"/>
              </a:rPr>
              <a:t>个浮点程序</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测试结果用</a:t>
            </a:r>
            <a:r>
              <a:rPr lang="en-US" altLang="zh-CN" sz="2000" dirty="0">
                <a:solidFill>
                  <a:srgbClr val="FF3300"/>
                </a:solidFill>
                <a:latin typeface="Times New Roman" panose="02020603050405020304" pitchFamily="18" charset="0"/>
                <a:cs typeface="Times New Roman" panose="02020603050405020304" pitchFamily="18" charset="0"/>
                <a:sym typeface="+mn-ea"/>
              </a:rPr>
              <a:t>SPECint’89</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solidFill>
                  <a:srgbClr val="FF3300"/>
                </a:solidFill>
                <a:latin typeface="Times New Roman" panose="02020603050405020304" pitchFamily="18" charset="0"/>
                <a:cs typeface="Times New Roman" panose="02020603050405020304" pitchFamily="18" charset="0"/>
                <a:sym typeface="+mn-ea"/>
              </a:rPr>
              <a:t>SPECfp’89</a:t>
            </a:r>
            <a:r>
              <a:rPr lang="zh-CN" altLang="en-US" sz="2000" dirty="0">
                <a:latin typeface="Times New Roman" panose="02020603050405020304" pitchFamily="18" charset="0"/>
                <a:cs typeface="Times New Roman" panose="02020603050405020304" pitchFamily="18" charset="0"/>
                <a:sym typeface="+mn-ea"/>
              </a:rPr>
              <a:t>表示</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1992</a:t>
            </a:r>
            <a:r>
              <a:rPr lang="zh-CN" altLang="en-US" sz="2000" dirty="0">
                <a:latin typeface="Times New Roman" panose="02020603050405020304" pitchFamily="18" charset="0"/>
                <a:cs typeface="Times New Roman" panose="02020603050405020304" pitchFamily="18" charset="0"/>
                <a:sym typeface="+mn-ea"/>
              </a:rPr>
              <a:t>年增加到有</a:t>
            </a:r>
            <a:r>
              <a:rPr lang="en-US" altLang="zh-CN" sz="2000" dirty="0">
                <a:latin typeface="Times New Roman" panose="02020603050405020304" pitchFamily="18" charset="0"/>
                <a:cs typeface="Times New Roman" panose="02020603050405020304" pitchFamily="18" charset="0"/>
                <a:sym typeface="+mn-ea"/>
              </a:rPr>
              <a:t>6</a:t>
            </a:r>
            <a:r>
              <a:rPr lang="zh-CN" altLang="en-US" sz="2000" dirty="0">
                <a:latin typeface="Times New Roman" panose="02020603050405020304" pitchFamily="18" charset="0"/>
                <a:cs typeface="Times New Roman" panose="02020603050405020304" pitchFamily="18" charset="0"/>
                <a:sym typeface="+mn-ea"/>
              </a:rPr>
              <a:t>个定点程序和</a:t>
            </a:r>
            <a:r>
              <a:rPr lang="en-US" altLang="zh-CN" sz="2000" dirty="0">
                <a:latin typeface="Times New Roman" panose="02020603050405020304" pitchFamily="18" charset="0"/>
                <a:cs typeface="Times New Roman" panose="02020603050405020304" pitchFamily="18" charset="0"/>
                <a:sym typeface="+mn-ea"/>
              </a:rPr>
              <a:t>14</a:t>
            </a:r>
            <a:r>
              <a:rPr lang="zh-CN" altLang="en-US" sz="2000" dirty="0">
                <a:latin typeface="Times New Roman" panose="02020603050405020304" pitchFamily="18" charset="0"/>
                <a:cs typeface="Times New Roman" panose="02020603050405020304" pitchFamily="18" charset="0"/>
                <a:sym typeface="+mn-ea"/>
              </a:rPr>
              <a:t>个浮点程序</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测试结果用</a:t>
            </a:r>
            <a:r>
              <a:rPr lang="en-US" altLang="zh-CN" sz="2000" dirty="0">
                <a:solidFill>
                  <a:srgbClr val="FF3300"/>
                </a:solidFill>
                <a:latin typeface="Times New Roman" panose="02020603050405020304" pitchFamily="18" charset="0"/>
                <a:cs typeface="Times New Roman" panose="02020603050405020304" pitchFamily="18" charset="0"/>
                <a:sym typeface="+mn-ea"/>
              </a:rPr>
              <a:t>SPECint’92</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solidFill>
                  <a:srgbClr val="FF3300"/>
                </a:solidFill>
                <a:latin typeface="Times New Roman" panose="02020603050405020304" pitchFamily="18" charset="0"/>
                <a:cs typeface="Times New Roman" panose="02020603050405020304" pitchFamily="18" charset="0"/>
                <a:sym typeface="+mn-ea"/>
              </a:rPr>
              <a:t>SPECfp’92</a:t>
            </a:r>
            <a:r>
              <a:rPr lang="zh-CN" altLang="en-US" sz="2000" dirty="0">
                <a:latin typeface="Times New Roman" panose="02020603050405020304" pitchFamily="18" charset="0"/>
                <a:cs typeface="Times New Roman" panose="02020603050405020304" pitchFamily="18" charset="0"/>
                <a:sym typeface="+mn-ea"/>
              </a:rPr>
              <a:t>表示</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1995</a:t>
            </a:r>
            <a:r>
              <a:rPr lang="zh-CN" altLang="en-US" sz="2000" dirty="0">
                <a:latin typeface="Times New Roman" panose="02020603050405020304" pitchFamily="18" charset="0"/>
                <a:cs typeface="Times New Roman" panose="02020603050405020304" pitchFamily="18" charset="0"/>
                <a:sym typeface="+mn-ea"/>
              </a:rPr>
              <a:t>年推出</a:t>
            </a:r>
            <a:r>
              <a:rPr lang="en-US" altLang="zh-CN" sz="2000" dirty="0">
                <a:solidFill>
                  <a:srgbClr val="FF0000"/>
                </a:solidFill>
                <a:latin typeface="Times New Roman" panose="02020603050405020304" pitchFamily="18" charset="0"/>
                <a:cs typeface="Times New Roman" panose="02020603050405020304" pitchFamily="18" charset="0"/>
                <a:sym typeface="+mn-ea"/>
              </a:rPr>
              <a:t>SPECint’95</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solidFill>
                  <a:srgbClr val="FF0000"/>
                </a:solidFill>
                <a:latin typeface="Times New Roman" panose="02020603050405020304" pitchFamily="18" charset="0"/>
                <a:cs typeface="Times New Roman" panose="02020603050405020304" pitchFamily="18" charset="0"/>
                <a:sym typeface="+mn-ea"/>
              </a:rPr>
              <a:t>SPECfp’95</a:t>
            </a:r>
            <a:endParaRPr lang="en-US" altLang="zh-CN" sz="2000" dirty="0">
              <a:solidFill>
                <a:srgbClr val="FF0000"/>
              </a:solidFill>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solidFill>
                  <a:srgbClr val="FF0000"/>
                </a:solidFill>
                <a:latin typeface="Times New Roman" panose="02020603050405020304" pitchFamily="18" charset="0"/>
                <a:cs typeface="Times New Roman" panose="02020603050405020304" pitchFamily="18" charset="0"/>
                <a:sym typeface="+mn-ea"/>
              </a:rPr>
              <a:t>SPEC2000</a:t>
            </a:r>
            <a:r>
              <a:rPr lang="zh-CN" altLang="en-US" sz="2000" dirty="0">
                <a:solidFill>
                  <a:srgbClr val="FF0000"/>
                </a:solidFill>
                <a:latin typeface="Times New Roman" panose="02020603050405020304" pitchFamily="18" charset="0"/>
                <a:cs typeface="Times New Roman" panose="02020603050405020304" pitchFamily="18"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12</a:t>
            </a:r>
            <a:r>
              <a:rPr lang="zh-CN" altLang="en-US" sz="2000" dirty="0">
                <a:solidFill>
                  <a:srgbClr val="FF0000"/>
                </a:solidFill>
                <a:latin typeface="Times New Roman" panose="02020603050405020304" pitchFamily="18" charset="0"/>
                <a:cs typeface="Times New Roman" panose="02020603050405020304" pitchFamily="18" charset="0"/>
                <a:sym typeface="+mn-ea"/>
              </a:rPr>
              <a:t>个定点程序、</a:t>
            </a:r>
            <a:r>
              <a:rPr lang="en-US" altLang="zh-CN" sz="2000" dirty="0">
                <a:solidFill>
                  <a:srgbClr val="FF0000"/>
                </a:solidFill>
                <a:latin typeface="Times New Roman" panose="02020603050405020304" pitchFamily="18" charset="0"/>
                <a:cs typeface="Times New Roman" panose="02020603050405020304" pitchFamily="18" charset="0"/>
                <a:sym typeface="+mn-ea"/>
              </a:rPr>
              <a:t>14</a:t>
            </a:r>
            <a:r>
              <a:rPr lang="zh-CN" altLang="en-US" sz="2000" dirty="0">
                <a:solidFill>
                  <a:srgbClr val="FF0000"/>
                </a:solidFill>
                <a:latin typeface="Times New Roman" panose="02020603050405020304" pitchFamily="18" charset="0"/>
                <a:cs typeface="Times New Roman" panose="02020603050405020304" pitchFamily="18" charset="0"/>
                <a:sym typeface="+mn-ea"/>
              </a:rPr>
              <a:t>个浮点程序</a:t>
            </a:r>
            <a:endParaRPr lang="en-US" altLang="zh-CN" sz="2000" dirty="0">
              <a:solidFill>
                <a:srgbClr val="FF0000"/>
              </a:solidFill>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en-US" altLang="zh-CN" sz="2000" dirty="0">
                <a:solidFill>
                  <a:srgbClr val="FF0000"/>
                </a:solidFill>
                <a:latin typeface="Times New Roman" panose="02020603050405020304" pitchFamily="18" charset="0"/>
                <a:cs typeface="Times New Roman" panose="02020603050405020304" pitchFamily="18" charset="0"/>
                <a:sym typeface="+mn-ea"/>
              </a:rPr>
              <a:t>…..</a:t>
            </a:r>
            <a:endParaRPr lang="zh-CN" altLang="en-US" sz="2000" dirty="0">
              <a:latin typeface="Times New Roman" panose="02020603050405020304" pitchFamily="18" charset="0"/>
              <a:cs typeface="Times New Roman" panose="02020603050405020304" pitchFamily="18" charset="0"/>
            </a:endParaRPr>
          </a:p>
        </p:txBody>
      </p:sp>
      <p:sp>
        <p:nvSpPr>
          <p:cNvPr id="32770" name="Rectangle 2"/>
          <p:cNvSpPr>
            <a:spLocks noGrp="1"/>
          </p:cNvSpPr>
          <p:nvPr>
            <p:ph type="title"/>
          </p:nvPr>
        </p:nvSpPr>
        <p:spPr>
          <a:xfrm>
            <a:off x="395605" y="260985"/>
            <a:ext cx="8688705" cy="1143000"/>
          </a:xfrm>
          <a:noFill/>
          <a:ln>
            <a:noFill/>
          </a:ln>
        </p:spPr>
        <p:txBody>
          <a:bodyPr/>
          <a:lstStyle/>
          <a:p>
            <a:pPr marL="0" indent="0" eaLnBrk="1" latinLnBrk="0" hangingPunct="1">
              <a:spcBef>
                <a:spcPts val="1200"/>
              </a:spcBef>
            </a:pPr>
            <a:r>
              <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SPEC基准程序 System Performance Evaluation Cooperative </a:t>
            </a:r>
            <a:endParaRPr lang="zh-CN" altLang="en-US"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600201"/>
            <a:ext cx="8229600" cy="676672"/>
          </a:xfrm>
        </p:spPr>
        <p:txBody>
          <a:bodyPr/>
          <a:lstStyle/>
          <a:p>
            <a:r>
              <a:rPr lang="zh-CN" altLang="en-US" dirty="0">
                <a:solidFill>
                  <a:srgbClr val="FF0000"/>
                </a:solidFill>
              </a:rPr>
              <a:t>查找相关资料：</a:t>
            </a:r>
            <a:r>
              <a:rPr lang="zh-CN" altLang="en-US" dirty="0">
                <a:solidFill>
                  <a:schemeClr val="accent2">
                    <a:lumMod val="75000"/>
                  </a:schemeClr>
                </a:solidFill>
                <a:latin typeface="Times New Roman" panose="02020603050405020304" pitchFamily="18" charset="0"/>
                <a:cs typeface="Times New Roman" panose="02020603050405020304" pitchFamily="18" charset="0"/>
              </a:rPr>
              <a:t>https://www.spec.org/cpu2017/</a:t>
            </a:r>
            <a:r>
              <a:rPr lang="en-US" altLang="zh-CN" dirty="0">
                <a:solidFill>
                  <a:schemeClr val="accent2">
                    <a:lumMod val="75000"/>
                  </a:schemeClr>
                </a:solidFill>
                <a:latin typeface="Times New Roman" panose="02020603050405020304" pitchFamily="18" charset="0"/>
                <a:cs typeface="Times New Roman" panose="02020603050405020304" pitchFamily="18" charset="0"/>
              </a:rPr>
              <a:t> </a:t>
            </a:r>
            <a:endParaRPr lang="en-US" altLang="zh-CN"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Rectangle 2"/>
          <p:cNvSpPr>
            <a:spLocks noGrp="1"/>
          </p:cNvSpPr>
          <p:nvPr>
            <p:ph type="title"/>
            <p:custDataLst>
              <p:tags r:id="rId1"/>
            </p:custDataLst>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性能评测数据（例）</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479630" y="2473089"/>
            <a:ext cx="8028384" cy="3382626"/>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p:cNvSpPr>
          <p:nvPr>
            <p:ph type="title"/>
            <p:custDataLst>
              <p:tags r:id="rId1"/>
            </p:custDataLst>
          </p:nvPr>
        </p:nvSpPr>
        <p:spPr>
          <a:xfrm>
            <a:off x="395605" y="260985"/>
            <a:ext cx="7772400" cy="1143000"/>
          </a:xfrm>
          <a:noFill/>
          <a:ln>
            <a:noFill/>
          </a:ln>
        </p:spPr>
        <p:txBody>
          <a:bodyPr/>
          <a:lstStyle/>
          <a:p>
            <a:pPr eaLnBrk="1" hangingPunct="1"/>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 性能的比较</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5049" name="Group 57"/>
          <p:cNvGraphicFramePr>
            <a:graphicFrameLocks noGrp="1"/>
          </p:cNvGraphicFramePr>
          <p:nvPr>
            <p:custDataLst>
              <p:tags r:id="rId2"/>
            </p:custDataLst>
          </p:nvPr>
        </p:nvGraphicFramePr>
        <p:xfrm>
          <a:off x="1524000" y="1981200"/>
          <a:ext cx="6096000" cy="1828800"/>
        </p:xfrm>
        <a:graphic>
          <a:graphicData uri="http://schemas.openxmlformats.org/drawingml/2006/table">
            <a:tbl>
              <a:tblPr/>
              <a:tblGrid>
                <a:gridCol w="1524000"/>
                <a:gridCol w="1524000"/>
                <a:gridCol w="1524000"/>
                <a:gridCol w="1524000"/>
              </a:tblGrid>
              <a:tr h="45720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A</a:t>
                      </a:r>
                      <a:r>
                        <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机</a:t>
                      </a:r>
                      <a:endPar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B</a:t>
                      </a:r>
                      <a:r>
                        <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机</a:t>
                      </a:r>
                      <a:endPar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C</a:t>
                      </a:r>
                      <a:r>
                        <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机</a:t>
                      </a:r>
                      <a:endPar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195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程序</a:t>
                      </a: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1</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1</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10</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20</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195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程序</a:t>
                      </a: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2</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1000</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100</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20</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1950">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总时间</a:t>
                      </a:r>
                      <a:endParaRPr kumimoji="0" lang="zh-CN" altLang="en-US"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1001</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110</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FF"/>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1pPr>
                      <a:lvl2pPr indent="114300">
                        <a:buClr>
                          <a:schemeClr val="accent1"/>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2pPr>
                      <a:lvl3pPr indent="227330">
                        <a:buClr>
                          <a:srgbClr val="FF33CC"/>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indent="113030">
                        <a:buClr>
                          <a:srgbClr val="FF99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4pPr>
                      <a:lvl5pPr indent="-688975">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5pPr>
                      <a:lvl6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6pPr>
                      <a:lvl7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7pPr>
                      <a:lvl8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8pPr>
                      <a:lvl9pPr indent="-688975" fontAlgn="base">
                        <a:spcBef>
                          <a:spcPct val="0"/>
                        </a:spcBef>
                        <a:spcAft>
                          <a:spcPct val="0"/>
                        </a:spcAft>
                        <a:buClr>
                          <a:srgbClr val="800000"/>
                        </a:buClr>
                        <a:buSzPct val="6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FF"/>
                        </a:buClr>
                        <a:buSzPct val="60000"/>
                        <a:buFont typeface="Wingdings" panose="05000000000000000000" pitchFamily="2" charset="2"/>
                        <a:buNone/>
                      </a:pPr>
                      <a:r>
                        <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rPr>
                        <a:t>40</a:t>
                      </a:r>
                      <a:endParaRPr kumimoji="0" lang="en-US" altLang="zh-CN" sz="2400" b="0" i="0" u="none" strike="noStrike" cap="none" normalizeH="0" baseline="0">
                        <a:ln>
                          <a:noFill/>
                        </a:ln>
                        <a:solidFill>
                          <a:srgbClr val="000066"/>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34160"/>
            <a:ext cx="8229600" cy="4592320"/>
          </a:xfrm>
        </p:spPr>
        <p:txBody>
          <a:bodyPr/>
          <a:lstStyle/>
          <a:p>
            <a:r>
              <a:rPr lang="zh-CN" altLang="en-US" sz="2400">
                <a:latin typeface="Times New Roman" panose="02020603050405020304" pitchFamily="18" charset="0"/>
                <a:cs typeface="Times New Roman" panose="02020603050405020304" pitchFamily="18" charset="0"/>
              </a:rPr>
              <a:t>一致的衡量标准</a:t>
            </a:r>
            <a:endParaRPr lang="zh-CN" altLang="en-US" sz="2400">
              <a:latin typeface="Times New Roman" panose="02020603050405020304" pitchFamily="18" charset="0"/>
              <a:cs typeface="Times New Roman" panose="02020603050405020304" pitchFamily="18" charset="0"/>
            </a:endParaRPr>
          </a:p>
          <a:p>
            <a:pPr latinLnBrk="0">
              <a:spcBef>
                <a:spcPts val="1200"/>
              </a:spcBef>
            </a:pPr>
            <a:r>
              <a:rPr lang="zh-CN" altLang="en-US" sz="2400">
                <a:latin typeface="Times New Roman" panose="02020603050405020304" pitchFamily="18" charset="0"/>
                <a:cs typeface="Times New Roman" panose="02020603050405020304" pitchFamily="18" charset="0"/>
              </a:rPr>
              <a:t>平均执行时间是各执行时间的算术平均值</a:t>
            </a:r>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如果性能是用速度(例如MFLOPS)表示，那么平均时间是调和平均</a:t>
            </a:r>
            <a:endParaRPr lang="zh-CN" altLang="en-US" sz="2400">
              <a:latin typeface="Times New Roman" panose="02020603050405020304" pitchFamily="18" charset="0"/>
              <a:cs typeface="Times New Roman" panose="02020603050405020304" pitchFamily="18" charset="0"/>
            </a:endParaRPr>
          </a:p>
        </p:txBody>
      </p:sp>
      <p:sp>
        <p:nvSpPr>
          <p:cNvPr id="5" name="Rectangle 2"/>
          <p:cNvSpPr>
            <a:spLocks noGrp="1"/>
          </p:cNvSpPr>
          <p:nvPr>
            <p:ph type="title"/>
            <p:custDataLst>
              <p:tags r:id="rId1"/>
            </p:custDataLst>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(1)总执行时间</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2"/>
            </p:custDataLst>
          </p:nvPr>
        </p:nvPicPr>
        <p:blipFill>
          <a:blip r:embed="rId3"/>
          <a:stretch>
            <a:fillRect/>
          </a:stretch>
        </p:blipFill>
        <p:spPr>
          <a:xfrm>
            <a:off x="1348105" y="2637155"/>
            <a:ext cx="5867400" cy="977900"/>
          </a:xfrm>
          <a:prstGeom prst="rect">
            <a:avLst/>
          </a:prstGeom>
        </p:spPr>
      </p:pic>
      <p:pic>
        <p:nvPicPr>
          <p:cNvPr id="4" name="图片 3"/>
          <p:cNvPicPr>
            <a:picLocks noChangeAspect="1"/>
          </p:cNvPicPr>
          <p:nvPr>
            <p:custDataLst>
              <p:tags r:id="rId4"/>
            </p:custDataLst>
          </p:nvPr>
        </p:nvPicPr>
        <p:blipFill>
          <a:blip r:embed="rId5"/>
          <a:stretch>
            <a:fillRect/>
          </a:stretch>
        </p:blipFill>
        <p:spPr>
          <a:xfrm>
            <a:off x="1115695" y="4725670"/>
            <a:ext cx="7772400" cy="132715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400">
                <a:latin typeface="Times New Roman" panose="02020603050405020304" pitchFamily="18" charset="0"/>
                <a:cs typeface="Times New Roman" panose="02020603050405020304" pitchFamily="18" charset="0"/>
              </a:rPr>
              <a:t>将权因子和执行时间的积相加，这叫做加权算术平均值</a:t>
            </a:r>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加权调和平均所体现的性能和加权算术平均相同</a:t>
            </a:r>
            <a:endParaRPr lang="zh-CN" altLang="en-US" sz="2400">
              <a:latin typeface="Times New Roman" panose="02020603050405020304" pitchFamily="18" charset="0"/>
              <a:cs typeface="Times New Roman" panose="02020603050405020304" pitchFamily="18" charset="0"/>
            </a:endParaRPr>
          </a:p>
        </p:txBody>
      </p:sp>
      <p:sp>
        <p:nvSpPr>
          <p:cNvPr id="5" name="Rectangle 2"/>
          <p:cNvSpPr>
            <a:spLocks noGrp="1"/>
          </p:cNvSpPr>
          <p:nvPr>
            <p:ph type="title"/>
            <p:custDataLst>
              <p:tags r:id="rId1"/>
            </p:custDataLst>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(2)加权执行时间</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7" name="图片 6"/>
          <p:cNvPicPr>
            <a:picLocks noChangeAspect="1"/>
          </p:cNvPicPr>
          <p:nvPr>
            <p:custDataLst>
              <p:tags r:id="rId2"/>
            </p:custDataLst>
          </p:nvPr>
        </p:nvPicPr>
        <p:blipFill>
          <a:blip r:embed="rId3"/>
          <a:stretch>
            <a:fillRect/>
          </a:stretch>
        </p:blipFill>
        <p:spPr>
          <a:xfrm>
            <a:off x="1115695" y="2132965"/>
            <a:ext cx="6934200" cy="977900"/>
          </a:xfrm>
          <a:prstGeom prst="rect">
            <a:avLst/>
          </a:prstGeom>
        </p:spPr>
      </p:pic>
      <p:pic>
        <p:nvPicPr>
          <p:cNvPr id="8" name="图片 7"/>
          <p:cNvPicPr>
            <a:picLocks noChangeAspect="1"/>
          </p:cNvPicPr>
          <p:nvPr>
            <p:custDataLst>
              <p:tags r:id="rId4"/>
            </p:custDataLst>
          </p:nvPr>
        </p:nvPicPr>
        <p:blipFill>
          <a:blip r:embed="rId5"/>
          <a:stretch>
            <a:fillRect/>
          </a:stretch>
        </p:blipFill>
        <p:spPr>
          <a:xfrm>
            <a:off x="1187450" y="4149090"/>
            <a:ext cx="6705600" cy="132715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p:cNvSpPr>
          <p:nvPr>
            <p:ph type="title"/>
            <p:custDataLst>
              <p:tags r:id="rId1"/>
            </p:custDataLst>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例子：加权执行时间</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图片 3"/>
          <p:cNvPicPr>
            <a:picLocks noChangeAspect="1"/>
          </p:cNvPicPr>
          <p:nvPr>
            <p:custDataLst>
              <p:tags r:id="rId2"/>
            </p:custDataLst>
          </p:nvPr>
        </p:nvPicPr>
        <p:blipFill>
          <a:blip r:embed="rId3"/>
          <a:stretch>
            <a:fillRect/>
          </a:stretch>
        </p:blipFill>
        <p:spPr>
          <a:xfrm>
            <a:off x="393700" y="1895475"/>
            <a:ext cx="8356600" cy="306705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p:cNvSpPr>
          <p:nvPr>
            <p:ph type="title"/>
            <p:custDataLst>
              <p:tags r:id="rId1"/>
            </p:custDataLst>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平均标准化时间</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略</a:t>
            </a: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内容占位符 1"/>
          <p:cNvSpPr>
            <a:spLocks noGrp="1"/>
          </p:cNvSpPr>
          <p:nvPr>
            <p:ph idx="1"/>
            <p:custDataLst>
              <p:tags r:id="rId2"/>
            </p:custDataLst>
          </p:nvPr>
        </p:nvSpPr>
        <p:spPr>
          <a:xfrm>
            <a:off x="457200" y="1242060"/>
            <a:ext cx="8229600" cy="4884420"/>
          </a:xfrm>
        </p:spPr>
        <p:txBody>
          <a:bodyPr/>
          <a:lstStyle/>
          <a:p>
            <a:r>
              <a:rPr lang="zh-CN" altLang="en-US" sz="2400" dirty="0">
                <a:latin typeface="Times New Roman" panose="02020603050405020304" pitchFamily="18" charset="0"/>
                <a:cs typeface="Times New Roman" panose="02020603050405020304" pitchFamily="18" charset="0"/>
                <a:sym typeface="+mn-ea"/>
              </a:rPr>
              <a:t>平均标准化时间：</a:t>
            </a:r>
            <a:endParaRPr lang="zh-CN" altLang="en-US" sz="2400" dirty="0">
              <a:latin typeface="Times New Roman" panose="02020603050405020304" pitchFamily="18" charset="0"/>
              <a:cs typeface="Times New Roman" panose="02020603050405020304" pitchFamily="18" charset="0"/>
              <a:sym typeface="+mn-ea"/>
            </a:endParaRPr>
          </a:p>
          <a:p>
            <a:pPr lvl="1" latinLnBrk="0">
              <a:spcBef>
                <a:spcPts val="600"/>
              </a:spcBef>
            </a:pPr>
            <a:r>
              <a:rPr lang="zh-CN" altLang="en-US" sz="2000" dirty="0">
                <a:latin typeface="Times New Roman" panose="02020603050405020304" pitchFamily="18" charset="0"/>
                <a:cs typeface="Times New Roman" panose="02020603050405020304" pitchFamily="18" charset="0"/>
              </a:rPr>
              <a:t>将一个任务的执行时间</a:t>
            </a:r>
            <a:r>
              <a:rPr lang="zh-CN" altLang="en-US" sz="2000" dirty="0">
                <a:solidFill>
                  <a:srgbClr val="FF0000"/>
                </a:solidFill>
                <a:latin typeface="Times New Roman" panose="02020603050405020304" pitchFamily="18" charset="0"/>
                <a:cs typeface="Times New Roman" panose="02020603050405020304" pitchFamily="18" charset="0"/>
              </a:rPr>
              <a:t>标准化为一个参考机器的执行时间</a:t>
            </a:r>
            <a:endParaRPr lang="zh-CN" altLang="en-US" sz="2000" dirty="0">
              <a:latin typeface="Times New Roman" panose="02020603050405020304" pitchFamily="18" charset="0"/>
              <a:cs typeface="Times New Roman" panose="02020603050405020304" pitchFamily="18" charset="0"/>
            </a:endParaRPr>
          </a:p>
          <a:p>
            <a:pPr lvl="1" latinLnBrk="0">
              <a:spcBef>
                <a:spcPts val="600"/>
              </a:spcBef>
            </a:pPr>
            <a:r>
              <a:rPr lang="zh-CN" altLang="en-US" sz="2000" dirty="0">
                <a:latin typeface="Times New Roman" panose="02020603050405020304" pitchFamily="18" charset="0"/>
                <a:cs typeface="Times New Roman" panose="02020603050405020304" pitchFamily="18" charset="0"/>
              </a:rPr>
              <a:t>用算术平均和几何平均来表示</a:t>
            </a:r>
            <a:endParaRPr lang="zh-CN" altLang="en-US" sz="2400" dirty="0">
              <a:latin typeface="Times New Roman" panose="02020603050405020304" pitchFamily="18" charset="0"/>
              <a:cs typeface="Times New Roman" panose="02020603050405020304" pitchFamily="18" charset="0"/>
            </a:endParaRPr>
          </a:p>
          <a:p>
            <a:pPr lvl="1" algn="l" latinLnBrk="0">
              <a:spcBef>
                <a:spcPts val="600"/>
              </a:spcBef>
              <a:buSzTx/>
            </a:pPr>
            <a:r>
              <a:rPr lang="zh-CN" altLang="en-US" sz="2000" dirty="0">
                <a:latin typeface="Times New Roman" panose="02020603050405020304" pitchFamily="18" charset="0"/>
                <a:cs typeface="Times New Roman" panose="02020603050405020304" pitchFamily="18" charset="0"/>
              </a:rPr>
              <a:t>几何平均公式：</a:t>
            </a:r>
            <a:r>
              <a:rPr lang="zh-CN" altLang="en-US" sz="2000" dirty="0">
                <a:latin typeface="Times New Roman" panose="02020603050405020304" pitchFamily="18" charset="0"/>
                <a:cs typeface="Times New Roman" panose="02020603050405020304" pitchFamily="18" charset="0"/>
                <a:sym typeface="+mn-ea"/>
              </a:rPr>
              <a:t>ETR是程序标准化为参考机器后的时间</a:t>
            </a:r>
            <a:endParaRPr lang="zh-CN" altLang="en-US" sz="2000" dirty="0">
              <a:latin typeface="Times New Roman" panose="02020603050405020304" pitchFamily="18" charset="0"/>
              <a:cs typeface="Times New Roman" panose="02020603050405020304" pitchFamily="18" charset="0"/>
            </a:endParaRPr>
          </a:p>
          <a:p>
            <a:pPr marL="457200" lvl="1" indent="0" algn="ctr" latinLnBrk="0">
              <a:spcBef>
                <a:spcPts val="1200"/>
              </a:spcBef>
              <a:buNone/>
            </a:pPr>
            <a:r>
              <a:rPr lang="pt-BR" altLang="zh-CN" sz="2400" b="1" i="0" dirty="0">
                <a:solidFill>
                  <a:srgbClr val="FF0000"/>
                </a:solidFill>
                <a:effectLst/>
                <a:latin typeface="-apple-system"/>
              </a:rPr>
              <a:t>(ETR₁ * ETR₂ * ... * ETRₙ)^(1/n)</a:t>
            </a:r>
            <a:endParaRPr lang="zh-CN" altLang="en-US" sz="3600" dirty="0">
              <a:solidFill>
                <a:srgbClr val="FF0000"/>
              </a:solidFill>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cs typeface="Times New Roman" panose="02020603050405020304" pitchFamily="18" charset="0"/>
            </a:endParaRPr>
          </a:p>
          <a:p>
            <a:pPr lvl="1" algn="l" latinLnBrk="0">
              <a:spcBef>
                <a:spcPts val="600"/>
              </a:spcBef>
              <a:buSzTx/>
            </a:pPr>
            <a:r>
              <a:rPr lang="zh-CN" altLang="en-US" sz="2000" dirty="0">
                <a:latin typeface="Times New Roman" panose="02020603050405020304" pitchFamily="18" charset="0"/>
                <a:cs typeface="Times New Roman" panose="02020603050405020304" pitchFamily="18" charset="0"/>
              </a:rPr>
              <a:t>几何平均性质</a:t>
            </a:r>
            <a:endParaRPr lang="zh-CN" altLang="en-US" sz="2000" dirty="0">
              <a:latin typeface="Times New Roman" panose="02020603050405020304" pitchFamily="18" charset="0"/>
              <a:cs typeface="Times New Roman" panose="02020603050405020304" pitchFamily="18" charset="0"/>
            </a:endParaRPr>
          </a:p>
          <a:p>
            <a:pPr lvl="1" algn="l">
              <a:spcBef>
                <a:spcPts val="600"/>
              </a:spcBef>
              <a:buSzTx/>
            </a:pPr>
            <a:endParaRPr lang="zh-CN" altLang="en-US" sz="2000" dirty="0">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cs typeface="Times New Roman" panose="02020603050405020304" pitchFamily="18" charset="0"/>
            </a:endParaRPr>
          </a:p>
          <a:p>
            <a:pPr lvl="1" latinLnBrk="0">
              <a:spcBef>
                <a:spcPts val="600"/>
              </a:spcBef>
            </a:pPr>
            <a:r>
              <a:rPr lang="zh-CN" altLang="en-US" sz="2000" dirty="0">
                <a:latin typeface="Times New Roman" panose="02020603050405020304" pitchFamily="18" charset="0"/>
                <a:cs typeface="Times New Roman" panose="02020603050405020304" pitchFamily="18" charset="0"/>
              </a:rPr>
              <a:t>加权平均：使用的频度的影响，具体机器及输入量的制约</a:t>
            </a:r>
            <a:endParaRPr lang="zh-CN" altLang="en-US" sz="2000" dirty="0">
              <a:latin typeface="Times New Roman" panose="02020603050405020304" pitchFamily="18" charset="0"/>
              <a:cs typeface="Times New Roman" panose="02020603050405020304" pitchFamily="18" charset="0"/>
            </a:endParaRPr>
          </a:p>
          <a:p>
            <a:pPr lvl="1" latinLnBrk="0">
              <a:spcBef>
                <a:spcPts val="600"/>
              </a:spcBef>
            </a:pPr>
            <a:r>
              <a:rPr lang="zh-CN" altLang="en-US" sz="2000" dirty="0">
                <a:latin typeface="Times New Roman" panose="02020603050405020304" pitchFamily="18" charset="0"/>
                <a:cs typeface="Times New Roman" panose="02020603050405020304" pitchFamily="18" charset="0"/>
              </a:rPr>
              <a:t>标准化时间的几何平均：和程序的执行时间和具体机器无关</a:t>
            </a:r>
            <a:endParaRPr lang="zh-CN" altLang="en-US" sz="200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custDataLst>
              <p:tags r:id="rId3"/>
            </p:custDataLst>
          </p:nvPr>
        </p:nvPicPr>
        <p:blipFill>
          <a:blip r:embed="rId4"/>
          <a:stretch>
            <a:fillRect/>
          </a:stretch>
        </p:blipFill>
        <p:spPr>
          <a:xfrm>
            <a:off x="3636011" y="4004945"/>
            <a:ext cx="2808198" cy="978848"/>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panose="02020603050405020304" pitchFamily="18" charset="0"/>
                <a:cs typeface="Times New Roman" panose="02020603050405020304" pitchFamily="18" charset="0"/>
              </a:rPr>
              <a:t>CPU</a:t>
            </a:r>
            <a:r>
              <a:rPr lang="zh-CN" altLang="en-US">
                <a:latin typeface="Times New Roman" panose="02020603050405020304" pitchFamily="18" charset="0"/>
                <a:cs typeface="Times New Roman" panose="02020603050405020304" pitchFamily="18" charset="0"/>
              </a:rPr>
              <a:t>性能公式和</a:t>
            </a:r>
            <a:r>
              <a:rPr lang="en-US" altLang="zh-CN">
                <a:latin typeface="Times New Roman" panose="02020603050405020304" pitchFamily="18" charset="0"/>
                <a:cs typeface="Times New Roman" panose="02020603050405020304" pitchFamily="18" charset="0"/>
              </a:rPr>
              <a:t>MIPS</a:t>
            </a:r>
            <a:r>
              <a:rPr lang="zh-CN" altLang="en-US">
                <a:latin typeface="Times New Roman" panose="02020603050405020304" pitchFamily="18" charset="0"/>
                <a:cs typeface="Times New Roman" panose="02020603050405020304" pitchFamily="18" charset="0"/>
              </a:rPr>
              <a:t>性能指标</a:t>
            </a:r>
            <a:endParaRPr lang="zh-CN" altLang="en-US">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57200" y="1299210"/>
            <a:ext cx="8229600" cy="4827270"/>
          </a:xfrm>
        </p:spPr>
        <p:txBody>
          <a:bodyPr/>
          <a:p>
            <a:r>
              <a:rPr lang="zh-CN" altLang="en-US" sz="2000">
                <a:latin typeface="Times New Roman" panose="02020603050405020304" pitchFamily="18" charset="0"/>
                <a:cs typeface="Times New Roman" panose="02020603050405020304" pitchFamily="18" charset="0"/>
              </a:rPr>
              <a:t>CPU性能公式和MIPS（每秒百万指令数）是评估计算机系统性能的两种不同方法，各有其特点和适用场景。</a:t>
            </a:r>
            <a:endParaRPr lang="zh-CN" altLang="en-US" sz="2000">
              <a:latin typeface="Times New Roman" panose="02020603050405020304" pitchFamily="18" charset="0"/>
              <a:cs typeface="Times New Roman" panose="02020603050405020304" pitchFamily="18" charset="0"/>
            </a:endParaRPr>
          </a:p>
          <a:p>
            <a:pPr latinLnBrk="0">
              <a:spcBef>
                <a:spcPts val="1200"/>
              </a:spcBef>
            </a:pPr>
            <a:r>
              <a:rPr lang="zh-CN" altLang="en-US" sz="2000">
                <a:latin typeface="Times New Roman" panose="02020603050405020304" pitchFamily="18" charset="0"/>
                <a:cs typeface="Times New Roman" panose="02020603050405020304" pitchFamily="18" charset="0"/>
              </a:rPr>
              <a:t>CPU性能公式</a:t>
            </a:r>
            <a:endParaRPr lang="zh-CN" altLang="en-US"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CPU性能公式包括时钟速度（频率）、每个时钟周期的指令数（IPC，Instructions Per Cycle）等，能够提供更全面的评估。</a:t>
            </a:r>
            <a:endParaRPr lang="zh-CN" altLang="en-US" sz="2000">
              <a:latin typeface="Times New Roman" panose="02020603050405020304" pitchFamily="18" charset="0"/>
              <a:cs typeface="Times New Roman" panose="02020603050405020304" pitchFamily="18" charset="0"/>
            </a:endParaRPr>
          </a:p>
          <a:p>
            <a:pPr latinLnBrk="0">
              <a:spcBef>
                <a:spcPts val="1200"/>
              </a:spcBef>
            </a:pPr>
            <a:r>
              <a:rPr lang="zh-CN" altLang="en-US" sz="2000">
                <a:latin typeface="Times New Roman" panose="02020603050405020304" pitchFamily="18" charset="0"/>
                <a:cs typeface="Times New Roman" panose="02020603050405020304" pitchFamily="18" charset="0"/>
              </a:rPr>
              <a:t>MIPS（每秒百万指令数）：</a:t>
            </a:r>
            <a:endParaRPr lang="zh-CN" altLang="en-US"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简单，通常用于比较同一架构下的处理器性能。</a:t>
            </a:r>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p:cNvSpPr>
          <p:nvPr>
            <p:ph type="title"/>
            <p:custDataLst>
              <p:tags r:id="rId1"/>
            </p:custDataLst>
          </p:nvPr>
        </p:nvSpPr>
        <p:spPr>
          <a:xfrm>
            <a:off x="395605" y="260985"/>
            <a:ext cx="7772400" cy="1143000"/>
          </a:xfrm>
          <a:noFill/>
          <a:ln>
            <a:noFill/>
          </a:ln>
        </p:spPr>
        <p:txBody>
          <a:body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1.3.2 成本</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内容占位符 1"/>
          <p:cNvSpPr>
            <a:spLocks noGrp="1"/>
          </p:cNvSpPr>
          <p:nvPr>
            <p:ph idx="1"/>
            <p:custDataLst>
              <p:tags r:id="rId2"/>
            </p:custDataLst>
          </p:nvPr>
        </p:nvSpPr>
        <p:spPr>
          <a:xfrm>
            <a:off x="457200" y="1403985"/>
            <a:ext cx="8229600" cy="4722495"/>
          </a:xfrm>
        </p:spPr>
        <p:txBody>
          <a:bodyPr/>
          <a:lstStyle/>
          <a:p>
            <a:r>
              <a:rPr lang="zh-CN" altLang="en-US" sz="2400">
                <a:latin typeface="Times New Roman" panose="02020603050405020304" pitchFamily="18" charset="0"/>
                <a:cs typeface="Times New Roman" panose="02020603050405020304" pitchFamily="18" charset="0"/>
              </a:rPr>
              <a:t>成本指标</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计算机系统的成本：软件和硬件两方面</a:t>
            </a:r>
            <a:endParaRPr lang="zh-CN" altLang="en-US" sz="2000">
              <a:latin typeface="Times New Roman" panose="02020603050405020304" pitchFamily="18" charset="0"/>
              <a:cs typeface="Times New Roman" panose="02020603050405020304" pitchFamily="18" charset="0"/>
            </a:endParaRPr>
          </a:p>
          <a:p>
            <a:pPr lvl="2" latinLnBrk="0">
              <a:spcBef>
                <a:spcPts val="1200"/>
              </a:spcBef>
            </a:pPr>
            <a:r>
              <a:rPr lang="zh-CN" altLang="en-US" sz="2000">
                <a:latin typeface="Times New Roman" panose="02020603050405020304" pitchFamily="18" charset="0"/>
                <a:cs typeface="Times New Roman" panose="02020603050405020304" pitchFamily="18" charset="0"/>
              </a:rPr>
              <a:t>软件成本由于其复杂性和长度的增加而不断增长；</a:t>
            </a:r>
            <a:endParaRPr lang="zh-CN" altLang="en-US" sz="2000">
              <a:latin typeface="Times New Roman" panose="02020603050405020304" pitchFamily="18" charset="0"/>
              <a:cs typeface="Times New Roman" panose="02020603050405020304" pitchFamily="18" charset="0"/>
            </a:endParaRPr>
          </a:p>
          <a:p>
            <a:pPr lvl="2" latinLnBrk="0">
              <a:spcBef>
                <a:spcPts val="1200"/>
              </a:spcBef>
            </a:pPr>
            <a:r>
              <a:rPr lang="zh-CN" altLang="en-US" sz="2000">
                <a:latin typeface="Times New Roman" panose="02020603050405020304" pitchFamily="18" charset="0"/>
                <a:cs typeface="Times New Roman" panose="02020603050405020304" pitchFamily="18" charset="0"/>
              </a:rPr>
              <a:t>硬件成本由于技术的发展尤其是VLSI的发展而快速下降</a:t>
            </a:r>
            <a:endParaRPr lang="zh-CN" altLang="en-US" sz="20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计算机系统的成本：包括两部分</a:t>
            </a:r>
            <a:endParaRPr lang="zh-CN" altLang="en-US" sz="2000">
              <a:latin typeface="Times New Roman" panose="02020603050405020304" pitchFamily="18" charset="0"/>
              <a:cs typeface="Times New Roman" panose="02020603050405020304" pitchFamily="18" charset="0"/>
            </a:endParaRPr>
          </a:p>
          <a:p>
            <a:pPr lvl="2" latinLnBrk="0">
              <a:spcBef>
                <a:spcPts val="1200"/>
              </a:spcBef>
            </a:pPr>
            <a:r>
              <a:rPr lang="zh-CN" altLang="en-US" sz="2000">
                <a:latin typeface="Times New Roman" panose="02020603050405020304" pitchFamily="18" charset="0"/>
                <a:cs typeface="Times New Roman" panose="02020603050405020304" pitchFamily="18" charset="0"/>
              </a:rPr>
              <a:t>一次性开发成本</a:t>
            </a:r>
            <a:endParaRPr lang="zh-CN" altLang="en-US" sz="2000">
              <a:latin typeface="Times New Roman" panose="02020603050405020304" pitchFamily="18" charset="0"/>
              <a:cs typeface="Times New Roman" panose="02020603050405020304" pitchFamily="18" charset="0"/>
            </a:endParaRPr>
          </a:p>
          <a:p>
            <a:pPr lvl="2" latinLnBrk="0">
              <a:spcBef>
                <a:spcPts val="1200"/>
              </a:spcBef>
            </a:pPr>
            <a:r>
              <a:rPr lang="zh-CN" altLang="en-US" sz="2000">
                <a:latin typeface="Times New Roman" panose="02020603050405020304" pitchFamily="18" charset="0"/>
                <a:cs typeface="Times New Roman" panose="02020603050405020304" pitchFamily="18" charset="0"/>
              </a:rPr>
              <a:t>每个部件的生产成本</a:t>
            </a:r>
            <a:endParaRPr lang="zh-CN" altLang="en-US" sz="20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软件成本：主要是开发成本，软件的生产成本即复制费是很低的</a:t>
            </a:r>
            <a:endParaRPr lang="zh-CN" altLang="en-US" sz="2000">
              <a:latin typeface="Times New Roman" panose="02020603050405020304" pitchFamily="18" charset="0"/>
              <a:cs typeface="Times New Roman" panose="02020603050405020304" pitchFamily="18" charset="0"/>
            </a:endParaRPr>
          </a:p>
          <a:p>
            <a:pPr lvl="1" latinLnBrk="0">
              <a:spcBef>
                <a:spcPts val="1200"/>
              </a:spcBef>
            </a:pPr>
            <a:r>
              <a:rPr lang="zh-CN" altLang="en-US" sz="2000">
                <a:solidFill>
                  <a:srgbClr val="FF0000"/>
                </a:solidFill>
                <a:latin typeface="Times New Roman" panose="02020603050405020304" pitchFamily="18" charset="0"/>
                <a:cs typeface="Times New Roman" panose="02020603050405020304" pitchFamily="18" charset="0"/>
              </a:rPr>
              <a:t>硬件成本：一次性开发成本</a:t>
            </a:r>
            <a:r>
              <a:rPr lang="en-US" altLang="zh-CN" sz="2000">
                <a:solidFill>
                  <a:srgbClr val="FF0000"/>
                </a:solidFill>
                <a:latin typeface="Times New Roman" panose="02020603050405020304" pitchFamily="18" charset="0"/>
                <a:cs typeface="Times New Roman" panose="02020603050405020304" pitchFamily="18" charset="0"/>
              </a:rPr>
              <a:t>+</a:t>
            </a:r>
            <a:r>
              <a:rPr lang="zh-CN" altLang="en-US" sz="2000">
                <a:solidFill>
                  <a:srgbClr val="FF0000"/>
                </a:solidFill>
                <a:latin typeface="Times New Roman" panose="02020603050405020304" pitchFamily="18" charset="0"/>
                <a:cs typeface="Times New Roman" panose="02020603050405020304" pitchFamily="18" charset="0"/>
              </a:rPr>
              <a:t>生产成本，生产成本远高于软件</a:t>
            </a:r>
            <a:endParaRPr lang="zh-CN" altLang="en-US" sz="20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nvSpPr>
        <p:spPr>
          <a:xfrm>
            <a:off x="395605" y="260985"/>
            <a:ext cx="7772400" cy="1143000"/>
          </a:xfrm>
          <a:prstGeom prst="rect">
            <a:avLst/>
          </a:prstGeom>
          <a:noFill/>
          <a:ln>
            <a:noFill/>
          </a:ln>
        </p:spPr>
        <p:txBody>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1.4 计算机系统结构的发展</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内容占位符 1"/>
          <p:cNvSpPr>
            <a:spLocks noGrp="1"/>
          </p:cNvSpPr>
          <p:nvPr>
            <p:ph idx="1"/>
          </p:nvPr>
        </p:nvSpPr>
        <p:spPr>
          <a:xfrm>
            <a:off x="457200" y="1269365"/>
            <a:ext cx="8229600" cy="2656205"/>
          </a:xfrm>
        </p:spPr>
        <p:txBody>
          <a:bodyPr/>
          <a:lstStyle/>
          <a:p>
            <a:r>
              <a:rPr lang="zh-CN" altLang="en-US" sz="2400">
                <a:latin typeface="Times New Roman" panose="02020603050405020304" pitchFamily="18" charset="0"/>
                <a:cs typeface="Times New Roman" panose="02020603050405020304" pitchFamily="18" charset="0"/>
              </a:rPr>
              <a:t>1.4.1冯·诺依曼结构</a:t>
            </a:r>
            <a:endParaRPr lang="zh-CN" altLang="en-US" sz="24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Van Nenmann基本思想于1936年～1946年期间形成</a:t>
            </a:r>
            <a:endParaRPr lang="zh-CN" altLang="en-US" sz="20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由冯·诺依曼等人于1946年提出</a:t>
            </a:r>
            <a:endParaRPr lang="zh-CN" altLang="en-US" sz="20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以存储程序原理为基础，指令驱动</a:t>
            </a:r>
            <a:endParaRPr lang="zh-CN" altLang="en-US" sz="20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由输入、输出设备、运算器、控制器和存储器构成</a:t>
            </a:r>
            <a:endParaRPr lang="zh-CN" altLang="en-US" sz="20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存储程序, 顺序执行：指令= OP  地址码</a:t>
            </a:r>
            <a:endParaRPr lang="zh-CN" altLang="en-US" sz="2000">
              <a:latin typeface="Times New Roman" panose="02020603050405020304" pitchFamily="18" charset="0"/>
              <a:cs typeface="Times New Roman" panose="02020603050405020304" pitchFamily="18" charset="0"/>
            </a:endParaRPr>
          </a:p>
          <a:p>
            <a:pPr marL="0" indent="0">
              <a:buNone/>
            </a:pPr>
            <a:r>
              <a:rPr lang="zh-CN" altLang="en-US" sz="2400">
                <a:latin typeface="Times New Roman" panose="02020603050405020304" pitchFamily="18" charset="0"/>
                <a:cs typeface="Times New Roman" panose="02020603050405020304" pitchFamily="18" charset="0"/>
              </a:rPr>
              <a:t>                              </a:t>
            </a:r>
            <a:endParaRPr lang="zh-CN" altLang="en-US" sz="2400">
              <a:latin typeface="Times New Roman" panose="02020603050405020304" pitchFamily="18" charset="0"/>
              <a:cs typeface="Times New Roman" panose="02020603050405020304" pitchFamily="18" charset="0"/>
            </a:endParaRPr>
          </a:p>
        </p:txBody>
      </p:sp>
      <p:graphicFrame>
        <p:nvGraphicFramePr>
          <p:cNvPr id="111621" name="Object 6"/>
          <p:cNvGraphicFramePr>
            <a:graphicFrameLocks noChangeAspect="1"/>
          </p:cNvGraphicFramePr>
          <p:nvPr>
            <p:custDataLst>
              <p:tags r:id="rId1"/>
            </p:custDataLst>
          </p:nvPr>
        </p:nvGraphicFramePr>
        <p:xfrm>
          <a:off x="1115695" y="3644583"/>
          <a:ext cx="6781800" cy="2928937"/>
        </p:xfrm>
        <a:graphic>
          <a:graphicData uri="http://schemas.openxmlformats.org/presentationml/2006/ole">
            <mc:AlternateContent xmlns:mc="http://schemas.openxmlformats.org/markup-compatibility/2006">
              <mc:Choice xmlns:v="urn:schemas-microsoft-com:vml" Requires="v">
                <p:oleObj spid="_x0000_s3" name="" r:id="rId2" imgW="3657600" imgH="1578610" progId="Word.Picture.8">
                  <p:embed/>
                </p:oleObj>
              </mc:Choice>
              <mc:Fallback>
                <p:oleObj name="" r:id="rId2" imgW="3657600" imgH="1578610" progId="Word.Picture.8">
                  <p:embed/>
                  <p:pic>
                    <p:nvPicPr>
                      <p:cNvPr id="0" name="图片 3095"/>
                      <p:cNvPicPr/>
                      <p:nvPr/>
                    </p:nvPicPr>
                    <p:blipFill>
                      <a:blip r:embed="rId3"/>
                      <a:srcRect/>
                      <a:stretch>
                        <a:fillRect/>
                      </a:stretch>
                    </p:blipFill>
                    <p:spPr>
                      <a:xfrm>
                        <a:off x="1115695" y="3644583"/>
                        <a:ext cx="6781800" cy="2928937"/>
                      </a:xfrm>
                      <a:prstGeom prst="rect">
                        <a:avLst/>
                      </a:prstGeom>
                      <a:noFill/>
                      <a:ln w="38100">
                        <a:miter/>
                      </a:ln>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特点: 存储程序、运算器为中心、集中控制</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375410"/>
            <a:ext cx="8229600" cy="4751070"/>
          </a:xfrm>
        </p:spPr>
        <p:txBody>
          <a:bodyPr/>
          <a:lstStyle/>
          <a:p>
            <a:pPr latinLnBrk="0">
              <a:spcBef>
                <a:spcPts val="1200"/>
              </a:spcBef>
            </a:pPr>
            <a:r>
              <a:rPr lang="zh-CN" altLang="en-US" sz="2400">
                <a:latin typeface="Times New Roman" panose="02020603050405020304" pitchFamily="18" charset="0"/>
                <a:cs typeface="Times New Roman" panose="02020603050405020304" pitchFamily="18" charset="0"/>
              </a:rPr>
              <a:t>存储器：</a:t>
            </a:r>
            <a:endParaRPr lang="zh-CN" altLang="en-US" sz="2400">
              <a:latin typeface="Times New Roman" panose="02020603050405020304" pitchFamily="18" charset="0"/>
              <a:cs typeface="Times New Roman" panose="02020603050405020304" pitchFamily="18" charset="0"/>
            </a:endParaRPr>
          </a:p>
          <a:p>
            <a:pPr lvl="1" algn="l" latinLnBrk="0">
              <a:spcBef>
                <a:spcPts val="600"/>
              </a:spcBef>
              <a:buSzTx/>
            </a:pPr>
            <a:r>
              <a:rPr lang="zh-CN" altLang="en-US" sz="2000">
                <a:latin typeface="Times New Roman" panose="02020603050405020304" pitchFamily="18" charset="0"/>
                <a:cs typeface="Times New Roman" panose="02020603050405020304" pitchFamily="18" charset="0"/>
              </a:rPr>
              <a:t>字长固定的、顺序线性编址的一维结构</a:t>
            </a:r>
            <a:endParaRPr lang="zh-CN" altLang="en-US" sz="20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每个地址是唯一定义的：如4096个字、40位地址</a:t>
            </a:r>
            <a:endParaRPr lang="zh-CN" altLang="en-US" sz="2000">
              <a:latin typeface="Times New Roman" panose="02020603050405020304" pitchFamily="18" charset="0"/>
              <a:cs typeface="Times New Roman" panose="02020603050405020304" pitchFamily="18" charset="0"/>
            </a:endParaRPr>
          </a:p>
          <a:p>
            <a:pPr latinLnBrk="0">
              <a:spcBef>
                <a:spcPts val="1200"/>
              </a:spcBef>
            </a:pPr>
            <a:r>
              <a:rPr lang="zh-CN" altLang="en-US" sz="2400">
                <a:latin typeface="Times New Roman" panose="02020603050405020304" pitchFamily="18" charset="0"/>
                <a:cs typeface="Times New Roman" panose="02020603050405020304" pitchFamily="18" charset="0"/>
              </a:rPr>
              <a:t>指令驱动：</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由指令形式的低级机器语言驱动</a:t>
            </a:r>
            <a:endParaRPr lang="zh-CN" altLang="en-US" sz="2000">
              <a:latin typeface="Times New Roman" panose="02020603050405020304" pitchFamily="18" charset="0"/>
              <a:cs typeface="Times New Roman" panose="02020603050405020304" pitchFamily="18" charset="0"/>
            </a:endParaRPr>
          </a:p>
          <a:p>
            <a:pPr latinLnBrk="0">
              <a:spcBef>
                <a:spcPts val="1200"/>
              </a:spcBef>
            </a:pPr>
            <a:r>
              <a:rPr lang="zh-CN" altLang="en-US" sz="2400">
                <a:latin typeface="Times New Roman" panose="02020603050405020304" pitchFamily="18" charset="0"/>
                <a:cs typeface="Times New Roman" panose="02020603050405020304" pitchFamily="18" charset="0"/>
              </a:rPr>
              <a:t>指令顺序执行：</a:t>
            </a:r>
            <a:endParaRPr lang="zh-CN" altLang="en-US" sz="2400">
              <a:latin typeface="Times New Roman" panose="02020603050405020304" pitchFamily="18" charset="0"/>
              <a:cs typeface="Times New Roman" panose="02020603050405020304" pitchFamily="18" charset="0"/>
            </a:endParaRPr>
          </a:p>
          <a:p>
            <a:pPr lvl="1" algn="l" latinLnBrk="0">
              <a:spcBef>
                <a:spcPts val="600"/>
              </a:spcBef>
              <a:buSzTx/>
            </a:pPr>
            <a:r>
              <a:rPr lang="zh-CN" altLang="en-US" sz="2000">
                <a:latin typeface="Times New Roman" panose="02020603050405020304" pitchFamily="18" charset="0"/>
                <a:cs typeface="Times New Roman" panose="02020603050405020304" pitchFamily="18" charset="0"/>
              </a:rPr>
              <a:t>一般按照指令在存储器中存放的顺序执行；</a:t>
            </a:r>
            <a:endParaRPr lang="zh-CN" altLang="en-US" sz="2000">
              <a:latin typeface="Times New Roman" panose="02020603050405020304" pitchFamily="18" charset="0"/>
              <a:cs typeface="Times New Roman" panose="02020603050405020304" pitchFamily="18" charset="0"/>
            </a:endParaRPr>
          </a:p>
          <a:p>
            <a:pPr lvl="1" algn="l" latinLnBrk="0">
              <a:spcBef>
                <a:spcPts val="600"/>
              </a:spcBef>
              <a:buSzTx/>
            </a:pPr>
            <a:r>
              <a:rPr lang="zh-CN" altLang="en-US" sz="2000">
                <a:latin typeface="Times New Roman" panose="02020603050405020304" pitchFamily="18" charset="0"/>
                <a:cs typeface="Times New Roman" panose="02020603050405020304" pitchFamily="18" charset="0"/>
              </a:rPr>
              <a:t>程序分支由转移指令实现</a:t>
            </a:r>
            <a:endParaRPr lang="zh-CN" altLang="en-US" sz="2000">
              <a:latin typeface="Times New Roman" panose="02020603050405020304" pitchFamily="18" charset="0"/>
              <a:cs typeface="Times New Roman" panose="02020603050405020304" pitchFamily="18" charset="0"/>
            </a:endParaRPr>
          </a:p>
          <a:p>
            <a:pPr latinLnBrk="0">
              <a:spcBef>
                <a:spcPts val="1200"/>
              </a:spcBef>
            </a:pPr>
            <a:r>
              <a:rPr lang="zh-CN" altLang="en-US" sz="2400">
                <a:latin typeface="Times New Roman" panose="02020603050405020304" pitchFamily="18" charset="0"/>
                <a:cs typeface="Times New Roman" panose="02020603050405020304" pitchFamily="18" charset="0"/>
              </a:rPr>
              <a:t>运算器为中心：</a:t>
            </a:r>
            <a:endParaRPr lang="zh-CN" altLang="en-US" sz="24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输入输出设备与存储器之间的数据传送都途经运算器</a:t>
            </a:r>
            <a:endParaRPr lang="zh-CN" altLang="en-US" sz="2000">
              <a:latin typeface="Times New Roman" panose="02020603050405020304" pitchFamily="18" charset="0"/>
              <a:cs typeface="Times New Roman" panose="02020603050405020304" pitchFamily="18" charset="0"/>
            </a:endParaRPr>
          </a:p>
          <a:p>
            <a:pPr lvl="1" latinLnBrk="0">
              <a:spcBef>
                <a:spcPts val="600"/>
              </a:spcBef>
            </a:pPr>
            <a:r>
              <a:rPr lang="zh-CN" altLang="en-US" sz="2000">
                <a:latin typeface="Times New Roman" panose="02020603050405020304" pitchFamily="18" charset="0"/>
                <a:cs typeface="Times New Roman" panose="02020603050405020304" pitchFamily="18" charset="0"/>
              </a:rPr>
              <a:t>运算器、存储器、</a:t>
            </a:r>
            <a:r>
              <a:rPr lang="en-US" altLang="zh-CN" sz="2000">
                <a:latin typeface="Times New Roman" panose="02020603050405020304" pitchFamily="18" charset="0"/>
                <a:cs typeface="Times New Roman" panose="02020603050405020304" pitchFamily="18" charset="0"/>
              </a:rPr>
              <a:t>I/O</a:t>
            </a:r>
            <a:r>
              <a:rPr lang="zh-CN" altLang="en-US" sz="2000">
                <a:latin typeface="Times New Roman" panose="02020603050405020304" pitchFamily="18" charset="0"/>
                <a:cs typeface="Times New Roman" panose="02020603050405020304" pitchFamily="18" charset="0"/>
              </a:rPr>
              <a:t>操作以及其联系都由控制器集中控制</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现代处理机对冯·诺依曼结构的改进</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485265"/>
            <a:ext cx="8229600" cy="4525963"/>
          </a:xfrm>
        </p:spPr>
        <p:txBody>
          <a:bodyPr/>
          <a:lstStyle/>
          <a:p>
            <a:pPr eaLnBrk="1" hangingPunct="1"/>
            <a:r>
              <a:rPr lang="zh-CN" altLang="en-US" sz="2000" dirty="0">
                <a:solidFill>
                  <a:srgbClr val="0000FF"/>
                </a:solidFill>
                <a:latin typeface="Arial" panose="020B0604020202020204" pitchFamily="34" charset="0"/>
                <a:sym typeface="+mn-ea"/>
              </a:rPr>
              <a:t>不变的：</a:t>
            </a:r>
            <a:r>
              <a:rPr lang="zh-CN" altLang="en-US" sz="2000" dirty="0">
                <a:solidFill>
                  <a:srgbClr val="FF0000"/>
                </a:solidFill>
                <a:latin typeface="Arial" panose="020B0604020202020204" pitchFamily="34" charset="0"/>
                <a:sym typeface="+mn-ea"/>
              </a:rPr>
              <a:t>存储程序</a:t>
            </a:r>
            <a:endParaRPr lang="zh-CN" altLang="en-US" sz="2000" dirty="0">
              <a:solidFill>
                <a:srgbClr val="FF0000"/>
              </a:solidFill>
              <a:latin typeface="Arial" panose="020B0604020202020204" pitchFamily="34" charset="0"/>
            </a:endParaRPr>
          </a:p>
          <a:p>
            <a:pPr eaLnBrk="1" hangingPunct="1"/>
            <a:r>
              <a:rPr lang="zh-CN" altLang="en-US" sz="2000" dirty="0">
                <a:solidFill>
                  <a:srgbClr val="0000FF"/>
                </a:solidFill>
                <a:latin typeface="Arial" panose="020B0604020202020204" pitchFamily="34" charset="0"/>
                <a:sym typeface="+mn-ea"/>
              </a:rPr>
              <a:t>改变的：</a:t>
            </a:r>
            <a:r>
              <a:rPr lang="zh-CN" altLang="en-US" sz="2000" dirty="0">
                <a:solidFill>
                  <a:srgbClr val="FF0000"/>
                </a:solidFill>
                <a:latin typeface="Arial" panose="020B0604020202020204" pitchFamily="34" charset="0"/>
                <a:sym typeface="+mn-ea"/>
              </a:rPr>
              <a:t>存储器为中心</a:t>
            </a:r>
            <a:r>
              <a:rPr lang="en-US" altLang="zh-CN" sz="2000" dirty="0">
                <a:solidFill>
                  <a:srgbClr val="FF0000"/>
                </a:solidFill>
                <a:latin typeface="Arial" panose="020B0604020202020204" pitchFamily="34" charset="0"/>
                <a:sym typeface="+mn-ea"/>
              </a:rPr>
              <a:t>, </a:t>
            </a:r>
            <a:r>
              <a:rPr lang="zh-CN" altLang="en-US" sz="2000" dirty="0">
                <a:solidFill>
                  <a:srgbClr val="FF0000"/>
                </a:solidFill>
                <a:latin typeface="Arial" panose="020B0604020202020204" pitchFamily="34" charset="0"/>
                <a:sym typeface="+mn-ea"/>
              </a:rPr>
              <a:t>总线结构</a:t>
            </a:r>
            <a:r>
              <a:rPr lang="en-US" altLang="zh-CN" sz="2000" dirty="0">
                <a:solidFill>
                  <a:srgbClr val="FF0000"/>
                </a:solidFill>
                <a:latin typeface="Arial" panose="020B0604020202020204" pitchFamily="34" charset="0"/>
                <a:sym typeface="+mn-ea"/>
              </a:rPr>
              <a:t>, </a:t>
            </a:r>
            <a:r>
              <a:rPr lang="zh-CN" altLang="en-US" sz="2000" dirty="0">
                <a:solidFill>
                  <a:srgbClr val="FF0000"/>
                </a:solidFill>
                <a:latin typeface="Arial" panose="020B0604020202020204" pitchFamily="34" charset="0"/>
                <a:sym typeface="+mn-ea"/>
              </a:rPr>
              <a:t>分散控制</a:t>
            </a:r>
            <a:endParaRPr lang="zh-CN" altLang="en-US" sz="2000" dirty="0">
              <a:solidFill>
                <a:srgbClr val="FF0000"/>
              </a:solidFill>
              <a:latin typeface="Arial" panose="020B0604020202020204" pitchFamily="34" charset="0"/>
            </a:endParaRPr>
          </a:p>
          <a:p>
            <a:pPr eaLnBrk="1" hangingPunct="1"/>
            <a:endParaRPr lang="zh-CN" altLang="en-US" sz="2000" dirty="0">
              <a:latin typeface="Arial" panose="020B0604020202020204" pitchFamily="34" charset="0"/>
            </a:endParaRPr>
          </a:p>
          <a:p>
            <a:pPr eaLnBrk="1" latinLnBrk="0" hangingPunct="1">
              <a:spcBef>
                <a:spcPts val="1200"/>
              </a:spcBef>
            </a:pPr>
            <a:r>
              <a:rPr lang="zh-CN" altLang="en-US" sz="2000" dirty="0">
                <a:latin typeface="Arial" panose="020B0604020202020204" pitchFamily="34" charset="0"/>
                <a:sym typeface="+mn-ea"/>
              </a:rPr>
              <a:t>从基于串行算法变为</a:t>
            </a:r>
            <a:r>
              <a:rPr lang="zh-CN" altLang="en-US" sz="2000" dirty="0">
                <a:solidFill>
                  <a:srgbClr val="FF0000"/>
                </a:solidFill>
                <a:latin typeface="Arial" panose="020B0604020202020204" pitchFamily="34" charset="0"/>
                <a:sym typeface="+mn-ea"/>
              </a:rPr>
              <a:t>适应并行</a:t>
            </a:r>
            <a:r>
              <a:rPr lang="zh-CN" altLang="en-US" sz="2000" dirty="0">
                <a:latin typeface="Arial" panose="020B0604020202020204" pitchFamily="34" charset="0"/>
                <a:sym typeface="+mn-ea"/>
              </a:rPr>
              <a:t>算法：</a:t>
            </a:r>
            <a:endParaRPr lang="zh-CN" altLang="en-US" sz="2000" dirty="0">
              <a:latin typeface="Arial" panose="020B0604020202020204" pitchFamily="34" charset="0"/>
              <a:sym typeface="+mn-ea"/>
            </a:endParaRPr>
          </a:p>
          <a:p>
            <a:pPr lvl="1" eaLnBrk="1" latinLnBrk="0" hangingPunct="1">
              <a:spcBef>
                <a:spcPts val="1200"/>
              </a:spcBef>
            </a:pPr>
            <a:r>
              <a:rPr lang="zh-CN" altLang="en-US" sz="2000" dirty="0">
                <a:latin typeface="Arial" panose="020B0604020202020204" pitchFamily="34" charset="0"/>
                <a:sym typeface="+mn-ea"/>
              </a:rPr>
              <a:t>出现了向量计算机，并行计算机、多处理机等</a:t>
            </a:r>
            <a:endParaRPr lang="zh-CN" altLang="en-US" sz="2000" dirty="0">
              <a:latin typeface="Arial" panose="020B0604020202020204" pitchFamily="34" charset="0"/>
            </a:endParaRPr>
          </a:p>
          <a:p>
            <a:pPr eaLnBrk="1" latinLnBrk="0" hangingPunct="1">
              <a:spcBef>
                <a:spcPts val="1200"/>
              </a:spcBef>
            </a:pPr>
            <a:r>
              <a:rPr lang="zh-CN" altLang="en-US" sz="2000" dirty="0">
                <a:latin typeface="Arial" panose="020B0604020202020204" pitchFamily="34" charset="0"/>
                <a:sym typeface="+mn-ea"/>
              </a:rPr>
              <a:t>流水线、超标量、超流水线、超标量超流水线处理机</a:t>
            </a:r>
            <a:endParaRPr lang="zh-CN" altLang="en-US" sz="2000" dirty="0">
              <a:latin typeface="Arial" panose="020B0604020202020204" pitchFamily="34" charset="0"/>
            </a:endParaRPr>
          </a:p>
          <a:p>
            <a:pPr eaLnBrk="1" latinLnBrk="0" hangingPunct="1">
              <a:spcBef>
                <a:spcPts val="1200"/>
              </a:spcBef>
            </a:pPr>
            <a:r>
              <a:rPr lang="zh-CN" altLang="en-US" sz="2000" dirty="0">
                <a:latin typeface="Arial" panose="020B0604020202020204" pitchFamily="34" charset="0"/>
                <a:sym typeface="+mn-ea"/>
              </a:rPr>
              <a:t>数据库计算机和知识库计算机</a:t>
            </a:r>
            <a:endParaRPr lang="zh-CN" altLang="en-US" sz="2000" dirty="0">
              <a:latin typeface="Arial" panose="020B0604020202020204" pitchFamily="34" charset="0"/>
            </a:endParaRPr>
          </a:p>
          <a:p>
            <a:pPr eaLnBrk="1" latinLnBrk="0" hangingPunct="1">
              <a:spcBef>
                <a:spcPts val="1200"/>
              </a:spcBef>
            </a:pPr>
            <a:r>
              <a:rPr lang="zh-CN" altLang="en-US" sz="2000" dirty="0">
                <a:latin typeface="Arial" panose="020B0604020202020204" pitchFamily="34" charset="0"/>
                <a:sym typeface="+mn-ea"/>
              </a:rPr>
              <a:t>专用计算机：如</a:t>
            </a:r>
            <a:r>
              <a:rPr lang="en-US" altLang="zh-CN" sz="2000" dirty="0">
                <a:latin typeface="Arial" panose="020B0604020202020204" pitchFamily="34" charset="0"/>
                <a:sym typeface="+mn-ea"/>
              </a:rPr>
              <a:t>FFT</a:t>
            </a:r>
            <a:r>
              <a:rPr lang="zh-CN" altLang="en-US" sz="2000" dirty="0">
                <a:latin typeface="Arial" panose="020B0604020202020204" pitchFamily="34" charset="0"/>
                <a:sym typeface="+mn-ea"/>
              </a:rPr>
              <a:t>变换机、过程控制计算机</a:t>
            </a:r>
            <a:endParaRPr lang="zh-CN" altLang="en-US" sz="2000" dirty="0">
              <a:latin typeface="Arial" panose="020B0604020202020204" pitchFamily="34" charset="0"/>
            </a:endParaRPr>
          </a:p>
          <a:p>
            <a:pPr eaLnBrk="1" latinLnBrk="0" hangingPunct="1">
              <a:spcBef>
                <a:spcPts val="1200"/>
              </a:spcBef>
            </a:pPr>
            <a:r>
              <a:rPr lang="zh-CN" altLang="en-US" sz="2000" dirty="0">
                <a:latin typeface="Arial" panose="020B0604020202020204" pitchFamily="34" charset="0"/>
                <a:sym typeface="+mn-ea"/>
              </a:rPr>
              <a:t>高可靠性：研制容错计算机</a:t>
            </a:r>
            <a:endParaRPr lang="zh-CN" altLang="en-US" sz="2000" dirty="0">
              <a:latin typeface="Arial" panose="020B0604020202020204" pitchFamily="34" charset="0"/>
            </a:endParaRPr>
          </a:p>
          <a:p>
            <a:pPr eaLnBrk="1" latinLnBrk="0" hangingPunct="1">
              <a:spcBef>
                <a:spcPts val="1200"/>
              </a:spcBef>
            </a:pPr>
            <a:r>
              <a:rPr lang="zh-CN" altLang="en-US" sz="2000" dirty="0">
                <a:latin typeface="Arial" panose="020B0604020202020204" pitchFamily="34" charset="0"/>
                <a:sym typeface="+mn-ea"/>
              </a:rPr>
              <a:t>功能分散化、专业化：</a:t>
            </a:r>
            <a:endParaRPr lang="zh-CN" altLang="en-US" sz="2000" dirty="0">
              <a:latin typeface="Arial" panose="020B0604020202020204" pitchFamily="34" charset="0"/>
              <a:sym typeface="+mn-ea"/>
            </a:endParaRPr>
          </a:p>
          <a:p>
            <a:pPr lvl="1" eaLnBrk="1" latinLnBrk="0" hangingPunct="1">
              <a:spcBef>
                <a:spcPts val="1200"/>
              </a:spcBef>
            </a:pPr>
            <a:r>
              <a:rPr lang="zh-CN" altLang="en-US" sz="2000" dirty="0">
                <a:latin typeface="Arial" panose="020B0604020202020204" pitchFamily="34" charset="0"/>
                <a:sym typeface="+mn-ea"/>
              </a:rPr>
              <a:t>各种分布计算机、外围处理机、通信处理机等</a:t>
            </a:r>
            <a:endParaRPr lang="zh-CN" altLang="en-US" sz="2000" dirty="0">
              <a:latin typeface="Arial" panose="020B0604020202020204" pitchFamily="34" charset="0"/>
            </a:endParaRPr>
          </a:p>
          <a:p>
            <a:endParaRPr lang="zh-CN" altLang="en-US" sz="2000" dirty="0">
              <a:latin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1.4.2 软件对系统结构的影响</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337310"/>
            <a:ext cx="8229600" cy="5252085"/>
          </a:xfrm>
        </p:spPr>
        <p:txBody>
          <a:bodyPr/>
          <a:lstStyle/>
          <a:p>
            <a:pPr eaLnBrk="1" hangingPunct="1"/>
            <a:r>
              <a:rPr lang="zh-CN" altLang="en-US" sz="2000" dirty="0">
                <a:solidFill>
                  <a:srgbClr val="FF0000"/>
                </a:solidFill>
                <a:latin typeface="Times New Roman" panose="02020603050405020304" pitchFamily="18" charset="0"/>
                <a:cs typeface="Times New Roman" panose="02020603050405020304" pitchFamily="18" charset="0"/>
                <a:sym typeface="+mn-ea"/>
              </a:rPr>
              <a:t>软件兼容性</a:t>
            </a:r>
            <a:r>
              <a:rPr lang="en-US" altLang="zh-CN" sz="2000" dirty="0">
                <a:solidFill>
                  <a:srgbClr val="FF0000"/>
                </a:solidFill>
                <a:latin typeface="Times New Roman" panose="02020603050405020304" pitchFamily="18" charset="0"/>
                <a:cs typeface="Times New Roman" panose="02020603050405020304" pitchFamily="18" charset="0"/>
                <a:sym typeface="+mn-ea"/>
              </a:rPr>
              <a:t>(</a:t>
            </a:r>
            <a:r>
              <a:rPr lang="zh-CN" altLang="en-US" sz="2000" dirty="0">
                <a:solidFill>
                  <a:srgbClr val="FF0000"/>
                </a:solidFill>
                <a:latin typeface="Times New Roman" panose="02020603050405020304" pitchFamily="18" charset="0"/>
                <a:cs typeface="Times New Roman" panose="02020603050405020304" pitchFamily="18" charset="0"/>
                <a:sym typeface="+mn-ea"/>
              </a:rPr>
              <a:t>可移植性</a:t>
            </a:r>
            <a:r>
              <a:rPr lang="en-US" altLang="zh-CN" sz="2000" dirty="0">
                <a:solidFill>
                  <a:srgbClr val="FF0000"/>
                </a:solidFill>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同一软件可不经修改或只须少量修改即可由一台机器移植到另一台机器上运行，即同一软件可应用于不同环境</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解决软件可移植性的方法：系列机</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sym typeface="+mn-ea"/>
              </a:rPr>
              <a:t>采用系列机方法的主要优点</a:t>
            </a:r>
            <a:endParaRPr lang="zh-CN" altLang="en-US" sz="2000" dirty="0"/>
          </a:p>
          <a:p>
            <a:pPr lvl="1" eaLnBrk="1" latinLnBrk="0" hangingPunct="1">
              <a:spcBef>
                <a:spcPts val="600"/>
              </a:spcBef>
            </a:pPr>
            <a:r>
              <a:rPr lang="zh-CN" altLang="en-US" sz="1800" dirty="0">
                <a:sym typeface="+mn-ea"/>
              </a:rPr>
              <a:t>系列机之间软件兼容，可移植性好</a:t>
            </a:r>
            <a:endParaRPr lang="zh-CN" altLang="en-US" sz="1800" dirty="0"/>
          </a:p>
          <a:p>
            <a:pPr lvl="1" eaLnBrk="1" latinLnBrk="0" hangingPunct="1">
              <a:spcBef>
                <a:spcPts val="600"/>
              </a:spcBef>
            </a:pPr>
            <a:r>
              <a:rPr lang="zh-CN" altLang="en-US" sz="1800" dirty="0">
                <a:sym typeface="+mn-ea"/>
              </a:rPr>
              <a:t>插件、接口等相互兼容</a:t>
            </a:r>
            <a:endParaRPr lang="zh-CN" altLang="en-US" sz="1800" dirty="0"/>
          </a:p>
          <a:p>
            <a:pPr lvl="1" eaLnBrk="1" latinLnBrk="0" hangingPunct="1">
              <a:spcBef>
                <a:spcPts val="600"/>
              </a:spcBef>
            </a:pPr>
            <a:r>
              <a:rPr lang="zh-CN" altLang="en-US" sz="1800" dirty="0">
                <a:sym typeface="+mn-ea"/>
              </a:rPr>
              <a:t>便于实现机间通信</a:t>
            </a:r>
            <a:endParaRPr lang="zh-CN" altLang="en-US" sz="1800" dirty="0"/>
          </a:p>
          <a:p>
            <a:pPr lvl="1" eaLnBrk="1" latinLnBrk="0" hangingPunct="1">
              <a:spcBef>
                <a:spcPts val="600"/>
              </a:spcBef>
            </a:pPr>
            <a:r>
              <a:rPr lang="zh-CN" altLang="en-US" sz="1800" dirty="0">
                <a:sym typeface="+mn-ea"/>
              </a:rPr>
              <a:t>便于维修、培训</a:t>
            </a:r>
            <a:endParaRPr lang="zh-CN" altLang="en-US" sz="1800" dirty="0"/>
          </a:p>
          <a:p>
            <a:pPr lvl="1" eaLnBrk="1" latinLnBrk="0" hangingPunct="1">
              <a:spcBef>
                <a:spcPts val="600"/>
              </a:spcBef>
            </a:pPr>
            <a:r>
              <a:rPr lang="zh-CN" altLang="en-US" sz="1800" dirty="0">
                <a:sym typeface="+mn-ea"/>
              </a:rPr>
              <a:t>有利于提高产量、降低成本</a:t>
            </a:r>
            <a:endParaRPr lang="zh-CN" altLang="en-US" sz="1800" dirty="0"/>
          </a:p>
          <a:p>
            <a:pPr eaLnBrk="1" latinLnBrk="0" hangingPunct="1">
              <a:spcBef>
                <a:spcPts val="1200"/>
              </a:spcBef>
            </a:pPr>
            <a:r>
              <a:rPr lang="zh-CN" altLang="en-US" sz="2000" dirty="0">
                <a:sym typeface="+mn-ea"/>
              </a:rPr>
              <a:t>采用系列机方法的主要缺点</a:t>
            </a:r>
            <a:endParaRPr lang="zh-CN" altLang="en-US" sz="2000" dirty="0"/>
          </a:p>
          <a:p>
            <a:pPr lvl="1" eaLnBrk="1" latinLnBrk="0" hangingPunct="1">
              <a:spcBef>
                <a:spcPts val="1200"/>
              </a:spcBef>
            </a:pPr>
            <a:r>
              <a:rPr lang="zh-CN" altLang="en-US" sz="1800" dirty="0">
                <a:sym typeface="+mn-ea"/>
              </a:rPr>
              <a:t>限制了计算机系统结构的发展</a:t>
            </a:r>
            <a:endParaRPr lang="zh-CN" altLang="en-US" sz="1800" dirty="0"/>
          </a:p>
          <a:p>
            <a:endParaRPr lang="zh-CN"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解决软件可移植性的方法</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337310"/>
            <a:ext cx="8229600" cy="5252085"/>
          </a:xfrm>
        </p:spPr>
        <p:txBody>
          <a:bodyPr/>
          <a:lstStyle/>
          <a:p>
            <a:pPr eaLnBrk="1" latinLnBrk="0" hangingPunct="1">
              <a:spcBef>
                <a:spcPts val="600"/>
              </a:spcBef>
            </a:pPr>
            <a:r>
              <a:rPr lang="zh-CN" altLang="en-US" sz="2000" dirty="0">
                <a:sym typeface="+mn-ea"/>
              </a:rPr>
              <a:t>模拟与仿真</a:t>
            </a:r>
            <a:endParaRPr lang="zh-CN" altLang="en-US" sz="2000" dirty="0"/>
          </a:p>
          <a:p>
            <a:pPr lvl="1" eaLnBrk="1" latinLnBrk="0" hangingPunct="1">
              <a:spcBef>
                <a:spcPts val="600"/>
              </a:spcBef>
            </a:pPr>
            <a:r>
              <a:rPr lang="zh-CN" altLang="en-US" sz="2000" dirty="0">
                <a:sym typeface="+mn-ea"/>
              </a:rPr>
              <a:t>模拟</a:t>
            </a:r>
            <a:endParaRPr lang="zh-CN" altLang="en-US" sz="2000" dirty="0"/>
          </a:p>
          <a:p>
            <a:pPr lvl="2"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用软件方法在</a:t>
            </a:r>
            <a:r>
              <a:rPr lang="en-US" altLang="zh-CN" sz="2000" dirty="0">
                <a:latin typeface="Times New Roman" panose="02020603050405020304" pitchFamily="18" charset="0"/>
                <a:cs typeface="Times New Roman" panose="02020603050405020304" pitchFamily="18" charset="0"/>
                <a:sym typeface="+mn-ea"/>
              </a:rPr>
              <a:t>A</a:t>
            </a:r>
            <a:r>
              <a:rPr lang="zh-CN" altLang="en-US" sz="2000" dirty="0">
                <a:latin typeface="Times New Roman" panose="02020603050405020304" pitchFamily="18" charset="0"/>
                <a:cs typeface="Times New Roman" panose="02020603050405020304" pitchFamily="18" charset="0"/>
                <a:sym typeface="+mn-ea"/>
              </a:rPr>
              <a:t>机器上实现</a:t>
            </a:r>
            <a:r>
              <a:rPr lang="en-US" altLang="zh-CN" sz="2000" dirty="0">
                <a:latin typeface="Times New Roman" panose="02020603050405020304" pitchFamily="18" charset="0"/>
                <a:cs typeface="Times New Roman" panose="02020603050405020304" pitchFamily="18" charset="0"/>
                <a:sym typeface="+mn-ea"/>
              </a:rPr>
              <a:t>B</a:t>
            </a:r>
            <a:r>
              <a:rPr lang="zh-CN" altLang="en-US" sz="2000" dirty="0">
                <a:latin typeface="Times New Roman" panose="02020603050405020304" pitchFamily="18" charset="0"/>
                <a:cs typeface="Times New Roman" panose="02020603050405020304" pitchFamily="18" charset="0"/>
                <a:sym typeface="+mn-ea"/>
              </a:rPr>
              <a:t>机器的指令系统</a:t>
            </a:r>
            <a:endParaRPr lang="zh-CN" altLang="en-US" sz="2000" dirty="0">
              <a:latin typeface="Times New Roman" panose="02020603050405020304" pitchFamily="18" charset="0"/>
              <a:cs typeface="Times New Roman" panose="02020603050405020304" pitchFamily="18" charset="0"/>
              <a:sym typeface="+mn-ea"/>
            </a:endParaRPr>
          </a:p>
          <a:p>
            <a:pPr lvl="2"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如：</a:t>
            </a:r>
            <a:r>
              <a:rPr lang="zh-CN" altLang="en-US" sz="2000" dirty="0">
                <a:solidFill>
                  <a:srgbClr val="FF0000"/>
                </a:solidFill>
                <a:latin typeface="Times New Roman" panose="02020603050405020304" pitchFamily="18" charset="0"/>
                <a:cs typeface="Times New Roman" panose="02020603050405020304" pitchFamily="18" charset="0"/>
                <a:sym typeface="+mn-ea"/>
              </a:rPr>
              <a:t>用机器语言程序解释指令，解释程序存储在内存中</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600"/>
              </a:spcBef>
            </a:pPr>
            <a:r>
              <a:rPr lang="en-US" altLang="zh-CN" sz="2000" dirty="0">
                <a:solidFill>
                  <a:srgbClr val="FF0000"/>
                </a:solidFill>
                <a:latin typeface="Times New Roman" panose="02020603050405020304" pitchFamily="18" charset="0"/>
                <a:cs typeface="Times New Roman" panose="02020603050405020304" pitchFamily="18" charset="0"/>
                <a:sym typeface="+mn-ea"/>
              </a:rPr>
              <a:t>A-</a:t>
            </a:r>
            <a:r>
              <a:rPr lang="zh-CN" altLang="en-US" sz="2000" dirty="0">
                <a:solidFill>
                  <a:srgbClr val="FF0000"/>
                </a:solidFill>
                <a:latin typeface="Times New Roman" panose="02020603050405020304" pitchFamily="18" charset="0"/>
                <a:cs typeface="Times New Roman" panose="02020603050405020304" pitchFamily="18" charset="0"/>
                <a:sym typeface="+mn-ea"/>
              </a:rPr>
              <a:t>宿主机</a:t>
            </a:r>
            <a:r>
              <a:rPr lang="en-US" altLang="zh-CN" sz="2000" dirty="0">
                <a:solidFill>
                  <a:srgbClr val="FF0000"/>
                </a:solidFill>
                <a:latin typeface="Times New Roman" panose="02020603050405020304" pitchFamily="18" charset="0"/>
                <a:cs typeface="Times New Roman" panose="02020603050405020304" pitchFamily="18" charset="0"/>
                <a:sym typeface="+mn-ea"/>
              </a:rPr>
              <a:t>, B-</a:t>
            </a:r>
            <a:r>
              <a:rPr lang="zh-CN" altLang="en-US" sz="2000" dirty="0">
                <a:solidFill>
                  <a:srgbClr val="FF0000"/>
                </a:solidFill>
                <a:latin typeface="Times New Roman" panose="02020603050405020304" pitchFamily="18" charset="0"/>
                <a:cs typeface="Times New Roman" panose="02020603050405020304" pitchFamily="18" charset="0"/>
                <a:sym typeface="+mn-ea"/>
              </a:rPr>
              <a:t>虚拟机</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600"/>
              </a:spcBef>
            </a:pPr>
            <a:r>
              <a:rPr lang="zh-CN" altLang="en-US" sz="2000" dirty="0">
                <a:sym typeface="+mn-ea"/>
              </a:rPr>
              <a:t>模拟方法速度低</a:t>
            </a:r>
            <a:endParaRPr lang="zh-CN" altLang="en-US" sz="2000" dirty="0"/>
          </a:p>
          <a:p>
            <a:pPr lvl="1" eaLnBrk="1" latinLnBrk="0" hangingPunct="1">
              <a:spcBef>
                <a:spcPts val="1200"/>
              </a:spcBef>
            </a:pPr>
            <a:r>
              <a:rPr lang="zh-CN" altLang="en-US" sz="2000" dirty="0">
                <a:sym typeface="+mn-ea"/>
              </a:rPr>
              <a:t>仿真</a:t>
            </a:r>
            <a:endParaRPr lang="zh-CN" altLang="en-US" sz="2000" dirty="0"/>
          </a:p>
          <a:p>
            <a:pPr lvl="2" eaLnBrk="1" latinLnBrk="0" hangingPunct="1">
              <a:spcBef>
                <a:spcPts val="600"/>
              </a:spcBef>
            </a:pPr>
            <a:r>
              <a:rPr lang="zh-CN" altLang="en-US" sz="2000" dirty="0">
                <a:sym typeface="+mn-ea"/>
              </a:rPr>
              <a:t>用硬件、固件或软件</a:t>
            </a:r>
            <a:r>
              <a:rPr lang="en-US" altLang="zh-CN" sz="2000" dirty="0">
                <a:sym typeface="+mn-ea"/>
              </a:rPr>
              <a:t>/</a:t>
            </a:r>
            <a:r>
              <a:rPr lang="zh-CN" altLang="en-US" sz="2000" dirty="0">
                <a:sym typeface="+mn-ea"/>
              </a:rPr>
              <a:t>硬件</a:t>
            </a:r>
            <a:r>
              <a:rPr lang="en-US" altLang="zh-CN" sz="2000" dirty="0">
                <a:sym typeface="+mn-ea"/>
              </a:rPr>
              <a:t>/</a:t>
            </a:r>
            <a:r>
              <a:rPr lang="zh-CN" altLang="en-US" sz="2000" dirty="0">
                <a:sym typeface="+mn-ea"/>
              </a:rPr>
              <a:t>固件混合实现的方法</a:t>
            </a:r>
            <a:endParaRPr lang="zh-CN" altLang="en-US" sz="2000" dirty="0"/>
          </a:p>
          <a:p>
            <a:pPr lvl="2" eaLnBrk="1" latinLnBrk="0" hangingPunct="1">
              <a:spcBef>
                <a:spcPts val="600"/>
              </a:spcBef>
            </a:pPr>
            <a:r>
              <a:rPr lang="zh-CN" altLang="en-US" sz="2000" dirty="0">
                <a:sym typeface="+mn-ea"/>
              </a:rPr>
              <a:t>如：</a:t>
            </a:r>
            <a:r>
              <a:rPr lang="en-US" altLang="zh-CN" sz="2000" dirty="0">
                <a:solidFill>
                  <a:srgbClr val="FF0000"/>
                </a:solidFill>
                <a:latin typeface="Times New Roman" panose="02020603050405020304" pitchFamily="18" charset="0"/>
                <a:cs typeface="Times New Roman" panose="02020603050405020304" pitchFamily="18" charset="0"/>
                <a:sym typeface="+mn-ea"/>
              </a:rPr>
              <a:t>用微</a:t>
            </a:r>
            <a:r>
              <a:rPr lang="zh-CN" altLang="en-US" sz="2000" dirty="0">
                <a:solidFill>
                  <a:srgbClr val="FF0000"/>
                </a:solidFill>
                <a:sym typeface="+mn-ea"/>
              </a:rPr>
              <a:t>程序直接解释</a:t>
            </a:r>
            <a:r>
              <a:rPr lang="en-US" altLang="zh-CN" sz="2000" dirty="0">
                <a:solidFill>
                  <a:srgbClr val="FF0000"/>
                </a:solidFill>
                <a:latin typeface="Times New Roman" panose="02020603050405020304" pitchFamily="18" charset="0"/>
                <a:cs typeface="Times New Roman" panose="02020603050405020304" pitchFamily="18" charset="0"/>
                <a:sym typeface="+mn-ea"/>
              </a:rPr>
              <a:t>B</a:t>
            </a:r>
            <a:r>
              <a:rPr lang="zh-CN" altLang="en-US" sz="2000" dirty="0">
                <a:solidFill>
                  <a:srgbClr val="FF0000"/>
                </a:solidFill>
                <a:sym typeface="+mn-ea"/>
              </a:rPr>
              <a:t>机器的指令系统</a:t>
            </a:r>
            <a:endParaRPr lang="zh-CN" altLang="en-US" sz="2000" dirty="0"/>
          </a:p>
          <a:p>
            <a:pPr lvl="2" eaLnBrk="1" latinLnBrk="0" hangingPunct="1">
              <a:spcBef>
                <a:spcPts val="600"/>
              </a:spcBef>
            </a:pPr>
            <a:r>
              <a:rPr lang="en-US" altLang="zh-CN" sz="2000" dirty="0">
                <a:solidFill>
                  <a:srgbClr val="FF0000"/>
                </a:solidFill>
                <a:latin typeface="Times New Roman" panose="02020603050405020304" pitchFamily="18" charset="0"/>
                <a:cs typeface="Times New Roman" panose="02020603050405020304" pitchFamily="18" charset="0"/>
                <a:sym typeface="+mn-ea"/>
              </a:rPr>
              <a:t>A-</a:t>
            </a:r>
            <a:r>
              <a:rPr lang="zh-CN" altLang="en-US" sz="2000" dirty="0">
                <a:solidFill>
                  <a:srgbClr val="FF0000"/>
                </a:solidFill>
                <a:latin typeface="Arial" panose="020B0604020202020204" pitchFamily="34" charset="0"/>
                <a:sym typeface="+mn-ea"/>
              </a:rPr>
              <a:t>宿主机</a:t>
            </a:r>
            <a:r>
              <a:rPr lang="zh-CN" altLang="en-US" sz="2000" dirty="0">
                <a:latin typeface="Arial" panose="020B0604020202020204" pitchFamily="34" charset="0"/>
                <a:sym typeface="+mn-ea"/>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B-</a:t>
            </a:r>
            <a:r>
              <a:rPr lang="zh-CN" altLang="en-US" sz="2000" dirty="0">
                <a:solidFill>
                  <a:srgbClr val="FF0000"/>
                </a:solidFill>
                <a:latin typeface="Arial" panose="020B0604020202020204" pitchFamily="34" charset="0"/>
                <a:sym typeface="+mn-ea"/>
              </a:rPr>
              <a:t>目标机</a:t>
            </a:r>
            <a:endParaRPr lang="zh-CN" altLang="en-US" sz="2000" dirty="0"/>
          </a:p>
          <a:p>
            <a:pPr lvl="2" eaLnBrk="1" latinLnBrk="0" hangingPunct="1">
              <a:spcBef>
                <a:spcPts val="600"/>
              </a:spcBef>
            </a:pPr>
            <a:r>
              <a:rPr lang="zh-CN" altLang="en-US" sz="2000" dirty="0">
                <a:sym typeface="+mn-ea"/>
              </a:rPr>
              <a:t>仿真方法速度高，但需要较多的硬件</a:t>
            </a:r>
            <a:r>
              <a:rPr lang="en-US" altLang="zh-CN" sz="2000" dirty="0">
                <a:sym typeface="+mn-ea"/>
              </a:rPr>
              <a:t>(</a:t>
            </a:r>
            <a:r>
              <a:rPr lang="zh-CN" altLang="en-US" sz="2000" dirty="0">
                <a:sym typeface="+mn-ea"/>
              </a:rPr>
              <a:t>包括控制存储器</a:t>
            </a:r>
            <a:r>
              <a:rPr lang="en-US" altLang="zh-CN" sz="2000" dirty="0">
                <a:sym typeface="+mn-ea"/>
              </a:rPr>
              <a:t>)</a:t>
            </a:r>
            <a:endParaRPr lang="en-US" altLang="zh-CN" sz="2000" dirty="0"/>
          </a:p>
          <a:p>
            <a:pPr lvl="2" eaLnBrk="1" latinLnBrk="0" hangingPunct="1">
              <a:spcBef>
                <a:spcPts val="600"/>
              </a:spcBef>
            </a:pPr>
            <a:r>
              <a:rPr lang="zh-CN" altLang="en-US" sz="2000" dirty="0">
                <a:sym typeface="+mn-ea"/>
              </a:rPr>
              <a:t>系统结构差别大的机器难于用仿真方法来实现</a:t>
            </a:r>
            <a:endParaRPr lang="zh-CN" altLang="en-US" sz="2000" dirty="0"/>
          </a:p>
          <a:p>
            <a:pPr lvl="3" eaLnBrk="1" latinLnBrk="0" hangingPunct="1">
              <a:spcBef>
                <a:spcPts val="600"/>
              </a:spcBef>
            </a:pPr>
            <a:r>
              <a:rPr lang="zh-CN" altLang="en-US" sz="2000" dirty="0">
                <a:latin typeface="Arial" panose="020B0604020202020204" pitchFamily="34" charset="0"/>
                <a:sym typeface="+mn-ea"/>
              </a:rPr>
              <a:t>除指令系统，存储、</a:t>
            </a:r>
            <a:r>
              <a:rPr lang="en-US" altLang="zh-CN" sz="2000" dirty="0">
                <a:latin typeface="Arial" panose="020B0604020202020204" pitchFamily="34" charset="0"/>
                <a:sym typeface="+mn-ea"/>
              </a:rPr>
              <a:t>I/O</a:t>
            </a:r>
            <a:r>
              <a:rPr lang="zh-CN" altLang="en-US" sz="2000" dirty="0">
                <a:latin typeface="Arial" panose="020B0604020202020204" pitchFamily="34" charset="0"/>
                <a:sym typeface="+mn-ea"/>
              </a:rPr>
              <a:t>、中断系统、控制台的操作等</a:t>
            </a:r>
            <a:endParaRPr lang="zh-CN" altLang="en-US" sz="2000" dirty="0"/>
          </a:p>
          <a:p>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解决软件可移植性的方法</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337310"/>
            <a:ext cx="8229600" cy="5252085"/>
          </a:xfrm>
        </p:spPr>
        <p:txBody>
          <a:bodyPr/>
          <a:lstStyle/>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采用统一的高级语言</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采用不依赖于任何具体机器的高级语言编写</a:t>
            </a:r>
            <a:r>
              <a:rPr lang="zh-CN" altLang="en-US" sz="2000" dirty="0">
                <a:solidFill>
                  <a:srgbClr val="FF0000"/>
                </a:solidFill>
                <a:latin typeface="Times New Roman" panose="02020603050405020304" pitchFamily="18" charset="0"/>
                <a:cs typeface="Times New Roman" panose="02020603050405020304" pitchFamily="18" charset="0"/>
                <a:sym typeface="+mn-ea"/>
              </a:rPr>
              <a:t>系统软件</a:t>
            </a:r>
            <a:r>
              <a:rPr lang="zh-CN" altLang="en-US" sz="2000" dirty="0">
                <a:latin typeface="Times New Roman" panose="02020603050405020304" pitchFamily="18" charset="0"/>
                <a:cs typeface="Times New Roman" panose="02020603050405020304" pitchFamily="18" charset="0"/>
                <a:sym typeface="+mn-ea"/>
              </a:rPr>
              <a:t>和应用软件，可实现在结构相同或完全不同的机器上的软件移植</a:t>
            </a:r>
            <a:endParaRPr lang="zh-CN" altLang="en-US" sz="2000" dirty="0">
              <a:latin typeface="Times New Roman" panose="02020603050405020304" pitchFamily="18" charset="0"/>
              <a:cs typeface="Times New Roman" panose="02020603050405020304" pitchFamily="18" charset="0"/>
              <a:sym typeface="+mn-ea"/>
            </a:endParaRPr>
          </a:p>
          <a:p>
            <a:pPr lvl="2" eaLnBrk="1" latinLnBrk="0" hangingPunct="1">
              <a:spcBef>
                <a:spcPts val="600"/>
              </a:spcBef>
            </a:pPr>
            <a:r>
              <a:rPr lang="zh-CN" altLang="en-US" sz="1710" dirty="0">
                <a:latin typeface="Times New Roman" panose="02020603050405020304" pitchFamily="18" charset="0"/>
                <a:cs typeface="Times New Roman" panose="02020603050405020304" pitchFamily="18" charset="0"/>
                <a:sym typeface="+mn-ea"/>
              </a:rPr>
              <a:t>硬件差异；</a:t>
            </a:r>
            <a:endParaRPr lang="zh-CN" altLang="en-US" sz="1710" dirty="0">
              <a:latin typeface="Times New Roman" panose="02020603050405020304" pitchFamily="18" charset="0"/>
              <a:cs typeface="Times New Roman" panose="02020603050405020304" pitchFamily="18" charset="0"/>
              <a:sym typeface="+mn-ea"/>
            </a:endParaRPr>
          </a:p>
          <a:p>
            <a:pPr lvl="2" eaLnBrk="1" latinLnBrk="0" hangingPunct="1">
              <a:spcBef>
                <a:spcPts val="600"/>
              </a:spcBef>
            </a:pPr>
            <a:r>
              <a:rPr lang="en-US" altLang="zh-CN" sz="1710" dirty="0">
                <a:latin typeface="Times New Roman" panose="02020603050405020304" pitchFamily="18" charset="0"/>
                <a:cs typeface="Times New Roman" panose="02020603050405020304" pitchFamily="18" charset="0"/>
                <a:sym typeface="+mn-ea"/>
              </a:rPr>
              <a:t>OS</a:t>
            </a:r>
            <a:r>
              <a:rPr lang="zh-CN" altLang="en-US" sz="1710" dirty="0">
                <a:latin typeface="Times New Roman" panose="02020603050405020304" pitchFamily="18" charset="0"/>
                <a:cs typeface="Times New Roman" panose="02020603050405020304" pitchFamily="18" charset="0"/>
                <a:sym typeface="+mn-ea"/>
              </a:rPr>
              <a:t>差异；</a:t>
            </a:r>
            <a:endParaRPr lang="zh-CN" altLang="en-US" sz="1710" dirty="0">
              <a:latin typeface="Times New Roman" panose="02020603050405020304" pitchFamily="18" charset="0"/>
              <a:cs typeface="Times New Roman" panose="02020603050405020304" pitchFamily="18" charset="0"/>
              <a:sym typeface="+mn-ea"/>
            </a:endParaRPr>
          </a:p>
          <a:p>
            <a:pPr lvl="2" eaLnBrk="1" latinLnBrk="0" hangingPunct="1">
              <a:spcBef>
                <a:spcPts val="600"/>
              </a:spcBef>
            </a:pPr>
            <a:r>
              <a:rPr lang="zh-CN" altLang="en-US" sz="1710" dirty="0">
                <a:latin typeface="Times New Roman" panose="02020603050405020304" pitchFamily="18" charset="0"/>
                <a:cs typeface="Times New Roman" panose="02020603050405020304" pitchFamily="18" charset="0"/>
                <a:sym typeface="+mn-ea"/>
              </a:rPr>
              <a:t>生态系统和惯性；</a:t>
            </a:r>
            <a:endParaRPr lang="zh-CN" altLang="en-US" sz="1710" dirty="0">
              <a:latin typeface="Times New Roman" panose="02020603050405020304" pitchFamily="18" charset="0"/>
              <a:cs typeface="Times New Roman" panose="02020603050405020304" pitchFamily="18" charset="0"/>
              <a:sym typeface="+mn-ea"/>
            </a:endParaRPr>
          </a:p>
          <a:p>
            <a:pPr lvl="2" eaLnBrk="1" latinLnBrk="0" hangingPunct="1">
              <a:spcBef>
                <a:spcPts val="600"/>
              </a:spcBef>
            </a:pPr>
            <a:r>
              <a:rPr lang="zh-CN" altLang="en-US" sz="1710" dirty="0">
                <a:latin typeface="Times New Roman" panose="02020603050405020304" pitchFamily="18" charset="0"/>
                <a:cs typeface="Times New Roman" panose="02020603050405020304" pitchFamily="18" charset="0"/>
              </a:rPr>
              <a:t>抽象层次的限制：底层</a:t>
            </a:r>
            <a:r>
              <a:rPr lang="zh-CN" altLang="en-US" sz="1710" dirty="0">
                <a:latin typeface="Times New Roman" panose="02020603050405020304" pitchFamily="18" charset="0"/>
                <a:cs typeface="Times New Roman" panose="02020603050405020304" pitchFamily="18" charset="0"/>
              </a:rPr>
              <a:t>控制</a:t>
            </a:r>
            <a:endParaRPr lang="zh-CN" altLang="en-US" sz="171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solidFill>
                  <a:srgbClr val="FF00FF"/>
                </a:solidFill>
                <a:latin typeface="Times New Roman" panose="02020603050405020304" pitchFamily="18" charset="0"/>
                <a:cs typeface="Times New Roman" panose="02020603050405020304" pitchFamily="18" charset="0"/>
                <a:sym typeface="+mn-ea"/>
              </a:rPr>
              <a:t>困难：</a:t>
            </a:r>
            <a:r>
              <a:rPr lang="zh-CN" altLang="en-US" sz="2000" dirty="0">
                <a:solidFill>
                  <a:srgbClr val="0000FF"/>
                </a:solidFill>
                <a:latin typeface="Times New Roman" panose="02020603050405020304" pitchFamily="18" charset="0"/>
                <a:cs typeface="Times New Roman" panose="02020603050405020304" pitchFamily="18" charset="0"/>
                <a:sym typeface="+mn-ea"/>
              </a:rPr>
              <a:t>至今还没有这样一种高级语言，短期内难实现；</a:t>
            </a:r>
            <a:endParaRPr lang="zh-CN" altLang="en-US" sz="2000" dirty="0">
              <a:solidFill>
                <a:srgbClr val="0000FF"/>
              </a:solidFill>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Java……通过使用虚拟机、中间代码（例如Java字节码）等技术，可以将高级语言代码转换成与平台无关的中间表示，然后再由虚拟机或解释器将其转换成特定体系结构的机器指令。</a:t>
            </a:r>
            <a:endParaRPr lang="en-US" altLang="zh-CN"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rPr>
              <a:t>通过各种技术手段，我们可以尽可能地提高代码的可移植性，减少跨平台开发的成本。</a:t>
            </a:r>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三种解决软件可移植性的方法比较</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337310"/>
            <a:ext cx="8229600" cy="5252085"/>
          </a:xfrm>
        </p:spPr>
        <p:txBody>
          <a:bodyPr/>
          <a:lstStyle/>
          <a:p>
            <a:pPr eaLnBrk="1" latinLnBrk="0" hangingPunct="1">
              <a:spcBef>
                <a:spcPts val="12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采用统一高级语言最好，是努力的目标</a:t>
            </a:r>
            <a:endParaRPr lang="zh-CN" altLang="en-US" sz="2400" dirty="0">
              <a:solidFill>
                <a:schemeClr val="tx2"/>
              </a:solidFill>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系列机是暂时性方法，也是目前最好的方法</a:t>
            </a:r>
            <a:endParaRPr lang="zh-CN" altLang="en-US" sz="2400" dirty="0">
              <a:solidFill>
                <a:schemeClr val="tx2"/>
              </a:solidFill>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仿真的速度低，芯片设计的负担重</a:t>
            </a:r>
            <a:endParaRPr lang="zh-CN" altLang="en-US" sz="2400" dirty="0">
              <a:solidFill>
                <a:schemeClr val="tx2"/>
              </a:solidFill>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目前用于同一系列机内的兼容，1/10～1/2的芯片面积用于仿真</a:t>
            </a:r>
            <a:endParaRPr lang="zh-CN" altLang="en-US" sz="2000" dirty="0">
              <a:solidFill>
                <a:schemeClr val="tx2"/>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1.4.3 应用对系统结构的影响</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337310"/>
            <a:ext cx="8229600" cy="5252085"/>
          </a:xfrm>
        </p:spPr>
        <p:txBody>
          <a:bodyPr/>
          <a:lstStyle/>
          <a:p>
            <a:pPr eaLnBrk="1" latinLnBrk="0" hangingPunct="1">
              <a:spcBef>
                <a:spcPts val="1200"/>
              </a:spcBef>
            </a:pPr>
            <a:r>
              <a:rPr lang="zh-CN" altLang="en-US" sz="2000" dirty="0">
                <a:sym typeface="+mn-ea"/>
              </a:rPr>
              <a:t>专用系统结构：高效率，但缺乏通用性，市场面小</a:t>
            </a:r>
            <a:endParaRPr lang="zh-CN" altLang="en-US" sz="2000" dirty="0"/>
          </a:p>
          <a:p>
            <a:pPr eaLnBrk="1" latinLnBrk="0" hangingPunct="1">
              <a:spcBef>
                <a:spcPts val="1200"/>
              </a:spcBef>
            </a:pPr>
            <a:r>
              <a:rPr lang="zh-CN" altLang="en-US" sz="2000" dirty="0">
                <a:sym typeface="+mn-ea"/>
              </a:rPr>
              <a:t>通用系统结构：可适应各种应用场合，市场面大，但效率低</a:t>
            </a:r>
            <a:endParaRPr lang="zh-CN" altLang="en-US" sz="2000" dirty="0">
              <a:sym typeface="+mn-ea"/>
            </a:endParaRPr>
          </a:p>
          <a:p>
            <a:pPr eaLnBrk="1" latinLnBrk="0" hangingPunct="1">
              <a:spcBef>
                <a:spcPts val="1200"/>
              </a:spcBef>
            </a:pPr>
            <a:endParaRPr lang="zh-CN" altLang="en-US" sz="2000" dirty="0"/>
          </a:p>
          <a:p>
            <a:pPr eaLnBrk="1" latinLnBrk="0" hangingPunct="1">
              <a:spcBef>
                <a:spcPts val="600"/>
              </a:spcBef>
            </a:pPr>
            <a:endParaRPr lang="zh-CN" altLang="en-US" sz="2000" dirty="0">
              <a:solidFill>
                <a:srgbClr val="800000"/>
              </a:solidFill>
              <a:latin typeface="Arial" panose="020B0604020202020204" pitchFamily="34" charset="0"/>
            </a:endParaRPr>
          </a:p>
          <a:p>
            <a:pPr eaLnBrk="1" latinLnBrk="0" hangingPunct="1">
              <a:spcBef>
                <a:spcPts val="600"/>
              </a:spcBef>
            </a:pPr>
            <a:r>
              <a:rPr lang="zh-CN" altLang="en-US" sz="2000" dirty="0">
                <a:solidFill>
                  <a:srgbClr val="800000"/>
                </a:solidFill>
                <a:latin typeface="Arial" panose="020B0604020202020204" pitchFamily="34" charset="0"/>
                <a:sym typeface="+mn-ea"/>
              </a:rPr>
              <a:t>专门领域应用需求</a:t>
            </a:r>
            <a:endParaRPr lang="zh-CN" altLang="en-US" sz="2000" dirty="0">
              <a:solidFill>
                <a:srgbClr val="800000"/>
              </a:solidFill>
              <a:latin typeface="Arial" panose="020B0604020202020204" pitchFamily="34" charset="0"/>
            </a:endParaRPr>
          </a:p>
          <a:p>
            <a:pPr lvl="1" eaLnBrk="1" latinLnBrk="0" hangingPunct="1">
              <a:spcBef>
                <a:spcPts val="1200"/>
              </a:spcBef>
            </a:pPr>
            <a:r>
              <a:rPr lang="zh-CN" altLang="en-US" sz="2000" dirty="0">
                <a:solidFill>
                  <a:srgbClr val="FF0000"/>
                </a:solidFill>
                <a:latin typeface="Arial" panose="020B0604020202020204" pitchFamily="34" charset="0"/>
                <a:sym typeface="+mn-ea"/>
              </a:rPr>
              <a:t>高结构化</a:t>
            </a:r>
            <a:r>
              <a:rPr lang="zh-CN" altLang="en-US" sz="2000" dirty="0">
                <a:latin typeface="Arial" panose="020B0604020202020204" pitchFamily="34" charset="0"/>
                <a:sym typeface="+mn-ea"/>
              </a:rPr>
              <a:t>数值计算：气象模型</a:t>
            </a:r>
            <a:r>
              <a:rPr lang="en-US" altLang="zh-CN" sz="2000" dirty="0">
                <a:latin typeface="Arial" panose="020B0604020202020204" pitchFamily="34" charset="0"/>
                <a:sym typeface="+mn-ea"/>
              </a:rPr>
              <a:t>,</a:t>
            </a:r>
            <a:r>
              <a:rPr lang="zh-CN" altLang="en-US" sz="2000" dirty="0">
                <a:latin typeface="Arial" panose="020B0604020202020204" pitchFamily="34" charset="0"/>
                <a:sym typeface="+mn-ea"/>
              </a:rPr>
              <a:t>流体流动</a:t>
            </a:r>
            <a:r>
              <a:rPr lang="en-US" altLang="zh-CN" sz="2000" dirty="0">
                <a:latin typeface="Arial" panose="020B0604020202020204" pitchFamily="34" charset="0"/>
                <a:sym typeface="+mn-ea"/>
              </a:rPr>
              <a:t>,</a:t>
            </a:r>
            <a:r>
              <a:rPr lang="zh-CN" altLang="en-US" sz="2000" dirty="0">
                <a:latin typeface="Arial" panose="020B0604020202020204" pitchFamily="34" charset="0"/>
                <a:sym typeface="+mn-ea"/>
              </a:rPr>
              <a:t>有限元分析</a:t>
            </a:r>
            <a:endParaRPr lang="zh-CN" altLang="en-US" sz="2000" dirty="0">
              <a:latin typeface="Arial" panose="020B0604020202020204" pitchFamily="34" charset="0"/>
            </a:endParaRPr>
          </a:p>
          <a:p>
            <a:pPr lvl="1" eaLnBrk="1" latinLnBrk="0" hangingPunct="1">
              <a:spcBef>
                <a:spcPts val="1200"/>
              </a:spcBef>
            </a:pPr>
            <a:r>
              <a:rPr lang="zh-CN" altLang="en-US" sz="2000" dirty="0">
                <a:solidFill>
                  <a:srgbClr val="FF0000"/>
                </a:solidFill>
                <a:latin typeface="Arial" panose="020B0604020202020204" pitchFamily="34" charset="0"/>
                <a:sym typeface="+mn-ea"/>
              </a:rPr>
              <a:t>非结构化</a:t>
            </a:r>
            <a:r>
              <a:rPr lang="zh-CN" altLang="en-US" sz="2000" dirty="0">
                <a:latin typeface="Arial" panose="020B0604020202020204" pitchFamily="34" charset="0"/>
                <a:sym typeface="+mn-ea"/>
              </a:rPr>
              <a:t>的数值计算：蒙特卡洛模拟</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稀疏矩阵</a:t>
            </a:r>
            <a:endParaRPr lang="zh-CN" altLang="en-US" sz="2000" dirty="0">
              <a:latin typeface="Arial" panose="020B0604020202020204" pitchFamily="34" charset="0"/>
            </a:endParaRPr>
          </a:p>
          <a:p>
            <a:pPr lvl="1" eaLnBrk="1" latinLnBrk="0" hangingPunct="1">
              <a:spcBef>
                <a:spcPts val="1200"/>
              </a:spcBef>
            </a:pPr>
            <a:r>
              <a:rPr lang="zh-CN" altLang="en-US" sz="2000" dirty="0">
                <a:solidFill>
                  <a:srgbClr val="FF0000"/>
                </a:solidFill>
                <a:latin typeface="Arial" panose="020B0604020202020204" pitchFamily="34" charset="0"/>
                <a:sym typeface="+mn-ea"/>
              </a:rPr>
              <a:t>实时</a:t>
            </a:r>
            <a:r>
              <a:rPr lang="zh-CN" altLang="en-US" sz="2000" dirty="0">
                <a:latin typeface="Arial" panose="020B0604020202020204" pitchFamily="34" charset="0"/>
                <a:sym typeface="+mn-ea"/>
              </a:rPr>
              <a:t>多因素问题：语音识别</a:t>
            </a:r>
            <a:r>
              <a:rPr lang="en-US" altLang="zh-CN" sz="2000" dirty="0">
                <a:latin typeface="Arial" panose="020B0604020202020204" pitchFamily="34" charset="0"/>
                <a:sym typeface="+mn-ea"/>
              </a:rPr>
              <a:t>,</a:t>
            </a:r>
            <a:r>
              <a:rPr lang="zh-CN" altLang="en-US" sz="2000" dirty="0">
                <a:latin typeface="Arial" panose="020B0604020202020204" pitchFamily="34" charset="0"/>
                <a:sym typeface="+mn-ea"/>
              </a:rPr>
              <a:t>图象处理</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计算机视觉</a:t>
            </a:r>
            <a:endParaRPr lang="zh-CN" altLang="en-US" sz="2000" dirty="0">
              <a:latin typeface="Arial" panose="020B0604020202020204" pitchFamily="34" charset="0"/>
            </a:endParaRPr>
          </a:p>
          <a:p>
            <a:pPr lvl="1" eaLnBrk="1" latinLnBrk="0" hangingPunct="1">
              <a:spcBef>
                <a:spcPts val="1200"/>
              </a:spcBef>
            </a:pPr>
            <a:r>
              <a:rPr lang="zh-CN" altLang="en-US" sz="2000" dirty="0">
                <a:solidFill>
                  <a:srgbClr val="FF0000"/>
                </a:solidFill>
                <a:latin typeface="Arial" panose="020B0604020202020204" pitchFamily="34" charset="0"/>
                <a:sym typeface="+mn-ea"/>
              </a:rPr>
              <a:t>海量存储和输入输出密集</a:t>
            </a:r>
            <a:r>
              <a:rPr lang="zh-CN" altLang="en-US" sz="2000" dirty="0">
                <a:latin typeface="Arial" panose="020B0604020202020204" pitchFamily="34" charset="0"/>
                <a:sym typeface="+mn-ea"/>
              </a:rPr>
              <a:t>问题：数据库</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事务处理</a:t>
            </a:r>
            <a:endParaRPr lang="zh-CN" altLang="en-US" sz="2000" dirty="0">
              <a:latin typeface="Arial" panose="020B0604020202020204" pitchFamily="34" charset="0"/>
            </a:endParaRPr>
          </a:p>
          <a:p>
            <a:pPr lvl="1" eaLnBrk="1" latinLnBrk="0" hangingPunct="1">
              <a:spcBef>
                <a:spcPts val="1200"/>
              </a:spcBef>
            </a:pPr>
            <a:r>
              <a:rPr lang="zh-CN" altLang="en-US" sz="2000" dirty="0">
                <a:solidFill>
                  <a:srgbClr val="FF0000"/>
                </a:solidFill>
                <a:latin typeface="Arial" panose="020B0604020202020204" pitchFamily="34" charset="0"/>
                <a:sym typeface="+mn-ea"/>
              </a:rPr>
              <a:t>图形学和设计</a:t>
            </a:r>
            <a:r>
              <a:rPr lang="zh-CN" altLang="en-US" sz="2000" dirty="0">
                <a:latin typeface="Arial" panose="020B0604020202020204" pitchFamily="34" charset="0"/>
                <a:sym typeface="+mn-ea"/>
              </a:rPr>
              <a:t>系统：计算机辅助设计</a:t>
            </a:r>
            <a:endParaRPr lang="zh-CN" altLang="en-US" sz="2000" dirty="0">
              <a:solidFill>
                <a:schemeClr val="tx2"/>
              </a:solidFill>
              <a:sym typeface="+mn-e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1.4.3 应用对系统结构的影响</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221105"/>
            <a:ext cx="8229600" cy="5368290"/>
          </a:xfrm>
        </p:spPr>
        <p:txBody>
          <a:bodyPr/>
          <a:lstStyle/>
          <a:p>
            <a:pPr eaLnBrk="1" latinLnBrk="0" hangingPunct="1">
              <a:spcBef>
                <a:spcPts val="600"/>
              </a:spcBef>
            </a:pPr>
            <a:r>
              <a:rPr lang="zh-CN" altLang="en-US" sz="2000" dirty="0">
                <a:solidFill>
                  <a:srgbClr val="800000"/>
                </a:solidFill>
                <a:latin typeface="Arial" panose="020B0604020202020204" pitchFamily="34" charset="0"/>
                <a:sym typeface="+mn-ea"/>
              </a:rPr>
              <a:t>三个时期</a:t>
            </a:r>
            <a:endParaRPr lang="zh-CN" altLang="en-US" sz="2000" dirty="0">
              <a:solidFill>
                <a:srgbClr val="800000"/>
              </a:solidFill>
              <a:latin typeface="Arial" panose="020B0604020202020204" pitchFamily="34" charset="0"/>
            </a:endParaRPr>
          </a:p>
          <a:p>
            <a:pPr lvl="1" eaLnBrk="1" latinLnBrk="0" hangingPunct="1">
              <a:spcBef>
                <a:spcPts val="600"/>
              </a:spcBef>
            </a:pPr>
            <a:r>
              <a:rPr lang="zh-CN" altLang="en-US" sz="1800" dirty="0">
                <a:latin typeface="Arial" panose="020B0604020202020204" pitchFamily="34" charset="0"/>
                <a:sym typeface="+mn-ea"/>
              </a:rPr>
              <a:t>通用计算机：主要是通用科学计算</a:t>
            </a:r>
            <a:endParaRPr lang="zh-CN" altLang="en-US" sz="1800" dirty="0">
              <a:latin typeface="Arial" panose="020B0604020202020204" pitchFamily="34" charset="0"/>
            </a:endParaRPr>
          </a:p>
          <a:p>
            <a:pPr lvl="1" eaLnBrk="1" latinLnBrk="0" hangingPunct="1">
              <a:spcBef>
                <a:spcPts val="600"/>
              </a:spcBef>
            </a:pPr>
            <a:r>
              <a:rPr lang="zh-CN" altLang="en-US" sz="1800" dirty="0">
                <a:latin typeface="Arial" panose="020B0604020202020204" pitchFamily="34" charset="0"/>
                <a:sym typeface="+mn-ea"/>
              </a:rPr>
              <a:t>专用计算机：科学计算、事务处理、实时控制</a:t>
            </a:r>
            <a:endParaRPr lang="zh-CN" altLang="en-US" sz="1800" dirty="0">
              <a:latin typeface="Arial" panose="020B0604020202020204" pitchFamily="34" charset="0"/>
            </a:endParaRPr>
          </a:p>
          <a:p>
            <a:pPr lvl="1" eaLnBrk="1" latinLnBrk="0" hangingPunct="1">
              <a:spcBef>
                <a:spcPts val="600"/>
              </a:spcBef>
            </a:pPr>
            <a:r>
              <a:rPr lang="zh-CN" altLang="en-US" sz="1800" dirty="0">
                <a:latin typeface="Arial" panose="020B0604020202020204" pitchFamily="34" charset="0"/>
                <a:sym typeface="+mn-ea"/>
              </a:rPr>
              <a:t>高性能通用机：满足多种需求</a:t>
            </a:r>
            <a:endParaRPr lang="zh-CN" altLang="en-US" sz="1800" dirty="0">
              <a:latin typeface="Arial" panose="020B0604020202020204" pitchFamily="34" charset="0"/>
            </a:endParaRPr>
          </a:p>
          <a:p>
            <a:pPr lvl="1" eaLnBrk="1" latinLnBrk="0" hangingPunct="1">
              <a:spcBef>
                <a:spcPts val="600"/>
              </a:spcBef>
            </a:pPr>
            <a:r>
              <a:rPr lang="zh-CN" altLang="en-US" sz="1800" dirty="0">
                <a:solidFill>
                  <a:srgbClr val="FF0000"/>
                </a:solidFill>
                <a:latin typeface="Arial" panose="020B0604020202020204" pitchFamily="34" charset="0"/>
                <a:sym typeface="+mn-ea"/>
              </a:rPr>
              <a:t>目前又开始多种专用处理机的研制</a:t>
            </a:r>
            <a:endParaRPr lang="zh-CN" altLang="en-US" sz="1800" dirty="0">
              <a:latin typeface="Arial" panose="020B0604020202020204" pitchFamily="34" charset="0"/>
            </a:endParaRPr>
          </a:p>
          <a:p>
            <a:pPr eaLnBrk="1" latinLnBrk="0" hangingPunct="1">
              <a:spcBef>
                <a:spcPts val="1200"/>
              </a:spcBef>
            </a:pPr>
            <a:r>
              <a:rPr lang="zh-CN" altLang="en-US" sz="2000" dirty="0">
                <a:solidFill>
                  <a:srgbClr val="800000"/>
                </a:solidFill>
                <a:latin typeface="Arial" panose="020B0604020202020204" pitchFamily="34" charset="0"/>
                <a:sym typeface="+mn-ea"/>
              </a:rPr>
              <a:t>两个发展趋势</a:t>
            </a:r>
            <a:endParaRPr lang="zh-CN" altLang="en-US" sz="2000" dirty="0">
              <a:solidFill>
                <a:srgbClr val="800000"/>
              </a:solidFill>
              <a:latin typeface="Arial" panose="020B0604020202020204" pitchFamily="34" charset="0"/>
            </a:endParaRPr>
          </a:p>
          <a:p>
            <a:pPr lvl="1" eaLnBrk="1" latinLnBrk="0" hangingPunct="1">
              <a:spcBef>
                <a:spcPts val="600"/>
              </a:spcBef>
            </a:pPr>
            <a:r>
              <a:rPr lang="zh-CN" altLang="en-US" sz="1800" dirty="0">
                <a:latin typeface="Arial" panose="020B0604020202020204" pitchFamily="34" charset="0"/>
                <a:sym typeface="+mn-ea"/>
              </a:rPr>
              <a:t>维持价格不变，利用</a:t>
            </a:r>
            <a:r>
              <a:rPr lang="en-US" altLang="zh-CN" sz="1800" dirty="0">
                <a:latin typeface="Arial" panose="020B0604020202020204" pitchFamily="34" charset="0"/>
                <a:sym typeface="+mn-ea"/>
              </a:rPr>
              <a:t>VLSI</a:t>
            </a:r>
            <a:r>
              <a:rPr lang="zh-CN" altLang="en-US" sz="1800" dirty="0">
                <a:latin typeface="Arial" panose="020B0604020202020204" pitchFamily="34" charset="0"/>
                <a:sym typeface="+mn-ea"/>
              </a:rPr>
              <a:t>技术等，提高性能</a:t>
            </a:r>
            <a:endParaRPr lang="zh-CN" altLang="en-US" sz="1800" dirty="0">
              <a:latin typeface="Arial" panose="020B0604020202020204" pitchFamily="34" charset="0"/>
            </a:endParaRPr>
          </a:p>
          <a:p>
            <a:pPr lvl="1" eaLnBrk="1" latinLnBrk="0" hangingPunct="1">
              <a:spcBef>
                <a:spcPts val="600"/>
              </a:spcBef>
            </a:pPr>
            <a:r>
              <a:rPr lang="zh-CN" altLang="en-US" sz="1800" dirty="0">
                <a:latin typeface="Arial" panose="020B0604020202020204" pitchFamily="34" charset="0"/>
                <a:sym typeface="+mn-ea"/>
              </a:rPr>
              <a:t>性能基本不变，价格迅速下降</a:t>
            </a:r>
            <a:endParaRPr lang="zh-CN" altLang="en-US" sz="1800" dirty="0">
              <a:latin typeface="Arial" panose="020B0604020202020204" pitchFamily="34" charset="0"/>
            </a:endParaRPr>
          </a:p>
          <a:p>
            <a:pPr lvl="1" eaLnBrk="1" latinLnBrk="0" hangingPunct="1">
              <a:spcBef>
                <a:spcPts val="600"/>
              </a:spcBef>
            </a:pPr>
            <a:r>
              <a:rPr lang="zh-CN" altLang="en-US" sz="1800" dirty="0">
                <a:latin typeface="Arial" panose="020B0604020202020204" pitchFamily="34" charset="0"/>
                <a:sym typeface="+mn-ea"/>
              </a:rPr>
              <a:t>一般先推出中间机型，然后再分别向高端和低端两个方向发展</a:t>
            </a:r>
            <a:endParaRPr lang="zh-CN" altLang="en-US" sz="1800" dirty="0">
              <a:latin typeface="Arial" panose="020B0604020202020204" pitchFamily="34" charset="0"/>
            </a:endParaRPr>
          </a:p>
          <a:p>
            <a:pPr eaLnBrk="1" latinLnBrk="0" hangingPunct="1">
              <a:spcBef>
                <a:spcPts val="1200"/>
              </a:spcBef>
            </a:pPr>
            <a:r>
              <a:rPr lang="zh-CN" altLang="en-US" sz="2000" dirty="0">
                <a:solidFill>
                  <a:srgbClr val="800000"/>
                </a:solidFill>
                <a:latin typeface="Arial" panose="020B0604020202020204" pitchFamily="34" charset="0"/>
                <a:sym typeface="+mn-ea"/>
              </a:rPr>
              <a:t>三种设计思想</a:t>
            </a:r>
            <a:endParaRPr lang="zh-CN" altLang="en-US" sz="2000" dirty="0">
              <a:solidFill>
                <a:srgbClr val="800000"/>
              </a:solidFill>
              <a:latin typeface="Arial" panose="020B0604020202020204" pitchFamily="34" charset="0"/>
            </a:endParaRPr>
          </a:p>
          <a:p>
            <a:pPr lvl="1" eaLnBrk="1" latinLnBrk="0" hangingPunct="1">
              <a:spcBef>
                <a:spcPts val="600"/>
              </a:spcBef>
            </a:pPr>
            <a:r>
              <a:rPr lang="zh-CN" altLang="en-US" sz="1800" dirty="0">
                <a:solidFill>
                  <a:srgbClr val="FF0000"/>
                </a:solidFill>
                <a:latin typeface="Arial" panose="020B0604020202020204" pitchFamily="34" charset="0"/>
                <a:sym typeface="+mn-ea"/>
              </a:rPr>
              <a:t>最高性能价格比</a:t>
            </a:r>
            <a:r>
              <a:rPr lang="zh-CN" altLang="en-US" sz="1800" dirty="0">
                <a:latin typeface="Arial" panose="020B0604020202020204" pitchFamily="34" charset="0"/>
                <a:sym typeface="+mn-ea"/>
              </a:rPr>
              <a:t>：商用机。主要发展方向</a:t>
            </a:r>
            <a:endParaRPr lang="zh-CN" altLang="en-US" sz="1800" dirty="0">
              <a:latin typeface="Arial" panose="020B0604020202020204" pitchFamily="34" charset="0"/>
            </a:endParaRPr>
          </a:p>
          <a:p>
            <a:pPr lvl="1" eaLnBrk="1" latinLnBrk="0" hangingPunct="1">
              <a:spcBef>
                <a:spcPts val="600"/>
              </a:spcBef>
            </a:pPr>
            <a:r>
              <a:rPr lang="zh-CN" altLang="en-US" sz="1800" dirty="0">
                <a:solidFill>
                  <a:srgbClr val="FF0000"/>
                </a:solidFill>
                <a:latin typeface="Arial" panose="020B0604020202020204" pitchFamily="34" charset="0"/>
                <a:sym typeface="+mn-ea"/>
              </a:rPr>
              <a:t>最高性能：</a:t>
            </a:r>
            <a:r>
              <a:rPr lang="zh-CN" altLang="en-US" sz="1800" dirty="0">
                <a:latin typeface="Arial" panose="020B0604020202020204" pitchFamily="34" charset="0"/>
                <a:sym typeface="+mn-ea"/>
              </a:rPr>
              <a:t>国家安全需要，科技发展需要</a:t>
            </a:r>
            <a:endParaRPr lang="zh-CN" altLang="en-US" sz="1800" dirty="0">
              <a:latin typeface="Arial" panose="020B0604020202020204" pitchFamily="34" charset="0"/>
            </a:endParaRPr>
          </a:p>
          <a:p>
            <a:pPr lvl="2" eaLnBrk="1" latinLnBrk="0" hangingPunct="1">
              <a:spcBef>
                <a:spcPts val="600"/>
              </a:spcBef>
            </a:pPr>
            <a:r>
              <a:rPr lang="zh-CN" altLang="en-US" sz="1800" dirty="0">
                <a:latin typeface="Arial" panose="020B0604020202020204" pitchFamily="34" charset="0"/>
                <a:sym typeface="+mn-ea"/>
              </a:rPr>
              <a:t>例如：银河计算机、神州计算机、</a:t>
            </a:r>
            <a:r>
              <a:rPr lang="en-US" altLang="zh-CN" sz="1800" dirty="0">
                <a:latin typeface="Arial" panose="020B0604020202020204" pitchFamily="34" charset="0"/>
                <a:sym typeface="+mn-ea"/>
              </a:rPr>
              <a:t>…</a:t>
            </a:r>
            <a:endParaRPr lang="en-US" altLang="zh-CN" sz="1800" dirty="0">
              <a:latin typeface="Arial" panose="020B0604020202020204" pitchFamily="34" charset="0"/>
            </a:endParaRPr>
          </a:p>
          <a:p>
            <a:pPr lvl="1" eaLnBrk="1" latinLnBrk="0" hangingPunct="1">
              <a:spcBef>
                <a:spcPts val="600"/>
              </a:spcBef>
            </a:pPr>
            <a:r>
              <a:rPr lang="zh-CN" altLang="en-US" sz="1800" dirty="0">
                <a:solidFill>
                  <a:srgbClr val="FF0000"/>
                </a:solidFill>
                <a:latin typeface="Arial" panose="020B0604020202020204" pitchFamily="34" charset="0"/>
                <a:sym typeface="+mn-ea"/>
              </a:rPr>
              <a:t>最低价格：</a:t>
            </a:r>
            <a:r>
              <a:rPr lang="zh-CN" altLang="en-US" sz="1800" dirty="0">
                <a:latin typeface="Arial" panose="020B0604020202020204" pitchFamily="34" charset="0"/>
                <a:sym typeface="+mn-ea"/>
              </a:rPr>
              <a:t>家用学习机等</a:t>
            </a:r>
            <a:endParaRPr lang="zh-CN" altLang="en-US" sz="1800" dirty="0">
              <a:solidFill>
                <a:schemeClr val="tx2"/>
              </a:solidFill>
              <a:latin typeface="Arial" panose="020B0604020202020204" pitchFamily="34" charset="0"/>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1.4.4 器件发展对系统结构的影响</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221105"/>
            <a:ext cx="8229600" cy="5368290"/>
          </a:xfrm>
        </p:spPr>
        <p:txBody>
          <a:bodyPr/>
          <a:lstStyle/>
          <a:p>
            <a:pPr eaLnBrk="1" latinLnBrk="0" hangingPunct="1">
              <a:spcBef>
                <a:spcPts val="1200"/>
              </a:spcBef>
            </a:pPr>
            <a:r>
              <a:rPr lang="en-US" altLang="zh-CN" sz="2000" dirty="0">
                <a:solidFill>
                  <a:srgbClr val="800000"/>
                </a:solidFill>
                <a:latin typeface="Times New Roman" panose="02020603050405020304" pitchFamily="18" charset="0"/>
                <a:cs typeface="Times New Roman" panose="02020603050405020304" pitchFamily="18" charset="0"/>
                <a:sym typeface="+mn-ea"/>
              </a:rPr>
              <a:t> </a:t>
            </a:r>
            <a:r>
              <a:rPr lang="zh-CN" altLang="en-US" sz="2000" dirty="0">
                <a:solidFill>
                  <a:srgbClr val="800000"/>
                </a:solidFill>
                <a:latin typeface="Times New Roman" panose="02020603050405020304" pitchFamily="18" charset="0"/>
                <a:cs typeface="Times New Roman" panose="02020603050405020304" pitchFamily="18" charset="0"/>
                <a:sym typeface="+mn-ea"/>
              </a:rPr>
              <a:t>器件发展的特点</a:t>
            </a:r>
            <a:endParaRPr lang="zh-CN" altLang="en-US" sz="2000" dirty="0">
              <a:solidFill>
                <a:srgbClr val="800000"/>
              </a:solidFill>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(1) </a:t>
            </a:r>
            <a:r>
              <a:rPr lang="zh-CN" altLang="en-US" sz="2000" dirty="0">
                <a:solidFill>
                  <a:srgbClr val="FF0000"/>
                </a:solidFill>
                <a:latin typeface="Times New Roman" panose="02020603050405020304" pitchFamily="18" charset="0"/>
                <a:cs typeface="Times New Roman" panose="02020603050405020304" pitchFamily="18" charset="0"/>
                <a:sym typeface="+mn-ea"/>
              </a:rPr>
              <a:t>集成度迅速提高</a:t>
            </a:r>
            <a:endParaRPr lang="zh-CN" altLang="en-US" sz="2000" dirty="0">
              <a:solidFill>
                <a:srgbClr val="FF0000"/>
              </a:solidFill>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每个芯片集成的晶体管上千亿个</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单芯片内可以</a:t>
            </a:r>
            <a:r>
              <a:rPr lang="zh-CN" altLang="en-US" sz="2000" dirty="0">
                <a:latin typeface="Times New Roman" panose="02020603050405020304" pitchFamily="18" charset="0"/>
                <a:cs typeface="Times New Roman" panose="02020603050405020304" pitchFamily="18" charset="0"/>
                <a:sym typeface="+mn-ea"/>
              </a:rPr>
              <a:t>集成几十</a:t>
            </a:r>
            <a:r>
              <a:rPr lang="en-US" altLang="zh-CN" sz="2000" dirty="0">
                <a:latin typeface="Times New Roman" panose="02020603050405020304" pitchFamily="18" charset="0"/>
                <a:cs typeface="Times New Roman" panose="02020603050405020304" pitchFamily="18" charset="0"/>
                <a:sym typeface="+mn-ea"/>
              </a:rPr>
              <a:t>Gb</a:t>
            </a:r>
            <a:r>
              <a:rPr lang="zh-CN" altLang="en-US" sz="2000" dirty="0">
                <a:latin typeface="Times New Roman" panose="02020603050405020304" pitchFamily="18" charset="0"/>
                <a:cs typeface="Times New Roman" panose="02020603050405020304" pitchFamily="18" charset="0"/>
                <a:sym typeface="+mn-ea"/>
              </a:rPr>
              <a:t>存储器</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单芯片内可以集成</a:t>
            </a:r>
            <a:r>
              <a:rPr lang="zh-CN" altLang="en-US" sz="2000" dirty="0">
                <a:latin typeface="Times New Roman" panose="02020603050405020304" pitchFamily="18" charset="0"/>
                <a:cs typeface="Times New Roman" panose="02020603050405020304" pitchFamily="18" charset="0"/>
                <a:sym typeface="+mn-ea"/>
              </a:rPr>
              <a:t>多个</a:t>
            </a:r>
            <a:r>
              <a:rPr lang="en-US" altLang="zh-CN" sz="2000" dirty="0">
                <a:latin typeface="Times New Roman" panose="02020603050405020304" pitchFamily="18" charset="0"/>
                <a:cs typeface="Times New Roman" panose="02020603050405020304" pitchFamily="18" charset="0"/>
                <a:sym typeface="+mn-ea"/>
              </a:rPr>
              <a:t>CPU</a:t>
            </a:r>
            <a:r>
              <a:rPr lang="zh-CN" altLang="en-US" sz="2000" dirty="0">
                <a:latin typeface="Times New Roman" panose="02020603050405020304" pitchFamily="18" charset="0"/>
                <a:cs typeface="Times New Roman" panose="02020603050405020304" pitchFamily="18" charset="0"/>
                <a:sym typeface="+mn-ea"/>
              </a:rPr>
              <a:t>和全部</a:t>
            </a:r>
            <a:r>
              <a:rPr lang="en-US" altLang="zh-CN" sz="2000" dirty="0">
                <a:latin typeface="Times New Roman" panose="02020603050405020304" pitchFamily="18" charset="0"/>
                <a:cs typeface="Times New Roman" panose="02020603050405020304" pitchFamily="18" charset="0"/>
                <a:sym typeface="+mn-ea"/>
              </a:rPr>
              <a:t>Cache</a:t>
            </a:r>
            <a:endParaRPr lang="en-US" altLang="zh-CN" sz="200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每</a:t>
            </a:r>
            <a:r>
              <a:rPr lang="en-US" altLang="zh-CN" sz="2000" dirty="0">
                <a:latin typeface="Times New Roman" panose="02020603050405020304" pitchFamily="18" charset="0"/>
                <a:cs typeface="Times New Roman" panose="02020603050405020304" pitchFamily="18" charset="0"/>
                <a:sym typeface="+mn-ea"/>
              </a:rPr>
              <a:t>4~5</a:t>
            </a:r>
            <a:r>
              <a:rPr lang="zh-CN" altLang="en-US" sz="2000" dirty="0">
                <a:latin typeface="Times New Roman" panose="02020603050405020304" pitchFamily="18" charset="0"/>
                <a:cs typeface="Times New Roman" panose="02020603050405020304" pitchFamily="18" charset="0"/>
                <a:sym typeface="+mn-ea"/>
              </a:rPr>
              <a:t>年提高一个数量级</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集成度的极限</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solidFill>
                  <a:srgbClr val="FF0000"/>
                </a:solidFill>
                <a:latin typeface="Times New Roman" panose="02020603050405020304" pitchFamily="18" charset="0"/>
                <a:cs typeface="Times New Roman" panose="02020603050405020304" pitchFamily="18" charset="0"/>
                <a:sym typeface="+mn-ea"/>
              </a:rPr>
              <a:t>线宽，激光波长</a:t>
            </a:r>
            <a:endParaRPr lang="zh-CN" altLang="en-US" sz="2000" dirty="0">
              <a:solidFill>
                <a:srgbClr val="FF0000"/>
              </a:solidFill>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solidFill>
                  <a:srgbClr val="0000FF"/>
                </a:solidFill>
                <a:latin typeface="Times New Roman" panose="02020603050405020304" pitchFamily="18" charset="0"/>
                <a:cs typeface="Times New Roman" panose="02020603050405020304" pitchFamily="18" charset="0"/>
                <a:sym typeface="+mn-ea"/>
              </a:rPr>
              <a:t>问题：</a:t>
            </a:r>
            <a:r>
              <a:rPr lang="zh-CN" altLang="en-US" sz="1710" dirty="0">
                <a:latin typeface="Times New Roman" panose="02020603050405020304" pitchFamily="18" charset="0"/>
                <a:cs typeface="Times New Roman" panose="02020603050405020304" pitchFamily="18" charset="0"/>
                <a:sym typeface="+mn-ea"/>
              </a:rPr>
              <a:t>如何利用器件集成度的提高，不断改进计算机系统的性能</a:t>
            </a:r>
            <a:endParaRPr lang="zh-CN" altLang="en-US" sz="171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1995" dirty="0">
                <a:solidFill>
                  <a:srgbClr val="FF0000"/>
                </a:solidFill>
                <a:latin typeface="Times New Roman" panose="02020603050405020304" pitchFamily="18" charset="0"/>
                <a:cs typeface="Times New Roman" panose="02020603050405020304" pitchFamily="18" charset="0"/>
                <a:sym typeface="+mn-ea"/>
              </a:rPr>
              <a:t>有更多指令并行执行，采用更深的流水线，集成更多的</a:t>
            </a:r>
            <a:r>
              <a:rPr lang="en-US" altLang="zh-CN" sz="1995" dirty="0">
                <a:solidFill>
                  <a:srgbClr val="FF0000"/>
                </a:solidFill>
                <a:latin typeface="Times New Roman" panose="02020603050405020304" pitchFamily="18" charset="0"/>
                <a:cs typeface="Times New Roman" panose="02020603050405020304" pitchFamily="18" charset="0"/>
                <a:sym typeface="+mn-ea"/>
              </a:rPr>
              <a:t>Cache</a:t>
            </a:r>
            <a:endParaRPr lang="zh-CN" altLang="en-US" sz="1995" dirty="0">
              <a:solidFill>
                <a:srgbClr val="FF0000"/>
              </a:solidFill>
              <a:latin typeface="Times New Roman" panose="02020603050405020304" pitchFamily="18" charset="0"/>
              <a:cs typeface="Times New Roman" panose="02020603050405020304" pitchFamily="18" charset="0"/>
              <a:sym typeface="+mn-ea"/>
            </a:endParaRPr>
          </a:p>
          <a:p>
            <a:pPr lvl="2" eaLnBrk="1" latinLnBrk="0" hangingPunct="1">
              <a:spcBef>
                <a:spcPts val="1200"/>
              </a:spcBef>
            </a:pPr>
            <a:r>
              <a:rPr lang="zh-CN" altLang="en-US" sz="1995" dirty="0">
                <a:solidFill>
                  <a:srgbClr val="FF0000"/>
                </a:solidFill>
                <a:latin typeface="Times New Roman" panose="02020603050405020304" pitchFamily="18" charset="0"/>
                <a:cs typeface="Times New Roman" panose="02020603050405020304" pitchFamily="18" charset="0"/>
                <a:sym typeface="+mn-ea"/>
              </a:rPr>
              <a:t>。。。。</a:t>
            </a:r>
            <a:endParaRPr lang="zh-CN" altLang="en-US" sz="1995" dirty="0">
              <a:solidFill>
                <a:srgbClr val="FF000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1.4.4 器件发展对系统结构的影响</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221105"/>
            <a:ext cx="8229600" cy="5368290"/>
          </a:xfrm>
        </p:spPr>
        <p:txBody>
          <a:bodyPr/>
          <a:lstStyle/>
          <a:p>
            <a:pPr eaLnBrk="1" latinLnBrk="0" hangingPunct="1">
              <a:lnSpc>
                <a:spcPct val="110000"/>
              </a:lnSpc>
              <a:spcBef>
                <a:spcPts val="1200"/>
              </a:spcBef>
            </a:pP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(2) </a:t>
            </a:r>
            <a:r>
              <a:rPr lang="zh-CN" altLang="en-US"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提高</a:t>
            </a:r>
            <a:r>
              <a:rPr lang="zh-CN" altLang="en-US" sz="2400" dirty="0">
                <a:solidFill>
                  <a:srgbClr val="FF0000"/>
                </a:solidFill>
                <a:latin typeface="Times New Roman" panose="02020603050405020304" pitchFamily="18" charset="0"/>
                <a:cs typeface="Times New Roman" panose="02020603050405020304" pitchFamily="18" charset="0"/>
                <a:sym typeface="+mn-ea"/>
              </a:rPr>
              <a:t>速度空间不大</a:t>
            </a:r>
            <a:r>
              <a:rPr lang="en-US" altLang="zh-CN" sz="2400" dirty="0">
                <a:solidFill>
                  <a:srgbClr val="FF0000"/>
                </a:solidFill>
                <a:latin typeface="Times New Roman" panose="02020603050405020304" pitchFamily="18" charset="0"/>
                <a:cs typeface="Times New Roman" panose="02020603050405020304" pitchFamily="18" charset="0"/>
                <a:sym typeface="+mn-ea"/>
              </a:rPr>
              <a:t>---</a:t>
            </a:r>
            <a:r>
              <a:rPr lang="zh-CN" altLang="en-US" sz="2400" dirty="0">
                <a:solidFill>
                  <a:srgbClr val="FF0000"/>
                </a:solidFill>
                <a:latin typeface="Times New Roman" panose="02020603050405020304" pitchFamily="18" charset="0"/>
                <a:cs typeface="Times New Roman" panose="02020603050405020304" pitchFamily="18" charset="0"/>
                <a:sym typeface="+mn-ea"/>
              </a:rPr>
              <a:t>已接近极限</a:t>
            </a:r>
            <a:endParaRPr lang="zh-CN" altLang="en-US" sz="2400" dirty="0">
              <a:latin typeface="Times New Roman" panose="02020603050405020304" pitchFamily="18" charset="0"/>
              <a:cs typeface="Times New Roman" panose="02020603050405020304" pitchFamily="18" charset="0"/>
            </a:endParaRPr>
          </a:p>
          <a:p>
            <a:pPr lvl="1" algn="l" eaLnBrk="1" latinLnBrk="0" hangingPunct="1">
              <a:lnSpc>
                <a:spcPct val="110000"/>
              </a:lnSpc>
              <a:spcBef>
                <a:spcPts val="1200"/>
              </a:spcBef>
              <a:buSzTx/>
            </a:pPr>
            <a:r>
              <a:rPr lang="zh-CN" altLang="en-US" sz="2400" dirty="0">
                <a:latin typeface="Times New Roman" panose="02020603050405020304" pitchFamily="18" charset="0"/>
                <a:cs typeface="Times New Roman" panose="02020603050405020304" pitchFamily="18" charset="0"/>
                <a:sym typeface="+mn-ea"/>
              </a:rPr>
              <a:t>目前CPU主频</a:t>
            </a:r>
            <a:r>
              <a:rPr lang="zh-CN" altLang="en-US" sz="2400" dirty="0">
                <a:latin typeface="Times New Roman" panose="02020603050405020304" pitchFamily="18" charset="0"/>
                <a:cs typeface="Times New Roman" panose="02020603050405020304" pitchFamily="18" charset="0"/>
                <a:sym typeface="+mn-ea"/>
              </a:rPr>
              <a:t>不超过10GHz</a:t>
            </a:r>
            <a:endParaRPr lang="zh-CN" altLang="en-US" sz="2400" dirty="0">
              <a:latin typeface="Times New Roman" panose="02020603050405020304" pitchFamily="18" charset="0"/>
              <a:cs typeface="Times New Roman" panose="02020603050405020304" pitchFamily="18" charset="0"/>
            </a:endParaRPr>
          </a:p>
          <a:p>
            <a:pPr lvl="2" algn="l" eaLnBrk="1" latinLnBrk="0" hangingPunct="1">
              <a:lnSpc>
                <a:spcPct val="110000"/>
              </a:lnSpc>
              <a:spcBef>
                <a:spcPts val="1200"/>
              </a:spcBef>
              <a:buSzTx/>
            </a:pPr>
            <a:r>
              <a:rPr lang="zh-CN" altLang="en-US" sz="1800" dirty="0">
                <a:latin typeface="Times New Roman" panose="02020603050405020304" pitchFamily="18" charset="0"/>
                <a:cs typeface="Times New Roman" panose="02020603050405020304" pitchFamily="18" charset="0"/>
                <a:sym typeface="+mn-ea"/>
              </a:rPr>
              <a:t>时钟周期0.16ns，门延迟小于0.01ns</a:t>
            </a:r>
            <a:endParaRPr lang="zh-CN" altLang="en-US" sz="1800" dirty="0">
              <a:latin typeface="Times New Roman" panose="02020603050405020304" pitchFamily="18" charset="0"/>
              <a:cs typeface="Times New Roman" panose="02020603050405020304" pitchFamily="18" charset="0"/>
            </a:endParaRPr>
          </a:p>
          <a:p>
            <a:pPr lvl="2" algn="l" eaLnBrk="1" latinLnBrk="0" hangingPunct="1">
              <a:lnSpc>
                <a:spcPct val="110000"/>
              </a:lnSpc>
              <a:spcBef>
                <a:spcPts val="1200"/>
              </a:spcBef>
              <a:buSzTx/>
            </a:pPr>
            <a:r>
              <a:rPr lang="zh-CN" altLang="en-US" sz="1800" dirty="0">
                <a:latin typeface="Times New Roman" panose="02020603050405020304" pitchFamily="18" charset="0"/>
                <a:cs typeface="Times New Roman" panose="02020603050405020304" pitchFamily="18" charset="0"/>
                <a:sym typeface="+mn-ea"/>
              </a:rPr>
              <a:t>极限速度30万公里/秒/2＝1.5mm/0.01ns</a:t>
            </a:r>
            <a:endParaRPr lang="zh-CN" altLang="en-US" sz="1800" dirty="0">
              <a:latin typeface="Times New Roman" panose="02020603050405020304" pitchFamily="18" charset="0"/>
              <a:cs typeface="Times New Roman" panose="02020603050405020304" pitchFamily="18" charset="0"/>
            </a:endParaRPr>
          </a:p>
          <a:p>
            <a:pPr lvl="2" algn="l" eaLnBrk="1" latinLnBrk="0" hangingPunct="1">
              <a:lnSpc>
                <a:spcPct val="110000"/>
              </a:lnSpc>
              <a:spcBef>
                <a:spcPts val="1200"/>
              </a:spcBef>
              <a:buSzTx/>
            </a:pPr>
            <a:r>
              <a:rPr lang="zh-CN" altLang="en-US" sz="1800" dirty="0">
                <a:latin typeface="Times New Roman" panose="02020603050405020304" pitchFamily="18" charset="0"/>
                <a:cs typeface="Times New Roman" panose="02020603050405020304" pitchFamily="18" charset="0"/>
                <a:sym typeface="+mn-ea"/>
              </a:rPr>
              <a:t>信号在导体中传递速度小于光速的50％</a:t>
            </a:r>
            <a:endParaRPr lang="zh-CN" altLang="en-US" sz="1800" dirty="0">
              <a:latin typeface="Times New Roman" panose="02020603050405020304" pitchFamily="18" charset="0"/>
              <a:cs typeface="Times New Roman" panose="02020603050405020304" pitchFamily="18" charset="0"/>
            </a:endParaRPr>
          </a:p>
          <a:p>
            <a:pPr lvl="2" algn="l" eaLnBrk="1" latinLnBrk="0" hangingPunct="1">
              <a:lnSpc>
                <a:spcPct val="110000"/>
              </a:lnSpc>
              <a:spcBef>
                <a:spcPts val="1200"/>
              </a:spcBef>
              <a:buSzTx/>
            </a:pPr>
            <a:r>
              <a:rPr lang="zh-CN" altLang="en-US" sz="1800" dirty="0">
                <a:latin typeface="Times New Roman" panose="02020603050405020304" pitchFamily="18" charset="0"/>
                <a:cs typeface="Times New Roman" panose="02020603050405020304" pitchFamily="18" charset="0"/>
                <a:sym typeface="+mn-ea"/>
              </a:rPr>
              <a:t>Pentium芯片面积500mm</a:t>
            </a:r>
            <a:r>
              <a:rPr lang="zh-CN" altLang="en-US" sz="1600" baseline="30000" dirty="0">
                <a:latin typeface="Times New Roman" panose="02020603050405020304" pitchFamily="18" charset="0"/>
                <a:cs typeface="Times New Roman" panose="02020603050405020304" pitchFamily="18" charset="0"/>
                <a:sym typeface="+mn-ea"/>
              </a:rPr>
              <a:t>2</a:t>
            </a:r>
            <a:r>
              <a:rPr lang="zh-CN" altLang="en-US" sz="1800" dirty="0">
                <a:latin typeface="Times New Roman" panose="02020603050405020304" pitchFamily="18" charset="0"/>
                <a:cs typeface="Times New Roman" panose="02020603050405020304" pitchFamily="18" charset="0"/>
                <a:sym typeface="+mn-ea"/>
              </a:rPr>
              <a:t>，即23mm </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 23mm</a:t>
            </a:r>
            <a:endParaRPr lang="zh-CN" altLang="en-US" sz="1800" dirty="0">
              <a:latin typeface="Times New Roman" panose="02020603050405020304" pitchFamily="18" charset="0"/>
              <a:cs typeface="Times New Roman" panose="02020603050405020304" pitchFamily="18" charset="0"/>
            </a:endParaRPr>
          </a:p>
          <a:p>
            <a:pPr lvl="1" eaLnBrk="1" latinLnBrk="0" hangingPunct="1">
              <a:lnSpc>
                <a:spcPct val="110000"/>
              </a:lnSpc>
              <a:spcBef>
                <a:spcPts val="1200"/>
              </a:spcBef>
            </a:pPr>
            <a:r>
              <a:rPr lang="zh-CN" altLang="en-US" sz="2400" dirty="0">
                <a:solidFill>
                  <a:srgbClr val="FF0000"/>
                </a:solidFill>
                <a:latin typeface="Times New Roman" panose="02020603050405020304" pitchFamily="18" charset="0"/>
                <a:cs typeface="Times New Roman" panose="02020603050405020304" pitchFamily="18" charset="0"/>
                <a:sym typeface="+mn-ea"/>
              </a:rPr>
              <a:t>提高处理机速度更多依靠系统结构的发展</a:t>
            </a:r>
            <a:endParaRPr lang="zh-CN" altLang="en-US" sz="2400" dirty="0">
              <a:solidFill>
                <a:srgbClr val="FF0000"/>
              </a:solidFill>
              <a:latin typeface="Times New Roman" panose="02020603050405020304" pitchFamily="18" charset="0"/>
              <a:cs typeface="Times New Roman" panose="02020603050405020304" pitchFamily="18" charset="0"/>
            </a:endParaRPr>
          </a:p>
          <a:p>
            <a:pPr lvl="2" eaLnBrk="1" latinLnBrk="0" hangingPunct="1">
              <a:lnSpc>
                <a:spcPct val="110000"/>
              </a:lnSpc>
              <a:spcBef>
                <a:spcPts val="1200"/>
              </a:spcBef>
            </a:pPr>
            <a:r>
              <a:rPr lang="zh-CN" altLang="en-US" sz="1800" dirty="0">
                <a:latin typeface="Times New Roman" panose="02020603050405020304" pitchFamily="18" charset="0"/>
                <a:cs typeface="Times New Roman" panose="02020603050405020304" pitchFamily="18" charset="0"/>
                <a:sym typeface="+mn-ea"/>
              </a:rPr>
              <a:t>提高</a:t>
            </a:r>
            <a:r>
              <a:rPr lang="en-US" altLang="zh-CN" sz="1800" dirty="0">
                <a:latin typeface="Times New Roman" panose="02020603050405020304" pitchFamily="18" charset="0"/>
                <a:cs typeface="Times New Roman" panose="02020603050405020304" pitchFamily="18" charset="0"/>
                <a:sym typeface="+mn-ea"/>
              </a:rPr>
              <a:t>IPC</a:t>
            </a:r>
            <a:r>
              <a:rPr lang="zh-CN" altLang="en-US" sz="1800" dirty="0">
                <a:latin typeface="Times New Roman" panose="02020603050405020304" pitchFamily="18" charset="0"/>
                <a:cs typeface="Times New Roman" panose="02020603050405020304" pitchFamily="18" charset="0"/>
                <a:sym typeface="+mn-ea"/>
              </a:rPr>
              <a:t>，从目前的</a:t>
            </a:r>
            <a:r>
              <a:rPr lang="en-US" altLang="zh-CN" sz="1800" dirty="0">
                <a:latin typeface="Times New Roman" panose="02020603050405020304" pitchFamily="18" charset="0"/>
                <a:cs typeface="Times New Roman" panose="02020603050405020304" pitchFamily="18" charset="0"/>
                <a:sym typeface="+mn-ea"/>
              </a:rPr>
              <a:t>2</a:t>
            </a:r>
            <a:r>
              <a:rPr lang="zh-CN" altLang="en-US" sz="1800" dirty="0">
                <a:latin typeface="Times New Roman" panose="02020603050405020304" pitchFamily="18" charset="0"/>
                <a:cs typeface="Times New Roman" panose="02020603050405020304" pitchFamily="18" charset="0"/>
                <a:sym typeface="+mn-ea"/>
              </a:rPr>
              <a:t>左右提高到</a:t>
            </a:r>
            <a:r>
              <a:rPr lang="en-US" altLang="zh-CN" sz="1800" dirty="0">
                <a:latin typeface="Times New Roman" panose="02020603050405020304" pitchFamily="18" charset="0"/>
                <a:cs typeface="Times New Roman" panose="02020603050405020304" pitchFamily="18" charset="0"/>
                <a:sym typeface="+mn-ea"/>
              </a:rPr>
              <a:t>8</a:t>
            </a:r>
            <a:r>
              <a:rPr lang="zh-CN" altLang="en-US" sz="1800" dirty="0">
                <a:latin typeface="Times New Roman" panose="02020603050405020304" pitchFamily="18" charset="0"/>
                <a:cs typeface="Times New Roman" panose="02020603050405020304" pitchFamily="18" charset="0"/>
                <a:sym typeface="+mn-ea"/>
              </a:rPr>
              <a:t>以上</a:t>
            </a:r>
            <a:endParaRPr lang="zh-CN" altLang="en-US" sz="1800" dirty="0">
              <a:latin typeface="Times New Roman" panose="02020603050405020304" pitchFamily="18" charset="0"/>
              <a:cs typeface="Times New Roman" panose="02020603050405020304" pitchFamily="18" charset="0"/>
            </a:endParaRPr>
          </a:p>
          <a:p>
            <a:pPr lvl="2" eaLnBrk="1" latinLnBrk="0" hangingPunct="1">
              <a:lnSpc>
                <a:spcPct val="110000"/>
              </a:lnSpc>
              <a:spcBef>
                <a:spcPts val="1200"/>
              </a:spcBef>
            </a:pPr>
            <a:r>
              <a:rPr lang="zh-CN" altLang="en-US" sz="1800" dirty="0">
                <a:latin typeface="Times New Roman" panose="02020603050405020304" pitchFamily="18" charset="0"/>
                <a:cs typeface="Times New Roman" panose="02020603050405020304" pitchFamily="18" charset="0"/>
                <a:sym typeface="+mn-ea"/>
              </a:rPr>
              <a:t>采用更深的流水线和并行处理技术</a:t>
            </a:r>
            <a:endParaRPr lang="zh-CN" altLang="en-US" sz="1800" dirty="0">
              <a:solidFill>
                <a:schemeClr val="tx2"/>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1.4.5 算法和系统结构</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221105"/>
            <a:ext cx="8229600" cy="5368290"/>
          </a:xfrm>
        </p:spPr>
        <p:txBody>
          <a:bodyPr/>
          <a:lstStyle/>
          <a:p>
            <a:pPr eaLnBrk="1" latinLnBrk="0" hangingPunct="1">
              <a:spcBef>
                <a:spcPts val="1200"/>
              </a:spcBef>
            </a:pPr>
            <a:r>
              <a:rPr lang="zh-CN" altLang="en-US" sz="2400" dirty="0">
                <a:solidFill>
                  <a:srgbClr val="FF0000"/>
                </a:solidFill>
                <a:latin typeface="Times New Roman" panose="02020603050405020304" pitchFamily="18" charset="0"/>
                <a:cs typeface="Times New Roman" panose="02020603050405020304" pitchFamily="18" charset="0"/>
                <a:sym typeface="+mn-ea"/>
              </a:rPr>
              <a:t>在多个层次上，算法影响着系统结构</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快速乘法、除法、开平方等的实现</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记分板算法、</a:t>
            </a:r>
            <a:r>
              <a:rPr lang="en-US" altLang="zh-CN" sz="2000" dirty="0">
                <a:latin typeface="Times New Roman" panose="02020603050405020304" pitchFamily="18" charset="0"/>
                <a:cs typeface="Times New Roman" panose="02020603050405020304" pitchFamily="18" charset="0"/>
                <a:sym typeface="+mn-ea"/>
              </a:rPr>
              <a:t>Tomasulo</a:t>
            </a:r>
            <a:r>
              <a:rPr lang="zh-CN" altLang="en-US" sz="2000" dirty="0">
                <a:latin typeface="Times New Roman" panose="02020603050405020304" pitchFamily="18" charset="0"/>
                <a:cs typeface="Times New Roman" panose="02020603050405020304" pitchFamily="18" charset="0"/>
                <a:sym typeface="+mn-ea"/>
              </a:rPr>
              <a:t>算法提高指令级并行性</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消除名字相关、数据相关、控制相关的算法（分支预测算法）</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rPr>
              <a:t>缓存一致性</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替换</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预取算法；</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rPr>
              <a:t>网络路由</a:t>
            </a:r>
            <a:r>
              <a:rPr lang="zh-CN" altLang="en-US" sz="2000" dirty="0">
                <a:latin typeface="Times New Roman" panose="02020603050405020304" pitchFamily="18" charset="0"/>
                <a:cs typeface="Times New Roman" panose="02020603050405020304" pitchFamily="18" charset="0"/>
              </a:rPr>
              <a:t>算法；</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rPr>
              <a:t>向量化</a:t>
            </a:r>
            <a:r>
              <a:rPr lang="zh-CN" altLang="en-US" sz="2000" dirty="0">
                <a:latin typeface="Times New Roman" panose="02020603050405020304" pitchFamily="18" charset="0"/>
                <a:cs typeface="Times New Roman" panose="02020603050405020304" pitchFamily="18" charset="0"/>
              </a:rPr>
              <a:t>算法；</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通过算法的研究能够大幅度提高系统的性能</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系统结构设计者要研究算法</a:t>
            </a:r>
            <a:endParaRPr lang="zh-CN" altLang="en-US" sz="24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vert="horz" rtlCol="0">
            <a:noAutofit/>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defTabSz="914400" eaLnBrk="1" hangingPunct="1">
              <a:buClrTx/>
              <a:buSzTx/>
              <a:buFontTx/>
            </a:pPr>
            <a:r>
              <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本章重点</a:t>
            </a:r>
            <a:endParaRPr lang="zh-CN" altLang="en-US" kern="12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67360" y="1221105"/>
            <a:ext cx="8229600" cy="5368290"/>
          </a:xfrm>
        </p:spPr>
        <p:txBody>
          <a:bodyPr/>
          <a:lstStyle/>
          <a:p>
            <a:pPr eaLnBrk="1" latinLnBrk="0" hangingPunct="1">
              <a:spcBef>
                <a:spcPts val="1200"/>
              </a:spcBef>
            </a:pPr>
            <a:r>
              <a:rPr lang="en-US" altLang="zh-CN" sz="2400" dirty="0">
                <a:latin typeface="Times New Roman" panose="02020603050405020304" pitchFamily="18" charset="0"/>
                <a:cs typeface="Times New Roman" panose="02020603050405020304" pitchFamily="18" charset="0"/>
                <a:sym typeface="+mn-ea"/>
              </a:rPr>
              <a:t>1 </a:t>
            </a:r>
            <a:r>
              <a:rPr lang="zh-CN" altLang="en-US" sz="2400" dirty="0">
                <a:latin typeface="Times New Roman" panose="02020603050405020304" pitchFamily="18" charset="0"/>
                <a:cs typeface="Times New Roman" panose="02020603050405020304" pitchFamily="18" charset="0"/>
                <a:sym typeface="+mn-ea"/>
              </a:rPr>
              <a:t>计算机系统结构的定义及研究对象</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cs typeface="Times New Roman" panose="02020603050405020304" pitchFamily="18" charset="0"/>
                <a:sym typeface="+mn-ea"/>
              </a:rPr>
              <a:t>2 </a:t>
            </a:r>
            <a:r>
              <a:rPr lang="zh-CN" altLang="en-US" sz="2400" dirty="0">
                <a:latin typeface="Times New Roman" panose="02020603050405020304" pitchFamily="18" charset="0"/>
                <a:cs typeface="Times New Roman" panose="02020603050405020304" pitchFamily="18" charset="0"/>
                <a:sym typeface="+mn-ea"/>
              </a:rPr>
              <a:t>计算机系统的层次结构</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cs typeface="Times New Roman" panose="02020603050405020304" pitchFamily="18" charset="0"/>
                <a:sym typeface="+mn-ea"/>
              </a:rPr>
              <a:t>3 </a:t>
            </a:r>
            <a:r>
              <a:rPr lang="zh-CN" altLang="en-US" sz="2400" dirty="0">
                <a:latin typeface="Times New Roman" panose="02020603050405020304" pitchFamily="18" charset="0"/>
                <a:cs typeface="Times New Roman" panose="02020603050405020304" pitchFamily="18" charset="0"/>
                <a:sym typeface="+mn-ea"/>
              </a:rPr>
              <a:t>评价计算机系统的常用方法</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cs typeface="Times New Roman" panose="02020603050405020304" pitchFamily="18" charset="0"/>
                <a:sym typeface="+mn-ea"/>
              </a:rPr>
              <a:t>4 </a:t>
            </a:r>
            <a:r>
              <a:rPr lang="zh-CN" altLang="en-US" sz="2400" dirty="0">
                <a:latin typeface="Times New Roman" panose="02020603050405020304" pitchFamily="18" charset="0"/>
                <a:cs typeface="Times New Roman" panose="02020603050405020304" pitchFamily="18" charset="0"/>
                <a:sym typeface="+mn-ea"/>
              </a:rPr>
              <a:t>冯 </a:t>
            </a:r>
            <a:r>
              <a:rPr lang="en-US" altLang="zh-CN" sz="2400" dirty="0">
                <a:latin typeface="Times New Roman" panose="02020603050405020304" pitchFamily="18" charset="0"/>
                <a:cs typeface="Times New Roman" panose="02020603050405020304" pitchFamily="18" charset="0"/>
                <a:sym typeface="+mn-ea"/>
              </a:rPr>
              <a:t>· </a:t>
            </a:r>
            <a:r>
              <a:rPr lang="zh-CN" altLang="en-US" sz="2400" dirty="0">
                <a:latin typeface="Times New Roman" panose="02020603050405020304" pitchFamily="18" charset="0"/>
                <a:cs typeface="Times New Roman" panose="02020603050405020304" pitchFamily="18" charset="0"/>
                <a:sym typeface="+mn-ea"/>
              </a:rPr>
              <a:t>诺依曼结构及其发展</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cs typeface="Times New Roman" panose="02020603050405020304" pitchFamily="18" charset="0"/>
                <a:sym typeface="+mn-ea"/>
              </a:rPr>
              <a:t>5 </a:t>
            </a:r>
            <a:r>
              <a:rPr lang="zh-CN" altLang="en-US" sz="2400" dirty="0">
                <a:latin typeface="Times New Roman" panose="02020603050405020304" pitchFamily="18" charset="0"/>
                <a:cs typeface="Times New Roman" panose="02020603050405020304" pitchFamily="18" charset="0"/>
                <a:sym typeface="+mn-ea"/>
              </a:rPr>
              <a:t>透明性、系列机、兼容性、模拟与仿真等概念</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400" dirty="0">
                <a:latin typeface="Times New Roman" panose="02020603050405020304" pitchFamily="18" charset="0"/>
                <a:cs typeface="Times New Roman" panose="02020603050405020304" pitchFamily="18" charset="0"/>
                <a:sym typeface="+mn-ea"/>
              </a:rPr>
              <a:t>6 </a:t>
            </a:r>
            <a:r>
              <a:rPr lang="zh-CN" altLang="en-US" sz="2400" dirty="0">
                <a:latin typeface="Times New Roman" panose="02020603050405020304" pitchFamily="18" charset="0"/>
                <a:cs typeface="Times New Roman" panose="02020603050405020304" pitchFamily="18" charset="0"/>
                <a:sym typeface="+mn-ea"/>
              </a:rPr>
              <a:t>了解计算机系统的分类方法</a:t>
            </a:r>
            <a:endParaRPr lang="zh-CN" altLang="en-US" sz="2400" dirty="0">
              <a:solidFill>
                <a:schemeClr val="tx2"/>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a:xfrm>
            <a:off x="457200" y="1600200"/>
            <a:ext cx="8449945" cy="4526280"/>
          </a:xfrm>
        </p:spPr>
        <p:txBody>
          <a:bodyPr/>
          <a:p>
            <a:r>
              <a:rPr lang="zh-CN" altLang="en-US" sz="2400">
                <a:latin typeface="Times New Roman" panose="02020603050405020304" pitchFamily="18" charset="0"/>
                <a:cs typeface="Times New Roman" panose="02020603050405020304" pitchFamily="18" charset="0"/>
              </a:rPr>
              <a:t>在一个时钟频率 f 为 40MHz 的处理机上执行一个典型测试程序，该程序有 4 种类型指令，每种类型指令在程序中出现的条数和每种指令的 CPI 如表 所示。</a:t>
            </a:r>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pPr marL="0" indent="0">
              <a:buNone/>
            </a:pPr>
            <a:r>
              <a:rPr lang="zh-CN" altLang="en-US" sz="2400">
                <a:latin typeface="Times New Roman" panose="02020603050405020304" pitchFamily="18" charset="0"/>
                <a:cs typeface="Times New Roman" panose="02020603050405020304" pitchFamily="18" charset="0"/>
              </a:rPr>
              <a:t>计算这个测试程序在该处理机上运行的 CPI 和相应的 MIPS。</a:t>
            </a:r>
            <a:endParaRPr lang="zh-CN" altLang="en-US" sz="2400">
              <a:latin typeface="Times New Roman" panose="02020603050405020304" pitchFamily="18" charset="0"/>
              <a:cs typeface="Times New Roman" panose="02020603050405020304" pitchFamily="18" charset="0"/>
            </a:endParaRPr>
          </a:p>
          <a:p>
            <a:pPr marL="0" indent="0">
              <a:buNone/>
            </a:pPr>
            <a:endParaRPr lang="zh-CN" altLang="en-US" sz="24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1187450" y="2853055"/>
            <a:ext cx="7048500" cy="193103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611505" y="1628775"/>
            <a:ext cx="7927340" cy="242887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a:xfrm>
            <a:off x="457200" y="1600200"/>
            <a:ext cx="8415655" cy="4526280"/>
          </a:xfrm>
        </p:spPr>
        <p:txBody>
          <a:bodyPr/>
          <a:p>
            <a:pPr latinLnBrk="0">
              <a:spcBef>
                <a:spcPts val="600"/>
              </a:spcBef>
            </a:pPr>
            <a:r>
              <a:rPr lang="zh-CN" altLang="en-US" sz="2400">
                <a:latin typeface="Times New Roman" panose="02020603050405020304" pitchFamily="18" charset="0"/>
                <a:cs typeface="Times New Roman" panose="02020603050405020304" pitchFamily="18" charset="0"/>
              </a:rPr>
              <a:t>某个处理机的时钟频率为 15MHz，执行测试程序的速率为 10MIPS，假设每次存储器存取需 1 个时钟周期的时间：</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（1）处理机的 CPI 值是多少？</a:t>
            </a:r>
            <a:endParaRPr lang="zh-CN" altLang="en-US" sz="2000">
              <a:latin typeface="Times New Roman" panose="02020603050405020304" pitchFamily="18" charset="0"/>
              <a:cs typeface="Times New Roman" panose="02020603050405020304" pitchFamily="18" charset="0"/>
            </a:endParaRPr>
          </a:p>
          <a:p>
            <a:pPr lvl="1" latinLnBrk="0">
              <a:spcBef>
                <a:spcPts val="1200"/>
              </a:spcBef>
            </a:pPr>
            <a:r>
              <a:rPr lang="zh-CN" altLang="en-US" sz="2000">
                <a:latin typeface="Times New Roman" panose="02020603050405020304" pitchFamily="18" charset="0"/>
                <a:cs typeface="Times New Roman" panose="02020603050405020304" pitchFamily="18" charset="0"/>
              </a:rPr>
              <a:t>（2）假设将处理机的时钟频率提高到 30MHz，但存储器的工作速率不变，这使得每次存储器存取需 2 个时钟周期。如果测试程序的 30%指令需要 1 次访存，5%指令需要 2 次访存，其他指令不需要访存，试求测试程序在改进后的处理机上执行的 MIPS。</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467360" y="1484630"/>
            <a:ext cx="8219440" cy="4620895"/>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已知 4 个程序在计算机 A、B、C 上的执行时间（s）分别如表所示</a:t>
            </a:r>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endParaRPr lang="zh-CN" altLang="en-US" sz="2400">
              <a:latin typeface="Times New Roman" panose="02020603050405020304" pitchFamily="18" charset="0"/>
              <a:cs typeface="Times New Roman" panose="02020603050405020304" pitchFamily="18" charset="0"/>
            </a:endParaRPr>
          </a:p>
          <a:p>
            <a:pPr marL="457200" lvl="1" indent="0">
              <a:buNone/>
            </a:pPr>
            <a:r>
              <a:rPr lang="zh-CN" altLang="en-US" sz="2000">
                <a:latin typeface="Times New Roman" panose="02020603050405020304" pitchFamily="18" charset="0"/>
                <a:cs typeface="Times New Roman" panose="02020603050405020304" pitchFamily="18" charset="0"/>
              </a:rPr>
              <a:t>假设 4 个程序都分别执行 100×10</a:t>
            </a:r>
            <a:r>
              <a:rPr lang="zh-CN" altLang="en-US" sz="2000" baseline="30000">
                <a:latin typeface="Times New Roman" panose="02020603050405020304" pitchFamily="18" charset="0"/>
                <a:cs typeface="Times New Roman" panose="02020603050405020304" pitchFamily="18" charset="0"/>
              </a:rPr>
              <a:t>6 </a:t>
            </a:r>
            <a:r>
              <a:rPr lang="zh-CN" altLang="en-US" sz="2000">
                <a:latin typeface="Times New Roman" panose="02020603050405020304" pitchFamily="18" charset="0"/>
                <a:cs typeface="Times New Roman" panose="02020603050405020304" pitchFamily="18" charset="0"/>
              </a:rPr>
              <a:t>条指令，计算这 4 个程序分别在计算机 A、B、C 上执行的 MIPS。根据这些速率值，你能否直接评价这 3 台计算机相对性能的优劣？如果不能，你能否找到一种方法对这 3 台计算机的相对性能进行排序？</a:t>
            </a:r>
            <a:endParaRPr lang="zh-CN" altLang="en-US" sz="20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827405" y="2493010"/>
            <a:ext cx="7430770" cy="178054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899795" y="1417955"/>
            <a:ext cx="7016750" cy="1200150"/>
          </a:xfrm>
          <a:prstGeom prst="rect">
            <a:avLst/>
          </a:prstGeom>
        </p:spPr>
      </p:pic>
      <p:pic>
        <p:nvPicPr>
          <p:cNvPr id="5" name="图片 4"/>
          <p:cNvPicPr>
            <a:picLocks noChangeAspect="1"/>
          </p:cNvPicPr>
          <p:nvPr/>
        </p:nvPicPr>
        <p:blipFill>
          <a:blip r:embed="rId2"/>
          <a:stretch>
            <a:fillRect/>
          </a:stretch>
        </p:blipFill>
        <p:spPr>
          <a:xfrm>
            <a:off x="1043305" y="3573145"/>
            <a:ext cx="6796405" cy="1725295"/>
          </a:xfrm>
          <a:prstGeom prst="rect">
            <a:avLst/>
          </a:prstGeom>
        </p:spPr>
      </p:pic>
      <p:sp>
        <p:nvSpPr>
          <p:cNvPr id="7" name="文本框 6"/>
          <p:cNvSpPr txBox="1"/>
          <p:nvPr/>
        </p:nvSpPr>
        <p:spPr>
          <a:xfrm>
            <a:off x="1115695" y="3140710"/>
            <a:ext cx="3752850" cy="368300"/>
          </a:xfrm>
          <a:prstGeom prst="rect">
            <a:avLst/>
          </a:prstGeom>
          <a:noFill/>
        </p:spPr>
        <p:txBody>
          <a:bodyPr wrap="square" rtlCol="0">
            <a:spAutoFit/>
          </a:bodyPr>
          <a:p>
            <a:r>
              <a:rPr lang="zh-CN" altLang="en-US" b="1">
                <a:solidFill>
                  <a:schemeClr val="accent4"/>
                </a:solidFill>
                <a:latin typeface="微软雅黑" panose="020B0503020204020204" charset="-122"/>
                <a:ea typeface="微软雅黑" panose="020B0503020204020204" charset="-122"/>
              </a:rPr>
              <a:t>程序在各计算机上执行的 MIPS 值</a:t>
            </a:r>
            <a:endParaRPr lang="zh-CN" altLang="en-US" b="1">
              <a:solidFill>
                <a:schemeClr val="accent4"/>
              </a:solidFill>
              <a:latin typeface="微软雅黑" panose="020B0503020204020204" charset="-122"/>
              <a:ea typeface="微软雅黑" panose="020B050302020402020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r>
              <a:rPr lang="zh-CN" altLang="en-US"/>
              <a:t>续）</a:t>
            </a:r>
            <a:endParaRPr lang="zh-CN" altLang="en-US"/>
          </a:p>
        </p:txBody>
      </p:sp>
      <p:sp>
        <p:nvSpPr>
          <p:cNvPr id="3" name="内容占位符 2"/>
          <p:cNvSpPr>
            <a:spLocks noGrp="1"/>
          </p:cNvSpPr>
          <p:nvPr>
            <p:ph idx="1"/>
          </p:nvPr>
        </p:nvSpPr>
        <p:spPr>
          <a:xfrm>
            <a:off x="457200" y="1353820"/>
            <a:ext cx="8229600" cy="2498090"/>
          </a:xfrm>
        </p:spPr>
        <p:txBody>
          <a:bodyPr/>
          <a:p>
            <a:r>
              <a:rPr lang="zh-CN" altLang="en-US" sz="1800">
                <a:latin typeface="Times New Roman" panose="02020603050405020304" pitchFamily="18" charset="0"/>
                <a:cs typeface="Times New Roman" panose="02020603050405020304" pitchFamily="18" charset="0"/>
              </a:rPr>
              <a:t>可见，不同的程序在同一台机器上执行时的 MIPS 值不同，甚至差别很大，这还说明了在同一台机器上运行的不同程序使用了该机器指令集的不同指令，以及使用的指令在不同程序中有不同的使用频度，因此，在同一台机器上运行的不同程序有不同的 CPI值，从而表现出不同的 MIPS 值。</a:t>
            </a:r>
            <a:endParaRPr lang="zh-CN" altLang="en-US" sz="1800">
              <a:latin typeface="Times New Roman" panose="02020603050405020304" pitchFamily="18" charset="0"/>
              <a:cs typeface="Times New Roman" panose="02020603050405020304" pitchFamily="18" charset="0"/>
            </a:endParaRPr>
          </a:p>
          <a:p>
            <a:r>
              <a:rPr lang="zh-CN" altLang="en-US" sz="1800">
                <a:latin typeface="Times New Roman" panose="02020603050405020304" pitchFamily="18" charset="0"/>
                <a:cs typeface="Times New Roman" panose="02020603050405020304" pitchFamily="18" charset="0"/>
              </a:rPr>
              <a:t>仅用一个程序在不同计算机上运行的 MIPS值来评价计算机之间的性能优劣是不可靠的，例如，若选用程序 1 的测试结果来评价，那么，计算机 A 的性能最好，计算机 C 的性能最差；若选用程序 2 的测试结果来评价，那么，计算机 A 的性能最差，计算机 C 的性能最好。</a:t>
            </a:r>
            <a:endParaRPr lang="zh-CN" altLang="en-US" sz="18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971550" y="3933190"/>
            <a:ext cx="7361555" cy="208661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讨论</a:t>
            </a:r>
            <a:r>
              <a:rPr lang="en-US" altLang="zh-CN"/>
              <a:t>1</a:t>
            </a:r>
            <a:endParaRPr lang="en-US" altLang="zh-CN"/>
          </a:p>
        </p:txBody>
      </p:sp>
      <p:sp>
        <p:nvSpPr>
          <p:cNvPr id="3" name="内容占位符 2"/>
          <p:cNvSpPr>
            <a:spLocks noGrp="1"/>
          </p:cNvSpPr>
          <p:nvPr>
            <p:ph idx="1"/>
          </p:nvPr>
        </p:nvSpPr>
        <p:spPr/>
        <p:txBody>
          <a:bodyPr/>
          <a:lstStyle/>
          <a:p>
            <a:pPr latinLnBrk="0">
              <a:spcBef>
                <a:spcPts val="1200"/>
              </a:spcBef>
            </a:pPr>
            <a:r>
              <a:rPr lang="zh-CN" altLang="en-US" sz="2800" b="1">
                <a:solidFill>
                  <a:schemeClr val="hlink"/>
                </a:solidFill>
                <a:latin typeface="Times New Roman" panose="02020603050405020304" pitchFamily="18" charset="0"/>
                <a:cs typeface="Times New Roman" panose="02020603050405020304" pitchFamily="18" charset="0"/>
              </a:rPr>
              <a:t>计算机体系结构的发展</a:t>
            </a:r>
            <a:r>
              <a:rPr lang="zh-CN" altLang="en-US" sz="2800" b="1">
                <a:solidFill>
                  <a:schemeClr val="hlink"/>
                </a:solidFill>
                <a:latin typeface="Times New Roman" panose="02020603050405020304" pitchFamily="18" charset="0"/>
                <a:cs typeface="Times New Roman" panose="02020603050405020304" pitchFamily="18" charset="0"/>
              </a:rPr>
              <a:t>趋势</a:t>
            </a:r>
            <a:endParaRPr lang="zh-CN" altLang="en-US" sz="2800" b="1">
              <a:solidFill>
                <a:schemeClr val="hlink"/>
              </a:solidFill>
              <a:latin typeface="Times New Roman" panose="02020603050405020304" pitchFamily="18" charset="0"/>
              <a:cs typeface="Times New Roman" panose="02020603050405020304" pitchFamily="18" charset="0"/>
            </a:endParaRPr>
          </a:p>
          <a:p>
            <a:pPr latinLnBrk="0">
              <a:spcBef>
                <a:spcPts val="1200"/>
              </a:spcBef>
            </a:pPr>
            <a:r>
              <a:rPr lang="en-US" altLang="zh-CN" sz="2800" b="1">
                <a:solidFill>
                  <a:schemeClr val="hlink"/>
                </a:solidFill>
                <a:latin typeface="Times New Roman" panose="02020603050405020304" pitchFamily="18" charset="0"/>
                <a:cs typeface="Times New Roman" panose="02020603050405020304" pitchFamily="18" charset="0"/>
              </a:rPr>
              <a:t>AI</a:t>
            </a:r>
            <a:r>
              <a:rPr lang="zh-CN" altLang="en-US" sz="2800" b="1">
                <a:solidFill>
                  <a:schemeClr val="hlink"/>
                </a:solidFill>
                <a:latin typeface="Times New Roman" panose="02020603050405020304" pitchFamily="18" charset="0"/>
                <a:cs typeface="Times New Roman" panose="02020603050405020304" pitchFamily="18" charset="0"/>
              </a:rPr>
              <a:t>应用对计算机系统设计的</a:t>
            </a:r>
            <a:r>
              <a:rPr lang="zh-CN" altLang="en-US" sz="2800" b="1">
                <a:solidFill>
                  <a:schemeClr val="hlink"/>
                </a:solidFill>
                <a:latin typeface="Times New Roman" panose="02020603050405020304" pitchFamily="18" charset="0"/>
                <a:cs typeface="Times New Roman" panose="02020603050405020304" pitchFamily="18" charset="0"/>
              </a:rPr>
              <a:t>需求</a:t>
            </a:r>
            <a:endParaRPr lang="zh-CN" altLang="en-US" sz="2800" b="1">
              <a:solidFill>
                <a:schemeClr val="hlink"/>
              </a:solidFill>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UNIT_TABLE_BEAUTIFY" val="smartTable{c3466592-a953-4484-9d86-a810eef5ce74}"/>
  <p:tag name="KSO_WM_BEAUTIFY_FLAG" val=""/>
  <p:tag name="TABLE_ENDDRAG_ORIGIN_RECT" val="545*342"/>
  <p:tag name="TABLE_ENDDRAG_RECT" val="85*149*545*342"/>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UNIT_TABLE_BEAUTIFY" val="smartTable{2a29e341-04c3-4539-aa81-1c4c9f8c0468}"/>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COMMONDATA" val="eyJoZGlkIjoiNzgwZWUzYWQ0MzYxM2VlNjVhZWQ5MmMwYjc0MjZhZjkifQ=="/>
  <p:tag name="KSO_WPP_MARK_KEY" val="f64f1d04-d5ef-4124-ac0d-f11c60ba39f5"/>
  <p:tag name="commondata" val="eyJoZGlkIjoiMjBmODBiMzNjY2E1MzFlMjMyODdmZmNjMDJiNzA1NWUifQ=="/>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13288</Words>
  <Application>WPS 演示</Application>
  <PresentationFormat>全屏显示(4:3)</PresentationFormat>
  <Paragraphs>1131</Paragraphs>
  <Slides>97</Slides>
  <Notes>4</Notes>
  <HiddenSlides>0</HiddenSlides>
  <MMClips>0</MMClips>
  <ScaleCrop>false</ScaleCrop>
  <HeadingPairs>
    <vt:vector size="8" baseType="variant">
      <vt:variant>
        <vt:lpstr>已用的字体</vt:lpstr>
      </vt:variant>
      <vt:variant>
        <vt:i4>15</vt:i4>
      </vt:variant>
      <vt:variant>
        <vt:lpstr>主题</vt:lpstr>
      </vt:variant>
      <vt:variant>
        <vt:i4>10</vt:i4>
      </vt:variant>
      <vt:variant>
        <vt:lpstr>嵌入 OLE 服务器</vt:lpstr>
      </vt:variant>
      <vt:variant>
        <vt:i4>20</vt:i4>
      </vt:variant>
      <vt:variant>
        <vt:lpstr>幻灯片标题</vt:lpstr>
      </vt:variant>
      <vt:variant>
        <vt:i4>97</vt:i4>
      </vt:variant>
    </vt:vector>
  </HeadingPairs>
  <TitlesOfParts>
    <vt:vector size="142" baseType="lpstr">
      <vt:lpstr>Arial</vt:lpstr>
      <vt:lpstr>宋体</vt:lpstr>
      <vt:lpstr>Wingdings</vt:lpstr>
      <vt:lpstr>华文行楷</vt:lpstr>
      <vt:lpstr>黑体</vt:lpstr>
      <vt:lpstr>华文中宋</vt:lpstr>
      <vt:lpstr>Times New Roman</vt:lpstr>
      <vt:lpstr>微软雅黑</vt:lpstr>
      <vt:lpstr>Wingdings</vt:lpstr>
      <vt:lpstr>-apple-system</vt:lpstr>
      <vt:lpstr>Segoe Print</vt:lpstr>
      <vt:lpstr>Arial Unicode MS</vt:lpstr>
      <vt:lpstr>Tahoma</vt:lpstr>
      <vt:lpstr>Symbol</vt:lpstr>
      <vt:lpstr>方正兰亭黑简体</vt:lpstr>
      <vt:lpstr>主题1</vt:lpstr>
      <vt:lpstr>1_24美金的ppt模板</vt:lpstr>
      <vt:lpstr>24美金的ppt模板_3</vt:lpstr>
      <vt:lpstr>24美金的ppt模板_4</vt:lpstr>
      <vt:lpstr>24美金的ppt模板_5</vt:lpstr>
      <vt:lpstr>1_主题1</vt:lpstr>
      <vt:lpstr>2_24美金的ppt模板</vt:lpstr>
      <vt:lpstr>1_24美金的ppt模板_3</vt:lpstr>
      <vt:lpstr>1_24美金的ppt模板_4</vt:lpstr>
      <vt:lpstr>1_24美金的ppt模板_5</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Word.Picture.8</vt:lpstr>
      <vt:lpstr>Equation.DSMT4</vt:lpstr>
      <vt:lpstr>Equation.3</vt:lpstr>
      <vt:lpstr>Equation.3</vt:lpstr>
      <vt:lpstr>Equation.3</vt:lpstr>
      <vt:lpstr>Equation.DSMT4</vt:lpstr>
      <vt:lpstr>Equation.3</vt:lpstr>
      <vt:lpstr>Equation.DSMT4</vt:lpstr>
      <vt:lpstr>PowerPoint 演示文稿</vt:lpstr>
      <vt:lpstr>计算机系统结构</vt:lpstr>
      <vt:lpstr>第1章 基本概念</vt:lpstr>
      <vt:lpstr>本章内容</vt:lpstr>
      <vt:lpstr>1.1 计算机系统结构的定义</vt:lpstr>
      <vt:lpstr>PowerPoint 演示文稿</vt:lpstr>
      <vt:lpstr>1.1.2 计算机系统结构的定义</vt:lpstr>
      <vt:lpstr>概念结构</vt:lpstr>
      <vt:lpstr>功能特性: 指令系统及其执行模式</vt:lpstr>
      <vt:lpstr>透明性 </vt:lpstr>
      <vt:lpstr>1.1.3 计算机系统的组成</vt:lpstr>
      <vt:lpstr>1.1.3 计算机系统的组成</vt:lpstr>
      <vt:lpstr>1.1.4 计算机系统的实现</vt:lpstr>
      <vt:lpstr>系统结构、组成和实现三者的关系</vt:lpstr>
      <vt:lpstr>系统结构、组成和实现三者的关系</vt:lpstr>
      <vt:lpstr>系统结构、组成和实现三者的关系</vt:lpstr>
      <vt:lpstr>系统结构、组成和实现三者的关系</vt:lpstr>
      <vt:lpstr>1.1.5 计算机系统结构的分类</vt:lpstr>
      <vt:lpstr>1.1.5 计算机系统结构的分类</vt:lpstr>
      <vt:lpstr>1.1.5 计算机系统结构的分类</vt:lpstr>
      <vt:lpstr>SISD</vt:lpstr>
      <vt:lpstr>SIMD</vt:lpstr>
      <vt:lpstr>MISD</vt:lpstr>
      <vt:lpstr>MIMD</vt:lpstr>
      <vt:lpstr>？</vt:lpstr>
      <vt:lpstr>Flynn分类法的问题</vt:lpstr>
      <vt:lpstr>2 冯氏分类法</vt:lpstr>
      <vt:lpstr>2 冯氏分类法</vt:lpstr>
      <vt:lpstr>按最大并行度的冯氏分类法</vt:lpstr>
      <vt:lpstr>3 Händler分类法</vt:lpstr>
      <vt:lpstr>3 Händler分类法</vt:lpstr>
      <vt:lpstr>1.2 计算机系统的设计技术</vt:lpstr>
      <vt:lpstr>计算机系统的设计技术</vt:lpstr>
      <vt:lpstr>2 Amdahl定律</vt:lpstr>
      <vt:lpstr>加速比</vt:lpstr>
      <vt:lpstr>例1.1</vt:lpstr>
      <vt:lpstr>例1.1</vt:lpstr>
      <vt:lpstr>例1.2</vt:lpstr>
      <vt:lpstr>例1.2</vt:lpstr>
      <vt:lpstr>3 CPU性能公式 </vt:lpstr>
      <vt:lpstr>考虑不同指令的CPI不同 </vt:lpstr>
      <vt:lpstr>例1.3</vt:lpstr>
      <vt:lpstr>例1.3</vt:lpstr>
      <vt:lpstr>例1.4</vt:lpstr>
      <vt:lpstr>例1.4</vt:lpstr>
      <vt:lpstr>例1.5</vt:lpstr>
      <vt:lpstr>例1.5</vt:lpstr>
      <vt:lpstr>练习</vt:lpstr>
      <vt:lpstr>解答（AI claude 3.5 sonnet)</vt:lpstr>
      <vt:lpstr>解答（AI claude 3.5 sonnet)</vt:lpstr>
      <vt:lpstr>练习</vt:lpstr>
      <vt:lpstr>PowerPoint 演示文稿</vt:lpstr>
      <vt:lpstr>4 访问的局部性原理(略)</vt:lpstr>
      <vt:lpstr>1.2.2 计算机系统设计者的主要任务</vt:lpstr>
      <vt:lpstr>1.2.2 计算机系统设计者的主要任务</vt:lpstr>
      <vt:lpstr>1.2.3 计算机系统设计的主要方法(略)</vt:lpstr>
      <vt:lpstr>1 由上往下设计(略)</vt:lpstr>
      <vt:lpstr>2 由下往上设计(略)</vt:lpstr>
      <vt:lpstr>3 由中间开始设计(略)</vt:lpstr>
      <vt:lpstr>软硬件取舍的基本原则</vt:lpstr>
      <vt:lpstr>1.3 系统结构的评价标准</vt:lpstr>
      <vt:lpstr>1.3.1性能</vt:lpstr>
      <vt:lpstr>例1.6：计算Pentium II 450处理机的运算速度</vt:lpstr>
      <vt:lpstr>等效指令速度(略)</vt:lpstr>
      <vt:lpstr>例1.8(略)</vt:lpstr>
      <vt:lpstr>(2) MFLOPS</vt:lpstr>
      <vt:lpstr>(3)用基准测试程序来测试机器性能</vt:lpstr>
      <vt:lpstr>SPEC基准程序 System Performance Evaluation Cooperative (略)</vt:lpstr>
      <vt:lpstr>性能评测数据（例）</vt:lpstr>
      <vt:lpstr>2 性能的比较(略)</vt:lpstr>
      <vt:lpstr>(1)总执行时间(略)</vt:lpstr>
      <vt:lpstr>(2)加权执行时间(略)</vt:lpstr>
      <vt:lpstr>例子：加权执行时间(略)</vt:lpstr>
      <vt:lpstr>平均标准化时间(略)</vt:lpstr>
      <vt:lpstr>PowerPoint 演示文稿</vt:lpstr>
      <vt:lpstr>1.3.2 成本(略)</vt:lpstr>
      <vt:lpstr>PowerPoint 演示文稿</vt:lpstr>
      <vt:lpstr>特点: 存储程序、运算器为中心、集中控制</vt:lpstr>
      <vt:lpstr>现代处理机对冯·诺依曼结构的改进</vt:lpstr>
      <vt:lpstr>1.4.2 软件对系统结构的影响</vt:lpstr>
      <vt:lpstr>解决软件可移植性的方法</vt:lpstr>
      <vt:lpstr>解决软件可移植性的方法</vt:lpstr>
      <vt:lpstr>三种解决软件可移植性的方法比较</vt:lpstr>
      <vt:lpstr>1.4.3 应用对系统结构的影响</vt:lpstr>
      <vt:lpstr>1.4.3 应用对系统结构的影响</vt:lpstr>
      <vt:lpstr>1.4.4 器件发展对系统结构的影响</vt:lpstr>
      <vt:lpstr>1.4.4 器件发展对系统结构的影响</vt:lpstr>
      <vt:lpstr>1.4.5 算法和系统结构</vt:lpstr>
      <vt:lpstr>本章重点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讨论1</vt:lpstr>
    </vt:vector>
  </TitlesOfParts>
  <Company>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蒋本珊</dc:creator>
  <cp:lastModifiedBy>red</cp:lastModifiedBy>
  <cp:revision>257</cp:revision>
  <dcterms:created xsi:type="dcterms:W3CDTF">2003-05-27T06:14:00Z</dcterms:created>
  <dcterms:modified xsi:type="dcterms:W3CDTF">2024-10-21T01:23:57Z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2A779295210F4CB6BF7ABF1254CB36AB_13</vt:lpwstr>
  </property>
  <property fmtid="{D5CDD505-2E9C-101B-9397-08002B2CF9AE}" pid="3" name="KSOProductBuildVer">
    <vt:lpwstr>2052-12.1.0.18276</vt:lpwstr>
  </property>
</Properties>
</file>