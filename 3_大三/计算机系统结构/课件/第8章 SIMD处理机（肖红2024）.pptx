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7" r:id="rId5"/>
    <p:sldMasterId id="2147483700" r:id="rId6"/>
    <p:sldMasterId id="2147483713" r:id="rId7"/>
    <p:sldMasterId id="2147483728" r:id="rId8"/>
    <p:sldMasterId id="2147483740" r:id="rId9"/>
    <p:sldMasterId id="2147483753" r:id="rId10"/>
    <p:sldMasterId id="2147483766" r:id="rId11"/>
  </p:sldMasterIdLst>
  <p:notesMasterIdLst>
    <p:notesMasterId r:id="rId13"/>
  </p:notesMasterIdLst>
  <p:handoutMasterIdLst>
    <p:handoutMasterId r:id="rId65"/>
  </p:handoutMasterIdLst>
  <p:sldIdLst>
    <p:sldId id="257" r:id="rId12"/>
    <p:sldId id="258" r:id="rId14"/>
    <p:sldId id="1033" r:id="rId15"/>
    <p:sldId id="1088" r:id="rId16"/>
    <p:sldId id="1089" r:id="rId17"/>
    <p:sldId id="1093" r:id="rId18"/>
    <p:sldId id="1090" r:id="rId19"/>
    <p:sldId id="1032" r:id="rId20"/>
    <p:sldId id="349" r:id="rId21"/>
    <p:sldId id="1094" r:id="rId22"/>
    <p:sldId id="1095" r:id="rId23"/>
    <p:sldId id="1097" r:id="rId24"/>
    <p:sldId id="1098" r:id="rId25"/>
    <p:sldId id="1099" r:id="rId26"/>
    <p:sldId id="1101" r:id="rId27"/>
    <p:sldId id="1102" r:id="rId28"/>
    <p:sldId id="1104" r:id="rId29"/>
    <p:sldId id="1105" r:id="rId30"/>
    <p:sldId id="1107" r:id="rId31"/>
    <p:sldId id="1108" r:id="rId32"/>
    <p:sldId id="1109" r:id="rId33"/>
    <p:sldId id="1110" r:id="rId34"/>
    <p:sldId id="1111" r:id="rId35"/>
    <p:sldId id="1112" r:id="rId36"/>
    <p:sldId id="1113" r:id="rId37"/>
    <p:sldId id="1114" r:id="rId38"/>
    <p:sldId id="1115" r:id="rId39"/>
    <p:sldId id="1116" r:id="rId40"/>
    <p:sldId id="1117" r:id="rId41"/>
    <p:sldId id="1118" r:id="rId42"/>
    <p:sldId id="1119" r:id="rId43"/>
    <p:sldId id="1120" r:id="rId44"/>
    <p:sldId id="970" r:id="rId45"/>
    <p:sldId id="1035" r:id="rId46"/>
    <p:sldId id="971" r:id="rId47"/>
    <p:sldId id="972" r:id="rId48"/>
    <p:sldId id="973" r:id="rId49"/>
    <p:sldId id="974" r:id="rId50"/>
    <p:sldId id="975" r:id="rId51"/>
    <p:sldId id="977" r:id="rId52"/>
    <p:sldId id="1036" r:id="rId53"/>
    <p:sldId id="1037" r:id="rId54"/>
    <p:sldId id="1049" r:id="rId55"/>
    <p:sldId id="1050" r:id="rId56"/>
    <p:sldId id="1038" r:id="rId57"/>
    <p:sldId id="1039" r:id="rId58"/>
    <p:sldId id="1040" r:id="rId59"/>
    <p:sldId id="1042" r:id="rId60"/>
    <p:sldId id="1043" r:id="rId61"/>
    <p:sldId id="1046" r:id="rId62"/>
    <p:sldId id="1047" r:id="rId63"/>
    <p:sldId id="965" r:id="rId64"/>
  </p:sldIdLst>
  <p:sldSz cx="9144000" cy="6858000" type="screen4x3"/>
  <p:notesSz cx="6858000" cy="9144000"/>
  <p:custDataLst>
    <p:tags r:id="rId70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accent2"/>
        </a:solidFill>
        <a:latin typeface="Arial" panose="020B0604020202020204" pitchFamily="34" charset="0"/>
        <a:ea typeface="华文行楷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8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ger" initials="t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0000"/>
    <a:srgbClr val="800000"/>
    <a:srgbClr val="000066"/>
    <a:srgbClr val="663300"/>
    <a:srgbClr val="9900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32"/>
    <p:restoredTop sz="92988"/>
  </p:normalViewPr>
  <p:slideViewPr>
    <p:cSldViewPr showGuides="1">
      <p:cViewPr varScale="1">
        <p:scale>
          <a:sx n="63" d="100"/>
          <a:sy n="63" d="100"/>
        </p:scale>
        <p:origin x="1140" y="72"/>
      </p:cViewPr>
      <p:guideLst>
        <p:guide orient="horz" pos="2358"/>
        <p:guide pos="28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3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0" Type="http://schemas.openxmlformats.org/officeDocument/2006/relationships/tags" Target="tags/tag60.xml"/><Relationship Id="rId7" Type="http://schemas.openxmlformats.org/officeDocument/2006/relationships/slideMaster" Target="slideMasters/slideMaster6.xml"/><Relationship Id="rId69" Type="http://schemas.openxmlformats.org/officeDocument/2006/relationships/commentAuthors" Target="commentAuthors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52.xml"/><Relationship Id="rId63" Type="http://schemas.openxmlformats.org/officeDocument/2006/relationships/slide" Target="slides/slide51.xml"/><Relationship Id="rId62" Type="http://schemas.openxmlformats.org/officeDocument/2006/relationships/slide" Target="slides/slide50.xml"/><Relationship Id="rId61" Type="http://schemas.openxmlformats.org/officeDocument/2006/relationships/slide" Target="slides/slide49.xml"/><Relationship Id="rId60" Type="http://schemas.openxmlformats.org/officeDocument/2006/relationships/slide" Target="slides/slide48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7.xml"/><Relationship Id="rId58" Type="http://schemas.openxmlformats.org/officeDocument/2006/relationships/slide" Target="slides/slide46.xml"/><Relationship Id="rId57" Type="http://schemas.openxmlformats.org/officeDocument/2006/relationships/slide" Target="slides/slide45.xml"/><Relationship Id="rId56" Type="http://schemas.openxmlformats.org/officeDocument/2006/relationships/slide" Target="slides/slide44.xml"/><Relationship Id="rId55" Type="http://schemas.openxmlformats.org/officeDocument/2006/relationships/slide" Target="slides/slide43.xml"/><Relationship Id="rId54" Type="http://schemas.openxmlformats.org/officeDocument/2006/relationships/slide" Target="slides/slide42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7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0" Type="http://schemas.openxmlformats.org/officeDocument/2006/relationships/slide" Target="slides/slide2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B7136E-35E3-4CB5-819C-A3750A4D98FC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2BB19F-FA50-41FD-9928-F504B09AF80C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24580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欢迎辞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81987" cy="70167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42988" y="6381750"/>
            <a:ext cx="7272338" cy="358775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2012, Elsevier Inc. All rights reserved.</a:t>
            </a: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81987" cy="701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42988" y="6381750"/>
            <a:ext cx="7272338" cy="358775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Copyright © 2012, Elsevier Inc. All rights reserved.</a:t>
            </a: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381000"/>
            <a:ext cx="854075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1625" y="1752600"/>
            <a:ext cx="8540750" cy="42703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01625" y="6172200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17220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172200"/>
            <a:ext cx="2289175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DFF3DE-CA92-4B08-B1C4-941A0785216B}" type="slidenum"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pitchFamily="2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pitchFamily="2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pitchFamily="2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pitchFamily="2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4" Type="http://schemas.openxmlformats.org/officeDocument/2006/relationships/theme" Target="../theme/theme5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6" Type="http://schemas.openxmlformats.org/officeDocument/2006/relationships/theme" Target="../theme/theme6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3.xml"/><Relationship Id="rId8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7.xml"/><Relationship Id="rId14" Type="http://schemas.openxmlformats.org/officeDocument/2006/relationships/theme" Target="../theme/theme8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5.xml"/><Relationship Id="rId1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9.xml"/><Relationship Id="rId14" Type="http://schemas.openxmlformats.org/officeDocument/2006/relationships/theme" Target="../theme/theme9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1.xml"/><Relationship Id="rId14" Type="http://schemas.openxmlformats.org/officeDocument/2006/relationships/theme" Target="../theme/theme10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3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1" name="Rectang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962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54A071-370F-4713-BF73-16FD098A064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098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2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146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962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0CF9C2-A24B-4FB9-9921-70EC6F8863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194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218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2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image" Target="../media/image12.png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tags" Target="../tags/tag32.xml"/><Relationship Id="rId3" Type="http://schemas.openxmlformats.org/officeDocument/2006/relationships/image" Target="../media/image13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image" Target="../media/image15.png"/><Relationship Id="rId1" Type="http://schemas.openxmlformats.org/officeDocument/2006/relationships/tags" Target="../tags/tag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48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tags" Target="../tags/tag50.xml"/><Relationship Id="rId2" Type="http://schemas.openxmlformats.org/officeDocument/2006/relationships/image" Target="../media/image19.png"/><Relationship Id="rId1" Type="http://schemas.openxmlformats.org/officeDocument/2006/relationships/tags" Target="../tags/tag4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43205" y="1917065"/>
            <a:ext cx="863282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lang="zh-CN" altLang="en-US" sz="3200" b="1" kern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</a:br>
            <a:r>
              <a:rPr lang="zh-CN" altLang="en-US" sz="66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计算机系统结构</a:t>
            </a:r>
            <a:endParaRPr lang="zh-CN" altLang="en-US" sz="6600" b="1" kern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550" y="2060575"/>
            <a:ext cx="7772400" cy="25209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第</a:t>
            </a:r>
            <a:r>
              <a:rPr kumimoji="0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</a:t>
            </a:r>
            <a: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章 数据级并行</a:t>
            </a:r>
            <a:br>
              <a:rPr kumimoji="0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——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向量、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SIMD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GPU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并行机的分类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21435"/>
            <a:ext cx="8396605" cy="4844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并行处理：（同时性和并发性）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并行处理是指同时对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多个任务或多条指令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、或同时对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多个数据项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进行处理。对应的计算机系统称为高性能计算机系统。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数据并行 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parallelism)：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17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利用</a:t>
            </a:r>
            <a:r>
              <a:rPr lang="zh-CN" altLang="en-US" sz="17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多个处理器对一个数据集上的不同元素同时进行相同的操作</a:t>
            </a:r>
            <a:r>
              <a:rPr lang="zh-CN" altLang="en-US" sz="17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7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控制（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任务）并行 (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control parallelism)：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17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为了完成一个任务要</a:t>
            </a:r>
            <a:r>
              <a:rPr lang="zh-CN" altLang="en-US" sz="17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对不同的数据元素同时进行不同的操作</a:t>
            </a:r>
            <a:r>
              <a:rPr lang="zh-CN" altLang="en-US" sz="17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71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数据并行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9750" y="1557020"/>
            <a:ext cx="7898130" cy="4070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任务并行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5605" y="1700530"/>
            <a:ext cx="8073390" cy="4071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并行的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级别（粒度）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21435"/>
            <a:ext cx="8396605" cy="484441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粒度</a:t>
            </a:r>
            <a:r>
              <a:rPr lang="zh-CN" altLang="en-US" sz="2000" dirty="0">
                <a:latin typeface="Times New Roman" panose="02020603050405020304" pitchFamily="18" charset="0"/>
                <a:ea typeface="Arial Unicode MS" panose="020B0604020202020204" charset="-122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Arial Unicode MS" panose="020B0604020202020204" charset="-122"/>
                <a:sym typeface="+mn-ea"/>
              </a:rPr>
              <a:t>granularity</a:t>
            </a:r>
            <a:r>
              <a:rPr lang="zh-CN" altLang="en-US" sz="2000" dirty="0">
                <a:latin typeface="Times New Roman" panose="02020603050405020304" pitchFamily="18" charset="0"/>
                <a:ea typeface="Arial Unicode MS" panose="020B0604020202020204" charset="-122"/>
                <a:sym typeface="+mn-ea"/>
              </a:rPr>
              <a:t>）：</a:t>
            </a:r>
            <a:endParaRPr lang="en-US" altLang="zh-CN" sz="2000" dirty="0">
              <a:latin typeface="Times New Roman" panose="02020603050405020304" pitchFamily="18" charset="0"/>
              <a:ea typeface="Arial Unicode MS" panose="020B0604020202020204" charset="-122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衡量一个软件进程的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的度量。最简单的是指此程序段中的指令数。分细、中、粗三种。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按粒度的不同，并行性级别可以分为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指令级、循环级、过程级、子程序级和作业级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等不同的层次。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指令级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细粒度，一般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少于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条指令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循环级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典型循环含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少于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500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条指令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。易于并行（向量化）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过程级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中粒度并行，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指令少于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2000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条。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并行较困难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子程序级：粗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中粒度并行，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几千条指令。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常在</a:t>
            </a:r>
            <a:r>
              <a:rPr lang="en-US" altLang="zh-CN" sz="2000" dirty="0">
                <a:latin typeface="Times New Roman" panose="02020603050405020304" pitchFamily="18" charset="0"/>
                <a:ea typeface="Arial Unicode MS" panose="020B0604020202020204" charset="-122"/>
                <a:sym typeface="+mn-ea"/>
              </a:rPr>
              <a:t>message passing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多计算机上以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MPMD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方式执行。并行性主要由算法设计人员与程序员开发。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作业级：粗粒度并行，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数万条指令。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常由加载程序和操作系统处理这类并行性，靠算法有效性来保证。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Flynn’s 分类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21435"/>
            <a:ext cx="8396605" cy="484441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单指令流、单数据流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(SISD)---(ILP)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单指令流、多数据流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(SIMD)---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DLP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SIMD阵列</a:t>
            </a:r>
            <a:endParaRPr lang="zh-CN" alt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向量体系结构</a:t>
            </a:r>
            <a:endParaRPr lang="zh-CN" alt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多媒体扩展指令</a:t>
            </a:r>
            <a:endParaRPr lang="en-US" altLang="zh-CN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Graphics processor units</a:t>
            </a:r>
            <a:endParaRPr lang="en-US" altLang="zh-CN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多指令流多数据流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(MIMD)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紧耦合</a:t>
            </a:r>
            <a:r>
              <a:rPr lang="en-US" altLang="zh-C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 MIMD</a:t>
            </a: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----</a:t>
            </a: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线程级并行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TLP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松耦合</a:t>
            </a:r>
            <a:r>
              <a:rPr lang="en-US" altLang="zh-C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 MIMD</a:t>
            </a: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----</a:t>
            </a: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请求级并行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RLP</a:t>
            </a:r>
            <a:r>
              <a:rPr lang="zh-CN" alt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并行机的分类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21435"/>
            <a:ext cx="8396605" cy="4844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并行机按系统结构划分可分为以下五类：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阵列机：阵列架构通常被短向量采用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向量流水巨型机：流水线架构通常被长向量采用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共享主存多处理机（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(SMP)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分布存储多计算机（MIMD）（MPP)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机群系统（SPMD、MPMD）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120000"/>
              </a:lnSpc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按存储访问方式可以分为：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共享存储、分布共享存储、分布存储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361950" y="266700"/>
            <a:ext cx="7772400" cy="11430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sz="36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本章内容</a:t>
            </a:r>
            <a:endParaRPr lang="zh-CN" sz="36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539750" y="1486535"/>
            <a:ext cx="7848600" cy="4873625"/>
          </a:xfrm>
          <a:noFill/>
          <a:ln>
            <a:noFill/>
          </a:ln>
        </p:spPr>
        <p:txBody>
          <a:bodyPr/>
          <a:p>
            <a:pPr eaLnBrk="1" hangingPunct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8.1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阵列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8.2 </a:t>
            </a: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向量体系架构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8.3 SIMD</a:t>
            </a: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扩展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GPU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SIMD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阵列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26820"/>
            <a:ext cx="8396605" cy="541782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并行处理机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定义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多个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按照一定方式互连，在同一个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CU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控制下，对各自的数据完成同一条指令规定的操作</a:t>
            </a:r>
            <a:endParaRPr lang="zh-CN" altLang="en-US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CU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看，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指令串行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执行；</a:t>
            </a:r>
            <a:endParaRPr lang="zh-CN" altLang="en-US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看，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数据并行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处理</a:t>
            </a:r>
            <a:endParaRPr lang="zh-CN" altLang="en-US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并行处理机也称为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阵列处理机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以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单一控制部件控制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下的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多个处理单元构成的阵列</a:t>
            </a:r>
            <a:endParaRPr lang="zh-CN" altLang="en-US" sz="1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按照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Flynn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分类法，属于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计算机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主要应用领域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----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高速向量或矩阵运算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SIMD最适合处理for循环中的数组，对于case语句的处理则效率很低。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并行处理机模型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14292"/>
          <a:stretch>
            <a:fillRect/>
          </a:stretch>
        </p:blipFill>
        <p:spPr>
          <a:xfrm>
            <a:off x="755650" y="1628775"/>
            <a:ext cx="7461885" cy="3888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并行处理机的基本结构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59840"/>
            <a:ext cx="8396605" cy="542734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并行处理机有两种典型结构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分布式存储器结构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共享存储器结构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一台并行处理机由五个部分组成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多个处理单元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多个存储器模块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一个控制器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一个互连网络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ICN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一台输入输出处理机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IOP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8.1.1 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分布式存储器的SIMD计算机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6960" y="1557020"/>
            <a:ext cx="6919595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分布式存储器的SIMD计算机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59840"/>
            <a:ext cx="8396605" cy="39497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重复设置的同样的处理单元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通过数据寻径网络以一定方式互相连接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数据寻径网络执行PE间的通信：如移数、置换和其它寻径操作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控制部件通过执行程序来控制数据寻径网络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有各自的本地存储器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LM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数据分布存放在所有PE的本地存储器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在统一的阵列控制部件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作用下，实现并行操作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程序和数据通过主机装入控制存储器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通过控制部件的是单指令流，指令串行执行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指令送到控制部件进行译码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标量或控制操作，直接由与控制部件相连的标量处理机执行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向量操作，广播到所有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并行执行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所有PE在同一个周期执行同一条指令</a:t>
            </a:r>
            <a:endParaRPr lang="zh-CN" altLang="en-US" sz="1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用屏蔽逻辑来决定任何一个PE在给定的指令周期执行或不执行指令</a:t>
            </a:r>
            <a:endParaRPr lang="zh-CN" altLang="en-US" sz="1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8.1.2 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共享存储器的SIMD计算机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1640" y="1412875"/>
            <a:ext cx="5360035" cy="4496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共享存储器的SIMD计算机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03020"/>
            <a:ext cx="8396605" cy="114109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共享的多体并行存储器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通过互连网络与各处理单元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相连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存储模块的数目等于或略大于处理单元的数目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灵活、高速的互连网络在存储器与处理单元间传送数据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存储模块之间合理分配数据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大多数向量运算能以存储器的最高频率进行，少受存储冲突的影响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共享存储器并行处理机模型在处理单元数目不太大的情况下很理想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Burroughs Scientific Processor (BSP)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采用了这种结构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通过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16×17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对准互连网络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访问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个共享存储器模块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存储器模块数与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数互质可实现无冲突并行访问存储器</a:t>
            </a:r>
            <a:endParaRPr lang="zh-CN" altLang="en-US" sz="2000" i="1" baseline="-25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.3 并行处理机的特点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174750"/>
            <a:ext cx="8396605" cy="537972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lnSpc>
                <a:spcPct val="950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并行处理机的主要特点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速度快，而且潜力大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1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依靠增加PE个数，提高速度的潜力较大</a:t>
            </a:r>
            <a:endParaRPr lang="zh-CN" altLang="en-US" sz="17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模块性好，生产和维护方便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可靠性高，容易实现容错和重构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效率低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与流水线处理机、向量处理机等比较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95000"/>
              </a:lnSpc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通常作为专用计算机，很大程度上依赖于并行算法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95000"/>
              </a:lnSpc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依靠的是资源重复，每个处理单元担负多种处理功能，效率低一些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依赖于互连网络和并行算法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95000"/>
              </a:lnSpc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互连网络决定了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之间的连接模式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和并行处理机能够适应的算法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需要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包含高性能的标量处理机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lnSpc>
                <a:spcPct val="95000"/>
              </a:lnSpc>
              <a:spcBef>
                <a:spcPts val="600"/>
              </a:spcBef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如果一台机器的向量处理速度极高，但标量处理速度只是每秒一百万次，那么对于标量运算占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10%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的应用来说，总的有效速度就不过是每秒一千万次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高速数值计算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67360" y="1383030"/>
            <a:ext cx="8396605" cy="510540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计算机适于高速数值计算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有限差分、矩阵、信号处理、线性规划等计算问题为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背景发展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这些问题的共同特点是能够通过各种途径归结为数组和向量处理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8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计算机效率取决于计算程序向量化的程度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相比，具有较固定的结构，直接与一定的算法相联系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可通过改进系统结构和制定并行算法，适应更广泛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的计算问题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应该把系统结构的研究和算法的研究结合起来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实际有效速度的其他决定因素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88415"/>
            <a:ext cx="8396605" cy="487743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整个系统的实际有效速度的另外两个决定因素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一是标量运算速度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二是编译过程的开销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95000"/>
              </a:lnSpc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计算机处理标量和短向量的能力很重要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流水线向量处理机处理短向量时，流水线建立和排空时间比例加大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计算机中短向量对速度影响较小，但降低了处理效率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lnSpc>
                <a:spcPct val="95000"/>
              </a:lnSpc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编译时间，与系统结构、机器语言有密切的关系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计算机的通用性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需具有向量化功能的高级语言编译程序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95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循环的自动向量化，即将循环中没有依赖的数据数据转换为向量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Illiac IV 并行处理机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415415"/>
            <a:ext cx="8396605" cy="475043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1963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年，美国西屋电器公司提出“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Slotnick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SOLOMON Computer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Simultaneous Operation linked Ordinal Modular Network”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1966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年美国国防远景研究规划局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ARPR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与伊利诺依大学签定合同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原计划：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256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，每个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240ns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处理一个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位的浮点数，每个局部存储器为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位，总的运算速度为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1GFLOPS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美国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Burroughs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公司和伊利诺依大学于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1972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年共同设计和生产，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1975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年实际投入运行。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用了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倍的经费，只达到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1/20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的速度；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实现了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8x8=64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，实际性能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15MFLOPS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Illiac IV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系统的影响非常大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是并行处理机、分布存储器并行处理机的典型代表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Illiac IV系统组成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31595"/>
            <a:ext cx="8396605" cy="483425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Illiac IV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系统由三大部分组成，是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种类型处理机联合组成的多机系统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Illiac IV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处理机阵列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(processing element array)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8x8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，包括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和互连网络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阵列控制器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CU(array control unit)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处理单元阵列的控制部分；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2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一台相对独立的小型标量处理机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一台标准的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Burroughs B6700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输入输出处理机和操作系统管理功能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Illiac IV系统总框图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19250" y="908685"/>
            <a:ext cx="6052185" cy="58242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Illiac IV阵列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95605" y="1268095"/>
            <a:ext cx="8281670" cy="88011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Illiac IV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处理阵列由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8x8=64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组成。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每个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由处理部件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和它的局部存储器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PEM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组成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902835" y="2204720"/>
            <a:ext cx="3420745" cy="35820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1505" y="2348865"/>
            <a:ext cx="366712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lvl="0" indent="-342900" eaLnBrk="1" hangingPunct="1"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每一个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PU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只和它的东、西、南、北四个近邻直接连接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{PU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i+1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mod 64,PU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i-1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mod 64,PU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i+8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mod 64,PU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i-8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mod 64}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南北方向上同一列的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PU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连成一个环，东西方向上构成一个闭合螺线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eaLnBrk="1" hangingPunct="1">
              <a:spcBef>
                <a:spcPts val="1200"/>
              </a:spcBef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闭合螺线最短距离不超过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步。普通网格最短距离不超过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步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Illiac IV阵列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2300" y="1102360"/>
            <a:ext cx="7899400" cy="53301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2305" cy="634365"/>
          </a:xfrm>
        </p:spPr>
        <p:txBody>
          <a:bodyPr vert="horz" wrap="square" lIns="91440" tIns="45720" rIns="91440" bIns="45720" anchor="t" anchorCtr="0">
            <a:no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阵列控制器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10005"/>
            <a:ext cx="8396605" cy="473646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阵列控制器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实际上是一台小型控制计算机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对阵列处理单元实行控制和完成标量操作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标量操作与各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的数组操作可以重叠执行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控制器的功能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对指令进行译码，并执行标量指令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向各处理单元发出执行数组操作指令所需的控制信号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(3)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产生和向所有处理单元广播公共的地址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(4)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产生和向所有处理单元广播公共的数据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(5)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接收和处理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操作及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B6700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产生的陷阱中断信号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输入输出系统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95605" y="1196975"/>
            <a:ext cx="8396605" cy="249174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Illiac IV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的输入输出系统的组成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磁盘文件系统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分系统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一台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B6700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处理机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.5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SIMD算法举例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187450"/>
            <a:ext cx="8396605" cy="4646930"/>
          </a:xfrm>
        </p:spPr>
        <p:txBody>
          <a:bodyPr vert="horz" wrap="square" lIns="91440" tIns="45720" rIns="91440" bIns="45720" anchor="t" anchorCtr="0"/>
          <a:p>
            <a:pPr lvl="0" eaLnBrk="1" latinLnBrk="0" hangingPunct="1">
              <a:spcBef>
                <a:spcPts val="12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处理机特别依赖于并行算法；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sym typeface="+mn-ea"/>
              </a:rPr>
              <a:t>并行处理机的典型并行算法</a:t>
            </a:r>
            <a:endParaRPr lang="zh-CN" altLang="en-US" sz="2000" dirty="0"/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sym typeface="+mn-ea"/>
              </a:rPr>
              <a:t>主要包括有限差分问题、矩阵加、矩阵乘、累加和、递归技术、递归加倍法与循环归约法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并行算法的一个关键是提高向量化的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程度；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在设计并行算法时，要特别注意：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数据在多个存储模块之间的分布；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解决好访问存储器的冲突问题；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互连网络并不能提供所有处理单元之间的连接：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并行算法要充分利用互连网络的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200"/>
              </a:spcBef>
            </a:pP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42390"/>
            <a:ext cx="8396605" cy="4823460"/>
          </a:xfrm>
        </p:spPr>
        <p:txBody>
          <a:bodyPr vert="horz" wrap="square" lIns="91440" tIns="45720" rIns="91440" bIns="45720" anchor="t" anchorCtr="0"/>
          <a:p>
            <a:pPr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矩阵乘时典型的并行程序，非常适合在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处理机上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运行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均为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8*8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的二维矩阵，则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C=A*B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的计算公式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在串行机上要用一个三重循环程序，乘法和加法分别为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512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如果在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求解：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可以在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的机器上并行，运算速度可提高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倍；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也可以在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的机器上并行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defTabSz="914400" eaLnBrk="1" latinLnBrk="0" hangingPunct="1">
              <a:spcBef>
                <a:spcPts val="1200"/>
              </a:spcBef>
              <a:tabLst>
                <a:tab pos="1806575" algn="l"/>
              </a:tabLst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数据如何分布到各个分布式存储器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中？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67585" y="2420620"/>
            <a:ext cx="3663315" cy="9302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矩阵乘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717675"/>
            <a:ext cx="7539990" cy="4478020"/>
          </a:xfrm>
          <a:prstGeom prst="rect">
            <a:avLst/>
          </a:prstGeom>
        </p:spPr>
      </p:pic>
      <p:sp>
        <p:nvSpPr>
          <p:cNvPr id="5" name="Rectangle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58800" y="1111250"/>
            <a:ext cx="8396605" cy="301752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并行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矩阵乘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111250"/>
            <a:ext cx="8396605" cy="99822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两重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循环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spcBef>
                <a:spcPts val="1200"/>
              </a:spcBef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局部存储器中的数据分布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" y="2060575"/>
            <a:ext cx="5778500" cy="3867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03620" y="1844675"/>
            <a:ext cx="2851785" cy="41611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求累加和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5970" y="2060575"/>
            <a:ext cx="7592060" cy="4222750"/>
          </a:xfrm>
          <a:prstGeom prst="rect">
            <a:avLst/>
          </a:prstGeom>
        </p:spPr>
      </p:pic>
      <p:sp>
        <p:nvSpPr>
          <p:cNvPr id="6" name="Rectangle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58800" y="1111250"/>
            <a:ext cx="8396605" cy="99822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的数的顺序相加变成并行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相加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采用递归加法，向量右移，每个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次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加法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求和性能分析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111250"/>
            <a:ext cx="8396605" cy="505460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运算速度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提高：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加速比为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N/log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　　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运算次数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增加：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N—&gt;N.log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效率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降低：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实际效率为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1/log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也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称为级联求和或递归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求和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与流水线中采用的方法类似，采用加法结合率来提高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并行度。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8.2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向量体系架构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21435"/>
            <a:ext cx="8396605" cy="4844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基本思想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读存储器中散布的数据集至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vector registers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向量寄存器操作；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分散结果存储至存储器；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大型寄存器堆相当于编译器控制的缓冲区：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向量载入和存储流水化；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隐藏内存访问的延迟；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充分利用存储带宽；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向量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时代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321435"/>
            <a:ext cx="8396605" cy="484441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向量计算时代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(1970’s-1990’s)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1976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年，第一台商业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Cray-1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问世，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160MFLOPS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（亿次机）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面向科学计算、速度快、精度高（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64bit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字长）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Cray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体系结构重大创新：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Vector architecture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，此前大型机只支持标量计算，科学计算包含大量向量计算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Cray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设计的“向量运算部件”，采用流水机制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Cray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公司向量机称霸巨型机市场近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1995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Cray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公司最后一个性能最高的向量机型号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T90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个向量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，峰值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64GFLOPS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VMIPS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VMIPS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体系结构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以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Cray-1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为基础；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向量寄存器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个向量寄存器，每个包含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64-element, 64 bits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的向量；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寄存器堆有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个读端口和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个写端口；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向量功能单元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（浮点加减乘除、整型和逻辑运算）：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完全流水化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控制单元检测数据和控制冒险；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load-store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单元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完全流水化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初始延迟后一个时钟周期存取一个字；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标量寄存器集合：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32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个通用寄存器；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32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个浮点寄存器。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VMIPS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指令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ADDVV.D: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两个向量相加；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ADDVS.D: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向量和标量相加；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LV/SV: 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向量存取；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例子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  DAXPY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（双精度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a*X+Y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L.D		             F0,a		; load scalar 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LV			V1,Rx		; load vector 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MULVS.D		V2,V1,F0	; vector-scalar multiply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LV			V3,Ry		; load vector Y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ADDVV		V4,V2,V3	; add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SV			Ry,V4		; store the result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VMIPS 6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条指令（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元素）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vs. MIPS 600+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条指令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VMIPS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指令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启动时间：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向量功能单元延迟；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Cray-1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延迟：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Floating-point add =&gt; 6 clock cycles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Floating-point multiply =&gt; 7 clock cycles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Floating-point divide =&gt; 20 clock cycles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Vector load =&gt; 12 clock cycles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性能提升相关问题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每个时钟周期处理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&gt; 1 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个元素；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非</a:t>
            </a: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64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维向量；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IF 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语句处理；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存储系统优化；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多维矩阵；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稀疏矩阵；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向量计算机编程。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向量长度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寄存器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105854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使用向量长度寄存器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(VLR)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使用条带挖掘（编译器生成）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low = 0;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VL = (n % MVL);                             /*find odd-size piece using modulo op % */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for (j = 0; j &lt;= (n/MVL); j=j+1) {       /*outer loop*/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for (i = low; i &lt; (low+VL); i=i+1) /*runs for length VL*/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	Y[i] = a * X[i] + Y[i] ;                /*main operation*/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low = low + VL;                           /*start of next vector*/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VL = MVL;                                /*reset the length to maximum vector length*/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7650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47495" y="4725035"/>
            <a:ext cx="6650038" cy="1657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向量遮罩寄存器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考虑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nn-NO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nn-NO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(i = 0; i &lt; 64; i=i+1)</a:t>
            </a:r>
            <a:endParaRPr kumimoji="0" lang="nn-NO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if (X[</a:t>
            </a:r>
            <a:r>
              <a:rPr lang="en-US" altLang="zh-CN" sz="2000" b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 != 0)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	X[</a:t>
            </a:r>
            <a:r>
              <a:rPr lang="en-US" altLang="zh-CN" sz="2000" b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 = X[</a:t>
            </a:r>
            <a:r>
              <a:rPr lang="en-US" altLang="zh-CN" sz="2000" b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 – Y[</a:t>
            </a:r>
            <a:r>
              <a:rPr lang="en-US" altLang="zh-CN" sz="2000" b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使用向量遮罩寄存器使得向量元素不可见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LV		V1,Rx		;load vector X into V1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s-E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LV		V2,Ry		;load vector Y</a:t>
            </a:r>
            <a:endParaRPr kumimoji="0" lang="es-E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L.D		F0,#0		;load FP zero into F0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SNEVS.D	V1,F0		;</a:t>
            </a:r>
            <a:r>
              <a:rPr lang="en-US" altLang="zh-CN" sz="2000" b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sets VM(</a:t>
            </a:r>
            <a:r>
              <a:rPr lang="en-US" altLang="zh-CN" sz="2000" b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to 1 if V1(</a:t>
            </a:r>
            <a:r>
              <a:rPr lang="en-US" altLang="zh-CN" sz="2000" b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2000" b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)!=F0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SUBVV.D	V1,V1,V2	; subtract under vector mask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SV		Rx,V1		;store the result in X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0033C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遮罩为</a:t>
            </a:r>
            <a:r>
              <a:rPr lang="en-US" altLang="zh-CN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2000" b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的元素，依然会占用处理时间。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集中-分散：处理稀疏矩阵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很多的科学计算中存在稀疏的矩阵，大多数元素都是0，位置不固定，我们的目标是将稀疏矩阵压缩为一个存有所有非零元素的向量。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考虑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nn-NO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	for (i = 0; i &lt; n; i=i+1)</a:t>
            </a:r>
            <a:endParaRPr lang="nn-NO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		A[K[i]] = A[K[i]] + C[M[i]];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集中：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结果是向量寄存器中的一个密集向量；</a:t>
            </a:r>
            <a:endParaRPr lang="en-US" altLang="zh-CN" sz="1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分散：</a:t>
            </a:r>
            <a:r>
              <a:rPr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使用同一索引向量分散存储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使用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索引向量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LV		Vk, Rk			;load K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it-IT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LVI		Va, (Ra+Vk)		;</a:t>
            </a:r>
            <a:r>
              <a:rPr lang="it-IT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load A[K[]]</a:t>
            </a:r>
            <a:endParaRPr lang="it-IT" altLang="zh-CN" sz="1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LV		Vm, Rm		                ;load M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LVI		Vc, (Rc+Vm)		;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load C[M[]]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it-IT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ADDVV.D	Va, Va, Vc		</a:t>
            </a:r>
            <a:r>
              <a:rPr lang="en-US" altLang="it-IT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it-IT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;add them</a:t>
            </a:r>
            <a:endParaRPr lang="it-IT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it-IT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SVI		(Ra+Vk), Va		;</a:t>
            </a:r>
            <a:r>
              <a:rPr lang="it-IT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store A[K[]]</a:t>
            </a:r>
            <a:endParaRPr lang="it-IT" altLang="zh-CN" sz="1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23890" y="2209165"/>
            <a:ext cx="306133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8.3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SIMD 扩展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针对多媒体应用；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扩展主要进行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项简化：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固定了操作中操作数的数目：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向量体系结构采用向量长度寄存器；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扩展没有复杂的寻址模式：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步幅和集中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分散寻址模式；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没有遮罩寄存器。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SIMD 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扩展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实现：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Intel MMX (1996)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8-bit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整数操作或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16-bit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整数操作；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流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SIMD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扩展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(SSE) (1999)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16-bit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整数操作；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32-bit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整数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浮点操作或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64-bit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整数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浮点操作；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高级向量扩展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(2010)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64-bit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整数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浮点操作；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操作数连续且与存储地址对齐；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扩展的目的主要为了加速精心编制的库函数运行。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3565"/>
          </a:xfrm>
        </p:spPr>
        <p:txBody>
          <a:bodyPr vert="horz" wrap="square" lIns="91440" tIns="45720" rIns="91440" bIns="45720" rtlCol="0" anchor="t" anchorCtr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86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指令集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2185" y="1268730"/>
            <a:ext cx="7230110" cy="497903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3565"/>
          </a:xfrm>
        </p:spPr>
        <p:txBody>
          <a:bodyPr vert="horz" wrap="square" lIns="91440" tIns="45720" rIns="91440" bIns="45720" rtlCol="0" anchor="t" anchorCtr="0">
            <a:spAutoFit/>
          </a:bodyPr>
          <a:p>
            <a:pPr lvl="0"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传统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计算方式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比较</a:t>
            </a:r>
            <a:endParaRPr 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7200" y="1270000"/>
            <a:ext cx="3891915" cy="41255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43755" y="1270000"/>
            <a:ext cx="4026535" cy="41249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7200" y="5589270"/>
            <a:ext cx="39293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4个数字都需要进行乘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的计算：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4个load内存指令；4个乘法指令；4个内存回写指令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43755" y="5517515"/>
            <a:ext cx="40443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个load内存指令；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个乘法指令；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个内存回写指令</a:t>
            </a: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0" algn="l">
              <a:buClrTx/>
              <a:buSzTx/>
              <a:buFontTx/>
            </a:pPr>
            <a:endParaRPr lang="zh-CN" altLang="en-US" sz="180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8.4 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GPU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计算能力用于更大范围的应用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?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基本思想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异构执行模型：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CPU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为主机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GPU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为加速器；</a:t>
            </a:r>
            <a:endParaRPr lang="en-US" altLang="zh-CN" sz="20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开发类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的编程语言；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统一所有的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并行为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CUDA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线程；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编程模型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“SIMT”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NVIDIA GPU 架构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与向量机类似：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擅长数据级并行；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集中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-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分散；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遮罩寄存器；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大的寄存器组。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24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不同：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没有标量处理器；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使用多线程隐藏内存访问延迟；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有很多功能单元深度流水化。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Fermi 多线程 SIMD 处理器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2952750" cy="4959985"/>
          </a:xfrm>
        </p:spPr>
        <p:txBody>
          <a:bodyPr vert="horz" wrap="square" lIns="91440" tIns="45720" rIns="91440" bIns="45720" anchor="t" anchorCtr="0"/>
          <a:p>
            <a:pPr marL="514350" lvl="0" indent="-514350">
              <a:spcBef>
                <a:spcPts val="18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Fermi GPU拥有512 CUDA core，分布在16个SM上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;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14350" lvl="0" indent="-514350">
              <a:spcBef>
                <a:spcPts val="18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SM16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车道：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个流水线浮点单元、一个流水线整数单元、某些逻辑将指令和操作数分发给这些单元、一个队列用于保存结果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;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14350" lvl="0" indent="-514350">
              <a:spcBef>
                <a:spcPts val="180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SFU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（特殊函数单元）：计算诸如平方根、求倒数、正弦和余弦等。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4277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08400" y="1243330"/>
            <a:ext cx="4449445" cy="5006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线程与块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每个数据元素对应一个线程；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线程组织成块：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block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块组织成网格：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grid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硬件处理线程管理。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两个长度为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8192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的向量乘法：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Grid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：完成所有元素的处理；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Block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：线程块将所有元素划分成可管理的大小：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grid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大小 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= 16 blocks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Block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包含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指令线程；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指令线程每条指令处理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32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个元素；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Block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类似于条带挖掘向量循环（向量长度为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32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512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元素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块；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Block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由块调度器分配给多线程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处理器；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线程处理器有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个车道；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车道执行指令线程；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条件分支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类似向量处理器，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分支硬件采用内部遮罩；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另外，采用：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谓词指令：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每个线程一个谓词寄存器；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根据谓词决定启用或禁用每条指令的车道；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分支同步栈、分支同步标记：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栈中存放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车道的遮罩；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PTX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汇编程序在分支指令上设置“标记”；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压入分支同步栈、同步、出栈；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一个时钟周期内，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执行指令中指定的操作或空闲；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CUDA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线程可能执行不同的分支，但是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车道不能同时执行不同的指令。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NVIDIA GPU 存储结构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05865"/>
            <a:ext cx="8396605" cy="495998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车道有私有的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off-chip DRAM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部分：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专用存储器；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包含栈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私有变量。。。；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每个多线程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处理器有本地存储：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由一个块中的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SIMD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车道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/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线程共享；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整个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和所有线程共享的是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存储：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主机可以读写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GPU 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内存。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395605" y="260350"/>
            <a:ext cx="8281988" cy="583565"/>
          </a:xfrm>
        </p:spPr>
        <p:txBody>
          <a:bodyPr vert="horz" wrap="square" lIns="91440" tIns="45720" rIns="91440" bIns="45720" anchor="t" anchorCtr="0">
            <a:spAutoFit/>
          </a:bodyPr>
          <a:p>
            <a:pPr algn="l" eaLnBrk="1" hangingPunct="1">
              <a:buClrTx/>
              <a:buSzTx/>
              <a:buFontTx/>
            </a:pPr>
            <a:r>
              <a:rPr 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本章重点</a:t>
            </a:r>
            <a:endParaRPr 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58800" y="1278255"/>
            <a:ext cx="8396605" cy="2265680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spcBef>
                <a:spcPts val="1200"/>
              </a:spcBef>
            </a:pPr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数据级并行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阵列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向量体系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架构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COMMONDATA" val="eyJoZGlkIjoiNzgwZWUzYWQ0MzYxM2VlNjVhZWQ5MmMwYjc0MjZhZjkifQ=="/>
  <p:tag name="KSO_WPP_MARK_KEY" val="f64f1d04-d5ef-4124-ac0d-f11c60ba39f5"/>
</p:tagLst>
</file>

<file path=ppt/theme/theme1.xml><?xml version="1.0" encoding="utf-8"?>
<a:theme xmlns:a="http://schemas.openxmlformats.org/drawingml/2006/main" name="主题1">
  <a:themeElements>
    <a:clrScheme name="24美金的ppt模板_2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2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2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2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2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4美金的ppt模板">
  <a:themeElements>
    <a:clrScheme name="1_24美金的ppt模板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1_24美金的ppt模板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24美金的ppt模板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4美金的ppt模板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4美金的ppt模板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4美金的ppt模板_3">
  <a:themeElements>
    <a:clrScheme name="24美金的ppt模板_3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3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3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3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3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4美金的ppt模板_4">
  <a:themeElements>
    <a:clrScheme name="24美金的ppt模板_4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4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4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4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4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4美金的ppt模板_5">
  <a:themeElements>
    <a:clrScheme name="24美金的ppt模板_5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5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5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5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5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主题1">
  <a:themeElements>
    <a:clrScheme name="24美金的ppt模板_2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2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2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2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2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24美金的ppt模板">
  <a:themeElements>
    <a:clrScheme name="1_24美金的ppt模板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1_24美金的ppt模板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24美金的ppt模板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4美金的ppt模板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4美金的ppt模板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24美金的ppt模板_3">
  <a:themeElements>
    <a:clrScheme name="24美金的ppt模板_3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3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3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3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3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24美金的ppt模板_4">
  <a:themeElements>
    <a:clrScheme name="24美金的ppt模板_4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4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4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4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4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24美金的ppt模板_5">
  <a:themeElements>
    <a:clrScheme name="24美金的ppt模板_5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5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5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5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5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7479</Words>
  <Application>WPS 演示</Application>
  <PresentationFormat>全屏显示(4:3)</PresentationFormat>
  <Paragraphs>491</Paragraphs>
  <Slides>52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52</vt:i4>
      </vt:variant>
    </vt:vector>
  </HeadingPairs>
  <TitlesOfParts>
    <vt:vector size="73" baseType="lpstr">
      <vt:lpstr>Arial</vt:lpstr>
      <vt:lpstr>宋体</vt:lpstr>
      <vt:lpstr>Wingdings</vt:lpstr>
      <vt:lpstr>华文行楷</vt:lpstr>
      <vt:lpstr>黑体</vt:lpstr>
      <vt:lpstr>华文中宋</vt:lpstr>
      <vt:lpstr>Times New Roman</vt:lpstr>
      <vt:lpstr>微软雅黑</vt:lpstr>
      <vt:lpstr>Arial Unicode MS</vt:lpstr>
      <vt:lpstr>Symbol</vt:lpstr>
      <vt:lpstr>Wingdings</vt:lpstr>
      <vt:lpstr>主题1</vt:lpstr>
      <vt:lpstr>1_24美金的ppt模板</vt:lpstr>
      <vt:lpstr>24美金的ppt模板_3</vt:lpstr>
      <vt:lpstr>24美金的ppt模板_4</vt:lpstr>
      <vt:lpstr>24美金的ppt模板_5</vt:lpstr>
      <vt:lpstr>1_主题1</vt:lpstr>
      <vt:lpstr>2_24美金的ppt模板</vt:lpstr>
      <vt:lpstr>1_24美金的ppt模板_3</vt:lpstr>
      <vt:lpstr>1_24美金的ppt模板_4</vt:lpstr>
      <vt:lpstr>1_24美金的ppt模板_5</vt:lpstr>
      <vt:lpstr>PowerPoint 演示文稿</vt:lpstr>
      <vt:lpstr>第8章 数据级并行        ——向量、SIMD和GPU</vt:lpstr>
      <vt:lpstr>并行机的分类</vt:lpstr>
      <vt:lpstr>数据并行</vt:lpstr>
      <vt:lpstr>任务并行</vt:lpstr>
      <vt:lpstr>并行的级别（粒度）</vt:lpstr>
      <vt:lpstr>Flynn’s 分类</vt:lpstr>
      <vt:lpstr>并行机的分类</vt:lpstr>
      <vt:lpstr>本章内容</vt:lpstr>
      <vt:lpstr>8.1 SIMD阵列</vt:lpstr>
      <vt:lpstr>并行处理机模型</vt:lpstr>
      <vt:lpstr>并行处理机的基本结构</vt:lpstr>
      <vt:lpstr>8.1.1 分布式存储器的SIMD计算机</vt:lpstr>
      <vt:lpstr>分布式存储器的SIMD计算机</vt:lpstr>
      <vt:lpstr>8.1.2 共享存储器的SIMD计算机</vt:lpstr>
      <vt:lpstr>共享存储器的SIMD计算机</vt:lpstr>
      <vt:lpstr>8.1.3 并行处理机的特点</vt:lpstr>
      <vt:lpstr>高速数值计算</vt:lpstr>
      <vt:lpstr>实际有效速度的其他决定因素</vt:lpstr>
      <vt:lpstr>*8.1.4 Illiac IV 并行处理机</vt:lpstr>
      <vt:lpstr>*Illiac IV系统组成</vt:lpstr>
      <vt:lpstr>*Illiac IV系统总框图</vt:lpstr>
      <vt:lpstr>*Illiac IV阵列</vt:lpstr>
      <vt:lpstr>*Illiac IV阵列</vt:lpstr>
      <vt:lpstr>*阵列控制器</vt:lpstr>
      <vt:lpstr>*输入输出系统</vt:lpstr>
      <vt:lpstr>*8.1.5 SIMD算法举例</vt:lpstr>
      <vt:lpstr>矩阵乘*</vt:lpstr>
      <vt:lpstr>矩阵乘*</vt:lpstr>
      <vt:lpstr>矩阵乘*</vt:lpstr>
      <vt:lpstr>求累加和*</vt:lpstr>
      <vt:lpstr>递归求和性能分析*</vt:lpstr>
      <vt:lpstr>8.2 向量体系架构</vt:lpstr>
      <vt:lpstr>向量计算时代</vt:lpstr>
      <vt:lpstr>VMIPS</vt:lpstr>
      <vt:lpstr>VMIPS指令</vt:lpstr>
      <vt:lpstr>*VMIPS指令</vt:lpstr>
      <vt:lpstr>*向量长度寄存器</vt:lpstr>
      <vt:lpstr>*向量遮罩寄存器</vt:lpstr>
      <vt:lpstr>*集中-分散：处理稀疏矩阵</vt:lpstr>
      <vt:lpstr>8.3 SIMD 扩展</vt:lpstr>
      <vt:lpstr>SIMD 实现</vt:lpstr>
      <vt:lpstr>X86的SIMD指令集</vt:lpstr>
      <vt:lpstr>传统CPU和SIMD计算方式比较</vt:lpstr>
      <vt:lpstr>8.4 GPU</vt:lpstr>
      <vt:lpstr>NVIDIA GPU 架构</vt:lpstr>
      <vt:lpstr>*Fermi 多线程 SIMD 处理器</vt:lpstr>
      <vt:lpstr>*线程与块</vt:lpstr>
      <vt:lpstr>*例子</vt:lpstr>
      <vt:lpstr>*条件分支</vt:lpstr>
      <vt:lpstr>*NVIDIA GPU 存储结构</vt:lpstr>
      <vt:lpstr>本章重点</vt:lpstr>
    </vt:vector>
  </TitlesOfParts>
  <Company>北京理工大学计算机系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概论</dc:title>
  <dc:creator>蒋本珊</dc:creator>
  <cp:lastModifiedBy>red</cp:lastModifiedBy>
  <cp:revision>329</cp:revision>
  <dcterms:created xsi:type="dcterms:W3CDTF">2003-05-27T06:14:00Z</dcterms:created>
  <dcterms:modified xsi:type="dcterms:W3CDTF">2024-11-25T23:46:49Z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1F81BB865FBE4A0DAA61B931911A324B_13</vt:lpwstr>
  </property>
  <property fmtid="{D5CDD505-2E9C-101B-9397-08002B2CF9AE}" pid="3" name="KSOProductBuildVer">
    <vt:lpwstr>2052-12.1.0.18912</vt:lpwstr>
  </property>
</Properties>
</file>