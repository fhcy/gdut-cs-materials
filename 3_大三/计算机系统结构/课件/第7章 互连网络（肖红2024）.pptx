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74" r:id="rId4"/>
    <p:sldMasterId id="2147483687" r:id="rId5"/>
    <p:sldMasterId id="2147483700" r:id="rId6"/>
    <p:sldMasterId id="2147483713" r:id="rId7"/>
    <p:sldMasterId id="2147483728" r:id="rId8"/>
    <p:sldMasterId id="2147483740" r:id="rId9"/>
    <p:sldMasterId id="2147483753" r:id="rId10"/>
    <p:sldMasterId id="2147483766" r:id="rId11"/>
  </p:sldMasterIdLst>
  <p:notesMasterIdLst>
    <p:notesMasterId r:id="rId13"/>
  </p:notesMasterIdLst>
  <p:handoutMasterIdLst>
    <p:handoutMasterId r:id="rId102"/>
  </p:handoutMasterIdLst>
  <p:sldIdLst>
    <p:sldId id="257" r:id="rId12"/>
    <p:sldId id="258" r:id="rId14"/>
    <p:sldId id="349" r:id="rId15"/>
    <p:sldId id="804" r:id="rId16"/>
    <p:sldId id="805" r:id="rId17"/>
    <p:sldId id="806" r:id="rId18"/>
    <p:sldId id="807" r:id="rId19"/>
    <p:sldId id="862" r:id="rId20"/>
    <p:sldId id="864" r:id="rId21"/>
    <p:sldId id="865" r:id="rId22"/>
    <p:sldId id="866" r:id="rId23"/>
    <p:sldId id="809" r:id="rId24"/>
    <p:sldId id="810" r:id="rId25"/>
    <p:sldId id="811" r:id="rId26"/>
    <p:sldId id="812" r:id="rId27"/>
    <p:sldId id="813" r:id="rId28"/>
    <p:sldId id="814" r:id="rId29"/>
    <p:sldId id="815" r:id="rId30"/>
    <p:sldId id="816" r:id="rId31"/>
    <p:sldId id="817" r:id="rId32"/>
    <p:sldId id="818" r:id="rId33"/>
    <p:sldId id="819" r:id="rId34"/>
    <p:sldId id="820" r:id="rId35"/>
    <p:sldId id="821" r:id="rId36"/>
    <p:sldId id="822" r:id="rId37"/>
    <p:sldId id="829" r:id="rId38"/>
    <p:sldId id="830" r:id="rId39"/>
    <p:sldId id="831" r:id="rId40"/>
    <p:sldId id="832" r:id="rId41"/>
    <p:sldId id="833" r:id="rId42"/>
    <p:sldId id="834" r:id="rId43"/>
    <p:sldId id="835" r:id="rId44"/>
    <p:sldId id="836" r:id="rId45"/>
    <p:sldId id="838" r:id="rId46"/>
    <p:sldId id="1009" r:id="rId47"/>
    <p:sldId id="844" r:id="rId48"/>
    <p:sldId id="867" r:id="rId49"/>
    <p:sldId id="846" r:id="rId50"/>
    <p:sldId id="847" r:id="rId51"/>
    <p:sldId id="849" r:id="rId52"/>
    <p:sldId id="850" r:id="rId53"/>
    <p:sldId id="851" r:id="rId54"/>
    <p:sldId id="852" r:id="rId55"/>
    <p:sldId id="853" r:id="rId56"/>
    <p:sldId id="1106" r:id="rId57"/>
    <p:sldId id="1158" r:id="rId58"/>
    <p:sldId id="1107" r:id="rId59"/>
    <p:sldId id="1108" r:id="rId60"/>
    <p:sldId id="854" r:id="rId61"/>
    <p:sldId id="868" r:id="rId62"/>
    <p:sldId id="1062" r:id="rId63"/>
    <p:sldId id="1063" r:id="rId64"/>
    <p:sldId id="1064" r:id="rId65"/>
    <p:sldId id="908" r:id="rId66"/>
    <p:sldId id="966" r:id="rId67"/>
    <p:sldId id="967" r:id="rId68"/>
    <p:sldId id="968" r:id="rId69"/>
    <p:sldId id="969" r:id="rId70"/>
    <p:sldId id="971" r:id="rId71"/>
    <p:sldId id="909" r:id="rId72"/>
    <p:sldId id="910" r:id="rId73"/>
    <p:sldId id="912" r:id="rId74"/>
    <p:sldId id="913" r:id="rId75"/>
    <p:sldId id="914" r:id="rId76"/>
    <p:sldId id="915" r:id="rId77"/>
    <p:sldId id="917" r:id="rId78"/>
    <p:sldId id="918" r:id="rId79"/>
    <p:sldId id="919" r:id="rId80"/>
    <p:sldId id="920" r:id="rId81"/>
    <p:sldId id="921" r:id="rId82"/>
    <p:sldId id="922" r:id="rId83"/>
    <p:sldId id="923" r:id="rId84"/>
    <p:sldId id="931" r:id="rId85"/>
    <p:sldId id="932" r:id="rId86"/>
    <p:sldId id="933" r:id="rId87"/>
    <p:sldId id="934" r:id="rId88"/>
    <p:sldId id="936" r:id="rId89"/>
    <p:sldId id="937" r:id="rId90"/>
    <p:sldId id="1155" r:id="rId91"/>
    <p:sldId id="1159" r:id="rId92"/>
    <p:sldId id="1156" r:id="rId93"/>
    <p:sldId id="947" r:id="rId94"/>
    <p:sldId id="949" r:id="rId95"/>
    <p:sldId id="964" r:id="rId96"/>
    <p:sldId id="951" r:id="rId97"/>
    <p:sldId id="1157" r:id="rId98"/>
    <p:sldId id="1200" r:id="rId99"/>
    <p:sldId id="1201" r:id="rId100"/>
    <p:sldId id="965" r:id="rId101"/>
  </p:sldIdLst>
  <p:sldSz cx="9144000" cy="6858000" type="screen4x3"/>
  <p:notesSz cx="6858000" cy="9144000"/>
  <p:custDataLst>
    <p:tags r:id="rId107"/>
  </p:custDataLst>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9pPr>
  </p:defaultTextStyle>
  <p:extLst>
    <p:ext uri="{EFAFB233-063F-42B5-8137-9DF3F51BA10A}">
      <p15:sldGuideLst xmlns:p15="http://schemas.microsoft.com/office/powerpoint/2012/main">
        <p15:guide id="1" orient="horz" pos="2287"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ger" initials="t" lastIdx="3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000000"/>
    <a:srgbClr val="800000"/>
    <a:srgbClr val="000066"/>
    <a:srgbClr val="663300"/>
    <a:srgbClr val="9900F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9632"/>
    <p:restoredTop sz="92988"/>
  </p:normalViewPr>
  <p:slideViewPr>
    <p:cSldViewPr showGuides="1">
      <p:cViewPr varScale="1">
        <p:scale>
          <a:sx n="63" d="100"/>
          <a:sy n="63" d="100"/>
        </p:scale>
        <p:origin x="1140" y="72"/>
      </p:cViewPr>
      <p:guideLst>
        <p:guide orient="horz" pos="2287"/>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330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87.xml"/><Relationship Id="rId98" Type="http://schemas.openxmlformats.org/officeDocument/2006/relationships/slide" Target="slides/slide86.xml"/><Relationship Id="rId97" Type="http://schemas.openxmlformats.org/officeDocument/2006/relationships/slide" Target="slides/slide85.xml"/><Relationship Id="rId96" Type="http://schemas.openxmlformats.org/officeDocument/2006/relationships/slide" Target="slides/slide84.xml"/><Relationship Id="rId95" Type="http://schemas.openxmlformats.org/officeDocument/2006/relationships/slide" Target="slides/slide83.xml"/><Relationship Id="rId94" Type="http://schemas.openxmlformats.org/officeDocument/2006/relationships/slide" Target="slides/slide82.xml"/><Relationship Id="rId93" Type="http://schemas.openxmlformats.org/officeDocument/2006/relationships/slide" Target="slides/slide81.xml"/><Relationship Id="rId92" Type="http://schemas.openxmlformats.org/officeDocument/2006/relationships/slide" Target="slides/slide80.xml"/><Relationship Id="rId91" Type="http://schemas.openxmlformats.org/officeDocument/2006/relationships/slide" Target="slides/slide79.xml"/><Relationship Id="rId90" Type="http://schemas.openxmlformats.org/officeDocument/2006/relationships/slide" Target="slides/slide78.xml"/><Relationship Id="rId9" Type="http://schemas.openxmlformats.org/officeDocument/2006/relationships/slideMaster" Target="slideMasters/slideMaster8.xml"/><Relationship Id="rId89" Type="http://schemas.openxmlformats.org/officeDocument/2006/relationships/slide" Target="slides/slide77.xml"/><Relationship Id="rId88" Type="http://schemas.openxmlformats.org/officeDocument/2006/relationships/slide" Target="slides/slide76.xml"/><Relationship Id="rId87" Type="http://schemas.openxmlformats.org/officeDocument/2006/relationships/slide" Target="slides/slide75.xml"/><Relationship Id="rId86" Type="http://schemas.openxmlformats.org/officeDocument/2006/relationships/slide" Target="slides/slide74.xml"/><Relationship Id="rId85" Type="http://schemas.openxmlformats.org/officeDocument/2006/relationships/slide" Target="slides/slide73.xml"/><Relationship Id="rId84" Type="http://schemas.openxmlformats.org/officeDocument/2006/relationships/slide" Target="slides/slide72.xml"/><Relationship Id="rId83" Type="http://schemas.openxmlformats.org/officeDocument/2006/relationships/slide" Target="slides/slide71.xml"/><Relationship Id="rId82" Type="http://schemas.openxmlformats.org/officeDocument/2006/relationships/slide" Target="slides/slide70.xml"/><Relationship Id="rId81" Type="http://schemas.openxmlformats.org/officeDocument/2006/relationships/slide" Target="slides/slide69.xml"/><Relationship Id="rId80" Type="http://schemas.openxmlformats.org/officeDocument/2006/relationships/slide" Target="slides/slide68.xml"/><Relationship Id="rId8" Type="http://schemas.openxmlformats.org/officeDocument/2006/relationships/slideMaster" Target="slideMasters/slideMaster7.xml"/><Relationship Id="rId79" Type="http://schemas.openxmlformats.org/officeDocument/2006/relationships/slide" Target="slides/slide67.xml"/><Relationship Id="rId78" Type="http://schemas.openxmlformats.org/officeDocument/2006/relationships/slide" Target="slides/slide66.xml"/><Relationship Id="rId77" Type="http://schemas.openxmlformats.org/officeDocument/2006/relationships/slide" Target="slides/slide65.xml"/><Relationship Id="rId76" Type="http://schemas.openxmlformats.org/officeDocument/2006/relationships/slide" Target="slides/slide64.xml"/><Relationship Id="rId75" Type="http://schemas.openxmlformats.org/officeDocument/2006/relationships/slide" Target="slides/slide63.xml"/><Relationship Id="rId74" Type="http://schemas.openxmlformats.org/officeDocument/2006/relationships/slide" Target="slides/slide62.xml"/><Relationship Id="rId73" Type="http://schemas.openxmlformats.org/officeDocument/2006/relationships/slide" Target="slides/slide61.xml"/><Relationship Id="rId72" Type="http://schemas.openxmlformats.org/officeDocument/2006/relationships/slide" Target="slides/slide60.xml"/><Relationship Id="rId71" Type="http://schemas.openxmlformats.org/officeDocument/2006/relationships/slide" Target="slides/slide59.xml"/><Relationship Id="rId70" Type="http://schemas.openxmlformats.org/officeDocument/2006/relationships/slide" Target="slides/slide58.xml"/><Relationship Id="rId7" Type="http://schemas.openxmlformats.org/officeDocument/2006/relationships/slideMaster" Target="slideMasters/slideMaster6.xml"/><Relationship Id="rId69" Type="http://schemas.openxmlformats.org/officeDocument/2006/relationships/slide" Target="slides/slide57.xml"/><Relationship Id="rId68" Type="http://schemas.openxmlformats.org/officeDocument/2006/relationships/slide" Target="slides/slide56.xml"/><Relationship Id="rId67" Type="http://schemas.openxmlformats.org/officeDocument/2006/relationships/slide" Target="slides/slide55.xml"/><Relationship Id="rId66" Type="http://schemas.openxmlformats.org/officeDocument/2006/relationships/slide" Target="slides/slide54.xml"/><Relationship Id="rId65" Type="http://schemas.openxmlformats.org/officeDocument/2006/relationships/slide" Target="slides/slide53.xml"/><Relationship Id="rId64" Type="http://schemas.openxmlformats.org/officeDocument/2006/relationships/slide" Target="slides/slide52.xml"/><Relationship Id="rId63" Type="http://schemas.openxmlformats.org/officeDocument/2006/relationships/slide" Target="slides/slide51.xml"/><Relationship Id="rId62" Type="http://schemas.openxmlformats.org/officeDocument/2006/relationships/slide" Target="slides/slide50.xml"/><Relationship Id="rId61" Type="http://schemas.openxmlformats.org/officeDocument/2006/relationships/slide" Target="slides/slide49.xml"/><Relationship Id="rId60" Type="http://schemas.openxmlformats.org/officeDocument/2006/relationships/slide" Target="slides/slide48.xml"/><Relationship Id="rId6" Type="http://schemas.openxmlformats.org/officeDocument/2006/relationships/slideMaster" Target="slideMasters/slideMaster5.xml"/><Relationship Id="rId59" Type="http://schemas.openxmlformats.org/officeDocument/2006/relationships/slide" Target="slides/slide47.xml"/><Relationship Id="rId58" Type="http://schemas.openxmlformats.org/officeDocument/2006/relationships/slide" Target="slides/slide46.xml"/><Relationship Id="rId57" Type="http://schemas.openxmlformats.org/officeDocument/2006/relationships/slide" Target="slides/slide45.xml"/><Relationship Id="rId56" Type="http://schemas.openxmlformats.org/officeDocument/2006/relationships/slide" Target="slides/slide44.xml"/><Relationship Id="rId55" Type="http://schemas.openxmlformats.org/officeDocument/2006/relationships/slide" Target="slides/slide43.xml"/><Relationship Id="rId54" Type="http://schemas.openxmlformats.org/officeDocument/2006/relationships/slide" Target="slides/slide42.xml"/><Relationship Id="rId53" Type="http://schemas.openxmlformats.org/officeDocument/2006/relationships/slide" Target="slides/slide41.xml"/><Relationship Id="rId52" Type="http://schemas.openxmlformats.org/officeDocument/2006/relationships/slide" Target="slides/slide40.xml"/><Relationship Id="rId51" Type="http://schemas.openxmlformats.org/officeDocument/2006/relationships/slide" Target="slides/slide39.xml"/><Relationship Id="rId50" Type="http://schemas.openxmlformats.org/officeDocument/2006/relationships/slide" Target="slides/slide38.xml"/><Relationship Id="rId5" Type="http://schemas.openxmlformats.org/officeDocument/2006/relationships/slideMaster" Target="slideMasters/slideMaster4.xml"/><Relationship Id="rId49" Type="http://schemas.openxmlformats.org/officeDocument/2006/relationships/slide" Target="slides/slide37.xml"/><Relationship Id="rId48" Type="http://schemas.openxmlformats.org/officeDocument/2006/relationships/slide" Target="slides/slide36.xml"/><Relationship Id="rId47" Type="http://schemas.openxmlformats.org/officeDocument/2006/relationships/slide" Target="slides/slide35.xml"/><Relationship Id="rId46" Type="http://schemas.openxmlformats.org/officeDocument/2006/relationships/slide" Target="slides/slide34.xml"/><Relationship Id="rId45" Type="http://schemas.openxmlformats.org/officeDocument/2006/relationships/slide" Target="slides/slide33.xml"/><Relationship Id="rId44" Type="http://schemas.openxmlformats.org/officeDocument/2006/relationships/slide" Target="slides/slide32.xml"/><Relationship Id="rId43" Type="http://schemas.openxmlformats.org/officeDocument/2006/relationships/slide" Target="slides/slide31.xml"/><Relationship Id="rId42" Type="http://schemas.openxmlformats.org/officeDocument/2006/relationships/slide" Target="slides/slide30.xml"/><Relationship Id="rId41" Type="http://schemas.openxmlformats.org/officeDocument/2006/relationships/slide" Target="slides/slide29.xml"/><Relationship Id="rId40" Type="http://schemas.openxmlformats.org/officeDocument/2006/relationships/slide" Target="slides/slide28.xml"/><Relationship Id="rId4" Type="http://schemas.openxmlformats.org/officeDocument/2006/relationships/slideMaster" Target="slideMasters/slideMaster3.xml"/><Relationship Id="rId39" Type="http://schemas.openxmlformats.org/officeDocument/2006/relationships/slide" Target="slides/slide27.xml"/><Relationship Id="rId38" Type="http://schemas.openxmlformats.org/officeDocument/2006/relationships/slide" Target="slides/slide26.xml"/><Relationship Id="rId37" Type="http://schemas.openxmlformats.org/officeDocument/2006/relationships/slide" Target="slides/slide25.xml"/><Relationship Id="rId36" Type="http://schemas.openxmlformats.org/officeDocument/2006/relationships/slide" Target="slides/slide24.xml"/><Relationship Id="rId35" Type="http://schemas.openxmlformats.org/officeDocument/2006/relationships/slide" Target="slides/slide23.xml"/><Relationship Id="rId34" Type="http://schemas.openxmlformats.org/officeDocument/2006/relationships/slide" Target="slides/slide22.xml"/><Relationship Id="rId33" Type="http://schemas.openxmlformats.org/officeDocument/2006/relationships/slide" Target="slides/slide21.xml"/><Relationship Id="rId32" Type="http://schemas.openxmlformats.org/officeDocument/2006/relationships/slide" Target="slides/slide20.xml"/><Relationship Id="rId31" Type="http://schemas.openxmlformats.org/officeDocument/2006/relationships/slide" Target="slides/slide19.xml"/><Relationship Id="rId30" Type="http://schemas.openxmlformats.org/officeDocument/2006/relationships/slide" Target="slides/slide18.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 Type="http://schemas.openxmlformats.org/officeDocument/2006/relationships/slide" Target="slides/slide4.xml"/><Relationship Id="rId15" Type="http://schemas.openxmlformats.org/officeDocument/2006/relationships/slide" Target="slides/slide3.xml"/><Relationship Id="rId14" Type="http://schemas.openxmlformats.org/officeDocument/2006/relationships/slide" Target="slides/slide2.xml"/><Relationship Id="rId13" Type="http://schemas.openxmlformats.org/officeDocument/2006/relationships/notesMaster" Target="notesMasters/notesMaster1.xml"/><Relationship Id="rId12" Type="http://schemas.openxmlformats.org/officeDocument/2006/relationships/slide" Target="slides/slide1.xml"/><Relationship Id="rId11" Type="http://schemas.openxmlformats.org/officeDocument/2006/relationships/slideMaster" Target="slideMasters/slideMaster10.xml"/><Relationship Id="rId107" Type="http://schemas.openxmlformats.org/officeDocument/2006/relationships/tags" Target="tags/tag157.xml"/><Relationship Id="rId106" Type="http://schemas.openxmlformats.org/officeDocument/2006/relationships/commentAuthors" Target="commentAuthors.xml"/><Relationship Id="rId105" Type="http://schemas.openxmlformats.org/officeDocument/2006/relationships/tableStyles" Target="tableStyles.xml"/><Relationship Id="rId104" Type="http://schemas.openxmlformats.org/officeDocument/2006/relationships/viewProps" Target="viewProps.xml"/><Relationship Id="rId103" Type="http://schemas.openxmlformats.org/officeDocument/2006/relationships/presProps" Target="presProps.xml"/><Relationship Id="rId102" Type="http://schemas.openxmlformats.org/officeDocument/2006/relationships/handoutMaster" Target="handoutMasters/handoutMaster1.xml"/><Relationship Id="rId101" Type="http://schemas.openxmlformats.org/officeDocument/2006/relationships/slide" Target="slides/slide89.xml"/><Relationship Id="rId100" Type="http://schemas.openxmlformats.org/officeDocument/2006/relationships/slide" Target="slides/slide88.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85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9B7136E-35E3-4CB5-819C-A3750A4D98FC}"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6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2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508"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62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92BB19F-FA50-41FD-9928-F504B09AF80C}"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fld>
            <a:endParaRPr lang="zh-CN" altLang="en-US" dirty="0"/>
          </a:p>
        </p:txBody>
      </p:sp>
      <p:sp>
        <p:nvSpPr>
          <p:cNvPr id="24579" name="Rectangle 2"/>
          <p:cNvSpPr>
            <a:spLocks noTextEdit="1"/>
          </p:cNvSpPr>
          <p:nvPr>
            <p:ph type="sldImg"/>
          </p:nvPr>
        </p:nvSpPr>
        <p:spPr>
          <a:solidFill>
            <a:srgbClr val="FFFFFF">
              <a:alpha val="100000"/>
            </a:srgbClr>
          </a:solidFill>
        </p:spPr>
      </p:sp>
      <p:sp>
        <p:nvSpPr>
          <p:cNvPr id="24580" name="Rectangle 3"/>
          <p:cNvSpPr/>
          <p:nvPr>
            <p:ph type="body" idx="1"/>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dirty="0"/>
              <a:t>欢迎辞</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Title and Diagram or Organization Char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1188" y="115888"/>
            <a:ext cx="8281987" cy="701675"/>
          </a:xfrm>
          <a:prstGeom prst="rect">
            <a:avLst/>
          </a:prstGeom>
        </p:spPr>
        <p:txBody>
          <a:bodyPr/>
          <a:lstStyle/>
          <a:p>
            <a:pPr fontAlgn="base"/>
            <a:r>
              <a:rPr lang="en-US" strike="noStrike" noProof="1"/>
              <a:t>Click to edit Master title style</a:t>
            </a:r>
            <a:endParaRPr lang="en-US" strike="noStrike" noProof="1"/>
          </a:p>
        </p:txBody>
      </p:sp>
      <p:sp>
        <p:nvSpPr>
          <p:cNvPr id="3" name="SmartArt Placeholder 2"/>
          <p:cNvSpPr>
            <a:spLocks noGrp="1"/>
          </p:cNvSpPr>
          <p:nvPr>
            <p:ph type="pic" idx="1"/>
          </p:nvPr>
        </p:nvSpPr>
        <p:spPr>
          <a:xfrm>
            <a:off x="684213" y="1125538"/>
            <a:ext cx="8270875" cy="511175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en-US" sz="2800" b="1" i="0" u="none" strike="noStrike" kern="0" cap="none" spc="0" normalizeH="0" baseline="0" noProof="0">
              <a:ln>
                <a:noFill/>
              </a:ln>
              <a:solidFill>
                <a:schemeClr val="hlink"/>
              </a:solidFill>
              <a:effectLst/>
              <a:uLnTx/>
              <a:uFillTx/>
              <a:latin typeface="+mn-lt"/>
              <a:ea typeface="+mn-ea"/>
              <a:cs typeface="+mn-cs"/>
            </a:endParaRPr>
          </a:p>
        </p:txBody>
      </p:sp>
      <p:sp>
        <p:nvSpPr>
          <p:cNvPr id="4" name="Footer Placeholder 3"/>
          <p:cNvSpPr>
            <a:spLocks noGrp="1"/>
          </p:cNvSpPr>
          <p:nvPr>
            <p:ph type="ftr" sz="quarter" idx="3"/>
          </p:nvPr>
        </p:nvSpPr>
        <p:spPr>
          <a:xfrm>
            <a:off x="1042988" y="6381750"/>
            <a:ext cx="7272338" cy="358775"/>
          </a:xfrm>
          <a:prstGeom prst="rect">
            <a:avLst/>
          </a:prstGeom>
        </p:spPr>
        <p:txBody>
          <a:bodyPr/>
          <a:lstStyle>
            <a:lvl1pPr algn="ctr" eaLnBrk="1" hangingPunct="1">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AU" sz="1800" b="0" i="0" u="none" strike="noStrike" kern="1200" cap="none" spc="0" normalizeH="0" baseline="0" noProof="0">
                <a:ln>
                  <a:noFill/>
                </a:ln>
                <a:solidFill>
                  <a:schemeClr val="accent2"/>
                </a:solidFill>
                <a:effectLst/>
                <a:uLnTx/>
                <a:uFillTx/>
                <a:latin typeface="+mn-lt"/>
                <a:ea typeface="+mn-ea"/>
                <a:cs typeface="+mn-cs"/>
              </a:rPr>
              <a:t>Copyright © 2012, Elsevier Inc. All rights reserved.</a:t>
            </a:r>
            <a:endParaRPr kumimoji="0" lang="en-AU" sz="1800" b="0" i="0" u="none" strike="noStrike" kern="1200" cap="none" spc="0" normalizeH="0" baseline="0" noProof="0">
              <a:ln>
                <a:noFill/>
              </a:ln>
              <a:solidFill>
                <a:schemeClr val="accent2"/>
              </a:solidFill>
              <a:effectLst/>
              <a:uLnTx/>
              <a:uFillTx/>
              <a:latin typeface="+mn-lt"/>
              <a:ea typeface="+mn-ea"/>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9" name="灯片编号占位符 8"/>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4" name="灯片编号占位符 3"/>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533400"/>
            <a:ext cx="6019800" cy="5715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dgm">
  <p:cSld name="Title and Diagram or Organization Char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1188" y="115888"/>
            <a:ext cx="8281987" cy="701675"/>
          </a:xfrm>
          <a:prstGeom prst="rect">
            <a:avLst/>
          </a:prstGeom>
        </p:spPr>
        <p:txBody>
          <a:bodyPr/>
          <a:lstStyle/>
          <a:p>
            <a:r>
              <a:rPr lang="en-US"/>
              <a:t>Click to edit Master title style</a:t>
            </a:r>
            <a:endParaRPr lang="en-US"/>
          </a:p>
        </p:txBody>
      </p:sp>
      <p:sp>
        <p:nvSpPr>
          <p:cNvPr id="3" name="SmartArt Placeholder 2"/>
          <p:cNvSpPr>
            <a:spLocks noGrp="1"/>
          </p:cNvSpPr>
          <p:nvPr>
            <p:ph type="pic" idx="1"/>
          </p:nvPr>
        </p:nvSpPr>
        <p:spPr>
          <a:xfrm>
            <a:off x="684213" y="1125538"/>
            <a:ext cx="8270875" cy="511175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en-US" sz="2800" b="1" i="0" u="none" strike="noStrike" kern="0" cap="none" spc="0" normalizeH="0" baseline="0" noProof="0">
              <a:ln>
                <a:noFill/>
              </a:ln>
              <a:solidFill>
                <a:schemeClr val="hlink"/>
              </a:solidFill>
              <a:effectLst/>
              <a:uLnTx/>
              <a:uFillTx/>
              <a:latin typeface="+mn-lt"/>
              <a:ea typeface="+mn-ea"/>
              <a:cs typeface="+mn-cs"/>
            </a:endParaRPr>
          </a:p>
        </p:txBody>
      </p:sp>
      <p:sp>
        <p:nvSpPr>
          <p:cNvPr id="4" name="Footer Placeholder 3"/>
          <p:cNvSpPr>
            <a:spLocks noGrp="1"/>
          </p:cNvSpPr>
          <p:nvPr>
            <p:ph type="ftr" sz="quarter" idx="3"/>
          </p:nvPr>
        </p:nvSpPr>
        <p:spPr>
          <a:xfrm>
            <a:off x="1042988" y="6381750"/>
            <a:ext cx="7272338" cy="358775"/>
          </a:xfrm>
          <a:prstGeom prst="rect">
            <a:avLst/>
          </a:prstGeom>
        </p:spPr>
        <p:txBody>
          <a:bodyPr/>
          <a:lstStyle>
            <a:lvl1pPr algn="ctr" eaLnBrk="1" hangingPunct="1">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AU" sz="1800" b="0" i="0" u="none" strike="noStrike" kern="1200" cap="none" spc="0" normalizeH="0" baseline="0" noProof="0">
                <a:ln>
                  <a:noFill/>
                </a:ln>
                <a:solidFill>
                  <a:schemeClr val="accent2"/>
                </a:solidFill>
                <a:effectLst/>
                <a:uLnTx/>
                <a:uFillTx/>
                <a:latin typeface="+mn-lt"/>
                <a:ea typeface="+mn-ea"/>
                <a:cs typeface="+mn-cs"/>
              </a:rPr>
              <a:t>Copyright © 2012, Elsevier Inc. All rights reserved.</a:t>
            </a:r>
            <a:endParaRPr kumimoji="0" lang="en-AU" sz="1800" b="0" i="0" u="none" strike="noStrike" kern="1200" cap="none" spc="0" normalizeH="0" baseline="0" noProof="0">
              <a:ln>
                <a:noFill/>
              </a:ln>
              <a:solidFill>
                <a:schemeClr val="accent2"/>
              </a:solidFill>
              <a:effectLst/>
              <a:uLnTx/>
              <a:uFillTx/>
              <a:latin typeface="+mn-lt"/>
              <a:ea typeface="+mn-ea"/>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bl">
  <p:cSld name="标题和表格">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01625" y="381000"/>
            <a:ext cx="8540750" cy="1143000"/>
          </a:xfrm>
          <a:prstGeom prst="rect">
            <a:avLst/>
          </a:prstGeo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301625" y="1752600"/>
            <a:ext cx="8540750" cy="4270375"/>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a:ln>
                <a:noFill/>
              </a:ln>
              <a:solidFill>
                <a:schemeClr val="hlink"/>
              </a:solidFill>
              <a:effectLst/>
              <a:uLnTx/>
              <a:uFillTx/>
              <a:latin typeface="+mn-lt"/>
              <a:ea typeface="+mn-ea"/>
              <a:cs typeface="+mn-cs"/>
            </a:endParaRPr>
          </a:p>
        </p:txBody>
      </p:sp>
      <p:sp>
        <p:nvSpPr>
          <p:cNvPr id="4" name="日期占位符 3"/>
          <p:cNvSpPr>
            <a:spLocks noGrp="1"/>
          </p:cNvSpPr>
          <p:nvPr>
            <p:ph type="dt" sz="half" idx="2"/>
          </p:nvPr>
        </p:nvSpPr>
        <p:spPr>
          <a:xfrm>
            <a:off x="301625" y="6172200"/>
            <a:ext cx="2289175"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3"/>
          </p:nvPr>
        </p:nvSpPr>
        <p:spPr>
          <a:xfrm>
            <a:off x="3124200" y="6172200"/>
            <a:ext cx="2895600"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4"/>
          </p:nvPr>
        </p:nvSpPr>
        <p:spPr>
          <a:xfrm>
            <a:off x="6553200" y="6172200"/>
            <a:ext cx="2289175"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41DFF3DE-CA92-4B08-B1C4-941A0785216B}" type="slidenum">
              <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rPr>
            </a:fld>
            <a:endPar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9" name="灯片编号占位符 8"/>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4" name="灯片编号占位符 3"/>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533400"/>
            <a:ext cx="6019800" cy="5715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timing>
    <p:tnLst>
      <p:par>
        <p:cTn id="1" dur="indefinite" restart="never" nodeType="tmRoot"/>
      </p:par>
    </p:tn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pitchFamily="2" charset="-122"/>
              </a:defRPr>
            </a:lvl1pPr>
          </a:lstStyle>
          <a:p>
            <a:r>
              <a:rPr lang="zh-CN" altLang="en-US"/>
              <a:t>单击此处编辑母版标题样式</a:t>
            </a:r>
            <a:endParaRPr lang="en-US"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pitchFamily="2" charset="-122"/>
              </a:defRPr>
            </a:lvl1pPr>
            <a:lvl2pPr>
              <a:lnSpc>
                <a:spcPct val="90000"/>
              </a:lnSpc>
              <a:defRPr>
                <a:ea typeface="华文中宋" panose="02010600040101010101" pitchFamily="2" charset="-122"/>
              </a:defRPr>
            </a:lvl2pPr>
            <a:lvl3pPr>
              <a:lnSpc>
                <a:spcPct val="90000"/>
              </a:lnSpc>
              <a:defRPr>
                <a:ea typeface="华文中宋" panose="02010600040101010101" pitchFamily="2" charset="-122"/>
              </a:defRPr>
            </a:lvl3pPr>
            <a:lvl4pPr>
              <a:lnSpc>
                <a:spcPct val="90000"/>
              </a:lnSpc>
              <a:defRPr>
                <a:ea typeface="华文中宋" panose="02010600040101010101" pitchFamily="2" charset="-122"/>
              </a:defRPr>
            </a:lvl4pPr>
            <a:lvl5pPr>
              <a:lnSpc>
                <a:spcPct val="90000"/>
              </a:lnSpc>
              <a:defRPr>
                <a:ea typeface="华文中宋"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4" Type="http://schemas.openxmlformats.org/officeDocument/2006/relationships/theme" Target="../theme/theme3.xml"/><Relationship Id="rId13" Type="http://schemas.openxmlformats.org/officeDocument/2006/relationships/image" Target="../media/image1.jpeg"/><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4" Type="http://schemas.openxmlformats.org/officeDocument/2006/relationships/theme" Target="../theme/theme4.xml"/><Relationship Id="rId13" Type="http://schemas.openxmlformats.org/officeDocument/2006/relationships/image" Target="../media/image1.jpeg"/><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slideLayout" Target="../slideLayouts/slideLayout56.xml"/><Relationship Id="rId7" Type="http://schemas.openxmlformats.org/officeDocument/2006/relationships/slideLayout" Target="../slideLayouts/slideLayout55.xml"/><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 Type="http://schemas.openxmlformats.org/officeDocument/2006/relationships/slideLayout" Target="../slideLayouts/slideLayout50.xml"/><Relationship Id="rId14" Type="http://schemas.openxmlformats.org/officeDocument/2006/relationships/theme" Target="../theme/theme5.xml"/><Relationship Id="rId13" Type="http://schemas.openxmlformats.org/officeDocument/2006/relationships/image" Target="../media/image1.jpeg"/><Relationship Id="rId12" Type="http://schemas.openxmlformats.org/officeDocument/2006/relationships/slideLayout" Target="../slideLayouts/slideLayout60.xml"/><Relationship Id="rId11" Type="http://schemas.openxmlformats.org/officeDocument/2006/relationships/slideLayout" Target="../slideLayouts/slideLayout59.xml"/><Relationship Id="rId10" Type="http://schemas.openxmlformats.org/officeDocument/2006/relationships/slideLayout" Target="../slideLayouts/slideLayout58.xml"/><Relationship Id="rId1" Type="http://schemas.openxmlformats.org/officeDocument/2006/relationships/slideLayout" Target="../slideLayouts/slideLayout49.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9.xml"/><Relationship Id="rId8" Type="http://schemas.openxmlformats.org/officeDocument/2006/relationships/slideLayout" Target="../slideLayouts/slideLayout68.xml"/><Relationship Id="rId7" Type="http://schemas.openxmlformats.org/officeDocument/2006/relationships/slideLayout" Target="../slideLayouts/slideLayout67.xml"/><Relationship Id="rId6" Type="http://schemas.openxmlformats.org/officeDocument/2006/relationships/slideLayout" Target="../slideLayouts/slideLayout66.xml"/><Relationship Id="rId5" Type="http://schemas.openxmlformats.org/officeDocument/2006/relationships/slideLayout" Target="../slideLayouts/slideLayout65.xml"/><Relationship Id="rId4" Type="http://schemas.openxmlformats.org/officeDocument/2006/relationships/slideLayout" Target="../slideLayouts/slideLayout64.xml"/><Relationship Id="rId3" Type="http://schemas.openxmlformats.org/officeDocument/2006/relationships/slideLayout" Target="../slideLayouts/slideLayout63.xml"/><Relationship Id="rId2" Type="http://schemas.openxmlformats.org/officeDocument/2006/relationships/slideLayout" Target="../slideLayouts/slideLayout62.xml"/><Relationship Id="rId16" Type="http://schemas.openxmlformats.org/officeDocument/2006/relationships/theme" Target="../theme/theme6.xml"/><Relationship Id="rId15" Type="http://schemas.openxmlformats.org/officeDocument/2006/relationships/image" Target="../media/image1.jpeg"/><Relationship Id="rId14" Type="http://schemas.openxmlformats.org/officeDocument/2006/relationships/slideLayout" Target="../slideLayouts/slideLayout74.xml"/><Relationship Id="rId13" Type="http://schemas.openxmlformats.org/officeDocument/2006/relationships/slideLayout" Target="../slideLayouts/slideLayout73.xml"/><Relationship Id="rId12" Type="http://schemas.openxmlformats.org/officeDocument/2006/relationships/slideLayout" Target="../slideLayouts/slideLayout72.xml"/><Relationship Id="rId11" Type="http://schemas.openxmlformats.org/officeDocument/2006/relationships/slideLayout" Target="../slideLayouts/slideLayout71.xml"/><Relationship Id="rId10" Type="http://schemas.openxmlformats.org/officeDocument/2006/relationships/slideLayout" Target="../slideLayouts/slideLayout70.xml"/><Relationship Id="rId1" Type="http://schemas.openxmlformats.org/officeDocument/2006/relationships/slideLayout" Target="../slideLayouts/slideLayout61.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83.xml"/><Relationship Id="rId8" Type="http://schemas.openxmlformats.org/officeDocument/2006/relationships/slideLayout" Target="../slideLayouts/slideLayout82.xml"/><Relationship Id="rId7" Type="http://schemas.openxmlformats.org/officeDocument/2006/relationships/slideLayout" Target="../slideLayouts/slideLayout81.xml"/><Relationship Id="rId6" Type="http://schemas.openxmlformats.org/officeDocument/2006/relationships/slideLayout" Target="../slideLayouts/slideLayout80.xml"/><Relationship Id="rId5" Type="http://schemas.openxmlformats.org/officeDocument/2006/relationships/slideLayout" Target="../slideLayouts/slideLayout79.xml"/><Relationship Id="rId4" Type="http://schemas.openxmlformats.org/officeDocument/2006/relationships/slideLayout" Target="../slideLayouts/slideLayout78.xml"/><Relationship Id="rId3" Type="http://schemas.openxmlformats.org/officeDocument/2006/relationships/slideLayout" Target="../slideLayouts/slideLayout77.xml"/><Relationship Id="rId2" Type="http://schemas.openxmlformats.org/officeDocument/2006/relationships/slideLayout" Target="../slideLayouts/slideLayout76.xml"/><Relationship Id="rId13" Type="http://schemas.openxmlformats.org/officeDocument/2006/relationships/theme" Target="../theme/theme7.xml"/><Relationship Id="rId12" Type="http://schemas.openxmlformats.org/officeDocument/2006/relationships/image" Target="../media/image2.jpeg"/><Relationship Id="rId11" Type="http://schemas.openxmlformats.org/officeDocument/2006/relationships/slideLayout" Target="../slideLayouts/slideLayout85.xml"/><Relationship Id="rId10" Type="http://schemas.openxmlformats.org/officeDocument/2006/relationships/slideLayout" Target="../slideLayouts/slideLayout84.xml"/><Relationship Id="rId1"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94.xml"/><Relationship Id="rId8" Type="http://schemas.openxmlformats.org/officeDocument/2006/relationships/slideLayout" Target="../slideLayouts/slideLayout93.xml"/><Relationship Id="rId7" Type="http://schemas.openxmlformats.org/officeDocument/2006/relationships/slideLayout" Target="../slideLayouts/slideLayout92.xml"/><Relationship Id="rId6" Type="http://schemas.openxmlformats.org/officeDocument/2006/relationships/slideLayout" Target="../slideLayouts/slideLayout91.xml"/><Relationship Id="rId5" Type="http://schemas.openxmlformats.org/officeDocument/2006/relationships/slideLayout" Target="../slideLayouts/slideLayout90.xml"/><Relationship Id="rId4" Type="http://schemas.openxmlformats.org/officeDocument/2006/relationships/slideLayout" Target="../slideLayouts/slideLayout89.xml"/><Relationship Id="rId3" Type="http://schemas.openxmlformats.org/officeDocument/2006/relationships/slideLayout" Target="../slideLayouts/slideLayout88.xml"/><Relationship Id="rId2" Type="http://schemas.openxmlformats.org/officeDocument/2006/relationships/slideLayout" Target="../slideLayouts/slideLayout87.xml"/><Relationship Id="rId14" Type="http://schemas.openxmlformats.org/officeDocument/2006/relationships/theme" Target="../theme/theme8.xml"/><Relationship Id="rId13" Type="http://schemas.openxmlformats.org/officeDocument/2006/relationships/image" Target="../media/image1.jpeg"/><Relationship Id="rId12" Type="http://schemas.openxmlformats.org/officeDocument/2006/relationships/slideLayout" Target="../slideLayouts/slideLayout97.xml"/><Relationship Id="rId11" Type="http://schemas.openxmlformats.org/officeDocument/2006/relationships/slideLayout" Target="../slideLayouts/slideLayout96.xml"/><Relationship Id="rId10" Type="http://schemas.openxmlformats.org/officeDocument/2006/relationships/slideLayout" Target="../slideLayouts/slideLayout95.xml"/><Relationship Id="rId1"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06.xml"/><Relationship Id="rId8" Type="http://schemas.openxmlformats.org/officeDocument/2006/relationships/slideLayout" Target="../slideLayouts/slideLayout105.xml"/><Relationship Id="rId7" Type="http://schemas.openxmlformats.org/officeDocument/2006/relationships/slideLayout" Target="../slideLayouts/slideLayout104.xml"/><Relationship Id="rId6" Type="http://schemas.openxmlformats.org/officeDocument/2006/relationships/slideLayout" Target="../slideLayouts/slideLayout103.xml"/><Relationship Id="rId5" Type="http://schemas.openxmlformats.org/officeDocument/2006/relationships/slideLayout" Target="../slideLayouts/slideLayout102.xml"/><Relationship Id="rId4" Type="http://schemas.openxmlformats.org/officeDocument/2006/relationships/slideLayout" Target="../slideLayouts/slideLayout101.xml"/><Relationship Id="rId3" Type="http://schemas.openxmlformats.org/officeDocument/2006/relationships/slideLayout" Target="../slideLayouts/slideLayout100.xml"/><Relationship Id="rId2" Type="http://schemas.openxmlformats.org/officeDocument/2006/relationships/slideLayout" Target="../slideLayouts/slideLayout99.xml"/><Relationship Id="rId14" Type="http://schemas.openxmlformats.org/officeDocument/2006/relationships/theme" Target="../theme/theme9.xml"/><Relationship Id="rId13" Type="http://schemas.openxmlformats.org/officeDocument/2006/relationships/image" Target="../media/image1.jpeg"/><Relationship Id="rId12" Type="http://schemas.openxmlformats.org/officeDocument/2006/relationships/slideLayout" Target="../slideLayouts/slideLayout109.xml"/><Relationship Id="rId11" Type="http://schemas.openxmlformats.org/officeDocument/2006/relationships/slideLayout" Target="../slideLayouts/slideLayout108.xml"/><Relationship Id="rId10" Type="http://schemas.openxmlformats.org/officeDocument/2006/relationships/slideLayout" Target="../slideLayouts/slideLayout107.xml"/><Relationship Id="rId1" Type="http://schemas.openxmlformats.org/officeDocument/2006/relationships/slideLayout" Target="../slideLayouts/slideLayout98.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18.xml"/><Relationship Id="rId8" Type="http://schemas.openxmlformats.org/officeDocument/2006/relationships/slideLayout" Target="../slideLayouts/slideLayout117.xml"/><Relationship Id="rId7" Type="http://schemas.openxmlformats.org/officeDocument/2006/relationships/slideLayout" Target="../slideLayouts/slideLayout116.xml"/><Relationship Id="rId6" Type="http://schemas.openxmlformats.org/officeDocument/2006/relationships/slideLayout" Target="../slideLayouts/slideLayout115.xml"/><Relationship Id="rId5" Type="http://schemas.openxmlformats.org/officeDocument/2006/relationships/slideLayout" Target="../slideLayouts/slideLayout114.xml"/><Relationship Id="rId4" Type="http://schemas.openxmlformats.org/officeDocument/2006/relationships/slideLayout" Target="../slideLayouts/slideLayout113.xml"/><Relationship Id="rId3" Type="http://schemas.openxmlformats.org/officeDocument/2006/relationships/slideLayout" Target="../slideLayouts/slideLayout112.xml"/><Relationship Id="rId2" Type="http://schemas.openxmlformats.org/officeDocument/2006/relationships/slideLayout" Target="../slideLayouts/slideLayout111.xml"/><Relationship Id="rId14" Type="http://schemas.openxmlformats.org/officeDocument/2006/relationships/theme" Target="../theme/theme10.xml"/><Relationship Id="rId13" Type="http://schemas.openxmlformats.org/officeDocument/2006/relationships/image" Target="../media/image1.jpeg"/><Relationship Id="rId12" Type="http://schemas.openxmlformats.org/officeDocument/2006/relationships/slideLayout" Target="../slideLayouts/slideLayout121.xml"/><Relationship Id="rId11" Type="http://schemas.openxmlformats.org/officeDocument/2006/relationships/slideLayout" Target="../slideLayouts/slideLayout120.xml"/><Relationship Id="rId10" Type="http://schemas.openxmlformats.org/officeDocument/2006/relationships/slideLayout" Target="../slideLayouts/slideLayout119.xml"/><Relationship Id="rId1" Type="http://schemas.openxmlformats.org/officeDocument/2006/relationships/slideLayout" Target="../slideLayouts/slideLayout1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4"/>
          <a:stretch>
            <a:fillRect/>
          </a:stretch>
        </a:blipFill>
        <a:effectLst/>
      </p:bgPr>
    </p:bg>
    <p:spTree>
      <p:nvGrpSpPr>
        <p:cNvPr id="1" name=""/>
        <p:cNvGrpSpPr/>
        <p:nvPr/>
      </p:nvGrpSpPr>
      <p:grpSpPr/>
      <p:sp>
        <p:nvSpPr>
          <p:cNvPr id="1026"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2050" name="Rectangle 3"/>
          <p:cNvSpPr>
            <a:spLocks noGrp="1"/>
          </p:cNvSpPr>
          <p:nvPr>
            <p:ph type="body" idx="1"/>
          </p:nvPr>
        </p:nvSpPr>
        <p:spPr>
          <a:xfrm>
            <a:off x="457200" y="1447800"/>
            <a:ext cx="8229600" cy="48006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51" name="Rectangle 2"/>
          <p:cNvSpPr>
            <a:spLocks noGrp="1"/>
          </p:cNvSpPr>
          <p:nvPr>
            <p:ph type="title"/>
          </p:nvPr>
        </p:nvSpPr>
        <p:spPr>
          <a:xfrm>
            <a:off x="457200" y="533400"/>
            <a:ext cx="7696200" cy="563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2" name="Rectangle 4"/>
          <p:cNvSpPr>
            <a:spLocks noGrp="1" noChangeArrowheads="1"/>
          </p:cNvSpPr>
          <p:nvPr>
            <p:ph type="dt" sz="half" idx="2"/>
          </p:nvPr>
        </p:nvSpPr>
        <p:spPr bwMode="auto">
          <a:xfrm>
            <a:off x="457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2053" name="Rectangle 5"/>
          <p:cNvSpPr>
            <a:spLocks noGrp="1" noChangeArrowheads="1"/>
          </p:cNvSpPr>
          <p:nvPr>
            <p:ph type="ftr" sz="quarter" idx="3"/>
          </p:nvPr>
        </p:nvSpPr>
        <p:spPr bwMode="auto">
          <a:xfrm>
            <a:off x="3124200" y="6477000"/>
            <a:ext cx="2895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2054" name="Rectangle 6"/>
          <p:cNvSpPr>
            <a:spLocks noGrp="1" noChangeArrowheads="1"/>
          </p:cNvSpPr>
          <p:nvPr>
            <p:ph type="sldNum" sz="quarter" idx="4"/>
          </p:nvPr>
        </p:nvSpPr>
        <p:spPr bwMode="auto">
          <a:xfrm>
            <a:off x="6553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9754A071-370F-4713-BF73-16FD098A064E}"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3074"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4098"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iming>
    <p:tnLst>
      <p:par>
        <p:cTn id="1" dur="indefinite" restart="never" nodeType="tmRoot"/>
      </p:par>
    </p:tnLst>
  </p:timing>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5122"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p:sp>
        <p:nvSpPr>
          <p:cNvPr id="6146"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7170" name="Rectangle 3"/>
          <p:cNvSpPr>
            <a:spLocks noGrp="1"/>
          </p:cNvSpPr>
          <p:nvPr>
            <p:ph type="body" idx="1"/>
          </p:nvPr>
        </p:nvSpPr>
        <p:spPr>
          <a:xfrm>
            <a:off x="457200" y="1447800"/>
            <a:ext cx="8229600" cy="48006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171" name="Rectangle 2"/>
          <p:cNvSpPr>
            <a:spLocks noGrp="1"/>
          </p:cNvSpPr>
          <p:nvPr>
            <p:ph type="title"/>
          </p:nvPr>
        </p:nvSpPr>
        <p:spPr>
          <a:xfrm>
            <a:off x="457200" y="533400"/>
            <a:ext cx="7696200" cy="563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2" name="Rectangle 4"/>
          <p:cNvSpPr>
            <a:spLocks noGrp="1" noChangeArrowheads="1"/>
          </p:cNvSpPr>
          <p:nvPr>
            <p:ph type="dt" sz="half" idx="2"/>
          </p:nvPr>
        </p:nvSpPr>
        <p:spPr bwMode="auto">
          <a:xfrm>
            <a:off x="457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2053" name="Rectangle 5"/>
          <p:cNvSpPr>
            <a:spLocks noGrp="1" noChangeArrowheads="1"/>
          </p:cNvSpPr>
          <p:nvPr>
            <p:ph type="ftr" sz="quarter" idx="3"/>
          </p:nvPr>
        </p:nvSpPr>
        <p:spPr bwMode="auto">
          <a:xfrm>
            <a:off x="3124200" y="6477000"/>
            <a:ext cx="2895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2054" name="Rectangle 6"/>
          <p:cNvSpPr>
            <a:spLocks noGrp="1" noChangeArrowheads="1"/>
          </p:cNvSpPr>
          <p:nvPr>
            <p:ph type="sldNum" sz="quarter" idx="4"/>
          </p:nvPr>
        </p:nvSpPr>
        <p:spPr bwMode="auto">
          <a:xfrm>
            <a:off x="6553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720CF9C2-A24B-4FB9-9921-70EC6F886315}"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8194"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9218"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Lst>
  <p:timing>
    <p:tnLst>
      <p:par>
        <p:cTn id="1" dur="indefinite" restart="never" nodeType="tmRoot"/>
      </p:par>
    </p:tnLst>
  </p:timing>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10242" name="Line 87"/>
          <p:cNvSpPr/>
          <p:nvPr/>
        </p:nvSpPr>
        <p:spPr>
          <a:xfrm>
            <a:off x="225425" y="1054100"/>
            <a:ext cx="7461250" cy="0"/>
          </a:xfrm>
          <a:prstGeom prst="line">
            <a:avLst/>
          </a:prstGeom>
          <a:ln w="38100" cap="flat" cmpd="sng">
            <a:solidFill>
              <a:srgbClr val="003366"/>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tags" Target="../tags/tag4.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tags" Target="../tags/tag6.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tags" Target="../tags/tag11.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tags" Target="../tags/tag14.xml"/><Relationship Id="rId3" Type="http://schemas.openxmlformats.org/officeDocument/2006/relationships/image" Target="../media/image6.png"/><Relationship Id="rId2" Type="http://schemas.openxmlformats.org/officeDocument/2006/relationships/tags" Target="../tags/tag13.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wmf"/><Relationship Id="rId2" Type="http://schemas.openxmlformats.org/officeDocument/2006/relationships/tags" Target="../tags/tag16.xml"/><Relationship Id="rId1" Type="http://schemas.openxmlformats.org/officeDocument/2006/relationships/tags" Target="../tags/tag15.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wmf"/><Relationship Id="rId2" Type="http://schemas.openxmlformats.org/officeDocument/2006/relationships/tags" Target="../tags/tag18.xml"/><Relationship Id="rId1" Type="http://schemas.openxmlformats.org/officeDocument/2006/relationships/tags" Target="../tags/tag17.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tags" Target="../tags/tag21.xml"/><Relationship Id="rId3" Type="http://schemas.openxmlformats.org/officeDocument/2006/relationships/image" Target="../media/image9.png"/><Relationship Id="rId2" Type="http://schemas.openxmlformats.org/officeDocument/2006/relationships/tags" Target="../tags/tag20.xml"/><Relationship Id="rId1" Type="http://schemas.openxmlformats.org/officeDocument/2006/relationships/tags" Target="../tags/tag19.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tags" Target="../tags/tag27.xml"/><Relationship Id="rId7" Type="http://schemas.openxmlformats.org/officeDocument/2006/relationships/image" Target="../media/image14.png"/><Relationship Id="rId6" Type="http://schemas.openxmlformats.org/officeDocument/2006/relationships/tags" Target="../tags/tag26.xml"/><Relationship Id="rId5" Type="http://schemas.openxmlformats.org/officeDocument/2006/relationships/image" Target="../media/image13.png"/><Relationship Id="rId4" Type="http://schemas.openxmlformats.org/officeDocument/2006/relationships/tags" Target="../tags/tag25.xml"/><Relationship Id="rId3" Type="http://schemas.openxmlformats.org/officeDocument/2006/relationships/image" Target="../media/image12.png"/><Relationship Id="rId2" Type="http://schemas.openxmlformats.org/officeDocument/2006/relationships/tags" Target="../tags/tag24.xml"/><Relationship Id="rId10" Type="http://schemas.openxmlformats.org/officeDocument/2006/relationships/slideLayout" Target="../slideLayouts/slideLayout2.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tags" Target="../tags/tag29.xml"/><Relationship Id="rId1" Type="http://schemas.openxmlformats.org/officeDocument/2006/relationships/tags" Target="../tags/tag2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20.xml.rels><?xml version="1.0" encoding="UTF-8" standalone="yes"?>
<Relationships xmlns="http://schemas.openxmlformats.org/package/2006/relationships"><Relationship Id="rId9" Type="http://schemas.openxmlformats.org/officeDocument/2006/relationships/image" Target="../media/image19.wmf"/><Relationship Id="rId8" Type="http://schemas.openxmlformats.org/officeDocument/2006/relationships/oleObject" Target="../embeddings/oleObject2.bin"/><Relationship Id="rId7" Type="http://schemas.openxmlformats.org/officeDocument/2006/relationships/tags" Target="../tags/tag34.xml"/><Relationship Id="rId6" Type="http://schemas.openxmlformats.org/officeDocument/2006/relationships/image" Target="../media/image18.wmf"/><Relationship Id="rId5" Type="http://schemas.openxmlformats.org/officeDocument/2006/relationships/oleObject" Target="../embeddings/oleObject1.bin"/><Relationship Id="rId4" Type="http://schemas.openxmlformats.org/officeDocument/2006/relationships/tags" Target="../tags/tag33.xml"/><Relationship Id="rId3" Type="http://schemas.openxmlformats.org/officeDocument/2006/relationships/image" Target="../media/image17.png"/><Relationship Id="rId2" Type="http://schemas.openxmlformats.org/officeDocument/2006/relationships/tags" Target="../tags/tag32.xml"/><Relationship Id="rId11" Type="http://schemas.openxmlformats.org/officeDocument/2006/relationships/vmlDrawing" Target="../drawings/vmlDrawing1.vml"/><Relationship Id="rId10" Type="http://schemas.openxmlformats.org/officeDocument/2006/relationships/slideLayout" Target="../slideLayouts/slideLayout2.xml"/><Relationship Id="rId1" Type="http://schemas.openxmlformats.org/officeDocument/2006/relationships/tags" Target="../tags/tag31.xml"/></Relationships>
</file>

<file path=ppt/slides/_rels/slide21.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20.wmf"/><Relationship Id="rId3" Type="http://schemas.openxmlformats.org/officeDocument/2006/relationships/oleObject" Target="../embeddings/oleObject3.bin"/><Relationship Id="rId2" Type="http://schemas.openxmlformats.org/officeDocument/2006/relationships/tags" Target="../tags/tag36.xml"/><Relationship Id="rId1" Type="http://schemas.openxmlformats.org/officeDocument/2006/relationships/tags" Target="../tags/tag35.xml"/></Relationships>
</file>

<file path=ppt/slides/_rels/slide22.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2.xml"/><Relationship Id="rId7" Type="http://schemas.openxmlformats.org/officeDocument/2006/relationships/image" Target="../media/image22.wmf"/><Relationship Id="rId6" Type="http://schemas.openxmlformats.org/officeDocument/2006/relationships/oleObject" Target="../embeddings/oleObject5.bin"/><Relationship Id="rId5" Type="http://schemas.openxmlformats.org/officeDocument/2006/relationships/tags" Target="../tags/tag39.xml"/><Relationship Id="rId4" Type="http://schemas.openxmlformats.org/officeDocument/2006/relationships/image" Target="../media/image21.wmf"/><Relationship Id="rId3" Type="http://schemas.openxmlformats.org/officeDocument/2006/relationships/oleObject" Target="../embeddings/oleObject4.bin"/><Relationship Id="rId2" Type="http://schemas.openxmlformats.org/officeDocument/2006/relationships/tags" Target="../tags/tag38.xml"/><Relationship Id="rId1" Type="http://schemas.openxmlformats.org/officeDocument/2006/relationships/tags" Target="../tags/tag37.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tags" Target="../tags/tag42.xml"/><Relationship Id="rId3" Type="http://schemas.openxmlformats.org/officeDocument/2006/relationships/image" Target="../media/image23.png"/><Relationship Id="rId2" Type="http://schemas.openxmlformats.org/officeDocument/2006/relationships/tags" Target="../tags/tag41.xml"/><Relationship Id="rId1" Type="http://schemas.openxmlformats.org/officeDocument/2006/relationships/tags" Target="../tags/tag40.xml"/></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27.png"/><Relationship Id="rId6" Type="http://schemas.openxmlformats.org/officeDocument/2006/relationships/tags" Target="../tags/tag46.xml"/><Relationship Id="rId5" Type="http://schemas.openxmlformats.org/officeDocument/2006/relationships/image" Target="../media/image26.png"/><Relationship Id="rId4" Type="http://schemas.openxmlformats.org/officeDocument/2006/relationships/tags" Target="../tags/tag45.xml"/><Relationship Id="rId3" Type="http://schemas.openxmlformats.org/officeDocument/2006/relationships/image" Target="../media/image25.png"/><Relationship Id="rId2" Type="http://schemas.openxmlformats.org/officeDocument/2006/relationships/tags" Target="../tags/tag44.xml"/><Relationship Id="rId1" Type="http://schemas.openxmlformats.org/officeDocument/2006/relationships/tags" Target="../tags/tag4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tags" Target="../tags/tag51.xml"/><Relationship Id="rId1" Type="http://schemas.openxmlformats.org/officeDocument/2006/relationships/tags" Target="../tags/tag50.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tags" Target="../tags/tag53.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0.png"/><Relationship Id="rId2" Type="http://schemas.openxmlformats.org/officeDocument/2006/relationships/tags" Target="../tags/tag55.xml"/><Relationship Id="rId1" Type="http://schemas.openxmlformats.org/officeDocument/2006/relationships/tags" Target="../tags/tag54.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tags" Target="../tags/tag57.xml"/></Relationships>
</file>

<file path=ppt/slides/_rels/slide34.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9" Type="http://schemas.openxmlformats.org/officeDocument/2006/relationships/slideLayout" Target="../slideLayouts/slideLayout2.xml"/><Relationship Id="rId28" Type="http://schemas.openxmlformats.org/officeDocument/2006/relationships/image" Target="../media/image33.png"/><Relationship Id="rId27" Type="http://schemas.openxmlformats.org/officeDocument/2006/relationships/tags" Target="../tags/tag83.xml"/><Relationship Id="rId26" Type="http://schemas.openxmlformats.org/officeDocument/2006/relationships/image" Target="../media/image32.png"/><Relationship Id="rId25" Type="http://schemas.openxmlformats.org/officeDocument/2006/relationships/tags" Target="../tags/tag82.xml"/><Relationship Id="rId24" Type="http://schemas.openxmlformats.org/officeDocument/2006/relationships/tags" Target="../tags/tag81.xml"/><Relationship Id="rId23" Type="http://schemas.openxmlformats.org/officeDocument/2006/relationships/tags" Target="../tags/tag80.xml"/><Relationship Id="rId22" Type="http://schemas.openxmlformats.org/officeDocument/2006/relationships/tags" Target="../tags/tag79.xml"/><Relationship Id="rId21" Type="http://schemas.openxmlformats.org/officeDocument/2006/relationships/tags" Target="../tags/tag78.xml"/><Relationship Id="rId20" Type="http://schemas.openxmlformats.org/officeDocument/2006/relationships/tags" Target="../tags/tag77.xml"/><Relationship Id="rId2" Type="http://schemas.openxmlformats.org/officeDocument/2006/relationships/tags" Target="../tags/tag59.xml"/><Relationship Id="rId19" Type="http://schemas.openxmlformats.org/officeDocument/2006/relationships/tags" Target="../tags/tag76.xml"/><Relationship Id="rId18" Type="http://schemas.openxmlformats.org/officeDocument/2006/relationships/tags" Target="../tags/tag75.xml"/><Relationship Id="rId17" Type="http://schemas.openxmlformats.org/officeDocument/2006/relationships/tags" Target="../tags/tag74.xml"/><Relationship Id="rId16" Type="http://schemas.openxmlformats.org/officeDocument/2006/relationships/tags" Target="../tags/tag73.xml"/><Relationship Id="rId15" Type="http://schemas.openxmlformats.org/officeDocument/2006/relationships/tags" Target="../tags/tag72.xml"/><Relationship Id="rId14" Type="http://schemas.openxmlformats.org/officeDocument/2006/relationships/tags" Target="../tags/tag71.xml"/><Relationship Id="rId13" Type="http://schemas.openxmlformats.org/officeDocument/2006/relationships/tags" Target="../tags/tag70.xml"/><Relationship Id="rId12" Type="http://schemas.openxmlformats.org/officeDocument/2006/relationships/tags" Target="../tags/tag69.xml"/><Relationship Id="rId11" Type="http://schemas.openxmlformats.org/officeDocument/2006/relationships/tags" Target="../tags/tag68.xml"/><Relationship Id="rId10" Type="http://schemas.openxmlformats.org/officeDocument/2006/relationships/tags" Target="../tags/tag67.xml"/><Relationship Id="rId1" Type="http://schemas.openxmlformats.org/officeDocument/2006/relationships/tags" Target="../tags/tag58.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tags" Target="../tags/tag84.xml"/></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tags" Target="../tags/tag86.xml"/><Relationship Id="rId1" Type="http://schemas.openxmlformats.org/officeDocument/2006/relationships/tags" Target="../tags/tag85.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7.png"/><Relationship Id="rId3" Type="http://schemas.openxmlformats.org/officeDocument/2006/relationships/tags" Target="../tags/tag90.xml"/><Relationship Id="rId2" Type="http://schemas.openxmlformats.org/officeDocument/2006/relationships/image" Target="../media/image36.png"/><Relationship Id="rId1" Type="http://schemas.openxmlformats.org/officeDocument/2006/relationships/tags" Target="../tags/tag89.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tags" Target="../tags/tag9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9.png"/><Relationship Id="rId2" Type="http://schemas.openxmlformats.org/officeDocument/2006/relationships/tags" Target="../tags/tag95.xml"/><Relationship Id="rId1" Type="http://schemas.openxmlformats.org/officeDocument/2006/relationships/tags" Target="../tags/tag94.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tags" Target="../tags/tag96.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2.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image" Target="../media/image44.png"/></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6.png"/><Relationship Id="rId2" Type="http://schemas.openxmlformats.org/officeDocument/2006/relationships/tags" Target="../tags/tag99.xml"/><Relationship Id="rId1" Type="http://schemas.openxmlformats.org/officeDocument/2006/relationships/tags" Target="../tags/tag98.xml"/></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7.png"/><Relationship Id="rId2" Type="http://schemas.openxmlformats.org/officeDocument/2006/relationships/tags" Target="../tags/tag101.xml"/><Relationship Id="rId1" Type="http://schemas.openxmlformats.org/officeDocument/2006/relationships/tags" Target="../tags/tag10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0.png"/><Relationship Id="rId2" Type="http://schemas.openxmlformats.org/officeDocument/2006/relationships/tags" Target="../tags/tag103.xml"/><Relationship Id="rId1" Type="http://schemas.openxmlformats.org/officeDocument/2006/relationships/tags" Target="../tags/tag10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4.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1.png"/><Relationship Id="rId2" Type="http://schemas.openxmlformats.org/officeDocument/2006/relationships/tags" Target="../tags/tag111.xml"/><Relationship Id="rId1" Type="http://schemas.openxmlformats.org/officeDocument/2006/relationships/tags" Target="../tags/tag110.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2.xml"/></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2.png"/><Relationship Id="rId2" Type="http://schemas.openxmlformats.org/officeDocument/2006/relationships/tags" Target="../tags/tag114.xml"/><Relationship Id="rId1" Type="http://schemas.openxmlformats.org/officeDocument/2006/relationships/tags" Target="../tags/tag113.xml"/></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3.png"/><Relationship Id="rId2" Type="http://schemas.openxmlformats.org/officeDocument/2006/relationships/tags" Target="../tags/tag116.xml"/><Relationship Id="rId1" Type="http://schemas.openxmlformats.org/officeDocument/2006/relationships/tags" Target="../tags/tag115.xml"/></Relationships>
</file>

<file path=ppt/slides/_rels/slide65.xml.rels><?xml version="1.0" encoding="UTF-8" standalone="yes"?>
<Relationships xmlns="http://schemas.openxmlformats.org/package/2006/relationships"><Relationship Id="rId9" Type="http://schemas.openxmlformats.org/officeDocument/2006/relationships/image" Target="../media/image57.png"/><Relationship Id="rId8" Type="http://schemas.openxmlformats.org/officeDocument/2006/relationships/tags" Target="../tags/tag121.xml"/><Relationship Id="rId7" Type="http://schemas.openxmlformats.org/officeDocument/2006/relationships/image" Target="../media/image56.png"/><Relationship Id="rId6" Type="http://schemas.openxmlformats.org/officeDocument/2006/relationships/tags" Target="../tags/tag120.xml"/><Relationship Id="rId5" Type="http://schemas.openxmlformats.org/officeDocument/2006/relationships/image" Target="../media/image55.png"/><Relationship Id="rId4" Type="http://schemas.openxmlformats.org/officeDocument/2006/relationships/tags" Target="../tags/tag119.xml"/><Relationship Id="rId3" Type="http://schemas.openxmlformats.org/officeDocument/2006/relationships/image" Target="../media/image54.png"/><Relationship Id="rId2" Type="http://schemas.openxmlformats.org/officeDocument/2006/relationships/tags" Target="../tags/tag118.xml"/><Relationship Id="rId10" Type="http://schemas.openxmlformats.org/officeDocument/2006/relationships/slideLayout" Target="../slideLayouts/slideLayout2.xml"/><Relationship Id="rId1" Type="http://schemas.openxmlformats.org/officeDocument/2006/relationships/tags" Target="../tags/tag117.xml"/></Relationships>
</file>

<file path=ppt/slides/_rels/slide66.xml.rels><?xml version="1.0" encoding="UTF-8" standalone="yes"?>
<Relationships xmlns="http://schemas.openxmlformats.org/package/2006/relationships"><Relationship Id="rId9" Type="http://schemas.openxmlformats.org/officeDocument/2006/relationships/image" Target="../media/image61.png"/><Relationship Id="rId8" Type="http://schemas.openxmlformats.org/officeDocument/2006/relationships/tags" Target="../tags/tag126.xml"/><Relationship Id="rId7" Type="http://schemas.openxmlformats.org/officeDocument/2006/relationships/image" Target="../media/image60.png"/><Relationship Id="rId6" Type="http://schemas.openxmlformats.org/officeDocument/2006/relationships/tags" Target="../tags/tag125.xml"/><Relationship Id="rId5" Type="http://schemas.openxmlformats.org/officeDocument/2006/relationships/image" Target="../media/image59.png"/><Relationship Id="rId4" Type="http://schemas.openxmlformats.org/officeDocument/2006/relationships/tags" Target="../tags/tag124.xml"/><Relationship Id="rId3" Type="http://schemas.openxmlformats.org/officeDocument/2006/relationships/image" Target="../media/image58.png"/><Relationship Id="rId2" Type="http://schemas.openxmlformats.org/officeDocument/2006/relationships/tags" Target="../tags/tag123.xml"/><Relationship Id="rId12" Type="http://schemas.openxmlformats.org/officeDocument/2006/relationships/slideLayout" Target="../slideLayouts/slideLayout2.xml"/><Relationship Id="rId11" Type="http://schemas.openxmlformats.org/officeDocument/2006/relationships/image" Target="../media/image62.png"/><Relationship Id="rId10" Type="http://schemas.openxmlformats.org/officeDocument/2006/relationships/tags" Target="../tags/tag127.xml"/><Relationship Id="rId1" Type="http://schemas.openxmlformats.org/officeDocument/2006/relationships/tags" Target="../tags/tag12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8.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9.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0.xml"/></Relationships>
</file>

<file path=ppt/slides/_rels/slide7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6.png"/><Relationship Id="rId7" Type="http://schemas.openxmlformats.org/officeDocument/2006/relationships/tags" Target="../tags/tag134.xml"/><Relationship Id="rId6" Type="http://schemas.openxmlformats.org/officeDocument/2006/relationships/image" Target="../media/image65.png"/><Relationship Id="rId5" Type="http://schemas.openxmlformats.org/officeDocument/2006/relationships/tags" Target="../tags/tag133.xml"/><Relationship Id="rId4" Type="http://schemas.openxmlformats.org/officeDocument/2006/relationships/image" Target="../media/image64.png"/><Relationship Id="rId3" Type="http://schemas.openxmlformats.org/officeDocument/2006/relationships/tags" Target="../tags/tag132.xml"/><Relationship Id="rId2" Type="http://schemas.openxmlformats.org/officeDocument/2006/relationships/image" Target="../media/image63.png"/><Relationship Id="rId1" Type="http://schemas.openxmlformats.org/officeDocument/2006/relationships/tags" Target="../tags/tag131.xml"/></Relationships>
</file>

<file path=ppt/slides/_rels/slide7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38.xml"/><Relationship Id="rId5" Type="http://schemas.openxmlformats.org/officeDocument/2006/relationships/image" Target="../media/image68.png"/><Relationship Id="rId4" Type="http://schemas.openxmlformats.org/officeDocument/2006/relationships/tags" Target="../tags/tag137.xml"/><Relationship Id="rId3" Type="http://schemas.openxmlformats.org/officeDocument/2006/relationships/image" Target="../media/image67.png"/><Relationship Id="rId2" Type="http://schemas.openxmlformats.org/officeDocument/2006/relationships/tags" Target="../tags/tag136.xml"/><Relationship Id="rId1" Type="http://schemas.openxmlformats.org/officeDocument/2006/relationships/tags" Target="../tags/tag135.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9.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0.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1.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9.png"/><Relationship Id="rId1" Type="http://schemas.openxmlformats.org/officeDocument/2006/relationships/tags" Target="../tags/tag14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3.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0.png"/><Relationship Id="rId1" Type="http://schemas.openxmlformats.org/officeDocument/2006/relationships/tags" Target="../tags/tag144.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tags" Target="../tags/tag145.xml"/></Relationships>
</file>

<file path=ppt/slides/_rels/slide79.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oleObject" Target="../embeddings/oleObject7.bin"/><Relationship Id="rId3" Type="http://schemas.openxmlformats.org/officeDocument/2006/relationships/image" Target="../media/image72.wmf"/><Relationship Id="rId2" Type="http://schemas.openxmlformats.org/officeDocument/2006/relationships/oleObject" Target="../embeddings/oleObject6.bin"/><Relationship Id="rId1" Type="http://schemas.openxmlformats.org/officeDocument/2006/relationships/tags" Target="../tags/tag146.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3.png"/><Relationship Id="rId1" Type="http://schemas.openxmlformats.org/officeDocument/2006/relationships/tags" Target="../tags/tag147.xml"/></Relationships>
</file>

<file path=ppt/slides/_rels/slide8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4.png"/><Relationship Id="rId2" Type="http://schemas.openxmlformats.org/officeDocument/2006/relationships/tags" Target="../tags/tag149.xml"/><Relationship Id="rId1" Type="http://schemas.openxmlformats.org/officeDocument/2006/relationships/tags" Target="../tags/tag148.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0.xml"/></Relationships>
</file>

<file path=ppt/slides/_rels/slide8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5.png"/><Relationship Id="rId2" Type="http://schemas.openxmlformats.org/officeDocument/2006/relationships/tags" Target="../tags/tag152.xml"/><Relationship Id="rId1" Type="http://schemas.openxmlformats.org/officeDocument/2006/relationships/tags" Target="../tags/tag151.xml"/></Relationships>
</file>

<file path=ppt/slides/_rels/slide8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6.png"/><Relationship Id="rId2" Type="http://schemas.openxmlformats.org/officeDocument/2006/relationships/tags" Target="../tags/tag154.xml"/><Relationship Id="rId1" Type="http://schemas.openxmlformats.org/officeDocument/2006/relationships/tags" Target="../tags/tag153.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5.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8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image" Target="../media/image78.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1.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243205" y="1917065"/>
            <a:ext cx="8632825" cy="1599565"/>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br>
              <a:rPr lang="zh-CN" altLang="en-US" sz="32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br>
            <a:r>
              <a:rPr lang="zh-CN" altLang="en-US" sz="6600" b="1" kern="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sym typeface="+mn-ea"/>
              </a:rPr>
              <a:t>计算机系统结构</a:t>
            </a:r>
            <a:endParaRPr lang="zh-CN" altLang="en-US" sz="6600" b="1" kern="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5698" name="Rectangle 2"/>
          <p:cNvSpPr>
            <a:spLocks noGrp="1" noChangeArrowheads="1"/>
          </p:cNvSpPr>
          <p:nvPr>
            <p:ph type="ctrTitle"/>
          </p:nvPr>
        </p:nvSpPr>
        <p:spPr>
          <a:xfrm>
            <a:off x="971550" y="2060575"/>
            <a:ext cx="7772400" cy="1944688"/>
          </a:xfrm>
        </p:spPr>
        <p:txBody>
          <a:bodyPr/>
          <a:lstStyle/>
          <a:p>
            <a:pPr marL="0" marR="0" lvl="0" indent="0" algn="l" defTabSz="914400" rtl="0" eaLnBrk="1" fontAlgn="base" latinLnBrk="0" hangingPunct="1">
              <a:lnSpc>
                <a:spcPct val="140000"/>
              </a:lnSpc>
              <a:spcBef>
                <a:spcPct val="0"/>
              </a:spcBef>
              <a:spcAft>
                <a:spcPct val="0"/>
              </a:spcAft>
              <a:buClrTx/>
              <a:buSzTx/>
              <a:buFontTx/>
              <a:buNone/>
              <a:defRPr/>
            </a:pPr>
            <a:r>
              <a:rPr kumimoji="0" lang="zh-CN" altLang="en-US" sz="5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第</a:t>
            </a:r>
            <a:r>
              <a:rPr kumimoji="0" lang="en-US" altLang="zh-CN" sz="5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7</a:t>
            </a:r>
            <a:r>
              <a:rPr kumimoji="0" lang="zh-CN" altLang="en-US" sz="5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章 互连</a:t>
            </a:r>
            <a:r>
              <a:rPr kumimoji="0" lang="zh-CN" altLang="en-US" sz="5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网络</a:t>
            </a:r>
            <a:endParaRPr kumimoji="0" lang="zh-CN" altLang="en-US" sz="5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361950" y="266700"/>
            <a:ext cx="7772400" cy="1143000"/>
          </a:xfrm>
          <a:noFill/>
          <a:ln>
            <a:noFill/>
          </a:ln>
        </p:spPr>
        <p:txBody>
          <a:bodyPr/>
          <a:p>
            <a:pPr eaLnBrk="1" hangingPunct="1"/>
            <a:r>
              <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本章内容</a:t>
            </a:r>
            <a:endParaRPr lang="zh-CN" sz="36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0723" name="Rectangle 3"/>
          <p:cNvSpPr>
            <a:spLocks noGrp="1"/>
          </p:cNvSpPr>
          <p:nvPr>
            <p:ph idx="1"/>
          </p:nvPr>
        </p:nvSpPr>
        <p:spPr>
          <a:xfrm>
            <a:off x="539750" y="1486535"/>
            <a:ext cx="7848600" cy="4873625"/>
          </a:xfrm>
          <a:noFill/>
          <a:ln>
            <a:noFill/>
          </a:ln>
        </p:spPr>
        <p:txBody>
          <a:bodyPr/>
          <a:p>
            <a:pPr eaLnBrk="1" hangingPunct="1"/>
            <a:r>
              <a:rPr lang="en-US" altLang="zh-CN" dirty="0">
                <a:latin typeface="Times New Roman" panose="02020603050405020304" pitchFamily="18" charset="0"/>
                <a:cs typeface="Times New Roman" panose="02020603050405020304" pitchFamily="18" charset="0"/>
                <a:sym typeface="+mn-ea"/>
              </a:rPr>
              <a:t>7.1 </a:t>
            </a:r>
            <a:r>
              <a:rPr lang="zh-CN" altLang="en-US" dirty="0">
                <a:latin typeface="Times New Roman" panose="02020603050405020304" pitchFamily="18" charset="0"/>
                <a:cs typeface="Times New Roman" panose="02020603050405020304" pitchFamily="18" charset="0"/>
                <a:sym typeface="+mn-ea"/>
              </a:rPr>
              <a:t>互连网络的基本概念</a:t>
            </a:r>
            <a:endParaRPr lang="zh-CN" altLang="en-US" dirty="0">
              <a:latin typeface="Times New Roman" panose="02020603050405020304" pitchFamily="18" charset="0"/>
              <a:cs typeface="Times New Roman" panose="02020603050405020304" pitchFamily="18" charset="0"/>
            </a:endParaRPr>
          </a:p>
          <a:p>
            <a:pPr eaLnBrk="1" hangingPunct="1"/>
            <a:r>
              <a:rPr lang="en-US" altLang="zh-CN" dirty="0">
                <a:latin typeface="Times New Roman" panose="02020603050405020304" pitchFamily="18" charset="0"/>
                <a:cs typeface="Times New Roman" panose="02020603050405020304" pitchFamily="18" charset="0"/>
                <a:sym typeface="+mn-ea"/>
              </a:rPr>
              <a:t>7.2 </a:t>
            </a:r>
            <a:r>
              <a:rPr lang="zh-CN" altLang="en-US" dirty="0">
                <a:latin typeface="Times New Roman" panose="02020603050405020304" pitchFamily="18" charset="0"/>
                <a:cs typeface="Times New Roman" panose="02020603050405020304" pitchFamily="18" charset="0"/>
                <a:sym typeface="+mn-ea"/>
              </a:rPr>
              <a:t>互连网络的种类</a:t>
            </a:r>
            <a:endParaRPr lang="en-US" altLang="zh-CN" dirty="0">
              <a:latin typeface="Times New Roman" panose="02020603050405020304" pitchFamily="18" charset="0"/>
              <a:cs typeface="Times New Roman" panose="02020603050405020304" pitchFamily="18" charset="0"/>
              <a:sym typeface="+mn-ea"/>
            </a:endParaRPr>
          </a:p>
          <a:p>
            <a:pPr eaLnBrk="1" hangingPunct="1"/>
            <a:r>
              <a:rPr lang="en-US" altLang="zh-CN" dirty="0">
                <a:latin typeface="Times New Roman" panose="02020603050405020304" pitchFamily="18" charset="0"/>
                <a:cs typeface="Times New Roman" panose="02020603050405020304" pitchFamily="18" charset="0"/>
                <a:sym typeface="+mn-ea"/>
              </a:rPr>
              <a:t>7.3 </a:t>
            </a:r>
            <a:r>
              <a:rPr lang="zh-CN" altLang="en-US" dirty="0">
                <a:latin typeface="Times New Roman" panose="02020603050405020304" pitchFamily="18" charset="0"/>
                <a:cs typeface="Times New Roman" panose="02020603050405020304" pitchFamily="18" charset="0"/>
                <a:sym typeface="+mn-ea"/>
              </a:rPr>
              <a:t>消息传递机制</a:t>
            </a:r>
            <a:endParaRPr lang="zh-CN" altLang="en-US" dirty="0">
              <a:latin typeface="Times New Roman" panose="02020603050405020304" pitchFamily="18" charset="0"/>
              <a:cs typeface="Times New Roman" panose="02020603050405020304" pitchFamily="18" charset="0"/>
            </a:endParaRPr>
          </a:p>
          <a:p>
            <a:pPr eaLnBrk="1" hangingPunct="1"/>
            <a:r>
              <a:rPr lang="en-US" altLang="zh-CN" dirty="0">
                <a:latin typeface="Times New Roman" panose="02020603050405020304" pitchFamily="18" charset="0"/>
                <a:cs typeface="Times New Roman" panose="02020603050405020304" pitchFamily="18" charset="0"/>
                <a:sym typeface="+mn-ea"/>
              </a:rPr>
              <a:t>7.4 </a:t>
            </a:r>
            <a:r>
              <a:rPr lang="zh-CN" altLang="en-US" dirty="0">
                <a:latin typeface="Times New Roman" panose="02020603050405020304" pitchFamily="18" charset="0"/>
                <a:cs typeface="Times New Roman" panose="02020603050405020304" pitchFamily="18" charset="0"/>
                <a:sym typeface="+mn-ea"/>
              </a:rPr>
              <a:t>互连网络实例</a:t>
            </a:r>
            <a:endParaRPr lang="zh-CN" altLang="en-US" dirty="0">
              <a:latin typeface="Times New Roman" panose="02020603050405020304" pitchFamily="18" charset="0"/>
              <a:cs typeface="Times New Roman" panose="02020603050405020304" pitchFamily="18" charset="0"/>
            </a:endParaRPr>
          </a:p>
          <a:p>
            <a:pPr eaLnBrk="1" hangingPunct="1">
              <a:lnSpc>
                <a:spcPct val="140000"/>
              </a:lnSpc>
            </a:pPr>
            <a:endParaRPr sz="20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互连网络</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5054600"/>
          </a:xfrm>
        </p:spPr>
        <p:txBody>
          <a:bodyPr vert="horz" wrap="square" lIns="91440" tIns="45720" rIns="91440" bIns="45720" anchor="t" anchorCtr="0"/>
          <a:p>
            <a:pPr eaLnBrk="1" hangingPunct="1"/>
            <a:r>
              <a:rPr lang="en-US" altLang="en-US" sz="2000" dirty="0">
                <a:solidFill>
                  <a:srgbClr val="FF3300"/>
                </a:solidFill>
                <a:latin typeface="Times New Roman" panose="02020603050405020304" pitchFamily="18" charset="0"/>
                <a:cs typeface="Times New Roman" panose="02020603050405020304" pitchFamily="18" charset="0"/>
                <a:sym typeface="+mn-ea"/>
              </a:rPr>
              <a:t>Interconnection </a:t>
            </a:r>
            <a:r>
              <a:rPr lang="en-US" altLang="zh-CN" sz="2000" dirty="0">
                <a:solidFill>
                  <a:srgbClr val="FF3300"/>
                </a:solidFill>
                <a:latin typeface="Times New Roman" panose="02020603050405020304" pitchFamily="18" charset="0"/>
                <a:cs typeface="Times New Roman" panose="02020603050405020304" pitchFamily="18" charset="0"/>
                <a:sym typeface="+mn-ea"/>
              </a:rPr>
              <a:t>Network</a:t>
            </a:r>
            <a:endParaRPr lang="en-US" altLang="zh-CN" sz="2000" dirty="0">
              <a:solidFill>
                <a:srgbClr val="FF3300"/>
              </a:solidFill>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solidFill>
                  <a:schemeClr val="tx2"/>
                </a:solidFill>
                <a:latin typeface="Times New Roman" panose="02020603050405020304" pitchFamily="18" charset="0"/>
                <a:cs typeface="Times New Roman" panose="02020603050405020304" pitchFamily="18" charset="0"/>
                <a:sym typeface="+mn-ea"/>
              </a:rPr>
              <a:t>定义</a:t>
            </a:r>
            <a:r>
              <a:rPr lang="en-US" altLang="zh-CN" sz="2000" dirty="0">
                <a:solidFill>
                  <a:schemeClr val="tx2"/>
                </a:solidFill>
                <a:latin typeface="Times New Roman" panose="02020603050405020304" pitchFamily="18" charset="0"/>
                <a:cs typeface="Times New Roman" panose="02020603050405020304" pitchFamily="18" charset="0"/>
                <a:sym typeface="+mn-ea"/>
              </a:rPr>
              <a:t>: </a:t>
            </a:r>
            <a:endParaRPr lang="en-US" altLang="zh-CN" sz="2000" dirty="0">
              <a:solidFill>
                <a:schemeClr val="tx2"/>
              </a:solidFill>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solidFill>
                  <a:schemeClr val="tx2"/>
                </a:solidFill>
                <a:latin typeface="Times New Roman" panose="02020603050405020304" pitchFamily="18" charset="0"/>
                <a:cs typeface="Times New Roman" panose="02020603050405020304" pitchFamily="18" charset="0"/>
                <a:sym typeface="+mn-ea"/>
              </a:rPr>
              <a:t>一种由</a:t>
            </a:r>
            <a:r>
              <a:rPr lang="zh-CN" altLang="en-US" sz="2000" dirty="0">
                <a:solidFill>
                  <a:srgbClr val="FF3333"/>
                </a:solidFill>
                <a:latin typeface="Times New Roman" panose="02020603050405020304" pitchFamily="18" charset="0"/>
                <a:cs typeface="Times New Roman" panose="02020603050405020304" pitchFamily="18" charset="0"/>
                <a:sym typeface="+mn-ea"/>
              </a:rPr>
              <a:t>开关元件</a:t>
            </a:r>
            <a:r>
              <a:rPr lang="zh-CN" altLang="en-US" sz="2000" dirty="0">
                <a:solidFill>
                  <a:schemeClr val="tx2"/>
                </a:solidFill>
                <a:latin typeface="Times New Roman" panose="02020603050405020304" pitchFamily="18" charset="0"/>
                <a:cs typeface="Times New Roman" panose="02020603050405020304" pitchFamily="18" charset="0"/>
                <a:sym typeface="+mn-ea"/>
              </a:rPr>
              <a:t>按照一定的</a:t>
            </a:r>
            <a:r>
              <a:rPr lang="zh-CN" altLang="en-US" sz="2000" dirty="0">
                <a:solidFill>
                  <a:srgbClr val="FF0000"/>
                </a:solidFill>
                <a:latin typeface="Times New Roman" panose="02020603050405020304" pitchFamily="18" charset="0"/>
                <a:cs typeface="Times New Roman" panose="02020603050405020304" pitchFamily="18" charset="0"/>
                <a:sym typeface="+mn-ea"/>
              </a:rPr>
              <a:t>拓扑结构</a:t>
            </a:r>
            <a:r>
              <a:rPr lang="zh-CN" altLang="en-US" sz="2000" dirty="0">
                <a:solidFill>
                  <a:schemeClr val="tx2"/>
                </a:solidFill>
                <a:latin typeface="Times New Roman" panose="02020603050405020304" pitchFamily="18" charset="0"/>
                <a:cs typeface="Times New Roman" panose="02020603050405020304" pitchFamily="18" charset="0"/>
                <a:sym typeface="+mn-ea"/>
              </a:rPr>
              <a:t>和</a:t>
            </a:r>
            <a:r>
              <a:rPr lang="zh-CN" altLang="en-US" sz="2000" dirty="0">
                <a:solidFill>
                  <a:srgbClr val="FF0000"/>
                </a:solidFill>
                <a:latin typeface="Times New Roman" panose="02020603050405020304" pitchFamily="18" charset="0"/>
                <a:cs typeface="Times New Roman" panose="02020603050405020304" pitchFamily="18" charset="0"/>
                <a:sym typeface="+mn-ea"/>
              </a:rPr>
              <a:t>控制方式</a:t>
            </a:r>
            <a:r>
              <a:rPr lang="zh-CN" altLang="en-US" sz="2000" dirty="0">
                <a:solidFill>
                  <a:schemeClr val="tx2"/>
                </a:solidFill>
                <a:latin typeface="Times New Roman" panose="02020603050405020304" pitchFamily="18" charset="0"/>
                <a:cs typeface="Times New Roman" panose="02020603050405020304" pitchFamily="18" charset="0"/>
                <a:sym typeface="+mn-ea"/>
              </a:rPr>
              <a:t>构成的</a:t>
            </a:r>
            <a:r>
              <a:rPr lang="zh-CN" altLang="en-US" sz="2000" dirty="0">
                <a:solidFill>
                  <a:srgbClr val="4844EE"/>
                </a:solidFill>
                <a:latin typeface="Times New Roman" panose="02020603050405020304" pitchFamily="18" charset="0"/>
                <a:cs typeface="Times New Roman" panose="02020603050405020304" pitchFamily="18" charset="0"/>
                <a:sym typeface="+mn-ea"/>
              </a:rPr>
              <a:t>网络</a:t>
            </a:r>
            <a:endParaRPr lang="zh-CN" altLang="en-US" sz="2000" dirty="0">
              <a:solidFill>
                <a:srgbClr val="4844EE"/>
              </a:solidFill>
              <a:latin typeface="Times New Roman" panose="02020603050405020304" pitchFamily="18" charset="0"/>
              <a:cs typeface="Times New Roman" panose="02020603050405020304" pitchFamily="18" charset="0"/>
            </a:endParaRPr>
          </a:p>
          <a:p>
            <a:pPr eaLnBrk="1" hangingPunct="1"/>
            <a:endParaRPr lang="zh-CN" altLang="en-US" sz="2000" dirty="0">
              <a:solidFill>
                <a:schemeClr val="tx2"/>
              </a:solidFill>
              <a:latin typeface="Times New Roman" panose="02020603050405020304" pitchFamily="18" charset="0"/>
              <a:cs typeface="Times New Roman" panose="02020603050405020304" pitchFamily="18" charset="0"/>
            </a:endParaRPr>
          </a:p>
          <a:p>
            <a:pPr eaLnBrk="1" hangingPunct="1"/>
            <a:r>
              <a:rPr lang="zh-CN" altLang="en-US" sz="2000" dirty="0">
                <a:solidFill>
                  <a:schemeClr val="tx2"/>
                </a:solidFill>
                <a:latin typeface="Times New Roman" panose="02020603050405020304" pitchFamily="18" charset="0"/>
                <a:cs typeface="Times New Roman" panose="02020603050405020304" pitchFamily="18" charset="0"/>
                <a:sym typeface="+mn-ea"/>
              </a:rPr>
              <a:t>作用</a:t>
            </a:r>
            <a:r>
              <a:rPr lang="en-US" altLang="zh-CN" sz="2000" dirty="0">
                <a:solidFill>
                  <a:schemeClr val="tx2"/>
                </a:solidFill>
                <a:latin typeface="Times New Roman" panose="02020603050405020304" pitchFamily="18" charset="0"/>
                <a:cs typeface="Times New Roman" panose="02020603050405020304" pitchFamily="18" charset="0"/>
                <a:sym typeface="+mn-ea"/>
              </a:rPr>
              <a:t>: </a:t>
            </a:r>
            <a:endParaRPr lang="en-US" altLang="zh-CN" sz="2000" dirty="0">
              <a:solidFill>
                <a:schemeClr val="tx2"/>
              </a:solidFill>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solidFill>
                  <a:schemeClr val="tx2"/>
                </a:solidFill>
                <a:latin typeface="Times New Roman" panose="02020603050405020304" pitchFamily="18" charset="0"/>
                <a:cs typeface="Times New Roman" panose="02020603050405020304" pitchFamily="18" charset="0"/>
                <a:sym typeface="+mn-ea"/>
              </a:rPr>
              <a:t>实现计算机系统</a:t>
            </a:r>
            <a:r>
              <a:rPr lang="zh-CN" altLang="en-US" sz="2000" dirty="0">
                <a:solidFill>
                  <a:srgbClr val="4844EE"/>
                </a:solidFill>
                <a:latin typeface="Times New Roman" panose="02020603050405020304" pitchFamily="18" charset="0"/>
                <a:cs typeface="Times New Roman" panose="02020603050405020304" pitchFamily="18" charset="0"/>
                <a:sym typeface="+mn-ea"/>
              </a:rPr>
              <a:t>内部</a:t>
            </a:r>
            <a:r>
              <a:rPr lang="zh-CN" altLang="en-US" sz="2000" dirty="0">
                <a:solidFill>
                  <a:schemeClr val="tx2"/>
                </a:solidFill>
                <a:latin typeface="Times New Roman" panose="02020603050405020304" pitchFamily="18" charset="0"/>
                <a:cs typeface="Times New Roman" panose="02020603050405020304" pitchFamily="18" charset="0"/>
                <a:sym typeface="+mn-ea"/>
              </a:rPr>
              <a:t>多个处理机或多个功能部件之间的</a:t>
            </a:r>
            <a:r>
              <a:rPr lang="zh-CN" altLang="en-US" sz="2000" dirty="0">
                <a:solidFill>
                  <a:srgbClr val="FF0000"/>
                </a:solidFill>
                <a:latin typeface="Times New Roman" panose="02020603050405020304" pitchFamily="18" charset="0"/>
                <a:cs typeface="Times New Roman" panose="02020603050405020304" pitchFamily="18" charset="0"/>
                <a:sym typeface="+mn-ea"/>
              </a:rPr>
              <a:t>相互连接</a:t>
            </a:r>
            <a:endParaRPr lang="zh-CN" altLang="en-US" sz="2000" dirty="0">
              <a:solidFill>
                <a:srgbClr val="FF0000"/>
              </a:solidFill>
              <a:latin typeface="Times New Roman" panose="02020603050405020304" pitchFamily="18" charset="0"/>
              <a:cs typeface="Times New Roman" panose="02020603050405020304" pitchFamily="18" charset="0"/>
            </a:endParaRPr>
          </a:p>
          <a:p>
            <a:pPr eaLnBrk="1" hangingPunct="1"/>
            <a:endParaRPr lang="zh-CN" altLang="en-US" sz="2000" dirty="0">
              <a:solidFill>
                <a:srgbClr val="FF0000"/>
              </a:solidFill>
              <a:latin typeface="Times New Roman" panose="02020603050405020304" pitchFamily="18" charset="0"/>
              <a:cs typeface="Times New Roman" panose="02020603050405020304" pitchFamily="18" charset="0"/>
            </a:endParaRPr>
          </a:p>
          <a:p>
            <a:pPr eaLnBrk="1" hangingPunct="1"/>
            <a:r>
              <a:rPr lang="zh-CN" altLang="en-US" sz="2000" dirty="0">
                <a:solidFill>
                  <a:schemeClr val="tx2"/>
                </a:solidFill>
                <a:latin typeface="Times New Roman" panose="02020603050405020304" pitchFamily="18" charset="0"/>
                <a:cs typeface="Times New Roman" panose="02020603050405020304" pitchFamily="18" charset="0"/>
                <a:sym typeface="+mn-ea"/>
              </a:rPr>
              <a:t>对于互</a:t>
            </a:r>
            <a:r>
              <a:rPr lang="zh-CN" altLang="en-US" sz="2000" dirty="0">
                <a:solidFill>
                  <a:schemeClr val="tx2"/>
                </a:solidFill>
                <a:latin typeface="Times New Roman" panose="02020603050405020304" pitchFamily="18" charset="0"/>
                <a:cs typeface="Times New Roman" panose="02020603050405020304" pitchFamily="18" charset="0"/>
                <a:sym typeface="+mn-ea"/>
              </a:rPr>
              <a:t>连网络的设计：</a:t>
            </a:r>
            <a:endParaRPr lang="zh-CN" altLang="en-US" sz="2000" dirty="0">
              <a:solidFill>
                <a:schemeClr val="tx2"/>
              </a:solidFill>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solidFill>
                  <a:schemeClr val="tx2"/>
                </a:solidFill>
                <a:latin typeface="Times New Roman" panose="02020603050405020304" pitchFamily="18" charset="0"/>
                <a:cs typeface="Times New Roman" panose="02020603050405020304" pitchFamily="18" charset="0"/>
                <a:sym typeface="+mn-ea"/>
              </a:rPr>
              <a:t>结构不要过分复杂以降低成本；</a:t>
            </a:r>
            <a:endParaRPr lang="zh-CN" altLang="en-US" sz="2000" dirty="0">
              <a:solidFill>
                <a:schemeClr val="tx2"/>
              </a:solidFill>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solidFill>
                  <a:schemeClr val="tx2"/>
                </a:solidFill>
                <a:latin typeface="Times New Roman" panose="02020603050405020304" pitchFamily="18" charset="0"/>
                <a:cs typeface="Times New Roman" panose="02020603050405020304" pitchFamily="18" charset="0"/>
                <a:sym typeface="+mn-ea"/>
              </a:rPr>
              <a:t>灵活性以满足算法以及应用的需要；</a:t>
            </a:r>
            <a:endParaRPr lang="zh-CN" altLang="en-US" sz="2000" dirty="0">
              <a:solidFill>
                <a:schemeClr val="tx2"/>
              </a:solidFill>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solidFill>
                  <a:schemeClr val="tx2"/>
                </a:solidFill>
                <a:latin typeface="Times New Roman" panose="02020603050405020304" pitchFamily="18" charset="0"/>
                <a:cs typeface="Times New Roman" panose="02020603050405020304" pitchFamily="18" charset="0"/>
                <a:sym typeface="+mn-ea"/>
              </a:rPr>
              <a:t>传递步数尽量少，提高</a:t>
            </a:r>
            <a:r>
              <a:rPr lang="zh-CN" altLang="en-US" sz="2000" dirty="0">
                <a:solidFill>
                  <a:schemeClr val="tx2"/>
                </a:solidFill>
                <a:latin typeface="Times New Roman" panose="02020603050405020304" pitchFamily="18" charset="0"/>
                <a:cs typeface="Times New Roman" panose="02020603050405020304" pitchFamily="18" charset="0"/>
                <a:sym typeface="+mn-ea"/>
              </a:rPr>
              <a:t>速度；</a:t>
            </a:r>
            <a:endParaRPr lang="zh-CN" altLang="en-US" sz="2000" dirty="0">
              <a:solidFill>
                <a:schemeClr val="tx2"/>
              </a:solidFill>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solidFill>
                  <a:schemeClr val="tx2"/>
                </a:solidFill>
                <a:latin typeface="Times New Roman" panose="02020603050405020304" pitchFamily="18" charset="0"/>
                <a:cs typeface="Times New Roman" panose="02020603050405020304" pitchFamily="18" charset="0"/>
                <a:sym typeface="+mn-ea"/>
              </a:rPr>
              <a:t>用基本构件组合而成， 模块化，</a:t>
            </a:r>
            <a:r>
              <a:rPr lang="zh-CN" altLang="en-US" sz="2000" dirty="0">
                <a:solidFill>
                  <a:schemeClr val="tx2"/>
                </a:solidFill>
                <a:latin typeface="Times New Roman" panose="02020603050405020304" pitchFamily="18" charset="0"/>
                <a:cs typeface="Times New Roman" panose="02020603050405020304" pitchFamily="18" charset="0"/>
                <a:sym typeface="+mn-ea"/>
              </a:rPr>
              <a:t>可扩展；</a:t>
            </a:r>
            <a:endParaRPr lang="zh-CN" altLang="en-US" sz="2000" dirty="0">
              <a:solidFill>
                <a:schemeClr val="tx2"/>
              </a:solidFill>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solidFill>
                  <a:schemeClr val="tx2"/>
                </a:solidFill>
                <a:latin typeface="Times New Roman" panose="02020603050405020304" pitchFamily="18" charset="0"/>
                <a:cs typeface="Times New Roman" panose="02020603050405020304" pitchFamily="18" charset="0"/>
                <a:sym typeface="+mn-ea"/>
              </a:rPr>
              <a:t>标准化。</a:t>
            </a:r>
            <a:endParaRPr lang="zh-CN" altLang="en-US" sz="2000" dirty="0">
              <a:solidFill>
                <a:schemeClr val="tx2"/>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7.1 互连网络的基本概念</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404620"/>
            <a:ext cx="8396605" cy="4761230"/>
          </a:xfrm>
        </p:spPr>
        <p:txBody>
          <a:bodyPr vert="horz" wrap="square" lIns="91440" tIns="45720" rIns="91440" bIns="45720" anchor="t" anchorCtr="0"/>
          <a:p>
            <a:pPr eaLnBrk="1" latinLnBrk="0" hangingPunct="1">
              <a:spcBef>
                <a:spcPts val="1200"/>
              </a:spcBef>
            </a:pPr>
            <a:r>
              <a:rPr sz="2400" dirty="0">
                <a:latin typeface="Times New Roman" panose="02020603050405020304" pitchFamily="18" charset="0"/>
                <a:cs typeface="Times New Roman" panose="02020603050405020304" pitchFamily="18" charset="0"/>
                <a:sym typeface="+mn-ea"/>
              </a:rPr>
              <a:t>7.1.1 互连网络的作用</a:t>
            </a:r>
            <a:endParaRPr sz="24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sz="2400" dirty="0">
                <a:latin typeface="Times New Roman" panose="02020603050405020304" pitchFamily="18" charset="0"/>
                <a:cs typeface="Times New Roman" panose="02020603050405020304" pitchFamily="18" charset="0"/>
                <a:sym typeface="+mn-ea"/>
              </a:rPr>
              <a:t>7.1.2 互连网络的特性</a:t>
            </a:r>
            <a:endParaRPr sz="24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sz="2400" dirty="0">
                <a:latin typeface="Times New Roman" panose="02020603050405020304" pitchFamily="18" charset="0"/>
                <a:cs typeface="Times New Roman" panose="02020603050405020304" pitchFamily="18" charset="0"/>
                <a:sym typeface="+mn-ea"/>
              </a:rPr>
              <a:t>7.1.3 互连网络的性能参数</a:t>
            </a:r>
            <a:endParaRPr sz="24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sz="2400" dirty="0">
                <a:latin typeface="Times New Roman" panose="02020603050405020304" pitchFamily="18" charset="0"/>
                <a:cs typeface="Times New Roman" panose="02020603050405020304" pitchFamily="18" charset="0"/>
                <a:sym typeface="+mn-ea"/>
              </a:rPr>
              <a:t>7.1.4 互连网络的表示方法</a:t>
            </a:r>
            <a:endParaRPr sz="24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sz="2400" dirty="0">
                <a:latin typeface="Times New Roman" panose="02020603050405020304" pitchFamily="18" charset="0"/>
                <a:cs typeface="Times New Roman" panose="02020603050405020304" pitchFamily="18" charset="0"/>
                <a:sym typeface="+mn-ea"/>
              </a:rPr>
              <a:t>7.1.5 互连函数</a:t>
            </a:r>
            <a:endParaRPr sz="24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7.1.1 互连网络的作用</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37285"/>
            <a:ext cx="8396605" cy="1742440"/>
          </a:xfrm>
        </p:spPr>
        <p:txBody>
          <a:bodyPr vert="horz" wrap="square" lIns="91440" tIns="45720" rIns="91440" bIns="45720" anchor="t" anchorCtr="0"/>
          <a:p>
            <a:pPr eaLnBrk="1" latinLnBrk="0" hangingPunct="1">
              <a:spcBef>
                <a:spcPts val="1200"/>
              </a:spcBef>
            </a:pPr>
            <a:r>
              <a:rPr lang="zh-CN" altLang="en-US" sz="2400" dirty="0">
                <a:sym typeface="+mn-ea"/>
              </a:rPr>
              <a:t>计算机系统内部多个处理机或多个功能部件间的相互连接</a:t>
            </a:r>
            <a:endParaRPr lang="zh-CN" altLang="en-US" sz="2400" dirty="0"/>
          </a:p>
          <a:p>
            <a:pPr eaLnBrk="1" latinLnBrk="0" hangingPunct="1">
              <a:spcBef>
                <a:spcPts val="1200"/>
              </a:spcBef>
            </a:pPr>
            <a:r>
              <a:rPr lang="zh-CN" altLang="en-US" sz="2400" dirty="0">
                <a:sym typeface="+mn-ea"/>
              </a:rPr>
              <a:t>并行处理系统的核心组成部分</a:t>
            </a:r>
            <a:endParaRPr lang="zh-CN" altLang="en-US" sz="2400" dirty="0"/>
          </a:p>
          <a:p>
            <a:pPr eaLnBrk="1" latinLnBrk="0" hangingPunct="1">
              <a:spcBef>
                <a:spcPts val="1200"/>
              </a:spcBef>
            </a:pPr>
            <a:r>
              <a:rPr lang="zh-CN" altLang="en-US" sz="2400" dirty="0">
                <a:sym typeface="+mn-ea"/>
              </a:rPr>
              <a:t>对整个计算机系统的性能价格比有决定性的影响</a:t>
            </a:r>
            <a:endPar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13317" name="Picture 1091" descr="P-7-1-1"/>
          <p:cNvPicPr>
            <a:picLocks noChangeAspect="1"/>
          </p:cNvPicPr>
          <p:nvPr>
            <p:custDataLst>
              <p:tags r:id="rId2"/>
            </p:custDataLst>
          </p:nvPr>
        </p:nvPicPr>
        <p:blipFill>
          <a:blip r:embed="rId3"/>
          <a:stretch>
            <a:fillRect/>
          </a:stretch>
        </p:blipFill>
        <p:spPr>
          <a:xfrm>
            <a:off x="654050" y="2776538"/>
            <a:ext cx="7796213" cy="3487737"/>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处理机系统的互连结构</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5054600"/>
          </a:xfrm>
        </p:spPr>
        <p:txBody>
          <a:bodyPr vert="horz" wrap="square" lIns="91440" tIns="45720" rIns="91440" bIns="45720" anchor="t" anchorCtr="0"/>
          <a:p>
            <a:pPr eaLnBrk="1" hangingPunct="1"/>
            <a:r>
              <a:rPr lang="zh-CN" altLang="en-US" sz="2000" dirty="0">
                <a:sym typeface="+mn-ea"/>
              </a:rPr>
              <a:t>具有本地存储器、私有高速缓存、共享存储器和共享外围设备的一般处理机系统的互连结构</a:t>
            </a:r>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marL="0" lvl="1" eaLnBrk="1" hangingPunct="1"/>
            <a:r>
              <a:rPr lang="en-US" altLang="zh-CN" sz="2000" dirty="0">
                <a:latin typeface="Times New Roman" panose="02020603050405020304" pitchFamily="18" charset="0"/>
                <a:cs typeface="Times New Roman" panose="02020603050405020304" pitchFamily="18" charset="0"/>
                <a:sym typeface="+mn-ea"/>
              </a:rPr>
              <a:t>IPMN(</a:t>
            </a:r>
            <a:r>
              <a:rPr lang="zh-CN" altLang="en-US" sz="2000" dirty="0">
                <a:latin typeface="Times New Roman" panose="02020603050405020304" pitchFamily="18" charset="0"/>
                <a:cs typeface="Times New Roman" panose="02020603050405020304" pitchFamily="18" charset="0"/>
                <a:sym typeface="+mn-ea"/>
              </a:rPr>
              <a:t>处理机</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存储器网络</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 PION(</a:t>
            </a:r>
            <a:r>
              <a:rPr lang="zh-CN" altLang="en-US" sz="2000" dirty="0">
                <a:latin typeface="Times New Roman" panose="02020603050405020304" pitchFamily="18" charset="0"/>
                <a:cs typeface="Times New Roman" panose="02020603050405020304" pitchFamily="18" charset="0"/>
                <a:sym typeface="+mn-ea"/>
              </a:rPr>
              <a:t>处理机</a:t>
            </a:r>
            <a:r>
              <a:rPr lang="en-US" altLang="zh-CN" sz="2000" dirty="0">
                <a:latin typeface="Times New Roman" panose="02020603050405020304" pitchFamily="18" charset="0"/>
                <a:cs typeface="Times New Roman" panose="02020603050405020304" pitchFamily="18" charset="0"/>
                <a:sym typeface="+mn-ea"/>
              </a:rPr>
              <a:t>-I/O</a:t>
            </a:r>
            <a:r>
              <a:rPr lang="zh-CN" altLang="en-US" sz="2000" dirty="0">
                <a:latin typeface="Times New Roman" panose="02020603050405020304" pitchFamily="18" charset="0"/>
                <a:cs typeface="Times New Roman" panose="02020603050405020304" pitchFamily="18" charset="0"/>
                <a:sym typeface="+mn-ea"/>
              </a:rPr>
              <a:t>网络</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IPCN(</a:t>
            </a:r>
            <a:r>
              <a:rPr lang="zh-CN" altLang="en-US" sz="2000" dirty="0">
                <a:latin typeface="Times New Roman" panose="02020603050405020304" pitchFamily="18" charset="0"/>
                <a:cs typeface="Times New Roman" panose="02020603050405020304" pitchFamily="18" charset="0"/>
                <a:sym typeface="+mn-ea"/>
              </a:rPr>
              <a:t>处理机之间通信网络</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a:t>
            </a:r>
            <a:endParaRPr lang="en-US" altLang="zh-CN" sz="2000" dirty="0">
              <a:latin typeface="Times New Roman" panose="02020603050405020304" pitchFamily="18" charset="0"/>
              <a:cs typeface="Times New Roman" panose="02020603050405020304" pitchFamily="18" charset="0"/>
            </a:endParaRPr>
          </a:p>
          <a:p>
            <a:pPr marL="0" lvl="1" eaLnBrk="1" hangingPunct="1"/>
            <a:r>
              <a:rPr lang="en-US" altLang="zh-CN" sz="2000" dirty="0">
                <a:latin typeface="Times New Roman" panose="02020603050405020304" pitchFamily="18" charset="0"/>
                <a:cs typeface="Times New Roman" panose="02020603050405020304" pitchFamily="18" charset="0"/>
                <a:sym typeface="+mn-ea"/>
              </a:rPr>
              <a:t>P(</a:t>
            </a:r>
            <a:r>
              <a:rPr lang="zh-CN" altLang="en-US" sz="2000" dirty="0">
                <a:latin typeface="Times New Roman" panose="02020603050405020304" pitchFamily="18" charset="0"/>
                <a:cs typeface="Times New Roman" panose="02020603050405020304" pitchFamily="18" charset="0"/>
                <a:sym typeface="+mn-ea"/>
              </a:rPr>
              <a:t>处理机</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C(</a:t>
            </a:r>
            <a:r>
              <a:rPr lang="zh-CN" altLang="en-US" sz="2000" dirty="0">
                <a:latin typeface="Times New Roman" panose="02020603050405020304" pitchFamily="18" charset="0"/>
                <a:cs typeface="Times New Roman" panose="02020603050405020304" pitchFamily="18" charset="0"/>
                <a:sym typeface="+mn-ea"/>
              </a:rPr>
              <a:t>高速缓冲存储器</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M(</a:t>
            </a:r>
            <a:r>
              <a:rPr lang="zh-CN" altLang="en-US" sz="2000" dirty="0">
                <a:latin typeface="Times New Roman" panose="02020603050405020304" pitchFamily="18" charset="0"/>
                <a:cs typeface="Times New Roman" panose="02020603050405020304" pitchFamily="18" charset="0"/>
                <a:sym typeface="+mn-ea"/>
              </a:rPr>
              <a:t>共享存储器</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LM(</a:t>
            </a:r>
            <a:r>
              <a:rPr lang="zh-CN" altLang="en-US" sz="2000" dirty="0">
                <a:latin typeface="Times New Roman" panose="02020603050405020304" pitchFamily="18" charset="0"/>
                <a:cs typeface="Times New Roman" panose="02020603050405020304" pitchFamily="18" charset="0"/>
                <a:sym typeface="+mn-ea"/>
              </a:rPr>
              <a:t>本地存储器</a:t>
            </a:r>
            <a:r>
              <a:rPr lang="en-US" altLang="zh-CN" sz="2000" dirty="0">
                <a:latin typeface="Times New Roman" panose="02020603050405020304" pitchFamily="18" charset="0"/>
                <a:cs typeface="Times New Roman" panose="02020603050405020304" pitchFamily="18" charset="0"/>
                <a:sym typeface="+mn-ea"/>
              </a:rPr>
              <a:t>)</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1403350" y="1917065"/>
            <a:ext cx="5789295" cy="34417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7.1.</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互连网络的特性</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59840"/>
            <a:ext cx="8396605" cy="5427345"/>
          </a:xfrm>
        </p:spPr>
        <p:txBody>
          <a:bodyPr vert="horz" wrap="square" lIns="91440" tIns="45720" rIns="91440" bIns="45720" anchor="t" anchorCtr="0"/>
          <a:p>
            <a:pPr eaLnBrk="1" latinLnBrk="0"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互连网络用有向边或无向边连接有限个结点的图来表示</a:t>
            </a:r>
            <a:endParaRPr lang="zh-CN" altLang="en-US" sz="2000" dirty="0">
              <a:latin typeface="Times New Roman" panose="02020603050405020304" pitchFamily="18" charset="0"/>
              <a:cs typeface="Times New Roman" panose="02020603050405020304" pitchFamily="18" charset="0"/>
            </a:endParaRPr>
          </a:p>
          <a:p>
            <a:pPr eaLnBrk="1" latinLnBrk="0"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互连网络的网络特性</a:t>
            </a:r>
            <a:endParaRPr lang="zh-CN" altLang="en-US" sz="2000" dirty="0">
              <a:latin typeface="Times New Roman" panose="02020603050405020304" pitchFamily="18" charset="0"/>
              <a:cs typeface="Times New Roman" panose="02020603050405020304" pitchFamily="18" charset="0"/>
            </a:endParaRPr>
          </a:p>
          <a:p>
            <a:pPr lvl="1" eaLnBrk="1" latinLnBrk="0" hangingPunct="1">
              <a:lnSpc>
                <a:spcPct val="100000"/>
              </a:lnSpc>
              <a:spcBef>
                <a:spcPts val="600"/>
              </a:spcBef>
            </a:pP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网络规模</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网络中结点的个数</a:t>
            </a:r>
            <a:endParaRPr lang="zh-CN" altLang="en-US" sz="2000" dirty="0">
              <a:latin typeface="Times New Roman" panose="02020603050405020304" pitchFamily="18" charset="0"/>
              <a:cs typeface="Times New Roman" panose="02020603050405020304" pitchFamily="18" charset="0"/>
            </a:endParaRPr>
          </a:p>
          <a:p>
            <a:pPr lvl="1" eaLnBrk="1" latinLnBrk="0"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结点度</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与结点相连接的边数。包括入度和出度</a:t>
            </a:r>
            <a:endParaRPr lang="zh-CN" altLang="en-US" sz="2000" dirty="0">
              <a:latin typeface="Times New Roman" panose="02020603050405020304" pitchFamily="18" charset="0"/>
              <a:cs typeface="Times New Roman" panose="02020603050405020304" pitchFamily="18" charset="0"/>
            </a:endParaRPr>
          </a:p>
          <a:p>
            <a:pPr lvl="2" eaLnBrk="1" latinLnBrk="0"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入度</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进入结点的边数</a:t>
            </a:r>
            <a:endParaRPr lang="zh-CN" altLang="en-US" sz="2000" dirty="0">
              <a:latin typeface="Times New Roman" panose="02020603050405020304" pitchFamily="18" charset="0"/>
              <a:cs typeface="Times New Roman" panose="02020603050405020304" pitchFamily="18" charset="0"/>
            </a:endParaRPr>
          </a:p>
          <a:p>
            <a:pPr lvl="2" eaLnBrk="1" latinLnBrk="0"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出度</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从结点出来的边数</a:t>
            </a:r>
            <a:endParaRPr lang="zh-CN" altLang="en-US" sz="2000" dirty="0">
              <a:latin typeface="Times New Roman" panose="02020603050405020304" pitchFamily="18" charset="0"/>
              <a:cs typeface="Times New Roman" panose="02020603050405020304" pitchFamily="18" charset="0"/>
            </a:endParaRPr>
          </a:p>
          <a:p>
            <a:pPr lvl="1" eaLnBrk="1" latinLnBrk="0"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距离</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两个结点之间相连的最少边数</a:t>
            </a:r>
            <a:endParaRPr lang="zh-CN" altLang="en-US" sz="2000" dirty="0">
              <a:latin typeface="Times New Roman" panose="02020603050405020304" pitchFamily="18" charset="0"/>
              <a:cs typeface="Times New Roman" panose="02020603050405020304" pitchFamily="18" charset="0"/>
            </a:endParaRPr>
          </a:p>
          <a:p>
            <a:pPr lvl="1" eaLnBrk="1" latinLnBrk="0"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网络直径</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网络中任意两个结点间距离的最大值</a:t>
            </a:r>
            <a:endParaRPr lang="zh-CN" altLang="en-US" sz="2000" dirty="0">
              <a:latin typeface="Times New Roman" panose="02020603050405020304" pitchFamily="18" charset="0"/>
              <a:cs typeface="Times New Roman" panose="02020603050405020304" pitchFamily="18" charset="0"/>
            </a:endParaRPr>
          </a:p>
          <a:p>
            <a:pPr lvl="2" eaLnBrk="1" latinLnBrk="0"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用结点间的连接边数表示</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结点间的线长</a:t>
            </a:r>
            <a:endParaRPr lang="zh-CN" altLang="en-US" sz="2000" dirty="0">
              <a:latin typeface="Times New Roman" panose="02020603050405020304" pitchFamily="18" charset="0"/>
              <a:cs typeface="Times New Roman" panose="02020603050405020304" pitchFamily="18" charset="0"/>
            </a:endParaRPr>
          </a:p>
          <a:p>
            <a:pPr lvl="2" algn="l" eaLnBrk="1" latinLnBrk="0" hangingPunct="1">
              <a:lnSpc>
                <a:spcPct val="100000"/>
              </a:lnSpc>
              <a:spcBef>
                <a:spcPts val="600"/>
              </a:spcBef>
              <a:buSzTx/>
              <a:buFontTx/>
            </a:pPr>
            <a:r>
              <a:rPr lang="zh-CN" altLang="en-US" sz="2000" dirty="0">
                <a:latin typeface="Times New Roman" panose="02020603050405020304" pitchFamily="18" charset="0"/>
                <a:cs typeface="Times New Roman" panose="02020603050405020304" pitchFamily="18" charset="0"/>
                <a:sym typeface="+mn-ea"/>
              </a:rPr>
              <a:t>两个结点间连线的长度。用米、公里等表示</a:t>
            </a:r>
            <a:endParaRPr lang="zh-CN" altLang="en-US" sz="2000" dirty="0">
              <a:latin typeface="Times New Roman" panose="02020603050405020304" pitchFamily="18" charset="0"/>
              <a:cs typeface="Times New Roman" panose="02020603050405020304" pitchFamily="18" charset="0"/>
            </a:endParaRPr>
          </a:p>
          <a:p>
            <a:pPr lvl="1" eaLnBrk="1" latinLnBrk="0" hangingPunct="1">
              <a:lnSpc>
                <a:spcPct val="100000"/>
              </a:lnSpc>
              <a:spcBef>
                <a:spcPts val="600"/>
              </a:spcBef>
            </a:pPr>
            <a:r>
              <a:rPr lang="zh-CN" altLang="en-US" sz="2000" dirty="0">
                <a:latin typeface="Times New Roman" panose="02020603050405020304" pitchFamily="18" charset="0"/>
                <a:cs typeface="Times New Roman" panose="02020603050405020304" pitchFamily="18" charset="0"/>
                <a:sym typeface="+mn-ea"/>
              </a:rPr>
              <a:t>对称性</a:t>
            </a:r>
            <a:endParaRPr lang="zh-CN" altLang="en-US" sz="2000" dirty="0">
              <a:latin typeface="Times New Roman" panose="02020603050405020304" pitchFamily="18" charset="0"/>
              <a:cs typeface="Times New Roman" panose="02020603050405020304" pitchFamily="18" charset="0"/>
            </a:endParaRPr>
          </a:p>
          <a:p>
            <a:pPr lvl="2" algn="l" eaLnBrk="1" latinLnBrk="0" hangingPunct="1">
              <a:lnSpc>
                <a:spcPct val="100000"/>
              </a:lnSpc>
              <a:spcBef>
                <a:spcPts val="600"/>
              </a:spcBef>
              <a:buSzTx/>
              <a:buFontTx/>
            </a:pPr>
            <a:r>
              <a:rPr lang="zh-CN" altLang="en-US" sz="2000" dirty="0">
                <a:latin typeface="Times New Roman" panose="02020603050405020304" pitchFamily="18" charset="0"/>
                <a:cs typeface="Times New Roman" panose="02020603050405020304" pitchFamily="18" charset="0"/>
              </a:rPr>
              <a:t>所有节点的地位和连接方式都</a:t>
            </a:r>
            <a:r>
              <a:rPr lang="zh-CN" altLang="en-US" sz="2000" dirty="0">
                <a:latin typeface="Times New Roman" panose="02020603050405020304" pitchFamily="18" charset="0"/>
                <a:cs typeface="Times New Roman" panose="02020603050405020304" pitchFamily="18" charset="0"/>
              </a:rPr>
              <a:t>相同</a:t>
            </a:r>
            <a:endParaRPr lang="zh-CN" altLang="en-US" sz="2000" dirty="0">
              <a:latin typeface="Times New Roman" panose="02020603050405020304" pitchFamily="18" charset="0"/>
              <a:cs typeface="Times New Roman" panose="02020603050405020304" pitchFamily="18" charset="0"/>
            </a:endParaRPr>
          </a:p>
          <a:p>
            <a:pPr lvl="3" algn="l" eaLnBrk="1" latinLnBrk="0" hangingPunct="1">
              <a:lnSpc>
                <a:spcPct val="100000"/>
              </a:lnSpc>
              <a:spcBef>
                <a:spcPts val="600"/>
              </a:spcBef>
              <a:buClrTx/>
              <a:buSzTx/>
              <a:buFontTx/>
            </a:pPr>
            <a:r>
              <a:rPr lang="zh-CN" altLang="en-US" sz="2000" dirty="0">
                <a:latin typeface="Times New Roman" panose="02020603050405020304" pitchFamily="18" charset="0"/>
                <a:cs typeface="Times New Roman" panose="02020603050405020304" pitchFamily="18" charset="0"/>
                <a:sym typeface="+mn-ea"/>
              </a:rPr>
              <a:t>对称网络比较易实现，编程也较容易</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7.1.3 </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互连网络的性能参数</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375410"/>
            <a:ext cx="8396605" cy="4790440"/>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一台机器发送消息给另一台机器时，发送方的步骤</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(1) </a:t>
            </a:r>
            <a:r>
              <a:rPr lang="zh-CN" altLang="en-US" sz="2000" dirty="0">
                <a:latin typeface="Times New Roman" panose="02020603050405020304" pitchFamily="18" charset="0"/>
                <a:cs typeface="Times New Roman" panose="02020603050405020304" pitchFamily="18" charset="0"/>
                <a:sym typeface="+mn-ea"/>
              </a:rPr>
              <a:t>用户程序把要发送的数据拷贝到操作系统的缓冲区</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(2) </a:t>
            </a:r>
            <a:r>
              <a:rPr lang="zh-CN" altLang="en-US" sz="2000" dirty="0">
                <a:latin typeface="Times New Roman" panose="02020603050405020304" pitchFamily="18" charset="0"/>
                <a:cs typeface="Times New Roman" panose="02020603050405020304" pitchFamily="18" charset="0"/>
                <a:sym typeface="+mn-ea"/>
              </a:rPr>
              <a:t>操作系统把缓冲区中的数据打包，发送到网络接口部件</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(3) </a:t>
            </a:r>
            <a:r>
              <a:rPr lang="zh-CN" altLang="en-US" sz="2000" dirty="0">
                <a:latin typeface="Times New Roman" panose="02020603050405020304" pitchFamily="18" charset="0"/>
                <a:cs typeface="Times New Roman" panose="02020603050405020304" pitchFamily="18" charset="0"/>
                <a:sym typeface="+mn-ea"/>
              </a:rPr>
              <a:t>网络接口硬件开始发送消息</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数据包的接收步骤</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(1) </a:t>
            </a:r>
            <a:r>
              <a:rPr lang="zh-CN" altLang="en-US" sz="2000" dirty="0">
                <a:latin typeface="Times New Roman" panose="02020603050405020304" pitchFamily="18" charset="0"/>
                <a:cs typeface="Times New Roman" panose="02020603050405020304" pitchFamily="18" charset="0"/>
                <a:sym typeface="+mn-ea"/>
              </a:rPr>
              <a:t>把数据包从网络接口部件拷贝到操作系统缓冲区</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(2) </a:t>
            </a:r>
            <a:r>
              <a:rPr lang="zh-CN" altLang="en-US" sz="2000" dirty="0">
                <a:latin typeface="Times New Roman" panose="02020603050405020304" pitchFamily="18" charset="0"/>
                <a:cs typeface="Times New Roman" panose="02020603050405020304" pitchFamily="18" charset="0"/>
                <a:sym typeface="+mn-ea"/>
              </a:rPr>
              <a:t>检查收到的数据包，如果正确，给接收方发回答信号</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(3) </a:t>
            </a:r>
            <a:r>
              <a:rPr lang="zh-CN" altLang="en-US" sz="2000" dirty="0">
                <a:latin typeface="Times New Roman" panose="02020603050405020304" pitchFamily="18" charset="0"/>
                <a:cs typeface="Times New Roman" panose="02020603050405020304" pitchFamily="18" charset="0"/>
                <a:sym typeface="+mn-ea"/>
              </a:rPr>
              <a:t>把接收到的数据拷贝到用户地址空间。发送方接收到回答信号后，释放系统缓冲区</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互连网络在传输方面的主要性能参数</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350645"/>
            <a:ext cx="8396605" cy="4815205"/>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频带宽度</a:t>
            </a:r>
            <a:r>
              <a:rPr lang="en-US" altLang="zh-CN" sz="2000" dirty="0">
                <a:latin typeface="Times New Roman" panose="02020603050405020304" pitchFamily="18" charset="0"/>
                <a:cs typeface="Times New Roman" panose="02020603050405020304" pitchFamily="18" charset="0"/>
                <a:sym typeface="+mn-ea"/>
              </a:rPr>
              <a:t>(Bandwidth): </a:t>
            </a:r>
            <a:r>
              <a:rPr lang="zh-CN" altLang="en-US" sz="2000" dirty="0">
                <a:latin typeface="Times New Roman" panose="02020603050405020304" pitchFamily="18" charset="0"/>
                <a:cs typeface="Times New Roman" panose="02020603050405020304" pitchFamily="18" charset="0"/>
                <a:sym typeface="+mn-ea"/>
              </a:rPr>
              <a:t>互连网络传输信息的最大速率</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传输时间</a:t>
            </a:r>
            <a:r>
              <a:rPr lang="en-US" altLang="zh-CN" sz="2000" dirty="0">
                <a:latin typeface="Times New Roman" panose="02020603050405020304" pitchFamily="18" charset="0"/>
                <a:cs typeface="Times New Roman" panose="02020603050405020304" pitchFamily="18" charset="0"/>
                <a:sym typeface="+mn-ea"/>
              </a:rPr>
              <a:t>(Transmission time): </a:t>
            </a:r>
            <a:r>
              <a:rPr lang="zh-CN" altLang="en-US" sz="2000" dirty="0">
                <a:latin typeface="Times New Roman" panose="02020603050405020304" pitchFamily="18" charset="0"/>
                <a:cs typeface="Times New Roman" panose="02020603050405020304" pitchFamily="18" charset="0"/>
                <a:sym typeface="+mn-ea"/>
              </a:rPr>
              <a:t>等于消息长度除以频宽</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飞行时间</a:t>
            </a:r>
            <a:r>
              <a:rPr lang="en-US" altLang="zh-CN" sz="2000" dirty="0">
                <a:latin typeface="Times New Roman" panose="02020603050405020304" pitchFamily="18" charset="0"/>
                <a:cs typeface="Times New Roman" panose="02020603050405020304" pitchFamily="18" charset="0"/>
                <a:sym typeface="+mn-ea"/>
              </a:rPr>
              <a:t>(Time of flight): </a:t>
            </a:r>
            <a:r>
              <a:rPr lang="zh-CN" altLang="en-US" sz="2000" dirty="0">
                <a:latin typeface="Times New Roman" panose="02020603050405020304" pitchFamily="18" charset="0"/>
                <a:cs typeface="Times New Roman" panose="02020603050405020304" pitchFamily="18" charset="0"/>
                <a:sym typeface="+mn-ea"/>
              </a:rPr>
              <a:t>第</a:t>
            </a:r>
            <a:r>
              <a:rPr lang="en-US" altLang="zh-CN" sz="2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位信息到达接收方所花费的时间</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传输时延</a:t>
            </a:r>
            <a:r>
              <a:rPr lang="en-US" altLang="zh-CN" sz="2000" dirty="0">
                <a:latin typeface="Times New Roman" panose="02020603050405020304" pitchFamily="18" charset="0"/>
                <a:cs typeface="Times New Roman" panose="02020603050405020304" pitchFamily="18" charset="0"/>
                <a:sym typeface="+mn-ea"/>
              </a:rPr>
              <a:t>(Transport latency): </a:t>
            </a:r>
            <a:r>
              <a:rPr lang="zh-CN" altLang="en-US" sz="2000" dirty="0">
                <a:latin typeface="Times New Roman" panose="02020603050405020304" pitchFamily="18" charset="0"/>
                <a:cs typeface="Times New Roman" panose="02020603050405020304" pitchFamily="18" charset="0"/>
                <a:sym typeface="+mn-ea"/>
              </a:rPr>
              <a:t>等于飞行时间与传输时间之和</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发送方开销</a:t>
            </a:r>
            <a:r>
              <a:rPr lang="en-US" altLang="zh-CN" sz="2000" dirty="0">
                <a:latin typeface="Times New Roman" panose="02020603050405020304" pitchFamily="18" charset="0"/>
                <a:cs typeface="Times New Roman" panose="02020603050405020304" pitchFamily="18" charset="0"/>
                <a:sym typeface="+mn-ea"/>
              </a:rPr>
              <a:t>(Sender overhead): </a:t>
            </a:r>
            <a:r>
              <a:rPr lang="zh-CN" altLang="en-US" sz="2000" dirty="0">
                <a:latin typeface="Times New Roman" panose="02020603050405020304" pitchFamily="18" charset="0"/>
                <a:cs typeface="Times New Roman" panose="02020603050405020304" pitchFamily="18" charset="0"/>
                <a:sym typeface="+mn-ea"/>
              </a:rPr>
              <a:t>处理器把消息放到互连网络的时间</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接收方开销</a:t>
            </a:r>
            <a:r>
              <a:rPr lang="en-US" altLang="zh-CN" sz="2000" dirty="0">
                <a:latin typeface="Times New Roman" panose="02020603050405020304" pitchFamily="18" charset="0"/>
                <a:cs typeface="Times New Roman" panose="02020603050405020304" pitchFamily="18" charset="0"/>
                <a:sym typeface="+mn-ea"/>
              </a:rPr>
              <a:t>(Receiver overhead): </a:t>
            </a:r>
            <a:r>
              <a:rPr lang="zh-CN" altLang="en-US" sz="2000" dirty="0">
                <a:latin typeface="Times New Roman" panose="02020603050405020304" pitchFamily="18" charset="0"/>
                <a:cs typeface="Times New Roman" panose="02020603050405020304" pitchFamily="18" charset="0"/>
                <a:sym typeface="+mn-ea"/>
              </a:rPr>
              <a:t>处理器把消息从网络取出来的时间</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一个消息的总时延</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59840"/>
            <a:ext cx="8396605" cy="394970"/>
          </a:xfrm>
        </p:spPr>
        <p:txBody>
          <a:bodyPr vert="horz" wrap="square" lIns="91440" tIns="45720" rIns="91440" bIns="45720" anchor="t" anchorCtr="0"/>
          <a:p>
            <a:pPr eaLnBrk="1" hangingPunct="1"/>
            <a:r>
              <a:rPr lang="zh-CN" altLang="en-US" sz="2000" dirty="0">
                <a:sym typeface="+mn-ea"/>
              </a:rPr>
              <a:t>总时延</a:t>
            </a:r>
            <a:r>
              <a:rPr lang="en-US" altLang="zh-CN" sz="2000" dirty="0">
                <a:sym typeface="+mn-ea"/>
              </a:rPr>
              <a:t>=</a:t>
            </a:r>
            <a:r>
              <a:rPr lang="zh-CN" altLang="en-US" sz="2000" dirty="0">
                <a:sym typeface="+mn-ea"/>
              </a:rPr>
              <a:t>发送方开销</a:t>
            </a:r>
            <a:r>
              <a:rPr lang="en-US" altLang="zh-CN" sz="2000" dirty="0">
                <a:sym typeface="+mn-ea"/>
              </a:rPr>
              <a:t>+</a:t>
            </a:r>
            <a:r>
              <a:rPr lang="zh-CN" altLang="en-US" sz="2000" dirty="0">
                <a:sym typeface="+mn-ea"/>
              </a:rPr>
              <a:t>飞行时间</a:t>
            </a:r>
            <a:r>
              <a:rPr lang="en-US" altLang="zh-CN" sz="2000" dirty="0">
                <a:sym typeface="+mn-ea"/>
              </a:rPr>
              <a:t>+</a:t>
            </a:r>
            <a:r>
              <a:rPr lang="zh-CN" altLang="en-US" sz="2000" dirty="0">
                <a:sym typeface="+mn-ea"/>
              </a:rPr>
              <a:t>消息长度</a:t>
            </a:r>
            <a:r>
              <a:rPr lang="en-US" altLang="zh-CN" sz="2000" dirty="0">
                <a:sym typeface="+mn-ea"/>
              </a:rPr>
              <a:t>/</a:t>
            </a:r>
            <a:r>
              <a:rPr lang="zh-CN" altLang="en-US" sz="2000" dirty="0">
                <a:sym typeface="+mn-ea"/>
              </a:rPr>
              <a:t>频宽</a:t>
            </a:r>
            <a:r>
              <a:rPr lang="en-US" altLang="zh-CN" sz="2000" dirty="0">
                <a:sym typeface="+mn-ea"/>
              </a:rPr>
              <a:t>+</a:t>
            </a:r>
            <a:r>
              <a:rPr lang="zh-CN" altLang="en-US" sz="2000" dirty="0">
                <a:sym typeface="+mn-ea"/>
              </a:rPr>
              <a:t>接收方开销</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899795" y="1917065"/>
            <a:ext cx="7378700" cy="44259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7.1.</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4</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互连网络的表示</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方法</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371600"/>
            <a:ext cx="8396605" cy="4794250"/>
          </a:xfrm>
        </p:spPr>
        <p:txBody>
          <a:bodyPr vert="horz" wrap="square" lIns="91440" tIns="45720" rIns="91440" bIns="45720" anchor="t" anchorCtr="0"/>
          <a:p>
            <a:pPr lvl="0"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互连网的</a:t>
            </a: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个输入和</a:t>
            </a: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个输出端分别用整数</a:t>
            </a:r>
            <a:r>
              <a:rPr lang="en-US" altLang="zh-CN" sz="2000" dirty="0">
                <a:latin typeface="Times New Roman" panose="02020603050405020304" pitchFamily="18" charset="0"/>
                <a:cs typeface="Times New Roman" panose="02020603050405020304" pitchFamily="18" charset="0"/>
                <a:sym typeface="+mn-ea"/>
              </a:rPr>
              <a:t>(0, 1, 2, ..., N-1)</a:t>
            </a:r>
            <a:r>
              <a:rPr lang="zh-CN" altLang="en-US" sz="2000" dirty="0">
                <a:latin typeface="Times New Roman" panose="02020603050405020304" pitchFamily="18" charset="0"/>
                <a:cs typeface="Times New Roman" panose="02020603050405020304" pitchFamily="18" charset="0"/>
                <a:sym typeface="+mn-ea"/>
              </a:rPr>
              <a:t>表示，</a:t>
            </a:r>
            <a:r>
              <a:rPr lang="zh-CN" altLang="en-US" sz="2000" dirty="0">
                <a:solidFill>
                  <a:srgbClr val="CC3300"/>
                </a:solidFill>
                <a:latin typeface="Times New Roman" panose="02020603050405020304" pitchFamily="18" charset="0"/>
                <a:cs typeface="Times New Roman" panose="02020603050405020304" pitchFamily="18" charset="0"/>
                <a:sym typeface="+mn-ea"/>
              </a:rPr>
              <a:t>互连函数</a:t>
            </a:r>
            <a:r>
              <a:rPr lang="zh-CN" altLang="en-US" sz="2000" dirty="0">
                <a:latin typeface="Times New Roman" panose="02020603050405020304" pitchFamily="18" charset="0"/>
                <a:cs typeface="Times New Roman" panose="02020603050405020304" pitchFamily="18" charset="0"/>
                <a:sym typeface="+mn-ea"/>
              </a:rPr>
              <a:t>表示相互连接的输出端号和输入端号之间的一一对应关系</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表示方法：互连函数法，图形表示法</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输入输出对应表示法</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函数表示法： </a:t>
            </a:r>
            <a:r>
              <a:rPr lang="en-US" altLang="zh-CN" sz="2000" i="1" dirty="0">
                <a:latin typeface="Times New Roman" panose="02020603050405020304" pitchFamily="18" charset="0"/>
                <a:cs typeface="Times New Roman" panose="02020603050405020304" pitchFamily="18" charset="0"/>
                <a:sym typeface="+mn-ea"/>
              </a:rPr>
              <a:t>f(x)</a:t>
            </a:r>
            <a:r>
              <a:rPr lang="zh-CN" altLang="en-US" sz="2000" dirty="0">
                <a:latin typeface="Times New Roman" panose="02020603050405020304" pitchFamily="18" charset="0"/>
                <a:cs typeface="Times New Roman" panose="02020603050405020304" pitchFamily="18" charset="0"/>
                <a:sym typeface="+mn-ea"/>
              </a:rPr>
              <a:t>表示互连函数，</a:t>
            </a:r>
            <a:r>
              <a:rPr lang="zh-CN" altLang="en-US" sz="2000" i="1" dirty="0">
                <a:latin typeface="Times New Roman" panose="02020603050405020304" pitchFamily="18" charset="0"/>
                <a:cs typeface="Times New Roman" panose="02020603050405020304" pitchFamily="18" charset="0"/>
                <a:sym typeface="+mn-ea"/>
              </a:rPr>
              <a:t>或：</a:t>
            </a:r>
            <a:r>
              <a:rPr lang="en-US" altLang="zh-CN" sz="2000" i="1" dirty="0">
                <a:latin typeface="Times New Roman" panose="02020603050405020304" pitchFamily="18" charset="0"/>
                <a:cs typeface="Times New Roman" panose="02020603050405020304" pitchFamily="18" charset="0"/>
                <a:sym typeface="+mn-ea"/>
              </a:rPr>
              <a:t>f</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x</a:t>
            </a:r>
            <a:r>
              <a:rPr lang="en-US" altLang="zh-CN" sz="2000" i="1" baseline="-25000" dirty="0">
                <a:latin typeface="Times New Roman" panose="02020603050405020304" pitchFamily="18" charset="0"/>
                <a:cs typeface="Times New Roman" panose="02020603050405020304" pitchFamily="18" charset="0"/>
                <a:sym typeface="+mn-ea"/>
              </a:rPr>
              <a:t>n-1</a:t>
            </a:r>
            <a:r>
              <a:rPr lang="en-US" altLang="zh-CN" sz="2000" i="1" dirty="0">
                <a:latin typeface="Times New Roman" panose="02020603050405020304" pitchFamily="18" charset="0"/>
                <a:cs typeface="Times New Roman" panose="02020603050405020304" pitchFamily="18" charset="0"/>
                <a:sym typeface="+mn-ea"/>
              </a:rPr>
              <a:t>x</a:t>
            </a:r>
            <a:r>
              <a:rPr lang="en-US" altLang="zh-CN" sz="2000" i="1" baseline="-25000" dirty="0">
                <a:latin typeface="Times New Roman" panose="02020603050405020304" pitchFamily="18" charset="0"/>
                <a:cs typeface="Times New Roman" panose="02020603050405020304" pitchFamily="18" charset="0"/>
                <a:sym typeface="+mn-ea"/>
              </a:rPr>
              <a:t>n-2</a:t>
            </a:r>
            <a:r>
              <a:rPr lang="en-US" altLang="zh-CN" sz="2000" i="1" dirty="0">
                <a:latin typeface="Times New Roman" panose="02020603050405020304" pitchFamily="18" charset="0"/>
                <a:cs typeface="Times New Roman" panose="02020603050405020304" pitchFamily="18" charset="0"/>
                <a:sym typeface="+mn-ea"/>
              </a:rPr>
              <a:t>...x</a:t>
            </a:r>
            <a:r>
              <a:rPr lang="en-US" altLang="zh-CN" sz="2000" i="1" baseline="-25000" dirty="0">
                <a:latin typeface="Times New Roman" panose="02020603050405020304" pitchFamily="18" charset="0"/>
                <a:cs typeface="Times New Roman" panose="02020603050405020304" pitchFamily="18" charset="0"/>
                <a:sym typeface="+mn-ea"/>
              </a:rPr>
              <a:t>1</a:t>
            </a:r>
            <a:r>
              <a:rPr lang="en-US" altLang="zh-CN" sz="2000" i="1" dirty="0">
                <a:latin typeface="Times New Roman" panose="02020603050405020304" pitchFamily="18" charset="0"/>
                <a:cs typeface="Times New Roman" panose="02020603050405020304" pitchFamily="18" charset="0"/>
                <a:sym typeface="+mn-ea"/>
              </a:rPr>
              <a:t>x</a:t>
            </a:r>
            <a:r>
              <a:rPr lang="en-US" altLang="zh-CN" sz="2000" i="1" baseline="-25000" dirty="0">
                <a:latin typeface="Times New Roman" panose="02020603050405020304" pitchFamily="18" charset="0"/>
                <a:cs typeface="Times New Roman" panose="02020603050405020304" pitchFamily="18" charset="0"/>
                <a:sym typeface="+mn-ea"/>
              </a:rPr>
              <a:t>0 </a:t>
            </a:r>
            <a:r>
              <a:rPr lang="en-US" altLang="zh-CN" sz="2000" dirty="0">
                <a:latin typeface="Times New Roman" panose="02020603050405020304" pitchFamily="18" charset="0"/>
                <a:cs typeface="Times New Roman" panose="02020603050405020304" pitchFamily="18" charset="0"/>
                <a:sym typeface="+mn-ea"/>
              </a:rPr>
              <a:t>)</a:t>
            </a:r>
            <a:endParaRPr lang="en-US" altLang="zh-CN" sz="2000" dirty="0">
              <a:latin typeface="Times New Roman" panose="02020603050405020304" pitchFamily="18" charset="0"/>
              <a:cs typeface="Times New Roman" panose="02020603050405020304" pitchFamily="18" charset="0"/>
            </a:endParaRPr>
          </a:p>
          <a:p>
            <a:pPr lvl="2" eaLnBrk="1" latinLnBrk="0" hangingPunct="1">
              <a:spcBef>
                <a:spcPts val="600"/>
              </a:spcBef>
            </a:pPr>
            <a:r>
              <a:rPr lang="en-US" altLang="zh-CN" sz="1710" i="1" dirty="0">
                <a:latin typeface="Times New Roman" panose="02020603050405020304" pitchFamily="18" charset="0"/>
                <a:cs typeface="Times New Roman" panose="02020603050405020304" pitchFamily="18" charset="0"/>
                <a:sym typeface="+mn-ea"/>
              </a:rPr>
              <a:t>x</a:t>
            </a:r>
            <a:r>
              <a:rPr lang="zh-CN" altLang="en-US" sz="1710" dirty="0">
                <a:latin typeface="Times New Roman" panose="02020603050405020304" pitchFamily="18" charset="0"/>
                <a:cs typeface="Times New Roman" panose="02020603050405020304" pitchFamily="18" charset="0"/>
                <a:sym typeface="+mn-ea"/>
              </a:rPr>
              <a:t>表示输入端号，常用</a:t>
            </a:r>
            <a:r>
              <a:rPr lang="en-US" altLang="zh-CN" sz="1710" dirty="0">
                <a:latin typeface="Times New Roman" panose="02020603050405020304" pitchFamily="18" charset="0"/>
                <a:cs typeface="Times New Roman" panose="02020603050405020304" pitchFamily="18" charset="0"/>
                <a:sym typeface="+mn-ea"/>
              </a:rPr>
              <a:t>n</a:t>
            </a:r>
            <a:r>
              <a:rPr lang="zh-CN" altLang="en-US" sz="1710" dirty="0">
                <a:latin typeface="Times New Roman" panose="02020603050405020304" pitchFamily="18" charset="0"/>
                <a:cs typeface="Times New Roman" panose="02020603050405020304" pitchFamily="18" charset="0"/>
                <a:sym typeface="+mn-ea"/>
              </a:rPr>
              <a:t>位二进制形式表示 </a:t>
            </a:r>
            <a:r>
              <a:rPr lang="en-US" altLang="zh-CN" sz="1710" i="1" dirty="0">
                <a:latin typeface="Times New Roman" panose="02020603050405020304" pitchFamily="18" charset="0"/>
                <a:cs typeface="Times New Roman" panose="02020603050405020304" pitchFamily="18" charset="0"/>
                <a:sym typeface="+mn-ea"/>
              </a:rPr>
              <a:t>x</a:t>
            </a:r>
            <a:r>
              <a:rPr lang="en-US" altLang="zh-CN" sz="1710" i="1" baseline="-25000" dirty="0">
                <a:latin typeface="Times New Roman" panose="02020603050405020304" pitchFamily="18" charset="0"/>
                <a:cs typeface="Times New Roman" panose="02020603050405020304" pitchFamily="18" charset="0"/>
                <a:sym typeface="+mn-ea"/>
              </a:rPr>
              <a:t>n-1</a:t>
            </a:r>
            <a:r>
              <a:rPr lang="en-US" altLang="zh-CN" sz="1710" i="1" dirty="0">
                <a:latin typeface="Times New Roman" panose="02020603050405020304" pitchFamily="18" charset="0"/>
                <a:cs typeface="Times New Roman" panose="02020603050405020304" pitchFamily="18" charset="0"/>
                <a:sym typeface="+mn-ea"/>
              </a:rPr>
              <a:t>x</a:t>
            </a:r>
            <a:r>
              <a:rPr lang="en-US" altLang="zh-CN" sz="1710" i="1" baseline="-25000" dirty="0">
                <a:latin typeface="Times New Roman" panose="02020603050405020304" pitchFamily="18" charset="0"/>
                <a:cs typeface="Times New Roman" panose="02020603050405020304" pitchFamily="18" charset="0"/>
                <a:sym typeface="+mn-ea"/>
              </a:rPr>
              <a:t>n-2</a:t>
            </a:r>
            <a:r>
              <a:rPr lang="en-US" altLang="zh-CN" sz="1710" i="1" dirty="0">
                <a:latin typeface="Times New Roman" panose="02020603050405020304" pitchFamily="18" charset="0"/>
                <a:cs typeface="Times New Roman" panose="02020603050405020304" pitchFamily="18" charset="0"/>
                <a:sym typeface="+mn-ea"/>
              </a:rPr>
              <a:t>...x</a:t>
            </a:r>
            <a:r>
              <a:rPr lang="en-US" altLang="zh-CN" sz="1710" i="1" baseline="-25000" dirty="0">
                <a:latin typeface="Times New Roman" panose="02020603050405020304" pitchFamily="18" charset="0"/>
                <a:cs typeface="Times New Roman" panose="02020603050405020304" pitchFamily="18" charset="0"/>
                <a:sym typeface="+mn-ea"/>
              </a:rPr>
              <a:t>1</a:t>
            </a:r>
            <a:r>
              <a:rPr lang="en-US" altLang="zh-CN" sz="1710" i="1" dirty="0">
                <a:latin typeface="Times New Roman" panose="02020603050405020304" pitchFamily="18" charset="0"/>
                <a:cs typeface="Times New Roman" panose="02020603050405020304" pitchFamily="18" charset="0"/>
                <a:sym typeface="+mn-ea"/>
              </a:rPr>
              <a:t>x</a:t>
            </a:r>
            <a:r>
              <a:rPr lang="en-US" altLang="zh-CN" sz="1710" i="1" baseline="-25000" dirty="0">
                <a:latin typeface="Times New Roman" panose="02020603050405020304" pitchFamily="18" charset="0"/>
                <a:cs typeface="Times New Roman" panose="02020603050405020304" pitchFamily="18" charset="0"/>
                <a:sym typeface="+mn-ea"/>
              </a:rPr>
              <a:t>0</a:t>
            </a:r>
            <a:endParaRPr lang="en-US" altLang="zh-CN" sz="171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图形表示法</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用图形表示输入和输出端之间的连接</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输入输出对应</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矩阵</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表示法</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600"/>
              </a:spcBef>
            </a:pP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600"/>
              </a:spcBef>
            </a:pP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循环表示法</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把互连函数</a:t>
            </a:r>
            <a:r>
              <a:rPr lang="en-US" altLang="zh-CN" sz="2000" dirty="0">
                <a:latin typeface="Times New Roman" panose="02020603050405020304" pitchFamily="18" charset="0"/>
                <a:cs typeface="Times New Roman" panose="02020603050405020304" pitchFamily="18" charset="0"/>
                <a:sym typeface="+mn-ea"/>
              </a:rPr>
              <a:t>f(x)</a:t>
            </a:r>
            <a:r>
              <a:rPr lang="zh-CN" altLang="en-US" sz="2000" dirty="0">
                <a:latin typeface="Times New Roman" panose="02020603050405020304" pitchFamily="18" charset="0"/>
                <a:cs typeface="Times New Roman" panose="02020603050405020304" pitchFamily="18" charset="0"/>
                <a:sym typeface="+mn-ea"/>
              </a:rPr>
              <a:t>表示为</a:t>
            </a:r>
            <a:br>
              <a:rPr lang="zh-CN" altLang="en-US" sz="2000" dirty="0">
                <a:latin typeface="Times New Roman" panose="02020603050405020304" pitchFamily="18" charset="0"/>
                <a:cs typeface="Times New Roman" panose="02020603050405020304" pitchFamily="18" charset="0"/>
                <a:sym typeface="+mn-ea"/>
              </a:rPr>
            </a:b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solidFill>
                  <a:srgbClr val="000000"/>
                </a:solidFill>
                <a:latin typeface="Times New Roman" panose="02020603050405020304" pitchFamily="18" charset="0"/>
                <a:cs typeface="Times New Roman" panose="02020603050405020304" pitchFamily="18" charset="0"/>
                <a:sym typeface="+mn-ea"/>
              </a:rPr>
              <a:t>(x</a:t>
            </a:r>
            <a:r>
              <a:rPr lang="en-US" altLang="zh-CN" sz="2000" baseline="-30000" dirty="0">
                <a:solidFill>
                  <a:srgbClr val="000000"/>
                </a:solidFill>
                <a:latin typeface="Times New Roman" panose="02020603050405020304" pitchFamily="18" charset="0"/>
                <a:cs typeface="Times New Roman" panose="02020603050405020304" pitchFamily="18" charset="0"/>
                <a:sym typeface="+mn-ea"/>
              </a:rPr>
              <a:t>0</a:t>
            </a:r>
            <a:r>
              <a:rPr lang="zh-CN" altLang="en-US" sz="2000" dirty="0">
                <a:solidFill>
                  <a:srgbClr val="000000"/>
                </a:solidFill>
                <a:latin typeface="Times New Roman" panose="02020603050405020304" pitchFamily="18" charset="0"/>
                <a:cs typeface="Times New Roman" panose="02020603050405020304" pitchFamily="18" charset="0"/>
                <a:sym typeface="+mn-ea"/>
              </a:rPr>
              <a:t>，</a:t>
            </a:r>
            <a:r>
              <a:rPr lang="en-US" altLang="zh-CN" sz="2000" dirty="0">
                <a:solidFill>
                  <a:srgbClr val="000000"/>
                </a:solidFill>
                <a:latin typeface="Times New Roman" panose="02020603050405020304" pitchFamily="18" charset="0"/>
                <a:cs typeface="Times New Roman" panose="02020603050405020304" pitchFamily="18" charset="0"/>
                <a:sym typeface="+mn-ea"/>
              </a:rPr>
              <a:t>x</a:t>
            </a:r>
            <a:r>
              <a:rPr lang="en-US" altLang="zh-CN" sz="2000" baseline="-30000" dirty="0">
                <a:solidFill>
                  <a:srgbClr val="000000"/>
                </a:solidFill>
                <a:latin typeface="Times New Roman" panose="02020603050405020304" pitchFamily="18" charset="0"/>
                <a:cs typeface="Times New Roman" panose="02020603050405020304" pitchFamily="18" charset="0"/>
                <a:sym typeface="+mn-ea"/>
              </a:rPr>
              <a:t>1</a:t>
            </a:r>
            <a:r>
              <a:rPr lang="zh-CN" altLang="en-US" sz="2000" dirty="0">
                <a:solidFill>
                  <a:srgbClr val="000000"/>
                </a:solidFill>
                <a:latin typeface="Times New Roman" panose="02020603050405020304" pitchFamily="18" charset="0"/>
                <a:cs typeface="Times New Roman" panose="02020603050405020304" pitchFamily="18" charset="0"/>
                <a:sym typeface="+mn-ea"/>
              </a:rPr>
              <a:t>，</a:t>
            </a:r>
            <a:r>
              <a:rPr lang="en-US" altLang="zh-CN" sz="2000" dirty="0">
                <a:solidFill>
                  <a:srgbClr val="000000"/>
                </a:solidFill>
                <a:latin typeface="Times New Roman" panose="02020603050405020304" pitchFamily="18" charset="0"/>
                <a:cs typeface="Times New Roman" panose="02020603050405020304" pitchFamily="18" charset="0"/>
                <a:sym typeface="+mn-ea"/>
              </a:rPr>
              <a:t>...</a:t>
            </a:r>
            <a:r>
              <a:rPr lang="zh-CN" altLang="en-US" sz="2000" dirty="0">
                <a:solidFill>
                  <a:srgbClr val="000000"/>
                </a:solidFill>
                <a:latin typeface="Times New Roman" panose="02020603050405020304" pitchFamily="18" charset="0"/>
                <a:cs typeface="Times New Roman" panose="02020603050405020304" pitchFamily="18" charset="0"/>
                <a:sym typeface="+mn-ea"/>
              </a:rPr>
              <a:t>，</a:t>
            </a:r>
            <a:r>
              <a:rPr lang="en-US" altLang="zh-CN" sz="2000" dirty="0">
                <a:solidFill>
                  <a:srgbClr val="000000"/>
                </a:solidFill>
                <a:latin typeface="Times New Roman" panose="02020603050405020304" pitchFamily="18" charset="0"/>
                <a:cs typeface="Times New Roman" panose="02020603050405020304" pitchFamily="18" charset="0"/>
                <a:sym typeface="+mn-ea"/>
              </a:rPr>
              <a:t>x</a:t>
            </a:r>
            <a:r>
              <a:rPr lang="en-US" altLang="zh-CN" sz="2000" baseline="-30000" dirty="0">
                <a:solidFill>
                  <a:srgbClr val="000000"/>
                </a:solidFill>
                <a:latin typeface="Times New Roman" panose="02020603050405020304" pitchFamily="18" charset="0"/>
                <a:cs typeface="Times New Roman" panose="02020603050405020304" pitchFamily="18" charset="0"/>
                <a:sym typeface="+mn-ea"/>
              </a:rPr>
              <a:t>j</a:t>
            </a:r>
            <a:r>
              <a:rPr lang="en-US" altLang="zh-CN" sz="2000" dirty="0">
                <a:solidFill>
                  <a:srgbClr val="000000"/>
                </a:solidFill>
                <a:latin typeface="Times New Roman" panose="02020603050405020304" pitchFamily="18" charset="0"/>
                <a:cs typeface="Times New Roman" panose="02020603050405020304" pitchFamily="18" charset="0"/>
                <a:sym typeface="+mn-ea"/>
              </a:rPr>
              <a:t>) (x</a:t>
            </a:r>
            <a:r>
              <a:rPr lang="en-US" altLang="zh-CN" sz="2000" baseline="-30000" dirty="0">
                <a:solidFill>
                  <a:srgbClr val="000000"/>
                </a:solidFill>
                <a:latin typeface="Times New Roman" panose="02020603050405020304" pitchFamily="18" charset="0"/>
                <a:cs typeface="Times New Roman" panose="02020603050405020304" pitchFamily="18" charset="0"/>
                <a:sym typeface="+mn-ea"/>
              </a:rPr>
              <a:t>k</a:t>
            </a:r>
            <a:r>
              <a:rPr lang="zh-CN" altLang="en-US" sz="2000" dirty="0">
                <a:solidFill>
                  <a:srgbClr val="000000"/>
                </a:solidFill>
                <a:latin typeface="Times New Roman" panose="02020603050405020304" pitchFamily="18" charset="0"/>
                <a:cs typeface="Times New Roman" panose="02020603050405020304" pitchFamily="18" charset="0"/>
                <a:sym typeface="+mn-ea"/>
              </a:rPr>
              <a:t>，</a:t>
            </a:r>
            <a:r>
              <a:rPr lang="en-US" altLang="zh-CN" sz="2000" dirty="0">
                <a:solidFill>
                  <a:srgbClr val="000000"/>
                </a:solidFill>
                <a:latin typeface="Times New Roman" panose="02020603050405020304" pitchFamily="18" charset="0"/>
                <a:cs typeface="Times New Roman" panose="02020603050405020304" pitchFamily="18" charset="0"/>
                <a:sym typeface="+mn-ea"/>
              </a:rPr>
              <a:t>x</a:t>
            </a:r>
            <a:r>
              <a:rPr lang="en-US" altLang="zh-CN" sz="2000" baseline="-30000" dirty="0">
                <a:solidFill>
                  <a:srgbClr val="000000"/>
                </a:solidFill>
                <a:latin typeface="Times New Roman" panose="02020603050405020304" pitchFamily="18" charset="0"/>
                <a:cs typeface="Times New Roman" panose="02020603050405020304" pitchFamily="18" charset="0"/>
                <a:sym typeface="+mn-ea"/>
              </a:rPr>
              <a:t>k+1</a:t>
            </a:r>
            <a:r>
              <a:rPr lang="zh-CN" altLang="en-US" sz="2000" dirty="0">
                <a:solidFill>
                  <a:srgbClr val="000000"/>
                </a:solidFill>
                <a:latin typeface="Times New Roman" panose="02020603050405020304" pitchFamily="18" charset="0"/>
                <a:cs typeface="Times New Roman" panose="02020603050405020304" pitchFamily="18" charset="0"/>
                <a:sym typeface="+mn-ea"/>
              </a:rPr>
              <a:t>，</a:t>
            </a:r>
            <a:r>
              <a:rPr lang="en-US" altLang="zh-CN" sz="2000" dirty="0">
                <a:solidFill>
                  <a:srgbClr val="000000"/>
                </a:solidFill>
                <a:latin typeface="Times New Roman" panose="02020603050405020304" pitchFamily="18" charset="0"/>
                <a:cs typeface="Times New Roman" panose="02020603050405020304" pitchFamily="18" charset="0"/>
                <a:sym typeface="+mn-ea"/>
              </a:rPr>
              <a:t>...</a:t>
            </a:r>
            <a:r>
              <a:rPr lang="zh-CN" altLang="en-US" sz="2000" dirty="0">
                <a:solidFill>
                  <a:srgbClr val="000000"/>
                </a:solidFill>
                <a:latin typeface="Times New Roman" panose="02020603050405020304" pitchFamily="18" charset="0"/>
                <a:cs typeface="Times New Roman" panose="02020603050405020304" pitchFamily="18" charset="0"/>
                <a:sym typeface="+mn-ea"/>
              </a:rPr>
              <a:t>，</a:t>
            </a:r>
            <a:r>
              <a:rPr lang="en-US" altLang="zh-CN" sz="2000" dirty="0">
                <a:solidFill>
                  <a:srgbClr val="000000"/>
                </a:solidFill>
                <a:latin typeface="Times New Roman" panose="02020603050405020304" pitchFamily="18" charset="0"/>
                <a:cs typeface="Times New Roman" panose="02020603050405020304" pitchFamily="18" charset="0"/>
                <a:sym typeface="+mn-ea"/>
              </a:rPr>
              <a:t>x</a:t>
            </a:r>
            <a:r>
              <a:rPr lang="en-US" altLang="zh-CN" sz="2000" baseline="-30000" dirty="0">
                <a:solidFill>
                  <a:srgbClr val="000000"/>
                </a:solidFill>
                <a:latin typeface="Times New Roman" panose="02020603050405020304" pitchFamily="18" charset="0"/>
                <a:cs typeface="Times New Roman" panose="02020603050405020304" pitchFamily="18" charset="0"/>
                <a:sym typeface="+mn-ea"/>
              </a:rPr>
              <a:t>l</a:t>
            </a:r>
            <a:r>
              <a:rPr lang="en-US" altLang="zh-CN" sz="2000" dirty="0">
                <a:solidFill>
                  <a:srgbClr val="000000"/>
                </a:solidFill>
                <a:latin typeface="Times New Roman" panose="02020603050405020304" pitchFamily="18" charset="0"/>
                <a:cs typeface="Times New Roman" panose="02020603050405020304" pitchFamily="18" charset="0"/>
                <a:sym typeface="+mn-ea"/>
              </a:rPr>
              <a:t>) ...</a:t>
            </a:r>
            <a:endParaRPr lang="en-US" altLang="zh-CN" sz="2000" dirty="0">
              <a:latin typeface="Times New Roman" panose="02020603050405020304" pitchFamily="18" charset="0"/>
              <a:cs typeface="Times New Roman" panose="02020603050405020304" pitchFamily="18" charset="0"/>
            </a:endParaRPr>
          </a:p>
          <a:p>
            <a:pPr lvl="2" eaLnBrk="1" latinLnBrk="0" hangingPunct="1">
              <a:spcBef>
                <a:spcPts val="600"/>
              </a:spcBef>
            </a:pPr>
            <a:r>
              <a:rPr lang="zh-CN" altLang="en-US" sz="1710" dirty="0">
                <a:latin typeface="Times New Roman" panose="02020603050405020304" pitchFamily="18" charset="0"/>
                <a:cs typeface="Times New Roman" panose="02020603050405020304" pitchFamily="18" charset="0"/>
                <a:sym typeface="+mn-ea"/>
              </a:rPr>
              <a:t>括号表示循环</a:t>
            </a:r>
            <a:endParaRPr lang="zh-CN" altLang="en-US" sz="1710" dirty="0">
              <a:latin typeface="Times New Roman" panose="02020603050405020304" pitchFamily="18" charset="0"/>
              <a:cs typeface="Times New Roman" panose="02020603050405020304" pitchFamily="18" charset="0"/>
            </a:endParaRPr>
          </a:p>
          <a:p>
            <a:pPr lvl="3" eaLnBrk="1" latinLnBrk="0" hangingPunct="1">
              <a:spcBef>
                <a:spcPts val="600"/>
              </a:spcBef>
            </a:pPr>
            <a:r>
              <a:rPr lang="en-US" altLang="zh-CN" sz="1665" dirty="0">
                <a:solidFill>
                  <a:srgbClr val="000000"/>
                </a:solidFill>
                <a:latin typeface="Times New Roman" panose="02020603050405020304" pitchFamily="18" charset="0"/>
                <a:cs typeface="Times New Roman" panose="02020603050405020304" pitchFamily="18" charset="0"/>
                <a:sym typeface="+mn-ea"/>
              </a:rPr>
              <a:t>f(x</a:t>
            </a:r>
            <a:r>
              <a:rPr lang="en-US" altLang="zh-CN" sz="1665" baseline="-30000" dirty="0">
                <a:solidFill>
                  <a:srgbClr val="000000"/>
                </a:solidFill>
                <a:latin typeface="Times New Roman" panose="02020603050405020304" pitchFamily="18" charset="0"/>
                <a:cs typeface="Times New Roman" panose="02020603050405020304" pitchFamily="18" charset="0"/>
                <a:sym typeface="+mn-ea"/>
              </a:rPr>
              <a:t>0</a:t>
            </a:r>
            <a:r>
              <a:rPr lang="en-US" altLang="zh-CN" sz="1665" dirty="0">
                <a:solidFill>
                  <a:srgbClr val="000000"/>
                </a:solidFill>
                <a:latin typeface="Times New Roman" panose="02020603050405020304" pitchFamily="18" charset="0"/>
                <a:cs typeface="Times New Roman" panose="02020603050405020304" pitchFamily="18" charset="0"/>
                <a:sym typeface="+mn-ea"/>
              </a:rPr>
              <a:t>)=x</a:t>
            </a:r>
            <a:r>
              <a:rPr lang="en-US" altLang="zh-CN" sz="1665" baseline="-30000" dirty="0">
                <a:solidFill>
                  <a:srgbClr val="000000"/>
                </a:solidFill>
                <a:latin typeface="Times New Roman" panose="02020603050405020304" pitchFamily="18" charset="0"/>
                <a:cs typeface="Times New Roman" panose="02020603050405020304" pitchFamily="18" charset="0"/>
                <a:sym typeface="+mn-ea"/>
              </a:rPr>
              <a:t>1</a:t>
            </a:r>
            <a:r>
              <a:rPr lang="zh-CN" altLang="en-US" sz="1665" dirty="0">
                <a:solidFill>
                  <a:srgbClr val="000000"/>
                </a:solidFill>
                <a:latin typeface="Times New Roman" panose="02020603050405020304" pitchFamily="18" charset="0"/>
                <a:cs typeface="Times New Roman" panose="02020603050405020304" pitchFamily="18" charset="0"/>
                <a:sym typeface="+mn-ea"/>
              </a:rPr>
              <a:t>，</a:t>
            </a:r>
            <a:r>
              <a:rPr lang="en-US" altLang="zh-CN" sz="1665" dirty="0">
                <a:solidFill>
                  <a:srgbClr val="000000"/>
                </a:solidFill>
                <a:latin typeface="Times New Roman" panose="02020603050405020304" pitchFamily="18" charset="0"/>
                <a:cs typeface="Times New Roman" panose="02020603050405020304" pitchFamily="18" charset="0"/>
                <a:sym typeface="+mn-ea"/>
              </a:rPr>
              <a:t>f(x</a:t>
            </a:r>
            <a:r>
              <a:rPr lang="en-US" altLang="zh-CN" sz="1665" baseline="-30000" dirty="0">
                <a:solidFill>
                  <a:srgbClr val="000000"/>
                </a:solidFill>
                <a:latin typeface="Times New Roman" panose="02020603050405020304" pitchFamily="18" charset="0"/>
                <a:cs typeface="Times New Roman" panose="02020603050405020304" pitchFamily="18" charset="0"/>
                <a:sym typeface="+mn-ea"/>
              </a:rPr>
              <a:t>1</a:t>
            </a:r>
            <a:r>
              <a:rPr lang="en-US" altLang="zh-CN" sz="1665" dirty="0">
                <a:solidFill>
                  <a:srgbClr val="000000"/>
                </a:solidFill>
                <a:latin typeface="Times New Roman" panose="02020603050405020304" pitchFamily="18" charset="0"/>
                <a:cs typeface="Times New Roman" panose="02020603050405020304" pitchFamily="18" charset="0"/>
                <a:sym typeface="+mn-ea"/>
              </a:rPr>
              <a:t>)=x</a:t>
            </a:r>
            <a:r>
              <a:rPr lang="en-US" altLang="zh-CN" sz="1665" baseline="-30000" dirty="0">
                <a:solidFill>
                  <a:srgbClr val="000000"/>
                </a:solidFill>
                <a:latin typeface="Times New Roman" panose="02020603050405020304" pitchFamily="18" charset="0"/>
                <a:cs typeface="Times New Roman" panose="02020603050405020304" pitchFamily="18" charset="0"/>
                <a:sym typeface="+mn-ea"/>
              </a:rPr>
              <a:t>2</a:t>
            </a:r>
            <a:r>
              <a:rPr lang="zh-CN" altLang="en-US" sz="1665" dirty="0">
                <a:solidFill>
                  <a:srgbClr val="000000"/>
                </a:solidFill>
                <a:latin typeface="Times New Roman" panose="02020603050405020304" pitchFamily="18" charset="0"/>
                <a:cs typeface="Times New Roman" panose="02020603050405020304" pitchFamily="18" charset="0"/>
                <a:sym typeface="+mn-ea"/>
              </a:rPr>
              <a:t>，</a:t>
            </a:r>
            <a:r>
              <a:rPr lang="en-US" altLang="zh-CN" sz="1665" dirty="0">
                <a:solidFill>
                  <a:srgbClr val="000000"/>
                </a:solidFill>
                <a:latin typeface="Times New Roman" panose="02020603050405020304" pitchFamily="18" charset="0"/>
                <a:cs typeface="Times New Roman" panose="02020603050405020304" pitchFamily="18" charset="0"/>
                <a:sym typeface="+mn-ea"/>
              </a:rPr>
              <a:t>...</a:t>
            </a:r>
            <a:r>
              <a:rPr lang="zh-CN" altLang="en-US" sz="1665" dirty="0">
                <a:solidFill>
                  <a:srgbClr val="000000"/>
                </a:solidFill>
                <a:latin typeface="Times New Roman" panose="02020603050405020304" pitchFamily="18" charset="0"/>
                <a:cs typeface="Times New Roman" panose="02020603050405020304" pitchFamily="18" charset="0"/>
                <a:sym typeface="+mn-ea"/>
              </a:rPr>
              <a:t>，</a:t>
            </a:r>
            <a:r>
              <a:rPr lang="en-US" altLang="zh-CN" sz="1665" dirty="0">
                <a:solidFill>
                  <a:srgbClr val="000000"/>
                </a:solidFill>
                <a:latin typeface="Times New Roman" panose="02020603050405020304" pitchFamily="18" charset="0"/>
                <a:cs typeface="Times New Roman" panose="02020603050405020304" pitchFamily="18" charset="0"/>
                <a:sym typeface="+mn-ea"/>
              </a:rPr>
              <a:t>f(x</a:t>
            </a:r>
            <a:r>
              <a:rPr lang="en-US" altLang="zh-CN" sz="1665" baseline="-30000" dirty="0">
                <a:solidFill>
                  <a:srgbClr val="000000"/>
                </a:solidFill>
                <a:latin typeface="Times New Roman" panose="02020603050405020304" pitchFamily="18" charset="0"/>
                <a:cs typeface="Times New Roman" panose="02020603050405020304" pitchFamily="18" charset="0"/>
                <a:sym typeface="+mn-ea"/>
              </a:rPr>
              <a:t>j</a:t>
            </a:r>
            <a:r>
              <a:rPr lang="en-US" altLang="zh-CN" sz="1665" dirty="0">
                <a:solidFill>
                  <a:srgbClr val="000000"/>
                </a:solidFill>
                <a:latin typeface="Times New Roman" panose="02020603050405020304" pitchFamily="18" charset="0"/>
                <a:cs typeface="Times New Roman" panose="02020603050405020304" pitchFamily="18" charset="0"/>
                <a:sym typeface="+mn-ea"/>
              </a:rPr>
              <a:t>)=x</a:t>
            </a:r>
            <a:r>
              <a:rPr lang="en-US" altLang="zh-CN" sz="1665" baseline="-30000" dirty="0">
                <a:solidFill>
                  <a:srgbClr val="000000"/>
                </a:solidFill>
                <a:latin typeface="Times New Roman" panose="02020603050405020304" pitchFamily="18" charset="0"/>
                <a:cs typeface="Times New Roman" panose="02020603050405020304" pitchFamily="18" charset="0"/>
                <a:sym typeface="+mn-ea"/>
              </a:rPr>
              <a:t>0</a:t>
            </a:r>
            <a:r>
              <a:rPr lang="en-US" altLang="zh-CN" sz="1665" dirty="0">
                <a:solidFill>
                  <a:srgbClr val="000000"/>
                </a:solidFill>
                <a:latin typeface="Times New Roman" panose="02020603050405020304" pitchFamily="18" charset="0"/>
                <a:cs typeface="Times New Roman" panose="02020603050405020304" pitchFamily="18" charset="0"/>
                <a:sym typeface="+mn-ea"/>
              </a:rPr>
              <a:t> </a:t>
            </a:r>
            <a:endParaRPr lang="en-US" altLang="zh-CN" sz="1665" dirty="0">
              <a:latin typeface="Times New Roman" panose="02020603050405020304" pitchFamily="18" charset="0"/>
              <a:cs typeface="Times New Roman" panose="02020603050405020304" pitchFamily="18" charset="0"/>
            </a:endParaRPr>
          </a:p>
          <a:p>
            <a:pPr lvl="3" eaLnBrk="1" latinLnBrk="0" hangingPunct="1">
              <a:spcBef>
                <a:spcPts val="600"/>
              </a:spcBef>
            </a:pPr>
            <a:r>
              <a:rPr lang="en-US" altLang="zh-CN" sz="1665" dirty="0">
                <a:latin typeface="Times New Roman" panose="02020603050405020304" pitchFamily="18" charset="0"/>
                <a:cs typeface="Times New Roman" panose="02020603050405020304" pitchFamily="18" charset="0"/>
                <a:sym typeface="+mn-ea"/>
              </a:rPr>
              <a:t>j+1</a:t>
            </a:r>
            <a:r>
              <a:rPr lang="zh-CN" altLang="en-US" sz="1665" dirty="0">
                <a:latin typeface="Times New Roman" panose="02020603050405020304" pitchFamily="18" charset="0"/>
                <a:cs typeface="Times New Roman" panose="02020603050405020304" pitchFamily="18" charset="0"/>
                <a:sym typeface="+mn-ea"/>
              </a:rPr>
              <a:t>称为该循环的长度</a:t>
            </a:r>
            <a:endParaRPr lang="en-US" altLang="zh-CN" sz="1665"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1619885" y="3933190"/>
            <a:ext cx="3651250" cy="704850"/>
          </a:xfrm>
          <a:prstGeom prst="rect">
            <a:avLst/>
          </a:prstGeom>
        </p:spPr>
      </p:pic>
      <p:pic>
        <p:nvPicPr>
          <p:cNvPr id="16390" name="Picture 7"/>
          <p:cNvPicPr>
            <a:picLocks noChangeAspect="1"/>
          </p:cNvPicPr>
          <p:nvPr>
            <p:custDataLst>
              <p:tags r:id="rId4"/>
            </p:custDataLst>
          </p:nvPr>
        </p:nvPicPr>
        <p:blipFill>
          <a:blip r:embed="rId5"/>
          <a:stretch>
            <a:fillRect/>
          </a:stretch>
        </p:blipFill>
        <p:spPr>
          <a:xfrm>
            <a:off x="6804025" y="4004945"/>
            <a:ext cx="1745615" cy="2322195"/>
          </a:xfrm>
          <a:prstGeom prst="rect">
            <a:avLst/>
          </a:prstGeom>
          <a:noFill/>
          <a:ln w="1270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常用的互连函数</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303020"/>
            <a:ext cx="8396605" cy="1141095"/>
          </a:xfrm>
        </p:spPr>
        <p:txBody>
          <a:bodyPr vert="horz" wrap="square" lIns="91440" tIns="45720" rIns="91440" bIns="45720" anchor="t" anchorCtr="0"/>
          <a:p>
            <a:pPr eaLnBrk="1" hangingPunct="1"/>
            <a:r>
              <a:rPr lang="zh-CN" altLang="en-US" sz="2400" dirty="0">
                <a:latin typeface="Times New Roman" panose="02020603050405020304" pitchFamily="18" charset="0"/>
                <a:cs typeface="Times New Roman" panose="02020603050405020304" pitchFamily="18" charset="0"/>
                <a:sym typeface="+mn-ea"/>
              </a:rPr>
              <a:t>互连函数也称为置换或排列等</a:t>
            </a:r>
            <a:endParaRPr lang="zh-CN" altLang="en-US" sz="24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lang="zh-CN" altLang="en-US" sz="2400" dirty="0">
                <a:latin typeface="Times New Roman" panose="02020603050405020304" pitchFamily="18" charset="0"/>
                <a:cs typeface="Times New Roman" panose="02020603050405020304" pitchFamily="18" charset="0"/>
                <a:sym typeface="+mn-ea"/>
              </a:rPr>
              <a:t>恒等置换</a:t>
            </a:r>
            <a:endParaRPr lang="zh-CN" altLang="en-US" sz="2400" dirty="0">
              <a:latin typeface="Times New Roman" panose="02020603050405020304" pitchFamily="18" charset="0"/>
              <a:cs typeface="Times New Roman" panose="02020603050405020304" pitchFamily="18" charset="0"/>
            </a:endParaRPr>
          </a:p>
          <a:p>
            <a:pPr eaLnBrk="1" hangingPunct="1">
              <a:buNone/>
            </a:pPr>
            <a:r>
              <a:rPr lang="zh-CN" altLang="en-US" sz="2400" dirty="0">
                <a:latin typeface="Times New Roman" panose="02020603050405020304" pitchFamily="18" charset="0"/>
                <a:cs typeface="Times New Roman" panose="02020603050405020304" pitchFamily="18" charset="0"/>
                <a:sym typeface="+mn-ea"/>
              </a:rPr>
              <a:t>    </a:t>
            </a:r>
            <a:r>
              <a:rPr lang="zh-CN" altLang="en-US" sz="2400" i="1" dirty="0">
                <a:latin typeface="Times New Roman" panose="02020603050405020304" pitchFamily="18" charset="0"/>
                <a:cs typeface="Times New Roman" panose="02020603050405020304" pitchFamily="18" charset="0"/>
                <a:sym typeface="+mn-ea"/>
              </a:rPr>
              <a:t> </a:t>
            </a:r>
            <a:r>
              <a:rPr lang="en-US" altLang="zh-CN" sz="2400" i="1" dirty="0">
                <a:latin typeface="Times New Roman" panose="02020603050405020304" pitchFamily="18" charset="0"/>
                <a:cs typeface="Times New Roman" panose="02020603050405020304" pitchFamily="18" charset="0"/>
                <a:sym typeface="+mn-ea"/>
              </a:rPr>
              <a:t>I</a:t>
            </a:r>
            <a:r>
              <a:rPr lang="en-US" altLang="zh-CN" sz="2400" dirty="0">
                <a:latin typeface="Times New Roman" panose="02020603050405020304" pitchFamily="18" charset="0"/>
                <a:cs typeface="Times New Roman" panose="02020603050405020304" pitchFamily="18" charset="0"/>
                <a:sym typeface="+mn-ea"/>
              </a:rPr>
              <a:t>( </a:t>
            </a:r>
            <a:r>
              <a:rPr lang="en-US" altLang="zh-CN" sz="2400" i="1" dirty="0">
                <a:latin typeface="Times New Roman" panose="02020603050405020304" pitchFamily="18" charset="0"/>
                <a:cs typeface="Times New Roman" panose="02020603050405020304" pitchFamily="18" charset="0"/>
                <a:sym typeface="+mn-ea"/>
              </a:rPr>
              <a:t>x</a:t>
            </a:r>
            <a:r>
              <a:rPr lang="en-US" altLang="zh-CN" sz="2400" i="1" baseline="-25000" dirty="0">
                <a:latin typeface="Times New Roman" panose="02020603050405020304" pitchFamily="18" charset="0"/>
                <a:cs typeface="Times New Roman" panose="02020603050405020304" pitchFamily="18" charset="0"/>
                <a:sym typeface="+mn-ea"/>
              </a:rPr>
              <a:t>n-1</a:t>
            </a:r>
            <a:r>
              <a:rPr lang="en-US" altLang="zh-CN" sz="2400" i="1" dirty="0">
                <a:latin typeface="Times New Roman" panose="02020603050405020304" pitchFamily="18" charset="0"/>
                <a:cs typeface="Times New Roman" panose="02020603050405020304" pitchFamily="18" charset="0"/>
                <a:sym typeface="+mn-ea"/>
              </a:rPr>
              <a:t>x</a:t>
            </a:r>
            <a:r>
              <a:rPr lang="en-US" altLang="zh-CN" sz="2400" i="1" baseline="-25000" dirty="0">
                <a:latin typeface="Times New Roman" panose="02020603050405020304" pitchFamily="18" charset="0"/>
                <a:cs typeface="Times New Roman" panose="02020603050405020304" pitchFamily="18" charset="0"/>
                <a:sym typeface="+mn-ea"/>
              </a:rPr>
              <a:t>n-2 </a:t>
            </a:r>
            <a:r>
              <a:rPr lang="en-US" altLang="zh-CN" sz="2400" i="1" dirty="0">
                <a:latin typeface="Times New Roman" panose="02020603050405020304" pitchFamily="18" charset="0"/>
                <a:cs typeface="Times New Roman" panose="02020603050405020304" pitchFamily="18" charset="0"/>
                <a:sym typeface="+mn-ea"/>
              </a:rPr>
              <a:t>...</a:t>
            </a:r>
            <a:r>
              <a:rPr lang="en-US" altLang="zh-CN" sz="2400" i="1" baseline="-25000" dirty="0">
                <a:latin typeface="Times New Roman" panose="02020603050405020304" pitchFamily="18" charset="0"/>
                <a:cs typeface="Times New Roman" panose="02020603050405020304" pitchFamily="18" charset="0"/>
                <a:sym typeface="+mn-ea"/>
              </a:rPr>
              <a:t> </a:t>
            </a:r>
            <a:r>
              <a:rPr lang="en-US" altLang="zh-CN" sz="2400" i="1" dirty="0">
                <a:latin typeface="Times New Roman" panose="02020603050405020304" pitchFamily="18" charset="0"/>
                <a:cs typeface="Times New Roman" panose="02020603050405020304" pitchFamily="18" charset="0"/>
                <a:sym typeface="+mn-ea"/>
              </a:rPr>
              <a:t>x</a:t>
            </a:r>
            <a:r>
              <a:rPr lang="en-US" altLang="zh-CN" sz="2400" i="1" baseline="-25000" dirty="0">
                <a:latin typeface="Times New Roman" panose="02020603050405020304" pitchFamily="18" charset="0"/>
                <a:cs typeface="Times New Roman" panose="02020603050405020304" pitchFamily="18" charset="0"/>
                <a:sym typeface="+mn-ea"/>
              </a:rPr>
              <a:t>1</a:t>
            </a:r>
            <a:r>
              <a:rPr lang="en-US" altLang="zh-CN" sz="2400" i="1" dirty="0">
                <a:latin typeface="Times New Roman" panose="02020603050405020304" pitchFamily="18" charset="0"/>
                <a:cs typeface="Times New Roman" panose="02020603050405020304" pitchFamily="18" charset="0"/>
                <a:sym typeface="+mn-ea"/>
              </a:rPr>
              <a:t>x</a:t>
            </a:r>
            <a:r>
              <a:rPr lang="en-US" altLang="zh-CN" sz="2400" i="1" baseline="-25000" dirty="0">
                <a:latin typeface="Times New Roman" panose="02020603050405020304" pitchFamily="18" charset="0"/>
                <a:cs typeface="Times New Roman" panose="02020603050405020304" pitchFamily="18" charset="0"/>
                <a:sym typeface="+mn-ea"/>
              </a:rPr>
              <a:t>0 </a:t>
            </a:r>
            <a:r>
              <a:rPr lang="en-US" altLang="zh-CN" sz="2400" dirty="0">
                <a:latin typeface="Times New Roman" panose="02020603050405020304" pitchFamily="18" charset="0"/>
                <a:cs typeface="Times New Roman" panose="02020603050405020304" pitchFamily="18" charset="0"/>
                <a:sym typeface="+mn-ea"/>
              </a:rPr>
              <a:t>)= </a:t>
            </a:r>
            <a:r>
              <a:rPr lang="en-US" altLang="zh-CN" sz="2400" i="1" dirty="0">
                <a:latin typeface="Times New Roman" panose="02020603050405020304" pitchFamily="18" charset="0"/>
                <a:cs typeface="Times New Roman" panose="02020603050405020304" pitchFamily="18" charset="0"/>
                <a:sym typeface="+mn-ea"/>
              </a:rPr>
              <a:t>x</a:t>
            </a:r>
            <a:r>
              <a:rPr lang="en-US" altLang="zh-CN" sz="2400" i="1" baseline="-25000" dirty="0">
                <a:latin typeface="Times New Roman" panose="02020603050405020304" pitchFamily="18" charset="0"/>
                <a:cs typeface="Times New Roman" panose="02020603050405020304" pitchFamily="18" charset="0"/>
                <a:sym typeface="+mn-ea"/>
              </a:rPr>
              <a:t>n-1</a:t>
            </a:r>
            <a:r>
              <a:rPr lang="en-US" altLang="zh-CN" sz="2400" i="1" dirty="0">
                <a:latin typeface="Times New Roman" panose="02020603050405020304" pitchFamily="18" charset="0"/>
                <a:cs typeface="Times New Roman" panose="02020603050405020304" pitchFamily="18" charset="0"/>
                <a:sym typeface="+mn-ea"/>
              </a:rPr>
              <a:t>x</a:t>
            </a:r>
            <a:r>
              <a:rPr lang="en-US" altLang="zh-CN" sz="2400" i="1" baseline="-25000" dirty="0">
                <a:latin typeface="Times New Roman" panose="02020603050405020304" pitchFamily="18" charset="0"/>
                <a:cs typeface="Times New Roman" panose="02020603050405020304" pitchFamily="18" charset="0"/>
                <a:sym typeface="+mn-ea"/>
              </a:rPr>
              <a:t>n-2 </a:t>
            </a:r>
            <a:r>
              <a:rPr lang="en-US" altLang="zh-CN" sz="2400" i="1" dirty="0">
                <a:latin typeface="Times New Roman" panose="02020603050405020304" pitchFamily="18" charset="0"/>
                <a:cs typeface="Times New Roman" panose="02020603050405020304" pitchFamily="18" charset="0"/>
                <a:sym typeface="+mn-ea"/>
              </a:rPr>
              <a:t>...x</a:t>
            </a:r>
            <a:r>
              <a:rPr lang="en-US" altLang="zh-CN" sz="2400" i="1" baseline="-25000" dirty="0">
                <a:latin typeface="Times New Roman" panose="02020603050405020304" pitchFamily="18" charset="0"/>
                <a:cs typeface="Times New Roman" panose="02020603050405020304" pitchFamily="18" charset="0"/>
                <a:sym typeface="+mn-ea"/>
              </a:rPr>
              <a:t>1</a:t>
            </a:r>
            <a:r>
              <a:rPr lang="en-US" altLang="zh-CN" sz="2400" i="1" dirty="0">
                <a:latin typeface="Times New Roman" panose="02020603050405020304" pitchFamily="18" charset="0"/>
                <a:cs typeface="Times New Roman" panose="02020603050405020304" pitchFamily="18" charset="0"/>
                <a:sym typeface="+mn-ea"/>
              </a:rPr>
              <a:t>x</a:t>
            </a:r>
            <a:r>
              <a:rPr lang="en-US" altLang="zh-CN" sz="2400" i="1" baseline="-25000" dirty="0">
                <a:latin typeface="Times New Roman" panose="02020603050405020304" pitchFamily="18" charset="0"/>
                <a:cs typeface="Times New Roman" panose="02020603050405020304" pitchFamily="18" charset="0"/>
                <a:sym typeface="+mn-ea"/>
              </a:rPr>
              <a:t>0 </a:t>
            </a:r>
            <a:endParaRPr lang="en-US" altLang="zh-CN" sz="2400" i="1" baseline="-25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17413" name="Picture 5"/>
          <p:cNvPicPr>
            <a:picLocks noChangeAspect="1"/>
          </p:cNvPicPr>
          <p:nvPr>
            <p:custDataLst>
              <p:tags r:id="rId2"/>
            </p:custDataLst>
          </p:nvPr>
        </p:nvPicPr>
        <p:blipFill>
          <a:blip r:embed="rId3"/>
          <a:stretch>
            <a:fillRect/>
          </a:stretch>
        </p:blipFill>
        <p:spPr>
          <a:xfrm>
            <a:off x="3275965" y="3068955"/>
            <a:ext cx="2212975" cy="2789238"/>
          </a:xfrm>
          <a:prstGeom prst="rect">
            <a:avLst/>
          </a:prstGeom>
          <a:noFill/>
          <a:ln w="1270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交换置换Exchange</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321435"/>
            <a:ext cx="8396605" cy="4844415"/>
          </a:xfrm>
        </p:spPr>
        <p:txBody>
          <a:bodyPr vert="horz" wrap="square" lIns="91440" tIns="45720" rIns="91440" bIns="45720" anchor="t" anchorCtr="0"/>
          <a:p>
            <a:pPr eaLnBrk="1" hangingPunct="1"/>
            <a:r>
              <a:rPr lang="zh-CN" altLang="en-US" sz="2400" dirty="0">
                <a:sym typeface="+mn-ea"/>
              </a:rPr>
              <a:t>二进制地址编号中第</a:t>
            </a:r>
            <a:r>
              <a:rPr lang="en-US" altLang="zh-CN" sz="2400" dirty="0">
                <a:sym typeface="+mn-ea"/>
              </a:rPr>
              <a:t>0</a:t>
            </a:r>
            <a:r>
              <a:rPr lang="zh-CN" altLang="en-US" sz="2400" dirty="0">
                <a:sym typeface="+mn-ea"/>
              </a:rPr>
              <a:t>位位值不同的输入和输出端间的连接</a:t>
            </a:r>
            <a:endParaRPr lang="zh-CN" altLang="en-US" sz="2400" dirty="0"/>
          </a:p>
          <a:p>
            <a:pPr eaLnBrk="1" hangingPunct="1">
              <a:buNone/>
            </a:pPr>
            <a:r>
              <a:rPr lang="zh-CN" altLang="en-US" sz="2400" dirty="0">
                <a:sym typeface="+mn-ea"/>
              </a:rPr>
              <a:t>     </a:t>
            </a:r>
            <a:r>
              <a:rPr lang="en-US" altLang="zh-CN" sz="2400" i="1" dirty="0">
                <a:sym typeface="+mn-ea"/>
              </a:rPr>
              <a:t>E</a:t>
            </a:r>
            <a:r>
              <a:rPr lang="en-US" altLang="zh-CN" sz="2400" dirty="0">
                <a:sym typeface="+mn-ea"/>
              </a:rPr>
              <a:t>(</a:t>
            </a:r>
            <a:r>
              <a:rPr lang="en-US" altLang="zh-CN" sz="2400" i="1" dirty="0">
                <a:sym typeface="+mn-ea"/>
              </a:rPr>
              <a:t>x</a:t>
            </a:r>
            <a:r>
              <a:rPr lang="en-US" altLang="zh-CN" sz="2400" i="1" baseline="-25000" dirty="0">
                <a:sym typeface="+mn-ea"/>
              </a:rPr>
              <a:t>n-1</a:t>
            </a:r>
            <a:r>
              <a:rPr lang="en-US" altLang="zh-CN" sz="2400" i="1" dirty="0">
                <a:sym typeface="+mn-ea"/>
              </a:rPr>
              <a:t>x</a:t>
            </a:r>
            <a:r>
              <a:rPr lang="en-US" altLang="zh-CN" sz="2400" i="1" baseline="-25000" dirty="0">
                <a:sym typeface="+mn-ea"/>
              </a:rPr>
              <a:t>n-2 </a:t>
            </a:r>
            <a:r>
              <a:rPr lang="en-US" altLang="zh-CN" sz="2400" i="1" dirty="0">
                <a:sym typeface="+mn-ea"/>
              </a:rPr>
              <a:t>...</a:t>
            </a:r>
            <a:r>
              <a:rPr lang="en-US" altLang="zh-CN" sz="2400" i="1" baseline="-25000" dirty="0">
                <a:sym typeface="+mn-ea"/>
              </a:rPr>
              <a:t> </a:t>
            </a:r>
            <a:r>
              <a:rPr lang="en-US" altLang="zh-CN" sz="2400" i="1" dirty="0">
                <a:sym typeface="+mn-ea"/>
              </a:rPr>
              <a:t>x</a:t>
            </a:r>
            <a:r>
              <a:rPr lang="en-US" altLang="zh-CN" sz="2400" i="1" baseline="-25000" dirty="0">
                <a:sym typeface="+mn-ea"/>
              </a:rPr>
              <a:t>1</a:t>
            </a:r>
            <a:r>
              <a:rPr lang="en-US" altLang="zh-CN" sz="2400" i="1" dirty="0">
                <a:sym typeface="+mn-ea"/>
              </a:rPr>
              <a:t>x</a:t>
            </a:r>
            <a:r>
              <a:rPr lang="en-US" altLang="zh-CN" sz="2400" i="1" baseline="-25000" dirty="0">
                <a:sym typeface="+mn-ea"/>
              </a:rPr>
              <a:t>0 </a:t>
            </a:r>
            <a:r>
              <a:rPr lang="en-US" altLang="zh-CN" sz="2400" dirty="0">
                <a:sym typeface="+mn-ea"/>
              </a:rPr>
              <a:t>)= </a:t>
            </a:r>
            <a:r>
              <a:rPr lang="en-US" altLang="zh-CN" sz="2400" i="1" dirty="0">
                <a:sym typeface="+mn-ea"/>
              </a:rPr>
              <a:t>x</a:t>
            </a:r>
            <a:r>
              <a:rPr lang="en-US" altLang="zh-CN" sz="2400" i="1" baseline="-25000" dirty="0">
                <a:sym typeface="+mn-ea"/>
              </a:rPr>
              <a:t>n-1</a:t>
            </a:r>
            <a:r>
              <a:rPr lang="en-US" altLang="zh-CN" sz="2400" i="1" dirty="0">
                <a:sym typeface="+mn-ea"/>
              </a:rPr>
              <a:t>x</a:t>
            </a:r>
            <a:r>
              <a:rPr lang="en-US" altLang="zh-CN" sz="2400" i="1" baseline="-25000" dirty="0">
                <a:sym typeface="+mn-ea"/>
              </a:rPr>
              <a:t>n-2 </a:t>
            </a:r>
            <a:r>
              <a:rPr lang="en-US" altLang="zh-CN" sz="2400" i="1" dirty="0">
                <a:sym typeface="+mn-ea"/>
              </a:rPr>
              <a:t>...</a:t>
            </a:r>
            <a:r>
              <a:rPr lang="en-US" altLang="zh-CN" sz="2400" i="1" baseline="-25000" dirty="0">
                <a:sym typeface="+mn-ea"/>
              </a:rPr>
              <a:t> </a:t>
            </a:r>
            <a:r>
              <a:rPr lang="en-US" altLang="zh-CN" sz="2400" i="1" dirty="0">
                <a:sym typeface="+mn-ea"/>
              </a:rPr>
              <a:t>x</a:t>
            </a:r>
            <a:r>
              <a:rPr lang="en-US" altLang="zh-CN" sz="2400" i="1" baseline="-25000" dirty="0">
                <a:sym typeface="+mn-ea"/>
              </a:rPr>
              <a:t>1</a:t>
            </a:r>
            <a:r>
              <a:rPr lang="en-US" altLang="zh-CN" sz="2400" i="1" dirty="0">
                <a:sym typeface="+mn-ea"/>
              </a:rPr>
              <a:t>x</a:t>
            </a:r>
            <a:r>
              <a:rPr lang="en-US" altLang="zh-CN" sz="2400" i="1" baseline="-25000" dirty="0">
                <a:sym typeface="+mn-ea"/>
              </a:rPr>
              <a:t>0 </a:t>
            </a:r>
            <a:endParaRPr lang="en-US" altLang="zh-CN" sz="2400" i="1" baseline="-25000" dirty="0"/>
          </a:p>
          <a:p>
            <a:pPr eaLnBrk="1" hangingPunct="1">
              <a:buNone/>
            </a:pPr>
            <a:endParaRPr lang="en-US" altLang="zh-CN" sz="2400" i="1" baseline="-25000" dirty="0"/>
          </a:p>
          <a:p>
            <a:pPr eaLnBrk="1" hangingPunct="1">
              <a:buNone/>
            </a:pPr>
            <a:endParaRPr lang="en-US" altLang="zh-CN" sz="2400" i="1" baseline="-25000" dirty="0"/>
          </a:p>
          <a:p>
            <a:pPr eaLnBrk="1" hangingPunct="1">
              <a:buNone/>
            </a:pPr>
            <a:endParaRPr lang="en-US" altLang="zh-CN" sz="2400" i="1" baseline="-25000" dirty="0"/>
          </a:p>
          <a:p>
            <a:pPr eaLnBrk="1" hangingPunct="1">
              <a:buNone/>
            </a:pPr>
            <a:endParaRPr lang="en-US" altLang="zh-CN" sz="2400" i="1" baseline="-25000" dirty="0"/>
          </a:p>
          <a:p>
            <a:pPr eaLnBrk="1" hangingPunct="1">
              <a:buNone/>
            </a:pPr>
            <a:endParaRPr lang="en-US" altLang="zh-CN" sz="2400" i="1" baseline="-25000" dirty="0"/>
          </a:p>
          <a:p>
            <a:pPr eaLnBrk="1" hangingPunct="1">
              <a:buNone/>
            </a:pPr>
            <a:endParaRPr lang="en-US" altLang="zh-CN" sz="2400" i="1" baseline="-25000" dirty="0"/>
          </a:p>
          <a:p>
            <a:pPr eaLnBrk="1" hangingPunct="1">
              <a:buNone/>
            </a:pPr>
            <a:endParaRPr lang="en-US" altLang="zh-CN" sz="2400" i="1" baseline="-25000" dirty="0"/>
          </a:p>
          <a:p>
            <a:pPr eaLnBrk="1" hangingPunct="1">
              <a:buNone/>
            </a:pPr>
            <a:endParaRPr lang="en-US" altLang="zh-CN" sz="2400" i="1" baseline="-25000" dirty="0"/>
          </a:p>
          <a:p>
            <a:pPr eaLnBrk="1" hangingPunct="1">
              <a:buNone/>
            </a:pPr>
            <a:endParaRPr lang="en-US" altLang="zh-CN" sz="2400" i="1" baseline="-25000" dirty="0"/>
          </a:p>
          <a:p>
            <a:pPr eaLnBrk="1" hangingPunct="1">
              <a:buNone/>
            </a:pPr>
            <a:endParaRPr lang="en-US" altLang="zh-CN" sz="2400" i="1" baseline="-25000" dirty="0"/>
          </a:p>
          <a:p>
            <a:pPr eaLnBrk="1" hangingPunct="1">
              <a:buNone/>
            </a:pPr>
            <a:endParaRPr lang="en-US" altLang="zh-CN" sz="2400" i="1" baseline="-25000" dirty="0"/>
          </a:p>
          <a:p>
            <a:pPr eaLnBrk="1" hangingPunct="1">
              <a:buNone/>
            </a:pPr>
            <a:endParaRPr lang="en-US" altLang="zh-CN" sz="2400" i="1" baseline="-25000" dirty="0"/>
          </a:p>
          <a:p>
            <a:pPr eaLnBrk="1" hangingPunct="1">
              <a:buNone/>
            </a:pPr>
            <a:endParaRPr lang="en-US" altLang="zh-CN" sz="2400" i="1" baseline="-25000" dirty="0"/>
          </a:p>
          <a:p>
            <a:pPr eaLnBrk="1" hangingPunct="1"/>
            <a:endPar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18438" name="Picture 1030"/>
          <p:cNvPicPr>
            <a:picLocks noChangeAspect="1"/>
          </p:cNvPicPr>
          <p:nvPr>
            <p:custDataLst>
              <p:tags r:id="rId2"/>
            </p:custDataLst>
          </p:nvPr>
        </p:nvPicPr>
        <p:blipFill>
          <a:blip r:embed="rId3"/>
          <a:stretch>
            <a:fillRect/>
          </a:stretch>
        </p:blipFill>
        <p:spPr>
          <a:xfrm>
            <a:off x="2915920" y="2493010"/>
            <a:ext cx="2339975" cy="3111500"/>
          </a:xfrm>
          <a:prstGeom prst="rect">
            <a:avLst/>
          </a:prstGeom>
          <a:noFill/>
          <a:ln w="1270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方体置换Cube</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342390"/>
            <a:ext cx="8396605" cy="4823460"/>
          </a:xfrm>
        </p:spPr>
        <p:txBody>
          <a:bodyPr vert="horz" wrap="square" lIns="91440" tIns="45720" rIns="91440" bIns="45720" anchor="t" anchorCtr="0"/>
          <a:p>
            <a:pPr eaLnBrk="1" hangingPunct="1"/>
            <a:r>
              <a:rPr lang="zh-CN" altLang="en-US" sz="2400" dirty="0">
                <a:latin typeface="Times New Roman" panose="02020603050405020304" pitchFamily="18" charset="0"/>
                <a:cs typeface="Times New Roman" panose="02020603050405020304" pitchFamily="18" charset="0"/>
                <a:sym typeface="+mn-ea"/>
              </a:rPr>
              <a:t>交换函数主要用于超立方体互连网中，也称为超立方体函数，用</a:t>
            </a:r>
            <a:r>
              <a:rPr lang="en-US" altLang="zh-CN" sz="2400" dirty="0">
                <a:latin typeface="Times New Roman" panose="02020603050405020304" pitchFamily="18" charset="0"/>
                <a:cs typeface="Times New Roman" panose="02020603050405020304" pitchFamily="18" charset="0"/>
                <a:sym typeface="+mn-ea"/>
              </a:rPr>
              <a:t>Cube</a:t>
            </a:r>
            <a:r>
              <a:rPr lang="zh-CN" altLang="en-US" sz="2400" dirty="0">
                <a:latin typeface="Times New Roman" panose="02020603050405020304" pitchFamily="18" charset="0"/>
                <a:cs typeface="Times New Roman" panose="02020603050405020304" pitchFamily="18" charset="0"/>
                <a:sym typeface="+mn-ea"/>
              </a:rPr>
              <a:t>表示，如：</a:t>
            </a:r>
            <a:r>
              <a:rPr lang="en-US" altLang="zh-CN" sz="2400" dirty="0">
                <a:latin typeface="Times New Roman" panose="02020603050405020304" pitchFamily="18" charset="0"/>
                <a:cs typeface="Times New Roman" panose="02020603050405020304" pitchFamily="18" charset="0"/>
                <a:sym typeface="+mn-ea"/>
              </a:rPr>
              <a:t>Cube0</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Cube1</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Cube2</a:t>
            </a:r>
            <a:r>
              <a:rPr lang="zh-CN" altLang="en-US" sz="2400" dirty="0">
                <a:latin typeface="Times New Roman" panose="02020603050405020304" pitchFamily="18" charset="0"/>
                <a:cs typeface="Times New Roman" panose="02020603050405020304" pitchFamily="18" charset="0"/>
                <a:sym typeface="+mn-ea"/>
              </a:rPr>
              <a:t>等</a:t>
            </a:r>
            <a:endParaRPr lang="zh-CN" altLang="en-US" sz="2400" dirty="0">
              <a:latin typeface="Times New Roman" panose="02020603050405020304" pitchFamily="18" charset="0"/>
              <a:cs typeface="Times New Roman" panose="02020603050405020304" pitchFamily="18" charset="0"/>
              <a:sym typeface="+mn-ea"/>
            </a:endParaRPr>
          </a:p>
          <a:p>
            <a:pPr eaLnBrk="1" hangingPunct="1"/>
            <a:endPar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hangingPunct="1"/>
            <a:endParaRPr lang="zh-CN" altLang="en-US" sz="2400" dirty="0">
              <a:latin typeface="Times New Roman" panose="02020603050405020304" pitchFamily="18" charset="0"/>
              <a:cs typeface="Times New Roman" panose="02020603050405020304" pitchFamily="18" charset="0"/>
              <a:sym typeface="+mn-ea"/>
            </a:endParaRPr>
          </a:p>
          <a:p>
            <a:pPr eaLnBrk="1" hangingPunct="1"/>
            <a:r>
              <a:rPr lang="zh-CN" altLang="en-US" sz="2400" dirty="0">
                <a:latin typeface="Times New Roman" panose="02020603050405020304" pitchFamily="18" charset="0"/>
                <a:cs typeface="Times New Roman" panose="02020603050405020304" pitchFamily="18" charset="0"/>
                <a:sym typeface="+mn-ea"/>
              </a:rPr>
              <a:t>当</a:t>
            </a:r>
            <a:r>
              <a:rPr lang="en-US" altLang="zh-CN" sz="2400" dirty="0">
                <a:latin typeface="Times New Roman" panose="02020603050405020304" pitchFamily="18" charset="0"/>
                <a:cs typeface="Times New Roman" panose="02020603050405020304" pitchFamily="18" charset="0"/>
                <a:sym typeface="+mn-ea"/>
              </a:rPr>
              <a:t>n=3</a:t>
            </a:r>
            <a:r>
              <a:rPr lang="zh-CN" altLang="en-US" sz="2400" dirty="0">
                <a:latin typeface="Times New Roman" panose="02020603050405020304" pitchFamily="18" charset="0"/>
                <a:cs typeface="Times New Roman" panose="02020603050405020304" pitchFamily="18" charset="0"/>
                <a:sym typeface="+mn-ea"/>
              </a:rPr>
              <a:t>时，共有</a:t>
            </a:r>
            <a:r>
              <a:rPr lang="en-US" altLang="zh-CN" sz="2400" dirty="0">
                <a:latin typeface="Times New Roman" panose="02020603050405020304" pitchFamily="18" charset="0"/>
                <a:cs typeface="Times New Roman" panose="02020603050405020304" pitchFamily="18" charset="0"/>
                <a:sym typeface="+mn-ea"/>
              </a:rPr>
              <a:t>3</a:t>
            </a:r>
            <a:r>
              <a:rPr lang="zh-CN" altLang="en-US" sz="2400" dirty="0">
                <a:latin typeface="Times New Roman" panose="02020603050405020304" pitchFamily="18" charset="0"/>
                <a:cs typeface="Times New Roman" panose="02020603050405020304" pitchFamily="18" charset="0"/>
                <a:sym typeface="+mn-ea"/>
              </a:rPr>
              <a:t>种函数，每种函数能够表示</a:t>
            </a:r>
            <a:r>
              <a:rPr lang="en-US" altLang="zh-CN" sz="2400" dirty="0">
                <a:latin typeface="Times New Roman" panose="02020603050405020304" pitchFamily="18" charset="0"/>
                <a:cs typeface="Times New Roman" panose="02020603050405020304" pitchFamily="18" charset="0"/>
                <a:sym typeface="+mn-ea"/>
              </a:rPr>
              <a:t>8</a:t>
            </a:r>
            <a:r>
              <a:rPr lang="zh-CN" altLang="en-US" sz="2400" dirty="0">
                <a:latin typeface="Times New Roman" panose="02020603050405020304" pitchFamily="18" charset="0"/>
                <a:cs typeface="Times New Roman" panose="02020603050405020304" pitchFamily="18" charset="0"/>
                <a:sym typeface="+mn-ea"/>
              </a:rPr>
              <a:t>个结点之间的连接关系</a:t>
            </a:r>
            <a:endParaRPr lang="zh-CN" altLang="en-US" sz="2400" dirty="0">
              <a:latin typeface="Times New Roman" panose="02020603050405020304" pitchFamily="18" charset="0"/>
              <a:cs typeface="Times New Roman" panose="02020603050405020304" pitchFamily="18" charset="0"/>
            </a:endParaRPr>
          </a:p>
          <a:p>
            <a:pPr eaLnBrk="1" hangingPunct="1"/>
            <a:endParaRPr lang="zh-CN" altLang="en-US" sz="2400" dirty="0">
              <a:latin typeface="Times New Roman" panose="02020603050405020304" pitchFamily="18" charset="0"/>
              <a:cs typeface="Times New Roman" panose="02020603050405020304" pitchFamily="18" charset="0"/>
            </a:endParaRPr>
          </a:p>
          <a:p>
            <a:pPr eaLnBrk="1" hangingPunct="1"/>
            <a:endParaRPr lang="zh-CN" altLang="en-US" sz="2400" dirty="0">
              <a:latin typeface="Times New Roman" panose="02020603050405020304" pitchFamily="18" charset="0"/>
              <a:cs typeface="Times New Roman" panose="02020603050405020304" pitchFamily="18" charset="0"/>
            </a:endParaRPr>
          </a:p>
          <a:p>
            <a:pPr eaLnBrk="1" hangingPunct="1"/>
            <a:endParaRPr lang="zh-CN" altLang="en-US" sz="2400" dirty="0">
              <a:latin typeface="Times New Roman" panose="02020603050405020304" pitchFamily="18" charset="0"/>
              <a:cs typeface="Times New Roman" panose="02020603050405020304" pitchFamily="18" charset="0"/>
            </a:endParaRPr>
          </a:p>
          <a:p>
            <a:pPr eaLnBrk="1" hangingPunct="1"/>
            <a:endParaRPr lang="zh-CN" altLang="en-US" sz="2400" dirty="0">
              <a:latin typeface="Times New Roman" panose="02020603050405020304" pitchFamily="18" charset="0"/>
              <a:cs typeface="Times New Roman" panose="02020603050405020304" pitchFamily="18" charset="0"/>
            </a:endParaRPr>
          </a:p>
          <a:p>
            <a:pPr eaLnBrk="1" hangingPunct="1"/>
            <a:endParaRPr lang="zh-CN" altLang="en-US" sz="2400" dirty="0">
              <a:latin typeface="Times New Roman" panose="02020603050405020304" pitchFamily="18" charset="0"/>
              <a:cs typeface="Times New Roman" panose="02020603050405020304" pitchFamily="18" charset="0"/>
            </a:endParaRPr>
          </a:p>
          <a:p>
            <a:pPr eaLnBrk="1" hangingPunct="1"/>
            <a:endPar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1331595" y="2277110"/>
            <a:ext cx="6635750" cy="514350"/>
          </a:xfrm>
          <a:prstGeom prst="rect">
            <a:avLst/>
          </a:prstGeom>
        </p:spPr>
      </p:pic>
      <p:pic>
        <p:nvPicPr>
          <p:cNvPr id="3" name="图片 2"/>
          <p:cNvPicPr>
            <a:picLocks noChangeAspect="1"/>
          </p:cNvPicPr>
          <p:nvPr>
            <p:custDataLst>
              <p:tags r:id="rId4"/>
            </p:custDataLst>
          </p:nvPr>
        </p:nvPicPr>
        <p:blipFill>
          <a:blip r:embed="rId5"/>
          <a:stretch>
            <a:fillRect/>
          </a:stretch>
        </p:blipFill>
        <p:spPr>
          <a:xfrm>
            <a:off x="3079750" y="4004945"/>
            <a:ext cx="2914650" cy="16573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方体置换Cube</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custDataLst>
              <p:tags r:id="rId1"/>
            </p:custDataLst>
          </p:nvPr>
        </p:nvPicPr>
        <p:blipFill>
          <a:blip r:embed="rId2"/>
          <a:stretch>
            <a:fillRect/>
          </a:stretch>
        </p:blipFill>
        <p:spPr>
          <a:xfrm>
            <a:off x="936625" y="1628775"/>
            <a:ext cx="7200265" cy="407289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全混洗函数Perfect</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shuffle</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467360" y="1875790"/>
            <a:ext cx="8396605" cy="4612640"/>
          </a:xfrm>
        </p:spPr>
        <p:txBody>
          <a:bodyPr vert="horz" wrap="square" lIns="91440" tIns="45720" rIns="91440" bIns="45720" anchor="t" anchorCtr="0"/>
          <a:p>
            <a:pPr eaLnBrk="1" hangingPunct="1"/>
            <a:r>
              <a:rPr lang="zh-CN" altLang="en-US" sz="2000" dirty="0">
                <a:latin typeface="Times New Roman" panose="02020603050405020304" pitchFamily="18" charset="0"/>
                <a:cs typeface="Times New Roman" panose="02020603050405020304" pitchFamily="18" charset="0"/>
                <a:sym typeface="+mn-ea"/>
              </a:rPr>
              <a:t>把二进制位循环左移一位</a:t>
            </a:r>
            <a:endParaRPr lang="zh-CN" altLang="en-US" sz="2000" dirty="0">
              <a:latin typeface="Times New Roman" panose="02020603050405020304" pitchFamily="18" charset="0"/>
              <a:cs typeface="Times New Roman" panose="02020603050405020304" pitchFamily="18" charset="0"/>
            </a:endParaRPr>
          </a:p>
          <a:p>
            <a:pPr eaLnBrk="1" hangingPunct="1"/>
            <a:r>
              <a:rPr lang="zh-CN" altLang="en-US" sz="2000" dirty="0">
                <a:latin typeface="Times New Roman" panose="02020603050405020304" pitchFamily="18" charset="0"/>
                <a:cs typeface="Times New Roman" panose="02020603050405020304" pitchFamily="18" charset="0"/>
                <a:sym typeface="+mn-ea"/>
              </a:rPr>
              <a:t>子混洗</a:t>
            </a:r>
            <a:r>
              <a:rPr lang="en-US" altLang="zh-CN" sz="2000" dirty="0">
                <a:latin typeface="Times New Roman" panose="02020603050405020304" pitchFamily="18" charset="0"/>
                <a:cs typeface="Times New Roman" panose="02020603050405020304" pitchFamily="18" charset="0"/>
                <a:sym typeface="+mn-ea"/>
              </a:rPr>
              <a:t>(subshuffle)S</a:t>
            </a:r>
            <a:r>
              <a:rPr lang="en-US" altLang="zh-CN" sz="2000" baseline="-25000" dirty="0">
                <a:latin typeface="Times New Roman" panose="02020603050405020304" pitchFamily="18" charset="0"/>
                <a:cs typeface="Times New Roman" panose="02020603050405020304" pitchFamily="18" charset="0"/>
                <a:sym typeface="+mn-ea"/>
              </a:rPr>
              <a:t>(k)</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最低</a:t>
            </a:r>
            <a:r>
              <a:rPr lang="en-US" altLang="zh-CN" sz="2000" dirty="0">
                <a:latin typeface="Times New Roman" panose="02020603050405020304" pitchFamily="18" charset="0"/>
                <a:cs typeface="Times New Roman" panose="02020603050405020304" pitchFamily="18" charset="0"/>
                <a:sym typeface="+mn-ea"/>
              </a:rPr>
              <a:t>k</a:t>
            </a:r>
            <a:r>
              <a:rPr lang="zh-CN" altLang="en-US" sz="2000" dirty="0">
                <a:latin typeface="Times New Roman" panose="02020603050405020304" pitchFamily="18" charset="0"/>
                <a:cs typeface="Times New Roman" panose="02020603050405020304" pitchFamily="18" charset="0"/>
                <a:sym typeface="+mn-ea"/>
              </a:rPr>
              <a:t>位循环左移一位</a:t>
            </a:r>
            <a:endParaRPr lang="zh-CN" altLang="en-US" sz="2000" dirty="0">
              <a:latin typeface="Times New Roman" panose="02020603050405020304" pitchFamily="18" charset="0"/>
              <a:cs typeface="Times New Roman" panose="02020603050405020304" pitchFamily="18" charset="0"/>
            </a:endParaRPr>
          </a:p>
          <a:p>
            <a:pPr eaLnBrk="1" hangingPunct="1"/>
            <a:r>
              <a:rPr lang="zh-CN" altLang="en-US" sz="2000" dirty="0">
                <a:latin typeface="Times New Roman" panose="02020603050405020304" pitchFamily="18" charset="0"/>
                <a:cs typeface="Times New Roman" panose="02020603050405020304" pitchFamily="18" charset="0"/>
                <a:sym typeface="+mn-ea"/>
              </a:rPr>
              <a:t>超混洗牌</a:t>
            </a:r>
            <a:r>
              <a:rPr lang="en-US" altLang="zh-CN" sz="2000" dirty="0">
                <a:latin typeface="Times New Roman" panose="02020603050405020304" pitchFamily="18" charset="0"/>
                <a:cs typeface="Times New Roman" panose="02020603050405020304" pitchFamily="18" charset="0"/>
                <a:sym typeface="+mn-ea"/>
              </a:rPr>
              <a:t>(supershuffle) S</a:t>
            </a:r>
            <a:r>
              <a:rPr lang="en-US" altLang="zh-CN" sz="2000" baseline="30000" dirty="0">
                <a:latin typeface="Times New Roman" panose="02020603050405020304" pitchFamily="18" charset="0"/>
                <a:cs typeface="Times New Roman" panose="02020603050405020304" pitchFamily="18" charset="0"/>
                <a:sym typeface="+mn-ea"/>
              </a:rPr>
              <a:t>(k)</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最高</a:t>
            </a:r>
            <a:r>
              <a:rPr lang="en-US" altLang="zh-CN" sz="2000" dirty="0">
                <a:latin typeface="Times New Roman" panose="02020603050405020304" pitchFamily="18" charset="0"/>
                <a:cs typeface="Times New Roman" panose="02020603050405020304" pitchFamily="18" charset="0"/>
                <a:sym typeface="+mn-ea"/>
              </a:rPr>
              <a:t>k</a:t>
            </a:r>
            <a:r>
              <a:rPr lang="zh-CN" altLang="en-US" sz="2000" dirty="0">
                <a:latin typeface="Times New Roman" panose="02020603050405020304" pitchFamily="18" charset="0"/>
                <a:cs typeface="Times New Roman" panose="02020603050405020304" pitchFamily="18" charset="0"/>
                <a:sym typeface="+mn-ea"/>
              </a:rPr>
              <a:t>位循环左移一位</a:t>
            </a:r>
            <a:endParaRPr lang="zh-CN" altLang="en-US" sz="2000" dirty="0">
              <a:latin typeface="Times New Roman" panose="02020603050405020304" pitchFamily="18" charset="0"/>
              <a:cs typeface="Times New Roman" panose="02020603050405020304" pitchFamily="18" charset="0"/>
              <a:sym typeface="+mn-ea"/>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buNone/>
            </a:pP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800"/>
              </a:spcBef>
              <a:buNone/>
            </a:pP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显然成立</a:t>
            </a:r>
            <a:endParaRPr lang="zh-CN" altLang="en-US" sz="2000" dirty="0">
              <a:latin typeface="Times New Roman" panose="02020603050405020304" pitchFamily="18" charset="0"/>
              <a:cs typeface="Times New Roman" panose="02020603050405020304" pitchFamily="18" charset="0"/>
            </a:endParaRPr>
          </a:p>
          <a:p>
            <a:pPr eaLnBrk="1" hangingPunct="1">
              <a:buNone/>
            </a:pPr>
            <a:endParaRPr lang="zh-CN" altLang="en-US" sz="2000" dirty="0">
              <a:latin typeface="Times New Roman" panose="02020603050405020304" pitchFamily="18" charset="0"/>
              <a:cs typeface="Times New Roman" panose="02020603050405020304" pitchFamily="18" charset="0"/>
            </a:endParaRPr>
          </a:p>
          <a:p>
            <a:pPr eaLnBrk="1" hangingPunct="1">
              <a:buNone/>
            </a:pPr>
            <a:endParaRPr lang="zh-CN" altLang="en-US" sz="2000" dirty="0">
              <a:latin typeface="Times New Roman" panose="02020603050405020304" pitchFamily="18" charset="0"/>
              <a:cs typeface="Times New Roman" panose="02020603050405020304" pitchFamily="18" charset="0"/>
            </a:endParaRPr>
          </a:p>
          <a:p>
            <a:pPr eaLnBrk="1" hangingPunct="1">
              <a:buNone/>
            </a:pPr>
            <a:r>
              <a:rPr lang="en-US" altLang="zh-CN" sz="2000" dirty="0">
                <a:latin typeface="Times New Roman" panose="02020603050405020304" pitchFamily="18" charset="0"/>
                <a:cs typeface="Times New Roman" panose="02020603050405020304" pitchFamily="18" charset="0"/>
                <a:sym typeface="+mn-ea"/>
              </a:rPr>
              <a:t>    </a:t>
            </a:r>
            <a:endParaRPr lang="en-US" altLang="zh-CN" sz="2000" dirty="0">
              <a:latin typeface="Times New Roman" panose="02020603050405020304" pitchFamily="18" charset="0"/>
              <a:cs typeface="Times New Roman" panose="02020603050405020304" pitchFamily="18" charset="0"/>
              <a:sym typeface="+mn-ea"/>
            </a:endParaRPr>
          </a:p>
          <a:p>
            <a:pPr eaLnBrk="1" hangingPunct="1">
              <a:buNone/>
            </a:pP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逆混洗函数</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1547495" y="1196975"/>
            <a:ext cx="5670550" cy="577850"/>
          </a:xfrm>
          <a:prstGeom prst="rect">
            <a:avLst/>
          </a:prstGeom>
        </p:spPr>
      </p:pic>
      <p:pic>
        <p:nvPicPr>
          <p:cNvPr id="3" name="图片 2"/>
          <p:cNvPicPr>
            <a:picLocks noChangeAspect="1"/>
          </p:cNvPicPr>
          <p:nvPr>
            <p:custDataLst>
              <p:tags r:id="rId4"/>
            </p:custDataLst>
          </p:nvPr>
        </p:nvPicPr>
        <p:blipFill>
          <a:blip r:embed="rId5"/>
          <a:stretch>
            <a:fillRect/>
          </a:stretch>
        </p:blipFill>
        <p:spPr>
          <a:xfrm>
            <a:off x="849630" y="3068955"/>
            <a:ext cx="7632700" cy="1003300"/>
          </a:xfrm>
          <a:prstGeom prst="rect">
            <a:avLst/>
          </a:prstGeom>
        </p:spPr>
      </p:pic>
      <p:pic>
        <p:nvPicPr>
          <p:cNvPr id="4" name="图片 3"/>
          <p:cNvPicPr>
            <a:picLocks noChangeAspect="1"/>
          </p:cNvPicPr>
          <p:nvPr>
            <p:custDataLst>
              <p:tags r:id="rId6"/>
            </p:custDataLst>
          </p:nvPr>
        </p:nvPicPr>
        <p:blipFill>
          <a:blip r:embed="rId7"/>
          <a:stretch>
            <a:fillRect/>
          </a:stretch>
        </p:blipFill>
        <p:spPr>
          <a:xfrm>
            <a:off x="1835785" y="4653280"/>
            <a:ext cx="2658745" cy="970915"/>
          </a:xfrm>
          <a:prstGeom prst="rect">
            <a:avLst/>
          </a:prstGeom>
        </p:spPr>
      </p:pic>
      <p:pic>
        <p:nvPicPr>
          <p:cNvPr id="5" name="图片 4"/>
          <p:cNvPicPr>
            <a:picLocks noChangeAspect="1"/>
          </p:cNvPicPr>
          <p:nvPr>
            <p:custDataLst>
              <p:tags r:id="rId8"/>
            </p:custDataLst>
          </p:nvPr>
        </p:nvPicPr>
        <p:blipFill>
          <a:blip r:embed="rId9"/>
          <a:stretch>
            <a:fillRect/>
          </a:stretch>
        </p:blipFill>
        <p:spPr>
          <a:xfrm>
            <a:off x="1763395" y="6021070"/>
            <a:ext cx="4215130" cy="486410"/>
          </a:xfrm>
          <a:prstGeom prst="rect">
            <a:avLst/>
          </a:prstGeom>
        </p:spPr>
      </p:pic>
      <p:sp>
        <p:nvSpPr>
          <p:cNvPr id="6" name="矩形 5"/>
          <p:cNvSpPr/>
          <p:nvPr/>
        </p:nvSpPr>
        <p:spPr>
          <a:xfrm>
            <a:off x="2988310" y="3068955"/>
            <a:ext cx="1727835" cy="503555"/>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 name="矩形 6"/>
          <p:cNvSpPr/>
          <p:nvPr/>
        </p:nvSpPr>
        <p:spPr>
          <a:xfrm>
            <a:off x="1475740" y="3646170"/>
            <a:ext cx="1727835" cy="503555"/>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8" name="矩形 7"/>
          <p:cNvSpPr/>
          <p:nvPr/>
        </p:nvSpPr>
        <p:spPr>
          <a:xfrm>
            <a:off x="6732270" y="3068955"/>
            <a:ext cx="1727835" cy="503555"/>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9" name="矩形 8"/>
          <p:cNvSpPr/>
          <p:nvPr/>
        </p:nvSpPr>
        <p:spPr>
          <a:xfrm>
            <a:off x="5219700" y="3644900"/>
            <a:ext cx="1727835" cy="503555"/>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混洗函数</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shuffle</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395605" y="4509135"/>
            <a:ext cx="8396605" cy="1851660"/>
          </a:xfrm>
        </p:spPr>
        <p:txBody>
          <a:bodyPr vert="horz" wrap="square" lIns="91440" tIns="45720" rIns="91440" bIns="45720" anchor="t" anchorCtr="0"/>
          <a:p>
            <a:pPr eaLnBrk="1" latinLnBrk="0" hangingPunct="1">
              <a:lnSpc>
                <a:spcPct val="100000"/>
              </a:lnSpc>
              <a:spcBef>
                <a:spcPts val="1200"/>
              </a:spcBef>
            </a:pPr>
            <a:r>
              <a:rPr lang="zh-CN" altLang="en-US" sz="2000" dirty="0">
                <a:latin typeface="Times New Roman" panose="02020603050405020304" pitchFamily="18" charset="0"/>
                <a:cs typeface="Times New Roman" panose="02020603050405020304" pitchFamily="18" charset="0"/>
                <a:sym typeface="+mn-ea"/>
              </a:rPr>
              <a:t>均匀洗牌循环表示</a:t>
            </a:r>
            <a:r>
              <a:rPr lang="en-US" altLang="zh-CN" sz="2000" dirty="0">
                <a:latin typeface="Times New Roman" panose="02020603050405020304" pitchFamily="18" charset="0"/>
                <a:cs typeface="Times New Roman" panose="02020603050405020304" pitchFamily="18" charset="0"/>
                <a:sym typeface="+mn-ea"/>
              </a:rPr>
              <a:t>(0), (1,2,4), (3,6,5), (7)</a:t>
            </a:r>
            <a:endParaRPr lang="en-US" altLang="zh-CN" sz="2000" dirty="0">
              <a:latin typeface="Times New Roman" panose="02020603050405020304" pitchFamily="18" charset="0"/>
              <a:cs typeface="Times New Roman" panose="02020603050405020304" pitchFamily="18" charset="0"/>
            </a:endParaRPr>
          </a:p>
          <a:p>
            <a:pPr eaLnBrk="1" latinLnBrk="0" hangingPunct="1">
              <a:lnSpc>
                <a:spcPct val="100000"/>
              </a:lnSpc>
              <a:spcBef>
                <a:spcPts val="1200"/>
              </a:spcBef>
            </a:pPr>
            <a:r>
              <a:rPr lang="zh-CN" altLang="en-US" sz="2000" dirty="0">
                <a:latin typeface="Times New Roman" panose="02020603050405020304" pitchFamily="18" charset="0"/>
                <a:cs typeface="Times New Roman" panose="02020603050405020304" pitchFamily="18" charset="0"/>
                <a:sym typeface="+mn-ea"/>
              </a:rPr>
              <a:t>子洗牌是将整组数据分成若干个子组，对每个子组完成均匀洗牌变换。</a:t>
            </a:r>
            <a:r>
              <a:rPr lang="en-US" altLang="zh-CN" sz="2000" dirty="0">
                <a:latin typeface="Times New Roman" panose="02020603050405020304" pitchFamily="18" charset="0"/>
                <a:cs typeface="Times New Roman" panose="02020603050405020304" pitchFamily="18" charset="0"/>
                <a:sym typeface="+mn-ea"/>
              </a:rPr>
              <a:t>S</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以最高位分两组</a:t>
            </a:r>
            <a:r>
              <a:rPr lang="en-US" altLang="zh-CN" sz="2000" dirty="0">
                <a:latin typeface="Times New Roman" panose="02020603050405020304" pitchFamily="18" charset="0"/>
                <a:cs typeface="Times New Roman" panose="02020603050405020304" pitchFamily="18" charset="0"/>
                <a:sym typeface="+mn-ea"/>
              </a:rPr>
              <a:t>0,1,2,3</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4,5,6,7</a:t>
            </a:r>
            <a:endParaRPr lang="en-US" altLang="zh-CN" sz="2000" dirty="0">
              <a:latin typeface="Times New Roman" panose="02020603050405020304" pitchFamily="18" charset="0"/>
              <a:cs typeface="Times New Roman" panose="02020603050405020304" pitchFamily="18" charset="0"/>
            </a:endParaRPr>
          </a:p>
          <a:p>
            <a:pPr eaLnBrk="1" latinLnBrk="0" hangingPunct="1">
              <a:lnSpc>
                <a:spcPct val="100000"/>
              </a:lnSpc>
              <a:spcBef>
                <a:spcPts val="1200"/>
              </a:spcBef>
            </a:pPr>
            <a:r>
              <a:rPr lang="zh-CN" altLang="en-US" sz="2000" dirty="0">
                <a:latin typeface="Times New Roman" panose="02020603050405020304" pitchFamily="18" charset="0"/>
                <a:cs typeface="Times New Roman" panose="02020603050405020304" pitchFamily="18" charset="0"/>
                <a:sym typeface="+mn-ea"/>
              </a:rPr>
              <a:t>逆均匀洗牌是均匀洗牌的逆函数，两者的输入端和输出端正好互换</a:t>
            </a:r>
            <a:endPar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908050" y="1340485"/>
            <a:ext cx="7328535" cy="30022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全混洗函数</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Perfect shuffle</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99210"/>
            <a:ext cx="8396605" cy="4866640"/>
          </a:xfrm>
        </p:spPr>
        <p:txBody>
          <a:bodyPr vert="horz" wrap="square" lIns="91440" tIns="45720" rIns="91440" bIns="45720" anchor="t" anchorCtr="0"/>
          <a:p>
            <a:pPr eaLnBrk="1" latinLnBrk="0" hangingPunct="1">
              <a:spcBef>
                <a:spcPts val="1200"/>
              </a:spcBef>
            </a:pPr>
            <a:r>
              <a:rPr lang="zh-CN" altLang="en-US" sz="2400" dirty="0">
                <a:latin typeface="Times New Roman" panose="02020603050405020304" pitchFamily="18" charset="0"/>
                <a:cs typeface="Times New Roman" panose="02020603050405020304" pitchFamily="18" charset="0"/>
                <a:sym typeface="+mn-ea"/>
              </a:rPr>
              <a:t>只用全混洗函数不能实现任意结点之间的互连</a:t>
            </a:r>
            <a:endParaRPr lang="zh-CN" altLang="en-US" sz="24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通常与其他函数，如交换函数一起构成互连网络</a:t>
            </a:r>
            <a:endParaRPr lang="zh-CN" altLang="en-US" sz="2400" dirty="0">
              <a:latin typeface="Times New Roman" panose="02020603050405020304" pitchFamily="18" charset="0"/>
              <a:cs typeface="Times New Roman" panose="02020603050405020304" pitchFamily="18" charset="0"/>
            </a:endParaRPr>
          </a:p>
          <a:p>
            <a:pPr eaLnBrk="1" latinLnBrk="0" hangingPunct="1">
              <a:spcBef>
                <a:spcPts val="1800"/>
              </a:spcBef>
            </a:pPr>
            <a:r>
              <a:rPr lang="zh-CN" altLang="en-US" sz="2400" dirty="0">
                <a:latin typeface="Times New Roman" panose="02020603050405020304" pitchFamily="18" charset="0"/>
                <a:cs typeface="Times New Roman" panose="02020603050405020304" pitchFamily="18" charset="0"/>
                <a:sym typeface="+mn-ea"/>
              </a:rPr>
              <a:t>均匀洗牌与逆均匀洗牌是两种十分有用的互连函数</a:t>
            </a:r>
            <a:endParaRPr lang="zh-CN" altLang="en-US" sz="24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以它们代表的链路与以交换置换代表的开关多级组合起来可构成</a:t>
            </a:r>
            <a:r>
              <a:rPr lang="en-US" altLang="zh-CN" sz="2000" dirty="0">
                <a:latin typeface="Times New Roman" panose="02020603050405020304" pitchFamily="18" charset="0"/>
                <a:cs typeface="Times New Roman" panose="02020603050405020304" pitchFamily="18" charset="0"/>
                <a:sym typeface="+mn-ea"/>
              </a:rPr>
              <a:t>Omega(Ω)</a:t>
            </a:r>
            <a:r>
              <a:rPr lang="zh-CN" altLang="en-US" sz="2000" dirty="0">
                <a:latin typeface="Times New Roman" panose="02020603050405020304" pitchFamily="18" charset="0"/>
                <a:cs typeface="Times New Roman" panose="02020603050405020304" pitchFamily="18" charset="0"/>
                <a:sym typeface="+mn-ea"/>
              </a:rPr>
              <a:t>网络与逆</a:t>
            </a:r>
            <a:r>
              <a:rPr lang="en-US" altLang="zh-CN" sz="2000" dirty="0">
                <a:latin typeface="Times New Roman" panose="02020603050405020304" pitchFamily="18" charset="0"/>
                <a:cs typeface="Times New Roman" panose="02020603050405020304" pitchFamily="18" charset="0"/>
                <a:sym typeface="+mn-ea"/>
              </a:rPr>
              <a:t>Omega(Ω^-1)</a:t>
            </a:r>
            <a:r>
              <a:rPr lang="zh-CN" altLang="en-US" sz="2000" dirty="0">
                <a:latin typeface="Times New Roman" panose="02020603050405020304" pitchFamily="18" charset="0"/>
                <a:cs typeface="Times New Roman" panose="02020603050405020304" pitchFamily="18" charset="0"/>
                <a:sym typeface="+mn-ea"/>
              </a:rPr>
              <a:t>网络</a:t>
            </a:r>
            <a:endPar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蝶式</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函数Butterfly</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88415"/>
            <a:ext cx="8396605" cy="4877435"/>
          </a:xfrm>
        </p:spPr>
        <p:txBody>
          <a:bodyPr vert="horz" wrap="square" lIns="91440" tIns="45720" rIns="91440" bIns="45720" anchor="t" anchorCtr="0"/>
          <a:p>
            <a:pPr eaLnBrk="1" hangingPunct="1"/>
            <a:r>
              <a:rPr lang="zh-CN" altLang="en-US" sz="2000" dirty="0">
                <a:latin typeface="Times New Roman" panose="02020603050405020304" pitchFamily="18" charset="0"/>
                <a:cs typeface="Times New Roman" panose="02020603050405020304" pitchFamily="18" charset="0"/>
                <a:sym typeface="+mn-ea"/>
              </a:rPr>
              <a:t>将输入端二进制结点号的最高位和最低位互换位置</a:t>
            </a:r>
            <a:endParaRPr lang="zh-CN" altLang="en-US" sz="20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endParaRPr lang="zh-CN" altLang="en-US" sz="20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子蝶式</a:t>
            </a:r>
            <a:r>
              <a:rPr lang="en-US" altLang="zh-CN" sz="2000" dirty="0">
                <a:latin typeface="Times New Roman" panose="02020603050405020304" pitchFamily="18" charset="0"/>
                <a:cs typeface="Times New Roman" panose="02020603050405020304" pitchFamily="18" charset="0"/>
                <a:sym typeface="+mn-ea"/>
              </a:rPr>
              <a:t>(subbutterfly) B</a:t>
            </a:r>
            <a:r>
              <a:rPr lang="en-US" altLang="zh-CN" sz="2000" baseline="-25000" dirty="0">
                <a:latin typeface="Times New Roman" panose="02020603050405020304" pitchFamily="18" charset="0"/>
                <a:cs typeface="Times New Roman" panose="02020603050405020304" pitchFamily="18" charset="0"/>
                <a:sym typeface="+mn-ea"/>
              </a:rPr>
              <a:t>(k)</a:t>
            </a:r>
            <a:r>
              <a:rPr lang="zh-CN" altLang="en-US" sz="2000" dirty="0">
                <a:solidFill>
                  <a:srgbClr val="000000"/>
                </a:solidFill>
                <a:latin typeface="Times New Roman" panose="02020603050405020304" pitchFamily="18" charset="0"/>
                <a:cs typeface="Times New Roman" panose="02020603050405020304" pitchFamily="18" charset="0"/>
                <a:sym typeface="+mn-ea"/>
              </a:rPr>
              <a:t>最低</a:t>
            </a:r>
            <a:r>
              <a:rPr lang="en-US" altLang="zh-CN" sz="2000" dirty="0">
                <a:solidFill>
                  <a:srgbClr val="000000"/>
                </a:solidFill>
                <a:latin typeface="Times New Roman" panose="02020603050405020304" pitchFamily="18" charset="0"/>
                <a:cs typeface="Times New Roman" panose="02020603050405020304" pitchFamily="18" charset="0"/>
                <a:sym typeface="+mn-ea"/>
              </a:rPr>
              <a:t>k</a:t>
            </a:r>
            <a:r>
              <a:rPr lang="zh-CN" altLang="en-US" sz="2000" dirty="0">
                <a:solidFill>
                  <a:srgbClr val="000000"/>
                </a:solidFill>
                <a:latin typeface="Times New Roman" panose="02020603050405020304" pitchFamily="18" charset="0"/>
                <a:cs typeface="Times New Roman" panose="02020603050405020304" pitchFamily="18" charset="0"/>
                <a:sym typeface="+mn-ea"/>
              </a:rPr>
              <a:t>位的最高位与最低位互换位置</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超蝶式</a:t>
            </a:r>
            <a:r>
              <a:rPr lang="en-US" altLang="zh-CN" sz="2000" dirty="0">
                <a:latin typeface="Times New Roman" panose="02020603050405020304" pitchFamily="18" charset="0"/>
                <a:cs typeface="Times New Roman" panose="02020603050405020304" pitchFamily="18" charset="0"/>
                <a:sym typeface="+mn-ea"/>
              </a:rPr>
              <a:t>(superbutterfly) B</a:t>
            </a:r>
            <a:r>
              <a:rPr lang="en-US" altLang="zh-CN" sz="2000" baseline="30000" dirty="0">
                <a:latin typeface="Times New Roman" panose="02020603050405020304" pitchFamily="18" charset="0"/>
                <a:cs typeface="Times New Roman" panose="02020603050405020304" pitchFamily="18" charset="0"/>
                <a:sym typeface="+mn-ea"/>
              </a:rPr>
              <a:t>(k)</a:t>
            </a:r>
            <a:r>
              <a:rPr lang="zh-CN" altLang="en-US" sz="2000" dirty="0">
                <a:solidFill>
                  <a:srgbClr val="000000"/>
                </a:solidFill>
                <a:latin typeface="Times New Roman" panose="02020603050405020304" pitchFamily="18" charset="0"/>
                <a:cs typeface="Times New Roman" panose="02020603050405020304" pitchFamily="18" charset="0"/>
                <a:sym typeface="+mn-ea"/>
              </a:rPr>
              <a:t>最高</a:t>
            </a:r>
            <a:r>
              <a:rPr lang="en-US" altLang="zh-CN" sz="2000" dirty="0">
                <a:solidFill>
                  <a:srgbClr val="000000"/>
                </a:solidFill>
                <a:latin typeface="Times New Roman" panose="02020603050405020304" pitchFamily="18" charset="0"/>
                <a:cs typeface="Times New Roman" panose="02020603050405020304" pitchFamily="18" charset="0"/>
                <a:sym typeface="+mn-ea"/>
              </a:rPr>
              <a:t>k</a:t>
            </a:r>
            <a:r>
              <a:rPr lang="zh-CN" altLang="en-US" sz="2000" dirty="0">
                <a:solidFill>
                  <a:srgbClr val="000000"/>
                </a:solidFill>
                <a:latin typeface="Times New Roman" panose="02020603050405020304" pitchFamily="18" charset="0"/>
                <a:cs typeface="Times New Roman" panose="02020603050405020304" pitchFamily="18" charset="0"/>
                <a:sym typeface="+mn-ea"/>
              </a:rPr>
              <a:t>位的最高位与最低位互换位置</a:t>
            </a:r>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sym typeface="+mn-ea"/>
            </a:endParaRPr>
          </a:p>
          <a:p>
            <a:pPr eaLnBrk="1" hangingPunct="1"/>
            <a:r>
              <a:rPr lang="zh-CN" altLang="en-US" sz="2000" dirty="0">
                <a:latin typeface="Times New Roman" panose="02020603050405020304" pitchFamily="18" charset="0"/>
                <a:cs typeface="Times New Roman" panose="02020603050405020304" pitchFamily="18" charset="0"/>
                <a:sym typeface="+mn-ea"/>
              </a:rPr>
              <a:t>显然成立</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1691640" y="1772920"/>
            <a:ext cx="5139055" cy="587375"/>
          </a:xfrm>
          <a:prstGeom prst="rect">
            <a:avLst/>
          </a:prstGeom>
        </p:spPr>
      </p:pic>
      <p:graphicFrame>
        <p:nvGraphicFramePr>
          <p:cNvPr id="24582" name="Object 9"/>
          <p:cNvGraphicFramePr>
            <a:graphicFrameLocks noChangeAspect="1"/>
          </p:cNvGraphicFramePr>
          <p:nvPr>
            <p:custDataLst>
              <p:tags r:id="rId4"/>
            </p:custDataLst>
          </p:nvPr>
        </p:nvGraphicFramePr>
        <p:xfrm>
          <a:off x="1259840" y="3573145"/>
          <a:ext cx="7711440" cy="1214755"/>
        </p:xfrm>
        <a:graphic>
          <a:graphicData uri="http://schemas.openxmlformats.org/presentationml/2006/ole">
            <mc:AlternateContent xmlns:mc="http://schemas.openxmlformats.org/markup-compatibility/2006">
              <mc:Choice xmlns:v="urn:schemas-microsoft-com:vml" Requires="v">
                <p:oleObj spid="_x0000_s3081" name="" r:id="rId5" imgW="3543300" imgH="558800" progId="Equation.3">
                  <p:embed/>
                </p:oleObj>
              </mc:Choice>
              <mc:Fallback>
                <p:oleObj name="" r:id="rId5" imgW="3543300" imgH="558800" progId="Equation.3">
                  <p:embed/>
                  <p:pic>
                    <p:nvPicPr>
                      <p:cNvPr id="0" name="图片 3080"/>
                      <p:cNvPicPr/>
                      <p:nvPr/>
                    </p:nvPicPr>
                    <p:blipFill>
                      <a:blip r:embed="rId6"/>
                      <a:stretch>
                        <a:fillRect/>
                      </a:stretch>
                    </p:blipFill>
                    <p:spPr>
                      <a:xfrm>
                        <a:off x="1259840" y="3573145"/>
                        <a:ext cx="7711440" cy="1214755"/>
                      </a:xfrm>
                      <a:prstGeom prst="rect">
                        <a:avLst/>
                      </a:prstGeom>
                      <a:noFill/>
                      <a:ln w="38100">
                        <a:noFill/>
                        <a:miter/>
                      </a:ln>
                    </p:spPr>
                  </p:pic>
                </p:oleObj>
              </mc:Fallback>
            </mc:AlternateContent>
          </a:graphicData>
        </a:graphic>
      </p:graphicFrame>
      <p:graphicFrame>
        <p:nvGraphicFramePr>
          <p:cNvPr id="24583" name="Object 10"/>
          <p:cNvGraphicFramePr>
            <a:graphicFrameLocks noChangeAspect="1"/>
          </p:cNvGraphicFramePr>
          <p:nvPr>
            <p:custDataLst>
              <p:tags r:id="rId7"/>
            </p:custDataLst>
          </p:nvPr>
        </p:nvGraphicFramePr>
        <p:xfrm>
          <a:off x="2052003" y="5300663"/>
          <a:ext cx="3030537" cy="1077912"/>
        </p:xfrm>
        <a:graphic>
          <a:graphicData uri="http://schemas.openxmlformats.org/presentationml/2006/ole">
            <mc:AlternateContent xmlns:mc="http://schemas.openxmlformats.org/markup-compatibility/2006">
              <mc:Choice xmlns:v="urn:schemas-microsoft-com:vml" Requires="v">
                <p:oleObj spid="_x0000_s3084" name="" r:id="rId8" imgW="1497965" imgH="533400" progId="Equation.3">
                  <p:embed/>
                </p:oleObj>
              </mc:Choice>
              <mc:Fallback>
                <p:oleObj name="" r:id="rId8" imgW="1497965" imgH="533400" progId="Equation.3">
                  <p:embed/>
                  <p:pic>
                    <p:nvPicPr>
                      <p:cNvPr id="0" name="图片 3083"/>
                      <p:cNvPicPr/>
                      <p:nvPr/>
                    </p:nvPicPr>
                    <p:blipFill>
                      <a:blip r:embed="rId9"/>
                      <a:stretch>
                        <a:fillRect/>
                      </a:stretch>
                    </p:blipFill>
                    <p:spPr>
                      <a:xfrm>
                        <a:off x="2052003" y="5300663"/>
                        <a:ext cx="3030537" cy="1077912"/>
                      </a:xfrm>
                      <a:prstGeom prst="rect">
                        <a:avLst/>
                      </a:prstGeom>
                      <a:noFill/>
                      <a:ln w="38100">
                        <a:noFill/>
                        <a:miter/>
                      </a:ln>
                    </p:spPr>
                  </p:pic>
                </p:oleObj>
              </mc:Fallback>
            </mc:AlternateContent>
          </a:graphicData>
        </a:graphic>
      </p:graphicFrame>
      <p:sp>
        <p:nvSpPr>
          <p:cNvPr id="3" name="矩形 2"/>
          <p:cNvSpPr/>
          <p:nvPr/>
        </p:nvSpPr>
        <p:spPr>
          <a:xfrm>
            <a:off x="4716145" y="1844675"/>
            <a:ext cx="431800" cy="504190"/>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4" name="矩形 3"/>
          <p:cNvSpPr/>
          <p:nvPr/>
        </p:nvSpPr>
        <p:spPr>
          <a:xfrm>
            <a:off x="6313805" y="1856105"/>
            <a:ext cx="490220" cy="504190"/>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5" name="矩形 4"/>
          <p:cNvSpPr/>
          <p:nvPr/>
        </p:nvSpPr>
        <p:spPr>
          <a:xfrm>
            <a:off x="3996055" y="3644900"/>
            <a:ext cx="1325245" cy="504190"/>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 name="矩形 5"/>
          <p:cNvSpPr/>
          <p:nvPr/>
        </p:nvSpPr>
        <p:spPr>
          <a:xfrm>
            <a:off x="7236460" y="3573145"/>
            <a:ext cx="1719580" cy="504190"/>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 name="矩形 6"/>
          <p:cNvSpPr/>
          <p:nvPr/>
        </p:nvSpPr>
        <p:spPr>
          <a:xfrm>
            <a:off x="1979930" y="4364990"/>
            <a:ext cx="1916430" cy="504190"/>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8" name="矩形 7"/>
          <p:cNvSpPr/>
          <p:nvPr/>
        </p:nvSpPr>
        <p:spPr>
          <a:xfrm>
            <a:off x="4914265" y="4364990"/>
            <a:ext cx="2593340" cy="504190"/>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蝶式函数</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Butterfly</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39750" y="1196340"/>
            <a:ext cx="8396605" cy="1030605"/>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与全混洗函数类似，只用蝶式函数也不能实现任意结点之间的互连</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蝶式函数循环表示：</a:t>
            </a:r>
            <a:r>
              <a:rPr lang="en-US" altLang="zh-CN" sz="2000" dirty="0">
                <a:latin typeface="Times New Roman" panose="02020603050405020304" pitchFamily="18" charset="0"/>
                <a:cs typeface="Times New Roman" panose="02020603050405020304" pitchFamily="18" charset="0"/>
                <a:sym typeface="+mn-ea"/>
              </a:rPr>
              <a:t>(0), (2), (5), (7), (1,4), (3,6)</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graphicFrame>
        <p:nvGraphicFramePr>
          <p:cNvPr id="25605" name="Object 10"/>
          <p:cNvGraphicFramePr>
            <a:graphicFrameLocks noChangeAspect="1"/>
          </p:cNvGraphicFramePr>
          <p:nvPr>
            <p:custDataLst>
              <p:tags r:id="rId2"/>
            </p:custDataLst>
          </p:nvPr>
        </p:nvGraphicFramePr>
        <p:xfrm>
          <a:off x="971550" y="2376805"/>
          <a:ext cx="7001510" cy="3862705"/>
        </p:xfrm>
        <a:graphic>
          <a:graphicData uri="http://schemas.openxmlformats.org/presentationml/2006/ole">
            <mc:AlternateContent xmlns:mc="http://schemas.openxmlformats.org/markup-compatibility/2006">
              <mc:Choice xmlns:v="urn:schemas-microsoft-com:vml" Requires="v">
                <p:oleObj spid="_x0000_s3085" name="" r:id="rId3" imgW="3308350" imgH="1831975" progId="Word.Picture.8">
                  <p:embed/>
                </p:oleObj>
              </mc:Choice>
              <mc:Fallback>
                <p:oleObj name="" r:id="rId3" imgW="3308350" imgH="1831975" progId="Word.Picture.8">
                  <p:embed/>
                  <p:pic>
                    <p:nvPicPr>
                      <p:cNvPr id="0" name="图片 3084"/>
                      <p:cNvPicPr/>
                      <p:nvPr/>
                    </p:nvPicPr>
                    <p:blipFill>
                      <a:blip r:embed="rId4"/>
                      <a:stretch>
                        <a:fillRect/>
                      </a:stretch>
                    </p:blipFill>
                    <p:spPr>
                      <a:xfrm>
                        <a:off x="971550" y="2376805"/>
                        <a:ext cx="7001510" cy="3862705"/>
                      </a:xfrm>
                      <a:prstGeom prst="rect">
                        <a:avLst/>
                      </a:prstGeom>
                      <a:noFill/>
                      <a:ln w="38100">
                        <a:noFill/>
                        <a:miter/>
                      </a:ln>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反位序</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函数Bit Reversal</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331595"/>
            <a:ext cx="8396605" cy="4834255"/>
          </a:xfrm>
        </p:spPr>
        <p:txBody>
          <a:bodyPr vert="horz" wrap="square" lIns="91440" tIns="45720" rIns="91440" bIns="45720" anchor="t" anchorCtr="0"/>
          <a:p>
            <a:pPr eaLnBrk="1" hangingPunct="1"/>
            <a:r>
              <a:rPr lang="zh-CN" altLang="en-US" sz="2400" dirty="0">
                <a:latin typeface="Times New Roman" panose="02020603050405020304" pitchFamily="18" charset="0"/>
                <a:cs typeface="Times New Roman" panose="02020603050405020304" pitchFamily="18" charset="0"/>
                <a:sym typeface="+mn-ea"/>
              </a:rPr>
              <a:t>将输入端二进制地址的位序反过来就得相应输出的地址</a:t>
            </a:r>
            <a:endParaRPr lang="zh-CN" altLang="en-US" sz="2400" dirty="0">
              <a:latin typeface="Times New Roman" panose="02020603050405020304" pitchFamily="18" charset="0"/>
              <a:cs typeface="Times New Roman" panose="02020603050405020304" pitchFamily="18" charset="0"/>
            </a:endParaRPr>
          </a:p>
          <a:p>
            <a:pPr eaLnBrk="1" hangingPunct="1"/>
            <a:endParaRPr lang="zh-CN" altLang="en-US" sz="2400" dirty="0">
              <a:latin typeface="Times New Roman" panose="02020603050405020304" pitchFamily="18" charset="0"/>
              <a:cs typeface="Times New Roman" panose="02020603050405020304" pitchFamily="18" charset="0"/>
            </a:endParaRPr>
          </a:p>
          <a:p>
            <a:pPr eaLnBrk="1" hangingPunct="1"/>
            <a:endParaRPr lang="zh-CN" altLang="en-US" sz="2400" dirty="0">
              <a:latin typeface="Times New Roman" panose="02020603050405020304" pitchFamily="18" charset="0"/>
              <a:cs typeface="Times New Roman" panose="02020603050405020304" pitchFamily="18" charset="0"/>
            </a:endParaRPr>
          </a:p>
          <a:p>
            <a:pPr eaLnBrk="1" hangingPunct="1"/>
            <a:r>
              <a:rPr lang="zh-CN" altLang="en-US" sz="2400" dirty="0">
                <a:latin typeface="Times New Roman" panose="02020603050405020304" pitchFamily="18" charset="0"/>
                <a:cs typeface="Times New Roman" panose="02020603050405020304" pitchFamily="18" charset="0"/>
                <a:sym typeface="+mn-ea"/>
              </a:rPr>
              <a:t>子反位序函数：最低</a:t>
            </a:r>
            <a:r>
              <a:rPr lang="en-US" altLang="zh-CN" sz="2400" dirty="0">
                <a:latin typeface="Times New Roman" panose="02020603050405020304" pitchFamily="18" charset="0"/>
                <a:cs typeface="Times New Roman" panose="02020603050405020304" pitchFamily="18" charset="0"/>
                <a:sym typeface="+mn-ea"/>
              </a:rPr>
              <a:t>k</a:t>
            </a:r>
            <a:r>
              <a:rPr lang="zh-CN" altLang="en-US" sz="2400" dirty="0">
                <a:latin typeface="Times New Roman" panose="02020603050405020304" pitchFamily="18" charset="0"/>
                <a:cs typeface="Times New Roman" panose="02020603050405020304" pitchFamily="18" charset="0"/>
                <a:sym typeface="+mn-ea"/>
              </a:rPr>
              <a:t>位的位序反过来</a:t>
            </a:r>
            <a:endParaRPr lang="zh-CN" altLang="en-US" sz="2400" dirty="0">
              <a:latin typeface="Times New Roman" panose="02020603050405020304" pitchFamily="18" charset="0"/>
              <a:cs typeface="Times New Roman" panose="02020603050405020304" pitchFamily="18" charset="0"/>
            </a:endParaRPr>
          </a:p>
          <a:p>
            <a:pPr eaLnBrk="1" hangingPunct="1"/>
            <a:r>
              <a:rPr lang="zh-CN" altLang="en-US" sz="2400" dirty="0">
                <a:latin typeface="Times New Roman" panose="02020603050405020304" pitchFamily="18" charset="0"/>
                <a:cs typeface="Times New Roman" panose="02020603050405020304" pitchFamily="18" charset="0"/>
                <a:sym typeface="+mn-ea"/>
              </a:rPr>
              <a:t>超反位序函数：最高</a:t>
            </a:r>
            <a:r>
              <a:rPr lang="en-US" altLang="zh-CN" sz="2400" dirty="0">
                <a:latin typeface="Times New Roman" panose="02020603050405020304" pitchFamily="18" charset="0"/>
                <a:cs typeface="Times New Roman" panose="02020603050405020304" pitchFamily="18" charset="0"/>
                <a:sym typeface="+mn-ea"/>
              </a:rPr>
              <a:t>k</a:t>
            </a:r>
            <a:r>
              <a:rPr lang="zh-CN" altLang="en-US" sz="2400" dirty="0">
                <a:latin typeface="Times New Roman" panose="02020603050405020304" pitchFamily="18" charset="0"/>
                <a:cs typeface="Times New Roman" panose="02020603050405020304" pitchFamily="18" charset="0"/>
                <a:sym typeface="+mn-ea"/>
              </a:rPr>
              <a:t>位的位序反过来</a:t>
            </a:r>
            <a:endParaRPr lang="zh-CN" altLang="en-US" sz="2400" dirty="0">
              <a:latin typeface="Times New Roman" panose="02020603050405020304" pitchFamily="18" charset="0"/>
              <a:cs typeface="Times New Roman" panose="02020603050405020304" pitchFamily="18" charset="0"/>
            </a:endParaRPr>
          </a:p>
          <a:p>
            <a:pPr eaLnBrk="1" hangingPunct="1"/>
            <a:endParaRPr lang="zh-CN" altLang="en-US" sz="2400" dirty="0">
              <a:latin typeface="Times New Roman" panose="02020603050405020304" pitchFamily="18" charset="0"/>
              <a:cs typeface="Times New Roman" panose="02020603050405020304" pitchFamily="18" charset="0"/>
            </a:endParaRPr>
          </a:p>
          <a:p>
            <a:pPr eaLnBrk="1" hangingPunct="1"/>
            <a:endParaRPr lang="zh-CN" altLang="en-US" sz="2400" dirty="0">
              <a:latin typeface="Times New Roman" panose="02020603050405020304" pitchFamily="18" charset="0"/>
              <a:cs typeface="Times New Roman" panose="02020603050405020304" pitchFamily="18" charset="0"/>
            </a:endParaRPr>
          </a:p>
          <a:p>
            <a:pPr eaLnBrk="1" hangingPunct="1"/>
            <a:endParaRPr lang="zh-CN" altLang="en-US" sz="2400" dirty="0">
              <a:latin typeface="Times New Roman" panose="02020603050405020304" pitchFamily="18" charset="0"/>
              <a:cs typeface="Times New Roman" panose="02020603050405020304" pitchFamily="18" charset="0"/>
            </a:endParaRPr>
          </a:p>
          <a:p>
            <a:pPr eaLnBrk="1" hangingPunct="1"/>
            <a:endParaRPr lang="zh-CN" altLang="en-US" sz="2400" dirty="0">
              <a:latin typeface="Times New Roman" panose="02020603050405020304" pitchFamily="18" charset="0"/>
              <a:cs typeface="Times New Roman" panose="02020603050405020304" pitchFamily="18" charset="0"/>
            </a:endParaRPr>
          </a:p>
          <a:p>
            <a:pPr eaLnBrk="1" hangingPunct="1"/>
            <a:r>
              <a:rPr lang="zh-CN" altLang="en-US" sz="2400" dirty="0">
                <a:latin typeface="Times New Roman" panose="02020603050405020304" pitchFamily="18" charset="0"/>
                <a:cs typeface="Times New Roman" panose="02020603050405020304" pitchFamily="18" charset="0"/>
                <a:sym typeface="+mn-ea"/>
              </a:rPr>
              <a:t>对于</a:t>
            </a:r>
            <a:r>
              <a:rPr lang="en-US" altLang="zh-CN" sz="2400" dirty="0">
                <a:latin typeface="Times New Roman" panose="02020603050405020304" pitchFamily="18" charset="0"/>
                <a:cs typeface="Times New Roman" panose="02020603050405020304" pitchFamily="18" charset="0"/>
                <a:sym typeface="+mn-ea"/>
              </a:rPr>
              <a:t>n=3</a:t>
            </a:r>
            <a:r>
              <a:rPr lang="zh-CN" altLang="en-US" sz="2400" dirty="0">
                <a:latin typeface="Times New Roman" panose="02020603050405020304" pitchFamily="18" charset="0"/>
                <a:cs typeface="Times New Roman" panose="02020603050405020304" pitchFamily="18" charset="0"/>
                <a:sym typeface="+mn-ea"/>
              </a:rPr>
              <a:t>的情况，正好有 </a:t>
            </a:r>
            <a:r>
              <a:rPr lang="en-US" altLang="zh-CN" sz="2400" dirty="0">
                <a:latin typeface="Times New Roman" panose="02020603050405020304" pitchFamily="18" charset="0"/>
                <a:cs typeface="Times New Roman" panose="02020603050405020304" pitchFamily="18" charset="0"/>
                <a:sym typeface="+mn-ea"/>
              </a:rPr>
              <a:t>R=B</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R</a:t>
            </a:r>
            <a:r>
              <a:rPr lang="en-US" altLang="zh-CN" sz="2400" baseline="-25000" dirty="0">
                <a:latin typeface="Times New Roman" panose="02020603050405020304" pitchFamily="18" charset="0"/>
                <a:cs typeface="Times New Roman" panose="02020603050405020304" pitchFamily="18" charset="0"/>
                <a:sym typeface="+mn-ea"/>
              </a:rPr>
              <a:t>(2)</a:t>
            </a:r>
            <a:r>
              <a:rPr lang="en-US" altLang="zh-CN" sz="2400" dirty="0">
                <a:latin typeface="Times New Roman" panose="02020603050405020304" pitchFamily="18" charset="0"/>
                <a:cs typeface="Times New Roman" panose="02020603050405020304" pitchFamily="18" charset="0"/>
                <a:sym typeface="+mn-ea"/>
              </a:rPr>
              <a:t>=B</a:t>
            </a:r>
            <a:r>
              <a:rPr lang="en-US" altLang="zh-CN" sz="2400" baseline="-25000" dirty="0">
                <a:latin typeface="Times New Roman" panose="02020603050405020304" pitchFamily="18" charset="0"/>
                <a:cs typeface="Times New Roman" panose="02020603050405020304" pitchFamily="18" charset="0"/>
                <a:sym typeface="+mn-ea"/>
              </a:rPr>
              <a:t>(2)</a:t>
            </a:r>
            <a:r>
              <a:rPr lang="zh-CN" altLang="en-US" sz="2400" dirty="0">
                <a:latin typeface="Times New Roman" panose="02020603050405020304" pitchFamily="18" charset="0"/>
                <a:cs typeface="Times New Roman" panose="02020603050405020304" pitchFamily="18" charset="0"/>
                <a:sym typeface="+mn-ea"/>
              </a:rPr>
              <a:t>，</a:t>
            </a:r>
            <a:r>
              <a:rPr lang="en-US" altLang="zh-CN" sz="2400" dirty="0">
                <a:latin typeface="Times New Roman" panose="02020603050405020304" pitchFamily="18" charset="0"/>
                <a:cs typeface="Times New Roman" panose="02020603050405020304" pitchFamily="18" charset="0"/>
                <a:sym typeface="+mn-ea"/>
              </a:rPr>
              <a:t>R</a:t>
            </a:r>
            <a:r>
              <a:rPr lang="en-US" altLang="zh-CN" sz="2400" baseline="30000" dirty="0">
                <a:latin typeface="Times New Roman" panose="02020603050405020304" pitchFamily="18" charset="0"/>
                <a:cs typeface="Times New Roman" panose="02020603050405020304" pitchFamily="18" charset="0"/>
                <a:sym typeface="+mn-ea"/>
              </a:rPr>
              <a:t>(2)</a:t>
            </a:r>
            <a:r>
              <a:rPr lang="en-US" altLang="zh-CN" sz="2400" dirty="0">
                <a:latin typeface="Times New Roman" panose="02020603050405020304" pitchFamily="18" charset="0"/>
                <a:cs typeface="Times New Roman" panose="02020603050405020304" pitchFamily="18" charset="0"/>
                <a:sym typeface="+mn-ea"/>
              </a:rPr>
              <a:t>=B</a:t>
            </a:r>
            <a:r>
              <a:rPr lang="en-US" altLang="zh-CN" sz="2400" baseline="30000" dirty="0">
                <a:latin typeface="Times New Roman" panose="02020603050405020304" pitchFamily="18" charset="0"/>
                <a:cs typeface="Times New Roman" panose="02020603050405020304" pitchFamily="18" charset="0"/>
                <a:sym typeface="+mn-ea"/>
              </a:rPr>
              <a:t>(2)</a:t>
            </a:r>
            <a:endParaRPr lang="en-US" altLang="zh-CN" sz="2400" baseline="30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graphicFrame>
        <p:nvGraphicFramePr>
          <p:cNvPr id="26629" name="Object 6"/>
          <p:cNvGraphicFramePr>
            <a:graphicFrameLocks noChangeAspect="1"/>
          </p:cNvGraphicFramePr>
          <p:nvPr>
            <p:custDataLst>
              <p:tags r:id="rId2"/>
            </p:custDataLst>
          </p:nvPr>
        </p:nvGraphicFramePr>
        <p:xfrm>
          <a:off x="1691323" y="1938655"/>
          <a:ext cx="4765675" cy="539750"/>
        </p:xfrm>
        <a:graphic>
          <a:graphicData uri="http://schemas.openxmlformats.org/presentationml/2006/ole">
            <mc:AlternateContent xmlns:mc="http://schemas.openxmlformats.org/markup-compatibility/2006">
              <mc:Choice xmlns:v="urn:schemas-microsoft-com:vml" Requires="v">
                <p:oleObj spid="_x0000_s3087" name="" r:id="rId3" imgW="2019300" imgH="228600" progId="Equation.3">
                  <p:embed/>
                </p:oleObj>
              </mc:Choice>
              <mc:Fallback>
                <p:oleObj name="" r:id="rId3" imgW="2019300" imgH="228600" progId="Equation.3">
                  <p:embed/>
                  <p:pic>
                    <p:nvPicPr>
                      <p:cNvPr id="0" name="图片 3086"/>
                      <p:cNvPicPr/>
                      <p:nvPr/>
                    </p:nvPicPr>
                    <p:blipFill>
                      <a:blip r:embed="rId4"/>
                      <a:stretch>
                        <a:fillRect/>
                      </a:stretch>
                    </p:blipFill>
                    <p:spPr>
                      <a:xfrm>
                        <a:off x="1691323" y="1938655"/>
                        <a:ext cx="4765675" cy="539750"/>
                      </a:xfrm>
                      <a:prstGeom prst="rect">
                        <a:avLst/>
                      </a:prstGeom>
                      <a:noFill/>
                      <a:ln w="38100">
                        <a:noFill/>
                        <a:miter/>
                      </a:ln>
                    </p:spPr>
                  </p:pic>
                </p:oleObj>
              </mc:Fallback>
            </mc:AlternateContent>
          </a:graphicData>
        </a:graphic>
      </p:graphicFrame>
      <p:graphicFrame>
        <p:nvGraphicFramePr>
          <p:cNvPr id="26630" name="Object 8"/>
          <p:cNvGraphicFramePr>
            <a:graphicFrameLocks noChangeAspect="1"/>
          </p:cNvGraphicFramePr>
          <p:nvPr>
            <p:custDataLst>
              <p:tags r:id="rId5"/>
            </p:custDataLst>
          </p:nvPr>
        </p:nvGraphicFramePr>
        <p:xfrm>
          <a:off x="828040" y="3716973"/>
          <a:ext cx="8251825" cy="1196975"/>
        </p:xfrm>
        <a:graphic>
          <a:graphicData uri="http://schemas.openxmlformats.org/presentationml/2006/ole">
            <mc:AlternateContent xmlns:mc="http://schemas.openxmlformats.org/markup-compatibility/2006">
              <mc:Choice xmlns:v="urn:schemas-microsoft-com:vml" Requires="v">
                <p:oleObj spid="_x0000_s3086" name="" r:id="rId6" imgW="3860800" imgH="558800" progId="Equation.3">
                  <p:embed/>
                </p:oleObj>
              </mc:Choice>
              <mc:Fallback>
                <p:oleObj name="" r:id="rId6" imgW="3860800" imgH="558800" progId="Equation.3">
                  <p:embed/>
                  <p:pic>
                    <p:nvPicPr>
                      <p:cNvPr id="0" name="图片 3085"/>
                      <p:cNvPicPr/>
                      <p:nvPr/>
                    </p:nvPicPr>
                    <p:blipFill>
                      <a:blip r:embed="rId7"/>
                      <a:stretch>
                        <a:fillRect/>
                      </a:stretch>
                    </p:blipFill>
                    <p:spPr>
                      <a:xfrm>
                        <a:off x="828040" y="3716973"/>
                        <a:ext cx="8251825" cy="1196975"/>
                      </a:xfrm>
                      <a:prstGeom prst="rect">
                        <a:avLst/>
                      </a:prstGeom>
                      <a:noFill/>
                      <a:ln w="38100">
                        <a:noFill/>
                        <a:miter/>
                      </a:ln>
                    </p:spPr>
                  </p:pic>
                </p:oleObj>
              </mc:Fallback>
            </mc:AlternateContent>
          </a:graphicData>
        </a:graphic>
      </p:graphicFrame>
      <p:sp>
        <p:nvSpPr>
          <p:cNvPr id="4" name="矩形 3"/>
          <p:cNvSpPr/>
          <p:nvPr/>
        </p:nvSpPr>
        <p:spPr>
          <a:xfrm>
            <a:off x="2987675" y="3717290"/>
            <a:ext cx="1711325" cy="504190"/>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 name="矩形 1"/>
          <p:cNvSpPr/>
          <p:nvPr/>
        </p:nvSpPr>
        <p:spPr>
          <a:xfrm>
            <a:off x="6659880" y="3717290"/>
            <a:ext cx="1711325" cy="504190"/>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3" name="矩形 2"/>
          <p:cNvSpPr/>
          <p:nvPr/>
        </p:nvSpPr>
        <p:spPr>
          <a:xfrm>
            <a:off x="1619250" y="4410075"/>
            <a:ext cx="1711325" cy="504190"/>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5" name="矩形 4"/>
          <p:cNvSpPr/>
          <p:nvPr/>
        </p:nvSpPr>
        <p:spPr>
          <a:xfrm>
            <a:off x="5219700" y="4437380"/>
            <a:ext cx="2411730" cy="504190"/>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移数</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函数A</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82065"/>
            <a:ext cx="8396605" cy="4883785"/>
          </a:xfrm>
        </p:spPr>
        <p:txBody>
          <a:bodyPr vert="horz" wrap="square" lIns="91440" tIns="45720" rIns="91440" bIns="45720" anchor="t" anchorCtr="0"/>
          <a:p>
            <a:pPr eaLnBrk="1" hangingPunct="1"/>
            <a:r>
              <a:rPr lang="zh-CN" altLang="en-US" sz="2400" dirty="0">
                <a:sym typeface="+mn-ea"/>
              </a:rPr>
              <a:t>将输入端数组循环移动一定的位置向输出端传输</a:t>
            </a:r>
            <a:endParaRPr lang="zh-CN" altLang="en-US" sz="2400" dirty="0"/>
          </a:p>
          <a:p>
            <a:pPr eaLnBrk="1" hangingPunct="1"/>
            <a:endParaRPr lang="zh-CN" altLang="en-US" sz="2000" dirty="0"/>
          </a:p>
          <a:p>
            <a:pPr eaLnBrk="1" latinLnBrk="0" hangingPunct="1">
              <a:spcBef>
                <a:spcPts val="1200"/>
              </a:spcBef>
            </a:pP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1979930" y="1915795"/>
            <a:ext cx="4311650" cy="438150"/>
          </a:xfrm>
          <a:prstGeom prst="rect">
            <a:avLst/>
          </a:prstGeom>
        </p:spPr>
      </p:pic>
      <p:pic>
        <p:nvPicPr>
          <p:cNvPr id="4" name="图片 3"/>
          <p:cNvPicPr>
            <a:picLocks noChangeAspect="1"/>
          </p:cNvPicPr>
          <p:nvPr>
            <p:custDataLst>
              <p:tags r:id="rId4"/>
            </p:custDataLst>
          </p:nvPr>
        </p:nvPicPr>
        <p:blipFill>
          <a:blip r:embed="rId5"/>
          <a:stretch>
            <a:fillRect/>
          </a:stretch>
        </p:blipFill>
        <p:spPr>
          <a:xfrm>
            <a:off x="1907540" y="2635885"/>
            <a:ext cx="4962525" cy="2925445"/>
          </a:xfrm>
          <a:prstGeom prst="rect">
            <a:avLst/>
          </a:prstGeom>
        </p:spPr>
      </p:pic>
      <p:sp>
        <p:nvSpPr>
          <p:cNvPr id="5" name="文本框 4"/>
          <p:cNvSpPr txBox="1"/>
          <p:nvPr/>
        </p:nvSpPr>
        <p:spPr>
          <a:xfrm>
            <a:off x="1887855" y="5876290"/>
            <a:ext cx="6326505" cy="368300"/>
          </a:xfrm>
          <a:prstGeom prst="rect">
            <a:avLst/>
          </a:prstGeom>
          <a:noFill/>
        </p:spPr>
        <p:txBody>
          <a:bodyPr wrap="square" rtlCol="0" anchor="t">
            <a:spAutoFit/>
          </a:bodyPr>
          <a:p>
            <a:pPr eaLnBrk="1" hangingPunct="1">
              <a:buNone/>
            </a:pPr>
            <a:r>
              <a:rPr lang="en-US" altLang="zh-CN"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rPr>
              <a:t>(a)</a:t>
            </a:r>
            <a:r>
              <a:rPr lang="zh-CN" altLang="en-US"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rPr>
              <a:t>移数量</a:t>
            </a:r>
            <a:r>
              <a:rPr lang="en-US" altLang="zh-CN"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rPr>
              <a:t>k=2</a:t>
            </a:r>
            <a:r>
              <a:rPr lang="zh-CN" altLang="en-US"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rPr>
              <a:t>　　       　</a:t>
            </a:r>
            <a:r>
              <a:rPr lang="en-US" altLang="zh-CN"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rPr>
              <a:t>            (b)</a:t>
            </a:r>
            <a:r>
              <a:rPr lang="zh-CN" altLang="en-US"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rPr>
              <a:t>段内移数置换</a:t>
            </a:r>
            <a:r>
              <a:rPr lang="en-US" altLang="zh-CN"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rPr>
              <a:t>k=1,r=2 </a:t>
            </a:r>
            <a:endParaRPr lang="en-US" altLang="zh-CN"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加减2</a:t>
            </a:r>
            <a:r>
              <a:rPr lang="zh-CN" baseline="30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i</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置换PM2I</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2197735"/>
            <a:ext cx="8396605" cy="3968115"/>
          </a:xfrm>
        </p:spPr>
        <p:txBody>
          <a:bodyPr vert="horz" wrap="square" lIns="91440" tIns="45720" rIns="91440" bIns="45720" anchor="t" anchorCtr="0"/>
          <a:p>
            <a:pPr lvl="1" eaLnBrk="1" hangingPunct="1">
              <a:lnSpc>
                <a:spcPct val="90000"/>
              </a:lnSpc>
            </a:pPr>
            <a:r>
              <a:rPr lang="zh-CN" altLang="en-US" sz="2000" dirty="0">
                <a:latin typeface="Times New Roman" panose="02020603050405020304" pitchFamily="18" charset="0"/>
                <a:cs typeface="Times New Roman" panose="02020603050405020304" pitchFamily="18" charset="0"/>
                <a:sym typeface="+mn-ea"/>
              </a:rPr>
              <a:t>子移数</a:t>
            </a:r>
            <a:r>
              <a:rPr lang="zh-CN" altLang="en-US" sz="2000" dirty="0">
                <a:latin typeface="Times New Roman" panose="02020603050405020304" pitchFamily="18" charset="0"/>
                <a:cs typeface="Times New Roman" panose="02020603050405020304" pitchFamily="18" charset="0"/>
                <a:sym typeface="+mn-ea"/>
              </a:rPr>
              <a:t>函数：</a:t>
            </a:r>
            <a:endParaRPr lang="zh-CN" altLang="en-US" sz="2000" dirty="0">
              <a:latin typeface="Times New Roman" panose="02020603050405020304" pitchFamily="18" charset="0"/>
              <a:cs typeface="Times New Roman" panose="02020603050405020304" pitchFamily="18" charset="0"/>
              <a:sym typeface="+mn-ea"/>
            </a:endParaRPr>
          </a:p>
          <a:p>
            <a:pPr lvl="1" eaLnBrk="1" hangingPunct="1">
              <a:lnSpc>
                <a:spcPct val="90000"/>
              </a:lnSpc>
            </a:pPr>
            <a:endParaRPr lang="zh-CN" altLang="en-US" sz="2000" dirty="0">
              <a:latin typeface="Times New Roman" panose="02020603050405020304" pitchFamily="18" charset="0"/>
              <a:cs typeface="Times New Roman" panose="02020603050405020304" pitchFamily="18" charset="0"/>
              <a:sym typeface="+mn-ea"/>
            </a:endParaRPr>
          </a:p>
          <a:p>
            <a:pPr lvl="1" eaLnBrk="1" hangingPunct="1">
              <a:lnSpc>
                <a:spcPct val="90000"/>
              </a:lnSpc>
            </a:pPr>
            <a:r>
              <a:rPr lang="zh-CN" altLang="en-US" sz="2000" dirty="0">
                <a:latin typeface="Times New Roman" panose="02020603050405020304" pitchFamily="18" charset="0"/>
                <a:cs typeface="Times New Roman" panose="02020603050405020304" pitchFamily="18" charset="0"/>
                <a:sym typeface="+mn-ea"/>
              </a:rPr>
              <a:t>其中：</a:t>
            </a:r>
            <a:r>
              <a:rPr lang="en-US" altLang="zh-CN" sz="2000" dirty="0">
                <a:latin typeface="Times New Roman" panose="02020603050405020304" pitchFamily="18" charset="0"/>
                <a:cs typeface="Times New Roman" panose="02020603050405020304" pitchFamily="18" charset="0"/>
                <a:sym typeface="+mn-ea"/>
              </a:rPr>
              <a:t>0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mn-ea"/>
              </a:rPr>
              <a:t> x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mn-ea"/>
              </a:rPr>
              <a:t> N-1</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0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mn-ea"/>
              </a:rPr>
              <a:t> i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mn-ea"/>
              </a:rPr>
              <a:t> n-1</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n = log</a:t>
            </a:r>
            <a:r>
              <a:rPr lang="en-US" altLang="zh-CN" sz="2000" baseline="-25000" dirty="0">
                <a:latin typeface="Times New Roman" panose="02020603050405020304" pitchFamily="18" charset="0"/>
                <a:cs typeface="Times New Roman" panose="02020603050405020304" pitchFamily="18" charset="0"/>
                <a:sym typeface="+mn-ea"/>
              </a:rPr>
              <a:t>2 </a:t>
            </a:r>
            <a:r>
              <a:rPr lang="en-US" altLang="zh-CN" sz="2000" dirty="0">
                <a:latin typeface="Times New Roman" panose="02020603050405020304" pitchFamily="18" charset="0"/>
                <a:cs typeface="Times New Roman" panose="02020603050405020304" pitchFamily="18" charset="0"/>
                <a:sym typeface="+mn-ea"/>
              </a:rPr>
              <a:t>N</a:t>
            </a:r>
            <a:endParaRPr lang="en-US" altLang="zh-CN" sz="2000" dirty="0">
              <a:latin typeface="Times New Roman" panose="02020603050405020304" pitchFamily="18" charset="0"/>
              <a:cs typeface="Times New Roman" panose="02020603050405020304" pitchFamily="18" charset="0"/>
            </a:endParaRPr>
          </a:p>
          <a:p>
            <a:pPr eaLnBrk="1" hangingPunct="1">
              <a:lnSpc>
                <a:spcPct val="90000"/>
              </a:lnSpc>
            </a:pPr>
            <a:endParaRPr lang="en-US" altLang="zh-CN" sz="2000" dirty="0">
              <a:latin typeface="Times New Roman" panose="02020603050405020304" pitchFamily="18" charset="0"/>
              <a:cs typeface="Times New Roman" panose="02020603050405020304" pitchFamily="18" charset="0"/>
            </a:endParaRPr>
          </a:p>
          <a:p>
            <a:pPr eaLnBrk="1" hangingPunct="1">
              <a:lnSpc>
                <a:spcPct val="90000"/>
              </a:lnSpc>
            </a:pPr>
            <a:endParaRPr lang="en-US" altLang="zh-CN" sz="2000" dirty="0">
              <a:latin typeface="Times New Roman" panose="02020603050405020304" pitchFamily="18" charset="0"/>
              <a:cs typeface="Times New Roman" panose="02020603050405020304" pitchFamily="18" charset="0"/>
            </a:endParaRPr>
          </a:p>
          <a:p>
            <a:pPr eaLnBrk="1" hangingPunct="1">
              <a:lnSpc>
                <a:spcPct val="90000"/>
              </a:lnSpc>
            </a:pPr>
            <a:endParaRPr lang="en-US" altLang="zh-CN" sz="2000" dirty="0">
              <a:latin typeface="Times New Roman" panose="02020603050405020304" pitchFamily="18" charset="0"/>
              <a:cs typeface="Times New Roman" panose="02020603050405020304" pitchFamily="18" charset="0"/>
            </a:endParaRPr>
          </a:p>
          <a:p>
            <a:pPr eaLnBrk="1" hangingPunct="1">
              <a:lnSpc>
                <a:spcPct val="90000"/>
              </a:lnSpc>
            </a:pPr>
            <a:endParaRPr lang="en-US" altLang="zh-CN" sz="2000" dirty="0">
              <a:latin typeface="Times New Roman" panose="02020603050405020304" pitchFamily="18" charset="0"/>
              <a:cs typeface="Times New Roman" panose="02020603050405020304" pitchFamily="18" charset="0"/>
            </a:endParaRPr>
          </a:p>
          <a:p>
            <a:pPr eaLnBrk="1" hangingPunct="1">
              <a:lnSpc>
                <a:spcPct val="90000"/>
              </a:lnSpc>
            </a:pPr>
            <a:endParaRPr lang="en-US" altLang="zh-CN" sz="2000" dirty="0">
              <a:latin typeface="Times New Roman" panose="02020603050405020304" pitchFamily="18" charset="0"/>
              <a:cs typeface="Times New Roman" panose="02020603050405020304" pitchFamily="18" charset="0"/>
            </a:endParaRPr>
          </a:p>
          <a:p>
            <a:pPr eaLnBrk="1" hangingPunct="1">
              <a:lnSpc>
                <a:spcPct val="90000"/>
              </a:lnSpc>
            </a:pPr>
            <a:endParaRPr lang="en-US" altLang="zh-CN" sz="2000" dirty="0">
              <a:latin typeface="Times New Roman" panose="02020603050405020304" pitchFamily="18" charset="0"/>
              <a:cs typeface="Times New Roman" panose="02020603050405020304" pitchFamily="18" charset="0"/>
            </a:endParaRPr>
          </a:p>
          <a:p>
            <a:pPr eaLnBrk="1" hangingPunct="1">
              <a:lnSpc>
                <a:spcPct val="90000"/>
              </a:lnSpc>
            </a:pPr>
            <a:endParaRPr lang="en-US" altLang="zh-CN" sz="2000" dirty="0">
              <a:latin typeface="Times New Roman" panose="02020603050405020304" pitchFamily="18" charset="0"/>
              <a:cs typeface="Times New Roman" panose="02020603050405020304" pitchFamily="18" charset="0"/>
            </a:endParaRPr>
          </a:p>
          <a:p>
            <a:pPr eaLnBrk="1" hangingPunct="1">
              <a:lnSpc>
                <a:spcPct val="90000"/>
              </a:lnSpc>
            </a:pPr>
            <a:r>
              <a:rPr lang="en-US" altLang="zh-CN" sz="2000" dirty="0">
                <a:latin typeface="Times New Roman" panose="02020603050405020304" pitchFamily="18" charset="0"/>
                <a:cs typeface="Times New Roman" panose="02020603050405020304" pitchFamily="18" charset="0"/>
                <a:sym typeface="+mn-ea"/>
              </a:rPr>
              <a:t>i=+0 </a:t>
            </a:r>
            <a:r>
              <a:rPr lang="zh-CN" altLang="en-US" sz="2000" dirty="0">
                <a:latin typeface="Times New Roman" panose="02020603050405020304" pitchFamily="18" charset="0"/>
                <a:cs typeface="Times New Roman" panose="02020603050405020304" pitchFamily="18" charset="0"/>
                <a:sym typeface="+mn-ea"/>
              </a:rPr>
              <a:t>循环表示</a:t>
            </a:r>
            <a:r>
              <a:rPr lang="en-US" altLang="zh-CN" sz="2000" dirty="0">
                <a:latin typeface="Times New Roman" panose="02020603050405020304" pitchFamily="18" charset="0"/>
                <a:cs typeface="Times New Roman" panose="02020603050405020304" pitchFamily="18" charset="0"/>
                <a:sym typeface="+mn-ea"/>
              </a:rPr>
              <a:t>(0,1,2,3,4,5,6,7)</a:t>
            </a:r>
            <a:endParaRPr lang="en-US" altLang="zh-CN" sz="2000" dirty="0">
              <a:latin typeface="Times New Roman" panose="02020603050405020304" pitchFamily="18" charset="0"/>
              <a:cs typeface="Times New Roman" panose="02020603050405020304" pitchFamily="18" charset="0"/>
            </a:endParaRPr>
          </a:p>
          <a:p>
            <a:pPr eaLnBrk="1" hangingPunct="1">
              <a:lnSpc>
                <a:spcPct val="90000"/>
              </a:lnSpc>
            </a:pPr>
            <a:r>
              <a:rPr lang="en-US" altLang="zh-CN" sz="2000" dirty="0">
                <a:latin typeface="Times New Roman" panose="02020603050405020304" pitchFamily="18" charset="0"/>
                <a:cs typeface="Times New Roman" panose="02020603050405020304" pitchFamily="18" charset="0"/>
                <a:sym typeface="+mn-ea"/>
              </a:rPr>
              <a:t>i=+1 </a:t>
            </a:r>
            <a:r>
              <a:rPr lang="zh-CN" altLang="en-US" sz="2000" dirty="0">
                <a:latin typeface="Times New Roman" panose="02020603050405020304" pitchFamily="18" charset="0"/>
                <a:cs typeface="Times New Roman" panose="02020603050405020304" pitchFamily="18" charset="0"/>
                <a:sym typeface="+mn-ea"/>
              </a:rPr>
              <a:t>循环表示</a:t>
            </a:r>
            <a:r>
              <a:rPr lang="en-US" altLang="zh-CN" sz="2000" dirty="0">
                <a:latin typeface="Times New Roman" panose="02020603050405020304" pitchFamily="18" charset="0"/>
                <a:cs typeface="Times New Roman" panose="02020603050405020304" pitchFamily="18" charset="0"/>
                <a:sym typeface="+mn-ea"/>
              </a:rPr>
              <a:t>(0,2,4,6), (1,3,5,7)</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2483485" y="1124585"/>
            <a:ext cx="3311525" cy="938530"/>
          </a:xfrm>
          <a:prstGeom prst="rect">
            <a:avLst/>
          </a:prstGeom>
        </p:spPr>
      </p:pic>
      <p:pic>
        <p:nvPicPr>
          <p:cNvPr id="3" name="图片 2"/>
          <p:cNvPicPr>
            <a:picLocks noChangeAspect="1"/>
          </p:cNvPicPr>
          <p:nvPr>
            <p:custDataLst>
              <p:tags r:id="rId4"/>
            </p:custDataLst>
          </p:nvPr>
        </p:nvPicPr>
        <p:blipFill>
          <a:blip r:embed="rId5"/>
          <a:stretch>
            <a:fillRect/>
          </a:stretch>
        </p:blipFill>
        <p:spPr>
          <a:xfrm>
            <a:off x="2987675" y="2132965"/>
            <a:ext cx="2451100" cy="603250"/>
          </a:xfrm>
          <a:prstGeom prst="rect">
            <a:avLst/>
          </a:prstGeom>
        </p:spPr>
      </p:pic>
      <p:pic>
        <p:nvPicPr>
          <p:cNvPr id="4" name="图片 3"/>
          <p:cNvPicPr>
            <a:picLocks noChangeAspect="1"/>
          </p:cNvPicPr>
          <p:nvPr>
            <p:custDataLst>
              <p:tags r:id="rId6"/>
            </p:custDataLst>
          </p:nvPr>
        </p:nvPicPr>
        <p:blipFill>
          <a:blip r:embed="rId7"/>
          <a:stretch>
            <a:fillRect/>
          </a:stretch>
        </p:blipFill>
        <p:spPr>
          <a:xfrm>
            <a:off x="1691640" y="3284855"/>
            <a:ext cx="5212715" cy="21767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加减2i置换PM2I</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5054600"/>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采用移数函数可构成环型网</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包括单向环网、双向环网、弦环网</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、方格网、移数网</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如</a:t>
            </a:r>
            <a:r>
              <a:rPr lang="en-US" altLang="zh-CN" sz="2000" dirty="0">
                <a:latin typeface="Times New Roman" panose="02020603050405020304" pitchFamily="18" charset="0"/>
                <a:cs typeface="Times New Roman" panose="02020603050405020304" pitchFamily="18" charset="0"/>
                <a:sym typeface="+mn-ea"/>
              </a:rPr>
              <a:t>Illiac</a:t>
            </a:r>
            <a:r>
              <a:rPr lang="zh-CN" altLang="en-US" sz="2000" dirty="0">
                <a:latin typeface="Times New Roman" panose="02020603050405020304" pitchFamily="18" charset="0"/>
                <a:cs typeface="Times New Roman" panose="02020603050405020304" pitchFamily="18" charset="0"/>
                <a:sym typeface="+mn-ea"/>
              </a:rPr>
              <a:t>函数是构成</a:t>
            </a:r>
            <a:r>
              <a:rPr lang="en-US" altLang="zh-CN" sz="2000" dirty="0">
                <a:latin typeface="Times New Roman" panose="02020603050405020304" pitchFamily="18" charset="0"/>
                <a:cs typeface="Times New Roman" panose="02020603050405020304" pitchFamily="18" charset="0"/>
                <a:sym typeface="+mn-ea"/>
              </a:rPr>
              <a:t>Illiac IV</a:t>
            </a:r>
            <a:r>
              <a:rPr lang="zh-CN" altLang="en-US" sz="2000" dirty="0">
                <a:latin typeface="Times New Roman" panose="02020603050405020304" pitchFamily="18" charset="0"/>
                <a:cs typeface="Times New Roman" panose="02020603050405020304" pitchFamily="18" charset="0"/>
                <a:sym typeface="+mn-ea"/>
              </a:rPr>
              <a:t>阵列的基础，包含</a:t>
            </a:r>
            <a:r>
              <a:rPr lang="en-US" altLang="zh-CN" sz="2000" dirty="0">
                <a:latin typeface="Times New Roman" panose="02020603050405020304" pitchFamily="18" charset="0"/>
                <a:cs typeface="Times New Roman" panose="02020603050405020304" pitchFamily="18" charset="0"/>
                <a:sym typeface="+mn-ea"/>
              </a:rPr>
              <a:t>PM2</a:t>
            </a:r>
            <a:r>
              <a:rPr lang="en-US" altLang="zh-CN" sz="2000"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latin typeface="Times New Roman" panose="02020603050405020304" pitchFamily="18" charset="0"/>
                <a:cs typeface="Times New Roman" panose="02020603050405020304" pitchFamily="18" charset="0"/>
                <a:sym typeface="+mn-ea"/>
              </a:rPr>
              <a:t>0</a:t>
            </a:r>
            <a:r>
              <a:rPr lang="zh-CN" altLang="en-US" sz="2000" dirty="0">
                <a:latin typeface="Times New Roman" panose="02020603050405020304" pitchFamily="18" charset="0"/>
                <a:cs typeface="Times New Roman" panose="02020603050405020304" pitchFamily="18" charset="0"/>
                <a:sym typeface="+mn-ea"/>
              </a:rPr>
              <a:t>和</a:t>
            </a:r>
            <a:r>
              <a:rPr lang="en-US" altLang="zh-CN" sz="2000" dirty="0">
                <a:latin typeface="Times New Roman" panose="02020603050405020304" pitchFamily="18" charset="0"/>
                <a:cs typeface="Times New Roman" panose="02020603050405020304" pitchFamily="18" charset="0"/>
                <a:sym typeface="+mn-ea"/>
              </a:rPr>
              <a:t>PM2</a:t>
            </a:r>
            <a:r>
              <a:rPr lang="en-US" altLang="zh-CN" sz="2000" baseline="-25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aseline="-25000" dirty="0">
                <a:latin typeface="Times New Roman" panose="02020603050405020304" pitchFamily="18" charset="0"/>
                <a:cs typeface="Times New Roman" panose="02020603050405020304" pitchFamily="18" charset="0"/>
                <a:sym typeface="+mn-ea"/>
              </a:rPr>
              <a:t>n/2</a:t>
            </a:r>
            <a:r>
              <a:rPr lang="zh-CN" altLang="en-US" sz="2000" dirty="0">
                <a:latin typeface="Times New Roman" panose="02020603050405020304" pitchFamily="18" charset="0"/>
                <a:cs typeface="Times New Roman" panose="02020603050405020304" pitchFamily="18" charset="0"/>
                <a:sym typeface="+mn-ea"/>
              </a:rPr>
              <a:t>四个互连函数</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采用全部移数函数构成网络称为移数网</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移数网的结点度为 2n-1，网络直径为</a:t>
            </a:r>
            <a:r>
              <a:rPr lang="en-US" altLang="zh-CN"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rgbClr val="FF0000"/>
                </a:solidFill>
                <a:latin typeface="Times New Roman" panose="02020603050405020304" pitchFamily="18" charset="0"/>
                <a:cs typeface="Times New Roman" panose="02020603050405020304" pitchFamily="18" charset="0"/>
                <a:sym typeface="+mn-ea"/>
              </a:rPr>
              <a:t>n/2</a:t>
            </a:r>
            <a:r>
              <a:rPr lang="en-US" altLang="zh-CN"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solidFill>
                  <a:srgbClr val="FF0000"/>
                </a:solidFill>
                <a:latin typeface="Times New Roman" panose="02020603050405020304" pitchFamily="18" charset="0"/>
                <a:cs typeface="Times New Roman" panose="02020603050405020304" pitchFamily="18" charset="0"/>
                <a:sym typeface="+mn-ea"/>
              </a:rPr>
              <a:t>  </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7.2 </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互连网络的种类</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59840"/>
            <a:ext cx="8396605" cy="4906010"/>
          </a:xfrm>
        </p:spPr>
        <p:txBody>
          <a:bodyPr vert="horz" wrap="square" lIns="91440" tIns="45720" rIns="91440" bIns="45720" anchor="t" anchorCtr="0"/>
          <a:p>
            <a:pPr eaLnBrk="1" latinLnBrk="0" hangingPunct="1">
              <a:spcBef>
                <a:spcPts val="1200"/>
              </a:spcBef>
            </a:pPr>
            <a:r>
              <a:rPr lang="zh-CN" altLang="en-US" sz="2000" dirty="0">
                <a:sym typeface="+mn-ea"/>
              </a:rPr>
              <a:t>以互连特性为特征，可分为</a:t>
            </a:r>
            <a:endParaRPr lang="zh-CN" altLang="en-US" sz="2000" dirty="0"/>
          </a:p>
          <a:p>
            <a:pPr lvl="1" eaLnBrk="1" latinLnBrk="0" hangingPunct="1">
              <a:spcBef>
                <a:spcPts val="1200"/>
              </a:spcBef>
            </a:pPr>
            <a:r>
              <a:rPr lang="zh-CN" altLang="en-US" sz="2000" dirty="0">
                <a:solidFill>
                  <a:srgbClr val="FF3333"/>
                </a:solidFill>
                <a:sym typeface="+mn-ea"/>
              </a:rPr>
              <a:t>静态互连网络</a:t>
            </a:r>
            <a:r>
              <a:rPr lang="zh-CN" altLang="en-US" sz="2000" dirty="0">
                <a:sym typeface="+mn-ea"/>
              </a:rPr>
              <a:t>：连接通路是固定的，一般静态互连网络不能实现任意结点到结点之间的互连</a:t>
            </a:r>
            <a:endParaRPr lang="zh-CN" altLang="en-US" sz="2000" dirty="0"/>
          </a:p>
          <a:p>
            <a:pPr lvl="1" eaLnBrk="1" latinLnBrk="0" hangingPunct="1">
              <a:spcBef>
                <a:spcPts val="1200"/>
              </a:spcBef>
            </a:pPr>
            <a:r>
              <a:rPr lang="zh-CN" altLang="en-US" sz="2000" dirty="0">
                <a:solidFill>
                  <a:srgbClr val="FF3333"/>
                </a:solidFill>
                <a:sym typeface="+mn-ea"/>
              </a:rPr>
              <a:t>循环互连网络</a:t>
            </a:r>
            <a:r>
              <a:rPr lang="zh-CN" altLang="en-US" sz="2000" dirty="0">
                <a:sym typeface="+mn-ea"/>
              </a:rPr>
              <a:t>：通过</a:t>
            </a:r>
            <a:r>
              <a:rPr lang="zh-CN" altLang="en-US" sz="2000" dirty="0">
                <a:solidFill>
                  <a:srgbClr val="FF0000"/>
                </a:solidFill>
                <a:sym typeface="+mn-ea"/>
              </a:rPr>
              <a:t>多次重复使用同一个单级互连网络</a:t>
            </a:r>
            <a:r>
              <a:rPr lang="zh-CN" altLang="en-US" sz="2000" dirty="0">
                <a:sym typeface="+mn-ea"/>
              </a:rPr>
              <a:t>以实现任意结点到结点之间的互连</a:t>
            </a:r>
            <a:endParaRPr lang="zh-CN" altLang="en-US" sz="2000" dirty="0"/>
          </a:p>
          <a:p>
            <a:pPr lvl="1" eaLnBrk="1" latinLnBrk="0" hangingPunct="1">
              <a:spcBef>
                <a:spcPts val="1200"/>
              </a:spcBef>
            </a:pPr>
            <a:r>
              <a:rPr lang="zh-CN" altLang="en-US" sz="2000" dirty="0">
                <a:solidFill>
                  <a:srgbClr val="FF3333"/>
                </a:solidFill>
                <a:sym typeface="+mn-ea"/>
              </a:rPr>
              <a:t>多级互连网络</a:t>
            </a:r>
            <a:r>
              <a:rPr lang="zh-CN" altLang="en-US" sz="2000" dirty="0">
                <a:sym typeface="+mn-ea"/>
              </a:rPr>
              <a:t>：将</a:t>
            </a:r>
            <a:r>
              <a:rPr lang="zh-CN" altLang="en-US" sz="2000" dirty="0">
                <a:solidFill>
                  <a:srgbClr val="FF0000"/>
                </a:solidFill>
                <a:sym typeface="+mn-ea"/>
              </a:rPr>
              <a:t>多套相同的单级互连网络</a:t>
            </a:r>
            <a:r>
              <a:rPr lang="zh-CN" altLang="en-US" sz="2000" dirty="0">
                <a:sym typeface="+mn-ea"/>
              </a:rPr>
              <a:t>连接起来，实现任意结点到结点之间的互连</a:t>
            </a:r>
            <a:endParaRPr lang="zh-CN" altLang="en-US" sz="2000" dirty="0"/>
          </a:p>
          <a:p>
            <a:pPr lvl="1" eaLnBrk="1" latinLnBrk="0" hangingPunct="1">
              <a:spcBef>
                <a:spcPts val="1200"/>
              </a:spcBef>
            </a:pPr>
            <a:r>
              <a:rPr lang="zh-CN" altLang="en-US" sz="2000" dirty="0">
                <a:solidFill>
                  <a:srgbClr val="FF3333"/>
                </a:solidFill>
                <a:sym typeface="+mn-ea"/>
              </a:rPr>
              <a:t>全排列互连网络</a:t>
            </a:r>
            <a:r>
              <a:rPr lang="zh-CN" altLang="en-US" sz="2000" dirty="0">
                <a:sym typeface="+mn-ea"/>
              </a:rPr>
              <a:t>：不仅能够实现任意结点到结点之间的互连，而且能够同时实现任意结点到结点之间的互连</a:t>
            </a:r>
            <a:endParaRPr lang="zh-CN" altLang="en-US" sz="2000" dirty="0"/>
          </a:p>
          <a:p>
            <a:pPr lvl="1" eaLnBrk="1" latinLnBrk="0" hangingPunct="1">
              <a:spcBef>
                <a:spcPts val="1200"/>
              </a:spcBef>
            </a:pPr>
            <a:r>
              <a:rPr lang="zh-CN" altLang="en-US" sz="2000" dirty="0">
                <a:solidFill>
                  <a:srgbClr val="FF3333"/>
                </a:solidFill>
                <a:sym typeface="+mn-ea"/>
              </a:rPr>
              <a:t>全交叉开关网络</a:t>
            </a:r>
            <a:r>
              <a:rPr lang="zh-CN" altLang="en-US" sz="2000" dirty="0">
                <a:sym typeface="+mn-ea"/>
              </a:rPr>
              <a:t>：除了能够同时实现任意结点到结点之间的互连之外，还能够实现广播和多播</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7.2.1 静态互连网络</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382395"/>
            <a:ext cx="8396605" cy="4783455"/>
          </a:xfrm>
        </p:spPr>
        <p:txBody>
          <a:bodyPr vert="horz" wrap="square" lIns="91440" tIns="45720" rIns="91440" bIns="45720" anchor="t" anchorCtr="0"/>
          <a:p>
            <a:pPr eaLnBrk="1" latinLnBrk="0" hangingPunct="1">
              <a:spcBef>
                <a:spcPts val="1200"/>
              </a:spcBef>
            </a:pPr>
            <a:r>
              <a:rPr lang="zh-CN" altLang="en-US" sz="2000" dirty="0">
                <a:sym typeface="+mn-ea"/>
              </a:rPr>
              <a:t>静态互连网络：</a:t>
            </a:r>
            <a:endParaRPr lang="zh-CN" altLang="en-US" sz="2000" dirty="0">
              <a:sym typeface="+mn-ea"/>
            </a:endParaRPr>
          </a:p>
          <a:p>
            <a:pPr lvl="1" eaLnBrk="1" latinLnBrk="0" hangingPunct="1">
              <a:spcBef>
                <a:spcPts val="1200"/>
              </a:spcBef>
            </a:pPr>
            <a:r>
              <a:rPr lang="zh-CN" altLang="en-US" sz="2000" dirty="0">
                <a:sym typeface="+mn-ea"/>
              </a:rPr>
              <a:t>在各结点间有</a:t>
            </a:r>
            <a:r>
              <a:rPr lang="zh-CN" altLang="en-US" sz="2000" dirty="0">
                <a:solidFill>
                  <a:srgbClr val="FF0000"/>
                </a:solidFill>
                <a:sym typeface="+mn-ea"/>
              </a:rPr>
              <a:t>专用的连接通路</a:t>
            </a:r>
            <a:r>
              <a:rPr lang="zh-CN" altLang="en-US" sz="2000" dirty="0">
                <a:sym typeface="+mn-ea"/>
              </a:rPr>
              <a:t>，且在</a:t>
            </a:r>
            <a:r>
              <a:rPr lang="zh-CN" altLang="en-US" sz="2000" dirty="0">
                <a:solidFill>
                  <a:srgbClr val="FF0000"/>
                </a:solidFill>
                <a:sym typeface="+mn-ea"/>
              </a:rPr>
              <a:t>运行中不能改变</a:t>
            </a:r>
            <a:r>
              <a:rPr lang="zh-CN" altLang="en-US" sz="2000" dirty="0">
                <a:sym typeface="+mn-ea"/>
              </a:rPr>
              <a:t>的网络</a:t>
            </a:r>
            <a:endParaRPr lang="zh-CN" altLang="en-US" sz="2000" dirty="0"/>
          </a:p>
          <a:p>
            <a:pPr lvl="1" eaLnBrk="1" latinLnBrk="0" hangingPunct="1">
              <a:spcBef>
                <a:spcPts val="1200"/>
              </a:spcBef>
            </a:pPr>
            <a:r>
              <a:rPr lang="zh-CN" altLang="en-US" sz="2000" dirty="0">
                <a:sym typeface="+mn-ea"/>
              </a:rPr>
              <a:t>每</a:t>
            </a:r>
            <a:r>
              <a:rPr lang="zh-CN" altLang="en-US" sz="2000" dirty="0">
                <a:solidFill>
                  <a:srgbClr val="FF0000"/>
                </a:solidFill>
                <a:sym typeface="+mn-ea"/>
              </a:rPr>
              <a:t>一个开关元件固定地与一个结点相连</a:t>
            </a:r>
            <a:r>
              <a:rPr lang="zh-CN" altLang="en-US" sz="2000" dirty="0">
                <a:sym typeface="+mn-ea"/>
              </a:rPr>
              <a:t>，建立该结点与邻近结点之间的连接通路，直接实现两结点间的通信</a:t>
            </a:r>
            <a:endParaRPr lang="zh-CN" altLang="en-US" sz="2000" dirty="0"/>
          </a:p>
          <a:p>
            <a:pPr eaLnBrk="1" latinLnBrk="0" hangingPunct="1">
              <a:spcBef>
                <a:spcPts val="1200"/>
              </a:spcBef>
            </a:pPr>
            <a:endParaRPr lang="zh-CN" altLang="en-US" sz="2000" dirty="0"/>
          </a:p>
          <a:p>
            <a:pPr lvl="1" eaLnBrk="1" latinLnBrk="0" hangingPunct="1">
              <a:spcBef>
                <a:spcPts val="1200"/>
              </a:spcBef>
            </a:pPr>
            <a:r>
              <a:rPr lang="zh-CN" altLang="en-US" sz="2000" dirty="0">
                <a:sym typeface="+mn-ea"/>
              </a:rPr>
              <a:t>一维</a:t>
            </a:r>
            <a:r>
              <a:rPr lang="en-US" altLang="zh-CN" sz="2000" dirty="0">
                <a:sym typeface="+mn-ea"/>
              </a:rPr>
              <a:t>: </a:t>
            </a:r>
            <a:r>
              <a:rPr lang="zh-CN" altLang="en-US" sz="2000" dirty="0">
                <a:sym typeface="+mn-ea"/>
              </a:rPr>
              <a:t>线性阵列结构</a:t>
            </a:r>
            <a:endParaRPr lang="zh-CN" altLang="en-US" sz="2000" dirty="0"/>
          </a:p>
          <a:p>
            <a:pPr lvl="1" eaLnBrk="1" latinLnBrk="0" hangingPunct="1">
              <a:spcBef>
                <a:spcPts val="1200"/>
              </a:spcBef>
            </a:pPr>
            <a:r>
              <a:rPr lang="zh-CN" altLang="en-US" sz="2000" dirty="0">
                <a:sym typeface="+mn-ea"/>
              </a:rPr>
              <a:t>二维</a:t>
            </a:r>
            <a:r>
              <a:rPr lang="en-US" altLang="zh-CN" sz="2000" dirty="0">
                <a:sym typeface="+mn-ea"/>
              </a:rPr>
              <a:t>: </a:t>
            </a:r>
            <a:r>
              <a:rPr lang="zh-CN" altLang="en-US" sz="2000" dirty="0">
                <a:sym typeface="+mn-ea"/>
              </a:rPr>
              <a:t>环形、星形、树形、网格形</a:t>
            </a:r>
            <a:endParaRPr lang="zh-CN" altLang="en-US" sz="2000" dirty="0"/>
          </a:p>
          <a:p>
            <a:pPr lvl="1" eaLnBrk="1" latinLnBrk="0" hangingPunct="1">
              <a:spcBef>
                <a:spcPts val="1200"/>
              </a:spcBef>
            </a:pPr>
            <a:r>
              <a:rPr lang="zh-CN" altLang="en-US" sz="2000" dirty="0">
                <a:sym typeface="+mn-ea"/>
              </a:rPr>
              <a:t>三维</a:t>
            </a:r>
            <a:r>
              <a:rPr lang="en-US" altLang="zh-CN" sz="2000" dirty="0">
                <a:sym typeface="+mn-ea"/>
              </a:rPr>
              <a:t>: </a:t>
            </a:r>
            <a:r>
              <a:rPr lang="zh-CN" altLang="en-US" sz="2000" dirty="0">
                <a:sym typeface="+mn-ea"/>
              </a:rPr>
              <a:t>立方体</a:t>
            </a:r>
            <a:endParaRPr lang="zh-CN" altLang="en-US" sz="2000" dirty="0"/>
          </a:p>
          <a:p>
            <a:pPr lvl="1" eaLnBrk="1" latinLnBrk="0" hangingPunct="1">
              <a:spcBef>
                <a:spcPts val="1200"/>
              </a:spcBef>
            </a:pPr>
            <a:r>
              <a:rPr lang="zh-CN" altLang="en-US" sz="2000" dirty="0">
                <a:sym typeface="+mn-ea"/>
              </a:rPr>
              <a:t>三维以上</a:t>
            </a:r>
            <a:r>
              <a:rPr lang="en-US" altLang="zh-CN" sz="2000" dirty="0">
                <a:sym typeface="+mn-ea"/>
              </a:rPr>
              <a:t>: </a:t>
            </a:r>
            <a:r>
              <a:rPr lang="zh-CN" altLang="en-US" sz="2000" dirty="0">
                <a:sym typeface="+mn-ea"/>
              </a:rPr>
              <a:t>超立方体</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线性阵列</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07135"/>
            <a:ext cx="8396605" cy="2931160"/>
          </a:xfrm>
        </p:spPr>
        <p:txBody>
          <a:bodyPr vert="horz" wrap="square" lIns="91440" tIns="45720" rIns="91440" bIns="45720" anchor="t" anchorCtr="0"/>
          <a:p>
            <a:pPr eaLnBrk="1" hangingPunct="1"/>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个结点用</a:t>
            </a:r>
            <a:r>
              <a:rPr lang="en-US" altLang="zh-CN" sz="2000" dirty="0">
                <a:latin typeface="Times New Roman" panose="02020603050405020304" pitchFamily="18" charset="0"/>
                <a:cs typeface="Times New Roman" panose="02020603050405020304" pitchFamily="18" charset="0"/>
                <a:sym typeface="+mn-ea"/>
              </a:rPr>
              <a:t>N-1</a:t>
            </a:r>
            <a:r>
              <a:rPr lang="zh-CN" altLang="en-US" sz="2000" dirty="0">
                <a:latin typeface="Times New Roman" panose="02020603050405020304" pitchFamily="18" charset="0"/>
                <a:cs typeface="Times New Roman" panose="02020603050405020304" pitchFamily="18" charset="0"/>
                <a:sym typeface="+mn-ea"/>
              </a:rPr>
              <a:t>条链路连成一行</a:t>
            </a:r>
            <a:endParaRPr lang="zh-CN" altLang="en-US"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内部的结点度为</a:t>
            </a: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，端点的结点度为</a:t>
            </a:r>
            <a:r>
              <a:rPr lang="en-US" altLang="zh-CN" sz="2000" dirty="0">
                <a:latin typeface="Times New Roman" panose="02020603050405020304" pitchFamily="18" charset="0"/>
                <a:cs typeface="Times New Roman" panose="02020603050405020304" pitchFamily="18" charset="0"/>
                <a:sym typeface="+mn-ea"/>
              </a:rPr>
              <a:t>1, </a:t>
            </a:r>
            <a:r>
              <a:rPr lang="zh-CN" altLang="en-US" sz="2000" dirty="0">
                <a:latin typeface="Times New Roman" panose="02020603050405020304" pitchFamily="18" charset="0"/>
                <a:cs typeface="Times New Roman" panose="02020603050405020304" pitchFamily="18" charset="0"/>
                <a:sym typeface="+mn-ea"/>
              </a:rPr>
              <a:t>直径为</a:t>
            </a:r>
            <a:r>
              <a:rPr lang="en-US" altLang="zh-CN" sz="2000" dirty="0">
                <a:latin typeface="Times New Roman" panose="02020603050405020304" pitchFamily="18" charset="0"/>
                <a:cs typeface="Times New Roman" panose="02020603050405020304" pitchFamily="18" charset="0"/>
                <a:sym typeface="+mn-ea"/>
              </a:rPr>
              <a:t>N-1</a:t>
            </a:r>
            <a:endParaRPr lang="en-US" altLang="zh-CN"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当</a:t>
            </a: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较大时，直径也比较大</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等分宽度</a:t>
            </a:r>
            <a:r>
              <a:rPr lang="en-US" altLang="zh-CN" sz="2000" dirty="0">
                <a:latin typeface="Times New Roman" panose="02020603050405020304" pitchFamily="18" charset="0"/>
                <a:cs typeface="Times New Roman" panose="02020603050405020304" pitchFamily="18" charset="0"/>
                <a:sym typeface="+mn-ea"/>
              </a:rPr>
              <a:t>b=1</a:t>
            </a:r>
            <a:endParaRPr lang="en-US" altLang="zh-CN"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线性阵列是最简单的拓扑结构</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结构不对称</a:t>
            </a:r>
            <a:endParaRPr lang="zh-CN" altLang="en-US" sz="2000" dirty="0">
              <a:latin typeface="Times New Roman" panose="02020603050405020304" pitchFamily="18" charset="0"/>
              <a:cs typeface="Times New Roman" panose="02020603050405020304" pitchFamily="18" charset="0"/>
            </a:endParaRPr>
          </a:p>
          <a:p>
            <a:pPr lvl="1" eaLnBrk="1" hangingPunct="1"/>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很大时，通信效率很低</a:t>
            </a:r>
            <a:endParaRPr lang="zh-CN" altLang="en-US" sz="2000" dirty="0">
              <a:latin typeface="Times New Roman" panose="02020603050405020304" pitchFamily="18" charset="0"/>
              <a:cs typeface="Times New Roman" panose="02020603050405020304" pitchFamily="18" charset="0"/>
            </a:endParaRPr>
          </a:p>
          <a:p>
            <a:pPr lvl="1" eaLnBrk="1" hangingPunct="1"/>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很小，如</a:t>
            </a:r>
            <a:r>
              <a:rPr lang="en-US" altLang="zh-CN" sz="2000" dirty="0">
                <a:latin typeface="Times New Roman" panose="02020603050405020304" pitchFamily="18" charset="0"/>
                <a:cs typeface="Times New Roman" panose="02020603050405020304" pitchFamily="18" charset="0"/>
                <a:sym typeface="+mn-ea"/>
              </a:rPr>
              <a:t>N=2</a:t>
            </a:r>
            <a:r>
              <a:rPr lang="zh-CN" altLang="en-US" sz="2000" dirty="0">
                <a:latin typeface="Times New Roman" panose="02020603050405020304" pitchFamily="18" charset="0"/>
                <a:cs typeface="Times New Roman" panose="02020603050405020304" pitchFamily="18" charset="0"/>
                <a:sym typeface="+mn-ea"/>
              </a:rPr>
              <a:t>，实现线性阵列是相当经济的</a:t>
            </a:r>
            <a:endParaRPr lang="zh-CN" altLang="en-US"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直径随</a:t>
            </a: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线性增大，当</a:t>
            </a: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比较大时，就不应使用这种网络</a:t>
            </a:r>
            <a:endParaRPr lang="zh-CN" altLang="en-US" sz="2000" dirty="0">
              <a:latin typeface="Times New Roman" panose="02020603050405020304" pitchFamily="18" charset="0"/>
              <a:cs typeface="Times New Roman" panose="02020603050405020304" pitchFamily="18" charset="0"/>
            </a:endParaRPr>
          </a:p>
          <a:p>
            <a:pPr eaLnBrk="1" hangingPunct="1"/>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2" name="文本框 1"/>
          <p:cNvSpPr txBox="1"/>
          <p:nvPr/>
        </p:nvSpPr>
        <p:spPr>
          <a:xfrm>
            <a:off x="539750" y="3980815"/>
            <a:ext cx="4370705" cy="2430145"/>
          </a:xfrm>
          <a:prstGeom prst="rect">
            <a:avLst/>
          </a:prstGeom>
          <a:noFill/>
        </p:spPr>
        <p:txBody>
          <a:bodyPr wrap="square" rtlCol="0" anchor="t">
            <a:spAutoFit/>
          </a:bodyPr>
          <a:p>
            <a:pPr marL="342900" indent="-342900" algn="l" eaLnBrk="1" hangingPunct="1">
              <a:spcBef>
                <a:spcPct val="20000"/>
              </a:spcBef>
              <a:buClr>
                <a:schemeClr val="hlink"/>
              </a:buClr>
              <a:buSzTx/>
              <a:buFont typeface="Wingdings" panose="05000000000000000000" pitchFamily="2" charset="2"/>
              <a:buChar char="v"/>
            </a:pPr>
            <a:r>
              <a:rPr lang="zh-CN" altLang="en-US" sz="2000" b="1" kern="0" dirty="0">
                <a:solidFill>
                  <a:schemeClr val="hlink"/>
                </a:solidFill>
                <a:latin typeface="Times New Roman" panose="02020603050405020304" pitchFamily="18" charset="0"/>
                <a:ea typeface="+mn-ea"/>
                <a:cs typeface="Times New Roman" panose="02020603050405020304" pitchFamily="18" charset="0"/>
                <a:sym typeface="+mn-ea"/>
              </a:rPr>
              <a:t>线性阵列与总线</a:t>
            </a:r>
            <a:endParaRPr lang="zh-CN" altLang="en-US" sz="2000" b="1" kern="0" dirty="0">
              <a:solidFill>
                <a:schemeClr val="hlink"/>
              </a:solidFill>
              <a:latin typeface="Times New Roman" panose="02020603050405020304" pitchFamily="18" charset="0"/>
              <a:ea typeface="+mn-ea"/>
              <a:cs typeface="Times New Roman" panose="02020603050405020304" pitchFamily="18" charset="0"/>
            </a:endParaRPr>
          </a:p>
          <a:p>
            <a:pPr marL="742950" lvl="1" indent="-285750" algn="l" eaLnBrk="1" hangingPunct="1">
              <a:spcBef>
                <a:spcPct val="20000"/>
              </a:spcBef>
              <a:buClr>
                <a:schemeClr val="accent1"/>
              </a:buClr>
              <a:buSzTx/>
              <a:buFont typeface="Wingdings" panose="05000000000000000000" pitchFamily="2" charset="2"/>
              <a:buChar char="§"/>
            </a:pPr>
            <a:r>
              <a:rPr lang="zh-CN" altLang="en-US" sz="2000" kern="0" dirty="0">
                <a:solidFill>
                  <a:schemeClr val="tx1"/>
                </a:solidFill>
                <a:latin typeface="Times New Roman" panose="02020603050405020304" pitchFamily="18" charset="0"/>
                <a:ea typeface="+mn-ea"/>
                <a:cs typeface="Times New Roman" panose="02020603050405020304" pitchFamily="18" charset="0"/>
              </a:rPr>
              <a:t>总线</a:t>
            </a:r>
            <a:r>
              <a:rPr lang="zh-CN" altLang="en-US" sz="2000" kern="0" dirty="0">
                <a:solidFill>
                  <a:schemeClr val="tx1"/>
                </a:solidFill>
                <a:latin typeface="Times New Roman" panose="02020603050405020304" pitchFamily="18" charset="0"/>
                <a:ea typeface="+mn-ea"/>
                <a:cs typeface="Times New Roman" panose="02020603050405020304" pitchFamily="18" charset="0"/>
                <a:sym typeface="+mn-ea"/>
              </a:rPr>
              <a:t>通过切换与其连接的许多结点来实现</a:t>
            </a:r>
            <a:r>
              <a:rPr lang="zh-CN" altLang="en-US" sz="2000" kern="0" dirty="0">
                <a:solidFill>
                  <a:srgbClr val="FF0000"/>
                </a:solidFill>
                <a:latin typeface="Times New Roman" panose="02020603050405020304" pitchFamily="18" charset="0"/>
                <a:ea typeface="+mn-ea"/>
                <a:cs typeface="Times New Roman" panose="02020603050405020304" pitchFamily="18" charset="0"/>
                <a:sym typeface="+mn-ea"/>
              </a:rPr>
              <a:t>时分</a:t>
            </a:r>
            <a:r>
              <a:rPr lang="zh-CN" altLang="en-US" sz="2000" kern="0" dirty="0">
                <a:solidFill>
                  <a:schemeClr val="tx1"/>
                </a:solidFill>
                <a:latin typeface="Times New Roman" panose="02020603050405020304" pitchFamily="18" charset="0"/>
                <a:ea typeface="+mn-ea"/>
                <a:cs typeface="Times New Roman" panose="02020603050405020304" pitchFamily="18" charset="0"/>
                <a:sym typeface="+mn-ea"/>
              </a:rPr>
              <a:t>特性</a:t>
            </a:r>
            <a:endParaRPr lang="zh-CN" altLang="en-US" sz="2000" kern="0" dirty="0">
              <a:solidFill>
                <a:schemeClr val="tx1"/>
              </a:solidFill>
              <a:latin typeface="Times New Roman" panose="02020603050405020304" pitchFamily="18" charset="0"/>
              <a:ea typeface="+mn-ea"/>
              <a:cs typeface="Times New Roman" panose="02020603050405020304" pitchFamily="18" charset="0"/>
            </a:endParaRPr>
          </a:p>
          <a:p>
            <a:pPr marL="742950" lvl="1" indent="-285750" algn="l" eaLnBrk="1" hangingPunct="1">
              <a:spcBef>
                <a:spcPct val="20000"/>
              </a:spcBef>
              <a:buClr>
                <a:schemeClr val="accent1"/>
              </a:buClr>
              <a:buSzTx/>
              <a:buFont typeface="Wingdings" panose="05000000000000000000" pitchFamily="2" charset="2"/>
              <a:buChar char="§"/>
            </a:pPr>
            <a:r>
              <a:rPr lang="zh-CN" altLang="en-US" sz="2000" kern="0" dirty="0">
                <a:solidFill>
                  <a:schemeClr val="tx1"/>
                </a:solidFill>
                <a:latin typeface="Times New Roman" panose="02020603050405020304" pitchFamily="18" charset="0"/>
                <a:ea typeface="+mn-ea"/>
                <a:cs typeface="Times New Roman" panose="02020603050405020304" pitchFamily="18" charset="0"/>
                <a:sym typeface="+mn-ea"/>
              </a:rPr>
              <a:t>线性阵列允许不同的源结点和</a:t>
            </a:r>
            <a:br>
              <a:rPr lang="zh-CN" altLang="en-US" sz="2000" kern="0" dirty="0">
                <a:solidFill>
                  <a:schemeClr val="tx1"/>
                </a:solidFill>
                <a:latin typeface="Times New Roman" panose="02020603050405020304" pitchFamily="18" charset="0"/>
                <a:ea typeface="+mn-ea"/>
                <a:cs typeface="Times New Roman" panose="02020603050405020304" pitchFamily="18" charset="0"/>
                <a:sym typeface="+mn-ea"/>
              </a:rPr>
            </a:br>
            <a:r>
              <a:rPr lang="zh-CN" altLang="en-US" sz="2000" kern="0" dirty="0">
                <a:solidFill>
                  <a:schemeClr val="tx1"/>
                </a:solidFill>
                <a:latin typeface="Times New Roman" panose="02020603050405020304" pitchFamily="18" charset="0"/>
                <a:ea typeface="+mn-ea"/>
                <a:cs typeface="Times New Roman" panose="02020603050405020304" pitchFamily="18" charset="0"/>
                <a:sym typeface="+mn-ea"/>
              </a:rPr>
              <a:t>目的结点对</a:t>
            </a:r>
            <a:r>
              <a:rPr lang="zh-CN" altLang="en-US" sz="2000" kern="0" dirty="0">
                <a:solidFill>
                  <a:srgbClr val="FF0000"/>
                </a:solidFill>
                <a:latin typeface="Times New Roman" panose="02020603050405020304" pitchFamily="18" charset="0"/>
                <a:ea typeface="+mn-ea"/>
                <a:cs typeface="Times New Roman" panose="02020603050405020304" pitchFamily="18" charset="0"/>
                <a:sym typeface="+mn-ea"/>
              </a:rPr>
              <a:t>并行使用系统的不</a:t>
            </a:r>
            <a:br>
              <a:rPr lang="zh-CN" altLang="en-US" sz="2000" kern="0" dirty="0">
                <a:solidFill>
                  <a:srgbClr val="FF0000"/>
                </a:solidFill>
                <a:latin typeface="Times New Roman" panose="02020603050405020304" pitchFamily="18" charset="0"/>
                <a:ea typeface="+mn-ea"/>
                <a:cs typeface="Times New Roman" panose="02020603050405020304" pitchFamily="18" charset="0"/>
                <a:sym typeface="+mn-ea"/>
              </a:rPr>
            </a:br>
            <a:r>
              <a:rPr lang="zh-CN" altLang="en-US" sz="2000" kern="0" dirty="0">
                <a:solidFill>
                  <a:srgbClr val="FF0000"/>
                </a:solidFill>
                <a:latin typeface="Times New Roman" panose="02020603050405020304" pitchFamily="18" charset="0"/>
                <a:ea typeface="+mn-ea"/>
                <a:cs typeface="Times New Roman" panose="02020603050405020304" pitchFamily="18" charset="0"/>
                <a:sym typeface="+mn-ea"/>
              </a:rPr>
              <a:t>同部分</a:t>
            </a:r>
            <a:r>
              <a:rPr lang="zh-CN" altLang="en-US" sz="2000" kern="0" dirty="0">
                <a:solidFill>
                  <a:schemeClr val="tx1"/>
                </a:solidFill>
                <a:latin typeface="Times New Roman" panose="02020603050405020304" pitchFamily="18" charset="0"/>
                <a:ea typeface="+mn-ea"/>
                <a:cs typeface="Times New Roman" panose="02020603050405020304" pitchFamily="18" charset="0"/>
                <a:sym typeface="+mn-ea"/>
              </a:rPr>
              <a:t>(通道)</a:t>
            </a:r>
            <a:endParaRPr lang="zh-CN" altLang="en-US" sz="2000" kern="0" dirty="0">
              <a:solidFill>
                <a:schemeClr val="tx1"/>
              </a:solidFill>
              <a:latin typeface="Times New Roman" panose="02020603050405020304" pitchFamily="18" charset="0"/>
              <a:ea typeface="+mn-ea"/>
              <a:cs typeface="Times New Roman" panose="02020603050405020304" pitchFamily="18" charset="0"/>
            </a:endParaRPr>
          </a:p>
          <a:p>
            <a:pPr marL="342900" indent="-342900" algn="l" eaLnBrk="1" hangingPunct="1">
              <a:spcBef>
                <a:spcPct val="20000"/>
              </a:spcBef>
              <a:buClr>
                <a:schemeClr val="hlink"/>
              </a:buClr>
              <a:buSzTx/>
              <a:buFont typeface="Wingdings" panose="05000000000000000000" pitchFamily="2" charset="2"/>
              <a:buChar char="v"/>
            </a:pPr>
            <a:endParaRPr lang="zh-CN" altLang="en-US" sz="2000" b="1" kern="0" dirty="0">
              <a:solidFill>
                <a:schemeClr val="hlink"/>
              </a:solidFill>
              <a:latin typeface="Times New Roman" panose="02020603050405020304" pitchFamily="18" charset="0"/>
              <a:ea typeface="+mn-ea"/>
              <a:cs typeface="Times New Roman" panose="02020603050405020304" pitchFamily="18" charset="0"/>
              <a:sym typeface="+mn-ea"/>
            </a:endParaRPr>
          </a:p>
        </p:txBody>
      </p:sp>
      <p:pic>
        <p:nvPicPr>
          <p:cNvPr id="3" name="图片 2"/>
          <p:cNvPicPr>
            <a:picLocks noChangeAspect="1"/>
          </p:cNvPicPr>
          <p:nvPr>
            <p:custDataLst>
              <p:tags r:id="rId2"/>
            </p:custDataLst>
          </p:nvPr>
        </p:nvPicPr>
        <p:blipFill>
          <a:blip r:embed="rId3"/>
          <a:stretch>
            <a:fillRect/>
          </a:stretch>
        </p:blipFill>
        <p:spPr>
          <a:xfrm>
            <a:off x="5220335" y="3828415"/>
            <a:ext cx="2990215" cy="253428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2305" cy="634365"/>
          </a:xfrm>
        </p:spPr>
        <p:txBody>
          <a:bodyPr vert="horz" wrap="square" lIns="91440" tIns="45720" rIns="91440" bIns="45720" anchor="t" anchorCtr="0">
            <a:no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环和带弦环、循环移数网络</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310005"/>
            <a:ext cx="8396605" cy="4736465"/>
          </a:xfrm>
        </p:spPr>
        <p:txBody>
          <a:bodyPr vert="horz" wrap="square" lIns="91440" tIns="45720" rIns="91440" bIns="45720" anchor="t" anchorCtr="0"/>
          <a:p>
            <a:pPr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不同的移数函数可构成多种环网</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solidFill>
                  <a:schemeClr val="tx2"/>
                </a:solidFill>
                <a:latin typeface="Times New Roman" panose="02020603050405020304" pitchFamily="18" charset="0"/>
                <a:cs typeface="Times New Roman" panose="02020603050405020304" pitchFamily="18" charset="0"/>
                <a:sym typeface="+mn-ea"/>
              </a:rPr>
              <a:t>单向环网</a:t>
            </a:r>
            <a:endParaRPr lang="zh-CN" altLang="en-US" sz="2000" dirty="0">
              <a:latin typeface="Times New Roman" panose="02020603050405020304" pitchFamily="18" charset="0"/>
              <a:cs typeface="Times New Roman" panose="02020603050405020304" pitchFamily="18" charset="0"/>
            </a:endParaRPr>
          </a:p>
          <a:p>
            <a:pPr lvl="2"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右环网，采用</a:t>
            </a:r>
            <a:r>
              <a:rPr lang="en-US" altLang="zh-CN" sz="2000" dirty="0">
                <a:latin typeface="Times New Roman" panose="02020603050405020304" pitchFamily="18" charset="0"/>
                <a:cs typeface="Times New Roman" panose="02020603050405020304" pitchFamily="18" charset="0"/>
                <a:sym typeface="+mn-ea"/>
              </a:rPr>
              <a:t>PM2</a:t>
            </a:r>
            <a:r>
              <a:rPr lang="en-US" altLang="zh-CN" sz="2000" baseline="-25000" dirty="0">
                <a:latin typeface="Times New Roman" panose="02020603050405020304" pitchFamily="18" charset="0"/>
                <a:cs typeface="Times New Roman" panose="02020603050405020304" pitchFamily="18" charset="0"/>
                <a:sym typeface="+mn-ea"/>
              </a:rPr>
              <a:t>+0</a:t>
            </a:r>
            <a:r>
              <a:rPr lang="zh-CN" altLang="en-US" sz="2000" dirty="0">
                <a:latin typeface="Times New Roman" panose="02020603050405020304" pitchFamily="18" charset="0"/>
                <a:cs typeface="Times New Roman" panose="02020603050405020304" pitchFamily="18" charset="0"/>
                <a:sym typeface="+mn-ea"/>
              </a:rPr>
              <a:t>函数</a:t>
            </a:r>
            <a:endParaRPr lang="zh-CN" altLang="en-US" sz="2000" dirty="0">
              <a:latin typeface="Times New Roman" panose="02020603050405020304" pitchFamily="18" charset="0"/>
              <a:cs typeface="Times New Roman" panose="02020603050405020304" pitchFamily="18" charset="0"/>
            </a:endParaRPr>
          </a:p>
          <a:p>
            <a:pPr lvl="2"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左环网，采用</a:t>
            </a:r>
            <a:r>
              <a:rPr lang="en-US" altLang="zh-CN" sz="2000" dirty="0">
                <a:latin typeface="Times New Roman" panose="02020603050405020304" pitchFamily="18" charset="0"/>
                <a:cs typeface="Times New Roman" panose="02020603050405020304" pitchFamily="18" charset="0"/>
                <a:sym typeface="+mn-ea"/>
              </a:rPr>
              <a:t>PM2</a:t>
            </a:r>
            <a:r>
              <a:rPr lang="en-US" altLang="zh-CN" sz="2000" baseline="-25000" dirty="0">
                <a:latin typeface="Times New Roman" panose="02020603050405020304" pitchFamily="18" charset="0"/>
                <a:cs typeface="Times New Roman" panose="02020603050405020304" pitchFamily="18" charset="0"/>
                <a:sym typeface="+mn-ea"/>
              </a:rPr>
              <a:t>-0</a:t>
            </a:r>
            <a:r>
              <a:rPr lang="zh-CN" altLang="en-US" sz="2000" dirty="0">
                <a:latin typeface="Times New Roman" panose="02020603050405020304" pitchFamily="18" charset="0"/>
                <a:cs typeface="Times New Roman" panose="02020603050405020304" pitchFamily="18" charset="0"/>
                <a:sym typeface="+mn-ea"/>
              </a:rPr>
              <a:t>函数</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solidFill>
                  <a:schemeClr val="tx2"/>
                </a:solidFill>
                <a:latin typeface="Times New Roman" panose="02020603050405020304" pitchFamily="18" charset="0"/>
                <a:cs typeface="Times New Roman" panose="02020603050405020304" pitchFamily="18" charset="0"/>
                <a:sym typeface="+mn-ea"/>
              </a:rPr>
              <a:t>双向环网</a:t>
            </a:r>
            <a:r>
              <a:rPr lang="zh-CN" altLang="en-US" sz="2000" dirty="0">
                <a:latin typeface="Times New Roman" panose="02020603050405020304" pitchFamily="18" charset="0"/>
                <a:cs typeface="Times New Roman" panose="02020603050405020304" pitchFamily="18" charset="0"/>
                <a:sym typeface="+mn-ea"/>
              </a:rPr>
              <a:t>：又称一维邻居网，采用</a:t>
            </a:r>
            <a:r>
              <a:rPr lang="en-US" altLang="zh-CN" sz="2000" dirty="0">
                <a:latin typeface="Times New Roman" panose="02020603050405020304" pitchFamily="18" charset="0"/>
                <a:cs typeface="Times New Roman" panose="02020603050405020304" pitchFamily="18" charset="0"/>
                <a:sym typeface="+mn-ea"/>
              </a:rPr>
              <a:t>{PM2</a:t>
            </a:r>
            <a:r>
              <a:rPr lang="en-US" altLang="zh-CN" sz="2000" baseline="-25000" dirty="0">
                <a:latin typeface="Times New Roman" panose="02020603050405020304" pitchFamily="18" charset="0"/>
                <a:cs typeface="Times New Roman" panose="02020603050405020304" pitchFamily="18" charset="0"/>
                <a:sym typeface="+mn-ea"/>
              </a:rPr>
              <a:t>+0</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PM2</a:t>
            </a:r>
            <a:r>
              <a:rPr lang="en-US" altLang="zh-CN" sz="2000" baseline="-25000" dirty="0">
                <a:latin typeface="Times New Roman" panose="02020603050405020304" pitchFamily="18" charset="0"/>
                <a:cs typeface="Times New Roman" panose="02020603050405020304" pitchFamily="18" charset="0"/>
                <a:sym typeface="+mn-ea"/>
              </a:rPr>
              <a:t>-0</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函数</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solidFill>
                  <a:schemeClr val="tx2"/>
                </a:solidFill>
                <a:latin typeface="Times New Roman" panose="02020603050405020304" pitchFamily="18" charset="0"/>
                <a:cs typeface="Times New Roman" panose="02020603050405020304" pitchFamily="18" charset="0"/>
                <a:sym typeface="+mn-ea"/>
              </a:rPr>
              <a:t>环网是对称的</a:t>
            </a:r>
            <a:r>
              <a:rPr lang="zh-CN" altLang="en-US" sz="2000" dirty="0">
                <a:latin typeface="Times New Roman" panose="02020603050405020304" pitchFamily="18" charset="0"/>
                <a:cs typeface="Times New Roman" panose="02020603050405020304" pitchFamily="18" charset="0"/>
                <a:sym typeface="+mn-ea"/>
              </a:rPr>
              <a:t>，结点度是常数</a:t>
            </a:r>
            <a:r>
              <a:rPr lang="en-US" altLang="zh-CN" sz="2000" dirty="0">
                <a:latin typeface="Times New Roman" panose="02020603050405020304" pitchFamily="18" charset="0"/>
                <a:cs typeface="Times New Roman" panose="02020603050405020304" pitchFamily="18" charset="0"/>
                <a:sym typeface="+mn-ea"/>
              </a:rPr>
              <a:t>2</a:t>
            </a:r>
            <a:endParaRPr lang="en-US" altLang="zh-CN"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双向环网的直径为</a:t>
            </a:r>
            <a:r>
              <a:rPr lang="en-US" altLang="zh-CN" sz="2000" dirty="0">
                <a:latin typeface="Times New Roman" panose="02020603050405020304" pitchFamily="18" charset="0"/>
                <a:cs typeface="Times New Roman" panose="02020603050405020304" pitchFamily="18" charset="0"/>
                <a:sym typeface="+mn-ea"/>
              </a:rPr>
              <a:t>N/2</a:t>
            </a:r>
            <a:r>
              <a:rPr lang="zh-CN" altLang="en-US" sz="2000" dirty="0">
                <a:latin typeface="Times New Roman" panose="02020603050405020304" pitchFamily="18" charset="0"/>
                <a:cs typeface="Times New Roman" panose="02020603050405020304" pitchFamily="18" charset="0"/>
                <a:sym typeface="+mn-ea"/>
              </a:rPr>
              <a:t>，单向环网的直径是</a:t>
            </a:r>
            <a:r>
              <a:rPr lang="en-US" altLang="zh-CN" sz="2000" dirty="0">
                <a:latin typeface="Times New Roman" panose="02020603050405020304" pitchFamily="18" charset="0"/>
                <a:cs typeface="Times New Roman" panose="02020603050405020304" pitchFamily="18" charset="0"/>
                <a:sym typeface="+mn-ea"/>
              </a:rPr>
              <a:t>N</a:t>
            </a:r>
            <a:endParaRPr lang="en-US" altLang="zh-CN"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结点度由</a:t>
            </a: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提高至</a:t>
            </a:r>
            <a:r>
              <a:rPr lang="en-US" altLang="zh-CN" sz="2000" dirty="0">
                <a:latin typeface="Times New Roman" panose="02020603050405020304" pitchFamily="18" charset="0"/>
                <a:cs typeface="Times New Roman" panose="02020603050405020304" pitchFamily="18" charset="0"/>
                <a:sym typeface="+mn-ea"/>
              </a:rPr>
              <a:t>3</a:t>
            </a:r>
            <a:r>
              <a:rPr lang="zh-CN" altLang="en-US" sz="2000" dirty="0">
                <a:latin typeface="Times New Roman" panose="02020603050405020304" pitchFamily="18" charset="0"/>
                <a:cs typeface="Times New Roman" panose="02020603050405020304" pitchFamily="18" charset="0"/>
                <a:sym typeface="+mn-ea"/>
              </a:rPr>
              <a:t>，可得到带</a:t>
            </a:r>
            <a:r>
              <a:rPr lang="zh-CN" altLang="en-US" sz="2000" dirty="0">
                <a:solidFill>
                  <a:schemeClr val="tx2"/>
                </a:solidFill>
                <a:latin typeface="Times New Roman" panose="02020603050405020304" pitchFamily="18" charset="0"/>
                <a:cs typeface="Times New Roman" panose="02020603050405020304" pitchFamily="18" charset="0"/>
                <a:sym typeface="+mn-ea"/>
              </a:rPr>
              <a:t>弦环网</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增加的弦愈多，则结点度愈高，网络直径愈小</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a:p>
            <a:pPr eaLnBrk="1" hangingPunct="1"/>
            <a:r>
              <a:rPr lang="zh-CN" altLang="en-US" sz="2000" dirty="0">
                <a:solidFill>
                  <a:schemeClr val="tx2"/>
                </a:solidFill>
                <a:latin typeface="Times New Roman" panose="02020603050405020304" pitchFamily="18" charset="0"/>
                <a:cs typeface="Times New Roman" panose="02020603050405020304" pitchFamily="18" charset="0"/>
                <a:sym typeface="+mn-ea"/>
              </a:rPr>
              <a:t>循环移数网络也是一种环形网</a:t>
            </a:r>
            <a:r>
              <a:rPr lang="zh-CN" altLang="en-US" sz="2000" dirty="0">
                <a:latin typeface="Times New Roman" panose="02020603050405020304" pitchFamily="18" charset="0"/>
                <a:cs typeface="Times New Roman" panose="02020603050405020304" pitchFamily="18" charset="0"/>
                <a:sym typeface="+mn-ea"/>
              </a:rPr>
              <a:t>，将环上每个结点与其距离为</a:t>
            </a: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的整数幂的结点之间连接构成</a:t>
            </a:r>
            <a:endParaRPr lang="zh-CN" altLang="en-US"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循环移数网</a:t>
            </a:r>
            <a:r>
              <a:rPr lang="en-US" altLang="zh-CN" sz="2000" dirty="0">
                <a:latin typeface="Times New Roman" panose="02020603050405020304" pitchFamily="18" charset="0"/>
                <a:cs typeface="Times New Roman" panose="02020603050405020304" pitchFamily="18" charset="0"/>
                <a:sym typeface="+mn-ea"/>
              </a:rPr>
              <a:t>N=2^n</a:t>
            </a:r>
            <a:r>
              <a:rPr lang="zh-CN" altLang="en-US" sz="2000" dirty="0">
                <a:latin typeface="Times New Roman" panose="02020603050405020304" pitchFamily="18" charset="0"/>
                <a:cs typeface="Times New Roman" panose="02020603050405020304" pitchFamily="18" charset="0"/>
                <a:sym typeface="+mn-ea"/>
              </a:rPr>
              <a:t>的结点度为</a:t>
            </a:r>
            <a:r>
              <a:rPr lang="en-US" altLang="zh-CN" sz="2000" dirty="0">
                <a:latin typeface="Times New Roman" panose="02020603050405020304" pitchFamily="18" charset="0"/>
                <a:cs typeface="Times New Roman" panose="02020603050405020304" pitchFamily="18" charset="0"/>
                <a:sym typeface="+mn-ea"/>
              </a:rPr>
              <a:t>d=2n-1</a:t>
            </a:r>
            <a:r>
              <a:rPr lang="zh-CN" altLang="en-US" sz="2000" dirty="0">
                <a:latin typeface="Times New Roman" panose="02020603050405020304" pitchFamily="18" charset="0"/>
                <a:cs typeface="Times New Roman" panose="02020603050405020304" pitchFamily="18" charset="0"/>
                <a:sym typeface="+mn-ea"/>
              </a:rPr>
              <a:t>，直径为 </a:t>
            </a:r>
            <a:r>
              <a:rPr lang="en-US" altLang="zh-CN" sz="2000" dirty="0">
                <a:latin typeface="Times New Roman" panose="02020603050405020304" pitchFamily="18" charset="0"/>
                <a:cs typeface="Times New Roman" panose="02020603050405020304" pitchFamily="18" charset="0"/>
                <a:sym typeface="+mn-ea"/>
              </a:rPr>
              <a:t>D=</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mn-ea"/>
              </a:rPr>
              <a:t>n/2</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mn-ea"/>
              </a:rPr>
              <a:t>  </a:t>
            </a:r>
            <a:endParaRPr lang="en-US" altLang="zh-CN" sz="2000" dirty="0">
              <a:latin typeface="Times New Roman" panose="02020603050405020304" pitchFamily="18" charset="0"/>
              <a:cs typeface="Times New Roman" panose="02020603050405020304" pitchFamily="18" charset="0"/>
            </a:endParaRPr>
          </a:p>
          <a:p>
            <a:pPr lvl="1" eaLnBrk="1" latinLnBrk="0" hangingPunct="1">
              <a:spcBef>
                <a:spcPts val="600"/>
              </a:spcBef>
            </a:pP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环和带弦环、循环移数网络</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4" name="图片 3"/>
          <p:cNvPicPr>
            <a:picLocks noChangeAspect="1"/>
          </p:cNvPicPr>
          <p:nvPr>
            <p:custDataLst>
              <p:tags r:id="rId1"/>
            </p:custDataLst>
          </p:nvPr>
        </p:nvPicPr>
        <p:blipFill>
          <a:blip r:embed="rId2"/>
          <a:stretch>
            <a:fillRect/>
          </a:stretch>
        </p:blipFill>
        <p:spPr>
          <a:xfrm>
            <a:off x="683260" y="1192530"/>
            <a:ext cx="7446010" cy="546227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树形和星形、胖树形</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395605" y="1196975"/>
            <a:ext cx="8396605" cy="2491740"/>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一棵</a:t>
            </a:r>
            <a:r>
              <a:rPr lang="en-US" altLang="zh-CN" sz="2000" dirty="0">
                <a:latin typeface="Times New Roman" panose="02020603050405020304" pitchFamily="18" charset="0"/>
                <a:cs typeface="Times New Roman" panose="02020603050405020304" pitchFamily="18" charset="0"/>
                <a:sym typeface="+mn-ea"/>
              </a:rPr>
              <a:t>k</a:t>
            </a:r>
            <a:r>
              <a:rPr lang="zh-CN" altLang="en-US" sz="2000" dirty="0">
                <a:latin typeface="Times New Roman" panose="02020603050405020304" pitchFamily="18" charset="0"/>
                <a:cs typeface="Times New Roman" panose="02020603050405020304" pitchFamily="18" charset="0"/>
                <a:sym typeface="+mn-ea"/>
              </a:rPr>
              <a:t>层完全平衡二叉树有</a:t>
            </a:r>
            <a:r>
              <a:rPr lang="en-US" altLang="zh-CN" sz="2000" dirty="0">
                <a:latin typeface="Times New Roman" panose="02020603050405020304" pitchFamily="18" charset="0"/>
                <a:cs typeface="Times New Roman" panose="02020603050405020304" pitchFamily="18" charset="0"/>
                <a:sym typeface="+mn-ea"/>
              </a:rPr>
              <a:t>N=2^k-1</a:t>
            </a:r>
            <a:r>
              <a:rPr lang="zh-CN" altLang="en-US" sz="2000" dirty="0">
                <a:latin typeface="Times New Roman" panose="02020603050405020304" pitchFamily="18" charset="0"/>
                <a:cs typeface="Times New Roman" panose="02020603050405020304" pitchFamily="18" charset="0"/>
                <a:sym typeface="+mn-ea"/>
              </a:rPr>
              <a:t>个结点，结点度</a:t>
            </a:r>
            <a:r>
              <a:rPr lang="en-US" altLang="zh-CN" sz="2000" dirty="0">
                <a:latin typeface="Times New Roman" panose="02020603050405020304" pitchFamily="18" charset="0"/>
                <a:cs typeface="Times New Roman" panose="02020603050405020304" pitchFamily="18" charset="0"/>
                <a:sym typeface="+mn-ea"/>
              </a:rPr>
              <a:t>3</a:t>
            </a:r>
            <a:r>
              <a:rPr lang="zh-CN" altLang="en-US" sz="2000" dirty="0">
                <a:latin typeface="Times New Roman" panose="02020603050405020304" pitchFamily="18" charset="0"/>
                <a:cs typeface="Times New Roman" panose="02020603050405020304" pitchFamily="18" charset="0"/>
                <a:sym typeface="+mn-ea"/>
              </a:rPr>
              <a:t>，直径</a:t>
            </a:r>
            <a:r>
              <a:rPr lang="en-US" altLang="zh-CN" sz="2000" dirty="0">
                <a:latin typeface="Times New Roman" panose="02020603050405020304" pitchFamily="18" charset="0"/>
                <a:cs typeface="Times New Roman" panose="02020603050405020304" pitchFamily="18" charset="0"/>
                <a:sym typeface="+mn-ea"/>
              </a:rPr>
              <a:t>2(k-1)</a:t>
            </a:r>
            <a:endParaRPr lang="en-US" altLang="zh-CN"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结点度为常数，是一种可扩展结构</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星形是一种特殊的</a:t>
            </a: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层树，结点度很高，为</a:t>
            </a:r>
            <a:r>
              <a:rPr lang="en-US" altLang="zh-CN" sz="2000" dirty="0">
                <a:latin typeface="Times New Roman" panose="02020603050405020304" pitchFamily="18" charset="0"/>
                <a:cs typeface="Times New Roman" panose="02020603050405020304" pitchFamily="18" charset="0"/>
                <a:sym typeface="+mn-ea"/>
              </a:rPr>
              <a:t>d=N-1</a:t>
            </a:r>
            <a:r>
              <a:rPr lang="zh-CN" altLang="en-US" sz="2000" dirty="0">
                <a:latin typeface="Times New Roman" panose="02020603050405020304" pitchFamily="18" charset="0"/>
                <a:cs typeface="Times New Roman" panose="02020603050405020304" pitchFamily="18" charset="0"/>
                <a:sym typeface="+mn-ea"/>
              </a:rPr>
              <a:t>，直径</a:t>
            </a:r>
            <a:r>
              <a:rPr lang="en-US" altLang="zh-CN" sz="2000" dirty="0">
                <a:latin typeface="Times New Roman" panose="02020603050405020304" pitchFamily="18" charset="0"/>
                <a:cs typeface="Times New Roman" panose="02020603050405020304" pitchFamily="18" charset="0"/>
                <a:sym typeface="+mn-ea"/>
              </a:rPr>
              <a:t>2</a:t>
            </a:r>
            <a:endParaRPr lang="en-US" altLang="zh-CN"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星形结构用于有集中监督结点的系统</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二叉胖树的结点度从叶子结点往根结点逐渐增加</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胖树缓解了一般二叉树根结点的通信瓶颈</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683260" y="3924300"/>
            <a:ext cx="7937500" cy="224155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网格和环网形</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38885"/>
            <a:ext cx="8396605" cy="4926965"/>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网格网是一种比较流行的网络结构，有各种变体形式</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在</a:t>
            </a:r>
            <a:r>
              <a:rPr lang="en-US" altLang="zh-CN" sz="2000" dirty="0">
                <a:latin typeface="Times New Roman" panose="02020603050405020304" pitchFamily="18" charset="0"/>
                <a:cs typeface="Times New Roman" panose="02020603050405020304" pitchFamily="18" charset="0"/>
                <a:sym typeface="+mn-ea"/>
              </a:rPr>
              <a:t>Illiac IV</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MPP</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DAP</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CM-2</a:t>
            </a:r>
            <a:r>
              <a:rPr lang="zh-CN" altLang="en-US" sz="2000" dirty="0">
                <a:latin typeface="Times New Roman" panose="02020603050405020304" pitchFamily="18" charset="0"/>
                <a:cs typeface="Times New Roman" panose="02020603050405020304" pitchFamily="18" charset="0"/>
                <a:sym typeface="+mn-ea"/>
              </a:rPr>
              <a:t>和</a:t>
            </a:r>
            <a:r>
              <a:rPr lang="en-US" altLang="zh-CN" sz="2000" dirty="0">
                <a:latin typeface="Times New Roman" panose="02020603050405020304" pitchFamily="18" charset="0"/>
                <a:cs typeface="Times New Roman" panose="02020603050405020304" pitchFamily="18" charset="0"/>
                <a:sym typeface="+mn-ea"/>
              </a:rPr>
              <a:t>Intel Paragon</a:t>
            </a:r>
            <a:r>
              <a:rPr lang="zh-CN" altLang="en-US" sz="2000" dirty="0">
                <a:latin typeface="Times New Roman" panose="02020603050405020304" pitchFamily="18" charset="0"/>
                <a:cs typeface="Times New Roman" panose="02020603050405020304" pitchFamily="18" charset="0"/>
                <a:sym typeface="+mn-ea"/>
              </a:rPr>
              <a:t>中得到实现</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一般网格网，</a:t>
            </a:r>
            <a:r>
              <a:rPr lang="en-US" altLang="zh-CN" sz="2000" dirty="0">
                <a:latin typeface="Times New Roman" panose="02020603050405020304" pitchFamily="18" charset="0"/>
                <a:cs typeface="Times New Roman" panose="02020603050405020304" pitchFamily="18" charset="0"/>
                <a:sym typeface="+mn-ea"/>
              </a:rPr>
              <a:t>N=n^k </a:t>
            </a:r>
            <a:r>
              <a:rPr lang="zh-CN" altLang="en-US" sz="2000" dirty="0">
                <a:latin typeface="Times New Roman" panose="02020603050405020304" pitchFamily="18" charset="0"/>
                <a:cs typeface="Times New Roman" panose="02020603050405020304" pitchFamily="18" charset="0"/>
                <a:sym typeface="+mn-ea"/>
              </a:rPr>
              <a:t>结点的</a:t>
            </a:r>
            <a:r>
              <a:rPr lang="en-US" altLang="zh-CN" sz="2000" dirty="0">
                <a:latin typeface="Times New Roman" panose="02020603050405020304" pitchFamily="18" charset="0"/>
                <a:cs typeface="Times New Roman" panose="02020603050405020304" pitchFamily="18" charset="0"/>
                <a:sym typeface="+mn-ea"/>
              </a:rPr>
              <a:t>k</a:t>
            </a:r>
            <a:r>
              <a:rPr lang="zh-CN" altLang="en-US" sz="2000" dirty="0">
                <a:latin typeface="Times New Roman" panose="02020603050405020304" pitchFamily="18" charset="0"/>
                <a:cs typeface="Times New Roman" panose="02020603050405020304" pitchFamily="18" charset="0"/>
                <a:sym typeface="+mn-ea"/>
              </a:rPr>
              <a:t>维网格的结点度为</a:t>
            </a:r>
            <a:r>
              <a:rPr lang="en-US" altLang="zh-CN" sz="2000" dirty="0">
                <a:latin typeface="Times New Roman" panose="02020603050405020304" pitchFamily="18" charset="0"/>
                <a:cs typeface="Times New Roman" panose="02020603050405020304" pitchFamily="18" charset="0"/>
                <a:sym typeface="+mn-ea"/>
              </a:rPr>
              <a:t>2k</a:t>
            </a:r>
            <a:r>
              <a:rPr lang="zh-CN" altLang="en-US" sz="2000" dirty="0">
                <a:latin typeface="Times New Roman" panose="02020603050405020304" pitchFamily="18" charset="0"/>
                <a:cs typeface="Times New Roman" panose="02020603050405020304" pitchFamily="18" charset="0"/>
                <a:sym typeface="+mn-ea"/>
              </a:rPr>
              <a:t>，直径为</a:t>
            </a:r>
            <a:r>
              <a:rPr lang="en-US" altLang="zh-CN" sz="2000" dirty="0">
                <a:latin typeface="Times New Roman" panose="02020603050405020304" pitchFamily="18" charset="0"/>
                <a:cs typeface="Times New Roman" panose="02020603050405020304" pitchFamily="18" charset="0"/>
                <a:sym typeface="+mn-ea"/>
              </a:rPr>
              <a:t>k(n-1)</a:t>
            </a:r>
            <a:endParaRPr lang="en-US" altLang="zh-CN"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环网形网格网沿阵列每行每列都有环形连接</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一个</a:t>
            </a:r>
            <a:r>
              <a:rPr lang="en-US" altLang="zh-CN" sz="2000" dirty="0">
                <a:latin typeface="Times New Roman" panose="02020603050405020304" pitchFamily="18" charset="0"/>
                <a:cs typeface="Times New Roman" panose="02020603050405020304" pitchFamily="18" charset="0"/>
                <a:sym typeface="+mn-ea"/>
              </a:rPr>
              <a:t>n×n</a:t>
            </a:r>
            <a:r>
              <a:rPr lang="zh-CN" altLang="en-US" sz="2000" dirty="0">
                <a:latin typeface="Times New Roman" panose="02020603050405020304" pitchFamily="18" charset="0"/>
                <a:cs typeface="Times New Roman" panose="02020603050405020304" pitchFamily="18" charset="0"/>
                <a:sym typeface="+mn-ea"/>
              </a:rPr>
              <a:t>二</a:t>
            </a:r>
            <a:r>
              <a:rPr lang="zh-CN" altLang="en-US" sz="2000" dirty="0">
                <a:latin typeface="Times New Roman" panose="02020603050405020304" pitchFamily="18" charset="0"/>
                <a:cs typeface="Times New Roman" panose="02020603050405020304" pitchFamily="18" charset="0"/>
                <a:sym typeface="+mn-ea"/>
              </a:rPr>
              <a:t>维环网的结点度为</a:t>
            </a:r>
            <a:r>
              <a:rPr lang="en-US" altLang="zh-CN" sz="2000" dirty="0">
                <a:latin typeface="Times New Roman" panose="02020603050405020304" pitchFamily="18" charset="0"/>
                <a:cs typeface="Times New Roman" panose="02020603050405020304" pitchFamily="18" charset="0"/>
                <a:sym typeface="+mn-ea"/>
              </a:rPr>
              <a:t>4</a:t>
            </a:r>
            <a:r>
              <a:rPr lang="zh-CN" altLang="en-US" sz="2000" dirty="0">
                <a:latin typeface="Times New Roman" panose="02020603050405020304" pitchFamily="18" charset="0"/>
                <a:cs typeface="Times New Roman" panose="02020603050405020304" pitchFamily="18" charset="0"/>
                <a:sym typeface="+mn-ea"/>
              </a:rPr>
              <a:t>，直径为</a:t>
            </a:r>
            <a:r>
              <a:rPr lang="en-US" altLang="zh-CN" sz="2000" dirty="0">
                <a:latin typeface="Times New Roman" panose="02020603050405020304" pitchFamily="18" charset="0"/>
                <a:cs typeface="Times New Roman" panose="02020603050405020304" pitchFamily="18" charset="0"/>
                <a:sym typeface="+mn-ea"/>
              </a:rPr>
              <a:t>2[n/2]</a:t>
            </a:r>
            <a:endParaRPr lang="en-US" altLang="zh-CN"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环网形网格是一种对称的拓扑结构</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附加的回绕连接使直径减至的网格的一半</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一个</a:t>
            </a:r>
            <a:r>
              <a:rPr lang="en-US" altLang="zh-CN" sz="2000" dirty="0">
                <a:latin typeface="Times New Roman" panose="02020603050405020304" pitchFamily="18" charset="0"/>
                <a:cs typeface="Times New Roman" panose="02020603050405020304" pitchFamily="18" charset="0"/>
                <a:sym typeface="+mn-ea"/>
              </a:rPr>
              <a:t>n×n Illiac</a:t>
            </a:r>
            <a:r>
              <a:rPr lang="zh-CN" altLang="en-US" sz="2000" dirty="0">
                <a:latin typeface="Times New Roman" panose="02020603050405020304" pitchFamily="18" charset="0"/>
                <a:cs typeface="Times New Roman" panose="02020603050405020304" pitchFamily="18" charset="0"/>
                <a:sym typeface="+mn-ea"/>
              </a:rPr>
              <a:t>网格直径为</a:t>
            </a:r>
            <a:r>
              <a:rPr lang="en-US" altLang="zh-CN" sz="2000" dirty="0">
                <a:latin typeface="Times New Roman" panose="02020603050405020304" pitchFamily="18" charset="0"/>
                <a:cs typeface="Times New Roman" panose="02020603050405020304" pitchFamily="18" charset="0"/>
                <a:sym typeface="+mn-ea"/>
              </a:rPr>
              <a:t>d=n-1</a:t>
            </a:r>
            <a:r>
              <a:rPr lang="zh-CN" altLang="en-US" sz="2000" dirty="0">
                <a:latin typeface="Times New Roman" panose="02020603050405020304" pitchFamily="18" charset="0"/>
                <a:cs typeface="Times New Roman" panose="02020603050405020304" pitchFamily="18" charset="0"/>
                <a:sym typeface="+mn-ea"/>
              </a:rPr>
              <a:t>，为纯网格直径的一半</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Illiac IV</a:t>
            </a:r>
            <a:r>
              <a:rPr lang="zh-CN" altLang="en-US" sz="2000" dirty="0">
                <a:latin typeface="Times New Roman" panose="02020603050405020304" pitchFamily="18" charset="0"/>
                <a:cs typeface="Times New Roman" panose="02020603050405020304" pitchFamily="18" charset="0"/>
                <a:sym typeface="+mn-ea"/>
              </a:rPr>
              <a:t>的</a:t>
            </a:r>
            <a:r>
              <a:rPr lang="en-US" altLang="zh-CN" sz="2000" dirty="0">
                <a:latin typeface="Times New Roman" panose="02020603050405020304" pitchFamily="18" charset="0"/>
                <a:cs typeface="Times New Roman" panose="02020603050405020304" pitchFamily="18" charset="0"/>
                <a:sym typeface="+mn-ea"/>
              </a:rPr>
              <a:t>8×8 Illiac</a:t>
            </a:r>
            <a:r>
              <a:rPr lang="zh-CN" altLang="en-US" sz="2000" dirty="0">
                <a:latin typeface="Times New Roman" panose="02020603050405020304" pitchFamily="18" charset="0"/>
                <a:cs typeface="Times New Roman" panose="02020603050405020304" pitchFamily="18" charset="0"/>
                <a:sym typeface="+mn-ea"/>
              </a:rPr>
              <a:t>网格，其结点度为</a:t>
            </a:r>
            <a:r>
              <a:rPr lang="en-US" altLang="zh-CN" sz="2000" dirty="0">
                <a:latin typeface="Times New Roman" panose="02020603050405020304" pitchFamily="18" charset="0"/>
                <a:cs typeface="Times New Roman" panose="02020603050405020304" pitchFamily="18" charset="0"/>
                <a:sym typeface="+mn-ea"/>
              </a:rPr>
              <a:t>4</a:t>
            </a:r>
            <a:r>
              <a:rPr lang="zh-CN" altLang="en-US" sz="2000" dirty="0">
                <a:latin typeface="Times New Roman" panose="02020603050405020304" pitchFamily="18" charset="0"/>
                <a:cs typeface="Times New Roman" panose="02020603050405020304" pitchFamily="18" charset="0"/>
                <a:sym typeface="+mn-ea"/>
              </a:rPr>
              <a:t>，直径为</a:t>
            </a:r>
            <a:r>
              <a:rPr lang="en-US" altLang="zh-CN" sz="2000" dirty="0">
                <a:latin typeface="Times New Roman" panose="02020603050405020304" pitchFamily="18" charset="0"/>
                <a:cs typeface="Times New Roman" panose="02020603050405020304" pitchFamily="18" charset="0"/>
                <a:sym typeface="+mn-ea"/>
              </a:rPr>
              <a:t>7</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网格和环网形</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4" name="图片 3"/>
          <p:cNvPicPr>
            <a:picLocks noChangeAspect="1"/>
          </p:cNvPicPr>
          <p:nvPr>
            <p:custDataLst>
              <p:tags r:id="rId1"/>
            </p:custDataLst>
          </p:nvPr>
        </p:nvPicPr>
        <p:blipFill>
          <a:blip r:embed="rId2"/>
          <a:stretch>
            <a:fillRect/>
          </a:stretch>
        </p:blipFill>
        <p:spPr>
          <a:xfrm>
            <a:off x="1619250" y="1340485"/>
            <a:ext cx="5553710" cy="485267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超立方体</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1256665"/>
          </a:xfrm>
        </p:spPr>
        <p:txBody>
          <a:bodyPr vert="horz" wrap="square" lIns="91440" tIns="45720" rIns="91440" bIns="45720" anchor="t" anchorCtr="0"/>
          <a:p>
            <a:pPr marL="0" indent="0" defTabSz="914400" eaLnBrk="1" hangingPunct="1">
              <a:tabLst>
                <a:tab pos="2289175" algn="l"/>
              </a:tabLst>
            </a:pP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元</a:t>
            </a: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维立方体由</a:t>
            </a:r>
            <a:r>
              <a:rPr lang="en-US" altLang="zh-CN" sz="2000" dirty="0">
                <a:latin typeface="Times New Roman" panose="02020603050405020304" pitchFamily="18" charset="0"/>
                <a:cs typeface="Times New Roman" panose="02020603050405020304" pitchFamily="18" charset="0"/>
                <a:sym typeface="+mn-ea"/>
              </a:rPr>
              <a:t>N=2^n</a:t>
            </a:r>
            <a:r>
              <a:rPr lang="zh-CN" altLang="en-US" sz="2000" dirty="0">
                <a:latin typeface="Times New Roman" panose="02020603050405020304" pitchFamily="18" charset="0"/>
                <a:cs typeface="Times New Roman" panose="02020603050405020304" pitchFamily="18" charset="0"/>
                <a:sym typeface="+mn-ea"/>
              </a:rPr>
              <a:t>个结点</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分布在</a:t>
            </a: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维上</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每维有</a:t>
            </a: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个结点</a:t>
            </a:r>
            <a:endParaRPr lang="zh-CN" altLang="en-US" sz="2000" dirty="0">
              <a:latin typeface="Times New Roman" panose="02020603050405020304" pitchFamily="18" charset="0"/>
              <a:cs typeface="Times New Roman" panose="02020603050405020304" pitchFamily="18" charset="0"/>
            </a:endParaRPr>
          </a:p>
          <a:p>
            <a:pPr marL="0" indent="0" defTabSz="914400" eaLnBrk="1" hangingPunct="1">
              <a:tabLst>
                <a:tab pos="2289175" algn="l"/>
              </a:tabLst>
            </a:pPr>
            <a:r>
              <a:rPr lang="zh-CN" altLang="en-US" sz="2000" dirty="0">
                <a:latin typeface="Times New Roman" panose="02020603050405020304" pitchFamily="18" charset="0"/>
                <a:cs typeface="Times New Roman" panose="02020603050405020304" pitchFamily="18" charset="0"/>
                <a:sym typeface="+mn-ea"/>
              </a:rPr>
              <a:t>超立方体网采用交换函数，结点度为</a:t>
            </a: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，直径也为</a:t>
            </a:r>
            <a:r>
              <a:rPr lang="en-US" altLang="zh-CN" sz="2000" dirty="0">
                <a:latin typeface="Times New Roman" panose="02020603050405020304" pitchFamily="18" charset="0"/>
                <a:cs typeface="Times New Roman" panose="02020603050405020304" pitchFamily="18" charset="0"/>
                <a:sym typeface="+mn-ea"/>
              </a:rPr>
              <a:t>n</a:t>
            </a:r>
            <a:endParaRPr lang="en-US" altLang="zh-CN" sz="2000" dirty="0">
              <a:latin typeface="Times New Roman" panose="02020603050405020304" pitchFamily="18" charset="0"/>
              <a:cs typeface="Times New Roman" panose="02020603050405020304" pitchFamily="18" charset="0"/>
            </a:endParaRPr>
          </a:p>
          <a:p>
            <a:pPr marL="0" indent="0" defTabSz="914400" eaLnBrk="1" hangingPunct="1">
              <a:tabLst>
                <a:tab pos="2289175" algn="l"/>
              </a:tabLst>
            </a:pP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元</a:t>
            </a:r>
            <a:r>
              <a:rPr lang="en-US" altLang="zh-CN" sz="2000" dirty="0">
                <a:latin typeface="Times New Roman" panose="02020603050405020304" pitchFamily="18" charset="0"/>
                <a:cs typeface="Times New Roman" panose="02020603050405020304" pitchFamily="18" charset="0"/>
                <a:sym typeface="+mn-ea"/>
              </a:rPr>
              <a:t>4-</a:t>
            </a:r>
            <a:r>
              <a:rPr lang="zh-CN" altLang="en-US" sz="2000" dirty="0">
                <a:latin typeface="Times New Roman" panose="02020603050405020304" pitchFamily="18" charset="0"/>
                <a:cs typeface="Times New Roman" panose="02020603050405020304" pitchFamily="18" charset="0"/>
                <a:sym typeface="+mn-ea"/>
              </a:rPr>
              <a:t>立方体可通过将两个</a:t>
            </a:r>
            <a:r>
              <a:rPr lang="en-US" altLang="zh-CN" sz="2000" dirty="0">
                <a:latin typeface="Times New Roman" panose="02020603050405020304" pitchFamily="18" charset="0"/>
                <a:cs typeface="Times New Roman" panose="02020603050405020304" pitchFamily="18" charset="0"/>
                <a:sym typeface="+mn-ea"/>
              </a:rPr>
              <a:t>3-</a:t>
            </a:r>
            <a:r>
              <a:rPr lang="zh-CN" altLang="en-US" sz="2000" dirty="0">
                <a:latin typeface="Times New Roman" panose="02020603050405020304" pitchFamily="18" charset="0"/>
                <a:cs typeface="Times New Roman" panose="02020603050405020304" pitchFamily="18" charset="0"/>
                <a:sym typeface="+mn-ea"/>
              </a:rPr>
              <a:t>立方体的相应结点互连组成 </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grpSp>
        <p:nvGrpSpPr>
          <p:cNvPr id="55303" name="Group 105"/>
          <p:cNvGrpSpPr/>
          <p:nvPr/>
        </p:nvGrpSpPr>
        <p:grpSpPr>
          <a:xfrm>
            <a:off x="563563" y="2364423"/>
            <a:ext cx="3317875" cy="2528887"/>
            <a:chOff x="117" y="1099"/>
            <a:chExt cx="2090" cy="1593"/>
          </a:xfrm>
        </p:grpSpPr>
        <p:sp>
          <p:nvSpPr>
            <p:cNvPr id="55304" name="Line 82"/>
            <p:cNvSpPr/>
            <p:nvPr>
              <p:custDataLst>
                <p:tags r:id="rId2"/>
              </p:custDataLst>
            </p:nvPr>
          </p:nvSpPr>
          <p:spPr>
            <a:xfrm>
              <a:off x="845" y="1222"/>
              <a:ext cx="0" cy="848"/>
            </a:xfrm>
            <a:prstGeom prst="line">
              <a:avLst/>
            </a:prstGeom>
            <a:ln w="25400" cap="flat" cmpd="sng">
              <a:solidFill>
                <a:schemeClr val="tx2"/>
              </a:solidFill>
              <a:prstDash val="solid"/>
              <a:headEnd type="stealth" w="med" len="med"/>
              <a:tailEnd type="none" w="sm" len="sm"/>
            </a:ln>
          </p:spPr>
        </p:sp>
        <p:sp>
          <p:nvSpPr>
            <p:cNvPr id="55305" name="Line 83"/>
            <p:cNvSpPr/>
            <p:nvPr>
              <p:custDataLst>
                <p:tags r:id="rId3"/>
              </p:custDataLst>
            </p:nvPr>
          </p:nvSpPr>
          <p:spPr>
            <a:xfrm flipH="1">
              <a:off x="844" y="2070"/>
              <a:ext cx="1281" cy="0"/>
            </a:xfrm>
            <a:prstGeom prst="line">
              <a:avLst/>
            </a:prstGeom>
            <a:ln w="25400" cap="flat" cmpd="sng">
              <a:solidFill>
                <a:schemeClr val="tx2"/>
              </a:solidFill>
              <a:prstDash val="solid"/>
              <a:headEnd type="stealth" w="med" len="med"/>
              <a:tailEnd type="none" w="sm" len="sm"/>
            </a:ln>
          </p:spPr>
        </p:sp>
        <p:sp>
          <p:nvSpPr>
            <p:cNvPr id="55306" name="Line 84"/>
            <p:cNvSpPr/>
            <p:nvPr>
              <p:custDataLst>
                <p:tags r:id="rId4"/>
              </p:custDataLst>
            </p:nvPr>
          </p:nvSpPr>
          <p:spPr>
            <a:xfrm flipV="1">
              <a:off x="311" y="2070"/>
              <a:ext cx="534" cy="538"/>
            </a:xfrm>
            <a:prstGeom prst="line">
              <a:avLst/>
            </a:prstGeom>
            <a:ln w="25400" cap="flat" cmpd="sng">
              <a:solidFill>
                <a:schemeClr val="tx2"/>
              </a:solidFill>
              <a:prstDash val="solid"/>
              <a:headEnd type="stealth" w="med" len="med"/>
              <a:tailEnd type="none" w="sm" len="sm"/>
            </a:ln>
          </p:spPr>
        </p:sp>
        <p:sp>
          <p:nvSpPr>
            <p:cNvPr id="55307" name="Line 85"/>
            <p:cNvSpPr/>
            <p:nvPr>
              <p:custDataLst>
                <p:tags r:id="rId5"/>
              </p:custDataLst>
            </p:nvPr>
          </p:nvSpPr>
          <p:spPr>
            <a:xfrm>
              <a:off x="845" y="1452"/>
              <a:ext cx="767" cy="0"/>
            </a:xfrm>
            <a:prstGeom prst="line">
              <a:avLst/>
            </a:prstGeom>
            <a:ln w="25400" cap="flat" cmpd="sng">
              <a:solidFill>
                <a:schemeClr val="tx2"/>
              </a:solidFill>
              <a:prstDash val="solid"/>
              <a:headEnd type="none" w="sm" len="sm"/>
              <a:tailEnd type="none" w="sm" len="sm"/>
            </a:ln>
          </p:spPr>
        </p:sp>
        <p:sp>
          <p:nvSpPr>
            <p:cNvPr id="55308" name="Line 86"/>
            <p:cNvSpPr/>
            <p:nvPr>
              <p:custDataLst>
                <p:tags r:id="rId6"/>
              </p:custDataLst>
            </p:nvPr>
          </p:nvSpPr>
          <p:spPr>
            <a:xfrm>
              <a:off x="516" y="2423"/>
              <a:ext cx="767" cy="0"/>
            </a:xfrm>
            <a:prstGeom prst="line">
              <a:avLst/>
            </a:prstGeom>
            <a:ln w="25400" cap="flat" cmpd="sng">
              <a:solidFill>
                <a:schemeClr val="tx2"/>
              </a:solidFill>
              <a:prstDash val="solid"/>
              <a:headEnd type="none" w="sm" len="sm"/>
              <a:tailEnd type="none" w="sm" len="sm"/>
            </a:ln>
          </p:spPr>
        </p:sp>
        <p:sp>
          <p:nvSpPr>
            <p:cNvPr id="55309" name="Line 87"/>
            <p:cNvSpPr/>
            <p:nvPr>
              <p:custDataLst>
                <p:tags r:id="rId7"/>
              </p:custDataLst>
            </p:nvPr>
          </p:nvSpPr>
          <p:spPr>
            <a:xfrm>
              <a:off x="1612" y="1452"/>
              <a:ext cx="0" cy="618"/>
            </a:xfrm>
            <a:prstGeom prst="line">
              <a:avLst/>
            </a:prstGeom>
            <a:ln w="25400" cap="flat" cmpd="sng">
              <a:solidFill>
                <a:schemeClr val="tx2"/>
              </a:solidFill>
              <a:prstDash val="solid"/>
              <a:headEnd type="none" w="sm" len="sm"/>
              <a:tailEnd type="none" w="sm" len="sm"/>
            </a:ln>
          </p:spPr>
        </p:sp>
        <p:sp>
          <p:nvSpPr>
            <p:cNvPr id="55310" name="Line 88"/>
            <p:cNvSpPr/>
            <p:nvPr>
              <p:custDataLst>
                <p:tags r:id="rId8"/>
              </p:custDataLst>
            </p:nvPr>
          </p:nvSpPr>
          <p:spPr>
            <a:xfrm flipH="1">
              <a:off x="1283" y="2070"/>
              <a:ext cx="329" cy="353"/>
            </a:xfrm>
            <a:prstGeom prst="line">
              <a:avLst/>
            </a:prstGeom>
            <a:ln w="25400" cap="flat" cmpd="sng">
              <a:solidFill>
                <a:schemeClr val="tx2"/>
              </a:solidFill>
              <a:prstDash val="solid"/>
              <a:headEnd type="none" w="sm" len="sm"/>
              <a:tailEnd type="none" w="sm" len="sm"/>
            </a:ln>
          </p:spPr>
        </p:sp>
        <p:sp>
          <p:nvSpPr>
            <p:cNvPr id="55311" name="Line 89"/>
            <p:cNvSpPr/>
            <p:nvPr>
              <p:custDataLst>
                <p:tags r:id="rId9"/>
              </p:custDataLst>
            </p:nvPr>
          </p:nvSpPr>
          <p:spPr>
            <a:xfrm>
              <a:off x="516" y="1806"/>
              <a:ext cx="0" cy="617"/>
            </a:xfrm>
            <a:prstGeom prst="line">
              <a:avLst/>
            </a:prstGeom>
            <a:ln w="25400" cap="flat" cmpd="sng">
              <a:solidFill>
                <a:schemeClr val="tx2"/>
              </a:solidFill>
              <a:prstDash val="solid"/>
              <a:headEnd type="none" w="sm" len="sm"/>
              <a:tailEnd type="none" w="sm" len="sm"/>
            </a:ln>
          </p:spPr>
        </p:sp>
        <p:sp>
          <p:nvSpPr>
            <p:cNvPr id="55312" name="Line 90"/>
            <p:cNvSpPr/>
            <p:nvPr>
              <p:custDataLst>
                <p:tags r:id="rId10"/>
              </p:custDataLst>
            </p:nvPr>
          </p:nvSpPr>
          <p:spPr>
            <a:xfrm flipH="1">
              <a:off x="516" y="1452"/>
              <a:ext cx="329" cy="354"/>
            </a:xfrm>
            <a:prstGeom prst="line">
              <a:avLst/>
            </a:prstGeom>
            <a:ln w="25400" cap="flat" cmpd="sng">
              <a:solidFill>
                <a:schemeClr val="tx2"/>
              </a:solidFill>
              <a:prstDash val="solid"/>
              <a:headEnd type="none" w="sm" len="sm"/>
              <a:tailEnd type="none" w="sm" len="sm"/>
            </a:ln>
          </p:spPr>
        </p:sp>
        <p:sp>
          <p:nvSpPr>
            <p:cNvPr id="55313" name="Line 91"/>
            <p:cNvSpPr/>
            <p:nvPr>
              <p:custDataLst>
                <p:tags r:id="rId11"/>
              </p:custDataLst>
            </p:nvPr>
          </p:nvSpPr>
          <p:spPr>
            <a:xfrm flipH="1">
              <a:off x="1283" y="1452"/>
              <a:ext cx="329" cy="354"/>
            </a:xfrm>
            <a:prstGeom prst="line">
              <a:avLst/>
            </a:prstGeom>
            <a:ln w="25400" cap="flat" cmpd="sng">
              <a:solidFill>
                <a:schemeClr val="tx2"/>
              </a:solidFill>
              <a:prstDash val="solid"/>
              <a:headEnd type="none" w="sm" len="sm"/>
              <a:tailEnd type="none" w="sm" len="sm"/>
            </a:ln>
          </p:spPr>
        </p:sp>
        <p:sp>
          <p:nvSpPr>
            <p:cNvPr id="55314" name="Line 92"/>
            <p:cNvSpPr/>
            <p:nvPr>
              <p:custDataLst>
                <p:tags r:id="rId12"/>
              </p:custDataLst>
            </p:nvPr>
          </p:nvSpPr>
          <p:spPr>
            <a:xfrm>
              <a:off x="1283" y="1806"/>
              <a:ext cx="0" cy="617"/>
            </a:xfrm>
            <a:prstGeom prst="line">
              <a:avLst/>
            </a:prstGeom>
            <a:ln w="25400" cap="flat" cmpd="sng">
              <a:solidFill>
                <a:schemeClr val="tx2"/>
              </a:solidFill>
              <a:prstDash val="solid"/>
              <a:headEnd type="none" w="sm" len="sm"/>
              <a:tailEnd type="none" w="sm" len="sm"/>
            </a:ln>
          </p:spPr>
        </p:sp>
        <p:sp>
          <p:nvSpPr>
            <p:cNvPr id="55315" name="Line 93"/>
            <p:cNvSpPr/>
            <p:nvPr>
              <p:custDataLst>
                <p:tags r:id="rId13"/>
              </p:custDataLst>
            </p:nvPr>
          </p:nvSpPr>
          <p:spPr>
            <a:xfrm>
              <a:off x="516" y="1806"/>
              <a:ext cx="767" cy="0"/>
            </a:xfrm>
            <a:prstGeom prst="line">
              <a:avLst/>
            </a:prstGeom>
            <a:ln w="25400" cap="flat" cmpd="sng">
              <a:solidFill>
                <a:schemeClr val="tx2"/>
              </a:solidFill>
              <a:prstDash val="solid"/>
              <a:headEnd type="none" w="sm" len="sm"/>
              <a:tailEnd type="none" w="sm" len="sm"/>
            </a:ln>
          </p:spPr>
        </p:sp>
        <p:sp>
          <p:nvSpPr>
            <p:cNvPr id="55316" name="Rectangle 94"/>
            <p:cNvSpPr/>
            <p:nvPr>
              <p:custDataLst>
                <p:tags r:id="rId14"/>
              </p:custDataLst>
            </p:nvPr>
          </p:nvSpPr>
          <p:spPr>
            <a:xfrm>
              <a:off x="824" y="1099"/>
              <a:ext cx="272" cy="294"/>
            </a:xfrm>
            <a:prstGeom prst="rect">
              <a:avLst/>
            </a:prstGeom>
            <a:noFill/>
            <a:ln w="9525">
              <a:noFill/>
            </a:ln>
          </p:spPr>
          <p:txBody>
            <a:bodyPr wrap="none" lIns="36513" tIns="0" rIns="36513" bIns="0" anchor="ctr" anchorCtr="0"/>
            <a:p>
              <a:pPr algn="ctr" eaLnBrk="1" hangingPunct="1">
                <a:lnSpc>
                  <a:spcPct val="80000"/>
                </a:lnSpc>
              </a:pPr>
              <a:r>
                <a:rPr lang="en-US" altLang="zh-CN" dirty="0">
                  <a:solidFill>
                    <a:schemeClr val="tx2"/>
                  </a:solidFill>
                  <a:latin typeface="Tahoma" panose="020B0604030504040204" pitchFamily="34" charset="0"/>
                </a:rPr>
                <a:t>Y</a:t>
              </a:r>
              <a:endParaRPr lang="en-US" altLang="zh-CN" dirty="0">
                <a:solidFill>
                  <a:schemeClr val="tx2"/>
                </a:solidFill>
                <a:latin typeface="Tahoma" panose="020B0604030504040204" pitchFamily="34" charset="0"/>
              </a:endParaRPr>
            </a:p>
          </p:txBody>
        </p:sp>
        <p:sp>
          <p:nvSpPr>
            <p:cNvPr id="55317" name="Rectangle 95"/>
            <p:cNvSpPr/>
            <p:nvPr>
              <p:custDataLst>
                <p:tags r:id="rId15"/>
              </p:custDataLst>
            </p:nvPr>
          </p:nvSpPr>
          <p:spPr>
            <a:xfrm>
              <a:off x="1936" y="1800"/>
              <a:ext cx="271" cy="294"/>
            </a:xfrm>
            <a:prstGeom prst="rect">
              <a:avLst/>
            </a:prstGeom>
            <a:noFill/>
            <a:ln w="9525">
              <a:noFill/>
            </a:ln>
          </p:spPr>
          <p:txBody>
            <a:bodyPr wrap="none" lIns="36513" tIns="0" rIns="36513" bIns="0" anchor="ctr" anchorCtr="0"/>
            <a:p>
              <a:pPr algn="ctr" eaLnBrk="1" hangingPunct="1">
                <a:lnSpc>
                  <a:spcPct val="80000"/>
                </a:lnSpc>
              </a:pPr>
              <a:r>
                <a:rPr lang="en-US" altLang="zh-CN" dirty="0">
                  <a:solidFill>
                    <a:schemeClr val="tx2"/>
                  </a:solidFill>
                  <a:latin typeface="Tahoma" panose="020B0604030504040204" pitchFamily="34" charset="0"/>
                </a:rPr>
                <a:t>X</a:t>
              </a:r>
              <a:endParaRPr lang="en-US" altLang="zh-CN" dirty="0">
                <a:solidFill>
                  <a:schemeClr val="tx2"/>
                </a:solidFill>
                <a:latin typeface="Tahoma" panose="020B0604030504040204" pitchFamily="34" charset="0"/>
              </a:endParaRPr>
            </a:p>
          </p:txBody>
        </p:sp>
        <p:sp>
          <p:nvSpPr>
            <p:cNvPr id="55318" name="Rectangle 96"/>
            <p:cNvSpPr/>
            <p:nvPr>
              <p:custDataLst>
                <p:tags r:id="rId16"/>
              </p:custDataLst>
            </p:nvPr>
          </p:nvSpPr>
          <p:spPr>
            <a:xfrm>
              <a:off x="117" y="2360"/>
              <a:ext cx="271" cy="294"/>
            </a:xfrm>
            <a:prstGeom prst="rect">
              <a:avLst/>
            </a:prstGeom>
            <a:noFill/>
            <a:ln w="9525">
              <a:noFill/>
            </a:ln>
          </p:spPr>
          <p:txBody>
            <a:bodyPr wrap="none" lIns="36513" tIns="0" rIns="36513" bIns="0" anchor="ctr" anchorCtr="0"/>
            <a:p>
              <a:pPr algn="ctr" eaLnBrk="1" hangingPunct="1">
                <a:lnSpc>
                  <a:spcPct val="80000"/>
                </a:lnSpc>
              </a:pPr>
              <a:r>
                <a:rPr lang="en-US" altLang="zh-CN" dirty="0">
                  <a:solidFill>
                    <a:schemeClr val="tx2"/>
                  </a:solidFill>
                  <a:latin typeface="Tahoma" panose="020B0604030504040204" pitchFamily="34" charset="0"/>
                </a:rPr>
                <a:t>Z</a:t>
              </a:r>
              <a:endParaRPr lang="en-US" altLang="zh-CN" dirty="0">
                <a:solidFill>
                  <a:schemeClr val="tx2"/>
                </a:solidFill>
                <a:latin typeface="Tahoma" panose="020B0604030504040204" pitchFamily="34" charset="0"/>
              </a:endParaRPr>
            </a:p>
          </p:txBody>
        </p:sp>
        <p:sp>
          <p:nvSpPr>
            <p:cNvPr id="55319" name="Rectangle 97"/>
            <p:cNvSpPr/>
            <p:nvPr>
              <p:custDataLst>
                <p:tags r:id="rId17"/>
              </p:custDataLst>
            </p:nvPr>
          </p:nvSpPr>
          <p:spPr>
            <a:xfrm>
              <a:off x="1622" y="1285"/>
              <a:ext cx="361" cy="294"/>
            </a:xfrm>
            <a:prstGeom prst="rect">
              <a:avLst/>
            </a:prstGeom>
            <a:noFill/>
            <a:ln w="9525">
              <a:noFill/>
            </a:ln>
          </p:spPr>
          <p:txBody>
            <a:bodyPr wrap="none" lIns="36513" tIns="0" rIns="36513" bIns="0" anchor="ctr" anchorCtr="0"/>
            <a:p>
              <a:pPr algn="ctr" eaLnBrk="1" hangingPunct="1">
                <a:lnSpc>
                  <a:spcPct val="80000"/>
                </a:lnSpc>
              </a:pPr>
              <a:r>
                <a:rPr lang="en-US" altLang="zh-CN" dirty="0">
                  <a:solidFill>
                    <a:schemeClr val="tx2"/>
                  </a:solidFill>
                  <a:latin typeface="Tahoma" panose="020B0604030504040204" pitchFamily="34" charset="0"/>
                </a:rPr>
                <a:t>011</a:t>
              </a:r>
              <a:endParaRPr lang="en-US" altLang="zh-CN" dirty="0">
                <a:solidFill>
                  <a:schemeClr val="tx2"/>
                </a:solidFill>
                <a:latin typeface="Tahoma" panose="020B0604030504040204" pitchFamily="34" charset="0"/>
              </a:endParaRPr>
            </a:p>
          </p:txBody>
        </p:sp>
        <p:sp>
          <p:nvSpPr>
            <p:cNvPr id="55320" name="Rectangle 98"/>
            <p:cNvSpPr/>
            <p:nvPr>
              <p:custDataLst>
                <p:tags r:id="rId18"/>
              </p:custDataLst>
            </p:nvPr>
          </p:nvSpPr>
          <p:spPr>
            <a:xfrm>
              <a:off x="799" y="2039"/>
              <a:ext cx="362" cy="294"/>
            </a:xfrm>
            <a:prstGeom prst="rect">
              <a:avLst/>
            </a:prstGeom>
            <a:noFill/>
            <a:ln w="9525">
              <a:noFill/>
            </a:ln>
          </p:spPr>
          <p:txBody>
            <a:bodyPr wrap="none" lIns="36513" tIns="0" rIns="36513" bIns="0" anchor="ctr" anchorCtr="0"/>
            <a:p>
              <a:pPr algn="ctr" eaLnBrk="1" hangingPunct="1">
                <a:lnSpc>
                  <a:spcPct val="80000"/>
                </a:lnSpc>
              </a:pPr>
              <a:r>
                <a:rPr lang="en-US" altLang="zh-CN" dirty="0">
                  <a:solidFill>
                    <a:schemeClr val="tx2"/>
                  </a:solidFill>
                  <a:latin typeface="Tahoma" panose="020B0604030504040204" pitchFamily="34" charset="0"/>
                </a:rPr>
                <a:t>000</a:t>
              </a:r>
              <a:endParaRPr lang="en-US" altLang="zh-CN" dirty="0">
                <a:solidFill>
                  <a:schemeClr val="tx2"/>
                </a:solidFill>
                <a:latin typeface="Tahoma" panose="020B0604030504040204" pitchFamily="34" charset="0"/>
              </a:endParaRPr>
            </a:p>
          </p:txBody>
        </p:sp>
        <p:sp>
          <p:nvSpPr>
            <p:cNvPr id="55321" name="Rectangle 99"/>
            <p:cNvSpPr/>
            <p:nvPr>
              <p:custDataLst>
                <p:tags r:id="rId19"/>
              </p:custDataLst>
            </p:nvPr>
          </p:nvSpPr>
          <p:spPr>
            <a:xfrm>
              <a:off x="452" y="1264"/>
              <a:ext cx="362" cy="294"/>
            </a:xfrm>
            <a:prstGeom prst="rect">
              <a:avLst/>
            </a:prstGeom>
            <a:noFill/>
            <a:ln w="9525">
              <a:noFill/>
            </a:ln>
          </p:spPr>
          <p:txBody>
            <a:bodyPr wrap="none" lIns="36513" tIns="0" rIns="36513" bIns="0" anchor="ctr" anchorCtr="0"/>
            <a:p>
              <a:pPr algn="ctr" eaLnBrk="1" hangingPunct="1">
                <a:lnSpc>
                  <a:spcPct val="80000"/>
                </a:lnSpc>
              </a:pPr>
              <a:r>
                <a:rPr lang="en-US" altLang="zh-CN" dirty="0">
                  <a:solidFill>
                    <a:schemeClr val="tx2"/>
                  </a:solidFill>
                  <a:latin typeface="Tahoma" panose="020B0604030504040204" pitchFamily="34" charset="0"/>
                </a:rPr>
                <a:t>010</a:t>
              </a:r>
              <a:endParaRPr lang="en-US" altLang="zh-CN" dirty="0">
                <a:solidFill>
                  <a:schemeClr val="tx2"/>
                </a:solidFill>
                <a:latin typeface="Tahoma" panose="020B0604030504040204" pitchFamily="34" charset="0"/>
              </a:endParaRPr>
            </a:p>
          </p:txBody>
        </p:sp>
        <p:sp>
          <p:nvSpPr>
            <p:cNvPr id="55322" name="Rectangle 100"/>
            <p:cNvSpPr/>
            <p:nvPr>
              <p:custDataLst>
                <p:tags r:id="rId20"/>
              </p:custDataLst>
            </p:nvPr>
          </p:nvSpPr>
          <p:spPr>
            <a:xfrm>
              <a:off x="171" y="1600"/>
              <a:ext cx="362" cy="294"/>
            </a:xfrm>
            <a:prstGeom prst="rect">
              <a:avLst/>
            </a:prstGeom>
            <a:noFill/>
            <a:ln w="9525">
              <a:noFill/>
            </a:ln>
          </p:spPr>
          <p:txBody>
            <a:bodyPr wrap="none" lIns="36513" tIns="0" rIns="36513" bIns="0" anchor="ctr" anchorCtr="0"/>
            <a:p>
              <a:pPr algn="ctr" eaLnBrk="1" hangingPunct="1">
                <a:lnSpc>
                  <a:spcPct val="80000"/>
                </a:lnSpc>
              </a:pPr>
              <a:r>
                <a:rPr lang="en-US" altLang="zh-CN" dirty="0">
                  <a:solidFill>
                    <a:schemeClr val="tx2"/>
                  </a:solidFill>
                  <a:latin typeface="Tahoma" panose="020B0604030504040204" pitchFamily="34" charset="0"/>
                </a:rPr>
                <a:t>110</a:t>
              </a:r>
              <a:endParaRPr lang="en-US" altLang="zh-CN" dirty="0">
                <a:solidFill>
                  <a:schemeClr val="tx2"/>
                </a:solidFill>
                <a:latin typeface="Tahoma" panose="020B0604030504040204" pitchFamily="34" charset="0"/>
              </a:endParaRPr>
            </a:p>
          </p:txBody>
        </p:sp>
        <p:sp>
          <p:nvSpPr>
            <p:cNvPr id="55323" name="Rectangle 101"/>
            <p:cNvSpPr/>
            <p:nvPr>
              <p:custDataLst>
                <p:tags r:id="rId21"/>
              </p:custDataLst>
            </p:nvPr>
          </p:nvSpPr>
          <p:spPr>
            <a:xfrm>
              <a:off x="950" y="1558"/>
              <a:ext cx="362" cy="294"/>
            </a:xfrm>
            <a:prstGeom prst="rect">
              <a:avLst/>
            </a:prstGeom>
            <a:noFill/>
            <a:ln w="9525">
              <a:noFill/>
            </a:ln>
          </p:spPr>
          <p:txBody>
            <a:bodyPr wrap="none" lIns="36513" tIns="0" rIns="36513" bIns="0" anchor="ctr" anchorCtr="0"/>
            <a:p>
              <a:pPr algn="ctr" eaLnBrk="1" hangingPunct="1">
                <a:lnSpc>
                  <a:spcPct val="80000"/>
                </a:lnSpc>
              </a:pPr>
              <a:r>
                <a:rPr lang="en-US" altLang="zh-CN" dirty="0">
                  <a:solidFill>
                    <a:schemeClr val="tx2"/>
                  </a:solidFill>
                  <a:latin typeface="Tahoma" panose="020B0604030504040204" pitchFamily="34" charset="0"/>
                </a:rPr>
                <a:t>111</a:t>
              </a:r>
              <a:endParaRPr lang="en-US" altLang="zh-CN" dirty="0">
                <a:solidFill>
                  <a:schemeClr val="tx2"/>
                </a:solidFill>
                <a:latin typeface="Tahoma" panose="020B0604030504040204" pitchFamily="34" charset="0"/>
              </a:endParaRPr>
            </a:p>
          </p:txBody>
        </p:sp>
        <p:sp>
          <p:nvSpPr>
            <p:cNvPr id="55324" name="Rectangle 102"/>
            <p:cNvSpPr/>
            <p:nvPr>
              <p:custDataLst>
                <p:tags r:id="rId22"/>
              </p:custDataLst>
            </p:nvPr>
          </p:nvSpPr>
          <p:spPr>
            <a:xfrm>
              <a:off x="1266" y="2356"/>
              <a:ext cx="362" cy="294"/>
            </a:xfrm>
            <a:prstGeom prst="rect">
              <a:avLst/>
            </a:prstGeom>
            <a:noFill/>
            <a:ln w="9525">
              <a:noFill/>
            </a:ln>
          </p:spPr>
          <p:txBody>
            <a:bodyPr wrap="none" lIns="36513" tIns="0" rIns="36513" bIns="0" anchor="ctr" anchorCtr="0"/>
            <a:p>
              <a:pPr algn="ctr" eaLnBrk="1" hangingPunct="1">
                <a:lnSpc>
                  <a:spcPct val="80000"/>
                </a:lnSpc>
              </a:pPr>
              <a:r>
                <a:rPr lang="en-US" altLang="zh-CN" dirty="0">
                  <a:solidFill>
                    <a:schemeClr val="tx2"/>
                  </a:solidFill>
                  <a:latin typeface="Tahoma" panose="020B0604030504040204" pitchFamily="34" charset="0"/>
                </a:rPr>
                <a:t>101</a:t>
              </a:r>
              <a:endParaRPr lang="en-US" altLang="zh-CN" dirty="0">
                <a:solidFill>
                  <a:schemeClr val="tx2"/>
                </a:solidFill>
                <a:latin typeface="Tahoma" panose="020B0604030504040204" pitchFamily="34" charset="0"/>
              </a:endParaRPr>
            </a:p>
          </p:txBody>
        </p:sp>
        <p:sp>
          <p:nvSpPr>
            <p:cNvPr id="55325" name="Rectangle 103"/>
            <p:cNvSpPr/>
            <p:nvPr>
              <p:custDataLst>
                <p:tags r:id="rId23"/>
              </p:custDataLst>
            </p:nvPr>
          </p:nvSpPr>
          <p:spPr>
            <a:xfrm>
              <a:off x="452" y="2398"/>
              <a:ext cx="362" cy="294"/>
            </a:xfrm>
            <a:prstGeom prst="rect">
              <a:avLst/>
            </a:prstGeom>
            <a:noFill/>
            <a:ln w="9525">
              <a:noFill/>
            </a:ln>
          </p:spPr>
          <p:txBody>
            <a:bodyPr wrap="none" lIns="36513" tIns="0" rIns="36513" bIns="0" anchor="ctr" anchorCtr="0"/>
            <a:p>
              <a:pPr algn="ctr" eaLnBrk="1" hangingPunct="1">
                <a:lnSpc>
                  <a:spcPct val="80000"/>
                </a:lnSpc>
              </a:pPr>
              <a:r>
                <a:rPr lang="en-US" altLang="zh-CN" dirty="0">
                  <a:solidFill>
                    <a:schemeClr val="tx2"/>
                  </a:solidFill>
                  <a:latin typeface="Tahoma" panose="020B0604030504040204" pitchFamily="34" charset="0"/>
                </a:rPr>
                <a:t>100</a:t>
              </a:r>
              <a:endParaRPr lang="en-US" altLang="zh-CN" dirty="0">
                <a:solidFill>
                  <a:schemeClr val="tx2"/>
                </a:solidFill>
                <a:latin typeface="Tahoma" panose="020B0604030504040204" pitchFamily="34" charset="0"/>
              </a:endParaRPr>
            </a:p>
          </p:txBody>
        </p:sp>
        <p:sp>
          <p:nvSpPr>
            <p:cNvPr id="55326" name="Text Box 104"/>
            <p:cNvSpPr txBox="1"/>
            <p:nvPr>
              <p:custDataLst>
                <p:tags r:id="rId24"/>
              </p:custDataLst>
            </p:nvPr>
          </p:nvSpPr>
          <p:spPr>
            <a:xfrm>
              <a:off x="1549" y="2039"/>
              <a:ext cx="459" cy="288"/>
            </a:xfrm>
            <a:prstGeom prst="rect">
              <a:avLst/>
            </a:prstGeom>
            <a:noFill/>
            <a:ln w="25400">
              <a:noFill/>
            </a:ln>
          </p:spPr>
          <p:txBody>
            <a:bodyPr>
              <a:spAutoFit/>
            </a:bodyPr>
            <a:p>
              <a:pPr eaLnBrk="1" hangingPunct="1">
                <a:spcBef>
                  <a:spcPct val="50000"/>
                </a:spcBef>
              </a:pPr>
              <a:r>
                <a:rPr lang="en-US" altLang="zh-CN" dirty="0">
                  <a:latin typeface="Tahoma" panose="020B0604030504040204" pitchFamily="34" charset="0"/>
                </a:rPr>
                <a:t>001</a:t>
              </a:r>
              <a:endParaRPr lang="en-US" altLang="zh-CN" dirty="0">
                <a:latin typeface="Tahoma" panose="020B0604030504040204" pitchFamily="34" charset="0"/>
              </a:endParaRPr>
            </a:p>
          </p:txBody>
        </p:sp>
      </p:grpSp>
      <p:pic>
        <p:nvPicPr>
          <p:cNvPr id="55301" name="Picture 31"/>
          <p:cNvPicPr>
            <a:picLocks noChangeAspect="1"/>
          </p:cNvPicPr>
          <p:nvPr>
            <p:custDataLst>
              <p:tags r:id="rId25"/>
            </p:custDataLst>
          </p:nvPr>
        </p:nvPicPr>
        <p:blipFill>
          <a:blip r:embed="rId26"/>
          <a:srcRect l="21732" t="24330" r="9068" b="12856"/>
          <a:stretch>
            <a:fillRect/>
          </a:stretch>
        </p:blipFill>
        <p:spPr>
          <a:xfrm>
            <a:off x="4649470" y="2578735"/>
            <a:ext cx="3844925" cy="3405505"/>
          </a:xfrm>
          <a:prstGeom prst="rect">
            <a:avLst/>
          </a:prstGeom>
          <a:noFill/>
          <a:ln w="25400">
            <a:noFill/>
          </a:ln>
        </p:spPr>
      </p:pic>
      <p:pic>
        <p:nvPicPr>
          <p:cNvPr id="55302" name="Picture 55"/>
          <p:cNvPicPr>
            <a:picLocks noChangeAspect="1"/>
          </p:cNvPicPr>
          <p:nvPr>
            <p:custDataLst>
              <p:tags r:id="rId27"/>
            </p:custDataLst>
          </p:nvPr>
        </p:nvPicPr>
        <p:blipFill>
          <a:blip r:embed="rId28"/>
          <a:srcRect l="14420" t="14081" r="10457" b="3639"/>
          <a:stretch>
            <a:fillRect/>
          </a:stretch>
        </p:blipFill>
        <p:spPr>
          <a:xfrm>
            <a:off x="3275965" y="4466273"/>
            <a:ext cx="1958975" cy="1828800"/>
          </a:xfrm>
          <a:prstGeom prst="rect">
            <a:avLst/>
          </a:prstGeom>
          <a:noFill/>
          <a:ln w="25400">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静态互连网络</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特征</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6" name="图片 5"/>
          <p:cNvPicPr>
            <a:picLocks noChangeAspect="1"/>
          </p:cNvPicPr>
          <p:nvPr>
            <p:custDataLst>
              <p:tags r:id="rId1"/>
            </p:custDataLst>
          </p:nvPr>
        </p:nvPicPr>
        <p:blipFill>
          <a:blip r:embed="rId2"/>
          <a:stretch>
            <a:fillRect/>
          </a:stretch>
        </p:blipFill>
        <p:spPr>
          <a:xfrm>
            <a:off x="755650" y="1124585"/>
            <a:ext cx="7550150" cy="5334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7.2.2 </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循环互连网络</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395605" y="1264285"/>
            <a:ext cx="8559800" cy="4901565"/>
          </a:xfrm>
        </p:spPr>
        <p:txBody>
          <a:bodyPr vert="horz" wrap="square" lIns="91440" tIns="45720" rIns="91440" bIns="45720" anchor="t" anchorCtr="0"/>
          <a:p>
            <a:pPr eaLnBrk="1" latinLnBrk="0" hangingPunct="1">
              <a:spcBef>
                <a:spcPts val="600"/>
              </a:spcBef>
            </a:pPr>
            <a:r>
              <a:rPr lang="zh-CN" altLang="en-US" sz="2400" dirty="0">
                <a:sym typeface="+mn-ea"/>
              </a:rPr>
              <a:t>许多静态互连网不能实现任意两点之间的互连。</a:t>
            </a:r>
            <a:endParaRPr lang="zh-CN" altLang="en-US" sz="2400" dirty="0">
              <a:sym typeface="+mn-ea"/>
            </a:endParaRPr>
          </a:p>
          <a:p>
            <a:pPr lvl="1" eaLnBrk="1" latinLnBrk="0" hangingPunct="1">
              <a:spcBef>
                <a:spcPts val="1200"/>
              </a:spcBef>
            </a:pPr>
            <a:r>
              <a:rPr lang="zh-CN" altLang="en-US" sz="2000" dirty="0">
                <a:sym typeface="+mn-ea"/>
              </a:rPr>
              <a:t>循环互连网。多次重复使用同一单级互连网络，牺牲时间换取设备。</a:t>
            </a:r>
            <a:endParaRPr lang="zh-CN" altLang="en-US" sz="2000" dirty="0">
              <a:sym typeface="+mn-ea"/>
            </a:endParaRPr>
          </a:p>
          <a:p>
            <a:pPr lvl="1" eaLnBrk="1" latinLnBrk="0" hangingPunct="1">
              <a:spcBef>
                <a:spcPts val="1200"/>
              </a:spcBef>
            </a:pPr>
            <a:r>
              <a:rPr lang="zh-CN" altLang="en-US" sz="2000" dirty="0">
                <a:sym typeface="+mn-ea"/>
              </a:rPr>
              <a:t>多级互连网络。将多套相同单级互连网络连接起来，以设备换取时间。</a:t>
            </a:r>
            <a:endParaRPr lang="zh-CN" altLang="en-US" sz="2000" dirty="0">
              <a:sym typeface="+mn-ea"/>
            </a:endParaRPr>
          </a:p>
          <a:p>
            <a:pPr lvl="1" eaLnBrk="1" latinLnBrk="0" hangingPunct="1">
              <a:spcBef>
                <a:spcPts val="1200"/>
              </a:spcBef>
            </a:pPr>
            <a:endParaRPr lang="zh-CN" altLang="en-US" sz="2000" dirty="0">
              <a:sym typeface="+mn-ea"/>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RN 为网络连接寄存器： 发送消息，接收消息，转发消息。</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例如：对于一个 3 维立方体网，如果要从 PE0 发送消息到 PE3：</a:t>
            </a:r>
            <a:endParaRPr lang="zh-CN" altLang="en-US" sz="2000" dirty="0">
              <a:latin typeface="Times New Roman" panose="02020603050405020304" pitchFamily="18" charset="0"/>
              <a:cs typeface="Times New Roman" panose="02020603050405020304" pitchFamily="18" charset="0"/>
              <a:sym typeface="+mn-ea"/>
            </a:endParaRPr>
          </a:p>
          <a:p>
            <a:pPr lvl="2" eaLnBrk="1" latinLnBrk="0" hangingPunct="1">
              <a:spcBef>
                <a:spcPts val="1200"/>
              </a:spcBef>
            </a:pPr>
            <a:r>
              <a:rPr lang="zh-CN" altLang="en-US" sz="171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时钟周期 1：PE0RN0 </a:t>
            </a:r>
            <a:endParaRPr lang="zh-CN" altLang="en-US" sz="2000" dirty="0">
              <a:latin typeface="Times New Roman" panose="02020603050405020304" pitchFamily="18" charset="0"/>
              <a:cs typeface="Times New Roman" panose="02020603050405020304" pitchFamily="18" charset="0"/>
              <a:sym typeface="+mn-ea"/>
            </a:endParaRPr>
          </a:p>
          <a:p>
            <a:pPr lvl="2"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 时钟周期 2：RN0RN1 </a:t>
            </a:r>
            <a:endParaRPr lang="zh-CN" altLang="en-US" sz="2000" dirty="0">
              <a:latin typeface="Times New Roman" panose="02020603050405020304" pitchFamily="18" charset="0"/>
              <a:cs typeface="Times New Roman" panose="02020603050405020304" pitchFamily="18" charset="0"/>
              <a:sym typeface="+mn-ea"/>
            </a:endParaRPr>
          </a:p>
          <a:p>
            <a:pPr lvl="2"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 时钟周期 3：RN1RN3 </a:t>
            </a:r>
            <a:endParaRPr lang="zh-CN" altLang="en-US" sz="2000" dirty="0">
              <a:latin typeface="Times New Roman" panose="02020603050405020304" pitchFamily="18" charset="0"/>
              <a:cs typeface="Times New Roman" panose="02020603050405020304" pitchFamily="18" charset="0"/>
              <a:sym typeface="+mn-ea"/>
            </a:endParaRPr>
          </a:p>
          <a:p>
            <a:pPr lvl="2"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 时钟周期 4：RN3PE3</a:t>
            </a:r>
            <a:endParaRPr lang="zh-CN" altLang="en-US" sz="2000" dirty="0">
              <a:latin typeface="Times New Roman" panose="02020603050405020304" pitchFamily="18" charset="0"/>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4932045" y="4051300"/>
            <a:ext cx="3530600" cy="211455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7.2.</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多级互连网络</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395605" y="1264285"/>
            <a:ext cx="8559800" cy="4901565"/>
          </a:xfrm>
        </p:spPr>
        <p:txBody>
          <a:bodyPr vert="horz" wrap="square" lIns="91440" tIns="45720" rIns="91440" bIns="45720" anchor="t" anchorCtr="0"/>
          <a:p>
            <a:pPr eaLnBrk="1" latinLnBrk="0" hangingPunct="1">
              <a:spcBef>
                <a:spcPts val="1200"/>
              </a:spcBef>
            </a:pPr>
            <a:r>
              <a:rPr lang="zh-CN" altLang="en-US" sz="2400" dirty="0">
                <a:sym typeface="+mn-ea"/>
              </a:rPr>
              <a:t>能够实现</a:t>
            </a:r>
            <a:r>
              <a:rPr lang="zh-CN" altLang="en-US" sz="2400" dirty="0">
                <a:solidFill>
                  <a:srgbClr val="FF0000"/>
                </a:solidFill>
                <a:sym typeface="+mn-ea"/>
              </a:rPr>
              <a:t>结点到结点之间的任意互连</a:t>
            </a:r>
            <a:r>
              <a:rPr lang="zh-CN" altLang="en-US" sz="2400" dirty="0">
                <a:sym typeface="+mn-ea"/>
              </a:rPr>
              <a:t>是互连网络的基本功能。</a:t>
            </a:r>
            <a:endParaRPr lang="zh-CN" altLang="en-US" sz="2400" dirty="0">
              <a:sym typeface="+mn-ea"/>
            </a:endParaRPr>
          </a:p>
          <a:p>
            <a:pPr lvl="1" eaLnBrk="1" latinLnBrk="0" hangingPunct="1">
              <a:spcBef>
                <a:spcPts val="1200"/>
              </a:spcBef>
            </a:pPr>
            <a:r>
              <a:rPr lang="zh-CN" altLang="en-US" sz="2000" dirty="0">
                <a:sym typeface="+mn-ea"/>
              </a:rPr>
              <a:t>循环互连网络虽然能够实现任意互连，但其通信速度很低。</a:t>
            </a:r>
            <a:endParaRPr lang="zh-CN" altLang="en-US" sz="2000" dirty="0">
              <a:sym typeface="+mn-ea"/>
            </a:endParaRPr>
          </a:p>
          <a:p>
            <a:pPr eaLnBrk="1" latinLnBrk="0" hangingPunct="1">
              <a:spcBef>
                <a:spcPts val="1200"/>
              </a:spcBef>
            </a:pPr>
            <a:r>
              <a:rPr lang="zh-CN" altLang="en-US" sz="2400" dirty="0">
                <a:sym typeface="+mn-ea"/>
              </a:rPr>
              <a:t>多级互连网络：</a:t>
            </a:r>
            <a:endParaRPr lang="zh-CN" altLang="en-US" sz="2400" dirty="0">
              <a:sym typeface="+mn-ea"/>
            </a:endParaRPr>
          </a:p>
          <a:p>
            <a:pPr lvl="1" eaLnBrk="1" latinLnBrk="0" hangingPunct="1">
              <a:spcBef>
                <a:spcPts val="600"/>
              </a:spcBef>
            </a:pPr>
            <a:r>
              <a:rPr lang="zh-CN" altLang="en-US" sz="2000" dirty="0">
                <a:sym typeface="+mn-ea"/>
              </a:rPr>
              <a:t>采用多个相同的或不同的互连网络直接连接起来；</a:t>
            </a:r>
            <a:endParaRPr lang="zh-CN" altLang="en-US" sz="2000" dirty="0">
              <a:sym typeface="+mn-ea"/>
            </a:endParaRPr>
          </a:p>
          <a:p>
            <a:pPr lvl="1" eaLnBrk="1" latinLnBrk="0" hangingPunct="1">
              <a:spcBef>
                <a:spcPts val="600"/>
              </a:spcBef>
            </a:pPr>
            <a:r>
              <a:rPr lang="zh-CN" altLang="en-US" sz="2000" dirty="0">
                <a:sym typeface="+mn-ea"/>
              </a:rPr>
              <a:t>组合逻辑线路，一个时钟周期就能够实现任意结点到结点之间的互连。</a:t>
            </a:r>
            <a:endParaRPr lang="zh-CN" altLang="en-US" sz="2000" dirty="0">
              <a:sym typeface="+mn-ea"/>
            </a:endParaRPr>
          </a:p>
          <a:p>
            <a:pPr eaLnBrk="1" latinLnBrk="0" hangingPunct="1">
              <a:spcBef>
                <a:spcPts val="1200"/>
              </a:spcBef>
            </a:pPr>
            <a:r>
              <a:rPr lang="zh-CN" altLang="en-US" sz="2400" dirty="0">
                <a:sym typeface="+mn-ea"/>
              </a:rPr>
              <a:t>多级互连网络采用的关键技术：</a:t>
            </a:r>
            <a:endParaRPr lang="zh-CN" altLang="en-US" sz="2400" dirty="0">
              <a:sym typeface="+mn-ea"/>
            </a:endParaRPr>
          </a:p>
          <a:p>
            <a:pPr lvl="1" eaLnBrk="1" latinLnBrk="0" hangingPunct="1">
              <a:spcBef>
                <a:spcPts val="600"/>
              </a:spcBef>
            </a:pPr>
            <a:r>
              <a:rPr lang="zh-CN" altLang="en-US" sz="2000" dirty="0">
                <a:sym typeface="+mn-ea"/>
              </a:rPr>
              <a:t>(1) 交换开关，</a:t>
            </a:r>
            <a:endParaRPr lang="zh-CN" altLang="en-US" sz="2000" dirty="0">
              <a:sym typeface="+mn-ea"/>
            </a:endParaRPr>
          </a:p>
          <a:p>
            <a:pPr lvl="1" eaLnBrk="1" latinLnBrk="0" hangingPunct="1">
              <a:spcBef>
                <a:spcPts val="600"/>
              </a:spcBef>
            </a:pPr>
            <a:r>
              <a:rPr lang="zh-CN" altLang="en-US" sz="2000" dirty="0">
                <a:sym typeface="+mn-ea"/>
              </a:rPr>
              <a:t>(2) 交换开关之间的拓扑连接，</a:t>
            </a:r>
            <a:endParaRPr lang="zh-CN" altLang="en-US" sz="2000" dirty="0">
              <a:sym typeface="+mn-ea"/>
            </a:endParaRPr>
          </a:p>
          <a:p>
            <a:pPr lvl="1" eaLnBrk="1" latinLnBrk="0" hangingPunct="1">
              <a:spcBef>
                <a:spcPts val="600"/>
              </a:spcBef>
            </a:pPr>
            <a:r>
              <a:rPr lang="zh-CN" altLang="en-US" sz="2000" dirty="0">
                <a:sym typeface="+mn-ea"/>
              </a:rPr>
              <a:t>(3) 对交换开关的不同控制方式。</a:t>
            </a:r>
            <a:endParaRPr lang="zh-CN" altLang="en-US" sz="2000" dirty="0">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交换</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开关</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27455"/>
            <a:ext cx="8396605" cy="4938395"/>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一个</a:t>
            </a:r>
            <a:r>
              <a:rPr lang="en-US" altLang="zh-CN" sz="2000" dirty="0">
                <a:latin typeface="Times New Roman" panose="02020603050405020304" pitchFamily="18" charset="0"/>
                <a:cs typeface="Times New Roman" panose="02020603050405020304" pitchFamily="18" charset="0"/>
                <a:sym typeface="+mn-ea"/>
              </a:rPr>
              <a:t>a</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b</a:t>
            </a:r>
            <a:r>
              <a:rPr lang="zh-CN" altLang="en-US" sz="2000" dirty="0">
                <a:latin typeface="Times New Roman" panose="02020603050405020304" pitchFamily="18" charset="0"/>
                <a:cs typeface="Times New Roman" panose="02020603050405020304" pitchFamily="18" charset="0"/>
                <a:sym typeface="Symbol" panose="05050102010706020507" pitchFamily="18" charset="2"/>
              </a:rPr>
              <a:t>开关模块有</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a:t>
            </a:r>
            <a:r>
              <a:rPr lang="zh-CN" altLang="en-US" sz="2000" dirty="0">
                <a:latin typeface="Times New Roman" panose="02020603050405020304" pitchFamily="18" charset="0"/>
                <a:cs typeface="Times New Roman" panose="02020603050405020304" pitchFamily="18" charset="0"/>
                <a:sym typeface="Symbol" panose="05050102010706020507" pitchFamily="18" charset="2"/>
              </a:rPr>
              <a:t>个输入和</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b</a:t>
            </a:r>
            <a:r>
              <a:rPr lang="zh-CN" altLang="en-US" sz="2000" dirty="0">
                <a:latin typeface="Times New Roman" panose="02020603050405020304" pitchFamily="18" charset="0"/>
                <a:cs typeface="Times New Roman" panose="02020603050405020304" pitchFamily="18" charset="0"/>
                <a:sym typeface="Symbol" panose="05050102010706020507" pitchFamily="18" charset="2"/>
              </a:rPr>
              <a:t>个输出</a:t>
            </a:r>
            <a:endParaRPr lang="zh-CN" altLang="en-US" sz="2000" dirty="0">
              <a:latin typeface="Times New Roman" panose="02020603050405020304" pitchFamily="18" charset="0"/>
              <a:cs typeface="Times New Roman" panose="02020603050405020304" pitchFamily="18" charset="0"/>
              <a:sym typeface="Symbol" panose="05050102010706020507" pitchFamily="18" charset="2"/>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Symbol" panose="05050102010706020507" pitchFamily="18" charset="2"/>
              </a:rPr>
              <a:t>一个二元开关则与</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a=b=2</a:t>
            </a:r>
            <a:r>
              <a:rPr lang="zh-CN" altLang="en-US" sz="2000" dirty="0">
                <a:latin typeface="Times New Roman" panose="02020603050405020304" pitchFamily="18" charset="0"/>
                <a:cs typeface="Times New Roman" panose="02020603050405020304" pitchFamily="18" charset="0"/>
                <a:sym typeface="Symbol" panose="05050102010706020507" pitchFamily="18" charset="2"/>
              </a:rPr>
              <a:t>的</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22</a:t>
            </a:r>
            <a:r>
              <a:rPr lang="zh-CN" altLang="en-US" sz="2000" dirty="0">
                <a:latin typeface="Times New Roman" panose="02020603050405020304" pitchFamily="18" charset="0"/>
                <a:cs typeface="Times New Roman" panose="02020603050405020304" pitchFamily="18" charset="0"/>
                <a:sym typeface="Symbol" panose="05050102010706020507" pitchFamily="18" charset="2"/>
              </a:rPr>
              <a:t>开关模块相对应</a:t>
            </a:r>
            <a:endParaRPr lang="zh-CN" altLang="en-US" sz="2000" dirty="0">
              <a:latin typeface="Times New Roman" panose="02020603050405020304" pitchFamily="18" charset="0"/>
              <a:cs typeface="Times New Roman" panose="02020603050405020304" pitchFamily="18" charset="0"/>
              <a:sym typeface="Symbol" panose="05050102010706020507" pitchFamily="18" charset="2"/>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Symbol" panose="05050102010706020507" pitchFamily="18" charset="2"/>
              </a:rPr>
              <a:t>实际中</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a:t>
            </a:r>
            <a:r>
              <a:rPr lang="zh-CN" altLang="en-US" sz="2000" dirty="0">
                <a:latin typeface="Times New Roman" panose="02020603050405020304" pitchFamily="18" charset="0"/>
                <a:cs typeface="Times New Roman" panose="02020603050405020304" pitchFamily="18" charset="0"/>
                <a:sym typeface="Symbol" panose="05050102010706020507" pitchFamily="18" charset="2"/>
              </a:rPr>
              <a:t>和</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b</a:t>
            </a:r>
            <a:r>
              <a:rPr lang="zh-CN" altLang="en-US" sz="2000" dirty="0">
                <a:latin typeface="Times New Roman" panose="02020603050405020304" pitchFamily="18" charset="0"/>
                <a:cs typeface="Times New Roman" panose="02020603050405020304" pitchFamily="18" charset="0"/>
                <a:sym typeface="Symbol" panose="05050102010706020507" pitchFamily="18" charset="2"/>
              </a:rPr>
              <a:t>通常选为</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a=b=2^k</a:t>
            </a:r>
            <a:r>
              <a:rPr lang="zh-CN" altLang="en-US"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k&gt;=1</a:t>
            </a:r>
            <a:endParaRPr lang="en-US" altLang="zh-CN" sz="2000" dirty="0">
              <a:latin typeface="Times New Roman" panose="02020603050405020304" pitchFamily="18" charset="0"/>
              <a:cs typeface="Times New Roman" panose="02020603050405020304" pitchFamily="18" charset="0"/>
              <a:sym typeface="Symbol" panose="05050102010706020507" pitchFamily="18" charset="2"/>
            </a:endParaRPr>
          </a:p>
          <a:p>
            <a:pPr lvl="2"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最常用的二元开关：</a:t>
            </a:r>
            <a:r>
              <a:rPr lang="en-US" altLang="zh-CN" sz="2000" dirty="0">
                <a:latin typeface="Times New Roman" panose="02020603050405020304" pitchFamily="18" charset="0"/>
                <a:cs typeface="Times New Roman" panose="02020603050405020304" pitchFamily="18" charset="0"/>
                <a:sym typeface="+mn-ea"/>
              </a:rPr>
              <a:t>a=b=2</a:t>
            </a:r>
            <a:endParaRPr lang="en-US" altLang="zh-CN" sz="2000" dirty="0">
              <a:latin typeface="Times New Roman" panose="02020603050405020304" pitchFamily="18" charset="0"/>
              <a:cs typeface="Times New Roman" panose="02020603050405020304" pitchFamily="18" charset="0"/>
            </a:endParaRPr>
          </a:p>
          <a:p>
            <a:pPr eaLnBrk="1" latinLnBrk="0" hangingPunct="1">
              <a:spcBef>
                <a:spcPts val="1800"/>
              </a:spcBef>
            </a:pPr>
            <a:r>
              <a:rPr lang="zh-CN" altLang="en-US" sz="2000" dirty="0">
                <a:latin typeface="Times New Roman" panose="02020603050405020304" pitchFamily="18" charset="0"/>
                <a:cs typeface="Times New Roman" panose="02020603050405020304" pitchFamily="18" charset="0"/>
                <a:sym typeface="+mn-ea"/>
              </a:rPr>
              <a:t>每个输入可与一个或多个输出相连，在输出端必须避免发生冲突。</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容许一对一和一对多映射，不容许多对一映射</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solidFill>
                  <a:srgbClr val="FF0000"/>
                </a:solidFill>
                <a:latin typeface="Times New Roman" panose="02020603050405020304" pitchFamily="18" charset="0"/>
                <a:cs typeface="Times New Roman" panose="02020603050405020304" pitchFamily="18" charset="0"/>
                <a:sym typeface="+mn-ea"/>
              </a:rPr>
              <a:t>只容许一对一映射时称为置换连接，称为</a:t>
            </a:r>
            <a:r>
              <a:rPr lang="en-US" altLang="zh-CN" sz="2000" dirty="0">
                <a:solidFill>
                  <a:srgbClr val="FF0000"/>
                </a:solidFill>
                <a:latin typeface="Times New Roman" panose="02020603050405020304" pitchFamily="18" charset="0"/>
                <a:cs typeface="Times New Roman" panose="02020603050405020304" pitchFamily="18" charset="0"/>
                <a:sym typeface="+mn-ea"/>
              </a:rPr>
              <a:t>n×n</a:t>
            </a:r>
            <a:r>
              <a:rPr lang="zh-CN" altLang="en-US" sz="2000" dirty="0">
                <a:solidFill>
                  <a:srgbClr val="FF0000"/>
                </a:solidFill>
                <a:latin typeface="Times New Roman" panose="02020603050405020304" pitchFamily="18" charset="0"/>
                <a:cs typeface="Times New Roman" panose="02020603050405020304" pitchFamily="18" charset="0"/>
                <a:sym typeface="+mn-ea"/>
              </a:rPr>
              <a:t>交叉开关</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具有直通和交换两种功能的交换开关称为二功能开关（交换开关）。用一位控制信号控制</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具有四种功能的交换开关称为四功能开关，用两位控制信号控制</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交换开关和合法状态</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custDataLst>
              <p:tags r:id="rId1"/>
            </p:custDataLst>
          </p:nvPr>
        </p:nvPicPr>
        <p:blipFill>
          <a:blip r:embed="rId2"/>
          <a:stretch>
            <a:fillRect/>
          </a:stretch>
        </p:blipFill>
        <p:spPr>
          <a:xfrm>
            <a:off x="827405" y="1484630"/>
            <a:ext cx="7118350" cy="1847850"/>
          </a:xfrm>
          <a:prstGeom prst="rect">
            <a:avLst/>
          </a:prstGeom>
        </p:spPr>
      </p:pic>
      <p:pic>
        <p:nvPicPr>
          <p:cNvPr id="4" name="图片 3"/>
          <p:cNvPicPr>
            <a:picLocks noChangeAspect="1"/>
          </p:cNvPicPr>
          <p:nvPr>
            <p:custDataLst>
              <p:tags r:id="rId3"/>
            </p:custDataLst>
          </p:nvPr>
        </p:nvPicPr>
        <p:blipFill>
          <a:blip r:embed="rId4"/>
          <a:stretch>
            <a:fillRect/>
          </a:stretch>
        </p:blipFill>
        <p:spPr>
          <a:xfrm>
            <a:off x="828675" y="3522345"/>
            <a:ext cx="7225665" cy="259270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多级互连网络</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拓扑结构和控制</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方式</a:t>
            </a:r>
            <a:endPar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87450"/>
            <a:ext cx="8396605" cy="4978400"/>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拓扑结构</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级间连接</a:t>
            </a:r>
            <a:r>
              <a:rPr lang="en-US" altLang="zh-CN" sz="2000" dirty="0">
                <a:latin typeface="Times New Roman" panose="02020603050405020304" pitchFamily="18" charset="0"/>
                <a:cs typeface="Times New Roman" panose="02020603050405020304" pitchFamily="18" charset="0"/>
                <a:sym typeface="+mn-ea"/>
              </a:rPr>
              <a:t>ISC)</a:t>
            </a:r>
            <a:endParaRPr lang="en-US" altLang="zh-CN"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前一级交换开关输出端与后一级交换开关输入端之间的连接模式；</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通常采用互连函数实现拓扑结构</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从结点的输出到第一级交换开关的输入，及从最后一级交换开关的输出到结点的输入也可采用拓扑结构连接</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控制方式</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多级互连网络中有多级交换开关，每一级有多个交换开关</a:t>
            </a:r>
            <a:endParaRPr lang="zh-CN" altLang="en-US" sz="2000" dirty="0">
              <a:latin typeface="Times New Roman" panose="02020603050405020304" pitchFamily="18" charset="0"/>
              <a:cs typeface="Times New Roman" panose="02020603050405020304" pitchFamily="18" charset="0"/>
            </a:endParaRPr>
          </a:p>
          <a:p>
            <a:pPr lvl="2" eaLnBrk="1" latinLnBrk="0" hangingPunct="1">
              <a:spcBef>
                <a:spcPts val="1200"/>
              </a:spcBef>
            </a:pPr>
            <a:r>
              <a:rPr lang="zh-CN" altLang="en-US" sz="2000" dirty="0">
                <a:solidFill>
                  <a:srgbClr val="FF0000"/>
                </a:solidFill>
                <a:latin typeface="Times New Roman" panose="02020603050405020304" pitchFamily="18" charset="0"/>
                <a:cs typeface="Times New Roman" panose="02020603050405020304" pitchFamily="18" charset="0"/>
                <a:sym typeface="+mn-ea"/>
              </a:rPr>
              <a:t>级控制</a:t>
            </a:r>
            <a:r>
              <a:rPr lang="zh-CN" altLang="en-US" sz="2000" dirty="0">
                <a:latin typeface="Times New Roman" panose="02020603050405020304" pitchFamily="18" charset="0"/>
                <a:cs typeface="Times New Roman" panose="02020603050405020304" pitchFamily="18" charset="0"/>
                <a:sym typeface="+mn-ea"/>
              </a:rPr>
              <a:t>：同一级交换开关使用同一个控制信号控制</a:t>
            </a:r>
            <a:endParaRPr lang="zh-CN" altLang="en-US" sz="2000" dirty="0">
              <a:latin typeface="Times New Roman" panose="02020603050405020304" pitchFamily="18" charset="0"/>
              <a:cs typeface="Times New Roman" panose="02020603050405020304" pitchFamily="18" charset="0"/>
            </a:endParaRPr>
          </a:p>
          <a:p>
            <a:pPr lvl="2" eaLnBrk="1" latinLnBrk="0" hangingPunct="1">
              <a:spcBef>
                <a:spcPts val="1200"/>
              </a:spcBef>
            </a:pPr>
            <a:r>
              <a:rPr lang="zh-CN" altLang="en-US" sz="2000" dirty="0">
                <a:solidFill>
                  <a:srgbClr val="FF0000"/>
                </a:solidFill>
                <a:latin typeface="Times New Roman" panose="02020603050405020304" pitchFamily="18" charset="0"/>
                <a:cs typeface="Times New Roman" panose="02020603050405020304" pitchFamily="18" charset="0"/>
                <a:sym typeface="+mn-ea"/>
              </a:rPr>
              <a:t>单元控制</a:t>
            </a:r>
            <a:r>
              <a:rPr lang="zh-CN" altLang="en-US" sz="2000" dirty="0">
                <a:latin typeface="Times New Roman" panose="02020603050405020304" pitchFamily="18" charset="0"/>
                <a:cs typeface="Times New Roman" panose="02020603050405020304" pitchFamily="18" charset="0"/>
                <a:sym typeface="+mn-ea"/>
              </a:rPr>
              <a:t>：每个交换开关分别控制</a:t>
            </a:r>
            <a:endParaRPr lang="zh-CN" altLang="en-US" sz="2000" dirty="0">
              <a:latin typeface="Times New Roman" panose="02020603050405020304" pitchFamily="18" charset="0"/>
              <a:cs typeface="Times New Roman" panose="02020603050405020304" pitchFamily="18" charset="0"/>
            </a:endParaRPr>
          </a:p>
          <a:p>
            <a:pPr lvl="2" eaLnBrk="1" latinLnBrk="0" hangingPunct="1">
              <a:spcBef>
                <a:spcPts val="1200"/>
              </a:spcBef>
            </a:pPr>
            <a:r>
              <a:rPr lang="zh-CN" altLang="en-US" sz="2000" dirty="0">
                <a:solidFill>
                  <a:srgbClr val="FF0000"/>
                </a:solidFill>
                <a:latin typeface="Times New Roman" panose="02020603050405020304" pitchFamily="18" charset="0"/>
                <a:cs typeface="Times New Roman" panose="02020603050405020304" pitchFamily="18" charset="0"/>
                <a:sym typeface="+mn-ea"/>
              </a:rPr>
              <a:t>部分级控制</a:t>
            </a:r>
            <a:r>
              <a:rPr lang="zh-CN" altLang="en-US" sz="2000" dirty="0">
                <a:latin typeface="Times New Roman" panose="02020603050405020304" pitchFamily="18" charset="0"/>
                <a:cs typeface="Times New Roman" panose="02020603050405020304" pitchFamily="18" charset="0"/>
                <a:sym typeface="+mn-ea"/>
              </a:rPr>
              <a:t>：如，第</a:t>
            </a:r>
            <a:r>
              <a:rPr lang="en-US" altLang="zh-CN" sz="2000" dirty="0">
                <a:latin typeface="Times New Roman" panose="02020603050405020304" pitchFamily="18" charset="0"/>
                <a:cs typeface="Times New Roman" panose="02020603050405020304" pitchFamily="18" charset="0"/>
                <a:sym typeface="+mn-ea"/>
              </a:rPr>
              <a:t>i</a:t>
            </a:r>
            <a:r>
              <a:rPr lang="zh-CN" altLang="en-US" sz="2000" dirty="0">
                <a:latin typeface="Times New Roman" panose="02020603050405020304" pitchFamily="18" charset="0"/>
                <a:cs typeface="Times New Roman" panose="02020603050405020304" pitchFamily="18" charset="0"/>
                <a:sym typeface="+mn-ea"/>
              </a:rPr>
              <a:t>级使用</a:t>
            </a:r>
            <a:r>
              <a:rPr lang="en-US" altLang="zh-CN" sz="2000" dirty="0">
                <a:latin typeface="Times New Roman" panose="02020603050405020304" pitchFamily="18" charset="0"/>
                <a:cs typeface="Times New Roman" panose="02020603050405020304" pitchFamily="18" charset="0"/>
                <a:sym typeface="+mn-ea"/>
              </a:rPr>
              <a:t>i+1</a:t>
            </a:r>
            <a:r>
              <a:rPr lang="zh-CN" altLang="en-US" sz="2000" dirty="0">
                <a:latin typeface="Times New Roman" panose="02020603050405020304" pitchFamily="18" charset="0"/>
                <a:cs typeface="Times New Roman" panose="02020603050405020304" pitchFamily="18" charset="0"/>
                <a:sym typeface="+mn-ea"/>
              </a:rPr>
              <a:t>个控制信号控制</a:t>
            </a:r>
            <a:r>
              <a:rPr lang="en-US" altLang="zh-CN" sz="2000" dirty="0">
                <a:latin typeface="Times New Roman" panose="02020603050405020304" pitchFamily="18" charset="0"/>
                <a:cs typeface="Times New Roman" panose="02020603050405020304" pitchFamily="18" charset="0"/>
                <a:sym typeface="+mn-ea"/>
              </a:rPr>
              <a:t>(0&lt;=i&lt;=n-1) </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同一个多级互连网络使用不同的控制方式，可构成不同的互连网络</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460375"/>
          </a:xfrm>
        </p:spPr>
        <p:txBody>
          <a:bodyPr vert="horz" wrap="square" lIns="91440" tIns="45720" rIns="91440" bIns="45720" anchor="t" anchorCtr="0">
            <a:spAutoFit/>
          </a:bodyPr>
          <a:p>
            <a:pPr algn="l" eaLnBrk="1" hangingPunct="1">
              <a:buClrTx/>
              <a:buSzTx/>
              <a:buFontTx/>
            </a:pPr>
            <a:r>
              <a:rPr lang="zh-CN" sz="2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一种由a×b开关模块和级间连接模式ISC构成的多级网络</a:t>
            </a:r>
            <a:endParaRPr lang="zh-CN" sz="2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custDataLst>
              <p:tags r:id="rId1"/>
            </p:custDataLst>
          </p:nvPr>
        </p:nvPicPr>
        <p:blipFill>
          <a:blip r:embed="rId2"/>
          <a:stretch>
            <a:fillRect/>
          </a:stretch>
        </p:blipFill>
        <p:spPr>
          <a:xfrm>
            <a:off x="179705" y="1700530"/>
            <a:ext cx="8667115" cy="434911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多级立方体网</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5054600"/>
          </a:xfrm>
        </p:spPr>
        <p:txBody>
          <a:bodyPr vert="horz" wrap="square" lIns="91440" tIns="45720" rIns="91440" bIns="45720" anchor="t" anchorCtr="0"/>
          <a:p>
            <a:pPr defTabSz="914400" eaLnBrk="1" latinLnBrk="0" hangingPunct="1">
              <a:spcBef>
                <a:spcPts val="1200"/>
              </a:spcBef>
              <a:tabLst>
                <a:tab pos="1806575" algn="l"/>
              </a:tabLst>
            </a:pPr>
            <a:r>
              <a:rPr lang="zh-CN" altLang="en-US" sz="2000" dirty="0">
                <a:latin typeface="Times New Roman" panose="02020603050405020304" pitchFamily="18" charset="0"/>
                <a:cs typeface="Times New Roman" panose="02020603050405020304" pitchFamily="18" charset="0"/>
                <a:sym typeface="+mn-ea"/>
              </a:rPr>
              <a:t>采用二功能开关，</a:t>
            </a:r>
            <a:r>
              <a:rPr lang="en-US" altLang="zh-CN" sz="2000" dirty="0">
                <a:latin typeface="Times New Roman" panose="02020603050405020304" pitchFamily="18" charset="0"/>
                <a:cs typeface="Times New Roman" panose="02020603050405020304" pitchFamily="18" charset="0"/>
                <a:sym typeface="+mn-ea"/>
              </a:rPr>
              <a:t>N=2^n</a:t>
            </a:r>
            <a:r>
              <a:rPr lang="zh-CN" altLang="en-US" sz="2000" dirty="0">
                <a:latin typeface="Times New Roman" panose="02020603050405020304" pitchFamily="18" charset="0"/>
                <a:cs typeface="Times New Roman" panose="02020603050405020304" pitchFamily="18" charset="0"/>
                <a:sym typeface="+mn-ea"/>
              </a:rPr>
              <a:t>个节点共需开关 </a:t>
            </a:r>
            <a:r>
              <a:rPr lang="en-US" altLang="zh-CN" sz="2000" dirty="0">
                <a:latin typeface="Times New Roman" panose="02020603050405020304" pitchFamily="18" charset="0"/>
                <a:cs typeface="Times New Roman" panose="02020603050405020304" pitchFamily="18" charset="0"/>
                <a:sym typeface="+mn-ea"/>
              </a:rPr>
              <a:t>n 2^(n-1)</a:t>
            </a:r>
            <a:r>
              <a:rPr lang="zh-CN" altLang="en-US" sz="2000" dirty="0">
                <a:latin typeface="Times New Roman" panose="02020603050405020304" pitchFamily="18" charset="0"/>
                <a:cs typeface="Times New Roman" panose="02020603050405020304" pitchFamily="18" charset="0"/>
                <a:sym typeface="+mn-ea"/>
              </a:rPr>
              <a:t>个</a:t>
            </a:r>
            <a:endParaRPr lang="zh-CN" altLang="en-US" sz="2000" dirty="0">
              <a:latin typeface="Times New Roman" panose="02020603050405020304" pitchFamily="18" charset="0"/>
              <a:cs typeface="Times New Roman" panose="02020603050405020304" pitchFamily="18" charset="0"/>
            </a:endParaRPr>
          </a:p>
          <a:p>
            <a:pPr defTabSz="914400" eaLnBrk="1" latinLnBrk="0" hangingPunct="1">
              <a:spcBef>
                <a:spcPts val="1200"/>
              </a:spcBef>
              <a:tabLst>
                <a:tab pos="1806575" algn="l"/>
              </a:tabLst>
            </a:pPr>
            <a:r>
              <a:rPr lang="zh-CN" altLang="en-US" sz="2000" dirty="0">
                <a:latin typeface="Times New Roman" panose="02020603050405020304" pitchFamily="18" charset="0"/>
                <a:cs typeface="Times New Roman" panose="02020603050405020304" pitchFamily="18" charset="0"/>
                <a:sym typeface="+mn-ea"/>
              </a:rPr>
              <a:t>由多个单级立方体网组成，某级开关处于交换状态时</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各级分别实现</a:t>
            </a:r>
            <a:r>
              <a:rPr lang="en-US" altLang="zh-CN" sz="2000" dirty="0">
                <a:latin typeface="Times New Roman" panose="02020603050405020304" pitchFamily="18" charset="0"/>
                <a:cs typeface="Times New Roman" panose="02020603050405020304" pitchFamily="18" charset="0"/>
                <a:sym typeface="+mn-ea"/>
              </a:rPr>
              <a:t>E</a:t>
            </a:r>
            <a:r>
              <a:rPr lang="en-US" altLang="zh-CN" sz="2000" baseline="-25000" dirty="0">
                <a:latin typeface="Times New Roman" panose="02020603050405020304" pitchFamily="18" charset="0"/>
                <a:cs typeface="Times New Roman" panose="02020603050405020304" pitchFamily="18" charset="0"/>
                <a:sym typeface="+mn-ea"/>
              </a:rPr>
              <a:t>0</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E</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…E</a:t>
            </a:r>
            <a:r>
              <a:rPr lang="en-US" altLang="zh-CN" sz="2000" i="1" baseline="-25000" dirty="0">
                <a:latin typeface="Times New Roman" panose="02020603050405020304" pitchFamily="18" charset="0"/>
                <a:cs typeface="Times New Roman" panose="02020603050405020304" pitchFamily="18" charset="0"/>
                <a:sym typeface="+mn-ea"/>
              </a:rPr>
              <a:t>n</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Times New Roman" panose="02020603050405020304" pitchFamily="18" charset="0"/>
                <a:cs typeface="Times New Roman" panose="02020603050405020304" pitchFamily="18" charset="0"/>
                <a:sym typeface="+mn-ea"/>
              </a:rPr>
              <a:t>(Cubei)</a:t>
            </a:r>
            <a:r>
              <a:rPr lang="zh-CN" altLang="en-US" sz="2000" dirty="0">
                <a:latin typeface="Times New Roman" panose="02020603050405020304" pitchFamily="18" charset="0"/>
                <a:cs typeface="Times New Roman" panose="02020603050405020304" pitchFamily="18" charset="0"/>
                <a:sym typeface="+mn-ea"/>
              </a:rPr>
              <a:t>交换函数</a:t>
            </a:r>
            <a:endParaRPr lang="zh-CN" altLang="en-US" sz="2000" dirty="0">
              <a:latin typeface="Times New Roman" panose="02020603050405020304" pitchFamily="18" charset="0"/>
              <a:cs typeface="Times New Roman" panose="02020603050405020304" pitchFamily="18" charset="0"/>
            </a:endParaRPr>
          </a:p>
          <a:p>
            <a:pPr defTabSz="914400" eaLnBrk="1" latinLnBrk="0" hangingPunct="1">
              <a:spcBef>
                <a:spcPts val="1200"/>
              </a:spcBef>
              <a:tabLst>
                <a:tab pos="1806575" algn="l"/>
              </a:tabLst>
            </a:pPr>
            <a:r>
              <a:rPr lang="zh-CN" altLang="en-US" sz="2000" dirty="0">
                <a:latin typeface="Times New Roman" panose="02020603050405020304" pitchFamily="18" charset="0"/>
                <a:cs typeface="Times New Roman" panose="02020603050405020304" pitchFamily="18" charset="0"/>
                <a:sym typeface="+mn-ea"/>
              </a:rPr>
              <a:t>所有开关都直通时，实现恒等变换</a:t>
            </a:r>
            <a:endParaRPr lang="zh-CN" altLang="en-US" sz="2000" dirty="0">
              <a:latin typeface="Times New Roman" panose="02020603050405020304" pitchFamily="18" charset="0"/>
              <a:cs typeface="Times New Roman" panose="02020603050405020304" pitchFamily="18" charset="0"/>
            </a:endParaRPr>
          </a:p>
          <a:p>
            <a:pPr marL="287655" lvl="1" indent="-635" defTabSz="914400" eaLnBrk="1" latinLnBrk="0" hangingPunct="1">
              <a:spcBef>
                <a:spcPts val="1200"/>
              </a:spcBef>
              <a:tabLst>
                <a:tab pos="1806575" algn="l"/>
              </a:tabLst>
            </a:pPr>
            <a:r>
              <a:rPr lang="zh-CN" altLang="en-US" sz="2000" dirty="0">
                <a:latin typeface="Times New Roman" panose="02020603050405020304" pitchFamily="18" charset="0"/>
                <a:cs typeface="Times New Roman" panose="02020603050405020304" pitchFamily="18" charset="0"/>
                <a:sym typeface="+mn-ea"/>
              </a:rPr>
              <a:t>第</a:t>
            </a:r>
            <a:r>
              <a:rPr lang="en-US" altLang="zh-CN" sz="2000" dirty="0">
                <a:latin typeface="Times New Roman" panose="02020603050405020304" pitchFamily="18" charset="0"/>
                <a:cs typeface="Times New Roman" panose="02020603050405020304" pitchFamily="18" charset="0"/>
                <a:sym typeface="+mn-ea"/>
              </a:rPr>
              <a:t>0</a:t>
            </a:r>
            <a:r>
              <a:rPr lang="zh-CN" altLang="en-US" sz="2000" dirty="0">
                <a:latin typeface="Times New Roman" panose="02020603050405020304" pitchFamily="18" charset="0"/>
                <a:cs typeface="Times New Roman" panose="02020603050405020304" pitchFamily="18" charset="0"/>
                <a:sym typeface="+mn-ea"/>
              </a:rPr>
              <a:t>级</a:t>
            </a:r>
            <a:r>
              <a:rPr lang="en-US" altLang="zh-CN" sz="2000" dirty="0">
                <a:latin typeface="Times New Roman" panose="02020603050405020304" pitchFamily="18" charset="0"/>
                <a:cs typeface="Times New Roman" panose="02020603050405020304" pitchFamily="18" charset="0"/>
                <a:sym typeface="+mn-ea"/>
              </a:rPr>
              <a:t>A</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B</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C</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D</a:t>
            </a:r>
            <a:r>
              <a:rPr lang="zh-CN" altLang="en-US" sz="2000" dirty="0">
                <a:latin typeface="Times New Roman" panose="02020603050405020304" pitchFamily="18" charset="0"/>
                <a:cs typeface="Times New Roman" panose="02020603050405020304" pitchFamily="18" charset="0"/>
                <a:sym typeface="+mn-ea"/>
              </a:rPr>
              <a:t>开关交换，其余直通实现 </a:t>
            </a:r>
            <a:r>
              <a:rPr lang="en-US" altLang="zh-CN" sz="2000" dirty="0">
                <a:solidFill>
                  <a:schemeClr val="tx2"/>
                </a:solidFill>
                <a:latin typeface="Times New Roman" panose="02020603050405020304" pitchFamily="18" charset="0"/>
                <a:cs typeface="Times New Roman" panose="02020603050405020304" pitchFamily="18" charset="0"/>
                <a:sym typeface="+mn-ea"/>
              </a:rPr>
              <a:t>E</a:t>
            </a:r>
            <a:r>
              <a:rPr lang="en-US" altLang="zh-CN" sz="2000" baseline="-25000" dirty="0">
                <a:solidFill>
                  <a:schemeClr val="tx2"/>
                </a:solidFill>
                <a:latin typeface="Times New Roman" panose="02020603050405020304" pitchFamily="18" charset="0"/>
                <a:cs typeface="Times New Roman" panose="02020603050405020304" pitchFamily="18" charset="0"/>
                <a:sym typeface="+mn-ea"/>
              </a:rPr>
              <a:t>0</a:t>
            </a:r>
            <a:r>
              <a:rPr lang="en-US" altLang="zh-CN" sz="2000" dirty="0">
                <a:solidFill>
                  <a:schemeClr val="tx2"/>
                </a:solidFill>
                <a:latin typeface="Times New Roman" panose="02020603050405020304" pitchFamily="18" charset="0"/>
                <a:cs typeface="Times New Roman" panose="02020603050405020304" pitchFamily="18" charset="0"/>
                <a:sym typeface="+mn-ea"/>
              </a:rPr>
              <a:t> </a:t>
            </a:r>
            <a:r>
              <a:rPr lang="zh-CN" altLang="en-US" sz="2000" dirty="0">
                <a:solidFill>
                  <a:schemeClr val="tx2"/>
                </a:solidFill>
                <a:latin typeface="Times New Roman" panose="02020603050405020304" pitchFamily="18" charset="0"/>
                <a:cs typeface="Times New Roman" panose="02020603050405020304" pitchFamily="18" charset="0"/>
                <a:sym typeface="+mn-ea"/>
              </a:rPr>
              <a:t>互连函数</a:t>
            </a:r>
            <a:endParaRPr lang="zh-CN" altLang="en-US" sz="2000" dirty="0">
              <a:latin typeface="Times New Roman" panose="02020603050405020304" pitchFamily="18" charset="0"/>
              <a:cs typeface="Times New Roman" panose="02020603050405020304" pitchFamily="18" charset="0"/>
            </a:endParaRPr>
          </a:p>
          <a:p>
            <a:pPr marL="287655" lvl="1" indent="-635" defTabSz="914400" eaLnBrk="1" latinLnBrk="0" hangingPunct="1">
              <a:spcBef>
                <a:spcPts val="1200"/>
              </a:spcBef>
              <a:tabLst>
                <a:tab pos="1806575" algn="l"/>
              </a:tabLst>
            </a:pPr>
            <a:r>
              <a:rPr lang="zh-CN" altLang="en-US" sz="2000" dirty="0">
                <a:latin typeface="Times New Roman" panose="02020603050405020304" pitchFamily="18" charset="0"/>
                <a:cs typeface="Times New Roman" panose="02020603050405020304" pitchFamily="18" charset="0"/>
                <a:sym typeface="+mn-ea"/>
              </a:rPr>
              <a:t>第</a:t>
            </a:r>
            <a:r>
              <a:rPr lang="en-US" altLang="zh-CN" sz="2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级</a:t>
            </a:r>
            <a:r>
              <a:rPr lang="en-US" altLang="zh-CN" sz="2000" dirty="0">
                <a:latin typeface="Times New Roman" panose="02020603050405020304" pitchFamily="18" charset="0"/>
                <a:cs typeface="Times New Roman" panose="02020603050405020304" pitchFamily="18" charset="0"/>
                <a:sym typeface="+mn-ea"/>
              </a:rPr>
              <a:t>E</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F</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G</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H</a:t>
            </a:r>
            <a:r>
              <a:rPr lang="zh-CN" altLang="en-US" sz="2000" dirty="0">
                <a:latin typeface="Times New Roman" panose="02020603050405020304" pitchFamily="18" charset="0"/>
                <a:cs typeface="Times New Roman" panose="02020603050405020304" pitchFamily="18" charset="0"/>
                <a:sym typeface="+mn-ea"/>
              </a:rPr>
              <a:t>开关交换，其余直通实现 </a:t>
            </a:r>
            <a:r>
              <a:rPr lang="en-US" altLang="zh-CN" sz="2000" dirty="0">
                <a:solidFill>
                  <a:schemeClr val="tx2"/>
                </a:solidFill>
                <a:latin typeface="Times New Roman" panose="02020603050405020304" pitchFamily="18" charset="0"/>
                <a:cs typeface="Times New Roman" panose="02020603050405020304" pitchFamily="18" charset="0"/>
                <a:sym typeface="+mn-ea"/>
              </a:rPr>
              <a:t>E</a:t>
            </a:r>
            <a:r>
              <a:rPr lang="en-US" altLang="zh-CN" sz="2000" baseline="-25000" dirty="0">
                <a:solidFill>
                  <a:schemeClr val="tx2"/>
                </a:solidFill>
                <a:latin typeface="Times New Roman" panose="02020603050405020304" pitchFamily="18" charset="0"/>
                <a:cs typeface="Times New Roman" panose="02020603050405020304" pitchFamily="18" charset="0"/>
                <a:sym typeface="+mn-ea"/>
              </a:rPr>
              <a:t>1</a:t>
            </a:r>
            <a:r>
              <a:rPr lang="en-US" altLang="zh-CN" sz="2000" dirty="0">
                <a:solidFill>
                  <a:schemeClr val="tx2"/>
                </a:solidFill>
                <a:latin typeface="Times New Roman" panose="02020603050405020304" pitchFamily="18" charset="0"/>
                <a:cs typeface="Times New Roman" panose="02020603050405020304" pitchFamily="18" charset="0"/>
                <a:sym typeface="+mn-ea"/>
              </a:rPr>
              <a:t> </a:t>
            </a:r>
            <a:r>
              <a:rPr lang="zh-CN" altLang="en-US" sz="2000" dirty="0">
                <a:solidFill>
                  <a:schemeClr val="tx2"/>
                </a:solidFill>
                <a:latin typeface="Times New Roman" panose="02020603050405020304" pitchFamily="18" charset="0"/>
                <a:cs typeface="Times New Roman" panose="02020603050405020304" pitchFamily="18" charset="0"/>
                <a:sym typeface="+mn-ea"/>
              </a:rPr>
              <a:t>互连函数</a:t>
            </a:r>
            <a:endParaRPr lang="zh-CN" altLang="en-US" sz="2000" dirty="0">
              <a:latin typeface="Times New Roman" panose="02020603050405020304" pitchFamily="18" charset="0"/>
              <a:cs typeface="Times New Roman" panose="02020603050405020304" pitchFamily="18" charset="0"/>
            </a:endParaRPr>
          </a:p>
          <a:p>
            <a:pPr marL="287655" lvl="1" indent="-635" defTabSz="914400" eaLnBrk="1" latinLnBrk="0" hangingPunct="1">
              <a:spcBef>
                <a:spcPts val="1200"/>
              </a:spcBef>
              <a:tabLst>
                <a:tab pos="1806575" algn="l"/>
              </a:tabLst>
            </a:pPr>
            <a:r>
              <a:rPr lang="zh-CN" altLang="en-US" sz="2000" dirty="0">
                <a:latin typeface="Times New Roman" panose="02020603050405020304" pitchFamily="18" charset="0"/>
                <a:cs typeface="Times New Roman" panose="02020603050405020304" pitchFamily="18" charset="0"/>
                <a:sym typeface="+mn-ea"/>
              </a:rPr>
              <a:t>第</a:t>
            </a: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级</a:t>
            </a:r>
            <a:r>
              <a:rPr lang="en-US" altLang="zh-CN" sz="2000" dirty="0">
                <a:latin typeface="Times New Roman" panose="02020603050405020304" pitchFamily="18" charset="0"/>
                <a:cs typeface="Times New Roman" panose="02020603050405020304" pitchFamily="18" charset="0"/>
                <a:sym typeface="+mn-ea"/>
              </a:rPr>
              <a:t>I</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J</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K</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L</a:t>
            </a:r>
            <a:r>
              <a:rPr lang="zh-CN" altLang="en-US" sz="2000" dirty="0">
                <a:latin typeface="Times New Roman" panose="02020603050405020304" pitchFamily="18" charset="0"/>
                <a:cs typeface="Times New Roman" panose="02020603050405020304" pitchFamily="18" charset="0"/>
                <a:sym typeface="+mn-ea"/>
              </a:rPr>
              <a:t>开关交换，其余直通实现 </a:t>
            </a:r>
            <a:r>
              <a:rPr lang="en-US" altLang="zh-CN" sz="2000" dirty="0">
                <a:solidFill>
                  <a:schemeClr val="tx2"/>
                </a:solidFill>
                <a:latin typeface="Times New Roman" panose="02020603050405020304" pitchFamily="18" charset="0"/>
                <a:cs typeface="Times New Roman" panose="02020603050405020304" pitchFamily="18" charset="0"/>
                <a:sym typeface="+mn-ea"/>
              </a:rPr>
              <a:t>E</a:t>
            </a:r>
            <a:r>
              <a:rPr lang="en-US" altLang="zh-CN" sz="2000" baseline="-25000" dirty="0">
                <a:solidFill>
                  <a:schemeClr val="tx2"/>
                </a:solidFill>
                <a:latin typeface="Times New Roman" panose="02020603050405020304" pitchFamily="18" charset="0"/>
                <a:cs typeface="Times New Roman" panose="02020603050405020304" pitchFamily="18" charset="0"/>
                <a:sym typeface="+mn-ea"/>
              </a:rPr>
              <a:t>2</a:t>
            </a:r>
            <a:r>
              <a:rPr lang="en-US" altLang="zh-CN" sz="2000" dirty="0">
                <a:solidFill>
                  <a:schemeClr val="tx2"/>
                </a:solidFill>
                <a:latin typeface="Times New Roman" panose="02020603050405020304" pitchFamily="18" charset="0"/>
                <a:cs typeface="Times New Roman" panose="02020603050405020304" pitchFamily="18" charset="0"/>
                <a:sym typeface="+mn-ea"/>
              </a:rPr>
              <a:t> </a:t>
            </a:r>
            <a:r>
              <a:rPr lang="zh-CN" altLang="en-US" sz="2000" dirty="0">
                <a:solidFill>
                  <a:schemeClr val="tx2"/>
                </a:solidFill>
                <a:latin typeface="Times New Roman" panose="02020603050405020304" pitchFamily="18" charset="0"/>
                <a:cs typeface="Times New Roman" panose="02020603050405020304" pitchFamily="18" charset="0"/>
                <a:sym typeface="+mn-ea"/>
              </a:rPr>
              <a:t>互连函数</a:t>
            </a:r>
            <a:endParaRPr lang="zh-CN" altLang="en-US" sz="2000" dirty="0">
              <a:latin typeface="Times New Roman" panose="02020603050405020304" pitchFamily="18" charset="0"/>
              <a:cs typeface="Times New Roman" panose="02020603050405020304" pitchFamily="18" charset="0"/>
            </a:endParaRPr>
          </a:p>
          <a:p>
            <a:pPr defTabSz="914400" eaLnBrk="1" latinLnBrk="0" hangingPunct="1">
              <a:spcBef>
                <a:spcPts val="1200"/>
              </a:spcBef>
              <a:tabLst>
                <a:tab pos="1806575" algn="l"/>
              </a:tabLst>
            </a:pPr>
            <a:r>
              <a:rPr lang="zh-CN" altLang="en-US" sz="2000" dirty="0">
                <a:solidFill>
                  <a:schemeClr val="tx2"/>
                </a:solidFill>
                <a:latin typeface="Times New Roman" panose="02020603050405020304" pitchFamily="18" charset="0"/>
                <a:cs typeface="Times New Roman" panose="02020603050405020304" pitchFamily="18" charset="0"/>
                <a:sym typeface="+mn-ea"/>
              </a:rPr>
              <a:t>采用三种不同的控制方式，可构成三种不同的互连网络</a:t>
            </a:r>
            <a:endParaRPr lang="zh-CN" altLang="en-US" sz="2000" dirty="0">
              <a:solidFill>
                <a:schemeClr val="tx2"/>
              </a:solidFill>
              <a:latin typeface="Times New Roman" panose="02020603050405020304" pitchFamily="18" charset="0"/>
              <a:cs typeface="Times New Roman" panose="02020603050405020304" pitchFamily="18" charset="0"/>
            </a:endParaRPr>
          </a:p>
          <a:p>
            <a:pPr marL="287655" lvl="1" indent="-635" defTabSz="914400" eaLnBrk="1" latinLnBrk="0" hangingPunct="1">
              <a:spcBef>
                <a:spcPts val="1200"/>
              </a:spcBef>
              <a:tabLst>
                <a:tab pos="1806575" algn="l"/>
              </a:tabLst>
            </a:pPr>
            <a:r>
              <a:rPr lang="zh-CN" altLang="en-US" sz="2000" dirty="0">
                <a:latin typeface="Times New Roman" panose="02020603050405020304" pitchFamily="18" charset="0"/>
                <a:cs typeface="Times New Roman" panose="02020603050405020304" pitchFamily="18" charset="0"/>
                <a:sym typeface="+mn-ea"/>
              </a:rPr>
              <a:t>采用级控制，       构成</a:t>
            </a:r>
            <a:r>
              <a:rPr lang="en-US" altLang="zh-CN" sz="2000" dirty="0">
                <a:latin typeface="Times New Roman" panose="02020603050405020304" pitchFamily="18" charset="0"/>
                <a:cs typeface="Times New Roman" panose="02020603050405020304" pitchFamily="18" charset="0"/>
                <a:sym typeface="+mn-ea"/>
              </a:rPr>
              <a:t>STARAN</a:t>
            </a:r>
            <a:r>
              <a:rPr lang="zh-CN" altLang="en-US" sz="2000" dirty="0">
                <a:latin typeface="Times New Roman" panose="02020603050405020304" pitchFamily="18" charset="0"/>
                <a:cs typeface="Times New Roman" panose="02020603050405020304" pitchFamily="18" charset="0"/>
                <a:sym typeface="+mn-ea"/>
              </a:rPr>
              <a:t>交换网</a:t>
            </a:r>
            <a:endParaRPr lang="zh-CN" altLang="en-US" sz="2000" dirty="0">
              <a:latin typeface="Times New Roman" panose="02020603050405020304" pitchFamily="18" charset="0"/>
              <a:cs typeface="Times New Roman" panose="02020603050405020304" pitchFamily="18" charset="0"/>
            </a:endParaRPr>
          </a:p>
          <a:p>
            <a:pPr marL="287655" lvl="1" indent="-635" defTabSz="914400" eaLnBrk="1" latinLnBrk="0" hangingPunct="1">
              <a:spcBef>
                <a:spcPts val="1200"/>
              </a:spcBef>
              <a:tabLst>
                <a:tab pos="1806575" algn="l"/>
              </a:tabLst>
            </a:pPr>
            <a:r>
              <a:rPr lang="zh-CN" altLang="en-US" sz="2000" dirty="0">
                <a:latin typeface="Times New Roman" panose="02020603050405020304" pitchFamily="18" charset="0"/>
                <a:cs typeface="Times New Roman" panose="02020603050405020304" pitchFamily="18" charset="0"/>
                <a:sym typeface="+mn-ea"/>
              </a:rPr>
              <a:t>采用部分级控制，构成</a:t>
            </a:r>
            <a:r>
              <a:rPr lang="en-US" altLang="zh-CN" sz="2000" dirty="0">
                <a:latin typeface="Times New Roman" panose="02020603050405020304" pitchFamily="18" charset="0"/>
                <a:cs typeface="Times New Roman" panose="02020603050405020304" pitchFamily="18" charset="0"/>
                <a:sym typeface="+mn-ea"/>
              </a:rPr>
              <a:t>STARAN</a:t>
            </a:r>
            <a:r>
              <a:rPr lang="zh-CN" altLang="en-US" sz="2000" dirty="0">
                <a:latin typeface="Times New Roman" panose="02020603050405020304" pitchFamily="18" charset="0"/>
                <a:cs typeface="Times New Roman" panose="02020603050405020304" pitchFamily="18" charset="0"/>
                <a:sym typeface="+mn-ea"/>
              </a:rPr>
              <a:t>移数网</a:t>
            </a:r>
            <a:endParaRPr lang="zh-CN" altLang="en-US" sz="2000" dirty="0">
              <a:latin typeface="Times New Roman" panose="02020603050405020304" pitchFamily="18" charset="0"/>
              <a:cs typeface="Times New Roman" panose="02020603050405020304" pitchFamily="18" charset="0"/>
            </a:endParaRPr>
          </a:p>
          <a:p>
            <a:pPr marL="287655" lvl="1" indent="-635" defTabSz="914400" eaLnBrk="1" latinLnBrk="0" hangingPunct="1">
              <a:spcBef>
                <a:spcPts val="1200"/>
              </a:spcBef>
              <a:tabLst>
                <a:tab pos="1806575" algn="l"/>
              </a:tabLst>
            </a:pPr>
            <a:r>
              <a:rPr lang="zh-CN" altLang="en-US" sz="2000" dirty="0">
                <a:latin typeface="Times New Roman" panose="02020603050405020304" pitchFamily="18" charset="0"/>
                <a:cs typeface="Times New Roman" panose="02020603050405020304" pitchFamily="18" charset="0"/>
                <a:sym typeface="+mn-ea"/>
              </a:rPr>
              <a:t>采用单元控制，   构成间接二进制</a:t>
            </a: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方体网</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3"/>
          <p:cNvSpPr>
            <a:spLocks noGrp="1"/>
          </p:cNvSpPr>
          <p:nvPr>
            <p:ph idx="1"/>
            <p:custDataLst>
              <p:tags r:id="rId1"/>
            </p:custDataLst>
          </p:nvPr>
        </p:nvSpPr>
        <p:spPr>
          <a:xfrm>
            <a:off x="558800" y="1127760"/>
            <a:ext cx="8396605" cy="4894580"/>
          </a:xfrm>
        </p:spPr>
        <p:txBody>
          <a:bodyPr vert="horz" wrap="square" lIns="91440" tIns="45720" rIns="91440" bIns="45720" anchor="t" anchorCtr="0"/>
          <a:p>
            <a:pPr eaLnBrk="1" hangingPunct="1"/>
            <a:endParaRPr lang="zh-CN" altLang="en-US" sz="2000" dirty="0">
              <a:latin typeface="Times New Roman" panose="02020603050405020304" pitchFamily="18" charset="0"/>
              <a:cs typeface="Times New Roman" panose="02020603050405020304" pitchFamily="18" charset="0"/>
              <a:sym typeface="+mn-ea"/>
            </a:endParaRPr>
          </a:p>
          <a:p>
            <a:pPr eaLnBrk="1" hangingPunct="1"/>
            <a:endParaRPr lang="zh-CN" altLang="en-US" sz="2000" dirty="0">
              <a:latin typeface="Times New Roman" panose="02020603050405020304" pitchFamily="18" charset="0"/>
              <a:cs typeface="Times New Roman" panose="02020603050405020304" pitchFamily="18" charset="0"/>
              <a:sym typeface="+mn-ea"/>
            </a:endParaRPr>
          </a:p>
          <a:p>
            <a:pPr eaLnBrk="1" hangingPunct="1"/>
            <a:endParaRPr lang="zh-CN" altLang="en-US" sz="2000" dirty="0">
              <a:latin typeface="Times New Roman" panose="02020603050405020304" pitchFamily="18" charset="0"/>
              <a:cs typeface="Times New Roman" panose="02020603050405020304" pitchFamily="18" charset="0"/>
              <a:sym typeface="+mn-ea"/>
            </a:endParaRPr>
          </a:p>
          <a:p>
            <a:pPr marL="0" indent="0" eaLnBrk="1" hangingPunct="1">
              <a:buNone/>
            </a:pPr>
            <a:r>
              <a:rPr lang="en-US" altLang="zh-CN" sz="2000" dirty="0">
                <a:latin typeface="Times New Roman" panose="02020603050405020304" pitchFamily="18" charset="0"/>
                <a:cs typeface="Times New Roman" panose="02020603050405020304" pitchFamily="18" charset="0"/>
              </a:rPr>
              <a:t> </a:t>
            </a:r>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buNone/>
            </a:pP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      I</a:t>
            </a: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B</a:t>
            </a:r>
            <a:r>
              <a:rPr lang="en-US" altLang="zh-CN" sz="2000" baseline="-25000" dirty="0">
                <a:latin typeface="Times New Roman" panose="02020603050405020304" pitchFamily="18" charset="0"/>
                <a:cs typeface="Times New Roman" panose="02020603050405020304" pitchFamily="18" charset="0"/>
                <a:sym typeface="+mn-ea"/>
              </a:rPr>
              <a:t>(2) 		       </a:t>
            </a:r>
            <a:r>
              <a:rPr lang="en-US" altLang="zh-CN" sz="2000" dirty="0">
                <a:latin typeface="Times New Roman" panose="02020603050405020304" pitchFamily="18" charset="0"/>
                <a:cs typeface="Times New Roman" panose="02020603050405020304" pitchFamily="18" charset="0"/>
                <a:sym typeface="+mn-ea"/>
              </a:rPr>
              <a:t>B</a:t>
            </a:r>
            <a:r>
              <a:rPr lang="en-US" altLang="zh-CN" sz="2000" baseline="-25000" dirty="0">
                <a:latin typeface="Times New Roman" panose="02020603050405020304" pitchFamily="18" charset="0"/>
                <a:cs typeface="Times New Roman" panose="02020603050405020304" pitchFamily="18" charset="0"/>
                <a:sym typeface="+mn-ea"/>
              </a:rPr>
              <a:t>(3) 		 </a:t>
            </a:r>
            <a:r>
              <a:rPr lang="en-US" altLang="zh-CN" sz="2000" dirty="0">
                <a:latin typeface="Times New Roman" panose="02020603050405020304" pitchFamily="18" charset="0"/>
                <a:cs typeface="Times New Roman" panose="02020603050405020304" pitchFamily="18" charset="0"/>
                <a:sym typeface="+mn-ea"/>
              </a:rPr>
              <a:t>S</a:t>
            </a:r>
            <a:r>
              <a:rPr lang="en-US" altLang="zh-CN" sz="2000" baseline="30000" dirty="0">
                <a:latin typeface="Times New Roman" panose="02020603050405020304" pitchFamily="18" charset="0"/>
                <a:cs typeface="Times New Roman" panose="02020603050405020304" pitchFamily="18" charset="0"/>
                <a:sym typeface="+mn-ea"/>
              </a:rPr>
              <a:t> -1</a:t>
            </a:r>
            <a:endParaRPr lang="en-US" altLang="zh-CN" sz="2000" baseline="30000" dirty="0">
              <a:latin typeface="Times New Roman" panose="02020603050405020304" pitchFamily="18" charset="0"/>
              <a:cs typeface="Times New Roman" panose="02020603050405020304" pitchFamily="18" charset="0"/>
            </a:endParaRPr>
          </a:p>
          <a:p>
            <a:pPr eaLnBrk="1" hangingPunct="1"/>
            <a:endParaRPr lang="en-US" altLang="zh-CN" sz="2000" dirty="0">
              <a:latin typeface="Times New Roman" panose="02020603050405020304" pitchFamily="18" charset="0"/>
              <a:cs typeface="Times New Roman" panose="02020603050405020304" pitchFamily="18" charset="0"/>
            </a:endParaRPr>
          </a:p>
          <a:p>
            <a:pPr eaLnBrk="1" hangingPunct="1"/>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1547495" y="1988820"/>
            <a:ext cx="5736590" cy="3928110"/>
          </a:xfrm>
          <a:prstGeom prst="rect">
            <a:avLst/>
          </a:prstGeom>
        </p:spPr>
      </p:pic>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多级立方体网</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16=2^4结点多级立方体网</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6" name="图片 5"/>
          <p:cNvPicPr>
            <a:picLocks noChangeAspect="1"/>
          </p:cNvPicPr>
          <p:nvPr>
            <p:custDataLst>
              <p:tags r:id="rId1"/>
            </p:custDataLst>
          </p:nvPr>
        </p:nvPicPr>
        <p:blipFill>
          <a:blip r:embed="rId2"/>
          <a:stretch>
            <a:fillRect/>
          </a:stretch>
        </p:blipFill>
        <p:spPr>
          <a:xfrm>
            <a:off x="683260" y="1124585"/>
            <a:ext cx="7600950" cy="4754245"/>
          </a:xfrm>
          <a:prstGeom prst="rect">
            <a:avLst/>
          </a:prstGeom>
        </p:spPr>
      </p:pic>
      <p:sp>
        <p:nvSpPr>
          <p:cNvPr id="7" name="文本框 6"/>
          <p:cNvSpPr txBox="1"/>
          <p:nvPr/>
        </p:nvSpPr>
        <p:spPr>
          <a:xfrm>
            <a:off x="1907540" y="5878830"/>
            <a:ext cx="6981190" cy="368300"/>
          </a:xfrm>
          <a:prstGeom prst="rect">
            <a:avLst/>
          </a:prstGeom>
          <a:noFill/>
        </p:spPr>
        <p:txBody>
          <a:bodyPr wrap="square" rtlCol="0" anchor="t">
            <a:spAutoFit/>
          </a:bodyPr>
          <a:p>
            <a:r>
              <a:rPr lang="zh-CN" altLang="en-US">
                <a:solidFill>
                  <a:schemeClr val="tx2"/>
                </a:solidFill>
              </a:rPr>
              <a:t>B(2)		B(3)		B(4)		S -1</a:t>
            </a:r>
            <a:endParaRPr lang="zh-CN" altLang="en-US">
              <a:solidFill>
                <a:schemeClr val="tx2"/>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STARAN</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网</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络</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331595"/>
            <a:ext cx="8396605" cy="4834255"/>
          </a:xfrm>
        </p:spPr>
        <p:txBody>
          <a:bodyPr vert="horz" wrap="square" lIns="91440" tIns="45720" rIns="91440" bIns="45720" anchor="t" anchorCtr="0"/>
          <a:p>
            <a:pPr eaLnBrk="1" latinLnBrk="0" hangingPunct="1">
              <a:spcBef>
                <a:spcPts val="1200"/>
              </a:spcBef>
            </a:pPr>
            <a:r>
              <a:rPr lang="zh-CN" altLang="en-US" sz="2000">
                <a:latin typeface="Times New Roman" panose="02020603050405020304" pitchFamily="18" charset="0"/>
                <a:cs typeface="Times New Roman" panose="02020603050405020304" pitchFamily="18" charset="0"/>
              </a:rPr>
              <a:t>若</a:t>
            </a:r>
            <a:r>
              <a:rPr lang="en-US" altLang="zh-CN" sz="2000">
                <a:latin typeface="Times New Roman" panose="02020603050405020304" pitchFamily="18" charset="0"/>
                <a:cs typeface="Times New Roman" panose="02020603050405020304" pitchFamily="18" charset="0"/>
              </a:rPr>
              <a:t>STARAN</a:t>
            </a:r>
            <a:r>
              <a:rPr lang="zh-CN" altLang="en-US" sz="2000">
                <a:latin typeface="Times New Roman" panose="02020603050405020304" pitchFamily="18" charset="0"/>
                <a:cs typeface="Times New Roman" panose="02020603050405020304" pitchFamily="18" charset="0"/>
              </a:rPr>
              <a:t>网络的输入端或输出端数为</a:t>
            </a:r>
            <a:r>
              <a:rPr lang="en-US" altLang="zh-CN" sz="2000">
                <a:latin typeface="Times New Roman" panose="02020603050405020304" pitchFamily="18" charset="0"/>
                <a:cs typeface="Times New Roman" panose="02020603050405020304" pitchFamily="18" charset="0"/>
              </a:rPr>
              <a:t>N</a:t>
            </a:r>
            <a:r>
              <a:rPr lang="zh-CN" altLang="en-US" sz="2000">
                <a:latin typeface="Times New Roman" panose="02020603050405020304" pitchFamily="18" charset="0"/>
                <a:cs typeface="Times New Roman" panose="02020603050405020304" pitchFamily="18" charset="0"/>
              </a:rPr>
              <a:t>，则</a:t>
            </a:r>
            <a:r>
              <a:rPr lang="en-US" altLang="zh-CN" sz="2000">
                <a:latin typeface="Times New Roman" panose="02020603050405020304" pitchFamily="18" charset="0"/>
                <a:cs typeface="Times New Roman" panose="02020603050405020304" pitchFamily="18" charset="0"/>
              </a:rPr>
              <a:t>STARAN</a:t>
            </a:r>
            <a:r>
              <a:rPr lang="zh-CN" altLang="en-US" sz="2000">
                <a:latin typeface="Times New Roman" panose="02020603050405020304" pitchFamily="18" charset="0"/>
                <a:cs typeface="Times New Roman" panose="02020603050405020304" pitchFamily="18" charset="0"/>
              </a:rPr>
              <a:t>网络的</a:t>
            </a:r>
            <a:r>
              <a:rPr lang="zh-CN" altLang="en-US" sz="2000">
                <a:solidFill>
                  <a:srgbClr val="FF0000"/>
                </a:solidFill>
                <a:latin typeface="Times New Roman" panose="02020603050405020304" pitchFamily="18" charset="0"/>
                <a:cs typeface="Times New Roman" panose="02020603050405020304" pitchFamily="18" charset="0"/>
              </a:rPr>
              <a:t>交叉开关级数为</a:t>
            </a:r>
            <a:r>
              <a:rPr lang="en-US" altLang="zh-CN" sz="2000">
                <a:solidFill>
                  <a:srgbClr val="FF0000"/>
                </a:solidFill>
                <a:latin typeface="Times New Roman" panose="02020603050405020304" pitchFamily="18" charset="0"/>
                <a:cs typeface="Times New Roman" panose="02020603050405020304" pitchFamily="18" charset="0"/>
              </a:rPr>
              <a:t>n=log</a:t>
            </a:r>
            <a:r>
              <a:rPr lang="en-US" altLang="zh-CN" sz="2000" baseline="-25000">
                <a:solidFill>
                  <a:srgbClr val="FF0000"/>
                </a:solidFill>
                <a:latin typeface="Times New Roman" panose="02020603050405020304" pitchFamily="18" charset="0"/>
                <a:cs typeface="Times New Roman" panose="02020603050405020304" pitchFamily="18" charset="0"/>
              </a:rPr>
              <a:t>2</a:t>
            </a:r>
            <a:r>
              <a:rPr lang="en-US" altLang="zh-CN" sz="2000">
                <a:solidFill>
                  <a:srgbClr val="FF0000"/>
                </a:solidFill>
                <a:latin typeface="Times New Roman" panose="02020603050405020304" pitchFamily="18" charset="0"/>
                <a:cs typeface="Times New Roman" panose="02020603050405020304" pitchFamily="18" charset="0"/>
              </a:rPr>
              <a:t>N</a:t>
            </a:r>
            <a:r>
              <a:rPr lang="zh-CN" altLang="en-US" sz="2000">
                <a:latin typeface="Times New Roman" panose="02020603050405020304" pitchFamily="18" charset="0"/>
                <a:cs typeface="Times New Roman" panose="02020603050405020304" pitchFamily="18" charset="0"/>
              </a:rPr>
              <a:t>；每级有</a:t>
            </a:r>
            <a:r>
              <a:rPr lang="en-US" altLang="zh-CN" sz="2000">
                <a:latin typeface="Times New Roman" panose="02020603050405020304" pitchFamily="18" charset="0"/>
                <a:cs typeface="Times New Roman" panose="02020603050405020304" pitchFamily="18" charset="0"/>
              </a:rPr>
              <a:t> N/2 </a:t>
            </a:r>
            <a:r>
              <a:rPr lang="zh-CN" altLang="en-US" sz="2000">
                <a:latin typeface="Times New Roman" panose="02020603050405020304" pitchFamily="18" charset="0"/>
                <a:cs typeface="Times New Roman" panose="02020603050405020304" pitchFamily="18" charset="0"/>
              </a:rPr>
              <a:t>个交叉开关，故</a:t>
            </a:r>
            <a:r>
              <a:rPr lang="en-US" altLang="zh-CN" sz="2000">
                <a:latin typeface="Times New Roman" panose="02020603050405020304" pitchFamily="18" charset="0"/>
                <a:cs typeface="Times New Roman" panose="02020603050405020304" pitchFamily="18" charset="0"/>
              </a:rPr>
              <a:t> STARAN </a:t>
            </a:r>
            <a:r>
              <a:rPr lang="zh-CN" altLang="en-US" sz="2000">
                <a:latin typeface="Times New Roman" panose="02020603050405020304" pitchFamily="18" charset="0"/>
                <a:cs typeface="Times New Roman" panose="02020603050405020304" pitchFamily="18" charset="0"/>
              </a:rPr>
              <a:t>网络的</a:t>
            </a:r>
            <a:r>
              <a:rPr lang="zh-CN" altLang="en-US" sz="2000">
                <a:solidFill>
                  <a:srgbClr val="FF0000"/>
                </a:solidFill>
                <a:latin typeface="Times New Roman" panose="02020603050405020304" pitchFamily="18" charset="0"/>
                <a:cs typeface="Times New Roman" panose="02020603050405020304" pitchFamily="18" charset="0"/>
              </a:rPr>
              <a:t>交叉开关数为</a:t>
            </a:r>
            <a:r>
              <a:rPr lang="en-US" altLang="zh-CN" sz="2000">
                <a:solidFill>
                  <a:srgbClr val="FF0000"/>
                </a:solidFill>
                <a:latin typeface="Times New Roman" panose="02020603050405020304" pitchFamily="18" charset="0"/>
                <a:cs typeface="Times New Roman" panose="02020603050405020304" pitchFamily="18" charset="0"/>
              </a:rPr>
              <a:t>(N/2)1og</a:t>
            </a:r>
            <a:r>
              <a:rPr lang="en-US" altLang="zh-CN" sz="2000" baseline="-25000">
                <a:solidFill>
                  <a:srgbClr val="FF0000"/>
                </a:solidFill>
                <a:latin typeface="Times New Roman" panose="02020603050405020304" pitchFamily="18" charset="0"/>
                <a:cs typeface="Times New Roman" panose="02020603050405020304" pitchFamily="18" charset="0"/>
                <a:sym typeface="+mn-ea"/>
              </a:rPr>
              <a:t>2</a:t>
            </a:r>
            <a:r>
              <a:rPr lang="en-US" altLang="zh-CN" sz="2000">
                <a:solidFill>
                  <a:srgbClr val="FF0000"/>
                </a:solidFill>
                <a:latin typeface="Times New Roman" panose="02020603050405020304" pitchFamily="18" charset="0"/>
                <a:cs typeface="Times New Roman" panose="02020603050405020304" pitchFamily="18" charset="0"/>
              </a:rPr>
              <a:t>N</a:t>
            </a:r>
            <a:r>
              <a:rPr lang="zh-CN" altLang="en-US" sz="2000">
                <a:latin typeface="Times New Roman" panose="02020603050405020304" pitchFamily="18" charset="0"/>
                <a:cs typeface="Times New Roman" panose="02020603050405020304" pitchFamily="18" charset="0"/>
              </a:rPr>
              <a:t>。</a:t>
            </a:r>
            <a:endParaRPr lang="zh-CN" altLang="en-US" sz="2000">
              <a:latin typeface="Times New Roman" panose="02020603050405020304" pitchFamily="18" charset="0"/>
              <a:cs typeface="Times New Roman" panose="02020603050405020304" pitchFamily="18" charset="0"/>
            </a:endParaRPr>
          </a:p>
          <a:p>
            <a:pPr eaLnBrk="1" latinLnBrk="0" hangingPunct="1">
              <a:spcBef>
                <a:spcPts val="1200"/>
              </a:spcBef>
            </a:pPr>
            <a:r>
              <a:rPr lang="en-US" altLang="zh-CN" sz="2000">
                <a:latin typeface="Times New Roman" panose="02020603050405020304" pitchFamily="18" charset="0"/>
                <a:cs typeface="Times New Roman" panose="02020603050405020304" pitchFamily="18" charset="0"/>
              </a:rPr>
              <a:t>STARAN </a:t>
            </a:r>
            <a:r>
              <a:rPr lang="zh-CN" altLang="en-US" sz="2000">
                <a:latin typeface="Times New Roman" panose="02020603050405020304" pitchFamily="18" charset="0"/>
                <a:cs typeface="Times New Roman" panose="02020603050405020304" pitchFamily="18" charset="0"/>
              </a:rPr>
              <a:t>网络的结构特点是</a:t>
            </a:r>
            <a:r>
              <a:rPr lang="en-US" altLang="zh-CN" sz="2000">
                <a:latin typeface="Times New Roman" panose="02020603050405020304" pitchFamily="18" charset="0"/>
                <a:cs typeface="Times New Roman" panose="02020603050405020304" pitchFamily="18" charset="0"/>
              </a:rPr>
              <a:t>:</a:t>
            </a:r>
            <a:endParaRPr lang="en-US" altLang="zh-CN" sz="200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1800">
                <a:latin typeface="Times New Roman" panose="02020603050405020304" pitchFamily="18" charset="0"/>
                <a:cs typeface="Times New Roman" panose="02020603050405020304" pitchFamily="18" charset="0"/>
              </a:rPr>
              <a:t>(1)</a:t>
            </a:r>
            <a:r>
              <a:rPr lang="zh-CN" altLang="en-US" sz="1800">
                <a:latin typeface="Times New Roman" panose="02020603050405020304" pitchFamily="18" charset="0"/>
                <a:cs typeface="Times New Roman" panose="02020603050405020304" pitchFamily="18" charset="0"/>
              </a:rPr>
              <a:t>采用</a:t>
            </a:r>
            <a:r>
              <a:rPr lang="en-US" altLang="zh-CN" sz="1800">
                <a:latin typeface="Times New Roman" panose="02020603050405020304" pitchFamily="18" charset="0"/>
                <a:cs typeface="Times New Roman" panose="02020603050405020304" pitchFamily="18" charset="0"/>
              </a:rPr>
              <a:t>2*2</a:t>
            </a:r>
            <a:r>
              <a:rPr lang="zh-CN" altLang="en-US" sz="1800">
                <a:latin typeface="Times New Roman" panose="02020603050405020304" pitchFamily="18" charset="0"/>
                <a:cs typeface="Times New Roman" panose="02020603050405020304" pitchFamily="18" charset="0"/>
              </a:rPr>
              <a:t>的</a:t>
            </a:r>
            <a:r>
              <a:rPr lang="en-US" altLang="zh-CN" sz="1800">
                <a:latin typeface="Times New Roman" panose="02020603050405020304" pitchFamily="18" charset="0"/>
                <a:cs typeface="Times New Roman" panose="02020603050405020304" pitchFamily="18" charset="0"/>
              </a:rPr>
              <a:t>2</a:t>
            </a:r>
            <a:r>
              <a:rPr lang="zh-CN" altLang="en-US" sz="1800">
                <a:latin typeface="Times New Roman" panose="02020603050405020304" pitchFamily="18" charset="0"/>
                <a:cs typeface="Times New Roman" panose="02020603050405020304" pitchFamily="18" charset="0"/>
              </a:rPr>
              <a:t>功能交叉开关，两个功能为直送和交叉。</a:t>
            </a:r>
            <a:endParaRPr lang="zh-CN" altLang="en-US" sz="180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1800">
                <a:latin typeface="Times New Roman" panose="02020603050405020304" pitchFamily="18" charset="0"/>
                <a:cs typeface="Times New Roman" panose="02020603050405020304" pitchFamily="18" charset="0"/>
              </a:rPr>
              <a:t>(2)</a:t>
            </a:r>
            <a:r>
              <a:rPr lang="zh-CN" altLang="en-US" sz="1800">
                <a:latin typeface="Times New Roman" panose="02020603050405020304" pitchFamily="18" charset="0"/>
                <a:cs typeface="Times New Roman" panose="02020603050405020304" pitchFamily="18" charset="0"/>
              </a:rPr>
              <a:t>各级交叉开关的级号编排从网络的输入端到输出端，依次为</a:t>
            </a:r>
            <a:r>
              <a:rPr lang="en-US" altLang="zh-CN" sz="1800">
                <a:latin typeface="Times New Roman" panose="02020603050405020304" pitchFamily="18" charset="0"/>
                <a:cs typeface="Times New Roman" panose="02020603050405020304" pitchFamily="18" charset="0"/>
              </a:rPr>
              <a:t>K</a:t>
            </a:r>
            <a:r>
              <a:rPr lang="en-US" altLang="zh-CN" sz="1800" baseline="-25000">
                <a:latin typeface="Times New Roman" panose="02020603050405020304" pitchFamily="18" charset="0"/>
                <a:cs typeface="Times New Roman" panose="02020603050405020304" pitchFamily="18" charset="0"/>
              </a:rPr>
              <a:t>0</a:t>
            </a:r>
            <a:r>
              <a:rPr lang="zh-CN" altLang="en-US" sz="1800">
                <a:latin typeface="Times New Roman" panose="02020603050405020304" pitchFamily="18" charset="0"/>
                <a:cs typeface="Times New Roman" panose="02020603050405020304" pitchFamily="18" charset="0"/>
              </a:rPr>
              <a:t>、</a:t>
            </a:r>
            <a:r>
              <a:rPr lang="en-US" altLang="zh-CN" sz="1800">
                <a:latin typeface="Times New Roman" panose="02020603050405020304" pitchFamily="18" charset="0"/>
                <a:cs typeface="Times New Roman" panose="02020603050405020304" pitchFamily="18" charset="0"/>
              </a:rPr>
              <a:t>K</a:t>
            </a:r>
            <a:r>
              <a:rPr lang="en-US" altLang="zh-CN" sz="1800" baseline="-25000">
                <a:latin typeface="Times New Roman" panose="02020603050405020304" pitchFamily="18" charset="0"/>
                <a:cs typeface="Times New Roman" panose="02020603050405020304" pitchFamily="18" charset="0"/>
              </a:rPr>
              <a:t>1</a:t>
            </a:r>
            <a:r>
              <a:rPr lang="zh-CN" altLang="en-US" sz="1800">
                <a:latin typeface="Times New Roman" panose="02020603050405020304" pitchFamily="18" charset="0"/>
                <a:cs typeface="Times New Roman" panose="02020603050405020304" pitchFamily="18" charset="0"/>
              </a:rPr>
              <a:t>、</a:t>
            </a:r>
            <a:r>
              <a:rPr lang="en-US" altLang="zh-CN" sz="1800">
                <a:latin typeface="Times New Roman" panose="02020603050405020304" pitchFamily="18" charset="0"/>
                <a:cs typeface="Times New Roman" panose="02020603050405020304" pitchFamily="18" charset="0"/>
              </a:rPr>
              <a:t>…</a:t>
            </a:r>
            <a:r>
              <a:rPr lang="zh-CN" altLang="en-US" sz="1800">
                <a:latin typeface="Times New Roman" panose="02020603050405020304" pitchFamily="18" charset="0"/>
                <a:cs typeface="Times New Roman" panose="02020603050405020304" pitchFamily="18" charset="0"/>
              </a:rPr>
              <a:t>、</a:t>
            </a:r>
            <a:r>
              <a:rPr lang="en-US" altLang="zh-CN" sz="1800">
                <a:latin typeface="Times New Roman" panose="02020603050405020304" pitchFamily="18" charset="0"/>
                <a:cs typeface="Times New Roman" panose="02020603050405020304" pitchFamily="18" charset="0"/>
              </a:rPr>
              <a:t>K</a:t>
            </a:r>
            <a:r>
              <a:rPr lang="en-US" altLang="zh-CN" sz="1800" baseline="-25000">
                <a:latin typeface="Times New Roman" panose="02020603050405020304" pitchFamily="18" charset="0"/>
                <a:cs typeface="Times New Roman" panose="02020603050405020304" pitchFamily="18" charset="0"/>
              </a:rPr>
              <a:t>n-1</a:t>
            </a:r>
            <a:r>
              <a:rPr lang="zh-CN" altLang="en-US" sz="1800">
                <a:latin typeface="Times New Roman" panose="02020603050405020304" pitchFamily="18" charset="0"/>
                <a:cs typeface="Times New Roman" panose="02020603050405020304" pitchFamily="18" charset="0"/>
              </a:rPr>
              <a:t>。</a:t>
            </a:r>
            <a:endParaRPr lang="zh-CN" altLang="en-US" sz="180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1800">
                <a:latin typeface="Times New Roman" panose="02020603050405020304" pitchFamily="18" charset="0"/>
                <a:cs typeface="Times New Roman" panose="02020603050405020304" pitchFamily="18" charset="0"/>
              </a:rPr>
              <a:t>(3)</a:t>
            </a:r>
            <a:r>
              <a:rPr lang="zh-CN" altLang="en-US" sz="1800">
                <a:latin typeface="Times New Roman" panose="02020603050405020304" pitchFamily="18" charset="0"/>
                <a:cs typeface="Times New Roman" panose="02020603050405020304" pitchFamily="18" charset="0"/>
              </a:rPr>
              <a:t>级间连接模式从网络输入端到输出端依次表示为</a:t>
            </a:r>
            <a:r>
              <a:rPr lang="en-US" altLang="zh-CN" sz="1800">
                <a:latin typeface="Times New Roman" panose="02020603050405020304" pitchFamily="18" charset="0"/>
                <a:cs typeface="Times New Roman" panose="02020603050405020304" pitchFamily="18" charset="0"/>
              </a:rPr>
              <a:t> C</a:t>
            </a:r>
            <a:r>
              <a:rPr lang="en-US" altLang="zh-CN" sz="1800" baseline="-25000">
                <a:latin typeface="Times New Roman" panose="02020603050405020304" pitchFamily="18" charset="0"/>
                <a:cs typeface="Times New Roman" panose="02020603050405020304" pitchFamily="18" charset="0"/>
              </a:rPr>
              <a:t>0</a:t>
            </a:r>
            <a:r>
              <a:rPr lang="zh-CN" altLang="en-US" sz="1800">
                <a:latin typeface="Times New Roman" panose="02020603050405020304" pitchFamily="18" charset="0"/>
                <a:cs typeface="Times New Roman" panose="02020603050405020304" pitchFamily="18" charset="0"/>
              </a:rPr>
              <a:t>、</a:t>
            </a:r>
            <a:r>
              <a:rPr lang="en-US" altLang="zh-CN" sz="1800">
                <a:latin typeface="Times New Roman" panose="02020603050405020304" pitchFamily="18" charset="0"/>
                <a:cs typeface="Times New Roman" panose="02020603050405020304" pitchFamily="18" charset="0"/>
              </a:rPr>
              <a:t>C</a:t>
            </a:r>
            <a:r>
              <a:rPr lang="en-US" altLang="zh-CN" sz="1800" baseline="-25000">
                <a:latin typeface="Times New Roman" panose="02020603050405020304" pitchFamily="18" charset="0"/>
                <a:cs typeface="Times New Roman" panose="02020603050405020304" pitchFamily="18" charset="0"/>
              </a:rPr>
              <a:t>1</a:t>
            </a:r>
            <a:r>
              <a:rPr lang="zh-CN" altLang="en-US" sz="1800">
                <a:latin typeface="Times New Roman" panose="02020603050405020304" pitchFamily="18" charset="0"/>
                <a:cs typeface="Times New Roman" panose="02020603050405020304" pitchFamily="18" charset="0"/>
              </a:rPr>
              <a:t>、</a:t>
            </a:r>
            <a:r>
              <a:rPr lang="en-US" altLang="zh-CN" sz="1800">
                <a:latin typeface="Times New Roman" panose="02020603050405020304" pitchFamily="18" charset="0"/>
                <a:cs typeface="Times New Roman" panose="02020603050405020304" pitchFamily="18" charset="0"/>
              </a:rPr>
              <a:t>…</a:t>
            </a:r>
            <a:r>
              <a:rPr lang="zh-CN" altLang="en-US" sz="1800">
                <a:latin typeface="Times New Roman" panose="02020603050405020304" pitchFamily="18" charset="0"/>
                <a:cs typeface="Times New Roman" panose="02020603050405020304" pitchFamily="18" charset="0"/>
              </a:rPr>
              <a:t>、</a:t>
            </a:r>
            <a:r>
              <a:rPr lang="en-US" altLang="zh-CN" sz="1800">
                <a:latin typeface="Times New Roman" panose="02020603050405020304" pitchFamily="18" charset="0"/>
                <a:cs typeface="Times New Roman" panose="02020603050405020304" pitchFamily="18" charset="0"/>
              </a:rPr>
              <a:t>C</a:t>
            </a:r>
            <a:r>
              <a:rPr lang="en-US" altLang="zh-CN" sz="1800" baseline="-25000">
                <a:latin typeface="Times New Roman" panose="02020603050405020304" pitchFamily="18" charset="0"/>
                <a:cs typeface="Times New Roman" panose="02020603050405020304" pitchFamily="18" charset="0"/>
              </a:rPr>
              <a:t>n</a:t>
            </a:r>
            <a:r>
              <a:rPr lang="zh-CN" altLang="en-US" sz="1800">
                <a:latin typeface="Times New Roman" panose="02020603050405020304" pitchFamily="18" charset="0"/>
                <a:cs typeface="Times New Roman" panose="02020603050405020304" pitchFamily="18" charset="0"/>
              </a:rPr>
              <a:t>，其中，</a:t>
            </a:r>
            <a:r>
              <a:rPr lang="en-US" altLang="zh-CN" sz="1800">
                <a:latin typeface="Times New Roman" panose="02020603050405020304" pitchFamily="18" charset="0"/>
                <a:cs typeface="Times New Roman" panose="02020603050405020304" pitchFamily="18" charset="0"/>
              </a:rPr>
              <a:t>C</a:t>
            </a:r>
            <a:r>
              <a:rPr lang="en-US" altLang="zh-CN" sz="1800" baseline="-25000">
                <a:latin typeface="Times New Roman" panose="02020603050405020304" pitchFamily="18" charset="0"/>
                <a:cs typeface="Times New Roman" panose="02020603050405020304" pitchFamily="18" charset="0"/>
                <a:sym typeface="+mn-ea"/>
              </a:rPr>
              <a:t>0</a:t>
            </a:r>
            <a:r>
              <a:rPr lang="zh-CN" altLang="en-US" sz="1800">
                <a:latin typeface="Times New Roman" panose="02020603050405020304" pitchFamily="18" charset="0"/>
                <a:cs typeface="Times New Roman" panose="02020603050405020304" pitchFamily="18" charset="0"/>
              </a:rPr>
              <a:t>是恒等置换，</a:t>
            </a:r>
            <a:r>
              <a:rPr lang="en-US" altLang="zh-CN" sz="1800">
                <a:latin typeface="Times New Roman" panose="02020603050405020304" pitchFamily="18" charset="0"/>
                <a:cs typeface="Times New Roman" panose="02020603050405020304" pitchFamily="18" charset="0"/>
              </a:rPr>
              <a:t>C</a:t>
            </a:r>
            <a:r>
              <a:rPr lang="en-US" altLang="zh-CN" sz="1800" baseline="-25000">
                <a:latin typeface="Times New Roman" panose="02020603050405020304" pitchFamily="18" charset="0"/>
                <a:cs typeface="Times New Roman" panose="02020603050405020304" pitchFamily="18" charset="0"/>
                <a:sym typeface="+mn-ea"/>
              </a:rPr>
              <a:t>1</a:t>
            </a:r>
            <a:r>
              <a:rPr lang="en-US" altLang="zh-CN" sz="1800">
                <a:latin typeface="Times New Roman" panose="02020603050405020304" pitchFamily="18" charset="0"/>
                <a:cs typeface="Times New Roman" panose="02020603050405020304" pitchFamily="18" charset="0"/>
              </a:rPr>
              <a:t>~C</a:t>
            </a:r>
            <a:r>
              <a:rPr lang="en-US" altLang="zh-CN" sz="1800" baseline="-25000">
                <a:latin typeface="Times New Roman" panose="02020603050405020304" pitchFamily="18" charset="0"/>
                <a:cs typeface="Times New Roman" panose="02020603050405020304" pitchFamily="18" charset="0"/>
                <a:sym typeface="+mn-ea"/>
              </a:rPr>
              <a:t>n</a:t>
            </a:r>
            <a:r>
              <a:rPr lang="zh-CN" altLang="en-US" sz="1800">
                <a:latin typeface="Times New Roman" panose="02020603050405020304" pitchFamily="18" charset="0"/>
                <a:cs typeface="Times New Roman" panose="02020603050405020304" pitchFamily="18" charset="0"/>
              </a:rPr>
              <a:t>都是逆洗牌置换。</a:t>
            </a:r>
            <a:endParaRPr lang="zh-CN" altLang="en-US" sz="1800">
              <a:latin typeface="Times New Roman" panose="02020603050405020304" pitchFamily="18" charset="0"/>
              <a:cs typeface="Times New Roman" panose="02020603050405020304" pitchFamily="18" charset="0"/>
            </a:endParaRPr>
          </a:p>
          <a:p>
            <a:pPr lvl="0" algn="l" eaLnBrk="1" latinLnBrk="0" hangingPunct="1">
              <a:spcBef>
                <a:spcPts val="1200"/>
              </a:spcBef>
              <a:buSzTx/>
            </a:pPr>
            <a:r>
              <a:rPr lang="en-US" altLang="zh-CN" sz="2000">
                <a:latin typeface="Times New Roman" panose="02020603050405020304" pitchFamily="18" charset="0"/>
                <a:cs typeface="Times New Roman" panose="02020603050405020304" pitchFamily="18" charset="0"/>
              </a:rPr>
              <a:t>STARAN 网络的交叉开关控制方式有两种:</a:t>
            </a:r>
            <a:endParaRPr lang="en-US" altLang="zh-CN" sz="2000">
              <a:latin typeface="Times New Roman" panose="02020603050405020304" pitchFamily="18" charset="0"/>
              <a:cs typeface="Times New Roman" panose="02020603050405020304" pitchFamily="18" charset="0"/>
            </a:endParaRPr>
          </a:p>
          <a:p>
            <a:pPr lvl="1" algn="l" eaLnBrk="1" latinLnBrk="0" hangingPunct="1">
              <a:spcBef>
                <a:spcPts val="1200"/>
              </a:spcBef>
              <a:buSzTx/>
            </a:pPr>
            <a:r>
              <a:rPr lang="en-US" altLang="zh-CN" sz="2000">
                <a:latin typeface="Times New Roman" panose="02020603050405020304" pitchFamily="18" charset="0"/>
                <a:cs typeface="Times New Roman" panose="02020603050405020304" pitchFamily="18" charset="0"/>
              </a:rPr>
              <a:t>级控制，可实现方体置换，又被称为方体网络;</a:t>
            </a:r>
            <a:endParaRPr lang="en-US" altLang="zh-CN" sz="2000">
              <a:latin typeface="Times New Roman" panose="02020603050405020304" pitchFamily="18" charset="0"/>
              <a:cs typeface="Times New Roman" panose="02020603050405020304" pitchFamily="18" charset="0"/>
            </a:endParaRPr>
          </a:p>
          <a:p>
            <a:pPr lvl="1" algn="l" eaLnBrk="1" latinLnBrk="0" hangingPunct="1">
              <a:spcBef>
                <a:spcPts val="1200"/>
              </a:spcBef>
              <a:buSzTx/>
            </a:pPr>
            <a:r>
              <a:rPr lang="en-US" altLang="zh-CN" sz="2000">
                <a:latin typeface="Times New Roman" panose="02020603050405020304" pitchFamily="18" charset="0"/>
                <a:cs typeface="Times New Roman" panose="02020603050405020304" pitchFamily="18" charset="0"/>
              </a:rPr>
              <a:t>组控制</a:t>
            </a:r>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可实现移数置换</a:t>
            </a:r>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又被称为移数网络。</a:t>
            </a:r>
            <a:endParaRPr lang="en-US" altLang="zh-CN"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STARAN</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网络</a:t>
            </a:r>
            <a:endParaRPr lang="zh-CN" altLang="en-US"/>
          </a:p>
        </p:txBody>
      </p:sp>
      <p:pic>
        <p:nvPicPr>
          <p:cNvPr id="5" name="图片 4"/>
          <p:cNvPicPr>
            <a:picLocks noChangeAspect="1"/>
          </p:cNvPicPr>
          <p:nvPr/>
        </p:nvPicPr>
        <p:blipFill>
          <a:blip r:embed="rId1"/>
          <a:stretch>
            <a:fillRect/>
          </a:stretch>
        </p:blipFill>
        <p:spPr>
          <a:xfrm>
            <a:off x="827405" y="1917065"/>
            <a:ext cx="7136765" cy="35306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级控：方体</a:t>
            </a:r>
            <a:r>
              <a:rPr lang="zh-CN" altLang="en-US"/>
              <a:t>置换</a:t>
            </a:r>
            <a:endParaRPr lang="zh-CN" altLang="en-US"/>
          </a:p>
        </p:txBody>
      </p:sp>
      <p:pic>
        <p:nvPicPr>
          <p:cNvPr id="4" name="图片 3"/>
          <p:cNvPicPr>
            <a:picLocks noChangeAspect="1"/>
          </p:cNvPicPr>
          <p:nvPr/>
        </p:nvPicPr>
        <p:blipFill>
          <a:blip r:embed="rId1"/>
          <a:stretch>
            <a:fillRect/>
          </a:stretch>
        </p:blipFill>
        <p:spPr>
          <a:xfrm>
            <a:off x="539750" y="2708910"/>
            <a:ext cx="4833620" cy="2676525"/>
          </a:xfrm>
          <a:prstGeom prst="rect">
            <a:avLst/>
          </a:prstGeom>
        </p:spPr>
      </p:pic>
      <p:pic>
        <p:nvPicPr>
          <p:cNvPr id="5" name="图片 4"/>
          <p:cNvPicPr>
            <a:picLocks noChangeAspect="1"/>
          </p:cNvPicPr>
          <p:nvPr/>
        </p:nvPicPr>
        <p:blipFill>
          <a:blip r:embed="rId2"/>
          <a:stretch>
            <a:fillRect/>
          </a:stretch>
        </p:blipFill>
        <p:spPr>
          <a:xfrm>
            <a:off x="5473065" y="2708910"/>
            <a:ext cx="3364865" cy="2676525"/>
          </a:xfrm>
          <a:prstGeom prst="rect">
            <a:avLst/>
          </a:prstGeom>
        </p:spPr>
      </p:pic>
      <p:sp>
        <p:nvSpPr>
          <p:cNvPr id="6" name="矩形 5"/>
          <p:cNvSpPr/>
          <p:nvPr/>
        </p:nvSpPr>
        <p:spPr>
          <a:xfrm>
            <a:off x="395605" y="1484630"/>
            <a:ext cx="8199120" cy="2202180"/>
          </a:xfrm>
          <a:prstGeom prst="rect">
            <a:avLst/>
          </a:prstGeom>
        </p:spPr>
        <p:txBody>
          <a:bodyPr vert="horz" wrap="square" lIns="91440" tIns="45720" rIns="91440" bIns="45720" rtlCol="0" anchor="t" anchorCtr="0">
            <a:normAutofit lnSpcReduction="20000"/>
          </a:bodyPr>
          <a:p>
            <a:pPr marL="342900" lvl="0" indent="-342900" algn="l" eaLnBrk="1" hangingPunct="1">
              <a:spcBef>
                <a:spcPts val="1200"/>
              </a:spcBef>
              <a:buClr>
                <a:schemeClr val="hlink"/>
              </a:buClr>
              <a:buSzTx/>
              <a:buFont typeface="Wingdings" panose="05000000000000000000" pitchFamily="2" charset="2"/>
              <a:buChar char="v"/>
            </a:pP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在级控制方式下，含有</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n</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级的</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 STARAN </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网络需要的二进制控制信号向量</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F</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为</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n</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位，可取</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N=2</a:t>
            </a:r>
            <a:r>
              <a:rPr lang="en-US" altLang="zh-CN" sz="2000" b="1" kern="0" baseline="30000">
                <a:solidFill>
                  <a:schemeClr val="hlink"/>
                </a:solidFill>
                <a:latin typeface="Times New Roman" panose="02020603050405020304" pitchFamily="18" charset="0"/>
                <a:ea typeface="+mn-ea"/>
                <a:cs typeface="Times New Roman" panose="02020603050405020304" pitchFamily="18" charset="0"/>
                <a:sym typeface="+mn-ea"/>
              </a:rPr>
              <a:t>n</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个不同组合值，从而可使</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 N</a:t>
            </a:r>
            <a:r>
              <a:rPr lang="en-US" altLang="zh-CN" sz="2000" b="1" kern="0">
                <a:solidFill>
                  <a:schemeClr val="hlink"/>
                </a:solidFill>
                <a:latin typeface="Times New Roman" panose="02020603050405020304" pitchFamily="18" charset="0"/>
                <a:ea typeface="+mn-ea"/>
                <a:cs typeface="Times New Roman" panose="02020603050405020304" pitchFamily="18" charset="0"/>
                <a:sym typeface="+mn-ea"/>
              </a:rPr>
              <a:t>*</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N </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的</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 STARAN </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网络实现</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N </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种置换。</a:t>
            </a:r>
            <a:endParaRPr lang="zh-CN" altLang="en-US" sz="2000" b="1" kern="0">
              <a:solidFill>
                <a:schemeClr val="hlink"/>
              </a:solidFill>
              <a:latin typeface="Times New Roman" panose="02020603050405020304" pitchFamily="18" charset="0"/>
              <a:ea typeface="+mn-ea"/>
              <a:cs typeface="Times New Roman" panose="02020603050405020304" pitchFamily="18" charset="0"/>
              <a:sym typeface="+mn-ea"/>
            </a:endParaRPr>
          </a:p>
          <a:p>
            <a:pPr marL="342900" lvl="0" indent="-342900" algn="l" eaLnBrk="1" hangingPunct="1">
              <a:spcBef>
                <a:spcPts val="1200"/>
              </a:spcBef>
              <a:buClr>
                <a:schemeClr val="hlink"/>
              </a:buClr>
              <a:buSzTx/>
              <a:buFont typeface="Wingdings" panose="05000000000000000000" pitchFamily="2" charset="2"/>
              <a:buChar char="v"/>
            </a:pPr>
            <a:endParaRPr lang="zh-CN" altLang="en-US" sz="2000" b="1" kern="0">
              <a:solidFill>
                <a:schemeClr val="hlink"/>
              </a:solidFill>
              <a:latin typeface="Times New Roman" panose="02020603050405020304" pitchFamily="18" charset="0"/>
              <a:ea typeface="+mn-ea"/>
              <a:cs typeface="Times New Roman" panose="02020603050405020304" pitchFamily="18" charset="0"/>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组控：</a:t>
            </a:r>
            <a:r>
              <a:rPr lang="zh-CN" altLang="en-US"/>
              <a:t>移</a:t>
            </a:r>
            <a:r>
              <a:rPr lang="zh-CN" altLang="en-US"/>
              <a:t>数置换</a:t>
            </a:r>
            <a:endParaRPr lang="zh-CN" altLang="en-US"/>
          </a:p>
        </p:txBody>
      </p:sp>
      <p:sp>
        <p:nvSpPr>
          <p:cNvPr id="6" name="矩形 5"/>
          <p:cNvSpPr/>
          <p:nvPr/>
        </p:nvSpPr>
        <p:spPr>
          <a:xfrm>
            <a:off x="395605" y="1340485"/>
            <a:ext cx="8199120" cy="1353185"/>
          </a:xfrm>
          <a:prstGeom prst="rect">
            <a:avLst/>
          </a:prstGeom>
        </p:spPr>
        <p:txBody>
          <a:bodyPr vert="horz" wrap="square" lIns="91440" tIns="45720" rIns="91440" bIns="45720" rtlCol="0" anchor="t" anchorCtr="0">
            <a:normAutofit lnSpcReduction="20000"/>
          </a:bodyPr>
          <a:p>
            <a:pPr marL="342900" lvl="0" indent="-342900" algn="l" eaLnBrk="1" hangingPunct="1">
              <a:spcBef>
                <a:spcPts val="1200"/>
              </a:spcBef>
              <a:buClr>
                <a:schemeClr val="hlink"/>
              </a:buClr>
              <a:buSzTx/>
              <a:buFont typeface="Wingdings" panose="05000000000000000000" pitchFamily="2" charset="2"/>
              <a:buChar char="v"/>
            </a:pP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将第</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i</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级的</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N/2</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个</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2*2</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的</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2</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功能开关分成</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i+1</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组，每组用一个位信号控制交叉开关的工作状态。对于一个两功能交叉开关，级数是</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 m=log</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2</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N</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的</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 N*N </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的</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STARAN </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网络，从第</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0</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级至第</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 n-1 </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级所需的控制信号位数分别为</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 1</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2</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n</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个，因此，共需</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 n(n+1)/2 </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个位组成二进制控制向量</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F</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。对于</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N=8</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的网络，需要</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6</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个位信号组成控制向量</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F</a:t>
            </a:r>
            <a:r>
              <a:rPr lang="zh-CN" altLang="en-US" sz="2000" b="1" kern="0">
                <a:solidFill>
                  <a:schemeClr val="hlink"/>
                </a:solidFill>
                <a:latin typeface="Times New Roman" panose="02020603050405020304" pitchFamily="18" charset="0"/>
                <a:ea typeface="+mn-ea"/>
                <a:cs typeface="Times New Roman" panose="02020603050405020304" pitchFamily="18" charset="0"/>
                <a:sym typeface="+mn-ea"/>
              </a:rPr>
              <a:t>。</a:t>
            </a:r>
            <a:endParaRPr lang="zh-CN" altLang="en-US" sz="2000" b="1" kern="0">
              <a:solidFill>
                <a:schemeClr val="hlink"/>
              </a:solidFill>
              <a:latin typeface="Times New Roman" panose="02020603050405020304" pitchFamily="18" charset="0"/>
              <a:ea typeface="+mn-ea"/>
              <a:cs typeface="Times New Roman" panose="02020603050405020304" pitchFamily="18" charset="0"/>
              <a:sym typeface="+mn-ea"/>
            </a:endParaRPr>
          </a:p>
          <a:p>
            <a:pPr marL="342900" lvl="0" indent="-342900" algn="l" eaLnBrk="1" hangingPunct="1">
              <a:spcBef>
                <a:spcPts val="1200"/>
              </a:spcBef>
              <a:buClr>
                <a:schemeClr val="hlink"/>
              </a:buClr>
              <a:buSzTx/>
              <a:buFont typeface="Wingdings" panose="05000000000000000000" pitchFamily="2" charset="2"/>
              <a:buChar char="v"/>
            </a:pPr>
            <a:endParaRPr lang="zh-CN" altLang="en-US" sz="2000" b="1" kern="0">
              <a:solidFill>
                <a:schemeClr val="hlink"/>
              </a:solidFill>
              <a:latin typeface="Times New Roman" panose="02020603050405020304" pitchFamily="18" charset="0"/>
              <a:ea typeface="+mn-ea"/>
              <a:cs typeface="Times New Roman" panose="02020603050405020304" pitchFamily="18" charset="0"/>
              <a:sym typeface="+mn-ea"/>
            </a:endParaRPr>
          </a:p>
        </p:txBody>
      </p:sp>
      <p:pic>
        <p:nvPicPr>
          <p:cNvPr id="3" name="图片 2"/>
          <p:cNvPicPr>
            <a:picLocks noChangeAspect="1"/>
          </p:cNvPicPr>
          <p:nvPr/>
        </p:nvPicPr>
        <p:blipFill>
          <a:blip r:embed="rId1"/>
          <a:stretch>
            <a:fillRect/>
          </a:stretch>
        </p:blipFill>
        <p:spPr>
          <a:xfrm>
            <a:off x="455295" y="2974340"/>
            <a:ext cx="4423410" cy="2672715"/>
          </a:xfrm>
          <a:prstGeom prst="rect">
            <a:avLst/>
          </a:prstGeom>
        </p:spPr>
      </p:pic>
      <p:pic>
        <p:nvPicPr>
          <p:cNvPr id="7" name="图片 6"/>
          <p:cNvPicPr>
            <a:picLocks noChangeAspect="1"/>
          </p:cNvPicPr>
          <p:nvPr/>
        </p:nvPicPr>
        <p:blipFill>
          <a:blip r:embed="rId2"/>
          <a:stretch>
            <a:fillRect/>
          </a:stretch>
        </p:blipFill>
        <p:spPr>
          <a:xfrm>
            <a:off x="4932045" y="2973705"/>
            <a:ext cx="3676650" cy="267335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7.2.4 </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全排列互连网络</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331595"/>
            <a:ext cx="8396605" cy="4834255"/>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循环互连网络和多级互连网络都能实现</a:t>
            </a:r>
            <a:r>
              <a:rPr lang="zh-CN" altLang="en-US" sz="2000" dirty="0">
                <a:solidFill>
                  <a:srgbClr val="FF3333"/>
                </a:solidFill>
                <a:latin typeface="Times New Roman" panose="02020603050405020304" pitchFamily="18" charset="0"/>
                <a:cs typeface="Times New Roman" panose="02020603050405020304" pitchFamily="18" charset="0"/>
                <a:sym typeface="+mn-ea"/>
              </a:rPr>
              <a:t>任意</a:t>
            </a:r>
            <a:r>
              <a:rPr lang="zh-CN" altLang="en-US" sz="2000" dirty="0">
                <a:latin typeface="Times New Roman" panose="02020603050405020304" pitchFamily="18" charset="0"/>
                <a:cs typeface="Times New Roman" panose="02020603050405020304" pitchFamily="18" charset="0"/>
                <a:sym typeface="+mn-ea"/>
              </a:rPr>
              <a:t>结点互连</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同时有两个或两个以上结点要求与其他结点互连时，可能发生</a:t>
            </a:r>
            <a:r>
              <a:rPr lang="zh-CN" altLang="en-US" sz="2000" dirty="0">
                <a:solidFill>
                  <a:srgbClr val="FF3300"/>
                </a:solidFill>
                <a:latin typeface="Times New Roman" panose="02020603050405020304" pitchFamily="18" charset="0"/>
                <a:cs typeface="Times New Roman" panose="02020603050405020304" pitchFamily="18" charset="0"/>
                <a:sym typeface="+mn-ea"/>
              </a:rPr>
              <a:t>冲突</a:t>
            </a:r>
            <a:endParaRPr lang="zh-CN" altLang="en-US" sz="2000" dirty="0">
              <a:solidFill>
                <a:srgbClr val="FF3300"/>
              </a:solidFill>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全排列互连网络能</a:t>
            </a:r>
            <a:r>
              <a:rPr lang="zh-CN" altLang="en-US" sz="2000" dirty="0">
                <a:solidFill>
                  <a:srgbClr val="FF3333"/>
                </a:solidFill>
                <a:latin typeface="Times New Roman" panose="02020603050405020304" pitchFamily="18" charset="0"/>
                <a:cs typeface="Times New Roman" panose="02020603050405020304" pitchFamily="18" charset="0"/>
                <a:sym typeface="+mn-ea"/>
              </a:rPr>
              <a:t>同时</a:t>
            </a:r>
            <a:r>
              <a:rPr lang="zh-CN" altLang="en-US" sz="2000" dirty="0">
                <a:latin typeface="Times New Roman" panose="02020603050405020304" pitchFamily="18" charset="0"/>
                <a:cs typeface="Times New Roman" panose="02020603050405020304" pitchFamily="18" charset="0"/>
                <a:sym typeface="+mn-ea"/>
              </a:rPr>
              <a:t>实现</a:t>
            </a:r>
            <a:r>
              <a:rPr lang="zh-CN" altLang="en-US" sz="2000" dirty="0">
                <a:solidFill>
                  <a:srgbClr val="FF3333"/>
                </a:solidFill>
                <a:latin typeface="Times New Roman" panose="02020603050405020304" pitchFamily="18" charset="0"/>
                <a:cs typeface="Times New Roman" panose="02020603050405020304" pitchFamily="18" charset="0"/>
                <a:sym typeface="+mn-ea"/>
              </a:rPr>
              <a:t>任意</a:t>
            </a:r>
            <a:r>
              <a:rPr lang="zh-CN" altLang="en-US" sz="2000" dirty="0">
                <a:latin typeface="Times New Roman" panose="02020603050405020304" pitchFamily="18" charset="0"/>
                <a:cs typeface="Times New Roman" panose="02020603050405020304" pitchFamily="18" charset="0"/>
                <a:sym typeface="+mn-ea"/>
              </a:rPr>
              <a:t>结点到结点之间的互连</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个结点的全排列共有</a:t>
            </a: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N=</a:t>
            </a:r>
            <a:r>
              <a:rPr lang="en-US" altLang="zh-CN" sz="2000" dirty="0">
                <a:solidFill>
                  <a:srgbClr val="000000"/>
                </a:solidFill>
                <a:latin typeface="Times New Roman" panose="02020603050405020304" pitchFamily="18" charset="0"/>
                <a:cs typeface="Times New Roman" panose="02020603050405020304" pitchFamily="18" charset="0"/>
                <a:sym typeface="+mn-ea"/>
              </a:rPr>
              <a:t>2</a:t>
            </a:r>
            <a:r>
              <a:rPr lang="en-US" altLang="zh-CN" sz="2000" baseline="30000" dirty="0">
                <a:solidFill>
                  <a:srgbClr val="000000"/>
                </a:solidFill>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个结点的多级互连网络有</a:t>
            </a:r>
            <a:r>
              <a:rPr lang="en-US" altLang="zh-CN" sz="2000" dirty="0">
                <a:solidFill>
                  <a:srgbClr val="000000"/>
                </a:solidFill>
                <a:latin typeface="Times New Roman" panose="02020603050405020304" pitchFamily="18" charset="0"/>
                <a:cs typeface="Times New Roman" panose="02020603050405020304" pitchFamily="18" charset="0"/>
                <a:sym typeface="+mn-ea"/>
              </a:rPr>
              <a:t>n</a:t>
            </a:r>
            <a:r>
              <a:rPr lang="zh-CN" altLang="en-US" sz="2000" dirty="0">
                <a:solidFill>
                  <a:srgbClr val="000000"/>
                </a:solidFill>
                <a:latin typeface="Times New Roman" panose="02020603050405020304" pitchFamily="18" charset="0"/>
                <a:cs typeface="Times New Roman" panose="02020603050405020304" pitchFamily="18" charset="0"/>
                <a:sym typeface="+mn-ea"/>
              </a:rPr>
              <a:t>级</a:t>
            </a:r>
            <a:r>
              <a:rPr lang="en-US" altLang="zh-CN" sz="2000" dirty="0">
                <a:solidFill>
                  <a:srgbClr val="000000"/>
                </a:solidFill>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二功能开关</a:t>
            </a:r>
            <a:r>
              <a:rPr lang="en-US" altLang="zh-CN" sz="2000" dirty="0">
                <a:solidFill>
                  <a:srgbClr val="000000"/>
                </a:solidFill>
                <a:latin typeface="Times New Roman" panose="02020603050405020304" pitchFamily="18" charset="0"/>
                <a:cs typeface="Times New Roman" panose="02020603050405020304" pitchFamily="18" charset="0"/>
                <a:sym typeface="+mn-ea"/>
              </a:rPr>
              <a:t>n 2</a:t>
            </a:r>
            <a:r>
              <a:rPr lang="en-US" altLang="zh-CN" sz="2000" baseline="30000" dirty="0">
                <a:solidFill>
                  <a:srgbClr val="000000"/>
                </a:solidFill>
                <a:latin typeface="Times New Roman" panose="02020603050405020304" pitchFamily="18" charset="0"/>
                <a:cs typeface="Times New Roman" panose="02020603050405020304" pitchFamily="18" charset="0"/>
                <a:sym typeface="+mn-ea"/>
              </a:rPr>
              <a:t>n-1</a:t>
            </a:r>
            <a:r>
              <a:rPr lang="zh-CN" altLang="en-US" sz="2000" dirty="0">
                <a:latin typeface="Times New Roman" panose="02020603050405020304" pitchFamily="18" charset="0"/>
                <a:cs typeface="Times New Roman" panose="02020603050405020304" pitchFamily="18" charset="0"/>
                <a:sym typeface="+mn-ea"/>
              </a:rPr>
              <a:t>个</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状态数</a:t>
            </a:r>
            <a:endParaRPr lang="en-US" altLang="zh-CN" sz="2000" dirty="0">
              <a:latin typeface="Times New Roman" panose="02020603050405020304" pitchFamily="18" charset="0"/>
              <a:cs typeface="Times New Roman" panose="02020603050405020304" pitchFamily="18" charset="0"/>
            </a:endParaRPr>
          </a:p>
          <a:p>
            <a:pPr lvl="1" eaLnBrk="1" latinLnBrk="0" hangingPunct="1">
              <a:spcBef>
                <a:spcPts val="1200"/>
              </a:spcBef>
            </a:pPr>
            <a:endParaRPr lang="en-US" altLang="zh-CN" sz="2000" dirty="0">
              <a:latin typeface="Times New Roman" panose="02020603050405020304" pitchFamily="18" charset="0"/>
              <a:cs typeface="Times New Roman" panose="02020603050405020304" pitchFamily="18" charset="0"/>
            </a:endParaRPr>
          </a:p>
          <a:p>
            <a:pPr lvl="1" eaLnBrk="1" latinLnBrk="0" hangingPunct="1">
              <a:spcBef>
                <a:spcPts val="1200"/>
              </a:spcBef>
            </a:pPr>
            <a:endParaRPr lang="en-US" altLang="zh-CN" sz="2000" dirty="0">
              <a:latin typeface="Times New Roman" panose="02020603050405020304" pitchFamily="18" charset="0"/>
              <a:cs typeface="Times New Roman" panose="02020603050405020304" pitchFamily="18" charset="0"/>
            </a:endParaRPr>
          </a:p>
          <a:p>
            <a:pPr lvl="2" eaLnBrk="1" latinLnBrk="0" hangingPunct="1">
              <a:spcBef>
                <a:spcPts val="1200"/>
              </a:spcBef>
            </a:pPr>
            <a:r>
              <a:rPr lang="en-US" altLang="zh-CN" sz="1710" dirty="0">
                <a:latin typeface="Times New Roman" panose="02020603050405020304" pitchFamily="18" charset="0"/>
                <a:cs typeface="Times New Roman" panose="02020603050405020304" pitchFamily="18" charset="0"/>
                <a:sym typeface="+mn-ea"/>
              </a:rPr>
              <a:t>N=8</a:t>
            </a:r>
            <a:r>
              <a:rPr lang="zh-CN" altLang="en-US" sz="1710" dirty="0">
                <a:latin typeface="Times New Roman" panose="02020603050405020304" pitchFamily="18" charset="0"/>
                <a:cs typeface="Times New Roman" panose="02020603050405020304" pitchFamily="18" charset="0"/>
                <a:sym typeface="+mn-ea"/>
              </a:rPr>
              <a:t>时，多级互连网络只能实现全部变换的</a:t>
            </a:r>
            <a:r>
              <a:rPr lang="en-US" altLang="zh-CN" sz="1710" dirty="0">
                <a:latin typeface="Times New Roman" panose="02020603050405020304" pitchFamily="18" charset="0"/>
                <a:cs typeface="Times New Roman" panose="02020603050405020304" pitchFamily="18" charset="0"/>
                <a:sym typeface="+mn-ea"/>
              </a:rPr>
              <a:t>10%</a:t>
            </a:r>
            <a:br>
              <a:rPr lang="en-US" altLang="zh-CN" sz="1710" dirty="0">
                <a:latin typeface="Times New Roman" panose="02020603050405020304" pitchFamily="18" charset="0"/>
                <a:cs typeface="Times New Roman" panose="02020603050405020304" pitchFamily="18" charset="0"/>
                <a:sym typeface="+mn-ea"/>
              </a:rPr>
            </a:br>
            <a:r>
              <a:rPr lang="en-US" altLang="zh-CN" sz="1710" dirty="0">
                <a:latin typeface="Times New Roman" panose="02020603050405020304" pitchFamily="18" charset="0"/>
                <a:cs typeface="Times New Roman" panose="02020603050405020304" pitchFamily="18" charset="0"/>
                <a:sym typeface="+mn-ea"/>
              </a:rPr>
              <a:t>(8^4/8! = 4096/40320=0.1016)</a:t>
            </a:r>
            <a:r>
              <a:rPr lang="zh-CN" altLang="en-US" sz="1710" dirty="0">
                <a:latin typeface="Times New Roman" panose="02020603050405020304" pitchFamily="18" charset="0"/>
                <a:cs typeface="Times New Roman" panose="02020603050405020304" pitchFamily="18" charset="0"/>
                <a:sym typeface="+mn-ea"/>
              </a:rPr>
              <a:t>，</a:t>
            </a:r>
            <a:r>
              <a:rPr lang="en-US" altLang="zh-CN" sz="1710" dirty="0">
                <a:latin typeface="Times New Roman" panose="02020603050405020304" pitchFamily="18" charset="0"/>
                <a:cs typeface="Times New Roman" panose="02020603050405020304" pitchFamily="18" charset="0"/>
                <a:sym typeface="+mn-ea"/>
              </a:rPr>
              <a:t>90%</a:t>
            </a:r>
            <a:r>
              <a:rPr lang="zh-CN" altLang="en-US" sz="1710" dirty="0">
                <a:latin typeface="Times New Roman" panose="02020603050405020304" pitchFamily="18" charset="0"/>
                <a:cs typeface="Times New Roman" panose="02020603050405020304" pitchFamily="18" charset="0"/>
                <a:sym typeface="+mn-ea"/>
              </a:rPr>
              <a:t>的变换将引起阻塞</a:t>
            </a:r>
            <a:endParaRPr lang="en-US" altLang="zh-CN" sz="1710" dirty="0">
              <a:latin typeface="Times New Roman" panose="02020603050405020304" pitchFamily="18" charset="0"/>
              <a:cs typeface="Times New Roman" panose="02020603050405020304" pitchFamily="18" charset="0"/>
            </a:endParaRPr>
          </a:p>
          <a:p>
            <a:pPr lvl="2" eaLnBrk="1" latinLnBrk="0" hangingPunct="1">
              <a:spcBef>
                <a:spcPts val="1200"/>
              </a:spcBef>
            </a:pPr>
            <a:r>
              <a:rPr lang="zh-CN" altLang="en-US" sz="1710" dirty="0">
                <a:latin typeface="Times New Roman" panose="02020603050405020304" pitchFamily="18" charset="0"/>
                <a:cs typeface="Times New Roman" panose="02020603050405020304" pitchFamily="18" charset="0"/>
                <a:sym typeface="+mn-ea"/>
              </a:rPr>
              <a:t>多次通过，实现连接的通过次数最多为</a:t>
            </a:r>
            <a:r>
              <a:rPr lang="en-US" altLang="zh-CN" sz="1710" dirty="0">
                <a:latin typeface="Times New Roman" panose="02020603050405020304" pitchFamily="18" charset="0"/>
                <a:cs typeface="Times New Roman" panose="02020603050405020304" pitchFamily="18" charset="0"/>
                <a:sym typeface="+mn-ea"/>
              </a:rPr>
              <a:t>log</a:t>
            </a:r>
            <a:r>
              <a:rPr lang="en-US" altLang="zh-CN" sz="1710" baseline="-25000" dirty="0">
                <a:latin typeface="Times New Roman" panose="02020603050405020304" pitchFamily="18" charset="0"/>
                <a:cs typeface="Times New Roman" panose="02020603050405020304" pitchFamily="18" charset="0"/>
                <a:sym typeface="+mn-ea"/>
              </a:rPr>
              <a:t>2</a:t>
            </a:r>
            <a:r>
              <a:rPr lang="en-US" altLang="zh-CN" sz="1710" dirty="0">
                <a:latin typeface="Times New Roman" panose="02020603050405020304" pitchFamily="18" charset="0"/>
                <a:cs typeface="Times New Roman" panose="02020603050405020304" pitchFamily="18" charset="0"/>
                <a:sym typeface="+mn-ea"/>
              </a:rPr>
              <a:t>N</a:t>
            </a:r>
            <a:endParaRPr lang="en-US" altLang="zh-CN" sz="171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1979930" y="3573145"/>
            <a:ext cx="4551680" cy="73088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7.2.5 </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全</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交叉开关网络</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3017520"/>
          </a:xfrm>
        </p:spPr>
        <p:txBody>
          <a:bodyPr vert="horz" wrap="square" lIns="91440" tIns="45720" rIns="91440" bIns="45720" anchor="t" anchorCtr="0"/>
          <a:p>
            <a:pPr eaLnBrk="1" hangingPunct="1"/>
            <a:r>
              <a:rPr lang="zh-CN" altLang="en-US" sz="2000" dirty="0">
                <a:latin typeface="Times New Roman" panose="02020603050405020304" pitchFamily="18" charset="0"/>
                <a:cs typeface="Times New Roman" panose="02020603050405020304" pitchFamily="18" charset="0"/>
                <a:sym typeface="+mn-ea"/>
              </a:rPr>
              <a:t>全交叉开关网络能够同时实现任意结点到结点之间的互连</a:t>
            </a:r>
            <a:endParaRPr lang="zh-CN" altLang="en-US"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还能实现广播和多播</a:t>
            </a:r>
            <a:endParaRPr lang="zh-CN" altLang="en-US"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带宽和互连特性最好</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多处理机系统中，处理机、存储器和</a:t>
            </a:r>
            <a:r>
              <a:rPr lang="en-US" altLang="zh-CN" sz="2000" dirty="0">
                <a:latin typeface="Times New Roman" panose="02020603050405020304" pitchFamily="18" charset="0"/>
                <a:cs typeface="Times New Roman" panose="02020603050405020304" pitchFamily="18" charset="0"/>
                <a:sym typeface="+mn-ea"/>
              </a:rPr>
              <a:t>IOP</a:t>
            </a:r>
            <a:r>
              <a:rPr lang="zh-CN" altLang="en-US" sz="2000" dirty="0">
                <a:latin typeface="Times New Roman" panose="02020603050405020304" pitchFamily="18" charset="0"/>
                <a:cs typeface="Times New Roman" panose="02020603050405020304" pitchFamily="18" charset="0"/>
                <a:sym typeface="+mn-ea"/>
              </a:rPr>
              <a:t>之间用交叉开关网络连接</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可看作是一个单级开关网络</a:t>
            </a:r>
            <a:endParaRPr lang="zh-CN" altLang="en-US"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每个交叉点开关在对偶</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源、目的</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间提供一条专用连接通路；</a:t>
            </a:r>
            <a:endParaRPr lang="zh-CN" altLang="en-US" sz="2000" dirty="0">
              <a:latin typeface="Times New Roman" panose="02020603050405020304" pitchFamily="18" charset="0"/>
              <a:cs typeface="Times New Roman" panose="02020603050405020304" pitchFamily="18" charset="0"/>
              <a:sym typeface="+mn-ea"/>
            </a:endParaRPr>
          </a:p>
          <a:p>
            <a:pPr lvl="1" eaLnBrk="1" hangingPunct="1"/>
            <a:r>
              <a:rPr lang="zh-CN" altLang="en-US" sz="2000" dirty="0">
                <a:latin typeface="Times New Roman" panose="02020603050405020304" pitchFamily="18" charset="0"/>
                <a:cs typeface="Times New Roman" panose="02020603050405020304" pitchFamily="18" charset="0"/>
                <a:sym typeface="+mn-ea"/>
              </a:rPr>
              <a:t>开关可根据程序的要求动态地设置“开”或“关”</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1619885" y="3933190"/>
            <a:ext cx="5405120" cy="262572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endParaRPr lang="zh-CN" altLang="en-US"/>
          </a:p>
        </p:txBody>
      </p:sp>
      <p:sp>
        <p:nvSpPr>
          <p:cNvPr id="3" name="内容占位符 2"/>
          <p:cNvSpPr>
            <a:spLocks noGrp="1"/>
          </p:cNvSpPr>
          <p:nvPr>
            <p:ph idx="1"/>
          </p:nvPr>
        </p:nvSpPr>
        <p:spPr>
          <a:xfrm>
            <a:off x="457200" y="1170940"/>
            <a:ext cx="8229600" cy="4955540"/>
          </a:xfrm>
        </p:spPr>
        <p:txBody>
          <a:bodyPr/>
          <a:p>
            <a:r>
              <a:rPr lang="zh-CN" altLang="en-US" sz="2400">
                <a:latin typeface="Times New Roman" panose="02020603050405020304" pitchFamily="18" charset="0"/>
                <a:cs typeface="Times New Roman" panose="02020603050405020304" pitchFamily="18" charset="0"/>
              </a:rPr>
              <a:t>设</a:t>
            </a:r>
            <a:r>
              <a:rPr lang="en-US" altLang="zh-CN" sz="2400">
                <a:latin typeface="Times New Roman" panose="02020603050405020304" pitchFamily="18" charset="0"/>
                <a:cs typeface="Times New Roman" panose="02020603050405020304" pitchFamily="18" charset="0"/>
              </a:rPr>
              <a:t> 16 </a:t>
            </a:r>
            <a:r>
              <a:rPr lang="zh-CN" altLang="en-US" sz="2400">
                <a:latin typeface="Times New Roman" panose="02020603050405020304" pitchFamily="18" charset="0"/>
                <a:cs typeface="Times New Roman" panose="02020603050405020304" pitchFamily="18" charset="0"/>
              </a:rPr>
              <a:t>个处理器编号分别为</a:t>
            </a:r>
            <a:r>
              <a:rPr lang="en-US" altLang="zh-CN" sz="2400">
                <a:latin typeface="Times New Roman" panose="02020603050405020304" pitchFamily="18" charset="0"/>
                <a:cs typeface="Times New Roman" panose="02020603050405020304" pitchFamily="18" charset="0"/>
              </a:rPr>
              <a:t> 0</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1</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a:t>
            </a:r>
            <a:r>
              <a:rPr lang="zh-CN" altLang="en-US" sz="2400">
                <a:latin typeface="Times New Roman" panose="02020603050405020304" pitchFamily="18" charset="0"/>
                <a:cs typeface="Times New Roman" panose="02020603050405020304" pitchFamily="18" charset="0"/>
              </a:rPr>
              <a:t>，</a:t>
            </a:r>
            <a:r>
              <a:rPr lang="en-US" altLang="zh-CN" sz="2400">
                <a:latin typeface="Times New Roman" panose="02020603050405020304" pitchFamily="18" charset="0"/>
                <a:cs typeface="Times New Roman" panose="02020603050405020304" pitchFamily="18" charset="0"/>
              </a:rPr>
              <a:t>15</a:t>
            </a:r>
            <a:r>
              <a:rPr lang="zh-CN" altLang="en-US" sz="2400">
                <a:latin typeface="Times New Roman" panose="02020603050405020304" pitchFamily="18" charset="0"/>
                <a:cs typeface="Times New Roman" panose="02020603050405020304" pitchFamily="18" charset="0"/>
              </a:rPr>
              <a:t>，用一个</a:t>
            </a:r>
            <a:r>
              <a:rPr lang="en-US" altLang="zh-CN" sz="2400">
                <a:latin typeface="Times New Roman" panose="02020603050405020304" pitchFamily="18" charset="0"/>
                <a:cs typeface="Times New Roman" panose="02020603050405020304" pitchFamily="18" charset="0"/>
              </a:rPr>
              <a:t> N=16 </a:t>
            </a:r>
            <a:r>
              <a:rPr lang="zh-CN" altLang="en-US" sz="2400">
                <a:latin typeface="Times New Roman" panose="02020603050405020304" pitchFamily="18" charset="0"/>
                <a:cs typeface="Times New Roman" panose="02020603050405020304" pitchFamily="18" charset="0"/>
              </a:rPr>
              <a:t>的互联网络互联，当互联网络实现的互联函数分别为：</a:t>
            </a:r>
            <a:endParaRPr lang="zh-CN" altLang="en-US" sz="24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1</a:t>
            </a:r>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Cube3</a:t>
            </a:r>
            <a:endParaRPr lang="en-US" altLang="zh-CN" sz="20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2</a:t>
            </a:r>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PM2</a:t>
            </a:r>
            <a:r>
              <a:rPr lang="en-US" altLang="zh-CN" sz="2000" baseline="-25000">
                <a:latin typeface="Times New Roman" panose="02020603050405020304" pitchFamily="18" charset="0"/>
                <a:cs typeface="Times New Roman" panose="02020603050405020304" pitchFamily="18" charset="0"/>
              </a:rPr>
              <a:t>+3</a:t>
            </a:r>
            <a:endParaRPr lang="en-US" altLang="zh-CN" sz="20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3</a:t>
            </a:r>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PM2</a:t>
            </a:r>
            <a:r>
              <a:rPr lang="en-US" altLang="zh-CN" sz="2000" baseline="-25000">
                <a:latin typeface="Times New Roman" panose="02020603050405020304" pitchFamily="18" charset="0"/>
                <a:cs typeface="Times New Roman" panose="02020603050405020304" pitchFamily="18" charset="0"/>
              </a:rPr>
              <a:t>-0</a:t>
            </a:r>
            <a:endParaRPr lang="en-US" altLang="zh-CN" sz="20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4</a:t>
            </a:r>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Shuffle</a:t>
            </a:r>
            <a:endParaRPr lang="en-US" altLang="zh-CN" sz="200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5</a:t>
            </a:r>
            <a:r>
              <a:rPr lang="zh-CN" altLang="en-US" sz="2000">
                <a:latin typeface="Times New Roman" panose="02020603050405020304" pitchFamily="18" charset="0"/>
                <a:cs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Shuffle (Shuffle)</a:t>
            </a:r>
            <a:endParaRPr lang="en-US" altLang="zh-CN" sz="2000">
              <a:latin typeface="Times New Roman" panose="02020603050405020304" pitchFamily="18" charset="0"/>
              <a:cs typeface="Times New Roman" panose="02020603050405020304" pitchFamily="18" charset="0"/>
            </a:endParaRPr>
          </a:p>
          <a:p>
            <a:pPr lvl="1" algn="l" eaLnBrk="1" latinLnBrk="0" hangingPunct="1">
              <a:spcBef>
                <a:spcPts val="1200"/>
              </a:spcBef>
              <a:buSzTx/>
              <a:buChar char="§"/>
            </a:pPr>
            <a:r>
              <a:rPr lang="zh-CN" altLang="en-US" sz="2000" dirty="0">
                <a:latin typeface="Times New Roman" panose="02020603050405020304" pitchFamily="18" charset="0"/>
                <a:cs typeface="Times New Roman" panose="02020603050405020304" pitchFamily="18" charset="0"/>
              </a:rPr>
              <a:t>分别指出与第 13 号处理器连接的处理器。处理器 i 的输出通道连接互联网络的输入端i，处理器 i 的输入通道连接互联网络的输出端 i。</a:t>
            </a:r>
            <a:endParaRPr lang="zh-CN"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539750" y="1340485"/>
            <a:ext cx="7918450" cy="26924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图片 3"/>
          <p:cNvPicPr>
            <a:picLocks noChangeAspect="1"/>
          </p:cNvPicPr>
          <p:nvPr/>
        </p:nvPicPr>
        <p:blipFill>
          <a:blip r:embed="rId1"/>
          <a:stretch>
            <a:fillRect/>
          </a:stretch>
        </p:blipFill>
        <p:spPr>
          <a:xfrm>
            <a:off x="457200" y="1484630"/>
            <a:ext cx="8170545" cy="433895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7.3 消息传递</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机制</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2880995"/>
          </a:xfrm>
        </p:spPr>
        <p:txBody>
          <a:bodyPr vert="horz" wrap="square" lIns="91440" tIns="45720" rIns="91440" bIns="45720" anchor="t" anchorCtr="0"/>
          <a:p>
            <a:pPr eaLnBrk="1" latinLnBrk="0" hangingPunct="1">
              <a:spcBef>
                <a:spcPts val="1200"/>
              </a:spcBef>
            </a:pPr>
            <a:r>
              <a:rPr lang="zh-CN" altLang="en-US" sz="2000" dirty="0"/>
              <a:t>消息由任意数目的长度固定的数据包</a:t>
            </a:r>
            <a:r>
              <a:rPr lang="zh-CN" altLang="en-US" sz="2000" dirty="0"/>
              <a:t>组成；</a:t>
            </a:r>
            <a:endParaRPr lang="zh-CN" altLang="en-US" sz="2000" dirty="0"/>
          </a:p>
          <a:p>
            <a:pPr eaLnBrk="1" latinLnBrk="0" hangingPunct="1">
              <a:spcBef>
                <a:spcPts val="1200"/>
              </a:spcBef>
            </a:pPr>
            <a:r>
              <a:rPr lang="zh-CN" altLang="en-US" sz="2000" dirty="0">
                <a:sym typeface="+mn-ea"/>
              </a:rPr>
              <a:t>消息包是包含目的寻径地址的基本</a:t>
            </a:r>
            <a:r>
              <a:rPr lang="zh-CN" altLang="en-US" sz="2000" dirty="0">
                <a:sym typeface="+mn-ea"/>
              </a:rPr>
              <a:t>单位；</a:t>
            </a:r>
            <a:endParaRPr lang="zh-CN" altLang="en-US" sz="2000" dirty="0">
              <a:sym typeface="+mn-ea"/>
            </a:endParaRPr>
          </a:p>
          <a:p>
            <a:pPr eaLnBrk="1" latinLnBrk="0" hangingPunct="1">
              <a:spcBef>
                <a:spcPts val="1200"/>
              </a:spcBef>
            </a:pPr>
            <a:r>
              <a:rPr lang="zh-CN" altLang="en-US" sz="2000" dirty="0">
                <a:sym typeface="+mn-ea"/>
              </a:rPr>
              <a:t>不同的包可能异步到达目的节点，每个包有</a:t>
            </a:r>
            <a:r>
              <a:rPr lang="zh-CN" altLang="en-US" sz="2000" dirty="0">
                <a:sym typeface="+mn-ea"/>
              </a:rPr>
              <a:t>序号；</a:t>
            </a:r>
            <a:endParaRPr lang="zh-CN" altLang="en-US" sz="2000" dirty="0">
              <a:sym typeface="+mn-ea"/>
            </a:endParaRPr>
          </a:p>
          <a:p>
            <a:pPr eaLnBrk="1" latinLnBrk="0" hangingPunct="1">
              <a:spcBef>
                <a:spcPts val="1200"/>
              </a:spcBef>
            </a:pPr>
            <a:r>
              <a:rPr lang="zh-CN" altLang="en-US" sz="2000" dirty="0">
                <a:sym typeface="+mn-ea"/>
              </a:rPr>
              <a:t>消息可进一步分为长度固定的信息片：</a:t>
            </a:r>
            <a:endParaRPr lang="zh-CN" altLang="en-US" sz="2000" dirty="0">
              <a:sym typeface="+mn-ea"/>
            </a:endParaRPr>
          </a:p>
          <a:p>
            <a:pPr lvl="1" eaLnBrk="1" latinLnBrk="0" hangingPunct="1">
              <a:spcBef>
                <a:spcPts val="1200"/>
              </a:spcBef>
            </a:pPr>
            <a:r>
              <a:rPr lang="zh-CN" altLang="en-US" sz="2000" dirty="0">
                <a:sym typeface="+mn-ea"/>
              </a:rPr>
              <a:t>头片：包含目的地址和</a:t>
            </a:r>
            <a:r>
              <a:rPr lang="zh-CN" altLang="en-US" sz="2000" dirty="0">
                <a:sym typeface="+mn-ea"/>
              </a:rPr>
              <a:t>序号；</a:t>
            </a:r>
            <a:endParaRPr lang="zh-CN" altLang="en-US" sz="2000" dirty="0">
              <a:sym typeface="+mn-ea"/>
            </a:endParaRPr>
          </a:p>
          <a:p>
            <a:pPr lvl="1" eaLnBrk="1" latinLnBrk="0" hangingPunct="1">
              <a:spcBef>
                <a:spcPts val="1200"/>
              </a:spcBef>
            </a:pPr>
            <a:r>
              <a:rPr lang="zh-CN" altLang="en-US" sz="2000" dirty="0">
                <a:sym typeface="+mn-ea"/>
              </a:rPr>
              <a:t>数据片：其他</a:t>
            </a:r>
            <a:r>
              <a:rPr lang="zh-CN" altLang="en-US" sz="2000" dirty="0">
                <a:sym typeface="+mn-ea"/>
              </a:rPr>
              <a:t>信息；</a:t>
            </a:r>
            <a:endParaRPr lang="zh-CN" altLang="en-US" sz="2000" dirty="0">
              <a:sym typeface="+mn-ea"/>
            </a:endParaRPr>
          </a:p>
        </p:txBody>
      </p:sp>
      <p:pic>
        <p:nvPicPr>
          <p:cNvPr id="2" name="图片 1"/>
          <p:cNvPicPr>
            <a:picLocks noChangeAspect="1"/>
          </p:cNvPicPr>
          <p:nvPr>
            <p:custDataLst>
              <p:tags r:id="rId2"/>
            </p:custDataLst>
          </p:nvPr>
        </p:nvPicPr>
        <p:blipFill>
          <a:blip r:embed="rId3"/>
          <a:stretch>
            <a:fillRect/>
          </a:stretch>
        </p:blipFill>
        <p:spPr>
          <a:xfrm>
            <a:off x="1548130" y="3860800"/>
            <a:ext cx="5824220" cy="245491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*7.3.1 </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四种寻径</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方式</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5054600"/>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消息寻径方式可以分为两大类：</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线路交换和包交换；</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交换又包括：存储转发寻径、虚拟直通寻径和虫蚀寻径等。　　</a:t>
            </a:r>
            <a:endParaRPr lang="zh-CN" altLang="en-US" sz="20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线路交换(circuit switch) ：</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在传递一个消息之前，先建立一条从源结点到目的结点的物理通路，然后再传递消息。</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传输时延：T＝（Lt/B）×D+L/B，Lt为建立路径所需的小信息包的长度，L为信息包的长度，D为经过的结点数，B为带宽。</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在并行计算机中的频繁的小信息包通信的这种方式下，由于在传递一个消息之前，需要频繁地建立从源结点到目的结点的物理通路，开销将会很大。</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包交换的寻径方式以其较高的传输带宽和较低的平均传输时延，更适合于具有动态和突发特性的MPP数据传送。</a:t>
            </a:r>
            <a:endParaRPr lang="zh-CN" altLang="en-US" sz="20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存储转发寻径</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71270"/>
            <a:ext cx="8396605" cy="4894580"/>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存储转发寻径(store and forward) ：</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包是信息流的基本单位；</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每个结点有一个包缓冲区；</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包从源结点经过一系列中间结点到达目的结点。</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当一个包到达一个中间结点时，它首先被存入缓冲区。当所要求的输出通道和接收结点的包缓冲区可使用时，然后再将它传送给下一个结点。</a:t>
            </a:r>
            <a:endParaRPr lang="zh-CN" altLang="en-US" sz="20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存储转发网络的时延与源和目的地之间的距离（段数）成正比：</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时延用公式表示为T＝(L/B)×D+L/B=(D+1)×L/B。</a:t>
            </a:r>
            <a:endParaRPr lang="zh-CN" altLang="en-US" sz="20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存储转发寻径有两个很大的缺点：</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包缓冲区大，不利于VLSI的实现</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时延大，与结点距离成正比</a:t>
            </a:r>
            <a:endParaRPr lang="zh-CN" altLang="en-US" sz="20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虚拟直通</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71270"/>
            <a:ext cx="8396605" cy="4894580"/>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虚拟直通(virtual cut through) ：</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为了减少时延，没有必要等到整个消息全部缓冲后再作路由选择，只要接收到用作寻径的消息头部即可判断。</a:t>
            </a:r>
            <a:endParaRPr lang="zh-CN" altLang="en-US" sz="20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通信时延：</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T=(Lh/B)×D+L/B=(Lh×D+L)/B,Lh是消息的寻径头部的长度。</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一般来说，L&gt;&gt;Lh×D，公式可以近似为T＝L/B；</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通信时延与结点数无关</a:t>
            </a:r>
            <a:endParaRPr lang="zh-CN" altLang="en-US" sz="20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虚拟直通的</a:t>
            </a:r>
            <a:r>
              <a:rPr lang="zh-CN" altLang="en-US" sz="2000" dirty="0">
                <a:latin typeface="Times New Roman" panose="02020603050405020304" pitchFamily="18" charset="0"/>
                <a:cs typeface="Times New Roman" panose="02020603050405020304" pitchFamily="18" charset="0"/>
                <a:sym typeface="+mn-ea"/>
              </a:rPr>
              <a:t>缺点：</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当出现寻径阻塞时，虚拟直通方式只有将整个消息全部存储在寻径结点中，直到寻径通道不阻塞时才能将消息发出，需要每个寻径结点都有足够的缓冲区来存储可能出现的最大的信息包；</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不利于VLSI的实现。</a:t>
            </a:r>
            <a:endParaRPr lang="zh-CN" altLang="en-US" sz="20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虫蚀寻径</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71270"/>
            <a:ext cx="8396605" cy="4894580"/>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虫蚀寻径(wormhole)</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1800" dirty="0">
                <a:latin typeface="Times New Roman" panose="02020603050405020304" pitchFamily="18" charset="0"/>
                <a:cs typeface="Times New Roman" panose="02020603050405020304" pitchFamily="18" charset="0"/>
                <a:sym typeface="+mn-ea"/>
              </a:rPr>
              <a:t>把包进一步分成更小的片；</a:t>
            </a:r>
            <a:endParaRPr lang="zh-CN" altLang="en-US" sz="18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1800" dirty="0">
                <a:latin typeface="Times New Roman" panose="02020603050405020304" pitchFamily="18" charset="0"/>
                <a:cs typeface="Times New Roman" panose="02020603050405020304" pitchFamily="18" charset="0"/>
                <a:sym typeface="+mn-ea"/>
              </a:rPr>
              <a:t>与结点相连的硬件寻径器中有片缓冲区；</a:t>
            </a:r>
            <a:endParaRPr lang="zh-CN" altLang="en-US" sz="18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1800" dirty="0">
                <a:latin typeface="Times New Roman" panose="02020603050405020304" pitchFamily="18" charset="0"/>
                <a:cs typeface="Times New Roman" panose="02020603050405020304" pitchFamily="18" charset="0"/>
                <a:sym typeface="+mn-ea"/>
              </a:rPr>
              <a:t>消息从源结点传送到目的结点要经过一系列寻径器；</a:t>
            </a:r>
            <a:endParaRPr lang="zh-CN" altLang="en-US" sz="18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1800" dirty="0">
                <a:latin typeface="Times New Roman" panose="02020603050405020304" pitchFamily="18" charset="0"/>
                <a:cs typeface="Times New Roman" panose="02020603050405020304" pitchFamily="18" charset="0"/>
                <a:sym typeface="+mn-ea"/>
              </a:rPr>
              <a:t>同一个包中所有的片以流水方式顺序地传送；</a:t>
            </a:r>
            <a:endParaRPr lang="zh-CN" altLang="en-US" sz="18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1800" dirty="0">
                <a:latin typeface="Times New Roman" panose="02020603050405020304" pitchFamily="18" charset="0"/>
                <a:cs typeface="Times New Roman" panose="02020603050405020304" pitchFamily="18" charset="0"/>
                <a:sym typeface="+mn-ea"/>
              </a:rPr>
              <a:t>只有头片知道包将发往何处，所有的数据片必须跟着头片；</a:t>
            </a:r>
            <a:endParaRPr lang="zh-CN" altLang="en-US" sz="18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1800" dirty="0">
                <a:latin typeface="Times New Roman" panose="02020603050405020304" pitchFamily="18" charset="0"/>
                <a:cs typeface="Times New Roman" panose="02020603050405020304" pitchFamily="18" charset="0"/>
                <a:sym typeface="+mn-ea"/>
              </a:rPr>
              <a:t>不同的包可以交替地传送，但不同包的片不能交叉；</a:t>
            </a:r>
            <a:endParaRPr lang="zh-CN" altLang="en-US" sz="18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1800" dirty="0">
                <a:latin typeface="Times New Roman" panose="02020603050405020304" pitchFamily="18" charset="0"/>
                <a:cs typeface="Times New Roman" panose="02020603050405020304" pitchFamily="18" charset="0"/>
                <a:sym typeface="+mn-ea"/>
              </a:rPr>
              <a:t>当头片到达一个结点</a:t>
            </a:r>
            <a:r>
              <a:rPr lang="en-US" altLang="zh-CN" sz="1800" dirty="0">
                <a:latin typeface="Times New Roman" panose="02020603050405020304" pitchFamily="18" charset="0"/>
                <a:cs typeface="Times New Roman" panose="02020603050405020304" pitchFamily="18" charset="0"/>
                <a:sym typeface="+mn-ea"/>
              </a:rPr>
              <a:t>A</a:t>
            </a:r>
            <a:r>
              <a:rPr lang="zh-CN" altLang="en-US" sz="1800" dirty="0">
                <a:latin typeface="Times New Roman" panose="02020603050405020304" pitchFamily="18" charset="0"/>
                <a:cs typeface="Times New Roman" panose="02020603050405020304" pitchFamily="18" charset="0"/>
                <a:sym typeface="+mn-ea"/>
              </a:rPr>
              <a:t>，寻径器根据头片的寻径消息做出路由选择；</a:t>
            </a:r>
            <a:endParaRPr lang="zh-CN" altLang="en-US" sz="18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1800" dirty="0">
                <a:latin typeface="Times New Roman" panose="02020603050405020304" pitchFamily="18" charset="0"/>
                <a:cs typeface="Times New Roman" panose="02020603050405020304" pitchFamily="18" charset="0"/>
                <a:sym typeface="+mn-ea"/>
              </a:rPr>
              <a:t>如果所选择的通道空闲且所选择的结点B的片缓冲区可用，头片通过结点A传向下一个结点B，其它数据片跟着相应地向前"蠕动"一步，否则等待。</a:t>
            </a:r>
            <a:endParaRPr lang="zh-CN" altLang="en-US" sz="18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虫蚀寻径的通信时延：</a:t>
            </a:r>
            <a:endParaRPr lang="zh-CN" altLang="en-US" sz="20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1800" dirty="0">
                <a:latin typeface="Times New Roman" panose="02020603050405020304" pitchFamily="18" charset="0"/>
                <a:cs typeface="Times New Roman" panose="02020603050405020304" pitchFamily="18" charset="0"/>
                <a:sym typeface="+mn-ea"/>
              </a:rPr>
              <a:t>T=T</a:t>
            </a:r>
            <a:r>
              <a:rPr lang="zh-CN" altLang="en-US" sz="1800" baseline="-25000" dirty="0">
                <a:latin typeface="Times New Roman" panose="02020603050405020304" pitchFamily="18" charset="0"/>
                <a:cs typeface="Times New Roman" panose="02020603050405020304" pitchFamily="18" charset="0"/>
                <a:sym typeface="+mn-ea"/>
              </a:rPr>
              <a:t>f</a:t>
            </a:r>
            <a:r>
              <a:rPr lang="zh-CN" altLang="en-US" sz="1800" dirty="0">
                <a:latin typeface="Times New Roman" panose="02020603050405020304" pitchFamily="18" charset="0"/>
                <a:cs typeface="Times New Roman" panose="02020603050405020304" pitchFamily="18" charset="0"/>
                <a:sym typeface="+mn-ea"/>
              </a:rPr>
              <a:t>×D+L/B=(L</a:t>
            </a:r>
            <a:r>
              <a:rPr lang="zh-CN" altLang="en-US" sz="1800" baseline="-25000" dirty="0">
                <a:latin typeface="Times New Roman" panose="02020603050405020304" pitchFamily="18" charset="0"/>
                <a:cs typeface="Times New Roman" panose="02020603050405020304" pitchFamily="18" charset="0"/>
                <a:sym typeface="+mn-ea"/>
              </a:rPr>
              <a:t>f</a:t>
            </a:r>
            <a:r>
              <a:rPr lang="zh-CN" altLang="en-US" sz="1800" dirty="0">
                <a:latin typeface="Times New Roman" panose="02020603050405020304" pitchFamily="18" charset="0"/>
                <a:cs typeface="Times New Roman" panose="02020603050405020304" pitchFamily="18" charset="0"/>
                <a:sym typeface="+mn-ea"/>
              </a:rPr>
              <a:t>/B)×D＋L/B=(L</a:t>
            </a:r>
            <a:r>
              <a:rPr lang="zh-CN" altLang="en-US" sz="1800" baseline="-25000" dirty="0">
                <a:latin typeface="Times New Roman" panose="02020603050405020304" pitchFamily="18" charset="0"/>
                <a:cs typeface="Times New Roman" panose="02020603050405020304" pitchFamily="18" charset="0"/>
                <a:sym typeface="+mn-ea"/>
              </a:rPr>
              <a:t>f</a:t>
            </a:r>
            <a:r>
              <a:rPr lang="zh-CN" altLang="en-US" sz="1800" dirty="0">
                <a:latin typeface="Times New Roman" panose="02020603050405020304" pitchFamily="18" charset="0"/>
                <a:cs typeface="Times New Roman" panose="02020603050405020304" pitchFamily="18" charset="0"/>
                <a:sym typeface="+mn-ea"/>
              </a:rPr>
              <a:t>×D＋L)/B,L</a:t>
            </a:r>
            <a:r>
              <a:rPr lang="zh-CN" altLang="en-US" sz="1800" baseline="-25000" dirty="0">
                <a:latin typeface="Times New Roman" panose="02020603050405020304" pitchFamily="18" charset="0"/>
                <a:cs typeface="Times New Roman" panose="02020603050405020304" pitchFamily="18" charset="0"/>
                <a:sym typeface="+mn-ea"/>
              </a:rPr>
              <a:t>f</a:t>
            </a:r>
            <a:r>
              <a:rPr lang="zh-CN" altLang="en-US" sz="1800" dirty="0">
                <a:latin typeface="Times New Roman" panose="02020603050405020304" pitchFamily="18" charset="0"/>
                <a:cs typeface="Times New Roman" panose="02020603050405020304" pitchFamily="18" charset="0"/>
                <a:sym typeface="+mn-ea"/>
              </a:rPr>
              <a:t>是片的长度，T</a:t>
            </a:r>
            <a:r>
              <a:rPr lang="zh-CN" altLang="en-US" sz="1800" baseline="-25000" dirty="0">
                <a:latin typeface="Times New Roman" panose="02020603050405020304" pitchFamily="18" charset="0"/>
                <a:cs typeface="Times New Roman" panose="02020603050405020304" pitchFamily="18" charset="0"/>
                <a:sym typeface="+mn-ea"/>
              </a:rPr>
              <a:t>f</a:t>
            </a:r>
            <a:r>
              <a:rPr lang="zh-CN" altLang="en-US" sz="1800" dirty="0">
                <a:latin typeface="Times New Roman" panose="02020603050405020304" pitchFamily="18" charset="0"/>
                <a:cs typeface="Times New Roman" panose="02020603050405020304" pitchFamily="18" charset="0"/>
                <a:sym typeface="+mn-ea"/>
              </a:rPr>
              <a:t>是片经过一个结点所需时间。</a:t>
            </a:r>
            <a:endParaRPr lang="zh-CN" altLang="en-US" sz="1800" dirty="0">
              <a:latin typeface="Times New Roman" panose="02020603050405020304" pitchFamily="18" charset="0"/>
              <a:cs typeface="Times New Roman" panose="02020603050405020304" pitchFamily="18" charset="0"/>
              <a:sym typeface="+mn-ea"/>
            </a:endParaRPr>
          </a:p>
          <a:p>
            <a:pPr lvl="1" eaLnBrk="1" latinLnBrk="0" hangingPunct="1">
              <a:spcBef>
                <a:spcPts val="600"/>
              </a:spcBef>
            </a:pPr>
            <a:r>
              <a:rPr lang="zh-CN" altLang="en-US" sz="1800" dirty="0">
                <a:latin typeface="Times New Roman" panose="02020603050405020304" pitchFamily="18" charset="0"/>
                <a:cs typeface="Times New Roman" panose="02020603050405020304" pitchFamily="18" charset="0"/>
                <a:sym typeface="+mn-ea"/>
              </a:rPr>
              <a:t>一般来说，L&gt;&gt;L</a:t>
            </a:r>
            <a:r>
              <a:rPr lang="zh-CN" altLang="en-US" sz="1800" baseline="-25000" dirty="0">
                <a:latin typeface="Times New Roman" panose="02020603050405020304" pitchFamily="18" charset="0"/>
                <a:cs typeface="Times New Roman" panose="02020603050405020304" pitchFamily="18" charset="0"/>
                <a:sym typeface="+mn-ea"/>
              </a:rPr>
              <a:t>f</a:t>
            </a:r>
            <a:r>
              <a:rPr lang="zh-CN" altLang="en-US" sz="1800" dirty="0">
                <a:latin typeface="Times New Roman" panose="02020603050405020304" pitchFamily="18" charset="0"/>
                <a:cs typeface="Times New Roman" panose="02020603050405020304" pitchFamily="18" charset="0"/>
                <a:sym typeface="+mn-ea"/>
              </a:rPr>
              <a:t>×D，公式可以近似为T＝L/B，时延与结点数无关。</a:t>
            </a:r>
            <a:endParaRPr lang="zh-CN" altLang="en-US" sz="18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7.3</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寻径算法</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5054600"/>
          </a:xfrm>
        </p:spPr>
        <p:txBody>
          <a:bodyPr vert="horz" wrap="square" lIns="91440" tIns="45720" rIns="91440" bIns="45720" anchor="t" anchorCtr="0"/>
          <a:p>
            <a:pPr eaLnBrk="1" latinLnBrk="0" hangingPunct="1">
              <a:spcBef>
                <a:spcPts val="1200"/>
              </a:spcBef>
            </a:pPr>
            <a:r>
              <a:rPr lang="zh-CN" altLang="en-US" sz="2000" dirty="0">
                <a:sym typeface="+mn-ea"/>
              </a:rPr>
              <a:t>如何找出一条从源结点到目的结点的路径来传送消息？</a:t>
            </a:r>
            <a:endParaRPr lang="zh-CN" altLang="en-US" sz="2000" dirty="0"/>
          </a:p>
          <a:p>
            <a:pPr eaLnBrk="1" latinLnBrk="0" hangingPunct="1">
              <a:spcBef>
                <a:spcPts val="1200"/>
              </a:spcBef>
            </a:pPr>
            <a:endParaRPr lang="zh-CN" altLang="en-US" sz="2000" dirty="0"/>
          </a:p>
          <a:p>
            <a:pPr eaLnBrk="1" latinLnBrk="0" hangingPunct="1">
              <a:spcBef>
                <a:spcPts val="1200"/>
              </a:spcBef>
            </a:pPr>
            <a:r>
              <a:rPr lang="zh-CN" altLang="en-US" sz="2000" dirty="0">
                <a:sym typeface="+mn-ea"/>
              </a:rPr>
              <a:t>寻径可分为确定和自适应两类</a:t>
            </a:r>
            <a:endParaRPr lang="zh-CN" altLang="en-US" sz="2000" dirty="0"/>
          </a:p>
          <a:p>
            <a:pPr lvl="1" eaLnBrk="1" latinLnBrk="0" hangingPunct="1">
              <a:spcBef>
                <a:spcPts val="1200"/>
              </a:spcBef>
            </a:pPr>
            <a:r>
              <a:rPr lang="zh-CN" altLang="en-US" sz="2000" dirty="0">
                <a:sym typeface="+mn-ea"/>
              </a:rPr>
              <a:t>采用确定寻径时，</a:t>
            </a:r>
            <a:r>
              <a:rPr lang="zh-CN" altLang="en-US" sz="2000" dirty="0">
                <a:solidFill>
                  <a:srgbClr val="FF0000"/>
                </a:solidFill>
                <a:sym typeface="+mn-ea"/>
              </a:rPr>
              <a:t>通信路径完全由源和目的地址确定</a:t>
            </a:r>
            <a:endParaRPr lang="zh-CN" altLang="en-US" sz="2000" dirty="0">
              <a:solidFill>
                <a:srgbClr val="FF0000"/>
              </a:solidFill>
            </a:endParaRPr>
          </a:p>
          <a:p>
            <a:pPr lvl="2" eaLnBrk="1" latinLnBrk="0" hangingPunct="1">
              <a:spcBef>
                <a:spcPts val="1200"/>
              </a:spcBef>
            </a:pPr>
            <a:r>
              <a:rPr lang="zh-CN" altLang="en-US" sz="2000" dirty="0">
                <a:sym typeface="+mn-ea"/>
              </a:rPr>
              <a:t>即寻找的路径是预先唯一确定的，与网络的状况无关</a:t>
            </a:r>
            <a:endParaRPr lang="zh-CN" altLang="en-US" sz="2000" dirty="0"/>
          </a:p>
          <a:p>
            <a:pPr lvl="1" eaLnBrk="1" latinLnBrk="0" hangingPunct="1">
              <a:spcBef>
                <a:spcPts val="1200"/>
              </a:spcBef>
            </a:pPr>
            <a:r>
              <a:rPr lang="zh-CN" altLang="en-US" sz="2000" dirty="0">
                <a:sym typeface="+mn-ea"/>
              </a:rPr>
              <a:t>自适应寻径与网络的状况有关，可能会有几条路径</a:t>
            </a:r>
            <a:endParaRPr lang="zh-CN" altLang="en-US" sz="2000" dirty="0"/>
          </a:p>
          <a:p>
            <a:pPr lvl="1" eaLnBrk="1" latinLnBrk="0" hangingPunct="1">
              <a:spcBef>
                <a:spcPts val="1200"/>
              </a:spcBef>
            </a:pPr>
            <a:r>
              <a:rPr lang="zh-CN" altLang="en-US" sz="2000" dirty="0">
                <a:sym typeface="+mn-ea"/>
              </a:rPr>
              <a:t>两种寻径都需要</a:t>
            </a:r>
            <a:r>
              <a:rPr lang="zh-CN" altLang="en-US" sz="2000" dirty="0">
                <a:solidFill>
                  <a:srgbClr val="FF0000"/>
                </a:solidFill>
                <a:sym typeface="+mn-ea"/>
              </a:rPr>
              <a:t>无死锁算法</a:t>
            </a:r>
            <a:endPar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确定寻径</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5054600"/>
          </a:xfrm>
        </p:spPr>
        <p:txBody>
          <a:bodyPr vert="horz" wrap="square" lIns="91440" tIns="45720" rIns="91440" bIns="45720" anchor="t" anchorCtr="0"/>
          <a:p>
            <a:pPr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维序寻径算法</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按照多维网络维序的特定顺序来选择后继通道</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在二维网格网络中称为</a:t>
            </a:r>
            <a:r>
              <a:rPr lang="en-US" altLang="zh-CN" sz="2000" dirty="0">
                <a:latin typeface="Times New Roman" panose="02020603050405020304" pitchFamily="18" charset="0"/>
                <a:cs typeface="Times New Roman" panose="02020603050405020304" pitchFamily="18" charset="0"/>
                <a:sym typeface="+mn-ea"/>
              </a:rPr>
              <a:t>X-Y</a:t>
            </a:r>
            <a:r>
              <a:rPr lang="zh-CN" altLang="en-US" sz="2000" dirty="0">
                <a:latin typeface="Times New Roman" panose="02020603050405020304" pitchFamily="18" charset="0"/>
                <a:cs typeface="Times New Roman" panose="02020603050405020304" pitchFamily="18" charset="0"/>
                <a:sym typeface="+mn-ea"/>
              </a:rPr>
              <a:t>寻径</a:t>
            </a:r>
            <a:endParaRPr lang="zh-CN" altLang="en-US" sz="2000" dirty="0">
              <a:latin typeface="Times New Roman" panose="02020603050405020304" pitchFamily="18" charset="0"/>
              <a:cs typeface="Times New Roman" panose="02020603050405020304" pitchFamily="18" charset="0"/>
            </a:endParaRPr>
          </a:p>
          <a:p>
            <a:pPr lvl="2"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首先沿</a:t>
            </a:r>
            <a:r>
              <a:rPr lang="en-US" altLang="zh-CN" sz="2000" dirty="0">
                <a:latin typeface="Times New Roman" panose="02020603050405020304" pitchFamily="18" charset="0"/>
                <a:cs typeface="Times New Roman" panose="02020603050405020304" pitchFamily="18" charset="0"/>
                <a:sym typeface="+mn-ea"/>
              </a:rPr>
              <a:t>X</a:t>
            </a:r>
            <a:r>
              <a:rPr lang="zh-CN" altLang="en-US" sz="2000" dirty="0">
                <a:latin typeface="Times New Roman" panose="02020603050405020304" pitchFamily="18" charset="0"/>
                <a:cs typeface="Times New Roman" panose="02020603050405020304" pitchFamily="18" charset="0"/>
                <a:sym typeface="+mn-ea"/>
              </a:rPr>
              <a:t>维方向确定路径，然后沿</a:t>
            </a:r>
            <a:r>
              <a:rPr lang="en-US" altLang="zh-CN" sz="2000" dirty="0">
                <a:latin typeface="Times New Roman" panose="02020603050405020304" pitchFamily="18" charset="0"/>
                <a:cs typeface="Times New Roman" panose="02020603050405020304" pitchFamily="18" charset="0"/>
                <a:sym typeface="+mn-ea"/>
              </a:rPr>
              <a:t>Y</a:t>
            </a:r>
            <a:r>
              <a:rPr lang="zh-CN" altLang="en-US" sz="2000" dirty="0">
                <a:latin typeface="Times New Roman" panose="02020603050405020304" pitchFamily="18" charset="0"/>
                <a:cs typeface="Times New Roman" panose="02020603050405020304" pitchFamily="18" charset="0"/>
                <a:sym typeface="+mn-ea"/>
              </a:rPr>
              <a:t>维方向选择路径</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超立方体</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或</a:t>
            </a: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立方体</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网络，</a:t>
            </a:r>
            <a:r>
              <a:rPr lang="en-US" altLang="zh-CN" sz="2000" dirty="0">
                <a:latin typeface="Times New Roman" panose="02020603050405020304" pitchFamily="18" charset="0"/>
                <a:cs typeface="Times New Roman" panose="02020603050405020304" pitchFamily="18" charset="0"/>
                <a:sym typeface="+mn-ea"/>
              </a:rPr>
              <a:t>Sullivan</a:t>
            </a:r>
            <a:r>
              <a:rPr lang="zh-CN" altLang="en-US" sz="2000" dirty="0">
                <a:latin typeface="Times New Roman" panose="02020603050405020304" pitchFamily="18" charset="0"/>
                <a:cs typeface="Times New Roman" panose="02020603050405020304" pitchFamily="18" charset="0"/>
                <a:sym typeface="+mn-ea"/>
              </a:rPr>
              <a:t>和</a:t>
            </a:r>
            <a:r>
              <a:rPr lang="en-US" altLang="zh-CN" sz="2000" dirty="0">
                <a:latin typeface="Times New Roman" panose="02020603050405020304" pitchFamily="18" charset="0"/>
                <a:cs typeface="Times New Roman" panose="02020603050405020304" pitchFamily="18" charset="0"/>
                <a:sym typeface="+mn-ea"/>
              </a:rPr>
              <a:t>Bashkow 1977</a:t>
            </a:r>
            <a:r>
              <a:rPr lang="zh-CN" altLang="en-US" sz="2000" dirty="0">
                <a:latin typeface="Times New Roman" panose="02020603050405020304" pitchFamily="18" charset="0"/>
                <a:cs typeface="Times New Roman" panose="02020603050405020304" pitchFamily="18" charset="0"/>
                <a:sym typeface="+mn-ea"/>
              </a:rPr>
              <a:t>年提出</a:t>
            </a:r>
            <a:r>
              <a:rPr lang="en-US" altLang="zh-CN" sz="2000" dirty="0">
                <a:latin typeface="Times New Roman" panose="02020603050405020304" pitchFamily="18" charset="0"/>
                <a:cs typeface="Times New Roman" panose="02020603050405020304" pitchFamily="18" charset="0"/>
                <a:sym typeface="+mn-ea"/>
              </a:rPr>
              <a:t>E</a:t>
            </a:r>
            <a:r>
              <a:rPr lang="zh-CN" altLang="en-US" sz="2000" dirty="0">
                <a:latin typeface="Times New Roman" panose="02020603050405020304" pitchFamily="18" charset="0"/>
                <a:cs typeface="Times New Roman" panose="02020603050405020304" pitchFamily="18" charset="0"/>
                <a:sym typeface="+mn-ea"/>
              </a:rPr>
              <a:t>立方体寻径</a:t>
            </a:r>
            <a:r>
              <a:rPr lang="en-US" altLang="zh-CN" sz="2000" dirty="0">
                <a:latin typeface="Times New Roman" panose="02020603050405020304" pitchFamily="18" charset="0"/>
                <a:cs typeface="Times New Roman" panose="02020603050405020304" pitchFamily="18" charset="0"/>
                <a:sym typeface="+mn-ea"/>
              </a:rPr>
              <a:t>(E-cube routing)</a:t>
            </a:r>
            <a:r>
              <a:rPr lang="zh-CN" altLang="en-US" sz="2000" dirty="0">
                <a:latin typeface="Times New Roman" panose="02020603050405020304" pitchFamily="18" charset="0"/>
                <a:cs typeface="Times New Roman" panose="02020603050405020304" pitchFamily="18" charset="0"/>
                <a:sym typeface="+mn-ea"/>
              </a:rPr>
              <a:t>方法</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逐维改变</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800"/>
              </a:spcBef>
            </a:pPr>
            <a:r>
              <a:rPr lang="zh-CN" altLang="en-US" sz="2000" dirty="0">
                <a:latin typeface="Times New Roman" panose="02020603050405020304" pitchFamily="18" charset="0"/>
                <a:cs typeface="Times New Roman" panose="02020603050405020304" pitchFamily="18" charset="0"/>
                <a:sym typeface="+mn-ea"/>
              </a:rPr>
              <a:t>二维网格网络的</a:t>
            </a:r>
            <a:r>
              <a:rPr lang="en-US" altLang="zh-CN" sz="2000" dirty="0">
                <a:latin typeface="Times New Roman" panose="02020603050405020304" pitchFamily="18" charset="0"/>
                <a:cs typeface="Times New Roman" panose="02020603050405020304" pitchFamily="18" charset="0"/>
                <a:sym typeface="+mn-ea"/>
              </a:rPr>
              <a:t>X-Y</a:t>
            </a:r>
            <a:r>
              <a:rPr lang="zh-CN" altLang="en-US" sz="2000" dirty="0">
                <a:latin typeface="Times New Roman" panose="02020603050405020304" pitchFamily="18" charset="0"/>
                <a:cs typeface="Times New Roman" panose="02020603050405020304" pitchFamily="18" charset="0"/>
                <a:sym typeface="+mn-ea"/>
              </a:rPr>
              <a:t>寻径</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从任意源结点</a:t>
            </a:r>
            <a:r>
              <a:rPr lang="en-US" altLang="zh-CN" sz="2000" dirty="0">
                <a:latin typeface="Times New Roman" panose="02020603050405020304" pitchFamily="18" charset="0"/>
                <a:cs typeface="Times New Roman" panose="02020603050405020304" pitchFamily="18" charset="0"/>
                <a:sym typeface="+mn-ea"/>
              </a:rPr>
              <a:t>s=(x</a:t>
            </a:r>
            <a:r>
              <a:rPr lang="en-US" altLang="zh-CN" sz="2000" baseline="-25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y</a:t>
            </a:r>
            <a:r>
              <a:rPr lang="en-US" altLang="zh-CN" sz="2000" baseline="-25000" dirty="0">
                <a:latin typeface="Times New Roman" panose="02020603050405020304" pitchFamily="18" charset="0"/>
                <a:cs typeface="Times New Roman" panose="02020603050405020304" pitchFamily="18" charset="0"/>
                <a:sym typeface="+mn-ea"/>
              </a:rPr>
              <a:t>1</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到任意目的结点</a:t>
            </a:r>
            <a:r>
              <a:rPr lang="en-US" altLang="zh-CN" sz="2000" dirty="0">
                <a:latin typeface="Times New Roman" panose="02020603050405020304" pitchFamily="18" charset="0"/>
                <a:cs typeface="Times New Roman" panose="02020603050405020304" pitchFamily="18" charset="0"/>
                <a:sym typeface="+mn-ea"/>
              </a:rPr>
              <a:t>d=(x</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y</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a:t>
            </a:r>
            <a:endParaRPr lang="en-US" altLang="zh-CN"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寻径从</a:t>
            </a:r>
            <a:r>
              <a:rPr lang="en-US" altLang="zh-CN" sz="2000" dirty="0">
                <a:latin typeface="Times New Roman" panose="02020603050405020304" pitchFamily="18" charset="0"/>
                <a:cs typeface="Times New Roman" panose="02020603050405020304" pitchFamily="18" charset="0"/>
                <a:sym typeface="+mn-ea"/>
              </a:rPr>
              <a:t>s</a:t>
            </a:r>
            <a:r>
              <a:rPr lang="zh-CN" altLang="en-US" sz="2000" dirty="0">
                <a:latin typeface="Times New Roman" panose="02020603050405020304" pitchFamily="18" charset="0"/>
                <a:cs typeface="Times New Roman" panose="02020603050405020304" pitchFamily="18" charset="0"/>
                <a:sym typeface="+mn-ea"/>
              </a:rPr>
              <a:t>开始</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首先沿</a:t>
            </a:r>
            <a:r>
              <a:rPr lang="en-US" altLang="zh-CN" sz="2000" dirty="0">
                <a:latin typeface="Times New Roman" panose="02020603050405020304" pitchFamily="18" charset="0"/>
                <a:cs typeface="Times New Roman" panose="02020603050405020304" pitchFamily="18" charset="0"/>
                <a:sym typeface="+mn-ea"/>
              </a:rPr>
              <a:t>X</a:t>
            </a:r>
            <a:r>
              <a:rPr lang="zh-CN" altLang="en-US" sz="2000" dirty="0">
                <a:latin typeface="Times New Roman" panose="02020603050405020304" pitchFamily="18" charset="0"/>
                <a:cs typeface="Times New Roman" panose="02020603050405020304" pitchFamily="18" charset="0"/>
                <a:sym typeface="+mn-ea"/>
              </a:rPr>
              <a:t>方向前进一直到</a:t>
            </a:r>
            <a:r>
              <a:rPr lang="en-US" altLang="zh-CN" sz="2000" dirty="0">
                <a:latin typeface="Times New Roman" panose="02020603050405020304" pitchFamily="18" charset="0"/>
                <a:cs typeface="Times New Roman" panose="02020603050405020304" pitchFamily="18" charset="0"/>
                <a:sym typeface="+mn-ea"/>
              </a:rPr>
              <a:t>d</a:t>
            </a:r>
            <a:r>
              <a:rPr lang="zh-CN" altLang="en-US" sz="2000" dirty="0">
                <a:latin typeface="Times New Roman" panose="02020603050405020304" pitchFamily="18" charset="0"/>
                <a:cs typeface="Times New Roman" panose="02020603050405020304" pitchFamily="18" charset="0"/>
                <a:sym typeface="+mn-ea"/>
              </a:rPr>
              <a:t>所在的第</a:t>
            </a:r>
            <a:r>
              <a:rPr lang="en-US" altLang="zh-CN" sz="2000" dirty="0">
                <a:latin typeface="Times New Roman" panose="02020603050405020304" pitchFamily="18" charset="0"/>
                <a:cs typeface="Times New Roman" panose="02020603050405020304" pitchFamily="18" charset="0"/>
                <a:sym typeface="+mn-ea"/>
              </a:rPr>
              <a:t>x</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列为止</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然后沿</a:t>
            </a:r>
            <a:r>
              <a:rPr lang="en-US" altLang="zh-CN" sz="2000" dirty="0">
                <a:latin typeface="Times New Roman" panose="02020603050405020304" pitchFamily="18" charset="0"/>
                <a:cs typeface="Times New Roman" panose="02020603050405020304" pitchFamily="18" charset="0"/>
                <a:sym typeface="+mn-ea"/>
              </a:rPr>
              <a:t>Y</a:t>
            </a:r>
            <a:r>
              <a:rPr lang="zh-CN" altLang="en-US" sz="2000" dirty="0">
                <a:latin typeface="Times New Roman" panose="02020603050405020304" pitchFamily="18" charset="0"/>
                <a:cs typeface="Times New Roman" panose="02020603050405020304" pitchFamily="18" charset="0"/>
                <a:sym typeface="+mn-ea"/>
              </a:rPr>
              <a:t>方向前进直到</a:t>
            </a:r>
            <a:r>
              <a:rPr lang="en-US" altLang="zh-CN" sz="2000" dirty="0">
                <a:latin typeface="Times New Roman" panose="02020603050405020304" pitchFamily="18" charset="0"/>
                <a:cs typeface="Times New Roman" panose="02020603050405020304" pitchFamily="18" charset="0"/>
                <a:sym typeface="+mn-ea"/>
              </a:rPr>
              <a:t>y</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即</a:t>
            </a:r>
            <a:r>
              <a:rPr lang="en-US" altLang="zh-CN" sz="2000" dirty="0">
                <a:latin typeface="Times New Roman" panose="02020603050405020304" pitchFamily="18" charset="0"/>
                <a:cs typeface="Times New Roman" panose="02020603050405020304" pitchFamily="18" charset="0"/>
                <a:sym typeface="+mn-ea"/>
              </a:rPr>
              <a:t>d</a:t>
            </a:r>
            <a:endParaRPr lang="en-US" altLang="zh-CN" sz="2000" dirty="0">
              <a:latin typeface="Times New Roman" panose="02020603050405020304" pitchFamily="18" charset="0"/>
              <a:cs typeface="Times New Roman" panose="02020603050405020304" pitchFamily="18" charset="0"/>
            </a:endParaRPr>
          </a:p>
          <a:p>
            <a:pPr lvl="1" eaLnBrk="1" latinLnBrk="0" hangingPunct="1">
              <a:spcBef>
                <a:spcPts val="600"/>
              </a:spcBef>
            </a:pPr>
            <a:r>
              <a:rPr lang="zh-CN" altLang="en-US" sz="2000" dirty="0">
                <a:latin typeface="Times New Roman" panose="02020603050405020304" pitchFamily="18" charset="0"/>
                <a:cs typeface="Times New Roman" panose="02020603050405020304" pitchFamily="18" charset="0"/>
                <a:sym typeface="+mn-ea"/>
              </a:rPr>
              <a:t>总是首先沿</a:t>
            </a:r>
            <a:r>
              <a:rPr lang="en-US" altLang="zh-CN" sz="2000" dirty="0">
                <a:latin typeface="Times New Roman" panose="02020603050405020304" pitchFamily="18" charset="0"/>
                <a:cs typeface="Times New Roman" panose="02020603050405020304" pitchFamily="18" charset="0"/>
                <a:sym typeface="+mn-ea"/>
              </a:rPr>
              <a:t>X</a:t>
            </a:r>
            <a:r>
              <a:rPr lang="zh-CN" altLang="en-US" sz="2000" dirty="0">
                <a:latin typeface="Times New Roman" panose="02020603050405020304" pitchFamily="18" charset="0"/>
                <a:cs typeface="Times New Roman" panose="02020603050405020304" pitchFamily="18" charset="0"/>
                <a:sym typeface="+mn-ea"/>
              </a:rPr>
              <a:t>维方向寻径，然后再沿</a:t>
            </a:r>
            <a:r>
              <a:rPr lang="en-US" altLang="zh-CN" sz="2000" dirty="0">
                <a:latin typeface="Times New Roman" panose="02020603050405020304" pitchFamily="18" charset="0"/>
                <a:cs typeface="Times New Roman" panose="02020603050405020304" pitchFamily="18" charset="0"/>
                <a:sym typeface="+mn-ea"/>
              </a:rPr>
              <a:t>Y</a:t>
            </a:r>
            <a:r>
              <a:rPr lang="zh-CN" altLang="en-US" sz="2000" dirty="0">
                <a:latin typeface="Times New Roman" panose="02020603050405020304" pitchFamily="18" charset="0"/>
                <a:cs typeface="Times New Roman" panose="02020603050405020304" pitchFamily="18" charset="0"/>
                <a:sym typeface="+mn-ea"/>
              </a:rPr>
              <a:t>维方向寻径，寻径就</a:t>
            </a:r>
            <a:r>
              <a:rPr lang="zh-CN" altLang="en-US" sz="2000" dirty="0">
                <a:solidFill>
                  <a:srgbClr val="FF0000"/>
                </a:solidFill>
                <a:latin typeface="Times New Roman" panose="02020603050405020304" pitchFamily="18" charset="0"/>
                <a:cs typeface="Times New Roman" panose="02020603050405020304" pitchFamily="18" charset="0"/>
                <a:sym typeface="+mn-ea"/>
              </a:rPr>
              <a:t>不会出现死锁或循环等待</a:t>
            </a:r>
            <a:endParaRPr lang="zh-CN" altLang="en-US"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二维网格网络的X-Y寻径</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310640"/>
            <a:ext cx="2671445" cy="4855210"/>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与东</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北、东</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南、西</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北及西</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南的路径方向对应，</a:t>
            </a:r>
            <a:r>
              <a:rPr lang="en-US" altLang="zh-CN" sz="2000" dirty="0">
                <a:latin typeface="Times New Roman" panose="02020603050405020304" pitchFamily="18" charset="0"/>
                <a:cs typeface="Times New Roman" panose="02020603050405020304" pitchFamily="18" charset="0"/>
                <a:sym typeface="+mn-ea"/>
              </a:rPr>
              <a:t>X-Y</a:t>
            </a:r>
            <a:r>
              <a:rPr lang="zh-CN" altLang="en-US" sz="2000" dirty="0">
                <a:latin typeface="Times New Roman" panose="02020603050405020304" pitchFamily="18" charset="0"/>
                <a:cs typeface="Times New Roman" panose="02020603050405020304" pitchFamily="18" charset="0"/>
                <a:sym typeface="+mn-ea"/>
              </a:rPr>
              <a:t>寻径共有</a:t>
            </a:r>
            <a:r>
              <a:rPr lang="en-US" altLang="zh-CN" sz="2000" dirty="0">
                <a:latin typeface="Times New Roman" panose="02020603050405020304" pitchFamily="18" charset="0"/>
                <a:cs typeface="Times New Roman" panose="02020603050405020304" pitchFamily="18" charset="0"/>
                <a:sym typeface="+mn-ea"/>
              </a:rPr>
              <a:t>4</a:t>
            </a:r>
            <a:r>
              <a:rPr lang="zh-CN" altLang="en-US" sz="2000" dirty="0">
                <a:latin typeface="Times New Roman" panose="02020603050405020304" pitchFamily="18" charset="0"/>
                <a:cs typeface="Times New Roman" panose="02020603050405020304" pitchFamily="18" charset="0"/>
                <a:sym typeface="+mn-ea"/>
              </a:rPr>
              <a:t>种模式</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(2,1;7,6)</a:t>
            </a:r>
            <a:r>
              <a:rPr lang="zh-CN" altLang="en-US" sz="2000" dirty="0">
                <a:latin typeface="Times New Roman" panose="02020603050405020304" pitchFamily="18" charset="0"/>
                <a:cs typeface="Times New Roman" panose="02020603050405020304" pitchFamily="18" charset="0"/>
                <a:sym typeface="+mn-ea"/>
              </a:rPr>
              <a:t>东</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北</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(0,7;4,2)</a:t>
            </a:r>
            <a:r>
              <a:rPr lang="zh-CN" altLang="en-US" sz="2000" dirty="0">
                <a:latin typeface="Times New Roman" panose="02020603050405020304" pitchFamily="18" charset="0"/>
                <a:cs typeface="Times New Roman" panose="02020603050405020304" pitchFamily="18" charset="0"/>
                <a:sym typeface="+mn-ea"/>
              </a:rPr>
              <a:t>东</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南</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3639185" y="1273810"/>
            <a:ext cx="4998085" cy="509714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超立方体网络的E立方体寻径</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09675"/>
            <a:ext cx="8396605" cy="4956175"/>
          </a:xfrm>
        </p:spPr>
        <p:txBody>
          <a:bodyPr vert="horz" wrap="square" lIns="91440" tIns="45720" rIns="91440" bIns="45720" anchor="t" anchorCtr="0"/>
          <a:p>
            <a:pPr eaLnBrk="1" latinLnBrk="0" hangingPunct="1">
              <a:lnSpc>
                <a:spcPct val="100000"/>
              </a:lnSpc>
            </a:pPr>
            <a:r>
              <a:rPr lang="zh-CN" altLang="en-US" sz="2000" dirty="0">
                <a:solidFill>
                  <a:schemeClr val="accent6">
                    <a:lumMod val="75000"/>
                  </a:schemeClr>
                </a:solidFill>
                <a:latin typeface="Times New Roman" panose="02020603050405020304" pitchFamily="18" charset="0"/>
                <a:cs typeface="Times New Roman" panose="02020603050405020304" pitchFamily="18" charset="0"/>
                <a:sym typeface="+mn-ea"/>
              </a:rPr>
              <a:t>设有</a:t>
            </a:r>
            <a:r>
              <a:rPr lang="en-US" altLang="zh-CN" sz="2000" dirty="0">
                <a:solidFill>
                  <a:schemeClr val="accent6">
                    <a:lumMod val="75000"/>
                  </a:schemeClr>
                </a:solidFill>
                <a:latin typeface="Times New Roman" panose="02020603050405020304" pitchFamily="18" charset="0"/>
                <a:cs typeface="Times New Roman" panose="02020603050405020304" pitchFamily="18" charset="0"/>
                <a:sym typeface="+mn-ea"/>
              </a:rPr>
              <a:t>N=2</a:t>
            </a:r>
            <a:r>
              <a:rPr lang="en-US" altLang="zh-CN" sz="2000" baseline="30000" dirty="0">
                <a:solidFill>
                  <a:schemeClr val="accent6">
                    <a:lumMod val="75000"/>
                  </a:schemeClr>
                </a:solidFill>
                <a:latin typeface="Times New Roman" panose="02020603050405020304" pitchFamily="18" charset="0"/>
                <a:cs typeface="Times New Roman" panose="02020603050405020304" pitchFamily="18" charset="0"/>
                <a:sym typeface="+mn-ea"/>
              </a:rPr>
              <a:t>n</a:t>
            </a:r>
            <a:r>
              <a:rPr lang="zh-CN" altLang="en-US" sz="2000" dirty="0">
                <a:solidFill>
                  <a:schemeClr val="accent6">
                    <a:lumMod val="75000"/>
                  </a:schemeClr>
                </a:solidFill>
                <a:latin typeface="Times New Roman" panose="02020603050405020304" pitchFamily="18" charset="0"/>
                <a:cs typeface="Times New Roman" panose="02020603050405020304" pitchFamily="18" charset="0"/>
                <a:sym typeface="+mn-ea"/>
              </a:rPr>
              <a:t>个结点的</a:t>
            </a:r>
            <a:r>
              <a:rPr lang="en-US" altLang="zh-CN" sz="2000" dirty="0">
                <a:solidFill>
                  <a:schemeClr val="accent6">
                    <a:lumMod val="75000"/>
                  </a:schemeClr>
                </a:solidFill>
                <a:latin typeface="Times New Roman" panose="02020603050405020304" pitchFamily="18" charset="0"/>
                <a:cs typeface="Times New Roman" panose="02020603050405020304" pitchFamily="18" charset="0"/>
                <a:sym typeface="+mn-ea"/>
              </a:rPr>
              <a:t>n</a:t>
            </a:r>
            <a:r>
              <a:rPr lang="zh-CN" altLang="en-US" sz="2000" dirty="0">
                <a:solidFill>
                  <a:schemeClr val="accent6">
                    <a:lumMod val="75000"/>
                  </a:schemeClr>
                </a:solidFill>
                <a:latin typeface="Times New Roman" panose="02020603050405020304" pitchFamily="18" charset="0"/>
                <a:cs typeface="Times New Roman" panose="02020603050405020304" pitchFamily="18" charset="0"/>
                <a:sym typeface="+mn-ea"/>
              </a:rPr>
              <a:t>方体。</a:t>
            </a:r>
            <a:endParaRPr lang="zh-CN" altLang="en-US" sz="2000" dirty="0">
              <a:solidFill>
                <a:schemeClr val="accent6">
                  <a:lumMod val="75000"/>
                </a:schemeClr>
              </a:solidFill>
              <a:latin typeface="Times New Roman" panose="02020603050405020304" pitchFamily="18" charset="0"/>
              <a:cs typeface="Times New Roman" panose="02020603050405020304" pitchFamily="18" charset="0"/>
              <a:sym typeface="+mn-ea"/>
            </a:endParaRPr>
          </a:p>
          <a:p>
            <a:pPr lvl="1" eaLnBrk="1" latinLnBrk="0" hangingPunct="1">
              <a:lnSpc>
                <a:spcPct val="100000"/>
              </a:lnSpc>
              <a:spcBef>
                <a:spcPts val="600"/>
              </a:spcBef>
            </a:pPr>
            <a:r>
              <a:rPr lang="zh-CN" altLang="en-US" sz="1800" dirty="0">
                <a:solidFill>
                  <a:schemeClr val="tx1"/>
                </a:solidFill>
                <a:latin typeface="Times New Roman" panose="02020603050405020304" pitchFamily="18" charset="0"/>
                <a:cs typeface="Times New Roman" panose="02020603050405020304" pitchFamily="18" charset="0"/>
                <a:sym typeface="+mn-ea"/>
              </a:rPr>
              <a:t>结点的二进制编码为</a:t>
            </a:r>
            <a:r>
              <a:rPr lang="en-US" altLang="zh-CN" sz="1800" dirty="0">
                <a:solidFill>
                  <a:schemeClr val="tx1"/>
                </a:solidFill>
                <a:latin typeface="Times New Roman" panose="02020603050405020304" pitchFamily="18" charset="0"/>
                <a:cs typeface="Times New Roman" panose="02020603050405020304" pitchFamily="18" charset="0"/>
                <a:sym typeface="+mn-ea"/>
              </a:rPr>
              <a:t>b=b</a:t>
            </a:r>
            <a:r>
              <a:rPr lang="en-US" altLang="zh-CN" sz="1800" baseline="-30000" dirty="0">
                <a:solidFill>
                  <a:schemeClr val="tx1"/>
                </a:solidFill>
                <a:latin typeface="Times New Roman" panose="02020603050405020304" pitchFamily="18" charset="0"/>
                <a:cs typeface="Times New Roman" panose="02020603050405020304" pitchFamily="18" charset="0"/>
                <a:sym typeface="+mn-ea"/>
              </a:rPr>
              <a:t>n-1</a:t>
            </a:r>
            <a:r>
              <a:rPr lang="en-US" altLang="zh-CN" sz="1800" dirty="0">
                <a:solidFill>
                  <a:schemeClr val="tx1"/>
                </a:solidFill>
                <a:latin typeface="Times New Roman" panose="02020603050405020304" pitchFamily="18" charset="0"/>
                <a:cs typeface="Times New Roman" panose="02020603050405020304" pitchFamily="18" charset="0"/>
                <a:sym typeface="+mn-ea"/>
              </a:rPr>
              <a:t>b</a:t>
            </a:r>
            <a:r>
              <a:rPr lang="en-US" altLang="zh-CN" sz="1800" baseline="-30000" dirty="0">
                <a:solidFill>
                  <a:schemeClr val="tx1"/>
                </a:solidFill>
                <a:latin typeface="Times New Roman" panose="02020603050405020304" pitchFamily="18" charset="0"/>
                <a:cs typeface="Times New Roman" panose="02020603050405020304" pitchFamily="18" charset="0"/>
                <a:sym typeface="+mn-ea"/>
              </a:rPr>
              <a:t>n-2</a:t>
            </a:r>
            <a:r>
              <a:rPr lang="en-US" altLang="zh-CN" sz="1800" dirty="0">
                <a:solidFill>
                  <a:schemeClr val="tx1"/>
                </a:solidFill>
                <a:latin typeface="Times New Roman" panose="02020603050405020304" pitchFamily="18" charset="0"/>
                <a:cs typeface="Times New Roman" panose="02020603050405020304" pitchFamily="18" charset="0"/>
                <a:sym typeface="+mn-ea"/>
              </a:rPr>
              <a:t>…b</a:t>
            </a:r>
            <a:r>
              <a:rPr lang="en-US" altLang="zh-CN" sz="1800" baseline="-30000" dirty="0">
                <a:solidFill>
                  <a:schemeClr val="tx1"/>
                </a:solidFill>
                <a:latin typeface="Times New Roman" panose="02020603050405020304" pitchFamily="18" charset="0"/>
                <a:cs typeface="Times New Roman" panose="02020603050405020304" pitchFamily="18" charset="0"/>
                <a:sym typeface="+mn-ea"/>
              </a:rPr>
              <a:t>1</a:t>
            </a:r>
            <a:r>
              <a:rPr lang="en-US" altLang="zh-CN" sz="1800" dirty="0">
                <a:solidFill>
                  <a:schemeClr val="tx1"/>
                </a:solidFill>
                <a:latin typeface="Times New Roman" panose="02020603050405020304" pitchFamily="18" charset="0"/>
                <a:cs typeface="Times New Roman" panose="02020603050405020304" pitchFamily="18" charset="0"/>
                <a:sym typeface="+mn-ea"/>
              </a:rPr>
              <a:t>b</a:t>
            </a:r>
            <a:r>
              <a:rPr lang="en-US" altLang="zh-CN" sz="1800" baseline="-30000" dirty="0">
                <a:solidFill>
                  <a:schemeClr val="tx1"/>
                </a:solidFill>
                <a:latin typeface="Times New Roman" panose="02020603050405020304" pitchFamily="18" charset="0"/>
                <a:cs typeface="Times New Roman" panose="02020603050405020304" pitchFamily="18" charset="0"/>
                <a:sym typeface="+mn-ea"/>
              </a:rPr>
              <a:t>0</a:t>
            </a:r>
            <a:r>
              <a:rPr lang="zh-CN" altLang="en-US" sz="1800" dirty="0">
                <a:solidFill>
                  <a:schemeClr val="tx1"/>
                </a:solidFill>
                <a:latin typeface="Times New Roman" panose="02020603050405020304" pitchFamily="18" charset="0"/>
                <a:cs typeface="Times New Roman" panose="02020603050405020304" pitchFamily="18" charset="0"/>
                <a:sym typeface="+mn-ea"/>
              </a:rPr>
              <a:t>。源结点为</a:t>
            </a:r>
            <a:r>
              <a:rPr lang="en-US" altLang="zh-CN" sz="1800" dirty="0">
                <a:solidFill>
                  <a:schemeClr val="tx1"/>
                </a:solidFill>
                <a:latin typeface="Times New Roman" panose="02020603050405020304" pitchFamily="18" charset="0"/>
                <a:cs typeface="Times New Roman" panose="02020603050405020304" pitchFamily="18" charset="0"/>
                <a:sym typeface="+mn-ea"/>
              </a:rPr>
              <a:t>s=s</a:t>
            </a:r>
            <a:r>
              <a:rPr lang="en-US" altLang="zh-CN" sz="1800" baseline="-30000" dirty="0">
                <a:solidFill>
                  <a:schemeClr val="tx1"/>
                </a:solidFill>
                <a:latin typeface="Times New Roman" panose="02020603050405020304" pitchFamily="18" charset="0"/>
                <a:cs typeface="Times New Roman" panose="02020603050405020304" pitchFamily="18" charset="0"/>
                <a:sym typeface="+mn-ea"/>
              </a:rPr>
              <a:t>n-1</a:t>
            </a:r>
            <a:r>
              <a:rPr lang="en-US" altLang="zh-CN" sz="1800" dirty="0">
                <a:solidFill>
                  <a:schemeClr val="tx1"/>
                </a:solidFill>
                <a:latin typeface="Times New Roman" panose="02020603050405020304" pitchFamily="18" charset="0"/>
                <a:cs typeface="Times New Roman" panose="02020603050405020304" pitchFamily="18" charset="0"/>
                <a:sym typeface="+mn-ea"/>
              </a:rPr>
              <a:t>s</a:t>
            </a:r>
            <a:r>
              <a:rPr lang="en-US" altLang="zh-CN" sz="1800" baseline="-30000" dirty="0">
                <a:solidFill>
                  <a:schemeClr val="tx1"/>
                </a:solidFill>
                <a:latin typeface="Times New Roman" panose="02020603050405020304" pitchFamily="18" charset="0"/>
                <a:cs typeface="Times New Roman" panose="02020603050405020304" pitchFamily="18" charset="0"/>
                <a:sym typeface="+mn-ea"/>
              </a:rPr>
              <a:t>n-2</a:t>
            </a:r>
            <a:r>
              <a:rPr lang="en-US" altLang="zh-CN" sz="1800" dirty="0">
                <a:solidFill>
                  <a:schemeClr val="tx1"/>
                </a:solidFill>
                <a:latin typeface="Times New Roman" panose="02020603050405020304" pitchFamily="18" charset="0"/>
                <a:cs typeface="Times New Roman" panose="02020603050405020304" pitchFamily="18" charset="0"/>
                <a:sym typeface="+mn-ea"/>
              </a:rPr>
              <a:t>…s</a:t>
            </a:r>
            <a:r>
              <a:rPr lang="en-US" altLang="zh-CN" sz="1800" baseline="-30000" dirty="0">
                <a:solidFill>
                  <a:schemeClr val="tx1"/>
                </a:solidFill>
                <a:latin typeface="Times New Roman" panose="02020603050405020304" pitchFamily="18" charset="0"/>
                <a:cs typeface="Times New Roman" panose="02020603050405020304" pitchFamily="18" charset="0"/>
                <a:sym typeface="+mn-ea"/>
              </a:rPr>
              <a:t>1</a:t>
            </a:r>
            <a:r>
              <a:rPr lang="en-US" altLang="zh-CN" sz="1800" dirty="0">
                <a:solidFill>
                  <a:schemeClr val="tx1"/>
                </a:solidFill>
                <a:latin typeface="Times New Roman" panose="02020603050405020304" pitchFamily="18" charset="0"/>
                <a:cs typeface="Times New Roman" panose="02020603050405020304" pitchFamily="18" charset="0"/>
                <a:sym typeface="+mn-ea"/>
              </a:rPr>
              <a:t>s</a:t>
            </a:r>
            <a:r>
              <a:rPr lang="en-US" altLang="zh-CN" sz="1800" baseline="-30000" dirty="0">
                <a:solidFill>
                  <a:schemeClr val="tx1"/>
                </a:solidFill>
                <a:latin typeface="Times New Roman" panose="02020603050405020304" pitchFamily="18" charset="0"/>
                <a:cs typeface="Times New Roman" panose="02020603050405020304" pitchFamily="18" charset="0"/>
                <a:sym typeface="+mn-ea"/>
              </a:rPr>
              <a:t>0</a:t>
            </a:r>
            <a:r>
              <a:rPr lang="zh-CN" altLang="en-US" sz="1800" dirty="0">
                <a:solidFill>
                  <a:schemeClr val="tx1"/>
                </a:solidFill>
                <a:latin typeface="Times New Roman" panose="02020603050405020304" pitchFamily="18" charset="0"/>
                <a:cs typeface="Times New Roman" panose="02020603050405020304" pitchFamily="18" charset="0"/>
                <a:sym typeface="+mn-ea"/>
              </a:rPr>
              <a:t>，目的结点</a:t>
            </a:r>
            <a:r>
              <a:rPr lang="en-US" altLang="zh-CN" sz="1800" dirty="0">
                <a:solidFill>
                  <a:schemeClr val="tx1"/>
                </a:solidFill>
                <a:latin typeface="Times New Roman" panose="02020603050405020304" pitchFamily="18" charset="0"/>
                <a:cs typeface="Times New Roman" panose="02020603050405020304" pitchFamily="18" charset="0"/>
                <a:sym typeface="+mn-ea"/>
              </a:rPr>
              <a:t>d=d</a:t>
            </a:r>
            <a:r>
              <a:rPr lang="en-US" altLang="zh-CN" sz="1800" baseline="-30000" dirty="0">
                <a:solidFill>
                  <a:schemeClr val="tx1"/>
                </a:solidFill>
                <a:latin typeface="Times New Roman" panose="02020603050405020304" pitchFamily="18" charset="0"/>
                <a:cs typeface="Times New Roman" panose="02020603050405020304" pitchFamily="18" charset="0"/>
                <a:sym typeface="+mn-ea"/>
              </a:rPr>
              <a:t>n-1</a:t>
            </a:r>
            <a:r>
              <a:rPr lang="en-US" altLang="zh-CN" sz="1800" dirty="0">
                <a:solidFill>
                  <a:schemeClr val="tx1"/>
                </a:solidFill>
                <a:latin typeface="Times New Roman" panose="02020603050405020304" pitchFamily="18" charset="0"/>
                <a:cs typeface="Times New Roman" panose="02020603050405020304" pitchFamily="18" charset="0"/>
                <a:sym typeface="+mn-ea"/>
              </a:rPr>
              <a:t>d</a:t>
            </a:r>
            <a:r>
              <a:rPr lang="en-US" altLang="zh-CN" sz="1800" baseline="-30000" dirty="0">
                <a:solidFill>
                  <a:schemeClr val="tx1"/>
                </a:solidFill>
                <a:latin typeface="Times New Roman" panose="02020603050405020304" pitchFamily="18" charset="0"/>
                <a:cs typeface="Times New Roman" panose="02020603050405020304" pitchFamily="18" charset="0"/>
                <a:sym typeface="+mn-ea"/>
              </a:rPr>
              <a:t>n-2</a:t>
            </a:r>
            <a:r>
              <a:rPr lang="en-US" altLang="zh-CN" sz="1800" dirty="0">
                <a:solidFill>
                  <a:schemeClr val="tx1"/>
                </a:solidFill>
                <a:latin typeface="Times New Roman" panose="02020603050405020304" pitchFamily="18" charset="0"/>
                <a:cs typeface="Times New Roman" panose="02020603050405020304" pitchFamily="18" charset="0"/>
                <a:sym typeface="+mn-ea"/>
              </a:rPr>
              <a:t>…d</a:t>
            </a:r>
            <a:r>
              <a:rPr lang="en-US" altLang="zh-CN" sz="1800" baseline="-30000" dirty="0">
                <a:solidFill>
                  <a:schemeClr val="tx1"/>
                </a:solidFill>
                <a:latin typeface="Times New Roman" panose="02020603050405020304" pitchFamily="18" charset="0"/>
                <a:cs typeface="Times New Roman" panose="02020603050405020304" pitchFamily="18" charset="0"/>
                <a:sym typeface="+mn-ea"/>
              </a:rPr>
              <a:t>1</a:t>
            </a:r>
            <a:r>
              <a:rPr lang="en-US" altLang="zh-CN" sz="1800" dirty="0">
                <a:solidFill>
                  <a:schemeClr val="tx1"/>
                </a:solidFill>
                <a:latin typeface="Times New Roman" panose="02020603050405020304" pitchFamily="18" charset="0"/>
                <a:cs typeface="Times New Roman" panose="02020603050405020304" pitchFamily="18" charset="0"/>
                <a:sym typeface="+mn-ea"/>
              </a:rPr>
              <a:t>d</a:t>
            </a:r>
            <a:r>
              <a:rPr lang="en-US" altLang="zh-CN" sz="1800" baseline="-30000" dirty="0">
                <a:solidFill>
                  <a:schemeClr val="tx1"/>
                </a:solidFill>
                <a:latin typeface="Times New Roman" panose="02020603050405020304" pitchFamily="18" charset="0"/>
                <a:cs typeface="Times New Roman" panose="02020603050405020304" pitchFamily="18" charset="0"/>
                <a:sym typeface="+mn-ea"/>
              </a:rPr>
              <a:t>0</a:t>
            </a:r>
            <a:endParaRPr lang="en-US" altLang="zh-CN" sz="1800" dirty="0">
              <a:solidFill>
                <a:schemeClr val="tx1"/>
              </a:solidFill>
              <a:latin typeface="Times New Roman" panose="02020603050405020304" pitchFamily="18" charset="0"/>
              <a:cs typeface="Times New Roman" panose="02020603050405020304" pitchFamily="18" charset="0"/>
            </a:endParaRPr>
          </a:p>
          <a:p>
            <a:pPr lvl="1" eaLnBrk="1" latinLnBrk="0" hangingPunct="1">
              <a:lnSpc>
                <a:spcPct val="100000"/>
              </a:lnSpc>
              <a:spcBef>
                <a:spcPts val="600"/>
              </a:spcBef>
            </a:pPr>
            <a:r>
              <a:rPr lang="zh-CN" altLang="en-US" sz="1800" b="0" dirty="0">
                <a:solidFill>
                  <a:schemeClr val="tx1"/>
                </a:solidFill>
                <a:latin typeface="Times New Roman" panose="02020603050405020304" pitchFamily="18" charset="0"/>
                <a:cs typeface="Times New Roman" panose="02020603050405020304" pitchFamily="18" charset="0"/>
                <a:sym typeface="+mn-ea"/>
              </a:rPr>
              <a:t>现要确定一条从s到d的步数最小的路径</a:t>
            </a:r>
            <a:endParaRPr lang="zh-CN" altLang="en-US" sz="1800" b="0" dirty="0">
              <a:solidFill>
                <a:schemeClr val="tx1"/>
              </a:solidFill>
              <a:latin typeface="Times New Roman" panose="02020603050405020304" pitchFamily="18" charset="0"/>
              <a:cs typeface="Times New Roman" panose="02020603050405020304" pitchFamily="18" charset="0"/>
            </a:endParaRPr>
          </a:p>
          <a:p>
            <a:pPr eaLnBrk="1" latinLnBrk="0" hangingPunct="1">
              <a:lnSpc>
                <a:spcPct val="100000"/>
              </a:lnSpc>
              <a:spcBef>
                <a:spcPts val="1200"/>
              </a:spcBef>
            </a:pPr>
            <a:r>
              <a:rPr lang="zh-CN" altLang="en-US" sz="2000" dirty="0">
                <a:solidFill>
                  <a:schemeClr val="accent6">
                    <a:lumMod val="75000"/>
                  </a:schemeClr>
                </a:solidFill>
                <a:latin typeface="Times New Roman" panose="02020603050405020304" pitchFamily="18" charset="0"/>
                <a:cs typeface="Times New Roman" panose="02020603050405020304" pitchFamily="18" charset="0"/>
                <a:sym typeface="+mn-ea"/>
              </a:rPr>
              <a:t>将</a:t>
            </a:r>
            <a:r>
              <a:rPr lang="en-US" altLang="zh-CN" sz="2000" dirty="0">
                <a:solidFill>
                  <a:schemeClr val="accent6">
                    <a:lumMod val="75000"/>
                  </a:schemeClr>
                </a:solidFill>
                <a:latin typeface="Times New Roman" panose="02020603050405020304" pitchFamily="18" charset="0"/>
                <a:cs typeface="Times New Roman" panose="02020603050405020304" pitchFamily="18" charset="0"/>
                <a:sym typeface="+mn-ea"/>
              </a:rPr>
              <a:t>n</a:t>
            </a:r>
            <a:r>
              <a:rPr lang="zh-CN" altLang="en-US" sz="2000" dirty="0">
                <a:solidFill>
                  <a:schemeClr val="accent6">
                    <a:lumMod val="75000"/>
                  </a:schemeClr>
                </a:solidFill>
                <a:latin typeface="Times New Roman" panose="02020603050405020304" pitchFamily="18" charset="0"/>
                <a:cs typeface="Times New Roman" panose="02020603050405020304" pitchFamily="18" charset="0"/>
                <a:sym typeface="+mn-ea"/>
              </a:rPr>
              <a:t>维表示成</a:t>
            </a:r>
            <a:r>
              <a:rPr lang="en-US" altLang="zh-CN" sz="2000" dirty="0">
                <a:solidFill>
                  <a:schemeClr val="accent6">
                    <a:lumMod val="75000"/>
                  </a:schemeClr>
                </a:solidFill>
                <a:latin typeface="Times New Roman" panose="02020603050405020304" pitchFamily="18" charset="0"/>
                <a:cs typeface="Times New Roman" panose="02020603050405020304" pitchFamily="18" charset="0"/>
                <a:sym typeface="+mn-ea"/>
              </a:rPr>
              <a:t>i=1</a:t>
            </a:r>
            <a:r>
              <a:rPr lang="zh-CN" altLang="en-US" sz="2000" dirty="0">
                <a:solidFill>
                  <a:schemeClr val="accent6">
                    <a:lumMod val="75000"/>
                  </a:schemeClr>
                </a:solidFill>
                <a:latin typeface="Times New Roman" panose="02020603050405020304" pitchFamily="18" charset="0"/>
                <a:cs typeface="Times New Roman" panose="02020603050405020304" pitchFamily="18" charset="0"/>
                <a:sym typeface="+mn-ea"/>
              </a:rPr>
              <a:t>，</a:t>
            </a:r>
            <a:r>
              <a:rPr lang="en-US" altLang="zh-CN" sz="2000" dirty="0">
                <a:solidFill>
                  <a:schemeClr val="accent6">
                    <a:lumMod val="75000"/>
                  </a:schemeClr>
                </a:solidFill>
                <a:latin typeface="Times New Roman" panose="02020603050405020304" pitchFamily="18" charset="0"/>
                <a:cs typeface="Times New Roman" panose="02020603050405020304" pitchFamily="18" charset="0"/>
                <a:sym typeface="+mn-ea"/>
              </a:rPr>
              <a:t>2</a:t>
            </a:r>
            <a:r>
              <a:rPr lang="zh-CN" altLang="en-US" sz="2000" dirty="0">
                <a:solidFill>
                  <a:schemeClr val="accent6">
                    <a:lumMod val="75000"/>
                  </a:schemeClr>
                </a:solidFill>
                <a:latin typeface="Times New Roman" panose="02020603050405020304" pitchFamily="18" charset="0"/>
                <a:cs typeface="Times New Roman" panose="02020603050405020304" pitchFamily="18" charset="0"/>
                <a:sym typeface="+mn-ea"/>
              </a:rPr>
              <a:t>，</a:t>
            </a:r>
            <a:r>
              <a:rPr lang="en-US" altLang="zh-CN" sz="2000" dirty="0">
                <a:solidFill>
                  <a:schemeClr val="accent6">
                    <a:lumMod val="75000"/>
                  </a:schemeClr>
                </a:solidFill>
                <a:latin typeface="Times New Roman" panose="02020603050405020304" pitchFamily="18" charset="0"/>
                <a:cs typeface="Times New Roman" panose="02020603050405020304" pitchFamily="18" charset="0"/>
                <a:sym typeface="+mn-ea"/>
              </a:rPr>
              <a:t>…</a:t>
            </a:r>
            <a:r>
              <a:rPr lang="zh-CN" altLang="en-US" sz="2000" dirty="0">
                <a:solidFill>
                  <a:schemeClr val="accent6">
                    <a:lumMod val="75000"/>
                  </a:schemeClr>
                </a:solidFill>
                <a:latin typeface="Times New Roman" panose="02020603050405020304" pitchFamily="18" charset="0"/>
                <a:cs typeface="Times New Roman" panose="02020603050405020304" pitchFamily="18" charset="0"/>
                <a:sym typeface="+mn-ea"/>
              </a:rPr>
              <a:t>，</a:t>
            </a:r>
            <a:r>
              <a:rPr lang="en-US" altLang="zh-CN" sz="2000" dirty="0">
                <a:solidFill>
                  <a:schemeClr val="accent6">
                    <a:lumMod val="75000"/>
                  </a:schemeClr>
                </a:solidFill>
                <a:latin typeface="Times New Roman" panose="02020603050405020304" pitchFamily="18" charset="0"/>
                <a:cs typeface="Times New Roman" panose="02020603050405020304" pitchFamily="18" charset="0"/>
                <a:sym typeface="+mn-ea"/>
              </a:rPr>
              <a:t>n</a:t>
            </a:r>
            <a:r>
              <a:rPr lang="zh-CN" altLang="en-US" sz="2000" dirty="0">
                <a:solidFill>
                  <a:schemeClr val="accent6">
                    <a:lumMod val="75000"/>
                  </a:schemeClr>
                </a:solidFill>
                <a:latin typeface="Times New Roman" panose="02020603050405020304" pitchFamily="18" charset="0"/>
                <a:cs typeface="Times New Roman" panose="02020603050405020304" pitchFamily="18" charset="0"/>
                <a:sym typeface="+mn-ea"/>
              </a:rPr>
              <a:t>，其中第</a:t>
            </a:r>
            <a:r>
              <a:rPr lang="en-US" altLang="zh-CN" sz="2000" dirty="0">
                <a:solidFill>
                  <a:schemeClr val="accent6">
                    <a:lumMod val="75000"/>
                  </a:schemeClr>
                </a:solidFill>
                <a:latin typeface="Times New Roman" panose="02020603050405020304" pitchFamily="18" charset="0"/>
                <a:cs typeface="Times New Roman" panose="02020603050405020304" pitchFamily="18" charset="0"/>
                <a:sym typeface="+mn-ea"/>
              </a:rPr>
              <a:t>i</a:t>
            </a:r>
            <a:r>
              <a:rPr lang="zh-CN" altLang="en-US" sz="2000" dirty="0">
                <a:solidFill>
                  <a:schemeClr val="accent6">
                    <a:lumMod val="75000"/>
                  </a:schemeClr>
                </a:solidFill>
                <a:latin typeface="Times New Roman" panose="02020603050405020304" pitchFamily="18" charset="0"/>
                <a:cs typeface="Times New Roman" panose="02020603050405020304" pitchFamily="18" charset="0"/>
                <a:sym typeface="+mn-ea"/>
              </a:rPr>
              <a:t>维对应于结点地址中的第</a:t>
            </a:r>
            <a:r>
              <a:rPr lang="en-US" altLang="zh-CN" sz="2000" dirty="0">
                <a:solidFill>
                  <a:schemeClr val="accent6">
                    <a:lumMod val="75000"/>
                  </a:schemeClr>
                </a:solidFill>
                <a:latin typeface="Times New Roman" panose="02020603050405020304" pitchFamily="18" charset="0"/>
                <a:cs typeface="Times New Roman" panose="02020603050405020304" pitchFamily="18" charset="0"/>
                <a:sym typeface="+mn-ea"/>
              </a:rPr>
              <a:t>i-1</a:t>
            </a:r>
            <a:r>
              <a:rPr lang="zh-CN" altLang="en-US" sz="2000" dirty="0">
                <a:solidFill>
                  <a:schemeClr val="accent6">
                    <a:lumMod val="75000"/>
                  </a:schemeClr>
                </a:solidFill>
                <a:latin typeface="Times New Roman" panose="02020603050405020304" pitchFamily="18" charset="0"/>
                <a:cs typeface="Times New Roman" panose="02020603050405020304" pitchFamily="18" charset="0"/>
                <a:sym typeface="+mn-ea"/>
              </a:rPr>
              <a:t>位。设</a:t>
            </a:r>
            <a:r>
              <a:rPr lang="en-US" altLang="zh-CN" sz="2000" dirty="0">
                <a:solidFill>
                  <a:schemeClr val="accent6">
                    <a:lumMod val="75000"/>
                  </a:schemeClr>
                </a:solidFill>
                <a:latin typeface="Times New Roman" panose="02020603050405020304" pitchFamily="18" charset="0"/>
                <a:cs typeface="Times New Roman" panose="02020603050405020304" pitchFamily="18" charset="0"/>
                <a:sym typeface="+mn-ea"/>
              </a:rPr>
              <a:t>v=v</a:t>
            </a:r>
            <a:r>
              <a:rPr lang="en-US" altLang="zh-CN" sz="2000" baseline="-30000" dirty="0">
                <a:solidFill>
                  <a:schemeClr val="accent6">
                    <a:lumMod val="75000"/>
                  </a:schemeClr>
                </a:solidFill>
                <a:latin typeface="Times New Roman" panose="02020603050405020304" pitchFamily="18" charset="0"/>
                <a:cs typeface="Times New Roman" panose="02020603050405020304" pitchFamily="18" charset="0"/>
                <a:sym typeface="+mn-ea"/>
              </a:rPr>
              <a:t>n-1</a:t>
            </a:r>
            <a:r>
              <a:rPr lang="en-US" altLang="zh-CN" sz="2000" dirty="0">
                <a:solidFill>
                  <a:schemeClr val="accent6">
                    <a:lumMod val="75000"/>
                  </a:schemeClr>
                </a:solidFill>
                <a:latin typeface="Times New Roman" panose="02020603050405020304" pitchFamily="18" charset="0"/>
                <a:cs typeface="Times New Roman" panose="02020603050405020304" pitchFamily="18" charset="0"/>
                <a:sym typeface="+mn-ea"/>
              </a:rPr>
              <a:t>v</a:t>
            </a:r>
            <a:r>
              <a:rPr lang="en-US" altLang="zh-CN" sz="2000" baseline="-30000" dirty="0">
                <a:solidFill>
                  <a:schemeClr val="accent6">
                    <a:lumMod val="75000"/>
                  </a:schemeClr>
                </a:solidFill>
                <a:latin typeface="Times New Roman" panose="02020603050405020304" pitchFamily="18" charset="0"/>
                <a:cs typeface="Times New Roman" panose="02020603050405020304" pitchFamily="18" charset="0"/>
                <a:sym typeface="+mn-ea"/>
              </a:rPr>
              <a:t>n-2</a:t>
            </a:r>
            <a:r>
              <a:rPr lang="en-US" altLang="zh-CN" sz="2000" dirty="0">
                <a:solidFill>
                  <a:schemeClr val="accent6">
                    <a:lumMod val="75000"/>
                  </a:schemeClr>
                </a:solidFill>
                <a:latin typeface="Times New Roman" panose="02020603050405020304" pitchFamily="18" charset="0"/>
                <a:cs typeface="Times New Roman" panose="02020603050405020304" pitchFamily="18" charset="0"/>
                <a:sym typeface="+mn-ea"/>
              </a:rPr>
              <a:t>…v</a:t>
            </a:r>
            <a:r>
              <a:rPr lang="en-US" altLang="zh-CN" sz="2000" baseline="-30000" dirty="0">
                <a:solidFill>
                  <a:schemeClr val="accent6">
                    <a:lumMod val="75000"/>
                  </a:schemeClr>
                </a:solidFill>
                <a:latin typeface="Times New Roman" panose="02020603050405020304" pitchFamily="18" charset="0"/>
                <a:cs typeface="Times New Roman" panose="02020603050405020304" pitchFamily="18" charset="0"/>
                <a:sym typeface="+mn-ea"/>
              </a:rPr>
              <a:t>1</a:t>
            </a:r>
            <a:r>
              <a:rPr lang="en-US" altLang="zh-CN" sz="2000" dirty="0">
                <a:solidFill>
                  <a:schemeClr val="accent6">
                    <a:lumMod val="75000"/>
                  </a:schemeClr>
                </a:solidFill>
                <a:latin typeface="Times New Roman" panose="02020603050405020304" pitchFamily="18" charset="0"/>
                <a:cs typeface="Times New Roman" panose="02020603050405020304" pitchFamily="18" charset="0"/>
                <a:sym typeface="+mn-ea"/>
              </a:rPr>
              <a:t>v</a:t>
            </a:r>
            <a:r>
              <a:rPr lang="en-US" altLang="zh-CN" sz="2000" baseline="-30000" dirty="0">
                <a:solidFill>
                  <a:schemeClr val="accent6">
                    <a:lumMod val="75000"/>
                  </a:schemeClr>
                </a:solidFill>
                <a:latin typeface="Times New Roman" panose="02020603050405020304" pitchFamily="18" charset="0"/>
                <a:cs typeface="Times New Roman" panose="02020603050405020304" pitchFamily="18" charset="0"/>
                <a:sym typeface="+mn-ea"/>
              </a:rPr>
              <a:t>0</a:t>
            </a:r>
            <a:r>
              <a:rPr lang="zh-CN" altLang="en-US" sz="2000" dirty="0">
                <a:solidFill>
                  <a:schemeClr val="accent6">
                    <a:lumMod val="75000"/>
                  </a:schemeClr>
                </a:solidFill>
                <a:latin typeface="Times New Roman" panose="02020603050405020304" pitchFamily="18" charset="0"/>
                <a:cs typeface="Times New Roman" panose="02020603050405020304" pitchFamily="18" charset="0"/>
                <a:sym typeface="+mn-ea"/>
              </a:rPr>
              <a:t>是路径中的任一结点。路径根据以下方法唯一地确定</a:t>
            </a:r>
            <a:endParaRPr lang="zh-CN" altLang="en-US" sz="2000" dirty="0">
              <a:solidFill>
                <a:schemeClr val="accent6">
                  <a:lumMod val="75000"/>
                </a:schemeClr>
              </a:solidFill>
              <a:latin typeface="Times New Roman" panose="02020603050405020304" pitchFamily="18" charset="0"/>
              <a:cs typeface="Times New Roman" panose="02020603050405020304" pitchFamily="18" charset="0"/>
            </a:endParaRPr>
          </a:p>
          <a:p>
            <a:pPr lvl="1" eaLnBrk="1" latinLnBrk="0" hangingPunct="1">
              <a:lnSpc>
                <a:spcPct val="100000"/>
              </a:lnSpc>
              <a:spcBef>
                <a:spcPts val="600"/>
              </a:spcBef>
            </a:pPr>
            <a:r>
              <a:rPr lang="zh-CN" altLang="en-US" sz="1800" dirty="0">
                <a:solidFill>
                  <a:srgbClr val="000000"/>
                </a:solidFill>
                <a:latin typeface="Times New Roman" panose="02020603050405020304" pitchFamily="18" charset="0"/>
                <a:cs typeface="Times New Roman" panose="02020603050405020304" pitchFamily="18" charset="0"/>
                <a:sym typeface="+mn-ea"/>
              </a:rPr>
              <a:t>①计算方向位</a:t>
            </a:r>
            <a:r>
              <a:rPr lang="en-US" altLang="zh-CN" sz="1800" dirty="0">
                <a:solidFill>
                  <a:srgbClr val="000000"/>
                </a:solidFill>
                <a:latin typeface="Times New Roman" panose="02020603050405020304" pitchFamily="18" charset="0"/>
                <a:cs typeface="Times New Roman" panose="02020603050405020304" pitchFamily="18" charset="0"/>
                <a:sym typeface="+mn-ea"/>
              </a:rPr>
              <a:t>r=s</a:t>
            </a:r>
            <a:r>
              <a:rPr lang="en-US" altLang="zh-CN" sz="1800" dirty="0">
                <a:latin typeface="Times New Roman" panose="02020603050405020304" pitchFamily="18" charset="0"/>
                <a:cs typeface="Times New Roman" panose="02020603050405020304" pitchFamily="18" charset="0"/>
                <a:sym typeface="+mn-ea"/>
              </a:rPr>
              <a:t>⊕</a:t>
            </a:r>
            <a:r>
              <a:rPr lang="en-US" altLang="zh-CN" sz="1800" dirty="0">
                <a:solidFill>
                  <a:srgbClr val="000000"/>
                </a:solidFill>
                <a:latin typeface="Times New Roman" panose="02020603050405020304" pitchFamily="18" charset="0"/>
                <a:cs typeface="Times New Roman" panose="02020603050405020304" pitchFamily="18" charset="0"/>
                <a:sym typeface="+mn-ea"/>
              </a:rPr>
              <a:t>d, r</a:t>
            </a:r>
            <a:r>
              <a:rPr lang="en-US" altLang="zh-CN" sz="1800" baseline="-30000" dirty="0">
                <a:solidFill>
                  <a:srgbClr val="000000"/>
                </a:solidFill>
                <a:latin typeface="Times New Roman" panose="02020603050405020304" pitchFamily="18" charset="0"/>
                <a:cs typeface="Times New Roman" panose="02020603050405020304" pitchFamily="18" charset="0"/>
                <a:sym typeface="+mn-ea"/>
              </a:rPr>
              <a:t>i</a:t>
            </a:r>
            <a:r>
              <a:rPr lang="en-US" altLang="zh-CN" sz="1800" dirty="0">
                <a:solidFill>
                  <a:srgbClr val="000000"/>
                </a:solidFill>
                <a:latin typeface="Times New Roman" panose="02020603050405020304" pitchFamily="18" charset="0"/>
                <a:cs typeface="Times New Roman" panose="02020603050405020304" pitchFamily="18" charset="0"/>
                <a:sym typeface="+mn-ea"/>
              </a:rPr>
              <a:t>=s</a:t>
            </a:r>
            <a:r>
              <a:rPr lang="en-US" altLang="zh-CN" sz="1800" baseline="-30000" dirty="0">
                <a:solidFill>
                  <a:srgbClr val="000000"/>
                </a:solidFill>
                <a:latin typeface="Times New Roman" panose="02020603050405020304" pitchFamily="18" charset="0"/>
                <a:cs typeface="Times New Roman" panose="02020603050405020304" pitchFamily="18" charset="0"/>
                <a:sym typeface="+mn-ea"/>
              </a:rPr>
              <a:t>i-1</a:t>
            </a:r>
            <a:r>
              <a:rPr lang="en-US" altLang="zh-CN" sz="1800" dirty="0">
                <a:latin typeface="Times New Roman" panose="02020603050405020304" pitchFamily="18" charset="0"/>
                <a:cs typeface="Times New Roman" panose="02020603050405020304" pitchFamily="18" charset="0"/>
                <a:sym typeface="+mn-ea"/>
              </a:rPr>
              <a:t>⊕</a:t>
            </a:r>
            <a:r>
              <a:rPr lang="en-US" altLang="zh-CN" sz="1800" dirty="0">
                <a:solidFill>
                  <a:srgbClr val="000000"/>
                </a:solidFill>
                <a:latin typeface="Times New Roman" panose="02020603050405020304" pitchFamily="18" charset="0"/>
                <a:cs typeface="Times New Roman" panose="02020603050405020304" pitchFamily="18" charset="0"/>
                <a:sym typeface="+mn-ea"/>
              </a:rPr>
              <a:t>d</a:t>
            </a:r>
            <a:r>
              <a:rPr lang="en-US" altLang="zh-CN" sz="1800" baseline="-30000" dirty="0">
                <a:solidFill>
                  <a:srgbClr val="000000"/>
                </a:solidFill>
                <a:latin typeface="Times New Roman" panose="02020603050405020304" pitchFamily="18" charset="0"/>
                <a:cs typeface="Times New Roman" panose="02020603050405020304" pitchFamily="18" charset="0"/>
                <a:sym typeface="+mn-ea"/>
              </a:rPr>
              <a:t>i-1</a:t>
            </a:r>
            <a:r>
              <a:rPr lang="zh-CN" altLang="en-US" sz="1800" dirty="0">
                <a:solidFill>
                  <a:srgbClr val="000000"/>
                </a:solidFill>
                <a:latin typeface="Times New Roman" panose="02020603050405020304" pitchFamily="18" charset="0"/>
                <a:cs typeface="Times New Roman" panose="02020603050405020304" pitchFamily="18" charset="0"/>
                <a:sym typeface="+mn-ea"/>
              </a:rPr>
              <a:t>，其中</a:t>
            </a:r>
            <a:r>
              <a:rPr lang="en-US" altLang="zh-CN" sz="1800" dirty="0">
                <a:solidFill>
                  <a:srgbClr val="000000"/>
                </a:solidFill>
                <a:latin typeface="Times New Roman" panose="02020603050405020304" pitchFamily="18" charset="0"/>
                <a:cs typeface="Times New Roman" panose="02020603050405020304" pitchFamily="18" charset="0"/>
                <a:sym typeface="+mn-ea"/>
              </a:rPr>
              <a:t>i=1</a:t>
            </a:r>
            <a:r>
              <a:rPr lang="zh-CN" altLang="en-US" sz="1800" dirty="0">
                <a:solidFill>
                  <a:srgbClr val="000000"/>
                </a:solidFill>
                <a:latin typeface="Times New Roman" panose="02020603050405020304" pitchFamily="18" charset="0"/>
                <a:cs typeface="Times New Roman" panose="02020603050405020304" pitchFamily="18" charset="0"/>
                <a:sym typeface="+mn-ea"/>
              </a:rPr>
              <a:t>，</a:t>
            </a:r>
            <a:r>
              <a:rPr lang="en-US" altLang="zh-CN" sz="1800" dirty="0">
                <a:solidFill>
                  <a:srgbClr val="000000"/>
                </a:solidFill>
                <a:latin typeface="Times New Roman" panose="02020603050405020304" pitchFamily="18" charset="0"/>
                <a:cs typeface="Times New Roman" panose="02020603050405020304" pitchFamily="18" charset="0"/>
                <a:sym typeface="+mn-ea"/>
              </a:rPr>
              <a:t>2</a:t>
            </a:r>
            <a:r>
              <a:rPr lang="zh-CN" altLang="en-US" sz="1800" dirty="0">
                <a:solidFill>
                  <a:srgbClr val="000000"/>
                </a:solidFill>
                <a:latin typeface="Times New Roman" panose="02020603050405020304" pitchFamily="18" charset="0"/>
                <a:cs typeface="Times New Roman" panose="02020603050405020304" pitchFamily="18" charset="0"/>
                <a:sym typeface="+mn-ea"/>
              </a:rPr>
              <a:t>，</a:t>
            </a:r>
            <a:r>
              <a:rPr lang="en-US" altLang="zh-CN" sz="1800" dirty="0">
                <a:solidFill>
                  <a:srgbClr val="000000"/>
                </a:solidFill>
                <a:latin typeface="Times New Roman" panose="02020603050405020304" pitchFamily="18" charset="0"/>
                <a:cs typeface="Times New Roman" panose="02020603050405020304" pitchFamily="18" charset="0"/>
                <a:sym typeface="+mn-ea"/>
              </a:rPr>
              <a:t>...</a:t>
            </a:r>
            <a:r>
              <a:rPr lang="zh-CN" altLang="en-US" sz="1800" dirty="0">
                <a:solidFill>
                  <a:srgbClr val="000000"/>
                </a:solidFill>
                <a:latin typeface="Times New Roman" panose="02020603050405020304" pitchFamily="18" charset="0"/>
                <a:cs typeface="Times New Roman" panose="02020603050405020304" pitchFamily="18" charset="0"/>
                <a:sym typeface="+mn-ea"/>
              </a:rPr>
              <a:t>，</a:t>
            </a:r>
            <a:r>
              <a:rPr lang="en-US" altLang="zh-CN" sz="1800" dirty="0">
                <a:solidFill>
                  <a:srgbClr val="000000"/>
                </a:solidFill>
                <a:latin typeface="Times New Roman" panose="02020603050405020304" pitchFamily="18" charset="0"/>
                <a:cs typeface="Times New Roman" panose="02020603050405020304" pitchFamily="18" charset="0"/>
                <a:sym typeface="+mn-ea"/>
              </a:rPr>
              <a:t>n</a:t>
            </a:r>
            <a:r>
              <a:rPr lang="zh-CN" altLang="en-US" sz="1800" dirty="0">
                <a:solidFill>
                  <a:srgbClr val="000000"/>
                </a:solidFill>
                <a:latin typeface="Times New Roman" panose="02020603050405020304" pitchFamily="18" charset="0"/>
                <a:cs typeface="Times New Roman" panose="02020603050405020304" pitchFamily="18" charset="0"/>
                <a:sym typeface="+mn-ea"/>
              </a:rPr>
              <a:t>。使</a:t>
            </a:r>
            <a:r>
              <a:rPr lang="en-US" altLang="zh-CN" sz="1800" dirty="0">
                <a:solidFill>
                  <a:srgbClr val="000000"/>
                </a:solidFill>
                <a:latin typeface="Times New Roman" panose="02020603050405020304" pitchFamily="18" charset="0"/>
                <a:cs typeface="Times New Roman" panose="02020603050405020304" pitchFamily="18" charset="0"/>
                <a:sym typeface="+mn-ea"/>
              </a:rPr>
              <a:t>i=1</a:t>
            </a:r>
            <a:r>
              <a:rPr lang="zh-CN" altLang="en-US" sz="1800" dirty="0">
                <a:solidFill>
                  <a:srgbClr val="000000"/>
                </a:solidFill>
                <a:latin typeface="Times New Roman" panose="02020603050405020304" pitchFamily="18" charset="0"/>
                <a:cs typeface="Times New Roman" panose="02020603050405020304" pitchFamily="18" charset="0"/>
                <a:sym typeface="+mn-ea"/>
              </a:rPr>
              <a:t>，</a:t>
            </a:r>
            <a:r>
              <a:rPr lang="en-US" altLang="zh-CN" sz="1800" dirty="0">
                <a:solidFill>
                  <a:srgbClr val="000000"/>
                </a:solidFill>
                <a:latin typeface="Times New Roman" panose="02020603050405020304" pitchFamily="18" charset="0"/>
                <a:cs typeface="Times New Roman" panose="02020603050405020304" pitchFamily="18" charset="0"/>
                <a:sym typeface="+mn-ea"/>
              </a:rPr>
              <a:t>v=s</a:t>
            </a:r>
            <a:endParaRPr lang="en-US" altLang="zh-CN" sz="1800" dirty="0">
              <a:solidFill>
                <a:srgbClr val="000000"/>
              </a:solidFill>
              <a:latin typeface="Times New Roman" panose="02020603050405020304" pitchFamily="18" charset="0"/>
              <a:cs typeface="Times New Roman" panose="02020603050405020304" pitchFamily="18" charset="0"/>
            </a:endParaRPr>
          </a:p>
          <a:p>
            <a:pPr lvl="1" eaLnBrk="1" latinLnBrk="0" hangingPunct="1">
              <a:lnSpc>
                <a:spcPct val="100000"/>
              </a:lnSpc>
              <a:spcBef>
                <a:spcPts val="600"/>
              </a:spcBef>
            </a:pPr>
            <a:r>
              <a:rPr lang="en-US" altLang="zh-CN" sz="1800" dirty="0">
                <a:solidFill>
                  <a:srgbClr val="000000"/>
                </a:solidFill>
                <a:latin typeface="Times New Roman" panose="02020603050405020304" pitchFamily="18" charset="0"/>
                <a:cs typeface="Times New Roman" panose="02020603050405020304" pitchFamily="18" charset="0"/>
                <a:sym typeface="+mn-ea"/>
              </a:rPr>
              <a:t>②</a:t>
            </a:r>
            <a:r>
              <a:rPr lang="zh-CN" altLang="en-US" sz="1800" dirty="0">
                <a:solidFill>
                  <a:srgbClr val="000000"/>
                </a:solidFill>
                <a:latin typeface="Times New Roman" panose="02020603050405020304" pitchFamily="18" charset="0"/>
                <a:cs typeface="Times New Roman" panose="02020603050405020304" pitchFamily="18" charset="0"/>
                <a:sym typeface="+mn-ea"/>
              </a:rPr>
              <a:t>如果</a:t>
            </a:r>
            <a:r>
              <a:rPr lang="en-US" altLang="zh-CN" sz="1800" dirty="0">
                <a:solidFill>
                  <a:srgbClr val="000000"/>
                </a:solidFill>
                <a:latin typeface="Times New Roman" panose="02020603050405020304" pitchFamily="18" charset="0"/>
                <a:cs typeface="Times New Roman" panose="02020603050405020304" pitchFamily="18" charset="0"/>
                <a:sym typeface="+mn-ea"/>
              </a:rPr>
              <a:t>r</a:t>
            </a:r>
            <a:r>
              <a:rPr lang="en-US" altLang="zh-CN" sz="1800" baseline="-30000" dirty="0">
                <a:solidFill>
                  <a:srgbClr val="000000"/>
                </a:solidFill>
                <a:latin typeface="Times New Roman" panose="02020603050405020304" pitchFamily="18" charset="0"/>
                <a:cs typeface="Times New Roman" panose="02020603050405020304" pitchFamily="18" charset="0"/>
                <a:sym typeface="+mn-ea"/>
              </a:rPr>
              <a:t>i</a:t>
            </a:r>
            <a:r>
              <a:rPr lang="en-US" altLang="zh-CN" sz="1800" dirty="0">
                <a:solidFill>
                  <a:srgbClr val="000000"/>
                </a:solidFill>
                <a:latin typeface="Times New Roman" panose="02020603050405020304" pitchFamily="18" charset="0"/>
                <a:cs typeface="Times New Roman" panose="02020603050405020304" pitchFamily="18" charset="0"/>
                <a:sym typeface="+mn-ea"/>
              </a:rPr>
              <a:t>=1</a:t>
            </a:r>
            <a:r>
              <a:rPr lang="zh-CN" altLang="en-US" sz="1800" dirty="0">
                <a:solidFill>
                  <a:srgbClr val="000000"/>
                </a:solidFill>
                <a:latin typeface="Times New Roman" panose="02020603050405020304" pitchFamily="18" charset="0"/>
                <a:cs typeface="Times New Roman" panose="02020603050405020304" pitchFamily="18" charset="0"/>
                <a:sym typeface="+mn-ea"/>
              </a:rPr>
              <a:t>，从当前结点</a:t>
            </a:r>
            <a:r>
              <a:rPr lang="en-US" altLang="zh-CN" sz="1800" dirty="0">
                <a:solidFill>
                  <a:srgbClr val="000000"/>
                </a:solidFill>
                <a:latin typeface="Times New Roman" panose="02020603050405020304" pitchFamily="18" charset="0"/>
                <a:cs typeface="Times New Roman" panose="02020603050405020304" pitchFamily="18" charset="0"/>
                <a:sym typeface="+mn-ea"/>
              </a:rPr>
              <a:t>u</a:t>
            </a:r>
            <a:r>
              <a:rPr lang="zh-CN" altLang="en-US" sz="1800" dirty="0">
                <a:latin typeface="Times New Roman" panose="02020603050405020304" pitchFamily="18" charset="0"/>
                <a:cs typeface="Times New Roman" panose="02020603050405020304" pitchFamily="18" charset="0"/>
                <a:sym typeface="+mn-ea"/>
              </a:rPr>
              <a:t>沿维</a:t>
            </a:r>
            <a:r>
              <a:rPr lang="en-US" altLang="zh-CN" sz="1800" dirty="0">
                <a:latin typeface="Times New Roman" panose="02020603050405020304" pitchFamily="18" charset="0"/>
                <a:cs typeface="Times New Roman" panose="02020603050405020304" pitchFamily="18" charset="0"/>
                <a:sym typeface="+mn-ea"/>
              </a:rPr>
              <a:t>i</a:t>
            </a:r>
            <a:r>
              <a:rPr lang="zh-CN" altLang="en-US" sz="1800" dirty="0">
                <a:latin typeface="Times New Roman" panose="02020603050405020304" pitchFamily="18" charset="0"/>
                <a:cs typeface="Times New Roman" panose="02020603050405020304" pitchFamily="18" charset="0"/>
                <a:sym typeface="+mn-ea"/>
              </a:rPr>
              <a:t>方向</a:t>
            </a:r>
            <a:r>
              <a:rPr lang="zh-CN" altLang="en-US" sz="1800" dirty="0">
                <a:solidFill>
                  <a:srgbClr val="000000"/>
                </a:solidFill>
                <a:latin typeface="Times New Roman" panose="02020603050405020304" pitchFamily="18" charset="0"/>
                <a:cs typeface="Times New Roman" panose="02020603050405020304" pitchFamily="18" charset="0"/>
                <a:sym typeface="+mn-ea"/>
              </a:rPr>
              <a:t>寻径到下一结点。</a:t>
            </a:r>
            <a:r>
              <a:rPr lang="zh-CN" altLang="en-US" sz="1800" dirty="0">
                <a:solidFill>
                  <a:srgbClr val="000000"/>
                </a:solidFill>
                <a:latin typeface="Times New Roman" panose="02020603050405020304" pitchFamily="18" charset="0"/>
                <a:cs typeface="Times New Roman" panose="02020603050405020304" pitchFamily="18" charset="0"/>
                <a:sym typeface="+mn-ea"/>
              </a:rPr>
              <a:t>否则跳过这一步</a:t>
            </a:r>
            <a:endParaRPr lang="zh-CN" altLang="en-US" sz="1800" dirty="0">
              <a:solidFill>
                <a:srgbClr val="000000"/>
              </a:solidFill>
              <a:latin typeface="Times New Roman" panose="02020603050405020304" pitchFamily="18" charset="0"/>
              <a:cs typeface="Times New Roman" panose="02020603050405020304" pitchFamily="18" charset="0"/>
            </a:endParaRPr>
          </a:p>
          <a:p>
            <a:pPr lvl="1" eaLnBrk="1" latinLnBrk="0" hangingPunct="1">
              <a:lnSpc>
                <a:spcPct val="100000"/>
              </a:lnSpc>
              <a:spcBef>
                <a:spcPts val="600"/>
              </a:spcBef>
            </a:pPr>
            <a:r>
              <a:rPr lang="zh-CN" altLang="en-US" sz="1800" dirty="0">
                <a:solidFill>
                  <a:srgbClr val="000000"/>
                </a:solidFill>
                <a:latin typeface="Times New Roman" panose="02020603050405020304" pitchFamily="18" charset="0"/>
                <a:cs typeface="Times New Roman" panose="02020603050405020304" pitchFamily="18" charset="0"/>
                <a:sym typeface="+mn-ea"/>
              </a:rPr>
              <a:t>③ </a:t>
            </a:r>
            <a:r>
              <a:rPr lang="en-US" altLang="zh-CN" sz="1800" dirty="0">
                <a:solidFill>
                  <a:srgbClr val="000000"/>
                </a:solidFill>
                <a:latin typeface="Times New Roman" panose="02020603050405020304" pitchFamily="18" charset="0"/>
                <a:cs typeface="Times New Roman" panose="02020603050405020304" pitchFamily="18" charset="0"/>
                <a:sym typeface="+mn-ea"/>
              </a:rPr>
              <a:t>i←i+1</a:t>
            </a:r>
            <a:r>
              <a:rPr lang="zh-CN" altLang="en-US" sz="1800" dirty="0">
                <a:solidFill>
                  <a:srgbClr val="000000"/>
                </a:solidFill>
                <a:latin typeface="Times New Roman" panose="02020603050405020304" pitchFamily="18" charset="0"/>
                <a:cs typeface="Times New Roman" panose="02020603050405020304" pitchFamily="18" charset="0"/>
                <a:sym typeface="+mn-ea"/>
              </a:rPr>
              <a:t>。如果</a:t>
            </a:r>
            <a:r>
              <a:rPr lang="en-US" altLang="zh-CN" sz="1800" dirty="0">
                <a:solidFill>
                  <a:srgbClr val="000000"/>
                </a:solidFill>
                <a:latin typeface="Times New Roman" panose="02020603050405020304" pitchFamily="18" charset="0"/>
                <a:cs typeface="Times New Roman" panose="02020603050405020304" pitchFamily="18" charset="0"/>
                <a:sym typeface="+mn-ea"/>
              </a:rPr>
              <a:t>i≤n</a:t>
            </a:r>
            <a:r>
              <a:rPr lang="zh-CN" altLang="en-US" sz="1800" dirty="0">
                <a:solidFill>
                  <a:srgbClr val="000000"/>
                </a:solidFill>
                <a:latin typeface="Times New Roman" panose="02020603050405020304" pitchFamily="18" charset="0"/>
                <a:cs typeface="Times New Roman" panose="02020603050405020304" pitchFamily="18" charset="0"/>
                <a:sym typeface="+mn-ea"/>
              </a:rPr>
              <a:t>，则转第②步，否则退出</a:t>
            </a:r>
            <a:endParaRPr lang="zh-CN" altLang="en-US" sz="1800" dirty="0">
              <a:solidFill>
                <a:srgbClr val="000000"/>
              </a:solidFill>
              <a:latin typeface="Times New Roman" panose="02020603050405020304" pitchFamily="18" charset="0"/>
              <a:cs typeface="Times New Roman" panose="02020603050405020304" pitchFamily="18" charset="0"/>
            </a:endParaRPr>
          </a:p>
          <a:p>
            <a:pPr eaLnBrk="1" latinLnBrk="0" hangingPunct="1">
              <a:lnSpc>
                <a:spcPct val="100000"/>
              </a:lnSpc>
              <a:spcBef>
                <a:spcPts val="1200"/>
              </a:spcBef>
            </a:pPr>
            <a:r>
              <a:rPr lang="zh-CN" altLang="en-US" sz="2000" dirty="0">
                <a:latin typeface="Times New Roman" panose="02020603050405020304" pitchFamily="18" charset="0"/>
                <a:cs typeface="Times New Roman" panose="02020603050405020304" pitchFamily="18" charset="0"/>
                <a:sym typeface="+mn-ea"/>
              </a:rPr>
              <a:t>寻径从维</a:t>
            </a:r>
            <a:r>
              <a:rPr lang="en-US" altLang="zh-CN" sz="2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到维</a:t>
            </a:r>
            <a:r>
              <a:rPr lang="en-US" altLang="zh-CN" sz="2000" dirty="0">
                <a:latin typeface="Times New Roman" panose="02020603050405020304" pitchFamily="18" charset="0"/>
                <a:cs typeface="Times New Roman" panose="02020603050405020304" pitchFamily="18" charset="0"/>
                <a:sym typeface="+mn-ea"/>
              </a:rPr>
              <a:t>4</a:t>
            </a:r>
            <a:r>
              <a:rPr lang="zh-CN" altLang="en-US" sz="2000" dirty="0">
                <a:latin typeface="Times New Roman" panose="02020603050405020304" pitchFamily="18" charset="0"/>
                <a:cs typeface="Times New Roman" panose="02020603050405020304" pitchFamily="18" charset="0"/>
                <a:sym typeface="+mn-ea"/>
              </a:rPr>
              <a:t>的顺序进行</a:t>
            </a:r>
            <a:endParaRPr lang="zh-CN" altLang="en-US" sz="2000" dirty="0">
              <a:latin typeface="Times New Roman" panose="02020603050405020304" pitchFamily="18" charset="0"/>
              <a:cs typeface="Times New Roman" panose="02020603050405020304" pitchFamily="18" charset="0"/>
            </a:endParaRPr>
          </a:p>
          <a:p>
            <a:pPr lvl="1" eaLnBrk="1" latinLnBrk="0" hangingPunct="1">
              <a:lnSpc>
                <a:spcPct val="100000"/>
              </a:lnSpc>
              <a:spcBef>
                <a:spcPts val="600"/>
              </a:spcBef>
            </a:pPr>
            <a:r>
              <a:rPr lang="zh-CN" altLang="en-US" sz="1800" dirty="0">
                <a:latin typeface="Times New Roman" panose="02020603050405020304" pitchFamily="18" charset="0"/>
                <a:cs typeface="Times New Roman" panose="02020603050405020304" pitchFamily="18" charset="0"/>
                <a:sym typeface="+mn-ea"/>
              </a:rPr>
              <a:t>如果</a:t>
            </a:r>
            <a:r>
              <a:rPr lang="en-US" altLang="zh-CN" sz="1800" dirty="0">
                <a:latin typeface="Times New Roman" panose="02020603050405020304" pitchFamily="18" charset="0"/>
                <a:cs typeface="Times New Roman" panose="02020603050405020304" pitchFamily="18" charset="0"/>
                <a:sym typeface="+mn-ea"/>
              </a:rPr>
              <a:t>s</a:t>
            </a:r>
            <a:r>
              <a:rPr lang="zh-CN" altLang="en-US" sz="1800" dirty="0">
                <a:latin typeface="Times New Roman" panose="02020603050405020304" pitchFamily="18" charset="0"/>
                <a:cs typeface="Times New Roman" panose="02020603050405020304" pitchFamily="18" charset="0"/>
                <a:sym typeface="+mn-ea"/>
              </a:rPr>
              <a:t>和</a:t>
            </a:r>
            <a:r>
              <a:rPr lang="en-US" altLang="zh-CN" sz="1800" dirty="0">
                <a:latin typeface="Times New Roman" panose="02020603050405020304" pitchFamily="18" charset="0"/>
                <a:cs typeface="Times New Roman" panose="02020603050405020304" pitchFamily="18" charset="0"/>
                <a:sym typeface="+mn-ea"/>
              </a:rPr>
              <a:t>d</a:t>
            </a:r>
            <a:r>
              <a:rPr lang="zh-CN" altLang="en-US" sz="1800" dirty="0">
                <a:latin typeface="Times New Roman" panose="02020603050405020304" pitchFamily="18" charset="0"/>
                <a:cs typeface="Times New Roman" panose="02020603050405020304" pitchFamily="18" charset="0"/>
                <a:sym typeface="+mn-ea"/>
              </a:rPr>
              <a:t>的第</a:t>
            </a:r>
            <a:r>
              <a:rPr lang="en-US" altLang="zh-CN" sz="1800" dirty="0">
                <a:latin typeface="Times New Roman" panose="02020603050405020304" pitchFamily="18" charset="0"/>
                <a:cs typeface="Times New Roman" panose="02020603050405020304" pitchFamily="18" charset="0"/>
                <a:sym typeface="+mn-ea"/>
              </a:rPr>
              <a:t>i</a:t>
            </a:r>
            <a:r>
              <a:rPr lang="zh-CN" altLang="en-US" sz="1800" dirty="0">
                <a:latin typeface="Times New Roman" panose="02020603050405020304" pitchFamily="18" charset="0"/>
                <a:cs typeface="Times New Roman" panose="02020603050405020304" pitchFamily="18" charset="0"/>
                <a:sym typeface="+mn-ea"/>
              </a:rPr>
              <a:t>位相同，则沿维</a:t>
            </a:r>
            <a:r>
              <a:rPr lang="en-US" altLang="zh-CN" sz="1800" dirty="0">
                <a:latin typeface="Times New Roman" panose="02020603050405020304" pitchFamily="18" charset="0"/>
                <a:cs typeface="Times New Roman" panose="02020603050405020304" pitchFamily="18" charset="0"/>
                <a:sym typeface="+mn-ea"/>
              </a:rPr>
              <a:t>i</a:t>
            </a:r>
            <a:r>
              <a:rPr lang="zh-CN" altLang="en-US" sz="1800" dirty="0">
                <a:latin typeface="Times New Roman" panose="02020603050405020304" pitchFamily="18" charset="0"/>
                <a:cs typeface="Times New Roman" panose="02020603050405020304" pitchFamily="18" charset="0"/>
                <a:sym typeface="+mn-ea"/>
              </a:rPr>
              <a:t>方向不需寻径</a:t>
            </a:r>
            <a:endParaRPr lang="zh-CN" altLang="en-US" sz="1800" dirty="0">
              <a:latin typeface="Times New Roman" panose="02020603050405020304" pitchFamily="18" charset="0"/>
              <a:cs typeface="Times New Roman" panose="02020603050405020304" pitchFamily="18" charset="0"/>
            </a:endParaRPr>
          </a:p>
          <a:p>
            <a:pPr lvl="1" eaLnBrk="1" latinLnBrk="0" hangingPunct="1">
              <a:lnSpc>
                <a:spcPct val="100000"/>
              </a:lnSpc>
              <a:spcBef>
                <a:spcPts val="600"/>
              </a:spcBef>
            </a:pPr>
            <a:r>
              <a:rPr lang="zh-CN" altLang="en-US" sz="1800" dirty="0">
                <a:latin typeface="Times New Roman" panose="02020603050405020304" pitchFamily="18" charset="0"/>
                <a:cs typeface="Times New Roman" panose="02020603050405020304" pitchFamily="18" charset="0"/>
                <a:sym typeface="+mn-ea"/>
              </a:rPr>
              <a:t>否则从当前结点沿着这一维方向走到其它结点</a:t>
            </a:r>
            <a:endParaRPr lang="zh-CN" altLang="en-US" sz="1800" dirty="0">
              <a:latin typeface="Times New Roman" panose="02020603050405020304" pitchFamily="18" charset="0"/>
              <a:cs typeface="Times New Roman" panose="02020603050405020304" pitchFamily="18" charset="0"/>
            </a:endParaRPr>
          </a:p>
          <a:p>
            <a:pPr lvl="1" eaLnBrk="1" latinLnBrk="0" hangingPunct="1">
              <a:lnSpc>
                <a:spcPct val="100000"/>
              </a:lnSpc>
              <a:spcBef>
                <a:spcPts val="600"/>
              </a:spcBef>
            </a:pPr>
            <a:r>
              <a:rPr lang="zh-CN" altLang="en-US" sz="1800" dirty="0">
                <a:latin typeface="Times New Roman" panose="02020603050405020304" pitchFamily="18" charset="0"/>
                <a:cs typeface="Times New Roman" panose="02020603050405020304" pitchFamily="18" charset="0"/>
                <a:sym typeface="+mn-ea"/>
              </a:rPr>
              <a:t>重复这一过程直到到达目的结点</a:t>
            </a:r>
            <a:endParaRPr lang="zh-CN" altLang="en-US" sz="1800" dirty="0">
              <a:latin typeface="Times New Roman" panose="02020603050405020304" pitchFamily="18" charset="0"/>
              <a:cs typeface="Times New Roman" panose="02020603050405020304" pitchFamily="18" charset="0"/>
            </a:endParaRPr>
          </a:p>
          <a:p>
            <a:pPr eaLnBrk="1" latinLnBrk="0" hangingPunct="1">
              <a:lnSpc>
                <a:spcPct val="95000"/>
              </a:lnSpc>
              <a:spcBef>
                <a:spcPts val="1200"/>
              </a:spcBef>
            </a:pP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n=4，k=2，2元4立方体，每维坐标0，1</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3383280" cy="5054600"/>
          </a:xfrm>
        </p:spPr>
        <p:txBody>
          <a:bodyPr vert="horz" wrap="square" lIns="91440" tIns="45720" rIns="91440" bIns="45720" anchor="t" anchorCtr="0"/>
          <a:p>
            <a:pPr eaLnBrk="1" latinLnBrk="0" hangingPunct="1">
              <a:lnSpc>
                <a:spcPct val="95000"/>
              </a:lnSpc>
              <a:spcBef>
                <a:spcPts val="1200"/>
              </a:spcBef>
            </a:pPr>
            <a:r>
              <a:rPr lang="en-US" altLang="zh-CN" sz="2000" dirty="0">
                <a:solidFill>
                  <a:srgbClr val="000000"/>
                </a:solidFill>
                <a:latin typeface="Times New Roman" panose="02020603050405020304" pitchFamily="18" charset="0"/>
                <a:cs typeface="Times New Roman" panose="02020603050405020304" pitchFamily="18" charset="0"/>
                <a:sym typeface="+mn-ea"/>
              </a:rPr>
              <a:t>s=0110</a:t>
            </a:r>
            <a:r>
              <a:rPr lang="zh-CN" altLang="en-US" sz="2000" dirty="0">
                <a:solidFill>
                  <a:srgbClr val="000000"/>
                </a:solidFill>
                <a:latin typeface="Times New Roman" panose="02020603050405020304" pitchFamily="18" charset="0"/>
                <a:cs typeface="Times New Roman" panose="02020603050405020304" pitchFamily="18" charset="0"/>
                <a:sym typeface="+mn-ea"/>
              </a:rPr>
              <a:t>，</a:t>
            </a:r>
            <a:r>
              <a:rPr lang="en-US" altLang="zh-CN" sz="2000" dirty="0">
                <a:solidFill>
                  <a:srgbClr val="000000"/>
                </a:solidFill>
                <a:latin typeface="Times New Roman" panose="02020603050405020304" pitchFamily="18" charset="0"/>
                <a:cs typeface="Times New Roman" panose="02020603050405020304" pitchFamily="18" charset="0"/>
                <a:sym typeface="+mn-ea"/>
              </a:rPr>
              <a:t>d=1101</a:t>
            </a:r>
            <a:endParaRPr lang="en-US" altLang="zh-CN" sz="2000" dirty="0">
              <a:solidFill>
                <a:srgbClr val="000000"/>
              </a:solidFill>
              <a:latin typeface="Times New Roman" panose="02020603050405020304" pitchFamily="18" charset="0"/>
              <a:cs typeface="Times New Roman" panose="02020603050405020304" pitchFamily="18" charset="0"/>
            </a:endParaRPr>
          </a:p>
          <a:p>
            <a:pPr eaLnBrk="1" latinLnBrk="0" hangingPunct="1">
              <a:lnSpc>
                <a:spcPct val="95000"/>
              </a:lnSpc>
              <a:spcBef>
                <a:spcPts val="1200"/>
              </a:spcBef>
            </a:pPr>
            <a:r>
              <a:rPr lang="en-US" altLang="zh-CN" sz="2000" dirty="0">
                <a:solidFill>
                  <a:srgbClr val="000000"/>
                </a:solidFill>
                <a:latin typeface="Times New Roman" panose="02020603050405020304" pitchFamily="18" charset="0"/>
                <a:cs typeface="Times New Roman" panose="02020603050405020304" pitchFamily="18" charset="0"/>
                <a:sym typeface="+mn-ea"/>
              </a:rPr>
              <a:t>r=r</a:t>
            </a:r>
            <a:r>
              <a:rPr lang="en-US" altLang="zh-CN" sz="2000" baseline="-30000" dirty="0">
                <a:solidFill>
                  <a:srgbClr val="000000"/>
                </a:solidFill>
                <a:latin typeface="Times New Roman" panose="02020603050405020304" pitchFamily="18" charset="0"/>
                <a:cs typeface="Times New Roman" panose="02020603050405020304" pitchFamily="18" charset="0"/>
                <a:sym typeface="+mn-ea"/>
              </a:rPr>
              <a:t>4</a:t>
            </a:r>
            <a:r>
              <a:rPr lang="en-US" altLang="zh-CN" sz="2000" dirty="0">
                <a:solidFill>
                  <a:srgbClr val="000000"/>
                </a:solidFill>
                <a:latin typeface="Times New Roman" panose="02020603050405020304" pitchFamily="18" charset="0"/>
                <a:cs typeface="Times New Roman" panose="02020603050405020304" pitchFamily="18" charset="0"/>
                <a:sym typeface="+mn-ea"/>
              </a:rPr>
              <a:t>r</a:t>
            </a:r>
            <a:r>
              <a:rPr lang="en-US" altLang="zh-CN" sz="2000" baseline="-30000" dirty="0">
                <a:solidFill>
                  <a:srgbClr val="000000"/>
                </a:solidFill>
                <a:latin typeface="Times New Roman" panose="02020603050405020304" pitchFamily="18" charset="0"/>
                <a:cs typeface="Times New Roman" panose="02020603050405020304" pitchFamily="18" charset="0"/>
                <a:sym typeface="+mn-ea"/>
              </a:rPr>
              <a:t>3</a:t>
            </a:r>
            <a:r>
              <a:rPr lang="en-US" altLang="zh-CN" sz="2000" dirty="0">
                <a:solidFill>
                  <a:srgbClr val="000000"/>
                </a:solidFill>
                <a:latin typeface="Times New Roman" panose="02020603050405020304" pitchFamily="18" charset="0"/>
                <a:cs typeface="Times New Roman" panose="02020603050405020304" pitchFamily="18" charset="0"/>
                <a:sym typeface="+mn-ea"/>
              </a:rPr>
              <a:t>r</a:t>
            </a:r>
            <a:r>
              <a:rPr lang="en-US" altLang="zh-CN" sz="2000" baseline="-30000" dirty="0">
                <a:solidFill>
                  <a:srgbClr val="000000"/>
                </a:solidFill>
                <a:latin typeface="Times New Roman" panose="02020603050405020304" pitchFamily="18" charset="0"/>
                <a:cs typeface="Times New Roman" panose="02020603050405020304" pitchFamily="18" charset="0"/>
                <a:sym typeface="+mn-ea"/>
              </a:rPr>
              <a:t>2</a:t>
            </a:r>
            <a:r>
              <a:rPr lang="en-US" altLang="zh-CN" sz="2000" dirty="0">
                <a:solidFill>
                  <a:srgbClr val="000000"/>
                </a:solidFill>
                <a:latin typeface="Times New Roman" panose="02020603050405020304" pitchFamily="18" charset="0"/>
                <a:cs typeface="Times New Roman" panose="02020603050405020304" pitchFamily="18" charset="0"/>
                <a:sym typeface="+mn-ea"/>
              </a:rPr>
              <a:t>r</a:t>
            </a:r>
            <a:r>
              <a:rPr lang="en-US" altLang="zh-CN" sz="2000" baseline="-30000" dirty="0">
                <a:solidFill>
                  <a:srgbClr val="000000"/>
                </a:solidFill>
                <a:latin typeface="Times New Roman" panose="02020603050405020304" pitchFamily="18" charset="0"/>
                <a:cs typeface="Times New Roman" panose="02020603050405020304" pitchFamily="18" charset="0"/>
                <a:sym typeface="+mn-ea"/>
              </a:rPr>
              <a:t>1</a:t>
            </a:r>
            <a:r>
              <a:rPr lang="en-US" altLang="zh-CN" sz="2000" dirty="0">
                <a:solidFill>
                  <a:srgbClr val="000000"/>
                </a:solidFill>
                <a:latin typeface="Times New Roman" panose="02020603050405020304" pitchFamily="18" charset="0"/>
                <a:cs typeface="Times New Roman" panose="02020603050405020304" pitchFamily="18" charset="0"/>
                <a:sym typeface="+mn-ea"/>
              </a:rPr>
              <a:t>=s</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solidFill>
                  <a:srgbClr val="000000"/>
                </a:solidFill>
                <a:latin typeface="Times New Roman" panose="02020603050405020304" pitchFamily="18" charset="0"/>
                <a:cs typeface="Times New Roman" panose="02020603050405020304" pitchFamily="18" charset="0"/>
                <a:sym typeface="+mn-ea"/>
              </a:rPr>
              <a:t>d=0110</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solidFill>
                  <a:srgbClr val="000000"/>
                </a:solidFill>
                <a:latin typeface="Times New Roman" panose="02020603050405020304" pitchFamily="18" charset="0"/>
                <a:cs typeface="Times New Roman" panose="02020603050405020304" pitchFamily="18" charset="0"/>
                <a:sym typeface="+mn-ea"/>
              </a:rPr>
              <a:t>1101=1011</a:t>
            </a:r>
            <a:endParaRPr lang="en-US" altLang="zh-CN" sz="2000" dirty="0">
              <a:solidFill>
                <a:srgbClr val="000000"/>
              </a:solidFill>
              <a:latin typeface="Times New Roman" panose="02020603050405020304" pitchFamily="18" charset="0"/>
              <a:cs typeface="Times New Roman" panose="02020603050405020304" pitchFamily="18" charset="0"/>
            </a:endParaRPr>
          </a:p>
          <a:p>
            <a:pPr eaLnBrk="1" latinLnBrk="0" hangingPunct="1">
              <a:lnSpc>
                <a:spcPct val="95000"/>
              </a:lnSpc>
              <a:spcBef>
                <a:spcPts val="1200"/>
              </a:spcBef>
            </a:pPr>
            <a:r>
              <a:rPr lang="en-US" altLang="zh-CN" sz="2000" dirty="0">
                <a:solidFill>
                  <a:srgbClr val="000000"/>
                </a:solidFill>
                <a:latin typeface="Times New Roman" panose="02020603050405020304" pitchFamily="18" charset="0"/>
                <a:cs typeface="Times New Roman" panose="02020603050405020304" pitchFamily="18" charset="0"/>
                <a:sym typeface="+mn-ea"/>
              </a:rPr>
              <a:t>i=1, r</a:t>
            </a:r>
            <a:r>
              <a:rPr lang="en-US" altLang="zh-CN" sz="2000" baseline="-30000" dirty="0">
                <a:solidFill>
                  <a:srgbClr val="000000"/>
                </a:solidFill>
                <a:latin typeface="Times New Roman" panose="02020603050405020304" pitchFamily="18" charset="0"/>
                <a:cs typeface="Times New Roman" panose="02020603050405020304" pitchFamily="18" charset="0"/>
                <a:sym typeface="+mn-ea"/>
              </a:rPr>
              <a:t>1</a:t>
            </a:r>
            <a:r>
              <a:rPr lang="en-US" altLang="zh-CN" sz="2000" dirty="0">
                <a:solidFill>
                  <a:srgbClr val="000000"/>
                </a:solidFill>
                <a:latin typeface="Times New Roman" panose="02020603050405020304" pitchFamily="18" charset="0"/>
                <a:cs typeface="Times New Roman" panose="02020603050405020304" pitchFamily="18" charset="0"/>
                <a:sym typeface="+mn-ea"/>
              </a:rPr>
              <a:t>=1</a:t>
            </a:r>
            <a:r>
              <a:rPr lang="zh-CN" altLang="en-US" sz="2000" dirty="0">
                <a:solidFill>
                  <a:srgbClr val="000000"/>
                </a:solidFill>
                <a:latin typeface="Times New Roman" panose="02020603050405020304" pitchFamily="18" charset="0"/>
                <a:cs typeface="Times New Roman" panose="02020603050405020304" pitchFamily="18" charset="0"/>
                <a:sym typeface="+mn-ea"/>
              </a:rPr>
              <a:t>，</a:t>
            </a:r>
            <a:r>
              <a:rPr lang="en-US" altLang="zh-CN" sz="2000" dirty="0">
                <a:solidFill>
                  <a:srgbClr val="000000"/>
                </a:solidFill>
                <a:latin typeface="Times New Roman" panose="02020603050405020304" pitchFamily="18" charset="0"/>
                <a:cs typeface="Times New Roman" panose="02020603050405020304" pitchFamily="18" charset="0"/>
                <a:sym typeface="+mn-ea"/>
              </a:rPr>
              <a:t>v=s=0110</a:t>
            </a:r>
            <a:r>
              <a:rPr lang="zh-CN" altLang="en-US" sz="2000" dirty="0">
                <a:solidFill>
                  <a:srgbClr val="000000"/>
                </a:solidFill>
                <a:latin typeface="Times New Roman" panose="02020603050405020304" pitchFamily="18" charset="0"/>
                <a:cs typeface="Times New Roman" panose="02020603050405020304" pitchFamily="18" charset="0"/>
                <a:sym typeface="+mn-ea"/>
              </a:rPr>
              <a:t>寻径到</a:t>
            </a:r>
            <a:r>
              <a:rPr lang="en-US" altLang="zh-CN" sz="2000" dirty="0">
                <a:solidFill>
                  <a:srgbClr val="000000"/>
                </a:solidFill>
                <a:latin typeface="Times New Roman" panose="02020603050405020304" pitchFamily="18" charset="0"/>
                <a:cs typeface="Times New Roman" panose="02020603050405020304" pitchFamily="18" charset="0"/>
                <a:sym typeface="+mn-ea"/>
              </a:rPr>
              <a:t>v=v</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solidFill>
                  <a:srgbClr val="000000"/>
                </a:solidFill>
                <a:latin typeface="Times New Roman" panose="02020603050405020304" pitchFamily="18" charset="0"/>
                <a:cs typeface="Times New Roman" panose="02020603050405020304" pitchFamily="18" charset="0"/>
                <a:sym typeface="+mn-ea"/>
              </a:rPr>
              <a:t>2^0 =0110</a:t>
            </a:r>
            <a:r>
              <a:rPr lang="en-US" altLang="zh-CN" sz="2000" dirty="0">
                <a:latin typeface="Times New Roman" panose="02020603050405020304" pitchFamily="18" charset="0"/>
                <a:cs typeface="Times New Roman" panose="02020603050405020304" pitchFamily="18" charset="0"/>
                <a:sym typeface="+mn-ea"/>
              </a:rPr>
              <a:t>⊕000</a:t>
            </a:r>
            <a:r>
              <a:rPr lang="en-US" altLang="zh-CN" sz="2000" dirty="0">
                <a:solidFill>
                  <a:srgbClr val="000000"/>
                </a:solidFill>
                <a:latin typeface="Times New Roman" panose="02020603050405020304" pitchFamily="18" charset="0"/>
                <a:cs typeface="Times New Roman" panose="02020603050405020304" pitchFamily="18" charset="0"/>
                <a:sym typeface="+mn-ea"/>
              </a:rPr>
              <a:t>1=0111</a:t>
            </a:r>
            <a:endParaRPr lang="en-US" altLang="zh-CN" sz="2000" dirty="0">
              <a:solidFill>
                <a:srgbClr val="000000"/>
              </a:solidFill>
              <a:latin typeface="Times New Roman" panose="02020603050405020304" pitchFamily="18" charset="0"/>
              <a:cs typeface="Times New Roman" panose="02020603050405020304" pitchFamily="18" charset="0"/>
            </a:endParaRPr>
          </a:p>
          <a:p>
            <a:pPr eaLnBrk="1" latinLnBrk="0" hangingPunct="1">
              <a:lnSpc>
                <a:spcPct val="95000"/>
              </a:lnSpc>
              <a:spcBef>
                <a:spcPts val="1200"/>
              </a:spcBef>
            </a:pPr>
            <a:r>
              <a:rPr lang="en-US" altLang="zh-CN" sz="2000" dirty="0">
                <a:solidFill>
                  <a:srgbClr val="000000"/>
                </a:solidFill>
                <a:latin typeface="Times New Roman" panose="02020603050405020304" pitchFamily="18" charset="0"/>
                <a:cs typeface="Times New Roman" panose="02020603050405020304" pitchFamily="18" charset="0"/>
                <a:sym typeface="+mn-ea"/>
              </a:rPr>
              <a:t>i=2, r</a:t>
            </a:r>
            <a:r>
              <a:rPr lang="en-US" altLang="zh-CN" sz="2000" baseline="-30000" dirty="0">
                <a:solidFill>
                  <a:srgbClr val="000000"/>
                </a:solidFill>
                <a:latin typeface="Times New Roman" panose="02020603050405020304" pitchFamily="18" charset="0"/>
                <a:cs typeface="Times New Roman" panose="02020603050405020304" pitchFamily="18" charset="0"/>
                <a:sym typeface="+mn-ea"/>
              </a:rPr>
              <a:t>2</a:t>
            </a:r>
            <a:r>
              <a:rPr lang="en-US" altLang="zh-CN" sz="2000" dirty="0">
                <a:solidFill>
                  <a:srgbClr val="000000"/>
                </a:solidFill>
                <a:latin typeface="Times New Roman" panose="02020603050405020304" pitchFamily="18" charset="0"/>
                <a:cs typeface="Times New Roman" panose="02020603050405020304" pitchFamily="18" charset="0"/>
                <a:sym typeface="+mn-ea"/>
              </a:rPr>
              <a:t>=1</a:t>
            </a:r>
            <a:r>
              <a:rPr lang="zh-CN" altLang="en-US" sz="2000" dirty="0">
                <a:solidFill>
                  <a:srgbClr val="000000"/>
                </a:solidFill>
                <a:latin typeface="Times New Roman" panose="02020603050405020304" pitchFamily="18" charset="0"/>
                <a:cs typeface="Times New Roman" panose="02020603050405020304" pitchFamily="18" charset="0"/>
                <a:sym typeface="+mn-ea"/>
              </a:rPr>
              <a:t>，</a:t>
            </a:r>
            <a:r>
              <a:rPr lang="en-US" altLang="zh-CN" sz="2000" dirty="0">
                <a:solidFill>
                  <a:srgbClr val="000000"/>
                </a:solidFill>
                <a:latin typeface="Times New Roman" panose="02020603050405020304" pitchFamily="18" charset="0"/>
                <a:cs typeface="Times New Roman" panose="02020603050405020304" pitchFamily="18" charset="0"/>
                <a:sym typeface="+mn-ea"/>
              </a:rPr>
              <a:t>v=0111</a:t>
            </a:r>
            <a:r>
              <a:rPr lang="zh-CN" altLang="en-US" sz="2000" dirty="0">
                <a:solidFill>
                  <a:srgbClr val="000000"/>
                </a:solidFill>
                <a:latin typeface="Times New Roman" panose="02020603050405020304" pitchFamily="18" charset="0"/>
                <a:cs typeface="Times New Roman" panose="02020603050405020304" pitchFamily="18" charset="0"/>
                <a:sym typeface="+mn-ea"/>
              </a:rPr>
              <a:t>寻径到</a:t>
            </a:r>
            <a:r>
              <a:rPr lang="en-US" altLang="zh-CN" sz="2000" dirty="0">
                <a:solidFill>
                  <a:srgbClr val="000000"/>
                </a:solidFill>
                <a:latin typeface="Times New Roman" panose="02020603050405020304" pitchFamily="18" charset="0"/>
                <a:cs typeface="Times New Roman" panose="02020603050405020304" pitchFamily="18" charset="0"/>
                <a:sym typeface="+mn-ea"/>
              </a:rPr>
              <a:t>v=v</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solidFill>
                  <a:srgbClr val="000000"/>
                </a:solidFill>
                <a:latin typeface="Times New Roman" panose="02020603050405020304" pitchFamily="18" charset="0"/>
                <a:cs typeface="Times New Roman" panose="02020603050405020304" pitchFamily="18" charset="0"/>
                <a:sym typeface="+mn-ea"/>
              </a:rPr>
              <a:t>2^1 =0111</a:t>
            </a:r>
            <a:r>
              <a:rPr lang="en-US" altLang="zh-CN" sz="2000" dirty="0">
                <a:latin typeface="Times New Roman" panose="02020603050405020304" pitchFamily="18" charset="0"/>
                <a:cs typeface="Times New Roman" panose="02020603050405020304" pitchFamily="18" charset="0"/>
                <a:sym typeface="+mn-ea"/>
              </a:rPr>
              <a:t>⊕00</a:t>
            </a:r>
            <a:r>
              <a:rPr lang="en-US" altLang="zh-CN" sz="2000" dirty="0">
                <a:solidFill>
                  <a:srgbClr val="000000"/>
                </a:solidFill>
                <a:latin typeface="Times New Roman" panose="02020603050405020304" pitchFamily="18" charset="0"/>
                <a:cs typeface="Times New Roman" panose="02020603050405020304" pitchFamily="18" charset="0"/>
                <a:sym typeface="+mn-ea"/>
              </a:rPr>
              <a:t>10=0101</a:t>
            </a:r>
            <a:endParaRPr lang="en-US" altLang="zh-CN" sz="2000" dirty="0">
              <a:solidFill>
                <a:srgbClr val="000000"/>
              </a:solidFill>
              <a:latin typeface="Times New Roman" panose="02020603050405020304" pitchFamily="18" charset="0"/>
              <a:cs typeface="Times New Roman" panose="02020603050405020304" pitchFamily="18" charset="0"/>
            </a:endParaRPr>
          </a:p>
          <a:p>
            <a:pPr eaLnBrk="1" latinLnBrk="0" hangingPunct="1">
              <a:lnSpc>
                <a:spcPct val="95000"/>
              </a:lnSpc>
              <a:spcBef>
                <a:spcPts val="1200"/>
              </a:spcBef>
            </a:pPr>
            <a:r>
              <a:rPr lang="en-US" altLang="zh-CN" sz="2000" dirty="0">
                <a:solidFill>
                  <a:srgbClr val="000000"/>
                </a:solidFill>
                <a:latin typeface="Times New Roman" panose="02020603050405020304" pitchFamily="18" charset="0"/>
                <a:cs typeface="Times New Roman" panose="02020603050405020304" pitchFamily="18" charset="0"/>
                <a:sym typeface="+mn-ea"/>
              </a:rPr>
              <a:t>i=3, r</a:t>
            </a:r>
            <a:r>
              <a:rPr lang="en-US" altLang="zh-CN" sz="2000" baseline="-30000" dirty="0">
                <a:solidFill>
                  <a:srgbClr val="000000"/>
                </a:solidFill>
                <a:latin typeface="Times New Roman" panose="02020603050405020304" pitchFamily="18" charset="0"/>
                <a:cs typeface="Times New Roman" panose="02020603050405020304" pitchFamily="18" charset="0"/>
                <a:sym typeface="+mn-ea"/>
              </a:rPr>
              <a:t>3</a:t>
            </a:r>
            <a:r>
              <a:rPr lang="en-US" altLang="zh-CN" sz="2000" dirty="0">
                <a:solidFill>
                  <a:srgbClr val="000000"/>
                </a:solidFill>
                <a:latin typeface="Times New Roman" panose="02020603050405020304" pitchFamily="18" charset="0"/>
                <a:cs typeface="Times New Roman" panose="02020603050405020304" pitchFamily="18" charset="0"/>
                <a:sym typeface="+mn-ea"/>
              </a:rPr>
              <a:t>=0</a:t>
            </a:r>
            <a:r>
              <a:rPr lang="zh-CN" altLang="en-US" sz="2000" dirty="0">
                <a:solidFill>
                  <a:srgbClr val="000000"/>
                </a:solidFill>
                <a:latin typeface="Times New Roman" panose="02020603050405020304" pitchFamily="18" charset="0"/>
                <a:cs typeface="Times New Roman" panose="02020603050405020304" pitchFamily="18" charset="0"/>
                <a:sym typeface="+mn-ea"/>
              </a:rPr>
              <a:t>，跳过维</a:t>
            </a:r>
            <a:r>
              <a:rPr lang="en-US" altLang="zh-CN" sz="2000" dirty="0">
                <a:solidFill>
                  <a:srgbClr val="000000"/>
                </a:solidFill>
                <a:latin typeface="Times New Roman" panose="02020603050405020304" pitchFamily="18" charset="0"/>
                <a:cs typeface="Times New Roman" panose="02020603050405020304" pitchFamily="18" charset="0"/>
                <a:sym typeface="+mn-ea"/>
              </a:rPr>
              <a:t>i=3</a:t>
            </a:r>
            <a:r>
              <a:rPr lang="zh-CN" altLang="en-US" sz="2000" dirty="0">
                <a:solidFill>
                  <a:srgbClr val="000000"/>
                </a:solidFill>
                <a:latin typeface="Times New Roman" panose="02020603050405020304" pitchFamily="18" charset="0"/>
                <a:cs typeface="Times New Roman" panose="02020603050405020304" pitchFamily="18" charset="0"/>
                <a:sym typeface="+mn-ea"/>
              </a:rPr>
              <a:t>这一步</a:t>
            </a:r>
            <a:endParaRPr lang="zh-CN" altLang="en-US" sz="2000" dirty="0">
              <a:solidFill>
                <a:srgbClr val="000000"/>
              </a:solidFill>
              <a:latin typeface="Times New Roman" panose="02020603050405020304" pitchFamily="18" charset="0"/>
              <a:cs typeface="Times New Roman" panose="02020603050405020304" pitchFamily="18" charset="0"/>
            </a:endParaRPr>
          </a:p>
          <a:p>
            <a:pPr eaLnBrk="1" latinLnBrk="0" hangingPunct="1">
              <a:lnSpc>
                <a:spcPct val="95000"/>
              </a:lnSpc>
              <a:spcBef>
                <a:spcPts val="1200"/>
              </a:spcBef>
            </a:pPr>
            <a:r>
              <a:rPr lang="en-US" altLang="zh-CN" sz="2000" dirty="0">
                <a:solidFill>
                  <a:srgbClr val="000000"/>
                </a:solidFill>
                <a:latin typeface="Times New Roman" panose="02020603050405020304" pitchFamily="18" charset="0"/>
                <a:cs typeface="Times New Roman" panose="02020603050405020304" pitchFamily="18" charset="0"/>
                <a:sym typeface="+mn-ea"/>
              </a:rPr>
              <a:t>i=4, r</a:t>
            </a:r>
            <a:r>
              <a:rPr lang="en-US" altLang="zh-CN" sz="2000" baseline="-30000" dirty="0">
                <a:solidFill>
                  <a:srgbClr val="000000"/>
                </a:solidFill>
                <a:latin typeface="Times New Roman" panose="02020603050405020304" pitchFamily="18" charset="0"/>
                <a:cs typeface="Times New Roman" panose="02020603050405020304" pitchFamily="18" charset="0"/>
                <a:sym typeface="+mn-ea"/>
              </a:rPr>
              <a:t>4</a:t>
            </a:r>
            <a:r>
              <a:rPr lang="en-US" altLang="zh-CN" sz="2000" dirty="0">
                <a:solidFill>
                  <a:srgbClr val="000000"/>
                </a:solidFill>
                <a:latin typeface="Times New Roman" panose="02020603050405020304" pitchFamily="18" charset="0"/>
                <a:cs typeface="Times New Roman" panose="02020603050405020304" pitchFamily="18" charset="0"/>
                <a:sym typeface="+mn-ea"/>
              </a:rPr>
              <a:t>=1</a:t>
            </a:r>
            <a:r>
              <a:rPr lang="zh-CN" altLang="en-US" sz="2000" dirty="0">
                <a:solidFill>
                  <a:srgbClr val="000000"/>
                </a:solidFill>
                <a:latin typeface="Times New Roman" panose="02020603050405020304" pitchFamily="18" charset="0"/>
                <a:cs typeface="Times New Roman" panose="02020603050405020304" pitchFamily="18" charset="0"/>
                <a:sym typeface="+mn-ea"/>
              </a:rPr>
              <a:t>，</a:t>
            </a:r>
            <a:r>
              <a:rPr lang="en-US" altLang="zh-CN" sz="2000" dirty="0">
                <a:solidFill>
                  <a:srgbClr val="000000"/>
                </a:solidFill>
                <a:latin typeface="Times New Roman" panose="02020603050405020304" pitchFamily="18" charset="0"/>
                <a:cs typeface="Times New Roman" panose="02020603050405020304" pitchFamily="18" charset="0"/>
                <a:sym typeface="+mn-ea"/>
              </a:rPr>
              <a:t>v=0101</a:t>
            </a:r>
            <a:r>
              <a:rPr lang="zh-CN" altLang="en-US" sz="2000" dirty="0">
                <a:solidFill>
                  <a:srgbClr val="000000"/>
                </a:solidFill>
                <a:latin typeface="Times New Roman" panose="02020603050405020304" pitchFamily="18" charset="0"/>
                <a:cs typeface="Times New Roman" panose="02020603050405020304" pitchFamily="18" charset="0"/>
                <a:sym typeface="+mn-ea"/>
              </a:rPr>
              <a:t>寻径到</a:t>
            </a:r>
            <a:r>
              <a:rPr lang="en-US" altLang="zh-CN" sz="2000" dirty="0">
                <a:solidFill>
                  <a:srgbClr val="000000"/>
                </a:solidFill>
                <a:latin typeface="Times New Roman" panose="02020603050405020304" pitchFamily="18" charset="0"/>
                <a:cs typeface="Times New Roman" panose="02020603050405020304" pitchFamily="18" charset="0"/>
                <a:sym typeface="+mn-ea"/>
              </a:rPr>
              <a:t>v=v</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solidFill>
                  <a:srgbClr val="000000"/>
                </a:solidFill>
                <a:latin typeface="Times New Roman" panose="02020603050405020304" pitchFamily="18" charset="0"/>
                <a:cs typeface="Times New Roman" panose="02020603050405020304" pitchFamily="18" charset="0"/>
                <a:sym typeface="+mn-ea"/>
              </a:rPr>
              <a:t>2^3 =0101</a:t>
            </a:r>
            <a:r>
              <a:rPr lang="en-US" altLang="zh-CN" sz="2000" dirty="0">
                <a:latin typeface="Times New Roman" panose="02020603050405020304" pitchFamily="18" charset="0"/>
                <a:cs typeface="Times New Roman" panose="02020603050405020304" pitchFamily="18" charset="0"/>
                <a:sym typeface="+mn-ea"/>
              </a:rPr>
              <a:t>⊕</a:t>
            </a:r>
            <a:r>
              <a:rPr lang="en-US" altLang="zh-CN" sz="2000" dirty="0">
                <a:solidFill>
                  <a:srgbClr val="000000"/>
                </a:solidFill>
                <a:latin typeface="Times New Roman" panose="02020603050405020304" pitchFamily="18" charset="0"/>
                <a:cs typeface="Times New Roman" panose="02020603050405020304" pitchFamily="18" charset="0"/>
                <a:sym typeface="+mn-ea"/>
              </a:rPr>
              <a:t>1000 =1101 =d</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tretch>
            <a:fillRect/>
          </a:stretch>
        </p:blipFill>
        <p:spPr>
          <a:xfrm>
            <a:off x="4140200" y="1282700"/>
            <a:ext cx="4640580" cy="460311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自适应寻径</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998220"/>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自适应寻径要特别注意避免死锁</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虚拟通道的概念使实现自适应寻径更经济和更灵活</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rcRect b="5646"/>
          <a:stretch>
            <a:fillRect/>
          </a:stretch>
        </p:blipFill>
        <p:spPr>
          <a:xfrm>
            <a:off x="4314190" y="2184400"/>
            <a:ext cx="4363720" cy="4032885"/>
          </a:xfrm>
          <a:prstGeom prst="rect">
            <a:avLst/>
          </a:prstGeom>
        </p:spPr>
      </p:pic>
      <p:sp>
        <p:nvSpPr>
          <p:cNvPr id="3" name="文本框 2"/>
          <p:cNvSpPr txBox="1"/>
          <p:nvPr/>
        </p:nvSpPr>
        <p:spPr>
          <a:xfrm>
            <a:off x="539750" y="2184400"/>
            <a:ext cx="3580765" cy="4515485"/>
          </a:xfrm>
          <a:prstGeom prst="rect">
            <a:avLst/>
          </a:prstGeom>
          <a:noFill/>
        </p:spPr>
        <p:txBody>
          <a:bodyPr wrap="square" rtlCol="0" anchor="t">
            <a:noAutofit/>
          </a:bodyPr>
          <a:p>
            <a:pPr marL="342900" indent="-342900" algn="l" eaLnBrk="1" hangingPunct="1">
              <a:spcBef>
                <a:spcPts val="1200"/>
              </a:spcBef>
              <a:buClr>
                <a:schemeClr val="hlink"/>
              </a:buClr>
              <a:buSzTx/>
              <a:buFont typeface="Wingdings" panose="05000000000000000000" pitchFamily="2" charset="2"/>
              <a:buChar char="v"/>
            </a:pPr>
            <a:r>
              <a:rPr lang="zh-CN" altLang="en-US" sz="2000" b="1" kern="0" dirty="0">
                <a:solidFill>
                  <a:schemeClr val="hlink"/>
                </a:solidFill>
                <a:latin typeface="Times New Roman" panose="02020603050405020304" pitchFamily="18" charset="0"/>
                <a:ea typeface="+mn-ea"/>
                <a:cs typeface="Times New Roman" panose="02020603050405020304" pitchFamily="18" charset="0"/>
              </a:rPr>
              <a:t>虚拟通道：</a:t>
            </a:r>
            <a:endParaRPr lang="zh-CN" altLang="en-US" sz="2000" b="1" kern="0" dirty="0">
              <a:solidFill>
                <a:schemeClr val="hlink"/>
              </a:solidFill>
              <a:latin typeface="Times New Roman" panose="02020603050405020304" pitchFamily="18" charset="0"/>
              <a:ea typeface="+mn-ea"/>
              <a:cs typeface="Times New Roman" panose="02020603050405020304" pitchFamily="18" charset="0"/>
            </a:endParaRPr>
          </a:p>
          <a:p>
            <a:pPr marL="742950" lvl="1" indent="-285750" algn="l" eaLnBrk="1" hangingPunct="1">
              <a:spcBef>
                <a:spcPts val="1200"/>
              </a:spcBef>
              <a:buClr>
                <a:schemeClr val="accent1"/>
              </a:buClr>
              <a:buSzTx/>
              <a:buFont typeface="Wingdings" panose="05000000000000000000" pitchFamily="2" charset="2"/>
              <a:buChar char="§"/>
            </a:pPr>
            <a:r>
              <a:rPr lang="zh-CN" altLang="en-US" sz="2000" kern="0" dirty="0">
                <a:solidFill>
                  <a:schemeClr val="tx1"/>
                </a:solidFill>
                <a:latin typeface="Times New Roman" panose="02020603050405020304" pitchFamily="18" charset="0"/>
                <a:ea typeface="+mn-ea"/>
                <a:cs typeface="Times New Roman" panose="02020603050405020304" pitchFamily="18" charset="0"/>
              </a:rPr>
              <a:t>两个结点间的逻辑链，它由源结点的片缓冲区、结点间的物理通道以及接收结点的片缓冲区组成；</a:t>
            </a:r>
            <a:endParaRPr lang="zh-CN" altLang="en-US" sz="2000" kern="0" dirty="0">
              <a:solidFill>
                <a:schemeClr val="tx1"/>
              </a:solidFill>
              <a:latin typeface="Times New Roman" panose="02020603050405020304" pitchFamily="18" charset="0"/>
              <a:ea typeface="+mn-ea"/>
              <a:cs typeface="Times New Roman" panose="02020603050405020304" pitchFamily="18" charset="0"/>
            </a:endParaRPr>
          </a:p>
          <a:p>
            <a:pPr marL="742950" lvl="1" indent="-285750" algn="l" eaLnBrk="1" hangingPunct="1">
              <a:spcBef>
                <a:spcPts val="1200"/>
              </a:spcBef>
              <a:buClr>
                <a:schemeClr val="accent1"/>
              </a:buClr>
              <a:buSzTx/>
              <a:buFont typeface="Wingdings" panose="05000000000000000000" pitchFamily="2" charset="2"/>
              <a:buChar char="§"/>
            </a:pPr>
            <a:r>
              <a:rPr lang="zh-CN" altLang="en-US" sz="2000" kern="0" dirty="0">
                <a:solidFill>
                  <a:schemeClr val="tx1"/>
                </a:solidFill>
                <a:latin typeface="Times New Roman" panose="02020603050405020304" pitchFamily="18" charset="0"/>
                <a:ea typeface="+mn-ea"/>
                <a:cs typeface="Times New Roman" panose="02020603050405020304" pitchFamily="18" charset="0"/>
              </a:rPr>
              <a:t>当物理通道分配给某对缓冲区时，这一对的源缓冲区和接收缓冲区形成了一条虚拟通道；</a:t>
            </a:r>
            <a:endParaRPr lang="zh-CN" altLang="en-US" sz="2000" kern="0" dirty="0">
              <a:solidFill>
                <a:schemeClr val="tx1"/>
              </a:solidFill>
              <a:latin typeface="Times New Roman" panose="02020603050405020304" pitchFamily="18" charset="0"/>
              <a:ea typeface="+mn-ea"/>
              <a:cs typeface="Times New Roman" panose="02020603050405020304" pitchFamily="18" charset="0"/>
            </a:endParaRPr>
          </a:p>
          <a:p>
            <a:pPr marL="742950" lvl="1" indent="-285750" algn="l" eaLnBrk="1" hangingPunct="1">
              <a:spcBef>
                <a:spcPts val="1200"/>
              </a:spcBef>
              <a:buClr>
                <a:schemeClr val="accent1"/>
              </a:buClr>
              <a:buSzTx/>
              <a:buFont typeface="Wingdings" panose="05000000000000000000" pitchFamily="2" charset="2"/>
              <a:buChar char="§"/>
            </a:pPr>
            <a:r>
              <a:rPr lang="zh-CN" altLang="en-US" sz="2000" kern="0" dirty="0">
                <a:solidFill>
                  <a:schemeClr val="tx1"/>
                </a:solidFill>
                <a:latin typeface="Times New Roman" panose="02020603050405020304" pitchFamily="18" charset="0"/>
                <a:ea typeface="+mn-ea"/>
                <a:cs typeface="Times New Roman" panose="02020603050405020304" pitchFamily="18" charset="0"/>
              </a:rPr>
              <a:t>物理通道由所有的虚拟通道分时地共享。</a:t>
            </a:r>
            <a:endParaRPr lang="zh-CN" altLang="en-US" sz="2000" kern="0" dirty="0">
              <a:solidFill>
                <a:schemeClr val="tx1"/>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利用虚拟通道避免死锁的自适应X-Y寻径</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5054600"/>
          </a:xfrm>
        </p:spPr>
        <p:txBody>
          <a:bodyPr vert="horz" wrap="square" lIns="91440" tIns="45720" rIns="91440" bIns="45720" anchor="t" anchorCtr="0"/>
          <a:p>
            <a:pPr eaLnBrk="1" hangingPunct="1"/>
            <a:r>
              <a:rPr lang="en-US" altLang="zh-CN" sz="2000" dirty="0">
                <a:latin typeface="Times New Roman" panose="02020603050405020304" pitchFamily="18" charset="0"/>
                <a:cs typeface="Times New Roman" panose="02020603050405020304" pitchFamily="18" charset="0"/>
                <a:sym typeface="+mn-ea"/>
              </a:rPr>
              <a:t> </a:t>
            </a:r>
            <a:endParaRPr lang="en-US" altLang="zh-CN" sz="2000" dirty="0">
              <a:latin typeface="Times New Roman" panose="02020603050405020304" pitchFamily="18" charset="0"/>
              <a:cs typeface="Times New Roman" panose="02020603050405020304" pitchFamily="18" charset="0"/>
              <a:sym typeface="+mn-ea"/>
            </a:endParaRPr>
          </a:p>
          <a:p>
            <a:pPr eaLnBrk="1" hangingPunct="1"/>
            <a:endParaRPr lang="en-US" altLang="zh-CN" sz="2000" dirty="0">
              <a:latin typeface="Times New Roman" panose="02020603050405020304" pitchFamily="18" charset="0"/>
              <a:cs typeface="Times New Roman" panose="02020603050405020304" pitchFamily="18" charset="0"/>
              <a:sym typeface="+mn-ea"/>
            </a:endParaRPr>
          </a:p>
          <a:p>
            <a:pPr eaLnBrk="1" hangingPunct="1"/>
            <a:endParaRPr lang="en-US" altLang="zh-CN" sz="2000" dirty="0">
              <a:latin typeface="Times New Roman" panose="02020603050405020304" pitchFamily="18" charset="0"/>
              <a:cs typeface="Times New Roman" panose="02020603050405020304" pitchFamily="18" charset="0"/>
              <a:sym typeface="+mn-ea"/>
            </a:endParaRPr>
          </a:p>
          <a:p>
            <a:pPr eaLnBrk="1" hangingPunct="1"/>
            <a:endParaRPr lang="en-US" altLang="zh-CN" sz="2000" dirty="0">
              <a:latin typeface="Times New Roman" panose="02020603050405020304" pitchFamily="18" charset="0"/>
              <a:cs typeface="Times New Roman" panose="02020603050405020304" pitchFamily="18" charset="0"/>
              <a:sym typeface="+mn-ea"/>
            </a:endParaRPr>
          </a:p>
          <a:p>
            <a:pPr eaLnBrk="1" hangingPunct="1"/>
            <a:endParaRPr lang="en-US" altLang="zh-CN" sz="2000" dirty="0">
              <a:latin typeface="Times New Roman" panose="02020603050405020304" pitchFamily="18" charset="0"/>
              <a:cs typeface="Times New Roman" panose="02020603050405020304" pitchFamily="18" charset="0"/>
              <a:sym typeface="+mn-ea"/>
            </a:endParaRPr>
          </a:p>
          <a:p>
            <a:pPr eaLnBrk="1" hangingPunct="1"/>
            <a:endParaRPr lang="en-US" altLang="zh-CN" sz="2000" dirty="0">
              <a:latin typeface="Times New Roman" panose="02020603050405020304" pitchFamily="18" charset="0"/>
              <a:cs typeface="Times New Roman" panose="02020603050405020304" pitchFamily="18" charset="0"/>
              <a:sym typeface="+mn-ea"/>
            </a:endParaRPr>
          </a:p>
          <a:p>
            <a:pPr eaLnBrk="1" hangingPunct="1"/>
            <a:r>
              <a:rPr lang="en-US" altLang="zh-CN" sz="2000" dirty="0">
                <a:latin typeface="Times New Roman" panose="02020603050405020304" pitchFamily="18" charset="0"/>
                <a:cs typeface="Times New Roman" panose="02020603050405020304" pitchFamily="18" charset="0"/>
                <a:sym typeface="+mn-ea"/>
              </a:rPr>
              <a:t>(a)</a:t>
            </a:r>
            <a:r>
              <a:rPr lang="zh-CN" altLang="en-US" sz="2000" dirty="0">
                <a:latin typeface="Times New Roman" panose="02020603050405020304" pitchFamily="18" charset="0"/>
                <a:cs typeface="Times New Roman" panose="02020603050405020304" pitchFamily="18" charset="0"/>
                <a:sym typeface="+mn-ea"/>
              </a:rPr>
              <a:t>没有虚拟通道的原形网络	</a:t>
            </a:r>
            <a:r>
              <a:rPr lang="en-US" altLang="zh-CN" sz="2000" dirty="0">
                <a:latin typeface="Times New Roman" panose="02020603050405020304" pitchFamily="18" charset="0"/>
                <a:cs typeface="Times New Roman" panose="02020603050405020304" pitchFamily="18" charset="0"/>
                <a:sym typeface="+mn-ea"/>
              </a:rPr>
              <a:t> (b)Y</a:t>
            </a:r>
            <a:r>
              <a:rPr lang="zh-CN" altLang="en-US" sz="2000" dirty="0">
                <a:latin typeface="Times New Roman" panose="02020603050405020304" pitchFamily="18" charset="0"/>
                <a:cs typeface="Times New Roman" panose="02020603050405020304" pitchFamily="18" charset="0"/>
                <a:sym typeface="+mn-ea"/>
              </a:rPr>
              <a:t>维方向有两对虚拟通道</a:t>
            </a:r>
            <a:endParaRPr lang="zh-CN" altLang="en-US" sz="2000" dirty="0">
              <a:latin typeface="Times New Roman" panose="02020603050405020304" pitchFamily="18" charset="0"/>
              <a:cs typeface="Times New Roman" panose="02020603050405020304" pitchFamily="18" charset="0"/>
              <a:sym typeface="+mn-ea"/>
            </a:endParaRPr>
          </a:p>
          <a:p>
            <a:pPr eaLnBrk="1" hangingPunct="1"/>
            <a:r>
              <a:rPr lang="zh-CN" altLang="en-US" sz="2000" dirty="0">
                <a:latin typeface="Times New Roman" panose="02020603050405020304" pitchFamily="18" charset="0"/>
                <a:cs typeface="Times New Roman" panose="02020603050405020304" pitchFamily="18" charset="0"/>
                <a:sym typeface="+mn-ea"/>
              </a:rPr>
              <a:t>  </a:t>
            </a:r>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(c)</a:t>
            </a:r>
            <a:r>
              <a:rPr lang="zh-CN" altLang="en-US" sz="2000" dirty="0">
                <a:latin typeface="Times New Roman" panose="02020603050405020304" pitchFamily="18" charset="0"/>
                <a:cs typeface="Times New Roman" panose="02020603050405020304" pitchFamily="18" charset="0"/>
                <a:sym typeface="+mn-ea"/>
              </a:rPr>
              <a:t>向西方向传输信息	</a:t>
            </a:r>
            <a:r>
              <a:rPr lang="en-US" altLang="zh-CN" sz="2000" dirty="0">
                <a:latin typeface="Times New Roman" panose="02020603050405020304" pitchFamily="18" charset="0"/>
                <a:cs typeface="Times New Roman" panose="02020603050405020304" pitchFamily="18" charset="0"/>
                <a:sym typeface="+mn-ea"/>
              </a:rPr>
              <a:t>   (d)</a:t>
            </a:r>
            <a:r>
              <a:rPr lang="zh-CN" altLang="en-US" sz="2000" dirty="0">
                <a:latin typeface="Times New Roman" panose="02020603050405020304" pitchFamily="18" charset="0"/>
                <a:cs typeface="Times New Roman" panose="02020603050405020304" pitchFamily="18" charset="0"/>
                <a:sym typeface="+mn-ea"/>
              </a:rPr>
              <a:t>向东方向传输信息</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101381" name="Picture 4" descr="p_7_3_10a"/>
          <p:cNvPicPr>
            <a:picLocks noChangeAspect="1"/>
          </p:cNvPicPr>
          <p:nvPr>
            <p:custDataLst>
              <p:tags r:id="rId2"/>
            </p:custDataLst>
          </p:nvPr>
        </p:nvPicPr>
        <p:blipFill>
          <a:blip r:embed="rId3"/>
          <a:stretch>
            <a:fillRect/>
          </a:stretch>
        </p:blipFill>
        <p:spPr>
          <a:xfrm>
            <a:off x="1685925" y="1111250"/>
            <a:ext cx="2237105" cy="2237105"/>
          </a:xfrm>
          <a:prstGeom prst="rect">
            <a:avLst/>
          </a:prstGeom>
          <a:noFill/>
          <a:ln w="9525">
            <a:noFill/>
          </a:ln>
        </p:spPr>
      </p:pic>
      <p:pic>
        <p:nvPicPr>
          <p:cNvPr id="101382" name="Picture 5" descr="p_7_3_10b"/>
          <p:cNvPicPr>
            <a:picLocks noChangeAspect="1"/>
          </p:cNvPicPr>
          <p:nvPr>
            <p:custDataLst>
              <p:tags r:id="rId4"/>
            </p:custDataLst>
          </p:nvPr>
        </p:nvPicPr>
        <p:blipFill>
          <a:blip r:embed="rId5"/>
          <a:stretch>
            <a:fillRect/>
          </a:stretch>
        </p:blipFill>
        <p:spPr>
          <a:xfrm>
            <a:off x="4716145" y="1124585"/>
            <a:ext cx="2192655" cy="2192655"/>
          </a:xfrm>
          <a:prstGeom prst="rect">
            <a:avLst/>
          </a:prstGeom>
          <a:noFill/>
          <a:ln w="9525">
            <a:noFill/>
          </a:ln>
        </p:spPr>
      </p:pic>
      <p:pic>
        <p:nvPicPr>
          <p:cNvPr id="101383" name="Picture 6" descr="p_7_3_10c"/>
          <p:cNvPicPr>
            <a:picLocks noChangeAspect="1"/>
          </p:cNvPicPr>
          <p:nvPr>
            <p:custDataLst>
              <p:tags r:id="rId6"/>
            </p:custDataLst>
          </p:nvPr>
        </p:nvPicPr>
        <p:blipFill>
          <a:blip r:embed="rId7"/>
          <a:stretch>
            <a:fillRect/>
          </a:stretch>
        </p:blipFill>
        <p:spPr>
          <a:xfrm>
            <a:off x="1691640" y="3933190"/>
            <a:ext cx="2272030" cy="2272030"/>
          </a:xfrm>
          <a:prstGeom prst="rect">
            <a:avLst/>
          </a:prstGeom>
          <a:noFill/>
          <a:ln w="9525">
            <a:noFill/>
          </a:ln>
        </p:spPr>
      </p:pic>
      <p:pic>
        <p:nvPicPr>
          <p:cNvPr id="101384" name="Picture 7" descr="p_7_3_10d"/>
          <p:cNvPicPr>
            <a:picLocks noChangeAspect="1"/>
          </p:cNvPicPr>
          <p:nvPr>
            <p:custDataLst>
              <p:tags r:id="rId8"/>
            </p:custDataLst>
          </p:nvPr>
        </p:nvPicPr>
        <p:blipFill>
          <a:blip r:embed="rId9"/>
          <a:stretch>
            <a:fillRect/>
          </a:stretch>
        </p:blipFill>
        <p:spPr>
          <a:xfrm>
            <a:off x="4787900" y="3860800"/>
            <a:ext cx="2197100" cy="2197100"/>
          </a:xfrm>
          <a:prstGeom prst="rect">
            <a:avLst/>
          </a:prstGeom>
          <a:noFill/>
          <a:ln w="9525">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双通道网格网络可实现4个虚拟网络 </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5054600"/>
          </a:xfrm>
        </p:spPr>
        <p:txBody>
          <a:bodyPr vert="horz" wrap="square" lIns="91440" tIns="45720" rIns="91440" bIns="45720" anchor="t" anchorCtr="0"/>
          <a:p>
            <a:pPr eaLnBrk="1" hangingPunct="1"/>
            <a:endParaRPr lang="en-US" altLang="zh-CN" sz="2000" dirty="0">
              <a:latin typeface="Times New Roman" panose="02020603050405020304" pitchFamily="18" charset="0"/>
              <a:cs typeface="Times New Roman" panose="02020603050405020304" pitchFamily="18" charset="0"/>
              <a:sym typeface="+mn-ea"/>
            </a:endParaRPr>
          </a:p>
          <a:p>
            <a:pPr eaLnBrk="1" hangingPunct="1"/>
            <a:endParaRPr lang="en-US" altLang="zh-CN" sz="2000" dirty="0">
              <a:latin typeface="Times New Roman" panose="02020603050405020304" pitchFamily="18" charset="0"/>
              <a:cs typeface="Times New Roman" panose="02020603050405020304" pitchFamily="18" charset="0"/>
              <a:sym typeface="+mn-ea"/>
            </a:endParaRPr>
          </a:p>
          <a:p>
            <a:pPr eaLnBrk="1" hangingPunct="1"/>
            <a:endParaRPr lang="en-US" altLang="zh-CN" sz="2000" dirty="0">
              <a:latin typeface="Times New Roman" panose="02020603050405020304" pitchFamily="18" charset="0"/>
              <a:cs typeface="Times New Roman" panose="02020603050405020304" pitchFamily="18" charset="0"/>
              <a:sym typeface="+mn-ea"/>
            </a:endParaRPr>
          </a:p>
          <a:p>
            <a:pPr eaLnBrk="1" hangingPunct="1"/>
            <a:endParaRPr lang="en-US" altLang="zh-CN" sz="2000" dirty="0">
              <a:latin typeface="Times New Roman" panose="02020603050405020304" pitchFamily="18" charset="0"/>
              <a:cs typeface="Times New Roman" panose="02020603050405020304" pitchFamily="18" charset="0"/>
              <a:sym typeface="+mn-ea"/>
            </a:endParaRPr>
          </a:p>
          <a:p>
            <a:pPr eaLnBrk="1" hangingPunct="1"/>
            <a:endParaRPr lang="en-US" altLang="zh-CN" sz="2000" dirty="0">
              <a:latin typeface="Times New Roman" panose="02020603050405020304" pitchFamily="18" charset="0"/>
              <a:cs typeface="Times New Roman" panose="02020603050405020304" pitchFamily="18" charset="0"/>
              <a:sym typeface="+mn-ea"/>
            </a:endParaRPr>
          </a:p>
          <a:p>
            <a:pPr eaLnBrk="1" hangingPunct="1"/>
            <a:endParaRPr lang="en-US" altLang="zh-CN" sz="2000" dirty="0">
              <a:latin typeface="Times New Roman" panose="02020603050405020304" pitchFamily="18" charset="0"/>
              <a:cs typeface="Times New Roman" panose="02020603050405020304" pitchFamily="18" charset="0"/>
              <a:sym typeface="+mn-ea"/>
            </a:endParaRPr>
          </a:p>
          <a:p>
            <a:pPr eaLnBrk="1" hangingPunct="1"/>
            <a:r>
              <a:rPr lang="en-US" altLang="zh-CN" sz="2000" dirty="0">
                <a:latin typeface="Times New Roman" panose="02020603050405020304" pitchFamily="18" charset="0"/>
                <a:cs typeface="Times New Roman" panose="02020603050405020304" pitchFamily="18" charset="0"/>
                <a:sym typeface="+mn-ea"/>
              </a:rPr>
              <a:t>(a)</a:t>
            </a:r>
            <a:r>
              <a:rPr lang="zh-CN" altLang="en-US" sz="2000" dirty="0">
                <a:latin typeface="Times New Roman" panose="02020603050405020304" pitchFamily="18" charset="0"/>
                <a:cs typeface="Times New Roman" panose="02020603050405020304" pitchFamily="18" charset="0"/>
                <a:sym typeface="+mn-ea"/>
              </a:rPr>
              <a:t>双通道的</a:t>
            </a:r>
            <a:r>
              <a:rPr lang="en-US" altLang="zh-CN" sz="2000" dirty="0">
                <a:latin typeface="Times New Roman" panose="02020603050405020304" pitchFamily="18" charset="0"/>
                <a:cs typeface="Times New Roman" panose="02020603050405020304" pitchFamily="18" charset="0"/>
                <a:sym typeface="+mn-ea"/>
              </a:rPr>
              <a:t>3×3</a:t>
            </a:r>
            <a:r>
              <a:rPr lang="zh-CN" altLang="en-US" sz="2000" dirty="0">
                <a:latin typeface="Times New Roman" panose="02020603050405020304" pitchFamily="18" charset="0"/>
                <a:cs typeface="Times New Roman" panose="02020603050405020304" pitchFamily="18" charset="0"/>
                <a:sym typeface="+mn-ea"/>
              </a:rPr>
              <a:t>网络</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(b)</a:t>
            </a:r>
            <a:r>
              <a:rPr lang="zh-CN" altLang="en-US" sz="2000" dirty="0">
                <a:latin typeface="Times New Roman" panose="02020603050405020304" pitchFamily="18" charset="0"/>
                <a:cs typeface="Times New Roman" panose="02020603050405020304" pitchFamily="18" charset="0"/>
                <a:sym typeface="+mn-ea"/>
              </a:rPr>
              <a:t>西</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北子网		</a:t>
            </a:r>
            <a:r>
              <a:rPr lang="en-US" altLang="zh-CN" sz="2000" dirty="0">
                <a:latin typeface="Times New Roman" panose="02020603050405020304" pitchFamily="18" charset="0"/>
                <a:cs typeface="Times New Roman" panose="02020603050405020304" pitchFamily="18" charset="0"/>
                <a:sym typeface="+mn-ea"/>
              </a:rPr>
              <a:t>(c)</a:t>
            </a:r>
            <a:r>
              <a:rPr lang="zh-CN" altLang="en-US" sz="2000" dirty="0">
                <a:latin typeface="Times New Roman" panose="02020603050405020304" pitchFamily="18" charset="0"/>
                <a:cs typeface="Times New Roman" panose="02020603050405020304" pitchFamily="18" charset="0"/>
                <a:sym typeface="+mn-ea"/>
              </a:rPr>
              <a:t>东</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北子网</a:t>
            </a:r>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hangingPunct="1"/>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(d)</a:t>
            </a:r>
            <a:r>
              <a:rPr lang="zh-CN" altLang="en-US" sz="2000" dirty="0">
                <a:latin typeface="Times New Roman" panose="02020603050405020304" pitchFamily="18" charset="0"/>
                <a:cs typeface="Times New Roman" panose="02020603050405020304" pitchFamily="18" charset="0"/>
                <a:sym typeface="+mn-ea"/>
              </a:rPr>
              <a:t>西</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南子网		     </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 </a:t>
            </a:r>
            <a:r>
              <a:rPr lang="en-US" altLang="zh-CN" sz="2000" dirty="0">
                <a:latin typeface="Times New Roman" panose="02020603050405020304" pitchFamily="18" charset="0"/>
                <a:cs typeface="Times New Roman" panose="02020603050405020304" pitchFamily="18" charset="0"/>
                <a:sym typeface="+mn-ea"/>
              </a:rPr>
              <a:t>(e)</a:t>
            </a:r>
            <a:r>
              <a:rPr lang="zh-CN" altLang="en-US" sz="2000" dirty="0">
                <a:latin typeface="Times New Roman" panose="02020603050405020304" pitchFamily="18" charset="0"/>
                <a:cs typeface="Times New Roman" panose="02020603050405020304" pitchFamily="18" charset="0"/>
                <a:sym typeface="+mn-ea"/>
              </a:rPr>
              <a:t>东</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南子网</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103429" name="Picture 4" descr="p_7_3_11e"/>
          <p:cNvPicPr>
            <a:picLocks noChangeAspect="1"/>
          </p:cNvPicPr>
          <p:nvPr>
            <p:custDataLst>
              <p:tags r:id="rId2"/>
            </p:custDataLst>
          </p:nvPr>
        </p:nvPicPr>
        <p:blipFill>
          <a:blip r:embed="rId3"/>
          <a:stretch>
            <a:fillRect/>
          </a:stretch>
        </p:blipFill>
        <p:spPr>
          <a:xfrm>
            <a:off x="5076190" y="3860800"/>
            <a:ext cx="1997075" cy="1985645"/>
          </a:xfrm>
          <a:prstGeom prst="rect">
            <a:avLst/>
          </a:prstGeom>
          <a:noFill/>
          <a:ln w="9525">
            <a:noFill/>
          </a:ln>
        </p:spPr>
      </p:pic>
      <p:pic>
        <p:nvPicPr>
          <p:cNvPr id="103430" name="Picture 5" descr="p_7_3_11a"/>
          <p:cNvPicPr>
            <a:picLocks noChangeAspect="1"/>
          </p:cNvPicPr>
          <p:nvPr>
            <p:custDataLst>
              <p:tags r:id="rId4"/>
            </p:custDataLst>
          </p:nvPr>
        </p:nvPicPr>
        <p:blipFill>
          <a:blip r:embed="rId5"/>
          <a:stretch>
            <a:fillRect/>
          </a:stretch>
        </p:blipFill>
        <p:spPr>
          <a:xfrm>
            <a:off x="1187450" y="1196975"/>
            <a:ext cx="1991995" cy="1991995"/>
          </a:xfrm>
          <a:prstGeom prst="rect">
            <a:avLst/>
          </a:prstGeom>
          <a:noFill/>
          <a:ln w="9525">
            <a:noFill/>
          </a:ln>
        </p:spPr>
      </p:pic>
      <p:pic>
        <p:nvPicPr>
          <p:cNvPr id="103431" name="Picture 6" descr="p_7_3_11b"/>
          <p:cNvPicPr>
            <a:picLocks noChangeAspect="1"/>
          </p:cNvPicPr>
          <p:nvPr>
            <p:custDataLst>
              <p:tags r:id="rId6"/>
            </p:custDataLst>
          </p:nvPr>
        </p:nvPicPr>
        <p:blipFill>
          <a:blip r:embed="rId7"/>
          <a:stretch>
            <a:fillRect/>
          </a:stretch>
        </p:blipFill>
        <p:spPr>
          <a:xfrm>
            <a:off x="3996055" y="1268730"/>
            <a:ext cx="1997075" cy="1985645"/>
          </a:xfrm>
          <a:prstGeom prst="rect">
            <a:avLst/>
          </a:prstGeom>
          <a:noFill/>
          <a:ln w="9525">
            <a:noFill/>
          </a:ln>
        </p:spPr>
      </p:pic>
      <p:pic>
        <p:nvPicPr>
          <p:cNvPr id="103432" name="Picture 7" descr="p_7_3_11c"/>
          <p:cNvPicPr>
            <a:picLocks noChangeAspect="1"/>
          </p:cNvPicPr>
          <p:nvPr>
            <p:custDataLst>
              <p:tags r:id="rId8"/>
            </p:custDataLst>
          </p:nvPr>
        </p:nvPicPr>
        <p:blipFill>
          <a:blip r:embed="rId9"/>
          <a:stretch>
            <a:fillRect/>
          </a:stretch>
        </p:blipFill>
        <p:spPr>
          <a:xfrm>
            <a:off x="6717665" y="1340485"/>
            <a:ext cx="1960245" cy="1948815"/>
          </a:xfrm>
          <a:prstGeom prst="rect">
            <a:avLst/>
          </a:prstGeom>
          <a:noFill/>
          <a:ln w="9525">
            <a:noFill/>
          </a:ln>
        </p:spPr>
      </p:pic>
      <p:pic>
        <p:nvPicPr>
          <p:cNvPr id="103433" name="Picture 8" descr="p_7_3_11d"/>
          <p:cNvPicPr>
            <a:picLocks noChangeAspect="1"/>
          </p:cNvPicPr>
          <p:nvPr>
            <p:custDataLst>
              <p:tags r:id="rId10"/>
            </p:custDataLst>
          </p:nvPr>
        </p:nvPicPr>
        <p:blipFill>
          <a:blip r:embed="rId11"/>
          <a:stretch>
            <a:fillRect/>
          </a:stretch>
        </p:blipFill>
        <p:spPr>
          <a:xfrm>
            <a:off x="1331595" y="3933190"/>
            <a:ext cx="2002790" cy="1985645"/>
          </a:xfrm>
          <a:prstGeom prst="rect">
            <a:avLst/>
          </a:prstGeom>
          <a:noFill/>
          <a:ln w="9525">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选播与广播寻径算法</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5054600"/>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四种通信模式</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单播</a:t>
            </a:r>
            <a:r>
              <a:rPr lang="en-US" altLang="zh-CN" sz="2000" dirty="0">
                <a:latin typeface="Times New Roman" panose="02020603050405020304" pitchFamily="18" charset="0"/>
                <a:cs typeface="Times New Roman" panose="02020603050405020304" pitchFamily="18" charset="0"/>
                <a:sym typeface="+mn-ea"/>
              </a:rPr>
              <a:t>(unicast),</a:t>
            </a:r>
            <a:r>
              <a:rPr lang="zh-CN" altLang="en-US" sz="2000" dirty="0">
                <a:latin typeface="Times New Roman" panose="02020603050405020304" pitchFamily="18" charset="0"/>
                <a:cs typeface="Times New Roman" panose="02020603050405020304" pitchFamily="18" charset="0"/>
                <a:sym typeface="+mn-ea"/>
              </a:rPr>
              <a:t>一对一传送</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选播</a:t>
            </a:r>
            <a:r>
              <a:rPr lang="en-US" altLang="zh-CN" sz="2000" dirty="0">
                <a:latin typeface="Times New Roman" panose="02020603050405020304" pitchFamily="18" charset="0"/>
                <a:cs typeface="Times New Roman" panose="02020603050405020304" pitchFamily="18" charset="0"/>
                <a:sym typeface="+mn-ea"/>
              </a:rPr>
              <a:t>(multicast),</a:t>
            </a:r>
            <a:r>
              <a:rPr lang="zh-CN" altLang="en-US" sz="2000" dirty="0">
                <a:latin typeface="Times New Roman" panose="02020603050405020304" pitchFamily="18" charset="0"/>
                <a:cs typeface="Times New Roman" panose="02020603050405020304" pitchFamily="18" charset="0"/>
                <a:sym typeface="+mn-ea"/>
              </a:rPr>
              <a:t>一个源结点发送同一个消息到多个目的结点</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(3)</a:t>
            </a:r>
            <a:r>
              <a:rPr lang="zh-CN" altLang="en-US" sz="2000" dirty="0">
                <a:latin typeface="Times New Roman" panose="02020603050405020304" pitchFamily="18" charset="0"/>
                <a:cs typeface="Times New Roman" panose="02020603050405020304" pitchFamily="18" charset="0"/>
                <a:sym typeface="+mn-ea"/>
              </a:rPr>
              <a:t>广播</a:t>
            </a:r>
            <a:r>
              <a:rPr lang="en-US" altLang="zh-CN" sz="2000" dirty="0">
                <a:latin typeface="Times New Roman" panose="02020603050405020304" pitchFamily="18" charset="0"/>
                <a:cs typeface="Times New Roman" panose="02020603050405020304" pitchFamily="18" charset="0"/>
                <a:sym typeface="+mn-ea"/>
              </a:rPr>
              <a:t>(broadcast),</a:t>
            </a:r>
            <a:r>
              <a:rPr lang="zh-CN" altLang="en-US" sz="2000" dirty="0">
                <a:latin typeface="Times New Roman" panose="02020603050405020304" pitchFamily="18" charset="0"/>
                <a:cs typeface="Times New Roman" panose="02020603050405020304" pitchFamily="18" charset="0"/>
                <a:sym typeface="+mn-ea"/>
              </a:rPr>
              <a:t>一个源结点发送同一个消息到全部结点</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(4)</a:t>
            </a:r>
            <a:r>
              <a:rPr lang="zh-CN" altLang="en-US" sz="2000" dirty="0">
                <a:latin typeface="Times New Roman" panose="02020603050405020304" pitchFamily="18" charset="0"/>
                <a:cs typeface="Times New Roman" panose="02020603050405020304" pitchFamily="18" charset="0"/>
                <a:sym typeface="+mn-ea"/>
              </a:rPr>
              <a:t>会议</a:t>
            </a:r>
            <a:r>
              <a:rPr lang="en-US" altLang="zh-CN" sz="2000" dirty="0">
                <a:latin typeface="Times New Roman" panose="02020603050405020304" pitchFamily="18" charset="0"/>
                <a:cs typeface="Times New Roman" panose="02020603050405020304" pitchFamily="18" charset="0"/>
                <a:sym typeface="+mn-ea"/>
              </a:rPr>
              <a:t>(conference),</a:t>
            </a:r>
            <a:r>
              <a:rPr lang="zh-CN" altLang="en-US" sz="2000" dirty="0">
                <a:latin typeface="Times New Roman" panose="02020603050405020304" pitchFamily="18" charset="0"/>
                <a:cs typeface="Times New Roman" panose="02020603050405020304" pitchFamily="18" charset="0"/>
                <a:sym typeface="+mn-ea"/>
              </a:rPr>
              <a:t>对应于多到多的通信情况</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广播与选播算法</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67460"/>
            <a:ext cx="8396605" cy="4898390"/>
          </a:xfrm>
        </p:spPr>
        <p:txBody>
          <a:bodyPr vert="horz" wrap="square" lIns="91440" tIns="45720" rIns="91440" bIns="45720" anchor="t" anchorCtr="0"/>
          <a:p>
            <a:pPr eaLnBrk="1" hangingPunct="1"/>
            <a:r>
              <a:rPr lang="zh-CN" altLang="en-US" sz="2000" dirty="0">
                <a:latin typeface="Times New Roman" panose="02020603050405020304" pitchFamily="18" charset="0"/>
                <a:cs typeface="Times New Roman" panose="02020603050405020304" pitchFamily="18" charset="0"/>
                <a:sym typeface="+mn-ea"/>
              </a:rPr>
              <a:t>广播  将一个结点的数据复制到全部</a:t>
            </a: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个结点</a:t>
            </a:r>
            <a:endParaRPr lang="zh-CN" altLang="en-US" sz="2000" dirty="0">
              <a:latin typeface="Times New Roman" panose="02020603050405020304" pitchFamily="18" charset="0"/>
              <a:cs typeface="Times New Roman" panose="02020603050405020304" pitchFamily="18" charset="0"/>
            </a:endParaRPr>
          </a:p>
          <a:p>
            <a:pPr eaLnBrk="1" hangingPunct="1"/>
            <a:r>
              <a:rPr lang="zh-CN" altLang="en-US" sz="2000" dirty="0">
                <a:latin typeface="Times New Roman" panose="02020603050405020304" pitchFamily="18" charset="0"/>
                <a:cs typeface="Times New Roman" panose="02020603050405020304" pitchFamily="18" charset="0"/>
                <a:sym typeface="+mn-ea"/>
              </a:rPr>
              <a:t>选播  将一个结点的数据复制到多个</a:t>
            </a: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个</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结点，</a:t>
            </a:r>
            <a:r>
              <a:rPr lang="en-US" altLang="zh-CN" sz="2000" dirty="0">
                <a:latin typeface="Times New Roman" panose="02020603050405020304" pitchFamily="18" charset="0"/>
                <a:cs typeface="Times New Roman" panose="02020603050405020304" pitchFamily="18" charset="0"/>
                <a:sym typeface="+mn-ea"/>
              </a:rPr>
              <a:t>1≤N'≤N</a:t>
            </a:r>
            <a:endParaRPr lang="en-US" altLang="zh-CN" sz="2000" dirty="0">
              <a:latin typeface="Times New Roman" panose="02020603050405020304" pitchFamily="18" charset="0"/>
              <a:cs typeface="Times New Roman" panose="02020603050405020304" pitchFamily="18" charset="0"/>
            </a:endParaRPr>
          </a:p>
          <a:p>
            <a:pPr eaLnBrk="1" hangingPunct="1"/>
            <a:endParaRPr lang="en-US" altLang="zh-CN" sz="2000" dirty="0">
              <a:latin typeface="Times New Roman" panose="02020603050405020304" pitchFamily="18" charset="0"/>
              <a:cs typeface="Times New Roman" panose="02020603050405020304" pitchFamily="18" charset="0"/>
            </a:endParaRPr>
          </a:p>
          <a:p>
            <a:pPr eaLnBrk="1" hangingPunct="1"/>
            <a:r>
              <a:rPr lang="zh-CN" altLang="en-US" sz="2000" dirty="0">
                <a:latin typeface="Times New Roman" panose="02020603050405020304" pitchFamily="18" charset="0"/>
                <a:cs typeface="Times New Roman" panose="02020603050405020304" pitchFamily="18" charset="0"/>
                <a:sym typeface="+mn-ea"/>
              </a:rPr>
              <a:t>研究广播与选播算法的目的是尽量利用互连网的</a:t>
            </a:r>
            <a:r>
              <a:rPr lang="zh-CN" altLang="en-US" sz="2000" dirty="0">
                <a:solidFill>
                  <a:srgbClr val="FF3333"/>
                </a:solidFill>
                <a:latin typeface="Times New Roman" panose="02020603050405020304" pitchFamily="18" charset="0"/>
                <a:cs typeface="Times New Roman" panose="02020603050405020304" pitchFamily="18" charset="0"/>
                <a:sym typeface="+mn-ea"/>
              </a:rPr>
              <a:t>并行传输</a:t>
            </a:r>
            <a:r>
              <a:rPr lang="zh-CN" altLang="en-US" sz="2000" dirty="0">
                <a:latin typeface="Times New Roman" panose="02020603050405020304" pitchFamily="18" charset="0"/>
                <a:cs typeface="Times New Roman" panose="02020603050405020304" pitchFamily="18" charset="0"/>
                <a:sym typeface="+mn-ea"/>
              </a:rPr>
              <a:t>能力，寻找花费时间最少或者动用</a:t>
            </a:r>
            <a:r>
              <a:rPr lang="zh-CN" altLang="en-US" sz="2000" dirty="0">
                <a:solidFill>
                  <a:srgbClr val="FF0000"/>
                </a:solidFill>
                <a:latin typeface="Times New Roman" panose="02020603050405020304" pitchFamily="18" charset="0"/>
                <a:cs typeface="Times New Roman" panose="02020603050405020304" pitchFamily="18" charset="0"/>
                <a:sym typeface="+mn-ea"/>
              </a:rPr>
              <a:t>信道次数</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又称</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流量</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或</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通道数</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最少的方案</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并行传输</a:t>
            </a:r>
            <a:endParaRPr lang="zh-CN" altLang="en-US"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多个结点向同一方向的相邻结点发送自己的数据副本</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不同的网络，适用的广播与选播算法也不同</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选播</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5054600"/>
          </a:xfrm>
        </p:spPr>
        <p:txBody>
          <a:bodyPr vert="horz" wrap="square" lIns="91440" tIns="45720" rIns="91440" bIns="45720" anchor="t" anchorCtr="0"/>
          <a:p>
            <a:pPr eaLnBrk="1" hangingPunct="1"/>
            <a:r>
              <a:rPr lang="zh-CN" altLang="en-US" sz="2000" dirty="0">
                <a:latin typeface="Times New Roman" panose="02020603050405020304" pitchFamily="18" charset="0"/>
                <a:cs typeface="Times New Roman" panose="02020603050405020304" pitchFamily="18" charset="0"/>
                <a:sym typeface="+mn-ea"/>
              </a:rPr>
              <a:t>选播算法的设计目标有</a:t>
            </a:r>
            <a:r>
              <a:rPr lang="en-US" altLang="zh-CN" sz="2000" dirty="0">
                <a:latin typeface="Times New Roman" panose="02020603050405020304" pitchFamily="18" charset="0"/>
                <a:cs typeface="Times New Roman" panose="02020603050405020304" pitchFamily="18" charset="0"/>
                <a:sym typeface="+mn-ea"/>
              </a:rPr>
              <a:t>3</a:t>
            </a:r>
            <a:r>
              <a:rPr lang="zh-CN" altLang="en-US" sz="2000" dirty="0">
                <a:latin typeface="Times New Roman" panose="02020603050405020304" pitchFamily="18" charset="0"/>
                <a:cs typeface="Times New Roman" panose="02020603050405020304" pitchFamily="18" charset="0"/>
                <a:sym typeface="+mn-ea"/>
              </a:rPr>
              <a:t>种</a:t>
            </a:r>
            <a:endParaRPr lang="zh-CN" altLang="en-US"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时间最少</a:t>
            </a:r>
            <a:endParaRPr lang="zh-CN" altLang="en-US"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流量最少</a:t>
            </a:r>
            <a:endParaRPr lang="zh-CN" altLang="en-US"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在时间最少的多个方案中选取流量最少方案</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选播时间最少算法是通过单播时间最少算法裁剪而成</a:t>
            </a:r>
            <a:r>
              <a:rPr lang="en-US" altLang="zh-CN" sz="2000" dirty="0">
                <a:latin typeface="Times New Roman" panose="02020603050405020304" pitchFamily="18" charset="0"/>
                <a:cs typeface="Times New Roman" panose="02020603050405020304" pitchFamily="18" charset="0"/>
                <a:sym typeface="+mn-ea"/>
              </a:rPr>
              <a:t>((a)→(b))</a:t>
            </a:r>
            <a:endParaRPr lang="en-US" altLang="zh-CN"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选播流量最少算法是最小成本生成树算法</a:t>
            </a:r>
            <a:r>
              <a:rPr lang="zh-CN"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图</a:t>
            </a:r>
            <a:r>
              <a:rPr lang="en-US" altLang="zh-CN" sz="2000" dirty="0">
                <a:latin typeface="Times New Roman" panose="02020603050405020304" pitchFamily="18" charset="0"/>
                <a:cs typeface="Times New Roman" panose="02020603050405020304" pitchFamily="18" charset="0"/>
                <a:sym typeface="+mn-ea"/>
              </a:rPr>
              <a:t>(c))</a:t>
            </a:r>
            <a:endParaRPr lang="en-US" altLang="zh-CN"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实现第</a:t>
            </a:r>
            <a:r>
              <a:rPr lang="en-US" altLang="zh-CN" sz="2000" dirty="0">
                <a:latin typeface="Times New Roman" panose="02020603050405020304" pitchFamily="18" charset="0"/>
                <a:cs typeface="Times New Roman" panose="02020603050405020304" pitchFamily="18" charset="0"/>
                <a:sym typeface="+mn-ea"/>
              </a:rPr>
              <a:t>3</a:t>
            </a:r>
            <a:r>
              <a:rPr lang="zh-CN" altLang="en-US" sz="2000" dirty="0">
                <a:latin typeface="Times New Roman" panose="02020603050405020304" pitchFamily="18" charset="0"/>
                <a:cs typeface="Times New Roman" panose="02020603050405020304" pitchFamily="18" charset="0"/>
                <a:sym typeface="+mn-ea"/>
              </a:rPr>
              <a:t>种目标的一种重要算法是贪婪算法</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图</a:t>
            </a:r>
            <a:r>
              <a:rPr lang="en-US" altLang="zh-CN" sz="2000" dirty="0">
                <a:latin typeface="Times New Roman" panose="02020603050405020304" pitchFamily="18" charset="0"/>
                <a:cs typeface="Times New Roman" panose="02020603050405020304" pitchFamily="18" charset="0"/>
                <a:sym typeface="+mn-ea"/>
              </a:rPr>
              <a:t>(b))</a:t>
            </a:r>
            <a:endParaRPr lang="en-US" altLang="zh-CN"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不论何种网络，贪婪算法总是重复使用一个固定的操作规则</a:t>
            </a:r>
            <a:endParaRPr lang="zh-CN" altLang="en-US"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从当前拥有数据的结点出发，向需要数据的结点数最多的方向</a:t>
            </a:r>
            <a:r>
              <a:rPr lang="zh-CN" altLang="en-US" sz="2000" dirty="0">
                <a:solidFill>
                  <a:srgbClr val="FF3333"/>
                </a:solidFill>
                <a:latin typeface="Times New Roman" panose="02020603050405020304" pitchFamily="18" charset="0"/>
                <a:cs typeface="Times New Roman" panose="02020603050405020304" pitchFamily="18" charset="0"/>
                <a:sym typeface="+mn-ea"/>
              </a:rPr>
              <a:t>并行传送</a:t>
            </a:r>
            <a:r>
              <a:rPr lang="zh-CN" altLang="en-US" sz="2000" dirty="0">
                <a:latin typeface="Times New Roman" panose="02020603050405020304" pitchFamily="18" charset="0"/>
                <a:cs typeface="Times New Roman" panose="02020603050405020304" pitchFamily="18" charset="0"/>
                <a:sym typeface="+mn-ea"/>
              </a:rPr>
              <a:t>一步</a:t>
            </a:r>
            <a:endParaRPr lang="zh-CN" altLang="en-US"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对剩余目的结点如此循环，直至传遍所有需要数据的结点</a:t>
            </a:r>
            <a:endParaRPr lang="zh-CN" altLang="en-US"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如果最后发现某个通道</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即一次数据发送操作</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不在通往给定目标结点的路径上，则应将其删去</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贪婪算法</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07525" name="Picture 5" descr="p_7_3_12a"/>
          <p:cNvPicPr>
            <a:picLocks noChangeAspect="1"/>
          </p:cNvPicPr>
          <p:nvPr>
            <p:custDataLst>
              <p:tags r:id="rId1"/>
            </p:custDataLst>
          </p:nvPr>
        </p:nvPicPr>
        <p:blipFill>
          <a:blip r:embed="rId2"/>
          <a:srcRect b="9378"/>
          <a:stretch>
            <a:fillRect/>
          </a:stretch>
        </p:blipFill>
        <p:spPr>
          <a:xfrm>
            <a:off x="1330960" y="1380490"/>
            <a:ext cx="2991485" cy="2339340"/>
          </a:xfrm>
          <a:prstGeom prst="rect">
            <a:avLst/>
          </a:prstGeom>
          <a:noFill/>
          <a:ln w="9525">
            <a:noFill/>
          </a:ln>
        </p:spPr>
      </p:pic>
      <p:pic>
        <p:nvPicPr>
          <p:cNvPr id="107526" name="Picture 6" descr="p_7_3_12b"/>
          <p:cNvPicPr>
            <a:picLocks noChangeAspect="1"/>
          </p:cNvPicPr>
          <p:nvPr>
            <p:custDataLst>
              <p:tags r:id="rId3"/>
            </p:custDataLst>
          </p:nvPr>
        </p:nvPicPr>
        <p:blipFill>
          <a:blip r:embed="rId4"/>
          <a:srcRect b="8499"/>
          <a:stretch>
            <a:fillRect/>
          </a:stretch>
        </p:blipFill>
        <p:spPr>
          <a:xfrm>
            <a:off x="4498975" y="1412875"/>
            <a:ext cx="2919730" cy="2322830"/>
          </a:xfrm>
          <a:prstGeom prst="rect">
            <a:avLst/>
          </a:prstGeom>
          <a:noFill/>
          <a:ln w="9525">
            <a:noFill/>
          </a:ln>
        </p:spPr>
      </p:pic>
      <p:pic>
        <p:nvPicPr>
          <p:cNvPr id="107527" name="Picture 7" descr="p_7_3_12c"/>
          <p:cNvPicPr>
            <a:picLocks noChangeAspect="1"/>
          </p:cNvPicPr>
          <p:nvPr>
            <p:custDataLst>
              <p:tags r:id="rId5"/>
            </p:custDataLst>
          </p:nvPr>
        </p:nvPicPr>
        <p:blipFill>
          <a:blip r:embed="rId6"/>
          <a:srcRect b="10524"/>
          <a:stretch>
            <a:fillRect/>
          </a:stretch>
        </p:blipFill>
        <p:spPr>
          <a:xfrm>
            <a:off x="1330960" y="4004945"/>
            <a:ext cx="2825750" cy="2251710"/>
          </a:xfrm>
          <a:prstGeom prst="rect">
            <a:avLst/>
          </a:prstGeom>
          <a:noFill/>
          <a:ln w="9525">
            <a:noFill/>
          </a:ln>
        </p:spPr>
      </p:pic>
      <p:pic>
        <p:nvPicPr>
          <p:cNvPr id="107528" name="Picture 8" descr="p_7_3_12d"/>
          <p:cNvPicPr>
            <a:picLocks noChangeAspect="1"/>
          </p:cNvPicPr>
          <p:nvPr>
            <p:custDataLst>
              <p:tags r:id="rId7"/>
            </p:custDataLst>
          </p:nvPr>
        </p:nvPicPr>
        <p:blipFill>
          <a:blip r:embed="rId8"/>
          <a:srcRect b="13208"/>
          <a:stretch>
            <a:fillRect/>
          </a:stretch>
        </p:blipFill>
        <p:spPr>
          <a:xfrm>
            <a:off x="4571365" y="3933190"/>
            <a:ext cx="2890520" cy="2496185"/>
          </a:xfrm>
          <a:prstGeom prst="rect">
            <a:avLst/>
          </a:prstGeom>
          <a:noFill/>
          <a:ln w="9525">
            <a:noFill/>
          </a:ln>
        </p:spPr>
      </p:pic>
      <p:sp>
        <p:nvSpPr>
          <p:cNvPr id="3" name="文本框 2"/>
          <p:cNvSpPr txBox="1"/>
          <p:nvPr/>
        </p:nvSpPr>
        <p:spPr>
          <a:xfrm>
            <a:off x="325755" y="1484630"/>
            <a:ext cx="1012190" cy="2162175"/>
          </a:xfrm>
          <a:prstGeom prst="rect">
            <a:avLst/>
          </a:prstGeom>
          <a:noFill/>
        </p:spPr>
        <p:txBody>
          <a:bodyPr wrap="square" rtlCol="0" anchor="t">
            <a:noAutofit/>
          </a:bodyPr>
          <a:p>
            <a:pPr eaLnBrk="1" hangingPunct="1"/>
            <a:r>
              <a:rPr lang="en-US" altLang="zh-CN"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5</a:t>
            </a:r>
            <a:r>
              <a:rPr lang="zh-CN" altLang="en-US"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次点对点</a:t>
            </a:r>
            <a:r>
              <a:rPr lang="en-US" altLang="zh-CN"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a:t>
            </a:r>
            <a:endParaRPr lang="en-US" altLang="zh-CN"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p>
            <a:pPr eaLnBrk="1" hangingPunct="1"/>
            <a:r>
              <a:rPr lang="en-US" altLang="zh-CN"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zh-CN" altLang="en-US"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个流量为相邻结点一次传输</a:t>
            </a:r>
            <a:endParaRPr lang="zh-CN" altLang="en-US"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4" name="文本框 3"/>
          <p:cNvSpPr txBox="1"/>
          <p:nvPr/>
        </p:nvSpPr>
        <p:spPr>
          <a:xfrm>
            <a:off x="323215" y="4077335"/>
            <a:ext cx="1014730" cy="1630045"/>
          </a:xfrm>
          <a:prstGeom prst="rect">
            <a:avLst/>
          </a:prstGeom>
          <a:noFill/>
        </p:spPr>
        <p:txBody>
          <a:bodyPr wrap="square" rtlCol="0" anchor="t">
            <a:spAutoFit/>
          </a:bodyPr>
          <a:p>
            <a:pPr lvl="0" algn="l" eaLnBrk="1" hangingPunct="1">
              <a:buClrTx/>
              <a:buSzTx/>
              <a:buFontTx/>
            </a:pPr>
            <a:r>
              <a:rPr lang="en-US" altLang="zh-CN"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向最近的结点的方向移动</a:t>
            </a:r>
            <a:r>
              <a:rPr lang="en-US" altLang="zh-CN"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en-US" altLang="zh-CN"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步</a:t>
            </a:r>
            <a:endParaRPr lang="en-US" altLang="zh-CN"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5" name="文本框 4"/>
          <p:cNvSpPr txBox="1"/>
          <p:nvPr/>
        </p:nvSpPr>
        <p:spPr>
          <a:xfrm>
            <a:off x="7418705" y="1484630"/>
            <a:ext cx="1506855" cy="1014730"/>
          </a:xfrm>
          <a:prstGeom prst="rect">
            <a:avLst/>
          </a:prstGeom>
          <a:noFill/>
        </p:spPr>
        <p:txBody>
          <a:bodyPr wrap="square" rtlCol="0" anchor="t">
            <a:spAutoFit/>
          </a:bodyPr>
          <a:p>
            <a:pPr lvl="0" algn="l" eaLnBrk="1" hangingPunct="1">
              <a:buClrTx/>
              <a:buSzTx/>
              <a:buFontTx/>
            </a:pPr>
            <a:r>
              <a:rPr lang="en-US" altLang="zh-CN"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向可达结点数最多的方向移动</a:t>
            </a:r>
            <a:r>
              <a:rPr lang="en-US" altLang="zh-CN"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1</a:t>
            </a:r>
            <a:r>
              <a:rPr lang="en-US" altLang="zh-CN"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步</a:t>
            </a:r>
            <a:endParaRPr lang="en-US" altLang="zh-CN"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6" name="文本框 5"/>
          <p:cNvSpPr txBox="1"/>
          <p:nvPr/>
        </p:nvSpPr>
        <p:spPr>
          <a:xfrm>
            <a:off x="7524750" y="4509135"/>
            <a:ext cx="1401445" cy="398780"/>
          </a:xfrm>
          <a:prstGeom prst="rect">
            <a:avLst/>
          </a:prstGeom>
          <a:noFill/>
        </p:spPr>
        <p:txBody>
          <a:bodyPr wrap="square" rtlCol="0" anchor="t">
            <a:spAutoFit/>
          </a:bodyPr>
          <a:p>
            <a:pPr lvl="0" algn="l" eaLnBrk="1" hangingPunct="1">
              <a:buClrTx/>
              <a:buSzTx/>
              <a:buFontTx/>
            </a:pPr>
            <a:r>
              <a:rPr lang="en-US" altLang="zh-CN"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扩散</a:t>
            </a:r>
            <a:endParaRPr lang="en-US" altLang="zh-CN" sz="20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贪婪算法4立方体广播树和选播树</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342390"/>
            <a:ext cx="2398395" cy="4823460"/>
          </a:xfrm>
        </p:spPr>
        <p:txBody>
          <a:bodyPr vert="horz" wrap="square" lIns="91440" tIns="45720" rIns="91440" bIns="45720" anchor="t" anchorCtr="0"/>
          <a:p>
            <a:pPr eaLnBrk="1" hangingPunct="1">
              <a:lnSpc>
                <a:spcPct val="90000"/>
              </a:lnSpc>
            </a:pPr>
            <a:r>
              <a:rPr lang="en-US" altLang="zh-CN" sz="2000" dirty="0">
                <a:sym typeface="+mn-ea"/>
              </a:rPr>
              <a:t>(a)</a:t>
            </a:r>
            <a:r>
              <a:rPr lang="zh-CN" altLang="en-US" sz="2000" dirty="0">
                <a:sym typeface="+mn-ea"/>
              </a:rPr>
              <a:t>根结点为</a:t>
            </a:r>
            <a:r>
              <a:rPr lang="en-US" altLang="zh-CN" sz="2000" dirty="0">
                <a:sym typeface="+mn-ea"/>
              </a:rPr>
              <a:t>0000</a:t>
            </a:r>
            <a:r>
              <a:rPr lang="zh-CN" altLang="en-US" sz="2000" dirty="0">
                <a:sym typeface="+mn-ea"/>
              </a:rPr>
              <a:t>的</a:t>
            </a:r>
            <a:r>
              <a:rPr lang="en-US" altLang="zh-CN" sz="2000" dirty="0">
                <a:sym typeface="+mn-ea"/>
              </a:rPr>
              <a:t>4</a:t>
            </a:r>
            <a:r>
              <a:rPr lang="zh-CN" altLang="en-US" sz="2000" dirty="0">
                <a:sym typeface="+mn-ea"/>
              </a:rPr>
              <a:t>立方体。超立方体广播树的流量最小 </a:t>
            </a:r>
            <a:endParaRPr lang="zh-CN" altLang="en-US" sz="2000" dirty="0"/>
          </a:p>
          <a:p>
            <a:pPr eaLnBrk="1" hangingPunct="1">
              <a:lnSpc>
                <a:spcPct val="90000"/>
              </a:lnSpc>
            </a:pPr>
            <a:endParaRPr lang="zh-CN" altLang="en-US" sz="2000" dirty="0"/>
          </a:p>
          <a:p>
            <a:pPr eaLnBrk="1" hangingPunct="1">
              <a:lnSpc>
                <a:spcPct val="90000"/>
              </a:lnSpc>
            </a:pPr>
            <a:endParaRPr lang="zh-CN" altLang="en-US" sz="2000" dirty="0"/>
          </a:p>
          <a:p>
            <a:pPr eaLnBrk="1" hangingPunct="1">
              <a:lnSpc>
                <a:spcPct val="90000"/>
              </a:lnSpc>
            </a:pPr>
            <a:endParaRPr lang="zh-CN" altLang="en-US" sz="2000" dirty="0"/>
          </a:p>
          <a:p>
            <a:pPr eaLnBrk="1" hangingPunct="1">
              <a:lnSpc>
                <a:spcPct val="90000"/>
              </a:lnSpc>
            </a:pPr>
            <a:endParaRPr lang="zh-CN" altLang="en-US" sz="2000" dirty="0"/>
          </a:p>
          <a:p>
            <a:pPr eaLnBrk="1" hangingPunct="1">
              <a:lnSpc>
                <a:spcPct val="90000"/>
              </a:lnSpc>
            </a:pPr>
            <a:endParaRPr lang="zh-CN" altLang="en-US" sz="2000" dirty="0"/>
          </a:p>
          <a:p>
            <a:pPr eaLnBrk="1" hangingPunct="1">
              <a:lnSpc>
                <a:spcPct val="90000"/>
              </a:lnSpc>
            </a:pPr>
            <a:r>
              <a:rPr lang="en-US" altLang="zh-CN" sz="2000" dirty="0">
                <a:sym typeface="+mn-ea"/>
              </a:rPr>
              <a:t>(b)</a:t>
            </a:r>
            <a:r>
              <a:rPr lang="zh-CN" altLang="en-US" sz="2000" dirty="0">
                <a:sym typeface="+mn-ea"/>
              </a:rPr>
              <a:t>一棵贪婪选播树，从结点</a:t>
            </a:r>
            <a:r>
              <a:rPr lang="en-US" altLang="zh-CN" sz="2000" dirty="0">
                <a:sym typeface="+mn-ea"/>
              </a:rPr>
              <a:t>0101</a:t>
            </a:r>
            <a:r>
              <a:rPr lang="zh-CN" altLang="en-US" sz="2000" dirty="0">
                <a:sym typeface="+mn-ea"/>
              </a:rPr>
              <a:t>发送包到</a:t>
            </a:r>
            <a:r>
              <a:rPr lang="en-US" altLang="zh-CN" sz="2000" dirty="0">
                <a:sym typeface="+mn-ea"/>
              </a:rPr>
              <a:t>7</a:t>
            </a:r>
            <a:r>
              <a:rPr lang="zh-CN" altLang="en-US" sz="2000" dirty="0">
                <a:sym typeface="+mn-ea"/>
              </a:rPr>
              <a:t>个目的结点</a:t>
            </a:r>
            <a:r>
              <a:rPr lang="en-US" altLang="zh-CN" sz="2000" dirty="0">
                <a:sym typeface="+mn-ea"/>
              </a:rPr>
              <a:t>1100, 0111, 1010, 1110, 1011, 1000, 0010</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108548" name="Picture 5"/>
          <p:cNvPicPr>
            <a:picLocks noChangeAspect="1"/>
          </p:cNvPicPr>
          <p:nvPr>
            <p:custDataLst>
              <p:tags r:id="rId2"/>
            </p:custDataLst>
          </p:nvPr>
        </p:nvPicPr>
        <p:blipFill>
          <a:blip r:embed="rId3"/>
          <a:stretch>
            <a:fillRect/>
          </a:stretch>
        </p:blipFill>
        <p:spPr>
          <a:xfrm>
            <a:off x="3229610" y="986155"/>
            <a:ext cx="5614035" cy="3174365"/>
          </a:xfrm>
          <a:prstGeom prst="rect">
            <a:avLst/>
          </a:prstGeom>
          <a:noFill/>
          <a:ln w="9525">
            <a:noFill/>
          </a:ln>
        </p:spPr>
      </p:pic>
      <p:grpSp>
        <p:nvGrpSpPr>
          <p:cNvPr id="108550" name="Group 10"/>
          <p:cNvGrpSpPr/>
          <p:nvPr/>
        </p:nvGrpSpPr>
        <p:grpSpPr>
          <a:xfrm>
            <a:off x="3228975" y="4481830"/>
            <a:ext cx="5656580" cy="1884045"/>
            <a:chOff x="1384" y="2433"/>
            <a:chExt cx="4278" cy="1808"/>
          </a:xfrm>
        </p:grpSpPr>
        <p:pic>
          <p:nvPicPr>
            <p:cNvPr id="108553" name="Picture 6"/>
            <p:cNvPicPr>
              <a:picLocks noChangeAspect="1"/>
            </p:cNvPicPr>
            <p:nvPr>
              <p:custDataLst>
                <p:tags r:id="rId4"/>
              </p:custDataLst>
            </p:nvPr>
          </p:nvPicPr>
          <p:blipFill>
            <a:blip r:embed="rId5"/>
            <a:srcRect b="28984"/>
            <a:stretch>
              <a:fillRect/>
            </a:stretch>
          </p:blipFill>
          <p:spPr>
            <a:xfrm>
              <a:off x="1384" y="2433"/>
              <a:ext cx="4278" cy="1808"/>
            </a:xfrm>
            <a:prstGeom prst="rect">
              <a:avLst/>
            </a:prstGeom>
            <a:noFill/>
            <a:ln w="9525">
              <a:noFill/>
            </a:ln>
          </p:spPr>
        </p:pic>
        <p:sp>
          <p:nvSpPr>
            <p:cNvPr id="108554" name="Line 9"/>
            <p:cNvSpPr/>
            <p:nvPr>
              <p:custDataLst>
                <p:tags r:id="rId6"/>
              </p:custDataLst>
            </p:nvPr>
          </p:nvSpPr>
          <p:spPr>
            <a:xfrm flipH="1">
              <a:off x="3920" y="2789"/>
              <a:ext cx="266" cy="266"/>
            </a:xfrm>
            <a:prstGeom prst="line">
              <a:avLst/>
            </a:prstGeom>
            <a:ln w="38100" cap="flat" cmpd="sng">
              <a:solidFill>
                <a:srgbClr val="FF0000"/>
              </a:solidFill>
              <a:prstDash val="solid"/>
              <a:headEnd type="none" w="sm" len="sm"/>
              <a:tailEnd type="triangle" w="lg" len="lg"/>
            </a:ln>
          </p:spPr>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贪婪选播算法</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5054600"/>
          </a:xfrm>
        </p:spPr>
        <p:txBody>
          <a:bodyPr vert="horz" wrap="square" lIns="91440" tIns="45720" rIns="91440" bIns="45720" anchor="t" anchorCtr="0"/>
          <a:p>
            <a:pPr eaLnBrk="1" hangingPunct="1"/>
            <a:r>
              <a:rPr lang="zh-CN" altLang="en-US" sz="2000" dirty="0">
                <a:latin typeface="Times New Roman" panose="02020603050405020304" pitchFamily="18" charset="0"/>
                <a:cs typeface="Times New Roman" panose="02020603050405020304" pitchFamily="18" charset="0"/>
                <a:sym typeface="+mn-ea"/>
              </a:rPr>
              <a:t>贪婪选播算法的基本思想</a:t>
            </a:r>
            <a:endParaRPr lang="zh-CN" altLang="en-US" sz="2000" dirty="0">
              <a:latin typeface="Times New Roman" panose="02020603050405020304" pitchFamily="18" charset="0"/>
              <a:cs typeface="Times New Roman" panose="02020603050405020304" pitchFamily="18" charset="0"/>
            </a:endParaRPr>
          </a:p>
          <a:p>
            <a:pPr lvl="1" eaLnBrk="1" hangingPunct="1"/>
            <a:r>
              <a:rPr lang="zh-CN" altLang="en-US" sz="2000" dirty="0">
                <a:solidFill>
                  <a:srgbClr val="FF0000"/>
                </a:solidFill>
                <a:latin typeface="Times New Roman" panose="02020603050405020304" pitchFamily="18" charset="0"/>
                <a:cs typeface="Times New Roman" panose="02020603050405020304" pitchFamily="18" charset="0"/>
                <a:sym typeface="+mn-ea"/>
              </a:rPr>
              <a:t>向那些可达到最多剩余目的结点的维方向发送包</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图</a:t>
            </a:r>
            <a:r>
              <a:rPr lang="en-US" altLang="zh-CN" sz="2000" dirty="0">
                <a:latin typeface="Times New Roman" panose="02020603050405020304" pitchFamily="18" charset="0"/>
                <a:cs typeface="Times New Roman" panose="02020603050405020304" pitchFamily="18" charset="0"/>
                <a:sym typeface="+mn-ea"/>
              </a:rPr>
              <a:t>(a)</a:t>
            </a:r>
            <a:r>
              <a:rPr lang="zh-CN" altLang="en-US" sz="2000" dirty="0">
                <a:latin typeface="Times New Roman" panose="02020603050405020304" pitchFamily="18" charset="0"/>
                <a:cs typeface="Times New Roman" panose="02020603050405020304" pitchFamily="18" charset="0"/>
                <a:sym typeface="+mn-ea"/>
              </a:rPr>
              <a:t>是一个根结点为</a:t>
            </a:r>
            <a:r>
              <a:rPr lang="en-US" altLang="zh-CN" sz="2000" dirty="0">
                <a:latin typeface="Times New Roman" panose="02020603050405020304" pitchFamily="18" charset="0"/>
                <a:cs typeface="Times New Roman" panose="02020603050405020304" pitchFamily="18" charset="0"/>
                <a:sym typeface="+mn-ea"/>
              </a:rPr>
              <a:t>0000</a:t>
            </a:r>
            <a:r>
              <a:rPr lang="zh-CN" altLang="en-US" sz="2000" dirty="0">
                <a:latin typeface="Times New Roman" panose="02020603050405020304" pitchFamily="18" charset="0"/>
                <a:cs typeface="Times New Roman" panose="02020603050405020304" pitchFamily="18" charset="0"/>
                <a:sym typeface="+mn-ea"/>
              </a:rPr>
              <a:t>的</a:t>
            </a:r>
            <a:r>
              <a:rPr lang="en-US" altLang="zh-CN" sz="2000" dirty="0">
                <a:latin typeface="Times New Roman" panose="02020603050405020304" pitchFamily="18" charset="0"/>
                <a:cs typeface="Times New Roman" panose="02020603050405020304" pitchFamily="18" charset="0"/>
                <a:sym typeface="+mn-ea"/>
              </a:rPr>
              <a:t>4</a:t>
            </a:r>
            <a:r>
              <a:rPr lang="zh-CN" altLang="en-US" sz="2000" dirty="0">
                <a:latin typeface="Times New Roman" panose="02020603050405020304" pitchFamily="18" charset="0"/>
                <a:cs typeface="Times New Roman" panose="02020603050405020304" pitchFamily="18" charset="0"/>
                <a:sym typeface="+mn-ea"/>
              </a:rPr>
              <a:t>立方体。超立方体广播树的流量最小</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图</a:t>
            </a:r>
            <a:r>
              <a:rPr lang="en-US" altLang="zh-CN" sz="2000" dirty="0">
                <a:latin typeface="Times New Roman" panose="02020603050405020304" pitchFamily="18" charset="0"/>
                <a:cs typeface="Times New Roman" panose="02020603050405020304" pitchFamily="18" charset="0"/>
                <a:sym typeface="+mn-ea"/>
              </a:rPr>
              <a:t>(b)</a:t>
            </a:r>
            <a:r>
              <a:rPr lang="zh-CN" altLang="en-US" sz="2000" dirty="0">
                <a:latin typeface="Times New Roman" panose="02020603050405020304" pitchFamily="18" charset="0"/>
                <a:cs typeface="Times New Roman" panose="02020603050405020304" pitchFamily="18" charset="0"/>
                <a:sym typeface="+mn-ea"/>
              </a:rPr>
              <a:t>是一棵贪婪选播树，从结点</a:t>
            </a:r>
            <a:r>
              <a:rPr lang="en-US" altLang="zh-CN" sz="2000" dirty="0">
                <a:latin typeface="Times New Roman" panose="02020603050405020304" pitchFamily="18" charset="0"/>
                <a:cs typeface="Times New Roman" panose="02020603050405020304" pitchFamily="18" charset="0"/>
                <a:sym typeface="+mn-ea"/>
              </a:rPr>
              <a:t>0101</a:t>
            </a:r>
            <a:r>
              <a:rPr lang="zh-CN" altLang="en-US" sz="2000" dirty="0">
                <a:latin typeface="Times New Roman" panose="02020603050405020304" pitchFamily="18" charset="0"/>
                <a:cs typeface="Times New Roman" panose="02020603050405020304" pitchFamily="18" charset="0"/>
                <a:sym typeface="+mn-ea"/>
              </a:rPr>
              <a:t>发送包到</a:t>
            </a:r>
            <a:r>
              <a:rPr lang="en-US" altLang="zh-CN" sz="2000" dirty="0">
                <a:latin typeface="Times New Roman" panose="02020603050405020304" pitchFamily="18" charset="0"/>
                <a:cs typeface="Times New Roman" panose="02020603050405020304" pitchFamily="18" charset="0"/>
                <a:sym typeface="+mn-ea"/>
              </a:rPr>
              <a:t>7</a:t>
            </a:r>
            <a:r>
              <a:rPr lang="zh-CN" altLang="en-US" sz="2000" dirty="0">
                <a:latin typeface="Times New Roman" panose="02020603050405020304" pitchFamily="18" charset="0"/>
                <a:cs typeface="Times New Roman" panose="02020603050405020304" pitchFamily="18" charset="0"/>
                <a:sym typeface="+mn-ea"/>
              </a:rPr>
              <a:t>个目的结点</a:t>
            </a:r>
            <a:r>
              <a:rPr lang="en-US" altLang="zh-CN" sz="2000" dirty="0">
                <a:solidFill>
                  <a:srgbClr val="FF3300"/>
                </a:solidFill>
                <a:latin typeface="Times New Roman" panose="02020603050405020304" pitchFamily="18" charset="0"/>
                <a:cs typeface="Times New Roman" panose="02020603050405020304" pitchFamily="18" charset="0"/>
                <a:sym typeface="+mn-ea"/>
              </a:rPr>
              <a:t>1100, 0111, 1010, 1110, 1011, 1000, 0010</a:t>
            </a:r>
            <a:endParaRPr lang="en-US" altLang="zh-CN" sz="2000" dirty="0">
              <a:solidFill>
                <a:srgbClr val="FF3300"/>
              </a:solidFill>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从源结点</a:t>
            </a:r>
            <a:r>
              <a:rPr lang="en-US" altLang="zh-CN" sz="2000" dirty="0">
                <a:latin typeface="Times New Roman" panose="02020603050405020304" pitchFamily="18" charset="0"/>
                <a:cs typeface="Times New Roman" panose="02020603050405020304" pitchFamily="18" charset="0"/>
                <a:sym typeface="+mn-ea"/>
              </a:rPr>
              <a:t>S=0101</a:t>
            </a:r>
            <a:r>
              <a:rPr lang="zh-CN" altLang="en-US" sz="2000" dirty="0">
                <a:latin typeface="Times New Roman" panose="02020603050405020304" pitchFamily="18" charset="0"/>
                <a:cs typeface="Times New Roman" panose="02020603050405020304" pitchFamily="18" charset="0"/>
                <a:sym typeface="+mn-ea"/>
              </a:rPr>
              <a:t>开始，由维</a:t>
            </a:r>
            <a:r>
              <a:rPr lang="en-US" altLang="zh-CN" sz="2000" dirty="0">
                <a:latin typeface="Times New Roman" panose="02020603050405020304" pitchFamily="18" charset="0"/>
                <a:cs typeface="Times New Roman" panose="02020603050405020304" pitchFamily="18" charset="0"/>
                <a:sym typeface="+mn-ea"/>
              </a:rPr>
              <a:t>4</a:t>
            </a:r>
            <a:r>
              <a:rPr lang="zh-CN" altLang="en-US" sz="2000" dirty="0">
                <a:latin typeface="Times New Roman" panose="02020603050405020304" pitchFamily="18" charset="0"/>
                <a:cs typeface="Times New Roman" panose="02020603050405020304" pitchFamily="18" charset="0"/>
                <a:sym typeface="+mn-ea"/>
              </a:rPr>
              <a:t>方向可达到最多的</a:t>
            </a:r>
            <a:r>
              <a:rPr lang="en-US" altLang="zh-CN" sz="2000" dirty="0">
                <a:latin typeface="Times New Roman" panose="02020603050405020304" pitchFamily="18" charset="0"/>
                <a:cs typeface="Times New Roman" panose="02020603050405020304" pitchFamily="18" charset="0"/>
                <a:sym typeface="+mn-ea"/>
              </a:rPr>
              <a:t>5</a:t>
            </a:r>
            <a:r>
              <a:rPr lang="zh-CN" altLang="en-US" sz="2000" dirty="0">
                <a:latin typeface="Times New Roman" panose="02020603050405020304" pitchFamily="18" charset="0"/>
                <a:cs typeface="Times New Roman" panose="02020603050405020304" pitchFamily="18" charset="0"/>
                <a:sym typeface="+mn-ea"/>
              </a:rPr>
              <a:t>个目的结点，剩余</a:t>
            </a: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个目的结点</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由维</a:t>
            </a: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方向可到达最多的</a:t>
            </a: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个目的结点。第</a:t>
            </a:r>
            <a:r>
              <a:rPr lang="en-US" altLang="zh-CN" sz="2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层所用的通道是</a:t>
            </a:r>
            <a:r>
              <a:rPr lang="en-US" altLang="zh-CN" sz="2000" dirty="0">
                <a:latin typeface="Times New Roman" panose="02020603050405020304" pitchFamily="18" charset="0"/>
                <a:cs typeface="Times New Roman" panose="02020603050405020304" pitchFamily="18" charset="0"/>
                <a:sym typeface="+mn-ea"/>
              </a:rPr>
              <a:t>0101→</a:t>
            </a:r>
            <a:r>
              <a:rPr lang="en-US" altLang="zh-CN" sz="2000" dirty="0">
                <a:solidFill>
                  <a:srgbClr val="FF3300"/>
                </a:solidFill>
                <a:latin typeface="Times New Roman" panose="02020603050405020304" pitchFamily="18" charset="0"/>
                <a:cs typeface="Times New Roman" panose="02020603050405020304" pitchFamily="18" charset="0"/>
                <a:sym typeface="+mn-ea"/>
              </a:rPr>
              <a:t>0111</a:t>
            </a:r>
            <a:r>
              <a:rPr lang="zh-CN" altLang="en-US" sz="2000" dirty="0">
                <a:latin typeface="Times New Roman" panose="02020603050405020304" pitchFamily="18" charset="0"/>
                <a:cs typeface="Times New Roman" panose="02020603050405020304" pitchFamily="18" charset="0"/>
                <a:sym typeface="+mn-ea"/>
              </a:rPr>
              <a:t>和</a:t>
            </a:r>
            <a:r>
              <a:rPr lang="en-US" altLang="zh-CN" sz="2000" dirty="0">
                <a:latin typeface="Times New Roman" panose="02020603050405020304" pitchFamily="18" charset="0"/>
                <a:cs typeface="Times New Roman" panose="02020603050405020304" pitchFamily="18" charset="0"/>
                <a:sym typeface="+mn-ea"/>
              </a:rPr>
              <a:t>0101→</a:t>
            </a:r>
            <a:r>
              <a:rPr lang="en-US" altLang="zh-CN" sz="2000" dirty="0">
                <a:solidFill>
                  <a:srgbClr val="4844EE"/>
                </a:solidFill>
                <a:latin typeface="Times New Roman" panose="02020603050405020304" pitchFamily="18" charset="0"/>
                <a:cs typeface="Times New Roman" panose="02020603050405020304" pitchFamily="18" charset="0"/>
                <a:sym typeface="+mn-ea"/>
              </a:rPr>
              <a:t>1101</a:t>
            </a:r>
            <a:endParaRPr lang="en-US" altLang="zh-CN" sz="2000" dirty="0">
              <a:solidFill>
                <a:srgbClr val="4844EE"/>
              </a:solidFill>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从结点</a:t>
            </a:r>
            <a:r>
              <a:rPr lang="en-US" altLang="zh-CN" sz="2000" dirty="0">
                <a:latin typeface="Times New Roman" panose="02020603050405020304" pitchFamily="18" charset="0"/>
                <a:cs typeface="Times New Roman" panose="02020603050405020304" pitchFamily="18" charset="0"/>
                <a:sym typeface="+mn-ea"/>
              </a:rPr>
              <a:t>1101 </a:t>
            </a:r>
            <a:r>
              <a:rPr lang="zh-CN" altLang="en-US" sz="2000" dirty="0">
                <a:latin typeface="Times New Roman" panose="02020603050405020304" pitchFamily="18" charset="0"/>
                <a:cs typeface="Times New Roman" panose="02020603050405020304" pitchFamily="18" charset="0"/>
                <a:sym typeface="+mn-ea"/>
              </a:rPr>
              <a:t>，由维</a:t>
            </a:r>
            <a:r>
              <a:rPr lang="en-US" altLang="zh-CN" sz="2000" dirty="0">
                <a:latin typeface="Times New Roman" panose="02020603050405020304" pitchFamily="18" charset="0"/>
                <a:cs typeface="Times New Roman" panose="02020603050405020304" pitchFamily="18" charset="0"/>
                <a:sym typeface="+mn-ea"/>
              </a:rPr>
              <a:t>1</a:t>
            </a:r>
            <a:r>
              <a:rPr lang="zh-CN" altLang="en-US" sz="2000" dirty="0">
                <a:latin typeface="Times New Roman" panose="02020603050405020304" pitchFamily="18" charset="0"/>
                <a:cs typeface="Times New Roman" panose="02020603050405020304" pitchFamily="18" charset="0"/>
                <a:sym typeface="+mn-ea"/>
              </a:rPr>
              <a:t>方向可到达最多的</a:t>
            </a:r>
            <a:r>
              <a:rPr lang="en-US" altLang="zh-CN" sz="2000" dirty="0">
                <a:latin typeface="Times New Roman" panose="02020603050405020304" pitchFamily="18" charset="0"/>
                <a:cs typeface="Times New Roman" panose="02020603050405020304" pitchFamily="18" charset="0"/>
                <a:sym typeface="+mn-ea"/>
              </a:rPr>
              <a:t>4</a:t>
            </a:r>
            <a:r>
              <a:rPr lang="zh-CN" altLang="en-US" sz="2000" dirty="0">
                <a:latin typeface="Times New Roman" panose="02020603050405020304" pitchFamily="18" charset="0"/>
                <a:cs typeface="Times New Roman" panose="02020603050405020304" pitchFamily="18" charset="0"/>
                <a:sym typeface="+mn-ea"/>
              </a:rPr>
              <a:t>个目的结点，剩余</a:t>
            </a:r>
            <a:r>
              <a:rPr lang="en-US" altLang="zh-CN" sz="2000" dirty="0">
                <a:latin typeface="Times New Roman" panose="02020603050405020304" pitchFamily="18" charset="0"/>
                <a:cs typeface="Times New Roman" panose="02020603050405020304" pitchFamily="18" charset="0"/>
                <a:sym typeface="+mn-ea"/>
              </a:rPr>
              <a:t>3</a:t>
            </a:r>
            <a:r>
              <a:rPr lang="zh-CN" altLang="en-US" sz="2000" dirty="0">
                <a:latin typeface="Times New Roman" panose="02020603050405020304" pitchFamily="18" charset="0"/>
                <a:cs typeface="Times New Roman" panose="02020603050405020304" pitchFamily="18" charset="0"/>
                <a:sym typeface="+mn-ea"/>
              </a:rPr>
              <a:t>个目的结点</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由维</a:t>
            </a: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方向可到达</a:t>
            </a:r>
            <a:r>
              <a:rPr lang="en-US" altLang="zh-CN" sz="2000" dirty="0">
                <a:latin typeface="Times New Roman" panose="02020603050405020304" pitchFamily="18" charset="0"/>
                <a:cs typeface="Times New Roman" panose="02020603050405020304" pitchFamily="18" charset="0"/>
                <a:sym typeface="+mn-ea"/>
              </a:rPr>
              <a:t>3</a:t>
            </a:r>
            <a:r>
              <a:rPr lang="zh-CN" altLang="en-US" sz="2000" dirty="0">
                <a:latin typeface="Times New Roman" panose="02020603050405020304" pitchFamily="18" charset="0"/>
                <a:cs typeface="Times New Roman" panose="02020603050405020304" pitchFamily="18" charset="0"/>
                <a:sym typeface="+mn-ea"/>
              </a:rPr>
              <a:t>个目的结点。第</a:t>
            </a:r>
            <a:r>
              <a:rPr lang="en-US" altLang="zh-CN" sz="2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层所用的通道是</a:t>
            </a:r>
            <a:r>
              <a:rPr lang="en-US" altLang="zh-CN" sz="2000" dirty="0">
                <a:latin typeface="Times New Roman" panose="02020603050405020304" pitchFamily="18" charset="0"/>
                <a:cs typeface="Times New Roman" panose="02020603050405020304" pitchFamily="18" charset="0"/>
                <a:sym typeface="+mn-ea"/>
              </a:rPr>
              <a:t>1101→</a:t>
            </a:r>
            <a:r>
              <a:rPr lang="en-US" altLang="zh-CN" sz="2000" dirty="0">
                <a:solidFill>
                  <a:srgbClr val="4844EE"/>
                </a:solidFill>
                <a:latin typeface="Times New Roman" panose="02020603050405020304" pitchFamily="18" charset="0"/>
                <a:cs typeface="Times New Roman" panose="02020603050405020304" pitchFamily="18" charset="0"/>
                <a:sym typeface="+mn-ea"/>
              </a:rPr>
              <a:t>1111</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1101→</a:t>
            </a:r>
            <a:r>
              <a:rPr lang="en-US" altLang="zh-CN" sz="2000" dirty="0">
                <a:solidFill>
                  <a:srgbClr val="FF3300"/>
                </a:solidFill>
                <a:latin typeface="Times New Roman" panose="02020603050405020304" pitchFamily="18" charset="0"/>
                <a:cs typeface="Times New Roman" panose="02020603050405020304" pitchFamily="18" charset="0"/>
                <a:sym typeface="+mn-ea"/>
              </a:rPr>
              <a:t>1100</a:t>
            </a:r>
            <a:r>
              <a:rPr lang="zh-CN" altLang="en-US" sz="2000" dirty="0">
                <a:latin typeface="Times New Roman" panose="02020603050405020304" pitchFamily="18" charset="0"/>
                <a:cs typeface="Times New Roman" panose="02020603050405020304" pitchFamily="18" charset="0"/>
                <a:sym typeface="+mn-ea"/>
              </a:rPr>
              <a:t>和</a:t>
            </a:r>
            <a:r>
              <a:rPr lang="en-US" altLang="zh-CN" sz="2000" dirty="0">
                <a:latin typeface="Times New Roman" panose="02020603050405020304" pitchFamily="18" charset="0"/>
                <a:cs typeface="Times New Roman" panose="02020603050405020304" pitchFamily="18" charset="0"/>
                <a:sym typeface="+mn-ea"/>
              </a:rPr>
              <a:t>0111→</a:t>
            </a:r>
            <a:r>
              <a:rPr lang="en-US" altLang="zh-CN" sz="2000" dirty="0">
                <a:solidFill>
                  <a:srgbClr val="4844EE"/>
                </a:solidFill>
                <a:latin typeface="Times New Roman" panose="02020603050405020304" pitchFamily="18" charset="0"/>
                <a:cs typeface="Times New Roman" panose="02020603050405020304" pitchFamily="18" charset="0"/>
                <a:sym typeface="+mn-ea"/>
              </a:rPr>
              <a:t>0110</a:t>
            </a:r>
            <a:endParaRPr lang="en-US" altLang="zh-CN" sz="2000" dirty="0">
              <a:solidFill>
                <a:srgbClr val="4844EE"/>
              </a:solidFill>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同理，第</a:t>
            </a:r>
            <a:r>
              <a:rPr lang="en-US" altLang="zh-CN" sz="2000" dirty="0">
                <a:latin typeface="Times New Roman" panose="02020603050405020304" pitchFamily="18" charset="0"/>
                <a:cs typeface="Times New Roman" panose="02020603050405020304" pitchFamily="18" charset="0"/>
                <a:sym typeface="+mn-ea"/>
              </a:rPr>
              <a:t>3</a:t>
            </a:r>
            <a:r>
              <a:rPr lang="zh-CN" altLang="en-US" sz="2000" dirty="0">
                <a:latin typeface="Times New Roman" panose="02020603050405020304" pitchFamily="18" charset="0"/>
                <a:cs typeface="Times New Roman" panose="02020603050405020304" pitchFamily="18" charset="0"/>
                <a:sym typeface="+mn-ea"/>
              </a:rPr>
              <a:t>层所用的通道是</a:t>
            </a:r>
            <a:r>
              <a:rPr lang="en-US" altLang="zh-CN" sz="2000" dirty="0">
                <a:latin typeface="Times New Roman" panose="02020603050405020304" pitchFamily="18" charset="0"/>
                <a:cs typeface="Times New Roman" panose="02020603050405020304" pitchFamily="18" charset="0"/>
                <a:sym typeface="+mn-ea"/>
              </a:rPr>
              <a:t>1111→</a:t>
            </a:r>
            <a:r>
              <a:rPr lang="en-US" altLang="zh-CN" sz="2000" dirty="0">
                <a:solidFill>
                  <a:srgbClr val="FF3300"/>
                </a:solidFill>
                <a:latin typeface="Times New Roman" panose="02020603050405020304" pitchFamily="18" charset="0"/>
                <a:cs typeface="Times New Roman" panose="02020603050405020304" pitchFamily="18" charset="0"/>
                <a:sym typeface="+mn-ea"/>
              </a:rPr>
              <a:t>1110</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1111→</a:t>
            </a:r>
            <a:r>
              <a:rPr lang="en-US" altLang="zh-CN" sz="2000" dirty="0">
                <a:solidFill>
                  <a:srgbClr val="FF3300"/>
                </a:solidFill>
                <a:latin typeface="Times New Roman" panose="02020603050405020304" pitchFamily="18" charset="0"/>
                <a:cs typeface="Times New Roman" panose="02020603050405020304" pitchFamily="18" charset="0"/>
                <a:sym typeface="+mn-ea"/>
              </a:rPr>
              <a:t>1011</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1100→</a:t>
            </a:r>
            <a:r>
              <a:rPr lang="en-US" altLang="zh-CN" sz="2000" dirty="0">
                <a:solidFill>
                  <a:srgbClr val="FF3300"/>
                </a:solidFill>
                <a:latin typeface="Times New Roman" panose="02020603050405020304" pitchFamily="18" charset="0"/>
                <a:cs typeface="Times New Roman" panose="02020603050405020304" pitchFamily="18" charset="0"/>
                <a:sym typeface="+mn-ea"/>
              </a:rPr>
              <a:t>1000</a:t>
            </a:r>
            <a:r>
              <a:rPr lang="zh-CN" altLang="en-US" sz="2000" dirty="0">
                <a:latin typeface="Times New Roman" panose="02020603050405020304" pitchFamily="18" charset="0"/>
                <a:cs typeface="Times New Roman" panose="02020603050405020304" pitchFamily="18" charset="0"/>
                <a:sym typeface="+mn-ea"/>
              </a:rPr>
              <a:t>和</a:t>
            </a:r>
            <a:r>
              <a:rPr lang="en-US" altLang="zh-CN" sz="2000" dirty="0">
                <a:latin typeface="Times New Roman" panose="02020603050405020304" pitchFamily="18" charset="0"/>
                <a:cs typeface="Times New Roman" panose="02020603050405020304" pitchFamily="18" charset="0"/>
                <a:sym typeface="+mn-ea"/>
              </a:rPr>
              <a:t>0110→</a:t>
            </a:r>
            <a:r>
              <a:rPr lang="en-US" altLang="zh-CN" sz="2000" dirty="0">
                <a:solidFill>
                  <a:srgbClr val="FF3300"/>
                </a:solidFill>
                <a:latin typeface="Times New Roman" panose="02020603050405020304" pitchFamily="18" charset="0"/>
                <a:cs typeface="Times New Roman" panose="02020603050405020304" pitchFamily="18" charset="0"/>
                <a:sym typeface="+mn-ea"/>
              </a:rPr>
              <a:t>0010</a:t>
            </a:r>
            <a:endParaRPr lang="en-US" altLang="zh-CN" sz="2000" dirty="0">
              <a:solidFill>
                <a:srgbClr val="FF3300"/>
              </a:solidFill>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第</a:t>
            </a:r>
            <a:r>
              <a:rPr lang="en-US" altLang="zh-CN" sz="2000" dirty="0">
                <a:latin typeface="Times New Roman" panose="02020603050405020304" pitchFamily="18" charset="0"/>
                <a:cs typeface="Times New Roman" panose="02020603050405020304" pitchFamily="18" charset="0"/>
                <a:sym typeface="+mn-ea"/>
              </a:rPr>
              <a:t>4</a:t>
            </a:r>
            <a:r>
              <a:rPr lang="zh-CN" altLang="en-US" sz="2000" dirty="0">
                <a:latin typeface="Times New Roman" panose="02020603050405020304" pitchFamily="18" charset="0"/>
                <a:cs typeface="Times New Roman" panose="02020603050405020304" pitchFamily="18" charset="0"/>
                <a:sym typeface="+mn-ea"/>
              </a:rPr>
              <a:t>层所用的通道是</a:t>
            </a:r>
            <a:r>
              <a:rPr lang="en-US" altLang="zh-CN" sz="2000" dirty="0">
                <a:latin typeface="Times New Roman" panose="02020603050405020304" pitchFamily="18" charset="0"/>
                <a:cs typeface="Times New Roman" panose="02020603050405020304" pitchFamily="18" charset="0"/>
                <a:sym typeface="+mn-ea"/>
              </a:rPr>
              <a:t>1110→</a:t>
            </a:r>
            <a:r>
              <a:rPr lang="en-US" altLang="zh-CN" sz="2000" dirty="0">
                <a:solidFill>
                  <a:srgbClr val="FF3300"/>
                </a:solidFill>
                <a:latin typeface="Times New Roman" panose="02020603050405020304" pitchFamily="18" charset="0"/>
                <a:cs typeface="Times New Roman" panose="02020603050405020304" pitchFamily="18" charset="0"/>
                <a:sym typeface="+mn-ea"/>
              </a:rPr>
              <a:t>1010</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7.4 互连网络实例</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5054600"/>
          </a:xfrm>
        </p:spPr>
        <p:txBody>
          <a:bodyPr vert="horz" wrap="square" lIns="91440" tIns="45720" rIns="91440" bIns="45720" anchor="t" anchorCtr="0"/>
          <a:p>
            <a:pPr eaLnBrk="1" latinLnBrk="0" hangingPunct="1">
              <a:spcBef>
                <a:spcPts val="1200"/>
              </a:spcBef>
            </a:pPr>
            <a:r>
              <a:rPr lang="zh-CN" altLang="en-US" sz="2000" dirty="0">
                <a:sym typeface="+mn-ea"/>
              </a:rPr>
              <a:t>多处理机的互连网络</a:t>
            </a:r>
            <a:endParaRPr lang="zh-CN" altLang="en-US" sz="2000" dirty="0"/>
          </a:p>
          <a:p>
            <a:pPr lvl="1" eaLnBrk="1" latinLnBrk="0" hangingPunct="1">
              <a:spcBef>
                <a:spcPts val="1200"/>
              </a:spcBef>
            </a:pPr>
            <a:r>
              <a:rPr lang="zh-CN" altLang="en-US" sz="2000" dirty="0">
                <a:sym typeface="+mn-ea"/>
              </a:rPr>
              <a:t>总线结构、环形互连、交叉开关、混洗交换互连</a:t>
            </a:r>
            <a:endParaRPr lang="zh-CN" altLang="en-US" sz="2000" dirty="0"/>
          </a:p>
          <a:p>
            <a:pPr eaLnBrk="1" latinLnBrk="0" hangingPunct="1">
              <a:spcBef>
                <a:spcPts val="1200"/>
              </a:spcBef>
            </a:pPr>
            <a:r>
              <a:rPr lang="zh-CN" altLang="en-US" sz="2000" dirty="0">
                <a:sym typeface="+mn-ea"/>
              </a:rPr>
              <a:t>处理机系统采用哪种互连结构主要取决于系统的最大通信量</a:t>
            </a:r>
            <a:endParaRPr lang="zh-CN" altLang="en-US" sz="2000" dirty="0"/>
          </a:p>
          <a:p>
            <a:pPr lvl="1" eaLnBrk="1" latinLnBrk="0" hangingPunct="1">
              <a:spcBef>
                <a:spcPts val="1200"/>
              </a:spcBef>
            </a:pPr>
            <a:r>
              <a:rPr lang="zh-CN" altLang="en-US" sz="2000" dirty="0">
                <a:sym typeface="+mn-ea"/>
              </a:rPr>
              <a:t>反过来，系统的最大通信量受到互连结构的限制</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4</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 总线互连</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5054600"/>
          </a:xfrm>
        </p:spPr>
        <p:txBody>
          <a:bodyPr vert="horz" wrap="square" lIns="91440" tIns="45720" rIns="91440" bIns="45720" anchor="t" anchorCtr="0"/>
          <a:p>
            <a:pPr eaLnBrk="1" hangingPunct="1"/>
            <a:r>
              <a:rPr lang="zh-CN" altLang="en-US" sz="2000" dirty="0">
                <a:latin typeface="Times New Roman" panose="02020603050405020304" pitchFamily="18" charset="0"/>
                <a:cs typeface="Times New Roman" panose="02020603050405020304" pitchFamily="18" charset="0"/>
                <a:sym typeface="+mn-ea"/>
              </a:rPr>
              <a:t>总线结构</a:t>
            </a:r>
            <a:endParaRPr lang="zh-CN" altLang="en-US" sz="2000" dirty="0">
              <a:latin typeface="Times New Roman" panose="02020603050405020304" pitchFamily="18" charset="0"/>
              <a:cs typeface="Times New Roman" panose="02020603050405020304" pitchFamily="18" charset="0"/>
            </a:endParaRPr>
          </a:p>
          <a:p>
            <a:pPr lvl="1" eaLnBrk="1" hangingPunct="1"/>
            <a:r>
              <a:rPr lang="en-US" altLang="zh-CN" sz="2000" dirty="0">
                <a:latin typeface="Times New Roman" panose="02020603050405020304" pitchFamily="18" charset="0"/>
                <a:cs typeface="Times New Roman" panose="02020603050405020304" pitchFamily="18" charset="0"/>
                <a:sym typeface="+mn-ea"/>
              </a:rPr>
              <a:t>CPU</a:t>
            </a:r>
            <a:r>
              <a:rPr lang="zh-CN" altLang="en-US" sz="2000" dirty="0">
                <a:latin typeface="Times New Roman" panose="02020603050405020304" pitchFamily="18" charset="0"/>
                <a:cs typeface="Times New Roman" panose="02020603050405020304" pitchFamily="18" charset="0"/>
                <a:sym typeface="+mn-ea"/>
              </a:rPr>
              <a:t>与存储器之间有系统总线</a:t>
            </a:r>
            <a:endParaRPr lang="zh-CN" altLang="en-US"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存储器与输入输出设备之间有</a:t>
            </a:r>
            <a:r>
              <a:rPr lang="en-US" altLang="zh-CN" sz="2000" dirty="0">
                <a:latin typeface="Times New Roman" panose="02020603050405020304" pitchFamily="18" charset="0"/>
                <a:cs typeface="Times New Roman" panose="02020603050405020304" pitchFamily="18" charset="0"/>
                <a:sym typeface="+mn-ea"/>
              </a:rPr>
              <a:t>I/O</a:t>
            </a:r>
            <a:r>
              <a:rPr lang="zh-CN" altLang="en-US" sz="2000" dirty="0">
                <a:latin typeface="Times New Roman" panose="02020603050405020304" pitchFamily="18" charset="0"/>
                <a:cs typeface="Times New Roman" panose="02020603050405020304" pitchFamily="18" charset="0"/>
                <a:sym typeface="+mn-ea"/>
              </a:rPr>
              <a:t>总线</a:t>
            </a:r>
            <a:endParaRPr lang="zh-CN" altLang="en-US" sz="20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cs typeface="Times New Roman" panose="02020603050405020304" pitchFamily="18" charset="0"/>
                <a:sym typeface="+mn-ea"/>
              </a:rPr>
              <a:t>总线与总线之间通过总线桥连接</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优点：结构简单，能很方便实现广播通信</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缺点：带宽低，发生总线冲突的可能性大</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总线冲突的解决办法</a:t>
            </a:r>
            <a:endParaRPr lang="zh-CN" altLang="en-US" sz="2000" dirty="0">
              <a:latin typeface="Times New Roman" panose="02020603050405020304" pitchFamily="18" charset="0"/>
              <a:cs typeface="Times New Roman" panose="02020603050405020304" pitchFamily="18" charset="0"/>
            </a:endParaRPr>
          </a:p>
          <a:p>
            <a:pPr lvl="1" eaLnBrk="1" hangingPunct="1"/>
            <a:r>
              <a:rPr lang="en-US" altLang="zh-CN" sz="2000" dirty="0">
                <a:latin typeface="Times New Roman" panose="02020603050405020304" pitchFamily="18" charset="0"/>
                <a:cs typeface="Times New Roman" panose="02020603050405020304" pitchFamily="18" charset="0"/>
                <a:sym typeface="+mn-ea"/>
              </a:rPr>
              <a:t>(1) </a:t>
            </a:r>
            <a:r>
              <a:rPr lang="zh-CN" altLang="en-US" sz="2000" dirty="0">
                <a:latin typeface="Times New Roman" panose="02020603050405020304" pitchFamily="18" charset="0"/>
                <a:cs typeface="Times New Roman" panose="02020603050405020304" pitchFamily="18" charset="0"/>
                <a:sym typeface="+mn-ea"/>
              </a:rPr>
              <a:t>设置静态优先级</a:t>
            </a:r>
            <a:endParaRPr lang="zh-CN" altLang="en-US" sz="2000" dirty="0">
              <a:latin typeface="Times New Roman" panose="02020603050405020304" pitchFamily="18" charset="0"/>
              <a:cs typeface="Times New Roman" panose="02020603050405020304" pitchFamily="18" charset="0"/>
            </a:endParaRPr>
          </a:p>
          <a:p>
            <a:pPr lvl="1" eaLnBrk="1" hangingPunct="1"/>
            <a:r>
              <a:rPr lang="en-US" altLang="zh-CN" sz="2000" dirty="0">
                <a:latin typeface="Times New Roman" panose="02020603050405020304" pitchFamily="18" charset="0"/>
                <a:cs typeface="Times New Roman" panose="02020603050405020304" pitchFamily="18" charset="0"/>
                <a:sym typeface="+mn-ea"/>
              </a:rPr>
              <a:t>(2) </a:t>
            </a:r>
            <a:r>
              <a:rPr lang="zh-CN" altLang="en-US" sz="2000" dirty="0">
                <a:latin typeface="Times New Roman" panose="02020603050405020304" pitchFamily="18" charset="0"/>
                <a:cs typeface="Times New Roman" panose="02020603050405020304" pitchFamily="18" charset="0"/>
                <a:sym typeface="+mn-ea"/>
              </a:rPr>
              <a:t>在同步方式中采用时间片</a:t>
            </a:r>
            <a:endParaRPr lang="zh-CN" altLang="en-US" sz="2000" dirty="0">
              <a:latin typeface="Times New Roman" panose="02020603050405020304" pitchFamily="18" charset="0"/>
              <a:cs typeface="Times New Roman" panose="02020603050405020304" pitchFamily="18" charset="0"/>
            </a:endParaRPr>
          </a:p>
          <a:p>
            <a:pPr lvl="1" eaLnBrk="1" hangingPunct="1"/>
            <a:r>
              <a:rPr lang="en-US" altLang="zh-CN" sz="2000" dirty="0">
                <a:latin typeface="Times New Roman" panose="02020603050405020304" pitchFamily="18" charset="0"/>
                <a:cs typeface="Times New Roman" panose="02020603050405020304" pitchFamily="18" charset="0"/>
                <a:sym typeface="+mn-ea"/>
              </a:rPr>
              <a:t>(3) </a:t>
            </a:r>
            <a:r>
              <a:rPr lang="zh-CN" altLang="en-US" sz="2000" dirty="0">
                <a:latin typeface="Times New Roman" panose="02020603050405020304" pitchFamily="18" charset="0"/>
                <a:cs typeface="Times New Roman" panose="02020603050405020304" pitchFamily="18" charset="0"/>
                <a:sym typeface="+mn-ea"/>
              </a:rPr>
              <a:t>采用动态优先级</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如</a:t>
            </a:r>
            <a:r>
              <a:rPr lang="en-US" altLang="zh-CN" sz="2000" dirty="0">
                <a:latin typeface="Times New Roman" panose="02020603050405020304" pitchFamily="18" charset="0"/>
                <a:cs typeface="Times New Roman" panose="02020603050405020304" pitchFamily="18" charset="0"/>
                <a:sym typeface="+mn-ea"/>
              </a:rPr>
              <a:t>LRU</a:t>
            </a:r>
            <a:r>
              <a:rPr lang="zh-CN" altLang="en-US" sz="2000" dirty="0">
                <a:latin typeface="Times New Roman" panose="02020603050405020304" pitchFamily="18" charset="0"/>
                <a:cs typeface="Times New Roman" panose="02020603050405020304" pitchFamily="18" charset="0"/>
                <a:sym typeface="+mn-ea"/>
              </a:rPr>
              <a:t>法等</a:t>
            </a:r>
            <a:r>
              <a:rPr lang="en-US" altLang="zh-CN" sz="2000" dirty="0">
                <a:latin typeface="Times New Roman" panose="02020603050405020304" pitchFamily="18" charset="0"/>
                <a:cs typeface="Times New Roman" panose="02020603050405020304" pitchFamily="18" charset="0"/>
                <a:sym typeface="+mn-ea"/>
              </a:rPr>
              <a:t>)</a:t>
            </a:r>
            <a:endParaRPr lang="en-US" altLang="zh-CN" sz="2000" dirty="0">
              <a:latin typeface="Times New Roman" panose="02020603050405020304" pitchFamily="18" charset="0"/>
              <a:cs typeface="Times New Roman" panose="02020603050405020304" pitchFamily="18" charset="0"/>
            </a:endParaRPr>
          </a:p>
          <a:p>
            <a:pPr lvl="1" eaLnBrk="1" hangingPunct="1"/>
            <a:r>
              <a:rPr lang="en-US" altLang="zh-CN" sz="2000" dirty="0">
                <a:latin typeface="Times New Roman" panose="02020603050405020304" pitchFamily="18" charset="0"/>
                <a:cs typeface="Times New Roman" panose="02020603050405020304" pitchFamily="18" charset="0"/>
                <a:sym typeface="+mn-ea"/>
              </a:rPr>
              <a:t>(4) </a:t>
            </a:r>
            <a:r>
              <a:rPr lang="zh-CN" altLang="en-US" sz="2000" dirty="0">
                <a:latin typeface="Times New Roman" panose="02020603050405020304" pitchFamily="18" charset="0"/>
                <a:cs typeface="Times New Roman" panose="02020603050405020304" pitchFamily="18" charset="0"/>
                <a:sym typeface="+mn-ea"/>
              </a:rPr>
              <a:t>先来先服务</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总线结构的多处理机</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custDataLst>
              <p:tags r:id="rId1"/>
            </p:custDataLst>
          </p:nvPr>
        </p:nvPicPr>
        <p:blipFill>
          <a:blip r:embed="rId2"/>
          <a:stretch>
            <a:fillRect/>
          </a:stretch>
        </p:blipFill>
        <p:spPr>
          <a:xfrm>
            <a:off x="1188085" y="1268730"/>
            <a:ext cx="6720840" cy="458089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总线结构的多处理机</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5054600"/>
          </a:xfrm>
        </p:spPr>
        <p:txBody>
          <a:bodyPr vert="horz" wrap="square" lIns="91440" tIns="45720" rIns="91440" bIns="45720" anchor="t" anchorCtr="0"/>
          <a:p>
            <a:pPr marL="114300" indent="-114300" defTabSz="914400" eaLnBrk="1" hangingPunct="1">
              <a:tabLst>
                <a:tab pos="2289175" algn="l"/>
              </a:tabLst>
            </a:pPr>
            <a:r>
              <a:rPr lang="zh-CN" altLang="en-US" sz="2000" dirty="0">
                <a:solidFill>
                  <a:schemeClr val="tx2"/>
                </a:solidFill>
                <a:latin typeface="Times New Roman" panose="02020603050405020304" pitchFamily="18" charset="0"/>
                <a:cs typeface="Times New Roman" panose="02020603050405020304" pitchFamily="18" charset="0"/>
                <a:sym typeface="+mn-ea"/>
              </a:rPr>
              <a:t>提高总线的通信带宽</a:t>
            </a:r>
            <a:r>
              <a:rPr lang="zh-CN" altLang="en-US" sz="2000" dirty="0">
                <a:latin typeface="Times New Roman" panose="02020603050405020304" pitchFamily="18" charset="0"/>
                <a:cs typeface="Times New Roman" panose="02020603050405020304" pitchFamily="18" charset="0"/>
                <a:sym typeface="+mn-ea"/>
              </a:rPr>
              <a:t>的方法</a:t>
            </a:r>
            <a:endParaRPr lang="zh-CN" altLang="en-US" sz="2000" dirty="0">
              <a:latin typeface="Times New Roman" panose="02020603050405020304" pitchFamily="18" charset="0"/>
              <a:cs typeface="Times New Roman" panose="02020603050405020304" pitchFamily="18" charset="0"/>
            </a:endParaRPr>
          </a:p>
          <a:p>
            <a:pPr marL="342900" lvl="1" indent="-114300" defTabSz="914400" eaLnBrk="1" hangingPunct="1">
              <a:tabLst>
                <a:tab pos="2289175" algn="l"/>
              </a:tabLst>
            </a:pPr>
            <a:r>
              <a:rPr lang="en-US" altLang="zh-CN" sz="2000" dirty="0">
                <a:latin typeface="Times New Roman" panose="02020603050405020304" pitchFamily="18" charset="0"/>
                <a:cs typeface="Times New Roman" panose="02020603050405020304" pitchFamily="18" charset="0"/>
                <a:sym typeface="+mn-ea"/>
              </a:rPr>
              <a:t>(1) </a:t>
            </a:r>
            <a:r>
              <a:rPr lang="zh-CN" altLang="en-US" sz="2000" dirty="0">
                <a:latin typeface="Times New Roman" panose="02020603050405020304" pitchFamily="18" charset="0"/>
                <a:cs typeface="Times New Roman" panose="02020603050405020304" pitchFamily="18" charset="0"/>
                <a:sym typeface="+mn-ea"/>
              </a:rPr>
              <a:t>采用多总线结构</a:t>
            </a:r>
            <a:endParaRPr lang="zh-CN" altLang="en-US" sz="2000" dirty="0">
              <a:latin typeface="Times New Roman" panose="02020603050405020304" pitchFamily="18" charset="0"/>
              <a:cs typeface="Times New Roman" panose="02020603050405020304" pitchFamily="18" charset="0"/>
            </a:endParaRPr>
          </a:p>
          <a:p>
            <a:pPr marL="342900" lvl="1" indent="-114300" defTabSz="914400" eaLnBrk="1" hangingPunct="1">
              <a:tabLst>
                <a:tab pos="2289175" algn="l"/>
              </a:tabLst>
            </a:pPr>
            <a:r>
              <a:rPr lang="en-US" altLang="zh-CN" sz="2000" dirty="0">
                <a:latin typeface="Times New Roman" panose="02020603050405020304" pitchFamily="18" charset="0"/>
                <a:cs typeface="Times New Roman" panose="02020603050405020304" pitchFamily="18" charset="0"/>
                <a:sym typeface="+mn-ea"/>
              </a:rPr>
              <a:t>(2) </a:t>
            </a:r>
            <a:r>
              <a:rPr lang="zh-CN" altLang="en-US" sz="2000" dirty="0">
                <a:latin typeface="Times New Roman" panose="02020603050405020304" pitchFamily="18" charset="0"/>
                <a:cs typeface="Times New Roman" panose="02020603050405020304" pitchFamily="18" charset="0"/>
                <a:sym typeface="+mn-ea"/>
              </a:rPr>
              <a:t>层次总线结构</a:t>
            </a:r>
            <a:endParaRPr lang="zh-CN" altLang="en-US" sz="2000" dirty="0">
              <a:latin typeface="Times New Roman" panose="02020603050405020304" pitchFamily="18" charset="0"/>
              <a:cs typeface="Times New Roman" panose="02020603050405020304" pitchFamily="18" charset="0"/>
            </a:endParaRPr>
          </a:p>
          <a:p>
            <a:pPr marL="342900" lvl="1" indent="-114300" defTabSz="914400" eaLnBrk="1" hangingPunct="1">
              <a:tabLst>
                <a:tab pos="2289175" algn="l"/>
              </a:tabLst>
            </a:pPr>
            <a:r>
              <a:rPr lang="en-US" altLang="zh-CN" sz="2000" dirty="0">
                <a:latin typeface="Times New Roman" panose="02020603050405020304" pitchFamily="18" charset="0"/>
                <a:cs typeface="Times New Roman" panose="02020603050405020304" pitchFamily="18" charset="0"/>
                <a:sym typeface="+mn-ea"/>
              </a:rPr>
              <a:t>(3) </a:t>
            </a:r>
            <a:r>
              <a:rPr lang="zh-CN" altLang="en-US" sz="2000" dirty="0">
                <a:latin typeface="Times New Roman" panose="02020603050405020304" pitchFamily="18" charset="0"/>
                <a:cs typeface="Times New Roman" panose="02020603050405020304" pitchFamily="18" charset="0"/>
                <a:sym typeface="+mn-ea"/>
              </a:rPr>
              <a:t>多维总线结构</a:t>
            </a:r>
            <a:endParaRPr lang="zh-CN" altLang="en-US" sz="2000" dirty="0">
              <a:latin typeface="Times New Roman" panose="02020603050405020304" pitchFamily="18" charset="0"/>
              <a:cs typeface="Times New Roman" panose="02020603050405020304" pitchFamily="18" charset="0"/>
            </a:endParaRPr>
          </a:p>
          <a:p>
            <a:pPr marL="114300" indent="-114300" defTabSz="914400" eaLnBrk="1" latinLnBrk="0" hangingPunct="1">
              <a:spcBef>
                <a:spcPts val="1200"/>
              </a:spcBef>
              <a:tabLst>
                <a:tab pos="2289175" algn="l"/>
              </a:tabLst>
            </a:pPr>
            <a:r>
              <a:rPr lang="zh-CN" altLang="en-US" sz="2000" dirty="0">
                <a:solidFill>
                  <a:schemeClr val="tx2"/>
                </a:solidFill>
                <a:latin typeface="Times New Roman" panose="02020603050405020304" pitchFamily="18" charset="0"/>
                <a:cs typeface="Times New Roman" panose="02020603050405020304" pitchFamily="18" charset="0"/>
                <a:sym typeface="+mn-ea"/>
              </a:rPr>
              <a:t>多总线</a:t>
            </a:r>
            <a:endParaRPr lang="zh-CN" altLang="en-US" sz="2000" dirty="0">
              <a:solidFill>
                <a:schemeClr val="tx2"/>
              </a:solidFill>
              <a:latin typeface="Times New Roman" panose="02020603050405020304" pitchFamily="18" charset="0"/>
              <a:cs typeface="Times New Roman" panose="02020603050405020304" pitchFamily="18" charset="0"/>
            </a:endParaRPr>
          </a:p>
          <a:p>
            <a:pPr marL="342900" lvl="1" indent="-114300" defTabSz="914400" eaLnBrk="1" hangingPunct="1">
              <a:tabLst>
                <a:tab pos="2289175" algn="l"/>
              </a:tabLst>
            </a:pPr>
            <a:r>
              <a:rPr lang="zh-CN" altLang="en-US" sz="2000" dirty="0">
                <a:latin typeface="Times New Roman" panose="02020603050405020304" pitchFamily="18" charset="0"/>
                <a:cs typeface="Times New Roman" panose="02020603050405020304" pitchFamily="18" charset="0"/>
                <a:sym typeface="+mn-ea"/>
              </a:rPr>
              <a:t>西门子公司的</a:t>
            </a:r>
            <a:r>
              <a:rPr lang="en-US" altLang="zh-CN" sz="2000" dirty="0">
                <a:latin typeface="Times New Roman" panose="02020603050405020304" pitchFamily="18" charset="0"/>
                <a:cs typeface="Times New Roman" panose="02020603050405020304" pitchFamily="18" charset="0"/>
                <a:sym typeface="+mn-ea"/>
              </a:rPr>
              <a:t>SMS</a:t>
            </a:r>
            <a:r>
              <a:rPr lang="zh-CN" altLang="en-US" sz="2000" dirty="0">
                <a:latin typeface="Times New Roman" panose="02020603050405020304" pitchFamily="18" charset="0"/>
                <a:cs typeface="Times New Roman" panose="02020603050405020304" pitchFamily="18" charset="0"/>
                <a:sym typeface="+mn-ea"/>
              </a:rPr>
              <a:t>系统</a:t>
            </a:r>
            <a:r>
              <a:rPr lang="en-US" altLang="zh-CN" sz="2000" dirty="0">
                <a:latin typeface="Times New Roman" panose="02020603050405020304" pitchFamily="18" charset="0"/>
                <a:cs typeface="Times New Roman" panose="02020603050405020304" pitchFamily="18" charset="0"/>
                <a:sym typeface="+mn-ea"/>
              </a:rPr>
              <a:t>(Structured Multiprocessor System)</a:t>
            </a:r>
            <a:endParaRPr lang="en-US" altLang="zh-CN" sz="2000" dirty="0">
              <a:latin typeface="Times New Roman" panose="02020603050405020304" pitchFamily="18" charset="0"/>
              <a:cs typeface="Times New Roman" panose="02020603050405020304" pitchFamily="18" charset="0"/>
            </a:endParaRPr>
          </a:p>
          <a:p>
            <a:pPr marL="571500" lvl="2" indent="-114300" defTabSz="914400" eaLnBrk="1" hangingPunct="1">
              <a:tabLst>
                <a:tab pos="2289175" algn="l"/>
              </a:tabLst>
            </a:pPr>
            <a:r>
              <a:rPr lang="en-US" altLang="zh-CN" sz="2000" dirty="0">
                <a:latin typeface="Times New Roman" panose="02020603050405020304" pitchFamily="18" charset="0"/>
                <a:cs typeface="Times New Roman" panose="02020603050405020304" pitchFamily="18" charset="0"/>
                <a:sym typeface="+mn-ea"/>
              </a:rPr>
              <a:t>8</a:t>
            </a:r>
            <a:r>
              <a:rPr lang="zh-CN" altLang="en-US" sz="2000" dirty="0">
                <a:latin typeface="Times New Roman" panose="02020603050405020304" pitchFamily="18" charset="0"/>
                <a:cs typeface="Times New Roman" panose="02020603050405020304" pitchFamily="18" charset="0"/>
                <a:sym typeface="+mn-ea"/>
              </a:rPr>
              <a:t>条总线连接</a:t>
            </a:r>
            <a:r>
              <a:rPr lang="en-US" altLang="zh-CN" sz="2000" dirty="0">
                <a:latin typeface="Times New Roman" panose="02020603050405020304" pitchFamily="18" charset="0"/>
                <a:cs typeface="Times New Roman" panose="02020603050405020304" pitchFamily="18" charset="0"/>
                <a:sym typeface="+mn-ea"/>
              </a:rPr>
              <a:t>128</a:t>
            </a:r>
            <a:r>
              <a:rPr lang="zh-CN" altLang="en-US" sz="2000" dirty="0">
                <a:latin typeface="Times New Roman" panose="02020603050405020304" pitchFamily="18" charset="0"/>
                <a:cs typeface="Times New Roman" panose="02020603050405020304" pitchFamily="18" charset="0"/>
                <a:sym typeface="+mn-ea"/>
              </a:rPr>
              <a:t>个处理机</a:t>
            </a:r>
            <a:endParaRPr lang="zh-CN" altLang="en-US" sz="2000" dirty="0">
              <a:latin typeface="Times New Roman" panose="02020603050405020304" pitchFamily="18" charset="0"/>
              <a:cs typeface="Times New Roman" panose="02020603050405020304" pitchFamily="18" charset="0"/>
            </a:endParaRPr>
          </a:p>
          <a:p>
            <a:pPr marL="114300" indent="-114300" defTabSz="914400" eaLnBrk="1" latinLnBrk="0" hangingPunct="1">
              <a:spcBef>
                <a:spcPts val="1200"/>
              </a:spcBef>
              <a:tabLst>
                <a:tab pos="2289175" algn="l"/>
              </a:tabLst>
            </a:pPr>
            <a:r>
              <a:rPr lang="zh-CN" altLang="en-US" sz="2000" dirty="0">
                <a:solidFill>
                  <a:schemeClr val="tx2"/>
                </a:solidFill>
                <a:latin typeface="Times New Roman" panose="02020603050405020304" pitchFamily="18" charset="0"/>
                <a:cs typeface="Times New Roman" panose="02020603050405020304" pitchFamily="18" charset="0"/>
                <a:sym typeface="+mn-ea"/>
              </a:rPr>
              <a:t>层次总线</a:t>
            </a:r>
            <a:endParaRPr lang="zh-CN" altLang="en-US" sz="2000" dirty="0">
              <a:solidFill>
                <a:schemeClr val="tx2"/>
              </a:solidFill>
              <a:latin typeface="Times New Roman" panose="02020603050405020304" pitchFamily="18" charset="0"/>
              <a:cs typeface="Times New Roman" panose="02020603050405020304" pitchFamily="18" charset="0"/>
            </a:endParaRPr>
          </a:p>
          <a:p>
            <a:pPr marL="342900" lvl="1" indent="-114300" defTabSz="914400" eaLnBrk="1" hangingPunct="1">
              <a:tabLst>
                <a:tab pos="2289175" algn="l"/>
              </a:tabLst>
            </a:pPr>
            <a:r>
              <a:rPr lang="zh-CN" altLang="en-US" sz="2000" dirty="0">
                <a:latin typeface="Times New Roman" panose="02020603050405020304" pitchFamily="18" charset="0"/>
                <a:cs typeface="Times New Roman" panose="02020603050405020304" pitchFamily="18" charset="0"/>
                <a:sym typeface="+mn-ea"/>
              </a:rPr>
              <a:t>卡内基梅隆大学的</a:t>
            </a:r>
            <a:r>
              <a:rPr lang="en-US" altLang="zh-CN" sz="2000" dirty="0">
                <a:latin typeface="Times New Roman" panose="02020603050405020304" pitchFamily="18" charset="0"/>
                <a:cs typeface="Times New Roman" panose="02020603050405020304" pitchFamily="18" charset="0"/>
                <a:sym typeface="+mn-ea"/>
              </a:rPr>
              <a:t>Cm*</a:t>
            </a:r>
            <a:r>
              <a:rPr lang="zh-CN" altLang="en-US" sz="2000" dirty="0">
                <a:latin typeface="Times New Roman" panose="02020603050405020304" pitchFamily="18" charset="0"/>
                <a:cs typeface="Times New Roman" panose="02020603050405020304" pitchFamily="18" charset="0"/>
                <a:sym typeface="+mn-ea"/>
              </a:rPr>
              <a:t>多处理机系统采用层次总线结构</a:t>
            </a:r>
            <a:endParaRPr lang="zh-CN" altLang="en-US" sz="2000" dirty="0">
              <a:latin typeface="Times New Roman" panose="02020603050405020304" pitchFamily="18" charset="0"/>
              <a:cs typeface="Times New Roman" panose="02020603050405020304" pitchFamily="18" charset="0"/>
            </a:endParaRPr>
          </a:p>
          <a:p>
            <a:pPr marL="571500" lvl="2" indent="-114300" defTabSz="914400" eaLnBrk="1" hangingPunct="1">
              <a:tabLst>
                <a:tab pos="2289175" algn="l"/>
              </a:tabLst>
            </a:pPr>
            <a:r>
              <a:rPr lang="zh-CN" altLang="en-US" sz="2000" dirty="0">
                <a:solidFill>
                  <a:schemeClr val="tx2"/>
                </a:solidFill>
                <a:latin typeface="Times New Roman" panose="02020603050405020304" pitchFamily="18" charset="0"/>
                <a:cs typeface="Times New Roman" panose="02020603050405020304" pitchFamily="18" charset="0"/>
                <a:sym typeface="+mn-ea"/>
              </a:rPr>
              <a:t>三级总线：群总线、</a:t>
            </a:r>
            <a:r>
              <a:rPr lang="en-US" altLang="zh-CN" sz="2000" dirty="0">
                <a:solidFill>
                  <a:schemeClr val="tx2"/>
                </a:solidFill>
                <a:latin typeface="Times New Roman" panose="02020603050405020304" pitchFamily="18" charset="0"/>
                <a:cs typeface="Times New Roman" panose="02020603050405020304" pitchFamily="18" charset="0"/>
                <a:sym typeface="+mn-ea"/>
              </a:rPr>
              <a:t>Map</a:t>
            </a:r>
            <a:r>
              <a:rPr lang="zh-CN" altLang="en-US" sz="2000" dirty="0">
                <a:solidFill>
                  <a:schemeClr val="tx2"/>
                </a:solidFill>
                <a:latin typeface="Times New Roman" panose="02020603050405020304" pitchFamily="18" charset="0"/>
                <a:cs typeface="Times New Roman" panose="02020603050405020304" pitchFamily="18" charset="0"/>
                <a:sym typeface="+mn-ea"/>
              </a:rPr>
              <a:t>总线、处理机总线</a:t>
            </a:r>
            <a:endParaRPr lang="zh-CN" altLang="en-US" sz="2000" dirty="0">
              <a:solidFill>
                <a:schemeClr val="tx2"/>
              </a:solidFill>
              <a:latin typeface="Times New Roman" panose="02020603050405020304" pitchFamily="18" charset="0"/>
              <a:cs typeface="Times New Roman" panose="02020603050405020304" pitchFamily="18" charset="0"/>
            </a:endParaRPr>
          </a:p>
          <a:p>
            <a:pPr marL="571500" lvl="2" indent="-114300" defTabSz="914400" eaLnBrk="1" hangingPunct="1">
              <a:tabLst>
                <a:tab pos="2289175" algn="l"/>
              </a:tabLst>
            </a:pPr>
            <a:r>
              <a:rPr lang="zh-CN" altLang="en-US" sz="2000" dirty="0">
                <a:latin typeface="Times New Roman" panose="02020603050405020304" pitchFamily="18" charset="0"/>
                <a:cs typeface="Times New Roman" panose="02020603050405020304" pitchFamily="18" charset="0"/>
                <a:sym typeface="+mn-ea"/>
              </a:rPr>
              <a:t>每群</a:t>
            </a:r>
            <a:r>
              <a:rPr lang="en-US" altLang="zh-CN" sz="2000" dirty="0">
                <a:latin typeface="Times New Roman" panose="02020603050405020304" pitchFamily="18" charset="0"/>
                <a:cs typeface="Times New Roman" panose="02020603050405020304" pitchFamily="18" charset="0"/>
                <a:sym typeface="+mn-ea"/>
              </a:rPr>
              <a:t>14</a:t>
            </a:r>
            <a:r>
              <a:rPr lang="zh-CN" altLang="en-US" sz="2000" dirty="0">
                <a:latin typeface="Times New Roman" panose="02020603050405020304" pitchFamily="18" charset="0"/>
                <a:cs typeface="Times New Roman" panose="02020603050405020304" pitchFamily="18" charset="0"/>
                <a:sym typeface="+mn-ea"/>
              </a:rPr>
              <a:t>台处理机</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SMS多总线结构</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custDataLst>
              <p:tags r:id="rId1"/>
            </p:custDataLst>
          </p:nvPr>
        </p:nvPicPr>
        <p:blipFill>
          <a:blip r:embed="rId2"/>
          <a:stretch>
            <a:fillRect/>
          </a:stretch>
        </p:blipFill>
        <p:spPr>
          <a:xfrm>
            <a:off x="755650" y="1484630"/>
            <a:ext cx="7480300" cy="54229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群间总线</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custDataLst>
              <p:tags r:id="rId1"/>
            </p:custDataLst>
          </p:nvPr>
        </p:nvPicPr>
        <p:blipFill>
          <a:blip r:embed="rId2"/>
          <a:stretch>
            <a:fillRect/>
          </a:stretch>
        </p:blipFill>
        <p:spPr>
          <a:xfrm>
            <a:off x="539115" y="1052830"/>
            <a:ext cx="8096250" cy="518160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7.4.3 </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间接二进制</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N</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立方体网络</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5351145"/>
          </a:xfrm>
        </p:spPr>
        <p:txBody>
          <a:bodyPr vert="horz" wrap="square" lIns="91440" tIns="45720" rIns="91440" bIns="45720" anchor="t" anchorCtr="0"/>
          <a:p>
            <a:pPr marL="122555" indent="-122555" eaLnBrk="1" latinLnBrk="0" hangingPunct="1">
              <a:spcBef>
                <a:spcPts val="1200"/>
              </a:spcBef>
            </a:pPr>
            <a:r>
              <a:rPr lang="zh-CN" altLang="en-US" sz="2000">
                <a:latin typeface="Times New Roman" panose="02020603050405020304" pitchFamily="18" charset="0"/>
                <a:cs typeface="Times New Roman" panose="02020603050405020304" pitchFamily="18" charset="0"/>
              </a:rPr>
              <a:t>若间接二进制</a:t>
            </a:r>
            <a:r>
              <a:rPr lang="en-US" altLang="zh-CN" sz="2000">
                <a:latin typeface="Times New Roman" panose="02020603050405020304" pitchFamily="18" charset="0"/>
                <a:cs typeface="Times New Roman" panose="02020603050405020304" pitchFamily="18" charset="0"/>
              </a:rPr>
              <a:t>n</a:t>
            </a:r>
            <a:r>
              <a:rPr lang="zh-CN" altLang="en-US" sz="2000">
                <a:latin typeface="Times New Roman" panose="02020603050405020304" pitchFamily="18" charset="0"/>
                <a:cs typeface="Times New Roman" panose="02020603050405020304" pitchFamily="18" charset="0"/>
              </a:rPr>
              <a:t>方体网络的输入端或输出端数为</a:t>
            </a:r>
            <a:r>
              <a:rPr lang="en-US" altLang="zh-CN" sz="2000">
                <a:latin typeface="Times New Roman" panose="02020603050405020304" pitchFamily="18" charset="0"/>
                <a:cs typeface="Times New Roman" panose="02020603050405020304" pitchFamily="18" charset="0"/>
              </a:rPr>
              <a:t>N</a:t>
            </a:r>
            <a:r>
              <a:rPr lang="zh-CN" altLang="en-US" sz="2000">
                <a:latin typeface="Times New Roman" panose="02020603050405020304" pitchFamily="18" charset="0"/>
                <a:cs typeface="Times New Roman" panose="02020603050405020304" pitchFamily="18" charset="0"/>
              </a:rPr>
              <a:t>，则网络级数为</a:t>
            </a:r>
            <a:r>
              <a:rPr lang="en-US" altLang="zh-CN" sz="2000">
                <a:latin typeface="Times New Roman" panose="02020603050405020304" pitchFamily="18" charset="0"/>
                <a:cs typeface="Times New Roman" panose="02020603050405020304" pitchFamily="18" charset="0"/>
              </a:rPr>
              <a:t> m=log</a:t>
            </a:r>
            <a:r>
              <a:rPr lang="en-US" altLang="zh-CN" sz="2000" baseline="-25000">
                <a:latin typeface="Times New Roman" panose="02020603050405020304" pitchFamily="18" charset="0"/>
                <a:cs typeface="Times New Roman" panose="02020603050405020304" pitchFamily="18" charset="0"/>
              </a:rPr>
              <a:t>2</a:t>
            </a:r>
            <a:r>
              <a:rPr lang="en-US" altLang="zh-CN" sz="2000">
                <a:latin typeface="Times New Roman" panose="02020603050405020304" pitchFamily="18" charset="0"/>
                <a:cs typeface="Times New Roman" panose="02020603050405020304" pitchFamily="18" charset="0"/>
              </a:rPr>
              <a:t>N,</a:t>
            </a:r>
            <a:r>
              <a:rPr lang="zh-CN" altLang="en-US" sz="2000">
                <a:latin typeface="Times New Roman" panose="02020603050405020304" pitchFamily="18" charset="0"/>
                <a:cs typeface="Times New Roman" panose="02020603050405020304" pitchFamily="18" charset="0"/>
              </a:rPr>
              <a:t>每级有</a:t>
            </a:r>
            <a:r>
              <a:rPr lang="en-US" altLang="zh-CN" sz="2000">
                <a:latin typeface="Times New Roman" panose="02020603050405020304" pitchFamily="18" charset="0"/>
                <a:cs typeface="Times New Roman" panose="02020603050405020304" pitchFamily="18" charset="0"/>
              </a:rPr>
              <a:t>N/2</a:t>
            </a:r>
            <a:r>
              <a:rPr lang="zh-CN" altLang="en-US" sz="2000">
                <a:latin typeface="Times New Roman" panose="02020603050405020304" pitchFamily="18" charset="0"/>
                <a:cs typeface="Times New Roman" panose="02020603050405020304" pitchFamily="18" charset="0"/>
              </a:rPr>
              <a:t>个交叉开关，故</a:t>
            </a:r>
            <a:r>
              <a:rPr lang="en-US" altLang="zh-CN" sz="2000">
                <a:latin typeface="Times New Roman" panose="02020603050405020304" pitchFamily="18" charset="0"/>
                <a:cs typeface="Times New Roman" panose="02020603050405020304" pitchFamily="18" charset="0"/>
              </a:rPr>
              <a:t>n</a:t>
            </a:r>
            <a:r>
              <a:rPr lang="zh-CN" altLang="en-US" sz="2000">
                <a:latin typeface="Times New Roman" panose="02020603050405020304" pitchFamily="18" charset="0"/>
                <a:cs typeface="Times New Roman" panose="02020603050405020304" pitchFamily="18" charset="0"/>
              </a:rPr>
              <a:t>方体网络的开关数为</a:t>
            </a:r>
            <a:r>
              <a:rPr lang="en-US" altLang="zh-CN" sz="2000">
                <a:latin typeface="Times New Roman" panose="02020603050405020304" pitchFamily="18" charset="0"/>
                <a:cs typeface="Times New Roman" panose="02020603050405020304" pitchFamily="18" charset="0"/>
              </a:rPr>
              <a:t>(N/2)10g</a:t>
            </a:r>
            <a:r>
              <a:rPr lang="en-US" altLang="zh-CN" sz="2000" baseline="-25000">
                <a:latin typeface="Times New Roman" panose="02020603050405020304" pitchFamily="18" charset="0"/>
                <a:cs typeface="Times New Roman" panose="02020603050405020304" pitchFamily="18" charset="0"/>
                <a:sym typeface="+mn-ea"/>
              </a:rPr>
              <a:t>2</a:t>
            </a:r>
            <a:r>
              <a:rPr lang="en-US" altLang="zh-CN" sz="2000">
                <a:latin typeface="Times New Roman" panose="02020603050405020304" pitchFamily="18" charset="0"/>
                <a:cs typeface="Times New Roman" panose="02020603050405020304" pitchFamily="18" charset="0"/>
              </a:rPr>
              <a:t>N</a:t>
            </a:r>
            <a:r>
              <a:rPr lang="zh-CN" altLang="en-US" sz="2000">
                <a:latin typeface="Times New Roman" panose="02020603050405020304" pitchFamily="18" charset="0"/>
                <a:cs typeface="Times New Roman" panose="02020603050405020304" pitchFamily="18" charset="0"/>
              </a:rPr>
              <a:t>。间接二进制</a:t>
            </a:r>
            <a:r>
              <a:rPr lang="en-US" altLang="zh-CN" sz="2000">
                <a:latin typeface="Times New Roman" panose="02020603050405020304" pitchFamily="18" charset="0"/>
                <a:cs typeface="Times New Roman" panose="02020603050405020304" pitchFamily="18" charset="0"/>
              </a:rPr>
              <a:t>n</a:t>
            </a:r>
            <a:r>
              <a:rPr lang="zh-CN" altLang="en-US" sz="2000">
                <a:latin typeface="Times New Roman" panose="02020603050405020304" pitchFamily="18" charset="0"/>
                <a:cs typeface="Times New Roman" panose="02020603050405020304" pitchFamily="18" charset="0"/>
              </a:rPr>
              <a:t>方体网络的结构特点是</a:t>
            </a:r>
            <a:r>
              <a:rPr lang="en-US" altLang="zh-CN" sz="2000">
                <a:latin typeface="Times New Roman" panose="02020603050405020304" pitchFamily="18" charset="0"/>
                <a:cs typeface="Times New Roman" panose="02020603050405020304" pitchFamily="18" charset="0"/>
              </a:rPr>
              <a:t>:</a:t>
            </a:r>
            <a:endParaRPr lang="en-US" altLang="zh-CN" sz="2000">
              <a:latin typeface="Times New Roman" panose="02020603050405020304" pitchFamily="18" charset="0"/>
              <a:cs typeface="Times New Roman" panose="02020603050405020304" pitchFamily="18" charset="0"/>
            </a:endParaRPr>
          </a:p>
          <a:p>
            <a:pPr marL="351155" lvl="1" indent="-114300" algn="l" eaLnBrk="1" latinLnBrk="0" hangingPunct="1">
              <a:spcBef>
                <a:spcPts val="1200"/>
              </a:spcBef>
              <a:buSzTx/>
            </a:pPr>
            <a:r>
              <a:rPr lang="zh-CN" altLang="en-US" sz="1800" dirty="0">
                <a:latin typeface="Times New Roman" panose="02020603050405020304" pitchFamily="18" charset="0"/>
                <a:cs typeface="Times New Roman" panose="02020603050405020304" pitchFamily="18" charset="0"/>
              </a:rPr>
              <a:t>(1)采用2</a:t>
            </a:r>
            <a:r>
              <a:rPr lang="en-US" altLang="zh-CN" sz="1800" dirty="0">
                <a:latin typeface="Times New Roman" panose="02020603050405020304" pitchFamily="18" charset="0"/>
                <a:cs typeface="Times New Roman" panose="02020603050405020304" pitchFamily="18" charset="0"/>
                <a:sym typeface="+mn-ea"/>
              </a:rPr>
              <a:t>×</a:t>
            </a:r>
            <a:r>
              <a:rPr lang="zh-CN" altLang="en-US" sz="1800" dirty="0">
                <a:latin typeface="Times New Roman" panose="02020603050405020304" pitchFamily="18" charset="0"/>
                <a:cs typeface="Times New Roman" panose="02020603050405020304" pitchFamily="18" charset="0"/>
              </a:rPr>
              <a:t>2的2功能交叉开关，两个功能为直送和交叉。</a:t>
            </a:r>
            <a:endParaRPr lang="zh-CN" altLang="en-US" sz="1800" dirty="0">
              <a:latin typeface="Times New Roman" panose="02020603050405020304" pitchFamily="18" charset="0"/>
              <a:cs typeface="Times New Roman" panose="02020603050405020304" pitchFamily="18" charset="0"/>
            </a:endParaRPr>
          </a:p>
          <a:p>
            <a:pPr marL="351155" lvl="1" indent="-114300" algn="l" eaLnBrk="1" latinLnBrk="0" hangingPunct="1">
              <a:spcBef>
                <a:spcPts val="1200"/>
              </a:spcBef>
              <a:buSzTx/>
            </a:pPr>
            <a:r>
              <a:rPr lang="zh-CN" altLang="en-US" sz="1800" dirty="0">
                <a:latin typeface="Times New Roman" panose="02020603050405020304" pitchFamily="18" charset="0"/>
                <a:cs typeface="Times New Roman" panose="02020603050405020304" pitchFamily="18" charset="0"/>
              </a:rPr>
              <a:t>(2)各级交叉开关级的级号</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从网络输入端到输出端，依次为K</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、K</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、…、K</a:t>
            </a:r>
            <a:r>
              <a:rPr lang="en-US" altLang="zh-CN" sz="1800" baseline="-25000" dirty="0">
                <a:latin typeface="Times New Roman" panose="02020603050405020304" pitchFamily="18" charset="0"/>
                <a:cs typeface="Times New Roman" panose="02020603050405020304" pitchFamily="18" charset="0"/>
              </a:rPr>
              <a:t>n-1</a:t>
            </a:r>
            <a:r>
              <a:rPr lang="zh-CN" altLang="en-US"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a:p>
            <a:pPr marL="351155" lvl="1" indent="-114300" algn="l" eaLnBrk="1" latinLnBrk="0" hangingPunct="1">
              <a:spcBef>
                <a:spcPts val="1200"/>
              </a:spcBef>
              <a:buSzTx/>
            </a:pPr>
            <a:r>
              <a:rPr lang="zh-CN" altLang="en-US" sz="1800" dirty="0">
                <a:latin typeface="Times New Roman" panose="02020603050405020304" pitchFamily="18" charset="0"/>
                <a:cs typeface="Times New Roman" panose="02020603050405020304" pitchFamily="18" charset="0"/>
              </a:rPr>
              <a:t>(3)级间连接模式从网络输入端到输出端依次表示为 C</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、C</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、…、C</a:t>
            </a:r>
            <a:r>
              <a:rPr lang="en-US" altLang="zh-CN" sz="1800" baseline="-25000" dirty="0">
                <a:latin typeface="Times New Roman" panose="02020603050405020304" pitchFamily="18" charset="0"/>
                <a:cs typeface="Times New Roman" panose="02020603050405020304" pitchFamily="18" charset="0"/>
              </a:rPr>
              <a:t>2</a:t>
            </a:r>
            <a:r>
              <a:rPr lang="zh-CN" altLang="en-US" sz="1800" dirty="0">
                <a:latin typeface="Times New Roman" panose="02020603050405020304" pitchFamily="18" charset="0"/>
                <a:cs typeface="Times New Roman" panose="02020603050405020304" pitchFamily="18" charset="0"/>
              </a:rPr>
              <a:t>，其中，C</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是恒等置换，C</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~C</a:t>
            </a:r>
            <a:r>
              <a:rPr lang="en-US" altLang="zh-CN" sz="1800" baseline="-25000" dirty="0">
                <a:latin typeface="Times New Roman" panose="02020603050405020304" pitchFamily="18" charset="0"/>
                <a:cs typeface="Times New Roman" panose="02020603050405020304" pitchFamily="18" charset="0"/>
              </a:rPr>
              <a:t>n-1</a:t>
            </a:r>
            <a:r>
              <a:rPr lang="zh-CN" altLang="en-US" sz="1800" dirty="0">
                <a:latin typeface="Times New Roman" panose="02020603050405020304" pitchFamily="18" charset="0"/>
                <a:cs typeface="Times New Roman" panose="02020603050405020304" pitchFamily="18" charset="0"/>
              </a:rPr>
              <a:t>都是子蝶式置换，Cn是逆洗牌置换。</a:t>
            </a:r>
            <a:endParaRPr lang="zh-CN" altLang="en-US" sz="1800" dirty="0">
              <a:latin typeface="Times New Roman" panose="02020603050405020304" pitchFamily="18" charset="0"/>
              <a:cs typeface="Times New Roman" panose="02020603050405020304" pitchFamily="18" charset="0"/>
            </a:endParaRPr>
          </a:p>
          <a:p>
            <a:pPr marL="0" lvl="0" indent="-114300" algn="l" eaLnBrk="1" latinLnBrk="0" hangingPunct="1">
              <a:spcBef>
                <a:spcPts val="1200"/>
              </a:spcBef>
              <a:buSzTx/>
            </a:pPr>
            <a:r>
              <a:rPr lang="zh-CN" altLang="en-US" sz="2000">
                <a:latin typeface="Times New Roman" panose="02020603050405020304" pitchFamily="18" charset="0"/>
                <a:cs typeface="Times New Roman" panose="02020603050405020304" pitchFamily="18" charset="0"/>
              </a:rPr>
              <a:t>n方体网络的开关控制与寻径算法</a:t>
            </a:r>
            <a:r>
              <a:rPr lang="zh-CN" altLang="en-US" sz="2000">
                <a:latin typeface="Times New Roman" panose="02020603050405020304" pitchFamily="18" charset="0"/>
                <a:cs typeface="Times New Roman" panose="02020603050405020304" pitchFamily="18" charset="0"/>
                <a:sym typeface="+mn-ea"/>
              </a:rPr>
              <a:t>:</a:t>
            </a:r>
            <a:endParaRPr lang="zh-CN" altLang="en-US" sz="2000">
              <a:latin typeface="Times New Roman" panose="02020603050405020304" pitchFamily="18" charset="0"/>
              <a:cs typeface="Times New Roman" panose="02020603050405020304" pitchFamily="18" charset="0"/>
              <a:sym typeface="+mn-ea"/>
            </a:endParaRPr>
          </a:p>
          <a:p>
            <a:pPr marL="351155" lvl="1" indent="-114300" algn="l" eaLnBrk="1" latinLnBrk="0" hangingPunct="1">
              <a:spcBef>
                <a:spcPts val="1200"/>
              </a:spcBef>
              <a:buSzTx/>
            </a:pPr>
            <a:r>
              <a:rPr lang="zh-CN" altLang="en-US" sz="1800" dirty="0">
                <a:latin typeface="Times New Roman" panose="02020603050405020304" pitchFamily="18" charset="0"/>
                <a:cs typeface="Times New Roman" panose="02020603050405020304" pitchFamily="18" charset="0"/>
              </a:rPr>
              <a:t>设输入端二进制地址为 S=</a:t>
            </a:r>
            <a:r>
              <a:rPr lang="en-US" altLang="zh-CN" sz="1800" dirty="0">
                <a:latin typeface="Times New Roman" panose="02020603050405020304" pitchFamily="18" charset="0"/>
                <a:cs typeface="Times New Roman" panose="02020603050405020304" pitchFamily="18" charset="0"/>
              </a:rPr>
              <a:t>S</a:t>
            </a:r>
            <a:r>
              <a:rPr lang="zh-CN" altLang="en-US" sz="1800" baseline="-25000" dirty="0">
                <a:latin typeface="Times New Roman" panose="02020603050405020304" pitchFamily="18" charset="0"/>
                <a:cs typeface="Times New Roman" panose="02020603050405020304" pitchFamily="18" charset="0"/>
              </a:rPr>
              <a:t>n-</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S</a:t>
            </a:r>
            <a:r>
              <a:rPr lang="zh-CN" altLang="en-US" sz="1800" baseline="-25000" dirty="0">
                <a:latin typeface="Times New Roman" panose="02020603050405020304" pitchFamily="18" charset="0"/>
                <a:cs typeface="Times New Roman" panose="02020603050405020304" pitchFamily="18" charset="0"/>
              </a:rPr>
              <a:t>n-2</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S</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S</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，输出端二进制地址为 D=d</a:t>
            </a:r>
            <a:r>
              <a:rPr lang="zh-CN" altLang="en-US" sz="1800" baseline="-25000" dirty="0">
                <a:latin typeface="Times New Roman" panose="02020603050405020304" pitchFamily="18" charset="0"/>
                <a:cs typeface="Times New Roman" panose="02020603050405020304" pitchFamily="18" charset="0"/>
              </a:rPr>
              <a:t>n-</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d</a:t>
            </a:r>
            <a:r>
              <a:rPr lang="zh-CN" altLang="en-US" sz="1800" baseline="-25000" dirty="0">
                <a:latin typeface="Times New Roman" panose="02020603050405020304" pitchFamily="18" charset="0"/>
                <a:cs typeface="Times New Roman" panose="02020603050405020304" pitchFamily="18" charset="0"/>
              </a:rPr>
              <a:t>n-2</a:t>
            </a:r>
            <a:r>
              <a:rPr lang="zh-CN" altLang="en-US" sz="1800" dirty="0">
                <a:latin typeface="Times New Roman" panose="02020603050405020304" pitchFamily="18" charset="0"/>
                <a:cs typeface="Times New Roman" panose="02020603050405020304" pitchFamily="18" charset="0"/>
              </a:rPr>
              <a:t>…d</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 d</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a:t>
            </a:r>
            <a:r>
              <a:rPr lang="zh-CN" altLang="en-US" sz="1800" dirty="0">
                <a:solidFill>
                  <a:srgbClr val="FF0000"/>
                </a:solidFill>
                <a:latin typeface="Times New Roman" panose="02020603050405020304" pitchFamily="18" charset="0"/>
                <a:cs typeface="Times New Roman" panose="02020603050405020304" pitchFamily="18" charset="0"/>
              </a:rPr>
              <a:t>则 </a:t>
            </a:r>
            <a:r>
              <a:rPr lang="en-US" altLang="zh-CN" sz="1800" dirty="0">
                <a:solidFill>
                  <a:srgbClr val="FF0000"/>
                </a:solidFill>
                <a:latin typeface="Times New Roman" panose="02020603050405020304" pitchFamily="18" charset="0"/>
                <a:cs typeface="Times New Roman" panose="02020603050405020304" pitchFamily="18" charset="0"/>
              </a:rPr>
              <a:t>s</a:t>
            </a:r>
            <a:r>
              <a:rPr lang="en-US" altLang="zh-CN" sz="1800" baseline="-25000" dirty="0">
                <a:solidFill>
                  <a:srgbClr val="FF0000"/>
                </a:solidFill>
                <a:latin typeface="Times New Roman" panose="02020603050405020304" pitchFamily="18" charset="0"/>
                <a:cs typeface="Times New Roman" panose="02020603050405020304" pitchFamily="18" charset="0"/>
              </a:rPr>
              <a:t>i</a:t>
            </a:r>
            <a:r>
              <a:rPr lang="en-US" altLang="zh-CN" sz="1800" dirty="0">
                <a:solidFill>
                  <a:srgbClr val="FF0000"/>
                </a:solidFill>
                <a:latin typeface="Times New Roman" panose="02020603050405020304" pitchFamily="18" charset="0"/>
                <a:cs typeface="Times New Roman" panose="02020603050405020304" pitchFamily="18" charset="0"/>
              </a:rPr>
              <a:t>     d</a:t>
            </a:r>
            <a:r>
              <a:rPr lang="en-US" altLang="zh-CN" sz="1800" baseline="-25000" dirty="0">
                <a:solidFill>
                  <a:srgbClr val="FF0000"/>
                </a:solidFill>
                <a:latin typeface="Times New Roman" panose="02020603050405020304" pitchFamily="18" charset="0"/>
                <a:cs typeface="Times New Roman" panose="02020603050405020304" pitchFamily="18" charset="0"/>
              </a:rPr>
              <a:t>i</a:t>
            </a:r>
            <a:r>
              <a:rPr lang="zh-CN" altLang="en-US" sz="1800" dirty="0">
                <a:solidFill>
                  <a:srgbClr val="FF0000"/>
                </a:solidFill>
                <a:latin typeface="Times New Roman" panose="02020603050405020304" pitchFamily="18" charset="0"/>
                <a:cs typeface="Times New Roman" panose="02020603050405020304" pitchFamily="18" charset="0"/>
              </a:rPr>
              <a:t>决定了开关级K</a:t>
            </a:r>
            <a:r>
              <a:rPr lang="en-US" altLang="zh-CN" sz="1800" baseline="-25000" dirty="0">
                <a:solidFill>
                  <a:srgbClr val="FF0000"/>
                </a:solidFill>
                <a:latin typeface="Times New Roman" panose="02020603050405020304" pitchFamily="18" charset="0"/>
                <a:cs typeface="Times New Roman" panose="02020603050405020304" pitchFamily="18" charset="0"/>
              </a:rPr>
              <a:t>i</a:t>
            </a:r>
            <a:r>
              <a:rPr lang="zh-CN" altLang="en-US" sz="1800" dirty="0">
                <a:solidFill>
                  <a:srgbClr val="FF0000"/>
                </a:solidFill>
                <a:latin typeface="Times New Roman" panose="02020603050405020304" pitchFamily="18" charset="0"/>
                <a:cs typeface="Times New Roman" panose="02020603050405020304" pitchFamily="18" charset="0"/>
              </a:rPr>
              <a:t>上相应交叉开关的状态</a:t>
            </a:r>
            <a:r>
              <a:rPr lang="zh-CN" altLang="en-US" sz="1800" dirty="0">
                <a:latin typeface="Times New Roman" panose="02020603050405020304" pitchFamily="18" charset="0"/>
                <a:cs typeface="Times New Roman" panose="02020603050405020304" pitchFamily="18" charset="0"/>
              </a:rPr>
              <a:t>。若</a:t>
            </a:r>
            <a:r>
              <a:rPr lang="zh-CN" altLang="en-US" sz="1800" dirty="0">
                <a:latin typeface="Times New Roman" panose="02020603050405020304" pitchFamily="18" charset="0"/>
                <a:cs typeface="Times New Roman" panose="02020603050405020304" pitchFamily="18" charset="0"/>
                <a:sym typeface="+mn-ea"/>
              </a:rPr>
              <a:t> </a:t>
            </a:r>
            <a:r>
              <a:rPr lang="en-US" altLang="zh-CN" sz="1800" dirty="0">
                <a:latin typeface="Times New Roman" panose="02020603050405020304" pitchFamily="18" charset="0"/>
                <a:cs typeface="Times New Roman" panose="02020603050405020304" pitchFamily="18" charset="0"/>
                <a:sym typeface="+mn-ea"/>
              </a:rPr>
              <a:t>s</a:t>
            </a:r>
            <a:r>
              <a:rPr lang="en-US" altLang="zh-CN" sz="1800" baseline="-25000" dirty="0">
                <a:latin typeface="Times New Roman" panose="02020603050405020304" pitchFamily="18" charset="0"/>
                <a:cs typeface="Times New Roman" panose="02020603050405020304" pitchFamily="18" charset="0"/>
                <a:sym typeface="+mn-ea"/>
              </a:rPr>
              <a:t>i</a:t>
            </a:r>
            <a:r>
              <a:rPr lang="en-US" altLang="zh-CN" sz="1800" dirty="0">
                <a:latin typeface="Times New Roman" panose="02020603050405020304" pitchFamily="18" charset="0"/>
                <a:cs typeface="Times New Roman" panose="02020603050405020304" pitchFamily="18" charset="0"/>
                <a:sym typeface="+mn-ea"/>
              </a:rPr>
              <a:t>     d</a:t>
            </a:r>
            <a:r>
              <a:rPr lang="en-US" altLang="zh-CN" sz="1800" baseline="-25000" dirty="0">
                <a:latin typeface="Times New Roman" panose="02020603050405020304" pitchFamily="18" charset="0"/>
                <a:cs typeface="Times New Roman" panose="02020603050405020304" pitchFamily="18" charset="0"/>
                <a:sym typeface="+mn-ea"/>
              </a:rPr>
              <a:t>i</a:t>
            </a:r>
            <a:r>
              <a:rPr lang="zh-CN" altLang="en-US" sz="1800" dirty="0">
                <a:latin typeface="Times New Roman" panose="02020603050405020304" pitchFamily="18" charset="0"/>
                <a:cs typeface="Times New Roman" panose="02020603050405020304" pitchFamily="18" charset="0"/>
              </a:rPr>
              <a:t>=0，则K</a:t>
            </a:r>
            <a:r>
              <a:rPr lang="en-US" altLang="zh-CN" sz="1800" baseline="-25000" dirty="0">
                <a:latin typeface="Times New Roman" panose="02020603050405020304" pitchFamily="18" charset="0"/>
                <a:cs typeface="Times New Roman" panose="02020603050405020304" pitchFamily="18" charset="0"/>
                <a:sym typeface="+mn-ea"/>
              </a:rPr>
              <a:t>i</a:t>
            </a:r>
            <a:r>
              <a:rPr lang="zh-CN" altLang="en-US" sz="1800" dirty="0">
                <a:latin typeface="Times New Roman" panose="02020603050405020304" pitchFamily="18" charset="0"/>
                <a:cs typeface="Times New Roman" panose="02020603050405020304" pitchFamily="18" charset="0"/>
              </a:rPr>
              <a:t>上相应交叉开关为直送状态，否则为交叉</a:t>
            </a:r>
            <a:r>
              <a:rPr lang="zh-CN" altLang="en-US" sz="1800" dirty="0">
                <a:latin typeface="Times New Roman" panose="02020603050405020304" pitchFamily="18" charset="0"/>
                <a:cs typeface="Times New Roman" panose="02020603050405020304" pitchFamily="18" charset="0"/>
              </a:rPr>
              <a:t>状态。</a:t>
            </a:r>
            <a:endParaRPr lang="zh-CN" altLang="en-US" sz="1800" dirty="0">
              <a:latin typeface="Times New Roman" panose="02020603050405020304" pitchFamily="18" charset="0"/>
              <a:cs typeface="Times New Roman" panose="02020603050405020304" pitchFamily="18" charset="0"/>
            </a:endParaRPr>
          </a:p>
          <a:p>
            <a:pPr marL="351155" lvl="1" indent="-114300" algn="l" eaLnBrk="1" latinLnBrk="0" hangingPunct="1">
              <a:spcBef>
                <a:spcPts val="1200"/>
              </a:spcBef>
              <a:buSzTx/>
            </a:pPr>
            <a:r>
              <a:rPr lang="zh-CN" altLang="en-US" sz="1800" dirty="0">
                <a:latin typeface="Times New Roman" panose="02020603050405020304" pitchFamily="18" charset="0"/>
                <a:cs typeface="Times New Roman" panose="02020603050405020304" pitchFamily="18" charset="0"/>
              </a:rPr>
              <a:t>例如,当源端地址为 S=100 和终端地址为D=010时，从输入端 4到输出端2的路径上的 K</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级相应开关为直送，K</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级和 K</a:t>
            </a:r>
            <a:r>
              <a:rPr lang="en-US" altLang="zh-CN" sz="1800" baseline="-25000" dirty="0">
                <a:latin typeface="Times New Roman" panose="02020603050405020304" pitchFamily="18" charset="0"/>
                <a:cs typeface="Times New Roman" panose="02020603050405020304" pitchFamily="18" charset="0"/>
              </a:rPr>
              <a:t>2</a:t>
            </a:r>
            <a:r>
              <a:rPr lang="zh-CN" altLang="en-US" sz="1800" dirty="0">
                <a:latin typeface="Times New Roman" panose="02020603050405020304" pitchFamily="18" charset="0"/>
                <a:cs typeface="Times New Roman" panose="02020603050405020304" pitchFamily="18" charset="0"/>
              </a:rPr>
              <a:t>级的相应开关为交叉。若同时有从输入端7到输出端6的连接要求，则会发生争用开关冲突。所以</a:t>
            </a:r>
            <a:r>
              <a:rPr lang="zh-CN" altLang="en-US" sz="1800" dirty="0">
                <a:solidFill>
                  <a:srgbClr val="FF0000"/>
                </a:solidFill>
                <a:latin typeface="Times New Roman" panose="02020603050405020304" pitchFamily="18" charset="0"/>
                <a:cs typeface="Times New Roman" panose="02020603050405020304" pitchFamily="18" charset="0"/>
              </a:rPr>
              <a:t>间接二进制n方体网络是阻塞网</a:t>
            </a:r>
            <a:r>
              <a:rPr lang="zh-CN" altLang="en-US"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p:txBody>
      </p:sp>
      <p:graphicFrame>
        <p:nvGraphicFramePr>
          <p:cNvPr id="3" name="对象 2"/>
          <p:cNvGraphicFramePr/>
          <p:nvPr/>
        </p:nvGraphicFramePr>
        <p:xfrm>
          <a:off x="1331278" y="4461828"/>
          <a:ext cx="894080" cy="339725"/>
        </p:xfrm>
        <a:graphic>
          <a:graphicData uri="http://schemas.openxmlformats.org/presentationml/2006/ole">
            <mc:AlternateContent xmlns:mc="http://schemas.openxmlformats.org/markup-compatibility/2006">
              <mc:Choice xmlns:v="urn:schemas-microsoft-com:vml" Requires="v">
                <p:oleObj spid="_x0000_s4" name="" r:id="rId2" imgW="384175" imgH="245110" progId="Equation.KSEE3">
                  <p:embed/>
                </p:oleObj>
              </mc:Choice>
              <mc:Fallback>
                <p:oleObj name="" r:id="rId2" imgW="384175" imgH="245110" progId="Equation.KSEE3">
                  <p:embed/>
                  <p:pic>
                    <p:nvPicPr>
                      <p:cNvPr id="0" name="图片 3"/>
                      <p:cNvPicPr/>
                      <p:nvPr/>
                    </p:nvPicPr>
                    <p:blipFill>
                      <a:blip r:embed="rId3"/>
                      <a:stretch>
                        <a:fillRect/>
                      </a:stretch>
                    </p:blipFill>
                    <p:spPr>
                      <a:xfrm>
                        <a:off x="1331278" y="4461828"/>
                        <a:ext cx="894080" cy="339725"/>
                      </a:xfrm>
                      <a:prstGeom prst="rect">
                        <a:avLst/>
                      </a:prstGeom>
                    </p:spPr>
                  </p:pic>
                </p:oleObj>
              </mc:Fallback>
            </mc:AlternateContent>
          </a:graphicData>
        </a:graphic>
      </p:graphicFrame>
      <p:graphicFrame>
        <p:nvGraphicFramePr>
          <p:cNvPr id="5" name="对象 4"/>
          <p:cNvGraphicFramePr/>
          <p:nvPr/>
        </p:nvGraphicFramePr>
        <p:xfrm>
          <a:off x="6300153" y="4508818"/>
          <a:ext cx="894080" cy="339725"/>
        </p:xfrm>
        <a:graphic>
          <a:graphicData uri="http://schemas.openxmlformats.org/presentationml/2006/ole">
            <mc:AlternateContent xmlns:mc="http://schemas.openxmlformats.org/markup-compatibility/2006">
              <mc:Choice xmlns:v="urn:schemas-microsoft-com:vml" Requires="v">
                <p:oleObj spid="_x0000_s6" name="" r:id="rId4" imgW="384175" imgH="245110" progId="Equation.KSEE3">
                  <p:embed/>
                </p:oleObj>
              </mc:Choice>
              <mc:Fallback>
                <p:oleObj name="" r:id="rId4" imgW="384175" imgH="245110" progId="Equation.KSEE3">
                  <p:embed/>
                  <p:pic>
                    <p:nvPicPr>
                      <p:cNvPr id="0" name="图片 3"/>
                      <p:cNvPicPr/>
                      <p:nvPr/>
                    </p:nvPicPr>
                    <p:blipFill>
                      <a:blip r:embed="rId3"/>
                      <a:stretch>
                        <a:fillRect/>
                      </a:stretch>
                    </p:blipFill>
                    <p:spPr>
                      <a:xfrm>
                        <a:off x="6300153" y="4508818"/>
                        <a:ext cx="894080" cy="339725"/>
                      </a:xfrm>
                      <a:prstGeom prst="rect">
                        <a:avLst/>
                      </a:prstGeom>
                    </p:spPr>
                  </p:pic>
                </p:oleObj>
              </mc:Fallback>
            </mc:AlternateContent>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7.4.3 </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间接二进制</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N</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立方体</a:t>
            </a:r>
            <a:r>
              <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网络</a:t>
            </a:r>
            <a:endPar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custDataLst>
              <p:tags r:id="rId1"/>
            </p:custDataLst>
          </p:nvPr>
        </p:nvPicPr>
        <p:blipFill>
          <a:blip r:embed="rId2"/>
          <a:stretch>
            <a:fillRect/>
          </a:stretch>
        </p:blipFill>
        <p:spPr>
          <a:xfrm>
            <a:off x="655320" y="1340485"/>
            <a:ext cx="7762240" cy="3736340"/>
          </a:xfrm>
          <a:prstGeom prst="rect">
            <a:avLst/>
          </a:prstGeom>
        </p:spPr>
      </p:pic>
      <p:sp>
        <p:nvSpPr>
          <p:cNvPr id="3" name="文本框 2"/>
          <p:cNvSpPr txBox="1"/>
          <p:nvPr/>
        </p:nvSpPr>
        <p:spPr>
          <a:xfrm>
            <a:off x="683895" y="5300980"/>
            <a:ext cx="7712710" cy="1476375"/>
          </a:xfrm>
          <a:prstGeom prst="rect">
            <a:avLst/>
          </a:prstGeom>
          <a:noFill/>
        </p:spPr>
        <p:txBody>
          <a:bodyPr wrap="square" rtlCol="0" anchor="t">
            <a:spAutoFit/>
          </a:bodyPr>
          <a:p>
            <a:pPr marL="285750" indent="-285750">
              <a:buFont typeface="Wingdings" panose="05000000000000000000" charset="0"/>
              <a:buChar char="u"/>
            </a:pPr>
            <a:r>
              <a:rPr lang="zh-CN" altLang="en-US" sz="1800" kern="0" dirty="0">
                <a:solidFill>
                  <a:schemeClr val="tx1"/>
                </a:solidFill>
                <a:latin typeface="Times New Roman" panose="02020603050405020304" pitchFamily="18" charset="0"/>
                <a:ea typeface="+mn-ea"/>
                <a:cs typeface="Times New Roman" panose="02020603050405020304" pitchFamily="18" charset="0"/>
              </a:rPr>
              <a:t>当源端地址为 S=100 和终端地址为D=010时，从输入端 4到输出端2的路径上的 K0级相应开关为直送，K1级和 K2级的相应开关为交叉。若同时有从输入端7到输出端6的连接要求，则会发生争用开关冲突。所以间接二进制n方体网络是阻塞网。</a:t>
            </a:r>
            <a:endParaRPr lang="zh-CN" altLang="en-US" sz="1800" kern="0" dirty="0">
              <a:solidFill>
                <a:schemeClr val="tx1"/>
              </a:solidFill>
              <a:latin typeface="Times New Roman" panose="02020603050405020304" pitchFamily="18" charset="0"/>
              <a:ea typeface="+mn-ea"/>
              <a:cs typeface="Times New Roman" panose="02020603050405020304" pitchFamily="18" charset="0"/>
            </a:endParaRPr>
          </a:p>
          <a:p>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7.4.</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4</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sym typeface="+mn-ea"/>
              </a:rPr>
              <a:t> Omega网络</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39115" y="1268730"/>
            <a:ext cx="8396605" cy="599440"/>
          </a:xfrm>
        </p:spPr>
        <p:txBody>
          <a:bodyPr vert="horz" wrap="square" lIns="91440" tIns="45720" rIns="91440" bIns="45720" anchor="t" anchorCtr="0"/>
          <a:p>
            <a:pPr eaLnBrk="1" latinLnBrk="0" hangingPunct="1">
              <a:lnSpc>
                <a:spcPct val="95000"/>
              </a:lnSpc>
              <a:spcBef>
                <a:spcPts val="1200"/>
              </a:spcBef>
            </a:pPr>
            <a:r>
              <a:rPr sz="2000" dirty="0">
                <a:latin typeface="Times New Roman" panose="02020603050405020304" pitchFamily="18" charset="0"/>
                <a:cs typeface="Times New Roman" panose="02020603050405020304" pitchFamily="18" charset="0"/>
                <a:sym typeface="+mn-ea"/>
              </a:rPr>
              <a:t>一个8×8的Omega网络</a:t>
            </a:r>
            <a:endParaRPr lang="zh-CN" altLang="en-US" sz="2000" dirty="0">
              <a:latin typeface="Times New Roman" panose="02020603050405020304" pitchFamily="18" charset="0"/>
              <a:cs typeface="Times New Roman" panose="02020603050405020304" pitchFamily="18" charset="0"/>
            </a:endParaRPr>
          </a:p>
          <a:p>
            <a:pPr eaLnBrk="1" latinLnBrk="0" hangingPunct="1">
              <a:lnSpc>
                <a:spcPct val="95000"/>
              </a:lnSpc>
              <a:spcBef>
                <a:spcPts val="1200"/>
              </a:spcBef>
            </a:pPr>
            <a:endParaRPr lang="zh-CN" altLang="en-US" sz="2000" dirty="0">
              <a:latin typeface="Times New Roman" panose="02020603050405020304" pitchFamily="18" charset="0"/>
              <a:cs typeface="Times New Roman" panose="02020603050405020304" pitchFamily="18" charset="0"/>
            </a:endParaRPr>
          </a:p>
          <a:p>
            <a:pPr eaLnBrk="1" latinLnBrk="0" hangingPunct="1">
              <a:lnSpc>
                <a:spcPct val="95000"/>
              </a:lnSpc>
              <a:spcBef>
                <a:spcPts val="1200"/>
              </a:spcBef>
            </a:pPr>
            <a:endParaRPr lang="zh-CN" altLang="en-US" sz="2000" dirty="0">
              <a:latin typeface="Times New Roman" panose="02020603050405020304" pitchFamily="18" charset="0"/>
              <a:cs typeface="Times New Roman" panose="02020603050405020304" pitchFamily="18" charset="0"/>
            </a:endParaRPr>
          </a:p>
          <a:p>
            <a:pPr eaLnBrk="1" latinLnBrk="0" hangingPunct="1">
              <a:lnSpc>
                <a:spcPct val="95000"/>
              </a:lnSpc>
              <a:spcBef>
                <a:spcPts val="1200"/>
              </a:spcBef>
            </a:pPr>
            <a:endParaRPr lang="zh-CN" altLang="en-US" sz="2000" dirty="0">
              <a:latin typeface="Times New Roman" panose="02020603050405020304" pitchFamily="18" charset="0"/>
              <a:cs typeface="Times New Roman" panose="02020603050405020304" pitchFamily="18" charset="0"/>
            </a:endParaRPr>
          </a:p>
          <a:p>
            <a:pPr eaLnBrk="1" latinLnBrk="0" hangingPunct="1">
              <a:lnSpc>
                <a:spcPct val="95000"/>
              </a:lnSpc>
              <a:spcBef>
                <a:spcPts val="1200"/>
              </a:spcBef>
            </a:pPr>
            <a:endParaRPr lang="zh-CN" altLang="en-US" sz="2000" dirty="0">
              <a:solidFill>
                <a:srgbClr val="FF3333"/>
              </a:solidFill>
              <a:latin typeface="Times New Roman" panose="02020603050405020304" pitchFamily="18" charset="0"/>
              <a:cs typeface="Times New Roman" panose="02020603050405020304" pitchFamily="18" charset="0"/>
            </a:endParaRPr>
          </a:p>
          <a:p>
            <a:pPr eaLnBrk="1" latinLnBrk="0" hangingPunct="1">
              <a:lnSpc>
                <a:spcPct val="95000"/>
              </a:lnSpc>
              <a:spcBef>
                <a:spcPts val="1200"/>
              </a:spcBef>
            </a:pPr>
            <a:endParaRPr lang="zh-CN" altLang="en-US" sz="2000" dirty="0">
              <a:solidFill>
                <a:srgbClr val="FF3333"/>
              </a:solidFill>
              <a:latin typeface="Times New Roman" panose="02020603050405020304" pitchFamily="18" charset="0"/>
              <a:cs typeface="Times New Roman" panose="02020603050405020304" pitchFamily="18" charset="0"/>
            </a:endParaRPr>
          </a:p>
          <a:p>
            <a:pPr eaLnBrk="1" latinLnBrk="0" hangingPunct="1">
              <a:lnSpc>
                <a:spcPct val="95000"/>
              </a:lnSpc>
              <a:spcBef>
                <a:spcPts val="1200"/>
              </a:spcBef>
            </a:pPr>
            <a:endParaRPr lang="zh-CN" altLang="en-US" sz="2000" dirty="0">
              <a:solidFill>
                <a:srgbClr val="FF3333"/>
              </a:solidFill>
              <a:latin typeface="Times New Roman" panose="02020603050405020304" pitchFamily="18" charset="0"/>
              <a:cs typeface="Times New Roman" panose="02020603050405020304" pitchFamily="18" charset="0"/>
            </a:endParaRPr>
          </a:p>
          <a:p>
            <a:pPr eaLnBrk="1" latinLnBrk="0" hangingPunct="1">
              <a:lnSpc>
                <a:spcPct val="95000"/>
              </a:lnSpc>
              <a:spcBef>
                <a:spcPts val="1200"/>
              </a:spcBef>
            </a:pPr>
            <a:endParaRPr lang="zh-CN" altLang="en-US" sz="2000" dirty="0">
              <a:solidFill>
                <a:srgbClr val="FF3333"/>
              </a:solidFill>
              <a:latin typeface="Times New Roman" panose="02020603050405020304" pitchFamily="18" charset="0"/>
              <a:cs typeface="Times New Roman" panose="02020603050405020304" pitchFamily="18" charset="0"/>
              <a:sym typeface="+mn-ea"/>
            </a:endParaRPr>
          </a:p>
          <a:p>
            <a:pPr eaLnBrk="1" hangingPunct="1">
              <a:lnSpc>
                <a:spcPct val="95000"/>
              </a:lnSpc>
            </a:pP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3" name="图片 2"/>
          <p:cNvPicPr>
            <a:picLocks noChangeAspect="1"/>
          </p:cNvPicPr>
          <p:nvPr>
            <p:custDataLst>
              <p:tags r:id="rId2"/>
            </p:custDataLst>
          </p:nvPr>
        </p:nvPicPr>
        <p:blipFill>
          <a:blip r:embed="rId3"/>
          <a:stretch>
            <a:fillRect/>
          </a:stretch>
        </p:blipFill>
        <p:spPr>
          <a:xfrm>
            <a:off x="1259840" y="1868170"/>
            <a:ext cx="6153785" cy="378079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7.4.</a:t>
            </a:r>
            <a:r>
              <a:rPr lang="en-US" alt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4</a:t>
            </a: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Omega网络</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297815" y="1111250"/>
            <a:ext cx="8657590" cy="5295265"/>
          </a:xfrm>
        </p:spPr>
        <p:txBody>
          <a:bodyPr vert="horz" wrap="square" lIns="91440" tIns="45720" rIns="91440" bIns="45720" anchor="t" anchorCtr="0"/>
          <a:p>
            <a:pPr marL="122555" indent="-122555"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采用全混洗函数和交换函数，又称混洗交换网络</a:t>
            </a:r>
            <a:endParaRPr lang="zh-CN" altLang="en-US" sz="2000" dirty="0">
              <a:latin typeface="Times New Roman" panose="02020603050405020304" pitchFamily="18" charset="0"/>
              <a:cs typeface="Times New Roman" panose="02020603050405020304" pitchFamily="18" charset="0"/>
            </a:endParaRPr>
          </a:p>
          <a:p>
            <a:pPr marL="579755" lvl="1" indent="-122555" eaLnBrk="1" latinLnBrk="0" hangingPunct="1">
              <a:spcBef>
                <a:spcPts val="1200"/>
              </a:spcBef>
            </a:pPr>
            <a:r>
              <a:rPr lang="zh-CN" altLang="en-US" sz="1800" dirty="0">
                <a:latin typeface="Times New Roman" panose="02020603050405020304" pitchFamily="18" charset="0"/>
                <a:cs typeface="Times New Roman" panose="02020603050405020304" pitchFamily="18" charset="0"/>
                <a:sym typeface="+mn-ea"/>
              </a:rPr>
              <a:t>用于伊利诺依大学的</a:t>
            </a:r>
            <a:r>
              <a:rPr lang="en-US" altLang="zh-CN" sz="1800" dirty="0">
                <a:latin typeface="Times New Roman" panose="02020603050405020304" pitchFamily="18" charset="0"/>
                <a:cs typeface="Times New Roman" panose="02020603050405020304" pitchFamily="18" charset="0"/>
                <a:sym typeface="+mn-ea"/>
              </a:rPr>
              <a:t>Cedar</a:t>
            </a:r>
            <a:r>
              <a:rPr lang="zh-CN" altLang="en-US" sz="1800" dirty="0">
                <a:latin typeface="Times New Roman" panose="02020603050405020304" pitchFamily="18" charset="0"/>
                <a:cs typeface="Times New Roman" panose="02020603050405020304" pitchFamily="18" charset="0"/>
                <a:sym typeface="+mn-ea"/>
              </a:rPr>
              <a:t>多处理机、</a:t>
            </a:r>
            <a:r>
              <a:rPr lang="en-US" altLang="zh-CN" sz="1800" dirty="0">
                <a:latin typeface="Times New Roman" panose="02020603050405020304" pitchFamily="18" charset="0"/>
                <a:cs typeface="Times New Roman" panose="02020603050405020304" pitchFamily="18" charset="0"/>
                <a:sym typeface="+mn-ea"/>
              </a:rPr>
              <a:t>IBM</a:t>
            </a:r>
            <a:r>
              <a:rPr lang="zh-CN" altLang="en-US" sz="1800" dirty="0">
                <a:latin typeface="Times New Roman" panose="02020603050405020304" pitchFamily="18" charset="0"/>
                <a:cs typeface="Times New Roman" panose="02020603050405020304" pitchFamily="18" charset="0"/>
                <a:sym typeface="+mn-ea"/>
              </a:rPr>
              <a:t>的</a:t>
            </a:r>
            <a:r>
              <a:rPr lang="en-US" altLang="zh-CN" sz="1800" dirty="0">
                <a:latin typeface="Times New Roman" panose="02020603050405020304" pitchFamily="18" charset="0"/>
                <a:cs typeface="Times New Roman" panose="02020603050405020304" pitchFamily="18" charset="0"/>
                <a:sym typeface="+mn-ea"/>
              </a:rPr>
              <a:t>RP3</a:t>
            </a:r>
            <a:r>
              <a:rPr lang="zh-CN" altLang="en-US" sz="1800" dirty="0">
                <a:latin typeface="Times New Roman" panose="02020603050405020304" pitchFamily="18" charset="0"/>
                <a:cs typeface="Times New Roman" panose="02020603050405020304" pitchFamily="18" charset="0"/>
                <a:sym typeface="+mn-ea"/>
              </a:rPr>
              <a:t>系统和纽约大学</a:t>
            </a:r>
            <a:r>
              <a:rPr lang="en-US" altLang="zh-CN" sz="1800" dirty="0">
                <a:latin typeface="Times New Roman" panose="02020603050405020304" pitchFamily="18" charset="0"/>
                <a:cs typeface="Times New Roman" panose="02020603050405020304" pitchFamily="18" charset="0"/>
                <a:sym typeface="+mn-ea"/>
              </a:rPr>
              <a:t>Ultracomputer</a:t>
            </a:r>
            <a:endParaRPr lang="en-US" altLang="zh-CN" sz="1800" dirty="0">
              <a:latin typeface="Times New Roman" panose="02020603050405020304" pitchFamily="18" charset="0"/>
              <a:cs typeface="Times New Roman" panose="02020603050405020304" pitchFamily="18" charset="0"/>
            </a:endParaRPr>
          </a:p>
          <a:p>
            <a:pPr marL="122555" indent="-122555"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N</a:t>
            </a:r>
            <a:r>
              <a:rPr lang="zh-CN" altLang="en-US" sz="2000" dirty="0">
                <a:latin typeface="Times New Roman" panose="02020603050405020304" pitchFamily="18" charset="0"/>
                <a:cs typeface="Times New Roman" panose="02020603050405020304" pitchFamily="18" charset="0"/>
                <a:sym typeface="+mn-ea"/>
              </a:rPr>
              <a:t>个输入的</a:t>
            </a:r>
            <a:r>
              <a:rPr lang="en-US" altLang="zh-CN" sz="2000" dirty="0">
                <a:latin typeface="Times New Roman" panose="02020603050405020304" pitchFamily="18" charset="0"/>
                <a:cs typeface="Times New Roman" panose="02020603050405020304" pitchFamily="18" charset="0"/>
                <a:sym typeface="+mn-ea"/>
              </a:rPr>
              <a:t>Omega</a:t>
            </a:r>
            <a:r>
              <a:rPr lang="zh-CN" altLang="en-US" sz="2000" dirty="0">
                <a:latin typeface="Times New Roman" panose="02020603050405020304" pitchFamily="18" charset="0"/>
                <a:cs typeface="Times New Roman" panose="02020603050405020304" pitchFamily="18" charset="0"/>
                <a:sym typeface="+mn-ea"/>
              </a:rPr>
              <a:t>网络有</a:t>
            </a:r>
            <a:r>
              <a:rPr lang="en-US" altLang="zh-CN" sz="2000" dirty="0">
                <a:latin typeface="Times New Roman" panose="02020603050405020304" pitchFamily="18" charset="0"/>
                <a:cs typeface="Times New Roman" panose="02020603050405020304" pitchFamily="18" charset="0"/>
                <a:sym typeface="+mn-ea"/>
              </a:rPr>
              <a:t>log</a:t>
            </a:r>
            <a:r>
              <a:rPr lang="en-US" altLang="zh-CN" sz="2000" baseline="-25000" dirty="0">
                <a:latin typeface="Times New Roman" panose="02020603050405020304" pitchFamily="18" charset="0"/>
                <a:cs typeface="Times New Roman" panose="02020603050405020304" pitchFamily="18" charset="0"/>
                <a:sym typeface="+mn-ea"/>
              </a:rPr>
              <a:t>2</a:t>
            </a:r>
            <a:r>
              <a:rPr lang="zh-CN" altLang="en-US" sz="2000" dirty="0">
                <a:latin typeface="Times New Roman" panose="02020603050405020304" pitchFamily="18" charset="0"/>
                <a:cs typeface="Times New Roman" panose="02020603050405020304" pitchFamily="18" charset="0"/>
                <a:sym typeface="+mn-ea"/>
              </a:rPr>
              <a:t>N级</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每级有</a:t>
            </a:r>
            <a:r>
              <a:rPr lang="en-US" altLang="zh-CN" sz="2000" dirty="0">
                <a:latin typeface="Times New Roman" panose="02020603050405020304" pitchFamily="18" charset="0"/>
                <a:cs typeface="Times New Roman" panose="02020603050405020304" pitchFamily="18" charset="0"/>
                <a:sym typeface="+mn-ea"/>
              </a:rPr>
              <a:t>N/2</a:t>
            </a:r>
            <a:r>
              <a:rPr lang="zh-CN" altLang="en-US" sz="2000" dirty="0">
                <a:latin typeface="Times New Roman" panose="02020603050405020304" pitchFamily="18" charset="0"/>
                <a:cs typeface="Times New Roman" panose="02020603050405020304" pitchFamily="18" charset="0"/>
                <a:sym typeface="+mn-ea"/>
              </a:rPr>
              <a:t>个</a:t>
            </a:r>
            <a:r>
              <a:rPr lang="en-US" altLang="zh-CN" sz="2000" dirty="0">
                <a:latin typeface="Times New Roman" panose="02020603050405020304" pitchFamily="18" charset="0"/>
                <a:cs typeface="Times New Roman" panose="02020603050405020304" pitchFamily="18" charset="0"/>
                <a:sym typeface="+mn-ea"/>
              </a:rPr>
              <a:t>2×2</a:t>
            </a:r>
            <a:r>
              <a:rPr lang="zh-CN" altLang="en-US" sz="2000" dirty="0">
                <a:latin typeface="Times New Roman" panose="02020603050405020304" pitchFamily="18" charset="0"/>
                <a:cs typeface="Times New Roman" panose="02020603050405020304" pitchFamily="18" charset="0"/>
                <a:sym typeface="+mn-ea"/>
              </a:rPr>
              <a:t>的四功能交换开关</a:t>
            </a:r>
            <a:endParaRPr lang="zh-CN" altLang="en-US" sz="2000" dirty="0">
              <a:latin typeface="Times New Roman" panose="02020603050405020304" pitchFamily="18" charset="0"/>
              <a:cs typeface="Times New Roman" panose="02020603050405020304" pitchFamily="18" charset="0"/>
            </a:endParaRPr>
          </a:p>
          <a:p>
            <a:pPr marL="579755" lvl="1" indent="-122555" eaLnBrk="1" latinLnBrk="0" hangingPunct="1">
              <a:spcBef>
                <a:spcPts val="600"/>
              </a:spcBef>
            </a:pPr>
            <a:r>
              <a:rPr lang="zh-CN" altLang="en-US" sz="1800" dirty="0">
                <a:latin typeface="Times New Roman" panose="02020603050405020304" pitchFamily="18" charset="0"/>
                <a:cs typeface="Times New Roman" panose="02020603050405020304" pitchFamily="18" charset="0"/>
                <a:sym typeface="+mn-ea"/>
              </a:rPr>
              <a:t>每级的拓扑结构相同，采用单元控制</a:t>
            </a:r>
            <a:endParaRPr lang="zh-CN" altLang="en-US" sz="1800" dirty="0">
              <a:latin typeface="Times New Roman" panose="02020603050405020304" pitchFamily="18" charset="0"/>
              <a:cs typeface="Times New Roman" panose="02020603050405020304" pitchFamily="18" charset="0"/>
              <a:sym typeface="+mn-ea"/>
            </a:endParaRPr>
          </a:p>
          <a:p>
            <a:pPr marL="579755" lvl="1" indent="-122555" algn="l" eaLnBrk="1" latinLnBrk="0" hangingPunct="1">
              <a:spcBef>
                <a:spcPts val="600"/>
              </a:spcBef>
              <a:buSzTx/>
            </a:pPr>
            <a:r>
              <a:rPr lang="zh-CN" altLang="en-US" sz="1800" dirty="0">
                <a:latin typeface="Times New Roman" panose="02020603050405020304" pitchFamily="18" charset="0"/>
                <a:cs typeface="Times New Roman" panose="02020603050405020304" pitchFamily="18" charset="0"/>
                <a:sym typeface="+mn-ea"/>
              </a:rPr>
              <a:t>各级交叉开关的级</a:t>
            </a:r>
            <a:r>
              <a:rPr lang="zh-CN" altLang="en-US" sz="1800" dirty="0">
                <a:latin typeface="Times New Roman" panose="02020603050405020304" pitchFamily="18" charset="0"/>
                <a:cs typeface="Times New Roman" panose="02020603050405020304" pitchFamily="18" charset="0"/>
              </a:rPr>
              <a:t>号编排从网络输入端到输出端，依次为K</a:t>
            </a:r>
            <a:r>
              <a:rPr lang="en-US" altLang="zh-CN" sz="1800" baseline="-25000" dirty="0">
                <a:latin typeface="Times New Roman" panose="02020603050405020304" pitchFamily="18" charset="0"/>
                <a:cs typeface="Times New Roman" panose="02020603050405020304" pitchFamily="18" charset="0"/>
              </a:rPr>
              <a:t>n-</a:t>
            </a:r>
            <a:r>
              <a:rPr lang="zh-CN" altLang="en-US"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、…、K</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、K</a:t>
            </a:r>
            <a:r>
              <a:rPr lang="en-US" altLang="zh-CN" sz="1800" baseline="-250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p>
            <a:pPr marL="579755" lvl="1" indent="-122555" algn="l" eaLnBrk="1" latinLnBrk="0" hangingPunct="1">
              <a:spcBef>
                <a:spcPts val="600"/>
              </a:spcBef>
              <a:buSzTx/>
            </a:pPr>
            <a:r>
              <a:rPr lang="zh-CN" altLang="en-US" sz="1800" dirty="0">
                <a:solidFill>
                  <a:srgbClr val="FF0000"/>
                </a:solidFill>
                <a:latin typeface="Times New Roman" panose="02020603050405020304" pitchFamily="18" charset="0"/>
                <a:cs typeface="Times New Roman" panose="02020603050405020304" pitchFamily="18" charset="0"/>
                <a:sym typeface="+mn-ea"/>
              </a:rPr>
              <a:t>级间互连采用均匀洗牌连接方式</a:t>
            </a:r>
            <a:endParaRPr lang="zh-CN" altLang="en-US" sz="1800" dirty="0">
              <a:latin typeface="Times New Roman" panose="02020603050405020304" pitchFamily="18" charset="0"/>
              <a:cs typeface="Times New Roman" panose="02020603050405020304" pitchFamily="18" charset="0"/>
            </a:endParaRPr>
          </a:p>
          <a:p>
            <a:pPr marL="122555" indent="-122555"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Omega</a:t>
            </a:r>
            <a:r>
              <a:rPr lang="zh-CN" altLang="en-US" sz="2000" dirty="0">
                <a:latin typeface="Times New Roman" panose="02020603050405020304" pitchFamily="18" charset="0"/>
                <a:cs typeface="Times New Roman" panose="02020603050405020304" pitchFamily="18" charset="0"/>
              </a:rPr>
              <a:t>网络的开关控制与寻径算法:</a:t>
            </a:r>
            <a:endParaRPr lang="zh-CN" altLang="en-US" sz="2000" dirty="0">
              <a:latin typeface="Times New Roman" panose="02020603050405020304" pitchFamily="18" charset="0"/>
              <a:cs typeface="Times New Roman" panose="02020603050405020304" pitchFamily="18" charset="0"/>
            </a:endParaRPr>
          </a:p>
          <a:p>
            <a:pPr marL="579755" lvl="1" indent="-122555" eaLnBrk="1" latinLnBrk="0" hangingPunct="1">
              <a:spcBef>
                <a:spcPts val="1200"/>
              </a:spcBef>
            </a:pPr>
            <a:r>
              <a:rPr lang="zh-CN" altLang="en-US" sz="1800" dirty="0">
                <a:latin typeface="Times New Roman" panose="02020603050405020304" pitchFamily="18" charset="0"/>
                <a:cs typeface="Times New Roman" panose="02020603050405020304" pitchFamily="18" charset="0"/>
                <a:sym typeface="+mn-ea"/>
              </a:rPr>
              <a:t>通过检查二进制目的地址编码来控制数据路径</a:t>
            </a:r>
            <a:r>
              <a:rPr lang="en-US" altLang="zh-CN" sz="1800" dirty="0">
                <a:latin typeface="Times New Roman" panose="02020603050405020304" pitchFamily="18" charset="0"/>
                <a:cs typeface="Times New Roman" panose="02020603050405020304" pitchFamily="18" charset="0"/>
                <a:sym typeface="+mn-ea"/>
              </a:rPr>
              <a:t>(</a:t>
            </a:r>
            <a:r>
              <a:rPr lang="zh-CN" altLang="en-US" sz="1800" dirty="0">
                <a:solidFill>
                  <a:srgbClr val="FF0000"/>
                </a:solidFill>
                <a:latin typeface="Times New Roman" panose="02020603050405020304" pitchFamily="18" charset="0"/>
                <a:cs typeface="Times New Roman" panose="02020603050405020304" pitchFamily="18" charset="0"/>
                <a:sym typeface="+mn-ea"/>
              </a:rPr>
              <a:t>终端标记寻径</a:t>
            </a:r>
            <a:r>
              <a:rPr lang="zh-CN" altLang="en-US" sz="1800" dirty="0">
                <a:latin typeface="Times New Roman" panose="02020603050405020304" pitchFamily="18" charset="0"/>
                <a:cs typeface="Times New Roman" panose="02020603050405020304" pitchFamily="18" charset="0"/>
                <a:sym typeface="+mn-ea"/>
              </a:rPr>
              <a:t>）：目的地址编码从高位开始的第</a:t>
            </a:r>
            <a:r>
              <a:rPr lang="en-US" altLang="zh-CN" sz="1800" dirty="0">
                <a:latin typeface="Times New Roman" panose="02020603050405020304" pitchFamily="18" charset="0"/>
                <a:cs typeface="Times New Roman" panose="02020603050405020304" pitchFamily="18" charset="0"/>
                <a:sym typeface="+mn-ea"/>
              </a:rPr>
              <a:t>i</a:t>
            </a:r>
            <a:r>
              <a:rPr lang="zh-CN" altLang="en-US" sz="1800" dirty="0">
                <a:latin typeface="Times New Roman" panose="02020603050405020304" pitchFamily="18" charset="0"/>
                <a:cs typeface="Times New Roman" panose="02020603050405020304" pitchFamily="18" charset="0"/>
                <a:sym typeface="+mn-ea"/>
              </a:rPr>
              <a:t>位为</a:t>
            </a:r>
            <a:r>
              <a:rPr lang="en-US" altLang="zh-CN" sz="1800" dirty="0">
                <a:latin typeface="Times New Roman" panose="02020603050405020304" pitchFamily="18" charset="0"/>
                <a:cs typeface="Times New Roman" panose="02020603050405020304" pitchFamily="18" charset="0"/>
                <a:sym typeface="+mn-ea"/>
              </a:rPr>
              <a:t>0</a:t>
            </a:r>
            <a:r>
              <a:rPr lang="zh-CN" altLang="en-US" sz="1800" dirty="0">
                <a:latin typeface="Times New Roman" panose="02020603050405020304" pitchFamily="18" charset="0"/>
                <a:cs typeface="Times New Roman" panose="02020603050405020304" pitchFamily="18" charset="0"/>
                <a:sym typeface="+mn-ea"/>
              </a:rPr>
              <a:t>时，第</a:t>
            </a:r>
            <a:r>
              <a:rPr lang="en-US" altLang="zh-CN" sz="1800" dirty="0">
                <a:latin typeface="Times New Roman" panose="02020603050405020304" pitchFamily="18" charset="0"/>
                <a:cs typeface="Times New Roman" panose="02020603050405020304" pitchFamily="18" charset="0"/>
                <a:sym typeface="+mn-ea"/>
              </a:rPr>
              <a:t>i</a:t>
            </a:r>
            <a:r>
              <a:rPr lang="zh-CN" altLang="en-US" sz="1800" dirty="0">
                <a:latin typeface="Times New Roman" panose="02020603050405020304" pitchFamily="18" charset="0"/>
                <a:cs typeface="Times New Roman" panose="02020603050405020304" pitchFamily="18" charset="0"/>
                <a:sym typeface="+mn-ea"/>
              </a:rPr>
              <a:t>级的</a:t>
            </a:r>
            <a:r>
              <a:rPr lang="en-US" altLang="zh-CN" sz="1800" dirty="0">
                <a:latin typeface="Times New Roman" panose="02020603050405020304" pitchFamily="18" charset="0"/>
                <a:cs typeface="Times New Roman" panose="02020603050405020304" pitchFamily="18" charset="0"/>
                <a:sym typeface="+mn-ea"/>
              </a:rPr>
              <a:t>2×2</a:t>
            </a:r>
            <a:r>
              <a:rPr lang="zh-CN" altLang="en-US" sz="1800" dirty="0">
                <a:latin typeface="Times New Roman" panose="02020603050405020304" pitchFamily="18" charset="0"/>
                <a:cs typeface="Times New Roman" panose="02020603050405020304" pitchFamily="18" charset="0"/>
                <a:sym typeface="+mn-ea"/>
              </a:rPr>
              <a:t>开关的输入端与上输出端连接，否则输入端与下输出端连接</a:t>
            </a:r>
            <a:endParaRPr lang="zh-CN" altLang="en-US" sz="1800" dirty="0">
              <a:latin typeface="Times New Roman" panose="02020603050405020304" pitchFamily="18" charset="0"/>
              <a:cs typeface="Times New Roman" panose="02020603050405020304" pitchFamily="18" charset="0"/>
              <a:sym typeface="+mn-ea"/>
            </a:endParaRPr>
          </a:p>
          <a:p>
            <a:pPr marL="579755" lvl="1" indent="-122555" algn="l" eaLnBrk="1" latinLnBrk="0" hangingPunct="1">
              <a:spcBef>
                <a:spcPts val="1200"/>
              </a:spcBef>
              <a:buSzTx/>
            </a:pPr>
            <a:r>
              <a:rPr lang="zh-CN" altLang="en-US" sz="1800" dirty="0">
                <a:latin typeface="Times New Roman" panose="02020603050405020304" pitchFamily="18" charset="0"/>
                <a:cs typeface="Times New Roman" panose="02020603050405020304" pitchFamily="18" charset="0"/>
              </a:rPr>
              <a:t>当源端地址为 S =010，终端地址为 </a:t>
            </a:r>
            <a:r>
              <a:rPr lang="zh-CN" altLang="en-US" sz="1800" dirty="0">
                <a:solidFill>
                  <a:srgbClr val="FF0000"/>
                </a:solidFill>
                <a:latin typeface="Times New Roman" panose="02020603050405020304" pitchFamily="18" charset="0"/>
                <a:cs typeface="Times New Roman" panose="02020603050405020304" pitchFamily="18" charset="0"/>
              </a:rPr>
              <a:t>D=110</a:t>
            </a:r>
            <a:r>
              <a:rPr lang="zh-CN" altLang="en-US" sz="1800" dirty="0">
                <a:latin typeface="Times New Roman" panose="02020603050405020304" pitchFamily="18" charset="0"/>
                <a:cs typeface="Times New Roman" panose="02020603050405020304" pitchFamily="18" charset="0"/>
              </a:rPr>
              <a:t> 时，连接源端 010 的 K₂级的交叉开关因终端地址 D=110 的 </a:t>
            </a:r>
            <a:r>
              <a:rPr lang="en-US" altLang="zh-CN" sz="1800" dirty="0">
                <a:latin typeface="Times New Roman" panose="02020603050405020304" pitchFamily="18" charset="0"/>
                <a:cs typeface="Times New Roman" panose="02020603050405020304" pitchFamily="18" charset="0"/>
              </a:rPr>
              <a:t>d</a:t>
            </a:r>
            <a:r>
              <a:rPr lang="en-US" altLang="zh-CN" sz="1800" baseline="-25000" dirty="0">
                <a:latin typeface="Times New Roman" panose="02020603050405020304" pitchFamily="18" charset="0"/>
                <a:cs typeface="Times New Roman" panose="02020603050405020304" pitchFamily="18" charset="0"/>
              </a:rPr>
              <a:t>2</a:t>
            </a:r>
            <a:r>
              <a:rPr lang="zh-CN" altLang="en-US" sz="1800" dirty="0">
                <a:latin typeface="Times New Roman" panose="02020603050405020304" pitchFamily="18" charset="0"/>
                <a:cs typeface="Times New Roman" panose="02020603050405020304" pitchFamily="18" charset="0"/>
              </a:rPr>
              <a:t>=1,故使该交叉开关输入端与下输出端相连。同样,因d</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=1,故 k</a:t>
            </a:r>
            <a:r>
              <a:rPr lang="en-US" altLang="zh-CN" sz="1800" baseline="-250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级的对应交叉开关的输入端与下输出端相连</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因 d</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=0，故 K</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级的对应交叉开关的输入端与上输出端相连。从而完成了网络源端 S=010 到终端 D=110 的连接。</a:t>
            </a:r>
            <a:r>
              <a:rPr lang="zh-CN" altLang="en-US" sz="1800" dirty="0">
                <a:solidFill>
                  <a:srgbClr val="FF0000"/>
                </a:solidFill>
                <a:latin typeface="Times New Roman" panose="02020603050405020304" pitchFamily="18" charset="0"/>
                <a:cs typeface="Times New Roman" panose="02020603050405020304" pitchFamily="18" charset="0"/>
              </a:rPr>
              <a:t>Omega网络也是一种阻塞网络</a:t>
            </a:r>
            <a:r>
              <a:rPr lang="zh-CN" altLang="en-US" sz="1800" dirty="0">
                <a:latin typeface="Times New Roman" panose="02020603050405020304" pitchFamily="18" charset="0"/>
                <a:cs typeface="Times New Roman" panose="02020603050405020304" pitchFamily="18" charset="0"/>
              </a:rPr>
              <a:t>。</a:t>
            </a:r>
            <a:endParaRPr lang="zh-CN"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开关设置</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2251075"/>
          </a:xfrm>
        </p:spPr>
        <p:txBody>
          <a:bodyPr vert="horz" wrap="square" lIns="91440" tIns="45720" rIns="91440" bIns="45720" anchor="t" anchorCtr="0"/>
          <a:p>
            <a:pPr eaLnBrk="1" hangingPunct="1"/>
            <a:r>
              <a:rPr lang="zh-CN" altLang="en-US" sz="2000" dirty="0">
                <a:latin typeface="Times New Roman" panose="02020603050405020304" pitchFamily="18" charset="0"/>
                <a:cs typeface="Times New Roman" panose="02020603050405020304" pitchFamily="18" charset="0"/>
                <a:sym typeface="+mn-ea"/>
              </a:rPr>
              <a:t>从输入端</a:t>
            </a:r>
            <a:r>
              <a:rPr lang="en-US" altLang="zh-CN" sz="2000" dirty="0">
                <a:latin typeface="Times New Roman" panose="02020603050405020304" pitchFamily="18" charset="0"/>
                <a:cs typeface="Times New Roman" panose="02020603050405020304" pitchFamily="18" charset="0"/>
                <a:sym typeface="+mn-ea"/>
              </a:rPr>
              <a:t>001</a:t>
            </a:r>
            <a:r>
              <a:rPr lang="zh-CN" altLang="en-US" sz="2000" dirty="0">
                <a:latin typeface="Times New Roman" panose="02020603050405020304" pitchFamily="18" charset="0"/>
                <a:cs typeface="Times New Roman" panose="02020603050405020304" pitchFamily="18" charset="0"/>
                <a:sym typeface="+mn-ea"/>
              </a:rPr>
              <a:t>到输出端</a:t>
            </a:r>
            <a:r>
              <a:rPr lang="en-US" altLang="zh-CN" sz="2000" dirty="0">
                <a:solidFill>
                  <a:srgbClr val="FF0000"/>
                </a:solidFill>
                <a:latin typeface="Times New Roman" panose="02020603050405020304" pitchFamily="18" charset="0"/>
                <a:cs typeface="Times New Roman" panose="02020603050405020304" pitchFamily="18" charset="0"/>
                <a:sym typeface="+mn-ea"/>
              </a:rPr>
              <a:t>011</a:t>
            </a:r>
            <a:r>
              <a:rPr lang="zh-CN" altLang="en-US" sz="2000" dirty="0">
                <a:latin typeface="Times New Roman" panose="02020603050405020304" pitchFamily="18" charset="0"/>
                <a:cs typeface="Times New Roman" panose="02020603050405020304" pitchFamily="18" charset="0"/>
                <a:sym typeface="+mn-ea"/>
              </a:rPr>
              <a:t>的路径。使用开关</a:t>
            </a:r>
            <a:r>
              <a:rPr lang="en-US" altLang="zh-CN" sz="2000" dirty="0">
                <a:latin typeface="Times New Roman" panose="02020603050405020304" pitchFamily="18" charset="0"/>
                <a:cs typeface="Times New Roman" panose="02020603050405020304" pitchFamily="18" charset="0"/>
                <a:sym typeface="+mn-ea"/>
              </a:rPr>
              <a:t>A</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B</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C</a:t>
            </a:r>
            <a:endParaRPr lang="en-US" altLang="zh-CN" sz="2000" dirty="0">
              <a:latin typeface="Times New Roman" panose="02020603050405020304" pitchFamily="18" charset="0"/>
              <a:cs typeface="Times New Roman" panose="02020603050405020304" pitchFamily="18" charset="0"/>
            </a:endParaRPr>
          </a:p>
          <a:p>
            <a:pPr lvl="1" eaLnBrk="1" hangingPunct="1"/>
            <a:r>
              <a:rPr lang="zh-CN" altLang="en-US" sz="1800" dirty="0">
                <a:latin typeface="Times New Roman" panose="02020603050405020304" pitchFamily="18" charset="0"/>
                <a:cs typeface="Times New Roman" panose="02020603050405020304" pitchFamily="18" charset="0"/>
                <a:sym typeface="+mn-ea"/>
              </a:rPr>
              <a:t>目的地址编码</a:t>
            </a:r>
            <a:r>
              <a:rPr lang="en-US" altLang="zh-CN" sz="1800" dirty="0">
                <a:latin typeface="Times New Roman" panose="02020603050405020304" pitchFamily="18" charset="0"/>
                <a:cs typeface="Times New Roman" panose="02020603050405020304" pitchFamily="18" charset="0"/>
                <a:sym typeface="+mn-ea"/>
              </a:rPr>
              <a:t>011</a:t>
            </a:r>
            <a:r>
              <a:rPr lang="zh-CN" altLang="en-US" sz="1800" dirty="0">
                <a:latin typeface="Times New Roman" panose="02020603050405020304" pitchFamily="18" charset="0"/>
                <a:cs typeface="Times New Roman" panose="02020603050405020304" pitchFamily="18" charset="0"/>
                <a:sym typeface="+mn-ea"/>
              </a:rPr>
              <a:t>的最高位“</a:t>
            </a:r>
            <a:r>
              <a:rPr lang="en-US" altLang="zh-CN" sz="1800" dirty="0">
                <a:latin typeface="Times New Roman" panose="02020603050405020304" pitchFamily="18" charset="0"/>
                <a:cs typeface="Times New Roman" panose="02020603050405020304" pitchFamily="18" charset="0"/>
                <a:sym typeface="+mn-ea"/>
              </a:rPr>
              <a:t>0”</a:t>
            </a:r>
            <a:r>
              <a:rPr lang="zh-CN" altLang="en-US" sz="1800" dirty="0">
                <a:latin typeface="Times New Roman" panose="02020603050405020304" pitchFamily="18" charset="0"/>
                <a:cs typeface="Times New Roman" panose="02020603050405020304" pitchFamily="18" charset="0"/>
                <a:sym typeface="+mn-ea"/>
              </a:rPr>
              <a:t>，输入端</a:t>
            </a:r>
            <a:r>
              <a:rPr lang="en-US" altLang="zh-CN" sz="1800" dirty="0">
                <a:latin typeface="Times New Roman" panose="02020603050405020304" pitchFamily="18" charset="0"/>
                <a:cs typeface="Times New Roman" panose="02020603050405020304" pitchFamily="18" charset="0"/>
                <a:sym typeface="+mn-ea"/>
              </a:rPr>
              <a:t>001</a:t>
            </a:r>
            <a:r>
              <a:rPr lang="zh-CN" altLang="en-US" sz="1800" dirty="0">
                <a:latin typeface="Times New Roman" panose="02020603050405020304" pitchFamily="18" charset="0"/>
                <a:cs typeface="Times New Roman" panose="02020603050405020304" pitchFamily="18" charset="0"/>
                <a:sym typeface="+mn-ea"/>
              </a:rPr>
              <a:t>与开关</a:t>
            </a:r>
            <a:r>
              <a:rPr lang="en-US" altLang="zh-CN" sz="1800" dirty="0">
                <a:latin typeface="Times New Roman" panose="02020603050405020304" pitchFamily="18" charset="0"/>
                <a:cs typeface="Times New Roman" panose="02020603050405020304" pitchFamily="18" charset="0"/>
                <a:sym typeface="+mn-ea"/>
              </a:rPr>
              <a:t>A</a:t>
            </a:r>
            <a:r>
              <a:rPr lang="zh-CN" altLang="en-US" sz="1800" dirty="0">
                <a:latin typeface="Times New Roman" panose="02020603050405020304" pitchFamily="18" charset="0"/>
                <a:cs typeface="Times New Roman" panose="02020603050405020304" pitchFamily="18" charset="0"/>
                <a:sym typeface="+mn-ea"/>
              </a:rPr>
              <a:t>的上输出端</a:t>
            </a:r>
            <a:r>
              <a:rPr lang="en-US" altLang="zh-CN" sz="1800" dirty="0">
                <a:latin typeface="Times New Roman" panose="02020603050405020304" pitchFamily="18" charset="0"/>
                <a:cs typeface="Times New Roman" panose="02020603050405020304" pitchFamily="18" charset="0"/>
                <a:sym typeface="+mn-ea"/>
              </a:rPr>
              <a:t>(</a:t>
            </a:r>
            <a:r>
              <a:rPr lang="zh-CN" altLang="en-US" sz="1800" dirty="0">
                <a:latin typeface="Times New Roman" panose="02020603050405020304" pitchFamily="18" charset="0"/>
                <a:cs typeface="Times New Roman" panose="02020603050405020304" pitchFamily="18" charset="0"/>
                <a:sym typeface="+mn-ea"/>
              </a:rPr>
              <a:t>编号为</a:t>
            </a:r>
            <a:r>
              <a:rPr lang="en-US" altLang="zh-CN" sz="1800" dirty="0">
                <a:latin typeface="Times New Roman" panose="02020603050405020304" pitchFamily="18" charset="0"/>
                <a:cs typeface="Times New Roman" panose="02020603050405020304" pitchFamily="18" charset="0"/>
                <a:sym typeface="+mn-ea"/>
              </a:rPr>
              <a:t>2)</a:t>
            </a:r>
            <a:r>
              <a:rPr lang="zh-CN" altLang="en-US" sz="1800" dirty="0">
                <a:latin typeface="Times New Roman" panose="02020603050405020304" pitchFamily="18" charset="0"/>
                <a:cs typeface="Times New Roman" panose="02020603050405020304" pitchFamily="18" charset="0"/>
                <a:sym typeface="+mn-ea"/>
              </a:rPr>
              <a:t>连接</a:t>
            </a:r>
            <a:r>
              <a:rPr lang="en-US" altLang="zh-CN" sz="1800" dirty="0">
                <a:latin typeface="Times New Roman" panose="02020603050405020304" pitchFamily="18" charset="0"/>
                <a:cs typeface="Times New Roman" panose="02020603050405020304" pitchFamily="18" charset="0"/>
                <a:sym typeface="+mn-ea"/>
              </a:rPr>
              <a:t>, </a:t>
            </a:r>
            <a:r>
              <a:rPr lang="zh-CN" altLang="en-US" sz="1800" dirty="0">
                <a:latin typeface="Times New Roman" panose="02020603050405020304" pitchFamily="18" charset="0"/>
                <a:cs typeface="Times New Roman" panose="02020603050405020304" pitchFamily="18" charset="0"/>
                <a:sym typeface="+mn-ea"/>
              </a:rPr>
              <a:t>开关</a:t>
            </a:r>
            <a:r>
              <a:rPr lang="en-US" altLang="zh-CN" sz="1800" dirty="0">
                <a:latin typeface="Times New Roman" panose="02020603050405020304" pitchFamily="18" charset="0"/>
                <a:cs typeface="Times New Roman" panose="02020603050405020304" pitchFamily="18" charset="0"/>
                <a:sym typeface="+mn-ea"/>
              </a:rPr>
              <a:t>A</a:t>
            </a:r>
            <a:r>
              <a:rPr lang="zh-CN" altLang="en-US" sz="1800" dirty="0">
                <a:latin typeface="Times New Roman" panose="02020603050405020304" pitchFamily="18" charset="0"/>
                <a:cs typeface="Times New Roman" panose="02020603050405020304" pitchFamily="18" charset="0"/>
                <a:sym typeface="+mn-ea"/>
              </a:rPr>
              <a:t>设置成直送状态</a:t>
            </a:r>
            <a:endParaRPr lang="zh-CN" altLang="en-US" sz="1800" dirty="0">
              <a:latin typeface="Times New Roman" panose="02020603050405020304" pitchFamily="18" charset="0"/>
              <a:cs typeface="Times New Roman" panose="02020603050405020304" pitchFamily="18" charset="0"/>
            </a:endParaRPr>
          </a:p>
          <a:p>
            <a:pPr lvl="1" eaLnBrk="1" hangingPunct="1"/>
            <a:r>
              <a:rPr lang="en-US" altLang="zh-CN" sz="1800" dirty="0">
                <a:latin typeface="Times New Roman" panose="02020603050405020304" pitchFamily="18" charset="0"/>
                <a:cs typeface="Times New Roman" panose="02020603050405020304" pitchFamily="18" charset="0"/>
                <a:sym typeface="+mn-ea"/>
              </a:rPr>
              <a:t>011</a:t>
            </a:r>
            <a:r>
              <a:rPr lang="zh-CN" altLang="en-US" sz="1800" dirty="0">
                <a:latin typeface="Times New Roman" panose="02020603050405020304" pitchFamily="18" charset="0"/>
                <a:cs typeface="Times New Roman" panose="02020603050405020304" pitchFamily="18" charset="0"/>
                <a:sym typeface="+mn-ea"/>
              </a:rPr>
              <a:t>的次高位是“</a:t>
            </a:r>
            <a:r>
              <a:rPr lang="en-US" altLang="zh-CN" sz="1800" dirty="0">
                <a:latin typeface="Times New Roman" panose="02020603050405020304" pitchFamily="18" charset="0"/>
                <a:cs typeface="Times New Roman" panose="02020603050405020304" pitchFamily="18" charset="0"/>
                <a:sym typeface="+mn-ea"/>
              </a:rPr>
              <a:t>1”</a:t>
            </a:r>
            <a:r>
              <a:rPr lang="zh-CN" altLang="en-US" sz="1800" dirty="0">
                <a:latin typeface="Times New Roman" panose="02020603050405020304" pitchFamily="18" charset="0"/>
                <a:cs typeface="Times New Roman" panose="02020603050405020304" pitchFamily="18" charset="0"/>
                <a:sym typeface="+mn-ea"/>
              </a:rPr>
              <a:t>，输入</a:t>
            </a:r>
            <a:r>
              <a:rPr lang="en-US" altLang="zh-CN" sz="1800" dirty="0">
                <a:latin typeface="Times New Roman" panose="02020603050405020304" pitchFamily="18" charset="0"/>
                <a:cs typeface="Times New Roman" panose="02020603050405020304" pitchFamily="18" charset="0"/>
                <a:sym typeface="+mn-ea"/>
              </a:rPr>
              <a:t>4</a:t>
            </a:r>
            <a:r>
              <a:rPr lang="zh-CN" altLang="en-US" sz="1800" dirty="0">
                <a:latin typeface="Times New Roman" panose="02020603050405020304" pitchFamily="18" charset="0"/>
                <a:cs typeface="Times New Roman" panose="02020603050405020304" pitchFamily="18" charset="0"/>
                <a:sym typeface="+mn-ea"/>
              </a:rPr>
              <a:t>和下输出连接，开关</a:t>
            </a:r>
            <a:r>
              <a:rPr lang="en-US" altLang="zh-CN" sz="1800" dirty="0">
                <a:latin typeface="Times New Roman" panose="02020603050405020304" pitchFamily="18" charset="0"/>
                <a:cs typeface="Times New Roman" panose="02020603050405020304" pitchFamily="18" charset="0"/>
                <a:sym typeface="+mn-ea"/>
              </a:rPr>
              <a:t>B</a:t>
            </a:r>
            <a:r>
              <a:rPr lang="zh-CN" altLang="en-US" sz="1800" dirty="0">
                <a:latin typeface="Times New Roman" panose="02020603050405020304" pitchFamily="18" charset="0"/>
                <a:cs typeface="Times New Roman" panose="02020603050405020304" pitchFamily="18" charset="0"/>
                <a:sym typeface="+mn-ea"/>
              </a:rPr>
              <a:t>设置成交换状态</a:t>
            </a:r>
            <a:endParaRPr lang="zh-CN" altLang="en-US" sz="1800" dirty="0">
              <a:latin typeface="Times New Roman" panose="02020603050405020304" pitchFamily="18" charset="0"/>
              <a:cs typeface="Times New Roman" panose="02020603050405020304" pitchFamily="18" charset="0"/>
            </a:endParaRPr>
          </a:p>
          <a:p>
            <a:pPr lvl="1" eaLnBrk="1" hangingPunct="1"/>
            <a:r>
              <a:rPr lang="en-US" altLang="zh-CN" sz="1800" dirty="0">
                <a:latin typeface="Times New Roman" panose="02020603050405020304" pitchFamily="18" charset="0"/>
                <a:cs typeface="Times New Roman" panose="02020603050405020304" pitchFamily="18" charset="0"/>
                <a:sym typeface="+mn-ea"/>
              </a:rPr>
              <a:t>011</a:t>
            </a:r>
            <a:r>
              <a:rPr lang="zh-CN" altLang="en-US" sz="1800" dirty="0">
                <a:latin typeface="Times New Roman" panose="02020603050405020304" pitchFamily="18" charset="0"/>
                <a:cs typeface="Times New Roman" panose="02020603050405020304" pitchFamily="18" charset="0"/>
                <a:sym typeface="+mn-ea"/>
              </a:rPr>
              <a:t>的最低位是“</a:t>
            </a:r>
            <a:r>
              <a:rPr lang="en-US" altLang="zh-CN" sz="1800" dirty="0">
                <a:latin typeface="Times New Roman" panose="02020603050405020304" pitchFamily="18" charset="0"/>
                <a:cs typeface="Times New Roman" panose="02020603050405020304" pitchFamily="18" charset="0"/>
                <a:sym typeface="+mn-ea"/>
              </a:rPr>
              <a:t>1”</a:t>
            </a:r>
            <a:r>
              <a:rPr lang="zh-CN" altLang="en-US" sz="1800" dirty="0">
                <a:latin typeface="Times New Roman" panose="02020603050405020304" pitchFamily="18" charset="0"/>
                <a:cs typeface="Times New Roman" panose="02020603050405020304" pitchFamily="18" charset="0"/>
                <a:sym typeface="+mn-ea"/>
              </a:rPr>
              <a:t>，输入</a:t>
            </a:r>
            <a:r>
              <a:rPr lang="en-US" altLang="zh-CN" sz="1800" dirty="0">
                <a:latin typeface="Times New Roman" panose="02020603050405020304" pitchFamily="18" charset="0"/>
                <a:cs typeface="Times New Roman" panose="02020603050405020304" pitchFamily="18" charset="0"/>
                <a:sym typeface="+mn-ea"/>
              </a:rPr>
              <a:t>4</a:t>
            </a:r>
            <a:r>
              <a:rPr lang="zh-CN" altLang="en-US" sz="1800" dirty="0">
                <a:latin typeface="Times New Roman" panose="02020603050405020304" pitchFamily="18" charset="0"/>
                <a:cs typeface="Times New Roman" panose="02020603050405020304" pitchFamily="18" charset="0"/>
                <a:sym typeface="+mn-ea"/>
              </a:rPr>
              <a:t>和下输出连接，开关</a:t>
            </a:r>
            <a:r>
              <a:rPr lang="en-US" altLang="zh-CN" sz="1800" dirty="0">
                <a:latin typeface="Times New Roman" panose="02020603050405020304" pitchFamily="18" charset="0"/>
                <a:cs typeface="Times New Roman" panose="02020603050405020304" pitchFamily="18" charset="0"/>
                <a:sym typeface="+mn-ea"/>
              </a:rPr>
              <a:t>C</a:t>
            </a:r>
            <a:r>
              <a:rPr lang="zh-CN" altLang="en-US" sz="1800" dirty="0">
                <a:latin typeface="Times New Roman" panose="02020603050405020304" pitchFamily="18" charset="0"/>
                <a:cs typeface="Times New Roman" panose="02020603050405020304" pitchFamily="18" charset="0"/>
                <a:sym typeface="+mn-ea"/>
              </a:rPr>
              <a:t>设置成直送状态</a:t>
            </a:r>
            <a:endParaRPr lang="zh-CN" altLang="en-US" sz="1800" dirty="0">
              <a:latin typeface="Times New Roman" panose="02020603050405020304" pitchFamily="18" charset="0"/>
              <a:cs typeface="Times New Roman" panose="02020603050405020304" pitchFamily="18" charset="0"/>
            </a:endParaRPr>
          </a:p>
          <a:p>
            <a:pPr eaLnBrk="1" hangingPunct="1"/>
            <a:r>
              <a:rPr lang="zh-CN" altLang="en-US" sz="2000" dirty="0">
                <a:latin typeface="Times New Roman" panose="02020603050405020304" pitchFamily="18" charset="0"/>
                <a:cs typeface="Times New Roman" panose="02020603050405020304" pitchFamily="18" charset="0"/>
                <a:sym typeface="+mn-ea"/>
              </a:rPr>
              <a:t>输入端</a:t>
            </a:r>
            <a:r>
              <a:rPr lang="en-US" altLang="zh-CN" sz="2000" dirty="0">
                <a:latin typeface="Times New Roman" panose="02020603050405020304" pitchFamily="18" charset="0"/>
                <a:cs typeface="Times New Roman" panose="02020603050405020304" pitchFamily="18" charset="0"/>
                <a:sym typeface="+mn-ea"/>
              </a:rPr>
              <a:t>101</a:t>
            </a:r>
            <a:r>
              <a:rPr lang="zh-CN" altLang="en-US" sz="2000" dirty="0">
                <a:latin typeface="Times New Roman" panose="02020603050405020304" pitchFamily="18" charset="0"/>
                <a:cs typeface="Times New Roman" panose="02020603050405020304" pitchFamily="18" charset="0"/>
                <a:sym typeface="+mn-ea"/>
              </a:rPr>
              <a:t>到输出端</a:t>
            </a:r>
            <a:r>
              <a:rPr lang="en-US" altLang="zh-CN" sz="2000" dirty="0">
                <a:latin typeface="Times New Roman" panose="02020603050405020304" pitchFamily="18" charset="0"/>
                <a:cs typeface="Times New Roman" panose="02020603050405020304" pitchFamily="18" charset="0"/>
                <a:sym typeface="+mn-ea"/>
              </a:rPr>
              <a:t>101</a:t>
            </a:r>
            <a:r>
              <a:rPr lang="zh-CN" altLang="en-US" sz="2000" dirty="0">
                <a:latin typeface="Times New Roman" panose="02020603050405020304" pitchFamily="18" charset="0"/>
                <a:cs typeface="Times New Roman" panose="02020603050405020304" pitchFamily="18" charset="0"/>
                <a:sym typeface="+mn-ea"/>
              </a:rPr>
              <a:t>的路径 ？</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2" name="图片 1"/>
          <p:cNvPicPr>
            <a:picLocks noChangeAspect="1"/>
          </p:cNvPicPr>
          <p:nvPr>
            <p:custDataLst>
              <p:tags r:id="rId2"/>
            </p:custDataLst>
          </p:nvPr>
        </p:nvPicPr>
        <p:blipFill>
          <a:blip r:embed="rId3"/>
          <a:srcRect b="6616"/>
          <a:stretch>
            <a:fillRect/>
          </a:stretch>
        </p:blipFill>
        <p:spPr>
          <a:xfrm>
            <a:off x="1763395" y="3068955"/>
            <a:ext cx="5062220" cy="335661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460375"/>
          </a:xfrm>
        </p:spPr>
        <p:txBody>
          <a:bodyPr vert="horz" wrap="square" lIns="91440" tIns="45720" rIns="91440" bIns="45720" anchor="t" anchorCtr="0">
            <a:spAutoFit/>
          </a:bodyPr>
          <a:p>
            <a:pPr algn="l" eaLnBrk="1" hangingPunct="1">
              <a:buClrTx/>
              <a:buSzTx/>
              <a:buFontTx/>
            </a:pPr>
            <a:r>
              <a:rPr lang="zh-CN" sz="2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Omega网能够实现从任意一个输入端到所有输出端的广播</a:t>
            </a:r>
            <a:endParaRPr lang="zh-CN" sz="2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11250"/>
            <a:ext cx="8396605" cy="2251075"/>
          </a:xfrm>
        </p:spPr>
        <p:txBody>
          <a:bodyPr vert="horz" wrap="square" lIns="91440" tIns="45720" rIns="91440" bIns="45720" anchor="t" anchorCtr="0"/>
          <a:p>
            <a:pPr eaLnBrk="1" hangingPunct="1"/>
            <a:r>
              <a:rPr lang="zh-CN" altLang="en-US" sz="2000" dirty="0">
                <a:sym typeface="+mn-ea"/>
              </a:rPr>
              <a:t>采用上播或下播开关设置</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pic>
        <p:nvPicPr>
          <p:cNvPr id="138245" name="Picture 4" descr="p_7_4_6a"/>
          <p:cNvPicPr>
            <a:picLocks noChangeAspect="1"/>
          </p:cNvPicPr>
          <p:nvPr>
            <p:custDataLst>
              <p:tags r:id="rId2"/>
            </p:custDataLst>
          </p:nvPr>
        </p:nvPicPr>
        <p:blipFill>
          <a:blip r:embed="rId3"/>
          <a:stretch>
            <a:fillRect/>
          </a:stretch>
        </p:blipFill>
        <p:spPr>
          <a:xfrm>
            <a:off x="1403350" y="1917065"/>
            <a:ext cx="5840095" cy="4090670"/>
          </a:xfrm>
          <a:prstGeom prst="rect">
            <a:avLst/>
          </a:prstGeom>
          <a:noFill/>
          <a:ln w="9525">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Omega网络</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159510"/>
            <a:ext cx="8396605" cy="2672080"/>
          </a:xfrm>
        </p:spPr>
        <p:txBody>
          <a:bodyPr vert="horz" wrap="square" lIns="91440" tIns="45720" rIns="91440" bIns="45720" anchor="t" anchorCtr="0"/>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采用级控制，是</a:t>
            </a:r>
            <a:r>
              <a:rPr lang="en-US" altLang="zh-CN" sz="2000" dirty="0">
                <a:latin typeface="Times New Roman" panose="02020603050405020304" pitchFamily="18" charset="0"/>
                <a:cs typeface="Times New Roman" panose="02020603050405020304" pitchFamily="18" charset="0"/>
                <a:sym typeface="+mn-ea"/>
              </a:rPr>
              <a:t>STARAN</a:t>
            </a:r>
            <a:r>
              <a:rPr lang="zh-CN" altLang="en-US" sz="2000" dirty="0">
                <a:latin typeface="Times New Roman" panose="02020603050405020304" pitchFamily="18" charset="0"/>
                <a:cs typeface="Times New Roman" panose="02020603050405020304" pitchFamily="18" charset="0"/>
                <a:sym typeface="+mn-ea"/>
              </a:rPr>
              <a:t>交换网的逆网</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zh-CN" altLang="en-US" sz="2000" dirty="0">
                <a:latin typeface="Times New Roman" panose="02020603050405020304" pitchFamily="18" charset="0"/>
                <a:cs typeface="Times New Roman" panose="02020603050405020304" pitchFamily="18" charset="0"/>
                <a:sym typeface="+mn-ea"/>
              </a:rPr>
              <a:t>采用部分级控制，是</a:t>
            </a:r>
            <a:r>
              <a:rPr lang="en-US" altLang="zh-CN" sz="2000" dirty="0">
                <a:latin typeface="Times New Roman" panose="02020603050405020304" pitchFamily="18" charset="0"/>
                <a:cs typeface="Times New Roman" panose="02020603050405020304" pitchFamily="18" charset="0"/>
                <a:sym typeface="+mn-ea"/>
              </a:rPr>
              <a:t>STARAN</a:t>
            </a:r>
            <a:r>
              <a:rPr lang="zh-CN" altLang="en-US" sz="2000" dirty="0">
                <a:latin typeface="Times New Roman" panose="02020603050405020304" pitchFamily="18" charset="0"/>
                <a:cs typeface="Times New Roman" panose="02020603050405020304" pitchFamily="18" charset="0"/>
                <a:sym typeface="+mn-ea"/>
              </a:rPr>
              <a:t>移数网的逆网</a:t>
            </a:r>
            <a:endParaRPr lang="zh-CN" altLang="en-US" sz="2000" dirty="0">
              <a:latin typeface="Times New Roman" panose="02020603050405020304" pitchFamily="18" charset="0"/>
              <a:cs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Omega</a:t>
            </a:r>
            <a:r>
              <a:rPr lang="zh-CN" altLang="en-US" sz="2000" dirty="0">
                <a:latin typeface="Times New Roman" panose="02020603050405020304" pitchFamily="18" charset="0"/>
                <a:cs typeface="Times New Roman" panose="02020603050405020304" pitchFamily="18" charset="0"/>
                <a:sym typeface="+mn-ea"/>
              </a:rPr>
              <a:t>网的许多性质与多级立方体网相反，如发生冲突的情况</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Omega</a:t>
            </a:r>
            <a:r>
              <a:rPr lang="zh-CN" altLang="en-US" sz="2000" dirty="0">
                <a:latin typeface="Times New Roman" panose="02020603050405020304" pitchFamily="18" charset="0"/>
                <a:cs typeface="Times New Roman" panose="02020603050405020304" pitchFamily="18" charset="0"/>
                <a:sym typeface="+mn-ea"/>
              </a:rPr>
              <a:t>网属于多级互连网</a:t>
            </a:r>
            <a:endParaRPr lang="zh-CN" altLang="en-US" sz="2000" dirty="0">
              <a:latin typeface="Times New Roman" panose="02020603050405020304" pitchFamily="18" charset="0"/>
              <a:cs typeface="Times New Roman" panose="02020603050405020304" pitchFamily="18" charset="0"/>
            </a:endParaRPr>
          </a:p>
          <a:p>
            <a:pPr eaLnBrk="1" latinLnBrk="0" hangingPunct="1">
              <a:spcBef>
                <a:spcPts val="1200"/>
              </a:spcBef>
            </a:pPr>
            <a:r>
              <a:rPr lang="en-US" altLang="zh-CN" sz="2000" dirty="0">
                <a:latin typeface="Times New Roman" panose="02020603050405020304" pitchFamily="18" charset="0"/>
                <a:cs typeface="Times New Roman" panose="02020603050405020304" pitchFamily="18" charset="0"/>
                <a:sym typeface="+mn-ea"/>
              </a:rPr>
              <a:t>Omega</a:t>
            </a:r>
            <a:r>
              <a:rPr lang="zh-CN" altLang="en-US" sz="2000" dirty="0">
                <a:latin typeface="Times New Roman" panose="02020603050405020304" pitchFamily="18" charset="0"/>
                <a:cs typeface="Times New Roman" panose="02020603050405020304" pitchFamily="18" charset="0"/>
                <a:sym typeface="+mn-ea"/>
              </a:rPr>
              <a:t>网络是一种</a:t>
            </a:r>
            <a:r>
              <a:rPr lang="zh-CN" altLang="en-US" sz="2000" dirty="0">
                <a:solidFill>
                  <a:srgbClr val="FF0000"/>
                </a:solidFill>
                <a:latin typeface="Times New Roman" panose="02020603050405020304" pitchFamily="18" charset="0"/>
                <a:cs typeface="Times New Roman" panose="02020603050405020304" pitchFamily="18" charset="0"/>
                <a:sym typeface="+mn-ea"/>
              </a:rPr>
              <a:t>阻塞网络</a:t>
            </a:r>
            <a:r>
              <a:rPr lang="zh-CN" altLang="en-US" sz="2000" dirty="0">
                <a:latin typeface="Times New Roman" panose="02020603050405020304" pitchFamily="18" charset="0"/>
                <a:cs typeface="Times New Roman" panose="02020603050405020304" pitchFamily="18" charset="0"/>
                <a:sym typeface="+mn-ea"/>
              </a:rPr>
              <a:t>，采用</a:t>
            </a:r>
            <a:r>
              <a:rPr lang="zh-CN" altLang="en-US" sz="2000" dirty="0">
                <a:solidFill>
                  <a:srgbClr val="FF0000"/>
                </a:solidFill>
                <a:latin typeface="Times New Roman" panose="02020603050405020304" pitchFamily="18" charset="0"/>
                <a:cs typeface="Times New Roman" panose="02020603050405020304" pitchFamily="18" charset="0"/>
                <a:sym typeface="+mn-ea"/>
              </a:rPr>
              <a:t>多次通过</a:t>
            </a:r>
            <a:r>
              <a:rPr lang="zh-CN" altLang="en-US" sz="2000" dirty="0">
                <a:latin typeface="Times New Roman" panose="02020603050405020304" pitchFamily="18" charset="0"/>
                <a:cs typeface="Times New Roman" panose="02020603050405020304" pitchFamily="18" charset="0"/>
                <a:sym typeface="+mn-ea"/>
              </a:rPr>
              <a:t>来解决冲突，通过次数最多为</a:t>
            </a:r>
            <a:r>
              <a:rPr lang="en-US" altLang="zh-CN" sz="2000" dirty="0">
                <a:latin typeface="Times New Roman" panose="02020603050405020304" pitchFamily="18" charset="0"/>
                <a:cs typeface="Times New Roman" panose="02020603050405020304" pitchFamily="18" charset="0"/>
                <a:sym typeface="+mn-ea"/>
              </a:rPr>
              <a:t>log</a:t>
            </a:r>
            <a:r>
              <a:rPr lang="en-US" altLang="zh-CN" sz="2000" baseline="-25000" dirty="0">
                <a:latin typeface="Times New Roman" panose="02020603050405020304" pitchFamily="18" charset="0"/>
                <a:cs typeface="Times New Roman" panose="02020603050405020304" pitchFamily="18" charset="0"/>
                <a:sym typeface="+mn-ea"/>
              </a:rPr>
              <a:t>2</a:t>
            </a:r>
            <a:r>
              <a:rPr lang="en-US" altLang="zh-CN" sz="2000" dirty="0">
                <a:latin typeface="Times New Roman" panose="02020603050405020304" pitchFamily="18" charset="0"/>
                <a:cs typeface="Times New Roman" panose="02020603050405020304" pitchFamily="18" charset="0"/>
                <a:sym typeface="+mn-ea"/>
              </a:rPr>
              <a:t>N</a:t>
            </a:r>
            <a:endParaRPr lang="en-US" altLang="zh-CN" sz="2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练习</a:t>
            </a:r>
            <a:endParaRPr lang="zh-CN" altLang="en-US"/>
          </a:p>
        </p:txBody>
      </p:sp>
      <p:sp>
        <p:nvSpPr>
          <p:cNvPr id="3" name="内容占位符 2"/>
          <p:cNvSpPr>
            <a:spLocks noGrp="1"/>
          </p:cNvSpPr>
          <p:nvPr>
            <p:ph idx="1"/>
          </p:nvPr>
        </p:nvSpPr>
        <p:spPr/>
        <p:txBody>
          <a:bodyPr/>
          <a:p>
            <a:r>
              <a:rPr lang="en-US" altLang="zh-CN" sz="2400">
                <a:latin typeface="Times New Roman" panose="02020603050405020304" pitchFamily="18" charset="0"/>
                <a:cs typeface="Times New Roman" panose="02020603050405020304" pitchFamily="18" charset="0"/>
              </a:rPr>
              <a:t>N=8</a:t>
            </a:r>
            <a:r>
              <a:rPr lang="zh-CN" altLang="en-US" sz="2400">
                <a:latin typeface="Times New Roman" panose="02020603050405020304" pitchFamily="18" charset="0"/>
                <a:cs typeface="Times New Roman" panose="02020603050405020304" pitchFamily="18" charset="0"/>
              </a:rPr>
              <a:t>的蝶式变换连接如图</a:t>
            </a:r>
            <a:r>
              <a:rPr lang="zh-CN" altLang="en-US" sz="2000">
                <a:latin typeface="Times New Roman" panose="02020603050405020304" pitchFamily="18" charset="0"/>
                <a:cs typeface="Times New Roman" panose="02020603050405020304" pitchFamily="18" charset="0"/>
              </a:rPr>
              <a:t>。</a:t>
            </a:r>
            <a:endParaRPr lang="zh-CN" altLang="en-US" sz="2000">
              <a:latin typeface="Times New Roman" panose="02020603050405020304" pitchFamily="18" charset="0"/>
              <a:cs typeface="Times New Roman" panose="02020603050405020304" pitchFamily="18" charset="0"/>
            </a:endParaRPr>
          </a:p>
          <a:p>
            <a:endParaRPr lang="zh-CN" altLang="en-US" sz="2000">
              <a:latin typeface="Times New Roman" panose="02020603050405020304" pitchFamily="18" charset="0"/>
              <a:cs typeface="Times New Roman" panose="02020603050405020304" pitchFamily="18" charset="0"/>
            </a:endParaRPr>
          </a:p>
          <a:p>
            <a:endParaRPr lang="zh-CN" altLang="en-US" sz="2000">
              <a:latin typeface="Times New Roman" panose="02020603050405020304" pitchFamily="18" charset="0"/>
              <a:cs typeface="Times New Roman" panose="02020603050405020304" pitchFamily="18" charset="0"/>
            </a:endParaRPr>
          </a:p>
          <a:p>
            <a:endParaRPr lang="zh-CN" altLang="en-US" sz="2000">
              <a:latin typeface="Times New Roman" panose="02020603050405020304" pitchFamily="18" charset="0"/>
              <a:cs typeface="Times New Roman" panose="02020603050405020304" pitchFamily="18" charset="0"/>
            </a:endParaRPr>
          </a:p>
          <a:p>
            <a:endParaRPr lang="zh-CN" altLang="en-US" sz="2000">
              <a:latin typeface="Times New Roman" panose="02020603050405020304" pitchFamily="18" charset="0"/>
              <a:cs typeface="Times New Roman" panose="02020603050405020304" pitchFamily="18" charset="0"/>
            </a:endParaRPr>
          </a:p>
          <a:p>
            <a:pPr lvl="1"/>
            <a:endParaRPr lang="en-US" altLang="zh-CN" sz="2000">
              <a:latin typeface="Times New Roman" panose="02020603050405020304" pitchFamily="18" charset="0"/>
              <a:cs typeface="Times New Roman" panose="02020603050405020304" pitchFamily="18" charset="0"/>
            </a:endParaRPr>
          </a:p>
          <a:p>
            <a:pPr lvl="1"/>
            <a:r>
              <a:rPr lang="en-US" altLang="zh-CN" sz="2000">
                <a:latin typeface="Times New Roman" panose="02020603050405020304" pitchFamily="18" charset="0"/>
                <a:cs typeface="Times New Roman" panose="02020603050405020304" pitchFamily="18" charset="0"/>
              </a:rPr>
              <a:t>(1)</a:t>
            </a:r>
            <a:r>
              <a:rPr lang="zh-CN" altLang="en-US" sz="2000">
                <a:latin typeface="Times New Roman" panose="02020603050405020304" pitchFamily="18" charset="0"/>
                <a:cs typeface="Times New Roman" panose="02020603050405020304" pitchFamily="18" charset="0"/>
              </a:rPr>
              <a:t>写出互联函数表达式。</a:t>
            </a:r>
            <a:endParaRPr lang="zh-CN" altLang="en-US" sz="2000">
              <a:latin typeface="Times New Roman" panose="02020603050405020304" pitchFamily="18" charset="0"/>
              <a:cs typeface="Times New Roman" panose="02020603050405020304" pitchFamily="18" charset="0"/>
            </a:endParaRPr>
          </a:p>
          <a:p>
            <a:pPr lvl="1"/>
            <a:r>
              <a:rPr lang="en-US" altLang="zh-CN" sz="2000">
                <a:latin typeface="Times New Roman" panose="02020603050405020304" pitchFamily="18" charset="0"/>
                <a:cs typeface="Times New Roman" panose="02020603050405020304" pitchFamily="18" charset="0"/>
              </a:rPr>
              <a:t>(2)</a:t>
            </a:r>
            <a:r>
              <a:rPr lang="zh-CN" altLang="en-US" sz="2000">
                <a:latin typeface="Times New Roman" panose="02020603050405020304" pitchFamily="18" charset="0"/>
                <a:cs typeface="Times New Roman" panose="02020603050405020304" pitchFamily="18" charset="0"/>
              </a:rPr>
              <a:t>若采用</a:t>
            </a:r>
            <a:r>
              <a:rPr lang="en-US" altLang="zh-CN" sz="2000">
                <a:latin typeface="Times New Roman" panose="02020603050405020304" pitchFamily="18" charset="0"/>
                <a:cs typeface="Times New Roman" panose="02020603050405020304" pitchFamily="18" charset="0"/>
              </a:rPr>
              <a:t> Omega </a:t>
            </a:r>
            <a:r>
              <a:rPr lang="zh-CN" altLang="en-US" sz="2000">
                <a:latin typeface="Times New Roman" panose="02020603050405020304" pitchFamily="18" charset="0"/>
                <a:cs typeface="Times New Roman" panose="02020603050405020304" pitchFamily="18" charset="0"/>
              </a:rPr>
              <a:t>网络实现要求的连接，</a:t>
            </a:r>
            <a:r>
              <a:rPr lang="en-US" altLang="zh-CN" sz="2000">
                <a:latin typeface="Times New Roman" panose="02020603050405020304" pitchFamily="18" charset="0"/>
                <a:cs typeface="Times New Roman" panose="02020603050405020304" pitchFamily="18" charset="0"/>
              </a:rPr>
              <a:t>Omega </a:t>
            </a:r>
            <a:r>
              <a:rPr lang="zh-CN" altLang="en-US" sz="2000">
                <a:latin typeface="Times New Roman" panose="02020603050405020304" pitchFamily="18" charset="0"/>
                <a:cs typeface="Times New Roman" panose="02020603050405020304" pitchFamily="18" charset="0"/>
              </a:rPr>
              <a:t>网络的单元控制采用终端标记寻径。那么，</a:t>
            </a:r>
            <a:r>
              <a:rPr lang="en-US" altLang="zh-CN" sz="2000">
                <a:latin typeface="Times New Roman" panose="02020603050405020304" pitchFamily="18" charset="0"/>
                <a:cs typeface="Times New Roman" panose="02020603050405020304" pitchFamily="18" charset="0"/>
              </a:rPr>
              <a:t>Omega </a:t>
            </a:r>
            <a:r>
              <a:rPr lang="zh-CN" altLang="en-US" sz="2000">
                <a:latin typeface="Times New Roman" panose="02020603050405020304" pitchFamily="18" charset="0"/>
                <a:cs typeface="Times New Roman" panose="02020603050405020304" pitchFamily="18" charset="0"/>
              </a:rPr>
              <a:t>网络最少需要连接几次，才能完成输入端</a:t>
            </a:r>
            <a:r>
              <a:rPr lang="en-US" altLang="zh-CN" sz="2000">
                <a:latin typeface="Times New Roman" panose="02020603050405020304" pitchFamily="18" charset="0"/>
                <a:cs typeface="Times New Roman" panose="02020603050405020304" pitchFamily="18" charset="0"/>
              </a:rPr>
              <a:t> 0~7</a:t>
            </a:r>
            <a:r>
              <a:rPr lang="zh-CN" altLang="en-US" sz="2000">
                <a:latin typeface="Times New Roman" panose="02020603050405020304" pitchFamily="18" charset="0"/>
                <a:cs typeface="Times New Roman" panose="02020603050405020304" pitchFamily="18" charset="0"/>
              </a:rPr>
              <a:t>到输出端</a:t>
            </a:r>
            <a:r>
              <a:rPr lang="en-US" altLang="zh-CN" sz="2000">
                <a:latin typeface="Times New Roman" panose="02020603050405020304" pitchFamily="18" charset="0"/>
                <a:cs typeface="Times New Roman" panose="02020603050405020304" pitchFamily="18" charset="0"/>
              </a:rPr>
              <a:t> 0~7</a:t>
            </a:r>
            <a:r>
              <a:rPr lang="zh-CN" altLang="en-US" sz="2000">
                <a:latin typeface="Times New Roman" panose="02020603050405020304" pitchFamily="18" charset="0"/>
                <a:cs typeface="Times New Roman" panose="02020603050405020304" pitchFamily="18" charset="0"/>
              </a:rPr>
              <a:t>所要求的连接</a:t>
            </a:r>
            <a:r>
              <a:rPr lang="en-US" altLang="zh-CN" sz="2000">
                <a:latin typeface="Times New Roman" panose="02020603050405020304" pitchFamily="18" charset="0"/>
                <a:cs typeface="Times New Roman" panose="02020603050405020304" pitchFamily="18" charset="0"/>
              </a:rPr>
              <a:t>?</a:t>
            </a:r>
            <a:endParaRPr lang="en-US" altLang="zh-CN" sz="2000">
              <a:latin typeface="Times New Roman" panose="02020603050405020304" pitchFamily="18" charset="0"/>
              <a:cs typeface="Times New Roman" panose="02020603050405020304" pitchFamily="18" charset="0"/>
            </a:endParaRPr>
          </a:p>
          <a:p>
            <a:pPr lvl="1"/>
            <a:r>
              <a:rPr lang="en-US" altLang="zh-CN" sz="2000">
                <a:latin typeface="Times New Roman" panose="02020603050405020304" pitchFamily="18" charset="0"/>
                <a:cs typeface="Times New Roman" panose="02020603050405020304" pitchFamily="18" charset="0"/>
              </a:rPr>
              <a:t>(3)</a:t>
            </a:r>
            <a:r>
              <a:rPr lang="zh-CN" altLang="en-US" sz="2000">
                <a:latin typeface="Times New Roman" panose="02020603050405020304" pitchFamily="18" charset="0"/>
                <a:cs typeface="Times New Roman" panose="02020603050405020304" pitchFamily="18" charset="0"/>
              </a:rPr>
              <a:t>画出</a:t>
            </a:r>
            <a:r>
              <a:rPr lang="en-US" altLang="zh-CN" sz="2000">
                <a:latin typeface="Times New Roman" panose="02020603050405020304" pitchFamily="18" charset="0"/>
                <a:cs typeface="Times New Roman" panose="02020603050405020304" pitchFamily="18" charset="0"/>
              </a:rPr>
              <a:t> Omega </a:t>
            </a:r>
            <a:r>
              <a:rPr lang="zh-CN" altLang="en-US" sz="2000">
                <a:latin typeface="Times New Roman" panose="02020603050405020304" pitchFamily="18" charset="0"/>
                <a:cs typeface="Times New Roman" panose="02020603050405020304" pitchFamily="18" charset="0"/>
              </a:rPr>
              <a:t>网络实现输入端到输出端连接要求的各次连接的开关状态图。</a:t>
            </a:r>
            <a:endParaRPr lang="zh-CN" altLang="en-US" sz="200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4716145" y="1844675"/>
            <a:ext cx="3086100" cy="212217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4" name="内容占位符 3"/>
          <p:cNvPicPr>
            <a:picLocks noChangeAspect="1"/>
          </p:cNvPicPr>
          <p:nvPr>
            <p:ph idx="1"/>
          </p:nvPr>
        </p:nvPicPr>
        <p:blipFill>
          <a:blip r:embed="rId1"/>
          <a:stretch>
            <a:fillRect/>
          </a:stretch>
        </p:blipFill>
        <p:spPr>
          <a:xfrm>
            <a:off x="2915920" y="1417955"/>
            <a:ext cx="2342515" cy="497840"/>
          </a:xfrm>
          <a:prstGeom prst="rect">
            <a:avLst/>
          </a:prstGeom>
        </p:spPr>
      </p:pic>
      <p:pic>
        <p:nvPicPr>
          <p:cNvPr id="5" name="图片 4"/>
          <p:cNvPicPr>
            <a:picLocks noChangeAspect="1"/>
          </p:cNvPicPr>
          <p:nvPr/>
        </p:nvPicPr>
        <p:blipFill>
          <a:blip r:embed="rId2"/>
          <a:stretch>
            <a:fillRect/>
          </a:stretch>
        </p:blipFill>
        <p:spPr>
          <a:xfrm>
            <a:off x="670560" y="2060575"/>
            <a:ext cx="7618730" cy="2818765"/>
          </a:xfrm>
          <a:prstGeom prst="rect">
            <a:avLst/>
          </a:prstGeom>
        </p:spPr>
      </p:pic>
      <p:pic>
        <p:nvPicPr>
          <p:cNvPr id="6" name="图片 5"/>
          <p:cNvPicPr>
            <a:picLocks noChangeAspect="1"/>
          </p:cNvPicPr>
          <p:nvPr/>
        </p:nvPicPr>
        <p:blipFill>
          <a:blip r:embed="rId3"/>
          <a:stretch>
            <a:fillRect/>
          </a:stretch>
        </p:blipFill>
        <p:spPr>
          <a:xfrm>
            <a:off x="2700020" y="5013325"/>
            <a:ext cx="3409315" cy="128524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pic>
        <p:nvPicPr>
          <p:cNvPr id="7" name="图片 6"/>
          <p:cNvPicPr>
            <a:picLocks noChangeAspect="1"/>
          </p:cNvPicPr>
          <p:nvPr/>
        </p:nvPicPr>
        <p:blipFill>
          <a:blip r:embed="rId1"/>
          <a:stretch>
            <a:fillRect/>
          </a:stretch>
        </p:blipFill>
        <p:spPr>
          <a:xfrm>
            <a:off x="827405" y="1628775"/>
            <a:ext cx="7487285" cy="3075305"/>
          </a:xfrm>
          <a:prstGeom prst="rect">
            <a:avLst/>
          </a:prstGeom>
        </p:spPr>
      </p:pic>
      <p:sp>
        <p:nvSpPr>
          <p:cNvPr id="8" name="文本框 7"/>
          <p:cNvSpPr txBox="1"/>
          <p:nvPr/>
        </p:nvSpPr>
        <p:spPr>
          <a:xfrm>
            <a:off x="899795" y="4963160"/>
            <a:ext cx="5731510" cy="706755"/>
          </a:xfrm>
          <a:prstGeom prst="rect">
            <a:avLst/>
          </a:prstGeom>
          <a:noFill/>
        </p:spPr>
        <p:txBody>
          <a:bodyPr wrap="square" rtlCol="0" anchor="t">
            <a:spAutoFit/>
          </a:bodyPr>
          <a:p>
            <a:pPr marL="342900" indent="-342900">
              <a:buFont typeface="Wingdings" panose="05000000000000000000" charset="0"/>
              <a:buChar char="Ø"/>
            </a:pPr>
            <a:r>
              <a:rPr lang="zh-CN" altLang="en-US" sz="2000" kern="0">
                <a:solidFill>
                  <a:schemeClr val="tx1"/>
                </a:solidFill>
                <a:latin typeface="Times New Roman" panose="02020603050405020304" pitchFamily="18" charset="0"/>
                <a:ea typeface="+mn-ea"/>
                <a:cs typeface="Times New Roman" panose="02020603050405020304" pitchFamily="18" charset="0"/>
              </a:rPr>
              <a:t>第1次实现:0-&gt;0，1-&gt;4，2-&gt;2，3-&gt;6;</a:t>
            </a:r>
            <a:endParaRPr lang="zh-CN" altLang="en-US" sz="2000" kern="0">
              <a:solidFill>
                <a:schemeClr val="tx1"/>
              </a:solidFill>
              <a:latin typeface="Times New Roman" panose="02020603050405020304" pitchFamily="18" charset="0"/>
              <a:ea typeface="+mn-ea"/>
              <a:cs typeface="Times New Roman" panose="02020603050405020304" pitchFamily="18" charset="0"/>
            </a:endParaRPr>
          </a:p>
          <a:p>
            <a:pPr marL="342900" indent="-342900">
              <a:buFont typeface="Wingdings" panose="05000000000000000000" charset="0"/>
              <a:buChar char="Ø"/>
            </a:pPr>
            <a:r>
              <a:rPr lang="zh-CN" altLang="en-US" sz="2000" kern="0">
                <a:solidFill>
                  <a:schemeClr val="tx1"/>
                </a:solidFill>
                <a:latin typeface="Times New Roman" panose="02020603050405020304" pitchFamily="18" charset="0"/>
                <a:ea typeface="+mn-ea"/>
                <a:cs typeface="Times New Roman" panose="02020603050405020304" pitchFamily="18" charset="0"/>
              </a:rPr>
              <a:t>第</a:t>
            </a:r>
            <a:r>
              <a:rPr lang="en-US" altLang="zh-CN" sz="2000" kern="0">
                <a:solidFill>
                  <a:schemeClr val="tx1"/>
                </a:solidFill>
                <a:latin typeface="Times New Roman" panose="02020603050405020304" pitchFamily="18" charset="0"/>
                <a:ea typeface="+mn-ea"/>
                <a:cs typeface="Times New Roman" panose="02020603050405020304" pitchFamily="18" charset="0"/>
              </a:rPr>
              <a:t>2</a:t>
            </a:r>
            <a:r>
              <a:rPr lang="zh-CN" altLang="en-US" sz="2000" kern="0">
                <a:solidFill>
                  <a:schemeClr val="tx1"/>
                </a:solidFill>
                <a:latin typeface="Times New Roman" panose="02020603050405020304" pitchFamily="18" charset="0"/>
                <a:ea typeface="+mn-ea"/>
                <a:cs typeface="Times New Roman" panose="02020603050405020304" pitchFamily="18" charset="0"/>
              </a:rPr>
              <a:t>次实现</a:t>
            </a:r>
            <a:r>
              <a:rPr lang="en-US" altLang="zh-CN" sz="2000" kern="0">
                <a:solidFill>
                  <a:schemeClr val="tx1"/>
                </a:solidFill>
                <a:latin typeface="Times New Roman" panose="02020603050405020304" pitchFamily="18" charset="0"/>
                <a:ea typeface="+mn-ea"/>
                <a:cs typeface="Times New Roman" panose="02020603050405020304" pitchFamily="18" charset="0"/>
              </a:rPr>
              <a:t>:4-&gt;1</a:t>
            </a:r>
            <a:r>
              <a:rPr lang="zh-CN" altLang="en-US" sz="2000" kern="0">
                <a:solidFill>
                  <a:schemeClr val="tx1"/>
                </a:solidFill>
                <a:latin typeface="Times New Roman" panose="02020603050405020304" pitchFamily="18" charset="0"/>
                <a:ea typeface="+mn-ea"/>
                <a:cs typeface="Times New Roman" panose="02020603050405020304" pitchFamily="18" charset="0"/>
              </a:rPr>
              <a:t>，</a:t>
            </a:r>
            <a:r>
              <a:rPr lang="en-US" altLang="zh-CN" sz="2000" kern="0">
                <a:solidFill>
                  <a:schemeClr val="tx1"/>
                </a:solidFill>
                <a:latin typeface="Times New Roman" panose="02020603050405020304" pitchFamily="18" charset="0"/>
                <a:ea typeface="+mn-ea"/>
                <a:cs typeface="Times New Roman" panose="02020603050405020304" pitchFamily="18" charset="0"/>
              </a:rPr>
              <a:t>5-&gt;5</a:t>
            </a:r>
            <a:r>
              <a:rPr lang="zh-CN" altLang="en-US" sz="2000" kern="0">
                <a:solidFill>
                  <a:schemeClr val="tx1"/>
                </a:solidFill>
                <a:latin typeface="Times New Roman" panose="02020603050405020304" pitchFamily="18" charset="0"/>
                <a:ea typeface="+mn-ea"/>
                <a:cs typeface="Times New Roman" panose="02020603050405020304" pitchFamily="18" charset="0"/>
              </a:rPr>
              <a:t>，</a:t>
            </a:r>
            <a:r>
              <a:rPr lang="en-US" altLang="zh-CN" sz="2000" kern="0">
                <a:solidFill>
                  <a:schemeClr val="tx1"/>
                </a:solidFill>
                <a:latin typeface="Times New Roman" panose="02020603050405020304" pitchFamily="18" charset="0"/>
                <a:ea typeface="+mn-ea"/>
                <a:cs typeface="Times New Roman" panose="02020603050405020304" pitchFamily="18" charset="0"/>
              </a:rPr>
              <a:t>6</a:t>
            </a:r>
            <a:r>
              <a:rPr lang="en-US" altLang="en-US" sz="2000" kern="0">
                <a:solidFill>
                  <a:schemeClr val="tx1"/>
                </a:solidFill>
                <a:latin typeface="Times New Roman" panose="02020603050405020304" pitchFamily="18" charset="0"/>
                <a:ea typeface="+mn-ea"/>
                <a:cs typeface="Times New Roman" panose="02020603050405020304" pitchFamily="18" charset="0"/>
              </a:rPr>
              <a:t>-</a:t>
            </a:r>
            <a:r>
              <a:rPr lang="en-US" altLang="zh-CN" sz="2000" kern="0">
                <a:solidFill>
                  <a:schemeClr val="tx1"/>
                </a:solidFill>
                <a:latin typeface="Times New Roman" panose="02020603050405020304" pitchFamily="18" charset="0"/>
                <a:ea typeface="+mn-ea"/>
                <a:cs typeface="Times New Roman" panose="02020603050405020304" pitchFamily="18" charset="0"/>
              </a:rPr>
              <a:t>&gt;3</a:t>
            </a:r>
            <a:r>
              <a:rPr lang="zh-CN" altLang="en-US" sz="2000" kern="0">
                <a:solidFill>
                  <a:schemeClr val="tx1"/>
                </a:solidFill>
                <a:latin typeface="Times New Roman" panose="02020603050405020304" pitchFamily="18" charset="0"/>
                <a:ea typeface="+mn-ea"/>
                <a:cs typeface="Times New Roman" panose="02020603050405020304" pitchFamily="18" charset="0"/>
              </a:rPr>
              <a:t>，</a:t>
            </a:r>
            <a:r>
              <a:rPr lang="en-US" altLang="zh-CN" sz="2000" kern="0">
                <a:solidFill>
                  <a:schemeClr val="tx1"/>
                </a:solidFill>
                <a:latin typeface="Times New Roman" panose="02020603050405020304" pitchFamily="18" charset="0"/>
                <a:ea typeface="+mn-ea"/>
                <a:cs typeface="Times New Roman" panose="02020603050405020304" pitchFamily="18" charset="0"/>
              </a:rPr>
              <a:t>7-&gt;7.</a:t>
            </a:r>
            <a:endParaRPr lang="en-US" altLang="zh-CN" sz="2000" kern="0">
              <a:solidFill>
                <a:schemeClr val="tx1"/>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xfrm>
            <a:off x="395605" y="260350"/>
            <a:ext cx="8281988" cy="583565"/>
          </a:xfrm>
        </p:spPr>
        <p:txBody>
          <a:bodyPr vert="horz" wrap="square" lIns="91440" tIns="45720" rIns="91440" bIns="45720" anchor="t" anchorCtr="0">
            <a:spAutoFit/>
          </a:bodyPr>
          <a:p>
            <a:pPr algn="l" eaLnBrk="1" hangingPunct="1">
              <a:buClrTx/>
              <a:buSzTx/>
              <a:buFontTx/>
            </a:pPr>
            <a:r>
              <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本章重点</a:t>
            </a:r>
            <a:endParaRPr lang="zh-CN"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954" name="Rectangle 3"/>
          <p:cNvSpPr>
            <a:spLocks noGrp="1"/>
          </p:cNvSpPr>
          <p:nvPr>
            <p:ph idx="1"/>
            <p:custDataLst>
              <p:tags r:id="rId1"/>
            </p:custDataLst>
          </p:nvPr>
        </p:nvSpPr>
        <p:spPr>
          <a:xfrm>
            <a:off x="558800" y="1278255"/>
            <a:ext cx="8396605" cy="2265680"/>
          </a:xfrm>
        </p:spPr>
        <p:txBody>
          <a:bodyPr vert="horz" wrap="square" lIns="91440" tIns="45720" rIns="91440" bIns="45720" anchor="t" anchorCtr="0"/>
          <a:p>
            <a:pPr eaLnBrk="1" latinLnBrk="0" hangingPunct="1">
              <a:spcBef>
                <a:spcPts val="1200"/>
              </a:spcBef>
            </a:pPr>
            <a:r>
              <a:rPr sz="2400" dirty="0">
                <a:latin typeface="Times New Roman" panose="02020603050405020304" pitchFamily="18" charset="0"/>
                <a:cs typeface="Times New Roman" panose="02020603050405020304" pitchFamily="18" charset="0"/>
                <a:sym typeface="+mn-ea"/>
              </a:rPr>
              <a:t>主要的互连函数</a:t>
            </a:r>
            <a:endParaRPr sz="24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sz="2400" dirty="0">
                <a:latin typeface="Times New Roman" panose="02020603050405020304" pitchFamily="18" charset="0"/>
                <a:cs typeface="Times New Roman" panose="02020603050405020304" pitchFamily="18" charset="0"/>
                <a:sym typeface="+mn-ea"/>
              </a:rPr>
              <a:t>几种典型互连网络的构成方法及特点</a:t>
            </a:r>
            <a:endParaRPr sz="24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lang="en-US" altLang="zh-CN" sz="2400" dirty="0">
                <a:latin typeface="Times New Roman" panose="02020603050405020304" pitchFamily="18" charset="0"/>
                <a:cs typeface="Times New Roman" panose="02020603050405020304" pitchFamily="18" charset="0"/>
                <a:sym typeface="+mn-ea"/>
              </a:rPr>
              <a:t>4</a:t>
            </a:r>
            <a:r>
              <a:rPr lang="zh-CN" altLang="en-US" sz="2400" dirty="0">
                <a:latin typeface="Times New Roman" panose="02020603050405020304" pitchFamily="18" charset="0"/>
                <a:cs typeface="Times New Roman" panose="02020603050405020304" pitchFamily="18" charset="0"/>
                <a:sym typeface="+mn-ea"/>
              </a:rPr>
              <a:t>种寻径方式</a:t>
            </a:r>
            <a:endParaRPr sz="2400" dirty="0">
              <a:latin typeface="Times New Roman" panose="02020603050405020304" pitchFamily="18" charset="0"/>
              <a:cs typeface="Times New Roman" panose="02020603050405020304" pitchFamily="18" charset="0"/>
              <a:sym typeface="+mn-ea"/>
            </a:endParaRPr>
          </a:p>
          <a:p>
            <a:pPr eaLnBrk="1" latinLnBrk="0" hangingPunct="1">
              <a:spcBef>
                <a:spcPts val="1200"/>
              </a:spcBef>
            </a:pPr>
            <a:r>
              <a:rPr sz="2400" dirty="0">
                <a:latin typeface="Times New Roman" panose="02020603050405020304" pitchFamily="18" charset="0"/>
                <a:cs typeface="Times New Roman" panose="02020603050405020304" pitchFamily="18" charset="0"/>
                <a:sym typeface="+mn-ea"/>
              </a:rPr>
              <a:t>STARAN、Omega 网络等连接特性</a:t>
            </a:r>
            <a:endParaRPr sz="24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COMMONDATA" val="eyJoZGlkIjoiNzgwZWUzYWQ0MzYxM2VlNjVhZWQ5MmMwYjc0MjZhZjkifQ=="/>
  <p:tag name="KSO_WPP_MARK_KEY" val="f64f1d04-d5ef-4124-ac0d-f11c60ba39f5"/>
</p:tagLst>
</file>

<file path=ppt/theme/theme1.xml><?xml version="1.0" encoding="utf-8"?>
<a:theme xmlns:a="http://schemas.openxmlformats.org/drawingml/2006/main" name="主题1">
  <a:themeElements>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2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24美金的ppt模板">
  <a:themeElements>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1_24美金的ppt模板">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24美金的ppt模板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4美金的ppt模板_3">
  <a:themeElements>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3">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3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4美金的ppt模板_4">
  <a:themeElements>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4">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4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4美金的ppt模板_5">
  <a:themeElements>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5">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5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主题1">
  <a:themeElements>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2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24美金的ppt模板">
  <a:themeElements>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1_24美金的ppt模板">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24美金的ppt模板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24美金的ppt模板_3">
  <a:themeElements>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3">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3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_24美金的ppt模板_4">
  <a:themeElements>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4">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4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_24美金的ppt模板_5">
  <a:themeElements>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5">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5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12457</Words>
  <Application>WPS 演示</Application>
  <PresentationFormat>全屏显示(4:3)</PresentationFormat>
  <Paragraphs>845</Paragraphs>
  <Slides>89</Slides>
  <Notes>2</Notes>
  <HiddenSlides>0</HiddenSlides>
  <MMClips>0</MMClips>
  <ScaleCrop>false</ScaleCrop>
  <HeadingPairs>
    <vt:vector size="8" baseType="variant">
      <vt:variant>
        <vt:lpstr>已用的字体</vt:lpstr>
      </vt:variant>
      <vt:variant>
        <vt:i4>12</vt:i4>
      </vt:variant>
      <vt:variant>
        <vt:lpstr>主题</vt:lpstr>
      </vt:variant>
      <vt:variant>
        <vt:i4>10</vt:i4>
      </vt:variant>
      <vt:variant>
        <vt:lpstr>嵌入 OLE 服务器</vt:lpstr>
      </vt:variant>
      <vt:variant>
        <vt:i4>7</vt:i4>
      </vt:variant>
      <vt:variant>
        <vt:lpstr>幻灯片标题</vt:lpstr>
      </vt:variant>
      <vt:variant>
        <vt:i4>89</vt:i4>
      </vt:variant>
    </vt:vector>
  </HeadingPairs>
  <TitlesOfParts>
    <vt:vector size="118" baseType="lpstr">
      <vt:lpstr>Arial</vt:lpstr>
      <vt:lpstr>宋体</vt:lpstr>
      <vt:lpstr>Wingdings</vt:lpstr>
      <vt:lpstr>华文行楷</vt:lpstr>
      <vt:lpstr>微软雅黑</vt:lpstr>
      <vt:lpstr>黑体</vt:lpstr>
      <vt:lpstr>华文中宋</vt:lpstr>
      <vt:lpstr>Times New Roman</vt:lpstr>
      <vt:lpstr>Arial Unicode MS</vt:lpstr>
      <vt:lpstr>Symbol</vt:lpstr>
      <vt:lpstr>Tahoma</vt:lpstr>
      <vt:lpstr>Wingdings</vt:lpstr>
      <vt:lpstr>主题1</vt:lpstr>
      <vt:lpstr>1_24美金的ppt模板</vt:lpstr>
      <vt:lpstr>24美金的ppt模板_3</vt:lpstr>
      <vt:lpstr>24美金的ppt模板_4</vt:lpstr>
      <vt:lpstr>24美金的ppt模板_5</vt:lpstr>
      <vt:lpstr>1_主题1</vt:lpstr>
      <vt:lpstr>2_24美金的ppt模板</vt:lpstr>
      <vt:lpstr>1_24美金的ppt模板_3</vt:lpstr>
      <vt:lpstr>1_24美金的ppt模板_4</vt:lpstr>
      <vt:lpstr>1_24美金的ppt模板_5</vt:lpstr>
      <vt:lpstr>Equation.3</vt:lpstr>
      <vt:lpstr>Equation.3</vt:lpstr>
      <vt:lpstr>Word.Picture.8</vt:lpstr>
      <vt:lpstr>Equation.3</vt:lpstr>
      <vt:lpstr>Equation.3</vt:lpstr>
      <vt:lpstr>Equation.KSEE3</vt:lpstr>
      <vt:lpstr>Equation.KSEE3</vt:lpstr>
      <vt:lpstr>PowerPoint 演示文稿</vt:lpstr>
      <vt:lpstr>第7章 互连网络</vt:lpstr>
      <vt:lpstr>本章内容</vt:lpstr>
      <vt:lpstr>互连网络</vt:lpstr>
      <vt:lpstr>7.1 互连网络的基本概念</vt:lpstr>
      <vt:lpstr>7.1.1 互连网络的作用</vt:lpstr>
      <vt:lpstr>处理机系统的互连结构</vt:lpstr>
      <vt:lpstr>7.1.2 互连网络的特性</vt:lpstr>
      <vt:lpstr>7.1.3 互连网络的性能参数</vt:lpstr>
      <vt:lpstr>互连网络在传输方面的主要性能参数</vt:lpstr>
      <vt:lpstr>一个消息的总时延</vt:lpstr>
      <vt:lpstr>7.1.4 互连网络的表示方法</vt:lpstr>
      <vt:lpstr>常用的互连函数</vt:lpstr>
      <vt:lpstr>交换置换Exchange</vt:lpstr>
      <vt:lpstr>方体置换Cube</vt:lpstr>
      <vt:lpstr>方体置换Cube</vt:lpstr>
      <vt:lpstr>全混洗函数Perfect shuffle</vt:lpstr>
      <vt:lpstr>混洗函数shuffle</vt:lpstr>
      <vt:lpstr>全混洗函数Perfect shuffle</vt:lpstr>
      <vt:lpstr>蝶式函数Butterfly</vt:lpstr>
      <vt:lpstr>蝶式函数Butterfly</vt:lpstr>
      <vt:lpstr>反位序函数Bit Reversal</vt:lpstr>
      <vt:lpstr>移数函数A</vt:lpstr>
      <vt:lpstr>加减2i置换PM2I</vt:lpstr>
      <vt:lpstr>加减2i置换PM2I</vt:lpstr>
      <vt:lpstr>7.2 互连网络的种类</vt:lpstr>
      <vt:lpstr>7.2.1 静态互连网络</vt:lpstr>
      <vt:lpstr>线性阵列</vt:lpstr>
      <vt:lpstr>环和带弦环、循环移数网络</vt:lpstr>
      <vt:lpstr>环和带弦环、循环移数网络</vt:lpstr>
      <vt:lpstr>树形和星形、胖树形</vt:lpstr>
      <vt:lpstr>网格和环网形</vt:lpstr>
      <vt:lpstr>网格和环网形</vt:lpstr>
      <vt:lpstr>超立方体</vt:lpstr>
      <vt:lpstr>静态互连网络特征</vt:lpstr>
      <vt:lpstr>7.2.2 循环互连网络</vt:lpstr>
      <vt:lpstr>7.2.3 多级互连网络</vt:lpstr>
      <vt:lpstr>交换开关</vt:lpstr>
      <vt:lpstr>交换开关和合法状态</vt:lpstr>
      <vt:lpstr>多级互连网络拓扑结构和控制方式</vt:lpstr>
      <vt:lpstr>一种由a×b开关模块和级间连接模式ISC构成的多级网络</vt:lpstr>
      <vt:lpstr>多级立方体网</vt:lpstr>
      <vt:lpstr>多级立方体网</vt:lpstr>
      <vt:lpstr>16=2^4结点多级立方体网</vt:lpstr>
      <vt:lpstr>STARAN网络</vt:lpstr>
      <vt:lpstr>STARAN网络</vt:lpstr>
      <vt:lpstr>级控：方体置换</vt:lpstr>
      <vt:lpstr>组控：移数置换</vt:lpstr>
      <vt:lpstr>7.2.4 全排列互连网络</vt:lpstr>
      <vt:lpstr>7.2.5 全交叉开关网络</vt:lpstr>
      <vt:lpstr>练习</vt:lpstr>
      <vt:lpstr>解答</vt:lpstr>
      <vt:lpstr>解答</vt:lpstr>
      <vt:lpstr>*7.3 消息传递机制</vt:lpstr>
      <vt:lpstr>*7.3.1 四种寻径方式</vt:lpstr>
      <vt:lpstr>*存储转发寻径</vt:lpstr>
      <vt:lpstr>*虚拟直通</vt:lpstr>
      <vt:lpstr>*虫蚀寻径</vt:lpstr>
      <vt:lpstr>7.3.2 寻径算法</vt:lpstr>
      <vt:lpstr>确定寻径</vt:lpstr>
      <vt:lpstr>二维网格网络的X-Y寻径</vt:lpstr>
      <vt:lpstr>超立方体网络的E立方体寻径</vt:lpstr>
      <vt:lpstr>n=4，k=2，2元4立方体，每维坐标0，1</vt:lpstr>
      <vt:lpstr>*自适应寻径</vt:lpstr>
      <vt:lpstr>*利用虚拟通道避免死锁的自适应X-Y寻径</vt:lpstr>
      <vt:lpstr>*双通道网格网络可实现4个虚拟网络 </vt:lpstr>
      <vt:lpstr>*选播与广播寻径算法</vt:lpstr>
      <vt:lpstr>*广播与选播算法</vt:lpstr>
      <vt:lpstr>*选播</vt:lpstr>
      <vt:lpstr>*贪婪算法</vt:lpstr>
      <vt:lpstr>*贪婪算法4立方体广播树和选播树</vt:lpstr>
      <vt:lpstr>*贪婪选播算法</vt:lpstr>
      <vt:lpstr>7.4 互连网络实例</vt:lpstr>
      <vt:lpstr>7.4.1 总线互连</vt:lpstr>
      <vt:lpstr>总线结构的多处理机</vt:lpstr>
      <vt:lpstr>总线结构的多处理机</vt:lpstr>
      <vt:lpstr>*SMS多总线结构</vt:lpstr>
      <vt:lpstr>*群间总线</vt:lpstr>
      <vt:lpstr>7.4.3 间接二进制N立方体网络</vt:lpstr>
      <vt:lpstr>7.4.3 间接二进制N立方体网络</vt:lpstr>
      <vt:lpstr>7.4.4 Omega网络</vt:lpstr>
      <vt:lpstr>7.4.4 Omega网络</vt:lpstr>
      <vt:lpstr>开关设置</vt:lpstr>
      <vt:lpstr>Omega网能够实现从任意一个输入端到所有输出端的广播</vt:lpstr>
      <vt:lpstr>Omega网络</vt:lpstr>
      <vt:lpstr>练习</vt:lpstr>
      <vt:lpstr>解答</vt:lpstr>
      <vt:lpstr>解答</vt:lpstr>
      <vt:lpstr>本章重点</vt:lpstr>
    </vt:vector>
  </TitlesOfParts>
  <Company>北京理工大学计算机系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概论</dc:title>
  <dc:creator>蒋本珊</dc:creator>
  <cp:lastModifiedBy>锕狗</cp:lastModifiedBy>
  <cp:revision>319</cp:revision>
  <dcterms:created xsi:type="dcterms:W3CDTF">2003-05-27T06:14:00Z</dcterms:created>
  <dcterms:modified xsi:type="dcterms:W3CDTF">2024-12-12T10:02:07Z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40A360A5D26C4CB4B70140D864778B95_13</vt:lpwstr>
  </property>
  <property fmtid="{D5CDD505-2E9C-101B-9397-08002B2CF9AE}" pid="3" name="KSOProductBuildVer">
    <vt:lpwstr>2052-12.1.0.19302</vt:lpwstr>
  </property>
</Properties>
</file>