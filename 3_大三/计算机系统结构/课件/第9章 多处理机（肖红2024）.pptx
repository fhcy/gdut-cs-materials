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7" r:id="rId5"/>
    <p:sldMasterId id="2147483700" r:id="rId6"/>
    <p:sldMasterId id="2147483713" r:id="rId7"/>
    <p:sldMasterId id="2147483728" r:id="rId8"/>
    <p:sldMasterId id="2147483740" r:id="rId9"/>
    <p:sldMasterId id="2147483753" r:id="rId10"/>
    <p:sldMasterId id="2147483766" r:id="rId11"/>
  </p:sldMasterIdLst>
  <p:notesMasterIdLst>
    <p:notesMasterId r:id="rId13"/>
  </p:notesMasterIdLst>
  <p:handoutMasterIdLst>
    <p:handoutMasterId r:id="rId73"/>
  </p:handoutMasterIdLst>
  <p:sldIdLst>
    <p:sldId id="257" r:id="rId12"/>
    <p:sldId id="258" r:id="rId14"/>
    <p:sldId id="349" r:id="rId15"/>
    <p:sldId id="1094" r:id="rId16"/>
    <p:sldId id="1097" r:id="rId17"/>
    <p:sldId id="1142" r:id="rId18"/>
    <p:sldId id="1101" r:id="rId19"/>
    <p:sldId id="1227" r:id="rId20"/>
    <p:sldId id="1232" r:id="rId21"/>
    <p:sldId id="1102" r:id="rId22"/>
    <p:sldId id="1104" r:id="rId23"/>
    <p:sldId id="1105" r:id="rId24"/>
    <p:sldId id="1106" r:id="rId25"/>
    <p:sldId id="1107" r:id="rId26"/>
    <p:sldId id="1108" r:id="rId27"/>
    <p:sldId id="1109" r:id="rId28"/>
    <p:sldId id="1110" r:id="rId29"/>
    <p:sldId id="1144" r:id="rId30"/>
    <p:sldId id="1111" r:id="rId31"/>
    <p:sldId id="1112" r:id="rId32"/>
    <p:sldId id="1113" r:id="rId33"/>
    <p:sldId id="1114" r:id="rId34"/>
    <p:sldId id="1115" r:id="rId35"/>
    <p:sldId id="1116" r:id="rId36"/>
    <p:sldId id="1117" r:id="rId37"/>
    <p:sldId id="1118" r:id="rId38"/>
    <p:sldId id="1119" r:id="rId39"/>
    <p:sldId id="1120" r:id="rId40"/>
    <p:sldId id="970" r:id="rId41"/>
    <p:sldId id="971" r:id="rId42"/>
    <p:sldId id="972" r:id="rId43"/>
    <p:sldId id="973" r:id="rId44"/>
    <p:sldId id="1193" r:id="rId45"/>
    <p:sldId id="1194" r:id="rId46"/>
    <p:sldId id="1195" r:id="rId47"/>
    <p:sldId id="1196" r:id="rId48"/>
    <p:sldId id="1197" r:id="rId49"/>
    <p:sldId id="1198" r:id="rId50"/>
    <p:sldId id="1199" r:id="rId51"/>
    <p:sldId id="1200" r:id="rId52"/>
    <p:sldId id="1201" r:id="rId53"/>
    <p:sldId id="1202" r:id="rId54"/>
    <p:sldId id="974" r:id="rId55"/>
    <p:sldId id="975" r:id="rId56"/>
    <p:sldId id="977" r:id="rId57"/>
    <p:sldId id="1036" r:id="rId58"/>
    <p:sldId id="1037" r:id="rId59"/>
    <p:sldId id="1049" r:id="rId60"/>
    <p:sldId id="1050" r:id="rId61"/>
    <p:sldId id="1038" r:id="rId62"/>
    <p:sldId id="965" r:id="rId63"/>
    <p:sldId id="1145" r:id="rId64"/>
    <p:sldId id="1146" r:id="rId65"/>
    <p:sldId id="1150" r:id="rId66"/>
    <p:sldId id="1151" r:id="rId67"/>
    <p:sldId id="1152" r:id="rId68"/>
    <p:sldId id="1153" r:id="rId69"/>
    <p:sldId id="1147" r:id="rId70"/>
    <p:sldId id="1149" r:id="rId71"/>
    <p:sldId id="1293" r:id="rId72"/>
  </p:sldIdLst>
  <p:sldSz cx="9144000" cy="6858000" type="screen4x3"/>
  <p:notesSz cx="6858000" cy="9144000"/>
  <p:custDataLst>
    <p:tags r:id="rId78"/>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321" userDrawn="1">
          <p15:clr>
            <a:srgbClr val="A4A3A4"/>
          </p15:clr>
        </p15:guide>
        <p15:guide id="2" pos="28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ger" initials="t" lastIdx="3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0000"/>
    <a:srgbClr val="800000"/>
    <a:srgbClr val="000066"/>
    <a:srgbClr val="663300"/>
    <a:srgbClr val="9900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32"/>
    <p:restoredTop sz="92988"/>
  </p:normalViewPr>
  <p:slideViewPr>
    <p:cSldViewPr showGuides="1">
      <p:cViewPr varScale="1">
        <p:scale>
          <a:sx n="63" d="100"/>
          <a:sy n="63" d="100"/>
        </p:scale>
        <p:origin x="1140" y="72"/>
      </p:cViewPr>
      <p:guideLst>
        <p:guide orient="horz" pos="2321"/>
        <p:guide pos="284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30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8" Type="http://schemas.openxmlformats.org/officeDocument/2006/relationships/tags" Target="tags/tag95.xml"/><Relationship Id="rId77" Type="http://schemas.openxmlformats.org/officeDocument/2006/relationships/commentAuthors" Target="commentAuthors.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3.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9B7136E-35E3-4CB5-819C-A3750A4D98F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0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2BB19F-FA50-41FD-9928-F504B09AF80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24579" name="Rectangle 2"/>
          <p:cNvSpPr>
            <a:spLocks noTextEdit="1"/>
          </p:cNvSpPr>
          <p:nvPr>
            <p:ph type="sldImg"/>
          </p:nvPr>
        </p:nvSpPr>
        <p:spPr>
          <a:solidFill>
            <a:srgbClr val="FFFFFF">
              <a:alpha val="100000"/>
            </a:srgbClr>
          </a:solidFill>
        </p:spPr>
      </p:sp>
      <p:sp>
        <p:nvSpPr>
          <p:cNvPr id="2458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t>欢迎辞</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pPr fontAlgn="base"/>
            <a:r>
              <a:rPr lang="en-US" strike="noStrike" noProof="1"/>
              <a:t>Click to edit Master title style</a:t>
            </a:r>
            <a:endParaRPr lang="en-US" strike="noStrike" noProof="1"/>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r>
              <a:rPr lang="en-US"/>
              <a:t>Click to edit Master title style</a:t>
            </a:r>
            <a:endParaRPr lang="en-US"/>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bl">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01625" y="1752600"/>
            <a:ext cx="8540750" cy="4270375"/>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日期占位符 3"/>
          <p:cNvSpPr>
            <a:spLocks noGrp="1"/>
          </p:cNvSpPr>
          <p:nvPr>
            <p:ph type="dt" sz="half" idx="2"/>
          </p:nvPr>
        </p:nvSpPr>
        <p:spPr>
          <a:xfrm>
            <a:off x="301625"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3"/>
          </p:nvPr>
        </p:nvSpPr>
        <p:spPr>
          <a:xfrm>
            <a:off x="3124200" y="617220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4"/>
          </p:nvPr>
        </p:nvSpPr>
        <p:spPr>
          <a:xfrm>
            <a:off x="6553200"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1DFF3DE-CA92-4B08-B1C4-941A0785216B}" type="slidenum">
              <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6" Type="http://schemas.openxmlformats.org/officeDocument/2006/relationships/theme" Target="../theme/theme6.xml"/><Relationship Id="rId15" Type="http://schemas.openxmlformats.org/officeDocument/2006/relationships/image" Target="../media/image1.jpeg"/><Relationship Id="rId14" Type="http://schemas.openxmlformats.org/officeDocument/2006/relationships/slideLayout" Target="../slideLayouts/slideLayout74.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6.xml"/><Relationship Id="rId8" Type="http://schemas.openxmlformats.org/officeDocument/2006/relationships/slideLayout" Target="../slideLayouts/slideLayout105.xml"/><Relationship Id="rId7" Type="http://schemas.openxmlformats.org/officeDocument/2006/relationships/slideLayout" Target="../slideLayouts/slideLayout104.xml"/><Relationship Id="rId6" Type="http://schemas.openxmlformats.org/officeDocument/2006/relationships/slideLayout" Target="../slideLayouts/slideLayout103.xml"/><Relationship Id="rId5" Type="http://schemas.openxmlformats.org/officeDocument/2006/relationships/slideLayout" Target="../slideLayouts/slideLayout102.xml"/><Relationship Id="rId4" Type="http://schemas.openxmlformats.org/officeDocument/2006/relationships/slideLayout" Target="../slideLayouts/slideLayout101.xml"/><Relationship Id="rId3" Type="http://schemas.openxmlformats.org/officeDocument/2006/relationships/slideLayout" Target="../slideLayouts/slideLayout100.xml"/><Relationship Id="rId2" Type="http://schemas.openxmlformats.org/officeDocument/2006/relationships/slideLayout" Target="../slideLayouts/slideLayout99.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9.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200" b="1">
          <a:solidFill>
            <a:schemeClr val="tx2"/>
          </a:solidFill>
          <a:latin typeface="Times New Roman" panose="02020603050405020304" pitchFamily="18" charset="0"/>
          <a:ea typeface="Times New Roman" panose="02020603050405020304" pitchFamily="18" charset="0"/>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Times New Roman" panose="02020603050405020304" pitchFamily="18" charset="0"/>
          <a:ea typeface="Times New Roman" panose="02020603050405020304" pitchFamily="18" charset="0"/>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Times New Roman" panose="02020603050405020304" pitchFamily="18" charset="0"/>
          <a:ea typeface="Times New Roman" panose="02020603050405020304" pitchFamily="18"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Times New Roman" panose="02020603050405020304" pitchFamily="18" charset="0"/>
          <a:ea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Times New Roman" panose="02020603050405020304" pitchFamily="18"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p:sp>
        <p:nvSpPr>
          <p:cNvPr id="614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717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rtl="0" eaLnBrk="0" fontAlgn="base" hangingPunct="0">
        <a:spcBef>
          <a:spcPct val="0"/>
        </a:spcBef>
        <a:spcAft>
          <a:spcPct val="0"/>
        </a:spcAft>
        <a:defRPr sz="3200" b="1">
          <a:solidFill>
            <a:schemeClr val="tx2"/>
          </a:solidFill>
          <a:latin typeface="Times New Roman" panose="02020603050405020304" pitchFamily="18" charset="0"/>
          <a:ea typeface="Times New Roman" panose="02020603050405020304" pitchFamily="18" charset="0"/>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Times New Roman" panose="02020603050405020304" pitchFamily="18" charset="0"/>
          <a:ea typeface="Times New Roman" panose="02020603050405020304" pitchFamily="18" charset="0"/>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Times New Roman" panose="02020603050405020304" pitchFamily="18" charset="0"/>
          <a:ea typeface="Times New Roman" panose="02020603050405020304" pitchFamily="18"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Times New Roman" panose="02020603050405020304" pitchFamily="18" charset="0"/>
          <a:ea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ea typeface="Times New Roman" panose="02020603050405020304" pitchFamily="18"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819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921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4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3.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5.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png"/><Relationship Id="rId7" Type="http://schemas.openxmlformats.org/officeDocument/2006/relationships/tags" Target="../tags/tag11.xml"/><Relationship Id="rId6" Type="http://schemas.openxmlformats.org/officeDocument/2006/relationships/image" Target="../media/image7.png"/><Relationship Id="rId5" Type="http://schemas.openxmlformats.org/officeDocument/2006/relationships/tags" Target="../tags/tag10.xml"/><Relationship Id="rId4" Type="http://schemas.openxmlformats.org/officeDocument/2006/relationships/image" Target="../media/image6.png"/><Relationship Id="rId3" Type="http://schemas.openxmlformats.org/officeDocument/2006/relationships/tags" Target="../tags/tag9.xml"/><Relationship Id="rId2" Type="http://schemas.openxmlformats.org/officeDocument/2006/relationships/image" Target="../media/image5.png"/><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16.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22.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24.xml"/><Relationship Id="rId1" Type="http://schemas.openxmlformats.org/officeDocument/2006/relationships/tags" Target="../tags/tag23.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xml"/><Relationship Id="rId2" Type="http://schemas.openxmlformats.org/officeDocument/2006/relationships/image" Target="../media/image12.png"/><Relationship Id="rId1" Type="http://schemas.openxmlformats.org/officeDocument/2006/relationships/tags" Target="../tags/tag25.xml"/></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tags" Target="../tags/tag30.xml"/><Relationship Id="rId7" Type="http://schemas.openxmlformats.org/officeDocument/2006/relationships/image" Target="../media/image14.wmf"/><Relationship Id="rId6" Type="http://schemas.openxmlformats.org/officeDocument/2006/relationships/oleObject" Target="../embeddings/oleObject2.bin"/><Relationship Id="rId5" Type="http://schemas.openxmlformats.org/officeDocument/2006/relationships/tags" Target="../tags/tag29.xml"/><Relationship Id="rId4" Type="http://schemas.openxmlformats.org/officeDocument/2006/relationships/image" Target="../media/image13.wmf"/><Relationship Id="rId3" Type="http://schemas.openxmlformats.org/officeDocument/2006/relationships/oleObject" Target="../embeddings/oleObject1.bin"/><Relationship Id="rId25" Type="http://schemas.openxmlformats.org/officeDocument/2006/relationships/vmlDrawing" Target="../drawings/vmlDrawing1.vml"/><Relationship Id="rId24" Type="http://schemas.openxmlformats.org/officeDocument/2006/relationships/slideLayout" Target="../slideLayouts/slideLayout2.xml"/><Relationship Id="rId23" Type="http://schemas.openxmlformats.org/officeDocument/2006/relationships/image" Target="../media/image18.wmf"/><Relationship Id="rId22" Type="http://schemas.openxmlformats.org/officeDocument/2006/relationships/oleObject" Target="../embeddings/oleObject8.bin"/><Relationship Id="rId21" Type="http://schemas.openxmlformats.org/officeDocument/2006/relationships/tags" Target="../tags/tag35.xml"/><Relationship Id="rId20" Type="http://schemas.openxmlformats.org/officeDocument/2006/relationships/image" Target="../media/image17.wmf"/><Relationship Id="rId2" Type="http://schemas.openxmlformats.org/officeDocument/2006/relationships/tags" Target="../tags/tag28.xml"/><Relationship Id="rId19" Type="http://schemas.openxmlformats.org/officeDocument/2006/relationships/oleObject" Target="../embeddings/oleObject7.bin"/><Relationship Id="rId18" Type="http://schemas.openxmlformats.org/officeDocument/2006/relationships/tags" Target="../tags/tag34.xml"/><Relationship Id="rId17" Type="http://schemas.openxmlformats.org/officeDocument/2006/relationships/oleObject" Target="../embeddings/oleObject6.bin"/><Relationship Id="rId16" Type="http://schemas.openxmlformats.org/officeDocument/2006/relationships/tags" Target="../tags/tag33.xml"/><Relationship Id="rId15" Type="http://schemas.openxmlformats.org/officeDocument/2006/relationships/oleObject" Target="../embeddings/oleObject5.bin"/><Relationship Id="rId14" Type="http://schemas.openxmlformats.org/officeDocument/2006/relationships/tags" Target="../tags/tag32.xml"/><Relationship Id="rId13" Type="http://schemas.openxmlformats.org/officeDocument/2006/relationships/image" Target="../media/image16.wmf"/><Relationship Id="rId12" Type="http://schemas.openxmlformats.org/officeDocument/2006/relationships/oleObject" Target="../embeddings/oleObject4.bin"/><Relationship Id="rId11" Type="http://schemas.openxmlformats.org/officeDocument/2006/relationships/tags" Target="../tags/tag31.xml"/><Relationship Id="rId10" Type="http://schemas.openxmlformats.org/officeDocument/2006/relationships/image" Target="../media/image15.wmf"/><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tags" Target="../tags/tag39.xml"/><Relationship Id="rId7" Type="http://schemas.openxmlformats.org/officeDocument/2006/relationships/image" Target="../media/image13.wmf"/><Relationship Id="rId6" Type="http://schemas.openxmlformats.org/officeDocument/2006/relationships/oleObject" Target="../embeddings/oleObject10.bin"/><Relationship Id="rId5" Type="http://schemas.openxmlformats.org/officeDocument/2006/relationships/tags" Target="../tags/tag38.xml"/><Relationship Id="rId4" Type="http://schemas.openxmlformats.org/officeDocument/2006/relationships/image" Target="../media/image19.wmf"/><Relationship Id="rId3" Type="http://schemas.openxmlformats.org/officeDocument/2006/relationships/oleObject" Target="../embeddings/oleObject9.bin"/><Relationship Id="rId2" Type="http://schemas.openxmlformats.org/officeDocument/2006/relationships/tags" Target="../tags/tag37.xml"/><Relationship Id="rId14" Type="http://schemas.openxmlformats.org/officeDocument/2006/relationships/vmlDrawing" Target="../drawings/vmlDrawing2.vml"/><Relationship Id="rId13" Type="http://schemas.openxmlformats.org/officeDocument/2006/relationships/slideLayout" Target="../slideLayouts/slideLayout2.xml"/><Relationship Id="rId12" Type="http://schemas.openxmlformats.org/officeDocument/2006/relationships/image" Target="../media/image20.png"/><Relationship Id="rId11" Type="http://schemas.openxmlformats.org/officeDocument/2006/relationships/tags" Target="../tags/tag40.xml"/><Relationship Id="rId10" Type="http://schemas.openxmlformats.org/officeDocument/2006/relationships/image" Target="../media/image15.wmf"/><Relationship Id="rId1" Type="http://schemas.openxmlformats.org/officeDocument/2006/relationships/tags" Target="../tags/tag36.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tags" Target="../tags/tag44.xml"/><Relationship Id="rId7" Type="http://schemas.openxmlformats.org/officeDocument/2006/relationships/image" Target="../media/image22.wmf"/><Relationship Id="rId6" Type="http://schemas.openxmlformats.org/officeDocument/2006/relationships/oleObject" Target="../embeddings/oleObject13.bin"/><Relationship Id="rId5" Type="http://schemas.openxmlformats.org/officeDocument/2006/relationships/tags" Target="../tags/tag43.xml"/><Relationship Id="rId4" Type="http://schemas.openxmlformats.org/officeDocument/2006/relationships/image" Target="../media/image21.wmf"/><Relationship Id="rId3" Type="http://schemas.openxmlformats.org/officeDocument/2006/relationships/oleObject" Target="../embeddings/oleObject12.bin"/><Relationship Id="rId2" Type="http://schemas.openxmlformats.org/officeDocument/2006/relationships/tags" Target="../tags/tag42.xml"/><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23.wmf"/><Relationship Id="rId1" Type="http://schemas.openxmlformats.org/officeDocument/2006/relationships/tags" Target="../tags/tag4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4.wmf"/><Relationship Id="rId3" Type="http://schemas.openxmlformats.org/officeDocument/2006/relationships/oleObject" Target="../embeddings/oleObject15.bin"/><Relationship Id="rId2" Type="http://schemas.openxmlformats.org/officeDocument/2006/relationships/tags" Target="../tags/tag49.xml"/><Relationship Id="rId1" Type="http://schemas.openxmlformats.org/officeDocument/2006/relationships/tags" Target="../tags/tag48.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tags" Target="../tags/tag51.xml"/><Relationship Id="rId1" Type="http://schemas.openxmlformats.org/officeDocument/2006/relationships/tags" Target="../tags/tag50.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tags" Target="../tags/tag53.xml"/><Relationship Id="rId1" Type="http://schemas.openxmlformats.org/officeDocument/2006/relationships/tags" Target="../tags/tag5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tags" Target="../tags/tag57.xml"/><Relationship Id="rId1" Type="http://schemas.openxmlformats.org/officeDocument/2006/relationships/tags" Target="../tags/tag56.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59.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jpeg"/><Relationship Id="rId2" Type="http://schemas.openxmlformats.org/officeDocument/2006/relationships/tags" Target="../tags/tag61.xml"/><Relationship Id="rId1" Type="http://schemas.openxmlformats.org/officeDocument/2006/relationships/tags" Target="../tags/tag60.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jpeg"/><Relationship Id="rId2" Type="http://schemas.openxmlformats.org/officeDocument/2006/relationships/tags" Target="../tags/tag63.xml"/><Relationship Id="rId1" Type="http://schemas.openxmlformats.org/officeDocument/2006/relationships/tags" Target="../tags/tag62.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jpeg"/><Relationship Id="rId2" Type="http://schemas.openxmlformats.org/officeDocument/2006/relationships/tags" Target="../tags/tag65.xml"/><Relationship Id="rId1" Type="http://schemas.openxmlformats.org/officeDocument/2006/relationships/tags" Target="../tags/tag64.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67.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tags" Target="../tags/tag74.xml"/><Relationship Id="rId1" Type="http://schemas.openxmlformats.org/officeDocument/2006/relationships/tags" Target="../tags/tag7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tags" Target="../tags/tag77.xml"/><Relationship Id="rId1" Type="http://schemas.openxmlformats.org/officeDocument/2006/relationships/tags" Target="../tags/tag7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35.wmf"/><Relationship Id="rId3" Type="http://schemas.openxmlformats.org/officeDocument/2006/relationships/oleObject" Target="../embeddings/oleObject16.bin"/><Relationship Id="rId2" Type="http://schemas.openxmlformats.org/officeDocument/2006/relationships/tags" Target="../tags/tag80.xml"/><Relationship Id="rId1" Type="http://schemas.openxmlformats.org/officeDocument/2006/relationships/tags" Target="../tags/tag79.xml"/></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36.wmf"/><Relationship Id="rId3" Type="http://schemas.openxmlformats.org/officeDocument/2006/relationships/oleObject" Target="../embeddings/oleObject17.bin"/><Relationship Id="rId2" Type="http://schemas.openxmlformats.org/officeDocument/2006/relationships/tags" Target="../tags/tag82.xml"/><Relationship Id="rId1" Type="http://schemas.openxmlformats.org/officeDocument/2006/relationships/tags" Target="../tags/tag8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tags" Target="../tags/tag9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43205" y="1917065"/>
            <a:ext cx="8632825" cy="1599565"/>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计算机系统结构</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971550" y="2060575"/>
            <a:ext cx="7772400" cy="2520950"/>
          </a:xfrm>
        </p:spPr>
        <p:txBody>
          <a:bodyPr vert="horz" rtlCol="0">
            <a:normAutofit/>
          </a:bodyPr>
          <a:lstStyle/>
          <a:p>
            <a:pPr lvl="0" algn="l" defTabSz="914400" eaLnBrk="1" hangingPunct="1">
              <a:lnSpc>
                <a:spcPct val="140000"/>
              </a:lnSpc>
              <a:buClrTx/>
              <a:buSzTx/>
              <a:buFontTx/>
              <a:defRPr/>
            </a:pPr>
            <a:r>
              <a:rPr lang="zh-CN" altLang="en-US" sz="5400" noProof="0" dirty="0">
                <a:ln>
                  <a:noFill/>
                </a:ln>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sym typeface="+mn-ea"/>
              </a:rPr>
              <a:t>第9</a:t>
            </a:r>
            <a:r>
              <a:rPr lang="zh-CN" altLang="en-US" sz="5400" noProof="0" dirty="0">
                <a:ln>
                  <a:noFill/>
                </a:ln>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sym typeface="+mn-ea"/>
              </a:rPr>
              <a:t>章 多处理机</a:t>
            </a:r>
            <a:br>
              <a:rPr lang="zh-CN" altLang="en-US" sz="5400" noProof="0" dirty="0">
                <a:ln>
                  <a:noFill/>
                </a:ln>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sym typeface="+mn-ea"/>
              </a:rPr>
            </a:br>
            <a:r>
              <a:rPr lang="zh-CN" altLang="en-US" sz="5400" noProof="0" dirty="0">
                <a:ln>
                  <a:noFill/>
                </a:ln>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sym typeface="+mn-ea"/>
              </a:rPr>
              <a:t>       </a:t>
            </a:r>
            <a:endParaRPr lang="zh-CN" altLang="en-US" sz="5400" noProof="0" dirty="0">
              <a:ln>
                <a:noFill/>
              </a:ln>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本章内容</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39750" y="1486535"/>
            <a:ext cx="7848600" cy="4873625"/>
          </a:xfrm>
          <a:noFill/>
          <a:ln>
            <a:noFill/>
          </a:ln>
        </p:spPr>
        <p:txBody>
          <a:bodyPr/>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9.1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多处理机结构</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9.2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多处理机性能模型</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9.3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一致性</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9.4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多处理机实例</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40000"/>
              </a:lnSpc>
            </a:pP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多处理机</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26820"/>
            <a:ext cx="8396605" cy="5417820"/>
          </a:xfrm>
        </p:spPr>
        <p:txBody>
          <a:bodyPr vert="horz" wrap="square" lIns="91440" tIns="45720" rIns="91440" bIns="45720" anchor="t" anchorCtr="0"/>
          <a:p>
            <a:pPr eaLnBrk="1" hangingPunct="1"/>
            <a:r>
              <a:rPr lang="zh-CN" altLang="en-US" sz="2400" dirty="0">
                <a:latin typeface="Times New Roman" panose="02020603050405020304" pitchFamily="18" charset="0"/>
                <a:ea typeface="黑体" panose="02010609060101010101" pitchFamily="49" charset="-122"/>
                <a:sym typeface="+mn-ea"/>
              </a:rPr>
              <a:t>多处理机系统</a:t>
            </a:r>
            <a:endParaRPr lang="zh-CN" altLang="en-US" sz="24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cs typeface="+mn-ea"/>
                <a:sym typeface="+mn-ea"/>
              </a:rPr>
              <a:t>两个或两个以上处理机(包括PE和CU)</a:t>
            </a:r>
            <a:endParaRPr lang="zh-CN" altLang="en-US" sz="2000" dirty="0">
              <a:latin typeface="Times New Roman" panose="02020603050405020304" pitchFamily="18" charset="0"/>
              <a:ea typeface="黑体" panose="02010609060101010101" pitchFamily="49" charset="-122"/>
              <a:cs typeface="+mn-ea"/>
            </a:endParaRPr>
          </a:p>
          <a:p>
            <a:pPr lvl="1" eaLnBrk="1" hangingPunct="1"/>
            <a:r>
              <a:rPr lang="zh-CN" altLang="en-US" sz="2000" dirty="0">
                <a:latin typeface="Times New Roman" panose="02020603050405020304" pitchFamily="18" charset="0"/>
                <a:ea typeface="黑体" panose="02010609060101010101" pitchFamily="49" charset="-122"/>
                <a:sym typeface="+mn-ea"/>
              </a:rPr>
              <a:t>高速互连网络连接</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solidFill>
                  <a:srgbClr val="FF0000"/>
                </a:solidFill>
                <a:latin typeface="Times New Roman" panose="02020603050405020304" pitchFamily="18" charset="0"/>
                <a:ea typeface="黑体" panose="02010609060101010101" pitchFamily="49" charset="-122"/>
                <a:sym typeface="+mn-ea"/>
              </a:rPr>
              <a:t>统一的操作系统管理</a:t>
            </a:r>
            <a:endParaRPr lang="zh-CN" altLang="en-US" sz="2000" dirty="0">
              <a:solidFill>
                <a:srgbClr val="FF0000"/>
              </a:solidFill>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指令级以上级别</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任务级、作业级</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并行</a:t>
            </a:r>
            <a:endParaRPr lang="zh-CN" altLang="en-US" sz="2000" dirty="0">
              <a:latin typeface="Times New Roman" panose="02020603050405020304" pitchFamily="18" charset="0"/>
              <a:ea typeface="黑体" panose="02010609060101010101" pitchFamily="49" charset="-122"/>
            </a:endParaRPr>
          </a:p>
          <a:p>
            <a:pPr eaLnBrk="1" hangingPunct="1"/>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按照</a:t>
            </a:r>
            <a:r>
              <a:rPr lang="en-US" altLang="zh-CN" sz="2400" dirty="0">
                <a:latin typeface="Times New Roman" panose="02020603050405020304" pitchFamily="18" charset="0"/>
                <a:ea typeface="黑体" panose="02010609060101010101" pitchFamily="49" charset="-122"/>
                <a:sym typeface="+mn-ea"/>
              </a:rPr>
              <a:t>Flynn</a:t>
            </a:r>
            <a:r>
              <a:rPr lang="zh-CN" altLang="en-US" sz="2400" dirty="0">
                <a:latin typeface="Times New Roman" panose="02020603050405020304" pitchFamily="18" charset="0"/>
                <a:ea typeface="黑体" panose="02010609060101010101" pitchFamily="49" charset="-122"/>
                <a:sym typeface="+mn-ea"/>
              </a:rPr>
              <a:t>分类法，多处理机系统属于</a:t>
            </a:r>
            <a:r>
              <a:rPr lang="en-US" altLang="zh-CN" sz="2400" dirty="0">
                <a:latin typeface="Times New Roman" panose="02020603050405020304" pitchFamily="18" charset="0"/>
                <a:ea typeface="黑体" panose="02010609060101010101" pitchFamily="49" charset="-122"/>
                <a:sym typeface="+mn-ea"/>
              </a:rPr>
              <a:t>MIMD</a:t>
            </a:r>
            <a:r>
              <a:rPr lang="zh-CN" altLang="en-US" sz="2400" dirty="0">
                <a:latin typeface="Times New Roman" panose="02020603050405020304" pitchFamily="18" charset="0"/>
                <a:ea typeface="黑体" panose="02010609060101010101" pitchFamily="49" charset="-122"/>
                <a:sym typeface="+mn-ea"/>
              </a:rPr>
              <a:t>计算机</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根据内存的</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物理分布、逻辑映射、读取方式</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可以将MIMD类并行计算机系统进一步细分为</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共享内存，虚拟共享内存，和分布式内存</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三大类</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这三类并行系统所使用的编程模式有</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共享内存和消息传递</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，以及两种模式同时使用的</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混合模式</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松散</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耦合</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多处理机</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59840"/>
            <a:ext cx="8396605" cy="2169160"/>
          </a:xfrm>
        </p:spPr>
        <p:txBody>
          <a:bodyPr vert="horz" wrap="square" lIns="91440" tIns="45720" rIns="91440" bIns="45720" anchor="t" anchorCtr="0"/>
          <a:p>
            <a:pPr eaLnBrk="1" latinLnBrk="0" hangingPunct="1">
              <a:spcBef>
                <a:spcPts val="6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处理机之间的连接频带比较低</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本质上是</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分布式存储器结构</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，相比并行处理机，除数据间的联系外，还有指令间的联系</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去掉互连网络后形成多个独立的单部件(CPU, LM, IOP) 的冯·诺依曼计算机，也可看作并行处理机补齐CU</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764030" y="3482340"/>
            <a:ext cx="5420360" cy="27876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紧密</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耦合</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多处理机</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59840"/>
            <a:ext cx="8396605" cy="542734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处理机之间</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共享主存储器</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高速总线或高速开关</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连接</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主存储器有多个独立的存储模块</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能够访问任意一个存储器模块</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通过映象部件</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把全局逻辑地址变换成局部物理地址</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666875" y="2996565"/>
            <a:ext cx="5288280" cy="32943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紧密耦合多处理机模型</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39750" y="1430655"/>
            <a:ext cx="8396605" cy="502285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通过互连网络寻找合适的路径，并分解访问存储器的冲突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IOP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连接在互连网络上，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I/O</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设备与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共享主存储器</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处理机个数不能太多，几个到十几个</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紧密偶合方式要求有很高的通信频带</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采用高速互连网络</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增加存储器模块个数，一般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n&lt;m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倍之间</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每个存储器模块再分成多个小模块，以流水线方式工作</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(4)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都有自己的局部存储器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LM</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(5)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设置一个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不能切分出单部件的冯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诺依曼计算机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IOP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通过互连网络紧密联结成一个整体</a:t>
            </a:r>
            <a:endParaRPr lang="zh-CN" altLang="en-US" sz="20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rtlCol="0" anchor="t" anchorCtr="0">
            <a:spAutoFit/>
          </a:bodyPr>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访存模型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25954" name="Rectangle 3"/>
          <p:cNvSpPr>
            <a:spLocks noGrp="1"/>
          </p:cNvSpPr>
          <p:nvPr>
            <p:ph idx="1"/>
            <p:custDataLst>
              <p:tags r:id="rId1"/>
            </p:custDataLst>
          </p:nvPr>
        </p:nvSpPr>
        <p:spPr>
          <a:xfrm>
            <a:off x="558800" y="1303020"/>
            <a:ext cx="8396605" cy="4695825"/>
          </a:xfrm>
        </p:spPr>
        <p:txBody>
          <a:bodyPr vert="horz" wrap="square" lIns="91440" tIns="45720" rIns="91440" bIns="45720" anchor="t" anchorCtr="0"/>
          <a:p>
            <a:pPr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UMA（Uniform Memory Access）均匀存储訪问：</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物理存储器被全部处理器均匀共享，全部处理器对全部SM訪存时间相同，每台处理器可带有快速私有缓存，外围设备共享。</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100000"/>
              </a:lnSpc>
              <a:spcBef>
                <a:spcPts val="12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NUMA非均匀存储訪问：</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共享的SM是由物理分布式的LM逻辑构成，处理器訪存时间不一样，訪问LM或CSM（群内共享存储器）内存储器比訪问GSM快</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100000"/>
              </a:lnSpc>
              <a:spcBef>
                <a:spcPts val="12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COMA（Cache-Only MA）全快速缓存存储訪问：</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NUMA的特例、全快速缓存实现</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100000"/>
              </a:lnSpc>
              <a:spcBef>
                <a:spcPts val="12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CC-NUMA（Coherent-Cache NUMA）快速缓存一致性NUMA：</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NUMA＋快速缓存一致性协议。实际是分布共享的DSM机器</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100000"/>
              </a:lnSpc>
              <a:spcBef>
                <a:spcPts val="12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NORMA（No-Remote MA）非远程存储訪问：</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无SM，全部LM私有。通过消息传递通信</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访存模型</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467995" y="1268730"/>
            <a:ext cx="4053840" cy="223964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611505" y="3871595"/>
            <a:ext cx="3658870" cy="2472055"/>
          </a:xfrm>
          <a:prstGeom prst="rect">
            <a:avLst/>
          </a:prstGeom>
        </p:spPr>
      </p:pic>
      <p:pic>
        <p:nvPicPr>
          <p:cNvPr id="2" name="图片 1"/>
          <p:cNvPicPr>
            <a:picLocks noChangeAspect="1"/>
          </p:cNvPicPr>
          <p:nvPr>
            <p:custDataLst>
              <p:tags r:id="rId5"/>
            </p:custDataLst>
          </p:nvPr>
        </p:nvPicPr>
        <p:blipFill>
          <a:blip r:embed="rId6"/>
          <a:stretch>
            <a:fillRect/>
          </a:stretch>
        </p:blipFill>
        <p:spPr>
          <a:xfrm>
            <a:off x="4716145" y="1412875"/>
            <a:ext cx="4127500" cy="2771140"/>
          </a:xfrm>
          <a:prstGeom prst="rect">
            <a:avLst/>
          </a:prstGeom>
        </p:spPr>
      </p:pic>
      <p:pic>
        <p:nvPicPr>
          <p:cNvPr id="6" name="图片 5"/>
          <p:cNvPicPr>
            <a:picLocks noChangeAspect="1"/>
          </p:cNvPicPr>
          <p:nvPr>
            <p:custDataLst>
              <p:tags r:id="rId7"/>
            </p:custDataLst>
          </p:nvPr>
        </p:nvPicPr>
        <p:blipFill>
          <a:blip r:embed="rId8"/>
          <a:stretch>
            <a:fillRect/>
          </a:stretch>
        </p:blipFill>
        <p:spPr>
          <a:xfrm>
            <a:off x="5830570" y="4220845"/>
            <a:ext cx="2834640" cy="2167890"/>
          </a:xfrm>
          <a:prstGeom prst="rect">
            <a:avLst/>
          </a:prstGeom>
        </p:spPr>
      </p:pic>
      <p:sp>
        <p:nvSpPr>
          <p:cNvPr id="8" name="文本框 7"/>
          <p:cNvSpPr txBox="1"/>
          <p:nvPr/>
        </p:nvSpPr>
        <p:spPr>
          <a:xfrm>
            <a:off x="4643755" y="5013325"/>
            <a:ext cx="1143635" cy="368300"/>
          </a:xfrm>
          <a:prstGeom prst="rect">
            <a:avLst/>
          </a:prstGeom>
          <a:noFill/>
        </p:spPr>
        <p:txBody>
          <a:bodyPr wrap="square" rtlCol="0" anchor="t">
            <a:spAutoFit/>
          </a:bodyPr>
          <a:p>
            <a:pPr lvl="0" algn="l">
              <a:buClrTx/>
              <a:buSzTx/>
              <a:buFontTx/>
            </a:pPr>
            <a:r>
              <a:rPr lang="zh-CN" altLang="en-US" sz="1800" b="1">
                <a:solidFill>
                  <a:schemeClr val="tx1"/>
                </a:solidFill>
                <a:sym typeface="+mn-ea"/>
              </a:rPr>
              <a:t>NORMA</a:t>
            </a:r>
            <a:endParaRPr lang="zh-CN" altLang="en-US" sz="1800" b="1">
              <a:solidFill>
                <a:schemeClr val="tx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rtlCol="0" anchor="t" anchorCtr="0">
            <a:spAutoFit/>
          </a:bodyPr>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9.1.2 多处理机系统的特点</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25954" name="Rectangle 3"/>
          <p:cNvSpPr>
            <a:spLocks noGrp="1"/>
          </p:cNvSpPr>
          <p:nvPr>
            <p:ph idx="1"/>
            <p:custDataLst>
              <p:tags r:id="rId1"/>
            </p:custDataLst>
          </p:nvPr>
        </p:nvSpPr>
        <p:spPr>
          <a:xfrm>
            <a:off x="558800" y="1303020"/>
            <a:ext cx="8396605" cy="4695825"/>
          </a:xfrm>
        </p:spPr>
        <p:txBody>
          <a:bodyPr vert="horz" wrap="square" lIns="91440" tIns="45720" rIns="91440" bIns="45720" anchor="t" anchorCtr="0"/>
          <a:p>
            <a:pPr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有多个控制器</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有多个指令部件，对各个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实现单独的控制，而又相互协调配合</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8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多处理机的外围设备被</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多个</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PE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，指令流）分别调用</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通过互连网络转接</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SIMD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处理机外设统一访问主存进行程序和数组的有规则的传送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spcBef>
                <a:spcPts val="1800"/>
              </a:spcBef>
            </a:pPr>
            <a:r>
              <a:rPr lang="zh-CN" altLang="en-US" sz="2000" dirty="0">
                <a:latin typeface="Times New Roman" panose="02020603050405020304" pitchFamily="18" charset="0"/>
                <a:ea typeface="黑体" panose="02010609060101010101" pitchFamily="49" charset="-122"/>
                <a:sym typeface="+mn-ea"/>
              </a:rPr>
              <a:t>多处理机的互连网络须满足</a:t>
            </a:r>
            <a:r>
              <a:rPr lang="zh-CN" altLang="en-US" sz="2000" dirty="0">
                <a:solidFill>
                  <a:srgbClr val="FF0000"/>
                </a:solidFill>
                <a:latin typeface="Times New Roman" panose="02020603050405020304" pitchFamily="18" charset="0"/>
                <a:ea typeface="黑体" panose="02010609060101010101" pitchFamily="49" charset="-122"/>
                <a:sym typeface="+mn-ea"/>
              </a:rPr>
              <a:t>各个</a:t>
            </a:r>
            <a:r>
              <a:rPr lang="en-US" altLang="zh-CN" sz="2000" dirty="0">
                <a:solidFill>
                  <a:srgbClr val="FF0000"/>
                </a:solidFill>
                <a:latin typeface="Times New Roman" panose="02020603050405020304" pitchFamily="18" charset="0"/>
                <a:ea typeface="黑体" panose="02010609060101010101" pitchFamily="49" charset="-122"/>
                <a:sym typeface="+mn-ea"/>
              </a:rPr>
              <a:t>PE</a:t>
            </a:r>
            <a:r>
              <a:rPr lang="zh-CN" altLang="en-US" sz="2000" dirty="0">
                <a:solidFill>
                  <a:srgbClr val="FF0000"/>
                </a:solidFill>
                <a:latin typeface="Times New Roman" panose="02020603050405020304" pitchFamily="18" charset="0"/>
                <a:ea typeface="黑体" panose="02010609060101010101" pitchFamily="49" charset="-122"/>
                <a:sym typeface="+mn-ea"/>
              </a:rPr>
              <a:t>随机访问主存储器</a:t>
            </a:r>
            <a:r>
              <a:rPr lang="zh-CN" altLang="en-US" sz="2000" dirty="0">
                <a:latin typeface="Times New Roman" panose="02020603050405020304" pitchFamily="18" charset="0"/>
                <a:ea typeface="黑体" panose="02010609060101010101" pitchFamily="49" charset="-122"/>
                <a:sym typeface="+mn-ea"/>
              </a:rPr>
              <a:t>的要求</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多处理机中存储器的数据和存储空间都要被多个处理机共享</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利用存储映射部件满足存储器动态分配和处理机共享数据块的需要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endParaRPr lang="zh-CN" altLang="en-US" sz="18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9.1.2 多处理机系统的特点</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74750"/>
            <a:ext cx="8396605" cy="5379720"/>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结构灵活</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SIMD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处理机：专用，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数很多</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几千个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，固定有限的通信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多处理机：通用，几十个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，高速灵活的通信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程序并行性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SIMD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处理机的并行性存在于指令内部，识别比较容易</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多处理机的</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并行性存在于指令外部、多个任务之间，识别难度较大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一个简单的例子</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Y = A+B*C*D/E+F</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用两个处理机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3" eaLnBrk="1" hangingPunct="1"/>
            <a:r>
              <a:rPr lang="en-US" altLang="zh-CN" sz="2000" b="1" dirty="0">
                <a:latin typeface="Times New Roman" panose="02020603050405020304" pitchFamily="18" charset="0"/>
                <a:ea typeface="黑体" panose="02010609060101010101" pitchFamily="49" charset="-122"/>
                <a:cs typeface="Times New Roman" panose="02020603050405020304" pitchFamily="18" charset="0"/>
                <a:sym typeface="+mn-ea"/>
              </a:rPr>
              <a:t>CPU1</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sym typeface="+mn-ea"/>
              </a:rPr>
              <a:t>CPU2</a:t>
            </a:r>
            <a:endParaRPr lang="en-US" altLang="zh-CN" sz="2000" b="1" dirty="0">
              <a:latin typeface="Times New Roman" panose="02020603050405020304" pitchFamily="18" charset="0"/>
              <a:ea typeface="黑体" panose="02010609060101010101" pitchFamily="49" charset="-122"/>
              <a:cs typeface="Times New Roman" panose="02020603050405020304" pitchFamily="18" charset="0"/>
            </a:endParaRPr>
          </a:p>
          <a:p>
            <a:pPr lvl="3"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B*C			D/E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3"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A+F			B*C*D/E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3"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A+B*C*D/E+F</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9.1.2 多处理机系统的特点</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467360" y="1205865"/>
            <a:ext cx="8396605" cy="528256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并行任务派生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SIMD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处理机把同种操作集中，由指令直接启动各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同时工作</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用专门的指令来表示并发关系</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，一个任务开始执行时能够派生出与它并行执行的另一些任务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进程同步</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SIMD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处理机仅一个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，自然是同步的</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多处理机执行不同的指令，工作进度不会也不必保持相同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要采取特殊的同步措施来保持程序所要求的正确顺序</a:t>
            </a:r>
            <a:endPar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资源分配和进程调度</a:t>
            </a:r>
            <a:endParaRPr lang="zh-CN" altLang="en-US" sz="2000" dirty="0">
              <a:latin typeface="Times New Roman" panose="02020603050405020304" pitchFamily="18" charset="0"/>
              <a:ea typeface="黑体" panose="02010609060101010101" pitchFamily="49" charset="-122"/>
            </a:endParaRPr>
          </a:p>
          <a:p>
            <a:pPr lvl="1" eaLnBrk="1" hangingPunct="1"/>
            <a:r>
              <a:rPr lang="en-US" altLang="zh-CN" sz="2000" dirty="0">
                <a:latin typeface="Times New Roman" panose="02020603050405020304" pitchFamily="18" charset="0"/>
                <a:ea typeface="黑体" panose="02010609060101010101" pitchFamily="49" charset="-122"/>
                <a:sym typeface="+mn-ea"/>
              </a:rPr>
              <a:t>SIMD</a:t>
            </a:r>
            <a:r>
              <a:rPr lang="zh-CN" altLang="en-US" sz="2000" dirty="0">
                <a:latin typeface="Times New Roman" panose="02020603050405020304" pitchFamily="18" charset="0"/>
                <a:ea typeface="黑体" panose="02010609060101010101" pitchFamily="49" charset="-122"/>
                <a:sym typeface="+mn-ea"/>
              </a:rPr>
              <a:t>处理机的</a:t>
            </a:r>
            <a:r>
              <a:rPr lang="en-US" altLang="zh-CN" sz="2000" dirty="0">
                <a:latin typeface="Times New Roman" panose="02020603050405020304" pitchFamily="18" charset="0"/>
                <a:ea typeface="黑体" panose="02010609060101010101" pitchFamily="49" charset="-122"/>
                <a:sym typeface="+mn-ea"/>
              </a:rPr>
              <a:t>PE</a:t>
            </a:r>
            <a:r>
              <a:rPr lang="zh-CN" altLang="en-US" sz="2000" dirty="0">
                <a:latin typeface="Times New Roman" panose="02020603050405020304" pitchFamily="18" charset="0"/>
                <a:ea typeface="黑体" panose="02010609060101010101" pitchFamily="49" charset="-122"/>
                <a:sym typeface="+mn-ea"/>
              </a:rPr>
              <a:t>是固定的，采用屏蔽手段改变实际参加操作的</a:t>
            </a:r>
            <a:r>
              <a:rPr lang="en-US" altLang="zh-CN" sz="2000" dirty="0">
                <a:latin typeface="Times New Roman" panose="02020603050405020304" pitchFamily="18" charset="0"/>
                <a:ea typeface="黑体" panose="02010609060101010101" pitchFamily="49" charset="-122"/>
                <a:sym typeface="+mn-ea"/>
              </a:rPr>
              <a:t>PE</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多处理机执行并发任务，需用处理机的数目不固定，各个处理机进入或退出任务的时刻不同，所需共享资源的</a:t>
            </a:r>
            <a:r>
              <a:rPr lang="zh-CN" altLang="en-US" sz="2000" dirty="0">
                <a:latin typeface="Times New Roman" panose="02020603050405020304" pitchFamily="18" charset="0"/>
                <a:ea typeface="黑体" panose="02010609060101010101" pitchFamily="49" charset="-122"/>
                <a:sym typeface="+mn-ea"/>
              </a:rPr>
              <a:t>种类、数量随时变化</a:t>
            </a:r>
            <a:endParaRPr lang="zh-CN" altLang="en-US" sz="2000" dirty="0">
              <a:latin typeface="Times New Roman" panose="02020603050405020304" pitchFamily="18" charset="0"/>
              <a:ea typeface="黑体" panose="02010609060101010101" pitchFamily="49" charset="-122"/>
            </a:endParaRPr>
          </a:p>
          <a:p>
            <a:pPr lvl="2" eaLnBrk="1" hangingPunct="1"/>
            <a:r>
              <a:rPr lang="zh-CN" altLang="en-US" sz="1800" dirty="0">
                <a:solidFill>
                  <a:srgbClr val="FF0000"/>
                </a:solidFill>
                <a:latin typeface="Times New Roman" panose="02020603050405020304" pitchFamily="18" charset="0"/>
                <a:ea typeface="黑体" panose="02010609060101010101" pitchFamily="49" charset="-122"/>
                <a:sym typeface="+mn-ea"/>
              </a:rPr>
              <a:t>资源分配和进程调度</a:t>
            </a:r>
            <a:r>
              <a:rPr lang="zh-CN" altLang="en-US" sz="1800" dirty="0">
                <a:latin typeface="Times New Roman" panose="02020603050405020304" pitchFamily="18" charset="0"/>
                <a:ea typeface="黑体" panose="02010609060101010101" pitchFamily="49" charset="-122"/>
                <a:sym typeface="+mn-ea"/>
              </a:rPr>
              <a:t>问题，对整个系统的效率有很大的影响</a:t>
            </a:r>
            <a:endParaRPr lang="zh-CN" altLang="en-US" sz="1800" dirty="0">
              <a:latin typeface="Times New Roman" panose="02020603050405020304" pitchFamily="18" charset="0"/>
              <a:ea typeface="黑体" panose="02010609060101010101" pitchFamily="49" charset="-122"/>
            </a:endParaRPr>
          </a:p>
          <a:p>
            <a:pPr lvl="2" eaLnBrk="1" hangingPunct="1"/>
            <a:endPar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9.2 多处理机性能模型</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3175"/>
            <a:ext cx="8396605" cy="5177155"/>
          </a:xfrm>
        </p:spPr>
        <p:txBody>
          <a:bodyPr vert="horz" wrap="square" lIns="91440" tIns="45720" rIns="91440" bIns="45720" anchor="t" anchorCtr="0"/>
          <a:p>
            <a:pPr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引起峰值性能下降的原因</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因</a:t>
            </a:r>
            <a:r>
              <a:rPr lang="zh-CN" altLang="en-US" sz="2000" dirty="0">
                <a:solidFill>
                  <a:srgbClr val="FF0000"/>
                </a:solidFill>
                <a:latin typeface="Times New Roman" panose="02020603050405020304" pitchFamily="18" charset="0"/>
                <a:ea typeface="黑体" panose="02010609060101010101" pitchFamily="49" charset="-122"/>
                <a:sym typeface="+mn-ea"/>
              </a:rPr>
              <a:t>处理机间通信</a:t>
            </a:r>
            <a:r>
              <a:rPr lang="zh-CN" altLang="en-US" sz="2000" dirty="0">
                <a:latin typeface="Times New Roman" panose="02020603050405020304" pitchFamily="18" charset="0"/>
                <a:ea typeface="黑体" panose="02010609060101010101" pitchFamily="49" charset="-122"/>
                <a:sym typeface="+mn-ea"/>
              </a:rPr>
              <a:t>而产生的延迟</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一台处理机与其它处理机</a:t>
            </a:r>
            <a:r>
              <a:rPr lang="zh-CN" altLang="en-US" sz="2000" dirty="0">
                <a:solidFill>
                  <a:srgbClr val="FF0000"/>
                </a:solidFill>
                <a:latin typeface="Times New Roman" panose="02020603050405020304" pitchFamily="18" charset="0"/>
                <a:ea typeface="黑体" panose="02010609060101010101" pitchFamily="49" charset="-122"/>
                <a:sym typeface="+mn-ea"/>
              </a:rPr>
              <a:t>同步</a:t>
            </a:r>
            <a:r>
              <a:rPr lang="zh-CN" altLang="en-US" sz="2000" dirty="0">
                <a:latin typeface="Times New Roman" panose="02020603050405020304" pitchFamily="18" charset="0"/>
                <a:ea typeface="黑体" panose="02010609060101010101" pitchFamily="49" charset="-122"/>
                <a:sym typeface="+mn-ea"/>
              </a:rPr>
              <a:t>所需的开销</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没有足够多任务时，一台或多台处理机处于空闲状态</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由于一台或多台处理机执行无用的工作</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sym typeface="+mn-ea"/>
              </a:rPr>
              <a:t>(5)</a:t>
            </a:r>
            <a:r>
              <a:rPr lang="zh-CN" altLang="en-US" sz="2000" dirty="0">
                <a:solidFill>
                  <a:srgbClr val="FF0000"/>
                </a:solidFill>
                <a:latin typeface="Times New Roman" panose="02020603050405020304" pitchFamily="18" charset="0"/>
                <a:ea typeface="黑体" panose="02010609060101010101" pitchFamily="49" charset="-122"/>
                <a:sym typeface="+mn-ea"/>
              </a:rPr>
              <a:t>系统控制和操作调度</a:t>
            </a:r>
            <a:r>
              <a:rPr lang="zh-CN" altLang="en-US" sz="2000" dirty="0">
                <a:latin typeface="Times New Roman" panose="02020603050405020304" pitchFamily="18" charset="0"/>
                <a:ea typeface="黑体" panose="02010609060101010101" pitchFamily="49" charset="-122"/>
                <a:sym typeface="+mn-ea"/>
              </a:rPr>
              <a:t>所需开销</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827405" y="4004945"/>
            <a:ext cx="7051040" cy="2257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R/C比值</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88415"/>
            <a:ext cx="8396605" cy="4877435"/>
          </a:xfrm>
        </p:spPr>
        <p:txBody>
          <a:bodyPr vert="horz" wrap="square" lIns="91440" tIns="45720" rIns="91440" bIns="45720" anchor="t" anchorCtr="0"/>
          <a:p>
            <a:pPr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并行性在很大程度上依赖于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比值</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其中：</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代表程序执行时间，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代表通信开销</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通常：</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比值小，并行性低。</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比值大，并行性高</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如果把作业分解成较大的块，就能得到较大的R/C值，但是所得到的并行性比最大可能的并行性要小得多</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比值是衡量任务粒度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(Granularity)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大小的尺度</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粗粒度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(Coarsegrain)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并行时，</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比值比较大，通信开销小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细粒度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(Finegrain)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并行时，</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比值比较小，通信开销大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细粒度并行性需要的处理机多，粗粒度并行性需要的处理机少</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细粒度并行：把一个程序尽可能地分解成能并行执行的小任务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在极端情况下，一个小任务只完成一个操作</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9.2.1 基本模型</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415415"/>
            <a:ext cx="8396605" cy="475043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假设有一个包含</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个任务</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的应用程序，希望在一个由</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台处理机</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组成的系统上以最快的速度执行这个程序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考虑一个仅有两台处理机的系统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假设（获得初步结论，然后放宽假设，观察性能如何变化）</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每个任务的执行时间为R个单位时间</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两个任务不在同一台处理机时，其通</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信所需开销为C个单位时间</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2"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两个任务在同一台处理机时，通信所需的额外开销为0</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应用程序在两台处理机系统上运行分配方法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69035"/>
            <a:ext cx="8396605" cy="499681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全部任务都分配给一台处理机而另一台空闲</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通信开销最小，但没有利用并行性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algn="l" eaLnBrk="1" latinLnBrk="0" hangingPunct="1">
              <a:spcBef>
                <a:spcPts val="1200"/>
              </a:spcBef>
              <a:buSzTx/>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按不同比例将任务分配给两台处理机</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algn="l" eaLnBrk="1" latinLnBrk="0" hangingPunct="1">
              <a:spcBef>
                <a:spcPts val="600"/>
              </a:spcBef>
              <a:buSzTx/>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总处理时间是执行时间和额外开销时间之和</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CPU1	CPU2</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	0</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M-1	1</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M-2	2</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0	M</a:t>
            </a:r>
            <a:endParaRPr lang="en-US" altLang="zh-CN" sz="171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marL="0" indent="0" eaLnBrk="1" latinLnBrk="0" hangingPunct="1">
              <a:spcBef>
                <a:spcPts val="1200"/>
              </a:spcBef>
              <a:buNone/>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C表示用于通信的时间，它还包括系统所有其它额外开销</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某些情况下，系统的额外开销的操作可与计算过程重叠进行</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如处理机在执行指令的同时能通过I/O接口进行通信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algn="l" eaLnBrk="1" latinLnBrk="0" hangingPunct="1">
              <a:spcBef>
                <a:spcPts val="600"/>
              </a:spcBef>
              <a:buSzTx/>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并不是所有的额外开销都可以被屏蔽掉</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程序的总处理时间</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88415"/>
            <a:ext cx="8396605" cy="4877435"/>
          </a:xfrm>
        </p:spPr>
        <p:txBody>
          <a:bodyPr vert="horz" wrap="square" lIns="91440" tIns="45720" rIns="91440" bIns="45720" anchor="t" anchorCtr="0"/>
          <a:p>
            <a:pPr eaLnBrk="1" latinLnBrk="0" hangingPunct="1">
              <a:spcBef>
                <a:spcPts val="6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一个程序的总处理时间</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总处理时间=</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Rmax(M-K，K)+C(M-K)K</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		(9.1)</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个任务</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的应用程序，在由</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台处理机</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组成的系统执行</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K为任务分配参数</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C表示用于通信的时间</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每个任务的执行时间为R个单位</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总处理时间是两个时间的和</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一个是执行时间，另一个是用于通信和其它额外开销的时间</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第二项表示额外开销时间与通信次数成正比例关系</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通信次数与任务分配方法有关</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第一项是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的线性函数，第二项是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的二次函数</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两种不同R/C比值的并行执行时间</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88415"/>
            <a:ext cx="8396605" cy="1360170"/>
          </a:xfrm>
        </p:spPr>
        <p:txBody>
          <a:bodyPr vert="horz" wrap="square" lIns="91440" tIns="45720" rIns="91440" bIns="45720" anchor="t" anchorCtr="0"/>
          <a:p>
            <a:pPr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对于该模型的结论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R/C＜M/2时，所有任务分配给同一台处理机能使总处理时间最小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R/C＞M/2时，任务平均地分配给两台处理机能使总处理时间最小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9941" name="Picture 4" descr="P-9-2-1"/>
          <p:cNvPicPr>
            <a:picLocks noChangeAspect="1"/>
          </p:cNvPicPr>
          <p:nvPr>
            <p:custDataLst>
              <p:tags r:id="rId2"/>
            </p:custDataLst>
          </p:nvPr>
        </p:nvPicPr>
        <p:blipFill>
          <a:blip r:embed="rId3"/>
          <a:stretch>
            <a:fillRect/>
          </a:stretch>
        </p:blipFill>
        <p:spPr>
          <a:xfrm>
            <a:off x="558800" y="2764790"/>
            <a:ext cx="8118475" cy="359791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9.2.2 N台处理机系统的基本模型</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1268095"/>
            <a:ext cx="8281670" cy="880110"/>
          </a:xfrm>
        </p:spPr>
        <p:txBody>
          <a:bodyPr vert="horz" wrap="square" lIns="91440" tIns="45720" rIns="91440" bIns="45720" anchor="t" anchorCtr="0"/>
          <a:p>
            <a:pPr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个任务分配给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台处理机，求总处理时间的最小值</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实际的最小值发生在极端分配情况下，或者将所有的任务集中在一台处理机上，或者将任务平均分配给所有处理机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平均分配方法</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个任务平均分给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4" name="图片 3"/>
          <p:cNvPicPr>
            <a:picLocks noChangeAspect="1"/>
          </p:cNvPicPr>
          <p:nvPr>
            <p:custDataLst>
              <p:tags r:id="rId2"/>
            </p:custDataLst>
          </p:nvPr>
        </p:nvPicPr>
        <p:blipFill>
          <a:blip r:embed="rId3"/>
          <a:stretch>
            <a:fillRect/>
          </a:stretch>
        </p:blipFill>
        <p:spPr>
          <a:xfrm>
            <a:off x="1155700" y="3429000"/>
            <a:ext cx="6638925" cy="2959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11个任务平均分给5台处理机(P)</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755650" y="1124585"/>
            <a:ext cx="7747000" cy="3675380"/>
          </a:xfrm>
          <a:prstGeom prst="rect">
            <a:avLst/>
          </a:prstGeom>
        </p:spPr>
      </p:pic>
      <p:sp>
        <p:nvSpPr>
          <p:cNvPr id="125954" name="Rectangle 3"/>
          <p:cNvSpPr>
            <a:spLocks noGrp="1"/>
          </p:cNvSpPr>
          <p:nvPr>
            <p:ph idx="1"/>
            <p:custDataLst>
              <p:tags r:id="rId3"/>
            </p:custDataLst>
          </p:nvPr>
        </p:nvSpPr>
        <p:spPr>
          <a:xfrm>
            <a:off x="396240" y="4666615"/>
            <a:ext cx="8281670" cy="108267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最大任务数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完全均分，每个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个任务，多出的一个分给其中任一个</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不超出最大任务数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，往前推，若干个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，其余为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最大任务数尽量小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----&gt;R</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尽量往前推，不足最大任务数的余数分给一个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P----&gt;C</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2305" cy="634365"/>
          </a:xfrm>
        </p:spPr>
        <p:txBody>
          <a:bodyPr vert="horz" wrap="square" lIns="91440" tIns="45720" rIns="91440" bIns="45720" anchor="t" anchorCtr="0">
            <a:noAutofit/>
          </a:bodyPr>
          <a:p>
            <a:pPr algn="l" eaLnBrk="1" hangingPunct="1">
              <a:buClrTx/>
              <a:buSzTx/>
              <a:buFontTx/>
            </a:pP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M个任务平均分配给N台处理机的最佳分配方法</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10005"/>
            <a:ext cx="8396605" cy="473646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最大任务数每台分                 个任务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分得最大任务数的有                        台处理机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M/N ≠ 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则另有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台处理机分得剩下的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                           个任务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剩下的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台处理机不分配任何任务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处理机任务数有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个取值：</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101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个任务平均分给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50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每台分给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33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另有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台处理机分给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101 mod 3 =2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剩下的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50-33-1=16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台处理机不分配任务</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43014" name="Object 8"/>
          <p:cNvGraphicFramePr>
            <a:graphicFrameLocks noChangeAspect="1"/>
          </p:cNvGraphicFramePr>
          <p:nvPr>
            <p:custDataLst>
              <p:tags r:id="rId2"/>
            </p:custDataLst>
          </p:nvPr>
        </p:nvGraphicFramePr>
        <p:xfrm>
          <a:off x="2987675" y="1299210"/>
          <a:ext cx="979170" cy="419735"/>
        </p:xfrm>
        <a:graphic>
          <a:graphicData uri="http://schemas.openxmlformats.org/presentationml/2006/ole">
            <mc:AlternateContent xmlns:mc="http://schemas.openxmlformats.org/markup-compatibility/2006">
              <mc:Choice xmlns:v="urn:schemas-microsoft-com:vml" Requires="v">
                <p:oleObj spid="_x0000_s3078" name="" r:id="rId3" imgW="533400" imgH="228600" progId="Equation.3">
                  <p:embed/>
                </p:oleObj>
              </mc:Choice>
              <mc:Fallback>
                <p:oleObj name="" r:id="rId3" imgW="533400" imgH="228600" progId="Equation.3">
                  <p:embed/>
                  <p:pic>
                    <p:nvPicPr>
                      <p:cNvPr id="0" name="图片 3077"/>
                      <p:cNvPicPr/>
                      <p:nvPr/>
                    </p:nvPicPr>
                    <p:blipFill>
                      <a:blip r:embed="rId4"/>
                      <a:stretch>
                        <a:fillRect/>
                      </a:stretch>
                    </p:blipFill>
                    <p:spPr>
                      <a:xfrm>
                        <a:off x="2987675" y="1299210"/>
                        <a:ext cx="979170" cy="419735"/>
                      </a:xfrm>
                      <a:prstGeom prst="rect">
                        <a:avLst/>
                      </a:prstGeom>
                      <a:noFill/>
                      <a:ln w="38100">
                        <a:noFill/>
                        <a:miter/>
                      </a:ln>
                    </p:spPr>
                  </p:pic>
                </p:oleObj>
              </mc:Fallback>
            </mc:AlternateContent>
          </a:graphicData>
        </a:graphic>
      </p:graphicFrame>
      <p:graphicFrame>
        <p:nvGraphicFramePr>
          <p:cNvPr id="43013" name="Object 6"/>
          <p:cNvGraphicFramePr>
            <a:graphicFrameLocks noChangeAspect="1"/>
          </p:cNvGraphicFramePr>
          <p:nvPr>
            <p:custDataLst>
              <p:tags r:id="rId5"/>
            </p:custDataLst>
          </p:nvPr>
        </p:nvGraphicFramePr>
        <p:xfrm>
          <a:off x="3347720" y="1718945"/>
          <a:ext cx="1427480" cy="374015"/>
        </p:xfrm>
        <a:graphic>
          <a:graphicData uri="http://schemas.openxmlformats.org/presentationml/2006/ole">
            <mc:AlternateContent xmlns:mc="http://schemas.openxmlformats.org/markup-compatibility/2006">
              <mc:Choice xmlns:v="urn:schemas-microsoft-com:vml" Requires="v">
                <p:oleObj spid="_x0000_s3077" name="" r:id="rId6" imgW="876300" imgH="228600" progId="Equation.3">
                  <p:embed/>
                </p:oleObj>
              </mc:Choice>
              <mc:Fallback>
                <p:oleObj name="" r:id="rId6" imgW="876300" imgH="228600" progId="Equation.3">
                  <p:embed/>
                  <p:pic>
                    <p:nvPicPr>
                      <p:cNvPr id="0" name="图片 3076"/>
                      <p:cNvPicPr/>
                      <p:nvPr/>
                    </p:nvPicPr>
                    <p:blipFill>
                      <a:blip r:embed="rId7"/>
                      <a:stretch>
                        <a:fillRect/>
                      </a:stretch>
                    </p:blipFill>
                    <p:spPr>
                      <a:xfrm>
                        <a:off x="3347720" y="1718945"/>
                        <a:ext cx="1427480" cy="374015"/>
                      </a:xfrm>
                      <a:prstGeom prst="rect">
                        <a:avLst/>
                      </a:prstGeom>
                      <a:noFill/>
                      <a:ln w="38100">
                        <a:noFill/>
                        <a:miter/>
                      </a:ln>
                    </p:spPr>
                  </p:pic>
                </p:oleObj>
              </mc:Fallback>
            </mc:AlternateContent>
          </a:graphicData>
        </a:graphic>
      </p:graphicFrame>
      <p:graphicFrame>
        <p:nvGraphicFramePr>
          <p:cNvPr id="43015" name="Object 10"/>
          <p:cNvGraphicFramePr>
            <a:graphicFrameLocks noChangeAspect="1"/>
          </p:cNvGraphicFramePr>
          <p:nvPr>
            <p:custDataLst>
              <p:tags r:id="rId8"/>
            </p:custDataLst>
          </p:nvPr>
        </p:nvGraphicFramePr>
        <p:xfrm>
          <a:off x="4572000" y="2352675"/>
          <a:ext cx="1889760" cy="431800"/>
        </p:xfrm>
        <a:graphic>
          <a:graphicData uri="http://schemas.openxmlformats.org/presentationml/2006/ole">
            <mc:AlternateContent xmlns:mc="http://schemas.openxmlformats.org/markup-compatibility/2006">
              <mc:Choice xmlns:v="urn:schemas-microsoft-com:vml" Requires="v">
                <p:oleObj spid="_x0000_s3079" name="" r:id="rId9" imgW="1002665" imgH="228600" progId="Equation.3">
                  <p:embed/>
                </p:oleObj>
              </mc:Choice>
              <mc:Fallback>
                <p:oleObj name="" r:id="rId9" imgW="1002665" imgH="228600" progId="Equation.3">
                  <p:embed/>
                  <p:pic>
                    <p:nvPicPr>
                      <p:cNvPr id="0" name="图片 3078"/>
                      <p:cNvPicPr/>
                      <p:nvPr/>
                    </p:nvPicPr>
                    <p:blipFill>
                      <a:blip r:embed="rId10"/>
                      <a:stretch>
                        <a:fillRect/>
                      </a:stretch>
                    </p:blipFill>
                    <p:spPr>
                      <a:xfrm>
                        <a:off x="4572000" y="2352675"/>
                        <a:ext cx="1889760" cy="431800"/>
                      </a:xfrm>
                      <a:prstGeom prst="rect">
                        <a:avLst/>
                      </a:prstGeom>
                      <a:noFill/>
                      <a:ln w="38100">
                        <a:noFill/>
                        <a:miter/>
                      </a:ln>
                    </p:spPr>
                  </p:pic>
                </p:oleObj>
              </mc:Fallback>
            </mc:AlternateContent>
          </a:graphicData>
        </a:graphic>
      </p:graphicFrame>
      <p:graphicFrame>
        <p:nvGraphicFramePr>
          <p:cNvPr id="43016" name="Object 12"/>
          <p:cNvGraphicFramePr>
            <a:graphicFrameLocks noChangeAspect="1"/>
          </p:cNvGraphicFramePr>
          <p:nvPr>
            <p:custDataLst>
              <p:tags r:id="rId11"/>
            </p:custDataLst>
          </p:nvPr>
        </p:nvGraphicFramePr>
        <p:xfrm>
          <a:off x="1819910" y="2806065"/>
          <a:ext cx="2233295" cy="380365"/>
        </p:xfrm>
        <a:graphic>
          <a:graphicData uri="http://schemas.openxmlformats.org/presentationml/2006/ole">
            <mc:AlternateContent xmlns:mc="http://schemas.openxmlformats.org/markup-compatibility/2006">
              <mc:Choice xmlns:v="urn:schemas-microsoft-com:vml" Requires="v">
                <p:oleObj spid="_x0000_s3080" name="" r:id="rId12" imgW="1346200" imgH="228600" progId="Equation.3">
                  <p:embed/>
                </p:oleObj>
              </mc:Choice>
              <mc:Fallback>
                <p:oleObj name="" r:id="rId12" imgW="1346200" imgH="228600" progId="Equation.3">
                  <p:embed/>
                  <p:pic>
                    <p:nvPicPr>
                      <p:cNvPr id="0" name="图片 3079"/>
                      <p:cNvPicPr/>
                      <p:nvPr/>
                    </p:nvPicPr>
                    <p:blipFill>
                      <a:blip r:embed="rId13"/>
                      <a:stretch>
                        <a:fillRect/>
                      </a:stretch>
                    </p:blipFill>
                    <p:spPr>
                      <a:xfrm>
                        <a:off x="1819910" y="2806065"/>
                        <a:ext cx="2233295" cy="380365"/>
                      </a:xfrm>
                      <a:prstGeom prst="rect">
                        <a:avLst/>
                      </a:prstGeom>
                      <a:noFill/>
                      <a:ln w="38100">
                        <a:noFill/>
                        <a:miter/>
                      </a:ln>
                    </p:spPr>
                  </p:pic>
                </p:oleObj>
              </mc:Fallback>
            </mc:AlternateContent>
          </a:graphicData>
        </a:graphic>
      </p:graphicFrame>
      <p:graphicFrame>
        <p:nvGraphicFramePr>
          <p:cNvPr id="43019" name="Object 19"/>
          <p:cNvGraphicFramePr>
            <a:graphicFrameLocks noChangeAspect="1"/>
          </p:cNvGraphicFramePr>
          <p:nvPr>
            <p:custDataLst>
              <p:tags r:id="rId14"/>
            </p:custDataLst>
          </p:nvPr>
        </p:nvGraphicFramePr>
        <p:xfrm>
          <a:off x="3923665" y="3213100"/>
          <a:ext cx="871220" cy="372745"/>
        </p:xfrm>
        <a:graphic>
          <a:graphicData uri="http://schemas.openxmlformats.org/presentationml/2006/ole">
            <mc:AlternateContent xmlns:mc="http://schemas.openxmlformats.org/markup-compatibility/2006">
              <mc:Choice xmlns:v="urn:schemas-microsoft-com:vml" Requires="v">
                <p:oleObj spid="_x0000_s3087" name="" r:id="rId15" imgW="533400" imgH="228600" progId="Equation.3">
                  <p:embed/>
                </p:oleObj>
              </mc:Choice>
              <mc:Fallback>
                <p:oleObj name="" r:id="rId15" imgW="533400" imgH="228600" progId="Equation.3">
                  <p:embed/>
                  <p:pic>
                    <p:nvPicPr>
                      <p:cNvPr id="0" name="图片 3086"/>
                      <p:cNvPicPr/>
                      <p:nvPr/>
                    </p:nvPicPr>
                    <p:blipFill>
                      <a:blip r:embed="rId4"/>
                      <a:stretch>
                        <a:fillRect/>
                      </a:stretch>
                    </p:blipFill>
                    <p:spPr>
                      <a:xfrm>
                        <a:off x="3923665" y="3213100"/>
                        <a:ext cx="871220" cy="372745"/>
                      </a:xfrm>
                      <a:prstGeom prst="rect">
                        <a:avLst/>
                      </a:prstGeom>
                      <a:noFill/>
                      <a:ln w="38100">
                        <a:noFill/>
                        <a:miter/>
                      </a:ln>
                    </p:spPr>
                  </p:pic>
                </p:oleObj>
              </mc:Fallback>
            </mc:AlternateContent>
          </a:graphicData>
        </a:graphic>
      </p:graphicFrame>
      <p:graphicFrame>
        <p:nvGraphicFramePr>
          <p:cNvPr id="43020" name="Object 20"/>
          <p:cNvGraphicFramePr>
            <a:graphicFrameLocks noChangeAspect="1"/>
          </p:cNvGraphicFramePr>
          <p:nvPr>
            <p:custDataLst>
              <p:tags r:id="rId16"/>
            </p:custDataLst>
          </p:nvPr>
        </p:nvGraphicFramePr>
        <p:xfrm>
          <a:off x="5003800" y="3186430"/>
          <a:ext cx="1898015" cy="433705"/>
        </p:xfrm>
        <a:graphic>
          <a:graphicData uri="http://schemas.openxmlformats.org/presentationml/2006/ole">
            <mc:AlternateContent xmlns:mc="http://schemas.openxmlformats.org/markup-compatibility/2006">
              <mc:Choice xmlns:v="urn:schemas-microsoft-com:vml" Requires="v">
                <p:oleObj spid="_x0000_s3088" name="" r:id="rId17" imgW="1002665" imgH="228600" progId="Equation.3">
                  <p:embed/>
                </p:oleObj>
              </mc:Choice>
              <mc:Fallback>
                <p:oleObj name="" r:id="rId17" imgW="1002665" imgH="228600" progId="Equation.3">
                  <p:embed/>
                  <p:pic>
                    <p:nvPicPr>
                      <p:cNvPr id="0" name="图片 3087"/>
                      <p:cNvPicPr/>
                      <p:nvPr/>
                    </p:nvPicPr>
                    <p:blipFill>
                      <a:blip r:embed="rId10"/>
                      <a:stretch>
                        <a:fillRect/>
                      </a:stretch>
                    </p:blipFill>
                    <p:spPr>
                      <a:xfrm>
                        <a:off x="5003800" y="3186430"/>
                        <a:ext cx="1898015" cy="433705"/>
                      </a:xfrm>
                      <a:prstGeom prst="rect">
                        <a:avLst/>
                      </a:prstGeom>
                      <a:noFill/>
                      <a:ln w="38100">
                        <a:noFill/>
                        <a:miter/>
                      </a:ln>
                    </p:spPr>
                  </p:pic>
                </p:oleObj>
              </mc:Fallback>
            </mc:AlternateContent>
          </a:graphicData>
        </a:graphic>
      </p:graphicFrame>
      <p:graphicFrame>
        <p:nvGraphicFramePr>
          <p:cNvPr id="43017" name="Object 16"/>
          <p:cNvGraphicFramePr>
            <a:graphicFrameLocks noChangeAspect="1"/>
          </p:cNvGraphicFramePr>
          <p:nvPr>
            <p:custDataLst>
              <p:tags r:id="rId18"/>
            </p:custDataLst>
          </p:nvPr>
        </p:nvGraphicFramePr>
        <p:xfrm>
          <a:off x="2411730" y="4220845"/>
          <a:ext cx="1063625" cy="407035"/>
        </p:xfrm>
        <a:graphic>
          <a:graphicData uri="http://schemas.openxmlformats.org/presentationml/2006/ole">
            <mc:AlternateContent xmlns:mc="http://schemas.openxmlformats.org/markup-compatibility/2006">
              <mc:Choice xmlns:v="urn:schemas-microsoft-com:vml" Requires="v">
                <p:oleObj spid="_x0000_s3081" name="" r:id="rId19" imgW="596900" imgH="228600" progId="Equation.3">
                  <p:embed/>
                </p:oleObj>
              </mc:Choice>
              <mc:Fallback>
                <p:oleObj name="" r:id="rId19" imgW="596900" imgH="228600" progId="Equation.3">
                  <p:embed/>
                  <p:pic>
                    <p:nvPicPr>
                      <p:cNvPr id="0" name="图片 3080"/>
                      <p:cNvPicPr/>
                      <p:nvPr/>
                    </p:nvPicPr>
                    <p:blipFill>
                      <a:blip r:embed="rId20"/>
                      <a:stretch>
                        <a:fillRect/>
                      </a:stretch>
                    </p:blipFill>
                    <p:spPr>
                      <a:xfrm>
                        <a:off x="2411730" y="4220845"/>
                        <a:ext cx="1063625" cy="407035"/>
                      </a:xfrm>
                      <a:prstGeom prst="rect">
                        <a:avLst/>
                      </a:prstGeom>
                      <a:noFill/>
                      <a:ln w="38100">
                        <a:noFill/>
                        <a:miter/>
                      </a:ln>
                    </p:spPr>
                  </p:pic>
                </p:oleObj>
              </mc:Fallback>
            </mc:AlternateContent>
          </a:graphicData>
        </a:graphic>
      </p:graphicFrame>
      <p:graphicFrame>
        <p:nvGraphicFramePr>
          <p:cNvPr id="43018" name="Object 17"/>
          <p:cNvGraphicFramePr>
            <a:graphicFrameLocks noChangeAspect="1"/>
          </p:cNvGraphicFramePr>
          <p:nvPr>
            <p:custDataLst>
              <p:tags r:id="rId21"/>
            </p:custDataLst>
          </p:nvPr>
        </p:nvGraphicFramePr>
        <p:xfrm>
          <a:off x="4859655" y="4193540"/>
          <a:ext cx="975360" cy="430530"/>
        </p:xfrm>
        <a:graphic>
          <a:graphicData uri="http://schemas.openxmlformats.org/presentationml/2006/ole">
            <mc:AlternateContent xmlns:mc="http://schemas.openxmlformats.org/markup-compatibility/2006">
              <mc:Choice xmlns:v="urn:schemas-microsoft-com:vml" Requires="v">
                <p:oleObj spid="_x0000_s3082" name="" r:id="rId22" imgW="520700" imgH="228600" progId="Equation.3">
                  <p:embed/>
                </p:oleObj>
              </mc:Choice>
              <mc:Fallback>
                <p:oleObj name="" r:id="rId22" imgW="520700" imgH="228600" progId="Equation.3">
                  <p:embed/>
                  <p:pic>
                    <p:nvPicPr>
                      <p:cNvPr id="0" name="图片 3081"/>
                      <p:cNvPicPr/>
                      <p:nvPr/>
                    </p:nvPicPr>
                    <p:blipFill>
                      <a:blip r:embed="rId23"/>
                      <a:stretch>
                        <a:fillRect/>
                      </a:stretch>
                    </p:blipFill>
                    <p:spPr>
                      <a:xfrm>
                        <a:off x="4859655" y="4193540"/>
                        <a:ext cx="975360" cy="430530"/>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M个任务平均分配给N台处理机的最佳分配方法</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1196975"/>
            <a:ext cx="8396605" cy="5472430"/>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假设</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Ki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个任务分给了第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第一项求出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台处理机中最大执行时间</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第二项计算出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Ki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(M-Ki)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任务之间两两通信的开销时间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第二项是关于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Ki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的二次函数</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其中，Ki最多有3个取值：</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的倍数时，有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时采用平均分配方法</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时采用集中分配方法</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44037" name="Object 4"/>
          <p:cNvGraphicFramePr>
            <a:graphicFrameLocks noChangeAspect="1"/>
          </p:cNvGraphicFramePr>
          <p:nvPr>
            <p:custDataLst>
              <p:tags r:id="rId2"/>
            </p:custDataLst>
          </p:nvPr>
        </p:nvGraphicFramePr>
        <p:xfrm>
          <a:off x="1259840" y="1484630"/>
          <a:ext cx="4713605" cy="1588770"/>
        </p:xfrm>
        <a:graphic>
          <a:graphicData uri="http://schemas.openxmlformats.org/presentationml/2006/ole">
            <mc:AlternateContent xmlns:mc="http://schemas.openxmlformats.org/markup-compatibility/2006">
              <mc:Choice xmlns:v="urn:schemas-microsoft-com:vml" Requires="v">
                <p:oleObj spid="_x0000_s3089" name="" r:id="rId3" imgW="2628900" imgH="889000" progId="Equation.3">
                  <p:embed/>
                </p:oleObj>
              </mc:Choice>
              <mc:Fallback>
                <p:oleObj name="" r:id="rId3" imgW="2628900" imgH="889000" progId="Equation.3">
                  <p:embed/>
                  <p:pic>
                    <p:nvPicPr>
                      <p:cNvPr id="0" name="图片 3088"/>
                      <p:cNvPicPr/>
                      <p:nvPr/>
                    </p:nvPicPr>
                    <p:blipFill>
                      <a:blip r:embed="rId4"/>
                      <a:stretch>
                        <a:fillRect/>
                      </a:stretch>
                    </p:blipFill>
                    <p:spPr>
                      <a:xfrm>
                        <a:off x="1259840" y="1484630"/>
                        <a:ext cx="4713605" cy="1588770"/>
                      </a:xfrm>
                      <a:prstGeom prst="rect">
                        <a:avLst/>
                      </a:prstGeom>
                      <a:noFill/>
                      <a:ln w="38100">
                        <a:noFill/>
                        <a:miter/>
                      </a:ln>
                    </p:spPr>
                  </p:pic>
                </p:oleObj>
              </mc:Fallback>
            </mc:AlternateContent>
          </a:graphicData>
        </a:graphic>
      </p:graphicFrame>
      <p:graphicFrame>
        <p:nvGraphicFramePr>
          <p:cNvPr id="44039" name="Object 5"/>
          <p:cNvGraphicFramePr>
            <a:graphicFrameLocks noChangeAspect="1"/>
          </p:cNvGraphicFramePr>
          <p:nvPr>
            <p:custDataLst>
              <p:tags r:id="rId5"/>
            </p:custDataLst>
          </p:nvPr>
        </p:nvGraphicFramePr>
        <p:xfrm>
          <a:off x="4107815" y="4076700"/>
          <a:ext cx="929005" cy="396875"/>
        </p:xfrm>
        <a:graphic>
          <a:graphicData uri="http://schemas.openxmlformats.org/presentationml/2006/ole">
            <mc:AlternateContent xmlns:mc="http://schemas.openxmlformats.org/markup-compatibility/2006">
              <mc:Choice xmlns:v="urn:schemas-microsoft-com:vml" Requires="v">
                <p:oleObj spid="_x0000_s3086" name="" r:id="rId6" imgW="533400" imgH="228600" progId="Equation.3">
                  <p:embed/>
                </p:oleObj>
              </mc:Choice>
              <mc:Fallback>
                <p:oleObj name="" r:id="rId6" imgW="533400" imgH="228600" progId="Equation.3">
                  <p:embed/>
                  <p:pic>
                    <p:nvPicPr>
                      <p:cNvPr id="0" name="图片 3085"/>
                      <p:cNvPicPr/>
                      <p:nvPr/>
                    </p:nvPicPr>
                    <p:blipFill>
                      <a:blip r:embed="rId7"/>
                      <a:stretch>
                        <a:fillRect/>
                      </a:stretch>
                    </p:blipFill>
                    <p:spPr>
                      <a:xfrm>
                        <a:off x="4107815" y="4076700"/>
                        <a:ext cx="929005" cy="396875"/>
                      </a:xfrm>
                      <a:prstGeom prst="rect">
                        <a:avLst/>
                      </a:prstGeom>
                      <a:noFill/>
                      <a:ln w="38100">
                        <a:noFill/>
                        <a:miter/>
                      </a:ln>
                    </p:spPr>
                  </p:pic>
                </p:oleObj>
              </mc:Fallback>
            </mc:AlternateContent>
          </a:graphicData>
        </a:graphic>
      </p:graphicFrame>
      <p:graphicFrame>
        <p:nvGraphicFramePr>
          <p:cNvPr id="44041" name="Object 7"/>
          <p:cNvGraphicFramePr>
            <a:graphicFrameLocks noChangeAspect="1"/>
          </p:cNvGraphicFramePr>
          <p:nvPr>
            <p:custDataLst>
              <p:tags r:id="rId8"/>
            </p:custDataLst>
          </p:nvPr>
        </p:nvGraphicFramePr>
        <p:xfrm>
          <a:off x="5292090" y="4076700"/>
          <a:ext cx="1738630" cy="396875"/>
        </p:xfrm>
        <a:graphic>
          <a:graphicData uri="http://schemas.openxmlformats.org/presentationml/2006/ole">
            <mc:AlternateContent xmlns:mc="http://schemas.openxmlformats.org/markup-compatibility/2006">
              <mc:Choice xmlns:v="urn:schemas-microsoft-com:vml" Requires="v">
                <p:oleObj spid="_x0000_s3085" name="" r:id="rId9" imgW="1002665" imgH="228600" progId="Equation.3">
                  <p:embed/>
                </p:oleObj>
              </mc:Choice>
              <mc:Fallback>
                <p:oleObj name="" r:id="rId9" imgW="1002665" imgH="228600" progId="Equation.3">
                  <p:embed/>
                  <p:pic>
                    <p:nvPicPr>
                      <p:cNvPr id="0" name="图片 3084"/>
                      <p:cNvPicPr/>
                      <p:nvPr/>
                    </p:nvPicPr>
                    <p:blipFill>
                      <a:blip r:embed="rId10"/>
                      <a:stretch>
                        <a:fillRect/>
                      </a:stretch>
                    </p:blipFill>
                    <p:spPr>
                      <a:xfrm>
                        <a:off x="5292090" y="4076700"/>
                        <a:ext cx="1738630" cy="396875"/>
                      </a:xfrm>
                      <a:prstGeom prst="rect">
                        <a:avLst/>
                      </a:prstGeom>
                      <a:noFill/>
                      <a:ln w="38100">
                        <a:noFill/>
                        <a:miter/>
                      </a:ln>
                    </p:spPr>
                  </p:pic>
                </p:oleObj>
              </mc:Fallback>
            </mc:AlternateContent>
          </a:graphicData>
        </a:graphic>
      </p:graphicFrame>
      <p:pic>
        <p:nvPicPr>
          <p:cNvPr id="2" name="图片 1"/>
          <p:cNvPicPr>
            <a:picLocks noChangeAspect="1"/>
          </p:cNvPicPr>
          <p:nvPr>
            <p:custDataLst>
              <p:tags r:id="rId11"/>
            </p:custDataLst>
          </p:nvPr>
        </p:nvPicPr>
        <p:blipFill>
          <a:blip r:embed="rId12"/>
          <a:stretch>
            <a:fillRect/>
          </a:stretch>
        </p:blipFill>
        <p:spPr>
          <a:xfrm>
            <a:off x="2411730" y="4869180"/>
            <a:ext cx="3319145" cy="6788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多处理机系统的加速比</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87450"/>
            <a:ext cx="8396605" cy="4646930"/>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一个计算问题在一台处理机上运行时间与在多处理机系统上运行时间的比值称为多处理机系统的加速比</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的倍数时，有</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spcBef>
                <a:spcPts val="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较小，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 /C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较大，即分母中的第一项远大于第二项，则加速比与处理机台数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成正比</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当处理机台数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很大，加速比≈            </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即加速比趋近于一个常数</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这时再增加处理机，性能的提高很小，与所增加的成本相比不值得</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46086" name="Object 4"/>
          <p:cNvGraphicFramePr>
            <a:graphicFrameLocks noChangeAspect="1"/>
          </p:cNvGraphicFramePr>
          <p:nvPr>
            <p:custDataLst>
              <p:tags r:id="rId2"/>
            </p:custDataLst>
          </p:nvPr>
        </p:nvGraphicFramePr>
        <p:xfrm>
          <a:off x="1907540" y="1844675"/>
          <a:ext cx="3964305" cy="1069340"/>
        </p:xfrm>
        <a:graphic>
          <a:graphicData uri="http://schemas.openxmlformats.org/presentationml/2006/ole">
            <mc:AlternateContent xmlns:mc="http://schemas.openxmlformats.org/markup-compatibility/2006">
              <mc:Choice xmlns:v="urn:schemas-microsoft-com:vml" Requires="v">
                <p:oleObj spid="_x0000_s3092" name="" r:id="rId3" imgW="2298700" imgH="622300" progId="Equation.3">
                  <p:embed/>
                </p:oleObj>
              </mc:Choice>
              <mc:Fallback>
                <p:oleObj name="" r:id="rId3" imgW="2298700" imgH="622300" progId="Equation.3">
                  <p:embed/>
                  <p:pic>
                    <p:nvPicPr>
                      <p:cNvPr id="0" name="图片 3091"/>
                      <p:cNvPicPr/>
                      <p:nvPr/>
                    </p:nvPicPr>
                    <p:blipFill>
                      <a:blip r:embed="rId4"/>
                      <a:stretch>
                        <a:fillRect/>
                      </a:stretch>
                    </p:blipFill>
                    <p:spPr>
                      <a:xfrm>
                        <a:off x="1907540" y="1844675"/>
                        <a:ext cx="3964305" cy="1069340"/>
                      </a:xfrm>
                      <a:prstGeom prst="rect">
                        <a:avLst/>
                      </a:prstGeom>
                      <a:noFill/>
                      <a:ln w="38100">
                        <a:noFill/>
                        <a:miter/>
                      </a:ln>
                    </p:spPr>
                  </p:pic>
                </p:oleObj>
              </mc:Fallback>
            </mc:AlternateContent>
          </a:graphicData>
        </a:graphic>
      </p:graphicFrame>
      <p:graphicFrame>
        <p:nvGraphicFramePr>
          <p:cNvPr id="46088" name="Object 6"/>
          <p:cNvGraphicFramePr>
            <a:graphicFrameLocks noChangeAspect="1"/>
          </p:cNvGraphicFramePr>
          <p:nvPr>
            <p:custDataLst>
              <p:tags r:id="rId5"/>
            </p:custDataLst>
          </p:nvPr>
        </p:nvGraphicFramePr>
        <p:xfrm>
          <a:off x="1907540" y="3213100"/>
          <a:ext cx="5394960" cy="1379855"/>
        </p:xfrm>
        <a:graphic>
          <a:graphicData uri="http://schemas.openxmlformats.org/presentationml/2006/ole">
            <mc:AlternateContent xmlns:mc="http://schemas.openxmlformats.org/markup-compatibility/2006">
              <mc:Choice xmlns:v="urn:schemas-microsoft-com:vml" Requires="v">
                <p:oleObj spid="_x0000_s3091" name="" r:id="rId6" imgW="3035300" imgH="774700" progId="Equation.3">
                  <p:embed/>
                </p:oleObj>
              </mc:Choice>
              <mc:Fallback>
                <p:oleObj name="" r:id="rId6" imgW="3035300" imgH="774700" progId="Equation.3">
                  <p:embed/>
                  <p:pic>
                    <p:nvPicPr>
                      <p:cNvPr id="0" name="图片 3090"/>
                      <p:cNvPicPr/>
                      <p:nvPr/>
                    </p:nvPicPr>
                    <p:blipFill>
                      <a:blip r:embed="rId7"/>
                      <a:stretch>
                        <a:fillRect/>
                      </a:stretch>
                    </p:blipFill>
                    <p:spPr>
                      <a:xfrm>
                        <a:off x="1907540" y="3213100"/>
                        <a:ext cx="5394960" cy="1379855"/>
                      </a:xfrm>
                      <a:prstGeom prst="rect">
                        <a:avLst/>
                      </a:prstGeom>
                      <a:noFill/>
                      <a:ln w="38100">
                        <a:noFill/>
                        <a:miter/>
                      </a:ln>
                    </p:spPr>
                  </p:pic>
                </p:oleObj>
              </mc:Fallback>
            </mc:AlternateContent>
          </a:graphicData>
        </a:graphic>
      </p:graphicFrame>
      <p:graphicFrame>
        <p:nvGraphicFramePr>
          <p:cNvPr id="46090" name="Object 8"/>
          <p:cNvGraphicFramePr>
            <a:graphicFrameLocks noChangeAspect="1"/>
          </p:cNvGraphicFramePr>
          <p:nvPr>
            <p:custDataLst>
              <p:tags r:id="rId8"/>
            </p:custDataLst>
          </p:nvPr>
        </p:nvGraphicFramePr>
        <p:xfrm>
          <a:off x="4572000" y="5300980"/>
          <a:ext cx="552450" cy="685800"/>
        </p:xfrm>
        <a:graphic>
          <a:graphicData uri="http://schemas.openxmlformats.org/presentationml/2006/ole">
            <mc:AlternateContent xmlns:mc="http://schemas.openxmlformats.org/markup-compatibility/2006">
              <mc:Choice xmlns:v="urn:schemas-microsoft-com:vml" Requires="v">
                <p:oleObj spid="_x0000_s3090" name="" r:id="rId9" imgW="317500" imgH="393065" progId="Equation.3">
                  <p:embed/>
                </p:oleObj>
              </mc:Choice>
              <mc:Fallback>
                <p:oleObj name="" r:id="rId9" imgW="317500" imgH="393065" progId="Equation.3">
                  <p:embed/>
                  <p:pic>
                    <p:nvPicPr>
                      <p:cNvPr id="0" name="图片 3089"/>
                      <p:cNvPicPr/>
                      <p:nvPr/>
                    </p:nvPicPr>
                    <p:blipFill>
                      <a:blip r:embed="rId10"/>
                      <a:stretch>
                        <a:fillRect/>
                      </a:stretch>
                    </p:blipFill>
                    <p:spPr>
                      <a:xfrm>
                        <a:off x="4572000" y="5300980"/>
                        <a:ext cx="552450" cy="685800"/>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模型的总结</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69670"/>
            <a:ext cx="8396605" cy="4996180"/>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多处理机系统结构所需的</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额外开销</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，包括调度，对共享资源的竞争，同步，处理机之间通信等</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串行机和向量机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或别的单指令流机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系统结构中不存在</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运行某个程序的处理机数目增加时，用于计算的那部分时间将减少，额外开销时间增加</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实际上，</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额外开销的增加可能比处理机数目的线性增加更快</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比值表示当一个程序在某一特定系统结构上执行时，程序执行时间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运行时间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与额外开销时间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通信时间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的比值</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该比值越大，越有利于计算过程</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一方面，</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要足够小使能并行执行的任务数目较多</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另一方面，</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R/C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要足够大以免额外开销太大</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不能期望简单地通过增加处理机数目制造出高速的多处理机系统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处理机数目究竟多少才能使价格和性能都比较合理</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存在一个极大值，这个值很大程度上</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依赖于机器的系统结构，基本技术</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尤其是通信技术</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和每一个具体应用问题的性质</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9.3 多处理机的Cache一致性</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 name="Rectangle 3"/>
          <p:cNvSpPr>
            <a:spLocks noGrp="1"/>
          </p:cNvSpPr>
          <p:nvPr>
            <p:ph idx="1"/>
            <p:custDataLst>
              <p:tags r:id="rId1"/>
            </p:custDataLst>
          </p:nvPr>
        </p:nvSpPr>
        <p:spPr>
          <a:xfrm>
            <a:off x="558800" y="1111250"/>
            <a:ext cx="8396605" cy="3017520"/>
          </a:xfrm>
        </p:spPr>
        <p:txBody>
          <a:bodyPr vert="horz" wrap="square" lIns="91440" tIns="45720" rIns="91440" bIns="45720" anchor="t" anchorCtr="0"/>
          <a:p>
            <a:pPr eaLnBrk="1" hangingPunct="1"/>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在并行处理机和多处理机系统中，采用局部</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会引起</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与共享存储器之间的一致性问题</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9.3.1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问题由来</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9.3.2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监听协议</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9.3.3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基于目录的协议</a:t>
            </a:r>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9.3.1 问题由来</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25954" name="Rectangle 3"/>
          <p:cNvSpPr>
            <a:spLocks noGrp="1"/>
          </p:cNvSpPr>
          <p:nvPr>
            <p:ph idx="1"/>
            <p:custDataLst>
              <p:tags r:id="rId1"/>
            </p:custDataLst>
          </p:nvPr>
        </p:nvSpPr>
        <p:spPr>
          <a:xfrm>
            <a:off x="558800" y="1340485"/>
            <a:ext cx="8396605" cy="2296160"/>
          </a:xfrm>
        </p:spPr>
        <p:txBody>
          <a:bodyPr vert="horz" wrap="square" lIns="91440" tIns="45720" rIns="91440" bIns="45720" anchor="t" anchorCtr="0"/>
          <a:p>
            <a:pPr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出现不一致性问题的原因有三个</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共享可写的数据</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进程迁移</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1200"/>
              </a:spcBef>
            </a:pPr>
            <a:r>
              <a:rPr lang="en-US" altLang="zh-CN" sz="2400" dirty="0">
                <a:latin typeface="Times New Roman" panose="02020603050405020304" pitchFamily="18" charset="0"/>
                <a:ea typeface="黑体" panose="02010609060101010101" pitchFamily="49" charset="-122"/>
                <a:sym typeface="+mn-ea"/>
              </a:rPr>
              <a:t>I/O</a:t>
            </a:r>
            <a:r>
              <a:rPr lang="zh-CN" altLang="en-US" sz="2400" dirty="0">
                <a:latin typeface="Times New Roman" panose="02020603050405020304" pitchFamily="18" charset="0"/>
                <a:ea typeface="黑体" panose="02010609060101010101" pitchFamily="49" charset="-122"/>
                <a:sym typeface="+mn-ea"/>
              </a:rPr>
              <a:t>传输</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写共享数据引起的不一致性</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6" name="Rectangle 3"/>
          <p:cNvSpPr>
            <a:spLocks noGrp="1"/>
          </p:cNvSpPr>
          <p:nvPr>
            <p:ph idx="1"/>
            <p:custDataLst>
              <p:tags r:id="rId1"/>
            </p:custDataLst>
          </p:nvPr>
        </p:nvSpPr>
        <p:spPr>
          <a:xfrm>
            <a:off x="558800" y="1111250"/>
            <a:ext cx="8396605" cy="998220"/>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使用多个局部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时，可能发生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不一致性问题</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4" eaLnBrk="1" hangingPunct="1"/>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共享可写数据引起的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不一致性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的值写为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之后，如果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采用写通策略，内存中的内容也变为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中的内容还是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采用写回策略，内存中的内容还是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处理机要读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时，读到的是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而不是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56325" name="Object 4"/>
          <p:cNvGraphicFramePr>
            <a:graphicFrameLocks noChangeAspect="1"/>
          </p:cNvGraphicFramePr>
          <p:nvPr>
            <p:custDataLst>
              <p:tags r:id="rId2"/>
            </p:custDataLst>
          </p:nvPr>
        </p:nvGraphicFramePr>
        <p:xfrm>
          <a:off x="1115060" y="1484630"/>
          <a:ext cx="6360160" cy="2899410"/>
        </p:xfrm>
        <a:graphic>
          <a:graphicData uri="http://schemas.openxmlformats.org/presentationml/2006/ole">
            <mc:AlternateContent xmlns:mc="http://schemas.openxmlformats.org/markup-compatibility/2006">
              <mc:Choice xmlns:v="urn:schemas-microsoft-com:vml" Requires="v">
                <p:oleObj spid="_x0000_s3093" name="" r:id="rId3" imgW="4107180" imgH="1880235" progId="Word.Picture.8">
                  <p:embed/>
                </p:oleObj>
              </mc:Choice>
              <mc:Fallback>
                <p:oleObj name="" r:id="rId3" imgW="4107180" imgH="1880235" progId="Word.Picture.8">
                  <p:embed/>
                  <p:pic>
                    <p:nvPicPr>
                      <p:cNvPr id="0" name="图片 3092"/>
                      <p:cNvPicPr/>
                      <p:nvPr/>
                    </p:nvPicPr>
                    <p:blipFill>
                      <a:blip r:embed="rId4"/>
                      <a:stretch>
                        <a:fillRect/>
                      </a:stretch>
                    </p:blipFill>
                    <p:spPr>
                      <a:xfrm>
                        <a:off x="1115060" y="1484630"/>
                        <a:ext cx="6360160" cy="2899410"/>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进程迁移引起的数据不一致性</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2682240"/>
          </a:xfrm>
        </p:spPr>
        <p:txBody>
          <a:bodyPr vert="horz" wrap="square" lIns="91440" tIns="45720" rIns="91440" bIns="45720" anchor="t" anchorCtr="0"/>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中都有共享数据</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的拷贝</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修改了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，采用写通方式，所以内存中的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修改成了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如果该进程迁移到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上，这时，</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中仍然是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中有共享数据</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的拷贝，而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中没有该共享数据</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进程对</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进行了修改，如果采用了写回方式，暂时没有对内存中的数据进行修改</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如果该进程迁移到了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运行时从内存中读到是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403350" y="3716655"/>
            <a:ext cx="6047105" cy="27616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I/O造成数据不一致性</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21435"/>
            <a:ext cx="8396605" cy="159448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在各自的局部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中都有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的拷贝，</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I/O</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将一个新数据</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写入存储器就导致存储器和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间的数据不一致性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如果两个局部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中都有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的拷贝，并采用写回方式，当</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修改成</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之后，输出部件读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，存储器就把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传给输出部件</a:t>
            </a:r>
            <a:endPar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193165" y="2924810"/>
            <a:ext cx="6949440" cy="34569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9.3.2 监听协议</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959985"/>
          </a:xfrm>
        </p:spPr>
        <p:txBody>
          <a:bodyPr vert="horz" wrap="square" lIns="91440" tIns="45720" rIns="91440" bIns="45720" anchor="t" anchorCtr="0"/>
          <a:p>
            <a:pPr eaLnBrk="1" latinLnBrk="0" hangingPunct="1">
              <a:spcBef>
                <a:spcPts val="1200"/>
              </a:spcBef>
            </a:pPr>
            <a:r>
              <a:rPr lang="zh-CN" altLang="en-US" sz="2400" dirty="0">
                <a:latin typeface="Times New Roman" panose="02020603050405020304" pitchFamily="18" charset="0"/>
                <a:ea typeface="黑体" panose="02010609060101010101" pitchFamily="49" charset="-122"/>
                <a:sym typeface="+mn-ea"/>
              </a:rPr>
              <a:t>两类解决</a:t>
            </a:r>
            <a:r>
              <a:rPr lang="en-US" altLang="zh-CN" sz="2400" dirty="0">
                <a:latin typeface="Times New Roman" panose="02020603050405020304" pitchFamily="18" charset="0"/>
                <a:ea typeface="黑体" panose="02010609060101010101" pitchFamily="49" charset="-122"/>
                <a:sym typeface="+mn-ea"/>
              </a:rPr>
              <a:t>Cache</a:t>
            </a:r>
            <a:r>
              <a:rPr lang="zh-CN" altLang="en-US" sz="2400" dirty="0">
                <a:latin typeface="Times New Roman" panose="02020603050405020304" pitchFamily="18" charset="0"/>
                <a:ea typeface="黑体" panose="02010609060101010101" pitchFamily="49" charset="-122"/>
                <a:sym typeface="+mn-ea"/>
              </a:rPr>
              <a:t>不一致性问题的协议</a:t>
            </a:r>
            <a:endParaRPr lang="zh-CN" altLang="en-US" sz="24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sym typeface="+mn-ea"/>
              </a:rPr>
              <a:t>监听协议</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sym typeface="+mn-ea"/>
              </a:rPr>
              <a:t>基于目录的协议</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sym typeface="+mn-ea"/>
              </a:rPr>
              <a:t>总线互连的多处理机系统，通常采用监听协议</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600"/>
              </a:spcBef>
            </a:pPr>
            <a:r>
              <a:rPr lang="zh-CN" altLang="en-US" sz="2000" dirty="0">
                <a:latin typeface="Times New Roman" panose="02020603050405020304" pitchFamily="18" charset="0"/>
                <a:ea typeface="黑体" panose="02010609060101010101" pitchFamily="49" charset="-122"/>
                <a:sym typeface="+mn-ea"/>
              </a:rPr>
              <a:t>其他多处理机系统，通常采用基于目录协议</a:t>
            </a:r>
            <a:endPar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两种监听协议</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95998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使用监听协议，有两种方法</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方法一：写无效</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(Write Invalidate)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策略，在本地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的数据块修改时使远程数据块都无效</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方法二：写更新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(Write Update)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策略，在本地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数据块修改时通过总线把新的数据块广播给含该数据块的所有其他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采用写无效或写更新策略与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采用写回方式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(Write Back)</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还是写通过方式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(Write Through)</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无关</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采用的写通过方式，在使远程数据块无效或更新其他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的同时，还要同时修改共享存储器中的内容</a:t>
            </a:r>
            <a:endPar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Cache采用写通过方式时的写无效策略和写更新策略</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27762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由于写更新策略在本地</a:t>
            </a:r>
            <a:r>
              <a:rPr lang="en-US" altLang="zh-CN" sz="2000" dirty="0">
                <a:latin typeface="Times New Roman" panose="02020603050405020304" pitchFamily="18" charset="0"/>
                <a:ea typeface="黑体" panose="02010609060101010101" pitchFamily="49" charset="-122"/>
                <a:sym typeface="+mn-ea"/>
              </a:rPr>
              <a:t>Cache</a:t>
            </a:r>
            <a:r>
              <a:rPr lang="zh-CN" altLang="en-US" sz="2000" dirty="0">
                <a:latin typeface="Times New Roman" panose="02020603050405020304" pitchFamily="18" charset="0"/>
                <a:ea typeface="黑体" panose="02010609060101010101" pitchFamily="49" charset="-122"/>
                <a:sym typeface="+mn-ea"/>
              </a:rPr>
              <a:t>修改时需通过总线把修改过的数据块广播给所有含该数据块的其他</a:t>
            </a:r>
            <a:r>
              <a:rPr lang="en-US" altLang="zh-CN" sz="2000" dirty="0">
                <a:latin typeface="Times New Roman" panose="02020603050405020304" pitchFamily="18" charset="0"/>
                <a:ea typeface="黑体" panose="02010609060101010101" pitchFamily="49" charset="-122"/>
                <a:sym typeface="+mn-ea"/>
              </a:rPr>
              <a:t>Cache</a:t>
            </a:r>
            <a:r>
              <a:rPr lang="zh-CN" altLang="en-US" sz="2000" dirty="0">
                <a:latin typeface="Times New Roman" panose="02020603050405020304" pitchFamily="18" charset="0"/>
                <a:ea typeface="黑体" panose="02010609060101010101" pitchFamily="49" charset="-122"/>
                <a:sym typeface="+mn-ea"/>
              </a:rPr>
              <a:t>，增加了总线的负担</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大部分多处理机系统使用写无效策略</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971550" y="2853055"/>
            <a:ext cx="6794500" cy="33845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277620"/>
          </a:xfrm>
        </p:spPr>
        <p:txBody>
          <a:bodyPr vert="horz" wrap="square" lIns="91440" tIns="45720" rIns="91440" bIns="45720" anchor="t" anchorCtr="0"/>
          <a:p>
            <a:pPr eaLnBrk="1"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协议包含了描述多核共享数据的状态。</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 line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个状态，可用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bit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表示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M(Modified)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E(Exclusive)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 line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，数据是独有的，不同点在于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状态的数据是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dirty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和内存的不一致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状态的数据是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clean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和内存的一致</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90000"/>
              </a:lnSpc>
              <a:spcBef>
                <a:spcPts val="1200"/>
              </a:spcBef>
            </a:pP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lnSpc>
                <a:spcPct val="90000"/>
              </a:lnSpc>
              <a:spcBef>
                <a:spcPts val="1200"/>
              </a:spcBef>
            </a:pP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2774" name="图片 1"/>
          <p:cNvPicPr>
            <a:picLocks noChangeAspect="1"/>
          </p:cNvPicPr>
          <p:nvPr>
            <p:custDataLst>
              <p:tags r:id="rId2"/>
            </p:custDataLst>
          </p:nvPr>
        </p:nvPicPr>
        <p:blipFill>
          <a:blip r:embed="rId3"/>
          <a:stretch>
            <a:fillRect/>
          </a:stretch>
        </p:blipFill>
        <p:spPr>
          <a:xfrm>
            <a:off x="1075055" y="2072640"/>
            <a:ext cx="6412865" cy="292163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68730"/>
            <a:ext cx="8396605" cy="1277620"/>
          </a:xfrm>
        </p:spPr>
        <p:txBody>
          <a:bodyPr vert="horz" wrap="square" lIns="91440" tIns="45720" rIns="91440" bIns="45720" anchor="t" anchorCtr="0"/>
          <a:p>
            <a:pPr eaLnBrk="1"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1" eaLnBrk="1"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数据有效，数据和内存中的数据一致，数据只存在于本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4822" name="图片 2"/>
          <p:cNvPicPr>
            <a:picLocks noChangeAspect="1"/>
          </p:cNvPicPr>
          <p:nvPr>
            <p:custDataLst>
              <p:tags r:id="rId2"/>
            </p:custDataLst>
          </p:nvPr>
        </p:nvPicPr>
        <p:blipFill>
          <a:blip r:embed="rId3"/>
          <a:stretch>
            <a:fillRect/>
          </a:stretch>
        </p:blipFill>
        <p:spPr>
          <a:xfrm>
            <a:off x="861060" y="2420620"/>
            <a:ext cx="7421563" cy="3497263"/>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277620"/>
          </a:xfrm>
        </p:spPr>
        <p:txBody>
          <a:bodyPr vert="horz" wrap="square" lIns="91440" tIns="45720" rIns="91440" bIns="45720" anchor="t" anchorCtr="0"/>
          <a:p>
            <a:pPr eaLnBrk="1" hangingPunct="1">
              <a:lnSpc>
                <a:spcPct val="90000"/>
              </a:lnSpc>
              <a:spcBef>
                <a:spcPts val="1200"/>
              </a:spcBef>
            </a:pPr>
            <a:r>
              <a:rPr lang="en-US" altLang="zh-CN" sz="2000" dirty="0">
                <a:ea typeface="黑体" panose="02010609060101010101" pitchFamily="49" charset="-122"/>
                <a:cs typeface="+mn-lt"/>
                <a:sym typeface="+mn-ea"/>
              </a:rPr>
              <a:t>S</a:t>
            </a:r>
            <a:r>
              <a:rPr lang="zh-CN" altLang="en-US" sz="2000" dirty="0">
                <a:ea typeface="黑体" panose="02010609060101010101" pitchFamily="49" charset="-122"/>
                <a:cs typeface="+mn-lt"/>
                <a:sym typeface="+mn-ea"/>
              </a:rPr>
              <a:t>状态：</a:t>
            </a:r>
            <a:endParaRPr lang="zh-CN" altLang="en-US" sz="2000" dirty="0">
              <a:ea typeface="黑体" panose="02010609060101010101" pitchFamily="49" charset="-122"/>
              <a:cs typeface="+mn-lt"/>
              <a:sym typeface="+mn-ea"/>
            </a:endParaRPr>
          </a:p>
          <a:p>
            <a:pPr lvl="1" eaLnBrk="1" hangingPunct="1">
              <a:lnSpc>
                <a:spcPct val="90000"/>
              </a:lnSpc>
              <a:spcBef>
                <a:spcPts val="1200"/>
              </a:spcBef>
            </a:pPr>
            <a:r>
              <a:rPr lang="zh-CN" altLang="en-US" sz="2000" dirty="0">
                <a:ea typeface="黑体" panose="02010609060101010101" pitchFamily="49" charset="-122"/>
                <a:cs typeface="+mn-lt"/>
                <a:sym typeface="+mn-ea"/>
              </a:rPr>
              <a:t>数据有效，数据和内存中的数据一致，数据存在于很多</a:t>
            </a:r>
            <a:r>
              <a:rPr lang="en-US" altLang="zh-CN" sz="2000" dirty="0">
                <a:ea typeface="黑体" panose="02010609060101010101" pitchFamily="49" charset="-122"/>
                <a:cs typeface="+mn-lt"/>
                <a:sym typeface="+mn-ea"/>
              </a:rPr>
              <a:t>Cache</a:t>
            </a:r>
            <a:r>
              <a:rPr lang="zh-CN" altLang="en-US" sz="2000" dirty="0">
                <a:ea typeface="黑体" panose="02010609060101010101" pitchFamily="49" charset="-122"/>
                <a:cs typeface="+mn-lt"/>
                <a:sym typeface="+mn-ea"/>
              </a:rPr>
              <a:t>中。</a:t>
            </a:r>
            <a:endParaRPr lang="zh-CN" altLang="en-US" sz="1800" dirty="0">
              <a:solidFill>
                <a:schemeClr val="tx2"/>
              </a:solidFill>
              <a:ea typeface="黑体" panose="02010609060101010101" pitchFamily="49" charset="-122"/>
              <a:cs typeface="+mn-lt"/>
              <a:sym typeface="+mn-ea"/>
            </a:endParaRPr>
          </a:p>
        </p:txBody>
      </p:sp>
      <p:pic>
        <p:nvPicPr>
          <p:cNvPr id="36871" name="图片 1"/>
          <p:cNvPicPr>
            <a:picLocks noChangeAspect="1"/>
          </p:cNvPicPr>
          <p:nvPr>
            <p:custDataLst>
              <p:tags r:id="rId2"/>
            </p:custDataLst>
          </p:nvPr>
        </p:nvPicPr>
        <p:blipFill>
          <a:blip r:embed="rId3"/>
          <a:stretch>
            <a:fillRect/>
          </a:stretch>
        </p:blipFill>
        <p:spPr>
          <a:xfrm>
            <a:off x="735013" y="2073275"/>
            <a:ext cx="7580312" cy="350520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277620"/>
          </a:xfrm>
        </p:spPr>
        <p:txBody>
          <a:bodyPr vert="horz" wrap="square" lIns="91440" tIns="45720" rIns="91440" bIns="45720" anchor="t" anchorCtr="0"/>
          <a:p>
            <a:pPr eaLnBrk="1" hangingPunct="1">
              <a:lnSpc>
                <a:spcPct val="90000"/>
              </a:lnSpc>
            </a:pPr>
            <a:r>
              <a:rPr lang="en-US" altLang="zh-CN" sz="2000" dirty="0">
                <a:ea typeface="黑体" panose="02010609060101010101" pitchFamily="49" charset="-122"/>
                <a:cs typeface="+mn-lt"/>
                <a:sym typeface="+mn-ea"/>
              </a:rPr>
              <a:t>M</a:t>
            </a:r>
            <a:r>
              <a:rPr lang="zh-CN" altLang="en-US" sz="2000" dirty="0">
                <a:ea typeface="黑体" panose="02010609060101010101" pitchFamily="49" charset="-122"/>
                <a:cs typeface="+mn-lt"/>
                <a:sym typeface="+mn-ea"/>
              </a:rPr>
              <a:t>状态：</a:t>
            </a:r>
            <a:endParaRPr lang="zh-CN" altLang="en-US" sz="2000" dirty="0">
              <a:ea typeface="黑体" panose="02010609060101010101" pitchFamily="49" charset="-122"/>
              <a:cs typeface="+mn-lt"/>
              <a:sym typeface="+mn-ea"/>
            </a:endParaRPr>
          </a:p>
          <a:p>
            <a:pPr lvl="1" eaLnBrk="1" hangingPunct="1">
              <a:lnSpc>
                <a:spcPct val="90000"/>
              </a:lnSpc>
            </a:pPr>
            <a:r>
              <a:rPr lang="zh-CN" altLang="en-US" sz="2000" dirty="0">
                <a:ea typeface="黑体" panose="02010609060101010101" pitchFamily="49" charset="-122"/>
                <a:cs typeface="+mn-lt"/>
                <a:sym typeface="+mn-ea"/>
              </a:rPr>
              <a:t>数据有效，数据被修改了，和内存中的数据不一致，数据只存在于本</a:t>
            </a:r>
            <a:r>
              <a:rPr lang="en-US" altLang="zh-CN" sz="2000" dirty="0">
                <a:ea typeface="黑体" panose="02010609060101010101" pitchFamily="49" charset="-122"/>
                <a:cs typeface="+mn-lt"/>
                <a:sym typeface="+mn-ea"/>
              </a:rPr>
              <a:t>Cache</a:t>
            </a:r>
            <a:r>
              <a:rPr lang="zh-CN" altLang="en-US" sz="2000" dirty="0">
                <a:ea typeface="黑体" panose="02010609060101010101" pitchFamily="49" charset="-122"/>
                <a:cs typeface="+mn-lt"/>
                <a:sym typeface="+mn-ea"/>
              </a:rPr>
              <a:t>中。</a:t>
            </a:r>
            <a:endParaRPr lang="en-US" altLang="zh-CN" sz="2000" dirty="0">
              <a:ea typeface="黑体" panose="02010609060101010101" pitchFamily="49" charset="-122"/>
              <a:cs typeface="+mn-lt"/>
            </a:endParaRPr>
          </a:p>
          <a:p>
            <a:pPr eaLnBrk="1" hangingPunct="1">
              <a:lnSpc>
                <a:spcPct val="90000"/>
              </a:lnSpc>
            </a:pPr>
            <a:r>
              <a:rPr lang="en-US" altLang="zh-CN" sz="2000" dirty="0">
                <a:ea typeface="黑体" panose="02010609060101010101" pitchFamily="49" charset="-122"/>
                <a:cs typeface="+mn-lt"/>
                <a:sym typeface="+mn-ea"/>
              </a:rPr>
              <a:t>I</a:t>
            </a:r>
            <a:r>
              <a:rPr lang="zh-CN" altLang="en-US" sz="2000" dirty="0">
                <a:ea typeface="黑体" panose="02010609060101010101" pitchFamily="49" charset="-122"/>
                <a:cs typeface="+mn-lt"/>
                <a:sym typeface="+mn-ea"/>
              </a:rPr>
              <a:t>状态：数据无效</a:t>
            </a:r>
            <a:endParaRPr lang="zh-CN" altLang="en-US" sz="1800" dirty="0">
              <a:solidFill>
                <a:schemeClr val="tx2"/>
              </a:solidFill>
              <a:ea typeface="黑体" panose="02010609060101010101" pitchFamily="49" charset="-122"/>
              <a:cs typeface="+mn-lt"/>
              <a:sym typeface="+mn-ea"/>
            </a:endParaRPr>
          </a:p>
        </p:txBody>
      </p:sp>
      <p:pic>
        <p:nvPicPr>
          <p:cNvPr id="38919" name="图片 2"/>
          <p:cNvPicPr>
            <a:picLocks noChangeAspect="1"/>
          </p:cNvPicPr>
          <p:nvPr>
            <p:custDataLst>
              <p:tags r:id="rId2"/>
            </p:custDataLst>
          </p:nvPr>
        </p:nvPicPr>
        <p:blipFill>
          <a:blip r:embed="rId3"/>
          <a:stretch>
            <a:fillRect/>
          </a:stretch>
        </p:blipFill>
        <p:spPr>
          <a:xfrm>
            <a:off x="1042988" y="2636203"/>
            <a:ext cx="7058025" cy="357187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277620"/>
          </a:xfrm>
        </p:spPr>
        <p:txBody>
          <a:bodyPr vert="horz" wrap="square" lIns="91440" tIns="45720" rIns="91440" bIns="45720" anchor="t" anchorCtr="0"/>
          <a:p>
            <a:pPr eaLnBrk="1" latinLnBrk="0"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协议中，每个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控制器不仅知道自己的读写操作，也监听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(snoop)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其它</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的读写操作</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90000"/>
              </a:lnSpc>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每个</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Cache line</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所处的状态根据本核和其它核的读写操作在</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个状态间进行迁移</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43011" name="图片 13"/>
          <p:cNvPicPr>
            <a:picLocks noChangeAspect="1"/>
          </p:cNvPicPr>
          <p:nvPr>
            <p:custDataLst>
              <p:tags r:id="rId2"/>
            </p:custDataLst>
          </p:nvPr>
        </p:nvPicPr>
        <p:blipFill>
          <a:blip r:embed="rId3"/>
          <a:stretch>
            <a:fillRect/>
          </a:stretch>
        </p:blipFill>
        <p:spPr>
          <a:xfrm>
            <a:off x="2339340" y="2420620"/>
            <a:ext cx="5416550" cy="393319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custDataLst>
              <p:tags r:id="rId1"/>
            </p:custDataLst>
          </p:nvPr>
        </p:nvGraphicFramePr>
        <p:xfrm>
          <a:off x="468630" y="1175385"/>
          <a:ext cx="8059420" cy="5053330"/>
        </p:xfrm>
        <a:graphic>
          <a:graphicData uri="http://schemas.openxmlformats.org/drawingml/2006/table">
            <a:tbl>
              <a:tblPr>
                <a:tableStyleId>{D7AC3CCA-C797-4891-BE02-D94E43425B78}</a:tableStyleId>
              </a:tblPr>
              <a:tblGrid>
                <a:gridCol w="1031875"/>
                <a:gridCol w="1184275"/>
                <a:gridCol w="4481830"/>
                <a:gridCol w="1361440"/>
              </a:tblGrid>
              <a:tr h="560705">
                <a:tc>
                  <a:txBody>
                    <a:bodyPr/>
                    <a:p>
                      <a:pPr algn="ctr"/>
                      <a:r>
                        <a:rPr lang="zh-CN" altLang="en-US" sz="1800" b="1" dirty="0">
                          <a:latin typeface="Times New Roman" panose="02020603050405020304" pitchFamily="18" charset="0"/>
                        </a:rPr>
                        <a:t>当前状态</a:t>
                      </a:r>
                      <a:endParaRPr lang="zh-CN" altLang="en-US" sz="1800" b="1" dirty="0">
                        <a:latin typeface="Times New Roman" panose="02020603050405020304" pitchFamily="18" charset="0"/>
                      </a:endParaRPr>
                    </a:p>
                  </a:txBody>
                  <a:tcPr marL="0" marR="0" marT="0" marB="0" anchor="ctr"/>
                </a:tc>
                <a:tc>
                  <a:txBody>
                    <a:bodyPr/>
                    <a:p>
                      <a:pPr algn="ctr"/>
                      <a:r>
                        <a:rPr lang="zh-CN" altLang="en-US" sz="1800" b="1" dirty="0">
                          <a:latin typeface="Times New Roman" panose="02020603050405020304" pitchFamily="18" charset="0"/>
                        </a:rPr>
                        <a:t>事件</a:t>
                      </a:r>
                      <a:endParaRPr lang="zh-CN" altLang="en-US" sz="1800" b="1" dirty="0">
                        <a:latin typeface="Times New Roman" panose="02020603050405020304" pitchFamily="18" charset="0"/>
                      </a:endParaRPr>
                    </a:p>
                  </a:txBody>
                  <a:tcPr marL="0" marR="0" marT="0" marB="0" anchor="ctr"/>
                </a:tc>
                <a:tc>
                  <a:txBody>
                    <a:bodyPr/>
                    <a:p>
                      <a:pPr algn="ctr"/>
                      <a:r>
                        <a:rPr lang="zh-CN" altLang="en-US" sz="1800" b="1" dirty="0">
                          <a:latin typeface="Times New Roman" panose="02020603050405020304" pitchFamily="18" charset="0"/>
                        </a:rPr>
                        <a:t>行为</a:t>
                      </a:r>
                      <a:endParaRPr lang="zh-CN" altLang="en-US" sz="1800" b="1" dirty="0">
                        <a:latin typeface="Times New Roman" panose="02020603050405020304" pitchFamily="18" charset="0"/>
                      </a:endParaRPr>
                    </a:p>
                  </a:txBody>
                  <a:tcPr marL="0" marR="0" marT="0" marB="0" anchor="ctr"/>
                </a:tc>
                <a:tc>
                  <a:txBody>
                    <a:bodyPr/>
                    <a:p>
                      <a:pPr algn="ctr"/>
                      <a:r>
                        <a:rPr lang="zh-CN" altLang="en-US" sz="1800" b="1" dirty="0">
                          <a:latin typeface="Times New Roman" panose="02020603050405020304" pitchFamily="18" charset="0"/>
                        </a:rPr>
                        <a:t>下一个状态</a:t>
                      </a:r>
                      <a:endParaRPr lang="zh-CN" altLang="en-US" sz="1800" b="1" dirty="0">
                        <a:latin typeface="Times New Roman" panose="02020603050405020304" pitchFamily="18" charset="0"/>
                      </a:endParaRPr>
                    </a:p>
                  </a:txBody>
                  <a:tcPr marL="0" marR="0" marT="0" marB="0" anchor="ctr"/>
                </a:tc>
              </a:tr>
              <a:tr h="2024380">
                <a:tc rowSpan="4">
                  <a:txBody>
                    <a:bodyPr/>
                    <a:p>
                      <a:pPr algn="ctr"/>
                      <a:r>
                        <a:rPr lang="en-US" sz="1600" dirty="0">
                          <a:latin typeface="Times New Roman" panose="02020603050405020304" pitchFamily="18" charset="0"/>
                          <a:cs typeface="Times New Roman" panose="02020603050405020304" pitchFamily="18" charset="0"/>
                        </a:rPr>
                        <a:t>I(Invalid)</a:t>
                      </a:r>
                      <a:endParaRPr lang="en-US" sz="16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600">
                          <a:latin typeface="Times New Roman" panose="02020603050405020304" pitchFamily="18" charset="0"/>
                          <a:cs typeface="Times New Roman" panose="02020603050405020304" pitchFamily="18" charset="0"/>
                        </a:rPr>
                        <a:t>Local Read</a:t>
                      </a:r>
                      <a:endParaRPr lang="en-US" sz="1600">
                        <a:latin typeface="Times New Roman" panose="02020603050405020304" pitchFamily="18" charset="0"/>
                        <a:cs typeface="Times New Roman" panose="02020603050405020304" pitchFamily="18" charset="0"/>
                      </a:endParaRPr>
                    </a:p>
                  </a:txBody>
                  <a:tcPr marL="0" marR="0" marT="0" marB="0" anchor="ctr"/>
                </a:tc>
                <a:tc>
                  <a:txBody>
                    <a:bodyPr/>
                    <a:p>
                      <a:pPr marL="285750" indent="-285750" algn="l">
                        <a:buFont typeface="Wingdings" panose="05000000000000000000" pitchFamily="2" charset="2"/>
                        <a:buChar char="u"/>
                      </a:pPr>
                      <a:r>
                        <a:rPr lang="zh-CN" altLang="en-US" sz="1600" dirty="0">
                          <a:latin typeface="Times New Roman" panose="02020603050405020304" pitchFamily="18" charset="0"/>
                          <a:cs typeface="Times New Roman" panose="02020603050405020304" pitchFamily="18" charset="0"/>
                        </a:rPr>
                        <a:t>如果其它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没有这份数据，本</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从内存中取数据，</a:t>
                      </a:r>
                      <a:r>
                        <a:rPr lang="en-US" altLang="zh-CN" sz="1600" dirty="0">
                          <a:latin typeface="Times New Roman" panose="02020603050405020304" pitchFamily="18" charset="0"/>
                          <a:cs typeface="Times New Roman" panose="02020603050405020304" pitchFamily="18" charset="0"/>
                        </a:rPr>
                        <a:t>Cache line</a:t>
                      </a:r>
                      <a:r>
                        <a:rPr lang="zh-CN" altLang="en-US" sz="1600" dirty="0">
                          <a:latin typeface="Times New Roman" panose="02020603050405020304" pitchFamily="18" charset="0"/>
                          <a:cs typeface="Times New Roman" panose="02020603050405020304" pitchFamily="18" charset="0"/>
                        </a:rPr>
                        <a:t>状态变成</a:t>
                      </a:r>
                      <a:r>
                        <a:rPr lang="en-US" altLang="zh-CN" sz="1600" dirty="0">
                          <a:latin typeface="Times New Roman" panose="02020603050405020304" pitchFamily="18" charset="0"/>
                          <a:cs typeface="Times New Roman" panose="02020603050405020304" pitchFamily="18" charset="0"/>
                        </a:rPr>
                        <a:t>E</a:t>
                      </a:r>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u"/>
                      </a:pPr>
                      <a:r>
                        <a:rPr lang="zh-CN" altLang="en-US" sz="1600" dirty="0">
                          <a:latin typeface="Times New Roman" panose="02020603050405020304" pitchFamily="18" charset="0"/>
                          <a:cs typeface="Times New Roman" panose="02020603050405020304" pitchFamily="18" charset="0"/>
                        </a:rPr>
                        <a:t>如果其它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有这份数据，且状态为</a:t>
                      </a:r>
                      <a:r>
                        <a:rPr lang="en-US" altLang="zh-CN" sz="1600" dirty="0">
                          <a:latin typeface="Times New Roman" panose="02020603050405020304" pitchFamily="18" charset="0"/>
                          <a:cs typeface="Times New Roman" panose="02020603050405020304" pitchFamily="18" charset="0"/>
                        </a:rPr>
                        <a:t>M</a:t>
                      </a:r>
                      <a:r>
                        <a:rPr lang="zh-CN" altLang="en-US" sz="1600" dirty="0">
                          <a:latin typeface="Times New Roman" panose="02020603050405020304" pitchFamily="18" charset="0"/>
                          <a:cs typeface="Times New Roman" panose="02020603050405020304" pitchFamily="18" charset="0"/>
                        </a:rPr>
                        <a:t>，则将数据更新到内存，本</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再从内存中取数据，</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个</a:t>
                      </a:r>
                      <a:r>
                        <a:rPr lang="en-US" altLang="zh-CN" sz="1600" dirty="0">
                          <a:latin typeface="Times New Roman" panose="02020603050405020304" pitchFamily="18" charset="0"/>
                          <a:cs typeface="Times New Roman" panose="02020603050405020304" pitchFamily="18" charset="0"/>
                        </a:rPr>
                        <a:t>Cache </a:t>
                      </a:r>
                      <a:r>
                        <a:rPr lang="zh-CN" altLang="en-US" sz="1600" dirty="0">
                          <a:latin typeface="Times New Roman" panose="02020603050405020304" pitchFamily="18" charset="0"/>
                          <a:cs typeface="Times New Roman" panose="02020603050405020304" pitchFamily="18" charset="0"/>
                        </a:rPr>
                        <a:t>的状态都变成</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u"/>
                      </a:pPr>
                      <a:r>
                        <a:rPr lang="zh-CN" altLang="en-US" sz="1600" dirty="0">
                          <a:latin typeface="Times New Roman" panose="02020603050405020304" pitchFamily="18" charset="0"/>
                          <a:cs typeface="Times New Roman" panose="02020603050405020304" pitchFamily="18" charset="0"/>
                        </a:rPr>
                        <a:t>如果其它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有这份数据，且状态为</a:t>
                      </a:r>
                      <a:r>
                        <a:rPr lang="en-US" altLang="zh-CN" sz="1600" dirty="0">
                          <a:latin typeface="Times New Roman" panose="02020603050405020304" pitchFamily="18" charset="0"/>
                          <a:cs typeface="Times New Roman" panose="02020603050405020304" pitchFamily="18" charset="0"/>
                        </a:rPr>
                        <a:t>S</a:t>
                      </a:r>
                      <a:r>
                        <a:rPr lang="zh-CN" altLang="en-US" sz="1600" dirty="0">
                          <a:latin typeface="Times New Roman" panose="02020603050405020304" pitchFamily="18" charset="0"/>
                          <a:cs typeface="Times New Roman" panose="02020603050405020304" pitchFamily="18" charset="0"/>
                        </a:rPr>
                        <a:t>或者</a:t>
                      </a:r>
                      <a:r>
                        <a:rPr lang="en-US" altLang="zh-CN" sz="1600" dirty="0">
                          <a:latin typeface="Times New Roman" panose="02020603050405020304" pitchFamily="18" charset="0"/>
                          <a:cs typeface="Times New Roman" panose="02020603050405020304" pitchFamily="18" charset="0"/>
                        </a:rPr>
                        <a:t>E</a:t>
                      </a:r>
                      <a:r>
                        <a:rPr lang="zh-CN" altLang="en-US" sz="1600" dirty="0">
                          <a:latin typeface="Times New Roman" panose="02020603050405020304" pitchFamily="18" charset="0"/>
                          <a:cs typeface="Times New Roman" panose="02020603050405020304" pitchFamily="18" charset="0"/>
                        </a:rPr>
                        <a:t>，本</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从内存中取数据，这些</a:t>
                      </a:r>
                      <a:r>
                        <a:rPr lang="en-US" altLang="zh-CN" sz="1600" dirty="0">
                          <a:latin typeface="Times New Roman" panose="02020603050405020304" pitchFamily="18" charset="0"/>
                          <a:cs typeface="Times New Roman" panose="02020603050405020304" pitchFamily="18" charset="0"/>
                        </a:rPr>
                        <a:t>Cache </a:t>
                      </a:r>
                      <a:r>
                        <a:rPr lang="zh-CN" altLang="en-US"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Cache line</a:t>
                      </a:r>
                      <a:r>
                        <a:rPr lang="zh-CN" altLang="en-US" sz="1600" dirty="0">
                          <a:latin typeface="Times New Roman" panose="02020603050405020304" pitchFamily="18" charset="0"/>
                          <a:cs typeface="Times New Roman" panose="02020603050405020304" pitchFamily="18" charset="0"/>
                        </a:rPr>
                        <a:t>状态都变成</a:t>
                      </a:r>
                      <a:r>
                        <a:rPr lang="en-US" altLang="zh-CN" sz="1600" dirty="0">
                          <a:latin typeface="Times New Roman" panose="02020603050405020304" pitchFamily="18" charset="0"/>
                          <a:cs typeface="Times New Roman" panose="02020603050405020304" pitchFamily="18" charset="0"/>
                        </a:rPr>
                        <a:t>S</a:t>
                      </a:r>
                      <a:endParaRPr lang="en-US" altLang="zh-CN" sz="16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600" dirty="0">
                          <a:latin typeface="Times New Roman" panose="02020603050405020304" pitchFamily="18" charset="0"/>
                          <a:cs typeface="Times New Roman" panose="02020603050405020304" pitchFamily="18" charset="0"/>
                        </a:rPr>
                        <a:t>E/S</a:t>
                      </a:r>
                      <a:endParaRPr lang="en-US" sz="1600" dirty="0">
                        <a:latin typeface="Times New Roman" panose="02020603050405020304" pitchFamily="18" charset="0"/>
                        <a:cs typeface="Times New Roman" panose="02020603050405020304" pitchFamily="18" charset="0"/>
                      </a:endParaRPr>
                    </a:p>
                  </a:txBody>
                  <a:tcPr marL="0" marR="0" marT="0" marB="0" anchor="ctr"/>
                </a:tc>
              </a:tr>
              <a:tr h="1480820">
                <a:tc vMerge="1">
                  <a:tcPr/>
                </a:tc>
                <a:tc>
                  <a:txBody>
                    <a:bodyPr/>
                    <a:p>
                      <a:pPr algn="ctr"/>
                      <a:r>
                        <a:rPr lang="en-US" sz="1600">
                          <a:latin typeface="Times New Roman" panose="02020603050405020304" pitchFamily="18" charset="0"/>
                          <a:cs typeface="Times New Roman" panose="02020603050405020304" pitchFamily="18" charset="0"/>
                        </a:rPr>
                        <a:t>Local Write</a:t>
                      </a:r>
                      <a:endParaRPr lang="en-US" sz="16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600" dirty="0">
                          <a:latin typeface="Times New Roman" panose="02020603050405020304" pitchFamily="18" charset="0"/>
                          <a:cs typeface="Times New Roman" panose="02020603050405020304" pitchFamily="18" charset="0"/>
                        </a:rPr>
                        <a:t>从内存中取数据，在</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中修改，状态变成</a:t>
                      </a:r>
                      <a:r>
                        <a:rPr lang="en-US" altLang="zh-CN" sz="1600" dirty="0">
                          <a:latin typeface="Times New Roman" panose="02020603050405020304" pitchFamily="18" charset="0"/>
                          <a:cs typeface="Times New Roman" panose="02020603050405020304" pitchFamily="18" charset="0"/>
                        </a:rPr>
                        <a:t>M</a:t>
                      </a:r>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u"/>
                      </a:pPr>
                      <a:r>
                        <a:rPr lang="zh-CN" altLang="en-US" sz="1600" dirty="0">
                          <a:latin typeface="Times New Roman" panose="02020603050405020304" pitchFamily="18" charset="0"/>
                          <a:cs typeface="Times New Roman" panose="02020603050405020304" pitchFamily="18" charset="0"/>
                        </a:rPr>
                        <a:t>如果其它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有这份数据，且状态为</a:t>
                      </a:r>
                      <a:r>
                        <a:rPr lang="en-US" altLang="zh-CN" sz="1600" dirty="0">
                          <a:latin typeface="Times New Roman" panose="02020603050405020304" pitchFamily="18" charset="0"/>
                          <a:cs typeface="Times New Roman" panose="02020603050405020304" pitchFamily="18" charset="0"/>
                        </a:rPr>
                        <a:t>M</a:t>
                      </a:r>
                      <a:r>
                        <a:rPr lang="zh-CN" altLang="en-US" sz="1600" dirty="0">
                          <a:latin typeface="Times New Roman" panose="02020603050405020304" pitchFamily="18" charset="0"/>
                          <a:cs typeface="Times New Roman" panose="02020603050405020304" pitchFamily="18" charset="0"/>
                        </a:rPr>
                        <a:t>，则要先将数据更新到内存；</a:t>
                      </a:r>
                      <a:endParaRPr lang="zh-CN" altLang="en-US" sz="16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u"/>
                      </a:pPr>
                      <a:r>
                        <a:rPr lang="zh-CN" altLang="en-US" sz="1600" dirty="0">
                          <a:latin typeface="Times New Roman" panose="02020603050405020304" pitchFamily="18" charset="0"/>
                          <a:cs typeface="Times New Roman" panose="02020603050405020304" pitchFamily="18" charset="0"/>
                        </a:rPr>
                        <a:t>如果其它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有这份数据，则其它</a:t>
                      </a:r>
                      <a:r>
                        <a:rPr lang="en-US" altLang="zh-CN" sz="1600" dirty="0">
                          <a:latin typeface="Times New Roman" panose="02020603050405020304" pitchFamily="18" charset="0"/>
                          <a:cs typeface="Times New Roman" panose="02020603050405020304" pitchFamily="18" charset="0"/>
                        </a:rPr>
                        <a:t>Cache</a:t>
                      </a:r>
                      <a:r>
                        <a:rPr lang="zh-CN" altLang="en-US"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Cache line</a:t>
                      </a:r>
                      <a:r>
                        <a:rPr lang="zh-CN" altLang="en-US" sz="1600" dirty="0">
                          <a:latin typeface="Times New Roman" panose="02020603050405020304" pitchFamily="18" charset="0"/>
                          <a:cs typeface="Times New Roman" panose="02020603050405020304" pitchFamily="18" charset="0"/>
                        </a:rPr>
                        <a:t>状态变成</a:t>
                      </a:r>
                      <a:r>
                        <a:rPr lang="en-US" altLang="zh-CN" sz="1600" dirty="0">
                          <a:latin typeface="Times New Roman" panose="02020603050405020304" pitchFamily="18" charset="0"/>
                          <a:cs typeface="Times New Roman" panose="02020603050405020304" pitchFamily="18" charset="0"/>
                        </a:rPr>
                        <a:t>I</a:t>
                      </a:r>
                      <a:endParaRPr lang="en-US" altLang="zh-CN" sz="16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600">
                          <a:latin typeface="Times New Roman" panose="02020603050405020304" pitchFamily="18" charset="0"/>
                          <a:cs typeface="Times New Roman" panose="02020603050405020304" pitchFamily="18" charset="0"/>
                        </a:rPr>
                        <a:t>M</a:t>
                      </a:r>
                      <a:endParaRPr lang="en-US" sz="1600">
                        <a:latin typeface="Times New Roman" panose="02020603050405020304" pitchFamily="18" charset="0"/>
                        <a:cs typeface="Times New Roman" panose="02020603050405020304" pitchFamily="18" charset="0"/>
                      </a:endParaRPr>
                    </a:p>
                  </a:txBody>
                  <a:tcPr marL="0" marR="0" marT="0" marB="0" anchor="ctr"/>
                </a:tc>
              </a:tr>
              <a:tr h="494030">
                <a:tc vMerge="1">
                  <a:tcPr/>
                </a:tc>
                <a:tc>
                  <a:txBody>
                    <a:bodyPr/>
                    <a:p>
                      <a:pPr algn="ctr"/>
                      <a:r>
                        <a:rPr lang="en-US" sz="1600">
                          <a:latin typeface="Times New Roman" panose="02020603050405020304" pitchFamily="18" charset="0"/>
                          <a:cs typeface="Times New Roman" panose="02020603050405020304" pitchFamily="18" charset="0"/>
                        </a:rPr>
                        <a:t>Remote Read</a:t>
                      </a:r>
                      <a:endParaRPr lang="en-US" sz="16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600" dirty="0">
                          <a:latin typeface="Times New Roman" panose="02020603050405020304" pitchFamily="18" charset="0"/>
                          <a:cs typeface="Times New Roman" panose="02020603050405020304" pitchFamily="18" charset="0"/>
                        </a:rPr>
                        <a:t>  既然是</a:t>
                      </a:r>
                      <a:r>
                        <a:rPr lang="en-US" altLang="zh-CN" sz="1600" dirty="0">
                          <a:latin typeface="Times New Roman" panose="02020603050405020304" pitchFamily="18" charset="0"/>
                          <a:cs typeface="Times New Roman" panose="02020603050405020304" pitchFamily="18" charset="0"/>
                        </a:rPr>
                        <a:t>Invalid</a:t>
                      </a:r>
                      <a:r>
                        <a:rPr lang="zh-CN" altLang="en-US" sz="1600" dirty="0">
                          <a:latin typeface="Times New Roman" panose="02020603050405020304" pitchFamily="18" charset="0"/>
                          <a:cs typeface="Times New Roman" panose="02020603050405020304" pitchFamily="18" charset="0"/>
                        </a:rPr>
                        <a:t>，别的核的操作与它无关</a:t>
                      </a:r>
                      <a:endParaRPr lang="zh-CN" altLang="en-US" sz="16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600">
                          <a:latin typeface="Times New Roman" panose="02020603050405020304" pitchFamily="18" charset="0"/>
                          <a:cs typeface="Times New Roman" panose="02020603050405020304" pitchFamily="18" charset="0"/>
                        </a:rPr>
                        <a:t>I</a:t>
                      </a:r>
                      <a:endParaRPr lang="en-US" sz="1600">
                        <a:latin typeface="Times New Roman" panose="02020603050405020304" pitchFamily="18" charset="0"/>
                        <a:cs typeface="Times New Roman" panose="02020603050405020304" pitchFamily="18" charset="0"/>
                      </a:endParaRPr>
                    </a:p>
                  </a:txBody>
                  <a:tcPr marL="0" marR="0" marT="0" marB="0" anchor="ctr"/>
                </a:tc>
              </a:tr>
              <a:tr h="493395">
                <a:tc vMerge="1">
                  <a:tcPr/>
                </a:tc>
                <a:tc>
                  <a:txBody>
                    <a:bodyPr/>
                    <a:p>
                      <a:pPr algn="ctr"/>
                      <a:r>
                        <a:rPr lang="en-US" sz="1600">
                          <a:latin typeface="Times New Roman" panose="02020603050405020304" pitchFamily="18" charset="0"/>
                          <a:cs typeface="Times New Roman" panose="02020603050405020304" pitchFamily="18" charset="0"/>
                        </a:rPr>
                        <a:t>Remote Write</a:t>
                      </a:r>
                      <a:endParaRPr lang="en-US" sz="16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600" dirty="0">
                          <a:latin typeface="Times New Roman" panose="02020603050405020304" pitchFamily="18" charset="0"/>
                          <a:cs typeface="Times New Roman" panose="02020603050405020304" pitchFamily="18" charset="0"/>
                        </a:rPr>
                        <a:t>  既然是</a:t>
                      </a:r>
                      <a:r>
                        <a:rPr lang="en-US" altLang="zh-CN" sz="1600" dirty="0">
                          <a:latin typeface="Times New Roman" panose="02020603050405020304" pitchFamily="18" charset="0"/>
                          <a:cs typeface="Times New Roman" panose="02020603050405020304" pitchFamily="18" charset="0"/>
                        </a:rPr>
                        <a:t>Invalid</a:t>
                      </a:r>
                      <a:r>
                        <a:rPr lang="zh-CN" altLang="en-US" sz="1600" dirty="0">
                          <a:latin typeface="Times New Roman" panose="02020603050405020304" pitchFamily="18" charset="0"/>
                          <a:cs typeface="Times New Roman" panose="02020603050405020304" pitchFamily="18" charset="0"/>
                        </a:rPr>
                        <a:t>，别的核的操作与它无关</a:t>
                      </a:r>
                      <a:endParaRPr lang="zh-CN" altLang="en-US" sz="16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600" dirty="0">
                          <a:latin typeface="Times New Roman" panose="02020603050405020304" pitchFamily="18" charset="0"/>
                          <a:cs typeface="Times New Roman" panose="02020603050405020304" pitchFamily="18" charset="0"/>
                        </a:rPr>
                        <a:t>I</a:t>
                      </a:r>
                      <a:endParaRPr lang="en-US" sz="1600" dirty="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611188" y="1628458"/>
          <a:ext cx="7704138" cy="4114800"/>
        </p:xfrm>
        <a:graphic>
          <a:graphicData uri="http://schemas.openxmlformats.org/drawingml/2006/table">
            <a:tbl>
              <a:tblPr>
                <a:tableStyleId>{ED083AE6-46FA-4A59-8FB0-9F97EB10719F}</a:tableStyleId>
              </a:tblPr>
              <a:tblGrid>
                <a:gridCol w="1656556"/>
                <a:gridCol w="1728192"/>
                <a:gridCol w="2736304"/>
                <a:gridCol w="1583084"/>
              </a:tblGrid>
              <a:tr h="822960">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当前状态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事件</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行为</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下一个状态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r>
              <a:tr h="822960">
                <a:tc rowSpan="4">
                  <a:txBody>
                    <a:bodyPr/>
                    <a:p>
                      <a:pPr algn="ctr"/>
                      <a:r>
                        <a:rPr lang="en-US" dirty="0">
                          <a:latin typeface="Times New Roman" panose="02020603050405020304" pitchFamily="18" charset="0"/>
                          <a:cs typeface="Times New Roman" panose="02020603050405020304" pitchFamily="18" charset="0"/>
                        </a:rPr>
                        <a:t>E(</a:t>
                      </a:r>
                      <a:r>
                        <a:rPr lang="en-US" sz="1800" kern="1200" dirty="0">
                          <a:latin typeface="Times New Roman" panose="02020603050405020304" pitchFamily="18" charset="0"/>
                          <a:cs typeface="Times New Roman" panose="02020603050405020304" pitchFamily="18" charset="0"/>
                        </a:rPr>
                        <a:t>Exclusive</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dirty="0">
                          <a:latin typeface="Times New Roman" panose="02020603050405020304" pitchFamily="18" charset="0"/>
                          <a:cs typeface="Times New Roman" panose="02020603050405020304" pitchFamily="18" charset="0"/>
                        </a:rPr>
                        <a:t>Local Read</a:t>
                      </a:r>
                      <a:endParaRPr lang="en-US" dirty="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a:latin typeface="Times New Roman" panose="02020603050405020304" pitchFamily="18" charset="0"/>
                          <a:cs typeface="Times New Roman" panose="02020603050405020304" pitchFamily="18" charset="0"/>
                        </a:rPr>
                        <a:t>从</a:t>
                      </a:r>
                      <a:r>
                        <a:rPr lang="en-US" altLang="zh-CN">
                          <a:latin typeface="Times New Roman" panose="02020603050405020304" pitchFamily="18" charset="0"/>
                          <a:cs typeface="Times New Roman" panose="02020603050405020304" pitchFamily="18" charset="0"/>
                        </a:rPr>
                        <a:t>Cache</a:t>
                      </a:r>
                      <a:r>
                        <a:rPr lang="zh-CN" altLang="en-US">
                          <a:latin typeface="Times New Roman" panose="02020603050405020304" pitchFamily="18" charset="0"/>
                          <a:cs typeface="Times New Roman" panose="02020603050405020304" pitchFamily="18" charset="0"/>
                        </a:rPr>
                        <a:t>中取数据，状态不变</a:t>
                      </a:r>
                      <a:endParaRPr lang="zh-CN" altLang="en-US">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dirty="0">
                          <a:latin typeface="Times New Roman" panose="02020603050405020304" pitchFamily="18" charset="0"/>
                          <a:cs typeface="Times New Roman" panose="02020603050405020304" pitchFamily="18" charset="0"/>
                        </a:rPr>
                        <a:t>E</a:t>
                      </a:r>
                      <a:endParaRPr lang="en-US" dirty="0">
                        <a:latin typeface="Times New Roman" panose="02020603050405020304" pitchFamily="18" charset="0"/>
                        <a:cs typeface="Times New Roman" panose="02020603050405020304" pitchFamily="18" charset="0"/>
                      </a:endParaRPr>
                    </a:p>
                  </a:txBody>
                  <a:tcPr marL="0" marR="0" marT="0" marB="0" anchor="ctr"/>
                </a:tc>
              </a:tr>
              <a:tr h="822960">
                <a:tc vMerge="1">
                  <a:tcPr/>
                </a:tc>
                <a:tc>
                  <a:txBody>
                    <a:bodyPr/>
                    <a:p>
                      <a:pPr algn="ctr"/>
                      <a:r>
                        <a:rPr lang="en-US">
                          <a:latin typeface="Times New Roman" panose="02020603050405020304" pitchFamily="18" charset="0"/>
                          <a:cs typeface="Times New Roman" panose="02020603050405020304" pitchFamily="18" charset="0"/>
                        </a:rPr>
                        <a:t>Local Write</a:t>
                      </a:r>
                      <a:endParaRPr lang="en-US">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a:latin typeface="Times New Roman" panose="02020603050405020304" pitchFamily="18" charset="0"/>
                          <a:cs typeface="Times New Roman" panose="02020603050405020304" pitchFamily="18" charset="0"/>
                        </a:rPr>
                        <a:t>修改</a:t>
                      </a:r>
                      <a:r>
                        <a:rPr lang="en-US" altLang="zh-CN">
                          <a:latin typeface="Times New Roman" panose="02020603050405020304" pitchFamily="18" charset="0"/>
                          <a:cs typeface="Times New Roman" panose="02020603050405020304" pitchFamily="18" charset="0"/>
                        </a:rPr>
                        <a:t>Cache</a:t>
                      </a:r>
                      <a:r>
                        <a:rPr lang="zh-CN" altLang="en-US">
                          <a:latin typeface="Times New Roman" panose="02020603050405020304" pitchFamily="18" charset="0"/>
                          <a:cs typeface="Times New Roman" panose="02020603050405020304" pitchFamily="18" charset="0"/>
                        </a:rPr>
                        <a:t>中的数据，状态变成</a:t>
                      </a:r>
                      <a:r>
                        <a:rPr lang="en-US" altLang="zh-CN">
                          <a:latin typeface="Times New Roman" panose="02020603050405020304" pitchFamily="18" charset="0"/>
                          <a:cs typeface="Times New Roman" panose="02020603050405020304" pitchFamily="18" charset="0"/>
                        </a:rPr>
                        <a:t>M</a:t>
                      </a:r>
                      <a:endParaRPr lang="en-US" altLang="zh-CN">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a:latin typeface="Times New Roman" panose="02020603050405020304" pitchFamily="18" charset="0"/>
                          <a:cs typeface="Times New Roman" panose="02020603050405020304" pitchFamily="18" charset="0"/>
                        </a:rPr>
                        <a:t>M</a:t>
                      </a:r>
                      <a:endParaRPr lang="en-US">
                        <a:latin typeface="Times New Roman" panose="02020603050405020304" pitchFamily="18" charset="0"/>
                        <a:cs typeface="Times New Roman" panose="02020603050405020304" pitchFamily="18" charset="0"/>
                      </a:endParaRPr>
                    </a:p>
                  </a:txBody>
                  <a:tcPr marL="0" marR="0" marT="0" marB="0" anchor="ctr"/>
                </a:tc>
              </a:tr>
              <a:tr h="822960">
                <a:tc vMerge="1">
                  <a:tcPr/>
                </a:tc>
                <a:tc>
                  <a:txBody>
                    <a:bodyPr/>
                    <a:p>
                      <a:pPr algn="ctr"/>
                      <a:r>
                        <a:rPr lang="en-US">
                          <a:latin typeface="Times New Roman" panose="02020603050405020304" pitchFamily="18" charset="0"/>
                          <a:cs typeface="Times New Roman" panose="02020603050405020304" pitchFamily="18" charset="0"/>
                        </a:rPr>
                        <a:t>Remote Read</a:t>
                      </a:r>
                      <a:endParaRPr lang="en-US">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a:latin typeface="Times New Roman" panose="02020603050405020304" pitchFamily="18" charset="0"/>
                          <a:cs typeface="Times New Roman" panose="02020603050405020304" pitchFamily="18" charset="0"/>
                        </a:rPr>
                        <a:t>数据和其它核共用，状态变成了</a:t>
                      </a:r>
                      <a:r>
                        <a:rPr lang="en-US" altLang="zh-CN">
                          <a:latin typeface="Times New Roman" panose="02020603050405020304" pitchFamily="18" charset="0"/>
                          <a:cs typeface="Times New Roman" panose="02020603050405020304" pitchFamily="18" charset="0"/>
                        </a:rPr>
                        <a:t>S</a:t>
                      </a:r>
                      <a:endParaRPr lang="en-US" altLang="zh-CN">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a:latin typeface="Times New Roman" panose="02020603050405020304" pitchFamily="18" charset="0"/>
                          <a:cs typeface="Times New Roman" panose="02020603050405020304" pitchFamily="18" charset="0"/>
                        </a:rPr>
                        <a:t>S</a:t>
                      </a:r>
                      <a:endParaRPr lang="en-US">
                        <a:latin typeface="Times New Roman" panose="02020603050405020304" pitchFamily="18" charset="0"/>
                        <a:cs typeface="Times New Roman" panose="02020603050405020304" pitchFamily="18" charset="0"/>
                      </a:endParaRPr>
                    </a:p>
                  </a:txBody>
                  <a:tcPr marL="0" marR="0" marT="0" marB="0" anchor="ctr"/>
                </a:tc>
              </a:tr>
              <a:tr h="822960">
                <a:tc vMerge="1">
                  <a:tcPr/>
                </a:tc>
                <a:tc>
                  <a:txBody>
                    <a:bodyPr/>
                    <a:p>
                      <a:pPr algn="ctr"/>
                      <a:r>
                        <a:rPr lang="en-US" dirty="0">
                          <a:latin typeface="Times New Roman" panose="02020603050405020304" pitchFamily="18" charset="0"/>
                          <a:cs typeface="Times New Roman" panose="02020603050405020304" pitchFamily="18" charset="0"/>
                        </a:rPr>
                        <a:t>Remote Write</a:t>
                      </a:r>
                      <a:endParaRPr lang="en-US" dirty="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a:latin typeface="Times New Roman" panose="02020603050405020304" pitchFamily="18" charset="0"/>
                          <a:cs typeface="Times New Roman" panose="02020603050405020304" pitchFamily="18" charset="0"/>
                        </a:rPr>
                        <a:t>数据被修改，本</a:t>
                      </a:r>
                      <a:r>
                        <a:rPr lang="en-US">
                          <a:latin typeface="Times New Roman" panose="02020603050405020304" pitchFamily="18" charset="0"/>
                          <a:cs typeface="Times New Roman" panose="02020603050405020304" pitchFamily="18" charset="0"/>
                        </a:rPr>
                        <a:t>Cache line</a:t>
                      </a:r>
                      <a:r>
                        <a:rPr lang="zh-CN" altLang="en-US">
                          <a:latin typeface="Times New Roman" panose="02020603050405020304" pitchFamily="18" charset="0"/>
                          <a:cs typeface="Times New Roman" panose="02020603050405020304" pitchFamily="18" charset="0"/>
                        </a:rPr>
                        <a:t>不能再使用，状态变成</a:t>
                      </a:r>
                      <a:r>
                        <a:rPr lang="en-US">
                          <a:latin typeface="Times New Roman" panose="02020603050405020304" pitchFamily="18" charset="0"/>
                          <a:cs typeface="Times New Roman" panose="02020603050405020304" pitchFamily="18" charset="0"/>
                        </a:rPr>
                        <a:t>I</a:t>
                      </a:r>
                      <a:endParaRPr lang="en-US">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dirty="0">
                          <a:latin typeface="Times New Roman" panose="02020603050405020304" pitchFamily="18" charset="0"/>
                          <a:cs typeface="Times New Roman" panose="02020603050405020304" pitchFamily="18" charset="0"/>
                        </a:rPr>
                        <a:t>I</a:t>
                      </a:r>
                      <a:endParaRPr lang="en-US" dirty="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611188" y="1268413"/>
          <a:ext cx="7704138" cy="4389438"/>
        </p:xfrm>
        <a:graphic>
          <a:graphicData uri="http://schemas.openxmlformats.org/drawingml/2006/table">
            <a:tbl>
              <a:tblPr>
                <a:tableStyleId>{ED083AE6-46FA-4A59-8FB0-9F97EB10719F}</a:tableStyleId>
              </a:tblPr>
              <a:tblGrid>
                <a:gridCol w="1296516"/>
                <a:gridCol w="1728192"/>
                <a:gridCol w="3096344"/>
                <a:gridCol w="1583084"/>
              </a:tblGrid>
              <a:tr h="822960">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当前状态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事件</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行为</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下一个状态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r>
              <a:tr h="823019">
                <a:tc rowSpan="4">
                  <a:txBody>
                    <a:bodyPr/>
                    <a:p>
                      <a:pPr algn="ctr"/>
                      <a:r>
                        <a:rPr lang="en-US" sz="1800" dirty="0">
                          <a:latin typeface="Times New Roman" panose="02020603050405020304" pitchFamily="18" charset="0"/>
                          <a:cs typeface="Times New Roman" panose="02020603050405020304" pitchFamily="18" charset="0"/>
                        </a:rPr>
                        <a:t>S(Shared)</a:t>
                      </a:r>
                      <a:endParaRPr 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Local Read</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从</a:t>
                      </a:r>
                      <a:r>
                        <a:rPr lang="en-US" altLang="zh-CN" sz="1800" dirty="0">
                          <a:latin typeface="Times New Roman" panose="02020603050405020304" pitchFamily="18" charset="0"/>
                          <a:cs typeface="Times New Roman" panose="02020603050405020304" pitchFamily="18" charset="0"/>
                        </a:rPr>
                        <a:t>Cache</a:t>
                      </a:r>
                      <a:r>
                        <a:rPr lang="zh-CN" altLang="en-US" sz="1800" dirty="0">
                          <a:latin typeface="Times New Roman" panose="02020603050405020304" pitchFamily="18" charset="0"/>
                          <a:cs typeface="Times New Roman" panose="02020603050405020304" pitchFamily="18" charset="0"/>
                        </a:rPr>
                        <a:t>中取数据，状态不变</a:t>
                      </a:r>
                      <a:endParaRPr lang="zh-CN" alt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S</a:t>
                      </a:r>
                      <a:endParaRPr lang="en-US" sz="1800">
                        <a:latin typeface="Times New Roman" panose="02020603050405020304" pitchFamily="18" charset="0"/>
                        <a:cs typeface="Times New Roman" panose="02020603050405020304" pitchFamily="18" charset="0"/>
                      </a:endParaRPr>
                    </a:p>
                  </a:txBody>
                  <a:tcPr marL="0" marR="0" marT="0" marB="0" anchor="ctr"/>
                </a:tc>
              </a:tr>
              <a:tr h="1097360">
                <a:tc vMerge="1">
                  <a:tcPr/>
                </a:tc>
                <a:tc>
                  <a:txBody>
                    <a:bodyPr/>
                    <a:p>
                      <a:pPr algn="ctr"/>
                      <a:r>
                        <a:rPr lang="en-US" sz="1800">
                          <a:latin typeface="Times New Roman" panose="02020603050405020304" pitchFamily="18" charset="0"/>
                          <a:cs typeface="Times New Roman" panose="02020603050405020304" pitchFamily="18" charset="0"/>
                        </a:rPr>
                        <a:t>Local Write</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marL="285750" indent="-285750" algn="l">
                        <a:buFont typeface="Wingdings" panose="05000000000000000000" pitchFamily="2" charset="2"/>
                        <a:buChar char="u"/>
                      </a:pPr>
                      <a:r>
                        <a:rPr lang="zh-CN" altLang="en-US" sz="1800" dirty="0">
                          <a:latin typeface="Times New Roman" panose="02020603050405020304" pitchFamily="18" charset="0"/>
                          <a:cs typeface="Times New Roman" panose="02020603050405020304" pitchFamily="18" charset="0"/>
                        </a:rPr>
                        <a:t>修改</a:t>
                      </a:r>
                      <a:r>
                        <a:rPr lang="en-US" altLang="zh-CN" sz="1800" dirty="0">
                          <a:latin typeface="Times New Roman" panose="02020603050405020304" pitchFamily="18" charset="0"/>
                          <a:cs typeface="Times New Roman" panose="02020603050405020304" pitchFamily="18" charset="0"/>
                        </a:rPr>
                        <a:t>Cache</a:t>
                      </a:r>
                      <a:r>
                        <a:rPr lang="zh-CN" altLang="en-US" sz="1800" dirty="0">
                          <a:latin typeface="Times New Roman" panose="02020603050405020304" pitchFamily="18" charset="0"/>
                          <a:cs typeface="Times New Roman" panose="02020603050405020304" pitchFamily="18" charset="0"/>
                        </a:rPr>
                        <a:t>中的数据，状态变成</a:t>
                      </a:r>
                      <a:r>
                        <a:rPr lang="en-US" altLang="zh-CN" sz="1800" dirty="0">
                          <a:latin typeface="Times New Roman" panose="02020603050405020304" pitchFamily="18" charset="0"/>
                          <a:cs typeface="Times New Roman" panose="02020603050405020304" pitchFamily="18" charset="0"/>
                        </a:rPr>
                        <a:t>M</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u"/>
                      </a:pPr>
                      <a:r>
                        <a:rPr lang="zh-CN" altLang="en-US" sz="1800" dirty="0">
                          <a:latin typeface="Times New Roman" panose="02020603050405020304" pitchFamily="18" charset="0"/>
                          <a:cs typeface="Times New Roman" panose="02020603050405020304" pitchFamily="18" charset="0"/>
                        </a:rPr>
                        <a:t>其它核共享的</a:t>
                      </a:r>
                      <a:r>
                        <a:rPr lang="en-US" altLang="zh-CN" sz="1800" dirty="0">
                          <a:latin typeface="Times New Roman" panose="02020603050405020304" pitchFamily="18" charset="0"/>
                          <a:cs typeface="Times New Roman" panose="02020603050405020304" pitchFamily="18" charset="0"/>
                        </a:rPr>
                        <a:t>Cache line</a:t>
                      </a:r>
                      <a:r>
                        <a:rPr lang="zh-CN" altLang="en-US" sz="1800" dirty="0">
                          <a:latin typeface="Times New Roman" panose="02020603050405020304" pitchFamily="18" charset="0"/>
                          <a:cs typeface="Times New Roman" panose="02020603050405020304" pitchFamily="18" charset="0"/>
                        </a:rPr>
                        <a:t>状态变成</a:t>
                      </a:r>
                      <a:r>
                        <a:rPr lang="en-US" altLang="zh-CN" sz="1800" dirty="0">
                          <a:latin typeface="Times New Roman" panose="02020603050405020304" pitchFamily="18" charset="0"/>
                          <a:cs typeface="Times New Roman" panose="02020603050405020304" pitchFamily="18" charset="0"/>
                        </a:rPr>
                        <a:t>I</a:t>
                      </a:r>
                      <a:endParaRPr lang="en-US" altLang="zh-CN"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dirty="0">
                          <a:latin typeface="Times New Roman" panose="02020603050405020304" pitchFamily="18" charset="0"/>
                          <a:cs typeface="Times New Roman" panose="02020603050405020304" pitchFamily="18" charset="0"/>
                        </a:rPr>
                        <a:t>M</a:t>
                      </a:r>
                      <a:endParaRPr lang="en-US" sz="1800" dirty="0">
                        <a:latin typeface="Times New Roman" panose="02020603050405020304" pitchFamily="18" charset="0"/>
                        <a:cs typeface="Times New Roman" panose="02020603050405020304" pitchFamily="18" charset="0"/>
                      </a:endParaRPr>
                    </a:p>
                  </a:txBody>
                  <a:tcPr marL="0" marR="0" marT="0" marB="0" anchor="ctr"/>
                </a:tc>
              </a:tr>
              <a:tr h="823019">
                <a:tc vMerge="1">
                  <a:tcPr/>
                </a:tc>
                <a:tc>
                  <a:txBody>
                    <a:bodyPr/>
                    <a:p>
                      <a:pPr algn="ctr"/>
                      <a:r>
                        <a:rPr lang="en-US" sz="1800">
                          <a:latin typeface="Times New Roman" panose="02020603050405020304" pitchFamily="18" charset="0"/>
                          <a:cs typeface="Times New Roman" panose="02020603050405020304" pitchFamily="18" charset="0"/>
                        </a:rPr>
                        <a:t>Remote Read</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状态不变</a:t>
                      </a:r>
                      <a:endParaRPr lang="zh-CN" alt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dirty="0">
                          <a:latin typeface="Times New Roman" panose="02020603050405020304" pitchFamily="18" charset="0"/>
                          <a:cs typeface="Times New Roman" panose="02020603050405020304" pitchFamily="18" charset="0"/>
                        </a:rPr>
                        <a:t>S</a:t>
                      </a:r>
                      <a:endParaRPr lang="en-US" sz="1800" dirty="0">
                        <a:latin typeface="Times New Roman" panose="02020603050405020304" pitchFamily="18" charset="0"/>
                        <a:cs typeface="Times New Roman" panose="02020603050405020304" pitchFamily="18" charset="0"/>
                      </a:endParaRPr>
                    </a:p>
                  </a:txBody>
                  <a:tcPr marL="0" marR="0" marT="0" marB="0" anchor="ctr"/>
                </a:tc>
              </a:tr>
              <a:tr h="823019">
                <a:tc vMerge="1">
                  <a:tcPr/>
                </a:tc>
                <a:tc>
                  <a:txBody>
                    <a:bodyPr/>
                    <a:p>
                      <a:pPr algn="ctr"/>
                      <a:r>
                        <a:rPr lang="en-US" sz="1800">
                          <a:latin typeface="Times New Roman" panose="02020603050405020304" pitchFamily="18" charset="0"/>
                          <a:cs typeface="Times New Roman" panose="02020603050405020304" pitchFamily="18" charset="0"/>
                        </a:rPr>
                        <a:t>Remote Write</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数据被修改，本</a:t>
                      </a:r>
                      <a:r>
                        <a:rPr lang="en-US" sz="1800" dirty="0">
                          <a:latin typeface="Times New Roman" panose="02020603050405020304" pitchFamily="18" charset="0"/>
                          <a:cs typeface="Times New Roman" panose="02020603050405020304" pitchFamily="18" charset="0"/>
                        </a:rPr>
                        <a:t>Cache line</a:t>
                      </a:r>
                      <a:r>
                        <a:rPr lang="zh-CN" altLang="en-US" sz="1800" dirty="0">
                          <a:latin typeface="Times New Roman" panose="02020603050405020304" pitchFamily="18" charset="0"/>
                          <a:cs typeface="Times New Roman" panose="02020603050405020304" pitchFamily="18" charset="0"/>
                        </a:rPr>
                        <a:t>不  能再使用，状态变成</a:t>
                      </a:r>
                      <a:r>
                        <a:rPr lang="en-US" sz="1800" dirty="0">
                          <a:latin typeface="Times New Roman" panose="02020603050405020304" pitchFamily="18" charset="0"/>
                          <a:cs typeface="Times New Roman" panose="02020603050405020304" pitchFamily="18" charset="0"/>
                        </a:rPr>
                        <a:t>I</a:t>
                      </a:r>
                      <a:endParaRPr 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dirty="0">
                          <a:latin typeface="Times New Roman" panose="02020603050405020304" pitchFamily="18" charset="0"/>
                          <a:cs typeface="Times New Roman" panose="02020603050405020304" pitchFamily="18" charset="0"/>
                        </a:rPr>
                        <a:t>I</a:t>
                      </a:r>
                      <a:endParaRPr lang="en-US" sz="1800" dirty="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custDataLst>
              <p:tags r:id="rId1"/>
            </p:custDataLst>
          </p:nvPr>
        </p:nvGraphicFramePr>
        <p:xfrm>
          <a:off x="611188" y="1126173"/>
          <a:ext cx="7704136" cy="4938554"/>
        </p:xfrm>
        <a:graphic>
          <a:graphicData uri="http://schemas.openxmlformats.org/drawingml/2006/table">
            <a:tbl>
              <a:tblPr>
                <a:tableStyleId>{ED083AE6-46FA-4A59-8FB0-9F97EB10719F}</a:tableStyleId>
              </a:tblPr>
              <a:tblGrid>
                <a:gridCol w="1656556"/>
                <a:gridCol w="1728192"/>
                <a:gridCol w="2736304"/>
                <a:gridCol w="1583084"/>
              </a:tblGrid>
              <a:tr h="822960">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当前状态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事件</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行为</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c>
                  <a:txBody>
                    <a:bodyPr/>
                    <a:p>
                      <a:pPr marL="0" algn="ctr" defTabSz="914400" rtl="0" eaLnBrk="1" latinLnBrk="0" hangingPunct="1"/>
                      <a:r>
                        <a:rPr lang="zh-CN" altLang="en-US" sz="1800" b="1" kern="1200" dirty="0">
                          <a:solidFill>
                            <a:schemeClr val="dk1"/>
                          </a:solidFill>
                          <a:latin typeface="Times New Roman" panose="02020603050405020304" pitchFamily="18" charset="0"/>
                          <a:ea typeface="+mn-ea"/>
                          <a:cs typeface="+mn-cs"/>
                        </a:rPr>
                        <a:t>下一个状态</a:t>
                      </a:r>
                      <a:endParaRPr lang="zh-CN" altLang="en-US" sz="1800" b="1" kern="1200" dirty="0">
                        <a:solidFill>
                          <a:schemeClr val="dk1"/>
                        </a:solidFill>
                        <a:latin typeface="Times New Roman" panose="02020603050405020304" pitchFamily="18" charset="0"/>
                        <a:ea typeface="+mn-ea"/>
                        <a:cs typeface="+mn-cs"/>
                      </a:endParaRPr>
                    </a:p>
                  </a:txBody>
                  <a:tcPr marL="0" marR="0" marT="0" marB="0" anchor="ctr"/>
                </a:tc>
              </a:tr>
              <a:tr h="823119">
                <a:tc rowSpan="4">
                  <a:txBody>
                    <a:bodyPr/>
                    <a:p>
                      <a:pPr algn="ctr"/>
                      <a:r>
                        <a:rPr lang="en-US" sz="1800">
                          <a:latin typeface="Times New Roman" panose="02020603050405020304" pitchFamily="18" charset="0"/>
                          <a:cs typeface="Times New Roman" panose="02020603050405020304" pitchFamily="18" charset="0"/>
                        </a:rPr>
                        <a:t>M(Modified)</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Local Read</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从</a:t>
                      </a:r>
                      <a:r>
                        <a:rPr lang="en-US" altLang="zh-CN" sz="1800" dirty="0">
                          <a:latin typeface="Times New Roman" panose="02020603050405020304" pitchFamily="18" charset="0"/>
                          <a:cs typeface="Times New Roman" panose="02020603050405020304" pitchFamily="18" charset="0"/>
                        </a:rPr>
                        <a:t>Cache</a:t>
                      </a:r>
                      <a:r>
                        <a:rPr lang="zh-CN" altLang="en-US" sz="1800" dirty="0">
                          <a:latin typeface="Times New Roman" panose="02020603050405020304" pitchFamily="18" charset="0"/>
                          <a:cs typeface="Times New Roman" panose="02020603050405020304" pitchFamily="18" charset="0"/>
                        </a:rPr>
                        <a:t>中取数据，状态不变</a:t>
                      </a:r>
                      <a:endParaRPr lang="zh-CN" alt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M</a:t>
                      </a:r>
                      <a:endParaRPr lang="en-US" sz="1800">
                        <a:latin typeface="Times New Roman" panose="02020603050405020304" pitchFamily="18" charset="0"/>
                        <a:cs typeface="Times New Roman" panose="02020603050405020304" pitchFamily="18" charset="0"/>
                      </a:endParaRPr>
                    </a:p>
                  </a:txBody>
                  <a:tcPr marL="0" marR="0" marT="0" marB="0" anchor="ctr"/>
                </a:tc>
              </a:tr>
              <a:tr h="1097492">
                <a:tc vMerge="1">
                  <a:tcPr/>
                </a:tc>
                <a:tc>
                  <a:txBody>
                    <a:bodyPr/>
                    <a:p>
                      <a:pPr algn="ctr"/>
                      <a:r>
                        <a:rPr lang="en-US" sz="1800">
                          <a:latin typeface="Times New Roman" panose="02020603050405020304" pitchFamily="18" charset="0"/>
                          <a:cs typeface="Times New Roman" panose="02020603050405020304" pitchFamily="18" charset="0"/>
                        </a:rPr>
                        <a:t>Local Write</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修改</a:t>
                      </a:r>
                      <a:r>
                        <a:rPr lang="en-US" altLang="zh-CN" sz="1800" dirty="0">
                          <a:latin typeface="Times New Roman" panose="02020603050405020304" pitchFamily="18" charset="0"/>
                          <a:cs typeface="Times New Roman" panose="02020603050405020304" pitchFamily="18" charset="0"/>
                        </a:rPr>
                        <a:t>Cache</a:t>
                      </a:r>
                      <a:r>
                        <a:rPr lang="zh-CN" altLang="en-US" sz="1800" dirty="0">
                          <a:latin typeface="Times New Roman" panose="02020603050405020304" pitchFamily="18" charset="0"/>
                          <a:cs typeface="Times New Roman" panose="02020603050405020304" pitchFamily="18" charset="0"/>
                        </a:rPr>
                        <a:t>中的数据，状态不变</a:t>
                      </a:r>
                      <a:endParaRPr lang="zh-CN" altLang="en-US"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M</a:t>
                      </a:r>
                      <a:endParaRPr lang="en-US" sz="1800">
                        <a:latin typeface="Times New Roman" panose="02020603050405020304" pitchFamily="18" charset="0"/>
                        <a:cs typeface="Times New Roman" panose="02020603050405020304" pitchFamily="18" charset="0"/>
                      </a:endParaRPr>
                    </a:p>
                  </a:txBody>
                  <a:tcPr marL="0" marR="0" marT="0" marB="0" anchor="ctr"/>
                </a:tc>
              </a:tr>
              <a:tr h="823119">
                <a:tc vMerge="1">
                  <a:tcPr/>
                </a:tc>
                <a:tc>
                  <a:txBody>
                    <a:bodyPr/>
                    <a:p>
                      <a:pPr algn="ctr"/>
                      <a:r>
                        <a:rPr lang="en-US" sz="1800">
                          <a:latin typeface="Times New Roman" panose="02020603050405020304" pitchFamily="18" charset="0"/>
                          <a:cs typeface="Times New Roman" panose="02020603050405020304" pitchFamily="18" charset="0"/>
                        </a:rPr>
                        <a:t>Remote Read</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这行数据被写到内存中，使其它核能使用到最新的数据，状态变成</a:t>
                      </a:r>
                      <a:r>
                        <a:rPr lang="en-US" altLang="zh-CN" sz="1800" dirty="0">
                          <a:latin typeface="Times New Roman" panose="02020603050405020304" pitchFamily="18" charset="0"/>
                          <a:cs typeface="Times New Roman" panose="02020603050405020304" pitchFamily="18" charset="0"/>
                        </a:rPr>
                        <a:t>S</a:t>
                      </a:r>
                      <a:endParaRPr lang="en-US" altLang="zh-CN"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a:latin typeface="Times New Roman" panose="02020603050405020304" pitchFamily="18" charset="0"/>
                          <a:cs typeface="Times New Roman" panose="02020603050405020304" pitchFamily="18" charset="0"/>
                        </a:rPr>
                        <a:t>S</a:t>
                      </a:r>
                      <a:endParaRPr lang="en-US" sz="1800">
                        <a:latin typeface="Times New Roman" panose="02020603050405020304" pitchFamily="18" charset="0"/>
                        <a:cs typeface="Times New Roman" panose="02020603050405020304" pitchFamily="18" charset="0"/>
                      </a:endParaRPr>
                    </a:p>
                  </a:txBody>
                  <a:tcPr marL="0" marR="0" marT="0" marB="0" anchor="ctr"/>
                </a:tc>
              </a:tr>
              <a:tr h="1371864">
                <a:tc vMerge="1">
                  <a:tcPr/>
                </a:tc>
                <a:tc>
                  <a:txBody>
                    <a:bodyPr/>
                    <a:p>
                      <a:pPr algn="ctr"/>
                      <a:r>
                        <a:rPr lang="en-US" sz="1800">
                          <a:latin typeface="Times New Roman" panose="02020603050405020304" pitchFamily="18" charset="0"/>
                          <a:cs typeface="Times New Roman" panose="02020603050405020304" pitchFamily="18" charset="0"/>
                        </a:rPr>
                        <a:t>Remote Write</a:t>
                      </a:r>
                      <a:endParaRPr lang="en-US" sz="1800">
                        <a:latin typeface="Times New Roman" panose="02020603050405020304" pitchFamily="18" charset="0"/>
                        <a:cs typeface="Times New Roman" panose="02020603050405020304" pitchFamily="18" charset="0"/>
                      </a:endParaRPr>
                    </a:p>
                  </a:txBody>
                  <a:tcPr marL="0" marR="0" marT="0" marB="0" anchor="ctr"/>
                </a:tc>
                <a:tc>
                  <a:txBody>
                    <a:bodyPr/>
                    <a:p>
                      <a:pPr algn="l"/>
                      <a:r>
                        <a:rPr lang="zh-CN" altLang="en-US" sz="1800" dirty="0">
                          <a:latin typeface="Times New Roman" panose="02020603050405020304" pitchFamily="18" charset="0"/>
                          <a:cs typeface="Times New Roman" panose="02020603050405020304" pitchFamily="18" charset="0"/>
                        </a:rPr>
                        <a:t>  这行数据被写到内存中，使其它核能使用到最新的数据，由于其它核会修改这行数据，状态变成</a:t>
                      </a:r>
                      <a:r>
                        <a:rPr lang="en-US" altLang="zh-CN" sz="1800" dirty="0">
                          <a:latin typeface="Times New Roman" panose="02020603050405020304" pitchFamily="18" charset="0"/>
                          <a:cs typeface="Times New Roman" panose="02020603050405020304" pitchFamily="18" charset="0"/>
                        </a:rPr>
                        <a:t>I</a:t>
                      </a:r>
                      <a:endParaRPr lang="en-US" altLang="zh-CN" sz="1800" dirty="0">
                        <a:latin typeface="Times New Roman" panose="02020603050405020304" pitchFamily="18" charset="0"/>
                        <a:cs typeface="Times New Roman" panose="02020603050405020304" pitchFamily="18" charset="0"/>
                      </a:endParaRPr>
                    </a:p>
                  </a:txBody>
                  <a:tcPr marL="0" marR="0" marT="0" marB="0" anchor="ctr"/>
                </a:tc>
                <a:tc>
                  <a:txBody>
                    <a:bodyPr/>
                    <a:p>
                      <a:pPr algn="ctr"/>
                      <a:r>
                        <a:rPr lang="en-US" sz="1800" dirty="0">
                          <a:latin typeface="Times New Roman" panose="02020603050405020304" pitchFamily="18" charset="0"/>
                          <a:cs typeface="Times New Roman" panose="02020603050405020304" pitchFamily="18" charset="0"/>
                        </a:rPr>
                        <a:t>I</a:t>
                      </a:r>
                      <a:endParaRPr lang="en-US" sz="1800" dirty="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21970"/>
          </a:xfrm>
        </p:spPr>
        <p:txBody>
          <a:bodyPr vert="horz" wrap="square" lIns="91440" tIns="45720" rIns="91440" bIns="45720" anchor="t" anchorCtr="0">
            <a:spAutoFit/>
          </a:bodyPr>
          <a:p>
            <a:pPr algn="l" eaLnBrk="1" hangingPunct="1">
              <a:buClrTx/>
              <a:buSzTx/>
              <a:buFontTx/>
            </a:pPr>
            <a:r>
              <a:rPr 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MESI Protocols</a:t>
            </a:r>
            <a:endParaRPr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036695"/>
          </a:xfrm>
        </p:spPr>
        <p:txBody>
          <a:bodyPr vert="horz" wrap="square" lIns="91440" tIns="45720" rIns="91440" bIns="45720" anchor="t" anchorCtr="0"/>
          <a:p>
            <a:pPr latinLnBrk="0">
              <a:lnSpc>
                <a:spcPct val="10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当内核需要访问的数据不在本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中，而其它</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有这份数据的备份时，本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可以从内存中导入数据，也可以从其它</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中导入数据，不同处理器有不同选择。</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0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AMD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Opteron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处理器使用从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演化的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MOESI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协议</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latinLnBrk="0">
              <a:lnSpc>
                <a:spcPct val="10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O(Owned)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的一个合体，表示本</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 line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被修改，和内存中的数据不一致，不过其它的核可以有这份数据的拷贝，状态为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0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Intel</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core i7</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处理器使用从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演化的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MESIF</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协议：</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latinLnBrk="0">
              <a:lnSpc>
                <a:spcPct val="10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F(Forward)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Share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中演化而来，一个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 line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如果是</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Forward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状态，它可以把数据直接传给其它内核的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Share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则不能</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9.3.3 基于目录的协议</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105854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sym typeface="+mn-ea"/>
              </a:rPr>
              <a:t>非总线结构的多处理机系统，采用基于目录的</a:t>
            </a:r>
            <a:r>
              <a:rPr lang="en-US" altLang="zh-CN" sz="2000" dirty="0">
                <a:latin typeface="Times New Roman" panose="02020603050405020304" pitchFamily="18" charset="0"/>
                <a:ea typeface="黑体" panose="02010609060101010101" pitchFamily="49" charset="-122"/>
                <a:sym typeface="+mn-ea"/>
              </a:rPr>
              <a:t>Cache</a:t>
            </a:r>
            <a:r>
              <a:rPr lang="zh-CN" altLang="en-US" sz="2000" dirty="0">
                <a:latin typeface="Times New Roman" panose="02020603050405020304" pitchFamily="18" charset="0"/>
                <a:ea typeface="黑体" panose="02010609060101010101" pitchFamily="49" charset="-122"/>
                <a:sym typeface="+mn-ea"/>
              </a:rPr>
              <a:t>一致性协议</a:t>
            </a:r>
            <a:endParaRPr lang="en-US" altLang="zh-CN"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54274" name="Picture 2"/>
          <p:cNvPicPr>
            <a:picLocks noChangeAspect="1"/>
          </p:cNvPicPr>
          <p:nvPr>
            <p:custDataLst>
              <p:tags r:id="rId2"/>
            </p:custDataLst>
          </p:nvPr>
        </p:nvPicPr>
        <p:blipFill>
          <a:blip r:embed="rId3"/>
          <a:stretch>
            <a:fillRect/>
          </a:stretch>
        </p:blipFill>
        <p:spPr>
          <a:xfrm>
            <a:off x="670560" y="1988820"/>
            <a:ext cx="7802880" cy="415290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Cache目录结构</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959985"/>
          </a:xfrm>
        </p:spPr>
        <p:txBody>
          <a:bodyPr vert="horz" wrap="square" lIns="91440" tIns="45720" rIns="91440" bIns="45720" anchor="t" anchorCtr="0"/>
          <a:p>
            <a:pPr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目录存放的内容是每个</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块的状态及共享信息</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根据</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目录的存放形式，有集中式和分布式两种</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根据目录的结构，目录协议分成三类</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全映射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(Full-Map)</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目录：存放全局存储器中每个块的数据</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有限</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(Limited)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目录：每个目录项的指针数固定</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链式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(Chained)</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目录：把目录分布到所有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目录的使用规则</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对</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进行写操作时：</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lvl="2" eaLnBrk="1" hangingPunct="1"/>
            <a:r>
              <a:rPr lang="zh-CN" altLang="en-US" sz="1710" dirty="0">
                <a:latin typeface="Times New Roman" panose="02020603050405020304" pitchFamily="18" charset="0"/>
                <a:ea typeface="黑体" panose="02010609060101010101" pitchFamily="49" charset="-122"/>
                <a:cs typeface="Times New Roman" panose="02020603050405020304" pitchFamily="18" charset="0"/>
                <a:sym typeface="+mn-ea"/>
              </a:rPr>
              <a:t>根据</a:t>
            </a:r>
            <a:r>
              <a:rPr lang="en-US" altLang="zh-CN" sz="171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1710" dirty="0">
                <a:latin typeface="Times New Roman" panose="02020603050405020304" pitchFamily="18" charset="0"/>
                <a:ea typeface="黑体" panose="02010609060101010101" pitchFamily="49" charset="-122"/>
                <a:cs typeface="Times New Roman" panose="02020603050405020304" pitchFamily="18" charset="0"/>
                <a:sym typeface="+mn-ea"/>
              </a:rPr>
              <a:t>目录将所有其他存有相同内容的</a:t>
            </a:r>
            <a:r>
              <a:rPr lang="en-US" altLang="zh-CN" sz="171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1710" dirty="0">
                <a:latin typeface="Times New Roman" panose="02020603050405020304" pitchFamily="18" charset="0"/>
                <a:ea typeface="黑体" panose="02010609060101010101" pitchFamily="49" charset="-122"/>
                <a:cs typeface="Times New Roman" panose="02020603050405020304" pitchFamily="18" charset="0"/>
                <a:sym typeface="+mn-ea"/>
              </a:rPr>
              <a:t>拷贝无效，并置重写位</a:t>
            </a:r>
            <a:endParaRPr lang="zh-CN" altLang="en-US" sz="171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对</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进行读操作时</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如果读命中，直接读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不命中，则从主存或其他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中读入该块，并修改目录</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全映射目录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41730"/>
            <a:ext cx="8396605" cy="5024120"/>
          </a:xfrm>
        </p:spPr>
        <p:txBody>
          <a:bodyPr vert="horz" wrap="square" lIns="91440" tIns="45720" rIns="91440" bIns="45720" anchor="t" anchorCtr="0"/>
          <a:p>
            <a:pPr eaLnBrk="1" latinLnBrk="0" hangingPunct="1">
              <a:lnSpc>
                <a:spcPct val="10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目录项中有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个处理机位和一个重写位</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处理机位表示相应处理机对应的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块的状态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重写位为“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，且只有一个为“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，则该处理机可以对该块进行写</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100000"/>
              </a:lnSpc>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每个数据块两个状态位</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有效</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可写，</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也可以采用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MESI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lnSpc>
                <a:spcPct val="100000"/>
              </a:lnSpc>
              <a:spcBef>
                <a:spcPts val="600"/>
              </a:spcBef>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图</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(a)</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表示全系统中所有</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中都没有</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的拷贝，图</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(b)</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表示三个处理机都对</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有过读请求，图</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(c)</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表示</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P3</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处理机获得对</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的写权限之后的状态</a:t>
            </a:r>
            <a:endPar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471170" y="3500755"/>
            <a:ext cx="8188960" cy="291719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全映射目录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95998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从第二种状态转移至第三种状态的过程</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 Cache3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发现包含</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单元的块是有效的，但是不允许写</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 Cache3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向包含</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单元的存储器模块发写请求，并暂停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的工作</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该存储器模块发无效请求至</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(4) 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接到无效请求后，将对应块置为无效态，并发回答信号给存储器模块</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(5)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存储器模块接到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的回答信号后，置重写位为“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，清除指向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的指针，发允许写信号到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Cache3</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6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(6) Cache3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接到允许写信号，更新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状态，并激活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P3</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全映射目录协议的效率比较高</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但开销与处理机数目的平方成正比，不具有扩展性</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有限目录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2658745"/>
          </a:xfrm>
        </p:spPr>
        <p:txBody>
          <a:bodyPr vert="horz" wrap="square" lIns="91440" tIns="45720" rIns="91440" bIns="45720" anchor="t" anchorCtr="0"/>
          <a:p>
            <a:pPr eaLnBrk="1" latinLnBrk="0" hangingPunct="1">
              <a:lnSpc>
                <a:spcPct val="100000"/>
              </a:lnSpc>
              <a:spcBef>
                <a:spcPts val="600"/>
              </a:spcBef>
            </a:pPr>
            <a:r>
              <a:rPr sz="2000" dirty="0">
                <a:latin typeface="Times New Roman" panose="02020603050405020304" pitchFamily="18" charset="0"/>
                <a:ea typeface="黑体" panose="02010609060101010101" pitchFamily="49" charset="-122"/>
                <a:cs typeface="Times New Roman" panose="02020603050405020304" pitchFamily="18" charset="0"/>
                <a:sym typeface="+mn-ea"/>
              </a:rPr>
              <a:t>在实际的大型应用中，在某个时间范围内很少有一个cache block会被所有的节点共享</a:t>
            </a:r>
            <a:r>
              <a:rPr 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sz="2000" dirty="0">
                <a:latin typeface="Times New Roman" panose="02020603050405020304" pitchFamily="18" charset="0"/>
                <a:ea typeface="黑体" panose="02010609060101010101" pitchFamily="49" charset="-122"/>
                <a:cs typeface="Times New Roman" panose="02020603050405020304" pitchFamily="18" charset="0"/>
                <a:sym typeface="+mn-ea"/>
              </a:rPr>
              <a:t>把</a:t>
            </a:r>
            <a:r>
              <a:rPr lang="zh-CN" sz="2000" dirty="0">
                <a:latin typeface="Times New Roman" panose="02020603050405020304" pitchFamily="18" charset="0"/>
                <a:ea typeface="黑体" panose="02010609060101010101" pitchFamily="49" charset="-122"/>
                <a:cs typeface="Times New Roman" panose="02020603050405020304" pitchFamily="18" charset="0"/>
                <a:sym typeface="+mn-ea"/>
              </a:rPr>
              <a:t>目录</a:t>
            </a:r>
            <a:r>
              <a:rPr sz="2000" dirty="0">
                <a:latin typeface="Times New Roman" panose="02020603050405020304" pitchFamily="18" charset="0"/>
                <a:ea typeface="黑体" panose="02010609060101010101" pitchFamily="49" charset="-122"/>
                <a:cs typeface="Times New Roman" panose="02020603050405020304" pitchFamily="18" charset="0"/>
                <a:sym typeface="+mn-ea"/>
              </a:rPr>
              <a:t>中共享节点列表改为有限个指针信息来表示</a:t>
            </a:r>
            <a:endParaRPr sz="20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lnSpc>
                <a:spcPct val="10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假定有限指针</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数目为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中都有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的拷贝时，若</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请求</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，则必须在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中选择一个使之无效，称为驱逐</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lnSpc>
                <a:spcPct val="10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有限目录的驱逐需要一种驱逐策略</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100000"/>
              </a:lnSpc>
              <a:spcBef>
                <a:spcPts val="600"/>
              </a:spcBef>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驱逐对系统的性能具有很大的影响，与</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rPr>
              <a:t>替换策略在很多方面是相同的</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67589" name="Object 4"/>
          <p:cNvGraphicFramePr>
            <a:graphicFrameLocks noChangeAspect="1"/>
          </p:cNvGraphicFramePr>
          <p:nvPr>
            <p:custDataLst>
              <p:tags r:id="rId2"/>
            </p:custDataLst>
          </p:nvPr>
        </p:nvGraphicFramePr>
        <p:xfrm>
          <a:off x="1043305" y="3356610"/>
          <a:ext cx="7199630" cy="3354070"/>
        </p:xfrm>
        <a:graphic>
          <a:graphicData uri="http://schemas.openxmlformats.org/presentationml/2006/ole">
            <mc:AlternateContent xmlns:mc="http://schemas.openxmlformats.org/markup-compatibility/2006">
              <mc:Choice xmlns:v="urn:schemas-microsoft-com:vml" Requires="v">
                <p:oleObj spid="_x0000_s3098" name="" r:id="rId3" imgW="4450715" imgH="2275205" progId="Word.Picture.8">
                  <p:embed/>
                </p:oleObj>
              </mc:Choice>
              <mc:Fallback>
                <p:oleObj name="" r:id="rId3" imgW="4450715" imgH="2275205" progId="Word.Picture.8">
                  <p:embed/>
                  <p:pic>
                    <p:nvPicPr>
                      <p:cNvPr id="0" name="图片 3097"/>
                      <p:cNvPicPr/>
                      <p:nvPr/>
                    </p:nvPicPr>
                    <p:blipFill>
                      <a:blip r:embed="rId4"/>
                      <a:stretch>
                        <a:fillRect/>
                      </a:stretch>
                    </p:blipFill>
                    <p:spPr>
                      <a:xfrm>
                        <a:off x="1043305" y="3356610"/>
                        <a:ext cx="7199630" cy="3354070"/>
                      </a:xfrm>
                      <a:prstGeom prst="rect">
                        <a:avLst/>
                      </a:prstGeom>
                      <a:noFill/>
                      <a:ln w="38100">
                        <a:noFill/>
                        <a:miter/>
                      </a:ln>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74638"/>
            <a:ext cx="8229600" cy="645160"/>
          </a:xfrm>
        </p:spPr>
        <p:txBody>
          <a:bodyPr vert="horz" wrap="square" lIns="91440" tIns="45720" rIns="91440" bIns="45720" rtlCol="0" anchor="t" anchorCtr="0">
            <a:spAutoFit/>
          </a:bodyPr>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链式目录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25954" name="Rectangle 3"/>
          <p:cNvSpPr>
            <a:spLocks noGrp="1"/>
          </p:cNvSpPr>
          <p:nvPr>
            <p:ph idx="1"/>
            <p:custDataLst>
              <p:tags r:id="rId1"/>
            </p:custDataLst>
          </p:nvPr>
        </p:nvSpPr>
        <p:spPr>
          <a:xfrm>
            <a:off x="558800" y="1205865"/>
            <a:ext cx="8396605" cy="265874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通过维护一个目录指针链来跟踪共享数据拷贝</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时，存储器送</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，同时写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的一个链结束指针</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，在存储器中也保存一个指向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的指针</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读</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时，存储器送</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，同时给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一个指向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的指针，存储器则保存一个指向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的指针</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68613" name="Object 4"/>
          <p:cNvGraphicFramePr>
            <a:graphicFrameLocks noChangeAspect="1"/>
          </p:cNvGraphicFramePr>
          <p:nvPr>
            <p:custDataLst>
              <p:tags r:id="rId2"/>
            </p:custDataLst>
          </p:nvPr>
        </p:nvGraphicFramePr>
        <p:xfrm>
          <a:off x="577215" y="2945765"/>
          <a:ext cx="8414385" cy="3582035"/>
        </p:xfrm>
        <a:graphic>
          <a:graphicData uri="http://schemas.openxmlformats.org/presentationml/2006/ole">
            <mc:AlternateContent xmlns:mc="http://schemas.openxmlformats.org/markup-compatibility/2006">
              <mc:Choice xmlns:v="urn:schemas-microsoft-com:vml" Requires="v">
                <p:oleObj spid="_x0000_s3097" name="" r:id="rId3" imgW="5477510" imgH="2275205" progId="Word.Picture.8">
                  <p:embed/>
                </p:oleObj>
              </mc:Choice>
              <mc:Fallback>
                <p:oleObj name="" r:id="rId3" imgW="5477510" imgH="2275205" progId="Word.Picture.8">
                  <p:embed/>
                  <p:pic>
                    <p:nvPicPr>
                      <p:cNvPr id="0" name="图片 3096"/>
                      <p:cNvPicPr/>
                      <p:nvPr/>
                    </p:nvPicPr>
                    <p:blipFill>
                      <a:blip r:embed="rId4"/>
                      <a:stretch>
                        <a:fillRect/>
                      </a:stretch>
                    </p:blipFill>
                    <p:spPr>
                      <a:xfrm>
                        <a:off x="577215" y="2945765"/>
                        <a:ext cx="8414385" cy="3582035"/>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74638"/>
            <a:ext cx="8229600" cy="645160"/>
          </a:xfrm>
        </p:spPr>
        <p:txBody>
          <a:bodyPr vert="horz" wrap="square" lIns="91440" tIns="45720" rIns="91440" bIns="45720" rtlCol="0" anchor="t" anchorCtr="0">
            <a:spAutoFit/>
          </a:bodyPr>
          <a:p>
            <a:pPr lvl="0" algn="l" eaLnBrk="1" hangingPunct="1">
              <a:buClrTx/>
              <a:buSzTx/>
              <a:buFontTx/>
            </a:pP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链式目录</a:t>
            </a:r>
            <a:endPar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25954" name="Rectangle 3"/>
          <p:cNvSpPr>
            <a:spLocks noGrp="1"/>
          </p:cNvSpPr>
          <p:nvPr>
            <p:ph idx="1"/>
            <p:custDataLst>
              <p:tags r:id="rId1"/>
            </p:custDataLst>
          </p:nvPr>
        </p:nvSpPr>
        <p:spPr>
          <a:xfrm>
            <a:off x="558800" y="1205865"/>
            <a:ext cx="8396605" cy="2658745"/>
          </a:xfrm>
        </p:spPr>
        <p:txBody>
          <a:bodyPr vert="horz" wrap="square" lIns="91440" tIns="45720" rIns="91440" bIns="45720" anchor="t" anchorCtr="0"/>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当某一个处理机需要写</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时，它必须沿整个目录链发送一个数据无效信息。在收到所有相关处理机的回答信号之后，存储器才给该处理机写允许权</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中的数据块需要替换时，把该</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从目录链中删除</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Cachei+1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的指针指向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Cachei-1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中可存放别的数据块</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使</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Cachei</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及链中位于其后的所有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中的单元</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无效</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使用双向链。在替换时不再需要遍历整个链。但指针增加了一倍，一致性协议也更加复杂</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优点：不限制共享数据块的拷贝数目，又保持了可扩展性。</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指针的长度以处理机数目的对数关系增长，</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的每个数据块的指针数目与处理机数目无关</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缺点：链式目录的复杂程度超过了前两种目录</a:t>
            </a: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9.4 多处理机实例</a:t>
            </a:r>
            <a:endPar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5865"/>
            <a:ext cx="8396605" cy="4959985"/>
          </a:xfrm>
        </p:spPr>
        <p:txBody>
          <a:bodyPr vert="horz" wrap="square" lIns="91440" tIns="45720" rIns="91440" bIns="45720" anchor="t" anchorCtr="0"/>
          <a:p>
            <a:pPr eaLnBrk="1" latinLnBrk="0" hangingPunct="1">
              <a:lnSpc>
                <a:spcPct val="90000"/>
              </a:lnSpc>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多处理机系统主要有四大类</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多向量处理机系统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Cray YMP-90, NEC SX-3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FUJITSU VP-2000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 SMP (Symmetry MultiProcessors)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对称多处理机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SMP(Shared Memory MulptiProcessors)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共享存储多处理机 </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SGI Challenge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Sun SparcCenter 2000</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 MPP (massively parallel processing)</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大规模并行处理机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lnSpc>
                <a:spcPct val="90000"/>
              </a:lnSpc>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如</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Intel Paragon, CM-5, Cray T3D</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(4) Cluster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机群系统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(NOW</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COM)</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latinLnBrk="0" hangingPunct="1">
              <a:lnSpc>
                <a:spcPct val="90000"/>
              </a:lnSpc>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Cluster(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集群</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NOW(</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工作站网络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Network Of Workstations)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COW(</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工作站集群</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,Cluster Of Workstations)</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90000"/>
              </a:lnSpc>
            </a:pPr>
            <a:endParaRPr lang="zh-CN" altLang="en-US" sz="1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9.4.3 机群系统 (Cluster)</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hangingPunct="1"/>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机群系统的组成</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机群系统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利用高速网络连接一组高性能工作站或高档</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PC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机</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并行程序设计以及可视化人机交互集成开发环境支持</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统一调度，协调处理，实现高效并行处理的系统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Cluster(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集群</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NOW(</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工作站网络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 Network Of Workstations)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COW(</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工作站集群</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,Cluster Of Workstations)</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从结构和结点间的通信方式来看，属于分布存储系统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机群系统中的主机和网络可以是同构的，也可以是异构的</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微处理机技术、网络技术和并行编程环境的发展使得机群系统这一新的并行处理系统形式正成为当前研究的热点</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微处理器的性能不断提高</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网络技术的进步使得松散耦合系统的通信瓶颈逐步得到缓解</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并行编程环境使得新编并行程序或改写串行程序更为容易</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机群系统的关键技术</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latinLnBrk="0" hangingPunct="1">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高效的通信系统</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在用户空间实现通信协议</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精简通信协议</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sym typeface="+mn-ea"/>
              </a:rPr>
              <a:t>Active Message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rPr>
              <a:t>通信机制</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并行程序设计环境</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marL="107950" indent="-107950" defTabSz="914400" eaLnBrk="1" hangingPunct="1">
              <a:tabLst>
                <a:tab pos="2289175" algn="l"/>
              </a:tabLst>
            </a:pPr>
            <a:r>
              <a:rPr lang="en-US" altLang="zh-CN" sz="2400" dirty="0">
                <a:latin typeface="Times New Roman" panose="02020603050405020304" pitchFamily="18" charset="0"/>
                <a:ea typeface="黑体" panose="02010609060101010101" pitchFamily="49" charset="-122"/>
                <a:sym typeface="+mn-ea"/>
              </a:rPr>
              <a:t>PVM(Parallel Virtual Machine)</a:t>
            </a:r>
            <a:endParaRPr lang="en-US" altLang="zh-CN" sz="24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开始于</a:t>
            </a:r>
            <a:r>
              <a:rPr lang="en-US" altLang="zh-CN" sz="2000" dirty="0">
                <a:latin typeface="Times New Roman" panose="02020603050405020304" pitchFamily="18" charset="0"/>
                <a:ea typeface="黑体" panose="02010609060101010101" pitchFamily="49" charset="-122"/>
                <a:sym typeface="+mn-ea"/>
              </a:rPr>
              <a:t>1989</a:t>
            </a:r>
            <a:r>
              <a:rPr lang="zh-CN" altLang="en-US" sz="2000" dirty="0">
                <a:latin typeface="Times New Roman" panose="02020603050405020304" pitchFamily="18" charset="0"/>
                <a:ea typeface="黑体" panose="02010609060101010101" pitchFamily="49" charset="-122"/>
                <a:sym typeface="+mn-ea"/>
              </a:rPr>
              <a:t>年夏天</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美国橡树岭国家实验室</a:t>
            </a:r>
            <a:r>
              <a:rPr lang="en-US" altLang="zh-CN" sz="2000" dirty="0">
                <a:latin typeface="Times New Roman" panose="02020603050405020304" pitchFamily="18" charset="0"/>
                <a:ea typeface="黑体" panose="02010609060101010101" pitchFamily="49" charset="-122"/>
                <a:sym typeface="+mn-ea"/>
              </a:rPr>
              <a:t>(ORNL)</a:t>
            </a:r>
            <a:endParaRPr lang="en-US" altLang="zh-CN"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一套并行计算工具软件，支持多用户及多任务运行</a:t>
            </a:r>
            <a:endParaRPr lang="zh-CN" altLang="en-US"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支持多种结构的计算机，工作站、并行机以及向量机等</a:t>
            </a:r>
            <a:endParaRPr lang="zh-CN" altLang="en-US"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支持</a:t>
            </a:r>
            <a:r>
              <a:rPr lang="en-US" altLang="zh-CN" sz="2000" dirty="0">
                <a:latin typeface="Times New Roman" panose="02020603050405020304" pitchFamily="18" charset="0"/>
                <a:ea typeface="黑体" panose="02010609060101010101" pitchFamily="49" charset="-122"/>
                <a:sym typeface="+mn-ea"/>
              </a:rPr>
              <a:t>C</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C++</a:t>
            </a:r>
            <a:r>
              <a:rPr lang="zh-CN" altLang="en-US" sz="2000" dirty="0">
                <a:latin typeface="Times New Roman" panose="02020603050405020304" pitchFamily="18" charset="0"/>
                <a:ea typeface="黑体" panose="02010609060101010101" pitchFamily="49" charset="-122"/>
                <a:sym typeface="+mn-ea"/>
              </a:rPr>
              <a:t>和</a:t>
            </a:r>
            <a:r>
              <a:rPr lang="en-US" altLang="zh-CN" sz="2000" dirty="0">
                <a:latin typeface="Times New Roman" panose="02020603050405020304" pitchFamily="18" charset="0"/>
                <a:ea typeface="黑体" panose="02010609060101010101" pitchFamily="49" charset="-122"/>
                <a:sym typeface="+mn-ea"/>
              </a:rPr>
              <a:t>Fortran</a:t>
            </a:r>
            <a:r>
              <a:rPr lang="zh-CN" altLang="en-US" sz="2000" dirty="0">
                <a:latin typeface="Times New Roman" panose="02020603050405020304" pitchFamily="18" charset="0"/>
                <a:ea typeface="黑体" panose="02010609060101010101" pitchFamily="49" charset="-122"/>
                <a:sym typeface="+mn-ea"/>
              </a:rPr>
              <a:t>语言</a:t>
            </a:r>
            <a:endParaRPr lang="zh-CN" altLang="en-US"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自由软件，使用非常广泛</a:t>
            </a:r>
            <a:endParaRPr lang="zh-CN" altLang="en-US"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编程模型可以是</a:t>
            </a:r>
            <a:r>
              <a:rPr lang="en-US" altLang="zh-CN" sz="2000" dirty="0">
                <a:latin typeface="Times New Roman" panose="02020603050405020304" pitchFamily="18" charset="0"/>
                <a:ea typeface="黑体" panose="02010609060101010101" pitchFamily="49" charset="-122"/>
                <a:sym typeface="+mn-ea"/>
              </a:rPr>
              <a:t>SPMD</a:t>
            </a:r>
            <a:r>
              <a:rPr lang="zh-CN" altLang="en-US" sz="2000" dirty="0">
                <a:latin typeface="Times New Roman" panose="02020603050405020304" pitchFamily="18" charset="0"/>
                <a:ea typeface="黑体" panose="02010609060101010101" pitchFamily="49" charset="-122"/>
                <a:sym typeface="+mn-ea"/>
              </a:rPr>
              <a:t>或</a:t>
            </a:r>
            <a:r>
              <a:rPr lang="en-US" altLang="zh-CN" sz="2000" dirty="0">
                <a:latin typeface="Times New Roman" panose="02020603050405020304" pitchFamily="18" charset="0"/>
                <a:ea typeface="黑体" panose="02010609060101010101" pitchFamily="49" charset="-122"/>
                <a:sym typeface="+mn-ea"/>
              </a:rPr>
              <a:t>MPMD</a:t>
            </a:r>
            <a:endParaRPr lang="en-US" altLang="zh-CN" sz="2000" dirty="0">
              <a:latin typeface="Times New Roman" panose="02020603050405020304" pitchFamily="18" charset="0"/>
              <a:ea typeface="黑体" panose="02010609060101010101" pitchFamily="49" charset="-122"/>
            </a:endParaRPr>
          </a:p>
          <a:p>
            <a:pPr marL="332105" lvl="1" indent="-109855" defTabSz="914400" eaLnBrk="1" latinLnBrk="0" hangingPunct="1">
              <a:spcBef>
                <a:spcPts val="1200"/>
              </a:spcBef>
              <a:tabLst>
                <a:tab pos="2289175" algn="l"/>
              </a:tabLst>
            </a:pPr>
            <a:r>
              <a:rPr lang="zh-CN" altLang="en-US" sz="2000" dirty="0">
                <a:latin typeface="Times New Roman" panose="02020603050405020304" pitchFamily="18" charset="0"/>
                <a:ea typeface="黑体" panose="02010609060101010101" pitchFamily="49" charset="-122"/>
                <a:sym typeface="+mn-ea"/>
              </a:rPr>
              <a:t>具有容错功能，发现一个结点出故障时，自动将之删除</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并行程序设计环境</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hangingPunct="1"/>
            <a:r>
              <a:rPr lang="en-US" altLang="zh-CN" sz="2400" dirty="0">
                <a:latin typeface="Times New Roman" panose="02020603050405020304" pitchFamily="18" charset="0"/>
                <a:ea typeface="黑体" panose="02010609060101010101" pitchFamily="49" charset="-122"/>
                <a:sym typeface="+mn-ea"/>
              </a:rPr>
              <a:t>MPI(Message Passing Interface)</a:t>
            </a:r>
            <a:endParaRPr lang="en-US" altLang="zh-CN" sz="24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在</a:t>
            </a:r>
            <a:r>
              <a:rPr lang="en-US" altLang="zh-CN" sz="2000" dirty="0">
                <a:latin typeface="Times New Roman" panose="02020603050405020304" pitchFamily="18" charset="0"/>
                <a:ea typeface="黑体" panose="02010609060101010101" pitchFamily="49" charset="-122"/>
                <a:sym typeface="+mn-ea"/>
              </a:rPr>
              <a:t>1992</a:t>
            </a:r>
            <a:r>
              <a:rPr lang="zh-CN" altLang="en-US" sz="2000" dirty="0">
                <a:latin typeface="Times New Roman" panose="02020603050405020304" pitchFamily="18" charset="0"/>
                <a:ea typeface="黑体" panose="02010609060101010101" pitchFamily="49" charset="-122"/>
                <a:sym typeface="+mn-ea"/>
              </a:rPr>
              <a:t>年</a:t>
            </a:r>
            <a:r>
              <a:rPr lang="en-US" altLang="zh-CN" sz="2000" dirty="0">
                <a:latin typeface="Times New Roman" panose="02020603050405020304" pitchFamily="18" charset="0"/>
                <a:ea typeface="黑体" panose="02010609060101010101" pitchFamily="49" charset="-122"/>
                <a:sym typeface="+mn-ea"/>
              </a:rPr>
              <a:t>11</a:t>
            </a:r>
            <a:r>
              <a:rPr lang="zh-CN" altLang="en-US" sz="2000" dirty="0">
                <a:latin typeface="Times New Roman" panose="02020603050405020304" pitchFamily="18" charset="0"/>
                <a:ea typeface="黑体" panose="02010609060101010101" pitchFamily="49" charset="-122"/>
                <a:sym typeface="+mn-ea"/>
              </a:rPr>
              <a:t>月至</a:t>
            </a:r>
            <a:r>
              <a:rPr lang="en-US" altLang="zh-CN" sz="2000" dirty="0">
                <a:latin typeface="Times New Roman" panose="02020603050405020304" pitchFamily="18" charset="0"/>
                <a:ea typeface="黑体" panose="02010609060101010101" pitchFamily="49" charset="-122"/>
                <a:sym typeface="+mn-ea"/>
              </a:rPr>
              <a:t>1994</a:t>
            </a:r>
            <a:r>
              <a:rPr lang="zh-CN" altLang="en-US" sz="2000" dirty="0">
                <a:latin typeface="Times New Roman" panose="02020603050405020304" pitchFamily="18" charset="0"/>
                <a:ea typeface="黑体" panose="02010609060101010101" pitchFamily="49" charset="-122"/>
                <a:sym typeface="+mn-ea"/>
              </a:rPr>
              <a:t>年元月产生</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能用于大多数并行计算机、计算机机群和异构网络环境</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支持</a:t>
            </a:r>
            <a:r>
              <a:rPr lang="en-US" altLang="zh-CN" sz="2000" dirty="0">
                <a:latin typeface="Times New Roman" panose="02020603050405020304" pitchFamily="18" charset="0"/>
                <a:ea typeface="黑体" panose="02010609060101010101" pitchFamily="49" charset="-122"/>
                <a:sym typeface="+mn-ea"/>
              </a:rPr>
              <a:t>C</a:t>
            </a:r>
            <a:r>
              <a:rPr lang="zh-CN" altLang="en-US" sz="2000" dirty="0">
                <a:latin typeface="Times New Roman" panose="02020603050405020304" pitchFamily="18" charset="0"/>
                <a:ea typeface="黑体" panose="02010609060101010101" pitchFamily="49" charset="-122"/>
                <a:sym typeface="+mn-ea"/>
              </a:rPr>
              <a:t>和</a:t>
            </a:r>
            <a:r>
              <a:rPr lang="en-US" altLang="zh-CN" sz="2000" dirty="0">
                <a:latin typeface="Times New Roman" panose="02020603050405020304" pitchFamily="18" charset="0"/>
                <a:ea typeface="黑体" panose="02010609060101010101" pitchFamily="49" charset="-122"/>
                <a:sym typeface="+mn-ea"/>
              </a:rPr>
              <a:t>Fortran</a:t>
            </a:r>
            <a:r>
              <a:rPr lang="zh-CN" altLang="en-US" sz="2000" dirty="0">
                <a:latin typeface="Times New Roman" panose="02020603050405020304" pitchFamily="18" charset="0"/>
                <a:ea typeface="黑体" panose="02010609060101010101" pitchFamily="49" charset="-122"/>
                <a:sym typeface="+mn-ea"/>
              </a:rPr>
              <a:t>两种语言</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编程模型采用</a:t>
            </a:r>
            <a:r>
              <a:rPr lang="en-US" altLang="zh-CN" sz="2000" dirty="0">
                <a:latin typeface="Times New Roman" panose="02020603050405020304" pitchFamily="18" charset="0"/>
                <a:ea typeface="黑体" panose="02010609060101010101" pitchFamily="49" charset="-122"/>
                <a:sym typeface="+mn-ea"/>
              </a:rPr>
              <a:t>SPMD</a:t>
            </a:r>
            <a:endParaRPr lang="en-US" altLang="zh-CN" sz="2000" dirty="0">
              <a:latin typeface="Times New Roman" panose="02020603050405020304" pitchFamily="18" charset="0"/>
              <a:ea typeface="黑体" panose="02010609060101010101" pitchFamily="49" charset="-122"/>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sym typeface="+mn-ea"/>
              </a:rPr>
              <a:t>Express</a:t>
            </a:r>
            <a:endParaRPr lang="en-US" altLang="zh-CN" sz="24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美国</a:t>
            </a:r>
            <a:r>
              <a:rPr lang="en-US" altLang="zh-CN" sz="2000" dirty="0">
                <a:latin typeface="Times New Roman" panose="02020603050405020304" pitchFamily="18" charset="0"/>
                <a:ea typeface="黑体" panose="02010609060101010101" pitchFamily="49" charset="-122"/>
                <a:sym typeface="+mn-ea"/>
              </a:rPr>
              <a:t>Parasoft</a:t>
            </a:r>
            <a:r>
              <a:rPr lang="zh-CN" altLang="en-US" sz="2000" dirty="0">
                <a:latin typeface="Times New Roman" panose="02020603050405020304" pitchFamily="18" charset="0"/>
                <a:ea typeface="黑体" panose="02010609060101010101" pitchFamily="49" charset="-122"/>
                <a:sym typeface="+mn-ea"/>
              </a:rPr>
              <a:t>公司推出；能在不同的硬件环境上运行；支持</a:t>
            </a:r>
            <a:r>
              <a:rPr lang="en-US" altLang="zh-CN" sz="2000" dirty="0">
                <a:latin typeface="Times New Roman" panose="02020603050405020304" pitchFamily="18" charset="0"/>
                <a:ea typeface="黑体" panose="02010609060101010101" pitchFamily="49" charset="-122"/>
                <a:sym typeface="+mn-ea"/>
              </a:rPr>
              <a:t>C</a:t>
            </a:r>
            <a:r>
              <a:rPr lang="zh-CN" altLang="en-US" sz="2000" dirty="0">
                <a:latin typeface="Times New Roman" panose="02020603050405020304" pitchFamily="18" charset="0"/>
                <a:ea typeface="黑体" panose="02010609060101010101" pitchFamily="49" charset="-122"/>
                <a:sym typeface="+mn-ea"/>
              </a:rPr>
              <a:t>和</a:t>
            </a:r>
            <a:r>
              <a:rPr lang="en-US" altLang="zh-CN" sz="2000" dirty="0">
                <a:latin typeface="Times New Roman" panose="02020603050405020304" pitchFamily="18" charset="0"/>
                <a:ea typeface="黑体" panose="02010609060101010101" pitchFamily="49" charset="-122"/>
                <a:sym typeface="+mn-ea"/>
              </a:rPr>
              <a:t>Fortran</a:t>
            </a:r>
            <a:r>
              <a:rPr lang="zh-CN" altLang="en-US" sz="2000" dirty="0">
                <a:latin typeface="Times New Roman" panose="02020603050405020304" pitchFamily="18" charset="0"/>
                <a:ea typeface="黑体" panose="02010609060101010101" pitchFamily="49" charset="-122"/>
                <a:sym typeface="+mn-ea"/>
              </a:rPr>
              <a:t>两种程序设计语言</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en-US" altLang="zh-CN" sz="2400" dirty="0">
                <a:latin typeface="Times New Roman" panose="02020603050405020304" pitchFamily="18" charset="0"/>
                <a:ea typeface="黑体" panose="02010609060101010101" pitchFamily="49" charset="-122"/>
                <a:sym typeface="+mn-ea"/>
              </a:rPr>
              <a:t>Linda</a:t>
            </a:r>
            <a:endParaRPr lang="en-US" altLang="zh-CN" sz="24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美国</a:t>
            </a:r>
            <a:r>
              <a:rPr lang="en-US" altLang="zh-CN" sz="2000" dirty="0">
                <a:latin typeface="Times New Roman" panose="02020603050405020304" pitchFamily="18" charset="0"/>
                <a:ea typeface="黑体" panose="02010609060101010101" pitchFamily="49" charset="-122"/>
                <a:sym typeface="+mn-ea"/>
              </a:rPr>
              <a:t>Yale</a:t>
            </a:r>
            <a:r>
              <a:rPr lang="zh-CN" altLang="en-US" sz="2000" dirty="0">
                <a:latin typeface="Times New Roman" panose="02020603050405020304" pitchFamily="18" charset="0"/>
                <a:ea typeface="黑体" panose="02010609060101010101" pitchFamily="49" charset="-122"/>
                <a:sym typeface="+mn-ea"/>
              </a:rPr>
              <a:t>大学与科学计算协会共同研制；通过函数扩充现并行程序的设计；支持</a:t>
            </a:r>
            <a:r>
              <a:rPr lang="en-US" altLang="zh-CN" sz="2000" dirty="0">
                <a:latin typeface="Times New Roman" panose="02020603050405020304" pitchFamily="18" charset="0"/>
                <a:ea typeface="黑体" panose="02010609060101010101" pitchFamily="49" charset="-122"/>
                <a:sym typeface="+mn-ea"/>
              </a:rPr>
              <a:t>C-Linda</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Fortran-Linda</a:t>
            </a:r>
            <a:r>
              <a:rPr lang="zh-CN" altLang="en-US" sz="2000" dirty="0">
                <a:latin typeface="Times New Roman" panose="02020603050405020304" pitchFamily="18" charset="0"/>
                <a:ea typeface="黑体" panose="02010609060101010101" pitchFamily="49" charset="-122"/>
                <a:sym typeface="+mn-ea"/>
              </a:rPr>
              <a:t>等</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并行程序设计语言</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用并行程序设计语言编写程序。或者把已经用串行语言编写的程序转换成并行语言程序后，才能在多处理机系统上运行</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传统串行语言程序转换成并行语言程序的过程称为并行编译</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两种并行编译方式</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全自动并行编译与半自动并行编译</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全自动并行编译是方向，但实现起来很困难</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半自动并行编译又称为交互式并行编译。程序员通过多次与机器对话，找到串行程序中可以并行执行的部分</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并行编译器生成代码的形式</a:t>
            </a:r>
            <a:endParaRPr lang="zh-CN" altLang="en-US" sz="2000" dirty="0">
              <a:latin typeface="Times New Roman" panose="02020603050405020304" pitchFamily="18" charset="0"/>
              <a:ea typeface="黑体" panose="02010609060101010101" pitchFamily="49" charset="-122"/>
            </a:endParaRPr>
          </a:p>
          <a:p>
            <a:pPr lvl="1" eaLnBrk="1" hangingPunct="1"/>
            <a:r>
              <a:rPr lang="zh-CN" altLang="en-US" sz="2000" dirty="0">
                <a:latin typeface="Times New Roman" panose="02020603050405020304" pitchFamily="18" charset="0"/>
                <a:ea typeface="黑体" panose="02010609060101010101" pitchFamily="49" charset="-122"/>
                <a:sym typeface="+mn-ea"/>
              </a:rPr>
              <a:t>并行高级语言程序、并行中间语言程序、并行目标语言程序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负载平衡技术</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hangingPunct="1">
              <a:lnSpc>
                <a:spcPct val="90000"/>
              </a:lnSpc>
            </a:pPr>
            <a:r>
              <a:rPr lang="zh-CN" altLang="en-US" sz="2000" dirty="0">
                <a:latin typeface="Times New Roman" panose="02020603050405020304" pitchFamily="18" charset="0"/>
                <a:ea typeface="黑体" panose="02010609060101010101" pitchFamily="49" charset="-122"/>
                <a:sym typeface="+mn-ea"/>
              </a:rPr>
              <a:t>一个大任务可分解为多个子任务，把多个子任务分配到各个处理结点上并行执行的技术称为负载平衡技术</a:t>
            </a:r>
            <a:endParaRPr lang="zh-CN" altLang="en-US" sz="2000" dirty="0">
              <a:latin typeface="Times New Roman" panose="02020603050405020304" pitchFamily="18" charset="0"/>
              <a:ea typeface="黑体" panose="02010609060101010101" pitchFamily="49" charset="-122"/>
            </a:endParaRPr>
          </a:p>
          <a:p>
            <a:pPr lvl="1" eaLnBrk="1" latinLnBrk="0" hangingPunct="1">
              <a:lnSpc>
                <a:spcPct val="90000"/>
              </a:lnSpc>
              <a:spcBef>
                <a:spcPts val="600"/>
              </a:spcBef>
            </a:pPr>
            <a:r>
              <a:rPr lang="zh-CN" altLang="en-US" sz="1800" dirty="0">
                <a:latin typeface="Times New Roman" panose="02020603050405020304" pitchFamily="18" charset="0"/>
                <a:ea typeface="黑体" panose="02010609060101010101" pitchFamily="49" charset="-122"/>
                <a:sym typeface="+mn-ea"/>
              </a:rPr>
              <a:t>对于由异构处理结点构成的并行系统，相同的负载在各结点上的运行时间可能不同。负载定义应是负载量与结点处理能力的比值</a:t>
            </a:r>
            <a:endParaRPr lang="zh-CN" altLang="en-US" sz="1800" dirty="0">
              <a:latin typeface="Times New Roman" panose="02020603050405020304" pitchFamily="18" charset="0"/>
              <a:ea typeface="黑体" panose="02010609060101010101" pitchFamily="49" charset="-122"/>
            </a:endParaRPr>
          </a:p>
          <a:p>
            <a:pPr lvl="1" eaLnBrk="1" latinLnBrk="0" hangingPunct="1">
              <a:lnSpc>
                <a:spcPct val="90000"/>
              </a:lnSpc>
              <a:spcBef>
                <a:spcPts val="600"/>
              </a:spcBef>
            </a:pPr>
            <a:r>
              <a:rPr lang="zh-CN" altLang="en-US" sz="1800" dirty="0">
                <a:latin typeface="Times New Roman" panose="02020603050405020304" pitchFamily="18" charset="0"/>
                <a:ea typeface="黑体" panose="02010609060101010101" pitchFamily="49" charset="-122"/>
                <a:sym typeface="+mn-ea"/>
              </a:rPr>
              <a:t>负载平衡技术的</a:t>
            </a:r>
            <a:r>
              <a:rPr lang="zh-CN" altLang="en-US" sz="1800" dirty="0">
                <a:solidFill>
                  <a:srgbClr val="FF0000"/>
                </a:solidFill>
                <a:latin typeface="Times New Roman" panose="02020603050405020304" pitchFamily="18" charset="0"/>
                <a:ea typeface="黑体" panose="02010609060101010101" pitchFamily="49" charset="-122"/>
                <a:sym typeface="+mn-ea"/>
              </a:rPr>
              <a:t>核心就是调度算法，即将各个任务比较均衡地分布到不同的处理结点上并行计算，从而使各结点的利用率达到最大</a:t>
            </a:r>
            <a:endParaRPr lang="zh-CN" altLang="en-US" sz="2000" dirty="0">
              <a:latin typeface="Times New Roman" panose="02020603050405020304" pitchFamily="18" charset="0"/>
              <a:ea typeface="黑体" panose="02010609060101010101" pitchFamily="49" charset="-122"/>
            </a:endParaRPr>
          </a:p>
          <a:p>
            <a:pPr eaLnBrk="1" latinLnBrk="0" hangingPunct="1">
              <a:lnSpc>
                <a:spcPct val="90000"/>
              </a:lnSpc>
              <a:spcBef>
                <a:spcPts val="1200"/>
              </a:spcBef>
            </a:pPr>
            <a:r>
              <a:rPr lang="zh-CN" altLang="en-US" sz="2000" dirty="0">
                <a:latin typeface="Times New Roman" panose="02020603050405020304" pitchFamily="18" charset="0"/>
                <a:ea typeface="黑体" panose="02010609060101010101" pitchFamily="49" charset="-122"/>
                <a:sym typeface="+mn-ea"/>
              </a:rPr>
              <a:t>负载平衡技术分为静态和动态两大类</a:t>
            </a:r>
            <a:endParaRPr lang="zh-CN" altLang="en-US" sz="2000" dirty="0">
              <a:latin typeface="Times New Roman" panose="02020603050405020304" pitchFamily="18" charset="0"/>
              <a:ea typeface="黑体" panose="02010609060101010101" pitchFamily="49" charset="-122"/>
            </a:endParaRPr>
          </a:p>
          <a:p>
            <a:pPr lvl="1" eaLnBrk="1" latinLnBrk="0" hangingPunct="1">
              <a:lnSpc>
                <a:spcPct val="90000"/>
              </a:lnSpc>
              <a:spcBef>
                <a:spcPts val="600"/>
              </a:spcBef>
            </a:pPr>
            <a:r>
              <a:rPr lang="zh-CN" altLang="en-US" sz="2000" dirty="0">
                <a:latin typeface="Times New Roman" panose="02020603050405020304" pitchFamily="18" charset="0"/>
                <a:ea typeface="黑体" panose="02010609060101010101" pitchFamily="49" charset="-122"/>
                <a:sym typeface="+mn-ea"/>
              </a:rPr>
              <a:t>静态方法</a:t>
            </a:r>
            <a:endParaRPr lang="zh-CN" altLang="en-US" sz="2000" dirty="0">
              <a:latin typeface="Times New Roman" panose="02020603050405020304" pitchFamily="18" charset="0"/>
              <a:ea typeface="黑体" panose="02010609060101010101" pitchFamily="49" charset="-122"/>
            </a:endParaRPr>
          </a:p>
          <a:p>
            <a:pPr lvl="2" eaLnBrk="1" latinLnBrk="0" hangingPunct="1">
              <a:lnSpc>
                <a:spcPct val="90000"/>
              </a:lnSpc>
              <a:spcBef>
                <a:spcPts val="600"/>
              </a:spcBef>
            </a:pPr>
            <a:r>
              <a:rPr lang="zh-CN" altLang="en-US" sz="1800" dirty="0">
                <a:solidFill>
                  <a:srgbClr val="FF0000"/>
                </a:solidFill>
                <a:latin typeface="Times New Roman" panose="02020603050405020304" pitchFamily="18" charset="0"/>
                <a:ea typeface="黑体" panose="02010609060101010101" pitchFamily="49" charset="-122"/>
                <a:sym typeface="+mn-ea"/>
              </a:rPr>
              <a:t>在编译时</a:t>
            </a:r>
            <a:r>
              <a:rPr lang="zh-CN" altLang="en-US" sz="1800" dirty="0">
                <a:latin typeface="Times New Roman" panose="02020603050405020304" pitchFamily="18" charset="0"/>
                <a:ea typeface="黑体" panose="02010609060101010101" pitchFamily="49" charset="-122"/>
                <a:sym typeface="+mn-ea"/>
              </a:rPr>
              <a:t>针对用户程序的各种信息</a:t>
            </a:r>
            <a:r>
              <a:rPr lang="en-US" altLang="zh-CN" sz="1800" dirty="0">
                <a:latin typeface="Times New Roman" panose="02020603050405020304" pitchFamily="18" charset="0"/>
                <a:ea typeface="黑体" panose="02010609060101010101" pitchFamily="49" charset="-122"/>
                <a:sym typeface="+mn-ea"/>
              </a:rPr>
              <a:t>(</a:t>
            </a:r>
            <a:r>
              <a:rPr lang="zh-CN" altLang="en-US" sz="1800" dirty="0">
                <a:latin typeface="Times New Roman" panose="02020603050405020304" pitchFamily="18" charset="0"/>
                <a:ea typeface="黑体" panose="02010609060101010101" pitchFamily="49" charset="-122"/>
                <a:sym typeface="+mn-ea"/>
              </a:rPr>
              <a:t>任务的计算量和通信关系等</a:t>
            </a:r>
            <a:r>
              <a:rPr lang="en-US" altLang="zh-CN" sz="1800" dirty="0">
                <a:latin typeface="Times New Roman" panose="02020603050405020304" pitchFamily="18" charset="0"/>
                <a:ea typeface="黑体" panose="02010609060101010101" pitchFamily="49" charset="-122"/>
                <a:sym typeface="+mn-ea"/>
              </a:rPr>
              <a:t>)</a:t>
            </a:r>
            <a:r>
              <a:rPr lang="zh-CN" altLang="en-US" sz="1800" dirty="0">
                <a:latin typeface="Times New Roman" panose="02020603050405020304" pitchFamily="18" charset="0"/>
                <a:ea typeface="黑体" panose="02010609060101010101" pitchFamily="49" charset="-122"/>
                <a:sym typeface="+mn-ea"/>
              </a:rPr>
              <a:t>及并行系统本身的状况</a:t>
            </a:r>
            <a:r>
              <a:rPr lang="en-US" altLang="zh-CN" sz="1800" dirty="0">
                <a:latin typeface="Times New Roman" panose="02020603050405020304" pitchFamily="18" charset="0"/>
                <a:ea typeface="黑体" panose="02010609060101010101" pitchFamily="49" charset="-122"/>
                <a:sym typeface="+mn-ea"/>
              </a:rPr>
              <a:t>(</a:t>
            </a:r>
            <a:r>
              <a:rPr lang="zh-CN" altLang="en-US" sz="1800" dirty="0">
                <a:latin typeface="Times New Roman" panose="02020603050405020304" pitchFamily="18" charset="0"/>
                <a:ea typeface="黑体" panose="02010609060101010101" pitchFamily="49" charset="-122"/>
                <a:sym typeface="+mn-ea"/>
              </a:rPr>
              <a:t>网络结构、各结点计算能力等</a:t>
            </a:r>
            <a:r>
              <a:rPr lang="en-US" altLang="zh-CN" sz="1800" dirty="0">
                <a:latin typeface="Times New Roman" panose="02020603050405020304" pitchFamily="18" charset="0"/>
                <a:ea typeface="黑体" panose="02010609060101010101" pitchFamily="49" charset="-122"/>
                <a:sym typeface="+mn-ea"/>
              </a:rPr>
              <a:t>)</a:t>
            </a:r>
            <a:r>
              <a:rPr lang="zh-CN" altLang="en-US" sz="1800" dirty="0">
                <a:latin typeface="Times New Roman" panose="02020603050405020304" pitchFamily="18" charset="0"/>
                <a:ea typeface="黑体" panose="02010609060101010101" pitchFamily="49" charset="-122"/>
                <a:sym typeface="+mn-ea"/>
              </a:rPr>
              <a:t>对用户程序中的并行任务作出静态分配决策</a:t>
            </a:r>
            <a:endParaRPr lang="zh-CN" altLang="en-US" sz="1800" dirty="0">
              <a:latin typeface="Times New Roman" panose="02020603050405020304" pitchFamily="18" charset="0"/>
              <a:ea typeface="黑体" panose="02010609060101010101" pitchFamily="49" charset="-122"/>
            </a:endParaRPr>
          </a:p>
          <a:p>
            <a:pPr lvl="1" eaLnBrk="1" latinLnBrk="0" hangingPunct="1">
              <a:lnSpc>
                <a:spcPct val="90000"/>
              </a:lnSpc>
              <a:spcBef>
                <a:spcPts val="600"/>
              </a:spcBef>
            </a:pPr>
            <a:r>
              <a:rPr lang="zh-CN" altLang="en-US" sz="2000" dirty="0">
                <a:latin typeface="Times New Roman" panose="02020603050405020304" pitchFamily="18" charset="0"/>
                <a:ea typeface="黑体" panose="02010609060101010101" pitchFamily="49" charset="-122"/>
                <a:sym typeface="+mn-ea"/>
              </a:rPr>
              <a:t>动态方法</a:t>
            </a:r>
            <a:endParaRPr lang="zh-CN" altLang="en-US" sz="2000" dirty="0">
              <a:latin typeface="Times New Roman" panose="02020603050405020304" pitchFamily="18" charset="0"/>
              <a:ea typeface="黑体" panose="02010609060101010101" pitchFamily="49" charset="-122"/>
            </a:endParaRPr>
          </a:p>
          <a:p>
            <a:pPr lvl="2" eaLnBrk="1" latinLnBrk="0" hangingPunct="1">
              <a:lnSpc>
                <a:spcPct val="90000"/>
              </a:lnSpc>
              <a:spcBef>
                <a:spcPts val="600"/>
              </a:spcBef>
            </a:pPr>
            <a:r>
              <a:rPr lang="zh-CN" altLang="en-US" sz="1800" dirty="0">
                <a:latin typeface="Times New Roman" panose="02020603050405020304" pitchFamily="18" charset="0"/>
                <a:ea typeface="黑体" panose="02010609060101010101" pitchFamily="49" charset="-122"/>
                <a:sym typeface="+mn-ea"/>
              </a:rPr>
              <a:t>在</a:t>
            </a:r>
            <a:r>
              <a:rPr lang="zh-CN" altLang="en-US" sz="1800" dirty="0">
                <a:solidFill>
                  <a:srgbClr val="FF0000"/>
                </a:solidFill>
                <a:latin typeface="Times New Roman" panose="02020603050405020304" pitchFamily="18" charset="0"/>
                <a:ea typeface="黑体" panose="02010609060101010101" pitchFamily="49" charset="-122"/>
                <a:sym typeface="+mn-ea"/>
              </a:rPr>
              <a:t>程序运行过程中</a:t>
            </a:r>
            <a:r>
              <a:rPr lang="zh-CN" altLang="en-US" sz="1800" dirty="0">
                <a:latin typeface="Times New Roman" panose="02020603050405020304" pitchFamily="18" charset="0"/>
                <a:ea typeface="黑体" panose="02010609060101010101" pitchFamily="49" charset="-122"/>
                <a:sym typeface="+mn-ea"/>
              </a:rPr>
              <a:t>实现负载平衡。</a:t>
            </a:r>
            <a:endParaRPr lang="zh-CN" altLang="en-US" sz="1800" dirty="0">
              <a:latin typeface="Times New Roman" panose="02020603050405020304" pitchFamily="18" charset="0"/>
              <a:ea typeface="黑体" panose="02010609060101010101" pitchFamily="49" charset="-122"/>
              <a:sym typeface="+mn-ea"/>
            </a:endParaRPr>
          </a:p>
          <a:p>
            <a:pPr lvl="2" eaLnBrk="1" latinLnBrk="0" hangingPunct="1">
              <a:lnSpc>
                <a:spcPct val="90000"/>
              </a:lnSpc>
              <a:spcBef>
                <a:spcPts val="600"/>
              </a:spcBef>
            </a:pPr>
            <a:r>
              <a:rPr lang="zh-CN" altLang="en-US" sz="1800" dirty="0">
                <a:latin typeface="Times New Roman" panose="02020603050405020304" pitchFamily="18" charset="0"/>
                <a:ea typeface="黑体" panose="02010609060101010101" pitchFamily="49" charset="-122"/>
                <a:sym typeface="+mn-ea"/>
              </a:rPr>
              <a:t>通过分析并行系统的实时负载信息，动态地将任务在各处理机之间进行分配和调整，以消除系统中负载分布的不均匀性。</a:t>
            </a:r>
            <a:endParaRPr lang="zh-CN" altLang="en-US" sz="1800" dirty="0">
              <a:latin typeface="Times New Roman" panose="02020603050405020304" pitchFamily="18" charset="0"/>
              <a:ea typeface="黑体" panose="02010609060101010101" pitchFamily="49" charset="-122"/>
              <a:sym typeface="+mn-ea"/>
            </a:endParaRPr>
          </a:p>
          <a:p>
            <a:pPr lvl="2" eaLnBrk="1" latinLnBrk="0" hangingPunct="1">
              <a:lnSpc>
                <a:spcPct val="90000"/>
              </a:lnSpc>
              <a:spcBef>
                <a:spcPts val="600"/>
              </a:spcBef>
            </a:pPr>
            <a:r>
              <a:rPr lang="zh-CN" altLang="en-US" sz="1800" dirty="0">
                <a:latin typeface="Times New Roman" panose="02020603050405020304" pitchFamily="18" charset="0"/>
                <a:ea typeface="黑体" panose="02010609060101010101" pitchFamily="49" charset="-122"/>
                <a:sym typeface="+mn-ea"/>
              </a:rPr>
              <a:t>动态负载平衡的算法简单，实时控制，但增加了系统的额外开销</a:t>
            </a:r>
            <a:endParaRPr lang="zh-CN" altLang="en-US" sz="18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并行程序调试技术</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用并行程序设计语言编写程序，比用串行程序设计语言更容易出错</a:t>
            </a:r>
            <a:endParaRPr lang="zh-CN" altLang="en-US" sz="2000" dirty="0">
              <a:latin typeface="Times New Roman" panose="02020603050405020304" pitchFamily="18" charset="0"/>
              <a:ea typeface="黑体" panose="02010609060101010101" pitchFamily="49" charset="-122"/>
            </a:endParaRPr>
          </a:p>
          <a:p>
            <a:pPr lvl="1"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在多处理机系统中，用并行程序设计语言编写程序更加依赖于并行调试工具</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并行程序调试的主要困难：并行程序的执行过程不能重现</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可靠性技术</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541591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多处理机上运行的程序通常比较大，程序执行时间很长</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几十个小时或几十天</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。如果在程序执行过程中出现偶然故障</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如电源掉电、磁盘满、某一台处理机故障等</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，则整个运算过程要从头开始</a:t>
            </a:r>
            <a:endParaRPr lang="zh-CN" altLang="en-US" sz="2000" dirty="0">
              <a:latin typeface="Times New Roman" panose="02020603050405020304" pitchFamily="18" charset="0"/>
              <a:ea typeface="黑体" panose="02010609060101010101" pitchFamily="49" charset="-122"/>
            </a:endParaRPr>
          </a:p>
          <a:p>
            <a:pPr eaLnBrk="1" latinLnBrk="0" hangingPunct="1">
              <a:spcBef>
                <a:spcPts val="1200"/>
              </a:spcBef>
            </a:pPr>
            <a:r>
              <a:rPr lang="zh-CN" altLang="en-US" sz="2000" dirty="0">
                <a:latin typeface="Times New Roman" panose="02020603050405020304" pitchFamily="18" charset="0"/>
                <a:ea typeface="黑体" panose="02010609060101010101" pitchFamily="49" charset="-122"/>
                <a:sym typeface="+mn-ea"/>
              </a:rPr>
              <a:t>定时设置检查点，保存现场信息。当出现故障时，只要回复到上一个检查点，不必从头开始执行</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645160"/>
          </a:xfrm>
        </p:spPr>
        <p:txBody>
          <a:bodyPr vert="horz" wrap="square" lIns="91440" tIns="45720" rIns="91440" bIns="45720" anchor="t" anchorCtr="0">
            <a:spAutoFit/>
          </a:bodyPr>
          <a:p>
            <a:pPr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SMP/MPP/机群</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251460" y="1556385"/>
            <a:ext cx="8776970" cy="478980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本章重点</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2265680"/>
          </a:xfrm>
        </p:spPr>
        <p:txBody>
          <a:bodyPr vert="horz" wrap="square" lIns="91440" tIns="45720" rIns="91440" bIns="45720" anchor="t" anchorCtr="0"/>
          <a:p>
            <a:pPr eaLnBrk="1" latinLnBrk="0" hangingPunct="1">
              <a:spcBef>
                <a:spcPts val="1200"/>
              </a:spcBef>
            </a:pPr>
            <a:r>
              <a:rPr lang="zh-CN"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多处理机结构</a:t>
            </a:r>
            <a:r>
              <a:rPr lang="zh-CN" sz="2400" dirty="0">
                <a:latin typeface="Times New Roman" panose="02020603050405020304" pitchFamily="18" charset="0"/>
                <a:ea typeface="黑体" panose="02010609060101010101" pitchFamily="49" charset="-122"/>
                <a:cs typeface="Times New Roman" panose="02020603050405020304" pitchFamily="18" charset="0"/>
                <a:sym typeface="+mn-ea"/>
              </a:rPr>
              <a:t>模型</a:t>
            </a:r>
            <a:endParaRPr lang="zh-CN" sz="24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spcBef>
                <a:spcPts val="1200"/>
              </a:spcBef>
            </a:pPr>
            <a:r>
              <a:rPr lang="zh-CN"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多处理机性能模型（</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R/C)</a:t>
            </a:r>
            <a:endParaRPr sz="2400" dirty="0">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latinLnBrk="0" hangingPunct="1">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多处理机的缓存一致性</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协议</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UNIT_TABLE_BEAUTIFY" val="smartTable{f22f2ac4-8328-46af-a157-e2fa6e279b76}"/>
  <p:tag name="KSO_WM_BEAUTIFY_FLAG" val=""/>
  <p:tag name="TABLE_ENDDRAG_ORIGIN_RECT" val="610*369"/>
  <p:tag name="TABLE_ENDDRAG_RECT" val="36*116*611*369"/>
</p:tagLst>
</file>

<file path=ppt/tags/tag69.xml><?xml version="1.0" encoding="utf-8"?>
<p:tagLst xmlns:p="http://schemas.openxmlformats.org/presentationml/2006/main">
  <p:tag name="KSO_WM_UNIT_TABLE_BEAUTIFY" val="smartTable{04ffe879-cafa-40d2-b952-b75eca7b4e95}"/>
  <p:tag name="KSO_WM_BEAUTIFY_FLAG" val=""/>
</p:tagLst>
</file>

<file path=ppt/tags/tag70.xml><?xml version="1.0" encoding="utf-8"?>
<p:tagLst xmlns:p="http://schemas.openxmlformats.org/presentationml/2006/main">
  <p:tag name="KSO_WM_UNIT_TABLE_BEAUTIFY" val="smartTable{6b82b0ce-4bcc-4fb9-ad35-806cd7c9289e}"/>
  <p:tag name="KSO_WM_BEAUTIFY_FLAG" val=""/>
</p:tagLst>
</file>

<file path=ppt/tags/tag71.xml><?xml version="1.0" encoding="utf-8"?>
<p:tagLst xmlns:p="http://schemas.openxmlformats.org/presentationml/2006/main">
  <p:tag name="KSO_WM_UNIT_TABLE_BEAUTIFY" val="smartTable{c2ec199a-849b-47cd-9cb7-8ce553f49aed}"/>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COMMONDATA" val="eyJoZGlkIjoiNzgwZWUzYWQ0MzYxM2VlNjVhZWQ5MmMwYjc0MjZhZjkifQ=="/>
  <p:tag name="KSO_WPP_MARK_KEY" val="f64f1d04-d5ef-4124-ac0d-f11c60ba39f5"/>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Times New Roman"/>
        <a:ea typeface="Times New Roman"/>
        <a:cs typeface=""/>
      </a:majorFont>
      <a:minorFont>
        <a:latin typeface="Times New Roman"/>
        <a:ea typeface="Times New Roma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10472</Words>
  <Application>WPS 演示</Application>
  <PresentationFormat>全屏显示(4:3)</PresentationFormat>
  <Paragraphs>708</Paragraphs>
  <Slides>60</Slides>
  <Notes>2</Notes>
  <HiddenSlides>0</HiddenSlides>
  <MMClips>0</MMClips>
  <ScaleCrop>false</ScaleCrop>
  <HeadingPairs>
    <vt:vector size="8" baseType="variant">
      <vt:variant>
        <vt:lpstr>已用的字体</vt:lpstr>
      </vt:variant>
      <vt:variant>
        <vt:i4>9</vt:i4>
      </vt:variant>
      <vt:variant>
        <vt:lpstr>主题</vt:lpstr>
      </vt:variant>
      <vt:variant>
        <vt:i4>10</vt:i4>
      </vt:variant>
      <vt:variant>
        <vt:lpstr>嵌入 OLE 服务器</vt:lpstr>
      </vt:variant>
      <vt:variant>
        <vt:i4>17</vt:i4>
      </vt:variant>
      <vt:variant>
        <vt:lpstr>幻灯片标题</vt:lpstr>
      </vt:variant>
      <vt:variant>
        <vt:i4>60</vt:i4>
      </vt:variant>
    </vt:vector>
  </HeadingPairs>
  <TitlesOfParts>
    <vt:vector size="96" baseType="lpstr">
      <vt:lpstr>Arial</vt:lpstr>
      <vt:lpstr>宋体</vt:lpstr>
      <vt:lpstr>Wingdings</vt:lpstr>
      <vt:lpstr>华文行楷</vt:lpstr>
      <vt:lpstr>黑体</vt:lpstr>
      <vt:lpstr>华文中宋</vt:lpstr>
      <vt:lpstr>Times New Roman</vt:lpstr>
      <vt:lpstr>微软雅黑</vt:lpstr>
      <vt:lpstr>Arial Unicode MS</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Equation.3</vt:lpstr>
      <vt:lpstr>Equation.3</vt:lpstr>
      <vt:lpstr>Equation.3</vt:lpstr>
      <vt:lpstr>Equation.3</vt:lpstr>
      <vt:lpstr>Equation.3</vt:lpstr>
      <vt:lpstr>Equation.3</vt:lpstr>
      <vt:lpstr>Word.Picture.8</vt:lpstr>
      <vt:lpstr>Word.Picture.8</vt:lpstr>
      <vt:lpstr>Word.Picture.8</vt:lpstr>
      <vt:lpstr>Equation.3</vt:lpstr>
      <vt:lpstr>Equation.3</vt:lpstr>
      <vt:lpstr>Equation.3</vt:lpstr>
      <vt:lpstr>Equation.3</vt:lpstr>
      <vt:lpstr>Equation.3</vt:lpstr>
      <vt:lpstr>Equation.3</vt:lpstr>
      <vt:lpstr>Equation.3</vt:lpstr>
      <vt:lpstr>Equation.3</vt:lpstr>
      <vt:lpstr>PowerPoint 演示文稿</vt:lpstr>
      <vt:lpstr>第9章 多处理机        </vt:lpstr>
      <vt:lpstr>本章内容</vt:lpstr>
      <vt:lpstr>多处理机</vt:lpstr>
      <vt:lpstr>松散耦合多处理机</vt:lpstr>
      <vt:lpstr>紧密耦合多处理机</vt:lpstr>
      <vt:lpstr>紧密耦合多处理机模型</vt:lpstr>
      <vt:lpstr>访存模型</vt:lpstr>
      <vt:lpstr>访存模型</vt:lpstr>
      <vt:lpstr>9.1.2 多处理机系统的特点</vt:lpstr>
      <vt:lpstr>9.1.2 多处理机系统的特点</vt:lpstr>
      <vt:lpstr>9.1.2 多处理机系统的特点</vt:lpstr>
      <vt:lpstr>9.2 多处理机性能模型</vt:lpstr>
      <vt:lpstr>R/C比值</vt:lpstr>
      <vt:lpstr>9.2.1 基本模型</vt:lpstr>
      <vt:lpstr>应用程序在两台处理机系统上运行分配方法</vt:lpstr>
      <vt:lpstr>程序的总处理时间</vt:lpstr>
      <vt:lpstr>两种不同R/C比值的并行执行时间</vt:lpstr>
      <vt:lpstr>*9.2.2 N台处理机系统的基本模型</vt:lpstr>
      <vt:lpstr>*11个任务平均分给5台处理机(P)</vt:lpstr>
      <vt:lpstr>*M个任务平均分配给N台处理机的最佳分配方法</vt:lpstr>
      <vt:lpstr>*M个任务平均分配给N台处理机的最佳分配方法</vt:lpstr>
      <vt:lpstr>*多处理机系统的加速比</vt:lpstr>
      <vt:lpstr>模型的总结</vt:lpstr>
      <vt:lpstr>9.3 多处理机的Cache一致性</vt:lpstr>
      <vt:lpstr>9.3.1 问题由来</vt:lpstr>
      <vt:lpstr>写共享数据引起的不一致性</vt:lpstr>
      <vt:lpstr>进程迁移引起的数据不一致性</vt:lpstr>
      <vt:lpstr> I/O造成数据不一致性</vt:lpstr>
      <vt:lpstr>9.3.2 监听协议</vt:lpstr>
      <vt:lpstr>两种监听协议</vt:lpstr>
      <vt:lpstr>Cache采用写通过方式时的写无效策略和写更新策略</vt:lpstr>
      <vt:lpstr>*MESI Protocols</vt:lpstr>
      <vt:lpstr>*MESI Protocols</vt:lpstr>
      <vt:lpstr>*MESI Protocols</vt:lpstr>
      <vt:lpstr>*MESI Protocols</vt:lpstr>
      <vt:lpstr>*MESI Protocols</vt:lpstr>
      <vt:lpstr>*MESI Protocols</vt:lpstr>
      <vt:lpstr>*MESI Protocols</vt:lpstr>
      <vt:lpstr>*MESI Protocols</vt:lpstr>
      <vt:lpstr>*MESI Protocols</vt:lpstr>
      <vt:lpstr>*MESI Protocols</vt:lpstr>
      <vt:lpstr>9.3.3 基于目录的协议</vt:lpstr>
      <vt:lpstr>Cache目录结构</vt:lpstr>
      <vt:lpstr>全映射目录</vt:lpstr>
      <vt:lpstr>全映射目录</vt:lpstr>
      <vt:lpstr>有限目录</vt:lpstr>
      <vt:lpstr>链式目录</vt:lpstr>
      <vt:lpstr>链式目录</vt:lpstr>
      <vt:lpstr>*9.4 多处理机实例</vt:lpstr>
      <vt:lpstr>*9.4.3 机群系统 (Cluster)</vt:lpstr>
      <vt:lpstr>*机群系统的关键技术</vt:lpstr>
      <vt:lpstr>*并行程序设计环境</vt:lpstr>
      <vt:lpstr>*并行程序设计环境</vt:lpstr>
      <vt:lpstr>*并行程序设计语言</vt:lpstr>
      <vt:lpstr>*负载平衡技术</vt:lpstr>
      <vt:lpstr>*并行程序调试技术</vt:lpstr>
      <vt:lpstr>*可靠性技术</vt:lpstr>
      <vt:lpstr>*SMP/MPP/机群</vt:lpstr>
      <vt:lpstr>本章重点</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蒋本珊</dc:creator>
  <cp:lastModifiedBy>red</cp:lastModifiedBy>
  <cp:revision>354</cp:revision>
  <dcterms:created xsi:type="dcterms:W3CDTF">2003-05-27T06:14:00Z</dcterms:created>
  <dcterms:modified xsi:type="dcterms:W3CDTF">2024-11-26T00:05:50Z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87D28507446744AF979A868809E35579_13</vt:lpwstr>
  </property>
  <property fmtid="{D5CDD505-2E9C-101B-9397-08002B2CF9AE}" pid="3" name="KSOProductBuildVer">
    <vt:lpwstr>2052-12.1.0.18912</vt:lpwstr>
  </property>
</Properties>
</file>