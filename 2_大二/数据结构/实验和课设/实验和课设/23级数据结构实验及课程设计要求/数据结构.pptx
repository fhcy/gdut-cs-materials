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embeddedFontLst>
    <p:embeddedFont>
      <p:font typeface="Ubuntu Mon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8642FE-7727-4FEA-9526-ECA1DE7D7A91}">
  <a:tblStyle styleId="{668642FE-7727-4FEA-9526-ECA1DE7D7A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UbuntuMono-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UbuntuMono-italic.fntdata"/><Relationship Id="rId30" Type="http://schemas.openxmlformats.org/officeDocument/2006/relationships/slide" Target="slides/slide25.xml"/><Relationship Id="rId74" Type="http://schemas.openxmlformats.org/officeDocument/2006/relationships/font" Target="fonts/UbuntuMono-bold.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UbuntuMono-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7924f6120_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 name="Google Shape;29;g7924f6120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bdb1bcd38f_0_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bdb1bcd38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bdb1bcd38f_0_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bdb1bcd38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bdb1bcd38f_0_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bdb1bcd38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bcfc5ec854_0_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bcfc5ec85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bcfc5ec854_0_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bcfc5ec85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cfc5ec854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cfc5ec8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bcfc5ec854_0_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bcfc5ec8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bcfc5ec854_0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bcfc5ec8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bcfc5ec854_0_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bcfc5ec8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bcfc5ec854_0_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bcfc5ec85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cfc5ec854_0_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cfc5ec85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https://github.com/git/git/blob/master/git.c</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bcfc5ec854_0_1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bcfc5ec85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bcfc5ec854_0_1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bcfc5ec85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cfc5ec854_0_1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cfc5ec85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bcfc5ec854_0_14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bcfc5ec854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bcfc5ec854_0_1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bcfc5ec85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bd450cedcb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bd450ced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bd450cedcb_0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bd450cedc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d450cedcb_0_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d450cedc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bd450cedcb_0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bd450cedc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db1bcd38f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db1bcd3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bd450cedcb_0_9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bd450cedc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bd8cfdd714_0_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bd8cfdd71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bd8cfdd714_0_1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bd8cfdd71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bd8cfdd714_0_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bd8cfdd71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d8cfdd714_0_2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d8cfdd714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bd8cfdd714_0_3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bd8cfdd714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bd8cfdd714_0_5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bd8cfdd714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bd8cfdd714_0_6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bd8cfdd714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bd8cfdd714_0_6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bd8cfdd714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d8cfdd714_0_6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d8cfdd714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d8cfdd714_0_6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d8cfdd714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d8cfdd714_0_6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d8cfdd714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bd8cfdd714_0_6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bd8cfdd714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bd8cfdd714_0_7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bd8cfdd714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bd8cfdd714_0_7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bd8cfdd714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bd8cfdd714_0_7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bd8cfdd714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d8cfdd714_0_7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d8cfdd714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bd8cfdd714_0_7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bd8cfdd714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bd8cfdd714_0_7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bd8cfdd714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bd8cfdd714_0_7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bd8cfdd714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bd8cfdd714_0_7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bd8cfdd714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bd8cfdd714_0_7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bd8cfdd714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bd8cfdd714_0_7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bd8cfdd714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d8cfdd714_0_8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d8cfdd714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db1bcd38f_0_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db1bcd38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db1bcd38f_0_1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db1bcd38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db1bcd38f_0_1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db1bcd38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bdb1bcd38f_0_1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bdb1bcd38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db1bcd38f_0_1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db1bcd38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bdb1bcd38f_0_1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bdb1bcd38f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bdb1bcd38f_0_1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bdb1bcd38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bdb1bcd38f_0_2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bdb1bcd38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bdb1bcd38f_0_1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bdb1bcd38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bdb1bcd38f_0_1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bdb1bcd38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db1bcd38f_0_21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db1bcd38f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bdb1bcd38f_0_2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bdb1bcd38f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bdb1bcd38f_0_2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bdb1bcd38f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be975f202e_2_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be975f202e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be975f202e_2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be975f202e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be975f202e_2_1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be975f202e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bf009f4c0e_0_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bf009f4c0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bdb1bcd38f_0_4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bdb1bcd38f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bf009f4c0e_0_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bf009f4c0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bdb1bcd38f_0_4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bdb1bcd38f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bdb1bcd38f_0_5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bdb1bcd38f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211425" y="1941275"/>
            <a:ext cx="5206200" cy="7848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rgbClr val="BE0712"/>
              </a:buClr>
              <a:buSzPts val="3200"/>
              <a:buFont typeface="Calibri"/>
              <a:buNone/>
              <a:defRPr b="1" i="0" sz="3200" u="none" cap="none" strike="noStrik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9pPr>
          </a:lstStyle>
          <a:p/>
        </p:txBody>
      </p:sp>
      <p:sp>
        <p:nvSpPr>
          <p:cNvPr id="12" name="Google Shape;12;p2"/>
          <p:cNvSpPr txBox="1"/>
          <p:nvPr>
            <p:ph idx="1" type="subTitle"/>
          </p:nvPr>
        </p:nvSpPr>
        <p:spPr>
          <a:xfrm>
            <a:off x="161925" y="2612325"/>
            <a:ext cx="5380800" cy="784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2400"/>
              <a:buFont typeface="Calibri"/>
              <a:buNone/>
              <a:defRPr b="0" i="0" sz="2400" u="none" cap="none" strike="noStrik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cxnSp>
        <p:nvCxnSpPr>
          <p:cNvPr id="13" name="Google Shape;13;p2"/>
          <p:cNvCxnSpPr/>
          <p:nvPr/>
        </p:nvCxnSpPr>
        <p:spPr>
          <a:xfrm>
            <a:off x="290700" y="2669200"/>
            <a:ext cx="8443800" cy="0"/>
          </a:xfrm>
          <a:prstGeom prst="straightConnector1">
            <a:avLst/>
          </a:prstGeom>
          <a:noFill/>
          <a:ln cap="flat" cmpd="sng" w="19050">
            <a:solidFill>
              <a:srgbClr val="1072BD"/>
            </a:solidFill>
            <a:prstDash val="dot"/>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166800" y="92501"/>
            <a:ext cx="8229600" cy="495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cxnSp>
        <p:nvCxnSpPr>
          <p:cNvPr id="16" name="Google Shape;16;p3"/>
          <p:cNvCxnSpPr/>
          <p:nvPr/>
        </p:nvCxnSpPr>
        <p:spPr>
          <a:xfrm>
            <a:off x="243000" y="587800"/>
            <a:ext cx="8443800" cy="0"/>
          </a:xfrm>
          <a:prstGeom prst="straightConnector1">
            <a:avLst/>
          </a:prstGeom>
          <a:noFill/>
          <a:ln cap="flat" cmpd="sng" w="19050">
            <a:solidFill>
              <a:srgbClr val="1072BD"/>
            </a:solidFill>
            <a:prstDash val="dot"/>
            <a:round/>
            <a:headEnd len="med" w="med" type="none"/>
            <a:tailEnd len="med" w="med" type="none"/>
          </a:ln>
        </p:spPr>
      </p:cxnSp>
      <p:sp>
        <p:nvSpPr>
          <p:cNvPr id="17" name="Google Shape;17;p3"/>
          <p:cNvSpPr txBox="1"/>
          <p:nvPr>
            <p:ph idx="1" type="body"/>
          </p:nvPr>
        </p:nvSpPr>
        <p:spPr>
          <a:xfrm>
            <a:off x="243000" y="556500"/>
            <a:ext cx="8443800" cy="4153800"/>
          </a:xfrm>
          <a:prstGeom prst="rect">
            <a:avLst/>
          </a:prstGeom>
          <a:noFill/>
          <a:ln>
            <a:noFill/>
          </a:ln>
        </p:spPr>
        <p:txBody>
          <a:bodyPr anchorCtr="0" anchor="t" bIns="91425" lIns="91425" spcFirstLastPara="1" rIns="91425" wrap="square" tIns="91425">
            <a:noAutofit/>
          </a:bodyPr>
          <a:lstStyle>
            <a:lvl1pPr indent="-355600" lvl="0" marL="457200" rtl="0">
              <a:spcBef>
                <a:spcPts val="600"/>
              </a:spcBef>
              <a:spcAft>
                <a:spcPts val="0"/>
              </a:spcAft>
              <a:buSzPts val="2000"/>
              <a:buFont typeface="Calibri"/>
              <a:buChar char="●"/>
              <a:defRPr sz="2000">
                <a:latin typeface="Calibri"/>
                <a:ea typeface="Calibri"/>
                <a:cs typeface="Calibri"/>
                <a:sym typeface="Calibri"/>
              </a:defRPr>
            </a:lvl1pPr>
            <a:lvl2pPr indent="-355600" lvl="1" marL="914400" rtl="0">
              <a:spcBef>
                <a:spcPts val="0"/>
              </a:spcBef>
              <a:spcAft>
                <a:spcPts val="0"/>
              </a:spcAft>
              <a:buSzPts val="2000"/>
              <a:buFont typeface="Calibri"/>
              <a:buChar char="○"/>
              <a:defRPr sz="2000">
                <a:latin typeface="Calibri"/>
                <a:ea typeface="Calibri"/>
                <a:cs typeface="Calibri"/>
                <a:sym typeface="Calibri"/>
              </a:defRPr>
            </a:lvl2pPr>
            <a:lvl3pPr indent="-342900" lvl="2" marL="1371600" rtl="0">
              <a:spcBef>
                <a:spcPts val="0"/>
              </a:spcBef>
              <a:spcAft>
                <a:spcPts val="0"/>
              </a:spcAft>
              <a:buSzPts val="1800"/>
              <a:buFont typeface="Calibri"/>
              <a:buChar char="■"/>
              <a:defRPr sz="1800">
                <a:latin typeface="Calibri"/>
                <a:ea typeface="Calibri"/>
                <a:cs typeface="Calibri"/>
                <a:sym typeface="Calibri"/>
              </a:defRPr>
            </a:lvl3pPr>
            <a:lvl4pPr indent="-342900" lvl="3" marL="1828800" rtl="0">
              <a:spcBef>
                <a:spcPts val="0"/>
              </a:spcBef>
              <a:spcAft>
                <a:spcPts val="0"/>
              </a:spcAft>
              <a:buSzPts val="1800"/>
              <a:buFont typeface="Calibri"/>
              <a:buChar char="●"/>
              <a:defRPr>
                <a:latin typeface="Calibri"/>
                <a:ea typeface="Calibri"/>
                <a:cs typeface="Calibri"/>
                <a:sym typeface="Calibri"/>
              </a:defRPr>
            </a:lvl4pPr>
            <a:lvl5pPr indent="-342900" lvl="4" marL="2286000" rtl="0">
              <a:spcBef>
                <a:spcPts val="0"/>
              </a:spcBef>
              <a:spcAft>
                <a:spcPts val="0"/>
              </a:spcAft>
              <a:buSzPts val="1800"/>
              <a:buFont typeface="Calibri"/>
              <a:buChar char="○"/>
              <a:defRPr sz="1800">
                <a:latin typeface="Calibri"/>
                <a:ea typeface="Calibri"/>
                <a:cs typeface="Calibri"/>
                <a:sym typeface="Calibri"/>
              </a:defRPr>
            </a:lvl5pPr>
            <a:lvl6pPr indent="-342900" lvl="5" marL="2743200" rtl="0">
              <a:spcBef>
                <a:spcPts val="0"/>
              </a:spcBef>
              <a:spcAft>
                <a:spcPts val="0"/>
              </a:spcAft>
              <a:buSzPts val="1800"/>
              <a:buFont typeface="Calibri"/>
              <a:buChar char="■"/>
              <a:defRPr sz="1800">
                <a:latin typeface="Calibri"/>
                <a:ea typeface="Calibri"/>
                <a:cs typeface="Calibri"/>
                <a:sym typeface="Calibri"/>
              </a:defRPr>
            </a:lvl6pPr>
            <a:lvl7pPr indent="-342900" lvl="6" marL="3200400" rtl="0">
              <a:spcBef>
                <a:spcPts val="0"/>
              </a:spcBef>
              <a:spcAft>
                <a:spcPts val="0"/>
              </a:spcAft>
              <a:buSzPts val="1800"/>
              <a:buFont typeface="Calibri"/>
              <a:buChar char="●"/>
              <a:defRPr sz="1800">
                <a:latin typeface="Calibri"/>
                <a:ea typeface="Calibri"/>
                <a:cs typeface="Calibri"/>
                <a:sym typeface="Calibri"/>
              </a:defRPr>
            </a:lvl7pPr>
            <a:lvl8pPr indent="-342900" lvl="7" marL="3657600" rtl="0">
              <a:spcBef>
                <a:spcPts val="0"/>
              </a:spcBef>
              <a:spcAft>
                <a:spcPts val="0"/>
              </a:spcAft>
              <a:buSzPts val="1800"/>
              <a:buFont typeface="Calibri"/>
              <a:buChar char="○"/>
              <a:defRPr sz="1800">
                <a:latin typeface="Calibri"/>
                <a:ea typeface="Calibri"/>
                <a:cs typeface="Calibri"/>
                <a:sym typeface="Calibri"/>
              </a:defRPr>
            </a:lvl8pPr>
            <a:lvl9pPr indent="-342900" lvl="8" marL="4114800" rtl="0">
              <a:spcBef>
                <a:spcPts val="0"/>
              </a:spcBef>
              <a:spcAft>
                <a:spcPts val="0"/>
              </a:spcAft>
              <a:buSzPts val="1800"/>
              <a:buFont typeface="Calibri"/>
              <a:buChar char="■"/>
              <a:defRPr sz="18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20" name="Google Shape;20;p4"/>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1" name="Google Shape;21;p4"/>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
          <p:cNvSpPr txBox="1"/>
          <p:nvPr>
            <p:ph type="title"/>
          </p:nvPr>
        </p:nvSpPr>
        <p:spPr>
          <a:xfrm>
            <a:off x="928950" y="2143050"/>
            <a:ext cx="7286100" cy="857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6"/>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datastructur.es" TargetMode="External"/><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8" name="Google Shape;8;p1"/>
          <p:cNvPicPr preferRelativeResize="0"/>
          <p:nvPr/>
        </p:nvPicPr>
        <p:blipFill>
          <a:blip r:embed="rId1">
            <a:alphaModFix/>
          </a:blip>
          <a:stretch>
            <a:fillRect/>
          </a:stretch>
        </p:blipFill>
        <p:spPr>
          <a:xfrm>
            <a:off x="8686800" y="4983478"/>
            <a:ext cx="457200" cy="160022"/>
          </a:xfrm>
          <a:prstGeom prst="rect">
            <a:avLst/>
          </a:prstGeom>
          <a:noFill/>
          <a:ln>
            <a:noFill/>
          </a:ln>
        </p:spPr>
      </p:pic>
      <p:sp>
        <p:nvSpPr>
          <p:cNvPr id="9" name="Google Shape;9;p1"/>
          <p:cNvSpPr txBox="1"/>
          <p:nvPr/>
        </p:nvSpPr>
        <p:spPr>
          <a:xfrm>
            <a:off x="8578500" y="4793875"/>
            <a:ext cx="6552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u="sng">
                <a:solidFill>
                  <a:srgbClr val="1155CC"/>
                </a:solidFill>
                <a:latin typeface="Calibri"/>
                <a:ea typeface="Calibri"/>
                <a:cs typeface="Calibri"/>
                <a:sym typeface="Calibri"/>
                <a:hlinkClick r:id="rId2">
                  <a:extLst>
                    <a:ext uri="{A12FA001-AC4F-418D-AE19-62706E023703}">
                      <ahyp:hlinkClr val="tx"/>
                    </a:ext>
                  </a:extLst>
                </a:hlinkClick>
              </a:rPr>
              <a:t>datastructur.es</a:t>
            </a:r>
            <a:endParaRPr sz="600">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github.com/git/git/blob/master/common-main.c" TargetMode="Externa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github.com/git/git/blob/master/git.c"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github.com/git/git/blob/master/git.c"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en.wikipedia.org/wiki/SHA-1"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8"/>
          <p:cNvSpPr txBox="1"/>
          <p:nvPr>
            <p:ph type="ctrTitle"/>
          </p:nvPr>
        </p:nvSpPr>
        <p:spPr>
          <a:xfrm>
            <a:off x="211425" y="1941275"/>
            <a:ext cx="5206200" cy="7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CS61B: 2021</a:t>
            </a:r>
            <a:endParaRPr/>
          </a:p>
        </p:txBody>
      </p:sp>
      <p:sp>
        <p:nvSpPr>
          <p:cNvPr id="32" name="Google Shape;32;p8"/>
          <p:cNvSpPr txBox="1"/>
          <p:nvPr>
            <p:ph idx="1" type="subTitle"/>
          </p:nvPr>
        </p:nvSpPr>
        <p:spPr>
          <a:xfrm>
            <a:off x="161925" y="2612725"/>
            <a:ext cx="8903700" cy="22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Lecture 12: Command Line Programming and Data Structures Preview</a:t>
            </a:r>
            <a:endParaRPr/>
          </a:p>
          <a:p>
            <a:pPr indent="-381000" lvl="0" marL="457200" rtl="0" algn="l">
              <a:spcBef>
                <a:spcPts val="0"/>
              </a:spcBef>
              <a:spcAft>
                <a:spcPts val="0"/>
              </a:spcAft>
              <a:buSzPts val="2400"/>
              <a:buChar char="●"/>
            </a:pPr>
            <a:r>
              <a:rPr lang="en"/>
              <a:t>public static void main(String[] args)</a:t>
            </a:r>
            <a:endParaRPr/>
          </a:p>
          <a:p>
            <a:pPr indent="-381000" lvl="0" marL="457200" rtl="0" algn="l">
              <a:spcBef>
                <a:spcPts val="0"/>
              </a:spcBef>
              <a:spcAft>
                <a:spcPts val="0"/>
              </a:spcAft>
              <a:buSzPts val="2400"/>
              <a:buChar char="●"/>
            </a:pPr>
            <a:r>
              <a:rPr lang="en"/>
              <a:t>Command line compilation and execution</a:t>
            </a:r>
            <a:endParaRPr/>
          </a:p>
          <a:p>
            <a:pPr indent="-381000" lvl="0" marL="457200" rtl="0" algn="l">
              <a:spcBef>
                <a:spcPts val="0"/>
              </a:spcBef>
              <a:spcAft>
                <a:spcPts val="0"/>
              </a:spcAft>
              <a:buSzPts val="2400"/>
              <a:buChar char="●"/>
            </a:pPr>
            <a:r>
              <a:rPr lang="en"/>
              <a:t>Git Case Study: Maps, Hashing, Serializable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Random 61C Preview</a:t>
            </a:r>
            <a:endParaRPr sz="4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Decimal, Binary, Hexadecimal</a:t>
            </a:r>
            <a:endParaRPr/>
          </a:p>
        </p:txBody>
      </p:sp>
      <p:sp>
        <p:nvSpPr>
          <p:cNvPr id="43" name="Google Shape;43;p1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Before we start today, I’d like to cover a concept you’ll go over in 61C.</a:t>
            </a:r>
            <a:endParaRPr/>
          </a:p>
          <a:p>
            <a:pPr indent="-355600" lvl="0" marL="457200" rtl="0" algn="l">
              <a:spcBef>
                <a:spcPts val="600"/>
              </a:spcBef>
              <a:spcAft>
                <a:spcPts val="0"/>
              </a:spcAft>
              <a:buSzPts val="2000"/>
              <a:buChar char="●"/>
            </a:pPr>
            <a:r>
              <a:rPr lang="en"/>
              <a:t>Will be useful later today.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the decimal number system, we have digits 0123456789.</a:t>
            </a:r>
            <a:endParaRPr/>
          </a:p>
          <a:p>
            <a:pPr indent="-355600" lvl="0" marL="457200" rtl="0" algn="l">
              <a:spcBef>
                <a:spcPts val="600"/>
              </a:spcBef>
              <a:spcAft>
                <a:spcPts val="0"/>
              </a:spcAft>
              <a:buSzPts val="2000"/>
              <a:buChar char="●"/>
            </a:pPr>
            <a:r>
              <a:rPr lang="en"/>
              <a:t>Numbers larger than 1 are represented by a sequence, e.g. 932.</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the binary number system, we have digits 01.</a:t>
            </a:r>
            <a:endParaRPr/>
          </a:p>
          <a:p>
            <a:pPr indent="-355600" lvl="0" marL="457200" rtl="0" algn="l">
              <a:spcBef>
                <a:spcPts val="600"/>
              </a:spcBef>
              <a:spcAft>
                <a:spcPts val="0"/>
              </a:spcAft>
              <a:buSzPts val="2000"/>
              <a:buChar char="●"/>
            </a:pPr>
            <a:r>
              <a:rPr lang="en"/>
              <a:t>Numbers larger than 1 are represented by a sequence, e.g. 1110100100.</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the hexadecimal number system, we have digits 0123456789abcdef.</a:t>
            </a:r>
            <a:endParaRPr/>
          </a:p>
          <a:p>
            <a:pPr indent="-355600" lvl="0" marL="457200" rtl="0" algn="l">
              <a:spcBef>
                <a:spcPts val="600"/>
              </a:spcBef>
              <a:spcAft>
                <a:spcPts val="0"/>
              </a:spcAft>
              <a:buSzPts val="2000"/>
              <a:buChar char="●"/>
            </a:pPr>
            <a:r>
              <a:rPr lang="en"/>
              <a:t>Numbers larger than f are represented by a sequence, e.g. 3a4.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0" st="0"/>
                                            </p:txEl>
                                          </p:spTgt>
                                        </p:tgtEl>
                                        <p:attrNameLst>
                                          <p:attrName>style.visibility</p:attrName>
                                        </p:attrNameLst>
                                      </p:cBhvr>
                                      <p:to>
                                        <p:strVal val="visible"/>
                                      </p:to>
                                    </p:set>
                                    <p:animEffect filter="fade" transition="in">
                                      <p:cBhvr>
                                        <p:cTn dur="1"/>
                                        <p:tgtEl>
                                          <p:spTgt spid="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1" st="1"/>
                                            </p:txEl>
                                          </p:spTgt>
                                        </p:tgtEl>
                                        <p:attrNameLst>
                                          <p:attrName>style.visibility</p:attrName>
                                        </p:attrNameLst>
                                      </p:cBhvr>
                                      <p:to>
                                        <p:strVal val="visible"/>
                                      </p:to>
                                    </p:set>
                                    <p:animEffect filter="fade" transition="in">
                                      <p:cBhvr>
                                        <p:cTn dur="1"/>
                                        <p:tgtEl>
                                          <p:spTgt spid="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2" st="2"/>
                                            </p:txEl>
                                          </p:spTgt>
                                        </p:tgtEl>
                                        <p:attrNameLst>
                                          <p:attrName>style.visibility</p:attrName>
                                        </p:attrNameLst>
                                      </p:cBhvr>
                                      <p:to>
                                        <p:strVal val="visible"/>
                                      </p:to>
                                    </p:set>
                                    <p:animEffect filter="fade" transition="in">
                                      <p:cBhvr>
                                        <p:cTn dur="1"/>
                                        <p:tgtEl>
                                          <p:spTgt spid="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3" st="3"/>
                                            </p:txEl>
                                          </p:spTgt>
                                        </p:tgtEl>
                                        <p:attrNameLst>
                                          <p:attrName>style.visibility</p:attrName>
                                        </p:attrNameLst>
                                      </p:cBhvr>
                                      <p:to>
                                        <p:strVal val="visible"/>
                                      </p:to>
                                    </p:set>
                                    <p:animEffect filter="fade" transition="in">
                                      <p:cBhvr>
                                        <p:cTn dur="1"/>
                                        <p:tgtEl>
                                          <p:spTgt spid="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4" st="4"/>
                                            </p:txEl>
                                          </p:spTgt>
                                        </p:tgtEl>
                                        <p:attrNameLst>
                                          <p:attrName>style.visibility</p:attrName>
                                        </p:attrNameLst>
                                      </p:cBhvr>
                                      <p:to>
                                        <p:strVal val="visible"/>
                                      </p:to>
                                    </p:set>
                                    <p:animEffect filter="fade" transition="in">
                                      <p:cBhvr>
                                        <p:cTn dur="1"/>
                                        <p:tgtEl>
                                          <p:spTgt spid="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5" st="5"/>
                                            </p:txEl>
                                          </p:spTgt>
                                        </p:tgtEl>
                                        <p:attrNameLst>
                                          <p:attrName>style.visibility</p:attrName>
                                        </p:attrNameLst>
                                      </p:cBhvr>
                                      <p:to>
                                        <p:strVal val="visible"/>
                                      </p:to>
                                    </p:set>
                                    <p:animEffect filter="fade" transition="in">
                                      <p:cBhvr>
                                        <p:cTn dur="1"/>
                                        <p:tgtEl>
                                          <p:spTgt spid="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6" st="6"/>
                                            </p:txEl>
                                          </p:spTgt>
                                        </p:tgtEl>
                                        <p:attrNameLst>
                                          <p:attrName>style.visibility</p:attrName>
                                        </p:attrNameLst>
                                      </p:cBhvr>
                                      <p:to>
                                        <p:strVal val="visible"/>
                                      </p:to>
                                    </p:set>
                                    <p:animEffect filter="fade" transition="in">
                                      <p:cBhvr>
                                        <p:cTn dur="1"/>
                                        <p:tgtEl>
                                          <p:spTgt spid="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7" st="7"/>
                                            </p:txEl>
                                          </p:spTgt>
                                        </p:tgtEl>
                                        <p:attrNameLst>
                                          <p:attrName>style.visibility</p:attrName>
                                        </p:attrNameLst>
                                      </p:cBhvr>
                                      <p:to>
                                        <p:strVal val="visible"/>
                                      </p:to>
                                    </p:set>
                                    <p:animEffect filter="fade" transition="in">
                                      <p:cBhvr>
                                        <p:cTn dur="1"/>
                                        <p:tgtEl>
                                          <p:spTgt spid="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8" st="8"/>
                                            </p:txEl>
                                          </p:spTgt>
                                        </p:tgtEl>
                                        <p:attrNameLst>
                                          <p:attrName>style.visibility</p:attrName>
                                        </p:attrNameLst>
                                      </p:cBhvr>
                                      <p:to>
                                        <p:strVal val="visible"/>
                                      </p:to>
                                    </p:set>
                                    <p:animEffect filter="fade" transition="in">
                                      <p:cBhvr>
                                        <p:cTn dur="1"/>
                                        <p:tgtEl>
                                          <p:spTgt spid="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9" st="9"/>
                                            </p:txEl>
                                          </p:spTgt>
                                        </p:tgtEl>
                                        <p:attrNameLst>
                                          <p:attrName>style.visibility</p:attrName>
                                        </p:attrNameLst>
                                      </p:cBhvr>
                                      <p:to>
                                        <p:strVal val="visible"/>
                                      </p:to>
                                    </p:set>
                                    <p:animEffect filter="fade" transition="in">
                                      <p:cBhvr>
                                        <p:cTn dur="1"/>
                                        <p:tgtEl>
                                          <p:spTgt spid="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
                                            <p:txEl>
                                              <p:pRg end="10" st="10"/>
                                            </p:txEl>
                                          </p:spTgt>
                                        </p:tgtEl>
                                        <p:attrNameLst>
                                          <p:attrName>style.visibility</p:attrName>
                                        </p:attrNameLst>
                                      </p:cBhvr>
                                      <p:to>
                                        <p:strVal val="visible"/>
                                      </p:to>
                                    </p:set>
                                    <p:animEffect filter="fade" transition="in">
                                      <p:cBhvr>
                                        <p:cTn dur="1"/>
                                        <p:tgtEl>
                                          <p:spTgt spid="4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Decimal, Binary, Hexadecimal</a:t>
            </a:r>
            <a:endParaRPr/>
          </a:p>
        </p:txBody>
      </p:sp>
      <p:sp>
        <p:nvSpPr>
          <p:cNvPr id="49" name="Google Shape;49;p1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numbers 932, 1110100100, and 3a4 are all the same exact number.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Hexadecimal is often used in computer science in lieu of decimal.</a:t>
            </a:r>
            <a:endParaRPr/>
          </a:p>
          <a:p>
            <a:pPr indent="-355600" lvl="0" marL="457200" rtl="0" algn="l">
              <a:spcBef>
                <a:spcPts val="600"/>
              </a:spcBef>
              <a:spcAft>
                <a:spcPts val="0"/>
              </a:spcAft>
              <a:buSzPts val="2000"/>
              <a:buChar char="●"/>
            </a:pPr>
            <a:r>
              <a:rPr lang="en"/>
              <a:t>The exact reasons I’ll leave for 61C.</a:t>
            </a:r>
            <a:endParaRPr/>
          </a:p>
          <a:p>
            <a:pPr indent="-355600" lvl="0" marL="457200" rtl="0" algn="l">
              <a:spcBef>
                <a:spcPts val="0"/>
              </a:spcBef>
              <a:spcAft>
                <a:spcPts val="0"/>
              </a:spcAft>
              <a:buSzPts val="2000"/>
              <a:buChar char="●"/>
            </a:pPr>
            <a:r>
              <a:rPr lang="en"/>
              <a:t>Key property of hexadecimal: Number of digits is a power of 2.</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Today, we’ll use hexadecimal to represent large numbers.</a:t>
            </a:r>
            <a:endParaRPr/>
          </a:p>
          <a:p>
            <a:pPr indent="-355600" lvl="0" marL="457200" rtl="0" algn="l">
              <a:spcBef>
                <a:spcPts val="600"/>
              </a:spcBef>
              <a:spcAft>
                <a:spcPts val="0"/>
              </a:spcAft>
              <a:buSzPts val="2000"/>
              <a:buChar char="●"/>
            </a:pPr>
            <a:r>
              <a:rPr lang="en"/>
              <a:t>Binary:  </a:t>
            </a:r>
            <a:r>
              <a:rPr lang="en"/>
              <a:t>110011011001100110111000110010001011100100111010001010101101101010111000111100101101101101111100110111011010111011010000100001100001100000101010110001010100010</a:t>
            </a:r>
            <a:endParaRPr/>
          </a:p>
          <a:p>
            <a:pPr indent="-355600" lvl="0" marL="457200" rtl="0" algn="l">
              <a:spcBef>
                <a:spcPts val="0"/>
              </a:spcBef>
              <a:spcAft>
                <a:spcPts val="0"/>
              </a:spcAft>
              <a:buSzPts val="2000"/>
              <a:buChar char="●"/>
            </a:pPr>
            <a:r>
              <a:rPr lang="en"/>
              <a:t>Hexadecimal: </a:t>
            </a:r>
            <a:r>
              <a:rPr lang="en"/>
              <a:t>66ccdc645c9d156d5c796dbe6ed768430c1562a2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0" st="0"/>
                                            </p:txEl>
                                          </p:spTgt>
                                        </p:tgtEl>
                                        <p:attrNameLst>
                                          <p:attrName>style.visibility</p:attrName>
                                        </p:attrNameLst>
                                      </p:cBhvr>
                                      <p:to>
                                        <p:strVal val="visible"/>
                                      </p:to>
                                    </p:set>
                                    <p:animEffect filter="fade" transition="in">
                                      <p:cBhvr>
                                        <p:cTn dur="1"/>
                                        <p:tgtEl>
                                          <p:spTgt spid="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1" st="1"/>
                                            </p:txEl>
                                          </p:spTgt>
                                        </p:tgtEl>
                                        <p:attrNameLst>
                                          <p:attrName>style.visibility</p:attrName>
                                        </p:attrNameLst>
                                      </p:cBhvr>
                                      <p:to>
                                        <p:strVal val="visible"/>
                                      </p:to>
                                    </p:set>
                                    <p:animEffect filter="fade" transition="in">
                                      <p:cBhvr>
                                        <p:cTn dur="1"/>
                                        <p:tgtEl>
                                          <p:spTgt spid="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2" st="2"/>
                                            </p:txEl>
                                          </p:spTgt>
                                        </p:tgtEl>
                                        <p:attrNameLst>
                                          <p:attrName>style.visibility</p:attrName>
                                        </p:attrNameLst>
                                      </p:cBhvr>
                                      <p:to>
                                        <p:strVal val="visible"/>
                                      </p:to>
                                    </p:set>
                                    <p:animEffect filter="fade" transition="in">
                                      <p:cBhvr>
                                        <p:cTn dur="1"/>
                                        <p:tgtEl>
                                          <p:spTgt spid="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3" st="3"/>
                                            </p:txEl>
                                          </p:spTgt>
                                        </p:tgtEl>
                                        <p:attrNameLst>
                                          <p:attrName>style.visibility</p:attrName>
                                        </p:attrNameLst>
                                      </p:cBhvr>
                                      <p:to>
                                        <p:strVal val="visible"/>
                                      </p:to>
                                    </p:set>
                                    <p:animEffect filter="fade" transition="in">
                                      <p:cBhvr>
                                        <p:cTn dur="1"/>
                                        <p:tgtEl>
                                          <p:spTgt spid="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4" st="4"/>
                                            </p:txEl>
                                          </p:spTgt>
                                        </p:tgtEl>
                                        <p:attrNameLst>
                                          <p:attrName>style.visibility</p:attrName>
                                        </p:attrNameLst>
                                      </p:cBhvr>
                                      <p:to>
                                        <p:strVal val="visible"/>
                                      </p:to>
                                    </p:set>
                                    <p:animEffect filter="fade" transition="in">
                                      <p:cBhvr>
                                        <p:cTn dur="1"/>
                                        <p:tgtEl>
                                          <p:spTgt spid="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5" st="5"/>
                                            </p:txEl>
                                          </p:spTgt>
                                        </p:tgtEl>
                                        <p:attrNameLst>
                                          <p:attrName>style.visibility</p:attrName>
                                        </p:attrNameLst>
                                      </p:cBhvr>
                                      <p:to>
                                        <p:strVal val="visible"/>
                                      </p:to>
                                    </p:set>
                                    <p:animEffect filter="fade" transition="in">
                                      <p:cBhvr>
                                        <p:cTn dur="1"/>
                                        <p:tgtEl>
                                          <p:spTgt spid="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6" st="6"/>
                                            </p:txEl>
                                          </p:spTgt>
                                        </p:tgtEl>
                                        <p:attrNameLst>
                                          <p:attrName>style.visibility</p:attrName>
                                        </p:attrNameLst>
                                      </p:cBhvr>
                                      <p:to>
                                        <p:strVal val="visible"/>
                                      </p:to>
                                    </p:set>
                                    <p:animEffect filter="fade" transition="in">
                                      <p:cBhvr>
                                        <p:cTn dur="1"/>
                                        <p:tgtEl>
                                          <p:spTgt spid="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7" st="7"/>
                                            </p:txEl>
                                          </p:spTgt>
                                        </p:tgtEl>
                                        <p:attrNameLst>
                                          <p:attrName>style.visibility</p:attrName>
                                        </p:attrNameLst>
                                      </p:cBhvr>
                                      <p:to>
                                        <p:strVal val="visible"/>
                                      </p:to>
                                    </p:set>
                                    <p:animEffect filter="fade" transition="in">
                                      <p:cBhvr>
                                        <p:cTn dur="1"/>
                                        <p:tgtEl>
                                          <p:spTgt spid="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xEl>
                                              <p:pRg end="8" st="8"/>
                                            </p:txEl>
                                          </p:spTgt>
                                        </p:tgtEl>
                                        <p:attrNameLst>
                                          <p:attrName>style.visibility</p:attrName>
                                        </p:attrNameLst>
                                      </p:cBhvr>
                                      <p:to>
                                        <p:strVal val="visible"/>
                                      </p:to>
                                    </p:set>
                                    <p:animEffect filter="fade" transition="in">
                                      <p:cBhvr>
                                        <p:cTn dur="1"/>
                                        <p:tgtEl>
                                          <p:spTgt spid="4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3" name="Shape 53"/>
        <p:cNvGrpSpPr/>
        <p:nvPr/>
      </p:nvGrpSpPr>
      <p:grpSpPr>
        <a:xfrm>
          <a:off x="0" y="0"/>
          <a:ext cx="0" cy="0"/>
          <a:chOff x="0" y="0"/>
          <a:chExt cx="0" cy="0"/>
        </a:xfrm>
      </p:grpSpPr>
      <p:sp>
        <p:nvSpPr>
          <p:cNvPr id="54" name="Google Shape;54;p12"/>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Command Line Compilation</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Compilation</a:t>
            </a:r>
            <a:endParaRPr/>
          </a:p>
        </p:txBody>
      </p:sp>
      <p:sp>
        <p:nvSpPr>
          <p:cNvPr id="60" name="Google Shape;60;p1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standard tools for executing Java programs use a two step process:</a:t>
            </a:r>
            <a:endParaRPr/>
          </a:p>
          <a:p>
            <a:pPr indent="-355600" lvl="0" marL="457200" rtl="0" algn="l">
              <a:spcBef>
                <a:spcPts val="600"/>
              </a:spcBef>
              <a:spcAft>
                <a:spcPts val="0"/>
              </a:spcAft>
              <a:buSzPts val="2000"/>
              <a:buChar char="●"/>
            </a:pPr>
            <a:r>
              <a:rPr lang="en"/>
              <a:t>This is not the only way to run Java code.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61" name="Google Shape;61;p13"/>
          <p:cNvSpPr/>
          <p:nvPr/>
        </p:nvSpPr>
        <p:spPr>
          <a:xfrm>
            <a:off x="83406" y="18972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Hello.java</a:t>
            </a:r>
            <a:endParaRPr sz="1800">
              <a:latin typeface="Ubuntu Mono"/>
              <a:ea typeface="Ubuntu Mono"/>
              <a:cs typeface="Ubuntu Mono"/>
              <a:sym typeface="Ubuntu Mono"/>
            </a:endParaRPr>
          </a:p>
        </p:txBody>
      </p:sp>
      <p:sp>
        <p:nvSpPr>
          <p:cNvPr id="62" name="Google Shape;62;p13"/>
          <p:cNvSpPr/>
          <p:nvPr/>
        </p:nvSpPr>
        <p:spPr>
          <a:xfrm>
            <a:off x="3890578" y="18972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Hello.class</a:t>
            </a:r>
            <a:endParaRPr sz="1800">
              <a:latin typeface="Ubuntu Mono"/>
              <a:ea typeface="Ubuntu Mono"/>
              <a:cs typeface="Ubuntu Mono"/>
              <a:sym typeface="Ubuntu Mono"/>
            </a:endParaRPr>
          </a:p>
        </p:txBody>
      </p:sp>
      <p:cxnSp>
        <p:nvCxnSpPr>
          <p:cNvPr id="63" name="Google Shape;63;p13"/>
          <p:cNvCxnSpPr/>
          <p:nvPr/>
        </p:nvCxnSpPr>
        <p:spPr>
          <a:xfrm>
            <a:off x="1876624"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64" name="Google Shape;64;p13"/>
          <p:cNvSpPr/>
          <p:nvPr/>
        </p:nvSpPr>
        <p:spPr>
          <a:xfrm>
            <a:off x="2482142" y="19158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javac</a:t>
            </a:r>
            <a:endParaRPr>
              <a:latin typeface="Ubuntu Mono"/>
              <a:ea typeface="Ubuntu Mono"/>
              <a:cs typeface="Ubuntu Mono"/>
              <a:sym typeface="Ubuntu Mono"/>
            </a:endParaRPr>
          </a:p>
        </p:txBody>
      </p:sp>
      <p:cxnSp>
        <p:nvCxnSpPr>
          <p:cNvPr id="65" name="Google Shape;65;p13"/>
          <p:cNvCxnSpPr/>
          <p:nvPr/>
        </p:nvCxnSpPr>
        <p:spPr>
          <a:xfrm>
            <a:off x="3285060" y="2069600"/>
            <a:ext cx="462600" cy="0"/>
          </a:xfrm>
          <a:prstGeom prst="straightConnector1">
            <a:avLst/>
          </a:prstGeom>
          <a:noFill/>
          <a:ln cap="flat" cmpd="sng" w="19050">
            <a:solidFill>
              <a:srgbClr val="666666"/>
            </a:solidFill>
            <a:prstDash val="solid"/>
            <a:round/>
            <a:headEnd len="med" w="med" type="none"/>
            <a:tailEnd len="med" w="med" type="triangle"/>
          </a:ln>
        </p:spPr>
      </p:cxnSp>
      <p:cxnSp>
        <p:nvCxnSpPr>
          <p:cNvPr id="66" name="Google Shape;66;p13"/>
          <p:cNvCxnSpPr/>
          <p:nvPr/>
        </p:nvCxnSpPr>
        <p:spPr>
          <a:xfrm>
            <a:off x="5683796"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67" name="Google Shape;67;p13"/>
          <p:cNvSpPr/>
          <p:nvPr/>
        </p:nvSpPr>
        <p:spPr>
          <a:xfrm>
            <a:off x="6289314" y="19158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a:t>
            </a:r>
            <a:endParaRPr>
              <a:latin typeface="Ubuntu Mono"/>
              <a:ea typeface="Ubuntu Mono"/>
              <a:cs typeface="Ubuntu Mono"/>
              <a:sym typeface="Ubuntu Mono"/>
            </a:endParaRPr>
          </a:p>
        </p:txBody>
      </p:sp>
      <p:cxnSp>
        <p:nvCxnSpPr>
          <p:cNvPr id="68" name="Google Shape;68;p13"/>
          <p:cNvCxnSpPr/>
          <p:nvPr/>
        </p:nvCxnSpPr>
        <p:spPr>
          <a:xfrm>
            <a:off x="7092232" y="20696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69" name="Google Shape;69;p13"/>
          <p:cNvSpPr/>
          <p:nvPr/>
        </p:nvSpPr>
        <p:spPr>
          <a:xfrm>
            <a:off x="7697750" y="1612388"/>
            <a:ext cx="1362852" cy="914436"/>
          </a:xfrm>
          <a:prstGeom prst="cloud">
            <a:avLst/>
          </a:prstGeom>
          <a:solidFill>
            <a:srgbClr val="EAD1D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stuff</a:t>
            </a:r>
            <a:endParaRPr/>
          </a:p>
          <a:p>
            <a:pPr indent="0" lvl="0" marL="0" rtl="0" algn="l">
              <a:spcBef>
                <a:spcPts val="0"/>
              </a:spcBef>
              <a:spcAft>
                <a:spcPts val="0"/>
              </a:spcAft>
              <a:buNone/>
            </a:pPr>
            <a:r>
              <a:rPr lang="en"/>
              <a:t>happens</a:t>
            </a:r>
            <a:endParaRPr/>
          </a:p>
        </p:txBody>
      </p:sp>
      <p:sp>
        <p:nvSpPr>
          <p:cNvPr id="70" name="Google Shape;70;p13"/>
          <p:cNvSpPr txBox="1"/>
          <p:nvPr/>
        </p:nvSpPr>
        <p:spPr>
          <a:xfrm>
            <a:off x="2356946" y="1576914"/>
            <a:ext cx="9114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Compiler</a:t>
            </a:r>
            <a:endParaRPr/>
          </a:p>
        </p:txBody>
      </p:sp>
      <p:sp>
        <p:nvSpPr>
          <p:cNvPr id="71" name="Google Shape;71;p13"/>
          <p:cNvSpPr txBox="1"/>
          <p:nvPr/>
        </p:nvSpPr>
        <p:spPr>
          <a:xfrm>
            <a:off x="6118717" y="1576925"/>
            <a:ext cx="1124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Interpreter</a:t>
            </a:r>
            <a:endParaRPr/>
          </a:p>
        </p:txBody>
      </p:sp>
      <p:sp>
        <p:nvSpPr>
          <p:cNvPr id="72" name="Google Shape;72;p13"/>
          <p:cNvSpPr txBox="1"/>
          <p:nvPr/>
        </p:nvSpPr>
        <p:spPr>
          <a:xfrm>
            <a:off x="248300" y="2612175"/>
            <a:ext cx="8731200" cy="21852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In our course so far we’ve been using Intellij, which uses javac and java.</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IntelliJ hides this two step process from us.</a:t>
            </a:r>
            <a:endParaRPr sz="2000">
              <a:solidFill>
                <a:schemeClr val="dk1"/>
              </a:solidFill>
              <a:latin typeface="Calibri"/>
              <a:ea typeface="Calibri"/>
              <a:cs typeface="Calibri"/>
              <a:sym typeface="Calibri"/>
            </a:endParaRPr>
          </a:p>
          <a:p>
            <a:pPr indent="0" lvl="0" marL="0" rtl="0" algn="l">
              <a:spcBef>
                <a:spcPts val="600"/>
              </a:spcBef>
              <a:spcAft>
                <a:spcPts val="0"/>
              </a:spcAft>
              <a:buNone/>
            </a:pPr>
            <a:r>
              <a:t/>
            </a:r>
            <a:endParaRPr sz="2000">
              <a:solidFill>
                <a:schemeClr val="dk1"/>
              </a:solidFill>
              <a:latin typeface="Calibri"/>
              <a:ea typeface="Calibri"/>
              <a:cs typeface="Calibri"/>
              <a:sym typeface="Calibri"/>
            </a:endParaRPr>
          </a:p>
          <a:p>
            <a:pPr indent="0" lvl="0" marL="0" rtl="0" algn="l">
              <a:spcBef>
                <a:spcPts val="600"/>
              </a:spcBef>
              <a:spcAft>
                <a:spcPts val="0"/>
              </a:spcAft>
              <a:buNone/>
            </a:pPr>
            <a:r>
              <a:rPr lang="en" sz="2000">
                <a:solidFill>
                  <a:schemeClr val="dk1"/>
                </a:solidFill>
                <a:latin typeface="Calibri"/>
                <a:ea typeface="Calibri"/>
                <a:cs typeface="Calibri"/>
                <a:sym typeface="Calibri"/>
              </a:rPr>
              <a:t>However, it is also possible to manually invoke javac and java ourselves.</a:t>
            </a:r>
            <a:endParaRPr sz="2000">
              <a:solidFill>
                <a:schemeClr val="dk1"/>
              </a:solidFill>
              <a:latin typeface="Calibri"/>
              <a:ea typeface="Calibri"/>
              <a:cs typeface="Calibri"/>
              <a:sym typeface="Calibri"/>
            </a:endParaRPr>
          </a:p>
        </p:txBody>
      </p:sp>
      <p:sp>
        <p:nvSpPr>
          <p:cNvPr id="73" name="Google Shape;73;p13"/>
          <p:cNvSpPr txBox="1"/>
          <p:nvPr/>
        </p:nvSpPr>
        <p:spPr>
          <a:xfrm>
            <a:off x="8303575" y="3696007"/>
            <a:ext cx="4626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xEl>
                                              <p:pRg end="0" st="0"/>
                                            </p:txEl>
                                          </p:spTgt>
                                        </p:tgtEl>
                                        <p:attrNameLst>
                                          <p:attrName>style.visibility</p:attrName>
                                        </p:attrNameLst>
                                      </p:cBhvr>
                                      <p:to>
                                        <p:strVal val="visible"/>
                                      </p:to>
                                    </p:set>
                                    <p:animEffect filter="fade" transition="in">
                                      <p:cBhvr>
                                        <p:cTn dur="1"/>
                                        <p:tgtEl>
                                          <p:spTgt spid="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xEl>
                                              <p:pRg end="1" st="1"/>
                                            </p:txEl>
                                          </p:spTgt>
                                        </p:tgtEl>
                                        <p:attrNameLst>
                                          <p:attrName>style.visibility</p:attrName>
                                        </p:attrNameLst>
                                      </p:cBhvr>
                                      <p:to>
                                        <p:strVal val="visible"/>
                                      </p:to>
                                    </p:set>
                                    <p:animEffect filter="fade" transition="in">
                                      <p:cBhvr>
                                        <p:cTn dur="1"/>
                                        <p:tgtEl>
                                          <p:spTgt spid="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xEl>
                                              <p:pRg end="2" st="2"/>
                                            </p:txEl>
                                          </p:spTgt>
                                        </p:tgtEl>
                                        <p:attrNameLst>
                                          <p:attrName>style.visibility</p:attrName>
                                        </p:attrNameLst>
                                      </p:cBhvr>
                                      <p:to>
                                        <p:strVal val="visible"/>
                                      </p:to>
                                    </p:set>
                                    <p:animEffect filter="fade" transition="in">
                                      <p:cBhvr>
                                        <p:cTn dur="1"/>
                                        <p:tgtEl>
                                          <p:spTgt spid="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xEl>
                                              <p:pRg end="3" st="3"/>
                                            </p:txEl>
                                          </p:spTgt>
                                        </p:tgtEl>
                                        <p:attrNameLst>
                                          <p:attrName>style.visibility</p:attrName>
                                        </p:attrNameLst>
                                      </p:cBhvr>
                                      <p:to>
                                        <p:strVal val="visible"/>
                                      </p:to>
                                    </p:set>
                                    <p:animEffect filter="fade" transition="in">
                                      <p:cBhvr>
                                        <p:cTn dur="1"/>
                                        <p:tgtEl>
                                          <p:spTgt spid="7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7" name="Shape 77"/>
        <p:cNvGrpSpPr/>
        <p:nvPr/>
      </p:nvGrpSpPr>
      <p:grpSpPr>
        <a:xfrm>
          <a:off x="0" y="0"/>
          <a:ext cx="0" cy="0"/>
          <a:chOff x="0" y="0"/>
          <a:chExt cx="0" cy="0"/>
        </a:xfrm>
      </p:grpSpPr>
      <p:sp>
        <p:nvSpPr>
          <p:cNvPr id="78" name="Google Shape;78;p14"/>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public static void main(String[] args)</a:t>
            </a:r>
            <a:endParaRPr sz="4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Special Role for Strings: Command Line Arguments</a:t>
            </a:r>
            <a:endParaRPr/>
          </a:p>
        </p:txBody>
      </p:sp>
      <p:sp>
        <p:nvSpPr>
          <p:cNvPr id="84" name="Google Shape;84;p15"/>
          <p:cNvSpPr txBox="1"/>
          <p:nvPr/>
        </p:nvSpPr>
        <p:spPr>
          <a:xfrm>
            <a:off x="250325" y="796550"/>
            <a:ext cx="7191900" cy="1957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ArgsDemo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i="1" lang="en" sz="1900">
                <a:solidFill>
                  <a:srgbClr val="AC2020"/>
                </a:solidFill>
                <a:highlight>
                  <a:srgbClr val="EFEFEF"/>
                </a:highlight>
                <a:latin typeface="Consolas"/>
                <a:ea typeface="Consolas"/>
                <a:cs typeface="Consolas"/>
                <a:sym typeface="Consolas"/>
              </a:rPr>
              <a:t>/** Prints out the 0th command line argument. */</a:t>
            </a:r>
            <a:endParaRPr i="1" sz="1900">
              <a:solidFill>
                <a:srgbClr val="AC2020"/>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main(String[] args)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System.out.println(args[0]);</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a:highlight>
                <a:srgbClr val="EFEFEF"/>
              </a:highlight>
            </a:endParaRPr>
          </a:p>
        </p:txBody>
      </p:sp>
      <p:sp>
        <p:nvSpPr>
          <p:cNvPr id="85" name="Google Shape;85;p15"/>
          <p:cNvSpPr txBox="1"/>
          <p:nvPr/>
        </p:nvSpPr>
        <p:spPr>
          <a:xfrm>
            <a:off x="2227200" y="3644700"/>
            <a:ext cx="6169200" cy="1032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6AA84F"/>
                </a:solidFill>
                <a:highlight>
                  <a:schemeClr val="dk1"/>
                </a:highlight>
                <a:latin typeface="Consolas"/>
                <a:ea typeface="Consolas"/>
                <a:cs typeface="Consolas"/>
                <a:sym typeface="Consolas"/>
              </a:rPr>
              <a:t>jug</a:t>
            </a:r>
            <a:r>
              <a:rPr lang="en" sz="1800">
                <a:solidFill>
                  <a:schemeClr val="lt1"/>
                </a:solidFill>
                <a:highlight>
                  <a:schemeClr val="dk1"/>
                </a:highlight>
                <a:latin typeface="Consolas"/>
                <a:ea typeface="Consolas"/>
                <a:cs typeface="Consolas"/>
                <a:sym typeface="Consolas"/>
              </a:rPr>
              <a:t> </a:t>
            </a:r>
            <a:r>
              <a:rPr lang="en" sz="1800">
                <a:solidFill>
                  <a:srgbClr val="FFD966"/>
                </a:solidFill>
                <a:highlight>
                  <a:schemeClr val="dk1"/>
                </a:highlight>
                <a:latin typeface="Consolas"/>
                <a:ea typeface="Consolas"/>
                <a:cs typeface="Consolas"/>
                <a:sym typeface="Consolas"/>
              </a:rPr>
              <a:t>~/Dropbox/61b/lec/gitletIntro</a:t>
            </a:r>
            <a:r>
              <a:rPr lang="en" sz="1800">
                <a:solidFill>
                  <a:schemeClr val="lt1"/>
                </a:solidFill>
                <a:highlight>
                  <a:schemeClr val="dk1"/>
                </a:highlight>
                <a:latin typeface="Consolas"/>
                <a:ea typeface="Consolas"/>
                <a:cs typeface="Consolas"/>
                <a:sym typeface="Consolas"/>
              </a:rPr>
              <a:t> </a:t>
            </a:r>
            <a:endParaRPr sz="18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java ArgsDemo hello some args</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hello</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ArgsSum Exercise</a:t>
            </a:r>
            <a:endParaRPr/>
          </a:p>
        </p:txBody>
      </p:sp>
      <p:sp>
        <p:nvSpPr>
          <p:cNvPr id="91" name="Google Shape;91;p1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Create a program ArgsSum that prints out the sum of the command line arguments, assuming they are numbers.</a:t>
            </a:r>
            <a:endParaRPr/>
          </a:p>
          <a:p>
            <a:pPr indent="-355600" lvl="0" marL="457200" rtl="0" algn="l">
              <a:spcBef>
                <a:spcPts val="600"/>
              </a:spcBef>
              <a:spcAft>
                <a:spcPts val="0"/>
              </a:spcAft>
              <a:buSzPts val="2000"/>
              <a:buChar char="●"/>
            </a:pPr>
            <a:r>
              <a:rPr lang="en"/>
              <a:t>Search engines are our friend!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Special Role for Strings: Command Line Arguments</a:t>
            </a:r>
            <a:endParaRPr/>
          </a:p>
        </p:txBody>
      </p:sp>
      <p:sp>
        <p:nvSpPr>
          <p:cNvPr id="97" name="Google Shape;97;p17"/>
          <p:cNvSpPr txBox="1"/>
          <p:nvPr/>
        </p:nvSpPr>
        <p:spPr>
          <a:xfrm>
            <a:off x="217325" y="642175"/>
            <a:ext cx="7161600" cy="42018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rgbClr val="9C20EE"/>
                </a:solidFill>
                <a:highlight>
                  <a:srgbClr val="EFEFEF"/>
                </a:highlight>
                <a:latin typeface="Consolas"/>
                <a:ea typeface="Consolas"/>
                <a:cs typeface="Consolas"/>
                <a:sym typeface="Consolas"/>
              </a:rPr>
              <a:t>public class</a:t>
            </a:r>
            <a:r>
              <a:rPr lang="en" sz="1700">
                <a:solidFill>
                  <a:schemeClr val="dk1"/>
                </a:solidFill>
                <a:highlight>
                  <a:srgbClr val="EFEFEF"/>
                </a:highlight>
                <a:latin typeface="Consolas"/>
                <a:ea typeface="Consolas"/>
                <a:cs typeface="Consolas"/>
                <a:sym typeface="Consolas"/>
              </a:rPr>
              <a:t> ArgsSum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i="1" lang="en" sz="1700">
                <a:solidFill>
                  <a:srgbClr val="AC2020"/>
                </a:solidFill>
                <a:highlight>
                  <a:srgbClr val="EFEFEF"/>
                </a:highlight>
                <a:latin typeface="Consolas"/>
                <a:ea typeface="Consolas"/>
                <a:cs typeface="Consolas"/>
                <a:sym typeface="Consolas"/>
              </a:rPr>
              <a:t>/** Prints out the sum of arguments, assuming they are</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i="1" lang="en" sz="1700">
                <a:solidFill>
                  <a:srgbClr val="AC2020"/>
                </a:solidFill>
                <a:highlight>
                  <a:srgbClr val="EFEFEF"/>
                </a:highlight>
                <a:latin typeface="Consolas"/>
                <a:ea typeface="Consolas"/>
                <a:cs typeface="Consolas"/>
                <a:sym typeface="Consolas"/>
              </a:rPr>
              <a:t> 	*  integers.</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i="1" lang="en" sz="1700">
                <a:solidFill>
                  <a:srgbClr val="AC2020"/>
                </a:solidFill>
                <a:highlight>
                  <a:srgbClr val="EFEFEF"/>
                </a:highlight>
                <a:latin typeface="Consolas"/>
                <a:ea typeface="Consolas"/>
                <a:cs typeface="Consolas"/>
                <a:sym typeface="Consolas"/>
              </a:rPr>
              <a:t> 	*/</a:t>
            </a:r>
            <a:endParaRPr i="1" sz="1700">
              <a:solidFill>
                <a:srgbClr val="AC2020"/>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9C20EE"/>
                </a:solidFill>
                <a:highlight>
                  <a:srgbClr val="EFEFEF"/>
                </a:highlight>
                <a:latin typeface="Consolas"/>
                <a:ea typeface="Consolas"/>
                <a:cs typeface="Consolas"/>
                <a:sym typeface="Consolas"/>
              </a:rPr>
              <a:t>public static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void</a:t>
            </a:r>
            <a:r>
              <a:rPr lang="en" sz="1700">
                <a:solidFill>
                  <a:schemeClr val="dk1"/>
                </a:solidFill>
                <a:highlight>
                  <a:srgbClr val="EFEFEF"/>
                </a:highlight>
                <a:latin typeface="Consolas"/>
                <a:ea typeface="Consolas"/>
                <a:cs typeface="Consolas"/>
                <a:sym typeface="Consolas"/>
              </a:rPr>
              <a:t> main(String[] args)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index = 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sum = 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rgbClr val="9C20EE"/>
                </a:solidFill>
                <a:highlight>
                  <a:srgbClr val="EFEFEF"/>
                </a:highlight>
                <a:latin typeface="Consolas"/>
                <a:ea typeface="Consolas"/>
                <a:cs typeface="Consolas"/>
                <a:sym typeface="Consolas"/>
              </a:rPr>
              <a:t>while</a:t>
            </a:r>
            <a:r>
              <a:rPr lang="en" sz="1700">
                <a:solidFill>
                  <a:schemeClr val="dk1"/>
                </a:solidFill>
                <a:highlight>
                  <a:srgbClr val="EFEFEF"/>
                </a:highlight>
                <a:latin typeface="Consolas"/>
                <a:ea typeface="Consolas"/>
                <a:cs typeface="Consolas"/>
                <a:sym typeface="Consolas"/>
              </a:rPr>
              <a:t> (index &lt; args.length)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sum = sum + Integer.parseInt(args[index]);</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index = index + 1;</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System.out.println(sum);</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highlight>
                <a:srgbClr val="EFEFEF"/>
              </a:highlight>
            </a:endParaRPr>
          </a:p>
        </p:txBody>
      </p:sp>
      <p:cxnSp>
        <p:nvCxnSpPr>
          <p:cNvPr id="98" name="Google Shape;98;p17"/>
          <p:cNvCxnSpPr/>
          <p:nvPr/>
        </p:nvCxnSpPr>
        <p:spPr>
          <a:xfrm flipH="1">
            <a:off x="4670575" y="2610000"/>
            <a:ext cx="938700" cy="476100"/>
          </a:xfrm>
          <a:prstGeom prst="straightConnector1">
            <a:avLst/>
          </a:prstGeom>
          <a:noFill/>
          <a:ln cap="flat" cmpd="sng" w="9525">
            <a:solidFill>
              <a:srgbClr val="BE0712"/>
            </a:solidFill>
            <a:prstDash val="solid"/>
            <a:round/>
            <a:headEnd len="med" w="med" type="none"/>
            <a:tailEnd len="med" w="med" type="triangle"/>
          </a:ln>
        </p:spPr>
      </p:cxnSp>
      <p:sp>
        <p:nvSpPr>
          <p:cNvPr id="99" name="Google Shape;99;p17"/>
          <p:cNvSpPr txBox="1"/>
          <p:nvPr/>
        </p:nvSpPr>
        <p:spPr>
          <a:xfrm>
            <a:off x="5679950" y="2179950"/>
            <a:ext cx="3173400" cy="634800"/>
          </a:xfrm>
          <a:prstGeom prst="rect">
            <a:avLst/>
          </a:prstGeom>
          <a:solidFill>
            <a:srgbClr val="E7EEF8"/>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How’d we know to do this? We Googled “convert string integer java”.</a:t>
            </a:r>
            <a:endParaRPr>
              <a:solidFill>
                <a:srgbClr val="BE0712"/>
              </a:solidFill>
            </a:endParaRPr>
          </a:p>
        </p:txBody>
      </p:sp>
      <p:sp>
        <p:nvSpPr>
          <p:cNvPr id="100" name="Google Shape;100;p17"/>
          <p:cNvSpPr txBox="1"/>
          <p:nvPr/>
        </p:nvSpPr>
        <p:spPr>
          <a:xfrm>
            <a:off x="6000975" y="4328325"/>
            <a:ext cx="2882700" cy="6990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rgbClr val="000000"/>
                </a:highlight>
                <a:latin typeface="Consolas"/>
                <a:ea typeface="Consolas"/>
                <a:cs typeface="Consolas"/>
                <a:sym typeface="Consolas"/>
              </a:rPr>
              <a:t>$</a:t>
            </a:r>
            <a:r>
              <a:rPr lang="en" sz="1700">
                <a:solidFill>
                  <a:srgbClr val="FFFFFF"/>
                </a:solidFill>
                <a:highlight>
                  <a:srgbClr val="000000"/>
                </a:highlight>
                <a:latin typeface="Consolas"/>
                <a:ea typeface="Consolas"/>
                <a:cs typeface="Consolas"/>
                <a:sym typeface="Consolas"/>
              </a:rPr>
              <a:t> java ArgsSum 1 2 3 4</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10</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Git: A Command Line Program</a:t>
            </a:r>
            <a:endParaRPr sz="4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A Command Line Tool</a:t>
            </a:r>
            <a:endParaRPr/>
          </a:p>
        </p:txBody>
      </p:sp>
      <p:sp>
        <p:nvSpPr>
          <p:cNvPr id="111" name="Google Shape;111;p19"/>
          <p:cNvSpPr txBox="1"/>
          <p:nvPr/>
        </p:nvSpPr>
        <p:spPr>
          <a:xfrm>
            <a:off x="708700" y="2810825"/>
            <a:ext cx="8311800" cy="1827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6AA84F"/>
                </a:solidFill>
                <a:highlight>
                  <a:schemeClr val="dk1"/>
                </a:highlight>
                <a:latin typeface="Consolas"/>
                <a:ea typeface="Consolas"/>
                <a:cs typeface="Consolas"/>
                <a:sym typeface="Consolas"/>
              </a:rPr>
              <a:t>jug</a:t>
            </a:r>
            <a:r>
              <a:rPr lang="en" sz="1800">
                <a:solidFill>
                  <a:schemeClr val="lt1"/>
                </a:solidFill>
                <a:highlight>
                  <a:schemeClr val="dk1"/>
                </a:highlight>
                <a:latin typeface="Consolas"/>
                <a:ea typeface="Consolas"/>
                <a:cs typeface="Consolas"/>
                <a:sym typeface="Consolas"/>
              </a:rPr>
              <a:t> </a:t>
            </a:r>
            <a:r>
              <a:rPr lang="en" sz="1800">
                <a:solidFill>
                  <a:srgbClr val="FFD966"/>
                </a:solidFill>
                <a:highlight>
                  <a:schemeClr val="dk1"/>
                </a:highlight>
                <a:latin typeface="Consolas"/>
                <a:ea typeface="Consolas"/>
                <a:cs typeface="Consolas"/>
                <a:sym typeface="Consolas"/>
              </a:rPr>
              <a:t>~/Dropbox/61b/lec/git</a:t>
            </a:r>
            <a:endParaRPr sz="18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git status</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On branch master</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Changes not staged for commit:</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  (use "git add &lt;file&gt;..." to update what will be committed)</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lt1"/>
                </a:solidFill>
                <a:highlight>
                  <a:schemeClr val="dk1"/>
                </a:highlight>
                <a:latin typeface="Consolas"/>
                <a:ea typeface="Consolas"/>
                <a:cs typeface="Consolas"/>
                <a:sym typeface="Consolas"/>
              </a:rPr>
              <a:t>        modified:   HelloWorld.java</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
        <p:nvSpPr>
          <p:cNvPr id="112" name="Google Shape;112;p19"/>
          <p:cNvSpPr txBox="1"/>
          <p:nvPr>
            <p:ph idx="1" type="body"/>
          </p:nvPr>
        </p:nvSpPr>
        <p:spPr>
          <a:xfrm>
            <a:off x="243000" y="556500"/>
            <a:ext cx="8443800" cy="198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git tool we’ve been using is a command line program.</a:t>
            </a:r>
            <a:endParaRPr/>
          </a:p>
          <a:p>
            <a:pPr indent="-355600" lvl="0" marL="457200" rtl="0" algn="l">
              <a:spcBef>
                <a:spcPts val="600"/>
              </a:spcBef>
              <a:spcAft>
                <a:spcPts val="0"/>
              </a:spcAft>
              <a:buSzPts val="2000"/>
              <a:buChar char="●"/>
            </a:pPr>
            <a:r>
              <a:rPr lang="en"/>
              <a:t>Written in C.</a:t>
            </a:r>
            <a:endParaRPr/>
          </a:p>
          <a:p>
            <a:pPr indent="-355600" lvl="0" marL="457200" rtl="0" algn="l">
              <a:spcBef>
                <a:spcPts val="0"/>
              </a:spcBef>
              <a:spcAft>
                <a:spcPts val="0"/>
              </a:spcAft>
              <a:buSzPts val="2000"/>
              <a:buChar char="●"/>
            </a:pPr>
            <a:r>
              <a:rPr lang="en"/>
              <a:t>Unlike Java, C code is typically compiled into a binary which doesn’t require an interpreter. See CS61C for more.</a:t>
            </a:r>
            <a:endParaRPr/>
          </a:p>
          <a:p>
            <a:pPr indent="-355600" lvl="1" marL="914400" rtl="0" algn="l">
              <a:spcBef>
                <a:spcPts val="0"/>
              </a:spcBef>
              <a:spcAft>
                <a:spcPts val="0"/>
              </a:spcAft>
              <a:buSzPts val="2000"/>
              <a:buChar char="○"/>
            </a:pPr>
            <a:r>
              <a:rPr lang="en"/>
              <a:t>Thus, instead of saying “java git status”, we just type “git status”.</a:t>
            </a:r>
            <a:endParaRPr/>
          </a:p>
          <a:p>
            <a:pPr indent="0" lvl="0" marL="0" rtl="0" algn="l">
              <a:spcBef>
                <a:spcPts val="600"/>
              </a:spcBef>
              <a:spcAft>
                <a:spcPts val="0"/>
              </a:spcAft>
              <a:buNone/>
            </a:pPr>
            <a:r>
              <a:t/>
            </a:r>
            <a:endParaRPr/>
          </a:p>
        </p:txBody>
      </p:sp>
      <p:sp>
        <p:nvSpPr>
          <p:cNvPr id="113" name="Google Shape;113;p19"/>
          <p:cNvSpPr txBox="1"/>
          <p:nvPr/>
        </p:nvSpPr>
        <p:spPr>
          <a:xfrm>
            <a:off x="-1382800" y="26105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Source Code</a:t>
            </a:r>
            <a:endParaRPr/>
          </a:p>
        </p:txBody>
      </p:sp>
      <p:sp>
        <p:nvSpPr>
          <p:cNvPr id="119" name="Google Shape;119;p20"/>
          <p:cNvSpPr txBox="1"/>
          <p:nvPr>
            <p:ph idx="1" type="body"/>
          </p:nvPr>
        </p:nvSpPr>
        <p:spPr>
          <a:xfrm>
            <a:off x="243000" y="556500"/>
            <a:ext cx="4416000" cy="1407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Git is just a program.</a:t>
            </a:r>
            <a:endParaRPr/>
          </a:p>
          <a:p>
            <a:pPr indent="-355600" lvl="0" marL="457200" rtl="0" algn="l">
              <a:spcBef>
                <a:spcPts val="600"/>
              </a:spcBef>
              <a:spcAft>
                <a:spcPts val="0"/>
              </a:spcAft>
              <a:buSzPts val="2000"/>
              <a:buChar char="●"/>
            </a:pPr>
            <a:r>
              <a:rPr lang="en"/>
              <a:t>Source code for Git’s main method is to the right or </a:t>
            </a:r>
            <a:r>
              <a:rPr lang="en" u="sng">
                <a:solidFill>
                  <a:schemeClr val="hlink"/>
                </a:solidFill>
                <a:hlinkClick r:id="rId3"/>
              </a:rPr>
              <a:t>at this link</a:t>
            </a:r>
            <a:r>
              <a:rPr lang="en"/>
              <a:t>.</a:t>
            </a:r>
            <a:endParaRPr/>
          </a:p>
          <a:p>
            <a:pPr indent="-355600" lvl="0" marL="457200" rtl="0" algn="l">
              <a:spcBef>
                <a:spcPts val="0"/>
              </a:spcBef>
              <a:spcAft>
                <a:spcPts val="0"/>
              </a:spcAft>
              <a:buSzPts val="2000"/>
              <a:buChar char="●"/>
            </a:pPr>
            <a:r>
              <a:rPr lang="en"/>
              <a:t>In the C programming language, </a:t>
            </a:r>
            <a:r>
              <a:rPr lang="en">
                <a:latin typeface="Consolas"/>
                <a:ea typeface="Consolas"/>
                <a:cs typeface="Consolas"/>
                <a:sym typeface="Consolas"/>
              </a:rPr>
              <a:t>const char **argv</a:t>
            </a:r>
            <a:r>
              <a:rPr lang="en"/>
              <a:t> is the equivalent of Java’s </a:t>
            </a:r>
            <a:r>
              <a:rPr lang="en">
                <a:latin typeface="Consolas"/>
                <a:ea typeface="Consolas"/>
                <a:cs typeface="Consolas"/>
                <a:sym typeface="Consolas"/>
              </a:rPr>
              <a:t>String[] args</a:t>
            </a:r>
            <a:r>
              <a:rPr lang="en"/>
              <a:t>. </a:t>
            </a:r>
            <a:endParaRPr/>
          </a:p>
        </p:txBody>
      </p:sp>
      <p:sp>
        <p:nvSpPr>
          <p:cNvPr id="120" name="Google Shape;120;p20"/>
          <p:cNvSpPr txBox="1"/>
          <p:nvPr/>
        </p:nvSpPr>
        <p:spPr>
          <a:xfrm>
            <a:off x="-1382800" y="26105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21" name="Google Shape;121;p20"/>
          <p:cNvPicPr preferRelativeResize="0"/>
          <p:nvPr/>
        </p:nvPicPr>
        <p:blipFill>
          <a:blip r:embed="rId4">
            <a:alphaModFix/>
          </a:blip>
          <a:stretch>
            <a:fillRect/>
          </a:stretch>
        </p:blipFill>
        <p:spPr>
          <a:xfrm>
            <a:off x="4968100" y="121426"/>
            <a:ext cx="4068303" cy="4991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Source Code</a:t>
            </a:r>
            <a:endParaRPr/>
          </a:p>
        </p:txBody>
      </p:sp>
      <p:sp>
        <p:nvSpPr>
          <p:cNvPr id="127" name="Google Shape;127;p21"/>
          <p:cNvSpPr txBox="1"/>
          <p:nvPr>
            <p:ph idx="1" type="body"/>
          </p:nvPr>
        </p:nvSpPr>
        <p:spPr>
          <a:xfrm>
            <a:off x="243000" y="556500"/>
            <a:ext cx="4416000" cy="313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Git is just a program.</a:t>
            </a:r>
            <a:endParaRPr/>
          </a:p>
          <a:p>
            <a:pPr indent="-355600" lvl="0" marL="457200" rtl="0" algn="l">
              <a:spcBef>
                <a:spcPts val="600"/>
              </a:spcBef>
              <a:spcAft>
                <a:spcPts val="0"/>
              </a:spcAft>
              <a:buSzPts val="2000"/>
              <a:buChar char="●"/>
            </a:pPr>
            <a:r>
              <a:rPr lang="en"/>
              <a:t>argv gets passed to another function called cmd_main. First few lines shown to the right or </a:t>
            </a:r>
            <a:r>
              <a:rPr lang="en" u="sng">
                <a:solidFill>
                  <a:schemeClr val="hlink"/>
                </a:solidFill>
                <a:hlinkClick r:id="rId3"/>
              </a:rPr>
              <a:t>at this link</a:t>
            </a:r>
            <a:r>
              <a:rPr lang="en"/>
              <a:t>.</a:t>
            </a:r>
            <a:endParaRPr/>
          </a:p>
          <a:p>
            <a:pPr indent="-355600" lvl="0" marL="457200" rtl="0" algn="l">
              <a:spcBef>
                <a:spcPts val="0"/>
              </a:spcBef>
              <a:spcAft>
                <a:spcPts val="0"/>
              </a:spcAft>
              <a:buSzPts val="2000"/>
              <a:buChar char="●"/>
            </a:pPr>
            <a:r>
              <a:rPr lang="en"/>
              <a:t>Even though we don’t know C, we can infer from lines 850 and 851 that if the user doesn’t enter any command line arguments, git will assume the user wants help.</a:t>
            </a:r>
            <a:endParaRPr/>
          </a:p>
        </p:txBody>
      </p:sp>
      <p:sp>
        <p:nvSpPr>
          <p:cNvPr id="128" name="Google Shape;128;p21"/>
          <p:cNvSpPr txBox="1"/>
          <p:nvPr/>
        </p:nvSpPr>
        <p:spPr>
          <a:xfrm>
            <a:off x="-1382800" y="26105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29" name="Google Shape;129;p21"/>
          <p:cNvPicPr preferRelativeResize="0"/>
          <p:nvPr/>
        </p:nvPicPr>
        <p:blipFill>
          <a:blip r:embed="rId4">
            <a:alphaModFix/>
          </a:blip>
          <a:stretch>
            <a:fillRect/>
          </a:stretch>
        </p:blipFill>
        <p:spPr>
          <a:xfrm>
            <a:off x="4727999" y="913150"/>
            <a:ext cx="4415999" cy="26665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Source Code</a:t>
            </a:r>
            <a:endParaRPr/>
          </a:p>
        </p:txBody>
      </p:sp>
      <p:sp>
        <p:nvSpPr>
          <p:cNvPr id="135" name="Google Shape;135;p22"/>
          <p:cNvSpPr txBox="1"/>
          <p:nvPr>
            <p:ph idx="1" type="body"/>
          </p:nvPr>
        </p:nvSpPr>
        <p:spPr>
          <a:xfrm>
            <a:off x="243000" y="556500"/>
            <a:ext cx="4416000" cy="313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Git is just a program.</a:t>
            </a:r>
            <a:endParaRPr/>
          </a:p>
          <a:p>
            <a:pPr indent="-355600" lvl="0" marL="457200" rtl="0" algn="l">
              <a:spcBef>
                <a:spcPts val="600"/>
              </a:spcBef>
              <a:spcAft>
                <a:spcPts val="0"/>
              </a:spcAft>
              <a:buSzPts val="2000"/>
              <a:buChar char="●"/>
            </a:pPr>
            <a:r>
              <a:rPr lang="en"/>
              <a:t>argv gets passed to another function called cmd_main. First few lines shown to the right or </a:t>
            </a:r>
            <a:r>
              <a:rPr lang="en" u="sng">
                <a:solidFill>
                  <a:schemeClr val="hlink"/>
                </a:solidFill>
                <a:hlinkClick r:id="rId3"/>
              </a:rPr>
              <a:t>at this link</a:t>
            </a:r>
            <a:r>
              <a:rPr lang="en"/>
              <a:t>.</a:t>
            </a:r>
            <a:endParaRPr/>
          </a:p>
          <a:p>
            <a:pPr indent="-355600" lvl="0" marL="457200" rtl="0" algn="l">
              <a:spcBef>
                <a:spcPts val="0"/>
              </a:spcBef>
              <a:spcAft>
                <a:spcPts val="0"/>
              </a:spcAft>
              <a:buSzPts val="2000"/>
              <a:buChar char="●"/>
            </a:pPr>
            <a:r>
              <a:rPr lang="en"/>
              <a:t>Even though we don’t know C, we can infer from lines 850 and 851 that if the user doesn’t enter any command line arguments, git will assume the user wants help.</a:t>
            </a:r>
            <a:endParaRPr/>
          </a:p>
        </p:txBody>
      </p:sp>
      <p:sp>
        <p:nvSpPr>
          <p:cNvPr id="136" name="Google Shape;136;p22"/>
          <p:cNvSpPr txBox="1"/>
          <p:nvPr/>
        </p:nvSpPr>
        <p:spPr>
          <a:xfrm>
            <a:off x="-1382800" y="26105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7" name="Google Shape;137;p22"/>
          <p:cNvPicPr preferRelativeResize="0"/>
          <p:nvPr/>
        </p:nvPicPr>
        <p:blipFill>
          <a:blip r:embed="rId4">
            <a:alphaModFix/>
          </a:blip>
          <a:stretch>
            <a:fillRect/>
          </a:stretch>
        </p:blipFill>
        <p:spPr>
          <a:xfrm>
            <a:off x="4727999" y="913150"/>
            <a:ext cx="4415999" cy="2666578"/>
          </a:xfrm>
          <a:prstGeom prst="rect">
            <a:avLst/>
          </a:prstGeom>
          <a:noFill/>
          <a:ln>
            <a:noFill/>
          </a:ln>
        </p:spPr>
      </p:pic>
      <p:sp>
        <p:nvSpPr>
          <p:cNvPr id="138" name="Google Shape;138;p22"/>
          <p:cNvSpPr txBox="1"/>
          <p:nvPr>
            <p:ph idx="1" type="body"/>
          </p:nvPr>
        </p:nvSpPr>
        <p:spPr>
          <a:xfrm>
            <a:off x="166800" y="3634375"/>
            <a:ext cx="8977200" cy="927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Why are we talking about this?</a:t>
            </a:r>
            <a:endParaRPr/>
          </a:p>
          <a:p>
            <a:pPr indent="-355600" lvl="0" marL="457200" rtl="0" algn="l">
              <a:spcBef>
                <a:spcPts val="600"/>
              </a:spcBef>
              <a:spcAft>
                <a:spcPts val="0"/>
              </a:spcAft>
              <a:buSzPts val="2000"/>
              <a:buChar char="●"/>
            </a:pPr>
            <a:r>
              <a:rPr lang="en"/>
              <a:t>To show that we’ve already been using command line arguments in class.</a:t>
            </a:r>
            <a:endParaRPr/>
          </a:p>
          <a:p>
            <a:pPr indent="-355600" lvl="0" marL="457200" rtl="0" algn="l">
              <a:spcBef>
                <a:spcPts val="0"/>
              </a:spcBef>
              <a:spcAft>
                <a:spcPts val="0"/>
              </a:spcAft>
              <a:buSzPts val="2000"/>
              <a:buChar char="●"/>
            </a:pPr>
            <a:r>
              <a:rPr lang="en"/>
              <a:t>In project 2, you are going to build your own implementation of git.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a:t>
            </a:r>
            <a:endParaRPr/>
          </a:p>
        </p:txBody>
      </p:sp>
      <p:sp>
        <p:nvSpPr>
          <p:cNvPr id="144" name="Google Shape;144;p2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Git is a sophisticated piece of software. Relies on many ideas we have not yet covered:</a:t>
            </a:r>
            <a:endParaRPr/>
          </a:p>
          <a:p>
            <a:pPr indent="-355600" lvl="0" marL="457200" rtl="0" algn="l">
              <a:spcBef>
                <a:spcPts val="600"/>
              </a:spcBef>
              <a:spcAft>
                <a:spcPts val="0"/>
              </a:spcAft>
              <a:buSzPts val="2000"/>
              <a:buChar char="●"/>
            </a:pPr>
            <a:r>
              <a:rPr lang="en"/>
              <a:t>Maps.</a:t>
            </a:r>
            <a:endParaRPr/>
          </a:p>
          <a:p>
            <a:pPr indent="-355600" lvl="0" marL="457200" rtl="0" algn="l">
              <a:spcBef>
                <a:spcPts val="0"/>
              </a:spcBef>
              <a:spcAft>
                <a:spcPts val="0"/>
              </a:spcAft>
              <a:buSzPts val="2000"/>
              <a:buChar char="●"/>
            </a:pPr>
            <a:r>
              <a:rPr lang="en"/>
              <a:t>Hashing.</a:t>
            </a:r>
            <a:endParaRPr/>
          </a:p>
          <a:p>
            <a:pPr indent="-355600" lvl="0" marL="457200" rtl="0" algn="l">
              <a:spcBef>
                <a:spcPts val="0"/>
              </a:spcBef>
              <a:spcAft>
                <a:spcPts val="0"/>
              </a:spcAft>
              <a:buSzPts val="2000"/>
              <a:buChar char="●"/>
            </a:pPr>
            <a:r>
              <a:rPr lang="en"/>
              <a:t>File I/O.</a:t>
            </a:r>
            <a:endParaRPr/>
          </a:p>
          <a:p>
            <a:pPr indent="-355600" lvl="0" marL="457200" rtl="0" algn="l">
              <a:spcBef>
                <a:spcPts val="0"/>
              </a:spcBef>
              <a:spcAft>
                <a:spcPts val="0"/>
              </a:spcAft>
              <a:buSzPts val="2000"/>
              <a:buChar char="●"/>
            </a:pPr>
            <a:r>
              <a:rPr lang="en"/>
              <a:t>Graphs.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Today, we’ll get a preview of the first three of these things, along with some insight into how git works.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48" name="Shape 148"/>
        <p:cNvGrpSpPr/>
        <p:nvPr/>
      </p:nvGrpSpPr>
      <p:grpSpPr>
        <a:xfrm>
          <a:off x="0" y="0"/>
          <a:ext cx="0" cy="0"/>
          <a:chOff x="0" y="0"/>
          <a:chExt cx="0" cy="0"/>
        </a:xfrm>
      </p:grpSpPr>
      <p:sp>
        <p:nvSpPr>
          <p:cNvPr id="149" name="Google Shape;149;p24"/>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Basic Git Functionality</a:t>
            </a:r>
            <a:endParaRPr sz="4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Version Control?</a:t>
            </a:r>
            <a:endParaRPr/>
          </a:p>
        </p:txBody>
      </p:sp>
      <p:sp>
        <p:nvSpPr>
          <p:cNvPr id="155" name="Google Shape;155;p2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Software development is an iterative process.</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en"/>
              <a:t>Maintaining multiple copies is useful:</a:t>
            </a:r>
            <a:endParaRPr/>
          </a:p>
          <a:p>
            <a:pPr indent="-355600" lvl="0" marL="457200" rtl="0" algn="l">
              <a:spcBef>
                <a:spcPts val="600"/>
              </a:spcBef>
              <a:spcAft>
                <a:spcPts val="0"/>
              </a:spcAft>
              <a:buSzPts val="2000"/>
              <a:buChar char="●"/>
            </a:pPr>
            <a:r>
              <a:rPr lang="en"/>
              <a:t>When working on projects with others, want to ensure we don’t damage other’s work.</a:t>
            </a:r>
            <a:endParaRPr/>
          </a:p>
          <a:p>
            <a:pPr indent="-355600" lvl="0" marL="457200" rtl="0" algn="l">
              <a:spcBef>
                <a:spcPts val="0"/>
              </a:spcBef>
              <a:spcAft>
                <a:spcPts val="0"/>
              </a:spcAft>
              <a:buSzPts val="2000"/>
              <a:buChar char="●"/>
            </a:pPr>
            <a:r>
              <a:rPr lang="en"/>
              <a:t>When working alone, we sometimes want to make some (possibly complex) tentative set of changes.</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en"/>
              <a:t>Naive approach: Store a bunch of old versions in multiple directories, e.g. 2048UpFinallyWorks, 2048MergeBugFixed, etc.</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1"/>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1"/>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1"/>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1"/>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1"/>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1"/>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1"/>
                                        <p:tgtEl>
                                          <p:spTgt spid="1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animEffect filter="fade" transition="in">
                                      <p:cBhvr>
                                        <p:cTn dur="1"/>
                                        <p:tgtEl>
                                          <p:spTgt spid="1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animEffect filter="fade" transition="in">
                                      <p:cBhvr>
                                        <p:cTn dur="1"/>
                                        <p:tgtEl>
                                          <p:spTgt spid="15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Naive Approach</a:t>
            </a:r>
            <a:endParaRPr/>
          </a:p>
        </p:txBody>
      </p:sp>
      <p:sp>
        <p:nvSpPr>
          <p:cNvPr id="161" name="Google Shape;161;p2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good:</a:t>
            </a:r>
            <a:endParaRPr/>
          </a:p>
          <a:p>
            <a:pPr indent="-355600" lvl="0" marL="457200" rtl="0" algn="l">
              <a:spcBef>
                <a:spcPts val="600"/>
              </a:spcBef>
              <a:spcAft>
                <a:spcPts val="0"/>
              </a:spcAft>
              <a:buSzPts val="2000"/>
              <a:buChar char="●"/>
            </a:pPr>
            <a:r>
              <a:rPr lang="en"/>
              <a:t>Very easy! Just have to know how to copy files.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Issues:</a:t>
            </a:r>
            <a:endParaRPr/>
          </a:p>
          <a:p>
            <a:pPr indent="-355600" lvl="0" marL="457200" rtl="0" algn="l">
              <a:spcBef>
                <a:spcPts val="600"/>
              </a:spcBef>
              <a:spcAft>
                <a:spcPts val="0"/>
              </a:spcAft>
              <a:buSzPts val="2000"/>
              <a:buChar char="●"/>
            </a:pPr>
            <a:r>
              <a:rPr lang="en"/>
              <a:t>Wasteful with storage (many near identical programs).</a:t>
            </a:r>
            <a:endParaRPr/>
          </a:p>
          <a:p>
            <a:pPr indent="-355600" lvl="0" marL="457200" rtl="0" algn="l">
              <a:spcBef>
                <a:spcPts val="0"/>
              </a:spcBef>
              <a:spcAft>
                <a:spcPts val="0"/>
              </a:spcAft>
              <a:buSzPts val="2000"/>
              <a:buChar char="●"/>
            </a:pPr>
            <a:r>
              <a:rPr lang="en"/>
              <a:t>Requires caution to avoid erroneous restoration / storage.</a:t>
            </a:r>
            <a:endParaRPr/>
          </a:p>
          <a:p>
            <a:pPr indent="-355600" lvl="0" marL="457200" rtl="0" algn="l">
              <a:spcBef>
                <a:spcPts val="0"/>
              </a:spcBef>
              <a:spcAft>
                <a:spcPts val="0"/>
              </a:spcAft>
              <a:buSzPts val="2000"/>
              <a:buChar char="●"/>
            </a:pPr>
            <a:r>
              <a:rPr lang="en"/>
              <a:t>Requires self-discipline to get good backup coverage.</a:t>
            </a:r>
            <a:endParaRPr/>
          </a:p>
          <a:p>
            <a:pPr indent="-355600" lvl="1" marL="914400" rtl="0" algn="l">
              <a:spcBef>
                <a:spcPts val="0"/>
              </a:spcBef>
              <a:spcAft>
                <a:spcPts val="0"/>
              </a:spcAft>
              <a:buSzPts val="2000"/>
              <a:buChar char="○"/>
            </a:pPr>
            <a:r>
              <a:rPr lang="en"/>
              <a:t>Going 3 days without making a copy might mean losing 3 days of work.</a:t>
            </a:r>
            <a:endParaRPr/>
          </a:p>
          <a:p>
            <a:pPr indent="-355600" lvl="0" marL="457200" rtl="0" algn="l">
              <a:spcBef>
                <a:spcPts val="0"/>
              </a:spcBef>
              <a:spcAft>
                <a:spcPts val="0"/>
              </a:spcAft>
              <a:buSzPts val="2000"/>
              <a:buChar char="●"/>
            </a:pPr>
            <a:r>
              <a:rPr lang="en"/>
              <a:t>Merging two divergent copies requires careful manual work.</a:t>
            </a:r>
            <a:endParaRPr/>
          </a:p>
          <a:p>
            <a:pPr indent="-355600" lvl="1" marL="914400" rtl="0" algn="l">
              <a:spcBef>
                <a:spcPts val="0"/>
              </a:spcBef>
              <a:spcAft>
                <a:spcPts val="0"/>
              </a:spcAft>
              <a:buSzPts val="2000"/>
              <a:buChar char="○"/>
            </a:pPr>
            <a:r>
              <a:rPr lang="en"/>
              <a:t>A bit beyond the scope of what we’ve done in 61B.</a:t>
            </a:r>
            <a:endParaRPr/>
          </a:p>
          <a:p>
            <a:pPr indent="0" lvl="0" marL="0" rtl="0" algn="l">
              <a:spcBef>
                <a:spcPts val="6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1"/>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1"/>
                                        <p:tgtEl>
                                          <p:spTgt spid="1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Effect filter="fade" transition="in">
                                      <p:cBhvr>
                                        <p:cTn dur="1"/>
                                        <p:tgtEl>
                                          <p:spTgt spid="1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Effect filter="fade" transition="in">
                                      <p:cBhvr>
                                        <p:cTn dur="1"/>
                                        <p:tgtEl>
                                          <p:spTgt spid="1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Effect filter="fade" transition="in">
                                      <p:cBhvr>
                                        <p:cTn dur="1"/>
                                        <p:tgtEl>
                                          <p:spTgt spid="1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animEffect filter="fade" transition="in">
                                      <p:cBhvr>
                                        <p:cTn dur="1"/>
                                        <p:tgtEl>
                                          <p:spTgt spid="1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animEffect filter="fade" transition="in">
                                      <p:cBhvr>
                                        <p:cTn dur="1"/>
                                        <p:tgtEl>
                                          <p:spTgt spid="1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0" st="10"/>
                                            </p:txEl>
                                          </p:spTgt>
                                        </p:tgtEl>
                                        <p:attrNameLst>
                                          <p:attrName>style.visibility</p:attrName>
                                        </p:attrNameLst>
                                      </p:cBhvr>
                                      <p:to>
                                        <p:strVal val="visible"/>
                                      </p:to>
                                    </p:set>
                                    <p:animEffect filter="fade" transition="in">
                                      <p:cBhvr>
                                        <p:cTn dur="1"/>
                                        <p:tgtEl>
                                          <p:spTgt spid="16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Version Control Software</a:t>
            </a:r>
            <a:endParaRPr/>
          </a:p>
        </p:txBody>
      </p:sp>
      <p:sp>
        <p:nvSpPr>
          <p:cNvPr id="167" name="Google Shape;167;p2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many software packages out there that handle version control. Some popular systems:</a:t>
            </a:r>
            <a:endParaRPr/>
          </a:p>
          <a:p>
            <a:pPr indent="-355600" lvl="0" marL="457200" rtl="0" algn="l">
              <a:spcBef>
                <a:spcPts val="600"/>
              </a:spcBef>
              <a:spcAft>
                <a:spcPts val="0"/>
              </a:spcAft>
              <a:buSzPts val="2000"/>
              <a:buChar char="●"/>
            </a:pPr>
            <a:r>
              <a:rPr lang="en"/>
              <a:t>Git (2005, open source)</a:t>
            </a:r>
            <a:endParaRPr/>
          </a:p>
          <a:p>
            <a:pPr indent="-355600" lvl="0" marL="457200" rtl="0" algn="l">
              <a:spcBef>
                <a:spcPts val="0"/>
              </a:spcBef>
              <a:spcAft>
                <a:spcPts val="0"/>
              </a:spcAft>
              <a:buSzPts val="2000"/>
              <a:buChar char="●"/>
            </a:pPr>
            <a:r>
              <a:rPr lang="en"/>
              <a:t>Perforce (1995)</a:t>
            </a:r>
            <a:endParaRPr/>
          </a:p>
          <a:p>
            <a:pPr indent="-355600" lvl="0" marL="457200" rtl="0" algn="l">
              <a:spcBef>
                <a:spcPts val="0"/>
              </a:spcBef>
              <a:spcAft>
                <a:spcPts val="0"/>
              </a:spcAft>
              <a:buSzPts val="2000"/>
              <a:buChar char="●"/>
            </a:pPr>
            <a:r>
              <a:rPr lang="en"/>
              <a:t>SVN (2000, open source)</a:t>
            </a:r>
            <a:endParaRPr/>
          </a:p>
          <a:p>
            <a:pPr indent="-355600" lvl="0" marL="457200" rtl="0" algn="l">
              <a:spcBef>
                <a:spcPts val="0"/>
              </a:spcBef>
              <a:spcAft>
                <a:spcPts val="0"/>
              </a:spcAft>
              <a:buSzPts val="2000"/>
              <a:buChar char="●"/>
            </a:pPr>
            <a:r>
              <a:rPr lang="en"/>
              <a:t>Mercurial (2005, open source)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These days, git is the most popular overall.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Today we’ll talk a little bit about how git works.</a:t>
            </a:r>
            <a:endParaRPr/>
          </a:p>
          <a:p>
            <a:pPr indent="-355600" lvl="0" marL="457200" rtl="0" algn="l">
              <a:spcBef>
                <a:spcPts val="600"/>
              </a:spcBef>
              <a:spcAft>
                <a:spcPts val="0"/>
              </a:spcAft>
              <a:buSzPts val="2000"/>
              <a:buChar char="●"/>
            </a:pPr>
            <a:r>
              <a:rPr lang="en"/>
              <a:t>Utilizes lots of ideas from later in the course.</a:t>
            </a:r>
            <a:endParaRPr/>
          </a:p>
          <a:p>
            <a:pPr indent="-355600" lvl="0" marL="457200" rtl="0" algn="l">
              <a:spcBef>
                <a:spcPts val="0"/>
              </a:spcBef>
              <a:spcAft>
                <a:spcPts val="0"/>
              </a:spcAft>
              <a:buSzPts val="2000"/>
              <a:buChar char="●"/>
            </a:pPr>
            <a:r>
              <a:rPr lang="en"/>
              <a:t>You’ll be implementing git in project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animEffect filter="fade" transition="in">
                                      <p:cBhvr>
                                        <p:cTn dur="1"/>
                                        <p:tgtEl>
                                          <p:spTgt spid="1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animEffect filter="fade" transition="in">
                                      <p:cBhvr>
                                        <p:cTn dur="1"/>
                                        <p:tgtEl>
                                          <p:spTgt spid="1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animEffect filter="fade" transition="in">
                                      <p:cBhvr>
                                        <p:cTn dur="1"/>
                                        <p:tgtEl>
                                          <p:spTgt spid="1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3" st="3"/>
                                            </p:txEl>
                                          </p:spTgt>
                                        </p:tgtEl>
                                        <p:attrNameLst>
                                          <p:attrName>style.visibility</p:attrName>
                                        </p:attrNameLst>
                                      </p:cBhvr>
                                      <p:to>
                                        <p:strVal val="visible"/>
                                      </p:to>
                                    </p:set>
                                    <p:animEffect filter="fade" transition="in">
                                      <p:cBhvr>
                                        <p:cTn dur="1"/>
                                        <p:tgtEl>
                                          <p:spTgt spid="1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4" st="4"/>
                                            </p:txEl>
                                          </p:spTgt>
                                        </p:tgtEl>
                                        <p:attrNameLst>
                                          <p:attrName>style.visibility</p:attrName>
                                        </p:attrNameLst>
                                      </p:cBhvr>
                                      <p:to>
                                        <p:strVal val="visible"/>
                                      </p:to>
                                    </p:set>
                                    <p:animEffect filter="fade" transition="in">
                                      <p:cBhvr>
                                        <p:cTn dur="1"/>
                                        <p:tgtEl>
                                          <p:spTgt spid="1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5" st="5"/>
                                            </p:txEl>
                                          </p:spTgt>
                                        </p:tgtEl>
                                        <p:attrNameLst>
                                          <p:attrName>style.visibility</p:attrName>
                                        </p:attrNameLst>
                                      </p:cBhvr>
                                      <p:to>
                                        <p:strVal val="visible"/>
                                      </p:to>
                                    </p:set>
                                    <p:animEffect filter="fade" transition="in">
                                      <p:cBhvr>
                                        <p:cTn dur="1"/>
                                        <p:tgtEl>
                                          <p:spTgt spid="1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6" st="6"/>
                                            </p:txEl>
                                          </p:spTgt>
                                        </p:tgtEl>
                                        <p:attrNameLst>
                                          <p:attrName>style.visibility</p:attrName>
                                        </p:attrNameLst>
                                      </p:cBhvr>
                                      <p:to>
                                        <p:strVal val="visible"/>
                                      </p:to>
                                    </p:set>
                                    <p:animEffect filter="fade" transition="in">
                                      <p:cBhvr>
                                        <p:cTn dur="1"/>
                                        <p:tgtEl>
                                          <p:spTgt spid="1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7" st="7"/>
                                            </p:txEl>
                                          </p:spTgt>
                                        </p:tgtEl>
                                        <p:attrNameLst>
                                          <p:attrName>style.visibility</p:attrName>
                                        </p:attrNameLst>
                                      </p:cBhvr>
                                      <p:to>
                                        <p:strVal val="visible"/>
                                      </p:to>
                                    </p:set>
                                    <p:animEffect filter="fade" transition="in">
                                      <p:cBhvr>
                                        <p:cTn dur="1"/>
                                        <p:tgtEl>
                                          <p:spTgt spid="1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8" st="8"/>
                                            </p:txEl>
                                          </p:spTgt>
                                        </p:tgtEl>
                                        <p:attrNameLst>
                                          <p:attrName>style.visibility</p:attrName>
                                        </p:attrNameLst>
                                      </p:cBhvr>
                                      <p:to>
                                        <p:strVal val="visible"/>
                                      </p:to>
                                    </p:set>
                                    <p:animEffect filter="fade" transition="in">
                                      <p:cBhvr>
                                        <p:cTn dur="1"/>
                                        <p:tgtEl>
                                          <p:spTgt spid="1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9" st="9"/>
                                            </p:txEl>
                                          </p:spTgt>
                                        </p:tgtEl>
                                        <p:attrNameLst>
                                          <p:attrName>style.visibility</p:attrName>
                                        </p:attrNameLst>
                                      </p:cBhvr>
                                      <p:to>
                                        <p:strVal val="visible"/>
                                      </p:to>
                                    </p:set>
                                    <p:animEffect filter="fade" transition="in">
                                      <p:cBhvr>
                                        <p:cTn dur="1"/>
                                        <p:tgtEl>
                                          <p:spTgt spid="1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10" st="10"/>
                                            </p:txEl>
                                          </p:spTgt>
                                        </p:tgtEl>
                                        <p:attrNameLst>
                                          <p:attrName>style.visibility</p:attrName>
                                        </p:attrNameLst>
                                      </p:cBhvr>
                                      <p:to>
                                        <p:strVal val="visible"/>
                                      </p:to>
                                    </p:set>
                                    <p:animEffect filter="fade" transition="in">
                                      <p:cBhvr>
                                        <p:cTn dur="1"/>
                                        <p:tgtEl>
                                          <p:spTgt spid="167">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How it Works</a:t>
            </a:r>
            <a:endParaRPr/>
          </a:p>
        </p:txBody>
      </p:sp>
      <p:sp>
        <p:nvSpPr>
          <p:cNvPr id="173" name="Google Shape;173;p28"/>
          <p:cNvSpPr txBox="1"/>
          <p:nvPr>
            <p:ph idx="1" type="body"/>
          </p:nvPr>
        </p:nvSpPr>
        <p:spPr>
          <a:xfrm>
            <a:off x="243000" y="556500"/>
            <a:ext cx="8443800" cy="94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time you commit changes to a file, it stores a copy of the </a:t>
            </a:r>
            <a:r>
              <a:rPr b="1" lang="en"/>
              <a:t>entire project</a:t>
            </a:r>
            <a:r>
              <a:rPr lang="en"/>
              <a:t> in a secret folder on your computer called .git.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grpSp>
        <p:nvGrpSpPr>
          <p:cNvPr id="174" name="Google Shape;174;p28"/>
          <p:cNvGrpSpPr/>
          <p:nvPr/>
        </p:nvGrpSpPr>
        <p:grpSpPr>
          <a:xfrm>
            <a:off x="6619801" y="1690650"/>
            <a:ext cx="2524199" cy="666475"/>
            <a:chOff x="6619801" y="1690650"/>
            <a:chExt cx="2524199" cy="666475"/>
          </a:xfrm>
        </p:grpSpPr>
        <p:sp>
          <p:nvSpPr>
            <p:cNvPr id="175" name="Google Shape;175;p28"/>
            <p:cNvSpPr/>
            <p:nvPr/>
          </p:nvSpPr>
          <p:spPr>
            <a:xfrm>
              <a:off x="6619801" y="19521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sp>
          <p:nvSpPr>
            <p:cNvPr id="176" name="Google Shape;176;p28"/>
            <p:cNvSpPr txBox="1"/>
            <p:nvPr/>
          </p:nvSpPr>
          <p:spPr>
            <a:xfrm>
              <a:off x="7030200"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Hats.java</a:t>
              </a:r>
              <a:endParaRPr/>
            </a:p>
            <a:p>
              <a:pPr indent="0" lvl="0" marL="0" rtl="0" algn="l">
                <a:spcBef>
                  <a:spcPts val="0"/>
                </a:spcBef>
                <a:spcAft>
                  <a:spcPts val="0"/>
                </a:spcAft>
                <a:buNone/>
              </a:pPr>
              <a:r>
                <a:rPr lang="en"/>
                <a:t>Cheese.java</a:t>
              </a:r>
              <a:endParaRPr/>
            </a:p>
            <a:p>
              <a:pPr indent="0" lvl="0" marL="0" rtl="0" algn="l">
                <a:spcBef>
                  <a:spcPts val="0"/>
                </a:spcBef>
                <a:spcAft>
                  <a:spcPts val="0"/>
                </a:spcAft>
                <a:buNone/>
              </a:pPr>
              <a:r>
                <a:rPr lang="en"/>
                <a:t>“version 1 of my code”</a:t>
              </a:r>
              <a:endParaRPr/>
            </a:p>
          </p:txBody>
        </p:sp>
      </p:grpSp>
      <p:grpSp>
        <p:nvGrpSpPr>
          <p:cNvPr id="177" name="Google Shape;177;p28"/>
          <p:cNvGrpSpPr/>
          <p:nvPr/>
        </p:nvGrpSpPr>
        <p:grpSpPr>
          <a:xfrm>
            <a:off x="6619801" y="2357054"/>
            <a:ext cx="2583474" cy="749299"/>
            <a:chOff x="6619801" y="2357054"/>
            <a:chExt cx="2583474" cy="749299"/>
          </a:xfrm>
        </p:grpSpPr>
        <p:sp>
          <p:nvSpPr>
            <p:cNvPr id="178" name="Google Shape;178;p28"/>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cxnSp>
          <p:nvCxnSpPr>
            <p:cNvPr id="179" name="Google Shape;179;p28"/>
            <p:cNvCxnSpPr>
              <a:stCxn id="178" idx="0"/>
              <a:endCxn id="175" idx="2"/>
            </p:cNvCxnSpPr>
            <p:nvPr/>
          </p:nvCxnSpPr>
          <p:spPr>
            <a:xfrm rot="10800000">
              <a:off x="6822301" y="2357054"/>
              <a:ext cx="0" cy="308400"/>
            </a:xfrm>
            <a:prstGeom prst="straightConnector1">
              <a:avLst/>
            </a:prstGeom>
            <a:noFill/>
            <a:ln cap="flat" cmpd="sng" w="19050">
              <a:solidFill>
                <a:schemeClr val="dk2"/>
              </a:solidFill>
              <a:prstDash val="solid"/>
              <a:round/>
              <a:headEnd len="med" w="med" type="none"/>
              <a:tailEnd len="med" w="med" type="triangle"/>
            </a:ln>
          </p:spPr>
        </p:cxnSp>
        <p:sp>
          <p:nvSpPr>
            <p:cNvPr id="180" name="Google Shape;180;p28"/>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Hats.java</a:t>
              </a:r>
              <a:endParaRPr/>
            </a:p>
            <a:p>
              <a:pPr indent="0" lvl="0" marL="0" rtl="0" algn="l">
                <a:spcBef>
                  <a:spcPts val="0"/>
                </a:spcBef>
                <a:spcAft>
                  <a:spcPts val="0"/>
                </a:spcAft>
                <a:buNone/>
              </a:pPr>
              <a:r>
                <a:rPr lang="en"/>
                <a:t>Cheese.java</a:t>
              </a:r>
              <a:endParaRPr/>
            </a:p>
            <a:p>
              <a:pPr indent="0" lvl="0" marL="0" rtl="0" algn="l">
                <a:spcBef>
                  <a:spcPts val="0"/>
                </a:spcBef>
                <a:spcAft>
                  <a:spcPts val="0"/>
                </a:spcAft>
                <a:buNone/>
              </a:pPr>
              <a:r>
                <a:rPr lang="en"/>
                <a:t>“fixed cheese bug”</a:t>
              </a:r>
              <a:endParaRPr/>
            </a:p>
          </p:txBody>
        </p:sp>
      </p:grpSp>
      <p:grpSp>
        <p:nvGrpSpPr>
          <p:cNvPr id="181" name="Google Shape;181;p28"/>
          <p:cNvGrpSpPr/>
          <p:nvPr/>
        </p:nvGrpSpPr>
        <p:grpSpPr>
          <a:xfrm>
            <a:off x="6619801" y="3070554"/>
            <a:ext cx="2562776" cy="830847"/>
            <a:chOff x="6619801" y="3070554"/>
            <a:chExt cx="2562776" cy="830847"/>
          </a:xfrm>
        </p:grpSpPr>
        <p:sp>
          <p:nvSpPr>
            <p:cNvPr id="182" name="Google Shape;182;p28"/>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cxnSp>
          <p:nvCxnSpPr>
            <p:cNvPr id="183" name="Google Shape;183;p28"/>
            <p:cNvCxnSpPr>
              <a:stCxn id="182" idx="0"/>
              <a:endCxn id="178" idx="2"/>
            </p:cNvCxnSpPr>
            <p:nvPr/>
          </p:nvCxnSpPr>
          <p:spPr>
            <a:xfrm rot="10800000">
              <a:off x="6822301" y="3070554"/>
              <a:ext cx="0" cy="378600"/>
            </a:xfrm>
            <a:prstGeom prst="straightConnector1">
              <a:avLst/>
            </a:prstGeom>
            <a:noFill/>
            <a:ln cap="flat" cmpd="sng" w="19050">
              <a:solidFill>
                <a:schemeClr val="dk2"/>
              </a:solidFill>
              <a:prstDash val="solid"/>
              <a:round/>
              <a:headEnd len="med" w="med" type="none"/>
              <a:tailEnd len="med" w="med" type="triangle"/>
            </a:ln>
          </p:spPr>
        </p:cxnSp>
        <p:sp>
          <p:nvSpPr>
            <p:cNvPr id="184" name="Google Shape;184;p28"/>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Hats.java</a:t>
              </a:r>
              <a:endParaRPr/>
            </a:p>
            <a:p>
              <a:pPr indent="0" lvl="0" marL="0" rtl="0" algn="l">
                <a:spcBef>
                  <a:spcPts val="0"/>
                </a:spcBef>
                <a:spcAft>
                  <a:spcPts val="0"/>
                </a:spcAft>
                <a:buNone/>
              </a:pPr>
              <a:r>
                <a:rPr lang="en"/>
                <a:t>Cheese.java</a:t>
              </a:r>
              <a:endParaRPr/>
            </a:p>
            <a:p>
              <a:pPr indent="0" lvl="0" marL="0" rtl="0" algn="l">
                <a:spcBef>
                  <a:spcPts val="0"/>
                </a:spcBef>
                <a:spcAft>
                  <a:spcPts val="0"/>
                </a:spcAft>
                <a:buNone/>
              </a:pPr>
              <a:r>
                <a:rPr lang="en"/>
                <a:t>“added parmesan”</a:t>
              </a:r>
              <a:endParaRPr/>
            </a:p>
          </p:txBody>
        </p:sp>
      </p:grpSp>
      <p:sp>
        <p:nvSpPr>
          <p:cNvPr id="185" name="Google Shape;185;p28"/>
          <p:cNvSpPr txBox="1"/>
          <p:nvPr/>
        </p:nvSpPr>
        <p:spPr>
          <a:xfrm>
            <a:off x="243000" y="1888000"/>
            <a:ext cx="6296100" cy="1872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rgbClr val="000000"/>
                </a:highlight>
                <a:latin typeface="Consolas"/>
                <a:ea typeface="Consolas"/>
                <a:cs typeface="Consolas"/>
                <a:sym typeface="Consolas"/>
              </a:rPr>
              <a:t>$</a:t>
            </a:r>
            <a:r>
              <a:rPr lang="en" sz="1700">
                <a:solidFill>
                  <a:srgbClr val="FFFFFF"/>
                </a:solidFill>
                <a:highlight>
                  <a:srgbClr val="000000"/>
                </a:highlight>
                <a:latin typeface="Consolas"/>
                <a:ea typeface="Consolas"/>
                <a:cs typeface="Consolas"/>
                <a:sym typeface="Consolas"/>
              </a:rPr>
              <a:t> subl Hats.java</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“added parmesan”</a:t>
            </a:r>
            <a:endParaRPr sz="1800">
              <a:highlight>
                <a:srgbClr val="000000"/>
              </a:highlight>
              <a:latin typeface="Consolas"/>
              <a:ea typeface="Consolas"/>
              <a:cs typeface="Consolas"/>
              <a:sym typeface="Consolas"/>
            </a:endParaRPr>
          </a:p>
        </p:txBody>
      </p:sp>
      <p:sp>
        <p:nvSpPr>
          <p:cNvPr id="186" name="Google Shape;186;p28"/>
          <p:cNvSpPr txBox="1"/>
          <p:nvPr>
            <p:ph idx="1" type="body"/>
          </p:nvPr>
        </p:nvSpPr>
        <p:spPr>
          <a:xfrm>
            <a:off x="277750" y="4056050"/>
            <a:ext cx="8443800" cy="94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try this out.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How it Works</a:t>
            </a:r>
            <a:endParaRPr/>
          </a:p>
        </p:txBody>
      </p:sp>
      <p:sp>
        <p:nvSpPr>
          <p:cNvPr id="192" name="Google Shape;192;p29"/>
          <p:cNvSpPr txBox="1"/>
          <p:nvPr>
            <p:ph idx="1" type="body"/>
          </p:nvPr>
        </p:nvSpPr>
        <p:spPr>
          <a:xfrm>
            <a:off x="243000" y="556500"/>
            <a:ext cx="8443800" cy="94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time you commit changes to a file, it stores a copy of the </a:t>
            </a:r>
            <a:r>
              <a:rPr b="1" lang="en"/>
              <a:t>entire repository</a:t>
            </a:r>
            <a:r>
              <a:rPr lang="en"/>
              <a:t> in a secret folder on your computer called .git.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grpSp>
        <p:nvGrpSpPr>
          <p:cNvPr id="193" name="Google Shape;193;p29"/>
          <p:cNvGrpSpPr/>
          <p:nvPr/>
        </p:nvGrpSpPr>
        <p:grpSpPr>
          <a:xfrm>
            <a:off x="6619801" y="3423077"/>
            <a:ext cx="2575893" cy="631200"/>
            <a:chOff x="6619801" y="4124638"/>
            <a:chExt cx="2575893" cy="631200"/>
          </a:xfrm>
        </p:grpSpPr>
        <p:sp>
          <p:nvSpPr>
            <p:cNvPr id="194" name="Google Shape;194;p29"/>
            <p:cNvSpPr/>
            <p:nvPr/>
          </p:nvSpPr>
          <p:spPr>
            <a:xfrm>
              <a:off x="6619801" y="430991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sp>
          <p:nvSpPr>
            <p:cNvPr id="195" name="Google Shape;195;p29"/>
            <p:cNvSpPr txBox="1"/>
            <p:nvPr/>
          </p:nvSpPr>
          <p:spPr>
            <a:xfrm>
              <a:off x="7081893" y="4124638"/>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Hats.java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Cheese.java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“added parmesan”</a:t>
              </a:r>
              <a:endParaRPr>
                <a:solidFill>
                  <a:schemeClr val="dk1"/>
                </a:solidFill>
              </a:endParaRPr>
            </a:p>
            <a:p>
              <a:pPr indent="0" lvl="0" marL="0" rtl="0" algn="l">
                <a:spcBef>
                  <a:spcPts val="0"/>
                </a:spcBef>
                <a:spcAft>
                  <a:spcPts val="0"/>
                </a:spcAft>
                <a:buNone/>
              </a:pPr>
              <a:r>
                <a:t/>
              </a:r>
              <a:endParaRPr/>
            </a:p>
          </p:txBody>
        </p:sp>
      </p:grpSp>
      <p:grpSp>
        <p:nvGrpSpPr>
          <p:cNvPr id="196" name="Google Shape;196;p29"/>
          <p:cNvGrpSpPr/>
          <p:nvPr/>
        </p:nvGrpSpPr>
        <p:grpSpPr>
          <a:xfrm>
            <a:off x="3571226" y="3423077"/>
            <a:ext cx="2583474" cy="631200"/>
            <a:chOff x="3418826" y="4066078"/>
            <a:chExt cx="2583474" cy="631200"/>
          </a:xfrm>
        </p:grpSpPr>
        <p:sp>
          <p:nvSpPr>
            <p:cNvPr id="197" name="Google Shape;197;p29"/>
            <p:cNvSpPr/>
            <p:nvPr/>
          </p:nvSpPr>
          <p:spPr>
            <a:xfrm>
              <a:off x="3418826" y="4256379"/>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sp>
          <p:nvSpPr>
            <p:cNvPr id="198" name="Google Shape;198;p29"/>
            <p:cNvSpPr txBox="1"/>
            <p:nvPr/>
          </p:nvSpPr>
          <p:spPr>
            <a:xfrm>
              <a:off x="3888500" y="4066078"/>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Hats.java</a:t>
              </a:r>
              <a:endParaRPr/>
            </a:p>
            <a:p>
              <a:pPr indent="0" lvl="0" marL="0" rtl="0" algn="l">
                <a:spcBef>
                  <a:spcPts val="0"/>
                </a:spcBef>
                <a:spcAft>
                  <a:spcPts val="0"/>
                </a:spcAft>
                <a:buNone/>
              </a:pPr>
              <a:r>
                <a:rPr lang="en"/>
                <a:t>Cheese.java</a:t>
              </a:r>
              <a:endParaRPr/>
            </a:p>
            <a:p>
              <a:pPr indent="0" lvl="0" marL="0" rtl="0" algn="l">
                <a:spcBef>
                  <a:spcPts val="0"/>
                </a:spcBef>
                <a:spcAft>
                  <a:spcPts val="0"/>
                </a:spcAft>
                <a:buNone/>
              </a:pPr>
              <a:r>
                <a:rPr lang="en"/>
                <a:t>“fixed cheese bug”</a:t>
              </a:r>
              <a:endParaRPr/>
            </a:p>
          </p:txBody>
        </p:sp>
      </p:grpSp>
      <p:grpSp>
        <p:nvGrpSpPr>
          <p:cNvPr id="199" name="Google Shape;199;p29"/>
          <p:cNvGrpSpPr/>
          <p:nvPr/>
        </p:nvGrpSpPr>
        <p:grpSpPr>
          <a:xfrm>
            <a:off x="364876" y="3423077"/>
            <a:ext cx="2562776" cy="631200"/>
            <a:chOff x="364876" y="4032677"/>
            <a:chExt cx="2562776" cy="631200"/>
          </a:xfrm>
        </p:grpSpPr>
        <p:sp>
          <p:nvSpPr>
            <p:cNvPr id="200" name="Google Shape;200;p29"/>
            <p:cNvSpPr/>
            <p:nvPr/>
          </p:nvSpPr>
          <p:spPr>
            <a:xfrm>
              <a:off x="364876" y="4211629"/>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sp>
          <p:nvSpPr>
            <p:cNvPr id="201" name="Google Shape;201;p29"/>
            <p:cNvSpPr txBox="1"/>
            <p:nvPr/>
          </p:nvSpPr>
          <p:spPr>
            <a:xfrm>
              <a:off x="813852" y="4032677"/>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Hats.java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Cheese.java</a:t>
              </a:r>
              <a:endParaRPr>
                <a:solidFill>
                  <a:schemeClr val="dk1"/>
                </a:solidFill>
              </a:endParaRPr>
            </a:p>
            <a:p>
              <a:pPr indent="0" lvl="0" marL="0" rtl="0" algn="l">
                <a:spcBef>
                  <a:spcPts val="0"/>
                </a:spcBef>
                <a:spcAft>
                  <a:spcPts val="0"/>
                </a:spcAft>
                <a:buNone/>
              </a:pPr>
              <a:r>
                <a:rPr lang="en">
                  <a:solidFill>
                    <a:schemeClr val="dk1"/>
                  </a:solidFill>
                </a:rPr>
                <a:t>“version 1 of my code”</a:t>
              </a:r>
              <a:endParaRPr/>
            </a:p>
          </p:txBody>
        </p:sp>
      </p:grpSp>
      <p:sp>
        <p:nvSpPr>
          <p:cNvPr id="202" name="Google Shape;202;p29"/>
          <p:cNvSpPr txBox="1"/>
          <p:nvPr/>
        </p:nvSpPr>
        <p:spPr>
          <a:xfrm>
            <a:off x="1672375" y="1429225"/>
            <a:ext cx="6296100" cy="1950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rgbClr val="000000"/>
                </a:highlight>
                <a:latin typeface="Consolas"/>
                <a:ea typeface="Consolas"/>
                <a:cs typeface="Consolas"/>
                <a:sym typeface="Consolas"/>
              </a:rPr>
              <a:t>$</a:t>
            </a:r>
            <a:r>
              <a:rPr lang="en" sz="1700">
                <a:solidFill>
                  <a:srgbClr val="FFFFFF"/>
                </a:solidFill>
                <a:highlight>
                  <a:srgbClr val="000000"/>
                </a:highlight>
                <a:latin typeface="Consolas"/>
                <a:ea typeface="Consolas"/>
                <a:cs typeface="Consolas"/>
                <a:sym typeface="Consolas"/>
              </a:rPr>
              <a:t> subl Hats.java</a:t>
            </a:r>
            <a:endParaRPr sz="17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“added parmesan”</a:t>
            </a:r>
            <a:endParaRPr sz="1800">
              <a:highlight>
                <a:srgbClr val="000000"/>
              </a:highlight>
              <a:latin typeface="Consolas"/>
              <a:ea typeface="Consolas"/>
              <a:cs typeface="Consolas"/>
              <a:sym typeface="Consolas"/>
            </a:endParaRPr>
          </a:p>
        </p:txBody>
      </p:sp>
      <p:sp>
        <p:nvSpPr>
          <p:cNvPr id="203" name="Google Shape;203;p29"/>
          <p:cNvSpPr txBox="1"/>
          <p:nvPr>
            <p:ph idx="1" type="body"/>
          </p:nvPr>
        </p:nvSpPr>
        <p:spPr>
          <a:xfrm>
            <a:off x="304950" y="4106400"/>
            <a:ext cx="8443800" cy="94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Various tricks are employed to avoid redundancy.</a:t>
            </a:r>
            <a:endParaRPr/>
          </a:p>
          <a:p>
            <a:pPr indent="-355600" lvl="0" marL="457200" rtl="0" algn="l">
              <a:spcBef>
                <a:spcPts val="600"/>
              </a:spcBef>
              <a:spcAft>
                <a:spcPts val="0"/>
              </a:spcAft>
              <a:buSzPts val="2000"/>
              <a:buChar char="●"/>
            </a:pPr>
            <a:r>
              <a:rPr lang="en"/>
              <a:t>Example: Don’t need three different copies of Hats.java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log</a:t>
            </a:r>
            <a:endParaRPr/>
          </a:p>
        </p:txBody>
      </p:sp>
      <p:sp>
        <p:nvSpPr>
          <p:cNvPr id="209" name="Google Shape;209;p30"/>
          <p:cNvSpPr txBox="1"/>
          <p:nvPr>
            <p:ph idx="1" type="body"/>
          </p:nvPr>
        </p:nvSpPr>
        <p:spPr>
          <a:xfrm>
            <a:off x="243000" y="556500"/>
            <a:ext cx="8443800" cy="94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Can view history using the </a:t>
            </a:r>
            <a:r>
              <a:rPr lang="en">
                <a:latin typeface="Consolas"/>
                <a:ea typeface="Consolas"/>
                <a:cs typeface="Consolas"/>
                <a:sym typeface="Consolas"/>
              </a:rPr>
              <a:t>git log</a:t>
            </a:r>
            <a:r>
              <a:rPr lang="en"/>
              <a:t> command</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pic>
        <p:nvPicPr>
          <p:cNvPr id="210" name="Google Shape;210;p30"/>
          <p:cNvPicPr preferRelativeResize="0"/>
          <p:nvPr/>
        </p:nvPicPr>
        <p:blipFill>
          <a:blip r:embed="rId3">
            <a:alphaModFix/>
          </a:blip>
          <a:stretch>
            <a:fillRect/>
          </a:stretch>
        </p:blipFill>
        <p:spPr>
          <a:xfrm>
            <a:off x="1283300" y="1426550"/>
            <a:ext cx="4336450" cy="3548653"/>
          </a:xfrm>
          <a:prstGeom prst="rect">
            <a:avLst/>
          </a:prstGeom>
          <a:noFill/>
          <a:ln>
            <a:noFill/>
          </a:ln>
        </p:spPr>
      </p:pic>
      <p:grpSp>
        <p:nvGrpSpPr>
          <p:cNvPr id="211" name="Google Shape;211;p30"/>
          <p:cNvGrpSpPr/>
          <p:nvPr/>
        </p:nvGrpSpPr>
        <p:grpSpPr>
          <a:xfrm>
            <a:off x="6619801" y="1690650"/>
            <a:ext cx="2524199" cy="666475"/>
            <a:chOff x="6619801" y="1690650"/>
            <a:chExt cx="2524199" cy="666475"/>
          </a:xfrm>
        </p:grpSpPr>
        <p:sp>
          <p:nvSpPr>
            <p:cNvPr id="212" name="Google Shape;212;p30"/>
            <p:cNvSpPr/>
            <p:nvPr/>
          </p:nvSpPr>
          <p:spPr>
            <a:xfrm>
              <a:off x="6619801" y="19521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sp>
          <p:nvSpPr>
            <p:cNvPr id="213" name="Google Shape;213;p30"/>
            <p:cNvSpPr txBox="1"/>
            <p:nvPr/>
          </p:nvSpPr>
          <p:spPr>
            <a:xfrm>
              <a:off x="7030200"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Hats.java</a:t>
              </a:r>
              <a:endParaRPr>
                <a:solidFill>
                  <a:schemeClr val="dk1"/>
                </a:solidFill>
              </a:endParaRPr>
            </a:p>
            <a:p>
              <a:pPr indent="0" lvl="0" marL="0" rtl="0" algn="l">
                <a:spcBef>
                  <a:spcPts val="0"/>
                </a:spcBef>
                <a:spcAft>
                  <a:spcPts val="0"/>
                </a:spcAft>
                <a:buNone/>
              </a:pPr>
              <a:r>
                <a:rPr lang="en">
                  <a:solidFill>
                    <a:schemeClr val="dk1"/>
                  </a:solidFill>
                </a:rPr>
                <a:t>Cheese.java</a:t>
              </a:r>
              <a:endParaRPr>
                <a:solidFill>
                  <a:schemeClr val="dk1"/>
                </a:solidFill>
              </a:endParaRPr>
            </a:p>
            <a:p>
              <a:pPr indent="0" lvl="0" marL="0" rtl="0" algn="l">
                <a:spcBef>
                  <a:spcPts val="0"/>
                </a:spcBef>
                <a:spcAft>
                  <a:spcPts val="0"/>
                </a:spcAft>
                <a:buNone/>
              </a:pPr>
              <a:r>
                <a:rPr lang="en">
                  <a:solidFill>
                    <a:schemeClr val="dk1"/>
                  </a:solidFill>
                </a:rPr>
                <a:t>“added parmesan”</a:t>
              </a:r>
              <a:endParaRPr>
                <a:solidFill>
                  <a:schemeClr val="dk1"/>
                </a:solidFill>
              </a:endParaRPr>
            </a:p>
            <a:p>
              <a:pPr indent="0" lvl="0" marL="0" rtl="0" algn="l">
                <a:spcBef>
                  <a:spcPts val="0"/>
                </a:spcBef>
                <a:spcAft>
                  <a:spcPts val="0"/>
                </a:spcAft>
                <a:buNone/>
              </a:pPr>
              <a:r>
                <a:t/>
              </a:r>
              <a:endParaRPr/>
            </a:p>
          </p:txBody>
        </p:sp>
      </p:grpSp>
      <p:grpSp>
        <p:nvGrpSpPr>
          <p:cNvPr id="214" name="Google Shape;214;p30"/>
          <p:cNvGrpSpPr/>
          <p:nvPr/>
        </p:nvGrpSpPr>
        <p:grpSpPr>
          <a:xfrm>
            <a:off x="6619801" y="2357054"/>
            <a:ext cx="2583474" cy="749299"/>
            <a:chOff x="6619801" y="2357054"/>
            <a:chExt cx="2583474" cy="749299"/>
          </a:xfrm>
        </p:grpSpPr>
        <p:sp>
          <p:nvSpPr>
            <p:cNvPr id="215" name="Google Shape;215;p30"/>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cxnSp>
          <p:nvCxnSpPr>
            <p:cNvPr id="216" name="Google Shape;216;p30"/>
            <p:cNvCxnSpPr>
              <a:stCxn id="215" idx="0"/>
              <a:endCxn id="212" idx="2"/>
            </p:cNvCxnSpPr>
            <p:nvPr/>
          </p:nvCxnSpPr>
          <p:spPr>
            <a:xfrm rot="10800000">
              <a:off x="6822301" y="2357054"/>
              <a:ext cx="0" cy="308400"/>
            </a:xfrm>
            <a:prstGeom prst="straightConnector1">
              <a:avLst/>
            </a:prstGeom>
            <a:noFill/>
            <a:ln cap="flat" cmpd="sng" w="19050">
              <a:solidFill>
                <a:schemeClr val="dk2"/>
              </a:solidFill>
              <a:prstDash val="solid"/>
              <a:round/>
              <a:headEnd len="med" w="med" type="none"/>
              <a:tailEnd len="med" w="med" type="triangle"/>
            </a:ln>
          </p:spPr>
        </p:cxnSp>
        <p:sp>
          <p:nvSpPr>
            <p:cNvPr id="217" name="Google Shape;217;p30"/>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Hats.java</a:t>
              </a:r>
              <a:endParaRPr/>
            </a:p>
            <a:p>
              <a:pPr indent="0" lvl="0" marL="0" rtl="0" algn="l">
                <a:spcBef>
                  <a:spcPts val="0"/>
                </a:spcBef>
                <a:spcAft>
                  <a:spcPts val="0"/>
                </a:spcAft>
                <a:buNone/>
              </a:pPr>
              <a:r>
                <a:rPr lang="en"/>
                <a:t>Cheese.java</a:t>
              </a:r>
              <a:endParaRPr/>
            </a:p>
            <a:p>
              <a:pPr indent="0" lvl="0" marL="0" rtl="0" algn="l">
                <a:spcBef>
                  <a:spcPts val="0"/>
                </a:spcBef>
                <a:spcAft>
                  <a:spcPts val="0"/>
                </a:spcAft>
                <a:buNone/>
              </a:pPr>
              <a:r>
                <a:rPr lang="en"/>
                <a:t>“fixed cheese bug”</a:t>
              </a:r>
              <a:endParaRPr/>
            </a:p>
          </p:txBody>
        </p:sp>
      </p:grpSp>
      <p:grpSp>
        <p:nvGrpSpPr>
          <p:cNvPr id="218" name="Google Shape;218;p30"/>
          <p:cNvGrpSpPr/>
          <p:nvPr/>
        </p:nvGrpSpPr>
        <p:grpSpPr>
          <a:xfrm>
            <a:off x="6619801" y="3070554"/>
            <a:ext cx="2562776" cy="830847"/>
            <a:chOff x="6619801" y="3070554"/>
            <a:chExt cx="2562776" cy="830847"/>
          </a:xfrm>
        </p:grpSpPr>
        <p:sp>
          <p:nvSpPr>
            <p:cNvPr id="219" name="Google Shape;219;p30"/>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cxnSp>
          <p:nvCxnSpPr>
            <p:cNvPr id="220" name="Google Shape;220;p30"/>
            <p:cNvCxnSpPr>
              <a:stCxn id="219" idx="0"/>
              <a:endCxn id="215" idx="2"/>
            </p:cNvCxnSpPr>
            <p:nvPr/>
          </p:nvCxnSpPr>
          <p:spPr>
            <a:xfrm rot="10800000">
              <a:off x="6822301" y="3070554"/>
              <a:ext cx="0" cy="378600"/>
            </a:xfrm>
            <a:prstGeom prst="straightConnector1">
              <a:avLst/>
            </a:prstGeom>
            <a:noFill/>
            <a:ln cap="flat" cmpd="sng" w="19050">
              <a:solidFill>
                <a:schemeClr val="dk2"/>
              </a:solidFill>
              <a:prstDash val="solid"/>
              <a:round/>
              <a:headEnd len="med" w="med" type="none"/>
              <a:tailEnd len="med" w="med" type="triangle"/>
            </a:ln>
          </p:spPr>
        </p:cxnSp>
        <p:sp>
          <p:nvSpPr>
            <p:cNvPr id="221" name="Google Shape;221;p30"/>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Hats.java</a:t>
              </a:r>
              <a:endParaRPr>
                <a:solidFill>
                  <a:schemeClr val="dk1"/>
                </a:solidFill>
              </a:endParaRPr>
            </a:p>
            <a:p>
              <a:pPr indent="0" lvl="0" marL="0" rtl="0" algn="l">
                <a:spcBef>
                  <a:spcPts val="0"/>
                </a:spcBef>
                <a:spcAft>
                  <a:spcPts val="0"/>
                </a:spcAft>
                <a:buNone/>
              </a:pPr>
              <a:r>
                <a:rPr lang="en">
                  <a:solidFill>
                    <a:schemeClr val="dk1"/>
                  </a:solidFill>
                </a:rPr>
                <a:t>Cheese.java</a:t>
              </a:r>
              <a:endParaRPr>
                <a:solidFill>
                  <a:schemeClr val="dk1"/>
                </a:solidFill>
              </a:endParaRPr>
            </a:p>
            <a:p>
              <a:pPr indent="0" lvl="0" marL="0" rtl="0" algn="l">
                <a:spcBef>
                  <a:spcPts val="0"/>
                </a:spcBef>
                <a:spcAft>
                  <a:spcPts val="0"/>
                </a:spcAft>
                <a:buNone/>
              </a:pPr>
              <a:r>
                <a:rPr lang="en">
                  <a:solidFill>
                    <a:schemeClr val="dk1"/>
                  </a:solidFill>
                </a:rPr>
                <a:t>“version 1 of my code”</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25" name="Shape 225"/>
        <p:cNvGrpSpPr/>
        <p:nvPr/>
      </p:nvGrpSpPr>
      <p:grpSpPr>
        <a:xfrm>
          <a:off x="0" y="0"/>
          <a:ext cx="0" cy="0"/>
          <a:chOff x="0" y="0"/>
          <a:chExt cx="0" cy="0"/>
        </a:xfrm>
      </p:grpSpPr>
      <p:sp>
        <p:nvSpPr>
          <p:cNvPr id="226" name="Google Shape;226;p31"/>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Avoiding Redundancy</a:t>
            </a:r>
            <a:endParaRPr sz="4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Consider the Following Scenario</a:t>
            </a:r>
            <a:endParaRPr/>
          </a:p>
        </p:txBody>
      </p:sp>
      <p:sp>
        <p:nvSpPr>
          <p:cNvPr id="232" name="Google Shape;232;p32"/>
          <p:cNvSpPr txBox="1"/>
          <p:nvPr>
            <p:ph idx="1" type="body"/>
          </p:nvPr>
        </p:nvSpPr>
        <p:spPr>
          <a:xfrm>
            <a:off x="243000" y="556500"/>
            <a:ext cx="89010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a programmer makes 3 commits while working on a Java project.</a:t>
            </a:r>
            <a:endParaRPr/>
          </a:p>
          <a:p>
            <a:pPr indent="-355600" lvl="0" marL="457200" rtl="0" algn="l">
              <a:spcBef>
                <a:spcPts val="600"/>
              </a:spcBef>
              <a:spcAft>
                <a:spcPts val="0"/>
              </a:spcAft>
              <a:buSzPts val="2000"/>
              <a:buChar char="●"/>
            </a:pPr>
            <a:r>
              <a:rPr lang="en"/>
              <a:t>In V1: Create readme.txt</a:t>
            </a:r>
            <a:endParaRPr/>
          </a:p>
          <a:p>
            <a:pPr indent="-355600" lvl="0" marL="457200" rtl="0" algn="l">
              <a:spcBef>
                <a:spcPts val="0"/>
              </a:spcBef>
              <a:spcAft>
                <a:spcPts val="0"/>
              </a:spcAft>
              <a:buSzPts val="2000"/>
              <a:buChar char="●"/>
            </a:pPr>
            <a:r>
              <a:rPr lang="en"/>
              <a:t>In V2: Create utils/Utils.java, game/Game.java, game/Test.java. Modify readme.</a:t>
            </a:r>
            <a:endParaRPr/>
          </a:p>
          <a:p>
            <a:pPr indent="-355600" lvl="0" marL="457200" rtl="0" algn="l">
              <a:spcBef>
                <a:spcPts val="0"/>
              </a:spcBef>
              <a:spcAft>
                <a:spcPts val="0"/>
              </a:spcAft>
              <a:buSzPts val="2000"/>
              <a:buChar char="●"/>
            </a:pPr>
            <a:r>
              <a:rPr lang="en"/>
              <a:t>In V3: Modify game/Game.java, change readme.txt back to V1 version.</a:t>
            </a:r>
            <a:endParaRPr/>
          </a:p>
        </p:txBody>
      </p:sp>
      <p:sp>
        <p:nvSpPr>
          <p:cNvPr id="233" name="Google Shape;233;p32"/>
          <p:cNvSpPr/>
          <p:nvPr/>
        </p:nvSpPr>
        <p:spPr>
          <a:xfrm>
            <a:off x="827600"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sp>
        <p:nvSpPr>
          <p:cNvPr id="234" name="Google Shape;234;p32"/>
          <p:cNvSpPr/>
          <p:nvPr/>
        </p:nvSpPr>
        <p:spPr>
          <a:xfrm>
            <a:off x="593900" y="2979775"/>
            <a:ext cx="872400" cy="258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235" name="Google Shape;235;p32"/>
          <p:cNvSpPr/>
          <p:nvPr/>
        </p:nvSpPr>
        <p:spPr>
          <a:xfrm>
            <a:off x="3742125" y="226959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sp>
        <p:nvSpPr>
          <p:cNvPr id="236" name="Google Shape;236;p32"/>
          <p:cNvSpPr/>
          <p:nvPr/>
        </p:nvSpPr>
        <p:spPr>
          <a:xfrm>
            <a:off x="3591075"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237" name="Google Shape;237;p32"/>
          <p:cNvSpPr/>
          <p:nvPr/>
        </p:nvSpPr>
        <p:spPr>
          <a:xfrm>
            <a:off x="2713950"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utils</a:t>
            </a:r>
            <a:endParaRPr/>
          </a:p>
        </p:txBody>
      </p:sp>
      <p:sp>
        <p:nvSpPr>
          <p:cNvPr id="238" name="Google Shape;238;p32"/>
          <p:cNvSpPr/>
          <p:nvPr/>
        </p:nvSpPr>
        <p:spPr>
          <a:xfrm>
            <a:off x="4468200" y="297977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239" name="Google Shape;239;p32"/>
          <p:cNvSpPr/>
          <p:nvPr/>
        </p:nvSpPr>
        <p:spPr>
          <a:xfrm>
            <a:off x="2968725" y="441692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a:t>
            </a:r>
            <a:r>
              <a:rPr lang="en" sz="1000"/>
              <a:t>.java</a:t>
            </a:r>
            <a:endParaRPr sz="1000"/>
          </a:p>
        </p:txBody>
      </p:sp>
      <p:sp>
        <p:nvSpPr>
          <p:cNvPr id="240" name="Google Shape;240;p32"/>
          <p:cNvSpPr/>
          <p:nvPr/>
        </p:nvSpPr>
        <p:spPr>
          <a:xfrm>
            <a:off x="4093650"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Test</a:t>
            </a:r>
            <a:r>
              <a:rPr lang="en" sz="1000"/>
              <a:t>.java</a:t>
            </a:r>
            <a:endParaRPr sz="1000"/>
          </a:p>
        </p:txBody>
      </p:sp>
      <p:sp>
        <p:nvSpPr>
          <p:cNvPr id="241" name="Google Shape;241;p32"/>
          <p:cNvSpPr/>
          <p:nvPr/>
        </p:nvSpPr>
        <p:spPr>
          <a:xfrm>
            <a:off x="1951496"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Utils</a:t>
            </a:r>
            <a:r>
              <a:rPr lang="en" sz="1000"/>
              <a:t>.java</a:t>
            </a:r>
            <a:endParaRPr sz="1000"/>
          </a:p>
        </p:txBody>
      </p:sp>
      <p:cxnSp>
        <p:nvCxnSpPr>
          <p:cNvPr id="242" name="Google Shape;242;p32"/>
          <p:cNvCxnSpPr>
            <a:stCxn id="235" idx="2"/>
            <a:endCxn id="237" idx="0"/>
          </p:cNvCxnSpPr>
          <p:nvPr/>
        </p:nvCxnSpPr>
        <p:spPr>
          <a:xfrm flipH="1">
            <a:off x="3067425" y="2674593"/>
            <a:ext cx="877200" cy="838500"/>
          </a:xfrm>
          <a:prstGeom prst="straightConnector1">
            <a:avLst/>
          </a:prstGeom>
          <a:noFill/>
          <a:ln cap="flat" cmpd="sng" w="19050">
            <a:solidFill>
              <a:schemeClr val="dk2"/>
            </a:solidFill>
            <a:prstDash val="solid"/>
            <a:round/>
            <a:headEnd len="med" w="med" type="none"/>
            <a:tailEnd len="med" w="med" type="triangle"/>
          </a:ln>
        </p:spPr>
      </p:cxnSp>
      <p:cxnSp>
        <p:nvCxnSpPr>
          <p:cNvPr id="243" name="Google Shape;243;p32"/>
          <p:cNvCxnSpPr>
            <a:stCxn id="235" idx="2"/>
            <a:endCxn id="236" idx="0"/>
          </p:cNvCxnSpPr>
          <p:nvPr/>
        </p:nvCxnSpPr>
        <p:spPr>
          <a:xfrm>
            <a:off x="3944625" y="2674593"/>
            <a:ext cx="0" cy="838500"/>
          </a:xfrm>
          <a:prstGeom prst="straightConnector1">
            <a:avLst/>
          </a:prstGeom>
          <a:noFill/>
          <a:ln cap="flat" cmpd="sng" w="19050">
            <a:solidFill>
              <a:schemeClr val="dk2"/>
            </a:solidFill>
            <a:prstDash val="solid"/>
            <a:round/>
            <a:headEnd len="med" w="med" type="none"/>
            <a:tailEnd len="med" w="med" type="triangle"/>
          </a:ln>
        </p:spPr>
      </p:cxnSp>
      <p:cxnSp>
        <p:nvCxnSpPr>
          <p:cNvPr id="244" name="Google Shape;244;p32"/>
          <p:cNvCxnSpPr>
            <a:stCxn id="237" idx="2"/>
            <a:endCxn id="241" idx="0"/>
          </p:cNvCxnSpPr>
          <p:nvPr/>
        </p:nvCxnSpPr>
        <p:spPr>
          <a:xfrm flipH="1">
            <a:off x="2304900" y="3771475"/>
            <a:ext cx="762600" cy="645600"/>
          </a:xfrm>
          <a:prstGeom prst="straightConnector1">
            <a:avLst/>
          </a:prstGeom>
          <a:noFill/>
          <a:ln cap="flat" cmpd="sng" w="19050">
            <a:solidFill>
              <a:schemeClr val="dk2"/>
            </a:solidFill>
            <a:prstDash val="solid"/>
            <a:round/>
            <a:headEnd len="med" w="med" type="none"/>
            <a:tailEnd len="med" w="med" type="triangle"/>
          </a:ln>
        </p:spPr>
      </p:cxnSp>
      <p:cxnSp>
        <p:nvCxnSpPr>
          <p:cNvPr id="245" name="Google Shape;245;p32"/>
          <p:cNvCxnSpPr>
            <a:stCxn id="236" idx="2"/>
            <a:endCxn id="239" idx="0"/>
          </p:cNvCxnSpPr>
          <p:nvPr/>
        </p:nvCxnSpPr>
        <p:spPr>
          <a:xfrm flipH="1">
            <a:off x="3404925" y="3771475"/>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246" name="Google Shape;246;p32"/>
          <p:cNvCxnSpPr>
            <a:stCxn id="235" idx="2"/>
            <a:endCxn id="238" idx="0"/>
          </p:cNvCxnSpPr>
          <p:nvPr/>
        </p:nvCxnSpPr>
        <p:spPr>
          <a:xfrm>
            <a:off x="3944625" y="2674593"/>
            <a:ext cx="959700" cy="305100"/>
          </a:xfrm>
          <a:prstGeom prst="straightConnector1">
            <a:avLst/>
          </a:prstGeom>
          <a:noFill/>
          <a:ln cap="flat" cmpd="sng" w="19050">
            <a:solidFill>
              <a:schemeClr val="dk2"/>
            </a:solidFill>
            <a:prstDash val="solid"/>
            <a:round/>
            <a:headEnd len="med" w="med" type="none"/>
            <a:tailEnd len="med" w="med" type="triangle"/>
          </a:ln>
        </p:spPr>
      </p:cxnSp>
      <p:cxnSp>
        <p:nvCxnSpPr>
          <p:cNvPr id="247" name="Google Shape;247;p32"/>
          <p:cNvCxnSpPr>
            <a:stCxn id="236" idx="2"/>
            <a:endCxn id="240" idx="0"/>
          </p:cNvCxnSpPr>
          <p:nvPr/>
        </p:nvCxnSpPr>
        <p:spPr>
          <a:xfrm>
            <a:off x="3944625" y="3771475"/>
            <a:ext cx="502500" cy="645600"/>
          </a:xfrm>
          <a:prstGeom prst="straightConnector1">
            <a:avLst/>
          </a:prstGeom>
          <a:noFill/>
          <a:ln cap="flat" cmpd="sng" w="19050">
            <a:solidFill>
              <a:schemeClr val="dk2"/>
            </a:solidFill>
            <a:prstDash val="solid"/>
            <a:round/>
            <a:headEnd len="med" w="med" type="none"/>
            <a:tailEnd len="med" w="med" type="triangle"/>
          </a:ln>
        </p:spPr>
      </p:cxnSp>
      <p:cxnSp>
        <p:nvCxnSpPr>
          <p:cNvPr id="248" name="Google Shape;248;p32"/>
          <p:cNvCxnSpPr>
            <a:stCxn id="233" idx="2"/>
            <a:endCxn id="234" idx="0"/>
          </p:cNvCxnSpPr>
          <p:nvPr/>
        </p:nvCxnSpPr>
        <p:spPr>
          <a:xfrm>
            <a:off x="1030100" y="2688318"/>
            <a:ext cx="0" cy="291600"/>
          </a:xfrm>
          <a:prstGeom prst="straightConnector1">
            <a:avLst/>
          </a:prstGeom>
          <a:noFill/>
          <a:ln cap="flat" cmpd="sng" w="19050">
            <a:solidFill>
              <a:schemeClr val="dk2"/>
            </a:solidFill>
            <a:prstDash val="solid"/>
            <a:round/>
            <a:headEnd len="med" w="med" type="none"/>
            <a:tailEnd len="med" w="med" type="triangle"/>
          </a:ln>
        </p:spPr>
      </p:cxnSp>
      <p:sp>
        <p:nvSpPr>
          <p:cNvPr id="249" name="Google Shape;249;p32"/>
          <p:cNvSpPr/>
          <p:nvPr/>
        </p:nvSpPr>
        <p:spPr>
          <a:xfrm>
            <a:off x="7486376"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sp>
        <p:nvSpPr>
          <p:cNvPr id="250" name="Google Shape;250;p32"/>
          <p:cNvSpPr/>
          <p:nvPr/>
        </p:nvSpPr>
        <p:spPr>
          <a:xfrm>
            <a:off x="7331337" y="3519637"/>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251" name="Google Shape;251;p32"/>
          <p:cNvSpPr/>
          <p:nvPr/>
        </p:nvSpPr>
        <p:spPr>
          <a:xfrm>
            <a:off x="6454212" y="3519637"/>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utils</a:t>
            </a:r>
            <a:endParaRPr/>
          </a:p>
        </p:txBody>
      </p:sp>
      <p:sp>
        <p:nvSpPr>
          <p:cNvPr id="252" name="Google Shape;252;p32"/>
          <p:cNvSpPr/>
          <p:nvPr/>
        </p:nvSpPr>
        <p:spPr>
          <a:xfrm>
            <a:off x="8208462" y="2986237"/>
            <a:ext cx="872400" cy="258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253" name="Google Shape;253;p32"/>
          <p:cNvSpPr/>
          <p:nvPr/>
        </p:nvSpPr>
        <p:spPr>
          <a:xfrm>
            <a:off x="6708987" y="4423387"/>
            <a:ext cx="872400" cy="258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a:t>
            </a:r>
            <a:r>
              <a:rPr lang="en" sz="1000"/>
              <a:t>.java</a:t>
            </a:r>
            <a:endParaRPr sz="1000"/>
          </a:p>
        </p:txBody>
      </p:sp>
      <p:sp>
        <p:nvSpPr>
          <p:cNvPr id="254" name="Google Shape;254;p32"/>
          <p:cNvSpPr/>
          <p:nvPr/>
        </p:nvSpPr>
        <p:spPr>
          <a:xfrm>
            <a:off x="7833912" y="4423387"/>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Test.java</a:t>
            </a:r>
            <a:endParaRPr sz="1000"/>
          </a:p>
        </p:txBody>
      </p:sp>
      <p:sp>
        <p:nvSpPr>
          <p:cNvPr id="255" name="Google Shape;255;p32"/>
          <p:cNvSpPr/>
          <p:nvPr/>
        </p:nvSpPr>
        <p:spPr>
          <a:xfrm>
            <a:off x="5691758" y="4423387"/>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Utils</a:t>
            </a:r>
            <a:r>
              <a:rPr lang="en" sz="1000"/>
              <a:t>.java</a:t>
            </a:r>
            <a:endParaRPr sz="1000"/>
          </a:p>
        </p:txBody>
      </p:sp>
      <p:cxnSp>
        <p:nvCxnSpPr>
          <p:cNvPr id="256" name="Google Shape;256;p32"/>
          <p:cNvCxnSpPr>
            <a:endCxn id="251" idx="0"/>
          </p:cNvCxnSpPr>
          <p:nvPr/>
        </p:nvCxnSpPr>
        <p:spPr>
          <a:xfrm flipH="1">
            <a:off x="6807762" y="2681137"/>
            <a:ext cx="877200" cy="838500"/>
          </a:xfrm>
          <a:prstGeom prst="straightConnector1">
            <a:avLst/>
          </a:prstGeom>
          <a:noFill/>
          <a:ln cap="flat" cmpd="sng" w="19050">
            <a:solidFill>
              <a:schemeClr val="dk2"/>
            </a:solidFill>
            <a:prstDash val="solid"/>
            <a:round/>
            <a:headEnd len="med" w="med" type="none"/>
            <a:tailEnd len="med" w="med" type="triangle"/>
          </a:ln>
        </p:spPr>
      </p:cxnSp>
      <p:cxnSp>
        <p:nvCxnSpPr>
          <p:cNvPr id="257" name="Google Shape;257;p32"/>
          <p:cNvCxnSpPr>
            <a:endCxn id="250" idx="0"/>
          </p:cNvCxnSpPr>
          <p:nvPr/>
        </p:nvCxnSpPr>
        <p:spPr>
          <a:xfrm>
            <a:off x="7684887" y="2681137"/>
            <a:ext cx="0" cy="838500"/>
          </a:xfrm>
          <a:prstGeom prst="straightConnector1">
            <a:avLst/>
          </a:prstGeom>
          <a:noFill/>
          <a:ln cap="flat" cmpd="sng" w="19050">
            <a:solidFill>
              <a:schemeClr val="dk2"/>
            </a:solidFill>
            <a:prstDash val="solid"/>
            <a:round/>
            <a:headEnd len="med" w="med" type="none"/>
            <a:tailEnd len="med" w="med" type="triangle"/>
          </a:ln>
        </p:spPr>
      </p:cxnSp>
      <p:cxnSp>
        <p:nvCxnSpPr>
          <p:cNvPr id="258" name="Google Shape;258;p32"/>
          <p:cNvCxnSpPr>
            <a:stCxn id="251" idx="2"/>
            <a:endCxn id="255" idx="0"/>
          </p:cNvCxnSpPr>
          <p:nvPr/>
        </p:nvCxnSpPr>
        <p:spPr>
          <a:xfrm flipH="1">
            <a:off x="6045162" y="3777937"/>
            <a:ext cx="762600" cy="645600"/>
          </a:xfrm>
          <a:prstGeom prst="straightConnector1">
            <a:avLst/>
          </a:prstGeom>
          <a:noFill/>
          <a:ln cap="flat" cmpd="sng" w="19050">
            <a:solidFill>
              <a:schemeClr val="dk2"/>
            </a:solidFill>
            <a:prstDash val="solid"/>
            <a:round/>
            <a:headEnd len="med" w="med" type="none"/>
            <a:tailEnd len="med" w="med" type="triangle"/>
          </a:ln>
        </p:spPr>
      </p:cxnSp>
      <p:cxnSp>
        <p:nvCxnSpPr>
          <p:cNvPr id="259" name="Google Shape;259;p32"/>
          <p:cNvCxnSpPr>
            <a:stCxn id="250" idx="2"/>
            <a:endCxn id="253" idx="0"/>
          </p:cNvCxnSpPr>
          <p:nvPr/>
        </p:nvCxnSpPr>
        <p:spPr>
          <a:xfrm flipH="1">
            <a:off x="7145187" y="3777937"/>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260" name="Google Shape;260;p32"/>
          <p:cNvCxnSpPr>
            <a:endCxn id="252" idx="0"/>
          </p:cNvCxnSpPr>
          <p:nvPr/>
        </p:nvCxnSpPr>
        <p:spPr>
          <a:xfrm>
            <a:off x="7684962" y="2681137"/>
            <a:ext cx="959700" cy="305100"/>
          </a:xfrm>
          <a:prstGeom prst="straightConnector1">
            <a:avLst/>
          </a:prstGeom>
          <a:noFill/>
          <a:ln cap="flat" cmpd="sng" w="19050">
            <a:solidFill>
              <a:schemeClr val="dk2"/>
            </a:solidFill>
            <a:prstDash val="solid"/>
            <a:round/>
            <a:headEnd len="med" w="med" type="none"/>
            <a:tailEnd len="med" w="med" type="triangle"/>
          </a:ln>
        </p:spPr>
      </p:cxnSp>
      <p:cxnSp>
        <p:nvCxnSpPr>
          <p:cNvPr id="261" name="Google Shape;261;p32"/>
          <p:cNvCxnSpPr>
            <a:stCxn id="250" idx="2"/>
            <a:endCxn id="254" idx="0"/>
          </p:cNvCxnSpPr>
          <p:nvPr/>
        </p:nvCxnSpPr>
        <p:spPr>
          <a:xfrm>
            <a:off x="7684887" y="3777937"/>
            <a:ext cx="502500" cy="6456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1: Store Multiple Copies of Everything</a:t>
            </a:r>
            <a:endParaRPr/>
          </a:p>
        </p:txBody>
      </p:sp>
      <p:sp>
        <p:nvSpPr>
          <p:cNvPr id="267" name="Google Shape;267;p33"/>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noted before, e</a:t>
            </a:r>
            <a:r>
              <a:rPr lang="en"/>
              <a:t>very time you commit changes to a file, it stores a copy of the </a:t>
            </a:r>
            <a:r>
              <a:rPr b="1" lang="en"/>
              <a:t>entire project </a:t>
            </a:r>
            <a:r>
              <a:rPr lang="en"/>
              <a:t>in the .git folder as a new commit.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Naive approach: Each commit is stored in a subdirectory with copies of every file.</a:t>
            </a:r>
            <a:endParaRPr/>
          </a:p>
        </p:txBody>
      </p:sp>
      <p:sp>
        <p:nvSpPr>
          <p:cNvPr id="268" name="Google Shape;268;p33"/>
          <p:cNvSpPr txBox="1"/>
          <p:nvPr/>
        </p:nvSpPr>
        <p:spPr>
          <a:xfrm>
            <a:off x="727625" y="2112975"/>
            <a:ext cx="3420900" cy="29514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.git/v1/readme.txt</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.git/v2/readme.txt</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.git/v2/utils/Utils.java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.git/v2/game/Test.java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.git/v3/readme.txt</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.git/v3/utils/Utils.java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.git/v3/game/Test.java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chemeClr val="dk1"/>
              </a:highlight>
              <a:latin typeface="Consolas"/>
              <a:ea typeface="Consolas"/>
              <a:cs typeface="Consolas"/>
              <a:sym typeface="Consolas"/>
            </a:endParaRPr>
          </a:p>
        </p:txBody>
      </p:sp>
      <p:sp>
        <p:nvSpPr>
          <p:cNvPr id="269" name="Google Shape;269;p33"/>
          <p:cNvSpPr txBox="1"/>
          <p:nvPr>
            <p:ph idx="1" type="body"/>
          </p:nvPr>
        </p:nvSpPr>
        <p:spPr>
          <a:xfrm>
            <a:off x="4671800" y="2240000"/>
            <a:ext cx="4410600" cy="213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Easy to implement!</a:t>
            </a:r>
            <a:endParaRPr/>
          </a:p>
          <a:p>
            <a:pPr indent="-355600" lvl="0" marL="457200" rtl="0" algn="l">
              <a:spcBef>
                <a:spcPts val="600"/>
              </a:spcBef>
              <a:spcAft>
                <a:spcPts val="0"/>
              </a:spcAft>
              <a:buSzPts val="2000"/>
              <a:buChar char="●"/>
            </a:pPr>
            <a:r>
              <a:rPr lang="en"/>
              <a:t>Commit simply creates a new subdirectory then copies all added files to the subdirectory.</a:t>
            </a:r>
            <a:endParaRPr/>
          </a:p>
          <a:p>
            <a:pPr indent="-355600" lvl="0" marL="457200" rtl="0" algn="l">
              <a:spcBef>
                <a:spcPts val="0"/>
              </a:spcBef>
              <a:spcAft>
                <a:spcPts val="0"/>
              </a:spcAft>
              <a:buSzPts val="2000"/>
              <a:buChar char="●"/>
            </a:pPr>
            <a:r>
              <a:rPr lang="en"/>
              <a:t>Checkout simply deletes everything in the current folder and copies all files from the requested subdirectory in their place.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1"/>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1"/>
                                        <p:tgtEl>
                                          <p:spTgt spid="26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1: Store Multiple Copies of Everything</a:t>
            </a:r>
            <a:endParaRPr/>
          </a:p>
        </p:txBody>
      </p:sp>
      <p:sp>
        <p:nvSpPr>
          <p:cNvPr id="275" name="Google Shape;275;p34"/>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noted before, every time you commit changes to a file, it stores a copy of the </a:t>
            </a:r>
            <a:r>
              <a:rPr b="1" lang="en"/>
              <a:t>entire project </a:t>
            </a:r>
            <a:r>
              <a:rPr lang="en"/>
              <a:t>in the .git folder as a new commit.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Naive approach: Each commit is stored in a subdirectory with copies of every file.</a:t>
            </a:r>
            <a:endParaRPr/>
          </a:p>
        </p:txBody>
      </p:sp>
      <p:sp>
        <p:nvSpPr>
          <p:cNvPr id="276" name="Google Shape;276;p34"/>
          <p:cNvSpPr txBox="1"/>
          <p:nvPr>
            <p:ph idx="1" type="body"/>
          </p:nvPr>
        </p:nvSpPr>
        <p:spPr>
          <a:xfrm>
            <a:off x="4671800" y="2240000"/>
            <a:ext cx="4410600" cy="213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Naive approach is very inefficient. Here:</a:t>
            </a:r>
            <a:endParaRPr/>
          </a:p>
          <a:p>
            <a:pPr indent="-355600" lvl="0" marL="457200" rtl="0" algn="l">
              <a:spcBef>
                <a:spcPts val="600"/>
              </a:spcBef>
              <a:spcAft>
                <a:spcPts val="0"/>
              </a:spcAft>
              <a:buSzPts val="2000"/>
              <a:buChar char="●"/>
            </a:pPr>
            <a:r>
              <a:rPr lang="en"/>
              <a:t>2 identical Utils.java files.</a:t>
            </a:r>
            <a:endParaRPr/>
          </a:p>
          <a:p>
            <a:pPr indent="-355600" lvl="0" marL="457200" rtl="0" algn="l">
              <a:spcBef>
                <a:spcPts val="0"/>
              </a:spcBef>
              <a:spcAft>
                <a:spcPts val="0"/>
              </a:spcAft>
              <a:buSzPts val="2000"/>
              <a:buChar char="●"/>
            </a:pPr>
            <a:r>
              <a:rPr lang="en"/>
              <a:t>2 identical Test.java files.</a:t>
            </a:r>
            <a:endParaRPr/>
          </a:p>
          <a:p>
            <a:pPr indent="-355600" lvl="0" marL="457200" rtl="0" algn="l">
              <a:spcBef>
                <a:spcPts val="0"/>
              </a:spcBef>
              <a:spcAft>
                <a:spcPts val="0"/>
              </a:spcAft>
              <a:buSzPts val="2000"/>
              <a:buChar char="●"/>
            </a:pPr>
            <a:r>
              <a:rPr lang="en"/>
              <a:t>2 identical readme.txt files.</a:t>
            </a:r>
            <a:br>
              <a:rPr lang="en"/>
            </a:br>
            <a:endParaRPr/>
          </a:p>
        </p:txBody>
      </p:sp>
      <p:sp>
        <p:nvSpPr>
          <p:cNvPr id="277" name="Google Shape;277;p34"/>
          <p:cNvSpPr txBox="1"/>
          <p:nvPr/>
        </p:nvSpPr>
        <p:spPr>
          <a:xfrm>
            <a:off x="727625" y="2112975"/>
            <a:ext cx="3420900" cy="29514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.git/v1/readme.txt</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.git/v2/readme.txt</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.git/v2/utils/Utils.java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.git/v2/game/Test.java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.git/v3/readme.txt</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.git/v3/utils/Utils.java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.git/v3/game/Test.java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chemeClr val="dk1"/>
              </a:highlight>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Eliminating Inefficiency</a:t>
            </a:r>
            <a:endParaRPr/>
          </a:p>
        </p:txBody>
      </p:sp>
      <p:sp>
        <p:nvSpPr>
          <p:cNvPr id="283" name="Google Shape;283;p35"/>
          <p:cNvSpPr txBox="1"/>
          <p:nvPr>
            <p:ph idx="1" type="body"/>
          </p:nvPr>
        </p:nvSpPr>
        <p:spPr>
          <a:xfrm>
            <a:off x="243000" y="556500"/>
            <a:ext cx="84438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obvious improvement: Don’t store multiple copies of the same file.</a:t>
            </a:r>
            <a:endParaRPr/>
          </a:p>
        </p:txBody>
      </p:sp>
      <p:sp>
        <p:nvSpPr>
          <p:cNvPr id="284" name="Google Shape;284;p35"/>
          <p:cNvSpPr/>
          <p:nvPr/>
        </p:nvSpPr>
        <p:spPr>
          <a:xfrm>
            <a:off x="827600"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sp>
        <p:nvSpPr>
          <p:cNvPr id="285" name="Google Shape;285;p35"/>
          <p:cNvSpPr/>
          <p:nvPr/>
        </p:nvSpPr>
        <p:spPr>
          <a:xfrm>
            <a:off x="593900" y="2979775"/>
            <a:ext cx="872400" cy="258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286" name="Google Shape;286;p35"/>
          <p:cNvSpPr/>
          <p:nvPr/>
        </p:nvSpPr>
        <p:spPr>
          <a:xfrm>
            <a:off x="3742125" y="226959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sp>
        <p:nvSpPr>
          <p:cNvPr id="287" name="Google Shape;287;p35"/>
          <p:cNvSpPr/>
          <p:nvPr/>
        </p:nvSpPr>
        <p:spPr>
          <a:xfrm>
            <a:off x="3591075"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288" name="Google Shape;288;p35"/>
          <p:cNvSpPr/>
          <p:nvPr/>
        </p:nvSpPr>
        <p:spPr>
          <a:xfrm>
            <a:off x="2713950"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utils</a:t>
            </a:r>
            <a:endParaRPr/>
          </a:p>
        </p:txBody>
      </p:sp>
      <p:sp>
        <p:nvSpPr>
          <p:cNvPr id="289" name="Google Shape;289;p35"/>
          <p:cNvSpPr/>
          <p:nvPr/>
        </p:nvSpPr>
        <p:spPr>
          <a:xfrm>
            <a:off x="4468200" y="297977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290" name="Google Shape;290;p35"/>
          <p:cNvSpPr/>
          <p:nvPr/>
        </p:nvSpPr>
        <p:spPr>
          <a:xfrm>
            <a:off x="2968725" y="441692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Game.java</a:t>
            </a:r>
            <a:endParaRPr sz="1000"/>
          </a:p>
        </p:txBody>
      </p:sp>
      <p:sp>
        <p:nvSpPr>
          <p:cNvPr id="291" name="Google Shape;291;p35"/>
          <p:cNvSpPr/>
          <p:nvPr/>
        </p:nvSpPr>
        <p:spPr>
          <a:xfrm>
            <a:off x="4093650"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Test.java</a:t>
            </a:r>
            <a:endParaRPr sz="1000"/>
          </a:p>
        </p:txBody>
      </p:sp>
      <p:sp>
        <p:nvSpPr>
          <p:cNvPr id="292" name="Google Shape;292;p35"/>
          <p:cNvSpPr/>
          <p:nvPr/>
        </p:nvSpPr>
        <p:spPr>
          <a:xfrm>
            <a:off x="1951496"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Utils.java</a:t>
            </a:r>
            <a:endParaRPr sz="1000"/>
          </a:p>
        </p:txBody>
      </p:sp>
      <p:cxnSp>
        <p:nvCxnSpPr>
          <p:cNvPr id="293" name="Google Shape;293;p35"/>
          <p:cNvCxnSpPr>
            <a:stCxn id="286" idx="2"/>
            <a:endCxn id="288" idx="0"/>
          </p:cNvCxnSpPr>
          <p:nvPr/>
        </p:nvCxnSpPr>
        <p:spPr>
          <a:xfrm flipH="1">
            <a:off x="3067425" y="2674593"/>
            <a:ext cx="877200" cy="838500"/>
          </a:xfrm>
          <a:prstGeom prst="straightConnector1">
            <a:avLst/>
          </a:prstGeom>
          <a:noFill/>
          <a:ln cap="flat" cmpd="sng" w="19050">
            <a:solidFill>
              <a:schemeClr val="dk2"/>
            </a:solidFill>
            <a:prstDash val="solid"/>
            <a:round/>
            <a:headEnd len="med" w="med" type="none"/>
            <a:tailEnd len="med" w="med" type="triangle"/>
          </a:ln>
        </p:spPr>
      </p:cxnSp>
      <p:cxnSp>
        <p:nvCxnSpPr>
          <p:cNvPr id="294" name="Google Shape;294;p35"/>
          <p:cNvCxnSpPr>
            <a:stCxn id="286" idx="2"/>
            <a:endCxn id="287" idx="0"/>
          </p:cNvCxnSpPr>
          <p:nvPr/>
        </p:nvCxnSpPr>
        <p:spPr>
          <a:xfrm>
            <a:off x="3944625" y="2674593"/>
            <a:ext cx="0" cy="838500"/>
          </a:xfrm>
          <a:prstGeom prst="straightConnector1">
            <a:avLst/>
          </a:prstGeom>
          <a:noFill/>
          <a:ln cap="flat" cmpd="sng" w="19050">
            <a:solidFill>
              <a:schemeClr val="dk2"/>
            </a:solidFill>
            <a:prstDash val="solid"/>
            <a:round/>
            <a:headEnd len="med" w="med" type="none"/>
            <a:tailEnd len="med" w="med" type="triangle"/>
          </a:ln>
        </p:spPr>
      </p:cxnSp>
      <p:cxnSp>
        <p:nvCxnSpPr>
          <p:cNvPr id="295" name="Google Shape;295;p35"/>
          <p:cNvCxnSpPr>
            <a:stCxn id="288" idx="2"/>
            <a:endCxn id="292" idx="0"/>
          </p:cNvCxnSpPr>
          <p:nvPr/>
        </p:nvCxnSpPr>
        <p:spPr>
          <a:xfrm flipH="1">
            <a:off x="2304900" y="3771475"/>
            <a:ext cx="762600" cy="645600"/>
          </a:xfrm>
          <a:prstGeom prst="straightConnector1">
            <a:avLst/>
          </a:prstGeom>
          <a:noFill/>
          <a:ln cap="flat" cmpd="sng" w="19050">
            <a:solidFill>
              <a:schemeClr val="dk2"/>
            </a:solidFill>
            <a:prstDash val="solid"/>
            <a:round/>
            <a:headEnd len="med" w="med" type="none"/>
            <a:tailEnd len="med" w="med" type="triangle"/>
          </a:ln>
        </p:spPr>
      </p:cxnSp>
      <p:cxnSp>
        <p:nvCxnSpPr>
          <p:cNvPr id="296" name="Google Shape;296;p35"/>
          <p:cNvCxnSpPr>
            <a:stCxn id="287" idx="2"/>
            <a:endCxn id="290" idx="0"/>
          </p:cNvCxnSpPr>
          <p:nvPr/>
        </p:nvCxnSpPr>
        <p:spPr>
          <a:xfrm flipH="1">
            <a:off x="3404925" y="3771475"/>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297" name="Google Shape;297;p35"/>
          <p:cNvCxnSpPr>
            <a:stCxn id="286" idx="2"/>
            <a:endCxn id="289" idx="0"/>
          </p:cNvCxnSpPr>
          <p:nvPr/>
        </p:nvCxnSpPr>
        <p:spPr>
          <a:xfrm>
            <a:off x="3944625" y="2674593"/>
            <a:ext cx="959700" cy="305100"/>
          </a:xfrm>
          <a:prstGeom prst="straightConnector1">
            <a:avLst/>
          </a:prstGeom>
          <a:noFill/>
          <a:ln cap="flat" cmpd="sng" w="19050">
            <a:solidFill>
              <a:schemeClr val="dk2"/>
            </a:solidFill>
            <a:prstDash val="solid"/>
            <a:round/>
            <a:headEnd len="med" w="med" type="none"/>
            <a:tailEnd len="med" w="med" type="triangle"/>
          </a:ln>
        </p:spPr>
      </p:cxnSp>
      <p:cxnSp>
        <p:nvCxnSpPr>
          <p:cNvPr id="298" name="Google Shape;298;p35"/>
          <p:cNvCxnSpPr>
            <a:stCxn id="287" idx="2"/>
            <a:endCxn id="291" idx="0"/>
          </p:cNvCxnSpPr>
          <p:nvPr/>
        </p:nvCxnSpPr>
        <p:spPr>
          <a:xfrm>
            <a:off x="3944625" y="3771475"/>
            <a:ext cx="502500" cy="645600"/>
          </a:xfrm>
          <a:prstGeom prst="straightConnector1">
            <a:avLst/>
          </a:prstGeom>
          <a:noFill/>
          <a:ln cap="flat" cmpd="sng" w="19050">
            <a:solidFill>
              <a:schemeClr val="dk2"/>
            </a:solidFill>
            <a:prstDash val="solid"/>
            <a:round/>
            <a:headEnd len="med" w="med" type="none"/>
            <a:tailEnd len="med" w="med" type="triangle"/>
          </a:ln>
        </p:spPr>
      </p:cxnSp>
      <p:cxnSp>
        <p:nvCxnSpPr>
          <p:cNvPr id="299" name="Google Shape;299;p35"/>
          <p:cNvCxnSpPr>
            <a:stCxn id="284" idx="2"/>
            <a:endCxn id="285" idx="0"/>
          </p:cNvCxnSpPr>
          <p:nvPr/>
        </p:nvCxnSpPr>
        <p:spPr>
          <a:xfrm>
            <a:off x="1030100" y="2688318"/>
            <a:ext cx="0" cy="291600"/>
          </a:xfrm>
          <a:prstGeom prst="straightConnector1">
            <a:avLst/>
          </a:prstGeom>
          <a:noFill/>
          <a:ln cap="flat" cmpd="sng" w="19050">
            <a:solidFill>
              <a:schemeClr val="dk2"/>
            </a:solidFill>
            <a:prstDash val="solid"/>
            <a:round/>
            <a:headEnd len="med" w="med" type="none"/>
            <a:tailEnd len="med" w="med" type="triangle"/>
          </a:ln>
        </p:spPr>
      </p:cxnSp>
      <p:sp>
        <p:nvSpPr>
          <p:cNvPr id="300" name="Google Shape;300;p35"/>
          <p:cNvSpPr/>
          <p:nvPr/>
        </p:nvSpPr>
        <p:spPr>
          <a:xfrm>
            <a:off x="7486376"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sp>
        <p:nvSpPr>
          <p:cNvPr id="301" name="Google Shape;301;p35"/>
          <p:cNvSpPr/>
          <p:nvPr/>
        </p:nvSpPr>
        <p:spPr>
          <a:xfrm>
            <a:off x="7331337" y="3519637"/>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302" name="Google Shape;302;p35"/>
          <p:cNvSpPr/>
          <p:nvPr/>
        </p:nvSpPr>
        <p:spPr>
          <a:xfrm>
            <a:off x="6454212" y="3519637"/>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utils</a:t>
            </a:r>
            <a:endParaRPr/>
          </a:p>
        </p:txBody>
      </p:sp>
      <p:sp>
        <p:nvSpPr>
          <p:cNvPr id="303" name="Google Shape;303;p35"/>
          <p:cNvSpPr/>
          <p:nvPr/>
        </p:nvSpPr>
        <p:spPr>
          <a:xfrm>
            <a:off x="8208462" y="2986237"/>
            <a:ext cx="872400" cy="258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304" name="Google Shape;304;p35"/>
          <p:cNvSpPr/>
          <p:nvPr/>
        </p:nvSpPr>
        <p:spPr>
          <a:xfrm>
            <a:off x="6708987" y="4423387"/>
            <a:ext cx="872400" cy="258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Game.java</a:t>
            </a:r>
            <a:endParaRPr sz="1000"/>
          </a:p>
        </p:txBody>
      </p:sp>
      <p:sp>
        <p:nvSpPr>
          <p:cNvPr id="305" name="Google Shape;305;p35"/>
          <p:cNvSpPr/>
          <p:nvPr/>
        </p:nvSpPr>
        <p:spPr>
          <a:xfrm>
            <a:off x="7833912" y="4423387"/>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Test.java</a:t>
            </a:r>
            <a:endParaRPr sz="1000"/>
          </a:p>
        </p:txBody>
      </p:sp>
      <p:sp>
        <p:nvSpPr>
          <p:cNvPr id="306" name="Google Shape;306;p35"/>
          <p:cNvSpPr/>
          <p:nvPr/>
        </p:nvSpPr>
        <p:spPr>
          <a:xfrm>
            <a:off x="5691758" y="4423387"/>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Utils.java</a:t>
            </a:r>
            <a:endParaRPr sz="1000"/>
          </a:p>
        </p:txBody>
      </p:sp>
      <p:cxnSp>
        <p:nvCxnSpPr>
          <p:cNvPr id="307" name="Google Shape;307;p35"/>
          <p:cNvCxnSpPr>
            <a:endCxn id="302" idx="0"/>
          </p:cNvCxnSpPr>
          <p:nvPr/>
        </p:nvCxnSpPr>
        <p:spPr>
          <a:xfrm flipH="1">
            <a:off x="6807762" y="2681137"/>
            <a:ext cx="877200" cy="838500"/>
          </a:xfrm>
          <a:prstGeom prst="straightConnector1">
            <a:avLst/>
          </a:prstGeom>
          <a:noFill/>
          <a:ln cap="flat" cmpd="sng" w="19050">
            <a:solidFill>
              <a:schemeClr val="dk2"/>
            </a:solidFill>
            <a:prstDash val="solid"/>
            <a:round/>
            <a:headEnd len="med" w="med" type="none"/>
            <a:tailEnd len="med" w="med" type="triangle"/>
          </a:ln>
        </p:spPr>
      </p:cxnSp>
      <p:cxnSp>
        <p:nvCxnSpPr>
          <p:cNvPr id="308" name="Google Shape;308;p35"/>
          <p:cNvCxnSpPr>
            <a:endCxn id="301" idx="0"/>
          </p:cNvCxnSpPr>
          <p:nvPr/>
        </p:nvCxnSpPr>
        <p:spPr>
          <a:xfrm>
            <a:off x="7684887" y="2681137"/>
            <a:ext cx="0" cy="838500"/>
          </a:xfrm>
          <a:prstGeom prst="straightConnector1">
            <a:avLst/>
          </a:prstGeom>
          <a:noFill/>
          <a:ln cap="flat" cmpd="sng" w="19050">
            <a:solidFill>
              <a:schemeClr val="dk2"/>
            </a:solidFill>
            <a:prstDash val="solid"/>
            <a:round/>
            <a:headEnd len="med" w="med" type="none"/>
            <a:tailEnd len="med" w="med" type="triangle"/>
          </a:ln>
        </p:spPr>
      </p:cxnSp>
      <p:cxnSp>
        <p:nvCxnSpPr>
          <p:cNvPr id="309" name="Google Shape;309;p35"/>
          <p:cNvCxnSpPr>
            <a:stCxn id="302" idx="2"/>
            <a:endCxn id="306" idx="0"/>
          </p:cNvCxnSpPr>
          <p:nvPr/>
        </p:nvCxnSpPr>
        <p:spPr>
          <a:xfrm flipH="1">
            <a:off x="6045162" y="3777937"/>
            <a:ext cx="762600" cy="645600"/>
          </a:xfrm>
          <a:prstGeom prst="straightConnector1">
            <a:avLst/>
          </a:prstGeom>
          <a:noFill/>
          <a:ln cap="flat" cmpd="sng" w="19050">
            <a:solidFill>
              <a:schemeClr val="dk2"/>
            </a:solidFill>
            <a:prstDash val="solid"/>
            <a:round/>
            <a:headEnd len="med" w="med" type="none"/>
            <a:tailEnd len="med" w="med" type="triangle"/>
          </a:ln>
        </p:spPr>
      </p:cxnSp>
      <p:cxnSp>
        <p:nvCxnSpPr>
          <p:cNvPr id="310" name="Google Shape;310;p35"/>
          <p:cNvCxnSpPr>
            <a:stCxn id="301" idx="2"/>
            <a:endCxn id="304" idx="0"/>
          </p:cNvCxnSpPr>
          <p:nvPr/>
        </p:nvCxnSpPr>
        <p:spPr>
          <a:xfrm flipH="1">
            <a:off x="7145187" y="3777937"/>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311" name="Google Shape;311;p35"/>
          <p:cNvCxnSpPr>
            <a:endCxn id="303" idx="0"/>
          </p:cNvCxnSpPr>
          <p:nvPr/>
        </p:nvCxnSpPr>
        <p:spPr>
          <a:xfrm>
            <a:off x="7684962" y="2681137"/>
            <a:ext cx="959700" cy="305100"/>
          </a:xfrm>
          <a:prstGeom prst="straightConnector1">
            <a:avLst/>
          </a:prstGeom>
          <a:noFill/>
          <a:ln cap="flat" cmpd="sng" w="19050">
            <a:solidFill>
              <a:schemeClr val="dk2"/>
            </a:solidFill>
            <a:prstDash val="solid"/>
            <a:round/>
            <a:headEnd len="med" w="med" type="none"/>
            <a:tailEnd len="med" w="med" type="triangle"/>
          </a:ln>
        </p:spPr>
      </p:cxnSp>
      <p:cxnSp>
        <p:nvCxnSpPr>
          <p:cNvPr id="312" name="Google Shape;312;p35"/>
          <p:cNvCxnSpPr>
            <a:stCxn id="301" idx="2"/>
            <a:endCxn id="305" idx="0"/>
          </p:cNvCxnSpPr>
          <p:nvPr/>
        </p:nvCxnSpPr>
        <p:spPr>
          <a:xfrm>
            <a:off x="7684887" y="3777937"/>
            <a:ext cx="502500" cy="6456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2: Store Only Files That Change</a:t>
            </a:r>
            <a:endParaRPr/>
          </a:p>
        </p:txBody>
      </p:sp>
      <p:sp>
        <p:nvSpPr>
          <p:cNvPr id="318" name="Google Shape;318;p36"/>
          <p:cNvSpPr txBox="1"/>
          <p:nvPr>
            <p:ph idx="1" type="body"/>
          </p:nvPr>
        </p:nvSpPr>
        <p:spPr>
          <a:xfrm>
            <a:off x="243000" y="556500"/>
            <a:ext cx="84438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obvious improvement: Don’t store multiple copies of the same file.</a:t>
            </a:r>
            <a:endParaRPr/>
          </a:p>
        </p:txBody>
      </p:sp>
      <p:sp>
        <p:nvSpPr>
          <p:cNvPr id="319" name="Google Shape;319;p36"/>
          <p:cNvSpPr/>
          <p:nvPr/>
        </p:nvSpPr>
        <p:spPr>
          <a:xfrm>
            <a:off x="827600"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V1</a:t>
            </a:r>
            <a:endParaRPr b="1"/>
          </a:p>
        </p:txBody>
      </p:sp>
      <p:sp>
        <p:nvSpPr>
          <p:cNvPr id="320" name="Google Shape;320;p36"/>
          <p:cNvSpPr/>
          <p:nvPr/>
        </p:nvSpPr>
        <p:spPr>
          <a:xfrm>
            <a:off x="593900" y="2979775"/>
            <a:ext cx="872400" cy="258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321" name="Google Shape;321;p36"/>
          <p:cNvSpPr/>
          <p:nvPr/>
        </p:nvSpPr>
        <p:spPr>
          <a:xfrm>
            <a:off x="3742125" y="226959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V2</a:t>
            </a:r>
            <a:endParaRPr b="1"/>
          </a:p>
        </p:txBody>
      </p:sp>
      <p:sp>
        <p:nvSpPr>
          <p:cNvPr id="322" name="Google Shape;322;p36"/>
          <p:cNvSpPr/>
          <p:nvPr/>
        </p:nvSpPr>
        <p:spPr>
          <a:xfrm>
            <a:off x="3591075"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323" name="Google Shape;323;p36"/>
          <p:cNvSpPr/>
          <p:nvPr/>
        </p:nvSpPr>
        <p:spPr>
          <a:xfrm>
            <a:off x="2713950" y="3513175"/>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utils</a:t>
            </a:r>
            <a:endParaRPr/>
          </a:p>
        </p:txBody>
      </p:sp>
      <p:sp>
        <p:nvSpPr>
          <p:cNvPr id="324" name="Google Shape;324;p36"/>
          <p:cNvSpPr/>
          <p:nvPr/>
        </p:nvSpPr>
        <p:spPr>
          <a:xfrm>
            <a:off x="4468200" y="297977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readme.txt</a:t>
            </a:r>
            <a:endParaRPr sz="1100"/>
          </a:p>
        </p:txBody>
      </p:sp>
      <p:sp>
        <p:nvSpPr>
          <p:cNvPr id="325" name="Google Shape;325;p36"/>
          <p:cNvSpPr/>
          <p:nvPr/>
        </p:nvSpPr>
        <p:spPr>
          <a:xfrm>
            <a:off x="2968725" y="4416925"/>
            <a:ext cx="8724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Game.java</a:t>
            </a:r>
            <a:endParaRPr sz="1000"/>
          </a:p>
        </p:txBody>
      </p:sp>
      <p:sp>
        <p:nvSpPr>
          <p:cNvPr id="326" name="Google Shape;326;p36"/>
          <p:cNvSpPr/>
          <p:nvPr/>
        </p:nvSpPr>
        <p:spPr>
          <a:xfrm>
            <a:off x="4093650"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Test.java</a:t>
            </a:r>
            <a:endParaRPr sz="1000"/>
          </a:p>
        </p:txBody>
      </p:sp>
      <p:sp>
        <p:nvSpPr>
          <p:cNvPr id="327" name="Google Shape;327;p36"/>
          <p:cNvSpPr/>
          <p:nvPr/>
        </p:nvSpPr>
        <p:spPr>
          <a:xfrm>
            <a:off x="1951496" y="4416925"/>
            <a:ext cx="707100" cy="2583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Utils.java</a:t>
            </a:r>
            <a:endParaRPr sz="1000"/>
          </a:p>
        </p:txBody>
      </p:sp>
      <p:cxnSp>
        <p:nvCxnSpPr>
          <p:cNvPr id="328" name="Google Shape;328;p36"/>
          <p:cNvCxnSpPr>
            <a:stCxn id="321" idx="2"/>
            <a:endCxn id="323" idx="0"/>
          </p:cNvCxnSpPr>
          <p:nvPr/>
        </p:nvCxnSpPr>
        <p:spPr>
          <a:xfrm flipH="1">
            <a:off x="3067425" y="2674593"/>
            <a:ext cx="877200" cy="838500"/>
          </a:xfrm>
          <a:prstGeom prst="straightConnector1">
            <a:avLst/>
          </a:prstGeom>
          <a:noFill/>
          <a:ln cap="flat" cmpd="sng" w="19050">
            <a:solidFill>
              <a:schemeClr val="dk2"/>
            </a:solidFill>
            <a:prstDash val="solid"/>
            <a:round/>
            <a:headEnd len="med" w="med" type="none"/>
            <a:tailEnd len="med" w="med" type="triangle"/>
          </a:ln>
        </p:spPr>
      </p:cxnSp>
      <p:cxnSp>
        <p:nvCxnSpPr>
          <p:cNvPr id="329" name="Google Shape;329;p36"/>
          <p:cNvCxnSpPr>
            <a:stCxn id="321" idx="2"/>
            <a:endCxn id="322" idx="0"/>
          </p:cNvCxnSpPr>
          <p:nvPr/>
        </p:nvCxnSpPr>
        <p:spPr>
          <a:xfrm>
            <a:off x="3944625" y="2674593"/>
            <a:ext cx="0" cy="838500"/>
          </a:xfrm>
          <a:prstGeom prst="straightConnector1">
            <a:avLst/>
          </a:prstGeom>
          <a:noFill/>
          <a:ln cap="flat" cmpd="sng" w="19050">
            <a:solidFill>
              <a:schemeClr val="dk2"/>
            </a:solidFill>
            <a:prstDash val="solid"/>
            <a:round/>
            <a:headEnd len="med" w="med" type="none"/>
            <a:tailEnd len="med" w="med" type="triangle"/>
          </a:ln>
        </p:spPr>
      </p:cxnSp>
      <p:cxnSp>
        <p:nvCxnSpPr>
          <p:cNvPr id="330" name="Google Shape;330;p36"/>
          <p:cNvCxnSpPr>
            <a:stCxn id="323" idx="2"/>
            <a:endCxn id="327" idx="0"/>
          </p:cNvCxnSpPr>
          <p:nvPr/>
        </p:nvCxnSpPr>
        <p:spPr>
          <a:xfrm flipH="1">
            <a:off x="2304900" y="3771475"/>
            <a:ext cx="762600" cy="645600"/>
          </a:xfrm>
          <a:prstGeom prst="straightConnector1">
            <a:avLst/>
          </a:prstGeom>
          <a:noFill/>
          <a:ln cap="flat" cmpd="sng" w="19050">
            <a:solidFill>
              <a:schemeClr val="dk2"/>
            </a:solidFill>
            <a:prstDash val="solid"/>
            <a:round/>
            <a:headEnd len="med" w="med" type="none"/>
            <a:tailEnd len="med" w="med" type="triangle"/>
          </a:ln>
        </p:spPr>
      </p:cxnSp>
      <p:cxnSp>
        <p:nvCxnSpPr>
          <p:cNvPr id="331" name="Google Shape;331;p36"/>
          <p:cNvCxnSpPr>
            <a:stCxn id="322" idx="2"/>
            <a:endCxn id="325" idx="0"/>
          </p:cNvCxnSpPr>
          <p:nvPr/>
        </p:nvCxnSpPr>
        <p:spPr>
          <a:xfrm flipH="1">
            <a:off x="3404925" y="3771475"/>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332" name="Google Shape;332;p36"/>
          <p:cNvCxnSpPr>
            <a:stCxn id="321" idx="2"/>
            <a:endCxn id="324" idx="0"/>
          </p:cNvCxnSpPr>
          <p:nvPr/>
        </p:nvCxnSpPr>
        <p:spPr>
          <a:xfrm>
            <a:off x="3944625" y="2674593"/>
            <a:ext cx="959700" cy="305100"/>
          </a:xfrm>
          <a:prstGeom prst="straightConnector1">
            <a:avLst/>
          </a:prstGeom>
          <a:noFill/>
          <a:ln cap="flat" cmpd="sng" w="19050">
            <a:solidFill>
              <a:schemeClr val="dk2"/>
            </a:solidFill>
            <a:prstDash val="solid"/>
            <a:round/>
            <a:headEnd len="med" w="med" type="none"/>
            <a:tailEnd len="med" w="med" type="triangle"/>
          </a:ln>
        </p:spPr>
      </p:cxnSp>
      <p:cxnSp>
        <p:nvCxnSpPr>
          <p:cNvPr id="333" name="Google Shape;333;p36"/>
          <p:cNvCxnSpPr>
            <a:stCxn id="322" idx="2"/>
            <a:endCxn id="326" idx="0"/>
          </p:cNvCxnSpPr>
          <p:nvPr/>
        </p:nvCxnSpPr>
        <p:spPr>
          <a:xfrm>
            <a:off x="3944625" y="3771475"/>
            <a:ext cx="502500" cy="645600"/>
          </a:xfrm>
          <a:prstGeom prst="straightConnector1">
            <a:avLst/>
          </a:prstGeom>
          <a:noFill/>
          <a:ln cap="flat" cmpd="sng" w="19050">
            <a:solidFill>
              <a:schemeClr val="dk2"/>
            </a:solidFill>
            <a:prstDash val="solid"/>
            <a:round/>
            <a:headEnd len="med" w="med" type="none"/>
            <a:tailEnd len="med" w="med" type="triangle"/>
          </a:ln>
        </p:spPr>
      </p:cxnSp>
      <p:cxnSp>
        <p:nvCxnSpPr>
          <p:cNvPr id="334" name="Google Shape;334;p36"/>
          <p:cNvCxnSpPr>
            <a:stCxn id="319" idx="2"/>
            <a:endCxn id="320" idx="0"/>
          </p:cNvCxnSpPr>
          <p:nvPr/>
        </p:nvCxnSpPr>
        <p:spPr>
          <a:xfrm>
            <a:off x="1030100" y="2688318"/>
            <a:ext cx="0" cy="291600"/>
          </a:xfrm>
          <a:prstGeom prst="straightConnector1">
            <a:avLst/>
          </a:prstGeom>
          <a:noFill/>
          <a:ln cap="flat" cmpd="sng" w="19050">
            <a:solidFill>
              <a:schemeClr val="dk2"/>
            </a:solidFill>
            <a:prstDash val="solid"/>
            <a:round/>
            <a:headEnd len="med" w="med" type="none"/>
            <a:tailEnd len="med" w="med" type="triangle"/>
          </a:ln>
        </p:spPr>
      </p:cxnSp>
      <p:sp>
        <p:nvSpPr>
          <p:cNvPr id="335" name="Google Shape;335;p36"/>
          <p:cNvSpPr/>
          <p:nvPr/>
        </p:nvSpPr>
        <p:spPr>
          <a:xfrm>
            <a:off x="7486376" y="2283318"/>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V3</a:t>
            </a:r>
            <a:endParaRPr b="1"/>
          </a:p>
        </p:txBody>
      </p:sp>
      <p:sp>
        <p:nvSpPr>
          <p:cNvPr id="336" name="Google Shape;336;p36"/>
          <p:cNvSpPr/>
          <p:nvPr/>
        </p:nvSpPr>
        <p:spPr>
          <a:xfrm>
            <a:off x="7331337" y="3519637"/>
            <a:ext cx="707100" cy="2583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game</a:t>
            </a:r>
            <a:endParaRPr/>
          </a:p>
        </p:txBody>
      </p:sp>
      <p:sp>
        <p:nvSpPr>
          <p:cNvPr id="337" name="Google Shape;337;p36"/>
          <p:cNvSpPr/>
          <p:nvPr/>
        </p:nvSpPr>
        <p:spPr>
          <a:xfrm>
            <a:off x="6708987" y="4423387"/>
            <a:ext cx="872400" cy="258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Game.java</a:t>
            </a:r>
            <a:endParaRPr sz="1000"/>
          </a:p>
        </p:txBody>
      </p:sp>
      <p:cxnSp>
        <p:nvCxnSpPr>
          <p:cNvPr id="338" name="Google Shape;338;p36"/>
          <p:cNvCxnSpPr>
            <a:stCxn id="335" idx="2"/>
            <a:endCxn id="323" idx="0"/>
          </p:cNvCxnSpPr>
          <p:nvPr/>
        </p:nvCxnSpPr>
        <p:spPr>
          <a:xfrm flipH="1">
            <a:off x="3067376" y="2688318"/>
            <a:ext cx="4621500" cy="825000"/>
          </a:xfrm>
          <a:prstGeom prst="straightConnector1">
            <a:avLst/>
          </a:prstGeom>
          <a:noFill/>
          <a:ln cap="flat" cmpd="sng" w="19050">
            <a:solidFill>
              <a:schemeClr val="dk2"/>
            </a:solidFill>
            <a:prstDash val="solid"/>
            <a:round/>
            <a:headEnd len="med" w="med" type="none"/>
            <a:tailEnd len="med" w="med" type="triangle"/>
          </a:ln>
        </p:spPr>
      </p:cxnSp>
      <p:cxnSp>
        <p:nvCxnSpPr>
          <p:cNvPr id="339" name="Google Shape;339;p36"/>
          <p:cNvCxnSpPr>
            <a:stCxn id="335" idx="2"/>
            <a:endCxn id="336" idx="0"/>
          </p:cNvCxnSpPr>
          <p:nvPr/>
        </p:nvCxnSpPr>
        <p:spPr>
          <a:xfrm flipH="1">
            <a:off x="7684976" y="2688318"/>
            <a:ext cx="3900" cy="831300"/>
          </a:xfrm>
          <a:prstGeom prst="straightConnector1">
            <a:avLst/>
          </a:prstGeom>
          <a:noFill/>
          <a:ln cap="flat" cmpd="sng" w="19050">
            <a:solidFill>
              <a:schemeClr val="dk2"/>
            </a:solidFill>
            <a:prstDash val="solid"/>
            <a:round/>
            <a:headEnd len="med" w="med" type="none"/>
            <a:tailEnd len="med" w="med" type="triangle"/>
          </a:ln>
        </p:spPr>
      </p:cxnSp>
      <p:cxnSp>
        <p:nvCxnSpPr>
          <p:cNvPr id="340" name="Google Shape;340;p36"/>
          <p:cNvCxnSpPr>
            <a:stCxn id="336" idx="2"/>
            <a:endCxn id="337" idx="0"/>
          </p:cNvCxnSpPr>
          <p:nvPr/>
        </p:nvCxnSpPr>
        <p:spPr>
          <a:xfrm flipH="1">
            <a:off x="7145187" y="3777937"/>
            <a:ext cx="539700" cy="645600"/>
          </a:xfrm>
          <a:prstGeom prst="straightConnector1">
            <a:avLst/>
          </a:prstGeom>
          <a:noFill/>
          <a:ln cap="flat" cmpd="sng" w="19050">
            <a:solidFill>
              <a:schemeClr val="dk2"/>
            </a:solidFill>
            <a:prstDash val="solid"/>
            <a:round/>
            <a:headEnd len="med" w="med" type="none"/>
            <a:tailEnd len="med" w="med" type="triangle"/>
          </a:ln>
        </p:spPr>
      </p:cxnSp>
      <p:cxnSp>
        <p:nvCxnSpPr>
          <p:cNvPr id="341" name="Google Shape;341;p36"/>
          <p:cNvCxnSpPr>
            <a:stCxn id="335" idx="2"/>
            <a:endCxn id="320" idx="0"/>
          </p:cNvCxnSpPr>
          <p:nvPr/>
        </p:nvCxnSpPr>
        <p:spPr>
          <a:xfrm flipH="1">
            <a:off x="1030076" y="2688318"/>
            <a:ext cx="6658800" cy="291600"/>
          </a:xfrm>
          <a:prstGeom prst="straightConnector1">
            <a:avLst/>
          </a:prstGeom>
          <a:noFill/>
          <a:ln cap="flat" cmpd="sng" w="19050">
            <a:solidFill>
              <a:schemeClr val="dk2"/>
            </a:solidFill>
            <a:prstDash val="solid"/>
            <a:round/>
            <a:headEnd len="med" w="med" type="none"/>
            <a:tailEnd len="med" w="med" type="triangle"/>
          </a:ln>
        </p:spPr>
      </p:cxnSp>
      <p:cxnSp>
        <p:nvCxnSpPr>
          <p:cNvPr id="342" name="Google Shape;342;p36"/>
          <p:cNvCxnSpPr>
            <a:stCxn id="336" idx="2"/>
            <a:endCxn id="326" idx="0"/>
          </p:cNvCxnSpPr>
          <p:nvPr/>
        </p:nvCxnSpPr>
        <p:spPr>
          <a:xfrm flipH="1">
            <a:off x="4447287" y="3777937"/>
            <a:ext cx="3237600" cy="6390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2: Store Only Files That Change</a:t>
            </a:r>
            <a:endParaRPr/>
          </a:p>
        </p:txBody>
      </p:sp>
      <p:sp>
        <p:nvSpPr>
          <p:cNvPr id="348" name="Google Shape;348;p37"/>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revised approach 2, we only store files that change.</a:t>
            </a:r>
            <a:endParaRPr/>
          </a:p>
          <a:p>
            <a:pPr indent="-355600" lvl="0" marL="457200" rtl="0" algn="l">
              <a:spcBef>
                <a:spcPts val="600"/>
              </a:spcBef>
              <a:spcAft>
                <a:spcPts val="0"/>
              </a:spcAft>
              <a:buSzPts val="2000"/>
              <a:buChar char="●"/>
            </a:pPr>
            <a:r>
              <a:rPr lang="en"/>
              <a:t>Much more efficient. Avoids storing redundant files.</a:t>
            </a:r>
            <a:endParaRPr/>
          </a:p>
          <a:p>
            <a:pPr indent="-355600" lvl="0" marL="457200" rtl="0" algn="l">
              <a:spcBef>
                <a:spcPts val="0"/>
              </a:spcBef>
              <a:spcAft>
                <a:spcPts val="0"/>
              </a:spcAft>
              <a:buSzPts val="2000"/>
              <a:buChar char="●"/>
            </a:pPr>
            <a:r>
              <a:rPr lang="en"/>
              <a:t>Checkout is now more complicated. If we checkout a commit, we have to copy files from a variety of different folders. </a:t>
            </a:r>
            <a:endParaRPr/>
          </a:p>
        </p:txBody>
      </p:sp>
      <p:sp>
        <p:nvSpPr>
          <p:cNvPr id="349" name="Google Shape;349;p37"/>
          <p:cNvSpPr txBox="1"/>
          <p:nvPr/>
        </p:nvSpPr>
        <p:spPr>
          <a:xfrm>
            <a:off x="727625" y="2112975"/>
            <a:ext cx="3420900" cy="22035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.git/v1/readme.txt</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.git/v2/readme.txt</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.git/v2/utils/Utils.java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.git/v2/game/Test.java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.git/v3/game/Game.java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chemeClr val="dk1"/>
              </a:highlight>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53" name="Shape 353"/>
        <p:cNvGrpSpPr/>
        <p:nvPr/>
      </p:nvGrpSpPr>
      <p:grpSpPr>
        <a:xfrm>
          <a:off x="0" y="0"/>
          <a:ext cx="0" cy="0"/>
          <a:chOff x="0" y="0"/>
          <a:chExt cx="0" cy="0"/>
        </a:xfrm>
      </p:grpSpPr>
      <p:sp>
        <p:nvSpPr>
          <p:cNvPr id="354" name="Google Shape;354;p3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355" name="Google Shape;355;p38"/>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commits for versions 1 through 5 stored in the folder below. If we check out commit version 4, which files will we use?</a:t>
            </a:r>
            <a:endParaRPr/>
          </a:p>
        </p:txBody>
      </p:sp>
      <p:sp>
        <p:nvSpPr>
          <p:cNvPr id="356" name="Google Shape;356;p38"/>
          <p:cNvSpPr txBox="1"/>
          <p:nvPr/>
        </p:nvSpPr>
        <p:spPr>
          <a:xfrm>
            <a:off x="727625" y="1738200"/>
            <a:ext cx="3420900" cy="30951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.git/v1/Hello.java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.git/v2/Hello.java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.git/v2/Friend.java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.git/v3/Friend.java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.git/v3/Egg.java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.git/v4/Friend.java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.git/v5/Hello.java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3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362" name="Google Shape;362;p39"/>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commits for versions 1 through 5 stored in the folder below. If we check out commit version 4, which files will we use?</a:t>
            </a:r>
            <a:endParaRPr/>
          </a:p>
        </p:txBody>
      </p:sp>
      <p:sp>
        <p:nvSpPr>
          <p:cNvPr id="363" name="Google Shape;363;p39"/>
          <p:cNvSpPr txBox="1"/>
          <p:nvPr/>
        </p:nvSpPr>
        <p:spPr>
          <a:xfrm>
            <a:off x="727625" y="1738200"/>
            <a:ext cx="3420900" cy="30951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434343"/>
                </a:solidFill>
                <a:highlight>
                  <a:srgbClr val="000000"/>
                </a:highlight>
                <a:latin typeface="Consolas"/>
                <a:ea typeface="Consolas"/>
                <a:cs typeface="Consolas"/>
                <a:sym typeface="Consolas"/>
              </a:rPr>
              <a:t>.git/v1/Hello.java</a:t>
            </a:r>
            <a:endParaRPr sz="1700">
              <a:solidFill>
                <a:srgbClr val="434343"/>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FFF2CC"/>
                </a:solidFill>
                <a:highlight>
                  <a:schemeClr val="dk1"/>
                </a:highlight>
                <a:latin typeface="Consolas"/>
                <a:ea typeface="Consolas"/>
                <a:cs typeface="Consolas"/>
                <a:sym typeface="Consolas"/>
              </a:rPr>
              <a:t>.git/v2/Hello.java</a:t>
            </a:r>
            <a:endParaRPr b="1"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.git/v2/Friend.java</a:t>
            </a:r>
            <a:endParaRPr sz="1700">
              <a:solidFill>
                <a:srgbClr val="43434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.git/v3/Friend.java</a:t>
            </a:r>
            <a:endParaRPr sz="1700">
              <a:solidFill>
                <a:srgbClr val="43434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F4CCCC"/>
                </a:solidFill>
                <a:highlight>
                  <a:schemeClr val="dk1"/>
                </a:highlight>
                <a:latin typeface="Consolas"/>
                <a:ea typeface="Consolas"/>
                <a:cs typeface="Consolas"/>
                <a:sym typeface="Consolas"/>
              </a:rPr>
              <a:t>.git/v3/Egg.java</a:t>
            </a:r>
            <a:endParaRPr b="1"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D9EAD3"/>
                </a:solidFill>
                <a:highlight>
                  <a:schemeClr val="dk1"/>
                </a:highlight>
                <a:latin typeface="Consolas"/>
                <a:ea typeface="Consolas"/>
                <a:cs typeface="Consolas"/>
                <a:sym typeface="Consolas"/>
              </a:rPr>
              <a:t>.git/v4/Friend.java</a:t>
            </a:r>
            <a:endParaRPr b="1"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.git/v5/Hello.java</a:t>
            </a:r>
            <a:endParaRPr sz="1700">
              <a:solidFill>
                <a:srgbClr val="434343"/>
              </a:solidFill>
              <a:highlight>
                <a:schemeClr val="dk1"/>
              </a:highlight>
              <a:latin typeface="Consolas"/>
              <a:ea typeface="Consolas"/>
              <a:cs typeface="Consolas"/>
              <a:sym typeface="Consolas"/>
            </a:endParaRPr>
          </a:p>
        </p:txBody>
      </p:sp>
      <p:sp>
        <p:nvSpPr>
          <p:cNvPr id="364" name="Google Shape;364;p39"/>
          <p:cNvSpPr txBox="1"/>
          <p:nvPr>
            <p:ph idx="1" type="body"/>
          </p:nvPr>
        </p:nvSpPr>
        <p:spPr>
          <a:xfrm>
            <a:off x="4432725" y="1428025"/>
            <a:ext cx="4649700" cy="355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figure out which files to copy, we had to walk through the entire commit history starting from commit 1.</a:t>
            </a:r>
            <a:endParaRPr/>
          </a:p>
          <a:p>
            <a:pPr indent="-355600" lvl="0" marL="457200" rtl="0" algn="l">
              <a:spcBef>
                <a:spcPts val="600"/>
              </a:spcBef>
              <a:spcAft>
                <a:spcPts val="0"/>
              </a:spcAft>
              <a:buSzPts val="2000"/>
              <a:buChar char="●"/>
            </a:pPr>
            <a:r>
              <a:rPr lang="en"/>
              <a:t>Inefficient. </a:t>
            </a:r>
            <a:endParaRPr/>
          </a:p>
        </p:txBody>
      </p:sp>
      <p:sp>
        <p:nvSpPr>
          <p:cNvPr id="365" name="Google Shape;365;p39"/>
          <p:cNvSpPr txBox="1"/>
          <p:nvPr/>
        </p:nvSpPr>
        <p:spPr>
          <a:xfrm>
            <a:off x="673122" y="4787192"/>
            <a:ext cx="633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V4: Hello.java → v2, </a:t>
            </a:r>
            <a:r>
              <a:rPr lang="en">
                <a:solidFill>
                  <a:schemeClr val="dk1"/>
                </a:solidFill>
              </a:rPr>
              <a:t>Friend</a:t>
            </a:r>
            <a:r>
              <a:rPr lang="en">
                <a:solidFill>
                  <a:schemeClr val="dk1"/>
                </a:solidFill>
              </a:rPr>
              <a:t>.java → v4, Egg.java → v3</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4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3: Approach 2 but with Version Data Structure</a:t>
            </a:r>
            <a:endParaRPr/>
          </a:p>
        </p:txBody>
      </p:sp>
      <p:sp>
        <p:nvSpPr>
          <p:cNvPr id="371" name="Google Shape;371;p40"/>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Better approach: Rather than walking through commits from the beginning, explicitly store a list of “commits”, where each commit tells us the filename and version number for the files in that commit.</a:t>
            </a:r>
            <a:endParaRPr/>
          </a:p>
        </p:txBody>
      </p:sp>
      <p:sp>
        <p:nvSpPr>
          <p:cNvPr id="372" name="Google Shape;372;p40"/>
          <p:cNvSpPr txBox="1"/>
          <p:nvPr/>
        </p:nvSpPr>
        <p:spPr>
          <a:xfrm>
            <a:off x="727625" y="1738200"/>
            <a:ext cx="3420900" cy="30951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.git/v1/Hello.java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.git/v2/Hello.java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.git/v2/Friend.java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.git/v3/Friend.java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.git/v3/Egg.java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.git/v4/Friend.java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.git/v5/Hello.java</a:t>
            </a:r>
            <a:endParaRPr sz="1700">
              <a:solidFill>
                <a:srgbClr val="FFFFFF"/>
              </a:solidFill>
              <a:highlight>
                <a:schemeClr val="dk1"/>
              </a:highlight>
              <a:latin typeface="Consolas"/>
              <a:ea typeface="Consolas"/>
              <a:cs typeface="Consolas"/>
              <a:sym typeface="Consolas"/>
            </a:endParaRPr>
          </a:p>
        </p:txBody>
      </p:sp>
      <p:sp>
        <p:nvSpPr>
          <p:cNvPr id="373" name="Google Shape;373;p40"/>
          <p:cNvSpPr txBox="1"/>
          <p:nvPr/>
        </p:nvSpPr>
        <p:spPr>
          <a:xfrm>
            <a:off x="4251800" y="1731725"/>
            <a:ext cx="4678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V1</a:t>
            </a:r>
            <a:r>
              <a:rPr lang="en"/>
              <a:t>: Hello.java → v1</a:t>
            </a:r>
            <a:endParaRPr/>
          </a:p>
          <a:p>
            <a:pPr indent="0" lvl="0" marL="0" rtl="0" algn="l">
              <a:spcBef>
                <a:spcPts val="0"/>
              </a:spcBef>
              <a:spcAft>
                <a:spcPts val="0"/>
              </a:spcAft>
              <a:buNone/>
            </a:pPr>
            <a:r>
              <a:rPr lang="en"/>
              <a:t>V2: Hello.java → v2, Friend.java → v2</a:t>
            </a:r>
            <a:endParaRPr/>
          </a:p>
          <a:p>
            <a:pPr indent="0" lvl="0" marL="0" rtl="0" algn="l">
              <a:spcBef>
                <a:spcPts val="0"/>
              </a:spcBef>
              <a:spcAft>
                <a:spcPts val="0"/>
              </a:spcAft>
              <a:buNone/>
            </a:pPr>
            <a:r>
              <a:rPr lang="en"/>
              <a:t>V3: Hello.java → v2, Friend.java → v2, Egg.java → v3</a:t>
            </a:r>
            <a:endParaRPr/>
          </a:p>
          <a:p>
            <a:pPr indent="0" lvl="0" marL="0" rtl="0" algn="l">
              <a:spcBef>
                <a:spcPts val="0"/>
              </a:spcBef>
              <a:spcAft>
                <a:spcPts val="0"/>
              </a:spcAft>
              <a:buNone/>
            </a:pPr>
            <a:r>
              <a:rPr b="1" lang="en">
                <a:solidFill>
                  <a:schemeClr val="dk1"/>
                </a:solidFill>
              </a:rPr>
              <a:t>V4</a:t>
            </a:r>
            <a:r>
              <a:rPr lang="en">
                <a:solidFill>
                  <a:schemeClr val="dk1"/>
                </a:solidFill>
              </a:rPr>
              <a:t>: Hello.java → v2, Friend.java → v4, Egg.java → v3</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V5: Hello.java → v5, Friend.java → v4, Egg.java → v3</a:t>
            </a:r>
            <a:endParaRPr>
              <a:solidFill>
                <a:schemeClr val="dk1"/>
              </a:solidFill>
            </a:endParaRPr>
          </a:p>
        </p:txBody>
      </p:sp>
      <p:sp>
        <p:nvSpPr>
          <p:cNvPr id="374" name="Google Shape;374;p40"/>
          <p:cNvSpPr txBox="1"/>
          <p:nvPr/>
        </p:nvSpPr>
        <p:spPr>
          <a:xfrm>
            <a:off x="4325550" y="3329100"/>
            <a:ext cx="4555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Each commit is a “map” or “dictionary”. For each filename, it maps that filename to a version number.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V4 in Python might be represented by {“Hello.java”: 2, “Friend.java”: 4, “Egg.java”: 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78" name="Shape 378"/>
        <p:cNvGrpSpPr/>
        <p:nvPr/>
      </p:nvGrpSpPr>
      <p:grpSpPr>
        <a:xfrm>
          <a:off x="0" y="0"/>
          <a:ext cx="0" cy="0"/>
          <a:chOff x="0" y="0"/>
          <a:chExt cx="0" cy="0"/>
        </a:xfrm>
      </p:grpSpPr>
      <p:sp>
        <p:nvSpPr>
          <p:cNvPr id="379" name="Google Shape;379;p4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380" name="Google Shape;380;p41"/>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committed files for versions 1 through 5 stored in the folders on the left, and also have the list of commits on the right. Which files do we copy if we check out version 4?</a:t>
            </a:r>
            <a:endParaRPr/>
          </a:p>
        </p:txBody>
      </p:sp>
      <p:sp>
        <p:nvSpPr>
          <p:cNvPr id="381" name="Google Shape;381;p41"/>
          <p:cNvSpPr txBox="1"/>
          <p:nvPr/>
        </p:nvSpPr>
        <p:spPr>
          <a:xfrm>
            <a:off x="727625" y="1738200"/>
            <a:ext cx="34209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Clr>
                <a:schemeClr val="dk1"/>
              </a:buClr>
              <a:buSzPts val="1100"/>
              <a:buFont typeface="Arial"/>
              <a:buNone/>
            </a:pPr>
            <a:r>
              <a:rPr lang="en" sz="1700">
                <a:solidFill>
                  <a:srgbClr val="C9DAF8"/>
                </a:solidFill>
                <a:highlight>
                  <a:schemeClr val="dk1"/>
                </a:highlight>
                <a:latin typeface="Consolas"/>
                <a:ea typeface="Consolas"/>
                <a:cs typeface="Consolas"/>
                <a:sym typeface="Consolas"/>
              </a:rPr>
              <a:t>.git/v1/Y.java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.git/v3/Z.java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.git/v4/X.java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.git/v4/A.java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.git/v5/X.java</a:t>
            </a:r>
            <a:endParaRPr sz="1700">
              <a:solidFill>
                <a:srgbClr val="FFFFFF"/>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.git/v5/Y.java</a:t>
            </a:r>
            <a:endParaRPr sz="1700">
              <a:solidFill>
                <a:srgbClr val="FFFFFF"/>
              </a:solidFill>
              <a:highlight>
                <a:schemeClr val="dk1"/>
              </a:highlight>
              <a:latin typeface="Consolas"/>
              <a:ea typeface="Consolas"/>
              <a:cs typeface="Consolas"/>
              <a:sym typeface="Consolas"/>
            </a:endParaRPr>
          </a:p>
        </p:txBody>
      </p:sp>
      <p:sp>
        <p:nvSpPr>
          <p:cNvPr id="382" name="Google Shape;382;p41"/>
          <p:cNvSpPr txBox="1"/>
          <p:nvPr/>
        </p:nvSpPr>
        <p:spPr>
          <a:xfrm>
            <a:off x="4251800" y="1731725"/>
            <a:ext cx="4678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V1: X.java → v1, Y.java → v1</a:t>
            </a:r>
            <a:endParaRPr/>
          </a:p>
          <a:p>
            <a:pPr indent="0" lvl="0" marL="0" rtl="0" algn="l">
              <a:spcBef>
                <a:spcPts val="0"/>
              </a:spcBef>
              <a:spcAft>
                <a:spcPts val="0"/>
              </a:spcAft>
              <a:buNone/>
            </a:pPr>
            <a:r>
              <a:rPr lang="en"/>
              <a:t>V2: </a:t>
            </a:r>
            <a:r>
              <a:rPr lang="en">
                <a:solidFill>
                  <a:schemeClr val="dk1"/>
                </a:solidFill>
              </a:rPr>
              <a:t>X.java → v1, </a:t>
            </a:r>
            <a:r>
              <a:rPr lang="en"/>
              <a:t>Y.java → v2</a:t>
            </a:r>
            <a:endParaRPr/>
          </a:p>
          <a:p>
            <a:pPr indent="0" lvl="0" marL="0" rtl="0" algn="l">
              <a:spcBef>
                <a:spcPts val="0"/>
              </a:spcBef>
              <a:spcAft>
                <a:spcPts val="0"/>
              </a:spcAft>
              <a:buNone/>
            </a:pPr>
            <a:r>
              <a:rPr lang="en"/>
              <a:t>V3: </a:t>
            </a:r>
            <a:r>
              <a:rPr lang="en">
                <a:solidFill>
                  <a:schemeClr val="dk1"/>
                </a:solidFill>
              </a:rPr>
              <a:t>X.java → v1, Y.java → v2, Z.java → v3</a:t>
            </a:r>
            <a:endParaRPr/>
          </a:p>
          <a:p>
            <a:pPr indent="0" lvl="0" marL="0" rtl="0" algn="l">
              <a:spcBef>
                <a:spcPts val="0"/>
              </a:spcBef>
              <a:spcAft>
                <a:spcPts val="0"/>
              </a:spcAft>
              <a:buNone/>
            </a:pPr>
            <a:r>
              <a:rPr lang="en">
                <a:solidFill>
                  <a:schemeClr val="dk1"/>
                </a:solidFill>
              </a:rPr>
              <a:t>V4</a:t>
            </a:r>
            <a:r>
              <a:rPr lang="en">
                <a:solidFill>
                  <a:schemeClr val="dk1"/>
                </a:solidFill>
              </a:rPr>
              <a:t>: </a:t>
            </a:r>
            <a:r>
              <a:rPr lang="en">
                <a:solidFill>
                  <a:schemeClr val="dk1"/>
                </a:solidFill>
              </a:rPr>
              <a:t>X.java → v4, Y.java → v2, Z.java → v3, A.java → v4</a:t>
            </a:r>
            <a:endParaRPr>
              <a:solidFill>
                <a:schemeClr val="dk1"/>
              </a:solidFill>
            </a:endParaRPr>
          </a:p>
          <a:p>
            <a:pPr indent="0" lvl="0" marL="0" rtl="0" algn="l">
              <a:spcBef>
                <a:spcPts val="0"/>
              </a:spcBef>
              <a:spcAft>
                <a:spcPts val="0"/>
              </a:spcAft>
              <a:buNone/>
            </a:pPr>
            <a:r>
              <a:rPr lang="en">
                <a:solidFill>
                  <a:schemeClr val="dk1"/>
                </a:solidFill>
              </a:rPr>
              <a:t>V5: </a:t>
            </a:r>
            <a:r>
              <a:rPr lang="en">
                <a:solidFill>
                  <a:schemeClr val="dk1"/>
                </a:solidFill>
              </a:rPr>
              <a:t>X.java → v5, Y.java → v5, Z.java → v3, A.java → v4</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p4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388" name="Google Shape;388;p42"/>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Suppose we have the committed files for versions 1 through 5 stored in the folders on the left, and also have the list of commits on the right. Which files do we copy if we check out version 4?</a:t>
            </a:r>
            <a:endParaRPr/>
          </a:p>
        </p:txBody>
      </p:sp>
      <p:sp>
        <p:nvSpPr>
          <p:cNvPr id="389" name="Google Shape;389;p42"/>
          <p:cNvSpPr txBox="1"/>
          <p:nvPr/>
        </p:nvSpPr>
        <p:spPr>
          <a:xfrm>
            <a:off x="727625" y="1738200"/>
            <a:ext cx="3420900" cy="31599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434343"/>
                </a:solidFill>
                <a:highlight>
                  <a:srgbClr val="000000"/>
                </a:highlight>
                <a:latin typeface="Consolas"/>
                <a:ea typeface="Consolas"/>
                <a:cs typeface="Consolas"/>
                <a:sym typeface="Consolas"/>
              </a:rPr>
              <a:t>.git/v1/X.java</a:t>
            </a:r>
            <a:endParaRPr sz="1700">
              <a:solidFill>
                <a:srgbClr val="434343"/>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.git/v1/Y.java</a:t>
            </a:r>
            <a:endParaRPr sz="1700">
              <a:solidFill>
                <a:srgbClr val="434343"/>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FFF2CC"/>
                </a:solidFill>
                <a:highlight>
                  <a:schemeClr val="dk1"/>
                </a:highlight>
                <a:latin typeface="Consolas"/>
                <a:ea typeface="Consolas"/>
                <a:cs typeface="Consolas"/>
                <a:sym typeface="Consolas"/>
              </a:rPr>
              <a:t>.git/v2/Y.java</a:t>
            </a:r>
            <a:endParaRPr b="1"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F4CCCC"/>
                </a:solidFill>
                <a:highlight>
                  <a:schemeClr val="dk1"/>
                </a:highlight>
                <a:latin typeface="Consolas"/>
                <a:ea typeface="Consolas"/>
                <a:cs typeface="Consolas"/>
                <a:sym typeface="Consolas"/>
              </a:rPr>
              <a:t>.git/v3/Z.java</a:t>
            </a:r>
            <a:endParaRPr b="1"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D9EAD3"/>
                </a:solidFill>
                <a:highlight>
                  <a:schemeClr val="dk1"/>
                </a:highlight>
                <a:latin typeface="Consolas"/>
                <a:ea typeface="Consolas"/>
                <a:cs typeface="Consolas"/>
                <a:sym typeface="Consolas"/>
              </a:rPr>
              <a:t>.git/v4/X.java</a:t>
            </a:r>
            <a:endParaRPr b="1"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b="1" lang="en" sz="1700">
                <a:solidFill>
                  <a:srgbClr val="D9EAD3"/>
                </a:solidFill>
                <a:highlight>
                  <a:schemeClr val="dk1"/>
                </a:highlight>
                <a:latin typeface="Consolas"/>
                <a:ea typeface="Consolas"/>
                <a:cs typeface="Consolas"/>
                <a:sym typeface="Consolas"/>
              </a:rPr>
              <a:t>.git/v4/A.java</a:t>
            </a:r>
            <a:endParaRPr b="1"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.git/v5/X.java</a:t>
            </a:r>
            <a:endParaRPr sz="1700">
              <a:solidFill>
                <a:srgbClr val="43434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434343"/>
                </a:solidFill>
                <a:highlight>
                  <a:schemeClr val="dk1"/>
                </a:highlight>
                <a:latin typeface="Consolas"/>
                <a:ea typeface="Consolas"/>
                <a:cs typeface="Consolas"/>
                <a:sym typeface="Consolas"/>
              </a:rPr>
              <a:t>.git/v5/Y.java</a:t>
            </a:r>
            <a:endParaRPr sz="1700">
              <a:solidFill>
                <a:srgbClr val="43434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434343"/>
              </a:solidFill>
              <a:highlight>
                <a:schemeClr val="dk1"/>
              </a:highlight>
              <a:latin typeface="Consolas"/>
              <a:ea typeface="Consolas"/>
              <a:cs typeface="Consolas"/>
              <a:sym typeface="Consolas"/>
            </a:endParaRPr>
          </a:p>
        </p:txBody>
      </p:sp>
      <p:sp>
        <p:nvSpPr>
          <p:cNvPr id="390" name="Google Shape;390;p42"/>
          <p:cNvSpPr txBox="1"/>
          <p:nvPr/>
        </p:nvSpPr>
        <p:spPr>
          <a:xfrm>
            <a:off x="4251800" y="1731725"/>
            <a:ext cx="4852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V1: X.java → v1, Y.java → v1</a:t>
            </a:r>
            <a:endParaRPr>
              <a:solidFill>
                <a:schemeClr val="dk1"/>
              </a:solidFill>
            </a:endParaRPr>
          </a:p>
          <a:p>
            <a:pPr indent="0" lvl="0" marL="0" rtl="0" algn="l">
              <a:spcBef>
                <a:spcPts val="0"/>
              </a:spcBef>
              <a:spcAft>
                <a:spcPts val="0"/>
              </a:spcAft>
              <a:buNone/>
            </a:pPr>
            <a:r>
              <a:rPr lang="en">
                <a:solidFill>
                  <a:schemeClr val="dk1"/>
                </a:solidFill>
              </a:rPr>
              <a:t>V2: X.java → v1, Y.java → v2</a:t>
            </a:r>
            <a:endParaRPr>
              <a:solidFill>
                <a:schemeClr val="dk1"/>
              </a:solidFill>
            </a:endParaRPr>
          </a:p>
          <a:p>
            <a:pPr indent="0" lvl="0" marL="0" rtl="0" algn="l">
              <a:spcBef>
                <a:spcPts val="0"/>
              </a:spcBef>
              <a:spcAft>
                <a:spcPts val="0"/>
              </a:spcAft>
              <a:buNone/>
            </a:pPr>
            <a:r>
              <a:rPr lang="en">
                <a:solidFill>
                  <a:schemeClr val="dk1"/>
                </a:solidFill>
              </a:rPr>
              <a:t>V3: X.java → v1, Y.java → v2, Z.java → v3</a:t>
            </a:r>
            <a:endParaRPr>
              <a:solidFill>
                <a:schemeClr val="dk1"/>
              </a:solidFill>
            </a:endParaRPr>
          </a:p>
          <a:p>
            <a:pPr indent="0" lvl="0" marL="0" rtl="0" algn="l">
              <a:spcBef>
                <a:spcPts val="0"/>
              </a:spcBef>
              <a:spcAft>
                <a:spcPts val="0"/>
              </a:spcAft>
              <a:buNone/>
            </a:pPr>
            <a:r>
              <a:rPr b="1" lang="en">
                <a:solidFill>
                  <a:schemeClr val="dk1"/>
                </a:solidFill>
              </a:rPr>
              <a:t>V4: X.java → v4, Y.java → v2, Z.java → v3, A.java → v4</a:t>
            </a:r>
            <a:endParaRPr b="1">
              <a:solidFill>
                <a:schemeClr val="dk1"/>
              </a:solidFill>
            </a:endParaRPr>
          </a:p>
          <a:p>
            <a:pPr indent="0" lvl="0" marL="0" rtl="0" algn="l">
              <a:spcBef>
                <a:spcPts val="0"/>
              </a:spcBef>
              <a:spcAft>
                <a:spcPts val="0"/>
              </a:spcAft>
              <a:buNone/>
            </a:pPr>
            <a:r>
              <a:rPr lang="en">
                <a:solidFill>
                  <a:schemeClr val="dk1"/>
                </a:solidFill>
              </a:rPr>
              <a:t>V5: X.java → v5, Y.java → v5, Z.java → v3, A.java → v4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4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Another Advantage of Approach 3</a:t>
            </a:r>
            <a:endParaRPr/>
          </a:p>
        </p:txBody>
      </p:sp>
      <p:sp>
        <p:nvSpPr>
          <p:cNvPr id="396" name="Google Shape;396;p43"/>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Approach 3 also allows us to avoid even more redundancy.</a:t>
            </a:r>
            <a:endParaRPr/>
          </a:p>
          <a:p>
            <a:pPr indent="-355600" lvl="0" marL="457200" rtl="0" algn="l">
              <a:spcBef>
                <a:spcPts val="600"/>
              </a:spcBef>
              <a:spcAft>
                <a:spcPts val="0"/>
              </a:spcAft>
              <a:buSzPts val="2000"/>
              <a:buChar char="●"/>
            </a:pPr>
            <a:r>
              <a:rPr lang="en"/>
              <a:t>Example, suppose v5’s X.java is the same as v1.</a:t>
            </a:r>
            <a:endParaRPr/>
          </a:p>
        </p:txBody>
      </p:sp>
      <p:sp>
        <p:nvSpPr>
          <p:cNvPr id="397" name="Google Shape;397;p43"/>
          <p:cNvSpPr txBox="1"/>
          <p:nvPr/>
        </p:nvSpPr>
        <p:spPr>
          <a:xfrm>
            <a:off x="4251800" y="1731725"/>
            <a:ext cx="4852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V1: X.java → v1, Y.java → v1</a:t>
            </a:r>
            <a:endParaRPr>
              <a:solidFill>
                <a:schemeClr val="dk1"/>
              </a:solidFill>
            </a:endParaRPr>
          </a:p>
          <a:p>
            <a:pPr indent="0" lvl="0" marL="0" rtl="0" algn="l">
              <a:spcBef>
                <a:spcPts val="0"/>
              </a:spcBef>
              <a:spcAft>
                <a:spcPts val="0"/>
              </a:spcAft>
              <a:buNone/>
            </a:pPr>
            <a:r>
              <a:rPr lang="en">
                <a:solidFill>
                  <a:schemeClr val="dk1"/>
                </a:solidFill>
              </a:rPr>
              <a:t>V2: X.java → v1, Y.java → v2</a:t>
            </a:r>
            <a:endParaRPr>
              <a:solidFill>
                <a:schemeClr val="dk1"/>
              </a:solidFill>
            </a:endParaRPr>
          </a:p>
          <a:p>
            <a:pPr indent="0" lvl="0" marL="0" rtl="0" algn="l">
              <a:spcBef>
                <a:spcPts val="0"/>
              </a:spcBef>
              <a:spcAft>
                <a:spcPts val="0"/>
              </a:spcAft>
              <a:buNone/>
            </a:pPr>
            <a:r>
              <a:rPr lang="en">
                <a:solidFill>
                  <a:schemeClr val="dk1"/>
                </a:solidFill>
              </a:rPr>
              <a:t>V3: X.java → v1, Y.java → v2, Z.java → v3</a:t>
            </a:r>
            <a:endParaRPr>
              <a:solidFill>
                <a:schemeClr val="dk1"/>
              </a:solidFill>
            </a:endParaRPr>
          </a:p>
          <a:p>
            <a:pPr indent="0" lvl="0" marL="0" rtl="0" algn="l">
              <a:spcBef>
                <a:spcPts val="0"/>
              </a:spcBef>
              <a:spcAft>
                <a:spcPts val="0"/>
              </a:spcAft>
              <a:buNone/>
            </a:pPr>
            <a:r>
              <a:rPr b="1" lang="en">
                <a:solidFill>
                  <a:schemeClr val="dk1"/>
                </a:solidFill>
              </a:rPr>
              <a:t>V4: X.java → v4, Y.java → v2, Z.java → v3, A.java → v4</a:t>
            </a:r>
            <a:endParaRPr b="1">
              <a:solidFill>
                <a:schemeClr val="dk1"/>
              </a:solidFill>
            </a:endParaRPr>
          </a:p>
          <a:p>
            <a:pPr indent="0" lvl="0" marL="0" rtl="0" algn="l">
              <a:spcBef>
                <a:spcPts val="0"/>
              </a:spcBef>
              <a:spcAft>
                <a:spcPts val="0"/>
              </a:spcAft>
              <a:buNone/>
            </a:pPr>
            <a:r>
              <a:rPr lang="en">
                <a:solidFill>
                  <a:schemeClr val="dk1"/>
                </a:solidFill>
              </a:rPr>
              <a:t>V5: X.java → v5, Y.java → v5, Z.java → v3, A.java → v4</a:t>
            </a:r>
            <a:endParaRPr/>
          </a:p>
        </p:txBody>
      </p:sp>
      <p:sp>
        <p:nvSpPr>
          <p:cNvPr id="398" name="Google Shape;398;p43"/>
          <p:cNvSpPr txBox="1"/>
          <p:nvPr/>
        </p:nvSpPr>
        <p:spPr>
          <a:xfrm>
            <a:off x="727625" y="1738200"/>
            <a:ext cx="34209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.git/v1/Y.java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.git/v3/Z.java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.git/v4/X.java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.git/v4/A.java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.git/v5/X.java</a:t>
            </a:r>
            <a:endParaRPr sz="1700">
              <a:solidFill>
                <a:srgbClr val="FFFFFF"/>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.git/v5/Y.java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02" name="Shape 402"/>
        <p:cNvGrpSpPr/>
        <p:nvPr/>
      </p:nvGrpSpPr>
      <p:grpSpPr>
        <a:xfrm>
          <a:off x="0" y="0"/>
          <a:ext cx="0" cy="0"/>
          <a:chOff x="0" y="0"/>
          <a:chExt cx="0" cy="0"/>
        </a:xfrm>
      </p:grpSpPr>
      <p:sp>
        <p:nvSpPr>
          <p:cNvPr id="403" name="Google Shape;403;p4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Another Advantage of Approach 3</a:t>
            </a:r>
            <a:endParaRPr/>
          </a:p>
        </p:txBody>
      </p:sp>
      <p:sp>
        <p:nvSpPr>
          <p:cNvPr id="404" name="Google Shape;404;p44"/>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Approach 3 also allows us to avoid even more redundancy.</a:t>
            </a:r>
            <a:endParaRPr/>
          </a:p>
          <a:p>
            <a:pPr indent="-355600" lvl="0" marL="457200" rtl="0" algn="l">
              <a:spcBef>
                <a:spcPts val="600"/>
              </a:spcBef>
              <a:spcAft>
                <a:spcPts val="0"/>
              </a:spcAft>
              <a:buSzPts val="2000"/>
              <a:buChar char="●"/>
            </a:pPr>
            <a:r>
              <a:rPr lang="en"/>
              <a:t>Example, suppose v5’s X.java is the same as v1. How would we change the file structure on the left and the list of commits on the right?</a:t>
            </a:r>
            <a:endParaRPr/>
          </a:p>
        </p:txBody>
      </p:sp>
      <p:sp>
        <p:nvSpPr>
          <p:cNvPr id="405" name="Google Shape;405;p44"/>
          <p:cNvSpPr txBox="1"/>
          <p:nvPr/>
        </p:nvSpPr>
        <p:spPr>
          <a:xfrm>
            <a:off x="4251800" y="1731725"/>
            <a:ext cx="4852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V1: X.java → v1, Y.java → v1</a:t>
            </a:r>
            <a:endParaRPr>
              <a:solidFill>
                <a:schemeClr val="dk1"/>
              </a:solidFill>
            </a:endParaRPr>
          </a:p>
          <a:p>
            <a:pPr indent="0" lvl="0" marL="0" rtl="0" algn="l">
              <a:spcBef>
                <a:spcPts val="0"/>
              </a:spcBef>
              <a:spcAft>
                <a:spcPts val="0"/>
              </a:spcAft>
              <a:buNone/>
            </a:pPr>
            <a:r>
              <a:rPr lang="en">
                <a:solidFill>
                  <a:schemeClr val="dk1"/>
                </a:solidFill>
              </a:rPr>
              <a:t>V2: X.java → v1, Y.java → v2</a:t>
            </a:r>
            <a:endParaRPr>
              <a:solidFill>
                <a:schemeClr val="dk1"/>
              </a:solidFill>
            </a:endParaRPr>
          </a:p>
          <a:p>
            <a:pPr indent="0" lvl="0" marL="0" rtl="0" algn="l">
              <a:spcBef>
                <a:spcPts val="0"/>
              </a:spcBef>
              <a:spcAft>
                <a:spcPts val="0"/>
              </a:spcAft>
              <a:buNone/>
            </a:pPr>
            <a:r>
              <a:rPr lang="en">
                <a:solidFill>
                  <a:schemeClr val="dk1"/>
                </a:solidFill>
              </a:rPr>
              <a:t>V3: X.java → v1, Y.java → v2, Z.java → v3</a:t>
            </a:r>
            <a:endParaRPr>
              <a:solidFill>
                <a:schemeClr val="dk1"/>
              </a:solidFill>
            </a:endParaRPr>
          </a:p>
          <a:p>
            <a:pPr indent="0" lvl="0" marL="0" rtl="0" algn="l">
              <a:spcBef>
                <a:spcPts val="0"/>
              </a:spcBef>
              <a:spcAft>
                <a:spcPts val="0"/>
              </a:spcAft>
              <a:buNone/>
            </a:pPr>
            <a:r>
              <a:rPr lang="en">
                <a:solidFill>
                  <a:schemeClr val="dk1"/>
                </a:solidFill>
              </a:rPr>
              <a:t>V4: X.java → v4, Y.java → v2, Z.java → v3, A.java → v4</a:t>
            </a:r>
            <a:endParaRPr>
              <a:solidFill>
                <a:schemeClr val="dk1"/>
              </a:solidFill>
            </a:endParaRPr>
          </a:p>
          <a:p>
            <a:pPr indent="0" lvl="0" marL="0" rtl="0" algn="l">
              <a:spcBef>
                <a:spcPts val="0"/>
              </a:spcBef>
              <a:spcAft>
                <a:spcPts val="0"/>
              </a:spcAft>
              <a:buNone/>
            </a:pPr>
            <a:r>
              <a:rPr lang="en">
                <a:solidFill>
                  <a:schemeClr val="dk1"/>
                </a:solidFill>
              </a:rPr>
              <a:t>V5: X.java → v5, Y.java → v5, Z.java → v3, A.java → v4</a:t>
            </a:r>
            <a:endParaRPr/>
          </a:p>
        </p:txBody>
      </p:sp>
      <p:sp>
        <p:nvSpPr>
          <p:cNvPr id="406" name="Google Shape;406;p44"/>
          <p:cNvSpPr txBox="1"/>
          <p:nvPr/>
        </p:nvSpPr>
        <p:spPr>
          <a:xfrm>
            <a:off x="727625" y="1738200"/>
            <a:ext cx="34209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.git/v1/Y.java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.git/v3/Z.java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.git/v4/X.java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.git/v4/A.java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.git/v5/X.java</a:t>
            </a:r>
            <a:endParaRPr sz="1700">
              <a:solidFill>
                <a:srgbClr val="FFFFFF"/>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.git/v5/Y.java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4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Another Advantage of Approach 3</a:t>
            </a:r>
            <a:endParaRPr/>
          </a:p>
        </p:txBody>
      </p:sp>
      <p:sp>
        <p:nvSpPr>
          <p:cNvPr id="412" name="Google Shape;412;p45"/>
          <p:cNvSpPr txBox="1"/>
          <p:nvPr>
            <p:ph idx="1" type="body"/>
          </p:nvPr>
        </p:nvSpPr>
        <p:spPr>
          <a:xfrm>
            <a:off x="243000" y="556500"/>
            <a:ext cx="8687100" cy="427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Approach 3 also allows us to avoid even more redundancy.</a:t>
            </a:r>
            <a:endParaRPr/>
          </a:p>
          <a:p>
            <a:pPr indent="-355600" lvl="0" marL="457200" rtl="0" algn="l">
              <a:spcBef>
                <a:spcPts val="600"/>
              </a:spcBef>
              <a:spcAft>
                <a:spcPts val="0"/>
              </a:spcAft>
              <a:buSzPts val="2000"/>
              <a:buChar char="●"/>
            </a:pPr>
            <a:r>
              <a:rPr lang="en"/>
              <a:t>Example, suppose v5’s X.java is the same as v1. How would we change the file structure on the left and the list of commits on the right?</a:t>
            </a:r>
            <a:endParaRPr/>
          </a:p>
        </p:txBody>
      </p:sp>
      <p:sp>
        <p:nvSpPr>
          <p:cNvPr id="413" name="Google Shape;413;p45"/>
          <p:cNvSpPr txBox="1"/>
          <p:nvPr/>
        </p:nvSpPr>
        <p:spPr>
          <a:xfrm>
            <a:off x="4251800" y="1731725"/>
            <a:ext cx="4852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V1: X.java → v1, Y.java → v1</a:t>
            </a:r>
            <a:endParaRPr>
              <a:solidFill>
                <a:schemeClr val="dk1"/>
              </a:solidFill>
            </a:endParaRPr>
          </a:p>
          <a:p>
            <a:pPr indent="0" lvl="0" marL="0" rtl="0" algn="l">
              <a:spcBef>
                <a:spcPts val="0"/>
              </a:spcBef>
              <a:spcAft>
                <a:spcPts val="0"/>
              </a:spcAft>
              <a:buNone/>
            </a:pPr>
            <a:r>
              <a:rPr lang="en">
                <a:solidFill>
                  <a:schemeClr val="dk1"/>
                </a:solidFill>
              </a:rPr>
              <a:t>V2: X.java → v1, Y.java → v2</a:t>
            </a:r>
            <a:endParaRPr>
              <a:solidFill>
                <a:schemeClr val="dk1"/>
              </a:solidFill>
            </a:endParaRPr>
          </a:p>
          <a:p>
            <a:pPr indent="0" lvl="0" marL="0" rtl="0" algn="l">
              <a:spcBef>
                <a:spcPts val="0"/>
              </a:spcBef>
              <a:spcAft>
                <a:spcPts val="0"/>
              </a:spcAft>
              <a:buNone/>
            </a:pPr>
            <a:r>
              <a:rPr lang="en">
                <a:solidFill>
                  <a:schemeClr val="dk1"/>
                </a:solidFill>
              </a:rPr>
              <a:t>V3: X.java → v1, Y.java → v2, Z.java → v3</a:t>
            </a:r>
            <a:endParaRPr>
              <a:solidFill>
                <a:schemeClr val="dk1"/>
              </a:solidFill>
            </a:endParaRPr>
          </a:p>
          <a:p>
            <a:pPr indent="0" lvl="0" marL="0" rtl="0" algn="l">
              <a:spcBef>
                <a:spcPts val="0"/>
              </a:spcBef>
              <a:spcAft>
                <a:spcPts val="0"/>
              </a:spcAft>
              <a:buNone/>
            </a:pPr>
            <a:r>
              <a:rPr lang="en">
                <a:solidFill>
                  <a:schemeClr val="dk1"/>
                </a:solidFill>
              </a:rPr>
              <a:t>V4: X.java → v4, Y.java → v2, Z.java → v3, A.java → v4</a:t>
            </a:r>
            <a:endParaRPr>
              <a:solidFill>
                <a:schemeClr val="dk1"/>
              </a:solidFill>
            </a:endParaRPr>
          </a:p>
          <a:p>
            <a:pPr indent="0" lvl="0" marL="0" rtl="0" algn="l">
              <a:spcBef>
                <a:spcPts val="0"/>
              </a:spcBef>
              <a:spcAft>
                <a:spcPts val="0"/>
              </a:spcAft>
              <a:buNone/>
            </a:pPr>
            <a:r>
              <a:rPr lang="en">
                <a:solidFill>
                  <a:schemeClr val="dk1"/>
                </a:solidFill>
              </a:rPr>
              <a:t>V5: X.java → v1, Y.java → v5, Z.java → v3, A.java → v4</a:t>
            </a:r>
            <a:endParaRPr/>
          </a:p>
        </p:txBody>
      </p:sp>
      <p:sp>
        <p:nvSpPr>
          <p:cNvPr id="414" name="Google Shape;414;p45"/>
          <p:cNvSpPr txBox="1"/>
          <p:nvPr/>
        </p:nvSpPr>
        <p:spPr>
          <a:xfrm>
            <a:off x="727625" y="1738200"/>
            <a:ext cx="34209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.git/v1/X.java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.git/v1/Y.java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.git/v2/Y.java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.git/v3/Z.java</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4CC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.git/v4/X.java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D9EAD3"/>
                </a:solidFill>
                <a:highlight>
                  <a:schemeClr val="dk1"/>
                </a:highlight>
                <a:latin typeface="Consolas"/>
                <a:ea typeface="Consolas"/>
                <a:cs typeface="Consolas"/>
                <a:sym typeface="Consolas"/>
              </a:rPr>
              <a:t>.git/v4/A.java</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D9EAD3"/>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FFF"/>
                </a:solidFill>
                <a:highlight>
                  <a:schemeClr val="dk1"/>
                </a:highlight>
                <a:latin typeface="Consolas"/>
                <a:ea typeface="Consolas"/>
                <a:cs typeface="Consolas"/>
                <a:sym typeface="Consolas"/>
              </a:rPr>
              <a:t>.git/v5/Y.java</a:t>
            </a:r>
            <a:endParaRPr sz="1700">
              <a:solidFill>
                <a:srgbClr val="FFFFFF"/>
              </a:solidFill>
              <a:highlight>
                <a:schemeClr val="dk1"/>
              </a:highlight>
              <a:latin typeface="Consolas"/>
              <a:ea typeface="Consolas"/>
              <a:cs typeface="Consolas"/>
              <a:sym typeface="Consolas"/>
            </a:endParaRPr>
          </a:p>
        </p:txBody>
      </p:sp>
      <p:sp>
        <p:nvSpPr>
          <p:cNvPr id="415" name="Google Shape;415;p45"/>
          <p:cNvSpPr txBox="1"/>
          <p:nvPr/>
        </p:nvSpPr>
        <p:spPr>
          <a:xfrm>
            <a:off x="4277625" y="3289000"/>
            <a:ext cx="4749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Calibri"/>
                <a:ea typeface="Calibri"/>
                <a:cs typeface="Calibri"/>
                <a:sym typeface="Calibri"/>
              </a:rPr>
              <a:t>Rather than store v5/X.java, our commit data structure specifics that v5’s X.java is the same as v1’s.</a:t>
            </a:r>
            <a:endParaRPr sz="2000">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19" name="Shape 419"/>
        <p:cNvGrpSpPr/>
        <p:nvPr/>
      </p:nvGrpSpPr>
      <p:grpSpPr>
        <a:xfrm>
          <a:off x="0" y="0"/>
          <a:ext cx="0" cy="0"/>
          <a:chOff x="0" y="0"/>
          <a:chExt cx="0" cy="0"/>
        </a:xfrm>
      </p:grpSpPr>
      <p:sp>
        <p:nvSpPr>
          <p:cNvPr id="420" name="Google Shape;420;p46"/>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Avoiding Redundancy with “Hashing”</a:t>
            </a:r>
            <a:endParaRPr sz="4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4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Thought Experiment</a:t>
            </a:r>
            <a:endParaRPr/>
          </a:p>
        </p:txBody>
      </p:sp>
      <p:sp>
        <p:nvSpPr>
          <p:cNvPr id="426" name="Google Shape;426;p4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two different programmers working on the same project.</a:t>
            </a:r>
            <a:endParaRPr/>
          </a:p>
          <a:p>
            <a:pPr indent="-355600" lvl="0" marL="457200" rtl="0" algn="l">
              <a:spcBef>
                <a:spcPts val="600"/>
              </a:spcBef>
              <a:spcAft>
                <a:spcPts val="0"/>
              </a:spcAft>
              <a:buSzPts val="2000"/>
              <a:buChar char="●"/>
            </a:pPr>
            <a:r>
              <a:rPr lang="en"/>
              <a:t>They both start at V3.</a:t>
            </a:r>
            <a:endParaRPr/>
          </a:p>
          <a:p>
            <a:pPr indent="-355600" lvl="0" marL="457200" rtl="0" algn="l">
              <a:spcBef>
                <a:spcPts val="0"/>
              </a:spcBef>
              <a:spcAft>
                <a:spcPts val="0"/>
              </a:spcAft>
              <a:buSzPts val="2000"/>
              <a:buChar char="●"/>
            </a:pPr>
            <a:r>
              <a:rPr lang="en"/>
              <a:t>Programmer A changes Horse.java and commits.</a:t>
            </a:r>
            <a:endParaRPr/>
          </a:p>
          <a:p>
            <a:pPr indent="-355600" lvl="0" marL="457200" rtl="0" algn="l">
              <a:spcBef>
                <a:spcPts val="0"/>
              </a:spcBef>
              <a:spcAft>
                <a:spcPts val="0"/>
              </a:spcAft>
              <a:buSzPts val="2000"/>
              <a:buChar char="●"/>
            </a:pPr>
            <a:r>
              <a:rPr lang="en"/>
              <a:t>Programmer B changes Fish.java and commits.</a:t>
            </a:r>
            <a:endParaRPr/>
          </a:p>
          <a:p>
            <a:pPr indent="-355600" lvl="0" marL="457200" rtl="0" algn="l">
              <a:spcBef>
                <a:spcPts val="0"/>
              </a:spcBef>
              <a:spcAft>
                <a:spcPts val="0"/>
              </a:spcAft>
              <a:buSzPts val="2000"/>
              <a:buChar char="●"/>
            </a:pPr>
            <a:r>
              <a:rPr lang="en"/>
              <a:t>Who gets to be V4?</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30" name="Shape 430"/>
        <p:cNvGrpSpPr/>
        <p:nvPr/>
      </p:nvGrpSpPr>
      <p:grpSpPr>
        <a:xfrm>
          <a:off x="0" y="0"/>
          <a:ext cx="0" cy="0"/>
          <a:chOff x="0" y="0"/>
          <a:chExt cx="0" cy="0"/>
        </a:xfrm>
      </p:grpSpPr>
      <p:sp>
        <p:nvSpPr>
          <p:cNvPr id="431" name="Google Shape;431;p4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Thought Experiment</a:t>
            </a:r>
            <a:endParaRPr/>
          </a:p>
        </p:txBody>
      </p:sp>
      <p:sp>
        <p:nvSpPr>
          <p:cNvPr id="432" name="Google Shape;432;p4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two different programmers working on the same project.</a:t>
            </a:r>
            <a:endParaRPr/>
          </a:p>
          <a:p>
            <a:pPr indent="-355600" lvl="0" marL="457200" rtl="0" algn="l">
              <a:spcBef>
                <a:spcPts val="600"/>
              </a:spcBef>
              <a:spcAft>
                <a:spcPts val="0"/>
              </a:spcAft>
              <a:buSzPts val="2000"/>
              <a:buChar char="●"/>
            </a:pPr>
            <a:r>
              <a:rPr lang="en"/>
              <a:t>They both start at V3.</a:t>
            </a:r>
            <a:endParaRPr/>
          </a:p>
          <a:p>
            <a:pPr indent="-355600" lvl="0" marL="457200" rtl="0" algn="l">
              <a:spcBef>
                <a:spcPts val="0"/>
              </a:spcBef>
              <a:spcAft>
                <a:spcPts val="0"/>
              </a:spcAft>
              <a:buSzPts val="2000"/>
              <a:buChar char="●"/>
            </a:pPr>
            <a:r>
              <a:rPr lang="en"/>
              <a:t>Programmer A changes Horse.java and commits.</a:t>
            </a:r>
            <a:endParaRPr/>
          </a:p>
          <a:p>
            <a:pPr indent="-355600" lvl="0" marL="457200" rtl="0" algn="l">
              <a:spcBef>
                <a:spcPts val="0"/>
              </a:spcBef>
              <a:spcAft>
                <a:spcPts val="0"/>
              </a:spcAft>
              <a:buSzPts val="2000"/>
              <a:buChar char="●"/>
            </a:pPr>
            <a:r>
              <a:rPr lang="en"/>
              <a:t>Programmer B changes Fish.java and commits.</a:t>
            </a:r>
            <a:endParaRPr/>
          </a:p>
          <a:p>
            <a:pPr indent="-355600" lvl="0" marL="457200" rtl="0" algn="l">
              <a:spcBef>
                <a:spcPts val="0"/>
              </a:spcBef>
              <a:spcAft>
                <a:spcPts val="0"/>
              </a:spcAft>
              <a:buSzPts val="2000"/>
              <a:buChar char="●"/>
            </a:pPr>
            <a:r>
              <a:rPr lang="en"/>
              <a:t>Who gets to be V4?</a:t>
            </a:r>
            <a:endParaRPr/>
          </a:p>
          <a:p>
            <a:pPr indent="-355600" lvl="1" marL="914400" rtl="0" algn="l">
              <a:spcBef>
                <a:spcPts val="0"/>
              </a:spcBef>
              <a:spcAft>
                <a:spcPts val="0"/>
              </a:spcAft>
              <a:buSzPts val="2000"/>
              <a:buChar char="○"/>
            </a:pPr>
            <a:r>
              <a:rPr lang="en"/>
              <a:t>Why can’t it just be whoever committed first?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4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Thought Experiment</a:t>
            </a:r>
            <a:endParaRPr/>
          </a:p>
        </p:txBody>
      </p:sp>
      <p:sp>
        <p:nvSpPr>
          <p:cNvPr id="438" name="Google Shape;438;p4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two different programmers working on the same project.</a:t>
            </a:r>
            <a:endParaRPr/>
          </a:p>
          <a:p>
            <a:pPr indent="-355600" lvl="0" marL="457200" rtl="0" algn="l">
              <a:spcBef>
                <a:spcPts val="600"/>
              </a:spcBef>
              <a:spcAft>
                <a:spcPts val="0"/>
              </a:spcAft>
              <a:buSzPts val="2000"/>
              <a:buChar char="●"/>
            </a:pPr>
            <a:r>
              <a:rPr lang="en"/>
              <a:t>They both start at V3.</a:t>
            </a:r>
            <a:endParaRPr/>
          </a:p>
          <a:p>
            <a:pPr indent="-355600" lvl="0" marL="457200" rtl="0" algn="l">
              <a:spcBef>
                <a:spcPts val="0"/>
              </a:spcBef>
              <a:spcAft>
                <a:spcPts val="0"/>
              </a:spcAft>
              <a:buSzPts val="2000"/>
              <a:buChar char="●"/>
            </a:pPr>
            <a:r>
              <a:rPr lang="en"/>
              <a:t>Programmer A changes Horse.java and commits.</a:t>
            </a:r>
            <a:endParaRPr/>
          </a:p>
          <a:p>
            <a:pPr indent="-355600" lvl="0" marL="457200" rtl="0" algn="l">
              <a:spcBef>
                <a:spcPts val="0"/>
              </a:spcBef>
              <a:spcAft>
                <a:spcPts val="0"/>
              </a:spcAft>
              <a:buSzPts val="2000"/>
              <a:buChar char="●"/>
            </a:pPr>
            <a:r>
              <a:rPr lang="en"/>
              <a:t>Programmer B changes Fish.java and commits.</a:t>
            </a:r>
            <a:endParaRPr/>
          </a:p>
          <a:p>
            <a:pPr indent="-355600" lvl="0" marL="457200" rtl="0" algn="l">
              <a:spcBef>
                <a:spcPts val="0"/>
              </a:spcBef>
              <a:spcAft>
                <a:spcPts val="0"/>
              </a:spcAft>
              <a:buSzPts val="2000"/>
              <a:buChar char="●"/>
            </a:pPr>
            <a:r>
              <a:rPr lang="en"/>
              <a:t>Who gets to be V4?</a:t>
            </a:r>
            <a:endParaRPr/>
          </a:p>
          <a:p>
            <a:pPr indent="-355600" lvl="1" marL="914400" rtl="0" algn="l">
              <a:spcBef>
                <a:spcPts val="0"/>
              </a:spcBef>
              <a:spcAft>
                <a:spcPts val="0"/>
              </a:spcAft>
              <a:buSzPts val="2000"/>
              <a:buChar char="○"/>
            </a:pPr>
            <a:r>
              <a:rPr lang="en"/>
              <a:t>Why can’t it just be whoever committed first?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Git is a distributed version control system. Everything is done locally, and there is no central server that stores everything.</a:t>
            </a:r>
            <a:endParaRPr/>
          </a:p>
          <a:p>
            <a:pPr indent="-355600" lvl="0" marL="457200" rtl="0" algn="l">
              <a:spcBef>
                <a:spcPts val="600"/>
              </a:spcBef>
              <a:spcAft>
                <a:spcPts val="0"/>
              </a:spcAft>
              <a:buSzPts val="2000"/>
              <a:buChar char="●"/>
            </a:pPr>
            <a:r>
              <a:rPr lang="en"/>
              <a:t>Suppose B were first. Programmer A might be on a ship in the middle of the Pacific when Programmer B commits Fish.java.</a:t>
            </a:r>
            <a:endParaRPr/>
          </a:p>
          <a:p>
            <a:pPr indent="-355600" lvl="0" marL="457200" rtl="0" algn="l">
              <a:spcBef>
                <a:spcPts val="0"/>
              </a:spcBef>
              <a:spcAft>
                <a:spcPts val="0"/>
              </a:spcAft>
              <a:buSzPts val="2000"/>
              <a:buChar char="●"/>
            </a:pPr>
            <a:r>
              <a:rPr lang="en"/>
              <a:t>Programmer A’s computer will have no idea this commit has been made.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5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4: Use Time and Date as the Version Number</a:t>
            </a:r>
            <a:endParaRPr/>
          </a:p>
        </p:txBody>
      </p:sp>
      <p:sp>
        <p:nvSpPr>
          <p:cNvPr id="444" name="Google Shape;444;p50"/>
          <p:cNvSpPr txBox="1"/>
          <p:nvPr>
            <p:ph idx="1" type="body"/>
          </p:nvPr>
        </p:nvSpPr>
        <p:spPr>
          <a:xfrm>
            <a:off x="243000" y="556500"/>
            <a:ext cx="88356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Rather than using an escalating integer version number, we could use the current time and date.</a:t>
            </a:r>
            <a:endParaRPr/>
          </a:p>
        </p:txBody>
      </p:sp>
      <p:sp>
        <p:nvSpPr>
          <p:cNvPr id="445" name="Google Shape;445;p50"/>
          <p:cNvSpPr txBox="1"/>
          <p:nvPr/>
        </p:nvSpPr>
        <p:spPr>
          <a:xfrm>
            <a:off x="4251800" y="1731725"/>
            <a:ext cx="4852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a:t>
            </a:r>
            <a:r>
              <a:rPr lang="en">
                <a:solidFill>
                  <a:schemeClr val="dk1"/>
                </a:solidFill>
              </a:rPr>
              <a:t>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a:t>
            </a:r>
            <a:r>
              <a:rPr lang="en">
                <a:solidFill>
                  <a:schemeClr val="dk1"/>
                </a:solidFill>
              </a:rPr>
              <a:t>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a:t>
            </a:r>
            <a:r>
              <a:rPr lang="en">
                <a:solidFill>
                  <a:schemeClr val="dk1"/>
                </a:solidFill>
              </a:rPr>
              <a:t>02_16_2021_03_29_45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a:t>
            </a:r>
            <a:r>
              <a:rPr lang="en">
                <a:solidFill>
                  <a:schemeClr val="dk1"/>
                </a:solidFill>
              </a:rPr>
              <a:t>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a:t>
            </a:r>
            <a:r>
              <a:rPr lang="en">
                <a:solidFill>
                  <a:schemeClr val="dk1"/>
                </a:solidFill>
              </a:rPr>
              <a:t>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a:t>
            </a:r>
            <a:r>
              <a:rPr lang="en">
                <a:solidFill>
                  <a:schemeClr val="dk1"/>
                </a:solidFill>
              </a:rPr>
              <a:t>02_16_2021_13_29_45</a:t>
            </a:r>
            <a:r>
              <a:rPr lang="en">
                <a:solidFill>
                  <a:schemeClr val="dk1"/>
                </a:solidFill>
              </a:rPr>
              <a:t>: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a:t>
            </a:r>
            <a:r>
              <a:rPr lang="en">
                <a:solidFill>
                  <a:schemeClr val="dk1"/>
                </a:solidFill>
              </a:rPr>
              <a:t>02_16_2021_13_29_45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a:t>
            </a:r>
            <a:r>
              <a:rPr lang="en">
                <a:solidFill>
                  <a:schemeClr val="dk1"/>
                </a:solidFill>
              </a:rPr>
              <a:t>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p:txBody>
      </p:sp>
      <p:sp>
        <p:nvSpPr>
          <p:cNvPr id="446" name="Google Shape;446;p50"/>
          <p:cNvSpPr txBox="1"/>
          <p:nvPr/>
        </p:nvSpPr>
        <p:spPr>
          <a:xfrm>
            <a:off x="166800" y="1738200"/>
            <a:ext cx="39816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.git/02_16_2021_03_29_45/X.java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.git/02_16_2021_03_29_45/Y.java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a:t>
            </a:r>
            <a:r>
              <a:rPr lang="en" sz="1700">
                <a:solidFill>
                  <a:srgbClr val="FFF2CC"/>
                </a:solidFill>
                <a:highlight>
                  <a:schemeClr val="dk1"/>
                </a:highlight>
                <a:latin typeface="Consolas"/>
                <a:ea typeface="Consolas"/>
                <a:cs typeface="Consolas"/>
                <a:sym typeface="Consolas"/>
              </a:rPr>
              <a:t>02_16_2021_11_29_45</a:t>
            </a:r>
            <a:r>
              <a:rPr lang="en" sz="1700">
                <a:solidFill>
                  <a:srgbClr val="FFF2CC"/>
                </a:solidFill>
                <a:highlight>
                  <a:schemeClr val="dk1"/>
                </a:highlight>
                <a:latin typeface="Consolas"/>
                <a:ea typeface="Consolas"/>
                <a:cs typeface="Consolas"/>
                <a:sym typeface="Consolas"/>
              </a:rPr>
              <a:t>/Y.java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.git/02_16_2021_11_29_45/Z.java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a:t>
            </a:r>
            <a:r>
              <a:rPr lang="en" sz="1700">
                <a:solidFill>
                  <a:srgbClr val="F4CCCC"/>
                </a:solidFill>
                <a:highlight>
                  <a:schemeClr val="dk1"/>
                </a:highlight>
                <a:latin typeface="Consolas"/>
                <a:ea typeface="Consolas"/>
                <a:cs typeface="Consolas"/>
                <a:sym typeface="Consolas"/>
              </a:rPr>
              <a:t>02_16_2021_13_29_45</a:t>
            </a:r>
            <a:r>
              <a:rPr lang="en" sz="1700">
                <a:solidFill>
                  <a:srgbClr val="F4CCCC"/>
                </a:solidFill>
                <a:highlight>
                  <a:schemeClr val="dk1"/>
                </a:highlight>
                <a:latin typeface="Consolas"/>
                <a:ea typeface="Consolas"/>
                <a:cs typeface="Consolas"/>
                <a:sym typeface="Consolas"/>
              </a:rPr>
              <a:t>/X.java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50" name="Shape 450"/>
        <p:cNvGrpSpPr/>
        <p:nvPr/>
      </p:nvGrpSpPr>
      <p:grpSpPr>
        <a:xfrm>
          <a:off x="0" y="0"/>
          <a:ext cx="0" cy="0"/>
          <a:chOff x="0" y="0"/>
          <a:chExt cx="0" cy="0"/>
        </a:xfrm>
      </p:grpSpPr>
      <p:sp>
        <p:nvSpPr>
          <p:cNvPr id="451" name="Google Shape;451;p5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4: Use Time and Date as the Version Number</a:t>
            </a:r>
            <a:endParaRPr/>
          </a:p>
        </p:txBody>
      </p:sp>
      <p:sp>
        <p:nvSpPr>
          <p:cNvPr id="452" name="Google Shape;452;p51"/>
          <p:cNvSpPr txBox="1"/>
          <p:nvPr>
            <p:ph idx="1" type="body"/>
          </p:nvPr>
        </p:nvSpPr>
        <p:spPr>
          <a:xfrm>
            <a:off x="243000" y="556500"/>
            <a:ext cx="87324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Rather than using an escalating integer version number, we could use the current time and date. What could go wrong in this approach?</a:t>
            </a:r>
            <a:endParaRPr/>
          </a:p>
        </p:txBody>
      </p:sp>
      <p:sp>
        <p:nvSpPr>
          <p:cNvPr id="453" name="Google Shape;453;p51"/>
          <p:cNvSpPr txBox="1"/>
          <p:nvPr/>
        </p:nvSpPr>
        <p:spPr>
          <a:xfrm>
            <a:off x="4251800" y="1731725"/>
            <a:ext cx="4852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02_16_2021_03_29_45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V02_16_2021_13_29_45: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02_16_2021_13_29_45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p:txBody>
      </p:sp>
      <p:sp>
        <p:nvSpPr>
          <p:cNvPr id="454" name="Google Shape;454;p51"/>
          <p:cNvSpPr txBox="1"/>
          <p:nvPr/>
        </p:nvSpPr>
        <p:spPr>
          <a:xfrm>
            <a:off x="166800" y="1738200"/>
            <a:ext cx="39816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.git/02_16_2021_03_29_45/X.java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.git/02_16_2021_03_29_45/Y.java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.git/02_16_2021_11_29_45/Y.java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.git/02_16_2021_11_29_45/Z.java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.git/02_16_2021_13_29_45/X.java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5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4: Use Time and Date as the Version Number</a:t>
            </a:r>
            <a:endParaRPr/>
          </a:p>
        </p:txBody>
      </p:sp>
      <p:sp>
        <p:nvSpPr>
          <p:cNvPr id="460" name="Google Shape;460;p52"/>
          <p:cNvSpPr txBox="1"/>
          <p:nvPr>
            <p:ph idx="1" type="body"/>
          </p:nvPr>
        </p:nvSpPr>
        <p:spPr>
          <a:xfrm>
            <a:off x="243000" y="556500"/>
            <a:ext cx="88617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Rather than using an escalating integer version number, we could use the current time and date. </a:t>
            </a:r>
            <a:endParaRPr/>
          </a:p>
          <a:p>
            <a:pPr indent="-355600" lvl="0" marL="457200" rtl="0" algn="l">
              <a:spcBef>
                <a:spcPts val="600"/>
              </a:spcBef>
              <a:spcAft>
                <a:spcPts val="0"/>
              </a:spcAft>
              <a:buSzPts val="2000"/>
              <a:buChar char="●"/>
            </a:pPr>
            <a:r>
              <a:rPr lang="en"/>
              <a:t>Possible concern: Two programmers make commits (or files) at the same time.</a:t>
            </a:r>
            <a:endParaRPr/>
          </a:p>
        </p:txBody>
      </p:sp>
      <p:sp>
        <p:nvSpPr>
          <p:cNvPr id="461" name="Google Shape;461;p52"/>
          <p:cNvSpPr txBox="1"/>
          <p:nvPr/>
        </p:nvSpPr>
        <p:spPr>
          <a:xfrm>
            <a:off x="4251800" y="1731725"/>
            <a:ext cx="4852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02_16_2021_03_29_45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02_16_2021_03_29_45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V02_16_2021_13_29_45: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X.java → 02_16_2021_13_29_45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Y.java → 02_16_2021_11_29_45</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Z.java → 02_16_2021_11_29_45</a:t>
            </a:r>
            <a:endParaRPr>
              <a:solidFill>
                <a:schemeClr val="dk1"/>
              </a:solidFill>
            </a:endParaRPr>
          </a:p>
        </p:txBody>
      </p:sp>
      <p:sp>
        <p:nvSpPr>
          <p:cNvPr id="462" name="Google Shape;462;p52"/>
          <p:cNvSpPr txBox="1"/>
          <p:nvPr/>
        </p:nvSpPr>
        <p:spPr>
          <a:xfrm>
            <a:off x="166800" y="1738200"/>
            <a:ext cx="3981600" cy="31596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rgbClr val="C9DAF8"/>
                </a:solidFill>
                <a:highlight>
                  <a:srgbClr val="000000"/>
                </a:highlight>
                <a:latin typeface="Consolas"/>
                <a:ea typeface="Consolas"/>
                <a:cs typeface="Consolas"/>
                <a:sym typeface="Consolas"/>
              </a:rPr>
              <a:t>.git/02_16_2021_03_29_45/X.java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C9DAF8"/>
                </a:solidFill>
                <a:highlight>
                  <a:schemeClr val="dk1"/>
                </a:highlight>
                <a:latin typeface="Consolas"/>
                <a:ea typeface="Consolas"/>
                <a:cs typeface="Consolas"/>
                <a:sym typeface="Consolas"/>
              </a:rPr>
              <a:t>.git/02_16_2021_03_29_45/Y.java</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C9DAF8"/>
              </a:solidFill>
              <a:highlight>
                <a:srgbClr val="000000"/>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.git/02_16_2021_11_29_45/Y.java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FF2CC"/>
                </a:solidFill>
                <a:highlight>
                  <a:schemeClr val="dk1"/>
                </a:highlight>
                <a:latin typeface="Consolas"/>
                <a:ea typeface="Consolas"/>
                <a:cs typeface="Consolas"/>
                <a:sym typeface="Consolas"/>
              </a:rPr>
              <a:t>.git/02_16_2021_11_29_45/Z.java</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t/>
            </a:r>
            <a:endParaRPr sz="1700">
              <a:solidFill>
                <a:srgbClr val="FFF2CC"/>
              </a:solidFill>
              <a:highlight>
                <a:schemeClr val="dk1"/>
              </a:highlight>
              <a:latin typeface="Consolas"/>
              <a:ea typeface="Consolas"/>
              <a:cs typeface="Consolas"/>
              <a:sym typeface="Consolas"/>
            </a:endParaRPr>
          </a:p>
          <a:p>
            <a:pPr indent="0" lvl="0" marL="0" rtl="0" algn="l">
              <a:lnSpc>
                <a:spcPct val="95000"/>
              </a:lnSpc>
              <a:spcBef>
                <a:spcPts val="0"/>
              </a:spcBef>
              <a:spcAft>
                <a:spcPts val="0"/>
              </a:spcAft>
              <a:buNone/>
            </a:pPr>
            <a:r>
              <a:rPr lang="en" sz="1700">
                <a:solidFill>
                  <a:srgbClr val="F4CCCC"/>
                </a:solidFill>
                <a:highlight>
                  <a:schemeClr val="dk1"/>
                </a:highlight>
                <a:latin typeface="Consolas"/>
                <a:ea typeface="Consolas"/>
                <a:cs typeface="Consolas"/>
                <a:sym typeface="Consolas"/>
              </a:rPr>
              <a:t>.git/02_16_2021_13_29_45/X.java</a:t>
            </a:r>
            <a:endParaRPr sz="1700">
              <a:solidFill>
                <a:srgbClr val="FFFFFF"/>
              </a:solidFill>
              <a:highlight>
                <a:schemeClr val="dk1"/>
              </a:highlight>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5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5: Use a “Hash” as the Version Number</a:t>
            </a:r>
            <a:endParaRPr/>
          </a:p>
        </p:txBody>
      </p:sp>
      <p:sp>
        <p:nvSpPr>
          <p:cNvPr id="468" name="Google Shape;468;p53"/>
          <p:cNvSpPr txBox="1"/>
          <p:nvPr>
            <p:ph idx="1" type="body"/>
          </p:nvPr>
        </p:nvSpPr>
        <p:spPr>
          <a:xfrm>
            <a:off x="243000" y="556500"/>
            <a:ext cx="88356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actual approach employed by Git is to use the “git-SHA1 hash” of a file as its version number.</a:t>
            </a:r>
            <a:endParaRPr/>
          </a:p>
          <a:p>
            <a:pPr indent="-355600" lvl="0" marL="457200" rtl="0" algn="l">
              <a:spcBef>
                <a:spcPts val="600"/>
              </a:spcBef>
              <a:spcAft>
                <a:spcPts val="0"/>
              </a:spcAft>
              <a:buSzPts val="2000"/>
              <a:buChar char="●"/>
            </a:pPr>
            <a:r>
              <a:rPr lang="en"/>
              <a:t>The git-SHA1 hash is a deterministic function of the file’s contents.</a:t>
            </a:r>
            <a:endParaRPr/>
          </a:p>
          <a:p>
            <a:pPr indent="-355600" lvl="1" marL="914400" rtl="0" algn="l">
              <a:spcBef>
                <a:spcPts val="0"/>
              </a:spcBef>
              <a:spcAft>
                <a:spcPts val="0"/>
              </a:spcAft>
              <a:buSzPts val="2000"/>
              <a:buChar char="○"/>
            </a:pPr>
            <a:r>
              <a:rPr lang="en"/>
              <a:t>Two identical files will always have the same git-SHA1 hash.</a:t>
            </a:r>
            <a:endParaRPr/>
          </a:p>
          <a:p>
            <a:pPr indent="-355600" lvl="1" marL="914400" rtl="0" algn="l">
              <a:spcBef>
                <a:spcPts val="0"/>
              </a:spcBef>
              <a:spcAft>
                <a:spcPts val="0"/>
              </a:spcAft>
              <a:buSzPts val="2000"/>
              <a:buChar char="○"/>
            </a:pPr>
            <a:r>
              <a:rPr lang="en"/>
              <a:t>git-SHA1 hash is 160 bits long.</a:t>
            </a:r>
            <a:endParaRPr/>
          </a:p>
          <a:p>
            <a:pPr indent="-355600" lvl="0" marL="457200" rtl="0" algn="l">
              <a:spcBef>
                <a:spcPts val="0"/>
              </a:spcBef>
              <a:spcAft>
                <a:spcPts val="0"/>
              </a:spcAft>
              <a:buSzPts val="2000"/>
              <a:buChar char="●"/>
            </a:pPr>
            <a:r>
              <a:rPr lang="en"/>
              <a:t>Example: The git-SHA1 hash of the code to the left is as shown on the right (given in both binary and hexadecimal).</a:t>
            </a:r>
            <a:endParaRPr/>
          </a:p>
        </p:txBody>
      </p:sp>
      <p:sp>
        <p:nvSpPr>
          <p:cNvPr id="469" name="Google Shape;469;p53"/>
          <p:cNvSpPr txBox="1"/>
          <p:nvPr/>
        </p:nvSpPr>
        <p:spPr>
          <a:xfrm>
            <a:off x="355400" y="3129900"/>
            <a:ext cx="4510200" cy="1262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solidFill>
                  <a:srgbClr val="661111"/>
                </a:solidFill>
                <a:highlight>
                  <a:srgbClr val="EFEFEF"/>
                </a:highlight>
                <a:latin typeface="Consolas"/>
                <a:ea typeface="Consolas"/>
                <a:cs typeface="Consolas"/>
                <a:sym typeface="Consolas"/>
              </a:rPr>
              <a:t>public class</a:t>
            </a:r>
            <a:r>
              <a:rPr lang="en">
                <a:solidFill>
                  <a:schemeClr val="dk1"/>
                </a:solidFill>
                <a:highlight>
                  <a:srgbClr val="EFEFEF"/>
                </a:highlight>
                <a:latin typeface="Consolas"/>
                <a:ea typeface="Consolas"/>
                <a:cs typeface="Consolas"/>
                <a:sym typeface="Consolas"/>
              </a:rPr>
              <a:t> HelloWorld </a:t>
            </a:r>
            <a:r>
              <a:rPr b="1" lang="en">
                <a:solidFill>
                  <a:srgbClr val="555555"/>
                </a:solidFill>
                <a:highlight>
                  <a:srgbClr val="EFEFEF"/>
                </a:highlight>
                <a:latin typeface="Consolas"/>
                <a:ea typeface="Consolas"/>
                <a:cs typeface="Consolas"/>
                <a:sym typeface="Consolas"/>
              </a:rPr>
              <a:t>{</a:t>
            </a:r>
            <a:endParaRPr b="1">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EFEFEF"/>
                </a:highlight>
                <a:latin typeface="Consolas"/>
                <a:ea typeface="Consolas"/>
                <a:cs typeface="Consolas"/>
                <a:sym typeface="Consolas"/>
              </a:rPr>
              <a:t>   </a:t>
            </a:r>
            <a:r>
              <a:rPr b="1" lang="en">
                <a:solidFill>
                  <a:srgbClr val="661111"/>
                </a:solidFill>
                <a:highlight>
                  <a:srgbClr val="EFEFEF"/>
                </a:highlight>
                <a:latin typeface="Consolas"/>
                <a:ea typeface="Consolas"/>
                <a:cs typeface="Consolas"/>
                <a:sym typeface="Consolas"/>
              </a:rPr>
              <a:t>public static void</a:t>
            </a:r>
            <a:r>
              <a:rPr lang="en">
                <a:solidFill>
                  <a:schemeClr val="dk1"/>
                </a:solidFill>
                <a:highlight>
                  <a:srgbClr val="EFEFEF"/>
                </a:highlight>
                <a:latin typeface="Consolas"/>
                <a:ea typeface="Consolas"/>
                <a:cs typeface="Consolas"/>
                <a:sym typeface="Consolas"/>
              </a:rPr>
              <a:t> </a:t>
            </a:r>
            <a:r>
              <a:rPr lang="en">
                <a:solidFill>
                  <a:srgbClr val="004466"/>
                </a:solidFill>
                <a:highlight>
                  <a:srgbClr val="EFEFEF"/>
                </a:highlight>
                <a:latin typeface="Consolas"/>
                <a:ea typeface="Consolas"/>
                <a:cs typeface="Consolas"/>
                <a:sym typeface="Consolas"/>
              </a:rPr>
              <a:t>main</a:t>
            </a:r>
            <a:r>
              <a:rPr b="1" lang="en">
                <a:solidFill>
                  <a:srgbClr val="555555"/>
                </a:solidFill>
                <a:highlight>
                  <a:srgbClr val="EFEFEF"/>
                </a:highlight>
                <a:latin typeface="Consolas"/>
                <a:ea typeface="Consolas"/>
                <a:cs typeface="Consolas"/>
                <a:sym typeface="Consolas"/>
              </a:rPr>
              <a:t>(</a:t>
            </a:r>
            <a:r>
              <a:rPr lang="en">
                <a:solidFill>
                  <a:schemeClr val="dk1"/>
                </a:solidFill>
                <a:highlight>
                  <a:srgbClr val="EFEFEF"/>
                </a:highlight>
                <a:latin typeface="Consolas"/>
                <a:ea typeface="Consolas"/>
                <a:cs typeface="Consolas"/>
                <a:sym typeface="Consolas"/>
              </a:rPr>
              <a:t>String</a:t>
            </a:r>
            <a:r>
              <a:rPr b="1" lang="en">
                <a:solidFill>
                  <a:srgbClr val="555555"/>
                </a:solidFill>
                <a:highlight>
                  <a:srgbClr val="EFEFEF"/>
                </a:highlight>
                <a:latin typeface="Consolas"/>
                <a:ea typeface="Consolas"/>
                <a:cs typeface="Consolas"/>
                <a:sym typeface="Consolas"/>
              </a:rPr>
              <a:t>[]</a:t>
            </a:r>
            <a:r>
              <a:rPr lang="en">
                <a:solidFill>
                  <a:schemeClr val="dk1"/>
                </a:solidFill>
                <a:highlight>
                  <a:srgbClr val="EFEFEF"/>
                </a:highlight>
                <a:latin typeface="Consolas"/>
                <a:ea typeface="Consolas"/>
                <a:cs typeface="Consolas"/>
                <a:sym typeface="Consolas"/>
              </a:rPr>
              <a:t> args</a:t>
            </a:r>
            <a:r>
              <a:rPr b="1" lang="en">
                <a:solidFill>
                  <a:srgbClr val="555555"/>
                </a:solidFill>
                <a:highlight>
                  <a:srgbClr val="EFEFEF"/>
                </a:highlight>
                <a:latin typeface="Consolas"/>
                <a:ea typeface="Consolas"/>
                <a:cs typeface="Consolas"/>
                <a:sym typeface="Consolas"/>
              </a:rPr>
              <a:t>) {</a:t>
            </a:r>
            <a:endParaRPr b="1">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EFEFEF"/>
                </a:highlight>
                <a:latin typeface="Consolas"/>
                <a:ea typeface="Consolas"/>
                <a:cs typeface="Consolas"/>
                <a:sym typeface="Consolas"/>
              </a:rPr>
              <a:t>   	System</a:t>
            </a:r>
            <a:r>
              <a:rPr b="1" lang="en">
                <a:solidFill>
                  <a:srgbClr val="555555"/>
                </a:solidFill>
                <a:highlight>
                  <a:srgbClr val="EFEFEF"/>
                </a:highlight>
                <a:latin typeface="Consolas"/>
                <a:ea typeface="Consolas"/>
                <a:cs typeface="Consolas"/>
                <a:sym typeface="Consolas"/>
              </a:rPr>
              <a:t>.</a:t>
            </a:r>
            <a:r>
              <a:rPr lang="en">
                <a:solidFill>
                  <a:schemeClr val="dk1"/>
                </a:solidFill>
                <a:highlight>
                  <a:srgbClr val="EFEFEF"/>
                </a:highlight>
                <a:latin typeface="Consolas"/>
                <a:ea typeface="Consolas"/>
                <a:cs typeface="Consolas"/>
                <a:sym typeface="Consolas"/>
              </a:rPr>
              <a:t>out</a:t>
            </a:r>
            <a:r>
              <a:rPr b="1" lang="en">
                <a:solidFill>
                  <a:srgbClr val="555555"/>
                </a:solidFill>
                <a:highlight>
                  <a:srgbClr val="EFEFEF"/>
                </a:highlight>
                <a:latin typeface="Consolas"/>
                <a:ea typeface="Consolas"/>
                <a:cs typeface="Consolas"/>
                <a:sym typeface="Consolas"/>
              </a:rPr>
              <a:t>.</a:t>
            </a:r>
            <a:r>
              <a:rPr lang="en">
                <a:solidFill>
                  <a:srgbClr val="004466"/>
                </a:solidFill>
                <a:highlight>
                  <a:srgbClr val="EFEFEF"/>
                </a:highlight>
                <a:latin typeface="Consolas"/>
                <a:ea typeface="Consolas"/>
                <a:cs typeface="Consolas"/>
                <a:sym typeface="Consolas"/>
              </a:rPr>
              <a:t>println</a:t>
            </a:r>
            <a:r>
              <a:rPr b="1" lang="en">
                <a:solidFill>
                  <a:srgbClr val="555555"/>
                </a:solidFill>
                <a:highlight>
                  <a:srgbClr val="EFEFEF"/>
                </a:highlight>
                <a:latin typeface="Consolas"/>
                <a:ea typeface="Consolas"/>
                <a:cs typeface="Consolas"/>
                <a:sym typeface="Consolas"/>
              </a:rPr>
              <a:t>(</a:t>
            </a:r>
            <a:r>
              <a:rPr lang="en">
                <a:solidFill>
                  <a:srgbClr val="AA4400"/>
                </a:solidFill>
                <a:highlight>
                  <a:srgbClr val="EFEFEF"/>
                </a:highlight>
                <a:latin typeface="Consolas"/>
                <a:ea typeface="Consolas"/>
                <a:cs typeface="Consolas"/>
                <a:sym typeface="Consolas"/>
              </a:rPr>
              <a:t>"Hello World!"</a:t>
            </a:r>
            <a:r>
              <a:rPr b="1" lang="en">
                <a:solidFill>
                  <a:srgbClr val="555555"/>
                </a:solidFill>
                <a:highlight>
                  <a:srgbClr val="EFEFEF"/>
                </a:highlight>
                <a:latin typeface="Consolas"/>
                <a:ea typeface="Consolas"/>
                <a:cs typeface="Consolas"/>
                <a:sym typeface="Consolas"/>
              </a:rPr>
              <a:t>);</a:t>
            </a:r>
            <a:endParaRPr b="1">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EFEFEF"/>
                </a:highlight>
                <a:latin typeface="Consolas"/>
                <a:ea typeface="Consolas"/>
                <a:cs typeface="Consolas"/>
                <a:sym typeface="Consolas"/>
              </a:rPr>
              <a:t>   </a:t>
            </a:r>
            <a:r>
              <a:rPr b="1" lang="en">
                <a:solidFill>
                  <a:srgbClr val="555555"/>
                </a:solidFill>
                <a:highlight>
                  <a:srgbClr val="EFEFEF"/>
                </a:highlight>
                <a:latin typeface="Consolas"/>
                <a:ea typeface="Consolas"/>
                <a:cs typeface="Consolas"/>
                <a:sym typeface="Consolas"/>
              </a:rPr>
              <a:t>}</a:t>
            </a:r>
            <a:endParaRPr b="1">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a:solidFill>
                  <a:srgbClr val="555555"/>
                </a:solidFill>
                <a:highlight>
                  <a:srgbClr val="EFEFEF"/>
                </a:highlight>
                <a:latin typeface="Consolas"/>
                <a:ea typeface="Consolas"/>
                <a:cs typeface="Consolas"/>
                <a:sym typeface="Consolas"/>
              </a:rPr>
              <a:t>}</a:t>
            </a:r>
            <a:endParaRPr>
              <a:highlight>
                <a:srgbClr val="EFEFEF"/>
              </a:highlight>
            </a:endParaRPr>
          </a:p>
        </p:txBody>
      </p:sp>
      <p:grpSp>
        <p:nvGrpSpPr>
          <p:cNvPr id="470" name="Google Shape;470;p53"/>
          <p:cNvGrpSpPr/>
          <p:nvPr/>
        </p:nvGrpSpPr>
        <p:grpSpPr>
          <a:xfrm>
            <a:off x="5325525" y="3121000"/>
            <a:ext cx="3411900" cy="1886600"/>
            <a:chOff x="5325525" y="3121000"/>
            <a:chExt cx="3411900" cy="1886600"/>
          </a:xfrm>
        </p:grpSpPr>
        <p:sp>
          <p:nvSpPr>
            <p:cNvPr id="471" name="Google Shape;471;p53"/>
            <p:cNvSpPr txBox="1"/>
            <p:nvPr/>
          </p:nvSpPr>
          <p:spPr>
            <a:xfrm>
              <a:off x="5325525" y="3121000"/>
              <a:ext cx="3411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110011011001100110111000110010001011100100111010001010101101101010111000111100101101101101111100110111011010111011010000100001100001100000101010110001010100010</a:t>
              </a:r>
              <a:endParaRPr>
                <a:latin typeface="Consolas"/>
                <a:ea typeface="Consolas"/>
                <a:cs typeface="Consolas"/>
                <a:sym typeface="Consolas"/>
              </a:endParaRPr>
            </a:p>
          </p:txBody>
        </p:sp>
        <p:sp>
          <p:nvSpPr>
            <p:cNvPr id="472" name="Google Shape;472;p53"/>
            <p:cNvSpPr txBox="1"/>
            <p:nvPr/>
          </p:nvSpPr>
          <p:spPr>
            <a:xfrm>
              <a:off x="5943225" y="4392000"/>
              <a:ext cx="217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66ccdc645c9d156d5c796dbe6ed768430c1562a2</a:t>
              </a:r>
              <a:endParaRPr/>
            </a:p>
          </p:txBody>
        </p:sp>
      </p:grpSp>
      <p:sp>
        <p:nvSpPr>
          <p:cNvPr id="473" name="Google Shape;473;p53"/>
          <p:cNvSpPr txBox="1"/>
          <p:nvPr/>
        </p:nvSpPr>
        <p:spPr>
          <a:xfrm>
            <a:off x="293225" y="4550375"/>
            <a:ext cx="471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The git-SHA1 hash is the </a:t>
            </a:r>
            <a:r>
              <a:rPr lang="en" u="sng">
                <a:solidFill>
                  <a:schemeClr val="hlink"/>
                </a:solidFill>
                <a:hlinkClick r:id="rId3"/>
              </a:rPr>
              <a:t>SHA1</a:t>
            </a:r>
            <a:r>
              <a:rPr lang="en"/>
              <a:t> hash of (file size + a zero + the file contents).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Effect filter="fade" transition="in">
                                      <p:cBhvr>
                                        <p:cTn dur="1"/>
                                        <p:tgtEl>
                                          <p:spTgt spid="4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Effect filter="fade" transition="in">
                                      <p:cBhvr>
                                        <p:cTn dur="1"/>
                                        <p:tgtEl>
                                          <p:spTgt spid="4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Effect filter="fade" transition="in">
                                      <p:cBhvr>
                                        <p:cTn dur="1"/>
                                        <p:tgtEl>
                                          <p:spTgt spid="4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3" st="3"/>
                                            </p:txEl>
                                          </p:spTgt>
                                        </p:tgtEl>
                                        <p:attrNameLst>
                                          <p:attrName>style.visibility</p:attrName>
                                        </p:attrNameLst>
                                      </p:cBhvr>
                                      <p:to>
                                        <p:strVal val="visible"/>
                                      </p:to>
                                    </p:set>
                                    <p:animEffect filter="fade" transition="in">
                                      <p:cBhvr>
                                        <p:cTn dur="1"/>
                                        <p:tgtEl>
                                          <p:spTgt spid="4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4" st="4"/>
                                            </p:txEl>
                                          </p:spTgt>
                                        </p:tgtEl>
                                        <p:attrNameLst>
                                          <p:attrName>style.visibility</p:attrName>
                                        </p:attrNameLst>
                                      </p:cBhvr>
                                      <p:to>
                                        <p:strVal val="visible"/>
                                      </p:to>
                                    </p:set>
                                    <p:animEffect filter="fade" transition="in">
                                      <p:cBhvr>
                                        <p:cTn dur="1"/>
                                        <p:tgtEl>
                                          <p:spTgt spid="4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Using the git-SHA1 Hash</a:t>
            </a:r>
            <a:endParaRPr/>
          </a:p>
        </p:txBody>
      </p:sp>
      <p:sp>
        <p:nvSpPr>
          <p:cNvPr id="479" name="Google Shape;479;p5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Example of how git uses the git-SHA1 hash to store HelloWorld.java</a:t>
            </a:r>
            <a:endParaRPr/>
          </a:p>
          <a:p>
            <a:pPr indent="-355600" lvl="0" marL="457200" rtl="0" algn="l">
              <a:spcBef>
                <a:spcPts val="600"/>
              </a:spcBef>
              <a:spcAft>
                <a:spcPts val="0"/>
              </a:spcAft>
              <a:buSzPts val="2000"/>
              <a:buChar char="●"/>
            </a:pPr>
            <a:r>
              <a:rPr lang="en"/>
              <a:t>First, git computes the git-SHA1 hash:</a:t>
            </a:r>
            <a:endParaRPr/>
          </a:p>
          <a:p>
            <a:pPr indent="-355600" lvl="1" marL="914400" rtl="0" algn="l">
              <a:spcBef>
                <a:spcPts val="0"/>
              </a:spcBef>
              <a:spcAft>
                <a:spcPts val="0"/>
              </a:spcAft>
              <a:buSzPts val="2000"/>
              <a:buChar char="○"/>
            </a:pPr>
            <a:r>
              <a:rPr lang="en"/>
              <a:t>HelloWorld.java → 66ccdc645c9d156d5c796dbe6ed768430c1562a2</a:t>
            </a:r>
            <a:endParaRPr/>
          </a:p>
          <a:p>
            <a:pPr indent="-355600" lvl="0" marL="457200" rtl="0" algn="l">
              <a:spcBef>
                <a:spcPts val="0"/>
              </a:spcBef>
              <a:spcAft>
                <a:spcPts val="0"/>
              </a:spcAft>
              <a:buSzPts val="2000"/>
              <a:buChar char="●"/>
            </a:pPr>
            <a:r>
              <a:rPr lang="en"/>
              <a:t>Git creates a folder called .git/objects/66</a:t>
            </a:r>
            <a:endParaRPr/>
          </a:p>
          <a:p>
            <a:pPr indent="-355600" lvl="1" marL="914400" rtl="0" algn="l">
              <a:spcBef>
                <a:spcPts val="0"/>
              </a:spcBef>
              <a:spcAft>
                <a:spcPts val="0"/>
              </a:spcAft>
              <a:buSzPts val="2000"/>
              <a:buChar char="○"/>
            </a:pPr>
            <a:r>
              <a:rPr lang="en"/>
              <a:t>The 66 is the first two characters of the git-SHA1 hash.</a:t>
            </a:r>
            <a:endParaRPr/>
          </a:p>
          <a:p>
            <a:pPr indent="-355600" lvl="0" marL="457200" rtl="0" algn="l">
              <a:spcBef>
                <a:spcPts val="0"/>
              </a:spcBef>
              <a:spcAft>
                <a:spcPts val="0"/>
              </a:spcAft>
              <a:buSzPts val="2000"/>
              <a:buChar char="●"/>
            </a:pPr>
            <a:r>
              <a:rPr lang="en"/>
              <a:t>Git stores the contents in a file called ccdc645c9d156d5c796dbe6ed768430c1562a2.</a:t>
            </a:r>
            <a:endParaRPr/>
          </a:p>
          <a:p>
            <a:pPr indent="-355600" lvl="1" marL="914400" rtl="0" algn="l">
              <a:spcBef>
                <a:spcPts val="0"/>
              </a:spcBef>
              <a:spcAft>
                <a:spcPts val="0"/>
              </a:spcAft>
              <a:buSzPts val="2000"/>
              <a:buChar char="○"/>
            </a:pPr>
            <a:r>
              <a:rPr lang="en"/>
              <a:t>File is stored in a compressed format (zlib) to save space.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try it out!</a:t>
            </a:r>
            <a:br>
              <a:rPr lang="en"/>
            </a:br>
            <a:endParaRPr/>
          </a:p>
          <a:p>
            <a:pPr indent="0" lvl="0" marL="0" rtl="0" algn="l">
              <a:spcBef>
                <a:spcPts val="600"/>
              </a:spcBef>
              <a:spcAft>
                <a:spcPts val="0"/>
              </a:spcAft>
              <a:buNone/>
            </a:pPr>
            <a:br>
              <a:rPr lang="en"/>
            </a:b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0" st="0"/>
                                            </p:txEl>
                                          </p:spTgt>
                                        </p:tgtEl>
                                        <p:attrNameLst>
                                          <p:attrName>style.visibility</p:attrName>
                                        </p:attrNameLst>
                                      </p:cBhvr>
                                      <p:to>
                                        <p:strVal val="visible"/>
                                      </p:to>
                                    </p:set>
                                    <p:animEffect filter="fade" transition="in">
                                      <p:cBhvr>
                                        <p:cTn dur="1"/>
                                        <p:tgtEl>
                                          <p:spTgt spid="4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1" st="1"/>
                                            </p:txEl>
                                          </p:spTgt>
                                        </p:tgtEl>
                                        <p:attrNameLst>
                                          <p:attrName>style.visibility</p:attrName>
                                        </p:attrNameLst>
                                      </p:cBhvr>
                                      <p:to>
                                        <p:strVal val="visible"/>
                                      </p:to>
                                    </p:set>
                                    <p:animEffect filter="fade" transition="in">
                                      <p:cBhvr>
                                        <p:cTn dur="1"/>
                                        <p:tgtEl>
                                          <p:spTgt spid="4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2" st="2"/>
                                            </p:txEl>
                                          </p:spTgt>
                                        </p:tgtEl>
                                        <p:attrNameLst>
                                          <p:attrName>style.visibility</p:attrName>
                                        </p:attrNameLst>
                                      </p:cBhvr>
                                      <p:to>
                                        <p:strVal val="visible"/>
                                      </p:to>
                                    </p:set>
                                    <p:animEffect filter="fade" transition="in">
                                      <p:cBhvr>
                                        <p:cTn dur="1"/>
                                        <p:tgtEl>
                                          <p:spTgt spid="4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3" st="3"/>
                                            </p:txEl>
                                          </p:spTgt>
                                        </p:tgtEl>
                                        <p:attrNameLst>
                                          <p:attrName>style.visibility</p:attrName>
                                        </p:attrNameLst>
                                      </p:cBhvr>
                                      <p:to>
                                        <p:strVal val="visible"/>
                                      </p:to>
                                    </p:set>
                                    <p:animEffect filter="fade" transition="in">
                                      <p:cBhvr>
                                        <p:cTn dur="1"/>
                                        <p:tgtEl>
                                          <p:spTgt spid="4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4" st="4"/>
                                            </p:txEl>
                                          </p:spTgt>
                                        </p:tgtEl>
                                        <p:attrNameLst>
                                          <p:attrName>style.visibility</p:attrName>
                                        </p:attrNameLst>
                                      </p:cBhvr>
                                      <p:to>
                                        <p:strVal val="visible"/>
                                      </p:to>
                                    </p:set>
                                    <p:animEffect filter="fade" transition="in">
                                      <p:cBhvr>
                                        <p:cTn dur="1"/>
                                        <p:tgtEl>
                                          <p:spTgt spid="4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5" st="5"/>
                                            </p:txEl>
                                          </p:spTgt>
                                        </p:tgtEl>
                                        <p:attrNameLst>
                                          <p:attrName>style.visibility</p:attrName>
                                        </p:attrNameLst>
                                      </p:cBhvr>
                                      <p:to>
                                        <p:strVal val="visible"/>
                                      </p:to>
                                    </p:set>
                                    <p:animEffect filter="fade" transition="in">
                                      <p:cBhvr>
                                        <p:cTn dur="1"/>
                                        <p:tgtEl>
                                          <p:spTgt spid="4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6" st="6"/>
                                            </p:txEl>
                                          </p:spTgt>
                                        </p:tgtEl>
                                        <p:attrNameLst>
                                          <p:attrName>style.visibility</p:attrName>
                                        </p:attrNameLst>
                                      </p:cBhvr>
                                      <p:to>
                                        <p:strVal val="visible"/>
                                      </p:to>
                                    </p:set>
                                    <p:animEffect filter="fade" transition="in">
                                      <p:cBhvr>
                                        <p:cTn dur="1"/>
                                        <p:tgtEl>
                                          <p:spTgt spid="4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7" st="7"/>
                                            </p:txEl>
                                          </p:spTgt>
                                        </p:tgtEl>
                                        <p:attrNameLst>
                                          <p:attrName>style.visibility</p:attrName>
                                        </p:attrNameLst>
                                      </p:cBhvr>
                                      <p:to>
                                        <p:strVal val="visible"/>
                                      </p:to>
                                    </p:set>
                                    <p:animEffect filter="fade" transition="in">
                                      <p:cBhvr>
                                        <p:cTn dur="1"/>
                                        <p:tgtEl>
                                          <p:spTgt spid="4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8" st="8"/>
                                            </p:txEl>
                                          </p:spTgt>
                                        </p:tgtEl>
                                        <p:attrNameLst>
                                          <p:attrName>style.visibility</p:attrName>
                                        </p:attrNameLst>
                                      </p:cBhvr>
                                      <p:to>
                                        <p:strVal val="visible"/>
                                      </p:to>
                                    </p:set>
                                    <p:animEffect filter="fade" transition="in">
                                      <p:cBhvr>
                                        <p:cTn dur="1"/>
                                        <p:tgtEl>
                                          <p:spTgt spid="4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xEl>
                                              <p:pRg end="9" st="9"/>
                                            </p:txEl>
                                          </p:spTgt>
                                        </p:tgtEl>
                                        <p:attrNameLst>
                                          <p:attrName>style.visibility</p:attrName>
                                        </p:attrNameLst>
                                      </p:cBhvr>
                                      <p:to>
                                        <p:strVal val="visible"/>
                                      </p:to>
                                    </p:set>
                                    <p:animEffect filter="fade" transition="in">
                                      <p:cBhvr>
                                        <p:cTn dur="1"/>
                                        <p:tgtEl>
                                          <p:spTgt spid="47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Comparison</a:t>
            </a:r>
            <a:endParaRPr/>
          </a:p>
        </p:txBody>
      </p:sp>
      <p:graphicFrame>
        <p:nvGraphicFramePr>
          <p:cNvPr id="485" name="Google Shape;485;p55"/>
          <p:cNvGraphicFramePr/>
          <p:nvPr/>
        </p:nvGraphicFramePr>
        <p:xfrm>
          <a:off x="892950" y="771400"/>
          <a:ext cx="3000000" cy="3000000"/>
        </p:xfrm>
        <a:graphic>
          <a:graphicData uri="http://schemas.openxmlformats.org/drawingml/2006/table">
            <a:tbl>
              <a:tblPr>
                <a:noFill/>
                <a:tableStyleId>{668642FE-7727-4FEA-9526-ECA1DE7D7A91}</a:tableStyleId>
              </a:tblPr>
              <a:tblGrid>
                <a:gridCol w="1778200"/>
                <a:gridCol w="3422275"/>
                <a:gridCol w="2639000"/>
              </a:tblGrid>
              <a:tr h="609575">
                <a:tc>
                  <a:txBody>
                    <a:bodyPr/>
                    <a:lstStyle/>
                    <a:p>
                      <a:pPr indent="0" lvl="0" marL="0" rtl="0" algn="l">
                        <a:spcBef>
                          <a:spcPts val="0"/>
                        </a:spcBef>
                        <a:spcAft>
                          <a:spcPts val="0"/>
                        </a:spcAft>
                        <a:buNone/>
                      </a:pPr>
                      <a:r>
                        <a:rPr lang="en"/>
                        <a:t>Approach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Information to use as file version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Downside</a:t>
                      </a:r>
                      <a:endParaRPr/>
                    </a:p>
                  </a:txBody>
                  <a:tcPr marT="91425" marB="91425" marR="91425" marL="91425">
                    <a:solidFill>
                      <a:srgbClr val="FFFFFF"/>
                    </a:solidFill>
                  </a:tcPr>
                </a:tc>
              </a:tr>
              <a:tr h="822925">
                <a:tc>
                  <a:txBody>
                    <a:bodyPr/>
                    <a:lstStyle/>
                    <a:p>
                      <a:pPr indent="0" lvl="0" marL="0" rtl="0" algn="l">
                        <a:spcBef>
                          <a:spcPts val="0"/>
                        </a:spcBef>
                        <a:spcAft>
                          <a:spcPts val="0"/>
                        </a:spcAft>
                        <a:buNone/>
                      </a:pPr>
                      <a:r>
                        <a:rPr lang="en"/>
                        <a:t>1, 2, and 3</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Commit ID (that goes up by 1) that includes the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No central server to decide which commit is “next” if people are working offline.</a:t>
                      </a:r>
                      <a:endParaRPr/>
                    </a:p>
                  </a:txBody>
                  <a:tcPr marT="91425" marB="91425" marR="91425" marL="91425">
                    <a:solidFill>
                      <a:srgbClr val="FFFFFF"/>
                    </a:solidFill>
                  </a:tcPr>
                </a:tc>
              </a:tr>
              <a:tr h="609575">
                <a:tc>
                  <a:txBody>
                    <a:bodyPr/>
                    <a:lstStyle/>
                    <a:p>
                      <a:pPr indent="0" lvl="0" marL="0" rtl="0" algn="l">
                        <a:spcBef>
                          <a:spcPts val="0"/>
                        </a:spcBef>
                        <a:spcAft>
                          <a:spcPts val="0"/>
                        </a:spcAft>
                        <a:buNone/>
                      </a:pPr>
                      <a:r>
                        <a:rPr lang="en"/>
                        <a:t>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Date and time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Awkward to deal with simultaneous file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 as elegant as SHA1-hash.</a:t>
                      </a:r>
                      <a:endParaRPr/>
                    </a:p>
                  </a:txBody>
                  <a:tcPr marT="91425" marB="91425" marR="91425" marL="91425">
                    <a:solidFill>
                      <a:srgbClr val="FFFFFF"/>
                    </a:solidFill>
                  </a:tcPr>
                </a:tc>
              </a:tr>
              <a:tr h="396200">
                <a:tc>
                  <a:txBody>
                    <a:bodyPr/>
                    <a:lstStyle/>
                    <a:p>
                      <a:pPr indent="0" lvl="0" marL="0" rtl="0" algn="l">
                        <a:spcBef>
                          <a:spcPts val="0"/>
                        </a:spcBef>
                        <a:spcAft>
                          <a:spcPts val="0"/>
                        </a:spcAft>
                        <a:buNone/>
                      </a:pPr>
                      <a:r>
                        <a:rPr lang="en"/>
                        <a:t>5</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git-SHA1 hash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89" name="Shape 489"/>
        <p:cNvGrpSpPr/>
        <p:nvPr/>
      </p:nvGrpSpPr>
      <p:grpSpPr>
        <a:xfrm>
          <a:off x="0" y="0"/>
          <a:ext cx="0" cy="0"/>
          <a:chOff x="0" y="0"/>
          <a:chExt cx="0" cy="0"/>
        </a:xfrm>
      </p:grpSpPr>
      <p:sp>
        <p:nvSpPr>
          <p:cNvPr id="490" name="Google Shape;490;p5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Comparison</a:t>
            </a:r>
            <a:endParaRPr/>
          </a:p>
        </p:txBody>
      </p:sp>
      <p:sp>
        <p:nvSpPr>
          <p:cNvPr id="491" name="Google Shape;491;p56"/>
          <p:cNvSpPr txBox="1"/>
          <p:nvPr>
            <p:ph idx="1" type="body"/>
          </p:nvPr>
        </p:nvSpPr>
        <p:spPr>
          <a:xfrm>
            <a:off x="243000" y="3502225"/>
            <a:ext cx="8443800" cy="120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Can you think of something that could go wrong in approach 5?</a:t>
            </a:r>
            <a:endParaRPr/>
          </a:p>
        </p:txBody>
      </p:sp>
      <p:graphicFrame>
        <p:nvGraphicFramePr>
          <p:cNvPr id="492" name="Google Shape;492;p56"/>
          <p:cNvGraphicFramePr/>
          <p:nvPr/>
        </p:nvGraphicFramePr>
        <p:xfrm>
          <a:off x="892950" y="771400"/>
          <a:ext cx="3000000" cy="3000000"/>
        </p:xfrm>
        <a:graphic>
          <a:graphicData uri="http://schemas.openxmlformats.org/drawingml/2006/table">
            <a:tbl>
              <a:tblPr>
                <a:noFill/>
                <a:tableStyleId>{668642FE-7727-4FEA-9526-ECA1DE7D7A91}</a:tableStyleId>
              </a:tblPr>
              <a:tblGrid>
                <a:gridCol w="1778200"/>
                <a:gridCol w="3422275"/>
                <a:gridCol w="2639000"/>
              </a:tblGrid>
              <a:tr h="609575">
                <a:tc>
                  <a:txBody>
                    <a:bodyPr/>
                    <a:lstStyle/>
                    <a:p>
                      <a:pPr indent="0" lvl="0" marL="0" rtl="0" algn="l">
                        <a:spcBef>
                          <a:spcPts val="0"/>
                        </a:spcBef>
                        <a:spcAft>
                          <a:spcPts val="0"/>
                        </a:spcAft>
                        <a:buNone/>
                      </a:pPr>
                      <a:r>
                        <a:rPr lang="en"/>
                        <a:t>Approach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Information to use as file version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Downside</a:t>
                      </a:r>
                      <a:endParaRPr/>
                    </a:p>
                  </a:txBody>
                  <a:tcPr marT="91425" marB="91425" marR="91425" marL="91425">
                    <a:solidFill>
                      <a:srgbClr val="FFFFFF"/>
                    </a:solidFill>
                  </a:tcPr>
                </a:tc>
              </a:tr>
              <a:tr h="822925">
                <a:tc>
                  <a:txBody>
                    <a:bodyPr/>
                    <a:lstStyle/>
                    <a:p>
                      <a:pPr indent="0" lvl="0" marL="0" rtl="0" algn="l">
                        <a:spcBef>
                          <a:spcPts val="0"/>
                        </a:spcBef>
                        <a:spcAft>
                          <a:spcPts val="0"/>
                        </a:spcAft>
                        <a:buNone/>
                      </a:pPr>
                      <a:r>
                        <a:rPr lang="en"/>
                        <a:t>1, 2, and 3</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Commit ID (that goes up by 1) that includes the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No central server to decide which commit is “next” if people are working offline.</a:t>
                      </a:r>
                      <a:endParaRPr/>
                    </a:p>
                  </a:txBody>
                  <a:tcPr marT="91425" marB="91425" marR="91425" marL="91425">
                    <a:solidFill>
                      <a:srgbClr val="FFFFFF"/>
                    </a:solidFill>
                  </a:tcPr>
                </a:tc>
              </a:tr>
              <a:tr h="609575">
                <a:tc>
                  <a:txBody>
                    <a:bodyPr/>
                    <a:lstStyle/>
                    <a:p>
                      <a:pPr indent="0" lvl="0" marL="0" rtl="0" algn="l">
                        <a:spcBef>
                          <a:spcPts val="0"/>
                        </a:spcBef>
                        <a:spcAft>
                          <a:spcPts val="0"/>
                        </a:spcAft>
                        <a:buNone/>
                      </a:pPr>
                      <a:r>
                        <a:rPr lang="en"/>
                        <a:t>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Date and time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Awkward to deal with simultaneous file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 as elegant as SHA1-hash.</a:t>
                      </a:r>
                      <a:endParaRPr/>
                    </a:p>
                  </a:txBody>
                  <a:tcPr marT="91425" marB="91425" marR="91425" marL="91425">
                    <a:solidFill>
                      <a:srgbClr val="FFFFFF"/>
                    </a:solidFill>
                  </a:tcPr>
                </a:tc>
              </a:tr>
              <a:tr h="396200">
                <a:tc>
                  <a:txBody>
                    <a:bodyPr/>
                    <a:lstStyle/>
                    <a:p>
                      <a:pPr indent="0" lvl="0" marL="0" rtl="0" algn="l">
                        <a:spcBef>
                          <a:spcPts val="0"/>
                        </a:spcBef>
                        <a:spcAft>
                          <a:spcPts val="0"/>
                        </a:spcAft>
                        <a:buNone/>
                      </a:pPr>
                      <a:r>
                        <a:rPr lang="en"/>
                        <a:t>5</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git-SHA1 hash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5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Comparison</a:t>
            </a:r>
            <a:endParaRPr/>
          </a:p>
        </p:txBody>
      </p:sp>
      <p:sp>
        <p:nvSpPr>
          <p:cNvPr id="498" name="Google Shape;498;p57"/>
          <p:cNvSpPr txBox="1"/>
          <p:nvPr>
            <p:ph idx="1" type="body"/>
          </p:nvPr>
        </p:nvSpPr>
        <p:spPr>
          <a:xfrm>
            <a:off x="243000" y="3502225"/>
            <a:ext cx="8443800" cy="120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Can you think of something that could go wrong in approach 5?</a:t>
            </a:r>
            <a:endParaRPr/>
          </a:p>
          <a:p>
            <a:pPr indent="-355600" lvl="0" marL="457200" rtl="0" algn="l">
              <a:spcBef>
                <a:spcPts val="600"/>
              </a:spcBef>
              <a:spcAft>
                <a:spcPts val="0"/>
              </a:spcAft>
              <a:buSzPts val="2000"/>
              <a:buChar char="●"/>
            </a:pPr>
            <a:r>
              <a:rPr lang="en"/>
              <a:t>git-SHA1 hash is only 160 bits. Infinite number of possible files, but only finite number of git-SHA1 hashes. Some files must have same git-SHA1 hash.</a:t>
            </a:r>
            <a:endParaRPr/>
          </a:p>
        </p:txBody>
      </p:sp>
      <p:graphicFrame>
        <p:nvGraphicFramePr>
          <p:cNvPr id="499" name="Google Shape;499;p57"/>
          <p:cNvGraphicFramePr/>
          <p:nvPr/>
        </p:nvGraphicFramePr>
        <p:xfrm>
          <a:off x="892950" y="771400"/>
          <a:ext cx="3000000" cy="3000000"/>
        </p:xfrm>
        <a:graphic>
          <a:graphicData uri="http://schemas.openxmlformats.org/drawingml/2006/table">
            <a:tbl>
              <a:tblPr>
                <a:noFill/>
                <a:tableStyleId>{668642FE-7727-4FEA-9526-ECA1DE7D7A91}</a:tableStyleId>
              </a:tblPr>
              <a:tblGrid>
                <a:gridCol w="1778200"/>
                <a:gridCol w="3422275"/>
                <a:gridCol w="2639000"/>
              </a:tblGrid>
              <a:tr h="609575">
                <a:tc>
                  <a:txBody>
                    <a:bodyPr/>
                    <a:lstStyle/>
                    <a:p>
                      <a:pPr indent="0" lvl="0" marL="0" rtl="0" algn="l">
                        <a:spcBef>
                          <a:spcPts val="0"/>
                        </a:spcBef>
                        <a:spcAft>
                          <a:spcPts val="0"/>
                        </a:spcAft>
                        <a:buNone/>
                      </a:pPr>
                      <a:r>
                        <a:rPr lang="en"/>
                        <a:t>Approach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Information to use as file version number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Downside</a:t>
                      </a:r>
                      <a:endParaRPr/>
                    </a:p>
                  </a:txBody>
                  <a:tcPr marT="91425" marB="91425" marR="91425" marL="91425">
                    <a:solidFill>
                      <a:srgbClr val="FFFFFF"/>
                    </a:solidFill>
                  </a:tcPr>
                </a:tc>
              </a:tr>
              <a:tr h="822925">
                <a:tc>
                  <a:txBody>
                    <a:bodyPr/>
                    <a:lstStyle/>
                    <a:p>
                      <a:pPr indent="0" lvl="0" marL="0" rtl="0" algn="l">
                        <a:spcBef>
                          <a:spcPts val="0"/>
                        </a:spcBef>
                        <a:spcAft>
                          <a:spcPts val="0"/>
                        </a:spcAft>
                        <a:buNone/>
                      </a:pPr>
                      <a:r>
                        <a:rPr lang="en"/>
                        <a:t>1, 2, and 3</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Commit ID (that goes up by 1) that includes the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No central server to decide which commit is “next” if people are working offline.</a:t>
                      </a:r>
                      <a:endParaRPr/>
                    </a:p>
                  </a:txBody>
                  <a:tcPr marT="91425" marB="91425" marR="91425" marL="91425">
                    <a:solidFill>
                      <a:srgbClr val="FFFFFF"/>
                    </a:solidFill>
                  </a:tcPr>
                </a:tc>
              </a:tr>
              <a:tr h="609575">
                <a:tc>
                  <a:txBody>
                    <a:bodyPr/>
                    <a:lstStyle/>
                    <a:p>
                      <a:pPr indent="0" lvl="0" marL="0" rtl="0" algn="l">
                        <a:spcBef>
                          <a:spcPts val="0"/>
                        </a:spcBef>
                        <a:spcAft>
                          <a:spcPts val="0"/>
                        </a:spcAft>
                        <a:buNone/>
                      </a:pPr>
                      <a:r>
                        <a:rPr lang="en"/>
                        <a:t>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Date and time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Awkward to deal with simultaneous file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 as elegant as SHA1-hash.</a:t>
                      </a:r>
                      <a:endParaRPr/>
                    </a:p>
                  </a:txBody>
                  <a:tcPr marT="91425" marB="91425" marR="91425" marL="91425">
                    <a:solidFill>
                      <a:srgbClr val="FFFFFF"/>
                    </a:solidFill>
                  </a:tcPr>
                </a:tc>
              </a:tr>
              <a:tr h="396200">
                <a:tc>
                  <a:txBody>
                    <a:bodyPr/>
                    <a:lstStyle/>
                    <a:p>
                      <a:pPr indent="0" lvl="0" marL="0" rtl="0" algn="l">
                        <a:spcBef>
                          <a:spcPts val="0"/>
                        </a:spcBef>
                        <a:spcAft>
                          <a:spcPts val="0"/>
                        </a:spcAft>
                        <a:buNone/>
                      </a:pPr>
                      <a:r>
                        <a:rPr lang="en"/>
                        <a:t>5</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git-SHA1 hash of file.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5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SHA1-Hash</a:t>
            </a:r>
            <a:endParaRPr/>
          </a:p>
        </p:txBody>
      </p:sp>
      <p:sp>
        <p:nvSpPr>
          <p:cNvPr id="505" name="Google Shape;505;p58"/>
          <p:cNvSpPr txBox="1"/>
          <p:nvPr>
            <p:ph idx="1" type="body"/>
          </p:nvPr>
        </p:nvSpPr>
        <p:spPr>
          <a:xfrm>
            <a:off x="243000" y="556500"/>
            <a:ext cx="88356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Good news: The chance that two files have the same SHA hash is 1 / 2</a:t>
            </a:r>
            <a:r>
              <a:rPr baseline="30000" lang="en"/>
              <a:t>160</a:t>
            </a:r>
            <a:r>
              <a:rPr lang="en"/>
              <a:t> or roughly 1 / 10</a:t>
            </a:r>
            <a:r>
              <a:rPr baseline="30000" lang="en"/>
              <a:t>37</a:t>
            </a:r>
            <a:r>
              <a:rPr lang="en"/>
              <a:t>.</a:t>
            </a:r>
            <a:endParaRPr/>
          </a:p>
          <a:p>
            <a:pPr indent="-355600" lvl="0" marL="457200" rtl="0" algn="l">
              <a:spcBef>
                <a:spcPts val="600"/>
              </a:spcBef>
              <a:spcAft>
                <a:spcPts val="0"/>
              </a:spcAft>
              <a:buSzPts val="2000"/>
              <a:buChar char="●"/>
            </a:pPr>
            <a:r>
              <a:rPr lang="en"/>
              <a:t>Would need roughly 2^80 files before we expect to see two files with the same SHA hash (see CS70). </a:t>
            </a:r>
            <a:endParaRPr/>
          </a:p>
          <a:p>
            <a:pPr indent="-355600" lvl="0" marL="457200" rtl="0" algn="l">
              <a:spcBef>
                <a:spcPts val="0"/>
              </a:spcBef>
              <a:spcAft>
                <a:spcPts val="0"/>
              </a:spcAft>
              <a:buSzPts val="2000"/>
              <a:buChar char="●"/>
            </a:pPr>
            <a:r>
              <a:rPr lang="en"/>
              <a:t>2^80 is 1,208,925,819,614,629,174,706,176 files.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other words, git has a “bug”, but it is unlikely to ever occur in the history of the universe.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Added Benefit of SHA1-Hashing: Security</a:t>
            </a:r>
            <a:endParaRPr/>
          </a:p>
        </p:txBody>
      </p:sp>
      <p:sp>
        <p:nvSpPr>
          <p:cNvPr id="511" name="Google Shape;511;p5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Git uses the git-SHA1 hash to verify file integrity.</a:t>
            </a:r>
            <a:endParaRPr/>
          </a:p>
          <a:p>
            <a:pPr indent="-355600" lvl="0" marL="457200" rtl="0" algn="l">
              <a:spcBef>
                <a:spcPts val="600"/>
              </a:spcBef>
              <a:spcAft>
                <a:spcPts val="0"/>
              </a:spcAft>
              <a:buSzPts val="2000"/>
              <a:buChar char="●"/>
            </a:pPr>
            <a:r>
              <a:rPr lang="en"/>
              <a:t>Hard to sneak in a security vulnerability into a git repository.</a:t>
            </a:r>
            <a:endParaRPr/>
          </a:p>
          <a:p>
            <a:pPr indent="-355600" lvl="0" marL="457200" rtl="0" algn="l">
              <a:spcBef>
                <a:spcPts val="0"/>
              </a:spcBef>
              <a:spcAft>
                <a:spcPts val="0"/>
              </a:spcAft>
              <a:buSzPts val="2000"/>
              <a:buChar char="●"/>
            </a:pPr>
            <a:r>
              <a:rPr lang="en"/>
              <a:t>Suppose we have ImportantCode.java whose git-SHA1 hash is ee380e192bb631b585652001d909de8905df0080.</a:t>
            </a:r>
            <a:endParaRPr/>
          </a:p>
          <a:p>
            <a:pPr indent="-355600" lvl="0" marL="457200" rtl="0" algn="l">
              <a:spcBef>
                <a:spcPts val="0"/>
              </a:spcBef>
              <a:spcAft>
                <a:spcPts val="0"/>
              </a:spcAft>
              <a:buSzPts val="2000"/>
              <a:buChar char="●"/>
            </a:pPr>
            <a:r>
              <a:rPr lang="en"/>
              <a:t>If an attacker went into my .git/objects/ee folder and tried to replace 380e192bb631b585652001d909de8905df0080 so that it contained malicious code, then Git would detect the issue.</a:t>
            </a:r>
            <a:endParaRPr/>
          </a:p>
          <a:p>
            <a:pPr indent="-355600" lvl="1" marL="914400" rtl="0" algn="l">
              <a:spcBef>
                <a:spcPts val="0"/>
              </a:spcBef>
              <a:spcAft>
                <a:spcPts val="0"/>
              </a:spcAft>
              <a:buSzPts val="2000"/>
              <a:buChar char="○"/>
            </a:pPr>
            <a:r>
              <a:rPr lang="en"/>
              <a:t>Detection occurs because the change would result in a change in the git-SHA1 hash.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animEffect filter="fade" transition="in">
                                      <p:cBhvr>
                                        <p:cTn dur="1"/>
                                        <p:tgtEl>
                                          <p:spTgt spid="5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1" st="1"/>
                                            </p:txEl>
                                          </p:spTgt>
                                        </p:tgtEl>
                                        <p:attrNameLst>
                                          <p:attrName>style.visibility</p:attrName>
                                        </p:attrNameLst>
                                      </p:cBhvr>
                                      <p:to>
                                        <p:strVal val="visible"/>
                                      </p:to>
                                    </p:set>
                                    <p:animEffect filter="fade" transition="in">
                                      <p:cBhvr>
                                        <p:cTn dur="1"/>
                                        <p:tgtEl>
                                          <p:spTgt spid="5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2" st="2"/>
                                            </p:txEl>
                                          </p:spTgt>
                                        </p:tgtEl>
                                        <p:attrNameLst>
                                          <p:attrName>style.visibility</p:attrName>
                                        </p:attrNameLst>
                                      </p:cBhvr>
                                      <p:to>
                                        <p:strVal val="visible"/>
                                      </p:to>
                                    </p:set>
                                    <p:animEffect filter="fade" transition="in">
                                      <p:cBhvr>
                                        <p:cTn dur="1"/>
                                        <p:tgtEl>
                                          <p:spTgt spid="5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3" st="3"/>
                                            </p:txEl>
                                          </p:spTgt>
                                        </p:tgtEl>
                                        <p:attrNameLst>
                                          <p:attrName>style.visibility</p:attrName>
                                        </p:attrNameLst>
                                      </p:cBhvr>
                                      <p:to>
                                        <p:strVal val="visible"/>
                                      </p:to>
                                    </p:set>
                                    <p:animEffect filter="fade" transition="in">
                                      <p:cBhvr>
                                        <p:cTn dur="1"/>
                                        <p:tgtEl>
                                          <p:spTgt spid="5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4" st="4"/>
                                            </p:txEl>
                                          </p:spTgt>
                                        </p:tgtEl>
                                        <p:attrNameLst>
                                          <p:attrName>style.visibility</p:attrName>
                                        </p:attrNameLst>
                                      </p:cBhvr>
                                      <p:to>
                                        <p:strVal val="visible"/>
                                      </p:to>
                                    </p:set>
                                    <p:animEffect filter="fade" transition="in">
                                      <p:cBhvr>
                                        <p:cTn dur="1"/>
                                        <p:tgtEl>
                                          <p:spTgt spid="51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15" name="Shape 515"/>
        <p:cNvGrpSpPr/>
        <p:nvPr/>
      </p:nvGrpSpPr>
      <p:grpSpPr>
        <a:xfrm>
          <a:off x="0" y="0"/>
          <a:ext cx="0" cy="0"/>
          <a:chOff x="0" y="0"/>
          <a:chExt cx="0" cy="0"/>
        </a:xfrm>
      </p:grpSpPr>
      <p:sp>
        <p:nvSpPr>
          <p:cNvPr id="516" name="Google Shape;516;p60"/>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Serializable and Storing Data Structures</a:t>
            </a:r>
            <a:endParaRPr sz="40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Commits</a:t>
            </a:r>
            <a:endParaRPr/>
          </a:p>
        </p:txBody>
      </p:sp>
      <p:sp>
        <p:nvSpPr>
          <p:cNvPr id="522" name="Google Shape;522;p61"/>
          <p:cNvSpPr txBox="1"/>
          <p:nvPr>
            <p:ph idx="1" type="body"/>
          </p:nvPr>
        </p:nvSpPr>
        <p:spPr>
          <a:xfrm>
            <a:off x="243000" y="556500"/>
            <a:ext cx="42285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commit in git stores (at least):</a:t>
            </a:r>
            <a:endParaRPr/>
          </a:p>
          <a:p>
            <a:pPr indent="-355600" lvl="0" marL="457200" rtl="0" algn="l">
              <a:spcBef>
                <a:spcPts val="600"/>
              </a:spcBef>
              <a:spcAft>
                <a:spcPts val="0"/>
              </a:spcAft>
              <a:buSzPts val="2000"/>
              <a:buChar char="●"/>
            </a:pPr>
            <a:r>
              <a:rPr lang="en"/>
              <a:t>An author.</a:t>
            </a:r>
            <a:endParaRPr/>
          </a:p>
          <a:p>
            <a:pPr indent="-355600" lvl="0" marL="457200" rtl="0" algn="l">
              <a:spcBef>
                <a:spcPts val="0"/>
              </a:spcBef>
              <a:spcAft>
                <a:spcPts val="0"/>
              </a:spcAft>
              <a:buSzPts val="2000"/>
              <a:buChar char="●"/>
            </a:pPr>
            <a:r>
              <a:rPr lang="en"/>
              <a:t>A date.</a:t>
            </a:r>
            <a:endParaRPr/>
          </a:p>
          <a:p>
            <a:pPr indent="-355600" lvl="0" marL="457200" rtl="0" algn="l">
              <a:spcBef>
                <a:spcPts val="0"/>
              </a:spcBef>
              <a:spcAft>
                <a:spcPts val="0"/>
              </a:spcAft>
              <a:buSzPts val="2000"/>
              <a:buChar char="●"/>
            </a:pPr>
            <a:r>
              <a:rPr lang="en"/>
              <a:t>A commit message.</a:t>
            </a:r>
            <a:endParaRPr/>
          </a:p>
          <a:p>
            <a:pPr indent="-355600" lvl="0" marL="457200" rtl="0" algn="l">
              <a:spcBef>
                <a:spcPts val="0"/>
              </a:spcBef>
              <a:spcAft>
                <a:spcPts val="0"/>
              </a:spcAft>
              <a:buSzPts val="2000"/>
              <a:buChar char="●"/>
            </a:pPr>
            <a:r>
              <a:rPr lang="en"/>
              <a:t>A list of all files and their versions.</a:t>
            </a:r>
            <a:endParaRPr/>
          </a:p>
          <a:p>
            <a:pPr indent="-355600" lvl="1" marL="914400" rtl="0" algn="l">
              <a:spcBef>
                <a:spcPts val="0"/>
              </a:spcBef>
              <a:spcAft>
                <a:spcPts val="0"/>
              </a:spcAft>
              <a:buSzPts val="2000"/>
              <a:buChar char="○"/>
            </a:pPr>
            <a:r>
              <a:rPr lang="en"/>
              <a:t>Versions are git-SHA1 hashes.</a:t>
            </a:r>
            <a:endParaRPr/>
          </a:p>
          <a:p>
            <a:pPr indent="-355600" lvl="0" marL="457200" rtl="0" algn="l">
              <a:spcBef>
                <a:spcPts val="0"/>
              </a:spcBef>
              <a:spcAft>
                <a:spcPts val="0"/>
              </a:spcAft>
              <a:buSzPts val="2000"/>
              <a:buChar char="●"/>
            </a:pPr>
            <a:r>
              <a:rPr lang="en"/>
              <a:t>The parent’s commit ID.</a:t>
            </a:r>
            <a:endParaRPr/>
          </a:p>
          <a:p>
            <a:pPr indent="-355600" lvl="1" marL="914400" rtl="0" algn="l">
              <a:spcBef>
                <a:spcPts val="0"/>
              </a:spcBef>
              <a:spcAft>
                <a:spcPts val="0"/>
              </a:spcAft>
              <a:buSzPts val="2000"/>
              <a:buChar char="○"/>
            </a:pPr>
            <a:r>
              <a:rPr lang="en"/>
              <a:t>Example: aa45f...db’s parent ID is d1bd...61.</a:t>
            </a:r>
            <a:endParaRPr/>
          </a:p>
          <a:p>
            <a:pPr indent="0" lvl="0" marL="0" rtl="0" algn="l">
              <a:spcBef>
                <a:spcPts val="600"/>
              </a:spcBef>
              <a:spcAft>
                <a:spcPts val="0"/>
              </a:spcAft>
              <a:buNone/>
            </a:pPr>
            <a:r>
              <a:t/>
            </a:r>
            <a:endParaRPr/>
          </a:p>
        </p:txBody>
      </p:sp>
      <p:pic>
        <p:nvPicPr>
          <p:cNvPr id="523" name="Google Shape;523;p61"/>
          <p:cNvPicPr preferRelativeResize="0"/>
          <p:nvPr/>
        </p:nvPicPr>
        <p:blipFill>
          <a:blip r:embed="rId3">
            <a:alphaModFix/>
          </a:blip>
          <a:stretch>
            <a:fillRect/>
          </a:stretch>
        </p:blipFill>
        <p:spPr>
          <a:xfrm>
            <a:off x="4789300" y="925250"/>
            <a:ext cx="4336451" cy="354865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Commit IDs</a:t>
            </a:r>
            <a:endParaRPr/>
          </a:p>
        </p:txBody>
      </p:sp>
      <p:sp>
        <p:nvSpPr>
          <p:cNvPr id="529" name="Google Shape;529;p62"/>
          <p:cNvSpPr txBox="1"/>
          <p:nvPr>
            <p:ph idx="1" type="body"/>
          </p:nvPr>
        </p:nvSpPr>
        <p:spPr>
          <a:xfrm>
            <a:off x="243000" y="556500"/>
            <a:ext cx="42285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commit ID is the git-SHA1 hash of the commit.</a:t>
            </a:r>
            <a:endParaRPr/>
          </a:p>
          <a:p>
            <a:pPr indent="-355600" lvl="0" marL="457200" rtl="0" algn="l">
              <a:spcBef>
                <a:spcPts val="600"/>
              </a:spcBef>
              <a:spcAft>
                <a:spcPts val="0"/>
              </a:spcAft>
              <a:buSzPts val="2000"/>
              <a:buChar char="●"/>
            </a:pPr>
            <a:r>
              <a:rPr lang="en"/>
              <a:t>You might object: “A commit is an object, not a file”.</a:t>
            </a:r>
            <a:endParaRPr/>
          </a:p>
          <a:p>
            <a:pPr indent="-355600" lvl="0" marL="457200" rtl="0" algn="l">
              <a:spcBef>
                <a:spcPts val="0"/>
              </a:spcBef>
              <a:spcAft>
                <a:spcPts val="0"/>
              </a:spcAft>
              <a:buSzPts val="2000"/>
              <a:buChar char="●"/>
            </a:pPr>
            <a:r>
              <a:rPr lang="en"/>
              <a:t>Imagine a file containing the author, date, commit message, list of files and their versions, and parent ID, then git-SHA1 hash that.</a:t>
            </a:r>
            <a:endParaRPr/>
          </a:p>
        </p:txBody>
      </p:sp>
      <p:pic>
        <p:nvPicPr>
          <p:cNvPr id="530" name="Google Shape;530;p62"/>
          <p:cNvPicPr preferRelativeResize="0"/>
          <p:nvPr/>
        </p:nvPicPr>
        <p:blipFill>
          <a:blip r:embed="rId3">
            <a:alphaModFix/>
          </a:blip>
          <a:stretch>
            <a:fillRect/>
          </a:stretch>
        </p:blipFill>
        <p:spPr>
          <a:xfrm>
            <a:off x="4789300" y="925250"/>
            <a:ext cx="4336451" cy="354865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Representing a Commit in Java</a:t>
            </a:r>
            <a:endParaRPr/>
          </a:p>
        </p:txBody>
      </p:sp>
      <p:sp>
        <p:nvSpPr>
          <p:cNvPr id="536" name="Google Shape;536;p6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Commit class below.</a:t>
            </a:r>
            <a:endParaRPr/>
          </a:p>
          <a:p>
            <a:pPr indent="-355600" lvl="0" marL="457200" rtl="0" algn="l">
              <a:spcBef>
                <a:spcPts val="600"/>
              </a:spcBef>
              <a:spcAft>
                <a:spcPts val="0"/>
              </a:spcAft>
              <a:buSzPts val="2000"/>
              <a:buChar char="●"/>
            </a:pPr>
            <a:r>
              <a:rPr lang="en"/>
              <a:t>For simplicity, I’ve only included the four fields shown.</a:t>
            </a:r>
            <a:endParaRPr/>
          </a:p>
        </p:txBody>
      </p:sp>
      <p:sp>
        <p:nvSpPr>
          <p:cNvPr id="537" name="Google Shape;537;p63"/>
          <p:cNvSpPr txBox="1"/>
          <p:nvPr/>
        </p:nvSpPr>
        <p:spPr>
          <a:xfrm>
            <a:off x="324450" y="2287200"/>
            <a:ext cx="4496100" cy="22320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900">
                <a:solidFill>
                  <a:srgbClr val="661111"/>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Commit </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author</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date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commitMessage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parentID</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900">
                <a:solidFill>
                  <a:srgbClr val="555555"/>
                </a:solidFill>
                <a:highlight>
                  <a:srgbClr val="EFEFEF"/>
                </a:highlight>
                <a:latin typeface="Consolas"/>
                <a:ea typeface="Consolas"/>
                <a:cs typeface="Consolas"/>
                <a:sym typeface="Consolas"/>
              </a:rPr>
              <a:t>   ...</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Storing Commits</a:t>
            </a:r>
            <a:endParaRPr/>
          </a:p>
        </p:txBody>
      </p:sp>
      <p:sp>
        <p:nvSpPr>
          <p:cNvPr id="543" name="Google Shape;543;p6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a user of your project 2 creates a commit, you’ll need to somehow store the object below so that it can be read later.</a:t>
            </a:r>
            <a:endParaRPr/>
          </a:p>
          <a:p>
            <a:pPr indent="0" lvl="0" marL="0" rtl="0" algn="l">
              <a:spcBef>
                <a:spcPts val="600"/>
              </a:spcBef>
              <a:spcAft>
                <a:spcPts val="0"/>
              </a:spcAft>
              <a:buNone/>
            </a:pPr>
            <a:r>
              <a:t/>
            </a:r>
            <a:endParaRPr/>
          </a:p>
        </p:txBody>
      </p:sp>
      <p:sp>
        <p:nvSpPr>
          <p:cNvPr id="544" name="Google Shape;544;p64"/>
          <p:cNvSpPr txBox="1"/>
          <p:nvPr/>
        </p:nvSpPr>
        <p:spPr>
          <a:xfrm>
            <a:off x="324450" y="2287200"/>
            <a:ext cx="4496100" cy="22320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900">
                <a:solidFill>
                  <a:srgbClr val="661111"/>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Commit </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author</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date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commitMessage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parentID</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900">
                <a:solidFill>
                  <a:srgbClr val="555555"/>
                </a:solidFill>
                <a:highlight>
                  <a:srgbClr val="EFEFEF"/>
                </a:highlight>
                <a:latin typeface="Consolas"/>
                <a:ea typeface="Consolas"/>
                <a:cs typeface="Consolas"/>
                <a:sym typeface="Consolas"/>
              </a:rPr>
              <a:t>   ...</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Storing Commits using Serializable</a:t>
            </a:r>
            <a:endParaRPr/>
          </a:p>
        </p:txBody>
      </p:sp>
      <p:sp>
        <p:nvSpPr>
          <p:cNvPr id="550" name="Google Shape;550;p6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 has a built-in feature called Serializable that lets you store arbitrary objects.</a:t>
            </a:r>
            <a:endParaRPr/>
          </a:p>
          <a:p>
            <a:pPr indent="-355600" lvl="0" marL="457200" rtl="0" algn="l">
              <a:spcBef>
                <a:spcPts val="600"/>
              </a:spcBef>
              <a:spcAft>
                <a:spcPts val="0"/>
              </a:spcAft>
              <a:buSzPts val="2000"/>
              <a:buChar char="●"/>
            </a:pPr>
            <a:r>
              <a:rPr lang="en"/>
              <a:t>Easy to use: Just make your class implement </a:t>
            </a:r>
            <a:r>
              <a:rPr lang="en">
                <a:latin typeface="Consolas"/>
                <a:ea typeface="Consolas"/>
                <a:cs typeface="Consolas"/>
                <a:sym typeface="Consolas"/>
              </a:rPr>
              <a:t>Serializable</a:t>
            </a:r>
            <a:r>
              <a:rPr lang="en"/>
              <a:t>.</a:t>
            </a:r>
            <a:endParaRPr/>
          </a:p>
          <a:p>
            <a:pPr indent="-355600" lvl="1" marL="914400" rtl="0" algn="l">
              <a:spcBef>
                <a:spcPts val="0"/>
              </a:spcBef>
              <a:spcAft>
                <a:spcPts val="0"/>
              </a:spcAft>
              <a:buSzPts val="2000"/>
              <a:buChar char="○"/>
            </a:pPr>
            <a:r>
              <a:rPr lang="en"/>
              <a:t>There are no methods to implement (weird).</a:t>
            </a:r>
            <a:endParaRPr/>
          </a:p>
          <a:p>
            <a:pPr indent="-355600" lvl="0" marL="457200" rtl="0" algn="l">
              <a:spcBef>
                <a:spcPts val="0"/>
              </a:spcBef>
              <a:spcAft>
                <a:spcPts val="0"/>
              </a:spcAft>
              <a:buSzPts val="2000"/>
              <a:buChar char="●"/>
            </a:pPr>
            <a:r>
              <a:rPr lang="en"/>
              <a:t>Then use our </a:t>
            </a:r>
            <a:r>
              <a:rPr lang="en">
                <a:latin typeface="Consolas"/>
                <a:ea typeface="Consolas"/>
                <a:cs typeface="Consolas"/>
                <a:sym typeface="Consolas"/>
              </a:rPr>
              <a:t>Utils</a:t>
            </a:r>
            <a:r>
              <a:rPr lang="en"/>
              <a:t> class to write/read objects to/from files.</a:t>
            </a:r>
            <a:endParaRPr/>
          </a:p>
        </p:txBody>
      </p:sp>
      <p:sp>
        <p:nvSpPr>
          <p:cNvPr id="551" name="Google Shape;551;p65"/>
          <p:cNvSpPr txBox="1"/>
          <p:nvPr/>
        </p:nvSpPr>
        <p:spPr>
          <a:xfrm>
            <a:off x="324450" y="2287200"/>
            <a:ext cx="6292200" cy="22320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900">
                <a:solidFill>
                  <a:srgbClr val="661111"/>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Commit </a:t>
            </a:r>
            <a:r>
              <a:rPr b="1" lang="en" sz="1900">
                <a:solidFill>
                  <a:srgbClr val="661111"/>
                </a:solidFill>
                <a:highlight>
                  <a:srgbClr val="EFEFEF"/>
                </a:highlight>
                <a:latin typeface="Consolas"/>
                <a:ea typeface="Consolas"/>
                <a:cs typeface="Consolas"/>
                <a:sym typeface="Consolas"/>
              </a:rPr>
              <a:t>implements </a:t>
            </a:r>
            <a:r>
              <a:rPr lang="en" sz="1900">
                <a:solidFill>
                  <a:schemeClr val="dk1"/>
                </a:solidFill>
                <a:highlight>
                  <a:srgbClr val="EFEFEF"/>
                </a:highlight>
                <a:latin typeface="Consolas"/>
                <a:ea typeface="Consolas"/>
                <a:cs typeface="Consolas"/>
                <a:sym typeface="Consolas"/>
              </a:rPr>
              <a:t>Serializable </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author</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date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commitMessage</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661111"/>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String parentID</a:t>
            </a: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900">
                <a:solidFill>
                  <a:srgbClr val="555555"/>
                </a:solidFill>
                <a:highlight>
                  <a:srgbClr val="EFEFEF"/>
                </a:highlight>
                <a:latin typeface="Consolas"/>
                <a:ea typeface="Consolas"/>
                <a:cs typeface="Consolas"/>
                <a:sym typeface="Consolas"/>
              </a:rPr>
              <a:t>   ...</a:t>
            </a:r>
            <a:endParaRPr b="1" sz="1900">
              <a:solidFill>
                <a:srgbClr val="555555"/>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900">
                <a:solidFill>
                  <a:srgbClr val="555555"/>
                </a:solidFill>
                <a:highlight>
                  <a:srgbClr val="EFEFEF"/>
                </a:highlight>
                <a:latin typeface="Consolas"/>
                <a:ea typeface="Consolas"/>
                <a:cs typeface="Consolas"/>
                <a:sym typeface="Consolas"/>
              </a:rPr>
              <a:t>}</a:t>
            </a:r>
            <a:endParaRPr b="1" sz="1900">
              <a:solidFill>
                <a:srgbClr val="555555"/>
              </a:solidFill>
              <a:highlight>
                <a:srgbClr val="EFEFEF"/>
              </a:highlight>
              <a:latin typeface="Consolas"/>
              <a:ea typeface="Consolas"/>
              <a:cs typeface="Consolas"/>
              <a:sym typeface="Consolas"/>
            </a:endParaRPr>
          </a:p>
        </p:txBody>
      </p:sp>
      <p:sp>
        <p:nvSpPr>
          <p:cNvPr id="552" name="Google Shape;552;p65"/>
          <p:cNvSpPr txBox="1"/>
          <p:nvPr/>
        </p:nvSpPr>
        <p:spPr>
          <a:xfrm>
            <a:off x="6616775" y="4154875"/>
            <a:ext cx="232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Let’s see a quick demo.</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56" name="Shape 556"/>
        <p:cNvGrpSpPr/>
        <p:nvPr/>
      </p:nvGrpSpPr>
      <p:grpSpPr>
        <a:xfrm>
          <a:off x="0" y="0"/>
          <a:ext cx="0" cy="0"/>
          <a:chOff x="0" y="0"/>
          <a:chExt cx="0" cy="0"/>
        </a:xfrm>
      </p:grpSpPr>
      <p:sp>
        <p:nvSpPr>
          <p:cNvPr id="557" name="Google Shape;557;p66"/>
          <p:cNvSpPr txBox="1"/>
          <p:nvPr>
            <p:ph type="title"/>
          </p:nvPr>
        </p:nvSpPr>
        <p:spPr>
          <a:xfrm>
            <a:off x="92675" y="2066850"/>
            <a:ext cx="90513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Branching</a:t>
            </a:r>
            <a:endParaRPr sz="4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grpSp>
        <p:nvGrpSpPr>
          <p:cNvPr id="563" name="Google Shape;563;p67"/>
          <p:cNvGrpSpPr/>
          <p:nvPr/>
        </p:nvGrpSpPr>
        <p:grpSpPr>
          <a:xfrm>
            <a:off x="5704079" y="4050246"/>
            <a:ext cx="2524199" cy="631200"/>
            <a:chOff x="6606877" y="1690650"/>
            <a:chExt cx="2524199" cy="631200"/>
          </a:xfrm>
        </p:grpSpPr>
        <p:sp>
          <p:nvSpPr>
            <p:cNvPr id="564" name="Google Shape;564;p67"/>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565" name="Google Shape;565;p67"/>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566" name="Google Shape;566;p67"/>
          <p:cNvGrpSpPr/>
          <p:nvPr/>
        </p:nvGrpSpPr>
        <p:grpSpPr>
          <a:xfrm>
            <a:off x="5705401" y="2514996"/>
            <a:ext cx="2583474" cy="631200"/>
            <a:chOff x="6619801" y="2475153"/>
            <a:chExt cx="2583474" cy="631200"/>
          </a:xfrm>
        </p:grpSpPr>
        <p:sp>
          <p:nvSpPr>
            <p:cNvPr id="567" name="Google Shape;567;p67"/>
            <p:cNvSpPr/>
            <p:nvPr/>
          </p:nvSpPr>
          <p:spPr>
            <a:xfrm>
              <a:off x="6619801" y="2665454"/>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568" name="Google Shape;568;p67"/>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grpSp>
        <p:nvGrpSpPr>
          <p:cNvPr id="569" name="Google Shape;569;p67"/>
          <p:cNvGrpSpPr/>
          <p:nvPr/>
        </p:nvGrpSpPr>
        <p:grpSpPr>
          <a:xfrm>
            <a:off x="5705401" y="3310045"/>
            <a:ext cx="2562776" cy="631200"/>
            <a:chOff x="6619801" y="3270202"/>
            <a:chExt cx="2562776" cy="631200"/>
          </a:xfrm>
        </p:grpSpPr>
        <p:sp>
          <p:nvSpPr>
            <p:cNvPr id="570" name="Google Shape;570;p67"/>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571" name="Google Shape;571;p67"/>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572" name="Google Shape;572;p67"/>
          <p:cNvCxnSpPr>
            <a:stCxn id="570" idx="2"/>
            <a:endCxn id="564" idx="0"/>
          </p:cNvCxnSpPr>
          <p:nvPr/>
        </p:nvCxnSpPr>
        <p:spPr>
          <a:xfrm flipH="1">
            <a:off x="59067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573" name="Google Shape;573;p67"/>
          <p:cNvCxnSpPr>
            <a:stCxn id="567" idx="2"/>
            <a:endCxn id="570" idx="0"/>
          </p:cNvCxnSpPr>
          <p:nvPr/>
        </p:nvCxnSpPr>
        <p:spPr>
          <a:xfrm>
            <a:off x="59079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574" name="Google Shape;574;p67"/>
          <p:cNvSpPr txBox="1"/>
          <p:nvPr/>
        </p:nvSpPr>
        <p:spPr>
          <a:xfrm>
            <a:off x="6948825" y="3073015"/>
            <a:ext cx="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5" name="Google Shape;575;p67"/>
          <p:cNvSpPr txBox="1"/>
          <p:nvPr/>
        </p:nvSpPr>
        <p:spPr>
          <a:xfrm>
            <a:off x="5538120" y="23690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576" name="Google Shape;576;p67"/>
          <p:cNvSpPr txBox="1"/>
          <p:nvPr>
            <p:ph idx="1" type="body"/>
          </p:nvPr>
        </p:nvSpPr>
        <p:spPr>
          <a:xfrm>
            <a:off x="243000" y="556500"/>
            <a:ext cx="8443800" cy="10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common feature in version control systems is the ability to create branches.</a:t>
            </a:r>
            <a:endParaRPr/>
          </a:p>
          <a:p>
            <a:pPr indent="-317500" lvl="0" marL="457200" rtl="0" algn="l">
              <a:spcBef>
                <a:spcPts val="0"/>
              </a:spcBef>
              <a:spcAft>
                <a:spcPts val="0"/>
              </a:spcAft>
              <a:buClr>
                <a:srgbClr val="000000"/>
              </a:buClr>
              <a:buSzPts val="1400"/>
              <a:buFont typeface="Arial"/>
              <a:buChar char="●"/>
            </a:pPr>
            <a:r>
              <a:rPr lang="en"/>
              <a:t>e.g. might “branch” from aa if I don’t trust the code in 7e and want to try something else.</a:t>
            </a:r>
            <a:endParaRPr/>
          </a:p>
        </p:txBody>
      </p:sp>
      <p:sp>
        <p:nvSpPr>
          <p:cNvPr id="577" name="Google Shape;577;p67"/>
          <p:cNvSpPr txBox="1"/>
          <p:nvPr/>
        </p:nvSpPr>
        <p:spPr>
          <a:xfrm>
            <a:off x="90475" y="4788100"/>
            <a:ext cx="675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An earlier version of the slide had some diagram errors. </a:t>
            </a:r>
            <a:endParaRPr/>
          </a:p>
        </p:txBody>
      </p:sp>
      <p:sp>
        <p:nvSpPr>
          <p:cNvPr id="578" name="Google Shape;578;p67"/>
          <p:cNvSpPr txBox="1"/>
          <p:nvPr/>
        </p:nvSpPr>
        <p:spPr>
          <a:xfrm>
            <a:off x="195300" y="1640175"/>
            <a:ext cx="5311500" cy="29337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log </a:t>
            </a:r>
            <a:r>
              <a:rPr lang="en">
                <a:solidFill>
                  <a:schemeClr val="lt1"/>
                </a:solidFill>
                <a:highlight>
                  <a:schemeClr val="dk1"/>
                </a:highlight>
                <a:latin typeface="Consolas"/>
                <a:ea typeface="Consolas"/>
                <a:cs typeface="Consolas"/>
                <a:sym typeface="Consolas"/>
              </a:rPr>
              <a:t>--graph --oneline --all --decorate</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7e41ce1 (</a:t>
            </a:r>
            <a:r>
              <a:rPr b="1" lang="en" sz="1700">
                <a:solidFill>
                  <a:srgbClr val="6D9EEB"/>
                </a:solidFill>
                <a:highlight>
                  <a:schemeClr val="dk1"/>
                </a:highlight>
                <a:latin typeface="Consolas"/>
                <a:ea typeface="Consolas"/>
                <a:cs typeface="Consolas"/>
                <a:sym typeface="Consolas"/>
              </a:rPr>
              <a:t>HEAD</a:t>
            </a:r>
            <a:r>
              <a:rPr lang="en" sz="1700">
                <a:solidFill>
                  <a:schemeClr val="lt1"/>
                </a:solidFill>
                <a:highlight>
                  <a:schemeClr val="dk1"/>
                </a:highlight>
                <a:latin typeface="Consolas"/>
                <a:ea typeface="Consolas"/>
                <a:cs typeface="Consolas"/>
                <a:sym typeface="Consolas"/>
              </a:rPr>
              <a:t>, </a:t>
            </a:r>
            <a:r>
              <a:rPr lang="en" sz="1700">
                <a:solidFill>
                  <a:srgbClr val="6AA84F"/>
                </a:solidFill>
                <a:highlight>
                  <a:schemeClr val="dk1"/>
                </a:highlight>
                <a:latin typeface="Consolas"/>
                <a:ea typeface="Consolas"/>
                <a:cs typeface="Consolas"/>
                <a:sym typeface="Consolas"/>
              </a:rPr>
              <a:t>master</a:t>
            </a:r>
            <a:r>
              <a:rPr lang="en" sz="1700">
                <a:solidFill>
                  <a:srgbClr val="F1C232"/>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added parmesan</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aa45fbd</a:t>
            </a:r>
            <a:r>
              <a:rPr lang="en" sz="1700">
                <a:solidFill>
                  <a:schemeClr val="lt1"/>
                </a:solidFill>
                <a:highlight>
                  <a:schemeClr val="dk1"/>
                </a:highlight>
                <a:latin typeface="Consolas"/>
                <a:ea typeface="Consolas"/>
                <a:cs typeface="Consolas"/>
                <a:sym typeface="Consolas"/>
              </a:rPr>
              <a:t>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d1bde19</a:t>
            </a:r>
            <a:r>
              <a:rPr lang="en" sz="1700">
                <a:solidFill>
                  <a:schemeClr val="lt1"/>
                </a:solidFill>
                <a:highlight>
                  <a:schemeClr val="dk1"/>
                </a:highlight>
                <a:latin typeface="Consolas"/>
                <a:ea typeface="Consolas"/>
                <a:cs typeface="Consolas"/>
                <a:sym typeface="Consolas"/>
              </a:rPr>
              <a:t>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700">
              <a:solidFill>
                <a:srgbClr val="FFFFFF"/>
              </a:solidFill>
              <a:highlight>
                <a:srgbClr val="000000"/>
              </a:highlight>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grpSp>
        <p:nvGrpSpPr>
          <p:cNvPr id="584" name="Google Shape;584;p68"/>
          <p:cNvGrpSpPr/>
          <p:nvPr/>
        </p:nvGrpSpPr>
        <p:grpSpPr>
          <a:xfrm>
            <a:off x="5704079" y="4050246"/>
            <a:ext cx="2524199" cy="631200"/>
            <a:chOff x="6606877" y="1690650"/>
            <a:chExt cx="2524199" cy="631200"/>
          </a:xfrm>
        </p:grpSpPr>
        <p:sp>
          <p:nvSpPr>
            <p:cNvPr id="585" name="Google Shape;585;p68"/>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586" name="Google Shape;586;p68"/>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587" name="Google Shape;587;p68"/>
          <p:cNvGrpSpPr/>
          <p:nvPr/>
        </p:nvGrpSpPr>
        <p:grpSpPr>
          <a:xfrm>
            <a:off x="5705401" y="2514996"/>
            <a:ext cx="2583474" cy="631200"/>
            <a:chOff x="6619801" y="2475153"/>
            <a:chExt cx="2583474" cy="631200"/>
          </a:xfrm>
        </p:grpSpPr>
        <p:sp>
          <p:nvSpPr>
            <p:cNvPr id="588" name="Google Shape;588;p68"/>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589" name="Google Shape;589;p68"/>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sp>
        <p:nvSpPr>
          <p:cNvPr id="590" name="Google Shape;590;p68"/>
          <p:cNvSpPr/>
          <p:nvPr/>
        </p:nvSpPr>
        <p:spPr>
          <a:xfrm>
            <a:off x="8548800" y="1791373"/>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33</a:t>
            </a:r>
            <a:endParaRPr b="1"/>
          </a:p>
        </p:txBody>
      </p:sp>
      <p:grpSp>
        <p:nvGrpSpPr>
          <p:cNvPr id="591" name="Google Shape;591;p68"/>
          <p:cNvGrpSpPr/>
          <p:nvPr/>
        </p:nvGrpSpPr>
        <p:grpSpPr>
          <a:xfrm>
            <a:off x="5705401" y="3310045"/>
            <a:ext cx="2562776" cy="631200"/>
            <a:chOff x="6619801" y="3270202"/>
            <a:chExt cx="2562776" cy="631200"/>
          </a:xfrm>
        </p:grpSpPr>
        <p:sp>
          <p:nvSpPr>
            <p:cNvPr id="592" name="Google Shape;592;p68"/>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593" name="Google Shape;593;p68"/>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594" name="Google Shape;594;p68"/>
          <p:cNvCxnSpPr>
            <a:stCxn id="592" idx="2"/>
            <a:endCxn id="585" idx="0"/>
          </p:cNvCxnSpPr>
          <p:nvPr/>
        </p:nvCxnSpPr>
        <p:spPr>
          <a:xfrm flipH="1">
            <a:off x="59067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595" name="Google Shape;595;p68"/>
          <p:cNvCxnSpPr>
            <a:stCxn id="588" idx="2"/>
            <a:endCxn id="592" idx="0"/>
          </p:cNvCxnSpPr>
          <p:nvPr/>
        </p:nvCxnSpPr>
        <p:spPr>
          <a:xfrm>
            <a:off x="59079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596" name="Google Shape;596;p68"/>
          <p:cNvSpPr txBox="1"/>
          <p:nvPr/>
        </p:nvSpPr>
        <p:spPr>
          <a:xfrm>
            <a:off x="195300" y="1640175"/>
            <a:ext cx="5311500" cy="29337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git checkout -b WithSwiss aa45fbd </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“added swiss”</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log </a:t>
            </a:r>
            <a:r>
              <a:rPr lang="en">
                <a:solidFill>
                  <a:schemeClr val="lt1"/>
                </a:solidFill>
                <a:highlight>
                  <a:schemeClr val="dk1"/>
                </a:highlight>
                <a:latin typeface="Consolas"/>
                <a:ea typeface="Consolas"/>
                <a:cs typeface="Consolas"/>
                <a:sym typeface="Consolas"/>
              </a:rPr>
              <a:t>--graph --oneline --all --decorate</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33c7a92 (</a:t>
            </a:r>
            <a:r>
              <a:rPr b="1" lang="en" sz="1700">
                <a:solidFill>
                  <a:srgbClr val="6D9EEB"/>
                </a:solidFill>
                <a:highlight>
                  <a:schemeClr val="dk1"/>
                </a:highlight>
                <a:latin typeface="Consolas"/>
                <a:ea typeface="Consolas"/>
                <a:cs typeface="Consolas"/>
                <a:sym typeface="Consolas"/>
              </a:rPr>
              <a:t>HEAD</a:t>
            </a:r>
            <a:r>
              <a:rPr lang="en" sz="1700">
                <a:solidFill>
                  <a:schemeClr val="lt1"/>
                </a:solidFill>
                <a:highlight>
                  <a:schemeClr val="dk1"/>
                </a:highlight>
                <a:latin typeface="Consolas"/>
                <a:ea typeface="Consolas"/>
                <a:cs typeface="Consolas"/>
                <a:sym typeface="Consolas"/>
              </a:rPr>
              <a:t>, </a:t>
            </a:r>
            <a:r>
              <a:rPr lang="en" sz="1700">
                <a:solidFill>
                  <a:srgbClr val="6AA84F"/>
                </a:solidFill>
                <a:highlight>
                  <a:schemeClr val="dk1"/>
                </a:highlight>
                <a:latin typeface="Consolas"/>
                <a:ea typeface="Consolas"/>
                <a:cs typeface="Consolas"/>
                <a:sym typeface="Consolas"/>
              </a:rPr>
              <a:t>WithSwiss</a:t>
            </a:r>
            <a:r>
              <a:rPr lang="en" sz="1700">
                <a:solidFill>
                  <a:srgbClr val="F1C232"/>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added swiss</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7e41ce1 (</a:t>
            </a:r>
            <a:r>
              <a:rPr lang="en" sz="1700">
                <a:solidFill>
                  <a:srgbClr val="6AA84F"/>
                </a:solidFill>
                <a:highlight>
                  <a:schemeClr val="dk1"/>
                </a:highlight>
                <a:latin typeface="Consolas"/>
                <a:ea typeface="Consolas"/>
                <a:cs typeface="Consolas"/>
                <a:sym typeface="Consolas"/>
              </a:rPr>
              <a:t>master</a:t>
            </a:r>
            <a:r>
              <a:rPr lang="en" sz="1700">
                <a:solidFill>
                  <a:srgbClr val="F1C232"/>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added parmesan</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aa45fbd</a:t>
            </a:r>
            <a:r>
              <a:rPr lang="en" sz="1700">
                <a:solidFill>
                  <a:schemeClr val="lt1"/>
                </a:solidFill>
                <a:highlight>
                  <a:schemeClr val="dk1"/>
                </a:highlight>
                <a:latin typeface="Consolas"/>
                <a:ea typeface="Consolas"/>
                <a:cs typeface="Consolas"/>
                <a:sym typeface="Consolas"/>
              </a:rPr>
              <a:t>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d1bde19</a:t>
            </a:r>
            <a:r>
              <a:rPr lang="en" sz="1700">
                <a:solidFill>
                  <a:schemeClr val="lt1"/>
                </a:solidFill>
                <a:highlight>
                  <a:schemeClr val="dk1"/>
                </a:highlight>
                <a:latin typeface="Consolas"/>
                <a:ea typeface="Consolas"/>
                <a:cs typeface="Consolas"/>
                <a:sym typeface="Consolas"/>
              </a:rPr>
              <a:t>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700">
              <a:solidFill>
                <a:srgbClr val="FFFFFF"/>
              </a:solidFill>
              <a:highlight>
                <a:srgbClr val="000000"/>
              </a:highlight>
              <a:latin typeface="Consolas"/>
              <a:ea typeface="Consolas"/>
              <a:cs typeface="Consolas"/>
              <a:sym typeface="Consolas"/>
            </a:endParaRPr>
          </a:p>
        </p:txBody>
      </p:sp>
      <p:sp>
        <p:nvSpPr>
          <p:cNvPr id="597" name="Google Shape;597;p68"/>
          <p:cNvSpPr txBox="1"/>
          <p:nvPr/>
        </p:nvSpPr>
        <p:spPr>
          <a:xfrm>
            <a:off x="7306230" y="1574175"/>
            <a:ext cx="1281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swiss”</a:t>
            </a:r>
            <a:endParaRPr/>
          </a:p>
        </p:txBody>
      </p:sp>
      <p:sp>
        <p:nvSpPr>
          <p:cNvPr id="598" name="Google Shape;598;p68"/>
          <p:cNvSpPr txBox="1"/>
          <p:nvPr/>
        </p:nvSpPr>
        <p:spPr>
          <a:xfrm>
            <a:off x="6948825" y="3073015"/>
            <a:ext cx="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599" name="Google Shape;599;p68"/>
          <p:cNvCxnSpPr>
            <a:stCxn id="598" idx="1"/>
            <a:endCxn id="592" idx="0"/>
          </p:cNvCxnSpPr>
          <p:nvPr/>
        </p:nvCxnSpPr>
        <p:spPr>
          <a:xfrm flipH="1">
            <a:off x="5907825" y="3273115"/>
            <a:ext cx="1041000" cy="216000"/>
          </a:xfrm>
          <a:prstGeom prst="bentConnector2">
            <a:avLst/>
          </a:prstGeom>
          <a:noFill/>
          <a:ln cap="flat" cmpd="sng" w="19050">
            <a:solidFill>
              <a:schemeClr val="dk2"/>
            </a:solidFill>
            <a:prstDash val="solid"/>
            <a:round/>
            <a:headEnd len="med" w="med" type="none"/>
            <a:tailEnd len="med" w="med" type="none"/>
          </a:ln>
        </p:spPr>
      </p:cxnSp>
      <p:cxnSp>
        <p:nvCxnSpPr>
          <p:cNvPr id="600" name="Google Shape;600;p68"/>
          <p:cNvCxnSpPr>
            <a:stCxn id="598" idx="3"/>
            <a:endCxn id="590" idx="2"/>
          </p:cNvCxnSpPr>
          <p:nvPr/>
        </p:nvCxnSpPr>
        <p:spPr>
          <a:xfrm flipH="1" rot="10800000">
            <a:off x="7092825" y="2196415"/>
            <a:ext cx="1658400" cy="1076700"/>
          </a:xfrm>
          <a:prstGeom prst="bentConnector2">
            <a:avLst/>
          </a:prstGeom>
          <a:noFill/>
          <a:ln cap="flat" cmpd="sng" w="19050">
            <a:solidFill>
              <a:schemeClr val="dk2"/>
            </a:solidFill>
            <a:prstDash val="solid"/>
            <a:round/>
            <a:headEnd len="med" w="med" type="none"/>
            <a:tailEnd len="med" w="med" type="none"/>
          </a:ln>
        </p:spPr>
      </p:cxnSp>
      <p:cxnSp>
        <p:nvCxnSpPr>
          <p:cNvPr id="601" name="Google Shape;601;p68"/>
          <p:cNvCxnSpPr>
            <a:stCxn id="598" idx="3"/>
            <a:endCxn id="598" idx="1"/>
          </p:cNvCxnSpPr>
          <p:nvPr/>
        </p:nvCxnSpPr>
        <p:spPr>
          <a:xfrm rot="10800000">
            <a:off x="6948825" y="3273115"/>
            <a:ext cx="144000" cy="0"/>
          </a:xfrm>
          <a:prstGeom prst="straightConnector1">
            <a:avLst/>
          </a:prstGeom>
          <a:noFill/>
          <a:ln cap="flat" cmpd="sng" w="19050">
            <a:solidFill>
              <a:schemeClr val="dk2"/>
            </a:solidFill>
            <a:prstDash val="solid"/>
            <a:round/>
            <a:headEnd len="med" w="med" type="none"/>
            <a:tailEnd len="med" w="med" type="none"/>
          </a:ln>
        </p:spPr>
      </p:cxnSp>
      <p:sp>
        <p:nvSpPr>
          <p:cNvPr id="602" name="Google Shape;602;p68"/>
          <p:cNvSpPr txBox="1"/>
          <p:nvPr/>
        </p:nvSpPr>
        <p:spPr>
          <a:xfrm>
            <a:off x="5538120" y="23690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603" name="Google Shape;603;p68"/>
          <p:cNvSpPr txBox="1"/>
          <p:nvPr/>
        </p:nvSpPr>
        <p:spPr>
          <a:xfrm>
            <a:off x="8130645" y="1474615"/>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WithSwiss</a:t>
            </a:r>
            <a:endParaRPr b="1"/>
          </a:p>
        </p:txBody>
      </p:sp>
      <p:sp>
        <p:nvSpPr>
          <p:cNvPr id="604" name="Google Shape;604;p68"/>
          <p:cNvSpPr txBox="1"/>
          <p:nvPr>
            <p:ph idx="1" type="body"/>
          </p:nvPr>
        </p:nvSpPr>
        <p:spPr>
          <a:xfrm>
            <a:off x="243000" y="556500"/>
            <a:ext cx="8443800" cy="10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common feature in version control systems is the ability to create branches.</a:t>
            </a:r>
            <a:endParaRPr/>
          </a:p>
          <a:p>
            <a:pPr indent="-317500" lvl="0" marL="457200" rtl="0" algn="l">
              <a:spcBef>
                <a:spcPts val="0"/>
              </a:spcBef>
              <a:spcAft>
                <a:spcPts val="0"/>
              </a:spcAft>
              <a:buClr>
                <a:srgbClr val="000000"/>
              </a:buClr>
              <a:buSzPts val="1400"/>
              <a:buFont typeface="Arial"/>
              <a:buChar char="●"/>
            </a:pPr>
            <a:r>
              <a:rPr lang="en"/>
              <a:t>e.g. might “branch” from aa if I don’t trust the code in 7e and want to try something else.</a:t>
            </a:r>
            <a:endParaRPr/>
          </a:p>
        </p:txBody>
      </p:sp>
      <p:sp>
        <p:nvSpPr>
          <p:cNvPr id="605" name="Google Shape;605;p68"/>
          <p:cNvSpPr txBox="1"/>
          <p:nvPr/>
        </p:nvSpPr>
        <p:spPr>
          <a:xfrm>
            <a:off x="90475" y="4788100"/>
            <a:ext cx="675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An earlier version of the slide had some diagram errors.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grpSp>
        <p:nvGrpSpPr>
          <p:cNvPr id="611" name="Google Shape;611;p69"/>
          <p:cNvGrpSpPr/>
          <p:nvPr/>
        </p:nvGrpSpPr>
        <p:grpSpPr>
          <a:xfrm>
            <a:off x="5704079" y="4050246"/>
            <a:ext cx="2524199" cy="631200"/>
            <a:chOff x="6606877" y="1690650"/>
            <a:chExt cx="2524199" cy="631200"/>
          </a:xfrm>
        </p:grpSpPr>
        <p:sp>
          <p:nvSpPr>
            <p:cNvPr id="612" name="Google Shape;612;p69"/>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613" name="Google Shape;613;p69"/>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614" name="Google Shape;614;p69"/>
          <p:cNvGrpSpPr/>
          <p:nvPr/>
        </p:nvGrpSpPr>
        <p:grpSpPr>
          <a:xfrm>
            <a:off x="5705401" y="2514996"/>
            <a:ext cx="2583474" cy="631200"/>
            <a:chOff x="6619801" y="2475153"/>
            <a:chExt cx="2583474" cy="631200"/>
          </a:xfrm>
        </p:grpSpPr>
        <p:sp>
          <p:nvSpPr>
            <p:cNvPr id="615" name="Google Shape;615;p69"/>
            <p:cNvSpPr/>
            <p:nvPr/>
          </p:nvSpPr>
          <p:spPr>
            <a:xfrm>
              <a:off x="6619801" y="2665454"/>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616" name="Google Shape;616;p69"/>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sp>
        <p:nvSpPr>
          <p:cNvPr id="617" name="Google Shape;617;p69"/>
          <p:cNvSpPr/>
          <p:nvPr/>
        </p:nvSpPr>
        <p:spPr>
          <a:xfrm>
            <a:off x="85488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33</a:t>
            </a:r>
            <a:endParaRPr b="1"/>
          </a:p>
        </p:txBody>
      </p:sp>
      <p:grpSp>
        <p:nvGrpSpPr>
          <p:cNvPr id="618" name="Google Shape;618;p69"/>
          <p:cNvGrpSpPr/>
          <p:nvPr/>
        </p:nvGrpSpPr>
        <p:grpSpPr>
          <a:xfrm>
            <a:off x="5705401" y="3310045"/>
            <a:ext cx="2562776" cy="631200"/>
            <a:chOff x="6619801" y="3270202"/>
            <a:chExt cx="2562776" cy="631200"/>
          </a:xfrm>
        </p:grpSpPr>
        <p:sp>
          <p:nvSpPr>
            <p:cNvPr id="619" name="Google Shape;619;p69"/>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620" name="Google Shape;620;p69"/>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621" name="Google Shape;621;p69"/>
          <p:cNvCxnSpPr>
            <a:stCxn id="619" idx="2"/>
            <a:endCxn id="612" idx="0"/>
          </p:cNvCxnSpPr>
          <p:nvPr/>
        </p:nvCxnSpPr>
        <p:spPr>
          <a:xfrm flipH="1">
            <a:off x="59067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622" name="Google Shape;622;p69"/>
          <p:cNvCxnSpPr>
            <a:stCxn id="615" idx="2"/>
            <a:endCxn id="619" idx="0"/>
          </p:cNvCxnSpPr>
          <p:nvPr/>
        </p:nvCxnSpPr>
        <p:spPr>
          <a:xfrm>
            <a:off x="59079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623" name="Google Shape;623;p69"/>
          <p:cNvSpPr txBox="1"/>
          <p:nvPr/>
        </p:nvSpPr>
        <p:spPr>
          <a:xfrm>
            <a:off x="195300" y="1640175"/>
            <a:ext cx="5311500" cy="29337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git checkout master</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log </a:t>
            </a:r>
            <a:r>
              <a:rPr lang="en">
                <a:solidFill>
                  <a:schemeClr val="lt1"/>
                </a:solidFill>
                <a:highlight>
                  <a:schemeClr val="dk1"/>
                </a:highlight>
                <a:latin typeface="Consolas"/>
                <a:ea typeface="Consolas"/>
                <a:cs typeface="Consolas"/>
                <a:sym typeface="Consolas"/>
              </a:rPr>
              <a:t>--graph --oneline --all --decorate</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33c7a92 (</a:t>
            </a:r>
            <a:r>
              <a:rPr lang="en" sz="1700">
                <a:solidFill>
                  <a:srgbClr val="6AA84F"/>
                </a:solidFill>
                <a:highlight>
                  <a:schemeClr val="dk1"/>
                </a:highlight>
                <a:latin typeface="Consolas"/>
                <a:ea typeface="Consolas"/>
                <a:cs typeface="Consolas"/>
                <a:sym typeface="Consolas"/>
              </a:rPr>
              <a:t>WithSwiss</a:t>
            </a:r>
            <a:r>
              <a:rPr lang="en" sz="1700">
                <a:solidFill>
                  <a:srgbClr val="F1C232"/>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added swiss</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7e41ce1 (</a:t>
            </a:r>
            <a:r>
              <a:rPr b="1" lang="en" sz="1700">
                <a:solidFill>
                  <a:srgbClr val="6D9EEB"/>
                </a:solidFill>
                <a:highlight>
                  <a:schemeClr val="dk1"/>
                </a:highlight>
                <a:latin typeface="Consolas"/>
                <a:ea typeface="Consolas"/>
                <a:cs typeface="Consolas"/>
                <a:sym typeface="Consolas"/>
              </a:rPr>
              <a:t>HEAD</a:t>
            </a:r>
            <a:r>
              <a:rPr lang="en" sz="1700">
                <a:solidFill>
                  <a:schemeClr val="lt1"/>
                </a:solidFill>
                <a:highlight>
                  <a:schemeClr val="dk1"/>
                </a:highlight>
                <a:latin typeface="Consolas"/>
                <a:ea typeface="Consolas"/>
                <a:cs typeface="Consolas"/>
                <a:sym typeface="Consolas"/>
              </a:rPr>
              <a:t>, </a:t>
            </a:r>
            <a:r>
              <a:rPr lang="en" sz="1700">
                <a:solidFill>
                  <a:srgbClr val="6AA84F"/>
                </a:solidFill>
                <a:highlight>
                  <a:schemeClr val="dk1"/>
                </a:highlight>
                <a:latin typeface="Consolas"/>
                <a:ea typeface="Consolas"/>
                <a:cs typeface="Consolas"/>
                <a:sym typeface="Consolas"/>
              </a:rPr>
              <a:t>master</a:t>
            </a:r>
            <a:r>
              <a:rPr lang="en" sz="1700">
                <a:solidFill>
                  <a:srgbClr val="F1C232"/>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added parmesan</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aa45fbd</a:t>
            </a:r>
            <a:r>
              <a:rPr lang="en" sz="1700">
                <a:solidFill>
                  <a:schemeClr val="lt1"/>
                </a:solidFill>
                <a:highlight>
                  <a:schemeClr val="dk1"/>
                </a:highlight>
                <a:latin typeface="Consolas"/>
                <a:ea typeface="Consolas"/>
                <a:cs typeface="Consolas"/>
                <a:sym typeface="Consolas"/>
              </a:rPr>
              <a:t>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d1bde19</a:t>
            </a:r>
            <a:r>
              <a:rPr lang="en" sz="1700">
                <a:solidFill>
                  <a:schemeClr val="lt1"/>
                </a:solidFill>
                <a:highlight>
                  <a:schemeClr val="dk1"/>
                </a:highlight>
                <a:latin typeface="Consolas"/>
                <a:ea typeface="Consolas"/>
                <a:cs typeface="Consolas"/>
                <a:sym typeface="Consolas"/>
              </a:rPr>
              <a:t>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700">
              <a:solidFill>
                <a:srgbClr val="FFFFFF"/>
              </a:solidFill>
              <a:highlight>
                <a:srgbClr val="000000"/>
              </a:highlight>
              <a:latin typeface="Consolas"/>
              <a:ea typeface="Consolas"/>
              <a:cs typeface="Consolas"/>
              <a:sym typeface="Consolas"/>
            </a:endParaRPr>
          </a:p>
        </p:txBody>
      </p:sp>
      <p:sp>
        <p:nvSpPr>
          <p:cNvPr id="624" name="Google Shape;624;p69"/>
          <p:cNvSpPr txBox="1"/>
          <p:nvPr/>
        </p:nvSpPr>
        <p:spPr>
          <a:xfrm>
            <a:off x="7306230" y="1574175"/>
            <a:ext cx="1281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swiss”</a:t>
            </a:r>
            <a:endParaRPr/>
          </a:p>
        </p:txBody>
      </p:sp>
      <p:sp>
        <p:nvSpPr>
          <p:cNvPr id="625" name="Google Shape;625;p69"/>
          <p:cNvSpPr txBox="1"/>
          <p:nvPr/>
        </p:nvSpPr>
        <p:spPr>
          <a:xfrm>
            <a:off x="6948825" y="3073015"/>
            <a:ext cx="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626" name="Google Shape;626;p69"/>
          <p:cNvCxnSpPr>
            <a:stCxn id="625" idx="1"/>
            <a:endCxn id="619" idx="0"/>
          </p:cNvCxnSpPr>
          <p:nvPr/>
        </p:nvCxnSpPr>
        <p:spPr>
          <a:xfrm flipH="1">
            <a:off x="5907825" y="3273115"/>
            <a:ext cx="1041000" cy="216000"/>
          </a:xfrm>
          <a:prstGeom prst="bentConnector2">
            <a:avLst/>
          </a:prstGeom>
          <a:noFill/>
          <a:ln cap="flat" cmpd="sng" w="19050">
            <a:solidFill>
              <a:schemeClr val="dk2"/>
            </a:solidFill>
            <a:prstDash val="solid"/>
            <a:round/>
            <a:headEnd len="med" w="med" type="none"/>
            <a:tailEnd len="med" w="med" type="none"/>
          </a:ln>
        </p:spPr>
      </p:cxnSp>
      <p:cxnSp>
        <p:nvCxnSpPr>
          <p:cNvPr id="627" name="Google Shape;627;p69"/>
          <p:cNvCxnSpPr>
            <a:stCxn id="625" idx="3"/>
            <a:endCxn id="617" idx="2"/>
          </p:cNvCxnSpPr>
          <p:nvPr/>
        </p:nvCxnSpPr>
        <p:spPr>
          <a:xfrm flipH="1" rot="10800000">
            <a:off x="7092825" y="2196415"/>
            <a:ext cx="1658400" cy="1076700"/>
          </a:xfrm>
          <a:prstGeom prst="bentConnector2">
            <a:avLst/>
          </a:prstGeom>
          <a:noFill/>
          <a:ln cap="flat" cmpd="sng" w="19050">
            <a:solidFill>
              <a:schemeClr val="dk2"/>
            </a:solidFill>
            <a:prstDash val="solid"/>
            <a:round/>
            <a:headEnd len="med" w="med" type="none"/>
            <a:tailEnd len="med" w="med" type="none"/>
          </a:ln>
        </p:spPr>
      </p:cxnSp>
      <p:cxnSp>
        <p:nvCxnSpPr>
          <p:cNvPr id="628" name="Google Shape;628;p69"/>
          <p:cNvCxnSpPr>
            <a:stCxn id="625" idx="3"/>
            <a:endCxn id="625" idx="1"/>
          </p:cNvCxnSpPr>
          <p:nvPr/>
        </p:nvCxnSpPr>
        <p:spPr>
          <a:xfrm rot="10800000">
            <a:off x="6948825" y="3273115"/>
            <a:ext cx="144000" cy="0"/>
          </a:xfrm>
          <a:prstGeom prst="straightConnector1">
            <a:avLst/>
          </a:prstGeom>
          <a:noFill/>
          <a:ln cap="flat" cmpd="sng" w="19050">
            <a:solidFill>
              <a:schemeClr val="dk2"/>
            </a:solidFill>
            <a:prstDash val="solid"/>
            <a:round/>
            <a:headEnd len="med" w="med" type="none"/>
            <a:tailEnd len="med" w="med" type="none"/>
          </a:ln>
        </p:spPr>
      </p:cxnSp>
      <p:sp>
        <p:nvSpPr>
          <p:cNvPr id="629" name="Google Shape;629;p69"/>
          <p:cNvSpPr txBox="1"/>
          <p:nvPr/>
        </p:nvSpPr>
        <p:spPr>
          <a:xfrm>
            <a:off x="5538120" y="23690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630" name="Google Shape;630;p69"/>
          <p:cNvSpPr txBox="1"/>
          <p:nvPr/>
        </p:nvSpPr>
        <p:spPr>
          <a:xfrm>
            <a:off x="8130645" y="1474615"/>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WithSwiss</a:t>
            </a:r>
            <a:endParaRPr b="1"/>
          </a:p>
        </p:txBody>
      </p:sp>
      <p:sp>
        <p:nvSpPr>
          <p:cNvPr id="631" name="Google Shape;631;p69"/>
          <p:cNvSpPr txBox="1"/>
          <p:nvPr>
            <p:ph idx="1" type="body"/>
          </p:nvPr>
        </p:nvSpPr>
        <p:spPr>
          <a:xfrm>
            <a:off x="243000" y="556500"/>
            <a:ext cx="8443800" cy="10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switch back to the master branch with checkout.</a:t>
            </a:r>
            <a:endParaRPr/>
          </a:p>
        </p:txBody>
      </p:sp>
      <p:sp>
        <p:nvSpPr>
          <p:cNvPr id="632" name="Google Shape;632;p69"/>
          <p:cNvSpPr txBox="1"/>
          <p:nvPr/>
        </p:nvSpPr>
        <p:spPr>
          <a:xfrm>
            <a:off x="90475" y="4788100"/>
            <a:ext cx="675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An earlier version of the slide had some diagram errors.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grpSp>
        <p:nvGrpSpPr>
          <p:cNvPr id="638" name="Google Shape;638;p70"/>
          <p:cNvGrpSpPr/>
          <p:nvPr/>
        </p:nvGrpSpPr>
        <p:grpSpPr>
          <a:xfrm>
            <a:off x="5704079" y="4050246"/>
            <a:ext cx="2524199" cy="631200"/>
            <a:chOff x="6606877" y="1690650"/>
            <a:chExt cx="2524199" cy="631200"/>
          </a:xfrm>
        </p:grpSpPr>
        <p:sp>
          <p:nvSpPr>
            <p:cNvPr id="639" name="Google Shape;639;p70"/>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640" name="Google Shape;640;p70"/>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641" name="Google Shape;641;p70"/>
          <p:cNvGrpSpPr/>
          <p:nvPr/>
        </p:nvGrpSpPr>
        <p:grpSpPr>
          <a:xfrm>
            <a:off x="5705401" y="2514996"/>
            <a:ext cx="2583474" cy="631200"/>
            <a:chOff x="6619801" y="2475153"/>
            <a:chExt cx="2583474" cy="631200"/>
          </a:xfrm>
        </p:grpSpPr>
        <p:sp>
          <p:nvSpPr>
            <p:cNvPr id="642" name="Google Shape;642;p70"/>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643" name="Google Shape;643;p70"/>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sp>
        <p:nvSpPr>
          <p:cNvPr id="644" name="Google Shape;644;p70"/>
          <p:cNvSpPr/>
          <p:nvPr/>
        </p:nvSpPr>
        <p:spPr>
          <a:xfrm>
            <a:off x="85488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33</a:t>
            </a:r>
            <a:endParaRPr b="1"/>
          </a:p>
        </p:txBody>
      </p:sp>
      <p:grpSp>
        <p:nvGrpSpPr>
          <p:cNvPr id="645" name="Google Shape;645;p70"/>
          <p:cNvGrpSpPr/>
          <p:nvPr/>
        </p:nvGrpSpPr>
        <p:grpSpPr>
          <a:xfrm>
            <a:off x="5705401" y="3310045"/>
            <a:ext cx="2562776" cy="631200"/>
            <a:chOff x="6619801" y="3270202"/>
            <a:chExt cx="2562776" cy="631200"/>
          </a:xfrm>
        </p:grpSpPr>
        <p:sp>
          <p:nvSpPr>
            <p:cNvPr id="646" name="Google Shape;646;p70"/>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647" name="Google Shape;647;p70"/>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648" name="Google Shape;648;p70"/>
          <p:cNvCxnSpPr>
            <a:stCxn id="646" idx="2"/>
            <a:endCxn id="639" idx="0"/>
          </p:cNvCxnSpPr>
          <p:nvPr/>
        </p:nvCxnSpPr>
        <p:spPr>
          <a:xfrm flipH="1">
            <a:off x="59067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649" name="Google Shape;649;p70"/>
          <p:cNvCxnSpPr>
            <a:stCxn id="642" idx="2"/>
            <a:endCxn id="646" idx="0"/>
          </p:cNvCxnSpPr>
          <p:nvPr/>
        </p:nvCxnSpPr>
        <p:spPr>
          <a:xfrm>
            <a:off x="59079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650" name="Google Shape;650;p70"/>
          <p:cNvSpPr/>
          <p:nvPr/>
        </p:nvSpPr>
        <p:spPr>
          <a:xfrm>
            <a:off x="5705400" y="1791373"/>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27</a:t>
            </a:r>
            <a:endParaRPr b="1"/>
          </a:p>
        </p:txBody>
      </p:sp>
      <p:cxnSp>
        <p:nvCxnSpPr>
          <p:cNvPr id="651" name="Google Shape;651;p70"/>
          <p:cNvCxnSpPr>
            <a:stCxn id="650" idx="2"/>
            <a:endCxn id="642" idx="0"/>
          </p:cNvCxnSpPr>
          <p:nvPr/>
        </p:nvCxnSpPr>
        <p:spPr>
          <a:xfrm>
            <a:off x="5907900" y="2196373"/>
            <a:ext cx="0" cy="508800"/>
          </a:xfrm>
          <a:prstGeom prst="straightConnector1">
            <a:avLst/>
          </a:prstGeom>
          <a:noFill/>
          <a:ln cap="flat" cmpd="sng" w="19050">
            <a:solidFill>
              <a:schemeClr val="dk2"/>
            </a:solidFill>
            <a:prstDash val="solid"/>
            <a:round/>
            <a:headEnd len="med" w="med" type="none"/>
            <a:tailEnd len="med" w="med" type="triangle"/>
          </a:ln>
        </p:spPr>
      </p:cxnSp>
      <p:sp>
        <p:nvSpPr>
          <p:cNvPr id="652" name="Google Shape;652;p70"/>
          <p:cNvSpPr txBox="1"/>
          <p:nvPr/>
        </p:nvSpPr>
        <p:spPr>
          <a:xfrm>
            <a:off x="6078175" y="1567550"/>
            <a:ext cx="11421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parm”</a:t>
            </a:r>
            <a:endParaRPr/>
          </a:p>
        </p:txBody>
      </p:sp>
      <p:sp>
        <p:nvSpPr>
          <p:cNvPr id="653" name="Google Shape;653;p70"/>
          <p:cNvSpPr txBox="1"/>
          <p:nvPr/>
        </p:nvSpPr>
        <p:spPr>
          <a:xfrm>
            <a:off x="195300" y="1640175"/>
            <a:ext cx="5311500" cy="29337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git checkout master</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subl Cheese.java</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“fixed parm”</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log </a:t>
            </a:r>
            <a:r>
              <a:rPr lang="en">
                <a:solidFill>
                  <a:schemeClr val="lt1"/>
                </a:solidFill>
                <a:highlight>
                  <a:schemeClr val="dk1"/>
                </a:highlight>
                <a:latin typeface="Consolas"/>
                <a:ea typeface="Consolas"/>
                <a:cs typeface="Consolas"/>
                <a:sym typeface="Consolas"/>
              </a:rPr>
              <a:t>--graph --oneline --all --decorate</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33c7a92 (</a:t>
            </a:r>
            <a:r>
              <a:rPr lang="en" sz="1700">
                <a:solidFill>
                  <a:srgbClr val="6AA84F"/>
                </a:solidFill>
                <a:highlight>
                  <a:schemeClr val="dk1"/>
                </a:highlight>
                <a:latin typeface="Consolas"/>
                <a:ea typeface="Consolas"/>
                <a:cs typeface="Consolas"/>
                <a:sym typeface="Consolas"/>
              </a:rPr>
              <a:t>WithSwiss</a:t>
            </a:r>
            <a:r>
              <a:rPr lang="en" sz="1700">
                <a:solidFill>
                  <a:srgbClr val="F1C232"/>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added swiss</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2720092 (</a:t>
            </a:r>
            <a:r>
              <a:rPr b="1" lang="en" sz="1700">
                <a:solidFill>
                  <a:srgbClr val="6D9EEB"/>
                </a:solidFill>
                <a:highlight>
                  <a:schemeClr val="dk1"/>
                </a:highlight>
                <a:latin typeface="Consolas"/>
                <a:ea typeface="Consolas"/>
                <a:cs typeface="Consolas"/>
                <a:sym typeface="Consolas"/>
              </a:rPr>
              <a:t>HEAD</a:t>
            </a:r>
            <a:r>
              <a:rPr lang="en" sz="1700">
                <a:solidFill>
                  <a:schemeClr val="lt1"/>
                </a:solidFill>
                <a:highlight>
                  <a:schemeClr val="dk1"/>
                </a:highlight>
                <a:latin typeface="Consolas"/>
                <a:ea typeface="Consolas"/>
                <a:cs typeface="Consolas"/>
                <a:sym typeface="Consolas"/>
              </a:rPr>
              <a:t>, </a:t>
            </a:r>
            <a:r>
              <a:rPr lang="en" sz="1700">
                <a:solidFill>
                  <a:srgbClr val="6AA84F"/>
                </a:solidFill>
                <a:highlight>
                  <a:schemeClr val="dk1"/>
                </a:highlight>
                <a:latin typeface="Consolas"/>
                <a:ea typeface="Consolas"/>
                <a:cs typeface="Consolas"/>
                <a:sym typeface="Consolas"/>
              </a:rPr>
              <a:t>master</a:t>
            </a:r>
            <a:r>
              <a:rPr lang="en" sz="1700">
                <a:solidFill>
                  <a:srgbClr val="F1C232"/>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fixed parm</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7e41ce1 </a:t>
            </a:r>
            <a:r>
              <a:rPr lang="en" sz="1700">
                <a:solidFill>
                  <a:schemeClr val="lt1"/>
                </a:solidFill>
                <a:highlight>
                  <a:schemeClr val="dk1"/>
                </a:highlight>
                <a:latin typeface="Consolas"/>
                <a:ea typeface="Consolas"/>
                <a:cs typeface="Consolas"/>
                <a:sym typeface="Consolas"/>
              </a:rPr>
              <a:t>added parmesan</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aa45fbd</a:t>
            </a:r>
            <a:r>
              <a:rPr lang="en" sz="1700">
                <a:solidFill>
                  <a:schemeClr val="lt1"/>
                </a:solidFill>
                <a:highlight>
                  <a:schemeClr val="dk1"/>
                </a:highlight>
                <a:latin typeface="Consolas"/>
                <a:ea typeface="Consolas"/>
                <a:cs typeface="Consolas"/>
                <a:sym typeface="Consolas"/>
              </a:rPr>
              <a:t>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d1bde19</a:t>
            </a:r>
            <a:r>
              <a:rPr lang="en" sz="1700">
                <a:solidFill>
                  <a:schemeClr val="lt1"/>
                </a:solidFill>
                <a:highlight>
                  <a:schemeClr val="dk1"/>
                </a:highlight>
                <a:latin typeface="Consolas"/>
                <a:ea typeface="Consolas"/>
                <a:cs typeface="Consolas"/>
                <a:sym typeface="Consolas"/>
              </a:rPr>
              <a:t>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700">
              <a:solidFill>
                <a:srgbClr val="FFFFFF"/>
              </a:solidFill>
              <a:highlight>
                <a:srgbClr val="000000"/>
              </a:highlight>
              <a:latin typeface="Consolas"/>
              <a:ea typeface="Consolas"/>
              <a:cs typeface="Consolas"/>
              <a:sym typeface="Consolas"/>
            </a:endParaRPr>
          </a:p>
        </p:txBody>
      </p:sp>
      <p:sp>
        <p:nvSpPr>
          <p:cNvPr id="654" name="Google Shape;654;p70"/>
          <p:cNvSpPr txBox="1"/>
          <p:nvPr/>
        </p:nvSpPr>
        <p:spPr>
          <a:xfrm>
            <a:off x="7306230" y="1574175"/>
            <a:ext cx="1281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swiss”</a:t>
            </a:r>
            <a:endParaRPr/>
          </a:p>
        </p:txBody>
      </p:sp>
      <p:sp>
        <p:nvSpPr>
          <p:cNvPr id="655" name="Google Shape;655;p70"/>
          <p:cNvSpPr txBox="1"/>
          <p:nvPr/>
        </p:nvSpPr>
        <p:spPr>
          <a:xfrm>
            <a:off x="6948825" y="3073015"/>
            <a:ext cx="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656" name="Google Shape;656;p70"/>
          <p:cNvCxnSpPr>
            <a:stCxn id="655" idx="1"/>
            <a:endCxn id="646" idx="0"/>
          </p:cNvCxnSpPr>
          <p:nvPr/>
        </p:nvCxnSpPr>
        <p:spPr>
          <a:xfrm flipH="1">
            <a:off x="5907825" y="3273115"/>
            <a:ext cx="1041000" cy="216000"/>
          </a:xfrm>
          <a:prstGeom prst="bentConnector2">
            <a:avLst/>
          </a:prstGeom>
          <a:noFill/>
          <a:ln cap="flat" cmpd="sng" w="19050">
            <a:solidFill>
              <a:schemeClr val="dk2"/>
            </a:solidFill>
            <a:prstDash val="solid"/>
            <a:round/>
            <a:headEnd len="med" w="med" type="none"/>
            <a:tailEnd len="med" w="med" type="none"/>
          </a:ln>
        </p:spPr>
      </p:cxnSp>
      <p:cxnSp>
        <p:nvCxnSpPr>
          <p:cNvPr id="657" name="Google Shape;657;p70"/>
          <p:cNvCxnSpPr>
            <a:stCxn id="655" idx="3"/>
            <a:endCxn id="644" idx="2"/>
          </p:cNvCxnSpPr>
          <p:nvPr/>
        </p:nvCxnSpPr>
        <p:spPr>
          <a:xfrm flipH="1" rot="10800000">
            <a:off x="7092825" y="2196415"/>
            <a:ext cx="1658400" cy="1076700"/>
          </a:xfrm>
          <a:prstGeom prst="bentConnector2">
            <a:avLst/>
          </a:prstGeom>
          <a:noFill/>
          <a:ln cap="flat" cmpd="sng" w="19050">
            <a:solidFill>
              <a:schemeClr val="dk2"/>
            </a:solidFill>
            <a:prstDash val="solid"/>
            <a:round/>
            <a:headEnd len="med" w="med" type="none"/>
            <a:tailEnd len="med" w="med" type="none"/>
          </a:ln>
        </p:spPr>
      </p:cxnSp>
      <p:cxnSp>
        <p:nvCxnSpPr>
          <p:cNvPr id="658" name="Google Shape;658;p70"/>
          <p:cNvCxnSpPr>
            <a:stCxn id="655" idx="3"/>
            <a:endCxn id="655" idx="1"/>
          </p:cNvCxnSpPr>
          <p:nvPr/>
        </p:nvCxnSpPr>
        <p:spPr>
          <a:xfrm rot="10800000">
            <a:off x="6948825" y="3273115"/>
            <a:ext cx="144000" cy="0"/>
          </a:xfrm>
          <a:prstGeom prst="straightConnector1">
            <a:avLst/>
          </a:prstGeom>
          <a:noFill/>
          <a:ln cap="flat" cmpd="sng" w="19050">
            <a:solidFill>
              <a:schemeClr val="dk2"/>
            </a:solidFill>
            <a:prstDash val="solid"/>
            <a:round/>
            <a:headEnd len="med" w="med" type="none"/>
            <a:tailEnd len="med" w="med" type="none"/>
          </a:ln>
        </p:spPr>
      </p:cxnSp>
      <p:sp>
        <p:nvSpPr>
          <p:cNvPr id="659" name="Google Shape;659;p70"/>
          <p:cNvSpPr txBox="1"/>
          <p:nvPr/>
        </p:nvSpPr>
        <p:spPr>
          <a:xfrm>
            <a:off x="5538120" y="14546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660" name="Google Shape;660;p70"/>
          <p:cNvSpPr txBox="1"/>
          <p:nvPr/>
        </p:nvSpPr>
        <p:spPr>
          <a:xfrm>
            <a:off x="8130645" y="1474615"/>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W</a:t>
            </a:r>
            <a:r>
              <a:rPr b="1" lang="en"/>
              <a:t>ithSwiss</a:t>
            </a:r>
            <a:endParaRPr b="1"/>
          </a:p>
        </p:txBody>
      </p:sp>
      <p:sp>
        <p:nvSpPr>
          <p:cNvPr id="661" name="Google Shape;661;p70"/>
          <p:cNvSpPr txBox="1"/>
          <p:nvPr/>
        </p:nvSpPr>
        <p:spPr>
          <a:xfrm>
            <a:off x="90475" y="4788100"/>
            <a:ext cx="675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Note: An earlier version of the slide had some diagram errors. </a:t>
            </a:r>
            <a:endParaRPr/>
          </a:p>
        </p:txBody>
      </p:sp>
      <p:sp>
        <p:nvSpPr>
          <p:cNvPr id="662" name="Google Shape;662;p7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After switching back to master branch, can continue to make changes.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7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sp>
        <p:nvSpPr>
          <p:cNvPr id="668" name="Google Shape;668;p71"/>
          <p:cNvSpPr txBox="1"/>
          <p:nvPr>
            <p:ph idx="1" type="body"/>
          </p:nvPr>
        </p:nvSpPr>
        <p:spPr>
          <a:xfrm>
            <a:off x="243000" y="556500"/>
            <a:ext cx="8443800" cy="213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Can (attempt to) merge branches.</a:t>
            </a:r>
            <a:endParaRPr/>
          </a:p>
        </p:txBody>
      </p:sp>
      <p:pic>
        <p:nvPicPr>
          <p:cNvPr id="669" name="Google Shape;669;p71"/>
          <p:cNvPicPr preferRelativeResize="0"/>
          <p:nvPr/>
        </p:nvPicPr>
        <p:blipFill>
          <a:blip r:embed="rId3">
            <a:alphaModFix/>
          </a:blip>
          <a:stretch>
            <a:fillRect/>
          </a:stretch>
        </p:blipFill>
        <p:spPr>
          <a:xfrm>
            <a:off x="5910250" y="1175325"/>
            <a:ext cx="2847975" cy="3638550"/>
          </a:xfrm>
          <a:prstGeom prst="rect">
            <a:avLst/>
          </a:prstGeom>
          <a:noFill/>
          <a:ln>
            <a:noFill/>
          </a:ln>
        </p:spPr>
      </p:pic>
      <p:sp>
        <p:nvSpPr>
          <p:cNvPr id="670" name="Google Shape;670;p71"/>
          <p:cNvSpPr/>
          <p:nvPr/>
        </p:nvSpPr>
        <p:spPr>
          <a:xfrm>
            <a:off x="5565925" y="1987825"/>
            <a:ext cx="329100" cy="13572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71"/>
          <p:cNvSpPr/>
          <p:nvPr/>
        </p:nvSpPr>
        <p:spPr>
          <a:xfrm>
            <a:off x="5552121" y="3425673"/>
            <a:ext cx="329100" cy="13572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1"/>
          <p:cNvSpPr txBox="1"/>
          <p:nvPr/>
        </p:nvSpPr>
        <p:spPr>
          <a:xfrm>
            <a:off x="3405300" y="2150725"/>
            <a:ext cx="21471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Stuff that was in Cheese.java in the  master branch, but not in the WithSwiss branch</a:t>
            </a:r>
            <a:endParaRPr/>
          </a:p>
        </p:txBody>
      </p:sp>
      <p:sp>
        <p:nvSpPr>
          <p:cNvPr id="673" name="Google Shape;673;p71"/>
          <p:cNvSpPr txBox="1"/>
          <p:nvPr/>
        </p:nvSpPr>
        <p:spPr>
          <a:xfrm>
            <a:off x="3431150" y="3522325"/>
            <a:ext cx="212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Stuff that was in Cheese.java in the WithSwiss branch, but not in the master branch</a:t>
            </a:r>
            <a:endParaRPr/>
          </a:p>
        </p:txBody>
      </p:sp>
      <p:sp>
        <p:nvSpPr>
          <p:cNvPr id="674" name="Google Shape;674;p71"/>
          <p:cNvSpPr txBox="1"/>
          <p:nvPr/>
        </p:nvSpPr>
        <p:spPr>
          <a:xfrm>
            <a:off x="195300" y="1106775"/>
            <a:ext cx="5277900" cy="9675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3C47D"/>
                </a:solidFill>
                <a:highlight>
                  <a:schemeClr val="dk1"/>
                </a:highlight>
                <a:latin typeface="Consolas"/>
                <a:ea typeface="Consolas"/>
                <a:cs typeface="Consolas"/>
                <a:sym typeface="Consolas"/>
              </a:rPr>
              <a:t>$</a:t>
            </a:r>
            <a:r>
              <a:rPr lang="en" sz="1200">
                <a:solidFill>
                  <a:schemeClr val="lt1"/>
                </a:solidFill>
                <a:highlight>
                  <a:schemeClr val="dk1"/>
                </a:highlight>
                <a:latin typeface="Consolas"/>
                <a:ea typeface="Consolas"/>
                <a:cs typeface="Consolas"/>
                <a:sym typeface="Consolas"/>
              </a:rPr>
              <a:t> git merge WithSwiss</a:t>
            </a:r>
            <a:endParaRPr sz="12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200">
                <a:solidFill>
                  <a:srgbClr val="93C47D"/>
                </a:solidFill>
                <a:highlight>
                  <a:schemeClr val="dk1"/>
                </a:highlight>
                <a:latin typeface="Consolas"/>
                <a:ea typeface="Consolas"/>
                <a:cs typeface="Consolas"/>
                <a:sym typeface="Consolas"/>
              </a:rPr>
              <a:t>$</a:t>
            </a:r>
            <a:r>
              <a:rPr lang="en" sz="1200">
                <a:solidFill>
                  <a:schemeClr val="lt1"/>
                </a:solidFill>
                <a:highlight>
                  <a:schemeClr val="dk1"/>
                </a:highlight>
                <a:latin typeface="Consolas"/>
                <a:ea typeface="Consolas"/>
                <a:cs typeface="Consolas"/>
                <a:sym typeface="Consolas"/>
              </a:rPr>
              <a:t> Auto-merging Cheese.java</a:t>
            </a:r>
            <a:endParaRPr sz="12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200">
                <a:solidFill>
                  <a:schemeClr val="lt1"/>
                </a:solidFill>
                <a:highlight>
                  <a:schemeClr val="dk1"/>
                </a:highlight>
                <a:latin typeface="Consolas"/>
                <a:ea typeface="Consolas"/>
                <a:cs typeface="Consolas"/>
                <a:sym typeface="Consolas"/>
              </a:rPr>
              <a:t>CONFLICT (content): Merge conflict in Cheese.java </a:t>
            </a:r>
            <a:endParaRPr sz="12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200">
                <a:solidFill>
                  <a:schemeClr val="lt1"/>
                </a:solidFill>
                <a:highlight>
                  <a:schemeClr val="dk1"/>
                </a:highlight>
                <a:latin typeface="Consolas"/>
                <a:ea typeface="Consolas"/>
                <a:cs typeface="Consolas"/>
                <a:sym typeface="Consolas"/>
              </a:rPr>
              <a:t>Automatic merge failed; fix conflicts and commit the result.</a:t>
            </a:r>
            <a:endParaRPr sz="1200">
              <a:solidFill>
                <a:srgbClr val="FFFFFF"/>
              </a:solidFill>
              <a:highlight>
                <a:srgbClr val="000000"/>
              </a:highlight>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grpSp>
        <p:nvGrpSpPr>
          <p:cNvPr id="680" name="Google Shape;680;p72"/>
          <p:cNvGrpSpPr/>
          <p:nvPr/>
        </p:nvGrpSpPr>
        <p:grpSpPr>
          <a:xfrm>
            <a:off x="5704079" y="4050246"/>
            <a:ext cx="2524199" cy="631200"/>
            <a:chOff x="6606877" y="1690650"/>
            <a:chExt cx="2524199" cy="631200"/>
          </a:xfrm>
        </p:grpSpPr>
        <p:sp>
          <p:nvSpPr>
            <p:cNvPr id="681" name="Google Shape;681;p72"/>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682" name="Google Shape;682;p72"/>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683" name="Google Shape;683;p72"/>
          <p:cNvGrpSpPr/>
          <p:nvPr/>
        </p:nvGrpSpPr>
        <p:grpSpPr>
          <a:xfrm>
            <a:off x="5705401" y="2514996"/>
            <a:ext cx="2583474" cy="631200"/>
            <a:chOff x="6619801" y="2475153"/>
            <a:chExt cx="2583474" cy="631200"/>
          </a:xfrm>
        </p:grpSpPr>
        <p:sp>
          <p:nvSpPr>
            <p:cNvPr id="684" name="Google Shape;684;p72"/>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685" name="Google Shape;685;p72"/>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sp>
        <p:nvSpPr>
          <p:cNvPr id="686" name="Google Shape;686;p72"/>
          <p:cNvSpPr/>
          <p:nvPr/>
        </p:nvSpPr>
        <p:spPr>
          <a:xfrm>
            <a:off x="85488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33</a:t>
            </a:r>
            <a:endParaRPr b="1"/>
          </a:p>
        </p:txBody>
      </p:sp>
      <p:grpSp>
        <p:nvGrpSpPr>
          <p:cNvPr id="687" name="Google Shape;687;p72"/>
          <p:cNvGrpSpPr/>
          <p:nvPr/>
        </p:nvGrpSpPr>
        <p:grpSpPr>
          <a:xfrm>
            <a:off x="5705401" y="3310045"/>
            <a:ext cx="2562776" cy="631200"/>
            <a:chOff x="6619801" y="3270202"/>
            <a:chExt cx="2562776" cy="631200"/>
          </a:xfrm>
        </p:grpSpPr>
        <p:sp>
          <p:nvSpPr>
            <p:cNvPr id="688" name="Google Shape;688;p72"/>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689" name="Google Shape;689;p72"/>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690" name="Google Shape;690;p72"/>
          <p:cNvCxnSpPr>
            <a:stCxn id="688" idx="2"/>
            <a:endCxn id="681" idx="0"/>
          </p:cNvCxnSpPr>
          <p:nvPr/>
        </p:nvCxnSpPr>
        <p:spPr>
          <a:xfrm flipH="1">
            <a:off x="59067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691" name="Google Shape;691;p72"/>
          <p:cNvCxnSpPr>
            <a:stCxn id="684" idx="2"/>
            <a:endCxn id="688" idx="0"/>
          </p:cNvCxnSpPr>
          <p:nvPr/>
        </p:nvCxnSpPr>
        <p:spPr>
          <a:xfrm>
            <a:off x="59079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692" name="Google Shape;692;p72"/>
          <p:cNvSpPr/>
          <p:nvPr/>
        </p:nvSpPr>
        <p:spPr>
          <a:xfrm>
            <a:off x="57054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27</a:t>
            </a:r>
            <a:endParaRPr b="1"/>
          </a:p>
        </p:txBody>
      </p:sp>
      <p:cxnSp>
        <p:nvCxnSpPr>
          <p:cNvPr id="693" name="Google Shape;693;p72"/>
          <p:cNvCxnSpPr>
            <a:stCxn id="692" idx="2"/>
            <a:endCxn id="684" idx="0"/>
          </p:cNvCxnSpPr>
          <p:nvPr/>
        </p:nvCxnSpPr>
        <p:spPr>
          <a:xfrm>
            <a:off x="5907900" y="2196373"/>
            <a:ext cx="0" cy="508800"/>
          </a:xfrm>
          <a:prstGeom prst="straightConnector1">
            <a:avLst/>
          </a:prstGeom>
          <a:noFill/>
          <a:ln cap="flat" cmpd="sng" w="19050">
            <a:solidFill>
              <a:schemeClr val="dk2"/>
            </a:solidFill>
            <a:prstDash val="solid"/>
            <a:round/>
            <a:headEnd len="med" w="med" type="none"/>
            <a:tailEnd len="med" w="med" type="triangle"/>
          </a:ln>
        </p:spPr>
      </p:cxnSp>
      <p:sp>
        <p:nvSpPr>
          <p:cNvPr id="694" name="Google Shape;694;p72"/>
          <p:cNvSpPr txBox="1"/>
          <p:nvPr/>
        </p:nvSpPr>
        <p:spPr>
          <a:xfrm>
            <a:off x="6078175" y="1567550"/>
            <a:ext cx="11421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parm”</a:t>
            </a:r>
            <a:endParaRPr/>
          </a:p>
        </p:txBody>
      </p:sp>
      <p:sp>
        <p:nvSpPr>
          <p:cNvPr id="695" name="Google Shape;695;p72"/>
          <p:cNvSpPr/>
          <p:nvPr/>
        </p:nvSpPr>
        <p:spPr>
          <a:xfrm>
            <a:off x="5705400" y="875173"/>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fa</a:t>
            </a:r>
            <a:endParaRPr b="1"/>
          </a:p>
        </p:txBody>
      </p:sp>
      <p:cxnSp>
        <p:nvCxnSpPr>
          <p:cNvPr id="696" name="Google Shape;696;p72"/>
          <p:cNvCxnSpPr>
            <a:stCxn id="695" idx="2"/>
            <a:endCxn id="692" idx="0"/>
          </p:cNvCxnSpPr>
          <p:nvPr/>
        </p:nvCxnSpPr>
        <p:spPr>
          <a:xfrm>
            <a:off x="5907900" y="1280173"/>
            <a:ext cx="0" cy="511200"/>
          </a:xfrm>
          <a:prstGeom prst="straightConnector1">
            <a:avLst/>
          </a:prstGeom>
          <a:noFill/>
          <a:ln cap="flat" cmpd="sng" w="19050">
            <a:solidFill>
              <a:schemeClr val="dk2"/>
            </a:solidFill>
            <a:prstDash val="solid"/>
            <a:round/>
            <a:headEnd len="med" w="med" type="none"/>
            <a:tailEnd len="med" w="med" type="triangle"/>
          </a:ln>
        </p:spPr>
      </p:cxnSp>
      <p:sp>
        <p:nvSpPr>
          <p:cNvPr id="697" name="Google Shape;697;p72"/>
          <p:cNvSpPr txBox="1"/>
          <p:nvPr/>
        </p:nvSpPr>
        <p:spPr>
          <a:xfrm>
            <a:off x="6110395" y="8890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“resolve merge”</a:t>
            </a:r>
            <a:endParaRPr/>
          </a:p>
        </p:txBody>
      </p:sp>
      <p:sp>
        <p:nvSpPr>
          <p:cNvPr id="698" name="Google Shape;698;p72"/>
          <p:cNvSpPr txBox="1"/>
          <p:nvPr/>
        </p:nvSpPr>
        <p:spPr>
          <a:xfrm>
            <a:off x="195300" y="1944975"/>
            <a:ext cx="5311500" cy="29337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add .; git commit -m “resolve merge”</a:t>
            </a:r>
            <a:endParaRPr sz="17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rgbClr val="93C47D"/>
                </a:solidFill>
                <a:highlight>
                  <a:schemeClr val="dk1"/>
                </a:highlight>
                <a:latin typeface="Consolas"/>
                <a:ea typeface="Consolas"/>
                <a:cs typeface="Consolas"/>
                <a:sym typeface="Consolas"/>
              </a:rPr>
              <a:t>$ </a:t>
            </a:r>
            <a:r>
              <a:rPr lang="en" sz="1700">
                <a:solidFill>
                  <a:schemeClr val="lt1"/>
                </a:solidFill>
                <a:highlight>
                  <a:schemeClr val="dk1"/>
                </a:highlight>
                <a:latin typeface="Consolas"/>
                <a:ea typeface="Consolas"/>
                <a:cs typeface="Consolas"/>
                <a:sym typeface="Consolas"/>
              </a:rPr>
              <a:t>git log </a:t>
            </a:r>
            <a:r>
              <a:rPr lang="en">
                <a:solidFill>
                  <a:schemeClr val="lt1"/>
                </a:solidFill>
                <a:highlight>
                  <a:schemeClr val="dk1"/>
                </a:highlight>
                <a:latin typeface="Consolas"/>
                <a:ea typeface="Consolas"/>
                <a:cs typeface="Consolas"/>
                <a:sym typeface="Consolas"/>
              </a:rPr>
              <a:t>--graph --oneline --all --decorate</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faff9d1 (</a:t>
            </a:r>
            <a:r>
              <a:rPr b="1" lang="en" sz="1700">
                <a:solidFill>
                  <a:srgbClr val="6D9EEB"/>
                </a:solidFill>
                <a:highlight>
                  <a:schemeClr val="dk1"/>
                </a:highlight>
                <a:latin typeface="Consolas"/>
                <a:ea typeface="Consolas"/>
                <a:cs typeface="Consolas"/>
                <a:sym typeface="Consolas"/>
              </a:rPr>
              <a:t>HEAD</a:t>
            </a:r>
            <a:r>
              <a:rPr lang="en" sz="1700">
                <a:solidFill>
                  <a:schemeClr val="lt1"/>
                </a:solidFill>
                <a:highlight>
                  <a:schemeClr val="dk1"/>
                </a:highlight>
                <a:latin typeface="Consolas"/>
                <a:ea typeface="Consolas"/>
                <a:cs typeface="Consolas"/>
                <a:sym typeface="Consolas"/>
              </a:rPr>
              <a:t>, </a:t>
            </a:r>
            <a:r>
              <a:rPr lang="en" sz="1700">
                <a:solidFill>
                  <a:srgbClr val="6AA84F"/>
                </a:solidFill>
                <a:highlight>
                  <a:schemeClr val="dk1"/>
                </a:highlight>
                <a:latin typeface="Consolas"/>
                <a:ea typeface="Consolas"/>
                <a:cs typeface="Consolas"/>
                <a:sym typeface="Consolas"/>
              </a:rPr>
              <a:t>master</a:t>
            </a:r>
            <a:r>
              <a:rPr lang="en" sz="1700">
                <a:solidFill>
                  <a:srgbClr val="F1C232"/>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resolve merge</a:t>
            </a:r>
            <a:endParaRPr>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33c7a92 (</a:t>
            </a:r>
            <a:r>
              <a:rPr lang="en" sz="1700">
                <a:solidFill>
                  <a:srgbClr val="6AA84F"/>
                </a:solidFill>
                <a:highlight>
                  <a:schemeClr val="dk1"/>
                </a:highlight>
                <a:latin typeface="Consolas"/>
                <a:ea typeface="Consolas"/>
                <a:cs typeface="Consolas"/>
                <a:sym typeface="Consolas"/>
              </a:rPr>
              <a:t>WithSwiss</a:t>
            </a:r>
            <a:r>
              <a:rPr lang="en" sz="1700">
                <a:solidFill>
                  <a:srgbClr val="F1C232"/>
                </a:solidFill>
                <a:highlight>
                  <a:schemeClr val="dk1"/>
                </a:highlight>
                <a:latin typeface="Consolas"/>
                <a:ea typeface="Consolas"/>
                <a:cs typeface="Consolas"/>
                <a:sym typeface="Consolas"/>
              </a:rPr>
              <a:t>)</a:t>
            </a:r>
            <a:r>
              <a:rPr lang="en" sz="1700">
                <a:solidFill>
                  <a:schemeClr val="lt1"/>
                </a:solidFill>
                <a:highlight>
                  <a:schemeClr val="dk1"/>
                </a:highlight>
                <a:latin typeface="Consolas"/>
                <a:ea typeface="Consolas"/>
                <a:cs typeface="Consolas"/>
                <a:sym typeface="Consolas"/>
              </a:rPr>
              <a:t> added swiss</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2720092 </a:t>
            </a:r>
            <a:r>
              <a:rPr lang="en" sz="1700">
                <a:solidFill>
                  <a:schemeClr val="lt1"/>
                </a:solidFill>
                <a:highlight>
                  <a:schemeClr val="dk1"/>
                </a:highlight>
                <a:latin typeface="Consolas"/>
                <a:ea typeface="Consolas"/>
                <a:cs typeface="Consolas"/>
                <a:sym typeface="Consolas"/>
              </a:rPr>
              <a:t>fixed parm</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 </a:t>
            </a:r>
            <a:r>
              <a:rPr lang="en" sz="1700">
                <a:solidFill>
                  <a:srgbClr val="F1C232"/>
                </a:solidFill>
                <a:highlight>
                  <a:schemeClr val="dk1"/>
                </a:highlight>
                <a:latin typeface="Consolas"/>
                <a:ea typeface="Consolas"/>
                <a:cs typeface="Consolas"/>
                <a:sym typeface="Consolas"/>
              </a:rPr>
              <a:t>7e41ce1 </a:t>
            </a:r>
            <a:r>
              <a:rPr lang="en" sz="1700">
                <a:solidFill>
                  <a:schemeClr val="lt1"/>
                </a:solidFill>
                <a:highlight>
                  <a:schemeClr val="dk1"/>
                </a:highlight>
                <a:latin typeface="Consolas"/>
                <a:ea typeface="Consolas"/>
                <a:cs typeface="Consolas"/>
                <a:sym typeface="Consolas"/>
              </a:rPr>
              <a:t>added parmesan</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aa45fbd</a:t>
            </a:r>
            <a:r>
              <a:rPr lang="en" sz="1700">
                <a:solidFill>
                  <a:schemeClr val="lt1"/>
                </a:solidFill>
                <a:highlight>
                  <a:schemeClr val="dk1"/>
                </a:highlight>
                <a:latin typeface="Consolas"/>
                <a:ea typeface="Consolas"/>
                <a:cs typeface="Consolas"/>
                <a:sym typeface="Consolas"/>
              </a:rPr>
              <a:t> fixed cheese bug</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700">
                <a:solidFill>
                  <a:schemeClr val="lt1"/>
                </a:solidFill>
                <a:highlight>
                  <a:schemeClr val="dk1"/>
                </a:highlight>
                <a:latin typeface="Consolas"/>
                <a:ea typeface="Consolas"/>
                <a:cs typeface="Consolas"/>
                <a:sym typeface="Consolas"/>
              </a:rPr>
              <a:t>* </a:t>
            </a:r>
            <a:r>
              <a:rPr lang="en" sz="1700">
                <a:solidFill>
                  <a:srgbClr val="F1C232"/>
                </a:solidFill>
                <a:highlight>
                  <a:schemeClr val="dk1"/>
                </a:highlight>
                <a:latin typeface="Consolas"/>
                <a:ea typeface="Consolas"/>
                <a:cs typeface="Consolas"/>
                <a:sym typeface="Consolas"/>
              </a:rPr>
              <a:t>d1bde19</a:t>
            </a:r>
            <a:r>
              <a:rPr lang="en" sz="1700">
                <a:solidFill>
                  <a:schemeClr val="lt1"/>
                </a:solidFill>
                <a:highlight>
                  <a:schemeClr val="dk1"/>
                </a:highlight>
                <a:latin typeface="Consolas"/>
                <a:ea typeface="Consolas"/>
                <a:cs typeface="Consolas"/>
                <a:sym typeface="Consolas"/>
              </a:rPr>
              <a:t> version 1 of my code</a:t>
            </a:r>
            <a:endParaRPr sz="17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700">
              <a:solidFill>
                <a:srgbClr val="FFFFFF"/>
              </a:solidFill>
              <a:highlight>
                <a:srgbClr val="000000"/>
              </a:highlight>
              <a:latin typeface="Consolas"/>
              <a:ea typeface="Consolas"/>
              <a:cs typeface="Consolas"/>
              <a:sym typeface="Consolas"/>
            </a:endParaRPr>
          </a:p>
        </p:txBody>
      </p:sp>
      <p:sp>
        <p:nvSpPr>
          <p:cNvPr id="699" name="Google Shape;699;p72"/>
          <p:cNvSpPr txBox="1"/>
          <p:nvPr/>
        </p:nvSpPr>
        <p:spPr>
          <a:xfrm>
            <a:off x="7306230" y="1574175"/>
            <a:ext cx="1281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swiss”</a:t>
            </a:r>
            <a:endParaRPr/>
          </a:p>
        </p:txBody>
      </p:sp>
      <p:sp>
        <p:nvSpPr>
          <p:cNvPr id="700" name="Google Shape;700;p72"/>
          <p:cNvSpPr txBox="1"/>
          <p:nvPr/>
        </p:nvSpPr>
        <p:spPr>
          <a:xfrm>
            <a:off x="6872625" y="3206620"/>
            <a:ext cx="144000" cy="8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701" name="Google Shape;701;p72"/>
          <p:cNvCxnSpPr>
            <a:stCxn id="700" idx="1"/>
            <a:endCxn id="688" idx="0"/>
          </p:cNvCxnSpPr>
          <p:nvPr/>
        </p:nvCxnSpPr>
        <p:spPr>
          <a:xfrm flipH="1">
            <a:off x="5907825" y="3250420"/>
            <a:ext cx="964800" cy="238500"/>
          </a:xfrm>
          <a:prstGeom prst="bentConnector2">
            <a:avLst/>
          </a:prstGeom>
          <a:noFill/>
          <a:ln cap="flat" cmpd="sng" w="19050">
            <a:solidFill>
              <a:schemeClr val="dk2"/>
            </a:solidFill>
            <a:prstDash val="solid"/>
            <a:round/>
            <a:headEnd len="med" w="med" type="none"/>
            <a:tailEnd len="med" w="med" type="none"/>
          </a:ln>
        </p:spPr>
      </p:cxnSp>
      <p:cxnSp>
        <p:nvCxnSpPr>
          <p:cNvPr id="702" name="Google Shape;702;p72"/>
          <p:cNvCxnSpPr>
            <a:stCxn id="700" idx="3"/>
            <a:endCxn id="686" idx="2"/>
          </p:cNvCxnSpPr>
          <p:nvPr/>
        </p:nvCxnSpPr>
        <p:spPr>
          <a:xfrm flipH="1" rot="10800000">
            <a:off x="7016625" y="2196520"/>
            <a:ext cx="1734600" cy="1053900"/>
          </a:xfrm>
          <a:prstGeom prst="bentConnector2">
            <a:avLst/>
          </a:prstGeom>
          <a:noFill/>
          <a:ln cap="flat" cmpd="sng" w="19050">
            <a:solidFill>
              <a:schemeClr val="dk2"/>
            </a:solidFill>
            <a:prstDash val="solid"/>
            <a:round/>
            <a:headEnd len="med" w="med" type="none"/>
            <a:tailEnd len="med" w="med" type="none"/>
          </a:ln>
        </p:spPr>
      </p:cxnSp>
      <p:cxnSp>
        <p:nvCxnSpPr>
          <p:cNvPr id="703" name="Google Shape;703;p72"/>
          <p:cNvCxnSpPr>
            <a:stCxn id="700" idx="3"/>
            <a:endCxn id="700" idx="1"/>
          </p:cNvCxnSpPr>
          <p:nvPr/>
        </p:nvCxnSpPr>
        <p:spPr>
          <a:xfrm rot="10800000">
            <a:off x="6872625" y="3250420"/>
            <a:ext cx="144000" cy="0"/>
          </a:xfrm>
          <a:prstGeom prst="straightConnector1">
            <a:avLst/>
          </a:prstGeom>
          <a:noFill/>
          <a:ln cap="flat" cmpd="sng" w="19050">
            <a:solidFill>
              <a:schemeClr val="dk2"/>
            </a:solidFill>
            <a:prstDash val="solid"/>
            <a:round/>
            <a:headEnd len="med" w="med" type="none"/>
            <a:tailEnd len="med" w="med" type="none"/>
          </a:ln>
        </p:spPr>
      </p:cxnSp>
      <p:cxnSp>
        <p:nvCxnSpPr>
          <p:cNvPr id="704" name="Google Shape;704;p72"/>
          <p:cNvCxnSpPr>
            <a:stCxn id="695" idx="2"/>
            <a:endCxn id="686" idx="0"/>
          </p:cNvCxnSpPr>
          <p:nvPr/>
        </p:nvCxnSpPr>
        <p:spPr>
          <a:xfrm flipH="1" rot="-5400000">
            <a:off x="7074000" y="114073"/>
            <a:ext cx="511200" cy="2843400"/>
          </a:xfrm>
          <a:prstGeom prst="bentConnector3">
            <a:avLst>
              <a:gd fmla="val 50000" name="adj1"/>
            </a:avLst>
          </a:prstGeom>
          <a:noFill/>
          <a:ln cap="flat" cmpd="sng" w="19050">
            <a:solidFill>
              <a:schemeClr val="dk2"/>
            </a:solidFill>
            <a:prstDash val="solid"/>
            <a:round/>
            <a:headEnd len="med" w="med" type="none"/>
            <a:tailEnd len="med" w="med" type="triangle"/>
          </a:ln>
        </p:spPr>
      </p:cxnSp>
      <p:sp>
        <p:nvSpPr>
          <p:cNvPr id="705" name="Google Shape;705;p72"/>
          <p:cNvSpPr txBox="1"/>
          <p:nvPr/>
        </p:nvSpPr>
        <p:spPr>
          <a:xfrm>
            <a:off x="5538120" y="5402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706" name="Google Shape;706;p72"/>
          <p:cNvSpPr txBox="1"/>
          <p:nvPr/>
        </p:nvSpPr>
        <p:spPr>
          <a:xfrm>
            <a:off x="8130645" y="118861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WithSwiss</a:t>
            </a:r>
            <a:endParaRPr b="1"/>
          </a:p>
        </p:txBody>
      </p:sp>
      <p:sp>
        <p:nvSpPr>
          <p:cNvPr id="707" name="Google Shape;707;p72"/>
          <p:cNvSpPr txBox="1"/>
          <p:nvPr>
            <p:ph idx="1" type="body"/>
          </p:nvPr>
        </p:nvSpPr>
        <p:spPr>
          <a:xfrm>
            <a:off x="243000" y="556500"/>
            <a:ext cx="8443800" cy="51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After resolving conflict and making a new commit:</a:t>
            </a:r>
            <a:endParaRPr/>
          </a:p>
        </p:txBody>
      </p:sp>
      <p:sp>
        <p:nvSpPr>
          <p:cNvPr id="708" name="Google Shape;708;p72"/>
          <p:cNvSpPr txBox="1"/>
          <p:nvPr/>
        </p:nvSpPr>
        <p:spPr>
          <a:xfrm>
            <a:off x="90475" y="4788100"/>
            <a:ext cx="675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Note: An earlier version of the slide had some diagram errors.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Merging</a:t>
            </a:r>
            <a:endParaRPr/>
          </a:p>
        </p:txBody>
      </p:sp>
      <p:sp>
        <p:nvSpPr>
          <p:cNvPr id="714" name="Google Shape;714;p7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After resolving the conflict.</a:t>
            </a:r>
            <a:endParaRPr/>
          </a:p>
          <a:p>
            <a:pPr indent="-355600" lvl="0" marL="457200" rtl="0" algn="l">
              <a:spcBef>
                <a:spcPts val="600"/>
              </a:spcBef>
              <a:spcAft>
                <a:spcPts val="0"/>
              </a:spcAft>
              <a:buSzPts val="2000"/>
              <a:buChar char="●"/>
            </a:pPr>
            <a:r>
              <a:rPr lang="en"/>
              <a:t>The new commit has two parents!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Writing merge will be very tough.</a:t>
            </a:r>
            <a:endParaRPr/>
          </a:p>
          <a:p>
            <a:pPr indent="-355600" lvl="0" marL="457200" rtl="0" algn="l">
              <a:spcBef>
                <a:spcPts val="600"/>
              </a:spcBef>
              <a:spcAft>
                <a:spcPts val="0"/>
              </a:spcAft>
              <a:buSzPts val="2000"/>
              <a:buChar char="●"/>
            </a:pPr>
            <a:r>
              <a:rPr lang="en"/>
              <a:t>Today was just a brief look.</a:t>
            </a:r>
            <a:endParaRPr/>
          </a:p>
          <a:p>
            <a:pPr indent="-355600" lvl="0" marL="457200" rtl="0" algn="l">
              <a:spcBef>
                <a:spcPts val="0"/>
              </a:spcBef>
              <a:spcAft>
                <a:spcPts val="0"/>
              </a:spcAft>
              <a:buSzPts val="2000"/>
              <a:buChar char="●"/>
            </a:pPr>
            <a:r>
              <a:rPr lang="en"/>
              <a:t>Will have more supplementary videos later.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Note: Commits are no longer a linked list.</a:t>
            </a:r>
            <a:endParaRPr/>
          </a:p>
          <a:p>
            <a:pPr indent="-355600" lvl="0" marL="457200" rtl="0" algn="l">
              <a:spcBef>
                <a:spcPts val="600"/>
              </a:spcBef>
              <a:spcAft>
                <a:spcPts val="0"/>
              </a:spcAft>
              <a:buSzPts val="2000"/>
              <a:buChar char="●"/>
            </a:pPr>
            <a:r>
              <a:rPr lang="en"/>
              <a:t>This is a more general</a:t>
            </a:r>
            <a:r>
              <a:rPr lang="en"/>
              <a:t> structure called a “graph”.</a:t>
            </a:r>
            <a:endParaRPr/>
          </a:p>
          <a:p>
            <a:pPr indent="-355600" lvl="0" marL="457200" rtl="0" algn="l">
              <a:spcBef>
                <a:spcPts val="0"/>
              </a:spcBef>
              <a:spcAft>
                <a:spcPts val="0"/>
              </a:spcAft>
              <a:buSzPts val="2000"/>
              <a:buChar char="●"/>
            </a:pPr>
            <a:r>
              <a:rPr lang="en"/>
              <a:t>More on graphs later in our class.</a:t>
            </a:r>
            <a:endParaRPr/>
          </a:p>
        </p:txBody>
      </p:sp>
      <p:grpSp>
        <p:nvGrpSpPr>
          <p:cNvPr id="715" name="Google Shape;715;p73"/>
          <p:cNvGrpSpPr/>
          <p:nvPr/>
        </p:nvGrpSpPr>
        <p:grpSpPr>
          <a:xfrm>
            <a:off x="5856479" y="4050246"/>
            <a:ext cx="2524199" cy="631200"/>
            <a:chOff x="6606877" y="1690650"/>
            <a:chExt cx="2524199" cy="631200"/>
          </a:xfrm>
        </p:grpSpPr>
        <p:sp>
          <p:nvSpPr>
            <p:cNvPr id="716" name="Google Shape;716;p73"/>
            <p:cNvSpPr/>
            <p:nvPr/>
          </p:nvSpPr>
          <p:spPr>
            <a:xfrm>
              <a:off x="6606877" y="1875925"/>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d1</a:t>
              </a:r>
              <a:endParaRPr b="1"/>
            </a:p>
          </p:txBody>
        </p:sp>
        <p:sp>
          <p:nvSpPr>
            <p:cNvPr id="717" name="Google Shape;717;p73"/>
            <p:cNvSpPr txBox="1"/>
            <p:nvPr/>
          </p:nvSpPr>
          <p:spPr>
            <a:xfrm>
              <a:off x="7017277" y="169065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“version 1 of my code”</a:t>
              </a:r>
              <a:endParaRPr/>
            </a:p>
          </p:txBody>
        </p:sp>
      </p:grpSp>
      <p:grpSp>
        <p:nvGrpSpPr>
          <p:cNvPr id="718" name="Google Shape;718;p73"/>
          <p:cNvGrpSpPr/>
          <p:nvPr/>
        </p:nvGrpSpPr>
        <p:grpSpPr>
          <a:xfrm>
            <a:off x="5857801" y="2514996"/>
            <a:ext cx="2583474" cy="631200"/>
            <a:chOff x="6619801" y="2475153"/>
            <a:chExt cx="2583474" cy="631200"/>
          </a:xfrm>
        </p:grpSpPr>
        <p:sp>
          <p:nvSpPr>
            <p:cNvPr id="719" name="Google Shape;719;p73"/>
            <p:cNvSpPr/>
            <p:nvPr/>
          </p:nvSpPr>
          <p:spPr>
            <a:xfrm>
              <a:off x="6619801" y="26654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7e</a:t>
              </a:r>
              <a:endParaRPr b="1"/>
            </a:p>
          </p:txBody>
        </p:sp>
        <p:sp>
          <p:nvSpPr>
            <p:cNvPr id="720" name="Google Shape;720;p73"/>
            <p:cNvSpPr txBox="1"/>
            <p:nvPr/>
          </p:nvSpPr>
          <p:spPr>
            <a:xfrm>
              <a:off x="7089475" y="2475153"/>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parmesan”</a:t>
              </a:r>
              <a:endParaRPr/>
            </a:p>
          </p:txBody>
        </p:sp>
      </p:grpSp>
      <p:sp>
        <p:nvSpPr>
          <p:cNvPr id="721" name="Google Shape;721;p73"/>
          <p:cNvSpPr/>
          <p:nvPr/>
        </p:nvSpPr>
        <p:spPr>
          <a:xfrm>
            <a:off x="85488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33</a:t>
            </a:r>
            <a:endParaRPr b="1"/>
          </a:p>
        </p:txBody>
      </p:sp>
      <p:grpSp>
        <p:nvGrpSpPr>
          <p:cNvPr id="722" name="Google Shape;722;p73"/>
          <p:cNvGrpSpPr/>
          <p:nvPr/>
        </p:nvGrpSpPr>
        <p:grpSpPr>
          <a:xfrm>
            <a:off x="5857801" y="3310045"/>
            <a:ext cx="2562776" cy="631200"/>
            <a:chOff x="6619801" y="3270202"/>
            <a:chExt cx="2562776" cy="631200"/>
          </a:xfrm>
        </p:grpSpPr>
        <p:sp>
          <p:nvSpPr>
            <p:cNvPr id="723" name="Google Shape;723;p73"/>
            <p:cNvSpPr/>
            <p:nvPr/>
          </p:nvSpPr>
          <p:spPr>
            <a:xfrm>
              <a:off x="6619801" y="3449154"/>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aa</a:t>
              </a:r>
              <a:endParaRPr b="1"/>
            </a:p>
          </p:txBody>
        </p:sp>
        <p:sp>
          <p:nvSpPr>
            <p:cNvPr id="724" name="Google Shape;724;p73"/>
            <p:cNvSpPr txBox="1"/>
            <p:nvPr/>
          </p:nvSpPr>
          <p:spPr>
            <a:xfrm>
              <a:off x="7068777" y="3270202"/>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cheese bug”</a:t>
              </a:r>
              <a:endParaRPr/>
            </a:p>
          </p:txBody>
        </p:sp>
      </p:grpSp>
      <p:cxnSp>
        <p:nvCxnSpPr>
          <p:cNvPr id="725" name="Google Shape;725;p73"/>
          <p:cNvCxnSpPr>
            <a:stCxn id="723" idx="2"/>
            <a:endCxn id="716" idx="0"/>
          </p:cNvCxnSpPr>
          <p:nvPr/>
        </p:nvCxnSpPr>
        <p:spPr>
          <a:xfrm flipH="1">
            <a:off x="6059101" y="3893997"/>
            <a:ext cx="1200" cy="341400"/>
          </a:xfrm>
          <a:prstGeom prst="straightConnector1">
            <a:avLst/>
          </a:prstGeom>
          <a:noFill/>
          <a:ln cap="flat" cmpd="sng" w="19050">
            <a:solidFill>
              <a:schemeClr val="dk2"/>
            </a:solidFill>
            <a:prstDash val="solid"/>
            <a:round/>
            <a:headEnd len="med" w="med" type="none"/>
            <a:tailEnd len="med" w="med" type="triangle"/>
          </a:ln>
        </p:spPr>
      </p:cxnSp>
      <p:cxnSp>
        <p:nvCxnSpPr>
          <p:cNvPr id="726" name="Google Shape;726;p73"/>
          <p:cNvCxnSpPr>
            <a:stCxn id="719" idx="2"/>
            <a:endCxn id="723" idx="0"/>
          </p:cNvCxnSpPr>
          <p:nvPr/>
        </p:nvCxnSpPr>
        <p:spPr>
          <a:xfrm>
            <a:off x="6060301" y="3110297"/>
            <a:ext cx="0" cy="378600"/>
          </a:xfrm>
          <a:prstGeom prst="straightConnector1">
            <a:avLst/>
          </a:prstGeom>
          <a:noFill/>
          <a:ln cap="flat" cmpd="sng" w="19050">
            <a:solidFill>
              <a:schemeClr val="dk2"/>
            </a:solidFill>
            <a:prstDash val="solid"/>
            <a:round/>
            <a:headEnd len="med" w="med" type="none"/>
            <a:tailEnd len="med" w="med" type="triangle"/>
          </a:ln>
        </p:spPr>
      </p:cxnSp>
      <p:sp>
        <p:nvSpPr>
          <p:cNvPr id="727" name="Google Shape;727;p73"/>
          <p:cNvSpPr/>
          <p:nvPr/>
        </p:nvSpPr>
        <p:spPr>
          <a:xfrm>
            <a:off x="5857800" y="1791373"/>
            <a:ext cx="405000" cy="405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27</a:t>
            </a:r>
            <a:endParaRPr b="1"/>
          </a:p>
        </p:txBody>
      </p:sp>
      <p:cxnSp>
        <p:nvCxnSpPr>
          <p:cNvPr id="728" name="Google Shape;728;p73"/>
          <p:cNvCxnSpPr>
            <a:stCxn id="727" idx="2"/>
            <a:endCxn id="719" idx="0"/>
          </p:cNvCxnSpPr>
          <p:nvPr/>
        </p:nvCxnSpPr>
        <p:spPr>
          <a:xfrm>
            <a:off x="6060300" y="2196373"/>
            <a:ext cx="0" cy="508800"/>
          </a:xfrm>
          <a:prstGeom prst="straightConnector1">
            <a:avLst/>
          </a:prstGeom>
          <a:noFill/>
          <a:ln cap="flat" cmpd="sng" w="19050">
            <a:solidFill>
              <a:schemeClr val="dk2"/>
            </a:solidFill>
            <a:prstDash val="solid"/>
            <a:round/>
            <a:headEnd len="med" w="med" type="none"/>
            <a:tailEnd len="med" w="med" type="triangle"/>
          </a:ln>
        </p:spPr>
      </p:cxnSp>
      <p:sp>
        <p:nvSpPr>
          <p:cNvPr id="729" name="Google Shape;729;p73"/>
          <p:cNvSpPr txBox="1"/>
          <p:nvPr/>
        </p:nvSpPr>
        <p:spPr>
          <a:xfrm>
            <a:off x="6230575" y="1567550"/>
            <a:ext cx="11421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“fixed parm”</a:t>
            </a:r>
            <a:endParaRPr/>
          </a:p>
        </p:txBody>
      </p:sp>
      <p:sp>
        <p:nvSpPr>
          <p:cNvPr id="730" name="Google Shape;730;p73"/>
          <p:cNvSpPr/>
          <p:nvPr/>
        </p:nvSpPr>
        <p:spPr>
          <a:xfrm>
            <a:off x="5857800" y="875173"/>
            <a:ext cx="405000" cy="405000"/>
          </a:xfrm>
          <a:prstGeom prst="rect">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fa</a:t>
            </a:r>
            <a:endParaRPr b="1"/>
          </a:p>
        </p:txBody>
      </p:sp>
      <p:cxnSp>
        <p:nvCxnSpPr>
          <p:cNvPr id="731" name="Google Shape;731;p73"/>
          <p:cNvCxnSpPr>
            <a:stCxn id="730" idx="2"/>
            <a:endCxn id="727" idx="0"/>
          </p:cNvCxnSpPr>
          <p:nvPr/>
        </p:nvCxnSpPr>
        <p:spPr>
          <a:xfrm>
            <a:off x="6060300" y="1280173"/>
            <a:ext cx="0" cy="511200"/>
          </a:xfrm>
          <a:prstGeom prst="straightConnector1">
            <a:avLst/>
          </a:prstGeom>
          <a:noFill/>
          <a:ln cap="flat" cmpd="sng" w="19050">
            <a:solidFill>
              <a:schemeClr val="dk2"/>
            </a:solidFill>
            <a:prstDash val="solid"/>
            <a:round/>
            <a:headEnd len="med" w="med" type="none"/>
            <a:tailEnd len="med" w="med" type="triangle"/>
          </a:ln>
        </p:spPr>
      </p:cxnSp>
      <p:sp>
        <p:nvSpPr>
          <p:cNvPr id="732" name="Google Shape;732;p73"/>
          <p:cNvSpPr txBox="1"/>
          <p:nvPr/>
        </p:nvSpPr>
        <p:spPr>
          <a:xfrm>
            <a:off x="6262795" y="8890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“resolve merge”</a:t>
            </a:r>
            <a:endParaRPr/>
          </a:p>
        </p:txBody>
      </p:sp>
      <p:sp>
        <p:nvSpPr>
          <p:cNvPr id="733" name="Google Shape;733;p73"/>
          <p:cNvSpPr txBox="1"/>
          <p:nvPr/>
        </p:nvSpPr>
        <p:spPr>
          <a:xfrm>
            <a:off x="7306230" y="1574175"/>
            <a:ext cx="1281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“added swiss”</a:t>
            </a:r>
            <a:endParaRPr/>
          </a:p>
        </p:txBody>
      </p:sp>
      <p:sp>
        <p:nvSpPr>
          <p:cNvPr id="734" name="Google Shape;734;p73"/>
          <p:cNvSpPr txBox="1"/>
          <p:nvPr/>
        </p:nvSpPr>
        <p:spPr>
          <a:xfrm>
            <a:off x="6872625" y="3054220"/>
            <a:ext cx="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735" name="Google Shape;735;p73"/>
          <p:cNvCxnSpPr>
            <a:stCxn id="734" idx="1"/>
            <a:endCxn id="723" idx="0"/>
          </p:cNvCxnSpPr>
          <p:nvPr/>
        </p:nvCxnSpPr>
        <p:spPr>
          <a:xfrm flipH="1">
            <a:off x="6060225" y="3254320"/>
            <a:ext cx="812400" cy="234600"/>
          </a:xfrm>
          <a:prstGeom prst="bentConnector2">
            <a:avLst/>
          </a:prstGeom>
          <a:noFill/>
          <a:ln cap="flat" cmpd="sng" w="19050">
            <a:solidFill>
              <a:schemeClr val="dk2"/>
            </a:solidFill>
            <a:prstDash val="solid"/>
            <a:round/>
            <a:headEnd len="med" w="med" type="none"/>
            <a:tailEnd len="med" w="med" type="none"/>
          </a:ln>
        </p:spPr>
      </p:cxnSp>
      <p:cxnSp>
        <p:nvCxnSpPr>
          <p:cNvPr id="736" name="Google Shape;736;p73"/>
          <p:cNvCxnSpPr>
            <a:stCxn id="734" idx="3"/>
            <a:endCxn id="721" idx="2"/>
          </p:cNvCxnSpPr>
          <p:nvPr/>
        </p:nvCxnSpPr>
        <p:spPr>
          <a:xfrm flipH="1" rot="10800000">
            <a:off x="7016625" y="2196520"/>
            <a:ext cx="1734600" cy="1057800"/>
          </a:xfrm>
          <a:prstGeom prst="bentConnector2">
            <a:avLst/>
          </a:prstGeom>
          <a:noFill/>
          <a:ln cap="flat" cmpd="sng" w="19050">
            <a:solidFill>
              <a:schemeClr val="dk2"/>
            </a:solidFill>
            <a:prstDash val="solid"/>
            <a:round/>
            <a:headEnd len="med" w="med" type="none"/>
            <a:tailEnd len="med" w="med" type="none"/>
          </a:ln>
        </p:spPr>
      </p:cxnSp>
      <p:cxnSp>
        <p:nvCxnSpPr>
          <p:cNvPr id="737" name="Google Shape;737;p73"/>
          <p:cNvCxnSpPr/>
          <p:nvPr/>
        </p:nvCxnSpPr>
        <p:spPr>
          <a:xfrm rot="10800000">
            <a:off x="6872625" y="3254320"/>
            <a:ext cx="144000" cy="0"/>
          </a:xfrm>
          <a:prstGeom prst="straightConnector1">
            <a:avLst/>
          </a:prstGeom>
          <a:noFill/>
          <a:ln cap="flat" cmpd="sng" w="19050">
            <a:solidFill>
              <a:schemeClr val="dk2"/>
            </a:solidFill>
            <a:prstDash val="solid"/>
            <a:round/>
            <a:headEnd len="med" w="med" type="none"/>
            <a:tailEnd len="med" w="med" type="none"/>
          </a:ln>
        </p:spPr>
      </p:cxnSp>
      <p:cxnSp>
        <p:nvCxnSpPr>
          <p:cNvPr id="738" name="Google Shape;738;p73"/>
          <p:cNvCxnSpPr>
            <a:stCxn id="730" idx="2"/>
            <a:endCxn id="721" idx="0"/>
          </p:cNvCxnSpPr>
          <p:nvPr/>
        </p:nvCxnSpPr>
        <p:spPr>
          <a:xfrm flipH="1" rot="-5400000">
            <a:off x="7150200" y="190273"/>
            <a:ext cx="511200" cy="2691000"/>
          </a:xfrm>
          <a:prstGeom prst="bentConnector3">
            <a:avLst>
              <a:gd fmla="val 50000" name="adj1"/>
            </a:avLst>
          </a:prstGeom>
          <a:noFill/>
          <a:ln cap="flat" cmpd="sng" w="19050">
            <a:solidFill>
              <a:schemeClr val="dk2"/>
            </a:solidFill>
            <a:prstDash val="solid"/>
            <a:round/>
            <a:headEnd len="med" w="med" type="none"/>
            <a:tailEnd len="med" w="med" type="triangle"/>
          </a:ln>
        </p:spPr>
      </p:cxnSp>
      <p:sp>
        <p:nvSpPr>
          <p:cNvPr id="739" name="Google Shape;739;p73"/>
          <p:cNvSpPr txBox="1"/>
          <p:nvPr/>
        </p:nvSpPr>
        <p:spPr>
          <a:xfrm>
            <a:off x="5690520" y="54026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master</a:t>
            </a:r>
            <a:endParaRPr b="1"/>
          </a:p>
        </p:txBody>
      </p:sp>
      <p:sp>
        <p:nvSpPr>
          <p:cNvPr id="740" name="Google Shape;740;p73"/>
          <p:cNvSpPr txBox="1"/>
          <p:nvPr/>
        </p:nvSpPr>
        <p:spPr>
          <a:xfrm>
            <a:off x="8130645" y="1188610"/>
            <a:ext cx="21138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WithSwiss</a:t>
            </a:r>
            <a:endParaRPr b="1"/>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746" name="Google Shape;746;p7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Today we got a sneak peek into how git works under the hood.</a:t>
            </a:r>
            <a:endParaRPr/>
          </a:p>
          <a:p>
            <a:pPr indent="-355600" lvl="0" marL="457200" rtl="0" algn="l">
              <a:spcBef>
                <a:spcPts val="600"/>
              </a:spcBef>
              <a:spcAft>
                <a:spcPts val="0"/>
              </a:spcAft>
              <a:buSzPts val="2000"/>
              <a:buChar char="●"/>
            </a:pPr>
            <a:r>
              <a:rPr lang="en"/>
              <a:t>Along the way we got a brief look at 4 different unrelated topics:</a:t>
            </a:r>
            <a:endParaRPr/>
          </a:p>
          <a:p>
            <a:pPr indent="-355600" lvl="1" marL="914400" rtl="0" algn="l">
              <a:spcBef>
                <a:spcPts val="0"/>
              </a:spcBef>
              <a:spcAft>
                <a:spcPts val="0"/>
              </a:spcAft>
              <a:buSzPts val="2000"/>
              <a:buChar char="○"/>
            </a:pPr>
            <a:r>
              <a:rPr lang="en"/>
              <a:t>Maps: Same as a Python dictionary.</a:t>
            </a:r>
            <a:endParaRPr/>
          </a:p>
          <a:p>
            <a:pPr indent="-355600" lvl="1" marL="914400" rtl="0" algn="l">
              <a:spcBef>
                <a:spcPts val="0"/>
              </a:spcBef>
              <a:spcAft>
                <a:spcPts val="0"/>
              </a:spcAft>
              <a:buSzPts val="2000"/>
              <a:buChar char="○"/>
            </a:pPr>
            <a:r>
              <a:rPr lang="en"/>
              <a:t>Hashing: Representing an object by a sequence of (160) bits.</a:t>
            </a:r>
            <a:endParaRPr/>
          </a:p>
          <a:p>
            <a:pPr indent="-355600" lvl="1" marL="914400" rtl="0" algn="l">
              <a:spcBef>
                <a:spcPts val="0"/>
              </a:spcBef>
              <a:spcAft>
                <a:spcPts val="0"/>
              </a:spcAft>
              <a:buSzPts val="2000"/>
              <a:buChar char="○"/>
            </a:pPr>
            <a:r>
              <a:rPr lang="en"/>
              <a:t>Serialization: Saving and loading Java objects from a file.</a:t>
            </a:r>
            <a:endParaRPr/>
          </a:p>
          <a:p>
            <a:pPr indent="-355600" lvl="1" marL="914400" rtl="0" algn="l">
              <a:spcBef>
                <a:spcPts val="0"/>
              </a:spcBef>
              <a:spcAft>
                <a:spcPts val="0"/>
              </a:spcAft>
              <a:buSzPts val="2000"/>
              <a:buChar char="○"/>
            </a:pPr>
            <a:r>
              <a:rPr lang="en"/>
              <a:t>Graphs: Generalization of a Linked List.</a:t>
            </a:r>
            <a:endParaRPr/>
          </a:p>
          <a:p>
            <a:pPr indent="-355600" lvl="0" marL="457200" rtl="0" algn="l">
              <a:spcBef>
                <a:spcPts val="0"/>
              </a:spcBef>
              <a:spcAft>
                <a:spcPts val="0"/>
              </a:spcAft>
              <a:buSzPts val="2000"/>
              <a:buChar char="●"/>
            </a:pPr>
            <a:r>
              <a:rPr lang="en"/>
              <a:t>Will talk about Maps, Hashing, and Graphs in much more detail in later lectures.</a:t>
            </a:r>
            <a:endParaRPr/>
          </a:p>
          <a:p>
            <a:pPr indent="-355600" lvl="0" marL="457200" rtl="0" algn="l">
              <a:spcBef>
                <a:spcPts val="0"/>
              </a:spcBef>
              <a:spcAft>
                <a:spcPts val="0"/>
              </a:spcAft>
              <a:buSzPts val="2000"/>
              <a:buChar char="●"/>
            </a:pPr>
            <a:r>
              <a:rPr lang="en"/>
              <a:t>Project 2 is very big! </a:t>
            </a:r>
            <a:endParaRPr/>
          </a:p>
          <a:p>
            <a:pPr indent="-355600" lvl="1" marL="914400" rtl="0" algn="l">
              <a:spcBef>
                <a:spcPts val="0"/>
              </a:spcBef>
              <a:spcAft>
                <a:spcPts val="0"/>
              </a:spcAft>
              <a:buSzPts val="2000"/>
              <a:buChar char="○"/>
            </a:pPr>
            <a:r>
              <a:rPr lang="en"/>
              <a:t>But you’ll have lots of time. </a:t>
            </a:r>
            <a:endParaRPr/>
          </a:p>
          <a:p>
            <a:pPr indent="-355600" lvl="1" marL="914400" rtl="0" algn="l">
              <a:spcBef>
                <a:spcPts val="0"/>
              </a:spcBef>
              <a:spcAft>
                <a:spcPts val="0"/>
              </a:spcAft>
              <a:buSzPts val="2000"/>
              <a:buChar char="○"/>
            </a:pPr>
            <a:r>
              <a:rPr lang="en"/>
              <a:t>Not due until April.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