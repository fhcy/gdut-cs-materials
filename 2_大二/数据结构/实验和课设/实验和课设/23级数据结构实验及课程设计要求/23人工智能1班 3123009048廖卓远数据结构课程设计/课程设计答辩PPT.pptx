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324" r:id="rId6"/>
    <p:sldId id="260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262" r:id="rId27"/>
    <p:sldId id="263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359" r:id="rId43"/>
    <p:sldId id="266" r:id="rId44"/>
    <p:sldId id="272" r:id="rId45"/>
    <p:sldId id="361" r:id="rId46"/>
    <p:sldId id="364" r:id="rId47"/>
    <p:sldId id="365" r:id="rId48"/>
    <p:sldId id="366" r:id="rId49"/>
    <p:sldId id="367" r:id="rId50"/>
    <p:sldId id="275" r:id="rId51"/>
    <p:sldId id="279" r:id="rId52"/>
    <p:sldId id="368" r:id="rId53"/>
  </p:sldIdLst>
  <p:sldSz cx="9144000" cy="5143500" type="screen16x9"/>
  <p:notesSz cx="6858000" cy="9144000"/>
  <p:embeddedFontLst>
    <p:embeddedFont>
      <p:font typeface="黑体" panose="02010609060101010101" pitchFamily="49" charset="-122"/>
      <p:regular r:id="rId55"/>
    </p:embeddedFont>
    <p:embeddedFont>
      <p:font typeface="新宋体" panose="02010609030101010101" pitchFamily="49" charset="-122"/>
      <p:regular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8642FE-7727-4FEA-9526-ECA1DE7D7A91}">
  <a:tblStyle styleId="{668642FE-7727-4FEA-9526-ECA1DE7D7A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61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7924f6120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" name="Google Shape;29;g7924f6120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bdb1bcd38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bdb1bcd38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bdb1bcd38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bdb1bcd38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bdb1bcd38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bdb1bcd38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C4FFAB78-94E4-A7BF-4297-2F0D76C55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bdb1bcd38f_0_48:notes">
            <a:extLst>
              <a:ext uri="{FF2B5EF4-FFF2-40B4-BE49-F238E27FC236}">
                <a16:creationId xmlns:a16="http://schemas.microsoft.com/office/drawing/2014/main" id="{80769545-1806-6A66-A715-CC4D5650D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bdb1bcd38f_0_48:notes">
            <a:extLst>
              <a:ext uri="{FF2B5EF4-FFF2-40B4-BE49-F238E27FC236}">
                <a16:creationId xmlns:a16="http://schemas.microsoft.com/office/drawing/2014/main" id="{7D51FBFC-B8D0-BDA4-5011-FCFAE0CF7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233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cfc5ec854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cfc5ec854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2764442B-2100-B9E5-7F4A-A6393B856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bdb1bcd38f_0_48:notes">
            <a:extLst>
              <a:ext uri="{FF2B5EF4-FFF2-40B4-BE49-F238E27FC236}">
                <a16:creationId xmlns:a16="http://schemas.microsoft.com/office/drawing/2014/main" id="{3A9DB401-C5F5-F83E-6F70-15D7FA736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bdb1bcd38f_0_48:notes">
            <a:extLst>
              <a:ext uri="{FF2B5EF4-FFF2-40B4-BE49-F238E27FC236}">
                <a16:creationId xmlns:a16="http://schemas.microsoft.com/office/drawing/2014/main" id="{63F1377B-628F-34BC-80CE-859164911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68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087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674DE-83CB-4A47-EC0E-DB6586DF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31C409-5D61-7C49-192A-FF913B8FE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E5AFA7-1E96-9884-5044-CE56DFB19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3324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bcfc5ec85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bcfc5ec85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cfc5ec85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cfc5ec85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611EEC45-D17F-E3BA-8756-63E38D93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cfc5ec854_0_4:notes">
            <a:extLst>
              <a:ext uri="{FF2B5EF4-FFF2-40B4-BE49-F238E27FC236}">
                <a16:creationId xmlns:a16="http://schemas.microsoft.com/office/drawing/2014/main" id="{EC03417A-EDD1-91EC-E7CB-48A7BFE59A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cfc5ec854_0_4:notes">
            <a:extLst>
              <a:ext uri="{FF2B5EF4-FFF2-40B4-BE49-F238E27FC236}">
                <a16:creationId xmlns:a16="http://schemas.microsoft.com/office/drawing/2014/main" id="{AE32F782-F7B9-063B-ABC5-179C2EF82F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8037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50489C79-C853-8EF9-87B2-77CCA5A2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cfc5ec854_0_4:notes">
            <a:extLst>
              <a:ext uri="{FF2B5EF4-FFF2-40B4-BE49-F238E27FC236}">
                <a16:creationId xmlns:a16="http://schemas.microsoft.com/office/drawing/2014/main" id="{14B1D23D-DC6E-6832-82B2-9A56211FB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cfc5ec854_0_4:notes">
            <a:extLst>
              <a:ext uri="{FF2B5EF4-FFF2-40B4-BE49-F238E27FC236}">
                <a16:creationId xmlns:a16="http://schemas.microsoft.com/office/drawing/2014/main" id="{3576F633-0BC3-8501-F0C2-76AB74C78D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08338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5EB33418-6338-D058-A00A-E058DAB5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cfc5ec854_0_4:notes">
            <a:extLst>
              <a:ext uri="{FF2B5EF4-FFF2-40B4-BE49-F238E27FC236}">
                <a16:creationId xmlns:a16="http://schemas.microsoft.com/office/drawing/2014/main" id="{57602573-66D3-0FBE-C96F-6A7EBAC9D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cfc5ec854_0_4:notes">
            <a:extLst>
              <a:ext uri="{FF2B5EF4-FFF2-40B4-BE49-F238E27FC236}">
                <a16:creationId xmlns:a16="http://schemas.microsoft.com/office/drawing/2014/main" id="{8CACA148-1F29-F38A-68A3-CA8543451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6930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40E78DBD-CB66-5E86-8EB4-265BAED9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cfc5ec854_0_4:notes">
            <a:extLst>
              <a:ext uri="{FF2B5EF4-FFF2-40B4-BE49-F238E27FC236}">
                <a16:creationId xmlns:a16="http://schemas.microsoft.com/office/drawing/2014/main" id="{45994E12-C99B-47AC-B50B-32ADE6C6E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cfc5ec854_0_4:notes">
            <a:extLst>
              <a:ext uri="{FF2B5EF4-FFF2-40B4-BE49-F238E27FC236}">
                <a16:creationId xmlns:a16="http://schemas.microsoft.com/office/drawing/2014/main" id="{600B9ABE-5AA1-481F-0159-D67CFFD71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5033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DF8EE768-7D7F-A7A8-BD17-D17250ECA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bcfc5ec854_0_4:notes">
            <a:extLst>
              <a:ext uri="{FF2B5EF4-FFF2-40B4-BE49-F238E27FC236}">
                <a16:creationId xmlns:a16="http://schemas.microsoft.com/office/drawing/2014/main" id="{E98EBB69-7123-D38C-3B46-813B6727A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bcfc5ec854_0_4:notes">
            <a:extLst>
              <a:ext uri="{FF2B5EF4-FFF2-40B4-BE49-F238E27FC236}">
                <a16:creationId xmlns:a16="http://schemas.microsoft.com/office/drawing/2014/main" id="{EF3DCB8C-28FA-9F5A-C0DB-E1F083E083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4005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862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508D-E73F-0A6A-7D1B-EE7952F8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9A31DB-D292-323B-AD4C-18D11676F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08C620-51E5-D23B-F868-0D6536F25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54022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E3452-A893-1DE9-D9D4-72B159149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C69863-49F9-7744-4685-83450371D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EB6946-2C2A-908E-F3B1-9D5343822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09646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FD01A-335C-1F28-7D40-3F6A6B64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D1D5DD-ABB1-6D36-6F28-414E41ADD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717DB0-6654-99EB-738E-D655D4BD0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42336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45E3-9E39-E9D6-11D7-501DC2E4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89C047-FA74-B5C9-ABA8-3CB897DDC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1F630E-B473-C432-307B-D2DCF27D6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893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1B7F1-13DE-D29F-F004-2A10DE1D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515291-46FB-AC61-832F-C9AC41F86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66F65F-6854-AF94-1417-94B2C8682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0440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A3952-9CAE-66A5-BFB8-2F4CE31F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FFE2FD-2AD1-A200-8302-CBB28B4A4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1C2BDD-B029-8D12-25E2-4D67ADC4C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9295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E5E6B-14AE-E478-4E20-D7786C3C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9F41B1-2F7C-9C98-21AA-E8EA067F7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6DA32A-042E-ABEF-6634-C905B18D6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8774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bcfc5ec854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bcfc5ec854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bcfc5ec854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bcfc5ec854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8125D99F-4A7A-7439-D08A-87C5F89A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d450cedcb_0_0:notes">
            <a:extLst>
              <a:ext uri="{FF2B5EF4-FFF2-40B4-BE49-F238E27FC236}">
                <a16:creationId xmlns:a16="http://schemas.microsoft.com/office/drawing/2014/main" id="{820ACF24-A1CE-72C8-025A-0724ACB7F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d450cedcb_0_0:notes">
            <a:extLst>
              <a:ext uri="{FF2B5EF4-FFF2-40B4-BE49-F238E27FC236}">
                <a16:creationId xmlns:a16="http://schemas.microsoft.com/office/drawing/2014/main" id="{F8179B28-72F6-51DD-8720-51A58FD81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6463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A8DBEBE-5C8F-0D01-C31C-D3A39CC9A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d450cedcb_0_0:notes">
            <a:extLst>
              <a:ext uri="{FF2B5EF4-FFF2-40B4-BE49-F238E27FC236}">
                <a16:creationId xmlns:a16="http://schemas.microsoft.com/office/drawing/2014/main" id="{6B6C9469-F506-BBA3-AEFE-02EEB6D73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d450cedcb_0_0:notes">
            <a:extLst>
              <a:ext uri="{FF2B5EF4-FFF2-40B4-BE49-F238E27FC236}">
                <a16:creationId xmlns:a16="http://schemas.microsoft.com/office/drawing/2014/main" id="{1D5A43FD-5AE8-6F05-7377-E850D7A3F4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10087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6C9B387-F55C-C849-8A13-DE57ED625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d450cedcb_0_0:notes">
            <a:extLst>
              <a:ext uri="{FF2B5EF4-FFF2-40B4-BE49-F238E27FC236}">
                <a16:creationId xmlns:a16="http://schemas.microsoft.com/office/drawing/2014/main" id="{82F7F41A-721A-CB2E-793D-CC8C91858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d450cedcb_0_0:notes">
            <a:extLst>
              <a:ext uri="{FF2B5EF4-FFF2-40B4-BE49-F238E27FC236}">
                <a16:creationId xmlns:a16="http://schemas.microsoft.com/office/drawing/2014/main" id="{342382A3-B5F8-A8E5-0CD6-2A91DBA46C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3297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3A598B3-F670-FC27-73FB-D8E50C42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d450cedcb_0_0:notes">
            <a:extLst>
              <a:ext uri="{FF2B5EF4-FFF2-40B4-BE49-F238E27FC236}">
                <a16:creationId xmlns:a16="http://schemas.microsoft.com/office/drawing/2014/main" id="{7BC103EA-1DAE-985F-6650-205455F189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d450cedcb_0_0:notes">
            <a:extLst>
              <a:ext uri="{FF2B5EF4-FFF2-40B4-BE49-F238E27FC236}">
                <a16:creationId xmlns:a16="http://schemas.microsoft.com/office/drawing/2014/main" id="{87ECEC07-2239-45DD-3112-B6851AD45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148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B18522F-2741-4225-DD7F-9B204F3C9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bd450cedcb_0_0:notes">
            <a:extLst>
              <a:ext uri="{FF2B5EF4-FFF2-40B4-BE49-F238E27FC236}">
                <a16:creationId xmlns:a16="http://schemas.microsoft.com/office/drawing/2014/main" id="{DFFEA638-FC11-BD55-EDA8-F97D62DA82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bd450cedcb_0_0:notes">
            <a:extLst>
              <a:ext uri="{FF2B5EF4-FFF2-40B4-BE49-F238E27FC236}">
                <a16:creationId xmlns:a16="http://schemas.microsoft.com/office/drawing/2014/main" id="{249EC261-5C94-2082-6F15-914B4A270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31126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bd450cedcb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bd450cedcb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bd8cfdd71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bd8cfdd71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17EB320E-6AA7-D816-F974-76413FEB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bd8cfdd714_0_22:notes">
            <a:extLst>
              <a:ext uri="{FF2B5EF4-FFF2-40B4-BE49-F238E27FC236}">
                <a16:creationId xmlns:a16="http://schemas.microsoft.com/office/drawing/2014/main" id="{498BEA40-78E9-3B25-1906-352610A08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bd8cfdd714_0_22:notes">
            <a:extLst>
              <a:ext uri="{FF2B5EF4-FFF2-40B4-BE49-F238E27FC236}">
                <a16:creationId xmlns:a16="http://schemas.microsoft.com/office/drawing/2014/main" id="{A4488E37-04E1-F0A1-A662-F875537F0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314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3200"/>
              <a:buFont typeface="Calibri"/>
              <a:buNone/>
              <a:defRPr sz="3200" b="1" i="0" u="none" strike="noStrike" cap="none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1925" y="2612325"/>
            <a:ext cx="53808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290700" y="2669200"/>
            <a:ext cx="8443800" cy="0"/>
          </a:xfrm>
          <a:prstGeom prst="straightConnector1">
            <a:avLst/>
          </a:prstGeom>
          <a:noFill/>
          <a:ln w="19050" cap="flat" cmpd="sng">
            <a:solidFill>
              <a:srgbClr val="1072BD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sz="2400" b="1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243000" y="587800"/>
            <a:ext cx="8443800" cy="0"/>
          </a:xfrm>
          <a:prstGeom prst="straightConnector1">
            <a:avLst/>
          </a:prstGeom>
          <a:noFill/>
          <a:ln w="19050" cap="flat" cmpd="sng">
            <a:solidFill>
              <a:srgbClr val="1072BD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●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○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928950" y="2143050"/>
            <a:ext cx="7286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BE0712"/>
              </a:buClr>
              <a:buSzPts val="2400"/>
              <a:buFont typeface="Calibri"/>
              <a:buNone/>
              <a:defRPr sz="2400" b="1">
                <a:solidFill>
                  <a:srgbClr val="BE071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marL="914400" lvl="1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marL="1371600" lvl="2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marL="1828800" lvl="3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datastructur.es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68680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/>
        </p:nvSpPr>
        <p:spPr>
          <a:xfrm>
            <a:off x="8578500" y="4793875"/>
            <a:ext cx="6552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datastructur.es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xege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ctrTitle"/>
          </p:nvPr>
        </p:nvSpPr>
        <p:spPr>
          <a:xfrm>
            <a:off x="211425" y="1941275"/>
            <a:ext cx="5206200" cy="7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数据结构课设</a:t>
            </a:r>
            <a:endParaRPr dirty="0"/>
          </a:p>
        </p:txBody>
      </p:sp>
      <p:sp>
        <p:nvSpPr>
          <p:cNvPr id="32" name="Google Shape;32;p8"/>
          <p:cNvSpPr txBox="1">
            <a:spLocks noGrp="1"/>
          </p:cNvSpPr>
          <p:nvPr>
            <p:ph type="subTitle" idx="1"/>
          </p:nvPr>
        </p:nvSpPr>
        <p:spPr>
          <a:xfrm>
            <a:off x="240300" y="2726075"/>
            <a:ext cx="8903700" cy="22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zh-CN" altLang="zh-CN" b="1" spc="1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题目</a:t>
            </a:r>
            <a:r>
              <a:rPr lang="en-US" altLang="zh-CN" b="1" spc="1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3  </a:t>
            </a:r>
            <a:r>
              <a:rPr lang="zh-CN" altLang="zh-CN" b="1" spc="10" dirty="0">
                <a:effectLst/>
                <a:ea typeface="黑体" panose="02010609060101010101" pitchFamily="49" charset="-122"/>
                <a:cs typeface="Times New Roman" panose="02020603050405020304" pitchFamily="18" charset="0"/>
              </a:rPr>
              <a:t>池塘夜降彩色雨</a:t>
            </a:r>
            <a:endParaRPr lang="en-US" altLang="zh-CN" b="1" spc="10" dirty="0">
              <a:effectLst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/>
            <a:endParaRPr lang="en-US" altLang="zh-CN" b="1" spc="10" dirty="0">
              <a:effectLst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altLang="en-US" dirty="0"/>
              <a:t>选题，设计和意义</a:t>
            </a:r>
            <a:endParaRPr lang="en-US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zh-CN" altLang="en-US" dirty="0"/>
              <a:t>课设实现过程</a:t>
            </a:r>
            <a:endParaRPr lang="en" dirty="0"/>
          </a:p>
          <a:p>
            <a:pPr indent="-381000">
              <a:buFont typeface="Calibri"/>
              <a:buChar char="●"/>
            </a:pPr>
            <a:r>
              <a:rPr lang="zh-CN" altLang="en-US" dirty="0"/>
              <a:t>反思，总结和拓展</a:t>
            </a:r>
            <a:endParaRPr lang="en-US" altLang="zh-CN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endParaRPr lang="e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3C68CC-442D-4F93-5AFA-42DEFA5B0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025" y="4105275"/>
            <a:ext cx="1323975" cy="1038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92675" y="2066850"/>
            <a:ext cx="905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 dirty="0"/>
              <a:t>选题原因，意义</a:t>
            </a:r>
            <a:endParaRPr lang="en-US" sz="4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9A33B5-E14A-CCEA-9AB5-B866ECB7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76675"/>
            <a:ext cx="205740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选题原因</a:t>
            </a:r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166800" y="587801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dirty="0"/>
              <a:t>原因</a:t>
            </a:r>
            <a:r>
              <a:rPr lang="en-US" altLang="zh-CN" dirty="0"/>
              <a:t>2</a:t>
            </a:r>
            <a:r>
              <a:rPr lang="zh-CN" altLang="en-US" dirty="0"/>
              <a:t>：抽象                    具体 </a:t>
            </a:r>
            <a:endParaRPr lang="en-US" altLang="zh-CN" dirty="0"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dirty="0"/>
              <a:t>N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16FC55-07F3-190D-CE16-4C17FD09D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025" y="4105275"/>
            <a:ext cx="1323975" cy="1038225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CA1CB1E-3C58-1A57-50DD-1FE601E804B3}"/>
              </a:ext>
            </a:extLst>
          </p:cNvPr>
          <p:cNvCxnSpPr/>
          <p:nvPr/>
        </p:nvCxnSpPr>
        <p:spPr>
          <a:xfrm>
            <a:off x="1828800" y="883920"/>
            <a:ext cx="883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DF2E02C-32CC-27A3-99D2-A4881D3CC18D}"/>
              </a:ext>
            </a:extLst>
          </p:cNvPr>
          <p:cNvCxnSpPr>
            <a:cxnSpLocks/>
          </p:cNvCxnSpPr>
          <p:nvPr/>
        </p:nvCxnSpPr>
        <p:spPr>
          <a:xfrm flipH="1">
            <a:off x="1828800" y="998220"/>
            <a:ext cx="853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5D965DE4-6BFB-DA68-3A10-7791C950E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54" y="1083101"/>
            <a:ext cx="2253559" cy="1779881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0E9C3DD-C8D3-07F1-1B0C-9AE3727E5854}"/>
              </a:ext>
            </a:extLst>
          </p:cNvPr>
          <p:cNvCxnSpPr/>
          <p:nvPr/>
        </p:nvCxnSpPr>
        <p:spPr>
          <a:xfrm>
            <a:off x="3781457" y="1973041"/>
            <a:ext cx="883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11FE1296-AEE8-C3E9-5583-C6BAAF25E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464" y="659799"/>
            <a:ext cx="2626836" cy="21031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BF9F1AF-9D81-0342-6725-0AF8FEAC3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6464" y="3459180"/>
            <a:ext cx="2274379" cy="1777721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77F5B9F-D9EB-59B2-4D33-C1042DEC115B}"/>
              </a:ext>
            </a:extLst>
          </p:cNvPr>
          <p:cNvCxnSpPr>
            <a:cxnSpLocks/>
          </p:cNvCxnSpPr>
          <p:nvPr/>
        </p:nvCxnSpPr>
        <p:spPr>
          <a:xfrm>
            <a:off x="6738144" y="2821454"/>
            <a:ext cx="0" cy="531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E3E7377-3984-9D57-236F-BBAD71CA6F47}"/>
              </a:ext>
            </a:extLst>
          </p:cNvPr>
          <p:cNvCxnSpPr>
            <a:cxnSpLocks/>
          </p:cNvCxnSpPr>
          <p:nvPr/>
        </p:nvCxnSpPr>
        <p:spPr>
          <a:xfrm flipH="1">
            <a:off x="3862500" y="4105275"/>
            <a:ext cx="7888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77B4008C-9271-5F3E-C21D-EEECF63B5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518" y="2957541"/>
            <a:ext cx="2487295" cy="1985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选题原因</a:t>
            </a:r>
            <a:endParaRPr dirty="0"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zh-CN" altLang="en-US" dirty="0"/>
              <a:t>原因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8FE9F3-0122-E5CC-B7CC-9F0D42BB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9717AAC-8B0F-C193-E0E2-A0660E538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40" y="1627560"/>
            <a:ext cx="2948940" cy="2011679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3B4BB5F-BAD7-EBA6-4F0B-20E3E95923C5}"/>
              </a:ext>
            </a:extLst>
          </p:cNvPr>
          <p:cNvCxnSpPr/>
          <p:nvPr/>
        </p:nvCxnSpPr>
        <p:spPr>
          <a:xfrm>
            <a:off x="3741420" y="2571750"/>
            <a:ext cx="8839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CCA63E48-52DC-3E2F-38D9-495BFFB85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84" y="1130789"/>
            <a:ext cx="3143186" cy="250845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283454-91FB-4F05-B06E-512027C46035}"/>
              </a:ext>
            </a:extLst>
          </p:cNvPr>
          <p:cNvSpPr txBox="1"/>
          <p:nvPr/>
        </p:nvSpPr>
        <p:spPr>
          <a:xfrm>
            <a:off x="3672872" y="2263973"/>
            <a:ext cx="937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HOW?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>
          <a:extLst>
            <a:ext uri="{FF2B5EF4-FFF2-40B4-BE49-F238E27FC236}">
              <a16:creationId xmlns:a16="http://schemas.microsoft.com/office/drawing/2014/main" id="{76AEEA89-63B2-01AF-03D4-79366F6B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69CBCBA0-7E05-3F49-AB00-B3AE51E33B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选题意义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C4744E7-D6A9-7B10-8752-8E76826CD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Google Shape;43;p10">
            <a:extLst>
              <a:ext uri="{FF2B5EF4-FFF2-40B4-BE49-F238E27FC236}">
                <a16:creationId xmlns:a16="http://schemas.microsoft.com/office/drawing/2014/main" id="{A06AF9D1-BA7A-8CEB-8F11-F44744D3504D}"/>
              </a:ext>
            </a:extLst>
          </p:cNvPr>
          <p:cNvSpPr txBox="1">
            <a:spLocks/>
          </p:cNvSpPr>
          <p:nvPr/>
        </p:nvSpPr>
        <p:spPr>
          <a:xfrm>
            <a:off x="350100" y="587801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zh-CN" altLang="en-US" dirty="0"/>
              <a:t>锻炼写代码的功底和实践</a:t>
            </a:r>
            <a:endParaRPr lang="en-US" altLang="zh-CN" dirty="0"/>
          </a:p>
          <a:p>
            <a:r>
              <a:rPr lang="zh-CN" altLang="en-US" dirty="0"/>
              <a:t>强化逻辑思维和抽象与具体之间的思维</a:t>
            </a:r>
            <a:endParaRPr lang="en-US" altLang="zh-CN" dirty="0"/>
          </a:p>
          <a:p>
            <a:r>
              <a:rPr lang="zh-CN" altLang="en-US" dirty="0"/>
              <a:t>锻炼图像相关的代码能力</a:t>
            </a:r>
            <a:endParaRPr lang="en-US" altLang="zh-CN" dirty="0"/>
          </a:p>
          <a:p>
            <a:r>
              <a:rPr lang="zh-CN" altLang="en-US" dirty="0"/>
              <a:t>对课设进行反思，总结，</a:t>
            </a:r>
            <a:r>
              <a:rPr lang="zh-CN" altLang="zh-CN" dirty="0"/>
              <a:t>收获</a:t>
            </a:r>
            <a:endParaRPr lang="en-US" altLang="zh-CN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353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92675" y="2066850"/>
            <a:ext cx="905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 dirty="0"/>
              <a:t>设计思路</a:t>
            </a:r>
            <a:endParaRPr sz="4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91BE111-5FB8-7793-D7CF-27AE2F92A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76675"/>
            <a:ext cx="205740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>
          <a:extLst>
            <a:ext uri="{FF2B5EF4-FFF2-40B4-BE49-F238E27FC236}">
              <a16:creationId xmlns:a16="http://schemas.microsoft.com/office/drawing/2014/main" id="{515C0FAC-271C-7D1B-49EA-967167C6B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D7CFA641-481E-5592-2E63-7E5C3EA6B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提出问题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1012478-6CAE-06FC-4197-39A0BAABF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Google Shape;43;p10">
            <a:extLst>
              <a:ext uri="{FF2B5EF4-FFF2-40B4-BE49-F238E27FC236}">
                <a16:creationId xmlns:a16="http://schemas.microsoft.com/office/drawing/2014/main" id="{577412BF-3A1F-3996-20F2-EC521972C991}"/>
              </a:ext>
            </a:extLst>
          </p:cNvPr>
          <p:cNvSpPr txBox="1">
            <a:spLocks/>
          </p:cNvSpPr>
          <p:nvPr/>
        </p:nvSpPr>
        <p:spPr>
          <a:xfrm>
            <a:off x="350100" y="587801"/>
            <a:ext cx="8443800" cy="41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○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■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zh-CN" altLang="en-US" dirty="0"/>
              <a:t>如何随机生成雨滴的降落位置、颜色、大小以及入水时的效果？</a:t>
            </a:r>
            <a:endParaRPr lang="en-US" altLang="zh-CN" dirty="0"/>
          </a:p>
          <a:p>
            <a:r>
              <a:rPr lang="zh-CN" altLang="en-US" dirty="0"/>
              <a:t>如何管理一个雨滴运动的状态和多个雨滴同时运动的状态，并在其生命周期结束后将其从场景中删除？</a:t>
            </a:r>
            <a:endParaRPr lang="en-US" altLang="zh-CN" dirty="0"/>
          </a:p>
          <a:p>
            <a:r>
              <a:rPr lang="zh-CN" altLang="en-US" dirty="0"/>
              <a:t>如何实现雨滴入水后产生的水波扩散效果，使得整个过程流畅、自然？</a:t>
            </a:r>
            <a:endParaRPr lang="pt-BR" altLang="zh-CN" dirty="0"/>
          </a:p>
          <a:p>
            <a:r>
              <a:rPr lang="zh-CN" altLang="en-US" dirty="0"/>
              <a:t>如何调整雨滴的数量和密度实现</a:t>
            </a:r>
            <a:r>
              <a:rPr lang="zh-CN" altLang="zh-CN" dirty="0"/>
              <a:t>时而“和风细雨”， 时而“暴风骤雨”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如何修改代码</a:t>
            </a:r>
            <a:r>
              <a:rPr lang="zh-CN" altLang="zh-CN" dirty="0"/>
              <a:t>增加风的效果</a:t>
            </a:r>
            <a:r>
              <a:rPr lang="zh-CN" altLang="en-US" dirty="0"/>
              <a:t>，</a:t>
            </a:r>
            <a:r>
              <a:rPr lang="zh-CN" altLang="zh-CN" dirty="0"/>
              <a:t>增加“电闪雷鸣”景象</a:t>
            </a:r>
            <a:r>
              <a:rPr lang="zh-CN" altLang="en-US" dirty="0"/>
              <a:t>？</a:t>
            </a:r>
            <a:endParaRPr lang="en-US" altLang="zh-CN" dirty="0"/>
          </a:p>
          <a:p>
            <a:r>
              <a:rPr lang="zh-CN" altLang="en-US" dirty="0"/>
              <a:t>等等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375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ADB9D-B103-4ADC-0E69-526AEF46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CEC98F-6ACC-ABBD-E062-6726182B8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75E8115-6C80-2C94-0CD6-4710A4BF2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75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4E730-560F-8CEF-8B1B-03E2B47A9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C6D53-1EDF-603B-DB67-AF762903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C2B0AA-7C74-254E-219F-FA61752FF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9A718F-4132-56A1-1C52-FBE8D1FDD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B5CE85-0CD6-B1C2-4A55-DADA53C8F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96" y="1135070"/>
            <a:ext cx="3631804" cy="2726187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F5F7BDD-37B2-FFC2-6B57-3003930C26FC}"/>
              </a:ext>
            </a:extLst>
          </p:cNvPr>
          <p:cNvCxnSpPr/>
          <p:nvPr/>
        </p:nvCxnSpPr>
        <p:spPr>
          <a:xfrm>
            <a:off x="4464900" y="2514600"/>
            <a:ext cx="1295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203EF2F-45CF-ED88-369C-33C68505899D}"/>
              </a:ext>
            </a:extLst>
          </p:cNvPr>
          <p:cNvSpPr txBox="1"/>
          <p:nvPr/>
        </p:nvSpPr>
        <p:spPr>
          <a:xfrm>
            <a:off x="6179820" y="2314605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</p:spTree>
    <p:extLst>
      <p:ext uri="{BB962C8B-B14F-4D97-AF65-F5344CB8AC3E}">
        <p14:creationId xmlns:p14="http://schemas.microsoft.com/office/powerpoint/2010/main" val="3269077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625E-A2B2-C42F-58F0-419905A6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4AAC3-A56C-AA30-FB0A-1301EF0E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C77B78-A09C-44D0-6A4E-EECD72975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6CA4A8-68D8-B1B0-A78A-85D289B4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4C62C6-2EF1-239E-7AC9-2140BD5C6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22" y="1504402"/>
            <a:ext cx="2616182" cy="196381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99FC62C-5EF2-231C-2F72-4DAB558D9DE8}"/>
              </a:ext>
            </a:extLst>
          </p:cNvPr>
          <p:cNvCxnSpPr>
            <a:cxnSpLocks/>
          </p:cNvCxnSpPr>
          <p:nvPr/>
        </p:nvCxnSpPr>
        <p:spPr>
          <a:xfrm flipH="1" flipV="1">
            <a:off x="5382198" y="1426862"/>
            <a:ext cx="410783" cy="39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BE87CE9-48C0-71B4-55CB-E3E0F7868899}"/>
              </a:ext>
            </a:extLst>
          </p:cNvPr>
          <p:cNvSpPr txBox="1"/>
          <p:nvPr/>
        </p:nvSpPr>
        <p:spPr>
          <a:xfrm>
            <a:off x="5377533" y="1944225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6DF994-7B70-DED3-489B-8E26857942C5}"/>
              </a:ext>
            </a:extLst>
          </p:cNvPr>
          <p:cNvSpPr txBox="1"/>
          <p:nvPr/>
        </p:nvSpPr>
        <p:spPr>
          <a:xfrm>
            <a:off x="4428896" y="96365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可见程度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D654EB-2E1C-BFC7-20C8-D4648B52805A}"/>
              </a:ext>
            </a:extLst>
          </p:cNvPr>
          <p:cNvSpPr txBox="1"/>
          <p:nvPr/>
        </p:nvSpPr>
        <p:spPr>
          <a:xfrm>
            <a:off x="6699656" y="960292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入水位置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6D874F-F572-4763-F6DA-9F0F6BAFD3BE}"/>
              </a:ext>
            </a:extLst>
          </p:cNvPr>
          <p:cNvSpPr txBox="1"/>
          <p:nvPr/>
        </p:nvSpPr>
        <p:spPr>
          <a:xfrm>
            <a:off x="4518555" y="3131027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颜色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5AC1F5-70E2-639F-11EF-3E1E9FD16E19}"/>
              </a:ext>
            </a:extLst>
          </p:cNvPr>
          <p:cNvSpPr txBox="1"/>
          <p:nvPr/>
        </p:nvSpPr>
        <p:spPr>
          <a:xfrm>
            <a:off x="6640670" y="3134289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最大水圈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A93AA7-EB05-12F0-29C2-A8A89653C6C0}"/>
              </a:ext>
            </a:extLst>
          </p:cNvPr>
          <p:cNvCxnSpPr/>
          <p:nvPr/>
        </p:nvCxnSpPr>
        <p:spPr>
          <a:xfrm>
            <a:off x="3276180" y="2476500"/>
            <a:ext cx="1295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0544203-07EE-8537-3191-DA8E8BF0B4C5}"/>
              </a:ext>
            </a:extLst>
          </p:cNvPr>
          <p:cNvCxnSpPr>
            <a:cxnSpLocks/>
          </p:cNvCxnSpPr>
          <p:nvPr/>
        </p:nvCxnSpPr>
        <p:spPr>
          <a:xfrm flipV="1">
            <a:off x="6781800" y="1429798"/>
            <a:ext cx="411527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C29C7B9-9BC6-BC8D-790E-CCF3D556521C}"/>
              </a:ext>
            </a:extLst>
          </p:cNvPr>
          <p:cNvCxnSpPr>
            <a:cxnSpLocks/>
          </p:cNvCxnSpPr>
          <p:nvPr/>
        </p:nvCxnSpPr>
        <p:spPr>
          <a:xfrm flipH="1">
            <a:off x="5271946" y="2612176"/>
            <a:ext cx="427909" cy="44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62A3401-C601-A4CF-0646-56BF1F159BE5}"/>
              </a:ext>
            </a:extLst>
          </p:cNvPr>
          <p:cNvCxnSpPr>
            <a:cxnSpLocks/>
          </p:cNvCxnSpPr>
          <p:nvPr/>
        </p:nvCxnSpPr>
        <p:spPr>
          <a:xfrm>
            <a:off x="6798181" y="2619862"/>
            <a:ext cx="395146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416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4164-D1CC-DBFD-175B-509BACA1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9521C-9CC5-B726-3CD7-76D2ABAD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2F4F47-9C40-3A34-BEA6-9D23FCADB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12C035-B5C5-2563-E58E-0201DB872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101BB75-6B99-D8A8-93EF-5A96AB650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22" y="1504402"/>
            <a:ext cx="2616182" cy="196381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AF3B32B-7AD4-57B5-9CBA-62CDED7A28C4}"/>
              </a:ext>
            </a:extLst>
          </p:cNvPr>
          <p:cNvCxnSpPr>
            <a:cxnSpLocks/>
          </p:cNvCxnSpPr>
          <p:nvPr/>
        </p:nvCxnSpPr>
        <p:spPr>
          <a:xfrm flipH="1" flipV="1">
            <a:off x="5382198" y="1426862"/>
            <a:ext cx="410783" cy="39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88FB37A-5DB0-3A0A-6B31-995FD0CF3403}"/>
              </a:ext>
            </a:extLst>
          </p:cNvPr>
          <p:cNvSpPr txBox="1"/>
          <p:nvPr/>
        </p:nvSpPr>
        <p:spPr>
          <a:xfrm>
            <a:off x="5377533" y="1944225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ED7162-32DA-03E3-831F-CAD764EF4CE8}"/>
              </a:ext>
            </a:extLst>
          </p:cNvPr>
          <p:cNvSpPr txBox="1"/>
          <p:nvPr/>
        </p:nvSpPr>
        <p:spPr>
          <a:xfrm>
            <a:off x="4428896" y="96365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可见程度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F12B09F-C95D-1066-B5D5-C27D9A6097DD}"/>
              </a:ext>
            </a:extLst>
          </p:cNvPr>
          <p:cNvSpPr txBox="1"/>
          <p:nvPr/>
        </p:nvSpPr>
        <p:spPr>
          <a:xfrm>
            <a:off x="6699656" y="960292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入水位置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25BCD5-051C-8F2C-B1A2-A6F82E18EC59}"/>
              </a:ext>
            </a:extLst>
          </p:cNvPr>
          <p:cNvSpPr txBox="1"/>
          <p:nvPr/>
        </p:nvSpPr>
        <p:spPr>
          <a:xfrm>
            <a:off x="4518555" y="3131027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颜色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19EA06-C639-77A8-BCF0-275C10D3E1B9}"/>
              </a:ext>
            </a:extLst>
          </p:cNvPr>
          <p:cNvSpPr txBox="1"/>
          <p:nvPr/>
        </p:nvSpPr>
        <p:spPr>
          <a:xfrm>
            <a:off x="6640670" y="3134289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最大水圈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49D105D-16BE-9BD0-F07C-D5E0C7AD11E9}"/>
              </a:ext>
            </a:extLst>
          </p:cNvPr>
          <p:cNvCxnSpPr>
            <a:cxnSpLocks/>
          </p:cNvCxnSpPr>
          <p:nvPr/>
        </p:nvCxnSpPr>
        <p:spPr>
          <a:xfrm>
            <a:off x="3276180" y="2476500"/>
            <a:ext cx="9300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3F969D5-2944-914A-FD2D-38281A89FE10}"/>
              </a:ext>
            </a:extLst>
          </p:cNvPr>
          <p:cNvCxnSpPr>
            <a:cxnSpLocks/>
          </p:cNvCxnSpPr>
          <p:nvPr/>
        </p:nvCxnSpPr>
        <p:spPr>
          <a:xfrm flipV="1">
            <a:off x="6781800" y="1429798"/>
            <a:ext cx="411527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AC52712-5B64-59A7-BB26-C16C418AB464}"/>
              </a:ext>
            </a:extLst>
          </p:cNvPr>
          <p:cNvCxnSpPr>
            <a:cxnSpLocks/>
          </p:cNvCxnSpPr>
          <p:nvPr/>
        </p:nvCxnSpPr>
        <p:spPr>
          <a:xfrm flipH="1">
            <a:off x="5271946" y="2612176"/>
            <a:ext cx="427909" cy="44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948F1EA-99AB-261E-6C83-431A8D2B1DBD}"/>
              </a:ext>
            </a:extLst>
          </p:cNvPr>
          <p:cNvCxnSpPr>
            <a:cxnSpLocks/>
          </p:cNvCxnSpPr>
          <p:nvPr/>
        </p:nvCxnSpPr>
        <p:spPr>
          <a:xfrm>
            <a:off x="6798181" y="2619862"/>
            <a:ext cx="395146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D6E443D-5E64-54E4-BC71-62D4348A0D75}"/>
              </a:ext>
            </a:extLst>
          </p:cNvPr>
          <p:cNvCxnSpPr>
            <a:cxnSpLocks/>
          </p:cNvCxnSpPr>
          <p:nvPr/>
        </p:nvCxnSpPr>
        <p:spPr>
          <a:xfrm>
            <a:off x="6871008" y="2250087"/>
            <a:ext cx="640170" cy="1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3D3C2F0-2712-F034-D4EB-4B79B1295A88}"/>
              </a:ext>
            </a:extLst>
          </p:cNvPr>
          <p:cNvSpPr txBox="1"/>
          <p:nvPr/>
        </p:nvSpPr>
        <p:spPr>
          <a:xfrm>
            <a:off x="7511178" y="207721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速度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C7A10A4-A395-AC2F-151A-CFC14B15912D}"/>
              </a:ext>
            </a:extLst>
          </p:cNvPr>
          <p:cNvCxnSpPr>
            <a:cxnSpLocks/>
          </p:cNvCxnSpPr>
          <p:nvPr/>
        </p:nvCxnSpPr>
        <p:spPr>
          <a:xfrm flipH="1">
            <a:off x="5110938" y="2230977"/>
            <a:ext cx="58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8FC6580-1C3B-319D-3CE0-53B5441C67AE}"/>
              </a:ext>
            </a:extLst>
          </p:cNvPr>
          <p:cNvSpPr txBox="1"/>
          <p:nvPr/>
        </p:nvSpPr>
        <p:spPr>
          <a:xfrm>
            <a:off x="3880150" y="2018049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状态</a:t>
            </a:r>
          </a:p>
        </p:txBody>
      </p:sp>
    </p:spTree>
    <p:extLst>
      <p:ext uri="{BB962C8B-B14F-4D97-AF65-F5344CB8AC3E}">
        <p14:creationId xmlns:p14="http://schemas.microsoft.com/office/powerpoint/2010/main" val="71409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3051-7AFE-4F51-12F1-8BF05E9F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E11AB-90F8-D250-FF8A-62F92EF1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4AA6B6-56A2-BDE1-0675-69A897C45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E0CB95-CF2D-C189-7E99-3F900E299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444DBC0-0740-6A14-7DDB-6A382D31C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22" y="1504402"/>
            <a:ext cx="2616182" cy="1963818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C8C7011-7DE6-0441-1160-B91D771A13C1}"/>
              </a:ext>
            </a:extLst>
          </p:cNvPr>
          <p:cNvCxnSpPr>
            <a:cxnSpLocks/>
          </p:cNvCxnSpPr>
          <p:nvPr/>
        </p:nvCxnSpPr>
        <p:spPr>
          <a:xfrm flipH="1" flipV="1">
            <a:off x="5382198" y="1426862"/>
            <a:ext cx="410783" cy="39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9F34154B-349B-2EF9-6435-B06B292D48EB}"/>
              </a:ext>
            </a:extLst>
          </p:cNvPr>
          <p:cNvSpPr txBox="1"/>
          <p:nvPr/>
        </p:nvSpPr>
        <p:spPr>
          <a:xfrm>
            <a:off x="5377533" y="1944225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6EC487-C39D-CD67-7833-83BACA56A4E4}"/>
              </a:ext>
            </a:extLst>
          </p:cNvPr>
          <p:cNvSpPr txBox="1"/>
          <p:nvPr/>
        </p:nvSpPr>
        <p:spPr>
          <a:xfrm>
            <a:off x="4428896" y="96365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可见程度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690A35-4196-420C-C278-1D8D168E56D2}"/>
              </a:ext>
            </a:extLst>
          </p:cNvPr>
          <p:cNvSpPr txBox="1"/>
          <p:nvPr/>
        </p:nvSpPr>
        <p:spPr>
          <a:xfrm>
            <a:off x="6699656" y="960292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入水位置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6D8539-2B7E-EEAE-0258-FFCD774B2DC6}"/>
              </a:ext>
            </a:extLst>
          </p:cNvPr>
          <p:cNvSpPr txBox="1"/>
          <p:nvPr/>
        </p:nvSpPr>
        <p:spPr>
          <a:xfrm>
            <a:off x="4518555" y="3131027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颜色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E0EB51-B79B-1B4F-B290-5D6CBC79D6F6}"/>
              </a:ext>
            </a:extLst>
          </p:cNvPr>
          <p:cNvSpPr txBox="1"/>
          <p:nvPr/>
        </p:nvSpPr>
        <p:spPr>
          <a:xfrm>
            <a:off x="6640670" y="3134289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最大水圈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EB758D0-B749-2A22-D1BF-AEABC1EB8722}"/>
              </a:ext>
            </a:extLst>
          </p:cNvPr>
          <p:cNvCxnSpPr>
            <a:cxnSpLocks/>
          </p:cNvCxnSpPr>
          <p:nvPr/>
        </p:nvCxnSpPr>
        <p:spPr>
          <a:xfrm>
            <a:off x="3276180" y="2476500"/>
            <a:ext cx="9300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9C85578-23F3-DB45-6516-F7DEAD530E2F}"/>
              </a:ext>
            </a:extLst>
          </p:cNvPr>
          <p:cNvCxnSpPr>
            <a:cxnSpLocks/>
          </p:cNvCxnSpPr>
          <p:nvPr/>
        </p:nvCxnSpPr>
        <p:spPr>
          <a:xfrm flipV="1">
            <a:off x="6781800" y="1429798"/>
            <a:ext cx="411527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C01BEE7-ABBC-0D31-F7A5-9F8EA484EC1D}"/>
              </a:ext>
            </a:extLst>
          </p:cNvPr>
          <p:cNvCxnSpPr>
            <a:cxnSpLocks/>
          </p:cNvCxnSpPr>
          <p:nvPr/>
        </p:nvCxnSpPr>
        <p:spPr>
          <a:xfrm flipH="1">
            <a:off x="5271946" y="2612176"/>
            <a:ext cx="427909" cy="44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4BE8DF8-98F9-F3E5-C78A-C42A6579FFE2}"/>
              </a:ext>
            </a:extLst>
          </p:cNvPr>
          <p:cNvCxnSpPr>
            <a:cxnSpLocks/>
          </p:cNvCxnSpPr>
          <p:nvPr/>
        </p:nvCxnSpPr>
        <p:spPr>
          <a:xfrm>
            <a:off x="6798181" y="2619862"/>
            <a:ext cx="395146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254280B-A057-D0D0-5312-2B6C2362245C}"/>
              </a:ext>
            </a:extLst>
          </p:cNvPr>
          <p:cNvCxnSpPr>
            <a:cxnSpLocks/>
          </p:cNvCxnSpPr>
          <p:nvPr/>
        </p:nvCxnSpPr>
        <p:spPr>
          <a:xfrm>
            <a:off x="6871008" y="2250087"/>
            <a:ext cx="640170" cy="1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3C239E1-BB4A-81BC-44A2-1B2CD016B8D6}"/>
              </a:ext>
            </a:extLst>
          </p:cNvPr>
          <p:cNvSpPr txBox="1"/>
          <p:nvPr/>
        </p:nvSpPr>
        <p:spPr>
          <a:xfrm>
            <a:off x="7511178" y="207721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速度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8F311A2-C155-E121-C78A-D252A2F4C9F7}"/>
              </a:ext>
            </a:extLst>
          </p:cNvPr>
          <p:cNvCxnSpPr>
            <a:cxnSpLocks/>
          </p:cNvCxnSpPr>
          <p:nvPr/>
        </p:nvCxnSpPr>
        <p:spPr>
          <a:xfrm flipH="1">
            <a:off x="5110938" y="2230977"/>
            <a:ext cx="58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F35164B0-DEC1-1401-9693-772E197479D9}"/>
              </a:ext>
            </a:extLst>
          </p:cNvPr>
          <p:cNvSpPr txBox="1"/>
          <p:nvPr/>
        </p:nvSpPr>
        <p:spPr>
          <a:xfrm>
            <a:off x="3880150" y="2018049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状态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2CE9E4-82DA-ECF9-C641-0E999EE2E3F1}"/>
              </a:ext>
            </a:extLst>
          </p:cNvPr>
          <p:cNvSpPr txBox="1"/>
          <p:nvPr/>
        </p:nvSpPr>
        <p:spPr>
          <a:xfrm>
            <a:off x="5699855" y="3581400"/>
            <a:ext cx="128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And?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55481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4417-B775-AFA3-DFFC-39F638BF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0E0AA-7F0A-B1CC-D551-1ED676C6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26C8D0-4E6D-9E00-F854-3F64854CD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0CE650-50EF-BEC3-6AEA-ADF0FB49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7389D71-97CE-F09B-8B39-92EFC32D5CF1}"/>
              </a:ext>
            </a:extLst>
          </p:cNvPr>
          <p:cNvCxnSpPr>
            <a:cxnSpLocks/>
          </p:cNvCxnSpPr>
          <p:nvPr/>
        </p:nvCxnSpPr>
        <p:spPr>
          <a:xfrm flipH="1" flipV="1">
            <a:off x="5382198" y="1426862"/>
            <a:ext cx="410783" cy="396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4F1ECE4-9435-D178-5F36-F654A45661BF}"/>
              </a:ext>
            </a:extLst>
          </p:cNvPr>
          <p:cNvSpPr txBox="1"/>
          <p:nvPr/>
        </p:nvSpPr>
        <p:spPr>
          <a:xfrm>
            <a:off x="5377533" y="1944225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BF4197-08D9-C1F8-0BF6-53F9B6AFC165}"/>
              </a:ext>
            </a:extLst>
          </p:cNvPr>
          <p:cNvSpPr txBox="1"/>
          <p:nvPr/>
        </p:nvSpPr>
        <p:spPr>
          <a:xfrm>
            <a:off x="4428896" y="96365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可见程度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CFF847A-3388-0F9D-D16A-01D861B61157}"/>
              </a:ext>
            </a:extLst>
          </p:cNvPr>
          <p:cNvSpPr txBox="1"/>
          <p:nvPr/>
        </p:nvSpPr>
        <p:spPr>
          <a:xfrm>
            <a:off x="6699656" y="960292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入水位置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54BF15-958C-8032-C8D5-812F50C10964}"/>
              </a:ext>
            </a:extLst>
          </p:cNvPr>
          <p:cNvSpPr txBox="1"/>
          <p:nvPr/>
        </p:nvSpPr>
        <p:spPr>
          <a:xfrm>
            <a:off x="4518555" y="3131027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颜色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2D50E8-EEB7-3E7C-D1A1-914D27CD876B}"/>
              </a:ext>
            </a:extLst>
          </p:cNvPr>
          <p:cNvSpPr txBox="1"/>
          <p:nvPr/>
        </p:nvSpPr>
        <p:spPr>
          <a:xfrm>
            <a:off x="6640670" y="3134289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最大水圈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9830CDF-2C04-D6CF-7EFE-015440AF74A5}"/>
              </a:ext>
            </a:extLst>
          </p:cNvPr>
          <p:cNvCxnSpPr>
            <a:cxnSpLocks/>
          </p:cNvCxnSpPr>
          <p:nvPr/>
        </p:nvCxnSpPr>
        <p:spPr>
          <a:xfrm flipH="1">
            <a:off x="3392470" y="2529000"/>
            <a:ext cx="975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C4A0A54-7429-19D8-9BCA-752ACA6C0F29}"/>
              </a:ext>
            </a:extLst>
          </p:cNvPr>
          <p:cNvCxnSpPr>
            <a:cxnSpLocks/>
          </p:cNvCxnSpPr>
          <p:nvPr/>
        </p:nvCxnSpPr>
        <p:spPr>
          <a:xfrm flipV="1">
            <a:off x="6781800" y="1429798"/>
            <a:ext cx="411527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8EE0C72-08F8-8F9C-FCFB-EBF664C4B614}"/>
              </a:ext>
            </a:extLst>
          </p:cNvPr>
          <p:cNvCxnSpPr>
            <a:cxnSpLocks/>
          </p:cNvCxnSpPr>
          <p:nvPr/>
        </p:nvCxnSpPr>
        <p:spPr>
          <a:xfrm flipH="1">
            <a:off x="5271946" y="2612176"/>
            <a:ext cx="427909" cy="447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7097912-24A6-F633-BCC1-5C8A2CE93246}"/>
              </a:ext>
            </a:extLst>
          </p:cNvPr>
          <p:cNvCxnSpPr>
            <a:cxnSpLocks/>
          </p:cNvCxnSpPr>
          <p:nvPr/>
        </p:nvCxnSpPr>
        <p:spPr>
          <a:xfrm>
            <a:off x="6798181" y="2619862"/>
            <a:ext cx="395146" cy="444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7DBF053-B42C-27BD-48D9-03502A290B24}"/>
              </a:ext>
            </a:extLst>
          </p:cNvPr>
          <p:cNvCxnSpPr>
            <a:cxnSpLocks/>
          </p:cNvCxnSpPr>
          <p:nvPr/>
        </p:nvCxnSpPr>
        <p:spPr>
          <a:xfrm>
            <a:off x="6871008" y="2250087"/>
            <a:ext cx="640170" cy="1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9166B5E-24A7-B631-B690-2D53EE7FED48}"/>
              </a:ext>
            </a:extLst>
          </p:cNvPr>
          <p:cNvSpPr txBox="1"/>
          <p:nvPr/>
        </p:nvSpPr>
        <p:spPr>
          <a:xfrm>
            <a:off x="7511178" y="207721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速度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04DE675-E776-6EE1-BC99-D36FD7F5C1EB}"/>
              </a:ext>
            </a:extLst>
          </p:cNvPr>
          <p:cNvCxnSpPr>
            <a:cxnSpLocks/>
          </p:cNvCxnSpPr>
          <p:nvPr/>
        </p:nvCxnSpPr>
        <p:spPr>
          <a:xfrm flipH="1">
            <a:off x="5110938" y="2230977"/>
            <a:ext cx="58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6BF216B1-FC8C-3D7C-0B30-1B7616FDF30D}"/>
              </a:ext>
            </a:extLst>
          </p:cNvPr>
          <p:cNvSpPr txBox="1"/>
          <p:nvPr/>
        </p:nvSpPr>
        <p:spPr>
          <a:xfrm>
            <a:off x="3880150" y="2018049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状态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DC29CEA-53C1-7F92-DB9E-8CD2F97216A4}"/>
              </a:ext>
            </a:extLst>
          </p:cNvPr>
          <p:cNvSpPr txBox="1"/>
          <p:nvPr/>
        </p:nvSpPr>
        <p:spPr>
          <a:xfrm>
            <a:off x="5405396" y="3570652"/>
            <a:ext cx="1811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And?</a:t>
            </a:r>
          </a:p>
          <a:p>
            <a:pPr algn="ctr"/>
            <a:r>
              <a:rPr lang="zh-CN" altLang="en-US" sz="2000" dirty="0"/>
              <a:t>大小？坐标？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CAD187E-DD91-836C-4595-D73948918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9" y="1278206"/>
            <a:ext cx="30099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49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A20A6-E817-CB21-52AE-D8D6013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4D6D2-D50E-3C2C-DDEE-34115F82F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7C2E9E-2CDB-CE8B-6AC3-B5644BC4B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9EEAC0-3064-461A-CF64-48CE82F7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B0BE38F-D839-B2A6-041B-8A2D79E2BBEE}"/>
              </a:ext>
            </a:extLst>
          </p:cNvPr>
          <p:cNvCxnSpPr>
            <a:cxnSpLocks/>
          </p:cNvCxnSpPr>
          <p:nvPr/>
        </p:nvCxnSpPr>
        <p:spPr>
          <a:xfrm>
            <a:off x="3236063" y="2517571"/>
            <a:ext cx="1477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88B02317-81FE-1E31-94BF-67CA1841F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9" y="1278206"/>
            <a:ext cx="3009900" cy="28575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2A02F20-E3E2-309B-6787-B24113EAC73D}"/>
              </a:ext>
            </a:extLst>
          </p:cNvPr>
          <p:cNvSpPr txBox="1"/>
          <p:nvPr/>
        </p:nvSpPr>
        <p:spPr>
          <a:xfrm>
            <a:off x="3132720" y="2148239"/>
            <a:ext cx="1911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initRaindrop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新宋体" panose="02010609030101010101" pitchFamily="49" charset="-122"/>
                <a:ea typeface="新宋体" panose="02010609030101010101" pitchFamily="49" charset="-122"/>
              </a:rPr>
              <a:t>()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7E6DF4C-BE61-0116-D96E-EA1BAD2CA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776" y="856524"/>
            <a:ext cx="3881224" cy="343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35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A560-D1CD-9071-3754-7510C7688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4ECC1-84F8-0D54-5881-59AA7CF8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A8AAF5-B4EA-680E-11B5-EC50BC815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25AA93-414A-8120-B6D4-D8E611618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4E1A6D6-54CE-3491-4B08-50CE4628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96" y="1135070"/>
            <a:ext cx="3631804" cy="2726187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19EEA14-0579-BA58-EAB2-453917FDA4E6}"/>
              </a:ext>
            </a:extLst>
          </p:cNvPr>
          <p:cNvCxnSpPr/>
          <p:nvPr/>
        </p:nvCxnSpPr>
        <p:spPr>
          <a:xfrm>
            <a:off x="4464900" y="2514600"/>
            <a:ext cx="1295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4D32C02-8C64-EED4-D60A-50DC368FE4AA}"/>
              </a:ext>
            </a:extLst>
          </p:cNvPr>
          <p:cNvSpPr txBox="1"/>
          <p:nvPr/>
        </p:nvSpPr>
        <p:spPr>
          <a:xfrm>
            <a:off x="5760720" y="2288870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</p:spTree>
    <p:extLst>
      <p:ext uri="{BB962C8B-B14F-4D97-AF65-F5344CB8AC3E}">
        <p14:creationId xmlns:p14="http://schemas.microsoft.com/office/powerpoint/2010/main" val="1408882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978ED-4248-C2F2-07E2-34DF86FF1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F2E86-47D4-D3C5-C6E2-84A4DA45B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270A72-5048-A110-E5C9-E7DB6660B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58A349-8DC9-2C38-8F4E-33FE72A9F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10AC818-33DD-AA99-E7E7-A04131649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96" y="1135070"/>
            <a:ext cx="3631804" cy="2726187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CBDDA08-B58C-6348-22D6-B3F898A951E1}"/>
              </a:ext>
            </a:extLst>
          </p:cNvPr>
          <p:cNvCxnSpPr/>
          <p:nvPr/>
        </p:nvCxnSpPr>
        <p:spPr>
          <a:xfrm>
            <a:off x="4464900" y="2514600"/>
            <a:ext cx="1295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AE93E20-C7AB-257D-86C6-89174BC8FE17}"/>
              </a:ext>
            </a:extLst>
          </p:cNvPr>
          <p:cNvSpPr txBox="1"/>
          <p:nvPr/>
        </p:nvSpPr>
        <p:spPr>
          <a:xfrm>
            <a:off x="5760720" y="2288870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43426F2-1C6A-F233-9574-C03F7E1A9F08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6607380" y="1557730"/>
            <a:ext cx="6780" cy="659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9DADC97-C75C-FB8F-0038-61EEA8310495}"/>
              </a:ext>
            </a:extLst>
          </p:cNvPr>
          <p:cNvSpPr txBox="1"/>
          <p:nvPr/>
        </p:nvSpPr>
        <p:spPr>
          <a:xfrm>
            <a:off x="5453370" y="1157620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从天而降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F031AE6-CFD6-C410-5179-4D897416D08E}"/>
              </a:ext>
            </a:extLst>
          </p:cNvPr>
          <p:cNvSpPr txBox="1"/>
          <p:nvPr/>
        </p:nvSpPr>
        <p:spPr>
          <a:xfrm>
            <a:off x="5532960" y="3644881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入水有声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CD6AE66-0D4C-3814-7A14-BF7F24B4CA38}"/>
              </a:ext>
            </a:extLst>
          </p:cNvPr>
          <p:cNvCxnSpPr>
            <a:cxnSpLocks/>
          </p:cNvCxnSpPr>
          <p:nvPr/>
        </p:nvCxnSpPr>
        <p:spPr>
          <a:xfrm>
            <a:off x="6629400" y="2873645"/>
            <a:ext cx="0" cy="708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92754F7-E585-2CE5-D1AF-66959A88D0C8}"/>
              </a:ext>
            </a:extLst>
          </p:cNvPr>
          <p:cNvSpPr txBox="1"/>
          <p:nvPr/>
        </p:nvSpPr>
        <p:spPr>
          <a:xfrm>
            <a:off x="7840980" y="2405756"/>
            <a:ext cx="1390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圈圈波澜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15AA87B-E81A-D3E1-DD35-3A1DC468F13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261860" y="2605811"/>
            <a:ext cx="579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3014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D4063-1341-C9F7-8DC6-78CDBE07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0C11A5-5FEF-E0B5-14FC-51677D4E1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87E28E-8DFA-5E43-A642-9EBC0D4FF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DE21AF-2EC9-2346-9793-E91DD488E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44F19B9-043B-2160-55AD-EA9CAF1A6437}"/>
              </a:ext>
            </a:extLst>
          </p:cNvPr>
          <p:cNvSpPr txBox="1"/>
          <p:nvPr/>
        </p:nvSpPr>
        <p:spPr>
          <a:xfrm>
            <a:off x="5760720" y="2288870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984C1C8-02E7-C577-975A-FCAEABF1F0EB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6607380" y="1557730"/>
            <a:ext cx="6780" cy="659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0879A06-31A7-AC61-548D-E0E353F7E832}"/>
              </a:ext>
            </a:extLst>
          </p:cNvPr>
          <p:cNvSpPr txBox="1"/>
          <p:nvPr/>
        </p:nvSpPr>
        <p:spPr>
          <a:xfrm>
            <a:off x="5453370" y="1157620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从天而降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568C06A-B6AD-69AB-11BB-0676C9922FA5}"/>
              </a:ext>
            </a:extLst>
          </p:cNvPr>
          <p:cNvSpPr txBox="1"/>
          <p:nvPr/>
        </p:nvSpPr>
        <p:spPr>
          <a:xfrm>
            <a:off x="5532960" y="3644881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入水有声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4672541-97E0-7C3D-5856-9CEB7766F0B6}"/>
              </a:ext>
            </a:extLst>
          </p:cNvPr>
          <p:cNvCxnSpPr>
            <a:cxnSpLocks/>
          </p:cNvCxnSpPr>
          <p:nvPr/>
        </p:nvCxnSpPr>
        <p:spPr>
          <a:xfrm>
            <a:off x="6629400" y="2873645"/>
            <a:ext cx="0" cy="708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1ECF753-7C45-7F54-0D9B-CBEC08225BBD}"/>
              </a:ext>
            </a:extLst>
          </p:cNvPr>
          <p:cNvSpPr txBox="1"/>
          <p:nvPr/>
        </p:nvSpPr>
        <p:spPr>
          <a:xfrm>
            <a:off x="7840980" y="2405756"/>
            <a:ext cx="1390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圈圈波澜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0FCBD5D-5F05-8326-F292-C58068BABA0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261860" y="2605811"/>
            <a:ext cx="579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78523E8-4AA2-E357-FBED-07340A6C63B2}"/>
              </a:ext>
            </a:extLst>
          </p:cNvPr>
          <p:cNvSpPr txBox="1"/>
          <p:nvPr/>
        </p:nvSpPr>
        <p:spPr>
          <a:xfrm>
            <a:off x="3162300" y="2235635"/>
            <a:ext cx="2910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每个状态做什么？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85184DB-6416-B50C-1D4D-472E0BA48C43}"/>
              </a:ext>
            </a:extLst>
          </p:cNvPr>
          <p:cNvCxnSpPr>
            <a:cxnSpLocks/>
          </p:cNvCxnSpPr>
          <p:nvPr/>
        </p:nvCxnSpPr>
        <p:spPr>
          <a:xfrm flipH="1">
            <a:off x="3413760" y="2633400"/>
            <a:ext cx="2133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399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DD37-2C63-FEA3-9D43-E4F5A441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C448F-127B-EF38-F025-76351BD0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361DD7-3734-E6E1-85EE-88076B1A0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BEEDA8-03EA-918F-F439-8B976701D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CDED2ED-F227-AC2A-590B-726C838A9554}"/>
              </a:ext>
            </a:extLst>
          </p:cNvPr>
          <p:cNvSpPr txBox="1"/>
          <p:nvPr/>
        </p:nvSpPr>
        <p:spPr>
          <a:xfrm>
            <a:off x="959700" y="2207126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0643DE3-C31F-01FD-1EA2-FFA0035ADB56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1753440" y="1586441"/>
            <a:ext cx="6780" cy="659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F6FB6AE-7D76-E770-73E4-505265C37744}"/>
              </a:ext>
            </a:extLst>
          </p:cNvPr>
          <p:cNvSpPr txBox="1"/>
          <p:nvPr/>
        </p:nvSpPr>
        <p:spPr>
          <a:xfrm>
            <a:off x="599430" y="1186331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从天而降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50C59C-0877-F6E5-F24A-772B61850633}"/>
              </a:ext>
            </a:extLst>
          </p:cNvPr>
          <p:cNvSpPr txBox="1"/>
          <p:nvPr/>
        </p:nvSpPr>
        <p:spPr>
          <a:xfrm>
            <a:off x="606210" y="3644881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入水有声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E62320F-F9C7-3A02-2151-2016FC9F594F}"/>
              </a:ext>
            </a:extLst>
          </p:cNvPr>
          <p:cNvCxnSpPr>
            <a:cxnSpLocks/>
          </p:cNvCxnSpPr>
          <p:nvPr/>
        </p:nvCxnSpPr>
        <p:spPr>
          <a:xfrm>
            <a:off x="1745820" y="2805866"/>
            <a:ext cx="0" cy="708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EBE9C39-715E-CD65-8F61-8977962A5469}"/>
              </a:ext>
            </a:extLst>
          </p:cNvPr>
          <p:cNvSpPr txBox="1"/>
          <p:nvPr/>
        </p:nvSpPr>
        <p:spPr>
          <a:xfrm>
            <a:off x="2920155" y="2299458"/>
            <a:ext cx="1390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圈圈波澜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3918250-8181-843D-82F5-2266DBF60CA6}"/>
              </a:ext>
            </a:extLst>
          </p:cNvPr>
          <p:cNvCxnSpPr>
            <a:cxnSpLocks/>
          </p:cNvCxnSpPr>
          <p:nvPr/>
        </p:nvCxnSpPr>
        <p:spPr>
          <a:xfrm>
            <a:off x="2407500" y="2499513"/>
            <a:ext cx="579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84382BB-BAA3-094F-FB81-4DE590BFD1EB}"/>
              </a:ext>
            </a:extLst>
          </p:cNvPr>
          <p:cNvCxnSpPr>
            <a:cxnSpLocks/>
          </p:cNvCxnSpPr>
          <p:nvPr/>
        </p:nvCxnSpPr>
        <p:spPr>
          <a:xfrm>
            <a:off x="4310385" y="2492793"/>
            <a:ext cx="11302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1BA687A-353A-3CCF-8A39-08E54DD82613}"/>
              </a:ext>
            </a:extLst>
          </p:cNvPr>
          <p:cNvCxnSpPr>
            <a:cxnSpLocks/>
          </p:cNvCxnSpPr>
          <p:nvPr/>
        </p:nvCxnSpPr>
        <p:spPr>
          <a:xfrm>
            <a:off x="2609220" y="1350413"/>
            <a:ext cx="1078860" cy="3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B1EC1BD-E70F-4298-D29C-083D1D87E828}"/>
              </a:ext>
            </a:extLst>
          </p:cNvPr>
          <p:cNvCxnSpPr>
            <a:cxnSpLocks/>
          </p:cNvCxnSpPr>
          <p:nvPr/>
        </p:nvCxnSpPr>
        <p:spPr>
          <a:xfrm>
            <a:off x="2609220" y="3881184"/>
            <a:ext cx="1185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EB1794-1C96-50FC-D542-A0CF58F7B23E}"/>
              </a:ext>
            </a:extLst>
          </p:cNvPr>
          <p:cNvSpPr txBox="1"/>
          <p:nvPr/>
        </p:nvSpPr>
        <p:spPr>
          <a:xfrm>
            <a:off x="3987809" y="3373352"/>
            <a:ext cx="23774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雨滴消失 </a:t>
            </a:r>
            <a:endParaRPr lang="en-US" altLang="zh-CN" sz="2000" dirty="0"/>
          </a:p>
          <a:p>
            <a:pPr algn="ctr"/>
            <a:r>
              <a:rPr lang="zh-CN" altLang="en-US" sz="2000" dirty="0"/>
              <a:t>播放声音</a:t>
            </a:r>
            <a:endParaRPr lang="en-US" altLang="zh-CN" sz="2000" dirty="0"/>
          </a:p>
          <a:p>
            <a:pPr algn="ctr"/>
            <a:r>
              <a:rPr lang="zh-CN" altLang="en-US" sz="2000" dirty="0"/>
              <a:t>进入下一个状态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F83EF8E-6CFB-7FFB-A4B2-C76239F07E95}"/>
              </a:ext>
            </a:extLst>
          </p:cNvPr>
          <p:cNvSpPr txBox="1"/>
          <p:nvPr/>
        </p:nvSpPr>
        <p:spPr>
          <a:xfrm>
            <a:off x="5349240" y="2307554"/>
            <a:ext cx="23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播放动画</a:t>
            </a:r>
            <a:endParaRPr lang="en-US" altLang="zh-CN" sz="2000" dirty="0"/>
          </a:p>
          <a:p>
            <a:pPr algn="ctr"/>
            <a:r>
              <a:rPr lang="zh-CN" altLang="en-US" sz="2000" dirty="0"/>
              <a:t>终止状态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FAEEA62-6EC9-6F27-41F2-BEBD8F0D4DD0}"/>
              </a:ext>
            </a:extLst>
          </p:cNvPr>
          <p:cNvSpPr txBox="1"/>
          <p:nvPr/>
        </p:nvSpPr>
        <p:spPr>
          <a:xfrm>
            <a:off x="3419685" y="1051800"/>
            <a:ext cx="23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播放动画</a:t>
            </a:r>
            <a:endParaRPr lang="en-US" altLang="zh-CN" sz="2000" dirty="0"/>
          </a:p>
          <a:p>
            <a:pPr algn="ctr"/>
            <a:r>
              <a:rPr lang="zh-CN" altLang="en-US" sz="2000" dirty="0"/>
              <a:t>检查何时入水</a:t>
            </a:r>
          </a:p>
        </p:txBody>
      </p:sp>
    </p:spTree>
    <p:extLst>
      <p:ext uri="{BB962C8B-B14F-4D97-AF65-F5344CB8AC3E}">
        <p14:creationId xmlns:p14="http://schemas.microsoft.com/office/powerpoint/2010/main" val="1549139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DBBD-C6C8-F9CD-0CD1-8CA249044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A21E4-AE61-2AF6-5E2E-065CCC84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B56F26-4635-3C4B-5D8B-1B7935EDD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D1891C-B55B-59A4-3442-AD0DF565D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56C4269-30E4-0270-24B8-33A03E41C8F2}"/>
              </a:ext>
            </a:extLst>
          </p:cNvPr>
          <p:cNvSpPr txBox="1"/>
          <p:nvPr/>
        </p:nvSpPr>
        <p:spPr>
          <a:xfrm>
            <a:off x="959700" y="2207126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雨滴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C9E0200-569F-6D0C-9E35-AE53814B3354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1753440" y="1586441"/>
            <a:ext cx="6780" cy="659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67728DB-70A4-DD37-76DC-E54D5B71131D}"/>
              </a:ext>
            </a:extLst>
          </p:cNvPr>
          <p:cNvSpPr txBox="1"/>
          <p:nvPr/>
        </p:nvSpPr>
        <p:spPr>
          <a:xfrm>
            <a:off x="599430" y="1186331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从天而降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928A49B-9923-66C5-2E15-E8AE63CBF743}"/>
              </a:ext>
            </a:extLst>
          </p:cNvPr>
          <p:cNvSpPr txBox="1"/>
          <p:nvPr/>
        </p:nvSpPr>
        <p:spPr>
          <a:xfrm>
            <a:off x="606210" y="3644881"/>
            <a:ext cx="230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入水有声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1BD7757-F090-B820-B06B-39BCF408CDC5}"/>
              </a:ext>
            </a:extLst>
          </p:cNvPr>
          <p:cNvCxnSpPr>
            <a:cxnSpLocks/>
          </p:cNvCxnSpPr>
          <p:nvPr/>
        </p:nvCxnSpPr>
        <p:spPr>
          <a:xfrm>
            <a:off x="1745820" y="2805866"/>
            <a:ext cx="0" cy="708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AD11AE1-20F4-AF3D-E2F4-647C6EDFED1B}"/>
              </a:ext>
            </a:extLst>
          </p:cNvPr>
          <p:cNvSpPr txBox="1"/>
          <p:nvPr/>
        </p:nvSpPr>
        <p:spPr>
          <a:xfrm>
            <a:off x="2920155" y="2299458"/>
            <a:ext cx="1390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圈圈波澜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66E9A0E-5DCB-683B-4FD4-2577E5F0E1AC}"/>
              </a:ext>
            </a:extLst>
          </p:cNvPr>
          <p:cNvCxnSpPr>
            <a:cxnSpLocks/>
          </p:cNvCxnSpPr>
          <p:nvPr/>
        </p:nvCxnSpPr>
        <p:spPr>
          <a:xfrm>
            <a:off x="2407500" y="2499513"/>
            <a:ext cx="579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A1B5A31-A175-60BF-762A-84CC08515062}"/>
              </a:ext>
            </a:extLst>
          </p:cNvPr>
          <p:cNvCxnSpPr>
            <a:cxnSpLocks/>
          </p:cNvCxnSpPr>
          <p:nvPr/>
        </p:nvCxnSpPr>
        <p:spPr>
          <a:xfrm>
            <a:off x="4310385" y="2492793"/>
            <a:ext cx="11302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ADA58D6-C5EE-0B43-466C-1DD9574ADDCD}"/>
              </a:ext>
            </a:extLst>
          </p:cNvPr>
          <p:cNvCxnSpPr>
            <a:cxnSpLocks/>
          </p:cNvCxnSpPr>
          <p:nvPr/>
        </p:nvCxnSpPr>
        <p:spPr>
          <a:xfrm>
            <a:off x="2609220" y="1350413"/>
            <a:ext cx="1078860" cy="3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C13E4E2-5E6D-2EF8-2274-78E47D94911A}"/>
              </a:ext>
            </a:extLst>
          </p:cNvPr>
          <p:cNvCxnSpPr>
            <a:cxnSpLocks/>
          </p:cNvCxnSpPr>
          <p:nvPr/>
        </p:nvCxnSpPr>
        <p:spPr>
          <a:xfrm>
            <a:off x="2609220" y="3881184"/>
            <a:ext cx="1185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F5E6362E-21B3-32CC-BF92-593AEAB59B45}"/>
              </a:ext>
            </a:extLst>
          </p:cNvPr>
          <p:cNvSpPr txBox="1"/>
          <p:nvPr/>
        </p:nvSpPr>
        <p:spPr>
          <a:xfrm>
            <a:off x="3987809" y="3373352"/>
            <a:ext cx="23774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雨滴消失 </a:t>
            </a:r>
            <a:endParaRPr lang="en-US" altLang="zh-CN" sz="2000" dirty="0"/>
          </a:p>
          <a:p>
            <a:pPr algn="ctr"/>
            <a:r>
              <a:rPr lang="zh-CN" altLang="en-US" sz="2000" dirty="0"/>
              <a:t>播放声音</a:t>
            </a:r>
            <a:endParaRPr lang="en-US" altLang="zh-CN" sz="2000" dirty="0"/>
          </a:p>
          <a:p>
            <a:pPr algn="ctr"/>
            <a:r>
              <a:rPr lang="zh-CN" altLang="en-US" sz="2000" dirty="0"/>
              <a:t>进入下一个状态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8483F1-EFB2-B3DF-9111-D17310FE4F3E}"/>
              </a:ext>
            </a:extLst>
          </p:cNvPr>
          <p:cNvSpPr txBox="1"/>
          <p:nvPr/>
        </p:nvSpPr>
        <p:spPr>
          <a:xfrm>
            <a:off x="5349240" y="2307554"/>
            <a:ext cx="23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播放动画</a:t>
            </a:r>
            <a:endParaRPr lang="en-US" altLang="zh-CN" sz="2000" dirty="0"/>
          </a:p>
          <a:p>
            <a:pPr algn="ctr"/>
            <a:r>
              <a:rPr lang="zh-CN" altLang="en-US" sz="2000" dirty="0"/>
              <a:t>终止状态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9DAFA4-68F7-0894-E6DE-D8D03533BD53}"/>
              </a:ext>
            </a:extLst>
          </p:cNvPr>
          <p:cNvSpPr txBox="1"/>
          <p:nvPr/>
        </p:nvSpPr>
        <p:spPr>
          <a:xfrm>
            <a:off x="3419685" y="1051800"/>
            <a:ext cx="23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播放动画</a:t>
            </a:r>
            <a:endParaRPr lang="en-US" altLang="zh-CN" sz="2000" dirty="0"/>
          </a:p>
          <a:p>
            <a:pPr algn="ctr"/>
            <a:r>
              <a:rPr lang="zh-CN" altLang="en-US" sz="2000" dirty="0"/>
              <a:t>检查何时入水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D0D69D4-031A-F480-9D10-C1D7C4BCF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695" y="702968"/>
            <a:ext cx="6056610" cy="142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61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B4CAE-8212-99EA-D9CC-8848CF38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DFBE8-C6BA-267B-DF64-725D20E7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967E919-2826-67B9-6684-26AFD4CC4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2E8CD5-CDC2-D152-046A-4BEF4C312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687BA9B-2407-BDCC-EBF8-FBC64F315029}"/>
              </a:ext>
            </a:extLst>
          </p:cNvPr>
          <p:cNvCxnSpPr/>
          <p:nvPr/>
        </p:nvCxnSpPr>
        <p:spPr>
          <a:xfrm>
            <a:off x="4655400" y="2584132"/>
            <a:ext cx="1295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F3E1D23-B154-1950-031D-1DCAFE13A316}"/>
              </a:ext>
            </a:extLst>
          </p:cNvPr>
          <p:cNvSpPr txBox="1"/>
          <p:nvPr/>
        </p:nvSpPr>
        <p:spPr>
          <a:xfrm>
            <a:off x="6179820" y="2314605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池塘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37DDF8B-32E3-EE7F-3FF5-85888F893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5" y="1059420"/>
            <a:ext cx="4364835" cy="342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22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1F0B9-861F-BFD2-C6DC-2AB9EB7D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FAD9D-6271-FB5B-4577-45F7855F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62CC62-BC19-D3AA-37C9-1171EDB70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4F870B-43E8-8D0F-6872-40E0E07B8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0B6EE0A-354B-2AD3-CB93-6A03D3FA1F34}"/>
              </a:ext>
            </a:extLst>
          </p:cNvPr>
          <p:cNvSpPr txBox="1"/>
          <p:nvPr/>
        </p:nvSpPr>
        <p:spPr>
          <a:xfrm>
            <a:off x="5699855" y="3052645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坐标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6DAD861-5FDE-2B9F-4044-04E14D603407}"/>
              </a:ext>
            </a:extLst>
          </p:cNvPr>
          <p:cNvCxnSpPr>
            <a:cxnSpLocks/>
          </p:cNvCxnSpPr>
          <p:nvPr/>
        </p:nvCxnSpPr>
        <p:spPr>
          <a:xfrm>
            <a:off x="4106970" y="2385060"/>
            <a:ext cx="9300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65CBADA-D14B-B253-7765-C8325006371D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6305708" y="2549569"/>
            <a:ext cx="0" cy="46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25D39CF-5A1F-3CE5-2C97-8CBECB434CFF}"/>
              </a:ext>
            </a:extLst>
          </p:cNvPr>
          <p:cNvSpPr txBox="1"/>
          <p:nvPr/>
        </p:nvSpPr>
        <p:spPr>
          <a:xfrm>
            <a:off x="5699855" y="3581400"/>
            <a:ext cx="1280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And?</a:t>
            </a:r>
            <a:endParaRPr lang="zh-CN" altLang="en-US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69BD4F-E014-2AA2-8DDE-FD8834490A43}"/>
              </a:ext>
            </a:extLst>
          </p:cNvPr>
          <p:cNvSpPr txBox="1"/>
          <p:nvPr/>
        </p:nvSpPr>
        <p:spPr>
          <a:xfrm>
            <a:off x="5437028" y="1964794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池塘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1E4AB6A-7A7A-27D0-0CEB-0F9414F2A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6" y="1059420"/>
            <a:ext cx="3489618" cy="273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65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D9FB7-9E1C-ABCC-A4A0-77913628B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52A2A-7DB1-FF74-2CE3-73034102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E41824-6E91-AA5E-EF93-B8A039F02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抓住重点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0A12A5-253E-DEB0-8D44-9A75AEAE1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969560A-47A4-CF05-9F17-10EA458F8D36}"/>
              </a:ext>
            </a:extLst>
          </p:cNvPr>
          <p:cNvSpPr txBox="1"/>
          <p:nvPr/>
        </p:nvSpPr>
        <p:spPr>
          <a:xfrm>
            <a:off x="7032315" y="3391177"/>
            <a:ext cx="1364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/>
              <a:t>坐标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583EF5C-5C17-41A4-8E1F-ACBE01674FA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7676896" y="2927178"/>
            <a:ext cx="0" cy="46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B99AF56-9884-068F-4082-00EB583EEF71}"/>
              </a:ext>
            </a:extLst>
          </p:cNvPr>
          <p:cNvSpPr txBox="1"/>
          <p:nvPr/>
        </p:nvSpPr>
        <p:spPr>
          <a:xfrm>
            <a:off x="6808216" y="2342403"/>
            <a:ext cx="1737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池塘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20BBFB-2730-1288-3EEB-65E79BD96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" y="1144863"/>
            <a:ext cx="6565216" cy="261941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A8E57CA-327F-A463-81BD-6EADF415229B}"/>
              </a:ext>
            </a:extLst>
          </p:cNvPr>
          <p:cNvCxnSpPr>
            <a:cxnSpLocks/>
          </p:cNvCxnSpPr>
          <p:nvPr/>
        </p:nvCxnSpPr>
        <p:spPr>
          <a:xfrm flipH="1">
            <a:off x="6625747" y="2602230"/>
            <a:ext cx="586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256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D72844-6B24-3372-377E-DAB79D1B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选做分析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476341-2A93-4FD3-D392-54D437CCF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800" y="587801"/>
            <a:ext cx="8443800" cy="4153800"/>
          </a:xfrm>
        </p:spPr>
        <p:txBody>
          <a:bodyPr/>
          <a:lstStyle/>
          <a:p>
            <a:pPr marL="101600" indent="0">
              <a:buNone/>
            </a:pPr>
            <a:r>
              <a:rPr lang="en-US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增加“电闪雷鸣”景象</a:t>
            </a:r>
            <a:endParaRPr lang="en-US" altLang="zh-CN" spc="1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绘制闪电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随机发生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闪电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和模拟雨的生成差不多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闪电后几秒后发生雷鸣即可，这点可以在雷鸣音频开头加几秒空白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en-US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增加风的效果，展现“风雨飘摇”的情景</a:t>
            </a:r>
            <a:endParaRPr lang="en-US" altLang="zh-CN" sz="1800" spc="1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增加风速，风速会影响雨速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1800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增加雨点密度的变化：时而“和风细雨”，</a:t>
            </a:r>
            <a:r>
              <a:rPr lang="zh-CN" altLang="zh-CN" sz="1800" spc="1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时而“暴风骤雨”</a:t>
            </a:r>
            <a:endParaRPr lang="en-US" altLang="zh-CN" sz="1800" spc="1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调整生成雨的函数，增加雨的状态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spc="1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pc="1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EB814E-3467-F74E-AF88-13707F04A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51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4E1B7-1157-6750-ED87-74288F117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3D252-F3D0-98BB-F6BB-379F5E996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选做分析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F3DF1D-500E-B70B-A781-326BB5E05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800" y="587801"/>
            <a:ext cx="8443800" cy="4153800"/>
          </a:xfrm>
        </p:spPr>
        <p:txBody>
          <a:bodyPr/>
          <a:lstStyle/>
          <a:p>
            <a:pPr marL="101600" indent="0">
              <a:buNone/>
            </a:pPr>
            <a:r>
              <a:rPr lang="en-US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增加“电闪雷鸣”景象</a:t>
            </a:r>
            <a:endParaRPr lang="en-US" altLang="zh-CN" spc="1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绘制闪电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随机发生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闪电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和模拟雨的生成差不多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闪电后几秒后发生雷鸣即可，这点可以在雷鸣音频开头加几秒空白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en-US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增加风的效果，展现“风雨飘摇”的情景</a:t>
            </a:r>
            <a:endParaRPr lang="en-US" altLang="zh-CN" sz="1800" spc="1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增加风速，风速会影响雨速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1800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增加雨点密度的变化：时而“和风细雨”，</a:t>
            </a:r>
            <a:r>
              <a:rPr lang="zh-CN" altLang="zh-CN" sz="1800" spc="1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时而“暴风骤雨”</a:t>
            </a:r>
            <a:endParaRPr lang="en-US" altLang="zh-CN" sz="1800" spc="1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调整生成雨的函数，增加雨的状态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spc="1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pc="1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6BA4E3-E236-D249-8B1C-D99C9F6D6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17" y="4260424"/>
            <a:ext cx="6181725" cy="3143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D7AED1-DA39-1A43-13FB-6AEB71E3E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99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7380A-38CD-8C5B-0989-1C55E83B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42785E-47D4-8B8F-1AC7-EA872C44F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选做分析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E7CAE4-44BC-AEF8-3F20-FE7E01B4A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800" y="587801"/>
            <a:ext cx="8443800" cy="4153800"/>
          </a:xfrm>
        </p:spPr>
        <p:txBody>
          <a:bodyPr/>
          <a:lstStyle/>
          <a:p>
            <a:pPr marL="101600" indent="0">
              <a:buNone/>
            </a:pPr>
            <a:r>
              <a:rPr lang="en-US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pc="1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zh-CN" sz="1800" spc="1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将“池塘”改为“荷塘”，雨点滴在荷叶上的效果是溅起四散的水珠，响声也不同</a:t>
            </a:r>
            <a:endParaRPr lang="en-US" altLang="zh-CN" spc="1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荷叶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增加雨的状态或者增加条件判断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绘制溅起的水珠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增加响声判断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z="1800" spc="1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en-US" altLang="zh-CN" spc="1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0160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AB4076-2DE1-BAD5-B445-BF7A371CE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63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92675" y="2066850"/>
            <a:ext cx="905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 dirty="0"/>
              <a:t>设计流程</a:t>
            </a:r>
            <a:endParaRPr sz="4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434AD5-7D35-A060-1080-AEDDFDAEE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76675"/>
            <a:ext cx="205740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总体思路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FC6678-2CE7-1076-BD6B-B5B00B067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225314E-9CA5-0F26-7537-2F17BBECFAB7}"/>
              </a:ext>
            </a:extLst>
          </p:cNvPr>
          <p:cNvSpPr txBox="1"/>
          <p:nvPr/>
        </p:nvSpPr>
        <p:spPr>
          <a:xfrm>
            <a:off x="290624" y="659219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新建需要的文件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E2D0E492-BC06-60A7-AF22-EF01F468D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79E668FE-4507-3E74-C1A4-EF8C8E8E3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总体思路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85801B9-2783-2745-8EAF-4FD8D5B29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35ADB8C-4C60-3628-9B2C-F40B3B7045FE}"/>
              </a:ext>
            </a:extLst>
          </p:cNvPr>
          <p:cNvSpPr txBox="1"/>
          <p:nvPr/>
        </p:nvSpPr>
        <p:spPr>
          <a:xfrm>
            <a:off x="290624" y="659219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新建需要的文件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B767D5-ACE3-10BF-A7DD-6116F913D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59" y="1059329"/>
            <a:ext cx="2206034" cy="162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32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8C9753BE-A71D-0773-117C-D315DEAE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82AA2A27-0B80-0E1C-A8C0-764E46C51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总体思路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DAE368-9F08-7FF5-3049-ACFE3AF62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2ED722B-07E2-3A0D-BD10-7F092F9BB3C4}"/>
              </a:ext>
            </a:extLst>
          </p:cNvPr>
          <p:cNvSpPr txBox="1"/>
          <p:nvPr/>
        </p:nvSpPr>
        <p:spPr>
          <a:xfrm>
            <a:off x="225057" y="807600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新建需要的文件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2D05BFC-6E57-1138-F296-D82CF086A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47" y="1340963"/>
            <a:ext cx="2206034" cy="162152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67DFAF5-2D1C-98D6-4172-DC5AA6E3B378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2713075" y="1007655"/>
            <a:ext cx="2507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DD6CC9F-F745-2567-F1A7-3D737765060A}"/>
              </a:ext>
            </a:extLst>
          </p:cNvPr>
          <p:cNvSpPr txBox="1"/>
          <p:nvPr/>
        </p:nvSpPr>
        <p:spPr>
          <a:xfrm>
            <a:off x="5220586" y="653712"/>
            <a:ext cx="248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编写</a:t>
            </a:r>
            <a:r>
              <a:rPr lang="en-US" altLang="zh-CN" sz="2000" dirty="0"/>
              <a:t>raindrop.cpp</a:t>
            </a:r>
          </a:p>
          <a:p>
            <a:pPr algn="ctr"/>
            <a:r>
              <a:rPr lang="zh-CN" altLang="en-US" sz="2000" dirty="0"/>
              <a:t>实现雨滴的大概功能</a:t>
            </a:r>
          </a:p>
        </p:txBody>
      </p:sp>
    </p:spTree>
    <p:extLst>
      <p:ext uri="{BB962C8B-B14F-4D97-AF65-F5344CB8AC3E}">
        <p14:creationId xmlns:p14="http://schemas.microsoft.com/office/powerpoint/2010/main" val="20676693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27C3C081-973A-BC64-D359-985B9477A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D60950F5-6E39-66D5-4A23-C8F4EB4600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总体思路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BE8B06-9C28-3269-8A2A-57C3DDAB6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1FF37A-B042-4266-0240-29FD862C1CEE}"/>
              </a:ext>
            </a:extLst>
          </p:cNvPr>
          <p:cNvSpPr txBox="1"/>
          <p:nvPr/>
        </p:nvSpPr>
        <p:spPr>
          <a:xfrm>
            <a:off x="225057" y="807600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新建需要的文件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628078-AA36-9387-D161-34FAC1C28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47" y="1340963"/>
            <a:ext cx="2206034" cy="162152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EC55988-4247-F5B5-105B-19C32379C006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2713075" y="1007655"/>
            <a:ext cx="2507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956E358-E91B-4498-CC98-FA4566CE8FDE}"/>
              </a:ext>
            </a:extLst>
          </p:cNvPr>
          <p:cNvSpPr txBox="1"/>
          <p:nvPr/>
        </p:nvSpPr>
        <p:spPr>
          <a:xfrm>
            <a:off x="5220586" y="653712"/>
            <a:ext cx="248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编写</a:t>
            </a:r>
            <a:r>
              <a:rPr lang="en-US" altLang="zh-CN" sz="2000" dirty="0"/>
              <a:t>raindrop.cpp</a:t>
            </a:r>
          </a:p>
          <a:p>
            <a:pPr algn="ctr"/>
            <a:r>
              <a:rPr lang="zh-CN" altLang="en-US" sz="2000" dirty="0"/>
              <a:t>实现雨滴的大概功能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CA5671E-6CB3-9316-1E3F-A3A443E91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634" y="1340963"/>
            <a:ext cx="2695173" cy="178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27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EBB8C162-D2D0-260B-FD0A-E5708F2EA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DE91DC2D-2BD2-E445-170C-6847A69169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总体思路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98962A4-6816-68B1-BE3A-E851490E6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DBC0668-9372-D0A7-B968-FA9E1F92F756}"/>
              </a:ext>
            </a:extLst>
          </p:cNvPr>
          <p:cNvSpPr txBox="1"/>
          <p:nvPr/>
        </p:nvSpPr>
        <p:spPr>
          <a:xfrm>
            <a:off x="225057" y="807600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新建需要的文件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CA6DEA-9315-8D71-D046-2C2FD5698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47" y="1340963"/>
            <a:ext cx="2206034" cy="162152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61C96E9-DEF7-D2F6-E527-95636C1C2E55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2713075" y="1007655"/>
            <a:ext cx="2507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1DCA6261-25C5-980B-3826-DA7A37222A1D}"/>
              </a:ext>
            </a:extLst>
          </p:cNvPr>
          <p:cNvSpPr txBox="1"/>
          <p:nvPr/>
        </p:nvSpPr>
        <p:spPr>
          <a:xfrm>
            <a:off x="5220586" y="653712"/>
            <a:ext cx="248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编写</a:t>
            </a:r>
            <a:r>
              <a:rPr lang="en-US" altLang="zh-CN" sz="2000" dirty="0"/>
              <a:t>raindrop.cpp</a:t>
            </a:r>
          </a:p>
          <a:p>
            <a:pPr algn="ctr"/>
            <a:r>
              <a:rPr lang="zh-CN" altLang="en-US" sz="2000" dirty="0"/>
              <a:t>实现雨滴的大概功能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FC9CECE-AB58-EEDE-F403-E4A9B0E01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634" y="1340963"/>
            <a:ext cx="2695173" cy="178361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B411F7E-4EAA-E091-0AAC-34A7997B319C}"/>
              </a:ext>
            </a:extLst>
          </p:cNvPr>
          <p:cNvCxnSpPr>
            <a:stCxn id="12" idx="2"/>
          </p:cNvCxnSpPr>
          <p:nvPr/>
        </p:nvCxnSpPr>
        <p:spPr>
          <a:xfrm>
            <a:off x="6685221" y="3124575"/>
            <a:ext cx="13291" cy="80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A6C7C09-1940-9D47-3A39-FC10568E137B}"/>
              </a:ext>
            </a:extLst>
          </p:cNvPr>
          <p:cNvSpPr txBox="1"/>
          <p:nvPr/>
        </p:nvSpPr>
        <p:spPr>
          <a:xfrm>
            <a:off x="5454503" y="3954838"/>
            <a:ext cx="248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编写</a:t>
            </a:r>
            <a:r>
              <a:rPr lang="en-US" altLang="zh-CN" sz="2000" dirty="0"/>
              <a:t>pond.cpp</a:t>
            </a:r>
          </a:p>
          <a:p>
            <a:pPr algn="ctr"/>
            <a:r>
              <a:rPr lang="zh-CN" altLang="en-US" sz="2000" dirty="0"/>
              <a:t>完成题目必做内容</a:t>
            </a:r>
          </a:p>
        </p:txBody>
      </p:sp>
    </p:spTree>
    <p:extLst>
      <p:ext uri="{BB962C8B-B14F-4D97-AF65-F5344CB8AC3E}">
        <p14:creationId xmlns:p14="http://schemas.microsoft.com/office/powerpoint/2010/main" val="2383634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AC9E8425-9ABD-F1C6-C350-CAE9CCEF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1F0B0BF7-53A0-B7E5-7D1D-53CC7EC2A2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总体思路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74CC342-5771-10AB-FE85-A326E7B77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B0CFA89-CDA4-4A3F-DE19-00E9302CA4C3}"/>
              </a:ext>
            </a:extLst>
          </p:cNvPr>
          <p:cNvSpPr txBox="1"/>
          <p:nvPr/>
        </p:nvSpPr>
        <p:spPr>
          <a:xfrm>
            <a:off x="225057" y="807600"/>
            <a:ext cx="248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新建需要的文件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940753-4FA0-7DCF-274E-C5EB3AF02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47" y="1340963"/>
            <a:ext cx="2206034" cy="1621529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6716DD4-FAC5-AD8D-8BA7-6E62D468FE21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2713075" y="1007655"/>
            <a:ext cx="2507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2E39901-1F4E-BCEF-3DAB-A95727E3495E}"/>
              </a:ext>
            </a:extLst>
          </p:cNvPr>
          <p:cNvSpPr txBox="1"/>
          <p:nvPr/>
        </p:nvSpPr>
        <p:spPr>
          <a:xfrm>
            <a:off x="5220586" y="653712"/>
            <a:ext cx="248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编写</a:t>
            </a:r>
            <a:r>
              <a:rPr lang="en-US" altLang="zh-CN" sz="2000" dirty="0"/>
              <a:t>raindrop.cpp</a:t>
            </a:r>
          </a:p>
          <a:p>
            <a:pPr algn="ctr"/>
            <a:r>
              <a:rPr lang="zh-CN" altLang="en-US" sz="2000" dirty="0"/>
              <a:t>实现雨滴的大概功能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1292188-27F2-A79D-4F3F-B66580C41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634" y="1340963"/>
            <a:ext cx="2695173" cy="1783612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545B17A-F7AA-0E25-8B2D-BF410599FFEE}"/>
              </a:ext>
            </a:extLst>
          </p:cNvPr>
          <p:cNvCxnSpPr>
            <a:stCxn id="12" idx="2"/>
          </p:cNvCxnSpPr>
          <p:nvPr/>
        </p:nvCxnSpPr>
        <p:spPr>
          <a:xfrm>
            <a:off x="6685221" y="3124575"/>
            <a:ext cx="13291" cy="809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34C2646-762D-F7F9-901A-AD739AD9E1A1}"/>
              </a:ext>
            </a:extLst>
          </p:cNvPr>
          <p:cNvSpPr txBox="1"/>
          <p:nvPr/>
        </p:nvSpPr>
        <p:spPr>
          <a:xfrm>
            <a:off x="5454503" y="3954838"/>
            <a:ext cx="2488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编写</a:t>
            </a:r>
            <a:r>
              <a:rPr lang="en-US" altLang="zh-CN" sz="2000" dirty="0"/>
              <a:t>pond.cpp</a:t>
            </a:r>
          </a:p>
          <a:p>
            <a:pPr algn="ctr"/>
            <a:r>
              <a:rPr lang="zh-CN" altLang="en-US" sz="2000" dirty="0"/>
              <a:t>完成题目必做内容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7C4E317-7344-1CB6-9E5E-6407A597EDD8}"/>
              </a:ext>
            </a:extLst>
          </p:cNvPr>
          <p:cNvCxnSpPr>
            <a:cxnSpLocks/>
          </p:cNvCxnSpPr>
          <p:nvPr/>
        </p:nvCxnSpPr>
        <p:spPr>
          <a:xfrm flipH="1">
            <a:off x="2713075" y="4408526"/>
            <a:ext cx="26093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4678324-7D18-FA49-A7D9-27F0B722A9FF}"/>
              </a:ext>
            </a:extLst>
          </p:cNvPr>
          <p:cNvSpPr txBox="1"/>
          <p:nvPr/>
        </p:nvSpPr>
        <p:spPr>
          <a:xfrm>
            <a:off x="225057" y="3727560"/>
            <a:ext cx="24880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编写</a:t>
            </a:r>
            <a:r>
              <a:rPr lang="en-US" altLang="zh-CN" sz="2000" dirty="0"/>
              <a:t>effects.cpp</a:t>
            </a:r>
          </a:p>
          <a:p>
            <a:pPr algn="ctr"/>
            <a:r>
              <a:rPr lang="zh-CN" altLang="en-US" sz="2000" dirty="0"/>
              <a:t>完成选做内容</a:t>
            </a:r>
            <a:endParaRPr lang="en-US" altLang="zh-CN" sz="2000" dirty="0"/>
          </a:p>
          <a:p>
            <a:pPr algn="ctr"/>
            <a:r>
              <a:rPr lang="zh-CN" altLang="en-US" sz="2000" dirty="0"/>
              <a:t>调整</a:t>
            </a:r>
            <a:r>
              <a:rPr lang="en-US" altLang="zh-CN" sz="2000" dirty="0"/>
              <a:t>pond.cpp raindrop.cpp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0566588-ED3A-28D3-B97F-BFA45038A0F6}"/>
              </a:ext>
            </a:extLst>
          </p:cNvPr>
          <p:cNvSpPr txBox="1"/>
          <p:nvPr/>
        </p:nvSpPr>
        <p:spPr>
          <a:xfrm>
            <a:off x="2901404" y="2269509"/>
            <a:ext cx="24209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zh-CN" sz="3200" dirty="0"/>
          </a:p>
          <a:p>
            <a:pPr algn="ctr"/>
            <a:r>
              <a:rPr lang="zh-CN" altLang="en-US" sz="3200" dirty="0"/>
              <a:t>进行演示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043736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7B0FDF-614F-50CC-BC46-D3B2A8774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931150-1F33-9C9A-AA57-BC1736AD3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挑选软件</a:t>
            </a:r>
            <a:endParaRPr lang="en-US" altLang="zh-CN" dirty="0"/>
          </a:p>
          <a:p>
            <a:r>
              <a:rPr lang="en-US" altLang="zh-CN" sz="1800" dirty="0"/>
              <a:t>Dev-</a:t>
            </a:r>
            <a:r>
              <a:rPr lang="en-US" altLang="zh-CN" sz="1800" dirty="0" err="1"/>
              <a:t>c++</a:t>
            </a:r>
            <a:r>
              <a:rPr lang="en-US" altLang="zh-CN" sz="1800" dirty="0"/>
              <a:t> </a:t>
            </a:r>
            <a:r>
              <a:rPr lang="zh-CN" altLang="en-US" sz="1800" dirty="0"/>
              <a:t>没有那么人性化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2428B57-CCFA-75FE-EA69-21ACA7565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82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683A6-C173-7F76-2C57-EEC303E1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2F193-FD9A-2418-F73E-317F0CAEE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838AD0-4366-221B-654D-88BF8B912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挑选软件</a:t>
            </a:r>
            <a:endParaRPr lang="en-US" altLang="zh-CN" dirty="0"/>
          </a:p>
          <a:p>
            <a:r>
              <a:rPr lang="en-US" altLang="zh-CN" sz="1800" dirty="0"/>
              <a:t>Dev-</a:t>
            </a:r>
            <a:r>
              <a:rPr lang="en-US" altLang="zh-CN" sz="1800" dirty="0" err="1"/>
              <a:t>c++</a:t>
            </a:r>
            <a:r>
              <a:rPr lang="en-US" altLang="zh-CN" sz="1800" dirty="0"/>
              <a:t> </a:t>
            </a:r>
            <a:r>
              <a:rPr lang="zh-CN" altLang="en-US" sz="1800" dirty="0"/>
              <a:t>没有那么人性化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C21F69-3D37-A630-70DB-AC3896678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0" y="1722658"/>
            <a:ext cx="1979218" cy="19490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3788656-2532-549C-F29D-3C9E5564C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218" y="1576832"/>
            <a:ext cx="3344992" cy="219761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9CF3FD0-8BC7-402C-CE86-C4D7F511CB8F}"/>
              </a:ext>
            </a:extLst>
          </p:cNvPr>
          <p:cNvSpPr txBox="1"/>
          <p:nvPr/>
        </p:nvSpPr>
        <p:spPr>
          <a:xfrm>
            <a:off x="2793727" y="3872947"/>
            <a:ext cx="24242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IDEA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7A20B4-929E-BEBA-A0FB-B482235F4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209" y="1598351"/>
            <a:ext cx="3020438" cy="219761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D8155B5-D5C5-86BE-B98D-8C689B5DED93}"/>
              </a:ext>
            </a:extLst>
          </p:cNvPr>
          <p:cNvSpPr txBox="1"/>
          <p:nvPr/>
        </p:nvSpPr>
        <p:spPr>
          <a:xfrm>
            <a:off x="6535479" y="3969488"/>
            <a:ext cx="1942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VSCode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BA237C-052D-FCC2-D934-78BF28C6A8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6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122F4-BEF4-8C86-9C22-FD295A478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4DF01-0DC8-2544-39EE-BEC3446A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1C6BC6-57A6-1ADE-AD06-7B1764AAE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挑选软件</a:t>
            </a:r>
            <a:endParaRPr lang="en-US" altLang="zh-CN" dirty="0"/>
          </a:p>
          <a:p>
            <a:r>
              <a:rPr lang="en-US" altLang="zh-CN" sz="1800" dirty="0"/>
              <a:t>Dev-</a:t>
            </a:r>
            <a:r>
              <a:rPr lang="en-US" altLang="zh-CN" sz="1800" dirty="0" err="1"/>
              <a:t>c++</a:t>
            </a:r>
            <a:r>
              <a:rPr lang="en-US" altLang="zh-CN" sz="1800" dirty="0"/>
              <a:t> </a:t>
            </a:r>
            <a:r>
              <a:rPr lang="zh-CN" altLang="en-US" sz="1800" dirty="0"/>
              <a:t>没有那么人性化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2BE174-070E-F980-DC71-0D977C92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16" y="1506722"/>
            <a:ext cx="2876550" cy="4572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A18C613-4DB4-BBFF-4E7F-D2BC3C1C2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297" y="3333722"/>
            <a:ext cx="3898162" cy="12684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04E4300-E5E4-3F63-E0AE-43FE76CA8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7" y="1436391"/>
            <a:ext cx="9144000" cy="165166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4190C6A-6444-9E8B-3038-5B2EA57FC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08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E37D05-368F-180E-26D4-2B477B8DE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不会使用图形库</a:t>
            </a:r>
            <a:endParaRPr lang="en-US" altLang="zh-CN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68E956C-B011-E63B-6003-7E7FD481D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92075"/>
            <a:ext cx="8229600" cy="495300"/>
          </a:xfrm>
        </p:spPr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C65B90-A385-4E8F-B62B-108624C56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310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4251-237C-1911-8E20-DFDC81B84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7B5256-08EC-9F42-4E03-ED96BA21D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不会使用图形库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Easy Graphics Engine</a:t>
            </a:r>
            <a:endParaRPr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61FA801-1DF1-D031-73A4-DBE87B9BC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92075"/>
            <a:ext cx="8229600" cy="495300"/>
          </a:xfrm>
        </p:spPr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BE1E01-80CC-9D17-A09D-1C52D6B3A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465" y="730102"/>
            <a:ext cx="3922523" cy="36832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A488A5A-F2AC-A4B7-4E4A-8046E586F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96" y="1687033"/>
            <a:ext cx="2357156" cy="213304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CA44BF9-8383-EB85-DB49-539AF24C5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781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4A4D-ADCF-E7E4-0754-B5B360E31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EA71C3-6F5E-0CE8-0169-206DF108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5E41FD-10FC-5349-D1CA-AA8CB794B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调试数据</a:t>
            </a:r>
            <a:endParaRPr lang="en-US" altLang="zh-CN" dirty="0"/>
          </a:p>
          <a:p>
            <a:r>
              <a:rPr lang="zh-CN" altLang="en-US" sz="1800" dirty="0"/>
              <a:t>对数据没有一个概念，边运行边调整，只能生成一个还行的结果</a:t>
            </a:r>
            <a:endParaRPr lang="en-US" altLang="zh-CN" sz="1800" dirty="0"/>
          </a:p>
          <a:p>
            <a:endParaRPr lang="en-US" altLang="zh-CN" sz="1800" dirty="0"/>
          </a:p>
          <a:p>
            <a:pPr marL="101600" indent="0">
              <a:buNone/>
            </a:pPr>
            <a:r>
              <a:rPr lang="zh-CN" altLang="en-US" sz="1800" dirty="0"/>
              <a:t>导入音乐</a:t>
            </a:r>
            <a:endParaRPr lang="en-US" altLang="zh-CN" sz="1800" dirty="0"/>
          </a:p>
          <a:p>
            <a:r>
              <a:rPr lang="zh-CN" altLang="en-US" sz="1800" dirty="0"/>
              <a:t>速成，上网搜索</a:t>
            </a:r>
            <a:endParaRPr lang="en-US" altLang="zh-CN" sz="1800" dirty="0"/>
          </a:p>
          <a:p>
            <a:r>
              <a:rPr lang="zh-CN" altLang="en-US" sz="1800" dirty="0"/>
              <a:t>音频太大</a:t>
            </a:r>
            <a:endParaRPr lang="en-US" altLang="zh-CN" sz="1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16C05C3-F585-3F59-FFDD-9995168A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3907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E0B17-B8ED-B683-5D7C-8D4AF178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2F45A-5A7E-0BF3-1217-F13A7934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88CB7A-464C-F3DD-151A-638FAE360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调试数据</a:t>
            </a:r>
            <a:endParaRPr lang="en-US" altLang="zh-CN" dirty="0"/>
          </a:p>
          <a:p>
            <a:r>
              <a:rPr lang="zh-CN" altLang="en-US" sz="1800" dirty="0"/>
              <a:t>对数据没有一个概念，边运行边调整，只能生成一个还行的结果</a:t>
            </a:r>
            <a:endParaRPr lang="en-US" altLang="zh-CN" sz="1800" dirty="0"/>
          </a:p>
          <a:p>
            <a:endParaRPr lang="en-US" altLang="zh-CN" sz="1800" dirty="0"/>
          </a:p>
          <a:p>
            <a:pPr marL="101600" indent="0">
              <a:buNone/>
            </a:pPr>
            <a:r>
              <a:rPr lang="zh-CN" altLang="en-US" sz="1800" dirty="0"/>
              <a:t>导入音乐</a:t>
            </a:r>
            <a:endParaRPr lang="en-US" altLang="zh-CN" sz="1800" dirty="0"/>
          </a:p>
          <a:p>
            <a:r>
              <a:rPr lang="zh-CN" altLang="en-US" sz="1800" dirty="0"/>
              <a:t>速成，上网搜索</a:t>
            </a:r>
            <a:endParaRPr lang="en-US" altLang="zh-CN" sz="1800" dirty="0"/>
          </a:p>
          <a:p>
            <a:r>
              <a:rPr lang="zh-CN" altLang="en-US" sz="1800" dirty="0"/>
              <a:t>音频太大</a:t>
            </a:r>
            <a:endParaRPr lang="en-US" altLang="zh-CN" sz="1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49E125-08A6-468A-DDD2-4BB35D552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610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F042-33A7-2107-E4A5-A50EFC4D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7D244A-EB3C-0BF4-7B6A-372EF92C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241E3C-33C9-42AB-7910-8D2F906C4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不写注释</a:t>
            </a:r>
            <a:endParaRPr lang="en-US" altLang="zh-CN" dirty="0"/>
          </a:p>
          <a:p>
            <a:pPr marL="101600" indent="0">
              <a:buNone/>
            </a:pPr>
            <a:endParaRPr lang="en-US" altLang="zh-CN" sz="1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17287B9-6CA8-30D8-878A-55129BAD6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92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DFA7-B04F-804B-5446-9BCA5BBD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BC781-3A68-3FF1-96D4-FF5E0B17D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367F61-C748-CD0E-0CDC-31468F4F8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不写注释</a:t>
            </a:r>
            <a:endParaRPr lang="en-US" altLang="zh-CN" dirty="0"/>
          </a:p>
          <a:p>
            <a:r>
              <a:rPr lang="zh-CN" altLang="en-US" sz="1800" dirty="0"/>
              <a:t>对数</a:t>
            </a:r>
            <a:endParaRPr lang="en-US" altLang="zh-CN" sz="1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DF7609D-6716-E9A6-E677-65402482A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33D3890-96AA-91E4-D0AE-7EB8FBF47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32" y="1127252"/>
            <a:ext cx="2954735" cy="30122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A86008-A3BF-082F-183E-46B6CEEFCB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235" y="1223216"/>
            <a:ext cx="5310765" cy="27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27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60BE-A78E-5606-5A3D-008B4D37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D901E-1BAE-3835-DED3-02F6E4EB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问题和解决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E394E8-6A40-1F35-8EE3-0AF621BE0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zh-CN" altLang="en-US" dirty="0"/>
              <a:t>不写注释</a:t>
            </a:r>
            <a:endParaRPr lang="en-US" altLang="zh-CN" dirty="0"/>
          </a:p>
          <a:p>
            <a:pPr marL="101600" indent="0">
              <a:buNone/>
            </a:pPr>
            <a:endParaRPr lang="en-US" altLang="zh-CN" sz="18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36288A3-EBB7-C816-2DE9-E03FF1D71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D220C7-64C8-D1DF-B9B1-BFFF20F52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39" y="1134077"/>
            <a:ext cx="3594247" cy="3486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B2AB0E8-253D-B1AC-32C2-BD8F976FD7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915" y="1405195"/>
            <a:ext cx="4545448" cy="277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567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92675" y="2066850"/>
            <a:ext cx="905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 dirty="0"/>
              <a:t>程序演示</a:t>
            </a:r>
            <a:endParaRPr sz="4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961197-476D-1412-A541-C95BCA4B9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76675"/>
            <a:ext cx="205740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/>
          </p:nvPr>
        </p:nvSpPr>
        <p:spPr>
          <a:xfrm>
            <a:off x="92675" y="2066850"/>
            <a:ext cx="905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zh-CN" altLang="en-US" sz="4000" dirty="0"/>
              <a:t>反思，总结和拓展</a:t>
            </a:r>
            <a:endParaRPr lang="en-US" altLang="zh-CN" sz="4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D34397A-8593-7827-44DD-F808D3D7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76675"/>
            <a:ext cx="205740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812C08F-7318-47CA-3899-E40E0030A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>
            <a:extLst>
              <a:ext uri="{FF2B5EF4-FFF2-40B4-BE49-F238E27FC236}">
                <a16:creationId xmlns:a16="http://schemas.microsoft.com/office/drawing/2014/main" id="{192A18BF-1E05-BDD8-FB70-83D9D98A9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反思</a:t>
            </a:r>
            <a:endParaRPr dirty="0"/>
          </a:p>
        </p:txBody>
      </p:sp>
      <p:sp>
        <p:nvSpPr>
          <p:cNvPr id="155" name="Google Shape;155;p25">
            <a:extLst>
              <a:ext uri="{FF2B5EF4-FFF2-40B4-BE49-F238E27FC236}">
                <a16:creationId xmlns:a16="http://schemas.microsoft.com/office/drawing/2014/main" id="{12D5D0BA-2DA0-3009-E5FC-43ECA0363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代码封装功底太差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518D87-729E-D37B-CC9C-BD8341C4E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1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DC51F82E-FC76-58B9-5C2E-2F3491C0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>
            <a:extLst>
              <a:ext uri="{FF2B5EF4-FFF2-40B4-BE49-F238E27FC236}">
                <a16:creationId xmlns:a16="http://schemas.microsoft.com/office/drawing/2014/main" id="{B9E51E6E-43F8-351A-7E70-7479A4C1A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反思</a:t>
            </a:r>
            <a:endParaRPr dirty="0"/>
          </a:p>
        </p:txBody>
      </p:sp>
      <p:sp>
        <p:nvSpPr>
          <p:cNvPr id="155" name="Google Shape;155;p25">
            <a:extLst>
              <a:ext uri="{FF2B5EF4-FFF2-40B4-BE49-F238E27FC236}">
                <a16:creationId xmlns:a16="http://schemas.microsoft.com/office/drawing/2014/main" id="{370515E2-D434-DCB9-547A-7CBA70E25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代码封装功底太差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实践太少了，锻炼太少了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21E847-F8B5-85B6-3201-644C171F6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2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773A39C-C9D4-A2E5-AFF3-BBA6913F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>
            <a:extLst>
              <a:ext uri="{FF2B5EF4-FFF2-40B4-BE49-F238E27FC236}">
                <a16:creationId xmlns:a16="http://schemas.microsoft.com/office/drawing/2014/main" id="{A481063F-5B93-8B73-3FFA-B4BA105ECA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反思</a:t>
            </a:r>
            <a:endParaRPr dirty="0"/>
          </a:p>
        </p:txBody>
      </p:sp>
      <p:sp>
        <p:nvSpPr>
          <p:cNvPr id="155" name="Google Shape;155;p25">
            <a:extLst>
              <a:ext uri="{FF2B5EF4-FFF2-40B4-BE49-F238E27FC236}">
                <a16:creationId xmlns:a16="http://schemas.microsoft.com/office/drawing/2014/main" id="{9EABC13F-DFEE-F07F-74FC-B59833F46F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代码封装功底太差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实践太少了，锻炼太少了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>
              <a:buSzPts val="1100"/>
              <a:buNone/>
            </a:pPr>
            <a:r>
              <a:rPr lang="zh-CN" altLang="zh-CN" dirty="0"/>
              <a:t>时间安排和规划</a:t>
            </a:r>
            <a:r>
              <a:rPr lang="zh-CN" altLang="en-US" dirty="0"/>
              <a:t>还有提升空间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21D5506-5D0F-A063-874C-D5BB20D94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2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5F0F001-0102-A78C-C6CF-DCC9BD79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>
            <a:extLst>
              <a:ext uri="{FF2B5EF4-FFF2-40B4-BE49-F238E27FC236}">
                <a16:creationId xmlns:a16="http://schemas.microsoft.com/office/drawing/2014/main" id="{0C8C99E9-F5CE-C687-D7AD-D2463B12B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反思</a:t>
            </a:r>
            <a:endParaRPr dirty="0"/>
          </a:p>
        </p:txBody>
      </p:sp>
      <p:sp>
        <p:nvSpPr>
          <p:cNvPr id="155" name="Google Shape;155;p25">
            <a:extLst>
              <a:ext uri="{FF2B5EF4-FFF2-40B4-BE49-F238E27FC236}">
                <a16:creationId xmlns:a16="http://schemas.microsoft.com/office/drawing/2014/main" id="{C9A6C420-1B51-BAE6-7DA2-0AF93ADA9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代码封装功底太差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实践太少了，锻炼太少了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>
              <a:buSzPts val="1100"/>
              <a:buNone/>
            </a:pPr>
            <a:r>
              <a:rPr lang="zh-CN" altLang="zh-CN" dirty="0"/>
              <a:t>时间安排和规划</a:t>
            </a:r>
            <a:r>
              <a:rPr lang="zh-CN" altLang="en-US" dirty="0"/>
              <a:t>还有提升空间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>
              <a:buSzPts val="1100"/>
              <a:buNone/>
            </a:pPr>
            <a:r>
              <a:rPr lang="zh-CN" altLang="zh-CN" dirty="0"/>
              <a:t>没有进行合作，没有和别人沟通交流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02224E-497D-1E58-A197-4E961432D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1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A8FE97D-DF9E-A955-C2CC-EB4EEA7C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>
            <a:extLst>
              <a:ext uri="{FF2B5EF4-FFF2-40B4-BE49-F238E27FC236}">
                <a16:creationId xmlns:a16="http://schemas.microsoft.com/office/drawing/2014/main" id="{F1EC5FF7-1293-975A-0860-8EB4B30369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反思</a:t>
            </a:r>
            <a:endParaRPr dirty="0"/>
          </a:p>
        </p:txBody>
      </p:sp>
      <p:sp>
        <p:nvSpPr>
          <p:cNvPr id="155" name="Google Shape;155;p25">
            <a:extLst>
              <a:ext uri="{FF2B5EF4-FFF2-40B4-BE49-F238E27FC236}">
                <a16:creationId xmlns:a16="http://schemas.microsoft.com/office/drawing/2014/main" id="{901A28CE-E82F-26A6-5345-3696A7FF8F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代码封装功底太差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altLang="en-US" dirty="0"/>
              <a:t>实践太少了，锻炼太少了</a:t>
            </a:r>
            <a:endParaRPr lang="en-US" altLang="zh-C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>
              <a:buSzPts val="1100"/>
              <a:buNone/>
            </a:pPr>
            <a:r>
              <a:rPr lang="zh-CN" altLang="zh-CN" dirty="0"/>
              <a:t>时间安排和规划</a:t>
            </a:r>
            <a:r>
              <a:rPr lang="zh-CN" altLang="en-US" dirty="0"/>
              <a:t>还有提升空间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>
              <a:buSzPts val="1100"/>
              <a:buNone/>
            </a:pPr>
            <a:r>
              <a:rPr lang="zh-CN" altLang="zh-CN" dirty="0"/>
              <a:t>没有进行合作，没有和别人沟通交流</a:t>
            </a:r>
            <a:endParaRPr lang="en-US" altLang="zh-CN" dirty="0"/>
          </a:p>
          <a:p>
            <a:pPr marL="0" lvl="0" indent="0">
              <a:buSzPts val="1100"/>
              <a:buNone/>
            </a:pPr>
            <a:endParaRPr lang="en-US" dirty="0"/>
          </a:p>
          <a:p>
            <a:pPr marL="0" lvl="0" indent="0">
              <a:buSzPts val="1100"/>
              <a:buNone/>
            </a:pPr>
            <a:r>
              <a:rPr lang="en-US" dirty="0"/>
              <a:t>PPT</a:t>
            </a:r>
            <a:r>
              <a:rPr lang="zh-CN" altLang="en-US" dirty="0"/>
              <a:t>和视频第一次做，没有经验</a:t>
            </a:r>
            <a:endParaRPr lang="en-US" altLang="zh-CN" dirty="0"/>
          </a:p>
          <a:p>
            <a:pPr marL="0" lvl="0" indent="0">
              <a:buSzPts val="1100"/>
              <a:buNone/>
            </a:pPr>
            <a:endParaRPr lang="en-US" dirty="0"/>
          </a:p>
          <a:p>
            <a:pPr marL="0" lvl="0" indent="0">
              <a:buSzPts val="1100"/>
              <a:buNone/>
            </a:pPr>
            <a:r>
              <a:rPr lang="zh-CN" altLang="en-US" dirty="0"/>
              <a:t>等等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451BEF-C844-1362-0E47-81154125A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2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166800" y="92501"/>
            <a:ext cx="8229600" cy="4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总结</a:t>
            </a:r>
            <a:endParaRPr dirty="0"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1"/>
          </p:nvPr>
        </p:nvSpPr>
        <p:spPr>
          <a:xfrm>
            <a:off x="243000" y="556500"/>
            <a:ext cx="8443800" cy="41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zh-CN" altLang="en-US" dirty="0"/>
              <a:t>锻炼了在实际编程中如何分析问题、设计数据结构、优化性能的能力</a:t>
            </a:r>
            <a:endParaRPr lang="en-US" altLang="zh-CN" dirty="0"/>
          </a:p>
          <a:p>
            <a:pPr marL="0" lvl="0" indent="0">
              <a:buNone/>
            </a:pPr>
            <a:endParaRPr lang="en-US" altLang="zh-CN" dirty="0"/>
          </a:p>
          <a:p>
            <a:pPr marL="0" lvl="0" indent="0">
              <a:buNone/>
            </a:pPr>
            <a:r>
              <a:rPr lang="zh-CN" altLang="zh-CN" dirty="0"/>
              <a:t>这道题最关键的地方还是在于如何将抽象化为具体，具体化为抽象。</a:t>
            </a:r>
            <a:endParaRPr lang="en-US" altLang="zh-CN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zh-CN" altLang="zh-CN" dirty="0"/>
              <a:t>大多数</a:t>
            </a:r>
            <a:r>
              <a:rPr lang="zh-CN" altLang="en-US" dirty="0"/>
              <a:t>出现的</a:t>
            </a:r>
            <a:r>
              <a:rPr lang="zh-CN" altLang="zh-CN" dirty="0"/>
              <a:t>问题只需要多练多实践、多做项目、多进行算法和数据结构的训练就能解决</a:t>
            </a:r>
            <a:endParaRPr lang="en-US" altLang="zh-CN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zh-CN" altLang="en-US" dirty="0"/>
              <a:t>进一步</a:t>
            </a:r>
            <a:r>
              <a:rPr lang="zh-CN" altLang="zh-CN" dirty="0"/>
              <a:t>了解</a:t>
            </a:r>
            <a:r>
              <a:rPr lang="zh-CN" altLang="en-US" dirty="0"/>
              <a:t>了</a:t>
            </a:r>
            <a:r>
              <a:rPr lang="zh-CN" altLang="zh-CN" dirty="0"/>
              <a:t>软件开发的流程</a:t>
            </a:r>
            <a:r>
              <a:rPr lang="zh-CN" altLang="en-US" dirty="0"/>
              <a:t>，提升了</a:t>
            </a:r>
            <a:r>
              <a:rPr lang="zh-CN" altLang="zh-CN" dirty="0"/>
              <a:t>调试程序的能力</a:t>
            </a:r>
            <a:endParaRPr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6C1E36-F077-085E-E57A-1EECC240A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408526"/>
            <a:ext cx="937260" cy="7349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xfrm>
            <a:off x="92675" y="2066850"/>
            <a:ext cx="90513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 dirty="0"/>
              <a:t>拓展</a:t>
            </a:r>
            <a:endParaRPr sz="4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8A975F-9184-2BA0-94A3-1EE03442B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76675"/>
            <a:ext cx="2057400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AD3"/>
        </a:solidFill>
        <a:effectLst/>
      </p:bgPr>
    </p:bg>
    <p:spTree>
      <p:nvGrpSpPr>
        <p:cNvPr id="1" name="Shape 225">
          <a:extLst>
            <a:ext uri="{FF2B5EF4-FFF2-40B4-BE49-F238E27FC236}">
              <a16:creationId xmlns:a16="http://schemas.microsoft.com/office/drawing/2014/main" id="{1701734A-1F8F-7135-DD3B-26B5F1843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>
            <a:extLst>
              <a:ext uri="{FF2B5EF4-FFF2-40B4-BE49-F238E27FC236}">
                <a16:creationId xmlns:a16="http://schemas.microsoft.com/office/drawing/2014/main" id="{CE9EE765-AACA-D553-19AA-C3B8E7D5DB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675" y="1197935"/>
            <a:ext cx="9051300" cy="17263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/>
              <a:t>END</a:t>
            </a:r>
            <a:r>
              <a:rPr lang="zh-CN" altLang="en-US" sz="4000" dirty="0"/>
              <a:t> </a:t>
            </a:r>
            <a:br>
              <a:rPr lang="en-US" altLang="zh-CN" sz="4000" dirty="0"/>
            </a:br>
            <a:r>
              <a:rPr lang="en-US" altLang="zh-CN" sz="4000" dirty="0"/>
              <a:t>Thanks for watching</a:t>
            </a:r>
            <a:endParaRPr sz="4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5A98F9-C9F1-B258-F8DA-735913D99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876675"/>
            <a:ext cx="20574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270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1019</Words>
  <Application>Microsoft Office PowerPoint</Application>
  <PresentationFormat>全屏显示(16:9)</PresentationFormat>
  <Paragraphs>270</Paragraphs>
  <Slides>52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8" baseType="lpstr">
      <vt:lpstr>新宋体</vt:lpstr>
      <vt:lpstr>黑体</vt:lpstr>
      <vt:lpstr>Times New Roman</vt:lpstr>
      <vt:lpstr>Calibri</vt:lpstr>
      <vt:lpstr>Arial</vt:lpstr>
      <vt:lpstr>Custom</vt:lpstr>
      <vt:lpstr>数据结构课设</vt:lpstr>
      <vt:lpstr>选题原因，意义</vt:lpstr>
      <vt:lpstr>选题原因</vt:lpstr>
      <vt:lpstr>选题原因</vt:lpstr>
      <vt:lpstr>选题意义</vt:lpstr>
      <vt:lpstr>设计思路</vt:lpstr>
      <vt:lpstr>提出问题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分析问题</vt:lpstr>
      <vt:lpstr>选做分析</vt:lpstr>
      <vt:lpstr>选做分析</vt:lpstr>
      <vt:lpstr>选做分析</vt:lpstr>
      <vt:lpstr>设计流程</vt:lpstr>
      <vt:lpstr>总体思路</vt:lpstr>
      <vt:lpstr>总体思路</vt:lpstr>
      <vt:lpstr>总体思路</vt:lpstr>
      <vt:lpstr>总体思路</vt:lpstr>
      <vt:lpstr>总体思路</vt:lpstr>
      <vt:lpstr>总体思路</vt:lpstr>
      <vt:lpstr>问题和解决</vt:lpstr>
      <vt:lpstr>问题和解决</vt:lpstr>
      <vt:lpstr>问题和解决</vt:lpstr>
      <vt:lpstr>问题和解决</vt:lpstr>
      <vt:lpstr>问题和解决</vt:lpstr>
      <vt:lpstr>问题和解决</vt:lpstr>
      <vt:lpstr>问题和解决</vt:lpstr>
      <vt:lpstr>问题和解决</vt:lpstr>
      <vt:lpstr>问题和解决</vt:lpstr>
      <vt:lpstr>问题和解决</vt:lpstr>
      <vt:lpstr>程序演示</vt:lpstr>
      <vt:lpstr>反思，总结和拓展</vt:lpstr>
      <vt:lpstr>反思</vt:lpstr>
      <vt:lpstr>反思</vt:lpstr>
      <vt:lpstr>反思</vt:lpstr>
      <vt:lpstr>反思</vt:lpstr>
      <vt:lpstr>反思</vt:lpstr>
      <vt:lpstr>总结</vt:lpstr>
      <vt:lpstr>拓展</vt:lpstr>
      <vt:lpstr>END  Thanks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CY FH</cp:lastModifiedBy>
  <cp:revision>3</cp:revision>
  <dcterms:modified xsi:type="dcterms:W3CDTF">2025-01-03T10:57:43Z</dcterms:modified>
</cp:coreProperties>
</file>