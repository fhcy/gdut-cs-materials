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wmf" ContentType="image/x-wmf"/>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3" r:id="rId4"/>
    <p:sldMasterId id="2147483686" r:id="rId5"/>
    <p:sldMasterId id="2147483699" r:id="rId6"/>
    <p:sldMasterId id="2147483712" r:id="rId7"/>
    <p:sldMasterId id="2147483727" r:id="rId8"/>
    <p:sldMasterId id="2147483739" r:id="rId9"/>
    <p:sldMasterId id="2147483752" r:id="rId10"/>
    <p:sldMasterId id="2147483765" r:id="rId11"/>
  </p:sldMasterIdLst>
  <p:notesMasterIdLst>
    <p:notesMasterId r:id="rId13"/>
  </p:notesMasterIdLst>
  <p:handoutMasterIdLst>
    <p:handoutMasterId r:id="rId98"/>
  </p:handoutMasterIdLst>
  <p:sldIdLst>
    <p:sldId id="257" r:id="rId12"/>
    <p:sldId id="258" r:id="rId14"/>
    <p:sldId id="259" r:id="rId15"/>
    <p:sldId id="260" r:id="rId16"/>
    <p:sldId id="463" r:id="rId17"/>
    <p:sldId id="464" r:id="rId18"/>
    <p:sldId id="262" r:id="rId19"/>
    <p:sldId id="263" r:id="rId20"/>
    <p:sldId id="290" r:id="rId21"/>
    <p:sldId id="291" r:id="rId22"/>
    <p:sldId id="292" r:id="rId23"/>
    <p:sldId id="296" r:id="rId24"/>
    <p:sldId id="297" r:id="rId25"/>
    <p:sldId id="298" r:id="rId26"/>
    <p:sldId id="376" r:id="rId27"/>
    <p:sldId id="265" r:id="rId28"/>
    <p:sldId id="268" r:id="rId29"/>
    <p:sldId id="299" r:id="rId30"/>
    <p:sldId id="300" r:id="rId31"/>
    <p:sldId id="381" r:id="rId32"/>
    <p:sldId id="301" r:id="rId33"/>
    <p:sldId id="270" r:id="rId34"/>
    <p:sldId id="303" r:id="rId35"/>
    <p:sldId id="382" r:id="rId36"/>
    <p:sldId id="397" r:id="rId37"/>
    <p:sldId id="398" r:id="rId38"/>
    <p:sldId id="399" r:id="rId39"/>
    <p:sldId id="400" r:id="rId40"/>
    <p:sldId id="401" r:id="rId41"/>
    <p:sldId id="402" r:id="rId42"/>
    <p:sldId id="403" r:id="rId43"/>
    <p:sldId id="404" r:id="rId44"/>
    <p:sldId id="385" r:id="rId45"/>
    <p:sldId id="386" r:id="rId46"/>
    <p:sldId id="387" r:id="rId47"/>
    <p:sldId id="538" r:id="rId48"/>
    <p:sldId id="388" r:id="rId49"/>
    <p:sldId id="389" r:id="rId50"/>
    <p:sldId id="390" r:id="rId51"/>
    <p:sldId id="391" r:id="rId52"/>
    <p:sldId id="392" r:id="rId53"/>
    <p:sldId id="393" r:id="rId54"/>
    <p:sldId id="394" r:id="rId55"/>
    <p:sldId id="395" r:id="rId56"/>
    <p:sldId id="396" r:id="rId57"/>
    <p:sldId id="540" r:id="rId58"/>
    <p:sldId id="281" r:id="rId59"/>
    <p:sldId id="318" r:id="rId60"/>
    <p:sldId id="414" r:id="rId61"/>
    <p:sldId id="405" r:id="rId62"/>
    <p:sldId id="415" r:id="rId63"/>
    <p:sldId id="406" r:id="rId64"/>
    <p:sldId id="416" r:id="rId65"/>
    <p:sldId id="417" r:id="rId66"/>
    <p:sldId id="419" r:id="rId67"/>
    <p:sldId id="420" r:id="rId68"/>
    <p:sldId id="421" r:id="rId69"/>
    <p:sldId id="422" r:id="rId70"/>
    <p:sldId id="423" r:id="rId71"/>
    <p:sldId id="424" r:id="rId72"/>
    <p:sldId id="426" r:id="rId73"/>
    <p:sldId id="427" r:id="rId74"/>
    <p:sldId id="428" r:id="rId75"/>
    <p:sldId id="429" r:id="rId76"/>
    <p:sldId id="430" r:id="rId77"/>
    <p:sldId id="431" r:id="rId78"/>
    <p:sldId id="432" r:id="rId79"/>
    <p:sldId id="433" r:id="rId80"/>
    <p:sldId id="434" r:id="rId81"/>
    <p:sldId id="435" r:id="rId82"/>
    <p:sldId id="452" r:id="rId83"/>
    <p:sldId id="453" r:id="rId84"/>
    <p:sldId id="454" r:id="rId85"/>
    <p:sldId id="455" r:id="rId86"/>
    <p:sldId id="445" r:id="rId87"/>
    <p:sldId id="541" r:id="rId88"/>
    <p:sldId id="542" r:id="rId89"/>
    <p:sldId id="543" r:id="rId90"/>
    <p:sldId id="546" r:id="rId91"/>
    <p:sldId id="547" r:id="rId92"/>
    <p:sldId id="548" r:id="rId93"/>
    <p:sldId id="590" r:id="rId94"/>
    <p:sldId id="447" r:id="rId95"/>
    <p:sldId id="412" r:id="rId96"/>
    <p:sldId id="413" r:id="rId97"/>
  </p:sldIdLst>
  <p:sldSz cx="9144000" cy="6858000" type="screen4x3"/>
  <p:notesSz cx="6797675" cy="9928225"/>
  <p:custDataLst>
    <p:tags r:id="rId102"/>
  </p:custDataLst>
  <p:defaultTextStyle>
    <a:defPPr>
      <a:defRPr lang="en-US"/>
    </a:defPPr>
    <a:lvl1pPr marL="0" lvl="0"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9pPr>
  </p:defaultTextStyle>
  <p:extLst>
    <p:ext uri="{EFAFB233-063F-42B5-8137-9DF3F51BA10A}">
      <p15:sldGuideLst xmlns:p15="http://schemas.microsoft.com/office/powerpoint/2012/main">
        <p15:guide id="1" orient="horz" pos="2143" userDrawn="1">
          <p15:clr>
            <a:srgbClr val="A4A3A4"/>
          </p15:clr>
        </p15:guide>
        <p15:guide id="2" pos="280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66"/>
    <a:srgbClr val="800000"/>
    <a:srgbClr val="FF3300"/>
    <a:srgbClr val="0000FF"/>
    <a:srgbClr val="9900FF"/>
    <a:srgbClr val="FF00FF"/>
    <a:srgbClr val="663300"/>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992"/>
    <p:restoredTop sz="91939"/>
  </p:normalViewPr>
  <p:slideViewPr>
    <p:cSldViewPr showGuides="1">
      <p:cViewPr varScale="1">
        <p:scale>
          <a:sx n="68" d="100"/>
          <a:sy n="68" d="100"/>
        </p:scale>
        <p:origin x="474" y="72"/>
      </p:cViewPr>
      <p:guideLst>
        <p:guide orient="horz" pos="2143"/>
        <p:guide pos="2808"/>
      </p:guideLst>
    </p:cSldViewPr>
  </p:slideViewPr>
  <p:outlineViewPr>
    <p:cViewPr>
      <p:scale>
        <a:sx n="33" d="100"/>
        <a:sy n="33" d="100"/>
      </p:scale>
      <p:origin x="0" y="-677"/>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presProps" Target="presProps.xml"/><Relationship Id="rId98" Type="http://schemas.openxmlformats.org/officeDocument/2006/relationships/handoutMaster" Target="handoutMasters/handoutMaster1.xml"/><Relationship Id="rId97" Type="http://schemas.openxmlformats.org/officeDocument/2006/relationships/slide" Target="slides/slide85.xml"/><Relationship Id="rId96" Type="http://schemas.openxmlformats.org/officeDocument/2006/relationships/slide" Target="slides/slide84.xml"/><Relationship Id="rId95" Type="http://schemas.openxmlformats.org/officeDocument/2006/relationships/slide" Target="slides/slide83.xml"/><Relationship Id="rId94" Type="http://schemas.openxmlformats.org/officeDocument/2006/relationships/slide" Target="slides/slide82.xml"/><Relationship Id="rId93" Type="http://schemas.openxmlformats.org/officeDocument/2006/relationships/slide" Target="slides/slide81.xml"/><Relationship Id="rId92" Type="http://schemas.openxmlformats.org/officeDocument/2006/relationships/slide" Target="slides/slide80.xml"/><Relationship Id="rId91" Type="http://schemas.openxmlformats.org/officeDocument/2006/relationships/slide" Target="slides/slide79.xml"/><Relationship Id="rId90" Type="http://schemas.openxmlformats.org/officeDocument/2006/relationships/slide" Target="slides/slide78.xml"/><Relationship Id="rId9" Type="http://schemas.openxmlformats.org/officeDocument/2006/relationships/slideMaster" Target="slideMasters/slideMaster8.xml"/><Relationship Id="rId89" Type="http://schemas.openxmlformats.org/officeDocument/2006/relationships/slide" Target="slides/slide77.xml"/><Relationship Id="rId88" Type="http://schemas.openxmlformats.org/officeDocument/2006/relationships/slide" Target="slides/slide76.xml"/><Relationship Id="rId87" Type="http://schemas.openxmlformats.org/officeDocument/2006/relationships/slide" Target="slides/slide75.xml"/><Relationship Id="rId86" Type="http://schemas.openxmlformats.org/officeDocument/2006/relationships/slide" Target="slides/slide74.xml"/><Relationship Id="rId85" Type="http://schemas.openxmlformats.org/officeDocument/2006/relationships/slide" Target="slides/slide73.xml"/><Relationship Id="rId84" Type="http://schemas.openxmlformats.org/officeDocument/2006/relationships/slide" Target="slides/slide72.xml"/><Relationship Id="rId83" Type="http://schemas.openxmlformats.org/officeDocument/2006/relationships/slide" Target="slides/slide71.xml"/><Relationship Id="rId82" Type="http://schemas.openxmlformats.org/officeDocument/2006/relationships/slide" Target="slides/slide70.xml"/><Relationship Id="rId81" Type="http://schemas.openxmlformats.org/officeDocument/2006/relationships/slide" Target="slides/slide69.xml"/><Relationship Id="rId80" Type="http://schemas.openxmlformats.org/officeDocument/2006/relationships/slide" Target="slides/slide68.xml"/><Relationship Id="rId8" Type="http://schemas.openxmlformats.org/officeDocument/2006/relationships/slideMaster" Target="slideMasters/slideMaster7.xml"/><Relationship Id="rId79" Type="http://schemas.openxmlformats.org/officeDocument/2006/relationships/slide" Target="slides/slide67.xml"/><Relationship Id="rId78" Type="http://schemas.openxmlformats.org/officeDocument/2006/relationships/slide" Target="slides/slide66.xml"/><Relationship Id="rId77" Type="http://schemas.openxmlformats.org/officeDocument/2006/relationships/slide" Target="slides/slide65.xml"/><Relationship Id="rId76" Type="http://schemas.openxmlformats.org/officeDocument/2006/relationships/slide" Target="slides/slide64.xml"/><Relationship Id="rId75" Type="http://schemas.openxmlformats.org/officeDocument/2006/relationships/slide" Target="slides/slide63.xml"/><Relationship Id="rId74" Type="http://schemas.openxmlformats.org/officeDocument/2006/relationships/slide" Target="slides/slide62.xml"/><Relationship Id="rId73" Type="http://schemas.openxmlformats.org/officeDocument/2006/relationships/slide" Target="slides/slide61.xml"/><Relationship Id="rId72" Type="http://schemas.openxmlformats.org/officeDocument/2006/relationships/slide" Target="slides/slide60.xml"/><Relationship Id="rId71" Type="http://schemas.openxmlformats.org/officeDocument/2006/relationships/slide" Target="slides/slide59.xml"/><Relationship Id="rId70" Type="http://schemas.openxmlformats.org/officeDocument/2006/relationships/slide" Target="slides/slide58.xml"/><Relationship Id="rId7" Type="http://schemas.openxmlformats.org/officeDocument/2006/relationships/slideMaster" Target="slideMasters/slideMaster6.xml"/><Relationship Id="rId69" Type="http://schemas.openxmlformats.org/officeDocument/2006/relationships/slide" Target="slides/slide57.xml"/><Relationship Id="rId68" Type="http://schemas.openxmlformats.org/officeDocument/2006/relationships/slide" Target="slides/slide56.xml"/><Relationship Id="rId67" Type="http://schemas.openxmlformats.org/officeDocument/2006/relationships/slide" Target="slides/slide55.xml"/><Relationship Id="rId66" Type="http://schemas.openxmlformats.org/officeDocument/2006/relationships/slide" Target="slides/slide54.xml"/><Relationship Id="rId65" Type="http://schemas.openxmlformats.org/officeDocument/2006/relationships/slide" Target="slides/slide53.xml"/><Relationship Id="rId64" Type="http://schemas.openxmlformats.org/officeDocument/2006/relationships/slide" Target="slides/slide52.xml"/><Relationship Id="rId63" Type="http://schemas.openxmlformats.org/officeDocument/2006/relationships/slide" Target="slides/slide51.xml"/><Relationship Id="rId62" Type="http://schemas.openxmlformats.org/officeDocument/2006/relationships/slide" Target="slides/slide50.xml"/><Relationship Id="rId61" Type="http://schemas.openxmlformats.org/officeDocument/2006/relationships/slide" Target="slides/slide49.xml"/><Relationship Id="rId60" Type="http://schemas.openxmlformats.org/officeDocument/2006/relationships/slide" Target="slides/slide48.xml"/><Relationship Id="rId6" Type="http://schemas.openxmlformats.org/officeDocument/2006/relationships/slideMaster" Target="slideMasters/slideMaster5.xml"/><Relationship Id="rId59" Type="http://schemas.openxmlformats.org/officeDocument/2006/relationships/slide" Target="slides/slide47.xml"/><Relationship Id="rId58" Type="http://schemas.openxmlformats.org/officeDocument/2006/relationships/slide" Target="slides/slide46.xml"/><Relationship Id="rId57" Type="http://schemas.openxmlformats.org/officeDocument/2006/relationships/slide" Target="slides/slide45.xml"/><Relationship Id="rId56" Type="http://schemas.openxmlformats.org/officeDocument/2006/relationships/slide" Target="slides/slide44.xml"/><Relationship Id="rId55" Type="http://schemas.openxmlformats.org/officeDocument/2006/relationships/slide" Target="slides/slide43.xml"/><Relationship Id="rId54" Type="http://schemas.openxmlformats.org/officeDocument/2006/relationships/slide" Target="slides/slide42.xml"/><Relationship Id="rId53" Type="http://schemas.openxmlformats.org/officeDocument/2006/relationships/slide" Target="slides/slide41.xml"/><Relationship Id="rId52" Type="http://schemas.openxmlformats.org/officeDocument/2006/relationships/slide" Target="slides/slide40.xml"/><Relationship Id="rId51" Type="http://schemas.openxmlformats.org/officeDocument/2006/relationships/slide" Target="slides/slide39.xml"/><Relationship Id="rId50" Type="http://schemas.openxmlformats.org/officeDocument/2006/relationships/slide" Target="slides/slide38.xml"/><Relationship Id="rId5" Type="http://schemas.openxmlformats.org/officeDocument/2006/relationships/slideMaster" Target="slideMasters/slideMaster4.xml"/><Relationship Id="rId49" Type="http://schemas.openxmlformats.org/officeDocument/2006/relationships/slide" Target="slides/slide37.xml"/><Relationship Id="rId48" Type="http://schemas.openxmlformats.org/officeDocument/2006/relationships/slide" Target="slides/slide36.xml"/><Relationship Id="rId47" Type="http://schemas.openxmlformats.org/officeDocument/2006/relationships/slide" Target="slides/slide35.xml"/><Relationship Id="rId46" Type="http://schemas.openxmlformats.org/officeDocument/2006/relationships/slide" Target="slides/slide34.xml"/><Relationship Id="rId45" Type="http://schemas.openxmlformats.org/officeDocument/2006/relationships/slide" Target="slides/slide33.xml"/><Relationship Id="rId44" Type="http://schemas.openxmlformats.org/officeDocument/2006/relationships/slide" Target="slides/slide32.xml"/><Relationship Id="rId43" Type="http://schemas.openxmlformats.org/officeDocument/2006/relationships/slide" Target="slides/slide31.xml"/><Relationship Id="rId42" Type="http://schemas.openxmlformats.org/officeDocument/2006/relationships/slide" Target="slides/slide30.xml"/><Relationship Id="rId41" Type="http://schemas.openxmlformats.org/officeDocument/2006/relationships/slide" Target="slides/slide29.xml"/><Relationship Id="rId40" Type="http://schemas.openxmlformats.org/officeDocument/2006/relationships/slide" Target="slides/slide28.xml"/><Relationship Id="rId4" Type="http://schemas.openxmlformats.org/officeDocument/2006/relationships/slideMaster" Target="slideMasters/slideMaster3.xml"/><Relationship Id="rId39" Type="http://schemas.openxmlformats.org/officeDocument/2006/relationships/slide" Target="slides/slide27.xml"/><Relationship Id="rId38" Type="http://schemas.openxmlformats.org/officeDocument/2006/relationships/slide" Target="slides/slide26.xml"/><Relationship Id="rId37" Type="http://schemas.openxmlformats.org/officeDocument/2006/relationships/slide" Target="slides/slide25.xml"/><Relationship Id="rId36" Type="http://schemas.openxmlformats.org/officeDocument/2006/relationships/slide" Target="slides/slide24.xml"/><Relationship Id="rId35" Type="http://schemas.openxmlformats.org/officeDocument/2006/relationships/slide" Target="slides/slide23.xml"/><Relationship Id="rId34" Type="http://schemas.openxmlformats.org/officeDocument/2006/relationships/slide" Target="slides/slide22.xml"/><Relationship Id="rId33" Type="http://schemas.openxmlformats.org/officeDocument/2006/relationships/slide" Target="slides/slide21.xml"/><Relationship Id="rId32" Type="http://schemas.openxmlformats.org/officeDocument/2006/relationships/slide" Target="slides/slide20.xml"/><Relationship Id="rId31" Type="http://schemas.openxmlformats.org/officeDocument/2006/relationships/slide" Target="slides/slide19.xml"/><Relationship Id="rId30" Type="http://schemas.openxmlformats.org/officeDocument/2006/relationships/slide" Target="slides/slide18.xml"/><Relationship Id="rId3" Type="http://schemas.openxmlformats.org/officeDocument/2006/relationships/slideMaster" Target="slideMasters/slideMaster2.xml"/><Relationship Id="rId29" Type="http://schemas.openxmlformats.org/officeDocument/2006/relationships/slide" Target="slides/slide17.xml"/><Relationship Id="rId28" Type="http://schemas.openxmlformats.org/officeDocument/2006/relationships/slide" Target="slides/slide16.xml"/><Relationship Id="rId27" Type="http://schemas.openxmlformats.org/officeDocument/2006/relationships/slide" Target="slides/slide15.xml"/><Relationship Id="rId26" Type="http://schemas.openxmlformats.org/officeDocument/2006/relationships/slide" Target="slides/slide14.xml"/><Relationship Id="rId25" Type="http://schemas.openxmlformats.org/officeDocument/2006/relationships/slide" Target="slides/slide13.xml"/><Relationship Id="rId24" Type="http://schemas.openxmlformats.org/officeDocument/2006/relationships/slide" Target="slides/slide12.xml"/><Relationship Id="rId23" Type="http://schemas.openxmlformats.org/officeDocument/2006/relationships/slide" Target="slides/slide11.xml"/><Relationship Id="rId22" Type="http://schemas.openxmlformats.org/officeDocument/2006/relationships/slide" Target="slides/slide10.xml"/><Relationship Id="rId21" Type="http://schemas.openxmlformats.org/officeDocument/2006/relationships/slide" Target="slides/slide9.xml"/><Relationship Id="rId20" Type="http://schemas.openxmlformats.org/officeDocument/2006/relationships/slide" Target="slides/slide8.xml"/><Relationship Id="rId2" Type="http://schemas.openxmlformats.org/officeDocument/2006/relationships/theme" Target="theme/theme1.xml"/><Relationship Id="rId19" Type="http://schemas.openxmlformats.org/officeDocument/2006/relationships/slide" Target="slides/slide7.xml"/><Relationship Id="rId18" Type="http://schemas.openxmlformats.org/officeDocument/2006/relationships/slide" Target="slides/slide6.xml"/><Relationship Id="rId17" Type="http://schemas.openxmlformats.org/officeDocument/2006/relationships/slide" Target="slides/slide5.xml"/><Relationship Id="rId16" Type="http://schemas.openxmlformats.org/officeDocument/2006/relationships/slide" Target="slides/slide4.xml"/><Relationship Id="rId15" Type="http://schemas.openxmlformats.org/officeDocument/2006/relationships/slide" Target="slides/slide3.xml"/><Relationship Id="rId14" Type="http://schemas.openxmlformats.org/officeDocument/2006/relationships/slide" Target="slides/slide2.xml"/><Relationship Id="rId13" Type="http://schemas.openxmlformats.org/officeDocument/2006/relationships/notesMaster" Target="notesMasters/notesMaster1.xml"/><Relationship Id="rId12" Type="http://schemas.openxmlformats.org/officeDocument/2006/relationships/slide" Target="slides/slide1.xml"/><Relationship Id="rId11" Type="http://schemas.openxmlformats.org/officeDocument/2006/relationships/slideMaster" Target="slideMasters/slideMaster10.xml"/><Relationship Id="rId102" Type="http://schemas.openxmlformats.org/officeDocument/2006/relationships/tags" Target="tags/tag1.xml"/><Relationship Id="rId101" Type="http://schemas.openxmlformats.org/officeDocument/2006/relationships/tableStyles" Target="tableStyles.xml"/><Relationship Id="rId100" Type="http://schemas.openxmlformats.org/officeDocument/2006/relationships/viewProps" Target="viewProps.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0">
    <dgm:fillClrLst meth="repeat">
      <a:schemeClr val="accent1">
        <a:shade val="80000"/>
      </a:schemeClr>
    </dgm:fillClrLst>
    <dgm:linClrLst meth="repeat">
      <a:schemeClr val="lt1"/>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AC2749F6-B061-4437-A0C9-74C5888DA669}" type="doc">
      <dgm:prSet loTypeId="urn:microsoft.com/office/officeart/2005/8/layout/hierarchy2" loCatId="hierarchy" qsTypeId="urn:microsoft.com/office/officeart/2005/8/quickstyle/simple1" qsCatId="simple" csTypeId="urn:microsoft.com/office/officeart/2005/8/colors/accent1_3" csCatId="accent1" phldr="1"/>
      <dgm:spPr/>
      <dgm:t>
        <a:bodyPr/>
        <a:lstStyle/>
        <a:p>
          <a:endParaRPr lang="zh-CN" altLang="en-US"/>
        </a:p>
      </dgm:t>
    </dgm:pt>
    <dgm:pt modelId="{B3BD0D14-DB12-43F2-A20E-5EE7B2BF196D}">
      <dgm:prSet phldrT="[文本]"/>
      <dgm:spPr/>
      <dgm:t>
        <a:bodyPr/>
        <a:lstStyle/>
        <a:p>
          <a:r>
            <a:rPr lang="zh-CN" altLang="en-US" dirty="0"/>
            <a:t>数据</a:t>
          </a:r>
        </a:p>
      </dgm:t>
    </dgm:pt>
    <dgm:pt modelId="{01DBEA06-6452-40C4-9490-8E1ED1806F8D}" cxnId="{0C9A277E-990A-458D-9E28-0CBDE6FEB70C}" type="parTrans">
      <dgm:prSet/>
      <dgm:spPr/>
      <dgm:t>
        <a:bodyPr/>
        <a:lstStyle/>
        <a:p>
          <a:endParaRPr lang="zh-CN" altLang="en-US"/>
        </a:p>
      </dgm:t>
    </dgm:pt>
    <dgm:pt modelId="{74D963FC-9070-434C-ABCC-3831716BD60E}" cxnId="{0C9A277E-990A-458D-9E28-0CBDE6FEB70C}" type="sibTrans">
      <dgm:prSet/>
      <dgm:spPr/>
      <dgm:t>
        <a:bodyPr/>
        <a:lstStyle/>
        <a:p>
          <a:endParaRPr lang="zh-CN" altLang="en-US"/>
        </a:p>
      </dgm:t>
    </dgm:pt>
    <dgm:pt modelId="{31FAAD5F-21D1-4DE6-B353-D8C245F796F2}">
      <dgm:prSet phldrT="[文本]"/>
      <dgm:spPr/>
      <dgm:t>
        <a:bodyPr/>
        <a:lstStyle/>
        <a:p>
          <a:r>
            <a:rPr lang="zh-CN" altLang="en-US" dirty="0"/>
            <a:t>无符号数</a:t>
          </a:r>
        </a:p>
      </dgm:t>
    </dgm:pt>
    <dgm:pt modelId="{A5B4C673-B563-42D4-9EF7-B845B7B5B818}" cxnId="{D9AAC322-5E3D-4A8A-A7FE-28056C44C83A}" type="parTrans">
      <dgm:prSet/>
      <dgm:spPr/>
      <dgm:t>
        <a:bodyPr/>
        <a:lstStyle/>
        <a:p>
          <a:endParaRPr lang="zh-CN" altLang="en-US"/>
        </a:p>
      </dgm:t>
    </dgm:pt>
    <dgm:pt modelId="{337274D8-099F-4FDB-B6E2-98326B53A627}" cxnId="{D9AAC322-5E3D-4A8A-A7FE-28056C44C83A}" type="sibTrans">
      <dgm:prSet/>
      <dgm:spPr/>
      <dgm:t>
        <a:bodyPr/>
        <a:lstStyle/>
        <a:p>
          <a:endParaRPr lang="zh-CN" altLang="en-US"/>
        </a:p>
      </dgm:t>
    </dgm:pt>
    <dgm:pt modelId="{018BA5D9-961F-4D69-BC01-B936FE5E6C14}">
      <dgm:prSet phldrT="[文本]"/>
      <dgm:spPr/>
      <dgm:t>
        <a:bodyPr/>
        <a:lstStyle/>
        <a:p>
          <a:r>
            <a:rPr lang="zh-CN" altLang="en-US" dirty="0"/>
            <a:t>带符号数</a:t>
          </a:r>
        </a:p>
      </dgm:t>
    </dgm:pt>
    <dgm:pt modelId="{A520081C-F624-4589-92BE-03177BA14A2B}" cxnId="{478C0790-AE22-4BC3-B104-29A2C1CDD4FB}" type="parTrans">
      <dgm:prSet/>
      <dgm:spPr/>
      <dgm:t>
        <a:bodyPr/>
        <a:lstStyle/>
        <a:p>
          <a:endParaRPr lang="zh-CN" altLang="en-US"/>
        </a:p>
      </dgm:t>
    </dgm:pt>
    <dgm:pt modelId="{874DF380-49EE-42B9-B77D-FBD8577286EC}" cxnId="{478C0790-AE22-4BC3-B104-29A2C1CDD4FB}" type="sibTrans">
      <dgm:prSet/>
      <dgm:spPr/>
      <dgm:t>
        <a:bodyPr/>
        <a:lstStyle/>
        <a:p>
          <a:endParaRPr lang="zh-CN" altLang="en-US"/>
        </a:p>
      </dgm:t>
    </dgm:pt>
    <dgm:pt modelId="{E95DC3AD-1437-4024-A088-2C0C413DB231}">
      <dgm:prSet phldrT="[文本]"/>
      <dgm:spPr/>
      <dgm:t>
        <a:bodyPr/>
        <a:lstStyle/>
        <a:p>
          <a:r>
            <a:rPr lang="zh-CN" altLang="en-US" dirty="0"/>
            <a:t>补码</a:t>
          </a:r>
        </a:p>
      </dgm:t>
    </dgm:pt>
    <dgm:pt modelId="{838A13A6-BFB8-4D76-A6A4-077E324974B8}" cxnId="{9D1AA73C-DF97-41FF-BF6F-5AE1F4D570F9}" type="parTrans">
      <dgm:prSet/>
      <dgm:spPr/>
      <dgm:t>
        <a:bodyPr/>
        <a:lstStyle/>
        <a:p>
          <a:endParaRPr lang="zh-CN" altLang="en-US"/>
        </a:p>
      </dgm:t>
    </dgm:pt>
    <dgm:pt modelId="{A159685D-28E4-4B3B-8349-05D834DADD01}" cxnId="{9D1AA73C-DF97-41FF-BF6F-5AE1F4D570F9}" type="sibTrans">
      <dgm:prSet/>
      <dgm:spPr/>
      <dgm:t>
        <a:bodyPr/>
        <a:lstStyle/>
        <a:p>
          <a:endParaRPr lang="zh-CN" altLang="en-US"/>
        </a:p>
      </dgm:t>
    </dgm:pt>
    <dgm:pt modelId="{BA90E8A8-C3A1-4867-8657-8ED497E46992}">
      <dgm:prSet/>
      <dgm:spPr/>
      <dgm:t>
        <a:bodyPr/>
        <a:lstStyle/>
        <a:p>
          <a:r>
            <a:rPr lang="zh-CN" altLang="en-US" dirty="0"/>
            <a:t>原码</a:t>
          </a:r>
        </a:p>
      </dgm:t>
    </dgm:pt>
    <dgm:pt modelId="{0C1DAB89-4E47-4296-B4F4-0739A81FA765}" cxnId="{511226CC-F9EC-4A5F-B913-D29213AE5247}" type="parTrans">
      <dgm:prSet/>
      <dgm:spPr/>
      <dgm:t>
        <a:bodyPr/>
        <a:lstStyle/>
        <a:p>
          <a:endParaRPr lang="zh-CN" altLang="en-US"/>
        </a:p>
      </dgm:t>
    </dgm:pt>
    <dgm:pt modelId="{ABDA7822-DB8F-4C32-AD12-0E233545BABB}" cxnId="{511226CC-F9EC-4A5F-B913-D29213AE5247}" type="sibTrans">
      <dgm:prSet/>
      <dgm:spPr/>
      <dgm:t>
        <a:bodyPr/>
        <a:lstStyle/>
        <a:p>
          <a:endParaRPr lang="zh-CN" altLang="en-US"/>
        </a:p>
      </dgm:t>
    </dgm:pt>
    <dgm:pt modelId="{679A3926-D023-4F60-A68B-BB4B3DF3276B}">
      <dgm:prSet/>
      <dgm:spPr/>
      <dgm:t>
        <a:bodyPr/>
        <a:lstStyle/>
        <a:p>
          <a:r>
            <a:rPr lang="zh-CN" altLang="en-US" dirty="0"/>
            <a:t>反码</a:t>
          </a:r>
        </a:p>
      </dgm:t>
    </dgm:pt>
    <dgm:pt modelId="{817CF2D6-CBAB-4928-BA43-B8A2D2077DBB}" cxnId="{D7EFC2E5-3833-45A6-9E2F-A3F5FE89B80F}" type="parTrans">
      <dgm:prSet/>
      <dgm:spPr/>
      <dgm:t>
        <a:bodyPr/>
        <a:lstStyle/>
        <a:p>
          <a:endParaRPr lang="zh-CN" altLang="en-US"/>
        </a:p>
      </dgm:t>
    </dgm:pt>
    <dgm:pt modelId="{9D23E8E4-C689-4388-9AB9-C07461C21BB2}" cxnId="{D7EFC2E5-3833-45A6-9E2F-A3F5FE89B80F}" type="sibTrans">
      <dgm:prSet/>
      <dgm:spPr/>
      <dgm:t>
        <a:bodyPr/>
        <a:lstStyle/>
        <a:p>
          <a:endParaRPr lang="zh-CN" altLang="en-US"/>
        </a:p>
      </dgm:t>
    </dgm:pt>
    <dgm:pt modelId="{493D03F6-D7AF-4A1E-9F35-4ED76F986858}" type="pres">
      <dgm:prSet presAssocID="{AC2749F6-B061-4437-A0C9-74C5888DA669}" presName="diagram" presStyleCnt="0">
        <dgm:presLayoutVars>
          <dgm:chPref val="1"/>
          <dgm:dir/>
          <dgm:animOne val="branch"/>
          <dgm:animLvl val="lvl"/>
          <dgm:resizeHandles val="exact"/>
        </dgm:presLayoutVars>
      </dgm:prSet>
      <dgm:spPr/>
    </dgm:pt>
    <dgm:pt modelId="{B24AB1E2-29C6-4915-946B-CBCEF6B0A8DC}" type="pres">
      <dgm:prSet presAssocID="{B3BD0D14-DB12-43F2-A20E-5EE7B2BF196D}" presName="root1" presStyleCnt="0"/>
      <dgm:spPr/>
    </dgm:pt>
    <dgm:pt modelId="{D452F09E-8BEE-4DBC-8191-C41A9C8C1A50}" type="pres">
      <dgm:prSet presAssocID="{B3BD0D14-DB12-43F2-A20E-5EE7B2BF196D}" presName="LevelOneTextNode" presStyleLbl="node0" presStyleIdx="0" presStyleCnt="1">
        <dgm:presLayoutVars>
          <dgm:chPref val="3"/>
        </dgm:presLayoutVars>
      </dgm:prSet>
      <dgm:spPr/>
    </dgm:pt>
    <dgm:pt modelId="{AAA90408-8422-4EA3-BC90-FC13C582D0AF}" type="pres">
      <dgm:prSet presAssocID="{B3BD0D14-DB12-43F2-A20E-5EE7B2BF196D}" presName="level2hierChild" presStyleCnt="0"/>
      <dgm:spPr/>
    </dgm:pt>
    <dgm:pt modelId="{B2CF9C88-4D00-4DF8-974A-7A36EF48F340}" type="pres">
      <dgm:prSet presAssocID="{A5B4C673-B563-42D4-9EF7-B845B7B5B818}" presName="conn2-1" presStyleLbl="parChTrans1D2" presStyleIdx="0" presStyleCnt="2"/>
      <dgm:spPr/>
    </dgm:pt>
    <dgm:pt modelId="{384A7329-83E0-4C63-8017-A8388B391EBE}" type="pres">
      <dgm:prSet presAssocID="{A5B4C673-B563-42D4-9EF7-B845B7B5B818}" presName="connTx" presStyleLbl="parChTrans1D2" presStyleIdx="0" presStyleCnt="2"/>
      <dgm:spPr/>
    </dgm:pt>
    <dgm:pt modelId="{F0CC483E-2709-49FA-8665-68F563A6C2DF}" type="pres">
      <dgm:prSet presAssocID="{31FAAD5F-21D1-4DE6-B353-D8C245F796F2}" presName="root2" presStyleCnt="0"/>
      <dgm:spPr/>
    </dgm:pt>
    <dgm:pt modelId="{1C4C16D4-A350-4D11-BBE0-149B95CBF547}" type="pres">
      <dgm:prSet presAssocID="{31FAAD5F-21D1-4DE6-B353-D8C245F796F2}" presName="LevelTwoTextNode" presStyleLbl="node2" presStyleIdx="0" presStyleCnt="2">
        <dgm:presLayoutVars>
          <dgm:chPref val="3"/>
        </dgm:presLayoutVars>
      </dgm:prSet>
      <dgm:spPr/>
    </dgm:pt>
    <dgm:pt modelId="{1D362E73-FEB0-4E25-A252-3C310702A4D4}" type="pres">
      <dgm:prSet presAssocID="{31FAAD5F-21D1-4DE6-B353-D8C245F796F2}" presName="level3hierChild" presStyleCnt="0"/>
      <dgm:spPr/>
    </dgm:pt>
    <dgm:pt modelId="{1D5E05CE-7703-4BFC-AC9A-1714A7A323DB}" type="pres">
      <dgm:prSet presAssocID="{A520081C-F624-4589-92BE-03177BA14A2B}" presName="conn2-1" presStyleLbl="parChTrans1D2" presStyleIdx="1" presStyleCnt="2"/>
      <dgm:spPr/>
    </dgm:pt>
    <dgm:pt modelId="{525B780B-A766-4D8E-BBF8-528E9A26F61E}" type="pres">
      <dgm:prSet presAssocID="{A520081C-F624-4589-92BE-03177BA14A2B}" presName="connTx" presStyleLbl="parChTrans1D2" presStyleIdx="1" presStyleCnt="2"/>
      <dgm:spPr/>
    </dgm:pt>
    <dgm:pt modelId="{65B8C576-EA93-49F3-9DD4-F05E2CADB84E}" type="pres">
      <dgm:prSet presAssocID="{018BA5D9-961F-4D69-BC01-B936FE5E6C14}" presName="root2" presStyleCnt="0"/>
      <dgm:spPr/>
    </dgm:pt>
    <dgm:pt modelId="{EF4B2F50-1E3E-436E-B29C-C32DFED4F507}" type="pres">
      <dgm:prSet presAssocID="{018BA5D9-961F-4D69-BC01-B936FE5E6C14}" presName="LevelTwoTextNode" presStyleLbl="node2" presStyleIdx="1" presStyleCnt="2">
        <dgm:presLayoutVars>
          <dgm:chPref val="3"/>
        </dgm:presLayoutVars>
      </dgm:prSet>
      <dgm:spPr/>
    </dgm:pt>
    <dgm:pt modelId="{D4ED5469-CE2B-4B92-ADFA-5991A5600C60}" type="pres">
      <dgm:prSet presAssocID="{018BA5D9-961F-4D69-BC01-B936FE5E6C14}" presName="level3hierChild" presStyleCnt="0"/>
      <dgm:spPr/>
    </dgm:pt>
    <dgm:pt modelId="{5BAEE790-7391-4AFD-A02D-A563B59BDCCA}" type="pres">
      <dgm:prSet presAssocID="{0C1DAB89-4E47-4296-B4F4-0739A81FA765}" presName="conn2-1" presStyleLbl="parChTrans1D3" presStyleIdx="0" presStyleCnt="3"/>
      <dgm:spPr/>
    </dgm:pt>
    <dgm:pt modelId="{6E5713D1-2A76-4D1C-9D5A-43EF16109A39}" type="pres">
      <dgm:prSet presAssocID="{0C1DAB89-4E47-4296-B4F4-0739A81FA765}" presName="connTx" presStyleLbl="parChTrans1D3" presStyleIdx="0" presStyleCnt="3"/>
      <dgm:spPr/>
    </dgm:pt>
    <dgm:pt modelId="{B33BC328-46DC-4AE0-AA28-0F69B0D503BB}" type="pres">
      <dgm:prSet presAssocID="{BA90E8A8-C3A1-4867-8657-8ED497E46992}" presName="root2" presStyleCnt="0"/>
      <dgm:spPr/>
    </dgm:pt>
    <dgm:pt modelId="{F12EAD7A-A745-4170-BF17-F344BEC62F22}" type="pres">
      <dgm:prSet presAssocID="{BA90E8A8-C3A1-4867-8657-8ED497E46992}" presName="LevelTwoTextNode" presStyleLbl="node3" presStyleIdx="0" presStyleCnt="3">
        <dgm:presLayoutVars>
          <dgm:chPref val="3"/>
        </dgm:presLayoutVars>
      </dgm:prSet>
      <dgm:spPr/>
    </dgm:pt>
    <dgm:pt modelId="{528CBB5D-AC41-47C7-96C1-4CE6EE6D05A6}" type="pres">
      <dgm:prSet presAssocID="{BA90E8A8-C3A1-4867-8657-8ED497E46992}" presName="level3hierChild" presStyleCnt="0"/>
      <dgm:spPr/>
    </dgm:pt>
    <dgm:pt modelId="{195EB0DF-494D-4598-B9DE-35420A3FBA66}" type="pres">
      <dgm:prSet presAssocID="{817CF2D6-CBAB-4928-BA43-B8A2D2077DBB}" presName="conn2-1" presStyleLbl="parChTrans1D3" presStyleIdx="1" presStyleCnt="3"/>
      <dgm:spPr/>
    </dgm:pt>
    <dgm:pt modelId="{32A3DAE7-20EC-4DE7-84CA-F905D5089EE6}" type="pres">
      <dgm:prSet presAssocID="{817CF2D6-CBAB-4928-BA43-B8A2D2077DBB}" presName="connTx" presStyleLbl="parChTrans1D3" presStyleIdx="1" presStyleCnt="3"/>
      <dgm:spPr/>
    </dgm:pt>
    <dgm:pt modelId="{6F739AA5-8181-4651-92BF-1FEDD275792D}" type="pres">
      <dgm:prSet presAssocID="{679A3926-D023-4F60-A68B-BB4B3DF3276B}" presName="root2" presStyleCnt="0"/>
      <dgm:spPr/>
    </dgm:pt>
    <dgm:pt modelId="{50997874-2DD2-4A78-9988-D45CD4A40BBC}" type="pres">
      <dgm:prSet presAssocID="{679A3926-D023-4F60-A68B-BB4B3DF3276B}" presName="LevelTwoTextNode" presStyleLbl="node3" presStyleIdx="1" presStyleCnt="3">
        <dgm:presLayoutVars>
          <dgm:chPref val="3"/>
        </dgm:presLayoutVars>
      </dgm:prSet>
      <dgm:spPr/>
    </dgm:pt>
    <dgm:pt modelId="{D3C71C33-6555-4A92-AF16-3685F13030B0}" type="pres">
      <dgm:prSet presAssocID="{679A3926-D023-4F60-A68B-BB4B3DF3276B}" presName="level3hierChild" presStyleCnt="0"/>
      <dgm:spPr/>
    </dgm:pt>
    <dgm:pt modelId="{C15B5EE6-2196-49EA-8F86-8C124632EFBD}" type="pres">
      <dgm:prSet presAssocID="{838A13A6-BFB8-4D76-A6A4-077E324974B8}" presName="conn2-1" presStyleLbl="parChTrans1D3" presStyleIdx="2" presStyleCnt="3"/>
      <dgm:spPr/>
    </dgm:pt>
    <dgm:pt modelId="{38B0A856-2EF1-47E2-B21E-FEB6DE805BF5}" type="pres">
      <dgm:prSet presAssocID="{838A13A6-BFB8-4D76-A6A4-077E324974B8}" presName="connTx" presStyleLbl="parChTrans1D3" presStyleIdx="2" presStyleCnt="3"/>
      <dgm:spPr/>
    </dgm:pt>
    <dgm:pt modelId="{7EB03B18-9109-4528-A3EC-9F1F3AB5CE0E}" type="pres">
      <dgm:prSet presAssocID="{E95DC3AD-1437-4024-A088-2C0C413DB231}" presName="root2" presStyleCnt="0"/>
      <dgm:spPr/>
    </dgm:pt>
    <dgm:pt modelId="{5FDC0A57-9376-4757-85C0-2BCC221FEEFB}" type="pres">
      <dgm:prSet presAssocID="{E95DC3AD-1437-4024-A088-2C0C413DB231}" presName="LevelTwoTextNode" presStyleLbl="node3" presStyleIdx="2" presStyleCnt="3" custLinFactNeighborX="2228" custLinFactNeighborY="9654">
        <dgm:presLayoutVars>
          <dgm:chPref val="3"/>
        </dgm:presLayoutVars>
      </dgm:prSet>
      <dgm:spPr/>
    </dgm:pt>
    <dgm:pt modelId="{7E3829CE-7180-40C5-97D6-93C38F75FEA4}" type="pres">
      <dgm:prSet presAssocID="{E95DC3AD-1437-4024-A088-2C0C413DB231}" presName="level3hierChild" presStyleCnt="0"/>
      <dgm:spPr/>
    </dgm:pt>
  </dgm:ptLst>
  <dgm:cxnLst>
    <dgm:cxn modelId="{713EDE0D-F3A8-46AD-9666-71B61C236EF2}" type="presOf" srcId="{A5B4C673-B563-42D4-9EF7-B845B7B5B818}" destId="{384A7329-83E0-4C63-8017-A8388B391EBE}" srcOrd="1" destOrd="0" presId="urn:microsoft.com/office/officeart/2005/8/layout/hierarchy2"/>
    <dgm:cxn modelId="{F84E7C19-7474-4281-9621-D678A5239C82}" type="presOf" srcId="{B3BD0D14-DB12-43F2-A20E-5EE7B2BF196D}" destId="{D452F09E-8BEE-4DBC-8191-C41A9C8C1A50}" srcOrd="0" destOrd="0" presId="urn:microsoft.com/office/officeart/2005/8/layout/hierarchy2"/>
    <dgm:cxn modelId="{615B0121-86AD-4E95-8301-8A170D700F8A}" type="presOf" srcId="{679A3926-D023-4F60-A68B-BB4B3DF3276B}" destId="{50997874-2DD2-4A78-9988-D45CD4A40BBC}" srcOrd="0" destOrd="0" presId="urn:microsoft.com/office/officeart/2005/8/layout/hierarchy2"/>
    <dgm:cxn modelId="{D9AAC322-5E3D-4A8A-A7FE-28056C44C83A}" srcId="{B3BD0D14-DB12-43F2-A20E-5EE7B2BF196D}" destId="{31FAAD5F-21D1-4DE6-B353-D8C245F796F2}" srcOrd="0" destOrd="0" parTransId="{A5B4C673-B563-42D4-9EF7-B845B7B5B818}" sibTransId="{337274D8-099F-4FDB-B6E2-98326B53A627}"/>
    <dgm:cxn modelId="{C96F3024-2FB8-4E79-A926-353151FB9E84}" type="presOf" srcId="{31FAAD5F-21D1-4DE6-B353-D8C245F796F2}" destId="{1C4C16D4-A350-4D11-BBE0-149B95CBF547}" srcOrd="0" destOrd="0" presId="urn:microsoft.com/office/officeart/2005/8/layout/hierarchy2"/>
    <dgm:cxn modelId="{F93E9C2C-651B-4A0C-97F8-C1CB0523D2E1}" type="presOf" srcId="{A520081C-F624-4589-92BE-03177BA14A2B}" destId="{1D5E05CE-7703-4BFC-AC9A-1714A7A323DB}" srcOrd="0" destOrd="0" presId="urn:microsoft.com/office/officeart/2005/8/layout/hierarchy2"/>
    <dgm:cxn modelId="{9D1AA73C-DF97-41FF-BF6F-5AE1F4D570F9}" srcId="{018BA5D9-961F-4D69-BC01-B936FE5E6C14}" destId="{E95DC3AD-1437-4024-A088-2C0C413DB231}" srcOrd="2" destOrd="0" parTransId="{838A13A6-BFB8-4D76-A6A4-077E324974B8}" sibTransId="{A159685D-28E4-4B3B-8349-05D834DADD01}"/>
    <dgm:cxn modelId="{06883D48-9514-4BF1-8ADF-1CFE5DF75115}" type="presOf" srcId="{817CF2D6-CBAB-4928-BA43-B8A2D2077DBB}" destId="{195EB0DF-494D-4598-B9DE-35420A3FBA66}" srcOrd="0" destOrd="0" presId="urn:microsoft.com/office/officeart/2005/8/layout/hierarchy2"/>
    <dgm:cxn modelId="{A2ECFA4D-D0D8-47CE-AB94-5501D03FDF69}" type="presOf" srcId="{838A13A6-BFB8-4D76-A6A4-077E324974B8}" destId="{38B0A856-2EF1-47E2-B21E-FEB6DE805BF5}" srcOrd="1" destOrd="0" presId="urn:microsoft.com/office/officeart/2005/8/layout/hierarchy2"/>
    <dgm:cxn modelId="{ACC1584F-33A9-490B-B779-FD49ED85D53D}" type="presOf" srcId="{817CF2D6-CBAB-4928-BA43-B8A2D2077DBB}" destId="{32A3DAE7-20EC-4DE7-84CA-F905D5089EE6}" srcOrd="1" destOrd="0" presId="urn:microsoft.com/office/officeart/2005/8/layout/hierarchy2"/>
    <dgm:cxn modelId="{32C72C71-7AA3-45CE-AE49-EE095E093267}" type="presOf" srcId="{AC2749F6-B061-4437-A0C9-74C5888DA669}" destId="{493D03F6-D7AF-4A1E-9F35-4ED76F986858}" srcOrd="0" destOrd="0" presId="urn:microsoft.com/office/officeart/2005/8/layout/hierarchy2"/>
    <dgm:cxn modelId="{0C9A277E-990A-458D-9E28-0CBDE6FEB70C}" srcId="{AC2749F6-B061-4437-A0C9-74C5888DA669}" destId="{B3BD0D14-DB12-43F2-A20E-5EE7B2BF196D}" srcOrd="0" destOrd="0" parTransId="{01DBEA06-6452-40C4-9490-8E1ED1806F8D}" sibTransId="{74D963FC-9070-434C-ABCC-3831716BD60E}"/>
    <dgm:cxn modelId="{478C0790-AE22-4BC3-B104-29A2C1CDD4FB}" srcId="{B3BD0D14-DB12-43F2-A20E-5EE7B2BF196D}" destId="{018BA5D9-961F-4D69-BC01-B936FE5E6C14}" srcOrd="1" destOrd="0" parTransId="{A520081C-F624-4589-92BE-03177BA14A2B}" sibTransId="{874DF380-49EE-42B9-B77D-FBD8577286EC}"/>
    <dgm:cxn modelId="{18606AA5-9F32-4C31-B9A7-738BD33BBBD3}" type="presOf" srcId="{838A13A6-BFB8-4D76-A6A4-077E324974B8}" destId="{C15B5EE6-2196-49EA-8F86-8C124632EFBD}" srcOrd="0" destOrd="0" presId="urn:microsoft.com/office/officeart/2005/8/layout/hierarchy2"/>
    <dgm:cxn modelId="{AE335CB0-95B1-442C-9E9E-4F43A927CA55}" type="presOf" srcId="{BA90E8A8-C3A1-4867-8657-8ED497E46992}" destId="{F12EAD7A-A745-4170-BF17-F344BEC62F22}" srcOrd="0" destOrd="0" presId="urn:microsoft.com/office/officeart/2005/8/layout/hierarchy2"/>
    <dgm:cxn modelId="{2B48FEBC-BFF5-4FDA-903D-B08EB883BFD0}" type="presOf" srcId="{0C1DAB89-4E47-4296-B4F4-0739A81FA765}" destId="{6E5713D1-2A76-4D1C-9D5A-43EF16109A39}" srcOrd="1" destOrd="0" presId="urn:microsoft.com/office/officeart/2005/8/layout/hierarchy2"/>
    <dgm:cxn modelId="{87B4A3BE-F388-472A-8BCD-408A97F47C23}" type="presOf" srcId="{018BA5D9-961F-4D69-BC01-B936FE5E6C14}" destId="{EF4B2F50-1E3E-436E-B29C-C32DFED4F507}" srcOrd="0" destOrd="0" presId="urn:microsoft.com/office/officeart/2005/8/layout/hierarchy2"/>
    <dgm:cxn modelId="{8FF183C5-D259-42B1-BD8C-DB68F03A3007}" type="presOf" srcId="{0C1DAB89-4E47-4296-B4F4-0739A81FA765}" destId="{5BAEE790-7391-4AFD-A02D-A563B59BDCCA}" srcOrd="0" destOrd="0" presId="urn:microsoft.com/office/officeart/2005/8/layout/hierarchy2"/>
    <dgm:cxn modelId="{511226CC-F9EC-4A5F-B913-D29213AE5247}" srcId="{018BA5D9-961F-4D69-BC01-B936FE5E6C14}" destId="{BA90E8A8-C3A1-4867-8657-8ED497E46992}" srcOrd="0" destOrd="0" parTransId="{0C1DAB89-4E47-4296-B4F4-0739A81FA765}" sibTransId="{ABDA7822-DB8F-4C32-AD12-0E233545BABB}"/>
    <dgm:cxn modelId="{DD3AC0D7-3100-4726-B6AD-DE3C5F84822F}" type="presOf" srcId="{A5B4C673-B563-42D4-9EF7-B845B7B5B818}" destId="{B2CF9C88-4D00-4DF8-974A-7A36EF48F340}" srcOrd="0" destOrd="0" presId="urn:microsoft.com/office/officeart/2005/8/layout/hierarchy2"/>
    <dgm:cxn modelId="{8D87E2E3-3BA7-4BDA-877C-E95A623641E9}" type="presOf" srcId="{A520081C-F624-4589-92BE-03177BA14A2B}" destId="{525B780B-A766-4D8E-BBF8-528E9A26F61E}" srcOrd="1" destOrd="0" presId="urn:microsoft.com/office/officeart/2005/8/layout/hierarchy2"/>
    <dgm:cxn modelId="{D7EFC2E5-3833-45A6-9E2F-A3F5FE89B80F}" srcId="{018BA5D9-961F-4D69-BC01-B936FE5E6C14}" destId="{679A3926-D023-4F60-A68B-BB4B3DF3276B}" srcOrd="1" destOrd="0" parTransId="{817CF2D6-CBAB-4928-BA43-B8A2D2077DBB}" sibTransId="{9D23E8E4-C689-4388-9AB9-C07461C21BB2}"/>
    <dgm:cxn modelId="{92BDE0E7-E557-4FAA-90F7-0F463C27C4AD}" type="presOf" srcId="{E95DC3AD-1437-4024-A088-2C0C413DB231}" destId="{5FDC0A57-9376-4757-85C0-2BCC221FEEFB}" srcOrd="0" destOrd="0" presId="urn:microsoft.com/office/officeart/2005/8/layout/hierarchy2"/>
    <dgm:cxn modelId="{710418F7-0803-4475-B2BD-F6206FCE3E29}" type="presParOf" srcId="{493D03F6-D7AF-4A1E-9F35-4ED76F986858}" destId="{B24AB1E2-29C6-4915-946B-CBCEF6B0A8DC}" srcOrd="0" destOrd="0" presId="urn:microsoft.com/office/officeart/2005/8/layout/hierarchy2"/>
    <dgm:cxn modelId="{92DACB89-D969-4FDE-93B9-288CA44CCEA8}" type="presParOf" srcId="{B24AB1E2-29C6-4915-946B-CBCEF6B0A8DC}" destId="{D452F09E-8BEE-4DBC-8191-C41A9C8C1A50}" srcOrd="0" destOrd="0" presId="urn:microsoft.com/office/officeart/2005/8/layout/hierarchy2"/>
    <dgm:cxn modelId="{57AA40EF-8F34-493A-9648-72336F3F91C8}" type="presParOf" srcId="{B24AB1E2-29C6-4915-946B-CBCEF6B0A8DC}" destId="{AAA90408-8422-4EA3-BC90-FC13C582D0AF}" srcOrd="1" destOrd="0" presId="urn:microsoft.com/office/officeart/2005/8/layout/hierarchy2"/>
    <dgm:cxn modelId="{4708DB98-884F-4548-A5C3-F1E18FA5BD4E}" type="presParOf" srcId="{AAA90408-8422-4EA3-BC90-FC13C582D0AF}" destId="{B2CF9C88-4D00-4DF8-974A-7A36EF48F340}" srcOrd="0" destOrd="0" presId="urn:microsoft.com/office/officeart/2005/8/layout/hierarchy2"/>
    <dgm:cxn modelId="{AD882456-693E-4BB4-A25F-BB1C83D24961}" type="presParOf" srcId="{B2CF9C88-4D00-4DF8-974A-7A36EF48F340}" destId="{384A7329-83E0-4C63-8017-A8388B391EBE}" srcOrd="0" destOrd="0" presId="urn:microsoft.com/office/officeart/2005/8/layout/hierarchy2"/>
    <dgm:cxn modelId="{F6FE9F10-DDB5-40AD-944D-2318036BAF92}" type="presParOf" srcId="{AAA90408-8422-4EA3-BC90-FC13C582D0AF}" destId="{F0CC483E-2709-49FA-8665-68F563A6C2DF}" srcOrd="1" destOrd="0" presId="urn:microsoft.com/office/officeart/2005/8/layout/hierarchy2"/>
    <dgm:cxn modelId="{2E5EE011-D044-40F9-BD80-28553BCB4B5F}" type="presParOf" srcId="{F0CC483E-2709-49FA-8665-68F563A6C2DF}" destId="{1C4C16D4-A350-4D11-BBE0-149B95CBF547}" srcOrd="0" destOrd="0" presId="urn:microsoft.com/office/officeart/2005/8/layout/hierarchy2"/>
    <dgm:cxn modelId="{25B316F1-55F7-4436-BA99-F68CA12CCA3F}" type="presParOf" srcId="{F0CC483E-2709-49FA-8665-68F563A6C2DF}" destId="{1D362E73-FEB0-4E25-A252-3C310702A4D4}" srcOrd="1" destOrd="0" presId="urn:microsoft.com/office/officeart/2005/8/layout/hierarchy2"/>
    <dgm:cxn modelId="{5546A870-449A-4FEE-88D1-8E21030D0747}" type="presParOf" srcId="{AAA90408-8422-4EA3-BC90-FC13C582D0AF}" destId="{1D5E05CE-7703-4BFC-AC9A-1714A7A323DB}" srcOrd="2" destOrd="0" presId="urn:microsoft.com/office/officeart/2005/8/layout/hierarchy2"/>
    <dgm:cxn modelId="{21410709-E5A5-4331-80C3-AB012B629A00}" type="presParOf" srcId="{1D5E05CE-7703-4BFC-AC9A-1714A7A323DB}" destId="{525B780B-A766-4D8E-BBF8-528E9A26F61E}" srcOrd="0" destOrd="0" presId="urn:microsoft.com/office/officeart/2005/8/layout/hierarchy2"/>
    <dgm:cxn modelId="{FB40E7B8-3EE6-4E25-B636-4BB2A8838CE9}" type="presParOf" srcId="{AAA90408-8422-4EA3-BC90-FC13C582D0AF}" destId="{65B8C576-EA93-49F3-9DD4-F05E2CADB84E}" srcOrd="3" destOrd="0" presId="urn:microsoft.com/office/officeart/2005/8/layout/hierarchy2"/>
    <dgm:cxn modelId="{E712727E-C97B-4532-8F3F-F83C2DD94BA3}" type="presParOf" srcId="{65B8C576-EA93-49F3-9DD4-F05E2CADB84E}" destId="{EF4B2F50-1E3E-436E-B29C-C32DFED4F507}" srcOrd="0" destOrd="0" presId="urn:microsoft.com/office/officeart/2005/8/layout/hierarchy2"/>
    <dgm:cxn modelId="{3423AA88-FAB7-4470-BB21-374FCAF41111}" type="presParOf" srcId="{65B8C576-EA93-49F3-9DD4-F05E2CADB84E}" destId="{D4ED5469-CE2B-4B92-ADFA-5991A5600C60}" srcOrd="1" destOrd="0" presId="urn:microsoft.com/office/officeart/2005/8/layout/hierarchy2"/>
    <dgm:cxn modelId="{32EDF223-2457-4FDD-879A-FB916368B7A3}" type="presParOf" srcId="{D4ED5469-CE2B-4B92-ADFA-5991A5600C60}" destId="{5BAEE790-7391-4AFD-A02D-A563B59BDCCA}" srcOrd="0" destOrd="0" presId="urn:microsoft.com/office/officeart/2005/8/layout/hierarchy2"/>
    <dgm:cxn modelId="{81D9C42D-9563-4DBD-AFF6-D2F762CDD6FF}" type="presParOf" srcId="{5BAEE790-7391-4AFD-A02D-A563B59BDCCA}" destId="{6E5713D1-2A76-4D1C-9D5A-43EF16109A39}" srcOrd="0" destOrd="0" presId="urn:microsoft.com/office/officeart/2005/8/layout/hierarchy2"/>
    <dgm:cxn modelId="{566F9326-2874-4B37-A643-EE764AADD61C}" type="presParOf" srcId="{D4ED5469-CE2B-4B92-ADFA-5991A5600C60}" destId="{B33BC328-46DC-4AE0-AA28-0F69B0D503BB}" srcOrd="1" destOrd="0" presId="urn:microsoft.com/office/officeart/2005/8/layout/hierarchy2"/>
    <dgm:cxn modelId="{04B94F04-E27F-4D4E-905C-6A1ED2ECDE35}" type="presParOf" srcId="{B33BC328-46DC-4AE0-AA28-0F69B0D503BB}" destId="{F12EAD7A-A745-4170-BF17-F344BEC62F22}" srcOrd="0" destOrd="0" presId="urn:microsoft.com/office/officeart/2005/8/layout/hierarchy2"/>
    <dgm:cxn modelId="{8990848F-3B4D-4AAC-8C52-774392AD3160}" type="presParOf" srcId="{B33BC328-46DC-4AE0-AA28-0F69B0D503BB}" destId="{528CBB5D-AC41-47C7-96C1-4CE6EE6D05A6}" srcOrd="1" destOrd="0" presId="urn:microsoft.com/office/officeart/2005/8/layout/hierarchy2"/>
    <dgm:cxn modelId="{B9458E2C-44E0-48B8-9963-945289F08A31}" type="presParOf" srcId="{D4ED5469-CE2B-4B92-ADFA-5991A5600C60}" destId="{195EB0DF-494D-4598-B9DE-35420A3FBA66}" srcOrd="2" destOrd="0" presId="urn:microsoft.com/office/officeart/2005/8/layout/hierarchy2"/>
    <dgm:cxn modelId="{F2BD628A-C49B-4612-A463-1069AE676759}" type="presParOf" srcId="{195EB0DF-494D-4598-B9DE-35420A3FBA66}" destId="{32A3DAE7-20EC-4DE7-84CA-F905D5089EE6}" srcOrd="0" destOrd="0" presId="urn:microsoft.com/office/officeart/2005/8/layout/hierarchy2"/>
    <dgm:cxn modelId="{25958388-AB2B-420C-8428-D3415A2E308A}" type="presParOf" srcId="{D4ED5469-CE2B-4B92-ADFA-5991A5600C60}" destId="{6F739AA5-8181-4651-92BF-1FEDD275792D}" srcOrd="3" destOrd="0" presId="urn:microsoft.com/office/officeart/2005/8/layout/hierarchy2"/>
    <dgm:cxn modelId="{5391E236-0179-43F4-A645-8381225FCABA}" type="presParOf" srcId="{6F739AA5-8181-4651-92BF-1FEDD275792D}" destId="{50997874-2DD2-4A78-9988-D45CD4A40BBC}" srcOrd="0" destOrd="0" presId="urn:microsoft.com/office/officeart/2005/8/layout/hierarchy2"/>
    <dgm:cxn modelId="{EEF8F3D1-D69A-416B-B51C-99C8C86D312B}" type="presParOf" srcId="{6F739AA5-8181-4651-92BF-1FEDD275792D}" destId="{D3C71C33-6555-4A92-AF16-3685F13030B0}" srcOrd="1" destOrd="0" presId="urn:microsoft.com/office/officeart/2005/8/layout/hierarchy2"/>
    <dgm:cxn modelId="{A7FA8560-2184-4C7B-A6CC-13EC0F23B3CC}" type="presParOf" srcId="{D4ED5469-CE2B-4B92-ADFA-5991A5600C60}" destId="{C15B5EE6-2196-49EA-8F86-8C124632EFBD}" srcOrd="4" destOrd="0" presId="urn:microsoft.com/office/officeart/2005/8/layout/hierarchy2"/>
    <dgm:cxn modelId="{6E9CCD64-10F2-40C9-8D7A-FCC06F0C2A2C}" type="presParOf" srcId="{C15B5EE6-2196-49EA-8F86-8C124632EFBD}" destId="{38B0A856-2EF1-47E2-B21E-FEB6DE805BF5}" srcOrd="0" destOrd="0" presId="urn:microsoft.com/office/officeart/2005/8/layout/hierarchy2"/>
    <dgm:cxn modelId="{5BDB39BE-5EDB-4576-8FD5-420DB8AD65D2}" type="presParOf" srcId="{D4ED5469-CE2B-4B92-ADFA-5991A5600C60}" destId="{7EB03B18-9109-4528-A3EC-9F1F3AB5CE0E}" srcOrd="5" destOrd="0" presId="urn:microsoft.com/office/officeart/2005/8/layout/hierarchy2"/>
    <dgm:cxn modelId="{6294A56C-CA8A-4C1F-B914-648957FF409E}" type="presParOf" srcId="{7EB03B18-9109-4528-A3EC-9F1F3AB5CE0E}" destId="{5FDC0A57-9376-4757-85C0-2BCC221FEEFB}" srcOrd="0" destOrd="0" presId="urn:microsoft.com/office/officeart/2005/8/layout/hierarchy2"/>
    <dgm:cxn modelId="{5B0B2431-B283-4C96-B718-23F1503F97E1}" type="presParOf" srcId="{7EB03B18-9109-4528-A3EC-9F1F3AB5CE0E}" destId="{7E3829CE-7180-40C5-97D6-93C38F75FEA4}" srcOrd="1" destOrd="0" presId="urn:microsoft.com/office/officeart/2005/8/layout/hierarchy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4933080" cy="3099822"/>
        <a:chOff x="0" y="0"/>
        <a:chExt cx="4933080" cy="3099822"/>
      </a:xfrm>
    </dsp:grpSpPr>
    <dsp:sp modelId="{D452F09E-8BEE-4DBC-8191-C41A9C8C1A50}">
      <dsp:nvSpPr>
        <dsp:cNvPr id="3" name="圆角矩形 2"/>
        <dsp:cNvSpPr/>
      </dsp:nvSpPr>
      <dsp:spPr bwMode="white">
        <a:xfrm>
          <a:off x="0" y="852140"/>
          <a:ext cx="1298179" cy="649089"/>
        </a:xfrm>
        <a:prstGeom prst="roundRect">
          <a:avLst>
            <a:gd name="adj" fmla="val 10000"/>
          </a:avLst>
        </a:prstGeom>
      </dsp:spPr>
      <dsp:style>
        <a:lnRef idx="2">
          <a:schemeClr val="lt1"/>
        </a:lnRef>
        <a:fillRef idx="1">
          <a:schemeClr val="accent1">
            <a:shade val="80000"/>
          </a:schemeClr>
        </a:fillRef>
        <a:effectRef idx="0">
          <a:scrgbClr r="0" g="0" b="0"/>
        </a:effectRef>
        <a:fontRef idx="minor">
          <a:schemeClr val="lt1"/>
        </a:fontRef>
      </dsp:style>
      <dsp:txBody>
        <a:bodyPr lIns="15240" tIns="15240" rIns="15240" bIns="15240" anchor="ctr"/>
        <a:lstStyle>
          <a:lvl1pPr algn="ctr">
            <a:defRPr sz="24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a:lnSpc>
              <a:spcPct val="100000"/>
            </a:lnSpc>
            <a:spcBef>
              <a:spcPct val="0"/>
            </a:spcBef>
            <a:spcAft>
              <a:spcPct val="35000"/>
            </a:spcAft>
          </a:pPr>
          <a:r>
            <a:rPr lang="zh-CN" altLang="en-US" dirty="0"/>
            <a:t>数据</a:t>
          </a:r>
        </a:p>
      </dsp:txBody>
      <dsp:txXfrm>
        <a:off x="0" y="852140"/>
        <a:ext cx="1298179" cy="649089"/>
      </dsp:txXfrm>
    </dsp:sp>
    <dsp:sp modelId="{B2CF9C88-4D00-4DF8-974A-7A36EF48F340}">
      <dsp:nvSpPr>
        <dsp:cNvPr id="4" name="任意多边形 3"/>
        <dsp:cNvSpPr/>
      </dsp:nvSpPr>
      <dsp:spPr bwMode="white">
        <a:xfrm>
          <a:off x="1238072" y="971226"/>
          <a:ext cx="639485" cy="37691"/>
        </a:xfrm>
        <a:custGeom>
          <a:avLst/>
          <a:gdLst/>
          <a:ahLst/>
          <a:cxnLst/>
          <a:pathLst>
            <a:path w="1007" h="59">
              <a:moveTo>
                <a:pt x="95" y="324"/>
              </a:moveTo>
              <a:lnTo>
                <a:pt x="912" y="-264"/>
              </a:lnTo>
            </a:path>
          </a:pathLst>
        </a:custGeom>
      </dsp:spPr>
      <dsp:style>
        <a:lnRef idx="2">
          <a:schemeClr val="accent1">
            <a:tint val="99000"/>
          </a:schemeClr>
        </a:lnRef>
        <a:fillRef idx="0">
          <a:schemeClr val="accent1">
            <a:tint val="99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1238072" y="971226"/>
        <a:ext cx="639485" cy="37691"/>
      </dsp:txXfrm>
    </dsp:sp>
    <dsp:sp modelId="{1C4C16D4-A350-4D11-BBE0-149B95CBF547}">
      <dsp:nvSpPr>
        <dsp:cNvPr id="5" name="圆角矩形 4"/>
        <dsp:cNvSpPr/>
      </dsp:nvSpPr>
      <dsp:spPr bwMode="white">
        <a:xfrm>
          <a:off x="1817451" y="478913"/>
          <a:ext cx="1298179" cy="649089"/>
        </a:xfrm>
        <a:prstGeom prst="roundRect">
          <a:avLst>
            <a:gd name="adj" fmla="val 10000"/>
          </a:avLst>
        </a:prstGeom>
      </dsp:spPr>
      <dsp:style>
        <a:lnRef idx="2">
          <a:schemeClr val="lt1"/>
        </a:lnRef>
        <a:fillRef idx="1">
          <a:schemeClr val="accent1">
            <a:tint val="99000"/>
            <a:hueOff val="0"/>
            <a:satOff val="0"/>
            <a:lumOff val="0"/>
            <a:alpha val="100000"/>
          </a:schemeClr>
        </a:fillRef>
        <a:effectRef idx="0">
          <a:scrgbClr r="0" g="0" b="0"/>
        </a:effectRef>
        <a:fontRef idx="minor">
          <a:schemeClr val="lt1"/>
        </a:fontRef>
      </dsp:style>
      <dsp:txBody>
        <a:bodyPr lIns="15240" tIns="15240" rIns="15240" bIns="15240" anchor="ctr"/>
        <a:lstStyle>
          <a:lvl1pPr algn="ctr">
            <a:defRPr sz="24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a:lnSpc>
              <a:spcPct val="100000"/>
            </a:lnSpc>
            <a:spcBef>
              <a:spcPct val="0"/>
            </a:spcBef>
            <a:spcAft>
              <a:spcPct val="35000"/>
            </a:spcAft>
          </a:pPr>
          <a:r>
            <a:rPr lang="zh-CN" altLang="en-US" dirty="0"/>
            <a:t>无符号数</a:t>
          </a:r>
        </a:p>
      </dsp:txBody>
      <dsp:txXfrm>
        <a:off x="1817451" y="478913"/>
        <a:ext cx="1298179" cy="649089"/>
      </dsp:txXfrm>
    </dsp:sp>
    <dsp:sp modelId="{1D5E05CE-7703-4BFC-AC9A-1714A7A323DB}">
      <dsp:nvSpPr>
        <dsp:cNvPr id="6" name="任意多边形 5"/>
        <dsp:cNvSpPr/>
      </dsp:nvSpPr>
      <dsp:spPr bwMode="white">
        <a:xfrm>
          <a:off x="1238072" y="1344452"/>
          <a:ext cx="639485" cy="37691"/>
        </a:xfrm>
        <a:custGeom>
          <a:avLst/>
          <a:gdLst/>
          <a:ahLst/>
          <a:cxnLst/>
          <a:pathLst>
            <a:path w="1007" h="59">
              <a:moveTo>
                <a:pt x="95" y="-264"/>
              </a:moveTo>
              <a:lnTo>
                <a:pt x="912" y="324"/>
              </a:lnTo>
            </a:path>
          </a:pathLst>
        </a:custGeom>
      </dsp:spPr>
      <dsp:style>
        <a:lnRef idx="2">
          <a:schemeClr val="accent1">
            <a:tint val="99000"/>
          </a:schemeClr>
        </a:lnRef>
        <a:fillRef idx="0">
          <a:schemeClr val="accent1">
            <a:tint val="99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1238072" y="1344452"/>
        <a:ext cx="639485" cy="37691"/>
      </dsp:txXfrm>
    </dsp:sp>
    <dsp:sp modelId="{EF4B2F50-1E3E-436E-B29C-C32DFED4F507}">
      <dsp:nvSpPr>
        <dsp:cNvPr id="7" name="圆角矩形 6"/>
        <dsp:cNvSpPr/>
      </dsp:nvSpPr>
      <dsp:spPr bwMode="white">
        <a:xfrm>
          <a:off x="1817451" y="1225366"/>
          <a:ext cx="1298179" cy="649089"/>
        </a:xfrm>
        <a:prstGeom prst="roundRect">
          <a:avLst>
            <a:gd name="adj" fmla="val 10000"/>
          </a:avLst>
        </a:prstGeom>
      </dsp:spPr>
      <dsp:style>
        <a:lnRef idx="2">
          <a:schemeClr val="lt1"/>
        </a:lnRef>
        <a:fillRef idx="1">
          <a:schemeClr val="accent1">
            <a:tint val="99000"/>
            <a:hueOff val="0"/>
            <a:satOff val="0"/>
            <a:lumOff val="0"/>
            <a:alpha val="100000"/>
          </a:schemeClr>
        </a:fillRef>
        <a:effectRef idx="0">
          <a:scrgbClr r="0" g="0" b="0"/>
        </a:effectRef>
        <a:fontRef idx="minor">
          <a:schemeClr val="lt1"/>
        </a:fontRef>
      </dsp:style>
      <dsp:txBody>
        <a:bodyPr lIns="15240" tIns="15240" rIns="15240" bIns="15240" anchor="ctr"/>
        <a:lstStyle>
          <a:lvl1pPr algn="ctr">
            <a:defRPr sz="24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a:lnSpc>
              <a:spcPct val="100000"/>
            </a:lnSpc>
            <a:spcBef>
              <a:spcPct val="0"/>
            </a:spcBef>
            <a:spcAft>
              <a:spcPct val="35000"/>
            </a:spcAft>
          </a:pPr>
          <a:r>
            <a:rPr lang="zh-CN" altLang="en-US" dirty="0"/>
            <a:t>带符号数</a:t>
          </a:r>
        </a:p>
      </dsp:txBody>
      <dsp:txXfrm>
        <a:off x="1817451" y="1225366"/>
        <a:ext cx="1298179" cy="649089"/>
      </dsp:txXfrm>
    </dsp:sp>
    <dsp:sp modelId="{5BAEE790-7391-4AFD-A02D-A563B59BDCCA}">
      <dsp:nvSpPr>
        <dsp:cNvPr id="8" name="任意多边形 7"/>
        <dsp:cNvSpPr/>
      </dsp:nvSpPr>
      <dsp:spPr bwMode="white">
        <a:xfrm>
          <a:off x="2920613" y="1157839"/>
          <a:ext cx="909305" cy="37691"/>
        </a:xfrm>
        <a:custGeom>
          <a:avLst/>
          <a:gdLst/>
          <a:ahLst/>
          <a:cxnLst/>
          <a:pathLst>
            <a:path w="1432" h="59">
              <a:moveTo>
                <a:pt x="307" y="617"/>
              </a:moveTo>
              <a:lnTo>
                <a:pt x="1125" y="-558"/>
              </a:lnTo>
            </a:path>
          </a:pathLst>
        </a:custGeom>
      </dsp:spPr>
      <dsp:style>
        <a:lnRef idx="2">
          <a:schemeClr val="accent1">
            <a:tint val="80000"/>
          </a:schemeClr>
        </a:lnRef>
        <a:fillRef idx="0">
          <a:schemeClr val="accent1">
            <a:tint val="80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2920613" y="1157839"/>
        <a:ext cx="909305" cy="37691"/>
      </dsp:txXfrm>
    </dsp:sp>
    <dsp:sp modelId="{F12EAD7A-A745-4170-BF17-F344BEC62F22}">
      <dsp:nvSpPr>
        <dsp:cNvPr id="9" name="圆角矩形 8"/>
        <dsp:cNvSpPr/>
      </dsp:nvSpPr>
      <dsp:spPr bwMode="white">
        <a:xfrm>
          <a:off x="3634901" y="478913"/>
          <a:ext cx="1298179" cy="649089"/>
        </a:xfrm>
        <a:prstGeom prst="roundRect">
          <a:avLst>
            <a:gd name="adj" fmla="val 10000"/>
          </a:avLst>
        </a:prstGeom>
      </dsp:spPr>
      <dsp:style>
        <a:lnRef idx="2">
          <a:schemeClr val="lt1"/>
        </a:lnRef>
        <a:fillRef idx="1">
          <a:schemeClr val="accent1">
            <a:tint val="80000"/>
            <a:hueOff val="0"/>
            <a:satOff val="0"/>
            <a:lumOff val="0"/>
            <a:alpha val="100000"/>
          </a:schemeClr>
        </a:fillRef>
        <a:effectRef idx="0">
          <a:scrgbClr r="0" g="0" b="0"/>
        </a:effectRef>
        <a:fontRef idx="minor">
          <a:schemeClr val="lt1"/>
        </a:fontRef>
      </dsp:style>
      <dsp:txBody>
        <a:bodyPr lIns="15240" tIns="15240" rIns="15240" bIns="15240" anchor="ctr"/>
        <a:lstStyle>
          <a:lvl1pPr algn="ctr">
            <a:defRPr sz="24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a:lnSpc>
              <a:spcPct val="100000"/>
            </a:lnSpc>
            <a:spcBef>
              <a:spcPct val="0"/>
            </a:spcBef>
            <a:spcAft>
              <a:spcPct val="35000"/>
            </a:spcAft>
          </a:pPr>
          <a:r>
            <a:rPr lang="zh-CN" altLang="en-US" dirty="0"/>
            <a:t>原码</a:t>
          </a:r>
        </a:p>
      </dsp:txBody>
      <dsp:txXfrm>
        <a:off x="3634901" y="478913"/>
        <a:ext cx="1298179" cy="649089"/>
      </dsp:txXfrm>
    </dsp:sp>
    <dsp:sp modelId="{195EB0DF-494D-4598-B9DE-35420A3FBA66}">
      <dsp:nvSpPr>
        <dsp:cNvPr id="10" name="任意多边形 9"/>
        <dsp:cNvSpPr/>
      </dsp:nvSpPr>
      <dsp:spPr bwMode="white">
        <a:xfrm>
          <a:off x="3115629" y="1531065"/>
          <a:ext cx="519272" cy="37691"/>
        </a:xfrm>
        <a:custGeom>
          <a:avLst/>
          <a:gdLst/>
          <a:ahLst/>
          <a:cxnLst/>
          <a:pathLst>
            <a:path w="818" h="59">
              <a:moveTo>
                <a:pt x="0" y="30"/>
              </a:moveTo>
              <a:lnTo>
                <a:pt x="818" y="30"/>
              </a:lnTo>
            </a:path>
          </a:pathLst>
        </a:custGeom>
      </dsp:spPr>
      <dsp:style>
        <a:lnRef idx="2">
          <a:schemeClr val="accent1">
            <a:tint val="80000"/>
          </a:schemeClr>
        </a:lnRef>
        <a:fillRef idx="0">
          <a:schemeClr val="accent1">
            <a:tint val="80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3115629" y="1531065"/>
        <a:ext cx="519272" cy="37691"/>
      </dsp:txXfrm>
    </dsp:sp>
    <dsp:sp modelId="{50997874-2DD2-4A78-9988-D45CD4A40BBC}">
      <dsp:nvSpPr>
        <dsp:cNvPr id="11" name="圆角矩形 10"/>
        <dsp:cNvSpPr/>
      </dsp:nvSpPr>
      <dsp:spPr bwMode="white">
        <a:xfrm>
          <a:off x="3634901" y="1225366"/>
          <a:ext cx="1298179" cy="649089"/>
        </a:xfrm>
        <a:prstGeom prst="roundRect">
          <a:avLst>
            <a:gd name="adj" fmla="val 10000"/>
          </a:avLst>
        </a:prstGeom>
      </dsp:spPr>
      <dsp:style>
        <a:lnRef idx="2">
          <a:schemeClr val="lt1"/>
        </a:lnRef>
        <a:fillRef idx="1">
          <a:schemeClr val="accent1">
            <a:tint val="80000"/>
            <a:hueOff val="0"/>
            <a:satOff val="0"/>
            <a:lumOff val="0"/>
            <a:alpha val="100000"/>
          </a:schemeClr>
        </a:fillRef>
        <a:effectRef idx="0">
          <a:scrgbClr r="0" g="0" b="0"/>
        </a:effectRef>
        <a:fontRef idx="minor">
          <a:schemeClr val="lt1"/>
        </a:fontRef>
      </dsp:style>
      <dsp:txBody>
        <a:bodyPr lIns="15240" tIns="15240" rIns="15240" bIns="15240" anchor="ctr"/>
        <a:lstStyle>
          <a:lvl1pPr algn="ctr">
            <a:defRPr sz="24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a:lnSpc>
              <a:spcPct val="100000"/>
            </a:lnSpc>
            <a:spcBef>
              <a:spcPct val="0"/>
            </a:spcBef>
            <a:spcAft>
              <a:spcPct val="35000"/>
            </a:spcAft>
          </a:pPr>
          <a:r>
            <a:rPr lang="zh-CN" altLang="en-US" dirty="0"/>
            <a:t>反码</a:t>
          </a:r>
        </a:p>
      </dsp:txBody>
      <dsp:txXfrm>
        <a:off x="3634901" y="1225366"/>
        <a:ext cx="1298179" cy="649089"/>
      </dsp:txXfrm>
    </dsp:sp>
    <dsp:sp modelId="{C15B5EE6-2196-49EA-8F86-8C124632EFBD}">
      <dsp:nvSpPr>
        <dsp:cNvPr id="12" name="任意多边形 11"/>
        <dsp:cNvSpPr/>
      </dsp:nvSpPr>
      <dsp:spPr bwMode="white">
        <a:xfrm>
          <a:off x="2894560" y="1935623"/>
          <a:ext cx="961411" cy="37691"/>
        </a:xfrm>
        <a:custGeom>
          <a:avLst/>
          <a:gdLst/>
          <a:ahLst/>
          <a:cxnLst/>
          <a:pathLst>
            <a:path w="1514" h="59">
              <a:moveTo>
                <a:pt x="348" y="-607"/>
              </a:moveTo>
              <a:lnTo>
                <a:pt x="1166" y="667"/>
              </a:lnTo>
            </a:path>
          </a:pathLst>
        </a:custGeom>
      </dsp:spPr>
      <dsp:style>
        <a:lnRef idx="2">
          <a:schemeClr val="accent1">
            <a:tint val="80000"/>
          </a:schemeClr>
        </a:lnRef>
        <a:fillRef idx="0">
          <a:schemeClr val="accent1">
            <a:tint val="80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2894560" y="1935623"/>
        <a:ext cx="961411" cy="37691"/>
      </dsp:txXfrm>
    </dsp:sp>
    <dsp:sp modelId="{5FDC0A57-9376-4757-85C0-2BCC221FEEFB}">
      <dsp:nvSpPr>
        <dsp:cNvPr id="13" name="圆角矩形 12"/>
        <dsp:cNvSpPr/>
      </dsp:nvSpPr>
      <dsp:spPr bwMode="white">
        <a:xfrm>
          <a:off x="3634901" y="2034482"/>
          <a:ext cx="1298179" cy="649089"/>
        </a:xfrm>
        <a:prstGeom prst="roundRect">
          <a:avLst>
            <a:gd name="adj" fmla="val 10000"/>
          </a:avLst>
        </a:prstGeom>
      </dsp:spPr>
      <dsp:style>
        <a:lnRef idx="2">
          <a:schemeClr val="lt1"/>
        </a:lnRef>
        <a:fillRef idx="1">
          <a:schemeClr val="accent1">
            <a:tint val="80000"/>
            <a:hueOff val="0"/>
            <a:satOff val="0"/>
            <a:lumOff val="0"/>
            <a:alpha val="100000"/>
          </a:schemeClr>
        </a:fillRef>
        <a:effectRef idx="0">
          <a:scrgbClr r="0" g="0" b="0"/>
        </a:effectRef>
        <a:fontRef idx="minor">
          <a:schemeClr val="lt1"/>
        </a:fontRef>
      </dsp:style>
      <dsp:txBody>
        <a:bodyPr lIns="15240" tIns="15240" rIns="15240" bIns="15240" anchor="ctr"/>
        <a:lstStyle>
          <a:lvl1pPr algn="ctr">
            <a:defRPr sz="24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a:lnSpc>
              <a:spcPct val="100000"/>
            </a:lnSpc>
            <a:spcBef>
              <a:spcPct val="0"/>
            </a:spcBef>
            <a:spcAft>
              <a:spcPct val="35000"/>
            </a:spcAft>
          </a:pPr>
          <a:r>
            <a:rPr lang="zh-CN" altLang="en-US" dirty="0"/>
            <a:t>补码</a:t>
          </a:r>
        </a:p>
      </dsp:txBody>
      <dsp:txXfrm>
        <a:off x="3634901" y="2034482"/>
        <a:ext cx="1298179" cy="64908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endSty" val="noArr"/>
                        <dgm:param type="begPts" val="midR"/>
                        <dgm:param type="endPts" val="midL"/>
                      </dgm:alg>
                    </dgm:if>
                    <dgm:else name="Name14">
                      <dgm:alg type="conn">
                        <dgm:param type="dim" val="1D"/>
                        <dgm:param type="endSty" val="noArr"/>
                        <dgm:param type="begPts" val="midL"/>
                        <dgm:param type="endPts" val="mid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8546" name="Rectangle 2"/>
          <p:cNvSpPr>
            <a:spLocks noGrp="1" noChangeArrowheads="1"/>
          </p:cNvSpPr>
          <p:nvPr>
            <p:ph type="hdr" sz="quarter"/>
          </p:nvPr>
        </p:nvSpPr>
        <p:spPr bwMode="auto">
          <a:xfrm>
            <a:off x="0" y="0"/>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8547" name="Rectangle 3"/>
          <p:cNvSpPr>
            <a:spLocks noGrp="1" noChangeArrowheads="1"/>
          </p:cNvSpPr>
          <p:nvPr>
            <p:ph type="dt" sz="quarter" idx="1"/>
          </p:nvPr>
        </p:nvSpPr>
        <p:spPr bwMode="auto">
          <a:xfrm>
            <a:off x="3851275" y="0"/>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8548" name="Rectangle 4"/>
          <p:cNvSpPr>
            <a:spLocks noGrp="1" noChangeArrowheads="1"/>
          </p:cNvSpPr>
          <p:nvPr>
            <p:ph type="ftr" sz="quarter" idx="2"/>
          </p:nvPr>
        </p:nvSpPr>
        <p:spPr bwMode="auto">
          <a:xfrm>
            <a:off x="0" y="9431338"/>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8549" name="Rectangle 5"/>
          <p:cNvSpPr>
            <a:spLocks noGrp="1" noChangeArrowheads="1"/>
          </p:cNvSpPr>
          <p:nvPr>
            <p:ph type="sldNum" sz="quarter" idx="3"/>
          </p:nvPr>
        </p:nvSpPr>
        <p:spPr bwMode="auto">
          <a:xfrm>
            <a:off x="3851275" y="9431338"/>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6BC0B36-2CB3-41AB-B87C-CCC4968830B2}" type="slidenum">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6626" name="Rectangle 2"/>
          <p:cNvSpPr>
            <a:spLocks noGrp="1" noChangeArrowheads="1"/>
          </p:cNvSpPr>
          <p:nvPr>
            <p:ph type="hdr" sz="quarter"/>
          </p:nvPr>
        </p:nvSpPr>
        <p:spPr bwMode="auto">
          <a:xfrm>
            <a:off x="0" y="0"/>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27" name="Rectangle 3"/>
          <p:cNvSpPr>
            <a:spLocks noGrp="1" noChangeArrowheads="1"/>
          </p:cNvSpPr>
          <p:nvPr>
            <p:ph type="dt" idx="1"/>
          </p:nvPr>
        </p:nvSpPr>
        <p:spPr bwMode="auto">
          <a:xfrm>
            <a:off x="3851275" y="0"/>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532" name="Rectangle 4"/>
          <p:cNvSpPr>
            <a:spLocks noGrp="1" noRot="1" noChangeAspect="1" noTextEdit="1"/>
          </p:cNvSpPr>
          <p:nvPr>
            <p:ph type="sldImg"/>
          </p:nvPr>
        </p:nvSpPr>
        <p:spPr>
          <a:xfrm>
            <a:off x="917575" y="744538"/>
            <a:ext cx="4962525" cy="3722687"/>
          </a:xfrm>
          <a:prstGeom prst="rect">
            <a:avLst/>
          </a:prstGeom>
          <a:noFill/>
          <a:ln w="9525" cap="flat" cmpd="sng">
            <a:solidFill>
              <a:srgbClr val="000000"/>
            </a:solidFill>
            <a:prstDash val="solid"/>
            <a:miter/>
            <a:headEnd type="none" w="med" len="med"/>
            <a:tailEnd type="none" w="med" len="med"/>
          </a:ln>
        </p:spPr>
      </p:sp>
      <p:sp>
        <p:nvSpPr>
          <p:cNvPr id="26629" name="Rectangle 5"/>
          <p:cNvSpPr>
            <a:spLocks noGrp="1" noChangeArrowheads="1"/>
          </p:cNvSpPr>
          <p:nvPr>
            <p:ph type="body" sz="quarter" idx="3"/>
          </p:nvPr>
        </p:nvSpPr>
        <p:spPr bwMode="auto">
          <a:xfrm>
            <a:off x="906463" y="4716463"/>
            <a:ext cx="4984750" cy="446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30" name="Rectangle 6"/>
          <p:cNvSpPr>
            <a:spLocks noGrp="1" noChangeArrowheads="1"/>
          </p:cNvSpPr>
          <p:nvPr>
            <p:ph type="ftr" sz="quarter" idx="4"/>
          </p:nvPr>
        </p:nvSpPr>
        <p:spPr bwMode="auto">
          <a:xfrm>
            <a:off x="0" y="9431338"/>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31" name="Rectangle 7"/>
          <p:cNvSpPr>
            <a:spLocks noGrp="1" noChangeArrowheads="1"/>
          </p:cNvSpPr>
          <p:nvPr>
            <p:ph type="sldNum" sz="quarter" idx="5"/>
          </p:nvPr>
        </p:nvSpPr>
        <p:spPr bwMode="auto">
          <a:xfrm>
            <a:off x="3851275" y="9431338"/>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58279352-F385-4B57-8ABC-BCDC9BF9BFD1}" type="slidenum">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7"/>
          <p:cNvSpPr txBox="1">
            <a:spLocks noGrp="1"/>
          </p:cNvSpPr>
          <p:nvPr>
            <p:ph type="sldNum" sz="quarter"/>
          </p:nvPr>
        </p:nvSpPr>
        <p:spPr>
          <a:xfrm>
            <a:off x="3851275" y="9431338"/>
            <a:ext cx="2946400" cy="496887"/>
          </a:xfrm>
          <a:prstGeom prst="rect">
            <a:avLst/>
          </a:prstGeom>
          <a:noFill/>
          <a:ln w="9525">
            <a:noFill/>
          </a:ln>
        </p:spPr>
        <p:txBody>
          <a:bodyPr vert="horz" wrap="square" lIns="91440" tIns="45720" rIns="91440" bIns="45720" anchor="b"/>
          <a:p>
            <a:pPr lvl="0" algn="r" eaLnBrk="1" hangingPunct="1"/>
            <a:fld id="{9A0DB2DC-4C9A-4742-B13C-FB6460FD3503}" type="slidenum">
              <a:rPr lang="zh-CN" altLang="en-US" sz="1200" dirty="0">
                <a:solidFill>
                  <a:schemeClr val="tx1"/>
                </a:solidFill>
                <a:latin typeface="Times New Roman" panose="02020603050405020304" pitchFamily="18" charset="0"/>
                <a:ea typeface="宋体" panose="02010600030101010101" pitchFamily="2" charset="-122"/>
              </a:rPr>
            </a:fld>
            <a:endParaRPr lang="zh-CN" altLang="en-US" sz="1200" dirty="0">
              <a:solidFill>
                <a:schemeClr val="tx1"/>
              </a:solidFill>
              <a:latin typeface="Times New Roman" panose="02020603050405020304" pitchFamily="18" charset="0"/>
              <a:ea typeface="宋体" panose="02010600030101010101" pitchFamily="2" charset="-122"/>
            </a:endParaRPr>
          </a:p>
        </p:txBody>
      </p:sp>
      <p:sp>
        <p:nvSpPr>
          <p:cNvPr id="24578" name="Rectangle 2"/>
          <p:cNvSpPr>
            <a:spLocks noGrp="1" noRot="1" noChangeAspect="1" noTextEdit="1"/>
          </p:cNvSpPr>
          <p:nvPr>
            <p:ph type="sldImg"/>
          </p:nvPr>
        </p:nvSpPr>
        <p:spPr>
          <a:solidFill>
            <a:srgbClr val="FFFFFF"/>
          </a:solidFill>
        </p:spPr>
      </p:sp>
      <p:sp>
        <p:nvSpPr>
          <p:cNvPr id="24579" name="Rectangle 3"/>
          <p:cNvSpPr>
            <a:spLocks noGrp="1"/>
          </p:cNvSpPr>
          <p:nvPr>
            <p:ph type="body"/>
          </p:nvPr>
        </p:nvSpPr>
        <p:spPr>
          <a:solidFill>
            <a:srgbClr val="FFFFFF"/>
          </a:solidFill>
          <a:ln>
            <a:solidFill>
              <a:srgbClr val="000000"/>
            </a:solidFill>
            <a:miter/>
          </a:ln>
        </p:spPr>
        <p:txBody>
          <a:bodyPr wrap="square" lIns="91440" tIns="45720" rIns="91440" bIns="45720" anchor="t"/>
          <a:p>
            <a:pPr lvl="0" eaLnBrk="1" hangingPunct="1"/>
            <a:r>
              <a:rPr lang="zh-CN" altLang="en-US" dirty="0"/>
              <a:t>欢迎辞</a:t>
            </a: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zh-CN" altLang="en-US"/>
              <a:t>数据是计算机处理的对象。从不同的处理角度，数据有不同的表现形态。从应用的角度来看：数值、文字、图像、声音、视频；从高级语言的角度来看，有数组、指针、整数、布尔数、字符串等；从算法描述的角度来看，有图、表、树、队列、矩阵。。。无论以何种形式出现，在计算机内部都是由机器指令来处理。从指令集体系结构来看，计算机系统底层的机器数据表示只有几种简单的</a:t>
            </a:r>
            <a:r>
              <a:rPr lang="zh-CN" altLang="en-US"/>
              <a:t>类型。</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zh-CN" altLang="en-US"/>
              <a:t>数字化方式：离散化。计算机中存储处理和传输数据的部件都是位数有限的部件，因此计算机中的数据表示把现实世界中的连续信息进行离散表示（采样），存在信息丢失。用来表示数据的位数越多，能够表达的信息</a:t>
            </a:r>
            <a:r>
              <a:rPr lang="zh-CN" altLang="en-US"/>
              <a:t>越多</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zh-CN" altLang="en-US"/>
              <a:t>纯小数，纯整数：</a:t>
            </a:r>
            <a:r>
              <a:rPr lang="zh-CN" altLang="en-US"/>
              <a:t>定点数</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zh-CN" altLang="en-US"/>
              <a:t>容器溢出：溢出的部分扔掉，什么情况下</a:t>
            </a:r>
            <a:r>
              <a:rPr lang="zh-CN" altLang="en-US"/>
              <a:t>正确？</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zh-CN" altLang="en-US"/>
              <a:t>不同位数表示，结果</a:t>
            </a:r>
            <a:r>
              <a:rPr lang="zh-CN" altLang="en-US"/>
              <a:t>不同</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Rectangle 7"/>
          <p:cNvSpPr txBox="1">
            <a:spLocks noGrp="1"/>
          </p:cNvSpPr>
          <p:nvPr>
            <p:ph type="sldNum" sz="quarter"/>
          </p:nvPr>
        </p:nvSpPr>
        <p:spPr>
          <a:xfrm>
            <a:off x="3851275" y="9431338"/>
            <a:ext cx="2946400" cy="496887"/>
          </a:xfrm>
          <a:prstGeom prst="rect">
            <a:avLst/>
          </a:prstGeom>
          <a:noFill/>
          <a:ln w="9525">
            <a:noFill/>
          </a:ln>
        </p:spPr>
        <p:txBody>
          <a:bodyPr vert="horz" wrap="square" lIns="91440" tIns="45720" rIns="91440" bIns="45720" anchor="b"/>
          <a:p>
            <a:pPr lvl="0" algn="r" eaLnBrk="1" hangingPunct="1"/>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50178" name="Rectangle 2"/>
          <p:cNvSpPr>
            <a:spLocks noGrp="1" noRot="1" noChangeAspect="1" noTextEdit="1"/>
          </p:cNvSpPr>
          <p:nvPr>
            <p:ph type="sldImg"/>
          </p:nvPr>
        </p:nvSpPr>
        <p:spPr/>
      </p:sp>
      <p:sp>
        <p:nvSpPr>
          <p:cNvPr id="50179" name="Rectangle 3"/>
          <p:cNvSpPr>
            <a:spLocks noGrp="1"/>
          </p:cNvSpPr>
          <p:nvPr>
            <p:ph type="body"/>
          </p:nvPr>
        </p:nvSpPr>
        <p:spPr/>
        <p:txBody>
          <a:bodyPr wrap="square" lIns="91440" tIns="45720" rIns="91440" bIns="45720" anchor="t"/>
          <a:p>
            <a:pPr lvl="0"/>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Rectangle 7"/>
          <p:cNvSpPr txBox="1">
            <a:spLocks noGrp="1"/>
          </p:cNvSpPr>
          <p:nvPr>
            <p:ph type="sldNum" sz="quarter"/>
          </p:nvPr>
        </p:nvSpPr>
        <p:spPr>
          <a:xfrm>
            <a:off x="3851275" y="9431338"/>
            <a:ext cx="2946400" cy="496887"/>
          </a:xfrm>
          <a:prstGeom prst="rect">
            <a:avLst/>
          </a:prstGeom>
          <a:noFill/>
          <a:ln w="9525">
            <a:noFill/>
          </a:ln>
        </p:spPr>
        <p:txBody>
          <a:bodyPr vert="horz" wrap="square" lIns="91440" tIns="45720" rIns="91440" bIns="45720" anchor="b"/>
          <a:p>
            <a:pPr lvl="0" algn="r" eaLnBrk="1" hangingPunct="1"/>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52226" name="Rectangle 2"/>
          <p:cNvSpPr>
            <a:spLocks noGrp="1" noRot="1" noChangeAspect="1" noTextEdit="1"/>
          </p:cNvSpPr>
          <p:nvPr>
            <p:ph type="sldImg"/>
          </p:nvPr>
        </p:nvSpPr>
        <p:spPr/>
      </p:sp>
      <p:sp>
        <p:nvSpPr>
          <p:cNvPr id="52227" name="Rectangle 3"/>
          <p:cNvSpPr>
            <a:spLocks noGrp="1"/>
          </p:cNvSpPr>
          <p:nvPr>
            <p:ph type="body"/>
          </p:nvPr>
        </p:nvSpPr>
        <p:spPr/>
        <p:txBody>
          <a:bodyPr wrap="square" lIns="91440" tIns="45720" rIns="91440" bIns="45720" anchor="t"/>
          <a:p>
            <a:pPr lvl="0"/>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Rectangle 7"/>
          <p:cNvSpPr txBox="1">
            <a:spLocks noGrp="1"/>
          </p:cNvSpPr>
          <p:nvPr>
            <p:ph type="sldNum" sz="quarter"/>
          </p:nvPr>
        </p:nvSpPr>
        <p:spPr>
          <a:xfrm>
            <a:off x="3851275" y="9431338"/>
            <a:ext cx="2946400" cy="496887"/>
          </a:xfrm>
          <a:prstGeom prst="rect">
            <a:avLst/>
          </a:prstGeom>
          <a:noFill/>
          <a:ln w="9525">
            <a:noFill/>
          </a:ln>
        </p:spPr>
        <p:txBody>
          <a:bodyPr vert="horz" wrap="square" lIns="91440" tIns="45720" rIns="91440" bIns="45720" anchor="b"/>
          <a:p>
            <a:pPr lvl="0" algn="r" eaLnBrk="1" hangingPunct="1"/>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54274" name="Rectangle 2"/>
          <p:cNvSpPr>
            <a:spLocks noGrp="1" noRot="1" noChangeAspect="1" noTextEdit="1"/>
          </p:cNvSpPr>
          <p:nvPr>
            <p:ph type="sldImg"/>
          </p:nvPr>
        </p:nvSpPr>
        <p:spPr/>
      </p:sp>
      <p:sp>
        <p:nvSpPr>
          <p:cNvPr id="54275" name="Rectangle 3"/>
          <p:cNvSpPr>
            <a:spLocks noGrp="1"/>
          </p:cNvSpPr>
          <p:nvPr>
            <p:ph type="body"/>
          </p:nvPr>
        </p:nvSpPr>
        <p:spPr/>
        <p:txBody>
          <a:bodyPr wrap="square" lIns="91440" tIns="45720" rIns="91440" bIns="45720" anchor="t"/>
          <a:p>
            <a:pPr lvl="0"/>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Rectangle 7"/>
          <p:cNvSpPr txBox="1">
            <a:spLocks noGrp="1"/>
          </p:cNvSpPr>
          <p:nvPr>
            <p:ph type="sldNum" sz="quarter"/>
          </p:nvPr>
        </p:nvSpPr>
        <p:spPr>
          <a:xfrm>
            <a:off x="3851275" y="9431338"/>
            <a:ext cx="2946400" cy="496887"/>
          </a:xfrm>
          <a:prstGeom prst="rect">
            <a:avLst/>
          </a:prstGeom>
          <a:noFill/>
          <a:ln w="9525">
            <a:noFill/>
          </a:ln>
        </p:spPr>
        <p:txBody>
          <a:bodyPr vert="horz" wrap="square" lIns="91440" tIns="45720" rIns="91440" bIns="45720" anchor="b"/>
          <a:p>
            <a:pPr lvl="0" algn="r" eaLnBrk="1" hangingPunct="1"/>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56322" name="Rectangle 2"/>
          <p:cNvSpPr>
            <a:spLocks noGrp="1" noRot="1" noChangeAspect="1" noTextEdit="1"/>
          </p:cNvSpPr>
          <p:nvPr>
            <p:ph type="sldImg"/>
          </p:nvPr>
        </p:nvSpPr>
        <p:spPr/>
      </p:sp>
      <p:sp>
        <p:nvSpPr>
          <p:cNvPr id="56323" name="Rectangle 3"/>
          <p:cNvSpPr>
            <a:spLocks noGrp="1"/>
          </p:cNvSpPr>
          <p:nvPr>
            <p:ph type="body"/>
          </p:nvPr>
        </p:nvSpPr>
        <p:spPr/>
        <p:txBody>
          <a:bodyPr wrap="square" lIns="91440" tIns="45720" rIns="91440" bIns="45720" anchor="t"/>
          <a:p>
            <a:pPr lvl="0"/>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Rectangle 7"/>
          <p:cNvSpPr txBox="1">
            <a:spLocks noGrp="1"/>
          </p:cNvSpPr>
          <p:nvPr>
            <p:ph type="sldNum" sz="quarter"/>
          </p:nvPr>
        </p:nvSpPr>
        <p:spPr>
          <a:xfrm>
            <a:off x="3851275" y="9431338"/>
            <a:ext cx="2946400" cy="496887"/>
          </a:xfrm>
          <a:prstGeom prst="rect">
            <a:avLst/>
          </a:prstGeom>
          <a:noFill/>
          <a:ln w="9525">
            <a:noFill/>
          </a:ln>
        </p:spPr>
        <p:txBody>
          <a:bodyPr vert="horz" wrap="square" lIns="91440" tIns="45720" rIns="91440" bIns="45720" anchor="b"/>
          <a:p>
            <a:pPr lvl="0" algn="r" eaLnBrk="1" hangingPunct="1"/>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58370" name="Rectangle 2"/>
          <p:cNvSpPr>
            <a:spLocks noGrp="1" noRot="1" noChangeAspect="1" noTextEdit="1"/>
          </p:cNvSpPr>
          <p:nvPr>
            <p:ph type="sldImg"/>
          </p:nvPr>
        </p:nvSpPr>
        <p:spPr/>
      </p:sp>
      <p:sp>
        <p:nvSpPr>
          <p:cNvPr id="58371" name="Rectangle 3"/>
          <p:cNvSpPr>
            <a:spLocks noGrp="1"/>
          </p:cNvSpPr>
          <p:nvPr>
            <p:ph type="body"/>
          </p:nvPr>
        </p:nvSpPr>
        <p:spPr/>
        <p:txBody>
          <a:bodyPr wrap="square" lIns="91440" tIns="45720" rIns="91440" bIns="45720" anchor="t"/>
          <a:p>
            <a:pPr lvl="0"/>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Rectangle 7"/>
          <p:cNvSpPr txBox="1">
            <a:spLocks noGrp="1"/>
          </p:cNvSpPr>
          <p:nvPr>
            <p:ph type="sldNum" sz="quarter"/>
          </p:nvPr>
        </p:nvSpPr>
        <p:spPr>
          <a:xfrm>
            <a:off x="3851275" y="9431338"/>
            <a:ext cx="2946400" cy="496887"/>
          </a:xfrm>
          <a:prstGeom prst="rect">
            <a:avLst/>
          </a:prstGeom>
          <a:noFill/>
          <a:ln w="9525">
            <a:noFill/>
          </a:ln>
        </p:spPr>
        <p:txBody>
          <a:bodyPr vert="horz" wrap="square" lIns="91440" tIns="45720" rIns="91440" bIns="45720" anchor="b"/>
          <a:p>
            <a:pPr lvl="0" algn="r" eaLnBrk="1" hangingPunct="1"/>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60418" name="Rectangle 2"/>
          <p:cNvSpPr>
            <a:spLocks noGrp="1" noRot="1" noChangeAspect="1" noTextEdit="1"/>
          </p:cNvSpPr>
          <p:nvPr>
            <p:ph type="sldImg"/>
          </p:nvPr>
        </p:nvSpPr>
        <p:spPr/>
      </p:sp>
      <p:sp>
        <p:nvSpPr>
          <p:cNvPr id="60419" name="Rectangle 3"/>
          <p:cNvSpPr>
            <a:spLocks noGrp="1"/>
          </p:cNvSpPr>
          <p:nvPr>
            <p:ph type="body"/>
          </p:nvPr>
        </p:nvSpPr>
        <p:spPr/>
        <p:txBody>
          <a:bodyPr wrap="square" lIns="91440" tIns="45720" rIns="91440" bIns="45720" anchor="t"/>
          <a:p>
            <a:pPr lvl="0"/>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Rectangle 7"/>
          <p:cNvSpPr txBox="1">
            <a:spLocks noGrp="1"/>
          </p:cNvSpPr>
          <p:nvPr>
            <p:ph type="sldNum" sz="quarter"/>
          </p:nvPr>
        </p:nvSpPr>
        <p:spPr>
          <a:xfrm>
            <a:off x="3851275" y="9431338"/>
            <a:ext cx="2946400" cy="496887"/>
          </a:xfrm>
          <a:prstGeom prst="rect">
            <a:avLst/>
          </a:prstGeom>
          <a:noFill/>
          <a:ln w="9525">
            <a:noFill/>
          </a:ln>
        </p:spPr>
        <p:txBody>
          <a:bodyPr vert="horz" wrap="square" lIns="91440" tIns="45720" rIns="91440" bIns="45720" anchor="b"/>
          <a:p>
            <a:pPr lvl="0" algn="r" eaLnBrk="1" hangingPunct="1"/>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62466" name="Rectangle 2"/>
          <p:cNvSpPr>
            <a:spLocks noGrp="1" noRot="1" noChangeAspect="1" noTextEdit="1"/>
          </p:cNvSpPr>
          <p:nvPr>
            <p:ph type="sldImg"/>
          </p:nvPr>
        </p:nvSpPr>
        <p:spPr/>
      </p:sp>
      <p:sp>
        <p:nvSpPr>
          <p:cNvPr id="62467" name="Rectangle 3"/>
          <p:cNvSpPr>
            <a:spLocks noGrp="1"/>
          </p:cNvSpPr>
          <p:nvPr>
            <p:ph type="body"/>
          </p:nvPr>
        </p:nvSpPr>
        <p:spPr/>
        <p:txBody>
          <a:bodyPr wrap="square" lIns="91440" tIns="45720" rIns="91440" bIns="45720" anchor="t"/>
          <a:p>
            <a:pPr lvl="0"/>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Rectangle 7"/>
          <p:cNvSpPr txBox="1">
            <a:spLocks noGrp="1"/>
          </p:cNvSpPr>
          <p:nvPr>
            <p:ph type="sldNum" sz="quarter"/>
          </p:nvPr>
        </p:nvSpPr>
        <p:spPr>
          <a:xfrm>
            <a:off x="3851275" y="9431338"/>
            <a:ext cx="2946400" cy="496887"/>
          </a:xfrm>
          <a:prstGeom prst="rect">
            <a:avLst/>
          </a:prstGeom>
          <a:noFill/>
          <a:ln w="9525">
            <a:noFill/>
          </a:ln>
        </p:spPr>
        <p:txBody>
          <a:bodyPr vert="horz" wrap="square" lIns="91440" tIns="45720" rIns="91440" bIns="45720" anchor="b"/>
          <a:p>
            <a:pPr lvl="0" algn="r" eaLnBrk="1" hangingPunct="1"/>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64514" name="Rectangle 2"/>
          <p:cNvSpPr>
            <a:spLocks noGrp="1" noRot="1" noChangeAspect="1" noTextEdit="1"/>
          </p:cNvSpPr>
          <p:nvPr>
            <p:ph type="sldImg"/>
          </p:nvPr>
        </p:nvSpPr>
        <p:spPr/>
      </p:sp>
      <p:sp>
        <p:nvSpPr>
          <p:cNvPr id="64515" name="Rectangle 3"/>
          <p:cNvSpPr>
            <a:spLocks noGrp="1"/>
          </p:cNvSpPr>
          <p:nvPr>
            <p:ph type="body"/>
          </p:nvPr>
        </p:nvSpPr>
        <p:spPr/>
        <p:txBody>
          <a:bodyPr wrap="square" lIns="91440" tIns="45720" rIns="91440" bIns="45720" anchor="t"/>
          <a:p>
            <a:pPr lvl="0"/>
            <a:r>
              <a:rPr lang="zh-CN" altLang="zh-CN" dirty="0"/>
              <a:t>一共</a:t>
            </a:r>
            <a:r>
              <a:rPr lang="en-US" altLang="zh-CN" dirty="0"/>
              <a:t>256</a:t>
            </a:r>
            <a:r>
              <a:rPr lang="zh-CN" altLang="en-US" dirty="0"/>
              <a:t>个</a:t>
            </a:r>
            <a:r>
              <a:rPr lang="zh-CN" altLang="en-US" dirty="0"/>
              <a:t>编码</a:t>
            </a:r>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Rectangle 7"/>
          <p:cNvSpPr txBox="1">
            <a:spLocks noGrp="1"/>
          </p:cNvSpPr>
          <p:nvPr>
            <p:ph type="sldNum" sz="quarter"/>
          </p:nvPr>
        </p:nvSpPr>
        <p:spPr>
          <a:xfrm>
            <a:off x="3851275" y="9431338"/>
            <a:ext cx="2946400" cy="496887"/>
          </a:xfrm>
          <a:prstGeom prst="rect">
            <a:avLst/>
          </a:prstGeom>
          <a:noFill/>
          <a:ln w="9525">
            <a:noFill/>
          </a:ln>
        </p:spPr>
        <p:txBody>
          <a:bodyPr vert="horz" wrap="square" lIns="91440" tIns="45720" rIns="91440" bIns="45720" anchor="b"/>
          <a:p>
            <a:pPr lvl="0" algn="r" eaLnBrk="1" hangingPunct="1"/>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66562" name="Rectangle 2"/>
          <p:cNvSpPr>
            <a:spLocks noGrp="1" noRot="1" noChangeAspect="1" noTextEdit="1"/>
          </p:cNvSpPr>
          <p:nvPr>
            <p:ph type="sldImg"/>
          </p:nvPr>
        </p:nvSpPr>
        <p:spPr/>
      </p:sp>
      <p:sp>
        <p:nvSpPr>
          <p:cNvPr id="66563" name="Rectangle 3"/>
          <p:cNvSpPr>
            <a:spLocks noGrp="1"/>
          </p:cNvSpPr>
          <p:nvPr>
            <p:ph type="body"/>
          </p:nvPr>
        </p:nvSpPr>
        <p:spPr/>
        <p:txBody>
          <a:bodyPr wrap="square" lIns="91440" tIns="45720" rIns="91440" bIns="45720" anchor="t"/>
          <a:p>
            <a:pPr lvl="0"/>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Rectangle 7"/>
          <p:cNvSpPr txBox="1">
            <a:spLocks noGrp="1"/>
          </p:cNvSpPr>
          <p:nvPr>
            <p:ph type="sldNum" sz="quarter"/>
          </p:nvPr>
        </p:nvSpPr>
        <p:spPr>
          <a:xfrm>
            <a:off x="3851275" y="9431338"/>
            <a:ext cx="2946400" cy="496887"/>
          </a:xfrm>
          <a:prstGeom prst="rect">
            <a:avLst/>
          </a:prstGeom>
          <a:noFill/>
          <a:ln w="9525">
            <a:noFill/>
          </a:ln>
        </p:spPr>
        <p:txBody>
          <a:bodyPr vert="horz" wrap="square" lIns="91440" tIns="45720" rIns="91440" bIns="45720" anchor="b"/>
          <a:p>
            <a:pPr lvl="0" algn="r" eaLnBrk="1" hangingPunct="1"/>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68610" name="Rectangle 2"/>
          <p:cNvSpPr>
            <a:spLocks noGrp="1" noRot="1" noChangeAspect="1" noTextEdit="1"/>
          </p:cNvSpPr>
          <p:nvPr>
            <p:ph type="sldImg"/>
          </p:nvPr>
        </p:nvSpPr>
        <p:spPr/>
      </p:sp>
      <p:sp>
        <p:nvSpPr>
          <p:cNvPr id="68611" name="Rectangle 3"/>
          <p:cNvSpPr>
            <a:spLocks noGrp="1"/>
          </p:cNvSpPr>
          <p:nvPr>
            <p:ph type="body"/>
          </p:nvPr>
        </p:nvSpPr>
        <p:spPr/>
        <p:txBody>
          <a:bodyPr wrap="square" lIns="91440" tIns="45720" rIns="91440" bIns="45720" anchor="t"/>
          <a:p>
            <a:pPr lvl="0"/>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Rectangle 7"/>
          <p:cNvSpPr txBox="1">
            <a:spLocks noGrp="1"/>
          </p:cNvSpPr>
          <p:nvPr>
            <p:ph type="sldNum" sz="quarter"/>
          </p:nvPr>
        </p:nvSpPr>
        <p:spPr>
          <a:xfrm>
            <a:off x="3851275" y="9431338"/>
            <a:ext cx="2946400" cy="496887"/>
          </a:xfrm>
          <a:prstGeom prst="rect">
            <a:avLst/>
          </a:prstGeom>
          <a:noFill/>
          <a:ln w="9525">
            <a:noFill/>
          </a:ln>
        </p:spPr>
        <p:txBody>
          <a:bodyPr vert="horz" wrap="square" lIns="91440" tIns="45720" rIns="91440" bIns="45720" anchor="b"/>
          <a:p>
            <a:pPr lvl="0" algn="r" eaLnBrk="1" hangingPunct="1"/>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70658" name="Rectangle 2"/>
          <p:cNvSpPr>
            <a:spLocks noGrp="1" noRot="1" noChangeAspect="1" noTextEdit="1"/>
          </p:cNvSpPr>
          <p:nvPr>
            <p:ph type="sldImg"/>
          </p:nvPr>
        </p:nvSpPr>
        <p:spPr/>
      </p:sp>
      <p:sp>
        <p:nvSpPr>
          <p:cNvPr id="70659" name="Rectangle 3"/>
          <p:cNvSpPr>
            <a:spLocks noGrp="1"/>
          </p:cNvSpPr>
          <p:nvPr>
            <p:ph type="body"/>
          </p:nvPr>
        </p:nvSpPr>
        <p:spPr/>
        <p:txBody>
          <a:bodyPr wrap="square" lIns="91440" tIns="45720" rIns="91440" bIns="45720" anchor="t"/>
          <a:p>
            <a:pPr lvl="0"/>
            <a:r>
              <a:rPr lang="zh-CN" altLang="zh-CN" dirty="0"/>
              <a:t>当用不同的机器数表示时，其范围</a:t>
            </a:r>
            <a:r>
              <a:rPr lang="zh-CN" altLang="zh-CN" dirty="0"/>
              <a:t>不同</a:t>
            </a:r>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Rectangle 7"/>
          <p:cNvSpPr txBox="1">
            <a:spLocks noGrp="1"/>
          </p:cNvSpPr>
          <p:nvPr>
            <p:ph type="sldNum" sz="quarter"/>
          </p:nvPr>
        </p:nvSpPr>
        <p:spPr>
          <a:xfrm>
            <a:off x="3851275" y="9431338"/>
            <a:ext cx="2946400" cy="496887"/>
          </a:xfrm>
          <a:prstGeom prst="rect">
            <a:avLst/>
          </a:prstGeom>
          <a:noFill/>
          <a:ln w="9525">
            <a:noFill/>
          </a:ln>
        </p:spPr>
        <p:txBody>
          <a:bodyPr vert="horz" wrap="square" lIns="91440" tIns="45720" rIns="91440" bIns="45720" anchor="b"/>
          <a:p>
            <a:pPr lvl="0" algn="r" eaLnBrk="1" hangingPunct="1"/>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70658" name="Rectangle 2"/>
          <p:cNvSpPr>
            <a:spLocks noGrp="1" noRot="1" noChangeAspect="1" noTextEdit="1"/>
          </p:cNvSpPr>
          <p:nvPr>
            <p:ph type="sldImg"/>
          </p:nvPr>
        </p:nvSpPr>
        <p:spPr/>
      </p:sp>
      <p:sp>
        <p:nvSpPr>
          <p:cNvPr id="70659" name="Rectangle 3"/>
          <p:cNvSpPr>
            <a:spLocks noGrp="1"/>
          </p:cNvSpPr>
          <p:nvPr>
            <p:ph type="body"/>
          </p:nvPr>
        </p:nvSpPr>
        <p:spPr/>
        <p:txBody>
          <a:bodyPr wrap="square" lIns="91440" tIns="45720" rIns="91440" bIns="45720" anchor="t"/>
          <a:p>
            <a:pPr lvl="0"/>
            <a:r>
              <a:rPr lang="zh-CN" altLang="zh-CN" dirty="0"/>
              <a:t>当用不同的机器数表示时，其范围</a:t>
            </a:r>
            <a:r>
              <a:rPr lang="zh-CN" altLang="zh-CN" dirty="0"/>
              <a:t>不同</a:t>
            </a:r>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Rectangle 7"/>
          <p:cNvSpPr txBox="1">
            <a:spLocks noGrp="1"/>
          </p:cNvSpPr>
          <p:nvPr>
            <p:ph type="sldNum" sz="quarter"/>
          </p:nvPr>
        </p:nvSpPr>
        <p:spPr>
          <a:xfrm>
            <a:off x="3851275" y="9431338"/>
            <a:ext cx="2946400" cy="496887"/>
          </a:xfrm>
          <a:prstGeom prst="rect">
            <a:avLst/>
          </a:prstGeom>
          <a:noFill/>
          <a:ln w="9525">
            <a:noFill/>
          </a:ln>
        </p:spPr>
        <p:txBody>
          <a:bodyPr vert="horz" wrap="square" lIns="91440" tIns="45720" rIns="91440" bIns="45720" anchor="b"/>
          <a:p>
            <a:pPr lvl="0" algn="r" eaLnBrk="1" hangingPunct="1"/>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72706" name="Rectangle 2"/>
          <p:cNvSpPr>
            <a:spLocks noGrp="1" noRot="1" noChangeAspect="1" noTextEdit="1"/>
          </p:cNvSpPr>
          <p:nvPr>
            <p:ph type="sldImg"/>
          </p:nvPr>
        </p:nvSpPr>
        <p:spPr/>
      </p:sp>
      <p:sp>
        <p:nvSpPr>
          <p:cNvPr id="72707" name="Rectangle 3"/>
          <p:cNvSpPr>
            <a:spLocks noGrp="1"/>
          </p:cNvSpPr>
          <p:nvPr>
            <p:ph type="body"/>
          </p:nvPr>
        </p:nvSpPr>
        <p:spPr/>
        <p:txBody>
          <a:bodyPr wrap="square" lIns="91440" tIns="45720" rIns="91440" bIns="45720" anchor="t"/>
          <a:p>
            <a:pPr lvl="0"/>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Rectangle 7"/>
          <p:cNvSpPr txBox="1">
            <a:spLocks noGrp="1"/>
          </p:cNvSpPr>
          <p:nvPr>
            <p:ph type="sldNum" sz="quarter"/>
          </p:nvPr>
        </p:nvSpPr>
        <p:spPr>
          <a:xfrm>
            <a:off x="3851275" y="9431338"/>
            <a:ext cx="2946400" cy="496887"/>
          </a:xfrm>
          <a:prstGeom prst="rect">
            <a:avLst/>
          </a:prstGeom>
          <a:noFill/>
          <a:ln w="9525">
            <a:noFill/>
          </a:ln>
        </p:spPr>
        <p:txBody>
          <a:bodyPr vert="horz" wrap="square" lIns="91440" tIns="45720" rIns="91440" bIns="45720" anchor="b"/>
          <a:p>
            <a:pPr lvl="0" algn="r" eaLnBrk="1" hangingPunct="1"/>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74754" name="Rectangle 2"/>
          <p:cNvSpPr>
            <a:spLocks noGrp="1" noRot="1" noChangeAspect="1" noTextEdit="1"/>
          </p:cNvSpPr>
          <p:nvPr>
            <p:ph type="sldImg"/>
          </p:nvPr>
        </p:nvSpPr>
        <p:spPr/>
      </p:sp>
      <p:sp>
        <p:nvSpPr>
          <p:cNvPr id="74755" name="Rectangle 3"/>
          <p:cNvSpPr>
            <a:spLocks noGrp="1"/>
          </p:cNvSpPr>
          <p:nvPr>
            <p:ph type="body"/>
          </p:nvPr>
        </p:nvSpPr>
        <p:spPr/>
        <p:txBody>
          <a:bodyPr wrap="square" lIns="91440" tIns="45720" rIns="91440" bIns="45720" anchor="t"/>
          <a:p>
            <a:pPr lvl="0"/>
            <a:endParaRPr lang="zh-CN"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Rectangle 7"/>
          <p:cNvSpPr txBox="1">
            <a:spLocks noGrp="1"/>
          </p:cNvSpPr>
          <p:nvPr>
            <p:ph type="sldNum" sz="quarter"/>
          </p:nvPr>
        </p:nvSpPr>
        <p:spPr>
          <a:xfrm>
            <a:off x="3851275" y="9431338"/>
            <a:ext cx="2946400" cy="496887"/>
          </a:xfrm>
          <a:prstGeom prst="rect">
            <a:avLst/>
          </a:prstGeom>
          <a:noFill/>
          <a:ln w="9525">
            <a:noFill/>
          </a:ln>
        </p:spPr>
        <p:txBody>
          <a:bodyPr vert="horz" wrap="square" lIns="91440" tIns="45720" rIns="91440" bIns="45720" anchor="b"/>
          <a:p>
            <a:pPr lvl="0" algn="r" eaLnBrk="1" hangingPunct="1"/>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76802" name="Rectangle 2"/>
          <p:cNvSpPr>
            <a:spLocks noGrp="1" noRot="1" noChangeAspect="1" noTextEdit="1"/>
          </p:cNvSpPr>
          <p:nvPr>
            <p:ph type="sldImg"/>
          </p:nvPr>
        </p:nvSpPr>
        <p:spPr/>
      </p:sp>
      <p:sp>
        <p:nvSpPr>
          <p:cNvPr id="76803" name="Rectangle 3"/>
          <p:cNvSpPr>
            <a:spLocks noGrp="1"/>
          </p:cNvSpPr>
          <p:nvPr>
            <p:ph type="body"/>
          </p:nvPr>
        </p:nvSpPr>
        <p:spPr/>
        <p:txBody>
          <a:bodyPr wrap="square" lIns="91440" tIns="45720" rIns="91440" bIns="45720" anchor="t"/>
          <a:p>
            <a:pPr lvl="0"/>
            <a:endParaRPr lang="zh-CN"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Rectangle 7"/>
          <p:cNvSpPr txBox="1">
            <a:spLocks noGrp="1"/>
          </p:cNvSpPr>
          <p:nvPr>
            <p:ph type="sldNum" sz="quarter"/>
          </p:nvPr>
        </p:nvSpPr>
        <p:spPr>
          <a:xfrm>
            <a:off x="3851275" y="9431338"/>
            <a:ext cx="2946400" cy="496887"/>
          </a:xfrm>
          <a:prstGeom prst="rect">
            <a:avLst/>
          </a:prstGeom>
          <a:noFill/>
          <a:ln w="9525">
            <a:noFill/>
          </a:ln>
        </p:spPr>
        <p:txBody>
          <a:bodyPr vert="horz" wrap="square" lIns="91440" tIns="45720" rIns="91440" bIns="45720" anchor="b"/>
          <a:p>
            <a:pPr lvl="0" algn="r" eaLnBrk="1" hangingPunct="1"/>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78850" name="Rectangle 2"/>
          <p:cNvSpPr>
            <a:spLocks noGrp="1" noRot="1" noChangeAspect="1" noTextEdit="1"/>
          </p:cNvSpPr>
          <p:nvPr>
            <p:ph type="sldImg"/>
          </p:nvPr>
        </p:nvSpPr>
        <p:spPr/>
      </p:sp>
      <p:sp>
        <p:nvSpPr>
          <p:cNvPr id="78851" name="Rectangle 3"/>
          <p:cNvSpPr>
            <a:spLocks noGrp="1"/>
          </p:cNvSpPr>
          <p:nvPr>
            <p:ph type="body"/>
          </p:nvPr>
        </p:nvSpPr>
        <p:spPr/>
        <p:txBody>
          <a:bodyPr wrap="square" lIns="91440" tIns="45720" rIns="91440" bIns="45720" anchor="t"/>
          <a:p>
            <a:pPr lvl="0"/>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Rectangle 7"/>
          <p:cNvSpPr txBox="1">
            <a:spLocks noGrp="1"/>
          </p:cNvSpPr>
          <p:nvPr>
            <p:ph type="sldNum" sz="quarter"/>
          </p:nvPr>
        </p:nvSpPr>
        <p:spPr>
          <a:xfrm>
            <a:off x="3851275" y="9431338"/>
            <a:ext cx="2946400" cy="496887"/>
          </a:xfrm>
          <a:prstGeom prst="rect">
            <a:avLst/>
          </a:prstGeom>
          <a:noFill/>
          <a:ln w="9525">
            <a:noFill/>
          </a:ln>
        </p:spPr>
        <p:txBody>
          <a:bodyPr vert="horz" wrap="square" lIns="91440" tIns="45720" rIns="91440" bIns="45720" anchor="b"/>
          <a:p>
            <a:pPr lvl="0" algn="r" eaLnBrk="1" hangingPunct="1"/>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80898" name="Rectangle 2"/>
          <p:cNvSpPr>
            <a:spLocks noGrp="1" noRot="1" noChangeAspect="1" noTextEdit="1"/>
          </p:cNvSpPr>
          <p:nvPr>
            <p:ph type="sldImg"/>
          </p:nvPr>
        </p:nvSpPr>
        <p:spPr/>
      </p:sp>
      <p:sp>
        <p:nvSpPr>
          <p:cNvPr id="80899" name="Rectangle 3"/>
          <p:cNvSpPr>
            <a:spLocks noGrp="1"/>
          </p:cNvSpPr>
          <p:nvPr>
            <p:ph type="body"/>
          </p:nvPr>
        </p:nvSpPr>
        <p:spPr/>
        <p:txBody>
          <a:bodyPr wrap="square" lIns="91440" tIns="45720" rIns="91440" bIns="45720" anchor="t"/>
          <a:p>
            <a:pPr lvl="0"/>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Rectangle 7"/>
          <p:cNvSpPr txBox="1">
            <a:spLocks noGrp="1"/>
          </p:cNvSpPr>
          <p:nvPr>
            <p:ph type="sldNum" sz="quarter"/>
          </p:nvPr>
        </p:nvSpPr>
        <p:spPr>
          <a:xfrm>
            <a:off x="3851275" y="9431338"/>
            <a:ext cx="2946400" cy="496887"/>
          </a:xfrm>
          <a:prstGeom prst="rect">
            <a:avLst/>
          </a:prstGeom>
          <a:noFill/>
          <a:ln w="9525">
            <a:noFill/>
          </a:ln>
        </p:spPr>
        <p:txBody>
          <a:bodyPr vert="horz" wrap="square" lIns="91440" tIns="45720" rIns="91440" bIns="45720" anchor="b"/>
          <a:p>
            <a:pPr lvl="0" algn="r" eaLnBrk="1" hangingPunct="1"/>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82946" name="Rectangle 2"/>
          <p:cNvSpPr>
            <a:spLocks noGrp="1" noRot="1" noChangeAspect="1" noTextEdit="1"/>
          </p:cNvSpPr>
          <p:nvPr>
            <p:ph type="sldImg"/>
          </p:nvPr>
        </p:nvSpPr>
        <p:spPr/>
      </p:sp>
      <p:sp>
        <p:nvSpPr>
          <p:cNvPr id="82947" name="Rectangle 3"/>
          <p:cNvSpPr>
            <a:spLocks noGrp="1"/>
          </p:cNvSpPr>
          <p:nvPr>
            <p:ph type="body"/>
          </p:nvPr>
        </p:nvSpPr>
        <p:spPr/>
        <p:txBody>
          <a:bodyPr wrap="square" lIns="91440" tIns="45720" rIns="91440" bIns="45720" anchor="t"/>
          <a:p>
            <a:pPr lvl="0"/>
            <a:endParaRPr lang="zh-CN"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Rectangle 7"/>
          <p:cNvSpPr txBox="1">
            <a:spLocks noGrp="1"/>
          </p:cNvSpPr>
          <p:nvPr>
            <p:ph type="sldNum" sz="quarter"/>
          </p:nvPr>
        </p:nvSpPr>
        <p:spPr>
          <a:xfrm>
            <a:off x="3851275" y="9431338"/>
            <a:ext cx="2946400" cy="496887"/>
          </a:xfrm>
          <a:prstGeom prst="rect">
            <a:avLst/>
          </a:prstGeom>
          <a:noFill/>
          <a:ln w="9525">
            <a:noFill/>
          </a:ln>
        </p:spPr>
        <p:txBody>
          <a:bodyPr vert="horz" wrap="square" lIns="91440" tIns="45720" rIns="91440" bIns="45720" anchor="b"/>
          <a:p>
            <a:pPr lvl="0" algn="r" eaLnBrk="1" hangingPunct="1"/>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84994" name="Rectangle 2"/>
          <p:cNvSpPr>
            <a:spLocks noGrp="1" noRot="1" noChangeAspect="1" noTextEdit="1"/>
          </p:cNvSpPr>
          <p:nvPr>
            <p:ph type="sldImg"/>
          </p:nvPr>
        </p:nvSpPr>
        <p:spPr/>
      </p:sp>
      <p:sp>
        <p:nvSpPr>
          <p:cNvPr id="84995" name="Rectangle 3"/>
          <p:cNvSpPr>
            <a:spLocks noGrp="1"/>
          </p:cNvSpPr>
          <p:nvPr>
            <p:ph type="body"/>
          </p:nvPr>
        </p:nvSpPr>
        <p:spPr/>
        <p:txBody>
          <a:bodyPr wrap="square" lIns="91440" tIns="45720" rIns="91440" bIns="45720" anchor="t"/>
          <a:p>
            <a:pPr lvl="0"/>
            <a:endParaRPr lang="zh-CN"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Rectangle 7"/>
          <p:cNvSpPr txBox="1">
            <a:spLocks noGrp="1"/>
          </p:cNvSpPr>
          <p:nvPr>
            <p:ph type="sldNum" sz="quarter"/>
          </p:nvPr>
        </p:nvSpPr>
        <p:spPr>
          <a:xfrm>
            <a:off x="3851275" y="9431338"/>
            <a:ext cx="2946400" cy="496887"/>
          </a:xfrm>
          <a:prstGeom prst="rect">
            <a:avLst/>
          </a:prstGeom>
          <a:noFill/>
          <a:ln w="9525">
            <a:noFill/>
          </a:ln>
        </p:spPr>
        <p:txBody>
          <a:bodyPr vert="horz" wrap="square" lIns="91440" tIns="45720" rIns="91440" bIns="45720" anchor="b"/>
          <a:p>
            <a:pPr lvl="0" algn="r" eaLnBrk="1" hangingPunct="1"/>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87042" name="Rectangle 2"/>
          <p:cNvSpPr>
            <a:spLocks noGrp="1" noRot="1" noChangeAspect="1" noTextEdit="1"/>
          </p:cNvSpPr>
          <p:nvPr>
            <p:ph type="sldImg"/>
          </p:nvPr>
        </p:nvSpPr>
        <p:spPr/>
      </p:sp>
      <p:sp>
        <p:nvSpPr>
          <p:cNvPr id="87043" name="Rectangle 3"/>
          <p:cNvSpPr>
            <a:spLocks noGrp="1"/>
          </p:cNvSpPr>
          <p:nvPr>
            <p:ph type="body"/>
          </p:nvPr>
        </p:nvSpPr>
        <p:spPr/>
        <p:txBody>
          <a:bodyPr wrap="square" lIns="91440" tIns="45720" rIns="91440" bIns="45720" anchor="t"/>
          <a:p>
            <a:pPr lvl="0"/>
            <a:endParaRPr lang="zh-CN"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Rectangle 7"/>
          <p:cNvSpPr txBox="1">
            <a:spLocks noGrp="1"/>
          </p:cNvSpPr>
          <p:nvPr>
            <p:ph type="sldNum" sz="quarter"/>
          </p:nvPr>
        </p:nvSpPr>
        <p:spPr>
          <a:xfrm>
            <a:off x="3851275" y="9431338"/>
            <a:ext cx="2946400" cy="496887"/>
          </a:xfrm>
          <a:prstGeom prst="rect">
            <a:avLst/>
          </a:prstGeom>
          <a:noFill/>
          <a:ln w="9525">
            <a:noFill/>
          </a:ln>
        </p:spPr>
        <p:txBody>
          <a:bodyPr vert="horz" wrap="square" lIns="91440" tIns="45720" rIns="91440" bIns="45720" anchor="b"/>
          <a:p>
            <a:pPr lvl="0" algn="r" eaLnBrk="1" hangingPunct="1"/>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89090" name="Rectangle 2"/>
          <p:cNvSpPr>
            <a:spLocks noGrp="1" noRot="1" noChangeAspect="1" noTextEdit="1"/>
          </p:cNvSpPr>
          <p:nvPr>
            <p:ph type="sldImg"/>
          </p:nvPr>
        </p:nvSpPr>
        <p:spPr/>
      </p:sp>
      <p:sp>
        <p:nvSpPr>
          <p:cNvPr id="89091" name="Rectangle 3"/>
          <p:cNvSpPr>
            <a:spLocks noGrp="1"/>
          </p:cNvSpPr>
          <p:nvPr>
            <p:ph type="body"/>
          </p:nvPr>
        </p:nvSpPr>
        <p:spPr/>
        <p:txBody>
          <a:bodyPr wrap="square" lIns="91440" tIns="45720" rIns="91440" bIns="45720" anchor="t"/>
          <a:p>
            <a:pPr lvl="0"/>
            <a:endParaRPr lang="zh-CN"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Rectangle 7"/>
          <p:cNvSpPr txBox="1">
            <a:spLocks noGrp="1"/>
          </p:cNvSpPr>
          <p:nvPr>
            <p:ph type="sldNum" sz="quarter"/>
          </p:nvPr>
        </p:nvSpPr>
        <p:spPr>
          <a:xfrm>
            <a:off x="3851275" y="9431338"/>
            <a:ext cx="2946400" cy="496887"/>
          </a:xfrm>
          <a:prstGeom prst="rect">
            <a:avLst/>
          </a:prstGeom>
          <a:noFill/>
          <a:ln w="9525">
            <a:noFill/>
          </a:ln>
        </p:spPr>
        <p:txBody>
          <a:bodyPr vert="horz" wrap="square" lIns="91440" tIns="45720" rIns="91440" bIns="45720" anchor="b"/>
          <a:p>
            <a:pPr lvl="0" algn="r" eaLnBrk="1" hangingPunct="1"/>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89090" name="Rectangle 2"/>
          <p:cNvSpPr>
            <a:spLocks noGrp="1" noRot="1" noChangeAspect="1" noTextEdit="1"/>
          </p:cNvSpPr>
          <p:nvPr>
            <p:ph type="sldImg"/>
          </p:nvPr>
        </p:nvSpPr>
        <p:spPr/>
      </p:sp>
      <p:sp>
        <p:nvSpPr>
          <p:cNvPr id="89091" name="Rectangle 3"/>
          <p:cNvSpPr>
            <a:spLocks noGrp="1"/>
          </p:cNvSpPr>
          <p:nvPr>
            <p:ph type="body"/>
          </p:nvPr>
        </p:nvSpPr>
        <p:spPr/>
        <p:txBody>
          <a:bodyPr wrap="square" lIns="91440" tIns="45720" rIns="91440" bIns="45720" anchor="t"/>
          <a:p>
            <a:pPr lvl="0"/>
            <a:endParaRPr lang="zh-CN"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Rectangle 7"/>
          <p:cNvSpPr txBox="1">
            <a:spLocks noGrp="1"/>
          </p:cNvSpPr>
          <p:nvPr>
            <p:ph type="sldNum" sz="quarter"/>
          </p:nvPr>
        </p:nvSpPr>
        <p:spPr>
          <a:xfrm>
            <a:off x="3851275" y="9431338"/>
            <a:ext cx="2946400" cy="496887"/>
          </a:xfrm>
          <a:prstGeom prst="rect">
            <a:avLst/>
          </a:prstGeom>
          <a:noFill/>
          <a:ln w="9525">
            <a:noFill/>
          </a:ln>
        </p:spPr>
        <p:txBody>
          <a:bodyPr vert="horz" wrap="square" lIns="91440" tIns="45720" rIns="91440" bIns="45720" anchor="b"/>
          <a:p>
            <a:pPr lvl="0" algn="r" eaLnBrk="1" hangingPunct="1"/>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94210" name="Rectangle 2"/>
          <p:cNvSpPr>
            <a:spLocks noGrp="1" noRot="1" noChangeAspect="1" noTextEdit="1"/>
          </p:cNvSpPr>
          <p:nvPr>
            <p:ph type="sldImg"/>
          </p:nvPr>
        </p:nvSpPr>
        <p:spPr/>
      </p:sp>
      <p:sp>
        <p:nvSpPr>
          <p:cNvPr id="94211" name="Rectangle 3"/>
          <p:cNvSpPr>
            <a:spLocks noGrp="1"/>
          </p:cNvSpPr>
          <p:nvPr>
            <p:ph type="body"/>
          </p:nvPr>
        </p:nvSpPr>
        <p:spPr/>
        <p:txBody>
          <a:bodyPr wrap="square" lIns="91440" tIns="45720" rIns="91440" bIns="45720" anchor="t"/>
          <a:p>
            <a:pPr lvl="0"/>
            <a:endParaRPr lang="zh-CN"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Rectangle 7"/>
          <p:cNvSpPr txBox="1">
            <a:spLocks noGrp="1"/>
          </p:cNvSpPr>
          <p:nvPr>
            <p:ph type="sldNum" sz="quarter"/>
          </p:nvPr>
        </p:nvSpPr>
        <p:spPr>
          <a:xfrm>
            <a:off x="3851275" y="9431338"/>
            <a:ext cx="2946400" cy="496887"/>
          </a:xfrm>
          <a:prstGeom prst="rect">
            <a:avLst/>
          </a:prstGeom>
          <a:noFill/>
          <a:ln w="9525">
            <a:noFill/>
          </a:ln>
        </p:spPr>
        <p:txBody>
          <a:bodyPr vert="horz" wrap="square" lIns="91440" tIns="45720" rIns="91440" bIns="45720" anchor="b"/>
          <a:p>
            <a:pPr lvl="0" algn="r" eaLnBrk="1" hangingPunct="1"/>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97282" name="Rectangle 2"/>
          <p:cNvSpPr>
            <a:spLocks noGrp="1" noRot="1" noChangeAspect="1" noTextEdit="1"/>
          </p:cNvSpPr>
          <p:nvPr>
            <p:ph type="sldImg"/>
          </p:nvPr>
        </p:nvSpPr>
        <p:spPr/>
      </p:sp>
      <p:sp>
        <p:nvSpPr>
          <p:cNvPr id="97283" name="Rectangle 3"/>
          <p:cNvSpPr>
            <a:spLocks noGrp="1"/>
          </p:cNvSpPr>
          <p:nvPr>
            <p:ph type="body"/>
          </p:nvPr>
        </p:nvSpPr>
        <p:spPr/>
        <p:txBody>
          <a:bodyPr wrap="square" lIns="91440" tIns="45720" rIns="91440" bIns="45720" anchor="t"/>
          <a:p>
            <a:pPr lvl="0"/>
            <a:endParaRPr lang="zh-CN" altLang="zh-CN"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1" name="Rectangle 7"/>
          <p:cNvSpPr txBox="1">
            <a:spLocks noGrp="1"/>
          </p:cNvSpPr>
          <p:nvPr>
            <p:ph type="sldNum" sz="quarter"/>
          </p:nvPr>
        </p:nvSpPr>
        <p:spPr>
          <a:xfrm>
            <a:off x="3851275" y="9431338"/>
            <a:ext cx="2946400" cy="496887"/>
          </a:xfrm>
          <a:prstGeom prst="rect">
            <a:avLst/>
          </a:prstGeom>
          <a:noFill/>
          <a:ln w="9525">
            <a:noFill/>
          </a:ln>
        </p:spPr>
        <p:txBody>
          <a:bodyPr vert="horz" wrap="square" lIns="91440" tIns="45720" rIns="91440" bIns="45720" anchor="b"/>
          <a:p>
            <a:pPr lvl="0" algn="r" eaLnBrk="1" hangingPunct="1"/>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117762" name="Rectangle 2"/>
          <p:cNvSpPr>
            <a:spLocks noGrp="1" noRot="1" noChangeAspect="1" noTextEdit="1"/>
          </p:cNvSpPr>
          <p:nvPr>
            <p:ph type="sldImg"/>
          </p:nvPr>
        </p:nvSpPr>
        <p:spPr/>
      </p:sp>
      <p:sp>
        <p:nvSpPr>
          <p:cNvPr id="117763" name="Rectangle 3"/>
          <p:cNvSpPr>
            <a:spLocks noGrp="1"/>
          </p:cNvSpPr>
          <p:nvPr>
            <p:ph type="body"/>
          </p:nvPr>
        </p:nvSpPr>
        <p:spPr/>
        <p:txBody>
          <a:bodyPr wrap="square" lIns="91440" tIns="45720" rIns="91440" bIns="45720" anchor="t"/>
          <a:p>
            <a:pPr lvl="0"/>
            <a:endParaRPr lang="zh-CN" alt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09" name="Rectangle 7"/>
          <p:cNvSpPr txBox="1">
            <a:spLocks noGrp="1"/>
          </p:cNvSpPr>
          <p:nvPr>
            <p:ph type="sldNum" sz="quarter"/>
          </p:nvPr>
        </p:nvSpPr>
        <p:spPr>
          <a:xfrm>
            <a:off x="3851275" y="9431338"/>
            <a:ext cx="2946400" cy="496887"/>
          </a:xfrm>
          <a:prstGeom prst="rect">
            <a:avLst/>
          </a:prstGeom>
          <a:noFill/>
          <a:ln w="9525">
            <a:noFill/>
          </a:ln>
        </p:spPr>
        <p:txBody>
          <a:bodyPr vert="horz" wrap="square" lIns="91440" tIns="45720" rIns="91440" bIns="45720" anchor="b"/>
          <a:p>
            <a:pPr lvl="0" algn="r" eaLnBrk="1" hangingPunct="1"/>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119810" name="Rectangle 2"/>
          <p:cNvSpPr>
            <a:spLocks noGrp="1" noRot="1" noChangeAspect="1" noTextEdit="1"/>
          </p:cNvSpPr>
          <p:nvPr>
            <p:ph type="sldImg"/>
          </p:nvPr>
        </p:nvSpPr>
        <p:spPr/>
      </p:sp>
      <p:sp>
        <p:nvSpPr>
          <p:cNvPr id="119811" name="Rectangle 3"/>
          <p:cNvSpPr>
            <a:spLocks noGrp="1"/>
          </p:cNvSpPr>
          <p:nvPr>
            <p:ph type="body"/>
          </p:nvPr>
        </p:nvSpPr>
        <p:spPr/>
        <p:txBody>
          <a:bodyPr wrap="square" lIns="91440" tIns="45720" rIns="91440" bIns="45720" anchor="t"/>
          <a:p>
            <a:pPr lvl="0"/>
            <a:endParaRPr lang="zh-CN" alt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7" name="Rectangle 7"/>
          <p:cNvSpPr txBox="1">
            <a:spLocks noGrp="1"/>
          </p:cNvSpPr>
          <p:nvPr>
            <p:ph type="sldNum" sz="quarter"/>
          </p:nvPr>
        </p:nvSpPr>
        <p:spPr>
          <a:xfrm>
            <a:off x="3851275" y="9431338"/>
            <a:ext cx="2946400" cy="496887"/>
          </a:xfrm>
          <a:prstGeom prst="rect">
            <a:avLst/>
          </a:prstGeom>
          <a:noFill/>
          <a:ln w="9525">
            <a:noFill/>
          </a:ln>
        </p:spPr>
        <p:txBody>
          <a:bodyPr vert="horz" wrap="square" lIns="91440" tIns="45720" rIns="91440" bIns="45720" anchor="b"/>
          <a:p>
            <a:pPr lvl="0" algn="r" eaLnBrk="1" hangingPunct="1"/>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121858" name="Rectangle 2"/>
          <p:cNvSpPr>
            <a:spLocks noGrp="1" noRot="1" noChangeAspect="1" noTextEdit="1"/>
          </p:cNvSpPr>
          <p:nvPr>
            <p:ph type="sldImg"/>
          </p:nvPr>
        </p:nvSpPr>
        <p:spPr/>
      </p:sp>
      <p:sp>
        <p:nvSpPr>
          <p:cNvPr id="121859" name="Rectangle 3"/>
          <p:cNvSpPr>
            <a:spLocks noGrp="1"/>
          </p:cNvSpPr>
          <p:nvPr>
            <p:ph type="body"/>
          </p:nvPr>
        </p:nvSpPr>
        <p:spPr/>
        <p:txBody>
          <a:bodyPr wrap="square" lIns="91440" tIns="45720" rIns="91440" bIns="45720" anchor="t"/>
          <a:p>
            <a:pPr lvl="0"/>
            <a:endParaRPr lang="zh-CN" altLang="zh-CN"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5" name="Rectangle 7"/>
          <p:cNvSpPr txBox="1">
            <a:spLocks noGrp="1"/>
          </p:cNvSpPr>
          <p:nvPr>
            <p:ph type="sldNum" sz="quarter"/>
          </p:nvPr>
        </p:nvSpPr>
        <p:spPr>
          <a:xfrm>
            <a:off x="3851275" y="9431338"/>
            <a:ext cx="2946400" cy="496887"/>
          </a:xfrm>
          <a:prstGeom prst="rect">
            <a:avLst/>
          </a:prstGeom>
          <a:noFill/>
          <a:ln w="9525">
            <a:noFill/>
          </a:ln>
        </p:spPr>
        <p:txBody>
          <a:bodyPr vert="horz" wrap="square" lIns="91440" tIns="45720" rIns="91440" bIns="45720" anchor="b"/>
          <a:p>
            <a:pPr lvl="0" algn="r" eaLnBrk="1" hangingPunct="1"/>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123906" name="Rectangle 2"/>
          <p:cNvSpPr>
            <a:spLocks noGrp="1" noRot="1" noChangeAspect="1" noTextEdit="1"/>
          </p:cNvSpPr>
          <p:nvPr>
            <p:ph type="sldImg"/>
          </p:nvPr>
        </p:nvSpPr>
        <p:spPr/>
      </p:sp>
      <p:sp>
        <p:nvSpPr>
          <p:cNvPr id="123907" name="Rectangle 3"/>
          <p:cNvSpPr>
            <a:spLocks noGrp="1"/>
          </p:cNvSpPr>
          <p:nvPr>
            <p:ph type="body"/>
          </p:nvPr>
        </p:nvSpPr>
        <p:spPr/>
        <p:txBody>
          <a:bodyPr wrap="square" lIns="91440" tIns="45720" rIns="91440" bIns="45720" anchor="t"/>
          <a:p>
            <a:pPr lvl="0"/>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charset="-122"/>
              </a:defRPr>
            </a:lvl1pPr>
          </a:lstStyle>
          <a:p>
            <a:pPr fontAlgn="base"/>
            <a:r>
              <a:rPr lang="zh-CN" altLang="en-US" strike="noStrike" noProof="1"/>
              <a:t>单击此处编辑母版标题样式</a:t>
            </a:r>
            <a:endParaRPr lang="en-US" strike="noStrike" noProof="1"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charset="-122"/>
              </a:defRPr>
            </a:lvl1pPr>
            <a:lvl2pPr>
              <a:lnSpc>
                <a:spcPct val="90000"/>
              </a:lnSpc>
              <a:defRPr>
                <a:ea typeface="华文中宋" panose="02010600040101010101" charset="-122"/>
              </a:defRPr>
            </a:lvl2pPr>
            <a:lvl3pPr>
              <a:lnSpc>
                <a:spcPct val="90000"/>
              </a:lnSpc>
              <a:defRPr>
                <a:ea typeface="华文中宋" panose="02010600040101010101" charset="-122"/>
              </a:defRPr>
            </a:lvl3pPr>
            <a:lvl4pPr>
              <a:lnSpc>
                <a:spcPct val="90000"/>
              </a:lnSpc>
              <a:defRPr>
                <a:ea typeface="华文中宋" panose="02010600040101010101" charset="-122"/>
              </a:defRPr>
            </a:lvl4pPr>
            <a:lvl5pPr>
              <a:lnSpc>
                <a:spcPct val="90000"/>
              </a:lnSpc>
              <a:defRPr>
                <a:ea typeface="华文中宋" panose="02010600040101010101" charset="-122"/>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dirty="0"/>
          </a:p>
        </p:txBody>
      </p:sp>
    </p:spTree>
  </p:cSld>
  <p:clrMapOvr>
    <a:masterClrMapping/>
  </p:clrMapOvr>
  <p:transition>
    <p:fade/>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F5E3FBC7-29EA-4E83-BBF9-92A3E3C7E277}"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F5E3FBC7-29EA-4E83-BBF9-92A3E3C7E277}"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F5E3FBC7-29EA-4E83-BBF9-92A3E3C7E277}"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F5E3FBC7-29EA-4E83-BBF9-92A3E3C7E277}"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9" name="灯片编号占位符 8"/>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F5E3FBC7-29EA-4E83-BBF9-92A3E3C7E277}"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5" name="灯片编号占位符 4"/>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F5E3FBC7-29EA-4E83-BBF9-92A3E3C7E277}"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4" name="灯片编号占位符 3"/>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F5E3FBC7-29EA-4E83-BBF9-92A3E3C7E277}"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F5E3FBC7-29EA-4E83-BBF9-92A3E3C7E277}"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F5E3FBC7-29EA-4E83-BBF9-92A3E3C7E277}"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F5E3FBC7-29EA-4E83-BBF9-92A3E3C7E277}"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7150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533400"/>
            <a:ext cx="6019800" cy="57150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F5E3FBC7-29EA-4E83-BBF9-92A3E3C7E277}"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charset="-122"/>
              </a:defRPr>
            </a:lvl1pPr>
          </a:lstStyle>
          <a:p>
            <a:pPr fontAlgn="base"/>
            <a:r>
              <a:rPr lang="zh-CN" altLang="en-US" strike="noStrike" noProof="1"/>
              <a:t>单击此处编辑母版标题样式</a:t>
            </a:r>
            <a:endParaRPr lang="en-US" strike="noStrike" noProof="1"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charset="-122"/>
              </a:defRPr>
            </a:lvl1pPr>
            <a:lvl2pPr>
              <a:lnSpc>
                <a:spcPct val="90000"/>
              </a:lnSpc>
              <a:defRPr>
                <a:ea typeface="华文中宋" panose="02010600040101010101" charset="-122"/>
              </a:defRPr>
            </a:lvl2pPr>
            <a:lvl3pPr>
              <a:lnSpc>
                <a:spcPct val="90000"/>
              </a:lnSpc>
              <a:defRPr>
                <a:ea typeface="华文中宋" panose="02010600040101010101" charset="-122"/>
              </a:defRPr>
            </a:lvl3pPr>
            <a:lvl4pPr>
              <a:lnSpc>
                <a:spcPct val="90000"/>
              </a:lnSpc>
              <a:defRPr>
                <a:ea typeface="华文中宋" panose="02010600040101010101" charset="-122"/>
              </a:defRPr>
            </a:lvl4pPr>
            <a:lvl5pPr>
              <a:lnSpc>
                <a:spcPct val="90000"/>
              </a:lnSpc>
              <a:defRPr>
                <a:ea typeface="华文中宋" panose="02010600040101010101" charset="-122"/>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dirty="0"/>
          </a:p>
        </p:txBody>
      </p:sp>
    </p:spTree>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charset="-122"/>
              </a:defRPr>
            </a:lvl1pPr>
          </a:lstStyle>
          <a:p>
            <a:pPr fontAlgn="base"/>
            <a:r>
              <a:rPr lang="zh-CN" altLang="en-US" strike="noStrike" noProof="1"/>
              <a:t>单击此处编辑母版标题样式</a:t>
            </a:r>
            <a:endParaRPr lang="en-US" strike="noStrike" noProof="1"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charset="-122"/>
              </a:defRPr>
            </a:lvl1pPr>
            <a:lvl2pPr>
              <a:lnSpc>
                <a:spcPct val="90000"/>
              </a:lnSpc>
              <a:defRPr>
                <a:ea typeface="华文中宋" panose="02010600040101010101" charset="-122"/>
              </a:defRPr>
            </a:lvl2pPr>
            <a:lvl3pPr>
              <a:lnSpc>
                <a:spcPct val="90000"/>
              </a:lnSpc>
              <a:defRPr>
                <a:ea typeface="华文中宋" panose="02010600040101010101" charset="-122"/>
              </a:defRPr>
            </a:lvl3pPr>
            <a:lvl4pPr>
              <a:lnSpc>
                <a:spcPct val="90000"/>
              </a:lnSpc>
              <a:defRPr>
                <a:ea typeface="华文中宋" panose="02010600040101010101" charset="-122"/>
              </a:defRPr>
            </a:lvl4pPr>
            <a:lvl5pPr>
              <a:lnSpc>
                <a:spcPct val="90000"/>
              </a:lnSpc>
              <a:defRPr>
                <a:ea typeface="华文中宋" panose="02010600040101010101" charset="-122"/>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dirty="0"/>
          </a:p>
        </p:txBody>
      </p:sp>
    </p:spTree>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charset="-122"/>
              </a:defRPr>
            </a:lvl1pPr>
          </a:lstStyle>
          <a:p>
            <a:pPr fontAlgn="base"/>
            <a:r>
              <a:rPr lang="zh-CN" altLang="en-US" strike="noStrike" noProof="1"/>
              <a:t>单击此处编辑母版标题样式</a:t>
            </a:r>
            <a:endParaRPr lang="en-US" strike="noStrike" noProof="1"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charset="-122"/>
              </a:defRPr>
            </a:lvl1pPr>
            <a:lvl2pPr>
              <a:lnSpc>
                <a:spcPct val="90000"/>
              </a:lnSpc>
              <a:defRPr>
                <a:ea typeface="华文中宋" panose="02010600040101010101" charset="-122"/>
              </a:defRPr>
            </a:lvl2pPr>
            <a:lvl3pPr>
              <a:lnSpc>
                <a:spcPct val="90000"/>
              </a:lnSpc>
              <a:defRPr>
                <a:ea typeface="华文中宋" panose="02010600040101010101" charset="-122"/>
              </a:defRPr>
            </a:lvl3pPr>
            <a:lvl4pPr>
              <a:lnSpc>
                <a:spcPct val="90000"/>
              </a:lnSpc>
              <a:defRPr>
                <a:ea typeface="华文中宋" panose="02010600040101010101" charset="-122"/>
              </a:defRPr>
            </a:lvl4pPr>
            <a:lvl5pPr>
              <a:lnSpc>
                <a:spcPct val="90000"/>
              </a:lnSpc>
              <a:defRPr>
                <a:ea typeface="华文中宋" panose="02010600040101010101" charset="-122"/>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dirty="0"/>
          </a:p>
        </p:txBody>
      </p:sp>
    </p:spTree>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charset="-122"/>
              </a:defRPr>
            </a:lvl1pPr>
          </a:lstStyle>
          <a:p>
            <a:pPr fontAlgn="base"/>
            <a:r>
              <a:rPr lang="zh-CN" altLang="en-US" strike="noStrike" noProof="1"/>
              <a:t>单击此处编辑母版标题样式</a:t>
            </a:r>
            <a:endParaRPr lang="en-US" strike="noStrike" noProof="1"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charset="-122"/>
              </a:defRPr>
            </a:lvl1pPr>
            <a:lvl2pPr>
              <a:lnSpc>
                <a:spcPct val="90000"/>
              </a:lnSpc>
              <a:defRPr>
                <a:ea typeface="华文中宋" panose="02010600040101010101" charset="-122"/>
              </a:defRPr>
            </a:lvl2pPr>
            <a:lvl3pPr>
              <a:lnSpc>
                <a:spcPct val="90000"/>
              </a:lnSpc>
              <a:defRPr>
                <a:ea typeface="华文中宋" panose="02010600040101010101" charset="-122"/>
              </a:defRPr>
            </a:lvl3pPr>
            <a:lvl4pPr>
              <a:lnSpc>
                <a:spcPct val="90000"/>
              </a:lnSpc>
              <a:defRPr>
                <a:ea typeface="华文中宋" panose="02010600040101010101" charset="-122"/>
              </a:defRPr>
            </a:lvl4pPr>
            <a:lvl5pPr>
              <a:lnSpc>
                <a:spcPct val="90000"/>
              </a:lnSpc>
              <a:defRPr>
                <a:ea typeface="华文中宋" panose="02010600040101010101" charset="-122"/>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dirty="0"/>
          </a:p>
        </p:txBody>
      </p:sp>
    </p:spTree>
  </p:cSld>
  <p:clrMapOvr>
    <a:masterClrMapping/>
  </p:clrMapOvr>
  <p:transition>
    <p:fade/>
  </p:transition>
  <p:hf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type="txAndObj">
  <p:cSld name="标题，文本与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301625" y="381000"/>
            <a:ext cx="8540750" cy="744538"/>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301625" y="1268413"/>
            <a:ext cx="4194175" cy="5113337"/>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268413"/>
            <a:ext cx="4194175" cy="5113337"/>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2"/>
          </p:nvPr>
        </p:nvSpPr>
        <p:spPr>
          <a:xfrm>
            <a:off x="250825" y="6381750"/>
            <a:ext cx="2289175" cy="47625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3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3"/>
          </p:nvPr>
        </p:nvSpPr>
        <p:spPr>
          <a:xfrm>
            <a:off x="3132138" y="6381750"/>
            <a:ext cx="2895600" cy="47625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3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4"/>
          </p:nvPr>
        </p:nvSpPr>
        <p:spPr>
          <a:xfrm>
            <a:off x="6588125" y="6381750"/>
            <a:ext cx="2289175" cy="47625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D06A6B01-1B25-466D-B85B-4BAFE80F8432}" type="slidenum">
              <a:rPr kumimoji="0" lang="en-US" altLang="zh-CN" sz="3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rPr>
            </a:fld>
            <a:endParaRPr kumimoji="0" lang="en-US" altLang="zh-CN" sz="3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bl">
  <p:cSld name="标题和表格">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301625" y="381000"/>
            <a:ext cx="8540750" cy="744538"/>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表格占位符 2"/>
          <p:cNvSpPr>
            <a:spLocks noGrp="1"/>
          </p:cNvSpPr>
          <p:nvPr>
            <p:ph type="tbl" idx="1"/>
          </p:nvPr>
        </p:nvSpPr>
        <p:spPr>
          <a:xfrm>
            <a:off x="301625" y="1268413"/>
            <a:ext cx="8540750" cy="5113337"/>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endParaRPr kumimoji="0" lang="zh-CN" altLang="en-US" sz="2800" b="1" i="0" u="none" strike="noStrike" kern="0" cap="none" spc="0" normalizeH="0" baseline="0" noProof="0">
              <a:ln>
                <a:noFill/>
              </a:ln>
              <a:solidFill>
                <a:schemeClr val="hlink"/>
              </a:solidFill>
              <a:effectLst/>
              <a:uLnTx/>
              <a:uFillTx/>
              <a:latin typeface="+mn-lt"/>
              <a:ea typeface="+mn-ea"/>
              <a:cs typeface="+mn-cs"/>
            </a:endParaRPr>
          </a:p>
        </p:txBody>
      </p:sp>
      <p:sp>
        <p:nvSpPr>
          <p:cNvPr id="4" name="日期占位符 3"/>
          <p:cNvSpPr>
            <a:spLocks noGrp="1"/>
          </p:cNvSpPr>
          <p:nvPr>
            <p:ph type="dt" sz="half" idx="2"/>
          </p:nvPr>
        </p:nvSpPr>
        <p:spPr>
          <a:xfrm>
            <a:off x="250825" y="6381750"/>
            <a:ext cx="2289175" cy="47625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3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3"/>
          </p:nvPr>
        </p:nvSpPr>
        <p:spPr>
          <a:xfrm>
            <a:off x="3132138" y="6381750"/>
            <a:ext cx="2895600" cy="47625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3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4"/>
          </p:nvPr>
        </p:nvSpPr>
        <p:spPr>
          <a:xfrm>
            <a:off x="6588125" y="6381750"/>
            <a:ext cx="2289175" cy="47625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1CAE2EC0-AEDD-43EB-BC38-B57C8D8C2FE2}" type="slidenum">
              <a:rPr kumimoji="0" lang="en-US" altLang="zh-CN" sz="3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rPr>
            </a:fld>
            <a:endParaRPr kumimoji="0" lang="en-US" altLang="zh-CN" sz="3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1CD523A0-0476-4D87-815F-B4FF2FA0EBEA}"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1CD523A0-0476-4D87-815F-B4FF2FA0EBEA}"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1CD523A0-0476-4D87-815F-B4FF2FA0EBEA}"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1CD523A0-0476-4D87-815F-B4FF2FA0EBEA}"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9" name="灯片编号占位符 8"/>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1CD523A0-0476-4D87-815F-B4FF2FA0EBEA}"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5" name="灯片编号占位符 4"/>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1CD523A0-0476-4D87-815F-B4FF2FA0EBEA}"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4" name="灯片编号占位符 3"/>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1CD523A0-0476-4D87-815F-B4FF2FA0EBEA}"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1CD523A0-0476-4D87-815F-B4FF2FA0EBEA}"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1CD523A0-0476-4D87-815F-B4FF2FA0EBEA}"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1CD523A0-0476-4D87-815F-B4FF2FA0EBEA}"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7150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533400"/>
            <a:ext cx="6019800" cy="57150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1CD523A0-0476-4D87-815F-B4FF2FA0EBEA}"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charset="-122"/>
              </a:defRPr>
            </a:lvl1pPr>
          </a:lstStyle>
          <a:p>
            <a:pPr fontAlgn="base"/>
            <a:r>
              <a:rPr lang="zh-CN" altLang="en-US" strike="noStrike" noProof="1"/>
              <a:t>单击此处编辑母版标题样式</a:t>
            </a:r>
            <a:endParaRPr lang="en-US" strike="noStrike" noProof="1"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charset="-122"/>
              </a:defRPr>
            </a:lvl1pPr>
            <a:lvl2pPr>
              <a:lnSpc>
                <a:spcPct val="90000"/>
              </a:lnSpc>
              <a:defRPr>
                <a:ea typeface="华文中宋" panose="02010600040101010101" charset="-122"/>
              </a:defRPr>
            </a:lvl2pPr>
            <a:lvl3pPr>
              <a:lnSpc>
                <a:spcPct val="90000"/>
              </a:lnSpc>
              <a:defRPr>
                <a:ea typeface="华文中宋" panose="02010600040101010101" charset="-122"/>
              </a:defRPr>
            </a:lvl3pPr>
            <a:lvl4pPr>
              <a:lnSpc>
                <a:spcPct val="90000"/>
              </a:lnSpc>
              <a:defRPr>
                <a:ea typeface="华文中宋" panose="02010600040101010101" charset="-122"/>
              </a:defRPr>
            </a:lvl4pPr>
            <a:lvl5pPr>
              <a:lnSpc>
                <a:spcPct val="90000"/>
              </a:lnSpc>
              <a:defRPr>
                <a:ea typeface="华文中宋" panose="02010600040101010101" charset="-122"/>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dirty="0"/>
          </a:p>
        </p:txBody>
      </p:sp>
    </p:spTree>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charset="-122"/>
              </a:defRPr>
            </a:lvl1pPr>
          </a:lstStyle>
          <a:p>
            <a:pPr fontAlgn="base"/>
            <a:r>
              <a:rPr lang="zh-CN" altLang="en-US" strike="noStrike" noProof="1"/>
              <a:t>单击此处编辑母版标题样式</a:t>
            </a:r>
            <a:endParaRPr lang="en-US" strike="noStrike" noProof="1"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charset="-122"/>
              </a:defRPr>
            </a:lvl1pPr>
            <a:lvl2pPr>
              <a:lnSpc>
                <a:spcPct val="90000"/>
              </a:lnSpc>
              <a:defRPr>
                <a:ea typeface="华文中宋" panose="02010600040101010101" charset="-122"/>
              </a:defRPr>
            </a:lvl2pPr>
            <a:lvl3pPr>
              <a:lnSpc>
                <a:spcPct val="90000"/>
              </a:lnSpc>
              <a:defRPr>
                <a:ea typeface="华文中宋" panose="02010600040101010101" charset="-122"/>
              </a:defRPr>
            </a:lvl3pPr>
            <a:lvl4pPr>
              <a:lnSpc>
                <a:spcPct val="90000"/>
              </a:lnSpc>
              <a:defRPr>
                <a:ea typeface="华文中宋" panose="02010600040101010101" charset="-122"/>
              </a:defRPr>
            </a:lvl4pPr>
            <a:lvl5pPr>
              <a:lnSpc>
                <a:spcPct val="90000"/>
              </a:lnSpc>
              <a:defRPr>
                <a:ea typeface="华文中宋" panose="02010600040101010101" charset="-122"/>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dirty="0"/>
          </a:p>
        </p:txBody>
      </p:sp>
    </p:spTree>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charset="-122"/>
              </a:defRPr>
            </a:lvl1pPr>
          </a:lstStyle>
          <a:p>
            <a:pPr fontAlgn="base"/>
            <a:r>
              <a:rPr lang="zh-CN" altLang="en-US" strike="noStrike" noProof="1"/>
              <a:t>单击此处编辑母版标题样式</a:t>
            </a:r>
            <a:endParaRPr lang="en-US" strike="noStrike" noProof="1"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charset="-122"/>
              </a:defRPr>
            </a:lvl1pPr>
            <a:lvl2pPr>
              <a:lnSpc>
                <a:spcPct val="90000"/>
              </a:lnSpc>
              <a:defRPr>
                <a:ea typeface="华文中宋" panose="02010600040101010101" charset="-122"/>
              </a:defRPr>
            </a:lvl2pPr>
            <a:lvl3pPr>
              <a:lnSpc>
                <a:spcPct val="90000"/>
              </a:lnSpc>
              <a:defRPr>
                <a:ea typeface="华文中宋" panose="02010600040101010101" charset="-122"/>
              </a:defRPr>
            </a:lvl3pPr>
            <a:lvl4pPr>
              <a:lnSpc>
                <a:spcPct val="90000"/>
              </a:lnSpc>
              <a:defRPr>
                <a:ea typeface="华文中宋" panose="02010600040101010101" charset="-122"/>
              </a:defRPr>
            </a:lvl4pPr>
            <a:lvl5pPr>
              <a:lnSpc>
                <a:spcPct val="90000"/>
              </a:lnSpc>
              <a:defRPr>
                <a:ea typeface="华文中宋" panose="02010600040101010101" charset="-122"/>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image" Target="../media/image2.jpeg"/><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 Type="http://schemas.openxmlformats.org/officeDocument/2006/relationships/slideLayout" Target="../slideLayouts/slideLayout25.xml"/><Relationship Id="rId14" Type="http://schemas.openxmlformats.org/officeDocument/2006/relationships/theme" Target="../theme/theme3.xml"/><Relationship Id="rId13" Type="http://schemas.openxmlformats.org/officeDocument/2006/relationships/image" Target="../media/image1.jpeg"/><Relationship Id="rId12" Type="http://schemas.openxmlformats.org/officeDocument/2006/relationships/slideLayout" Target="../slideLayouts/slideLayout35.xml"/><Relationship Id="rId11" Type="http://schemas.openxmlformats.org/officeDocument/2006/relationships/slideLayout" Target="../slideLayouts/slideLayout34.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4.xml"/><Relationship Id="rId8" Type="http://schemas.openxmlformats.org/officeDocument/2006/relationships/slideLayout" Target="../slideLayouts/slideLayout43.xml"/><Relationship Id="rId7" Type="http://schemas.openxmlformats.org/officeDocument/2006/relationships/slideLayout" Target="../slideLayouts/slideLayout42.xml"/><Relationship Id="rId6" Type="http://schemas.openxmlformats.org/officeDocument/2006/relationships/slideLayout" Target="../slideLayouts/slideLayout41.xml"/><Relationship Id="rId5" Type="http://schemas.openxmlformats.org/officeDocument/2006/relationships/slideLayout" Target="../slideLayouts/slideLayout40.xml"/><Relationship Id="rId4" Type="http://schemas.openxmlformats.org/officeDocument/2006/relationships/slideLayout" Target="../slideLayouts/slideLayout39.xml"/><Relationship Id="rId3" Type="http://schemas.openxmlformats.org/officeDocument/2006/relationships/slideLayout" Target="../slideLayouts/slideLayout38.xml"/><Relationship Id="rId2" Type="http://schemas.openxmlformats.org/officeDocument/2006/relationships/slideLayout" Target="../slideLayouts/slideLayout37.xml"/><Relationship Id="rId14" Type="http://schemas.openxmlformats.org/officeDocument/2006/relationships/theme" Target="../theme/theme4.xml"/><Relationship Id="rId13" Type="http://schemas.openxmlformats.org/officeDocument/2006/relationships/image" Target="../media/image1.jpeg"/><Relationship Id="rId12" Type="http://schemas.openxmlformats.org/officeDocument/2006/relationships/slideLayout" Target="../slideLayouts/slideLayout47.xml"/><Relationship Id="rId11" Type="http://schemas.openxmlformats.org/officeDocument/2006/relationships/slideLayout" Target="../slideLayouts/slideLayout46.xml"/><Relationship Id="rId10" Type="http://schemas.openxmlformats.org/officeDocument/2006/relationships/slideLayout" Target="../slideLayouts/slideLayout45.xml"/><Relationship Id="rId1" Type="http://schemas.openxmlformats.org/officeDocument/2006/relationships/slideLayout" Target="../slideLayouts/slideLayout36.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6.xml"/><Relationship Id="rId8" Type="http://schemas.openxmlformats.org/officeDocument/2006/relationships/slideLayout" Target="../slideLayouts/slideLayout55.xml"/><Relationship Id="rId7" Type="http://schemas.openxmlformats.org/officeDocument/2006/relationships/slideLayout" Target="../slideLayouts/slideLayout54.xml"/><Relationship Id="rId6" Type="http://schemas.openxmlformats.org/officeDocument/2006/relationships/slideLayout" Target="../slideLayouts/slideLayout53.xml"/><Relationship Id="rId5" Type="http://schemas.openxmlformats.org/officeDocument/2006/relationships/slideLayout" Target="../slideLayouts/slideLayout52.xml"/><Relationship Id="rId4" Type="http://schemas.openxmlformats.org/officeDocument/2006/relationships/slideLayout" Target="../slideLayouts/slideLayout51.xml"/><Relationship Id="rId3" Type="http://schemas.openxmlformats.org/officeDocument/2006/relationships/slideLayout" Target="../slideLayouts/slideLayout50.xml"/><Relationship Id="rId2" Type="http://schemas.openxmlformats.org/officeDocument/2006/relationships/slideLayout" Target="../slideLayouts/slideLayout49.xml"/><Relationship Id="rId14" Type="http://schemas.openxmlformats.org/officeDocument/2006/relationships/theme" Target="../theme/theme5.xml"/><Relationship Id="rId13" Type="http://schemas.openxmlformats.org/officeDocument/2006/relationships/image" Target="../media/image1.jpeg"/><Relationship Id="rId12" Type="http://schemas.openxmlformats.org/officeDocument/2006/relationships/slideLayout" Target="../slideLayouts/slideLayout59.xml"/><Relationship Id="rId11" Type="http://schemas.openxmlformats.org/officeDocument/2006/relationships/slideLayout" Target="../slideLayouts/slideLayout58.xml"/><Relationship Id="rId10" Type="http://schemas.openxmlformats.org/officeDocument/2006/relationships/slideLayout" Target="../slideLayouts/slideLayout57.xml"/><Relationship Id="rId1" Type="http://schemas.openxmlformats.org/officeDocument/2006/relationships/slideLayout" Target="../slideLayouts/slideLayout48.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8.xml"/><Relationship Id="rId8" Type="http://schemas.openxmlformats.org/officeDocument/2006/relationships/slideLayout" Target="../slideLayouts/slideLayout67.xml"/><Relationship Id="rId7" Type="http://schemas.openxmlformats.org/officeDocument/2006/relationships/slideLayout" Target="../slideLayouts/slideLayout66.xml"/><Relationship Id="rId6" Type="http://schemas.openxmlformats.org/officeDocument/2006/relationships/slideLayout" Target="../slideLayouts/slideLayout65.xml"/><Relationship Id="rId5" Type="http://schemas.openxmlformats.org/officeDocument/2006/relationships/slideLayout" Target="../slideLayouts/slideLayout64.xml"/><Relationship Id="rId4" Type="http://schemas.openxmlformats.org/officeDocument/2006/relationships/slideLayout" Target="../slideLayouts/slideLayout63.xml"/><Relationship Id="rId3" Type="http://schemas.openxmlformats.org/officeDocument/2006/relationships/slideLayout" Target="../slideLayouts/slideLayout62.xml"/><Relationship Id="rId2" Type="http://schemas.openxmlformats.org/officeDocument/2006/relationships/slideLayout" Target="../slideLayouts/slideLayout61.xml"/><Relationship Id="rId16" Type="http://schemas.openxmlformats.org/officeDocument/2006/relationships/theme" Target="../theme/theme6.xml"/><Relationship Id="rId15" Type="http://schemas.openxmlformats.org/officeDocument/2006/relationships/image" Target="../media/image1.jpeg"/><Relationship Id="rId14" Type="http://schemas.openxmlformats.org/officeDocument/2006/relationships/slideLayout" Target="../slideLayouts/slideLayout73.xml"/><Relationship Id="rId13" Type="http://schemas.openxmlformats.org/officeDocument/2006/relationships/slideLayout" Target="../slideLayouts/slideLayout72.xml"/><Relationship Id="rId12" Type="http://schemas.openxmlformats.org/officeDocument/2006/relationships/slideLayout" Target="../slideLayouts/slideLayout71.xml"/><Relationship Id="rId11" Type="http://schemas.openxmlformats.org/officeDocument/2006/relationships/slideLayout" Target="../slideLayouts/slideLayout70.xml"/><Relationship Id="rId10" Type="http://schemas.openxmlformats.org/officeDocument/2006/relationships/slideLayout" Target="../slideLayouts/slideLayout69.xml"/><Relationship Id="rId1" Type="http://schemas.openxmlformats.org/officeDocument/2006/relationships/slideLayout" Target="../slideLayouts/slideLayout60.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82.xml"/><Relationship Id="rId8" Type="http://schemas.openxmlformats.org/officeDocument/2006/relationships/slideLayout" Target="../slideLayouts/slideLayout81.xml"/><Relationship Id="rId7" Type="http://schemas.openxmlformats.org/officeDocument/2006/relationships/slideLayout" Target="../slideLayouts/slideLayout80.xml"/><Relationship Id="rId6" Type="http://schemas.openxmlformats.org/officeDocument/2006/relationships/slideLayout" Target="../slideLayouts/slideLayout79.xml"/><Relationship Id="rId5" Type="http://schemas.openxmlformats.org/officeDocument/2006/relationships/slideLayout" Target="../slideLayouts/slideLayout78.xml"/><Relationship Id="rId4" Type="http://schemas.openxmlformats.org/officeDocument/2006/relationships/slideLayout" Target="../slideLayouts/slideLayout77.xml"/><Relationship Id="rId3" Type="http://schemas.openxmlformats.org/officeDocument/2006/relationships/slideLayout" Target="../slideLayouts/slideLayout76.xml"/><Relationship Id="rId2" Type="http://schemas.openxmlformats.org/officeDocument/2006/relationships/slideLayout" Target="../slideLayouts/slideLayout75.xml"/><Relationship Id="rId13" Type="http://schemas.openxmlformats.org/officeDocument/2006/relationships/theme" Target="../theme/theme7.xml"/><Relationship Id="rId12" Type="http://schemas.openxmlformats.org/officeDocument/2006/relationships/image" Target="../media/image2.jpeg"/><Relationship Id="rId11" Type="http://schemas.openxmlformats.org/officeDocument/2006/relationships/slideLayout" Target="../slideLayouts/slideLayout84.xml"/><Relationship Id="rId10" Type="http://schemas.openxmlformats.org/officeDocument/2006/relationships/slideLayout" Target="../slideLayouts/slideLayout83.xml"/><Relationship Id="rId1" Type="http://schemas.openxmlformats.org/officeDocument/2006/relationships/slideLayout" Target="../slideLayouts/slideLayout74.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93.xml"/><Relationship Id="rId8" Type="http://schemas.openxmlformats.org/officeDocument/2006/relationships/slideLayout" Target="../slideLayouts/slideLayout92.xml"/><Relationship Id="rId7" Type="http://schemas.openxmlformats.org/officeDocument/2006/relationships/slideLayout" Target="../slideLayouts/slideLayout91.xml"/><Relationship Id="rId6" Type="http://schemas.openxmlformats.org/officeDocument/2006/relationships/slideLayout" Target="../slideLayouts/slideLayout90.xml"/><Relationship Id="rId5" Type="http://schemas.openxmlformats.org/officeDocument/2006/relationships/slideLayout" Target="../slideLayouts/slideLayout89.xml"/><Relationship Id="rId4" Type="http://schemas.openxmlformats.org/officeDocument/2006/relationships/slideLayout" Target="../slideLayouts/slideLayout88.xml"/><Relationship Id="rId3" Type="http://schemas.openxmlformats.org/officeDocument/2006/relationships/slideLayout" Target="../slideLayouts/slideLayout87.xml"/><Relationship Id="rId2" Type="http://schemas.openxmlformats.org/officeDocument/2006/relationships/slideLayout" Target="../slideLayouts/slideLayout86.xml"/><Relationship Id="rId14" Type="http://schemas.openxmlformats.org/officeDocument/2006/relationships/theme" Target="../theme/theme8.xml"/><Relationship Id="rId13" Type="http://schemas.openxmlformats.org/officeDocument/2006/relationships/image" Target="../media/image1.jpeg"/><Relationship Id="rId12" Type="http://schemas.openxmlformats.org/officeDocument/2006/relationships/slideLayout" Target="../slideLayouts/slideLayout96.xml"/><Relationship Id="rId11" Type="http://schemas.openxmlformats.org/officeDocument/2006/relationships/slideLayout" Target="../slideLayouts/slideLayout95.xml"/><Relationship Id="rId10" Type="http://schemas.openxmlformats.org/officeDocument/2006/relationships/slideLayout" Target="../slideLayouts/slideLayout94.xml"/><Relationship Id="rId1" Type="http://schemas.openxmlformats.org/officeDocument/2006/relationships/slideLayout" Target="../slideLayouts/slideLayout85.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105.xml"/><Relationship Id="rId8" Type="http://schemas.openxmlformats.org/officeDocument/2006/relationships/slideLayout" Target="../slideLayouts/slideLayout104.xml"/><Relationship Id="rId7" Type="http://schemas.openxmlformats.org/officeDocument/2006/relationships/slideLayout" Target="../slideLayouts/slideLayout103.xml"/><Relationship Id="rId6" Type="http://schemas.openxmlformats.org/officeDocument/2006/relationships/slideLayout" Target="../slideLayouts/slideLayout102.xml"/><Relationship Id="rId5" Type="http://schemas.openxmlformats.org/officeDocument/2006/relationships/slideLayout" Target="../slideLayouts/slideLayout101.xml"/><Relationship Id="rId4" Type="http://schemas.openxmlformats.org/officeDocument/2006/relationships/slideLayout" Target="../slideLayouts/slideLayout100.xml"/><Relationship Id="rId3" Type="http://schemas.openxmlformats.org/officeDocument/2006/relationships/slideLayout" Target="../slideLayouts/slideLayout99.xml"/><Relationship Id="rId2" Type="http://schemas.openxmlformats.org/officeDocument/2006/relationships/slideLayout" Target="../slideLayouts/slideLayout98.xml"/><Relationship Id="rId14" Type="http://schemas.openxmlformats.org/officeDocument/2006/relationships/theme" Target="../theme/theme9.xml"/><Relationship Id="rId13" Type="http://schemas.openxmlformats.org/officeDocument/2006/relationships/image" Target="../media/image1.jpeg"/><Relationship Id="rId12" Type="http://schemas.openxmlformats.org/officeDocument/2006/relationships/slideLayout" Target="../slideLayouts/slideLayout108.xml"/><Relationship Id="rId11" Type="http://schemas.openxmlformats.org/officeDocument/2006/relationships/slideLayout" Target="../slideLayouts/slideLayout107.xml"/><Relationship Id="rId10" Type="http://schemas.openxmlformats.org/officeDocument/2006/relationships/slideLayout" Target="../slideLayouts/slideLayout106.xml"/><Relationship Id="rId1" Type="http://schemas.openxmlformats.org/officeDocument/2006/relationships/slideLayout" Target="../slideLayouts/slideLayout97.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17.xml"/><Relationship Id="rId8" Type="http://schemas.openxmlformats.org/officeDocument/2006/relationships/slideLayout" Target="../slideLayouts/slideLayout116.xml"/><Relationship Id="rId7" Type="http://schemas.openxmlformats.org/officeDocument/2006/relationships/slideLayout" Target="../slideLayouts/slideLayout115.xml"/><Relationship Id="rId6" Type="http://schemas.openxmlformats.org/officeDocument/2006/relationships/slideLayout" Target="../slideLayouts/slideLayout114.xml"/><Relationship Id="rId5" Type="http://schemas.openxmlformats.org/officeDocument/2006/relationships/slideLayout" Target="../slideLayouts/slideLayout113.xml"/><Relationship Id="rId4" Type="http://schemas.openxmlformats.org/officeDocument/2006/relationships/slideLayout" Target="../slideLayouts/slideLayout112.xml"/><Relationship Id="rId3" Type="http://schemas.openxmlformats.org/officeDocument/2006/relationships/slideLayout" Target="../slideLayouts/slideLayout111.xml"/><Relationship Id="rId2" Type="http://schemas.openxmlformats.org/officeDocument/2006/relationships/slideLayout" Target="../slideLayouts/slideLayout110.xml"/><Relationship Id="rId14" Type="http://schemas.openxmlformats.org/officeDocument/2006/relationships/theme" Target="../theme/theme10.xml"/><Relationship Id="rId13" Type="http://schemas.openxmlformats.org/officeDocument/2006/relationships/image" Target="../media/image1.jpeg"/><Relationship Id="rId12" Type="http://schemas.openxmlformats.org/officeDocument/2006/relationships/slideLayout" Target="../slideLayouts/slideLayout120.xml"/><Relationship Id="rId11" Type="http://schemas.openxmlformats.org/officeDocument/2006/relationships/slideLayout" Target="../slideLayouts/slideLayout119.xml"/><Relationship Id="rId10" Type="http://schemas.openxmlformats.org/officeDocument/2006/relationships/slideLayout" Target="../slideLayouts/slideLayout118.xml"/><Relationship Id="rId1" Type="http://schemas.openxmlformats.org/officeDocument/2006/relationships/slideLayout" Target="../slideLayouts/slideLayout10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1026" name="Line 87"/>
          <p:cNvSpPr/>
          <p:nvPr/>
        </p:nvSpPr>
        <p:spPr>
          <a:xfrm>
            <a:off x="225425" y="1054100"/>
            <a:ext cx="7461250" cy="0"/>
          </a:xfrm>
          <a:prstGeom prst="line">
            <a:avLst/>
          </a:prstGeom>
          <a:ln w="38100" cap="flat" cmpd="sng">
            <a:solidFill>
              <a:srgbClr val="003366"/>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stretch>
            <a:fillRect/>
          </a:stretch>
        </a:blipFill>
        <a:effectLst/>
      </p:bgPr>
    </p:bg>
    <p:spTree>
      <p:nvGrpSpPr>
        <p:cNvPr id="1" name=""/>
        <p:cNvGrpSpPr/>
        <p:nvPr/>
      </p:nvGrpSpPr>
      <p:grpSpPr/>
      <p:sp>
        <p:nvSpPr>
          <p:cNvPr id="2050" name="Rectangle 3"/>
          <p:cNvSpPr>
            <a:spLocks noGrp="1"/>
          </p:cNvSpPr>
          <p:nvPr>
            <p:ph type="body"/>
          </p:nvPr>
        </p:nvSpPr>
        <p:spPr>
          <a:xfrm>
            <a:off x="457200" y="1447800"/>
            <a:ext cx="8229600" cy="4800600"/>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2051" name="Rectangle 2"/>
          <p:cNvSpPr>
            <a:spLocks noGrp="1"/>
          </p:cNvSpPr>
          <p:nvPr>
            <p:ph type="title"/>
          </p:nvPr>
        </p:nvSpPr>
        <p:spPr>
          <a:xfrm>
            <a:off x="457200" y="533400"/>
            <a:ext cx="7696200" cy="563563"/>
          </a:xfrm>
          <a:prstGeom prst="rect">
            <a:avLst/>
          </a:prstGeom>
          <a:noFill/>
          <a:ln w="9525">
            <a:noFill/>
          </a:ln>
        </p:spPr>
        <p:txBody>
          <a:bodyPr anchor="ctr"/>
          <a:p>
            <a:pPr lvl="0"/>
            <a:r>
              <a:rPr lang="zh-CN" altLang="en-US" dirty="0"/>
              <a:t>单击此处编辑母版标题样式</a:t>
            </a:r>
            <a:endParaRPr lang="zh-CN" altLang="en-US" dirty="0"/>
          </a:p>
        </p:txBody>
      </p:sp>
      <p:sp>
        <p:nvSpPr>
          <p:cNvPr id="2052" name="Rectangle 4"/>
          <p:cNvSpPr>
            <a:spLocks noGrp="1" noChangeArrowheads="1"/>
          </p:cNvSpPr>
          <p:nvPr>
            <p:ph type="dt" sz="half" idx="2"/>
          </p:nvPr>
        </p:nvSpPr>
        <p:spPr bwMode="auto">
          <a:xfrm>
            <a:off x="457200" y="647700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defRPr sz="1200">
                <a:solidFill>
                  <a:schemeClr val="bg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2053" name="Rectangle 5"/>
          <p:cNvSpPr>
            <a:spLocks noGrp="1" noChangeArrowheads="1"/>
          </p:cNvSpPr>
          <p:nvPr>
            <p:ph type="ftr" sz="quarter" idx="3"/>
          </p:nvPr>
        </p:nvSpPr>
        <p:spPr bwMode="auto">
          <a:xfrm>
            <a:off x="3124200" y="6477000"/>
            <a:ext cx="2895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2054" name="Rectangle 6"/>
          <p:cNvSpPr>
            <a:spLocks noGrp="1" noChangeArrowheads="1"/>
          </p:cNvSpPr>
          <p:nvPr>
            <p:ph type="sldNum" sz="quarter" idx="4"/>
          </p:nvPr>
        </p:nvSpPr>
        <p:spPr bwMode="auto">
          <a:xfrm>
            <a:off x="6553200" y="647700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solidFill>
                  <a:schemeClr val="bg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F5E3FBC7-29EA-4E83-BBF9-92A3E3C7E277}"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3074" name="Line 87"/>
          <p:cNvSpPr/>
          <p:nvPr/>
        </p:nvSpPr>
        <p:spPr>
          <a:xfrm>
            <a:off x="225425" y="1054100"/>
            <a:ext cx="7461250" cy="0"/>
          </a:xfrm>
          <a:prstGeom prst="line">
            <a:avLst/>
          </a:prstGeom>
          <a:ln w="38100" cap="flat" cmpd="sng">
            <a:solidFill>
              <a:srgbClr val="003366"/>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4098" name="Line 87"/>
          <p:cNvSpPr/>
          <p:nvPr/>
        </p:nvSpPr>
        <p:spPr>
          <a:xfrm>
            <a:off x="225425" y="1054100"/>
            <a:ext cx="7461250" cy="0"/>
          </a:xfrm>
          <a:prstGeom prst="line">
            <a:avLst/>
          </a:prstGeom>
          <a:ln w="38100" cap="flat" cmpd="sng">
            <a:solidFill>
              <a:srgbClr val="003366"/>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5122" name="Line 87"/>
          <p:cNvSpPr/>
          <p:nvPr/>
        </p:nvSpPr>
        <p:spPr>
          <a:xfrm>
            <a:off x="225425" y="1054100"/>
            <a:ext cx="7461250" cy="0"/>
          </a:xfrm>
          <a:prstGeom prst="line">
            <a:avLst/>
          </a:prstGeom>
          <a:ln w="38100" cap="flat" cmpd="sng">
            <a:solidFill>
              <a:srgbClr val="003366"/>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stretch>
            <a:fillRect/>
          </a:stretch>
        </a:blipFill>
        <a:effectLst/>
      </p:bgPr>
    </p:bg>
    <p:spTree>
      <p:nvGrpSpPr>
        <p:cNvPr id="1" name=""/>
        <p:cNvGrpSpPr/>
        <p:nvPr/>
      </p:nvGrpSpPr>
      <p:grpSpPr/>
      <p:sp>
        <p:nvSpPr>
          <p:cNvPr id="6146" name="Line 87"/>
          <p:cNvSpPr/>
          <p:nvPr/>
        </p:nvSpPr>
        <p:spPr>
          <a:xfrm>
            <a:off x="225425" y="1054100"/>
            <a:ext cx="7461250" cy="0"/>
          </a:xfrm>
          <a:prstGeom prst="line">
            <a:avLst/>
          </a:prstGeom>
          <a:ln w="38100" cap="flat" cmpd="sng">
            <a:solidFill>
              <a:srgbClr val="003366"/>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stretch>
            <a:fillRect/>
          </a:stretch>
        </a:blipFill>
        <a:effectLst/>
      </p:bgPr>
    </p:bg>
    <p:spTree>
      <p:nvGrpSpPr>
        <p:cNvPr id="1" name=""/>
        <p:cNvGrpSpPr/>
        <p:nvPr/>
      </p:nvGrpSpPr>
      <p:grpSpPr/>
      <p:sp>
        <p:nvSpPr>
          <p:cNvPr id="7170" name="Rectangle 3"/>
          <p:cNvSpPr>
            <a:spLocks noGrp="1"/>
          </p:cNvSpPr>
          <p:nvPr>
            <p:ph type="body"/>
          </p:nvPr>
        </p:nvSpPr>
        <p:spPr>
          <a:xfrm>
            <a:off x="457200" y="1447800"/>
            <a:ext cx="8229600" cy="4800600"/>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7171" name="Rectangle 2"/>
          <p:cNvSpPr>
            <a:spLocks noGrp="1"/>
          </p:cNvSpPr>
          <p:nvPr>
            <p:ph type="title"/>
          </p:nvPr>
        </p:nvSpPr>
        <p:spPr>
          <a:xfrm>
            <a:off x="457200" y="533400"/>
            <a:ext cx="7696200" cy="563563"/>
          </a:xfrm>
          <a:prstGeom prst="rect">
            <a:avLst/>
          </a:prstGeom>
          <a:noFill/>
          <a:ln w="9525">
            <a:noFill/>
          </a:ln>
        </p:spPr>
        <p:txBody>
          <a:bodyPr anchor="ctr"/>
          <a:p>
            <a:pPr lvl="0"/>
            <a:r>
              <a:rPr lang="zh-CN" altLang="en-US" dirty="0"/>
              <a:t>单击此处编辑母版标题样式</a:t>
            </a:r>
            <a:endParaRPr lang="zh-CN" altLang="en-US" dirty="0"/>
          </a:p>
        </p:txBody>
      </p:sp>
      <p:sp>
        <p:nvSpPr>
          <p:cNvPr id="2052" name="Rectangle 4"/>
          <p:cNvSpPr>
            <a:spLocks noGrp="1" noChangeArrowheads="1"/>
          </p:cNvSpPr>
          <p:nvPr>
            <p:ph type="dt" sz="half" idx="2"/>
          </p:nvPr>
        </p:nvSpPr>
        <p:spPr bwMode="auto">
          <a:xfrm>
            <a:off x="457200" y="647700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defRPr sz="1200">
                <a:solidFill>
                  <a:schemeClr val="bg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2053" name="Rectangle 5"/>
          <p:cNvSpPr>
            <a:spLocks noGrp="1" noChangeArrowheads="1"/>
          </p:cNvSpPr>
          <p:nvPr>
            <p:ph type="ftr" sz="quarter" idx="3"/>
          </p:nvPr>
        </p:nvSpPr>
        <p:spPr bwMode="auto">
          <a:xfrm>
            <a:off x="3124200" y="6477000"/>
            <a:ext cx="2895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2054" name="Rectangle 6"/>
          <p:cNvSpPr>
            <a:spLocks noGrp="1" noChangeArrowheads="1"/>
          </p:cNvSpPr>
          <p:nvPr>
            <p:ph type="sldNum" sz="quarter" idx="4"/>
          </p:nvPr>
        </p:nvSpPr>
        <p:spPr bwMode="auto">
          <a:xfrm>
            <a:off x="6553200" y="647700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solidFill>
                  <a:schemeClr val="bg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1CD523A0-0476-4D87-815F-B4FF2FA0EBEA}"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8194" name="Line 87"/>
          <p:cNvSpPr/>
          <p:nvPr/>
        </p:nvSpPr>
        <p:spPr>
          <a:xfrm>
            <a:off x="225425" y="1054100"/>
            <a:ext cx="7461250" cy="0"/>
          </a:xfrm>
          <a:prstGeom prst="line">
            <a:avLst/>
          </a:prstGeom>
          <a:ln w="38100" cap="flat" cmpd="sng">
            <a:solidFill>
              <a:srgbClr val="003366"/>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9218" name="Line 87"/>
          <p:cNvSpPr/>
          <p:nvPr/>
        </p:nvSpPr>
        <p:spPr>
          <a:xfrm>
            <a:off x="225425" y="1054100"/>
            <a:ext cx="7461250" cy="0"/>
          </a:xfrm>
          <a:prstGeom prst="line">
            <a:avLst/>
          </a:prstGeom>
          <a:ln w="38100" cap="flat" cmpd="sng">
            <a:solidFill>
              <a:srgbClr val="003366"/>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10242" name="Line 87"/>
          <p:cNvSpPr/>
          <p:nvPr/>
        </p:nvSpPr>
        <p:spPr>
          <a:xfrm>
            <a:off x="225425" y="1054100"/>
            <a:ext cx="7461250" cy="0"/>
          </a:xfrm>
          <a:prstGeom prst="line">
            <a:avLst/>
          </a:prstGeom>
          <a:ln w="38100" cap="flat" cmpd="sng">
            <a:solidFill>
              <a:srgbClr val="003366"/>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7"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6.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61.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1.xml"/><Relationship Id="rId1" Type="http://schemas.openxmlformats.org/officeDocument/2006/relationships/image" Target="../media/image4.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1.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2.xml"/><Relationship Id="rId1" Type="http://schemas.openxmlformats.org/officeDocument/2006/relationships/image" Target="../media/image6.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2.xml"/><Relationship Id="rId1" Type="http://schemas.openxmlformats.org/officeDocument/2006/relationships/image" Target="../media/image7.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61.xml"/><Relationship Id="rId1" Type="http://schemas.openxmlformats.org/officeDocument/2006/relationships/image" Target="../media/image8.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66.xml"/><Relationship Id="rId1" Type="http://schemas.openxmlformats.org/officeDocument/2006/relationships/image" Target="../media/image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66.xml"/><Relationship Id="rId1" Type="http://schemas.openxmlformats.org/officeDocument/2006/relationships/image" Target="../media/image10.jpe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58.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61.xml"/><Relationship Id="rId2" Type="http://schemas.openxmlformats.org/officeDocument/2006/relationships/image" Target="../media/image11.wmf"/><Relationship Id="rId1" Type="http://schemas.openxmlformats.org/officeDocument/2006/relationships/oleObject" Target="../embeddings/oleObject1.bin"/></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60.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61.xml"/><Relationship Id="rId2" Type="http://schemas.openxmlformats.org/officeDocument/2006/relationships/image" Target="../media/image12.emf"/><Relationship Id="rId1" Type="http://schemas.openxmlformats.org/officeDocument/2006/relationships/oleObject" Target="../embeddings/oleObject2.bin"/></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69.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61.xml"/><Relationship Id="rId2" Type="http://schemas.openxmlformats.org/officeDocument/2006/relationships/image" Target="../media/image13.wmf"/><Relationship Id="rId1" Type="http://schemas.openxmlformats.org/officeDocument/2006/relationships/oleObject" Target="../embeddings/oleObject3.bin"/></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61.xml"/><Relationship Id="rId1" Type="http://schemas.openxmlformats.org/officeDocument/2006/relationships/image" Target="../media/image14.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2627" name="Rectangle 3"/>
          <p:cNvSpPr>
            <a:spLocks noGrp="1" noChangeArrowheads="1"/>
          </p:cNvSpPr>
          <p:nvPr>
            <p:ph type="ctrTitle"/>
          </p:nvPr>
        </p:nvSpPr>
        <p:spPr>
          <a:xfrm>
            <a:off x="685800" y="838200"/>
            <a:ext cx="8077200" cy="2362200"/>
          </a:xfrm>
        </p:spPr>
        <p:txBody>
          <a:bodyPr/>
          <a:lstStyle/>
          <a:p>
            <a:pPr marL="0" marR="0" lvl="0" indent="0" algn="l" defTabSz="914400" rtl="0" eaLnBrk="1" fontAlgn="base" latinLnBrk="0" hangingPunct="1">
              <a:lnSpc>
                <a:spcPct val="100000"/>
              </a:lnSpc>
              <a:spcBef>
                <a:spcPct val="0"/>
              </a:spcBef>
              <a:spcAft>
                <a:spcPct val="0"/>
              </a:spcAft>
              <a:buClrTx/>
              <a:buSzTx/>
              <a:buFontTx/>
              <a:buNone/>
              <a:defRPr/>
            </a:pPr>
            <a:br>
              <a:rPr kumimoji="0" lang="zh-CN" altLang="en-US" sz="6600" b="1" i="0" u="none" strike="noStrike" kern="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Times New Roman" panose="02020603050405020304" pitchFamily="18" charset="0"/>
              </a:rPr>
            </a:br>
            <a:r>
              <a:rPr kumimoji="0" lang="zh-CN" altLang="en-US" sz="3600" b="1" i="0" u="none" strike="noStrike" kern="0" cap="none" spc="0" normalizeH="0" baseline="0" noProof="0" dirty="0">
                <a:ln>
                  <a:noFill/>
                </a:ln>
                <a:solidFill>
                  <a:srgbClr val="CC0000"/>
                </a:solidFill>
                <a:effectLst/>
                <a:uLnTx/>
                <a:uFillTx/>
                <a:latin typeface="微软雅黑" panose="020B0503020204020204" charset="-122"/>
                <a:ea typeface="微软雅黑" panose="020B0503020204020204" charset="-122"/>
                <a:cs typeface="Times New Roman" panose="02020603050405020304" pitchFamily="18" charset="0"/>
              </a:rPr>
              <a:t>中国计算机学会</a:t>
            </a:r>
            <a:br>
              <a:rPr kumimoji="0" lang="zh-CN" altLang="en-US" sz="3600" b="1" i="0" u="none" strike="noStrike" kern="0" cap="none" spc="0" normalizeH="0" baseline="0" noProof="0" dirty="0">
                <a:ln>
                  <a:noFill/>
                </a:ln>
                <a:solidFill>
                  <a:srgbClr val="CC0000"/>
                </a:solidFill>
                <a:effectLst/>
                <a:uLnTx/>
                <a:uFillTx/>
                <a:latin typeface="微软雅黑" panose="020B0503020204020204" charset="-122"/>
                <a:ea typeface="微软雅黑" panose="020B0503020204020204" charset="-122"/>
                <a:cs typeface="Times New Roman" panose="02020603050405020304" pitchFamily="18" charset="0"/>
              </a:rPr>
            </a:br>
            <a:r>
              <a:rPr kumimoji="0" lang="zh-CN" altLang="en-US" sz="3600" b="1" i="0" u="none" strike="noStrike" kern="0" cap="none" spc="0" normalizeH="0" baseline="0" noProof="0" dirty="0">
                <a:ln>
                  <a:noFill/>
                </a:ln>
                <a:solidFill>
                  <a:srgbClr val="CC0000"/>
                </a:solidFill>
                <a:effectLst/>
                <a:uLnTx/>
                <a:uFillTx/>
                <a:latin typeface="微软雅黑" panose="020B0503020204020204" charset="-122"/>
                <a:ea typeface="微软雅黑" panose="020B0503020204020204" charset="-122"/>
                <a:cs typeface="Times New Roman" panose="02020603050405020304" pitchFamily="18" charset="0"/>
              </a:rPr>
              <a:t>“21世纪大学本科计算机专业系列教材”</a:t>
            </a:r>
            <a:br>
              <a:rPr kumimoji="0" lang="zh-CN" altLang="en-US" sz="3200" b="1" i="0" u="none" strike="noStrike" kern="0" cap="none" spc="0" normalizeH="0" baseline="0" noProof="0" dirty="0">
                <a:ln>
                  <a:noFill/>
                </a:ln>
                <a:solidFill>
                  <a:srgbClr val="CC0000"/>
                </a:solidFill>
                <a:effectLst/>
                <a:uLnTx/>
                <a:uFillTx/>
                <a:latin typeface="微软雅黑" panose="020B0503020204020204" charset="-122"/>
                <a:ea typeface="微软雅黑" panose="020B0503020204020204" charset="-122"/>
                <a:cs typeface="Times New Roman" panose="02020603050405020304" pitchFamily="18" charset="0"/>
              </a:rPr>
            </a:br>
            <a:br>
              <a:rPr kumimoji="0" lang="zh-CN" altLang="en-US" sz="3200" b="1" i="0" u="none" strike="noStrike" kern="0" cap="none" spc="0" normalizeH="0" baseline="0" noProof="0" dirty="0">
                <a:ln>
                  <a:noFill/>
                </a:ln>
                <a:solidFill>
                  <a:srgbClr val="CC0000"/>
                </a:solidFill>
                <a:effectLst/>
                <a:uLnTx/>
                <a:uFillTx/>
                <a:latin typeface="微软雅黑" panose="020B0503020204020204" charset="-122"/>
                <a:ea typeface="微软雅黑" panose="020B0503020204020204" charset="-122"/>
                <a:cs typeface="Times New Roman" panose="02020603050405020304" pitchFamily="18" charset="0"/>
              </a:rPr>
            </a:br>
            <a:r>
              <a:rPr kumimoji="0" lang="zh-CN" altLang="en-US" sz="6600" b="1" i="0" u="none" strike="noStrike" kern="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Times New Roman" panose="02020603050405020304" pitchFamily="18" charset="0"/>
              </a:rPr>
              <a:t>计算机组成原理</a:t>
            </a:r>
            <a:endParaRPr kumimoji="0" lang="zh-CN" altLang="en-US" sz="6600" b="1" i="0" u="none" strike="noStrike" kern="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5698" name="Rectangle 2"/>
          <p:cNvSpPr>
            <a:spLocks noGrp="1" noChangeArrowheads="1"/>
          </p:cNvSpPr>
          <p:nvPr>
            <p:ph type="ctrTitle"/>
          </p:nvPr>
        </p:nvSpPr>
        <p:spPr>
          <a:xfrm>
            <a:off x="381000" y="1219200"/>
            <a:ext cx="8458200" cy="3200400"/>
          </a:xfrm>
        </p:spPr>
        <p:txBody>
          <a:bodyPr/>
          <a:lstStyle/>
          <a:p>
            <a:pPr marL="0" marR="0" lvl="0" indent="0" algn="l" defTabSz="914400" rtl="0" eaLnBrk="1" fontAlgn="base" latinLnBrk="0" hangingPunct="1">
              <a:lnSpc>
                <a:spcPct val="140000"/>
              </a:lnSpc>
              <a:spcBef>
                <a:spcPct val="0"/>
              </a:spcBef>
              <a:spcAft>
                <a:spcPct val="0"/>
              </a:spcAft>
              <a:buClrTx/>
              <a:buSzTx/>
              <a:buFontTx/>
              <a:buNone/>
              <a:defRPr/>
            </a:pPr>
            <a:r>
              <a:rPr kumimoji="0" lang="zh-CN" altLang="en-US" sz="6600" b="1" i="0" u="none" strike="noStrike" kern="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Times New Roman" panose="02020603050405020304" pitchFamily="18" charset="0"/>
              </a:rPr>
              <a:t>第2章</a:t>
            </a:r>
            <a:br>
              <a:rPr kumimoji="0" lang="zh-CN" altLang="en-US" sz="6600" b="1" i="0" u="none" strike="noStrike" kern="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Times New Roman" panose="02020603050405020304" pitchFamily="18" charset="0"/>
              </a:rPr>
            </a:br>
            <a:r>
              <a:rPr kumimoji="0" lang="zh-CN" altLang="en-US" sz="6600" b="1" i="0" u="none" strike="noStrike" kern="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Times New Roman" panose="02020603050405020304" pitchFamily="18" charset="0"/>
              </a:rPr>
              <a:t>数据的机器层次表示</a:t>
            </a:r>
            <a:endParaRPr kumimoji="0" lang="zh-CN" altLang="en-US" sz="6600" b="1" i="0" u="none" strike="noStrike" kern="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Rectangle 3"/>
          <p:cNvSpPr>
            <a:spLocks noGrp="1" noChangeArrowheads="1"/>
          </p:cNvSpPr>
          <p:nvPr>
            <p:ph type="body" idx="4294967295"/>
          </p:nvPr>
        </p:nvSpPr>
        <p:spPr>
          <a:xfrm>
            <a:off x="539750" y="1124585"/>
            <a:ext cx="7991475" cy="1266190"/>
          </a:xfrm>
          <a:prstGeom prst="rect">
            <a:avLst/>
          </a:prstGeom>
        </p:spPr>
        <p:txBody>
          <a:bodyPr/>
          <a:lstStyle/>
          <a:p>
            <a:pPr marL="0" marR="0" lvl="0" indent="720090" algn="just" defTabSz="914400" rtl="0" eaLnBrk="1" fontAlgn="base" latinLnBrk="0" hangingPunct="1">
              <a:lnSpc>
                <a:spcPct val="150000"/>
              </a:lnSpc>
              <a:spcBef>
                <a:spcPct val="20000"/>
              </a:spcBef>
              <a:spcAft>
                <a:spcPct val="0"/>
              </a:spcAft>
              <a:buClr>
                <a:schemeClr val="hlink"/>
              </a:buClr>
              <a:buSzTx/>
              <a:buFontTx/>
              <a:buNone/>
              <a:defRPr/>
            </a:pPr>
            <a:r>
              <a:rPr kumimoji="0" lang="zh-CN" altLang="en-US" sz="2400" b="1" i="0" u="none" strike="noStrike" kern="0" cap="none" spc="0" normalizeH="0" baseline="0" noProof="0" dirty="0">
                <a:ln>
                  <a:noFill/>
                </a:ln>
                <a:solidFill>
                  <a:schemeClr val="tx2">
                    <a:lumMod val="50000"/>
                  </a:schemeClr>
                </a:solidFill>
                <a:effectLst/>
                <a:uLnTx/>
                <a:uFillTx/>
                <a:latin typeface="微软雅黑" panose="020B0503020204020204" charset="-122"/>
                <a:ea typeface="微软雅黑" panose="020B0503020204020204" charset="-122"/>
                <a:cs typeface="Times New Roman" panose="02020603050405020304" pitchFamily="18" charset="0"/>
              </a:rPr>
              <a:t>数据是计算机加工和处理的对象，</a:t>
            </a:r>
            <a:r>
              <a:rPr kumimoji="0" lang="zh-CN" altLang="en-US" sz="2400" b="1"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数据的机器层次表示</a:t>
            </a:r>
            <a:r>
              <a:rPr kumimoji="0" lang="zh-CN" altLang="en-US" sz="2400" b="1" i="0" u="none" strike="noStrike" kern="0" cap="none" spc="0" normalizeH="0" baseline="0" noProof="0" dirty="0">
                <a:ln>
                  <a:noFill/>
                </a:ln>
                <a:solidFill>
                  <a:schemeClr val="tx2">
                    <a:lumMod val="50000"/>
                  </a:schemeClr>
                </a:solidFill>
                <a:effectLst/>
                <a:uLnTx/>
                <a:uFillTx/>
                <a:latin typeface="微软雅黑" panose="020B0503020204020204" charset="-122"/>
                <a:ea typeface="微软雅黑" panose="020B0503020204020204" charset="-122"/>
                <a:cs typeface="Times New Roman" panose="02020603050405020304" pitchFamily="18" charset="0"/>
              </a:rPr>
              <a:t>将直接影响到计算机的</a:t>
            </a:r>
            <a:r>
              <a:rPr kumimoji="0" lang="zh-CN" altLang="en-US" sz="2400" b="1"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结构和性能</a:t>
            </a:r>
            <a:r>
              <a:rPr kumimoji="0" lang="zh-CN" altLang="en-US" sz="2400" b="1" i="0" u="none" strike="noStrike" kern="0" cap="none" spc="0" normalizeH="0" baseline="0" noProof="0" dirty="0">
                <a:ln>
                  <a:noFill/>
                </a:ln>
                <a:solidFill>
                  <a:schemeClr val="tx2">
                    <a:lumMod val="50000"/>
                  </a:schemeClr>
                </a:solidFill>
                <a:effectLst/>
                <a:uLnTx/>
                <a:uFillTx/>
                <a:latin typeface="微软雅黑" panose="020B0503020204020204" charset="-122"/>
                <a:ea typeface="微软雅黑" panose="020B0503020204020204" charset="-122"/>
                <a:cs typeface="Times New Roman" panose="02020603050405020304" pitchFamily="18" charset="0"/>
              </a:rPr>
              <a:t>。</a:t>
            </a:r>
            <a:endParaRPr kumimoji="0" lang="zh-CN" altLang="en-US" sz="2400" b="1" i="0" u="none" strike="noStrike" kern="0" cap="none" spc="0" normalizeH="0" baseline="0" noProof="0" dirty="0">
              <a:ln>
                <a:noFill/>
              </a:ln>
              <a:solidFill>
                <a:schemeClr val="tx2">
                  <a:lumMod val="50000"/>
                </a:schemeClr>
              </a:solidFill>
              <a:effectLst/>
              <a:uLnTx/>
              <a:uFillTx/>
              <a:latin typeface="微软雅黑" panose="020B0503020204020204" charset="-122"/>
              <a:ea typeface="微软雅黑" panose="020B0503020204020204" charset="-122"/>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2339975" y="2390775"/>
            <a:ext cx="4515485" cy="4007485"/>
          </a:xfrm>
          <a:prstGeom prst="rect">
            <a:avLst/>
          </a:prstGeom>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Rectangle 2"/>
          <p:cNvSpPr>
            <a:spLocks noGrp="1"/>
          </p:cNvSpPr>
          <p:nvPr>
            <p:ph type="title"/>
          </p:nvPr>
        </p:nvSpPr>
        <p:spPr>
          <a:xfrm>
            <a:off x="384175" y="447675"/>
            <a:ext cx="7772400" cy="1143000"/>
          </a:xfrm>
          <a:noFill/>
          <a:ln>
            <a:noFill/>
          </a:ln>
        </p:spPr>
        <p:txBody>
          <a:bodyPr anchor="t"/>
          <a:p>
            <a:pPr eaLnBrk="1" hangingPunct="1">
              <a:buNone/>
            </a:pPr>
            <a:r>
              <a:rPr lang="zh-CN" altLang="en-US" u="sng" dirty="0">
                <a:solidFill>
                  <a:srgbClr val="0000FF"/>
                </a:solidFill>
                <a:latin typeface="微软雅黑" panose="020B0503020204020204" charset="-122"/>
                <a:ea typeface="微软雅黑" panose="020B0503020204020204" charset="-122"/>
              </a:rPr>
              <a:t>本章学习内容</a:t>
            </a:r>
            <a:endParaRPr lang="zh-CN" altLang="en-US" sz="4000" b="0" dirty="0">
              <a:solidFill>
                <a:srgbClr val="0000FF"/>
              </a:solidFill>
              <a:latin typeface="微软雅黑" panose="020B0503020204020204" charset="-122"/>
              <a:ea typeface="微软雅黑" panose="020B0503020204020204" charset="-122"/>
            </a:endParaRPr>
          </a:p>
        </p:txBody>
      </p:sp>
      <p:sp>
        <p:nvSpPr>
          <p:cNvPr id="27650" name="Rectangle 3"/>
          <p:cNvSpPr>
            <a:spLocks noGrp="1"/>
          </p:cNvSpPr>
          <p:nvPr>
            <p:ph idx="1"/>
          </p:nvPr>
        </p:nvSpPr>
        <p:spPr>
          <a:xfrm>
            <a:off x="684213" y="1603375"/>
            <a:ext cx="7848600" cy="4343400"/>
          </a:xfrm>
          <a:noFill/>
          <a:ln>
            <a:noFill/>
          </a:ln>
        </p:spPr>
        <p:txBody>
          <a:bodyPr anchor="t"/>
          <a:p>
            <a:pPr marL="0" indent="0" algn="just" eaLnBrk="1" hangingPunct="1">
              <a:lnSpc>
                <a:spcPct val="150000"/>
              </a:lnSpc>
              <a:buNone/>
            </a:pPr>
            <a:r>
              <a:rPr lang="zh-CN" altLang="en-US" dirty="0">
                <a:solidFill>
                  <a:schemeClr val="tx2"/>
                </a:solidFill>
                <a:latin typeface="微软雅黑" panose="020B0503020204020204" charset="-122"/>
                <a:ea typeface="微软雅黑" panose="020B0503020204020204" charset="-122"/>
              </a:rPr>
              <a:t>2.1 </a:t>
            </a:r>
            <a:r>
              <a:rPr lang="zh-CN" altLang="en-GB" dirty="0">
                <a:solidFill>
                  <a:schemeClr val="tx2"/>
                </a:solidFill>
                <a:latin typeface="微软雅黑" panose="020B0503020204020204" charset="-122"/>
                <a:ea typeface="微软雅黑" panose="020B0503020204020204" charset="-122"/>
              </a:rPr>
              <a:t>数值数据的表示</a:t>
            </a:r>
            <a:endParaRPr lang="en-US" altLang="zh-CN" dirty="0">
              <a:solidFill>
                <a:schemeClr val="tx2"/>
              </a:solidFill>
              <a:latin typeface="微软雅黑" panose="020B0503020204020204" charset="-122"/>
              <a:ea typeface="微软雅黑" panose="020B0503020204020204" charset="-122"/>
            </a:endParaRPr>
          </a:p>
          <a:p>
            <a:pPr marL="0" indent="0" algn="just" eaLnBrk="1" hangingPunct="1">
              <a:lnSpc>
                <a:spcPct val="150000"/>
              </a:lnSpc>
              <a:buNone/>
            </a:pPr>
            <a:r>
              <a:rPr lang="zh-CN" altLang="en-US" dirty="0">
                <a:solidFill>
                  <a:schemeClr val="tx2"/>
                </a:solidFill>
                <a:latin typeface="微软雅黑" panose="020B0503020204020204" charset="-122"/>
                <a:ea typeface="微软雅黑" panose="020B0503020204020204" charset="-122"/>
              </a:rPr>
              <a:t>2.2 机器数的定点表示和浮点表示</a:t>
            </a:r>
            <a:endParaRPr lang="zh-CN" altLang="en-US" dirty="0">
              <a:solidFill>
                <a:schemeClr val="tx2"/>
              </a:solidFill>
              <a:latin typeface="微软雅黑" panose="020B0503020204020204" charset="-122"/>
              <a:ea typeface="微软雅黑" panose="020B0503020204020204" charset="-122"/>
            </a:endParaRPr>
          </a:p>
          <a:p>
            <a:pPr marL="0" indent="0" algn="just" eaLnBrk="1" hangingPunct="1">
              <a:lnSpc>
                <a:spcPct val="150000"/>
              </a:lnSpc>
              <a:buNone/>
            </a:pPr>
            <a:r>
              <a:rPr lang="zh-CN" altLang="en-US" dirty="0">
                <a:solidFill>
                  <a:schemeClr val="tx2"/>
                </a:solidFill>
                <a:latin typeface="微软雅黑" panose="020B0503020204020204" charset="-122"/>
                <a:ea typeface="微软雅黑" panose="020B0503020204020204" charset="-122"/>
              </a:rPr>
              <a:t>2.3 非数值数据的表示</a:t>
            </a:r>
            <a:endParaRPr lang="zh-CN" altLang="en-US" dirty="0">
              <a:solidFill>
                <a:schemeClr val="tx2"/>
              </a:solidFill>
              <a:latin typeface="微软雅黑" panose="020B0503020204020204" charset="-122"/>
              <a:ea typeface="微软雅黑" panose="020B0503020204020204" charset="-122"/>
            </a:endParaRPr>
          </a:p>
          <a:p>
            <a:pPr marL="0" indent="0" algn="just" eaLnBrk="1" hangingPunct="1">
              <a:lnSpc>
                <a:spcPct val="150000"/>
              </a:lnSpc>
              <a:buNone/>
            </a:pPr>
            <a:r>
              <a:rPr lang="zh-CN" altLang="en-US" dirty="0">
                <a:solidFill>
                  <a:schemeClr val="tx2"/>
                </a:solidFill>
                <a:latin typeface="微软雅黑" panose="020B0503020204020204" charset="-122"/>
                <a:ea typeface="微软雅黑" panose="020B0503020204020204" charset="-122"/>
              </a:rPr>
              <a:t>2.4 十进制数和数串的表示</a:t>
            </a:r>
            <a:endParaRPr lang="zh-CN" altLang="en-US" dirty="0">
              <a:solidFill>
                <a:schemeClr val="tx2"/>
              </a:solidFill>
              <a:latin typeface="微软雅黑" panose="020B0503020204020204" charset="-122"/>
              <a:ea typeface="微软雅黑" panose="020B0503020204020204" charset="-122"/>
            </a:endParaRPr>
          </a:p>
          <a:p>
            <a:pPr marL="0" indent="0" algn="just" eaLnBrk="1" hangingPunct="1">
              <a:lnSpc>
                <a:spcPct val="150000"/>
              </a:lnSpc>
              <a:buNone/>
            </a:pPr>
            <a:r>
              <a:rPr lang="zh-CN" altLang="en-US" dirty="0">
                <a:solidFill>
                  <a:schemeClr val="tx2"/>
                </a:solidFill>
                <a:latin typeface="微软雅黑" panose="020B0503020204020204" charset="-122"/>
                <a:ea typeface="微软雅黑" panose="020B0503020204020204" charset="-122"/>
              </a:rPr>
              <a:t>2.5 现代微型计算机中的数据表示举例</a:t>
            </a:r>
            <a:endParaRPr lang="zh-CN" altLang="en-US" dirty="0">
              <a:solidFill>
                <a:schemeClr val="tx2"/>
              </a:solidFill>
              <a:latin typeface="微软雅黑" panose="020B0503020204020204" charset="-122"/>
              <a:ea typeface="微软雅黑" panose="020B0503020204020204" charset="-122"/>
            </a:endParaRPr>
          </a:p>
          <a:p>
            <a:pPr marL="0" indent="0" algn="just" eaLnBrk="1" hangingPunct="1">
              <a:lnSpc>
                <a:spcPct val="150000"/>
              </a:lnSpc>
              <a:buNone/>
            </a:pPr>
            <a:r>
              <a:rPr lang="zh-CN" altLang="en-US" dirty="0">
                <a:solidFill>
                  <a:schemeClr val="tx2"/>
                </a:solidFill>
                <a:latin typeface="微软雅黑" panose="020B0503020204020204" charset="-122"/>
                <a:ea typeface="微软雅黑" panose="020B0503020204020204" charset="-122"/>
              </a:rPr>
              <a:t>2.6 数据校验码</a:t>
            </a:r>
            <a:endParaRPr lang="zh-CN" altLang="en-US" dirty="0">
              <a:solidFill>
                <a:schemeClr val="tx2"/>
              </a:solidFill>
              <a:latin typeface="微软雅黑" panose="020B0503020204020204" charset="-122"/>
              <a:ea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Rectangle 2"/>
          <p:cNvSpPr>
            <a:spLocks noGrp="1"/>
          </p:cNvSpPr>
          <p:nvPr>
            <p:ph type="title"/>
          </p:nvPr>
        </p:nvSpPr>
        <p:spPr>
          <a:xfrm>
            <a:off x="419100" y="433388"/>
            <a:ext cx="7772400" cy="808037"/>
          </a:xfrm>
          <a:noFill/>
          <a:ln>
            <a:noFill/>
          </a:ln>
        </p:spPr>
        <p:txBody>
          <a:bodyPr anchor="t"/>
          <a:p>
            <a:pPr eaLnBrk="1" hangingPunct="1">
              <a:buNone/>
            </a:pPr>
            <a:r>
              <a:rPr lang="zh-CN" altLang="en-US" sz="3600" dirty="0">
                <a:solidFill>
                  <a:srgbClr val="0000FF"/>
                </a:solidFill>
                <a:latin typeface="微软雅黑" panose="020B0503020204020204" charset="-122"/>
                <a:ea typeface="微软雅黑" panose="020B0503020204020204" charset="-122"/>
              </a:rPr>
              <a:t>计算机中的数值数据</a:t>
            </a:r>
            <a:endParaRPr lang="en-US" altLang="zh-CN" sz="3600" dirty="0">
              <a:solidFill>
                <a:srgbClr val="0000FF"/>
              </a:solidFill>
              <a:latin typeface="微软雅黑" panose="020B0503020204020204" charset="-122"/>
              <a:ea typeface="微软雅黑" panose="020B0503020204020204" charset="-122"/>
            </a:endParaRPr>
          </a:p>
        </p:txBody>
      </p:sp>
      <p:sp>
        <p:nvSpPr>
          <p:cNvPr id="29698" name="Rectangle 3"/>
          <p:cNvSpPr>
            <a:spLocks noGrp="1"/>
          </p:cNvSpPr>
          <p:nvPr>
            <p:ph idx="1"/>
          </p:nvPr>
        </p:nvSpPr>
        <p:spPr>
          <a:xfrm>
            <a:off x="755650" y="1341438"/>
            <a:ext cx="7772400" cy="2374900"/>
          </a:xfrm>
          <a:noFill/>
          <a:ln>
            <a:noFill/>
          </a:ln>
        </p:spPr>
        <p:txBody>
          <a:bodyPr anchor="t"/>
          <a:p>
            <a:pPr marL="114300" indent="-457200" algn="just" eaLnBrk="1" hangingPunct="1">
              <a:spcBef>
                <a:spcPts val="1200"/>
              </a:spcBef>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二进制数：后缀</a:t>
            </a:r>
            <a:r>
              <a:rPr lang="en-US" altLang="zh-CN" dirty="0">
                <a:solidFill>
                  <a:schemeClr val="tx2"/>
                </a:solidFill>
                <a:latin typeface="微软雅黑" panose="020B0503020204020204" charset="-122"/>
                <a:ea typeface="微软雅黑" panose="020B0503020204020204" charset="-122"/>
              </a:rPr>
              <a:t>B</a:t>
            </a:r>
            <a:endParaRPr lang="en-US" altLang="zh-CN" dirty="0">
              <a:solidFill>
                <a:schemeClr val="tx2"/>
              </a:solidFill>
              <a:latin typeface="微软雅黑" panose="020B0503020204020204" charset="-122"/>
              <a:ea typeface="微软雅黑" panose="020B0503020204020204" charset="-122"/>
            </a:endParaRPr>
          </a:p>
          <a:p>
            <a:pPr marL="114300" indent="-457200" algn="just" eaLnBrk="1" hangingPunct="1">
              <a:spcBef>
                <a:spcPts val="1200"/>
              </a:spcBef>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八进制数：后缀</a:t>
            </a:r>
            <a:r>
              <a:rPr lang="en-US" altLang="zh-CN" dirty="0">
                <a:solidFill>
                  <a:schemeClr val="tx2"/>
                </a:solidFill>
                <a:latin typeface="微软雅黑" panose="020B0503020204020204" charset="-122"/>
                <a:ea typeface="微软雅黑" panose="020B0503020204020204" charset="-122"/>
              </a:rPr>
              <a:t>Q</a:t>
            </a:r>
            <a:endParaRPr lang="en-US" altLang="zh-CN" dirty="0">
              <a:solidFill>
                <a:schemeClr val="tx2"/>
              </a:solidFill>
              <a:latin typeface="微软雅黑" panose="020B0503020204020204" charset="-122"/>
              <a:ea typeface="微软雅黑" panose="020B0503020204020204" charset="-122"/>
            </a:endParaRPr>
          </a:p>
          <a:p>
            <a:pPr marL="114300" indent="-457200" algn="just" eaLnBrk="1" hangingPunct="1">
              <a:spcBef>
                <a:spcPts val="1200"/>
              </a:spcBef>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十进制数：后缀</a:t>
            </a:r>
            <a:r>
              <a:rPr lang="en-US" altLang="zh-CN" dirty="0">
                <a:solidFill>
                  <a:schemeClr val="tx2"/>
                </a:solidFill>
                <a:latin typeface="微软雅黑" panose="020B0503020204020204" charset="-122"/>
                <a:ea typeface="微软雅黑" panose="020B0503020204020204" charset="-122"/>
              </a:rPr>
              <a:t>D</a:t>
            </a:r>
            <a:r>
              <a:rPr lang="zh-CN" altLang="en-US" dirty="0">
                <a:solidFill>
                  <a:schemeClr val="tx2"/>
                </a:solidFill>
                <a:latin typeface="微软雅黑" panose="020B0503020204020204" charset="-122"/>
                <a:ea typeface="微软雅黑" panose="020B0503020204020204" charset="-122"/>
              </a:rPr>
              <a:t>或省略后缀</a:t>
            </a:r>
            <a:endParaRPr lang="zh-CN" altLang="en-US" dirty="0">
              <a:solidFill>
                <a:schemeClr val="tx2"/>
              </a:solidFill>
              <a:latin typeface="微软雅黑" panose="020B0503020204020204" charset="-122"/>
              <a:ea typeface="微软雅黑" panose="020B0503020204020204" charset="-122"/>
            </a:endParaRPr>
          </a:p>
          <a:p>
            <a:pPr marL="114300" indent="-457200" algn="just" eaLnBrk="1" hangingPunct="1">
              <a:spcBef>
                <a:spcPts val="1200"/>
              </a:spcBef>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十六进制数：后缀</a:t>
            </a:r>
            <a:r>
              <a:rPr lang="en-US" altLang="zh-CN" dirty="0">
                <a:solidFill>
                  <a:schemeClr val="tx2"/>
                </a:solidFill>
                <a:latin typeface="微软雅黑" panose="020B0503020204020204" charset="-122"/>
                <a:ea typeface="微软雅黑" panose="020B0503020204020204" charset="-122"/>
              </a:rPr>
              <a:t>H        </a:t>
            </a:r>
            <a:endParaRPr lang="zh-CN" altLang="en-US" dirty="0">
              <a:solidFill>
                <a:schemeClr val="tx2"/>
              </a:solidFill>
              <a:latin typeface="微软雅黑" panose="020B0503020204020204" charset="-122"/>
              <a:ea typeface="微软雅黑" panose="020B0503020204020204" charset="-122"/>
            </a:endParaRPr>
          </a:p>
        </p:txBody>
      </p:sp>
      <p:sp>
        <p:nvSpPr>
          <p:cNvPr id="30725" name="矩形 1"/>
          <p:cNvSpPr>
            <a:spLocks noChangeArrowheads="1"/>
          </p:cNvSpPr>
          <p:nvPr/>
        </p:nvSpPr>
        <p:spPr bwMode="auto">
          <a:xfrm>
            <a:off x="742950" y="4103688"/>
            <a:ext cx="77978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9455">
              <a:defRPr sz="3200">
                <a:solidFill>
                  <a:schemeClr val="accent2"/>
                </a:solidFill>
                <a:latin typeface="Arial" panose="020B0604020202020204" pitchFamily="34" charset="0"/>
                <a:ea typeface="华文行楷" panose="02010800040101010101" pitchFamily="2" charset="-122"/>
              </a:defRPr>
            </a:lvl1pPr>
            <a:lvl2pPr marL="742950" indent="-285750">
              <a:defRPr sz="3200">
                <a:solidFill>
                  <a:schemeClr val="accent2"/>
                </a:solidFill>
                <a:latin typeface="Arial" panose="020B0604020202020204" pitchFamily="34" charset="0"/>
                <a:ea typeface="华文行楷" panose="02010800040101010101" pitchFamily="2" charset="-122"/>
              </a:defRPr>
            </a:lvl2pPr>
            <a:lvl3pPr marL="1143000" indent="-228600">
              <a:defRPr sz="3200">
                <a:solidFill>
                  <a:schemeClr val="accent2"/>
                </a:solidFill>
                <a:latin typeface="Arial" panose="020B0604020202020204" pitchFamily="34" charset="0"/>
                <a:ea typeface="华文行楷" panose="02010800040101010101" pitchFamily="2" charset="-122"/>
              </a:defRPr>
            </a:lvl3pPr>
            <a:lvl4pPr marL="1600200" indent="-228600">
              <a:defRPr sz="3200">
                <a:solidFill>
                  <a:schemeClr val="accent2"/>
                </a:solidFill>
                <a:latin typeface="Arial" panose="020B0604020202020204" pitchFamily="34" charset="0"/>
                <a:ea typeface="华文行楷" panose="02010800040101010101" pitchFamily="2" charset="-122"/>
              </a:defRPr>
            </a:lvl4pPr>
            <a:lvl5pPr marL="2057400" indent="-228600">
              <a:defRPr sz="3200">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3200">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3200">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3200">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3200">
                <a:solidFill>
                  <a:schemeClr val="accent2"/>
                </a:solidFill>
                <a:latin typeface="Arial" panose="020B0604020202020204" pitchFamily="34" charset="0"/>
                <a:ea typeface="华文行楷" panose="02010800040101010101" pitchFamily="2" charset="-122"/>
              </a:defRPr>
            </a:lvl9pPr>
          </a:lstStyle>
          <a:p>
            <a:pPr marL="0" marR="0" lvl="0" indent="719455" algn="just" defTabSz="914400" rtl="0" eaLnBrk="1" fontAlgn="base" latinLnBrk="0" hangingPunct="1">
              <a:lnSpc>
                <a:spcPct val="100000"/>
              </a:lnSpc>
              <a:spcBef>
                <a:spcPct val="0"/>
              </a:spcBef>
              <a:spcAft>
                <a:spcPct val="0"/>
              </a:spcAft>
              <a:buClrTx/>
              <a:buSzTx/>
              <a:buFontTx/>
              <a:buNone/>
              <a:defRPr/>
            </a:pPr>
            <a:r>
              <a:rPr kumimoji="0" lang="zh-CN" altLang="zh-CN" sz="2800" b="1" i="0" u="none" strike="noStrike" kern="1200" cap="none" spc="0" normalizeH="0" baseline="0" noProof="0" dirty="0">
                <a:ln>
                  <a:noFill/>
                </a:ln>
                <a:solidFill>
                  <a:schemeClr val="accent5">
                    <a:lumMod val="50000"/>
                  </a:schemeClr>
                </a:solidFill>
                <a:effectLst/>
                <a:uLnTx/>
                <a:uFillTx/>
                <a:latin typeface="微软雅黑" panose="020B0503020204020204" charset="-122"/>
                <a:ea typeface="微软雅黑" panose="020B0503020204020204" charset="-122"/>
                <a:cs typeface="Times New Roman" panose="02020603050405020304" pitchFamily="18" charset="0"/>
              </a:rPr>
              <a:t>计算机系统设计师和程序员更钟情于采用程序设计语言的记号来表示不同进制的数，这就是</a:t>
            </a:r>
            <a:r>
              <a:rPr kumimoji="0" lang="zh-CN" altLang="zh-CN" sz="2800" b="1" i="0" u="none" strike="noStrike" kern="1200" cap="none" spc="0" normalizeH="0" baseline="0" noProof="0" dirty="0">
                <a:ln>
                  <a:noFill/>
                </a:ln>
                <a:solidFill>
                  <a:srgbClr val="FF3300"/>
                </a:solidFill>
                <a:effectLst/>
                <a:uLnTx/>
                <a:uFillTx/>
                <a:latin typeface="微软雅黑" panose="020B0503020204020204" charset="-122"/>
                <a:ea typeface="微软雅黑" panose="020B0503020204020204" charset="-122"/>
                <a:cs typeface="Times New Roman" panose="02020603050405020304" pitchFamily="18" charset="0"/>
              </a:rPr>
              <a:t>前缀表示法</a:t>
            </a:r>
            <a:r>
              <a:rPr kumimoji="0" lang="zh-CN" altLang="zh-CN" sz="2800" b="1" i="0" u="none" strike="noStrike" kern="1200" cap="none" spc="0" normalizeH="0" baseline="0" noProof="0" dirty="0">
                <a:ln>
                  <a:noFill/>
                </a:ln>
                <a:solidFill>
                  <a:schemeClr val="accent5">
                    <a:lumMod val="50000"/>
                  </a:schemeClr>
                </a:solidFill>
                <a:effectLst/>
                <a:uLnTx/>
                <a:uFillTx/>
                <a:latin typeface="微软雅黑" panose="020B0503020204020204" charset="-122"/>
                <a:ea typeface="微软雅黑" panose="020B0503020204020204" charset="-122"/>
                <a:cs typeface="Times New Roman" panose="02020603050405020304" pitchFamily="18" charset="0"/>
              </a:rPr>
              <a:t>，如：在</a:t>
            </a:r>
            <a:r>
              <a:rPr kumimoji="0" lang="en-US" altLang="zh-CN" sz="2800" b="1" i="0" u="none" strike="noStrike" kern="1200" cap="none" spc="0" normalizeH="0" baseline="0" noProof="0" dirty="0">
                <a:ln>
                  <a:noFill/>
                </a:ln>
                <a:solidFill>
                  <a:schemeClr val="accent5">
                    <a:lumMod val="50000"/>
                  </a:schemeClr>
                </a:solidFill>
                <a:effectLst/>
                <a:uLnTx/>
                <a:uFillTx/>
                <a:latin typeface="微软雅黑" panose="020B0503020204020204" charset="-122"/>
                <a:ea typeface="微软雅黑" panose="020B0503020204020204" charset="-122"/>
                <a:cs typeface="Times New Roman" panose="02020603050405020304" pitchFamily="18" charset="0"/>
              </a:rPr>
              <a:t>C</a:t>
            </a:r>
            <a:r>
              <a:rPr kumimoji="0" lang="zh-CN" altLang="zh-CN" sz="2800" b="1" i="0" u="none" strike="noStrike" kern="1200" cap="none" spc="0" normalizeH="0" baseline="0" noProof="0" dirty="0">
                <a:ln>
                  <a:noFill/>
                </a:ln>
                <a:solidFill>
                  <a:schemeClr val="accent5">
                    <a:lumMod val="50000"/>
                  </a:schemeClr>
                </a:solidFill>
                <a:effectLst/>
                <a:uLnTx/>
                <a:uFillTx/>
                <a:latin typeface="微软雅黑" panose="020B0503020204020204" charset="-122"/>
                <a:ea typeface="微软雅黑" panose="020B0503020204020204" charset="-122"/>
                <a:cs typeface="Times New Roman" panose="02020603050405020304" pitchFamily="18" charset="0"/>
              </a:rPr>
              <a:t>语言中，八进制常数以前缀</a:t>
            </a:r>
            <a:r>
              <a:rPr kumimoji="0" lang="en-US" altLang="zh-CN" sz="2800" b="1" i="0" u="none" strike="noStrike" kern="1200" cap="none" spc="0" normalizeH="0" baseline="0" noProof="0" dirty="0">
                <a:ln>
                  <a:noFill/>
                </a:ln>
                <a:solidFill>
                  <a:schemeClr val="accent5">
                    <a:lumMod val="50000"/>
                  </a:schemeClr>
                </a:solidFill>
                <a:effectLst/>
                <a:uLnTx/>
                <a:uFillTx/>
                <a:latin typeface="微软雅黑" panose="020B0503020204020204" charset="-122"/>
                <a:ea typeface="微软雅黑" panose="020B0503020204020204" charset="-122"/>
                <a:cs typeface="Times New Roman" panose="02020603050405020304" pitchFamily="18" charset="0"/>
              </a:rPr>
              <a:t>0</a:t>
            </a:r>
            <a:r>
              <a:rPr kumimoji="0" lang="zh-CN" altLang="zh-CN" sz="2800" b="1" i="0" u="none" strike="noStrike" kern="1200" cap="none" spc="0" normalizeH="0" baseline="0" noProof="0" dirty="0">
                <a:ln>
                  <a:noFill/>
                </a:ln>
                <a:solidFill>
                  <a:schemeClr val="accent5">
                    <a:lumMod val="50000"/>
                  </a:schemeClr>
                </a:solidFill>
                <a:effectLst/>
                <a:uLnTx/>
                <a:uFillTx/>
                <a:latin typeface="微软雅黑" panose="020B0503020204020204" charset="-122"/>
                <a:ea typeface="微软雅黑" panose="020B0503020204020204" charset="-122"/>
                <a:cs typeface="Times New Roman" panose="02020603050405020304" pitchFamily="18" charset="0"/>
              </a:rPr>
              <a:t>开始，十六进制常数以前缀</a:t>
            </a:r>
            <a:r>
              <a:rPr kumimoji="0" lang="en-US" altLang="zh-CN" sz="2800" b="1" i="0" u="none" strike="noStrike" kern="1200" cap="none" spc="0" normalizeH="0" baseline="0" noProof="0" dirty="0">
                <a:ln>
                  <a:noFill/>
                </a:ln>
                <a:solidFill>
                  <a:schemeClr val="accent5">
                    <a:lumMod val="50000"/>
                  </a:schemeClr>
                </a:solidFill>
                <a:effectLst/>
                <a:uLnTx/>
                <a:uFillTx/>
                <a:latin typeface="微软雅黑" panose="020B0503020204020204" charset="-122"/>
                <a:ea typeface="微软雅黑" panose="020B0503020204020204" charset="-122"/>
                <a:cs typeface="Times New Roman" panose="02020603050405020304" pitchFamily="18" charset="0"/>
              </a:rPr>
              <a:t>0x</a:t>
            </a:r>
            <a:r>
              <a:rPr kumimoji="0" lang="zh-CN" altLang="zh-CN" sz="2800" b="1" i="0" u="none" strike="noStrike" kern="1200" cap="none" spc="0" normalizeH="0" baseline="0" noProof="0" dirty="0">
                <a:ln>
                  <a:noFill/>
                </a:ln>
                <a:solidFill>
                  <a:schemeClr val="accent5">
                    <a:lumMod val="50000"/>
                  </a:schemeClr>
                </a:solidFill>
                <a:effectLst/>
                <a:uLnTx/>
                <a:uFillTx/>
                <a:latin typeface="微软雅黑" panose="020B0503020204020204" charset="-122"/>
                <a:ea typeface="微软雅黑" panose="020B0503020204020204" charset="-122"/>
                <a:cs typeface="Times New Roman" panose="02020603050405020304" pitchFamily="18" charset="0"/>
              </a:rPr>
              <a:t>开始。</a:t>
            </a:r>
            <a:endParaRPr kumimoji="0" lang="zh-CN" altLang="en-US" sz="2800" b="1" i="0" u="none" strike="noStrike" kern="1200" cap="none" spc="0" normalizeH="0" baseline="0" noProof="0" dirty="0">
              <a:ln>
                <a:noFill/>
              </a:ln>
              <a:solidFill>
                <a:schemeClr val="accent5">
                  <a:lumMod val="50000"/>
                </a:schemeClr>
              </a:solidFill>
              <a:effectLst/>
              <a:uLnTx/>
              <a:uFillTx/>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6" name="Text Box 4"/>
          <p:cNvSpPr txBox="1">
            <a:spLocks noChangeArrowheads="1"/>
          </p:cNvSpPr>
          <p:nvPr/>
        </p:nvSpPr>
        <p:spPr bwMode="auto">
          <a:xfrm>
            <a:off x="611188" y="1336675"/>
            <a:ext cx="2236788"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defRPr/>
            </a:pPr>
            <a:r>
              <a:rPr kumimoji="1" lang="zh-CN" altLang="en-US"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rPr>
              <a:t>进位计数制</a:t>
            </a:r>
            <a:endParaRPr kumimoji="1" lang="zh-CN" altLang="en-US"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endParaRPr>
          </a:p>
        </p:txBody>
      </p:sp>
      <p:sp>
        <p:nvSpPr>
          <p:cNvPr id="30722" name="Text Box 5"/>
          <p:cNvSpPr txBox="1"/>
          <p:nvPr/>
        </p:nvSpPr>
        <p:spPr>
          <a:xfrm>
            <a:off x="1116013" y="2073275"/>
            <a:ext cx="5783262" cy="1722438"/>
          </a:xfrm>
          <a:prstGeom prst="rect">
            <a:avLst/>
          </a:prstGeom>
          <a:noFill/>
          <a:ln w="9525">
            <a:noFill/>
          </a:ln>
        </p:spPr>
        <p:txBody>
          <a:bodyPr wrap="none" anchor="t">
            <a:spAutoFit/>
          </a:bodyPr>
          <a:p>
            <a:r>
              <a:rPr lang="zh-CN" altLang="en-US" sz="2400" b="1" dirty="0">
                <a:solidFill>
                  <a:schemeClr val="tx2"/>
                </a:solidFill>
                <a:latin typeface="微软雅黑" panose="020B0503020204020204" charset="-122"/>
                <a:ea typeface="微软雅黑" panose="020B0503020204020204" charset="-122"/>
              </a:rPr>
              <a:t>（</a:t>
            </a:r>
            <a:r>
              <a:rPr lang="en-US" altLang="zh-CN" sz="2400" b="1" dirty="0">
                <a:solidFill>
                  <a:schemeClr val="tx2"/>
                </a:solidFill>
                <a:latin typeface="微软雅黑" panose="020B0503020204020204" charset="-122"/>
                <a:ea typeface="微软雅黑" panose="020B0503020204020204" charset="-122"/>
              </a:rPr>
              <a:t>1</a:t>
            </a:r>
            <a:r>
              <a:rPr lang="zh-CN" altLang="en-US" sz="2400" b="1" dirty="0">
                <a:solidFill>
                  <a:schemeClr val="tx2"/>
                </a:solidFill>
                <a:latin typeface="微软雅黑" panose="020B0503020204020204" charset="-122"/>
                <a:ea typeface="微软雅黑" panose="020B0503020204020204" charset="-122"/>
              </a:rPr>
              <a:t>）进位制的两要素</a:t>
            </a:r>
            <a:endParaRPr lang="zh-CN" altLang="en-US" sz="2400" b="1" dirty="0">
              <a:solidFill>
                <a:schemeClr val="tx2"/>
              </a:solidFill>
              <a:latin typeface="微软雅黑" panose="020B0503020204020204" charset="-122"/>
              <a:ea typeface="微软雅黑" panose="020B0503020204020204" charset="-122"/>
            </a:endParaRPr>
          </a:p>
          <a:p>
            <a:pPr lvl="2" indent="0" eaLnBrk="1" hangingPunct="1">
              <a:spcBef>
                <a:spcPts val="600"/>
              </a:spcBef>
              <a:spcAft>
                <a:spcPts val="600"/>
              </a:spcAft>
              <a:buNone/>
            </a:pPr>
            <a:r>
              <a:rPr lang="en-US" altLang="zh-CN" sz="2400" b="1" dirty="0">
                <a:solidFill>
                  <a:schemeClr val="tx2"/>
                </a:solidFill>
                <a:latin typeface="微软雅黑" panose="020B0503020204020204" charset="-122"/>
                <a:ea typeface="微软雅黑" panose="020B0503020204020204" charset="-122"/>
              </a:rPr>
              <a:t>375=3×10</a:t>
            </a:r>
            <a:r>
              <a:rPr lang="en-US" altLang="zh-CN" sz="2400" b="1" baseline="30000" dirty="0">
                <a:solidFill>
                  <a:schemeClr val="tx2"/>
                </a:solidFill>
                <a:latin typeface="微软雅黑" panose="020B0503020204020204" charset="-122"/>
                <a:ea typeface="微软雅黑" panose="020B0503020204020204" charset="-122"/>
              </a:rPr>
              <a:t>2</a:t>
            </a:r>
            <a:r>
              <a:rPr lang="en-US" altLang="zh-CN" sz="2400" b="1" dirty="0">
                <a:solidFill>
                  <a:schemeClr val="tx2"/>
                </a:solidFill>
                <a:latin typeface="微软雅黑" panose="020B0503020204020204" charset="-122"/>
                <a:ea typeface="微软雅黑" panose="020B0503020204020204" charset="-122"/>
              </a:rPr>
              <a:t>+7 ×10</a:t>
            </a:r>
            <a:r>
              <a:rPr lang="en-US" altLang="zh-CN" sz="2400" b="1" baseline="30000" dirty="0">
                <a:solidFill>
                  <a:schemeClr val="tx2"/>
                </a:solidFill>
                <a:latin typeface="微软雅黑" panose="020B0503020204020204" charset="-122"/>
                <a:ea typeface="微软雅黑" panose="020B0503020204020204" charset="-122"/>
              </a:rPr>
              <a:t>1</a:t>
            </a:r>
            <a:r>
              <a:rPr lang="en-US" altLang="zh-CN" sz="2400" b="1" dirty="0">
                <a:solidFill>
                  <a:schemeClr val="tx2"/>
                </a:solidFill>
                <a:latin typeface="微软雅黑" panose="020B0503020204020204" charset="-122"/>
                <a:ea typeface="微软雅黑" panose="020B0503020204020204" charset="-122"/>
              </a:rPr>
              <a:t>+5 ×10</a:t>
            </a:r>
            <a:r>
              <a:rPr lang="en-US" altLang="zh-CN" sz="2400" b="1" baseline="30000" dirty="0">
                <a:solidFill>
                  <a:schemeClr val="tx2"/>
                </a:solidFill>
                <a:latin typeface="微软雅黑" panose="020B0503020204020204" charset="-122"/>
                <a:ea typeface="微软雅黑" panose="020B0503020204020204" charset="-122"/>
              </a:rPr>
              <a:t>0</a:t>
            </a:r>
            <a:endParaRPr lang="en-US" altLang="zh-CN" sz="2400" b="1" baseline="30000" dirty="0">
              <a:solidFill>
                <a:schemeClr val="tx2"/>
              </a:solidFill>
              <a:latin typeface="微软雅黑" panose="020B0503020204020204" charset="-122"/>
              <a:ea typeface="微软雅黑" panose="020B0503020204020204" charset="-122"/>
            </a:endParaRPr>
          </a:p>
          <a:p>
            <a:r>
              <a:rPr lang="en-US" altLang="zh-CN" sz="2400" b="1" dirty="0">
                <a:solidFill>
                  <a:schemeClr val="tx2"/>
                </a:solidFill>
                <a:latin typeface="微软雅黑" panose="020B0503020204020204" charset="-122"/>
                <a:ea typeface="微软雅黑" panose="020B0503020204020204" charset="-122"/>
              </a:rPr>
              <a:t>     </a:t>
            </a:r>
            <a:r>
              <a:rPr lang="zh-CN" altLang="en-US" sz="2400" b="1" dirty="0">
                <a:solidFill>
                  <a:srgbClr val="FF0000"/>
                </a:solidFill>
                <a:latin typeface="微软雅黑" panose="020B0503020204020204" charset="-122"/>
                <a:ea typeface="微软雅黑" panose="020B0503020204020204" charset="-122"/>
              </a:rPr>
              <a:t>基数</a:t>
            </a:r>
            <a:r>
              <a:rPr lang="en-US" altLang="zh-CN" sz="2400" b="1" dirty="0">
                <a:solidFill>
                  <a:srgbClr val="FF0000"/>
                </a:solidFill>
                <a:latin typeface="微软雅黑" panose="020B0503020204020204" charset="-122"/>
                <a:ea typeface="微软雅黑" panose="020B0503020204020204" charset="-122"/>
              </a:rPr>
              <a:t>R  </a:t>
            </a:r>
            <a:r>
              <a:rPr lang="en-US" altLang="zh-CN" sz="2400" b="1" dirty="0">
                <a:solidFill>
                  <a:schemeClr val="tx2"/>
                </a:solidFill>
                <a:latin typeface="微软雅黑" panose="020B0503020204020204" charset="-122"/>
                <a:ea typeface="微软雅黑" panose="020B0503020204020204" charset="-122"/>
              </a:rPr>
              <a:t>──</a:t>
            </a:r>
            <a:r>
              <a:rPr lang="zh-CN" altLang="en-US" sz="2400" b="1" dirty="0">
                <a:solidFill>
                  <a:schemeClr val="tx2"/>
                </a:solidFill>
                <a:latin typeface="微软雅黑" panose="020B0503020204020204" charset="-122"/>
                <a:ea typeface="微软雅黑" panose="020B0503020204020204" charset="-122"/>
              </a:rPr>
              <a:t>计数制中所用到的数码个数</a:t>
            </a:r>
            <a:endParaRPr lang="zh-CN" altLang="en-US" sz="2400" b="1" dirty="0">
              <a:solidFill>
                <a:schemeClr val="tx2"/>
              </a:solidFill>
              <a:latin typeface="微软雅黑" panose="020B0503020204020204" charset="-122"/>
              <a:ea typeface="微软雅黑" panose="020B0503020204020204" charset="-122"/>
            </a:endParaRPr>
          </a:p>
          <a:p>
            <a:r>
              <a:rPr lang="zh-CN" altLang="en-US" sz="2400" b="1" dirty="0">
                <a:solidFill>
                  <a:schemeClr val="tx2"/>
                </a:solidFill>
                <a:latin typeface="微软雅黑" panose="020B0503020204020204" charset="-122"/>
                <a:ea typeface="微软雅黑" panose="020B0503020204020204" charset="-122"/>
              </a:rPr>
              <a:t>    </a:t>
            </a:r>
            <a:r>
              <a:rPr lang="zh-CN" altLang="en-US" sz="2400" b="1" dirty="0">
                <a:solidFill>
                  <a:srgbClr val="FF0000"/>
                </a:solidFill>
                <a:latin typeface="微软雅黑" panose="020B0503020204020204" charset="-122"/>
                <a:ea typeface="微软雅黑" panose="020B0503020204020204" charset="-122"/>
              </a:rPr>
              <a:t> 位权</a:t>
            </a:r>
            <a:r>
              <a:rPr lang="en-US" altLang="zh-CN" sz="2400" b="1" dirty="0">
                <a:solidFill>
                  <a:srgbClr val="FF0000"/>
                </a:solidFill>
                <a:latin typeface="微软雅黑" panose="020B0503020204020204" charset="-122"/>
                <a:ea typeface="微软雅黑" panose="020B0503020204020204" charset="-122"/>
              </a:rPr>
              <a:t>R</a:t>
            </a:r>
            <a:r>
              <a:rPr lang="en-US" altLang="zh-CN" sz="2400" b="1" baseline="30000" dirty="0">
                <a:solidFill>
                  <a:srgbClr val="FF0000"/>
                </a:solidFill>
                <a:latin typeface="微软雅黑" panose="020B0503020204020204" charset="-122"/>
                <a:ea typeface="微软雅黑" panose="020B0503020204020204" charset="-122"/>
              </a:rPr>
              <a:t>i</a:t>
            </a:r>
            <a:r>
              <a:rPr lang="en-US" altLang="zh-CN" sz="2400" b="1" dirty="0">
                <a:solidFill>
                  <a:srgbClr val="FF0000"/>
                </a:solidFill>
                <a:latin typeface="微软雅黑" panose="020B0503020204020204" charset="-122"/>
                <a:ea typeface="微软雅黑" panose="020B0503020204020204" charset="-122"/>
              </a:rPr>
              <a:t> </a:t>
            </a:r>
            <a:r>
              <a:rPr lang="en-US" altLang="zh-CN" sz="2400" b="1" dirty="0">
                <a:solidFill>
                  <a:schemeClr val="tx2"/>
                </a:solidFill>
                <a:latin typeface="微软雅黑" panose="020B0503020204020204" charset="-122"/>
                <a:ea typeface="微软雅黑" panose="020B0503020204020204" charset="-122"/>
              </a:rPr>
              <a:t>──</a:t>
            </a:r>
            <a:r>
              <a:rPr lang="zh-CN" altLang="en-US" sz="2400" b="1" dirty="0">
                <a:solidFill>
                  <a:schemeClr val="tx2"/>
                </a:solidFill>
                <a:latin typeface="微软雅黑" panose="020B0503020204020204" charset="-122"/>
                <a:ea typeface="微软雅黑" panose="020B0503020204020204" charset="-122"/>
              </a:rPr>
              <a:t>数位的固定倍数</a:t>
            </a:r>
            <a:endParaRPr lang="zh-CN" altLang="en-US" sz="2400" b="1" dirty="0">
              <a:solidFill>
                <a:schemeClr val="tx2"/>
              </a:solidFill>
              <a:latin typeface="微软雅黑" panose="020B0503020204020204" charset="-122"/>
              <a:ea typeface="微软雅黑" panose="020B0503020204020204" charset="-122"/>
            </a:endParaRPr>
          </a:p>
        </p:txBody>
      </p:sp>
      <p:sp>
        <p:nvSpPr>
          <p:cNvPr id="115718" name="Text Box 6"/>
          <p:cNvSpPr txBox="1">
            <a:spLocks noChangeArrowheads="1"/>
          </p:cNvSpPr>
          <p:nvPr/>
        </p:nvSpPr>
        <p:spPr bwMode="auto">
          <a:xfrm>
            <a:off x="1116013" y="4149725"/>
            <a:ext cx="7391400" cy="209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buClrTx/>
              <a:buSzTx/>
              <a:buFontTx/>
              <a:defRPr/>
            </a:pPr>
            <a:r>
              <a:rPr kumimoji="1" lang="zh-CN" altLang="en-US" sz="2400"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rPr>
              <a:t>（</a:t>
            </a:r>
            <a:r>
              <a:rPr kumimoji="1" lang="en-US" altLang="zh-CN" sz="2400"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rPr>
              <a:t>2</a:t>
            </a:r>
            <a:r>
              <a:rPr kumimoji="1" lang="zh-CN" altLang="en-US" sz="2400"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rPr>
              <a:t>）</a:t>
            </a:r>
            <a:r>
              <a:rPr kumimoji="1" lang="en-US" altLang="zh-CN" sz="2400"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rPr>
              <a:t>R</a:t>
            </a:r>
            <a:r>
              <a:rPr kumimoji="1" lang="zh-CN" altLang="en-US" sz="2400"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rPr>
              <a:t>进位的主要性质</a:t>
            </a:r>
            <a:endParaRPr kumimoji="1" lang="zh-CN" altLang="en-US" sz="2400"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endParaRPr>
          </a:p>
          <a:p>
            <a:pPr marL="457200" marR="0" lvl="1" indent="0" algn="l" defTabSz="914400" rtl="0" eaLnBrk="1" fontAlgn="base" latinLnBrk="0" hangingPunct="1">
              <a:lnSpc>
                <a:spcPct val="100000"/>
              </a:lnSpc>
              <a:spcBef>
                <a:spcPts val="1200"/>
              </a:spcBef>
              <a:spcAft>
                <a:spcPct val="0"/>
              </a:spcAft>
              <a:buClrTx/>
              <a:buSzTx/>
              <a:buFont typeface="Wingdings" panose="05000000000000000000" pitchFamily="2" charset="2"/>
              <a:buChar char="ü"/>
              <a:defRPr/>
            </a:pPr>
            <a:r>
              <a:rPr kumimoji="1" lang="zh-CN" altLang="en-US" sz="2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有</a:t>
            </a:r>
            <a:r>
              <a:rPr kumimoji="1" lang="en-US" altLang="zh-CN" sz="2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R</a:t>
            </a:r>
            <a:r>
              <a:rPr kumimoji="1" lang="zh-CN" altLang="en-US" sz="2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个数字符号，</a:t>
            </a:r>
            <a:r>
              <a:rPr kumimoji="1"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逢</a:t>
            </a:r>
            <a:r>
              <a:rPr kumimoji="1" lang="en-US" altLang="zh-CN"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R</a:t>
            </a:r>
            <a:r>
              <a:rPr kumimoji="1"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进一</a:t>
            </a:r>
            <a:r>
              <a:rPr kumimoji="1" lang="zh-CN" altLang="en-US" sz="2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a:t>
            </a:r>
            <a:endParaRPr kumimoji="1" lang="zh-CN" altLang="en-US" sz="2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mn-cs"/>
            </a:endParaRPr>
          </a:p>
          <a:p>
            <a:pPr marL="457200" marR="0" lvl="1" indent="0" algn="l" defTabSz="914400" rtl="0" eaLnBrk="1" fontAlgn="base" latinLnBrk="0" hangingPunct="1">
              <a:lnSpc>
                <a:spcPct val="100000"/>
              </a:lnSpc>
              <a:spcBef>
                <a:spcPct val="0"/>
              </a:spcBef>
              <a:spcAft>
                <a:spcPct val="0"/>
              </a:spcAft>
              <a:buClrTx/>
              <a:buSzTx/>
              <a:buFont typeface="Wingdings" panose="05000000000000000000" pitchFamily="2" charset="2"/>
              <a:buChar char="ü"/>
              <a:defRPr/>
            </a:pPr>
            <a:r>
              <a:rPr kumimoji="1" lang="zh-CN" altLang="en-US" sz="2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 任一个</a:t>
            </a:r>
            <a:r>
              <a:rPr kumimoji="1" lang="en-US" altLang="zh-CN" sz="2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R</a:t>
            </a:r>
            <a:r>
              <a:rPr kumimoji="1" lang="zh-CN" altLang="en-US" sz="2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进制数都可以按权展开。</a:t>
            </a:r>
            <a:endParaRPr kumimoji="1" lang="zh-CN" altLang="en-US" sz="2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mn-cs"/>
            </a:endParaRPr>
          </a:p>
          <a:p>
            <a:pPr marL="457200" marR="0" lvl="1" indent="0" algn="l" defTabSz="914400" rtl="0" eaLnBrk="1" fontAlgn="base" latinLnBrk="0" hangingPunct="1">
              <a:lnSpc>
                <a:spcPct val="100000"/>
              </a:lnSpc>
              <a:spcBef>
                <a:spcPct val="0"/>
              </a:spcBef>
              <a:spcAft>
                <a:spcPct val="0"/>
              </a:spcAft>
              <a:buClrTx/>
              <a:buSzTx/>
              <a:buFont typeface="Wingdings" panose="05000000000000000000" pitchFamily="2" charset="2"/>
              <a:buChar char="ü"/>
              <a:defRPr/>
            </a:pPr>
            <a:r>
              <a:rPr kumimoji="1" lang="zh-CN" altLang="en-US" sz="2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 对于</a:t>
            </a:r>
            <a:r>
              <a:rPr kumimoji="1" lang="en-US" altLang="zh-CN" sz="2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R</a:t>
            </a:r>
            <a:r>
              <a:rPr kumimoji="1" lang="zh-CN" altLang="en-US" sz="2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进制数：若小数点</a:t>
            </a:r>
            <a:r>
              <a:rPr kumimoji="1"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左移</a:t>
            </a:r>
            <a:r>
              <a:rPr kumimoji="1" lang="zh-CN" altLang="en-US" sz="2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一位，则此数</a:t>
            </a:r>
            <a:r>
              <a:rPr kumimoji="1"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缩小</a:t>
            </a:r>
            <a:r>
              <a:rPr kumimoji="1" lang="en-US" altLang="zh-CN"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R</a:t>
            </a:r>
            <a:r>
              <a:rPr kumimoji="1"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倍</a:t>
            </a:r>
            <a:r>
              <a:rPr kumimoji="1" lang="zh-CN" altLang="en-US" sz="2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；若小数点</a:t>
            </a:r>
            <a:r>
              <a:rPr kumimoji="1"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右移</a:t>
            </a:r>
            <a:r>
              <a:rPr kumimoji="1" lang="zh-CN" altLang="en-US" sz="2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一位，则此数</a:t>
            </a:r>
            <a:r>
              <a:rPr kumimoji="1"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增大</a:t>
            </a:r>
            <a:r>
              <a:rPr kumimoji="1" lang="en-US" altLang="zh-CN"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R</a:t>
            </a:r>
            <a:r>
              <a:rPr kumimoji="1"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倍</a:t>
            </a:r>
            <a:r>
              <a:rPr kumimoji="1" lang="zh-CN" altLang="en-US" sz="2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a:t>
            </a:r>
            <a:endParaRPr kumimoji="1" lang="zh-CN" altLang="en-US" sz="2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mn-cs"/>
            </a:endParaRPr>
          </a:p>
        </p:txBody>
      </p:sp>
      <p:sp>
        <p:nvSpPr>
          <p:cNvPr id="30724" name="矩形 1"/>
          <p:cNvSpPr/>
          <p:nvPr/>
        </p:nvSpPr>
        <p:spPr>
          <a:xfrm>
            <a:off x="395288" y="336550"/>
            <a:ext cx="6264275" cy="771525"/>
          </a:xfrm>
          <a:prstGeom prst="rect">
            <a:avLst/>
          </a:prstGeom>
          <a:noFill/>
          <a:ln w="9525">
            <a:noFill/>
          </a:ln>
        </p:spPr>
        <p:txBody>
          <a:bodyPr anchor="t"/>
          <a:p>
            <a:r>
              <a:rPr lang="zh-CN" altLang="en-US" sz="3600" b="1" dirty="0">
                <a:solidFill>
                  <a:srgbClr val="0000FF"/>
                </a:solidFill>
                <a:latin typeface="微软雅黑" panose="020B0503020204020204" charset="-122"/>
                <a:ea typeface="微软雅黑" panose="020B0503020204020204" charset="-122"/>
              </a:rPr>
              <a:t>进位计数制及其相互间的转换</a:t>
            </a:r>
            <a:endParaRPr lang="zh-CN" altLang="en-US" sz="3600" b="1" dirty="0">
              <a:solidFill>
                <a:srgbClr val="0000FF"/>
              </a:solidFill>
              <a:latin typeface="微软雅黑" panose="020B0503020204020204" charset="-122"/>
              <a:ea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2"/>
          <p:cNvSpPr>
            <a:spLocks noGrp="1"/>
          </p:cNvSpPr>
          <p:nvPr>
            <p:ph type="title"/>
          </p:nvPr>
        </p:nvSpPr>
        <p:spPr>
          <a:xfrm>
            <a:off x="327025" y="436563"/>
            <a:ext cx="7772400" cy="831850"/>
          </a:xfrm>
          <a:noFill/>
          <a:ln>
            <a:noFill/>
          </a:ln>
        </p:spPr>
        <p:txBody>
          <a:bodyPr anchor="t"/>
          <a:p>
            <a:pPr eaLnBrk="1" hangingPunct="1">
              <a:buNone/>
            </a:pPr>
            <a:r>
              <a:rPr lang="zh-CN" altLang="en-US" dirty="0">
                <a:solidFill>
                  <a:srgbClr val="0000FF"/>
                </a:solidFill>
                <a:latin typeface="微软雅黑" panose="020B0503020204020204" charset="-122"/>
                <a:ea typeface="微软雅黑" panose="020B0503020204020204" charset="-122"/>
              </a:rPr>
              <a:t>2.1  数值数据的表示</a:t>
            </a:r>
            <a:endParaRPr lang="en-US" altLang="zh-CN" dirty="0">
              <a:solidFill>
                <a:srgbClr val="0000FF"/>
              </a:solidFill>
              <a:latin typeface="微软雅黑" panose="020B0503020204020204" charset="-122"/>
              <a:ea typeface="微软雅黑" panose="020B0503020204020204" charset="-122"/>
            </a:endParaRPr>
          </a:p>
        </p:txBody>
      </p:sp>
      <p:sp>
        <p:nvSpPr>
          <p:cNvPr id="28674" name="Rectangle 3"/>
          <p:cNvSpPr>
            <a:spLocks noGrp="1"/>
          </p:cNvSpPr>
          <p:nvPr>
            <p:ph idx="1"/>
          </p:nvPr>
        </p:nvSpPr>
        <p:spPr>
          <a:xfrm>
            <a:off x="611188" y="1268413"/>
            <a:ext cx="7772400" cy="2016125"/>
          </a:xfrm>
          <a:noFill/>
          <a:ln>
            <a:noFill/>
          </a:ln>
        </p:spPr>
        <p:txBody>
          <a:bodyPr anchor="t"/>
          <a:p>
            <a:pPr marL="457200" indent="-457200" algn="just" eaLnBrk="1" hangingPunct="1">
              <a:lnSpc>
                <a:spcPct val="150000"/>
              </a:lnSpc>
              <a:spcBef>
                <a:spcPct val="0"/>
              </a:spcBef>
              <a:buClr>
                <a:srgbClr val="364F10"/>
              </a:buClr>
              <a:buFont typeface="Wingdings" panose="05000000000000000000" charset="0"/>
              <a:buChar char="u"/>
            </a:pPr>
            <a:r>
              <a:rPr lang="zh-CN" altLang="en-US" sz="2400" dirty="0">
                <a:solidFill>
                  <a:schemeClr val="tx2"/>
                </a:solidFill>
                <a:latin typeface="微软雅黑" panose="020B0503020204020204" charset="-122"/>
                <a:ea typeface="微软雅黑" panose="020B0503020204020204" charset="-122"/>
                <a:sym typeface="+mn-ea"/>
              </a:rPr>
              <a:t>采用数字化方式来表示数据，</a:t>
            </a:r>
            <a:r>
              <a:rPr lang="zh-CN" altLang="en-US" sz="2400" dirty="0">
                <a:solidFill>
                  <a:schemeClr val="tx2"/>
                </a:solidFill>
                <a:latin typeface="微软雅黑" panose="020B0503020204020204" charset="-122"/>
                <a:ea typeface="微软雅黑" panose="020B0503020204020204" charset="-122"/>
              </a:rPr>
              <a:t>数据有</a:t>
            </a:r>
            <a:r>
              <a:rPr lang="zh-CN" altLang="en-US" sz="2400" dirty="0">
                <a:solidFill>
                  <a:srgbClr val="FF0000"/>
                </a:solidFill>
                <a:latin typeface="微软雅黑" panose="020B0503020204020204" charset="-122"/>
                <a:ea typeface="微软雅黑" panose="020B0503020204020204" charset="-122"/>
              </a:rPr>
              <a:t>无符号数</a:t>
            </a:r>
            <a:r>
              <a:rPr lang="zh-CN" altLang="en-US" sz="2400" dirty="0">
                <a:solidFill>
                  <a:schemeClr val="tx2"/>
                </a:solidFill>
                <a:latin typeface="微软雅黑" panose="020B0503020204020204" charset="-122"/>
                <a:ea typeface="微软雅黑" panose="020B0503020204020204" charset="-122"/>
              </a:rPr>
              <a:t>和</a:t>
            </a:r>
            <a:r>
              <a:rPr lang="zh-CN" altLang="en-US" sz="2400" dirty="0">
                <a:solidFill>
                  <a:srgbClr val="FF0000"/>
                </a:solidFill>
                <a:latin typeface="微软雅黑" panose="020B0503020204020204" charset="-122"/>
                <a:ea typeface="微软雅黑" panose="020B0503020204020204" charset="-122"/>
              </a:rPr>
              <a:t>带符号数</a:t>
            </a:r>
            <a:r>
              <a:rPr lang="zh-CN" altLang="en-US" sz="2400" dirty="0">
                <a:solidFill>
                  <a:schemeClr val="tx2"/>
                </a:solidFill>
                <a:latin typeface="微软雅黑" panose="020B0503020204020204" charset="-122"/>
                <a:ea typeface="微软雅黑" panose="020B0503020204020204" charset="-122"/>
              </a:rPr>
              <a:t>之分，其中带符号数根据其编码的不同又有</a:t>
            </a:r>
            <a:r>
              <a:rPr lang="zh-CN" altLang="en-US" sz="2400" dirty="0">
                <a:solidFill>
                  <a:srgbClr val="FF0000"/>
                </a:solidFill>
                <a:latin typeface="微软雅黑" panose="020B0503020204020204" charset="-122"/>
                <a:ea typeface="微软雅黑" panose="020B0503020204020204" charset="-122"/>
              </a:rPr>
              <a:t>原码、补码和反码</a:t>
            </a:r>
            <a:r>
              <a:rPr lang="zh-CN" altLang="en-US" sz="2400" dirty="0">
                <a:solidFill>
                  <a:schemeClr val="tx2"/>
                </a:solidFill>
                <a:latin typeface="微软雅黑" panose="020B0503020204020204" charset="-122"/>
                <a:ea typeface="微软雅黑" panose="020B0503020204020204" charset="-122"/>
              </a:rPr>
              <a:t>3种形式</a:t>
            </a:r>
            <a:r>
              <a:rPr lang="zh-CN" altLang="en-US" sz="2400" dirty="0">
                <a:latin typeface="微软雅黑" panose="020B0503020204020204" charset="-122"/>
                <a:ea typeface="微软雅黑" panose="020B0503020204020204" charset="-122"/>
              </a:rPr>
              <a:t>。</a:t>
            </a:r>
            <a:endParaRPr lang="zh-CN" altLang="en-US" sz="2400" dirty="0">
              <a:latin typeface="微软雅黑" panose="020B0503020204020204" charset="-122"/>
              <a:ea typeface="微软雅黑" panose="020B0503020204020204" charset="-122"/>
            </a:endParaRPr>
          </a:p>
        </p:txBody>
      </p:sp>
      <p:sp>
        <p:nvSpPr>
          <p:cNvPr id="28675" name="文本框 4"/>
          <p:cNvSpPr txBox="1"/>
          <p:nvPr/>
        </p:nvSpPr>
        <p:spPr>
          <a:xfrm>
            <a:off x="1928813" y="5811838"/>
            <a:ext cx="5691187" cy="521970"/>
          </a:xfrm>
          <a:prstGeom prst="rect">
            <a:avLst/>
          </a:prstGeom>
          <a:noFill/>
          <a:ln w="9525">
            <a:noFill/>
          </a:ln>
        </p:spPr>
        <p:txBody>
          <a:bodyPr anchor="t">
            <a:spAutoFit/>
          </a:bodyPr>
          <a:p>
            <a:pPr eaLnBrk="0" hangingPunct="0"/>
            <a:r>
              <a:rPr lang="zh-CN" altLang="en-US" sz="2800" b="1" dirty="0">
                <a:solidFill>
                  <a:srgbClr val="0000FF"/>
                </a:solidFill>
                <a:latin typeface="微软雅黑" panose="020B0503020204020204" charset="-122"/>
                <a:ea typeface="微软雅黑" panose="020B0503020204020204" charset="-122"/>
              </a:rPr>
              <a:t>为什么要采用不同的编码？</a:t>
            </a:r>
            <a:endParaRPr lang="zh-CN" altLang="en-US" sz="2800" b="1" dirty="0">
              <a:solidFill>
                <a:srgbClr val="0000FF"/>
              </a:solidFill>
              <a:latin typeface="微软雅黑" panose="020B0503020204020204" charset="-122"/>
              <a:ea typeface="微软雅黑" panose="020B0503020204020204" charset="-122"/>
            </a:endParaRPr>
          </a:p>
        </p:txBody>
      </p:sp>
      <p:graphicFrame>
        <p:nvGraphicFramePr>
          <p:cNvPr id="2" name="图示 1"/>
          <p:cNvGraphicFramePr/>
          <p:nvPr/>
        </p:nvGraphicFramePr>
        <p:xfrm>
          <a:off x="1745968" y="2969933"/>
          <a:ext cx="4933080" cy="309982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Rectangle 2"/>
          <p:cNvSpPr>
            <a:spLocks noGrp="1"/>
          </p:cNvSpPr>
          <p:nvPr>
            <p:ph type="title"/>
          </p:nvPr>
        </p:nvSpPr>
        <p:spPr>
          <a:xfrm>
            <a:off x="360363" y="334963"/>
            <a:ext cx="7772400" cy="925512"/>
          </a:xfrm>
          <a:noFill/>
          <a:ln>
            <a:noFill/>
          </a:ln>
        </p:spPr>
        <p:txBody>
          <a:bodyPr anchor="t"/>
          <a:p>
            <a:pPr eaLnBrk="1" hangingPunct="1">
              <a:buNone/>
            </a:pPr>
            <a:r>
              <a:rPr lang="zh-CN" altLang="en-US" sz="3600" dirty="0">
                <a:solidFill>
                  <a:srgbClr val="0000FF"/>
                </a:solidFill>
                <a:latin typeface="微软雅黑" panose="020B0503020204020204" charset="-122"/>
                <a:ea typeface="微软雅黑" panose="020B0503020204020204" charset="-122"/>
              </a:rPr>
              <a:t>无符号数和带符号数 </a:t>
            </a:r>
            <a:endParaRPr lang="zh-CN" altLang="en-US" sz="3600" dirty="0">
              <a:solidFill>
                <a:srgbClr val="0000FF"/>
              </a:solidFill>
              <a:latin typeface="微软雅黑" panose="020B0503020204020204" charset="-122"/>
              <a:ea typeface="微软雅黑" panose="020B0503020204020204" charset="-122"/>
            </a:endParaRPr>
          </a:p>
        </p:txBody>
      </p:sp>
      <p:sp>
        <p:nvSpPr>
          <p:cNvPr id="9220" name="Rectangle 3"/>
          <p:cNvSpPr>
            <a:spLocks noGrp="1" noChangeArrowheads="1"/>
          </p:cNvSpPr>
          <p:nvPr>
            <p:ph idx="1"/>
          </p:nvPr>
        </p:nvSpPr>
        <p:spPr>
          <a:xfrm>
            <a:off x="504825" y="1903413"/>
            <a:ext cx="7924800" cy="4344988"/>
          </a:xfrm>
        </p:spPr>
        <p:txBody>
          <a:bodyPr/>
          <a:lstStyle/>
          <a:p>
            <a:pPr marL="342900" marR="0" lvl="0" indent="-342900" algn="just" defTabSz="914400" rtl="0" eaLnBrk="1" fontAlgn="base" latinLnBrk="0" hangingPunct="1">
              <a:lnSpc>
                <a:spcPct val="100000"/>
              </a:lnSpc>
              <a:spcBef>
                <a:spcPct val="20000"/>
              </a:spcBef>
              <a:spcAft>
                <a:spcPct val="0"/>
              </a:spcAft>
              <a:buClr>
                <a:schemeClr val="tx2"/>
              </a:buClr>
              <a:buSzPct val="80000"/>
              <a:buFont typeface="Wingdings" panose="05000000000000000000" pitchFamily="2" charset="2"/>
              <a:buChar char="u"/>
              <a:defRPr/>
            </a:pP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整个机器字长的</a:t>
            </a:r>
            <a:r>
              <a:rPr kumimoji="0" lang="zh-CN" altLang="en-US" sz="2800" b="1"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全部二进制位均表示数值</a:t>
            </a: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位（没有符号位），相当于数的绝对值。例如：</a:t>
            </a:r>
            <a:endPar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R="0" lvl="1" algn="just" defTabSz="914400" rtl="0" eaLnBrk="1" fontAlgn="base" latinLnBrk="0" hangingPunct="1">
              <a:lnSpc>
                <a:spcPct val="100000"/>
              </a:lnSpc>
              <a:spcBef>
                <a:spcPct val="20000"/>
              </a:spcBef>
              <a:spcAft>
                <a:spcPct val="0"/>
              </a:spcAft>
              <a:buClr>
                <a:schemeClr val="hlink"/>
              </a:buClr>
              <a:buSzTx/>
              <a:buFont typeface="Wingdings" panose="05000000000000000000" charset="0"/>
              <a:buChar char="ü"/>
              <a:defRPr/>
            </a:pPr>
            <a:r>
              <a:rPr kumimoji="0" lang="en-US" altLang="zh-CN" sz="2395"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N</a:t>
            </a:r>
            <a:r>
              <a:rPr kumimoji="0" lang="en-US" altLang="zh-CN" sz="2395" b="1" i="0" u="none" strike="noStrike" kern="0" cap="none" spc="0" normalizeH="0" baseline="-30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1</a:t>
            </a:r>
            <a:r>
              <a:rPr kumimoji="0" lang="en-US" altLang="zh-CN" sz="2395"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=01001    </a:t>
            </a:r>
            <a:r>
              <a:rPr kumimoji="0" lang="zh-CN" altLang="en-US" sz="2395"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表示无符号数9</a:t>
            </a:r>
            <a:endParaRPr kumimoji="0" lang="zh-CN" altLang="en-US" sz="2395"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R="0" lvl="1" algn="just" defTabSz="914400" rtl="0" eaLnBrk="1" fontAlgn="base" latinLnBrk="0" hangingPunct="1">
              <a:lnSpc>
                <a:spcPct val="100000"/>
              </a:lnSpc>
              <a:spcBef>
                <a:spcPct val="20000"/>
              </a:spcBef>
              <a:spcAft>
                <a:spcPct val="0"/>
              </a:spcAft>
              <a:buClr>
                <a:schemeClr val="hlink"/>
              </a:buClr>
              <a:buSzTx/>
              <a:buFont typeface="Wingdings" panose="05000000000000000000" charset="0"/>
              <a:buChar char="ü"/>
              <a:defRPr/>
            </a:pPr>
            <a:r>
              <a:rPr kumimoji="0" lang="en-US" altLang="zh-CN" sz="2395"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N</a:t>
            </a:r>
            <a:r>
              <a:rPr kumimoji="0" lang="en-US" altLang="zh-CN" sz="2395" b="1" i="0" u="none" strike="noStrike" kern="0" cap="none" spc="0" normalizeH="0" baseline="-30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2</a:t>
            </a:r>
            <a:r>
              <a:rPr kumimoji="0" lang="en-US" altLang="zh-CN" sz="2395"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=11001    </a:t>
            </a:r>
            <a:r>
              <a:rPr kumimoji="0" lang="zh-CN" altLang="en-US" sz="2395"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表示无符号数25</a:t>
            </a:r>
            <a:endPar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342900" marR="0" lvl="0" indent="-342900" algn="just" defTabSz="914400" rtl="0" eaLnBrk="1" fontAlgn="base" latinLnBrk="0" hangingPunct="1">
              <a:lnSpc>
                <a:spcPct val="100000"/>
              </a:lnSpc>
              <a:spcBef>
                <a:spcPts val="1800"/>
              </a:spcBef>
              <a:spcAft>
                <a:spcPct val="0"/>
              </a:spcAft>
              <a:buClr>
                <a:schemeClr val="tx2"/>
              </a:buClr>
              <a:buSzPct val="80000"/>
              <a:buFont typeface="Wingdings" panose="05000000000000000000" pitchFamily="2" charset="2"/>
              <a:buChar char="u"/>
              <a:defRPr/>
            </a:pP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机器</a:t>
            </a:r>
            <a:r>
              <a:rPr kumimoji="0" lang="zh-CN" altLang="en-US" sz="2800" b="1"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字长为</a:t>
            </a:r>
            <a:r>
              <a:rPr kumimoji="0" lang="en-US" altLang="zh-CN" sz="2800" b="1"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n+1</a:t>
            </a:r>
            <a:r>
              <a:rPr kumimoji="0" lang="zh-CN" altLang="en-US" sz="2800" b="1"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位</a:t>
            </a: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的无符号数的表示范围是</a:t>
            </a:r>
            <a:r>
              <a:rPr kumimoji="0" lang="zh-CN" altLang="en-US" sz="2800" b="1"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0～(2</a:t>
            </a:r>
            <a:r>
              <a:rPr kumimoji="0" lang="en-US" altLang="zh-CN" sz="2800" b="1" i="0" u="none" strike="noStrike" kern="0" cap="none" spc="0" normalizeH="0" baseline="3000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n+1</a:t>
            </a:r>
            <a:r>
              <a:rPr kumimoji="0" lang="en-US" altLang="zh-CN" sz="2800" b="1"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-1)</a:t>
            </a:r>
            <a:endPar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R="0" lvl="1" algn="just" defTabSz="914400" rtl="0" eaLnBrk="1" latinLnBrk="0" hangingPunct="1">
              <a:lnSpc>
                <a:spcPct val="100000"/>
              </a:lnSpc>
              <a:spcBef>
                <a:spcPts val="600"/>
              </a:spcBef>
              <a:spcAft>
                <a:spcPct val="0"/>
              </a:spcAft>
              <a:buClr>
                <a:schemeClr val="tx2"/>
              </a:buClr>
              <a:buSzPct val="80000"/>
              <a:buFont typeface="Wingdings" panose="05000000000000000000" charset="0"/>
              <a:buChar char="ü"/>
              <a:defRPr/>
            </a:pPr>
            <a:r>
              <a:rPr kumimoji="0" lang="en-US" altLang="zh-CN" sz="2395"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此时最高位也是数值位，其权值等于2</a:t>
            </a:r>
            <a:r>
              <a:rPr kumimoji="0" lang="en-US" altLang="zh-CN" sz="2395" b="1" i="0" u="none" strike="noStrike" kern="0" cap="none" spc="0" normalizeH="0" baseline="30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n</a:t>
            </a:r>
            <a:r>
              <a:rPr kumimoji="0" lang="en-US" altLang="zh-CN" sz="2395"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endParaRPr kumimoji="0" lang="en-US" altLang="zh-CN" sz="2395"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R="0" lvl="1" algn="just" defTabSz="914400" rtl="0" eaLnBrk="1" latinLnBrk="0" hangingPunct="1">
              <a:lnSpc>
                <a:spcPct val="100000"/>
              </a:lnSpc>
              <a:spcBef>
                <a:spcPts val="600"/>
              </a:spcBef>
              <a:spcAft>
                <a:spcPct val="0"/>
              </a:spcAft>
              <a:buClr>
                <a:schemeClr val="tx2"/>
              </a:buClr>
              <a:buSzPct val="80000"/>
              <a:buFont typeface="Wingdings" panose="05000000000000000000" charset="0"/>
              <a:buChar char="ü"/>
              <a:defRPr/>
            </a:pPr>
            <a:r>
              <a:rPr kumimoji="0" lang="en-US" altLang="zh-CN" sz="2395"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若字长为8位，则数的表示范围为0～255。</a:t>
            </a:r>
            <a:r>
              <a:rPr kumimoji="0" lang="en-US" altLang="zh-CN" sz="279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 </a:t>
            </a:r>
            <a:endParaRPr kumimoji="0" lang="en-US" altLang="zh-CN" sz="279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p:txBody>
      </p:sp>
      <p:sp>
        <p:nvSpPr>
          <p:cNvPr id="31747" name="矩形 1"/>
          <p:cNvSpPr/>
          <p:nvPr/>
        </p:nvSpPr>
        <p:spPr>
          <a:xfrm>
            <a:off x="509588" y="1152525"/>
            <a:ext cx="2317750" cy="585788"/>
          </a:xfrm>
          <a:prstGeom prst="rect">
            <a:avLst/>
          </a:prstGeom>
          <a:noFill/>
          <a:ln w="9525">
            <a:noFill/>
          </a:ln>
        </p:spPr>
        <p:txBody>
          <a:bodyPr wrap="none" anchor="t">
            <a:spAutoFit/>
          </a:bodyPr>
          <a:p>
            <a:r>
              <a:rPr lang="en-US" altLang="zh-CN" b="1" dirty="0">
                <a:solidFill>
                  <a:srgbClr val="FF0000"/>
                </a:solidFill>
                <a:latin typeface="微软雅黑" panose="020B0503020204020204" charset="-122"/>
                <a:ea typeface="微软雅黑" panose="020B0503020204020204" charset="-122"/>
              </a:rPr>
              <a:t>1. </a:t>
            </a:r>
            <a:r>
              <a:rPr lang="zh-CN" altLang="en-US" b="1" dirty="0">
                <a:solidFill>
                  <a:srgbClr val="FF0000"/>
                </a:solidFill>
                <a:latin typeface="微软雅黑" panose="020B0503020204020204" charset="-122"/>
                <a:ea typeface="微软雅黑" panose="020B0503020204020204" charset="-122"/>
              </a:rPr>
              <a:t>无符号数</a:t>
            </a:r>
            <a:endParaRPr lang="zh-CN" altLang="en-US" b="1" dirty="0">
              <a:solidFill>
                <a:srgbClr val="FF0000"/>
              </a:solidFill>
              <a:latin typeface="微软雅黑" panose="020B0503020204020204" charset="-122"/>
              <a:ea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Rectangle 2"/>
          <p:cNvSpPr>
            <a:spLocks noGrp="1"/>
          </p:cNvSpPr>
          <p:nvPr>
            <p:ph type="title"/>
          </p:nvPr>
        </p:nvSpPr>
        <p:spPr>
          <a:xfrm>
            <a:off x="685800" y="304800"/>
            <a:ext cx="7772400" cy="1143000"/>
          </a:xfrm>
          <a:noFill/>
          <a:ln>
            <a:noFill/>
          </a:ln>
        </p:spPr>
        <p:txBody>
          <a:bodyPr anchor="t"/>
          <a:p>
            <a:pPr eaLnBrk="1" hangingPunct="1">
              <a:buNone/>
            </a:pPr>
            <a:r>
              <a:rPr lang="zh-CN" altLang="en-US" sz="3600" dirty="0">
                <a:solidFill>
                  <a:srgbClr val="0000FF"/>
                </a:solidFill>
                <a:latin typeface="微软雅黑" panose="020B0503020204020204" charset="-122"/>
                <a:ea typeface="微软雅黑" panose="020B0503020204020204" charset="-122"/>
              </a:rPr>
              <a:t>无符号数和带符号数（续）</a:t>
            </a:r>
            <a:endParaRPr lang="zh-CN" altLang="en-US" sz="3600" dirty="0">
              <a:solidFill>
                <a:srgbClr val="0000FF"/>
              </a:solidFill>
              <a:latin typeface="微软雅黑" panose="020B0503020204020204" charset="-122"/>
              <a:ea typeface="微软雅黑" panose="020B0503020204020204" charset="-122"/>
            </a:endParaRPr>
          </a:p>
        </p:txBody>
      </p:sp>
      <p:sp>
        <p:nvSpPr>
          <p:cNvPr id="32770" name="Rectangle 3"/>
          <p:cNvSpPr>
            <a:spLocks noGrp="1"/>
          </p:cNvSpPr>
          <p:nvPr>
            <p:ph idx="1"/>
          </p:nvPr>
        </p:nvSpPr>
        <p:spPr>
          <a:xfrm>
            <a:off x="685800" y="1905000"/>
            <a:ext cx="7772400" cy="3756025"/>
          </a:xfrm>
          <a:noFill/>
          <a:ln>
            <a:noFill/>
          </a:ln>
        </p:spPr>
        <p:txBody>
          <a:bodyPr anchor="t"/>
          <a:p>
            <a:pPr algn="just" eaLnBrk="1" hangingPunct="1">
              <a:buClr>
                <a:schemeClr val="tx1"/>
              </a:buClr>
              <a:buSzPct val="80000"/>
              <a:buChar char="u"/>
            </a:pPr>
            <a:r>
              <a:rPr lang="zh-CN" altLang="en-US" dirty="0">
                <a:solidFill>
                  <a:srgbClr val="FF0000"/>
                </a:solidFill>
                <a:latin typeface="微软雅黑" panose="020B0503020204020204" charset="-122"/>
                <a:ea typeface="微软雅黑" panose="020B0503020204020204" charset="-122"/>
                <a:sym typeface="+mn-ea"/>
              </a:rPr>
              <a:t>“真值”：</a:t>
            </a:r>
            <a:endParaRPr lang="zh-CN" altLang="en-US" dirty="0">
              <a:solidFill>
                <a:srgbClr val="FF0000"/>
              </a:solidFill>
              <a:latin typeface="微软雅黑" panose="020B0503020204020204" charset="-122"/>
              <a:ea typeface="微软雅黑" panose="020B0503020204020204" charset="-122"/>
              <a:sym typeface="+mn-ea"/>
            </a:endParaRPr>
          </a:p>
          <a:p>
            <a:pPr lvl="1" algn="just" eaLnBrk="1" hangingPunct="1">
              <a:spcBef>
                <a:spcPts val="600"/>
              </a:spcBef>
              <a:buClr>
                <a:schemeClr val="tx1"/>
              </a:buClr>
              <a:buSzPct val="80000"/>
              <a:buFont typeface="Wingdings" panose="05000000000000000000" charset="0"/>
              <a:buChar char="ü"/>
            </a:pPr>
            <a:r>
              <a:rPr lang="en-US" altLang="zh-CN" sz="2395" b="1"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在日常生活中，我们用“+”、“-”号加绝对值来表示数值的大小，用这种形式表示的数值在计算机技术中称为“真值”。</a:t>
            </a:r>
            <a:endParaRPr lang="en-US" altLang="zh-CN" sz="2395" b="1"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algn="just" eaLnBrk="1" hangingPunct="1">
              <a:spcBef>
                <a:spcPts val="1800"/>
              </a:spcBef>
              <a:buClr>
                <a:schemeClr val="tx1"/>
              </a:buClr>
              <a:buSzPct val="80000"/>
              <a:buChar char="u"/>
            </a:pPr>
            <a:r>
              <a:rPr lang="zh-CN" altLang="en-US" dirty="0">
                <a:solidFill>
                  <a:srgbClr val="FF0000"/>
                </a:solidFill>
                <a:latin typeface="微软雅黑" panose="020B0503020204020204" charset="-122"/>
                <a:ea typeface="微软雅黑" panose="020B0503020204020204" charset="-122"/>
                <a:sym typeface="+mn-ea"/>
              </a:rPr>
              <a:t>机器数：</a:t>
            </a:r>
            <a:endParaRPr lang="zh-CN" altLang="en-US" dirty="0">
              <a:solidFill>
                <a:srgbClr val="FF0000"/>
              </a:solidFill>
              <a:latin typeface="微软雅黑" panose="020B0503020204020204" charset="-122"/>
              <a:ea typeface="微软雅黑" panose="020B0503020204020204" charset="-122"/>
              <a:sym typeface="+mn-ea"/>
            </a:endParaRPr>
          </a:p>
          <a:p>
            <a:pPr lvl="1" algn="just" eaLnBrk="1" hangingPunct="1">
              <a:spcBef>
                <a:spcPts val="600"/>
              </a:spcBef>
              <a:buClr>
                <a:schemeClr val="tx1"/>
              </a:buClr>
              <a:buSzPct val="80000"/>
              <a:buFont typeface="Wingdings" panose="05000000000000000000" charset="0"/>
              <a:buChar char="ü"/>
            </a:pPr>
            <a:r>
              <a:rPr lang="en-US" altLang="zh-CN" sz="2395" b="1"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约定二进制数的最高位为符号位</a:t>
            </a:r>
            <a:endParaRPr lang="en-US" altLang="zh-CN" sz="2395" b="1"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lvl="1" algn="just" eaLnBrk="1" latinLnBrk="0" hangingPunct="1">
              <a:spcBef>
                <a:spcPts val="600"/>
              </a:spcBef>
              <a:buClr>
                <a:schemeClr val="tx1"/>
              </a:buClr>
              <a:buSzPct val="80000"/>
              <a:buFont typeface="Wingdings" panose="05000000000000000000" charset="0"/>
              <a:buChar char="ü"/>
            </a:pPr>
            <a:r>
              <a:rPr lang="en-US" altLang="zh-CN" sz="2395" b="1"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“0”表示正号，“1”表示负号。</a:t>
            </a:r>
            <a:endParaRPr lang="en-US" altLang="zh-CN" sz="2395" b="1"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algn="just" eaLnBrk="1" hangingPunct="1">
              <a:spcBef>
                <a:spcPts val="1800"/>
              </a:spcBef>
              <a:buClr>
                <a:schemeClr val="tx1"/>
              </a:buClr>
              <a:buSzPct val="80000"/>
              <a:buChar char="u"/>
            </a:pPr>
            <a:endParaRPr lang="zh-CN" altLang="en-US" dirty="0">
              <a:solidFill>
                <a:schemeClr val="tx2"/>
              </a:solidFill>
              <a:latin typeface="微软雅黑" panose="020B0503020204020204" charset="-122"/>
              <a:ea typeface="微软雅黑" panose="020B0503020204020204" charset="-122"/>
            </a:endParaRPr>
          </a:p>
        </p:txBody>
      </p:sp>
      <p:sp>
        <p:nvSpPr>
          <p:cNvPr id="32771" name="矩形 4"/>
          <p:cNvSpPr/>
          <p:nvPr/>
        </p:nvSpPr>
        <p:spPr>
          <a:xfrm>
            <a:off x="685800" y="1155700"/>
            <a:ext cx="2317750" cy="584200"/>
          </a:xfrm>
          <a:prstGeom prst="rect">
            <a:avLst/>
          </a:prstGeom>
          <a:noFill/>
          <a:ln w="9525">
            <a:noFill/>
          </a:ln>
        </p:spPr>
        <p:txBody>
          <a:bodyPr wrap="none" anchor="t">
            <a:spAutoFit/>
          </a:bodyPr>
          <a:p>
            <a:r>
              <a:rPr lang="en-US" altLang="zh-CN" b="1" dirty="0">
                <a:solidFill>
                  <a:srgbClr val="FF0000"/>
                </a:solidFill>
                <a:latin typeface="微软雅黑" panose="020B0503020204020204" charset="-122"/>
                <a:ea typeface="微软雅黑" panose="020B0503020204020204" charset="-122"/>
              </a:rPr>
              <a:t>2. </a:t>
            </a:r>
            <a:r>
              <a:rPr lang="zh-CN" altLang="en-US" b="1" dirty="0">
                <a:solidFill>
                  <a:srgbClr val="FF0000"/>
                </a:solidFill>
                <a:latin typeface="微软雅黑" panose="020B0503020204020204" charset="-122"/>
                <a:ea typeface="微软雅黑" panose="020B0503020204020204" charset="-122"/>
              </a:rPr>
              <a:t>带符号数</a:t>
            </a:r>
            <a:endParaRPr lang="zh-CN" altLang="en-US" dirty="0">
              <a:solidFill>
                <a:srgbClr val="FF0000"/>
              </a:solidFill>
              <a:latin typeface="Arial" panose="020B0604020202020204" pitchFamily="34" charset="0"/>
              <a:ea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Rectangle 2"/>
          <p:cNvSpPr>
            <a:spLocks noGrp="1"/>
          </p:cNvSpPr>
          <p:nvPr>
            <p:ph type="title"/>
          </p:nvPr>
        </p:nvSpPr>
        <p:spPr>
          <a:xfrm>
            <a:off x="428625" y="314325"/>
            <a:ext cx="7772400" cy="827088"/>
          </a:xfrm>
          <a:noFill/>
          <a:ln>
            <a:noFill/>
          </a:ln>
        </p:spPr>
        <p:txBody>
          <a:bodyPr anchor="t"/>
          <a:p>
            <a:pPr eaLnBrk="1" hangingPunct="1">
              <a:buNone/>
            </a:pPr>
            <a:r>
              <a:rPr lang="zh-CN" altLang="en-US" sz="3600" dirty="0">
                <a:solidFill>
                  <a:srgbClr val="0000FF"/>
                </a:solidFill>
                <a:latin typeface="微软雅黑" panose="020B0503020204020204" charset="-122"/>
                <a:ea typeface="微软雅黑" panose="020B0503020204020204" charset="-122"/>
              </a:rPr>
              <a:t>无符号数和带符号数（续）</a:t>
            </a:r>
            <a:endParaRPr lang="zh-CN" altLang="en-US" sz="3600" dirty="0">
              <a:solidFill>
                <a:srgbClr val="0000FF"/>
              </a:solidFill>
              <a:latin typeface="微软雅黑" panose="020B0503020204020204" charset="-122"/>
              <a:ea typeface="微软雅黑" panose="020B0503020204020204" charset="-122"/>
            </a:endParaRPr>
          </a:p>
        </p:txBody>
      </p:sp>
      <p:sp>
        <p:nvSpPr>
          <p:cNvPr id="33794" name="Rectangle 3"/>
          <p:cNvSpPr>
            <a:spLocks noGrp="1"/>
          </p:cNvSpPr>
          <p:nvPr>
            <p:ph idx="1"/>
          </p:nvPr>
        </p:nvSpPr>
        <p:spPr>
          <a:xfrm>
            <a:off x="539750" y="1562100"/>
            <a:ext cx="7926388" cy="4572000"/>
          </a:xfrm>
          <a:noFill/>
          <a:ln>
            <a:noFill/>
          </a:ln>
        </p:spPr>
        <p:txBody>
          <a:bodyPr anchor="t"/>
          <a:p>
            <a:pPr algn="just" eaLnBrk="1" hangingPunct="1">
              <a:spcBef>
                <a:spcPts val="1800"/>
              </a:spcBef>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常见的机器数有</a:t>
            </a:r>
            <a:r>
              <a:rPr lang="zh-CN" altLang="en-US" dirty="0">
                <a:solidFill>
                  <a:srgbClr val="FF0000"/>
                </a:solidFill>
                <a:latin typeface="微软雅黑" panose="020B0503020204020204" charset="-122"/>
                <a:ea typeface="微软雅黑" panose="020B0503020204020204" charset="-122"/>
              </a:rPr>
              <a:t>原码、反码、补码</a:t>
            </a:r>
            <a:r>
              <a:rPr lang="zh-CN" altLang="en-US" dirty="0">
                <a:solidFill>
                  <a:schemeClr val="tx2"/>
                </a:solidFill>
                <a:latin typeface="微软雅黑" panose="020B0503020204020204" charset="-122"/>
                <a:ea typeface="微软雅黑" panose="020B0503020204020204" charset="-122"/>
              </a:rPr>
              <a:t>等3种不同的表示形式。</a:t>
            </a:r>
            <a:endParaRPr lang="zh-CN" altLang="en-US" dirty="0">
              <a:solidFill>
                <a:schemeClr val="tx2"/>
              </a:solidFill>
              <a:latin typeface="微软雅黑" panose="020B0503020204020204" charset="-122"/>
              <a:ea typeface="微软雅黑" panose="020B0503020204020204" charset="-122"/>
            </a:endParaRPr>
          </a:p>
          <a:p>
            <a:pPr algn="just" eaLnBrk="1" hangingPunct="1">
              <a:spcBef>
                <a:spcPts val="1800"/>
              </a:spcBef>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带符号数的</a:t>
            </a:r>
            <a:r>
              <a:rPr lang="zh-CN" altLang="en-US" dirty="0">
                <a:solidFill>
                  <a:srgbClr val="FF0000"/>
                </a:solidFill>
                <a:latin typeface="微软雅黑" panose="020B0503020204020204" charset="-122"/>
                <a:ea typeface="微软雅黑" panose="020B0503020204020204" charset="-122"/>
              </a:rPr>
              <a:t>最高位被用来表示符号位</a:t>
            </a:r>
            <a:r>
              <a:rPr lang="zh-CN" altLang="en-US" dirty="0">
                <a:solidFill>
                  <a:schemeClr val="tx2"/>
                </a:solidFill>
                <a:latin typeface="微软雅黑" panose="020B0503020204020204" charset="-122"/>
                <a:ea typeface="微软雅黑" panose="020B0503020204020204" charset="-122"/>
              </a:rPr>
              <a:t>，不再表示数值位。</a:t>
            </a:r>
            <a:endParaRPr lang="zh-CN" altLang="en-US" dirty="0">
              <a:solidFill>
                <a:schemeClr val="tx2"/>
              </a:solidFill>
              <a:latin typeface="微软雅黑" panose="020B0503020204020204" charset="-122"/>
              <a:ea typeface="微软雅黑" panose="020B0503020204020204" charset="-122"/>
            </a:endParaRPr>
          </a:p>
          <a:p>
            <a:pPr marL="971550" lvl="2" indent="-457200" algn="just" eaLnBrk="1" hangingPunct="1">
              <a:spcBef>
                <a:spcPts val="1200"/>
              </a:spcBef>
              <a:buClr>
                <a:schemeClr val="tx2"/>
              </a:buClr>
              <a:buSzPct val="80000"/>
              <a:buFont typeface="Wingdings" panose="05000000000000000000" pitchFamily="2" charset="2"/>
              <a:buChar char="u"/>
            </a:pPr>
            <a:r>
              <a:rPr lang="en-US" altLang="zh-CN" b="1" dirty="0">
                <a:solidFill>
                  <a:schemeClr val="tx2"/>
                </a:solidFill>
                <a:latin typeface="微软雅黑" panose="020B0503020204020204" charset="-122"/>
                <a:ea typeface="微软雅黑" panose="020B0503020204020204" charset="-122"/>
              </a:rPr>
              <a:t>前例中的N1、N2 在这里的含义变为：</a:t>
            </a:r>
            <a:endParaRPr lang="en-US" altLang="zh-CN" b="1" dirty="0">
              <a:solidFill>
                <a:schemeClr val="tx2"/>
              </a:solidFill>
              <a:latin typeface="微软雅黑" panose="020B0503020204020204" charset="-122"/>
              <a:ea typeface="微软雅黑" panose="020B0503020204020204" charset="-122"/>
            </a:endParaRPr>
          </a:p>
          <a:p>
            <a:pPr marL="971550" lvl="2" indent="-457200" algn="just" eaLnBrk="1" hangingPunct="1">
              <a:spcBef>
                <a:spcPts val="1200"/>
              </a:spcBef>
              <a:buClr>
                <a:schemeClr val="tx2"/>
              </a:buClr>
              <a:buSzPct val="80000"/>
              <a:buFont typeface="Wingdings" panose="05000000000000000000" pitchFamily="2" charset="2"/>
              <a:buChar char="u"/>
            </a:pPr>
            <a:r>
              <a:rPr lang="en-US" altLang="zh-CN" b="1" dirty="0">
                <a:solidFill>
                  <a:schemeClr val="tx2"/>
                </a:solidFill>
                <a:latin typeface="微软雅黑" panose="020B0503020204020204" charset="-122"/>
                <a:ea typeface="微软雅黑" panose="020B0503020204020204" charset="-122"/>
              </a:rPr>
              <a:t>N</a:t>
            </a:r>
            <a:r>
              <a:rPr lang="en-US" altLang="zh-CN" b="1" baseline="-30000" dirty="0">
                <a:solidFill>
                  <a:schemeClr val="tx2"/>
                </a:solidFill>
                <a:latin typeface="微软雅黑" panose="020B0503020204020204" charset="-122"/>
                <a:ea typeface="微软雅黑" panose="020B0503020204020204" charset="-122"/>
              </a:rPr>
              <a:t>1</a:t>
            </a:r>
            <a:r>
              <a:rPr lang="en-US" altLang="zh-CN" b="1" dirty="0">
                <a:solidFill>
                  <a:schemeClr val="tx2"/>
                </a:solidFill>
                <a:latin typeface="微软雅黑" panose="020B0503020204020204" charset="-122"/>
                <a:ea typeface="微软雅黑" panose="020B0503020204020204" charset="-122"/>
              </a:rPr>
              <a:t>=01001    </a:t>
            </a:r>
            <a:r>
              <a:rPr lang="zh-CN" altLang="en-US" b="1" dirty="0">
                <a:solidFill>
                  <a:schemeClr val="tx2"/>
                </a:solidFill>
                <a:latin typeface="微软雅黑" panose="020B0503020204020204" charset="-122"/>
                <a:ea typeface="微软雅黑" panose="020B0503020204020204" charset="-122"/>
              </a:rPr>
              <a:t>表示+9。</a:t>
            </a:r>
            <a:endParaRPr lang="zh-CN" altLang="en-US" b="1" dirty="0">
              <a:solidFill>
                <a:schemeClr val="tx2"/>
              </a:solidFill>
              <a:latin typeface="微软雅黑" panose="020B0503020204020204" charset="-122"/>
              <a:ea typeface="微软雅黑" panose="020B0503020204020204" charset="-122"/>
            </a:endParaRPr>
          </a:p>
          <a:p>
            <a:pPr marL="971550" lvl="2" indent="-457200" algn="just" eaLnBrk="1" hangingPunct="1">
              <a:spcBef>
                <a:spcPts val="1200"/>
              </a:spcBef>
              <a:buClr>
                <a:schemeClr val="tx2"/>
              </a:buClr>
              <a:buSzPct val="80000"/>
              <a:buFont typeface="Wingdings" panose="05000000000000000000" pitchFamily="2" charset="2"/>
              <a:buChar char="u"/>
            </a:pPr>
            <a:r>
              <a:rPr lang="en-US" altLang="zh-CN" b="1" dirty="0">
                <a:solidFill>
                  <a:schemeClr val="tx2"/>
                </a:solidFill>
                <a:latin typeface="微软雅黑" panose="020B0503020204020204" charset="-122"/>
                <a:ea typeface="微软雅黑" panose="020B0503020204020204" charset="-122"/>
              </a:rPr>
              <a:t>N</a:t>
            </a:r>
            <a:r>
              <a:rPr lang="en-US" altLang="zh-CN" b="1" baseline="-30000" dirty="0">
                <a:solidFill>
                  <a:schemeClr val="tx2"/>
                </a:solidFill>
                <a:latin typeface="微软雅黑" panose="020B0503020204020204" charset="-122"/>
                <a:ea typeface="微软雅黑" panose="020B0503020204020204" charset="-122"/>
              </a:rPr>
              <a:t>2</a:t>
            </a:r>
            <a:r>
              <a:rPr lang="en-US" altLang="zh-CN" b="1" dirty="0">
                <a:solidFill>
                  <a:schemeClr val="tx2"/>
                </a:solidFill>
                <a:latin typeface="微软雅黑" panose="020B0503020204020204" charset="-122"/>
                <a:ea typeface="微软雅黑" panose="020B0503020204020204" charset="-122"/>
              </a:rPr>
              <a:t>=11001    </a:t>
            </a:r>
            <a:r>
              <a:rPr lang="zh-CN" altLang="en-US" b="1" dirty="0">
                <a:solidFill>
                  <a:srgbClr val="FF0000"/>
                </a:solidFill>
                <a:latin typeface="微软雅黑" panose="020B0503020204020204" charset="-122"/>
                <a:ea typeface="微软雅黑" panose="020B0503020204020204" charset="-122"/>
              </a:rPr>
              <a:t>根据机器数的不同形式表示不同的值</a:t>
            </a:r>
            <a:r>
              <a:rPr lang="zh-CN" altLang="en-US" b="1" dirty="0">
                <a:solidFill>
                  <a:schemeClr val="tx2"/>
                </a:solidFill>
                <a:latin typeface="微软雅黑" panose="020B0503020204020204" charset="-122"/>
                <a:ea typeface="微软雅黑" panose="020B0503020204020204" charset="-122"/>
              </a:rPr>
              <a:t>，原码则表示-9，补码则表示-7，反码则表示-6。 </a:t>
            </a:r>
            <a:endParaRPr lang="zh-CN" altLang="en-US" b="1" dirty="0">
              <a:solidFill>
                <a:schemeClr val="tx2"/>
              </a:solidFill>
              <a:latin typeface="微软雅黑" panose="020B0503020204020204" charset="-122"/>
              <a:ea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Rectangle 2"/>
          <p:cNvSpPr>
            <a:spLocks noGrp="1"/>
          </p:cNvSpPr>
          <p:nvPr>
            <p:ph type="title"/>
          </p:nvPr>
        </p:nvSpPr>
        <p:spPr>
          <a:xfrm>
            <a:off x="390525" y="384175"/>
            <a:ext cx="7772400" cy="806450"/>
          </a:xfrm>
          <a:noFill/>
          <a:ln>
            <a:noFill/>
          </a:ln>
        </p:spPr>
        <p:txBody>
          <a:bodyPr anchor="t"/>
          <a:p>
            <a:pPr eaLnBrk="1" hangingPunct="1">
              <a:buNone/>
            </a:pPr>
            <a:r>
              <a:rPr lang="zh-CN" altLang="en-US" sz="3600" dirty="0">
                <a:solidFill>
                  <a:srgbClr val="0000FF"/>
                </a:solidFill>
                <a:latin typeface="微软雅黑" panose="020B0503020204020204" charset="-122"/>
                <a:ea typeface="微软雅黑" panose="020B0503020204020204" charset="-122"/>
              </a:rPr>
              <a:t>原码表示法</a:t>
            </a:r>
            <a:endParaRPr lang="zh-CN" altLang="en-US" sz="3600" dirty="0">
              <a:solidFill>
                <a:srgbClr val="0000FF"/>
              </a:solidFill>
              <a:latin typeface="微软雅黑" panose="020B0503020204020204" charset="-122"/>
              <a:ea typeface="微软雅黑" panose="020B0503020204020204" charset="-122"/>
            </a:endParaRPr>
          </a:p>
        </p:txBody>
      </p:sp>
      <p:sp>
        <p:nvSpPr>
          <p:cNvPr id="12292" name="Rectangle 3"/>
          <p:cNvSpPr>
            <a:spLocks noGrp="1" noChangeArrowheads="1"/>
          </p:cNvSpPr>
          <p:nvPr>
            <p:ph idx="1"/>
          </p:nvPr>
        </p:nvSpPr>
        <p:spPr>
          <a:xfrm>
            <a:off x="468313" y="3398838"/>
            <a:ext cx="7989888" cy="2154238"/>
          </a:xfrm>
        </p:spPr>
        <p:txBody>
          <a:bodyPr/>
          <a:lstStyle/>
          <a:p>
            <a:pPr marL="342900" marR="0" lvl="0" indent="-342900" algn="l" defTabSz="914400" rtl="0" eaLnBrk="1" fontAlgn="base" latinLnBrk="0" hangingPunct="1">
              <a:lnSpc>
                <a:spcPct val="100000"/>
              </a:lnSpc>
              <a:spcBef>
                <a:spcPct val="20000"/>
              </a:spcBef>
              <a:spcAft>
                <a:spcPct val="0"/>
              </a:spcAft>
              <a:buClr>
                <a:srgbClr val="3C5713"/>
              </a:buClr>
              <a:buSzTx/>
              <a:buFont typeface="Wingdings" panose="05000000000000000000" charset="0"/>
              <a:buChar char="u"/>
              <a:defRPr/>
            </a:pP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  </a:t>
            </a:r>
            <a:r>
              <a:rPr kumimoji="0" lang="zh-CN" altLang="en-US" sz="2800" b="1" i="0" u="none" strike="noStrike" kern="1200" cap="none" spc="0" normalizeH="0" baseline="0" noProof="1" dirty="0">
                <a:solidFill>
                  <a:schemeClr val="tx2"/>
                </a:solidFill>
                <a:latin typeface="微软雅黑" panose="020B0503020204020204" charset="-122"/>
                <a:ea typeface="微软雅黑" panose="020B0503020204020204" charset="-122"/>
                <a:cs typeface="+mn-cs"/>
              </a:rPr>
              <a:t>设</a:t>
            </a:r>
            <a:r>
              <a:rPr kumimoji="0" lang="zh-CN" altLang="en-US" sz="2800" b="1"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二进制纯小数</a:t>
            </a: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的原码形式为</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en-US" altLang="zh-CN" sz="28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s</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en-US" altLang="zh-CN" sz="28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1</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en-US" altLang="zh-CN" sz="28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2</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en-US" altLang="zh-CN" sz="2800" b="1" i="0" u="none" strike="noStrike" kern="0" cap="none" spc="0" normalizeH="0" baseline="0" noProof="0" dirty="0" err="1">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en-US" altLang="zh-CN" sz="2800" b="1" i="0" u="none" strike="noStrike" kern="0" cap="none" spc="0" normalizeH="0" baseline="-25000" noProof="0" dirty="0" err="1">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n</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     </a:t>
            </a: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字长</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n+1</a:t>
            </a: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位，其中</a:t>
            </a:r>
            <a:r>
              <a:rPr kumimoji="0" lang="en-US" altLang="zh-CN" sz="2800" b="1" i="0" u="none" strike="noStrike" kern="0" cap="none" spc="0" normalizeH="0" baseline="0" noProof="0" dirty="0" err="1">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en-US" altLang="zh-CN" sz="2800" b="1" i="0" u="none" strike="noStrike" kern="0" cap="none" spc="0" normalizeH="0" baseline="-25000" noProof="0" dirty="0" err="1">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s</a:t>
            </a: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表示符号位。</a:t>
            </a:r>
            <a:endPar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342900" marR="0" lvl="0" indent="-342900" algn="l" defTabSz="914400" rtl="0" eaLnBrk="1" fontAlgn="base" latinLnBrk="0" hangingPunct="1">
              <a:lnSpc>
                <a:spcPct val="100000"/>
              </a:lnSpc>
              <a:spcBef>
                <a:spcPts val="1800"/>
              </a:spcBef>
              <a:spcAft>
                <a:spcPct val="0"/>
              </a:spcAft>
              <a:buClr>
                <a:schemeClr val="hlink"/>
              </a:buClr>
              <a:buSzTx/>
              <a:buFontTx/>
              <a:buNone/>
              <a:defRPr/>
            </a:pP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     例1：</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en-US" altLang="zh-CN" sz="28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1</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=0.0110,    [X</a:t>
            </a:r>
            <a:r>
              <a:rPr kumimoji="0" lang="en-US" altLang="zh-CN" sz="28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1</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zh-CN" altLang="en-US" sz="2800" b="1" i="0" u="none" strike="noStrike" kern="0" cap="none" spc="0" normalizeH="0" baseline="-30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原</a:t>
            </a: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=0.0110 </a:t>
            </a:r>
            <a:endPar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hlink"/>
              </a:buClr>
              <a:buSzTx/>
              <a:buFontTx/>
              <a:buNone/>
              <a:defRPr/>
            </a:pP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              X</a:t>
            </a:r>
            <a:r>
              <a:rPr kumimoji="0" lang="en-US" altLang="zh-CN" sz="28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2</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=-0.0110</a:t>
            </a: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   [</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en-US" altLang="zh-CN" sz="28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2</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zh-CN" altLang="en-US" sz="2800" b="1" i="0" u="none" strike="noStrike" kern="0" cap="none" spc="0" normalizeH="0" baseline="-30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原</a:t>
            </a: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=1.0110</a:t>
            </a:r>
            <a:endPar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p:txBody>
      </p:sp>
      <p:sp>
        <p:nvSpPr>
          <p:cNvPr id="34819" name="矩形 1"/>
          <p:cNvSpPr/>
          <p:nvPr/>
        </p:nvSpPr>
        <p:spPr>
          <a:xfrm>
            <a:off x="468313" y="1341438"/>
            <a:ext cx="7989887" cy="1383665"/>
          </a:xfrm>
          <a:prstGeom prst="rect">
            <a:avLst/>
          </a:prstGeom>
          <a:noFill/>
          <a:ln w="9525">
            <a:noFill/>
          </a:ln>
        </p:spPr>
        <p:txBody>
          <a:bodyPr anchor="t">
            <a:spAutoFit/>
          </a:bodyPr>
          <a:p>
            <a:pPr marL="457200" indent="-457200" algn="just">
              <a:buFont typeface="Wingdings" panose="05000000000000000000" charset="0"/>
              <a:buChar char="u"/>
            </a:pPr>
            <a:r>
              <a:rPr lang="zh-CN" altLang="en-US" sz="2800" b="1" dirty="0">
                <a:solidFill>
                  <a:srgbClr val="FF0000"/>
                </a:solidFill>
                <a:latin typeface="微软雅黑" panose="020B0503020204020204" charset="-122"/>
                <a:ea typeface="微软雅黑" panose="020B0503020204020204" charset="-122"/>
              </a:rPr>
              <a:t>最高位表示符号位</a:t>
            </a:r>
            <a:r>
              <a:rPr lang="zh-CN" altLang="en-US" sz="2800" b="1" dirty="0">
                <a:solidFill>
                  <a:schemeClr val="tx2"/>
                </a:solidFill>
                <a:latin typeface="微软雅黑" panose="020B0503020204020204" charset="-122"/>
                <a:ea typeface="微软雅黑" panose="020B0503020204020204" charset="-122"/>
              </a:rPr>
              <a:t>，符号位为“0”表示该数为正，符号位为“1”表示该数为负，</a:t>
            </a:r>
            <a:r>
              <a:rPr lang="zh-CN" altLang="en-US" sz="2800" b="1" dirty="0">
                <a:solidFill>
                  <a:srgbClr val="FF0000"/>
                </a:solidFill>
                <a:latin typeface="微软雅黑" panose="020B0503020204020204" charset="-122"/>
                <a:ea typeface="微软雅黑" panose="020B0503020204020204" charset="-122"/>
              </a:rPr>
              <a:t>数值部分与真值相同。</a:t>
            </a:r>
            <a:endParaRPr lang="zh-CN" altLang="en-US" sz="2800" b="1" dirty="0">
              <a:solidFill>
                <a:srgbClr val="FF0000"/>
              </a:solidFill>
              <a:latin typeface="微软雅黑" panose="020B0503020204020204" charset="-122"/>
              <a:ea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Rectangle 2"/>
          <p:cNvSpPr>
            <a:spLocks noGrp="1"/>
          </p:cNvSpPr>
          <p:nvPr>
            <p:ph type="title"/>
          </p:nvPr>
        </p:nvSpPr>
        <p:spPr>
          <a:xfrm>
            <a:off x="400050" y="393700"/>
            <a:ext cx="7772400" cy="768350"/>
          </a:xfrm>
          <a:noFill/>
          <a:ln>
            <a:noFill/>
          </a:ln>
        </p:spPr>
        <p:txBody>
          <a:bodyPr anchor="t"/>
          <a:p>
            <a:pPr eaLnBrk="1" hangingPunct="1">
              <a:buNone/>
            </a:pPr>
            <a:r>
              <a:rPr lang="zh-CN" altLang="en-US" sz="3600" dirty="0">
                <a:solidFill>
                  <a:srgbClr val="0000FF"/>
                </a:solidFill>
                <a:latin typeface="微软雅黑" panose="020B0503020204020204" charset="-122"/>
                <a:ea typeface="微软雅黑" panose="020B0503020204020204" charset="-122"/>
              </a:rPr>
              <a:t>原码表示法（续）</a:t>
            </a:r>
            <a:endParaRPr lang="zh-CN" altLang="en-US" sz="3600" dirty="0">
              <a:solidFill>
                <a:srgbClr val="0000FF"/>
              </a:solidFill>
              <a:latin typeface="微软雅黑" panose="020B0503020204020204" charset="-122"/>
              <a:ea typeface="微软雅黑" panose="020B0503020204020204" charset="-122"/>
            </a:endParaRPr>
          </a:p>
        </p:txBody>
      </p:sp>
      <p:sp>
        <p:nvSpPr>
          <p:cNvPr id="13316" name="Rectangle 3"/>
          <p:cNvSpPr>
            <a:spLocks noGrp="1" noChangeArrowheads="1"/>
          </p:cNvSpPr>
          <p:nvPr>
            <p:ph idx="1"/>
          </p:nvPr>
        </p:nvSpPr>
        <p:spPr>
          <a:xfrm>
            <a:off x="468313" y="1371600"/>
            <a:ext cx="7989888" cy="1912938"/>
          </a:xfrm>
        </p:spPr>
        <p:txBody>
          <a:bodyPr/>
          <a:lstStyle/>
          <a:p>
            <a:pPr marL="457200" marR="0" lvl="0" indent="-457200" algn="l" defTabSz="914400" rtl="0" eaLnBrk="1" fontAlgn="base" latinLnBrk="0" hangingPunct="1">
              <a:lnSpc>
                <a:spcPct val="100000"/>
              </a:lnSpc>
              <a:spcBef>
                <a:spcPct val="20000"/>
              </a:spcBef>
              <a:spcAft>
                <a:spcPct val="0"/>
              </a:spcAft>
              <a:buClr>
                <a:srgbClr val="3C5713"/>
              </a:buClr>
              <a:buSzTx/>
              <a:buFont typeface="Wingdings" panose="05000000000000000000" charset="0"/>
              <a:buChar char="u"/>
              <a:defRPr/>
            </a:pP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设</a:t>
            </a:r>
            <a:r>
              <a:rPr kumimoji="0" lang="zh-CN" altLang="en-US" sz="2800" b="1"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二进制纯整数</a:t>
            </a: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的原码形式为</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XsX</a:t>
            </a:r>
            <a:r>
              <a:rPr kumimoji="0" lang="en-US" altLang="zh-CN" sz="28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1</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en-US" altLang="zh-CN" sz="28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2</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en-US" altLang="zh-CN" sz="2800" b="1" i="0" u="none" strike="noStrike" kern="0" cap="none" spc="0" normalizeH="0" baseline="0" noProof="0" dirty="0" err="1">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Xn</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其中</a:t>
            </a:r>
            <a:r>
              <a:rPr kumimoji="0" lang="en-US" altLang="zh-CN" sz="2800" b="1" i="0" u="none" strike="noStrike" kern="0" cap="none" spc="0" normalizeH="0" baseline="0" noProof="0" dirty="0" err="1">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Xs</a:t>
            </a: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表示符号位。</a:t>
            </a:r>
            <a:endPar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base" latinLnBrk="0" hangingPunct="1">
              <a:lnSpc>
                <a:spcPct val="100000"/>
              </a:lnSpc>
              <a:spcBef>
                <a:spcPts val="1200"/>
              </a:spcBef>
              <a:spcAft>
                <a:spcPct val="0"/>
              </a:spcAft>
              <a:buClr>
                <a:schemeClr val="hlink"/>
              </a:buClr>
              <a:buSzTx/>
              <a:buFontTx/>
              <a:buNone/>
              <a:defRPr/>
            </a:pP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       例2： </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en-US" altLang="zh-CN" sz="28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1</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=1101,    [X</a:t>
            </a:r>
            <a:r>
              <a:rPr kumimoji="0" lang="en-US" altLang="zh-CN" sz="28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1</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zh-CN" altLang="en-US" sz="28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原</a:t>
            </a: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=01101</a:t>
            </a:r>
            <a:endPar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hlink"/>
              </a:buClr>
              <a:buSzTx/>
              <a:buFontTx/>
              <a:buNone/>
              <a:defRPr/>
            </a:pP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                 X</a:t>
            </a:r>
            <a:r>
              <a:rPr kumimoji="0" lang="en-US" altLang="zh-CN" sz="28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2</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=-1101</a:t>
            </a: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   [</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en-US" altLang="zh-CN" sz="28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2</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zh-CN" altLang="en-US" sz="28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原</a:t>
            </a: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=11101        </a:t>
            </a:r>
            <a:endPar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p:txBody>
      </p:sp>
      <p:sp>
        <p:nvSpPr>
          <p:cNvPr id="35844" name="矩形 1"/>
          <p:cNvSpPr/>
          <p:nvPr/>
        </p:nvSpPr>
        <p:spPr>
          <a:xfrm>
            <a:off x="465138" y="4076700"/>
            <a:ext cx="7991475" cy="1989138"/>
          </a:xfrm>
          <a:prstGeom prst="rect">
            <a:avLst/>
          </a:prstGeom>
          <a:noFill/>
          <a:ln w="9525">
            <a:noFill/>
          </a:ln>
        </p:spPr>
        <p:txBody>
          <a:bodyPr/>
          <a:p>
            <a:pPr marL="457200" marR="0" indent="-457200" algn="just" defTabSz="914400" rtl="0" eaLnBrk="1" fontAlgn="base" latinLnBrk="0" hangingPunct="1">
              <a:lnSpc>
                <a:spcPct val="100000"/>
              </a:lnSpc>
              <a:spcBef>
                <a:spcPct val="20000"/>
              </a:spcBef>
              <a:spcAft>
                <a:spcPct val="0"/>
              </a:spcAft>
              <a:buClrTx/>
              <a:buSzTx/>
              <a:buFont typeface="Wingdings" panose="05000000000000000000" charset="0"/>
              <a:buChar char="u"/>
            </a:pPr>
            <a:r>
              <a:rPr kumimoji="0" lang="zh-CN" altLang="en-US" sz="2800" b="1" i="0" u="none" strike="noStrike" kern="1200" cap="none" spc="0" normalizeH="0" baseline="0" noProof="1" dirty="0">
                <a:solidFill>
                  <a:schemeClr val="tx2"/>
                </a:solidFill>
                <a:latin typeface="微软雅黑" panose="020B0503020204020204" charset="-122"/>
                <a:ea typeface="微软雅黑" panose="020B0503020204020204" charset="-122"/>
                <a:cs typeface="+mn-cs"/>
              </a:rPr>
              <a:t>在原码表示中，真值0有两种不同的表示形式：</a:t>
            </a:r>
            <a:endParaRPr kumimoji="0" lang="zh-CN" altLang="en-US" sz="2800" b="1" i="0" u="none" strike="noStrike" kern="1200" cap="none" spc="0" normalizeH="0" baseline="0" noProof="1" dirty="0">
              <a:solidFill>
                <a:schemeClr val="tx2"/>
              </a:solidFill>
              <a:latin typeface="微软雅黑" panose="020B0503020204020204" charset="-122"/>
              <a:ea typeface="微软雅黑" panose="020B0503020204020204" charset="-122"/>
              <a:cs typeface="+mn-cs"/>
            </a:endParaRPr>
          </a:p>
          <a:p>
            <a:pPr marL="0" marR="0" indent="719455" algn="l" defTabSz="914400" rtl="0" eaLnBrk="1" fontAlgn="base" latinLnBrk="0" hangingPunct="1">
              <a:lnSpc>
                <a:spcPct val="100000"/>
              </a:lnSpc>
              <a:spcBef>
                <a:spcPts val="1200"/>
              </a:spcBef>
              <a:spcAft>
                <a:spcPct val="0"/>
              </a:spcAft>
              <a:buClr>
                <a:schemeClr val="hlink"/>
              </a:buClr>
              <a:buSzTx/>
              <a:buFontTx/>
              <a:buNone/>
            </a:pPr>
            <a:r>
              <a:rPr kumimoji="0" lang="zh-CN" altLang="en-US" sz="2800" b="1" i="0" u="none" strike="noStrike" kern="1200" cap="none" spc="0" normalizeH="0" baseline="0" noProof="1" dirty="0">
                <a:solidFill>
                  <a:schemeClr val="tx2"/>
                </a:solidFill>
                <a:latin typeface="微软雅黑" panose="020B0503020204020204" charset="-122"/>
                <a:ea typeface="微软雅黑" panose="020B0503020204020204" charset="-122"/>
                <a:cs typeface="+mn-cs"/>
              </a:rPr>
              <a:t>         [+0]</a:t>
            </a:r>
            <a:r>
              <a:rPr kumimoji="0" lang="zh-CN" altLang="en-US" sz="2800" b="1" i="0" u="none" strike="noStrike" kern="1200" cap="none" spc="0" normalizeH="0" baseline="-25000" noProof="1" dirty="0">
                <a:solidFill>
                  <a:schemeClr val="tx2"/>
                </a:solidFill>
                <a:latin typeface="微软雅黑" panose="020B0503020204020204" charset="-122"/>
                <a:ea typeface="微软雅黑" panose="020B0503020204020204" charset="-122"/>
                <a:cs typeface="+mn-cs"/>
              </a:rPr>
              <a:t>原</a:t>
            </a:r>
            <a:r>
              <a:rPr kumimoji="0" lang="zh-CN" altLang="en-US" sz="2800" b="1" i="0" u="none" strike="noStrike" kern="1200" cap="none" spc="0" normalizeH="0" baseline="0" noProof="1" dirty="0">
                <a:solidFill>
                  <a:schemeClr val="tx2"/>
                </a:solidFill>
                <a:latin typeface="微软雅黑" panose="020B0503020204020204" charset="-122"/>
                <a:ea typeface="微软雅黑" panose="020B0503020204020204" charset="-122"/>
                <a:cs typeface="+mn-cs"/>
              </a:rPr>
              <a:t>=00000</a:t>
            </a:r>
            <a:endParaRPr kumimoji="0" lang="zh-CN" altLang="en-US" sz="2800" b="1" i="0" u="none" strike="noStrike" kern="1200" cap="none" spc="0" normalizeH="0" baseline="0" noProof="1" dirty="0">
              <a:solidFill>
                <a:schemeClr val="tx2"/>
              </a:solidFill>
              <a:latin typeface="微软雅黑" panose="020B0503020204020204" charset="-122"/>
              <a:ea typeface="微软雅黑" panose="020B0503020204020204" charset="-122"/>
              <a:cs typeface="+mn-cs"/>
            </a:endParaRPr>
          </a:p>
          <a:p>
            <a:pPr marL="0" marR="0" indent="719455" algn="l" defTabSz="914400" rtl="0" eaLnBrk="1" fontAlgn="base" latinLnBrk="0" hangingPunct="1">
              <a:lnSpc>
                <a:spcPct val="100000"/>
              </a:lnSpc>
              <a:spcBef>
                <a:spcPct val="20000"/>
              </a:spcBef>
              <a:spcAft>
                <a:spcPct val="0"/>
              </a:spcAft>
              <a:buClr>
                <a:schemeClr val="hlink"/>
              </a:buClr>
              <a:buSzTx/>
              <a:buFontTx/>
              <a:buNone/>
            </a:pPr>
            <a:r>
              <a:rPr kumimoji="0" lang="zh-CN" altLang="en-US" sz="2800" b="1" i="0" u="none" strike="noStrike" kern="1200" cap="none" spc="0" normalizeH="0" baseline="0" noProof="1" dirty="0">
                <a:solidFill>
                  <a:schemeClr val="tx2"/>
                </a:solidFill>
                <a:latin typeface="微软雅黑" panose="020B0503020204020204" charset="-122"/>
                <a:ea typeface="微软雅黑" panose="020B0503020204020204" charset="-122"/>
                <a:cs typeface="+mn-cs"/>
              </a:rPr>
              <a:t>         [-0]</a:t>
            </a:r>
            <a:r>
              <a:rPr kumimoji="0" lang="zh-CN" altLang="en-US" sz="2800" b="1" i="0" u="none" strike="noStrike" kern="1200" cap="none" spc="0" normalizeH="0" baseline="-25000" noProof="1" dirty="0">
                <a:solidFill>
                  <a:schemeClr val="tx2"/>
                </a:solidFill>
                <a:latin typeface="微软雅黑" panose="020B0503020204020204" charset="-122"/>
                <a:ea typeface="微软雅黑" panose="020B0503020204020204" charset="-122"/>
                <a:cs typeface="+mn-cs"/>
              </a:rPr>
              <a:t>原</a:t>
            </a:r>
            <a:r>
              <a:rPr kumimoji="0" lang="zh-CN" altLang="en-US" sz="2800" b="1" i="0" u="none" strike="noStrike" kern="1200" cap="none" spc="0" normalizeH="0" baseline="0" noProof="1" dirty="0">
                <a:solidFill>
                  <a:schemeClr val="tx2"/>
                </a:solidFill>
                <a:latin typeface="微软雅黑" panose="020B0503020204020204" charset="-122"/>
                <a:ea typeface="微软雅黑" panose="020B0503020204020204" charset="-122"/>
                <a:cs typeface="+mn-cs"/>
              </a:rPr>
              <a:t>=10000</a:t>
            </a:r>
            <a:endParaRPr kumimoji="0" lang="zh-CN" altLang="en-US" sz="2800" b="1" i="0" u="none" strike="noStrike" kern="1200" cap="none" spc="0" normalizeH="0" baseline="0" noProof="1" dirty="0">
              <a:solidFill>
                <a:schemeClr val="tx2"/>
              </a:solidFill>
              <a:latin typeface="微软雅黑" panose="020B0503020204020204" charset="-122"/>
              <a:ea typeface="微软雅黑" panose="020B0503020204020204" charset="-122"/>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Rectangle 2"/>
          <p:cNvSpPr>
            <a:spLocks noGrp="1"/>
          </p:cNvSpPr>
          <p:nvPr>
            <p:ph type="title"/>
          </p:nvPr>
        </p:nvSpPr>
        <p:spPr>
          <a:xfrm>
            <a:off x="508000" y="304800"/>
            <a:ext cx="7772400" cy="838200"/>
          </a:xfrm>
          <a:noFill/>
          <a:ln>
            <a:noFill/>
          </a:ln>
        </p:spPr>
        <p:txBody>
          <a:bodyPr anchor="t"/>
          <a:p>
            <a:pPr eaLnBrk="1" hangingPunct="1">
              <a:buNone/>
            </a:pPr>
            <a:r>
              <a:rPr lang="zh-CN" altLang="en-US" sz="3600" dirty="0">
                <a:solidFill>
                  <a:srgbClr val="0000FF"/>
                </a:solidFill>
                <a:latin typeface="微软雅黑" panose="020B0503020204020204" charset="-122"/>
                <a:ea typeface="微软雅黑" panose="020B0503020204020204" charset="-122"/>
              </a:rPr>
              <a:t>补码表示法</a:t>
            </a:r>
            <a:endParaRPr lang="zh-CN" altLang="en-US" sz="3600" dirty="0">
              <a:solidFill>
                <a:srgbClr val="0000FF"/>
              </a:solidFill>
              <a:latin typeface="微软雅黑" panose="020B0503020204020204" charset="-122"/>
              <a:ea typeface="微软雅黑" panose="020B0503020204020204" charset="-122"/>
            </a:endParaRPr>
          </a:p>
        </p:txBody>
      </p:sp>
      <p:sp>
        <p:nvSpPr>
          <p:cNvPr id="37891" name="Rectangle 3"/>
          <p:cNvSpPr>
            <a:spLocks noGrp="1" noChangeArrowheads="1"/>
          </p:cNvSpPr>
          <p:nvPr>
            <p:ph idx="1"/>
          </p:nvPr>
        </p:nvSpPr>
        <p:spPr bwMode="auto">
          <a:xfrm>
            <a:off x="685800" y="1143000"/>
            <a:ext cx="7772400" cy="523875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342900" algn="just" defTabSz="914400" rtl="0" eaLnBrk="1" fontAlgn="base" latinLnBrk="0" hangingPunct="1">
              <a:lnSpc>
                <a:spcPct val="100000"/>
              </a:lnSpc>
              <a:spcBef>
                <a:spcPct val="20000"/>
              </a:spcBef>
              <a:spcAft>
                <a:spcPct val="0"/>
              </a:spcAft>
              <a:buClr>
                <a:schemeClr val="hlink"/>
              </a:buClr>
              <a:buSzTx/>
              <a:buFontTx/>
              <a:buNone/>
              <a:defRPr/>
            </a:pPr>
            <a:r>
              <a:rPr kumimoji="0" lang="zh-CN" altLang="en-US" sz="2800" b="1" i="0" u="none" strike="noStrike" kern="0" cap="none" spc="0" normalizeH="0" baseline="0" noProof="0" dirty="0">
                <a:ln>
                  <a:noFill/>
                </a:ln>
                <a:solidFill>
                  <a:srgbClr val="FF3300"/>
                </a:solidFill>
                <a:effectLst/>
                <a:uLnTx/>
                <a:uFillTx/>
                <a:latin typeface="微软雅黑" panose="020B0503020204020204" charset="-122"/>
                <a:ea typeface="微软雅黑" panose="020B0503020204020204" charset="-122"/>
                <a:cs typeface="Times New Roman" panose="02020603050405020304" pitchFamily="18" charset="0"/>
              </a:rPr>
              <a:t> 1.模和同余</a:t>
            </a:r>
            <a:endParaRPr kumimoji="0" lang="zh-CN" altLang="en-US" sz="2800" b="1" i="0" u="none" strike="noStrike" kern="0" cap="none" spc="0" normalizeH="0" baseline="0" noProof="0" dirty="0">
              <a:ln>
                <a:noFill/>
              </a:ln>
              <a:solidFill>
                <a:srgbClr val="FF3300"/>
              </a:solidFill>
              <a:effectLst/>
              <a:uLnTx/>
              <a:uFillTx/>
              <a:latin typeface="微软雅黑" panose="020B0503020204020204" charset="-122"/>
              <a:ea typeface="微软雅黑" panose="020B0503020204020204" charset="-122"/>
              <a:cs typeface="Times New Roman" panose="02020603050405020304" pitchFamily="18" charset="0"/>
            </a:endParaRPr>
          </a:p>
          <a:p>
            <a:pPr marL="342900" marR="0" lvl="0" indent="-342900" algn="just" defTabSz="914400" rtl="0" eaLnBrk="1" fontAlgn="base" latinLnBrk="0" hangingPunct="1">
              <a:lnSpc>
                <a:spcPct val="100000"/>
              </a:lnSpc>
              <a:spcBef>
                <a:spcPts val="1800"/>
              </a:spcBef>
              <a:spcAft>
                <a:spcPct val="0"/>
              </a:spcAft>
              <a:buClr>
                <a:schemeClr val="tx2"/>
              </a:buClr>
              <a:buSzPct val="80000"/>
              <a:buFont typeface="Wingdings" panose="05000000000000000000" pitchFamily="2" charset="2"/>
              <a:buChar char="u"/>
              <a:defRPr/>
            </a:pPr>
            <a:r>
              <a:rPr kumimoji="0" lang="zh-CN" altLang="en-US" sz="2400" b="1" i="0" u="none" strike="noStrike" kern="0" cap="none" spc="0" normalizeH="0" baseline="0" noProof="0" dirty="0">
                <a:ln>
                  <a:noFill/>
                </a:ln>
                <a:solidFill>
                  <a:srgbClr val="FF3300"/>
                </a:solidFill>
                <a:effectLst/>
                <a:uLnTx/>
                <a:uFillTx/>
                <a:latin typeface="微软雅黑" panose="020B0503020204020204" charset="-122"/>
                <a:ea typeface="微软雅黑" panose="020B0503020204020204" charset="-122"/>
                <a:cs typeface="Times New Roman" panose="02020603050405020304" pitchFamily="18" charset="0"/>
              </a:rPr>
              <a:t>模</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是指一个计量器的容量，可用</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M</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表示。</a:t>
            </a:r>
            <a:endPar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713105" marR="0" lvl="0" indent="93980" algn="just" defTabSz="914400" rtl="0" eaLnBrk="1" fontAlgn="base" latinLnBrk="0" hangingPunct="1">
              <a:lnSpc>
                <a:spcPct val="100000"/>
              </a:lnSpc>
              <a:spcBef>
                <a:spcPts val="1800"/>
              </a:spcBef>
              <a:spcAft>
                <a:spcPct val="0"/>
              </a:spcAft>
              <a:buClr>
                <a:schemeClr val="hlink"/>
              </a:buClr>
              <a:buSzTx/>
              <a:buFont typeface="Wingdings" panose="05000000000000000000" pitchFamily="2" charset="2"/>
              <a:buChar char="ü"/>
              <a:defRPr/>
            </a:pP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例如：一个4位的二进制计数器，当计数器从0计到15之后，再加1，计数值又变为0。这个计数器的容量</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M=2</a:t>
            </a:r>
            <a:r>
              <a:rPr kumimoji="0" lang="en-US" altLang="zh-CN" sz="2400" b="1" i="0" u="none" strike="noStrike" kern="0" cap="none" spc="0" normalizeH="0" baseline="30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4</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=16，</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即模为16。</a:t>
            </a:r>
            <a:endPar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713105" marR="0" lvl="0" indent="93980" algn="just" defTabSz="914400" rtl="0" eaLnBrk="1" fontAlgn="base" latinLnBrk="0" hangingPunct="1">
              <a:lnSpc>
                <a:spcPct val="100000"/>
              </a:lnSpc>
              <a:spcBef>
                <a:spcPts val="600"/>
              </a:spcBef>
              <a:spcAft>
                <a:spcPct val="0"/>
              </a:spcAft>
              <a:buClr>
                <a:schemeClr val="hlink"/>
              </a:buClr>
              <a:buSzTx/>
              <a:buFont typeface="Wingdings" panose="05000000000000000000" pitchFamily="2" charset="2"/>
              <a:buChar char="ü"/>
              <a:defRPr/>
            </a:pP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纯小数的模为2，一个字长为</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n+1</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位的纯整数的模为2</a:t>
            </a:r>
            <a:r>
              <a:rPr kumimoji="0" lang="en-US" altLang="zh-CN" sz="2400" b="1" i="0" u="none" strike="noStrike" kern="0" cap="none" spc="0" normalizeH="0" baseline="30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n+1</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endPar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357505" marR="0" lvl="0" indent="-357505" algn="just" defTabSz="914400" rtl="0" eaLnBrk="1" fontAlgn="base" latinLnBrk="0" hangingPunct="1">
              <a:lnSpc>
                <a:spcPct val="100000"/>
              </a:lnSpc>
              <a:spcBef>
                <a:spcPts val="1800"/>
              </a:spcBef>
              <a:spcAft>
                <a:spcPct val="0"/>
              </a:spcAft>
              <a:buClr>
                <a:schemeClr val="tx2"/>
              </a:buClr>
              <a:buSzPct val="80000"/>
              <a:buFont typeface="Wingdings" panose="05000000000000000000" pitchFamily="2" charset="2"/>
              <a:buChar char="u"/>
              <a:defRPr/>
            </a:pPr>
            <a:r>
              <a:rPr kumimoji="0" lang="zh-CN" altLang="en-US" sz="2400" b="1" i="0" u="none" strike="noStrike" kern="0" cap="none" spc="0" normalizeH="0" baseline="0" noProof="0" dirty="0">
                <a:ln>
                  <a:noFill/>
                </a:ln>
                <a:solidFill>
                  <a:srgbClr val="FF3300"/>
                </a:solidFill>
                <a:effectLst/>
                <a:uLnTx/>
                <a:uFillTx/>
                <a:latin typeface="微软雅黑" panose="020B0503020204020204" charset="-122"/>
                <a:ea typeface="微软雅黑" panose="020B0503020204020204" charset="-122"/>
                <a:cs typeface="Times New Roman" panose="02020603050405020304" pitchFamily="18" charset="0"/>
              </a:rPr>
              <a:t>同余</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是指两整数</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A、B</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除以同一正整数</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M，</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所得余数相同，则称</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A、B</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对</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M</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同余，即</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A、B</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在以</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M</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为模时是相等的，可写作</a:t>
            </a:r>
            <a:endPar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342900" algn="just" defTabSz="914400" rtl="0" eaLnBrk="1" fontAlgn="base" latinLnBrk="0" hangingPunct="1">
              <a:lnSpc>
                <a:spcPct val="100000"/>
              </a:lnSpc>
              <a:spcBef>
                <a:spcPts val="1800"/>
              </a:spcBef>
              <a:spcAft>
                <a:spcPct val="0"/>
              </a:spcAft>
              <a:buClr>
                <a:schemeClr val="hlink"/>
              </a:buClr>
              <a:buSzTx/>
              <a:buFontTx/>
              <a:buNone/>
              <a:defRPr/>
            </a:pP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             </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A=B (mod M) </a:t>
            </a:r>
            <a:r>
              <a:rPr kumimoji="0" lang="en-US" altLang="zh-CN" sz="2400" b="1"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Times New Roman" panose="02020603050405020304" pitchFamily="18" charset="0"/>
              </a:rPr>
              <a:t>    </a:t>
            </a:r>
            <a:endParaRPr kumimoji="0" lang="en-US" altLang="zh-CN" sz="2400" b="1"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Rectangle 2"/>
          <p:cNvSpPr>
            <a:spLocks noGrp="1"/>
          </p:cNvSpPr>
          <p:nvPr>
            <p:ph type="title"/>
          </p:nvPr>
        </p:nvSpPr>
        <p:spPr>
          <a:xfrm>
            <a:off x="468313" y="384175"/>
            <a:ext cx="7772400" cy="819150"/>
          </a:xfrm>
          <a:noFill/>
          <a:ln>
            <a:noFill/>
          </a:ln>
        </p:spPr>
        <p:txBody>
          <a:bodyPr anchor="t"/>
          <a:p>
            <a:pPr eaLnBrk="1" hangingPunct="1">
              <a:buNone/>
            </a:pPr>
            <a:r>
              <a:rPr lang="zh-CN" altLang="en-US" dirty="0">
                <a:solidFill>
                  <a:srgbClr val="0000FF"/>
                </a:solidFill>
                <a:latin typeface="微软雅黑" panose="020B0503020204020204" charset="-122"/>
                <a:ea typeface="微软雅黑" panose="020B0503020204020204" charset="-122"/>
              </a:rPr>
              <a:t>时钟正拨和倒拨</a:t>
            </a:r>
            <a:endParaRPr lang="zh-CN" altLang="en-US" dirty="0">
              <a:solidFill>
                <a:srgbClr val="0000FF"/>
              </a:solidFill>
              <a:latin typeface="微软雅黑" panose="020B0503020204020204" charset="-122"/>
              <a:ea typeface="微软雅黑" panose="020B0503020204020204" charset="-122"/>
            </a:endParaRPr>
          </a:p>
        </p:txBody>
      </p:sp>
      <p:sp>
        <p:nvSpPr>
          <p:cNvPr id="37890" name="Rectangle 3"/>
          <p:cNvSpPr>
            <a:spLocks noGrp="1"/>
          </p:cNvSpPr>
          <p:nvPr>
            <p:ph idx="1"/>
          </p:nvPr>
        </p:nvSpPr>
        <p:spPr>
          <a:xfrm>
            <a:off x="660400" y="1203325"/>
            <a:ext cx="7772400" cy="1493838"/>
          </a:xfrm>
          <a:noFill/>
          <a:ln>
            <a:noFill/>
          </a:ln>
        </p:spPr>
        <p:txBody>
          <a:bodyPr anchor="t"/>
          <a:p>
            <a:pPr marL="457200" indent="-457200" algn="just" eaLnBrk="1" hangingPunct="1">
              <a:lnSpc>
                <a:spcPct val="90000"/>
              </a:lnSpc>
              <a:spcBef>
                <a:spcPct val="0"/>
              </a:spcBef>
              <a:buClr>
                <a:srgbClr val="3C5713"/>
              </a:buClr>
              <a:buFont typeface="Wingdings" panose="05000000000000000000" charset="0"/>
              <a:buChar char="u"/>
            </a:pPr>
            <a:r>
              <a:rPr lang="zh-CN" altLang="en-US" dirty="0">
                <a:solidFill>
                  <a:schemeClr val="tx2"/>
                </a:solidFill>
                <a:latin typeface="微软雅黑" panose="020B0503020204020204" charset="-122"/>
                <a:ea typeface="微软雅黑" panose="020B0503020204020204" charset="-122"/>
              </a:rPr>
              <a:t>对钟表而言，</a:t>
            </a:r>
            <a:r>
              <a:rPr lang="en-US" altLang="zh-CN" dirty="0">
                <a:solidFill>
                  <a:schemeClr val="tx2"/>
                </a:solidFill>
                <a:latin typeface="微软雅黑" panose="020B0503020204020204" charset="-122"/>
                <a:ea typeface="微软雅黑" panose="020B0503020204020204" charset="-122"/>
              </a:rPr>
              <a:t>M=12。</a:t>
            </a:r>
            <a:r>
              <a:rPr lang="zh-CN" altLang="en-US" dirty="0">
                <a:solidFill>
                  <a:schemeClr val="tx2"/>
                </a:solidFill>
                <a:latin typeface="微软雅黑" panose="020B0503020204020204" charset="-122"/>
                <a:ea typeface="微软雅黑" panose="020B0503020204020204" charset="-122"/>
              </a:rPr>
              <a:t>假设：时钟停在</a:t>
            </a:r>
            <a:r>
              <a:rPr lang="en-US" altLang="zh-CN" dirty="0">
                <a:solidFill>
                  <a:schemeClr val="tx2"/>
                </a:solidFill>
                <a:latin typeface="微软雅黑" panose="020B0503020204020204" charset="-122"/>
                <a:ea typeface="微软雅黑" panose="020B0503020204020204" charset="-122"/>
              </a:rPr>
              <a:t>9</a:t>
            </a:r>
            <a:r>
              <a:rPr lang="zh-CN" altLang="en-US" dirty="0">
                <a:solidFill>
                  <a:schemeClr val="tx2"/>
                </a:solidFill>
                <a:latin typeface="微软雅黑" panose="020B0503020204020204" charset="-122"/>
                <a:ea typeface="微软雅黑" panose="020B0503020204020204" charset="-122"/>
              </a:rPr>
              <a:t>点，而现在正确的时间是6点，这时拨准时钟的方法有两种：正拨和倒拨。      </a:t>
            </a:r>
            <a:endParaRPr lang="en-US" altLang="zh-CN" dirty="0">
              <a:solidFill>
                <a:schemeClr val="tx2"/>
              </a:solidFill>
              <a:latin typeface="微软雅黑" panose="020B0503020204020204" charset="-122"/>
              <a:ea typeface="微软雅黑" panose="020B0503020204020204" charset="-122"/>
            </a:endParaRPr>
          </a:p>
        </p:txBody>
      </p:sp>
      <p:grpSp>
        <p:nvGrpSpPr>
          <p:cNvPr id="37891" name="Group 9"/>
          <p:cNvGrpSpPr/>
          <p:nvPr/>
        </p:nvGrpSpPr>
        <p:grpSpPr>
          <a:xfrm>
            <a:off x="1435100" y="2590800"/>
            <a:ext cx="2667000" cy="2438400"/>
            <a:chOff x="912" y="1920"/>
            <a:chExt cx="1872" cy="1680"/>
          </a:xfrm>
        </p:grpSpPr>
        <p:sp>
          <p:nvSpPr>
            <p:cNvPr id="37892" name="Oval 10"/>
            <p:cNvSpPr/>
            <p:nvPr/>
          </p:nvSpPr>
          <p:spPr>
            <a:xfrm>
              <a:off x="912" y="1920"/>
              <a:ext cx="1872" cy="1680"/>
            </a:xfrm>
            <a:prstGeom prst="ellipse">
              <a:avLst/>
            </a:prstGeom>
            <a:solidFill>
              <a:srgbClr val="66FFCC"/>
            </a:solidFill>
            <a:ln w="9525">
              <a:noFill/>
            </a:ln>
          </p:spPr>
          <p:txBody>
            <a:bodyPr wrap="none" anchor="ctr"/>
            <a:p>
              <a:endParaRPr lang="zh-CN" altLang="en-US" dirty="0">
                <a:latin typeface="Arial" panose="020B0604020202020204" pitchFamily="34" charset="0"/>
                <a:ea typeface="华文行楷" panose="02010800040101010101" pitchFamily="2" charset="-122"/>
              </a:endParaRPr>
            </a:p>
          </p:txBody>
        </p:sp>
        <p:sp>
          <p:nvSpPr>
            <p:cNvPr id="37893" name="Oval 11"/>
            <p:cNvSpPr/>
            <p:nvPr/>
          </p:nvSpPr>
          <p:spPr>
            <a:xfrm>
              <a:off x="1008" y="2016"/>
              <a:ext cx="1680" cy="1488"/>
            </a:xfrm>
            <a:prstGeom prst="ellipse">
              <a:avLst/>
            </a:prstGeom>
            <a:solidFill>
              <a:schemeClr val="bg1"/>
            </a:solidFill>
            <a:ln w="9525">
              <a:noFill/>
            </a:ln>
          </p:spPr>
          <p:txBody>
            <a:bodyPr wrap="none" anchor="ctr"/>
            <a:p>
              <a:endParaRPr lang="zh-CN" altLang="en-US" dirty="0">
                <a:latin typeface="Arial" panose="020B0604020202020204" pitchFamily="34" charset="0"/>
                <a:ea typeface="华文行楷" panose="02010800040101010101" pitchFamily="2" charset="-122"/>
              </a:endParaRPr>
            </a:p>
          </p:txBody>
        </p:sp>
        <p:sp>
          <p:nvSpPr>
            <p:cNvPr id="15372" name="Text Box 12"/>
            <p:cNvSpPr txBox="1">
              <a:spLocks noChangeArrowheads="1"/>
            </p:cNvSpPr>
            <p:nvPr/>
          </p:nvSpPr>
          <p:spPr bwMode="auto">
            <a:xfrm>
              <a:off x="1639" y="2016"/>
              <a:ext cx="33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defRPr/>
              </a:pPr>
              <a:r>
                <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rPr>
                <a:t>12</a:t>
              </a:r>
              <a:endPar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15373" name="Text Box 13"/>
            <p:cNvSpPr txBox="1">
              <a:spLocks noChangeArrowheads="1"/>
            </p:cNvSpPr>
            <p:nvPr/>
          </p:nvSpPr>
          <p:spPr bwMode="auto">
            <a:xfrm>
              <a:off x="1745" y="3216"/>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defRPr/>
              </a:pPr>
              <a:r>
                <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rPr>
                <a:t>6</a:t>
              </a:r>
              <a:endPar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15374" name="Text Box 14"/>
            <p:cNvSpPr txBox="1">
              <a:spLocks noChangeArrowheads="1"/>
            </p:cNvSpPr>
            <p:nvPr/>
          </p:nvSpPr>
          <p:spPr bwMode="auto">
            <a:xfrm>
              <a:off x="2465" y="2592"/>
              <a:ext cx="22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defRPr/>
              </a:pPr>
              <a:r>
                <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rPr>
                <a:t>3</a:t>
              </a:r>
              <a:endPar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15375" name="Text Box 15"/>
            <p:cNvSpPr txBox="1">
              <a:spLocks noChangeArrowheads="1"/>
            </p:cNvSpPr>
            <p:nvPr/>
          </p:nvSpPr>
          <p:spPr bwMode="auto">
            <a:xfrm>
              <a:off x="1008" y="2640"/>
              <a:ext cx="223"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defRPr/>
              </a:pPr>
              <a:r>
                <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rPr>
                <a:t>9</a:t>
              </a:r>
              <a:endPar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15376" name="Text Box 16"/>
            <p:cNvSpPr txBox="1">
              <a:spLocks noChangeArrowheads="1"/>
            </p:cNvSpPr>
            <p:nvPr/>
          </p:nvSpPr>
          <p:spPr bwMode="auto">
            <a:xfrm>
              <a:off x="2064" y="2064"/>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defRPr/>
              </a:pPr>
              <a:r>
                <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rPr>
                <a:t>1</a:t>
              </a:r>
              <a:endPar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15377" name="Text Box 17"/>
            <p:cNvSpPr txBox="1">
              <a:spLocks noChangeArrowheads="1"/>
            </p:cNvSpPr>
            <p:nvPr/>
          </p:nvSpPr>
          <p:spPr bwMode="auto">
            <a:xfrm>
              <a:off x="2320" y="2304"/>
              <a:ext cx="2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defRPr/>
              </a:pPr>
              <a:r>
                <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rPr>
                <a:t>2</a:t>
              </a:r>
              <a:endPar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15378" name="Text Box 18"/>
            <p:cNvSpPr txBox="1">
              <a:spLocks noChangeArrowheads="1"/>
            </p:cNvSpPr>
            <p:nvPr/>
          </p:nvSpPr>
          <p:spPr bwMode="auto">
            <a:xfrm>
              <a:off x="1296" y="2113"/>
              <a:ext cx="330" cy="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defRPr/>
              </a:pPr>
              <a:r>
                <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rPr>
                <a:t>11</a:t>
              </a:r>
              <a:endPar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15379" name="Text Box 19"/>
            <p:cNvSpPr txBox="1">
              <a:spLocks noChangeArrowheads="1"/>
            </p:cNvSpPr>
            <p:nvPr/>
          </p:nvSpPr>
          <p:spPr bwMode="auto">
            <a:xfrm>
              <a:off x="1062" y="2352"/>
              <a:ext cx="3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defRPr/>
              </a:pPr>
              <a:r>
                <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rPr>
                <a:t>10</a:t>
              </a:r>
              <a:endPar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15380" name="Text Box 20"/>
            <p:cNvSpPr txBox="1">
              <a:spLocks noChangeArrowheads="1"/>
            </p:cNvSpPr>
            <p:nvPr/>
          </p:nvSpPr>
          <p:spPr bwMode="auto">
            <a:xfrm>
              <a:off x="1392" y="316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defRPr/>
              </a:pPr>
              <a:r>
                <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rPr>
                <a:t>7</a:t>
              </a:r>
              <a:endPar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15381" name="Text Box 21"/>
            <p:cNvSpPr txBox="1">
              <a:spLocks noChangeArrowheads="1"/>
            </p:cNvSpPr>
            <p:nvPr/>
          </p:nvSpPr>
          <p:spPr bwMode="auto">
            <a:xfrm>
              <a:off x="1121" y="2975"/>
              <a:ext cx="223"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defRPr/>
              </a:pPr>
              <a:r>
                <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rPr>
                <a:t>8</a:t>
              </a:r>
              <a:endPar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15382" name="Text Box 22"/>
            <p:cNvSpPr txBox="1">
              <a:spLocks noChangeArrowheads="1"/>
            </p:cNvSpPr>
            <p:nvPr/>
          </p:nvSpPr>
          <p:spPr bwMode="auto">
            <a:xfrm>
              <a:off x="2129" y="316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defRPr/>
              </a:pPr>
              <a:r>
                <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rPr>
                <a:t>5</a:t>
              </a:r>
              <a:endPar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15383" name="Text Box 23"/>
            <p:cNvSpPr txBox="1">
              <a:spLocks noChangeArrowheads="1"/>
            </p:cNvSpPr>
            <p:nvPr/>
          </p:nvSpPr>
          <p:spPr bwMode="auto">
            <a:xfrm>
              <a:off x="2352" y="292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defRPr/>
              </a:pPr>
              <a:r>
                <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rPr>
                <a:t>4</a:t>
              </a:r>
              <a:endPar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37906" name="AutoShape 24"/>
            <p:cNvSpPr/>
            <p:nvPr/>
          </p:nvSpPr>
          <p:spPr>
            <a:xfrm>
              <a:off x="1776" y="2064"/>
              <a:ext cx="96" cy="768"/>
            </a:xfrm>
            <a:prstGeom prst="triangle">
              <a:avLst>
                <a:gd name="adj" fmla="val 37500"/>
              </a:avLst>
            </a:prstGeom>
            <a:solidFill>
              <a:schemeClr val="hlink"/>
            </a:solidFill>
            <a:ln w="9525">
              <a:noFill/>
            </a:ln>
          </p:spPr>
          <p:txBody>
            <a:bodyPr wrap="none" anchor="ctr"/>
            <a:p>
              <a:endParaRPr lang="zh-CN" altLang="en-US" dirty="0">
                <a:latin typeface="Arial" panose="020B0604020202020204" pitchFamily="34" charset="0"/>
                <a:ea typeface="华文行楷" panose="02010800040101010101" pitchFamily="2" charset="-122"/>
              </a:endParaRPr>
            </a:p>
          </p:txBody>
        </p:sp>
        <p:sp>
          <p:nvSpPr>
            <p:cNvPr id="37907" name="AutoShape 25"/>
            <p:cNvSpPr/>
            <p:nvPr/>
          </p:nvSpPr>
          <p:spPr>
            <a:xfrm rot="-5400000">
              <a:off x="1560" y="2520"/>
              <a:ext cx="144" cy="480"/>
            </a:xfrm>
            <a:prstGeom prst="triangle">
              <a:avLst>
                <a:gd name="adj" fmla="val 50000"/>
              </a:avLst>
            </a:prstGeom>
            <a:solidFill>
              <a:srgbClr val="FF3399"/>
            </a:solidFill>
            <a:ln w="9525">
              <a:noFill/>
            </a:ln>
          </p:spPr>
          <p:txBody>
            <a:bodyPr wrap="none" anchor="ctr"/>
            <a:p>
              <a:endParaRPr lang="zh-CN" altLang="en-US" dirty="0">
                <a:latin typeface="Arial" panose="020B0604020202020204" pitchFamily="34" charset="0"/>
                <a:ea typeface="华文行楷" panose="02010800040101010101" pitchFamily="2" charset="-122"/>
              </a:endParaRPr>
            </a:p>
          </p:txBody>
        </p:sp>
      </p:grpSp>
      <p:grpSp>
        <p:nvGrpSpPr>
          <p:cNvPr id="37908" name="Group 26"/>
          <p:cNvGrpSpPr/>
          <p:nvPr/>
        </p:nvGrpSpPr>
        <p:grpSpPr>
          <a:xfrm>
            <a:off x="5168900" y="2590800"/>
            <a:ext cx="2728913" cy="2438400"/>
            <a:chOff x="3024" y="1920"/>
            <a:chExt cx="1872" cy="1680"/>
          </a:xfrm>
        </p:grpSpPr>
        <p:sp>
          <p:nvSpPr>
            <p:cNvPr id="37909" name="Oval 27"/>
            <p:cNvSpPr/>
            <p:nvPr/>
          </p:nvSpPr>
          <p:spPr>
            <a:xfrm>
              <a:off x="3024" y="1920"/>
              <a:ext cx="1872" cy="1680"/>
            </a:xfrm>
            <a:prstGeom prst="ellipse">
              <a:avLst/>
            </a:prstGeom>
            <a:solidFill>
              <a:srgbClr val="66FFCC"/>
            </a:solidFill>
            <a:ln w="9525">
              <a:noFill/>
            </a:ln>
          </p:spPr>
          <p:txBody>
            <a:bodyPr wrap="none" anchor="ctr"/>
            <a:p>
              <a:endParaRPr lang="zh-CN" altLang="en-US" dirty="0">
                <a:latin typeface="Arial" panose="020B0604020202020204" pitchFamily="34" charset="0"/>
                <a:ea typeface="华文行楷" panose="02010800040101010101" pitchFamily="2" charset="-122"/>
              </a:endParaRPr>
            </a:p>
          </p:txBody>
        </p:sp>
        <p:sp>
          <p:nvSpPr>
            <p:cNvPr id="37910" name="Oval 28"/>
            <p:cNvSpPr/>
            <p:nvPr/>
          </p:nvSpPr>
          <p:spPr>
            <a:xfrm>
              <a:off x="3120" y="2016"/>
              <a:ext cx="1680" cy="1488"/>
            </a:xfrm>
            <a:prstGeom prst="ellipse">
              <a:avLst/>
            </a:prstGeom>
            <a:solidFill>
              <a:schemeClr val="bg1"/>
            </a:solidFill>
            <a:ln w="9525">
              <a:noFill/>
            </a:ln>
          </p:spPr>
          <p:txBody>
            <a:bodyPr wrap="none" anchor="ctr"/>
            <a:p>
              <a:endParaRPr lang="zh-CN" altLang="en-US" dirty="0">
                <a:latin typeface="Arial" panose="020B0604020202020204" pitchFamily="34" charset="0"/>
                <a:ea typeface="华文行楷" panose="02010800040101010101" pitchFamily="2" charset="-122"/>
              </a:endParaRPr>
            </a:p>
          </p:txBody>
        </p:sp>
        <p:sp>
          <p:nvSpPr>
            <p:cNvPr id="15389" name="Text Box 29"/>
            <p:cNvSpPr txBox="1">
              <a:spLocks noChangeArrowheads="1"/>
            </p:cNvSpPr>
            <p:nvPr/>
          </p:nvSpPr>
          <p:spPr bwMode="auto">
            <a:xfrm>
              <a:off x="3750" y="2016"/>
              <a:ext cx="3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defRPr/>
              </a:pPr>
              <a:r>
                <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rPr>
                <a:t>12</a:t>
              </a:r>
              <a:endPar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15390" name="Text Box 30"/>
            <p:cNvSpPr txBox="1">
              <a:spLocks noChangeArrowheads="1"/>
            </p:cNvSpPr>
            <p:nvPr/>
          </p:nvSpPr>
          <p:spPr bwMode="auto">
            <a:xfrm>
              <a:off x="3857" y="3216"/>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defRPr/>
              </a:pPr>
              <a:r>
                <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rPr>
                <a:t>6</a:t>
              </a:r>
              <a:endPar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15391" name="Text Box 31"/>
            <p:cNvSpPr txBox="1">
              <a:spLocks noChangeArrowheads="1"/>
            </p:cNvSpPr>
            <p:nvPr/>
          </p:nvSpPr>
          <p:spPr bwMode="auto">
            <a:xfrm>
              <a:off x="4577" y="2592"/>
              <a:ext cx="22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defRPr/>
              </a:pPr>
              <a:r>
                <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rPr>
                <a:t>3</a:t>
              </a:r>
              <a:endPar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15392" name="Text Box 32"/>
            <p:cNvSpPr txBox="1">
              <a:spLocks noChangeArrowheads="1"/>
            </p:cNvSpPr>
            <p:nvPr/>
          </p:nvSpPr>
          <p:spPr bwMode="auto">
            <a:xfrm>
              <a:off x="3120" y="2640"/>
              <a:ext cx="223"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defRPr/>
              </a:pPr>
              <a:r>
                <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rPr>
                <a:t>9</a:t>
              </a:r>
              <a:endPar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15393" name="Text Box 33"/>
            <p:cNvSpPr txBox="1">
              <a:spLocks noChangeArrowheads="1"/>
            </p:cNvSpPr>
            <p:nvPr/>
          </p:nvSpPr>
          <p:spPr bwMode="auto">
            <a:xfrm>
              <a:off x="4176" y="2064"/>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defRPr/>
              </a:pPr>
              <a:r>
                <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rPr>
                <a:t>1</a:t>
              </a:r>
              <a:endPar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15394" name="Text Box 34"/>
            <p:cNvSpPr txBox="1">
              <a:spLocks noChangeArrowheads="1"/>
            </p:cNvSpPr>
            <p:nvPr/>
          </p:nvSpPr>
          <p:spPr bwMode="auto">
            <a:xfrm>
              <a:off x="4433" y="2304"/>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defRPr/>
              </a:pPr>
              <a:r>
                <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rPr>
                <a:t>2</a:t>
              </a:r>
              <a:endPar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15395" name="Text Box 35"/>
            <p:cNvSpPr txBox="1">
              <a:spLocks noChangeArrowheads="1"/>
            </p:cNvSpPr>
            <p:nvPr/>
          </p:nvSpPr>
          <p:spPr bwMode="auto">
            <a:xfrm>
              <a:off x="3408" y="2112"/>
              <a:ext cx="3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defRPr/>
              </a:pPr>
              <a:r>
                <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rPr>
                <a:t>11</a:t>
              </a:r>
              <a:endPar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15396" name="Text Box 36"/>
            <p:cNvSpPr txBox="1">
              <a:spLocks noChangeArrowheads="1"/>
            </p:cNvSpPr>
            <p:nvPr/>
          </p:nvSpPr>
          <p:spPr bwMode="auto">
            <a:xfrm>
              <a:off x="3174" y="2352"/>
              <a:ext cx="3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defRPr/>
              </a:pPr>
              <a:r>
                <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rPr>
                <a:t>10</a:t>
              </a:r>
              <a:endPar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15397" name="Text Box 37"/>
            <p:cNvSpPr txBox="1">
              <a:spLocks noChangeArrowheads="1"/>
            </p:cNvSpPr>
            <p:nvPr/>
          </p:nvSpPr>
          <p:spPr bwMode="auto">
            <a:xfrm>
              <a:off x="3504" y="316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defRPr/>
              </a:pPr>
              <a:r>
                <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rPr>
                <a:t>7</a:t>
              </a:r>
              <a:endPar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15398" name="Text Box 38"/>
            <p:cNvSpPr txBox="1">
              <a:spLocks noChangeArrowheads="1"/>
            </p:cNvSpPr>
            <p:nvPr/>
          </p:nvSpPr>
          <p:spPr bwMode="auto">
            <a:xfrm>
              <a:off x="3233" y="2975"/>
              <a:ext cx="223"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defRPr/>
              </a:pPr>
              <a:r>
                <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rPr>
                <a:t>8</a:t>
              </a:r>
              <a:endPar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15399" name="Text Box 39"/>
            <p:cNvSpPr txBox="1">
              <a:spLocks noChangeArrowheads="1"/>
            </p:cNvSpPr>
            <p:nvPr/>
          </p:nvSpPr>
          <p:spPr bwMode="auto">
            <a:xfrm>
              <a:off x="4242" y="3168"/>
              <a:ext cx="22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defRPr/>
              </a:pPr>
              <a:r>
                <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rPr>
                <a:t>5</a:t>
              </a:r>
              <a:endPar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15400" name="Text Box 40"/>
            <p:cNvSpPr txBox="1">
              <a:spLocks noChangeArrowheads="1"/>
            </p:cNvSpPr>
            <p:nvPr/>
          </p:nvSpPr>
          <p:spPr bwMode="auto">
            <a:xfrm>
              <a:off x="4464" y="292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defRPr/>
              </a:pPr>
              <a:r>
                <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rPr>
                <a:t>4</a:t>
              </a:r>
              <a:endParaRPr kumimoji="1" lang="en-US" altLang="zh-CN" sz="2400" b="1"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37923" name="AutoShape 41"/>
            <p:cNvSpPr/>
            <p:nvPr/>
          </p:nvSpPr>
          <p:spPr>
            <a:xfrm>
              <a:off x="3912" y="2064"/>
              <a:ext cx="96" cy="768"/>
            </a:xfrm>
            <a:prstGeom prst="triangle">
              <a:avLst>
                <a:gd name="adj" fmla="val 37500"/>
              </a:avLst>
            </a:prstGeom>
            <a:solidFill>
              <a:schemeClr val="hlink"/>
            </a:solidFill>
            <a:ln w="9525">
              <a:noFill/>
            </a:ln>
          </p:spPr>
          <p:txBody>
            <a:bodyPr wrap="none" anchor="ctr"/>
            <a:p>
              <a:endParaRPr lang="zh-CN" altLang="en-US" dirty="0">
                <a:latin typeface="Arial" panose="020B0604020202020204" pitchFamily="34" charset="0"/>
                <a:ea typeface="华文行楷" panose="02010800040101010101" pitchFamily="2" charset="-122"/>
              </a:endParaRPr>
            </a:p>
          </p:txBody>
        </p:sp>
        <p:sp>
          <p:nvSpPr>
            <p:cNvPr id="37924" name="AutoShape 42"/>
            <p:cNvSpPr/>
            <p:nvPr/>
          </p:nvSpPr>
          <p:spPr>
            <a:xfrm flipV="1">
              <a:off x="3888" y="2784"/>
              <a:ext cx="144" cy="480"/>
            </a:xfrm>
            <a:prstGeom prst="triangle">
              <a:avLst>
                <a:gd name="adj" fmla="val 50000"/>
              </a:avLst>
            </a:prstGeom>
            <a:solidFill>
              <a:srgbClr val="FF3399"/>
            </a:solidFill>
            <a:ln w="9525">
              <a:noFill/>
            </a:ln>
          </p:spPr>
          <p:txBody>
            <a:bodyPr wrap="none" anchor="ctr"/>
            <a:p>
              <a:endParaRPr lang="zh-CN" altLang="en-US" dirty="0">
                <a:latin typeface="Arial" panose="020B0604020202020204" pitchFamily="34" charset="0"/>
                <a:ea typeface="华文行楷" panose="02010800040101010101" pitchFamily="2" charset="-122"/>
              </a:endParaRPr>
            </a:p>
          </p:txBody>
        </p:sp>
      </p:grpSp>
      <p:sp>
        <p:nvSpPr>
          <p:cNvPr id="15403" name="Text Box 43"/>
          <p:cNvSpPr txBox="1">
            <a:spLocks noChangeArrowheads="1"/>
          </p:cNvSpPr>
          <p:nvPr/>
        </p:nvSpPr>
        <p:spPr bwMode="auto">
          <a:xfrm>
            <a:off x="2197100" y="5078413"/>
            <a:ext cx="1409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defRPr/>
            </a:pPr>
            <a:r>
              <a:rPr kumimoji="1" lang="zh-CN" altLang="en-US" sz="2400"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rPr>
              <a:t>错误时间</a:t>
            </a:r>
            <a:endParaRPr kumimoji="1" lang="zh-CN" altLang="en-US" sz="2400"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endParaRPr>
          </a:p>
        </p:txBody>
      </p:sp>
      <p:sp>
        <p:nvSpPr>
          <p:cNvPr id="15404" name="Text Box 44"/>
          <p:cNvSpPr txBox="1">
            <a:spLocks noChangeArrowheads="1"/>
          </p:cNvSpPr>
          <p:nvPr/>
        </p:nvSpPr>
        <p:spPr bwMode="auto">
          <a:xfrm>
            <a:off x="5918200" y="5078413"/>
            <a:ext cx="1409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defRPr/>
            </a:pPr>
            <a:r>
              <a:rPr kumimoji="1" lang="zh-CN" altLang="en-US" sz="2400"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rPr>
              <a:t>正确时间</a:t>
            </a:r>
            <a:endParaRPr kumimoji="1" lang="zh-CN" altLang="en-US" sz="2400"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endParaRPr>
          </a:p>
        </p:txBody>
      </p:sp>
      <p:sp>
        <p:nvSpPr>
          <p:cNvPr id="15405" name="Text Box 45"/>
          <p:cNvSpPr txBox="1">
            <a:spLocks noChangeArrowheads="1"/>
          </p:cNvSpPr>
          <p:nvPr/>
        </p:nvSpPr>
        <p:spPr bwMode="auto">
          <a:xfrm>
            <a:off x="2119313" y="5694363"/>
            <a:ext cx="5416550"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marR="0" indent="-342900" defTabSz="914400">
              <a:buClrTx/>
              <a:buSzTx/>
              <a:buFont typeface="Wingdings" panose="05000000000000000000" charset="0"/>
              <a:buChar char="Ø"/>
              <a:defRPr/>
            </a:pPr>
            <a:r>
              <a:rPr kumimoji="1" lang="zh-CN" altLang="en-US" sz="2400"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rPr>
              <a:t>调整方法：</a:t>
            </a:r>
            <a:r>
              <a:rPr kumimoji="1" lang="en-US" altLang="zh-CN" sz="2400"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rPr>
              <a:t>9</a:t>
            </a:r>
            <a:r>
              <a:rPr kumimoji="1" lang="en-US" altLang="zh-CN" sz="2400" b="1" kern="1200" cap="none" spc="0" normalizeH="0" baseline="0" noProof="0" dirty="0">
                <a:solidFill>
                  <a:srgbClr val="FF0000"/>
                </a:solidFill>
                <a:effectLst>
                  <a:outerShdw blurRad="38100" dist="38100" dir="2700000" algn="tl">
                    <a:srgbClr val="C0C0C0"/>
                  </a:outerShdw>
                </a:effectLst>
                <a:latin typeface="微软雅黑" panose="020B0503020204020204" charset="-122"/>
                <a:ea typeface="微软雅黑" panose="020B0503020204020204" charset="-122"/>
                <a:cs typeface="+mn-cs"/>
              </a:rPr>
              <a:t>-3</a:t>
            </a:r>
            <a:r>
              <a:rPr kumimoji="1" lang="zh-CN" altLang="en-US" sz="2400"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rPr>
              <a:t>或者</a:t>
            </a:r>
            <a:r>
              <a:rPr kumimoji="1" lang="en-US" altLang="zh-CN" sz="2400"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rPr>
              <a:t>9</a:t>
            </a:r>
            <a:r>
              <a:rPr kumimoji="1" lang="en-US" altLang="zh-CN" sz="2400" b="1" kern="1200" cap="none" spc="0" normalizeH="0" baseline="0" noProof="0" dirty="0">
                <a:solidFill>
                  <a:srgbClr val="FF0000"/>
                </a:solidFill>
                <a:effectLst>
                  <a:outerShdw blurRad="38100" dist="38100" dir="2700000" algn="tl">
                    <a:srgbClr val="C0C0C0"/>
                  </a:outerShdw>
                </a:effectLst>
                <a:latin typeface="微软雅黑" panose="020B0503020204020204" charset="-122"/>
                <a:ea typeface="微软雅黑" panose="020B0503020204020204" charset="-122"/>
                <a:cs typeface="+mn-cs"/>
              </a:rPr>
              <a:t>+9</a:t>
            </a:r>
            <a:r>
              <a:rPr kumimoji="1" lang="en-US" altLang="zh-CN" sz="2400"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rPr>
              <a:t>   (mod 12)    </a:t>
            </a:r>
            <a:endParaRPr kumimoji="1" lang="en-US" altLang="zh-CN" sz="2400"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endParaRPr>
          </a:p>
          <a:p>
            <a:pPr marL="342900" marR="0" indent="-342900" defTabSz="914400">
              <a:buClrTx/>
              <a:buSzTx/>
              <a:buFont typeface="Wingdings" panose="05000000000000000000" charset="0"/>
              <a:buChar char="Ø"/>
              <a:defRPr/>
            </a:pPr>
            <a:r>
              <a:rPr kumimoji="1" lang="zh-CN" altLang="en-US" sz="2400"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rPr>
              <a:t>即：</a:t>
            </a:r>
            <a:r>
              <a:rPr kumimoji="1" lang="en-US" altLang="zh-CN" sz="2400"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rPr>
              <a:t>-3=12-3=+9</a:t>
            </a:r>
            <a:r>
              <a:rPr kumimoji="1" lang="zh-CN" altLang="en-US" sz="2400"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rPr>
              <a:t>（</a:t>
            </a:r>
            <a:r>
              <a:rPr kumimoji="1" lang="en-US" altLang="zh-CN" sz="2400"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rPr>
              <a:t>mod 12</a:t>
            </a:r>
            <a:r>
              <a:rPr kumimoji="1" lang="zh-CN" altLang="en-US" sz="2400"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rPr>
              <a:t>）</a:t>
            </a:r>
            <a:endParaRPr kumimoji="1" lang="zh-CN" altLang="en-US" sz="2400"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Text Box 5"/>
          <p:cNvSpPr txBox="1"/>
          <p:nvPr/>
        </p:nvSpPr>
        <p:spPr>
          <a:xfrm>
            <a:off x="593725" y="1587500"/>
            <a:ext cx="184150" cy="457200"/>
          </a:xfrm>
          <a:prstGeom prst="rect">
            <a:avLst/>
          </a:prstGeom>
          <a:noFill/>
          <a:ln w="9525">
            <a:noFill/>
          </a:ln>
        </p:spPr>
        <p:txBody>
          <a:bodyPr wrap="none" anchor="t">
            <a:spAutoFit/>
          </a:bodyPr>
          <a:p>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116742" name="Text Box 6"/>
          <p:cNvSpPr txBox="1">
            <a:spLocks noChangeArrowheads="1"/>
          </p:cNvSpPr>
          <p:nvPr/>
        </p:nvSpPr>
        <p:spPr bwMode="auto">
          <a:xfrm>
            <a:off x="377825" y="1243013"/>
            <a:ext cx="8458200" cy="170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marR="0" indent="-457200" defTabSz="914400">
              <a:buClrTx/>
              <a:buSzTx/>
              <a:buFont typeface="Wingdings" panose="05000000000000000000" charset="0"/>
              <a:buChar char="u"/>
              <a:defRPr/>
            </a:pPr>
            <a:r>
              <a:rPr kumimoji="1" lang="zh-CN" altLang="en-US" sz="2800" b="1" kern="1200" cap="none" spc="0" normalizeH="0" baseline="0" noProof="0" dirty="0">
                <a:solidFill>
                  <a:srgbClr val="FF3300"/>
                </a:solidFill>
                <a:effectLst>
                  <a:outerShdw blurRad="38100" dist="38100" dir="2700000" algn="tl">
                    <a:srgbClr val="C0C0C0"/>
                  </a:outerShdw>
                </a:effectLst>
                <a:latin typeface="微软雅黑" panose="020B0503020204020204" charset="-122"/>
                <a:ea typeface="微软雅黑" panose="020B0503020204020204" charset="-122"/>
                <a:cs typeface="+mn-cs"/>
              </a:rPr>
              <a:t> </a:t>
            </a:r>
            <a:r>
              <a:rPr kumimoji="1" lang="zh-CN" altLang="en-US" sz="2800"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rPr>
              <a:t>补码定义：</a:t>
            </a:r>
            <a:r>
              <a:rPr kumimoji="1" lang="zh-CN" altLang="en-US" sz="2800" b="1" kern="1200" cap="none" spc="0" normalizeH="0" baseline="0" noProof="0" dirty="0">
                <a:solidFill>
                  <a:srgbClr val="FF3300"/>
                </a:solidFill>
                <a:effectLst>
                  <a:outerShdw blurRad="38100" dist="38100" dir="2700000" algn="tl">
                    <a:srgbClr val="C0C0C0"/>
                  </a:outerShdw>
                </a:effectLst>
                <a:latin typeface="微软雅黑" panose="020B0503020204020204" charset="-122"/>
                <a:ea typeface="微软雅黑" panose="020B0503020204020204" charset="-122"/>
                <a:cs typeface="+mn-cs"/>
              </a:rPr>
              <a:t>任意一个数的补码等于该数加上其模。</a:t>
            </a:r>
            <a:endParaRPr kumimoji="1" lang="zh-CN" altLang="en-US" sz="2800" b="1" kern="1200" cap="none" spc="0" normalizeH="0" baseline="0" noProof="0" dirty="0">
              <a:solidFill>
                <a:srgbClr val="FF3300"/>
              </a:solidFill>
              <a:effectLst>
                <a:outerShdw blurRad="38100" dist="38100" dir="2700000" algn="tl">
                  <a:srgbClr val="C0C0C0"/>
                </a:outerShdw>
              </a:effectLst>
              <a:latin typeface="微软雅黑" panose="020B0503020204020204" charset="-122"/>
              <a:ea typeface="微软雅黑" panose="020B0503020204020204" charset="-122"/>
              <a:cs typeface="+mn-cs"/>
            </a:endParaRPr>
          </a:p>
          <a:p>
            <a:pPr marR="0" defTabSz="914400">
              <a:spcBef>
                <a:spcPts val="1200"/>
              </a:spcBef>
              <a:buClrTx/>
              <a:buSzTx/>
              <a:buFontTx/>
              <a:defRPr/>
            </a:pPr>
            <a:r>
              <a:rPr kumimoji="1" lang="zh-CN" altLang="en-US" sz="2800" b="1" kern="1200" cap="none" spc="0" normalizeH="0" baseline="0" noProof="0" dirty="0">
                <a:solidFill>
                  <a:srgbClr val="FF3300"/>
                </a:solidFill>
                <a:effectLst>
                  <a:outerShdw blurRad="38100" dist="38100" dir="2700000" algn="tl">
                    <a:srgbClr val="C0C0C0"/>
                  </a:outerShdw>
                </a:effectLst>
                <a:latin typeface="微软雅黑" panose="020B0503020204020204" charset="-122"/>
                <a:ea typeface="微软雅黑" panose="020B0503020204020204" charset="-122"/>
                <a:cs typeface="+mn-cs"/>
              </a:rPr>
              <a:t>     </a:t>
            </a:r>
            <a:r>
              <a:rPr kumimoji="1" lang="zh-CN" altLang="en-US" sz="2800"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rPr>
              <a:t>即</a:t>
            </a:r>
            <a:r>
              <a:rPr kumimoji="1" lang="zh-CN" altLang="en-US" sz="2400"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rPr>
              <a:t>：</a:t>
            </a:r>
            <a:r>
              <a:rPr kumimoji="1" lang="en-US" altLang="zh-CN" sz="2400"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rPr>
              <a:t>[X]</a:t>
            </a:r>
            <a:r>
              <a:rPr kumimoji="1" lang="zh-CN" altLang="en-US" sz="2400" b="1" kern="1200" cap="none" spc="0" normalizeH="0" baseline="-2500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rPr>
              <a:t>补</a:t>
            </a:r>
            <a:r>
              <a:rPr kumimoji="1" lang="en-US" altLang="zh-CN" sz="2400"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rPr>
              <a:t>=X+M</a:t>
            </a:r>
            <a:endParaRPr kumimoji="1" lang="en-US" altLang="zh-CN" sz="2400"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endParaRPr>
          </a:p>
          <a:p>
            <a:pPr marL="342900" marR="0" indent="200025" defTabSz="914400">
              <a:spcBef>
                <a:spcPts val="1800"/>
              </a:spcBef>
              <a:buClr>
                <a:srgbClr val="FF3300"/>
              </a:buClr>
              <a:buSzPct val="80000"/>
              <a:buFont typeface="Wingdings" panose="05000000000000000000" pitchFamily="2" charset="2"/>
              <a:buChar char="u"/>
              <a:defRPr/>
            </a:pPr>
            <a:r>
              <a:rPr kumimoji="1" lang="en-US" altLang="zh-CN" sz="2400" b="1" kern="1200" cap="none" spc="0" normalizeH="0" baseline="0" noProof="0" dirty="0">
                <a:solidFill>
                  <a:srgbClr val="FF3300"/>
                </a:solidFill>
                <a:effectLst>
                  <a:outerShdw blurRad="38100" dist="38100" dir="2700000" algn="tl">
                    <a:srgbClr val="C0C0C0"/>
                  </a:outerShdw>
                </a:effectLst>
                <a:latin typeface="微软雅黑" panose="020B0503020204020204" charset="-122"/>
                <a:ea typeface="微软雅黑" panose="020B0503020204020204" charset="-122"/>
                <a:cs typeface="+mn-cs"/>
              </a:rPr>
              <a:t>      n</a:t>
            </a:r>
            <a:r>
              <a:rPr kumimoji="1" lang="zh-CN" altLang="en-US" sz="2400" b="1" kern="1200" cap="none" spc="0" normalizeH="0" baseline="0" noProof="0" dirty="0">
                <a:solidFill>
                  <a:srgbClr val="FF3300"/>
                </a:solidFill>
                <a:effectLst>
                  <a:outerShdw blurRad="38100" dist="38100" dir="2700000" algn="tl">
                    <a:srgbClr val="C0C0C0"/>
                  </a:outerShdw>
                </a:effectLst>
                <a:latin typeface="微软雅黑" panose="020B0503020204020204" charset="-122"/>
                <a:ea typeface="微软雅黑" panose="020B0503020204020204" charset="-122"/>
                <a:cs typeface="+mn-cs"/>
              </a:rPr>
              <a:t>位二进制定点整数补码（包括一位符号位）：</a:t>
            </a:r>
            <a:endParaRPr kumimoji="1" lang="zh-CN" altLang="en-US" sz="2400" b="1" kern="1200" cap="none" spc="0" normalizeH="0" baseline="0" noProof="0" dirty="0">
              <a:solidFill>
                <a:srgbClr val="FF3300"/>
              </a:solidFill>
              <a:effectLst>
                <a:outerShdw blurRad="38100" dist="38100" dir="2700000" algn="tl">
                  <a:srgbClr val="C0C0C0"/>
                </a:outerShdw>
              </a:effectLst>
              <a:latin typeface="微软雅黑" panose="020B0503020204020204" charset="-122"/>
              <a:ea typeface="微软雅黑" panose="020B0503020204020204" charset="-122"/>
              <a:cs typeface="+mn-cs"/>
            </a:endParaRPr>
          </a:p>
        </p:txBody>
      </p:sp>
      <p:sp>
        <p:nvSpPr>
          <p:cNvPr id="38915" name="Text Box 7"/>
          <p:cNvSpPr txBox="1"/>
          <p:nvPr/>
        </p:nvSpPr>
        <p:spPr>
          <a:xfrm>
            <a:off x="990600" y="5102225"/>
            <a:ext cx="1109663" cy="519113"/>
          </a:xfrm>
          <a:prstGeom prst="rect">
            <a:avLst/>
          </a:prstGeom>
          <a:noFill/>
          <a:ln w="9525">
            <a:noFill/>
          </a:ln>
        </p:spPr>
        <p:txBody>
          <a:bodyPr anchor="t">
            <a:spAutoFit/>
          </a:bodyPr>
          <a:p>
            <a:pPr>
              <a:buSzTx/>
            </a:pPr>
            <a:r>
              <a:rPr lang="en-US" altLang="zh-CN" sz="2800" b="1">
                <a:solidFill>
                  <a:schemeClr val="tx1"/>
                </a:solidFill>
                <a:latin typeface="Arial" panose="020B0604020202020204" pitchFamily="34" charset="0"/>
                <a:ea typeface="楷体_GB2312" pitchFamily="49" charset="-122"/>
              </a:rPr>
              <a:t>[X]</a:t>
            </a:r>
            <a:r>
              <a:rPr lang="zh-CN" altLang="en-US" sz="2800" b="1" baseline="-25000">
                <a:solidFill>
                  <a:schemeClr val="tx1"/>
                </a:solidFill>
                <a:latin typeface="Arial" panose="020B0604020202020204" pitchFamily="34" charset="0"/>
                <a:ea typeface="楷体_GB2312" pitchFamily="49" charset="-122"/>
              </a:rPr>
              <a:t>补</a:t>
            </a:r>
            <a:r>
              <a:rPr lang="en-US" altLang="zh-CN" sz="2800" b="1">
                <a:solidFill>
                  <a:schemeClr val="tx1"/>
                </a:solidFill>
                <a:latin typeface="Arial" panose="020B0604020202020204" pitchFamily="34" charset="0"/>
                <a:ea typeface="楷体_GB2312" pitchFamily="49" charset="-122"/>
              </a:rPr>
              <a:t>=</a:t>
            </a:r>
            <a:endParaRPr lang="en-US" altLang="zh-CN" sz="2800" b="1">
              <a:solidFill>
                <a:schemeClr val="tx1"/>
              </a:solidFill>
              <a:latin typeface="Arial" panose="020B0604020202020204" pitchFamily="34" charset="0"/>
              <a:ea typeface="楷体_GB2312" pitchFamily="49" charset="-122"/>
            </a:endParaRPr>
          </a:p>
        </p:txBody>
      </p:sp>
      <p:sp>
        <p:nvSpPr>
          <p:cNvPr id="38916" name="Text Box 8"/>
          <p:cNvSpPr txBox="1"/>
          <p:nvPr/>
        </p:nvSpPr>
        <p:spPr>
          <a:xfrm>
            <a:off x="2624138" y="4997450"/>
            <a:ext cx="3055937" cy="519113"/>
          </a:xfrm>
          <a:prstGeom prst="rect">
            <a:avLst/>
          </a:prstGeom>
          <a:noFill/>
          <a:ln w="9525">
            <a:noFill/>
          </a:ln>
        </p:spPr>
        <p:txBody>
          <a:bodyPr wrap="none" anchor="t">
            <a:spAutoFit/>
          </a:bodyPr>
          <a:p>
            <a:r>
              <a:rPr lang="en-US" altLang="zh-CN" sz="2800" b="1" dirty="0">
                <a:solidFill>
                  <a:schemeClr val="tx1"/>
                </a:solidFill>
                <a:latin typeface="Arial" panose="020B0604020202020204" pitchFamily="34" charset="0"/>
                <a:ea typeface="宋体" panose="02010600030101010101" pitchFamily="2" charset="-122"/>
              </a:rPr>
              <a:t>X              0&lt;=</a:t>
            </a:r>
            <a:r>
              <a:rPr lang="en-US" altLang="zh-CN" sz="2800" b="1" dirty="0">
                <a:solidFill>
                  <a:schemeClr val="tx1"/>
                </a:solidFill>
                <a:latin typeface="Arial" panose="020B0604020202020204" pitchFamily="34" charset="0"/>
                <a:ea typeface="楷体_GB2312"/>
              </a:rPr>
              <a:t>X</a:t>
            </a:r>
            <a:r>
              <a:rPr lang="en-US" altLang="zh-CN" sz="2800" b="1" dirty="0">
                <a:solidFill>
                  <a:schemeClr val="tx1"/>
                </a:solidFill>
                <a:latin typeface="Arial" panose="020B0604020202020204" pitchFamily="34" charset="0"/>
                <a:ea typeface="宋体" panose="02010600030101010101" pitchFamily="2" charset="-122"/>
              </a:rPr>
              <a:t>&lt;1</a:t>
            </a:r>
            <a:endParaRPr lang="en-US" altLang="zh-CN" sz="2800" b="1" dirty="0">
              <a:solidFill>
                <a:schemeClr val="tx1"/>
              </a:solidFill>
              <a:latin typeface="Arial" panose="020B0604020202020204" pitchFamily="34" charset="0"/>
              <a:ea typeface="宋体" panose="02010600030101010101" pitchFamily="2" charset="-122"/>
            </a:endParaRPr>
          </a:p>
        </p:txBody>
      </p:sp>
      <p:sp>
        <p:nvSpPr>
          <p:cNvPr id="38917" name="Text Box 9"/>
          <p:cNvSpPr txBox="1"/>
          <p:nvPr/>
        </p:nvSpPr>
        <p:spPr>
          <a:xfrm>
            <a:off x="2408238" y="5573713"/>
            <a:ext cx="3494087" cy="519112"/>
          </a:xfrm>
          <a:prstGeom prst="rect">
            <a:avLst/>
          </a:prstGeom>
          <a:noFill/>
          <a:ln w="9525">
            <a:noFill/>
          </a:ln>
        </p:spPr>
        <p:txBody>
          <a:bodyPr wrap="none" anchor="t">
            <a:spAutoFit/>
          </a:bodyPr>
          <a:p>
            <a:r>
              <a:rPr lang="en-US" altLang="zh-CN" sz="2800" b="1" dirty="0">
                <a:solidFill>
                  <a:schemeClr val="tx1"/>
                </a:solidFill>
                <a:latin typeface="Arial" panose="020B0604020202020204" pitchFamily="34" charset="0"/>
                <a:ea typeface="宋体" panose="02010600030101010101" pitchFamily="2" charset="-122"/>
              </a:rPr>
              <a:t>2+X</a:t>
            </a:r>
            <a:r>
              <a:rPr lang="en-US" altLang="zh-CN" sz="2800" b="1" dirty="0">
                <a:solidFill>
                  <a:schemeClr val="tx1"/>
                </a:solidFill>
                <a:latin typeface="Arial" panose="020B0604020202020204" pitchFamily="34" charset="0"/>
                <a:ea typeface="楷体_GB2312"/>
              </a:rPr>
              <a:t>          </a:t>
            </a:r>
            <a:r>
              <a:rPr lang="en-US" altLang="zh-CN" sz="2800" b="1" dirty="0">
                <a:solidFill>
                  <a:schemeClr val="tx1"/>
                </a:solidFill>
                <a:latin typeface="Arial" panose="020B0604020202020204" pitchFamily="34" charset="0"/>
                <a:ea typeface="宋体" panose="02010600030101010101" pitchFamily="2" charset="-122"/>
              </a:rPr>
              <a:t> -1&lt;=</a:t>
            </a:r>
            <a:r>
              <a:rPr lang="en-US" altLang="zh-CN" sz="2800" b="1" dirty="0">
                <a:solidFill>
                  <a:schemeClr val="tx1"/>
                </a:solidFill>
                <a:latin typeface="Arial" panose="020B0604020202020204" pitchFamily="34" charset="0"/>
                <a:ea typeface="楷体_GB2312"/>
              </a:rPr>
              <a:t>X</a:t>
            </a:r>
            <a:r>
              <a:rPr lang="en-US" altLang="zh-CN" sz="2800" b="1" dirty="0">
                <a:solidFill>
                  <a:schemeClr val="tx1"/>
                </a:solidFill>
                <a:latin typeface="Arial" panose="020B0604020202020204" pitchFamily="34" charset="0"/>
                <a:ea typeface="宋体" panose="02010600030101010101" pitchFamily="2" charset="-122"/>
              </a:rPr>
              <a:t>&lt;=0</a:t>
            </a:r>
            <a:endParaRPr lang="en-US" altLang="zh-CN" sz="2800" b="1" dirty="0">
              <a:solidFill>
                <a:schemeClr val="tx1"/>
              </a:solidFill>
              <a:latin typeface="Arial" panose="020B0604020202020204" pitchFamily="34" charset="0"/>
              <a:ea typeface="宋体" panose="02010600030101010101" pitchFamily="2" charset="-122"/>
            </a:endParaRPr>
          </a:p>
        </p:txBody>
      </p:sp>
      <p:sp>
        <p:nvSpPr>
          <p:cNvPr id="38918" name="AutoShape 10"/>
          <p:cNvSpPr/>
          <p:nvPr/>
        </p:nvSpPr>
        <p:spPr>
          <a:xfrm>
            <a:off x="2133600" y="5026025"/>
            <a:ext cx="304800" cy="762000"/>
          </a:xfrm>
          <a:prstGeom prst="leftBrace">
            <a:avLst>
              <a:gd name="adj1" fmla="val 20821"/>
              <a:gd name="adj2" fmla="val 50000"/>
            </a:avLst>
          </a:prstGeom>
          <a:noFill/>
          <a:ln w="38100" cap="flat" cmpd="sng">
            <a:solidFill>
              <a:schemeClr val="tx2"/>
            </a:solidFill>
            <a:prstDash val="solid"/>
            <a:round/>
            <a:headEnd type="none" w="med" len="med"/>
            <a:tailEnd type="none" w="med" len="med"/>
          </a:ln>
        </p:spPr>
        <p:txBody>
          <a:bodyPr wrap="none" anchor="ctr"/>
          <a:p>
            <a:endParaRPr lang="zh-CN" altLang="en-US" dirty="0">
              <a:latin typeface="Arial" panose="020B0604020202020204" pitchFamily="34" charset="0"/>
              <a:ea typeface="华文行楷" panose="02010800040101010101" pitchFamily="2" charset="-122"/>
            </a:endParaRPr>
          </a:p>
        </p:txBody>
      </p:sp>
      <p:sp>
        <p:nvSpPr>
          <p:cNvPr id="116747" name="Text Box 11"/>
          <p:cNvSpPr txBox="1">
            <a:spLocks noChangeArrowheads="1"/>
          </p:cNvSpPr>
          <p:nvPr/>
        </p:nvSpPr>
        <p:spPr bwMode="auto">
          <a:xfrm>
            <a:off x="838200" y="4406900"/>
            <a:ext cx="41148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marR="0" indent="-342900" defTabSz="914400">
              <a:buClrTx/>
              <a:buSzPct val="80000"/>
              <a:buFont typeface="Wingdings" panose="05000000000000000000" pitchFamily="2" charset="2"/>
              <a:buChar char="u"/>
              <a:defRPr/>
            </a:pPr>
            <a:r>
              <a:rPr kumimoji="1" lang="en-US" altLang="zh-CN" sz="2400" b="1" kern="1200" cap="none" spc="0" normalizeH="0" baseline="0" noProof="0" dirty="0">
                <a:solidFill>
                  <a:srgbClr val="FF3300"/>
                </a:solidFill>
                <a:effectLst>
                  <a:outerShdw blurRad="38100" dist="38100" dir="2700000" algn="tl">
                    <a:srgbClr val="C0C0C0"/>
                  </a:outerShdw>
                </a:effectLst>
                <a:latin typeface="微软雅黑" panose="020B0503020204020204" charset="-122"/>
                <a:ea typeface="微软雅黑" panose="020B0503020204020204" charset="-122"/>
                <a:cs typeface="+mn-cs"/>
              </a:rPr>
              <a:t>n</a:t>
            </a:r>
            <a:r>
              <a:rPr kumimoji="1" lang="zh-CN" altLang="en-US" sz="2400" b="1" kern="1200" cap="none" spc="0" normalizeH="0" baseline="0" noProof="0" dirty="0">
                <a:solidFill>
                  <a:srgbClr val="FF3300"/>
                </a:solidFill>
                <a:effectLst>
                  <a:outerShdw blurRad="38100" dist="38100" dir="2700000" algn="tl">
                    <a:srgbClr val="C0C0C0"/>
                  </a:outerShdw>
                </a:effectLst>
                <a:latin typeface="微软雅黑" panose="020B0503020204020204" charset="-122"/>
                <a:ea typeface="微软雅黑" panose="020B0503020204020204" charset="-122"/>
                <a:cs typeface="+mn-cs"/>
              </a:rPr>
              <a:t>位二进制定点小数补码：</a:t>
            </a:r>
            <a:endParaRPr kumimoji="1" lang="zh-CN" altLang="en-US" sz="2400" b="1" kern="1200" cap="none" spc="0" normalizeH="0" baseline="0" noProof="0" dirty="0">
              <a:solidFill>
                <a:srgbClr val="FF3300"/>
              </a:solidFill>
              <a:effectLst>
                <a:outerShdw blurRad="38100" dist="38100" dir="2700000" algn="tl">
                  <a:srgbClr val="C0C0C0"/>
                </a:outerShdw>
              </a:effectLst>
              <a:latin typeface="微软雅黑" panose="020B0503020204020204" charset="-122"/>
              <a:ea typeface="微软雅黑" panose="020B0503020204020204" charset="-122"/>
              <a:cs typeface="+mn-cs"/>
            </a:endParaRPr>
          </a:p>
        </p:txBody>
      </p:sp>
      <p:sp>
        <p:nvSpPr>
          <p:cNvPr id="38920" name="Text Box 12"/>
          <p:cNvSpPr txBox="1"/>
          <p:nvPr/>
        </p:nvSpPr>
        <p:spPr>
          <a:xfrm>
            <a:off x="6403975" y="5178425"/>
            <a:ext cx="1063625" cy="457200"/>
          </a:xfrm>
          <a:prstGeom prst="rect">
            <a:avLst/>
          </a:prstGeom>
          <a:noFill/>
          <a:ln w="9525">
            <a:noFill/>
          </a:ln>
        </p:spPr>
        <p:txBody>
          <a:bodyPr wrap="none" anchor="t">
            <a:spAutoFit/>
          </a:bodyPr>
          <a:p>
            <a:pPr>
              <a:buSzTx/>
            </a:pPr>
            <a:r>
              <a:rPr lang="en-US" altLang="zh-CN" sz="2400" b="1" dirty="0">
                <a:solidFill>
                  <a:schemeClr val="tx1"/>
                </a:solidFill>
                <a:latin typeface="Arial" panose="020B0604020202020204" pitchFamily="34" charset="0"/>
                <a:ea typeface="楷体_GB2312" pitchFamily="49" charset="-122"/>
              </a:rPr>
              <a:t>Mod 2</a:t>
            </a:r>
            <a:endParaRPr lang="en-US" altLang="zh-CN" sz="2400" b="1" dirty="0">
              <a:solidFill>
                <a:schemeClr val="tx1"/>
              </a:solidFill>
              <a:latin typeface="Arial" panose="020B0604020202020204" pitchFamily="34" charset="0"/>
              <a:ea typeface="楷体_GB2312" pitchFamily="49" charset="-122"/>
            </a:endParaRPr>
          </a:p>
        </p:txBody>
      </p:sp>
      <p:sp>
        <p:nvSpPr>
          <p:cNvPr id="38921" name="Text Box 14"/>
          <p:cNvSpPr txBox="1"/>
          <p:nvPr/>
        </p:nvSpPr>
        <p:spPr>
          <a:xfrm>
            <a:off x="990600" y="3302000"/>
            <a:ext cx="1108075" cy="519113"/>
          </a:xfrm>
          <a:prstGeom prst="rect">
            <a:avLst/>
          </a:prstGeom>
          <a:noFill/>
          <a:ln w="9525">
            <a:noFill/>
          </a:ln>
        </p:spPr>
        <p:txBody>
          <a:bodyPr anchor="t">
            <a:spAutoFit/>
          </a:bodyPr>
          <a:p>
            <a:pPr>
              <a:buSzTx/>
            </a:pPr>
            <a:r>
              <a:rPr lang="en-US" altLang="zh-CN" sz="2800" b="1">
                <a:solidFill>
                  <a:schemeClr val="tx1"/>
                </a:solidFill>
                <a:latin typeface="Arial" panose="020B0604020202020204" pitchFamily="34" charset="0"/>
                <a:ea typeface="楷体_GB2312" pitchFamily="49" charset="-122"/>
              </a:rPr>
              <a:t>[X]</a:t>
            </a:r>
            <a:r>
              <a:rPr lang="zh-CN" altLang="en-US" sz="2800" b="1" baseline="-25000">
                <a:solidFill>
                  <a:schemeClr val="tx1"/>
                </a:solidFill>
                <a:latin typeface="Arial" panose="020B0604020202020204" pitchFamily="34" charset="0"/>
                <a:ea typeface="楷体_GB2312" pitchFamily="49" charset="-122"/>
              </a:rPr>
              <a:t>补</a:t>
            </a:r>
            <a:r>
              <a:rPr lang="en-US" altLang="zh-CN" sz="2800" b="1">
                <a:solidFill>
                  <a:schemeClr val="tx1"/>
                </a:solidFill>
                <a:latin typeface="Arial" panose="020B0604020202020204" pitchFamily="34" charset="0"/>
                <a:ea typeface="楷体_GB2312" pitchFamily="49" charset="-122"/>
              </a:rPr>
              <a:t>=</a:t>
            </a:r>
            <a:endParaRPr lang="en-US" altLang="zh-CN" sz="2800" b="1">
              <a:solidFill>
                <a:schemeClr val="tx1"/>
              </a:solidFill>
              <a:latin typeface="Arial" panose="020B0604020202020204" pitchFamily="34" charset="0"/>
              <a:ea typeface="楷体_GB2312" pitchFamily="49" charset="-122"/>
            </a:endParaRPr>
          </a:p>
        </p:txBody>
      </p:sp>
      <p:sp>
        <p:nvSpPr>
          <p:cNvPr id="38922" name="Text Box 15"/>
          <p:cNvSpPr txBox="1"/>
          <p:nvPr/>
        </p:nvSpPr>
        <p:spPr>
          <a:xfrm>
            <a:off x="2663825" y="3062288"/>
            <a:ext cx="4260850" cy="519112"/>
          </a:xfrm>
          <a:prstGeom prst="rect">
            <a:avLst/>
          </a:prstGeom>
          <a:noFill/>
          <a:ln w="9525">
            <a:noFill/>
          </a:ln>
        </p:spPr>
        <p:txBody>
          <a:bodyPr anchor="t">
            <a:spAutoFit/>
          </a:bodyPr>
          <a:p>
            <a:r>
              <a:rPr lang="en-US" altLang="zh-CN" sz="2800" b="1" dirty="0">
                <a:solidFill>
                  <a:schemeClr val="tx1"/>
                </a:solidFill>
                <a:latin typeface="Arial" panose="020B0604020202020204" pitchFamily="34" charset="0"/>
                <a:ea typeface="宋体" panose="02010600030101010101" pitchFamily="2" charset="-122"/>
              </a:rPr>
              <a:t>X              0&lt;=</a:t>
            </a:r>
            <a:r>
              <a:rPr lang="en-US" altLang="zh-CN" sz="2800" b="1" dirty="0">
                <a:solidFill>
                  <a:schemeClr val="tx1"/>
                </a:solidFill>
                <a:latin typeface="Arial" panose="020B0604020202020204" pitchFamily="34" charset="0"/>
                <a:ea typeface="楷体_GB2312"/>
              </a:rPr>
              <a:t>X</a:t>
            </a:r>
            <a:r>
              <a:rPr lang="en-US" altLang="zh-CN" sz="2800" b="1" dirty="0">
                <a:solidFill>
                  <a:schemeClr val="tx1"/>
                </a:solidFill>
                <a:latin typeface="Arial" panose="020B0604020202020204" pitchFamily="34" charset="0"/>
                <a:ea typeface="宋体" panose="02010600030101010101" pitchFamily="2" charset="-122"/>
              </a:rPr>
              <a:t>&lt;2</a:t>
            </a:r>
            <a:r>
              <a:rPr lang="en-US" altLang="zh-CN" sz="2800" b="1" baseline="30000" dirty="0">
                <a:solidFill>
                  <a:schemeClr val="tx1"/>
                </a:solidFill>
                <a:latin typeface="Arial" panose="020B0604020202020204" pitchFamily="34" charset="0"/>
                <a:ea typeface="宋体" panose="02010600030101010101" pitchFamily="2" charset="-122"/>
              </a:rPr>
              <a:t>n-1</a:t>
            </a:r>
            <a:r>
              <a:rPr lang="en-US" altLang="zh-CN" sz="2800" b="1" dirty="0">
                <a:solidFill>
                  <a:schemeClr val="tx1"/>
                </a:solidFill>
                <a:latin typeface="Arial" panose="020B0604020202020204" pitchFamily="34" charset="0"/>
                <a:ea typeface="宋体" panose="02010600030101010101" pitchFamily="2" charset="-122"/>
              </a:rPr>
              <a:t>-1</a:t>
            </a:r>
            <a:endParaRPr lang="en-US" altLang="zh-CN" sz="2800" b="1" dirty="0">
              <a:solidFill>
                <a:schemeClr val="tx1"/>
              </a:solidFill>
              <a:latin typeface="Arial" panose="020B0604020202020204" pitchFamily="34" charset="0"/>
              <a:ea typeface="宋体" panose="02010600030101010101" pitchFamily="2" charset="-122"/>
            </a:endParaRPr>
          </a:p>
        </p:txBody>
      </p:sp>
      <p:sp>
        <p:nvSpPr>
          <p:cNvPr id="38923" name="Text Box 16"/>
          <p:cNvSpPr txBox="1"/>
          <p:nvPr/>
        </p:nvSpPr>
        <p:spPr>
          <a:xfrm>
            <a:off x="2406650" y="3773488"/>
            <a:ext cx="4156075" cy="519112"/>
          </a:xfrm>
          <a:prstGeom prst="rect">
            <a:avLst/>
          </a:prstGeom>
          <a:noFill/>
          <a:ln w="9525">
            <a:noFill/>
          </a:ln>
        </p:spPr>
        <p:txBody>
          <a:bodyPr wrap="none" anchor="t">
            <a:spAutoFit/>
          </a:bodyPr>
          <a:p>
            <a:pPr>
              <a:buSzTx/>
            </a:pPr>
            <a:r>
              <a:rPr lang="en-US" altLang="zh-CN" sz="2800" b="1" dirty="0">
                <a:solidFill>
                  <a:schemeClr val="tx1"/>
                </a:solidFill>
                <a:latin typeface="Arial" panose="020B0604020202020204" pitchFamily="34" charset="0"/>
                <a:ea typeface="宋体" panose="02010600030101010101" pitchFamily="2" charset="-122"/>
              </a:rPr>
              <a:t>2</a:t>
            </a:r>
            <a:r>
              <a:rPr lang="en-US" altLang="zh-CN" sz="2800" b="1" baseline="30000" dirty="0">
                <a:solidFill>
                  <a:schemeClr val="tx1"/>
                </a:solidFill>
                <a:latin typeface="Arial" panose="020B0604020202020204" pitchFamily="34" charset="0"/>
                <a:ea typeface="宋体" panose="02010600030101010101" pitchFamily="2" charset="-122"/>
              </a:rPr>
              <a:t>n+1</a:t>
            </a:r>
            <a:r>
              <a:rPr lang="en-US" altLang="zh-CN" sz="2800" b="1" dirty="0">
                <a:solidFill>
                  <a:schemeClr val="tx1"/>
                </a:solidFill>
                <a:latin typeface="Arial" panose="020B0604020202020204" pitchFamily="34" charset="0"/>
                <a:ea typeface="宋体" panose="02010600030101010101" pitchFamily="2" charset="-122"/>
              </a:rPr>
              <a:t>+X          -2</a:t>
            </a:r>
            <a:r>
              <a:rPr lang="en-US" altLang="zh-CN" sz="2800" b="1" baseline="30000" dirty="0">
                <a:solidFill>
                  <a:schemeClr val="tx1"/>
                </a:solidFill>
                <a:latin typeface="Arial" panose="020B0604020202020204" pitchFamily="34" charset="0"/>
                <a:ea typeface="宋体" panose="02010600030101010101" pitchFamily="2" charset="-122"/>
              </a:rPr>
              <a:t>n</a:t>
            </a:r>
            <a:r>
              <a:rPr lang="en-US" altLang="zh-CN" sz="2800" b="1" dirty="0">
                <a:solidFill>
                  <a:schemeClr val="tx1"/>
                </a:solidFill>
                <a:latin typeface="Arial" panose="020B0604020202020204" pitchFamily="34" charset="0"/>
                <a:ea typeface="宋体" panose="02010600030101010101" pitchFamily="2" charset="-122"/>
              </a:rPr>
              <a:t>&lt;=</a:t>
            </a:r>
            <a:r>
              <a:rPr lang="en-US" altLang="zh-CN" sz="2800" b="1" dirty="0">
                <a:solidFill>
                  <a:schemeClr val="tx1"/>
                </a:solidFill>
                <a:latin typeface="Arial" panose="020B0604020202020204" pitchFamily="34" charset="0"/>
                <a:ea typeface="楷体_GB2312" pitchFamily="49" charset="-122"/>
              </a:rPr>
              <a:t>X</a:t>
            </a:r>
            <a:r>
              <a:rPr lang="en-US" altLang="zh-CN" sz="2800" b="1" dirty="0">
                <a:solidFill>
                  <a:schemeClr val="tx1"/>
                </a:solidFill>
                <a:latin typeface="Arial" panose="020B0604020202020204" pitchFamily="34" charset="0"/>
                <a:ea typeface="宋体" panose="02010600030101010101" pitchFamily="2" charset="-122"/>
              </a:rPr>
              <a:t>&lt; = 0</a:t>
            </a:r>
            <a:endParaRPr lang="en-US" altLang="zh-CN" sz="2800" b="1" dirty="0">
              <a:solidFill>
                <a:schemeClr val="tx1"/>
              </a:solidFill>
              <a:latin typeface="Arial" panose="020B0604020202020204" pitchFamily="34" charset="0"/>
              <a:ea typeface="宋体" panose="02010600030101010101" pitchFamily="2" charset="-122"/>
            </a:endParaRPr>
          </a:p>
        </p:txBody>
      </p:sp>
      <p:sp>
        <p:nvSpPr>
          <p:cNvPr id="38924" name="AutoShape 17"/>
          <p:cNvSpPr/>
          <p:nvPr/>
        </p:nvSpPr>
        <p:spPr>
          <a:xfrm>
            <a:off x="2132013" y="3225800"/>
            <a:ext cx="304800" cy="762000"/>
          </a:xfrm>
          <a:prstGeom prst="leftBrace">
            <a:avLst>
              <a:gd name="adj1" fmla="val 20787"/>
              <a:gd name="adj2" fmla="val 50000"/>
            </a:avLst>
          </a:prstGeom>
          <a:noFill/>
          <a:ln w="38100" cap="flat" cmpd="sng">
            <a:solidFill>
              <a:schemeClr val="tx2"/>
            </a:solidFill>
            <a:prstDash val="solid"/>
            <a:round/>
            <a:headEnd type="none" w="med" len="med"/>
            <a:tailEnd type="none" w="med" len="med"/>
          </a:ln>
        </p:spPr>
        <p:txBody>
          <a:bodyPr wrap="none" anchor="ctr"/>
          <a:p>
            <a:endParaRPr lang="zh-CN" altLang="en-US" dirty="0">
              <a:latin typeface="Arial" panose="020B0604020202020204" pitchFamily="34" charset="0"/>
              <a:ea typeface="华文行楷" panose="02010800040101010101" pitchFamily="2" charset="-122"/>
            </a:endParaRPr>
          </a:p>
        </p:txBody>
      </p:sp>
      <p:sp>
        <p:nvSpPr>
          <p:cNvPr id="38925" name="Text Box 18"/>
          <p:cNvSpPr txBox="1"/>
          <p:nvPr/>
        </p:nvSpPr>
        <p:spPr>
          <a:xfrm>
            <a:off x="6791325" y="3441700"/>
            <a:ext cx="1417638" cy="457200"/>
          </a:xfrm>
          <a:prstGeom prst="rect">
            <a:avLst/>
          </a:prstGeom>
          <a:noFill/>
          <a:ln w="9525">
            <a:noFill/>
          </a:ln>
        </p:spPr>
        <p:txBody>
          <a:bodyPr wrap="none" anchor="t">
            <a:spAutoFit/>
          </a:bodyPr>
          <a:p>
            <a:pPr>
              <a:buSzTx/>
            </a:pPr>
            <a:r>
              <a:rPr lang="en-US" altLang="zh-CN" sz="2400" b="1" dirty="0">
                <a:solidFill>
                  <a:schemeClr val="tx1"/>
                </a:solidFill>
                <a:latin typeface="Arial" panose="020B0604020202020204" pitchFamily="34" charset="0"/>
                <a:ea typeface="楷体_GB2312" pitchFamily="49" charset="-122"/>
              </a:rPr>
              <a:t>Mod 2</a:t>
            </a:r>
            <a:r>
              <a:rPr lang="en-US" altLang="zh-CN" sz="2400" b="1" baseline="30000" dirty="0">
                <a:solidFill>
                  <a:schemeClr val="tx1"/>
                </a:solidFill>
                <a:latin typeface="Arial" panose="020B0604020202020204" pitchFamily="34" charset="0"/>
                <a:ea typeface="楷体_GB2312" pitchFamily="49" charset="-122"/>
              </a:rPr>
              <a:t>n+1</a:t>
            </a:r>
            <a:endParaRPr lang="en-US" altLang="zh-CN" sz="2400" b="1" baseline="30000" dirty="0">
              <a:solidFill>
                <a:schemeClr val="tx1"/>
              </a:solidFill>
              <a:latin typeface="Arial" panose="020B0604020202020204" pitchFamily="34" charset="0"/>
              <a:ea typeface="楷体_GB2312" pitchFamily="49" charset="-122"/>
            </a:endParaRPr>
          </a:p>
        </p:txBody>
      </p:sp>
      <p:sp>
        <p:nvSpPr>
          <p:cNvPr id="38926" name="矩形 1"/>
          <p:cNvSpPr/>
          <p:nvPr/>
        </p:nvSpPr>
        <p:spPr>
          <a:xfrm>
            <a:off x="460375" y="396875"/>
            <a:ext cx="1825625" cy="584200"/>
          </a:xfrm>
          <a:prstGeom prst="rect">
            <a:avLst/>
          </a:prstGeom>
          <a:noFill/>
          <a:ln w="9525">
            <a:noFill/>
          </a:ln>
        </p:spPr>
        <p:txBody>
          <a:bodyPr anchor="t"/>
          <a:p>
            <a:r>
              <a:rPr lang="zh-CN" altLang="en-US" b="1" dirty="0">
                <a:solidFill>
                  <a:srgbClr val="0000FF"/>
                </a:solidFill>
                <a:latin typeface="微软雅黑" panose="020B0503020204020204" charset="-122"/>
                <a:ea typeface="微软雅黑" panose="020B0503020204020204" charset="-122"/>
              </a:rPr>
              <a:t>补码定义</a:t>
            </a:r>
            <a:endParaRPr lang="zh-CN" altLang="en-US" b="1" dirty="0">
              <a:solidFill>
                <a:srgbClr val="0000FF"/>
              </a:solidFill>
              <a:latin typeface="微软雅黑" panose="020B0503020204020204" charset="-122"/>
              <a:ea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2"/>
          <p:cNvSpPr>
            <a:spLocks noGrp="1" noChangeArrowheads="1"/>
          </p:cNvSpPr>
          <p:nvPr>
            <p:ph type="body" idx="4294967295"/>
          </p:nvPr>
        </p:nvSpPr>
        <p:spPr bwMode="auto">
          <a:xfrm>
            <a:off x="304800" y="1219200"/>
            <a:ext cx="8588375" cy="502920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marR="0" lvl="0" indent="370205" algn="l" defTabSz="914400" rtl="0" eaLnBrk="1" fontAlgn="base" latinLnBrk="0" hangingPunct="1">
              <a:lnSpc>
                <a:spcPct val="100000"/>
              </a:lnSpc>
              <a:spcBef>
                <a:spcPts val="1200"/>
              </a:spcBef>
              <a:spcAft>
                <a:spcPct val="0"/>
              </a:spcAft>
              <a:buClr>
                <a:schemeClr val="tx2"/>
              </a:buClr>
              <a:buSzPct val="80000"/>
              <a:buFont typeface="Wingdings" panose="05000000000000000000" pitchFamily="2" charset="2"/>
              <a:buChar char="u"/>
              <a:defRPr/>
            </a:pP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补码的符号位表示方法与原码相同，其数值部分的表示与数的正负有关：</a:t>
            </a:r>
            <a:endPar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1257300" marR="0" lvl="1" indent="-457200" algn="l" defTabSz="914400" rtl="0" eaLnBrk="1" fontAlgn="base" latinLnBrk="0" hangingPunct="1">
              <a:lnSpc>
                <a:spcPct val="100000"/>
              </a:lnSpc>
              <a:spcBef>
                <a:spcPts val="1200"/>
              </a:spcBef>
              <a:spcAft>
                <a:spcPct val="0"/>
              </a:spcAft>
              <a:buClr>
                <a:schemeClr val="tx2"/>
              </a:buClr>
              <a:buSzPct val="80000"/>
              <a:buFont typeface="Wingdings" panose="05000000000000000000" charset="0"/>
              <a:buChar char="Ø"/>
              <a:defRPr/>
            </a:pP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对于正数，数值部分与真值形式相同；</a:t>
            </a:r>
            <a:endPar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1257300" marR="0" lvl="1" indent="-457200" algn="l" defTabSz="914400" rtl="0" eaLnBrk="1" fontAlgn="base" latinLnBrk="0" hangingPunct="1">
              <a:lnSpc>
                <a:spcPct val="100000"/>
              </a:lnSpc>
              <a:spcBef>
                <a:spcPct val="20000"/>
              </a:spcBef>
              <a:spcAft>
                <a:spcPct val="0"/>
              </a:spcAft>
              <a:buClr>
                <a:schemeClr val="tx2"/>
              </a:buClr>
              <a:buSzPct val="80000"/>
              <a:buFont typeface="Wingdings" panose="05000000000000000000" charset="0"/>
              <a:buChar char="Ø"/>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对于负数，将真值的数值部分按位取反，最低位加1</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endPar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742950" marR="0" lvl="1" indent="-285750" algn="l" defTabSz="914400" rtl="0" eaLnBrk="1" fontAlgn="base" latinLnBrk="0" hangingPunct="1">
              <a:lnSpc>
                <a:spcPct val="100000"/>
              </a:lnSpc>
              <a:spcBef>
                <a:spcPts val="3000"/>
              </a:spcBef>
              <a:spcAft>
                <a:spcPct val="0"/>
              </a:spcAft>
              <a:buClr>
                <a:srgbClr val="3C5713"/>
              </a:buClr>
              <a:buSzTx/>
              <a:buFont typeface="Wingdings" panose="05000000000000000000" charset="0"/>
              <a:buChar char="u"/>
              <a:defRPr/>
            </a:pP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 </a:t>
            </a: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若真值为</a:t>
            </a:r>
            <a:r>
              <a:rPr kumimoji="0" lang="zh-CN" altLang="en-US" sz="2800" b="1"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纯小数</a:t>
            </a: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，它的补码形式为</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en-US" altLang="zh-CN" sz="2800" b="1" i="0" u="none" strike="noStrike" kern="0" cap="none" spc="0" normalizeH="0" baseline="-30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s</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en-US" altLang="zh-CN" sz="2800" b="1" i="0" u="none" strike="noStrike" kern="0" cap="none" spc="0" normalizeH="0" baseline="-30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1</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en-US" altLang="zh-CN" sz="2800" b="1" i="0" u="none" strike="noStrike" kern="0" cap="none" spc="0" normalizeH="0" baseline="-30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2</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en-US" altLang="zh-CN" sz="2800" b="1" i="0" u="none" strike="noStrike" kern="0" cap="none" spc="0" normalizeH="0" baseline="0" noProof="0" dirty="0" err="1">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en-US" altLang="zh-CN" sz="2800" b="1" i="0" u="none" strike="noStrike" kern="0" cap="none" spc="0" normalizeH="0" baseline="-30000" noProof="0" dirty="0" err="1">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n</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其中</a:t>
            </a:r>
            <a:r>
              <a:rPr kumimoji="0" lang="en-US" altLang="zh-CN" sz="2800" b="1" i="0" u="none" strike="noStrike" kern="0" cap="none" spc="0" normalizeH="0" baseline="0" noProof="0" dirty="0" err="1">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en-US" altLang="zh-CN" sz="2800" b="1" i="0" u="none" strike="noStrike" kern="0" cap="none" spc="0" normalizeH="0" baseline="-30000" noProof="0" dirty="0" err="1">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s</a:t>
            </a: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表示符号位。</a:t>
            </a:r>
            <a:endPar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342900" marR="0" lvl="0" indent="-342900" algn="l" defTabSz="914400" rtl="0" eaLnBrk="1" fontAlgn="base" latinLnBrk="0" hangingPunct="1">
              <a:lnSpc>
                <a:spcPct val="110000"/>
              </a:lnSpc>
              <a:spcBef>
                <a:spcPts val="1800"/>
              </a:spcBef>
              <a:spcAft>
                <a:spcPct val="0"/>
              </a:spcAft>
              <a:buClr>
                <a:schemeClr val="hlink"/>
              </a:buClr>
              <a:buSzTx/>
              <a:buFontTx/>
              <a:buNone/>
              <a:defRPr/>
            </a:pP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       例5：</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en-US" altLang="zh-CN" sz="28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1</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=0.0110,   [X</a:t>
            </a:r>
            <a:r>
              <a:rPr kumimoji="0" lang="en-US" altLang="zh-CN" sz="28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1</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zh-CN" altLang="en-US" sz="2800" b="1" i="0" u="none" strike="noStrike" kern="0" cap="none" spc="0" normalizeH="0" baseline="-30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补</a:t>
            </a: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=0.0110</a:t>
            </a:r>
            <a:endPar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342900" marR="0" lvl="0" indent="-342900" algn="l" defTabSz="914400" rtl="0" eaLnBrk="1" fontAlgn="base" latinLnBrk="0" hangingPunct="1">
              <a:lnSpc>
                <a:spcPct val="110000"/>
              </a:lnSpc>
              <a:spcBef>
                <a:spcPct val="20000"/>
              </a:spcBef>
              <a:spcAft>
                <a:spcPct val="0"/>
              </a:spcAft>
              <a:buClr>
                <a:schemeClr val="hlink"/>
              </a:buClr>
              <a:buSzTx/>
              <a:buFontTx/>
              <a:buNone/>
              <a:defRPr/>
            </a:pP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               X</a:t>
            </a:r>
            <a:r>
              <a:rPr kumimoji="0" lang="en-US" altLang="zh-CN" sz="28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2</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=-0.0110</a:t>
            </a: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  [</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en-US" altLang="zh-CN" sz="28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2</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zh-CN" altLang="en-US" sz="2800" b="1" i="0" u="none" strike="noStrike" kern="0" cap="none" spc="0" normalizeH="0" baseline="-30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补</a:t>
            </a: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=1.1010</a:t>
            </a:r>
            <a:endPar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p:txBody>
      </p:sp>
      <p:sp>
        <p:nvSpPr>
          <p:cNvPr id="2" name="Rectangle 5"/>
          <p:cNvSpPr>
            <a:spLocks noGrp="1"/>
          </p:cNvSpPr>
          <p:nvPr>
            <p:ph type="title"/>
          </p:nvPr>
        </p:nvSpPr>
        <p:spPr>
          <a:xfrm>
            <a:off x="304800" y="304800"/>
            <a:ext cx="7772400" cy="685800"/>
          </a:xfrm>
          <a:prstGeom prst="rect">
            <a:avLst/>
          </a:prstGeom>
          <a:noFill/>
          <a:ln w="9525">
            <a:noFill/>
          </a:ln>
        </p:spPr>
        <p:txBody>
          <a:bodyPr anchor="t"/>
          <a:p>
            <a:pPr eaLnBrk="1" hangingPunct="1">
              <a:buNone/>
            </a:pPr>
            <a:r>
              <a:rPr lang="zh-CN" altLang="en-US" dirty="0">
                <a:solidFill>
                  <a:srgbClr val="0000FF"/>
                </a:solidFill>
                <a:latin typeface="微软雅黑" panose="020B0503020204020204" charset="-122"/>
                <a:ea typeface="微软雅黑" panose="020B0503020204020204" charset="-122"/>
              </a:rPr>
              <a:t>补码表示</a:t>
            </a:r>
            <a:endParaRPr lang="zh-CN" altLang="en-US" dirty="0">
              <a:solidFill>
                <a:srgbClr val="0000FF"/>
              </a:solidFill>
              <a:latin typeface="微软雅黑" panose="020B0503020204020204" charset="-122"/>
              <a:ea typeface="微软雅黑" panose="020B0503020204020204"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Rectangle 4"/>
          <p:cNvSpPr>
            <a:spLocks noGrp="1"/>
          </p:cNvSpPr>
          <p:nvPr>
            <p:ph type="title"/>
          </p:nvPr>
        </p:nvSpPr>
        <p:spPr>
          <a:xfrm>
            <a:off x="685800" y="381000"/>
            <a:ext cx="7772400" cy="600075"/>
          </a:xfrm>
          <a:noFill/>
          <a:ln>
            <a:noFill/>
          </a:ln>
        </p:spPr>
        <p:txBody>
          <a:bodyPr anchor="t"/>
          <a:p>
            <a:pPr eaLnBrk="1" hangingPunct="1">
              <a:buNone/>
            </a:pPr>
            <a:r>
              <a:rPr lang="zh-CN" altLang="en-US" dirty="0">
                <a:solidFill>
                  <a:srgbClr val="0000FF"/>
                </a:solidFill>
                <a:latin typeface="微软雅黑" panose="020B0503020204020204" charset="-122"/>
                <a:ea typeface="微软雅黑" panose="020B0503020204020204" charset="-122"/>
              </a:rPr>
              <a:t>补码表示（续）</a:t>
            </a:r>
            <a:endParaRPr lang="zh-CN" altLang="en-US" dirty="0">
              <a:solidFill>
                <a:srgbClr val="0000FF"/>
              </a:solidFill>
              <a:latin typeface="微软雅黑" panose="020B0503020204020204" charset="-122"/>
              <a:ea typeface="微软雅黑" panose="020B0503020204020204" charset="-122"/>
            </a:endParaRPr>
          </a:p>
        </p:txBody>
      </p:sp>
      <p:sp>
        <p:nvSpPr>
          <p:cNvPr id="40963" name="Rectangle 3"/>
          <p:cNvSpPr>
            <a:spLocks noGrp="1"/>
          </p:cNvSpPr>
          <p:nvPr>
            <p:ph idx="1"/>
          </p:nvPr>
        </p:nvSpPr>
        <p:spPr>
          <a:xfrm>
            <a:off x="609600" y="1412875"/>
            <a:ext cx="8001000" cy="4454525"/>
          </a:xfrm>
          <a:noFill/>
          <a:ln>
            <a:noFill/>
          </a:ln>
        </p:spPr>
        <p:txBody>
          <a:bodyPr/>
          <a:p>
            <a:pPr marL="114300" marR="0" indent="-457200" algn="just" defTabSz="914400" rtl="0" eaLnBrk="1" fontAlgn="base" latinLnBrk="0" hangingPunct="1">
              <a:lnSpc>
                <a:spcPct val="100000"/>
              </a:lnSpc>
              <a:spcBef>
                <a:spcPct val="20000"/>
              </a:spcBef>
              <a:spcAft>
                <a:spcPct val="0"/>
              </a:spcAft>
              <a:buClr>
                <a:srgbClr val="3C5713"/>
              </a:buClr>
              <a:buSzTx/>
              <a:buFont typeface="Wingdings" panose="05000000000000000000" charset="0"/>
              <a:buChar char="u"/>
            </a:pPr>
            <a:r>
              <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 若真值为</a:t>
            </a:r>
            <a:r>
              <a:rPr kumimoji="0" lang="zh-CN" altLang="en-US" sz="2800" b="1" i="0" u="none" strike="noStrike" kern="0" cap="none" spc="0" normalizeH="0" baseline="0" noProof="1" dirty="0">
                <a:solidFill>
                  <a:srgbClr val="FF0000"/>
                </a:solidFill>
                <a:latin typeface="微软雅黑" panose="020B0503020204020204" charset="-122"/>
                <a:ea typeface="微软雅黑" panose="020B0503020204020204" charset="-122"/>
                <a:cs typeface="+mn-cs"/>
              </a:rPr>
              <a:t>纯整数</a:t>
            </a:r>
            <a:r>
              <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，它的补码形式为</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X</a:t>
            </a:r>
            <a:r>
              <a:rPr kumimoji="0" lang="en-US" altLang="zh-CN" sz="2800" b="1" i="0" u="none" strike="noStrike" kern="0" cap="none" spc="0" normalizeH="0" baseline="-30000" noProof="1" dirty="0">
                <a:solidFill>
                  <a:schemeClr val="tx2"/>
                </a:solidFill>
                <a:latin typeface="微软雅黑" panose="020B0503020204020204" charset="-122"/>
                <a:ea typeface="微软雅黑" panose="020B0503020204020204" charset="-122"/>
                <a:cs typeface="+mn-cs"/>
              </a:rPr>
              <a:t>s</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X</a:t>
            </a:r>
            <a:r>
              <a:rPr kumimoji="0" lang="en-US" altLang="zh-CN" sz="2800" b="1" i="0" u="none" strike="noStrike" kern="0" cap="none" spc="0" normalizeH="0" baseline="-30000" noProof="1" dirty="0">
                <a:solidFill>
                  <a:schemeClr val="tx2"/>
                </a:solidFill>
                <a:latin typeface="微软雅黑" panose="020B0503020204020204" charset="-122"/>
                <a:ea typeface="微软雅黑" panose="020B0503020204020204" charset="-122"/>
                <a:cs typeface="+mn-cs"/>
              </a:rPr>
              <a:t>1</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X</a:t>
            </a:r>
            <a:r>
              <a:rPr kumimoji="0" lang="en-US" altLang="zh-CN" sz="2800" b="1" i="0" u="none" strike="noStrike" kern="0" cap="none" spc="0" normalizeH="0" baseline="-30000" noProof="1" dirty="0">
                <a:solidFill>
                  <a:schemeClr val="tx2"/>
                </a:solidFill>
                <a:latin typeface="微软雅黑" panose="020B0503020204020204" charset="-122"/>
                <a:ea typeface="微软雅黑" panose="020B0503020204020204" charset="-122"/>
                <a:cs typeface="+mn-cs"/>
              </a:rPr>
              <a:t>2</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…X</a:t>
            </a:r>
            <a:r>
              <a:rPr kumimoji="0" lang="en-US" altLang="zh-CN" sz="2800" b="1" i="0" u="none" strike="noStrike" kern="0" cap="none" spc="0" normalizeH="0" baseline="-30000" noProof="1" dirty="0">
                <a:solidFill>
                  <a:schemeClr val="tx2"/>
                </a:solidFill>
                <a:latin typeface="微软雅黑" panose="020B0503020204020204" charset="-122"/>
                <a:ea typeface="微软雅黑" panose="020B0503020204020204" charset="-122"/>
                <a:cs typeface="+mn-cs"/>
              </a:rPr>
              <a:t>n</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a:t>
            </a:r>
            <a:r>
              <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其中</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X</a:t>
            </a:r>
            <a:r>
              <a:rPr kumimoji="0" lang="en-US" altLang="zh-CN" sz="2800" b="1" i="0" u="none" strike="noStrike" kern="0" cap="none" spc="0" normalizeH="0" baseline="-30000" noProof="1" dirty="0">
                <a:solidFill>
                  <a:schemeClr val="tx2"/>
                </a:solidFill>
                <a:latin typeface="微软雅黑" panose="020B0503020204020204" charset="-122"/>
                <a:ea typeface="微软雅黑" panose="020B0503020204020204" charset="-122"/>
                <a:cs typeface="+mn-cs"/>
              </a:rPr>
              <a:t>s</a:t>
            </a:r>
            <a:r>
              <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表示符号位。</a:t>
            </a:r>
            <a:endPar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endParaRPr>
          </a:p>
          <a:p>
            <a:pPr marL="114300" marR="0" indent="-457200" algn="just" defTabSz="914400" rtl="0" eaLnBrk="1" fontAlgn="base" latinLnBrk="0" hangingPunct="1">
              <a:lnSpc>
                <a:spcPct val="100000"/>
              </a:lnSpc>
              <a:spcBef>
                <a:spcPct val="20000"/>
              </a:spcBef>
              <a:spcAft>
                <a:spcPct val="0"/>
              </a:spcAft>
              <a:buClr>
                <a:schemeClr val="hlink"/>
              </a:buClr>
              <a:buSzTx/>
              <a:buFontTx/>
              <a:buNone/>
            </a:pPr>
            <a:endPar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endParaRPr>
          </a:p>
          <a:p>
            <a:pPr marL="0" marR="0" indent="-342900" algn="just" defTabSz="914400" rtl="0" eaLnBrk="1" fontAlgn="base" latinLnBrk="0" hangingPunct="1">
              <a:lnSpc>
                <a:spcPct val="100000"/>
              </a:lnSpc>
              <a:spcBef>
                <a:spcPct val="20000"/>
              </a:spcBef>
              <a:spcAft>
                <a:spcPct val="0"/>
              </a:spcAft>
              <a:buClr>
                <a:schemeClr val="hlink"/>
              </a:buClr>
              <a:buSzTx/>
              <a:buFontTx/>
              <a:buNone/>
            </a:pPr>
            <a:r>
              <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    例6：</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X</a:t>
            </a:r>
            <a:r>
              <a:rPr kumimoji="0" lang="en-US" altLang="zh-CN" sz="2800" b="1" i="0" u="none" strike="noStrike" kern="0" cap="none" spc="0" normalizeH="0" baseline="-25000" noProof="1" dirty="0">
                <a:solidFill>
                  <a:schemeClr val="tx2"/>
                </a:solidFill>
                <a:latin typeface="微软雅黑" panose="020B0503020204020204" charset="-122"/>
                <a:ea typeface="微软雅黑" panose="020B0503020204020204" charset="-122"/>
                <a:cs typeface="+mn-cs"/>
              </a:rPr>
              <a:t>1</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=1101，     [X</a:t>
            </a:r>
            <a:r>
              <a:rPr kumimoji="0" lang="en-US" altLang="zh-CN" sz="2800" b="1" i="0" u="none" strike="noStrike" kern="0" cap="none" spc="0" normalizeH="0" baseline="-25000" noProof="1" dirty="0">
                <a:solidFill>
                  <a:schemeClr val="tx2"/>
                </a:solidFill>
                <a:latin typeface="微软雅黑" panose="020B0503020204020204" charset="-122"/>
                <a:ea typeface="微软雅黑" panose="020B0503020204020204" charset="-122"/>
                <a:cs typeface="+mn-cs"/>
              </a:rPr>
              <a:t>1</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a:t>
            </a:r>
            <a:r>
              <a:rPr kumimoji="0" lang="zh-CN" altLang="en-US" sz="2800" b="1" i="0" u="none" strike="noStrike" kern="0" cap="none" spc="0" normalizeH="0" baseline="-30000" noProof="1" dirty="0">
                <a:solidFill>
                  <a:schemeClr val="tx2"/>
                </a:solidFill>
                <a:latin typeface="微软雅黑" panose="020B0503020204020204" charset="-122"/>
                <a:ea typeface="微软雅黑" panose="020B0503020204020204" charset="-122"/>
                <a:cs typeface="+mn-cs"/>
              </a:rPr>
              <a:t>补</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=01101</a:t>
            </a:r>
            <a:endPar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endParaRPr>
          </a:p>
          <a:p>
            <a:pPr marL="0" marR="0" indent="-342900" algn="just" defTabSz="914400" rtl="0" eaLnBrk="1" fontAlgn="base" latinLnBrk="0" hangingPunct="1">
              <a:lnSpc>
                <a:spcPct val="100000"/>
              </a:lnSpc>
              <a:spcBef>
                <a:spcPct val="20000"/>
              </a:spcBef>
              <a:spcAft>
                <a:spcPct val="0"/>
              </a:spcAft>
              <a:buClr>
                <a:schemeClr val="hlink"/>
              </a:buClr>
              <a:buSzTx/>
              <a:buFontTx/>
              <a:buNone/>
            </a:pP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            X</a:t>
            </a:r>
            <a:r>
              <a:rPr kumimoji="0" lang="en-US" altLang="zh-CN" sz="2800" b="1" i="0" u="none" strike="noStrike" kern="0" cap="none" spc="0" normalizeH="0" baseline="-25000" noProof="1" dirty="0">
                <a:solidFill>
                  <a:schemeClr val="tx2"/>
                </a:solidFill>
                <a:latin typeface="微软雅黑" panose="020B0503020204020204" charset="-122"/>
                <a:ea typeface="微软雅黑" panose="020B0503020204020204" charset="-122"/>
                <a:cs typeface="+mn-cs"/>
              </a:rPr>
              <a:t>2</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=-1101，    [X</a:t>
            </a:r>
            <a:r>
              <a:rPr kumimoji="0" lang="en-US" altLang="zh-CN" sz="2800" b="1" i="0" u="none" strike="noStrike" kern="0" cap="none" spc="0" normalizeH="0" baseline="-25000" noProof="1" dirty="0">
                <a:solidFill>
                  <a:schemeClr val="tx2"/>
                </a:solidFill>
                <a:latin typeface="微软雅黑" panose="020B0503020204020204" charset="-122"/>
                <a:ea typeface="微软雅黑" panose="020B0503020204020204" charset="-122"/>
                <a:cs typeface="+mn-cs"/>
              </a:rPr>
              <a:t>2</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a:t>
            </a:r>
            <a:r>
              <a:rPr kumimoji="0" lang="zh-CN" altLang="en-US" sz="2800" b="1" i="0" u="none" strike="noStrike" kern="0" cap="none" spc="0" normalizeH="0" baseline="-30000" noProof="1" dirty="0">
                <a:solidFill>
                  <a:schemeClr val="tx2"/>
                </a:solidFill>
                <a:latin typeface="微软雅黑" panose="020B0503020204020204" charset="-122"/>
                <a:ea typeface="微软雅黑" panose="020B0503020204020204" charset="-122"/>
                <a:cs typeface="+mn-cs"/>
              </a:rPr>
              <a:t>补</a:t>
            </a:r>
            <a:r>
              <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10011</a:t>
            </a:r>
            <a:endPar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endParaRPr>
          </a:p>
          <a:p>
            <a:pPr marL="0" marR="0" indent="-342900" algn="just" defTabSz="914400" rtl="0" eaLnBrk="1" fontAlgn="base" latinLnBrk="0" hangingPunct="1">
              <a:lnSpc>
                <a:spcPct val="100000"/>
              </a:lnSpc>
              <a:spcBef>
                <a:spcPct val="20000"/>
              </a:spcBef>
              <a:spcAft>
                <a:spcPct val="0"/>
              </a:spcAft>
              <a:buClr>
                <a:schemeClr val="hlink"/>
              </a:buClr>
              <a:buSzTx/>
              <a:buFontTx/>
              <a:buNone/>
            </a:pPr>
            <a:r>
              <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       </a:t>
            </a:r>
            <a:endPar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endParaRPr>
          </a:p>
          <a:p>
            <a:pPr marL="114300" marR="0" indent="-457200" algn="just" defTabSz="914400" rtl="0" eaLnBrk="1" fontAlgn="base" latinLnBrk="0" hangingPunct="1">
              <a:lnSpc>
                <a:spcPct val="100000"/>
              </a:lnSpc>
              <a:spcBef>
                <a:spcPct val="20000"/>
              </a:spcBef>
              <a:spcAft>
                <a:spcPct val="0"/>
              </a:spcAft>
              <a:buClr>
                <a:srgbClr val="3C5713"/>
              </a:buClr>
              <a:buSzTx/>
              <a:buFont typeface="Wingdings" panose="05000000000000000000" charset="0"/>
              <a:buChar char="u"/>
            </a:pP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 </a:t>
            </a:r>
            <a:r>
              <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在补码表示中，真值0的表示形式是唯一的：</a:t>
            </a:r>
            <a:endPar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endParaRPr>
          </a:p>
          <a:p>
            <a:pPr marL="0" marR="0" indent="-342900" algn="just" defTabSz="914400" rtl="0" eaLnBrk="1" fontAlgn="base" latinLnBrk="0" hangingPunct="1">
              <a:lnSpc>
                <a:spcPct val="100000"/>
              </a:lnSpc>
              <a:spcBef>
                <a:spcPct val="20000"/>
              </a:spcBef>
              <a:spcAft>
                <a:spcPct val="0"/>
              </a:spcAft>
              <a:buClr>
                <a:schemeClr val="hlink"/>
              </a:buClr>
              <a:buSzTx/>
              <a:buFontTx/>
              <a:buNone/>
            </a:pPr>
            <a:r>
              <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        [+0]</a:t>
            </a:r>
            <a:r>
              <a:rPr kumimoji="0" lang="zh-CN" altLang="en-US" sz="2800" b="1" i="0" u="none" strike="noStrike" kern="0" cap="none" spc="0" normalizeH="0" baseline="-30000" noProof="1" dirty="0">
                <a:solidFill>
                  <a:schemeClr val="tx2"/>
                </a:solidFill>
                <a:latin typeface="微软雅黑" panose="020B0503020204020204" charset="-122"/>
                <a:ea typeface="微软雅黑" panose="020B0503020204020204" charset="-122"/>
                <a:cs typeface="+mn-cs"/>
              </a:rPr>
              <a:t>补</a:t>
            </a:r>
            <a:r>
              <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=[-0]</a:t>
            </a:r>
            <a:r>
              <a:rPr kumimoji="0" lang="zh-CN" altLang="en-US" sz="2800" b="1" i="0" u="none" strike="noStrike" kern="0" cap="none" spc="0" normalizeH="0" baseline="-30000" noProof="1" dirty="0">
                <a:solidFill>
                  <a:schemeClr val="tx2"/>
                </a:solidFill>
                <a:latin typeface="微软雅黑" panose="020B0503020204020204" charset="-122"/>
                <a:ea typeface="微软雅黑" panose="020B0503020204020204" charset="-122"/>
                <a:cs typeface="+mn-cs"/>
              </a:rPr>
              <a:t>补</a:t>
            </a:r>
            <a:r>
              <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=00000</a:t>
            </a:r>
            <a:endPar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noChangeArrowheads="1"/>
          </p:cNvSpPr>
          <p:nvPr>
            <p:ph type="body" idx="4294967295"/>
          </p:nvPr>
        </p:nvSpPr>
        <p:spPr bwMode="auto">
          <a:xfrm>
            <a:off x="382588" y="1219200"/>
            <a:ext cx="8077200" cy="502920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4300" marR="0" lvl="0" indent="-457200" algn="just" defTabSz="914400" rtl="0" eaLnBrk="1" fontAlgn="base" latinLnBrk="0" hangingPunct="1">
              <a:lnSpc>
                <a:spcPct val="90000"/>
              </a:lnSpc>
              <a:spcBef>
                <a:spcPct val="20000"/>
              </a:spcBef>
              <a:spcAft>
                <a:spcPct val="0"/>
              </a:spcAft>
              <a:buClr>
                <a:schemeClr val="tx2"/>
              </a:buClr>
              <a:buSzPct val="80000"/>
              <a:buFont typeface="Wingdings" panose="05000000000000000000" pitchFamily="2" charset="2"/>
              <a:buChar char="u"/>
              <a:defRPr/>
            </a:pP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当</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为正数时，[</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zh-CN" altLang="en-US" sz="28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补</a:t>
            </a: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zh-CN" altLang="en-US" sz="28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原</a:t>
            </a:r>
            <a:endPar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114300" marR="0" lvl="0" indent="-457200" algn="just" defTabSz="914400" rtl="0" eaLnBrk="1" fontAlgn="base" latinLnBrk="0" hangingPunct="1">
              <a:lnSpc>
                <a:spcPct val="100000"/>
              </a:lnSpc>
              <a:spcBef>
                <a:spcPts val="1200"/>
              </a:spcBef>
              <a:spcAft>
                <a:spcPct val="0"/>
              </a:spcAft>
              <a:buClr>
                <a:schemeClr val="tx2"/>
              </a:buClr>
              <a:buSzPct val="80000"/>
              <a:buFont typeface="Wingdings" panose="05000000000000000000" pitchFamily="2" charset="2"/>
              <a:buChar char="u"/>
              <a:defRPr/>
            </a:pP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当</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为负数时，由[</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zh-CN" altLang="en-US" sz="28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原</a:t>
            </a: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转换为[</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zh-CN" altLang="en-US" sz="28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补</a:t>
            </a: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的方法：</a:t>
            </a:r>
            <a:endPar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1028700" marR="0" lvl="2" indent="-457200" algn="just" defTabSz="914400" rtl="0" eaLnBrk="1" fontAlgn="base" latinLnBrk="0" hangingPunct="1">
              <a:lnSpc>
                <a:spcPct val="100000"/>
              </a:lnSpc>
              <a:spcBef>
                <a:spcPts val="1200"/>
              </a:spcBef>
              <a:spcAft>
                <a:spcPct val="0"/>
              </a:spcAft>
              <a:buClr>
                <a:schemeClr val="hlink"/>
              </a:buClr>
              <a:buSzTx/>
              <a:buFont typeface="Wingdings" panose="05000000000000000000" charset="0"/>
              <a:buChar char="Ø"/>
              <a:defRPr/>
            </a:pP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zh-CN" altLang="en-US" sz="24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原</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除掉符号位外的</a:t>
            </a:r>
            <a:r>
              <a:rPr kumimoji="0" lang="zh-CN" altLang="en-US" sz="2400" b="1"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各位取反加“1”</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endPar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1028700" marR="0" lvl="2" indent="-457200" algn="just" defTabSz="914400" rtl="0" eaLnBrk="1" fontAlgn="base" latinLnBrk="0" hangingPunct="1">
              <a:lnSpc>
                <a:spcPct val="100000"/>
              </a:lnSpc>
              <a:spcBef>
                <a:spcPts val="1200"/>
              </a:spcBef>
              <a:spcAft>
                <a:spcPct val="0"/>
              </a:spcAft>
              <a:buClr>
                <a:schemeClr val="hlink"/>
              </a:buClr>
              <a:buSzTx/>
              <a:buFont typeface="Wingdings" panose="05000000000000000000" charset="0"/>
              <a:buChar char="Ø"/>
              <a:defRPr/>
            </a:pP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自低位向高位，</a:t>
            </a:r>
            <a:r>
              <a:rPr kumimoji="0" lang="zh-CN" altLang="en-US" sz="2400" b="1"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尾数的第一个“1”及其右部的“0”保持不变，左部的各位取反，符号位保持不变</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endPar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114300" marR="0" lvl="0" indent="-457200" algn="just" defTabSz="914400" rtl="0" eaLnBrk="1" fontAlgn="base" latinLnBrk="0" hangingPunct="1">
              <a:lnSpc>
                <a:spcPct val="90000"/>
              </a:lnSpc>
              <a:spcBef>
                <a:spcPct val="20000"/>
              </a:spcBef>
              <a:spcAft>
                <a:spcPct val="0"/>
              </a:spcAft>
              <a:buClr>
                <a:schemeClr val="hlink"/>
              </a:buClr>
              <a:buSzTx/>
              <a:buFontTx/>
              <a:buNone/>
              <a:defRPr/>
            </a:pP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   </a:t>
            </a:r>
            <a:endPar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342900" algn="just" defTabSz="914400" rtl="0" eaLnBrk="1" fontAlgn="base" latinLnBrk="0" hangingPunct="1">
              <a:lnSpc>
                <a:spcPct val="90000"/>
              </a:lnSpc>
              <a:spcBef>
                <a:spcPct val="20000"/>
              </a:spcBef>
              <a:spcAft>
                <a:spcPct val="0"/>
              </a:spcAft>
              <a:buClr>
                <a:schemeClr val="hlink"/>
              </a:buClr>
              <a:buSzTx/>
              <a:buFontTx/>
              <a:buNone/>
              <a:defRPr/>
            </a:pP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      例7：[</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zh-CN" altLang="en-US" sz="28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原</a:t>
            </a: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 =1.1110011000</a:t>
            </a:r>
            <a:endPar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342900" algn="just" defTabSz="914400" rtl="0" eaLnBrk="1" fontAlgn="base" latinLnBrk="0" hangingPunct="1">
              <a:lnSpc>
                <a:spcPct val="90000"/>
              </a:lnSpc>
              <a:spcBef>
                <a:spcPct val="20000"/>
              </a:spcBef>
              <a:spcAft>
                <a:spcPct val="0"/>
              </a:spcAft>
              <a:buClr>
                <a:schemeClr val="hlink"/>
              </a:buClr>
              <a:buSzTx/>
              <a:buFontTx/>
              <a:buNone/>
              <a:defRPr/>
            </a:pP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               [</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zh-CN" altLang="en-US" sz="28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补</a:t>
            </a: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 =</a:t>
            </a:r>
            <a:r>
              <a:rPr kumimoji="0" lang="zh-CN" altLang="en-US" sz="2800" b="1" i="0" u="sng"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1</a:t>
            </a: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zh-CN" altLang="en-US" sz="2800" b="1" i="0" u="sng"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000110</a:t>
            </a:r>
            <a:r>
              <a:rPr kumimoji="0" lang="zh-CN" altLang="en-US" sz="2800" b="1" i="0" u="sng"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1000</a:t>
            </a:r>
            <a:endParaRPr kumimoji="0" lang="zh-CN" altLang="en-US" sz="2800" b="1" i="0" u="sng"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p:txBody>
      </p:sp>
      <p:sp>
        <p:nvSpPr>
          <p:cNvPr id="41986" name="Rectangle 3"/>
          <p:cNvSpPr>
            <a:spLocks noGrp="1"/>
          </p:cNvSpPr>
          <p:nvPr>
            <p:ph type="title"/>
          </p:nvPr>
        </p:nvSpPr>
        <p:spPr>
          <a:xfrm>
            <a:off x="271463" y="360363"/>
            <a:ext cx="7772400" cy="554037"/>
          </a:xfrm>
          <a:prstGeom prst="rect">
            <a:avLst/>
          </a:prstGeom>
          <a:noFill/>
          <a:ln w="9525">
            <a:noFill/>
          </a:ln>
        </p:spPr>
        <p:txBody>
          <a:bodyPr anchor="t"/>
          <a:p>
            <a:pPr eaLnBrk="1" hangingPunct="1">
              <a:buNone/>
            </a:pPr>
            <a:r>
              <a:rPr lang="zh-CN" altLang="en-US" dirty="0">
                <a:solidFill>
                  <a:srgbClr val="0000FF"/>
                </a:solidFill>
                <a:latin typeface="微软雅黑" panose="020B0503020204020204" charset="-122"/>
                <a:ea typeface="微软雅黑" panose="020B0503020204020204" charset="-122"/>
              </a:rPr>
              <a:t>原码转换为补码</a:t>
            </a:r>
            <a:endParaRPr lang="zh-CN" altLang="en-US" dirty="0">
              <a:solidFill>
                <a:srgbClr val="0000FF"/>
              </a:solidFill>
              <a:latin typeface="微软雅黑" panose="020B0503020204020204" charset="-122"/>
              <a:ea typeface="微软雅黑" panose="020B0503020204020204" charset="-122"/>
            </a:endParaRPr>
          </a:p>
        </p:txBody>
      </p:sp>
      <p:sp>
        <p:nvSpPr>
          <p:cNvPr id="41987" name="Text Box 5"/>
          <p:cNvSpPr txBox="1"/>
          <p:nvPr/>
        </p:nvSpPr>
        <p:spPr>
          <a:xfrm>
            <a:off x="4762500" y="5443538"/>
            <a:ext cx="1176338" cy="396875"/>
          </a:xfrm>
          <a:prstGeom prst="rect">
            <a:avLst/>
          </a:prstGeom>
          <a:noFill/>
          <a:ln w="57150">
            <a:noFill/>
          </a:ln>
        </p:spPr>
        <p:txBody>
          <a:bodyPr anchor="t">
            <a:spAutoFit/>
          </a:bodyPr>
          <a:p>
            <a:pPr>
              <a:spcBef>
                <a:spcPct val="50000"/>
              </a:spcBef>
            </a:pPr>
            <a:r>
              <a:rPr lang="zh-CN" altLang="en-US" sz="2000" b="1" dirty="0">
                <a:solidFill>
                  <a:schemeClr val="tx1"/>
                </a:solidFill>
                <a:latin typeface="宋体" panose="02010600030101010101" pitchFamily="2" charset="-122"/>
                <a:ea typeface="宋体" panose="02010600030101010101" pitchFamily="2" charset="-122"/>
              </a:rPr>
              <a:t>不变</a:t>
            </a:r>
            <a:endParaRPr lang="zh-CN" altLang="en-US" sz="2000" b="1" dirty="0">
              <a:solidFill>
                <a:schemeClr val="tx1"/>
              </a:solidFill>
              <a:latin typeface="宋体" panose="02010600030101010101" pitchFamily="2" charset="-122"/>
              <a:ea typeface="宋体" panose="02010600030101010101" pitchFamily="2" charset="-122"/>
            </a:endParaRPr>
          </a:p>
        </p:txBody>
      </p:sp>
      <p:sp>
        <p:nvSpPr>
          <p:cNvPr id="41988" name="Text Box 6"/>
          <p:cNvSpPr txBox="1"/>
          <p:nvPr/>
        </p:nvSpPr>
        <p:spPr>
          <a:xfrm>
            <a:off x="3033713" y="5443538"/>
            <a:ext cx="731837" cy="396875"/>
          </a:xfrm>
          <a:prstGeom prst="rect">
            <a:avLst/>
          </a:prstGeom>
          <a:noFill/>
          <a:ln w="57150">
            <a:noFill/>
          </a:ln>
        </p:spPr>
        <p:txBody>
          <a:bodyPr anchor="t">
            <a:spAutoFit/>
          </a:bodyPr>
          <a:p>
            <a:pPr>
              <a:spcBef>
                <a:spcPct val="50000"/>
              </a:spcBef>
            </a:pPr>
            <a:r>
              <a:rPr lang="zh-CN" altLang="en-US" sz="2000" b="1" dirty="0">
                <a:solidFill>
                  <a:schemeClr val="tx1"/>
                </a:solidFill>
                <a:latin typeface="宋体" panose="02010600030101010101" pitchFamily="2" charset="-122"/>
                <a:ea typeface="宋体" panose="02010600030101010101" pitchFamily="2" charset="-122"/>
              </a:rPr>
              <a:t>不变</a:t>
            </a:r>
            <a:endParaRPr lang="zh-CN" altLang="en-US" sz="2000" b="1" dirty="0">
              <a:solidFill>
                <a:schemeClr val="tx1"/>
              </a:solidFill>
              <a:latin typeface="宋体" panose="02010600030101010101" pitchFamily="2" charset="-122"/>
              <a:ea typeface="宋体" panose="02010600030101010101" pitchFamily="2" charset="-122"/>
            </a:endParaRPr>
          </a:p>
        </p:txBody>
      </p:sp>
      <p:sp>
        <p:nvSpPr>
          <p:cNvPr id="41989" name="Text Box 7"/>
          <p:cNvSpPr txBox="1"/>
          <p:nvPr/>
        </p:nvSpPr>
        <p:spPr>
          <a:xfrm>
            <a:off x="3765550" y="5443538"/>
            <a:ext cx="1268413" cy="396875"/>
          </a:xfrm>
          <a:prstGeom prst="rect">
            <a:avLst/>
          </a:prstGeom>
          <a:noFill/>
          <a:ln w="57150">
            <a:noFill/>
          </a:ln>
        </p:spPr>
        <p:txBody>
          <a:bodyPr anchor="t">
            <a:spAutoFit/>
          </a:bodyPr>
          <a:p>
            <a:pPr algn="ctr">
              <a:spcBef>
                <a:spcPct val="50000"/>
              </a:spcBef>
            </a:pPr>
            <a:r>
              <a:rPr lang="zh-CN" altLang="en-US" sz="2000" b="1" dirty="0">
                <a:solidFill>
                  <a:srgbClr val="FF0000"/>
                </a:solidFill>
                <a:latin typeface="宋体" panose="02010600030101010101" pitchFamily="2" charset="-122"/>
                <a:ea typeface="宋体" panose="02010600030101010101" pitchFamily="2" charset="-122"/>
              </a:rPr>
              <a:t>变反</a:t>
            </a:r>
            <a:endParaRPr lang="zh-CN" altLang="en-US" sz="2000" b="1" dirty="0">
              <a:solidFill>
                <a:srgbClr val="FF0000"/>
              </a:solidFill>
              <a:latin typeface="宋体" panose="02010600030101010101" pitchFamily="2" charset="-122"/>
              <a:ea typeface="宋体" panose="02010600030101010101" pitchFamily="2" charset="-122"/>
            </a:endParaRPr>
          </a:p>
        </p:txBody>
      </p:sp>
      <p:sp>
        <p:nvSpPr>
          <p:cNvPr id="41990" name="Line 8"/>
          <p:cNvSpPr/>
          <p:nvPr/>
        </p:nvSpPr>
        <p:spPr>
          <a:xfrm flipV="1">
            <a:off x="3346450" y="5230813"/>
            <a:ext cx="0" cy="304800"/>
          </a:xfrm>
          <a:prstGeom prst="line">
            <a:avLst/>
          </a:prstGeom>
          <a:ln w="38100" cap="sq" cmpd="sng">
            <a:solidFill>
              <a:srgbClr val="6600FF"/>
            </a:solidFill>
            <a:prstDash val="solid"/>
            <a:miter/>
            <a:headEnd type="none" w="sm" len="sm"/>
            <a:tailEnd type="triangle" w="sm" len="sm"/>
          </a:ln>
        </p:spPr>
      </p:sp>
      <p:sp>
        <p:nvSpPr>
          <p:cNvPr id="41991" name="Line 9"/>
          <p:cNvSpPr/>
          <p:nvPr/>
        </p:nvSpPr>
        <p:spPr>
          <a:xfrm flipV="1">
            <a:off x="5214938" y="5230813"/>
            <a:ext cx="0" cy="304800"/>
          </a:xfrm>
          <a:prstGeom prst="line">
            <a:avLst/>
          </a:prstGeom>
          <a:ln w="38100" cap="sq" cmpd="sng">
            <a:solidFill>
              <a:srgbClr val="6600FF"/>
            </a:solidFill>
            <a:prstDash val="solid"/>
            <a:miter/>
            <a:headEnd type="none" w="sm" len="sm"/>
            <a:tailEnd type="triangle" w="sm" len="sm"/>
          </a:ln>
        </p:spPr>
      </p:sp>
      <p:sp>
        <p:nvSpPr>
          <p:cNvPr id="41992" name="Line 10"/>
          <p:cNvSpPr/>
          <p:nvPr/>
        </p:nvSpPr>
        <p:spPr>
          <a:xfrm flipV="1">
            <a:off x="4498975" y="5230813"/>
            <a:ext cx="0" cy="304800"/>
          </a:xfrm>
          <a:prstGeom prst="line">
            <a:avLst/>
          </a:prstGeom>
          <a:ln w="38100" cap="sq" cmpd="sng">
            <a:solidFill>
              <a:srgbClr val="6600FF"/>
            </a:solidFill>
            <a:prstDash val="solid"/>
            <a:miter/>
            <a:headEnd type="none" w="sm" len="sm"/>
            <a:tailEnd type="triangle" w="sm" len="sm"/>
          </a:ln>
        </p:spPr>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Rectangle 2"/>
          <p:cNvSpPr>
            <a:spLocks noGrp="1"/>
          </p:cNvSpPr>
          <p:nvPr>
            <p:ph type="title"/>
          </p:nvPr>
        </p:nvSpPr>
        <p:spPr>
          <a:xfrm>
            <a:off x="434975" y="369888"/>
            <a:ext cx="7772400" cy="1143000"/>
          </a:xfrm>
          <a:noFill/>
          <a:ln>
            <a:noFill/>
          </a:ln>
        </p:spPr>
        <p:txBody>
          <a:bodyPr anchor="t"/>
          <a:p>
            <a:pPr eaLnBrk="1" hangingPunct="1">
              <a:buNone/>
            </a:pPr>
            <a:r>
              <a:rPr lang="zh-CN" altLang="en-US" sz="3600" dirty="0">
                <a:solidFill>
                  <a:srgbClr val="0000FF"/>
                </a:solidFill>
                <a:latin typeface="微软雅黑" panose="020B0503020204020204" charset="-122"/>
                <a:ea typeface="微软雅黑" panose="020B0503020204020204" charset="-122"/>
              </a:rPr>
              <a:t>反码表示法</a:t>
            </a:r>
            <a:endParaRPr lang="zh-CN" altLang="en-US" sz="3600" dirty="0">
              <a:solidFill>
                <a:srgbClr val="0000FF"/>
              </a:solidFill>
              <a:latin typeface="微软雅黑" panose="020B0503020204020204" charset="-122"/>
              <a:ea typeface="微软雅黑" panose="020B0503020204020204" charset="-122"/>
            </a:endParaRPr>
          </a:p>
        </p:txBody>
      </p:sp>
      <p:sp>
        <p:nvSpPr>
          <p:cNvPr id="43010" name="Text Box 6"/>
          <p:cNvSpPr txBox="1"/>
          <p:nvPr/>
        </p:nvSpPr>
        <p:spPr>
          <a:xfrm>
            <a:off x="723900" y="1533525"/>
            <a:ext cx="184150" cy="457200"/>
          </a:xfrm>
          <a:prstGeom prst="rect">
            <a:avLst/>
          </a:prstGeom>
          <a:noFill/>
          <a:ln w="9525">
            <a:noFill/>
          </a:ln>
        </p:spPr>
        <p:txBody>
          <a:bodyPr wrap="none" anchor="t">
            <a:spAutoFit/>
          </a:bodyPr>
          <a:p>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19463" name="Text Box 7"/>
          <p:cNvSpPr txBox="1">
            <a:spLocks noChangeArrowheads="1"/>
          </p:cNvSpPr>
          <p:nvPr/>
        </p:nvSpPr>
        <p:spPr bwMode="auto">
          <a:xfrm>
            <a:off x="434975" y="1284288"/>
            <a:ext cx="8458200" cy="984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buClrTx/>
              <a:buSzTx/>
              <a:buFontTx/>
              <a:defRPr/>
            </a:pPr>
            <a:r>
              <a:rPr kumimoji="1" lang="zh-CN" altLang="en-US" sz="2400"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rPr>
              <a:t>（</a:t>
            </a:r>
            <a:r>
              <a:rPr kumimoji="1" lang="en-US" altLang="zh-CN" sz="2400"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rPr>
              <a:t>1</a:t>
            </a:r>
            <a:r>
              <a:rPr kumimoji="1" lang="zh-CN" altLang="en-US" sz="2400"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rPr>
              <a:t>）反码定义：</a:t>
            </a:r>
            <a:endParaRPr kumimoji="1" lang="zh-CN" altLang="en-US" sz="2400" b="1" kern="1200" cap="none" spc="0" normalizeH="0" baseline="0" noProof="0" dirty="0">
              <a:solidFill>
                <a:schemeClr val="tx2"/>
              </a:solidFill>
              <a:effectLst>
                <a:outerShdw blurRad="38100" dist="38100" dir="2700000" algn="tl">
                  <a:srgbClr val="C0C0C0"/>
                </a:outerShdw>
              </a:effectLst>
              <a:latin typeface="微软雅黑" panose="020B0503020204020204" charset="-122"/>
              <a:ea typeface="微软雅黑" panose="020B0503020204020204" charset="-122"/>
              <a:cs typeface="+mn-cs"/>
            </a:endParaRPr>
          </a:p>
          <a:p>
            <a:pPr marR="0" defTabSz="914400">
              <a:spcBef>
                <a:spcPts val="1200"/>
              </a:spcBef>
              <a:buClrTx/>
              <a:buSzTx/>
              <a:buFontTx/>
              <a:defRPr/>
            </a:pPr>
            <a:r>
              <a:rPr kumimoji="1" lang="zh-CN" altLang="en-US" sz="2400" b="1" kern="1200" cap="none" spc="0" normalizeH="0" baseline="0" noProof="0" dirty="0">
                <a:solidFill>
                  <a:srgbClr val="FF3300"/>
                </a:solidFill>
                <a:effectLst>
                  <a:outerShdw blurRad="38100" dist="38100" dir="2700000" algn="tl">
                    <a:srgbClr val="C0C0C0"/>
                  </a:outerShdw>
                </a:effectLst>
                <a:latin typeface="微软雅黑" panose="020B0503020204020204" charset="-122"/>
                <a:ea typeface="微软雅黑" panose="020B0503020204020204" charset="-122"/>
                <a:cs typeface="+mn-cs"/>
              </a:rPr>
              <a:t>     </a:t>
            </a:r>
            <a:r>
              <a:rPr kumimoji="1" lang="en-US" altLang="zh-CN" sz="2400" b="1" kern="1200" cap="none" spc="0" normalizeH="0" baseline="0" noProof="0" dirty="0">
                <a:solidFill>
                  <a:srgbClr val="FF3300"/>
                </a:solidFill>
                <a:effectLst>
                  <a:outerShdw blurRad="38100" dist="38100" dir="2700000" algn="tl">
                    <a:srgbClr val="C0C0C0"/>
                  </a:outerShdw>
                </a:effectLst>
                <a:latin typeface="微软雅黑" panose="020B0503020204020204" charset="-122"/>
                <a:ea typeface="微软雅黑" panose="020B0503020204020204" charset="-122"/>
                <a:cs typeface="+mn-cs"/>
              </a:rPr>
              <a:t>n</a:t>
            </a:r>
            <a:r>
              <a:rPr kumimoji="1" lang="zh-CN" altLang="en-US" sz="2400" b="1" kern="1200" cap="none" spc="0" normalizeH="0" baseline="0" noProof="0" dirty="0">
                <a:solidFill>
                  <a:srgbClr val="FF3300"/>
                </a:solidFill>
                <a:effectLst>
                  <a:outerShdw blurRad="38100" dist="38100" dir="2700000" algn="tl">
                    <a:srgbClr val="C0C0C0"/>
                  </a:outerShdw>
                </a:effectLst>
                <a:latin typeface="微软雅黑" panose="020B0503020204020204" charset="-122"/>
                <a:ea typeface="微软雅黑" panose="020B0503020204020204" charset="-122"/>
                <a:cs typeface="+mn-cs"/>
              </a:rPr>
              <a:t>位二进制定点整数反码（包括一位符号位）：</a:t>
            </a:r>
            <a:endParaRPr kumimoji="1" lang="zh-CN" altLang="en-US" sz="2400" b="1" kern="1200" cap="none" spc="0" normalizeH="0" baseline="0" noProof="0" dirty="0">
              <a:solidFill>
                <a:srgbClr val="FF3300"/>
              </a:solidFill>
              <a:effectLst>
                <a:outerShdw blurRad="38100" dist="38100" dir="2700000" algn="tl">
                  <a:srgbClr val="C0C0C0"/>
                </a:outerShdw>
              </a:effectLst>
              <a:latin typeface="微软雅黑" panose="020B0503020204020204" charset="-122"/>
              <a:ea typeface="微软雅黑" panose="020B0503020204020204" charset="-122"/>
              <a:cs typeface="+mn-cs"/>
            </a:endParaRPr>
          </a:p>
        </p:txBody>
      </p:sp>
      <p:sp>
        <p:nvSpPr>
          <p:cNvPr id="43012" name="Text Box 8"/>
          <p:cNvSpPr txBox="1"/>
          <p:nvPr/>
        </p:nvSpPr>
        <p:spPr>
          <a:xfrm>
            <a:off x="1120775" y="4238625"/>
            <a:ext cx="1109663" cy="519113"/>
          </a:xfrm>
          <a:prstGeom prst="rect">
            <a:avLst/>
          </a:prstGeom>
          <a:noFill/>
          <a:ln w="9525">
            <a:noFill/>
          </a:ln>
        </p:spPr>
        <p:txBody>
          <a:bodyPr anchor="t">
            <a:spAutoFit/>
          </a:bodyPr>
          <a:p>
            <a:pPr>
              <a:buSzTx/>
            </a:pPr>
            <a:r>
              <a:rPr lang="en-US" altLang="zh-CN" sz="2800" b="1" dirty="0">
                <a:solidFill>
                  <a:schemeClr val="tx1"/>
                </a:solidFill>
                <a:latin typeface="Arial" panose="020B0604020202020204" pitchFamily="34" charset="0"/>
                <a:ea typeface="楷体_GB2312" pitchFamily="49" charset="-122"/>
              </a:rPr>
              <a:t>[X]</a:t>
            </a:r>
            <a:r>
              <a:rPr lang="zh-CN" altLang="en-US" sz="2800" b="1" baseline="-25000" dirty="0">
                <a:solidFill>
                  <a:schemeClr val="tx1"/>
                </a:solidFill>
                <a:latin typeface="Arial" panose="020B0604020202020204" pitchFamily="34" charset="0"/>
                <a:ea typeface="楷体_GB2312" pitchFamily="49" charset="-122"/>
              </a:rPr>
              <a:t>反</a:t>
            </a:r>
            <a:r>
              <a:rPr lang="en-US" altLang="zh-CN" sz="2800" b="1" dirty="0">
                <a:solidFill>
                  <a:schemeClr val="tx1"/>
                </a:solidFill>
                <a:latin typeface="Arial" panose="020B0604020202020204" pitchFamily="34" charset="0"/>
                <a:ea typeface="楷体_GB2312" pitchFamily="49" charset="-122"/>
              </a:rPr>
              <a:t>=</a:t>
            </a:r>
            <a:endParaRPr lang="en-US" altLang="zh-CN" sz="2800" b="1" dirty="0">
              <a:solidFill>
                <a:schemeClr val="tx1"/>
              </a:solidFill>
              <a:latin typeface="Arial" panose="020B0604020202020204" pitchFamily="34" charset="0"/>
              <a:ea typeface="楷体_GB2312" pitchFamily="49" charset="-122"/>
            </a:endParaRPr>
          </a:p>
        </p:txBody>
      </p:sp>
      <p:sp>
        <p:nvSpPr>
          <p:cNvPr id="43013" name="Text Box 9"/>
          <p:cNvSpPr txBox="1"/>
          <p:nvPr/>
        </p:nvSpPr>
        <p:spPr>
          <a:xfrm>
            <a:off x="2754313" y="3998913"/>
            <a:ext cx="3744912" cy="519112"/>
          </a:xfrm>
          <a:prstGeom prst="rect">
            <a:avLst/>
          </a:prstGeom>
          <a:noFill/>
          <a:ln w="9525">
            <a:noFill/>
          </a:ln>
        </p:spPr>
        <p:txBody>
          <a:bodyPr wrap="none" anchor="t">
            <a:spAutoFit/>
          </a:bodyPr>
          <a:p>
            <a:r>
              <a:rPr lang="en-US" altLang="zh-CN" sz="2800" b="1" dirty="0">
                <a:solidFill>
                  <a:schemeClr val="tx1"/>
                </a:solidFill>
                <a:latin typeface="Arial" panose="020B0604020202020204" pitchFamily="34" charset="0"/>
                <a:ea typeface="宋体" panose="02010600030101010101" pitchFamily="2" charset="-122"/>
              </a:rPr>
              <a:t>X                     0&lt;=</a:t>
            </a:r>
            <a:r>
              <a:rPr lang="en-US" altLang="zh-CN" sz="2800" b="1" dirty="0">
                <a:solidFill>
                  <a:schemeClr val="tx1"/>
                </a:solidFill>
                <a:latin typeface="Arial" panose="020B0604020202020204" pitchFamily="34" charset="0"/>
                <a:ea typeface="楷体_GB2312"/>
              </a:rPr>
              <a:t>X</a:t>
            </a:r>
            <a:r>
              <a:rPr lang="en-US" altLang="zh-CN" sz="2800" b="1" dirty="0">
                <a:solidFill>
                  <a:schemeClr val="tx1"/>
                </a:solidFill>
                <a:latin typeface="Arial" panose="020B0604020202020204" pitchFamily="34" charset="0"/>
                <a:ea typeface="宋体" panose="02010600030101010101" pitchFamily="2" charset="-122"/>
              </a:rPr>
              <a:t>&lt;1</a:t>
            </a:r>
            <a:endParaRPr lang="en-US" altLang="zh-CN" sz="2800" b="1" dirty="0">
              <a:solidFill>
                <a:schemeClr val="tx1"/>
              </a:solidFill>
              <a:latin typeface="Arial" panose="020B0604020202020204" pitchFamily="34" charset="0"/>
              <a:ea typeface="宋体" panose="02010600030101010101" pitchFamily="2" charset="-122"/>
            </a:endParaRPr>
          </a:p>
        </p:txBody>
      </p:sp>
      <p:sp>
        <p:nvSpPr>
          <p:cNvPr id="43014" name="Text Box 10"/>
          <p:cNvSpPr txBox="1"/>
          <p:nvPr/>
        </p:nvSpPr>
        <p:spPr>
          <a:xfrm>
            <a:off x="2538413" y="4710113"/>
            <a:ext cx="4070350" cy="519112"/>
          </a:xfrm>
          <a:prstGeom prst="rect">
            <a:avLst/>
          </a:prstGeom>
          <a:noFill/>
          <a:ln w="9525">
            <a:noFill/>
          </a:ln>
        </p:spPr>
        <p:txBody>
          <a:bodyPr wrap="none" anchor="t">
            <a:spAutoFit/>
          </a:bodyPr>
          <a:p>
            <a:r>
              <a:rPr lang="en-US" altLang="zh-CN" sz="2800" b="1" dirty="0">
                <a:solidFill>
                  <a:schemeClr val="tx1"/>
                </a:solidFill>
                <a:latin typeface="Arial" panose="020B0604020202020204" pitchFamily="34" charset="0"/>
                <a:ea typeface="宋体" panose="02010600030101010101" pitchFamily="2" charset="-122"/>
              </a:rPr>
              <a:t>(2-2</a:t>
            </a:r>
            <a:r>
              <a:rPr lang="en-US" altLang="zh-CN" sz="2800" b="1" baseline="30000" dirty="0">
                <a:solidFill>
                  <a:schemeClr val="tx1"/>
                </a:solidFill>
                <a:latin typeface="Arial" panose="020B0604020202020204" pitchFamily="34" charset="0"/>
                <a:ea typeface="宋体" panose="02010600030101010101" pitchFamily="2" charset="-122"/>
              </a:rPr>
              <a:t>-n</a:t>
            </a:r>
            <a:r>
              <a:rPr lang="en-US" altLang="zh-CN" sz="2800" b="1" dirty="0">
                <a:solidFill>
                  <a:schemeClr val="tx1"/>
                </a:solidFill>
                <a:latin typeface="Arial" panose="020B0604020202020204" pitchFamily="34" charset="0"/>
                <a:ea typeface="宋体" panose="02010600030101010101" pitchFamily="2" charset="-122"/>
              </a:rPr>
              <a:t>)+X</a:t>
            </a:r>
            <a:r>
              <a:rPr lang="en-US" altLang="zh-CN" sz="2800" b="1" dirty="0">
                <a:solidFill>
                  <a:schemeClr val="tx1"/>
                </a:solidFill>
                <a:latin typeface="Arial" panose="020B0604020202020204" pitchFamily="34" charset="0"/>
                <a:ea typeface="楷体_GB2312"/>
              </a:rPr>
              <a:t>          </a:t>
            </a:r>
            <a:r>
              <a:rPr lang="en-US" altLang="zh-CN" sz="2800" b="1" dirty="0">
                <a:solidFill>
                  <a:schemeClr val="tx1"/>
                </a:solidFill>
                <a:latin typeface="Arial" panose="020B0604020202020204" pitchFamily="34" charset="0"/>
                <a:ea typeface="宋体" panose="02010600030101010101" pitchFamily="2" charset="-122"/>
              </a:rPr>
              <a:t> -1&lt;</a:t>
            </a:r>
            <a:r>
              <a:rPr lang="en-US" altLang="zh-CN" sz="2800" b="1" dirty="0">
                <a:solidFill>
                  <a:schemeClr val="tx1"/>
                </a:solidFill>
                <a:latin typeface="Arial" panose="020B0604020202020204" pitchFamily="34" charset="0"/>
                <a:ea typeface="楷体_GB2312"/>
              </a:rPr>
              <a:t>X</a:t>
            </a:r>
            <a:r>
              <a:rPr lang="en-US" altLang="zh-CN" sz="2800" b="1" dirty="0">
                <a:solidFill>
                  <a:schemeClr val="tx1"/>
                </a:solidFill>
                <a:latin typeface="Arial" panose="020B0604020202020204" pitchFamily="34" charset="0"/>
                <a:ea typeface="宋体" panose="02010600030101010101" pitchFamily="2" charset="-122"/>
              </a:rPr>
              <a:t>&lt;=0</a:t>
            </a:r>
            <a:endParaRPr lang="en-US" altLang="zh-CN" sz="2800" b="1" dirty="0">
              <a:solidFill>
                <a:schemeClr val="tx1"/>
              </a:solidFill>
              <a:latin typeface="Arial" panose="020B0604020202020204" pitchFamily="34" charset="0"/>
              <a:ea typeface="宋体" panose="02010600030101010101" pitchFamily="2" charset="-122"/>
            </a:endParaRPr>
          </a:p>
        </p:txBody>
      </p:sp>
      <p:sp>
        <p:nvSpPr>
          <p:cNvPr id="43015" name="AutoShape 11"/>
          <p:cNvSpPr/>
          <p:nvPr/>
        </p:nvSpPr>
        <p:spPr>
          <a:xfrm>
            <a:off x="2263775" y="4162425"/>
            <a:ext cx="304800" cy="762000"/>
          </a:xfrm>
          <a:prstGeom prst="leftBrace">
            <a:avLst>
              <a:gd name="adj1" fmla="val 20821"/>
              <a:gd name="adj2" fmla="val 50000"/>
            </a:avLst>
          </a:prstGeom>
          <a:noFill/>
          <a:ln w="38100" cap="flat" cmpd="sng">
            <a:solidFill>
              <a:schemeClr val="tx2"/>
            </a:solidFill>
            <a:prstDash val="solid"/>
            <a:round/>
            <a:headEnd type="none" w="med" len="med"/>
            <a:tailEnd type="none" w="med" len="med"/>
          </a:ln>
        </p:spPr>
        <p:txBody>
          <a:bodyPr wrap="none" anchor="ctr"/>
          <a:p>
            <a:endParaRPr lang="zh-CN" altLang="en-US" dirty="0">
              <a:latin typeface="Arial" panose="020B0604020202020204" pitchFamily="34" charset="0"/>
              <a:ea typeface="华文行楷" panose="02010800040101010101" pitchFamily="2" charset="-122"/>
            </a:endParaRPr>
          </a:p>
        </p:txBody>
      </p:sp>
      <p:sp>
        <p:nvSpPr>
          <p:cNvPr id="19468" name="Text Box 12"/>
          <p:cNvSpPr txBox="1">
            <a:spLocks noChangeArrowheads="1"/>
          </p:cNvSpPr>
          <p:nvPr/>
        </p:nvSpPr>
        <p:spPr bwMode="auto">
          <a:xfrm>
            <a:off x="968375" y="3543300"/>
            <a:ext cx="37861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eaLnBrk="1" hangingPunct="1">
              <a:defRPr kumimoji="1" sz="2400" b="1">
                <a:solidFill>
                  <a:srgbClr val="FF3300"/>
                </a:solidFill>
                <a:effectLst>
                  <a:outerShdw blurRad="38100" dist="38100" dir="2700000" algn="tl">
                    <a:srgbClr val="C0C0C0"/>
                  </a:outerShdw>
                </a:effectLst>
                <a:latin typeface="微软雅黑" panose="020B0503020204020204" charset="-122"/>
                <a:ea typeface="微软雅黑" panose="020B0503020204020204"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n</a:t>
            </a:r>
            <a:r>
              <a:rPr kumimoji="1" lang="zh-CN" altLang="en-US" sz="2400"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位二进制定点小数反码：</a:t>
            </a:r>
            <a:endParaRPr kumimoji="1" lang="zh-CN" altLang="en-US" sz="2400"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微软雅黑" panose="020B0503020204020204" charset="-122"/>
              <a:ea typeface="微软雅黑" panose="020B0503020204020204" charset="-122"/>
              <a:cs typeface="+mn-cs"/>
            </a:endParaRPr>
          </a:p>
        </p:txBody>
      </p:sp>
      <p:sp>
        <p:nvSpPr>
          <p:cNvPr id="19469" name="Text Box 13"/>
          <p:cNvSpPr txBox="1">
            <a:spLocks noChangeArrowheads="1"/>
          </p:cNvSpPr>
          <p:nvPr/>
        </p:nvSpPr>
        <p:spPr bwMode="auto">
          <a:xfrm>
            <a:off x="1120775" y="5181600"/>
            <a:ext cx="4964113"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defRPr/>
            </a:pPr>
            <a:r>
              <a:rPr kumimoji="1" lang="zh-CN" altLang="en-US" sz="2400" b="1" kern="1200" cap="none" spc="0" normalizeH="0" baseline="0" noProof="0" dirty="0">
                <a:solidFill>
                  <a:srgbClr val="FF3300"/>
                </a:solidFill>
                <a:effectLst>
                  <a:outerShdw blurRad="38100" dist="38100" dir="2700000" algn="tl">
                    <a:srgbClr val="C0C0C0"/>
                  </a:outerShdw>
                </a:effectLst>
                <a:latin typeface="微软雅黑" panose="020B0503020204020204" charset="-122"/>
                <a:ea typeface="微软雅黑" panose="020B0503020204020204" charset="-122"/>
                <a:cs typeface="+mn-cs"/>
              </a:rPr>
              <a:t>例如</a:t>
            </a:r>
            <a:r>
              <a:rPr kumimoji="1" lang="zh-CN" altLang="en-US" sz="2400" b="1" kern="1200" cap="none" spc="0" normalizeH="0" baseline="0" noProof="0" dirty="0">
                <a:effectLst>
                  <a:outerShdw blurRad="38100" dist="38100" dir="2700000" algn="tl">
                    <a:srgbClr val="C0C0C0"/>
                  </a:outerShdw>
                </a:effectLst>
                <a:latin typeface="微软雅黑" panose="020B0503020204020204" charset="-122"/>
                <a:ea typeface="微软雅黑" panose="020B0503020204020204" charset="-122"/>
                <a:cs typeface="+mn-cs"/>
              </a:rPr>
              <a:t>：</a:t>
            </a:r>
            <a:endParaRPr kumimoji="1" lang="zh-CN" altLang="en-US" sz="2400" b="1" kern="1200" cap="none" spc="0" normalizeH="0" baseline="0" noProof="0" dirty="0">
              <a:effectLst>
                <a:outerShdw blurRad="38100" dist="38100" dir="2700000" algn="tl">
                  <a:srgbClr val="C0C0C0"/>
                </a:outerShdw>
              </a:effectLst>
              <a:latin typeface="微软雅黑" panose="020B0503020204020204" charset="-122"/>
              <a:ea typeface="微软雅黑" panose="020B0503020204020204" charset="-122"/>
              <a:cs typeface="+mn-cs"/>
            </a:endParaRPr>
          </a:p>
          <a:p>
            <a:pPr marL="457200" marR="0" lvl="1"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X=+0.1001   </a:t>
            </a:r>
            <a:r>
              <a:rPr kumimoji="1" lang="zh-CN" altLang="en-US" sz="24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则 </a:t>
            </a:r>
            <a:r>
              <a:rPr kumimoji="1" lang="en-US" altLang="zh-CN" sz="24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[X]</a:t>
            </a:r>
            <a:r>
              <a:rPr kumimoji="1" lang="zh-CN" altLang="en-US" sz="2400" b="1" i="0" u="none" strike="noStrike" kern="1200" cap="none" spc="0" normalizeH="0" baseline="-25000" noProof="0" dirty="0">
                <a:ln>
                  <a:noFill/>
                </a:ln>
                <a:solidFill>
                  <a:srgbClr val="0000FF"/>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反</a:t>
            </a:r>
            <a:r>
              <a:rPr kumimoji="1" lang="en-US" altLang="zh-CN" sz="24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a:t>
            </a:r>
            <a:r>
              <a:rPr kumimoji="1" lang="en-US" altLang="zh-CN"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0</a:t>
            </a:r>
            <a:r>
              <a:rPr kumimoji="1" lang="en-US" altLang="zh-CN" sz="24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.1001</a:t>
            </a:r>
            <a:endParaRPr kumimoji="1" lang="en-US" altLang="zh-CN" sz="24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微软雅黑" panose="020B0503020204020204" charset="-122"/>
              <a:ea typeface="微软雅黑" panose="020B0503020204020204" charset="-122"/>
              <a:cs typeface="+mn-cs"/>
            </a:endParaRPr>
          </a:p>
          <a:p>
            <a:pPr marL="457200" marR="0" lvl="1"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Y=-0.1001    </a:t>
            </a:r>
            <a:r>
              <a:rPr kumimoji="1" lang="zh-CN" altLang="en-US" sz="24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则 </a:t>
            </a:r>
            <a:r>
              <a:rPr kumimoji="1" lang="en-US" altLang="zh-CN" sz="24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[Y]</a:t>
            </a:r>
            <a:r>
              <a:rPr kumimoji="1" lang="zh-CN" altLang="en-US" sz="2400" b="1" i="0" u="none" strike="noStrike" kern="1200" cap="none" spc="0" normalizeH="0" baseline="-25000" noProof="0" dirty="0">
                <a:ln>
                  <a:noFill/>
                </a:ln>
                <a:solidFill>
                  <a:srgbClr val="0000FF"/>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反</a:t>
            </a:r>
            <a:r>
              <a:rPr kumimoji="1" lang="en-US" altLang="zh-CN" sz="24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a:t>
            </a:r>
            <a:r>
              <a:rPr kumimoji="1" lang="en-US" altLang="zh-CN"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1</a:t>
            </a:r>
            <a:r>
              <a:rPr kumimoji="1" lang="en-US" altLang="zh-CN" sz="24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.0110</a:t>
            </a:r>
            <a:endParaRPr kumimoji="1" lang="en-US" altLang="zh-CN" sz="24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微软雅黑" panose="020B0503020204020204" charset="-122"/>
              <a:ea typeface="微软雅黑" panose="020B0503020204020204" charset="-122"/>
              <a:cs typeface="+mn-cs"/>
            </a:endParaRPr>
          </a:p>
        </p:txBody>
      </p:sp>
      <p:sp>
        <p:nvSpPr>
          <p:cNvPr id="43018" name="Text Box 14"/>
          <p:cNvSpPr txBox="1"/>
          <p:nvPr/>
        </p:nvSpPr>
        <p:spPr>
          <a:xfrm>
            <a:off x="1120775" y="2509838"/>
            <a:ext cx="1109663" cy="523875"/>
          </a:xfrm>
          <a:prstGeom prst="rect">
            <a:avLst/>
          </a:prstGeom>
          <a:noFill/>
          <a:ln w="9525">
            <a:noFill/>
          </a:ln>
        </p:spPr>
        <p:txBody>
          <a:bodyPr anchor="t">
            <a:spAutoFit/>
          </a:bodyPr>
          <a:p>
            <a:pPr>
              <a:buSzTx/>
            </a:pPr>
            <a:r>
              <a:rPr lang="en-US" altLang="zh-CN" sz="2800" b="1" dirty="0">
                <a:solidFill>
                  <a:schemeClr val="tx1"/>
                </a:solidFill>
                <a:latin typeface="Arial" panose="020B0604020202020204" pitchFamily="34" charset="0"/>
                <a:ea typeface="楷体_GB2312" pitchFamily="49" charset="-122"/>
              </a:rPr>
              <a:t>[X]</a:t>
            </a:r>
            <a:r>
              <a:rPr lang="zh-CN" altLang="en-US" sz="2800" b="1" baseline="-25000" dirty="0">
                <a:solidFill>
                  <a:schemeClr val="tx1"/>
                </a:solidFill>
                <a:latin typeface="Arial" panose="020B0604020202020204" pitchFamily="34" charset="0"/>
                <a:ea typeface="楷体_GB2312" pitchFamily="49" charset="-122"/>
              </a:rPr>
              <a:t>反</a:t>
            </a:r>
            <a:r>
              <a:rPr lang="en-US" altLang="zh-CN" sz="2800" b="1" dirty="0">
                <a:solidFill>
                  <a:schemeClr val="tx1"/>
                </a:solidFill>
                <a:latin typeface="Arial" panose="020B0604020202020204" pitchFamily="34" charset="0"/>
                <a:ea typeface="楷体_GB2312" pitchFamily="49" charset="-122"/>
              </a:rPr>
              <a:t>=</a:t>
            </a:r>
            <a:endParaRPr lang="en-US" altLang="zh-CN" sz="2800" b="1" dirty="0">
              <a:solidFill>
                <a:schemeClr val="tx1"/>
              </a:solidFill>
              <a:latin typeface="Arial" panose="020B0604020202020204" pitchFamily="34" charset="0"/>
              <a:ea typeface="楷体_GB2312" pitchFamily="49" charset="-122"/>
            </a:endParaRPr>
          </a:p>
        </p:txBody>
      </p:sp>
      <p:sp>
        <p:nvSpPr>
          <p:cNvPr id="43019" name="Text Box 15"/>
          <p:cNvSpPr txBox="1"/>
          <p:nvPr/>
        </p:nvSpPr>
        <p:spPr>
          <a:xfrm>
            <a:off x="2797175" y="2314575"/>
            <a:ext cx="4267200" cy="519113"/>
          </a:xfrm>
          <a:prstGeom prst="rect">
            <a:avLst/>
          </a:prstGeom>
          <a:noFill/>
          <a:ln w="9525">
            <a:noFill/>
          </a:ln>
        </p:spPr>
        <p:txBody>
          <a:bodyPr anchor="t">
            <a:spAutoFit/>
          </a:bodyPr>
          <a:p>
            <a:r>
              <a:rPr lang="en-US" altLang="zh-CN" sz="2800" b="1" dirty="0">
                <a:solidFill>
                  <a:schemeClr val="tx1"/>
                </a:solidFill>
                <a:latin typeface="Arial" panose="020B0604020202020204" pitchFamily="34" charset="0"/>
                <a:ea typeface="宋体" panose="02010600030101010101" pitchFamily="2" charset="-122"/>
              </a:rPr>
              <a:t>X                  0&lt;=</a:t>
            </a:r>
            <a:r>
              <a:rPr lang="en-US" altLang="zh-CN" sz="2800" b="1" dirty="0">
                <a:solidFill>
                  <a:schemeClr val="tx1"/>
                </a:solidFill>
                <a:latin typeface="Arial" panose="020B0604020202020204" pitchFamily="34" charset="0"/>
                <a:ea typeface="楷体_GB2312"/>
              </a:rPr>
              <a:t>X</a:t>
            </a:r>
            <a:r>
              <a:rPr lang="en-US" altLang="zh-CN" sz="2800" b="1" dirty="0">
                <a:solidFill>
                  <a:schemeClr val="tx1"/>
                </a:solidFill>
                <a:latin typeface="Arial" panose="020B0604020202020204" pitchFamily="34" charset="0"/>
                <a:ea typeface="宋体" panose="02010600030101010101" pitchFamily="2" charset="-122"/>
              </a:rPr>
              <a:t>&lt;2</a:t>
            </a:r>
            <a:r>
              <a:rPr lang="en-US" altLang="zh-CN" sz="2800" b="1" baseline="30000" dirty="0">
                <a:solidFill>
                  <a:schemeClr val="tx1"/>
                </a:solidFill>
                <a:latin typeface="Arial" panose="020B0604020202020204" pitchFamily="34" charset="0"/>
                <a:ea typeface="宋体" panose="02010600030101010101" pitchFamily="2" charset="-122"/>
              </a:rPr>
              <a:t>n-1</a:t>
            </a:r>
            <a:r>
              <a:rPr lang="en-US" altLang="zh-CN" sz="2800" b="1" dirty="0">
                <a:solidFill>
                  <a:schemeClr val="tx1"/>
                </a:solidFill>
                <a:latin typeface="Arial" panose="020B0604020202020204" pitchFamily="34" charset="0"/>
                <a:ea typeface="宋体" panose="02010600030101010101" pitchFamily="2" charset="-122"/>
              </a:rPr>
              <a:t>-1</a:t>
            </a:r>
            <a:endParaRPr lang="en-US" altLang="zh-CN" sz="2800" b="1" dirty="0">
              <a:solidFill>
                <a:schemeClr val="tx1"/>
              </a:solidFill>
              <a:latin typeface="Arial" panose="020B0604020202020204" pitchFamily="34" charset="0"/>
              <a:ea typeface="宋体" panose="02010600030101010101" pitchFamily="2" charset="-122"/>
            </a:endParaRPr>
          </a:p>
        </p:txBody>
      </p:sp>
      <p:sp>
        <p:nvSpPr>
          <p:cNvPr id="43020" name="Text Box 16"/>
          <p:cNvSpPr txBox="1"/>
          <p:nvPr/>
        </p:nvSpPr>
        <p:spPr>
          <a:xfrm>
            <a:off x="2538413" y="2981325"/>
            <a:ext cx="4216400" cy="519113"/>
          </a:xfrm>
          <a:prstGeom prst="rect">
            <a:avLst/>
          </a:prstGeom>
          <a:noFill/>
          <a:ln w="9525">
            <a:noFill/>
          </a:ln>
        </p:spPr>
        <p:txBody>
          <a:bodyPr wrap="none" anchor="t">
            <a:spAutoFit/>
          </a:bodyPr>
          <a:p>
            <a:pPr>
              <a:buSzTx/>
            </a:pPr>
            <a:r>
              <a:rPr lang="en-US" altLang="zh-CN" sz="2800" b="1">
                <a:solidFill>
                  <a:schemeClr val="tx1"/>
                </a:solidFill>
                <a:latin typeface="Arial" panose="020B0604020202020204" pitchFamily="34" charset="0"/>
                <a:ea typeface="宋体" panose="02010600030101010101" pitchFamily="2" charset="-122"/>
              </a:rPr>
              <a:t>(2</a:t>
            </a:r>
            <a:r>
              <a:rPr lang="en-US" altLang="zh-CN" sz="2800" b="1" baseline="30000">
                <a:solidFill>
                  <a:schemeClr val="tx1"/>
                </a:solidFill>
                <a:latin typeface="Arial" panose="020B0604020202020204" pitchFamily="34" charset="0"/>
                <a:ea typeface="宋体" panose="02010600030101010101" pitchFamily="2" charset="-122"/>
              </a:rPr>
              <a:t>n+1</a:t>
            </a:r>
            <a:r>
              <a:rPr lang="en-US" altLang="zh-CN" sz="2800" b="1">
                <a:solidFill>
                  <a:schemeClr val="tx1"/>
                </a:solidFill>
                <a:latin typeface="Arial" panose="020B0604020202020204" pitchFamily="34" charset="0"/>
                <a:ea typeface="宋体" panose="02010600030101010101" pitchFamily="2" charset="-122"/>
              </a:rPr>
              <a:t>-1)+X       -2</a:t>
            </a:r>
            <a:r>
              <a:rPr lang="en-US" altLang="zh-CN" sz="2800" b="1" baseline="30000">
                <a:solidFill>
                  <a:schemeClr val="tx1"/>
                </a:solidFill>
                <a:latin typeface="Arial" panose="020B0604020202020204" pitchFamily="34" charset="0"/>
                <a:ea typeface="宋体" panose="02010600030101010101" pitchFamily="2" charset="-122"/>
              </a:rPr>
              <a:t>n</a:t>
            </a:r>
            <a:r>
              <a:rPr lang="en-US" altLang="zh-CN" sz="2800" b="1">
                <a:solidFill>
                  <a:schemeClr val="tx1"/>
                </a:solidFill>
                <a:latin typeface="Arial" panose="020B0604020202020204" pitchFamily="34" charset="0"/>
                <a:ea typeface="宋体" panose="02010600030101010101" pitchFamily="2" charset="-122"/>
              </a:rPr>
              <a:t>&lt;</a:t>
            </a:r>
            <a:r>
              <a:rPr lang="en-US" altLang="zh-CN" sz="2800" b="1">
                <a:solidFill>
                  <a:schemeClr val="tx1"/>
                </a:solidFill>
                <a:latin typeface="Arial" panose="020B0604020202020204" pitchFamily="34" charset="0"/>
                <a:ea typeface="楷体_GB2312" pitchFamily="49" charset="-122"/>
              </a:rPr>
              <a:t>X</a:t>
            </a:r>
            <a:r>
              <a:rPr lang="en-US" altLang="zh-CN" sz="2800" b="1">
                <a:solidFill>
                  <a:schemeClr val="tx1"/>
                </a:solidFill>
                <a:latin typeface="Arial" panose="020B0604020202020204" pitchFamily="34" charset="0"/>
                <a:ea typeface="宋体" panose="02010600030101010101" pitchFamily="2" charset="-122"/>
              </a:rPr>
              <a:t>&lt; = 0</a:t>
            </a:r>
            <a:endParaRPr lang="en-US" altLang="zh-CN" sz="2800" b="1">
              <a:solidFill>
                <a:schemeClr val="tx1"/>
              </a:solidFill>
              <a:latin typeface="Arial" panose="020B0604020202020204" pitchFamily="34" charset="0"/>
              <a:ea typeface="宋体" panose="02010600030101010101" pitchFamily="2" charset="-122"/>
            </a:endParaRPr>
          </a:p>
        </p:txBody>
      </p:sp>
      <p:sp>
        <p:nvSpPr>
          <p:cNvPr id="43021" name="AutoShape 17"/>
          <p:cNvSpPr/>
          <p:nvPr/>
        </p:nvSpPr>
        <p:spPr>
          <a:xfrm>
            <a:off x="2263775" y="2433638"/>
            <a:ext cx="304800" cy="762000"/>
          </a:xfrm>
          <a:prstGeom prst="leftBrace">
            <a:avLst>
              <a:gd name="adj1" fmla="val 20821"/>
              <a:gd name="adj2" fmla="val 50000"/>
            </a:avLst>
          </a:prstGeom>
          <a:noFill/>
          <a:ln w="38100" cap="flat" cmpd="sng">
            <a:solidFill>
              <a:schemeClr val="tx2"/>
            </a:solidFill>
            <a:prstDash val="solid"/>
            <a:round/>
            <a:headEnd type="none" w="med" len="med"/>
            <a:tailEnd type="none" w="med" len="med"/>
          </a:ln>
        </p:spPr>
        <p:txBody>
          <a:bodyPr wrap="none" anchor="ctr"/>
          <a:p>
            <a:endParaRPr lang="zh-CN" altLang="en-US" dirty="0">
              <a:latin typeface="Arial" panose="020B0604020202020204" pitchFamily="34" charset="0"/>
              <a:ea typeface="华文行楷" panose="0201080004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Rectangle 2"/>
          <p:cNvSpPr>
            <a:spLocks noGrp="1"/>
          </p:cNvSpPr>
          <p:nvPr>
            <p:ph type="title"/>
          </p:nvPr>
        </p:nvSpPr>
        <p:spPr>
          <a:xfrm>
            <a:off x="287338" y="323850"/>
            <a:ext cx="7772400" cy="896938"/>
          </a:xfrm>
          <a:prstGeom prst="rect">
            <a:avLst/>
          </a:prstGeom>
          <a:noFill/>
          <a:ln w="9525">
            <a:noFill/>
          </a:ln>
        </p:spPr>
        <p:txBody>
          <a:bodyPr anchor="t"/>
          <a:p>
            <a:pPr eaLnBrk="1" hangingPunct="1">
              <a:buNone/>
            </a:pPr>
            <a:r>
              <a:rPr lang="zh-CN" altLang="en-US" sz="3600" dirty="0">
                <a:solidFill>
                  <a:srgbClr val="0000FF"/>
                </a:solidFill>
                <a:latin typeface="微软雅黑" panose="020B0503020204020204" charset="-122"/>
                <a:ea typeface="微软雅黑" panose="020B0503020204020204" charset="-122"/>
              </a:rPr>
              <a:t>反码表示法</a:t>
            </a:r>
            <a:endParaRPr lang="zh-CN" altLang="en-US" sz="3600" dirty="0">
              <a:solidFill>
                <a:srgbClr val="0000FF"/>
              </a:solidFill>
              <a:latin typeface="微软雅黑" panose="020B0503020204020204" charset="-122"/>
              <a:ea typeface="微软雅黑" panose="020B0503020204020204" charset="-122"/>
            </a:endParaRPr>
          </a:p>
        </p:txBody>
      </p:sp>
      <p:sp>
        <p:nvSpPr>
          <p:cNvPr id="44035" name="Rectangle 3"/>
          <p:cNvSpPr>
            <a:spLocks noGrp="1"/>
          </p:cNvSpPr>
          <p:nvPr>
            <p:ph type="body" idx="4294967295"/>
          </p:nvPr>
        </p:nvSpPr>
        <p:spPr>
          <a:xfrm>
            <a:off x="468313" y="1296988"/>
            <a:ext cx="7772400" cy="4795838"/>
          </a:xfrm>
          <a:prstGeom prst="rect">
            <a:avLst/>
          </a:prstGeom>
          <a:noFill/>
          <a:ln w="9525" cap="flat" cmpd="sng" algn="ctr">
            <a:noFill/>
            <a:prstDash val="solid"/>
          </a:ln>
        </p:spPr>
        <p:txBody>
          <a:bodyPr/>
          <a:p>
            <a:pPr marL="114300" marR="0" indent="-457200" algn="just" defTabSz="914400" rtl="0" eaLnBrk="1" fontAlgn="base" latinLnBrk="0" hangingPunct="1">
              <a:lnSpc>
                <a:spcPct val="100000"/>
              </a:lnSpc>
              <a:spcBef>
                <a:spcPct val="20000"/>
              </a:spcBef>
              <a:spcAft>
                <a:spcPct val="0"/>
              </a:spcAft>
              <a:buClr>
                <a:srgbClr val="3C5713"/>
              </a:buClr>
              <a:buSzTx/>
              <a:buFont typeface="Wingdings" panose="05000000000000000000" charset="0"/>
              <a:buChar char="u"/>
            </a:pPr>
            <a:r>
              <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对于正数，数值部分与真值形式相同；对于负数，将真值的数值部分按位取反。</a:t>
            </a:r>
            <a:endPar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endParaRPr>
          </a:p>
          <a:p>
            <a:pPr marL="114300" marR="0" indent="-457200" algn="just" defTabSz="914400" rtl="0" eaLnBrk="1" fontAlgn="base" latinLnBrk="0" hangingPunct="1">
              <a:lnSpc>
                <a:spcPct val="100000"/>
              </a:lnSpc>
              <a:spcBef>
                <a:spcPct val="20000"/>
              </a:spcBef>
              <a:spcAft>
                <a:spcPct val="0"/>
              </a:spcAft>
              <a:buClr>
                <a:schemeClr val="hlink"/>
              </a:buClr>
              <a:buSzTx/>
              <a:buFontTx/>
              <a:buNone/>
            </a:pPr>
            <a:r>
              <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        </a:t>
            </a:r>
            <a:endPar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endParaRPr>
          </a:p>
          <a:p>
            <a:pPr marL="114300" marR="0" indent="-457200" algn="just" defTabSz="914400" rtl="0" eaLnBrk="1" fontAlgn="base" latinLnBrk="0" hangingPunct="1">
              <a:lnSpc>
                <a:spcPct val="100000"/>
              </a:lnSpc>
              <a:spcBef>
                <a:spcPct val="20000"/>
              </a:spcBef>
              <a:spcAft>
                <a:spcPct val="0"/>
              </a:spcAft>
              <a:buClr>
                <a:srgbClr val="3C5713"/>
              </a:buClr>
              <a:buSzTx/>
              <a:buFont typeface="Wingdings" panose="05000000000000000000" charset="0"/>
              <a:buChar char="u"/>
            </a:pPr>
            <a:r>
              <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若真值为</a:t>
            </a:r>
            <a:r>
              <a:rPr kumimoji="0" lang="zh-CN" altLang="en-US" sz="2800" b="1" i="0" u="none" strike="noStrike" kern="0" cap="none" spc="0" normalizeH="0" baseline="0" noProof="1" dirty="0">
                <a:solidFill>
                  <a:srgbClr val="FF0000"/>
                </a:solidFill>
                <a:latin typeface="微软雅黑" panose="020B0503020204020204" charset="-122"/>
                <a:ea typeface="微软雅黑" panose="020B0503020204020204" charset="-122"/>
                <a:cs typeface="+mn-cs"/>
              </a:rPr>
              <a:t>纯小数</a:t>
            </a:r>
            <a:r>
              <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，它的反码形式为</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X</a:t>
            </a:r>
            <a:r>
              <a:rPr kumimoji="0" lang="en-US" altLang="zh-CN" sz="2800" b="1" i="0" u="none" strike="noStrike" kern="0" cap="none" spc="0" normalizeH="0" baseline="-30000" noProof="1" dirty="0">
                <a:solidFill>
                  <a:schemeClr val="tx2"/>
                </a:solidFill>
                <a:latin typeface="微软雅黑" panose="020B0503020204020204" charset="-122"/>
                <a:ea typeface="微软雅黑" panose="020B0503020204020204" charset="-122"/>
                <a:cs typeface="+mn-cs"/>
              </a:rPr>
              <a:t>s</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.X</a:t>
            </a:r>
            <a:r>
              <a:rPr kumimoji="0" lang="en-US" altLang="zh-CN" sz="2800" b="1" i="0" u="none" strike="noStrike" kern="0" cap="none" spc="0" normalizeH="0" baseline="-30000" noProof="1" dirty="0">
                <a:solidFill>
                  <a:schemeClr val="tx2"/>
                </a:solidFill>
                <a:latin typeface="微软雅黑" panose="020B0503020204020204" charset="-122"/>
                <a:ea typeface="微软雅黑" panose="020B0503020204020204" charset="-122"/>
                <a:cs typeface="+mn-cs"/>
              </a:rPr>
              <a:t>1</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X</a:t>
            </a:r>
            <a:r>
              <a:rPr kumimoji="0" lang="en-US" altLang="zh-CN" sz="2800" b="1" i="0" u="none" strike="noStrike" kern="0" cap="none" spc="0" normalizeH="0" baseline="-30000" noProof="1" dirty="0">
                <a:solidFill>
                  <a:schemeClr val="tx2"/>
                </a:solidFill>
                <a:latin typeface="微软雅黑" panose="020B0503020204020204" charset="-122"/>
                <a:ea typeface="微软雅黑" panose="020B0503020204020204" charset="-122"/>
                <a:cs typeface="+mn-cs"/>
              </a:rPr>
              <a:t>2</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…X</a:t>
            </a:r>
            <a:r>
              <a:rPr kumimoji="0" lang="en-US" altLang="zh-CN" sz="2800" b="1" i="0" u="none" strike="noStrike" kern="0" cap="none" spc="0" normalizeH="0" baseline="-30000" noProof="1" dirty="0">
                <a:solidFill>
                  <a:schemeClr val="tx2"/>
                </a:solidFill>
                <a:latin typeface="微软雅黑" panose="020B0503020204020204" charset="-122"/>
                <a:ea typeface="微软雅黑" panose="020B0503020204020204" charset="-122"/>
                <a:cs typeface="+mn-cs"/>
              </a:rPr>
              <a:t>n</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a:t>
            </a:r>
            <a:r>
              <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其中</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X</a:t>
            </a:r>
            <a:r>
              <a:rPr kumimoji="0" lang="en-US" altLang="zh-CN" sz="2800" b="1" i="0" u="none" strike="noStrike" kern="0" cap="none" spc="0" normalizeH="0" baseline="-30000" noProof="1" dirty="0">
                <a:solidFill>
                  <a:schemeClr val="tx2"/>
                </a:solidFill>
                <a:latin typeface="微软雅黑" panose="020B0503020204020204" charset="-122"/>
                <a:ea typeface="微软雅黑" panose="020B0503020204020204" charset="-122"/>
                <a:cs typeface="+mn-cs"/>
              </a:rPr>
              <a:t>s</a:t>
            </a:r>
            <a:r>
              <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表示符号位。</a:t>
            </a:r>
            <a:endPar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endParaRPr>
          </a:p>
          <a:p>
            <a:pPr marL="0" marR="0" indent="-342900" algn="just" defTabSz="914400" rtl="0" eaLnBrk="1" fontAlgn="base" latinLnBrk="0" hangingPunct="1">
              <a:lnSpc>
                <a:spcPct val="100000"/>
              </a:lnSpc>
              <a:spcBef>
                <a:spcPct val="20000"/>
              </a:spcBef>
              <a:spcAft>
                <a:spcPct val="0"/>
              </a:spcAft>
              <a:buClr>
                <a:schemeClr val="hlink"/>
              </a:buClr>
              <a:buSzTx/>
              <a:buFontTx/>
              <a:buNone/>
            </a:pPr>
            <a:endPar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endParaRPr>
          </a:p>
          <a:p>
            <a:pPr marL="0" marR="0" indent="-342900" algn="just" defTabSz="914400" rtl="0" eaLnBrk="1" fontAlgn="base" latinLnBrk="0" hangingPunct="1">
              <a:lnSpc>
                <a:spcPct val="100000"/>
              </a:lnSpc>
              <a:spcBef>
                <a:spcPct val="20000"/>
              </a:spcBef>
              <a:spcAft>
                <a:spcPct val="0"/>
              </a:spcAft>
              <a:buClr>
                <a:schemeClr val="hlink"/>
              </a:buClr>
              <a:buSzTx/>
              <a:buFontTx/>
              <a:buNone/>
            </a:pP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      </a:t>
            </a:r>
            <a:r>
              <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例9：</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X</a:t>
            </a:r>
            <a:r>
              <a:rPr kumimoji="0" lang="en-US" altLang="zh-CN" sz="2800" b="1" i="0" u="none" strike="noStrike" kern="0" cap="none" spc="0" normalizeH="0" baseline="-25000" noProof="1" dirty="0">
                <a:solidFill>
                  <a:schemeClr val="tx2"/>
                </a:solidFill>
                <a:latin typeface="微软雅黑" panose="020B0503020204020204" charset="-122"/>
                <a:ea typeface="微软雅黑" panose="020B0503020204020204" charset="-122"/>
                <a:cs typeface="+mn-cs"/>
              </a:rPr>
              <a:t>1</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=0.0110，    [X</a:t>
            </a:r>
            <a:r>
              <a:rPr kumimoji="0" lang="en-US" altLang="zh-CN" sz="2800" b="1" i="0" u="none" strike="noStrike" kern="0" cap="none" spc="0" normalizeH="0" baseline="-25000" noProof="1" dirty="0">
                <a:solidFill>
                  <a:schemeClr val="tx2"/>
                </a:solidFill>
                <a:latin typeface="微软雅黑" panose="020B0503020204020204" charset="-122"/>
                <a:ea typeface="微软雅黑" panose="020B0503020204020204" charset="-122"/>
                <a:cs typeface="+mn-cs"/>
              </a:rPr>
              <a:t>1</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a:t>
            </a:r>
            <a:r>
              <a:rPr kumimoji="0" lang="zh-CN" altLang="en-US" sz="2800" b="1" i="0" u="none" strike="noStrike" kern="0" cap="none" spc="0" normalizeH="0" baseline="-30000" noProof="1" dirty="0">
                <a:solidFill>
                  <a:schemeClr val="tx2"/>
                </a:solidFill>
                <a:latin typeface="微软雅黑" panose="020B0503020204020204" charset="-122"/>
                <a:ea typeface="微软雅黑" panose="020B0503020204020204" charset="-122"/>
                <a:cs typeface="+mn-cs"/>
              </a:rPr>
              <a:t>反</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=0.0110</a:t>
            </a:r>
            <a:endPar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endParaRPr>
          </a:p>
          <a:p>
            <a:pPr marL="0" marR="0" indent="-342900" algn="just" defTabSz="914400" rtl="0" eaLnBrk="1" fontAlgn="base" latinLnBrk="0" hangingPunct="1">
              <a:lnSpc>
                <a:spcPct val="100000"/>
              </a:lnSpc>
              <a:spcBef>
                <a:spcPct val="20000"/>
              </a:spcBef>
              <a:spcAft>
                <a:spcPct val="0"/>
              </a:spcAft>
              <a:buClr>
                <a:schemeClr val="hlink"/>
              </a:buClr>
              <a:buSzTx/>
              <a:buFontTx/>
              <a:buNone/>
            </a:pP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               X</a:t>
            </a:r>
            <a:r>
              <a:rPr kumimoji="0" lang="en-US" altLang="zh-CN" sz="2800" b="1" i="0" u="none" strike="noStrike" kern="0" cap="none" spc="0" normalizeH="0" baseline="-25000" noProof="1" dirty="0">
                <a:solidFill>
                  <a:schemeClr val="tx2"/>
                </a:solidFill>
                <a:latin typeface="微软雅黑" panose="020B0503020204020204" charset="-122"/>
                <a:ea typeface="微软雅黑" panose="020B0503020204020204" charset="-122"/>
                <a:cs typeface="+mn-cs"/>
              </a:rPr>
              <a:t>2</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=-0.0110，   [X</a:t>
            </a:r>
            <a:r>
              <a:rPr kumimoji="0" lang="en-US" altLang="zh-CN" sz="2800" b="1" i="0" u="none" strike="noStrike" kern="0" cap="none" spc="0" normalizeH="0" baseline="-25000" noProof="1" dirty="0">
                <a:solidFill>
                  <a:schemeClr val="tx2"/>
                </a:solidFill>
                <a:latin typeface="微软雅黑" panose="020B0503020204020204" charset="-122"/>
                <a:ea typeface="微软雅黑" panose="020B0503020204020204" charset="-122"/>
                <a:cs typeface="+mn-cs"/>
              </a:rPr>
              <a:t>2</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a:t>
            </a:r>
            <a:r>
              <a:rPr kumimoji="0" lang="zh-CN" altLang="en-US" sz="2800" b="1" i="0" u="none" strike="noStrike" kern="0" cap="none" spc="0" normalizeH="0" baseline="-30000" noProof="1" dirty="0">
                <a:solidFill>
                  <a:schemeClr val="tx2"/>
                </a:solidFill>
                <a:latin typeface="微软雅黑" panose="020B0503020204020204" charset="-122"/>
                <a:ea typeface="微软雅黑" panose="020B0503020204020204" charset="-122"/>
                <a:cs typeface="+mn-cs"/>
              </a:rPr>
              <a:t>反</a:t>
            </a:r>
            <a:r>
              <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1.1001</a:t>
            </a:r>
            <a:endPar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Rectangle 2"/>
          <p:cNvSpPr>
            <a:spLocks noGrp="1"/>
          </p:cNvSpPr>
          <p:nvPr>
            <p:ph type="title"/>
          </p:nvPr>
        </p:nvSpPr>
        <p:spPr>
          <a:xfrm>
            <a:off x="250825" y="404813"/>
            <a:ext cx="7772400" cy="1143000"/>
          </a:xfrm>
          <a:noFill/>
          <a:ln>
            <a:noFill/>
          </a:ln>
        </p:spPr>
        <p:txBody>
          <a:bodyPr anchor="t"/>
          <a:p>
            <a:pPr eaLnBrk="1" hangingPunct="1">
              <a:buNone/>
            </a:pPr>
            <a:r>
              <a:rPr lang="zh-CN" altLang="en-US" sz="3600" dirty="0">
                <a:solidFill>
                  <a:srgbClr val="0000FF"/>
                </a:solidFill>
                <a:latin typeface="微软雅黑" panose="020B0503020204020204" charset="-122"/>
                <a:ea typeface="微软雅黑" panose="020B0503020204020204" charset="-122"/>
              </a:rPr>
              <a:t>反码表示法（续）</a:t>
            </a:r>
            <a:endParaRPr lang="zh-CN" altLang="en-US" sz="3600" dirty="0">
              <a:solidFill>
                <a:srgbClr val="0000FF"/>
              </a:solidFill>
              <a:latin typeface="微软雅黑" panose="020B0503020204020204" charset="-122"/>
              <a:ea typeface="微软雅黑" panose="020B0503020204020204" charset="-122"/>
            </a:endParaRPr>
          </a:p>
        </p:txBody>
      </p:sp>
      <p:sp>
        <p:nvSpPr>
          <p:cNvPr id="45059" name="Rectangle 3"/>
          <p:cNvSpPr>
            <a:spLocks noGrp="1"/>
          </p:cNvSpPr>
          <p:nvPr>
            <p:ph idx="1"/>
          </p:nvPr>
        </p:nvSpPr>
        <p:spPr>
          <a:xfrm>
            <a:off x="685800" y="1371600"/>
            <a:ext cx="7772400" cy="4572000"/>
          </a:xfrm>
          <a:noFill/>
          <a:ln>
            <a:noFill/>
          </a:ln>
        </p:spPr>
        <p:txBody>
          <a:bodyPr/>
          <a:p>
            <a:pPr marL="114300" marR="0" indent="-457200" algn="just" defTabSz="914400" rtl="0" eaLnBrk="1" fontAlgn="base" latinLnBrk="0" hangingPunct="1">
              <a:lnSpc>
                <a:spcPct val="100000"/>
              </a:lnSpc>
              <a:spcBef>
                <a:spcPct val="20000"/>
              </a:spcBef>
              <a:spcAft>
                <a:spcPct val="0"/>
              </a:spcAft>
              <a:buClr>
                <a:srgbClr val="3C5713"/>
              </a:buClr>
              <a:buSzTx/>
              <a:buFont typeface="Wingdings" panose="05000000000000000000" charset="0"/>
              <a:buChar char="u"/>
            </a:pPr>
            <a:r>
              <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 若真值为</a:t>
            </a:r>
            <a:r>
              <a:rPr kumimoji="0" lang="zh-CN" altLang="en-US" sz="2800" b="1" i="0" u="none" strike="noStrike" kern="0" cap="none" spc="0" normalizeH="0" baseline="0" noProof="1" dirty="0">
                <a:solidFill>
                  <a:srgbClr val="FF0000"/>
                </a:solidFill>
                <a:latin typeface="微软雅黑" panose="020B0503020204020204" charset="-122"/>
                <a:ea typeface="微软雅黑" panose="020B0503020204020204" charset="-122"/>
                <a:cs typeface="+mn-cs"/>
              </a:rPr>
              <a:t>纯整数</a:t>
            </a:r>
            <a:r>
              <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，它的反码形式为</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X</a:t>
            </a:r>
            <a:r>
              <a:rPr kumimoji="0" lang="en-US" altLang="zh-CN" sz="2800" b="1" i="0" u="none" strike="noStrike" kern="0" cap="none" spc="0" normalizeH="0" baseline="-30000" noProof="1" dirty="0">
                <a:solidFill>
                  <a:schemeClr val="tx2"/>
                </a:solidFill>
                <a:latin typeface="微软雅黑" panose="020B0503020204020204" charset="-122"/>
                <a:ea typeface="微软雅黑" panose="020B0503020204020204" charset="-122"/>
                <a:cs typeface="+mn-cs"/>
              </a:rPr>
              <a:t>s</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X</a:t>
            </a:r>
            <a:r>
              <a:rPr kumimoji="0" lang="en-US" altLang="zh-CN" sz="2800" b="1" i="0" u="none" strike="noStrike" kern="0" cap="none" spc="0" normalizeH="0" baseline="-30000" noProof="1" dirty="0">
                <a:solidFill>
                  <a:schemeClr val="tx2"/>
                </a:solidFill>
                <a:latin typeface="微软雅黑" panose="020B0503020204020204" charset="-122"/>
                <a:ea typeface="微软雅黑" panose="020B0503020204020204" charset="-122"/>
                <a:cs typeface="+mn-cs"/>
              </a:rPr>
              <a:t>1</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X</a:t>
            </a:r>
            <a:r>
              <a:rPr kumimoji="0" lang="en-US" altLang="zh-CN" sz="2800" b="1" i="0" u="none" strike="noStrike" kern="0" cap="none" spc="0" normalizeH="0" baseline="-30000" noProof="1" dirty="0">
                <a:solidFill>
                  <a:schemeClr val="tx2"/>
                </a:solidFill>
                <a:latin typeface="微软雅黑" panose="020B0503020204020204" charset="-122"/>
                <a:ea typeface="微软雅黑" panose="020B0503020204020204" charset="-122"/>
                <a:cs typeface="+mn-cs"/>
              </a:rPr>
              <a:t>2</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…X</a:t>
            </a:r>
            <a:r>
              <a:rPr kumimoji="0" lang="en-US" altLang="zh-CN" sz="2800" b="1" i="0" u="none" strike="noStrike" kern="0" cap="none" spc="0" normalizeH="0" baseline="-30000" noProof="1" dirty="0">
                <a:solidFill>
                  <a:schemeClr val="tx2"/>
                </a:solidFill>
                <a:latin typeface="微软雅黑" panose="020B0503020204020204" charset="-122"/>
                <a:ea typeface="微软雅黑" panose="020B0503020204020204" charset="-122"/>
                <a:cs typeface="+mn-cs"/>
              </a:rPr>
              <a:t>n</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a:t>
            </a:r>
            <a:r>
              <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其中</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X</a:t>
            </a:r>
            <a:r>
              <a:rPr kumimoji="0" lang="en-US" altLang="zh-CN" sz="2800" b="1" i="0" u="none" strike="noStrike" kern="0" cap="none" spc="0" normalizeH="0" baseline="-30000" noProof="1" dirty="0">
                <a:solidFill>
                  <a:schemeClr val="tx2"/>
                </a:solidFill>
                <a:latin typeface="微软雅黑" panose="020B0503020204020204" charset="-122"/>
                <a:ea typeface="微软雅黑" panose="020B0503020204020204" charset="-122"/>
                <a:cs typeface="+mn-cs"/>
              </a:rPr>
              <a:t>s</a:t>
            </a:r>
            <a:r>
              <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表示符号位。</a:t>
            </a:r>
            <a:endPar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endParaRPr>
          </a:p>
          <a:p>
            <a:pPr marL="0" marR="0" indent="-342900" algn="just" defTabSz="914400" rtl="0" eaLnBrk="1" fontAlgn="base" latinLnBrk="0" hangingPunct="1">
              <a:lnSpc>
                <a:spcPct val="100000"/>
              </a:lnSpc>
              <a:spcBef>
                <a:spcPts val="1800"/>
              </a:spcBef>
              <a:spcAft>
                <a:spcPct val="0"/>
              </a:spcAft>
              <a:buClr>
                <a:schemeClr val="hlink"/>
              </a:buClr>
              <a:buSzTx/>
              <a:buFontTx/>
              <a:buNone/>
            </a:pPr>
            <a:r>
              <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     例10：</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X</a:t>
            </a:r>
            <a:r>
              <a:rPr kumimoji="0" lang="en-US" altLang="zh-CN" sz="2400" b="1" i="0" u="none" strike="noStrike" kern="0" cap="none" spc="0" normalizeH="0" baseline="-25000" noProof="1" dirty="0">
                <a:solidFill>
                  <a:schemeClr val="tx2"/>
                </a:solidFill>
                <a:latin typeface="微软雅黑" panose="020B0503020204020204" charset="-122"/>
                <a:ea typeface="微软雅黑" panose="020B0503020204020204" charset="-122"/>
                <a:cs typeface="+mn-cs"/>
              </a:rPr>
              <a:t>1</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=1101，    [X</a:t>
            </a:r>
            <a:r>
              <a:rPr kumimoji="0" lang="en-US" altLang="zh-CN" sz="2400" b="1" i="0" u="none" strike="noStrike" kern="0" cap="none" spc="0" normalizeH="0" baseline="-25000" noProof="1" dirty="0">
                <a:solidFill>
                  <a:schemeClr val="tx2"/>
                </a:solidFill>
                <a:latin typeface="微软雅黑" panose="020B0503020204020204" charset="-122"/>
                <a:ea typeface="微软雅黑" panose="020B0503020204020204" charset="-122"/>
                <a:cs typeface="+mn-cs"/>
              </a:rPr>
              <a:t>1</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a:t>
            </a:r>
            <a:r>
              <a:rPr kumimoji="0" lang="zh-CN" altLang="en-US" sz="2800" b="1" i="0" u="none" strike="noStrike" kern="0" cap="none" spc="0" normalizeH="0" baseline="-30000" noProof="1" dirty="0">
                <a:solidFill>
                  <a:schemeClr val="tx2"/>
                </a:solidFill>
                <a:latin typeface="微软雅黑" panose="020B0503020204020204" charset="-122"/>
                <a:ea typeface="微软雅黑" panose="020B0503020204020204" charset="-122"/>
                <a:cs typeface="+mn-cs"/>
              </a:rPr>
              <a:t>反</a:t>
            </a:r>
            <a:r>
              <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01101</a:t>
            </a:r>
            <a:endPar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endParaRPr>
          </a:p>
          <a:p>
            <a:pPr marL="0" marR="0" indent="-342900" algn="just" defTabSz="914400" rtl="0" eaLnBrk="1" fontAlgn="base" latinLnBrk="0" hangingPunct="1">
              <a:lnSpc>
                <a:spcPct val="100000"/>
              </a:lnSpc>
              <a:spcBef>
                <a:spcPct val="20000"/>
              </a:spcBef>
              <a:spcAft>
                <a:spcPct val="0"/>
              </a:spcAft>
              <a:buClr>
                <a:schemeClr val="hlink"/>
              </a:buClr>
              <a:buSzTx/>
              <a:buFontTx/>
              <a:buNone/>
            </a:pP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                X</a:t>
            </a:r>
            <a:r>
              <a:rPr kumimoji="0" lang="en-US" altLang="zh-CN" sz="2400" b="1" i="0" u="none" strike="noStrike" kern="0" cap="none" spc="0" normalizeH="0" baseline="-25000" noProof="1" dirty="0">
                <a:solidFill>
                  <a:schemeClr val="tx2"/>
                </a:solidFill>
                <a:latin typeface="微软雅黑" panose="020B0503020204020204" charset="-122"/>
                <a:ea typeface="微软雅黑" panose="020B0503020204020204" charset="-122"/>
                <a:cs typeface="+mn-cs"/>
              </a:rPr>
              <a:t>2</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=-1101，   [X</a:t>
            </a:r>
            <a:r>
              <a:rPr kumimoji="0" lang="en-US" altLang="zh-CN" sz="2400" b="1" i="0" u="none" strike="noStrike" kern="0" cap="none" spc="0" normalizeH="0" baseline="-25000" noProof="1" dirty="0">
                <a:solidFill>
                  <a:schemeClr val="tx2"/>
                </a:solidFill>
                <a:latin typeface="微软雅黑" panose="020B0503020204020204" charset="-122"/>
                <a:ea typeface="微软雅黑" panose="020B0503020204020204" charset="-122"/>
                <a:cs typeface="+mn-cs"/>
              </a:rPr>
              <a:t>2</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a:t>
            </a:r>
            <a:r>
              <a:rPr kumimoji="0" lang="zh-CN" altLang="en-US" sz="2800" b="1" i="0" u="none" strike="noStrike" kern="0" cap="none" spc="0" normalizeH="0" baseline="-30000" noProof="1" dirty="0">
                <a:solidFill>
                  <a:schemeClr val="tx2"/>
                </a:solidFill>
                <a:latin typeface="微软雅黑" panose="020B0503020204020204" charset="-122"/>
                <a:ea typeface="微软雅黑" panose="020B0503020204020204" charset="-122"/>
                <a:cs typeface="+mn-cs"/>
              </a:rPr>
              <a:t>反</a:t>
            </a:r>
            <a:r>
              <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a:t>
            </a: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10010</a:t>
            </a:r>
            <a:endPar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endParaRPr>
          </a:p>
          <a:p>
            <a:pPr marL="0" marR="0" indent="-342900" algn="just" defTabSz="914400" rtl="0" eaLnBrk="1" fontAlgn="base" latinLnBrk="0" hangingPunct="1">
              <a:lnSpc>
                <a:spcPct val="100000"/>
              </a:lnSpc>
              <a:spcBef>
                <a:spcPct val="20000"/>
              </a:spcBef>
              <a:spcAft>
                <a:spcPct val="0"/>
              </a:spcAft>
              <a:buClr>
                <a:schemeClr val="hlink"/>
              </a:buClr>
              <a:buSzTx/>
              <a:buFontTx/>
              <a:buNone/>
            </a:pP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       </a:t>
            </a:r>
            <a:endPar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endParaRPr>
          </a:p>
          <a:p>
            <a:pPr marL="114300" marR="0" indent="-457200" algn="just" defTabSz="914400" rtl="0" eaLnBrk="1" fontAlgn="base" latinLnBrk="0" hangingPunct="1">
              <a:lnSpc>
                <a:spcPct val="100000"/>
              </a:lnSpc>
              <a:spcBef>
                <a:spcPct val="20000"/>
              </a:spcBef>
              <a:spcAft>
                <a:spcPct val="0"/>
              </a:spcAft>
              <a:buClr>
                <a:srgbClr val="3C5713"/>
              </a:buClr>
              <a:buSzTx/>
              <a:buFont typeface="Wingdings" panose="05000000000000000000" charset="0"/>
              <a:buChar char="u"/>
            </a:pPr>
            <a:r>
              <a:rPr kumimoji="0" lang="en-US" altLang="zh-CN"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 </a:t>
            </a:r>
            <a:r>
              <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在反码表示中，真值0有两种不同的表示形式：</a:t>
            </a:r>
            <a:endPar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endParaRPr>
          </a:p>
          <a:p>
            <a:pPr marL="0" marR="0" indent="-342900" algn="just" defTabSz="914400" rtl="0" eaLnBrk="1" fontAlgn="base" latinLnBrk="0" hangingPunct="1">
              <a:lnSpc>
                <a:spcPct val="100000"/>
              </a:lnSpc>
              <a:spcBef>
                <a:spcPct val="20000"/>
              </a:spcBef>
              <a:spcAft>
                <a:spcPct val="0"/>
              </a:spcAft>
              <a:buClr>
                <a:schemeClr val="hlink"/>
              </a:buClr>
              <a:buSzTx/>
              <a:buFontTx/>
              <a:buNone/>
            </a:pPr>
            <a:r>
              <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        [+0]</a:t>
            </a:r>
            <a:r>
              <a:rPr kumimoji="0" lang="zh-CN" altLang="en-US" sz="2800" b="1" i="0" u="none" strike="noStrike" kern="0" cap="none" spc="0" normalizeH="0" baseline="-30000" noProof="1" dirty="0">
                <a:solidFill>
                  <a:schemeClr val="tx2"/>
                </a:solidFill>
                <a:latin typeface="微软雅黑" panose="020B0503020204020204" charset="-122"/>
                <a:ea typeface="微软雅黑" panose="020B0503020204020204" charset="-122"/>
                <a:cs typeface="+mn-cs"/>
              </a:rPr>
              <a:t>反</a:t>
            </a:r>
            <a:r>
              <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=00000</a:t>
            </a:r>
            <a:endPar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endParaRPr>
          </a:p>
          <a:p>
            <a:pPr marL="0" marR="0" indent="-342900" algn="just" defTabSz="914400" rtl="0" eaLnBrk="1" fontAlgn="base" latinLnBrk="0" hangingPunct="1">
              <a:lnSpc>
                <a:spcPct val="100000"/>
              </a:lnSpc>
              <a:spcBef>
                <a:spcPct val="20000"/>
              </a:spcBef>
              <a:spcAft>
                <a:spcPct val="0"/>
              </a:spcAft>
              <a:buClr>
                <a:schemeClr val="hlink"/>
              </a:buClr>
              <a:buSzTx/>
              <a:buFontTx/>
              <a:buNone/>
            </a:pPr>
            <a:r>
              <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        [-0]</a:t>
            </a:r>
            <a:r>
              <a:rPr kumimoji="0" lang="zh-CN" altLang="en-US" sz="2800" b="1" i="0" u="none" strike="noStrike" kern="0" cap="none" spc="0" normalizeH="0" baseline="-30000" noProof="1" dirty="0">
                <a:solidFill>
                  <a:schemeClr val="tx2"/>
                </a:solidFill>
                <a:latin typeface="微软雅黑" panose="020B0503020204020204" charset="-122"/>
                <a:ea typeface="微软雅黑" panose="020B0503020204020204" charset="-122"/>
                <a:cs typeface="+mn-cs"/>
              </a:rPr>
              <a:t>反</a:t>
            </a:r>
            <a:r>
              <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rPr>
              <a:t>=11111</a:t>
            </a:r>
            <a:endParaRPr kumimoji="0" lang="zh-CN" altLang="en-US" sz="2800" b="1" i="0" u="none" strike="noStrike" kern="0" cap="none" spc="0" normalizeH="0" baseline="0" noProof="1" dirty="0">
              <a:solidFill>
                <a:schemeClr val="tx2"/>
              </a:solidFill>
              <a:latin typeface="微软雅黑" panose="020B0503020204020204" charset="-122"/>
              <a:ea typeface="微软雅黑" panose="020B0503020204020204" charset="-122"/>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Rectangle 3"/>
          <p:cNvSpPr>
            <a:spLocks noGrp="1"/>
          </p:cNvSpPr>
          <p:nvPr>
            <p:ph type="body"/>
          </p:nvPr>
        </p:nvSpPr>
        <p:spPr>
          <a:xfrm>
            <a:off x="611188" y="1295400"/>
            <a:ext cx="7924800" cy="4953000"/>
          </a:xfrm>
          <a:prstGeom prst="rect">
            <a:avLst/>
          </a:prstGeom>
          <a:noFill/>
          <a:ln w="9525">
            <a:noFill/>
          </a:ln>
        </p:spPr>
        <p:txBody>
          <a:bodyPr anchor="t"/>
          <a:p>
            <a:pPr eaLnBrk="1" hangingPunct="1">
              <a:buFontTx/>
              <a:buNone/>
            </a:pPr>
            <a:r>
              <a:rPr lang="zh-CN" altLang="en-US" sz="2400" dirty="0">
                <a:solidFill>
                  <a:schemeClr val="tx2"/>
                </a:solidFill>
                <a:latin typeface="微软雅黑" panose="020B0503020204020204" charset="-122"/>
                <a:ea typeface="微软雅黑" panose="020B0503020204020204" charset="-122"/>
              </a:rPr>
              <a:t> </a:t>
            </a:r>
            <a:r>
              <a:rPr lang="zh-CN" altLang="en-US" dirty="0">
                <a:solidFill>
                  <a:schemeClr val="tx2"/>
                </a:solidFill>
                <a:latin typeface="微软雅黑" panose="020B0503020204020204" charset="-122"/>
                <a:ea typeface="微软雅黑" panose="020B0503020204020204" charset="-122"/>
              </a:rPr>
              <a:t>1.比较</a:t>
            </a:r>
            <a:endParaRPr lang="zh-CN" altLang="en-US" dirty="0">
              <a:solidFill>
                <a:schemeClr val="tx2"/>
              </a:solidFill>
              <a:latin typeface="微软雅黑" panose="020B0503020204020204" charset="-122"/>
              <a:ea typeface="微软雅黑" panose="020B0503020204020204" charset="-122"/>
            </a:endParaRPr>
          </a:p>
          <a:p>
            <a:pPr eaLnBrk="1" hangingPunct="1">
              <a:spcBef>
                <a:spcPts val="2400"/>
              </a:spcBef>
              <a:buClr>
                <a:schemeClr val="tx2"/>
              </a:buClr>
              <a:buSzPct val="80000"/>
              <a:buChar char="u"/>
            </a:pPr>
            <a:r>
              <a:rPr lang="zh-CN" altLang="en-US" sz="2400" dirty="0">
                <a:solidFill>
                  <a:schemeClr val="tx2"/>
                </a:solidFill>
                <a:latin typeface="微软雅黑" panose="020B0503020204020204" charset="-122"/>
                <a:ea typeface="微软雅黑" panose="020B0503020204020204" charset="-122"/>
              </a:rPr>
              <a:t>对于</a:t>
            </a:r>
            <a:r>
              <a:rPr lang="zh-CN" altLang="en-US" sz="2400" dirty="0">
                <a:solidFill>
                  <a:srgbClr val="FF0000"/>
                </a:solidFill>
                <a:latin typeface="微软雅黑" panose="020B0503020204020204" charset="-122"/>
                <a:ea typeface="微软雅黑" panose="020B0503020204020204" charset="-122"/>
              </a:rPr>
              <a:t>正数都等于真值本身，而对于负数各有不同的表示</a:t>
            </a:r>
            <a:r>
              <a:rPr lang="zh-CN" altLang="en-US" sz="2400" dirty="0">
                <a:solidFill>
                  <a:schemeClr val="tx2"/>
                </a:solidFill>
                <a:latin typeface="微软雅黑" panose="020B0503020204020204" charset="-122"/>
                <a:ea typeface="微软雅黑" panose="020B0503020204020204" charset="-122"/>
              </a:rPr>
              <a:t>。</a:t>
            </a:r>
            <a:endParaRPr lang="zh-CN" altLang="en-US" sz="2400" dirty="0">
              <a:solidFill>
                <a:schemeClr val="tx2"/>
              </a:solidFill>
              <a:latin typeface="微软雅黑" panose="020B0503020204020204" charset="-122"/>
              <a:ea typeface="微软雅黑" panose="020B0503020204020204" charset="-122"/>
            </a:endParaRPr>
          </a:p>
          <a:p>
            <a:pPr eaLnBrk="1" hangingPunct="1">
              <a:spcBef>
                <a:spcPts val="1200"/>
              </a:spcBef>
              <a:buClr>
                <a:schemeClr val="tx2"/>
              </a:buClr>
              <a:buSzPct val="80000"/>
              <a:buChar char="u"/>
            </a:pPr>
            <a:r>
              <a:rPr lang="zh-CN" altLang="en-US" sz="2400" dirty="0">
                <a:solidFill>
                  <a:schemeClr val="tx2"/>
                </a:solidFill>
                <a:latin typeface="微软雅黑" panose="020B0503020204020204" charset="-122"/>
                <a:ea typeface="微软雅黑" panose="020B0503020204020204" charset="-122"/>
              </a:rPr>
              <a:t>最高位都表示符号位，</a:t>
            </a:r>
            <a:r>
              <a:rPr lang="zh-CN" altLang="en-US" sz="2400" dirty="0">
                <a:solidFill>
                  <a:srgbClr val="FF0000"/>
                </a:solidFill>
                <a:latin typeface="微软雅黑" panose="020B0503020204020204" charset="-122"/>
                <a:ea typeface="微软雅黑" panose="020B0503020204020204" charset="-122"/>
              </a:rPr>
              <a:t>补码和反码的符号位</a:t>
            </a:r>
            <a:r>
              <a:rPr lang="zh-CN" altLang="en-US" sz="2400" dirty="0">
                <a:solidFill>
                  <a:schemeClr val="tx2"/>
                </a:solidFill>
                <a:latin typeface="微软雅黑" panose="020B0503020204020204" charset="-122"/>
                <a:ea typeface="微软雅黑" panose="020B0503020204020204" charset="-122"/>
              </a:rPr>
              <a:t>可作为数值位的一部分看待，和数值位一起</a:t>
            </a:r>
            <a:r>
              <a:rPr lang="zh-CN" altLang="en-US" sz="2400" dirty="0">
                <a:solidFill>
                  <a:srgbClr val="FF0000"/>
                </a:solidFill>
                <a:latin typeface="微软雅黑" panose="020B0503020204020204" charset="-122"/>
                <a:ea typeface="微软雅黑" panose="020B0503020204020204" charset="-122"/>
              </a:rPr>
              <a:t>参加运算</a:t>
            </a:r>
            <a:r>
              <a:rPr lang="zh-CN" altLang="en-US" sz="2400" dirty="0">
                <a:solidFill>
                  <a:schemeClr val="tx2"/>
                </a:solidFill>
                <a:latin typeface="微软雅黑" panose="020B0503020204020204" charset="-122"/>
                <a:ea typeface="微软雅黑" panose="020B0503020204020204" charset="-122"/>
              </a:rPr>
              <a:t>；但</a:t>
            </a:r>
            <a:r>
              <a:rPr lang="zh-CN" altLang="en-US" sz="2400" dirty="0">
                <a:solidFill>
                  <a:srgbClr val="FF0000"/>
                </a:solidFill>
                <a:latin typeface="微软雅黑" panose="020B0503020204020204" charset="-122"/>
                <a:ea typeface="微软雅黑" panose="020B0503020204020204" charset="-122"/>
              </a:rPr>
              <a:t>原码</a:t>
            </a:r>
            <a:r>
              <a:rPr lang="zh-CN" altLang="en-US" sz="2400" dirty="0">
                <a:solidFill>
                  <a:schemeClr val="tx2"/>
                </a:solidFill>
                <a:latin typeface="微软雅黑" panose="020B0503020204020204" charset="-122"/>
                <a:ea typeface="微软雅黑" panose="020B0503020204020204" charset="-122"/>
              </a:rPr>
              <a:t>的符号位不允许和数值位同等看待，必须</a:t>
            </a:r>
            <a:r>
              <a:rPr lang="zh-CN" altLang="en-US" sz="2400" dirty="0">
                <a:solidFill>
                  <a:srgbClr val="FF0000"/>
                </a:solidFill>
                <a:latin typeface="微软雅黑" panose="020B0503020204020204" charset="-122"/>
                <a:ea typeface="微软雅黑" panose="020B0503020204020204" charset="-122"/>
              </a:rPr>
              <a:t>分开进行处理</a:t>
            </a:r>
            <a:r>
              <a:rPr lang="zh-CN" altLang="en-US" sz="2400" dirty="0">
                <a:solidFill>
                  <a:schemeClr val="tx2"/>
                </a:solidFill>
                <a:latin typeface="微软雅黑" panose="020B0503020204020204" charset="-122"/>
                <a:ea typeface="微软雅黑" panose="020B0503020204020204" charset="-122"/>
              </a:rPr>
              <a:t>。</a:t>
            </a:r>
            <a:endParaRPr lang="zh-CN" altLang="en-US" sz="2400" dirty="0">
              <a:solidFill>
                <a:schemeClr val="tx2"/>
              </a:solidFill>
              <a:latin typeface="微软雅黑" panose="020B0503020204020204" charset="-122"/>
              <a:ea typeface="微软雅黑" panose="020B0503020204020204" charset="-122"/>
            </a:endParaRPr>
          </a:p>
          <a:p>
            <a:pPr eaLnBrk="1" hangingPunct="1">
              <a:spcBef>
                <a:spcPts val="1200"/>
              </a:spcBef>
              <a:buClr>
                <a:schemeClr val="tx2"/>
              </a:buClr>
              <a:buSzPct val="80000"/>
              <a:buChar char="u"/>
            </a:pPr>
            <a:r>
              <a:rPr lang="zh-CN" altLang="en-US" sz="2400" dirty="0">
                <a:solidFill>
                  <a:schemeClr val="tx2"/>
                </a:solidFill>
                <a:latin typeface="微软雅黑" panose="020B0503020204020204" charset="-122"/>
                <a:ea typeface="微软雅黑" panose="020B0503020204020204" charset="-122"/>
              </a:rPr>
              <a:t> 对于真值0，原码和反码各有两种不同的表示形式，而补码只有唯一的一种表示形式。</a:t>
            </a:r>
            <a:endParaRPr lang="zh-CN" altLang="en-US" sz="2400" dirty="0">
              <a:solidFill>
                <a:schemeClr val="tx2"/>
              </a:solidFill>
              <a:latin typeface="微软雅黑" panose="020B0503020204020204" charset="-122"/>
              <a:ea typeface="微软雅黑" panose="020B0503020204020204" charset="-122"/>
            </a:endParaRPr>
          </a:p>
          <a:p>
            <a:pPr eaLnBrk="1" hangingPunct="1">
              <a:spcBef>
                <a:spcPts val="1200"/>
              </a:spcBef>
              <a:buClr>
                <a:schemeClr val="tx2"/>
              </a:buClr>
              <a:buSzPct val="80000"/>
              <a:buChar char="u"/>
            </a:pPr>
            <a:r>
              <a:rPr lang="zh-CN" altLang="en-US" sz="2400" dirty="0">
                <a:solidFill>
                  <a:schemeClr val="tx2"/>
                </a:solidFill>
                <a:latin typeface="微软雅黑" panose="020B0503020204020204" charset="-122"/>
                <a:ea typeface="微软雅黑" panose="020B0503020204020204" charset="-122"/>
              </a:rPr>
              <a:t>原码、反码表示的正、负数范围相对零来说是对称的；但</a:t>
            </a:r>
            <a:r>
              <a:rPr lang="zh-CN" altLang="en-US" sz="2400" dirty="0">
                <a:solidFill>
                  <a:srgbClr val="FF0000"/>
                </a:solidFill>
                <a:latin typeface="微软雅黑" panose="020B0503020204020204" charset="-122"/>
                <a:ea typeface="微软雅黑" panose="020B0503020204020204" charset="-122"/>
              </a:rPr>
              <a:t>补码负数表示范围</a:t>
            </a:r>
            <a:r>
              <a:rPr lang="zh-CN" altLang="en-US" sz="2400" dirty="0">
                <a:solidFill>
                  <a:schemeClr val="tx2"/>
                </a:solidFill>
                <a:latin typeface="微软雅黑" panose="020B0503020204020204" charset="-122"/>
                <a:ea typeface="微软雅黑" panose="020B0503020204020204" charset="-122"/>
              </a:rPr>
              <a:t>较正数表示范围宽，</a:t>
            </a:r>
            <a:r>
              <a:rPr lang="zh-CN" altLang="en-US" sz="2400" dirty="0">
                <a:solidFill>
                  <a:srgbClr val="FF0000"/>
                </a:solidFill>
                <a:latin typeface="微软雅黑" panose="020B0503020204020204" charset="-122"/>
                <a:ea typeface="微软雅黑" panose="020B0503020204020204" charset="-122"/>
              </a:rPr>
              <a:t>能多表示一个最负的数</a:t>
            </a:r>
            <a:r>
              <a:rPr lang="zh-CN" altLang="en-US" sz="2400" dirty="0">
                <a:solidFill>
                  <a:schemeClr val="tx2"/>
                </a:solidFill>
                <a:latin typeface="微软雅黑" panose="020B0503020204020204" charset="-122"/>
                <a:ea typeface="微软雅黑" panose="020B0503020204020204" charset="-122"/>
              </a:rPr>
              <a:t>（绝对值最大的负数），其值等于-2</a:t>
            </a:r>
            <a:r>
              <a:rPr lang="en-US" altLang="zh-CN" sz="2400" baseline="30000" dirty="0">
                <a:solidFill>
                  <a:schemeClr val="tx2"/>
                </a:solidFill>
                <a:latin typeface="微软雅黑" panose="020B0503020204020204" charset="-122"/>
                <a:ea typeface="微软雅黑" panose="020B0503020204020204" charset="-122"/>
              </a:rPr>
              <a:t>n</a:t>
            </a:r>
            <a:r>
              <a:rPr lang="en-US" altLang="zh-CN" sz="2400" dirty="0">
                <a:solidFill>
                  <a:schemeClr val="tx2"/>
                </a:solidFill>
                <a:latin typeface="微软雅黑" panose="020B0503020204020204" charset="-122"/>
                <a:ea typeface="微软雅黑" panose="020B0503020204020204" charset="-122"/>
              </a:rPr>
              <a:t>（</a:t>
            </a:r>
            <a:r>
              <a:rPr lang="zh-CN" altLang="en-US" sz="2400" dirty="0">
                <a:solidFill>
                  <a:schemeClr val="tx2"/>
                </a:solidFill>
                <a:latin typeface="微软雅黑" panose="020B0503020204020204" charset="-122"/>
                <a:ea typeface="微软雅黑" panose="020B0503020204020204" charset="-122"/>
              </a:rPr>
              <a:t>纯整数）或-1（纯小数）。</a:t>
            </a:r>
            <a:endParaRPr lang="zh-CN" altLang="en-US" sz="2400" dirty="0">
              <a:solidFill>
                <a:schemeClr val="tx2"/>
              </a:solidFill>
              <a:latin typeface="微软雅黑" panose="020B0503020204020204" charset="-122"/>
              <a:ea typeface="微软雅黑" panose="020B0503020204020204" charset="-122"/>
            </a:endParaRPr>
          </a:p>
        </p:txBody>
      </p:sp>
      <p:sp>
        <p:nvSpPr>
          <p:cNvPr id="46082" name="Rectangle 5"/>
          <p:cNvSpPr>
            <a:spLocks noGrp="1"/>
          </p:cNvSpPr>
          <p:nvPr>
            <p:ph type="title"/>
          </p:nvPr>
        </p:nvSpPr>
        <p:spPr>
          <a:xfrm>
            <a:off x="250825" y="339725"/>
            <a:ext cx="7772400" cy="609600"/>
          </a:xfrm>
          <a:prstGeom prst="rect">
            <a:avLst/>
          </a:prstGeom>
          <a:noFill/>
          <a:ln w="9525">
            <a:noFill/>
          </a:ln>
        </p:spPr>
        <p:txBody>
          <a:bodyPr anchor="t"/>
          <a:p>
            <a:pPr eaLnBrk="1" hangingPunct="1">
              <a:buNone/>
            </a:pPr>
            <a:r>
              <a:rPr lang="zh-CN" altLang="en-US" sz="3600" dirty="0">
                <a:solidFill>
                  <a:srgbClr val="0000FF"/>
                </a:solidFill>
                <a:latin typeface="微软雅黑" panose="020B0503020204020204" charset="-122"/>
                <a:ea typeface="微软雅黑" panose="020B0503020204020204" charset="-122"/>
              </a:rPr>
              <a:t>三种码制的比较与转换</a:t>
            </a:r>
            <a:endParaRPr lang="zh-CN" altLang="en-US" sz="3600" dirty="0">
              <a:latin typeface="微软雅黑" panose="020B0503020204020204" charset="-122"/>
              <a:ea typeface="微软雅黑" panose="020B0503020204020204" charset="-122"/>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Rectangle 2"/>
          <p:cNvSpPr>
            <a:spLocks noGrp="1"/>
          </p:cNvSpPr>
          <p:nvPr>
            <p:ph type="title"/>
          </p:nvPr>
        </p:nvSpPr>
        <p:spPr>
          <a:xfrm>
            <a:off x="419100" y="571500"/>
            <a:ext cx="7772400" cy="1143000"/>
          </a:xfrm>
          <a:prstGeom prst="rect">
            <a:avLst/>
          </a:prstGeom>
          <a:noFill/>
          <a:ln w="9525">
            <a:noFill/>
          </a:ln>
        </p:spPr>
        <p:txBody>
          <a:bodyPr anchor="t"/>
          <a:p>
            <a:pPr marL="342900" indent="-342900" eaLnBrk="1" hangingPunct="1">
              <a:lnSpc>
                <a:spcPct val="90000"/>
              </a:lnSpc>
              <a:spcBef>
                <a:spcPct val="20000"/>
              </a:spcBef>
              <a:buClr>
                <a:schemeClr val="hlink"/>
              </a:buClr>
              <a:buNone/>
            </a:pPr>
            <a:r>
              <a:rPr lang="zh-CN" altLang="en-US" sz="2800" dirty="0">
                <a:latin typeface="微软雅黑" panose="020B0503020204020204" charset="-122"/>
                <a:ea typeface="微软雅黑" panose="020B0503020204020204" charset="-122"/>
              </a:rPr>
              <a:t>2.转换</a:t>
            </a:r>
            <a:endParaRPr lang="zh-CN" altLang="en-US" sz="2800" dirty="0">
              <a:latin typeface="微软雅黑" panose="020B0503020204020204" charset="-122"/>
              <a:ea typeface="微软雅黑" panose="020B0503020204020204" charset="-122"/>
            </a:endParaRPr>
          </a:p>
        </p:txBody>
      </p:sp>
      <p:sp>
        <p:nvSpPr>
          <p:cNvPr id="48131" name="Rectangle 3"/>
          <p:cNvSpPr>
            <a:spLocks noGrp="1" noChangeArrowheads="1"/>
          </p:cNvSpPr>
          <p:nvPr>
            <p:ph type="body" idx="4294967295"/>
          </p:nvPr>
        </p:nvSpPr>
        <p:spPr bwMode="auto">
          <a:xfrm>
            <a:off x="419100" y="1263650"/>
            <a:ext cx="8305800" cy="533400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marR="0" lvl="0" indent="-342900" algn="l" defTabSz="914400" rtl="0" eaLnBrk="1" fontAlgn="base" latinLnBrk="0" hangingPunct="1">
              <a:lnSpc>
                <a:spcPct val="100000"/>
              </a:lnSpc>
              <a:spcBef>
                <a:spcPct val="20000"/>
              </a:spcBef>
              <a:spcAft>
                <a:spcPct val="0"/>
              </a:spcAft>
              <a:buClr>
                <a:srgbClr val="3C5713"/>
              </a:buClr>
              <a:buSzTx/>
              <a:buFont typeface="Wingdings" panose="05000000000000000000" charset="0"/>
              <a:buChar char="u"/>
              <a:defRPr/>
            </a:pP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  如果已知机器的字长，则机器数的位数应</a:t>
            </a:r>
            <a:r>
              <a:rPr kumimoji="0" lang="zh-CN" altLang="en-US" sz="2800" b="1"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补够</a:t>
            </a: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相应的位。例如，设机器字长为8位，则：</a:t>
            </a:r>
            <a:endPar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449580" marR="0" lvl="0" indent="8255" algn="l" defTabSz="914400" rtl="0" eaLnBrk="1" fontAlgn="base" latinLnBrk="0" hangingPunct="1">
              <a:lnSpc>
                <a:spcPct val="80000"/>
              </a:lnSpc>
              <a:spcBef>
                <a:spcPct val="50000"/>
              </a:spcBef>
              <a:spcAft>
                <a:spcPct val="0"/>
              </a:spcAft>
              <a:buClr>
                <a:schemeClr val="hlink"/>
              </a:buClr>
              <a:buSzTx/>
              <a:buFontTx/>
              <a:buNone/>
              <a:defRPr/>
            </a:pP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  X</a:t>
            </a:r>
            <a:r>
              <a:rPr kumimoji="0" lang="en-US" altLang="zh-CN" sz="28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1</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=1011                   X</a:t>
            </a:r>
            <a:r>
              <a:rPr kumimoji="0" lang="en-US" altLang="zh-CN" sz="28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2</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=-1011 </a:t>
            </a:r>
            <a:endPar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449580" marR="0" lvl="0" indent="358775" algn="l" defTabSz="914400" rtl="0" eaLnBrk="1" fontAlgn="base" latinLnBrk="0" hangingPunct="1">
              <a:lnSpc>
                <a:spcPct val="60000"/>
              </a:lnSpc>
              <a:spcBef>
                <a:spcPct val="50000"/>
              </a:spcBef>
              <a:spcAft>
                <a:spcPct val="0"/>
              </a:spcAft>
              <a:buClr>
                <a:schemeClr val="hlink"/>
              </a:buClr>
              <a:buSzTx/>
              <a:buFontTx/>
              <a:buNone/>
              <a:defRPr/>
            </a:pP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    [X</a:t>
            </a:r>
            <a:r>
              <a:rPr kumimoji="0" lang="en-US" altLang="zh-CN" sz="24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1</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zh-CN" altLang="en-US" sz="24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原</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=00001011            [</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en-US" altLang="zh-CN" sz="24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2</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zh-CN" altLang="en-US" sz="24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原</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=10001011 </a:t>
            </a:r>
            <a:endPar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449580" marR="0" lvl="1" indent="709930" algn="l" defTabSz="914400" rtl="0" eaLnBrk="1" fontAlgn="base" latinLnBrk="0" hangingPunct="1">
              <a:lnSpc>
                <a:spcPct val="70000"/>
              </a:lnSpc>
              <a:spcBef>
                <a:spcPct val="50000"/>
              </a:spcBef>
              <a:spcAft>
                <a:spcPct val="0"/>
              </a:spcAft>
              <a:buClr>
                <a:schemeClr val="accent1"/>
              </a:buClr>
              <a:buSzTx/>
              <a:buFontTx/>
              <a:buNone/>
              <a:defRPr/>
            </a:pP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en-US" altLang="zh-CN" sz="24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1</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zh-CN" altLang="en-US" sz="24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补</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=00001011            [</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en-US" altLang="zh-CN" sz="24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2</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zh-CN" altLang="en-US" sz="24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补</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=11110101 </a:t>
            </a:r>
            <a:endPar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449580" marR="0" lvl="1" indent="709930" algn="l" defTabSz="914400" rtl="0" eaLnBrk="1" fontAlgn="base" latinLnBrk="0" hangingPunct="1">
              <a:lnSpc>
                <a:spcPct val="70000"/>
              </a:lnSpc>
              <a:spcBef>
                <a:spcPct val="50000"/>
              </a:spcBef>
              <a:spcAft>
                <a:spcPct val="0"/>
              </a:spcAft>
              <a:buClr>
                <a:schemeClr val="accent1"/>
              </a:buClr>
              <a:buSzTx/>
              <a:buFontTx/>
              <a:buNone/>
              <a:defRPr/>
            </a:pP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en-US" altLang="zh-CN" sz="24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1</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zh-CN" altLang="en-US" sz="24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反</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=00001011            [</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en-US" altLang="zh-CN" sz="24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2</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zh-CN" altLang="en-US" sz="24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反</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=11110100</a:t>
            </a:r>
            <a:endPar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449580" marR="0" lvl="0" indent="8255" algn="l" defTabSz="914400" rtl="0" eaLnBrk="1" fontAlgn="base" latinLnBrk="0" hangingPunct="1">
              <a:lnSpc>
                <a:spcPct val="100000"/>
              </a:lnSpc>
              <a:spcBef>
                <a:spcPts val="3000"/>
              </a:spcBef>
              <a:spcAft>
                <a:spcPct val="0"/>
              </a:spcAft>
              <a:buClr>
                <a:schemeClr val="hlink"/>
              </a:buClr>
              <a:buSzTx/>
              <a:buFontTx/>
              <a:buNone/>
              <a:defRPr/>
            </a:pP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  X</a:t>
            </a:r>
            <a:r>
              <a:rPr kumimoji="0" lang="en-US" altLang="zh-CN" sz="28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3</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=0.1011                X</a:t>
            </a:r>
            <a:r>
              <a:rPr kumimoji="0" lang="en-US" altLang="zh-CN" sz="28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4</a:t>
            </a:r>
            <a:r>
              <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=-0.1011 </a:t>
            </a:r>
            <a:endParaRPr kumimoji="0"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449580" marR="0" lvl="0" indent="709930" algn="l" defTabSz="914400" rtl="0" eaLnBrk="1" fontAlgn="base" latinLnBrk="0" hangingPunct="1">
              <a:lnSpc>
                <a:spcPct val="50000"/>
              </a:lnSpc>
              <a:spcBef>
                <a:spcPct val="50000"/>
              </a:spcBef>
              <a:spcAft>
                <a:spcPct val="0"/>
              </a:spcAft>
              <a:buClr>
                <a:schemeClr val="hlink"/>
              </a:buClr>
              <a:buSzTx/>
              <a:buFontTx/>
              <a:buNone/>
              <a:defRPr/>
            </a:pP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en-US" altLang="zh-CN" sz="24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3</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zh-CN" altLang="en-US" sz="24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原</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=0.1011000          [</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en-US" altLang="zh-CN" sz="24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4</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zh-CN" altLang="en-US" sz="24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原</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=1.1011000 </a:t>
            </a:r>
            <a:endPar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449580" marR="0" lvl="1" indent="709930" algn="l" defTabSz="914400" rtl="0" eaLnBrk="1" fontAlgn="base" latinLnBrk="0" hangingPunct="1">
              <a:lnSpc>
                <a:spcPct val="80000"/>
              </a:lnSpc>
              <a:spcBef>
                <a:spcPct val="50000"/>
              </a:spcBef>
              <a:spcAft>
                <a:spcPct val="0"/>
              </a:spcAft>
              <a:buClr>
                <a:schemeClr val="accent1"/>
              </a:buClr>
              <a:buSzTx/>
              <a:buFontTx/>
              <a:buNone/>
              <a:defRPr/>
            </a:pP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en-US" altLang="zh-CN" sz="24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3</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zh-CN" altLang="en-US" sz="24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补</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=0.1011000          [</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en-US" altLang="zh-CN" sz="24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4</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zh-CN" altLang="en-US" sz="24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补</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=1.0101000 </a:t>
            </a:r>
            <a:endPar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449580" marR="0" lvl="1" indent="709930" algn="l" defTabSz="914400" rtl="0" eaLnBrk="1" fontAlgn="base" latinLnBrk="0" hangingPunct="1">
              <a:lnSpc>
                <a:spcPct val="80000"/>
              </a:lnSpc>
              <a:spcBef>
                <a:spcPct val="50000"/>
              </a:spcBef>
              <a:spcAft>
                <a:spcPct val="0"/>
              </a:spcAft>
              <a:buClr>
                <a:schemeClr val="accent1"/>
              </a:buClr>
              <a:buSzTx/>
              <a:buFontTx/>
              <a:buNone/>
              <a:defRPr/>
            </a:pP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en-US" altLang="zh-CN" sz="24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3</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zh-CN" altLang="en-US" sz="24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反</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=0.1011000          [</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X</a:t>
            </a:r>
            <a:r>
              <a:rPr kumimoji="0" lang="en-US" altLang="zh-CN" sz="24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4</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zh-CN" altLang="en-US" sz="2400" b="1" i="0" u="none" strike="noStrike" kern="0" cap="none" spc="0" normalizeH="0" baseline="-2500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反</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=1.0100111</a:t>
            </a:r>
            <a:endPar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Text Box 4"/>
          <p:cNvSpPr txBox="1"/>
          <p:nvPr/>
        </p:nvSpPr>
        <p:spPr>
          <a:xfrm>
            <a:off x="304800" y="1066800"/>
            <a:ext cx="8458200" cy="954088"/>
          </a:xfrm>
          <a:prstGeom prst="rect">
            <a:avLst/>
          </a:prstGeom>
          <a:noFill/>
          <a:ln w="9525">
            <a:noFill/>
          </a:ln>
        </p:spPr>
        <p:txBody>
          <a:bodyPr anchor="t">
            <a:spAutoFit/>
          </a:bodyPr>
          <a:p>
            <a:r>
              <a:rPr lang="zh-CN" altLang="en-US" sz="2800" b="1" dirty="0">
                <a:solidFill>
                  <a:schemeClr val="tx2"/>
                </a:solidFill>
                <a:latin typeface="微软雅黑" panose="020B0503020204020204" charset="-122"/>
                <a:ea typeface="微软雅黑" panose="020B0503020204020204" charset="-122"/>
              </a:rPr>
              <a:t>例：一个</a:t>
            </a:r>
            <a:r>
              <a:rPr lang="en-US" altLang="zh-CN" sz="2800" b="1" dirty="0">
                <a:solidFill>
                  <a:schemeClr val="tx2"/>
                </a:solidFill>
                <a:latin typeface="微软雅黑" panose="020B0503020204020204" charset="-122"/>
                <a:ea typeface="微软雅黑" panose="020B0503020204020204" charset="-122"/>
              </a:rPr>
              <a:t>8</a:t>
            </a:r>
            <a:r>
              <a:rPr lang="zh-CN" altLang="en-US" sz="2800" b="1" dirty="0">
                <a:solidFill>
                  <a:schemeClr val="tx2"/>
                </a:solidFill>
                <a:latin typeface="微软雅黑" panose="020B0503020204020204" charset="-122"/>
                <a:ea typeface="微软雅黑" panose="020B0503020204020204" charset="-122"/>
              </a:rPr>
              <a:t>位二进制整数，采用补码表示，且由</a:t>
            </a:r>
            <a:r>
              <a:rPr lang="en-US" altLang="zh-CN" sz="2800" b="1" dirty="0">
                <a:solidFill>
                  <a:schemeClr val="tx2"/>
                </a:solidFill>
                <a:latin typeface="微软雅黑" panose="020B0503020204020204" charset="-122"/>
                <a:ea typeface="微软雅黑" panose="020B0503020204020204" charset="-122"/>
              </a:rPr>
              <a:t>3</a:t>
            </a:r>
            <a:r>
              <a:rPr lang="zh-CN" altLang="en-US" sz="2800" b="1" dirty="0">
                <a:solidFill>
                  <a:schemeClr val="tx2"/>
                </a:solidFill>
                <a:latin typeface="微软雅黑" panose="020B0503020204020204" charset="-122"/>
                <a:ea typeface="微软雅黑" panose="020B0503020204020204" charset="-122"/>
              </a:rPr>
              <a:t>个‘</a:t>
            </a:r>
            <a:r>
              <a:rPr lang="en-US" altLang="zh-CN" sz="2800" b="1" dirty="0">
                <a:solidFill>
                  <a:schemeClr val="tx2"/>
                </a:solidFill>
                <a:latin typeface="微软雅黑" panose="020B0503020204020204" charset="-122"/>
                <a:ea typeface="微软雅黑" panose="020B0503020204020204" charset="-122"/>
              </a:rPr>
              <a:t>1’</a:t>
            </a:r>
            <a:r>
              <a:rPr lang="zh-CN" altLang="en-US" sz="2800" b="1" dirty="0">
                <a:solidFill>
                  <a:schemeClr val="tx2"/>
                </a:solidFill>
                <a:latin typeface="微软雅黑" panose="020B0503020204020204" charset="-122"/>
                <a:ea typeface="微软雅黑" panose="020B0503020204020204" charset="-122"/>
              </a:rPr>
              <a:t>和</a:t>
            </a:r>
            <a:r>
              <a:rPr lang="en-US" altLang="zh-CN" sz="2800" b="1" dirty="0">
                <a:solidFill>
                  <a:schemeClr val="tx2"/>
                </a:solidFill>
                <a:latin typeface="微软雅黑" panose="020B0503020204020204" charset="-122"/>
                <a:ea typeface="微软雅黑" panose="020B0503020204020204" charset="-122"/>
              </a:rPr>
              <a:t>5</a:t>
            </a:r>
            <a:r>
              <a:rPr lang="zh-CN" altLang="en-US" sz="2800" b="1" dirty="0">
                <a:solidFill>
                  <a:schemeClr val="tx2"/>
                </a:solidFill>
                <a:latin typeface="微软雅黑" panose="020B0503020204020204" charset="-122"/>
                <a:ea typeface="微软雅黑" panose="020B0503020204020204" charset="-122"/>
              </a:rPr>
              <a:t>个‘</a:t>
            </a:r>
            <a:r>
              <a:rPr lang="en-US" altLang="zh-CN" sz="2800" b="1" dirty="0">
                <a:solidFill>
                  <a:schemeClr val="tx2"/>
                </a:solidFill>
                <a:latin typeface="微软雅黑" panose="020B0503020204020204" charset="-122"/>
                <a:ea typeface="微软雅黑" panose="020B0503020204020204" charset="-122"/>
              </a:rPr>
              <a:t>0’</a:t>
            </a:r>
            <a:r>
              <a:rPr lang="zh-CN" altLang="en-US" sz="2800" b="1" dirty="0">
                <a:solidFill>
                  <a:schemeClr val="tx2"/>
                </a:solidFill>
                <a:latin typeface="微软雅黑" panose="020B0503020204020204" charset="-122"/>
                <a:ea typeface="微软雅黑" panose="020B0503020204020204" charset="-122"/>
              </a:rPr>
              <a:t>组成，则最小值是多少？</a:t>
            </a:r>
            <a:endParaRPr lang="zh-CN" altLang="en-US" sz="2800" b="1" dirty="0">
              <a:solidFill>
                <a:schemeClr val="tx2"/>
              </a:solidFill>
              <a:latin typeface="微软雅黑" panose="020B0503020204020204" charset="-122"/>
              <a:ea typeface="微软雅黑" panose="020B0503020204020204" charset="-122"/>
            </a:endParaRPr>
          </a:p>
        </p:txBody>
      </p:sp>
      <p:sp>
        <p:nvSpPr>
          <p:cNvPr id="122885" name="Text Box 5"/>
          <p:cNvSpPr txBox="1"/>
          <p:nvPr/>
        </p:nvSpPr>
        <p:spPr>
          <a:xfrm>
            <a:off x="468313" y="2276475"/>
            <a:ext cx="8458200" cy="4054475"/>
          </a:xfrm>
          <a:prstGeom prst="rect">
            <a:avLst/>
          </a:prstGeom>
          <a:noFill/>
          <a:ln w="9525">
            <a:noFill/>
          </a:ln>
        </p:spPr>
        <p:txBody>
          <a:bodyPr anchor="t">
            <a:spAutoFit/>
          </a:bodyPr>
          <a:p>
            <a:r>
              <a:rPr lang="zh-CN" altLang="en-US" sz="2000" b="1" dirty="0">
                <a:solidFill>
                  <a:srgbClr val="0000FF"/>
                </a:solidFill>
                <a:latin typeface="Arial" panose="020B0604020202020204" pitchFamily="34" charset="0"/>
                <a:ea typeface="楷体_GB2312"/>
              </a:rPr>
              <a:t>解：</a:t>
            </a:r>
            <a:r>
              <a:rPr lang="en-US" altLang="zh-CN" sz="2000" b="1" dirty="0">
                <a:solidFill>
                  <a:srgbClr val="0000FF"/>
                </a:solidFill>
                <a:latin typeface="Arial" panose="020B0604020202020204" pitchFamily="34" charset="0"/>
                <a:ea typeface="楷体_GB2312"/>
              </a:rPr>
              <a:t>8</a:t>
            </a:r>
            <a:r>
              <a:rPr lang="zh-CN" altLang="en-US" sz="2000" b="1" dirty="0">
                <a:solidFill>
                  <a:srgbClr val="0000FF"/>
                </a:solidFill>
                <a:latin typeface="Arial" panose="020B0604020202020204" pitchFamily="34" charset="0"/>
                <a:ea typeface="楷体_GB2312"/>
              </a:rPr>
              <a:t>位（包括</a:t>
            </a:r>
            <a:r>
              <a:rPr lang="en-US" altLang="zh-CN" sz="2000" b="1" dirty="0">
                <a:solidFill>
                  <a:srgbClr val="0000FF"/>
                </a:solidFill>
                <a:latin typeface="Arial" panose="020B0604020202020204" pitchFamily="34" charset="0"/>
                <a:ea typeface="楷体_GB2312"/>
              </a:rPr>
              <a:t>1</a:t>
            </a:r>
            <a:r>
              <a:rPr lang="zh-CN" altLang="en-US" sz="2000" b="1" dirty="0">
                <a:solidFill>
                  <a:srgbClr val="0000FF"/>
                </a:solidFill>
                <a:latin typeface="Arial" panose="020B0604020202020204" pitchFamily="34" charset="0"/>
                <a:ea typeface="楷体_GB2312"/>
              </a:rPr>
              <a:t>位符号位）二进制整数，当为负数时，其补码为：</a:t>
            </a:r>
            <a:endParaRPr lang="zh-CN" altLang="en-US" sz="2000" b="1" dirty="0">
              <a:solidFill>
                <a:srgbClr val="0000FF"/>
              </a:solidFill>
              <a:latin typeface="Arial" panose="020B0604020202020204" pitchFamily="34" charset="0"/>
              <a:ea typeface="楷体_GB2312"/>
            </a:endParaRPr>
          </a:p>
          <a:p>
            <a:pPr algn="ctr"/>
            <a:r>
              <a:rPr lang="en-US" altLang="zh-CN" sz="2000" b="1" dirty="0">
                <a:solidFill>
                  <a:srgbClr val="0000FF"/>
                </a:solidFill>
                <a:latin typeface="Arial" panose="020B0604020202020204" pitchFamily="34" charset="0"/>
                <a:ea typeface="楷体_GB2312"/>
              </a:rPr>
              <a:t>[X]</a:t>
            </a:r>
            <a:r>
              <a:rPr lang="zh-CN" altLang="en-US" sz="2000" b="1" baseline="-25000" dirty="0">
                <a:solidFill>
                  <a:srgbClr val="0000FF"/>
                </a:solidFill>
                <a:latin typeface="Arial" panose="020B0604020202020204" pitchFamily="34" charset="0"/>
                <a:ea typeface="楷体_GB2312"/>
              </a:rPr>
              <a:t>补</a:t>
            </a:r>
            <a:r>
              <a:rPr lang="en-US" altLang="zh-CN" sz="2000" b="1" dirty="0">
                <a:solidFill>
                  <a:srgbClr val="0000FF"/>
                </a:solidFill>
                <a:latin typeface="Arial" panose="020B0604020202020204" pitchFamily="34" charset="0"/>
                <a:ea typeface="楷体_GB2312"/>
              </a:rPr>
              <a:t>=2</a:t>
            </a:r>
            <a:r>
              <a:rPr lang="en-US" altLang="zh-CN" sz="2000" b="1" baseline="30000" dirty="0">
                <a:solidFill>
                  <a:srgbClr val="0000FF"/>
                </a:solidFill>
                <a:latin typeface="Arial" panose="020B0604020202020204" pitchFamily="34" charset="0"/>
                <a:ea typeface="楷体_GB2312"/>
              </a:rPr>
              <a:t>7+1</a:t>
            </a:r>
            <a:r>
              <a:rPr lang="en-US" altLang="zh-CN" sz="2000" b="1" dirty="0">
                <a:solidFill>
                  <a:srgbClr val="0000FF"/>
                </a:solidFill>
                <a:latin typeface="Arial" panose="020B0604020202020204" pitchFamily="34" charset="0"/>
                <a:ea typeface="楷体_GB2312"/>
              </a:rPr>
              <a:t>+X</a:t>
            </a:r>
            <a:endParaRPr lang="en-US" altLang="zh-CN" sz="2000" b="1" dirty="0">
              <a:solidFill>
                <a:srgbClr val="0000FF"/>
              </a:solidFill>
              <a:latin typeface="Arial" panose="020B0604020202020204" pitchFamily="34" charset="0"/>
              <a:ea typeface="楷体_GB2312"/>
            </a:endParaRPr>
          </a:p>
          <a:p>
            <a:r>
              <a:rPr lang="zh-CN" altLang="en-US" sz="2000" b="1" dirty="0">
                <a:solidFill>
                  <a:srgbClr val="0000FF"/>
                </a:solidFill>
                <a:latin typeface="Arial" panose="020B0604020202020204" pitchFamily="34" charset="0"/>
                <a:ea typeface="楷体_GB2312"/>
              </a:rPr>
              <a:t>移位得：</a:t>
            </a:r>
            <a:r>
              <a:rPr lang="en-US" altLang="zh-CN" sz="2000" b="1" dirty="0">
                <a:solidFill>
                  <a:srgbClr val="0000FF"/>
                </a:solidFill>
                <a:latin typeface="Arial" panose="020B0604020202020204" pitchFamily="34" charset="0"/>
                <a:ea typeface="楷体_GB2312"/>
              </a:rPr>
              <a:t>X=[X]</a:t>
            </a:r>
            <a:r>
              <a:rPr lang="zh-CN" altLang="en-US" sz="2000" b="1" baseline="-25000" dirty="0">
                <a:solidFill>
                  <a:srgbClr val="0000FF"/>
                </a:solidFill>
                <a:latin typeface="Arial" panose="020B0604020202020204" pitchFamily="34" charset="0"/>
                <a:ea typeface="楷体_GB2312"/>
              </a:rPr>
              <a:t>补</a:t>
            </a:r>
            <a:r>
              <a:rPr lang="en-US" altLang="zh-CN" sz="2000" b="1" dirty="0">
                <a:solidFill>
                  <a:srgbClr val="0000FF"/>
                </a:solidFill>
                <a:latin typeface="Arial" panose="020B0604020202020204" pitchFamily="34" charset="0"/>
                <a:ea typeface="楷体_GB2312"/>
              </a:rPr>
              <a:t>-2</a:t>
            </a:r>
            <a:r>
              <a:rPr lang="en-US" altLang="zh-CN" sz="2000" b="1" baseline="30000" dirty="0">
                <a:solidFill>
                  <a:srgbClr val="0000FF"/>
                </a:solidFill>
                <a:latin typeface="Arial" panose="020B0604020202020204" pitchFamily="34" charset="0"/>
                <a:ea typeface="楷体_GB2312"/>
              </a:rPr>
              <a:t>7+1</a:t>
            </a:r>
            <a:endParaRPr lang="en-US" altLang="zh-CN" sz="2000" b="1" dirty="0">
              <a:solidFill>
                <a:srgbClr val="0000FF"/>
              </a:solidFill>
              <a:latin typeface="Arial" panose="020B0604020202020204" pitchFamily="34" charset="0"/>
              <a:ea typeface="楷体_GB2312"/>
            </a:endParaRPr>
          </a:p>
          <a:p>
            <a:endParaRPr lang="en-US" altLang="zh-CN" sz="2000" b="1" dirty="0">
              <a:solidFill>
                <a:srgbClr val="0000FF"/>
              </a:solidFill>
              <a:latin typeface="Arial" panose="020B0604020202020204" pitchFamily="34" charset="0"/>
              <a:ea typeface="楷体_GB2312"/>
            </a:endParaRPr>
          </a:p>
          <a:p>
            <a:r>
              <a:rPr lang="zh-CN" altLang="en-US" sz="2000" b="1" dirty="0">
                <a:solidFill>
                  <a:srgbClr val="0000FF"/>
                </a:solidFill>
                <a:latin typeface="Arial" panose="020B0604020202020204" pitchFamily="34" charset="0"/>
                <a:ea typeface="楷体_GB2312"/>
              </a:rPr>
              <a:t>设</a:t>
            </a:r>
            <a:r>
              <a:rPr lang="en-US" altLang="zh-CN" sz="2000" b="1" dirty="0">
                <a:solidFill>
                  <a:srgbClr val="0000FF"/>
                </a:solidFill>
                <a:latin typeface="Arial" panose="020B0604020202020204" pitchFamily="34" charset="0"/>
                <a:ea typeface="楷体_GB2312"/>
              </a:rPr>
              <a:t>X=[X</a:t>
            </a:r>
            <a:r>
              <a:rPr lang="en-US" altLang="zh-CN" sz="2000" b="1" baseline="-25000" dirty="0">
                <a:solidFill>
                  <a:srgbClr val="0000FF"/>
                </a:solidFill>
                <a:latin typeface="Arial" panose="020B0604020202020204" pitchFamily="34" charset="0"/>
                <a:ea typeface="楷体_GB2312"/>
              </a:rPr>
              <a:t>7</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6</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5</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4</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3</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2</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1</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0</a:t>
            </a:r>
            <a:r>
              <a:rPr lang="en-US" altLang="zh-CN" sz="2000" b="1" dirty="0">
                <a:solidFill>
                  <a:srgbClr val="0000FF"/>
                </a:solidFill>
                <a:latin typeface="Arial" panose="020B0604020202020204" pitchFamily="34" charset="0"/>
                <a:ea typeface="楷体_GB2312"/>
              </a:rPr>
              <a:t>]</a:t>
            </a:r>
            <a:r>
              <a:rPr lang="en-US" altLang="zh-CN" sz="2000" b="1" baseline="-25000" dirty="0">
                <a:solidFill>
                  <a:srgbClr val="0000FF"/>
                </a:solidFill>
                <a:latin typeface="Arial" panose="020B0604020202020204" pitchFamily="34" charset="0"/>
                <a:ea typeface="楷体_GB2312"/>
              </a:rPr>
              <a:t>2</a:t>
            </a:r>
            <a:endParaRPr lang="en-US" altLang="zh-CN" sz="2000" b="1" baseline="-25000" dirty="0">
              <a:solidFill>
                <a:srgbClr val="0000FF"/>
              </a:solidFill>
              <a:latin typeface="Arial" panose="020B0604020202020204" pitchFamily="34" charset="0"/>
              <a:ea typeface="楷体_GB2312"/>
            </a:endParaRPr>
          </a:p>
          <a:p>
            <a:r>
              <a:rPr lang="zh-CN" altLang="en-US" sz="2000" b="1" dirty="0">
                <a:solidFill>
                  <a:srgbClr val="0000FF"/>
                </a:solidFill>
                <a:latin typeface="Arial" panose="020B0604020202020204" pitchFamily="34" charset="0"/>
                <a:ea typeface="楷体_GB2312"/>
              </a:rPr>
              <a:t>由于</a:t>
            </a:r>
            <a:r>
              <a:rPr lang="en-US" altLang="zh-CN" sz="2000" b="1" dirty="0">
                <a:solidFill>
                  <a:srgbClr val="0000FF"/>
                </a:solidFill>
                <a:latin typeface="Arial" panose="020B0604020202020204" pitchFamily="34" charset="0"/>
                <a:ea typeface="楷体_GB2312"/>
              </a:rPr>
              <a:t>X</a:t>
            </a:r>
            <a:r>
              <a:rPr lang="zh-CN" altLang="en-US" sz="2000" b="1" dirty="0">
                <a:solidFill>
                  <a:srgbClr val="0000FF"/>
                </a:solidFill>
                <a:latin typeface="Arial" panose="020B0604020202020204" pitchFamily="34" charset="0"/>
                <a:ea typeface="楷体_GB2312"/>
              </a:rPr>
              <a:t>为负数，因此，</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7</a:t>
            </a:r>
            <a:r>
              <a:rPr lang="zh-CN" altLang="en-US" sz="2000" b="1" dirty="0">
                <a:solidFill>
                  <a:srgbClr val="0000FF"/>
                </a:solidFill>
                <a:latin typeface="Arial" panose="020B0604020202020204" pitchFamily="34" charset="0"/>
                <a:ea typeface="楷体_GB2312"/>
              </a:rPr>
              <a:t>一定为</a:t>
            </a:r>
            <a:r>
              <a:rPr lang="en-US" altLang="zh-CN" sz="2000" b="1" dirty="0">
                <a:solidFill>
                  <a:srgbClr val="0000FF"/>
                </a:solidFill>
                <a:latin typeface="Arial" panose="020B0604020202020204" pitchFamily="34" charset="0"/>
                <a:ea typeface="楷体_GB2312"/>
              </a:rPr>
              <a:t>1</a:t>
            </a:r>
            <a:r>
              <a:rPr lang="zh-CN" altLang="en-US" sz="2000" b="1" dirty="0">
                <a:solidFill>
                  <a:srgbClr val="0000FF"/>
                </a:solidFill>
                <a:latin typeface="Arial" panose="020B0604020202020204" pitchFamily="34" charset="0"/>
                <a:ea typeface="楷体_GB2312"/>
              </a:rPr>
              <a:t>，因此，</a:t>
            </a:r>
            <a:endParaRPr lang="zh-CN" altLang="en-US" sz="2000" b="1" dirty="0">
              <a:solidFill>
                <a:srgbClr val="0000FF"/>
              </a:solidFill>
              <a:latin typeface="Arial" panose="020B0604020202020204" pitchFamily="34" charset="0"/>
              <a:ea typeface="楷体_GB2312"/>
            </a:endParaRPr>
          </a:p>
          <a:p>
            <a:pPr algn="ctr"/>
            <a:r>
              <a:rPr lang="en-US" altLang="zh-CN" sz="2000" b="1" dirty="0">
                <a:solidFill>
                  <a:srgbClr val="0000FF"/>
                </a:solidFill>
                <a:latin typeface="Arial" panose="020B0604020202020204" pitchFamily="34" charset="0"/>
                <a:ea typeface="楷体_GB2312"/>
              </a:rPr>
              <a:t>X=[X</a:t>
            </a:r>
            <a:r>
              <a:rPr lang="en-US" altLang="zh-CN" sz="2000" b="1" baseline="-25000" dirty="0">
                <a:solidFill>
                  <a:srgbClr val="0000FF"/>
                </a:solidFill>
                <a:latin typeface="Arial" panose="020B0604020202020204" pitchFamily="34" charset="0"/>
                <a:ea typeface="楷体_GB2312"/>
              </a:rPr>
              <a:t>7</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6</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5</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4</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3</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2</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1</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0</a:t>
            </a:r>
            <a:r>
              <a:rPr lang="en-US" altLang="zh-CN" sz="2000" b="1" dirty="0">
                <a:solidFill>
                  <a:srgbClr val="0000FF"/>
                </a:solidFill>
                <a:latin typeface="Arial" panose="020B0604020202020204" pitchFamily="34" charset="0"/>
                <a:ea typeface="楷体_GB2312"/>
              </a:rPr>
              <a:t>]</a:t>
            </a:r>
            <a:r>
              <a:rPr lang="en-US" altLang="zh-CN" sz="2000" b="1" baseline="-25000" dirty="0">
                <a:solidFill>
                  <a:srgbClr val="0000FF"/>
                </a:solidFill>
                <a:latin typeface="Arial" panose="020B0604020202020204" pitchFamily="34" charset="0"/>
                <a:ea typeface="楷体_GB2312"/>
              </a:rPr>
              <a:t>2 </a:t>
            </a:r>
            <a:r>
              <a:rPr lang="en-US" altLang="zh-CN" sz="2000" b="1" dirty="0">
                <a:solidFill>
                  <a:srgbClr val="0000FF"/>
                </a:solidFill>
                <a:latin typeface="Arial" panose="020B0604020202020204" pitchFamily="34" charset="0"/>
                <a:ea typeface="楷体_GB2312"/>
              </a:rPr>
              <a:t>-2</a:t>
            </a:r>
            <a:r>
              <a:rPr lang="en-US" altLang="zh-CN" sz="2000" b="1" baseline="30000" dirty="0">
                <a:solidFill>
                  <a:srgbClr val="0000FF"/>
                </a:solidFill>
                <a:latin typeface="Arial" panose="020B0604020202020204" pitchFamily="34" charset="0"/>
                <a:ea typeface="楷体_GB2312"/>
              </a:rPr>
              <a:t>7+1</a:t>
            </a:r>
            <a:endParaRPr lang="en-US" altLang="zh-CN" sz="2000" b="1" baseline="30000" dirty="0">
              <a:solidFill>
                <a:srgbClr val="0000FF"/>
              </a:solidFill>
              <a:latin typeface="Arial" panose="020B0604020202020204" pitchFamily="34" charset="0"/>
              <a:ea typeface="楷体_GB2312"/>
            </a:endParaRPr>
          </a:p>
          <a:p>
            <a:pPr algn="ctr"/>
            <a:r>
              <a:rPr lang="en-US" altLang="zh-CN" sz="2000" b="1" dirty="0">
                <a:solidFill>
                  <a:srgbClr val="0000FF"/>
                </a:solidFill>
                <a:latin typeface="Arial" panose="020B0604020202020204" pitchFamily="34" charset="0"/>
                <a:ea typeface="楷体_GB2312"/>
              </a:rPr>
              <a:t>   =2</a:t>
            </a:r>
            <a:r>
              <a:rPr lang="en-US" altLang="zh-CN" sz="2000" b="1" baseline="30000" dirty="0">
                <a:solidFill>
                  <a:srgbClr val="0000FF"/>
                </a:solidFill>
                <a:latin typeface="Arial" panose="020B0604020202020204" pitchFamily="34" charset="0"/>
                <a:ea typeface="楷体_GB2312"/>
              </a:rPr>
              <a:t>7</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6</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5</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4</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3</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2</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1</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0</a:t>
            </a:r>
            <a:r>
              <a:rPr lang="en-US" altLang="zh-CN" sz="2000" b="1" dirty="0">
                <a:solidFill>
                  <a:srgbClr val="0000FF"/>
                </a:solidFill>
                <a:latin typeface="Arial" panose="020B0604020202020204" pitchFamily="34" charset="0"/>
                <a:ea typeface="楷体_GB2312"/>
              </a:rPr>
              <a:t>]</a:t>
            </a:r>
            <a:r>
              <a:rPr lang="en-US" altLang="zh-CN" sz="2000" b="1" baseline="-25000" dirty="0">
                <a:solidFill>
                  <a:srgbClr val="0000FF"/>
                </a:solidFill>
                <a:latin typeface="Arial" panose="020B0604020202020204" pitchFamily="34" charset="0"/>
                <a:ea typeface="楷体_GB2312"/>
              </a:rPr>
              <a:t>2 </a:t>
            </a:r>
            <a:r>
              <a:rPr lang="en-US" altLang="zh-CN" sz="2000" b="1" dirty="0">
                <a:solidFill>
                  <a:srgbClr val="0000FF"/>
                </a:solidFill>
                <a:latin typeface="Arial" panose="020B0604020202020204" pitchFamily="34" charset="0"/>
                <a:ea typeface="楷体_GB2312"/>
              </a:rPr>
              <a:t>-2</a:t>
            </a:r>
            <a:r>
              <a:rPr lang="en-US" altLang="zh-CN" sz="2000" b="1" baseline="30000" dirty="0">
                <a:solidFill>
                  <a:srgbClr val="0000FF"/>
                </a:solidFill>
                <a:latin typeface="Arial" panose="020B0604020202020204" pitchFamily="34" charset="0"/>
                <a:ea typeface="楷体_GB2312"/>
              </a:rPr>
              <a:t>7+1</a:t>
            </a:r>
            <a:endParaRPr lang="en-US" altLang="zh-CN" sz="2000" b="1" baseline="30000" dirty="0">
              <a:solidFill>
                <a:srgbClr val="0000FF"/>
              </a:solidFill>
              <a:latin typeface="Arial" panose="020B0604020202020204" pitchFamily="34" charset="0"/>
              <a:ea typeface="楷体_GB2312"/>
            </a:endParaRPr>
          </a:p>
          <a:p>
            <a:pPr algn="ct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6</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5</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4</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3</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2</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1</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0</a:t>
            </a:r>
            <a:r>
              <a:rPr lang="en-US" altLang="zh-CN" sz="2000" b="1" dirty="0">
                <a:solidFill>
                  <a:srgbClr val="0000FF"/>
                </a:solidFill>
                <a:latin typeface="Arial" panose="020B0604020202020204" pitchFamily="34" charset="0"/>
                <a:ea typeface="楷体_GB2312"/>
              </a:rPr>
              <a:t>]</a:t>
            </a:r>
            <a:r>
              <a:rPr lang="en-US" altLang="zh-CN" sz="2000" b="1" baseline="-25000" dirty="0">
                <a:solidFill>
                  <a:srgbClr val="0000FF"/>
                </a:solidFill>
                <a:latin typeface="Arial" panose="020B0604020202020204" pitchFamily="34" charset="0"/>
                <a:ea typeface="楷体_GB2312"/>
              </a:rPr>
              <a:t>2 </a:t>
            </a:r>
            <a:r>
              <a:rPr lang="en-US" altLang="zh-CN" sz="2000" b="1" dirty="0">
                <a:solidFill>
                  <a:srgbClr val="0000FF"/>
                </a:solidFill>
                <a:latin typeface="Arial" panose="020B0604020202020204" pitchFamily="34" charset="0"/>
                <a:ea typeface="楷体_GB2312"/>
              </a:rPr>
              <a:t>- 2</a:t>
            </a:r>
            <a:r>
              <a:rPr lang="en-US" altLang="zh-CN" sz="2000" b="1" baseline="30000" dirty="0">
                <a:solidFill>
                  <a:srgbClr val="0000FF"/>
                </a:solidFill>
                <a:latin typeface="Arial" panose="020B0604020202020204" pitchFamily="34" charset="0"/>
                <a:ea typeface="楷体_GB2312"/>
              </a:rPr>
              <a:t>7</a:t>
            </a:r>
            <a:endParaRPr lang="en-US" altLang="zh-CN" sz="2000" b="1" baseline="30000" dirty="0">
              <a:solidFill>
                <a:srgbClr val="0000FF"/>
              </a:solidFill>
              <a:latin typeface="Arial" panose="020B0604020202020204" pitchFamily="34" charset="0"/>
              <a:ea typeface="楷体_GB2312"/>
            </a:endParaRPr>
          </a:p>
          <a:p>
            <a:endParaRPr lang="en-US" altLang="zh-CN" sz="2000" b="1" dirty="0">
              <a:solidFill>
                <a:srgbClr val="0000FF"/>
              </a:solidFill>
              <a:latin typeface="Arial" panose="020B0604020202020204" pitchFamily="34" charset="0"/>
              <a:ea typeface="楷体_GB2312"/>
            </a:endParaRPr>
          </a:p>
          <a:p>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6</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5</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4</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3</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2</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1</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0</a:t>
            </a:r>
            <a:r>
              <a:rPr lang="zh-CN" altLang="en-US" sz="2000" b="1" dirty="0">
                <a:solidFill>
                  <a:srgbClr val="0000FF"/>
                </a:solidFill>
                <a:latin typeface="Arial" panose="020B0604020202020204" pitchFamily="34" charset="0"/>
                <a:ea typeface="楷体_GB2312"/>
              </a:rPr>
              <a:t>中还有两个‘</a:t>
            </a:r>
            <a:r>
              <a:rPr lang="en-US" altLang="zh-CN" sz="2000" b="1" dirty="0">
                <a:solidFill>
                  <a:srgbClr val="0000FF"/>
                </a:solidFill>
                <a:latin typeface="Arial" panose="020B0604020202020204" pitchFamily="34" charset="0"/>
                <a:ea typeface="楷体_GB2312"/>
              </a:rPr>
              <a:t>1’</a:t>
            </a:r>
            <a:r>
              <a:rPr lang="zh-CN" altLang="en-US" sz="2000" b="1" dirty="0">
                <a:solidFill>
                  <a:srgbClr val="0000FF"/>
                </a:solidFill>
                <a:latin typeface="Arial" panose="020B0604020202020204" pitchFamily="34" charset="0"/>
                <a:ea typeface="楷体_GB2312"/>
              </a:rPr>
              <a:t>，很显然，这两个‘</a:t>
            </a:r>
            <a:r>
              <a:rPr lang="en-US" altLang="zh-CN" sz="2000" b="1" dirty="0">
                <a:solidFill>
                  <a:srgbClr val="0000FF"/>
                </a:solidFill>
                <a:latin typeface="Arial" panose="020B0604020202020204" pitchFamily="34" charset="0"/>
                <a:ea typeface="楷体_GB2312"/>
              </a:rPr>
              <a:t>1’</a:t>
            </a:r>
            <a:r>
              <a:rPr lang="zh-CN" altLang="en-US" sz="2000" b="1" dirty="0">
                <a:solidFill>
                  <a:srgbClr val="0000FF"/>
                </a:solidFill>
                <a:latin typeface="Arial" panose="020B0604020202020204" pitchFamily="34" charset="0"/>
                <a:ea typeface="楷体_GB2312"/>
              </a:rPr>
              <a:t>只有在最低两位才是最小值，因此，</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6</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5</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4</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3</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2</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1</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0</a:t>
            </a:r>
            <a:r>
              <a:rPr lang="en-US" altLang="zh-CN" sz="2000" b="1" dirty="0">
                <a:solidFill>
                  <a:srgbClr val="0000FF"/>
                </a:solidFill>
                <a:latin typeface="Arial" panose="020B0604020202020204" pitchFamily="34" charset="0"/>
                <a:ea typeface="楷体_GB2312"/>
              </a:rPr>
              <a:t> =0000011</a:t>
            </a:r>
            <a:r>
              <a:rPr lang="zh-CN" altLang="en-US" sz="2000" b="1" dirty="0">
                <a:solidFill>
                  <a:srgbClr val="0000FF"/>
                </a:solidFill>
                <a:latin typeface="Arial" panose="020B0604020202020204" pitchFamily="34" charset="0"/>
                <a:ea typeface="楷体_GB2312"/>
              </a:rPr>
              <a:t>，所以，</a:t>
            </a:r>
            <a:endParaRPr lang="zh-CN" altLang="en-US" sz="2000" b="1" dirty="0">
              <a:solidFill>
                <a:srgbClr val="0000FF"/>
              </a:solidFill>
              <a:latin typeface="Arial" panose="020B0604020202020204" pitchFamily="34" charset="0"/>
              <a:ea typeface="楷体_GB2312"/>
            </a:endParaRPr>
          </a:p>
          <a:p>
            <a:pPr algn="ctr"/>
            <a:r>
              <a:rPr lang="en-US" altLang="zh-CN" sz="2000" b="1" dirty="0">
                <a:solidFill>
                  <a:srgbClr val="0000FF"/>
                </a:solidFill>
                <a:latin typeface="Arial" panose="020B0604020202020204" pitchFamily="34" charset="0"/>
                <a:ea typeface="楷体_GB2312"/>
              </a:rPr>
              <a:t>X=[X</a:t>
            </a:r>
            <a:r>
              <a:rPr lang="en-US" altLang="zh-CN" sz="2000" b="1" baseline="-25000" dirty="0">
                <a:solidFill>
                  <a:srgbClr val="0000FF"/>
                </a:solidFill>
                <a:latin typeface="Arial" panose="020B0604020202020204" pitchFamily="34" charset="0"/>
                <a:ea typeface="楷体_GB2312"/>
              </a:rPr>
              <a:t>6</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5</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4</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3</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2</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1</a:t>
            </a:r>
            <a:r>
              <a:rPr lang="en-US" altLang="zh-CN" sz="2000" b="1" dirty="0">
                <a:solidFill>
                  <a:srgbClr val="0000FF"/>
                </a:solidFill>
                <a:latin typeface="Arial" panose="020B0604020202020204" pitchFamily="34" charset="0"/>
                <a:ea typeface="楷体_GB2312"/>
              </a:rPr>
              <a:t>X</a:t>
            </a:r>
            <a:r>
              <a:rPr lang="en-US" altLang="zh-CN" sz="2000" b="1" baseline="-25000" dirty="0">
                <a:solidFill>
                  <a:srgbClr val="0000FF"/>
                </a:solidFill>
                <a:latin typeface="Arial" panose="020B0604020202020204" pitchFamily="34" charset="0"/>
                <a:ea typeface="楷体_GB2312"/>
              </a:rPr>
              <a:t>0</a:t>
            </a:r>
            <a:r>
              <a:rPr lang="en-US" altLang="zh-CN" sz="2000" b="1" dirty="0">
                <a:solidFill>
                  <a:srgbClr val="0000FF"/>
                </a:solidFill>
                <a:latin typeface="Arial" panose="020B0604020202020204" pitchFamily="34" charset="0"/>
                <a:ea typeface="楷体_GB2312"/>
              </a:rPr>
              <a:t>]</a:t>
            </a:r>
            <a:r>
              <a:rPr lang="en-US" altLang="zh-CN" sz="2000" b="1" baseline="-25000" dirty="0">
                <a:solidFill>
                  <a:srgbClr val="0000FF"/>
                </a:solidFill>
                <a:latin typeface="Arial" panose="020B0604020202020204" pitchFamily="34" charset="0"/>
                <a:ea typeface="楷体_GB2312"/>
              </a:rPr>
              <a:t>2 </a:t>
            </a:r>
            <a:r>
              <a:rPr lang="en-US" altLang="zh-CN" sz="2000" b="1" dirty="0">
                <a:solidFill>
                  <a:srgbClr val="0000FF"/>
                </a:solidFill>
                <a:latin typeface="Arial" panose="020B0604020202020204" pitchFamily="34" charset="0"/>
                <a:ea typeface="楷体_GB2312"/>
              </a:rPr>
              <a:t>- 2</a:t>
            </a:r>
            <a:r>
              <a:rPr lang="en-US" altLang="zh-CN" sz="2000" b="1" baseline="30000" dirty="0">
                <a:solidFill>
                  <a:srgbClr val="0000FF"/>
                </a:solidFill>
                <a:latin typeface="Arial" panose="020B0604020202020204" pitchFamily="34" charset="0"/>
                <a:ea typeface="楷体_GB2312"/>
              </a:rPr>
              <a:t>7</a:t>
            </a:r>
            <a:r>
              <a:rPr lang="en-US" altLang="zh-CN" sz="2000" b="1" dirty="0">
                <a:solidFill>
                  <a:srgbClr val="0000FF"/>
                </a:solidFill>
                <a:latin typeface="Arial" panose="020B0604020202020204" pitchFamily="34" charset="0"/>
                <a:ea typeface="楷体_GB2312"/>
              </a:rPr>
              <a:t>=[0000011]</a:t>
            </a:r>
            <a:r>
              <a:rPr lang="en-US" altLang="zh-CN" sz="2000" b="1" baseline="-25000" dirty="0">
                <a:solidFill>
                  <a:srgbClr val="0000FF"/>
                </a:solidFill>
                <a:latin typeface="Arial" panose="020B0604020202020204" pitchFamily="34" charset="0"/>
                <a:ea typeface="楷体_GB2312"/>
              </a:rPr>
              <a:t>2</a:t>
            </a:r>
            <a:r>
              <a:rPr lang="en-US" altLang="zh-CN" sz="2000" b="1" dirty="0">
                <a:solidFill>
                  <a:srgbClr val="0000FF"/>
                </a:solidFill>
                <a:latin typeface="Arial" panose="020B0604020202020204" pitchFamily="34" charset="0"/>
                <a:ea typeface="楷体_GB2312"/>
              </a:rPr>
              <a:t>- 2</a:t>
            </a:r>
            <a:r>
              <a:rPr lang="en-US" altLang="zh-CN" sz="2000" b="1" baseline="30000" dirty="0">
                <a:solidFill>
                  <a:srgbClr val="0000FF"/>
                </a:solidFill>
                <a:latin typeface="Arial" panose="020B0604020202020204" pitchFamily="34" charset="0"/>
                <a:ea typeface="楷体_GB2312"/>
              </a:rPr>
              <a:t>7</a:t>
            </a:r>
            <a:r>
              <a:rPr lang="en-US" altLang="zh-CN" sz="2000" b="1" dirty="0">
                <a:solidFill>
                  <a:srgbClr val="0000FF"/>
                </a:solidFill>
                <a:latin typeface="Arial" panose="020B0604020202020204" pitchFamily="34" charset="0"/>
                <a:ea typeface="楷体_GB2312"/>
              </a:rPr>
              <a:t>= 2</a:t>
            </a:r>
            <a:r>
              <a:rPr lang="en-US" altLang="zh-CN" sz="2000" b="1" baseline="30000" dirty="0">
                <a:solidFill>
                  <a:srgbClr val="0000FF"/>
                </a:solidFill>
                <a:latin typeface="Arial" panose="020B0604020202020204" pitchFamily="34" charset="0"/>
                <a:ea typeface="楷体_GB2312"/>
              </a:rPr>
              <a:t>1</a:t>
            </a:r>
            <a:r>
              <a:rPr lang="en-US" altLang="zh-CN" sz="2000" b="1" dirty="0">
                <a:solidFill>
                  <a:srgbClr val="0000FF"/>
                </a:solidFill>
                <a:latin typeface="Arial" panose="020B0604020202020204" pitchFamily="34" charset="0"/>
                <a:ea typeface="楷体_GB2312"/>
              </a:rPr>
              <a:t>+2</a:t>
            </a:r>
            <a:r>
              <a:rPr lang="en-US" altLang="zh-CN" sz="2000" b="1" baseline="30000" dirty="0">
                <a:solidFill>
                  <a:srgbClr val="0000FF"/>
                </a:solidFill>
                <a:latin typeface="Arial" panose="020B0604020202020204" pitchFamily="34" charset="0"/>
                <a:ea typeface="楷体_GB2312"/>
              </a:rPr>
              <a:t>0</a:t>
            </a:r>
            <a:r>
              <a:rPr lang="en-US" altLang="zh-CN" sz="2000" b="1" dirty="0">
                <a:solidFill>
                  <a:srgbClr val="0000FF"/>
                </a:solidFill>
                <a:latin typeface="Arial" panose="020B0604020202020204" pitchFamily="34" charset="0"/>
                <a:ea typeface="楷体_GB2312"/>
              </a:rPr>
              <a:t>-2</a:t>
            </a:r>
            <a:r>
              <a:rPr lang="en-US" altLang="zh-CN" sz="2000" b="1" baseline="30000" dirty="0">
                <a:solidFill>
                  <a:srgbClr val="0000FF"/>
                </a:solidFill>
                <a:latin typeface="Arial" panose="020B0604020202020204" pitchFamily="34" charset="0"/>
                <a:ea typeface="楷体_GB2312"/>
              </a:rPr>
              <a:t>7</a:t>
            </a:r>
            <a:r>
              <a:rPr lang="en-US" altLang="zh-CN" sz="2000" b="1" dirty="0">
                <a:solidFill>
                  <a:srgbClr val="0000FF"/>
                </a:solidFill>
                <a:latin typeface="Arial" panose="020B0604020202020204" pitchFamily="34" charset="0"/>
                <a:ea typeface="楷体_GB2312"/>
              </a:rPr>
              <a:t>=-125</a:t>
            </a:r>
            <a:endParaRPr lang="en-US" altLang="zh-CN" sz="2000" b="1" dirty="0">
              <a:solidFill>
                <a:srgbClr val="0000FF"/>
              </a:solidFill>
              <a:latin typeface="Arial" panose="020B0604020202020204" pitchFamily="34" charset="0"/>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8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Rectangle 2"/>
          <p:cNvSpPr>
            <a:spLocks noGrp="1" noRot="1"/>
          </p:cNvSpPr>
          <p:nvPr>
            <p:ph type="title"/>
          </p:nvPr>
        </p:nvSpPr>
        <p:spPr>
          <a:noFill/>
          <a:ln>
            <a:noFill/>
          </a:ln>
        </p:spPr>
        <p:txBody>
          <a:bodyPr anchor="t"/>
          <a:p>
            <a:pPr>
              <a:buNone/>
            </a:pPr>
            <a:r>
              <a:rPr lang="zh-CN" altLang="en-US" sz="3600" dirty="0">
                <a:solidFill>
                  <a:srgbClr val="0000FF"/>
                </a:solidFill>
                <a:latin typeface="微软雅黑" panose="020B0503020204020204" charset="-122"/>
                <a:ea typeface="微软雅黑" panose="020B0503020204020204" charset="-122"/>
              </a:rPr>
              <a:t>移码表示法</a:t>
            </a:r>
            <a:endParaRPr lang="zh-CN" altLang="en-US" sz="3600" dirty="0">
              <a:solidFill>
                <a:srgbClr val="0000FF"/>
              </a:solidFill>
              <a:latin typeface="微软雅黑" panose="020B0503020204020204" charset="-122"/>
              <a:ea typeface="微软雅黑" panose="020B0503020204020204" charset="-122"/>
            </a:endParaRPr>
          </a:p>
        </p:txBody>
      </p:sp>
      <p:sp>
        <p:nvSpPr>
          <p:cNvPr id="49154" name="Rectangle 3"/>
          <p:cNvSpPr>
            <a:spLocks noGrp="1" noRot="1"/>
          </p:cNvSpPr>
          <p:nvPr>
            <p:ph idx="1"/>
          </p:nvPr>
        </p:nvSpPr>
        <p:spPr>
          <a:xfrm>
            <a:off x="301625" y="1500188"/>
            <a:ext cx="8540750" cy="852487"/>
          </a:xfrm>
          <a:noFill/>
          <a:ln>
            <a:noFill/>
          </a:ln>
        </p:spPr>
        <p:txBody>
          <a:bodyPr anchor="t"/>
          <a:p>
            <a:pPr>
              <a:buClr>
                <a:schemeClr val="tx2"/>
              </a:buClr>
              <a:buSzPct val="80000"/>
              <a:buChar char="u"/>
            </a:pPr>
            <a:r>
              <a:rPr lang="en-US" altLang="zh-CN" i="1" dirty="0">
                <a:solidFill>
                  <a:schemeClr val="tx2"/>
                </a:solidFill>
                <a:latin typeface="微软雅黑" panose="020B0503020204020204" charset="-122"/>
                <a:ea typeface="微软雅黑" panose="020B0503020204020204" charset="-122"/>
              </a:rPr>
              <a:t>n</a:t>
            </a:r>
            <a:r>
              <a:rPr lang="zh-CN" altLang="en-US" i="1" dirty="0">
                <a:solidFill>
                  <a:schemeClr val="tx2"/>
                </a:solidFill>
                <a:latin typeface="微软雅黑" panose="020B0503020204020204" charset="-122"/>
                <a:ea typeface="微软雅黑" panose="020B0503020204020204" charset="-122"/>
              </a:rPr>
              <a:t>位整数，</a:t>
            </a:r>
            <a:r>
              <a:rPr lang="zh-CN" altLang="en-US" dirty="0">
                <a:solidFill>
                  <a:schemeClr val="tx2"/>
                </a:solidFill>
                <a:latin typeface="微软雅黑" panose="020B0503020204020204" charset="-122"/>
                <a:ea typeface="微软雅黑" panose="020B0503020204020204" charset="-122"/>
              </a:rPr>
              <a:t>假定移码形式为 </a:t>
            </a:r>
            <a:r>
              <a:rPr lang="en-US" altLang="zh-CN" i="1" dirty="0">
                <a:solidFill>
                  <a:srgbClr val="FF0000"/>
                </a:solidFill>
              </a:rPr>
              <a:t>Xs X</a:t>
            </a:r>
            <a:r>
              <a:rPr lang="en-US" altLang="zh-CN" i="1" baseline="-25000" dirty="0">
                <a:solidFill>
                  <a:srgbClr val="FF0000"/>
                </a:solidFill>
              </a:rPr>
              <a:t>1</a:t>
            </a:r>
            <a:r>
              <a:rPr lang="en-US" altLang="zh-CN" i="1" dirty="0">
                <a:solidFill>
                  <a:srgbClr val="FF0000"/>
                </a:solidFill>
              </a:rPr>
              <a:t> X</a:t>
            </a:r>
            <a:r>
              <a:rPr lang="en-US" altLang="zh-CN" i="1" baseline="-25000" dirty="0">
                <a:solidFill>
                  <a:srgbClr val="FF0000"/>
                </a:solidFill>
              </a:rPr>
              <a:t>2</a:t>
            </a:r>
            <a:r>
              <a:rPr lang="en-US" altLang="zh-CN" i="1" dirty="0">
                <a:solidFill>
                  <a:srgbClr val="FF0000"/>
                </a:solidFill>
              </a:rPr>
              <a:t> </a:t>
            </a:r>
            <a:r>
              <a:rPr lang="en-US" altLang="zh-CN" i="1" dirty="0">
                <a:solidFill>
                  <a:srgbClr val="FF0000"/>
                </a:solidFill>
                <a:latin typeface="Tahoma" panose="020B0604030504040204" pitchFamily="34" charset="0"/>
              </a:rPr>
              <a:t>···</a:t>
            </a:r>
            <a:r>
              <a:rPr lang="en-US" altLang="zh-CN" i="1" dirty="0">
                <a:solidFill>
                  <a:srgbClr val="FF0000"/>
                </a:solidFill>
              </a:rPr>
              <a:t> Xn</a:t>
            </a:r>
            <a:endParaRPr lang="en-US" altLang="zh-CN" i="1" dirty="0">
              <a:solidFill>
                <a:srgbClr val="FF0000"/>
              </a:solidFill>
            </a:endParaRPr>
          </a:p>
        </p:txBody>
      </p:sp>
      <p:grpSp>
        <p:nvGrpSpPr>
          <p:cNvPr id="38916" name="Group 4"/>
          <p:cNvGrpSpPr/>
          <p:nvPr/>
        </p:nvGrpSpPr>
        <p:grpSpPr>
          <a:xfrm>
            <a:off x="1547813" y="2133600"/>
            <a:ext cx="5105400" cy="595313"/>
            <a:chOff x="816" y="2121"/>
            <a:chExt cx="3216" cy="375"/>
          </a:xfrm>
        </p:grpSpPr>
        <p:sp>
          <p:nvSpPr>
            <p:cNvPr id="49156" name="Text Box 5"/>
            <p:cNvSpPr txBox="1"/>
            <p:nvPr/>
          </p:nvSpPr>
          <p:spPr>
            <a:xfrm>
              <a:off x="1392" y="2139"/>
              <a:ext cx="687" cy="288"/>
            </a:xfrm>
            <a:prstGeom prst="rect">
              <a:avLst/>
            </a:prstGeom>
            <a:noFill/>
            <a:ln w="9525">
              <a:noFill/>
            </a:ln>
          </p:spPr>
          <p:txBody>
            <a:bodyPr wrap="none" anchor="t">
              <a:spAutoFit/>
            </a:bodyPr>
            <a:p>
              <a:pPr eaLnBrk="0" hangingPunct="0"/>
              <a:r>
                <a:rPr lang="en-US" altLang="zh-CN" sz="2400" dirty="0">
                  <a:solidFill>
                    <a:srgbClr val="CC0000"/>
                  </a:solidFill>
                  <a:latin typeface="Tahoma" panose="020B0604030504040204" pitchFamily="34" charset="0"/>
                </a:rPr>
                <a:t> 2</a:t>
              </a:r>
              <a:r>
                <a:rPr lang="en-US" altLang="zh-CN" sz="2400" baseline="30000" dirty="0">
                  <a:solidFill>
                    <a:srgbClr val="CC0000"/>
                  </a:solidFill>
                  <a:latin typeface="Tahoma" panose="020B0604030504040204" pitchFamily="34" charset="0"/>
                </a:rPr>
                <a:t>n </a:t>
              </a:r>
              <a:r>
                <a:rPr lang="en-US" altLang="zh-CN" sz="2400" dirty="0">
                  <a:solidFill>
                    <a:srgbClr val="CC0000"/>
                  </a:solidFill>
                  <a:latin typeface="Tahoma" panose="020B0604030504040204" pitchFamily="34" charset="0"/>
                </a:rPr>
                <a:t>+ </a:t>
              </a:r>
              <a:r>
                <a:rPr lang="en-US" altLang="zh-CN" sz="2400" i="1" dirty="0">
                  <a:solidFill>
                    <a:srgbClr val="CC0000"/>
                  </a:solidFill>
                  <a:latin typeface="Tahoma" panose="020B0604030504040204" pitchFamily="34" charset="0"/>
                </a:rPr>
                <a:t>x</a:t>
              </a:r>
              <a:endParaRPr lang="en-US" altLang="zh-CN" sz="2400" dirty="0">
                <a:solidFill>
                  <a:srgbClr val="CC0000"/>
                </a:solidFill>
                <a:latin typeface="Tahoma" panose="020B0604030504040204" pitchFamily="34" charset="0"/>
              </a:endParaRPr>
            </a:p>
          </p:txBody>
        </p:sp>
        <p:sp>
          <p:nvSpPr>
            <p:cNvPr id="49157" name="Text Box 6"/>
            <p:cNvSpPr txBox="1"/>
            <p:nvPr/>
          </p:nvSpPr>
          <p:spPr>
            <a:xfrm>
              <a:off x="2592" y="2121"/>
              <a:ext cx="1440" cy="288"/>
            </a:xfrm>
            <a:prstGeom prst="rect">
              <a:avLst/>
            </a:prstGeom>
            <a:noFill/>
            <a:ln w="9525">
              <a:noFill/>
            </a:ln>
          </p:spPr>
          <p:txBody>
            <a:bodyPr anchor="t">
              <a:spAutoFit/>
            </a:bodyPr>
            <a:p>
              <a:pPr eaLnBrk="0" hangingPunct="0"/>
              <a:r>
                <a:rPr lang="en-US" altLang="zh-CN" sz="2400" dirty="0">
                  <a:solidFill>
                    <a:srgbClr val="CC0000"/>
                  </a:solidFill>
                  <a:latin typeface="Tahoma" panose="020B0604030504040204" pitchFamily="34" charset="0"/>
                </a:rPr>
                <a:t>  -2</a:t>
              </a:r>
              <a:r>
                <a:rPr lang="en-US" altLang="zh-CN" sz="2400" baseline="30000" dirty="0">
                  <a:solidFill>
                    <a:srgbClr val="CC0000"/>
                  </a:solidFill>
                  <a:latin typeface="Tahoma" panose="020B0604030504040204" pitchFamily="34" charset="0"/>
                </a:rPr>
                <a:t>n</a:t>
              </a:r>
              <a:r>
                <a:rPr lang="en-US" altLang="zh-CN" sz="2400" dirty="0">
                  <a:solidFill>
                    <a:srgbClr val="CC0000"/>
                  </a:solidFill>
                  <a:latin typeface="Tahoma" panose="020B0604030504040204" pitchFamily="34" charset="0"/>
                </a:rPr>
                <a:t> </a:t>
              </a:r>
              <a:r>
                <a:rPr lang="en-US" altLang="zh-CN" sz="2400" dirty="0">
                  <a:solidFill>
                    <a:srgbClr val="CC0000"/>
                  </a:solidFill>
                  <a:latin typeface="Tahoma" panose="020B0604030504040204" pitchFamily="34" charset="0"/>
                  <a:sym typeface="Symbol" panose="05050102010706020507" pitchFamily="18" charset="2"/>
                </a:rPr>
                <a:t></a:t>
              </a:r>
              <a:r>
                <a:rPr lang="en-US" altLang="zh-CN" sz="2400" dirty="0">
                  <a:solidFill>
                    <a:srgbClr val="CC0000"/>
                  </a:solidFill>
                  <a:latin typeface="Tahoma" panose="020B0604030504040204" pitchFamily="34" charset="0"/>
                </a:rPr>
                <a:t>  </a:t>
              </a:r>
              <a:r>
                <a:rPr lang="en-US" altLang="zh-CN" sz="2400" i="1" dirty="0">
                  <a:solidFill>
                    <a:srgbClr val="CC0000"/>
                  </a:solidFill>
                  <a:latin typeface="Tahoma" panose="020B0604030504040204" pitchFamily="34" charset="0"/>
                </a:rPr>
                <a:t>x</a:t>
              </a:r>
              <a:r>
                <a:rPr lang="en-US" altLang="zh-CN" sz="2400" dirty="0">
                  <a:solidFill>
                    <a:srgbClr val="CC0000"/>
                  </a:solidFill>
                  <a:latin typeface="Tahoma" panose="020B0604030504040204" pitchFamily="34" charset="0"/>
                </a:rPr>
                <a:t> </a:t>
              </a:r>
              <a:r>
                <a:rPr lang="en-US" altLang="zh-CN" sz="2400" dirty="0">
                  <a:solidFill>
                    <a:srgbClr val="CC0000"/>
                  </a:solidFill>
                  <a:latin typeface="Tahoma" panose="020B0604030504040204" pitchFamily="34" charset="0"/>
                  <a:sym typeface="Symbol" panose="05050102010706020507" pitchFamily="18" charset="2"/>
                </a:rPr>
                <a:t></a:t>
              </a:r>
              <a:r>
                <a:rPr lang="en-US" altLang="zh-CN" sz="2400" dirty="0">
                  <a:solidFill>
                    <a:srgbClr val="CC0000"/>
                  </a:solidFill>
                  <a:latin typeface="Tahoma" panose="020B0604030504040204" pitchFamily="34" charset="0"/>
                </a:rPr>
                <a:t> 2</a:t>
              </a:r>
              <a:r>
                <a:rPr lang="en-US" altLang="zh-CN" sz="2400" baseline="30000" dirty="0">
                  <a:solidFill>
                    <a:srgbClr val="CC0000"/>
                  </a:solidFill>
                  <a:latin typeface="Tahoma" panose="020B0604030504040204" pitchFamily="34" charset="0"/>
                </a:rPr>
                <a:t>n</a:t>
              </a:r>
              <a:endParaRPr lang="en-US" altLang="zh-CN" sz="2400" baseline="30000" dirty="0">
                <a:solidFill>
                  <a:srgbClr val="CC0000"/>
                </a:solidFill>
                <a:latin typeface="Tahoma" panose="020B0604030504040204" pitchFamily="34" charset="0"/>
              </a:endParaRPr>
            </a:p>
          </p:txBody>
        </p:sp>
        <p:sp>
          <p:nvSpPr>
            <p:cNvPr id="49158" name="Rectangle 7"/>
            <p:cNvSpPr/>
            <p:nvPr/>
          </p:nvSpPr>
          <p:spPr>
            <a:xfrm>
              <a:off x="816" y="2121"/>
              <a:ext cx="720" cy="375"/>
            </a:xfrm>
            <a:prstGeom prst="rect">
              <a:avLst/>
            </a:prstGeom>
            <a:noFill/>
            <a:ln w="9525">
              <a:noFill/>
            </a:ln>
          </p:spPr>
          <p:txBody>
            <a:bodyPr anchor="t"/>
            <a:p>
              <a:pPr eaLnBrk="0" hangingPunct="0"/>
              <a:r>
                <a:rPr lang="en-US" altLang="zh-CN" sz="2400" dirty="0">
                  <a:solidFill>
                    <a:srgbClr val="CC0000"/>
                  </a:solidFill>
                  <a:latin typeface="Tahoma" panose="020B0604030504040204" pitchFamily="34" charset="0"/>
                </a:rPr>
                <a:t>[</a:t>
              </a:r>
              <a:r>
                <a:rPr lang="en-US" altLang="zh-CN" sz="2400" i="1" dirty="0">
                  <a:solidFill>
                    <a:srgbClr val="CC0000"/>
                  </a:solidFill>
                  <a:latin typeface="Tahoma" panose="020B0604030504040204" pitchFamily="34" charset="0"/>
                </a:rPr>
                <a:t>x</a:t>
              </a:r>
              <a:r>
                <a:rPr lang="en-US" altLang="zh-CN" sz="2400" dirty="0">
                  <a:solidFill>
                    <a:srgbClr val="CC0000"/>
                  </a:solidFill>
                  <a:latin typeface="Tahoma" panose="020B0604030504040204" pitchFamily="34" charset="0"/>
                </a:rPr>
                <a:t>]</a:t>
              </a:r>
              <a:r>
                <a:rPr lang="zh-CN" altLang="en-US" sz="2400" baseline="-25000" dirty="0">
                  <a:solidFill>
                    <a:srgbClr val="CC0000"/>
                  </a:solidFill>
                  <a:latin typeface="Tahoma" panose="020B0604030504040204" pitchFamily="34" charset="0"/>
                  <a:ea typeface="华文行楷" panose="02010800040101010101" pitchFamily="2" charset="-122"/>
                </a:rPr>
                <a:t>移</a:t>
              </a:r>
              <a:r>
                <a:rPr lang="zh-CN" altLang="en-US" sz="2400" dirty="0">
                  <a:solidFill>
                    <a:srgbClr val="CC0000"/>
                  </a:solidFill>
                  <a:latin typeface="Tahoma" panose="020B0604030504040204" pitchFamily="34" charset="0"/>
                  <a:ea typeface="华文行楷" panose="02010800040101010101" pitchFamily="2" charset="-122"/>
                </a:rPr>
                <a:t> </a:t>
              </a:r>
              <a:r>
                <a:rPr lang="en-US" altLang="zh-CN" sz="2400" dirty="0">
                  <a:solidFill>
                    <a:srgbClr val="CC0000"/>
                  </a:solidFill>
                  <a:latin typeface="Tahoma" panose="020B0604030504040204" pitchFamily="34" charset="0"/>
                </a:rPr>
                <a:t>=</a:t>
              </a:r>
              <a:endParaRPr lang="en-US" altLang="zh-CN" sz="2400" dirty="0">
                <a:solidFill>
                  <a:srgbClr val="CC0000"/>
                </a:solidFill>
                <a:latin typeface="Tahoma" panose="020B0604030504040204" pitchFamily="34" charset="0"/>
              </a:endParaRPr>
            </a:p>
          </p:txBody>
        </p:sp>
      </p:grpSp>
      <p:sp>
        <p:nvSpPr>
          <p:cNvPr id="49159" name="Rectangle 8"/>
          <p:cNvSpPr>
            <a:spLocks noRot="1"/>
          </p:cNvSpPr>
          <p:nvPr/>
        </p:nvSpPr>
        <p:spPr>
          <a:xfrm>
            <a:off x="323850" y="2781300"/>
            <a:ext cx="8540750" cy="1655763"/>
          </a:xfrm>
          <a:prstGeom prst="rect">
            <a:avLst/>
          </a:prstGeom>
          <a:noFill/>
          <a:ln w="9525">
            <a:noFill/>
          </a:ln>
        </p:spPr>
        <p:txBody>
          <a:bodyPr anchor="t"/>
          <a:p>
            <a:pPr marL="342900" indent="-342900" eaLnBrk="0" hangingPunct="0">
              <a:spcBef>
                <a:spcPct val="20000"/>
              </a:spcBef>
              <a:buClr>
                <a:schemeClr val="tx2"/>
              </a:buClr>
              <a:buSzPct val="80000"/>
              <a:buFont typeface="Wingdings" panose="05000000000000000000" pitchFamily="2" charset="2"/>
              <a:buChar char="§"/>
            </a:pPr>
            <a:r>
              <a:rPr lang="zh-CN" altLang="en-US" sz="2800" b="1" dirty="0">
                <a:solidFill>
                  <a:schemeClr val="tx2"/>
                </a:solidFill>
                <a:latin typeface="微软雅黑" panose="020B0503020204020204" charset="-122"/>
                <a:ea typeface="微软雅黑" panose="020B0503020204020204" charset="-122"/>
              </a:rPr>
              <a:t>移码通常用于表示浮点数的阶码；</a:t>
            </a:r>
            <a:endParaRPr lang="zh-CN" altLang="en-US" sz="2800" b="1" dirty="0">
              <a:solidFill>
                <a:schemeClr val="tx2"/>
              </a:solidFill>
              <a:latin typeface="微软雅黑" panose="020B0503020204020204" charset="-122"/>
              <a:ea typeface="微软雅黑" panose="020B0503020204020204" charset="-122"/>
            </a:endParaRPr>
          </a:p>
          <a:p>
            <a:pPr marL="342900" indent="-342900" eaLnBrk="0" hangingPunct="0">
              <a:spcBef>
                <a:spcPct val="20000"/>
              </a:spcBef>
              <a:buClr>
                <a:schemeClr val="tx2"/>
              </a:buClr>
              <a:buSzPct val="80000"/>
              <a:buFont typeface="Wingdings" panose="05000000000000000000" pitchFamily="2" charset="2"/>
              <a:buChar char="§"/>
            </a:pPr>
            <a:r>
              <a:rPr lang="en-US" altLang="zh-CN" sz="2800" b="1" dirty="0">
                <a:solidFill>
                  <a:schemeClr val="tx2"/>
                </a:solidFill>
                <a:latin typeface="微软雅黑" panose="020B0503020204020204" charset="-122"/>
                <a:ea typeface="微软雅黑" panose="020B0503020204020204" charset="-122"/>
              </a:rPr>
              <a:t>8 </a:t>
            </a:r>
            <a:r>
              <a:rPr lang="zh-CN" altLang="en-US" sz="2800" b="1" dirty="0">
                <a:solidFill>
                  <a:schemeClr val="tx2"/>
                </a:solidFill>
                <a:latin typeface="微软雅黑" panose="020B0503020204020204" charset="-122"/>
                <a:ea typeface="微软雅黑" panose="020B0503020204020204" charset="-122"/>
              </a:rPr>
              <a:t>位移码表示的机器数为数的真值在数轴上向右平移了 </a:t>
            </a:r>
            <a:r>
              <a:rPr lang="en-US" altLang="zh-CN" sz="2800" b="1" dirty="0">
                <a:solidFill>
                  <a:schemeClr val="tx2"/>
                </a:solidFill>
                <a:latin typeface="微软雅黑" panose="020B0503020204020204" charset="-122"/>
                <a:ea typeface="微软雅黑" panose="020B0503020204020204" charset="-122"/>
              </a:rPr>
              <a:t>128 </a:t>
            </a:r>
            <a:r>
              <a:rPr lang="zh-CN" altLang="en-US" sz="2800" b="1" dirty="0">
                <a:solidFill>
                  <a:schemeClr val="tx2"/>
                </a:solidFill>
                <a:latin typeface="微软雅黑" panose="020B0503020204020204" charset="-122"/>
                <a:ea typeface="微软雅黑" panose="020B0503020204020204" charset="-122"/>
              </a:rPr>
              <a:t>个位置。</a:t>
            </a:r>
            <a:endParaRPr lang="zh-CN" altLang="en-US" sz="2800" b="1" dirty="0">
              <a:solidFill>
                <a:schemeClr val="tx2"/>
              </a:solidFill>
              <a:latin typeface="微软雅黑" panose="020B0503020204020204" charset="-122"/>
              <a:ea typeface="微软雅黑" panose="020B0503020204020204" charset="-122"/>
            </a:endParaRPr>
          </a:p>
        </p:txBody>
      </p:sp>
      <p:grpSp>
        <p:nvGrpSpPr>
          <p:cNvPr id="49160" name="Group 9"/>
          <p:cNvGrpSpPr/>
          <p:nvPr/>
        </p:nvGrpSpPr>
        <p:grpSpPr>
          <a:xfrm>
            <a:off x="1403350" y="4508500"/>
            <a:ext cx="5689600" cy="1735138"/>
            <a:chOff x="1084" y="2878"/>
            <a:chExt cx="3584" cy="1093"/>
          </a:xfrm>
        </p:grpSpPr>
        <p:sp>
          <p:nvSpPr>
            <p:cNvPr id="49161" name="AutoShape 10"/>
            <p:cNvSpPr/>
            <p:nvPr/>
          </p:nvSpPr>
          <p:spPr>
            <a:xfrm>
              <a:off x="2951" y="3257"/>
              <a:ext cx="1120" cy="253"/>
            </a:xfrm>
            <a:prstGeom prst="curvedDownArrow">
              <a:avLst>
                <a:gd name="adj1" fmla="val 88537"/>
                <a:gd name="adj2" fmla="val 177075"/>
                <a:gd name="adj3" fmla="val 33328"/>
              </a:avLst>
            </a:prstGeom>
            <a:solidFill>
              <a:srgbClr val="FFFFFF"/>
            </a:solidFill>
            <a:ln w="28575" cap="flat" cmpd="sng">
              <a:solidFill>
                <a:srgbClr val="FF0000"/>
              </a:solidFill>
              <a:prstDash val="solid"/>
              <a:miter/>
              <a:headEnd type="none" w="med" len="med"/>
              <a:tailEnd type="none" w="med" len="med"/>
            </a:ln>
          </p:spPr>
          <p:txBody>
            <a:bodyPr anchor="ctr">
              <a:spAutoFit/>
            </a:bodyPr>
            <a:p>
              <a:pPr eaLnBrk="0" hangingPunct="0"/>
              <a:endParaRPr lang="zh-CN" altLang="en-US" dirty="0">
                <a:latin typeface="Arial" panose="020B0604020202020204" pitchFamily="34" charset="0"/>
                <a:ea typeface="华文行楷" panose="02010800040101010101" pitchFamily="2" charset="-122"/>
              </a:endParaRPr>
            </a:p>
          </p:txBody>
        </p:sp>
        <p:sp>
          <p:nvSpPr>
            <p:cNvPr id="49162" name="Line 11"/>
            <p:cNvSpPr/>
            <p:nvPr/>
          </p:nvSpPr>
          <p:spPr>
            <a:xfrm>
              <a:off x="1084" y="3510"/>
              <a:ext cx="3584" cy="0"/>
            </a:xfrm>
            <a:prstGeom prst="line">
              <a:avLst/>
            </a:prstGeom>
            <a:ln w="28575" cap="flat" cmpd="sng">
              <a:solidFill>
                <a:schemeClr val="tx1"/>
              </a:solidFill>
              <a:prstDash val="solid"/>
              <a:round/>
              <a:headEnd type="none" w="med" len="med"/>
              <a:tailEnd type="triangle" w="med" len="med"/>
            </a:ln>
          </p:spPr>
        </p:sp>
        <p:sp>
          <p:nvSpPr>
            <p:cNvPr id="49163" name="Line 12"/>
            <p:cNvSpPr/>
            <p:nvPr/>
          </p:nvSpPr>
          <p:spPr>
            <a:xfrm>
              <a:off x="2428" y="3173"/>
              <a:ext cx="0" cy="505"/>
            </a:xfrm>
            <a:prstGeom prst="line">
              <a:avLst/>
            </a:prstGeom>
            <a:ln w="28575" cap="flat" cmpd="sng">
              <a:solidFill>
                <a:schemeClr val="tx1"/>
              </a:solidFill>
              <a:prstDash val="solid"/>
              <a:round/>
              <a:headEnd type="none" w="med" len="med"/>
              <a:tailEnd type="none" w="med" len="med"/>
            </a:ln>
          </p:spPr>
        </p:sp>
        <p:sp>
          <p:nvSpPr>
            <p:cNvPr id="49164" name="Text Box 13"/>
            <p:cNvSpPr txBox="1"/>
            <p:nvPr/>
          </p:nvSpPr>
          <p:spPr>
            <a:xfrm>
              <a:off x="2153" y="3531"/>
              <a:ext cx="373" cy="291"/>
            </a:xfrm>
            <a:prstGeom prst="rect">
              <a:avLst/>
            </a:prstGeom>
            <a:noFill/>
            <a:ln w="28575">
              <a:noFill/>
            </a:ln>
          </p:spPr>
          <p:txBody>
            <a:bodyPr anchor="ctr">
              <a:spAutoFit/>
            </a:bodyPr>
            <a:p>
              <a:pPr algn="ctr" eaLnBrk="0" hangingPunct="0">
                <a:spcBef>
                  <a:spcPct val="50000"/>
                </a:spcBef>
              </a:pPr>
              <a:r>
                <a:rPr lang="en-US" altLang="zh-CN" sz="2400" dirty="0">
                  <a:solidFill>
                    <a:srgbClr val="0000FF"/>
                  </a:solidFill>
                  <a:latin typeface="Tahoma" panose="020B0604030504040204" pitchFamily="34" charset="0"/>
                </a:rPr>
                <a:t>0</a:t>
              </a:r>
              <a:endParaRPr lang="en-US" altLang="zh-CN" sz="2400" dirty="0">
                <a:solidFill>
                  <a:srgbClr val="0000FF"/>
                </a:solidFill>
                <a:latin typeface="Tahoma" panose="020B0604030504040204" pitchFamily="34" charset="0"/>
              </a:endParaRPr>
            </a:p>
          </p:txBody>
        </p:sp>
        <p:sp>
          <p:nvSpPr>
            <p:cNvPr id="49165" name="Line 14"/>
            <p:cNvSpPr/>
            <p:nvPr/>
          </p:nvSpPr>
          <p:spPr>
            <a:xfrm>
              <a:off x="1457" y="3173"/>
              <a:ext cx="0" cy="589"/>
            </a:xfrm>
            <a:prstGeom prst="line">
              <a:avLst/>
            </a:prstGeom>
            <a:ln w="28575" cap="flat" cmpd="sng">
              <a:solidFill>
                <a:schemeClr val="tx1"/>
              </a:solidFill>
              <a:prstDash val="solid"/>
              <a:round/>
              <a:headEnd type="none" w="med" len="med"/>
              <a:tailEnd type="none" w="med" len="med"/>
            </a:ln>
          </p:spPr>
        </p:sp>
        <p:sp>
          <p:nvSpPr>
            <p:cNvPr id="49166" name="Line 15"/>
            <p:cNvSpPr/>
            <p:nvPr/>
          </p:nvSpPr>
          <p:spPr>
            <a:xfrm flipH="1">
              <a:off x="3399" y="3173"/>
              <a:ext cx="0" cy="505"/>
            </a:xfrm>
            <a:prstGeom prst="line">
              <a:avLst/>
            </a:prstGeom>
            <a:ln w="28575" cap="flat" cmpd="sng">
              <a:solidFill>
                <a:schemeClr val="tx1"/>
              </a:solidFill>
              <a:prstDash val="solid"/>
              <a:round/>
              <a:headEnd type="none" w="med" len="med"/>
              <a:tailEnd type="none" w="med" len="med"/>
            </a:ln>
          </p:spPr>
        </p:sp>
        <p:sp>
          <p:nvSpPr>
            <p:cNvPr id="49167" name="Line 16"/>
            <p:cNvSpPr/>
            <p:nvPr/>
          </p:nvSpPr>
          <p:spPr>
            <a:xfrm>
              <a:off x="4369" y="3173"/>
              <a:ext cx="0" cy="589"/>
            </a:xfrm>
            <a:prstGeom prst="line">
              <a:avLst/>
            </a:prstGeom>
            <a:ln w="28575" cap="flat" cmpd="sng">
              <a:solidFill>
                <a:schemeClr val="tx1"/>
              </a:solidFill>
              <a:prstDash val="solid"/>
              <a:round/>
              <a:headEnd type="none" w="med" len="med"/>
              <a:tailEnd type="none" w="med" len="med"/>
            </a:ln>
          </p:spPr>
        </p:sp>
        <p:sp>
          <p:nvSpPr>
            <p:cNvPr id="49168" name="Line 17"/>
            <p:cNvSpPr/>
            <p:nvPr/>
          </p:nvSpPr>
          <p:spPr>
            <a:xfrm>
              <a:off x="1457" y="3341"/>
              <a:ext cx="971" cy="0"/>
            </a:xfrm>
            <a:prstGeom prst="line">
              <a:avLst/>
            </a:prstGeom>
            <a:ln w="28575" cap="flat" cmpd="sng">
              <a:solidFill>
                <a:srgbClr val="3333FF"/>
              </a:solidFill>
              <a:prstDash val="solid"/>
              <a:round/>
              <a:headEnd type="triangle" w="med" len="med"/>
              <a:tailEnd type="triangle" w="med" len="med"/>
            </a:ln>
          </p:spPr>
        </p:sp>
        <p:sp>
          <p:nvSpPr>
            <p:cNvPr id="49169" name="Line 18"/>
            <p:cNvSpPr/>
            <p:nvPr/>
          </p:nvSpPr>
          <p:spPr>
            <a:xfrm>
              <a:off x="2428" y="3341"/>
              <a:ext cx="971" cy="0"/>
            </a:xfrm>
            <a:prstGeom prst="line">
              <a:avLst/>
            </a:prstGeom>
            <a:ln w="28575" cap="flat" cmpd="sng">
              <a:solidFill>
                <a:srgbClr val="FF0000"/>
              </a:solidFill>
              <a:prstDash val="solid"/>
              <a:round/>
              <a:headEnd type="triangle" w="med" len="med"/>
              <a:tailEnd type="triangle" w="med" len="med"/>
            </a:ln>
          </p:spPr>
        </p:sp>
        <p:sp>
          <p:nvSpPr>
            <p:cNvPr id="49170" name="Line 19"/>
            <p:cNvSpPr/>
            <p:nvPr/>
          </p:nvSpPr>
          <p:spPr>
            <a:xfrm>
              <a:off x="2428" y="3510"/>
              <a:ext cx="1941" cy="0"/>
            </a:xfrm>
            <a:prstGeom prst="line">
              <a:avLst/>
            </a:prstGeom>
            <a:ln w="76200" cap="flat" cmpd="sng">
              <a:solidFill>
                <a:schemeClr val="tx1"/>
              </a:solidFill>
              <a:prstDash val="solid"/>
              <a:round/>
              <a:headEnd type="triangle" w="med" len="med"/>
              <a:tailEnd type="triangle" w="med" len="med"/>
            </a:ln>
          </p:spPr>
        </p:sp>
        <p:sp>
          <p:nvSpPr>
            <p:cNvPr id="49171" name="AutoShape 20"/>
            <p:cNvSpPr/>
            <p:nvPr/>
          </p:nvSpPr>
          <p:spPr>
            <a:xfrm>
              <a:off x="1831" y="3510"/>
              <a:ext cx="1194" cy="337"/>
            </a:xfrm>
            <a:prstGeom prst="curvedUpArrow">
              <a:avLst>
                <a:gd name="adj1" fmla="val 70860"/>
                <a:gd name="adj2" fmla="val 141721"/>
                <a:gd name="adj3" fmla="val 33328"/>
              </a:avLst>
            </a:prstGeom>
            <a:solidFill>
              <a:srgbClr val="FFFFFF"/>
            </a:solidFill>
            <a:ln w="28575" cap="flat" cmpd="sng">
              <a:solidFill>
                <a:srgbClr val="3333FF"/>
              </a:solidFill>
              <a:prstDash val="solid"/>
              <a:miter/>
              <a:headEnd type="none" w="med" len="med"/>
              <a:tailEnd type="none" w="med" len="med"/>
            </a:ln>
          </p:spPr>
          <p:txBody>
            <a:bodyPr anchor="ctr">
              <a:spAutoFit/>
            </a:bodyPr>
            <a:p>
              <a:pPr eaLnBrk="0" hangingPunct="0"/>
              <a:endParaRPr lang="zh-CN" altLang="en-US" dirty="0">
                <a:latin typeface="Arial" panose="020B0604020202020204" pitchFamily="34" charset="0"/>
                <a:ea typeface="华文行楷" panose="02010800040101010101" pitchFamily="2" charset="-122"/>
              </a:endParaRPr>
            </a:p>
          </p:txBody>
        </p:sp>
        <p:sp>
          <p:nvSpPr>
            <p:cNvPr id="49172" name="Text Box 21"/>
            <p:cNvSpPr txBox="1"/>
            <p:nvPr/>
          </p:nvSpPr>
          <p:spPr>
            <a:xfrm>
              <a:off x="1141" y="2941"/>
              <a:ext cx="505" cy="291"/>
            </a:xfrm>
            <a:prstGeom prst="rect">
              <a:avLst/>
            </a:prstGeom>
            <a:noFill/>
            <a:ln w="28575">
              <a:noFill/>
            </a:ln>
          </p:spPr>
          <p:txBody>
            <a:bodyPr wrap="none" anchor="ctr">
              <a:spAutoFit/>
            </a:bodyPr>
            <a:p>
              <a:pPr algn="ctr" eaLnBrk="0" hangingPunct="0">
                <a:spcBef>
                  <a:spcPct val="50000"/>
                </a:spcBef>
              </a:pPr>
              <a:r>
                <a:rPr lang="en-US" altLang="zh-CN" sz="2400" dirty="0">
                  <a:solidFill>
                    <a:srgbClr val="0000FF"/>
                  </a:solidFill>
                  <a:latin typeface="Tahoma" panose="020B0604030504040204" pitchFamily="34" charset="0"/>
                </a:rPr>
                <a:t>-128</a:t>
              </a:r>
              <a:endParaRPr lang="en-US" altLang="zh-CN" sz="2400" baseline="30000" dirty="0">
                <a:solidFill>
                  <a:srgbClr val="0000FF"/>
                </a:solidFill>
                <a:latin typeface="Tahoma" panose="020B0604030504040204" pitchFamily="34" charset="0"/>
              </a:endParaRPr>
            </a:p>
          </p:txBody>
        </p:sp>
        <p:sp>
          <p:nvSpPr>
            <p:cNvPr id="49173" name="Text Box 22"/>
            <p:cNvSpPr txBox="1"/>
            <p:nvPr/>
          </p:nvSpPr>
          <p:spPr>
            <a:xfrm>
              <a:off x="3104" y="2931"/>
              <a:ext cx="571" cy="288"/>
            </a:xfrm>
            <a:prstGeom prst="rect">
              <a:avLst/>
            </a:prstGeom>
            <a:noFill/>
            <a:ln w="28575">
              <a:noFill/>
            </a:ln>
          </p:spPr>
          <p:txBody>
            <a:bodyPr wrap="none" anchor="ctr">
              <a:spAutoFit/>
            </a:bodyPr>
            <a:p>
              <a:pPr algn="ctr" eaLnBrk="0" hangingPunct="0">
                <a:spcBef>
                  <a:spcPct val="50000"/>
                </a:spcBef>
              </a:pPr>
              <a:r>
                <a:rPr lang="en-US" altLang="zh-CN" sz="2400" dirty="0">
                  <a:solidFill>
                    <a:srgbClr val="0000FF"/>
                  </a:solidFill>
                  <a:latin typeface="Tahoma" panose="020B0604030504040204" pitchFamily="34" charset="0"/>
                </a:rPr>
                <a:t>+127</a:t>
              </a:r>
              <a:endParaRPr lang="en-US" altLang="zh-CN" sz="2400" baseline="30000" dirty="0">
                <a:solidFill>
                  <a:srgbClr val="0000FF"/>
                </a:solidFill>
                <a:latin typeface="Tahoma" panose="020B0604030504040204" pitchFamily="34" charset="0"/>
              </a:endParaRPr>
            </a:p>
          </p:txBody>
        </p:sp>
        <p:sp>
          <p:nvSpPr>
            <p:cNvPr id="49174" name="Rectangle 23"/>
            <p:cNvSpPr/>
            <p:nvPr/>
          </p:nvSpPr>
          <p:spPr>
            <a:xfrm>
              <a:off x="1520" y="2878"/>
              <a:ext cx="500" cy="288"/>
            </a:xfrm>
            <a:prstGeom prst="rect">
              <a:avLst/>
            </a:prstGeom>
            <a:noFill/>
            <a:ln w="9525">
              <a:noFill/>
            </a:ln>
          </p:spPr>
          <p:txBody>
            <a:bodyPr wrap="none" anchor="t">
              <a:spAutoFit/>
            </a:bodyPr>
            <a:p>
              <a:pPr eaLnBrk="0" hangingPunct="0"/>
              <a:r>
                <a:rPr lang="zh-CN" altLang="en-US" sz="2400" dirty="0">
                  <a:solidFill>
                    <a:srgbClr val="0000FF"/>
                  </a:solidFill>
                  <a:latin typeface="Tahoma" panose="020B0604030504040204" pitchFamily="34" charset="0"/>
                  <a:ea typeface="华文行楷" panose="02010800040101010101" pitchFamily="2" charset="-122"/>
                </a:rPr>
                <a:t>负数</a:t>
              </a:r>
              <a:endParaRPr lang="zh-CN" altLang="en-US" sz="2400" dirty="0">
                <a:solidFill>
                  <a:srgbClr val="0000FF"/>
                </a:solidFill>
                <a:latin typeface="Tahoma" panose="020B0604030504040204" pitchFamily="34" charset="0"/>
                <a:ea typeface="华文行楷" panose="02010800040101010101" pitchFamily="2" charset="-122"/>
              </a:endParaRPr>
            </a:p>
          </p:txBody>
        </p:sp>
        <p:sp>
          <p:nvSpPr>
            <p:cNvPr id="49175" name="Rectangle 24"/>
            <p:cNvSpPr/>
            <p:nvPr/>
          </p:nvSpPr>
          <p:spPr>
            <a:xfrm>
              <a:off x="2419" y="2878"/>
              <a:ext cx="501" cy="288"/>
            </a:xfrm>
            <a:prstGeom prst="rect">
              <a:avLst/>
            </a:prstGeom>
            <a:noFill/>
            <a:ln w="9525">
              <a:noFill/>
            </a:ln>
          </p:spPr>
          <p:txBody>
            <a:bodyPr wrap="none" anchor="t">
              <a:spAutoFit/>
            </a:bodyPr>
            <a:p>
              <a:pPr eaLnBrk="0" hangingPunct="0"/>
              <a:r>
                <a:rPr lang="zh-CN" altLang="en-US" sz="2400" dirty="0">
                  <a:solidFill>
                    <a:srgbClr val="FF0000"/>
                  </a:solidFill>
                  <a:latin typeface="Tahoma" panose="020B0604030504040204" pitchFamily="34" charset="0"/>
                  <a:ea typeface="华文行楷" panose="02010800040101010101" pitchFamily="2" charset="-122"/>
                </a:rPr>
                <a:t>正数</a:t>
              </a:r>
              <a:endParaRPr lang="zh-CN" altLang="en-US" sz="2400" dirty="0">
                <a:solidFill>
                  <a:srgbClr val="FF0000"/>
                </a:solidFill>
                <a:latin typeface="Tahoma" panose="020B0604030504040204" pitchFamily="34" charset="0"/>
                <a:ea typeface="华文行楷" panose="02010800040101010101" pitchFamily="2" charset="-122"/>
              </a:endParaRPr>
            </a:p>
          </p:txBody>
        </p:sp>
        <p:sp>
          <p:nvSpPr>
            <p:cNvPr id="49176" name="Rectangle 25"/>
            <p:cNvSpPr/>
            <p:nvPr/>
          </p:nvSpPr>
          <p:spPr>
            <a:xfrm>
              <a:off x="3029" y="3680"/>
              <a:ext cx="698" cy="291"/>
            </a:xfrm>
            <a:prstGeom prst="rect">
              <a:avLst/>
            </a:prstGeom>
            <a:noFill/>
            <a:ln w="9525">
              <a:noFill/>
            </a:ln>
          </p:spPr>
          <p:txBody>
            <a:bodyPr wrap="none" anchor="t">
              <a:spAutoFit/>
            </a:bodyPr>
            <a:p>
              <a:pPr eaLnBrk="0" hangingPunct="0"/>
              <a:r>
                <a:rPr lang="zh-CN" altLang="en-US" sz="2400" dirty="0">
                  <a:solidFill>
                    <a:srgbClr val="0000FF"/>
                  </a:solidFill>
                  <a:latin typeface="Tahoma" panose="020B0604030504040204" pitchFamily="34" charset="0"/>
                  <a:ea typeface="华文行楷" panose="02010800040101010101" pitchFamily="2" charset="-122"/>
                </a:rPr>
                <a:t>机器数</a:t>
              </a:r>
              <a:endParaRPr lang="zh-CN" altLang="en-US" sz="2400" dirty="0">
                <a:solidFill>
                  <a:srgbClr val="0000FF"/>
                </a:solidFill>
                <a:latin typeface="Tahoma" panose="020B0604030504040204" pitchFamily="34" charset="0"/>
                <a:ea typeface="华文行楷" panose="02010800040101010101" pitchFamily="2" charset="-122"/>
              </a:endParaRPr>
            </a:p>
          </p:txBody>
        </p:sp>
      </p:gr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Rectangle 2"/>
          <p:cNvSpPr>
            <a:spLocks noGrp="1" noRot="1"/>
          </p:cNvSpPr>
          <p:nvPr>
            <p:ph type="title"/>
          </p:nvPr>
        </p:nvSpPr>
        <p:spPr>
          <a:noFill/>
          <a:ln>
            <a:noFill/>
          </a:ln>
        </p:spPr>
        <p:txBody>
          <a:bodyPr anchor="t"/>
          <a:p>
            <a:pPr>
              <a:buNone/>
            </a:pPr>
            <a:r>
              <a:rPr lang="zh-CN" altLang="en-US" sz="3600" dirty="0">
                <a:solidFill>
                  <a:srgbClr val="0000FF"/>
                </a:solidFill>
                <a:latin typeface="微软雅黑" panose="020B0503020204020204" charset="-122"/>
                <a:ea typeface="微软雅黑" panose="020B0503020204020204" charset="-122"/>
              </a:rPr>
              <a:t>移码表示法</a:t>
            </a:r>
            <a:endParaRPr lang="zh-CN" altLang="en-US" sz="3600" dirty="0">
              <a:solidFill>
                <a:srgbClr val="0000FF"/>
              </a:solidFill>
              <a:latin typeface="微软雅黑" panose="020B0503020204020204" charset="-122"/>
              <a:ea typeface="微软雅黑" panose="020B0503020204020204" charset="-122"/>
            </a:endParaRPr>
          </a:p>
        </p:txBody>
      </p:sp>
      <p:sp>
        <p:nvSpPr>
          <p:cNvPr id="52227" name="Rectangle 3"/>
          <p:cNvSpPr>
            <a:spLocks noGrp="1" noRot="1" noChangeArrowheads="1"/>
          </p:cNvSpPr>
          <p:nvPr>
            <p:ph idx="1"/>
          </p:nvPr>
        </p:nvSpPr>
        <p:spPr bwMode="auto">
          <a:xfrm>
            <a:off x="301625" y="1579563"/>
            <a:ext cx="8540750" cy="480218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342900" marR="0" lvl="0" indent="-342900" algn="l" defTabSz="914400" rtl="0" eaLnBrk="0" fontAlgn="base" latinLnBrk="0" hangingPunct="0">
              <a:lnSpc>
                <a:spcPct val="110000"/>
              </a:lnSpc>
              <a:spcBef>
                <a:spcPct val="20000"/>
              </a:spcBef>
              <a:spcAft>
                <a:spcPct val="0"/>
              </a:spcAft>
              <a:buClr>
                <a:schemeClr val="tx2"/>
              </a:buClr>
              <a:buSzPct val="80000"/>
              <a:buFont typeface="Wingdings" panose="05000000000000000000" pitchFamily="2" charset="2"/>
              <a:buChar char="u"/>
              <a:defRPr/>
            </a:pPr>
            <a:r>
              <a:rPr kumimoji="1"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mn-cs"/>
              </a:rPr>
              <a:t>例：</a:t>
            </a:r>
            <a:r>
              <a:rPr kumimoji="1" lang="en-US" altLang="zh-CN" sz="2800" b="1" i="1"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mn-cs"/>
              </a:rPr>
              <a:t>x </a:t>
            </a:r>
            <a:r>
              <a:rPr kumimoji="1"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mn-cs"/>
              </a:rPr>
              <a:t>= +10101, [</a:t>
            </a:r>
            <a:r>
              <a:rPr kumimoji="1" lang="en-US" altLang="zh-CN" sz="2800" b="1" i="1"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mn-cs"/>
              </a:rPr>
              <a:t>x</a:t>
            </a:r>
            <a:r>
              <a:rPr kumimoji="1"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mn-cs"/>
              </a:rPr>
              <a:t>]</a:t>
            </a:r>
            <a:r>
              <a:rPr kumimoji="1" lang="zh-CN" altLang="en-US" sz="2800" b="1" i="0" u="none" strike="noStrike" kern="0" cap="none" spc="0" normalizeH="0" baseline="-30000" noProof="0" dirty="0">
                <a:ln>
                  <a:noFill/>
                </a:ln>
                <a:solidFill>
                  <a:schemeClr val="tx2"/>
                </a:solidFill>
                <a:effectLst/>
                <a:uLnTx/>
                <a:uFillTx/>
                <a:latin typeface="微软雅黑" panose="020B0503020204020204" charset="-122"/>
                <a:ea typeface="微软雅黑" panose="020B0503020204020204" charset="-122"/>
                <a:cs typeface="+mn-cs"/>
              </a:rPr>
              <a:t>移</a:t>
            </a:r>
            <a:r>
              <a:rPr kumimoji="1"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mn-cs"/>
              </a:rPr>
              <a:t>= 2</a:t>
            </a:r>
            <a:r>
              <a:rPr kumimoji="1" lang="en-US" altLang="zh-CN" sz="2800" b="1" i="0" u="none" strike="noStrike" kern="0" cap="none" spc="0" normalizeH="0" baseline="30000" noProof="0" dirty="0">
                <a:ln>
                  <a:noFill/>
                </a:ln>
                <a:solidFill>
                  <a:schemeClr val="tx2"/>
                </a:solidFill>
                <a:effectLst/>
                <a:uLnTx/>
                <a:uFillTx/>
                <a:latin typeface="微软雅黑" panose="020B0503020204020204" charset="-122"/>
                <a:ea typeface="微软雅黑" panose="020B0503020204020204" charset="-122"/>
                <a:cs typeface="+mn-cs"/>
              </a:rPr>
              <a:t>5 </a:t>
            </a:r>
            <a:r>
              <a:rPr kumimoji="1"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mn-cs"/>
              </a:rPr>
              <a:t>+ 10101 = 1,10101</a:t>
            </a:r>
            <a:endParaRPr kumimoji="1"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10000"/>
              </a:lnSpc>
              <a:spcBef>
                <a:spcPct val="20000"/>
              </a:spcBef>
              <a:spcAft>
                <a:spcPct val="0"/>
              </a:spcAft>
              <a:buClr>
                <a:schemeClr val="tx2"/>
              </a:buClr>
              <a:buSzPct val="80000"/>
              <a:buFont typeface="Wingdings" panose="05000000000000000000" pitchFamily="2" charset="2"/>
              <a:buChar char="u"/>
              <a:defRPr/>
            </a:pPr>
            <a:r>
              <a:rPr kumimoji="1"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mn-cs"/>
              </a:rPr>
              <a:t>例：</a:t>
            </a:r>
            <a:r>
              <a:rPr kumimoji="1" lang="en-US" altLang="zh-CN" sz="2800" b="1" i="1"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mn-cs"/>
              </a:rPr>
              <a:t>x </a:t>
            </a:r>
            <a:r>
              <a:rPr kumimoji="1"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mn-cs"/>
              </a:rPr>
              <a:t>= -10101, [</a:t>
            </a:r>
            <a:r>
              <a:rPr kumimoji="1" lang="en-US" altLang="zh-CN" sz="2800" b="1" i="1"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mn-cs"/>
              </a:rPr>
              <a:t>x</a:t>
            </a:r>
            <a:r>
              <a:rPr kumimoji="1"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mn-cs"/>
              </a:rPr>
              <a:t>]</a:t>
            </a:r>
            <a:r>
              <a:rPr kumimoji="1" lang="zh-CN" altLang="en-US" sz="2800" b="1" i="0" u="none" strike="noStrike" kern="0" cap="none" spc="0" normalizeH="0" baseline="-30000" noProof="0" dirty="0">
                <a:ln>
                  <a:noFill/>
                </a:ln>
                <a:solidFill>
                  <a:schemeClr val="tx2"/>
                </a:solidFill>
                <a:effectLst/>
                <a:uLnTx/>
                <a:uFillTx/>
                <a:latin typeface="微软雅黑" panose="020B0503020204020204" charset="-122"/>
                <a:ea typeface="微软雅黑" panose="020B0503020204020204" charset="-122"/>
                <a:cs typeface="+mn-cs"/>
              </a:rPr>
              <a:t>移</a:t>
            </a:r>
            <a:r>
              <a:rPr kumimoji="1"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mn-cs"/>
              </a:rPr>
              <a:t>= 2</a:t>
            </a:r>
            <a:r>
              <a:rPr kumimoji="1" lang="en-US" altLang="zh-CN" sz="2800" b="1" i="0" u="none" strike="noStrike" kern="0" cap="none" spc="0" normalizeH="0" baseline="30000" noProof="0" dirty="0">
                <a:ln>
                  <a:noFill/>
                </a:ln>
                <a:solidFill>
                  <a:schemeClr val="tx2"/>
                </a:solidFill>
                <a:effectLst/>
                <a:uLnTx/>
                <a:uFillTx/>
                <a:latin typeface="微软雅黑" panose="020B0503020204020204" charset="-122"/>
                <a:ea typeface="微软雅黑" panose="020B0503020204020204" charset="-122"/>
                <a:cs typeface="+mn-cs"/>
              </a:rPr>
              <a:t>5 </a:t>
            </a:r>
            <a:r>
              <a:rPr kumimoji="1"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mn-cs"/>
              </a:rPr>
              <a:t>+</a:t>
            </a:r>
            <a:r>
              <a:rPr kumimoji="1" lang="zh-CN" altLang="en-US" sz="2800" b="1" i="1"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mn-cs"/>
              </a:rPr>
              <a:t>ｘ </a:t>
            </a:r>
            <a:r>
              <a:rPr kumimoji="1"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mn-cs"/>
              </a:rPr>
              <a:t>= 2</a:t>
            </a:r>
            <a:r>
              <a:rPr kumimoji="1" lang="en-US" altLang="zh-CN" sz="2800" b="1" i="0" u="none" strike="noStrike" kern="0" cap="none" spc="0" normalizeH="0" baseline="30000" noProof="0" dirty="0">
                <a:ln>
                  <a:noFill/>
                </a:ln>
                <a:solidFill>
                  <a:schemeClr val="tx2"/>
                </a:solidFill>
                <a:effectLst/>
                <a:uLnTx/>
                <a:uFillTx/>
                <a:latin typeface="微软雅黑" panose="020B0503020204020204" charset="-122"/>
                <a:ea typeface="微软雅黑" panose="020B0503020204020204" charset="-122"/>
                <a:cs typeface="+mn-cs"/>
              </a:rPr>
              <a:t>5 </a:t>
            </a:r>
            <a:r>
              <a:rPr kumimoji="1"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mn-cs"/>
              </a:rPr>
              <a:t>– 10101 = 0,01011</a:t>
            </a:r>
            <a:endParaRPr kumimoji="1"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10000"/>
              </a:lnSpc>
              <a:spcBef>
                <a:spcPct val="20000"/>
              </a:spcBef>
              <a:spcAft>
                <a:spcPct val="0"/>
              </a:spcAft>
              <a:buClr>
                <a:schemeClr val="tx2"/>
              </a:buClr>
              <a:buSzPct val="80000"/>
              <a:buFont typeface="Wingdings" panose="05000000000000000000" pitchFamily="2" charset="2"/>
              <a:buChar char="u"/>
              <a:defRPr/>
            </a:pPr>
            <a:r>
              <a:rPr kumimoji="1"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mn-cs"/>
              </a:rPr>
              <a:t>例：</a:t>
            </a:r>
            <a:r>
              <a:rPr kumimoji="1" lang="en-US" altLang="zh-CN"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mn-cs"/>
              </a:rPr>
              <a:t>0</a:t>
            </a:r>
            <a:r>
              <a:rPr kumimoji="1"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mn-cs"/>
              </a:rPr>
              <a:t>的移码是唯一的，即：</a:t>
            </a:r>
            <a:endParaRPr kumimoji="1"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mn-cs"/>
            </a:endParaRPr>
          </a:p>
          <a:p>
            <a:pPr marL="457200" marR="0" lvl="1" indent="0" algn="l" defTabSz="914400" rtl="0" eaLnBrk="0" fontAlgn="base" latinLnBrk="0" hangingPunct="0">
              <a:lnSpc>
                <a:spcPct val="110000"/>
              </a:lnSpc>
              <a:spcBef>
                <a:spcPct val="20000"/>
              </a:spcBef>
              <a:spcAft>
                <a:spcPct val="0"/>
              </a:spcAft>
              <a:buClr>
                <a:schemeClr val="tx2"/>
              </a:buClr>
              <a:buSzPct val="80000"/>
              <a:buFont typeface="Wingdings" panose="05000000000000000000" pitchFamily="2" charset="2"/>
              <a:buNone/>
              <a:defRPr/>
            </a:pPr>
            <a:r>
              <a:rPr kumimoji="1" lang="en-US" altLang="zh-CN" sz="2800" b="0"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mn-ea"/>
              </a:rPr>
              <a:t>[+0]</a:t>
            </a:r>
            <a:r>
              <a:rPr kumimoji="1" lang="zh-CN" altLang="en-US" sz="2800" b="0" i="0" u="none" strike="noStrike" kern="0" cap="none" spc="0" normalizeH="0" baseline="-30000" noProof="0" dirty="0">
                <a:ln>
                  <a:noFill/>
                </a:ln>
                <a:solidFill>
                  <a:schemeClr val="tx2"/>
                </a:solidFill>
                <a:effectLst/>
                <a:uLnTx/>
                <a:uFillTx/>
                <a:latin typeface="微软雅黑" panose="020B0503020204020204" charset="-122"/>
                <a:ea typeface="微软雅黑" panose="020B0503020204020204" charset="-122"/>
                <a:cs typeface="+mn-ea"/>
              </a:rPr>
              <a:t>移 </a:t>
            </a:r>
            <a:r>
              <a:rPr kumimoji="1" lang="en-US" altLang="zh-CN" sz="2800" b="0"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mn-ea"/>
              </a:rPr>
              <a:t>= [­0]</a:t>
            </a:r>
            <a:r>
              <a:rPr kumimoji="1" lang="zh-CN" altLang="en-US" sz="2800" b="0" i="0" u="none" strike="noStrike" kern="0" cap="none" spc="0" normalizeH="0" baseline="-30000" noProof="0" dirty="0">
                <a:ln>
                  <a:noFill/>
                </a:ln>
                <a:solidFill>
                  <a:schemeClr val="tx2"/>
                </a:solidFill>
                <a:effectLst/>
                <a:uLnTx/>
                <a:uFillTx/>
                <a:latin typeface="微软雅黑" panose="020B0503020204020204" charset="-122"/>
                <a:ea typeface="微软雅黑" panose="020B0503020204020204" charset="-122"/>
                <a:cs typeface="+mn-ea"/>
              </a:rPr>
              <a:t>移 </a:t>
            </a:r>
            <a:r>
              <a:rPr kumimoji="1" lang="en-US" altLang="zh-CN" sz="2800" b="0"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mn-ea"/>
              </a:rPr>
              <a:t>= 100…00</a:t>
            </a:r>
            <a:endParaRPr kumimoji="1" lang="en-US" altLang="zh-CN" sz="2800" b="0"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mn-ea"/>
            </a:endParaRPr>
          </a:p>
          <a:p>
            <a:pPr marL="0" marR="0" lvl="0" indent="0" algn="l" defTabSz="914400" rtl="0" eaLnBrk="0" fontAlgn="base" latinLnBrk="0" hangingPunct="0">
              <a:lnSpc>
                <a:spcPct val="110000"/>
              </a:lnSpc>
              <a:spcBef>
                <a:spcPct val="20000"/>
              </a:spcBef>
              <a:spcAft>
                <a:spcPct val="0"/>
              </a:spcAft>
              <a:buClr>
                <a:schemeClr val="hlink"/>
              </a:buClr>
              <a:buSzTx/>
              <a:buFont typeface="Wingdings" panose="05000000000000000000" pitchFamily="2" charset="2"/>
              <a:buNone/>
              <a:defRPr/>
            </a:pPr>
            <a:endParaRPr kumimoji="1" lang="en-US" altLang="zh-CN" sz="2800" b="1" i="0" u="none" strike="noStrike" kern="0" cap="none" spc="0" normalizeH="0" baseline="0" noProof="0" dirty="0">
              <a:ln>
                <a:noFill/>
              </a:ln>
              <a:solidFill>
                <a:srgbClr val="CC0000"/>
              </a:solidFill>
              <a:effectLst/>
              <a:uLnTx/>
              <a:uFillTx/>
              <a:latin typeface="+mn-lt"/>
              <a:ea typeface="+mn-ea"/>
              <a:cs typeface="+mn-cs"/>
            </a:endParaRPr>
          </a:p>
          <a:p>
            <a:pPr marL="0" marR="0" lvl="0" indent="0" algn="l" defTabSz="914400" rtl="0" eaLnBrk="0" fontAlgn="base" latinLnBrk="0" hangingPunct="0">
              <a:lnSpc>
                <a:spcPct val="110000"/>
              </a:lnSpc>
              <a:spcBef>
                <a:spcPct val="20000"/>
              </a:spcBef>
              <a:spcAft>
                <a:spcPct val="0"/>
              </a:spcAft>
              <a:buClr>
                <a:schemeClr val="hlink"/>
              </a:buClr>
              <a:buSzTx/>
              <a:buFont typeface="Wingdings" panose="05000000000000000000" pitchFamily="2" charset="2"/>
              <a:buNone/>
              <a:defRPr/>
            </a:pPr>
            <a:r>
              <a:rPr kumimoji="1" lang="en-US" altLang="zh-CN" sz="2800" b="1" i="0" u="none" strike="noStrike" kern="0" cap="none" spc="0" normalizeH="0" baseline="0" noProof="0" dirty="0">
                <a:ln>
                  <a:noFill/>
                </a:ln>
                <a:solidFill>
                  <a:srgbClr val="CC0000"/>
                </a:solidFill>
                <a:effectLst/>
                <a:uLnTx/>
                <a:uFillTx/>
                <a:latin typeface="微软雅黑" panose="020B0503020204020204" charset="-122"/>
                <a:ea typeface="微软雅黑" panose="020B0503020204020204" charset="-122"/>
                <a:cs typeface="+mn-cs"/>
              </a:rPr>
              <a:t>[</a:t>
            </a:r>
            <a:r>
              <a:rPr kumimoji="1" lang="zh-CN" altLang="en-US" sz="2800" b="1" i="0" u="none" strike="noStrike" kern="0" cap="none" spc="0" normalizeH="0" baseline="0" noProof="0" dirty="0">
                <a:ln>
                  <a:noFill/>
                </a:ln>
                <a:solidFill>
                  <a:srgbClr val="CC0000"/>
                </a:solidFill>
                <a:effectLst/>
                <a:uLnTx/>
                <a:uFillTx/>
                <a:latin typeface="微软雅黑" panose="020B0503020204020204" charset="-122"/>
                <a:ea typeface="微软雅黑" panose="020B0503020204020204" charset="-122"/>
                <a:cs typeface="+mn-cs"/>
              </a:rPr>
              <a:t>注意</a:t>
            </a:r>
            <a:r>
              <a:rPr kumimoji="1" lang="en-US" altLang="zh-CN" sz="2800" b="1" i="0" u="none" strike="noStrike" kern="0" cap="none" spc="0" normalizeH="0" baseline="0" noProof="0" dirty="0">
                <a:ln>
                  <a:noFill/>
                </a:ln>
                <a:solidFill>
                  <a:srgbClr val="CC0000"/>
                </a:solidFill>
                <a:effectLst/>
                <a:uLnTx/>
                <a:uFillTx/>
                <a:latin typeface="微软雅黑" panose="020B0503020204020204" charset="-122"/>
                <a:ea typeface="微软雅黑" panose="020B0503020204020204" charset="-122"/>
                <a:cs typeface="+mn-cs"/>
              </a:rPr>
              <a:t>]:</a:t>
            </a:r>
            <a:r>
              <a:rPr kumimoji="1" lang="en-US" altLang="zh-CN" sz="2800" b="1"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rPr>
              <a:t> </a:t>
            </a:r>
            <a:r>
              <a:rPr kumimoji="1" lang="zh-CN" altLang="en-US" sz="2800" b="1" i="0" u="none" strike="noStrike" kern="0" cap="none" spc="0" normalizeH="0" baseline="0" noProof="0" dirty="0">
                <a:ln>
                  <a:noFill/>
                </a:ln>
                <a:solidFill>
                  <a:srgbClr val="CC0000"/>
                </a:solidFill>
                <a:effectLst/>
                <a:uLnTx/>
                <a:uFillTx/>
                <a:latin typeface="微软雅黑" panose="020B0503020204020204" charset="-122"/>
                <a:ea typeface="微软雅黑" panose="020B0503020204020204" charset="-122"/>
                <a:cs typeface="+mn-cs"/>
              </a:rPr>
              <a:t>移码中符号位 </a:t>
            </a:r>
            <a:r>
              <a:rPr kumimoji="1" lang="en-US" altLang="zh-CN" sz="2800" b="1" i="1" u="none" strike="noStrike" kern="0" cap="none" spc="0" normalizeH="0" baseline="0" noProof="0" dirty="0">
                <a:ln>
                  <a:noFill/>
                </a:ln>
                <a:solidFill>
                  <a:srgbClr val="CC0000"/>
                </a:solidFill>
                <a:effectLst/>
                <a:uLnTx/>
                <a:uFillTx/>
                <a:latin typeface="微软雅黑" panose="020B0503020204020204" charset="-122"/>
                <a:ea typeface="微软雅黑" panose="020B0503020204020204" charset="-122"/>
                <a:cs typeface="+mn-cs"/>
              </a:rPr>
              <a:t>x</a:t>
            </a:r>
            <a:r>
              <a:rPr kumimoji="1" lang="en-US" altLang="zh-CN" sz="2800" b="1" i="0" u="none" strike="noStrike" kern="0" cap="none" spc="0" normalizeH="0" baseline="0" noProof="0" dirty="0">
                <a:ln>
                  <a:noFill/>
                </a:ln>
                <a:solidFill>
                  <a:srgbClr val="CC0000"/>
                </a:solidFill>
                <a:effectLst/>
                <a:uLnTx/>
                <a:uFillTx/>
                <a:latin typeface="微软雅黑" panose="020B0503020204020204" charset="-122"/>
                <a:ea typeface="微软雅黑" panose="020B0503020204020204" charset="-122"/>
                <a:cs typeface="+mn-cs"/>
              </a:rPr>
              <a:t>0</a:t>
            </a:r>
            <a:r>
              <a:rPr kumimoji="1" lang="zh-CN" altLang="en-US" sz="2800" b="1" i="0" u="none" strike="noStrike" kern="0" cap="none" spc="0" normalizeH="0" baseline="0" noProof="0" dirty="0">
                <a:ln>
                  <a:noFill/>
                </a:ln>
                <a:solidFill>
                  <a:srgbClr val="CC0000"/>
                </a:solidFill>
                <a:effectLst/>
                <a:uLnTx/>
                <a:uFillTx/>
                <a:latin typeface="微软雅黑" panose="020B0503020204020204" charset="-122"/>
                <a:ea typeface="微软雅黑" panose="020B0503020204020204" charset="-122"/>
                <a:cs typeface="+mn-cs"/>
              </a:rPr>
              <a:t>表示的规律与原码、补码、反码相反</a:t>
            </a:r>
            <a:r>
              <a:rPr kumimoji="1" lang="en-US" altLang="zh-CN" sz="2800" b="1" i="0" u="none" strike="noStrike" kern="0" cap="none" spc="0" normalizeH="0" baseline="0" noProof="0" dirty="0">
                <a:ln>
                  <a:noFill/>
                </a:ln>
                <a:solidFill>
                  <a:srgbClr val="CC0000"/>
                </a:solidFill>
                <a:effectLst/>
                <a:uLnTx/>
                <a:uFillTx/>
                <a:latin typeface="微软雅黑" panose="020B0503020204020204" charset="-122"/>
                <a:ea typeface="微软雅黑" panose="020B0503020204020204" charset="-122"/>
                <a:cs typeface="+mn-cs"/>
              </a:rPr>
              <a:t>--“1”</a:t>
            </a:r>
            <a:r>
              <a:rPr kumimoji="1" lang="zh-CN" altLang="en-US" sz="2800" b="1" i="0" u="none" strike="noStrike" kern="0" cap="none" spc="0" normalizeH="0" baseline="0" noProof="0" dirty="0">
                <a:ln>
                  <a:noFill/>
                </a:ln>
                <a:solidFill>
                  <a:srgbClr val="CC0000"/>
                </a:solidFill>
                <a:effectLst/>
                <a:uLnTx/>
                <a:uFillTx/>
                <a:latin typeface="微软雅黑" panose="020B0503020204020204" charset="-122"/>
                <a:ea typeface="微软雅黑" panose="020B0503020204020204" charset="-122"/>
                <a:cs typeface="+mn-cs"/>
              </a:rPr>
              <a:t>正，“</a:t>
            </a:r>
            <a:r>
              <a:rPr kumimoji="1" lang="en-US" altLang="zh-CN" sz="2800" b="1" i="0" u="none" strike="noStrike" kern="0" cap="none" spc="0" normalizeH="0" baseline="0" noProof="0" dirty="0">
                <a:ln>
                  <a:noFill/>
                </a:ln>
                <a:solidFill>
                  <a:srgbClr val="CC0000"/>
                </a:solidFill>
                <a:effectLst/>
                <a:uLnTx/>
                <a:uFillTx/>
                <a:latin typeface="微软雅黑" panose="020B0503020204020204" charset="-122"/>
                <a:ea typeface="微软雅黑" panose="020B0503020204020204" charset="-122"/>
                <a:cs typeface="+mn-cs"/>
              </a:rPr>
              <a:t>0”</a:t>
            </a:r>
            <a:r>
              <a:rPr kumimoji="1" lang="zh-CN" altLang="en-US" sz="2800" b="1" i="0" u="none" strike="noStrike" kern="0" cap="none" spc="0" normalizeH="0" baseline="0" noProof="0" dirty="0">
                <a:ln>
                  <a:noFill/>
                </a:ln>
                <a:solidFill>
                  <a:srgbClr val="CC0000"/>
                </a:solidFill>
                <a:effectLst/>
                <a:uLnTx/>
                <a:uFillTx/>
                <a:latin typeface="微软雅黑" panose="020B0503020204020204" charset="-122"/>
                <a:ea typeface="微软雅黑" panose="020B0503020204020204" charset="-122"/>
                <a:cs typeface="+mn-cs"/>
              </a:rPr>
              <a:t>负。</a:t>
            </a:r>
            <a:endParaRPr kumimoji="1" lang="zh-CN" altLang="en-US" sz="2800" b="1" i="0" u="none" strike="noStrike" kern="0" cap="none" spc="0" normalizeH="0" baseline="0" noProof="0" dirty="0">
              <a:ln>
                <a:noFill/>
              </a:ln>
              <a:solidFill>
                <a:srgbClr val="CC0000"/>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10000"/>
              </a:lnSpc>
              <a:spcBef>
                <a:spcPct val="20000"/>
              </a:spcBef>
              <a:spcAft>
                <a:spcPct val="0"/>
              </a:spcAft>
              <a:buClr>
                <a:schemeClr val="hlink"/>
              </a:buClr>
              <a:buSzTx/>
              <a:buFont typeface="Wingdings" panose="05000000000000000000" pitchFamily="2" charset="2"/>
              <a:buChar char="v"/>
              <a:defRPr/>
            </a:pPr>
            <a:endParaRPr kumimoji="0" lang="en-US" altLang="zh-CN" sz="2800" b="1" i="0" u="none" strike="noStrike" kern="0" cap="none" spc="0" normalizeH="0" baseline="0" noProof="0" dirty="0">
              <a:ln>
                <a:noFill/>
              </a:ln>
              <a:solidFill>
                <a:schemeClr val="hlink"/>
              </a:solidFill>
              <a:effectLst/>
              <a:uLnTx/>
              <a:uFillTx/>
              <a:latin typeface="+mn-lt"/>
              <a:ea typeface="+mn-ea"/>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Rectangle 2"/>
          <p:cNvSpPr>
            <a:spLocks noGrp="1" noRot="1"/>
          </p:cNvSpPr>
          <p:nvPr>
            <p:ph type="title"/>
          </p:nvPr>
        </p:nvSpPr>
        <p:spPr>
          <a:noFill/>
          <a:ln>
            <a:noFill/>
          </a:ln>
        </p:spPr>
        <p:txBody>
          <a:bodyPr anchor="t"/>
          <a:p>
            <a:pPr>
              <a:buNone/>
            </a:pPr>
            <a:r>
              <a:rPr lang="zh-CN" altLang="en-US" dirty="0">
                <a:latin typeface="微软雅黑" panose="020B0503020204020204" charset="-122"/>
                <a:ea typeface="微软雅黑" panose="020B0503020204020204" charset="-122"/>
              </a:rPr>
              <a:t>移码和补码的关系</a:t>
            </a:r>
            <a:endParaRPr lang="zh-CN" altLang="en-US" dirty="0">
              <a:latin typeface="微软雅黑" panose="020B0503020204020204" charset="-122"/>
              <a:ea typeface="微软雅黑" panose="020B0503020204020204" charset="-122"/>
            </a:endParaRPr>
          </a:p>
        </p:txBody>
      </p:sp>
      <p:sp>
        <p:nvSpPr>
          <p:cNvPr id="53250" name="Rectangle 3"/>
          <p:cNvSpPr>
            <a:spLocks noGrp="1" noRot="1"/>
          </p:cNvSpPr>
          <p:nvPr>
            <p:ph idx="1"/>
          </p:nvPr>
        </p:nvSpPr>
        <p:spPr>
          <a:xfrm>
            <a:off x="301625" y="1500188"/>
            <a:ext cx="8540750" cy="4881562"/>
          </a:xfrm>
          <a:noFill/>
          <a:ln>
            <a:noFill/>
          </a:ln>
        </p:spPr>
        <p:txBody>
          <a:bodyPr anchor="t"/>
          <a:p>
            <a:pPr lvl="1"/>
            <a:r>
              <a:rPr lang="zh-CN" altLang="en-US" b="1" dirty="0">
                <a:solidFill>
                  <a:schemeClr val="tx2"/>
                </a:solidFill>
                <a:latin typeface="微软雅黑" panose="020B0503020204020204" charset="-122"/>
                <a:ea typeface="微软雅黑" panose="020B0503020204020204" charset="-122"/>
              </a:rPr>
              <a:t>补码的定义</a:t>
            </a:r>
            <a:r>
              <a:rPr lang="zh-CN" altLang="en-US" dirty="0"/>
              <a:t>：</a:t>
            </a:r>
            <a:endParaRPr lang="zh-CN" altLang="en-US" dirty="0"/>
          </a:p>
          <a:p>
            <a:pPr lvl="1"/>
            <a:endParaRPr lang="zh-CN" altLang="en-US" dirty="0"/>
          </a:p>
          <a:p>
            <a:pPr lvl="1"/>
            <a:r>
              <a:rPr lang="zh-CN" altLang="en-US" b="1" dirty="0">
                <a:solidFill>
                  <a:schemeClr val="tx2"/>
                </a:solidFill>
                <a:latin typeface="微软雅黑" panose="020B0503020204020204" charset="-122"/>
                <a:ea typeface="微软雅黑" panose="020B0503020204020204" charset="-122"/>
              </a:rPr>
              <a:t>移码的定义</a:t>
            </a:r>
            <a:r>
              <a:rPr lang="en-US" altLang="zh-CN" b="1" dirty="0">
                <a:solidFill>
                  <a:schemeClr val="tx2"/>
                </a:solidFill>
                <a:latin typeface="微软雅黑" panose="020B0503020204020204" charset="-122"/>
                <a:ea typeface="微软雅黑" panose="020B0503020204020204" charset="-122"/>
              </a:rPr>
              <a:t>:</a:t>
            </a:r>
            <a:endParaRPr lang="en-US" altLang="zh-CN" b="1" dirty="0">
              <a:solidFill>
                <a:schemeClr val="tx2"/>
              </a:solidFill>
              <a:latin typeface="微软雅黑" panose="020B0503020204020204" charset="-122"/>
              <a:ea typeface="微软雅黑" panose="020B0503020204020204" charset="-122"/>
            </a:endParaRPr>
          </a:p>
          <a:p>
            <a:pPr lvl="1"/>
            <a:endParaRPr lang="en-US" altLang="zh-CN" dirty="0"/>
          </a:p>
          <a:p>
            <a:pPr lvl="1"/>
            <a:r>
              <a:rPr lang="zh-CN" altLang="en-US" b="1" dirty="0">
                <a:solidFill>
                  <a:schemeClr val="tx2"/>
                </a:solidFill>
                <a:latin typeface="微软雅黑" panose="020B0503020204020204" charset="-122"/>
                <a:ea typeface="微软雅黑" panose="020B0503020204020204" charset="-122"/>
              </a:rPr>
              <a:t>当 </a:t>
            </a:r>
            <a:r>
              <a:rPr lang="en-US" altLang="zh-CN" b="1" dirty="0">
                <a:solidFill>
                  <a:schemeClr val="tx2"/>
                </a:solidFill>
                <a:latin typeface="微软雅黑" panose="020B0503020204020204" charset="-122"/>
                <a:ea typeface="微软雅黑" panose="020B0503020204020204" charset="-122"/>
              </a:rPr>
              <a:t>0 </a:t>
            </a:r>
            <a:r>
              <a:rPr lang="en-US" altLang="zh-CN" b="1" dirty="0">
                <a:solidFill>
                  <a:schemeClr val="tx2"/>
                </a:solidFill>
                <a:latin typeface="微软雅黑" panose="020B0503020204020204" charset="-122"/>
                <a:ea typeface="微软雅黑" panose="020B0503020204020204" charset="-122"/>
                <a:sym typeface="Symbol" panose="05050102010706020507" pitchFamily="18" charset="2"/>
              </a:rPr>
              <a:t></a:t>
            </a:r>
            <a:r>
              <a:rPr lang="en-US" altLang="zh-CN" b="1" dirty="0">
                <a:solidFill>
                  <a:schemeClr val="tx2"/>
                </a:solidFill>
                <a:latin typeface="微软雅黑" panose="020B0503020204020204" charset="-122"/>
                <a:ea typeface="微软雅黑" panose="020B0503020204020204" charset="-122"/>
              </a:rPr>
              <a:t> </a:t>
            </a:r>
            <a:r>
              <a:rPr lang="en-US" altLang="zh-CN" b="1" i="1" dirty="0">
                <a:solidFill>
                  <a:schemeClr val="tx2"/>
                </a:solidFill>
                <a:latin typeface="微软雅黑" panose="020B0503020204020204" charset="-122"/>
                <a:ea typeface="微软雅黑" panose="020B0503020204020204" charset="-122"/>
              </a:rPr>
              <a:t>x </a:t>
            </a:r>
            <a:r>
              <a:rPr lang="en-US" altLang="zh-CN" b="1" dirty="0">
                <a:solidFill>
                  <a:schemeClr val="tx2"/>
                </a:solidFill>
                <a:latin typeface="微软雅黑" panose="020B0503020204020204" charset="-122"/>
                <a:ea typeface="微软雅黑" panose="020B0503020204020204" charset="-122"/>
              </a:rPr>
              <a:t>&lt; 2</a:t>
            </a:r>
            <a:r>
              <a:rPr lang="en-US" altLang="zh-CN" b="1" baseline="30000" dirty="0">
                <a:solidFill>
                  <a:schemeClr val="tx2"/>
                </a:solidFill>
                <a:latin typeface="微软雅黑" panose="020B0503020204020204" charset="-122"/>
                <a:ea typeface="微软雅黑" panose="020B0503020204020204" charset="-122"/>
              </a:rPr>
              <a:t>n </a:t>
            </a:r>
            <a:r>
              <a:rPr lang="zh-CN" altLang="en-US" b="1" dirty="0">
                <a:solidFill>
                  <a:schemeClr val="tx2"/>
                </a:solidFill>
                <a:latin typeface="微软雅黑" panose="020B0503020204020204" charset="-122"/>
                <a:ea typeface="微软雅黑" panose="020B0503020204020204" charset="-122"/>
              </a:rPr>
              <a:t>时，</a:t>
            </a:r>
            <a:endParaRPr lang="zh-CN" altLang="en-US" b="1" dirty="0">
              <a:solidFill>
                <a:schemeClr val="tx2"/>
              </a:solidFill>
              <a:latin typeface="微软雅黑" panose="020B0503020204020204" charset="-122"/>
              <a:ea typeface="微软雅黑" panose="020B0503020204020204" charset="-122"/>
            </a:endParaRPr>
          </a:p>
          <a:p>
            <a:pPr lvl="1"/>
            <a:endParaRPr lang="zh-CN" altLang="en-US" dirty="0"/>
          </a:p>
          <a:p>
            <a:pPr lvl="1"/>
            <a:r>
              <a:rPr lang="zh-CN" altLang="en-US" b="1" dirty="0">
                <a:solidFill>
                  <a:schemeClr val="tx2"/>
                </a:solidFill>
                <a:latin typeface="微软雅黑" panose="020B0503020204020204" charset="-122"/>
                <a:ea typeface="微软雅黑" panose="020B0503020204020204" charset="-122"/>
              </a:rPr>
              <a:t>当 </a:t>
            </a:r>
            <a:r>
              <a:rPr lang="en-US" altLang="zh-CN" b="1" dirty="0">
                <a:solidFill>
                  <a:schemeClr val="tx2"/>
                </a:solidFill>
                <a:latin typeface="微软雅黑" panose="020B0503020204020204" charset="-122"/>
                <a:ea typeface="微软雅黑" panose="020B0503020204020204" charset="-122"/>
              </a:rPr>
              <a:t>-2</a:t>
            </a:r>
            <a:r>
              <a:rPr lang="en-US" altLang="zh-CN" b="1" baseline="30000" dirty="0">
                <a:solidFill>
                  <a:schemeClr val="tx2"/>
                </a:solidFill>
                <a:latin typeface="微软雅黑" panose="020B0503020204020204" charset="-122"/>
                <a:ea typeface="微软雅黑" panose="020B0503020204020204" charset="-122"/>
              </a:rPr>
              <a:t>n</a:t>
            </a:r>
            <a:r>
              <a:rPr lang="en-US" altLang="zh-CN" b="1" dirty="0">
                <a:solidFill>
                  <a:schemeClr val="tx2"/>
                </a:solidFill>
                <a:latin typeface="微软雅黑" panose="020B0503020204020204" charset="-122"/>
                <a:ea typeface="微软雅黑" panose="020B0503020204020204" charset="-122"/>
              </a:rPr>
              <a:t> </a:t>
            </a:r>
            <a:r>
              <a:rPr lang="en-US" altLang="zh-CN" b="1" dirty="0">
                <a:solidFill>
                  <a:schemeClr val="tx2"/>
                </a:solidFill>
                <a:latin typeface="微软雅黑" panose="020B0503020204020204" charset="-122"/>
                <a:ea typeface="微软雅黑" panose="020B0503020204020204" charset="-122"/>
                <a:sym typeface="Symbol" panose="05050102010706020507" pitchFamily="18" charset="2"/>
              </a:rPr>
              <a:t></a:t>
            </a:r>
            <a:r>
              <a:rPr lang="en-US" altLang="zh-CN" b="1" dirty="0">
                <a:solidFill>
                  <a:schemeClr val="tx2"/>
                </a:solidFill>
                <a:latin typeface="微软雅黑" panose="020B0503020204020204" charset="-122"/>
                <a:ea typeface="微软雅黑" panose="020B0503020204020204" charset="-122"/>
              </a:rPr>
              <a:t> </a:t>
            </a:r>
            <a:r>
              <a:rPr lang="en-US" altLang="zh-CN" b="1" i="1" dirty="0">
                <a:solidFill>
                  <a:schemeClr val="tx2"/>
                </a:solidFill>
                <a:latin typeface="微软雅黑" panose="020B0503020204020204" charset="-122"/>
                <a:ea typeface="微软雅黑" panose="020B0503020204020204" charset="-122"/>
              </a:rPr>
              <a:t>x</a:t>
            </a:r>
            <a:r>
              <a:rPr lang="en-US" altLang="zh-CN" b="1" dirty="0">
                <a:solidFill>
                  <a:schemeClr val="tx2"/>
                </a:solidFill>
                <a:latin typeface="微软雅黑" panose="020B0503020204020204" charset="-122"/>
                <a:ea typeface="微软雅黑" panose="020B0503020204020204" charset="-122"/>
              </a:rPr>
              <a:t> </a:t>
            </a:r>
            <a:r>
              <a:rPr lang="en-US" altLang="zh-CN" b="1" dirty="0">
                <a:solidFill>
                  <a:schemeClr val="tx2"/>
                </a:solidFill>
                <a:latin typeface="微软雅黑" panose="020B0503020204020204" charset="-122"/>
                <a:ea typeface="微软雅黑" panose="020B0503020204020204" charset="-122"/>
                <a:sym typeface="Symbol" panose="05050102010706020507" pitchFamily="18" charset="2"/>
              </a:rPr>
              <a:t></a:t>
            </a:r>
            <a:r>
              <a:rPr lang="en-US" altLang="zh-CN" b="1" dirty="0">
                <a:solidFill>
                  <a:schemeClr val="tx2"/>
                </a:solidFill>
                <a:latin typeface="微软雅黑" panose="020B0503020204020204" charset="-122"/>
                <a:ea typeface="微软雅黑" panose="020B0503020204020204" charset="-122"/>
              </a:rPr>
              <a:t> 0 </a:t>
            </a:r>
            <a:r>
              <a:rPr lang="zh-CN" altLang="en-US" b="1" dirty="0">
                <a:solidFill>
                  <a:schemeClr val="tx2"/>
                </a:solidFill>
                <a:latin typeface="微软雅黑" panose="020B0503020204020204" charset="-122"/>
                <a:ea typeface="微软雅黑" panose="020B0503020204020204" charset="-122"/>
              </a:rPr>
              <a:t>时，</a:t>
            </a:r>
            <a:endParaRPr lang="zh-CN" altLang="en-US" b="1" dirty="0">
              <a:solidFill>
                <a:schemeClr val="tx2"/>
              </a:solidFill>
              <a:latin typeface="微软雅黑" panose="020B0503020204020204" charset="-122"/>
              <a:ea typeface="微软雅黑" panose="020B0503020204020204" charset="-122"/>
            </a:endParaRPr>
          </a:p>
          <a:p>
            <a:endParaRPr lang="en-US" altLang="zh-CN" dirty="0"/>
          </a:p>
        </p:txBody>
      </p:sp>
      <p:grpSp>
        <p:nvGrpSpPr>
          <p:cNvPr id="40964" name="Group 4"/>
          <p:cNvGrpSpPr/>
          <p:nvPr/>
        </p:nvGrpSpPr>
        <p:grpSpPr>
          <a:xfrm>
            <a:off x="3132138" y="1557338"/>
            <a:ext cx="5334000" cy="1023937"/>
            <a:chOff x="1824" y="747"/>
            <a:chExt cx="3360" cy="645"/>
          </a:xfrm>
        </p:grpSpPr>
        <p:sp>
          <p:nvSpPr>
            <p:cNvPr id="53252" name="AutoShape 5"/>
            <p:cNvSpPr/>
            <p:nvPr/>
          </p:nvSpPr>
          <p:spPr>
            <a:xfrm>
              <a:off x="2544" y="816"/>
              <a:ext cx="96" cy="432"/>
            </a:xfrm>
            <a:prstGeom prst="leftBrace">
              <a:avLst>
                <a:gd name="adj1" fmla="val 37500"/>
                <a:gd name="adj2" fmla="val 50000"/>
              </a:avLst>
            </a:prstGeom>
            <a:noFill/>
            <a:ln w="38100" cap="flat" cmpd="sng">
              <a:solidFill>
                <a:schemeClr val="tx2"/>
              </a:solidFill>
              <a:prstDash val="solid"/>
              <a:round/>
              <a:headEnd type="none" w="med" len="med"/>
              <a:tailEnd type="none" w="med" len="med"/>
            </a:ln>
          </p:spPr>
          <p:txBody>
            <a:bodyPr wrap="none" anchor="ctr"/>
            <a:p>
              <a:pPr eaLnBrk="0" hangingPunct="0"/>
              <a:endParaRPr lang="zh-CN" altLang="en-US" dirty="0">
                <a:solidFill>
                  <a:srgbClr val="FF0000"/>
                </a:solidFill>
                <a:latin typeface="Arial" panose="020B0604020202020204" pitchFamily="34" charset="0"/>
                <a:ea typeface="华文行楷" panose="02010800040101010101" pitchFamily="2" charset="-122"/>
              </a:endParaRPr>
            </a:p>
          </p:txBody>
        </p:sp>
        <p:sp>
          <p:nvSpPr>
            <p:cNvPr id="53253" name="Text Box 6"/>
            <p:cNvSpPr txBox="1"/>
            <p:nvPr/>
          </p:nvSpPr>
          <p:spPr>
            <a:xfrm>
              <a:off x="2596" y="747"/>
              <a:ext cx="271" cy="288"/>
            </a:xfrm>
            <a:prstGeom prst="rect">
              <a:avLst/>
            </a:prstGeom>
            <a:noFill/>
            <a:ln w="9525">
              <a:noFill/>
            </a:ln>
          </p:spPr>
          <p:txBody>
            <a:bodyPr wrap="none" anchor="t">
              <a:spAutoFit/>
            </a:bodyPr>
            <a:p>
              <a:pPr eaLnBrk="0" hangingPunct="0"/>
              <a:r>
                <a:rPr lang="en-US" altLang="zh-CN" sz="2400" dirty="0">
                  <a:solidFill>
                    <a:srgbClr val="FF0000"/>
                  </a:solidFill>
                  <a:latin typeface="Tahoma" panose="020B0604030504040204" pitchFamily="34" charset="0"/>
                </a:rPr>
                <a:t> </a:t>
              </a:r>
              <a:r>
                <a:rPr lang="en-US" altLang="zh-CN" sz="2400" i="1" dirty="0">
                  <a:solidFill>
                    <a:srgbClr val="FF0000"/>
                  </a:solidFill>
                  <a:latin typeface="Tahoma" panose="020B0604030504040204" pitchFamily="34" charset="0"/>
                </a:rPr>
                <a:t>x</a:t>
              </a:r>
              <a:endParaRPr lang="en-US" altLang="zh-CN" sz="2400" i="1" dirty="0">
                <a:solidFill>
                  <a:srgbClr val="FF0000"/>
                </a:solidFill>
                <a:latin typeface="Tahoma" panose="020B0604030504040204" pitchFamily="34" charset="0"/>
              </a:endParaRPr>
            </a:p>
          </p:txBody>
        </p:sp>
        <p:sp>
          <p:nvSpPr>
            <p:cNvPr id="53254" name="Text Box 7"/>
            <p:cNvSpPr txBox="1"/>
            <p:nvPr/>
          </p:nvSpPr>
          <p:spPr>
            <a:xfrm>
              <a:off x="2592" y="1035"/>
              <a:ext cx="870" cy="288"/>
            </a:xfrm>
            <a:prstGeom prst="rect">
              <a:avLst/>
            </a:prstGeom>
            <a:noFill/>
            <a:ln w="9525">
              <a:noFill/>
            </a:ln>
          </p:spPr>
          <p:txBody>
            <a:bodyPr wrap="none" anchor="t">
              <a:spAutoFit/>
            </a:bodyPr>
            <a:p>
              <a:pPr eaLnBrk="0" hangingPunct="0"/>
              <a:r>
                <a:rPr lang="en-US" altLang="zh-CN" sz="2400" dirty="0">
                  <a:solidFill>
                    <a:srgbClr val="FF0000"/>
                  </a:solidFill>
                  <a:latin typeface="Tahoma" panose="020B0604030504040204" pitchFamily="34" charset="0"/>
                </a:rPr>
                <a:t> 2</a:t>
              </a:r>
              <a:r>
                <a:rPr lang="en-US" altLang="zh-CN" sz="2400" baseline="30000" dirty="0">
                  <a:solidFill>
                    <a:srgbClr val="FF0000"/>
                  </a:solidFill>
                  <a:latin typeface="Tahoma" panose="020B0604030504040204" pitchFamily="34" charset="0"/>
                </a:rPr>
                <a:t>n+1</a:t>
              </a:r>
              <a:r>
                <a:rPr lang="en-US" altLang="zh-CN" sz="2400" dirty="0">
                  <a:solidFill>
                    <a:srgbClr val="FF0000"/>
                  </a:solidFill>
                  <a:latin typeface="Tahoma" panose="020B0604030504040204" pitchFamily="34" charset="0"/>
                </a:rPr>
                <a:t> + </a:t>
              </a:r>
              <a:r>
                <a:rPr lang="en-US" altLang="zh-CN" sz="2400" i="1" dirty="0">
                  <a:solidFill>
                    <a:srgbClr val="FF0000"/>
                  </a:solidFill>
                  <a:latin typeface="Tahoma" panose="020B0604030504040204" pitchFamily="34" charset="0"/>
                </a:rPr>
                <a:t>x</a:t>
              </a:r>
              <a:endParaRPr lang="en-US" altLang="zh-CN" sz="2400" dirty="0">
                <a:solidFill>
                  <a:srgbClr val="FF0000"/>
                </a:solidFill>
                <a:latin typeface="Tahoma" panose="020B0604030504040204" pitchFamily="34" charset="0"/>
              </a:endParaRPr>
            </a:p>
          </p:txBody>
        </p:sp>
        <p:sp>
          <p:nvSpPr>
            <p:cNvPr id="53255" name="Text Box 8"/>
            <p:cNvSpPr txBox="1"/>
            <p:nvPr/>
          </p:nvSpPr>
          <p:spPr>
            <a:xfrm>
              <a:off x="3744" y="1017"/>
              <a:ext cx="1440" cy="288"/>
            </a:xfrm>
            <a:prstGeom prst="rect">
              <a:avLst/>
            </a:prstGeom>
            <a:noFill/>
            <a:ln w="9525">
              <a:noFill/>
            </a:ln>
          </p:spPr>
          <p:txBody>
            <a:bodyPr anchor="t">
              <a:spAutoFit/>
            </a:bodyPr>
            <a:p>
              <a:pPr eaLnBrk="0" hangingPunct="0"/>
              <a:r>
                <a:rPr lang="en-US" altLang="zh-CN" sz="2400" dirty="0">
                  <a:solidFill>
                    <a:srgbClr val="FF0000"/>
                  </a:solidFill>
                  <a:latin typeface="Tahoma" panose="020B0604030504040204" pitchFamily="34" charset="0"/>
                </a:rPr>
                <a:t>  -2</a:t>
              </a:r>
              <a:r>
                <a:rPr lang="en-US" altLang="zh-CN" sz="2400" baseline="30000" dirty="0">
                  <a:solidFill>
                    <a:srgbClr val="FF0000"/>
                  </a:solidFill>
                  <a:latin typeface="Tahoma" panose="020B0604030504040204" pitchFamily="34" charset="0"/>
                </a:rPr>
                <a:t>n</a:t>
              </a:r>
              <a:r>
                <a:rPr lang="en-US" altLang="zh-CN" sz="2400" dirty="0">
                  <a:solidFill>
                    <a:srgbClr val="FF0000"/>
                  </a:solidFill>
                  <a:latin typeface="Tahoma" panose="020B0604030504040204" pitchFamily="34" charset="0"/>
                </a:rPr>
                <a:t> </a:t>
              </a:r>
              <a:r>
                <a:rPr lang="en-US" altLang="zh-CN" sz="2400" dirty="0">
                  <a:solidFill>
                    <a:srgbClr val="FF0000"/>
                  </a:solidFill>
                  <a:latin typeface="Tahoma" panose="020B0604030504040204" pitchFamily="34" charset="0"/>
                  <a:sym typeface="Symbol" panose="05050102010706020507" pitchFamily="18" charset="2"/>
                </a:rPr>
                <a:t></a:t>
              </a:r>
              <a:r>
                <a:rPr lang="en-US" altLang="zh-CN" sz="2400" dirty="0">
                  <a:solidFill>
                    <a:srgbClr val="FF0000"/>
                  </a:solidFill>
                  <a:latin typeface="Tahoma" panose="020B0604030504040204" pitchFamily="34" charset="0"/>
                </a:rPr>
                <a:t> </a:t>
              </a:r>
              <a:r>
                <a:rPr lang="en-US" altLang="zh-CN" sz="2400" i="1" dirty="0">
                  <a:solidFill>
                    <a:srgbClr val="FF0000"/>
                  </a:solidFill>
                  <a:latin typeface="Tahoma" panose="020B0604030504040204" pitchFamily="34" charset="0"/>
                </a:rPr>
                <a:t>x</a:t>
              </a:r>
              <a:r>
                <a:rPr lang="en-US" altLang="zh-CN" sz="2400" dirty="0">
                  <a:solidFill>
                    <a:srgbClr val="FF0000"/>
                  </a:solidFill>
                  <a:latin typeface="Tahoma" panose="020B0604030504040204" pitchFamily="34" charset="0"/>
                </a:rPr>
                <a:t> </a:t>
              </a:r>
              <a:r>
                <a:rPr lang="en-US" altLang="zh-CN" sz="2400" dirty="0">
                  <a:solidFill>
                    <a:srgbClr val="FF0000"/>
                  </a:solidFill>
                  <a:latin typeface="Tahoma" panose="020B0604030504040204" pitchFamily="34" charset="0"/>
                  <a:sym typeface="Symbol" panose="05050102010706020507" pitchFamily="18" charset="2"/>
                </a:rPr>
                <a:t></a:t>
              </a:r>
              <a:r>
                <a:rPr lang="en-US" altLang="zh-CN" sz="2400" dirty="0">
                  <a:solidFill>
                    <a:srgbClr val="FF0000"/>
                  </a:solidFill>
                  <a:latin typeface="Tahoma" panose="020B0604030504040204" pitchFamily="34" charset="0"/>
                </a:rPr>
                <a:t> 0</a:t>
              </a:r>
              <a:endParaRPr lang="en-US" altLang="zh-CN" sz="2400" dirty="0">
                <a:solidFill>
                  <a:srgbClr val="FF0000"/>
                </a:solidFill>
                <a:latin typeface="Tahoma" panose="020B0604030504040204" pitchFamily="34" charset="0"/>
              </a:endParaRPr>
            </a:p>
          </p:txBody>
        </p:sp>
        <p:sp>
          <p:nvSpPr>
            <p:cNvPr id="53256" name="Text Box 9"/>
            <p:cNvSpPr txBox="1"/>
            <p:nvPr/>
          </p:nvSpPr>
          <p:spPr>
            <a:xfrm>
              <a:off x="3902" y="748"/>
              <a:ext cx="977" cy="288"/>
            </a:xfrm>
            <a:prstGeom prst="rect">
              <a:avLst/>
            </a:prstGeom>
            <a:noFill/>
            <a:ln w="9525">
              <a:noFill/>
            </a:ln>
          </p:spPr>
          <p:txBody>
            <a:bodyPr wrap="none" anchor="ctr">
              <a:spAutoFit/>
            </a:bodyPr>
            <a:p>
              <a:pPr algn="ctr" eaLnBrk="0" hangingPunct="0">
                <a:spcBef>
                  <a:spcPct val="50000"/>
                </a:spcBef>
              </a:pPr>
              <a:r>
                <a:rPr lang="en-US" altLang="zh-CN" sz="2400" dirty="0">
                  <a:solidFill>
                    <a:srgbClr val="FF0000"/>
                  </a:solidFill>
                  <a:latin typeface="Tahoma" panose="020B0604030504040204" pitchFamily="34" charset="0"/>
                </a:rPr>
                <a:t>0 </a:t>
              </a:r>
              <a:r>
                <a:rPr lang="en-US" altLang="zh-CN" sz="2400" dirty="0">
                  <a:solidFill>
                    <a:srgbClr val="FF0000"/>
                  </a:solidFill>
                  <a:latin typeface="Tahoma" panose="020B0604030504040204" pitchFamily="34" charset="0"/>
                  <a:sym typeface="Symbol" panose="05050102010706020507" pitchFamily="18" charset="2"/>
                </a:rPr>
                <a:t></a:t>
              </a:r>
              <a:r>
                <a:rPr lang="en-US" altLang="zh-CN" sz="2400" dirty="0">
                  <a:solidFill>
                    <a:srgbClr val="FF0000"/>
                  </a:solidFill>
                  <a:latin typeface="Tahoma" panose="020B0604030504040204" pitchFamily="34" charset="0"/>
                </a:rPr>
                <a:t> </a:t>
              </a:r>
              <a:r>
                <a:rPr lang="en-US" altLang="zh-CN" sz="2400" i="1" dirty="0">
                  <a:solidFill>
                    <a:srgbClr val="FF0000"/>
                  </a:solidFill>
                  <a:latin typeface="Tahoma" panose="020B0604030504040204" pitchFamily="34" charset="0"/>
                </a:rPr>
                <a:t>x</a:t>
              </a:r>
              <a:r>
                <a:rPr lang="en-US" altLang="zh-CN" sz="2400" dirty="0">
                  <a:solidFill>
                    <a:srgbClr val="FF0000"/>
                  </a:solidFill>
                  <a:latin typeface="Tahoma" panose="020B0604030504040204" pitchFamily="34" charset="0"/>
                </a:rPr>
                <a:t> &lt; 2</a:t>
              </a:r>
              <a:r>
                <a:rPr lang="en-US" altLang="zh-CN" sz="2400" baseline="30000" dirty="0">
                  <a:solidFill>
                    <a:srgbClr val="FF0000"/>
                  </a:solidFill>
                  <a:latin typeface="Tahoma" panose="020B0604030504040204" pitchFamily="34" charset="0"/>
                </a:rPr>
                <a:t>n</a:t>
              </a:r>
              <a:endParaRPr lang="en-US" altLang="zh-CN" sz="2400" dirty="0">
                <a:solidFill>
                  <a:srgbClr val="FF0000"/>
                </a:solidFill>
                <a:latin typeface="Tahoma" panose="020B0604030504040204" pitchFamily="34" charset="0"/>
              </a:endParaRPr>
            </a:p>
          </p:txBody>
        </p:sp>
        <p:sp>
          <p:nvSpPr>
            <p:cNvPr id="53257" name="Rectangle 10"/>
            <p:cNvSpPr/>
            <p:nvPr/>
          </p:nvSpPr>
          <p:spPr>
            <a:xfrm>
              <a:off x="1824" y="873"/>
              <a:ext cx="2208" cy="519"/>
            </a:xfrm>
            <a:prstGeom prst="rect">
              <a:avLst/>
            </a:prstGeom>
            <a:noFill/>
            <a:ln w="9525">
              <a:noFill/>
            </a:ln>
          </p:spPr>
          <p:txBody>
            <a:bodyPr anchor="t"/>
            <a:p>
              <a:pPr eaLnBrk="0" hangingPunct="0"/>
              <a:r>
                <a:rPr lang="en-US" altLang="zh-CN" sz="2400" dirty="0">
                  <a:solidFill>
                    <a:srgbClr val="FF0000"/>
                  </a:solidFill>
                  <a:latin typeface="Tahoma" panose="020B0604030504040204" pitchFamily="34" charset="0"/>
                </a:rPr>
                <a:t>[</a:t>
              </a:r>
              <a:r>
                <a:rPr lang="en-US" altLang="zh-CN" sz="2400" i="1" dirty="0">
                  <a:solidFill>
                    <a:srgbClr val="FF0000"/>
                  </a:solidFill>
                  <a:latin typeface="Tahoma" panose="020B0604030504040204" pitchFamily="34" charset="0"/>
                </a:rPr>
                <a:t>x</a:t>
              </a:r>
              <a:r>
                <a:rPr lang="en-US" altLang="zh-CN" sz="2400" dirty="0">
                  <a:solidFill>
                    <a:srgbClr val="FF0000"/>
                  </a:solidFill>
                  <a:latin typeface="Tahoma" panose="020B0604030504040204" pitchFamily="34" charset="0"/>
                </a:rPr>
                <a:t>]</a:t>
              </a:r>
              <a:r>
                <a:rPr lang="zh-CN" altLang="en-US" sz="2400" baseline="-25000" dirty="0">
                  <a:solidFill>
                    <a:srgbClr val="FF0000"/>
                  </a:solidFill>
                  <a:latin typeface="Tahoma" panose="020B0604030504040204" pitchFamily="34" charset="0"/>
                  <a:ea typeface="华文行楷" panose="02010800040101010101" pitchFamily="2" charset="-122"/>
                </a:rPr>
                <a:t>补</a:t>
              </a:r>
              <a:r>
                <a:rPr lang="zh-CN" altLang="en-US" sz="2400" dirty="0">
                  <a:solidFill>
                    <a:srgbClr val="FF0000"/>
                  </a:solidFill>
                  <a:latin typeface="Tahoma" panose="020B0604030504040204" pitchFamily="34" charset="0"/>
                  <a:ea typeface="华文行楷" panose="02010800040101010101" pitchFamily="2" charset="-122"/>
                </a:rPr>
                <a:t> </a:t>
              </a:r>
              <a:r>
                <a:rPr lang="en-US" altLang="zh-CN" sz="2400" dirty="0">
                  <a:solidFill>
                    <a:srgbClr val="FF0000"/>
                  </a:solidFill>
                  <a:latin typeface="Tahoma" panose="020B0604030504040204" pitchFamily="34" charset="0"/>
                </a:rPr>
                <a:t>=</a:t>
              </a:r>
              <a:endParaRPr lang="en-US" altLang="zh-CN" sz="2400" dirty="0">
                <a:solidFill>
                  <a:srgbClr val="FF0000"/>
                </a:solidFill>
                <a:latin typeface="Tahoma" panose="020B0604030504040204" pitchFamily="34" charset="0"/>
              </a:endParaRPr>
            </a:p>
          </p:txBody>
        </p:sp>
      </p:grpSp>
      <p:grpSp>
        <p:nvGrpSpPr>
          <p:cNvPr id="40971" name="Group 11"/>
          <p:cNvGrpSpPr/>
          <p:nvPr/>
        </p:nvGrpSpPr>
        <p:grpSpPr>
          <a:xfrm>
            <a:off x="3132138" y="2781300"/>
            <a:ext cx="5105400" cy="595313"/>
            <a:chOff x="816" y="2121"/>
            <a:chExt cx="3216" cy="375"/>
          </a:xfrm>
        </p:grpSpPr>
        <p:sp>
          <p:nvSpPr>
            <p:cNvPr id="53259" name="Text Box 12"/>
            <p:cNvSpPr txBox="1"/>
            <p:nvPr/>
          </p:nvSpPr>
          <p:spPr>
            <a:xfrm>
              <a:off x="1392" y="2139"/>
              <a:ext cx="687" cy="288"/>
            </a:xfrm>
            <a:prstGeom prst="rect">
              <a:avLst/>
            </a:prstGeom>
            <a:noFill/>
            <a:ln w="9525">
              <a:noFill/>
            </a:ln>
          </p:spPr>
          <p:txBody>
            <a:bodyPr wrap="none" anchor="t">
              <a:spAutoFit/>
            </a:bodyPr>
            <a:p>
              <a:pPr eaLnBrk="0" hangingPunct="0"/>
              <a:r>
                <a:rPr lang="en-US" altLang="zh-CN" sz="2400" dirty="0">
                  <a:solidFill>
                    <a:srgbClr val="FF0000"/>
                  </a:solidFill>
                  <a:latin typeface="Tahoma" panose="020B0604030504040204" pitchFamily="34" charset="0"/>
                </a:rPr>
                <a:t> 2</a:t>
              </a:r>
              <a:r>
                <a:rPr lang="en-US" altLang="zh-CN" sz="2400" baseline="30000" dirty="0">
                  <a:solidFill>
                    <a:srgbClr val="FF0000"/>
                  </a:solidFill>
                  <a:latin typeface="Tahoma" panose="020B0604030504040204" pitchFamily="34" charset="0"/>
                </a:rPr>
                <a:t>n </a:t>
              </a:r>
              <a:r>
                <a:rPr lang="en-US" altLang="zh-CN" sz="2400" dirty="0">
                  <a:solidFill>
                    <a:srgbClr val="FF0000"/>
                  </a:solidFill>
                  <a:latin typeface="Tahoma" panose="020B0604030504040204" pitchFamily="34" charset="0"/>
                </a:rPr>
                <a:t>+ </a:t>
              </a:r>
              <a:r>
                <a:rPr lang="en-US" altLang="zh-CN" sz="2400" i="1" dirty="0">
                  <a:solidFill>
                    <a:srgbClr val="FF0000"/>
                  </a:solidFill>
                  <a:latin typeface="Tahoma" panose="020B0604030504040204" pitchFamily="34" charset="0"/>
                </a:rPr>
                <a:t>x</a:t>
              </a:r>
              <a:endParaRPr lang="en-US" altLang="zh-CN" sz="2400" dirty="0">
                <a:solidFill>
                  <a:srgbClr val="FF0000"/>
                </a:solidFill>
                <a:latin typeface="Tahoma" panose="020B0604030504040204" pitchFamily="34" charset="0"/>
              </a:endParaRPr>
            </a:p>
          </p:txBody>
        </p:sp>
        <p:sp>
          <p:nvSpPr>
            <p:cNvPr id="53260" name="Text Box 13"/>
            <p:cNvSpPr txBox="1"/>
            <p:nvPr/>
          </p:nvSpPr>
          <p:spPr>
            <a:xfrm>
              <a:off x="2592" y="2121"/>
              <a:ext cx="1440" cy="288"/>
            </a:xfrm>
            <a:prstGeom prst="rect">
              <a:avLst/>
            </a:prstGeom>
            <a:noFill/>
            <a:ln w="9525">
              <a:noFill/>
            </a:ln>
          </p:spPr>
          <p:txBody>
            <a:bodyPr anchor="t">
              <a:spAutoFit/>
            </a:bodyPr>
            <a:p>
              <a:pPr eaLnBrk="0" hangingPunct="0"/>
              <a:r>
                <a:rPr lang="en-US" altLang="zh-CN" sz="2400" dirty="0">
                  <a:solidFill>
                    <a:srgbClr val="FF0000"/>
                  </a:solidFill>
                  <a:latin typeface="Tahoma" panose="020B0604030504040204" pitchFamily="34" charset="0"/>
                </a:rPr>
                <a:t>  -2</a:t>
              </a:r>
              <a:r>
                <a:rPr lang="en-US" altLang="zh-CN" sz="2400" baseline="30000" dirty="0">
                  <a:solidFill>
                    <a:srgbClr val="FF0000"/>
                  </a:solidFill>
                  <a:latin typeface="Tahoma" panose="020B0604030504040204" pitchFamily="34" charset="0"/>
                </a:rPr>
                <a:t>n</a:t>
              </a:r>
              <a:r>
                <a:rPr lang="en-US" altLang="zh-CN" sz="2400" dirty="0">
                  <a:solidFill>
                    <a:srgbClr val="FF0000"/>
                  </a:solidFill>
                  <a:latin typeface="Tahoma" panose="020B0604030504040204" pitchFamily="34" charset="0"/>
                </a:rPr>
                <a:t> </a:t>
              </a:r>
              <a:r>
                <a:rPr lang="en-US" altLang="zh-CN" sz="2400" dirty="0">
                  <a:solidFill>
                    <a:srgbClr val="FF0000"/>
                  </a:solidFill>
                  <a:latin typeface="Tahoma" panose="020B0604030504040204" pitchFamily="34" charset="0"/>
                  <a:sym typeface="Symbol" panose="05050102010706020507" pitchFamily="18" charset="2"/>
                </a:rPr>
                <a:t></a:t>
              </a:r>
              <a:r>
                <a:rPr lang="en-US" altLang="zh-CN" sz="2400" dirty="0">
                  <a:solidFill>
                    <a:srgbClr val="FF0000"/>
                  </a:solidFill>
                  <a:latin typeface="Tahoma" panose="020B0604030504040204" pitchFamily="34" charset="0"/>
                </a:rPr>
                <a:t>  </a:t>
              </a:r>
              <a:r>
                <a:rPr lang="en-US" altLang="zh-CN" sz="2400" i="1" dirty="0">
                  <a:solidFill>
                    <a:srgbClr val="FF0000"/>
                  </a:solidFill>
                  <a:latin typeface="Tahoma" panose="020B0604030504040204" pitchFamily="34" charset="0"/>
                </a:rPr>
                <a:t>x</a:t>
              </a:r>
              <a:r>
                <a:rPr lang="en-US" altLang="zh-CN" sz="2400" dirty="0">
                  <a:solidFill>
                    <a:srgbClr val="FF0000"/>
                  </a:solidFill>
                  <a:latin typeface="Tahoma" panose="020B0604030504040204" pitchFamily="34" charset="0"/>
                </a:rPr>
                <a:t> </a:t>
              </a:r>
              <a:r>
                <a:rPr lang="en-US" altLang="zh-CN" sz="2400" dirty="0">
                  <a:solidFill>
                    <a:srgbClr val="FF0000"/>
                  </a:solidFill>
                  <a:latin typeface="Tahoma" panose="020B0604030504040204" pitchFamily="34" charset="0"/>
                  <a:sym typeface="Symbol" panose="05050102010706020507" pitchFamily="18" charset="2"/>
                </a:rPr>
                <a:t></a:t>
              </a:r>
              <a:r>
                <a:rPr lang="en-US" altLang="zh-CN" sz="2400" dirty="0">
                  <a:solidFill>
                    <a:srgbClr val="FF0000"/>
                  </a:solidFill>
                  <a:latin typeface="Tahoma" panose="020B0604030504040204" pitchFamily="34" charset="0"/>
                </a:rPr>
                <a:t> 2</a:t>
              </a:r>
              <a:r>
                <a:rPr lang="en-US" altLang="zh-CN" sz="2400" baseline="30000" dirty="0">
                  <a:solidFill>
                    <a:srgbClr val="FF0000"/>
                  </a:solidFill>
                  <a:latin typeface="Tahoma" panose="020B0604030504040204" pitchFamily="34" charset="0"/>
                </a:rPr>
                <a:t>n</a:t>
              </a:r>
              <a:endParaRPr lang="en-US" altLang="zh-CN" sz="2400" baseline="30000" dirty="0">
                <a:solidFill>
                  <a:srgbClr val="FF0000"/>
                </a:solidFill>
                <a:latin typeface="Tahoma" panose="020B0604030504040204" pitchFamily="34" charset="0"/>
              </a:endParaRPr>
            </a:p>
          </p:txBody>
        </p:sp>
        <p:sp>
          <p:nvSpPr>
            <p:cNvPr id="53261" name="Rectangle 14"/>
            <p:cNvSpPr/>
            <p:nvPr/>
          </p:nvSpPr>
          <p:spPr>
            <a:xfrm>
              <a:off x="816" y="2121"/>
              <a:ext cx="720" cy="375"/>
            </a:xfrm>
            <a:prstGeom prst="rect">
              <a:avLst/>
            </a:prstGeom>
            <a:noFill/>
            <a:ln w="9525">
              <a:noFill/>
            </a:ln>
          </p:spPr>
          <p:txBody>
            <a:bodyPr anchor="t"/>
            <a:p>
              <a:pPr eaLnBrk="0" hangingPunct="0"/>
              <a:r>
                <a:rPr lang="en-US" altLang="zh-CN" sz="2400" dirty="0">
                  <a:solidFill>
                    <a:srgbClr val="FF0000"/>
                  </a:solidFill>
                  <a:latin typeface="Tahoma" panose="020B0604030504040204" pitchFamily="34" charset="0"/>
                </a:rPr>
                <a:t>[</a:t>
              </a:r>
              <a:r>
                <a:rPr lang="en-US" altLang="zh-CN" sz="2400" i="1" dirty="0">
                  <a:solidFill>
                    <a:srgbClr val="FF0000"/>
                  </a:solidFill>
                  <a:latin typeface="Tahoma" panose="020B0604030504040204" pitchFamily="34" charset="0"/>
                </a:rPr>
                <a:t>x</a:t>
              </a:r>
              <a:r>
                <a:rPr lang="en-US" altLang="zh-CN" sz="2400" dirty="0">
                  <a:solidFill>
                    <a:srgbClr val="FF0000"/>
                  </a:solidFill>
                  <a:latin typeface="Tahoma" panose="020B0604030504040204" pitchFamily="34" charset="0"/>
                </a:rPr>
                <a:t>]</a:t>
              </a:r>
              <a:r>
                <a:rPr lang="zh-CN" altLang="en-US" sz="2400" baseline="-25000" dirty="0">
                  <a:solidFill>
                    <a:srgbClr val="FF0000"/>
                  </a:solidFill>
                  <a:latin typeface="Tahoma" panose="020B0604030504040204" pitchFamily="34" charset="0"/>
                  <a:ea typeface="华文行楷" panose="02010800040101010101" pitchFamily="2" charset="-122"/>
                </a:rPr>
                <a:t>移</a:t>
              </a:r>
              <a:r>
                <a:rPr lang="zh-CN" altLang="en-US" sz="2400" dirty="0">
                  <a:solidFill>
                    <a:srgbClr val="FF0000"/>
                  </a:solidFill>
                  <a:latin typeface="Tahoma" panose="020B0604030504040204" pitchFamily="34" charset="0"/>
                  <a:ea typeface="华文行楷" panose="02010800040101010101" pitchFamily="2" charset="-122"/>
                </a:rPr>
                <a:t> </a:t>
              </a:r>
              <a:r>
                <a:rPr lang="en-US" altLang="zh-CN" sz="2400" dirty="0">
                  <a:solidFill>
                    <a:srgbClr val="FF0000"/>
                  </a:solidFill>
                  <a:latin typeface="Tahoma" panose="020B0604030504040204" pitchFamily="34" charset="0"/>
                </a:rPr>
                <a:t>=</a:t>
              </a:r>
              <a:endParaRPr lang="en-US" altLang="zh-CN" sz="2400" dirty="0">
                <a:solidFill>
                  <a:srgbClr val="FF0000"/>
                </a:solidFill>
                <a:latin typeface="Tahoma" panose="020B0604030504040204" pitchFamily="34" charset="0"/>
              </a:endParaRPr>
            </a:p>
          </p:txBody>
        </p:sp>
      </p:grpSp>
      <p:grpSp>
        <p:nvGrpSpPr>
          <p:cNvPr id="40975" name="Group 15"/>
          <p:cNvGrpSpPr/>
          <p:nvPr/>
        </p:nvGrpSpPr>
        <p:grpSpPr>
          <a:xfrm>
            <a:off x="3708400" y="3933825"/>
            <a:ext cx="2519363" cy="595313"/>
            <a:chOff x="2208" y="2345"/>
            <a:chExt cx="1394" cy="375"/>
          </a:xfrm>
        </p:grpSpPr>
        <p:sp>
          <p:nvSpPr>
            <p:cNvPr id="53263" name="Text Box 16"/>
            <p:cNvSpPr txBox="1"/>
            <p:nvPr/>
          </p:nvSpPr>
          <p:spPr>
            <a:xfrm>
              <a:off x="2784" y="2363"/>
              <a:ext cx="818" cy="288"/>
            </a:xfrm>
            <a:prstGeom prst="rect">
              <a:avLst/>
            </a:prstGeom>
            <a:noFill/>
            <a:ln w="9525">
              <a:noFill/>
            </a:ln>
          </p:spPr>
          <p:txBody>
            <a:bodyPr anchor="t">
              <a:spAutoFit/>
            </a:bodyPr>
            <a:p>
              <a:pPr eaLnBrk="0" hangingPunct="0"/>
              <a:r>
                <a:rPr lang="en-US" altLang="zh-CN" sz="2400" dirty="0">
                  <a:solidFill>
                    <a:srgbClr val="CC0000"/>
                  </a:solidFill>
                  <a:latin typeface="Tahoma" panose="020B0604030504040204" pitchFamily="34" charset="0"/>
                </a:rPr>
                <a:t> [</a:t>
              </a:r>
              <a:r>
                <a:rPr lang="en-US" altLang="zh-CN" sz="2400" i="1" dirty="0">
                  <a:solidFill>
                    <a:srgbClr val="CC0000"/>
                  </a:solidFill>
                  <a:latin typeface="Tahoma" panose="020B0604030504040204" pitchFamily="34" charset="0"/>
                </a:rPr>
                <a:t>x</a:t>
              </a:r>
              <a:r>
                <a:rPr lang="en-US" altLang="zh-CN" sz="2400" dirty="0">
                  <a:solidFill>
                    <a:srgbClr val="CC0000"/>
                  </a:solidFill>
                  <a:latin typeface="Tahoma" panose="020B0604030504040204" pitchFamily="34" charset="0"/>
                </a:rPr>
                <a:t>]</a:t>
              </a:r>
              <a:r>
                <a:rPr lang="zh-CN" altLang="en-US" sz="2400" baseline="-25000" dirty="0">
                  <a:solidFill>
                    <a:srgbClr val="CC0000"/>
                  </a:solidFill>
                  <a:latin typeface="Tahoma" panose="020B0604030504040204" pitchFamily="34" charset="0"/>
                  <a:ea typeface="华文行楷" panose="02010800040101010101" pitchFamily="2" charset="-122"/>
                </a:rPr>
                <a:t>补</a:t>
              </a:r>
              <a:r>
                <a:rPr lang="en-US" altLang="zh-CN" sz="2400" dirty="0">
                  <a:solidFill>
                    <a:srgbClr val="CC0000"/>
                  </a:solidFill>
                  <a:latin typeface="Tahoma" panose="020B0604030504040204" pitchFamily="34" charset="0"/>
                </a:rPr>
                <a:t>+</a:t>
              </a:r>
              <a:r>
                <a:rPr lang="en-US" altLang="zh-CN" sz="2400" baseline="-25000" dirty="0">
                  <a:solidFill>
                    <a:srgbClr val="CC0000"/>
                  </a:solidFill>
                  <a:latin typeface="Tahoma" panose="020B0604030504040204" pitchFamily="34" charset="0"/>
                </a:rPr>
                <a:t> </a:t>
              </a:r>
              <a:r>
                <a:rPr lang="en-US" altLang="zh-CN" sz="2400" dirty="0">
                  <a:solidFill>
                    <a:srgbClr val="CC0000"/>
                  </a:solidFill>
                  <a:latin typeface="Tahoma" panose="020B0604030504040204" pitchFamily="34" charset="0"/>
                </a:rPr>
                <a:t>2</a:t>
              </a:r>
              <a:r>
                <a:rPr lang="en-US" altLang="zh-CN" sz="2400" baseline="30000" dirty="0">
                  <a:solidFill>
                    <a:srgbClr val="CC0000"/>
                  </a:solidFill>
                  <a:latin typeface="Tahoma" panose="020B0604030504040204" pitchFamily="34" charset="0"/>
                </a:rPr>
                <a:t>n</a:t>
              </a:r>
              <a:endParaRPr lang="en-US" altLang="zh-CN" sz="2400" baseline="30000" dirty="0">
                <a:solidFill>
                  <a:srgbClr val="CC0000"/>
                </a:solidFill>
                <a:latin typeface="Tahoma" panose="020B0604030504040204" pitchFamily="34" charset="0"/>
              </a:endParaRPr>
            </a:p>
          </p:txBody>
        </p:sp>
        <p:sp>
          <p:nvSpPr>
            <p:cNvPr id="53264" name="Rectangle 17"/>
            <p:cNvSpPr/>
            <p:nvPr/>
          </p:nvSpPr>
          <p:spPr>
            <a:xfrm>
              <a:off x="2208" y="2345"/>
              <a:ext cx="720" cy="375"/>
            </a:xfrm>
            <a:prstGeom prst="rect">
              <a:avLst/>
            </a:prstGeom>
            <a:noFill/>
            <a:ln w="9525">
              <a:noFill/>
            </a:ln>
          </p:spPr>
          <p:txBody>
            <a:bodyPr anchor="t"/>
            <a:p>
              <a:pPr marL="342900" indent="-342900" eaLnBrk="0" hangingPunct="0">
                <a:spcBef>
                  <a:spcPct val="20000"/>
                </a:spcBef>
                <a:buClr>
                  <a:schemeClr val="folHlink"/>
                </a:buClr>
                <a:buFont typeface="Wingdings" panose="05000000000000000000" pitchFamily="2" charset="2"/>
              </a:pPr>
              <a:r>
                <a:rPr lang="en-US" altLang="zh-CN" dirty="0">
                  <a:solidFill>
                    <a:srgbClr val="CC0000"/>
                  </a:solidFill>
                  <a:latin typeface="Arial" panose="020B0604020202020204" pitchFamily="34" charset="0"/>
                  <a:ea typeface="宋体" panose="02010600030101010101" pitchFamily="2" charset="-122"/>
                </a:rPr>
                <a:t>[</a:t>
              </a:r>
              <a:r>
                <a:rPr lang="en-US" altLang="zh-CN" i="1" dirty="0">
                  <a:solidFill>
                    <a:srgbClr val="CC0000"/>
                  </a:solidFill>
                  <a:latin typeface="Arial" panose="020B0604020202020204" pitchFamily="34" charset="0"/>
                  <a:ea typeface="宋体" panose="02010600030101010101" pitchFamily="2" charset="-122"/>
                </a:rPr>
                <a:t>x</a:t>
              </a:r>
              <a:r>
                <a:rPr lang="en-US" altLang="zh-CN" dirty="0">
                  <a:solidFill>
                    <a:srgbClr val="CC0000"/>
                  </a:solidFill>
                  <a:latin typeface="Arial" panose="020B0604020202020204" pitchFamily="34" charset="0"/>
                  <a:ea typeface="宋体" panose="02010600030101010101" pitchFamily="2" charset="-122"/>
                </a:rPr>
                <a:t>]</a:t>
              </a:r>
              <a:r>
                <a:rPr lang="zh-CN" altLang="en-US" baseline="-25000" dirty="0">
                  <a:solidFill>
                    <a:srgbClr val="CC0000"/>
                  </a:solidFill>
                  <a:latin typeface="Arial" panose="020B0604020202020204" pitchFamily="34" charset="0"/>
                  <a:ea typeface="宋体" panose="02010600030101010101" pitchFamily="2" charset="-122"/>
                </a:rPr>
                <a:t>移</a:t>
              </a:r>
              <a:r>
                <a:rPr lang="zh-CN" altLang="en-US" dirty="0">
                  <a:solidFill>
                    <a:srgbClr val="CC0000"/>
                  </a:solidFill>
                  <a:latin typeface="Arial" panose="020B0604020202020204" pitchFamily="34" charset="0"/>
                  <a:ea typeface="宋体" panose="02010600030101010101" pitchFamily="2" charset="-122"/>
                </a:rPr>
                <a:t> </a:t>
              </a:r>
              <a:r>
                <a:rPr lang="en-US" altLang="zh-CN" dirty="0">
                  <a:solidFill>
                    <a:srgbClr val="CC0000"/>
                  </a:solidFill>
                  <a:latin typeface="Arial" panose="020B0604020202020204" pitchFamily="34" charset="0"/>
                  <a:ea typeface="宋体" panose="02010600030101010101" pitchFamily="2" charset="-122"/>
                </a:rPr>
                <a:t>=</a:t>
              </a:r>
              <a:endParaRPr lang="en-US" altLang="zh-CN" dirty="0">
                <a:solidFill>
                  <a:srgbClr val="CC0000"/>
                </a:solidFill>
                <a:latin typeface="Arial" panose="020B0604020202020204" pitchFamily="34" charset="0"/>
                <a:ea typeface="宋体" panose="02010600030101010101" pitchFamily="2" charset="-122"/>
              </a:endParaRPr>
            </a:p>
          </p:txBody>
        </p:sp>
      </p:grpSp>
      <p:grpSp>
        <p:nvGrpSpPr>
          <p:cNvPr id="40978" name="Group 18"/>
          <p:cNvGrpSpPr/>
          <p:nvPr/>
        </p:nvGrpSpPr>
        <p:grpSpPr>
          <a:xfrm>
            <a:off x="3132138" y="5157788"/>
            <a:ext cx="2462212" cy="595312"/>
            <a:chOff x="2223" y="2921"/>
            <a:chExt cx="1333" cy="375"/>
          </a:xfrm>
        </p:grpSpPr>
        <p:sp>
          <p:nvSpPr>
            <p:cNvPr id="53266" name="Text Box 19"/>
            <p:cNvSpPr txBox="1"/>
            <p:nvPr/>
          </p:nvSpPr>
          <p:spPr>
            <a:xfrm>
              <a:off x="2799" y="2939"/>
              <a:ext cx="757" cy="291"/>
            </a:xfrm>
            <a:prstGeom prst="rect">
              <a:avLst/>
            </a:prstGeom>
            <a:noFill/>
            <a:ln w="9525">
              <a:noFill/>
            </a:ln>
          </p:spPr>
          <p:txBody>
            <a:bodyPr wrap="none" anchor="t">
              <a:spAutoFit/>
            </a:bodyPr>
            <a:p>
              <a:pPr eaLnBrk="0" hangingPunct="0"/>
              <a:r>
                <a:rPr lang="en-US" altLang="zh-CN" sz="2400" dirty="0">
                  <a:solidFill>
                    <a:srgbClr val="CC0000"/>
                  </a:solidFill>
                  <a:latin typeface="Tahoma" panose="020B0604030504040204" pitchFamily="34" charset="0"/>
                </a:rPr>
                <a:t> [</a:t>
              </a:r>
              <a:r>
                <a:rPr lang="en-US" altLang="zh-CN" sz="2400" i="1" dirty="0">
                  <a:solidFill>
                    <a:srgbClr val="CC0000"/>
                  </a:solidFill>
                  <a:latin typeface="Tahoma" panose="020B0604030504040204" pitchFamily="34" charset="0"/>
                </a:rPr>
                <a:t>x</a:t>
              </a:r>
              <a:r>
                <a:rPr lang="en-US" altLang="zh-CN" sz="2400" dirty="0">
                  <a:solidFill>
                    <a:srgbClr val="CC0000"/>
                  </a:solidFill>
                  <a:latin typeface="Tahoma" panose="020B0604030504040204" pitchFamily="34" charset="0"/>
                </a:rPr>
                <a:t>]</a:t>
              </a:r>
              <a:r>
                <a:rPr lang="zh-CN" altLang="en-US" sz="2400" baseline="-25000" dirty="0">
                  <a:solidFill>
                    <a:srgbClr val="CC0000"/>
                  </a:solidFill>
                  <a:latin typeface="Tahoma" panose="020B0604030504040204" pitchFamily="34" charset="0"/>
                  <a:ea typeface="华文行楷" panose="02010800040101010101" pitchFamily="2" charset="-122"/>
                </a:rPr>
                <a:t>补</a:t>
              </a:r>
              <a:r>
                <a:rPr lang="en-US" altLang="zh-CN" sz="2400" dirty="0">
                  <a:solidFill>
                    <a:srgbClr val="CC0000"/>
                  </a:solidFill>
                  <a:latin typeface="Tahoma" panose="020B0604030504040204" pitchFamily="34" charset="0"/>
                </a:rPr>
                <a:t>-</a:t>
              </a:r>
              <a:r>
                <a:rPr lang="en-US" altLang="zh-CN" sz="2400" baseline="-25000" dirty="0">
                  <a:solidFill>
                    <a:srgbClr val="CC0000"/>
                  </a:solidFill>
                  <a:latin typeface="Tahoma" panose="020B0604030504040204" pitchFamily="34" charset="0"/>
                </a:rPr>
                <a:t> </a:t>
              </a:r>
              <a:r>
                <a:rPr lang="en-US" altLang="zh-CN" sz="2400" dirty="0">
                  <a:solidFill>
                    <a:srgbClr val="CC0000"/>
                  </a:solidFill>
                  <a:latin typeface="Tahoma" panose="020B0604030504040204" pitchFamily="34" charset="0"/>
                </a:rPr>
                <a:t>2</a:t>
              </a:r>
              <a:r>
                <a:rPr lang="en-US" altLang="zh-CN" sz="2400" baseline="30000" dirty="0">
                  <a:solidFill>
                    <a:srgbClr val="CC0000"/>
                  </a:solidFill>
                  <a:latin typeface="Tahoma" panose="020B0604030504040204" pitchFamily="34" charset="0"/>
                </a:rPr>
                <a:t>n </a:t>
              </a:r>
              <a:endParaRPr lang="en-US" altLang="zh-CN" sz="2400" baseline="30000" dirty="0">
                <a:solidFill>
                  <a:srgbClr val="CC0000"/>
                </a:solidFill>
                <a:latin typeface="Tahoma" panose="020B0604030504040204" pitchFamily="34" charset="0"/>
              </a:endParaRPr>
            </a:p>
          </p:txBody>
        </p:sp>
        <p:sp>
          <p:nvSpPr>
            <p:cNvPr id="53267" name="Rectangle 20"/>
            <p:cNvSpPr/>
            <p:nvPr/>
          </p:nvSpPr>
          <p:spPr>
            <a:xfrm>
              <a:off x="2223" y="2921"/>
              <a:ext cx="720" cy="375"/>
            </a:xfrm>
            <a:prstGeom prst="rect">
              <a:avLst/>
            </a:prstGeom>
            <a:noFill/>
            <a:ln w="9525">
              <a:noFill/>
            </a:ln>
          </p:spPr>
          <p:txBody>
            <a:bodyPr anchor="t"/>
            <a:p>
              <a:pPr marL="342900" indent="-342900" eaLnBrk="0" hangingPunct="0">
                <a:spcBef>
                  <a:spcPct val="20000"/>
                </a:spcBef>
                <a:buClr>
                  <a:schemeClr val="folHlink"/>
                </a:buClr>
                <a:buFont typeface="Wingdings" panose="05000000000000000000" pitchFamily="2" charset="2"/>
              </a:pPr>
              <a:r>
                <a:rPr lang="en-US" altLang="zh-CN" dirty="0">
                  <a:solidFill>
                    <a:srgbClr val="CC0000"/>
                  </a:solidFill>
                  <a:latin typeface="Arial" panose="020B0604020202020204" pitchFamily="34" charset="0"/>
                  <a:ea typeface="宋体" panose="02010600030101010101" pitchFamily="2" charset="-122"/>
                </a:rPr>
                <a:t>[</a:t>
              </a:r>
              <a:r>
                <a:rPr lang="en-US" altLang="zh-CN" i="1" dirty="0">
                  <a:solidFill>
                    <a:srgbClr val="CC0000"/>
                  </a:solidFill>
                  <a:latin typeface="Arial" panose="020B0604020202020204" pitchFamily="34" charset="0"/>
                  <a:ea typeface="宋体" panose="02010600030101010101" pitchFamily="2" charset="-122"/>
                </a:rPr>
                <a:t>x</a:t>
              </a:r>
              <a:r>
                <a:rPr lang="en-US" altLang="zh-CN" dirty="0">
                  <a:solidFill>
                    <a:srgbClr val="CC0000"/>
                  </a:solidFill>
                  <a:latin typeface="Arial" panose="020B0604020202020204" pitchFamily="34" charset="0"/>
                  <a:ea typeface="宋体" panose="02010600030101010101" pitchFamily="2" charset="-122"/>
                </a:rPr>
                <a:t>]</a:t>
              </a:r>
              <a:r>
                <a:rPr lang="zh-CN" altLang="en-US" baseline="-25000" dirty="0">
                  <a:solidFill>
                    <a:srgbClr val="CC0000"/>
                  </a:solidFill>
                  <a:latin typeface="Arial" panose="020B0604020202020204" pitchFamily="34" charset="0"/>
                  <a:ea typeface="宋体" panose="02010600030101010101" pitchFamily="2" charset="-122"/>
                </a:rPr>
                <a:t>移</a:t>
              </a:r>
              <a:r>
                <a:rPr lang="zh-CN" altLang="en-US" dirty="0">
                  <a:solidFill>
                    <a:srgbClr val="CC0000"/>
                  </a:solidFill>
                  <a:latin typeface="Arial" panose="020B0604020202020204" pitchFamily="34" charset="0"/>
                  <a:ea typeface="宋体" panose="02010600030101010101" pitchFamily="2" charset="-122"/>
                </a:rPr>
                <a:t> </a:t>
              </a:r>
              <a:r>
                <a:rPr lang="en-US" altLang="zh-CN" dirty="0">
                  <a:solidFill>
                    <a:srgbClr val="CC0000"/>
                  </a:solidFill>
                  <a:latin typeface="Arial" panose="020B0604020202020204" pitchFamily="34" charset="0"/>
                  <a:ea typeface="宋体" panose="02010600030101010101" pitchFamily="2" charset="-122"/>
                </a:rPr>
                <a:t>=</a:t>
              </a:r>
              <a:endParaRPr lang="en-US" altLang="zh-CN" dirty="0">
                <a:solidFill>
                  <a:srgbClr val="CC0000"/>
                </a:solidFill>
                <a:latin typeface="Arial" panose="020B0604020202020204" pitchFamily="3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0964"/>
                                        </p:tgtEl>
                                        <p:attrNameLst>
                                          <p:attrName>style.visibility</p:attrName>
                                        </p:attrNameLst>
                                      </p:cBhvr>
                                      <p:to>
                                        <p:strVal val="visible"/>
                                      </p:to>
                                    </p:set>
                                    <p:animEffect transition="in" filter="wipe(left)">
                                      <p:cBhvr>
                                        <p:cTn id="7" dur="500"/>
                                        <p:tgtEl>
                                          <p:spTgt spid="4096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0971"/>
                                        </p:tgtEl>
                                        <p:attrNameLst>
                                          <p:attrName>style.visibility</p:attrName>
                                        </p:attrNameLst>
                                      </p:cBhvr>
                                      <p:to>
                                        <p:strVal val="visible"/>
                                      </p:to>
                                    </p:set>
                                    <p:animEffect transition="in" filter="wipe(left)">
                                      <p:cBhvr>
                                        <p:cTn id="12" dur="500"/>
                                        <p:tgtEl>
                                          <p:spTgt spid="4097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0975"/>
                                        </p:tgtEl>
                                        <p:attrNameLst>
                                          <p:attrName>style.visibility</p:attrName>
                                        </p:attrNameLst>
                                      </p:cBhvr>
                                      <p:to>
                                        <p:strVal val="visible"/>
                                      </p:to>
                                    </p:set>
                                    <p:animEffect transition="in" filter="wipe(left)">
                                      <p:cBhvr>
                                        <p:cTn id="17" dur="500"/>
                                        <p:tgtEl>
                                          <p:spTgt spid="4097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0978"/>
                                        </p:tgtEl>
                                        <p:attrNameLst>
                                          <p:attrName>style.visibility</p:attrName>
                                        </p:attrNameLst>
                                      </p:cBhvr>
                                      <p:to>
                                        <p:strVal val="visible"/>
                                      </p:to>
                                    </p:set>
                                    <p:animEffect transition="in" filter="wipe(left)">
                                      <p:cBhvr>
                                        <p:cTn id="22" dur="500"/>
                                        <p:tgtEl>
                                          <p:spTgt spid="409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Rectangle 2"/>
          <p:cNvSpPr>
            <a:spLocks noGrp="1" noRot="1"/>
          </p:cNvSpPr>
          <p:nvPr>
            <p:ph type="title"/>
          </p:nvPr>
        </p:nvSpPr>
        <p:spPr>
          <a:noFill/>
          <a:ln>
            <a:noFill/>
          </a:ln>
        </p:spPr>
        <p:txBody>
          <a:bodyPr anchor="t"/>
          <a:p>
            <a:pPr>
              <a:buNone/>
            </a:pPr>
            <a:r>
              <a:rPr lang="zh-CN" altLang="en-US" dirty="0">
                <a:solidFill>
                  <a:srgbClr val="FF0000"/>
                </a:solidFill>
                <a:latin typeface="微软雅黑" panose="020B0503020204020204" charset="-122"/>
                <a:ea typeface="微软雅黑" panose="020B0503020204020204" charset="-122"/>
              </a:rPr>
              <a:t>移码、补码和真值之间的关系</a:t>
            </a:r>
            <a:endParaRPr lang="zh-CN" altLang="en-US" dirty="0">
              <a:solidFill>
                <a:srgbClr val="FF0000"/>
              </a:solidFill>
              <a:latin typeface="微软雅黑" panose="020B0503020204020204" charset="-122"/>
              <a:ea typeface="微软雅黑" panose="020B0503020204020204" charset="-122"/>
            </a:endParaRPr>
          </a:p>
        </p:txBody>
      </p:sp>
      <p:graphicFrame>
        <p:nvGraphicFramePr>
          <p:cNvPr id="42045" name="Group 61"/>
          <p:cNvGraphicFramePr>
            <a:graphicFrameLocks noGrp="1"/>
          </p:cNvGraphicFramePr>
          <p:nvPr>
            <p:ph idx="4294967295"/>
          </p:nvPr>
        </p:nvGraphicFramePr>
        <p:xfrm>
          <a:off x="250825" y="1412875"/>
          <a:ext cx="8540750" cy="4356100"/>
        </p:xfrm>
        <a:graphic>
          <a:graphicData uri="http://schemas.openxmlformats.org/drawingml/2006/table">
            <a:tbl>
              <a:tblPr/>
              <a:tblGrid>
                <a:gridCol w="2330450"/>
                <a:gridCol w="2330450"/>
                <a:gridCol w="1939925"/>
                <a:gridCol w="1939925"/>
              </a:tblGrid>
              <a:tr h="535847">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80000"/>
                        </a:lnSpc>
                        <a:spcBef>
                          <a:spcPct val="20000"/>
                        </a:spcBef>
                        <a:spcAft>
                          <a:spcPct val="0"/>
                        </a:spcAft>
                        <a:buClr>
                          <a:schemeClr val="folHlink"/>
                        </a:buClr>
                        <a:buSzTx/>
                        <a:buFont typeface="Wingdings" panose="05000000000000000000" pitchFamily="2" charset="2"/>
                        <a:buNone/>
                      </a:pPr>
                      <a:r>
                        <a:rPr kumimoji="0" lang="zh-CN" altLang="en-US" sz="2400" b="1" i="0" u="none" strike="noStrike" cap="none" normalizeH="0" baseline="0">
                          <a:ln>
                            <a:noFill/>
                          </a:ln>
                          <a:solidFill>
                            <a:schemeClr val="tx1"/>
                          </a:solidFill>
                          <a:effectLst/>
                          <a:latin typeface="微软雅黑" panose="020B0503020204020204" charset="-122"/>
                          <a:ea typeface="微软雅黑" panose="020B0503020204020204" charset="-122"/>
                        </a:rPr>
                        <a:t>真值</a:t>
                      </a: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a:t>
                      </a:r>
                      <a:r>
                        <a:rPr kumimoji="0" lang="zh-CN" altLang="en-US" sz="2400" b="1" i="0" u="none" strike="noStrike" cap="none" normalizeH="0" baseline="0">
                          <a:ln>
                            <a:noFill/>
                          </a:ln>
                          <a:solidFill>
                            <a:schemeClr val="tx1"/>
                          </a:solidFill>
                          <a:effectLst/>
                          <a:latin typeface="微软雅黑" panose="020B0503020204020204" charset="-122"/>
                          <a:ea typeface="微软雅黑" panose="020B0503020204020204" charset="-122"/>
                        </a:rPr>
                        <a:t>十进制</a:t>
                      </a: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a:t>
                      </a:r>
                      <a:endPar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80000"/>
                        </a:lnSpc>
                        <a:spcBef>
                          <a:spcPct val="20000"/>
                        </a:spcBef>
                        <a:spcAft>
                          <a:spcPct val="0"/>
                        </a:spcAft>
                        <a:buClr>
                          <a:schemeClr val="folHlink"/>
                        </a:buClr>
                        <a:buSzTx/>
                        <a:buFont typeface="Wingdings" panose="05000000000000000000" pitchFamily="2" charset="2"/>
                        <a:buNone/>
                      </a:pPr>
                      <a:r>
                        <a:rPr kumimoji="0" lang="zh-CN" altLang="en-US" sz="2400" b="1" i="0" u="none" strike="noStrike" cap="none" normalizeH="0" baseline="0">
                          <a:ln>
                            <a:noFill/>
                          </a:ln>
                          <a:solidFill>
                            <a:schemeClr val="tx1"/>
                          </a:solidFill>
                          <a:effectLst/>
                          <a:latin typeface="微软雅黑" panose="020B0503020204020204" charset="-122"/>
                          <a:ea typeface="微软雅黑" panose="020B0503020204020204" charset="-122"/>
                        </a:rPr>
                        <a:t>真值</a:t>
                      </a: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a:t>
                      </a:r>
                      <a:r>
                        <a:rPr kumimoji="0" lang="zh-CN" altLang="en-US" sz="2400" b="1" i="0" u="none" strike="noStrike" cap="none" normalizeH="0" baseline="0">
                          <a:ln>
                            <a:noFill/>
                          </a:ln>
                          <a:solidFill>
                            <a:schemeClr val="tx1"/>
                          </a:solidFill>
                          <a:effectLst/>
                          <a:latin typeface="微软雅黑" panose="020B0503020204020204" charset="-122"/>
                          <a:ea typeface="微软雅黑" panose="020B0503020204020204" charset="-122"/>
                        </a:rPr>
                        <a:t>二进制</a:t>
                      </a: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a:t>
                      </a:r>
                      <a:endPar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a:t>
                      </a:r>
                      <a:r>
                        <a:rPr kumimoji="0" lang="en-US" altLang="zh-CN" sz="2400" b="1" i="1" u="none" strike="noStrike" cap="none" normalizeH="0" baseline="0">
                          <a:ln>
                            <a:noFill/>
                          </a:ln>
                          <a:solidFill>
                            <a:schemeClr val="tx1"/>
                          </a:solidFill>
                          <a:effectLst/>
                          <a:latin typeface="微软雅黑" panose="020B0503020204020204" charset="-122"/>
                          <a:ea typeface="微软雅黑" panose="020B0503020204020204" charset="-122"/>
                        </a:rPr>
                        <a:t>x</a:t>
                      </a: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a:t>
                      </a:r>
                      <a:r>
                        <a:rPr kumimoji="0" lang="zh-CN" altLang="en-US" sz="2400" b="1" i="0" u="none" strike="noStrike" cap="none" normalizeH="0" baseline="-25000">
                          <a:ln>
                            <a:noFill/>
                          </a:ln>
                          <a:solidFill>
                            <a:schemeClr val="tx1"/>
                          </a:solidFill>
                          <a:effectLst/>
                          <a:latin typeface="微软雅黑" panose="020B0503020204020204" charset="-122"/>
                          <a:ea typeface="微软雅黑" panose="020B0503020204020204" charset="-122"/>
                        </a:rPr>
                        <a:t>补</a:t>
                      </a: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a:t>
                      </a:r>
                      <a:r>
                        <a:rPr kumimoji="0" lang="zh-CN" altLang="en-US" sz="2400" b="1" i="0" u="none" strike="noStrike" cap="none" normalizeH="0" baseline="0">
                          <a:ln>
                            <a:noFill/>
                          </a:ln>
                          <a:solidFill>
                            <a:schemeClr val="tx1"/>
                          </a:solidFill>
                          <a:effectLst/>
                          <a:latin typeface="微软雅黑" panose="020B0503020204020204" charset="-122"/>
                          <a:ea typeface="微软雅黑" panose="020B0503020204020204" charset="-122"/>
                        </a:rPr>
                        <a:t>补码</a:t>
                      </a: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a:t>
                      </a:r>
                      <a:endPar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80000"/>
                        </a:lnSpc>
                        <a:spcBef>
                          <a:spcPct val="2000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a:t>
                      </a:r>
                      <a:r>
                        <a:rPr kumimoji="0" lang="en-US" altLang="zh-CN" sz="2400" b="1" i="1" u="none" strike="noStrike" cap="none" normalizeH="0" baseline="0">
                          <a:ln>
                            <a:noFill/>
                          </a:ln>
                          <a:solidFill>
                            <a:schemeClr val="tx1"/>
                          </a:solidFill>
                          <a:effectLst/>
                          <a:latin typeface="微软雅黑" panose="020B0503020204020204" charset="-122"/>
                          <a:ea typeface="微软雅黑" panose="020B0503020204020204" charset="-122"/>
                        </a:rPr>
                        <a:t>x</a:t>
                      </a: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a:t>
                      </a:r>
                      <a:r>
                        <a:rPr kumimoji="0" lang="zh-CN" altLang="en-US" sz="2400" b="1" i="0" u="none" strike="noStrike" cap="none" normalizeH="0" baseline="-25000">
                          <a:ln>
                            <a:noFill/>
                          </a:ln>
                          <a:solidFill>
                            <a:schemeClr val="tx1"/>
                          </a:solidFill>
                          <a:effectLst/>
                          <a:latin typeface="微软雅黑" panose="020B0503020204020204" charset="-122"/>
                          <a:ea typeface="微软雅黑" panose="020B0503020204020204" charset="-122"/>
                        </a:rPr>
                        <a:t>移</a:t>
                      </a: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a:t>
                      </a:r>
                      <a:r>
                        <a:rPr kumimoji="0" lang="zh-CN" altLang="en-US" sz="2400" b="1" i="0" u="none" strike="noStrike" cap="none" normalizeH="0" baseline="0">
                          <a:ln>
                            <a:noFill/>
                          </a:ln>
                          <a:solidFill>
                            <a:schemeClr val="tx1"/>
                          </a:solidFill>
                          <a:effectLst/>
                          <a:latin typeface="微软雅黑" panose="020B0503020204020204" charset="-122"/>
                          <a:ea typeface="微软雅黑" panose="020B0503020204020204" charset="-122"/>
                        </a:rPr>
                        <a:t>移码</a:t>
                      </a: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a:t>
                      </a:r>
                      <a:endPar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1716">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-128</a:t>
                      </a:r>
                      <a:endPar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-1000,0000</a:t>
                      </a:r>
                      <a:endPar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rgbClr val="FF0000"/>
                          </a:solidFill>
                          <a:effectLst/>
                          <a:latin typeface="微软雅黑" panose="020B0503020204020204" charset="-122"/>
                          <a:ea typeface="微软雅黑" panose="020B0503020204020204" charset="-122"/>
                        </a:rPr>
                        <a:t>1</a:t>
                      </a: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000,0000</a:t>
                      </a:r>
                      <a:endPar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rgbClr val="FF0000"/>
                          </a:solidFill>
                          <a:effectLst/>
                          <a:latin typeface="微软雅黑" panose="020B0503020204020204" charset="-122"/>
                          <a:ea typeface="微软雅黑" panose="020B0503020204020204" charset="-122"/>
                        </a:rPr>
                        <a:t>0</a:t>
                      </a: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000,0000</a:t>
                      </a:r>
                      <a:endPar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1716">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-127</a:t>
                      </a:r>
                      <a:endPar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-0111,1111</a:t>
                      </a:r>
                      <a:endPar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rgbClr val="FF0000"/>
                          </a:solidFill>
                          <a:effectLst/>
                          <a:latin typeface="微软雅黑" panose="020B0503020204020204" charset="-122"/>
                          <a:ea typeface="微软雅黑" panose="020B0503020204020204" charset="-122"/>
                        </a:rPr>
                        <a:t>1</a:t>
                      </a: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000,0001</a:t>
                      </a:r>
                      <a:endPar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rgbClr val="FF0000"/>
                          </a:solidFill>
                          <a:effectLst/>
                          <a:latin typeface="微软雅黑" panose="020B0503020204020204" charset="-122"/>
                          <a:ea typeface="微软雅黑" panose="020B0503020204020204" charset="-122"/>
                        </a:rPr>
                        <a:t>0</a:t>
                      </a: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000,0001</a:t>
                      </a:r>
                      <a:endPar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1716">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a:t>
                      </a:r>
                      <a:endPar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a:t>
                      </a:r>
                      <a:endPar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a:t>
                      </a:r>
                      <a:endPar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a:t>
                      </a:r>
                      <a:endPar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1716">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-1</a:t>
                      </a:r>
                      <a:endPar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-0000,0001</a:t>
                      </a:r>
                      <a:endPar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rgbClr val="FF0000"/>
                          </a:solidFill>
                          <a:effectLst/>
                          <a:latin typeface="微软雅黑" panose="020B0503020204020204" charset="-122"/>
                          <a:ea typeface="微软雅黑" panose="020B0503020204020204" charset="-122"/>
                        </a:rPr>
                        <a:t>1</a:t>
                      </a: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111,1111</a:t>
                      </a:r>
                      <a:endPar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rgbClr val="FF0000"/>
                          </a:solidFill>
                          <a:effectLst/>
                          <a:latin typeface="微软雅黑" panose="020B0503020204020204" charset="-122"/>
                          <a:ea typeface="微软雅黑" panose="020B0503020204020204" charset="-122"/>
                        </a:rPr>
                        <a:t>0</a:t>
                      </a: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111,1111</a:t>
                      </a:r>
                      <a:endPar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1716">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0</a:t>
                      </a:r>
                      <a:endPar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0000,0000</a:t>
                      </a:r>
                      <a:endPar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rgbClr val="FF0000"/>
                          </a:solidFill>
                          <a:effectLst/>
                          <a:latin typeface="微软雅黑" panose="020B0503020204020204" charset="-122"/>
                          <a:ea typeface="微软雅黑" panose="020B0503020204020204" charset="-122"/>
                        </a:rPr>
                        <a:t>0</a:t>
                      </a: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000,0000</a:t>
                      </a:r>
                      <a:endPar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rgbClr val="FF0000"/>
                          </a:solidFill>
                          <a:effectLst/>
                          <a:latin typeface="微软雅黑" panose="020B0503020204020204" charset="-122"/>
                          <a:ea typeface="微软雅黑" panose="020B0503020204020204" charset="-122"/>
                        </a:rPr>
                        <a:t>1</a:t>
                      </a: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000,0000</a:t>
                      </a:r>
                      <a:endPar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1716">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1</a:t>
                      </a:r>
                      <a:endPar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0000,0001</a:t>
                      </a:r>
                      <a:endPar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rgbClr val="FF0000"/>
                          </a:solidFill>
                          <a:effectLst/>
                          <a:latin typeface="微软雅黑" panose="020B0503020204020204" charset="-122"/>
                          <a:ea typeface="微软雅黑" panose="020B0503020204020204" charset="-122"/>
                        </a:rPr>
                        <a:t>0</a:t>
                      </a: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000,0001</a:t>
                      </a:r>
                      <a:endPar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rgbClr val="FF0000"/>
                          </a:solidFill>
                          <a:effectLst/>
                          <a:latin typeface="微软雅黑" panose="020B0503020204020204" charset="-122"/>
                          <a:ea typeface="微软雅黑" panose="020B0503020204020204" charset="-122"/>
                        </a:rPr>
                        <a:t>1</a:t>
                      </a:r>
                      <a:r>
                        <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rPr>
                        <a:t>000,0001</a:t>
                      </a:r>
                      <a:endParaRPr kumimoji="0" lang="en-US" altLang="zh-CN" sz="24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4978">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微软雅黑" panose="020B0503020204020204" charset="-122"/>
                          <a:ea typeface="微软雅黑" panose="020B0503020204020204" charset="-122"/>
                        </a:rPr>
                        <a:t>…</a:t>
                      </a:r>
                      <a:endParaRPr kumimoji="0" lang="en-US" altLang="zh-CN" sz="20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微软雅黑" panose="020B0503020204020204" charset="-122"/>
                          <a:ea typeface="微软雅黑" panose="020B0503020204020204" charset="-122"/>
                        </a:rPr>
                        <a:t>…</a:t>
                      </a:r>
                      <a:endParaRPr kumimoji="0" lang="en-US" altLang="zh-CN" sz="20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微软雅黑" panose="020B0503020204020204" charset="-122"/>
                          <a:ea typeface="微软雅黑" panose="020B0503020204020204" charset="-122"/>
                        </a:rPr>
                        <a:t>…</a:t>
                      </a:r>
                      <a:endParaRPr kumimoji="0" lang="en-US" altLang="zh-CN" sz="20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pPr>
                      <a:endParaRPr kumimoji="0" lang="zh-CN" altLang="zh-CN" sz="20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4978">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微软雅黑" panose="020B0503020204020204" charset="-122"/>
                          <a:ea typeface="微软雅黑" panose="020B0503020204020204" charset="-122"/>
                        </a:rPr>
                        <a:t>127</a:t>
                      </a:r>
                      <a:endParaRPr kumimoji="0" lang="en-US" altLang="zh-CN" sz="20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pPr>
                      <a:r>
                        <a:rPr kumimoji="0" lang="en-US" altLang="zh-CN" sz="2400" b="1" i="0" u="none" strike="noStrike" cap="none" normalizeH="0" baseline="0" dirty="0">
                          <a:ln>
                            <a:noFill/>
                          </a:ln>
                          <a:solidFill>
                            <a:schemeClr val="tx1"/>
                          </a:solidFill>
                          <a:effectLst/>
                          <a:latin typeface="微软雅黑" panose="020B0503020204020204" charset="-122"/>
                          <a:ea typeface="微软雅黑" panose="020B0503020204020204" charset="-122"/>
                        </a:rPr>
                        <a:t>0111,1111</a:t>
                      </a:r>
                      <a:endParaRPr kumimoji="0" lang="en-US" altLang="zh-CN" sz="2400" b="1"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pPr>
                      <a:r>
                        <a:rPr kumimoji="0" lang="en-US" altLang="zh-CN" sz="2400" b="1" i="0" u="none" strike="noStrike" cap="none" normalizeH="0" baseline="0" dirty="0">
                          <a:ln>
                            <a:noFill/>
                          </a:ln>
                          <a:solidFill>
                            <a:srgbClr val="FF0000"/>
                          </a:solidFill>
                          <a:effectLst/>
                          <a:latin typeface="微软雅黑" panose="020B0503020204020204" charset="-122"/>
                          <a:ea typeface="微软雅黑" panose="020B0503020204020204" charset="-122"/>
                        </a:rPr>
                        <a:t>0</a:t>
                      </a:r>
                      <a:r>
                        <a:rPr kumimoji="0" lang="en-US" altLang="zh-CN" sz="2400" b="1" i="0" u="none" strike="noStrike" cap="none" normalizeH="0" baseline="0" dirty="0">
                          <a:ln>
                            <a:noFill/>
                          </a:ln>
                          <a:solidFill>
                            <a:schemeClr val="tx1"/>
                          </a:solidFill>
                          <a:effectLst/>
                          <a:latin typeface="微软雅黑" panose="020B0503020204020204" charset="-122"/>
                          <a:ea typeface="微软雅黑" panose="020B0503020204020204" charset="-122"/>
                        </a:rPr>
                        <a:t>111,1111</a:t>
                      </a:r>
                      <a:endParaRPr kumimoji="0" lang="en-US" altLang="zh-CN" sz="2400" b="1"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
                          <a:schemeClr val="folHlink"/>
                        </a:buClr>
                        <a:buSzTx/>
                        <a:buFont typeface="Wingdings" panose="05000000000000000000" pitchFamily="2" charset="2"/>
                        <a:buNone/>
                      </a:pPr>
                      <a:r>
                        <a:rPr kumimoji="0" lang="en-US" altLang="zh-CN" sz="2400" b="1" i="0" u="none" strike="noStrike" cap="none" normalizeH="0" baseline="0" dirty="0">
                          <a:ln>
                            <a:noFill/>
                          </a:ln>
                          <a:solidFill>
                            <a:srgbClr val="FF0000"/>
                          </a:solidFill>
                          <a:effectLst/>
                          <a:latin typeface="微软雅黑" panose="020B0503020204020204" charset="-122"/>
                          <a:ea typeface="微软雅黑" panose="020B0503020204020204" charset="-122"/>
                        </a:rPr>
                        <a:t>1</a:t>
                      </a:r>
                      <a:r>
                        <a:rPr kumimoji="0" lang="en-US" altLang="zh-CN" sz="2400" b="1" i="0" u="none" strike="noStrike" cap="none" normalizeH="0" baseline="0" dirty="0">
                          <a:ln>
                            <a:noFill/>
                          </a:ln>
                          <a:solidFill>
                            <a:schemeClr val="tx1"/>
                          </a:solidFill>
                          <a:effectLst/>
                          <a:latin typeface="微软雅黑" panose="020B0503020204020204" charset="-122"/>
                          <a:ea typeface="微软雅黑" panose="020B0503020204020204" charset="-122"/>
                        </a:rPr>
                        <a:t>111,1111</a:t>
                      </a:r>
                      <a:endParaRPr kumimoji="0" lang="en-US" altLang="zh-CN" sz="2400" b="1"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T="45705" marB="4570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2045"/>
                                        </p:tgtEl>
                                        <p:attrNameLst>
                                          <p:attrName>style.visibility</p:attrName>
                                        </p:attrNameLst>
                                      </p:cBhvr>
                                      <p:to>
                                        <p:strVal val="visible"/>
                                      </p:to>
                                    </p:set>
                                    <p:animEffect transition="in" filter="dissolve">
                                      <p:cBhvr>
                                        <p:cTn id="7" dur="500"/>
                                        <p:tgtEl>
                                          <p:spTgt spid="420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Rectangle 2"/>
          <p:cNvSpPr>
            <a:spLocks noGrp="1" noRot="1"/>
          </p:cNvSpPr>
          <p:nvPr>
            <p:ph type="title"/>
          </p:nvPr>
        </p:nvSpPr>
        <p:spPr>
          <a:noFill/>
          <a:ln>
            <a:noFill/>
          </a:ln>
        </p:spPr>
        <p:txBody>
          <a:bodyPr anchor="t"/>
          <a:p>
            <a:pPr>
              <a:buNone/>
            </a:pPr>
            <a:r>
              <a:rPr lang="zh-CN" altLang="en-US" dirty="0">
                <a:latin typeface="微软雅黑" panose="020B0503020204020204" charset="-122"/>
                <a:ea typeface="微软雅黑" panose="020B0503020204020204" charset="-122"/>
              </a:rPr>
              <a:t>移码的特点</a:t>
            </a:r>
            <a:endParaRPr lang="zh-CN" altLang="en-US" dirty="0">
              <a:latin typeface="微软雅黑" panose="020B0503020204020204" charset="-122"/>
              <a:ea typeface="微软雅黑" panose="020B0503020204020204" charset="-122"/>
            </a:endParaRPr>
          </a:p>
        </p:txBody>
      </p:sp>
      <p:sp>
        <p:nvSpPr>
          <p:cNvPr id="57346" name="Rectangle 3"/>
          <p:cNvSpPr>
            <a:spLocks noGrp="1" noRot="1"/>
          </p:cNvSpPr>
          <p:nvPr>
            <p:ph idx="1"/>
          </p:nvPr>
        </p:nvSpPr>
        <p:spPr>
          <a:xfrm>
            <a:off x="301625" y="1500188"/>
            <a:ext cx="8540750" cy="4881562"/>
          </a:xfrm>
          <a:noFill/>
          <a:ln>
            <a:noFill/>
          </a:ln>
        </p:spPr>
        <p:txBody>
          <a:bodyPr anchor="t"/>
          <a:p>
            <a:pPr>
              <a:lnSpc>
                <a:spcPct val="110000"/>
              </a:lnSpc>
              <a:spcBef>
                <a:spcPts val="1200"/>
              </a:spcBef>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与原码、补码、反码的符号位值正好相反；</a:t>
            </a:r>
            <a:endParaRPr lang="zh-CN" altLang="en-US" dirty="0">
              <a:solidFill>
                <a:schemeClr val="tx2"/>
              </a:solidFill>
              <a:latin typeface="微软雅黑" panose="020B0503020204020204" charset="-122"/>
              <a:ea typeface="微软雅黑" panose="020B0503020204020204" charset="-122"/>
            </a:endParaRPr>
          </a:p>
          <a:p>
            <a:pPr>
              <a:lnSpc>
                <a:spcPct val="110000"/>
              </a:lnSpc>
              <a:spcBef>
                <a:spcPts val="1200"/>
              </a:spcBef>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移码的大小</a:t>
            </a:r>
            <a:r>
              <a:rPr lang="zh-CN" altLang="en-US" dirty="0">
                <a:solidFill>
                  <a:srgbClr val="FF0000"/>
                </a:solidFill>
                <a:latin typeface="微软雅黑" panose="020B0503020204020204" charset="-122"/>
                <a:ea typeface="微软雅黑" panose="020B0503020204020204" charset="-122"/>
              </a:rPr>
              <a:t>直观地反映了真值的大小</a:t>
            </a:r>
            <a:r>
              <a:rPr lang="zh-CN" altLang="en-US" dirty="0">
                <a:solidFill>
                  <a:schemeClr val="tx2"/>
                </a:solidFill>
                <a:latin typeface="微软雅黑" panose="020B0503020204020204" charset="-122"/>
                <a:ea typeface="微软雅黑" panose="020B0503020204020204" charset="-122"/>
              </a:rPr>
              <a:t>，有助于两个浮点数进行阶码大小比较；</a:t>
            </a:r>
            <a:endParaRPr lang="zh-CN" altLang="en-US" dirty="0">
              <a:solidFill>
                <a:schemeClr val="tx2"/>
              </a:solidFill>
              <a:latin typeface="微软雅黑" panose="020B0503020204020204" charset="-122"/>
              <a:ea typeface="微软雅黑" panose="020B0503020204020204" charset="-122"/>
            </a:endParaRPr>
          </a:p>
          <a:p>
            <a:pPr>
              <a:lnSpc>
                <a:spcPct val="110000"/>
              </a:lnSpc>
              <a:spcBef>
                <a:spcPts val="1200"/>
              </a:spcBef>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真值</a:t>
            </a:r>
            <a:r>
              <a:rPr lang="en-US" altLang="zh-CN" dirty="0">
                <a:solidFill>
                  <a:schemeClr val="tx2"/>
                </a:solidFill>
                <a:latin typeface="微软雅黑" panose="020B0503020204020204" charset="-122"/>
                <a:ea typeface="微软雅黑" panose="020B0503020204020204" charset="-122"/>
              </a:rPr>
              <a:t>0</a:t>
            </a:r>
            <a:r>
              <a:rPr lang="zh-CN" altLang="en-US" dirty="0">
                <a:solidFill>
                  <a:schemeClr val="tx2"/>
                </a:solidFill>
                <a:latin typeface="微软雅黑" panose="020B0503020204020204" charset="-122"/>
                <a:ea typeface="微软雅黑" panose="020B0503020204020204" charset="-122"/>
              </a:rPr>
              <a:t>在移码中的表示形式是唯一的，即：</a:t>
            </a:r>
            <a:endParaRPr lang="zh-CN" altLang="en-US" dirty="0">
              <a:solidFill>
                <a:schemeClr val="tx2"/>
              </a:solidFill>
              <a:latin typeface="微软雅黑" panose="020B0503020204020204" charset="-122"/>
              <a:ea typeface="微软雅黑" panose="020B0503020204020204" charset="-122"/>
            </a:endParaRPr>
          </a:p>
          <a:p>
            <a:pPr lvl="1">
              <a:lnSpc>
                <a:spcPct val="110000"/>
              </a:lnSpc>
              <a:spcBef>
                <a:spcPts val="1200"/>
              </a:spcBef>
            </a:pPr>
            <a:r>
              <a:rPr lang="en-US" altLang="zh-CN" dirty="0">
                <a:solidFill>
                  <a:schemeClr val="tx2"/>
                </a:solidFill>
                <a:latin typeface="微软雅黑" panose="020B0503020204020204" charset="-122"/>
                <a:ea typeface="微软雅黑" panose="020B0503020204020204" charset="-122"/>
              </a:rPr>
              <a:t>[+0]</a:t>
            </a:r>
            <a:r>
              <a:rPr lang="zh-CN" altLang="en-US" baseline="-30000" dirty="0">
                <a:solidFill>
                  <a:schemeClr val="tx2"/>
                </a:solidFill>
                <a:latin typeface="微软雅黑" panose="020B0503020204020204" charset="-122"/>
                <a:ea typeface="微软雅黑" panose="020B0503020204020204" charset="-122"/>
              </a:rPr>
              <a:t>移</a:t>
            </a:r>
            <a:r>
              <a:rPr lang="en-US" altLang="zh-CN" dirty="0">
                <a:solidFill>
                  <a:schemeClr val="tx2"/>
                </a:solidFill>
                <a:latin typeface="微软雅黑" panose="020B0503020204020204" charset="-122"/>
                <a:ea typeface="微软雅黑" panose="020B0503020204020204" charset="-122"/>
              </a:rPr>
              <a:t>= [­0]</a:t>
            </a:r>
            <a:r>
              <a:rPr lang="zh-CN" altLang="en-US" baseline="-30000" dirty="0">
                <a:solidFill>
                  <a:schemeClr val="tx2"/>
                </a:solidFill>
                <a:latin typeface="微软雅黑" panose="020B0503020204020204" charset="-122"/>
                <a:ea typeface="微软雅黑" panose="020B0503020204020204" charset="-122"/>
              </a:rPr>
              <a:t>移</a:t>
            </a:r>
            <a:r>
              <a:rPr lang="en-US" altLang="zh-CN" dirty="0">
                <a:solidFill>
                  <a:schemeClr val="tx2"/>
                </a:solidFill>
                <a:latin typeface="微软雅黑" panose="020B0503020204020204" charset="-122"/>
                <a:ea typeface="微软雅黑" panose="020B0503020204020204" charset="-122"/>
              </a:rPr>
              <a:t>= 100…00</a:t>
            </a:r>
            <a:endParaRPr lang="en-US" altLang="zh-CN" dirty="0">
              <a:solidFill>
                <a:schemeClr val="tx2"/>
              </a:solidFill>
              <a:latin typeface="微软雅黑" panose="020B0503020204020204" charset="-122"/>
              <a:ea typeface="微软雅黑" panose="020B0503020204020204" charset="-122"/>
            </a:endParaRPr>
          </a:p>
          <a:p>
            <a:pPr>
              <a:lnSpc>
                <a:spcPct val="110000"/>
              </a:lnSpc>
              <a:spcBef>
                <a:spcPts val="1200"/>
              </a:spcBef>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同一数值的移码和补码除最高位相反外，其他各位相同。</a:t>
            </a:r>
            <a:endParaRPr lang="zh-CN" altLang="en-US" dirty="0">
              <a:solidFill>
                <a:schemeClr val="tx2"/>
              </a:solidFill>
              <a:latin typeface="微软雅黑" panose="020B0503020204020204" charset="-122"/>
              <a:ea typeface="微软雅黑" panose="020B050302020402020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Rectangle 2"/>
          <p:cNvSpPr>
            <a:spLocks noGrp="1" noRot="1"/>
          </p:cNvSpPr>
          <p:nvPr>
            <p:ph type="title"/>
          </p:nvPr>
        </p:nvSpPr>
        <p:spPr>
          <a:noFill/>
          <a:ln>
            <a:noFill/>
          </a:ln>
        </p:spPr>
        <p:txBody>
          <a:bodyPr anchor="t"/>
          <a:p>
            <a:pPr>
              <a:buNone/>
            </a:pPr>
            <a:r>
              <a:rPr lang="zh-CN" altLang="en-US" dirty="0">
                <a:solidFill>
                  <a:srgbClr val="0000FF"/>
                </a:solidFill>
                <a:latin typeface="微软雅黑" panose="020B0503020204020204" charset="-122"/>
                <a:ea typeface="微软雅黑" panose="020B0503020204020204" charset="-122"/>
              </a:rPr>
              <a:t>小结</a:t>
            </a:r>
            <a:endParaRPr lang="zh-CN" altLang="en-US" dirty="0">
              <a:solidFill>
                <a:srgbClr val="0000FF"/>
              </a:solidFill>
              <a:latin typeface="微软雅黑" panose="020B0503020204020204" charset="-122"/>
              <a:ea typeface="微软雅黑" panose="020B0503020204020204" charset="-122"/>
            </a:endParaRPr>
          </a:p>
        </p:txBody>
      </p:sp>
      <p:sp>
        <p:nvSpPr>
          <p:cNvPr id="59394" name="Rectangle 3"/>
          <p:cNvSpPr>
            <a:spLocks noGrp="1" noRot="1"/>
          </p:cNvSpPr>
          <p:nvPr>
            <p:ph idx="1"/>
          </p:nvPr>
        </p:nvSpPr>
        <p:spPr>
          <a:xfrm>
            <a:off x="301625" y="1500188"/>
            <a:ext cx="8662988" cy="4881562"/>
          </a:xfrm>
          <a:noFill/>
          <a:ln>
            <a:noFill/>
          </a:ln>
        </p:spPr>
        <p:txBody>
          <a:bodyPr anchor="t"/>
          <a:p>
            <a:pPr>
              <a:spcBef>
                <a:spcPts val="1800"/>
              </a:spcBef>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移码表示法主要用于表示浮点数的阶码；</a:t>
            </a:r>
            <a:endParaRPr lang="en-US" altLang="zh-CN" dirty="0">
              <a:solidFill>
                <a:schemeClr val="tx2"/>
              </a:solidFill>
              <a:latin typeface="微软雅黑" panose="020B0503020204020204" charset="-122"/>
              <a:ea typeface="微软雅黑" panose="020B0503020204020204" charset="-122"/>
            </a:endParaRPr>
          </a:p>
          <a:p>
            <a:pPr>
              <a:spcBef>
                <a:spcPts val="2400"/>
              </a:spcBef>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补码表示对加减法运算十分方便，因此目前机器中广泛采用补码表示法；</a:t>
            </a:r>
            <a:endParaRPr lang="zh-CN" altLang="en-US" dirty="0">
              <a:solidFill>
                <a:schemeClr val="tx2"/>
              </a:solidFill>
              <a:latin typeface="微软雅黑" panose="020B0503020204020204" charset="-122"/>
              <a:ea typeface="微软雅黑" panose="020B0503020204020204" charset="-122"/>
            </a:endParaRPr>
          </a:p>
          <a:p>
            <a:pPr lvl="1">
              <a:spcBef>
                <a:spcPts val="1200"/>
              </a:spcBef>
              <a:buSzPct val="80000"/>
            </a:pPr>
            <a:r>
              <a:rPr lang="zh-CN" altLang="en-US" sz="2400" b="1" dirty="0">
                <a:solidFill>
                  <a:schemeClr val="tx2"/>
                </a:solidFill>
                <a:latin typeface="微软雅黑" panose="020B0503020204020204" charset="-122"/>
                <a:ea typeface="微软雅黑" panose="020B0503020204020204" charset="-122"/>
              </a:rPr>
              <a:t>在一些机器中</a:t>
            </a:r>
            <a:r>
              <a:rPr lang="en-US" altLang="zh-CN" sz="2400" b="1" dirty="0">
                <a:solidFill>
                  <a:schemeClr val="tx2"/>
                </a:solidFill>
                <a:latin typeface="微软雅黑" panose="020B0503020204020204" charset="-122"/>
                <a:ea typeface="微软雅黑" panose="020B0503020204020204" charset="-122"/>
              </a:rPr>
              <a:t>,</a:t>
            </a:r>
            <a:r>
              <a:rPr lang="zh-CN" altLang="en-US" sz="2400" b="1" dirty="0">
                <a:solidFill>
                  <a:schemeClr val="tx2"/>
                </a:solidFill>
                <a:latin typeface="微软雅黑" panose="020B0503020204020204" charset="-122"/>
                <a:ea typeface="微软雅黑" panose="020B0503020204020204" charset="-122"/>
              </a:rPr>
              <a:t>用补码表示</a:t>
            </a:r>
            <a:r>
              <a:rPr lang="en-US" altLang="zh-CN" sz="2400" b="1" dirty="0">
                <a:solidFill>
                  <a:schemeClr val="tx2"/>
                </a:solidFill>
                <a:latin typeface="微软雅黑" panose="020B0503020204020204" charset="-122"/>
                <a:ea typeface="微软雅黑" panose="020B0503020204020204" charset="-122"/>
              </a:rPr>
              <a:t>,</a:t>
            </a:r>
            <a:r>
              <a:rPr lang="zh-CN" altLang="en-US" sz="2400" b="1" dirty="0">
                <a:solidFill>
                  <a:schemeClr val="tx2"/>
                </a:solidFill>
                <a:latin typeface="微软雅黑" panose="020B0503020204020204" charset="-122"/>
                <a:ea typeface="微软雅黑" panose="020B0503020204020204" charset="-122"/>
              </a:rPr>
              <a:t>补码存储</a:t>
            </a:r>
            <a:r>
              <a:rPr lang="en-US" altLang="zh-CN" sz="2400" b="1" dirty="0">
                <a:solidFill>
                  <a:schemeClr val="tx2"/>
                </a:solidFill>
                <a:latin typeface="微软雅黑" panose="020B0503020204020204" charset="-122"/>
                <a:ea typeface="微软雅黑" panose="020B0503020204020204" charset="-122"/>
              </a:rPr>
              <a:t>,</a:t>
            </a:r>
            <a:r>
              <a:rPr lang="zh-CN" altLang="en-US" sz="2400" b="1" dirty="0">
                <a:solidFill>
                  <a:schemeClr val="tx2"/>
                </a:solidFill>
                <a:latin typeface="微软雅黑" panose="020B0503020204020204" charset="-122"/>
                <a:ea typeface="微软雅黑" panose="020B0503020204020204" charset="-122"/>
              </a:rPr>
              <a:t>补码运算。</a:t>
            </a:r>
            <a:endParaRPr lang="zh-CN" altLang="en-US" sz="2400" b="1" dirty="0">
              <a:solidFill>
                <a:schemeClr val="tx2"/>
              </a:solidFill>
              <a:latin typeface="微软雅黑" panose="020B0503020204020204" charset="-122"/>
              <a:ea typeface="微软雅黑" panose="020B0503020204020204" charset="-122"/>
            </a:endParaRPr>
          </a:p>
          <a:p>
            <a:pPr lvl="1">
              <a:spcBef>
                <a:spcPts val="1200"/>
              </a:spcBef>
            </a:pPr>
            <a:r>
              <a:rPr lang="zh-CN" altLang="en-US" sz="2400" b="1" dirty="0">
                <a:solidFill>
                  <a:schemeClr val="tx2"/>
                </a:solidFill>
                <a:latin typeface="微软雅黑" panose="020B0503020204020204" charset="-122"/>
                <a:ea typeface="微软雅黑" panose="020B0503020204020204" charset="-122"/>
              </a:rPr>
              <a:t>有些机器中，用原码进行存储和传送，运算时改用补码。</a:t>
            </a:r>
            <a:endParaRPr lang="zh-CN" altLang="en-US" sz="2400" b="1" dirty="0">
              <a:solidFill>
                <a:schemeClr val="tx2"/>
              </a:solidFill>
              <a:latin typeface="微软雅黑" panose="020B0503020204020204" charset="-122"/>
              <a:ea typeface="微软雅黑" panose="020B0503020204020204" charset="-122"/>
            </a:endParaRPr>
          </a:p>
          <a:p>
            <a:pPr lvl="1">
              <a:spcBef>
                <a:spcPts val="1200"/>
              </a:spcBef>
            </a:pPr>
            <a:r>
              <a:rPr lang="zh-CN" altLang="en-US" sz="2400" b="1" dirty="0">
                <a:solidFill>
                  <a:schemeClr val="tx2"/>
                </a:solidFill>
                <a:latin typeface="微软雅黑" panose="020B0503020204020204" charset="-122"/>
                <a:ea typeface="微软雅黑" panose="020B0503020204020204" charset="-122"/>
              </a:rPr>
              <a:t>还有些机器在做加减法时用补码运算，在做乘除法时用原码运算。</a:t>
            </a:r>
            <a:endParaRPr lang="zh-CN" altLang="en-US" sz="2400" b="1" dirty="0">
              <a:solidFill>
                <a:schemeClr val="tx2"/>
              </a:solidFill>
              <a:latin typeface="微软雅黑" panose="020B0503020204020204" charset="-122"/>
              <a:ea typeface="微软雅黑" panose="020B0503020204020204" charset="-122"/>
            </a:endParaRPr>
          </a:p>
          <a:p>
            <a:pPr>
              <a:spcBef>
                <a:spcPts val="1800"/>
              </a:spcBef>
            </a:pPr>
            <a:endParaRPr lang="en-US" altLang="zh-CN" dirty="0">
              <a:solidFill>
                <a:schemeClr val="tx2"/>
              </a:solidFill>
              <a:latin typeface="微软雅黑" panose="020B0503020204020204" charset="-122"/>
              <a:ea typeface="微软雅黑" panose="020B050302020402020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Rectangle 2"/>
          <p:cNvSpPr>
            <a:spLocks noGrp="1" noRot="1"/>
          </p:cNvSpPr>
          <p:nvPr>
            <p:ph type="title"/>
          </p:nvPr>
        </p:nvSpPr>
        <p:spPr>
          <a:noFill/>
          <a:ln>
            <a:noFill/>
          </a:ln>
        </p:spPr>
        <p:txBody>
          <a:bodyPr anchor="t"/>
          <a:p>
            <a:pPr>
              <a:buNone/>
            </a:pPr>
            <a:r>
              <a:rPr lang="zh-CN" altLang="en-US" dirty="0">
                <a:solidFill>
                  <a:srgbClr val="000099"/>
                </a:solidFill>
                <a:latin typeface="微软雅黑" panose="020B0503020204020204" charset="-122"/>
                <a:ea typeface="微软雅黑" panose="020B0503020204020204" charset="-122"/>
              </a:rPr>
              <a:t>原码、反码、补码表示范围</a:t>
            </a:r>
            <a:endParaRPr lang="zh-CN" altLang="en-US" dirty="0">
              <a:solidFill>
                <a:srgbClr val="000099"/>
              </a:solidFill>
              <a:latin typeface="微软雅黑" panose="020B0503020204020204" charset="-122"/>
              <a:ea typeface="微软雅黑" panose="020B0503020204020204" charset="-122"/>
            </a:endParaRPr>
          </a:p>
        </p:txBody>
      </p:sp>
      <p:pic>
        <p:nvPicPr>
          <p:cNvPr id="46084" name="Picture 4" descr="picture6"/>
          <p:cNvPicPr>
            <a:picLocks noGrp="1" noChangeAspect="1"/>
          </p:cNvPicPr>
          <p:nvPr>
            <p:ph idx="1"/>
          </p:nvPr>
        </p:nvPicPr>
        <p:blipFill>
          <a:blip r:embed="rId1">
            <a:biLevel thresh="50000"/>
            <a:grayscl/>
            <a:lum bright="-12000" contrast="-12000"/>
          </a:blip>
          <a:stretch>
            <a:fillRect/>
          </a:stretch>
        </p:blipFill>
        <p:spPr>
          <a:xfrm>
            <a:off x="250825" y="1700213"/>
            <a:ext cx="8642350" cy="3816350"/>
          </a:xfr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6084"/>
                                        </p:tgtEl>
                                        <p:attrNameLst>
                                          <p:attrName>style.visibility</p:attrName>
                                        </p:attrNameLst>
                                      </p:cBhvr>
                                      <p:to>
                                        <p:strVal val="visible"/>
                                      </p:to>
                                    </p:set>
                                    <p:animEffect transition="in" filter="dissolve">
                                      <p:cBhvr>
                                        <p:cTn id="7" dur="500"/>
                                        <p:tgtEl>
                                          <p:spTgt spid="460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Rectangle 28"/>
          <p:cNvSpPr>
            <a:spLocks noGrp="1" noRot="1"/>
          </p:cNvSpPr>
          <p:nvPr>
            <p:ph type="title"/>
          </p:nvPr>
        </p:nvSpPr>
        <p:spPr>
          <a:noFill/>
          <a:ln>
            <a:noFill/>
          </a:ln>
        </p:spPr>
        <p:txBody>
          <a:bodyPr anchor="t"/>
          <a:p>
            <a:pPr>
              <a:buNone/>
            </a:pPr>
            <a:r>
              <a:rPr lang="zh-CN" altLang="en-US" dirty="0">
                <a:latin typeface="微软雅黑" panose="020B0503020204020204" charset="-122"/>
                <a:ea typeface="微软雅黑" panose="020B0503020204020204" charset="-122"/>
              </a:rPr>
              <a:t>定点整数各种编码表示的范围</a:t>
            </a:r>
            <a:endParaRPr lang="zh-CN" altLang="en-US" dirty="0">
              <a:latin typeface="微软雅黑" panose="020B0503020204020204" charset="-122"/>
              <a:ea typeface="微软雅黑" panose="020B0503020204020204" charset="-122"/>
            </a:endParaRPr>
          </a:p>
        </p:txBody>
      </p:sp>
      <p:graphicFrame>
        <p:nvGraphicFramePr>
          <p:cNvPr id="47136" name="Group 32"/>
          <p:cNvGraphicFramePr>
            <a:graphicFrameLocks noGrp="1"/>
          </p:cNvGraphicFramePr>
          <p:nvPr>
            <p:ph idx="4294967295"/>
          </p:nvPr>
        </p:nvGraphicFramePr>
        <p:xfrm>
          <a:off x="301625" y="1268413"/>
          <a:ext cx="8540750" cy="3570288"/>
        </p:xfrm>
        <a:graphic>
          <a:graphicData uri="http://schemas.openxmlformats.org/drawingml/2006/table">
            <a:tbl>
              <a:tblPr/>
              <a:tblGrid>
                <a:gridCol w="857250"/>
                <a:gridCol w="1698625"/>
                <a:gridCol w="1495425"/>
                <a:gridCol w="1497013"/>
                <a:gridCol w="1495425"/>
                <a:gridCol w="1497012"/>
              </a:tblGrid>
              <a:tr h="473075">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zh-CN" altLang="en-US" sz="1800" b="1" i="0" u="none" strike="noStrike" cap="none" normalizeH="0" baseline="0">
                          <a:ln>
                            <a:noFill/>
                          </a:ln>
                          <a:solidFill>
                            <a:srgbClr val="A50021"/>
                          </a:solidFill>
                          <a:effectLst/>
                          <a:latin typeface="微软雅黑" panose="020B0503020204020204" charset="-122"/>
                          <a:ea typeface="微软雅黑" panose="020B0503020204020204" charset="-122"/>
                        </a:rPr>
                        <a:t>真值</a:t>
                      </a:r>
                      <a:endParaRPr kumimoji="0" lang="zh-CN" altLang="en-US" sz="1800" b="1" i="0" u="none" strike="noStrike" cap="none" normalizeH="0" baseline="0">
                        <a:ln>
                          <a:noFill/>
                        </a:ln>
                        <a:solidFill>
                          <a:srgbClr val="A50021"/>
                        </a:solidFill>
                        <a:effectLst/>
                        <a:latin typeface="微软雅黑" panose="020B0503020204020204" charset="-122"/>
                        <a:ea typeface="微软雅黑" panose="020B0503020204020204"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zh-CN" altLang="en-US" sz="1800" b="1" i="0" u="none" strike="noStrike" cap="none" normalizeH="0" baseline="0" dirty="0">
                          <a:ln>
                            <a:noFill/>
                          </a:ln>
                          <a:solidFill>
                            <a:srgbClr val="A50021"/>
                          </a:solidFill>
                          <a:effectLst/>
                          <a:latin typeface="微软雅黑" panose="020B0503020204020204" charset="-122"/>
                          <a:ea typeface="微软雅黑" panose="020B0503020204020204" charset="-122"/>
                        </a:rPr>
                        <a:t>真值</a:t>
                      </a:r>
                      <a:endParaRPr kumimoji="0" lang="zh-CN" altLang="en-US" sz="1800" b="1" i="0" u="none" strike="noStrike" cap="none" normalizeH="0" baseline="0" dirty="0">
                        <a:ln>
                          <a:noFill/>
                        </a:ln>
                        <a:solidFill>
                          <a:srgbClr val="A50021"/>
                        </a:solidFill>
                        <a:effectLst/>
                        <a:latin typeface="微软雅黑" panose="020B0503020204020204" charset="-122"/>
                        <a:ea typeface="微软雅黑" panose="020B050302020402020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zh-CN" altLang="en-US" sz="1800" b="1" i="0" u="none" strike="noStrike" cap="none" normalizeH="0" baseline="0">
                          <a:ln>
                            <a:noFill/>
                          </a:ln>
                          <a:solidFill>
                            <a:srgbClr val="A50021"/>
                          </a:solidFill>
                          <a:effectLst/>
                          <a:latin typeface="微软雅黑" panose="020B0503020204020204" charset="-122"/>
                          <a:ea typeface="微软雅黑" panose="020B0503020204020204" charset="-122"/>
                        </a:rPr>
                        <a:t>原码</a:t>
                      </a:r>
                      <a:endParaRPr kumimoji="0" lang="zh-CN" altLang="en-US" sz="1800" b="1" i="0" u="none" strike="noStrike" cap="none" normalizeH="0" baseline="0">
                        <a:ln>
                          <a:noFill/>
                        </a:ln>
                        <a:solidFill>
                          <a:srgbClr val="A50021"/>
                        </a:solidFill>
                        <a:effectLst/>
                        <a:latin typeface="微软雅黑" panose="020B0503020204020204" charset="-122"/>
                        <a:ea typeface="微软雅黑" panose="020B050302020402020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zh-CN" altLang="en-US" sz="1800" b="1" i="0" u="none" strike="noStrike" cap="none" normalizeH="0" baseline="0">
                          <a:ln>
                            <a:noFill/>
                          </a:ln>
                          <a:solidFill>
                            <a:srgbClr val="A50021"/>
                          </a:solidFill>
                          <a:effectLst/>
                          <a:latin typeface="微软雅黑" panose="020B0503020204020204" charset="-122"/>
                          <a:ea typeface="微软雅黑" panose="020B0503020204020204" charset="-122"/>
                        </a:rPr>
                        <a:t>反码</a:t>
                      </a:r>
                      <a:endParaRPr kumimoji="0" lang="zh-CN" altLang="en-US" sz="1800" b="1" i="0" u="none" strike="noStrike" cap="none" normalizeH="0" baseline="0">
                        <a:ln>
                          <a:noFill/>
                        </a:ln>
                        <a:solidFill>
                          <a:srgbClr val="A50021"/>
                        </a:solidFill>
                        <a:effectLst/>
                        <a:latin typeface="微软雅黑" panose="020B0503020204020204" charset="-122"/>
                        <a:ea typeface="微软雅黑" panose="020B050302020402020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zh-CN" altLang="en-US" sz="1800" b="1" i="0" u="none" strike="noStrike" cap="none" normalizeH="0" baseline="0">
                          <a:ln>
                            <a:noFill/>
                          </a:ln>
                          <a:solidFill>
                            <a:srgbClr val="A50021"/>
                          </a:solidFill>
                          <a:effectLst/>
                          <a:latin typeface="微软雅黑" panose="020B0503020204020204" charset="-122"/>
                          <a:ea typeface="微软雅黑" panose="020B0503020204020204" charset="-122"/>
                        </a:rPr>
                        <a:t>补码</a:t>
                      </a:r>
                      <a:endParaRPr kumimoji="0" lang="zh-CN" altLang="en-US" sz="1800" b="1" i="0" u="none" strike="noStrike" cap="none" normalizeH="0" baseline="0">
                        <a:ln>
                          <a:noFill/>
                        </a:ln>
                        <a:solidFill>
                          <a:srgbClr val="A50021"/>
                        </a:solidFill>
                        <a:effectLst/>
                        <a:latin typeface="微软雅黑" panose="020B0503020204020204" charset="-122"/>
                        <a:ea typeface="微软雅黑" panose="020B050302020402020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zh-CN" altLang="en-US" sz="1800" b="1" i="0" u="none" strike="noStrike" cap="none" normalizeH="0" baseline="0">
                          <a:ln>
                            <a:noFill/>
                          </a:ln>
                          <a:solidFill>
                            <a:srgbClr val="A50021"/>
                          </a:solidFill>
                          <a:effectLst/>
                          <a:latin typeface="微软雅黑" panose="020B0503020204020204" charset="-122"/>
                          <a:ea typeface="微软雅黑" panose="020B0503020204020204" charset="-122"/>
                        </a:rPr>
                        <a:t>移码</a:t>
                      </a:r>
                      <a:endParaRPr kumimoji="0" lang="zh-CN" altLang="en-US" sz="1800" b="1" i="0" u="none" strike="noStrike" cap="none" normalizeH="0" baseline="0">
                        <a:ln>
                          <a:noFill/>
                        </a:ln>
                        <a:solidFill>
                          <a:srgbClr val="A50021"/>
                        </a:solidFill>
                        <a:effectLst/>
                        <a:latin typeface="微软雅黑" panose="020B0503020204020204" charset="-122"/>
                        <a:ea typeface="微软雅黑" panose="020B0503020204020204"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97212">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+127</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+1</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+0</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0</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-1</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-127</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-128</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+0111,1111</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+0000,0001</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0000,0000</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0000,0000</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-0000,0001</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-0111,1111</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-1000,0000</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0111,1111</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0000,0001</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0000,0000</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1000,0000</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1000,0001</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1111,1111</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zh-CN" altLang="en-US" sz="1800" b="1" i="0" u="none" strike="noStrike" cap="none" normalizeH="0" baseline="0">
                          <a:ln>
                            <a:noFill/>
                          </a:ln>
                          <a:solidFill>
                            <a:schemeClr val="tx1"/>
                          </a:solidFill>
                          <a:effectLst/>
                          <a:latin typeface="微软雅黑" panose="020B0503020204020204" charset="-122"/>
                          <a:ea typeface="微软雅黑" panose="020B0503020204020204" charset="-122"/>
                        </a:rPr>
                        <a:t>不能表示</a:t>
                      </a:r>
                      <a:endParaRPr kumimoji="0" lang="zh-CN" altLang="en-US" sz="18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0111,1111</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0000,0001</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0000,0000</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1111,1111</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1111,1110</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1000,0000</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zh-CN" altLang="en-US" sz="1800" b="1" i="0" u="none" strike="noStrike" cap="none" normalizeH="0" baseline="0">
                          <a:ln>
                            <a:noFill/>
                          </a:ln>
                          <a:solidFill>
                            <a:schemeClr val="tx1"/>
                          </a:solidFill>
                          <a:effectLst/>
                          <a:latin typeface="微软雅黑" panose="020B0503020204020204" charset="-122"/>
                          <a:ea typeface="微软雅黑" panose="020B0503020204020204" charset="-122"/>
                        </a:rPr>
                        <a:t>不能表示</a:t>
                      </a:r>
                      <a:endParaRPr kumimoji="0" lang="zh-CN" altLang="en-US" sz="18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0111,1111</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0000,0001</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0000,0000</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0000,0000</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1111,1111</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1000,0001</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rPr>
                        <a:t>1000,0000</a:t>
                      </a:r>
                      <a:endParaRPr kumimoji="0" lang="en-US" altLang="zh-CN" sz="1800" b="1" i="0" u="none" strike="noStrike" cap="none" normalizeH="0" baseline="0">
                        <a:ln>
                          <a:noFill/>
                        </a:ln>
                        <a:solidFill>
                          <a:schemeClr val="tx1"/>
                        </a:solidFill>
                        <a:effectLst/>
                        <a:latin typeface="微软雅黑" panose="020B0503020204020204" charset="-122"/>
                        <a:ea typeface="微软雅黑" panose="020B050302020402020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indent="-170180">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indent="-3429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indent="-516255">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indent="-68897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68897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微软雅黑" panose="020B0503020204020204" charset="-122"/>
                          <a:ea typeface="微软雅黑" panose="020B0503020204020204" charset="-122"/>
                        </a:rPr>
                        <a:t>1111,1111</a:t>
                      </a:r>
                      <a:endParaRPr kumimoji="0" lang="en-US" altLang="zh-CN" sz="1800" b="1" i="0" u="none" strike="noStrike" cap="none" normalizeH="0" baseline="0" dirty="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微软雅黑" panose="020B0503020204020204" charset="-122"/>
                          <a:ea typeface="微软雅黑" panose="020B0503020204020204" charset="-122"/>
                        </a:rPr>
                        <a:t>1000,0001</a:t>
                      </a:r>
                      <a:endParaRPr kumimoji="0" lang="en-US" altLang="zh-CN" sz="1800" b="1" i="0" u="none" strike="noStrike" cap="none" normalizeH="0" baseline="0" dirty="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微软雅黑" panose="020B0503020204020204" charset="-122"/>
                          <a:ea typeface="微软雅黑" panose="020B0503020204020204" charset="-122"/>
                        </a:rPr>
                        <a:t>1000,0000</a:t>
                      </a:r>
                      <a:endParaRPr kumimoji="0" lang="en-US" altLang="zh-CN" sz="1800" b="1" i="0" u="none" strike="noStrike" cap="none" normalizeH="0" baseline="0" dirty="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微软雅黑" panose="020B0503020204020204" charset="-122"/>
                          <a:ea typeface="微软雅黑" panose="020B0503020204020204" charset="-122"/>
                        </a:rPr>
                        <a:t>1000,0000</a:t>
                      </a:r>
                      <a:endParaRPr kumimoji="0" lang="en-US" altLang="zh-CN" sz="1800" b="1" i="0" u="none" strike="noStrike" cap="none" normalizeH="0" baseline="0" dirty="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微软雅黑" panose="020B0503020204020204" charset="-122"/>
                          <a:ea typeface="微软雅黑" panose="020B0503020204020204" charset="-122"/>
                        </a:rPr>
                        <a:t>0111,1111</a:t>
                      </a:r>
                      <a:endParaRPr kumimoji="0" lang="en-US" altLang="zh-CN" sz="1800" b="1" i="0" u="none" strike="noStrike" cap="none" normalizeH="0" baseline="0" dirty="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微软雅黑" panose="020B0503020204020204" charset="-122"/>
                          <a:ea typeface="微软雅黑" panose="020B0503020204020204" charset="-122"/>
                        </a:rPr>
                        <a:t>0000,0001</a:t>
                      </a:r>
                      <a:endParaRPr kumimoji="0" lang="en-US" altLang="zh-CN" sz="1800" b="1" i="0" u="none" strike="noStrike" cap="none" normalizeH="0" baseline="0" dirty="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微软雅黑" panose="020B0503020204020204" charset="-122"/>
                          <a:ea typeface="微软雅黑" panose="020B0503020204020204" charset="-122"/>
                        </a:rPr>
                        <a:t>0000,0000</a:t>
                      </a:r>
                      <a:endParaRPr kumimoji="0" lang="en-US" altLang="zh-CN" sz="1800" b="1"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Rectangle 2"/>
          <p:cNvSpPr>
            <a:spLocks noGrp="1" noRot="1"/>
          </p:cNvSpPr>
          <p:nvPr>
            <p:ph type="title"/>
          </p:nvPr>
        </p:nvSpPr>
        <p:spPr>
          <a:xfrm>
            <a:off x="457200" y="274638"/>
            <a:ext cx="8229600" cy="850900"/>
          </a:xfrm>
          <a:noFill/>
          <a:ln>
            <a:noFill/>
          </a:ln>
        </p:spPr>
        <p:txBody>
          <a:bodyPr anchor="t"/>
          <a:p>
            <a:pPr>
              <a:buNone/>
            </a:pPr>
            <a:r>
              <a:rPr lang="zh-CN" altLang="en-US" sz="3600" dirty="0">
                <a:solidFill>
                  <a:srgbClr val="0000FF"/>
                </a:solidFill>
                <a:latin typeface="微软雅黑" panose="020B0503020204020204" charset="-122"/>
                <a:ea typeface="微软雅黑" panose="020B0503020204020204" charset="-122"/>
              </a:rPr>
              <a:t>2.2  机器数的定点表示与浮点表示</a:t>
            </a:r>
            <a:endParaRPr lang="zh-CN" altLang="en-US" dirty="0">
              <a:ea typeface="微软雅黑" panose="020B0503020204020204" charset="-122"/>
            </a:endParaRPr>
          </a:p>
        </p:txBody>
      </p:sp>
      <p:sp>
        <p:nvSpPr>
          <p:cNvPr id="65538" name="Rectangle 3"/>
          <p:cNvSpPr>
            <a:spLocks noGrp="1" noRot="1"/>
          </p:cNvSpPr>
          <p:nvPr>
            <p:ph idx="1"/>
          </p:nvPr>
        </p:nvSpPr>
        <p:spPr>
          <a:xfrm>
            <a:off x="301625" y="1579563"/>
            <a:ext cx="8540750" cy="4802187"/>
          </a:xfrm>
          <a:noFill/>
          <a:ln>
            <a:noFill/>
          </a:ln>
        </p:spPr>
        <p:txBody>
          <a:bodyPr anchor="t"/>
          <a:p>
            <a:pPr>
              <a:lnSpc>
                <a:spcPct val="130000"/>
              </a:lnSpc>
            </a:pPr>
            <a:r>
              <a:rPr lang="zh-CN" altLang="en-US" dirty="0">
                <a:solidFill>
                  <a:schemeClr val="tx2"/>
                </a:solidFill>
                <a:latin typeface="微软雅黑" panose="020B0503020204020204" charset="-122"/>
                <a:ea typeface="微软雅黑" panose="020B0503020204020204" charset="-122"/>
              </a:rPr>
              <a:t>在选择计算机的数的表示方式时，应当全面考虑以下几个因素：</a:t>
            </a:r>
            <a:endParaRPr lang="zh-CN" altLang="en-US" dirty="0">
              <a:solidFill>
                <a:schemeClr val="tx2"/>
              </a:solidFill>
              <a:latin typeface="微软雅黑" panose="020B0503020204020204" charset="-122"/>
              <a:ea typeface="微软雅黑" panose="020B0503020204020204" charset="-122"/>
            </a:endParaRPr>
          </a:p>
          <a:p>
            <a:pPr lvl="1">
              <a:spcBef>
                <a:spcPts val="1800"/>
              </a:spcBef>
            </a:pPr>
            <a:r>
              <a:rPr lang="zh-CN" altLang="en-US" sz="2400" b="1" dirty="0">
                <a:latin typeface="微软雅黑" panose="020B0503020204020204" charset="-122"/>
                <a:ea typeface="微软雅黑" panose="020B0503020204020204" charset="-122"/>
              </a:rPr>
              <a:t>要表示的数的</a:t>
            </a:r>
            <a:r>
              <a:rPr lang="zh-CN" altLang="en-US" sz="2400" b="1" dirty="0">
                <a:solidFill>
                  <a:srgbClr val="FF0000"/>
                </a:solidFill>
                <a:latin typeface="微软雅黑" panose="020B0503020204020204" charset="-122"/>
                <a:ea typeface="微软雅黑" panose="020B0503020204020204" charset="-122"/>
              </a:rPr>
              <a:t>类型</a:t>
            </a:r>
            <a:r>
              <a:rPr lang="en-US" altLang="zh-CN" sz="2400" b="1" dirty="0">
                <a:latin typeface="微软雅黑" panose="020B0503020204020204" charset="-122"/>
                <a:ea typeface="微软雅黑" panose="020B0503020204020204" charset="-122"/>
              </a:rPr>
              <a:t>(</a:t>
            </a:r>
            <a:r>
              <a:rPr lang="zh-CN" altLang="en-US" sz="2400" b="1" dirty="0">
                <a:latin typeface="微软雅黑" panose="020B0503020204020204" charset="-122"/>
                <a:ea typeface="微软雅黑" panose="020B0503020204020204" charset="-122"/>
              </a:rPr>
              <a:t>小数、整数、实数和复数</a:t>
            </a:r>
            <a:r>
              <a:rPr lang="en-US" altLang="zh-CN" sz="2400" b="1" dirty="0">
                <a:latin typeface="微软雅黑" panose="020B0503020204020204" charset="-122"/>
                <a:ea typeface="微软雅黑" panose="020B0503020204020204" charset="-122"/>
              </a:rPr>
              <a:t>);</a:t>
            </a:r>
            <a:endParaRPr lang="en-US" altLang="zh-CN" sz="2400" b="1" dirty="0">
              <a:latin typeface="微软雅黑" panose="020B0503020204020204" charset="-122"/>
              <a:ea typeface="微软雅黑" panose="020B0503020204020204" charset="-122"/>
            </a:endParaRPr>
          </a:p>
          <a:p>
            <a:pPr lvl="1">
              <a:spcBef>
                <a:spcPts val="1800"/>
              </a:spcBef>
            </a:pPr>
            <a:r>
              <a:rPr lang="zh-CN" altLang="en-US" sz="2400" b="1" dirty="0">
                <a:latin typeface="微软雅黑" panose="020B0503020204020204" charset="-122"/>
                <a:ea typeface="微软雅黑" panose="020B0503020204020204" charset="-122"/>
              </a:rPr>
              <a:t>可能遇到的</a:t>
            </a:r>
            <a:r>
              <a:rPr lang="zh-CN" altLang="en-US" sz="2400" b="1" dirty="0">
                <a:solidFill>
                  <a:srgbClr val="FF0000"/>
                </a:solidFill>
                <a:latin typeface="微软雅黑" panose="020B0503020204020204" charset="-122"/>
                <a:ea typeface="微软雅黑" panose="020B0503020204020204" charset="-122"/>
              </a:rPr>
              <a:t>数值范围</a:t>
            </a:r>
            <a:r>
              <a:rPr lang="zh-CN" altLang="en-US" sz="2400" b="1" dirty="0">
                <a:latin typeface="微软雅黑" panose="020B0503020204020204" charset="-122"/>
                <a:ea typeface="微软雅黑" panose="020B0503020204020204" charset="-122"/>
              </a:rPr>
              <a:t>：确定存储、处理能力</a:t>
            </a:r>
            <a:r>
              <a:rPr lang="en-US" altLang="zh-CN" sz="2400" b="1" dirty="0">
                <a:latin typeface="微软雅黑" panose="020B0503020204020204" charset="-122"/>
                <a:ea typeface="微软雅黑" panose="020B0503020204020204" charset="-122"/>
              </a:rPr>
              <a:t>;</a:t>
            </a:r>
            <a:endParaRPr lang="en-US" altLang="zh-CN" sz="2400" b="1" dirty="0">
              <a:latin typeface="微软雅黑" panose="020B0503020204020204" charset="-122"/>
              <a:ea typeface="微软雅黑" panose="020B0503020204020204" charset="-122"/>
            </a:endParaRPr>
          </a:p>
          <a:p>
            <a:pPr lvl="1">
              <a:spcBef>
                <a:spcPts val="1800"/>
              </a:spcBef>
            </a:pPr>
            <a:r>
              <a:rPr lang="zh-CN" altLang="en-US" sz="2400" b="1" dirty="0">
                <a:latin typeface="微软雅黑" panose="020B0503020204020204" charset="-122"/>
                <a:ea typeface="微软雅黑" panose="020B0503020204020204" charset="-122"/>
              </a:rPr>
              <a:t>数值</a:t>
            </a:r>
            <a:r>
              <a:rPr lang="zh-CN" altLang="en-US" sz="2400" b="1" dirty="0">
                <a:solidFill>
                  <a:srgbClr val="FF0000"/>
                </a:solidFill>
                <a:latin typeface="微软雅黑" panose="020B0503020204020204" charset="-122"/>
                <a:ea typeface="微软雅黑" panose="020B0503020204020204" charset="-122"/>
              </a:rPr>
              <a:t>精确度</a:t>
            </a:r>
            <a:r>
              <a:rPr lang="zh-CN" altLang="en-US" sz="2400" b="1" dirty="0">
                <a:latin typeface="微软雅黑" panose="020B0503020204020204" charset="-122"/>
                <a:ea typeface="微软雅黑" panose="020B0503020204020204" charset="-122"/>
              </a:rPr>
              <a:t>：处理能力相关</a:t>
            </a:r>
            <a:r>
              <a:rPr lang="en-US" altLang="zh-CN" sz="2400" b="1" dirty="0">
                <a:latin typeface="微软雅黑" panose="020B0503020204020204" charset="-122"/>
                <a:ea typeface="微软雅黑" panose="020B0503020204020204" charset="-122"/>
              </a:rPr>
              <a:t>;</a:t>
            </a:r>
            <a:endParaRPr lang="en-US" altLang="zh-CN" sz="2400" b="1" dirty="0">
              <a:latin typeface="微软雅黑" panose="020B0503020204020204" charset="-122"/>
              <a:ea typeface="微软雅黑" panose="020B0503020204020204" charset="-122"/>
            </a:endParaRPr>
          </a:p>
          <a:p>
            <a:pPr lvl="1">
              <a:spcBef>
                <a:spcPts val="1800"/>
              </a:spcBef>
            </a:pPr>
            <a:r>
              <a:rPr lang="zh-CN" altLang="en-US" sz="2400" b="1" dirty="0">
                <a:latin typeface="微软雅黑" panose="020B0503020204020204" charset="-122"/>
                <a:ea typeface="微软雅黑" panose="020B0503020204020204" charset="-122"/>
              </a:rPr>
              <a:t>数据存储和处理所需要的</a:t>
            </a:r>
            <a:r>
              <a:rPr lang="zh-CN" altLang="en-US" sz="2400" b="1" dirty="0">
                <a:solidFill>
                  <a:srgbClr val="FF0000"/>
                </a:solidFill>
                <a:latin typeface="微软雅黑" panose="020B0503020204020204" charset="-122"/>
                <a:ea typeface="微软雅黑" panose="020B0503020204020204" charset="-122"/>
              </a:rPr>
              <a:t>硬件代价</a:t>
            </a:r>
            <a:r>
              <a:rPr lang="zh-CN" altLang="en-US" sz="2400" b="1" dirty="0">
                <a:latin typeface="微软雅黑" panose="020B0503020204020204" charset="-122"/>
                <a:ea typeface="微软雅黑" panose="020B0503020204020204" charset="-122"/>
              </a:rPr>
              <a:t>：造价高低</a:t>
            </a:r>
            <a:endParaRPr lang="zh-CN" altLang="en-US" b="1" dirty="0">
              <a:latin typeface="微软雅黑" panose="020B0503020204020204" charset="-122"/>
              <a:ea typeface="微软雅黑" panose="020B050302020402020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Rectangle 2"/>
          <p:cNvSpPr>
            <a:spLocks noGrp="1" noRot="1"/>
          </p:cNvSpPr>
          <p:nvPr>
            <p:ph type="title"/>
          </p:nvPr>
        </p:nvSpPr>
        <p:spPr>
          <a:noFill/>
          <a:ln>
            <a:noFill/>
          </a:ln>
        </p:spPr>
        <p:txBody>
          <a:bodyPr anchor="t"/>
          <a:p>
            <a:pPr>
              <a:buNone/>
            </a:pPr>
            <a:r>
              <a:rPr lang="zh-CN" altLang="en-US" dirty="0">
                <a:solidFill>
                  <a:srgbClr val="0000FF"/>
                </a:solidFill>
                <a:latin typeface="微软雅黑" panose="020B0503020204020204" charset="-122"/>
                <a:ea typeface="微软雅黑" panose="020B0503020204020204" charset="-122"/>
              </a:rPr>
              <a:t>常用的数据表示格式</a:t>
            </a:r>
            <a:endParaRPr lang="zh-CN" altLang="en-US" dirty="0">
              <a:solidFill>
                <a:srgbClr val="0000FF"/>
              </a:solidFill>
              <a:latin typeface="微软雅黑" panose="020B0503020204020204" charset="-122"/>
              <a:ea typeface="微软雅黑" panose="020B0503020204020204" charset="-122"/>
            </a:endParaRPr>
          </a:p>
        </p:txBody>
      </p:sp>
      <p:sp>
        <p:nvSpPr>
          <p:cNvPr id="67586" name="Rectangle 3"/>
          <p:cNvSpPr>
            <a:spLocks noGrp="1" noRot="1"/>
          </p:cNvSpPr>
          <p:nvPr>
            <p:ph idx="1"/>
          </p:nvPr>
        </p:nvSpPr>
        <p:spPr>
          <a:xfrm>
            <a:off x="301625" y="1484313"/>
            <a:ext cx="8540750" cy="4608512"/>
          </a:xfrm>
          <a:noFill/>
          <a:ln>
            <a:noFill/>
          </a:ln>
        </p:spPr>
        <p:txBody>
          <a:bodyPr anchor="t"/>
          <a:p>
            <a:pPr>
              <a:lnSpc>
                <a:spcPct val="120000"/>
              </a:lnSpc>
            </a:pPr>
            <a:r>
              <a:rPr lang="zh-CN" altLang="en-US" dirty="0">
                <a:solidFill>
                  <a:srgbClr val="FF0000"/>
                </a:solidFill>
                <a:latin typeface="微软雅黑" panose="020B0503020204020204" charset="-122"/>
                <a:ea typeface="微软雅黑" panose="020B0503020204020204" charset="-122"/>
              </a:rPr>
              <a:t>定点格式</a:t>
            </a:r>
            <a:endParaRPr lang="zh-CN" altLang="en-US" dirty="0">
              <a:latin typeface="微软雅黑" panose="020B0503020204020204" charset="-122"/>
              <a:ea typeface="微软雅黑" panose="020B0503020204020204" charset="-122"/>
            </a:endParaRPr>
          </a:p>
          <a:p>
            <a:pPr lvl="1">
              <a:lnSpc>
                <a:spcPct val="120000"/>
              </a:lnSpc>
            </a:pPr>
            <a:r>
              <a:rPr lang="zh-CN" altLang="en-US" sz="2400" b="1" dirty="0">
                <a:solidFill>
                  <a:srgbClr val="000066"/>
                </a:solidFill>
                <a:latin typeface="微软雅黑" panose="020B0503020204020204" charset="-122"/>
                <a:ea typeface="微软雅黑" panose="020B0503020204020204" charset="-122"/>
              </a:rPr>
              <a:t>数值范围有限</a:t>
            </a:r>
            <a:r>
              <a:rPr lang="en-US" altLang="zh-CN" sz="2400" b="1" dirty="0">
                <a:solidFill>
                  <a:srgbClr val="000066"/>
                </a:solidFill>
                <a:latin typeface="微软雅黑" panose="020B0503020204020204" charset="-122"/>
                <a:ea typeface="微软雅黑" panose="020B0503020204020204" charset="-122"/>
              </a:rPr>
              <a:t>, </a:t>
            </a:r>
            <a:r>
              <a:rPr lang="zh-CN" altLang="en-US" sz="2400" b="1" dirty="0">
                <a:solidFill>
                  <a:srgbClr val="000066"/>
                </a:solidFill>
                <a:latin typeface="微软雅黑" panose="020B0503020204020204" charset="-122"/>
                <a:ea typeface="微软雅黑" panose="020B0503020204020204" charset="-122"/>
              </a:rPr>
              <a:t>硬件简单</a:t>
            </a:r>
            <a:r>
              <a:rPr lang="en-US" altLang="zh-CN" sz="2400" b="1" dirty="0">
                <a:solidFill>
                  <a:srgbClr val="000066"/>
                </a:solidFill>
                <a:latin typeface="微软雅黑" panose="020B0503020204020204" charset="-122"/>
                <a:ea typeface="微软雅黑" panose="020B0503020204020204" charset="-122"/>
              </a:rPr>
              <a:t>;</a:t>
            </a:r>
            <a:endParaRPr lang="en-US" altLang="zh-CN" sz="2400" b="1" dirty="0">
              <a:solidFill>
                <a:srgbClr val="000066"/>
              </a:solidFill>
              <a:latin typeface="微软雅黑" panose="020B0503020204020204" charset="-122"/>
              <a:ea typeface="微软雅黑" panose="020B0503020204020204" charset="-122"/>
            </a:endParaRPr>
          </a:p>
          <a:p>
            <a:pPr lvl="1">
              <a:lnSpc>
                <a:spcPct val="120000"/>
              </a:lnSpc>
            </a:pPr>
            <a:r>
              <a:rPr lang="zh-CN" altLang="en-US" sz="2400" b="1" dirty="0">
                <a:solidFill>
                  <a:srgbClr val="000066"/>
                </a:solidFill>
                <a:latin typeface="微软雅黑" panose="020B0503020204020204" charset="-122"/>
                <a:ea typeface="微软雅黑" panose="020B0503020204020204" charset="-122"/>
              </a:rPr>
              <a:t>小数点位置固定，分为定点纯整数和纯小数 </a:t>
            </a:r>
            <a:endParaRPr lang="zh-CN" altLang="en-US" sz="2400" b="1" dirty="0">
              <a:solidFill>
                <a:srgbClr val="000066"/>
              </a:solidFill>
              <a:latin typeface="微软雅黑" panose="020B0503020204020204" charset="-122"/>
              <a:ea typeface="微软雅黑" panose="020B0503020204020204" charset="-122"/>
            </a:endParaRPr>
          </a:p>
          <a:p>
            <a:pPr>
              <a:lnSpc>
                <a:spcPct val="120000"/>
              </a:lnSpc>
              <a:spcBef>
                <a:spcPts val="1800"/>
              </a:spcBef>
            </a:pPr>
            <a:r>
              <a:rPr lang="zh-CN" altLang="en-US" dirty="0">
                <a:solidFill>
                  <a:srgbClr val="FF0000"/>
                </a:solidFill>
                <a:latin typeface="微软雅黑" panose="020B0503020204020204" charset="-122"/>
                <a:ea typeface="微软雅黑" panose="020B0503020204020204" charset="-122"/>
              </a:rPr>
              <a:t>浮点格式</a:t>
            </a:r>
            <a:endParaRPr lang="zh-CN" altLang="en-US" dirty="0">
              <a:solidFill>
                <a:srgbClr val="000000"/>
              </a:solidFill>
              <a:latin typeface="微软雅黑" panose="020B0503020204020204" charset="-122"/>
              <a:ea typeface="微软雅黑" panose="020B0503020204020204" charset="-122"/>
            </a:endParaRPr>
          </a:p>
          <a:p>
            <a:pPr lvl="1">
              <a:lnSpc>
                <a:spcPct val="120000"/>
              </a:lnSpc>
            </a:pPr>
            <a:r>
              <a:rPr lang="zh-CN" altLang="en-US" sz="2400" b="1" dirty="0">
                <a:solidFill>
                  <a:srgbClr val="000066"/>
                </a:solidFill>
                <a:latin typeface="微软雅黑" panose="020B0503020204020204" charset="-122"/>
                <a:ea typeface="微软雅黑" panose="020B0503020204020204" charset="-122"/>
              </a:rPr>
              <a:t>数值范围很大</a:t>
            </a:r>
            <a:r>
              <a:rPr lang="en-US" altLang="zh-CN" sz="2400" b="1" dirty="0">
                <a:solidFill>
                  <a:srgbClr val="000066"/>
                </a:solidFill>
                <a:latin typeface="微软雅黑" panose="020B0503020204020204" charset="-122"/>
                <a:ea typeface="微软雅黑" panose="020B0503020204020204" charset="-122"/>
              </a:rPr>
              <a:t>, </a:t>
            </a:r>
            <a:r>
              <a:rPr lang="zh-CN" altLang="en-US" sz="2400" b="1" dirty="0">
                <a:solidFill>
                  <a:srgbClr val="000066"/>
                </a:solidFill>
                <a:latin typeface="微软雅黑" panose="020B0503020204020204" charset="-122"/>
                <a:ea typeface="微软雅黑" panose="020B0503020204020204" charset="-122"/>
              </a:rPr>
              <a:t>硬件复杂</a:t>
            </a:r>
            <a:r>
              <a:rPr lang="en-US" altLang="zh-CN" sz="2400" b="1" dirty="0">
                <a:solidFill>
                  <a:srgbClr val="000066"/>
                </a:solidFill>
                <a:latin typeface="微软雅黑" panose="020B0503020204020204" charset="-122"/>
                <a:ea typeface="微软雅黑" panose="020B0503020204020204" charset="-122"/>
              </a:rPr>
              <a:t>;</a:t>
            </a:r>
            <a:endParaRPr lang="en-US" altLang="zh-CN" sz="2400" b="1" dirty="0">
              <a:solidFill>
                <a:srgbClr val="000066"/>
              </a:solidFill>
              <a:latin typeface="微软雅黑" panose="020B0503020204020204" charset="-122"/>
              <a:ea typeface="微软雅黑" panose="020B0503020204020204" charset="-122"/>
            </a:endParaRPr>
          </a:p>
          <a:p>
            <a:pPr lvl="1">
              <a:lnSpc>
                <a:spcPct val="120000"/>
              </a:lnSpc>
            </a:pPr>
            <a:r>
              <a:rPr lang="zh-CN" altLang="en-US" sz="2400" b="1" dirty="0">
                <a:solidFill>
                  <a:srgbClr val="000066"/>
                </a:solidFill>
                <a:latin typeface="微软雅黑" panose="020B0503020204020204" charset="-122"/>
                <a:ea typeface="微软雅黑" panose="020B0503020204020204" charset="-122"/>
              </a:rPr>
              <a:t>小数点位置浮动</a:t>
            </a:r>
            <a:r>
              <a:rPr lang="en-US" altLang="zh-CN" sz="2400" b="1" dirty="0">
                <a:solidFill>
                  <a:srgbClr val="000066"/>
                </a:solidFill>
                <a:latin typeface="微软雅黑" panose="020B0503020204020204" charset="-122"/>
                <a:ea typeface="微软雅黑" panose="020B0503020204020204" charset="-122"/>
              </a:rPr>
              <a:t>,</a:t>
            </a:r>
            <a:r>
              <a:rPr lang="zh-CN" altLang="en-US" sz="2400" b="1" dirty="0">
                <a:solidFill>
                  <a:srgbClr val="000066"/>
                </a:solidFill>
                <a:latin typeface="微软雅黑" panose="020B0503020204020204" charset="-122"/>
                <a:ea typeface="微软雅黑" panose="020B0503020204020204" charset="-122"/>
              </a:rPr>
              <a:t>其思想来源于科学计数法。 </a:t>
            </a:r>
            <a:endParaRPr lang="zh-CN" altLang="en-US" sz="2400" b="1" dirty="0">
              <a:solidFill>
                <a:srgbClr val="000066"/>
              </a:solidFill>
              <a:latin typeface="微软雅黑" panose="020B0503020204020204" charset="-122"/>
              <a:ea typeface="微软雅黑" panose="020B050302020402020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Rectangle 2"/>
          <p:cNvSpPr>
            <a:spLocks noGrp="1" noRot="1"/>
          </p:cNvSpPr>
          <p:nvPr>
            <p:ph type="title"/>
          </p:nvPr>
        </p:nvSpPr>
        <p:spPr>
          <a:noFill/>
          <a:ln>
            <a:noFill/>
          </a:ln>
        </p:spPr>
        <p:txBody>
          <a:bodyPr anchor="t"/>
          <a:p>
            <a:pPr>
              <a:buNone/>
            </a:pPr>
            <a:r>
              <a:rPr lang="zh-CN" altLang="en-US" dirty="0">
                <a:solidFill>
                  <a:srgbClr val="0000FF"/>
                </a:solidFill>
                <a:latin typeface="微软雅黑" panose="020B0503020204020204" charset="-122"/>
                <a:ea typeface="微软雅黑" panose="020B0503020204020204" charset="-122"/>
              </a:rPr>
              <a:t>定点数的表示方法 </a:t>
            </a:r>
            <a:endParaRPr lang="zh-CN" altLang="en-US" dirty="0">
              <a:solidFill>
                <a:srgbClr val="0000FF"/>
              </a:solidFill>
              <a:latin typeface="微软雅黑" panose="020B0503020204020204" charset="-122"/>
              <a:ea typeface="微软雅黑" panose="020B0503020204020204" charset="-122"/>
            </a:endParaRPr>
          </a:p>
        </p:txBody>
      </p:sp>
      <p:sp>
        <p:nvSpPr>
          <p:cNvPr id="69634" name="Rectangle 3"/>
          <p:cNvSpPr>
            <a:spLocks noGrp="1" noRot="1"/>
          </p:cNvSpPr>
          <p:nvPr>
            <p:ph idx="1"/>
          </p:nvPr>
        </p:nvSpPr>
        <p:spPr>
          <a:xfrm>
            <a:off x="301625" y="1500188"/>
            <a:ext cx="8540750" cy="4881562"/>
          </a:xfrm>
          <a:noFill/>
          <a:ln>
            <a:noFill/>
          </a:ln>
        </p:spPr>
        <p:txBody>
          <a:bodyPr anchor="t"/>
          <a:p>
            <a:r>
              <a:rPr lang="zh-CN" altLang="en-US" dirty="0">
                <a:solidFill>
                  <a:srgbClr val="FF0000"/>
                </a:solidFill>
                <a:latin typeface="微软雅黑" panose="020B0503020204020204" charset="-122"/>
                <a:ea typeface="微软雅黑" panose="020B0503020204020204" charset="-122"/>
              </a:rPr>
              <a:t>表示形式：</a:t>
            </a:r>
            <a:endParaRPr lang="zh-CN" altLang="en-US" dirty="0">
              <a:solidFill>
                <a:srgbClr val="FF0000"/>
              </a:solidFill>
              <a:latin typeface="微软雅黑" panose="020B0503020204020204" charset="-122"/>
              <a:ea typeface="微软雅黑" panose="020B0503020204020204" charset="-122"/>
            </a:endParaRPr>
          </a:p>
          <a:p>
            <a:pPr lvl="1">
              <a:lnSpc>
                <a:spcPct val="120000"/>
              </a:lnSpc>
            </a:pPr>
            <a:r>
              <a:rPr lang="zh-CN" altLang="en-US" b="1" dirty="0">
                <a:solidFill>
                  <a:srgbClr val="000066"/>
                </a:solidFill>
                <a:latin typeface="微软雅黑" panose="020B0503020204020204" charset="-122"/>
                <a:ea typeface="微软雅黑" panose="020B0503020204020204" charset="-122"/>
              </a:rPr>
              <a:t>定点数 </a:t>
            </a:r>
            <a:r>
              <a:rPr lang="en-US" altLang="zh-CN" b="1" dirty="0">
                <a:solidFill>
                  <a:srgbClr val="000066"/>
                </a:solidFill>
                <a:latin typeface="微软雅黑" panose="020B0503020204020204" charset="-122"/>
                <a:ea typeface="微软雅黑" panose="020B0503020204020204" charset="-122"/>
              </a:rPr>
              <a:t>x= x0 x1 x2 ··· xn </a:t>
            </a:r>
            <a:r>
              <a:rPr lang="zh-CN" altLang="en-US" b="1" dirty="0">
                <a:solidFill>
                  <a:srgbClr val="000066"/>
                </a:solidFill>
                <a:latin typeface="微软雅黑" panose="020B0503020204020204" charset="-122"/>
                <a:ea typeface="微软雅黑" panose="020B0503020204020204" charset="-122"/>
              </a:rPr>
              <a:t>在定点机中表示：</a:t>
            </a:r>
            <a:endParaRPr lang="zh-CN" altLang="en-US" b="1" dirty="0">
              <a:solidFill>
                <a:srgbClr val="000066"/>
              </a:solidFill>
              <a:latin typeface="微软雅黑" panose="020B0503020204020204" charset="-122"/>
              <a:ea typeface="微软雅黑" panose="020B0503020204020204" charset="-122"/>
            </a:endParaRPr>
          </a:p>
          <a:p>
            <a:pPr marL="857250" lvl="2" indent="0">
              <a:lnSpc>
                <a:spcPct val="120000"/>
              </a:lnSpc>
              <a:buNone/>
            </a:pPr>
            <a:r>
              <a:rPr lang="zh-CN" altLang="en-US" b="1" dirty="0">
                <a:solidFill>
                  <a:srgbClr val="0000FF"/>
                </a:solidFill>
                <a:latin typeface="微软雅黑" panose="020B0503020204020204" charset="-122"/>
                <a:ea typeface="微软雅黑" panose="020B0503020204020204" charset="-122"/>
              </a:rPr>
              <a:t>   </a:t>
            </a:r>
            <a:r>
              <a:rPr lang="en-US" altLang="zh-CN" b="1" dirty="0">
                <a:solidFill>
                  <a:srgbClr val="0000FF"/>
                </a:solidFill>
                <a:latin typeface="微软雅黑" panose="020B0503020204020204" charset="-122"/>
                <a:ea typeface="微软雅黑" panose="020B0503020204020204" charset="-122"/>
              </a:rPr>
              <a:t>x0  x1 x2 ··· xn-1 xn</a:t>
            </a:r>
            <a:endParaRPr lang="en-US" altLang="zh-CN" b="1" dirty="0">
              <a:solidFill>
                <a:srgbClr val="0000FF"/>
              </a:solidFill>
              <a:latin typeface="微软雅黑" panose="020B0503020204020204" charset="-122"/>
              <a:ea typeface="微软雅黑" panose="020B0503020204020204" charset="-122"/>
            </a:endParaRPr>
          </a:p>
          <a:p>
            <a:pPr marL="857250" lvl="2" indent="0">
              <a:lnSpc>
                <a:spcPct val="120000"/>
              </a:lnSpc>
              <a:buNone/>
            </a:pPr>
            <a:r>
              <a:rPr lang="zh-CN" altLang="en-US" b="1" dirty="0">
                <a:solidFill>
                  <a:schemeClr val="accent1"/>
                </a:solidFill>
                <a:latin typeface="微软雅黑" panose="020B0503020204020204" charset="-122"/>
                <a:ea typeface="微软雅黑" panose="020B0503020204020204" charset="-122"/>
              </a:rPr>
              <a:t>  </a:t>
            </a:r>
            <a:r>
              <a:rPr lang="zh-CN" altLang="en-US" b="1" dirty="0">
                <a:solidFill>
                  <a:srgbClr val="0000FF"/>
                </a:solidFill>
                <a:latin typeface="微软雅黑" panose="020B0503020204020204" charset="-122"/>
                <a:ea typeface="微软雅黑" panose="020B0503020204020204" charset="-122"/>
              </a:rPr>
              <a:t>符号  量值</a:t>
            </a:r>
            <a:r>
              <a:rPr lang="en-US" altLang="zh-CN" b="1" dirty="0">
                <a:solidFill>
                  <a:srgbClr val="0000FF"/>
                </a:solidFill>
                <a:latin typeface="微软雅黑" panose="020B0503020204020204" charset="-122"/>
                <a:ea typeface="微软雅黑" panose="020B0503020204020204" charset="-122"/>
              </a:rPr>
              <a:t>(</a:t>
            </a:r>
            <a:r>
              <a:rPr lang="zh-CN" altLang="en-US" b="1" dirty="0">
                <a:solidFill>
                  <a:srgbClr val="0000FF"/>
                </a:solidFill>
                <a:latin typeface="微软雅黑" panose="020B0503020204020204" charset="-122"/>
                <a:ea typeface="微软雅黑" panose="020B0503020204020204" charset="-122"/>
              </a:rPr>
              <a:t>尾数</a:t>
            </a:r>
            <a:r>
              <a:rPr lang="en-US" altLang="zh-CN" b="1" dirty="0">
                <a:solidFill>
                  <a:srgbClr val="0000FF"/>
                </a:solidFill>
                <a:latin typeface="微软雅黑" panose="020B0503020204020204" charset="-122"/>
                <a:ea typeface="微软雅黑" panose="020B0503020204020204" charset="-122"/>
              </a:rPr>
              <a:t>)</a:t>
            </a:r>
            <a:endParaRPr lang="en-US" altLang="zh-CN" b="1" dirty="0">
              <a:solidFill>
                <a:srgbClr val="0000FF"/>
              </a:solidFill>
              <a:latin typeface="微软雅黑" panose="020B0503020204020204" charset="-122"/>
              <a:ea typeface="微软雅黑" panose="020B0503020204020204" charset="-122"/>
            </a:endParaRPr>
          </a:p>
          <a:p>
            <a:pPr lvl="1">
              <a:lnSpc>
                <a:spcPct val="120000"/>
              </a:lnSpc>
            </a:pPr>
            <a:r>
              <a:rPr lang="en-US" altLang="zh-CN" b="1" dirty="0">
                <a:solidFill>
                  <a:srgbClr val="000066"/>
                </a:solidFill>
                <a:latin typeface="微软雅黑" panose="020B0503020204020204" charset="-122"/>
                <a:ea typeface="微软雅黑" panose="020B0503020204020204" charset="-122"/>
              </a:rPr>
              <a:t>x0: </a:t>
            </a:r>
            <a:r>
              <a:rPr lang="zh-CN" altLang="en-US" b="1" dirty="0">
                <a:solidFill>
                  <a:srgbClr val="000066"/>
                </a:solidFill>
                <a:latin typeface="微软雅黑" panose="020B0503020204020204" charset="-122"/>
                <a:ea typeface="微软雅黑" panose="020B0503020204020204" charset="-122"/>
              </a:rPr>
              <a:t>符号位，</a:t>
            </a:r>
            <a:r>
              <a:rPr lang="en-US" altLang="zh-CN" b="1" dirty="0">
                <a:solidFill>
                  <a:srgbClr val="000066"/>
                </a:solidFill>
                <a:latin typeface="微软雅黑" panose="020B0503020204020204" charset="-122"/>
                <a:ea typeface="微软雅黑" panose="020B0503020204020204" charset="-122"/>
              </a:rPr>
              <a:t>0</a:t>
            </a:r>
            <a:r>
              <a:rPr lang="zh-CN" altLang="en-US" b="1" dirty="0">
                <a:solidFill>
                  <a:srgbClr val="000066"/>
                </a:solidFill>
                <a:latin typeface="微软雅黑" panose="020B0503020204020204" charset="-122"/>
                <a:ea typeface="微软雅黑" panose="020B0503020204020204" charset="-122"/>
              </a:rPr>
              <a:t>代表正号，</a:t>
            </a:r>
            <a:r>
              <a:rPr lang="en-US" altLang="zh-CN" b="1" dirty="0">
                <a:solidFill>
                  <a:srgbClr val="000066"/>
                </a:solidFill>
                <a:latin typeface="微软雅黑" panose="020B0503020204020204" charset="-122"/>
                <a:ea typeface="微软雅黑" panose="020B0503020204020204" charset="-122"/>
              </a:rPr>
              <a:t>1</a:t>
            </a:r>
            <a:r>
              <a:rPr lang="zh-CN" altLang="en-US" b="1" dirty="0">
                <a:solidFill>
                  <a:srgbClr val="000066"/>
                </a:solidFill>
                <a:latin typeface="微软雅黑" panose="020B0503020204020204" charset="-122"/>
                <a:ea typeface="微软雅黑" panose="020B0503020204020204" charset="-122"/>
              </a:rPr>
              <a:t>代表负号</a:t>
            </a:r>
            <a:endParaRPr lang="zh-CN" altLang="en-US" b="1" dirty="0">
              <a:solidFill>
                <a:srgbClr val="000066"/>
              </a:solidFill>
              <a:latin typeface="微软雅黑" panose="020B0503020204020204" charset="-122"/>
              <a:ea typeface="微软雅黑" panose="020B0503020204020204" charset="-122"/>
            </a:endParaRPr>
          </a:p>
          <a:p>
            <a:r>
              <a:rPr lang="zh-CN" altLang="en-US" dirty="0">
                <a:solidFill>
                  <a:srgbClr val="FF0000"/>
                </a:solidFill>
                <a:latin typeface="微软雅黑" panose="020B0503020204020204" charset="-122"/>
                <a:ea typeface="微软雅黑" panose="020B0503020204020204" charset="-122"/>
              </a:rPr>
              <a:t>数值范围</a:t>
            </a:r>
            <a:r>
              <a:rPr lang="en-US" altLang="zh-CN" dirty="0">
                <a:solidFill>
                  <a:srgbClr val="FF0000"/>
                </a:solidFill>
                <a:latin typeface="微软雅黑" panose="020B0503020204020204" charset="-122"/>
                <a:ea typeface="微软雅黑" panose="020B0503020204020204" charset="-122"/>
              </a:rPr>
              <a:t>(p21)</a:t>
            </a:r>
            <a:r>
              <a:rPr lang="zh-CN" altLang="en-US" dirty="0">
                <a:solidFill>
                  <a:srgbClr val="FF0000"/>
                </a:solidFill>
                <a:latin typeface="微软雅黑" panose="020B0503020204020204" charset="-122"/>
                <a:ea typeface="微软雅黑" panose="020B0503020204020204" charset="-122"/>
              </a:rPr>
              <a:t>：</a:t>
            </a:r>
            <a:r>
              <a:rPr lang="zh-CN" altLang="en-US" dirty="0">
                <a:latin typeface="微软雅黑" panose="020B0503020204020204" charset="-122"/>
                <a:ea typeface="微软雅黑" panose="020B0503020204020204" charset="-122"/>
              </a:rPr>
              <a:t>  </a:t>
            </a:r>
            <a:endParaRPr lang="zh-CN" altLang="en-US" dirty="0">
              <a:latin typeface="微软雅黑" panose="020B0503020204020204" charset="-122"/>
              <a:ea typeface="微软雅黑" panose="020B0503020204020204" charset="-122"/>
            </a:endParaRPr>
          </a:p>
          <a:p>
            <a:pPr lvl="1">
              <a:lnSpc>
                <a:spcPct val="120000"/>
              </a:lnSpc>
            </a:pPr>
            <a:r>
              <a:rPr lang="zh-CN" altLang="en-US" b="1" dirty="0">
                <a:solidFill>
                  <a:srgbClr val="000066"/>
                </a:solidFill>
                <a:latin typeface="微软雅黑" panose="020B0503020204020204" charset="-122"/>
                <a:ea typeface="微软雅黑" panose="020B0503020204020204" charset="-122"/>
              </a:rPr>
              <a:t>纯小数</a:t>
            </a:r>
            <a:r>
              <a:rPr lang="en-US" altLang="zh-CN" b="1" dirty="0">
                <a:solidFill>
                  <a:srgbClr val="000066"/>
                </a:solidFill>
                <a:latin typeface="微软雅黑" panose="020B0503020204020204" charset="-122"/>
                <a:ea typeface="微软雅黑" panose="020B0503020204020204" charset="-122"/>
              </a:rPr>
              <a:t>:	0≤ | x |≤ 1 – 2</a:t>
            </a:r>
            <a:r>
              <a:rPr lang="en-US" altLang="zh-CN" b="1" baseline="30000" dirty="0">
                <a:solidFill>
                  <a:srgbClr val="000066"/>
                </a:solidFill>
                <a:latin typeface="微软雅黑" panose="020B0503020204020204" charset="-122"/>
                <a:ea typeface="微软雅黑" panose="020B0503020204020204" charset="-122"/>
              </a:rPr>
              <a:t>-n</a:t>
            </a:r>
            <a:endParaRPr lang="en-US" altLang="zh-CN" b="1" dirty="0">
              <a:solidFill>
                <a:srgbClr val="000066"/>
              </a:solidFill>
              <a:latin typeface="微软雅黑" panose="020B0503020204020204" charset="-122"/>
              <a:ea typeface="微软雅黑" panose="020B0503020204020204" charset="-122"/>
            </a:endParaRPr>
          </a:p>
          <a:p>
            <a:pPr lvl="1">
              <a:lnSpc>
                <a:spcPct val="120000"/>
              </a:lnSpc>
            </a:pPr>
            <a:r>
              <a:rPr lang="zh-CN" altLang="en-US" b="1" dirty="0">
                <a:solidFill>
                  <a:srgbClr val="000066"/>
                </a:solidFill>
                <a:latin typeface="微软雅黑" panose="020B0503020204020204" charset="-122"/>
                <a:ea typeface="微软雅黑" panose="020B0503020204020204" charset="-122"/>
              </a:rPr>
              <a:t>纯整数</a:t>
            </a:r>
            <a:r>
              <a:rPr lang="en-US" altLang="zh-CN" b="1" dirty="0">
                <a:solidFill>
                  <a:srgbClr val="000066"/>
                </a:solidFill>
                <a:latin typeface="微软雅黑" panose="020B0503020204020204" charset="-122"/>
                <a:ea typeface="微软雅黑" panose="020B0503020204020204" charset="-122"/>
              </a:rPr>
              <a:t>: 	0≤ | x |≤ 2</a:t>
            </a:r>
            <a:r>
              <a:rPr lang="en-US" altLang="zh-CN" b="1" baseline="30000" dirty="0">
                <a:solidFill>
                  <a:srgbClr val="000066"/>
                </a:solidFill>
                <a:latin typeface="微软雅黑" panose="020B0503020204020204" charset="-122"/>
                <a:ea typeface="微软雅黑" panose="020B0503020204020204" charset="-122"/>
              </a:rPr>
              <a:t>n</a:t>
            </a:r>
            <a:r>
              <a:rPr lang="en-US" altLang="zh-CN" b="1" dirty="0">
                <a:solidFill>
                  <a:srgbClr val="000066"/>
                </a:solidFill>
                <a:latin typeface="微软雅黑" panose="020B0503020204020204" charset="-122"/>
                <a:ea typeface="微软雅黑" panose="020B0503020204020204" charset="-122"/>
              </a:rPr>
              <a:t>-1</a:t>
            </a:r>
            <a:endParaRPr lang="en-US" altLang="zh-CN" b="1" dirty="0">
              <a:solidFill>
                <a:srgbClr val="000066"/>
              </a:solidFill>
              <a:latin typeface="微软雅黑" panose="020B0503020204020204" charset="-122"/>
              <a:ea typeface="微软雅黑" panose="020B050302020402020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3"/>
          <p:cNvSpPr>
            <a:spLocks noGrp="1" noRot="1"/>
          </p:cNvSpPr>
          <p:nvPr>
            <p:ph idx="1"/>
          </p:nvPr>
        </p:nvSpPr>
        <p:spPr>
          <a:xfrm>
            <a:off x="301625" y="1500188"/>
            <a:ext cx="8540750" cy="4881562"/>
          </a:xfrm>
          <a:noFill/>
          <a:ln>
            <a:noFill/>
          </a:ln>
        </p:spPr>
        <p:txBody>
          <a:bodyPr anchor="t"/>
          <a:p>
            <a:r>
              <a:rPr lang="zh-CN" altLang="en-US" dirty="0">
                <a:solidFill>
                  <a:srgbClr val="FF0000"/>
                </a:solidFill>
                <a:latin typeface="微软雅黑" panose="020B0503020204020204" charset="-122"/>
                <a:ea typeface="微软雅黑" panose="020B0503020204020204" charset="-122"/>
              </a:rPr>
              <a:t>整数类型：</a:t>
            </a:r>
            <a:endParaRPr lang="zh-CN" altLang="en-US" dirty="0">
              <a:solidFill>
                <a:srgbClr val="FF0000"/>
              </a:solidFill>
              <a:latin typeface="微软雅黑" panose="020B0503020204020204" charset="-122"/>
              <a:ea typeface="微软雅黑" panose="020B0503020204020204" charset="-122"/>
            </a:endParaRPr>
          </a:p>
          <a:p>
            <a:pPr lvl="1">
              <a:lnSpc>
                <a:spcPct val="120000"/>
              </a:lnSpc>
            </a:pPr>
            <a:r>
              <a:rPr sz="2400" b="1" dirty="0">
                <a:solidFill>
                  <a:srgbClr val="000066"/>
                </a:solidFill>
                <a:latin typeface="微软雅黑" panose="020B0503020204020204" charset="-122"/>
                <a:ea typeface="微软雅黑" panose="020B0503020204020204" charset="-122"/>
              </a:rPr>
              <a:t>无符号整数在C语言中对应 unsigned short、unsigned int</a:t>
            </a:r>
            <a:r>
              <a:rPr lang="zh-CN" sz="2400" b="1" dirty="0">
                <a:solidFill>
                  <a:srgbClr val="000066"/>
                </a:solidFill>
                <a:latin typeface="微软雅黑" panose="020B0503020204020204" charset="-122"/>
                <a:ea typeface="微软雅黑" panose="020B0503020204020204" charset="-122"/>
              </a:rPr>
              <a:t>、unsigned long 等；</a:t>
            </a:r>
            <a:endParaRPr lang="zh-CN" sz="2400" b="1" dirty="0">
              <a:solidFill>
                <a:srgbClr val="000066"/>
              </a:solidFill>
              <a:latin typeface="微软雅黑" panose="020B0503020204020204" charset="-122"/>
              <a:ea typeface="微软雅黑" panose="020B0503020204020204" charset="-122"/>
            </a:endParaRPr>
          </a:p>
          <a:p>
            <a:pPr lvl="1">
              <a:lnSpc>
                <a:spcPct val="120000"/>
              </a:lnSpc>
            </a:pPr>
            <a:r>
              <a:rPr lang="zh-CN" altLang="en-US" sz="2400" b="1" dirty="0">
                <a:solidFill>
                  <a:srgbClr val="000066"/>
                </a:solidFill>
                <a:latin typeface="微软雅黑" panose="020B0503020204020204" charset="-122"/>
                <a:ea typeface="微软雅黑" panose="020B0503020204020204" charset="-122"/>
              </a:rPr>
              <a:t>带符号整数在C语言中对应 short、int、long等类型</a:t>
            </a:r>
            <a:endParaRPr lang="zh-CN" altLang="en-US" b="1" dirty="0">
              <a:solidFill>
                <a:srgbClr val="000066"/>
              </a:solidFill>
              <a:latin typeface="微软雅黑" panose="020B0503020204020204" charset="-122"/>
              <a:ea typeface="微软雅黑" panose="020B0503020204020204" charset="-122"/>
            </a:endParaRPr>
          </a:p>
          <a:p>
            <a:pPr latinLnBrk="0">
              <a:spcBef>
                <a:spcPts val="1200"/>
              </a:spcBef>
            </a:pPr>
            <a:r>
              <a:rPr lang="zh-CN" altLang="en-US" dirty="0">
                <a:solidFill>
                  <a:srgbClr val="FF0000"/>
                </a:solidFill>
                <a:latin typeface="微软雅黑" panose="020B0503020204020204" charset="-122"/>
                <a:ea typeface="微软雅黑" panose="020B0503020204020204" charset="-122"/>
              </a:rPr>
              <a:t>考虑</a:t>
            </a:r>
            <a:r>
              <a:rPr lang="en-US" altLang="zh-CN" dirty="0">
                <a:solidFill>
                  <a:srgbClr val="FF0000"/>
                </a:solidFill>
                <a:latin typeface="微软雅黑" panose="020B0503020204020204" charset="-122"/>
                <a:ea typeface="微软雅黑" panose="020B0503020204020204" charset="-122"/>
              </a:rPr>
              <a:t>C</a:t>
            </a:r>
            <a:r>
              <a:rPr lang="zh-CN" altLang="en-US" dirty="0">
                <a:solidFill>
                  <a:srgbClr val="FF0000"/>
                </a:solidFill>
                <a:latin typeface="微软雅黑" panose="020B0503020204020204" charset="-122"/>
                <a:ea typeface="微软雅黑" panose="020B0503020204020204" charset="-122"/>
              </a:rPr>
              <a:t>代码：</a:t>
            </a:r>
            <a:r>
              <a:rPr lang="zh-CN" altLang="en-US" dirty="0">
                <a:latin typeface="微软雅黑" panose="020B0503020204020204" charset="-122"/>
                <a:ea typeface="微软雅黑" panose="020B0503020204020204" charset="-122"/>
              </a:rPr>
              <a:t>  </a:t>
            </a:r>
            <a:endParaRPr lang="zh-CN" altLang="en-US" dirty="0">
              <a:latin typeface="微软雅黑" panose="020B0503020204020204" charset="-122"/>
              <a:ea typeface="微软雅黑" panose="020B0503020204020204" charset="-122"/>
            </a:endParaRPr>
          </a:p>
          <a:p>
            <a:pPr lvl="1">
              <a:lnSpc>
                <a:spcPct val="120000"/>
              </a:lnSpc>
            </a:pPr>
            <a:r>
              <a:rPr lang="en-US" altLang="zh-CN" sz="2000" b="1" dirty="0">
                <a:solidFill>
                  <a:srgbClr val="000066"/>
                </a:solidFill>
                <a:latin typeface="微软雅黑" panose="020B0503020204020204" charset="-122"/>
                <a:ea typeface="微软雅黑" panose="020B0503020204020204" charset="-122"/>
              </a:rPr>
              <a:t>x=4 294 967295</a:t>
            </a:r>
            <a:r>
              <a:rPr lang="zh-CN" altLang="en-US" sz="2000" b="1" dirty="0">
                <a:solidFill>
                  <a:srgbClr val="000066"/>
                </a:solidFill>
                <a:latin typeface="微软雅黑" panose="020B0503020204020204" charset="-122"/>
                <a:ea typeface="微软雅黑" panose="020B0503020204020204" charset="-122"/>
              </a:rPr>
              <a:t>，</a:t>
            </a:r>
            <a:r>
              <a:rPr lang="en-US" altLang="zh-CN" sz="2000" b="1" dirty="0">
                <a:solidFill>
                  <a:srgbClr val="000066"/>
                </a:solidFill>
                <a:latin typeface="微软雅黑" panose="020B0503020204020204" charset="-122"/>
                <a:ea typeface="微软雅黑" panose="020B0503020204020204" charset="-122"/>
              </a:rPr>
              <a:t>-1</a:t>
            </a:r>
            <a:endParaRPr lang="en-US" altLang="zh-CN" sz="2000" b="1" dirty="0">
              <a:solidFill>
                <a:srgbClr val="000066"/>
              </a:solidFill>
              <a:latin typeface="微软雅黑" panose="020B0503020204020204" charset="-122"/>
              <a:ea typeface="微软雅黑" panose="020B0503020204020204" charset="-122"/>
            </a:endParaRPr>
          </a:p>
          <a:p>
            <a:pPr lvl="1">
              <a:lnSpc>
                <a:spcPct val="120000"/>
              </a:lnSpc>
            </a:pPr>
            <a:r>
              <a:rPr lang="en-US" altLang="zh-CN" sz="2000" b="1" dirty="0">
                <a:solidFill>
                  <a:srgbClr val="000066"/>
                </a:solidFill>
                <a:latin typeface="微软雅黑" panose="020B0503020204020204" charset="-122"/>
                <a:ea typeface="微软雅黑" panose="020B0503020204020204" charset="-122"/>
              </a:rPr>
              <a:t>u=2 147 483 648</a:t>
            </a:r>
            <a:r>
              <a:rPr lang="zh-CN" altLang="en-US" sz="2000" b="1" dirty="0">
                <a:solidFill>
                  <a:srgbClr val="000066"/>
                </a:solidFill>
                <a:latin typeface="微软雅黑" panose="020B0503020204020204" charset="-122"/>
                <a:ea typeface="微软雅黑" panose="020B0503020204020204" charset="-122"/>
              </a:rPr>
              <a:t>，</a:t>
            </a:r>
            <a:endParaRPr lang="zh-CN" altLang="en-US" sz="2000" b="1" dirty="0">
              <a:solidFill>
                <a:srgbClr val="000066"/>
              </a:solidFill>
              <a:latin typeface="微软雅黑" panose="020B0503020204020204" charset="-122"/>
              <a:ea typeface="微软雅黑" panose="020B0503020204020204" charset="-122"/>
            </a:endParaRPr>
          </a:p>
          <a:p>
            <a:pPr marL="457200" lvl="1" indent="0">
              <a:lnSpc>
                <a:spcPct val="120000"/>
              </a:lnSpc>
              <a:buNone/>
            </a:pPr>
            <a:r>
              <a:rPr lang="en-US" altLang="zh-CN" sz="2000" b="1" dirty="0">
                <a:solidFill>
                  <a:srgbClr val="000066"/>
                </a:solidFill>
                <a:latin typeface="微软雅黑" panose="020B0503020204020204" charset="-122"/>
                <a:ea typeface="微软雅黑" panose="020B0503020204020204" charset="-122"/>
              </a:rPr>
              <a:t>-2 147 483 648</a:t>
            </a:r>
            <a:endParaRPr lang="en-US" altLang="zh-CN" sz="2000" b="1" dirty="0">
              <a:solidFill>
                <a:srgbClr val="000066"/>
              </a:solidFill>
              <a:latin typeface="微软雅黑" panose="020B0503020204020204" charset="-122"/>
              <a:ea typeface="微软雅黑" panose="020B0503020204020204" charset="-122"/>
            </a:endParaRPr>
          </a:p>
          <a:p>
            <a:pPr marL="457200" lvl="1" indent="0">
              <a:lnSpc>
                <a:spcPct val="120000"/>
              </a:lnSpc>
              <a:buNone/>
            </a:pPr>
            <a:endParaRPr lang="en-US" altLang="zh-CN" sz="2000" b="1" dirty="0">
              <a:solidFill>
                <a:srgbClr val="000066"/>
              </a:solidFill>
              <a:latin typeface="微软雅黑" panose="020B0503020204020204" charset="-122"/>
              <a:ea typeface="微软雅黑" panose="020B0503020204020204" charset="-122"/>
            </a:endParaRPr>
          </a:p>
          <a:p>
            <a:pPr lvl="1">
              <a:lnSpc>
                <a:spcPct val="120000"/>
              </a:lnSpc>
              <a:buFont typeface="Wingdings" panose="05000000000000000000" charset="0"/>
              <a:buChar char="ü"/>
            </a:pPr>
            <a:r>
              <a:rPr lang="en-US" altLang="zh-CN" sz="1200" dirty="0">
                <a:solidFill>
                  <a:srgbClr val="000066"/>
                </a:solidFill>
                <a:latin typeface="微软雅黑" panose="020B0503020204020204" charset="-122"/>
                <a:ea typeface="微软雅黑" panose="020B0503020204020204" charset="-122"/>
              </a:rPr>
              <a:t>-1的补码表示为 11…1,当</a:t>
            </a:r>
            <a:r>
              <a:rPr lang="zh-CN" altLang="en-US" sz="1200" dirty="0">
                <a:solidFill>
                  <a:srgbClr val="000066"/>
                </a:solidFill>
                <a:latin typeface="微软雅黑" panose="020B0503020204020204" charset="-122"/>
                <a:ea typeface="微软雅黑" panose="020B0503020204020204" charset="-122"/>
              </a:rPr>
              <a:t>被</a:t>
            </a:r>
            <a:r>
              <a:rPr lang="en-US" altLang="zh-CN" sz="1200" dirty="0">
                <a:solidFill>
                  <a:srgbClr val="000066"/>
                </a:solidFill>
                <a:latin typeface="微软雅黑" panose="020B0503020204020204" charset="-122"/>
                <a:ea typeface="微软雅黑" panose="020B0503020204020204" charset="-122"/>
                <a:sym typeface="+mn-ea"/>
              </a:rPr>
              <a:t>解释</a:t>
            </a:r>
            <a:r>
              <a:rPr lang="zh-CN" altLang="en-US" sz="1200" dirty="0">
                <a:solidFill>
                  <a:srgbClr val="000066"/>
                </a:solidFill>
                <a:latin typeface="微软雅黑" panose="020B0503020204020204" charset="-122"/>
                <a:ea typeface="微软雅黑" panose="020B0503020204020204" charset="-122"/>
                <a:sym typeface="+mn-ea"/>
              </a:rPr>
              <a:t>为</a:t>
            </a:r>
            <a:r>
              <a:rPr lang="en-US" altLang="zh-CN" sz="1200" dirty="0">
                <a:solidFill>
                  <a:srgbClr val="000066"/>
                </a:solidFill>
                <a:latin typeface="微软雅黑" panose="020B0503020204020204" charset="-122"/>
                <a:ea typeface="微软雅黑" panose="020B0503020204020204" charset="-122"/>
              </a:rPr>
              <a:t>32位无符号数(格式符为%u)时,其值为 2</a:t>
            </a:r>
            <a:r>
              <a:rPr lang="en-US" altLang="zh-CN" sz="1200" baseline="30000" dirty="0">
                <a:solidFill>
                  <a:srgbClr val="000066"/>
                </a:solidFill>
                <a:latin typeface="微软雅黑" panose="020B0503020204020204" charset="-122"/>
                <a:ea typeface="微软雅黑" panose="020B0503020204020204" charset="-122"/>
              </a:rPr>
              <a:t>32</a:t>
            </a:r>
            <a:r>
              <a:rPr lang="en-US" altLang="zh-CN" sz="1200" dirty="0">
                <a:solidFill>
                  <a:srgbClr val="000066"/>
                </a:solidFill>
                <a:latin typeface="微软雅黑" panose="020B0503020204020204" charset="-122"/>
                <a:ea typeface="微软雅黑" panose="020B0503020204020204" charset="-122"/>
              </a:rPr>
              <a:t>-1= =4 294 967 295。</a:t>
            </a:r>
            <a:endParaRPr lang="en-US" altLang="zh-CN" sz="1200" dirty="0">
              <a:solidFill>
                <a:srgbClr val="000066"/>
              </a:solidFill>
              <a:latin typeface="微软雅黑" panose="020B0503020204020204" charset="-122"/>
              <a:ea typeface="微软雅黑" panose="020B0503020204020204" charset="-122"/>
            </a:endParaRPr>
          </a:p>
          <a:p>
            <a:pPr lvl="1">
              <a:lnSpc>
                <a:spcPct val="120000"/>
              </a:lnSpc>
              <a:buFont typeface="Wingdings" panose="05000000000000000000" charset="0"/>
              <a:buChar char="ü"/>
            </a:pPr>
            <a:r>
              <a:rPr lang="en-US" altLang="zh-CN" sz="1200" dirty="0">
                <a:solidFill>
                  <a:srgbClr val="000066"/>
                </a:solidFill>
                <a:latin typeface="微软雅黑" panose="020B0503020204020204" charset="-122"/>
                <a:ea typeface="微软雅黑" panose="020B0503020204020204" charset="-122"/>
              </a:rPr>
              <a:t>2</a:t>
            </a:r>
            <a:r>
              <a:rPr lang="en-US" altLang="zh-CN" sz="1200" baseline="30000" dirty="0">
                <a:solidFill>
                  <a:srgbClr val="000066"/>
                </a:solidFill>
                <a:latin typeface="微软雅黑" panose="020B0503020204020204" charset="-122"/>
                <a:ea typeface="微软雅黑" panose="020B0503020204020204" charset="-122"/>
              </a:rPr>
              <a:t>31</a:t>
            </a:r>
            <a:r>
              <a:rPr lang="en-US" altLang="zh-CN" sz="1200" dirty="0">
                <a:solidFill>
                  <a:srgbClr val="000066"/>
                </a:solidFill>
                <a:latin typeface="微软雅黑" panose="020B0503020204020204" charset="-122"/>
                <a:ea typeface="微软雅黑" panose="020B0503020204020204" charset="-122"/>
              </a:rPr>
              <a:t>的无符号数表示为100…0,当被解释为 32位带符号整数(格式符为%d)时,其值为最小负数:-2</a:t>
            </a:r>
            <a:r>
              <a:rPr lang="en-US" altLang="zh-CN" sz="1200" baseline="30000" dirty="0">
                <a:solidFill>
                  <a:srgbClr val="000066"/>
                </a:solidFill>
                <a:latin typeface="微软雅黑" panose="020B0503020204020204" charset="-122"/>
                <a:ea typeface="微软雅黑" panose="020B0503020204020204" charset="-122"/>
              </a:rPr>
              <a:t>31</a:t>
            </a:r>
            <a:r>
              <a:rPr lang="en-US" altLang="zh-CN" sz="1200" dirty="0">
                <a:solidFill>
                  <a:srgbClr val="000066"/>
                </a:solidFill>
                <a:latin typeface="微软雅黑" panose="020B0503020204020204" charset="-122"/>
                <a:ea typeface="微软雅黑" panose="020B0503020204020204" charset="-122"/>
              </a:rPr>
              <a:t>=-2147483648</a:t>
            </a:r>
            <a:endParaRPr lang="en-US" altLang="zh-CN" sz="1200" dirty="0">
              <a:solidFill>
                <a:srgbClr val="000066"/>
              </a:solidFill>
              <a:latin typeface="微软雅黑" panose="020B0503020204020204" charset="-122"/>
              <a:ea typeface="微软雅黑" panose="020B0503020204020204" charset="-122"/>
            </a:endParaRPr>
          </a:p>
        </p:txBody>
      </p:sp>
      <p:sp>
        <p:nvSpPr>
          <p:cNvPr id="69633" name="Rectangle 2"/>
          <p:cNvSpPr>
            <a:spLocks noGrp="1" noRot="1"/>
          </p:cNvSpPr>
          <p:nvPr>
            <p:ph type="title"/>
          </p:nvPr>
        </p:nvSpPr>
        <p:spPr>
          <a:noFill/>
          <a:ln>
            <a:noFill/>
          </a:ln>
        </p:spPr>
        <p:txBody>
          <a:bodyPr anchor="t"/>
          <a:p>
            <a:pPr>
              <a:buNone/>
            </a:pPr>
            <a:r>
              <a:rPr lang="en-US" altLang="zh-CN" dirty="0">
                <a:solidFill>
                  <a:srgbClr val="0000FF"/>
                </a:solidFill>
                <a:latin typeface="微软雅黑" panose="020B0503020204020204" charset="-122"/>
                <a:ea typeface="微软雅黑" panose="020B0503020204020204" charset="-122"/>
              </a:rPr>
              <a:t>C</a:t>
            </a:r>
            <a:r>
              <a:rPr lang="zh-CN" altLang="en-US" dirty="0">
                <a:solidFill>
                  <a:srgbClr val="0000FF"/>
                </a:solidFill>
                <a:latin typeface="微软雅黑" panose="020B0503020204020204" charset="-122"/>
                <a:ea typeface="微软雅黑" panose="020B0503020204020204" charset="-122"/>
              </a:rPr>
              <a:t>语言中的整数</a:t>
            </a:r>
            <a:r>
              <a:rPr lang="zh-CN" altLang="en-US" dirty="0">
                <a:solidFill>
                  <a:srgbClr val="0000FF"/>
                </a:solidFill>
                <a:latin typeface="微软雅黑" panose="020B0503020204020204" charset="-122"/>
                <a:ea typeface="微软雅黑" panose="020B0503020204020204" charset="-122"/>
              </a:rPr>
              <a:t>类型 </a:t>
            </a:r>
            <a:endParaRPr lang="zh-CN" altLang="en-US" dirty="0">
              <a:solidFill>
                <a:srgbClr val="0000FF"/>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1"/>
          <a:srcRect r="6037"/>
          <a:stretch>
            <a:fillRect/>
          </a:stretch>
        </p:blipFill>
        <p:spPr>
          <a:xfrm>
            <a:off x="3923665" y="3644900"/>
            <a:ext cx="4322445" cy="19437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634">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634">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9634">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9634">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963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Rectangle 2"/>
          <p:cNvSpPr>
            <a:spLocks noGrp="1" noRot="1"/>
          </p:cNvSpPr>
          <p:nvPr>
            <p:ph type="title"/>
          </p:nvPr>
        </p:nvSpPr>
        <p:spPr>
          <a:noFill/>
          <a:ln>
            <a:noFill/>
          </a:ln>
        </p:spPr>
        <p:txBody>
          <a:bodyPr anchor="t"/>
          <a:p>
            <a:pPr>
              <a:buNone/>
            </a:pPr>
            <a:r>
              <a:rPr lang="zh-CN" altLang="en-US" dirty="0">
                <a:solidFill>
                  <a:srgbClr val="0000FF"/>
                </a:solidFill>
                <a:latin typeface="微软雅黑" panose="020B0503020204020204" charset="-122"/>
                <a:ea typeface="微软雅黑" panose="020B0503020204020204" charset="-122"/>
              </a:rPr>
              <a:t>浮点数的表示方法</a:t>
            </a:r>
            <a:endParaRPr lang="zh-CN" altLang="en-US" dirty="0">
              <a:solidFill>
                <a:srgbClr val="0000FF"/>
              </a:solidFill>
              <a:latin typeface="微软雅黑" panose="020B0503020204020204" charset="-122"/>
              <a:ea typeface="微软雅黑" panose="020B0503020204020204" charset="-122"/>
            </a:endParaRPr>
          </a:p>
        </p:txBody>
      </p:sp>
      <p:sp>
        <p:nvSpPr>
          <p:cNvPr id="71682" name="Rectangle 3"/>
          <p:cNvSpPr>
            <a:spLocks noGrp="1" noRot="1"/>
          </p:cNvSpPr>
          <p:nvPr>
            <p:ph idx="1"/>
          </p:nvPr>
        </p:nvSpPr>
        <p:spPr>
          <a:xfrm>
            <a:off x="301625" y="1500188"/>
            <a:ext cx="8540750" cy="4881562"/>
          </a:xfrm>
          <a:noFill/>
          <a:ln>
            <a:noFill/>
          </a:ln>
        </p:spPr>
        <p:txBody>
          <a:bodyPr anchor="t"/>
          <a:p>
            <a:pPr>
              <a:lnSpc>
                <a:spcPct val="110000"/>
              </a:lnSpc>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把一个数的</a:t>
            </a:r>
            <a:r>
              <a:rPr lang="zh-CN" altLang="en-US" dirty="0">
                <a:solidFill>
                  <a:srgbClr val="FF0000"/>
                </a:solidFill>
                <a:latin typeface="微软雅黑" panose="020B0503020204020204" charset="-122"/>
                <a:ea typeface="微软雅黑" panose="020B0503020204020204" charset="-122"/>
              </a:rPr>
              <a:t>有效数字</a:t>
            </a:r>
            <a:r>
              <a:rPr lang="zh-CN" altLang="en-US" dirty="0">
                <a:solidFill>
                  <a:schemeClr val="tx2"/>
                </a:solidFill>
                <a:latin typeface="微软雅黑" panose="020B0503020204020204" charset="-122"/>
                <a:ea typeface="微软雅黑" panose="020B0503020204020204" charset="-122"/>
              </a:rPr>
              <a:t>和数的</a:t>
            </a:r>
            <a:r>
              <a:rPr lang="zh-CN" altLang="en-US" dirty="0">
                <a:solidFill>
                  <a:srgbClr val="FF0000"/>
                </a:solidFill>
                <a:latin typeface="微软雅黑" panose="020B0503020204020204" charset="-122"/>
                <a:ea typeface="微软雅黑" panose="020B0503020204020204" charset="-122"/>
              </a:rPr>
              <a:t>范围</a:t>
            </a:r>
            <a:r>
              <a:rPr lang="zh-CN" altLang="en-US" dirty="0">
                <a:solidFill>
                  <a:schemeClr val="tx2"/>
                </a:solidFill>
                <a:latin typeface="微软雅黑" panose="020B0503020204020204" charset="-122"/>
                <a:ea typeface="微软雅黑" panose="020B0503020204020204" charset="-122"/>
              </a:rPr>
              <a:t>在计算机的一个存储单元中分别予以表示；</a:t>
            </a:r>
            <a:endParaRPr lang="zh-CN" altLang="en-US" dirty="0">
              <a:solidFill>
                <a:schemeClr val="tx2"/>
              </a:solidFill>
              <a:latin typeface="微软雅黑" panose="020B0503020204020204" charset="-122"/>
              <a:ea typeface="微软雅黑" panose="020B0503020204020204" charset="-122"/>
            </a:endParaRPr>
          </a:p>
          <a:p>
            <a:pPr>
              <a:lnSpc>
                <a:spcPct val="110000"/>
              </a:lnSpc>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任意一个十进制数</a:t>
            </a:r>
            <a:r>
              <a:rPr lang="zh-CN" altLang="en-US" i="1" dirty="0">
                <a:solidFill>
                  <a:schemeClr val="tx2"/>
                </a:solidFill>
                <a:latin typeface="微软雅黑" panose="020B0503020204020204" charset="-122"/>
                <a:ea typeface="微软雅黑" panose="020B0503020204020204" charset="-122"/>
              </a:rPr>
              <a:t>Ｎ</a:t>
            </a:r>
            <a:r>
              <a:rPr lang="zh-CN" altLang="en-US" dirty="0">
                <a:solidFill>
                  <a:schemeClr val="tx2"/>
                </a:solidFill>
                <a:latin typeface="微软雅黑" panose="020B0503020204020204" charset="-122"/>
                <a:ea typeface="微软雅黑" panose="020B0503020204020204" charset="-122"/>
              </a:rPr>
              <a:t> 可以写成：</a:t>
            </a:r>
            <a:endParaRPr lang="zh-CN" altLang="en-US" dirty="0">
              <a:solidFill>
                <a:srgbClr val="6600FF"/>
              </a:solidFill>
              <a:latin typeface="微软雅黑" panose="020B0503020204020204" charset="-122"/>
              <a:ea typeface="微软雅黑" panose="020B0503020204020204" charset="-122"/>
            </a:endParaRPr>
          </a:p>
          <a:p>
            <a:pPr lvl="1">
              <a:lnSpc>
                <a:spcPct val="110000"/>
              </a:lnSpc>
            </a:pPr>
            <a:r>
              <a:rPr lang="en-US" altLang="zh-CN" sz="2400" b="1" i="1" dirty="0">
                <a:solidFill>
                  <a:srgbClr val="000066"/>
                </a:solidFill>
                <a:latin typeface="微软雅黑" panose="020B0503020204020204" charset="-122"/>
                <a:ea typeface="微软雅黑" panose="020B0503020204020204" charset="-122"/>
              </a:rPr>
              <a:t>N=10 </a:t>
            </a:r>
            <a:r>
              <a:rPr lang="en-US" altLang="zh-CN" sz="2400" b="1" i="1" baseline="30000" dirty="0">
                <a:solidFill>
                  <a:srgbClr val="000066"/>
                </a:solidFill>
                <a:latin typeface="微软雅黑" panose="020B0503020204020204" charset="-122"/>
                <a:ea typeface="微软雅黑" panose="020B0503020204020204" charset="-122"/>
              </a:rPr>
              <a:t>E</a:t>
            </a:r>
            <a:r>
              <a:rPr lang="en-US" altLang="zh-CN" sz="2400" b="1" i="1" dirty="0">
                <a:solidFill>
                  <a:srgbClr val="000066"/>
                </a:solidFill>
                <a:latin typeface="微软雅黑" panose="020B0503020204020204" charset="-122"/>
                <a:ea typeface="微软雅黑" panose="020B0503020204020204" charset="-122"/>
              </a:rPr>
              <a:t>.M</a:t>
            </a:r>
            <a:endParaRPr lang="en-US" altLang="zh-CN" sz="2400" b="1" i="1" dirty="0">
              <a:solidFill>
                <a:srgbClr val="000066"/>
              </a:solidFill>
              <a:latin typeface="微软雅黑" panose="020B0503020204020204" charset="-122"/>
              <a:ea typeface="微软雅黑" panose="020B0503020204020204" charset="-122"/>
            </a:endParaRPr>
          </a:p>
          <a:p>
            <a:pPr>
              <a:lnSpc>
                <a:spcPct val="110000"/>
              </a:lnSpc>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计算机中一个任意进制数Ｎ可以写成 ：</a:t>
            </a:r>
            <a:endParaRPr lang="zh-CN" altLang="en-US" dirty="0">
              <a:solidFill>
                <a:schemeClr val="tx2"/>
              </a:solidFill>
              <a:latin typeface="微软雅黑" panose="020B0503020204020204" charset="-122"/>
              <a:ea typeface="微软雅黑" panose="020B0503020204020204" charset="-122"/>
            </a:endParaRPr>
          </a:p>
          <a:p>
            <a:pPr lvl="1">
              <a:lnSpc>
                <a:spcPct val="110000"/>
              </a:lnSpc>
            </a:pPr>
            <a:r>
              <a:rPr lang="zh-CN" altLang="en-US" sz="2400" b="1" i="1" dirty="0">
                <a:solidFill>
                  <a:srgbClr val="000066"/>
                </a:solidFill>
                <a:latin typeface="微软雅黑" panose="020B0503020204020204" charset="-122"/>
                <a:ea typeface="微软雅黑" panose="020B0503020204020204" charset="-122"/>
              </a:rPr>
              <a:t>Ｎ</a:t>
            </a:r>
            <a:r>
              <a:rPr lang="en-US" altLang="zh-CN" sz="2400" b="1" i="1" dirty="0">
                <a:solidFill>
                  <a:srgbClr val="000066"/>
                </a:solidFill>
                <a:latin typeface="微软雅黑" panose="020B0503020204020204" charset="-122"/>
                <a:ea typeface="微软雅黑" panose="020B0503020204020204" charset="-122"/>
              </a:rPr>
              <a:t>=R </a:t>
            </a:r>
            <a:r>
              <a:rPr lang="en-US" altLang="zh-CN" sz="2400" b="1" i="1" baseline="30000" dirty="0">
                <a:solidFill>
                  <a:srgbClr val="000066"/>
                </a:solidFill>
                <a:latin typeface="微软雅黑" panose="020B0503020204020204" charset="-122"/>
                <a:ea typeface="微软雅黑" panose="020B0503020204020204" charset="-122"/>
              </a:rPr>
              <a:t>e</a:t>
            </a:r>
            <a:r>
              <a:rPr lang="en-US" altLang="zh-CN" sz="2400" b="1" i="1" dirty="0">
                <a:solidFill>
                  <a:srgbClr val="000066"/>
                </a:solidFill>
                <a:latin typeface="微软雅黑" panose="020B0503020204020204" charset="-122"/>
                <a:ea typeface="微软雅黑" panose="020B0503020204020204" charset="-122"/>
              </a:rPr>
              <a:t>.m</a:t>
            </a:r>
            <a:endParaRPr lang="en-US" altLang="zh-CN" sz="2400" b="1" i="1" dirty="0">
              <a:solidFill>
                <a:srgbClr val="000066"/>
              </a:solidFill>
              <a:latin typeface="微软雅黑" panose="020B0503020204020204" charset="-122"/>
              <a:ea typeface="微软雅黑" panose="020B0503020204020204" charset="-122"/>
            </a:endParaRPr>
          </a:p>
          <a:p>
            <a:pPr lvl="1">
              <a:lnSpc>
                <a:spcPct val="110000"/>
              </a:lnSpc>
            </a:pPr>
            <a:r>
              <a:rPr lang="en-US" altLang="zh-CN" sz="2400" b="1" i="1" dirty="0">
                <a:solidFill>
                  <a:srgbClr val="000066"/>
                </a:solidFill>
                <a:latin typeface="微软雅黑" panose="020B0503020204020204" charset="-122"/>
                <a:ea typeface="微软雅黑" panose="020B0503020204020204" charset="-122"/>
              </a:rPr>
              <a:t>m</a:t>
            </a:r>
            <a:r>
              <a:rPr lang="zh-CN" altLang="en-US" sz="2400" b="1" dirty="0">
                <a:solidFill>
                  <a:srgbClr val="000066"/>
                </a:solidFill>
                <a:latin typeface="微软雅黑" panose="020B0503020204020204" charset="-122"/>
                <a:ea typeface="微软雅黑" panose="020B0503020204020204" charset="-122"/>
              </a:rPr>
              <a:t>：尾数，是一个纯小数；</a:t>
            </a:r>
            <a:endParaRPr lang="zh-CN" altLang="en-US" sz="2400" b="1" dirty="0">
              <a:solidFill>
                <a:srgbClr val="000066"/>
              </a:solidFill>
              <a:latin typeface="微软雅黑" panose="020B0503020204020204" charset="-122"/>
              <a:ea typeface="微软雅黑" panose="020B0503020204020204" charset="-122"/>
            </a:endParaRPr>
          </a:p>
          <a:p>
            <a:pPr lvl="1">
              <a:lnSpc>
                <a:spcPct val="110000"/>
              </a:lnSpc>
            </a:pPr>
            <a:r>
              <a:rPr lang="en-US" altLang="zh-CN" sz="2400" b="1" i="1" dirty="0">
                <a:solidFill>
                  <a:srgbClr val="000066"/>
                </a:solidFill>
                <a:latin typeface="微软雅黑" panose="020B0503020204020204" charset="-122"/>
                <a:ea typeface="微软雅黑" panose="020B0503020204020204" charset="-122"/>
              </a:rPr>
              <a:t>e</a:t>
            </a:r>
            <a:r>
              <a:rPr lang="zh-CN" altLang="en-US" sz="2400" b="1" dirty="0">
                <a:solidFill>
                  <a:srgbClr val="000066"/>
                </a:solidFill>
                <a:latin typeface="微软雅黑" panose="020B0503020204020204" charset="-122"/>
                <a:ea typeface="微软雅黑" panose="020B0503020204020204" charset="-122"/>
              </a:rPr>
              <a:t>：比例因子的指数</a:t>
            </a:r>
            <a:r>
              <a:rPr lang="en-US" altLang="zh-CN" sz="2400" b="1" dirty="0">
                <a:solidFill>
                  <a:srgbClr val="000066"/>
                </a:solidFill>
                <a:latin typeface="微软雅黑" panose="020B0503020204020204" charset="-122"/>
                <a:ea typeface="微软雅黑" panose="020B0503020204020204" charset="-122"/>
              </a:rPr>
              <a:t>, </a:t>
            </a:r>
            <a:r>
              <a:rPr lang="zh-CN" altLang="en-US" sz="2400" b="1" dirty="0">
                <a:solidFill>
                  <a:srgbClr val="000066"/>
                </a:solidFill>
                <a:latin typeface="微软雅黑" panose="020B0503020204020204" charset="-122"/>
                <a:ea typeface="微软雅黑" panose="020B0503020204020204" charset="-122"/>
              </a:rPr>
              <a:t>称为浮点的指数</a:t>
            </a:r>
            <a:r>
              <a:rPr lang="en-US" altLang="zh-CN" sz="2400" b="1" dirty="0">
                <a:solidFill>
                  <a:srgbClr val="000066"/>
                </a:solidFill>
                <a:latin typeface="微软雅黑" panose="020B0503020204020204" charset="-122"/>
                <a:ea typeface="微软雅黑" panose="020B0503020204020204" charset="-122"/>
              </a:rPr>
              <a:t>, </a:t>
            </a:r>
            <a:r>
              <a:rPr lang="zh-CN" altLang="en-US" sz="2400" b="1" dirty="0">
                <a:solidFill>
                  <a:srgbClr val="000066"/>
                </a:solidFill>
                <a:latin typeface="微软雅黑" panose="020B0503020204020204" charset="-122"/>
                <a:ea typeface="微软雅黑" panose="020B0503020204020204" charset="-122"/>
              </a:rPr>
              <a:t>是一个整数；</a:t>
            </a:r>
            <a:endParaRPr lang="zh-CN" altLang="en-US" sz="2400" b="1" dirty="0">
              <a:solidFill>
                <a:srgbClr val="000066"/>
              </a:solidFill>
              <a:latin typeface="微软雅黑" panose="020B0503020204020204" charset="-122"/>
              <a:ea typeface="微软雅黑" panose="020B0503020204020204" charset="-122"/>
            </a:endParaRPr>
          </a:p>
          <a:p>
            <a:pPr lvl="1">
              <a:lnSpc>
                <a:spcPct val="110000"/>
              </a:lnSpc>
            </a:pPr>
            <a:r>
              <a:rPr lang="en-US" altLang="zh-CN" sz="2400" b="1" i="1" dirty="0">
                <a:solidFill>
                  <a:srgbClr val="000066"/>
                </a:solidFill>
                <a:latin typeface="微软雅黑" panose="020B0503020204020204" charset="-122"/>
                <a:ea typeface="微软雅黑" panose="020B0503020204020204" charset="-122"/>
              </a:rPr>
              <a:t>R</a:t>
            </a:r>
            <a:r>
              <a:rPr lang="zh-CN" altLang="en-US" sz="2400" b="1" dirty="0">
                <a:solidFill>
                  <a:srgbClr val="000066"/>
                </a:solidFill>
                <a:latin typeface="微软雅黑" panose="020B0503020204020204" charset="-122"/>
                <a:ea typeface="微软雅黑" panose="020B0503020204020204" charset="-122"/>
              </a:rPr>
              <a:t>：比例因子的基数</a:t>
            </a:r>
            <a:r>
              <a:rPr lang="zh-CN" altLang="en-US" sz="2400" b="1" dirty="0">
                <a:solidFill>
                  <a:schemeClr val="accent1"/>
                </a:solidFill>
                <a:latin typeface="微软雅黑" panose="020B0503020204020204" charset="-122"/>
                <a:ea typeface="微软雅黑" panose="020B0503020204020204" charset="-122"/>
              </a:rPr>
              <a:t>。</a:t>
            </a:r>
            <a:endParaRPr lang="zh-CN" altLang="en-US" sz="2400" b="1" dirty="0">
              <a:solidFill>
                <a:schemeClr val="accent1"/>
              </a:solidFill>
              <a:latin typeface="微软雅黑" panose="020B0503020204020204" charset="-122"/>
              <a:ea typeface="微软雅黑" panose="020B050302020402020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Rectangle 2"/>
          <p:cNvSpPr>
            <a:spLocks noGrp="1" noRot="1"/>
          </p:cNvSpPr>
          <p:nvPr>
            <p:ph type="title"/>
          </p:nvPr>
        </p:nvSpPr>
        <p:spPr>
          <a:noFill/>
          <a:ln>
            <a:noFill/>
          </a:ln>
        </p:spPr>
        <p:txBody>
          <a:bodyPr anchor="t"/>
          <a:p>
            <a:pPr>
              <a:buNone/>
            </a:pPr>
            <a:r>
              <a:rPr lang="zh-CN" altLang="en-US" dirty="0">
                <a:solidFill>
                  <a:srgbClr val="0000FF"/>
                </a:solidFill>
                <a:latin typeface="微软雅黑" panose="020B0503020204020204" charset="-122"/>
                <a:ea typeface="微软雅黑" panose="020B0503020204020204" charset="-122"/>
              </a:rPr>
              <a:t>机器浮点数</a:t>
            </a:r>
            <a:endParaRPr lang="zh-CN" altLang="en-US" dirty="0">
              <a:solidFill>
                <a:srgbClr val="0000FF"/>
              </a:solidFill>
              <a:latin typeface="微软雅黑" panose="020B0503020204020204" charset="-122"/>
              <a:ea typeface="微软雅黑" panose="020B0503020204020204" charset="-122"/>
            </a:endParaRPr>
          </a:p>
        </p:txBody>
      </p:sp>
      <p:sp>
        <p:nvSpPr>
          <p:cNvPr id="73730" name="Rectangle 3"/>
          <p:cNvSpPr>
            <a:spLocks noGrp="1" noRot="1"/>
          </p:cNvSpPr>
          <p:nvPr>
            <p:ph type="body" sz="half" idx="1"/>
          </p:nvPr>
        </p:nvSpPr>
        <p:spPr>
          <a:xfrm>
            <a:off x="301625" y="1358900"/>
            <a:ext cx="8447088" cy="2787650"/>
          </a:xfrm>
          <a:noFill/>
          <a:ln>
            <a:noFill/>
          </a:ln>
        </p:spPr>
        <p:txBody>
          <a:bodyPr anchor="t"/>
          <a:p>
            <a:pPr>
              <a:buClr>
                <a:schemeClr val="tx2"/>
              </a:buClr>
              <a:buSzTx/>
              <a:buFont typeface="Wingdings" panose="05000000000000000000" pitchFamily="2" charset="2"/>
              <a:buChar char="u"/>
            </a:pPr>
            <a:r>
              <a:rPr lang="zh-CN" altLang="en-US" sz="3200" dirty="0">
                <a:solidFill>
                  <a:schemeClr val="tx2"/>
                </a:solidFill>
                <a:latin typeface="微软雅黑" panose="020B0503020204020204" charset="-122"/>
                <a:ea typeface="微软雅黑" panose="020B0503020204020204" charset="-122"/>
              </a:rPr>
              <a:t>机器浮点数由</a:t>
            </a:r>
            <a:r>
              <a:rPr lang="zh-CN" altLang="en-US" sz="3200" dirty="0">
                <a:solidFill>
                  <a:srgbClr val="0000FF"/>
                </a:solidFill>
                <a:latin typeface="微软雅黑" panose="020B0503020204020204" charset="-122"/>
                <a:ea typeface="微软雅黑" panose="020B0503020204020204" charset="-122"/>
              </a:rPr>
              <a:t>阶码、尾数</a:t>
            </a:r>
            <a:r>
              <a:rPr lang="zh-CN" altLang="en-US" sz="3200" dirty="0">
                <a:solidFill>
                  <a:schemeClr val="tx2"/>
                </a:solidFill>
                <a:latin typeface="微软雅黑" panose="020B0503020204020204" charset="-122"/>
                <a:ea typeface="微软雅黑" panose="020B0503020204020204" charset="-122"/>
              </a:rPr>
              <a:t>及其</a:t>
            </a:r>
            <a:r>
              <a:rPr lang="zh-CN" altLang="en-US" sz="3200" dirty="0">
                <a:solidFill>
                  <a:srgbClr val="0000FF"/>
                </a:solidFill>
                <a:latin typeface="微软雅黑" panose="020B0503020204020204" charset="-122"/>
                <a:ea typeface="微软雅黑" panose="020B0503020204020204" charset="-122"/>
              </a:rPr>
              <a:t>符号位</a:t>
            </a:r>
            <a:r>
              <a:rPr lang="zh-CN" altLang="en-US" sz="3200" dirty="0">
                <a:solidFill>
                  <a:schemeClr val="tx2"/>
                </a:solidFill>
                <a:latin typeface="微软雅黑" panose="020B0503020204020204" charset="-122"/>
                <a:ea typeface="微软雅黑" panose="020B0503020204020204" charset="-122"/>
              </a:rPr>
              <a:t>组成</a:t>
            </a:r>
            <a:r>
              <a:rPr lang="zh-CN" altLang="en-US" sz="3200" dirty="0">
                <a:latin typeface="微软雅黑" panose="020B0503020204020204" charset="-122"/>
                <a:ea typeface="微软雅黑" panose="020B0503020204020204" charset="-122"/>
              </a:rPr>
              <a:t>：</a:t>
            </a:r>
            <a:endParaRPr lang="zh-CN" altLang="en-US" sz="3200" dirty="0">
              <a:latin typeface="微软雅黑" panose="020B0503020204020204" charset="-122"/>
              <a:ea typeface="微软雅黑" panose="020B0503020204020204" charset="-122"/>
            </a:endParaRPr>
          </a:p>
          <a:p>
            <a:pPr lvl="1">
              <a:spcBef>
                <a:spcPts val="1800"/>
              </a:spcBef>
            </a:pPr>
            <a:r>
              <a:rPr lang="zh-CN" altLang="en-US" sz="2400" b="1" dirty="0">
                <a:solidFill>
                  <a:srgbClr val="FF3300"/>
                </a:solidFill>
                <a:latin typeface="微软雅黑" panose="020B0503020204020204" charset="-122"/>
                <a:ea typeface="微软雅黑" panose="020B0503020204020204" charset="-122"/>
              </a:rPr>
              <a:t>尾数</a:t>
            </a:r>
            <a:r>
              <a:rPr lang="zh-CN" altLang="en-US" sz="2400" b="1" dirty="0">
                <a:solidFill>
                  <a:schemeClr val="accent1"/>
                </a:solidFill>
                <a:latin typeface="微软雅黑" panose="020B0503020204020204" charset="-122"/>
                <a:ea typeface="微软雅黑" panose="020B0503020204020204" charset="-122"/>
              </a:rPr>
              <a:t>：</a:t>
            </a:r>
            <a:r>
              <a:rPr lang="zh-CN" altLang="en-US" sz="2400" b="1" dirty="0">
                <a:solidFill>
                  <a:srgbClr val="000066"/>
                </a:solidFill>
                <a:latin typeface="微软雅黑" panose="020B0503020204020204" charset="-122"/>
                <a:ea typeface="微软雅黑" panose="020B0503020204020204" charset="-122"/>
              </a:rPr>
              <a:t>用定点小数表示，给出有效数字的位数，决定浮点数的表示</a:t>
            </a:r>
            <a:r>
              <a:rPr lang="zh-CN" altLang="en-US" sz="2400" b="1" dirty="0">
                <a:solidFill>
                  <a:srgbClr val="FF3300"/>
                </a:solidFill>
                <a:latin typeface="微软雅黑" panose="020B0503020204020204" charset="-122"/>
                <a:ea typeface="微软雅黑" panose="020B0503020204020204" charset="-122"/>
              </a:rPr>
              <a:t>精度</a:t>
            </a:r>
            <a:r>
              <a:rPr lang="zh-CN" altLang="en-US" sz="2400" b="1" dirty="0">
                <a:solidFill>
                  <a:schemeClr val="accent1"/>
                </a:solidFill>
                <a:latin typeface="微软雅黑" panose="020B0503020204020204" charset="-122"/>
                <a:ea typeface="微软雅黑" panose="020B0503020204020204" charset="-122"/>
              </a:rPr>
              <a:t>；</a:t>
            </a:r>
            <a:endParaRPr lang="zh-CN" altLang="en-US" sz="2400" b="1" dirty="0">
              <a:solidFill>
                <a:schemeClr val="accent1"/>
              </a:solidFill>
              <a:latin typeface="微软雅黑" panose="020B0503020204020204" charset="-122"/>
              <a:ea typeface="微软雅黑" panose="020B0503020204020204" charset="-122"/>
            </a:endParaRPr>
          </a:p>
          <a:p>
            <a:pPr lvl="1">
              <a:spcBef>
                <a:spcPts val="1800"/>
              </a:spcBef>
            </a:pPr>
            <a:r>
              <a:rPr lang="zh-CN" altLang="en-US" sz="2400" b="1" dirty="0">
                <a:solidFill>
                  <a:srgbClr val="FF3300"/>
                </a:solidFill>
                <a:latin typeface="微软雅黑" panose="020B0503020204020204" charset="-122"/>
                <a:ea typeface="微软雅黑" panose="020B0503020204020204" charset="-122"/>
              </a:rPr>
              <a:t>阶码</a:t>
            </a:r>
            <a:r>
              <a:rPr lang="zh-CN" altLang="en-US" sz="2400" b="1" dirty="0">
                <a:solidFill>
                  <a:schemeClr val="accent1"/>
                </a:solidFill>
                <a:latin typeface="微软雅黑" panose="020B0503020204020204" charset="-122"/>
                <a:ea typeface="微软雅黑" panose="020B0503020204020204" charset="-122"/>
              </a:rPr>
              <a:t>：</a:t>
            </a:r>
            <a:r>
              <a:rPr lang="zh-CN" altLang="en-US" sz="2400" b="1" dirty="0">
                <a:solidFill>
                  <a:srgbClr val="000066"/>
                </a:solidFill>
                <a:latin typeface="微软雅黑" panose="020B0503020204020204" charset="-122"/>
                <a:ea typeface="微软雅黑" panose="020B0503020204020204" charset="-122"/>
              </a:rPr>
              <a:t>用整数形式表示，指明小数点在数据中的位置，决定浮点数的表示</a:t>
            </a:r>
            <a:r>
              <a:rPr lang="zh-CN" altLang="en-US" sz="2400" b="1" dirty="0">
                <a:solidFill>
                  <a:srgbClr val="FF3300"/>
                </a:solidFill>
                <a:latin typeface="微软雅黑" panose="020B0503020204020204" charset="-122"/>
                <a:ea typeface="微软雅黑" panose="020B0503020204020204" charset="-122"/>
              </a:rPr>
              <a:t>范围</a:t>
            </a:r>
            <a:r>
              <a:rPr lang="zh-CN" altLang="en-US" sz="2400" b="1" dirty="0">
                <a:solidFill>
                  <a:srgbClr val="000066"/>
                </a:solidFill>
                <a:latin typeface="微软雅黑" panose="020B0503020204020204" charset="-122"/>
                <a:ea typeface="微软雅黑" panose="020B0503020204020204" charset="-122"/>
              </a:rPr>
              <a:t>。</a:t>
            </a:r>
            <a:endParaRPr lang="zh-CN" altLang="en-US" sz="2400" b="1" dirty="0">
              <a:solidFill>
                <a:srgbClr val="000066"/>
              </a:solidFill>
              <a:latin typeface="微软雅黑" panose="020B0503020204020204" charset="-122"/>
              <a:ea typeface="微软雅黑" panose="020B0503020204020204" charset="-122"/>
            </a:endParaRPr>
          </a:p>
        </p:txBody>
      </p:sp>
      <p:graphicFrame>
        <p:nvGraphicFramePr>
          <p:cNvPr id="13370" name="Group 58"/>
          <p:cNvGraphicFramePr>
            <a:graphicFrameLocks noGrp="1"/>
          </p:cNvGraphicFramePr>
          <p:nvPr>
            <p:ph sz="half" idx="4294967295"/>
          </p:nvPr>
        </p:nvGraphicFramePr>
        <p:xfrm>
          <a:off x="684213" y="4338638"/>
          <a:ext cx="7848600" cy="1393825"/>
        </p:xfrm>
        <a:graphic>
          <a:graphicData uri="http://schemas.openxmlformats.org/drawingml/2006/table">
            <a:tbl>
              <a:tblPr/>
              <a:tblGrid>
                <a:gridCol w="1074737"/>
                <a:gridCol w="2844800"/>
                <a:gridCol w="1076325"/>
                <a:gridCol w="2852738"/>
              </a:tblGrid>
              <a:tr h="692150">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3200" b="1" i="0" u="none" strike="noStrike" cap="none" normalizeH="0" baseline="0">
                          <a:ln>
                            <a:noFill/>
                          </a:ln>
                          <a:solidFill>
                            <a:schemeClr val="tx1"/>
                          </a:solidFill>
                          <a:effectLst/>
                          <a:latin typeface="微软雅黑" panose="020B0503020204020204" charset="-122"/>
                          <a:ea typeface="微软雅黑" panose="020B0503020204020204" charset="-122"/>
                        </a:rPr>
                        <a:t>E</a:t>
                      </a:r>
                      <a:r>
                        <a:rPr kumimoji="1" lang="en-US" altLang="zh-CN" sz="3200" b="1" i="0" u="none" strike="noStrike" cap="none" normalizeH="0" baseline="-25000">
                          <a:ln>
                            <a:noFill/>
                          </a:ln>
                          <a:solidFill>
                            <a:schemeClr val="tx1"/>
                          </a:solidFill>
                          <a:effectLst/>
                          <a:latin typeface="微软雅黑" panose="020B0503020204020204" charset="-122"/>
                          <a:ea typeface="微软雅黑" panose="020B0503020204020204" charset="-122"/>
                        </a:rPr>
                        <a:t>s</a:t>
                      </a:r>
                      <a:endParaRPr kumimoji="1" lang="en-US" altLang="zh-CN" sz="3200" b="1" i="0" u="none" strike="noStrike" cap="none" normalizeH="0" baseline="-25000">
                        <a:ln>
                          <a:noFill/>
                        </a:ln>
                        <a:solidFill>
                          <a:schemeClr val="tx1"/>
                        </a:solidFill>
                        <a:effectLst/>
                        <a:latin typeface="微软雅黑" panose="020B0503020204020204" charset="-122"/>
                        <a:ea typeface="微软雅黑" panose="020B0503020204020204"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3200" b="1" i="0" u="none" strike="noStrike" cap="none" normalizeH="0" baseline="0">
                          <a:ln>
                            <a:noFill/>
                          </a:ln>
                          <a:solidFill>
                            <a:schemeClr val="tx1"/>
                          </a:solidFill>
                          <a:effectLst/>
                          <a:latin typeface="微软雅黑" panose="020B0503020204020204" charset="-122"/>
                          <a:ea typeface="微软雅黑" panose="020B0503020204020204" charset="-122"/>
                        </a:rPr>
                        <a:t>E</a:t>
                      </a:r>
                      <a:r>
                        <a:rPr kumimoji="1" lang="en-US" altLang="zh-CN" sz="3200" b="1" i="0" u="none" strike="noStrike" cap="none" normalizeH="0" baseline="-25000">
                          <a:ln>
                            <a:noFill/>
                          </a:ln>
                          <a:solidFill>
                            <a:schemeClr val="tx1"/>
                          </a:solidFill>
                          <a:effectLst/>
                          <a:latin typeface="微软雅黑" panose="020B0503020204020204" charset="-122"/>
                          <a:ea typeface="微软雅黑" panose="020B0503020204020204" charset="-122"/>
                        </a:rPr>
                        <a:t>1   </a:t>
                      </a:r>
                      <a:r>
                        <a:rPr kumimoji="1" lang="en-US" altLang="zh-CN" sz="3200" b="1" i="0" u="none" strike="noStrike" cap="none" normalizeH="0" baseline="0">
                          <a:ln>
                            <a:noFill/>
                          </a:ln>
                          <a:solidFill>
                            <a:schemeClr val="tx1"/>
                          </a:solidFill>
                          <a:effectLst/>
                          <a:latin typeface="微软雅黑" panose="020B0503020204020204" charset="-122"/>
                          <a:ea typeface="微软雅黑" panose="020B0503020204020204" charset="-122"/>
                        </a:rPr>
                        <a:t>E</a:t>
                      </a:r>
                      <a:r>
                        <a:rPr kumimoji="1" lang="en-US" altLang="zh-CN" sz="3200" b="1" i="0" u="none" strike="noStrike" cap="none" normalizeH="0" baseline="-25000">
                          <a:ln>
                            <a:noFill/>
                          </a:ln>
                          <a:solidFill>
                            <a:schemeClr val="tx1"/>
                          </a:solidFill>
                          <a:effectLst/>
                          <a:latin typeface="微软雅黑" panose="020B0503020204020204" charset="-122"/>
                          <a:ea typeface="微软雅黑" panose="020B0503020204020204" charset="-122"/>
                        </a:rPr>
                        <a:t>2</a:t>
                      </a:r>
                      <a:r>
                        <a:rPr kumimoji="1" lang="en-US" altLang="zh-CN" sz="3200" b="1" i="0" u="none" strike="noStrike" cap="none" normalizeH="0" baseline="0">
                          <a:ln>
                            <a:noFill/>
                          </a:ln>
                          <a:solidFill>
                            <a:schemeClr val="tx1"/>
                          </a:solidFill>
                          <a:effectLst/>
                          <a:latin typeface="微软雅黑" panose="020B0503020204020204" charset="-122"/>
                          <a:ea typeface="微软雅黑" panose="020B0503020204020204" charset="-122"/>
                        </a:rPr>
                        <a:t> .... E</a:t>
                      </a:r>
                      <a:r>
                        <a:rPr kumimoji="1" lang="en-US" altLang="zh-CN" sz="3200" b="1" i="0" u="none" strike="noStrike" cap="none" normalizeH="0" baseline="-25000">
                          <a:ln>
                            <a:noFill/>
                          </a:ln>
                          <a:solidFill>
                            <a:schemeClr val="tx1"/>
                          </a:solidFill>
                          <a:effectLst/>
                          <a:latin typeface="微软雅黑" panose="020B0503020204020204" charset="-122"/>
                          <a:ea typeface="微软雅黑" panose="020B0503020204020204" charset="-122"/>
                        </a:rPr>
                        <a:t>m</a:t>
                      </a:r>
                      <a:endParaRPr kumimoji="1" lang="en-US" altLang="zh-CN" sz="3200" b="1" i="0" u="none" strike="noStrike" cap="none" normalizeH="0" baseline="-25000">
                        <a:ln>
                          <a:noFill/>
                        </a:ln>
                        <a:solidFill>
                          <a:schemeClr val="tx1"/>
                        </a:solidFill>
                        <a:effectLst/>
                        <a:latin typeface="微软雅黑" panose="020B0503020204020204" charset="-122"/>
                        <a:ea typeface="微软雅黑" panose="020B050302020402020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3200" b="1" i="0" u="none" strike="noStrike" cap="none" normalizeH="0" baseline="0">
                          <a:ln>
                            <a:noFill/>
                          </a:ln>
                          <a:solidFill>
                            <a:schemeClr val="tx1"/>
                          </a:solidFill>
                          <a:effectLst/>
                          <a:latin typeface="微软雅黑" panose="020B0503020204020204" charset="-122"/>
                          <a:ea typeface="微软雅黑" panose="020B0503020204020204" charset="-122"/>
                        </a:rPr>
                        <a:t>M</a:t>
                      </a:r>
                      <a:r>
                        <a:rPr kumimoji="1" lang="en-US" altLang="zh-CN" sz="3200" b="1" i="0" u="none" strike="noStrike" cap="none" normalizeH="0" baseline="-25000">
                          <a:ln>
                            <a:noFill/>
                          </a:ln>
                          <a:solidFill>
                            <a:schemeClr val="tx1"/>
                          </a:solidFill>
                          <a:effectLst/>
                          <a:latin typeface="微软雅黑" panose="020B0503020204020204" charset="-122"/>
                          <a:ea typeface="微软雅黑" panose="020B0503020204020204" charset="-122"/>
                        </a:rPr>
                        <a:t>s</a:t>
                      </a:r>
                      <a:endParaRPr kumimoji="1" lang="en-US" altLang="zh-CN" sz="3200" b="1" i="0" u="none" strike="noStrike" cap="none" normalizeH="0" baseline="-25000">
                        <a:ln>
                          <a:noFill/>
                        </a:ln>
                        <a:solidFill>
                          <a:schemeClr val="tx1"/>
                        </a:solidFill>
                        <a:effectLst/>
                        <a:latin typeface="微软雅黑" panose="020B0503020204020204" charset="-122"/>
                        <a:ea typeface="微软雅黑" panose="020B050302020402020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3200" b="1" i="0" u="none" strike="noStrike" cap="none" normalizeH="0" baseline="0">
                          <a:ln>
                            <a:noFill/>
                          </a:ln>
                          <a:solidFill>
                            <a:schemeClr val="tx1"/>
                          </a:solidFill>
                          <a:effectLst/>
                          <a:latin typeface="微软雅黑" panose="020B0503020204020204" charset="-122"/>
                          <a:ea typeface="微软雅黑" panose="020B0503020204020204" charset="-122"/>
                        </a:rPr>
                        <a:t>M</a:t>
                      </a:r>
                      <a:r>
                        <a:rPr kumimoji="1" lang="en-US" altLang="zh-CN" sz="3200" b="1" i="0" u="none" strike="noStrike" cap="none" normalizeH="0" baseline="-25000">
                          <a:ln>
                            <a:noFill/>
                          </a:ln>
                          <a:solidFill>
                            <a:schemeClr val="tx1"/>
                          </a:solidFill>
                          <a:effectLst/>
                          <a:latin typeface="微软雅黑" panose="020B0503020204020204" charset="-122"/>
                          <a:ea typeface="微软雅黑" panose="020B0503020204020204" charset="-122"/>
                        </a:rPr>
                        <a:t>1  </a:t>
                      </a:r>
                      <a:r>
                        <a:rPr kumimoji="1" lang="en-US" altLang="zh-CN" sz="3200" b="1" i="0" u="none" strike="noStrike" cap="none" normalizeH="0" baseline="0">
                          <a:ln>
                            <a:noFill/>
                          </a:ln>
                          <a:solidFill>
                            <a:schemeClr val="tx1"/>
                          </a:solidFill>
                          <a:effectLst/>
                          <a:latin typeface="微软雅黑" panose="020B0503020204020204" charset="-122"/>
                          <a:ea typeface="微软雅黑" panose="020B0503020204020204" charset="-122"/>
                        </a:rPr>
                        <a:t>M</a:t>
                      </a:r>
                      <a:r>
                        <a:rPr kumimoji="1" lang="en-US" altLang="zh-CN" sz="3200" b="1" i="0" u="none" strike="noStrike" cap="none" normalizeH="0" baseline="-25000">
                          <a:ln>
                            <a:noFill/>
                          </a:ln>
                          <a:solidFill>
                            <a:schemeClr val="tx1"/>
                          </a:solidFill>
                          <a:effectLst/>
                          <a:latin typeface="微软雅黑" panose="020B0503020204020204" charset="-122"/>
                          <a:ea typeface="微软雅黑" panose="020B0503020204020204" charset="-122"/>
                        </a:rPr>
                        <a:t>2</a:t>
                      </a:r>
                      <a:r>
                        <a:rPr kumimoji="1" lang="en-US" altLang="zh-CN" sz="3200" b="1" i="0" u="none" strike="noStrike" cap="none" normalizeH="0" baseline="0">
                          <a:ln>
                            <a:noFill/>
                          </a:ln>
                          <a:solidFill>
                            <a:schemeClr val="tx1"/>
                          </a:solidFill>
                          <a:effectLst/>
                          <a:latin typeface="微软雅黑" panose="020B0503020204020204" charset="-122"/>
                          <a:ea typeface="微软雅黑" panose="020B0503020204020204" charset="-122"/>
                        </a:rPr>
                        <a:t> .... M</a:t>
                      </a:r>
                      <a:r>
                        <a:rPr kumimoji="1" lang="en-US" altLang="zh-CN" sz="3200" b="1" i="0" u="none" strike="noStrike" cap="none" normalizeH="0" baseline="-25000">
                          <a:ln>
                            <a:noFill/>
                          </a:ln>
                          <a:solidFill>
                            <a:schemeClr val="tx1"/>
                          </a:solidFill>
                          <a:effectLst/>
                          <a:latin typeface="微软雅黑" panose="020B0503020204020204" charset="-122"/>
                          <a:ea typeface="微软雅黑" panose="020B0503020204020204" charset="-122"/>
                        </a:rPr>
                        <a:t>n</a:t>
                      </a:r>
                      <a:endParaRPr kumimoji="1" lang="en-US" altLang="zh-CN" sz="3200" b="1" i="0" u="none" strike="noStrike" cap="none" normalizeH="0" baseline="-25000">
                        <a:ln>
                          <a:noFill/>
                        </a:ln>
                        <a:solidFill>
                          <a:schemeClr val="tx1"/>
                        </a:solidFill>
                        <a:effectLst/>
                        <a:latin typeface="微软雅黑" panose="020B0503020204020204" charset="-122"/>
                        <a:ea typeface="微软雅黑" panose="020B0503020204020204"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1675">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zh-CN" altLang="en-US" sz="3200" b="1" i="0" u="none" strike="noStrike" cap="none" normalizeH="0" baseline="0">
                          <a:ln>
                            <a:noFill/>
                          </a:ln>
                          <a:solidFill>
                            <a:srgbClr val="000099"/>
                          </a:solidFill>
                          <a:effectLst/>
                          <a:latin typeface="微软雅黑" panose="020B0503020204020204" charset="-122"/>
                          <a:ea typeface="微软雅黑" panose="020B0503020204020204" charset="-122"/>
                        </a:rPr>
                        <a:t>阶符</a:t>
                      </a:r>
                      <a:endParaRPr kumimoji="1" lang="zh-CN" altLang="en-US" sz="3200" b="1" i="0" u="none" strike="noStrike" cap="none" normalizeH="0" baseline="0">
                        <a:ln>
                          <a:noFill/>
                        </a:ln>
                        <a:solidFill>
                          <a:srgbClr val="000099"/>
                        </a:solidFill>
                        <a:effectLst/>
                        <a:latin typeface="微软雅黑" panose="020B0503020204020204" charset="-122"/>
                        <a:ea typeface="微软雅黑" panose="020B0503020204020204"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zh-CN" altLang="en-US" sz="3200" b="1" i="0" u="none" strike="noStrike" cap="none" normalizeH="0" baseline="0">
                          <a:ln>
                            <a:noFill/>
                          </a:ln>
                          <a:solidFill>
                            <a:srgbClr val="000099"/>
                          </a:solidFill>
                          <a:effectLst/>
                          <a:latin typeface="微软雅黑" panose="020B0503020204020204" charset="-122"/>
                          <a:ea typeface="微软雅黑" panose="020B0503020204020204" charset="-122"/>
                        </a:rPr>
                        <a:t>阶码</a:t>
                      </a:r>
                      <a:endParaRPr kumimoji="1" lang="zh-CN" altLang="en-US" sz="3200" b="1" i="0" u="none" strike="noStrike" cap="none" normalizeH="0" baseline="0">
                        <a:ln>
                          <a:noFill/>
                        </a:ln>
                        <a:solidFill>
                          <a:srgbClr val="000099"/>
                        </a:solidFill>
                        <a:effectLst/>
                        <a:latin typeface="微软雅黑" panose="020B0503020204020204" charset="-122"/>
                        <a:ea typeface="微软雅黑" panose="020B050302020402020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zh-CN" altLang="en-US" sz="3200" b="1" i="0" u="none" strike="noStrike" cap="none" normalizeH="0" baseline="0">
                          <a:ln>
                            <a:noFill/>
                          </a:ln>
                          <a:solidFill>
                            <a:srgbClr val="000099"/>
                          </a:solidFill>
                          <a:effectLst/>
                          <a:latin typeface="微软雅黑" panose="020B0503020204020204" charset="-122"/>
                          <a:ea typeface="微软雅黑" panose="020B0503020204020204" charset="-122"/>
                        </a:rPr>
                        <a:t>数符</a:t>
                      </a:r>
                      <a:endParaRPr kumimoji="1" lang="zh-CN" altLang="en-US" sz="3200" b="1" i="0" u="none" strike="noStrike" cap="none" normalizeH="0" baseline="0">
                        <a:ln>
                          <a:noFill/>
                        </a:ln>
                        <a:solidFill>
                          <a:srgbClr val="000099"/>
                        </a:solidFill>
                        <a:effectLst/>
                        <a:latin typeface="微软雅黑" panose="020B0503020204020204" charset="-122"/>
                        <a:ea typeface="微软雅黑" panose="020B050302020402020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zh-CN" altLang="en-US" sz="3200" b="1" i="0" u="none" strike="noStrike" cap="none" normalizeH="0" baseline="0" dirty="0">
                          <a:ln>
                            <a:noFill/>
                          </a:ln>
                          <a:solidFill>
                            <a:srgbClr val="000099"/>
                          </a:solidFill>
                          <a:effectLst/>
                          <a:latin typeface="微软雅黑" panose="020B0503020204020204" charset="-122"/>
                          <a:ea typeface="微软雅黑" panose="020B0503020204020204" charset="-122"/>
                        </a:rPr>
                        <a:t>尾数</a:t>
                      </a:r>
                      <a:endParaRPr kumimoji="1" lang="zh-CN" altLang="en-US" sz="3200" b="1" i="0" u="none" strike="noStrike" cap="none" normalizeH="0" baseline="0" dirty="0">
                        <a:ln>
                          <a:noFill/>
                        </a:ln>
                        <a:solidFill>
                          <a:srgbClr val="000099"/>
                        </a:solidFill>
                        <a:effectLst/>
                        <a:latin typeface="微软雅黑" panose="020B0503020204020204" charset="-122"/>
                        <a:ea typeface="微软雅黑" panose="020B0503020204020204"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Rectangle 2"/>
          <p:cNvSpPr>
            <a:spLocks noGrp="1" noRot="1"/>
          </p:cNvSpPr>
          <p:nvPr>
            <p:ph type="title"/>
          </p:nvPr>
        </p:nvSpPr>
        <p:spPr>
          <a:noFill/>
          <a:ln>
            <a:noFill/>
          </a:ln>
        </p:spPr>
        <p:txBody>
          <a:bodyPr anchor="t"/>
          <a:p>
            <a:pPr>
              <a:buNone/>
            </a:pPr>
            <a:r>
              <a:rPr lang="zh-CN" altLang="en-US" dirty="0">
                <a:solidFill>
                  <a:srgbClr val="FF0000"/>
                </a:solidFill>
                <a:latin typeface="微软雅黑" panose="020B0503020204020204" charset="-122"/>
                <a:ea typeface="微软雅黑" panose="020B0503020204020204" charset="-122"/>
              </a:rPr>
              <a:t>浮点数的标准格式</a:t>
            </a:r>
            <a:endParaRPr lang="zh-CN" altLang="en-US" dirty="0">
              <a:solidFill>
                <a:srgbClr val="FF0000"/>
              </a:solidFill>
              <a:latin typeface="微软雅黑" panose="020B0503020204020204" charset="-122"/>
              <a:ea typeface="微软雅黑" panose="020B0503020204020204" charset="-122"/>
            </a:endParaRPr>
          </a:p>
        </p:txBody>
      </p:sp>
      <p:sp>
        <p:nvSpPr>
          <p:cNvPr id="75778" name="Rectangle 3"/>
          <p:cNvSpPr>
            <a:spLocks noGrp="1" noRot="1"/>
          </p:cNvSpPr>
          <p:nvPr>
            <p:ph type="body" sz="half" idx="1"/>
          </p:nvPr>
        </p:nvSpPr>
        <p:spPr>
          <a:xfrm>
            <a:off x="323850" y="1423988"/>
            <a:ext cx="8518525" cy="3243262"/>
          </a:xfrm>
          <a:noFill/>
          <a:ln>
            <a:noFill/>
          </a:ln>
        </p:spPr>
        <p:txBody>
          <a:bodyPr anchor="t"/>
          <a:p>
            <a:pPr>
              <a:lnSpc>
                <a:spcPct val="95000"/>
              </a:lnSpc>
              <a:buClr>
                <a:schemeClr val="tx2"/>
              </a:buClr>
              <a:buSzTx/>
              <a:buFont typeface="Wingdings" panose="05000000000000000000" pitchFamily="2" charset="2"/>
              <a:buChar char="u"/>
            </a:pPr>
            <a:r>
              <a:rPr lang="en-US" altLang="zh-CN" sz="3200" dirty="0">
                <a:solidFill>
                  <a:schemeClr val="tx2"/>
                </a:solidFill>
                <a:latin typeface="微软雅黑" panose="020B0503020204020204" charset="-122"/>
                <a:ea typeface="微软雅黑" panose="020B0503020204020204" charset="-122"/>
              </a:rPr>
              <a:t>IEEE(</a:t>
            </a:r>
            <a:r>
              <a:rPr lang="zh-CN" altLang="en-US" sz="3200" dirty="0">
                <a:solidFill>
                  <a:schemeClr val="tx2"/>
                </a:solidFill>
                <a:latin typeface="微软雅黑" panose="020B0503020204020204" charset="-122"/>
                <a:ea typeface="微软雅黑" panose="020B0503020204020204" charset="-122"/>
              </a:rPr>
              <a:t>国际电气和电子工程师协会</a:t>
            </a:r>
            <a:r>
              <a:rPr lang="en-US" altLang="zh-CN" sz="3200" dirty="0">
                <a:solidFill>
                  <a:schemeClr val="tx2"/>
                </a:solidFill>
                <a:latin typeface="微软雅黑" panose="020B0503020204020204" charset="-122"/>
                <a:ea typeface="微软雅黑" panose="020B0503020204020204" charset="-122"/>
              </a:rPr>
              <a:t>) IEEE754 </a:t>
            </a:r>
            <a:r>
              <a:rPr lang="zh-CN" altLang="zh-CN" sz="3200" dirty="0">
                <a:solidFill>
                  <a:schemeClr val="tx2"/>
                </a:solidFill>
                <a:latin typeface="微软雅黑" panose="020B0503020204020204" charset="-122"/>
                <a:ea typeface="微软雅黑" panose="020B0503020204020204" charset="-122"/>
              </a:rPr>
              <a:t>标准：</a:t>
            </a:r>
            <a:endParaRPr lang="zh-CN" altLang="en-US" sz="3200" dirty="0">
              <a:solidFill>
                <a:schemeClr val="tx2"/>
              </a:solidFill>
              <a:latin typeface="微软雅黑" panose="020B0503020204020204" charset="-122"/>
              <a:ea typeface="微软雅黑" panose="020B0503020204020204" charset="-122"/>
            </a:endParaRPr>
          </a:p>
          <a:p>
            <a:pPr lvl="1">
              <a:spcBef>
                <a:spcPts val="1200"/>
              </a:spcBef>
            </a:pPr>
            <a:r>
              <a:rPr lang="zh-CN" altLang="zh-CN" sz="2400" b="1" dirty="0">
                <a:solidFill>
                  <a:srgbClr val="FF0000"/>
                </a:solidFill>
                <a:latin typeface="微软雅黑" panose="020B0503020204020204" charset="-122"/>
                <a:ea typeface="微软雅黑" panose="020B0503020204020204" charset="-122"/>
              </a:rPr>
              <a:t>尾数用原码</a:t>
            </a:r>
            <a:r>
              <a:rPr lang="zh-CN" altLang="en-US" sz="2400" b="1" dirty="0">
                <a:solidFill>
                  <a:srgbClr val="FF0000"/>
                </a:solidFill>
                <a:latin typeface="微软雅黑" panose="020B0503020204020204" charset="-122"/>
                <a:ea typeface="微软雅黑" panose="020B0503020204020204" charset="-122"/>
              </a:rPr>
              <a:t>；</a:t>
            </a:r>
            <a:r>
              <a:rPr lang="zh-CN" altLang="zh-CN" sz="2400" b="1" dirty="0">
                <a:solidFill>
                  <a:srgbClr val="FF0000"/>
                </a:solidFill>
                <a:latin typeface="微软雅黑" panose="020B0503020204020204" charset="-122"/>
                <a:ea typeface="微软雅黑" panose="020B0503020204020204" charset="-122"/>
              </a:rPr>
              <a:t>阶码用移码</a:t>
            </a:r>
            <a:r>
              <a:rPr lang="zh-CN" altLang="zh-CN" sz="2400" b="1" dirty="0">
                <a:solidFill>
                  <a:srgbClr val="000066"/>
                </a:solidFill>
                <a:latin typeface="微软雅黑" panose="020B0503020204020204" charset="-122"/>
                <a:ea typeface="微软雅黑" panose="020B0503020204020204" charset="-122"/>
              </a:rPr>
              <a:t>，基为2；</a:t>
            </a:r>
            <a:endParaRPr lang="zh-CN" altLang="en-US" sz="2400" b="1" dirty="0">
              <a:solidFill>
                <a:srgbClr val="000066"/>
              </a:solidFill>
              <a:latin typeface="微软雅黑" panose="020B0503020204020204" charset="-122"/>
              <a:ea typeface="微软雅黑" panose="020B0503020204020204" charset="-122"/>
            </a:endParaRPr>
          </a:p>
          <a:p>
            <a:pPr lvl="1">
              <a:spcBef>
                <a:spcPts val="1200"/>
              </a:spcBef>
            </a:pPr>
            <a:r>
              <a:rPr lang="en-US" altLang="zh-CN" sz="2400" b="1" dirty="0">
                <a:solidFill>
                  <a:srgbClr val="000066"/>
                </a:solidFill>
                <a:latin typeface="微软雅黑" panose="020B0503020204020204" charset="-122"/>
                <a:ea typeface="微软雅黑" panose="020B0503020204020204" charset="-122"/>
              </a:rPr>
              <a:t>S---</a:t>
            </a:r>
            <a:r>
              <a:rPr lang="zh-CN" altLang="en-US" sz="2400" b="1" dirty="0">
                <a:solidFill>
                  <a:srgbClr val="000066"/>
                </a:solidFill>
                <a:latin typeface="微软雅黑" panose="020B0503020204020204" charset="-122"/>
                <a:ea typeface="微软雅黑" panose="020B0503020204020204" charset="-122"/>
              </a:rPr>
              <a:t>尾数符号，</a:t>
            </a:r>
            <a:r>
              <a:rPr lang="en-US" altLang="zh-CN" sz="2400" b="1" dirty="0">
                <a:solidFill>
                  <a:srgbClr val="000066"/>
                </a:solidFill>
                <a:latin typeface="微软雅黑" panose="020B0503020204020204" charset="-122"/>
                <a:ea typeface="微软雅黑" panose="020B0503020204020204" charset="-122"/>
              </a:rPr>
              <a:t>0</a:t>
            </a:r>
            <a:r>
              <a:rPr lang="zh-CN" altLang="en-US" sz="2400" b="1" dirty="0">
                <a:solidFill>
                  <a:srgbClr val="000066"/>
                </a:solidFill>
                <a:latin typeface="微软雅黑" panose="020B0503020204020204" charset="-122"/>
                <a:ea typeface="微软雅黑" panose="020B0503020204020204" charset="-122"/>
              </a:rPr>
              <a:t>正</a:t>
            </a:r>
            <a:r>
              <a:rPr lang="en-US" altLang="zh-CN" sz="2400" b="1" dirty="0">
                <a:solidFill>
                  <a:srgbClr val="000066"/>
                </a:solidFill>
                <a:latin typeface="微软雅黑" panose="020B0503020204020204" charset="-122"/>
                <a:ea typeface="微软雅黑" panose="020B0503020204020204" charset="-122"/>
              </a:rPr>
              <a:t>1</a:t>
            </a:r>
            <a:r>
              <a:rPr lang="zh-CN" altLang="en-US" sz="2400" b="1" dirty="0">
                <a:solidFill>
                  <a:srgbClr val="000066"/>
                </a:solidFill>
                <a:latin typeface="微软雅黑" panose="020B0503020204020204" charset="-122"/>
                <a:ea typeface="微软雅黑" panose="020B0503020204020204" charset="-122"/>
              </a:rPr>
              <a:t>负；</a:t>
            </a:r>
            <a:endParaRPr lang="zh-CN" altLang="en-US" sz="2400" b="1" dirty="0">
              <a:solidFill>
                <a:srgbClr val="000066"/>
              </a:solidFill>
              <a:latin typeface="微软雅黑" panose="020B0503020204020204" charset="-122"/>
              <a:ea typeface="微软雅黑" panose="020B0503020204020204" charset="-122"/>
            </a:endParaRPr>
          </a:p>
          <a:p>
            <a:pPr lvl="1">
              <a:spcBef>
                <a:spcPts val="1200"/>
              </a:spcBef>
            </a:pPr>
            <a:r>
              <a:rPr lang="en-US" altLang="zh-CN" sz="2400" b="1" dirty="0">
                <a:solidFill>
                  <a:srgbClr val="000066"/>
                </a:solidFill>
                <a:latin typeface="微软雅黑" panose="020B0503020204020204" charset="-122"/>
                <a:ea typeface="微软雅黑" panose="020B0503020204020204" charset="-122"/>
              </a:rPr>
              <a:t>M---</a:t>
            </a:r>
            <a:r>
              <a:rPr lang="zh-CN" altLang="en-US" sz="2400" b="1" dirty="0">
                <a:solidFill>
                  <a:srgbClr val="000066"/>
                </a:solidFill>
                <a:latin typeface="微软雅黑" panose="020B0503020204020204" charset="-122"/>
                <a:ea typeface="微软雅黑" panose="020B0503020204020204" charset="-122"/>
              </a:rPr>
              <a:t>尾数</a:t>
            </a:r>
            <a:r>
              <a:rPr lang="en-US" altLang="zh-CN" sz="2400" b="1" dirty="0">
                <a:solidFill>
                  <a:srgbClr val="000066"/>
                </a:solidFill>
                <a:latin typeface="微软雅黑" panose="020B0503020204020204" charset="-122"/>
                <a:ea typeface="微软雅黑" panose="020B0503020204020204" charset="-122"/>
              </a:rPr>
              <a:t>, </a:t>
            </a:r>
            <a:r>
              <a:rPr lang="zh-CN" altLang="en-US" sz="2400" b="1" dirty="0">
                <a:solidFill>
                  <a:srgbClr val="000066"/>
                </a:solidFill>
                <a:latin typeface="微软雅黑" panose="020B0503020204020204" charset="-122"/>
                <a:ea typeface="微软雅黑" panose="020B0503020204020204" charset="-122"/>
              </a:rPr>
              <a:t>纯小数表示</a:t>
            </a:r>
            <a:r>
              <a:rPr lang="en-US" altLang="zh-CN" sz="2400" b="1" dirty="0">
                <a:solidFill>
                  <a:srgbClr val="000066"/>
                </a:solidFill>
                <a:latin typeface="微软雅黑" panose="020B0503020204020204" charset="-122"/>
                <a:ea typeface="微软雅黑" panose="020B0503020204020204" charset="-122"/>
              </a:rPr>
              <a:t>, </a:t>
            </a:r>
            <a:r>
              <a:rPr lang="zh-CN" altLang="en-US" sz="2400" b="1" dirty="0">
                <a:solidFill>
                  <a:srgbClr val="000066"/>
                </a:solidFill>
                <a:latin typeface="微软雅黑" panose="020B0503020204020204" charset="-122"/>
                <a:ea typeface="微软雅黑" panose="020B0503020204020204" charset="-122"/>
              </a:rPr>
              <a:t>小数点在尾数域最前；</a:t>
            </a:r>
            <a:endParaRPr lang="zh-CN" altLang="en-US" sz="2400" b="1" dirty="0">
              <a:solidFill>
                <a:srgbClr val="000066"/>
              </a:solidFill>
              <a:latin typeface="微软雅黑" panose="020B0503020204020204" charset="-122"/>
              <a:ea typeface="微软雅黑" panose="020B0503020204020204" charset="-122"/>
            </a:endParaRPr>
          </a:p>
          <a:p>
            <a:pPr lvl="1">
              <a:spcBef>
                <a:spcPts val="1200"/>
              </a:spcBef>
            </a:pPr>
            <a:r>
              <a:rPr lang="en-US" altLang="zh-CN" sz="2400" b="1" dirty="0">
                <a:solidFill>
                  <a:srgbClr val="000066"/>
                </a:solidFill>
                <a:latin typeface="微软雅黑" panose="020B0503020204020204" charset="-122"/>
                <a:ea typeface="微软雅黑" panose="020B0503020204020204" charset="-122"/>
              </a:rPr>
              <a:t>E---</a:t>
            </a:r>
            <a:r>
              <a:rPr lang="zh-CN" altLang="en-US" sz="2400" b="1" dirty="0">
                <a:solidFill>
                  <a:srgbClr val="000066"/>
                </a:solidFill>
                <a:latin typeface="微软雅黑" panose="020B0503020204020204" charset="-122"/>
                <a:ea typeface="微软雅黑" panose="020B0503020204020204" charset="-122"/>
              </a:rPr>
              <a:t>阶码，采用移码方法来表示正负指数。</a:t>
            </a:r>
            <a:endParaRPr lang="zh-CN" altLang="en-US" sz="2400" b="1" dirty="0">
              <a:solidFill>
                <a:srgbClr val="000066"/>
              </a:solidFill>
              <a:latin typeface="微软雅黑" panose="020B0503020204020204" charset="-122"/>
              <a:ea typeface="微软雅黑" panose="020B0503020204020204" charset="-122"/>
            </a:endParaRPr>
          </a:p>
        </p:txBody>
      </p:sp>
      <p:pic>
        <p:nvPicPr>
          <p:cNvPr id="75779" name="图片 2"/>
          <p:cNvPicPr>
            <a:picLocks noChangeAspect="1"/>
          </p:cNvPicPr>
          <p:nvPr/>
        </p:nvPicPr>
        <p:blipFill>
          <a:blip r:embed="rId1"/>
          <a:stretch>
            <a:fillRect/>
          </a:stretch>
        </p:blipFill>
        <p:spPr>
          <a:xfrm>
            <a:off x="1692275" y="4667250"/>
            <a:ext cx="5578475" cy="1519238"/>
          </a:xfrm>
          <a:prstGeom prst="rect">
            <a:avLst/>
          </a:prstGeom>
          <a:noFill/>
          <a:ln w="9525">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Rectangle 2"/>
          <p:cNvSpPr>
            <a:spLocks noGrp="1" noRot="1"/>
          </p:cNvSpPr>
          <p:nvPr>
            <p:ph type="title"/>
          </p:nvPr>
        </p:nvSpPr>
        <p:spPr>
          <a:noFill/>
          <a:ln>
            <a:noFill/>
          </a:ln>
        </p:spPr>
        <p:txBody>
          <a:bodyPr anchor="t"/>
          <a:p>
            <a:pPr>
              <a:buNone/>
            </a:pPr>
            <a:r>
              <a:rPr lang="zh-CN" altLang="en-US" dirty="0">
                <a:solidFill>
                  <a:srgbClr val="FF0000"/>
                </a:solidFill>
                <a:latin typeface="微软雅黑" panose="020B0503020204020204" charset="-122"/>
                <a:ea typeface="微软雅黑" panose="020B0503020204020204" charset="-122"/>
              </a:rPr>
              <a:t>浮点数的规格化表示</a:t>
            </a:r>
            <a:endParaRPr lang="zh-CN" altLang="en-US" dirty="0">
              <a:solidFill>
                <a:srgbClr val="FF0000"/>
              </a:solidFill>
              <a:latin typeface="微软雅黑" panose="020B0503020204020204" charset="-122"/>
              <a:ea typeface="微软雅黑" panose="020B0503020204020204" charset="-122"/>
            </a:endParaRPr>
          </a:p>
        </p:txBody>
      </p:sp>
      <p:sp>
        <p:nvSpPr>
          <p:cNvPr id="77826" name="Rectangle 3"/>
          <p:cNvSpPr>
            <a:spLocks noGrp="1" noRot="1"/>
          </p:cNvSpPr>
          <p:nvPr>
            <p:ph idx="1"/>
          </p:nvPr>
        </p:nvSpPr>
        <p:spPr>
          <a:xfrm>
            <a:off x="301625" y="1423988"/>
            <a:ext cx="8540750" cy="4957762"/>
          </a:xfrm>
          <a:noFill/>
          <a:ln>
            <a:noFill/>
          </a:ln>
        </p:spPr>
        <p:txBody>
          <a:bodyPr anchor="t"/>
          <a:p>
            <a:pPr>
              <a:lnSpc>
                <a:spcPct val="95000"/>
              </a:lnSpc>
              <a:spcBef>
                <a:spcPts val="1800"/>
              </a:spcBef>
              <a:buClr>
                <a:schemeClr val="tx2"/>
              </a:buClr>
              <a:buSzPct val="80000"/>
              <a:buChar char="u"/>
            </a:pPr>
            <a:r>
              <a:rPr lang="zh-CN" altLang="en-US" dirty="0">
                <a:solidFill>
                  <a:srgbClr val="000066"/>
                </a:solidFill>
                <a:latin typeface="微软雅黑" panose="020B0503020204020204" charset="-122"/>
                <a:ea typeface="微软雅黑" panose="020B0503020204020204" charset="-122"/>
              </a:rPr>
              <a:t>浮点数表示：</a:t>
            </a:r>
            <a:r>
              <a:rPr lang="en-US" altLang="zh-CN" dirty="0">
                <a:solidFill>
                  <a:srgbClr val="000066"/>
                </a:solidFill>
                <a:latin typeface="微软雅黑" panose="020B0503020204020204" charset="-122"/>
                <a:ea typeface="微软雅黑" panose="020B0503020204020204" charset="-122"/>
              </a:rPr>
              <a:t>0.5</a:t>
            </a:r>
            <a:r>
              <a:rPr lang="zh-CN" altLang="en-US" dirty="0">
                <a:solidFill>
                  <a:srgbClr val="000066"/>
                </a:solidFill>
                <a:latin typeface="微软雅黑" panose="020B0503020204020204" charset="-122"/>
                <a:ea typeface="微软雅黑" panose="020B0503020204020204" charset="-122"/>
              </a:rPr>
              <a:t>；  </a:t>
            </a:r>
            <a:r>
              <a:rPr lang="en-US" altLang="zh-CN" dirty="0">
                <a:solidFill>
                  <a:srgbClr val="000066"/>
                </a:solidFill>
                <a:latin typeface="微软雅黑" panose="020B0503020204020204" charset="-122"/>
                <a:ea typeface="微软雅黑" panose="020B0503020204020204" charset="-122"/>
              </a:rPr>
              <a:t>0.05</a:t>
            </a:r>
            <a:r>
              <a:rPr lang="en-US" altLang="zh-CN" dirty="0">
                <a:solidFill>
                  <a:srgbClr val="000066"/>
                </a:solidFill>
                <a:latin typeface="微软雅黑" panose="020B0503020204020204" charset="-122"/>
                <a:ea typeface="微软雅黑" panose="020B0503020204020204" charset="-122"/>
                <a:sym typeface="Symbol" panose="05050102010706020507" pitchFamily="18" charset="2"/>
              </a:rPr>
              <a:t>10</a:t>
            </a:r>
            <a:r>
              <a:rPr lang="en-US" altLang="zh-CN" baseline="30000" dirty="0">
                <a:solidFill>
                  <a:srgbClr val="000066"/>
                </a:solidFill>
                <a:latin typeface="微软雅黑" panose="020B0503020204020204" charset="-122"/>
                <a:ea typeface="微软雅黑" panose="020B0503020204020204" charset="-122"/>
                <a:sym typeface="Symbol" panose="05050102010706020507" pitchFamily="18" charset="2"/>
              </a:rPr>
              <a:t>1</a:t>
            </a:r>
            <a:r>
              <a:rPr lang="en-US" altLang="zh-CN" dirty="0">
                <a:solidFill>
                  <a:srgbClr val="000066"/>
                </a:solidFill>
                <a:latin typeface="微软雅黑" panose="020B0503020204020204" charset="-122"/>
                <a:ea typeface="微软雅黑" panose="020B0503020204020204" charset="-122"/>
              </a:rPr>
              <a:t> </a:t>
            </a:r>
            <a:r>
              <a:rPr lang="zh-CN" altLang="en-US" dirty="0">
                <a:solidFill>
                  <a:srgbClr val="000066"/>
                </a:solidFill>
                <a:latin typeface="微软雅黑" panose="020B0503020204020204" charset="-122"/>
                <a:ea typeface="微软雅黑" panose="020B0503020204020204" charset="-122"/>
              </a:rPr>
              <a:t>；  </a:t>
            </a:r>
            <a:r>
              <a:rPr lang="en-US" altLang="zh-CN" dirty="0">
                <a:solidFill>
                  <a:srgbClr val="000066"/>
                </a:solidFill>
                <a:latin typeface="微软雅黑" panose="020B0503020204020204" charset="-122"/>
                <a:ea typeface="微软雅黑" panose="020B0503020204020204" charset="-122"/>
              </a:rPr>
              <a:t>0.005 </a:t>
            </a:r>
            <a:r>
              <a:rPr lang="en-US" altLang="zh-CN" dirty="0">
                <a:solidFill>
                  <a:srgbClr val="000066"/>
                </a:solidFill>
                <a:latin typeface="微软雅黑" panose="020B0503020204020204" charset="-122"/>
                <a:ea typeface="微软雅黑" panose="020B0503020204020204" charset="-122"/>
                <a:sym typeface="Symbol" panose="05050102010706020507" pitchFamily="18" charset="2"/>
              </a:rPr>
              <a:t>10</a:t>
            </a:r>
            <a:r>
              <a:rPr lang="en-US" altLang="zh-CN" baseline="30000" dirty="0">
                <a:solidFill>
                  <a:srgbClr val="000066"/>
                </a:solidFill>
                <a:latin typeface="微软雅黑" panose="020B0503020204020204" charset="-122"/>
                <a:ea typeface="微软雅黑" panose="020B0503020204020204" charset="-122"/>
                <a:sym typeface="Symbol" panose="05050102010706020507" pitchFamily="18" charset="2"/>
              </a:rPr>
              <a:t>2</a:t>
            </a:r>
            <a:r>
              <a:rPr lang="zh-CN" altLang="en-US" dirty="0">
                <a:solidFill>
                  <a:srgbClr val="000066"/>
                </a:solidFill>
                <a:latin typeface="微软雅黑" panose="020B0503020204020204" charset="-122"/>
                <a:ea typeface="微软雅黑" panose="020B0503020204020204" charset="-122"/>
                <a:sym typeface="Symbol" panose="05050102010706020507" pitchFamily="18" charset="2"/>
              </a:rPr>
              <a:t>；</a:t>
            </a:r>
            <a:endParaRPr lang="zh-CN" altLang="en-US" dirty="0">
              <a:solidFill>
                <a:srgbClr val="000066"/>
              </a:solidFill>
              <a:latin typeface="微软雅黑" panose="020B0503020204020204" charset="-122"/>
              <a:ea typeface="微软雅黑" panose="020B0503020204020204" charset="-122"/>
              <a:sym typeface="Symbol" panose="05050102010706020507" pitchFamily="18" charset="2"/>
            </a:endParaRPr>
          </a:p>
          <a:p>
            <a:pPr>
              <a:lnSpc>
                <a:spcPct val="95000"/>
              </a:lnSpc>
              <a:spcBef>
                <a:spcPts val="1800"/>
              </a:spcBef>
              <a:buClr>
                <a:schemeClr val="tx2"/>
              </a:buClr>
              <a:buSzPct val="80000"/>
              <a:buChar char="u"/>
            </a:pPr>
            <a:r>
              <a:rPr lang="zh-CN" altLang="en-US" i="1" dirty="0">
                <a:solidFill>
                  <a:srgbClr val="800000"/>
                </a:solidFill>
                <a:latin typeface="微软雅黑" panose="020B0503020204020204" charset="-122"/>
                <a:ea typeface="微软雅黑" panose="020B0503020204020204" charset="-122"/>
              </a:rPr>
              <a:t>为提高数据的表示精度，需做规格化处理；</a:t>
            </a:r>
            <a:endParaRPr lang="zh-CN" altLang="en-US" i="1" dirty="0">
              <a:solidFill>
                <a:srgbClr val="800000"/>
              </a:solidFill>
              <a:latin typeface="微软雅黑" panose="020B0503020204020204" charset="-122"/>
              <a:ea typeface="微软雅黑" panose="020B0503020204020204" charset="-122"/>
            </a:endParaRPr>
          </a:p>
          <a:p>
            <a:pPr>
              <a:lnSpc>
                <a:spcPct val="95000"/>
              </a:lnSpc>
              <a:spcBef>
                <a:spcPts val="1800"/>
              </a:spcBef>
              <a:buClr>
                <a:schemeClr val="tx2"/>
              </a:buClr>
              <a:buSzPct val="80000"/>
              <a:buChar char="u"/>
            </a:pPr>
            <a:r>
              <a:rPr lang="zh-CN" altLang="en-US" i="1" dirty="0">
                <a:solidFill>
                  <a:srgbClr val="800000"/>
                </a:solidFill>
                <a:latin typeface="微软雅黑" panose="020B0503020204020204" charset="-122"/>
                <a:ea typeface="微软雅黑" panose="020B0503020204020204" charset="-122"/>
              </a:rPr>
              <a:t>规格化处理：</a:t>
            </a:r>
            <a:endParaRPr lang="zh-CN" altLang="en-US" i="1" dirty="0">
              <a:solidFill>
                <a:srgbClr val="800000"/>
              </a:solidFill>
              <a:latin typeface="微软雅黑" panose="020B0503020204020204" charset="-122"/>
              <a:ea typeface="微软雅黑" panose="020B0503020204020204" charset="-122"/>
            </a:endParaRPr>
          </a:p>
          <a:p>
            <a:pPr lvl="1">
              <a:lnSpc>
                <a:spcPct val="130000"/>
              </a:lnSpc>
              <a:spcBef>
                <a:spcPts val="1200"/>
              </a:spcBef>
            </a:pPr>
            <a:r>
              <a:rPr lang="zh-CN" altLang="en-US" sz="2400" b="1" dirty="0">
                <a:solidFill>
                  <a:srgbClr val="000066"/>
                </a:solidFill>
                <a:latin typeface="微软雅黑" panose="020B0503020204020204" charset="-122"/>
                <a:ea typeface="微软雅黑" panose="020B0503020204020204" charset="-122"/>
              </a:rPr>
              <a:t>对非 </a:t>
            </a:r>
            <a:r>
              <a:rPr lang="en-US" altLang="zh-CN" sz="2400" b="1" dirty="0">
                <a:solidFill>
                  <a:srgbClr val="000066"/>
                </a:solidFill>
                <a:latin typeface="微软雅黑" panose="020B0503020204020204" charset="-122"/>
                <a:ea typeface="微软雅黑" panose="020B0503020204020204" charset="-122"/>
              </a:rPr>
              <a:t>0 </a:t>
            </a:r>
            <a:r>
              <a:rPr lang="zh-CN" altLang="en-US" sz="2400" b="1" dirty="0">
                <a:solidFill>
                  <a:srgbClr val="000066"/>
                </a:solidFill>
                <a:latin typeface="微软雅黑" panose="020B0503020204020204" charset="-122"/>
                <a:ea typeface="微软雅黑" panose="020B0503020204020204" charset="-122"/>
              </a:rPr>
              <a:t>值的浮点数，要求</a:t>
            </a:r>
            <a:r>
              <a:rPr lang="zh-CN" altLang="en-US" sz="2400" b="1" dirty="0">
                <a:solidFill>
                  <a:srgbClr val="FF0000"/>
                </a:solidFill>
                <a:latin typeface="微软雅黑" panose="020B0503020204020204" charset="-122"/>
                <a:ea typeface="微软雅黑" panose="020B0503020204020204" charset="-122"/>
              </a:rPr>
              <a:t>尾数的绝对值必须 </a:t>
            </a:r>
            <a:r>
              <a:rPr lang="en-US" altLang="zh-CN" sz="2400" b="1" dirty="0">
                <a:solidFill>
                  <a:srgbClr val="FF0000"/>
                </a:solidFill>
                <a:latin typeface="微软雅黑" panose="020B0503020204020204" charset="-122"/>
                <a:ea typeface="微软雅黑" panose="020B0503020204020204" charset="-122"/>
              </a:rPr>
              <a:t>&gt;= 1/2</a:t>
            </a:r>
            <a:r>
              <a:rPr lang="zh-CN" altLang="en-US" sz="2400" b="1" dirty="0">
                <a:solidFill>
                  <a:schemeClr val="accent1"/>
                </a:solidFill>
                <a:latin typeface="微软雅黑" panose="020B0503020204020204" charset="-122"/>
                <a:ea typeface="微软雅黑" panose="020B0503020204020204" charset="-122"/>
              </a:rPr>
              <a:t>，</a:t>
            </a:r>
            <a:r>
              <a:rPr lang="zh-CN" altLang="en-US" sz="2400" b="1" dirty="0">
                <a:solidFill>
                  <a:srgbClr val="000066"/>
                </a:solidFill>
                <a:latin typeface="微软雅黑" panose="020B0503020204020204" charset="-122"/>
                <a:ea typeface="微软雅黑" panose="020B0503020204020204" charset="-122"/>
              </a:rPr>
              <a:t>即</a:t>
            </a:r>
            <a:r>
              <a:rPr lang="zh-CN" altLang="en-US" sz="2400" b="1" dirty="0">
                <a:solidFill>
                  <a:srgbClr val="FF0000"/>
                </a:solidFill>
                <a:latin typeface="微软雅黑" panose="020B0503020204020204" charset="-122"/>
                <a:ea typeface="微软雅黑" panose="020B0503020204020204" charset="-122"/>
              </a:rPr>
              <a:t>尾数域的最高有效位应为</a:t>
            </a:r>
            <a:r>
              <a:rPr lang="en-US" altLang="zh-CN" sz="2400" b="1" dirty="0">
                <a:solidFill>
                  <a:srgbClr val="FF0000"/>
                </a:solidFill>
                <a:latin typeface="微软雅黑" panose="020B0503020204020204" charset="-122"/>
                <a:ea typeface="微软雅黑" panose="020B0503020204020204" charset="-122"/>
              </a:rPr>
              <a:t>1</a:t>
            </a:r>
            <a:r>
              <a:rPr lang="zh-CN" altLang="en-US" sz="2400" b="1" dirty="0">
                <a:solidFill>
                  <a:srgbClr val="000066"/>
                </a:solidFill>
                <a:latin typeface="微软雅黑" panose="020B0503020204020204" charset="-122"/>
                <a:ea typeface="微软雅黑" panose="020B0503020204020204" charset="-122"/>
              </a:rPr>
              <a:t>：</a:t>
            </a:r>
            <a:r>
              <a:rPr lang="en-US" altLang="zh-CN" sz="2400" b="1" dirty="0">
                <a:solidFill>
                  <a:srgbClr val="000066"/>
                </a:solidFill>
                <a:latin typeface="微软雅黑" panose="020B0503020204020204" charset="-122"/>
                <a:ea typeface="微软雅黑" panose="020B0503020204020204" charset="-122"/>
              </a:rPr>
              <a:t>0.10001</a:t>
            </a:r>
            <a:r>
              <a:rPr lang="zh-CN" altLang="en-US" sz="2400" b="1" dirty="0">
                <a:solidFill>
                  <a:srgbClr val="000066"/>
                </a:solidFill>
                <a:latin typeface="微软雅黑" panose="020B0503020204020204" charset="-122"/>
                <a:ea typeface="微软雅黑" panose="020B0503020204020204" charset="-122"/>
              </a:rPr>
              <a:t>；</a:t>
            </a:r>
            <a:endParaRPr lang="zh-CN" altLang="en-US" sz="2400" b="1" dirty="0">
              <a:solidFill>
                <a:srgbClr val="000066"/>
              </a:solidFill>
              <a:latin typeface="微软雅黑" panose="020B0503020204020204" charset="-122"/>
              <a:ea typeface="微软雅黑" panose="020B0503020204020204" charset="-122"/>
            </a:endParaRPr>
          </a:p>
          <a:p>
            <a:pPr lvl="1">
              <a:lnSpc>
                <a:spcPct val="130000"/>
              </a:lnSpc>
              <a:spcBef>
                <a:spcPts val="1200"/>
              </a:spcBef>
            </a:pPr>
            <a:r>
              <a:rPr lang="zh-CN" altLang="en-US" sz="2400" b="1" dirty="0">
                <a:solidFill>
                  <a:srgbClr val="000066"/>
                </a:solidFill>
                <a:latin typeface="微软雅黑" panose="020B0503020204020204" charset="-122"/>
                <a:ea typeface="微软雅黑" panose="020B0503020204020204" charset="-122"/>
              </a:rPr>
              <a:t>规格化处理，通过</a:t>
            </a:r>
            <a:r>
              <a:rPr lang="zh-CN" altLang="en-US" sz="2400" b="1" dirty="0">
                <a:solidFill>
                  <a:srgbClr val="FF0000"/>
                </a:solidFill>
                <a:latin typeface="微软雅黑" panose="020B0503020204020204" charset="-122"/>
                <a:ea typeface="微软雅黑" panose="020B0503020204020204" charset="-122"/>
              </a:rPr>
              <a:t>尾数移位</a:t>
            </a:r>
            <a:r>
              <a:rPr lang="zh-CN" altLang="en-US" sz="2400" b="1" dirty="0">
                <a:solidFill>
                  <a:srgbClr val="000066"/>
                </a:solidFill>
                <a:latin typeface="微软雅黑" panose="020B0503020204020204" charset="-122"/>
                <a:ea typeface="微软雅黑" panose="020B0503020204020204" charset="-122"/>
              </a:rPr>
              <a:t>和</a:t>
            </a:r>
            <a:r>
              <a:rPr lang="zh-CN" altLang="en-US" sz="2400" b="1" dirty="0">
                <a:solidFill>
                  <a:srgbClr val="FF0000"/>
                </a:solidFill>
                <a:latin typeface="微软雅黑" panose="020B0503020204020204" charset="-122"/>
                <a:ea typeface="微软雅黑" panose="020B0503020204020204" charset="-122"/>
              </a:rPr>
              <a:t>修改阶码</a:t>
            </a:r>
            <a:r>
              <a:rPr lang="zh-CN" altLang="en-US" sz="2400" b="1" dirty="0">
                <a:solidFill>
                  <a:srgbClr val="000066"/>
                </a:solidFill>
                <a:latin typeface="微软雅黑" panose="020B0503020204020204" charset="-122"/>
                <a:ea typeface="微软雅黑" panose="020B0503020204020204" charset="-122"/>
              </a:rPr>
              <a:t>实现。</a:t>
            </a:r>
            <a:endParaRPr lang="zh-CN" altLang="en-US" sz="2400" b="1" dirty="0">
              <a:solidFill>
                <a:srgbClr val="000066"/>
              </a:solidFill>
              <a:latin typeface="微软雅黑" panose="020B0503020204020204" charset="-122"/>
              <a:ea typeface="微软雅黑" panose="020B050302020402020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Rectangle 2"/>
          <p:cNvSpPr>
            <a:spLocks noGrp="1" noRot="1"/>
          </p:cNvSpPr>
          <p:nvPr>
            <p:ph type="title"/>
          </p:nvPr>
        </p:nvSpPr>
        <p:spPr>
          <a:noFill/>
          <a:ln>
            <a:noFill/>
          </a:ln>
        </p:spPr>
        <p:txBody>
          <a:bodyPr anchor="t"/>
          <a:p>
            <a:pPr>
              <a:buNone/>
            </a:pPr>
            <a:r>
              <a:rPr lang="zh-CN" altLang="en-US" i="1" dirty="0">
                <a:solidFill>
                  <a:srgbClr val="A50021"/>
                </a:solidFill>
                <a:latin typeface="微软雅黑" panose="020B0503020204020204" charset="-122"/>
                <a:ea typeface="微软雅黑" panose="020B0503020204020204" charset="-122"/>
              </a:rPr>
              <a:t>隐藏位技术</a:t>
            </a:r>
            <a:endParaRPr lang="zh-CN" altLang="en-US" i="1" dirty="0">
              <a:solidFill>
                <a:srgbClr val="A50021"/>
              </a:solidFill>
              <a:latin typeface="微软雅黑" panose="020B0503020204020204" charset="-122"/>
              <a:ea typeface="微软雅黑" panose="020B0503020204020204" charset="-122"/>
            </a:endParaRPr>
          </a:p>
        </p:txBody>
      </p:sp>
      <p:sp>
        <p:nvSpPr>
          <p:cNvPr id="79874" name="Rectangle 3"/>
          <p:cNvSpPr>
            <a:spLocks noGrp="1" noRot="1"/>
          </p:cNvSpPr>
          <p:nvPr>
            <p:ph idx="1"/>
          </p:nvPr>
        </p:nvSpPr>
        <p:spPr>
          <a:xfrm>
            <a:off x="301625" y="1500188"/>
            <a:ext cx="8540750" cy="4881562"/>
          </a:xfrm>
          <a:noFill/>
          <a:ln>
            <a:noFill/>
          </a:ln>
        </p:spPr>
        <p:txBody>
          <a:bodyPr anchor="t"/>
          <a:p>
            <a:pPr>
              <a:lnSpc>
                <a:spcPct val="95000"/>
              </a:lnSpc>
              <a:spcBef>
                <a:spcPts val="1800"/>
              </a:spcBef>
              <a:buClr>
                <a:schemeClr val="tx2"/>
              </a:buClr>
              <a:buSzPct val="80000"/>
              <a:buChar char="u"/>
            </a:pPr>
            <a:r>
              <a:rPr lang="zh-CN" altLang="en-US" dirty="0">
                <a:solidFill>
                  <a:srgbClr val="000066"/>
                </a:solidFill>
                <a:latin typeface="微软雅黑" panose="020B0503020204020204" charset="-122"/>
                <a:ea typeface="微软雅黑" panose="020B0503020204020204" charset="-122"/>
              </a:rPr>
              <a:t>非 </a:t>
            </a:r>
            <a:r>
              <a:rPr lang="en-US" altLang="zh-CN" dirty="0">
                <a:solidFill>
                  <a:srgbClr val="000066"/>
                </a:solidFill>
                <a:latin typeface="微软雅黑" panose="020B0503020204020204" charset="-122"/>
                <a:ea typeface="微软雅黑" panose="020B0503020204020204" charset="-122"/>
              </a:rPr>
              <a:t>0 </a:t>
            </a:r>
            <a:r>
              <a:rPr lang="zh-CN" altLang="en-US" dirty="0">
                <a:solidFill>
                  <a:srgbClr val="000066"/>
                </a:solidFill>
                <a:latin typeface="微软雅黑" panose="020B0503020204020204" charset="-122"/>
                <a:ea typeface="微软雅黑" panose="020B0503020204020204" charset="-122"/>
              </a:rPr>
              <a:t>值浮点数的尾数数值最高位必定为 </a:t>
            </a:r>
            <a:r>
              <a:rPr lang="en-US" altLang="zh-CN" dirty="0">
                <a:solidFill>
                  <a:srgbClr val="000066"/>
                </a:solidFill>
                <a:latin typeface="微软雅黑" panose="020B0503020204020204" charset="-122"/>
                <a:ea typeface="微软雅黑" panose="020B0503020204020204" charset="-122"/>
              </a:rPr>
              <a:t>1</a:t>
            </a:r>
            <a:r>
              <a:rPr lang="zh-CN" altLang="en-US" dirty="0">
                <a:solidFill>
                  <a:srgbClr val="000066"/>
                </a:solidFill>
                <a:latin typeface="微软雅黑" panose="020B0503020204020204" charset="-122"/>
                <a:ea typeface="微软雅黑" panose="020B0503020204020204" charset="-122"/>
              </a:rPr>
              <a:t>；</a:t>
            </a:r>
            <a:endParaRPr lang="zh-CN" altLang="en-US" dirty="0">
              <a:solidFill>
                <a:srgbClr val="000066"/>
              </a:solidFill>
              <a:latin typeface="微软雅黑" panose="020B0503020204020204" charset="-122"/>
              <a:ea typeface="微软雅黑" panose="020B0503020204020204" charset="-122"/>
            </a:endParaRPr>
          </a:p>
          <a:p>
            <a:pPr>
              <a:lnSpc>
                <a:spcPct val="95000"/>
              </a:lnSpc>
              <a:spcBef>
                <a:spcPts val="1800"/>
              </a:spcBef>
              <a:buClr>
                <a:schemeClr val="tx2"/>
              </a:buClr>
              <a:buSzPct val="80000"/>
              <a:buChar char="u"/>
            </a:pPr>
            <a:r>
              <a:rPr lang="zh-CN" altLang="en-US" dirty="0">
                <a:solidFill>
                  <a:srgbClr val="000066"/>
                </a:solidFill>
                <a:latin typeface="微软雅黑" panose="020B0503020204020204" charset="-122"/>
                <a:ea typeface="微软雅黑" panose="020B0503020204020204" charset="-122"/>
              </a:rPr>
              <a:t>保存时把该位去掉</a:t>
            </a:r>
            <a:r>
              <a:rPr lang="en-US" altLang="zh-CN" dirty="0">
                <a:solidFill>
                  <a:srgbClr val="000066"/>
                </a:solidFill>
                <a:latin typeface="微软雅黑" panose="020B0503020204020204" charset="-122"/>
                <a:ea typeface="微软雅黑" panose="020B0503020204020204" charset="-122"/>
              </a:rPr>
              <a:t>, </a:t>
            </a:r>
            <a:r>
              <a:rPr lang="zh-CN" altLang="en-US" dirty="0">
                <a:solidFill>
                  <a:srgbClr val="000066"/>
                </a:solidFill>
                <a:latin typeface="微软雅黑" panose="020B0503020204020204" charset="-122"/>
                <a:ea typeface="微软雅黑" panose="020B0503020204020204" charset="-122"/>
              </a:rPr>
              <a:t>用同样多的尾数位就能多存一位二进制数；</a:t>
            </a:r>
            <a:endParaRPr lang="zh-CN" altLang="en-US" dirty="0">
              <a:solidFill>
                <a:srgbClr val="000066"/>
              </a:solidFill>
              <a:latin typeface="微软雅黑" panose="020B0503020204020204" charset="-122"/>
              <a:ea typeface="微软雅黑" panose="020B0503020204020204" charset="-122"/>
            </a:endParaRPr>
          </a:p>
          <a:p>
            <a:pPr marL="800100" lvl="2" indent="0">
              <a:lnSpc>
                <a:spcPct val="140000"/>
              </a:lnSpc>
              <a:buNone/>
            </a:pPr>
            <a:r>
              <a:rPr lang="en-US" altLang="zh-CN" sz="2800" b="1" dirty="0">
                <a:solidFill>
                  <a:srgbClr val="0000FF"/>
                </a:solidFill>
                <a:latin typeface="微软雅黑" panose="020B0503020204020204" charset="-122"/>
                <a:ea typeface="微软雅黑" panose="020B0503020204020204" charset="-122"/>
              </a:rPr>
              <a:t>0.1100010  </a:t>
            </a:r>
            <a:r>
              <a:rPr lang="en-US" altLang="zh-CN" sz="2800" b="1" dirty="0">
                <a:solidFill>
                  <a:srgbClr val="0000FF"/>
                </a:solidFill>
                <a:latin typeface="微软雅黑" panose="020B0503020204020204" charset="-122"/>
                <a:ea typeface="微软雅黑" panose="020B0503020204020204" charset="-122"/>
                <a:sym typeface="Symbol" panose="05050102010706020507" pitchFamily="18" charset="2"/>
              </a:rPr>
              <a:t>  1.100010</a:t>
            </a:r>
            <a:endParaRPr lang="en-US" altLang="zh-CN" sz="2800" b="1" dirty="0">
              <a:solidFill>
                <a:srgbClr val="0000FF"/>
              </a:solidFill>
              <a:latin typeface="微软雅黑" panose="020B0503020204020204" charset="-122"/>
              <a:ea typeface="微软雅黑" panose="020B0503020204020204" charset="-122"/>
              <a:sym typeface="Symbol" panose="05050102010706020507" pitchFamily="18" charset="2"/>
            </a:endParaRPr>
          </a:p>
          <a:p>
            <a:pPr>
              <a:lnSpc>
                <a:spcPct val="95000"/>
              </a:lnSpc>
              <a:spcBef>
                <a:spcPts val="1800"/>
              </a:spcBef>
              <a:buClr>
                <a:schemeClr val="tx2"/>
              </a:buClr>
              <a:buSzPct val="80000"/>
              <a:buChar char="u"/>
            </a:pPr>
            <a:r>
              <a:rPr lang="zh-CN" altLang="en-US" dirty="0">
                <a:solidFill>
                  <a:srgbClr val="000066"/>
                </a:solidFill>
                <a:latin typeface="微软雅黑" panose="020B0503020204020204" charset="-122"/>
                <a:ea typeface="微软雅黑" panose="020B0503020204020204" charset="-122"/>
              </a:rPr>
              <a:t>取回运算时，必须先</a:t>
            </a:r>
            <a:r>
              <a:rPr lang="zh-CN" altLang="en-US" dirty="0">
                <a:solidFill>
                  <a:srgbClr val="FF0000"/>
                </a:solidFill>
                <a:latin typeface="微软雅黑" panose="020B0503020204020204" charset="-122"/>
                <a:ea typeface="微软雅黑" panose="020B0503020204020204" charset="-122"/>
              </a:rPr>
              <a:t>恢复隐藏位</a:t>
            </a:r>
            <a:r>
              <a:rPr lang="zh-CN" altLang="en-US" dirty="0">
                <a:solidFill>
                  <a:schemeClr val="tx2"/>
                </a:solidFill>
                <a:latin typeface="微软雅黑" panose="020B0503020204020204" charset="-122"/>
                <a:ea typeface="微软雅黑" panose="020B0503020204020204" charset="-122"/>
              </a:rPr>
              <a:t>。</a:t>
            </a:r>
            <a:endParaRPr lang="zh-CN" altLang="en-US" dirty="0">
              <a:solidFill>
                <a:schemeClr val="tx2"/>
              </a:solidFill>
              <a:latin typeface="微软雅黑" panose="020B0503020204020204" charset="-122"/>
              <a:ea typeface="微软雅黑" panose="020B050302020402020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Rectangle 2"/>
          <p:cNvSpPr>
            <a:spLocks noGrp="1" noRot="1"/>
          </p:cNvSpPr>
          <p:nvPr>
            <p:ph type="title"/>
          </p:nvPr>
        </p:nvSpPr>
        <p:spPr>
          <a:noFill/>
          <a:ln>
            <a:noFill/>
          </a:ln>
        </p:spPr>
        <p:txBody>
          <a:bodyPr anchor="t"/>
          <a:p>
            <a:pPr>
              <a:buNone/>
            </a:pPr>
            <a:r>
              <a:rPr lang="zh-CN" altLang="en-US" dirty="0">
                <a:solidFill>
                  <a:srgbClr val="FF0000"/>
                </a:solidFill>
                <a:latin typeface="微软雅黑" panose="020B0503020204020204" charset="-122"/>
                <a:ea typeface="微软雅黑" panose="020B0503020204020204" charset="-122"/>
              </a:rPr>
              <a:t>规格化浮点数的真值</a:t>
            </a:r>
            <a:endParaRPr lang="zh-CN" altLang="en-US" dirty="0">
              <a:solidFill>
                <a:srgbClr val="FF0000"/>
              </a:solidFill>
              <a:latin typeface="微软雅黑" panose="020B0503020204020204" charset="-122"/>
              <a:ea typeface="微软雅黑" panose="020B0503020204020204" charset="-122"/>
            </a:endParaRPr>
          </a:p>
        </p:txBody>
      </p:sp>
      <p:sp>
        <p:nvSpPr>
          <p:cNvPr id="81922" name="Rectangle 3"/>
          <p:cNvSpPr>
            <a:spLocks noGrp="1" noRot="1"/>
          </p:cNvSpPr>
          <p:nvPr>
            <p:ph idx="1"/>
          </p:nvPr>
        </p:nvSpPr>
        <p:spPr>
          <a:xfrm>
            <a:off x="301625" y="1347788"/>
            <a:ext cx="8540750" cy="5176837"/>
          </a:xfrm>
          <a:noFill/>
          <a:ln>
            <a:noFill/>
          </a:ln>
        </p:spPr>
        <p:txBody>
          <a:bodyPr anchor="t"/>
          <a:p>
            <a:pPr>
              <a:lnSpc>
                <a:spcPct val="95000"/>
              </a:lnSpc>
              <a:spcBef>
                <a:spcPts val="1800"/>
              </a:spcBef>
              <a:buClr>
                <a:schemeClr val="tx2"/>
              </a:buClr>
              <a:buSzPct val="80000"/>
              <a:buChar char="u"/>
            </a:pPr>
            <a:r>
              <a:rPr lang="zh-CN" altLang="en-US" sz="2400" dirty="0">
                <a:solidFill>
                  <a:srgbClr val="000066"/>
                </a:solidFill>
                <a:latin typeface="微软雅黑" panose="020B0503020204020204" charset="-122"/>
                <a:ea typeface="微软雅黑" panose="020B0503020204020204" charset="-122"/>
              </a:rPr>
              <a:t>移码定义：</a:t>
            </a:r>
            <a:endParaRPr lang="zh-CN" altLang="en-US" sz="2400" dirty="0">
              <a:solidFill>
                <a:srgbClr val="000066"/>
              </a:solidFill>
              <a:latin typeface="微软雅黑" panose="020B0503020204020204" charset="-122"/>
              <a:ea typeface="微软雅黑" panose="020B0503020204020204" charset="-122"/>
            </a:endParaRPr>
          </a:p>
          <a:p>
            <a:pPr lvl="1">
              <a:lnSpc>
                <a:spcPct val="110000"/>
              </a:lnSpc>
            </a:pPr>
            <a:r>
              <a:rPr lang="en-US" altLang="zh-CN" sz="2400" dirty="0">
                <a:solidFill>
                  <a:srgbClr val="0000FF"/>
                </a:solidFill>
                <a:latin typeface="微软雅黑" panose="020B0503020204020204" charset="-122"/>
                <a:ea typeface="微软雅黑" panose="020B0503020204020204" charset="-122"/>
              </a:rPr>
              <a:t>[</a:t>
            </a:r>
            <a:r>
              <a:rPr lang="en-US" altLang="zh-CN" sz="2400" i="1" dirty="0">
                <a:solidFill>
                  <a:srgbClr val="0000FF"/>
                </a:solidFill>
                <a:latin typeface="微软雅黑" panose="020B0503020204020204" charset="-122"/>
                <a:ea typeface="微软雅黑" panose="020B0503020204020204" charset="-122"/>
              </a:rPr>
              <a:t>x</a:t>
            </a:r>
            <a:r>
              <a:rPr lang="en-US" altLang="zh-CN" sz="2400" dirty="0">
                <a:solidFill>
                  <a:srgbClr val="0000FF"/>
                </a:solidFill>
                <a:latin typeface="微软雅黑" panose="020B0503020204020204" charset="-122"/>
                <a:ea typeface="微软雅黑" panose="020B0503020204020204" charset="-122"/>
              </a:rPr>
              <a:t>]</a:t>
            </a:r>
            <a:r>
              <a:rPr lang="zh-CN" altLang="en-US" sz="2400" baseline="-25000" dirty="0">
                <a:solidFill>
                  <a:srgbClr val="0000FF"/>
                </a:solidFill>
                <a:latin typeface="微软雅黑" panose="020B0503020204020204" charset="-122"/>
                <a:ea typeface="微软雅黑" panose="020B0503020204020204" charset="-122"/>
              </a:rPr>
              <a:t>移</a:t>
            </a:r>
            <a:r>
              <a:rPr lang="zh-CN" altLang="en-US" sz="2400" dirty="0">
                <a:solidFill>
                  <a:srgbClr val="0000FF"/>
                </a:solidFill>
                <a:latin typeface="微软雅黑" panose="020B0503020204020204" charset="-122"/>
                <a:ea typeface="微软雅黑" panose="020B0503020204020204" charset="-122"/>
              </a:rPr>
              <a:t> </a:t>
            </a:r>
            <a:r>
              <a:rPr lang="en-US" altLang="zh-CN" sz="2400" dirty="0">
                <a:solidFill>
                  <a:srgbClr val="0000FF"/>
                </a:solidFill>
                <a:latin typeface="微软雅黑" panose="020B0503020204020204" charset="-122"/>
                <a:ea typeface="微软雅黑" panose="020B0503020204020204" charset="-122"/>
              </a:rPr>
              <a:t>= </a:t>
            </a:r>
            <a:r>
              <a:rPr lang="en-US" altLang="zh-CN" sz="2400" i="1" dirty="0">
                <a:solidFill>
                  <a:srgbClr val="0000FF"/>
                </a:solidFill>
                <a:latin typeface="微软雅黑" panose="020B0503020204020204" charset="-122"/>
                <a:ea typeface="微软雅黑" panose="020B0503020204020204" charset="-122"/>
              </a:rPr>
              <a:t>x0 x1 x2 ··· xn </a:t>
            </a:r>
            <a:r>
              <a:rPr lang="en-US" altLang="zh-CN" sz="2400" dirty="0">
                <a:solidFill>
                  <a:srgbClr val="0000FF"/>
                </a:solidFill>
                <a:latin typeface="微软雅黑" panose="020B0503020204020204" charset="-122"/>
                <a:ea typeface="微软雅黑" panose="020B0503020204020204" charset="-122"/>
              </a:rPr>
              <a:t>= </a:t>
            </a:r>
            <a:r>
              <a:rPr lang="zh-CN" altLang="en-US" sz="2400" dirty="0">
                <a:solidFill>
                  <a:srgbClr val="0000FF"/>
                </a:solidFill>
                <a:latin typeface="微软雅黑" panose="020B0503020204020204" charset="-122"/>
                <a:ea typeface="微软雅黑" panose="020B0503020204020204" charset="-122"/>
              </a:rPr>
              <a:t>偏置值</a:t>
            </a:r>
            <a:r>
              <a:rPr lang="en-US" altLang="zh-CN" sz="2400" baseline="30000" dirty="0">
                <a:solidFill>
                  <a:srgbClr val="0000FF"/>
                </a:solidFill>
                <a:latin typeface="微软雅黑" panose="020B0503020204020204" charset="-122"/>
                <a:ea typeface="微软雅黑" panose="020B0503020204020204" charset="-122"/>
              </a:rPr>
              <a:t> </a:t>
            </a:r>
            <a:r>
              <a:rPr lang="en-US" altLang="zh-CN" sz="2400" dirty="0">
                <a:solidFill>
                  <a:srgbClr val="0000FF"/>
                </a:solidFill>
                <a:latin typeface="微软雅黑" panose="020B0503020204020204" charset="-122"/>
                <a:ea typeface="微软雅黑" panose="020B0503020204020204" charset="-122"/>
              </a:rPr>
              <a:t>+ </a:t>
            </a:r>
            <a:r>
              <a:rPr lang="en-US" altLang="zh-CN" sz="2400" i="1" dirty="0">
                <a:solidFill>
                  <a:srgbClr val="0000FF"/>
                </a:solidFill>
                <a:latin typeface="微软雅黑" panose="020B0503020204020204" charset="-122"/>
                <a:ea typeface="微软雅黑" panose="020B0503020204020204" charset="-122"/>
              </a:rPr>
              <a:t>x 	</a:t>
            </a:r>
            <a:r>
              <a:rPr lang="en-US" altLang="zh-CN" sz="2400" dirty="0">
                <a:solidFill>
                  <a:srgbClr val="0000FF"/>
                </a:solidFill>
                <a:latin typeface="微软雅黑" panose="020B0503020204020204" charset="-122"/>
                <a:ea typeface="微软雅黑" panose="020B0503020204020204" charset="-122"/>
              </a:rPr>
              <a:t>-2</a:t>
            </a:r>
            <a:r>
              <a:rPr lang="en-US" altLang="zh-CN" sz="2400" baseline="30000" dirty="0">
                <a:solidFill>
                  <a:srgbClr val="0000FF"/>
                </a:solidFill>
                <a:latin typeface="微软雅黑" panose="020B0503020204020204" charset="-122"/>
                <a:ea typeface="微软雅黑" panose="020B0503020204020204" charset="-122"/>
              </a:rPr>
              <a:t>n</a:t>
            </a:r>
            <a:r>
              <a:rPr lang="en-US" altLang="zh-CN" sz="2400" dirty="0">
                <a:solidFill>
                  <a:srgbClr val="0000FF"/>
                </a:solidFill>
                <a:latin typeface="微软雅黑" panose="020B0503020204020204" charset="-122"/>
                <a:ea typeface="微软雅黑" panose="020B0503020204020204" charset="-122"/>
              </a:rPr>
              <a:t> </a:t>
            </a:r>
            <a:r>
              <a:rPr lang="en-US" altLang="zh-CN" sz="2400" dirty="0">
                <a:solidFill>
                  <a:srgbClr val="0000FF"/>
                </a:solidFill>
                <a:latin typeface="微软雅黑" panose="020B0503020204020204" charset="-122"/>
                <a:ea typeface="微软雅黑" panose="020B0503020204020204" charset="-122"/>
                <a:sym typeface="Symbol" panose="05050102010706020507" pitchFamily="18" charset="2"/>
              </a:rPr>
              <a:t></a:t>
            </a:r>
            <a:r>
              <a:rPr lang="en-US" altLang="zh-CN" sz="2400" dirty="0">
                <a:solidFill>
                  <a:srgbClr val="0000FF"/>
                </a:solidFill>
                <a:latin typeface="微软雅黑" panose="020B0503020204020204" charset="-122"/>
                <a:ea typeface="微软雅黑" panose="020B0503020204020204" charset="-122"/>
              </a:rPr>
              <a:t>  </a:t>
            </a:r>
            <a:r>
              <a:rPr lang="en-US" altLang="zh-CN" sz="2400" i="1" dirty="0">
                <a:solidFill>
                  <a:srgbClr val="0000FF"/>
                </a:solidFill>
                <a:latin typeface="微软雅黑" panose="020B0503020204020204" charset="-122"/>
                <a:ea typeface="微软雅黑" panose="020B0503020204020204" charset="-122"/>
              </a:rPr>
              <a:t>x</a:t>
            </a:r>
            <a:r>
              <a:rPr lang="en-US" altLang="zh-CN" sz="2400" dirty="0">
                <a:solidFill>
                  <a:srgbClr val="0000FF"/>
                </a:solidFill>
                <a:latin typeface="微软雅黑" panose="020B0503020204020204" charset="-122"/>
                <a:ea typeface="微软雅黑" panose="020B0503020204020204" charset="-122"/>
              </a:rPr>
              <a:t> </a:t>
            </a:r>
            <a:r>
              <a:rPr lang="en-US" altLang="zh-CN" sz="2400" dirty="0">
                <a:solidFill>
                  <a:srgbClr val="0000FF"/>
                </a:solidFill>
                <a:latin typeface="微软雅黑" panose="020B0503020204020204" charset="-122"/>
                <a:ea typeface="微软雅黑" panose="020B0503020204020204" charset="-122"/>
                <a:sym typeface="Symbol" panose="05050102010706020507" pitchFamily="18" charset="2"/>
              </a:rPr>
              <a:t></a:t>
            </a:r>
            <a:r>
              <a:rPr lang="en-US" altLang="zh-CN" sz="2400" dirty="0">
                <a:solidFill>
                  <a:srgbClr val="0000FF"/>
                </a:solidFill>
                <a:latin typeface="微软雅黑" panose="020B0503020204020204" charset="-122"/>
                <a:ea typeface="微软雅黑" panose="020B0503020204020204" charset="-122"/>
              </a:rPr>
              <a:t> 2</a:t>
            </a:r>
            <a:r>
              <a:rPr lang="en-US" altLang="zh-CN" sz="2400" baseline="30000" dirty="0">
                <a:solidFill>
                  <a:srgbClr val="0000FF"/>
                </a:solidFill>
                <a:latin typeface="微软雅黑" panose="020B0503020204020204" charset="-122"/>
                <a:ea typeface="微软雅黑" panose="020B0503020204020204" charset="-122"/>
              </a:rPr>
              <a:t>n</a:t>
            </a:r>
            <a:endParaRPr lang="en-US" altLang="zh-CN" sz="2400" dirty="0">
              <a:latin typeface="微软雅黑" panose="020B0503020204020204" charset="-122"/>
              <a:ea typeface="微软雅黑" panose="020B0503020204020204" charset="-122"/>
            </a:endParaRPr>
          </a:p>
          <a:p>
            <a:pPr>
              <a:lnSpc>
                <a:spcPct val="95000"/>
              </a:lnSpc>
              <a:spcBef>
                <a:spcPts val="1800"/>
              </a:spcBef>
              <a:buClr>
                <a:schemeClr val="tx2"/>
              </a:buClr>
              <a:buSzPct val="80000"/>
              <a:buChar char="u"/>
            </a:pPr>
            <a:r>
              <a:rPr lang="en-US" altLang="zh-CN" sz="2400" dirty="0">
                <a:solidFill>
                  <a:srgbClr val="000066"/>
                </a:solidFill>
                <a:latin typeface="微软雅黑" panose="020B0503020204020204" charset="-122"/>
                <a:ea typeface="微软雅黑" panose="020B0503020204020204" charset="-122"/>
              </a:rPr>
              <a:t>IEEE754</a:t>
            </a:r>
            <a:r>
              <a:rPr lang="zh-CN" altLang="en-US" sz="2400" dirty="0">
                <a:solidFill>
                  <a:srgbClr val="000066"/>
                </a:solidFill>
                <a:latin typeface="微软雅黑" panose="020B0503020204020204" charset="-122"/>
                <a:ea typeface="微软雅黑" panose="020B0503020204020204" charset="-122"/>
              </a:rPr>
              <a:t>标准</a:t>
            </a:r>
            <a:r>
              <a:rPr lang="en-US" altLang="zh-CN" sz="2400" dirty="0">
                <a:solidFill>
                  <a:srgbClr val="000066"/>
                </a:solidFill>
                <a:latin typeface="微软雅黑" panose="020B0503020204020204" charset="-122"/>
                <a:ea typeface="微软雅黑" panose="020B0503020204020204" charset="-122"/>
              </a:rPr>
              <a:t>, </a:t>
            </a:r>
            <a:r>
              <a:rPr lang="zh-CN" altLang="en-US" sz="2400" dirty="0">
                <a:solidFill>
                  <a:srgbClr val="000066"/>
                </a:solidFill>
                <a:latin typeface="微软雅黑" panose="020B0503020204020204" charset="-122"/>
                <a:ea typeface="微软雅黑" panose="020B0503020204020204" charset="-122"/>
              </a:rPr>
              <a:t>一个规格化的</a:t>
            </a:r>
            <a:r>
              <a:rPr lang="en-US" altLang="zh-CN" sz="2400" dirty="0">
                <a:solidFill>
                  <a:srgbClr val="000066"/>
                </a:solidFill>
                <a:latin typeface="微软雅黑" panose="020B0503020204020204" charset="-122"/>
                <a:ea typeface="微软雅黑" panose="020B0503020204020204" charset="-122"/>
              </a:rPr>
              <a:t>32</a:t>
            </a:r>
            <a:r>
              <a:rPr lang="zh-CN" altLang="en-US" sz="2400" dirty="0">
                <a:solidFill>
                  <a:srgbClr val="000066"/>
                </a:solidFill>
                <a:latin typeface="微软雅黑" panose="020B0503020204020204" charset="-122"/>
                <a:ea typeface="微软雅黑" panose="020B0503020204020204" charset="-122"/>
              </a:rPr>
              <a:t>位浮点数ｘ的真值为：</a:t>
            </a:r>
            <a:endParaRPr lang="zh-CN" altLang="en-US" sz="2400" dirty="0">
              <a:solidFill>
                <a:srgbClr val="000066"/>
              </a:solidFill>
              <a:latin typeface="微软雅黑" panose="020B0503020204020204" charset="-122"/>
              <a:ea typeface="微软雅黑" panose="020B0503020204020204" charset="-122"/>
            </a:endParaRPr>
          </a:p>
          <a:p>
            <a:pPr lvl="1">
              <a:lnSpc>
                <a:spcPct val="110000"/>
              </a:lnSpc>
            </a:pPr>
            <a:r>
              <a:rPr lang="en-US" altLang="zh-CN" sz="2400" i="1" dirty="0">
                <a:solidFill>
                  <a:srgbClr val="CC0000"/>
                </a:solidFill>
                <a:latin typeface="微软雅黑" panose="020B0503020204020204" charset="-122"/>
                <a:ea typeface="微软雅黑" panose="020B0503020204020204" charset="-122"/>
              </a:rPr>
              <a:t>x</a:t>
            </a:r>
            <a:r>
              <a:rPr lang="en-US" altLang="zh-CN" sz="2400" dirty="0">
                <a:solidFill>
                  <a:srgbClr val="CC0000"/>
                </a:solidFill>
                <a:latin typeface="微软雅黑" panose="020B0503020204020204" charset="-122"/>
                <a:ea typeface="微软雅黑" panose="020B0503020204020204" charset="-122"/>
              </a:rPr>
              <a:t> =</a:t>
            </a:r>
            <a:r>
              <a:rPr lang="en-US" altLang="zh-CN" sz="2400" dirty="0">
                <a:solidFill>
                  <a:srgbClr val="6600FF"/>
                </a:solidFill>
                <a:latin typeface="微软雅黑" panose="020B0503020204020204" charset="-122"/>
                <a:ea typeface="微软雅黑" panose="020B0503020204020204" charset="-122"/>
              </a:rPr>
              <a:t> </a:t>
            </a:r>
            <a:r>
              <a:rPr lang="en-US" altLang="zh-CN" sz="2400" dirty="0">
                <a:solidFill>
                  <a:srgbClr val="CC0000"/>
                </a:solidFill>
                <a:latin typeface="微软雅黑" panose="020B0503020204020204" charset="-122"/>
                <a:ea typeface="微软雅黑" panose="020B0503020204020204" charset="-122"/>
              </a:rPr>
              <a:t>(-1)</a:t>
            </a:r>
            <a:r>
              <a:rPr lang="en-US" altLang="zh-CN" sz="2400" baseline="30000" dirty="0">
                <a:solidFill>
                  <a:srgbClr val="CC0000"/>
                </a:solidFill>
                <a:latin typeface="微软雅黑" panose="020B0503020204020204" charset="-122"/>
                <a:ea typeface="微软雅黑" panose="020B0503020204020204" charset="-122"/>
              </a:rPr>
              <a:t>s </a:t>
            </a:r>
            <a:r>
              <a:rPr lang="en-US" altLang="zh-CN" sz="2400" dirty="0">
                <a:solidFill>
                  <a:srgbClr val="CC0000"/>
                </a:solidFill>
                <a:latin typeface="微软雅黑" panose="020B0503020204020204" charset="-122"/>
                <a:ea typeface="微软雅黑" panose="020B0503020204020204" charset="-122"/>
                <a:sym typeface="Symbol" panose="05050102010706020507" pitchFamily="18" charset="2"/>
              </a:rPr>
              <a:t></a:t>
            </a:r>
            <a:r>
              <a:rPr lang="en-US" altLang="zh-CN" sz="2400" dirty="0">
                <a:solidFill>
                  <a:srgbClr val="6600FF"/>
                </a:solidFill>
                <a:latin typeface="微软雅黑" panose="020B0503020204020204" charset="-122"/>
                <a:ea typeface="微软雅黑" panose="020B0503020204020204" charset="-122"/>
              </a:rPr>
              <a:t> </a:t>
            </a:r>
            <a:r>
              <a:rPr lang="en-US" altLang="zh-CN" sz="2400" dirty="0">
                <a:solidFill>
                  <a:srgbClr val="CC0000"/>
                </a:solidFill>
                <a:latin typeface="微软雅黑" panose="020B0503020204020204" charset="-122"/>
                <a:ea typeface="微软雅黑" panose="020B0503020204020204" charset="-122"/>
              </a:rPr>
              <a:t>(1.</a:t>
            </a:r>
            <a:r>
              <a:rPr lang="zh-CN" altLang="en-US" sz="2400" i="1" dirty="0">
                <a:solidFill>
                  <a:srgbClr val="CC0000"/>
                </a:solidFill>
                <a:latin typeface="微软雅黑" panose="020B0503020204020204" charset="-122"/>
                <a:ea typeface="微软雅黑" panose="020B0503020204020204" charset="-122"/>
              </a:rPr>
              <a:t>Ｍ</a:t>
            </a:r>
            <a:r>
              <a:rPr lang="en-US" altLang="zh-CN" sz="2400" dirty="0">
                <a:solidFill>
                  <a:srgbClr val="CC0000"/>
                </a:solidFill>
                <a:latin typeface="微软雅黑" panose="020B0503020204020204" charset="-122"/>
                <a:ea typeface="微软雅黑" panose="020B0503020204020204" charset="-122"/>
              </a:rPr>
              <a:t>) </a:t>
            </a:r>
            <a:r>
              <a:rPr lang="en-US" altLang="zh-CN" sz="2400" dirty="0">
                <a:solidFill>
                  <a:srgbClr val="CC0000"/>
                </a:solidFill>
                <a:latin typeface="微软雅黑" panose="020B0503020204020204" charset="-122"/>
                <a:ea typeface="微软雅黑" panose="020B0503020204020204" charset="-122"/>
                <a:sym typeface="Symbol" panose="05050102010706020507" pitchFamily="18" charset="2"/>
              </a:rPr>
              <a:t></a:t>
            </a:r>
            <a:r>
              <a:rPr lang="en-US" altLang="zh-CN" sz="2400" dirty="0">
                <a:solidFill>
                  <a:srgbClr val="CC0000"/>
                </a:solidFill>
                <a:latin typeface="微软雅黑" panose="020B0503020204020204" charset="-122"/>
                <a:ea typeface="微软雅黑" panose="020B0503020204020204" charset="-122"/>
              </a:rPr>
              <a:t> 2</a:t>
            </a:r>
            <a:r>
              <a:rPr lang="zh-CN" altLang="en-US" sz="2400" i="1" baseline="30000" dirty="0">
                <a:solidFill>
                  <a:srgbClr val="CC0000"/>
                </a:solidFill>
                <a:latin typeface="微软雅黑" panose="020B0503020204020204" charset="-122"/>
                <a:ea typeface="微软雅黑" panose="020B0503020204020204" charset="-122"/>
              </a:rPr>
              <a:t>Ｅ</a:t>
            </a:r>
            <a:r>
              <a:rPr lang="en-US" altLang="zh-CN" sz="2400" i="1" baseline="30000" dirty="0">
                <a:solidFill>
                  <a:srgbClr val="CC0000"/>
                </a:solidFill>
                <a:latin typeface="微软雅黑" panose="020B0503020204020204" charset="-122"/>
                <a:ea typeface="微软雅黑" panose="020B0503020204020204" charset="-122"/>
              </a:rPr>
              <a:t>-127 		</a:t>
            </a:r>
            <a:r>
              <a:rPr lang="en-US" altLang="zh-CN" sz="2400" i="1" dirty="0">
                <a:solidFill>
                  <a:srgbClr val="6600FF"/>
                </a:solidFill>
                <a:latin typeface="微软雅黑" panose="020B0503020204020204" charset="-122"/>
                <a:ea typeface="微软雅黑" panose="020B0503020204020204" charset="-122"/>
              </a:rPr>
              <a:t>e </a:t>
            </a:r>
            <a:r>
              <a:rPr lang="en-US" altLang="zh-CN" sz="2400" dirty="0">
                <a:solidFill>
                  <a:srgbClr val="6600FF"/>
                </a:solidFill>
                <a:latin typeface="微软雅黑" panose="020B0503020204020204" charset="-122"/>
                <a:ea typeface="微软雅黑" panose="020B0503020204020204" charset="-122"/>
              </a:rPr>
              <a:t>=</a:t>
            </a:r>
            <a:r>
              <a:rPr lang="zh-CN" altLang="en-US" sz="2400" i="1" dirty="0">
                <a:solidFill>
                  <a:srgbClr val="6600FF"/>
                </a:solidFill>
                <a:latin typeface="微软雅黑" panose="020B0503020204020204" charset="-122"/>
                <a:ea typeface="微软雅黑" panose="020B0503020204020204" charset="-122"/>
              </a:rPr>
              <a:t>Ｅ </a:t>
            </a:r>
            <a:r>
              <a:rPr lang="en-US" altLang="zh-CN" sz="2400" dirty="0">
                <a:solidFill>
                  <a:srgbClr val="0000FF"/>
                </a:solidFill>
                <a:latin typeface="微软雅黑" panose="020B0503020204020204" charset="-122"/>
                <a:ea typeface="微软雅黑" panose="020B0503020204020204" charset="-122"/>
              </a:rPr>
              <a:t>– </a:t>
            </a:r>
            <a:r>
              <a:rPr lang="en-US" altLang="zh-CN" sz="2400" dirty="0">
                <a:solidFill>
                  <a:srgbClr val="6600FF"/>
                </a:solidFill>
                <a:latin typeface="微软雅黑" panose="020B0503020204020204" charset="-122"/>
                <a:ea typeface="微软雅黑" panose="020B0503020204020204" charset="-122"/>
              </a:rPr>
              <a:t>127</a:t>
            </a:r>
            <a:endParaRPr lang="en-US" altLang="zh-CN" sz="2400" dirty="0">
              <a:solidFill>
                <a:srgbClr val="6600FF"/>
              </a:solidFill>
              <a:latin typeface="微软雅黑" panose="020B0503020204020204" charset="-122"/>
              <a:ea typeface="微软雅黑" panose="020B0503020204020204" charset="-122"/>
            </a:endParaRPr>
          </a:p>
          <a:p>
            <a:pPr>
              <a:lnSpc>
                <a:spcPct val="95000"/>
              </a:lnSpc>
              <a:spcBef>
                <a:spcPts val="1800"/>
              </a:spcBef>
              <a:buClr>
                <a:schemeClr val="tx2"/>
              </a:buClr>
              <a:buSzPct val="80000"/>
              <a:buChar char="u"/>
            </a:pPr>
            <a:r>
              <a:rPr lang="en-US" altLang="zh-CN" sz="2400" dirty="0">
                <a:solidFill>
                  <a:srgbClr val="000066"/>
                </a:solidFill>
                <a:latin typeface="微软雅黑" panose="020B0503020204020204" charset="-122"/>
                <a:ea typeface="微软雅黑" panose="020B0503020204020204" charset="-122"/>
              </a:rPr>
              <a:t>IEEE754</a:t>
            </a:r>
            <a:r>
              <a:rPr lang="zh-CN" altLang="en-US" sz="2400" dirty="0">
                <a:solidFill>
                  <a:srgbClr val="000066"/>
                </a:solidFill>
                <a:latin typeface="微软雅黑" panose="020B0503020204020204" charset="-122"/>
                <a:ea typeface="微软雅黑" panose="020B0503020204020204" charset="-122"/>
              </a:rPr>
              <a:t>标准</a:t>
            </a:r>
            <a:r>
              <a:rPr lang="en-US" altLang="zh-CN" sz="2400" dirty="0">
                <a:solidFill>
                  <a:srgbClr val="000066"/>
                </a:solidFill>
                <a:latin typeface="微软雅黑" panose="020B0503020204020204" charset="-122"/>
                <a:ea typeface="微软雅黑" panose="020B0503020204020204" charset="-122"/>
              </a:rPr>
              <a:t>,</a:t>
            </a:r>
            <a:r>
              <a:rPr lang="zh-CN" altLang="en-US" sz="2400" dirty="0">
                <a:solidFill>
                  <a:srgbClr val="000066"/>
                </a:solidFill>
                <a:latin typeface="微软雅黑" panose="020B0503020204020204" charset="-122"/>
                <a:ea typeface="微软雅黑" panose="020B0503020204020204" charset="-122"/>
              </a:rPr>
              <a:t>一个规格化的</a:t>
            </a:r>
            <a:r>
              <a:rPr lang="en-US" altLang="zh-CN" sz="2400" dirty="0">
                <a:solidFill>
                  <a:srgbClr val="000066"/>
                </a:solidFill>
                <a:latin typeface="微软雅黑" panose="020B0503020204020204" charset="-122"/>
                <a:ea typeface="微软雅黑" panose="020B0503020204020204" charset="-122"/>
              </a:rPr>
              <a:t>64</a:t>
            </a:r>
            <a:r>
              <a:rPr lang="zh-CN" altLang="en-US" sz="2400" dirty="0">
                <a:solidFill>
                  <a:srgbClr val="000066"/>
                </a:solidFill>
                <a:latin typeface="微软雅黑" panose="020B0503020204020204" charset="-122"/>
                <a:ea typeface="微软雅黑" panose="020B0503020204020204" charset="-122"/>
              </a:rPr>
              <a:t>位浮点数ｘ的真值为：</a:t>
            </a:r>
            <a:endParaRPr lang="zh-CN" altLang="en-US" sz="2400" dirty="0">
              <a:solidFill>
                <a:srgbClr val="000066"/>
              </a:solidFill>
              <a:latin typeface="微软雅黑" panose="020B0503020204020204" charset="-122"/>
              <a:ea typeface="微软雅黑" panose="020B0503020204020204" charset="-122"/>
            </a:endParaRPr>
          </a:p>
          <a:p>
            <a:pPr lvl="1">
              <a:lnSpc>
                <a:spcPct val="110000"/>
              </a:lnSpc>
            </a:pPr>
            <a:r>
              <a:rPr lang="en-US" altLang="zh-CN" sz="2400" i="1" dirty="0">
                <a:solidFill>
                  <a:srgbClr val="CC0000"/>
                </a:solidFill>
                <a:latin typeface="微软雅黑" panose="020B0503020204020204" charset="-122"/>
                <a:ea typeface="微软雅黑" panose="020B0503020204020204" charset="-122"/>
              </a:rPr>
              <a:t>x </a:t>
            </a:r>
            <a:r>
              <a:rPr lang="en-US" altLang="zh-CN" sz="2400" dirty="0">
                <a:solidFill>
                  <a:srgbClr val="CC0000"/>
                </a:solidFill>
                <a:latin typeface="微软雅黑" panose="020B0503020204020204" charset="-122"/>
                <a:ea typeface="微软雅黑" panose="020B0503020204020204" charset="-122"/>
              </a:rPr>
              <a:t>= ( –1)</a:t>
            </a:r>
            <a:r>
              <a:rPr lang="en-US" altLang="zh-CN" sz="2400" i="1" baseline="30000" dirty="0">
                <a:solidFill>
                  <a:srgbClr val="CC0000"/>
                </a:solidFill>
                <a:latin typeface="微软雅黑" panose="020B0503020204020204" charset="-122"/>
                <a:ea typeface="微软雅黑" panose="020B0503020204020204" charset="-122"/>
              </a:rPr>
              <a:t>s</a:t>
            </a:r>
            <a:r>
              <a:rPr lang="en-US" altLang="zh-CN" sz="2400" dirty="0">
                <a:solidFill>
                  <a:srgbClr val="CC0000"/>
                </a:solidFill>
                <a:latin typeface="微软雅黑" panose="020B0503020204020204" charset="-122"/>
                <a:ea typeface="微软雅黑" panose="020B0503020204020204" charset="-122"/>
              </a:rPr>
              <a:t>×(1.</a:t>
            </a:r>
            <a:r>
              <a:rPr lang="zh-CN" altLang="en-US" sz="2400" i="1" dirty="0">
                <a:solidFill>
                  <a:srgbClr val="CC0000"/>
                </a:solidFill>
                <a:latin typeface="微软雅黑" panose="020B0503020204020204" charset="-122"/>
                <a:ea typeface="微软雅黑" panose="020B0503020204020204" charset="-122"/>
              </a:rPr>
              <a:t>Ｍ</a:t>
            </a:r>
            <a:r>
              <a:rPr lang="en-US" altLang="zh-CN" sz="2400" dirty="0">
                <a:solidFill>
                  <a:srgbClr val="CC0000"/>
                </a:solidFill>
                <a:latin typeface="微软雅黑" panose="020B0503020204020204" charset="-122"/>
                <a:ea typeface="微软雅黑" panose="020B0503020204020204" charset="-122"/>
              </a:rPr>
              <a:t>)×2</a:t>
            </a:r>
            <a:r>
              <a:rPr lang="zh-CN" altLang="en-US" sz="2400" i="1" baseline="30000" dirty="0">
                <a:solidFill>
                  <a:srgbClr val="CC0000"/>
                </a:solidFill>
                <a:latin typeface="微软雅黑" panose="020B0503020204020204" charset="-122"/>
                <a:ea typeface="微软雅黑" panose="020B0503020204020204" charset="-122"/>
              </a:rPr>
              <a:t>Ｅ</a:t>
            </a:r>
            <a:r>
              <a:rPr lang="en-US" altLang="zh-CN" sz="2400" i="1" baseline="30000" dirty="0">
                <a:solidFill>
                  <a:srgbClr val="CC0000"/>
                </a:solidFill>
                <a:latin typeface="微软雅黑" panose="020B0503020204020204" charset="-122"/>
                <a:ea typeface="微软雅黑" panose="020B0503020204020204" charset="-122"/>
              </a:rPr>
              <a:t>-1023		</a:t>
            </a:r>
            <a:r>
              <a:rPr lang="en-US" altLang="zh-CN" sz="2400" i="1" dirty="0">
                <a:solidFill>
                  <a:srgbClr val="6600FF"/>
                </a:solidFill>
                <a:latin typeface="微软雅黑" panose="020B0503020204020204" charset="-122"/>
                <a:ea typeface="微软雅黑" panose="020B0503020204020204" charset="-122"/>
              </a:rPr>
              <a:t>e </a:t>
            </a:r>
            <a:r>
              <a:rPr lang="en-US" altLang="zh-CN" sz="2400" dirty="0">
                <a:solidFill>
                  <a:srgbClr val="6600FF"/>
                </a:solidFill>
                <a:latin typeface="微软雅黑" panose="020B0503020204020204" charset="-122"/>
                <a:ea typeface="微软雅黑" panose="020B0503020204020204" charset="-122"/>
              </a:rPr>
              <a:t>=</a:t>
            </a:r>
            <a:r>
              <a:rPr lang="zh-CN" altLang="en-US" sz="2400" i="1" dirty="0">
                <a:solidFill>
                  <a:srgbClr val="6600FF"/>
                </a:solidFill>
                <a:latin typeface="微软雅黑" panose="020B0503020204020204" charset="-122"/>
                <a:ea typeface="微软雅黑" panose="020B0503020204020204" charset="-122"/>
              </a:rPr>
              <a:t>Ｅ </a:t>
            </a:r>
            <a:r>
              <a:rPr lang="en-US" altLang="zh-CN" sz="2400" dirty="0">
                <a:solidFill>
                  <a:srgbClr val="0000FF"/>
                </a:solidFill>
                <a:latin typeface="微软雅黑" panose="020B0503020204020204" charset="-122"/>
                <a:ea typeface="微软雅黑" panose="020B0503020204020204" charset="-122"/>
              </a:rPr>
              <a:t>– </a:t>
            </a:r>
            <a:r>
              <a:rPr lang="en-US" altLang="zh-CN" sz="2400" dirty="0">
                <a:solidFill>
                  <a:srgbClr val="6600FF"/>
                </a:solidFill>
                <a:latin typeface="微软雅黑" panose="020B0503020204020204" charset="-122"/>
                <a:ea typeface="微软雅黑" panose="020B0503020204020204" charset="-122"/>
              </a:rPr>
              <a:t>1023</a:t>
            </a:r>
            <a:endParaRPr lang="en-US" altLang="zh-CN" sz="2400" dirty="0">
              <a:solidFill>
                <a:srgbClr val="6600FF"/>
              </a:solidFill>
              <a:latin typeface="微软雅黑" panose="020B0503020204020204" charset="-122"/>
              <a:ea typeface="微软雅黑" panose="020B0503020204020204" charset="-122"/>
            </a:endParaRPr>
          </a:p>
          <a:p>
            <a:pPr>
              <a:lnSpc>
                <a:spcPct val="95000"/>
              </a:lnSpc>
              <a:spcBef>
                <a:spcPts val="1800"/>
              </a:spcBef>
              <a:buClr>
                <a:schemeClr val="tx2"/>
              </a:buClr>
              <a:buSzPct val="80000"/>
              <a:buChar char="u"/>
            </a:pPr>
            <a:r>
              <a:rPr lang="en-US" altLang="zh-CN" sz="2400" dirty="0">
                <a:solidFill>
                  <a:srgbClr val="000066"/>
                </a:solidFill>
                <a:latin typeface="微软雅黑" panose="020B0503020204020204" charset="-122"/>
                <a:ea typeface="微软雅黑" panose="020B0503020204020204" charset="-122"/>
              </a:rPr>
              <a:t>E=0</a:t>
            </a:r>
            <a:r>
              <a:rPr lang="zh-CN" altLang="en-US" sz="2400" dirty="0">
                <a:solidFill>
                  <a:srgbClr val="000066"/>
                </a:solidFill>
                <a:latin typeface="微软雅黑" panose="020B0503020204020204" charset="-122"/>
                <a:ea typeface="微软雅黑" panose="020B0503020204020204" charset="-122"/>
              </a:rPr>
              <a:t>且</a:t>
            </a:r>
            <a:r>
              <a:rPr lang="en-US" altLang="zh-CN" sz="2400" dirty="0">
                <a:solidFill>
                  <a:srgbClr val="000066"/>
                </a:solidFill>
                <a:latin typeface="微软雅黑" panose="020B0503020204020204" charset="-122"/>
                <a:ea typeface="微软雅黑" panose="020B0503020204020204" charset="-122"/>
              </a:rPr>
              <a:t>M=0, </a:t>
            </a:r>
            <a:r>
              <a:rPr lang="zh-CN" altLang="en-US" sz="2400" dirty="0">
                <a:solidFill>
                  <a:srgbClr val="000066"/>
                </a:solidFill>
                <a:latin typeface="微软雅黑" panose="020B0503020204020204" charset="-122"/>
                <a:ea typeface="微软雅黑" panose="020B0503020204020204" charset="-122"/>
              </a:rPr>
              <a:t>浮点数ｘ的真值为零，称为机器零</a:t>
            </a:r>
            <a:endParaRPr lang="zh-CN" altLang="en-US" sz="2400" dirty="0">
              <a:solidFill>
                <a:srgbClr val="000066"/>
              </a:solidFill>
              <a:latin typeface="微软雅黑" panose="020B0503020204020204" charset="-122"/>
              <a:ea typeface="微软雅黑" panose="020B0503020204020204" charset="-122"/>
            </a:endParaRPr>
          </a:p>
          <a:p>
            <a:pPr lvl="1">
              <a:lnSpc>
                <a:spcPct val="110000"/>
              </a:lnSpc>
            </a:pPr>
            <a:r>
              <a:rPr lang="en-US" altLang="zh-CN" sz="2400" dirty="0">
                <a:latin typeface="微软雅黑" panose="020B0503020204020204" charset="-122"/>
                <a:ea typeface="微软雅黑" panose="020B0503020204020204" charset="-122"/>
              </a:rPr>
              <a:t>S=0, +0		S=1, -0</a:t>
            </a:r>
            <a:endParaRPr lang="en-US" altLang="zh-CN" sz="2400" dirty="0">
              <a:latin typeface="微软雅黑" panose="020B0503020204020204" charset="-122"/>
              <a:ea typeface="微软雅黑" panose="020B0503020204020204" charset="-122"/>
            </a:endParaRPr>
          </a:p>
          <a:p>
            <a:pPr>
              <a:lnSpc>
                <a:spcPct val="95000"/>
              </a:lnSpc>
              <a:spcBef>
                <a:spcPts val="1800"/>
              </a:spcBef>
              <a:buClr>
                <a:schemeClr val="tx2"/>
              </a:buClr>
              <a:buSzPct val="80000"/>
              <a:buChar char="u"/>
            </a:pPr>
            <a:r>
              <a:rPr lang="en-US" altLang="zh-CN" sz="2400" dirty="0">
                <a:solidFill>
                  <a:srgbClr val="000066"/>
                </a:solidFill>
                <a:latin typeface="微软雅黑" panose="020B0503020204020204" charset="-122"/>
                <a:ea typeface="微软雅黑" panose="020B0503020204020204" charset="-122"/>
              </a:rPr>
              <a:t>E=11...1,M=0,</a:t>
            </a:r>
            <a:r>
              <a:rPr lang="zh-CN" altLang="en-US" sz="2400" dirty="0">
                <a:solidFill>
                  <a:srgbClr val="000066"/>
                </a:solidFill>
                <a:latin typeface="微软雅黑" panose="020B0503020204020204" charset="-122"/>
                <a:ea typeface="微软雅黑" panose="020B0503020204020204" charset="-122"/>
              </a:rPr>
              <a:t>浮点数ｘ的真值为</a:t>
            </a:r>
            <a:r>
              <a:rPr lang="zh-CN" altLang="en-US" sz="2400" dirty="0">
                <a:solidFill>
                  <a:srgbClr val="000066"/>
                </a:solidFill>
                <a:latin typeface="微软雅黑" panose="020B0503020204020204" charset="-122"/>
                <a:ea typeface="微软雅黑" panose="020B0503020204020204" charset="-122"/>
                <a:sym typeface="Symbol" panose="05050102010706020507" pitchFamily="18" charset="2"/>
              </a:rPr>
              <a:t></a:t>
            </a:r>
            <a:endParaRPr lang="zh-CN" altLang="en-US" sz="2400" dirty="0">
              <a:solidFill>
                <a:srgbClr val="000066"/>
              </a:solidFill>
              <a:latin typeface="微软雅黑" panose="020B0503020204020204" charset="-122"/>
              <a:ea typeface="微软雅黑" panose="020B0503020204020204" charset="-122"/>
              <a:sym typeface="Symbol" panose="05050102010706020507" pitchFamily="18" charset="2"/>
            </a:endParaRPr>
          </a:p>
          <a:p>
            <a:pPr lvl="1">
              <a:lnSpc>
                <a:spcPct val="110000"/>
              </a:lnSpc>
            </a:pPr>
            <a:r>
              <a:rPr lang="en-US" altLang="zh-CN" sz="2400" dirty="0">
                <a:latin typeface="微软雅黑" panose="020B0503020204020204" charset="-122"/>
                <a:ea typeface="微软雅黑" panose="020B0503020204020204" charset="-122"/>
              </a:rPr>
              <a:t>S=0, + </a:t>
            </a:r>
            <a:r>
              <a:rPr lang="en-US" altLang="zh-CN" sz="2400" dirty="0">
                <a:latin typeface="微软雅黑" panose="020B0503020204020204" charset="-122"/>
                <a:ea typeface="微软雅黑" panose="020B0503020204020204" charset="-122"/>
                <a:sym typeface="Symbol" panose="05050102010706020507" pitchFamily="18" charset="2"/>
              </a:rPr>
              <a:t>		</a:t>
            </a:r>
            <a:r>
              <a:rPr lang="en-US" altLang="zh-CN" sz="2400" dirty="0">
                <a:latin typeface="微软雅黑" panose="020B0503020204020204" charset="-122"/>
                <a:ea typeface="微软雅黑" panose="020B0503020204020204" charset="-122"/>
              </a:rPr>
              <a:t>S=1, - </a:t>
            </a:r>
            <a:r>
              <a:rPr lang="en-US" altLang="zh-CN" sz="2400" dirty="0">
                <a:latin typeface="微软雅黑" panose="020B0503020204020204" charset="-122"/>
                <a:ea typeface="微软雅黑" panose="020B0503020204020204" charset="-122"/>
                <a:sym typeface="Symbol" panose="05050102010706020507" pitchFamily="18" charset="2"/>
              </a:rPr>
              <a:t></a:t>
            </a:r>
            <a:endParaRPr lang="en-US" altLang="zh-CN" sz="2400" dirty="0">
              <a:latin typeface="微软雅黑" panose="020B0503020204020204" charset="-122"/>
              <a:ea typeface="微软雅黑" panose="020B0503020204020204"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Rectangle 2"/>
          <p:cNvSpPr>
            <a:spLocks noGrp="1" noRot="1"/>
          </p:cNvSpPr>
          <p:nvPr>
            <p:ph type="title"/>
          </p:nvPr>
        </p:nvSpPr>
        <p:spPr>
          <a:noFill/>
          <a:ln>
            <a:noFill/>
          </a:ln>
        </p:spPr>
        <p:txBody>
          <a:bodyPr anchor="t"/>
          <a:p>
            <a:pPr>
              <a:buNone/>
            </a:pPr>
            <a:r>
              <a:rPr lang="zh-CN" altLang="en-US" dirty="0">
                <a:latin typeface="微软雅黑" panose="020B0503020204020204" charset="-122"/>
                <a:ea typeface="微软雅黑" panose="020B0503020204020204" charset="-122"/>
              </a:rPr>
              <a:t>例</a:t>
            </a:r>
            <a:r>
              <a:rPr lang="en-US" altLang="zh-CN" dirty="0">
                <a:latin typeface="微软雅黑" panose="020B0503020204020204" charset="-122"/>
                <a:ea typeface="微软雅黑" panose="020B0503020204020204" charset="-122"/>
              </a:rPr>
              <a:t>1</a:t>
            </a:r>
            <a:endParaRPr lang="en-US" altLang="zh-CN" dirty="0">
              <a:latin typeface="微软雅黑" panose="020B0503020204020204" charset="-122"/>
              <a:ea typeface="微软雅黑" panose="020B0503020204020204" charset="-122"/>
            </a:endParaRPr>
          </a:p>
        </p:txBody>
      </p:sp>
      <p:sp>
        <p:nvSpPr>
          <p:cNvPr id="83970" name="Rectangle 3"/>
          <p:cNvSpPr>
            <a:spLocks noGrp="1" noRot="1"/>
          </p:cNvSpPr>
          <p:nvPr>
            <p:ph idx="1"/>
          </p:nvPr>
        </p:nvSpPr>
        <p:spPr>
          <a:xfrm>
            <a:off x="301625" y="1268413"/>
            <a:ext cx="8540750" cy="5113337"/>
          </a:xfrm>
          <a:noFill/>
          <a:ln>
            <a:noFill/>
          </a:ln>
        </p:spPr>
        <p:txBody>
          <a:bodyPr anchor="t"/>
          <a:p>
            <a:pPr>
              <a:lnSpc>
                <a:spcPct val="95000"/>
              </a:lnSpc>
              <a:spcBef>
                <a:spcPts val="1800"/>
              </a:spcBef>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若浮点数 </a:t>
            </a:r>
            <a:r>
              <a:rPr lang="en-US" altLang="zh-CN" dirty="0">
                <a:solidFill>
                  <a:schemeClr val="tx2"/>
                </a:solidFill>
                <a:latin typeface="微软雅黑" panose="020B0503020204020204" charset="-122"/>
                <a:ea typeface="微软雅黑" panose="020B0503020204020204" charset="-122"/>
              </a:rPr>
              <a:t>x </a:t>
            </a:r>
            <a:r>
              <a:rPr lang="zh-CN" altLang="en-US" dirty="0">
                <a:solidFill>
                  <a:schemeClr val="tx2"/>
                </a:solidFill>
                <a:latin typeface="微软雅黑" panose="020B0503020204020204" charset="-122"/>
                <a:ea typeface="微软雅黑" panose="020B0503020204020204" charset="-122"/>
              </a:rPr>
              <a:t>的二进制存储格式为</a:t>
            </a:r>
            <a:r>
              <a:rPr lang="en-US" altLang="zh-CN" dirty="0">
                <a:solidFill>
                  <a:schemeClr val="tx2"/>
                </a:solidFill>
                <a:latin typeface="微软雅黑" panose="020B0503020204020204" charset="-122"/>
                <a:ea typeface="微软雅黑" panose="020B0503020204020204" charset="-122"/>
              </a:rPr>
              <a:t>(41360000)</a:t>
            </a:r>
            <a:r>
              <a:rPr lang="en-US" altLang="zh-CN" baseline="-25000" dirty="0">
                <a:solidFill>
                  <a:schemeClr val="tx2"/>
                </a:solidFill>
                <a:latin typeface="微软雅黑" panose="020B0503020204020204" charset="-122"/>
                <a:ea typeface="微软雅黑" panose="020B0503020204020204" charset="-122"/>
              </a:rPr>
              <a:t>16</a:t>
            </a:r>
            <a:r>
              <a:rPr lang="zh-CN" altLang="en-US" dirty="0">
                <a:solidFill>
                  <a:schemeClr val="tx2"/>
                </a:solidFill>
                <a:latin typeface="微软雅黑" panose="020B0503020204020204" charset="-122"/>
                <a:ea typeface="微软雅黑" panose="020B0503020204020204" charset="-122"/>
              </a:rPr>
              <a:t>，求</a:t>
            </a:r>
            <a:r>
              <a:rPr lang="en-US" altLang="zh-CN" dirty="0">
                <a:solidFill>
                  <a:schemeClr val="tx2"/>
                </a:solidFill>
                <a:latin typeface="微软雅黑" panose="020B0503020204020204" charset="-122"/>
                <a:ea typeface="微软雅黑" panose="020B0503020204020204" charset="-122"/>
              </a:rPr>
              <a:t>32</a:t>
            </a:r>
            <a:r>
              <a:rPr lang="zh-CN" altLang="en-US" dirty="0">
                <a:solidFill>
                  <a:schemeClr val="tx2"/>
                </a:solidFill>
                <a:latin typeface="微软雅黑" panose="020B0503020204020204" charset="-122"/>
                <a:ea typeface="微软雅黑" panose="020B0503020204020204" charset="-122"/>
              </a:rPr>
              <a:t>位浮点数的十进制值。</a:t>
            </a:r>
            <a:endParaRPr lang="zh-CN" altLang="en-US" dirty="0">
              <a:solidFill>
                <a:schemeClr val="tx2"/>
              </a:solidFill>
              <a:latin typeface="微软雅黑" panose="020B0503020204020204" charset="-122"/>
              <a:ea typeface="微软雅黑" panose="020B0503020204020204" charset="-122"/>
            </a:endParaRPr>
          </a:p>
          <a:p>
            <a:pPr lvl="1">
              <a:lnSpc>
                <a:spcPct val="90000"/>
              </a:lnSpc>
              <a:spcBef>
                <a:spcPts val="1800"/>
              </a:spcBef>
            </a:pPr>
            <a:r>
              <a:rPr lang="en-US" altLang="zh-CN" sz="2400" b="1" dirty="0">
                <a:solidFill>
                  <a:srgbClr val="FF0000"/>
                </a:solidFill>
                <a:latin typeface="微软雅黑" panose="020B0503020204020204" charset="-122"/>
                <a:ea typeface="微软雅黑" panose="020B0503020204020204" charset="-122"/>
              </a:rPr>
              <a:t>0</a:t>
            </a:r>
            <a:r>
              <a:rPr lang="en-US" altLang="zh-CN" sz="2400" b="1" dirty="0">
                <a:solidFill>
                  <a:srgbClr val="000066"/>
                </a:solidFill>
                <a:latin typeface="微软雅黑" panose="020B0503020204020204" charset="-122"/>
                <a:ea typeface="微软雅黑" panose="020B0503020204020204" charset="-122"/>
              </a:rPr>
              <a:t>100,0001,0</a:t>
            </a:r>
            <a:r>
              <a:rPr lang="en-US" altLang="zh-CN" sz="2400" b="1" dirty="0">
                <a:solidFill>
                  <a:srgbClr val="FFC000"/>
                </a:solidFill>
                <a:latin typeface="微软雅黑" panose="020B0503020204020204" charset="-122"/>
                <a:ea typeface="微软雅黑" panose="020B0503020204020204" charset="-122"/>
              </a:rPr>
              <a:t>011,0110,0000,0000,0000,0000</a:t>
            </a:r>
            <a:endParaRPr lang="en-US" altLang="zh-CN" sz="2400" b="1" dirty="0">
              <a:solidFill>
                <a:srgbClr val="000066"/>
              </a:solidFill>
              <a:latin typeface="微软雅黑" panose="020B0503020204020204" charset="-122"/>
              <a:ea typeface="微软雅黑" panose="020B0503020204020204" charset="-122"/>
            </a:endParaRPr>
          </a:p>
          <a:p>
            <a:pPr lvl="2">
              <a:lnSpc>
                <a:spcPct val="90000"/>
              </a:lnSpc>
            </a:pPr>
            <a:r>
              <a:rPr lang="zh-CN" altLang="en-US" sz="2000" b="1" dirty="0">
                <a:solidFill>
                  <a:srgbClr val="000066"/>
                </a:solidFill>
                <a:latin typeface="微软雅黑" panose="020B0503020204020204" charset="-122"/>
                <a:ea typeface="微软雅黑" panose="020B0503020204020204" charset="-122"/>
              </a:rPr>
              <a:t>数符：</a:t>
            </a:r>
            <a:r>
              <a:rPr lang="en-US" altLang="zh-CN" sz="2000" b="1" dirty="0">
                <a:solidFill>
                  <a:srgbClr val="000066"/>
                </a:solidFill>
                <a:latin typeface="微软雅黑" panose="020B0503020204020204" charset="-122"/>
                <a:ea typeface="微软雅黑" panose="020B0503020204020204" charset="-122"/>
              </a:rPr>
              <a:t>0</a:t>
            </a:r>
            <a:endParaRPr lang="en-US" altLang="zh-CN" sz="2000" b="1" dirty="0">
              <a:solidFill>
                <a:srgbClr val="000066"/>
              </a:solidFill>
              <a:latin typeface="微软雅黑" panose="020B0503020204020204" charset="-122"/>
              <a:ea typeface="微软雅黑" panose="020B0503020204020204" charset="-122"/>
            </a:endParaRPr>
          </a:p>
          <a:p>
            <a:pPr lvl="2">
              <a:lnSpc>
                <a:spcPct val="90000"/>
              </a:lnSpc>
            </a:pPr>
            <a:r>
              <a:rPr lang="zh-CN" altLang="en-US" sz="2000" b="1" dirty="0">
                <a:solidFill>
                  <a:srgbClr val="000066"/>
                </a:solidFill>
                <a:latin typeface="微软雅黑" panose="020B0503020204020204" charset="-122"/>
                <a:ea typeface="微软雅黑" panose="020B0503020204020204" charset="-122"/>
              </a:rPr>
              <a:t>阶码：</a:t>
            </a:r>
            <a:r>
              <a:rPr lang="en-US" altLang="zh-CN" sz="2000" b="1" dirty="0">
                <a:solidFill>
                  <a:srgbClr val="000066"/>
                </a:solidFill>
                <a:latin typeface="微软雅黑" panose="020B0503020204020204" charset="-122"/>
                <a:ea typeface="微软雅黑" panose="020B0503020204020204" charset="-122"/>
              </a:rPr>
              <a:t>1000,0010</a:t>
            </a:r>
            <a:endParaRPr lang="en-US" altLang="zh-CN" sz="2000" b="1" dirty="0">
              <a:solidFill>
                <a:srgbClr val="000066"/>
              </a:solidFill>
              <a:latin typeface="微软雅黑" panose="020B0503020204020204" charset="-122"/>
              <a:ea typeface="微软雅黑" panose="020B0503020204020204" charset="-122"/>
            </a:endParaRPr>
          </a:p>
          <a:p>
            <a:pPr lvl="2">
              <a:lnSpc>
                <a:spcPct val="90000"/>
              </a:lnSpc>
            </a:pPr>
            <a:r>
              <a:rPr lang="zh-CN" altLang="en-US" sz="2000" b="1" dirty="0">
                <a:solidFill>
                  <a:srgbClr val="000066"/>
                </a:solidFill>
                <a:latin typeface="微软雅黑" panose="020B0503020204020204" charset="-122"/>
                <a:ea typeface="微软雅黑" panose="020B0503020204020204" charset="-122"/>
              </a:rPr>
              <a:t>尾数：</a:t>
            </a:r>
            <a:r>
              <a:rPr lang="en-US" altLang="zh-CN" sz="2000" b="1" dirty="0">
                <a:solidFill>
                  <a:srgbClr val="000066"/>
                </a:solidFill>
                <a:latin typeface="微软雅黑" panose="020B0503020204020204" charset="-122"/>
                <a:ea typeface="微软雅黑" panose="020B0503020204020204" charset="-122"/>
              </a:rPr>
              <a:t>011,0110,0000,0000,0000,0000</a:t>
            </a:r>
            <a:endParaRPr lang="en-US" altLang="zh-CN" sz="2000" b="1" dirty="0">
              <a:solidFill>
                <a:srgbClr val="000066"/>
              </a:solidFill>
              <a:latin typeface="微软雅黑" panose="020B0503020204020204" charset="-122"/>
              <a:ea typeface="微软雅黑" panose="020B0503020204020204" charset="-122"/>
            </a:endParaRPr>
          </a:p>
          <a:p>
            <a:pPr lvl="1">
              <a:lnSpc>
                <a:spcPct val="90000"/>
              </a:lnSpc>
            </a:pPr>
            <a:r>
              <a:rPr lang="zh-CN" altLang="en-US" sz="2400" b="1" dirty="0">
                <a:solidFill>
                  <a:srgbClr val="000066"/>
                </a:solidFill>
                <a:latin typeface="微软雅黑" panose="020B0503020204020204" charset="-122"/>
                <a:ea typeface="微软雅黑" panose="020B0503020204020204" charset="-122"/>
              </a:rPr>
              <a:t>指数</a:t>
            </a:r>
            <a:r>
              <a:rPr lang="en-US" altLang="zh-CN" sz="2400" b="1" dirty="0">
                <a:solidFill>
                  <a:srgbClr val="000066"/>
                </a:solidFill>
                <a:latin typeface="微软雅黑" panose="020B0503020204020204" charset="-122"/>
                <a:ea typeface="微软雅黑" panose="020B0503020204020204" charset="-122"/>
              </a:rPr>
              <a:t>e=</a:t>
            </a:r>
            <a:r>
              <a:rPr lang="zh-CN" altLang="en-US" sz="2400" b="1" dirty="0">
                <a:solidFill>
                  <a:srgbClr val="000066"/>
                </a:solidFill>
                <a:latin typeface="微软雅黑" panose="020B0503020204020204" charset="-122"/>
                <a:ea typeface="微软雅黑" panose="020B0503020204020204" charset="-122"/>
              </a:rPr>
              <a:t>阶码</a:t>
            </a:r>
            <a:r>
              <a:rPr lang="en-US" altLang="zh-CN" sz="2400" b="1" dirty="0">
                <a:solidFill>
                  <a:srgbClr val="000066"/>
                </a:solidFill>
                <a:latin typeface="微软雅黑" panose="020B0503020204020204" charset="-122"/>
                <a:ea typeface="微软雅黑" panose="020B0503020204020204" charset="-122"/>
              </a:rPr>
              <a:t>-127</a:t>
            </a:r>
            <a:endParaRPr lang="en-US" altLang="zh-CN" sz="2400" b="1" dirty="0">
              <a:solidFill>
                <a:srgbClr val="000066"/>
              </a:solidFill>
              <a:latin typeface="微软雅黑" panose="020B0503020204020204" charset="-122"/>
              <a:ea typeface="微软雅黑" panose="020B0503020204020204" charset="-122"/>
            </a:endParaRPr>
          </a:p>
          <a:p>
            <a:pPr lvl="2">
              <a:lnSpc>
                <a:spcPct val="90000"/>
              </a:lnSpc>
            </a:pPr>
            <a:r>
              <a:rPr lang="en-US" altLang="zh-CN" sz="2000" b="1" dirty="0">
                <a:solidFill>
                  <a:srgbClr val="000066"/>
                </a:solidFill>
                <a:latin typeface="微软雅黑" panose="020B0503020204020204" charset="-122"/>
                <a:ea typeface="微软雅黑" panose="020B0503020204020204" charset="-122"/>
              </a:rPr>
              <a:t>=10000010-01111111 =00000011=(3)</a:t>
            </a:r>
            <a:r>
              <a:rPr lang="en-US" altLang="zh-CN" sz="2000" b="1" baseline="-30000" dirty="0">
                <a:solidFill>
                  <a:srgbClr val="000066"/>
                </a:solidFill>
                <a:latin typeface="微软雅黑" panose="020B0503020204020204" charset="-122"/>
                <a:ea typeface="微软雅黑" panose="020B0503020204020204" charset="-122"/>
              </a:rPr>
              <a:t>10</a:t>
            </a:r>
            <a:endParaRPr lang="en-US" altLang="zh-CN" sz="2000" b="1" baseline="-30000" dirty="0">
              <a:solidFill>
                <a:srgbClr val="000066"/>
              </a:solidFill>
              <a:latin typeface="微软雅黑" panose="020B0503020204020204" charset="-122"/>
              <a:ea typeface="微软雅黑" panose="020B0503020204020204" charset="-122"/>
            </a:endParaRPr>
          </a:p>
          <a:p>
            <a:pPr lvl="1">
              <a:lnSpc>
                <a:spcPct val="90000"/>
              </a:lnSpc>
            </a:pPr>
            <a:r>
              <a:rPr lang="zh-CN" altLang="en-US" sz="2400" b="1" dirty="0">
                <a:solidFill>
                  <a:srgbClr val="000066"/>
                </a:solidFill>
                <a:latin typeface="微软雅黑" panose="020B0503020204020204" charset="-122"/>
                <a:ea typeface="微软雅黑" panose="020B0503020204020204" charset="-122"/>
              </a:rPr>
              <a:t>包括隐藏位</a:t>
            </a:r>
            <a:r>
              <a:rPr lang="en-US" altLang="zh-CN" sz="2400" b="1" dirty="0">
                <a:solidFill>
                  <a:srgbClr val="000066"/>
                </a:solidFill>
                <a:latin typeface="微软雅黑" panose="020B0503020204020204" charset="-122"/>
                <a:ea typeface="微软雅黑" panose="020B0503020204020204" charset="-122"/>
              </a:rPr>
              <a:t>1</a:t>
            </a:r>
            <a:r>
              <a:rPr lang="zh-CN" altLang="en-US" sz="2400" b="1" dirty="0">
                <a:solidFill>
                  <a:srgbClr val="000066"/>
                </a:solidFill>
                <a:latin typeface="微软雅黑" panose="020B0503020204020204" charset="-122"/>
                <a:ea typeface="微软雅黑" panose="020B0503020204020204" charset="-122"/>
              </a:rPr>
              <a:t>的尾数：</a:t>
            </a:r>
            <a:endParaRPr lang="zh-CN" altLang="en-US" sz="2400" b="1" dirty="0">
              <a:solidFill>
                <a:srgbClr val="000066"/>
              </a:solidFill>
              <a:latin typeface="微软雅黑" panose="020B0503020204020204" charset="-122"/>
              <a:ea typeface="微软雅黑" panose="020B0503020204020204" charset="-122"/>
            </a:endParaRPr>
          </a:p>
          <a:p>
            <a:pPr lvl="2">
              <a:lnSpc>
                <a:spcPct val="90000"/>
              </a:lnSpc>
            </a:pPr>
            <a:r>
              <a:rPr lang="en-US" altLang="zh-CN" sz="2000" b="1" dirty="0">
                <a:solidFill>
                  <a:srgbClr val="000066"/>
                </a:solidFill>
                <a:latin typeface="微软雅黑" panose="020B0503020204020204" charset="-122"/>
                <a:ea typeface="微软雅黑" panose="020B0503020204020204" charset="-122"/>
              </a:rPr>
              <a:t>1.</a:t>
            </a:r>
            <a:r>
              <a:rPr lang="en-US" altLang="zh-CN" sz="2000" b="1" i="1" dirty="0">
                <a:solidFill>
                  <a:srgbClr val="000066"/>
                </a:solidFill>
                <a:latin typeface="微软雅黑" panose="020B0503020204020204" charset="-122"/>
                <a:ea typeface="微软雅黑" panose="020B0503020204020204" charset="-122"/>
              </a:rPr>
              <a:t>M</a:t>
            </a:r>
            <a:r>
              <a:rPr lang="en-US" altLang="zh-CN" sz="2000" b="1" dirty="0">
                <a:solidFill>
                  <a:srgbClr val="000066"/>
                </a:solidFill>
                <a:latin typeface="微软雅黑" panose="020B0503020204020204" charset="-122"/>
                <a:ea typeface="微软雅黑" panose="020B0503020204020204" charset="-122"/>
              </a:rPr>
              <a:t>=1.011 0110 0000 0000 0000 0000=1.011011</a:t>
            </a:r>
            <a:endParaRPr lang="en-US" altLang="zh-CN" sz="2000" b="1" dirty="0">
              <a:solidFill>
                <a:srgbClr val="000066"/>
              </a:solidFill>
              <a:latin typeface="微软雅黑" panose="020B0503020204020204" charset="-122"/>
              <a:ea typeface="微软雅黑" panose="020B0503020204020204" charset="-122"/>
            </a:endParaRPr>
          </a:p>
          <a:p>
            <a:pPr lvl="1">
              <a:lnSpc>
                <a:spcPct val="90000"/>
              </a:lnSpc>
            </a:pPr>
            <a:r>
              <a:rPr lang="zh-CN" altLang="en-US" sz="2400" b="1" dirty="0">
                <a:solidFill>
                  <a:srgbClr val="000066"/>
                </a:solidFill>
                <a:latin typeface="微软雅黑" panose="020B0503020204020204" charset="-122"/>
                <a:ea typeface="微软雅黑" panose="020B0503020204020204" charset="-122"/>
              </a:rPr>
              <a:t>于是有</a:t>
            </a:r>
            <a:endParaRPr lang="zh-CN" altLang="en-US" sz="2400" b="1" dirty="0">
              <a:solidFill>
                <a:srgbClr val="000066"/>
              </a:solidFill>
              <a:latin typeface="微软雅黑" panose="020B0503020204020204" charset="-122"/>
              <a:ea typeface="微软雅黑" panose="020B0503020204020204" charset="-122"/>
            </a:endParaRPr>
          </a:p>
          <a:p>
            <a:pPr lvl="2">
              <a:lnSpc>
                <a:spcPct val="90000"/>
              </a:lnSpc>
            </a:pPr>
            <a:r>
              <a:rPr lang="en-US" altLang="zh-CN" sz="2000" b="1" i="1" dirty="0">
                <a:solidFill>
                  <a:srgbClr val="000066"/>
                </a:solidFill>
                <a:latin typeface="微软雅黑" panose="020B0503020204020204" charset="-122"/>
                <a:ea typeface="微软雅黑" panose="020B0503020204020204" charset="-122"/>
              </a:rPr>
              <a:t>x</a:t>
            </a:r>
            <a:r>
              <a:rPr lang="en-US" altLang="zh-CN" sz="2000" b="1" dirty="0">
                <a:solidFill>
                  <a:srgbClr val="000066"/>
                </a:solidFill>
                <a:latin typeface="微软雅黑" panose="020B0503020204020204" charset="-122"/>
                <a:ea typeface="微软雅黑" panose="020B0503020204020204" charset="-122"/>
              </a:rPr>
              <a:t>=(-1)</a:t>
            </a:r>
            <a:r>
              <a:rPr lang="en-US" altLang="zh-CN" sz="2000" b="1" baseline="30000" dirty="0">
                <a:solidFill>
                  <a:srgbClr val="000066"/>
                </a:solidFill>
                <a:latin typeface="微软雅黑" panose="020B0503020204020204" charset="-122"/>
                <a:ea typeface="微软雅黑" panose="020B0503020204020204" charset="-122"/>
              </a:rPr>
              <a:t>s</a:t>
            </a:r>
            <a:r>
              <a:rPr lang="en-US" altLang="zh-CN" sz="2000" b="1" dirty="0">
                <a:solidFill>
                  <a:srgbClr val="000066"/>
                </a:solidFill>
                <a:latin typeface="微软雅黑" panose="020B0503020204020204" charset="-122"/>
                <a:ea typeface="微软雅黑" panose="020B0503020204020204" charset="-122"/>
              </a:rPr>
              <a:t>×1.</a:t>
            </a:r>
            <a:r>
              <a:rPr lang="en-US" altLang="zh-CN" sz="2000" b="1" i="1" dirty="0">
                <a:solidFill>
                  <a:srgbClr val="000066"/>
                </a:solidFill>
                <a:latin typeface="微软雅黑" panose="020B0503020204020204" charset="-122"/>
                <a:ea typeface="微软雅黑" panose="020B0503020204020204" charset="-122"/>
              </a:rPr>
              <a:t>M</a:t>
            </a:r>
            <a:r>
              <a:rPr lang="en-US" altLang="zh-CN" sz="2000" b="1" dirty="0">
                <a:solidFill>
                  <a:srgbClr val="000066"/>
                </a:solidFill>
                <a:latin typeface="微软雅黑" panose="020B0503020204020204" charset="-122"/>
                <a:ea typeface="微软雅黑" panose="020B0503020204020204" charset="-122"/>
              </a:rPr>
              <a:t>×2</a:t>
            </a:r>
            <a:r>
              <a:rPr lang="en-US" altLang="zh-CN" sz="2000" b="1" baseline="30000" dirty="0">
                <a:solidFill>
                  <a:srgbClr val="000066"/>
                </a:solidFill>
                <a:latin typeface="微软雅黑" panose="020B0503020204020204" charset="-122"/>
                <a:ea typeface="微软雅黑" panose="020B0503020204020204" charset="-122"/>
              </a:rPr>
              <a:t>e</a:t>
            </a:r>
            <a:endParaRPr lang="en-US" altLang="zh-CN" sz="2000" b="1" baseline="30000" dirty="0">
              <a:solidFill>
                <a:srgbClr val="000066"/>
              </a:solidFill>
              <a:latin typeface="微软雅黑" panose="020B0503020204020204" charset="-122"/>
              <a:ea typeface="微软雅黑" panose="020B0503020204020204" charset="-122"/>
            </a:endParaRPr>
          </a:p>
          <a:p>
            <a:pPr lvl="3">
              <a:lnSpc>
                <a:spcPct val="90000"/>
              </a:lnSpc>
            </a:pPr>
            <a:r>
              <a:rPr lang="en-US" altLang="zh-CN" sz="1800" b="1" dirty="0">
                <a:solidFill>
                  <a:srgbClr val="000066"/>
                </a:solidFill>
                <a:latin typeface="微软雅黑" panose="020B0503020204020204" charset="-122"/>
                <a:ea typeface="微软雅黑" panose="020B0503020204020204" charset="-122"/>
              </a:rPr>
              <a:t>=+(1.011011)×2</a:t>
            </a:r>
            <a:r>
              <a:rPr lang="en-US" altLang="zh-CN" sz="1800" b="1" baseline="30000" dirty="0">
                <a:solidFill>
                  <a:srgbClr val="000066"/>
                </a:solidFill>
                <a:latin typeface="微软雅黑" panose="020B0503020204020204" charset="-122"/>
                <a:ea typeface="微软雅黑" panose="020B0503020204020204" charset="-122"/>
              </a:rPr>
              <a:t>3</a:t>
            </a:r>
            <a:r>
              <a:rPr lang="en-US" altLang="zh-CN" sz="1800" b="1" dirty="0">
                <a:solidFill>
                  <a:srgbClr val="000066"/>
                </a:solidFill>
                <a:latin typeface="微软雅黑" panose="020B0503020204020204" charset="-122"/>
                <a:ea typeface="微软雅黑" panose="020B0503020204020204" charset="-122"/>
              </a:rPr>
              <a:t>=+1011.011=(11.375)</a:t>
            </a:r>
            <a:r>
              <a:rPr lang="en-US" altLang="zh-CN" sz="1800" b="1" baseline="-30000" dirty="0">
                <a:solidFill>
                  <a:srgbClr val="000066"/>
                </a:solidFill>
                <a:latin typeface="微软雅黑" panose="020B0503020204020204" charset="-122"/>
                <a:ea typeface="微软雅黑" panose="020B0503020204020204" charset="-122"/>
              </a:rPr>
              <a:t>10</a:t>
            </a:r>
            <a:endParaRPr lang="en-US" altLang="zh-CN" sz="1800" b="1" dirty="0">
              <a:solidFill>
                <a:srgbClr val="000066"/>
              </a:solidFill>
              <a:latin typeface="微软雅黑" panose="020B0503020204020204" charset="-122"/>
              <a:ea typeface="微软雅黑" panose="020B0503020204020204" charset="-122"/>
            </a:endParaRPr>
          </a:p>
          <a:p>
            <a:pPr>
              <a:lnSpc>
                <a:spcPct val="90000"/>
              </a:lnSpc>
            </a:pPr>
            <a:endParaRPr lang="en-US" altLang="zh-CN" dirty="0">
              <a:latin typeface="微软雅黑" panose="020B0503020204020204" charset="-122"/>
              <a:ea typeface="微软雅黑" panose="020B0503020204020204"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Rectangle 2"/>
          <p:cNvSpPr>
            <a:spLocks noGrp="1" noRot="1"/>
          </p:cNvSpPr>
          <p:nvPr>
            <p:ph type="title"/>
          </p:nvPr>
        </p:nvSpPr>
        <p:spPr>
          <a:noFill/>
          <a:ln>
            <a:noFill/>
          </a:ln>
        </p:spPr>
        <p:txBody>
          <a:bodyPr anchor="t"/>
          <a:p>
            <a:pPr>
              <a:buNone/>
            </a:pPr>
            <a:r>
              <a:rPr lang="zh-CN" altLang="en-US" dirty="0">
                <a:latin typeface="微软雅黑" panose="020B0503020204020204" charset="-122"/>
                <a:ea typeface="微软雅黑" panose="020B0503020204020204" charset="-122"/>
              </a:rPr>
              <a:t>例</a:t>
            </a:r>
            <a:r>
              <a:rPr lang="en-US" altLang="zh-CN" dirty="0">
                <a:latin typeface="微软雅黑" panose="020B0503020204020204" charset="-122"/>
                <a:ea typeface="微软雅黑" panose="020B0503020204020204" charset="-122"/>
              </a:rPr>
              <a:t>2</a:t>
            </a:r>
            <a:endParaRPr lang="en-US" altLang="zh-CN" dirty="0">
              <a:latin typeface="微软雅黑" panose="020B0503020204020204" charset="-122"/>
              <a:ea typeface="微软雅黑" panose="020B0503020204020204" charset="-122"/>
            </a:endParaRPr>
          </a:p>
        </p:txBody>
      </p:sp>
      <p:sp>
        <p:nvSpPr>
          <p:cNvPr id="86018" name="Rectangle 3"/>
          <p:cNvSpPr>
            <a:spLocks noGrp="1" noRot="1"/>
          </p:cNvSpPr>
          <p:nvPr>
            <p:ph idx="1"/>
          </p:nvPr>
        </p:nvSpPr>
        <p:spPr>
          <a:xfrm>
            <a:off x="301625" y="1268413"/>
            <a:ext cx="8540750" cy="5113337"/>
          </a:xfrm>
          <a:noFill/>
          <a:ln>
            <a:noFill/>
          </a:ln>
        </p:spPr>
        <p:txBody>
          <a:bodyPr anchor="t"/>
          <a:p>
            <a:pPr>
              <a:lnSpc>
                <a:spcPct val="95000"/>
              </a:lnSpc>
              <a:spcBef>
                <a:spcPts val="1800"/>
              </a:spcBef>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将十进制数</a:t>
            </a:r>
            <a:r>
              <a:rPr lang="en-US" altLang="zh-CN" dirty="0">
                <a:solidFill>
                  <a:schemeClr val="tx2"/>
                </a:solidFill>
                <a:latin typeface="微软雅黑" panose="020B0503020204020204" charset="-122"/>
                <a:ea typeface="微软雅黑" panose="020B0503020204020204" charset="-122"/>
              </a:rPr>
              <a:t>20.59375</a:t>
            </a:r>
            <a:r>
              <a:rPr lang="zh-CN" altLang="en-US" dirty="0">
                <a:solidFill>
                  <a:schemeClr val="tx2"/>
                </a:solidFill>
                <a:latin typeface="微软雅黑" panose="020B0503020204020204" charset="-122"/>
                <a:ea typeface="微软雅黑" panose="020B0503020204020204" charset="-122"/>
              </a:rPr>
              <a:t>转换成</a:t>
            </a:r>
            <a:r>
              <a:rPr lang="en-US" altLang="zh-CN" dirty="0">
                <a:solidFill>
                  <a:schemeClr val="tx2"/>
                </a:solidFill>
                <a:latin typeface="微软雅黑" panose="020B0503020204020204" charset="-122"/>
                <a:ea typeface="微软雅黑" panose="020B0503020204020204" charset="-122"/>
              </a:rPr>
              <a:t>32</a:t>
            </a:r>
            <a:r>
              <a:rPr lang="zh-CN" altLang="en-US" dirty="0">
                <a:solidFill>
                  <a:schemeClr val="tx2"/>
                </a:solidFill>
                <a:latin typeface="微软雅黑" panose="020B0503020204020204" charset="-122"/>
                <a:ea typeface="微软雅黑" panose="020B0503020204020204" charset="-122"/>
              </a:rPr>
              <a:t>位浮点数的二进制格式来存储</a:t>
            </a:r>
            <a:endParaRPr lang="zh-CN" altLang="en-US" dirty="0">
              <a:solidFill>
                <a:schemeClr val="tx2"/>
              </a:solidFill>
              <a:latin typeface="微软雅黑" panose="020B0503020204020204" charset="-122"/>
              <a:ea typeface="微软雅黑" panose="020B0503020204020204" charset="-122"/>
            </a:endParaRPr>
          </a:p>
          <a:p>
            <a:pPr lvl="1">
              <a:lnSpc>
                <a:spcPct val="90000"/>
              </a:lnSpc>
              <a:spcBef>
                <a:spcPts val="1800"/>
              </a:spcBef>
            </a:pPr>
            <a:r>
              <a:rPr lang="zh-CN" altLang="en-US" b="1" dirty="0">
                <a:solidFill>
                  <a:srgbClr val="000066"/>
                </a:solidFill>
                <a:latin typeface="微软雅黑" panose="020B0503020204020204" charset="-122"/>
                <a:ea typeface="微软雅黑" panose="020B0503020204020204" charset="-122"/>
              </a:rPr>
              <a:t>首先分别将整数和</a:t>
            </a:r>
            <a:r>
              <a:rPr lang="zh-CN" altLang="en-US" b="1" dirty="0">
                <a:solidFill>
                  <a:srgbClr val="000066"/>
                </a:solidFill>
                <a:latin typeface="微软雅黑" panose="020B0503020204020204" charset="-122"/>
                <a:ea typeface="微软雅黑" panose="020B0503020204020204" charset="-122"/>
              </a:rPr>
              <a:t>小数部分转换成二进制数：</a:t>
            </a:r>
            <a:endParaRPr lang="zh-CN" altLang="en-US" b="1" dirty="0">
              <a:solidFill>
                <a:srgbClr val="000066"/>
              </a:solidFill>
              <a:latin typeface="微软雅黑" panose="020B0503020204020204" charset="-122"/>
              <a:ea typeface="微软雅黑" panose="020B0503020204020204" charset="-122"/>
            </a:endParaRPr>
          </a:p>
          <a:p>
            <a:pPr lvl="2">
              <a:lnSpc>
                <a:spcPct val="90000"/>
              </a:lnSpc>
            </a:pPr>
            <a:r>
              <a:rPr lang="en-US" altLang="zh-CN" b="1" dirty="0">
                <a:solidFill>
                  <a:srgbClr val="000066"/>
                </a:solidFill>
                <a:latin typeface="微软雅黑" panose="020B0503020204020204" charset="-122"/>
                <a:ea typeface="微软雅黑" panose="020B0503020204020204" charset="-122"/>
              </a:rPr>
              <a:t>20.59375=10100.10011</a:t>
            </a:r>
            <a:endParaRPr lang="en-US" altLang="zh-CN" b="1" dirty="0">
              <a:solidFill>
                <a:srgbClr val="000066"/>
              </a:solidFill>
              <a:latin typeface="微软雅黑" panose="020B0503020204020204" charset="-122"/>
              <a:ea typeface="微软雅黑" panose="020B0503020204020204" charset="-122"/>
            </a:endParaRPr>
          </a:p>
          <a:p>
            <a:pPr lvl="1">
              <a:lnSpc>
                <a:spcPct val="90000"/>
              </a:lnSpc>
            </a:pPr>
            <a:r>
              <a:rPr lang="zh-CN" altLang="en-US" b="1" dirty="0">
                <a:solidFill>
                  <a:srgbClr val="000066"/>
                </a:solidFill>
                <a:latin typeface="微软雅黑" panose="020B0503020204020204" charset="-122"/>
                <a:ea typeface="微软雅黑" panose="020B0503020204020204" charset="-122"/>
              </a:rPr>
              <a:t>然后移动小数点，使其在第</a:t>
            </a:r>
            <a:r>
              <a:rPr lang="en-US" altLang="zh-CN" b="1" dirty="0">
                <a:solidFill>
                  <a:srgbClr val="000066"/>
                </a:solidFill>
                <a:latin typeface="微软雅黑" panose="020B0503020204020204" charset="-122"/>
                <a:ea typeface="微软雅黑" panose="020B0503020204020204" charset="-122"/>
              </a:rPr>
              <a:t>1</a:t>
            </a:r>
            <a:r>
              <a:rPr lang="zh-CN" altLang="en-US" b="1" dirty="0">
                <a:solidFill>
                  <a:srgbClr val="000066"/>
                </a:solidFill>
                <a:latin typeface="微软雅黑" panose="020B0503020204020204" charset="-122"/>
                <a:ea typeface="微软雅黑" panose="020B0503020204020204" charset="-122"/>
              </a:rPr>
              <a:t>，</a:t>
            </a:r>
            <a:r>
              <a:rPr lang="en-US" altLang="zh-CN" b="1" dirty="0">
                <a:solidFill>
                  <a:srgbClr val="000066"/>
                </a:solidFill>
                <a:latin typeface="微软雅黑" panose="020B0503020204020204" charset="-122"/>
                <a:ea typeface="微软雅黑" panose="020B0503020204020204" charset="-122"/>
              </a:rPr>
              <a:t>2</a:t>
            </a:r>
            <a:r>
              <a:rPr lang="zh-CN" altLang="en-US" b="1" dirty="0">
                <a:solidFill>
                  <a:srgbClr val="000066"/>
                </a:solidFill>
                <a:latin typeface="微软雅黑" panose="020B0503020204020204" charset="-122"/>
                <a:ea typeface="微软雅黑" panose="020B0503020204020204" charset="-122"/>
              </a:rPr>
              <a:t>位之间</a:t>
            </a:r>
            <a:endParaRPr lang="zh-CN" altLang="en-US" b="1" dirty="0">
              <a:solidFill>
                <a:srgbClr val="000066"/>
              </a:solidFill>
              <a:latin typeface="微软雅黑" panose="020B0503020204020204" charset="-122"/>
              <a:ea typeface="微软雅黑" panose="020B0503020204020204" charset="-122"/>
            </a:endParaRPr>
          </a:p>
          <a:p>
            <a:pPr lvl="2">
              <a:lnSpc>
                <a:spcPct val="90000"/>
              </a:lnSpc>
            </a:pPr>
            <a:r>
              <a:rPr lang="en-US" altLang="zh-CN" b="1" dirty="0">
                <a:solidFill>
                  <a:srgbClr val="000066"/>
                </a:solidFill>
                <a:latin typeface="微软雅黑" panose="020B0503020204020204" charset="-122"/>
                <a:ea typeface="微软雅黑" panose="020B0503020204020204" charset="-122"/>
              </a:rPr>
              <a:t>10100.10011=1.010010011×2</a:t>
            </a:r>
            <a:r>
              <a:rPr lang="en-US" altLang="zh-CN" b="1" baseline="30000" dirty="0">
                <a:solidFill>
                  <a:srgbClr val="000066"/>
                </a:solidFill>
                <a:latin typeface="微软雅黑" panose="020B0503020204020204" charset="-122"/>
                <a:ea typeface="微软雅黑" panose="020B0503020204020204" charset="-122"/>
              </a:rPr>
              <a:t>4	</a:t>
            </a:r>
            <a:r>
              <a:rPr lang="en-US" altLang="zh-CN" b="1" i="1" dirty="0">
                <a:solidFill>
                  <a:srgbClr val="000066"/>
                </a:solidFill>
                <a:latin typeface="微软雅黑" panose="020B0503020204020204" charset="-122"/>
                <a:ea typeface="微软雅黑" panose="020B0503020204020204" charset="-122"/>
              </a:rPr>
              <a:t>e</a:t>
            </a:r>
            <a:r>
              <a:rPr lang="en-US" altLang="zh-CN" b="1" dirty="0">
                <a:solidFill>
                  <a:srgbClr val="000066"/>
                </a:solidFill>
                <a:latin typeface="微软雅黑" panose="020B0503020204020204" charset="-122"/>
                <a:ea typeface="微软雅黑" panose="020B0503020204020204" charset="-122"/>
              </a:rPr>
              <a:t>=4</a:t>
            </a:r>
            <a:endParaRPr lang="en-US" altLang="zh-CN" b="1" dirty="0">
              <a:solidFill>
                <a:srgbClr val="000066"/>
              </a:solidFill>
              <a:latin typeface="微软雅黑" panose="020B0503020204020204" charset="-122"/>
              <a:ea typeface="微软雅黑" panose="020B0503020204020204" charset="-122"/>
            </a:endParaRPr>
          </a:p>
          <a:p>
            <a:pPr lvl="1">
              <a:lnSpc>
                <a:spcPct val="90000"/>
              </a:lnSpc>
            </a:pPr>
            <a:r>
              <a:rPr lang="zh-CN" altLang="en-US" b="1" dirty="0">
                <a:solidFill>
                  <a:srgbClr val="000066"/>
                </a:solidFill>
                <a:latin typeface="微软雅黑" panose="020B0503020204020204" charset="-122"/>
                <a:ea typeface="微软雅黑" panose="020B0503020204020204" charset="-122"/>
              </a:rPr>
              <a:t>于是得到：</a:t>
            </a:r>
            <a:endParaRPr lang="zh-CN" altLang="en-US" b="1" dirty="0">
              <a:solidFill>
                <a:srgbClr val="000066"/>
              </a:solidFill>
              <a:latin typeface="微软雅黑" panose="020B0503020204020204" charset="-122"/>
              <a:ea typeface="微软雅黑" panose="020B0503020204020204" charset="-122"/>
            </a:endParaRPr>
          </a:p>
          <a:p>
            <a:pPr lvl="2">
              <a:lnSpc>
                <a:spcPct val="90000"/>
              </a:lnSpc>
            </a:pPr>
            <a:r>
              <a:rPr lang="en-US" altLang="zh-CN" b="1" i="1" dirty="0">
                <a:solidFill>
                  <a:srgbClr val="000066"/>
                </a:solidFill>
                <a:latin typeface="微软雅黑" panose="020B0503020204020204" charset="-122"/>
                <a:ea typeface="微软雅黑" panose="020B0503020204020204" charset="-122"/>
              </a:rPr>
              <a:t>S</a:t>
            </a:r>
            <a:r>
              <a:rPr lang="en-US" altLang="zh-CN" b="1" dirty="0">
                <a:solidFill>
                  <a:srgbClr val="000066"/>
                </a:solidFill>
                <a:latin typeface="微软雅黑" panose="020B0503020204020204" charset="-122"/>
                <a:ea typeface="微软雅黑" panose="020B0503020204020204" charset="-122"/>
              </a:rPr>
              <a:t>=0</a:t>
            </a:r>
            <a:r>
              <a:rPr lang="zh-CN" altLang="en-US" b="1" dirty="0">
                <a:solidFill>
                  <a:srgbClr val="000066"/>
                </a:solidFill>
                <a:latin typeface="微软雅黑" panose="020B0503020204020204" charset="-122"/>
                <a:ea typeface="微软雅黑" panose="020B0503020204020204" charset="-122"/>
              </a:rPr>
              <a:t>，</a:t>
            </a:r>
            <a:r>
              <a:rPr lang="en-US" altLang="zh-CN" b="1" i="1" dirty="0">
                <a:solidFill>
                  <a:srgbClr val="000066"/>
                </a:solidFill>
                <a:latin typeface="微软雅黑" panose="020B0503020204020204" charset="-122"/>
                <a:ea typeface="微软雅黑" panose="020B0503020204020204" charset="-122"/>
              </a:rPr>
              <a:t>E</a:t>
            </a:r>
            <a:r>
              <a:rPr lang="en-US" altLang="zh-CN" b="1" dirty="0">
                <a:solidFill>
                  <a:srgbClr val="000066"/>
                </a:solidFill>
                <a:latin typeface="微软雅黑" panose="020B0503020204020204" charset="-122"/>
                <a:ea typeface="微软雅黑" panose="020B0503020204020204" charset="-122"/>
              </a:rPr>
              <a:t>=4+127=131=1000,0011</a:t>
            </a:r>
            <a:r>
              <a:rPr lang="zh-CN" altLang="en-US" b="1" dirty="0">
                <a:solidFill>
                  <a:srgbClr val="000066"/>
                </a:solidFill>
                <a:latin typeface="微软雅黑" panose="020B0503020204020204" charset="-122"/>
                <a:ea typeface="微软雅黑" panose="020B0503020204020204" charset="-122"/>
              </a:rPr>
              <a:t>，</a:t>
            </a:r>
            <a:r>
              <a:rPr lang="en-US" altLang="zh-CN" b="1" i="1" dirty="0">
                <a:solidFill>
                  <a:srgbClr val="000066"/>
                </a:solidFill>
                <a:latin typeface="微软雅黑" panose="020B0503020204020204" charset="-122"/>
                <a:ea typeface="微软雅黑" panose="020B0503020204020204" charset="-122"/>
              </a:rPr>
              <a:t>M</a:t>
            </a:r>
            <a:r>
              <a:rPr lang="en-US" altLang="zh-CN" b="1" dirty="0">
                <a:solidFill>
                  <a:srgbClr val="000066"/>
                </a:solidFill>
                <a:latin typeface="微软雅黑" panose="020B0503020204020204" charset="-122"/>
                <a:ea typeface="微软雅黑" panose="020B0503020204020204" charset="-122"/>
              </a:rPr>
              <a:t>=010010011</a:t>
            </a:r>
            <a:endParaRPr lang="en-US" altLang="zh-CN" b="1" dirty="0">
              <a:solidFill>
                <a:srgbClr val="000066"/>
              </a:solidFill>
              <a:latin typeface="微软雅黑" panose="020B0503020204020204" charset="-122"/>
              <a:ea typeface="微软雅黑" panose="020B0503020204020204" charset="-122"/>
            </a:endParaRPr>
          </a:p>
          <a:p>
            <a:pPr lvl="1">
              <a:lnSpc>
                <a:spcPct val="90000"/>
              </a:lnSpc>
            </a:pPr>
            <a:r>
              <a:rPr lang="zh-CN" altLang="en-US" b="1" dirty="0">
                <a:solidFill>
                  <a:srgbClr val="000066"/>
                </a:solidFill>
                <a:latin typeface="微软雅黑" panose="020B0503020204020204" charset="-122"/>
                <a:ea typeface="微软雅黑" panose="020B0503020204020204" charset="-122"/>
              </a:rPr>
              <a:t>最后得到</a:t>
            </a:r>
            <a:r>
              <a:rPr lang="en-US" altLang="zh-CN" b="1" dirty="0">
                <a:solidFill>
                  <a:srgbClr val="000066"/>
                </a:solidFill>
                <a:latin typeface="微软雅黑" panose="020B0503020204020204" charset="-122"/>
                <a:ea typeface="微软雅黑" panose="020B0503020204020204" charset="-122"/>
              </a:rPr>
              <a:t>32</a:t>
            </a:r>
            <a:r>
              <a:rPr lang="zh-CN" altLang="en-US" b="1" dirty="0">
                <a:solidFill>
                  <a:srgbClr val="000066"/>
                </a:solidFill>
                <a:latin typeface="微软雅黑" panose="020B0503020204020204" charset="-122"/>
                <a:ea typeface="微软雅黑" panose="020B0503020204020204" charset="-122"/>
              </a:rPr>
              <a:t>位浮点数的二进制存储格式为</a:t>
            </a:r>
            <a:endParaRPr lang="zh-CN" altLang="en-US" b="1" dirty="0">
              <a:solidFill>
                <a:srgbClr val="000066"/>
              </a:solidFill>
              <a:latin typeface="微软雅黑" panose="020B0503020204020204" charset="-122"/>
              <a:ea typeface="微软雅黑" panose="020B0503020204020204" charset="-122"/>
            </a:endParaRPr>
          </a:p>
          <a:p>
            <a:pPr lvl="2">
              <a:lnSpc>
                <a:spcPct val="90000"/>
              </a:lnSpc>
            </a:pPr>
            <a:r>
              <a:rPr lang="en-US" altLang="zh-CN" b="1" dirty="0">
                <a:solidFill>
                  <a:srgbClr val="FF0000"/>
                </a:solidFill>
                <a:latin typeface="微软雅黑" panose="020B0503020204020204" charset="-122"/>
                <a:ea typeface="微软雅黑" panose="020B0503020204020204" charset="-122"/>
              </a:rPr>
              <a:t>0</a:t>
            </a:r>
            <a:r>
              <a:rPr lang="en-US" altLang="zh-CN" b="1" dirty="0">
                <a:solidFill>
                  <a:srgbClr val="000066"/>
                </a:solidFill>
                <a:latin typeface="微软雅黑" panose="020B0503020204020204" charset="-122"/>
                <a:ea typeface="微软雅黑" panose="020B0503020204020204" charset="-122"/>
              </a:rPr>
              <a:t>100 0001 1</a:t>
            </a:r>
            <a:r>
              <a:rPr lang="en-US" altLang="zh-CN" b="1" dirty="0">
                <a:solidFill>
                  <a:srgbClr val="FFC000"/>
                </a:solidFill>
                <a:latin typeface="微软雅黑" panose="020B0503020204020204" charset="-122"/>
                <a:ea typeface="微软雅黑" panose="020B0503020204020204" charset="-122"/>
              </a:rPr>
              <a:t>010 0100 1100 0000 0000 0000</a:t>
            </a:r>
            <a:endParaRPr lang="en-US" altLang="zh-CN" b="1" dirty="0">
              <a:solidFill>
                <a:srgbClr val="000066"/>
              </a:solidFill>
              <a:latin typeface="微软雅黑" panose="020B0503020204020204" charset="-122"/>
              <a:ea typeface="微软雅黑" panose="020B0503020204020204" charset="-122"/>
            </a:endParaRPr>
          </a:p>
          <a:p>
            <a:pPr lvl="3">
              <a:lnSpc>
                <a:spcPct val="90000"/>
              </a:lnSpc>
            </a:pPr>
            <a:r>
              <a:rPr lang="en-US" altLang="zh-CN" b="1" dirty="0">
                <a:solidFill>
                  <a:srgbClr val="000066"/>
                </a:solidFill>
                <a:latin typeface="微软雅黑" panose="020B0503020204020204" charset="-122"/>
                <a:ea typeface="微软雅黑" panose="020B0503020204020204" charset="-122"/>
              </a:rPr>
              <a:t>= (41A4C000)</a:t>
            </a:r>
            <a:r>
              <a:rPr lang="en-US" altLang="zh-CN" b="1" baseline="-30000" dirty="0">
                <a:solidFill>
                  <a:srgbClr val="000066"/>
                </a:solidFill>
                <a:latin typeface="微软雅黑" panose="020B0503020204020204" charset="-122"/>
                <a:ea typeface="微软雅黑" panose="020B0503020204020204" charset="-122"/>
              </a:rPr>
              <a:t>16</a:t>
            </a:r>
            <a:endParaRPr lang="en-US" altLang="zh-CN" b="1" dirty="0">
              <a:solidFill>
                <a:srgbClr val="000066"/>
              </a:solidFill>
              <a:latin typeface="微软雅黑" panose="020B0503020204020204" charset="-122"/>
              <a:ea typeface="微软雅黑" panose="020B0503020204020204"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Rectangle 2"/>
          <p:cNvSpPr>
            <a:spLocks noGrp="1" noRot="1"/>
          </p:cNvSpPr>
          <p:nvPr>
            <p:ph type="title"/>
          </p:nvPr>
        </p:nvSpPr>
        <p:spPr>
          <a:noFill/>
          <a:ln>
            <a:noFill/>
          </a:ln>
        </p:spPr>
        <p:txBody>
          <a:bodyPr anchor="t"/>
          <a:p>
            <a:pPr>
              <a:buNone/>
            </a:pPr>
            <a:r>
              <a:rPr lang="zh-CN" altLang="en-US" dirty="0">
                <a:latin typeface="微软雅黑" panose="020B0503020204020204" charset="-122"/>
                <a:ea typeface="微软雅黑" panose="020B0503020204020204" charset="-122"/>
              </a:rPr>
              <a:t>练习</a:t>
            </a:r>
            <a:endParaRPr lang="zh-CN" altLang="en-US" dirty="0">
              <a:latin typeface="微软雅黑" panose="020B0503020204020204" charset="-122"/>
              <a:ea typeface="微软雅黑" panose="020B0503020204020204" charset="-122"/>
            </a:endParaRPr>
          </a:p>
        </p:txBody>
      </p:sp>
      <p:sp>
        <p:nvSpPr>
          <p:cNvPr id="88066" name="Rectangle 3"/>
          <p:cNvSpPr>
            <a:spLocks noGrp="1" noRot="1"/>
          </p:cNvSpPr>
          <p:nvPr>
            <p:ph idx="1"/>
          </p:nvPr>
        </p:nvSpPr>
        <p:spPr>
          <a:noFill/>
          <a:ln>
            <a:noFill/>
          </a:ln>
        </p:spPr>
        <p:txBody>
          <a:bodyPr anchor="t"/>
          <a:p>
            <a:pPr marL="0" indent="719455">
              <a:buNone/>
            </a:pPr>
            <a:r>
              <a:rPr lang="zh-CN" altLang="en-US" sz="3200" dirty="0">
                <a:solidFill>
                  <a:schemeClr val="tx2"/>
                </a:solidFill>
                <a:latin typeface="微软雅黑" panose="020B0503020204020204" charset="-122"/>
                <a:ea typeface="微软雅黑" panose="020B0503020204020204" charset="-122"/>
              </a:rPr>
              <a:t>将十进制数</a:t>
            </a:r>
            <a:r>
              <a:rPr lang="en-US" altLang="zh-CN" sz="3200" dirty="0">
                <a:solidFill>
                  <a:schemeClr val="tx2"/>
                </a:solidFill>
                <a:latin typeface="微软雅黑" panose="020B0503020204020204" charset="-122"/>
                <a:ea typeface="微软雅黑" panose="020B0503020204020204" charset="-122"/>
              </a:rPr>
              <a:t>40.375</a:t>
            </a:r>
            <a:r>
              <a:rPr lang="zh-CN" altLang="en-US" sz="3200" dirty="0">
                <a:solidFill>
                  <a:schemeClr val="tx2"/>
                </a:solidFill>
                <a:latin typeface="微软雅黑" panose="020B0503020204020204" charset="-122"/>
                <a:ea typeface="微软雅黑" panose="020B0503020204020204" charset="-122"/>
              </a:rPr>
              <a:t>转换成</a:t>
            </a:r>
            <a:r>
              <a:rPr lang="en-US" altLang="zh-CN" sz="3200" dirty="0">
                <a:solidFill>
                  <a:schemeClr val="tx2"/>
                </a:solidFill>
                <a:latin typeface="微软雅黑" panose="020B0503020204020204" charset="-122"/>
                <a:ea typeface="微软雅黑" panose="020B0503020204020204" charset="-122"/>
              </a:rPr>
              <a:t>32</a:t>
            </a:r>
            <a:r>
              <a:rPr lang="zh-CN" altLang="en-US" sz="3200" dirty="0">
                <a:solidFill>
                  <a:schemeClr val="tx2"/>
                </a:solidFill>
                <a:latin typeface="微软雅黑" panose="020B0503020204020204" charset="-122"/>
                <a:ea typeface="微软雅黑" panose="020B0503020204020204" charset="-122"/>
              </a:rPr>
              <a:t>位浮点数的二进制格式来存储</a:t>
            </a:r>
            <a:endParaRPr lang="zh-CN" altLang="en-US" sz="3200" dirty="0">
              <a:solidFill>
                <a:schemeClr val="tx2"/>
              </a:solidFill>
              <a:latin typeface="微软雅黑" panose="020B0503020204020204" charset="-122"/>
              <a:ea typeface="微软雅黑" panose="020B0503020204020204"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Rectangle 2"/>
          <p:cNvSpPr>
            <a:spLocks noGrp="1" noRot="1"/>
          </p:cNvSpPr>
          <p:nvPr>
            <p:ph type="title"/>
          </p:nvPr>
        </p:nvSpPr>
        <p:spPr>
          <a:noFill/>
          <a:ln>
            <a:noFill/>
          </a:ln>
        </p:spPr>
        <p:txBody>
          <a:bodyPr anchor="t"/>
          <a:p>
            <a:pPr>
              <a:buNone/>
            </a:pPr>
            <a:r>
              <a:rPr lang="en-US" altLang="zh-CN" dirty="0">
                <a:latin typeface="微软雅黑" panose="020B0503020204020204" charset="-122"/>
                <a:ea typeface="微软雅黑" panose="020B0503020204020204" charset="-122"/>
              </a:rPr>
              <a:t>C</a:t>
            </a:r>
            <a:r>
              <a:rPr lang="zh-CN" altLang="en-US" dirty="0">
                <a:latin typeface="微软雅黑" panose="020B0503020204020204" charset="-122"/>
                <a:ea typeface="微软雅黑" panose="020B0503020204020204" charset="-122"/>
              </a:rPr>
              <a:t>语言中的浮点</a:t>
            </a:r>
            <a:r>
              <a:rPr lang="zh-CN" altLang="en-US" dirty="0">
                <a:latin typeface="微软雅黑" panose="020B0503020204020204" charset="-122"/>
                <a:ea typeface="微软雅黑" panose="020B0503020204020204" charset="-122"/>
              </a:rPr>
              <a:t>类型</a:t>
            </a:r>
            <a:endParaRPr lang="zh-CN" altLang="en-US" dirty="0">
              <a:latin typeface="微软雅黑" panose="020B0503020204020204" charset="-122"/>
              <a:ea typeface="微软雅黑" panose="020B0503020204020204" charset="-122"/>
            </a:endParaRPr>
          </a:p>
        </p:txBody>
      </p:sp>
      <p:sp>
        <p:nvSpPr>
          <p:cNvPr id="88066" name="Rectangle 3"/>
          <p:cNvSpPr>
            <a:spLocks noGrp="1" noRot="1"/>
          </p:cNvSpPr>
          <p:nvPr>
            <p:ph idx="1"/>
          </p:nvPr>
        </p:nvSpPr>
        <p:spPr>
          <a:xfrm>
            <a:off x="457200" y="1342390"/>
            <a:ext cx="8229600" cy="4784090"/>
          </a:xfrm>
          <a:noFill/>
          <a:ln>
            <a:noFill/>
          </a:ln>
        </p:spPr>
        <p:txBody>
          <a:bodyPr anchor="t"/>
          <a:p>
            <a:pPr algn="l" latinLnBrk="0">
              <a:lnSpc>
                <a:spcPct val="95000"/>
              </a:lnSpc>
              <a:spcBef>
                <a:spcPts val="1800"/>
              </a:spcBef>
              <a:buSzPct val="80000"/>
              <a:buChar char="u"/>
            </a:pPr>
            <a:r>
              <a:rPr lang="zh-CN" altLang="en-US" sz="2400" dirty="0">
                <a:solidFill>
                  <a:schemeClr val="tx2"/>
                </a:solidFill>
                <a:latin typeface="Times New Roman" panose="02020603050405020304" pitchFamily="18" charset="0"/>
                <a:ea typeface="微软雅黑" panose="020B0503020204020204" charset="-122"/>
                <a:cs typeface="Times New Roman" panose="02020603050405020304" pitchFamily="18" charset="0"/>
              </a:rPr>
              <a:t>C语言中有 float 和 double 两种不同浮点数类型,分别对应 IEEE 754 单精度浮点数格式和双精度浮点数格式。</a:t>
            </a:r>
            <a:endParaRPr lang="zh-CN" altLang="en-US" sz="2400" dirty="0">
              <a:solidFill>
                <a:schemeClr val="tx2"/>
              </a:solidFill>
              <a:latin typeface="Times New Roman" panose="02020603050405020304" pitchFamily="18" charset="0"/>
              <a:ea typeface="微软雅黑" panose="020B0503020204020204" charset="-122"/>
              <a:cs typeface="Times New Roman" panose="02020603050405020304" pitchFamily="18" charset="0"/>
            </a:endParaRPr>
          </a:p>
          <a:p>
            <a:pPr algn="l" latinLnBrk="0">
              <a:lnSpc>
                <a:spcPct val="95000"/>
              </a:lnSpc>
              <a:spcBef>
                <a:spcPts val="1800"/>
              </a:spcBef>
              <a:buSzPct val="80000"/>
              <a:buChar char="u"/>
            </a:pPr>
            <a:r>
              <a:rPr lang="zh-CN" altLang="en-US" sz="2400" dirty="0">
                <a:solidFill>
                  <a:schemeClr val="tx2"/>
                </a:solidFill>
                <a:latin typeface="Times New Roman" panose="02020603050405020304" pitchFamily="18" charset="0"/>
                <a:ea typeface="微软雅黑" panose="020B0503020204020204" charset="-122"/>
                <a:cs typeface="Times New Roman" panose="02020603050405020304" pitchFamily="18" charset="0"/>
              </a:rPr>
              <a:t>当各类型数据之间进行强制类型转换时,程序将得到以下数值转换结果(假定 int 为 32位)</a:t>
            </a:r>
            <a:endParaRPr lang="zh-CN" altLang="en-US" sz="2400" dirty="0">
              <a:solidFill>
                <a:schemeClr val="tx2"/>
              </a:solidFill>
              <a:latin typeface="Times New Roman" panose="02020603050405020304" pitchFamily="18" charset="0"/>
              <a:ea typeface="微软雅黑" panose="020B0503020204020204" charset="-122"/>
              <a:cs typeface="Times New Roman" panose="02020603050405020304" pitchFamily="18" charset="0"/>
            </a:endParaRPr>
          </a:p>
          <a:p>
            <a:pPr lvl="1" latinLnBrk="0">
              <a:spcBef>
                <a:spcPts val="1200"/>
              </a:spcBef>
              <a:buFont typeface="Wingdings" panose="05000000000000000000" charset="0"/>
              <a:buChar char="Ø"/>
            </a:pPr>
            <a:r>
              <a:rPr lang="zh-CN" sz="2000" b="1" dirty="0">
                <a:solidFill>
                  <a:srgbClr val="0070C0"/>
                </a:solidFill>
                <a:latin typeface="Times New Roman" panose="02020603050405020304" pitchFamily="18" charset="0"/>
                <a:ea typeface="微软雅黑" panose="020B0503020204020204" charset="-122"/>
                <a:cs typeface="Times New Roman" panose="02020603050405020304" pitchFamily="18" charset="0"/>
              </a:rPr>
              <a:t>从 int 转换为 float 时，不会发生溢出，但可能有数据被舍入。</a:t>
            </a:r>
            <a:endParaRPr lang="zh-CN" sz="2000" b="1" dirty="0">
              <a:solidFill>
                <a:srgbClr val="0070C0"/>
              </a:solidFill>
              <a:latin typeface="Times New Roman" panose="02020603050405020304" pitchFamily="18" charset="0"/>
              <a:ea typeface="微软雅黑" panose="020B0503020204020204" charset="-122"/>
              <a:cs typeface="Times New Roman" panose="02020603050405020304" pitchFamily="18" charset="0"/>
            </a:endParaRPr>
          </a:p>
          <a:p>
            <a:pPr lvl="1" latinLnBrk="0">
              <a:spcBef>
                <a:spcPts val="1200"/>
              </a:spcBef>
              <a:buFont typeface="Wingdings" panose="05000000000000000000" charset="0"/>
              <a:buChar char="Ø"/>
            </a:pPr>
            <a:r>
              <a:rPr lang="zh-CN" sz="2000" b="1" dirty="0">
                <a:solidFill>
                  <a:srgbClr val="0070C0"/>
                </a:solidFill>
                <a:latin typeface="Times New Roman" panose="02020603050405020304" pitchFamily="18" charset="0"/>
                <a:ea typeface="微软雅黑" panose="020B0503020204020204" charset="-122"/>
                <a:cs typeface="Times New Roman" panose="02020603050405020304" pitchFamily="18" charset="0"/>
              </a:rPr>
              <a:t>从 int 或 float 转换为 double 时，因为 double 的有效位数更多,故能保留精确值。</a:t>
            </a:r>
            <a:endParaRPr lang="zh-CN" sz="2000" b="1" dirty="0">
              <a:solidFill>
                <a:srgbClr val="0070C0"/>
              </a:solidFill>
              <a:latin typeface="Times New Roman" panose="02020603050405020304" pitchFamily="18" charset="0"/>
              <a:ea typeface="微软雅黑" panose="020B0503020204020204" charset="-122"/>
              <a:cs typeface="Times New Roman" panose="02020603050405020304" pitchFamily="18" charset="0"/>
            </a:endParaRPr>
          </a:p>
          <a:p>
            <a:pPr lvl="1" latinLnBrk="0">
              <a:spcBef>
                <a:spcPts val="1200"/>
              </a:spcBef>
              <a:buFont typeface="Wingdings" panose="05000000000000000000" charset="0"/>
              <a:buChar char="Ø"/>
            </a:pPr>
            <a:r>
              <a:rPr lang="zh-CN" sz="2000" b="1" dirty="0">
                <a:solidFill>
                  <a:srgbClr val="0070C0"/>
                </a:solidFill>
                <a:latin typeface="Times New Roman" panose="02020603050405020304" pitchFamily="18" charset="0"/>
                <a:ea typeface="微软雅黑" panose="020B0503020204020204" charset="-122"/>
                <a:cs typeface="Times New Roman" panose="02020603050405020304" pitchFamily="18" charset="0"/>
              </a:rPr>
              <a:t>从 double 转换为 float 时，因为 float 表示范围更小，故可能发生溢出，此外，由于有效位数变少，故可能被</a:t>
            </a:r>
            <a:r>
              <a:rPr lang="zh-CN" sz="2000" b="1"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舍入</a:t>
            </a:r>
            <a:r>
              <a:rPr lang="zh-CN" sz="2000" b="1" dirty="0">
                <a:solidFill>
                  <a:srgbClr val="0070C0"/>
                </a:solidFill>
                <a:latin typeface="Times New Roman" panose="02020603050405020304" pitchFamily="18" charset="0"/>
                <a:ea typeface="微软雅黑" panose="020B0503020204020204" charset="-122"/>
                <a:cs typeface="Times New Roman" panose="02020603050405020304" pitchFamily="18" charset="0"/>
              </a:rPr>
              <a:t>。</a:t>
            </a:r>
            <a:endParaRPr lang="zh-CN" sz="2000" b="1" dirty="0">
              <a:solidFill>
                <a:srgbClr val="0070C0"/>
              </a:solidFill>
              <a:latin typeface="Times New Roman" panose="02020603050405020304" pitchFamily="18" charset="0"/>
              <a:ea typeface="微软雅黑" panose="020B0503020204020204" charset="-122"/>
              <a:cs typeface="Times New Roman" panose="02020603050405020304" pitchFamily="18" charset="0"/>
            </a:endParaRPr>
          </a:p>
          <a:p>
            <a:pPr lvl="1" latinLnBrk="0">
              <a:spcBef>
                <a:spcPts val="1200"/>
              </a:spcBef>
              <a:buFont typeface="Wingdings" panose="05000000000000000000" charset="0"/>
              <a:buChar char="Ø"/>
            </a:pPr>
            <a:r>
              <a:rPr lang="zh-CN" sz="2000" b="1" dirty="0">
                <a:solidFill>
                  <a:srgbClr val="0070C0"/>
                </a:solidFill>
                <a:latin typeface="Times New Roman" panose="02020603050405020304" pitchFamily="18" charset="0"/>
                <a:ea typeface="微软雅黑" panose="020B0503020204020204" charset="-122"/>
                <a:cs typeface="Times New Roman" panose="02020603050405020304" pitchFamily="18" charset="0"/>
              </a:rPr>
              <a:t>从 float 或 double 转换为int 时，因为int 没有小数部分，所以数据可能会向0方向被截断。</a:t>
            </a:r>
            <a:endParaRPr lang="zh-CN" sz="2000" b="1" dirty="0">
              <a:solidFill>
                <a:srgbClr val="0070C0"/>
              </a:solidFill>
              <a:latin typeface="Times New Roman" panose="02020603050405020304" pitchFamily="18" charset="0"/>
              <a:ea typeface="微软雅黑" panose="020B0503020204020204" charset="-122"/>
              <a:cs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2"/>
          <p:cNvSpPr>
            <a:spLocks noGrp="1" noChangeArrowheads="1"/>
          </p:cNvSpPr>
          <p:nvPr>
            <p:ph type="body" idx="4294967295"/>
          </p:nvPr>
        </p:nvSpPr>
        <p:spPr bwMode="auto">
          <a:xfrm>
            <a:off x="227013" y="1196975"/>
            <a:ext cx="8448675" cy="4824413"/>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342900" algn="just" defTabSz="914400" rtl="0" eaLnBrk="1" fontAlgn="base" latinLnBrk="0" hangingPunct="1">
              <a:lnSpc>
                <a:spcPct val="100000"/>
              </a:lnSpc>
              <a:spcBef>
                <a:spcPct val="20000"/>
              </a:spcBef>
              <a:spcAft>
                <a:spcPct val="0"/>
              </a:spcAft>
              <a:buClr>
                <a:schemeClr val="hlink"/>
              </a:buClr>
              <a:buSzTx/>
              <a:buFontTx/>
              <a:buNone/>
              <a:defRPr/>
            </a:pPr>
            <a:r>
              <a:rPr kumimoji="0" lang="zh-CN" altLang="en-US" sz="32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1.定点、浮点表示法的区别</a:t>
            </a:r>
            <a:endParaRPr kumimoji="0" lang="zh-CN" altLang="en-US" sz="32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742950" marR="0" lvl="1" indent="-285750" algn="just" defTabSz="914400" rtl="0" eaLnBrk="1" latinLnBrk="0" hangingPunct="1">
              <a:lnSpc>
                <a:spcPct val="100000"/>
              </a:lnSpc>
              <a:spcBef>
                <a:spcPts val="1200"/>
              </a:spcBef>
              <a:spcAft>
                <a:spcPct val="0"/>
              </a:spcAft>
              <a:buClr>
                <a:schemeClr val="accent1"/>
              </a:buClr>
              <a:buSzTx/>
              <a:buFont typeface="Wingdings" panose="05000000000000000000" pitchFamily="2" charset="2"/>
              <a:buChar char="Ø"/>
              <a:defRPr/>
            </a:pPr>
            <a:r>
              <a:rPr kumimoji="0" lang="zh-CN" altLang="en-US" sz="2600"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数值的</a:t>
            </a:r>
            <a:r>
              <a:rPr kumimoji="0" lang="zh-CN" altLang="en-US" sz="2600" b="1"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表示范围</a:t>
            </a:r>
            <a:r>
              <a:rPr kumimoji="0" lang="zh-CN" altLang="en-US" sz="2600"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a:t>
            </a:r>
            <a:endParaRPr kumimoji="0" lang="zh-CN" altLang="en-US" sz="2600"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endParaRPr>
          </a:p>
          <a:p>
            <a:pPr marL="1200150" marR="0" lvl="2" indent="-285750" algn="just" defTabSz="914400" rtl="0" eaLnBrk="1" latinLnBrk="0" hangingPunct="1">
              <a:lnSpc>
                <a:spcPct val="100000"/>
              </a:lnSpc>
              <a:spcBef>
                <a:spcPts val="600"/>
              </a:spcBef>
              <a:spcAft>
                <a:spcPct val="0"/>
              </a:spcAft>
              <a:buClr>
                <a:schemeClr val="accent1"/>
              </a:buClr>
              <a:buSzTx/>
              <a:buFont typeface="Wingdings" panose="05000000000000000000" pitchFamily="2" charset="2"/>
              <a:buChar char="Ø"/>
              <a:defRPr/>
            </a:pPr>
            <a:r>
              <a:rPr kumimoji="0" lang="zh-CN" altLang="en-US" sz="2225"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字长相同时浮点表示法所能表示的数值范围大于定点数。</a:t>
            </a:r>
            <a:endParaRPr kumimoji="0" lang="zh-CN" altLang="en-US" sz="2225"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endParaRPr>
          </a:p>
          <a:p>
            <a:pPr marL="742950" marR="0" lvl="1" indent="-285750" algn="just" defTabSz="914400" rtl="0" eaLnBrk="1" latinLnBrk="0" hangingPunct="1">
              <a:lnSpc>
                <a:spcPct val="100000"/>
              </a:lnSpc>
              <a:spcBef>
                <a:spcPts val="1200"/>
              </a:spcBef>
              <a:spcAft>
                <a:spcPct val="0"/>
              </a:spcAft>
              <a:buClr>
                <a:schemeClr val="accent1"/>
              </a:buClr>
              <a:buSzTx/>
              <a:buFont typeface="Wingdings" panose="05000000000000000000" pitchFamily="2" charset="2"/>
              <a:buChar char="Ø"/>
              <a:defRPr/>
            </a:pPr>
            <a:r>
              <a:rPr kumimoji="0" lang="zh-CN" altLang="en-US" sz="2600" b="1"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精度</a:t>
            </a:r>
            <a:r>
              <a:rPr kumimoji="0" lang="zh-CN" altLang="en-US" sz="2600"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a:t>
            </a:r>
            <a:endParaRPr kumimoji="0" lang="zh-CN" altLang="en-US" sz="2600"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endParaRPr>
          </a:p>
          <a:p>
            <a:pPr marL="1200150" marR="0" lvl="2" indent="-285750" algn="just" defTabSz="914400" rtl="0" eaLnBrk="1" latinLnBrk="0" hangingPunct="1">
              <a:lnSpc>
                <a:spcPct val="100000"/>
              </a:lnSpc>
              <a:spcBef>
                <a:spcPts val="600"/>
              </a:spcBef>
              <a:spcAft>
                <a:spcPct val="0"/>
              </a:spcAft>
              <a:buClr>
                <a:schemeClr val="accent1"/>
              </a:buClr>
              <a:buSzTx/>
              <a:buFont typeface="Wingdings" panose="05000000000000000000" pitchFamily="2" charset="2"/>
              <a:buChar char="Ø"/>
              <a:defRPr/>
            </a:pPr>
            <a:r>
              <a:rPr kumimoji="0" lang="zh-CN" altLang="en-US" sz="2225"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字长相同的定点数和浮点数，浮点数精度较低。</a:t>
            </a:r>
            <a:endParaRPr kumimoji="0" lang="en-US" altLang="zh-CN" sz="2225"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endParaRPr>
          </a:p>
          <a:p>
            <a:pPr marL="742950" marR="0" lvl="1" indent="-285750" algn="just" defTabSz="914400" rtl="0" eaLnBrk="1" latinLnBrk="0" hangingPunct="1">
              <a:lnSpc>
                <a:spcPct val="100000"/>
              </a:lnSpc>
              <a:spcBef>
                <a:spcPts val="1200"/>
              </a:spcBef>
              <a:spcAft>
                <a:spcPct val="0"/>
              </a:spcAft>
              <a:buClr>
                <a:schemeClr val="accent1"/>
              </a:buClr>
              <a:buSzTx/>
              <a:buFont typeface="Wingdings" panose="05000000000000000000" pitchFamily="2" charset="2"/>
              <a:buChar char="Ø"/>
              <a:defRPr/>
            </a:pPr>
            <a:r>
              <a:rPr kumimoji="0" lang="zh-CN" altLang="en-US" sz="2600"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数的</a:t>
            </a:r>
            <a:r>
              <a:rPr kumimoji="0" lang="zh-CN" altLang="en-US" sz="2600" b="1"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运算</a:t>
            </a:r>
            <a:r>
              <a:rPr kumimoji="0" lang="zh-CN" altLang="en-US" sz="2600"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a:t>
            </a:r>
            <a:endParaRPr kumimoji="0" lang="zh-CN" altLang="en-US" sz="2600"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endParaRPr>
          </a:p>
          <a:p>
            <a:pPr marL="1200150" marR="0" lvl="2" indent="-285750" algn="just" defTabSz="914400" rtl="0" eaLnBrk="1" latinLnBrk="0" hangingPunct="1">
              <a:lnSpc>
                <a:spcPct val="100000"/>
              </a:lnSpc>
              <a:spcBef>
                <a:spcPts val="600"/>
              </a:spcBef>
              <a:spcAft>
                <a:spcPct val="0"/>
              </a:spcAft>
              <a:buClr>
                <a:schemeClr val="accent1"/>
              </a:buClr>
              <a:buSzTx/>
              <a:buFont typeface="Wingdings" panose="05000000000000000000" pitchFamily="2" charset="2"/>
              <a:buChar char="Ø"/>
              <a:defRPr/>
            </a:pPr>
            <a:r>
              <a:rPr kumimoji="0" lang="zh-CN" altLang="en-US" sz="2225"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浮点运算要比定点运算复杂得多。</a:t>
            </a:r>
            <a:endParaRPr kumimoji="0" lang="zh-CN" altLang="en-US" sz="2225"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endParaRPr>
          </a:p>
          <a:p>
            <a:pPr marL="742950" marR="0" lvl="1" indent="-285750" algn="just" defTabSz="914400" rtl="0" eaLnBrk="1" latinLnBrk="0" hangingPunct="1">
              <a:lnSpc>
                <a:spcPct val="100000"/>
              </a:lnSpc>
              <a:spcBef>
                <a:spcPts val="1200"/>
              </a:spcBef>
              <a:spcAft>
                <a:spcPct val="0"/>
              </a:spcAft>
              <a:buClr>
                <a:schemeClr val="accent1"/>
              </a:buClr>
              <a:buSzTx/>
              <a:buFont typeface="Wingdings" panose="05000000000000000000" pitchFamily="2" charset="2"/>
              <a:buChar char="Ø"/>
              <a:defRPr/>
            </a:pPr>
            <a:r>
              <a:rPr kumimoji="0" lang="zh-CN" altLang="en-US" sz="2600" b="1"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溢出处理</a:t>
            </a:r>
            <a:r>
              <a:rPr kumimoji="0" lang="zh-CN" altLang="en-US" sz="2600"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a:t>
            </a:r>
            <a:endParaRPr kumimoji="0" lang="zh-CN" altLang="en-US" sz="2600"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endParaRPr>
          </a:p>
          <a:p>
            <a:pPr marL="1200150" marR="0" lvl="2" indent="-285750" algn="just" defTabSz="914400" rtl="0" eaLnBrk="1" latinLnBrk="0" hangingPunct="1">
              <a:lnSpc>
                <a:spcPct val="100000"/>
              </a:lnSpc>
              <a:spcBef>
                <a:spcPts val="600"/>
              </a:spcBef>
              <a:spcAft>
                <a:spcPct val="0"/>
              </a:spcAft>
              <a:buClr>
                <a:schemeClr val="accent1"/>
              </a:buClr>
              <a:buSzTx/>
              <a:buFont typeface="Wingdings" panose="05000000000000000000" pitchFamily="2" charset="2"/>
              <a:buChar char="Ø"/>
              <a:defRPr/>
            </a:pPr>
            <a:r>
              <a:rPr kumimoji="0" lang="zh-CN" altLang="en-US" sz="2225"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定点运算：当运算结果超出数的表示范围，就发生溢出。</a:t>
            </a:r>
            <a:endParaRPr kumimoji="0" lang="zh-CN" altLang="en-US" sz="2225"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endParaRPr>
          </a:p>
          <a:p>
            <a:pPr marL="1200150" marR="0" lvl="2" indent="-285750" algn="just" defTabSz="914400" rtl="0" eaLnBrk="1" latinLnBrk="0" hangingPunct="1">
              <a:lnSpc>
                <a:spcPct val="100000"/>
              </a:lnSpc>
              <a:spcBef>
                <a:spcPts val="600"/>
              </a:spcBef>
              <a:spcAft>
                <a:spcPct val="0"/>
              </a:spcAft>
              <a:buClr>
                <a:schemeClr val="accent1"/>
              </a:buClr>
              <a:buSzTx/>
              <a:buFont typeface="Wingdings" panose="05000000000000000000" pitchFamily="2" charset="2"/>
              <a:buChar char="Ø"/>
              <a:defRPr/>
            </a:pPr>
            <a:r>
              <a:rPr kumimoji="0" lang="zh-CN" altLang="en-US" sz="2225"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浮点运算：当阶码超出所能表示的范围时，才发生溢出。</a:t>
            </a:r>
            <a:endParaRPr kumimoji="0" lang="zh-CN" altLang="en-US" sz="2225"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endParaRPr>
          </a:p>
        </p:txBody>
      </p:sp>
      <p:sp>
        <p:nvSpPr>
          <p:cNvPr id="90114" name="Rectangle 3"/>
          <p:cNvSpPr>
            <a:spLocks noGrp="1"/>
          </p:cNvSpPr>
          <p:nvPr>
            <p:ph type="title"/>
          </p:nvPr>
        </p:nvSpPr>
        <p:spPr>
          <a:xfrm>
            <a:off x="0" y="304800"/>
            <a:ext cx="8893175" cy="676275"/>
          </a:xfrm>
          <a:prstGeom prst="rect">
            <a:avLst/>
          </a:prstGeom>
          <a:noFill/>
          <a:ln w="9525">
            <a:noFill/>
          </a:ln>
        </p:spPr>
        <p:txBody>
          <a:bodyPr anchor="t"/>
          <a:p>
            <a:pPr eaLnBrk="1" hangingPunct="1">
              <a:buNone/>
            </a:pPr>
            <a:r>
              <a:rPr lang="zh-CN" altLang="en-US" dirty="0">
                <a:solidFill>
                  <a:srgbClr val="0000FF"/>
                </a:solidFill>
                <a:latin typeface="微软雅黑" panose="020B0503020204020204" charset="-122"/>
                <a:ea typeface="微软雅黑" panose="020B0503020204020204" charset="-122"/>
              </a:rPr>
              <a:t>定点、浮点表示法和定点、浮点计算机</a:t>
            </a:r>
            <a:endParaRPr lang="zh-CN" altLang="en-US" sz="4400" dirty="0">
              <a:latin typeface="微软雅黑" panose="020B0503020204020204" charset="-122"/>
              <a:ea typeface="微软雅黑" panose="020B0503020204020204" charset="-122"/>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Rectangle 2"/>
          <p:cNvSpPr>
            <a:spLocks noGrp="1"/>
          </p:cNvSpPr>
          <p:nvPr>
            <p:ph type="title"/>
          </p:nvPr>
        </p:nvSpPr>
        <p:spPr>
          <a:xfrm>
            <a:off x="542925" y="260350"/>
            <a:ext cx="7772400" cy="671513"/>
          </a:xfrm>
          <a:noFill/>
          <a:ln>
            <a:noFill/>
          </a:ln>
        </p:spPr>
        <p:txBody>
          <a:bodyPr anchor="t"/>
          <a:p>
            <a:pPr eaLnBrk="1" hangingPunct="1">
              <a:buNone/>
            </a:pPr>
            <a:r>
              <a:rPr lang="zh-CN" altLang="en-US" sz="4000" dirty="0">
                <a:solidFill>
                  <a:srgbClr val="0000FF"/>
                </a:solidFill>
                <a:latin typeface="微软雅黑" panose="020B0503020204020204" charset="-122"/>
                <a:ea typeface="微软雅黑" panose="020B0503020204020204" charset="-122"/>
              </a:rPr>
              <a:t>定点机与浮点机</a:t>
            </a:r>
            <a:endParaRPr lang="zh-CN" altLang="en-US" sz="4000" dirty="0">
              <a:solidFill>
                <a:srgbClr val="0000FF"/>
              </a:solidFill>
              <a:latin typeface="微软雅黑" panose="020B0503020204020204" charset="-122"/>
              <a:ea typeface="微软雅黑" panose="020B0503020204020204" charset="-122"/>
            </a:endParaRPr>
          </a:p>
        </p:txBody>
      </p:sp>
      <p:sp>
        <p:nvSpPr>
          <p:cNvPr id="92163" name="Rectangle 3"/>
          <p:cNvSpPr>
            <a:spLocks noGrp="1" noChangeArrowheads="1"/>
          </p:cNvSpPr>
          <p:nvPr>
            <p:ph idx="1"/>
          </p:nvPr>
        </p:nvSpPr>
        <p:spPr bwMode="auto">
          <a:xfrm>
            <a:off x="571500" y="1517650"/>
            <a:ext cx="8001000" cy="44323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114300" marR="0" lvl="0" indent="-457200" algn="just" defTabSz="914400" rtl="0" eaLnBrk="1" fontAlgn="base" latinLnBrk="0" hangingPunct="1">
              <a:lnSpc>
                <a:spcPct val="90000"/>
              </a:lnSpc>
              <a:spcBef>
                <a:spcPts val="1200"/>
              </a:spcBef>
              <a:spcAft>
                <a:spcPct val="0"/>
              </a:spcAft>
              <a:buClr>
                <a:schemeClr val="tx2"/>
              </a:buClr>
              <a:buSzPct val="80000"/>
              <a:buFont typeface="Wingdings" panose="05000000000000000000" pitchFamily="2" charset="2"/>
              <a:buChar char="u"/>
              <a:defRPr/>
            </a:pPr>
            <a:r>
              <a:rPr kumimoji="0" lang="zh-CN" altLang="en-US" sz="32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定点机</a:t>
            </a:r>
            <a:endParaRPr kumimoji="0" lang="zh-CN" altLang="en-US" sz="32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742950" marR="0" lvl="1" indent="-285750" algn="just" defTabSz="914400" rtl="0" eaLnBrk="1" fontAlgn="base" latinLnBrk="0" hangingPunct="1">
              <a:lnSpc>
                <a:spcPct val="90000"/>
              </a:lnSpc>
              <a:spcBef>
                <a:spcPts val="1800"/>
              </a:spcBef>
              <a:spcAft>
                <a:spcPct val="0"/>
              </a:spcAft>
              <a:buClr>
                <a:schemeClr val="accent1"/>
              </a:buClr>
              <a:buSzTx/>
              <a:buFont typeface="Wingdings" panose="05000000000000000000" pitchFamily="2" charset="2"/>
              <a:buChar char="Ø"/>
              <a:defRPr/>
            </a:pPr>
            <a:r>
              <a:rPr kumimoji="0" lang="zh-CN" altLang="en-US" sz="2600"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以定点运算为主，浮点运算是通过软件来实现的。</a:t>
            </a:r>
            <a:endParaRPr kumimoji="0" lang="zh-CN" altLang="en-US" sz="2600"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endParaRPr>
          </a:p>
          <a:p>
            <a:pPr marL="114300" marR="0" lvl="0" indent="-457200" algn="just" defTabSz="914400" rtl="0" eaLnBrk="1" fontAlgn="base" latinLnBrk="0" hangingPunct="1">
              <a:lnSpc>
                <a:spcPct val="90000"/>
              </a:lnSpc>
              <a:spcBef>
                <a:spcPts val="3000"/>
              </a:spcBef>
              <a:spcAft>
                <a:spcPct val="0"/>
              </a:spcAft>
              <a:buClr>
                <a:schemeClr val="tx2"/>
              </a:buClr>
              <a:buSzPct val="80000"/>
              <a:buFont typeface="Wingdings" panose="05000000000000000000" pitchFamily="2" charset="2"/>
              <a:buChar char="u"/>
              <a:defRPr/>
            </a:pPr>
            <a:r>
              <a:rPr kumimoji="0" lang="zh-CN" altLang="en-US" sz="32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定点机＋浮点运算部件</a:t>
            </a:r>
            <a:endParaRPr kumimoji="0" lang="zh-CN" altLang="en-US" sz="32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742950" marR="0" lvl="1" indent="-285750" algn="just" defTabSz="914400" rtl="0" eaLnBrk="1" fontAlgn="base" latinLnBrk="0" hangingPunct="1">
              <a:lnSpc>
                <a:spcPct val="90000"/>
              </a:lnSpc>
              <a:spcBef>
                <a:spcPts val="1800"/>
              </a:spcBef>
              <a:spcAft>
                <a:spcPct val="0"/>
              </a:spcAft>
              <a:buClr>
                <a:schemeClr val="accent1"/>
              </a:buClr>
              <a:buSzTx/>
              <a:buFont typeface="Wingdings" panose="05000000000000000000" pitchFamily="2" charset="2"/>
              <a:buChar char="Ø"/>
              <a:defRPr/>
            </a:pPr>
            <a:r>
              <a:rPr kumimoji="0" lang="zh-CN" altLang="en-US" sz="2600"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浮点运算部件是专门对浮点数进行运算的部件。</a:t>
            </a:r>
            <a:endParaRPr kumimoji="0" lang="zh-CN" altLang="en-US" sz="2600"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endParaRPr>
          </a:p>
          <a:p>
            <a:pPr marL="114300" marR="0" lvl="0" indent="-457200" algn="just" defTabSz="914400" rtl="0" eaLnBrk="1" fontAlgn="base" latinLnBrk="0" hangingPunct="1">
              <a:lnSpc>
                <a:spcPct val="90000"/>
              </a:lnSpc>
              <a:spcBef>
                <a:spcPts val="3000"/>
              </a:spcBef>
              <a:spcAft>
                <a:spcPct val="0"/>
              </a:spcAft>
              <a:buClr>
                <a:schemeClr val="tx2"/>
              </a:buClr>
              <a:buSzPct val="80000"/>
              <a:buFont typeface="Wingdings" panose="05000000000000000000" pitchFamily="2" charset="2"/>
              <a:buChar char="u"/>
              <a:defRPr/>
            </a:pPr>
            <a:r>
              <a:rPr kumimoji="0" lang="zh-CN" altLang="en-US" sz="32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浮点机</a:t>
            </a:r>
            <a:endParaRPr kumimoji="0" lang="zh-CN" altLang="en-US" sz="32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742950" marR="0" lvl="1" indent="-285750" algn="just" defTabSz="914400" rtl="0" eaLnBrk="1" fontAlgn="base" latinLnBrk="0" hangingPunct="1">
              <a:lnSpc>
                <a:spcPct val="90000"/>
              </a:lnSpc>
              <a:spcBef>
                <a:spcPts val="1800"/>
              </a:spcBef>
              <a:spcAft>
                <a:spcPct val="0"/>
              </a:spcAft>
              <a:buClr>
                <a:schemeClr val="accent1"/>
              </a:buClr>
              <a:buSzTx/>
              <a:buFont typeface="Wingdings" panose="05000000000000000000" pitchFamily="2" charset="2"/>
              <a:buChar char="Ø"/>
              <a:defRPr/>
            </a:pPr>
            <a:r>
              <a:rPr kumimoji="0" lang="zh-CN" altLang="en-US" sz="2600"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具有浮点运算指令和基本的浮点运算器。</a:t>
            </a:r>
            <a:endParaRPr kumimoji="0" lang="zh-CN" altLang="en-US" sz="2600"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Rectangle 2"/>
          <p:cNvSpPr>
            <a:spLocks noGrp="1"/>
          </p:cNvSpPr>
          <p:nvPr>
            <p:ph type="title"/>
          </p:nvPr>
        </p:nvSpPr>
        <p:spPr>
          <a:xfrm>
            <a:off x="323850" y="260350"/>
            <a:ext cx="8001000" cy="1143000"/>
          </a:xfrm>
          <a:noFill/>
          <a:ln>
            <a:noFill/>
          </a:ln>
        </p:spPr>
        <p:txBody>
          <a:bodyPr anchor="t"/>
          <a:p>
            <a:pPr eaLnBrk="1" hangingPunct="1">
              <a:buNone/>
            </a:pPr>
            <a:r>
              <a:rPr lang="zh-CN" altLang="en-US" sz="4000" dirty="0">
                <a:solidFill>
                  <a:srgbClr val="0000FF"/>
                </a:solidFill>
                <a:latin typeface="微软雅黑" panose="020B0503020204020204" charset="-122"/>
                <a:ea typeface="微软雅黑" panose="020B0503020204020204" charset="-122"/>
              </a:rPr>
              <a:t>2.3  非数值数据的表示</a:t>
            </a:r>
            <a:endParaRPr lang="en-US" altLang="zh-CN" sz="4000" dirty="0">
              <a:solidFill>
                <a:srgbClr val="0000FF"/>
              </a:solidFill>
              <a:latin typeface="微软雅黑" panose="020B0503020204020204" charset="-122"/>
              <a:ea typeface="微软雅黑" panose="020B0503020204020204" charset="-122"/>
            </a:endParaRPr>
          </a:p>
        </p:txBody>
      </p:sp>
      <p:sp>
        <p:nvSpPr>
          <p:cNvPr id="92162" name="Rectangle 3"/>
          <p:cNvSpPr>
            <a:spLocks noGrp="1"/>
          </p:cNvSpPr>
          <p:nvPr>
            <p:ph idx="1"/>
          </p:nvPr>
        </p:nvSpPr>
        <p:spPr>
          <a:xfrm>
            <a:off x="533400" y="1600200"/>
            <a:ext cx="8001000" cy="2836863"/>
          </a:xfrm>
          <a:noFill/>
          <a:ln>
            <a:noFill/>
          </a:ln>
        </p:spPr>
        <p:txBody>
          <a:bodyPr anchor="t"/>
          <a:p>
            <a:pPr marL="0" indent="0" algn="just" eaLnBrk="1" hangingPunct="1">
              <a:lnSpc>
                <a:spcPct val="150000"/>
              </a:lnSpc>
              <a:buFontTx/>
              <a:buNone/>
            </a:pPr>
            <a:r>
              <a:rPr lang="zh-CN" altLang="en-US" dirty="0">
                <a:solidFill>
                  <a:schemeClr val="tx2"/>
                </a:solidFill>
                <a:latin typeface="微软雅黑" panose="020B0503020204020204" charset="-122"/>
                <a:ea typeface="微软雅黑" panose="020B0503020204020204" charset="-122"/>
              </a:rPr>
              <a:t>      非数值数据，又称为字符数据，通常是指</a:t>
            </a:r>
            <a:r>
              <a:rPr lang="zh-CN" altLang="en-US" dirty="0">
                <a:solidFill>
                  <a:srgbClr val="FF0000"/>
                </a:solidFill>
                <a:latin typeface="微软雅黑" panose="020B0503020204020204" charset="-122"/>
                <a:ea typeface="微软雅黑" panose="020B0503020204020204" charset="-122"/>
              </a:rPr>
              <a:t>字符、字符串、图形符号和汉字</a:t>
            </a:r>
            <a:r>
              <a:rPr lang="zh-CN" altLang="en-US" dirty="0">
                <a:solidFill>
                  <a:schemeClr val="tx2"/>
                </a:solidFill>
                <a:latin typeface="微软雅黑" panose="020B0503020204020204" charset="-122"/>
                <a:ea typeface="微软雅黑" panose="020B0503020204020204" charset="-122"/>
              </a:rPr>
              <a:t>等各种数据，它们不用来表示数值的大小，一般情况下不对它们进行算术运算。</a:t>
            </a:r>
            <a:endParaRPr lang="zh-CN" altLang="en-US" dirty="0">
              <a:solidFill>
                <a:schemeClr val="tx2"/>
              </a:solidFill>
              <a:latin typeface="微软雅黑" panose="020B0503020204020204" charset="-122"/>
              <a:ea typeface="微软雅黑" panose="020B0503020204020204" charset="-122"/>
            </a:endParaRPr>
          </a:p>
        </p:txBody>
      </p:sp>
      <p:sp>
        <p:nvSpPr>
          <p:cNvPr id="92163" name="灯片编号占位符 5"/>
          <p:cNvSpPr txBox="1">
            <a:spLocks noGrp="1"/>
          </p:cNvSpPr>
          <p:nvPr>
            <p:ph type="sldNum" sz="quarter"/>
          </p:nvPr>
        </p:nvSpPr>
        <p:spPr>
          <a:xfrm>
            <a:off x="7239000" y="6248400"/>
            <a:ext cx="1725613" cy="493713"/>
          </a:xfrm>
          <a:prstGeom prst="rect">
            <a:avLst/>
          </a:prstGeom>
          <a:noFill/>
          <a:ln w="9525">
            <a:noFill/>
          </a:ln>
        </p:spPr>
        <p:txBody>
          <a:bodyPr anchor="t"/>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eaLnBrk="1" hangingPunct="1"/>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Rectangle 2"/>
          <p:cNvSpPr>
            <a:spLocks noGrp="1" noRot="1"/>
          </p:cNvSpPr>
          <p:nvPr>
            <p:ph type="title"/>
          </p:nvPr>
        </p:nvSpPr>
        <p:spPr>
          <a:xfrm>
            <a:off x="271463" y="260350"/>
            <a:ext cx="8540750" cy="744538"/>
          </a:xfrm>
          <a:noFill/>
          <a:ln>
            <a:noFill/>
          </a:ln>
        </p:spPr>
        <p:txBody>
          <a:bodyPr anchor="t"/>
          <a:p>
            <a:pPr eaLnBrk="1" hangingPunct="1">
              <a:buNone/>
            </a:pPr>
            <a:r>
              <a:rPr lang="zh-CN" altLang="en-US" sz="4000" dirty="0">
                <a:solidFill>
                  <a:srgbClr val="0000FF"/>
                </a:solidFill>
                <a:latin typeface="微软雅黑" panose="020B0503020204020204" charset="-122"/>
                <a:ea typeface="微软雅黑" panose="020B0503020204020204" charset="-122"/>
              </a:rPr>
              <a:t>字符与字符串的表示方法</a:t>
            </a:r>
            <a:endParaRPr lang="zh-CN" altLang="en-US" sz="4000" dirty="0">
              <a:solidFill>
                <a:srgbClr val="0000FF"/>
              </a:solidFill>
              <a:latin typeface="微软雅黑" panose="020B0503020204020204" charset="-122"/>
              <a:ea typeface="微软雅黑" panose="020B0503020204020204" charset="-122"/>
            </a:endParaRPr>
          </a:p>
        </p:txBody>
      </p:sp>
      <p:sp>
        <p:nvSpPr>
          <p:cNvPr id="93186" name="Rectangle 3"/>
          <p:cNvSpPr>
            <a:spLocks noGrp="1" noRot="1"/>
          </p:cNvSpPr>
          <p:nvPr>
            <p:ph type="body" sz="half" idx="1"/>
          </p:nvPr>
        </p:nvSpPr>
        <p:spPr>
          <a:xfrm>
            <a:off x="276225" y="1268730"/>
            <a:ext cx="2868930" cy="5144770"/>
          </a:xfrm>
          <a:noFill/>
          <a:ln>
            <a:noFill/>
          </a:ln>
        </p:spPr>
        <p:txBody>
          <a:bodyPr anchor="t"/>
          <a:p>
            <a:pPr>
              <a:buClr>
                <a:schemeClr val="hlink"/>
              </a:buClr>
              <a:buSzTx/>
              <a:buFont typeface="Wingdings" panose="05000000000000000000" pitchFamily="2" charset="2"/>
            </a:pPr>
            <a:r>
              <a:rPr lang="en-US" altLang="zh-CN" dirty="0">
                <a:solidFill>
                  <a:srgbClr val="FF3300"/>
                </a:solidFill>
                <a:latin typeface="Times New Roman" panose="02020603050405020304" pitchFamily="18" charset="0"/>
              </a:rPr>
              <a:t>ASCII</a:t>
            </a:r>
            <a:r>
              <a:rPr lang="zh-CN" altLang="en-US" dirty="0">
                <a:solidFill>
                  <a:srgbClr val="FF3300"/>
                </a:solidFill>
                <a:latin typeface="Times New Roman" panose="02020603050405020304" pitchFamily="18" charset="0"/>
              </a:rPr>
              <a:t>码</a:t>
            </a:r>
            <a:r>
              <a:rPr lang="en-US" altLang="zh-CN" dirty="0">
                <a:solidFill>
                  <a:srgbClr val="FF3300"/>
                </a:solidFill>
                <a:latin typeface="Times New Roman" panose="02020603050405020304" pitchFamily="18" charset="0"/>
              </a:rPr>
              <a:t>;</a:t>
            </a:r>
            <a:endParaRPr lang="en-US" altLang="zh-CN" dirty="0">
              <a:solidFill>
                <a:srgbClr val="FF3300"/>
              </a:solidFill>
              <a:latin typeface="Times New Roman" panose="02020603050405020304" pitchFamily="18" charset="0"/>
            </a:endParaRPr>
          </a:p>
          <a:p>
            <a:pPr lvl="1">
              <a:buClr>
                <a:schemeClr val="hlink"/>
              </a:buClr>
              <a:buSzTx/>
              <a:buFont typeface="Wingdings" panose="05000000000000000000" pitchFamily="2" charset="2"/>
            </a:pPr>
            <a:r>
              <a:rPr lang="zh-CN" altLang="en-US" sz="2000" b="1" dirty="0">
                <a:solidFill>
                  <a:schemeClr val="tx2"/>
                </a:solidFill>
                <a:latin typeface="微软雅黑" panose="020B0503020204020204" charset="-122"/>
                <a:ea typeface="微软雅黑" panose="020B0503020204020204" charset="-122"/>
                <a:cs typeface="+mn-ea"/>
              </a:rPr>
              <a:t>美国国家信息交换标准字符码；</a:t>
            </a:r>
            <a:endParaRPr lang="zh-CN" altLang="en-US" sz="2000" b="1" dirty="0">
              <a:solidFill>
                <a:schemeClr val="tx2"/>
              </a:solidFill>
              <a:latin typeface="微软雅黑" panose="020B0503020204020204" charset="-122"/>
              <a:ea typeface="微软雅黑" panose="020B0503020204020204" charset="-122"/>
              <a:cs typeface="+mn-ea"/>
            </a:endParaRPr>
          </a:p>
          <a:p>
            <a:pPr lvl="1">
              <a:buClr>
                <a:schemeClr val="hlink"/>
              </a:buClr>
              <a:buSzTx/>
              <a:buFont typeface="Wingdings" panose="05000000000000000000" pitchFamily="2" charset="2"/>
            </a:pPr>
            <a:r>
              <a:rPr lang="zh-CN" altLang="en-US" sz="2000" b="1" dirty="0">
                <a:solidFill>
                  <a:schemeClr val="tx2"/>
                </a:solidFill>
                <a:latin typeface="微软雅黑" panose="020B0503020204020204" charset="-122"/>
                <a:ea typeface="微软雅黑" panose="020B0503020204020204" charset="-122"/>
                <a:cs typeface="+mn-ea"/>
              </a:rPr>
              <a:t>数字、字母；</a:t>
            </a:r>
            <a:endParaRPr lang="zh-CN" altLang="en-US" sz="2000" b="1" dirty="0">
              <a:solidFill>
                <a:schemeClr val="tx2"/>
              </a:solidFill>
              <a:latin typeface="微软雅黑" panose="020B0503020204020204" charset="-122"/>
              <a:ea typeface="微软雅黑" panose="020B0503020204020204" charset="-122"/>
              <a:cs typeface="+mn-ea"/>
            </a:endParaRPr>
          </a:p>
          <a:p>
            <a:pPr lvl="1">
              <a:buClr>
                <a:schemeClr val="hlink"/>
              </a:buClr>
              <a:buSzTx/>
              <a:buFont typeface="Wingdings" panose="05000000000000000000" pitchFamily="2" charset="2"/>
            </a:pPr>
            <a:r>
              <a:rPr lang="zh-CN" altLang="en-US" sz="2000" b="1" dirty="0">
                <a:solidFill>
                  <a:schemeClr val="tx2"/>
                </a:solidFill>
                <a:latin typeface="微软雅黑" panose="020B0503020204020204" charset="-122"/>
                <a:ea typeface="微软雅黑" panose="020B0503020204020204" charset="-122"/>
                <a:cs typeface="+mn-ea"/>
              </a:rPr>
              <a:t>专用和控制符号</a:t>
            </a:r>
            <a:endParaRPr lang="zh-CN" altLang="en-US" sz="2400" b="1" dirty="0">
              <a:solidFill>
                <a:schemeClr val="tx2"/>
              </a:solidFill>
              <a:latin typeface="微软雅黑" panose="020B0503020204020204" charset="-122"/>
              <a:ea typeface="微软雅黑" panose="020B0503020204020204" charset="-122"/>
              <a:cs typeface="+mn-ea"/>
            </a:endParaRPr>
          </a:p>
          <a:p>
            <a:pPr>
              <a:spcBef>
                <a:spcPts val="2400"/>
              </a:spcBef>
              <a:buClr>
                <a:schemeClr val="hlink"/>
              </a:buClr>
              <a:buSzTx/>
              <a:buFont typeface="Wingdings" panose="05000000000000000000" pitchFamily="2" charset="2"/>
            </a:pPr>
            <a:r>
              <a:rPr lang="zh-CN" altLang="en-US" dirty="0">
                <a:solidFill>
                  <a:srgbClr val="FF3300"/>
                </a:solidFill>
                <a:latin typeface="Times New Roman" panose="02020603050405020304" pitchFamily="18" charset="0"/>
              </a:rPr>
              <a:t>字符串：</a:t>
            </a:r>
            <a:endParaRPr lang="en-US" altLang="zh-CN" dirty="0">
              <a:solidFill>
                <a:srgbClr val="FF3300"/>
              </a:solidFill>
              <a:latin typeface="Times New Roman" panose="02020603050405020304" pitchFamily="18" charset="0"/>
            </a:endParaRPr>
          </a:p>
          <a:p>
            <a:pPr lvl="1" indent="-342900" algn="just" latinLnBrk="0">
              <a:spcBef>
                <a:spcPts val="600"/>
              </a:spcBef>
              <a:buFont typeface="Wingdings" panose="05000000000000000000" charset="0"/>
              <a:buChar char="Ø"/>
            </a:pPr>
            <a:r>
              <a:rPr lang="zh-CN" altLang="en-US" sz="2000" b="1" dirty="0">
                <a:solidFill>
                  <a:schemeClr val="tx2"/>
                </a:solidFill>
                <a:latin typeface="微软雅黑" panose="020B0503020204020204" charset="-122"/>
                <a:ea typeface="微软雅黑" panose="020B0503020204020204" charset="-122"/>
              </a:rPr>
              <a:t>连续的一串字符</a:t>
            </a:r>
            <a:endParaRPr lang="zh-CN" altLang="en-US" sz="2000" b="1" dirty="0">
              <a:solidFill>
                <a:schemeClr val="tx2"/>
              </a:solidFill>
              <a:latin typeface="微软雅黑" panose="020B0503020204020204" charset="-122"/>
              <a:ea typeface="微软雅黑" panose="020B0503020204020204" charset="-122"/>
            </a:endParaRPr>
          </a:p>
          <a:p>
            <a:pPr lvl="1" indent="-342900" algn="just" latinLnBrk="0">
              <a:spcBef>
                <a:spcPts val="600"/>
              </a:spcBef>
              <a:buFont typeface="Wingdings" panose="05000000000000000000" charset="0"/>
              <a:buChar char="Ø"/>
            </a:pPr>
            <a:r>
              <a:rPr lang="zh-CN" altLang="en-US" sz="2000" b="1" dirty="0">
                <a:solidFill>
                  <a:schemeClr val="tx2"/>
                </a:solidFill>
                <a:latin typeface="微软雅黑" panose="020B0503020204020204" charset="-122"/>
                <a:ea typeface="微软雅黑" panose="020B0503020204020204" charset="-122"/>
              </a:rPr>
              <a:t>通常依次占用主存中连续的多个字节；</a:t>
            </a:r>
            <a:endParaRPr lang="zh-CN" altLang="en-US" sz="2000" b="1" dirty="0">
              <a:solidFill>
                <a:schemeClr val="tx2"/>
              </a:solidFill>
              <a:latin typeface="微软雅黑" panose="020B0503020204020204" charset="-122"/>
              <a:ea typeface="微软雅黑" panose="020B0503020204020204" charset="-122"/>
            </a:endParaRPr>
          </a:p>
          <a:p>
            <a:pPr lvl="1" indent="-342900" algn="just" latinLnBrk="0">
              <a:spcBef>
                <a:spcPts val="600"/>
              </a:spcBef>
              <a:buFont typeface="Wingdings" panose="05000000000000000000" charset="0"/>
              <a:buChar char="Ø"/>
            </a:pPr>
            <a:r>
              <a:rPr lang="zh-CN" altLang="en-US" sz="2000" b="1" dirty="0">
                <a:solidFill>
                  <a:schemeClr val="tx2"/>
                </a:solidFill>
                <a:latin typeface="微软雅黑" panose="020B0503020204020204" charset="-122"/>
                <a:ea typeface="微软雅黑" panose="020B0503020204020204" charset="-122"/>
              </a:rPr>
              <a:t>每个字节存一个字符。</a:t>
            </a:r>
            <a:endParaRPr lang="zh-CN" altLang="en-US" sz="2000" b="1" dirty="0">
              <a:solidFill>
                <a:schemeClr val="tx2"/>
              </a:solidFill>
              <a:latin typeface="微软雅黑" panose="020B0503020204020204" charset="-122"/>
              <a:ea typeface="微软雅黑" panose="020B0503020204020204" charset="-122"/>
            </a:endParaRPr>
          </a:p>
          <a:p>
            <a:pPr>
              <a:buClr>
                <a:schemeClr val="hlink"/>
              </a:buClr>
              <a:buSzTx/>
              <a:buFont typeface="Wingdings" panose="05000000000000000000" pitchFamily="2" charset="2"/>
            </a:pPr>
            <a:endParaRPr lang="zh-CN" altLang="en-US" sz="2000" b="1" dirty="0">
              <a:solidFill>
                <a:schemeClr val="tx2"/>
              </a:solidFill>
              <a:latin typeface="微软雅黑" panose="020B0503020204020204" charset="-122"/>
              <a:ea typeface="微软雅黑" panose="020B0503020204020204" charset="-122"/>
            </a:endParaRPr>
          </a:p>
        </p:txBody>
      </p:sp>
      <p:pic>
        <p:nvPicPr>
          <p:cNvPr id="93187" name="图片 2"/>
          <p:cNvPicPr>
            <a:picLocks noChangeAspect="1"/>
          </p:cNvPicPr>
          <p:nvPr/>
        </p:nvPicPr>
        <p:blipFill>
          <a:blip r:embed="rId1"/>
          <a:stretch>
            <a:fillRect/>
          </a:stretch>
        </p:blipFill>
        <p:spPr>
          <a:xfrm>
            <a:off x="3509645" y="1408430"/>
            <a:ext cx="4959985" cy="4558030"/>
          </a:xfrm>
          <a:prstGeom prst="rect">
            <a:avLst/>
          </a:prstGeom>
          <a:noFill/>
          <a:ln w="9525">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Rectangle 2"/>
          <p:cNvSpPr>
            <a:spLocks noGrp="1"/>
          </p:cNvSpPr>
          <p:nvPr>
            <p:ph type="title"/>
          </p:nvPr>
        </p:nvSpPr>
        <p:spPr>
          <a:xfrm>
            <a:off x="387350" y="304800"/>
            <a:ext cx="6838950" cy="627063"/>
          </a:xfrm>
          <a:noFill/>
          <a:ln>
            <a:noFill/>
          </a:ln>
        </p:spPr>
        <p:txBody>
          <a:bodyPr anchor="t"/>
          <a:p>
            <a:pPr eaLnBrk="1" hangingPunct="1">
              <a:buNone/>
            </a:pPr>
            <a:r>
              <a:rPr lang="zh-CN" altLang="en-US" sz="4000" dirty="0">
                <a:solidFill>
                  <a:srgbClr val="0000FF"/>
                </a:solidFill>
                <a:latin typeface="微软雅黑" panose="020B0503020204020204" charset="-122"/>
                <a:ea typeface="微软雅黑" panose="020B0503020204020204" charset="-122"/>
              </a:rPr>
              <a:t>字符串的存放</a:t>
            </a:r>
            <a:endParaRPr lang="zh-CN" altLang="en-US" sz="4000" dirty="0">
              <a:solidFill>
                <a:srgbClr val="0000FF"/>
              </a:solidFill>
              <a:latin typeface="微软雅黑" panose="020B0503020204020204" charset="-122"/>
              <a:ea typeface="微软雅黑" panose="020B0503020204020204" charset="-122"/>
            </a:endParaRPr>
          </a:p>
        </p:txBody>
      </p:sp>
      <p:sp>
        <p:nvSpPr>
          <p:cNvPr id="95234" name="Rectangle 3"/>
          <p:cNvSpPr>
            <a:spLocks noGrp="1"/>
          </p:cNvSpPr>
          <p:nvPr>
            <p:ph idx="1"/>
          </p:nvPr>
        </p:nvSpPr>
        <p:spPr>
          <a:xfrm>
            <a:off x="457200" y="1312863"/>
            <a:ext cx="4114800" cy="4935537"/>
          </a:xfrm>
          <a:noFill/>
          <a:ln>
            <a:noFill/>
          </a:ln>
        </p:spPr>
        <p:txBody>
          <a:bodyPr anchor="t"/>
          <a:p>
            <a:pPr marL="0" indent="0" eaLnBrk="1" hangingPunct="1">
              <a:spcBef>
                <a:spcPts val="1800"/>
              </a:spcBef>
              <a:buFontTx/>
              <a:buNone/>
            </a:pPr>
            <a:r>
              <a:rPr lang="zh-CN" altLang="en-US" sz="2400" dirty="0">
                <a:solidFill>
                  <a:srgbClr val="FF3300"/>
                </a:solidFill>
                <a:latin typeface="微软雅黑" panose="020B0503020204020204" charset="-122"/>
                <a:ea typeface="微软雅黑" panose="020B0503020204020204" charset="-122"/>
              </a:rPr>
              <a:t>向量存放法</a:t>
            </a:r>
            <a:endParaRPr lang="en-US" altLang="zh-CN" sz="2400" dirty="0">
              <a:solidFill>
                <a:srgbClr val="FF3300"/>
              </a:solidFill>
              <a:latin typeface="微软雅黑" panose="020B0503020204020204" charset="-122"/>
              <a:ea typeface="微软雅黑" panose="020B0503020204020204" charset="-122"/>
            </a:endParaRPr>
          </a:p>
          <a:p>
            <a:pPr lvl="1" eaLnBrk="1" hangingPunct="1">
              <a:spcBef>
                <a:spcPts val="1200"/>
              </a:spcBef>
              <a:buFont typeface="Wingdings" panose="05000000000000000000" charset="0"/>
              <a:buChar char="Ø"/>
            </a:pPr>
            <a:r>
              <a:rPr lang="zh-CN" altLang="en-US" sz="2000" b="1" dirty="0">
                <a:solidFill>
                  <a:schemeClr val="tx2"/>
                </a:solidFill>
                <a:latin typeface="微软雅黑" panose="020B0503020204020204" charset="-122"/>
                <a:ea typeface="微软雅黑" panose="020B0503020204020204" charset="-122"/>
              </a:rPr>
              <a:t>在存储器中占用一片</a:t>
            </a:r>
            <a:r>
              <a:rPr lang="zh-CN" altLang="en-US" sz="2000" b="1" dirty="0">
                <a:solidFill>
                  <a:srgbClr val="FF0000"/>
                </a:solidFill>
                <a:latin typeface="微软雅黑" panose="020B0503020204020204" charset="-122"/>
                <a:ea typeface="微软雅黑" panose="020B0503020204020204" charset="-122"/>
              </a:rPr>
              <a:t>连续</a:t>
            </a:r>
            <a:r>
              <a:rPr lang="zh-CN" altLang="en-US" sz="2000" b="1" dirty="0">
                <a:solidFill>
                  <a:schemeClr val="tx2"/>
                </a:solidFill>
                <a:latin typeface="微软雅黑" panose="020B0503020204020204" charset="-122"/>
                <a:ea typeface="微软雅黑" panose="020B0503020204020204" charset="-122"/>
              </a:rPr>
              <a:t>的空间，每个字节存放一个字符代码，字符串的所有元素（字符）</a:t>
            </a:r>
            <a:r>
              <a:rPr lang="zh-CN" altLang="en-US" sz="2000" b="1" dirty="0">
                <a:solidFill>
                  <a:srgbClr val="FF3300"/>
                </a:solidFill>
                <a:latin typeface="微软雅黑" panose="020B0503020204020204" charset="-122"/>
                <a:ea typeface="微软雅黑" panose="020B0503020204020204" charset="-122"/>
              </a:rPr>
              <a:t>在物理上是邻接的</a:t>
            </a:r>
            <a:r>
              <a:rPr lang="zh-CN" altLang="en-US" sz="2000" b="1" dirty="0">
                <a:solidFill>
                  <a:schemeClr val="tx2"/>
                </a:solidFill>
                <a:latin typeface="微软雅黑" panose="020B0503020204020204" charset="-122"/>
                <a:ea typeface="微软雅黑" panose="020B0503020204020204" charset="-122"/>
              </a:rPr>
              <a:t>。</a:t>
            </a:r>
            <a:endParaRPr lang="en-US" altLang="zh-CN" sz="2400" b="1" dirty="0">
              <a:solidFill>
                <a:schemeClr val="tx2"/>
              </a:solidFill>
              <a:latin typeface="微软雅黑" panose="020B0503020204020204" charset="-122"/>
              <a:ea typeface="微软雅黑" panose="020B0503020204020204" charset="-122"/>
            </a:endParaRPr>
          </a:p>
          <a:p>
            <a:pPr lvl="1" eaLnBrk="1" hangingPunct="1">
              <a:spcBef>
                <a:spcPts val="2400"/>
              </a:spcBef>
              <a:buFont typeface="Wingdings" panose="05000000000000000000" charset="0"/>
              <a:buChar char="Ø"/>
            </a:pPr>
            <a:r>
              <a:rPr lang="zh-CN" altLang="en-US" sz="2000" b="1" dirty="0">
                <a:solidFill>
                  <a:schemeClr val="tx2"/>
                </a:solidFill>
                <a:latin typeface="微软雅黑" panose="020B0503020204020204" charset="-122"/>
                <a:ea typeface="微软雅黑" panose="020B0503020204020204" charset="-122"/>
              </a:rPr>
              <a:t>如右图：在字长为32位的存储器，每一个主存单元可存放4个字符，整个字符串需5个主存单元。在每个字节中实际存放的是相应字符的</a:t>
            </a:r>
            <a:r>
              <a:rPr lang="en-US" altLang="zh-CN" sz="2000" b="1" dirty="0">
                <a:solidFill>
                  <a:schemeClr val="tx2"/>
                </a:solidFill>
                <a:latin typeface="微软雅黑" panose="020B0503020204020204" charset="-122"/>
                <a:ea typeface="微软雅黑" panose="020B0503020204020204" charset="-122"/>
              </a:rPr>
              <a:t>ASCII</a:t>
            </a:r>
            <a:r>
              <a:rPr lang="zh-CN" altLang="en-US" sz="2000" b="1" dirty="0">
                <a:solidFill>
                  <a:schemeClr val="tx2"/>
                </a:solidFill>
                <a:latin typeface="微软雅黑" panose="020B0503020204020204" charset="-122"/>
                <a:ea typeface="微软雅黑" panose="020B0503020204020204" charset="-122"/>
              </a:rPr>
              <a:t>码</a:t>
            </a:r>
            <a:r>
              <a:rPr lang="zh-CN" altLang="en-US" sz="2000" dirty="0">
                <a:solidFill>
                  <a:schemeClr val="tx2"/>
                </a:solidFill>
                <a:latin typeface="微软雅黑" panose="020B0503020204020204" charset="-122"/>
                <a:ea typeface="微软雅黑" panose="020B0503020204020204" charset="-122"/>
              </a:rPr>
              <a:t>。</a:t>
            </a:r>
            <a:r>
              <a:rPr lang="zh-CN" altLang="en-US" sz="2400" dirty="0">
                <a:solidFill>
                  <a:schemeClr val="tx2"/>
                </a:solidFill>
                <a:latin typeface="微软雅黑" panose="020B0503020204020204" charset="-122"/>
                <a:ea typeface="微软雅黑" panose="020B0503020204020204" charset="-122"/>
              </a:rPr>
              <a:t>        </a:t>
            </a:r>
            <a:endParaRPr lang="zh-CN" altLang="en-US" sz="2400" dirty="0">
              <a:solidFill>
                <a:schemeClr val="tx2"/>
              </a:solidFill>
              <a:latin typeface="微软雅黑" panose="020B0503020204020204" charset="-122"/>
              <a:ea typeface="微软雅黑" panose="020B0503020204020204" charset="-122"/>
            </a:endParaRPr>
          </a:p>
        </p:txBody>
      </p:sp>
      <p:sp>
        <p:nvSpPr>
          <p:cNvPr id="95235" name="灯片编号占位符 5"/>
          <p:cNvSpPr txBox="1">
            <a:spLocks noGrp="1"/>
          </p:cNvSpPr>
          <p:nvPr>
            <p:ph type="sldNum" sz="quarter"/>
          </p:nvPr>
        </p:nvSpPr>
        <p:spPr>
          <a:xfrm>
            <a:off x="7239000" y="6248400"/>
            <a:ext cx="1725613" cy="515938"/>
          </a:xfrm>
          <a:prstGeom prst="rect">
            <a:avLst/>
          </a:prstGeom>
          <a:noFill/>
          <a:ln w="9525">
            <a:noFill/>
          </a:ln>
        </p:spPr>
        <p:txBody>
          <a:bodyPr anchor="t"/>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eaLnBrk="1" hangingPunct="1"/>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pic>
        <p:nvPicPr>
          <p:cNvPr id="95236" name="图片 1"/>
          <p:cNvPicPr>
            <a:picLocks noChangeAspect="1"/>
          </p:cNvPicPr>
          <p:nvPr/>
        </p:nvPicPr>
        <p:blipFill>
          <a:blip r:embed="rId1"/>
          <a:srcRect r="18729"/>
          <a:stretch>
            <a:fillRect/>
          </a:stretch>
        </p:blipFill>
        <p:spPr>
          <a:xfrm>
            <a:off x="5085080" y="1313180"/>
            <a:ext cx="3260090" cy="4005580"/>
          </a:xfrm>
          <a:prstGeom prst="rect">
            <a:avLst/>
          </a:prstGeom>
          <a:noFill/>
          <a:ln w="9525">
            <a:noFill/>
          </a:ln>
        </p:spPr>
      </p:pic>
      <p:sp>
        <p:nvSpPr>
          <p:cNvPr id="48" name="Rectangle 76"/>
          <p:cNvSpPr txBox="1">
            <a:spLocks noChangeArrowheads="1"/>
          </p:cNvSpPr>
          <p:nvPr/>
        </p:nvSpPr>
        <p:spPr bwMode="auto">
          <a:xfrm>
            <a:off x="4859338" y="5440680"/>
            <a:ext cx="3632200" cy="685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100000"/>
              </a:lnSpc>
              <a:spcBef>
                <a:spcPct val="20000"/>
              </a:spcBef>
              <a:spcAft>
                <a:spcPct val="0"/>
              </a:spcAft>
              <a:buClr>
                <a:schemeClr val="hlink"/>
              </a:buClr>
              <a:buSzTx/>
              <a:buFontTx/>
              <a:buNone/>
              <a:defRPr/>
            </a:pPr>
            <a:r>
              <a:rPr kumimoji="0" lang="zh-CN" altLang="en-US" sz="20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图2-7 字符串的向量存放方案</a:t>
            </a:r>
            <a:endParaRPr kumimoji="0" lang="zh-CN" altLang="en-US" sz="20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Rectangle 2"/>
          <p:cNvSpPr>
            <a:spLocks noGrp="1" noRot="1"/>
          </p:cNvSpPr>
          <p:nvPr>
            <p:ph type="title"/>
          </p:nvPr>
        </p:nvSpPr>
        <p:spPr>
          <a:noFill/>
          <a:ln>
            <a:noFill/>
          </a:ln>
        </p:spPr>
        <p:txBody>
          <a:bodyPr anchor="t"/>
          <a:p>
            <a:pPr>
              <a:buNone/>
            </a:pPr>
            <a:r>
              <a:rPr lang="zh-CN" altLang="en-US" sz="3600" dirty="0">
                <a:solidFill>
                  <a:srgbClr val="0000FF"/>
                </a:solidFill>
                <a:latin typeface="微软雅黑" panose="020B0503020204020204" charset="-122"/>
                <a:ea typeface="微软雅黑" panose="020B0503020204020204" charset="-122"/>
              </a:rPr>
              <a:t>汉字的表示</a:t>
            </a:r>
            <a:endParaRPr lang="zh-CN" altLang="en-US" sz="3600" dirty="0">
              <a:solidFill>
                <a:srgbClr val="0000FF"/>
              </a:solidFill>
              <a:latin typeface="微软雅黑" panose="020B0503020204020204" charset="-122"/>
              <a:ea typeface="微软雅黑" panose="020B0503020204020204" charset="-122"/>
            </a:endParaRPr>
          </a:p>
        </p:txBody>
      </p:sp>
      <p:sp>
        <p:nvSpPr>
          <p:cNvPr id="96258" name="Rectangle 3"/>
          <p:cNvSpPr>
            <a:spLocks noGrp="1" noRot="1"/>
          </p:cNvSpPr>
          <p:nvPr>
            <p:ph idx="1"/>
          </p:nvPr>
        </p:nvSpPr>
        <p:spPr>
          <a:xfrm>
            <a:off x="693738" y="1700213"/>
            <a:ext cx="7993062" cy="2160587"/>
          </a:xfrm>
          <a:noFill/>
          <a:ln>
            <a:noFill/>
          </a:ln>
        </p:spPr>
        <p:txBody>
          <a:bodyPr anchor="t"/>
          <a:p>
            <a:pPr eaLnBrk="1" hangingPunct="1">
              <a:lnSpc>
                <a:spcPct val="110000"/>
              </a:lnSpc>
              <a:spcBef>
                <a:spcPts val="1800"/>
              </a:spcBef>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输入编码：数字，拼音，字形</a:t>
            </a:r>
            <a:r>
              <a:rPr lang="en-US" altLang="zh-CN" dirty="0">
                <a:solidFill>
                  <a:schemeClr val="tx2"/>
                </a:solidFill>
                <a:latin typeface="微软雅黑" panose="020B0503020204020204" charset="-122"/>
                <a:ea typeface="微软雅黑" panose="020B0503020204020204" charset="-122"/>
              </a:rPr>
              <a:t>;</a:t>
            </a:r>
            <a:endParaRPr lang="en-US" altLang="zh-CN" dirty="0">
              <a:solidFill>
                <a:schemeClr val="tx2"/>
              </a:solidFill>
              <a:latin typeface="微软雅黑" panose="020B0503020204020204" charset="-122"/>
              <a:ea typeface="微软雅黑" panose="020B0503020204020204" charset="-122"/>
            </a:endParaRPr>
          </a:p>
          <a:p>
            <a:pPr eaLnBrk="1" hangingPunct="1">
              <a:lnSpc>
                <a:spcPct val="110000"/>
              </a:lnSpc>
              <a:spcBef>
                <a:spcPts val="1800"/>
              </a:spcBef>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处理编码：内码；</a:t>
            </a:r>
            <a:endParaRPr lang="zh-CN" altLang="en-US" dirty="0">
              <a:solidFill>
                <a:schemeClr val="tx2"/>
              </a:solidFill>
              <a:latin typeface="微软雅黑" panose="020B0503020204020204" charset="-122"/>
              <a:ea typeface="微软雅黑" panose="020B0503020204020204" charset="-122"/>
            </a:endParaRPr>
          </a:p>
          <a:p>
            <a:pPr eaLnBrk="1" hangingPunct="1">
              <a:lnSpc>
                <a:spcPct val="110000"/>
              </a:lnSpc>
              <a:spcBef>
                <a:spcPts val="1800"/>
              </a:spcBef>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输出编码：点阵字库，矢量字库；</a:t>
            </a:r>
            <a:endParaRPr lang="zh-CN" altLang="en-US" dirty="0">
              <a:solidFill>
                <a:schemeClr val="tx2"/>
              </a:solidFill>
              <a:latin typeface="微软雅黑" panose="020B0503020204020204" charset="-122"/>
              <a:ea typeface="微软雅黑" panose="020B0503020204020204"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Rectangle 2"/>
          <p:cNvSpPr>
            <a:spLocks noGrp="1"/>
          </p:cNvSpPr>
          <p:nvPr>
            <p:ph type="body"/>
          </p:nvPr>
        </p:nvSpPr>
        <p:spPr>
          <a:xfrm>
            <a:off x="539750" y="1252538"/>
            <a:ext cx="7924800" cy="4697412"/>
          </a:xfrm>
          <a:prstGeom prst="rect">
            <a:avLst/>
          </a:prstGeom>
          <a:noFill/>
          <a:ln w="9525">
            <a:noFill/>
          </a:ln>
        </p:spPr>
        <p:txBody>
          <a:bodyPr anchor="t"/>
          <a:p>
            <a:pPr eaLnBrk="1" hangingPunct="1">
              <a:buFontTx/>
              <a:buNone/>
            </a:pPr>
            <a:r>
              <a:rPr lang="zh-CN" altLang="en-US" sz="3200" dirty="0">
                <a:solidFill>
                  <a:srgbClr val="FF3300"/>
                </a:solidFill>
                <a:latin typeface="微软雅黑" panose="020B0503020204020204" charset="-122"/>
                <a:ea typeface="微软雅黑" panose="020B0503020204020204" charset="-122"/>
              </a:rPr>
              <a:t>1.汉字国标码           </a:t>
            </a:r>
            <a:endParaRPr lang="en-US" altLang="zh-CN" sz="3200" dirty="0">
              <a:solidFill>
                <a:srgbClr val="FF3300"/>
              </a:solidFill>
              <a:latin typeface="微软雅黑" panose="020B0503020204020204" charset="-122"/>
              <a:ea typeface="微软雅黑" panose="020B0503020204020204" charset="-122"/>
            </a:endParaRPr>
          </a:p>
          <a:p>
            <a:pPr eaLnBrk="1" hangingPunct="1">
              <a:spcBef>
                <a:spcPts val="1800"/>
              </a:spcBef>
              <a:buClr>
                <a:schemeClr val="tx2"/>
              </a:buClr>
              <a:buSzPct val="80000"/>
              <a:buChar char="u"/>
            </a:pPr>
            <a:r>
              <a:rPr lang="zh-CN" altLang="en-US" sz="2400" dirty="0">
                <a:solidFill>
                  <a:schemeClr val="tx2"/>
                </a:solidFill>
                <a:latin typeface="微软雅黑" panose="020B0503020204020204" charset="-122"/>
                <a:ea typeface="微软雅黑" panose="020B0503020204020204" charset="-122"/>
              </a:rPr>
              <a:t>汉字国标码亦可称为汉字交换码，主要用于汉字信息处理系统之间或者通信系统之间</a:t>
            </a:r>
            <a:r>
              <a:rPr lang="zh-CN" altLang="en-US" sz="2400" dirty="0">
                <a:solidFill>
                  <a:srgbClr val="FF0000"/>
                </a:solidFill>
                <a:latin typeface="微软雅黑" panose="020B0503020204020204" charset="-122"/>
                <a:ea typeface="微软雅黑" panose="020B0503020204020204" charset="-122"/>
              </a:rPr>
              <a:t>交换信息</a:t>
            </a:r>
            <a:r>
              <a:rPr lang="zh-CN" altLang="en-US" sz="2400" dirty="0">
                <a:solidFill>
                  <a:schemeClr val="tx2"/>
                </a:solidFill>
                <a:latin typeface="微软雅黑" panose="020B0503020204020204" charset="-122"/>
                <a:ea typeface="微软雅黑" panose="020B0503020204020204" charset="-122"/>
              </a:rPr>
              <a:t>使用，简称</a:t>
            </a:r>
            <a:r>
              <a:rPr lang="en-US" altLang="zh-CN" sz="2400" dirty="0">
                <a:solidFill>
                  <a:schemeClr val="tx2"/>
                </a:solidFill>
                <a:latin typeface="微软雅黑" panose="020B0503020204020204" charset="-122"/>
                <a:ea typeface="微软雅黑" panose="020B0503020204020204" charset="-122"/>
              </a:rPr>
              <a:t>GB</a:t>
            </a:r>
            <a:r>
              <a:rPr lang="zh-CN" altLang="en-US" sz="2400" dirty="0">
                <a:solidFill>
                  <a:schemeClr val="tx2"/>
                </a:solidFill>
                <a:latin typeface="微软雅黑" panose="020B0503020204020204" charset="-122"/>
                <a:ea typeface="微软雅黑" panose="020B0503020204020204" charset="-122"/>
              </a:rPr>
              <a:t>码。该标准共收集常用汉字6763个，另外还有各种图形符号682个，共计7445个。</a:t>
            </a:r>
            <a:endParaRPr lang="zh-CN" altLang="en-US" sz="2400" dirty="0">
              <a:solidFill>
                <a:schemeClr val="tx2"/>
              </a:solidFill>
              <a:latin typeface="微软雅黑" panose="020B0503020204020204" charset="-122"/>
              <a:ea typeface="微软雅黑" panose="020B0503020204020204" charset="-122"/>
            </a:endParaRPr>
          </a:p>
          <a:p>
            <a:pPr eaLnBrk="1" hangingPunct="1">
              <a:spcBef>
                <a:spcPts val="1800"/>
              </a:spcBef>
              <a:buClr>
                <a:schemeClr val="tx2"/>
              </a:buClr>
              <a:buSzPct val="80000"/>
              <a:buChar char="u"/>
            </a:pPr>
            <a:r>
              <a:rPr lang="en-US" altLang="zh-CN" sz="2400" dirty="0">
                <a:solidFill>
                  <a:schemeClr val="tx2"/>
                </a:solidFill>
                <a:latin typeface="微软雅黑" panose="020B0503020204020204" charset="-122"/>
                <a:ea typeface="微软雅黑" panose="020B0503020204020204" charset="-122"/>
              </a:rPr>
              <a:t>GB</a:t>
            </a:r>
            <a:r>
              <a:rPr lang="zh-CN" altLang="en-US" sz="2400" dirty="0">
                <a:solidFill>
                  <a:schemeClr val="tx2"/>
                </a:solidFill>
                <a:latin typeface="微软雅黑" panose="020B0503020204020204" charset="-122"/>
                <a:ea typeface="微软雅黑" panose="020B0503020204020204" charset="-122"/>
              </a:rPr>
              <a:t>码规定每个汉字、图形符号都用</a:t>
            </a:r>
            <a:r>
              <a:rPr lang="zh-CN" altLang="en-US" sz="2400" dirty="0">
                <a:solidFill>
                  <a:srgbClr val="FF0000"/>
                </a:solidFill>
                <a:latin typeface="微软雅黑" panose="020B0503020204020204" charset="-122"/>
                <a:ea typeface="微软雅黑" panose="020B0503020204020204" charset="-122"/>
              </a:rPr>
              <a:t>两个字节</a:t>
            </a:r>
            <a:r>
              <a:rPr lang="zh-CN" altLang="en-US" sz="2400" dirty="0">
                <a:solidFill>
                  <a:schemeClr val="tx2"/>
                </a:solidFill>
                <a:latin typeface="微软雅黑" panose="020B0503020204020204" charset="-122"/>
                <a:ea typeface="微软雅黑" panose="020B0503020204020204" charset="-122"/>
              </a:rPr>
              <a:t>表示，每个字节只使用低七位编码，因此最多能表示出128×128=16384个汉字。 </a:t>
            </a:r>
            <a:endParaRPr lang="zh-CN" altLang="en-US" sz="2400" dirty="0">
              <a:solidFill>
                <a:schemeClr val="tx2"/>
              </a:solidFill>
              <a:latin typeface="微软雅黑" panose="020B0503020204020204" charset="-122"/>
              <a:ea typeface="微软雅黑" panose="020B0503020204020204" charset="-122"/>
            </a:endParaRPr>
          </a:p>
        </p:txBody>
      </p:sp>
      <p:sp>
        <p:nvSpPr>
          <p:cNvPr id="98306" name="Rectangle 3"/>
          <p:cNvSpPr>
            <a:spLocks noGrp="1"/>
          </p:cNvSpPr>
          <p:nvPr>
            <p:ph type="title"/>
          </p:nvPr>
        </p:nvSpPr>
        <p:spPr>
          <a:xfrm>
            <a:off x="419100" y="333375"/>
            <a:ext cx="7772400" cy="647700"/>
          </a:xfrm>
          <a:prstGeom prst="rect">
            <a:avLst/>
          </a:prstGeom>
          <a:noFill/>
          <a:ln w="9525">
            <a:noFill/>
          </a:ln>
        </p:spPr>
        <p:txBody>
          <a:bodyPr anchor="t"/>
          <a:p>
            <a:pPr eaLnBrk="1" hangingPunct="1">
              <a:buNone/>
            </a:pPr>
            <a:r>
              <a:rPr lang="zh-CN" altLang="en-US" sz="3600" dirty="0">
                <a:solidFill>
                  <a:srgbClr val="0000FF"/>
                </a:solidFill>
                <a:latin typeface="微软雅黑" panose="020B0503020204020204" charset="-122"/>
                <a:ea typeface="微软雅黑" panose="020B0503020204020204" charset="-122"/>
              </a:rPr>
              <a:t>汉字的表示</a:t>
            </a:r>
            <a:endParaRPr lang="zh-CN" altLang="en-US" sz="3600" dirty="0">
              <a:latin typeface="微软雅黑" panose="020B0503020204020204" charset="-122"/>
              <a:ea typeface="微软雅黑" panose="020B0503020204020204" charset="-122"/>
            </a:endParaRPr>
          </a:p>
        </p:txBody>
      </p:sp>
      <p:sp>
        <p:nvSpPr>
          <p:cNvPr id="98307" name="灯片编号占位符 3"/>
          <p:cNvSpPr txBox="1">
            <a:spLocks noGrp="1"/>
          </p:cNvSpPr>
          <p:nvPr>
            <p:ph type="sldNum" sz="quarter"/>
          </p:nvPr>
        </p:nvSpPr>
        <p:spPr>
          <a:xfrm>
            <a:off x="6875463" y="6221413"/>
            <a:ext cx="1905000" cy="457200"/>
          </a:xfrm>
          <a:prstGeom prst="rect">
            <a:avLst/>
          </a:prstGeom>
          <a:noFill/>
          <a:ln w="9525">
            <a:noFill/>
          </a:ln>
        </p:spPr>
        <p:txBody>
          <a:bodyPr anchor="t"/>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eaLnBrk="1" hangingPunct="1"/>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Rectangle 2"/>
          <p:cNvSpPr>
            <a:spLocks noGrp="1"/>
          </p:cNvSpPr>
          <p:nvPr>
            <p:ph type="body"/>
          </p:nvPr>
        </p:nvSpPr>
        <p:spPr>
          <a:xfrm>
            <a:off x="468313" y="1304925"/>
            <a:ext cx="8135937" cy="3924300"/>
          </a:xfrm>
          <a:prstGeom prst="rect">
            <a:avLst/>
          </a:prstGeom>
          <a:noFill/>
          <a:ln w="9525">
            <a:noFill/>
          </a:ln>
        </p:spPr>
        <p:txBody>
          <a:bodyPr anchor="t"/>
          <a:p>
            <a:pPr eaLnBrk="1" hangingPunct="1">
              <a:lnSpc>
                <a:spcPct val="90000"/>
              </a:lnSpc>
              <a:spcBef>
                <a:spcPts val="1800"/>
              </a:spcBef>
              <a:buClr>
                <a:schemeClr val="tx2"/>
              </a:buClr>
              <a:buSzPct val="80000"/>
              <a:buChar char="u"/>
            </a:pPr>
            <a:r>
              <a:rPr lang="zh-CN" altLang="en-US" sz="2400" dirty="0">
                <a:solidFill>
                  <a:schemeClr val="tx2"/>
                </a:solidFill>
                <a:latin typeface="微软雅黑" panose="020B0503020204020204" charset="-122"/>
                <a:ea typeface="微软雅黑" panose="020B0503020204020204" charset="-122"/>
              </a:rPr>
              <a:t>区位码将汉字编码码中的6763个汉字分为94个区，每个区中包含94个汉字（位），区和位组成一个二维数组，每个汉字在数组中对应一个唯一的区位码。</a:t>
            </a:r>
            <a:endParaRPr lang="en-US" altLang="zh-CN" sz="2400" dirty="0">
              <a:solidFill>
                <a:schemeClr val="tx2"/>
              </a:solidFill>
              <a:latin typeface="微软雅黑" panose="020B0503020204020204" charset="-122"/>
              <a:ea typeface="微软雅黑" panose="020B0503020204020204" charset="-122"/>
            </a:endParaRPr>
          </a:p>
          <a:p>
            <a:pPr eaLnBrk="1" hangingPunct="1">
              <a:lnSpc>
                <a:spcPct val="90000"/>
              </a:lnSpc>
              <a:spcBef>
                <a:spcPts val="1800"/>
              </a:spcBef>
              <a:buClr>
                <a:schemeClr val="tx2"/>
              </a:buClr>
              <a:buSzPct val="80000"/>
              <a:buChar char="u"/>
            </a:pPr>
            <a:r>
              <a:rPr lang="zh-CN" altLang="en-US" sz="2400" dirty="0">
                <a:solidFill>
                  <a:schemeClr val="tx2"/>
                </a:solidFill>
                <a:latin typeface="微软雅黑" panose="020B0503020204020204" charset="-122"/>
                <a:ea typeface="微软雅黑" panose="020B0503020204020204" charset="-122"/>
              </a:rPr>
              <a:t>汉字的区位码</a:t>
            </a:r>
            <a:r>
              <a:rPr lang="zh-CN" altLang="en-US" sz="2400" dirty="0">
                <a:solidFill>
                  <a:srgbClr val="FF0000"/>
                </a:solidFill>
                <a:latin typeface="微软雅黑" panose="020B0503020204020204" charset="-122"/>
                <a:ea typeface="微软雅黑" panose="020B0503020204020204" charset="-122"/>
              </a:rPr>
              <a:t>定长4位</a:t>
            </a:r>
            <a:r>
              <a:rPr lang="zh-CN" altLang="en-US" sz="2400" dirty="0">
                <a:solidFill>
                  <a:schemeClr val="tx2"/>
                </a:solidFill>
                <a:latin typeface="微软雅黑" panose="020B0503020204020204" charset="-122"/>
                <a:ea typeface="微软雅黑" panose="020B0503020204020204" charset="-122"/>
              </a:rPr>
              <a:t>，前2位表示区号，后2位表示位号；</a:t>
            </a:r>
            <a:endParaRPr lang="zh-CN" altLang="en-US" sz="2400" dirty="0">
              <a:solidFill>
                <a:schemeClr val="tx2"/>
              </a:solidFill>
              <a:latin typeface="微软雅黑" panose="020B0503020204020204" charset="-122"/>
              <a:ea typeface="微软雅黑" panose="020B0503020204020204" charset="-122"/>
            </a:endParaRPr>
          </a:p>
          <a:p>
            <a:pPr eaLnBrk="1" hangingPunct="1">
              <a:lnSpc>
                <a:spcPct val="90000"/>
              </a:lnSpc>
              <a:spcBef>
                <a:spcPts val="1800"/>
              </a:spcBef>
              <a:buClr>
                <a:schemeClr val="tx2"/>
              </a:buClr>
              <a:buSzPct val="80000"/>
              <a:buChar char="u"/>
            </a:pPr>
            <a:r>
              <a:rPr lang="zh-CN" altLang="en-US" sz="2400" dirty="0">
                <a:solidFill>
                  <a:schemeClr val="tx2"/>
                </a:solidFill>
                <a:latin typeface="微软雅黑" panose="020B0503020204020204" charset="-122"/>
                <a:ea typeface="微软雅黑" panose="020B0503020204020204" charset="-122"/>
              </a:rPr>
              <a:t>区号和位号用</a:t>
            </a:r>
            <a:r>
              <a:rPr lang="zh-CN" altLang="en-US" sz="2400" dirty="0">
                <a:solidFill>
                  <a:srgbClr val="FF0000"/>
                </a:solidFill>
                <a:latin typeface="微软雅黑" panose="020B0503020204020204" charset="-122"/>
                <a:ea typeface="微软雅黑" panose="020B0503020204020204" charset="-122"/>
              </a:rPr>
              <a:t>十进制数</a:t>
            </a:r>
            <a:r>
              <a:rPr lang="zh-CN" altLang="en-US" sz="2400" dirty="0">
                <a:solidFill>
                  <a:schemeClr val="tx2"/>
                </a:solidFill>
                <a:latin typeface="微软雅黑" panose="020B0503020204020204" charset="-122"/>
                <a:ea typeface="微软雅黑" panose="020B0503020204020204" charset="-122"/>
              </a:rPr>
              <a:t>表示，区号从01到94，位号也从01到94。</a:t>
            </a:r>
            <a:endParaRPr lang="zh-CN" altLang="en-US" sz="2400" dirty="0">
              <a:solidFill>
                <a:schemeClr val="tx2"/>
              </a:solidFill>
              <a:latin typeface="微软雅黑" panose="020B0503020204020204" charset="-122"/>
              <a:ea typeface="微软雅黑" panose="020B0503020204020204" charset="-122"/>
            </a:endParaRPr>
          </a:p>
          <a:p>
            <a:pPr lvl="1" eaLnBrk="1" hangingPunct="1">
              <a:lnSpc>
                <a:spcPct val="90000"/>
              </a:lnSpc>
              <a:spcBef>
                <a:spcPts val="1800"/>
              </a:spcBef>
              <a:buClr>
                <a:schemeClr val="tx2"/>
              </a:buClr>
              <a:buSzPct val="80000"/>
              <a:buChar char="u"/>
            </a:pPr>
            <a:r>
              <a:rPr lang="zh-CN" altLang="en-US" sz="2400" b="1" dirty="0">
                <a:solidFill>
                  <a:schemeClr val="tx2"/>
                </a:solidFill>
                <a:latin typeface="微软雅黑" panose="020B0503020204020204" charset="-122"/>
                <a:ea typeface="微软雅黑" panose="020B0503020204020204" charset="-122"/>
              </a:rPr>
              <a:t>例如，“中”字在54区的48位上，其区位码为“54-48”，“国”字在25区的90位上，其区位码为“25-90”。</a:t>
            </a:r>
            <a:r>
              <a:rPr lang="zh-CN" altLang="en-US" b="1" dirty="0">
                <a:solidFill>
                  <a:schemeClr val="tx2"/>
                </a:solidFill>
                <a:latin typeface="微软雅黑" panose="020B0503020204020204" charset="-122"/>
                <a:ea typeface="微软雅黑" panose="020B0503020204020204" charset="-122"/>
              </a:rPr>
              <a:t> </a:t>
            </a:r>
            <a:endParaRPr lang="en-US" altLang="zh-CN" b="1" dirty="0">
              <a:solidFill>
                <a:schemeClr val="tx2"/>
              </a:solidFill>
              <a:latin typeface="微软雅黑" panose="020B0503020204020204" charset="-122"/>
              <a:ea typeface="微软雅黑" panose="020B0503020204020204" charset="-122"/>
            </a:endParaRPr>
          </a:p>
        </p:txBody>
      </p:sp>
      <p:sp>
        <p:nvSpPr>
          <p:cNvPr id="99330" name="Rectangle 3"/>
          <p:cNvSpPr>
            <a:spLocks noGrp="1"/>
          </p:cNvSpPr>
          <p:nvPr>
            <p:ph type="title"/>
          </p:nvPr>
        </p:nvSpPr>
        <p:spPr>
          <a:xfrm>
            <a:off x="323850" y="314325"/>
            <a:ext cx="7772400" cy="742950"/>
          </a:xfrm>
          <a:prstGeom prst="rect">
            <a:avLst/>
          </a:prstGeom>
          <a:noFill/>
          <a:ln w="9525">
            <a:noFill/>
          </a:ln>
        </p:spPr>
        <p:txBody>
          <a:bodyPr anchor="t"/>
          <a:p>
            <a:pPr eaLnBrk="1" hangingPunct="1">
              <a:buNone/>
            </a:pPr>
            <a:r>
              <a:rPr lang="zh-CN" altLang="en-US" dirty="0">
                <a:solidFill>
                  <a:srgbClr val="FF3300"/>
                </a:solidFill>
                <a:latin typeface="微软雅黑" panose="020B0503020204020204" charset="-122"/>
                <a:ea typeface="微软雅黑" panose="020B0503020204020204" charset="-122"/>
              </a:rPr>
              <a:t>汉字区位码</a:t>
            </a:r>
            <a:endParaRPr lang="zh-CN" altLang="en-US" dirty="0">
              <a:solidFill>
                <a:srgbClr val="FF3300"/>
              </a:solidFill>
              <a:latin typeface="微软雅黑" panose="020B0503020204020204" charset="-122"/>
              <a:ea typeface="微软雅黑" panose="020B0503020204020204" charset="-122"/>
            </a:endParaRPr>
          </a:p>
        </p:txBody>
      </p:sp>
      <p:sp>
        <p:nvSpPr>
          <p:cNvPr id="99331" name="灯片编号占位符 3"/>
          <p:cNvSpPr txBox="1">
            <a:spLocks noGrp="1"/>
          </p:cNvSpPr>
          <p:nvPr>
            <p:ph type="sldNum" sz="quarter"/>
          </p:nvPr>
        </p:nvSpPr>
        <p:spPr>
          <a:xfrm>
            <a:off x="7239000" y="6248400"/>
            <a:ext cx="1654175" cy="609600"/>
          </a:xfrm>
          <a:prstGeom prst="rect">
            <a:avLst/>
          </a:prstGeom>
          <a:noFill/>
          <a:ln w="9525">
            <a:noFill/>
          </a:ln>
        </p:spPr>
        <p:txBody>
          <a:bodyPr anchor="t"/>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eaLnBrk="1" hangingPunct="1"/>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pic>
        <p:nvPicPr>
          <p:cNvPr id="99332" name="图片 1"/>
          <p:cNvPicPr>
            <a:picLocks noChangeAspect="1"/>
          </p:cNvPicPr>
          <p:nvPr/>
        </p:nvPicPr>
        <p:blipFill>
          <a:blip r:embed="rId1"/>
          <a:stretch>
            <a:fillRect/>
          </a:stretch>
        </p:blipFill>
        <p:spPr>
          <a:xfrm>
            <a:off x="936625" y="5497513"/>
            <a:ext cx="6546850" cy="749300"/>
          </a:xfrm>
          <a:prstGeom prst="rect">
            <a:avLst/>
          </a:prstGeom>
          <a:noFill/>
          <a:ln w="9525">
            <a:noFill/>
          </a:ln>
        </p:spPr>
      </p:pic>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2"/>
          <p:cNvSpPr>
            <a:spLocks noGrp="1" noChangeArrowheads="1"/>
          </p:cNvSpPr>
          <p:nvPr>
            <p:ph type="body" idx="4294967295"/>
          </p:nvPr>
        </p:nvSpPr>
        <p:spPr bwMode="auto">
          <a:xfrm>
            <a:off x="274638" y="1166813"/>
            <a:ext cx="8258175" cy="53863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marR="0" lvl="0" indent="-342900" algn="l" defTabSz="914400" rtl="0" eaLnBrk="1" fontAlgn="base" latinLnBrk="0" hangingPunct="1">
              <a:lnSpc>
                <a:spcPct val="90000"/>
              </a:lnSpc>
              <a:spcBef>
                <a:spcPts val="1800"/>
              </a:spcBef>
              <a:spcAft>
                <a:spcPct val="0"/>
              </a:spcAft>
              <a:buClr>
                <a:schemeClr val="tx2"/>
              </a:buClr>
              <a:buSzPct val="80000"/>
              <a:buFont typeface="Wingdings" panose="05000000000000000000" pitchFamily="2" charset="2"/>
              <a:buChar char="u"/>
              <a:defRPr/>
            </a:pP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汉字在计算机内部其</a:t>
            </a:r>
            <a:r>
              <a:rPr kumimoji="0" lang="zh-CN" altLang="en-US" sz="2400" b="1"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内码是唯一</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的。</a:t>
            </a:r>
            <a:endPar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R="0" lvl="1" algn="just" defTabSz="914400" rtl="0" eaLnBrk="1" fontAlgn="base" latinLnBrk="0" hangingPunct="1">
              <a:lnSpc>
                <a:spcPct val="100000"/>
              </a:lnSpc>
              <a:spcBef>
                <a:spcPts val="1200"/>
              </a:spcBef>
              <a:buSzTx/>
              <a:buFont typeface="Wingdings" panose="05000000000000000000" pitchFamily="2" charset="2"/>
              <a:buChar char="Ø"/>
              <a:defRPr/>
            </a:pPr>
            <a:r>
              <a:rPr kumimoji="0" lang="zh-CN" altLang="en-US" sz="2000"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因为汉字处理系统要保证中西文的兼容，当系统中同时存在ASCII码和汉字国标码时，将会产生二义性。</a:t>
            </a:r>
            <a:endParaRPr kumimoji="0" lang="zh-CN" altLang="en-US" sz="2000"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endParaRPr>
          </a:p>
          <a:p>
            <a:pPr marL="742950" marR="0" lvl="1" indent="-285750" algn="just" defTabSz="914400" rtl="0" eaLnBrk="1" fontAlgn="base" latinLnBrk="0" hangingPunct="1">
              <a:lnSpc>
                <a:spcPct val="100000"/>
              </a:lnSpc>
              <a:spcBef>
                <a:spcPts val="1200"/>
              </a:spcBef>
              <a:buClr>
                <a:schemeClr val="accent1"/>
              </a:buClr>
              <a:buSzTx/>
              <a:buFont typeface="Wingdings" panose="05000000000000000000" pitchFamily="2" charset="2"/>
              <a:buChar char="Ø"/>
              <a:defRPr/>
            </a:pPr>
            <a:r>
              <a:rPr kumimoji="0" lang="zh-CN" altLang="en-US" sz="2000"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例如：有两个字节的内容为30H和21H，它既可表示汉字“啊”的国标码，又可表示西文“0”和“!”的</a:t>
            </a:r>
            <a:r>
              <a:rPr kumimoji="0" lang="zh-CN" altLang="en-US" sz="2000"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ASCII码。为此，汉字机内码应对国标码加以适当处理和变换。</a:t>
            </a:r>
            <a:endParaRPr kumimoji="0" lang="zh-CN" altLang="en-US" sz="2000"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endParaRPr>
          </a:p>
          <a:p>
            <a:pPr marL="342900" marR="0" lvl="0" indent="-342900" algn="l" defTabSz="914400" rtl="0" eaLnBrk="1" fontAlgn="base" latinLnBrk="0" hangingPunct="1">
              <a:lnSpc>
                <a:spcPct val="90000"/>
              </a:lnSpc>
              <a:spcBef>
                <a:spcPts val="1800"/>
              </a:spcBef>
              <a:spcAft>
                <a:spcPct val="0"/>
              </a:spcAft>
              <a:buClr>
                <a:schemeClr val="tx2"/>
              </a:buClr>
              <a:buSzPct val="80000"/>
              <a:buFont typeface="Wingdings" panose="05000000000000000000" pitchFamily="2" charset="2"/>
              <a:buChar char="u"/>
              <a:defRPr/>
            </a:pP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GB</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码的机内码为</a:t>
            </a:r>
            <a:r>
              <a:rPr kumimoji="0" lang="zh-CN" altLang="en-US" sz="2400" b="1"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二字节长</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的代码，它是在相应</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GB</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码的</a:t>
            </a:r>
            <a:r>
              <a:rPr kumimoji="0" lang="zh-CN" altLang="en-US" sz="2400" b="1"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每个字节最高位上加“1”</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，即</a:t>
            </a:r>
            <a:endPar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342900" marR="0" lvl="0" indent="-342900" algn="just" defTabSz="914400" rtl="0" eaLnBrk="1" fontAlgn="base" latinLnBrk="0" hangingPunct="1">
              <a:lnSpc>
                <a:spcPct val="100000"/>
              </a:lnSpc>
              <a:spcBef>
                <a:spcPct val="20000"/>
              </a:spcBef>
              <a:spcAft>
                <a:spcPct val="0"/>
              </a:spcAft>
              <a:buClr>
                <a:schemeClr val="hlink"/>
              </a:buClr>
              <a:buSzTx/>
              <a:buFontTx/>
              <a:buNone/>
              <a:defRPr/>
            </a:pPr>
            <a:r>
              <a:rPr kumimoji="0" lang="zh-CN" altLang="en-US" sz="2400" b="1" i="0" u="none" strike="noStrike" kern="0" cap="none" spc="0" normalizeH="0" baseline="0" noProof="0" dirty="0">
                <a:ln>
                  <a:noFill/>
                </a:ln>
                <a:solidFill>
                  <a:schemeClr val="hlink"/>
                </a:solidFill>
                <a:effectLst/>
                <a:uLnTx/>
                <a:uFillTx/>
                <a:latin typeface="微软雅黑" panose="020B0503020204020204" charset="-122"/>
                <a:ea typeface="微软雅黑" panose="020B0503020204020204" charset="-122"/>
                <a:cs typeface="Times New Roman" panose="02020603050405020304" pitchFamily="18" charset="0"/>
              </a:rPr>
              <a:t>           </a:t>
            </a:r>
            <a:r>
              <a:rPr kumimoji="0" lang="zh-CN" altLang="en-US" sz="2400" b="1" i="0" u="none" strike="noStrike" kern="0" cap="none" spc="0" normalizeH="0" baseline="0" noProof="0" dirty="0">
                <a:ln>
                  <a:noFill/>
                </a:ln>
                <a:solidFill>
                  <a:srgbClr val="FF3300"/>
                </a:solidFill>
                <a:effectLst/>
                <a:uLnTx/>
                <a:uFillTx/>
                <a:latin typeface="微软雅黑" panose="020B0503020204020204" charset="-122"/>
                <a:ea typeface="微软雅黑" panose="020B0503020204020204" charset="-122"/>
                <a:cs typeface="Times New Roman" panose="02020603050405020304" pitchFamily="18" charset="0"/>
              </a:rPr>
              <a:t>汉字机内码＝汉字国标码＋8080</a:t>
            </a:r>
            <a:r>
              <a:rPr kumimoji="0" lang="en-US" altLang="zh-CN" sz="2400" b="1" i="0" u="none" strike="noStrike" kern="0" cap="none" spc="0" normalizeH="0" baseline="0" noProof="0" dirty="0">
                <a:ln>
                  <a:noFill/>
                </a:ln>
                <a:solidFill>
                  <a:srgbClr val="FF3300"/>
                </a:solidFill>
                <a:effectLst/>
                <a:uLnTx/>
                <a:uFillTx/>
                <a:latin typeface="微软雅黑" panose="020B0503020204020204" charset="-122"/>
                <a:ea typeface="微软雅黑" panose="020B0503020204020204" charset="-122"/>
                <a:cs typeface="Times New Roman" panose="02020603050405020304" pitchFamily="18" charset="0"/>
              </a:rPr>
              <a:t>H</a:t>
            </a:r>
            <a:endParaRPr kumimoji="0" lang="en-US" altLang="zh-CN" sz="2400" b="1" i="0" u="none" strike="noStrike" kern="0" cap="none" spc="0" normalizeH="0" baseline="0" noProof="0" dirty="0">
              <a:ln>
                <a:noFill/>
              </a:ln>
              <a:solidFill>
                <a:srgbClr val="FF3300"/>
              </a:solidFill>
              <a:effectLst/>
              <a:uLnTx/>
              <a:uFillTx/>
              <a:latin typeface="微软雅黑" panose="020B0503020204020204" charset="-122"/>
              <a:ea typeface="微软雅黑" panose="020B0503020204020204" charset="-122"/>
              <a:cs typeface="Times New Roman" panose="02020603050405020304" pitchFamily="18" charset="0"/>
            </a:endParaRPr>
          </a:p>
          <a:p>
            <a:pPr marL="742950" marR="0" lvl="1" indent="-285750" algn="just"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Ø"/>
              <a:defRPr/>
            </a:pPr>
            <a:r>
              <a:rPr kumimoji="0" lang="zh-CN" altLang="en-US" sz="2000"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例如，上述“啊”字的国标码是3021</a:t>
            </a:r>
            <a:r>
              <a:rPr kumimoji="0" lang="en-US" altLang="zh-CN" sz="2000"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H，</a:t>
            </a:r>
            <a:r>
              <a:rPr kumimoji="0" lang="zh-CN" altLang="en-US" sz="2000"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其汉字机内码则是</a:t>
            </a:r>
            <a:r>
              <a:rPr kumimoji="0" lang="en-US" altLang="zh-CN" sz="2000"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B0A1H。</a:t>
            </a:r>
            <a:r>
              <a:rPr kumimoji="0" lang="en-US" altLang="zh-CN" sz="2400"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 </a:t>
            </a:r>
            <a:endParaRPr kumimoji="0" lang="en-US" altLang="zh-CN" sz="2400" b="1" i="0" u="none" strike="noStrike" kern="0" cap="none" spc="0" normalizeH="0" baseline="0" noProof="0" dirty="0">
              <a:ln>
                <a:noFill/>
              </a:ln>
              <a:solidFill>
                <a:schemeClr val="accent4">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endParaRPr>
          </a:p>
        </p:txBody>
      </p:sp>
      <p:sp>
        <p:nvSpPr>
          <p:cNvPr id="100354" name="Rectangle 3"/>
          <p:cNvSpPr>
            <a:spLocks noGrp="1"/>
          </p:cNvSpPr>
          <p:nvPr>
            <p:ph type="title"/>
          </p:nvPr>
        </p:nvSpPr>
        <p:spPr>
          <a:xfrm>
            <a:off x="274638" y="333375"/>
            <a:ext cx="7375525" cy="733425"/>
          </a:xfrm>
          <a:prstGeom prst="rect">
            <a:avLst/>
          </a:prstGeom>
          <a:noFill/>
          <a:ln w="9525">
            <a:noFill/>
          </a:ln>
        </p:spPr>
        <p:txBody>
          <a:bodyPr anchor="t"/>
          <a:p>
            <a:pPr eaLnBrk="1" hangingPunct="1">
              <a:buNone/>
            </a:pPr>
            <a:r>
              <a:rPr lang="zh-CN" altLang="en-US" dirty="0">
                <a:solidFill>
                  <a:srgbClr val="FF3300"/>
                </a:solidFill>
                <a:latin typeface="微软雅黑" panose="020B0503020204020204" charset="-122"/>
                <a:ea typeface="微软雅黑" panose="020B0503020204020204" charset="-122"/>
              </a:rPr>
              <a:t>汉字机内码 </a:t>
            </a:r>
            <a:endParaRPr lang="zh-CN" altLang="en-US" dirty="0">
              <a:solidFill>
                <a:srgbClr val="FF3300"/>
              </a:solidFill>
              <a:latin typeface="微软雅黑" panose="020B0503020204020204" charset="-122"/>
              <a:ea typeface="微软雅黑" panose="020B0503020204020204" charset="-122"/>
            </a:endParaRPr>
          </a:p>
        </p:txBody>
      </p:sp>
      <p:sp>
        <p:nvSpPr>
          <p:cNvPr id="100355" name="灯片编号占位符 3"/>
          <p:cNvSpPr txBox="1">
            <a:spLocks noGrp="1"/>
          </p:cNvSpPr>
          <p:nvPr>
            <p:ph type="sldNum" sz="quarter"/>
          </p:nvPr>
        </p:nvSpPr>
        <p:spPr>
          <a:xfrm>
            <a:off x="7239000" y="6248400"/>
            <a:ext cx="1654175" cy="609600"/>
          </a:xfrm>
          <a:prstGeom prst="rect">
            <a:avLst/>
          </a:prstGeom>
          <a:noFill/>
          <a:ln w="9525">
            <a:noFill/>
          </a:ln>
        </p:spPr>
        <p:txBody>
          <a:bodyPr anchor="t"/>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eaLnBrk="1" hangingPunct="1"/>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Rectangle 2"/>
          <p:cNvSpPr>
            <a:spLocks noGrp="1"/>
          </p:cNvSpPr>
          <p:nvPr>
            <p:ph type="body"/>
          </p:nvPr>
        </p:nvSpPr>
        <p:spPr>
          <a:xfrm>
            <a:off x="385763" y="1196975"/>
            <a:ext cx="8218487" cy="2592388"/>
          </a:xfrm>
          <a:prstGeom prst="rect">
            <a:avLst/>
          </a:prstGeom>
          <a:noFill/>
          <a:ln w="9525">
            <a:noFill/>
          </a:ln>
        </p:spPr>
        <p:txBody>
          <a:bodyPr anchor="t"/>
          <a:p>
            <a:pPr eaLnBrk="1" hangingPunct="1">
              <a:lnSpc>
                <a:spcPct val="90000"/>
              </a:lnSpc>
              <a:spcBef>
                <a:spcPts val="1800"/>
              </a:spcBef>
              <a:buClr>
                <a:schemeClr val="tx2"/>
              </a:buClr>
              <a:buSzPct val="80000"/>
              <a:buChar char="u"/>
            </a:pPr>
            <a:r>
              <a:rPr lang="zh-CN" altLang="zh-CN" sz="2400" dirty="0">
                <a:solidFill>
                  <a:schemeClr val="tx2"/>
                </a:solidFill>
                <a:latin typeface="微软雅黑" panose="020B0503020204020204" charset="-122"/>
                <a:ea typeface="微软雅黑" panose="020B0503020204020204" charset="-122"/>
              </a:rPr>
              <a:t>汉字</a:t>
            </a:r>
            <a:r>
              <a:rPr lang="zh-CN" altLang="zh-CN" sz="2400" dirty="0">
                <a:solidFill>
                  <a:srgbClr val="FF0000"/>
                </a:solidFill>
                <a:latin typeface="微软雅黑" panose="020B0503020204020204" charset="-122"/>
                <a:ea typeface="微软雅黑" panose="020B0503020204020204" charset="-122"/>
              </a:rPr>
              <a:t>字形</a:t>
            </a:r>
            <a:r>
              <a:rPr lang="zh-CN" altLang="zh-CN" sz="2400" dirty="0">
                <a:solidFill>
                  <a:schemeClr val="tx2"/>
                </a:solidFill>
                <a:latin typeface="微软雅黑" panose="020B0503020204020204" charset="-122"/>
                <a:ea typeface="微软雅黑" panose="020B0503020204020204" charset="-122"/>
              </a:rPr>
              <a:t>码是指确定一个汉字字形点阵的代码，又叫汉字字模码或汉字输出码。在一个汉字点阵中，笔画所到之处，记为“</a:t>
            </a:r>
            <a:r>
              <a:rPr lang="en-US" altLang="zh-CN" sz="2400" dirty="0">
                <a:solidFill>
                  <a:schemeClr val="tx2"/>
                </a:solidFill>
                <a:latin typeface="微软雅黑" panose="020B0503020204020204" charset="-122"/>
                <a:ea typeface="微软雅黑" panose="020B0503020204020204" charset="-122"/>
              </a:rPr>
              <a:t>1</a:t>
            </a:r>
            <a:r>
              <a:rPr lang="zh-CN" altLang="zh-CN" sz="2400" dirty="0">
                <a:solidFill>
                  <a:schemeClr val="tx2"/>
                </a:solidFill>
                <a:latin typeface="微软雅黑" panose="020B0503020204020204" charset="-122"/>
                <a:ea typeface="微软雅黑" panose="020B0503020204020204" charset="-122"/>
              </a:rPr>
              <a:t>”，否则记为“</a:t>
            </a:r>
            <a:r>
              <a:rPr lang="en-US" altLang="zh-CN" sz="2400" dirty="0">
                <a:solidFill>
                  <a:schemeClr val="tx2"/>
                </a:solidFill>
                <a:latin typeface="微软雅黑" panose="020B0503020204020204" charset="-122"/>
                <a:ea typeface="微软雅黑" panose="020B0503020204020204" charset="-122"/>
              </a:rPr>
              <a:t>0</a:t>
            </a:r>
            <a:r>
              <a:rPr lang="zh-CN" altLang="zh-CN" sz="2400" dirty="0">
                <a:solidFill>
                  <a:schemeClr val="tx2"/>
                </a:solidFill>
                <a:latin typeface="微软雅黑" panose="020B0503020204020204" charset="-122"/>
                <a:ea typeface="微软雅黑" panose="020B0503020204020204" charset="-122"/>
              </a:rPr>
              <a:t>”。</a:t>
            </a:r>
            <a:endParaRPr lang="zh-CN" altLang="zh-CN" sz="2400" dirty="0">
              <a:solidFill>
                <a:schemeClr val="tx2"/>
              </a:solidFill>
              <a:latin typeface="微软雅黑" panose="020B0503020204020204" charset="-122"/>
              <a:ea typeface="微软雅黑" panose="020B0503020204020204" charset="-122"/>
            </a:endParaRPr>
          </a:p>
          <a:p>
            <a:pPr lvl="1" eaLnBrk="1" hangingPunct="1">
              <a:spcBef>
                <a:spcPts val="1800"/>
              </a:spcBef>
              <a:buChar char="Ø"/>
            </a:pPr>
            <a:r>
              <a:rPr lang="zh-CN" altLang="zh-CN" sz="2000" b="1" dirty="0">
                <a:solidFill>
                  <a:schemeClr val="accent1"/>
                </a:solidFill>
                <a:latin typeface="微软雅黑" panose="020B0503020204020204" charset="-122"/>
                <a:ea typeface="微软雅黑" panose="020B0503020204020204" charset="-122"/>
              </a:rPr>
              <a:t>根据对汉字质量的不同要求，可有</a:t>
            </a:r>
            <a:r>
              <a:rPr lang="en-US" altLang="zh-CN" sz="2000" b="1" dirty="0">
                <a:solidFill>
                  <a:schemeClr val="accent1"/>
                </a:solidFill>
                <a:latin typeface="微软雅黑" panose="020B0503020204020204" charset="-122"/>
                <a:ea typeface="微软雅黑" panose="020B0503020204020204" charset="-122"/>
              </a:rPr>
              <a:t>16</a:t>
            </a:r>
            <a:r>
              <a:rPr lang="zh-CN" altLang="zh-CN" sz="2000" b="1" dirty="0">
                <a:solidFill>
                  <a:schemeClr val="accent1"/>
                </a:solidFill>
                <a:latin typeface="微软雅黑" panose="020B0503020204020204" charset="-122"/>
                <a:ea typeface="微软雅黑" panose="020B0503020204020204" charset="-122"/>
              </a:rPr>
              <a:t>×</a:t>
            </a:r>
            <a:r>
              <a:rPr lang="en-US" altLang="zh-CN" sz="2000" b="1" dirty="0">
                <a:solidFill>
                  <a:schemeClr val="accent1"/>
                </a:solidFill>
                <a:latin typeface="微软雅黑" panose="020B0503020204020204" charset="-122"/>
                <a:ea typeface="微软雅黑" panose="020B0503020204020204" charset="-122"/>
              </a:rPr>
              <a:t>16</a:t>
            </a:r>
            <a:r>
              <a:rPr lang="zh-CN" altLang="zh-CN" sz="2000" b="1" dirty="0">
                <a:solidFill>
                  <a:schemeClr val="accent1"/>
                </a:solidFill>
                <a:latin typeface="微软雅黑" panose="020B0503020204020204" charset="-122"/>
                <a:ea typeface="微软雅黑" panose="020B0503020204020204" charset="-122"/>
              </a:rPr>
              <a:t>、</a:t>
            </a:r>
            <a:r>
              <a:rPr lang="en-US" altLang="zh-CN" sz="2000" b="1" dirty="0">
                <a:solidFill>
                  <a:schemeClr val="accent1"/>
                </a:solidFill>
                <a:latin typeface="微软雅黑" panose="020B0503020204020204" charset="-122"/>
                <a:ea typeface="微软雅黑" panose="020B0503020204020204" charset="-122"/>
              </a:rPr>
              <a:t>24</a:t>
            </a:r>
            <a:r>
              <a:rPr lang="zh-CN" altLang="zh-CN" sz="2000" b="1" dirty="0">
                <a:solidFill>
                  <a:schemeClr val="accent1"/>
                </a:solidFill>
                <a:latin typeface="微软雅黑" panose="020B0503020204020204" charset="-122"/>
                <a:ea typeface="微软雅黑" panose="020B0503020204020204" charset="-122"/>
              </a:rPr>
              <a:t>×</a:t>
            </a:r>
            <a:r>
              <a:rPr lang="en-US" altLang="zh-CN" sz="2000" b="1" dirty="0">
                <a:solidFill>
                  <a:schemeClr val="accent1"/>
                </a:solidFill>
                <a:latin typeface="微软雅黑" panose="020B0503020204020204" charset="-122"/>
                <a:ea typeface="微软雅黑" panose="020B0503020204020204" charset="-122"/>
              </a:rPr>
              <a:t>24</a:t>
            </a:r>
            <a:r>
              <a:rPr lang="zh-CN" altLang="zh-CN" sz="2000" b="1" dirty="0">
                <a:solidFill>
                  <a:schemeClr val="accent1"/>
                </a:solidFill>
                <a:latin typeface="微软雅黑" panose="020B0503020204020204" charset="-122"/>
                <a:ea typeface="微软雅黑" panose="020B0503020204020204" charset="-122"/>
              </a:rPr>
              <a:t>、</a:t>
            </a:r>
            <a:r>
              <a:rPr lang="en-US" altLang="zh-CN" sz="2000" b="1" dirty="0">
                <a:solidFill>
                  <a:schemeClr val="accent1"/>
                </a:solidFill>
                <a:latin typeface="微软雅黑" panose="020B0503020204020204" charset="-122"/>
                <a:ea typeface="微软雅黑" panose="020B0503020204020204" charset="-122"/>
              </a:rPr>
              <a:t>32</a:t>
            </a:r>
            <a:r>
              <a:rPr lang="zh-CN" altLang="zh-CN" sz="2000" b="1" dirty="0">
                <a:solidFill>
                  <a:schemeClr val="accent1"/>
                </a:solidFill>
                <a:latin typeface="微软雅黑" panose="020B0503020204020204" charset="-122"/>
                <a:ea typeface="微软雅黑" panose="020B0503020204020204" charset="-122"/>
              </a:rPr>
              <a:t>×</a:t>
            </a:r>
            <a:r>
              <a:rPr lang="en-US" altLang="zh-CN" sz="2000" b="1" dirty="0">
                <a:solidFill>
                  <a:schemeClr val="accent1"/>
                </a:solidFill>
                <a:latin typeface="微软雅黑" panose="020B0503020204020204" charset="-122"/>
                <a:ea typeface="微软雅黑" panose="020B0503020204020204" charset="-122"/>
              </a:rPr>
              <a:t>32</a:t>
            </a:r>
            <a:r>
              <a:rPr lang="zh-CN" altLang="zh-CN" sz="2000" b="1" dirty="0">
                <a:solidFill>
                  <a:schemeClr val="accent1"/>
                </a:solidFill>
                <a:latin typeface="微软雅黑" panose="020B0503020204020204" charset="-122"/>
                <a:ea typeface="微软雅黑" panose="020B0503020204020204" charset="-122"/>
              </a:rPr>
              <a:t>或</a:t>
            </a:r>
            <a:r>
              <a:rPr lang="en-US" altLang="zh-CN" sz="2000" b="1" dirty="0">
                <a:solidFill>
                  <a:schemeClr val="accent1"/>
                </a:solidFill>
                <a:latin typeface="微软雅黑" panose="020B0503020204020204" charset="-122"/>
                <a:ea typeface="微软雅黑" panose="020B0503020204020204" charset="-122"/>
              </a:rPr>
              <a:t>48</a:t>
            </a:r>
            <a:r>
              <a:rPr lang="zh-CN" altLang="zh-CN" sz="2000" b="1" dirty="0">
                <a:solidFill>
                  <a:schemeClr val="accent1"/>
                </a:solidFill>
                <a:latin typeface="微软雅黑" panose="020B0503020204020204" charset="-122"/>
                <a:ea typeface="微软雅黑" panose="020B0503020204020204" charset="-122"/>
              </a:rPr>
              <a:t>×</a:t>
            </a:r>
            <a:r>
              <a:rPr lang="en-US" altLang="zh-CN" sz="2000" b="1" dirty="0">
                <a:solidFill>
                  <a:schemeClr val="accent1"/>
                </a:solidFill>
                <a:latin typeface="微软雅黑" panose="020B0503020204020204" charset="-122"/>
                <a:ea typeface="微软雅黑" panose="020B0503020204020204" charset="-122"/>
              </a:rPr>
              <a:t>48</a:t>
            </a:r>
            <a:r>
              <a:rPr lang="zh-CN" altLang="zh-CN" sz="2000" b="1" dirty="0">
                <a:solidFill>
                  <a:schemeClr val="accent1"/>
                </a:solidFill>
                <a:latin typeface="微软雅黑" panose="020B0503020204020204" charset="-122"/>
                <a:ea typeface="微软雅黑" panose="020B0503020204020204" charset="-122"/>
              </a:rPr>
              <a:t>的点阵结构。显然点阵越大，输出汉字的质量越高，每个汉字所占用的字节数也越高</a:t>
            </a:r>
            <a:r>
              <a:rPr lang="zh-CN" altLang="en-US" sz="2000" b="1" dirty="0">
                <a:solidFill>
                  <a:schemeClr val="accent1"/>
                </a:solidFill>
                <a:latin typeface="微软雅黑" panose="020B0503020204020204" charset="-122"/>
                <a:ea typeface="微软雅黑" panose="020B0503020204020204" charset="-122"/>
              </a:rPr>
              <a:t>。</a:t>
            </a:r>
            <a:endParaRPr lang="zh-CN" altLang="en-US" sz="2000" b="1" dirty="0">
              <a:solidFill>
                <a:schemeClr val="accent1"/>
              </a:solidFill>
              <a:latin typeface="微软雅黑" panose="020B0503020204020204" charset="-122"/>
              <a:ea typeface="微软雅黑" panose="020B0503020204020204" charset="-122"/>
            </a:endParaRPr>
          </a:p>
        </p:txBody>
      </p:sp>
      <p:sp>
        <p:nvSpPr>
          <p:cNvPr id="101378" name="Rectangle 3"/>
          <p:cNvSpPr>
            <a:spLocks noGrp="1"/>
          </p:cNvSpPr>
          <p:nvPr>
            <p:ph type="title"/>
          </p:nvPr>
        </p:nvSpPr>
        <p:spPr>
          <a:xfrm>
            <a:off x="385763" y="333375"/>
            <a:ext cx="7772400" cy="733425"/>
          </a:xfrm>
          <a:prstGeom prst="rect">
            <a:avLst/>
          </a:prstGeom>
          <a:noFill/>
          <a:ln w="9525">
            <a:noFill/>
          </a:ln>
        </p:spPr>
        <p:txBody>
          <a:bodyPr anchor="t"/>
          <a:p>
            <a:pPr eaLnBrk="1" hangingPunct="1">
              <a:buNone/>
            </a:pPr>
            <a:r>
              <a:rPr lang="zh-CN" altLang="en-US" dirty="0">
                <a:solidFill>
                  <a:srgbClr val="FF3300"/>
                </a:solidFill>
                <a:latin typeface="微软雅黑" panose="020B0503020204020204" charset="-122"/>
                <a:ea typeface="微软雅黑" panose="020B0503020204020204" charset="-122"/>
              </a:rPr>
              <a:t>汉字字形码 </a:t>
            </a:r>
            <a:endParaRPr lang="zh-CN" altLang="en-US" dirty="0">
              <a:solidFill>
                <a:srgbClr val="FF3300"/>
              </a:solidFill>
              <a:latin typeface="微软雅黑" panose="020B0503020204020204" charset="-122"/>
              <a:ea typeface="微软雅黑" panose="020B0503020204020204" charset="-122"/>
            </a:endParaRPr>
          </a:p>
        </p:txBody>
      </p:sp>
      <p:sp>
        <p:nvSpPr>
          <p:cNvPr id="101379" name="灯片编号占位符 3"/>
          <p:cNvSpPr txBox="1">
            <a:spLocks noGrp="1"/>
          </p:cNvSpPr>
          <p:nvPr>
            <p:ph type="sldNum" sz="quarter"/>
          </p:nvPr>
        </p:nvSpPr>
        <p:spPr>
          <a:xfrm>
            <a:off x="7239000" y="6248400"/>
            <a:ext cx="1654175" cy="493713"/>
          </a:xfrm>
          <a:prstGeom prst="rect">
            <a:avLst/>
          </a:prstGeom>
          <a:noFill/>
          <a:ln w="9525">
            <a:noFill/>
          </a:ln>
        </p:spPr>
        <p:txBody>
          <a:bodyPr anchor="t"/>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eaLnBrk="1" hangingPunct="1"/>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pic>
        <p:nvPicPr>
          <p:cNvPr id="101380" name="Picture 5" descr="1120947153"/>
          <p:cNvPicPr>
            <a:picLocks noChangeAspect="1"/>
          </p:cNvPicPr>
          <p:nvPr/>
        </p:nvPicPr>
        <p:blipFill>
          <a:blip r:embed="rId1"/>
          <a:srcRect t="6577"/>
          <a:stretch>
            <a:fillRect/>
          </a:stretch>
        </p:blipFill>
        <p:spPr>
          <a:xfrm>
            <a:off x="1763395" y="3573145"/>
            <a:ext cx="5227955" cy="2795270"/>
          </a:xfrm>
          <a:prstGeom prst="rect">
            <a:avLst/>
          </a:prstGeom>
          <a:noFill/>
          <a:ln w="9525">
            <a:noFill/>
          </a:ln>
        </p:spPr>
      </p:pic>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1" name="Rectangle 2"/>
          <p:cNvSpPr>
            <a:spLocks noGrp="1"/>
          </p:cNvSpPr>
          <p:nvPr>
            <p:ph type="body"/>
          </p:nvPr>
        </p:nvSpPr>
        <p:spPr>
          <a:xfrm>
            <a:off x="468313" y="1335088"/>
            <a:ext cx="8424862" cy="4614862"/>
          </a:xfrm>
          <a:prstGeom prst="rect">
            <a:avLst/>
          </a:prstGeom>
          <a:noFill/>
          <a:ln w="9525">
            <a:noFill/>
          </a:ln>
        </p:spPr>
        <p:txBody>
          <a:bodyPr anchor="t"/>
          <a:p>
            <a:pPr eaLnBrk="1" hangingPunct="1">
              <a:lnSpc>
                <a:spcPct val="90000"/>
              </a:lnSpc>
              <a:spcBef>
                <a:spcPts val="1800"/>
              </a:spcBef>
              <a:buClr>
                <a:schemeClr val="tx2"/>
              </a:buClr>
              <a:buSzPct val="80000"/>
              <a:buChar char="u"/>
            </a:pPr>
            <a:r>
              <a:rPr lang="zh-CN" altLang="zh-CN" dirty="0">
                <a:solidFill>
                  <a:schemeClr val="tx2"/>
                </a:solidFill>
                <a:latin typeface="微软雅黑" panose="020B0503020204020204" charset="-122"/>
                <a:ea typeface="微软雅黑" panose="020B0503020204020204" charset="-122"/>
              </a:rPr>
              <a:t>信息处理应用对字符集提出了</a:t>
            </a:r>
            <a:r>
              <a:rPr lang="zh-CN" altLang="zh-CN" dirty="0">
                <a:solidFill>
                  <a:srgbClr val="FF0000"/>
                </a:solidFill>
                <a:latin typeface="微软雅黑" panose="020B0503020204020204" charset="-122"/>
                <a:ea typeface="微软雅黑" panose="020B0503020204020204" charset="-122"/>
              </a:rPr>
              <a:t>多文种、大字量、多用途</a:t>
            </a:r>
            <a:r>
              <a:rPr lang="zh-CN" altLang="zh-CN" dirty="0">
                <a:solidFill>
                  <a:schemeClr val="tx2"/>
                </a:solidFill>
                <a:latin typeface="微软雅黑" panose="020B0503020204020204" charset="-122"/>
                <a:ea typeface="微软雅黑" panose="020B0503020204020204" charset="-122"/>
              </a:rPr>
              <a:t>的要求。</a:t>
            </a:r>
            <a:endParaRPr lang="zh-CN" altLang="zh-CN" dirty="0">
              <a:solidFill>
                <a:schemeClr val="tx2"/>
              </a:solidFill>
              <a:latin typeface="微软雅黑" panose="020B0503020204020204" charset="-122"/>
              <a:ea typeface="微软雅黑" panose="020B0503020204020204" charset="-122"/>
            </a:endParaRPr>
          </a:p>
          <a:p>
            <a:pPr eaLnBrk="1" hangingPunct="1">
              <a:lnSpc>
                <a:spcPct val="90000"/>
              </a:lnSpc>
              <a:spcBef>
                <a:spcPts val="3000"/>
              </a:spcBef>
              <a:buClr>
                <a:schemeClr val="tx2"/>
              </a:buClr>
              <a:buSzPct val="80000"/>
              <a:buChar char="u"/>
            </a:pPr>
            <a:r>
              <a:rPr lang="zh-CN" altLang="zh-CN" dirty="0">
                <a:solidFill>
                  <a:schemeClr val="tx2"/>
                </a:solidFill>
                <a:latin typeface="微软雅黑" panose="020B0503020204020204" charset="-122"/>
                <a:ea typeface="微软雅黑" panose="020B0503020204020204" charset="-122"/>
              </a:rPr>
              <a:t>Unicode的基本方法是用一个</a:t>
            </a:r>
            <a:r>
              <a:rPr lang="zh-CN" altLang="zh-CN" dirty="0">
                <a:solidFill>
                  <a:srgbClr val="FF0000"/>
                </a:solidFill>
                <a:latin typeface="微软雅黑" panose="020B0503020204020204" charset="-122"/>
                <a:ea typeface="微软雅黑" panose="020B0503020204020204" charset="-122"/>
              </a:rPr>
              <a:t>16位</a:t>
            </a:r>
            <a:r>
              <a:rPr lang="zh-CN" altLang="zh-CN" dirty="0">
                <a:solidFill>
                  <a:schemeClr val="tx2"/>
                </a:solidFill>
                <a:latin typeface="微软雅黑" panose="020B0503020204020204" charset="-122"/>
                <a:ea typeface="微软雅黑" panose="020B0503020204020204" charset="-122"/>
              </a:rPr>
              <a:t>来表示每个符号，允许表示65 536个不同的字符或符号。</a:t>
            </a:r>
            <a:endParaRPr lang="en-US" altLang="zh-CN" dirty="0">
              <a:solidFill>
                <a:schemeClr val="tx2"/>
              </a:solidFill>
              <a:latin typeface="微软雅黑" panose="020B0503020204020204" charset="-122"/>
              <a:ea typeface="微软雅黑" panose="020B0503020204020204" charset="-122"/>
            </a:endParaRPr>
          </a:p>
          <a:p>
            <a:pPr lvl="1" eaLnBrk="1" hangingPunct="1">
              <a:buChar char="Ø"/>
            </a:pPr>
            <a:r>
              <a:rPr lang="zh-CN" altLang="zh-CN" sz="2400" b="1" dirty="0">
                <a:solidFill>
                  <a:schemeClr val="accent1"/>
                </a:solidFill>
                <a:latin typeface="微软雅黑" panose="020B0503020204020204" charset="-122"/>
                <a:ea typeface="微软雅黑" panose="020B0503020204020204" charset="-122"/>
              </a:rPr>
              <a:t>基本多语言平面（BMP</a:t>
            </a:r>
            <a:r>
              <a:rPr lang="en-US" altLang="zh-CN" sz="2400" b="1" dirty="0">
                <a:solidFill>
                  <a:schemeClr val="accent1"/>
                </a:solidFill>
                <a:latin typeface="微软雅黑" panose="020B0503020204020204" charset="-122"/>
                <a:ea typeface="微软雅黑" panose="020B0503020204020204" charset="-122"/>
              </a:rPr>
              <a:t>:U+hhhh</a:t>
            </a:r>
            <a:r>
              <a:rPr lang="zh-CN" altLang="zh-CN" sz="2400" b="1" dirty="0">
                <a:solidFill>
                  <a:schemeClr val="accent1"/>
                </a:solidFill>
                <a:latin typeface="微软雅黑" panose="020B0503020204020204" charset="-122"/>
                <a:ea typeface="微软雅黑" panose="020B0503020204020204" charset="-122"/>
              </a:rPr>
              <a:t>，</a:t>
            </a:r>
            <a:r>
              <a:rPr lang="en-US" altLang="zh-CN" sz="2400" b="1" dirty="0">
                <a:solidFill>
                  <a:schemeClr val="accent1"/>
                </a:solidFill>
                <a:latin typeface="微软雅黑" panose="020B0503020204020204" charset="-122"/>
                <a:ea typeface="微软雅黑" panose="020B0503020204020204" charset="-122"/>
              </a:rPr>
              <a:t>UCS-2</a:t>
            </a:r>
            <a:r>
              <a:rPr lang="zh-CN" altLang="zh-CN" sz="2400" b="1" dirty="0">
                <a:solidFill>
                  <a:schemeClr val="accent1"/>
                </a:solidFill>
                <a:latin typeface="微软雅黑" panose="020B0503020204020204" charset="-122"/>
                <a:ea typeface="微软雅黑" panose="020B0503020204020204" charset="-122"/>
              </a:rPr>
              <a:t>编码。</a:t>
            </a:r>
            <a:endParaRPr lang="en-US" altLang="zh-CN" sz="2400" b="1" dirty="0">
              <a:solidFill>
                <a:schemeClr val="accent1"/>
              </a:solidFill>
              <a:latin typeface="微软雅黑" panose="020B0503020204020204" charset="-122"/>
              <a:ea typeface="微软雅黑" panose="020B0503020204020204" charset="-122"/>
            </a:endParaRPr>
          </a:p>
          <a:p>
            <a:pPr eaLnBrk="1" hangingPunct="1">
              <a:lnSpc>
                <a:spcPct val="90000"/>
              </a:lnSpc>
              <a:spcBef>
                <a:spcPts val="3000"/>
              </a:spcBef>
              <a:buClr>
                <a:schemeClr val="tx2"/>
              </a:buClr>
              <a:buSzPct val="80000"/>
              <a:buChar char="u"/>
            </a:pPr>
            <a:r>
              <a:rPr lang="en-US" altLang="zh-CN" dirty="0">
                <a:solidFill>
                  <a:schemeClr val="tx2"/>
                </a:solidFill>
                <a:latin typeface="微软雅黑" panose="020B0503020204020204" charset="-122"/>
                <a:ea typeface="微软雅黑" panose="020B0503020204020204" charset="-122"/>
              </a:rPr>
              <a:t>UCS-4</a:t>
            </a:r>
            <a:r>
              <a:rPr lang="zh-CN" altLang="zh-CN" dirty="0">
                <a:solidFill>
                  <a:schemeClr val="tx2"/>
                </a:solidFill>
                <a:latin typeface="微软雅黑" panose="020B0503020204020204" charset="-122"/>
                <a:ea typeface="微软雅黑" panose="020B0503020204020204" charset="-122"/>
              </a:rPr>
              <a:t>是</a:t>
            </a:r>
            <a:r>
              <a:rPr lang="en-US" altLang="zh-CN" dirty="0">
                <a:solidFill>
                  <a:srgbClr val="FF0000"/>
                </a:solidFill>
                <a:latin typeface="微软雅黑" panose="020B0503020204020204" charset="-122"/>
                <a:ea typeface="微软雅黑" panose="020B0503020204020204" charset="-122"/>
              </a:rPr>
              <a:t>31</a:t>
            </a:r>
            <a:r>
              <a:rPr lang="zh-CN" altLang="zh-CN" dirty="0">
                <a:solidFill>
                  <a:srgbClr val="FF0000"/>
                </a:solidFill>
                <a:latin typeface="微软雅黑" panose="020B0503020204020204" charset="-122"/>
                <a:ea typeface="微软雅黑" panose="020B0503020204020204" charset="-122"/>
              </a:rPr>
              <a:t>位</a:t>
            </a:r>
            <a:r>
              <a:rPr lang="zh-CN" altLang="zh-CN" dirty="0">
                <a:solidFill>
                  <a:schemeClr val="tx2"/>
                </a:solidFill>
                <a:latin typeface="微软雅黑" panose="020B0503020204020204" charset="-122"/>
                <a:ea typeface="微软雅黑" panose="020B0503020204020204" charset="-122"/>
              </a:rPr>
              <a:t>字符集，加上恒为</a:t>
            </a:r>
            <a:r>
              <a:rPr lang="en-US" altLang="zh-CN" dirty="0">
                <a:solidFill>
                  <a:schemeClr val="tx2"/>
                </a:solidFill>
                <a:latin typeface="微软雅黑" panose="020B0503020204020204" charset="-122"/>
                <a:ea typeface="微软雅黑" panose="020B0503020204020204" charset="-122"/>
              </a:rPr>
              <a:t>0</a:t>
            </a:r>
            <a:r>
              <a:rPr lang="zh-CN" altLang="zh-CN" dirty="0">
                <a:solidFill>
                  <a:schemeClr val="tx2"/>
                </a:solidFill>
                <a:latin typeface="微软雅黑" panose="020B0503020204020204" charset="-122"/>
                <a:ea typeface="微软雅黑" panose="020B0503020204020204" charset="-122"/>
              </a:rPr>
              <a:t>的首位，共需占据</a:t>
            </a:r>
            <a:r>
              <a:rPr lang="en-US" altLang="zh-CN" dirty="0">
                <a:solidFill>
                  <a:schemeClr val="tx2"/>
                </a:solidFill>
                <a:latin typeface="微软雅黑" panose="020B0503020204020204" charset="-122"/>
                <a:ea typeface="微软雅黑" panose="020B0503020204020204" charset="-122"/>
              </a:rPr>
              <a:t>32</a:t>
            </a:r>
            <a:r>
              <a:rPr lang="zh-CN" altLang="zh-CN" dirty="0">
                <a:solidFill>
                  <a:schemeClr val="tx2"/>
                </a:solidFill>
                <a:latin typeface="微软雅黑" panose="020B0503020204020204" charset="-122"/>
                <a:ea typeface="微软雅黑" panose="020B0503020204020204" charset="-122"/>
              </a:rPr>
              <a:t>位，即</a:t>
            </a:r>
            <a:r>
              <a:rPr lang="en-US" altLang="zh-CN" dirty="0">
                <a:solidFill>
                  <a:schemeClr val="tx2"/>
                </a:solidFill>
                <a:latin typeface="微软雅黑" panose="020B0503020204020204" charset="-122"/>
                <a:ea typeface="微软雅黑" panose="020B0503020204020204" charset="-122"/>
              </a:rPr>
              <a:t>4</a:t>
            </a:r>
            <a:r>
              <a:rPr lang="zh-CN" altLang="zh-CN" dirty="0">
                <a:solidFill>
                  <a:schemeClr val="tx2"/>
                </a:solidFill>
                <a:latin typeface="微软雅黑" panose="020B0503020204020204" charset="-122"/>
                <a:ea typeface="微软雅黑" panose="020B0503020204020204" charset="-122"/>
              </a:rPr>
              <a:t>字节。</a:t>
            </a:r>
            <a:endParaRPr lang="en-US" altLang="zh-CN" dirty="0">
              <a:solidFill>
                <a:schemeClr val="tx2"/>
              </a:solidFill>
              <a:latin typeface="微软雅黑" panose="020B0503020204020204" charset="-122"/>
              <a:ea typeface="微软雅黑" panose="020B0503020204020204" charset="-122"/>
            </a:endParaRPr>
          </a:p>
          <a:p>
            <a:pPr lvl="1" eaLnBrk="1" hangingPunct="1">
              <a:buChar char="Ø"/>
            </a:pPr>
            <a:r>
              <a:rPr lang="zh-CN" altLang="zh-CN" sz="2400" b="1" dirty="0">
                <a:solidFill>
                  <a:schemeClr val="accent1"/>
                </a:solidFill>
                <a:latin typeface="微软雅黑" panose="020B0503020204020204" charset="-122"/>
                <a:ea typeface="微软雅黑" panose="020B0503020204020204" charset="-122"/>
              </a:rPr>
              <a:t>理论上最多能表示</a:t>
            </a:r>
            <a:r>
              <a:rPr lang="en-US" altLang="zh-CN" sz="2400" b="1" dirty="0">
                <a:solidFill>
                  <a:schemeClr val="accent1"/>
                </a:solidFill>
                <a:latin typeface="微软雅黑" panose="020B0503020204020204" charset="-122"/>
                <a:ea typeface="微软雅黑" panose="020B0503020204020204" charset="-122"/>
              </a:rPr>
              <a:t>2</a:t>
            </a:r>
            <a:r>
              <a:rPr lang="en-US" altLang="zh-CN" sz="2400" b="1" baseline="30000" dirty="0">
                <a:solidFill>
                  <a:schemeClr val="accent1"/>
                </a:solidFill>
                <a:latin typeface="微软雅黑" panose="020B0503020204020204" charset="-122"/>
                <a:ea typeface="微软雅黑" panose="020B0503020204020204" charset="-122"/>
              </a:rPr>
              <a:t>31</a:t>
            </a:r>
            <a:r>
              <a:rPr lang="zh-CN" altLang="zh-CN" sz="2400" b="1" dirty="0">
                <a:solidFill>
                  <a:schemeClr val="accent1"/>
                </a:solidFill>
                <a:latin typeface="微软雅黑" panose="020B0503020204020204" charset="-122"/>
                <a:ea typeface="微软雅黑" panose="020B0503020204020204" charset="-122"/>
              </a:rPr>
              <a:t>个字符，完全可以涵盖一切语言所用的符号。</a:t>
            </a:r>
            <a:endParaRPr lang="zh-CN" altLang="en-US" sz="2400" b="1" dirty="0">
              <a:solidFill>
                <a:schemeClr val="accent1"/>
              </a:solidFill>
              <a:latin typeface="微软雅黑" panose="020B0503020204020204" charset="-122"/>
              <a:ea typeface="微软雅黑" panose="020B0503020204020204" charset="-122"/>
            </a:endParaRPr>
          </a:p>
          <a:p>
            <a:pPr eaLnBrk="1" hangingPunct="1">
              <a:buChar char="u"/>
            </a:pPr>
            <a:endParaRPr lang="zh-CN" altLang="zh-CN" dirty="0">
              <a:latin typeface="微软雅黑" panose="020B0503020204020204" charset="-122"/>
              <a:ea typeface="微软雅黑" panose="020B0503020204020204" charset="-122"/>
            </a:endParaRPr>
          </a:p>
        </p:txBody>
      </p:sp>
      <p:sp>
        <p:nvSpPr>
          <p:cNvPr id="102402" name="Rectangle 3"/>
          <p:cNvSpPr>
            <a:spLocks noGrp="1"/>
          </p:cNvSpPr>
          <p:nvPr>
            <p:ph type="title"/>
          </p:nvPr>
        </p:nvSpPr>
        <p:spPr>
          <a:xfrm>
            <a:off x="176213" y="333375"/>
            <a:ext cx="7772400" cy="755650"/>
          </a:xfrm>
          <a:prstGeom prst="rect">
            <a:avLst/>
          </a:prstGeom>
          <a:noFill/>
          <a:ln w="9525">
            <a:noFill/>
          </a:ln>
        </p:spPr>
        <p:txBody>
          <a:bodyPr anchor="t"/>
          <a:p>
            <a:pPr eaLnBrk="1" hangingPunct="1">
              <a:buNone/>
            </a:pPr>
            <a:r>
              <a:rPr lang="zh-CN" altLang="en-US" sz="3600" dirty="0">
                <a:solidFill>
                  <a:srgbClr val="0000FF"/>
                </a:solidFill>
                <a:latin typeface="微软雅黑" panose="020B0503020204020204" charset="-122"/>
                <a:ea typeface="微软雅黑" panose="020B0503020204020204" charset="-122"/>
              </a:rPr>
              <a:t>统一代码</a:t>
            </a:r>
            <a:endParaRPr lang="zh-CN" altLang="en-US" sz="3600" dirty="0">
              <a:latin typeface="微软雅黑" panose="020B0503020204020204" charset="-122"/>
              <a:ea typeface="微软雅黑" panose="020B0503020204020204" charset="-122"/>
            </a:endParaRPr>
          </a:p>
        </p:txBody>
      </p:sp>
      <p:sp>
        <p:nvSpPr>
          <p:cNvPr id="102403" name="灯片编号占位符 3"/>
          <p:cNvSpPr txBox="1">
            <a:spLocks noGrp="1"/>
          </p:cNvSpPr>
          <p:nvPr>
            <p:ph type="sldNum" sz="quarter"/>
          </p:nvPr>
        </p:nvSpPr>
        <p:spPr>
          <a:xfrm>
            <a:off x="7239000" y="6248400"/>
            <a:ext cx="1654175" cy="493713"/>
          </a:xfrm>
          <a:prstGeom prst="rect">
            <a:avLst/>
          </a:prstGeom>
          <a:noFill/>
          <a:ln w="9525">
            <a:noFill/>
          </a:ln>
        </p:spPr>
        <p:txBody>
          <a:bodyPr anchor="t"/>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eaLnBrk="1" hangingPunct="1"/>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Rectangle 33"/>
          <p:cNvSpPr>
            <a:spLocks noGrp="1"/>
          </p:cNvSpPr>
          <p:nvPr>
            <p:ph type="title"/>
          </p:nvPr>
        </p:nvSpPr>
        <p:spPr>
          <a:xfrm>
            <a:off x="457200" y="457200"/>
            <a:ext cx="7772400" cy="633413"/>
          </a:xfrm>
          <a:noFill/>
          <a:ln>
            <a:noFill/>
          </a:ln>
        </p:spPr>
        <p:txBody>
          <a:bodyPr anchor="t"/>
          <a:p>
            <a:pPr eaLnBrk="1" hangingPunct="1">
              <a:buNone/>
            </a:pPr>
            <a:r>
              <a:rPr lang="zh-CN" altLang="en-US" u="sng" dirty="0">
                <a:solidFill>
                  <a:srgbClr val="0000FF"/>
                </a:solidFill>
                <a:latin typeface="微软雅黑" panose="020B0503020204020204" charset="-122"/>
                <a:ea typeface="微软雅黑" panose="020B0503020204020204" charset="-122"/>
              </a:rPr>
              <a:t>微机中表示字符的3种方法</a:t>
            </a:r>
            <a:endParaRPr lang="zh-CN" altLang="en-US" u="sng" dirty="0">
              <a:solidFill>
                <a:srgbClr val="0000FF"/>
              </a:solidFill>
              <a:latin typeface="微软雅黑" panose="020B0503020204020204" charset="-122"/>
              <a:ea typeface="微软雅黑" panose="020B0503020204020204" charset="-122"/>
            </a:endParaRPr>
          </a:p>
        </p:txBody>
      </p:sp>
      <p:sp>
        <p:nvSpPr>
          <p:cNvPr id="103426" name="Rectangle 76"/>
          <p:cNvSpPr>
            <a:spLocks noGrp="1"/>
          </p:cNvSpPr>
          <p:nvPr>
            <p:ph idx="1"/>
          </p:nvPr>
        </p:nvSpPr>
        <p:spPr>
          <a:xfrm>
            <a:off x="685800" y="5486400"/>
            <a:ext cx="7772400" cy="685800"/>
          </a:xfrm>
          <a:noFill/>
          <a:ln>
            <a:noFill/>
          </a:ln>
        </p:spPr>
        <p:txBody>
          <a:bodyPr anchor="t"/>
          <a:p>
            <a:pPr algn="ctr" eaLnBrk="1" hangingPunct="1">
              <a:buFontTx/>
              <a:buNone/>
            </a:pPr>
            <a:r>
              <a:rPr lang="zh-CN" altLang="en-US" sz="2400" dirty="0">
                <a:solidFill>
                  <a:schemeClr val="tx2"/>
                </a:solidFill>
                <a:latin typeface="微软雅黑" panose="020B0503020204020204" charset="-122"/>
                <a:ea typeface="微软雅黑" panose="020B0503020204020204" charset="-122"/>
              </a:rPr>
              <a:t>图2-8  微机中表示字符的3种方法</a:t>
            </a:r>
            <a:endParaRPr lang="zh-CN" altLang="en-US" sz="2400" dirty="0">
              <a:solidFill>
                <a:schemeClr val="tx2"/>
              </a:solidFill>
              <a:latin typeface="微软雅黑" panose="020B0503020204020204" charset="-122"/>
              <a:ea typeface="微软雅黑" panose="020B0503020204020204" charset="-122"/>
            </a:endParaRPr>
          </a:p>
        </p:txBody>
      </p:sp>
      <p:sp>
        <p:nvSpPr>
          <p:cNvPr id="103427" name="灯片编号占位符 5"/>
          <p:cNvSpPr txBox="1">
            <a:spLocks noGrp="1"/>
          </p:cNvSpPr>
          <p:nvPr>
            <p:ph type="sldNum" sz="quarter"/>
          </p:nvPr>
        </p:nvSpPr>
        <p:spPr>
          <a:xfrm>
            <a:off x="7239000" y="6248400"/>
            <a:ext cx="1725613" cy="509588"/>
          </a:xfrm>
          <a:prstGeom prst="rect">
            <a:avLst/>
          </a:prstGeom>
          <a:noFill/>
          <a:ln w="9525">
            <a:noFill/>
          </a:ln>
        </p:spPr>
        <p:txBody>
          <a:bodyPr anchor="t"/>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eaLnBrk="1" hangingPunct="1"/>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graphicFrame>
        <p:nvGraphicFramePr>
          <p:cNvPr id="103428" name="Object 77"/>
          <p:cNvGraphicFramePr>
            <a:graphicFrameLocks noChangeAspect="1"/>
          </p:cNvGraphicFramePr>
          <p:nvPr/>
        </p:nvGraphicFramePr>
        <p:xfrm>
          <a:off x="685800" y="1539875"/>
          <a:ext cx="7772400" cy="3462338"/>
        </p:xfrm>
        <a:graphic>
          <a:graphicData uri="http://schemas.openxmlformats.org/presentationml/2006/ole">
            <mc:AlternateContent xmlns:mc="http://schemas.openxmlformats.org/markup-compatibility/2006">
              <mc:Choice xmlns:v="urn:schemas-microsoft-com:vml" Requires="v">
                <p:oleObj spid="_x0000_s3076" name="" r:id="rId1" imgW="3116580" imgH="1389380" progId="Visio.Drawing.6">
                  <p:embed/>
                </p:oleObj>
              </mc:Choice>
              <mc:Fallback>
                <p:oleObj name="" r:id="rId1" imgW="3116580" imgH="1389380" progId="Visio.Drawing.6">
                  <p:embed/>
                  <p:pic>
                    <p:nvPicPr>
                      <p:cNvPr id="0" name="图片 3075"/>
                      <p:cNvPicPr/>
                      <p:nvPr/>
                    </p:nvPicPr>
                    <p:blipFill>
                      <a:blip r:embed="rId2"/>
                      <a:stretch>
                        <a:fillRect/>
                      </a:stretch>
                    </p:blipFill>
                    <p:spPr>
                      <a:xfrm>
                        <a:off x="685800" y="1539875"/>
                        <a:ext cx="7772400" cy="3462338"/>
                      </a:xfrm>
                      <a:prstGeom prst="rect">
                        <a:avLst/>
                      </a:prstGeom>
                      <a:noFill/>
                      <a:ln w="38100">
                        <a:noFill/>
                        <a:miter/>
                      </a:ln>
                    </p:spPr>
                  </p:pic>
                </p:oleObj>
              </mc:Fallback>
            </mc:AlternateContent>
          </a:graphicData>
        </a:graphic>
      </p:graphicFrame>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Rectangle 2"/>
          <p:cNvSpPr>
            <a:spLocks noGrp="1"/>
          </p:cNvSpPr>
          <p:nvPr>
            <p:ph type="title"/>
          </p:nvPr>
        </p:nvSpPr>
        <p:spPr>
          <a:xfrm>
            <a:off x="457200" y="304800"/>
            <a:ext cx="8001000" cy="1143000"/>
          </a:xfrm>
          <a:noFill/>
          <a:ln>
            <a:noFill/>
          </a:ln>
        </p:spPr>
        <p:txBody>
          <a:bodyPr anchor="t"/>
          <a:p>
            <a:pPr eaLnBrk="1" hangingPunct="1">
              <a:buNone/>
            </a:pPr>
            <a:r>
              <a:rPr lang="zh-CN" altLang="en-US" sz="4000" dirty="0">
                <a:solidFill>
                  <a:srgbClr val="0000FF"/>
                </a:solidFill>
                <a:latin typeface="微软雅黑" panose="020B0503020204020204" charset="-122"/>
                <a:ea typeface="微软雅黑" panose="020B0503020204020204" charset="-122"/>
              </a:rPr>
              <a:t>2.4  十进制数和数串的表示</a:t>
            </a:r>
            <a:endParaRPr lang="en-US" altLang="zh-CN" sz="4000" dirty="0">
              <a:solidFill>
                <a:srgbClr val="0000FF"/>
              </a:solidFill>
              <a:latin typeface="微软雅黑" panose="020B0503020204020204" charset="-122"/>
              <a:ea typeface="微软雅黑" panose="020B0503020204020204" charset="-122"/>
            </a:endParaRPr>
          </a:p>
        </p:txBody>
      </p:sp>
      <p:sp>
        <p:nvSpPr>
          <p:cNvPr id="104450" name="Rectangle 3"/>
          <p:cNvSpPr>
            <a:spLocks noGrp="1"/>
          </p:cNvSpPr>
          <p:nvPr>
            <p:ph idx="1"/>
          </p:nvPr>
        </p:nvSpPr>
        <p:spPr>
          <a:xfrm>
            <a:off x="457200" y="2016125"/>
            <a:ext cx="8001000" cy="2133600"/>
          </a:xfrm>
          <a:noFill/>
          <a:ln>
            <a:noFill/>
          </a:ln>
        </p:spPr>
        <p:txBody>
          <a:bodyPr anchor="t"/>
          <a:p>
            <a:pPr marL="0" algn="just" eaLnBrk="1" hangingPunct="1">
              <a:lnSpc>
                <a:spcPct val="150000"/>
              </a:lnSpc>
              <a:buFontTx/>
              <a:buNone/>
            </a:pPr>
            <a:r>
              <a:rPr lang="zh-CN" altLang="en-US" dirty="0">
                <a:solidFill>
                  <a:schemeClr val="tx2"/>
                </a:solidFill>
                <a:latin typeface="微软雅黑" panose="020B0503020204020204" charset="-122"/>
                <a:ea typeface="微软雅黑" panose="020B0503020204020204" charset="-122"/>
              </a:rPr>
              <a:t>        十进制是人们最常用的数据表示方法，一些通用性较强的计算机上设有十进制数据的表示，可以直接对十进制数进行运算和处理。</a:t>
            </a:r>
            <a:endParaRPr lang="zh-CN" altLang="en-US" dirty="0">
              <a:solidFill>
                <a:schemeClr val="tx2"/>
              </a:solidFill>
              <a:latin typeface="微软雅黑" panose="020B0503020204020204" charset="-122"/>
              <a:ea typeface="微软雅黑" panose="020B0503020204020204" charset="-122"/>
            </a:endParaRPr>
          </a:p>
        </p:txBody>
      </p:sp>
      <p:sp>
        <p:nvSpPr>
          <p:cNvPr id="104451" name="灯片编号占位符 5"/>
          <p:cNvSpPr txBox="1">
            <a:spLocks noGrp="1"/>
          </p:cNvSpPr>
          <p:nvPr>
            <p:ph type="sldNum" sz="quarter"/>
          </p:nvPr>
        </p:nvSpPr>
        <p:spPr>
          <a:xfrm>
            <a:off x="7239000" y="6248400"/>
            <a:ext cx="1654175" cy="420688"/>
          </a:xfrm>
          <a:prstGeom prst="rect">
            <a:avLst/>
          </a:prstGeom>
          <a:noFill/>
          <a:ln w="9525">
            <a:noFill/>
          </a:ln>
        </p:spPr>
        <p:txBody>
          <a:bodyPr anchor="t"/>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eaLnBrk="1" hangingPunct="1"/>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Rectangle 2"/>
          <p:cNvSpPr>
            <a:spLocks noGrp="1"/>
          </p:cNvSpPr>
          <p:nvPr>
            <p:ph type="title"/>
          </p:nvPr>
        </p:nvSpPr>
        <p:spPr>
          <a:xfrm>
            <a:off x="609600" y="457200"/>
            <a:ext cx="8001000" cy="1143000"/>
          </a:xfrm>
          <a:noFill/>
          <a:ln>
            <a:noFill/>
          </a:ln>
        </p:spPr>
        <p:txBody>
          <a:bodyPr anchor="t"/>
          <a:p>
            <a:pPr eaLnBrk="1" hangingPunct="1">
              <a:buNone/>
            </a:pPr>
            <a:r>
              <a:rPr lang="zh-CN" altLang="en-US" sz="3600" dirty="0">
                <a:solidFill>
                  <a:srgbClr val="0000FF"/>
                </a:solidFill>
                <a:latin typeface="微软雅黑" panose="020B0503020204020204" charset="-122"/>
                <a:ea typeface="微软雅黑" panose="020B0503020204020204" charset="-122"/>
              </a:rPr>
              <a:t>十进制数的编码</a:t>
            </a:r>
            <a:endParaRPr lang="en-US" altLang="zh-CN" sz="3600" dirty="0">
              <a:solidFill>
                <a:srgbClr val="0000FF"/>
              </a:solidFill>
              <a:latin typeface="微软雅黑" panose="020B0503020204020204" charset="-122"/>
              <a:ea typeface="微软雅黑" panose="020B0503020204020204" charset="-122"/>
            </a:endParaRPr>
          </a:p>
        </p:txBody>
      </p:sp>
      <p:sp>
        <p:nvSpPr>
          <p:cNvPr id="107523" name="Rectangle 3"/>
          <p:cNvSpPr>
            <a:spLocks noGrp="1" noChangeArrowheads="1"/>
          </p:cNvSpPr>
          <p:nvPr>
            <p:ph idx="1"/>
          </p:nvPr>
        </p:nvSpPr>
        <p:spPr bwMode="auto">
          <a:xfrm>
            <a:off x="500063" y="1200150"/>
            <a:ext cx="7824788" cy="93345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
                <a:schemeClr val="hlink"/>
              </a:buClr>
              <a:buSzTx/>
              <a:buFontTx/>
              <a:buNone/>
              <a:defRPr/>
            </a:pPr>
            <a:r>
              <a:rPr kumimoji="0" lang="zh-CN" altLang="en-US" sz="2800" b="1" i="0" u="none" strike="noStrike" kern="0" cap="none" spc="0" normalizeH="0" baseline="0" noProof="0" dirty="0">
                <a:ln>
                  <a:noFill/>
                </a:ln>
                <a:solidFill>
                  <a:schemeClr val="hlink"/>
                </a:solidFill>
                <a:effectLst/>
                <a:uLnTx/>
                <a:uFillTx/>
                <a:latin typeface="微软雅黑" panose="020B0503020204020204" charset="-122"/>
                <a:ea typeface="微软雅黑" panose="020B0503020204020204" charset="-122"/>
                <a:cs typeface="Times New Roman" panose="02020603050405020304" pitchFamily="18" charset="0"/>
              </a:rPr>
              <a:t>       </a:t>
            </a:r>
            <a:r>
              <a:rPr kumimoji="0" lang="zh-CN" altLang="en-US" sz="28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用四位二进制数来表示一位十进制数，称为</a:t>
            </a:r>
            <a:r>
              <a:rPr kumimoji="0" lang="zh-CN" altLang="en-US" sz="2800" b="1" i="0" u="none" strike="noStrike" kern="0" cap="none" spc="0" normalizeH="0" baseline="0" noProof="0" dirty="0">
                <a:ln>
                  <a:noFill/>
                </a:ln>
                <a:solidFill>
                  <a:srgbClr val="FF3300"/>
                </a:solidFill>
                <a:effectLst/>
                <a:uLnTx/>
                <a:uFillTx/>
                <a:latin typeface="微软雅黑" panose="020B0503020204020204" charset="-122"/>
                <a:ea typeface="微软雅黑" panose="020B0503020204020204" charset="-122"/>
                <a:cs typeface="Times New Roman" panose="02020603050405020304" pitchFamily="18" charset="0"/>
              </a:rPr>
              <a:t>二进制编码的十进制数，简称</a:t>
            </a:r>
            <a:r>
              <a:rPr kumimoji="0" lang="en-US" altLang="zh-CN" sz="2800" b="1" i="0" u="none" strike="noStrike" kern="0" cap="none" spc="0" normalizeH="0" baseline="0" noProof="0" dirty="0">
                <a:ln>
                  <a:noFill/>
                </a:ln>
                <a:solidFill>
                  <a:srgbClr val="FF3300"/>
                </a:solidFill>
                <a:effectLst/>
                <a:uLnTx/>
                <a:uFillTx/>
                <a:latin typeface="微软雅黑" panose="020B0503020204020204" charset="-122"/>
                <a:ea typeface="微软雅黑" panose="020B0503020204020204" charset="-122"/>
                <a:cs typeface="Times New Roman" panose="02020603050405020304" pitchFamily="18" charset="0"/>
              </a:rPr>
              <a:t>BCD</a:t>
            </a:r>
            <a:r>
              <a:rPr kumimoji="0" lang="zh-CN" altLang="en-US" sz="2800" b="1" i="0" u="none" strike="noStrike" kern="0" cap="none" spc="0" normalizeH="0" baseline="0" noProof="0" dirty="0">
                <a:ln>
                  <a:noFill/>
                </a:ln>
                <a:solidFill>
                  <a:srgbClr val="FF3300"/>
                </a:solidFill>
                <a:effectLst/>
                <a:uLnTx/>
                <a:uFillTx/>
                <a:latin typeface="微软雅黑" panose="020B0503020204020204" charset="-122"/>
                <a:ea typeface="微软雅黑" panose="020B0503020204020204" charset="-122"/>
                <a:cs typeface="Times New Roman" panose="02020603050405020304" pitchFamily="18" charset="0"/>
              </a:rPr>
              <a:t>码</a:t>
            </a:r>
            <a:r>
              <a:rPr kumimoji="0" lang="zh-CN" altLang="en-US" sz="2800" b="1" i="0" u="none" strike="noStrike" kern="0" cap="none" spc="0" normalizeH="0" baseline="0" noProof="0" dirty="0">
                <a:ln>
                  <a:noFill/>
                </a:ln>
                <a:solidFill>
                  <a:schemeClr val="hlink"/>
                </a:solidFill>
                <a:effectLst/>
                <a:uLnTx/>
                <a:uFillTx/>
                <a:latin typeface="微软雅黑" panose="020B0503020204020204" charset="-122"/>
                <a:ea typeface="微软雅黑" panose="020B0503020204020204" charset="-122"/>
                <a:cs typeface="Times New Roman" panose="02020603050405020304" pitchFamily="18" charset="0"/>
              </a:rPr>
              <a:t>。</a:t>
            </a:r>
            <a:endParaRPr kumimoji="0" lang="zh-CN" altLang="en-US" sz="2800" b="1" i="0" u="none" strike="noStrike" kern="0" cap="none" spc="0" normalizeH="0" baseline="0" noProof="0" dirty="0">
              <a:ln>
                <a:noFill/>
              </a:ln>
              <a:solidFill>
                <a:schemeClr val="hlink"/>
              </a:solidFill>
              <a:effectLst/>
              <a:uLnTx/>
              <a:uFillTx/>
              <a:latin typeface="微软雅黑" panose="020B0503020204020204" charset="-122"/>
              <a:ea typeface="微软雅黑" panose="020B0503020204020204" charset="-122"/>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hlink"/>
              </a:buClr>
              <a:buSzTx/>
              <a:buFontTx/>
              <a:buNone/>
              <a:defRPr/>
            </a:pPr>
            <a:r>
              <a:rPr kumimoji="0" lang="zh-CN" altLang="en-US" sz="2800" b="1" i="0" u="none" strike="noStrike" kern="0" cap="none" spc="0" normalizeH="0" baseline="0" noProof="0" dirty="0">
                <a:ln>
                  <a:noFill/>
                </a:ln>
                <a:solidFill>
                  <a:schemeClr val="hlink"/>
                </a:solidFill>
                <a:effectLst/>
                <a:uLnTx/>
                <a:uFillTx/>
                <a:latin typeface="微软雅黑" panose="020B0503020204020204" charset="-122"/>
                <a:ea typeface="微软雅黑" panose="020B0503020204020204" charset="-122"/>
                <a:cs typeface="Times New Roman" panose="02020603050405020304" pitchFamily="18" charset="0"/>
              </a:rPr>
              <a:t>            </a:t>
            </a:r>
            <a:endParaRPr kumimoji="0" lang="zh-CN" altLang="en-US" sz="2800" b="1" i="0" u="none" strike="noStrike" kern="0" cap="none" spc="0" normalizeH="0" baseline="0" noProof="0" dirty="0">
              <a:ln>
                <a:noFill/>
              </a:ln>
              <a:solidFill>
                <a:schemeClr val="hlink"/>
              </a:solidFill>
              <a:effectLst/>
              <a:uLnTx/>
              <a:uFillTx/>
              <a:latin typeface="微软雅黑" panose="020B0503020204020204" charset="-122"/>
              <a:ea typeface="微软雅黑" panose="020B0503020204020204" charset="-122"/>
              <a:cs typeface="Times New Roman" panose="02020603050405020304" pitchFamily="18" charset="0"/>
            </a:endParaRPr>
          </a:p>
        </p:txBody>
      </p:sp>
      <p:sp>
        <p:nvSpPr>
          <p:cNvPr id="105475" name="灯片编号占位符 5"/>
          <p:cNvSpPr txBox="1">
            <a:spLocks noGrp="1"/>
          </p:cNvSpPr>
          <p:nvPr>
            <p:ph type="sldNum" sz="quarter"/>
          </p:nvPr>
        </p:nvSpPr>
        <p:spPr>
          <a:xfrm>
            <a:off x="7239000" y="6248400"/>
            <a:ext cx="1654175" cy="420688"/>
          </a:xfrm>
          <a:prstGeom prst="rect">
            <a:avLst/>
          </a:prstGeom>
          <a:noFill/>
          <a:ln w="9525">
            <a:noFill/>
          </a:ln>
        </p:spPr>
        <p:txBody>
          <a:bodyPr anchor="t"/>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eaLnBrk="1" hangingPunct="1"/>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graphicFrame>
        <p:nvGraphicFramePr>
          <p:cNvPr id="105476" name="Object 4"/>
          <p:cNvGraphicFramePr>
            <a:graphicFrameLocks noChangeAspect="1"/>
          </p:cNvGraphicFramePr>
          <p:nvPr/>
        </p:nvGraphicFramePr>
        <p:xfrm>
          <a:off x="3305175" y="2390775"/>
          <a:ext cx="5305425" cy="3990975"/>
        </p:xfrm>
        <a:graphic>
          <a:graphicData uri="http://schemas.openxmlformats.org/presentationml/2006/ole">
            <mc:AlternateContent xmlns:mc="http://schemas.openxmlformats.org/markup-compatibility/2006">
              <mc:Choice xmlns:v="urn:schemas-microsoft-com:vml" Requires="v">
                <p:oleObj spid="_x0000_s3077" name="" r:id="rId1" imgW="6316980" imgH="4756785" progId="Word.Document.8">
                  <p:embed/>
                </p:oleObj>
              </mc:Choice>
              <mc:Fallback>
                <p:oleObj name="" r:id="rId1" imgW="6316980" imgH="4756785" progId="Word.Document.8">
                  <p:embed/>
                  <p:pic>
                    <p:nvPicPr>
                      <p:cNvPr id="0" name="图片 3076"/>
                      <p:cNvPicPr/>
                      <p:nvPr/>
                    </p:nvPicPr>
                    <p:blipFill>
                      <a:blip r:embed="rId2"/>
                      <a:stretch>
                        <a:fillRect/>
                      </a:stretch>
                    </p:blipFill>
                    <p:spPr>
                      <a:xfrm>
                        <a:off x="3305175" y="2390775"/>
                        <a:ext cx="5305425" cy="3990975"/>
                      </a:xfrm>
                      <a:prstGeom prst="rect">
                        <a:avLst/>
                      </a:prstGeom>
                      <a:noFill/>
                      <a:ln w="38100">
                        <a:noFill/>
                        <a:miter/>
                      </a:ln>
                    </p:spPr>
                  </p:pic>
                </p:oleObj>
              </mc:Fallback>
            </mc:AlternateContent>
          </a:graphicData>
        </a:graphic>
      </p:graphicFrame>
      <p:sp>
        <p:nvSpPr>
          <p:cNvPr id="105477" name="矩形 1"/>
          <p:cNvSpPr/>
          <p:nvPr/>
        </p:nvSpPr>
        <p:spPr>
          <a:xfrm>
            <a:off x="474663" y="2276475"/>
            <a:ext cx="2728912" cy="3786188"/>
          </a:xfrm>
          <a:prstGeom prst="rect">
            <a:avLst/>
          </a:prstGeom>
          <a:noFill/>
          <a:ln w="9525">
            <a:noFill/>
          </a:ln>
        </p:spPr>
        <p:txBody>
          <a:bodyPr anchor="t">
            <a:spAutoFit/>
          </a:bodyPr>
          <a:p>
            <a:pPr marL="342900" indent="-342900" algn="just" eaLnBrk="0" hangingPunct="0">
              <a:spcBef>
                <a:spcPts val="1200"/>
              </a:spcBef>
              <a:buFont typeface="Wingdings" panose="05000000000000000000" pitchFamily="2" charset="2"/>
              <a:buChar char="u"/>
            </a:pPr>
            <a:r>
              <a:rPr lang="zh-CN" altLang="en-US" sz="2000" b="1" dirty="0">
                <a:solidFill>
                  <a:schemeClr val="accent1"/>
                </a:solidFill>
                <a:latin typeface="微软雅黑" panose="020B0503020204020204" charset="-122"/>
                <a:ea typeface="微软雅黑" panose="020B0503020204020204" charset="-122"/>
              </a:rPr>
              <a:t>四位二进制数可以表示16种不同的状态；</a:t>
            </a:r>
            <a:endParaRPr lang="en-US" altLang="zh-CN" sz="2000" b="1" dirty="0">
              <a:solidFill>
                <a:schemeClr val="accent1"/>
              </a:solidFill>
              <a:latin typeface="微软雅黑" panose="020B0503020204020204" charset="-122"/>
              <a:ea typeface="微软雅黑" panose="020B0503020204020204" charset="-122"/>
            </a:endParaRPr>
          </a:p>
          <a:p>
            <a:pPr marL="342900" indent="-342900" algn="just" eaLnBrk="0" hangingPunct="0">
              <a:spcBef>
                <a:spcPts val="1200"/>
              </a:spcBef>
              <a:buFont typeface="Wingdings" panose="05000000000000000000" pitchFamily="2" charset="2"/>
              <a:buChar char="u"/>
            </a:pPr>
            <a:r>
              <a:rPr lang="zh-CN" altLang="en-US" sz="2000" b="1" dirty="0">
                <a:solidFill>
                  <a:schemeClr val="accent1"/>
                </a:solidFill>
                <a:latin typeface="微软雅黑" panose="020B0503020204020204" charset="-122"/>
                <a:ea typeface="微软雅黑" panose="020B0503020204020204" charset="-122"/>
              </a:rPr>
              <a:t>使用其中的10种状态，就可以表示十进制数的0～9十个数码；</a:t>
            </a:r>
            <a:endParaRPr lang="en-US" altLang="zh-CN" sz="2000" b="1" dirty="0">
              <a:solidFill>
                <a:schemeClr val="accent1"/>
              </a:solidFill>
              <a:latin typeface="微软雅黑" panose="020B0503020204020204" charset="-122"/>
              <a:ea typeface="微软雅黑" panose="020B0503020204020204" charset="-122"/>
            </a:endParaRPr>
          </a:p>
          <a:p>
            <a:pPr marL="342900" indent="-342900" algn="just" eaLnBrk="0" hangingPunct="0">
              <a:spcBef>
                <a:spcPts val="1200"/>
              </a:spcBef>
              <a:buFont typeface="Wingdings" panose="05000000000000000000" pitchFamily="2" charset="2"/>
              <a:buChar char="u"/>
            </a:pPr>
            <a:r>
              <a:rPr lang="zh-CN" altLang="en-US" sz="2000" b="1" dirty="0">
                <a:solidFill>
                  <a:schemeClr val="accent1"/>
                </a:solidFill>
                <a:latin typeface="微软雅黑" panose="020B0503020204020204" charset="-122"/>
                <a:ea typeface="微软雅黑" panose="020B0503020204020204" charset="-122"/>
              </a:rPr>
              <a:t>可以取任意的10种代码来表示十个数码，可能产生多种</a:t>
            </a:r>
            <a:r>
              <a:rPr lang="en-US" altLang="zh-CN" sz="2000" b="1" dirty="0">
                <a:solidFill>
                  <a:schemeClr val="accent1"/>
                </a:solidFill>
                <a:latin typeface="微软雅黑" panose="020B0503020204020204" charset="-122"/>
                <a:ea typeface="微软雅黑" panose="020B0503020204020204" charset="-122"/>
              </a:rPr>
              <a:t>BCD</a:t>
            </a:r>
            <a:r>
              <a:rPr lang="zh-CN" altLang="en-US" sz="2000" b="1" dirty="0">
                <a:solidFill>
                  <a:schemeClr val="accent1"/>
                </a:solidFill>
                <a:latin typeface="微软雅黑" panose="020B0503020204020204" charset="-122"/>
                <a:ea typeface="微软雅黑" panose="020B0503020204020204" charset="-122"/>
              </a:rPr>
              <a:t>编码。</a:t>
            </a:r>
            <a:endParaRPr lang="zh-CN" altLang="en-US" sz="2000" b="1" dirty="0">
              <a:solidFill>
                <a:schemeClr val="accent1"/>
              </a:solidFill>
              <a:latin typeface="Arial" panose="020B0604020202020204" pitchFamily="34" charset="0"/>
              <a:ea typeface="微软雅黑" panose="020B0503020204020204"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7" name="Rectangle 2"/>
          <p:cNvSpPr>
            <a:spLocks noGrp="1"/>
          </p:cNvSpPr>
          <p:nvPr>
            <p:ph type="title"/>
          </p:nvPr>
        </p:nvSpPr>
        <p:spPr>
          <a:xfrm>
            <a:off x="323850" y="457200"/>
            <a:ext cx="7448550" cy="838200"/>
          </a:xfrm>
          <a:prstGeom prst="rect">
            <a:avLst/>
          </a:prstGeom>
          <a:noFill/>
          <a:ln w="9525">
            <a:noFill/>
          </a:ln>
        </p:spPr>
        <p:txBody>
          <a:bodyPr anchor="t"/>
          <a:p>
            <a:pPr eaLnBrk="1" hangingPunct="1">
              <a:buNone/>
            </a:pPr>
            <a:r>
              <a:rPr lang="zh-CN" altLang="en-US" sz="3600" dirty="0">
                <a:solidFill>
                  <a:srgbClr val="FF3300"/>
                </a:solidFill>
                <a:latin typeface="微软雅黑" panose="020B0503020204020204" charset="-122"/>
                <a:ea typeface="微软雅黑" panose="020B0503020204020204" charset="-122"/>
              </a:rPr>
              <a:t>8421码</a:t>
            </a:r>
            <a:endParaRPr lang="zh-CN" altLang="en-US" sz="3600" dirty="0">
              <a:solidFill>
                <a:srgbClr val="FF3300"/>
              </a:solidFill>
              <a:latin typeface="微软雅黑" panose="020B0503020204020204" charset="-122"/>
              <a:ea typeface="微软雅黑" panose="020B0503020204020204" charset="-122"/>
            </a:endParaRPr>
          </a:p>
        </p:txBody>
      </p:sp>
      <p:sp>
        <p:nvSpPr>
          <p:cNvPr id="106498" name="Rectangle 3"/>
          <p:cNvSpPr>
            <a:spLocks noGrp="1"/>
          </p:cNvSpPr>
          <p:nvPr>
            <p:ph type="body"/>
          </p:nvPr>
        </p:nvSpPr>
        <p:spPr>
          <a:xfrm>
            <a:off x="468313" y="1660525"/>
            <a:ext cx="8064500" cy="4149725"/>
          </a:xfrm>
          <a:prstGeom prst="rect">
            <a:avLst/>
          </a:prstGeom>
          <a:noFill/>
          <a:ln w="9525">
            <a:noFill/>
          </a:ln>
        </p:spPr>
        <p:txBody>
          <a:bodyPr anchor="t"/>
          <a:p>
            <a:pPr marL="0" indent="0" eaLnBrk="1" hangingPunct="1">
              <a:buFontTx/>
              <a:buNone/>
            </a:pPr>
            <a:r>
              <a:rPr lang="zh-CN" altLang="en-US" sz="3200" dirty="0">
                <a:solidFill>
                  <a:schemeClr val="tx2"/>
                </a:solidFill>
                <a:latin typeface="微软雅黑" panose="020B0503020204020204" charset="-122"/>
                <a:ea typeface="微软雅黑" panose="020B0503020204020204" charset="-122"/>
              </a:rPr>
              <a:t>8421码又称为</a:t>
            </a:r>
            <a:r>
              <a:rPr lang="en-US" altLang="zh-CN" sz="3200" dirty="0">
                <a:solidFill>
                  <a:schemeClr val="tx2"/>
                </a:solidFill>
                <a:latin typeface="微软雅黑" panose="020B0503020204020204" charset="-122"/>
                <a:ea typeface="微软雅黑" panose="020B0503020204020204" charset="-122"/>
              </a:rPr>
              <a:t>NBCD</a:t>
            </a:r>
            <a:r>
              <a:rPr lang="zh-CN" altLang="en-US" sz="3200" dirty="0">
                <a:solidFill>
                  <a:schemeClr val="tx2"/>
                </a:solidFill>
                <a:latin typeface="微软雅黑" panose="020B0503020204020204" charset="-122"/>
                <a:ea typeface="微软雅黑" panose="020B0503020204020204" charset="-122"/>
              </a:rPr>
              <a:t>码：</a:t>
            </a:r>
            <a:endParaRPr lang="zh-CN" altLang="en-US" sz="3200" dirty="0">
              <a:solidFill>
                <a:schemeClr val="tx2"/>
              </a:solidFill>
              <a:latin typeface="微软雅黑" panose="020B0503020204020204" charset="-122"/>
              <a:ea typeface="微软雅黑" panose="020B0503020204020204" charset="-122"/>
            </a:endParaRPr>
          </a:p>
          <a:p>
            <a:pPr lvl="1" indent="-342900" eaLnBrk="1" hangingPunct="1">
              <a:spcBef>
                <a:spcPts val="2400"/>
              </a:spcBef>
              <a:buChar char="u"/>
            </a:pPr>
            <a:r>
              <a:rPr lang="zh-CN" altLang="en-US" sz="2600" b="1" dirty="0">
                <a:solidFill>
                  <a:schemeClr val="accent1"/>
                </a:solidFill>
                <a:latin typeface="微软雅黑" panose="020B0503020204020204" charset="-122"/>
                <a:ea typeface="微软雅黑" panose="020B0503020204020204" charset="-122"/>
              </a:rPr>
              <a:t>它是一种有权码，四位二进制代码的位权从高到低分别为</a:t>
            </a:r>
            <a:r>
              <a:rPr lang="zh-CN" altLang="en-US" sz="2600" b="1" dirty="0">
                <a:solidFill>
                  <a:srgbClr val="FF0000"/>
                </a:solidFill>
                <a:latin typeface="微软雅黑" panose="020B0503020204020204" charset="-122"/>
                <a:ea typeface="微软雅黑" panose="020B0503020204020204" charset="-122"/>
              </a:rPr>
              <a:t>8、4、2、1</a:t>
            </a:r>
            <a:r>
              <a:rPr lang="zh-CN" altLang="en-US" sz="2600" b="1" dirty="0">
                <a:solidFill>
                  <a:schemeClr val="accent1"/>
                </a:solidFill>
                <a:latin typeface="微软雅黑" panose="020B0503020204020204" charset="-122"/>
                <a:ea typeface="微软雅黑" panose="020B0503020204020204" charset="-122"/>
              </a:rPr>
              <a:t>。</a:t>
            </a:r>
            <a:endParaRPr lang="zh-CN" altLang="en-US" sz="2600" b="1" dirty="0">
              <a:solidFill>
                <a:schemeClr val="accent1"/>
              </a:solidFill>
              <a:latin typeface="微软雅黑" panose="020B0503020204020204" charset="-122"/>
              <a:ea typeface="微软雅黑" panose="020B0503020204020204" charset="-122"/>
            </a:endParaRPr>
          </a:p>
          <a:p>
            <a:pPr lvl="1" indent="-342900" eaLnBrk="1" hangingPunct="1">
              <a:spcBef>
                <a:spcPts val="2400"/>
              </a:spcBef>
              <a:buChar char="u"/>
            </a:pPr>
            <a:r>
              <a:rPr lang="zh-CN" altLang="en-US" sz="2600" b="1" dirty="0">
                <a:solidFill>
                  <a:schemeClr val="accent1"/>
                </a:solidFill>
                <a:latin typeface="微软雅黑" panose="020B0503020204020204" charset="-122"/>
                <a:ea typeface="微软雅黑" panose="020B0503020204020204" charset="-122"/>
              </a:rPr>
              <a:t>简单直观。每个代码与它所代表的十进制数之间</a:t>
            </a:r>
            <a:r>
              <a:rPr lang="zh-CN" altLang="en-US" sz="2600" b="1" dirty="0">
                <a:solidFill>
                  <a:srgbClr val="FF0000"/>
                </a:solidFill>
                <a:latin typeface="微软雅黑" panose="020B0503020204020204" charset="-122"/>
                <a:ea typeface="微软雅黑" panose="020B0503020204020204" charset="-122"/>
              </a:rPr>
              <a:t>符合二进制数和十进制数相互转换的规则。</a:t>
            </a:r>
            <a:endParaRPr lang="zh-CN" altLang="en-US" sz="2600" b="1" dirty="0">
              <a:solidFill>
                <a:srgbClr val="FF0000"/>
              </a:solidFill>
              <a:latin typeface="微软雅黑" panose="020B0503020204020204" charset="-122"/>
              <a:ea typeface="微软雅黑" panose="020B0503020204020204" charset="-122"/>
            </a:endParaRPr>
          </a:p>
          <a:p>
            <a:pPr lvl="1" indent="-342900" eaLnBrk="1" hangingPunct="1">
              <a:spcBef>
                <a:spcPts val="2400"/>
              </a:spcBef>
              <a:buChar char="u"/>
            </a:pPr>
            <a:r>
              <a:rPr lang="zh-CN" altLang="en-US" sz="2600" b="1" dirty="0">
                <a:solidFill>
                  <a:schemeClr val="accent1"/>
                </a:solidFill>
                <a:latin typeface="微软雅黑" panose="020B0503020204020204" charset="-122"/>
                <a:ea typeface="微软雅黑" panose="020B0503020204020204" charset="-122"/>
              </a:rPr>
              <a:t>不允许出现1010～1111。这6个代码在8421码中是非法码。</a:t>
            </a:r>
            <a:endParaRPr lang="zh-CN" altLang="en-US" sz="2600" b="1" dirty="0">
              <a:solidFill>
                <a:schemeClr val="accent1"/>
              </a:solidFill>
              <a:latin typeface="微软雅黑" panose="020B0503020204020204" charset="-122"/>
              <a:ea typeface="微软雅黑" panose="020B0503020204020204" charset="-122"/>
            </a:endParaRPr>
          </a:p>
        </p:txBody>
      </p:sp>
      <p:sp>
        <p:nvSpPr>
          <p:cNvPr id="106499" name="灯片编号占位符 3"/>
          <p:cNvSpPr txBox="1">
            <a:spLocks noGrp="1"/>
          </p:cNvSpPr>
          <p:nvPr>
            <p:ph type="sldNum" sz="quarter"/>
          </p:nvPr>
        </p:nvSpPr>
        <p:spPr>
          <a:xfrm>
            <a:off x="7239000" y="6248400"/>
            <a:ext cx="1581150" cy="420688"/>
          </a:xfrm>
          <a:prstGeom prst="rect">
            <a:avLst/>
          </a:prstGeom>
          <a:noFill/>
          <a:ln w="9525">
            <a:noFill/>
          </a:ln>
        </p:spPr>
        <p:txBody>
          <a:bodyPr anchor="t"/>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eaLnBrk="1" hangingPunct="1"/>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1" name="Rectangle 2"/>
          <p:cNvSpPr>
            <a:spLocks noGrp="1"/>
          </p:cNvSpPr>
          <p:nvPr>
            <p:ph type="title"/>
          </p:nvPr>
        </p:nvSpPr>
        <p:spPr>
          <a:xfrm>
            <a:off x="395288" y="457200"/>
            <a:ext cx="7377112" cy="595313"/>
          </a:xfrm>
          <a:prstGeom prst="rect">
            <a:avLst/>
          </a:prstGeom>
          <a:noFill/>
          <a:ln w="9525">
            <a:noFill/>
          </a:ln>
        </p:spPr>
        <p:txBody>
          <a:bodyPr anchor="t"/>
          <a:p>
            <a:pPr eaLnBrk="1" hangingPunct="1">
              <a:buNone/>
            </a:pPr>
            <a:r>
              <a:rPr lang="zh-CN" altLang="en-US" sz="3600" dirty="0">
                <a:solidFill>
                  <a:srgbClr val="FF3300"/>
                </a:solidFill>
                <a:latin typeface="微软雅黑" panose="020B0503020204020204" charset="-122"/>
                <a:ea typeface="微软雅黑" panose="020B0503020204020204" charset="-122"/>
              </a:rPr>
              <a:t>2421码</a:t>
            </a:r>
            <a:endParaRPr lang="zh-CN" altLang="en-US" sz="3600" dirty="0">
              <a:solidFill>
                <a:srgbClr val="FF3300"/>
              </a:solidFill>
              <a:latin typeface="微软雅黑" panose="020B0503020204020204" charset="-122"/>
              <a:ea typeface="微软雅黑" panose="020B0503020204020204" charset="-122"/>
            </a:endParaRPr>
          </a:p>
        </p:txBody>
      </p:sp>
      <p:sp>
        <p:nvSpPr>
          <p:cNvPr id="107522" name="Rectangle 3"/>
          <p:cNvSpPr>
            <a:spLocks noGrp="1"/>
          </p:cNvSpPr>
          <p:nvPr>
            <p:ph type="body"/>
          </p:nvPr>
        </p:nvSpPr>
        <p:spPr>
          <a:xfrm>
            <a:off x="342900" y="1228725"/>
            <a:ext cx="8332788" cy="5029200"/>
          </a:xfrm>
          <a:prstGeom prst="rect">
            <a:avLst/>
          </a:prstGeom>
          <a:noFill/>
          <a:ln w="9525">
            <a:noFill/>
          </a:ln>
        </p:spPr>
        <p:txBody>
          <a:bodyPr anchor="t"/>
          <a:p>
            <a:pPr marL="0" indent="0" algn="just" eaLnBrk="1" hangingPunct="1">
              <a:lnSpc>
                <a:spcPct val="90000"/>
              </a:lnSpc>
              <a:buFontTx/>
              <a:buNone/>
            </a:pPr>
            <a:r>
              <a:rPr lang="zh-CN" altLang="en-US" sz="3200" dirty="0">
                <a:solidFill>
                  <a:schemeClr val="tx2"/>
                </a:solidFill>
                <a:latin typeface="微软雅黑" panose="020B0503020204020204" charset="-122"/>
                <a:ea typeface="微软雅黑" panose="020B0503020204020204" charset="-122"/>
              </a:rPr>
              <a:t>2421码的主要特点是：</a:t>
            </a:r>
            <a:endParaRPr lang="zh-CN" altLang="en-US" sz="3200" dirty="0">
              <a:solidFill>
                <a:schemeClr val="tx2"/>
              </a:solidFill>
              <a:latin typeface="微软雅黑" panose="020B0503020204020204" charset="-122"/>
              <a:ea typeface="微软雅黑" panose="020B0503020204020204" charset="-122"/>
            </a:endParaRPr>
          </a:p>
          <a:p>
            <a:pPr lvl="1" indent="-342900" eaLnBrk="1" hangingPunct="1">
              <a:spcBef>
                <a:spcPts val="2400"/>
              </a:spcBef>
              <a:buChar char="u"/>
            </a:pPr>
            <a:r>
              <a:rPr lang="zh-CN" altLang="en-US" sz="2600" b="1" dirty="0">
                <a:solidFill>
                  <a:schemeClr val="accent1"/>
                </a:solidFill>
                <a:latin typeface="微软雅黑" panose="020B0503020204020204" charset="-122"/>
                <a:ea typeface="微软雅黑" panose="020B0503020204020204" charset="-122"/>
              </a:rPr>
              <a:t>它也是一种有权码，四位二进制代码的位权从高到低分别为</a:t>
            </a:r>
            <a:r>
              <a:rPr lang="zh-CN" altLang="en-US" sz="2600" b="1" dirty="0">
                <a:solidFill>
                  <a:srgbClr val="FF0000"/>
                </a:solidFill>
                <a:latin typeface="微软雅黑" panose="020B0503020204020204" charset="-122"/>
                <a:ea typeface="微软雅黑" panose="020B0503020204020204" charset="-122"/>
              </a:rPr>
              <a:t>2、4、2、1</a:t>
            </a:r>
            <a:r>
              <a:rPr lang="zh-CN" altLang="en-US" sz="2600" b="1" dirty="0">
                <a:solidFill>
                  <a:schemeClr val="accent1"/>
                </a:solidFill>
                <a:latin typeface="微软雅黑" panose="020B0503020204020204" charset="-122"/>
                <a:ea typeface="微软雅黑" panose="020B0503020204020204" charset="-122"/>
              </a:rPr>
              <a:t>。</a:t>
            </a:r>
            <a:endParaRPr lang="zh-CN" altLang="en-US" sz="2600" b="1" dirty="0">
              <a:solidFill>
                <a:schemeClr val="accent1"/>
              </a:solidFill>
              <a:latin typeface="微软雅黑" panose="020B0503020204020204" charset="-122"/>
              <a:ea typeface="微软雅黑" panose="020B0503020204020204" charset="-122"/>
            </a:endParaRPr>
          </a:p>
          <a:p>
            <a:pPr lvl="1" indent="-342900" eaLnBrk="1" hangingPunct="1">
              <a:spcBef>
                <a:spcPts val="2400"/>
              </a:spcBef>
              <a:buChar char="u"/>
            </a:pPr>
            <a:r>
              <a:rPr lang="zh-CN" altLang="en-US" sz="2600" b="1" dirty="0">
                <a:solidFill>
                  <a:schemeClr val="accent1"/>
                </a:solidFill>
                <a:latin typeface="微软雅黑" panose="020B0503020204020204" charset="-122"/>
                <a:ea typeface="微软雅黑" panose="020B0503020204020204" charset="-122"/>
              </a:rPr>
              <a:t>它又是一种</a:t>
            </a:r>
            <a:r>
              <a:rPr lang="zh-CN" altLang="en-US" sz="2600" b="1" dirty="0">
                <a:solidFill>
                  <a:srgbClr val="FF0000"/>
                </a:solidFill>
                <a:latin typeface="微软雅黑" panose="020B0503020204020204" charset="-122"/>
                <a:ea typeface="微软雅黑" panose="020B0503020204020204" charset="-122"/>
              </a:rPr>
              <a:t>对9的自补码</a:t>
            </a:r>
            <a:r>
              <a:rPr lang="zh-CN" altLang="en-US" sz="2600" b="1" dirty="0">
                <a:solidFill>
                  <a:schemeClr val="accent1"/>
                </a:solidFill>
                <a:latin typeface="微软雅黑" panose="020B0503020204020204" charset="-122"/>
                <a:ea typeface="微软雅黑" panose="020B0503020204020204" charset="-122"/>
              </a:rPr>
              <a:t>。即某数的2421码，只要自身按位取反，就能得到该数对9之补的2421码。</a:t>
            </a:r>
            <a:endParaRPr lang="zh-CN" altLang="en-US" sz="2600" b="1" dirty="0">
              <a:solidFill>
                <a:schemeClr val="accent1"/>
              </a:solidFill>
              <a:latin typeface="微软雅黑" panose="020B0503020204020204" charset="-122"/>
              <a:ea typeface="微软雅黑" panose="020B0503020204020204" charset="-122"/>
            </a:endParaRPr>
          </a:p>
          <a:p>
            <a:pPr lvl="2" indent="-342900" eaLnBrk="1" hangingPunct="1">
              <a:spcBef>
                <a:spcPts val="2400"/>
              </a:spcBef>
              <a:buFont typeface="Wingdings" panose="05000000000000000000" charset="0"/>
              <a:buChar char="Ø"/>
            </a:pPr>
            <a:r>
              <a:rPr lang="zh-CN" altLang="en-US" sz="2225" b="1" dirty="0">
                <a:solidFill>
                  <a:schemeClr val="accent1"/>
                </a:solidFill>
                <a:latin typeface="微软雅黑" panose="020B0503020204020204" charset="-122"/>
                <a:ea typeface="微软雅黑" panose="020B0503020204020204" charset="-122"/>
              </a:rPr>
              <a:t>例如：</a:t>
            </a:r>
            <a:r>
              <a:rPr lang="zh-CN" altLang="en-US" b="1" dirty="0">
                <a:solidFill>
                  <a:srgbClr val="9900FF"/>
                </a:solidFill>
                <a:latin typeface="微软雅黑" panose="020B0503020204020204" charset="-122"/>
                <a:ea typeface="微软雅黑" panose="020B0503020204020204" charset="-122"/>
              </a:rPr>
              <a:t>3的2421码是0011。3对9之补是6，而6的2421码是1100。</a:t>
            </a:r>
            <a:endParaRPr lang="zh-CN" altLang="en-US" b="1" dirty="0">
              <a:solidFill>
                <a:srgbClr val="9900FF"/>
              </a:solidFill>
              <a:latin typeface="微软雅黑" panose="020B0503020204020204" charset="-122"/>
              <a:ea typeface="微软雅黑" panose="020B0503020204020204" charset="-122"/>
            </a:endParaRPr>
          </a:p>
          <a:p>
            <a:pPr lvl="1" indent="-342900" eaLnBrk="1" hangingPunct="1">
              <a:spcBef>
                <a:spcPts val="2400"/>
              </a:spcBef>
              <a:buChar char="u"/>
            </a:pPr>
            <a:r>
              <a:rPr lang="zh-CN" altLang="en-US" sz="2600" b="1" dirty="0">
                <a:solidFill>
                  <a:schemeClr val="accent1"/>
                </a:solidFill>
                <a:latin typeface="微软雅黑" panose="020B0503020204020204" charset="-122"/>
                <a:ea typeface="微软雅黑" panose="020B0503020204020204" charset="-122"/>
              </a:rPr>
              <a:t>不允许出现0101～1010。这6个代码在2421码中是非法码。</a:t>
            </a:r>
            <a:endParaRPr lang="zh-CN" altLang="en-US" sz="2600" b="1" dirty="0">
              <a:solidFill>
                <a:schemeClr val="accent1"/>
              </a:solidFill>
              <a:latin typeface="微软雅黑" panose="020B0503020204020204" charset="-122"/>
              <a:ea typeface="微软雅黑" panose="020B0503020204020204" charset="-122"/>
            </a:endParaRPr>
          </a:p>
        </p:txBody>
      </p:sp>
      <p:sp>
        <p:nvSpPr>
          <p:cNvPr id="107523" name="灯片编号占位符 3"/>
          <p:cNvSpPr txBox="1">
            <a:spLocks noGrp="1"/>
          </p:cNvSpPr>
          <p:nvPr>
            <p:ph type="sldNum" sz="quarter"/>
          </p:nvPr>
        </p:nvSpPr>
        <p:spPr>
          <a:xfrm>
            <a:off x="7239000" y="6248400"/>
            <a:ext cx="1725613" cy="493713"/>
          </a:xfrm>
          <a:prstGeom prst="rect">
            <a:avLst/>
          </a:prstGeom>
          <a:noFill/>
          <a:ln w="9525">
            <a:noFill/>
          </a:ln>
        </p:spPr>
        <p:txBody>
          <a:bodyPr anchor="t"/>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eaLnBrk="1" hangingPunct="1"/>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Rectangle 2"/>
          <p:cNvSpPr>
            <a:spLocks noGrp="1"/>
          </p:cNvSpPr>
          <p:nvPr>
            <p:ph type="title"/>
          </p:nvPr>
        </p:nvSpPr>
        <p:spPr>
          <a:xfrm>
            <a:off x="323850" y="381000"/>
            <a:ext cx="7448550" cy="762000"/>
          </a:xfrm>
          <a:prstGeom prst="rect">
            <a:avLst/>
          </a:prstGeom>
          <a:noFill/>
          <a:ln w="9525">
            <a:noFill/>
          </a:ln>
        </p:spPr>
        <p:txBody>
          <a:bodyPr anchor="t"/>
          <a:p>
            <a:pPr eaLnBrk="1" hangingPunct="1">
              <a:buNone/>
            </a:pPr>
            <a:r>
              <a:rPr lang="zh-CN" altLang="en-US" sz="3600" dirty="0">
                <a:solidFill>
                  <a:srgbClr val="FF3300"/>
                </a:solidFill>
                <a:latin typeface="微软雅黑" panose="020B0503020204020204" charset="-122"/>
                <a:ea typeface="微软雅黑" panose="020B0503020204020204" charset="-122"/>
              </a:rPr>
              <a:t>余3码</a:t>
            </a:r>
            <a:endParaRPr lang="zh-CN" altLang="en-US" sz="3600" dirty="0">
              <a:solidFill>
                <a:srgbClr val="FF3300"/>
              </a:solidFill>
              <a:latin typeface="微软雅黑" panose="020B0503020204020204" charset="-122"/>
              <a:ea typeface="微软雅黑" panose="020B0503020204020204" charset="-122"/>
            </a:endParaRPr>
          </a:p>
        </p:txBody>
      </p:sp>
      <p:sp>
        <p:nvSpPr>
          <p:cNvPr id="108546" name="Rectangle 3"/>
          <p:cNvSpPr>
            <a:spLocks noGrp="1"/>
          </p:cNvSpPr>
          <p:nvPr>
            <p:ph type="body"/>
          </p:nvPr>
        </p:nvSpPr>
        <p:spPr>
          <a:xfrm>
            <a:off x="331788" y="1447800"/>
            <a:ext cx="8343900" cy="4800600"/>
          </a:xfrm>
          <a:prstGeom prst="rect">
            <a:avLst/>
          </a:prstGeom>
          <a:noFill/>
          <a:ln w="9525">
            <a:noFill/>
          </a:ln>
        </p:spPr>
        <p:txBody>
          <a:bodyPr anchor="t"/>
          <a:p>
            <a:pPr marL="0" indent="0" algn="just" eaLnBrk="1" hangingPunct="1">
              <a:lnSpc>
                <a:spcPct val="90000"/>
              </a:lnSpc>
              <a:buNone/>
            </a:pPr>
            <a:r>
              <a:rPr lang="zh-CN" altLang="en-US" sz="3200" dirty="0">
                <a:solidFill>
                  <a:schemeClr val="tx2"/>
                </a:solidFill>
                <a:latin typeface="微软雅黑" panose="020B0503020204020204" charset="-122"/>
                <a:ea typeface="微软雅黑" panose="020B0503020204020204" charset="-122"/>
              </a:rPr>
              <a:t>余3码的主要特点是：</a:t>
            </a:r>
            <a:endParaRPr lang="zh-CN" altLang="en-US" sz="3200" dirty="0">
              <a:solidFill>
                <a:schemeClr val="tx2"/>
              </a:solidFill>
              <a:latin typeface="微软雅黑" panose="020B0503020204020204" charset="-122"/>
              <a:ea typeface="微软雅黑" panose="020B0503020204020204" charset="-122"/>
            </a:endParaRPr>
          </a:p>
          <a:p>
            <a:pPr lvl="1" indent="-342900" eaLnBrk="1" hangingPunct="1">
              <a:lnSpc>
                <a:spcPct val="110000"/>
              </a:lnSpc>
              <a:spcBef>
                <a:spcPts val="2400"/>
              </a:spcBef>
              <a:buChar char="u"/>
            </a:pPr>
            <a:r>
              <a:rPr lang="zh-CN" altLang="en-US" sz="2600" b="1" dirty="0">
                <a:solidFill>
                  <a:schemeClr val="accent1"/>
                </a:solidFill>
                <a:latin typeface="微软雅黑" panose="020B0503020204020204" charset="-122"/>
                <a:ea typeface="微软雅黑" panose="020B0503020204020204" charset="-122"/>
              </a:rPr>
              <a:t>这是一种无权码，但也可看作是一种特殊的有权码，即</a:t>
            </a:r>
            <a:r>
              <a:rPr lang="zh-CN" altLang="en-US" sz="2600" b="1" dirty="0">
                <a:solidFill>
                  <a:srgbClr val="FF0000"/>
                </a:solidFill>
                <a:latin typeface="微软雅黑" panose="020B0503020204020204" charset="-122"/>
                <a:ea typeface="微软雅黑" panose="020B0503020204020204" charset="-122"/>
              </a:rPr>
              <a:t>在8421码的基础上加+3</a:t>
            </a:r>
            <a:r>
              <a:rPr lang="zh-CN" altLang="en-US" sz="2600" b="1" dirty="0">
                <a:solidFill>
                  <a:schemeClr val="accent1"/>
                </a:solidFill>
                <a:latin typeface="微软雅黑" panose="020B0503020204020204" charset="-122"/>
                <a:ea typeface="微软雅黑" panose="020B0503020204020204" charset="-122"/>
              </a:rPr>
              <a:t>（+0011）形成的，故称余3码。在这种编码中各位的“1”不表示一个固定的十进制数值，因而不直观。</a:t>
            </a:r>
            <a:endParaRPr lang="zh-CN" altLang="en-US" sz="2600" b="1" dirty="0">
              <a:solidFill>
                <a:schemeClr val="accent1"/>
              </a:solidFill>
              <a:latin typeface="微软雅黑" panose="020B0503020204020204" charset="-122"/>
              <a:ea typeface="微软雅黑" panose="020B0503020204020204" charset="-122"/>
            </a:endParaRPr>
          </a:p>
          <a:p>
            <a:pPr lvl="1" indent="-342900" eaLnBrk="1" hangingPunct="1">
              <a:spcBef>
                <a:spcPts val="2400"/>
              </a:spcBef>
              <a:buChar char="u"/>
            </a:pPr>
            <a:r>
              <a:rPr lang="zh-CN" altLang="en-US" sz="2600" b="1" dirty="0">
                <a:solidFill>
                  <a:schemeClr val="accent1"/>
                </a:solidFill>
                <a:latin typeface="微软雅黑" panose="020B0503020204020204" charset="-122"/>
                <a:ea typeface="微软雅黑" panose="020B0503020204020204" charset="-122"/>
              </a:rPr>
              <a:t>它也是一种</a:t>
            </a:r>
            <a:r>
              <a:rPr lang="zh-CN" altLang="en-US" sz="2600" b="1" dirty="0">
                <a:solidFill>
                  <a:srgbClr val="FF0000"/>
                </a:solidFill>
                <a:latin typeface="微软雅黑" panose="020B0503020204020204" charset="-122"/>
                <a:ea typeface="微软雅黑" panose="020B0503020204020204" charset="-122"/>
              </a:rPr>
              <a:t>对9的自补码。</a:t>
            </a:r>
            <a:endParaRPr lang="zh-CN" altLang="en-US" sz="2600" b="1" dirty="0">
              <a:solidFill>
                <a:srgbClr val="FF0000"/>
              </a:solidFill>
              <a:latin typeface="微软雅黑" panose="020B0503020204020204" charset="-122"/>
              <a:ea typeface="微软雅黑" panose="020B0503020204020204" charset="-122"/>
            </a:endParaRPr>
          </a:p>
          <a:p>
            <a:pPr lvl="1" indent="-342900" eaLnBrk="1" hangingPunct="1">
              <a:spcBef>
                <a:spcPts val="2400"/>
              </a:spcBef>
              <a:buChar char="u"/>
            </a:pPr>
            <a:r>
              <a:rPr lang="zh-CN" altLang="en-US" sz="2600" b="1" dirty="0">
                <a:solidFill>
                  <a:schemeClr val="accent1"/>
                </a:solidFill>
                <a:latin typeface="微软雅黑" panose="020B0503020204020204" charset="-122"/>
                <a:ea typeface="微软雅黑" panose="020B0503020204020204" charset="-122"/>
              </a:rPr>
              <a:t>不允许出现0000～0010、1101～1111。这6个代码在余3码中是非法码。</a:t>
            </a:r>
            <a:endParaRPr lang="zh-CN" altLang="en-US" sz="2600" b="1" dirty="0">
              <a:solidFill>
                <a:schemeClr val="accent1"/>
              </a:solidFill>
              <a:latin typeface="微软雅黑" panose="020B0503020204020204" charset="-122"/>
              <a:ea typeface="微软雅黑" panose="020B0503020204020204" charset="-122"/>
            </a:endParaRPr>
          </a:p>
        </p:txBody>
      </p:sp>
      <p:sp>
        <p:nvSpPr>
          <p:cNvPr id="108547" name="灯片编号占位符 3"/>
          <p:cNvSpPr txBox="1">
            <a:spLocks noGrp="1"/>
          </p:cNvSpPr>
          <p:nvPr>
            <p:ph type="sldNum" sz="quarter"/>
          </p:nvPr>
        </p:nvSpPr>
        <p:spPr>
          <a:xfrm>
            <a:off x="7239000" y="6248400"/>
            <a:ext cx="1581150" cy="457200"/>
          </a:xfrm>
          <a:prstGeom prst="rect">
            <a:avLst/>
          </a:prstGeom>
          <a:noFill/>
          <a:ln w="9525">
            <a:noFill/>
          </a:ln>
        </p:spPr>
        <p:txBody>
          <a:bodyPr anchor="t"/>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eaLnBrk="1" hangingPunct="1"/>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69" name="Rectangle 2"/>
          <p:cNvSpPr>
            <a:spLocks noGrp="1"/>
          </p:cNvSpPr>
          <p:nvPr>
            <p:ph type="title"/>
          </p:nvPr>
        </p:nvSpPr>
        <p:spPr>
          <a:xfrm>
            <a:off x="323850" y="381000"/>
            <a:ext cx="7448550" cy="762000"/>
          </a:xfrm>
          <a:prstGeom prst="rect">
            <a:avLst/>
          </a:prstGeom>
          <a:noFill/>
          <a:ln w="9525">
            <a:noFill/>
          </a:ln>
        </p:spPr>
        <p:txBody>
          <a:bodyPr anchor="t"/>
          <a:p>
            <a:pPr eaLnBrk="1" hangingPunct="1">
              <a:buNone/>
            </a:pPr>
            <a:r>
              <a:rPr lang="zh-CN" altLang="en-US" sz="3600" dirty="0">
                <a:solidFill>
                  <a:srgbClr val="FF3300"/>
                </a:solidFill>
                <a:latin typeface="微软雅黑" panose="020B0503020204020204" charset="-122"/>
                <a:ea typeface="微软雅黑" panose="020B0503020204020204" charset="-122"/>
              </a:rPr>
              <a:t>格雷码</a:t>
            </a:r>
            <a:endParaRPr lang="zh-CN" altLang="en-US" sz="3600" dirty="0">
              <a:solidFill>
                <a:srgbClr val="FF3300"/>
              </a:solidFill>
              <a:latin typeface="微软雅黑" panose="020B0503020204020204" charset="-122"/>
              <a:ea typeface="微软雅黑" panose="020B0503020204020204" charset="-122"/>
            </a:endParaRPr>
          </a:p>
        </p:txBody>
      </p:sp>
      <p:sp>
        <p:nvSpPr>
          <p:cNvPr id="109570" name="Rectangle 3"/>
          <p:cNvSpPr>
            <a:spLocks noGrp="1"/>
          </p:cNvSpPr>
          <p:nvPr>
            <p:ph type="body"/>
          </p:nvPr>
        </p:nvSpPr>
        <p:spPr>
          <a:xfrm>
            <a:off x="323850" y="1447800"/>
            <a:ext cx="8496300" cy="4645025"/>
          </a:xfrm>
          <a:prstGeom prst="rect">
            <a:avLst/>
          </a:prstGeom>
          <a:noFill/>
          <a:ln w="9525">
            <a:noFill/>
          </a:ln>
        </p:spPr>
        <p:txBody>
          <a:bodyPr anchor="t"/>
          <a:p>
            <a:pPr marL="0" indent="0" algn="just" eaLnBrk="1" hangingPunct="1">
              <a:buFontTx/>
              <a:buNone/>
            </a:pPr>
            <a:r>
              <a:rPr lang="en-US" altLang="zh-CN" sz="3200" dirty="0">
                <a:solidFill>
                  <a:schemeClr val="tx2"/>
                </a:solidFill>
                <a:latin typeface="微软雅黑" panose="020B0503020204020204" charset="-122"/>
                <a:ea typeface="微软雅黑" panose="020B0503020204020204" charset="-122"/>
              </a:rPr>
              <a:t>Gray</a:t>
            </a:r>
            <a:r>
              <a:rPr lang="zh-CN" altLang="zh-CN" sz="3200" dirty="0">
                <a:solidFill>
                  <a:schemeClr val="tx2"/>
                </a:solidFill>
                <a:latin typeface="微软雅黑" panose="020B0503020204020204" charset="-122"/>
                <a:ea typeface="微软雅黑" panose="020B0503020204020204" charset="-122"/>
              </a:rPr>
              <a:t>码</a:t>
            </a:r>
            <a:r>
              <a:rPr lang="zh-CN" altLang="en-US" sz="3200" dirty="0">
                <a:solidFill>
                  <a:schemeClr val="tx2"/>
                </a:solidFill>
                <a:latin typeface="微软雅黑" panose="020B0503020204020204" charset="-122"/>
                <a:ea typeface="微软雅黑" panose="020B0503020204020204" charset="-122"/>
              </a:rPr>
              <a:t>的</a:t>
            </a:r>
            <a:r>
              <a:rPr lang="zh-CN" altLang="zh-CN" sz="3200" dirty="0">
                <a:solidFill>
                  <a:schemeClr val="tx2"/>
                </a:solidFill>
                <a:latin typeface="微软雅黑" panose="020B0503020204020204" charset="-122"/>
                <a:ea typeface="微软雅黑" panose="020B0503020204020204" charset="-122"/>
              </a:rPr>
              <a:t>主要特点是：</a:t>
            </a:r>
            <a:endParaRPr lang="zh-CN" altLang="zh-CN" sz="3200" dirty="0">
              <a:solidFill>
                <a:schemeClr val="tx2"/>
              </a:solidFill>
              <a:latin typeface="微软雅黑" panose="020B0503020204020204" charset="-122"/>
              <a:ea typeface="微软雅黑" panose="020B0503020204020204" charset="-122"/>
            </a:endParaRPr>
          </a:p>
          <a:p>
            <a:pPr lvl="1" indent="-342900" eaLnBrk="1" hangingPunct="1">
              <a:lnSpc>
                <a:spcPct val="110000"/>
              </a:lnSpc>
              <a:spcBef>
                <a:spcPts val="2400"/>
              </a:spcBef>
              <a:buChar char="u"/>
            </a:pPr>
            <a:r>
              <a:rPr lang="zh-CN" altLang="zh-CN" sz="2600" b="1" dirty="0">
                <a:solidFill>
                  <a:schemeClr val="accent1"/>
                </a:solidFill>
                <a:latin typeface="微软雅黑" panose="020B0503020204020204" charset="-122"/>
                <a:ea typeface="微软雅黑" panose="020B0503020204020204" charset="-122"/>
              </a:rPr>
              <a:t>它也是一种无权码。</a:t>
            </a:r>
            <a:endParaRPr lang="zh-CN" altLang="zh-CN" sz="2600" b="1" dirty="0">
              <a:solidFill>
                <a:schemeClr val="accent1"/>
              </a:solidFill>
              <a:latin typeface="微软雅黑" panose="020B0503020204020204" charset="-122"/>
              <a:ea typeface="微软雅黑" panose="020B0503020204020204" charset="-122"/>
            </a:endParaRPr>
          </a:p>
          <a:p>
            <a:pPr lvl="1" indent="-342900" eaLnBrk="1" hangingPunct="1">
              <a:lnSpc>
                <a:spcPct val="110000"/>
              </a:lnSpc>
              <a:spcBef>
                <a:spcPts val="2400"/>
              </a:spcBef>
              <a:buChar char="u"/>
            </a:pPr>
            <a:r>
              <a:rPr lang="zh-CN" altLang="zh-CN" sz="2600" b="1" dirty="0">
                <a:solidFill>
                  <a:schemeClr val="accent1"/>
                </a:solidFill>
                <a:latin typeface="微软雅黑" panose="020B0503020204020204" charset="-122"/>
                <a:ea typeface="微软雅黑" panose="020B0503020204020204" charset="-122"/>
              </a:rPr>
              <a:t>从一种代码变到相邻的下一种代码时，只有一个二进制位的状态在发生变化。</a:t>
            </a:r>
            <a:endParaRPr lang="zh-CN" altLang="zh-CN" sz="2600" b="1" dirty="0">
              <a:solidFill>
                <a:schemeClr val="accent1"/>
              </a:solidFill>
              <a:latin typeface="微软雅黑" panose="020B0503020204020204" charset="-122"/>
              <a:ea typeface="微软雅黑" panose="020B0503020204020204" charset="-122"/>
            </a:endParaRPr>
          </a:p>
          <a:p>
            <a:pPr lvl="1" indent="-342900" eaLnBrk="1" hangingPunct="1">
              <a:lnSpc>
                <a:spcPct val="110000"/>
              </a:lnSpc>
              <a:spcBef>
                <a:spcPts val="2400"/>
              </a:spcBef>
              <a:buChar char="u"/>
            </a:pPr>
            <a:r>
              <a:rPr lang="zh-CN" altLang="zh-CN" sz="2600" b="1" dirty="0">
                <a:solidFill>
                  <a:schemeClr val="accent1"/>
                </a:solidFill>
                <a:latin typeface="微软雅黑" panose="020B0503020204020204" charset="-122"/>
                <a:ea typeface="微软雅黑" panose="020B0503020204020204" charset="-122"/>
              </a:rPr>
              <a:t>具有循环特性，即首尾两个数的</a:t>
            </a:r>
            <a:r>
              <a:rPr lang="en-US" altLang="zh-CN" sz="2600" b="1" dirty="0">
                <a:solidFill>
                  <a:schemeClr val="accent1"/>
                </a:solidFill>
                <a:latin typeface="微软雅黑" panose="020B0503020204020204" charset="-122"/>
                <a:ea typeface="微软雅黑" panose="020B0503020204020204" charset="-122"/>
              </a:rPr>
              <a:t>Gray</a:t>
            </a:r>
            <a:r>
              <a:rPr lang="zh-CN" altLang="zh-CN" sz="2600" b="1" dirty="0">
                <a:solidFill>
                  <a:schemeClr val="accent1"/>
                </a:solidFill>
                <a:latin typeface="微软雅黑" panose="020B0503020204020204" charset="-122"/>
                <a:ea typeface="微软雅黑" panose="020B0503020204020204" charset="-122"/>
              </a:rPr>
              <a:t>码也只有一个二进制位不同，因此</a:t>
            </a:r>
            <a:r>
              <a:rPr lang="en-US" altLang="zh-CN" sz="2600" b="1" dirty="0">
                <a:solidFill>
                  <a:schemeClr val="accent1"/>
                </a:solidFill>
                <a:latin typeface="微软雅黑" panose="020B0503020204020204" charset="-122"/>
                <a:ea typeface="微软雅黑" panose="020B0503020204020204" charset="-122"/>
              </a:rPr>
              <a:t>Gray</a:t>
            </a:r>
            <a:r>
              <a:rPr lang="zh-CN" altLang="zh-CN" sz="2600" b="1" dirty="0">
                <a:solidFill>
                  <a:schemeClr val="accent1"/>
                </a:solidFill>
                <a:latin typeface="微软雅黑" panose="020B0503020204020204" charset="-122"/>
                <a:ea typeface="微软雅黑" panose="020B0503020204020204" charset="-122"/>
              </a:rPr>
              <a:t>码</a:t>
            </a:r>
            <a:r>
              <a:rPr lang="zh-CN" altLang="zh-CN" sz="2600" b="1" dirty="0">
                <a:solidFill>
                  <a:srgbClr val="FF0000"/>
                </a:solidFill>
                <a:latin typeface="微软雅黑" panose="020B0503020204020204" charset="-122"/>
                <a:ea typeface="微软雅黑" panose="020B0503020204020204" charset="-122"/>
              </a:rPr>
              <a:t>又称为循环码</a:t>
            </a:r>
            <a:r>
              <a:rPr lang="zh-CN" altLang="zh-CN" sz="2600" b="1" dirty="0">
                <a:solidFill>
                  <a:schemeClr val="accent1"/>
                </a:solidFill>
                <a:latin typeface="微软雅黑" panose="020B0503020204020204" charset="-122"/>
                <a:ea typeface="微软雅黑" panose="020B0503020204020204" charset="-122"/>
              </a:rPr>
              <a:t>。</a:t>
            </a:r>
            <a:endParaRPr lang="zh-CN" altLang="zh-CN" sz="2600" b="1" dirty="0">
              <a:solidFill>
                <a:schemeClr val="accent1"/>
              </a:solidFill>
              <a:latin typeface="微软雅黑" panose="020B0503020204020204" charset="-122"/>
              <a:ea typeface="微软雅黑" panose="020B0503020204020204" charset="-122"/>
            </a:endParaRPr>
          </a:p>
          <a:p>
            <a:pPr lvl="1" indent="-342900" eaLnBrk="1" hangingPunct="1">
              <a:lnSpc>
                <a:spcPct val="110000"/>
              </a:lnSpc>
              <a:spcBef>
                <a:spcPts val="2400"/>
              </a:spcBef>
              <a:buChar char="u"/>
            </a:pPr>
            <a:r>
              <a:rPr lang="zh-CN" altLang="zh-CN" sz="2600" b="1" dirty="0">
                <a:solidFill>
                  <a:schemeClr val="accent1"/>
                </a:solidFill>
                <a:latin typeface="微软雅黑" panose="020B0503020204020204" charset="-122"/>
                <a:ea typeface="微软雅黑" panose="020B0503020204020204" charset="-122"/>
              </a:rPr>
              <a:t>十进制</a:t>
            </a:r>
            <a:r>
              <a:rPr lang="en-US" altLang="zh-CN" sz="2600" b="1" dirty="0">
                <a:solidFill>
                  <a:schemeClr val="accent1"/>
                </a:solidFill>
                <a:latin typeface="微软雅黑" panose="020B0503020204020204" charset="-122"/>
                <a:ea typeface="微软雅黑" panose="020B0503020204020204" charset="-122"/>
              </a:rPr>
              <a:t>Gray</a:t>
            </a:r>
            <a:r>
              <a:rPr lang="zh-CN" altLang="zh-CN" sz="2600" b="1" dirty="0">
                <a:solidFill>
                  <a:schemeClr val="accent1"/>
                </a:solidFill>
                <a:latin typeface="微软雅黑" panose="020B0503020204020204" charset="-122"/>
                <a:ea typeface="微软雅黑" panose="020B0503020204020204" charset="-122"/>
              </a:rPr>
              <a:t>码也有</a:t>
            </a:r>
            <a:r>
              <a:rPr lang="en-US" altLang="zh-CN" sz="2600" b="1" dirty="0">
                <a:solidFill>
                  <a:schemeClr val="accent1"/>
                </a:solidFill>
                <a:latin typeface="微软雅黑" panose="020B0503020204020204" charset="-122"/>
                <a:ea typeface="微软雅黑" panose="020B0503020204020204" charset="-122"/>
              </a:rPr>
              <a:t>6</a:t>
            </a:r>
            <a:r>
              <a:rPr lang="zh-CN" altLang="zh-CN" sz="2600" b="1" dirty="0">
                <a:solidFill>
                  <a:schemeClr val="accent1"/>
                </a:solidFill>
                <a:latin typeface="微软雅黑" panose="020B0503020204020204" charset="-122"/>
                <a:ea typeface="微软雅黑" panose="020B0503020204020204" charset="-122"/>
              </a:rPr>
              <a:t>个代码为非法码，视具体方案而定。</a:t>
            </a:r>
            <a:endParaRPr lang="zh-CN" altLang="zh-CN" sz="2600" b="1" dirty="0">
              <a:solidFill>
                <a:schemeClr val="accent1"/>
              </a:solidFill>
              <a:latin typeface="微软雅黑" panose="020B0503020204020204" charset="-122"/>
              <a:ea typeface="微软雅黑" panose="020B0503020204020204" charset="-122"/>
            </a:endParaRPr>
          </a:p>
        </p:txBody>
      </p:sp>
      <p:sp>
        <p:nvSpPr>
          <p:cNvPr id="109571" name="灯片编号占位符 3"/>
          <p:cNvSpPr txBox="1">
            <a:spLocks noGrp="1"/>
          </p:cNvSpPr>
          <p:nvPr>
            <p:ph type="sldNum" sz="quarter"/>
          </p:nvPr>
        </p:nvSpPr>
        <p:spPr>
          <a:xfrm>
            <a:off x="7239000" y="6248400"/>
            <a:ext cx="1581150" cy="609600"/>
          </a:xfrm>
          <a:prstGeom prst="rect">
            <a:avLst/>
          </a:prstGeom>
          <a:noFill/>
          <a:ln w="9525">
            <a:noFill/>
          </a:ln>
        </p:spPr>
        <p:txBody>
          <a:bodyPr anchor="t"/>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eaLnBrk="1" hangingPunct="1"/>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3" name="Rectangle 2"/>
          <p:cNvSpPr>
            <a:spLocks noGrp="1"/>
          </p:cNvSpPr>
          <p:nvPr>
            <p:ph type="title"/>
          </p:nvPr>
        </p:nvSpPr>
        <p:spPr>
          <a:xfrm>
            <a:off x="457200" y="304800"/>
            <a:ext cx="8001000" cy="1143000"/>
          </a:xfrm>
          <a:noFill/>
          <a:ln>
            <a:noFill/>
          </a:ln>
        </p:spPr>
        <p:txBody>
          <a:bodyPr anchor="t"/>
          <a:p>
            <a:pPr eaLnBrk="1" hangingPunct="1">
              <a:buNone/>
            </a:pPr>
            <a:r>
              <a:rPr lang="zh-CN" altLang="en-US" sz="3600" dirty="0">
                <a:solidFill>
                  <a:srgbClr val="0000FF"/>
                </a:solidFill>
                <a:latin typeface="微软雅黑" panose="020B0503020204020204" charset="-122"/>
                <a:ea typeface="微软雅黑" panose="020B0503020204020204" charset="-122"/>
              </a:rPr>
              <a:t>十进制数串</a:t>
            </a:r>
            <a:endParaRPr lang="en-US" altLang="zh-CN" sz="3600" dirty="0">
              <a:solidFill>
                <a:srgbClr val="0000FF"/>
              </a:solidFill>
              <a:latin typeface="微软雅黑" panose="020B0503020204020204" charset="-122"/>
              <a:ea typeface="微软雅黑" panose="020B0503020204020204" charset="-122"/>
            </a:endParaRPr>
          </a:p>
        </p:txBody>
      </p:sp>
      <p:sp>
        <p:nvSpPr>
          <p:cNvPr id="110594" name="Rectangle 3"/>
          <p:cNvSpPr>
            <a:spLocks noGrp="1"/>
          </p:cNvSpPr>
          <p:nvPr>
            <p:ph idx="1"/>
          </p:nvPr>
        </p:nvSpPr>
        <p:spPr>
          <a:xfrm>
            <a:off x="457200" y="1271588"/>
            <a:ext cx="8218488" cy="5181600"/>
          </a:xfrm>
          <a:noFill/>
          <a:ln>
            <a:noFill/>
          </a:ln>
        </p:spPr>
        <p:txBody>
          <a:bodyPr anchor="t"/>
          <a:p>
            <a:pPr algn="just" eaLnBrk="1" hangingPunct="1">
              <a:lnSpc>
                <a:spcPct val="90000"/>
              </a:lnSpc>
              <a:buFontTx/>
              <a:buNone/>
            </a:pPr>
            <a:r>
              <a:rPr lang="zh-CN" altLang="en-US" dirty="0">
                <a:solidFill>
                  <a:schemeClr val="tx2"/>
                </a:solidFill>
                <a:latin typeface="微软雅黑" panose="020B0503020204020204" charset="-122"/>
                <a:ea typeface="微软雅黑" panose="020B0503020204020204" charset="-122"/>
              </a:rPr>
              <a:t>1.非压缩的十进制数串</a:t>
            </a:r>
            <a:endParaRPr lang="zh-CN" altLang="en-US" dirty="0">
              <a:solidFill>
                <a:schemeClr val="tx2"/>
              </a:solidFill>
              <a:latin typeface="微软雅黑" panose="020B0503020204020204" charset="-122"/>
              <a:ea typeface="微软雅黑" panose="020B0503020204020204" charset="-122"/>
            </a:endParaRPr>
          </a:p>
          <a:p>
            <a:pPr lvl="1" indent="-342900" eaLnBrk="1" hangingPunct="1">
              <a:spcBef>
                <a:spcPts val="1200"/>
              </a:spcBef>
              <a:buChar char="u"/>
            </a:pPr>
            <a:r>
              <a:rPr lang="zh-CN" altLang="en-US" sz="2400" b="1" dirty="0">
                <a:solidFill>
                  <a:schemeClr val="accent1"/>
                </a:solidFill>
                <a:latin typeface="微软雅黑" panose="020B0503020204020204" charset="-122"/>
                <a:ea typeface="微软雅黑" panose="020B0503020204020204" charset="-122"/>
              </a:rPr>
              <a:t>非压缩的十进制数串中</a:t>
            </a:r>
            <a:r>
              <a:rPr lang="zh-CN" altLang="en-US" sz="2400" b="1" dirty="0">
                <a:solidFill>
                  <a:srgbClr val="FF0000"/>
                </a:solidFill>
                <a:latin typeface="微软雅黑" panose="020B0503020204020204" charset="-122"/>
                <a:ea typeface="微软雅黑" panose="020B0503020204020204" charset="-122"/>
              </a:rPr>
              <a:t>一个字节存放一个十进制数或符号的</a:t>
            </a:r>
            <a:r>
              <a:rPr lang="en-US" altLang="zh-CN" sz="2400" b="1" dirty="0">
                <a:solidFill>
                  <a:srgbClr val="FF0000"/>
                </a:solidFill>
                <a:latin typeface="微软雅黑" panose="020B0503020204020204" charset="-122"/>
                <a:ea typeface="微软雅黑" panose="020B0503020204020204" charset="-122"/>
              </a:rPr>
              <a:t>ASCII</a:t>
            </a:r>
            <a:r>
              <a:rPr lang="zh-CN" altLang="en-US" sz="2400" b="1" dirty="0">
                <a:solidFill>
                  <a:srgbClr val="FF0000"/>
                </a:solidFill>
                <a:latin typeface="微软雅黑" panose="020B0503020204020204" charset="-122"/>
                <a:ea typeface="微软雅黑" panose="020B0503020204020204" charset="-122"/>
              </a:rPr>
              <a:t>码</a:t>
            </a:r>
            <a:r>
              <a:rPr lang="zh-CN" altLang="en-US" sz="2400" b="1" dirty="0">
                <a:solidFill>
                  <a:schemeClr val="accent1"/>
                </a:solidFill>
                <a:latin typeface="微软雅黑" panose="020B0503020204020204" charset="-122"/>
                <a:ea typeface="微软雅黑" panose="020B0503020204020204" charset="-122"/>
              </a:rPr>
              <a:t>。</a:t>
            </a:r>
            <a:endParaRPr lang="zh-CN" altLang="en-US" sz="2400" b="1" dirty="0">
              <a:solidFill>
                <a:schemeClr val="accent1"/>
              </a:solidFill>
              <a:latin typeface="微软雅黑" panose="020B0503020204020204" charset="-122"/>
              <a:ea typeface="微软雅黑" panose="020B0503020204020204" charset="-122"/>
            </a:endParaRPr>
          </a:p>
          <a:p>
            <a:pPr lvl="1" indent="-342900" eaLnBrk="1" hangingPunct="1">
              <a:spcBef>
                <a:spcPts val="1200"/>
              </a:spcBef>
              <a:buChar char="u"/>
            </a:pPr>
            <a:r>
              <a:rPr lang="zh-CN" altLang="en-US" sz="2400" b="1" dirty="0">
                <a:solidFill>
                  <a:schemeClr val="accent1"/>
                </a:solidFill>
                <a:latin typeface="微软雅黑" panose="020B0503020204020204" charset="-122"/>
                <a:ea typeface="微软雅黑" panose="020B0503020204020204" charset="-122"/>
              </a:rPr>
              <a:t>非压缩的十进制数串又分成</a:t>
            </a:r>
            <a:r>
              <a:rPr lang="zh-CN" altLang="en-US" sz="2400" b="1" dirty="0">
                <a:solidFill>
                  <a:srgbClr val="FF0000"/>
                </a:solidFill>
                <a:latin typeface="微软雅黑" panose="020B0503020204020204" charset="-122"/>
                <a:ea typeface="微软雅黑" panose="020B0503020204020204" charset="-122"/>
              </a:rPr>
              <a:t>前分隔式</a:t>
            </a:r>
            <a:r>
              <a:rPr lang="zh-CN" altLang="en-US" sz="2400" b="1" dirty="0">
                <a:solidFill>
                  <a:schemeClr val="accent1"/>
                </a:solidFill>
                <a:latin typeface="微软雅黑" panose="020B0503020204020204" charset="-122"/>
                <a:ea typeface="微软雅黑" panose="020B0503020204020204" charset="-122"/>
              </a:rPr>
              <a:t>数字串和</a:t>
            </a:r>
            <a:r>
              <a:rPr lang="zh-CN" altLang="en-US" sz="2400" b="1" dirty="0">
                <a:solidFill>
                  <a:srgbClr val="FF0000"/>
                </a:solidFill>
                <a:latin typeface="微软雅黑" panose="020B0503020204020204" charset="-122"/>
                <a:ea typeface="微软雅黑" panose="020B0503020204020204" charset="-122"/>
              </a:rPr>
              <a:t>后嵌入式</a:t>
            </a:r>
            <a:r>
              <a:rPr lang="zh-CN" altLang="en-US" sz="2400" b="1" dirty="0">
                <a:solidFill>
                  <a:schemeClr val="accent1"/>
                </a:solidFill>
                <a:latin typeface="微软雅黑" panose="020B0503020204020204" charset="-122"/>
                <a:ea typeface="微软雅黑" panose="020B0503020204020204" charset="-122"/>
              </a:rPr>
              <a:t>数字串两种格式。</a:t>
            </a:r>
            <a:endParaRPr lang="en-US" altLang="zh-CN" sz="2400" b="1" dirty="0">
              <a:solidFill>
                <a:schemeClr val="accent1"/>
              </a:solidFill>
              <a:latin typeface="微软雅黑" panose="020B0503020204020204" charset="-122"/>
              <a:ea typeface="微软雅黑" panose="020B0503020204020204" charset="-122"/>
            </a:endParaRPr>
          </a:p>
          <a:p>
            <a:pPr lvl="2" algn="just" eaLnBrk="1" hangingPunct="1">
              <a:spcBef>
                <a:spcPts val="1200"/>
              </a:spcBef>
              <a:buFont typeface="Wingdings" panose="05000000000000000000" pitchFamily="2" charset="2"/>
              <a:buChar char="Ø"/>
            </a:pPr>
            <a:r>
              <a:rPr lang="zh-CN" altLang="en-US" sz="2000" b="1" dirty="0">
                <a:solidFill>
                  <a:schemeClr val="tx2"/>
                </a:solidFill>
                <a:latin typeface="微软雅黑" panose="020B0503020204020204" charset="-122"/>
                <a:ea typeface="微软雅黑" panose="020B0503020204020204" charset="-122"/>
              </a:rPr>
              <a:t>前分隔式中，符号位占用单独一个字节，放在数值位之前，正号对应2</a:t>
            </a:r>
            <a:r>
              <a:rPr lang="en-US" altLang="zh-CN" sz="2000" b="1" dirty="0">
                <a:solidFill>
                  <a:schemeClr val="tx2"/>
                </a:solidFill>
                <a:latin typeface="微软雅黑" panose="020B0503020204020204" charset="-122"/>
                <a:ea typeface="微软雅黑" panose="020B0503020204020204" charset="-122"/>
              </a:rPr>
              <a:t>BH，</a:t>
            </a:r>
            <a:r>
              <a:rPr lang="zh-CN" altLang="en-US" sz="2000" b="1" dirty="0">
                <a:solidFill>
                  <a:schemeClr val="tx2"/>
                </a:solidFill>
                <a:latin typeface="微软雅黑" panose="020B0503020204020204" charset="-122"/>
                <a:ea typeface="微软雅黑" panose="020B0503020204020204" charset="-122"/>
              </a:rPr>
              <a:t>负号对应2</a:t>
            </a:r>
            <a:r>
              <a:rPr lang="en-US" altLang="zh-CN" sz="2000" b="1" dirty="0">
                <a:solidFill>
                  <a:schemeClr val="tx2"/>
                </a:solidFill>
                <a:latin typeface="微软雅黑" panose="020B0503020204020204" charset="-122"/>
                <a:ea typeface="微软雅黑" panose="020B0503020204020204" charset="-122"/>
              </a:rPr>
              <a:t>DH。</a:t>
            </a:r>
            <a:endParaRPr lang="en-US" altLang="zh-CN" sz="2000" b="1" dirty="0">
              <a:solidFill>
                <a:schemeClr val="tx2"/>
              </a:solidFill>
              <a:latin typeface="微软雅黑" panose="020B0503020204020204" charset="-122"/>
              <a:ea typeface="微软雅黑" panose="020B0503020204020204" charset="-122"/>
            </a:endParaRPr>
          </a:p>
          <a:p>
            <a:pPr lvl="2" algn="just" eaLnBrk="1" hangingPunct="1">
              <a:spcBef>
                <a:spcPts val="1200"/>
              </a:spcBef>
              <a:buFont typeface="Wingdings" panose="05000000000000000000" pitchFamily="2" charset="2"/>
              <a:buChar char="Ø"/>
            </a:pPr>
            <a:r>
              <a:rPr lang="zh-CN" altLang="en-US" sz="2000" b="1" dirty="0">
                <a:solidFill>
                  <a:schemeClr val="tx2"/>
                </a:solidFill>
                <a:latin typeface="微软雅黑" panose="020B0503020204020204" charset="-122"/>
                <a:ea typeface="微软雅黑" panose="020B0503020204020204" charset="-122"/>
              </a:rPr>
              <a:t>后嵌入式中，符号位嵌入到最低一位数字里。若数串为正，则最低一位数字</a:t>
            </a:r>
            <a:r>
              <a:rPr lang="en-US" altLang="zh-CN" sz="2000" b="1" dirty="0">
                <a:solidFill>
                  <a:schemeClr val="tx2"/>
                </a:solidFill>
                <a:latin typeface="微软雅黑" panose="020B0503020204020204" charset="-122"/>
                <a:ea typeface="微软雅黑" panose="020B0503020204020204" charset="-122"/>
              </a:rPr>
              <a:t>ASCII</a:t>
            </a:r>
            <a:r>
              <a:rPr lang="zh-CN" altLang="en-US" sz="2000" b="1" dirty="0">
                <a:solidFill>
                  <a:schemeClr val="tx2"/>
                </a:solidFill>
                <a:latin typeface="微软雅黑" panose="020B0503020204020204" charset="-122"/>
                <a:ea typeface="微软雅黑" panose="020B0503020204020204" charset="-122"/>
              </a:rPr>
              <a:t>码不变（30</a:t>
            </a:r>
            <a:r>
              <a:rPr lang="en-US" altLang="zh-CN" sz="2000" b="1" dirty="0">
                <a:solidFill>
                  <a:schemeClr val="tx2"/>
                </a:solidFill>
                <a:latin typeface="微软雅黑" panose="020B0503020204020204" charset="-122"/>
                <a:ea typeface="微软雅黑" panose="020B0503020204020204" charset="-122"/>
              </a:rPr>
              <a:t>H～39H）；</a:t>
            </a:r>
            <a:r>
              <a:rPr lang="zh-CN" altLang="en-US" sz="2000" b="1" dirty="0">
                <a:solidFill>
                  <a:schemeClr val="tx2"/>
                </a:solidFill>
                <a:latin typeface="微软雅黑" panose="020B0503020204020204" charset="-122"/>
                <a:ea typeface="微软雅黑" panose="020B0503020204020204" charset="-122"/>
              </a:rPr>
              <a:t>若数串为负，40</a:t>
            </a:r>
            <a:r>
              <a:rPr lang="en-US" altLang="zh-CN" sz="2000" b="1" dirty="0">
                <a:solidFill>
                  <a:schemeClr val="tx2"/>
                </a:solidFill>
                <a:latin typeface="微软雅黑" panose="020B0503020204020204" charset="-122"/>
                <a:ea typeface="微软雅黑" panose="020B0503020204020204" charset="-122"/>
              </a:rPr>
              <a:t>H，</a:t>
            </a:r>
            <a:r>
              <a:rPr lang="zh-CN" altLang="en-US" sz="2000" b="1" dirty="0">
                <a:solidFill>
                  <a:schemeClr val="tx2"/>
                </a:solidFill>
                <a:latin typeface="微软雅黑" panose="020B0503020204020204" charset="-122"/>
                <a:ea typeface="微软雅黑" panose="020B0503020204020204" charset="-122"/>
              </a:rPr>
              <a:t>与最低数值位相加，其</a:t>
            </a:r>
            <a:r>
              <a:rPr lang="en-US" altLang="zh-CN" sz="2000" b="1" dirty="0">
                <a:solidFill>
                  <a:schemeClr val="tx2"/>
                </a:solidFill>
                <a:latin typeface="微软雅黑" panose="020B0503020204020204" charset="-122"/>
                <a:ea typeface="微软雅黑" panose="020B0503020204020204" charset="-122"/>
              </a:rPr>
              <a:t>ASCII</a:t>
            </a:r>
            <a:r>
              <a:rPr lang="zh-CN" altLang="en-US" sz="2000" b="1" dirty="0">
                <a:solidFill>
                  <a:schemeClr val="tx2"/>
                </a:solidFill>
                <a:latin typeface="微软雅黑" panose="020B0503020204020204" charset="-122"/>
                <a:ea typeface="微软雅黑" panose="020B0503020204020204" charset="-122"/>
              </a:rPr>
              <a:t>码变为70</a:t>
            </a:r>
            <a:r>
              <a:rPr lang="en-US" altLang="zh-CN" sz="2000" b="1" dirty="0">
                <a:solidFill>
                  <a:schemeClr val="tx2"/>
                </a:solidFill>
                <a:latin typeface="微软雅黑" panose="020B0503020204020204" charset="-122"/>
                <a:ea typeface="微软雅黑" panose="020B0503020204020204" charset="-122"/>
              </a:rPr>
              <a:t>H～79H。 </a:t>
            </a:r>
            <a:r>
              <a:rPr lang="zh-CN" altLang="en-US" sz="2000" b="1" dirty="0">
                <a:solidFill>
                  <a:schemeClr val="tx2"/>
                </a:solidFill>
                <a:latin typeface="微软雅黑" panose="020B0503020204020204" charset="-122"/>
                <a:ea typeface="微软雅黑" panose="020B0503020204020204" charset="-122"/>
              </a:rPr>
              <a:t> </a:t>
            </a:r>
            <a:endParaRPr lang="zh-CN" altLang="en-US" sz="2000" b="1" dirty="0">
              <a:solidFill>
                <a:schemeClr val="tx2"/>
              </a:solidFill>
              <a:latin typeface="微软雅黑" panose="020B0503020204020204" charset="-122"/>
              <a:ea typeface="微软雅黑" panose="020B0503020204020204" charset="-122"/>
            </a:endParaRPr>
          </a:p>
        </p:txBody>
      </p:sp>
      <p:sp>
        <p:nvSpPr>
          <p:cNvPr id="110595" name="灯片编号占位符 5"/>
          <p:cNvSpPr txBox="1">
            <a:spLocks noGrp="1"/>
          </p:cNvSpPr>
          <p:nvPr>
            <p:ph type="sldNum" sz="quarter"/>
          </p:nvPr>
        </p:nvSpPr>
        <p:spPr>
          <a:xfrm>
            <a:off x="7239000" y="6248400"/>
            <a:ext cx="1725613" cy="420688"/>
          </a:xfrm>
          <a:prstGeom prst="rect">
            <a:avLst/>
          </a:prstGeom>
          <a:noFill/>
          <a:ln w="9525">
            <a:noFill/>
          </a:ln>
        </p:spPr>
        <p:txBody>
          <a:bodyPr anchor="t"/>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eaLnBrk="1" hangingPunct="1"/>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7" name="Rectangle 3"/>
          <p:cNvSpPr>
            <a:spLocks noGrp="1"/>
          </p:cNvSpPr>
          <p:nvPr>
            <p:ph idx="1"/>
          </p:nvPr>
        </p:nvSpPr>
        <p:spPr>
          <a:xfrm>
            <a:off x="533400" y="1219200"/>
            <a:ext cx="8001000" cy="5162550"/>
          </a:xfrm>
          <a:noFill/>
          <a:ln>
            <a:noFill/>
          </a:ln>
        </p:spPr>
        <p:txBody>
          <a:bodyPr anchor="t"/>
          <a:p>
            <a:pPr algn="just" eaLnBrk="1" hangingPunct="1">
              <a:lnSpc>
                <a:spcPct val="90000"/>
              </a:lnSpc>
              <a:buNone/>
            </a:pPr>
            <a:r>
              <a:rPr lang="en-US" altLang="zh-CN" dirty="0">
                <a:solidFill>
                  <a:schemeClr val="tx2"/>
                </a:solidFill>
                <a:latin typeface="微软雅黑" panose="020B0503020204020204" charset="-122"/>
                <a:ea typeface="微软雅黑" panose="020B0503020204020204" charset="-122"/>
              </a:rPr>
              <a:t>2</a:t>
            </a:r>
            <a:r>
              <a:rPr lang="zh-CN" altLang="en-US" dirty="0">
                <a:solidFill>
                  <a:schemeClr val="tx2"/>
                </a:solidFill>
                <a:latin typeface="微软雅黑" panose="020B0503020204020204" charset="-122"/>
                <a:ea typeface="微软雅黑" panose="020B0503020204020204" charset="-122"/>
              </a:rPr>
              <a:t>. 压缩的十进制数串</a:t>
            </a:r>
            <a:endParaRPr lang="zh-CN" altLang="en-US" dirty="0">
              <a:solidFill>
                <a:schemeClr val="tx2"/>
              </a:solidFill>
              <a:latin typeface="微软雅黑" panose="020B0503020204020204" charset="-122"/>
              <a:ea typeface="微软雅黑" panose="020B0503020204020204" charset="-122"/>
            </a:endParaRPr>
          </a:p>
          <a:p>
            <a:pPr lvl="1" indent="-342900" eaLnBrk="1" hangingPunct="1">
              <a:spcBef>
                <a:spcPts val="1200"/>
              </a:spcBef>
              <a:buChar char="u"/>
            </a:pPr>
            <a:r>
              <a:rPr lang="zh-CN" altLang="en-US" sz="2400" b="1" dirty="0">
                <a:solidFill>
                  <a:srgbClr val="FF0000"/>
                </a:solidFill>
                <a:latin typeface="微软雅黑" panose="020B0503020204020204" charset="-122"/>
                <a:ea typeface="微软雅黑" panose="020B0503020204020204" charset="-122"/>
              </a:rPr>
              <a:t>一个字节可存放两位</a:t>
            </a:r>
            <a:r>
              <a:rPr lang="en-US" altLang="zh-CN" sz="2400" b="1" dirty="0">
                <a:solidFill>
                  <a:srgbClr val="FF0000"/>
                </a:solidFill>
                <a:latin typeface="微软雅黑" panose="020B0503020204020204" charset="-122"/>
                <a:ea typeface="微软雅黑" panose="020B0503020204020204" charset="-122"/>
              </a:rPr>
              <a:t>BCD</a:t>
            </a:r>
            <a:r>
              <a:rPr lang="zh-CN" altLang="en-US" sz="2400" b="1" dirty="0">
                <a:solidFill>
                  <a:srgbClr val="FF0000"/>
                </a:solidFill>
                <a:latin typeface="微软雅黑" panose="020B0503020204020204" charset="-122"/>
                <a:ea typeface="微软雅黑" panose="020B0503020204020204" charset="-122"/>
              </a:rPr>
              <a:t>码</a:t>
            </a:r>
            <a:r>
              <a:rPr lang="zh-CN" altLang="en-US" sz="2400" b="1" dirty="0">
                <a:solidFill>
                  <a:schemeClr val="accent1"/>
                </a:solidFill>
                <a:latin typeface="微软雅黑" panose="020B0503020204020204" charset="-122"/>
                <a:ea typeface="微软雅黑" panose="020B0503020204020204" charset="-122"/>
              </a:rPr>
              <a:t>表示的十进制数，既节省存储空间，又便于直接进行十进制算术运算。 </a:t>
            </a:r>
            <a:endParaRPr lang="zh-CN" altLang="en-US" sz="2400" b="1" dirty="0">
              <a:solidFill>
                <a:schemeClr val="accent1"/>
              </a:solidFill>
              <a:latin typeface="微软雅黑" panose="020B0503020204020204" charset="-122"/>
              <a:ea typeface="微软雅黑" panose="020B0503020204020204" charset="-122"/>
            </a:endParaRPr>
          </a:p>
          <a:p>
            <a:pPr lvl="1" indent="-342900" eaLnBrk="1" hangingPunct="1">
              <a:spcBef>
                <a:spcPts val="1200"/>
              </a:spcBef>
              <a:buChar char="u"/>
            </a:pPr>
            <a:r>
              <a:rPr lang="zh-CN" altLang="en-US" sz="2400" b="1" dirty="0">
                <a:solidFill>
                  <a:schemeClr val="accent1"/>
                </a:solidFill>
                <a:latin typeface="微软雅黑" panose="020B0503020204020204" charset="-122"/>
                <a:ea typeface="微软雅黑" panose="020B0503020204020204" charset="-122"/>
              </a:rPr>
              <a:t>在主存中，一个压缩的十进制数串占用连续的多个字节，</a:t>
            </a:r>
            <a:r>
              <a:rPr lang="zh-CN" altLang="en-US" sz="2400" b="1" dirty="0">
                <a:solidFill>
                  <a:srgbClr val="FF0000"/>
                </a:solidFill>
                <a:latin typeface="微软雅黑" panose="020B0503020204020204" charset="-122"/>
                <a:ea typeface="微软雅黑" panose="020B0503020204020204" charset="-122"/>
              </a:rPr>
              <a:t>每位数字仅占半个字节</a:t>
            </a:r>
            <a:r>
              <a:rPr lang="zh-CN" altLang="en-US" sz="2400" b="1" dirty="0">
                <a:solidFill>
                  <a:schemeClr val="accent1"/>
                </a:solidFill>
                <a:latin typeface="微软雅黑" panose="020B0503020204020204" charset="-122"/>
                <a:ea typeface="微软雅黑" panose="020B0503020204020204" charset="-122"/>
              </a:rPr>
              <a:t>，其值常用8421码表示。</a:t>
            </a:r>
            <a:endParaRPr lang="en-US" altLang="zh-CN" sz="2400" b="1" dirty="0">
              <a:solidFill>
                <a:schemeClr val="accent1"/>
              </a:solidFill>
              <a:latin typeface="微软雅黑" panose="020B0503020204020204" charset="-122"/>
              <a:ea typeface="微软雅黑" panose="020B0503020204020204" charset="-122"/>
            </a:endParaRPr>
          </a:p>
          <a:p>
            <a:pPr lvl="1" indent="-342900" eaLnBrk="1" hangingPunct="1">
              <a:spcBef>
                <a:spcPts val="1200"/>
              </a:spcBef>
              <a:buChar char="u"/>
            </a:pPr>
            <a:r>
              <a:rPr lang="zh-CN" altLang="en-US" sz="2400" b="1" dirty="0">
                <a:solidFill>
                  <a:srgbClr val="FF0000"/>
                </a:solidFill>
                <a:latin typeface="微软雅黑" panose="020B0503020204020204" charset="-122"/>
                <a:ea typeface="微软雅黑" panose="020B0503020204020204" charset="-122"/>
              </a:rPr>
              <a:t>符号位也占半个字节</a:t>
            </a:r>
            <a:r>
              <a:rPr lang="zh-CN" altLang="en-US" sz="2400" b="1" dirty="0">
                <a:solidFill>
                  <a:schemeClr val="accent1"/>
                </a:solidFill>
                <a:latin typeface="微软雅黑" panose="020B0503020204020204" charset="-122"/>
                <a:ea typeface="微软雅黑" panose="020B0503020204020204" charset="-122"/>
              </a:rPr>
              <a:t>，存放在最低数值位之后，通常用</a:t>
            </a:r>
            <a:r>
              <a:rPr lang="en-US" altLang="zh-CN" sz="2400" b="1" dirty="0">
                <a:solidFill>
                  <a:schemeClr val="accent1"/>
                </a:solidFill>
                <a:latin typeface="微软雅黑" panose="020B0503020204020204" charset="-122"/>
                <a:ea typeface="微软雅黑" panose="020B0503020204020204" charset="-122"/>
              </a:rPr>
              <a:t>CH</a:t>
            </a:r>
            <a:r>
              <a:rPr lang="zh-CN" altLang="en-US" sz="2400" b="1" dirty="0">
                <a:solidFill>
                  <a:schemeClr val="accent1"/>
                </a:solidFill>
                <a:latin typeface="微软雅黑" panose="020B0503020204020204" charset="-122"/>
                <a:ea typeface="微软雅黑" panose="020B0503020204020204" charset="-122"/>
              </a:rPr>
              <a:t>表示正号，</a:t>
            </a:r>
            <a:r>
              <a:rPr lang="en-US" altLang="zh-CN" sz="2400" b="1" dirty="0">
                <a:solidFill>
                  <a:schemeClr val="accent1"/>
                </a:solidFill>
                <a:latin typeface="微软雅黑" panose="020B0503020204020204" charset="-122"/>
                <a:ea typeface="微软雅黑" panose="020B0503020204020204" charset="-122"/>
              </a:rPr>
              <a:t>DH</a:t>
            </a:r>
            <a:r>
              <a:rPr lang="zh-CN" altLang="en-US" sz="2400" b="1" dirty="0">
                <a:solidFill>
                  <a:schemeClr val="accent1"/>
                </a:solidFill>
                <a:latin typeface="微软雅黑" panose="020B0503020204020204" charset="-122"/>
                <a:ea typeface="微软雅黑" panose="020B0503020204020204" charset="-122"/>
              </a:rPr>
              <a:t>表示负号。</a:t>
            </a:r>
            <a:endParaRPr lang="en-US" altLang="zh-CN" sz="2400" b="1" dirty="0">
              <a:solidFill>
                <a:schemeClr val="accent1"/>
              </a:solidFill>
              <a:latin typeface="微软雅黑" panose="020B0503020204020204" charset="-122"/>
              <a:ea typeface="微软雅黑" panose="020B0503020204020204" charset="-122"/>
            </a:endParaRPr>
          </a:p>
          <a:p>
            <a:pPr lvl="1" indent="-342900" eaLnBrk="1" hangingPunct="1">
              <a:spcBef>
                <a:spcPts val="1200"/>
              </a:spcBef>
              <a:buChar char="u"/>
            </a:pPr>
            <a:r>
              <a:rPr lang="zh-CN" altLang="en-US" sz="2400" b="1" dirty="0">
                <a:solidFill>
                  <a:schemeClr val="accent1"/>
                </a:solidFill>
                <a:latin typeface="微软雅黑" panose="020B0503020204020204" charset="-122"/>
                <a:ea typeface="微软雅黑" panose="020B0503020204020204" charset="-122"/>
              </a:rPr>
              <a:t>规定数字的个数加符号位之和必须为偶数；当和为奇数时，应在最高数值位之前补0</a:t>
            </a:r>
            <a:r>
              <a:rPr lang="en-US" altLang="zh-CN" sz="2400" b="1" dirty="0">
                <a:solidFill>
                  <a:schemeClr val="accent1"/>
                </a:solidFill>
                <a:latin typeface="微软雅黑" panose="020B0503020204020204" charset="-122"/>
                <a:ea typeface="微软雅黑" panose="020B0503020204020204" charset="-122"/>
              </a:rPr>
              <a:t>H（</a:t>
            </a:r>
            <a:r>
              <a:rPr lang="zh-CN" altLang="en-US" sz="2400" b="1" dirty="0">
                <a:solidFill>
                  <a:schemeClr val="accent1"/>
                </a:solidFill>
                <a:latin typeface="微软雅黑" panose="020B0503020204020204" charset="-122"/>
                <a:ea typeface="微软雅黑" panose="020B0503020204020204" charset="-122"/>
              </a:rPr>
              <a:t>即第一个字节的高半字节为“0000”）。</a:t>
            </a:r>
            <a:r>
              <a:rPr lang="zh-CN" altLang="en-US" sz="2600" b="1" dirty="0">
                <a:solidFill>
                  <a:schemeClr val="accent1"/>
                </a:solidFill>
                <a:latin typeface="微软雅黑" panose="020B0503020204020204" charset="-122"/>
                <a:ea typeface="微软雅黑" panose="020B0503020204020204" charset="-122"/>
              </a:rPr>
              <a:t> </a:t>
            </a:r>
            <a:endParaRPr lang="zh-CN" altLang="en-US" sz="2600" b="1" dirty="0">
              <a:solidFill>
                <a:schemeClr val="accent1"/>
              </a:solidFill>
              <a:latin typeface="微软雅黑" panose="020B0503020204020204" charset="-122"/>
              <a:ea typeface="微软雅黑" panose="020B0503020204020204" charset="-122"/>
            </a:endParaRPr>
          </a:p>
        </p:txBody>
      </p:sp>
      <p:sp>
        <p:nvSpPr>
          <p:cNvPr id="111618" name="灯片编号占位符 5"/>
          <p:cNvSpPr txBox="1">
            <a:spLocks noGrp="1"/>
          </p:cNvSpPr>
          <p:nvPr>
            <p:ph type="sldNum" sz="quarter"/>
          </p:nvPr>
        </p:nvSpPr>
        <p:spPr>
          <a:xfrm>
            <a:off x="7239000" y="6248400"/>
            <a:ext cx="1654175" cy="493713"/>
          </a:xfrm>
          <a:prstGeom prst="rect">
            <a:avLst/>
          </a:prstGeom>
          <a:noFill/>
          <a:ln w="9525">
            <a:noFill/>
          </a:ln>
        </p:spPr>
        <p:txBody>
          <a:bodyPr anchor="t"/>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eaLnBrk="1" hangingPunct="1"/>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111619" name="Rectangle 2"/>
          <p:cNvSpPr>
            <a:spLocks noGrp="1"/>
          </p:cNvSpPr>
          <p:nvPr>
            <p:ph type="title"/>
          </p:nvPr>
        </p:nvSpPr>
        <p:spPr>
          <a:xfrm>
            <a:off x="457200" y="304800"/>
            <a:ext cx="8001000" cy="1143000"/>
          </a:xfrm>
          <a:noFill/>
          <a:ln>
            <a:noFill/>
          </a:ln>
        </p:spPr>
        <p:txBody>
          <a:bodyPr anchor="t"/>
          <a:p>
            <a:pPr eaLnBrk="1" hangingPunct="1">
              <a:buNone/>
            </a:pPr>
            <a:r>
              <a:rPr lang="zh-CN" altLang="en-US" sz="3600" dirty="0">
                <a:solidFill>
                  <a:srgbClr val="0000FF"/>
                </a:solidFill>
                <a:latin typeface="微软雅黑" panose="020B0503020204020204" charset="-122"/>
                <a:ea typeface="微软雅黑" panose="020B0503020204020204" charset="-122"/>
              </a:rPr>
              <a:t>十进制数串</a:t>
            </a:r>
            <a:endParaRPr lang="en-US" altLang="zh-CN" sz="3600" dirty="0">
              <a:solidFill>
                <a:srgbClr val="0000FF"/>
              </a:solidFill>
              <a:latin typeface="微软雅黑" panose="020B0503020204020204" charset="-122"/>
              <a:ea typeface="微软雅黑" panose="020B0503020204020204"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1" name="Rectangle 2"/>
          <p:cNvSpPr>
            <a:spLocks noGrp="1"/>
          </p:cNvSpPr>
          <p:nvPr>
            <p:ph type="title"/>
          </p:nvPr>
        </p:nvSpPr>
        <p:spPr>
          <a:xfrm>
            <a:off x="381000" y="381000"/>
            <a:ext cx="8305800" cy="1143000"/>
          </a:xfrm>
          <a:noFill/>
          <a:ln>
            <a:noFill/>
          </a:ln>
        </p:spPr>
        <p:txBody>
          <a:bodyPr anchor="t"/>
          <a:p>
            <a:pPr eaLnBrk="1" hangingPunct="1">
              <a:buNone/>
            </a:pPr>
            <a:r>
              <a:rPr lang="zh-CN" altLang="en-US" sz="4000" dirty="0">
                <a:solidFill>
                  <a:srgbClr val="0000FF"/>
                </a:solidFill>
                <a:latin typeface="微软雅黑" panose="020B0503020204020204" charset="-122"/>
                <a:ea typeface="微软雅黑" panose="020B0503020204020204" charset="-122"/>
              </a:rPr>
              <a:t>2.5  不同类型的数据表示举例 </a:t>
            </a:r>
            <a:endParaRPr lang="en-US" altLang="zh-CN" sz="4000" dirty="0">
              <a:solidFill>
                <a:srgbClr val="0000FF"/>
              </a:solidFill>
              <a:latin typeface="微软雅黑" panose="020B0503020204020204" charset="-122"/>
              <a:ea typeface="微软雅黑" panose="020B0503020204020204" charset="-122"/>
            </a:endParaRPr>
          </a:p>
        </p:txBody>
      </p:sp>
      <p:sp>
        <p:nvSpPr>
          <p:cNvPr id="112642" name="Rectangle 3"/>
          <p:cNvSpPr>
            <a:spLocks noGrp="1"/>
          </p:cNvSpPr>
          <p:nvPr>
            <p:ph idx="1"/>
          </p:nvPr>
        </p:nvSpPr>
        <p:spPr>
          <a:xfrm>
            <a:off x="371475" y="1700213"/>
            <a:ext cx="8161338" cy="2376487"/>
          </a:xfrm>
          <a:noFill/>
          <a:ln>
            <a:noFill/>
          </a:ln>
        </p:spPr>
        <p:txBody>
          <a:bodyPr anchor="t"/>
          <a:p>
            <a:pPr marL="0" indent="457200" algn="just" eaLnBrk="1" hangingPunct="1">
              <a:buFontTx/>
              <a:buNone/>
            </a:pPr>
            <a:r>
              <a:rPr lang="en-US" altLang="zh-CN" sz="3200" dirty="0">
                <a:solidFill>
                  <a:schemeClr val="tx2"/>
                </a:solidFill>
                <a:latin typeface="Times New Roman" panose="02020603050405020304" pitchFamily="18" charset="0"/>
                <a:ea typeface="微软雅黑" panose="020B0503020204020204" charset="-122"/>
              </a:rPr>
              <a:t>   </a:t>
            </a:r>
            <a:r>
              <a:rPr lang="zh-CN" altLang="zh-CN" sz="3200" dirty="0">
                <a:solidFill>
                  <a:schemeClr val="tx2"/>
                </a:solidFill>
                <a:latin typeface="Times New Roman" panose="02020603050405020304" pitchFamily="18" charset="0"/>
                <a:ea typeface="微软雅黑" panose="020B0503020204020204" charset="-122"/>
              </a:rPr>
              <a:t>以实际应用广泛的</a:t>
            </a:r>
            <a:r>
              <a:rPr lang="en-US" altLang="zh-CN" sz="3200" dirty="0">
                <a:solidFill>
                  <a:schemeClr val="tx2"/>
                </a:solidFill>
                <a:latin typeface="Times New Roman" panose="02020603050405020304" pitchFamily="18" charset="0"/>
                <a:ea typeface="微软雅黑" panose="020B0503020204020204" charset="-122"/>
              </a:rPr>
              <a:t>C</a:t>
            </a:r>
            <a:r>
              <a:rPr lang="zh-CN" altLang="zh-CN" sz="3200" dirty="0">
                <a:solidFill>
                  <a:schemeClr val="tx2"/>
                </a:solidFill>
                <a:latin typeface="Times New Roman" panose="02020603050405020304" pitchFamily="18" charset="0"/>
                <a:ea typeface="微软雅黑" panose="020B0503020204020204" charset="-122"/>
              </a:rPr>
              <a:t>语言中的数据类型和现代微机中的数据表示作为实例。</a:t>
            </a:r>
            <a:endParaRPr lang="zh-CN" altLang="en-US" sz="3200" dirty="0">
              <a:solidFill>
                <a:schemeClr val="tx2"/>
              </a:solidFill>
              <a:latin typeface="Times New Roman" panose="02020603050405020304" pitchFamily="18" charset="0"/>
              <a:ea typeface="微软雅黑" panose="020B0503020204020204" charset="-122"/>
            </a:endParaRPr>
          </a:p>
        </p:txBody>
      </p:sp>
      <p:sp>
        <p:nvSpPr>
          <p:cNvPr id="112643" name="灯片编号占位符 5"/>
          <p:cNvSpPr txBox="1">
            <a:spLocks noGrp="1"/>
          </p:cNvSpPr>
          <p:nvPr>
            <p:ph type="sldNum" sz="quarter"/>
          </p:nvPr>
        </p:nvSpPr>
        <p:spPr>
          <a:xfrm>
            <a:off x="7239000" y="6248400"/>
            <a:ext cx="1654175" cy="420688"/>
          </a:xfrm>
          <a:prstGeom prst="rect">
            <a:avLst/>
          </a:prstGeom>
          <a:noFill/>
          <a:ln w="9525">
            <a:noFill/>
          </a:ln>
        </p:spPr>
        <p:txBody>
          <a:bodyPr anchor="t"/>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eaLnBrk="1" hangingPunct="1"/>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5" name="Rectangle 2"/>
          <p:cNvSpPr>
            <a:spLocks noGrp="1"/>
          </p:cNvSpPr>
          <p:nvPr>
            <p:ph type="title"/>
          </p:nvPr>
        </p:nvSpPr>
        <p:spPr>
          <a:xfrm>
            <a:off x="381000" y="381000"/>
            <a:ext cx="8305800" cy="1143000"/>
          </a:xfrm>
          <a:noFill/>
          <a:ln>
            <a:noFill/>
          </a:ln>
        </p:spPr>
        <p:txBody>
          <a:bodyPr anchor="t"/>
          <a:p>
            <a:pPr eaLnBrk="1" hangingPunct="1">
              <a:buNone/>
            </a:pPr>
            <a:r>
              <a:rPr lang="en-US" altLang="zh-CN" sz="3600" dirty="0">
                <a:solidFill>
                  <a:srgbClr val="0000FF"/>
                </a:solidFill>
                <a:latin typeface="微软雅黑" panose="020B0503020204020204" charset="-122"/>
                <a:ea typeface="微软雅黑" panose="020B0503020204020204" charset="-122"/>
              </a:rPr>
              <a:t>C</a:t>
            </a:r>
            <a:r>
              <a:rPr lang="zh-CN" altLang="en-US" sz="3600" dirty="0">
                <a:solidFill>
                  <a:srgbClr val="0000FF"/>
                </a:solidFill>
                <a:latin typeface="微软雅黑" panose="020B0503020204020204" charset="-122"/>
                <a:ea typeface="微软雅黑" panose="020B0503020204020204" charset="-122"/>
              </a:rPr>
              <a:t>语言中的数据表示 </a:t>
            </a:r>
            <a:endParaRPr lang="en-US" altLang="zh-CN" sz="3600" dirty="0">
              <a:solidFill>
                <a:srgbClr val="0000FF"/>
              </a:solidFill>
              <a:latin typeface="微软雅黑" panose="020B0503020204020204" charset="-122"/>
              <a:ea typeface="微软雅黑" panose="020B0503020204020204" charset="-122"/>
            </a:endParaRPr>
          </a:p>
        </p:txBody>
      </p:sp>
      <p:sp>
        <p:nvSpPr>
          <p:cNvPr id="113666" name="Rectangle 3"/>
          <p:cNvSpPr>
            <a:spLocks noGrp="1"/>
          </p:cNvSpPr>
          <p:nvPr>
            <p:ph idx="1"/>
          </p:nvPr>
        </p:nvSpPr>
        <p:spPr>
          <a:xfrm>
            <a:off x="533400" y="1371600"/>
            <a:ext cx="8001000" cy="4721225"/>
          </a:xfrm>
          <a:noFill/>
          <a:ln>
            <a:noFill/>
          </a:ln>
        </p:spPr>
        <p:txBody>
          <a:bodyPr anchor="t"/>
          <a:p>
            <a:pPr eaLnBrk="1" hangingPunct="1">
              <a:spcBef>
                <a:spcPts val="2400"/>
              </a:spcBef>
              <a:buClr>
                <a:schemeClr val="tx2"/>
              </a:buClr>
              <a:buSzPct val="80000"/>
              <a:buChar char="u"/>
            </a:pPr>
            <a:r>
              <a:rPr lang="en-US" altLang="zh-CN" dirty="0">
                <a:solidFill>
                  <a:schemeClr val="tx2"/>
                </a:solidFill>
                <a:latin typeface="微软雅黑" panose="020B0503020204020204" charset="-122"/>
                <a:ea typeface="微软雅黑" panose="020B0503020204020204" charset="-122"/>
              </a:rPr>
              <a:t>C</a:t>
            </a:r>
            <a:r>
              <a:rPr lang="zh-CN" altLang="zh-CN" dirty="0">
                <a:solidFill>
                  <a:schemeClr val="tx2"/>
                </a:solidFill>
                <a:latin typeface="微软雅黑" panose="020B0503020204020204" charset="-122"/>
                <a:ea typeface="微软雅黑" panose="020B0503020204020204" charset="-122"/>
              </a:rPr>
              <a:t>语言的基本数据类型有</a:t>
            </a:r>
            <a:r>
              <a:rPr lang="zh-CN" altLang="zh-CN" dirty="0">
                <a:solidFill>
                  <a:srgbClr val="FF3300"/>
                </a:solidFill>
                <a:latin typeface="微软雅黑" panose="020B0503020204020204" charset="-122"/>
                <a:ea typeface="微软雅黑" panose="020B0503020204020204" charset="-122"/>
              </a:rPr>
              <a:t>整型</a:t>
            </a:r>
            <a:r>
              <a:rPr lang="zh-CN" altLang="zh-CN" dirty="0">
                <a:solidFill>
                  <a:schemeClr val="tx2"/>
                </a:solidFill>
                <a:latin typeface="微软雅黑" panose="020B0503020204020204" charset="-122"/>
                <a:ea typeface="微软雅黑" panose="020B0503020204020204" charset="-122"/>
              </a:rPr>
              <a:t>数据、</a:t>
            </a:r>
            <a:r>
              <a:rPr lang="zh-CN" altLang="zh-CN" dirty="0">
                <a:solidFill>
                  <a:srgbClr val="FF3300"/>
                </a:solidFill>
                <a:latin typeface="微软雅黑" panose="020B0503020204020204" charset="-122"/>
                <a:ea typeface="微软雅黑" panose="020B0503020204020204" charset="-122"/>
              </a:rPr>
              <a:t>实型</a:t>
            </a:r>
            <a:r>
              <a:rPr lang="zh-CN" altLang="zh-CN" dirty="0">
                <a:solidFill>
                  <a:schemeClr val="tx2"/>
                </a:solidFill>
                <a:latin typeface="微软雅黑" panose="020B0503020204020204" charset="-122"/>
                <a:ea typeface="微软雅黑" panose="020B0503020204020204" charset="-122"/>
              </a:rPr>
              <a:t>数据、</a:t>
            </a:r>
            <a:r>
              <a:rPr lang="zh-CN" altLang="zh-CN" dirty="0">
                <a:solidFill>
                  <a:srgbClr val="FF3300"/>
                </a:solidFill>
                <a:latin typeface="微软雅黑" panose="020B0503020204020204" charset="-122"/>
                <a:ea typeface="微软雅黑" panose="020B0503020204020204" charset="-122"/>
              </a:rPr>
              <a:t>字符型</a:t>
            </a:r>
            <a:r>
              <a:rPr lang="zh-CN" altLang="zh-CN" dirty="0">
                <a:solidFill>
                  <a:schemeClr val="tx2"/>
                </a:solidFill>
                <a:latin typeface="微软雅黑" panose="020B0503020204020204" charset="-122"/>
                <a:ea typeface="微软雅黑" panose="020B0503020204020204" charset="-122"/>
              </a:rPr>
              <a:t>数据</a:t>
            </a:r>
            <a:r>
              <a:rPr lang="zh-CN" altLang="en-US" dirty="0">
                <a:solidFill>
                  <a:schemeClr val="tx2"/>
                </a:solidFill>
                <a:latin typeface="微软雅黑" panose="020B0503020204020204" charset="-122"/>
                <a:ea typeface="微软雅黑" panose="020B0503020204020204" charset="-122"/>
              </a:rPr>
              <a:t>等。</a:t>
            </a:r>
            <a:endParaRPr lang="en-US" altLang="zh-CN" dirty="0">
              <a:solidFill>
                <a:schemeClr val="tx2"/>
              </a:solidFill>
              <a:latin typeface="微软雅黑" panose="020B0503020204020204" charset="-122"/>
              <a:ea typeface="微软雅黑" panose="020B0503020204020204" charset="-122"/>
            </a:endParaRPr>
          </a:p>
          <a:p>
            <a:pPr eaLnBrk="1" hangingPunct="1">
              <a:spcBef>
                <a:spcPts val="2400"/>
              </a:spcBef>
              <a:buClr>
                <a:schemeClr val="tx2"/>
              </a:buClr>
              <a:buSzPct val="80000"/>
              <a:buChar char="u"/>
            </a:pPr>
            <a:r>
              <a:rPr lang="en-US" altLang="zh-CN" dirty="0">
                <a:solidFill>
                  <a:schemeClr val="tx2"/>
                </a:solidFill>
                <a:latin typeface="微软雅黑" panose="020B0503020204020204" charset="-122"/>
                <a:ea typeface="微软雅黑" panose="020B0503020204020204" charset="-122"/>
              </a:rPr>
              <a:t>C</a:t>
            </a:r>
            <a:r>
              <a:rPr lang="zh-CN" altLang="zh-CN" dirty="0">
                <a:solidFill>
                  <a:schemeClr val="tx2"/>
                </a:solidFill>
                <a:latin typeface="微软雅黑" panose="020B0503020204020204" charset="-122"/>
                <a:ea typeface="微软雅黑" panose="020B0503020204020204" charset="-122"/>
              </a:rPr>
              <a:t>语言中支持多种整数类型，二进制整数分为无符号整数和带符号整数。</a:t>
            </a:r>
            <a:endParaRPr lang="en-US" altLang="zh-CN" dirty="0">
              <a:solidFill>
                <a:schemeClr val="tx2"/>
              </a:solidFill>
              <a:latin typeface="微软雅黑" panose="020B0503020204020204" charset="-122"/>
              <a:ea typeface="微软雅黑" panose="020B0503020204020204" charset="-122"/>
            </a:endParaRPr>
          </a:p>
          <a:p>
            <a:pPr eaLnBrk="1" hangingPunct="1">
              <a:spcBef>
                <a:spcPts val="2400"/>
              </a:spcBef>
              <a:buClr>
                <a:schemeClr val="tx2"/>
              </a:buClr>
              <a:buSzPct val="80000"/>
              <a:buChar char="u"/>
            </a:pPr>
            <a:r>
              <a:rPr lang="en-US" altLang="zh-CN" dirty="0">
                <a:solidFill>
                  <a:schemeClr val="tx2"/>
                </a:solidFill>
                <a:latin typeface="微软雅黑" panose="020B0503020204020204" charset="-122"/>
                <a:ea typeface="微软雅黑" panose="020B0503020204020204" charset="-122"/>
              </a:rPr>
              <a:t>C</a:t>
            </a:r>
            <a:r>
              <a:rPr lang="zh-CN" altLang="zh-CN" dirty="0">
                <a:solidFill>
                  <a:schemeClr val="tx2"/>
                </a:solidFill>
                <a:latin typeface="微软雅黑" panose="020B0503020204020204" charset="-122"/>
                <a:ea typeface="微软雅黑" panose="020B0503020204020204" charset="-122"/>
              </a:rPr>
              <a:t>语言中有</a:t>
            </a:r>
            <a:r>
              <a:rPr lang="en-US" altLang="zh-CN" dirty="0">
                <a:solidFill>
                  <a:schemeClr val="tx2"/>
                </a:solidFill>
                <a:latin typeface="微软雅黑" panose="020B0503020204020204" charset="-122"/>
                <a:ea typeface="微软雅黑" panose="020B0503020204020204" charset="-122"/>
              </a:rPr>
              <a:t>float</a:t>
            </a:r>
            <a:r>
              <a:rPr lang="zh-CN" altLang="zh-CN" dirty="0">
                <a:solidFill>
                  <a:schemeClr val="tx2"/>
                </a:solidFill>
                <a:latin typeface="微软雅黑" panose="020B0503020204020204" charset="-122"/>
                <a:ea typeface="微软雅黑" panose="020B0503020204020204" charset="-122"/>
              </a:rPr>
              <a:t>和</a:t>
            </a:r>
            <a:r>
              <a:rPr lang="en-US" altLang="zh-CN" dirty="0">
                <a:solidFill>
                  <a:schemeClr val="tx2"/>
                </a:solidFill>
                <a:latin typeface="微软雅黑" panose="020B0503020204020204" charset="-122"/>
                <a:ea typeface="微软雅黑" panose="020B0503020204020204" charset="-122"/>
              </a:rPr>
              <a:t>double</a:t>
            </a:r>
            <a:r>
              <a:rPr lang="zh-CN" altLang="zh-CN" dirty="0">
                <a:solidFill>
                  <a:schemeClr val="tx2"/>
                </a:solidFill>
                <a:latin typeface="微软雅黑" panose="020B0503020204020204" charset="-122"/>
                <a:ea typeface="微软雅黑" panose="020B0503020204020204" charset="-122"/>
              </a:rPr>
              <a:t>两种不同浮点数类型，分别对应</a:t>
            </a:r>
            <a:r>
              <a:rPr lang="en-US" altLang="zh-CN" dirty="0">
                <a:solidFill>
                  <a:schemeClr val="tx2"/>
                </a:solidFill>
                <a:latin typeface="微软雅黑" panose="020B0503020204020204" charset="-122"/>
                <a:ea typeface="微软雅黑" panose="020B0503020204020204" charset="-122"/>
              </a:rPr>
              <a:t>IEEE 754</a:t>
            </a:r>
            <a:r>
              <a:rPr lang="zh-CN" altLang="zh-CN" dirty="0">
                <a:solidFill>
                  <a:schemeClr val="tx2"/>
                </a:solidFill>
                <a:latin typeface="微软雅黑" panose="020B0503020204020204" charset="-122"/>
                <a:ea typeface="微软雅黑" panose="020B0503020204020204" charset="-122"/>
              </a:rPr>
              <a:t>单精度浮点数格式（</a:t>
            </a:r>
            <a:r>
              <a:rPr lang="en-US" altLang="zh-CN" dirty="0">
                <a:solidFill>
                  <a:schemeClr val="tx2"/>
                </a:solidFill>
                <a:latin typeface="微软雅黑" panose="020B0503020204020204" charset="-122"/>
                <a:ea typeface="微软雅黑" panose="020B0503020204020204" charset="-122"/>
              </a:rPr>
              <a:t>32</a:t>
            </a:r>
            <a:r>
              <a:rPr lang="zh-CN" altLang="zh-CN" dirty="0">
                <a:solidFill>
                  <a:schemeClr val="tx2"/>
                </a:solidFill>
                <a:latin typeface="微软雅黑" panose="020B0503020204020204" charset="-122"/>
                <a:ea typeface="微软雅黑" panose="020B0503020204020204" charset="-122"/>
              </a:rPr>
              <a:t>位）和双精度浮点数格式（</a:t>
            </a:r>
            <a:r>
              <a:rPr lang="en-US" altLang="zh-CN" dirty="0">
                <a:solidFill>
                  <a:schemeClr val="tx2"/>
                </a:solidFill>
                <a:latin typeface="微软雅黑" panose="020B0503020204020204" charset="-122"/>
                <a:ea typeface="微软雅黑" panose="020B0503020204020204" charset="-122"/>
              </a:rPr>
              <a:t>64</a:t>
            </a:r>
            <a:r>
              <a:rPr lang="zh-CN" altLang="zh-CN" dirty="0">
                <a:solidFill>
                  <a:schemeClr val="tx2"/>
                </a:solidFill>
                <a:latin typeface="微软雅黑" panose="020B0503020204020204" charset="-122"/>
                <a:ea typeface="微软雅黑" panose="020B0503020204020204" charset="-122"/>
              </a:rPr>
              <a:t>位）</a:t>
            </a:r>
            <a:r>
              <a:rPr lang="zh-CN" altLang="en-US" dirty="0">
                <a:solidFill>
                  <a:schemeClr val="tx2"/>
                </a:solidFill>
                <a:latin typeface="微软雅黑" panose="020B0503020204020204" charset="-122"/>
                <a:ea typeface="微软雅黑" panose="020B0503020204020204" charset="-122"/>
              </a:rPr>
              <a:t>。</a:t>
            </a:r>
            <a:endParaRPr lang="zh-CN" altLang="en-US" dirty="0">
              <a:solidFill>
                <a:schemeClr val="tx2"/>
              </a:solidFill>
              <a:latin typeface="微软雅黑" panose="020B0503020204020204" charset="-122"/>
              <a:ea typeface="微软雅黑" panose="020B0503020204020204" charset="-122"/>
            </a:endParaRPr>
          </a:p>
        </p:txBody>
      </p:sp>
      <p:sp>
        <p:nvSpPr>
          <p:cNvPr id="113667" name="灯片编号占位符 5"/>
          <p:cNvSpPr txBox="1">
            <a:spLocks noGrp="1"/>
          </p:cNvSpPr>
          <p:nvPr>
            <p:ph type="sldNum" sz="quarter"/>
          </p:nvPr>
        </p:nvSpPr>
        <p:spPr>
          <a:xfrm>
            <a:off x="7239000" y="6248400"/>
            <a:ext cx="1581150" cy="493713"/>
          </a:xfrm>
          <a:prstGeom prst="rect">
            <a:avLst/>
          </a:prstGeom>
          <a:noFill/>
          <a:ln w="9525">
            <a:noFill/>
          </a:ln>
        </p:spPr>
        <p:txBody>
          <a:bodyPr anchor="t"/>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eaLnBrk="1" hangingPunct="1"/>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14689" name="Object 3"/>
          <p:cNvGraphicFramePr>
            <a:graphicFrameLocks noChangeAspect="1"/>
          </p:cNvGraphicFramePr>
          <p:nvPr/>
        </p:nvGraphicFramePr>
        <p:xfrm>
          <a:off x="228600" y="1843088"/>
          <a:ext cx="8610600" cy="4152900"/>
        </p:xfrm>
        <a:graphic>
          <a:graphicData uri="http://schemas.openxmlformats.org/presentationml/2006/ole">
            <mc:AlternateContent xmlns:mc="http://schemas.openxmlformats.org/markup-compatibility/2006">
              <mc:Choice xmlns:v="urn:schemas-microsoft-com:vml" Requires="v">
                <p:oleObj spid="_x0000_s3078" name="" r:id="rId1" imgW="4229100" imgH="2042160" progId="Visio.Drawing.11">
                  <p:embed/>
                </p:oleObj>
              </mc:Choice>
              <mc:Fallback>
                <p:oleObj name="" r:id="rId1" imgW="4229100" imgH="2042160" progId="Visio.Drawing.11">
                  <p:embed/>
                  <p:pic>
                    <p:nvPicPr>
                      <p:cNvPr id="0" name="图片 3077"/>
                      <p:cNvPicPr/>
                      <p:nvPr/>
                    </p:nvPicPr>
                    <p:blipFill>
                      <a:blip r:embed="rId2"/>
                      <a:stretch>
                        <a:fillRect/>
                      </a:stretch>
                    </p:blipFill>
                    <p:spPr>
                      <a:xfrm>
                        <a:off x="228600" y="1843088"/>
                        <a:ext cx="8610600" cy="4152900"/>
                      </a:xfrm>
                      <a:prstGeom prst="rect">
                        <a:avLst/>
                      </a:prstGeom>
                      <a:noFill/>
                      <a:ln w="38100">
                        <a:noFill/>
                        <a:miter/>
                      </a:ln>
                    </p:spPr>
                  </p:pic>
                </p:oleObj>
              </mc:Fallback>
            </mc:AlternateContent>
          </a:graphicData>
        </a:graphic>
      </p:graphicFrame>
      <p:sp>
        <p:nvSpPr>
          <p:cNvPr id="114690" name="Rectangle 2"/>
          <p:cNvSpPr>
            <a:spLocks noGrp="1"/>
          </p:cNvSpPr>
          <p:nvPr>
            <p:ph type="title"/>
          </p:nvPr>
        </p:nvSpPr>
        <p:spPr>
          <a:xfrm>
            <a:off x="381000" y="381000"/>
            <a:ext cx="8305800" cy="1143000"/>
          </a:xfrm>
          <a:noFill/>
          <a:ln>
            <a:noFill/>
          </a:ln>
        </p:spPr>
        <p:txBody>
          <a:bodyPr anchor="t"/>
          <a:p>
            <a:pPr eaLnBrk="1" hangingPunct="1">
              <a:buNone/>
            </a:pPr>
            <a:r>
              <a:rPr lang="zh-CN" altLang="en-US" sz="3600" dirty="0">
                <a:solidFill>
                  <a:srgbClr val="0000FF"/>
                </a:solidFill>
                <a:latin typeface="微软雅黑" panose="020B0503020204020204" charset="-122"/>
                <a:ea typeface="微软雅黑" panose="020B0503020204020204" charset="-122"/>
              </a:rPr>
              <a:t>现代微机系统中的数据表示举例 </a:t>
            </a:r>
            <a:endParaRPr lang="en-US" altLang="zh-CN" sz="3600" dirty="0">
              <a:solidFill>
                <a:srgbClr val="0000FF"/>
              </a:solidFill>
              <a:latin typeface="微软雅黑" panose="020B0503020204020204" charset="-122"/>
              <a:ea typeface="微软雅黑" panose="020B0503020204020204" charset="-122"/>
            </a:endParaRPr>
          </a:p>
        </p:txBody>
      </p:sp>
      <p:sp>
        <p:nvSpPr>
          <p:cNvPr id="114691" name="Rectangle 3"/>
          <p:cNvSpPr>
            <a:spLocks noGrp="1"/>
          </p:cNvSpPr>
          <p:nvPr>
            <p:ph idx="1"/>
          </p:nvPr>
        </p:nvSpPr>
        <p:spPr>
          <a:xfrm>
            <a:off x="195263" y="1258888"/>
            <a:ext cx="7043737" cy="1419225"/>
          </a:xfrm>
          <a:noFill/>
          <a:ln>
            <a:noFill/>
          </a:ln>
        </p:spPr>
        <p:txBody>
          <a:bodyPr anchor="t"/>
          <a:p>
            <a:pPr marL="0" indent="0" algn="just" eaLnBrk="1" hangingPunct="1">
              <a:buFontTx/>
              <a:buNone/>
            </a:pPr>
            <a:r>
              <a:rPr lang="zh-CN" altLang="en-US" dirty="0">
                <a:latin typeface="Times New Roman" panose="02020603050405020304" pitchFamily="18" charset="0"/>
                <a:ea typeface="微软雅黑" panose="020B0503020204020204" charset="-122"/>
              </a:rPr>
              <a:t>    </a:t>
            </a:r>
            <a:r>
              <a:rPr lang="zh-CN" altLang="en-US" dirty="0">
                <a:solidFill>
                  <a:schemeClr val="tx2"/>
                </a:solidFill>
                <a:latin typeface="Times New Roman" panose="02020603050405020304" pitchFamily="18" charset="0"/>
                <a:ea typeface="微软雅黑" panose="020B0503020204020204" charset="-122"/>
              </a:rPr>
              <a:t>现代的微机系统大多采用</a:t>
            </a:r>
            <a:r>
              <a:rPr lang="en-US" altLang="zh-CN" dirty="0">
                <a:solidFill>
                  <a:schemeClr val="tx2"/>
                </a:solidFill>
                <a:latin typeface="Times New Roman" panose="02020603050405020304" pitchFamily="18" charset="0"/>
                <a:ea typeface="微软雅黑" panose="020B0503020204020204" charset="-122"/>
              </a:rPr>
              <a:t>Intel</a:t>
            </a:r>
            <a:r>
              <a:rPr lang="zh-CN" altLang="en-US" dirty="0">
                <a:solidFill>
                  <a:schemeClr val="tx2"/>
                </a:solidFill>
                <a:latin typeface="Times New Roman" panose="02020603050405020304" pitchFamily="18" charset="0"/>
                <a:ea typeface="微软雅黑" panose="020B0503020204020204" charset="-122"/>
              </a:rPr>
              <a:t>系列的微处理器，</a:t>
            </a:r>
            <a:r>
              <a:rPr lang="en-US" altLang="zh-CN" dirty="0">
                <a:solidFill>
                  <a:schemeClr val="tx2"/>
                </a:solidFill>
                <a:latin typeface="Times New Roman" panose="02020603050405020304" pitchFamily="18" charset="0"/>
                <a:ea typeface="微软雅黑" panose="020B0503020204020204" charset="-122"/>
              </a:rPr>
              <a:t>IA-32</a:t>
            </a:r>
            <a:r>
              <a:rPr lang="zh-CN" altLang="en-US" dirty="0">
                <a:solidFill>
                  <a:schemeClr val="tx2"/>
                </a:solidFill>
                <a:latin typeface="Times New Roman" panose="02020603050405020304" pitchFamily="18" charset="0"/>
                <a:ea typeface="微软雅黑" panose="020B0503020204020204" charset="-122"/>
              </a:rPr>
              <a:t>结构的基本数据类型</a:t>
            </a:r>
            <a:r>
              <a:rPr lang="zh-CN" altLang="en-US" dirty="0">
                <a:solidFill>
                  <a:schemeClr val="tx2"/>
                </a:solidFill>
                <a:latin typeface="Times New Roman" panose="02020603050405020304" pitchFamily="18" charset="0"/>
                <a:ea typeface="微软雅黑" panose="020B0503020204020204" charset="-122"/>
              </a:rPr>
              <a:t>长度</a:t>
            </a:r>
            <a:r>
              <a:rPr lang="zh-CN" altLang="en-US" dirty="0">
                <a:solidFill>
                  <a:srgbClr val="FF0000"/>
                </a:solidFill>
                <a:latin typeface="Times New Roman" panose="02020603050405020304" pitchFamily="18" charset="0"/>
                <a:ea typeface="微软雅黑" panose="020B0503020204020204" charset="-122"/>
              </a:rPr>
              <a:t>字节、字、双字</a:t>
            </a:r>
            <a:r>
              <a:rPr lang="en-US" altLang="zh-CN" dirty="0">
                <a:solidFill>
                  <a:srgbClr val="FF0000"/>
                </a:solidFill>
                <a:latin typeface="Times New Roman" panose="02020603050405020304" pitchFamily="18" charset="0"/>
                <a:ea typeface="微软雅黑" panose="020B0503020204020204" charset="-122"/>
              </a:rPr>
              <a:t>、</a:t>
            </a:r>
            <a:r>
              <a:rPr lang="zh-CN" altLang="en-US" dirty="0">
                <a:solidFill>
                  <a:srgbClr val="FF0000"/>
                </a:solidFill>
                <a:latin typeface="Times New Roman" panose="02020603050405020304" pitchFamily="18" charset="0"/>
                <a:ea typeface="微软雅黑" panose="020B0503020204020204" charset="-122"/>
              </a:rPr>
              <a:t>四字和双四字</a:t>
            </a:r>
            <a:r>
              <a:rPr lang="zh-CN" altLang="en-US" dirty="0">
                <a:latin typeface="Times New Roman" panose="02020603050405020304" pitchFamily="18" charset="0"/>
                <a:ea typeface="微软雅黑" panose="020B0503020204020204" charset="-122"/>
              </a:rPr>
              <a:t>。 </a:t>
            </a:r>
            <a:endParaRPr lang="zh-CN" altLang="en-US" dirty="0">
              <a:latin typeface="Times New Roman" panose="02020603050405020304" pitchFamily="18" charset="0"/>
              <a:ea typeface="微软雅黑" panose="020B0503020204020204" charset="-122"/>
            </a:endParaRPr>
          </a:p>
        </p:txBody>
      </p:sp>
      <p:sp>
        <p:nvSpPr>
          <p:cNvPr id="114692" name="灯片编号占位符 5"/>
          <p:cNvSpPr txBox="1">
            <a:spLocks noGrp="1"/>
          </p:cNvSpPr>
          <p:nvPr>
            <p:ph type="sldNum" sz="quarter"/>
          </p:nvPr>
        </p:nvSpPr>
        <p:spPr>
          <a:xfrm>
            <a:off x="7239000" y="6248400"/>
            <a:ext cx="1581150" cy="571500"/>
          </a:xfrm>
          <a:prstGeom prst="rect">
            <a:avLst/>
          </a:prstGeom>
          <a:noFill/>
          <a:ln w="9525">
            <a:noFill/>
          </a:ln>
        </p:spPr>
        <p:txBody>
          <a:bodyPr anchor="t"/>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eaLnBrk="1" hangingPunct="1"/>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6" name="Rectangle 6"/>
          <p:cNvSpPr txBox="1">
            <a:spLocks noChangeArrowheads="1"/>
          </p:cNvSpPr>
          <p:nvPr/>
        </p:nvSpPr>
        <p:spPr bwMode="auto">
          <a:xfrm>
            <a:off x="647700" y="5940425"/>
            <a:ext cx="77724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100000"/>
              </a:lnSpc>
              <a:spcBef>
                <a:spcPct val="20000"/>
              </a:spcBef>
              <a:spcAft>
                <a:spcPct val="0"/>
              </a:spcAft>
              <a:buClr>
                <a:schemeClr val="hlink"/>
              </a:buClr>
              <a:buSzTx/>
              <a:buFontTx/>
              <a:buNone/>
              <a:defRPr/>
            </a:pP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图2-9  </a:t>
            </a:r>
            <a:r>
              <a:rPr kumimoji="0" lang="en-US" altLang="zh-CN"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IA-32</a:t>
            </a:r>
            <a:r>
              <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结构的基本数据类型</a:t>
            </a:r>
            <a:endParaRPr kumimoji="0" lang="zh-CN" altLang="en-US" sz="24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p:txBody>
      </p:sp>
      <p:sp>
        <p:nvSpPr>
          <p:cNvPr id="7" name="Rectangle 3"/>
          <p:cNvSpPr txBox="1">
            <a:spLocks noChangeArrowheads="1"/>
          </p:cNvSpPr>
          <p:nvPr/>
        </p:nvSpPr>
        <p:spPr bwMode="auto">
          <a:xfrm>
            <a:off x="381000" y="2708275"/>
            <a:ext cx="3903663" cy="22336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742950" marR="0" lvl="1" indent="-34290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l"/>
              <a:defRPr/>
            </a:pPr>
            <a:r>
              <a:rPr kumimoji="0" lang="zh-CN" altLang="en-US" sz="2000" b="1" i="0"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Times New Roman" panose="02020603050405020304" pitchFamily="18" charset="0"/>
              </a:rPr>
              <a:t>无符号整数；</a:t>
            </a:r>
            <a:endParaRPr kumimoji="0" lang="en-US" altLang="zh-CN" sz="2000" b="1" i="0"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Times New Roman" panose="02020603050405020304" pitchFamily="18" charset="0"/>
            </a:endParaRPr>
          </a:p>
          <a:p>
            <a:pPr marL="742950" marR="0" lvl="1" indent="-34290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l"/>
              <a:defRPr/>
            </a:pPr>
            <a:r>
              <a:rPr kumimoji="0" lang="zh-CN" altLang="en-US" sz="2000" b="1" i="0"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Times New Roman" panose="02020603050405020304" pitchFamily="18" charset="0"/>
              </a:rPr>
              <a:t>带符号整数；</a:t>
            </a:r>
            <a:endParaRPr kumimoji="0" lang="en-US" altLang="zh-CN" sz="2000" b="1" i="0"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Times New Roman" panose="02020603050405020304" pitchFamily="18" charset="0"/>
            </a:endParaRPr>
          </a:p>
          <a:p>
            <a:pPr marL="742950" marR="0" lvl="1" indent="-34290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l"/>
              <a:defRPr/>
            </a:pPr>
            <a:r>
              <a:rPr kumimoji="0" lang="zh-CN" altLang="en-US" sz="2000" b="1" i="0"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Times New Roman" panose="02020603050405020304" pitchFamily="18" charset="0"/>
              </a:rPr>
              <a:t>浮点数；</a:t>
            </a:r>
            <a:endParaRPr kumimoji="0" lang="en-US" altLang="zh-CN" sz="2000" b="1" i="0"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Times New Roman" panose="02020603050405020304" pitchFamily="18" charset="0"/>
            </a:endParaRPr>
          </a:p>
          <a:p>
            <a:pPr marL="742950" marR="0" lvl="1" indent="-34290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l"/>
              <a:defRPr/>
            </a:pPr>
            <a:r>
              <a:rPr kumimoji="0" lang="zh-CN" altLang="en-US" sz="2000" b="1" i="0"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Times New Roman" panose="02020603050405020304" pitchFamily="18" charset="0"/>
              </a:rPr>
              <a:t>指针数据；</a:t>
            </a:r>
            <a:endParaRPr kumimoji="0" lang="en-US" altLang="zh-CN" sz="2000" b="1" i="0"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Times New Roman" panose="02020603050405020304" pitchFamily="18" charset="0"/>
            </a:endParaRPr>
          </a:p>
          <a:p>
            <a:pPr marL="742950" marR="0" lvl="1" indent="-34290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l"/>
              <a:defRPr/>
            </a:pPr>
            <a:r>
              <a:rPr kumimoji="0" lang="zh-CN" altLang="en-US" sz="2000" b="1" i="0"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Times New Roman" panose="02020603050405020304" pitchFamily="18" charset="0"/>
              </a:rPr>
              <a:t>串数据；</a:t>
            </a:r>
            <a:endParaRPr kumimoji="0" lang="en-US" altLang="zh-CN" sz="2000" b="1" i="0"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Times New Roman" panose="02020603050405020304" pitchFamily="18" charset="0"/>
            </a:endParaRPr>
          </a:p>
          <a:p>
            <a:pPr marL="742950" marR="0" lvl="1" indent="-34290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l"/>
              <a:defRPr/>
            </a:pPr>
            <a:r>
              <a:rPr kumimoji="0" lang="en-US" altLang="zh-CN" sz="2000" b="1" i="0"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Times New Roman" panose="02020603050405020304" pitchFamily="18" charset="0"/>
              </a:rPr>
              <a:t>BCD</a:t>
            </a:r>
            <a:r>
              <a:rPr kumimoji="0" lang="zh-CN" altLang="en-US" sz="2000" b="1" i="0"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Times New Roman" panose="02020603050405020304" pitchFamily="18" charset="0"/>
              </a:rPr>
              <a:t>数</a:t>
            </a:r>
            <a:endParaRPr kumimoji="0" lang="en-US" altLang="zh-CN" sz="2000" b="1" i="0" u="none" strike="noStrike" kern="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just" defTabSz="914400" rtl="0" eaLnBrk="1" fontAlgn="base" latinLnBrk="0" hangingPunct="1">
              <a:lnSpc>
                <a:spcPct val="100000"/>
              </a:lnSpc>
              <a:spcBef>
                <a:spcPct val="20000"/>
              </a:spcBef>
              <a:spcAft>
                <a:spcPct val="0"/>
              </a:spcAft>
              <a:buClr>
                <a:schemeClr val="hlink"/>
              </a:buClr>
              <a:buSzTx/>
              <a:buFontTx/>
              <a:buNone/>
              <a:defRPr/>
            </a:pPr>
            <a:endParaRPr kumimoji="0" lang="zh-CN" altLang="en-US" sz="2400" b="1" i="0" u="none" strike="noStrike" kern="0" cap="none" spc="0" normalizeH="0" baseline="0" noProof="0" dirty="0">
              <a:ln>
                <a:noFill/>
              </a:ln>
              <a:solidFill>
                <a:schemeClr val="hlink"/>
              </a:solidFill>
              <a:effectLst/>
              <a:uLnTx/>
              <a:uFillTx/>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3" name="Rectangle 2"/>
          <p:cNvSpPr>
            <a:spLocks noGrp="1"/>
          </p:cNvSpPr>
          <p:nvPr>
            <p:ph type="title"/>
          </p:nvPr>
        </p:nvSpPr>
        <p:spPr>
          <a:xfrm>
            <a:off x="457200" y="381000"/>
            <a:ext cx="8001000" cy="1143000"/>
          </a:xfrm>
          <a:noFill/>
          <a:ln>
            <a:noFill/>
          </a:ln>
        </p:spPr>
        <p:txBody>
          <a:bodyPr anchor="t"/>
          <a:p>
            <a:pPr eaLnBrk="1" hangingPunct="1">
              <a:buNone/>
            </a:pPr>
            <a:r>
              <a:rPr lang="zh-CN" altLang="en-US" sz="4000" dirty="0">
                <a:solidFill>
                  <a:srgbClr val="0000FF"/>
                </a:solidFill>
                <a:latin typeface="微软雅黑" panose="020B0503020204020204" charset="-122"/>
                <a:ea typeface="微软雅黑" panose="020B0503020204020204" charset="-122"/>
              </a:rPr>
              <a:t>2.6  数据校验码 </a:t>
            </a:r>
            <a:endParaRPr lang="en-US" altLang="zh-CN" sz="4000" dirty="0">
              <a:solidFill>
                <a:srgbClr val="0000FF"/>
              </a:solidFill>
              <a:latin typeface="微软雅黑" panose="020B0503020204020204" charset="-122"/>
              <a:ea typeface="微软雅黑" panose="020B0503020204020204" charset="-122"/>
            </a:endParaRPr>
          </a:p>
        </p:txBody>
      </p:sp>
      <p:sp>
        <p:nvSpPr>
          <p:cNvPr id="115714" name="Rectangle 3"/>
          <p:cNvSpPr>
            <a:spLocks noGrp="1"/>
          </p:cNvSpPr>
          <p:nvPr>
            <p:ph idx="1"/>
          </p:nvPr>
        </p:nvSpPr>
        <p:spPr>
          <a:xfrm>
            <a:off x="609600" y="1236980"/>
            <a:ext cx="8001000" cy="3393440"/>
          </a:xfrm>
          <a:noFill/>
          <a:ln>
            <a:noFill/>
          </a:ln>
        </p:spPr>
        <p:txBody>
          <a:bodyPr anchor="t"/>
          <a:p>
            <a:pPr algn="just" eaLnBrk="1" hangingPunct="1">
              <a:spcBef>
                <a:spcPts val="1200"/>
              </a:spcBef>
              <a:buClr>
                <a:schemeClr val="tx2"/>
              </a:buClr>
              <a:buSzPct val="80000"/>
              <a:buChar char="u"/>
            </a:pPr>
            <a:r>
              <a:rPr lang="zh-CN" altLang="en-US" sz="2400" dirty="0">
                <a:solidFill>
                  <a:schemeClr val="tx2"/>
                </a:solidFill>
                <a:latin typeface="微软雅黑" panose="020B0503020204020204" charset="-122"/>
                <a:ea typeface="微软雅黑" panose="020B0503020204020204" charset="-122"/>
                <a:sym typeface="+mn-ea"/>
              </a:rPr>
              <a:t>检错纠错编码：</a:t>
            </a:r>
            <a:r>
              <a:rPr lang="zh-CN" altLang="en-US" sz="2400" dirty="0">
                <a:solidFill>
                  <a:schemeClr val="tx2"/>
                </a:solidFill>
                <a:latin typeface="微软雅黑" panose="020B0503020204020204" charset="-122"/>
                <a:ea typeface="微软雅黑" panose="020B0503020204020204" charset="-122"/>
              </a:rPr>
              <a:t>能够</a:t>
            </a:r>
            <a:r>
              <a:rPr lang="zh-CN" altLang="en-US" sz="2400" dirty="0">
                <a:solidFill>
                  <a:srgbClr val="FF0000"/>
                </a:solidFill>
                <a:latin typeface="微软雅黑" panose="020B0503020204020204" charset="-122"/>
                <a:ea typeface="微软雅黑" panose="020B0503020204020204" charset="-122"/>
              </a:rPr>
              <a:t>发现错误</a:t>
            </a:r>
            <a:r>
              <a:rPr lang="zh-CN" altLang="en-US" sz="2400" dirty="0">
                <a:solidFill>
                  <a:schemeClr val="tx2"/>
                </a:solidFill>
                <a:latin typeface="微软雅黑" panose="020B0503020204020204" charset="-122"/>
                <a:ea typeface="微软雅黑" panose="020B0503020204020204" charset="-122"/>
              </a:rPr>
              <a:t>或能够</a:t>
            </a:r>
            <a:r>
              <a:rPr lang="zh-CN" altLang="en-US" sz="2400" dirty="0">
                <a:solidFill>
                  <a:srgbClr val="FF0000"/>
                </a:solidFill>
                <a:latin typeface="微软雅黑" panose="020B0503020204020204" charset="-122"/>
                <a:ea typeface="微软雅黑" panose="020B0503020204020204" charset="-122"/>
              </a:rPr>
              <a:t>自动纠正错误</a:t>
            </a:r>
            <a:r>
              <a:rPr lang="zh-CN" altLang="en-US" sz="2400" dirty="0">
                <a:solidFill>
                  <a:schemeClr val="tx2"/>
                </a:solidFill>
                <a:latin typeface="微软雅黑" panose="020B0503020204020204" charset="-122"/>
                <a:ea typeface="微软雅黑" panose="020B0503020204020204" charset="-122"/>
              </a:rPr>
              <a:t>的数据编码。</a:t>
            </a:r>
            <a:endParaRPr lang="en-US" altLang="zh-CN" sz="2400" dirty="0">
              <a:solidFill>
                <a:schemeClr val="tx2"/>
              </a:solidFill>
              <a:latin typeface="微软雅黑" panose="020B0503020204020204" charset="-122"/>
              <a:ea typeface="微软雅黑" panose="020B0503020204020204" charset="-122"/>
            </a:endParaRPr>
          </a:p>
          <a:p>
            <a:pPr algn="just" eaLnBrk="1" hangingPunct="1">
              <a:spcBef>
                <a:spcPts val="1200"/>
              </a:spcBef>
              <a:buClr>
                <a:schemeClr val="tx2"/>
              </a:buClr>
              <a:buSzPct val="80000"/>
              <a:buChar char="u"/>
            </a:pPr>
            <a:r>
              <a:rPr lang="zh-CN" altLang="en-US" sz="2400" dirty="0">
                <a:solidFill>
                  <a:schemeClr val="tx2"/>
                </a:solidFill>
                <a:latin typeface="微软雅黑" panose="020B0503020204020204" charset="-122"/>
                <a:ea typeface="微软雅黑" panose="020B0503020204020204" charset="-122"/>
              </a:rPr>
              <a:t>任何一种编码都由许多码字构成，任意两个码字之间最少变化的二进制位数，被称为</a:t>
            </a:r>
            <a:r>
              <a:rPr lang="zh-CN" altLang="en-US" sz="2400" dirty="0">
                <a:solidFill>
                  <a:srgbClr val="FF3300"/>
                </a:solidFill>
                <a:latin typeface="微软雅黑" panose="020B0503020204020204" charset="-122"/>
                <a:ea typeface="微软雅黑" panose="020B0503020204020204" charset="-122"/>
              </a:rPr>
              <a:t>码距</a:t>
            </a:r>
            <a:r>
              <a:rPr lang="zh-CN" altLang="en-US" sz="2400" dirty="0">
                <a:solidFill>
                  <a:schemeClr val="tx2"/>
                </a:solidFill>
                <a:latin typeface="微软雅黑" panose="020B0503020204020204" charset="-122"/>
                <a:ea typeface="微软雅黑" panose="020B0503020204020204" charset="-122"/>
              </a:rPr>
              <a:t>。</a:t>
            </a:r>
            <a:endParaRPr lang="en-US" altLang="zh-CN" sz="2400" dirty="0">
              <a:solidFill>
                <a:schemeClr val="tx2"/>
              </a:solidFill>
              <a:latin typeface="微软雅黑" panose="020B0503020204020204" charset="-122"/>
              <a:ea typeface="微软雅黑" panose="020B0503020204020204" charset="-122"/>
            </a:endParaRPr>
          </a:p>
          <a:p>
            <a:pPr lvl="1" algn="just" eaLnBrk="1" hangingPunct="1">
              <a:lnSpc>
                <a:spcPct val="90000"/>
              </a:lnSpc>
              <a:spcBef>
                <a:spcPts val="1200"/>
              </a:spcBef>
              <a:buChar char="Ø"/>
            </a:pPr>
            <a:r>
              <a:rPr lang="zh-CN" altLang="en-US" sz="1800" b="1" dirty="0">
                <a:solidFill>
                  <a:schemeClr val="accent1"/>
                </a:solidFill>
                <a:latin typeface="微软雅黑" panose="020B0503020204020204" charset="-122"/>
                <a:ea typeface="微软雅黑" panose="020B0503020204020204" charset="-122"/>
              </a:rPr>
              <a:t>例如，用四位二进制表示16种状态，则有16个不同的码字，此时码距为1，即两个码字之间最少仅有一个二进制位不同（如0000与0001之间）。这种编码没有检错能力，因为当某一个合法码字中有一位或几位出错，就变成为另一个合法码字了。</a:t>
            </a:r>
            <a:endParaRPr lang="zh-CN" altLang="en-US" sz="1800" b="1" dirty="0">
              <a:solidFill>
                <a:schemeClr val="accent1"/>
              </a:solidFill>
              <a:latin typeface="微软雅黑" panose="020B0503020204020204" charset="-122"/>
              <a:ea typeface="微软雅黑" panose="020B0503020204020204" charset="-122"/>
            </a:endParaRPr>
          </a:p>
          <a:p>
            <a:pPr lvl="1" algn="just" eaLnBrk="1" hangingPunct="1">
              <a:lnSpc>
                <a:spcPct val="90000"/>
              </a:lnSpc>
              <a:spcBef>
                <a:spcPts val="1200"/>
              </a:spcBef>
              <a:buChar char="Ø"/>
            </a:pPr>
            <a:r>
              <a:rPr lang="zh-CN" altLang="en-US" sz="1800" b="1" dirty="0">
                <a:solidFill>
                  <a:schemeClr val="accent1"/>
                </a:solidFill>
                <a:latin typeface="微软雅黑" panose="020B0503020204020204" charset="-122"/>
                <a:ea typeface="微软雅黑" panose="020B0503020204020204" charset="-122"/>
              </a:rPr>
              <a:t>校验码的原理：加入非法码字，合理安排非法码字的数量和编码</a:t>
            </a:r>
            <a:r>
              <a:rPr lang="zh-CN" altLang="en-US" sz="1800" b="1" dirty="0">
                <a:solidFill>
                  <a:schemeClr val="accent1"/>
                </a:solidFill>
                <a:latin typeface="微软雅黑" panose="020B0503020204020204" charset="-122"/>
                <a:ea typeface="微软雅黑" panose="020B0503020204020204" charset="-122"/>
              </a:rPr>
              <a:t>规则。</a:t>
            </a:r>
            <a:endParaRPr lang="zh-CN" altLang="en-US" sz="1800" b="1" dirty="0">
              <a:solidFill>
                <a:schemeClr val="accent1"/>
              </a:solidFill>
              <a:latin typeface="微软雅黑" panose="020B0503020204020204" charset="-122"/>
              <a:ea typeface="微软雅黑" panose="020B0503020204020204" charset="-122"/>
            </a:endParaRPr>
          </a:p>
        </p:txBody>
      </p:sp>
      <p:sp>
        <p:nvSpPr>
          <p:cNvPr id="115715" name="灯片编号占位符 5"/>
          <p:cNvSpPr txBox="1">
            <a:spLocks noGrp="1"/>
          </p:cNvSpPr>
          <p:nvPr>
            <p:ph type="sldNum" sz="quarter"/>
          </p:nvPr>
        </p:nvSpPr>
        <p:spPr>
          <a:xfrm>
            <a:off x="7239000" y="6248400"/>
            <a:ext cx="1654175" cy="609600"/>
          </a:xfrm>
          <a:prstGeom prst="rect">
            <a:avLst/>
          </a:prstGeom>
          <a:noFill/>
          <a:ln w="9525">
            <a:noFill/>
          </a:ln>
        </p:spPr>
        <p:txBody>
          <a:bodyPr anchor="t"/>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eaLnBrk="1" hangingPunct="1"/>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609600" y="4789170"/>
            <a:ext cx="8001000" cy="145923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just" defTabSz="914400" rtl="0" eaLnBrk="1" fontAlgn="base" latinLnBrk="0" hangingPunct="1">
              <a:lnSpc>
                <a:spcPct val="90000"/>
              </a:lnSpc>
              <a:spcBef>
                <a:spcPts val="1200"/>
              </a:spcBef>
              <a:spcAft>
                <a:spcPct val="0"/>
              </a:spcAft>
              <a:buClr>
                <a:schemeClr val="tx2"/>
              </a:buClr>
              <a:buSzPct val="80000"/>
              <a:buFont typeface="Wingdings" panose="05000000000000000000" pitchFamily="2" charset="2"/>
              <a:buChar char="u"/>
              <a:defRPr/>
            </a:pPr>
            <a:r>
              <a:rPr kumimoji="0" lang="zh-CN" altLang="en-US" sz="24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rPr>
              <a:t>常用方法： </a:t>
            </a:r>
            <a:endParaRPr kumimoji="0" lang="zh-CN" altLang="en-US" sz="24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Times New Roman" panose="02020603050405020304" pitchFamily="18" charset="0"/>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Ø"/>
              <a:defRPr/>
            </a:pPr>
            <a:r>
              <a:rPr kumimoji="0" lang="zh-CN" altLang="en-US" sz="2000" b="1" i="0" u="none" strike="noStrike" kern="0" cap="none" spc="0" normalizeH="0" baseline="0" noProof="0" dirty="0">
                <a:ln>
                  <a:noFill/>
                </a:ln>
                <a:solidFill>
                  <a:srgbClr val="FF3300"/>
                </a:solidFill>
                <a:effectLst/>
                <a:uLnTx/>
                <a:uFillTx/>
                <a:latin typeface="微软雅黑" panose="020B0503020204020204" charset="-122"/>
                <a:ea typeface="微软雅黑" panose="020B0503020204020204" charset="-122"/>
                <a:cs typeface="Times New Roman" panose="02020603050405020304" pitchFamily="18" charset="0"/>
              </a:rPr>
              <a:t>奇偶校验码 ；</a:t>
            </a:r>
            <a:endParaRPr kumimoji="0" lang="zh-CN" altLang="en-US" sz="2000" b="1" i="0" u="none" strike="noStrike" kern="0" cap="none" spc="0" normalizeH="0" baseline="0" noProof="0" dirty="0">
              <a:ln>
                <a:noFill/>
              </a:ln>
              <a:solidFill>
                <a:srgbClr val="FF3300"/>
              </a:solidFill>
              <a:effectLst/>
              <a:uLnTx/>
              <a:uFillTx/>
              <a:latin typeface="微软雅黑" panose="020B0503020204020204" charset="-122"/>
              <a:ea typeface="微软雅黑" panose="020B0503020204020204" charset="-122"/>
              <a:cs typeface="Times New Roman" panose="02020603050405020304" pitchFamily="18" charset="0"/>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Ø"/>
              <a:defRPr/>
            </a:pPr>
            <a:r>
              <a:rPr kumimoji="0" lang="zh-CN" altLang="en-US" sz="2000" b="1" i="0" u="none" strike="noStrike" kern="0" cap="none" spc="0" normalizeH="0" baseline="0" noProof="0" dirty="0">
                <a:ln>
                  <a:noFill/>
                </a:ln>
                <a:solidFill>
                  <a:srgbClr val="FF3300"/>
                </a:solidFill>
                <a:effectLst/>
                <a:uLnTx/>
                <a:uFillTx/>
                <a:latin typeface="微软雅黑" panose="020B0503020204020204" charset="-122"/>
                <a:ea typeface="微软雅黑" panose="020B0503020204020204" charset="-122"/>
                <a:cs typeface="Times New Roman" panose="02020603050405020304" pitchFamily="18" charset="0"/>
              </a:rPr>
              <a:t>海明校验与纠错码 ；</a:t>
            </a:r>
            <a:endParaRPr kumimoji="0" lang="zh-CN" altLang="en-US" sz="2000" b="1" i="0" u="none" strike="noStrike" kern="0" cap="none" spc="0" normalizeH="0" baseline="0" noProof="0" dirty="0">
              <a:ln>
                <a:noFill/>
              </a:ln>
              <a:solidFill>
                <a:srgbClr val="FF3300"/>
              </a:solidFill>
              <a:effectLst/>
              <a:uLnTx/>
              <a:uFillTx/>
              <a:latin typeface="微软雅黑" panose="020B0503020204020204" charset="-122"/>
              <a:ea typeface="微软雅黑" panose="020B0503020204020204" charset="-122"/>
              <a:cs typeface="Times New Roman" panose="02020603050405020304" pitchFamily="18" charset="0"/>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Ø"/>
              <a:defRPr/>
            </a:pPr>
            <a:r>
              <a:rPr kumimoji="0" lang="zh-CN" altLang="en-US" sz="2000" b="1" i="0" u="none" strike="noStrike" kern="0" cap="none" spc="0" normalizeH="0" baseline="0" noProof="0" dirty="0">
                <a:ln>
                  <a:noFill/>
                </a:ln>
                <a:solidFill>
                  <a:srgbClr val="FF3300"/>
                </a:solidFill>
                <a:effectLst/>
                <a:uLnTx/>
                <a:uFillTx/>
                <a:latin typeface="微软雅黑" panose="020B0503020204020204" charset="-122"/>
                <a:ea typeface="微软雅黑" panose="020B0503020204020204" charset="-122"/>
                <a:cs typeface="Times New Roman" panose="02020603050405020304" pitchFamily="18" charset="0"/>
              </a:rPr>
              <a:t>循环冗余校验码 。</a:t>
            </a:r>
            <a:endParaRPr kumimoji="0" lang="zh-CN" altLang="en-US" sz="2000" b="1" i="0" u="none" strike="noStrike" kern="0" cap="none" spc="0" normalizeH="0" baseline="0" noProof="0" dirty="0">
              <a:ln>
                <a:noFill/>
              </a:ln>
              <a:solidFill>
                <a:srgbClr val="FF3300"/>
              </a:solidFill>
              <a:effectLst/>
              <a:uLnTx/>
              <a:uFillTx/>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7" name="Rectangle 2"/>
          <p:cNvSpPr>
            <a:spLocks noGrp="1" noRot="1"/>
          </p:cNvSpPr>
          <p:nvPr>
            <p:ph type="title"/>
          </p:nvPr>
        </p:nvSpPr>
        <p:spPr>
          <a:noFill/>
          <a:ln>
            <a:noFill/>
          </a:ln>
        </p:spPr>
        <p:txBody>
          <a:bodyPr anchor="t"/>
          <a:p>
            <a:pPr eaLnBrk="1" hangingPunct="1">
              <a:buNone/>
            </a:pPr>
            <a:r>
              <a:rPr lang="zh-CN" altLang="en-US" sz="4000" dirty="0">
                <a:solidFill>
                  <a:srgbClr val="0000FF"/>
                </a:solidFill>
                <a:latin typeface="微软雅黑" panose="020B0503020204020204" charset="-122"/>
                <a:ea typeface="微软雅黑" panose="020B0503020204020204" charset="-122"/>
              </a:rPr>
              <a:t>奇偶校验</a:t>
            </a:r>
            <a:endParaRPr lang="zh-CN" altLang="en-US" sz="4000" dirty="0">
              <a:solidFill>
                <a:srgbClr val="0000FF"/>
              </a:solidFill>
              <a:latin typeface="微软雅黑" panose="020B0503020204020204" charset="-122"/>
              <a:ea typeface="微软雅黑" panose="020B0503020204020204" charset="-122"/>
            </a:endParaRPr>
          </a:p>
        </p:txBody>
      </p:sp>
      <p:sp>
        <p:nvSpPr>
          <p:cNvPr id="116738" name="Rectangle 3"/>
          <p:cNvSpPr>
            <a:spLocks noGrp="1" noRot="1"/>
          </p:cNvSpPr>
          <p:nvPr>
            <p:ph idx="1"/>
          </p:nvPr>
        </p:nvSpPr>
        <p:spPr>
          <a:xfrm>
            <a:off x="357188" y="1336675"/>
            <a:ext cx="8329612" cy="1635125"/>
          </a:xfrm>
          <a:noFill/>
          <a:ln>
            <a:noFill/>
          </a:ln>
        </p:spPr>
        <p:txBody>
          <a:bodyPr anchor="t"/>
          <a:p>
            <a:pPr algn="just" eaLnBrk="1" hangingPunct="1">
              <a:spcBef>
                <a:spcPts val="1200"/>
              </a:spcBef>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在 </a:t>
            </a:r>
            <a:r>
              <a:rPr lang="en-US" altLang="zh-CN" dirty="0">
                <a:solidFill>
                  <a:schemeClr val="tx2"/>
                </a:solidFill>
                <a:latin typeface="微软雅黑" panose="020B0503020204020204" charset="-122"/>
                <a:ea typeface="微软雅黑" panose="020B0503020204020204" charset="-122"/>
              </a:rPr>
              <a:t>k </a:t>
            </a:r>
            <a:r>
              <a:rPr lang="zh-CN" altLang="en-US" dirty="0">
                <a:solidFill>
                  <a:schemeClr val="tx2"/>
                </a:solidFill>
                <a:latin typeface="微软雅黑" panose="020B0503020204020204" charset="-122"/>
                <a:ea typeface="微软雅黑" panose="020B0503020204020204" charset="-122"/>
              </a:rPr>
              <a:t>位数据码之外增加 </a:t>
            </a:r>
            <a:r>
              <a:rPr lang="en-US" altLang="zh-CN" dirty="0">
                <a:solidFill>
                  <a:schemeClr val="tx2"/>
                </a:solidFill>
                <a:latin typeface="微软雅黑" panose="020B0503020204020204" charset="-122"/>
                <a:ea typeface="微软雅黑" panose="020B0503020204020204" charset="-122"/>
              </a:rPr>
              <a:t>1 </a:t>
            </a:r>
            <a:r>
              <a:rPr lang="zh-CN" altLang="en-US" dirty="0">
                <a:solidFill>
                  <a:schemeClr val="tx2"/>
                </a:solidFill>
                <a:latin typeface="微软雅黑" panose="020B0503020204020204" charset="-122"/>
                <a:ea typeface="微软雅黑" panose="020B0503020204020204" charset="-122"/>
              </a:rPr>
              <a:t>位校验位，使 </a:t>
            </a:r>
            <a:r>
              <a:rPr lang="en-US" altLang="zh-CN" dirty="0">
                <a:solidFill>
                  <a:schemeClr val="tx2"/>
                </a:solidFill>
                <a:latin typeface="微软雅黑" panose="020B0503020204020204" charset="-122"/>
                <a:ea typeface="微软雅黑" panose="020B0503020204020204" charset="-122"/>
              </a:rPr>
              <a:t>k+1 </a:t>
            </a:r>
            <a:r>
              <a:rPr lang="zh-CN" altLang="en-US" dirty="0">
                <a:solidFill>
                  <a:schemeClr val="tx2"/>
                </a:solidFill>
                <a:latin typeface="微软雅黑" panose="020B0503020204020204" charset="-122"/>
                <a:ea typeface="微软雅黑" panose="020B0503020204020204" charset="-122"/>
              </a:rPr>
              <a:t>位码字中取值为 </a:t>
            </a:r>
            <a:r>
              <a:rPr lang="en-US" altLang="zh-CN" dirty="0">
                <a:solidFill>
                  <a:schemeClr val="tx2"/>
                </a:solidFill>
                <a:latin typeface="微软雅黑" panose="020B0503020204020204" charset="-122"/>
                <a:ea typeface="微软雅黑" panose="020B0503020204020204" charset="-122"/>
              </a:rPr>
              <a:t>1 </a:t>
            </a:r>
            <a:r>
              <a:rPr lang="zh-CN" altLang="en-US" dirty="0">
                <a:solidFill>
                  <a:schemeClr val="tx2"/>
                </a:solidFill>
                <a:latin typeface="微软雅黑" panose="020B0503020204020204" charset="-122"/>
                <a:ea typeface="微软雅黑" panose="020B0503020204020204" charset="-122"/>
              </a:rPr>
              <a:t>的位数保持为偶数</a:t>
            </a:r>
            <a:r>
              <a:rPr lang="en-US" altLang="zh-CN" dirty="0">
                <a:solidFill>
                  <a:schemeClr val="tx2"/>
                </a:solidFill>
                <a:latin typeface="微软雅黑" panose="020B0503020204020204" charset="-122"/>
                <a:ea typeface="微软雅黑" panose="020B0503020204020204" charset="-122"/>
              </a:rPr>
              <a:t>(</a:t>
            </a:r>
            <a:r>
              <a:rPr lang="zh-CN" altLang="en-US" dirty="0">
                <a:solidFill>
                  <a:schemeClr val="tx2"/>
                </a:solidFill>
                <a:latin typeface="微软雅黑" panose="020B0503020204020204" charset="-122"/>
                <a:ea typeface="微软雅黑" panose="020B0503020204020204" charset="-122"/>
              </a:rPr>
              <a:t>偶校验</a:t>
            </a:r>
            <a:r>
              <a:rPr lang="en-US" altLang="zh-CN" dirty="0">
                <a:solidFill>
                  <a:schemeClr val="tx2"/>
                </a:solidFill>
                <a:latin typeface="微软雅黑" panose="020B0503020204020204" charset="-122"/>
                <a:ea typeface="微软雅黑" panose="020B0503020204020204" charset="-122"/>
              </a:rPr>
              <a:t>)</a:t>
            </a:r>
            <a:r>
              <a:rPr lang="zh-CN" altLang="en-US" dirty="0">
                <a:solidFill>
                  <a:schemeClr val="tx2"/>
                </a:solidFill>
                <a:latin typeface="微软雅黑" panose="020B0503020204020204" charset="-122"/>
                <a:ea typeface="微软雅黑" panose="020B0503020204020204" charset="-122"/>
              </a:rPr>
              <a:t>或奇数</a:t>
            </a:r>
            <a:r>
              <a:rPr lang="en-US" altLang="zh-CN" dirty="0">
                <a:solidFill>
                  <a:schemeClr val="tx2"/>
                </a:solidFill>
                <a:latin typeface="微软雅黑" panose="020B0503020204020204" charset="-122"/>
                <a:ea typeface="微软雅黑" panose="020B0503020204020204" charset="-122"/>
              </a:rPr>
              <a:t>(</a:t>
            </a:r>
            <a:r>
              <a:rPr lang="zh-CN" altLang="en-US" dirty="0">
                <a:solidFill>
                  <a:schemeClr val="tx2"/>
                </a:solidFill>
                <a:latin typeface="微软雅黑" panose="020B0503020204020204" charset="-122"/>
                <a:ea typeface="微软雅黑" panose="020B0503020204020204" charset="-122"/>
              </a:rPr>
              <a:t>奇校验</a:t>
            </a:r>
            <a:r>
              <a:rPr lang="en-US" altLang="zh-CN" dirty="0">
                <a:solidFill>
                  <a:schemeClr val="tx2"/>
                </a:solidFill>
                <a:latin typeface="微软雅黑" panose="020B0503020204020204" charset="-122"/>
                <a:ea typeface="微软雅黑" panose="020B0503020204020204" charset="-122"/>
              </a:rPr>
              <a:t>)</a:t>
            </a:r>
            <a:endParaRPr lang="en-US" altLang="zh-CN" dirty="0">
              <a:ea typeface="微软雅黑" panose="020B0503020204020204" charset="-122"/>
            </a:endParaRPr>
          </a:p>
        </p:txBody>
      </p:sp>
      <p:pic>
        <p:nvPicPr>
          <p:cNvPr id="116739" name="图片 2"/>
          <p:cNvPicPr>
            <a:picLocks noChangeAspect="1"/>
          </p:cNvPicPr>
          <p:nvPr/>
        </p:nvPicPr>
        <p:blipFill>
          <a:blip r:embed="rId1"/>
          <a:stretch>
            <a:fillRect/>
          </a:stretch>
        </p:blipFill>
        <p:spPr>
          <a:xfrm>
            <a:off x="1146175" y="2976563"/>
            <a:ext cx="7170738" cy="2901950"/>
          </a:xfrm>
          <a:prstGeom prst="rect">
            <a:avLst/>
          </a:prstGeom>
          <a:noFill/>
          <a:ln w="9525">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5" name="Rectangle 2"/>
          <p:cNvSpPr>
            <a:spLocks noGrp="1" noRot="1"/>
          </p:cNvSpPr>
          <p:nvPr>
            <p:ph type="title"/>
          </p:nvPr>
        </p:nvSpPr>
        <p:spPr>
          <a:xfrm>
            <a:off x="301625" y="260350"/>
            <a:ext cx="8229600" cy="1143000"/>
          </a:xfrm>
          <a:noFill/>
          <a:ln>
            <a:noFill/>
          </a:ln>
        </p:spPr>
        <p:txBody>
          <a:bodyPr anchor="t"/>
          <a:p>
            <a:pPr eaLnBrk="1" hangingPunct="1">
              <a:buNone/>
            </a:pPr>
            <a:r>
              <a:rPr lang="zh-CN" altLang="en-US" sz="4000" dirty="0">
                <a:solidFill>
                  <a:srgbClr val="0000FF"/>
                </a:solidFill>
                <a:latin typeface="微软雅黑" panose="020B0503020204020204" charset="-122"/>
                <a:ea typeface="微软雅黑" panose="020B0503020204020204" charset="-122"/>
              </a:rPr>
              <a:t>奇偶校验</a:t>
            </a:r>
            <a:endParaRPr lang="zh-CN" altLang="en-US" sz="4000" dirty="0">
              <a:solidFill>
                <a:srgbClr val="0000FF"/>
              </a:solidFill>
              <a:latin typeface="微软雅黑" panose="020B0503020204020204" charset="-122"/>
              <a:ea typeface="微软雅黑" panose="020B0503020204020204" charset="-122"/>
            </a:endParaRPr>
          </a:p>
        </p:txBody>
      </p:sp>
      <p:sp>
        <p:nvSpPr>
          <p:cNvPr id="118786" name="Rectangle 3"/>
          <p:cNvSpPr>
            <a:spLocks noGrp="1" noRot="1"/>
          </p:cNvSpPr>
          <p:nvPr>
            <p:ph idx="1"/>
          </p:nvPr>
        </p:nvSpPr>
        <p:spPr>
          <a:xfrm>
            <a:off x="301625" y="1500188"/>
            <a:ext cx="8540750" cy="4881562"/>
          </a:xfrm>
          <a:noFill/>
          <a:ln>
            <a:noFill/>
          </a:ln>
        </p:spPr>
        <p:txBody>
          <a:bodyPr anchor="t"/>
          <a:p>
            <a:pPr algn="just" eaLnBrk="1" hangingPunct="1">
              <a:spcBef>
                <a:spcPts val="1200"/>
              </a:spcBef>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设</a:t>
            </a:r>
            <a:r>
              <a:rPr lang="en-US" altLang="zh-CN" dirty="0">
                <a:solidFill>
                  <a:schemeClr val="tx2"/>
                </a:solidFill>
                <a:latin typeface="微软雅黑" panose="020B0503020204020204" charset="-122"/>
                <a:ea typeface="微软雅黑" panose="020B0503020204020204" charset="-122"/>
              </a:rPr>
              <a:t>x=( x</a:t>
            </a:r>
            <a:r>
              <a:rPr lang="en-US" altLang="zh-CN" baseline="-25000" dirty="0">
                <a:solidFill>
                  <a:schemeClr val="tx2"/>
                </a:solidFill>
                <a:latin typeface="微软雅黑" panose="020B0503020204020204" charset="-122"/>
                <a:ea typeface="微软雅黑" panose="020B0503020204020204" charset="-122"/>
              </a:rPr>
              <a:t>0</a:t>
            </a:r>
            <a:r>
              <a:rPr lang="en-US" altLang="zh-CN" dirty="0">
                <a:solidFill>
                  <a:schemeClr val="tx2"/>
                </a:solidFill>
                <a:latin typeface="微软雅黑" panose="020B0503020204020204" charset="-122"/>
                <a:ea typeface="微软雅黑" panose="020B0503020204020204" charset="-122"/>
              </a:rPr>
              <a:t> x</a:t>
            </a:r>
            <a:r>
              <a:rPr lang="en-US" altLang="zh-CN" baseline="-25000" dirty="0">
                <a:solidFill>
                  <a:schemeClr val="tx2"/>
                </a:solidFill>
                <a:latin typeface="微软雅黑" panose="020B0503020204020204" charset="-122"/>
                <a:ea typeface="微软雅黑" panose="020B0503020204020204" charset="-122"/>
              </a:rPr>
              <a:t>1</a:t>
            </a:r>
            <a:r>
              <a:rPr lang="en-US" altLang="zh-CN" dirty="0">
                <a:solidFill>
                  <a:schemeClr val="tx2"/>
                </a:solidFill>
                <a:latin typeface="微软雅黑" panose="020B0503020204020204" charset="-122"/>
                <a:ea typeface="微软雅黑" panose="020B0503020204020204" charset="-122"/>
              </a:rPr>
              <a:t>…x</a:t>
            </a:r>
            <a:r>
              <a:rPr lang="en-US" altLang="zh-CN" baseline="-25000" dirty="0">
                <a:solidFill>
                  <a:schemeClr val="tx2"/>
                </a:solidFill>
                <a:latin typeface="微软雅黑" panose="020B0503020204020204" charset="-122"/>
                <a:ea typeface="微软雅黑" panose="020B0503020204020204" charset="-122"/>
              </a:rPr>
              <a:t>n-1</a:t>
            </a:r>
            <a:r>
              <a:rPr lang="en-US" altLang="zh-CN" dirty="0">
                <a:solidFill>
                  <a:schemeClr val="tx2"/>
                </a:solidFill>
                <a:latin typeface="微软雅黑" panose="020B0503020204020204" charset="-122"/>
                <a:ea typeface="微软雅黑" panose="020B0503020204020204" charset="-122"/>
              </a:rPr>
              <a:t> )</a:t>
            </a:r>
            <a:r>
              <a:rPr lang="zh-CN" altLang="en-US" dirty="0">
                <a:solidFill>
                  <a:schemeClr val="tx2"/>
                </a:solidFill>
                <a:latin typeface="微软雅黑" panose="020B0503020204020204" charset="-122"/>
                <a:ea typeface="微软雅黑" panose="020B0503020204020204" charset="-122"/>
              </a:rPr>
              <a:t>是一个</a:t>
            </a:r>
            <a:r>
              <a:rPr lang="en-US" altLang="zh-CN" dirty="0">
                <a:solidFill>
                  <a:schemeClr val="tx2"/>
                </a:solidFill>
                <a:latin typeface="微软雅黑" panose="020B0503020204020204" charset="-122"/>
                <a:ea typeface="微软雅黑" panose="020B0503020204020204" charset="-122"/>
              </a:rPr>
              <a:t>n</a:t>
            </a:r>
            <a:r>
              <a:rPr lang="zh-CN" altLang="en-US" dirty="0">
                <a:solidFill>
                  <a:schemeClr val="tx2"/>
                </a:solidFill>
                <a:latin typeface="微软雅黑" panose="020B0503020204020204" charset="-122"/>
                <a:ea typeface="微软雅黑" panose="020B0503020204020204" charset="-122"/>
              </a:rPr>
              <a:t>位字</a:t>
            </a:r>
            <a:r>
              <a:rPr lang="en-US" altLang="zh-CN" dirty="0">
                <a:solidFill>
                  <a:schemeClr val="tx2"/>
                </a:solidFill>
                <a:latin typeface="微软雅黑" panose="020B0503020204020204" charset="-122"/>
                <a:ea typeface="微软雅黑" panose="020B0503020204020204" charset="-122"/>
              </a:rPr>
              <a:t>, </a:t>
            </a:r>
            <a:r>
              <a:rPr lang="zh-CN" altLang="en-US" dirty="0">
                <a:solidFill>
                  <a:schemeClr val="tx2"/>
                </a:solidFill>
                <a:latin typeface="微软雅黑" panose="020B0503020204020204" charset="-122"/>
                <a:ea typeface="微软雅黑" panose="020B0503020204020204" charset="-122"/>
              </a:rPr>
              <a:t>则奇校验位</a:t>
            </a:r>
            <a:r>
              <a:rPr lang="en-US" altLang="zh-CN" dirty="0">
                <a:solidFill>
                  <a:schemeClr val="tx2"/>
                </a:solidFill>
                <a:latin typeface="微软雅黑" panose="020B0503020204020204" charset="-122"/>
                <a:ea typeface="微软雅黑" panose="020B0503020204020204" charset="-122"/>
              </a:rPr>
              <a:t>C</a:t>
            </a:r>
            <a:r>
              <a:rPr lang="zh-CN" altLang="en-US" dirty="0">
                <a:solidFill>
                  <a:schemeClr val="tx2"/>
                </a:solidFill>
                <a:latin typeface="微软雅黑" panose="020B0503020204020204" charset="-122"/>
                <a:ea typeface="微软雅黑" panose="020B0503020204020204" charset="-122"/>
              </a:rPr>
              <a:t>定义为</a:t>
            </a:r>
            <a:endParaRPr lang="zh-CN" altLang="en-US" dirty="0">
              <a:solidFill>
                <a:schemeClr val="tx2"/>
              </a:solidFill>
              <a:latin typeface="微软雅黑" panose="020B0503020204020204" charset="-122"/>
              <a:ea typeface="微软雅黑" panose="020B0503020204020204" charset="-122"/>
            </a:endParaRPr>
          </a:p>
          <a:p>
            <a:pPr lvl="1">
              <a:spcBef>
                <a:spcPts val="1200"/>
              </a:spcBef>
            </a:pPr>
            <a:r>
              <a:rPr lang="en-US" altLang="zh-CN" sz="2400" b="1" dirty="0">
                <a:solidFill>
                  <a:schemeClr val="accent1"/>
                </a:solidFill>
                <a:latin typeface="微软雅黑" panose="020B0503020204020204" charset="-122"/>
                <a:ea typeface="微软雅黑" panose="020B0503020204020204" charset="-122"/>
              </a:rPr>
              <a:t>C = x</a:t>
            </a:r>
            <a:r>
              <a:rPr lang="en-US" altLang="zh-CN" sz="2400" b="1" baseline="-25000" dirty="0">
                <a:solidFill>
                  <a:schemeClr val="accent1"/>
                </a:solidFill>
                <a:latin typeface="微软雅黑" panose="020B0503020204020204" charset="-122"/>
                <a:ea typeface="微软雅黑" panose="020B0503020204020204" charset="-122"/>
              </a:rPr>
              <a:t>0</a:t>
            </a:r>
            <a:r>
              <a:rPr lang="en-US" altLang="zh-CN" sz="2400" b="1" dirty="0">
                <a:solidFill>
                  <a:schemeClr val="accent1"/>
                </a:solidFill>
                <a:latin typeface="微软雅黑" panose="020B0503020204020204" charset="-122"/>
                <a:ea typeface="微软雅黑" panose="020B0503020204020204" charset="-122"/>
              </a:rPr>
              <a:t>⊕x</a:t>
            </a:r>
            <a:r>
              <a:rPr lang="en-US" altLang="zh-CN" sz="2400" b="1" baseline="-25000" dirty="0">
                <a:solidFill>
                  <a:schemeClr val="accent1"/>
                </a:solidFill>
                <a:latin typeface="微软雅黑" panose="020B0503020204020204" charset="-122"/>
                <a:ea typeface="微软雅黑" panose="020B0503020204020204" charset="-122"/>
              </a:rPr>
              <a:t>1</a:t>
            </a:r>
            <a:r>
              <a:rPr lang="en-US" altLang="zh-CN" sz="2400" b="1" dirty="0">
                <a:solidFill>
                  <a:schemeClr val="accent1"/>
                </a:solidFill>
                <a:latin typeface="微软雅黑" panose="020B0503020204020204" charset="-122"/>
                <a:ea typeface="微软雅黑" panose="020B0503020204020204" charset="-122"/>
              </a:rPr>
              <a:t>⊕…⊕x</a:t>
            </a:r>
            <a:r>
              <a:rPr lang="en-US" altLang="zh-CN" sz="2400" b="1" baseline="-25000" dirty="0">
                <a:solidFill>
                  <a:schemeClr val="accent1"/>
                </a:solidFill>
                <a:latin typeface="微软雅黑" panose="020B0503020204020204" charset="-122"/>
                <a:ea typeface="微软雅黑" panose="020B0503020204020204" charset="-122"/>
              </a:rPr>
              <a:t>n-1</a:t>
            </a:r>
            <a:endParaRPr lang="en-US" altLang="zh-CN" sz="2400" b="1" dirty="0">
              <a:solidFill>
                <a:schemeClr val="accent1"/>
              </a:solidFill>
              <a:latin typeface="微软雅黑" panose="020B0503020204020204" charset="-122"/>
              <a:ea typeface="微软雅黑" panose="020B0503020204020204" charset="-122"/>
            </a:endParaRPr>
          </a:p>
          <a:p>
            <a:pPr lvl="1">
              <a:spcBef>
                <a:spcPts val="1200"/>
              </a:spcBef>
            </a:pPr>
            <a:r>
              <a:rPr lang="zh-CN" altLang="en-US" sz="2400" b="1" dirty="0">
                <a:solidFill>
                  <a:schemeClr val="accent1"/>
                </a:solidFill>
                <a:latin typeface="微软雅黑" panose="020B0503020204020204" charset="-122"/>
                <a:ea typeface="微软雅黑" panose="020B0503020204020204" charset="-122"/>
              </a:rPr>
              <a:t>式中⊕代表按位加</a:t>
            </a:r>
            <a:r>
              <a:rPr lang="en-US" altLang="zh-CN" sz="2400" b="1" dirty="0">
                <a:solidFill>
                  <a:schemeClr val="accent1"/>
                </a:solidFill>
                <a:latin typeface="微软雅黑" panose="020B0503020204020204" charset="-122"/>
                <a:ea typeface="微软雅黑" panose="020B0503020204020204" charset="-122"/>
              </a:rPr>
              <a:t>,</a:t>
            </a:r>
            <a:r>
              <a:rPr lang="zh-CN" altLang="en-US" sz="2400" b="1" dirty="0">
                <a:solidFill>
                  <a:schemeClr val="accent1"/>
                </a:solidFill>
                <a:latin typeface="微软雅黑" panose="020B0503020204020204" charset="-122"/>
                <a:ea typeface="微软雅黑" panose="020B0503020204020204" charset="-122"/>
              </a:rPr>
              <a:t>表明只有当</a:t>
            </a:r>
            <a:r>
              <a:rPr lang="en-US" altLang="zh-CN" sz="2400" b="1" i="1" dirty="0">
                <a:solidFill>
                  <a:schemeClr val="accent1"/>
                </a:solidFill>
                <a:latin typeface="微软雅黑" panose="020B0503020204020204" charset="-122"/>
                <a:ea typeface="微软雅黑" panose="020B0503020204020204" charset="-122"/>
              </a:rPr>
              <a:t>x</a:t>
            </a:r>
            <a:r>
              <a:rPr lang="zh-CN" altLang="en-US" sz="2400" b="1" dirty="0">
                <a:solidFill>
                  <a:schemeClr val="accent1"/>
                </a:solidFill>
                <a:latin typeface="微软雅黑" panose="020B0503020204020204" charset="-122"/>
                <a:ea typeface="微软雅黑" panose="020B0503020204020204" charset="-122"/>
              </a:rPr>
              <a:t>中包含有奇数个</a:t>
            </a:r>
            <a:r>
              <a:rPr lang="en-US" altLang="zh-CN" sz="2400" b="1" dirty="0">
                <a:solidFill>
                  <a:schemeClr val="accent1"/>
                </a:solidFill>
                <a:latin typeface="微软雅黑" panose="020B0503020204020204" charset="-122"/>
                <a:ea typeface="微软雅黑" panose="020B0503020204020204" charset="-122"/>
              </a:rPr>
              <a:t>1</a:t>
            </a:r>
            <a:r>
              <a:rPr lang="zh-CN" altLang="en-US" sz="2400" b="1" dirty="0">
                <a:solidFill>
                  <a:schemeClr val="accent1"/>
                </a:solidFill>
                <a:latin typeface="微软雅黑" panose="020B0503020204020204" charset="-122"/>
                <a:ea typeface="微软雅黑" panose="020B0503020204020204" charset="-122"/>
              </a:rPr>
              <a:t>时</a:t>
            </a:r>
            <a:r>
              <a:rPr lang="en-US" altLang="zh-CN" sz="2400" b="1" dirty="0">
                <a:solidFill>
                  <a:schemeClr val="accent1"/>
                </a:solidFill>
                <a:latin typeface="微软雅黑" panose="020B0503020204020204" charset="-122"/>
                <a:ea typeface="微软雅黑" panose="020B0503020204020204" charset="-122"/>
              </a:rPr>
              <a:t>,</a:t>
            </a:r>
            <a:r>
              <a:rPr lang="zh-CN" altLang="en-US" sz="2400" b="1" dirty="0">
                <a:solidFill>
                  <a:schemeClr val="accent1"/>
                </a:solidFill>
                <a:latin typeface="微软雅黑" panose="020B0503020204020204" charset="-122"/>
                <a:ea typeface="微软雅黑" panose="020B0503020204020204" charset="-122"/>
              </a:rPr>
              <a:t>使</a:t>
            </a:r>
            <a:r>
              <a:rPr lang="en-US" altLang="zh-CN" sz="2400" b="1" i="1" dirty="0">
                <a:solidFill>
                  <a:schemeClr val="accent1"/>
                </a:solidFill>
                <a:latin typeface="微软雅黑" panose="020B0503020204020204" charset="-122"/>
                <a:ea typeface="微软雅黑" panose="020B0503020204020204" charset="-122"/>
              </a:rPr>
              <a:t>C</a:t>
            </a:r>
            <a:r>
              <a:rPr lang="en-US" altLang="zh-CN" sz="2400" b="1" dirty="0">
                <a:solidFill>
                  <a:schemeClr val="accent1"/>
                </a:solidFill>
                <a:latin typeface="微软雅黑" panose="020B0503020204020204" charset="-122"/>
                <a:ea typeface="微软雅黑" panose="020B0503020204020204" charset="-122"/>
              </a:rPr>
              <a:t>=0</a:t>
            </a:r>
            <a:r>
              <a:rPr lang="zh-CN" altLang="en-US" sz="2400" b="1" dirty="0">
                <a:solidFill>
                  <a:schemeClr val="accent1"/>
                </a:solidFill>
                <a:latin typeface="微软雅黑" panose="020B0503020204020204" charset="-122"/>
                <a:ea typeface="微软雅黑" panose="020B0503020204020204" charset="-122"/>
              </a:rPr>
              <a:t>。</a:t>
            </a:r>
            <a:endParaRPr lang="zh-CN" altLang="en-US" sz="2400" b="1" dirty="0">
              <a:solidFill>
                <a:schemeClr val="accent1"/>
              </a:solidFill>
              <a:latin typeface="微软雅黑" panose="020B0503020204020204" charset="-122"/>
              <a:ea typeface="微软雅黑" panose="020B0503020204020204" charset="-122"/>
            </a:endParaRPr>
          </a:p>
          <a:p>
            <a:pPr algn="just" eaLnBrk="1" hangingPunct="1">
              <a:spcBef>
                <a:spcPts val="2400"/>
              </a:spcBef>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同理</a:t>
            </a:r>
            <a:r>
              <a:rPr lang="en-US" altLang="zh-CN" dirty="0">
                <a:solidFill>
                  <a:schemeClr val="tx2"/>
                </a:solidFill>
                <a:latin typeface="微软雅黑" panose="020B0503020204020204" charset="-122"/>
                <a:ea typeface="微软雅黑" panose="020B0503020204020204" charset="-122"/>
              </a:rPr>
              <a:t>,</a:t>
            </a:r>
            <a:r>
              <a:rPr lang="zh-CN" altLang="en-US" dirty="0">
                <a:solidFill>
                  <a:schemeClr val="tx2"/>
                </a:solidFill>
                <a:latin typeface="微软雅黑" panose="020B0503020204020204" charset="-122"/>
                <a:ea typeface="微软雅黑" panose="020B0503020204020204" charset="-122"/>
              </a:rPr>
              <a:t>偶校验位Ｃ定义为</a:t>
            </a:r>
            <a:endParaRPr lang="zh-CN" altLang="en-US" dirty="0">
              <a:solidFill>
                <a:schemeClr val="tx2"/>
              </a:solidFill>
              <a:latin typeface="微软雅黑" panose="020B0503020204020204" charset="-122"/>
              <a:ea typeface="微软雅黑" panose="020B0503020204020204" charset="-122"/>
            </a:endParaRPr>
          </a:p>
          <a:p>
            <a:pPr lvl="1">
              <a:spcBef>
                <a:spcPts val="1200"/>
              </a:spcBef>
            </a:pPr>
            <a:r>
              <a:rPr lang="en-US" altLang="zh-CN" sz="2400" b="1" dirty="0">
                <a:solidFill>
                  <a:schemeClr val="accent1"/>
                </a:solidFill>
                <a:latin typeface="微软雅黑" panose="020B0503020204020204" charset="-122"/>
                <a:ea typeface="微软雅黑" panose="020B0503020204020204" charset="-122"/>
              </a:rPr>
              <a:t>C= x</a:t>
            </a:r>
            <a:r>
              <a:rPr lang="en-US" altLang="zh-CN" sz="2400" b="1" baseline="-25000" dirty="0">
                <a:solidFill>
                  <a:schemeClr val="accent1"/>
                </a:solidFill>
                <a:latin typeface="微软雅黑" panose="020B0503020204020204" charset="-122"/>
                <a:ea typeface="微软雅黑" panose="020B0503020204020204" charset="-122"/>
              </a:rPr>
              <a:t>0</a:t>
            </a:r>
            <a:r>
              <a:rPr lang="en-US" altLang="zh-CN" sz="2400" b="1" dirty="0">
                <a:solidFill>
                  <a:schemeClr val="accent1"/>
                </a:solidFill>
                <a:latin typeface="微软雅黑" panose="020B0503020204020204" charset="-122"/>
                <a:ea typeface="微软雅黑" panose="020B0503020204020204" charset="-122"/>
              </a:rPr>
              <a:t>⊕x</a:t>
            </a:r>
            <a:r>
              <a:rPr lang="en-US" altLang="zh-CN" sz="2400" b="1" baseline="-25000" dirty="0">
                <a:solidFill>
                  <a:schemeClr val="accent1"/>
                </a:solidFill>
                <a:latin typeface="微软雅黑" panose="020B0503020204020204" charset="-122"/>
                <a:ea typeface="微软雅黑" panose="020B0503020204020204" charset="-122"/>
              </a:rPr>
              <a:t>1</a:t>
            </a:r>
            <a:r>
              <a:rPr lang="en-US" altLang="zh-CN" sz="2400" b="1" dirty="0">
                <a:solidFill>
                  <a:schemeClr val="accent1"/>
                </a:solidFill>
                <a:latin typeface="微软雅黑" panose="020B0503020204020204" charset="-122"/>
                <a:ea typeface="微软雅黑" panose="020B0503020204020204" charset="-122"/>
              </a:rPr>
              <a:t>⊕…⊕x</a:t>
            </a:r>
            <a:r>
              <a:rPr lang="en-US" altLang="zh-CN" sz="2400" b="1" baseline="-25000" dirty="0">
                <a:solidFill>
                  <a:schemeClr val="accent1"/>
                </a:solidFill>
                <a:latin typeface="微软雅黑" panose="020B0503020204020204" charset="-122"/>
                <a:ea typeface="微软雅黑" panose="020B0503020204020204" charset="-122"/>
              </a:rPr>
              <a:t>n-1</a:t>
            </a:r>
            <a:endParaRPr lang="en-US" altLang="zh-CN" sz="2400" b="1" dirty="0">
              <a:solidFill>
                <a:schemeClr val="accent1"/>
              </a:solidFill>
              <a:latin typeface="微软雅黑" panose="020B0503020204020204" charset="-122"/>
              <a:ea typeface="微软雅黑" panose="020B0503020204020204" charset="-122"/>
            </a:endParaRPr>
          </a:p>
          <a:p>
            <a:pPr lvl="1">
              <a:spcBef>
                <a:spcPts val="1200"/>
              </a:spcBef>
            </a:pPr>
            <a:r>
              <a:rPr lang="zh-CN" altLang="en-US" sz="2400" b="1" dirty="0">
                <a:solidFill>
                  <a:schemeClr val="accent1"/>
                </a:solidFill>
                <a:latin typeface="微软雅黑" panose="020B0503020204020204" charset="-122"/>
                <a:ea typeface="微软雅黑" panose="020B0503020204020204" charset="-122"/>
              </a:rPr>
              <a:t>即</a:t>
            </a:r>
            <a:r>
              <a:rPr lang="en-US" altLang="zh-CN" sz="2400" b="1" dirty="0">
                <a:solidFill>
                  <a:schemeClr val="accent1"/>
                </a:solidFill>
                <a:latin typeface="微软雅黑" panose="020B0503020204020204" charset="-122"/>
                <a:ea typeface="微软雅黑" panose="020B0503020204020204" charset="-122"/>
              </a:rPr>
              <a:t>x</a:t>
            </a:r>
            <a:r>
              <a:rPr lang="zh-CN" altLang="en-US" sz="2400" b="1" dirty="0">
                <a:solidFill>
                  <a:schemeClr val="accent1"/>
                </a:solidFill>
                <a:latin typeface="微软雅黑" panose="020B0503020204020204" charset="-122"/>
                <a:ea typeface="微软雅黑" panose="020B0503020204020204" charset="-122"/>
              </a:rPr>
              <a:t>中包含偶数个</a:t>
            </a:r>
            <a:r>
              <a:rPr lang="en-US" altLang="zh-CN" sz="2400" b="1" dirty="0">
                <a:solidFill>
                  <a:schemeClr val="accent1"/>
                </a:solidFill>
                <a:latin typeface="微软雅黑" panose="020B0503020204020204" charset="-122"/>
                <a:ea typeface="微软雅黑" panose="020B0503020204020204" charset="-122"/>
              </a:rPr>
              <a:t>1</a:t>
            </a:r>
            <a:r>
              <a:rPr lang="zh-CN" altLang="en-US" sz="2400" b="1" dirty="0">
                <a:solidFill>
                  <a:schemeClr val="accent1"/>
                </a:solidFill>
                <a:latin typeface="微软雅黑" panose="020B0503020204020204" charset="-122"/>
                <a:ea typeface="微软雅黑" panose="020B0503020204020204" charset="-122"/>
              </a:rPr>
              <a:t>时</a:t>
            </a:r>
            <a:r>
              <a:rPr lang="en-US" altLang="zh-CN" sz="2400" b="1" dirty="0">
                <a:solidFill>
                  <a:schemeClr val="accent1"/>
                </a:solidFill>
                <a:latin typeface="微软雅黑" panose="020B0503020204020204" charset="-122"/>
                <a:ea typeface="微软雅黑" panose="020B0503020204020204" charset="-122"/>
              </a:rPr>
              <a:t>,</a:t>
            </a:r>
            <a:r>
              <a:rPr lang="zh-CN" altLang="en-US" sz="2400" b="1" dirty="0">
                <a:solidFill>
                  <a:schemeClr val="accent1"/>
                </a:solidFill>
                <a:latin typeface="微软雅黑" panose="020B0503020204020204" charset="-122"/>
                <a:ea typeface="微软雅黑" panose="020B0503020204020204" charset="-122"/>
              </a:rPr>
              <a:t>使</a:t>
            </a:r>
            <a:r>
              <a:rPr lang="en-US" altLang="zh-CN" sz="2400" b="1" dirty="0">
                <a:solidFill>
                  <a:schemeClr val="accent1"/>
                </a:solidFill>
                <a:latin typeface="微软雅黑" panose="020B0503020204020204" charset="-122"/>
                <a:ea typeface="微软雅黑" panose="020B0503020204020204" charset="-122"/>
              </a:rPr>
              <a:t>C=0</a:t>
            </a:r>
            <a:r>
              <a:rPr lang="zh-CN" altLang="en-US" sz="2400" b="1" dirty="0">
                <a:solidFill>
                  <a:schemeClr val="accent1"/>
                </a:solidFill>
                <a:latin typeface="微软雅黑" panose="020B0503020204020204" charset="-122"/>
                <a:ea typeface="微软雅黑" panose="020B0503020204020204" charset="-122"/>
              </a:rPr>
              <a:t>。</a:t>
            </a:r>
            <a:endParaRPr lang="zh-CN" altLang="en-US" sz="2400" b="1" dirty="0">
              <a:solidFill>
                <a:schemeClr val="accent1"/>
              </a:solidFill>
              <a:latin typeface="微软雅黑" panose="020B0503020204020204" charset="-122"/>
              <a:ea typeface="微软雅黑" panose="020B0503020204020204" charset="-122"/>
            </a:endParaRPr>
          </a:p>
        </p:txBody>
      </p:sp>
      <p:cxnSp>
        <p:nvCxnSpPr>
          <p:cNvPr id="118787" name="直接连接符 6"/>
          <p:cNvCxnSpPr/>
          <p:nvPr/>
        </p:nvCxnSpPr>
        <p:spPr>
          <a:xfrm>
            <a:off x="1116013" y="2492375"/>
            <a:ext cx="215900" cy="0"/>
          </a:xfrm>
          <a:prstGeom prst="line">
            <a:avLst/>
          </a:prstGeom>
          <a:ln w="9525" cap="flat" cmpd="sng">
            <a:solidFill>
              <a:schemeClr val="tx1"/>
            </a:solidFill>
            <a:prstDash val="solid"/>
            <a:round/>
            <a:headEnd type="none" w="med" len="med"/>
            <a:tailEnd type="none" w="med" len="med"/>
          </a:ln>
        </p:spPr>
      </p:cxn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3" name="Rectangle 2"/>
          <p:cNvSpPr>
            <a:spLocks noGrp="1" noRot="1"/>
          </p:cNvSpPr>
          <p:nvPr>
            <p:ph type="title"/>
          </p:nvPr>
        </p:nvSpPr>
        <p:spPr>
          <a:xfrm>
            <a:off x="323850" y="260350"/>
            <a:ext cx="8540750" cy="744538"/>
          </a:xfrm>
          <a:noFill/>
          <a:ln>
            <a:noFill/>
          </a:ln>
        </p:spPr>
        <p:txBody>
          <a:bodyPr anchor="t"/>
          <a:p>
            <a:pPr eaLnBrk="1" hangingPunct="1">
              <a:buNone/>
            </a:pPr>
            <a:r>
              <a:rPr lang="zh-CN" altLang="en-US" sz="4000" dirty="0">
                <a:solidFill>
                  <a:srgbClr val="0000FF"/>
                </a:solidFill>
                <a:latin typeface="微软雅黑" panose="020B0503020204020204" charset="-122"/>
                <a:ea typeface="微软雅黑" panose="020B0503020204020204" charset="-122"/>
              </a:rPr>
              <a:t>例</a:t>
            </a:r>
            <a:endParaRPr lang="zh-CN" altLang="en-US" sz="4000" dirty="0">
              <a:solidFill>
                <a:srgbClr val="0000FF"/>
              </a:solidFill>
              <a:latin typeface="微软雅黑" panose="020B0503020204020204" charset="-122"/>
              <a:ea typeface="微软雅黑" panose="020B0503020204020204" charset="-122"/>
            </a:endParaRPr>
          </a:p>
        </p:txBody>
      </p:sp>
      <p:sp>
        <p:nvSpPr>
          <p:cNvPr id="120834" name="Rectangle 3"/>
          <p:cNvSpPr>
            <a:spLocks noGrp="1" noRot="1"/>
          </p:cNvSpPr>
          <p:nvPr>
            <p:ph type="body" sz="half" idx="1"/>
          </p:nvPr>
        </p:nvSpPr>
        <p:spPr>
          <a:xfrm>
            <a:off x="323850" y="1423988"/>
            <a:ext cx="8374063" cy="1338262"/>
          </a:xfrm>
          <a:noFill/>
          <a:ln>
            <a:noFill/>
          </a:ln>
        </p:spPr>
        <p:txBody>
          <a:bodyPr anchor="t"/>
          <a:p>
            <a:pPr algn="just" eaLnBrk="1" hangingPunct="1">
              <a:spcBef>
                <a:spcPts val="1200"/>
              </a:spcBef>
              <a:buClr>
                <a:schemeClr val="tx2"/>
              </a:buClr>
              <a:buSzTx/>
              <a:buFont typeface="Wingdings" panose="05000000000000000000" pitchFamily="2" charset="2"/>
              <a:buChar char="u"/>
            </a:pPr>
            <a:r>
              <a:rPr lang="zh-CN" altLang="en-US" dirty="0">
                <a:solidFill>
                  <a:schemeClr val="tx2"/>
                </a:solidFill>
                <a:latin typeface="微软雅黑" panose="020B0503020204020204" charset="-122"/>
                <a:ea typeface="微软雅黑" panose="020B0503020204020204" charset="-122"/>
              </a:rPr>
              <a:t>已知下表中左面一栏有</a:t>
            </a:r>
            <a:r>
              <a:rPr lang="en-US" altLang="zh-CN" dirty="0">
                <a:solidFill>
                  <a:schemeClr val="tx2"/>
                </a:solidFill>
                <a:latin typeface="微软雅黑" panose="020B0503020204020204" charset="-122"/>
                <a:ea typeface="微软雅黑" panose="020B0503020204020204" charset="-122"/>
              </a:rPr>
              <a:t>5</a:t>
            </a:r>
            <a:r>
              <a:rPr lang="zh-CN" altLang="en-US" dirty="0">
                <a:solidFill>
                  <a:schemeClr val="tx2"/>
                </a:solidFill>
                <a:latin typeface="微软雅黑" panose="020B0503020204020204" charset="-122"/>
                <a:ea typeface="微软雅黑" panose="020B0503020204020204" charset="-122"/>
              </a:rPr>
              <a:t>个字节的数据。请分别用奇校验和偶校验进行编码。</a:t>
            </a:r>
            <a:endParaRPr lang="zh-CN" altLang="en-US" dirty="0">
              <a:solidFill>
                <a:schemeClr val="tx2"/>
              </a:solidFill>
              <a:latin typeface="微软雅黑" panose="020B0503020204020204" charset="-122"/>
              <a:ea typeface="微软雅黑" panose="020B0503020204020204" charset="-122"/>
            </a:endParaRPr>
          </a:p>
        </p:txBody>
      </p:sp>
      <p:graphicFrame>
        <p:nvGraphicFramePr>
          <p:cNvPr id="56343" name="Group 23"/>
          <p:cNvGraphicFramePr>
            <a:graphicFrameLocks noGrp="1"/>
          </p:cNvGraphicFramePr>
          <p:nvPr>
            <p:ph sz="half" idx="4294967295"/>
          </p:nvPr>
        </p:nvGraphicFramePr>
        <p:xfrm>
          <a:off x="539750" y="2743200"/>
          <a:ext cx="7920038" cy="3206750"/>
        </p:xfrm>
        <a:graphic>
          <a:graphicData uri="http://schemas.openxmlformats.org/drawingml/2006/table">
            <a:tbl>
              <a:tblPr/>
              <a:tblGrid>
                <a:gridCol w="2379663"/>
                <a:gridCol w="2771775"/>
                <a:gridCol w="2768600"/>
              </a:tblGrid>
              <a:tr h="560388">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zh-CN" altLang="en-US" sz="2400" b="1" i="0" u="none" strike="noStrike" cap="none" normalizeH="0" baseline="0">
                          <a:ln>
                            <a:noFill/>
                          </a:ln>
                          <a:solidFill>
                            <a:schemeClr val="accent1"/>
                          </a:solidFill>
                          <a:effectLst/>
                          <a:latin typeface="微软雅黑" panose="020B0503020204020204" charset="-122"/>
                          <a:ea typeface="微软雅黑" panose="020B0503020204020204" charset="-122"/>
                        </a:rPr>
                        <a:t>数据</a:t>
                      </a:r>
                      <a:endParaRPr kumimoji="1" lang="zh-CN" altLang="en-US" sz="2400" b="1" i="0" u="none" strike="noStrike" cap="none" normalizeH="0" baseline="0">
                        <a:ln>
                          <a:noFill/>
                        </a:ln>
                        <a:solidFill>
                          <a:schemeClr val="accent1"/>
                        </a:solidFill>
                        <a:effectLst/>
                        <a:latin typeface="微软雅黑" panose="020B0503020204020204" charset="-122"/>
                        <a:ea typeface="微软雅黑" panose="020B0503020204020204"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a:ln>
                            <a:noFill/>
                          </a:ln>
                          <a:solidFill>
                            <a:schemeClr val="accent1"/>
                          </a:solidFill>
                          <a:effectLst/>
                          <a:latin typeface="微软雅黑" panose="020B0503020204020204" charset="-122"/>
                          <a:ea typeface="微软雅黑" panose="020B0503020204020204" charset="-122"/>
                        </a:rPr>
                        <a:t>偶校验编码</a:t>
                      </a:r>
                      <a:r>
                        <a:rPr kumimoji="1" lang="en-US" altLang="zh-CN" sz="2400" b="1" i="0" u="none" strike="noStrike" cap="none" normalizeH="0" baseline="0">
                          <a:ln>
                            <a:noFill/>
                          </a:ln>
                          <a:solidFill>
                            <a:schemeClr val="accent1"/>
                          </a:solidFill>
                          <a:effectLst/>
                          <a:latin typeface="微软雅黑" panose="020B0503020204020204" charset="-122"/>
                          <a:ea typeface="微软雅黑" panose="020B0503020204020204" charset="-122"/>
                        </a:rPr>
                        <a:t>C</a:t>
                      </a:r>
                      <a:endParaRPr kumimoji="0" lang="en-US" altLang="zh-CN" sz="2400" b="1" i="0" u="none" strike="noStrike" cap="none" normalizeH="0" baseline="0">
                        <a:ln>
                          <a:noFill/>
                        </a:ln>
                        <a:solidFill>
                          <a:schemeClr val="accent1"/>
                        </a:solidFill>
                        <a:effectLst/>
                        <a:latin typeface="微软雅黑" panose="020B0503020204020204" charset="-122"/>
                        <a:ea typeface="微软雅黑" panose="020B0503020204020204"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a:ln>
                            <a:noFill/>
                          </a:ln>
                          <a:solidFill>
                            <a:schemeClr val="accent1"/>
                          </a:solidFill>
                          <a:effectLst/>
                          <a:latin typeface="微软雅黑" panose="020B0503020204020204" charset="-122"/>
                          <a:ea typeface="微软雅黑" panose="020B0503020204020204" charset="-122"/>
                        </a:rPr>
                        <a:t>奇校验编码</a:t>
                      </a:r>
                      <a:r>
                        <a:rPr kumimoji="1" lang="en-US" altLang="zh-CN" sz="2400" b="1" i="0" u="none" strike="noStrike" cap="none" normalizeH="0" baseline="0">
                          <a:ln>
                            <a:noFill/>
                          </a:ln>
                          <a:solidFill>
                            <a:schemeClr val="accent1"/>
                          </a:solidFill>
                          <a:effectLst/>
                          <a:latin typeface="微软雅黑" panose="020B0503020204020204" charset="-122"/>
                          <a:ea typeface="微软雅黑" panose="020B0503020204020204" charset="-122"/>
                        </a:rPr>
                        <a:t>C</a:t>
                      </a:r>
                      <a:endParaRPr kumimoji="0" lang="en-US" altLang="zh-CN" sz="2400" b="1" i="0" u="none" strike="noStrike" cap="none" normalizeH="0" baseline="0">
                        <a:ln>
                          <a:noFill/>
                        </a:ln>
                        <a:solidFill>
                          <a:schemeClr val="accent1"/>
                        </a:solidFill>
                        <a:effectLst/>
                        <a:latin typeface="微软雅黑" panose="020B0503020204020204" charset="-122"/>
                        <a:ea typeface="微软雅黑" panose="020B0503020204020204"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646362">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accent1"/>
                          </a:solidFill>
                          <a:effectLst/>
                          <a:latin typeface="微软雅黑" panose="020B0503020204020204" charset="-122"/>
                          <a:ea typeface="微软雅黑" panose="020B0503020204020204" charset="-122"/>
                        </a:rPr>
                        <a:t>1 0 1 0 1 0 1 0</a:t>
                      </a:r>
                      <a:endParaRPr kumimoji="1" lang="en-US" altLang="zh-CN" sz="2400" b="1" i="0" u="none" strike="noStrike" cap="none" normalizeH="0" baseline="0">
                        <a:ln>
                          <a:noFill/>
                        </a:ln>
                        <a:solidFill>
                          <a:schemeClr val="accent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accent1"/>
                          </a:solidFill>
                          <a:effectLst/>
                          <a:latin typeface="微软雅黑" panose="020B0503020204020204" charset="-122"/>
                          <a:ea typeface="微软雅黑" panose="020B0503020204020204" charset="-122"/>
                        </a:rPr>
                        <a:t>0 1 0 1 0 1 0 0</a:t>
                      </a:r>
                      <a:endParaRPr kumimoji="1" lang="en-US" altLang="zh-CN" sz="2400" b="1" i="0" u="none" strike="noStrike" cap="none" normalizeH="0" baseline="0">
                        <a:ln>
                          <a:noFill/>
                        </a:ln>
                        <a:solidFill>
                          <a:schemeClr val="accent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accent1"/>
                          </a:solidFill>
                          <a:effectLst/>
                          <a:latin typeface="微软雅黑" panose="020B0503020204020204" charset="-122"/>
                          <a:ea typeface="微软雅黑" panose="020B0503020204020204" charset="-122"/>
                        </a:rPr>
                        <a:t>0 0 0 0 0 0 0 0</a:t>
                      </a:r>
                      <a:endParaRPr kumimoji="1" lang="en-US" altLang="zh-CN" sz="2400" b="1" i="0" u="none" strike="noStrike" cap="none" normalizeH="0" baseline="0">
                        <a:ln>
                          <a:noFill/>
                        </a:ln>
                        <a:solidFill>
                          <a:schemeClr val="accent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accent1"/>
                          </a:solidFill>
                          <a:effectLst/>
                          <a:latin typeface="微软雅黑" panose="020B0503020204020204" charset="-122"/>
                          <a:ea typeface="微软雅黑" panose="020B0503020204020204" charset="-122"/>
                        </a:rPr>
                        <a:t>0 1 1 1 1 1 1 1</a:t>
                      </a:r>
                      <a:endParaRPr kumimoji="1" lang="en-US" altLang="zh-CN" sz="2400" b="1" i="0" u="none" strike="noStrike" cap="none" normalizeH="0" baseline="0">
                        <a:ln>
                          <a:noFill/>
                        </a:ln>
                        <a:solidFill>
                          <a:schemeClr val="accent1"/>
                        </a:solidFill>
                        <a:effectLst/>
                        <a:latin typeface="微软雅黑" panose="020B0503020204020204" charset="-122"/>
                        <a:ea typeface="微软雅黑" panose="020B0503020204020204"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accent1"/>
                          </a:solidFill>
                          <a:effectLst/>
                          <a:latin typeface="微软雅黑" panose="020B0503020204020204" charset="-122"/>
                          <a:ea typeface="微软雅黑" panose="020B0503020204020204" charset="-122"/>
                        </a:rPr>
                        <a:t>1 1 1 1 1 1 1 1</a:t>
                      </a:r>
                      <a:endParaRPr kumimoji="0" lang="en-US" altLang="zh-CN" sz="2400" b="1" i="0" u="none" strike="noStrike" cap="none" normalizeH="0" baseline="0">
                        <a:ln>
                          <a:noFill/>
                        </a:ln>
                        <a:solidFill>
                          <a:schemeClr val="accent1"/>
                        </a:solidFill>
                        <a:effectLst/>
                        <a:latin typeface="微软雅黑" panose="020B0503020204020204" charset="-122"/>
                        <a:ea typeface="微软雅黑" panose="020B0503020204020204"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accent1"/>
                          </a:solidFill>
                          <a:effectLst/>
                          <a:latin typeface="微软雅黑" panose="020B0503020204020204" charset="-122"/>
                          <a:ea typeface="微软雅黑" panose="020B0503020204020204" charset="-122"/>
                        </a:rPr>
                        <a:t> 1 0 1 0 1 0 1 0 </a:t>
                      </a:r>
                      <a:r>
                        <a:rPr kumimoji="1" lang="en-US" altLang="zh-CN" sz="2400" b="1" i="0" u="none" strike="noStrike" cap="none" normalizeH="0" baseline="0" dirty="0">
                          <a:ln>
                            <a:noFill/>
                          </a:ln>
                          <a:solidFill>
                            <a:srgbClr val="FF0000"/>
                          </a:solidFill>
                          <a:effectLst/>
                          <a:latin typeface="微软雅黑" panose="020B0503020204020204" charset="-122"/>
                          <a:ea typeface="微软雅黑" panose="020B0503020204020204" charset="-122"/>
                        </a:rPr>
                        <a:t>0</a:t>
                      </a:r>
                      <a:endParaRPr kumimoji="1" lang="en-US" altLang="zh-CN" sz="2400" b="1" i="0" u="none" strike="noStrike" cap="none" normalizeH="0" baseline="0" dirty="0">
                        <a:ln>
                          <a:noFill/>
                        </a:ln>
                        <a:solidFill>
                          <a:srgbClr val="FF0000"/>
                        </a:solidFill>
                        <a:effectLst/>
                        <a:latin typeface="微软雅黑" panose="020B0503020204020204" charset="-122"/>
                        <a:ea typeface="微软雅黑" panose="020B0503020204020204"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accent1"/>
                          </a:solidFill>
                          <a:effectLst/>
                          <a:latin typeface="微软雅黑" panose="020B0503020204020204" charset="-122"/>
                          <a:ea typeface="微软雅黑" panose="020B0503020204020204" charset="-122"/>
                        </a:rPr>
                        <a:t> 0 1 0 1 0 1 0 0 </a:t>
                      </a:r>
                      <a:r>
                        <a:rPr kumimoji="1" lang="en-US" altLang="zh-CN" sz="2400" b="1" i="0" u="none" strike="noStrike" cap="none" normalizeH="0" baseline="0" dirty="0">
                          <a:ln>
                            <a:noFill/>
                          </a:ln>
                          <a:solidFill>
                            <a:srgbClr val="FF0000"/>
                          </a:solidFill>
                          <a:effectLst/>
                          <a:latin typeface="微软雅黑" panose="020B0503020204020204" charset="-122"/>
                          <a:ea typeface="微软雅黑" panose="020B0503020204020204" charset="-122"/>
                        </a:rPr>
                        <a:t>1</a:t>
                      </a:r>
                      <a:endParaRPr kumimoji="1" lang="en-US" altLang="zh-CN" sz="2400" b="1" i="0" u="none" strike="noStrike" cap="none" normalizeH="0" baseline="0" dirty="0">
                        <a:ln>
                          <a:noFill/>
                        </a:ln>
                        <a:solidFill>
                          <a:srgbClr val="FF0000"/>
                        </a:solidFill>
                        <a:effectLst/>
                        <a:latin typeface="微软雅黑" panose="020B0503020204020204" charset="-122"/>
                        <a:ea typeface="微软雅黑" panose="020B0503020204020204"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accent1"/>
                          </a:solidFill>
                          <a:effectLst/>
                          <a:latin typeface="微软雅黑" panose="020B0503020204020204" charset="-122"/>
                          <a:ea typeface="微软雅黑" panose="020B0503020204020204" charset="-122"/>
                        </a:rPr>
                        <a:t> 0 0 0 0 0 0 0 0 </a:t>
                      </a:r>
                      <a:r>
                        <a:rPr kumimoji="1" lang="en-US" altLang="zh-CN" sz="2400" b="1" i="0" u="none" strike="noStrike" cap="none" normalizeH="0" baseline="0" dirty="0">
                          <a:ln>
                            <a:noFill/>
                          </a:ln>
                          <a:solidFill>
                            <a:srgbClr val="FF0000"/>
                          </a:solidFill>
                          <a:effectLst/>
                          <a:latin typeface="微软雅黑" panose="020B0503020204020204" charset="-122"/>
                          <a:ea typeface="微软雅黑" panose="020B0503020204020204" charset="-122"/>
                        </a:rPr>
                        <a:t>0</a:t>
                      </a:r>
                      <a:endParaRPr kumimoji="1" lang="en-US" altLang="zh-CN" sz="2400" b="1" i="0" u="none" strike="noStrike" cap="none" normalizeH="0" baseline="0" dirty="0">
                        <a:ln>
                          <a:noFill/>
                        </a:ln>
                        <a:solidFill>
                          <a:srgbClr val="FF0000"/>
                        </a:solidFill>
                        <a:effectLst/>
                        <a:latin typeface="微软雅黑" panose="020B0503020204020204" charset="-122"/>
                        <a:ea typeface="微软雅黑" panose="020B0503020204020204"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accent1"/>
                          </a:solidFill>
                          <a:effectLst/>
                          <a:latin typeface="微软雅黑" panose="020B0503020204020204" charset="-122"/>
                          <a:ea typeface="微软雅黑" panose="020B0503020204020204" charset="-122"/>
                        </a:rPr>
                        <a:t> 0 1 1 1 1 1 1 1 </a:t>
                      </a:r>
                      <a:r>
                        <a:rPr kumimoji="1" lang="en-US" altLang="zh-CN" sz="2400" b="1" i="0" u="none" strike="noStrike" cap="none" normalizeH="0" baseline="0" dirty="0">
                          <a:ln>
                            <a:noFill/>
                          </a:ln>
                          <a:solidFill>
                            <a:srgbClr val="FF0000"/>
                          </a:solidFill>
                          <a:effectLst/>
                          <a:latin typeface="微软雅黑" panose="020B0503020204020204" charset="-122"/>
                          <a:ea typeface="微软雅黑" panose="020B0503020204020204" charset="-122"/>
                        </a:rPr>
                        <a:t>1</a:t>
                      </a:r>
                      <a:endParaRPr kumimoji="1" lang="en-US" altLang="zh-CN" sz="2400" b="1" i="0" u="none" strike="noStrike" cap="none" normalizeH="0" baseline="0" dirty="0">
                        <a:ln>
                          <a:noFill/>
                        </a:ln>
                        <a:solidFill>
                          <a:srgbClr val="FF0000"/>
                        </a:solidFill>
                        <a:effectLst/>
                        <a:latin typeface="微软雅黑" panose="020B0503020204020204" charset="-122"/>
                        <a:ea typeface="微软雅黑" panose="020B0503020204020204"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accent1"/>
                          </a:solidFill>
                          <a:effectLst/>
                          <a:latin typeface="微软雅黑" panose="020B0503020204020204" charset="-122"/>
                          <a:ea typeface="微软雅黑" panose="020B0503020204020204" charset="-122"/>
                        </a:rPr>
                        <a:t> 1 1 1 1 1 1 1 1 </a:t>
                      </a:r>
                      <a:r>
                        <a:rPr kumimoji="1" lang="en-US" altLang="zh-CN" sz="2400" b="1" i="0" u="none" strike="noStrike" cap="none" normalizeH="0" baseline="0" dirty="0">
                          <a:ln>
                            <a:noFill/>
                          </a:ln>
                          <a:solidFill>
                            <a:srgbClr val="FF0000"/>
                          </a:solidFill>
                          <a:effectLst/>
                          <a:latin typeface="微软雅黑" panose="020B0503020204020204" charset="-122"/>
                          <a:ea typeface="微软雅黑" panose="020B0503020204020204" charset="-122"/>
                        </a:rPr>
                        <a:t>0</a:t>
                      </a:r>
                      <a:endParaRPr kumimoji="0" lang="en-US" altLang="zh-CN" sz="2400" b="1" i="0" u="none" strike="noStrike" cap="none" normalizeH="0" baseline="0" dirty="0">
                        <a:ln>
                          <a:noFill/>
                        </a:ln>
                        <a:solidFill>
                          <a:srgbClr val="FF0000"/>
                        </a:solidFill>
                        <a:effectLst/>
                        <a:latin typeface="微软雅黑" panose="020B0503020204020204" charset="-122"/>
                        <a:ea typeface="微软雅黑" panose="020B0503020204020204"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accent1"/>
                          </a:solidFill>
                          <a:effectLst/>
                          <a:latin typeface="微软雅黑" panose="020B0503020204020204" charset="-122"/>
                          <a:ea typeface="微软雅黑" panose="020B0503020204020204" charset="-122"/>
                        </a:rPr>
                        <a:t> 1 0 1 0 1 0 1 0 </a:t>
                      </a:r>
                      <a:r>
                        <a:rPr kumimoji="1" lang="en-US" altLang="zh-CN" sz="2400" b="1" i="0" u="none" strike="noStrike" cap="none" normalizeH="0" baseline="0" dirty="0">
                          <a:ln>
                            <a:noFill/>
                          </a:ln>
                          <a:solidFill>
                            <a:srgbClr val="FF0000"/>
                          </a:solidFill>
                          <a:effectLst/>
                          <a:latin typeface="微软雅黑" panose="020B0503020204020204" charset="-122"/>
                          <a:ea typeface="微软雅黑" panose="020B0503020204020204" charset="-122"/>
                        </a:rPr>
                        <a:t>1</a:t>
                      </a:r>
                      <a:endParaRPr kumimoji="1" lang="en-US" altLang="zh-CN" sz="2400" b="1" i="0" u="none" strike="noStrike" cap="none" normalizeH="0" baseline="0" dirty="0">
                        <a:ln>
                          <a:noFill/>
                        </a:ln>
                        <a:solidFill>
                          <a:srgbClr val="FF0000"/>
                        </a:solidFill>
                        <a:effectLst/>
                        <a:latin typeface="微软雅黑" panose="020B0503020204020204" charset="-122"/>
                        <a:ea typeface="微软雅黑" panose="020B0503020204020204"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accent1"/>
                          </a:solidFill>
                          <a:effectLst/>
                          <a:latin typeface="微软雅黑" panose="020B0503020204020204" charset="-122"/>
                          <a:ea typeface="微软雅黑" panose="020B0503020204020204" charset="-122"/>
                        </a:rPr>
                        <a:t> 0 1 0 1 0 1 0 0 </a:t>
                      </a:r>
                      <a:r>
                        <a:rPr kumimoji="1" lang="en-US" altLang="zh-CN" sz="2400" b="1" i="0" u="none" strike="noStrike" cap="none" normalizeH="0" baseline="0" dirty="0">
                          <a:ln>
                            <a:noFill/>
                          </a:ln>
                          <a:solidFill>
                            <a:srgbClr val="FF0000"/>
                          </a:solidFill>
                          <a:effectLst/>
                          <a:latin typeface="微软雅黑" panose="020B0503020204020204" charset="-122"/>
                          <a:ea typeface="微软雅黑" panose="020B0503020204020204" charset="-122"/>
                        </a:rPr>
                        <a:t>0</a:t>
                      </a:r>
                      <a:endParaRPr kumimoji="1" lang="en-US" altLang="zh-CN" sz="2400" b="1" i="0" u="none" strike="noStrike" cap="none" normalizeH="0" baseline="0" dirty="0">
                        <a:ln>
                          <a:noFill/>
                        </a:ln>
                        <a:solidFill>
                          <a:srgbClr val="FF0000"/>
                        </a:solidFill>
                        <a:effectLst/>
                        <a:latin typeface="微软雅黑" panose="020B0503020204020204" charset="-122"/>
                        <a:ea typeface="微软雅黑" panose="020B0503020204020204"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accent1"/>
                          </a:solidFill>
                          <a:effectLst/>
                          <a:latin typeface="微软雅黑" panose="020B0503020204020204" charset="-122"/>
                          <a:ea typeface="微软雅黑" panose="020B0503020204020204" charset="-122"/>
                        </a:rPr>
                        <a:t> 0 0 0 0 0 0 0 0 </a:t>
                      </a:r>
                      <a:r>
                        <a:rPr kumimoji="1" lang="en-US" altLang="zh-CN" sz="2400" b="1" i="0" u="none" strike="noStrike" cap="none" normalizeH="0" baseline="0" dirty="0">
                          <a:ln>
                            <a:noFill/>
                          </a:ln>
                          <a:solidFill>
                            <a:srgbClr val="FF0000"/>
                          </a:solidFill>
                          <a:effectLst/>
                          <a:latin typeface="微软雅黑" panose="020B0503020204020204" charset="-122"/>
                          <a:ea typeface="微软雅黑" panose="020B0503020204020204" charset="-122"/>
                        </a:rPr>
                        <a:t>1</a:t>
                      </a:r>
                      <a:endParaRPr kumimoji="1" lang="en-US" altLang="zh-CN" sz="2400" b="1" i="0" u="none" strike="noStrike" cap="none" normalizeH="0" baseline="0" dirty="0">
                        <a:ln>
                          <a:noFill/>
                        </a:ln>
                        <a:solidFill>
                          <a:srgbClr val="FF0000"/>
                        </a:solidFill>
                        <a:effectLst/>
                        <a:latin typeface="微软雅黑" panose="020B0503020204020204" charset="-122"/>
                        <a:ea typeface="微软雅黑" panose="020B0503020204020204"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accent1"/>
                          </a:solidFill>
                          <a:effectLst/>
                          <a:latin typeface="微软雅黑" panose="020B0503020204020204" charset="-122"/>
                          <a:ea typeface="微软雅黑" panose="020B0503020204020204" charset="-122"/>
                        </a:rPr>
                        <a:t> 0 1 1 1 1 1 1 1 </a:t>
                      </a:r>
                      <a:r>
                        <a:rPr kumimoji="1" lang="en-US" altLang="zh-CN" sz="2400" b="1" i="0" u="none" strike="noStrike" cap="none" normalizeH="0" baseline="0" dirty="0">
                          <a:ln>
                            <a:noFill/>
                          </a:ln>
                          <a:solidFill>
                            <a:srgbClr val="FF0000"/>
                          </a:solidFill>
                          <a:effectLst/>
                          <a:latin typeface="微软雅黑" panose="020B0503020204020204" charset="-122"/>
                          <a:ea typeface="微软雅黑" panose="020B0503020204020204" charset="-122"/>
                        </a:rPr>
                        <a:t>0</a:t>
                      </a:r>
                      <a:endParaRPr kumimoji="1" lang="en-US" altLang="zh-CN" sz="2400" b="1" i="0" u="none" strike="noStrike" cap="none" normalizeH="0" baseline="0" dirty="0">
                        <a:ln>
                          <a:noFill/>
                        </a:ln>
                        <a:solidFill>
                          <a:srgbClr val="FF0000"/>
                        </a:solidFill>
                        <a:effectLst/>
                        <a:latin typeface="微软雅黑" panose="020B0503020204020204" charset="-122"/>
                        <a:ea typeface="微软雅黑" panose="020B0503020204020204"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accent1"/>
                          </a:solidFill>
                          <a:effectLst/>
                          <a:latin typeface="微软雅黑" panose="020B0503020204020204" charset="-122"/>
                          <a:ea typeface="微软雅黑" panose="020B0503020204020204" charset="-122"/>
                        </a:rPr>
                        <a:t> 1 1 1 1 1 1 1 1 </a:t>
                      </a:r>
                      <a:r>
                        <a:rPr kumimoji="1" lang="en-US" altLang="zh-CN" sz="2400" b="1" i="0" u="none" strike="noStrike" cap="none" normalizeH="0" baseline="0" dirty="0">
                          <a:ln>
                            <a:noFill/>
                          </a:ln>
                          <a:solidFill>
                            <a:srgbClr val="FF0000"/>
                          </a:solidFill>
                          <a:effectLst/>
                          <a:latin typeface="微软雅黑" panose="020B0503020204020204" charset="-122"/>
                          <a:ea typeface="微软雅黑" panose="020B0503020204020204" charset="-122"/>
                        </a:rPr>
                        <a:t>1</a:t>
                      </a:r>
                      <a:endParaRPr kumimoji="1" lang="en-US" altLang="zh-CN" sz="2400" b="1" i="0" u="none" strike="noStrike" cap="none" normalizeH="0" baseline="0" dirty="0">
                        <a:ln>
                          <a:noFill/>
                        </a:ln>
                        <a:solidFill>
                          <a:srgbClr val="FF0000"/>
                        </a:solidFill>
                        <a:effectLst/>
                        <a:latin typeface="微软雅黑" panose="020B0503020204020204" charset="-122"/>
                        <a:ea typeface="微软雅黑" panose="020B0503020204020204"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1" name="Rectangle 2"/>
          <p:cNvSpPr>
            <a:spLocks noGrp="1" noRot="1"/>
          </p:cNvSpPr>
          <p:nvPr>
            <p:ph type="title"/>
          </p:nvPr>
        </p:nvSpPr>
        <p:spPr>
          <a:noFill/>
          <a:ln>
            <a:noFill/>
          </a:ln>
        </p:spPr>
        <p:txBody>
          <a:bodyPr anchor="t"/>
          <a:p>
            <a:pPr eaLnBrk="1" hangingPunct="1">
              <a:buNone/>
            </a:pPr>
            <a:r>
              <a:rPr lang="zh-CN" altLang="en-US" sz="4000" dirty="0">
                <a:solidFill>
                  <a:srgbClr val="0000FF"/>
                </a:solidFill>
                <a:latin typeface="微软雅黑" panose="020B0503020204020204" charset="-122"/>
                <a:ea typeface="微软雅黑" panose="020B0503020204020204" charset="-122"/>
              </a:rPr>
              <a:t>校验方法</a:t>
            </a:r>
            <a:endParaRPr lang="zh-CN" altLang="en-US" sz="4000" dirty="0">
              <a:solidFill>
                <a:srgbClr val="0000FF"/>
              </a:solidFill>
              <a:latin typeface="微软雅黑" panose="020B0503020204020204" charset="-122"/>
              <a:ea typeface="微软雅黑" panose="020B0503020204020204" charset="-122"/>
            </a:endParaRPr>
          </a:p>
        </p:txBody>
      </p:sp>
      <p:sp>
        <p:nvSpPr>
          <p:cNvPr id="122882" name="Rectangle 3"/>
          <p:cNvSpPr>
            <a:spLocks noGrp="1" noRot="1"/>
          </p:cNvSpPr>
          <p:nvPr>
            <p:ph idx="1"/>
          </p:nvPr>
        </p:nvSpPr>
        <p:spPr>
          <a:xfrm>
            <a:off x="301625" y="1311275"/>
            <a:ext cx="8540750" cy="4881563"/>
          </a:xfrm>
          <a:noFill/>
          <a:ln>
            <a:noFill/>
          </a:ln>
        </p:spPr>
        <p:txBody>
          <a:bodyPr anchor="t"/>
          <a:p>
            <a:pPr algn="just" eaLnBrk="1" hangingPunct="1">
              <a:lnSpc>
                <a:spcPct val="120000"/>
              </a:lnSpc>
              <a:spcBef>
                <a:spcPts val="1200"/>
              </a:spcBef>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发送： </a:t>
            </a:r>
            <a:r>
              <a:rPr lang="en-US" altLang="zh-CN" dirty="0">
                <a:solidFill>
                  <a:schemeClr val="accent1"/>
                </a:solidFill>
                <a:latin typeface="微软雅黑" panose="020B0503020204020204" charset="-122"/>
                <a:ea typeface="微软雅黑" panose="020B0503020204020204" charset="-122"/>
              </a:rPr>
              <a:t>x</a:t>
            </a:r>
            <a:r>
              <a:rPr lang="en-US" altLang="zh-CN" baseline="-25000" dirty="0">
                <a:solidFill>
                  <a:schemeClr val="accent1"/>
                </a:solidFill>
                <a:latin typeface="微软雅黑" panose="020B0503020204020204" charset="-122"/>
                <a:ea typeface="微软雅黑" panose="020B0503020204020204" charset="-122"/>
              </a:rPr>
              <a:t>0 </a:t>
            </a:r>
            <a:r>
              <a:rPr lang="en-US" altLang="zh-CN" dirty="0">
                <a:solidFill>
                  <a:schemeClr val="accent1"/>
                </a:solidFill>
                <a:latin typeface="微软雅黑" panose="020B0503020204020204" charset="-122"/>
                <a:ea typeface="微软雅黑" panose="020B0503020204020204" charset="-122"/>
              </a:rPr>
              <a:t>x</a:t>
            </a:r>
            <a:r>
              <a:rPr lang="en-US" altLang="zh-CN" baseline="-25000" dirty="0">
                <a:solidFill>
                  <a:schemeClr val="accent1"/>
                </a:solidFill>
                <a:latin typeface="微软雅黑" panose="020B0503020204020204" charset="-122"/>
                <a:ea typeface="微软雅黑" panose="020B0503020204020204" charset="-122"/>
              </a:rPr>
              <a:t>1</a:t>
            </a:r>
            <a:r>
              <a:rPr lang="en-US" altLang="zh-CN" dirty="0">
                <a:solidFill>
                  <a:schemeClr val="accent1"/>
                </a:solidFill>
                <a:latin typeface="微软雅黑" panose="020B0503020204020204" charset="-122"/>
                <a:ea typeface="微软雅黑" panose="020B0503020204020204" charset="-122"/>
              </a:rPr>
              <a:t>…x</a:t>
            </a:r>
            <a:r>
              <a:rPr lang="en-US" altLang="zh-CN" baseline="-25000" dirty="0">
                <a:solidFill>
                  <a:schemeClr val="accent1"/>
                </a:solidFill>
                <a:latin typeface="微软雅黑" panose="020B0503020204020204" charset="-122"/>
                <a:ea typeface="微软雅黑" panose="020B0503020204020204" charset="-122"/>
              </a:rPr>
              <a:t>n-1</a:t>
            </a:r>
            <a:r>
              <a:rPr lang="en-US" altLang="zh-CN" dirty="0">
                <a:solidFill>
                  <a:schemeClr val="accent1"/>
                </a:solidFill>
                <a:latin typeface="微软雅黑" panose="020B0503020204020204" charset="-122"/>
                <a:ea typeface="微软雅黑" panose="020B0503020204020204" charset="-122"/>
              </a:rPr>
              <a:t>C </a:t>
            </a:r>
            <a:r>
              <a:rPr lang="en-US" altLang="zh-CN" dirty="0">
                <a:solidFill>
                  <a:schemeClr val="tx2"/>
                </a:solidFill>
                <a:latin typeface="微软雅黑" panose="020B0503020204020204" charset="-122"/>
                <a:ea typeface="微软雅黑" panose="020B0503020204020204" charset="-122"/>
              </a:rPr>
              <a:t>(</a:t>
            </a:r>
            <a:r>
              <a:rPr lang="zh-CN" altLang="en-US" dirty="0">
                <a:solidFill>
                  <a:schemeClr val="tx2"/>
                </a:solidFill>
                <a:latin typeface="微软雅黑" panose="020B0503020204020204" charset="-122"/>
                <a:ea typeface="微软雅黑" panose="020B0503020204020204" charset="-122"/>
              </a:rPr>
              <a:t>算出</a:t>
            </a:r>
            <a:r>
              <a:rPr lang="en-US" altLang="zh-CN" dirty="0">
                <a:solidFill>
                  <a:schemeClr val="tx2"/>
                </a:solidFill>
                <a:latin typeface="微软雅黑" panose="020B0503020204020204" charset="-122"/>
                <a:ea typeface="微软雅黑" panose="020B0503020204020204" charset="-122"/>
              </a:rPr>
              <a:t>C</a:t>
            </a:r>
            <a:r>
              <a:rPr lang="zh-CN" altLang="en-US" dirty="0">
                <a:solidFill>
                  <a:schemeClr val="tx2"/>
                </a:solidFill>
                <a:latin typeface="微软雅黑" panose="020B0503020204020204" charset="-122"/>
                <a:ea typeface="微软雅黑" panose="020B0503020204020204" charset="-122"/>
              </a:rPr>
              <a:t>加到需发送字的后面</a:t>
            </a:r>
            <a:r>
              <a:rPr lang="en-US" altLang="zh-CN" dirty="0">
                <a:solidFill>
                  <a:schemeClr val="tx2"/>
                </a:solidFill>
                <a:latin typeface="微软雅黑" panose="020B0503020204020204" charset="-122"/>
                <a:ea typeface="微软雅黑" panose="020B0503020204020204" charset="-122"/>
              </a:rPr>
              <a:t>)</a:t>
            </a:r>
            <a:endParaRPr lang="en-US" altLang="zh-CN" dirty="0">
              <a:solidFill>
                <a:schemeClr val="tx2"/>
              </a:solidFill>
              <a:latin typeface="微软雅黑" panose="020B0503020204020204" charset="-122"/>
              <a:ea typeface="微软雅黑" panose="020B0503020204020204" charset="-122"/>
            </a:endParaRPr>
          </a:p>
          <a:p>
            <a:pPr algn="just" eaLnBrk="1" hangingPunct="1">
              <a:lnSpc>
                <a:spcPct val="120000"/>
              </a:lnSpc>
              <a:spcBef>
                <a:spcPts val="1200"/>
              </a:spcBef>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接收</a:t>
            </a:r>
            <a:r>
              <a:rPr lang="zh-CN" altLang="en-US" dirty="0">
                <a:solidFill>
                  <a:schemeClr val="accent1"/>
                </a:solidFill>
                <a:latin typeface="微软雅黑" panose="020B0503020204020204" charset="-122"/>
                <a:ea typeface="微软雅黑" panose="020B0503020204020204" charset="-122"/>
              </a:rPr>
              <a:t>： </a:t>
            </a:r>
            <a:r>
              <a:rPr lang="en-US" altLang="zh-CN" dirty="0">
                <a:solidFill>
                  <a:schemeClr val="accent1"/>
                </a:solidFill>
                <a:latin typeface="微软雅黑" panose="020B0503020204020204" charset="-122"/>
                <a:ea typeface="微软雅黑" panose="020B0503020204020204" charset="-122"/>
              </a:rPr>
              <a:t>x</a:t>
            </a:r>
            <a:r>
              <a:rPr lang="en-US" altLang="zh-CN" baseline="-25000" dirty="0">
                <a:solidFill>
                  <a:schemeClr val="accent1"/>
                </a:solidFill>
                <a:latin typeface="微软雅黑" panose="020B0503020204020204" charset="-122"/>
                <a:ea typeface="微软雅黑" panose="020B0503020204020204" charset="-122"/>
              </a:rPr>
              <a:t>0</a:t>
            </a:r>
            <a:r>
              <a:rPr lang="en-US" altLang="zh-CN" dirty="0">
                <a:solidFill>
                  <a:schemeClr val="accent1"/>
                </a:solidFill>
                <a:latin typeface="微软雅黑" panose="020B0503020204020204" charset="-122"/>
                <a:ea typeface="微软雅黑" panose="020B0503020204020204" charset="-122"/>
              </a:rPr>
              <a:t> ' x</a:t>
            </a:r>
            <a:r>
              <a:rPr lang="en-US" altLang="zh-CN" baseline="-25000" dirty="0">
                <a:solidFill>
                  <a:schemeClr val="accent1"/>
                </a:solidFill>
                <a:latin typeface="微软雅黑" panose="020B0503020204020204" charset="-122"/>
                <a:ea typeface="微软雅黑" panose="020B0503020204020204" charset="-122"/>
              </a:rPr>
              <a:t>1 </a:t>
            </a:r>
            <a:r>
              <a:rPr lang="en-US" altLang="zh-CN" dirty="0">
                <a:solidFill>
                  <a:schemeClr val="accent1"/>
                </a:solidFill>
                <a:latin typeface="微软雅黑" panose="020B0503020204020204" charset="-122"/>
                <a:ea typeface="微软雅黑" panose="020B0503020204020204" charset="-122"/>
              </a:rPr>
              <a:t>' …x</a:t>
            </a:r>
            <a:r>
              <a:rPr lang="en-US" altLang="zh-CN" baseline="-25000" dirty="0">
                <a:solidFill>
                  <a:schemeClr val="accent1"/>
                </a:solidFill>
                <a:latin typeface="微软雅黑" panose="020B0503020204020204" charset="-122"/>
                <a:ea typeface="微软雅黑" panose="020B0503020204020204" charset="-122"/>
              </a:rPr>
              <a:t>n-1</a:t>
            </a:r>
            <a:r>
              <a:rPr lang="en-US" altLang="zh-CN" dirty="0">
                <a:solidFill>
                  <a:schemeClr val="accent1"/>
                </a:solidFill>
                <a:latin typeface="微软雅黑" panose="020B0503020204020204" charset="-122"/>
                <a:ea typeface="微软雅黑" panose="020B0503020204020204" charset="-122"/>
              </a:rPr>
              <a:t> ' C ' </a:t>
            </a:r>
            <a:endParaRPr lang="en-US" altLang="zh-CN" dirty="0">
              <a:solidFill>
                <a:schemeClr val="accent1"/>
              </a:solidFill>
              <a:latin typeface="微软雅黑" panose="020B0503020204020204" charset="-122"/>
              <a:ea typeface="微软雅黑" panose="020B0503020204020204" charset="-122"/>
            </a:endParaRPr>
          </a:p>
          <a:p>
            <a:pPr algn="just" eaLnBrk="1" hangingPunct="1">
              <a:lnSpc>
                <a:spcPct val="120000"/>
              </a:lnSpc>
              <a:spcBef>
                <a:spcPts val="1200"/>
              </a:spcBef>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计算：</a:t>
            </a:r>
            <a:r>
              <a:rPr lang="en-US" altLang="zh-CN" dirty="0">
                <a:solidFill>
                  <a:schemeClr val="accent1"/>
                </a:solidFill>
                <a:latin typeface="微软雅黑" panose="020B0503020204020204" charset="-122"/>
                <a:ea typeface="微软雅黑" panose="020B0503020204020204" charset="-122"/>
              </a:rPr>
              <a:t>F =x'</a:t>
            </a:r>
            <a:r>
              <a:rPr lang="en-US" altLang="zh-CN" baseline="-25000" dirty="0">
                <a:solidFill>
                  <a:schemeClr val="accent1"/>
                </a:solidFill>
                <a:latin typeface="微软雅黑" panose="020B0503020204020204" charset="-122"/>
                <a:ea typeface="微软雅黑" panose="020B0503020204020204" charset="-122"/>
              </a:rPr>
              <a:t>0</a:t>
            </a:r>
            <a:r>
              <a:rPr lang="en-US" altLang="zh-CN" dirty="0">
                <a:solidFill>
                  <a:schemeClr val="accent1"/>
                </a:solidFill>
                <a:latin typeface="微软雅黑" panose="020B0503020204020204" charset="-122"/>
                <a:ea typeface="微软雅黑" panose="020B0503020204020204" charset="-122"/>
              </a:rPr>
              <a:t>⊕x'</a:t>
            </a:r>
            <a:r>
              <a:rPr lang="en-US" altLang="zh-CN" baseline="-25000" dirty="0">
                <a:solidFill>
                  <a:schemeClr val="accent1"/>
                </a:solidFill>
                <a:latin typeface="微软雅黑" panose="020B0503020204020204" charset="-122"/>
                <a:ea typeface="微软雅黑" panose="020B0503020204020204" charset="-122"/>
              </a:rPr>
              <a:t>1</a:t>
            </a:r>
            <a:r>
              <a:rPr lang="en-US" altLang="zh-CN" dirty="0">
                <a:solidFill>
                  <a:schemeClr val="accent1"/>
                </a:solidFill>
                <a:latin typeface="微软雅黑" panose="020B0503020204020204" charset="-122"/>
                <a:ea typeface="微软雅黑" panose="020B0503020204020204" charset="-122"/>
              </a:rPr>
              <a:t>⊕…⊕x'</a:t>
            </a:r>
            <a:r>
              <a:rPr lang="en-US" altLang="zh-CN" baseline="-25000" dirty="0">
                <a:solidFill>
                  <a:schemeClr val="accent1"/>
                </a:solidFill>
                <a:latin typeface="微软雅黑" panose="020B0503020204020204" charset="-122"/>
                <a:ea typeface="微软雅黑" panose="020B0503020204020204" charset="-122"/>
              </a:rPr>
              <a:t>n-1</a:t>
            </a:r>
            <a:r>
              <a:rPr lang="en-US" altLang="zh-CN" dirty="0">
                <a:solidFill>
                  <a:schemeClr val="accent1"/>
                </a:solidFill>
                <a:latin typeface="微软雅黑" panose="020B0503020204020204" charset="-122"/>
                <a:ea typeface="微软雅黑" panose="020B0503020204020204" charset="-122"/>
              </a:rPr>
              <a:t>⊕C ‘</a:t>
            </a:r>
            <a:endParaRPr lang="en-US" altLang="zh-CN" dirty="0">
              <a:solidFill>
                <a:schemeClr val="accent1"/>
              </a:solidFill>
              <a:latin typeface="微软雅黑" panose="020B0503020204020204" charset="-122"/>
              <a:ea typeface="微软雅黑" panose="020B0503020204020204" charset="-122"/>
            </a:endParaRPr>
          </a:p>
          <a:p>
            <a:pPr algn="just" eaLnBrk="1" hangingPunct="1">
              <a:lnSpc>
                <a:spcPct val="120000"/>
              </a:lnSpc>
              <a:spcBef>
                <a:spcPts val="1200"/>
              </a:spcBef>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结果（偶校验）：</a:t>
            </a:r>
            <a:endParaRPr lang="zh-CN" altLang="en-US" dirty="0">
              <a:solidFill>
                <a:schemeClr val="tx2"/>
              </a:solidFill>
              <a:latin typeface="微软雅黑" panose="020B0503020204020204" charset="-122"/>
              <a:ea typeface="微软雅黑" panose="020B0503020204020204" charset="-122"/>
            </a:endParaRPr>
          </a:p>
          <a:p>
            <a:pPr lvl="1">
              <a:lnSpc>
                <a:spcPct val="120000"/>
              </a:lnSpc>
            </a:pPr>
            <a:r>
              <a:rPr lang="zh-CN" altLang="en-US" sz="2400" b="1" dirty="0">
                <a:solidFill>
                  <a:schemeClr val="accent1"/>
                </a:solidFill>
                <a:latin typeface="微软雅黑" panose="020B0503020204020204" charset="-122"/>
                <a:ea typeface="微软雅黑" panose="020B0503020204020204" charset="-122"/>
              </a:rPr>
              <a:t>若</a:t>
            </a:r>
            <a:r>
              <a:rPr lang="en-US" altLang="zh-CN" sz="2400" b="1" i="1" dirty="0">
                <a:solidFill>
                  <a:schemeClr val="accent1"/>
                </a:solidFill>
                <a:latin typeface="微软雅黑" panose="020B0503020204020204" charset="-122"/>
                <a:ea typeface="微软雅黑" panose="020B0503020204020204" charset="-122"/>
              </a:rPr>
              <a:t>F </a:t>
            </a:r>
            <a:r>
              <a:rPr lang="en-US" altLang="zh-CN" sz="2400" b="1" dirty="0">
                <a:solidFill>
                  <a:schemeClr val="accent1"/>
                </a:solidFill>
                <a:latin typeface="微软雅黑" panose="020B0503020204020204" charset="-122"/>
                <a:ea typeface="微软雅黑" panose="020B0503020204020204" charset="-122"/>
              </a:rPr>
              <a:t>=1</a:t>
            </a:r>
            <a:r>
              <a:rPr lang="zh-CN" altLang="en-US" sz="2400" b="1" dirty="0">
                <a:solidFill>
                  <a:schemeClr val="accent1"/>
                </a:solidFill>
                <a:latin typeface="微软雅黑" panose="020B0503020204020204" charset="-122"/>
                <a:ea typeface="微软雅黑" panose="020B0503020204020204" charset="-122"/>
              </a:rPr>
              <a:t>，意味着收到的信息有错；</a:t>
            </a:r>
            <a:endParaRPr lang="zh-CN" altLang="en-US" sz="2400" b="1" dirty="0">
              <a:solidFill>
                <a:schemeClr val="accent1"/>
              </a:solidFill>
              <a:latin typeface="微软雅黑" panose="020B0503020204020204" charset="-122"/>
              <a:ea typeface="微软雅黑" panose="020B0503020204020204" charset="-122"/>
            </a:endParaRPr>
          </a:p>
          <a:p>
            <a:pPr lvl="1">
              <a:lnSpc>
                <a:spcPct val="120000"/>
              </a:lnSpc>
            </a:pPr>
            <a:r>
              <a:rPr lang="zh-CN" altLang="en-US" sz="2400" b="1" dirty="0">
                <a:solidFill>
                  <a:schemeClr val="accent1"/>
                </a:solidFill>
                <a:latin typeface="微软雅黑" panose="020B0503020204020204" charset="-122"/>
                <a:ea typeface="微软雅黑" panose="020B0503020204020204" charset="-122"/>
              </a:rPr>
              <a:t>若</a:t>
            </a:r>
            <a:r>
              <a:rPr lang="en-US" altLang="zh-CN" sz="2400" b="1" i="1" dirty="0">
                <a:solidFill>
                  <a:schemeClr val="accent1"/>
                </a:solidFill>
                <a:latin typeface="微软雅黑" panose="020B0503020204020204" charset="-122"/>
                <a:ea typeface="微软雅黑" panose="020B0503020204020204" charset="-122"/>
              </a:rPr>
              <a:t>F </a:t>
            </a:r>
            <a:r>
              <a:rPr lang="en-US" altLang="zh-CN" sz="2400" b="1" dirty="0">
                <a:solidFill>
                  <a:schemeClr val="accent1"/>
                </a:solidFill>
                <a:latin typeface="微软雅黑" panose="020B0503020204020204" charset="-122"/>
                <a:ea typeface="微软雅黑" panose="020B0503020204020204" charset="-122"/>
              </a:rPr>
              <a:t>=0</a:t>
            </a:r>
            <a:r>
              <a:rPr lang="zh-CN" altLang="en-US" sz="2400" b="1" dirty="0">
                <a:solidFill>
                  <a:schemeClr val="accent1"/>
                </a:solidFill>
                <a:latin typeface="微软雅黑" panose="020B0503020204020204" charset="-122"/>
                <a:ea typeface="微软雅黑" panose="020B0503020204020204" charset="-122"/>
              </a:rPr>
              <a:t>，表明</a:t>
            </a:r>
            <a:r>
              <a:rPr lang="en-US" altLang="zh-CN" sz="2400" b="1" i="1" dirty="0">
                <a:solidFill>
                  <a:schemeClr val="accent1"/>
                </a:solidFill>
                <a:latin typeface="微软雅黑" panose="020B0503020204020204" charset="-122"/>
                <a:ea typeface="微软雅黑" panose="020B0503020204020204" charset="-122"/>
              </a:rPr>
              <a:t>x</a:t>
            </a:r>
            <a:r>
              <a:rPr lang="zh-CN" altLang="en-US" sz="2400" b="1" dirty="0">
                <a:solidFill>
                  <a:schemeClr val="accent1"/>
                </a:solidFill>
                <a:latin typeface="微软雅黑" panose="020B0503020204020204" charset="-122"/>
                <a:ea typeface="微软雅黑" panose="020B0503020204020204" charset="-122"/>
              </a:rPr>
              <a:t>字传送正确。</a:t>
            </a:r>
            <a:endParaRPr lang="zh-CN" altLang="en-US" sz="2400" b="1" dirty="0">
              <a:solidFill>
                <a:schemeClr val="accent1"/>
              </a:solidFill>
              <a:latin typeface="微软雅黑" panose="020B0503020204020204" charset="-122"/>
              <a:ea typeface="微软雅黑" panose="020B0503020204020204" charset="-122"/>
            </a:endParaRPr>
          </a:p>
          <a:p>
            <a:pPr algn="just" eaLnBrk="1" hangingPunct="1">
              <a:lnSpc>
                <a:spcPct val="120000"/>
              </a:lnSpc>
              <a:spcBef>
                <a:spcPts val="1200"/>
              </a:spcBef>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特点：奇偶校验可提供单个错误检测，</a:t>
            </a:r>
            <a:r>
              <a:rPr lang="zh-CN" altLang="en-US" dirty="0">
                <a:solidFill>
                  <a:srgbClr val="FF0000"/>
                </a:solidFill>
                <a:latin typeface="微软雅黑" panose="020B0503020204020204" charset="-122"/>
                <a:ea typeface="微软雅黑" panose="020B0503020204020204" charset="-122"/>
              </a:rPr>
              <a:t>无法检测多个错误</a:t>
            </a:r>
            <a:r>
              <a:rPr lang="en-US" altLang="zh-CN" dirty="0">
                <a:solidFill>
                  <a:schemeClr val="tx2"/>
                </a:solidFill>
                <a:latin typeface="微软雅黑" panose="020B0503020204020204" charset="-122"/>
                <a:ea typeface="微软雅黑" panose="020B0503020204020204" charset="-122"/>
              </a:rPr>
              <a:t>,</a:t>
            </a:r>
            <a:r>
              <a:rPr lang="zh-CN" altLang="en-US" dirty="0">
                <a:solidFill>
                  <a:schemeClr val="tx2"/>
                </a:solidFill>
                <a:latin typeface="微软雅黑" panose="020B0503020204020204" charset="-122"/>
                <a:ea typeface="微软雅黑" panose="020B0503020204020204" charset="-122"/>
              </a:rPr>
              <a:t>更</a:t>
            </a:r>
            <a:r>
              <a:rPr lang="zh-CN" altLang="en-US" dirty="0">
                <a:solidFill>
                  <a:srgbClr val="FF0000"/>
                </a:solidFill>
                <a:latin typeface="微软雅黑" panose="020B0503020204020204" charset="-122"/>
                <a:ea typeface="微软雅黑" panose="020B0503020204020204" charset="-122"/>
              </a:rPr>
              <a:t>无法识别错误信息的位置及纠正错误</a:t>
            </a:r>
            <a:r>
              <a:rPr lang="zh-CN" altLang="en-US" dirty="0">
                <a:solidFill>
                  <a:schemeClr val="tx2"/>
                </a:solidFill>
                <a:latin typeface="微软雅黑" panose="020B0503020204020204" charset="-122"/>
                <a:ea typeface="微软雅黑" panose="020B0503020204020204" charset="-122"/>
              </a:rPr>
              <a:t>。</a:t>
            </a:r>
            <a:endParaRPr lang="zh-CN" altLang="en-US" dirty="0">
              <a:solidFill>
                <a:schemeClr val="tx2"/>
              </a:solidFill>
              <a:latin typeface="微软雅黑" panose="020B0503020204020204" charset="-122"/>
              <a:ea typeface="微软雅黑" panose="020B0503020204020204"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29" name="Rectangle 2"/>
          <p:cNvSpPr>
            <a:spLocks noGrp="1"/>
          </p:cNvSpPr>
          <p:nvPr>
            <p:ph type="title"/>
          </p:nvPr>
        </p:nvSpPr>
        <p:spPr>
          <a:xfrm>
            <a:off x="457200" y="228600"/>
            <a:ext cx="8001000" cy="1143000"/>
          </a:xfrm>
          <a:noFill/>
          <a:ln>
            <a:noFill/>
          </a:ln>
        </p:spPr>
        <p:txBody>
          <a:bodyPr anchor="t"/>
          <a:p>
            <a:pPr eaLnBrk="1" hangingPunct="1">
              <a:buNone/>
            </a:pPr>
            <a:r>
              <a:rPr lang="zh-CN" altLang="en-US" sz="4000" dirty="0">
                <a:solidFill>
                  <a:srgbClr val="0000FF"/>
                </a:solidFill>
                <a:latin typeface="微软雅黑" panose="020B0503020204020204" charset="-122"/>
                <a:ea typeface="微软雅黑" panose="020B0503020204020204" charset="-122"/>
              </a:rPr>
              <a:t>海明校验码 </a:t>
            </a:r>
            <a:endParaRPr lang="en-US" altLang="zh-CN" sz="4000" dirty="0">
              <a:solidFill>
                <a:srgbClr val="0000FF"/>
              </a:solidFill>
              <a:latin typeface="微软雅黑" panose="020B0503020204020204" charset="-122"/>
              <a:ea typeface="微软雅黑" panose="020B0503020204020204" charset="-122"/>
            </a:endParaRPr>
          </a:p>
        </p:txBody>
      </p:sp>
      <p:sp>
        <p:nvSpPr>
          <p:cNvPr id="124930" name="Rectangle 3"/>
          <p:cNvSpPr>
            <a:spLocks noGrp="1"/>
          </p:cNvSpPr>
          <p:nvPr>
            <p:ph idx="1"/>
          </p:nvPr>
        </p:nvSpPr>
        <p:spPr>
          <a:xfrm>
            <a:off x="457200" y="1524000"/>
            <a:ext cx="8001000" cy="4497388"/>
          </a:xfrm>
          <a:noFill/>
          <a:ln>
            <a:noFill/>
          </a:ln>
        </p:spPr>
        <p:txBody>
          <a:bodyPr anchor="t"/>
          <a:p>
            <a:pPr eaLnBrk="1" hangingPunct="1">
              <a:spcBef>
                <a:spcPts val="1800"/>
              </a:spcBef>
              <a:buClr>
                <a:schemeClr val="tx2"/>
              </a:buClr>
              <a:buSzPct val="80000"/>
              <a:buChar char="u"/>
            </a:pPr>
            <a:r>
              <a:rPr lang="zh-CN" altLang="en-US" sz="3200" dirty="0">
                <a:solidFill>
                  <a:schemeClr val="tx2"/>
                </a:solidFill>
                <a:latin typeface="微软雅黑" panose="020B0503020204020204" charset="-122"/>
                <a:ea typeface="微软雅黑" panose="020B0503020204020204" charset="-122"/>
              </a:rPr>
              <a:t>海明码实际上是一种多重奇偶校验</a:t>
            </a:r>
            <a:endParaRPr lang="en-US" altLang="zh-CN" sz="3200" dirty="0">
              <a:solidFill>
                <a:schemeClr val="tx2"/>
              </a:solidFill>
              <a:latin typeface="微软雅黑" panose="020B0503020204020204" charset="-122"/>
              <a:ea typeface="微软雅黑" panose="020B0503020204020204" charset="-122"/>
            </a:endParaRPr>
          </a:p>
          <a:p>
            <a:pPr eaLnBrk="1" hangingPunct="1">
              <a:spcBef>
                <a:spcPts val="1800"/>
              </a:spcBef>
              <a:buClr>
                <a:schemeClr val="tx2"/>
              </a:buClr>
              <a:buSzPct val="80000"/>
              <a:buChar char="u"/>
            </a:pPr>
            <a:r>
              <a:rPr lang="zh-CN" altLang="en-US" sz="3200" dirty="0">
                <a:solidFill>
                  <a:schemeClr val="tx2"/>
                </a:solidFill>
                <a:latin typeface="微软雅黑" panose="020B0503020204020204" charset="-122"/>
                <a:ea typeface="微软雅黑" panose="020B0503020204020204" charset="-122"/>
              </a:rPr>
              <a:t>其实现原理是：</a:t>
            </a:r>
            <a:endParaRPr lang="en-US" altLang="zh-CN" sz="3200" dirty="0">
              <a:solidFill>
                <a:schemeClr val="tx2"/>
              </a:solidFill>
              <a:latin typeface="微软雅黑" panose="020B0503020204020204" charset="-122"/>
              <a:ea typeface="微软雅黑" panose="020B0503020204020204" charset="-122"/>
            </a:endParaRPr>
          </a:p>
          <a:p>
            <a:pPr lvl="1">
              <a:lnSpc>
                <a:spcPct val="120000"/>
              </a:lnSpc>
              <a:spcBef>
                <a:spcPts val="1200"/>
              </a:spcBef>
              <a:buSzPct val="80000"/>
            </a:pPr>
            <a:r>
              <a:rPr lang="zh-CN" altLang="en-US" sz="2400" b="1" dirty="0">
                <a:solidFill>
                  <a:schemeClr val="accent1"/>
                </a:solidFill>
                <a:latin typeface="微软雅黑" panose="020B0503020204020204" charset="-122"/>
                <a:ea typeface="微软雅黑" panose="020B0503020204020204" charset="-122"/>
              </a:rPr>
              <a:t>在有效信息位中</a:t>
            </a:r>
            <a:r>
              <a:rPr lang="zh-CN" altLang="en-US" sz="2400" b="1" dirty="0">
                <a:solidFill>
                  <a:srgbClr val="FF0000"/>
                </a:solidFill>
                <a:latin typeface="微软雅黑" panose="020B0503020204020204" charset="-122"/>
                <a:ea typeface="微软雅黑" panose="020B0503020204020204" charset="-122"/>
              </a:rPr>
              <a:t>加入几个校验位</a:t>
            </a:r>
            <a:r>
              <a:rPr lang="zh-CN" altLang="en-US" sz="2400" b="1" dirty="0">
                <a:solidFill>
                  <a:schemeClr val="accent1"/>
                </a:solidFill>
                <a:latin typeface="微软雅黑" panose="020B0503020204020204" charset="-122"/>
                <a:ea typeface="微软雅黑" panose="020B0503020204020204" charset="-122"/>
              </a:rPr>
              <a:t>形成海明码，使码距比较均匀地拉大，并把海明码的每一个二进制位分配到几个奇偶校验组中。</a:t>
            </a:r>
            <a:endParaRPr lang="en-US" altLang="zh-CN" sz="2400" b="1" dirty="0">
              <a:solidFill>
                <a:schemeClr val="accent1"/>
              </a:solidFill>
              <a:latin typeface="微软雅黑" panose="020B0503020204020204" charset="-122"/>
              <a:ea typeface="微软雅黑" panose="020B0503020204020204" charset="-122"/>
            </a:endParaRPr>
          </a:p>
          <a:p>
            <a:pPr lvl="1">
              <a:lnSpc>
                <a:spcPct val="120000"/>
              </a:lnSpc>
              <a:spcBef>
                <a:spcPts val="1200"/>
              </a:spcBef>
              <a:buSzPct val="80000"/>
            </a:pPr>
            <a:r>
              <a:rPr lang="zh-CN" altLang="en-US" sz="2400" b="1" dirty="0">
                <a:solidFill>
                  <a:srgbClr val="FF0000"/>
                </a:solidFill>
                <a:latin typeface="微软雅黑" panose="020B0503020204020204" charset="-122"/>
                <a:ea typeface="微软雅黑" panose="020B0503020204020204" charset="-122"/>
              </a:rPr>
              <a:t>当某一位出错后，就会引起有关的几个校验位的值发生变化</a:t>
            </a:r>
            <a:r>
              <a:rPr lang="zh-CN" altLang="en-US" sz="2400" b="1" dirty="0">
                <a:solidFill>
                  <a:schemeClr val="accent1"/>
                </a:solidFill>
                <a:latin typeface="微软雅黑" panose="020B0503020204020204" charset="-122"/>
                <a:ea typeface="微软雅黑" panose="020B0503020204020204" charset="-122"/>
              </a:rPr>
              <a:t>，这不但可以发现错误，还能指出错误的位置，为自动纠错提供了依据。 </a:t>
            </a:r>
            <a:endParaRPr lang="en-US" altLang="zh-CN" sz="2400" b="1" dirty="0">
              <a:solidFill>
                <a:schemeClr val="accent1"/>
              </a:solidFill>
              <a:latin typeface="微软雅黑" panose="020B0503020204020204" charset="-122"/>
              <a:ea typeface="微软雅黑" panose="020B0503020204020204" charset="-122"/>
            </a:endParaRPr>
          </a:p>
        </p:txBody>
      </p:sp>
      <p:sp>
        <p:nvSpPr>
          <p:cNvPr id="124931" name="灯片编号占位符 5"/>
          <p:cNvSpPr txBox="1">
            <a:spLocks noGrp="1"/>
          </p:cNvSpPr>
          <p:nvPr>
            <p:ph type="sldNum" sz="quarter"/>
          </p:nvPr>
        </p:nvSpPr>
        <p:spPr>
          <a:xfrm>
            <a:off x="7239000" y="6248400"/>
            <a:ext cx="1581150" cy="493713"/>
          </a:xfrm>
          <a:prstGeom prst="rect">
            <a:avLst/>
          </a:prstGeom>
          <a:noFill/>
          <a:ln w="9525">
            <a:noFill/>
          </a:ln>
        </p:spPr>
        <p:txBody>
          <a:bodyPr anchor="t"/>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eaLnBrk="1" hangingPunct="1"/>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29" name="Rectangle 2"/>
          <p:cNvSpPr>
            <a:spLocks noGrp="1"/>
          </p:cNvSpPr>
          <p:nvPr>
            <p:ph type="title"/>
          </p:nvPr>
        </p:nvSpPr>
        <p:spPr>
          <a:xfrm>
            <a:off x="457200" y="228600"/>
            <a:ext cx="8001000" cy="1143000"/>
          </a:xfrm>
          <a:noFill/>
          <a:ln>
            <a:noFill/>
          </a:ln>
        </p:spPr>
        <p:txBody>
          <a:bodyPr anchor="t"/>
          <a:p>
            <a:pPr eaLnBrk="1" hangingPunct="1">
              <a:buNone/>
            </a:pPr>
            <a:r>
              <a:rPr lang="zh-CN" altLang="en-US" sz="4000" dirty="0">
                <a:solidFill>
                  <a:srgbClr val="0000FF"/>
                </a:solidFill>
                <a:latin typeface="微软雅黑" panose="020B0503020204020204" charset="-122"/>
                <a:ea typeface="微软雅黑" panose="020B0503020204020204" charset="-122"/>
              </a:rPr>
              <a:t>海明校验码 </a:t>
            </a:r>
            <a:endParaRPr lang="en-US" altLang="zh-CN" sz="4000" dirty="0">
              <a:solidFill>
                <a:srgbClr val="0000FF"/>
              </a:solidFill>
              <a:latin typeface="微软雅黑" panose="020B0503020204020204" charset="-122"/>
              <a:ea typeface="微软雅黑" panose="020B0503020204020204" charset="-122"/>
            </a:endParaRPr>
          </a:p>
        </p:txBody>
      </p:sp>
      <p:sp>
        <p:nvSpPr>
          <p:cNvPr id="124931" name="灯片编号占位符 5"/>
          <p:cNvSpPr txBox="1">
            <a:spLocks noGrp="1"/>
          </p:cNvSpPr>
          <p:nvPr>
            <p:ph type="sldNum" sz="quarter"/>
          </p:nvPr>
        </p:nvSpPr>
        <p:spPr>
          <a:xfrm>
            <a:off x="7239000" y="6248400"/>
            <a:ext cx="1581150" cy="493713"/>
          </a:xfrm>
          <a:prstGeom prst="rect">
            <a:avLst/>
          </a:prstGeom>
          <a:noFill/>
          <a:ln w="9525">
            <a:noFill/>
          </a:ln>
        </p:spPr>
        <p:txBody>
          <a:bodyPr anchor="t"/>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eaLnBrk="1" hangingPunct="1"/>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pic>
        <p:nvPicPr>
          <p:cNvPr id="3" name="图片 2"/>
          <p:cNvPicPr>
            <a:picLocks noChangeAspect="1"/>
          </p:cNvPicPr>
          <p:nvPr/>
        </p:nvPicPr>
        <p:blipFill>
          <a:blip r:embed="rId1"/>
          <a:stretch>
            <a:fillRect/>
          </a:stretch>
        </p:blipFill>
        <p:spPr>
          <a:xfrm>
            <a:off x="882015" y="1196975"/>
            <a:ext cx="7576185" cy="3347720"/>
          </a:xfrm>
          <a:prstGeom prst="rect">
            <a:avLst/>
          </a:prstGeom>
        </p:spPr>
      </p:pic>
      <p:sp>
        <p:nvSpPr>
          <p:cNvPr id="4" name="文本框 3"/>
          <p:cNvSpPr txBox="1"/>
          <p:nvPr/>
        </p:nvSpPr>
        <p:spPr>
          <a:xfrm>
            <a:off x="828040" y="4653280"/>
            <a:ext cx="7575550" cy="1476375"/>
          </a:xfrm>
          <a:prstGeom prst="rect">
            <a:avLst/>
          </a:prstGeom>
          <a:noFill/>
        </p:spPr>
        <p:txBody>
          <a:bodyPr wrap="square" rtlCol="0">
            <a:spAutoFit/>
          </a:bodyPr>
          <a:p>
            <a:pPr algn="ctr"/>
            <a:r>
              <a:rPr lang="zh-CN" altLang="en-US" sz="2000" b="1">
                <a:solidFill>
                  <a:schemeClr val="accent1">
                    <a:lumMod val="75000"/>
                  </a:schemeClr>
                </a:solidFill>
                <a:latin typeface="微软雅黑" panose="020B0503020204020204" charset="-122"/>
                <a:ea typeface="微软雅黑" panose="020B0503020204020204" charset="-122"/>
              </a:rPr>
              <a:t>图：数据校验过程</a:t>
            </a:r>
            <a:endParaRPr lang="zh-CN" altLang="en-US" sz="2000" b="1">
              <a:solidFill>
                <a:schemeClr val="accent1">
                  <a:lumMod val="75000"/>
                </a:schemeClr>
              </a:solidFill>
              <a:latin typeface="微软雅黑" panose="020B0503020204020204" charset="-122"/>
              <a:ea typeface="微软雅黑" panose="020B0503020204020204" charset="-122"/>
            </a:endParaRPr>
          </a:p>
          <a:p>
            <a:pPr algn="ctr">
              <a:spcBef>
                <a:spcPts val="1200"/>
              </a:spcBef>
            </a:pPr>
            <a:r>
              <a:rPr lang="en-US" altLang="zh-CN" sz="2000" b="1">
                <a:solidFill>
                  <a:schemeClr val="accent1">
                    <a:lumMod val="75000"/>
                  </a:schemeClr>
                </a:solidFill>
                <a:latin typeface="微软雅黑" panose="020B0503020204020204" charset="-122"/>
                <a:ea typeface="微软雅黑" panose="020B0503020204020204" charset="-122"/>
              </a:rPr>
              <a:t>M:</a:t>
            </a:r>
            <a:r>
              <a:rPr lang="zh-CN" altLang="en-US" sz="2000" b="1">
                <a:solidFill>
                  <a:schemeClr val="accent1">
                    <a:lumMod val="75000"/>
                  </a:schemeClr>
                </a:solidFill>
                <a:latin typeface="微软雅黑" panose="020B0503020204020204" charset="-122"/>
                <a:ea typeface="微软雅黑" panose="020B0503020204020204" charset="-122"/>
              </a:rPr>
              <a:t>数据，</a:t>
            </a:r>
            <a:r>
              <a:rPr lang="en-US" altLang="zh-CN" sz="2000" b="1">
                <a:solidFill>
                  <a:schemeClr val="accent1">
                    <a:lumMod val="75000"/>
                  </a:schemeClr>
                </a:solidFill>
                <a:latin typeface="微软雅黑" panose="020B0503020204020204" charset="-122"/>
                <a:ea typeface="微软雅黑" panose="020B0503020204020204" charset="-122"/>
              </a:rPr>
              <a:t>F</a:t>
            </a:r>
            <a:r>
              <a:rPr lang="zh-CN" altLang="en-US" sz="2000" b="1">
                <a:solidFill>
                  <a:schemeClr val="accent1">
                    <a:lumMod val="75000"/>
                  </a:schemeClr>
                </a:solidFill>
                <a:latin typeface="微软雅黑" panose="020B0503020204020204" charset="-122"/>
                <a:ea typeface="微软雅黑" panose="020B0503020204020204" charset="-122"/>
              </a:rPr>
              <a:t>：某种运算，</a:t>
            </a:r>
            <a:r>
              <a:rPr lang="en-US" altLang="zh-CN" sz="2000" b="1">
                <a:solidFill>
                  <a:schemeClr val="accent1">
                    <a:lumMod val="75000"/>
                  </a:schemeClr>
                </a:solidFill>
                <a:latin typeface="微软雅黑" panose="020B0503020204020204" charset="-122"/>
                <a:ea typeface="微软雅黑" panose="020B0503020204020204" charset="-122"/>
              </a:rPr>
              <a:t>P:</a:t>
            </a:r>
            <a:r>
              <a:rPr lang="zh-CN" altLang="en-US" sz="2000" b="1">
                <a:solidFill>
                  <a:schemeClr val="accent1">
                    <a:lumMod val="75000"/>
                  </a:schemeClr>
                </a:solidFill>
                <a:latin typeface="微软雅黑" panose="020B0503020204020204" charset="-122"/>
                <a:ea typeface="微软雅黑" panose="020B0503020204020204" charset="-122"/>
              </a:rPr>
              <a:t>校验位；</a:t>
            </a:r>
            <a:endParaRPr lang="zh-CN" altLang="en-US" sz="2000" b="1">
              <a:solidFill>
                <a:schemeClr val="accent1">
                  <a:lumMod val="75000"/>
                </a:schemeClr>
              </a:solidFill>
              <a:latin typeface="微软雅黑" panose="020B0503020204020204" charset="-122"/>
              <a:ea typeface="微软雅黑" panose="020B0503020204020204" charset="-122"/>
            </a:endParaRPr>
          </a:p>
          <a:p>
            <a:pPr algn="ctr"/>
            <a:r>
              <a:rPr lang="en-US" altLang="zh-CN" sz="2000" b="1">
                <a:solidFill>
                  <a:schemeClr val="accent1">
                    <a:lumMod val="75000"/>
                  </a:schemeClr>
                </a:solidFill>
                <a:latin typeface="微软雅黑" panose="020B0503020204020204" charset="-122"/>
                <a:ea typeface="微软雅黑" panose="020B0503020204020204" charset="-122"/>
              </a:rPr>
              <a:t>M’</a:t>
            </a:r>
            <a:r>
              <a:rPr lang="zh-CN" altLang="en-US" sz="2000" b="1">
                <a:solidFill>
                  <a:schemeClr val="accent1">
                    <a:lumMod val="75000"/>
                  </a:schemeClr>
                </a:solidFill>
                <a:latin typeface="微软雅黑" panose="020B0503020204020204" charset="-122"/>
                <a:ea typeface="微软雅黑" panose="020B0503020204020204" charset="-122"/>
              </a:rPr>
              <a:t>、</a:t>
            </a:r>
            <a:r>
              <a:rPr lang="en-US" altLang="zh-CN" sz="2000" b="1">
                <a:solidFill>
                  <a:schemeClr val="accent1">
                    <a:lumMod val="75000"/>
                  </a:schemeClr>
                </a:solidFill>
                <a:latin typeface="微软雅黑" panose="020B0503020204020204" charset="-122"/>
                <a:ea typeface="微软雅黑" panose="020B0503020204020204" charset="-122"/>
                <a:sym typeface="+mn-ea"/>
              </a:rPr>
              <a:t>P"</a:t>
            </a:r>
            <a:r>
              <a:rPr lang="en-US" altLang="zh-CN" sz="2000" b="1">
                <a:solidFill>
                  <a:schemeClr val="accent1">
                    <a:lumMod val="75000"/>
                  </a:schemeClr>
                </a:solidFill>
                <a:latin typeface="微软雅黑" panose="020B0503020204020204" charset="-122"/>
                <a:ea typeface="微软雅黑" panose="020B0503020204020204" charset="-122"/>
              </a:rPr>
              <a:t>: </a:t>
            </a:r>
            <a:r>
              <a:rPr lang="zh-CN" altLang="en-US" sz="2000" b="1">
                <a:solidFill>
                  <a:schemeClr val="accent1">
                    <a:lumMod val="75000"/>
                  </a:schemeClr>
                </a:solidFill>
                <a:latin typeface="微软雅黑" panose="020B0503020204020204" charset="-122"/>
                <a:ea typeface="微软雅黑" panose="020B0503020204020204" charset="-122"/>
              </a:rPr>
              <a:t>存储或传输后读出的数据和校验码；</a:t>
            </a:r>
            <a:r>
              <a:rPr lang="en-US" altLang="zh-CN" sz="2000" b="1">
                <a:solidFill>
                  <a:schemeClr val="accent1">
                    <a:lumMod val="75000"/>
                  </a:schemeClr>
                </a:solidFill>
                <a:latin typeface="微软雅黑" panose="020B0503020204020204" charset="-122"/>
                <a:ea typeface="微软雅黑" panose="020B0503020204020204" charset="-122"/>
              </a:rPr>
              <a:t>P’: F(M’)</a:t>
            </a:r>
            <a:endParaRPr lang="zh-CN" altLang="en-US" sz="2000" b="1">
              <a:solidFill>
                <a:schemeClr val="accent1">
                  <a:lumMod val="75000"/>
                </a:schemeClr>
              </a:solidFill>
              <a:latin typeface="微软雅黑" panose="020B0503020204020204" charset="-122"/>
              <a:ea typeface="微软雅黑" panose="020B0503020204020204" charset="-122"/>
            </a:endParaRPr>
          </a:p>
          <a:p>
            <a:pPr algn="ctr"/>
            <a:r>
              <a:rPr lang="zh-CN" altLang="en-US" sz="2000" b="1">
                <a:solidFill>
                  <a:schemeClr val="accent1">
                    <a:lumMod val="75000"/>
                  </a:schemeClr>
                </a:solidFill>
                <a:latin typeface="微软雅黑" panose="020B0503020204020204" charset="-122"/>
                <a:ea typeface="微软雅黑" panose="020B0503020204020204" charset="-122"/>
              </a:rPr>
              <a:t>故障字：</a:t>
            </a:r>
            <a:r>
              <a:rPr lang="en-US" altLang="zh-CN" sz="2000" b="1">
                <a:solidFill>
                  <a:schemeClr val="accent1">
                    <a:lumMod val="75000"/>
                  </a:schemeClr>
                </a:solidFill>
                <a:latin typeface="微软雅黑" panose="020B0503020204020204" charset="-122"/>
                <a:ea typeface="微软雅黑" panose="020B0503020204020204" charset="-122"/>
                <a:sym typeface="+mn-ea"/>
              </a:rPr>
              <a:t>P’</a:t>
            </a:r>
            <a:r>
              <a:rPr lang="zh-CN" altLang="en-US" sz="2000" b="1">
                <a:solidFill>
                  <a:schemeClr val="accent1">
                    <a:lumMod val="75000"/>
                  </a:schemeClr>
                </a:solidFill>
                <a:latin typeface="微软雅黑" panose="020B0503020204020204" charset="-122"/>
                <a:ea typeface="微软雅黑" panose="020B0503020204020204" charset="-122"/>
                <a:sym typeface="+mn-ea"/>
              </a:rPr>
              <a:t>和</a:t>
            </a:r>
            <a:r>
              <a:rPr lang="en-US" altLang="zh-CN" sz="2000" b="1">
                <a:solidFill>
                  <a:schemeClr val="accent1">
                    <a:lumMod val="75000"/>
                  </a:schemeClr>
                </a:solidFill>
                <a:latin typeface="微软雅黑" panose="020B0503020204020204" charset="-122"/>
                <a:ea typeface="微软雅黑" panose="020B0503020204020204" charset="-122"/>
                <a:sym typeface="+mn-ea"/>
              </a:rPr>
              <a:t>P"</a:t>
            </a:r>
            <a:r>
              <a:rPr lang="zh-CN" altLang="en-US" sz="2000" b="1">
                <a:solidFill>
                  <a:schemeClr val="accent1">
                    <a:lumMod val="75000"/>
                  </a:schemeClr>
                </a:solidFill>
                <a:latin typeface="微软雅黑" panose="020B0503020204020204" charset="-122"/>
                <a:ea typeface="微软雅黑" panose="020B0503020204020204" charset="-122"/>
                <a:sym typeface="+mn-ea"/>
              </a:rPr>
              <a:t>比较（异或）的</a:t>
            </a:r>
            <a:r>
              <a:rPr lang="zh-CN" altLang="en-US" sz="2000" b="1">
                <a:solidFill>
                  <a:schemeClr val="accent1">
                    <a:lumMod val="75000"/>
                  </a:schemeClr>
                </a:solidFill>
                <a:latin typeface="微软雅黑" panose="020B0503020204020204" charset="-122"/>
                <a:ea typeface="微软雅黑" panose="020B0503020204020204" charset="-122"/>
                <a:sym typeface="+mn-ea"/>
              </a:rPr>
              <a:t>结果</a:t>
            </a:r>
            <a:endParaRPr lang="zh-CN" altLang="en-US" sz="2000" b="1">
              <a:solidFill>
                <a:schemeClr val="accent1">
                  <a:lumMod val="75000"/>
                </a:schemeClr>
              </a:solidFill>
              <a:latin typeface="微软雅黑" panose="020B0503020204020204" charset="-122"/>
              <a:ea typeface="微软雅黑" panose="020B0503020204020204" charset="-122"/>
              <a:sym typeface="+mn-ea"/>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29" name="Rectangle 2"/>
          <p:cNvSpPr>
            <a:spLocks noGrp="1"/>
          </p:cNvSpPr>
          <p:nvPr>
            <p:ph type="title"/>
          </p:nvPr>
        </p:nvSpPr>
        <p:spPr>
          <a:xfrm>
            <a:off x="457200" y="228600"/>
            <a:ext cx="8001000" cy="1143000"/>
          </a:xfrm>
          <a:noFill/>
          <a:ln>
            <a:noFill/>
          </a:ln>
        </p:spPr>
        <p:txBody>
          <a:bodyPr anchor="t"/>
          <a:p>
            <a:pPr eaLnBrk="1" hangingPunct="1">
              <a:buNone/>
            </a:pPr>
            <a:r>
              <a:rPr lang="zh-CN" altLang="en-US" sz="4000" dirty="0">
                <a:solidFill>
                  <a:srgbClr val="0000FF"/>
                </a:solidFill>
                <a:latin typeface="微软雅黑" panose="020B0503020204020204" charset="-122"/>
                <a:ea typeface="微软雅黑" panose="020B0503020204020204" charset="-122"/>
              </a:rPr>
              <a:t>海明校验码 </a:t>
            </a:r>
            <a:endParaRPr lang="en-US" altLang="zh-CN" sz="4000" dirty="0">
              <a:solidFill>
                <a:srgbClr val="0000FF"/>
              </a:solidFill>
              <a:latin typeface="微软雅黑" panose="020B0503020204020204" charset="-122"/>
              <a:ea typeface="微软雅黑" panose="020B0503020204020204" charset="-122"/>
            </a:endParaRPr>
          </a:p>
        </p:txBody>
      </p:sp>
      <p:sp>
        <p:nvSpPr>
          <p:cNvPr id="124930" name="Rectangle 3"/>
          <p:cNvSpPr>
            <a:spLocks noGrp="1"/>
          </p:cNvSpPr>
          <p:nvPr>
            <p:ph idx="1"/>
          </p:nvPr>
        </p:nvSpPr>
        <p:spPr>
          <a:xfrm>
            <a:off x="457200" y="1306830"/>
            <a:ext cx="8243570" cy="5036185"/>
          </a:xfrm>
          <a:noFill/>
          <a:ln>
            <a:noFill/>
          </a:ln>
        </p:spPr>
        <p:txBody>
          <a:bodyPr anchor="t"/>
          <a:p>
            <a:pPr eaLnBrk="1" hangingPunct="1">
              <a:spcBef>
                <a:spcPts val="1800"/>
              </a:spcBef>
              <a:buClr>
                <a:schemeClr val="tx2"/>
              </a:buClr>
              <a:buSzPct val="80000"/>
              <a:buChar char="u"/>
            </a:pPr>
            <a:r>
              <a:rPr lang="zh-CN" altLang="en-US" sz="3200" dirty="0">
                <a:solidFill>
                  <a:schemeClr val="tx2"/>
                </a:solidFill>
                <a:latin typeface="微软雅黑" panose="020B0503020204020204" charset="-122"/>
                <a:ea typeface="微软雅黑" panose="020B0503020204020204" charset="-122"/>
              </a:rPr>
              <a:t>校验位位数的确定</a:t>
            </a:r>
            <a:endParaRPr lang="en-US" altLang="zh-CN" sz="3200" dirty="0">
              <a:solidFill>
                <a:schemeClr val="tx2"/>
              </a:solidFill>
              <a:latin typeface="微软雅黑" panose="020B0503020204020204" charset="-122"/>
              <a:ea typeface="微软雅黑" panose="020B0503020204020204" charset="-122"/>
            </a:endParaRPr>
          </a:p>
          <a:p>
            <a:pPr lvl="1" latinLnBrk="0">
              <a:lnSpc>
                <a:spcPct val="100000"/>
              </a:lnSpc>
              <a:spcBef>
                <a:spcPts val="1200"/>
              </a:spcBef>
              <a:buSzPct val="80000"/>
            </a:pPr>
            <a:r>
              <a:rPr lang="zh-CN" altLang="en-US" sz="2000" b="1" dirty="0">
                <a:latin typeface="微软雅黑" panose="020B0503020204020204" charset="-122"/>
                <a:ea typeface="微软雅黑" panose="020B0503020204020204" charset="-122"/>
              </a:rPr>
              <a:t>假定被校验数据为</a:t>
            </a:r>
            <a:r>
              <a:rPr lang="en-US" altLang="zh-CN" sz="2000" b="1" dirty="0">
                <a:latin typeface="微软雅黑" panose="020B0503020204020204" charset="-122"/>
                <a:ea typeface="微软雅黑" panose="020B0503020204020204" charset="-122"/>
              </a:rPr>
              <a:t>n</a:t>
            </a:r>
            <a:r>
              <a:rPr lang="zh-CN" altLang="en-US" sz="2000" b="1" dirty="0">
                <a:latin typeface="微软雅黑" panose="020B0503020204020204" charset="-122"/>
                <a:ea typeface="微软雅黑" panose="020B0503020204020204" charset="-122"/>
              </a:rPr>
              <a:t>位，校验位和故障字为k位。</a:t>
            </a:r>
            <a:endParaRPr lang="zh-CN" altLang="en-US" sz="2000" b="1" dirty="0">
              <a:latin typeface="微软雅黑" panose="020B0503020204020204" charset="-122"/>
              <a:ea typeface="微软雅黑" panose="020B0503020204020204" charset="-122"/>
            </a:endParaRPr>
          </a:p>
          <a:p>
            <a:pPr lvl="1" latinLnBrk="0">
              <a:lnSpc>
                <a:spcPct val="100000"/>
              </a:lnSpc>
              <a:spcBef>
                <a:spcPts val="600"/>
              </a:spcBef>
              <a:buSzPct val="80000"/>
            </a:pPr>
            <a:r>
              <a:rPr lang="zh-CN" altLang="en-US" sz="2000" b="1" dirty="0">
                <a:latin typeface="微软雅黑" panose="020B0503020204020204" charset="-122"/>
                <a:ea typeface="微软雅黑" panose="020B0503020204020204" charset="-122"/>
              </a:rPr>
              <a:t>那么k位的故障字所能表示的状态最多是2</a:t>
            </a:r>
            <a:r>
              <a:rPr lang="en-US" altLang="zh-CN" sz="2000" b="1" baseline="30000" dirty="0">
                <a:latin typeface="微软雅黑" panose="020B0503020204020204" charset="-122"/>
                <a:ea typeface="微软雅黑" panose="020B0503020204020204" charset="-122"/>
              </a:rPr>
              <a:t>k</a:t>
            </a:r>
            <a:r>
              <a:rPr lang="zh-CN" altLang="en-US" sz="2000" b="1" dirty="0">
                <a:latin typeface="微软雅黑" panose="020B0503020204020204" charset="-122"/>
                <a:ea typeface="微软雅黑" panose="020B0503020204020204" charset="-122"/>
              </a:rPr>
              <a:t>种，每种状态可用来说明一种出错情况。</a:t>
            </a:r>
            <a:endParaRPr lang="zh-CN" altLang="en-US" sz="2000" b="1" dirty="0">
              <a:latin typeface="微软雅黑" panose="020B0503020204020204" charset="-122"/>
              <a:ea typeface="微软雅黑" panose="020B0503020204020204" charset="-122"/>
            </a:endParaRPr>
          </a:p>
          <a:p>
            <a:pPr lvl="1" latinLnBrk="0">
              <a:lnSpc>
                <a:spcPct val="100000"/>
              </a:lnSpc>
              <a:spcBef>
                <a:spcPts val="600"/>
              </a:spcBef>
              <a:buSzPct val="80000"/>
            </a:pPr>
            <a:r>
              <a:rPr lang="zh-CN" altLang="en-US" sz="2000" b="1" dirty="0">
                <a:latin typeface="微软雅黑" panose="020B0503020204020204" charset="-122"/>
                <a:ea typeface="微软雅黑" panose="020B0503020204020204" charset="-122"/>
              </a:rPr>
              <a:t>对于最多只有一位错的情况，其结果可能是无错，或</a:t>
            </a:r>
            <a:r>
              <a:rPr lang="en-US" altLang="zh-CN" sz="2000" b="1" dirty="0">
                <a:latin typeface="微软雅黑" panose="020B0503020204020204" charset="-122"/>
                <a:ea typeface="微软雅黑" panose="020B0503020204020204" charset="-122"/>
              </a:rPr>
              <a:t>n</a:t>
            </a:r>
            <a:r>
              <a:rPr lang="zh-CN" altLang="en-US" sz="2000" b="1" dirty="0">
                <a:latin typeface="微软雅黑" panose="020B0503020204020204" charset="-122"/>
                <a:ea typeface="微软雅黑" panose="020B0503020204020204" charset="-122"/>
              </a:rPr>
              <a:t>位数据中某一位出错，或k位校验码中某一位出错：共有 1+n+k种情况。</a:t>
            </a:r>
            <a:endParaRPr lang="zh-CN" altLang="en-US" sz="2000" b="1" dirty="0">
              <a:latin typeface="微软雅黑" panose="020B0503020204020204" charset="-122"/>
              <a:ea typeface="微软雅黑" panose="020B0503020204020204" charset="-122"/>
            </a:endParaRPr>
          </a:p>
          <a:p>
            <a:pPr lvl="1" latinLnBrk="0">
              <a:lnSpc>
                <a:spcPct val="100000"/>
              </a:lnSpc>
              <a:spcBef>
                <a:spcPts val="600"/>
              </a:spcBef>
              <a:buSzPct val="80000"/>
            </a:pPr>
            <a:r>
              <a:rPr lang="zh-CN" altLang="en-US" sz="2000" b="1" dirty="0">
                <a:latin typeface="微软雅黑" panose="020B0503020204020204" charset="-122"/>
                <a:ea typeface="微软雅黑" panose="020B0503020204020204" charset="-122"/>
              </a:rPr>
              <a:t>要能对一位错的所有结果进行正确表示,则</a:t>
            </a:r>
            <a:r>
              <a:rPr lang="en-US" altLang="zh-CN" sz="2000" b="1" dirty="0">
                <a:latin typeface="微软雅黑" panose="020B0503020204020204" charset="-122"/>
                <a:ea typeface="微软雅黑" panose="020B0503020204020204" charset="-122"/>
              </a:rPr>
              <a:t>n</a:t>
            </a:r>
            <a:r>
              <a:rPr lang="zh-CN" altLang="en-US" sz="2000" b="1" dirty="0">
                <a:latin typeface="微软雅黑" panose="020B0503020204020204" charset="-122"/>
                <a:ea typeface="微软雅黑" panose="020B0503020204020204" charset="-122"/>
              </a:rPr>
              <a:t>和k必须满足下列关系</a:t>
            </a:r>
            <a:endParaRPr lang="zh-CN" altLang="en-US" sz="2000" b="1" dirty="0">
              <a:latin typeface="微软雅黑" panose="020B0503020204020204" charset="-122"/>
              <a:ea typeface="微软雅黑" panose="020B0503020204020204" charset="-122"/>
            </a:endParaRPr>
          </a:p>
          <a:p>
            <a:pPr lvl="1" latinLnBrk="0">
              <a:lnSpc>
                <a:spcPct val="100000"/>
              </a:lnSpc>
              <a:spcBef>
                <a:spcPts val="600"/>
              </a:spcBef>
              <a:buSzPct val="80000"/>
            </a:pPr>
            <a:endParaRPr lang="zh-CN" altLang="en-US" sz="2000" b="1" dirty="0">
              <a:latin typeface="微软雅黑" panose="020B0503020204020204" charset="-122"/>
              <a:ea typeface="微软雅黑" panose="020B0503020204020204" charset="-122"/>
            </a:endParaRPr>
          </a:p>
          <a:p>
            <a:pPr lvl="1" latinLnBrk="0">
              <a:lnSpc>
                <a:spcPct val="100000"/>
              </a:lnSpc>
              <a:spcBef>
                <a:spcPts val="600"/>
              </a:spcBef>
              <a:buSzPct val="80000"/>
            </a:pPr>
            <a:endParaRPr lang="zh-CN" altLang="en-US" sz="2000" b="1" dirty="0">
              <a:latin typeface="微软雅黑" panose="020B0503020204020204" charset="-122"/>
              <a:ea typeface="微软雅黑" panose="020B0503020204020204" charset="-122"/>
            </a:endParaRPr>
          </a:p>
          <a:p>
            <a:pPr marL="914400" lvl="2" indent="0" latinLnBrk="0">
              <a:lnSpc>
                <a:spcPct val="100000"/>
              </a:lnSpc>
              <a:spcBef>
                <a:spcPts val="600"/>
              </a:spcBef>
              <a:buSzPct val="80000"/>
              <a:buNone/>
            </a:pPr>
            <a:r>
              <a:rPr lang="zh-CN" altLang="en-US" sz="1710" b="1" dirty="0">
                <a:solidFill>
                  <a:schemeClr val="tx1">
                    <a:lumMod val="60000"/>
                    <a:lumOff val="40000"/>
                  </a:schemeClr>
                </a:solidFill>
                <a:latin typeface="微软雅黑" panose="020B0503020204020204" charset="-122"/>
                <a:ea typeface="微软雅黑" panose="020B0503020204020204" charset="-122"/>
              </a:rPr>
              <a:t>例如,对于单个位纠错的情况,当数据有8位时,校验位和故障字都应有4位。4位的故障字最多可以表示 16 种状态,而单个位出错情况最多只有 12种可能(8个数据位和4个校验位),再加上无错的情况,一共有 13 种情况。所以,用 16 种状态表示 13 种情况是足够了。 </a:t>
            </a:r>
            <a:endParaRPr lang="zh-CN" altLang="en-US" sz="1710" b="1" dirty="0">
              <a:solidFill>
                <a:schemeClr val="tx1">
                  <a:lumMod val="60000"/>
                  <a:lumOff val="40000"/>
                </a:schemeClr>
              </a:solidFill>
              <a:latin typeface="微软雅黑" panose="020B0503020204020204" charset="-122"/>
              <a:ea typeface="微软雅黑" panose="020B0503020204020204" charset="-122"/>
            </a:endParaRPr>
          </a:p>
        </p:txBody>
      </p:sp>
      <p:sp>
        <p:nvSpPr>
          <p:cNvPr id="124931" name="灯片编号占位符 5"/>
          <p:cNvSpPr txBox="1">
            <a:spLocks noGrp="1"/>
          </p:cNvSpPr>
          <p:nvPr>
            <p:ph type="sldNum" sz="quarter"/>
          </p:nvPr>
        </p:nvSpPr>
        <p:spPr>
          <a:xfrm>
            <a:off x="7239000" y="6248400"/>
            <a:ext cx="1581150" cy="493713"/>
          </a:xfrm>
          <a:prstGeom prst="rect">
            <a:avLst/>
          </a:prstGeom>
          <a:noFill/>
          <a:ln w="9525">
            <a:noFill/>
          </a:ln>
        </p:spPr>
        <p:txBody>
          <a:bodyPr anchor="t"/>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eaLnBrk="1" hangingPunct="1"/>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pic>
        <p:nvPicPr>
          <p:cNvPr id="3" name="图片 2"/>
          <p:cNvPicPr>
            <a:picLocks noChangeAspect="1"/>
          </p:cNvPicPr>
          <p:nvPr/>
        </p:nvPicPr>
        <p:blipFill>
          <a:blip r:embed="rId1"/>
          <a:stretch>
            <a:fillRect/>
          </a:stretch>
        </p:blipFill>
        <p:spPr>
          <a:xfrm>
            <a:off x="2628265" y="4293235"/>
            <a:ext cx="3977640" cy="48514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29" name="Rectangle 2"/>
          <p:cNvSpPr>
            <a:spLocks noGrp="1"/>
          </p:cNvSpPr>
          <p:nvPr>
            <p:ph type="title"/>
          </p:nvPr>
        </p:nvSpPr>
        <p:spPr>
          <a:xfrm>
            <a:off x="457200" y="228600"/>
            <a:ext cx="8001000" cy="1143000"/>
          </a:xfrm>
          <a:noFill/>
          <a:ln>
            <a:noFill/>
          </a:ln>
        </p:spPr>
        <p:txBody>
          <a:bodyPr anchor="t"/>
          <a:p>
            <a:pPr eaLnBrk="1" hangingPunct="1">
              <a:buNone/>
            </a:pPr>
            <a:r>
              <a:rPr lang="zh-CN" altLang="en-US" sz="4000" dirty="0">
                <a:solidFill>
                  <a:srgbClr val="0000FF"/>
                </a:solidFill>
                <a:latin typeface="微软雅黑" panose="020B0503020204020204" charset="-122"/>
                <a:ea typeface="微软雅黑" panose="020B0503020204020204" charset="-122"/>
              </a:rPr>
              <a:t>海明校验码 </a:t>
            </a:r>
            <a:endParaRPr lang="en-US" altLang="zh-CN" sz="4000" dirty="0">
              <a:solidFill>
                <a:srgbClr val="0000FF"/>
              </a:solidFill>
              <a:latin typeface="微软雅黑" panose="020B0503020204020204" charset="-122"/>
              <a:ea typeface="微软雅黑" panose="020B0503020204020204" charset="-122"/>
            </a:endParaRPr>
          </a:p>
        </p:txBody>
      </p:sp>
      <p:sp>
        <p:nvSpPr>
          <p:cNvPr id="124930" name="Rectangle 3"/>
          <p:cNvSpPr>
            <a:spLocks noGrp="1"/>
          </p:cNvSpPr>
          <p:nvPr>
            <p:ph idx="1"/>
          </p:nvPr>
        </p:nvSpPr>
        <p:spPr>
          <a:xfrm>
            <a:off x="457200" y="1524000"/>
            <a:ext cx="8243570" cy="4819015"/>
          </a:xfrm>
          <a:noFill/>
          <a:ln>
            <a:noFill/>
          </a:ln>
        </p:spPr>
        <p:txBody>
          <a:bodyPr anchor="t"/>
          <a:p>
            <a:pPr eaLnBrk="1" hangingPunct="1">
              <a:spcBef>
                <a:spcPts val="1800"/>
              </a:spcBef>
              <a:buClr>
                <a:schemeClr val="tx2"/>
              </a:buClr>
              <a:buSzPct val="80000"/>
              <a:buChar char="u"/>
            </a:pPr>
            <a:r>
              <a:rPr lang="zh-CN" altLang="en-US" sz="3200" dirty="0">
                <a:solidFill>
                  <a:schemeClr val="tx2"/>
                </a:solidFill>
                <a:latin typeface="微软雅黑" panose="020B0503020204020204" charset="-122"/>
                <a:ea typeface="微软雅黑" panose="020B0503020204020204" charset="-122"/>
              </a:rPr>
              <a:t>分组</a:t>
            </a:r>
            <a:r>
              <a:rPr lang="zh-CN" altLang="en-US" sz="3200" dirty="0">
                <a:solidFill>
                  <a:schemeClr val="tx2"/>
                </a:solidFill>
                <a:latin typeface="微软雅黑" panose="020B0503020204020204" charset="-122"/>
                <a:ea typeface="微软雅黑" panose="020B0503020204020204" charset="-122"/>
              </a:rPr>
              <a:t>方式的确定</a:t>
            </a:r>
            <a:endParaRPr lang="en-US" altLang="zh-CN" sz="3200" dirty="0">
              <a:solidFill>
                <a:schemeClr val="tx2"/>
              </a:solidFill>
              <a:latin typeface="微软雅黑" panose="020B0503020204020204" charset="-122"/>
              <a:ea typeface="微软雅黑" panose="020B0503020204020204" charset="-122"/>
            </a:endParaRPr>
          </a:p>
          <a:p>
            <a:pPr lvl="1" latinLnBrk="0">
              <a:lnSpc>
                <a:spcPct val="100000"/>
              </a:lnSpc>
              <a:spcBef>
                <a:spcPts val="1200"/>
              </a:spcBef>
              <a:buSzPct val="80000"/>
            </a:pPr>
            <a:r>
              <a:rPr sz="2000" b="1" dirty="0">
                <a:latin typeface="微软雅黑" panose="020B0503020204020204" charset="-122"/>
                <a:ea typeface="微软雅黑" panose="020B0503020204020204" charset="-122"/>
              </a:rPr>
              <a:t>按以下规则来解释各故障字的值:</a:t>
            </a:r>
            <a:endParaRPr sz="2000" b="1" dirty="0">
              <a:latin typeface="微软雅黑" panose="020B0503020204020204" charset="-122"/>
              <a:ea typeface="微软雅黑" panose="020B0503020204020204" charset="-122"/>
            </a:endParaRPr>
          </a:p>
          <a:p>
            <a:pPr lvl="2" latinLnBrk="0">
              <a:lnSpc>
                <a:spcPct val="100000"/>
              </a:lnSpc>
              <a:spcBef>
                <a:spcPts val="1200"/>
              </a:spcBef>
              <a:buSzPct val="80000"/>
            </a:pPr>
            <a:r>
              <a:rPr sz="1800" b="1" dirty="0">
                <a:latin typeface="微软雅黑" panose="020B0503020204020204" charset="-122"/>
                <a:ea typeface="微软雅黑" panose="020B0503020204020204" charset="-122"/>
              </a:rPr>
              <a:t>如果故障字各位全部是0,则表示没有发生错误。</a:t>
            </a:r>
            <a:endParaRPr sz="1800" b="1" dirty="0">
              <a:latin typeface="微软雅黑" panose="020B0503020204020204" charset="-122"/>
              <a:ea typeface="微软雅黑" panose="020B0503020204020204" charset="-122"/>
            </a:endParaRPr>
          </a:p>
          <a:p>
            <a:pPr lvl="2" latinLnBrk="0">
              <a:lnSpc>
                <a:spcPct val="100000"/>
              </a:lnSpc>
              <a:spcBef>
                <a:spcPts val="1200"/>
              </a:spcBef>
              <a:buSzPct val="80000"/>
            </a:pPr>
            <a:r>
              <a:rPr sz="1800" b="1" dirty="0">
                <a:latin typeface="微软雅黑" panose="020B0503020204020204" charset="-122"/>
                <a:ea typeface="微软雅黑" panose="020B0503020204020204" charset="-122"/>
              </a:rPr>
              <a:t>如果故障字中有且仅有一位为1,则表示校验位中有一位出错,</a:t>
            </a:r>
            <a:r>
              <a:rPr lang="zh-CN" sz="1800" b="1" dirty="0">
                <a:latin typeface="微软雅黑" panose="020B0503020204020204" charset="-122"/>
                <a:ea typeface="微软雅黑" panose="020B0503020204020204" charset="-122"/>
              </a:rPr>
              <a:t>无需</a:t>
            </a:r>
            <a:r>
              <a:rPr sz="1800" b="1" dirty="0">
                <a:latin typeface="微软雅黑" panose="020B0503020204020204" charset="-122"/>
                <a:ea typeface="微软雅黑" panose="020B0503020204020204" charset="-122"/>
              </a:rPr>
              <a:t>纠正</a:t>
            </a:r>
            <a:endParaRPr sz="1800" b="1" dirty="0">
              <a:latin typeface="微软雅黑" panose="020B0503020204020204" charset="-122"/>
              <a:ea typeface="微软雅黑" panose="020B0503020204020204" charset="-122"/>
            </a:endParaRPr>
          </a:p>
          <a:p>
            <a:pPr lvl="2" latinLnBrk="0">
              <a:lnSpc>
                <a:spcPct val="100000"/>
              </a:lnSpc>
              <a:spcBef>
                <a:spcPts val="1200"/>
              </a:spcBef>
              <a:buSzPct val="80000"/>
            </a:pPr>
            <a:r>
              <a:rPr sz="1800" b="1" dirty="0">
                <a:latin typeface="微软雅黑" panose="020B0503020204020204" charset="-122"/>
                <a:ea typeface="微软雅黑" panose="020B0503020204020204" charset="-122"/>
              </a:rPr>
              <a:t>如果故障字中多位为1,则表示有一个数据位出错,其在码字中的出错位置由故障字的数值来确定。纠正时只要将出错位取反即可。</a:t>
            </a:r>
            <a:endParaRPr sz="1800" b="1" dirty="0">
              <a:latin typeface="微软雅黑" panose="020B0503020204020204" charset="-122"/>
              <a:ea typeface="微软雅黑" panose="020B0503020204020204" charset="-122"/>
            </a:endParaRPr>
          </a:p>
          <a:p>
            <a:pPr lvl="2" latinLnBrk="0">
              <a:lnSpc>
                <a:spcPct val="100000"/>
              </a:lnSpc>
              <a:spcBef>
                <a:spcPts val="1200"/>
              </a:spcBef>
              <a:buSzPct val="80000"/>
            </a:pPr>
            <a:endParaRPr sz="1710" b="1" dirty="0">
              <a:latin typeface="微软雅黑" panose="020B0503020204020204" charset="-122"/>
              <a:ea typeface="微软雅黑" panose="020B0503020204020204" charset="-122"/>
            </a:endParaRPr>
          </a:p>
          <a:p>
            <a:pPr lvl="2" latinLnBrk="0">
              <a:lnSpc>
                <a:spcPct val="100000"/>
              </a:lnSpc>
              <a:spcBef>
                <a:spcPts val="1200"/>
              </a:spcBef>
              <a:buSzPct val="80000"/>
            </a:pPr>
            <a:endParaRPr sz="1710" b="1" dirty="0">
              <a:latin typeface="微软雅黑" panose="020B0503020204020204" charset="-122"/>
              <a:ea typeface="微软雅黑" panose="020B0503020204020204" charset="-122"/>
            </a:endParaRPr>
          </a:p>
        </p:txBody>
      </p:sp>
      <p:sp>
        <p:nvSpPr>
          <p:cNvPr id="124931" name="灯片编号占位符 5"/>
          <p:cNvSpPr txBox="1">
            <a:spLocks noGrp="1"/>
          </p:cNvSpPr>
          <p:nvPr>
            <p:ph type="sldNum" sz="quarter"/>
          </p:nvPr>
        </p:nvSpPr>
        <p:spPr>
          <a:xfrm>
            <a:off x="7239000" y="6248400"/>
            <a:ext cx="1581150" cy="493713"/>
          </a:xfrm>
          <a:prstGeom prst="rect">
            <a:avLst/>
          </a:prstGeom>
          <a:noFill/>
          <a:ln w="9525">
            <a:noFill/>
          </a:ln>
        </p:spPr>
        <p:txBody>
          <a:bodyPr anchor="t"/>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eaLnBrk="1" hangingPunct="1"/>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29" name="Rectangle 2"/>
          <p:cNvSpPr>
            <a:spLocks noGrp="1"/>
          </p:cNvSpPr>
          <p:nvPr>
            <p:ph type="title"/>
          </p:nvPr>
        </p:nvSpPr>
        <p:spPr>
          <a:xfrm>
            <a:off x="457200" y="228600"/>
            <a:ext cx="8001000" cy="1143000"/>
          </a:xfrm>
          <a:noFill/>
          <a:ln>
            <a:noFill/>
          </a:ln>
        </p:spPr>
        <p:txBody>
          <a:bodyPr anchor="t"/>
          <a:p>
            <a:pPr eaLnBrk="1" hangingPunct="1">
              <a:buNone/>
            </a:pPr>
            <a:r>
              <a:rPr lang="zh-CN" altLang="en-US" sz="4000" dirty="0">
                <a:solidFill>
                  <a:srgbClr val="0000FF"/>
                </a:solidFill>
                <a:latin typeface="微软雅黑" panose="020B0503020204020204" charset="-122"/>
                <a:ea typeface="微软雅黑" panose="020B0503020204020204" charset="-122"/>
              </a:rPr>
              <a:t>海明校验码 </a:t>
            </a:r>
            <a:endParaRPr lang="en-US" altLang="zh-CN" sz="4000" dirty="0">
              <a:solidFill>
                <a:srgbClr val="0000FF"/>
              </a:solidFill>
              <a:latin typeface="微软雅黑" panose="020B0503020204020204" charset="-122"/>
              <a:ea typeface="微软雅黑" panose="020B0503020204020204" charset="-122"/>
            </a:endParaRPr>
          </a:p>
        </p:txBody>
      </p:sp>
      <p:sp>
        <p:nvSpPr>
          <p:cNvPr id="124930" name="Rectangle 3"/>
          <p:cNvSpPr>
            <a:spLocks noGrp="1"/>
          </p:cNvSpPr>
          <p:nvPr>
            <p:ph idx="1"/>
          </p:nvPr>
        </p:nvSpPr>
        <p:spPr>
          <a:xfrm>
            <a:off x="457200" y="1257935"/>
            <a:ext cx="8243570" cy="5085080"/>
          </a:xfrm>
          <a:noFill/>
          <a:ln>
            <a:noFill/>
          </a:ln>
        </p:spPr>
        <p:txBody>
          <a:bodyPr anchor="t"/>
          <a:p>
            <a:pPr eaLnBrk="1" hangingPunct="1">
              <a:spcBef>
                <a:spcPts val="1800"/>
              </a:spcBef>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8位数据进行单个位的检错/纠错为例：</a:t>
            </a:r>
            <a:endParaRPr lang="zh-CN" altLang="en-US" sz="3200" dirty="0">
              <a:solidFill>
                <a:schemeClr val="tx2"/>
              </a:solidFill>
              <a:latin typeface="微软雅黑" panose="020B0503020204020204" charset="-122"/>
              <a:ea typeface="微软雅黑" panose="020B0503020204020204" charset="-122"/>
            </a:endParaRPr>
          </a:p>
          <a:p>
            <a:pPr lvl="1" latinLnBrk="0">
              <a:lnSpc>
                <a:spcPct val="100000"/>
              </a:lnSpc>
              <a:spcBef>
                <a:spcPts val="1200"/>
              </a:spcBef>
              <a:buSzPct val="80000"/>
            </a:pPr>
            <a:r>
              <a:rPr sz="2000" b="1" dirty="0">
                <a:latin typeface="微软雅黑" panose="020B0503020204020204" charset="-122"/>
                <a:ea typeface="微软雅黑" panose="020B0503020204020204" charset="-122"/>
              </a:rPr>
              <a:t>假定一个8位数据 </a:t>
            </a:r>
            <a:r>
              <a:rPr sz="2000" b="1" dirty="0">
                <a:solidFill>
                  <a:srgbClr val="FF0000"/>
                </a:solidFill>
                <a:latin typeface="微软雅黑" panose="020B0503020204020204" charset="-122"/>
                <a:ea typeface="微软雅黑" panose="020B0503020204020204" charset="-122"/>
              </a:rPr>
              <a:t>M= M</a:t>
            </a:r>
            <a:r>
              <a:rPr lang="en-US" sz="2000" b="1" baseline="-25000" dirty="0">
                <a:solidFill>
                  <a:srgbClr val="FF0000"/>
                </a:solidFill>
                <a:latin typeface="微软雅黑" panose="020B0503020204020204" charset="-122"/>
                <a:ea typeface="微软雅黑" panose="020B0503020204020204" charset="-122"/>
              </a:rPr>
              <a:t>8</a:t>
            </a:r>
            <a:r>
              <a:rPr sz="2000" b="1" dirty="0">
                <a:solidFill>
                  <a:srgbClr val="FF0000"/>
                </a:solidFill>
                <a:latin typeface="微软雅黑" panose="020B0503020204020204" charset="-122"/>
                <a:ea typeface="微软雅黑" panose="020B0503020204020204" charset="-122"/>
              </a:rPr>
              <a:t>M</a:t>
            </a:r>
            <a:r>
              <a:rPr lang="en-US" sz="2000" b="1" baseline="-25000" dirty="0">
                <a:solidFill>
                  <a:srgbClr val="FF0000"/>
                </a:solidFill>
                <a:latin typeface="微软雅黑" panose="020B0503020204020204" charset="-122"/>
                <a:ea typeface="微软雅黑" panose="020B0503020204020204" charset="-122"/>
              </a:rPr>
              <a:t>7</a:t>
            </a:r>
            <a:r>
              <a:rPr sz="2000" b="1" dirty="0">
                <a:solidFill>
                  <a:srgbClr val="FF0000"/>
                </a:solidFill>
                <a:latin typeface="微软雅黑" panose="020B0503020204020204" charset="-122"/>
                <a:ea typeface="微软雅黑" panose="020B0503020204020204" charset="-122"/>
              </a:rPr>
              <a:t>M</a:t>
            </a:r>
            <a:r>
              <a:rPr lang="en-US" sz="2000" b="1" baseline="-25000" dirty="0">
                <a:solidFill>
                  <a:srgbClr val="FF0000"/>
                </a:solidFill>
                <a:latin typeface="微软雅黑" panose="020B0503020204020204" charset="-122"/>
                <a:ea typeface="微软雅黑" panose="020B0503020204020204" charset="-122"/>
              </a:rPr>
              <a:t>6</a:t>
            </a:r>
            <a:r>
              <a:rPr sz="2000" b="1" dirty="0">
                <a:solidFill>
                  <a:srgbClr val="FF0000"/>
                </a:solidFill>
                <a:latin typeface="微软雅黑" panose="020B0503020204020204" charset="-122"/>
                <a:ea typeface="微软雅黑" panose="020B0503020204020204" charset="-122"/>
              </a:rPr>
              <a:t>M</a:t>
            </a:r>
            <a:r>
              <a:rPr lang="en-US" sz="2000" b="1" baseline="-25000" dirty="0">
                <a:solidFill>
                  <a:srgbClr val="FF0000"/>
                </a:solidFill>
                <a:latin typeface="微软雅黑" panose="020B0503020204020204" charset="-122"/>
                <a:ea typeface="微软雅黑" panose="020B0503020204020204" charset="-122"/>
              </a:rPr>
              <a:t>5</a:t>
            </a:r>
            <a:r>
              <a:rPr sz="2000" b="1" dirty="0">
                <a:solidFill>
                  <a:srgbClr val="FF0000"/>
                </a:solidFill>
                <a:latin typeface="微软雅黑" panose="020B0503020204020204" charset="-122"/>
                <a:ea typeface="微软雅黑" panose="020B0503020204020204" charset="-122"/>
              </a:rPr>
              <a:t>M</a:t>
            </a:r>
            <a:r>
              <a:rPr lang="en-US" sz="2000" b="1" baseline="-25000" dirty="0">
                <a:solidFill>
                  <a:srgbClr val="FF0000"/>
                </a:solidFill>
                <a:latin typeface="微软雅黑" panose="020B0503020204020204" charset="-122"/>
                <a:ea typeface="微软雅黑" panose="020B0503020204020204" charset="-122"/>
              </a:rPr>
              <a:t>4</a:t>
            </a:r>
            <a:r>
              <a:rPr sz="2000" b="1" dirty="0">
                <a:solidFill>
                  <a:srgbClr val="FF0000"/>
                </a:solidFill>
                <a:latin typeface="微软雅黑" panose="020B0503020204020204" charset="-122"/>
                <a:ea typeface="微软雅黑" panose="020B0503020204020204" charset="-122"/>
              </a:rPr>
              <a:t>M</a:t>
            </a:r>
            <a:r>
              <a:rPr lang="en-US" sz="2000" b="1" baseline="-25000" dirty="0">
                <a:solidFill>
                  <a:srgbClr val="FF0000"/>
                </a:solidFill>
                <a:latin typeface="微软雅黑" panose="020B0503020204020204" charset="-122"/>
                <a:ea typeface="微软雅黑" panose="020B0503020204020204" charset="-122"/>
              </a:rPr>
              <a:t>3</a:t>
            </a:r>
            <a:r>
              <a:rPr sz="2000" b="1" dirty="0">
                <a:solidFill>
                  <a:srgbClr val="FF0000"/>
                </a:solidFill>
                <a:latin typeface="微软雅黑" panose="020B0503020204020204" charset="-122"/>
                <a:ea typeface="微软雅黑" panose="020B0503020204020204" charset="-122"/>
              </a:rPr>
              <a:t>M</a:t>
            </a:r>
            <a:r>
              <a:rPr lang="en-US" sz="2000" b="1" baseline="-25000" dirty="0">
                <a:solidFill>
                  <a:srgbClr val="FF0000"/>
                </a:solidFill>
                <a:latin typeface="微软雅黑" panose="020B0503020204020204" charset="-122"/>
                <a:ea typeface="微软雅黑" panose="020B0503020204020204" charset="-122"/>
              </a:rPr>
              <a:t>2</a:t>
            </a:r>
            <a:r>
              <a:rPr sz="2000" b="1" dirty="0">
                <a:solidFill>
                  <a:srgbClr val="FF0000"/>
                </a:solidFill>
                <a:latin typeface="微软雅黑" panose="020B0503020204020204" charset="-122"/>
                <a:ea typeface="微软雅黑" panose="020B0503020204020204" charset="-122"/>
              </a:rPr>
              <a:t>M</a:t>
            </a:r>
            <a:r>
              <a:rPr lang="en-US" sz="2000" b="1" baseline="-25000" dirty="0">
                <a:solidFill>
                  <a:srgbClr val="FF0000"/>
                </a:solidFill>
                <a:latin typeface="微软雅黑" panose="020B0503020204020204" charset="-122"/>
                <a:ea typeface="微软雅黑" panose="020B0503020204020204" charset="-122"/>
              </a:rPr>
              <a:t>1</a:t>
            </a:r>
            <a:r>
              <a:rPr sz="2000" b="1" dirty="0">
                <a:solidFill>
                  <a:srgbClr val="FF0000"/>
                </a:solidFill>
                <a:latin typeface="微软雅黑" panose="020B0503020204020204" charset="-122"/>
                <a:ea typeface="微软雅黑" panose="020B0503020204020204" charset="-122"/>
              </a:rPr>
              <a:t> </a:t>
            </a:r>
            <a:r>
              <a:rPr sz="2000" b="1" dirty="0">
                <a:latin typeface="微软雅黑" panose="020B0503020204020204" charset="-122"/>
                <a:ea typeface="微软雅黑" panose="020B0503020204020204" charset="-122"/>
              </a:rPr>
              <a:t>,其相应的4位校验位为 </a:t>
            </a:r>
            <a:r>
              <a:rPr sz="2000" b="1" dirty="0">
                <a:solidFill>
                  <a:srgbClr val="FF0000"/>
                </a:solidFill>
                <a:latin typeface="微软雅黑" panose="020B0503020204020204" charset="-122"/>
                <a:ea typeface="微软雅黑" panose="020B0503020204020204" charset="-122"/>
              </a:rPr>
              <a:t>P=P</a:t>
            </a:r>
            <a:r>
              <a:rPr lang="en-US" sz="2000" b="1" baseline="-25000" dirty="0">
                <a:solidFill>
                  <a:srgbClr val="FF0000"/>
                </a:solidFill>
                <a:latin typeface="微软雅黑" panose="020B0503020204020204" charset="-122"/>
                <a:ea typeface="微软雅黑" panose="020B0503020204020204" charset="-122"/>
              </a:rPr>
              <a:t>4</a:t>
            </a:r>
            <a:r>
              <a:rPr sz="2000" b="1" dirty="0">
                <a:solidFill>
                  <a:srgbClr val="FF0000"/>
                </a:solidFill>
                <a:latin typeface="微软雅黑" panose="020B0503020204020204" charset="-122"/>
                <a:ea typeface="微软雅黑" panose="020B0503020204020204" charset="-122"/>
              </a:rPr>
              <a:t>P</a:t>
            </a:r>
            <a:r>
              <a:rPr lang="en-US" sz="2000" b="1" baseline="-25000" dirty="0">
                <a:solidFill>
                  <a:srgbClr val="FF0000"/>
                </a:solidFill>
                <a:latin typeface="微软雅黑" panose="020B0503020204020204" charset="-122"/>
                <a:ea typeface="微软雅黑" panose="020B0503020204020204" charset="-122"/>
              </a:rPr>
              <a:t>3</a:t>
            </a:r>
            <a:r>
              <a:rPr sz="2000" b="1" dirty="0">
                <a:solidFill>
                  <a:srgbClr val="FF0000"/>
                </a:solidFill>
                <a:latin typeface="微软雅黑" panose="020B0503020204020204" charset="-122"/>
                <a:ea typeface="微软雅黑" panose="020B0503020204020204" charset="-122"/>
              </a:rPr>
              <a:t>P</a:t>
            </a:r>
            <a:r>
              <a:rPr lang="en-US" sz="2000" b="1" baseline="-25000" dirty="0">
                <a:solidFill>
                  <a:srgbClr val="FF0000"/>
                </a:solidFill>
                <a:latin typeface="微软雅黑" panose="020B0503020204020204" charset="-122"/>
                <a:ea typeface="微软雅黑" panose="020B0503020204020204" charset="-122"/>
              </a:rPr>
              <a:t>2</a:t>
            </a:r>
            <a:r>
              <a:rPr sz="2000" b="1" dirty="0">
                <a:solidFill>
                  <a:srgbClr val="FF0000"/>
                </a:solidFill>
                <a:latin typeface="微软雅黑" panose="020B0503020204020204" charset="-122"/>
                <a:ea typeface="微软雅黑" panose="020B0503020204020204" charset="-122"/>
              </a:rPr>
              <a:t>P</a:t>
            </a:r>
            <a:r>
              <a:rPr lang="en-US" sz="2000" b="1" baseline="-25000" dirty="0">
                <a:solidFill>
                  <a:srgbClr val="FF0000"/>
                </a:solidFill>
                <a:latin typeface="微软雅黑" panose="020B0503020204020204" charset="-122"/>
                <a:ea typeface="微软雅黑" panose="020B0503020204020204" charset="-122"/>
              </a:rPr>
              <a:t>1</a:t>
            </a:r>
            <a:r>
              <a:rPr sz="2000" b="1" dirty="0">
                <a:latin typeface="微软雅黑" panose="020B0503020204020204" charset="-122"/>
                <a:ea typeface="微软雅黑" panose="020B0503020204020204" charset="-122"/>
              </a:rPr>
              <a:t>。</a:t>
            </a:r>
            <a:endParaRPr sz="2000" b="1" dirty="0">
              <a:latin typeface="微软雅黑" panose="020B0503020204020204" charset="-122"/>
              <a:ea typeface="微软雅黑" panose="020B0503020204020204" charset="-122"/>
            </a:endParaRPr>
          </a:p>
          <a:p>
            <a:pPr lvl="1" latinLnBrk="0">
              <a:lnSpc>
                <a:spcPct val="100000"/>
              </a:lnSpc>
              <a:spcBef>
                <a:spcPts val="1200"/>
              </a:spcBef>
              <a:buSzPct val="80000"/>
            </a:pPr>
            <a:r>
              <a:rPr sz="2000" b="1" dirty="0">
                <a:latin typeface="微软雅黑" panose="020B0503020204020204" charset="-122"/>
                <a:ea typeface="微软雅黑" panose="020B0503020204020204" charset="-122"/>
              </a:rPr>
              <a:t>根据上述规则将数据M 和校验位P按照一定的规律排到一个12位的码字中。</a:t>
            </a:r>
            <a:endParaRPr sz="2000" b="1" dirty="0">
              <a:latin typeface="微软雅黑" panose="020B0503020204020204" charset="-122"/>
              <a:ea typeface="微软雅黑" panose="020B0503020204020204" charset="-122"/>
            </a:endParaRPr>
          </a:p>
          <a:p>
            <a:pPr lvl="2" latinLnBrk="0">
              <a:lnSpc>
                <a:spcPct val="100000"/>
              </a:lnSpc>
              <a:spcBef>
                <a:spcPts val="600"/>
              </a:spcBef>
              <a:buSzPct val="80000"/>
            </a:pPr>
            <a:r>
              <a:rPr sz="1710" b="1" dirty="0">
                <a:latin typeface="微软雅黑" panose="020B0503020204020204" charset="-122"/>
                <a:ea typeface="微软雅黑" panose="020B0503020204020204" charset="-122"/>
              </a:rPr>
              <a:t>根据第一个规则,故障字为 0000 时,表示无错,因此没有和位置号 0000 对应的出错情况,所以位置号从0001开始。</a:t>
            </a:r>
            <a:endParaRPr sz="1710" b="1" dirty="0">
              <a:latin typeface="微软雅黑" panose="020B0503020204020204" charset="-122"/>
              <a:ea typeface="微软雅黑" panose="020B0503020204020204" charset="-122"/>
            </a:endParaRPr>
          </a:p>
          <a:p>
            <a:pPr lvl="2" latinLnBrk="0">
              <a:lnSpc>
                <a:spcPct val="100000"/>
              </a:lnSpc>
              <a:spcBef>
                <a:spcPts val="600"/>
              </a:spcBef>
              <a:buSzPct val="80000"/>
            </a:pPr>
            <a:r>
              <a:rPr sz="1710" b="1" dirty="0">
                <a:latin typeface="微软雅黑" panose="020B0503020204020204" charset="-122"/>
                <a:ea typeface="微软雅黑" panose="020B0503020204020204" charset="-122"/>
              </a:rPr>
              <a:t>根据第二个规则,故障字中有且仅有一位为1时,表示校验位中有一位出错,此时,故障字只可能是 0001、0010、0100、1000这4种情况,将这4种状态分别代表校验位中第P</a:t>
            </a:r>
            <a:r>
              <a:rPr lang="en-US" sz="1710" b="1" baseline="-25000" dirty="0">
                <a:latin typeface="微软雅黑" panose="020B0503020204020204" charset="-122"/>
                <a:ea typeface="微软雅黑" panose="020B0503020204020204" charset="-122"/>
              </a:rPr>
              <a:t>1</a:t>
            </a:r>
            <a:r>
              <a:rPr sz="1710" b="1" dirty="0">
                <a:latin typeface="微软雅黑" panose="020B0503020204020204" charset="-122"/>
                <a:ea typeface="微软雅黑" panose="020B0503020204020204" charset="-122"/>
              </a:rPr>
              <a:t>、P</a:t>
            </a:r>
            <a:r>
              <a:rPr lang="en-US" sz="1710" b="1" baseline="-25000" dirty="0">
                <a:latin typeface="微软雅黑" panose="020B0503020204020204" charset="-122"/>
                <a:ea typeface="微软雅黑" panose="020B0503020204020204" charset="-122"/>
              </a:rPr>
              <a:t>2</a:t>
            </a:r>
            <a:r>
              <a:rPr sz="1710" b="1" dirty="0">
                <a:latin typeface="微软雅黑" panose="020B0503020204020204" charset="-122"/>
                <a:ea typeface="微软雅黑" panose="020B0503020204020204" charset="-122"/>
              </a:rPr>
              <a:t>、P</a:t>
            </a:r>
            <a:r>
              <a:rPr lang="en-US" sz="1710" b="1" baseline="-25000" dirty="0">
                <a:latin typeface="微软雅黑" panose="020B0503020204020204" charset="-122"/>
                <a:ea typeface="微软雅黑" panose="020B0503020204020204" charset="-122"/>
              </a:rPr>
              <a:t>3</a:t>
            </a:r>
            <a:r>
              <a:rPr sz="1710" b="1" dirty="0">
                <a:latin typeface="微软雅黑" panose="020B0503020204020204" charset="-122"/>
                <a:ea typeface="微软雅黑" panose="020B0503020204020204" charset="-122"/>
              </a:rPr>
              <a:t>、P</a:t>
            </a:r>
            <a:r>
              <a:rPr lang="en-US" sz="1710" b="1" baseline="-25000" dirty="0">
                <a:latin typeface="微软雅黑" panose="020B0503020204020204" charset="-122"/>
                <a:ea typeface="微软雅黑" panose="020B0503020204020204" charset="-122"/>
              </a:rPr>
              <a:t>4</a:t>
            </a:r>
            <a:r>
              <a:rPr sz="1710" b="1" dirty="0">
                <a:latin typeface="微软雅黑" panose="020B0503020204020204" charset="-122"/>
                <a:ea typeface="微软雅黑" panose="020B0503020204020204" charset="-122"/>
              </a:rPr>
              <a:t>位发生错误的情况,因此,校验位</a:t>
            </a:r>
            <a:r>
              <a:rPr sz="1710" b="1" dirty="0">
                <a:latin typeface="微软雅黑" panose="020B0503020204020204" charset="-122"/>
                <a:ea typeface="微软雅黑" panose="020B0503020204020204" charset="-122"/>
                <a:sym typeface="+mn-ea"/>
              </a:rPr>
              <a:t>P</a:t>
            </a:r>
            <a:r>
              <a:rPr lang="en-US" sz="1710" b="1" baseline="-25000" dirty="0">
                <a:latin typeface="微软雅黑" panose="020B0503020204020204" charset="-122"/>
                <a:ea typeface="微软雅黑" panose="020B0503020204020204" charset="-122"/>
                <a:sym typeface="+mn-ea"/>
              </a:rPr>
              <a:t>1</a:t>
            </a:r>
            <a:r>
              <a:rPr sz="1710" b="1" dirty="0">
                <a:latin typeface="微软雅黑" panose="020B0503020204020204" charset="-122"/>
                <a:ea typeface="微软雅黑" panose="020B0503020204020204" charset="-122"/>
                <a:sym typeface="+mn-ea"/>
              </a:rPr>
              <a:t>、P</a:t>
            </a:r>
            <a:r>
              <a:rPr lang="en-US" sz="1710" b="1" baseline="-25000" dirty="0">
                <a:latin typeface="微软雅黑" panose="020B0503020204020204" charset="-122"/>
                <a:ea typeface="微软雅黑" panose="020B0503020204020204" charset="-122"/>
                <a:sym typeface="+mn-ea"/>
              </a:rPr>
              <a:t>2</a:t>
            </a:r>
            <a:r>
              <a:rPr sz="1710" b="1" dirty="0">
                <a:latin typeface="微软雅黑" panose="020B0503020204020204" charset="-122"/>
                <a:ea typeface="微软雅黑" panose="020B0503020204020204" charset="-122"/>
                <a:sym typeface="+mn-ea"/>
              </a:rPr>
              <a:t>、P</a:t>
            </a:r>
            <a:r>
              <a:rPr lang="en-US" sz="1710" b="1" baseline="-25000" dirty="0">
                <a:latin typeface="微软雅黑" panose="020B0503020204020204" charset="-122"/>
                <a:ea typeface="微软雅黑" panose="020B0503020204020204" charset="-122"/>
                <a:sym typeface="+mn-ea"/>
              </a:rPr>
              <a:t>3</a:t>
            </a:r>
            <a:r>
              <a:rPr sz="1710" b="1" dirty="0">
                <a:latin typeface="微软雅黑" panose="020B0503020204020204" charset="-122"/>
                <a:ea typeface="微软雅黑" panose="020B0503020204020204" charset="-122"/>
                <a:sym typeface="+mn-ea"/>
              </a:rPr>
              <a:t>、P</a:t>
            </a:r>
            <a:r>
              <a:rPr lang="en-US" sz="1710" b="1" baseline="-25000" dirty="0">
                <a:latin typeface="微软雅黑" panose="020B0503020204020204" charset="-122"/>
                <a:ea typeface="微软雅黑" panose="020B0503020204020204" charset="-122"/>
                <a:sym typeface="+mn-ea"/>
              </a:rPr>
              <a:t>4</a:t>
            </a:r>
            <a:r>
              <a:rPr sz="1710" b="1" dirty="0">
                <a:latin typeface="微软雅黑" panose="020B0503020204020204" charset="-122"/>
                <a:ea typeface="微软雅黑" panose="020B0503020204020204" charset="-122"/>
              </a:rPr>
              <a:t>应分别位于码字的第 0001(1)、0010(2)、0100(4)、1000(8)位。</a:t>
            </a:r>
            <a:endParaRPr sz="1710" b="1" dirty="0">
              <a:latin typeface="微软雅黑" panose="020B0503020204020204" charset="-122"/>
              <a:ea typeface="微软雅黑" panose="020B0503020204020204" charset="-122"/>
            </a:endParaRPr>
          </a:p>
          <a:p>
            <a:pPr lvl="2" latinLnBrk="0">
              <a:lnSpc>
                <a:spcPct val="100000"/>
              </a:lnSpc>
              <a:spcBef>
                <a:spcPts val="600"/>
              </a:spcBef>
              <a:buSzPct val="80000"/>
            </a:pPr>
            <a:r>
              <a:rPr sz="1710" b="1" dirty="0">
                <a:latin typeface="微软雅黑" panose="020B0503020204020204" charset="-122"/>
                <a:ea typeface="微软雅黑" panose="020B0503020204020204" charset="-122"/>
              </a:rPr>
              <a:t>根据最后一个规则,将其他多位为1的故障字依次表示数据位 M</a:t>
            </a:r>
            <a:r>
              <a:rPr lang="en-US" sz="1710" b="1" baseline="-25000" dirty="0">
                <a:latin typeface="微软雅黑" panose="020B0503020204020204" charset="-122"/>
                <a:ea typeface="微软雅黑" panose="020B0503020204020204" charset="-122"/>
              </a:rPr>
              <a:t>1</a:t>
            </a:r>
            <a:r>
              <a:rPr sz="1710" b="1" baseline="-25000" dirty="0">
                <a:latin typeface="微软雅黑" panose="020B0503020204020204" charset="-122"/>
                <a:ea typeface="微软雅黑" panose="020B0503020204020204" charset="-122"/>
              </a:rPr>
              <a:t> </a:t>
            </a:r>
            <a:r>
              <a:rPr sz="1710" b="1" dirty="0">
                <a:latin typeface="微软雅黑" panose="020B0503020204020204" charset="-122"/>
                <a:ea typeface="微软雅黑" panose="020B0503020204020204" charset="-122"/>
              </a:rPr>
              <a:t>~M</a:t>
            </a:r>
            <a:r>
              <a:rPr lang="en-US" sz="1710" b="1" baseline="-25000" dirty="0">
                <a:latin typeface="微软雅黑" panose="020B0503020204020204" charset="-122"/>
                <a:ea typeface="微软雅黑" panose="020B0503020204020204" charset="-122"/>
              </a:rPr>
              <a:t>8</a:t>
            </a:r>
            <a:r>
              <a:rPr sz="1710" b="1" dirty="0">
                <a:latin typeface="微软雅黑" panose="020B0503020204020204" charset="-122"/>
                <a:ea typeface="微软雅黑" panose="020B0503020204020204" charset="-122"/>
              </a:rPr>
              <a:t>发生错误的情况。因此,数据位 </a:t>
            </a:r>
            <a:r>
              <a:rPr sz="1710" b="1" dirty="0">
                <a:latin typeface="微软雅黑" panose="020B0503020204020204" charset="-122"/>
                <a:ea typeface="微软雅黑" panose="020B0503020204020204" charset="-122"/>
                <a:sym typeface="+mn-ea"/>
              </a:rPr>
              <a:t>M</a:t>
            </a:r>
            <a:r>
              <a:rPr lang="en-US" sz="1710" b="1" baseline="-25000" dirty="0">
                <a:latin typeface="微软雅黑" panose="020B0503020204020204" charset="-122"/>
                <a:ea typeface="微软雅黑" panose="020B0503020204020204" charset="-122"/>
                <a:sym typeface="+mn-ea"/>
              </a:rPr>
              <a:t>1</a:t>
            </a:r>
            <a:r>
              <a:rPr sz="1710" b="1" baseline="-25000" dirty="0">
                <a:latin typeface="微软雅黑" panose="020B0503020204020204" charset="-122"/>
                <a:ea typeface="微软雅黑" panose="020B0503020204020204" charset="-122"/>
                <a:sym typeface="+mn-ea"/>
              </a:rPr>
              <a:t> </a:t>
            </a:r>
            <a:r>
              <a:rPr sz="1710" b="1" dirty="0">
                <a:latin typeface="微软雅黑" panose="020B0503020204020204" charset="-122"/>
                <a:ea typeface="微软雅黑" panose="020B0503020204020204" charset="-122"/>
                <a:sym typeface="+mn-ea"/>
              </a:rPr>
              <a:t>~M</a:t>
            </a:r>
            <a:r>
              <a:rPr lang="en-US" sz="1710" b="1" baseline="-25000" dirty="0">
                <a:latin typeface="微软雅黑" panose="020B0503020204020204" charset="-122"/>
                <a:ea typeface="微软雅黑" panose="020B0503020204020204" charset="-122"/>
                <a:sym typeface="+mn-ea"/>
              </a:rPr>
              <a:t>8</a:t>
            </a:r>
            <a:r>
              <a:rPr sz="1710" b="1" dirty="0">
                <a:latin typeface="微软雅黑" panose="020B0503020204020204" charset="-122"/>
                <a:ea typeface="微软雅黑" panose="020B0503020204020204" charset="-122"/>
              </a:rPr>
              <a:t>应分别位于码字的第 0011(3)0101(5)0110(6)0111(7)1001(9)1010(10)1011(11)1100(12)位。即码字的排列为</a:t>
            </a:r>
            <a:r>
              <a:rPr sz="1710" b="1" dirty="0">
                <a:solidFill>
                  <a:srgbClr val="FF0000"/>
                </a:solidFill>
                <a:latin typeface="微软雅黑" panose="020B0503020204020204" charset="-122"/>
                <a:ea typeface="微软雅黑" panose="020B0503020204020204" charset="-122"/>
              </a:rPr>
              <a:t>M</a:t>
            </a:r>
            <a:r>
              <a:rPr lang="en-US" sz="1710" b="1" baseline="-25000" dirty="0">
                <a:solidFill>
                  <a:srgbClr val="FF0000"/>
                </a:solidFill>
                <a:latin typeface="微软雅黑" panose="020B0503020204020204" charset="-122"/>
                <a:ea typeface="微软雅黑" panose="020B0503020204020204" charset="-122"/>
              </a:rPr>
              <a:t>8</a:t>
            </a:r>
            <a:r>
              <a:rPr sz="1710" b="1" dirty="0">
                <a:solidFill>
                  <a:srgbClr val="FF0000"/>
                </a:solidFill>
                <a:latin typeface="微软雅黑" panose="020B0503020204020204" charset="-122"/>
                <a:ea typeface="微软雅黑" panose="020B0503020204020204" charset="-122"/>
              </a:rPr>
              <a:t>M</a:t>
            </a:r>
            <a:r>
              <a:rPr lang="en-US" sz="1710" b="1" baseline="-25000" dirty="0">
                <a:solidFill>
                  <a:srgbClr val="FF0000"/>
                </a:solidFill>
                <a:latin typeface="微软雅黑" panose="020B0503020204020204" charset="-122"/>
                <a:ea typeface="微软雅黑" panose="020B0503020204020204" charset="-122"/>
              </a:rPr>
              <a:t>7</a:t>
            </a:r>
            <a:r>
              <a:rPr sz="1710" b="1" dirty="0">
                <a:solidFill>
                  <a:srgbClr val="FF0000"/>
                </a:solidFill>
                <a:latin typeface="微软雅黑" panose="020B0503020204020204" charset="-122"/>
                <a:ea typeface="微软雅黑" panose="020B0503020204020204" charset="-122"/>
              </a:rPr>
              <a:t>M</a:t>
            </a:r>
            <a:r>
              <a:rPr lang="en-US" sz="1710" b="1" baseline="-25000" dirty="0">
                <a:solidFill>
                  <a:srgbClr val="FF0000"/>
                </a:solidFill>
                <a:latin typeface="微软雅黑" panose="020B0503020204020204" charset="-122"/>
                <a:ea typeface="微软雅黑" panose="020B0503020204020204" charset="-122"/>
              </a:rPr>
              <a:t>6</a:t>
            </a:r>
            <a:r>
              <a:rPr sz="1710" b="1" dirty="0">
                <a:solidFill>
                  <a:srgbClr val="FF0000"/>
                </a:solidFill>
                <a:latin typeface="微软雅黑" panose="020B0503020204020204" charset="-122"/>
                <a:ea typeface="微软雅黑" panose="020B0503020204020204" charset="-122"/>
              </a:rPr>
              <a:t>M</a:t>
            </a:r>
            <a:r>
              <a:rPr lang="en-US" sz="1710" b="1" baseline="-25000" dirty="0">
                <a:solidFill>
                  <a:srgbClr val="FF0000"/>
                </a:solidFill>
                <a:latin typeface="微软雅黑" panose="020B0503020204020204" charset="-122"/>
                <a:ea typeface="微软雅黑" panose="020B0503020204020204" charset="-122"/>
              </a:rPr>
              <a:t>5</a:t>
            </a:r>
            <a:r>
              <a:rPr sz="1710" b="1" dirty="0">
                <a:solidFill>
                  <a:srgbClr val="FF0000"/>
                </a:solidFill>
                <a:latin typeface="微软雅黑" panose="020B0503020204020204" charset="-122"/>
                <a:ea typeface="微软雅黑" panose="020B0503020204020204" charset="-122"/>
              </a:rPr>
              <a:t>P</a:t>
            </a:r>
            <a:r>
              <a:rPr lang="en-US" sz="1710" b="1" baseline="-25000" dirty="0">
                <a:solidFill>
                  <a:srgbClr val="FF0000"/>
                </a:solidFill>
                <a:latin typeface="微软雅黑" panose="020B0503020204020204" charset="-122"/>
                <a:ea typeface="微软雅黑" panose="020B0503020204020204" charset="-122"/>
              </a:rPr>
              <a:t>4</a:t>
            </a:r>
            <a:r>
              <a:rPr sz="1710" b="1" dirty="0">
                <a:solidFill>
                  <a:srgbClr val="FF0000"/>
                </a:solidFill>
                <a:latin typeface="微软雅黑" panose="020B0503020204020204" charset="-122"/>
                <a:ea typeface="微软雅黑" panose="020B0503020204020204" charset="-122"/>
              </a:rPr>
              <a:t>M</a:t>
            </a:r>
            <a:r>
              <a:rPr lang="en-US" sz="1710" b="1" baseline="-25000" dirty="0">
                <a:solidFill>
                  <a:srgbClr val="FF0000"/>
                </a:solidFill>
                <a:latin typeface="微软雅黑" panose="020B0503020204020204" charset="-122"/>
                <a:ea typeface="微软雅黑" panose="020B0503020204020204" charset="-122"/>
              </a:rPr>
              <a:t>4</a:t>
            </a:r>
            <a:r>
              <a:rPr sz="1710" b="1" dirty="0">
                <a:solidFill>
                  <a:srgbClr val="FF0000"/>
                </a:solidFill>
                <a:latin typeface="微软雅黑" panose="020B0503020204020204" charset="-122"/>
                <a:ea typeface="微软雅黑" panose="020B0503020204020204" charset="-122"/>
              </a:rPr>
              <a:t>M</a:t>
            </a:r>
            <a:r>
              <a:rPr lang="en-US" sz="1710" b="1" baseline="-25000" dirty="0">
                <a:solidFill>
                  <a:srgbClr val="FF0000"/>
                </a:solidFill>
                <a:latin typeface="微软雅黑" panose="020B0503020204020204" charset="-122"/>
                <a:ea typeface="微软雅黑" panose="020B0503020204020204" charset="-122"/>
              </a:rPr>
              <a:t>3</a:t>
            </a:r>
            <a:r>
              <a:rPr sz="1710" b="1" dirty="0">
                <a:solidFill>
                  <a:srgbClr val="FF0000"/>
                </a:solidFill>
                <a:latin typeface="微软雅黑" panose="020B0503020204020204" charset="-122"/>
                <a:ea typeface="微软雅黑" panose="020B0503020204020204" charset="-122"/>
              </a:rPr>
              <a:t>M</a:t>
            </a:r>
            <a:r>
              <a:rPr lang="en-US" sz="1710" b="1" baseline="-25000" dirty="0">
                <a:solidFill>
                  <a:srgbClr val="FF0000"/>
                </a:solidFill>
                <a:latin typeface="微软雅黑" panose="020B0503020204020204" charset="-122"/>
                <a:ea typeface="微软雅黑" panose="020B0503020204020204" charset="-122"/>
              </a:rPr>
              <a:t>2</a:t>
            </a:r>
            <a:r>
              <a:rPr sz="1710" b="1" dirty="0">
                <a:solidFill>
                  <a:srgbClr val="FF0000"/>
                </a:solidFill>
                <a:latin typeface="微软雅黑" panose="020B0503020204020204" charset="-122"/>
                <a:ea typeface="微软雅黑" panose="020B0503020204020204" charset="-122"/>
              </a:rPr>
              <a:t>P</a:t>
            </a:r>
            <a:r>
              <a:rPr lang="en-US" sz="1710" b="1" baseline="-25000" dirty="0">
                <a:solidFill>
                  <a:srgbClr val="FF0000"/>
                </a:solidFill>
                <a:latin typeface="微软雅黑" panose="020B0503020204020204" charset="-122"/>
                <a:ea typeface="微软雅黑" panose="020B0503020204020204" charset="-122"/>
              </a:rPr>
              <a:t>3</a:t>
            </a:r>
            <a:r>
              <a:rPr sz="1710" b="1" dirty="0">
                <a:solidFill>
                  <a:srgbClr val="FF0000"/>
                </a:solidFill>
                <a:latin typeface="微软雅黑" panose="020B0503020204020204" charset="-122"/>
                <a:ea typeface="微软雅黑" panose="020B0503020204020204" charset="-122"/>
              </a:rPr>
              <a:t>M</a:t>
            </a:r>
            <a:r>
              <a:rPr lang="en-US" sz="1710" b="1" baseline="-25000" dirty="0">
                <a:solidFill>
                  <a:srgbClr val="FF0000"/>
                </a:solidFill>
                <a:latin typeface="微软雅黑" panose="020B0503020204020204" charset="-122"/>
                <a:ea typeface="微软雅黑" panose="020B0503020204020204" charset="-122"/>
              </a:rPr>
              <a:t>1</a:t>
            </a:r>
            <a:r>
              <a:rPr sz="1710" b="1" dirty="0">
                <a:solidFill>
                  <a:srgbClr val="FF0000"/>
                </a:solidFill>
                <a:latin typeface="微软雅黑" panose="020B0503020204020204" charset="-122"/>
                <a:ea typeface="微软雅黑" panose="020B0503020204020204" charset="-122"/>
              </a:rPr>
              <a:t>P</a:t>
            </a:r>
            <a:r>
              <a:rPr lang="en-US" sz="1710" b="1" baseline="-25000" dirty="0">
                <a:solidFill>
                  <a:srgbClr val="FF0000"/>
                </a:solidFill>
                <a:latin typeface="微软雅黑" panose="020B0503020204020204" charset="-122"/>
                <a:ea typeface="微软雅黑" panose="020B0503020204020204" charset="-122"/>
              </a:rPr>
              <a:t>2</a:t>
            </a:r>
            <a:r>
              <a:rPr sz="1710" b="1" dirty="0">
                <a:solidFill>
                  <a:srgbClr val="FF0000"/>
                </a:solidFill>
                <a:latin typeface="微软雅黑" panose="020B0503020204020204" charset="-122"/>
                <a:ea typeface="微软雅黑" panose="020B0503020204020204" charset="-122"/>
              </a:rPr>
              <a:t>P</a:t>
            </a:r>
            <a:r>
              <a:rPr lang="en-US" sz="1710" b="1" baseline="-25000" dirty="0">
                <a:solidFill>
                  <a:srgbClr val="FF0000"/>
                </a:solidFill>
                <a:latin typeface="微软雅黑" panose="020B0503020204020204" charset="-122"/>
                <a:ea typeface="微软雅黑" panose="020B0503020204020204" charset="-122"/>
              </a:rPr>
              <a:t>1</a:t>
            </a:r>
            <a:endParaRPr lang="en-US" sz="1710" b="1" baseline="-25000" dirty="0">
              <a:solidFill>
                <a:srgbClr val="FF0000"/>
              </a:solidFill>
              <a:latin typeface="微软雅黑" panose="020B0503020204020204" charset="-122"/>
              <a:ea typeface="微软雅黑" panose="020B0503020204020204" charset="-122"/>
            </a:endParaRPr>
          </a:p>
        </p:txBody>
      </p:sp>
      <p:sp>
        <p:nvSpPr>
          <p:cNvPr id="124931" name="灯片编号占位符 5"/>
          <p:cNvSpPr txBox="1">
            <a:spLocks noGrp="1"/>
          </p:cNvSpPr>
          <p:nvPr>
            <p:ph type="sldNum" sz="quarter"/>
          </p:nvPr>
        </p:nvSpPr>
        <p:spPr>
          <a:xfrm>
            <a:off x="7239000" y="6248400"/>
            <a:ext cx="1581150" cy="493713"/>
          </a:xfrm>
          <a:prstGeom prst="rect">
            <a:avLst/>
          </a:prstGeom>
          <a:noFill/>
          <a:ln w="9525">
            <a:noFill/>
          </a:ln>
        </p:spPr>
        <p:txBody>
          <a:bodyPr anchor="t"/>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eaLnBrk="1" hangingPunct="1"/>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olidFill>
                  <a:srgbClr val="0000FF"/>
                </a:solidFill>
                <a:latin typeface="微软雅黑" panose="020B0503020204020204" charset="-122"/>
                <a:ea typeface="微软雅黑" panose="020B0503020204020204" charset="-122"/>
                <a:sym typeface="+mn-ea"/>
              </a:rPr>
              <a:t>海明校验码 </a:t>
            </a:r>
            <a:endParaRPr lang="zh-CN" altLang="en-US"/>
          </a:p>
        </p:txBody>
      </p:sp>
      <p:pic>
        <p:nvPicPr>
          <p:cNvPr id="4" name="图片 3"/>
          <p:cNvPicPr>
            <a:picLocks noChangeAspect="1"/>
          </p:cNvPicPr>
          <p:nvPr/>
        </p:nvPicPr>
        <p:blipFill>
          <a:blip r:embed="rId1"/>
          <a:stretch>
            <a:fillRect/>
          </a:stretch>
        </p:blipFill>
        <p:spPr>
          <a:xfrm>
            <a:off x="683895" y="3213100"/>
            <a:ext cx="7918450" cy="2188210"/>
          </a:xfrm>
          <a:prstGeom prst="rect">
            <a:avLst/>
          </a:prstGeom>
        </p:spPr>
      </p:pic>
      <p:sp>
        <p:nvSpPr>
          <p:cNvPr id="5" name="文本框 4"/>
          <p:cNvSpPr txBox="1"/>
          <p:nvPr/>
        </p:nvSpPr>
        <p:spPr>
          <a:xfrm>
            <a:off x="1921510" y="5661025"/>
            <a:ext cx="5301615" cy="398780"/>
          </a:xfrm>
          <a:prstGeom prst="rect">
            <a:avLst/>
          </a:prstGeom>
          <a:noFill/>
        </p:spPr>
        <p:txBody>
          <a:bodyPr wrap="square" rtlCol="0">
            <a:spAutoFit/>
          </a:bodyPr>
          <a:p>
            <a:pPr algn="ctr">
              <a:buClrTx/>
              <a:buSzTx/>
              <a:buFontTx/>
            </a:pPr>
            <a:r>
              <a:rPr lang="zh-CN" altLang="en-US" sz="2000" b="1">
                <a:solidFill>
                  <a:schemeClr val="accent1">
                    <a:lumMod val="75000"/>
                  </a:schemeClr>
                </a:solidFill>
                <a:latin typeface="微软雅黑" panose="020B0503020204020204" charset="-122"/>
                <a:ea typeface="微软雅黑" panose="020B0503020204020204" charset="-122"/>
              </a:rPr>
              <a:t>图：故障字与出错情况的对应关系</a:t>
            </a:r>
            <a:endParaRPr lang="zh-CN" altLang="en-US" sz="2000" b="1">
              <a:solidFill>
                <a:schemeClr val="accent1">
                  <a:lumMod val="75000"/>
                </a:schemeClr>
              </a:solidFill>
              <a:latin typeface="微软雅黑" panose="020B0503020204020204" charset="-122"/>
              <a:ea typeface="微软雅黑" panose="020B0503020204020204" charset="-122"/>
            </a:endParaRPr>
          </a:p>
        </p:txBody>
      </p:sp>
      <p:sp>
        <p:nvSpPr>
          <p:cNvPr id="125954" name="Rectangle 3"/>
          <p:cNvSpPr>
            <a:spLocks noGrp="1"/>
          </p:cNvSpPr>
          <p:nvPr>
            <p:ph idx="1"/>
          </p:nvPr>
        </p:nvSpPr>
        <p:spPr>
          <a:xfrm>
            <a:off x="533400" y="1271905"/>
            <a:ext cx="8001000" cy="2165350"/>
          </a:xfrm>
          <a:noFill/>
          <a:ln>
            <a:noFill/>
          </a:ln>
        </p:spPr>
        <p:txBody>
          <a:bodyPr anchor="t"/>
          <a:p>
            <a:pPr eaLnBrk="1" hangingPunct="1">
              <a:spcBef>
                <a:spcPts val="1800"/>
              </a:spcBef>
              <a:buClr>
                <a:schemeClr val="tx2"/>
              </a:buClr>
              <a:buSzPct val="80000"/>
              <a:buChar char="u"/>
            </a:pPr>
            <a:r>
              <a:rPr lang="en-US" altLang="zh-CN" sz="2400" dirty="0">
                <a:solidFill>
                  <a:schemeClr val="tx2"/>
                </a:solidFill>
                <a:latin typeface="微软雅黑" panose="020B0503020204020204" charset="-122"/>
                <a:ea typeface="微软雅黑" panose="020B0503020204020204" charset="-122"/>
              </a:rPr>
              <a:t>S</a:t>
            </a:r>
            <a:r>
              <a:rPr lang="en-US" altLang="zh-CN" sz="2400" baseline="-25000" dirty="0">
                <a:solidFill>
                  <a:schemeClr val="tx2"/>
                </a:solidFill>
                <a:latin typeface="微软雅黑" panose="020B0503020204020204" charset="-122"/>
                <a:ea typeface="微软雅黑" panose="020B0503020204020204" charset="-122"/>
              </a:rPr>
              <a:t>4</a:t>
            </a:r>
            <a:r>
              <a:rPr lang="en-US" altLang="zh-CN" sz="2400" dirty="0">
                <a:solidFill>
                  <a:schemeClr val="tx2"/>
                </a:solidFill>
                <a:latin typeface="微软雅黑" panose="020B0503020204020204" charset="-122"/>
                <a:ea typeface="微软雅黑" panose="020B0503020204020204" charset="-122"/>
              </a:rPr>
              <a:t>S</a:t>
            </a:r>
            <a:r>
              <a:rPr lang="en-US" altLang="zh-CN" sz="2400" baseline="-25000" dirty="0">
                <a:solidFill>
                  <a:schemeClr val="tx2"/>
                </a:solidFill>
                <a:latin typeface="微软雅黑" panose="020B0503020204020204" charset="-122"/>
                <a:ea typeface="微软雅黑" panose="020B0503020204020204" charset="-122"/>
              </a:rPr>
              <a:t>3</a:t>
            </a:r>
            <a:r>
              <a:rPr lang="en-US" altLang="zh-CN" sz="2400" dirty="0">
                <a:solidFill>
                  <a:schemeClr val="tx2"/>
                </a:solidFill>
                <a:latin typeface="微软雅黑" panose="020B0503020204020204" charset="-122"/>
                <a:ea typeface="微软雅黑" panose="020B0503020204020204" charset="-122"/>
              </a:rPr>
              <a:t>S</a:t>
            </a:r>
            <a:r>
              <a:rPr lang="en-US" altLang="zh-CN" sz="2400" baseline="-25000" dirty="0">
                <a:solidFill>
                  <a:schemeClr val="tx2"/>
                </a:solidFill>
                <a:latin typeface="微软雅黑" panose="020B0503020204020204" charset="-122"/>
                <a:ea typeface="微软雅黑" panose="020B0503020204020204" charset="-122"/>
              </a:rPr>
              <a:t>2</a:t>
            </a:r>
            <a:r>
              <a:rPr lang="en-US" altLang="zh-CN" sz="2400" dirty="0">
                <a:solidFill>
                  <a:schemeClr val="tx2"/>
                </a:solidFill>
                <a:latin typeface="微软雅黑" panose="020B0503020204020204" charset="-122"/>
                <a:ea typeface="微软雅黑" panose="020B0503020204020204" charset="-122"/>
              </a:rPr>
              <a:t>S</a:t>
            </a:r>
            <a:r>
              <a:rPr lang="en-US" altLang="zh-CN" sz="2400" baseline="-25000" dirty="0">
                <a:solidFill>
                  <a:schemeClr val="tx2"/>
                </a:solidFill>
                <a:latin typeface="微软雅黑" panose="020B0503020204020204" charset="-122"/>
                <a:ea typeface="微软雅黑" panose="020B0503020204020204" charset="-122"/>
              </a:rPr>
              <a:t>1</a:t>
            </a:r>
            <a:r>
              <a:rPr lang="zh-CN" altLang="en-US" sz="2400" dirty="0">
                <a:solidFill>
                  <a:schemeClr val="tx2"/>
                </a:solidFill>
                <a:latin typeface="微软雅黑" panose="020B0503020204020204" charset="-122"/>
                <a:ea typeface="微软雅黑" panose="020B0503020204020204" charset="-122"/>
              </a:rPr>
              <a:t>取值：出错</a:t>
            </a:r>
            <a:r>
              <a:rPr lang="zh-CN" altLang="en-US" sz="2400" dirty="0">
                <a:solidFill>
                  <a:schemeClr val="tx2"/>
                </a:solidFill>
                <a:latin typeface="微软雅黑" panose="020B0503020204020204" charset="-122"/>
                <a:ea typeface="微软雅黑" panose="020B0503020204020204" charset="-122"/>
              </a:rPr>
              <a:t>位置。</a:t>
            </a:r>
            <a:endParaRPr lang="zh-CN" altLang="en-US" sz="2400" dirty="0">
              <a:solidFill>
                <a:schemeClr val="tx2"/>
              </a:solidFill>
              <a:latin typeface="微软雅黑" panose="020B0503020204020204" charset="-122"/>
              <a:ea typeface="微软雅黑" panose="020B0503020204020204" charset="-122"/>
            </a:endParaRPr>
          </a:p>
          <a:p>
            <a:pPr eaLnBrk="1" hangingPunct="1">
              <a:spcBef>
                <a:spcPts val="1800"/>
              </a:spcBef>
              <a:buClr>
                <a:schemeClr val="tx2"/>
              </a:buClr>
              <a:buSzPct val="80000"/>
              <a:buChar char="u"/>
            </a:pPr>
            <a:r>
              <a:rPr lang="zh-CN" altLang="en-US" sz="2400" dirty="0">
                <a:solidFill>
                  <a:schemeClr val="tx2"/>
                </a:solidFill>
                <a:latin typeface="微软雅黑" panose="020B0503020204020204" charset="-122"/>
                <a:ea typeface="微软雅黑" panose="020B0503020204020204" charset="-122"/>
              </a:rPr>
              <a:t>校验分组：根据故障字各位的取值。</a:t>
            </a:r>
            <a:endParaRPr lang="zh-CN" altLang="en-US" sz="2400" dirty="0">
              <a:solidFill>
                <a:schemeClr val="tx2"/>
              </a:solidFill>
              <a:latin typeface="微软雅黑" panose="020B0503020204020204" charset="-122"/>
              <a:ea typeface="微软雅黑" panose="020B0503020204020204" charset="-122"/>
            </a:endParaRPr>
          </a:p>
          <a:p>
            <a:pPr eaLnBrk="1" hangingPunct="1">
              <a:spcBef>
                <a:spcPts val="1800"/>
              </a:spcBef>
              <a:buClr>
                <a:schemeClr val="tx2"/>
              </a:buClr>
              <a:buSzPct val="80000"/>
              <a:buChar char="u"/>
            </a:pPr>
            <a:r>
              <a:rPr lang="zh-CN" altLang="en-US" sz="2400" dirty="0">
                <a:solidFill>
                  <a:schemeClr val="tx2"/>
                </a:solidFill>
                <a:latin typeface="微软雅黑" panose="020B0503020204020204" charset="-122"/>
                <a:ea typeface="微软雅黑" panose="020B0503020204020204" charset="-122"/>
              </a:rPr>
              <a:t>每个数据位参与多组校验位的生成。</a:t>
            </a:r>
            <a:endParaRPr lang="en-US" altLang="zh-CN" sz="2400" dirty="0">
              <a:solidFill>
                <a:schemeClr val="tx2"/>
              </a:solidFill>
              <a:latin typeface="微软雅黑" panose="020B0503020204020204" charset="-122"/>
              <a:ea typeface="微软雅黑" panose="020B0503020204020204" charset="-122"/>
            </a:endParaRPr>
          </a:p>
          <a:p>
            <a:pPr lvl="1">
              <a:spcBef>
                <a:spcPts val="1200"/>
              </a:spcBef>
              <a:buSzPct val="80000"/>
            </a:pPr>
            <a:endParaRPr lang="zh-CN" altLang="en-US" sz="2000" b="1" dirty="0">
              <a:solidFill>
                <a:schemeClr val="accent1"/>
              </a:solidFill>
              <a:latin typeface="微软雅黑" panose="020B0503020204020204" charset="-122"/>
              <a:ea typeface="微软雅黑" panose="020B0503020204020204"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3" name="Rectangle 2"/>
          <p:cNvSpPr>
            <a:spLocks noGrp="1"/>
          </p:cNvSpPr>
          <p:nvPr>
            <p:ph type="title"/>
          </p:nvPr>
        </p:nvSpPr>
        <p:spPr>
          <a:xfrm>
            <a:off x="457200" y="228600"/>
            <a:ext cx="8001000" cy="1143000"/>
          </a:xfrm>
          <a:noFill/>
          <a:ln>
            <a:noFill/>
          </a:ln>
        </p:spPr>
        <p:txBody>
          <a:bodyPr anchor="t"/>
          <a:p>
            <a:pPr eaLnBrk="1" hangingPunct="1">
              <a:buNone/>
            </a:pPr>
            <a:r>
              <a:rPr lang="zh-CN" altLang="en-US" sz="4000" dirty="0">
                <a:solidFill>
                  <a:srgbClr val="0000FF"/>
                </a:solidFill>
                <a:latin typeface="微软雅黑" panose="020B0503020204020204" charset="-122"/>
                <a:ea typeface="微软雅黑" panose="020B0503020204020204" charset="-122"/>
                <a:sym typeface="+mn-ea"/>
              </a:rPr>
              <a:t>海明校验码 </a:t>
            </a:r>
            <a:endParaRPr lang="en-US" altLang="zh-CN" sz="4000" dirty="0">
              <a:solidFill>
                <a:srgbClr val="0000FF"/>
              </a:solidFill>
              <a:latin typeface="微软雅黑" panose="020B0503020204020204" charset="-122"/>
              <a:ea typeface="微软雅黑" panose="020B0503020204020204" charset="-122"/>
            </a:endParaRPr>
          </a:p>
        </p:txBody>
      </p:sp>
      <p:sp>
        <p:nvSpPr>
          <p:cNvPr id="125954" name="Rectangle 3"/>
          <p:cNvSpPr>
            <a:spLocks noGrp="1"/>
          </p:cNvSpPr>
          <p:nvPr>
            <p:ph idx="1"/>
          </p:nvPr>
        </p:nvSpPr>
        <p:spPr>
          <a:xfrm>
            <a:off x="533400" y="1271588"/>
            <a:ext cx="8001000" cy="5181600"/>
          </a:xfrm>
          <a:noFill/>
          <a:ln>
            <a:noFill/>
          </a:ln>
        </p:spPr>
        <p:txBody>
          <a:bodyPr anchor="t"/>
          <a:p>
            <a:pPr eaLnBrk="1" hangingPunct="1">
              <a:spcBef>
                <a:spcPts val="1800"/>
              </a:spcBef>
              <a:buClr>
                <a:schemeClr val="tx2"/>
              </a:buClr>
              <a:buSzPct val="80000"/>
              <a:buChar char="u"/>
            </a:pPr>
            <a:r>
              <a:rPr lang="en-US" altLang="zh-CN" sz="2400" dirty="0">
                <a:solidFill>
                  <a:schemeClr val="tx2"/>
                </a:solidFill>
                <a:latin typeface="微软雅黑" panose="020B0503020204020204" charset="-122"/>
                <a:ea typeface="微软雅黑" panose="020B0503020204020204" charset="-122"/>
              </a:rPr>
              <a:t>校验位的生成和检错、纠错</a:t>
            </a:r>
            <a:endParaRPr lang="en-US" altLang="zh-CN" sz="2400" dirty="0">
              <a:solidFill>
                <a:schemeClr val="tx2"/>
              </a:solidFill>
              <a:latin typeface="微软雅黑" panose="020B0503020204020204" charset="-122"/>
              <a:ea typeface="微软雅黑" panose="020B0503020204020204" charset="-122"/>
            </a:endParaRPr>
          </a:p>
          <a:p>
            <a:pPr lvl="1">
              <a:spcBef>
                <a:spcPts val="1200"/>
              </a:spcBef>
              <a:buSzPct val="80000"/>
            </a:pPr>
            <a:endParaRPr lang="zh-CN" altLang="en-US" sz="2000" b="1" dirty="0">
              <a:solidFill>
                <a:schemeClr val="accent1"/>
              </a:solidFill>
              <a:latin typeface="微软雅黑" panose="020B0503020204020204" charset="-122"/>
              <a:ea typeface="微软雅黑" panose="020B0503020204020204" charset="-122"/>
            </a:endParaRPr>
          </a:p>
          <a:p>
            <a:pPr lvl="1">
              <a:spcBef>
                <a:spcPts val="1200"/>
              </a:spcBef>
              <a:buSzPct val="80000"/>
            </a:pPr>
            <a:endParaRPr lang="zh-CN" altLang="en-US" sz="2000" b="1" dirty="0">
              <a:solidFill>
                <a:schemeClr val="accent1"/>
              </a:solidFill>
              <a:latin typeface="微软雅黑" panose="020B0503020204020204" charset="-122"/>
              <a:ea typeface="微软雅黑" panose="020B0503020204020204" charset="-122"/>
            </a:endParaRPr>
          </a:p>
          <a:p>
            <a:pPr lvl="1">
              <a:spcBef>
                <a:spcPts val="1200"/>
              </a:spcBef>
              <a:buSzPct val="80000"/>
            </a:pPr>
            <a:endParaRPr lang="zh-CN" altLang="en-US" sz="2000" b="1" dirty="0">
              <a:solidFill>
                <a:schemeClr val="accent1"/>
              </a:solidFill>
              <a:latin typeface="微软雅黑" panose="020B0503020204020204" charset="-122"/>
              <a:ea typeface="微软雅黑" panose="020B0503020204020204" charset="-122"/>
            </a:endParaRPr>
          </a:p>
          <a:p>
            <a:pPr lvl="1">
              <a:spcBef>
                <a:spcPts val="1200"/>
              </a:spcBef>
              <a:buSzPct val="80000"/>
            </a:pPr>
            <a:endParaRPr lang="zh-CN" altLang="en-US" sz="2000" b="1" dirty="0">
              <a:solidFill>
                <a:schemeClr val="accent1"/>
              </a:solidFill>
              <a:latin typeface="微软雅黑" panose="020B0503020204020204" charset="-122"/>
              <a:ea typeface="微软雅黑" panose="020B0503020204020204" charset="-122"/>
            </a:endParaRPr>
          </a:p>
          <a:p>
            <a:pPr marL="342900" lvl="1" indent="-342900" algn="l" eaLnBrk="1" hangingPunct="1">
              <a:spcBef>
                <a:spcPts val="1800"/>
              </a:spcBef>
              <a:buSzPct val="80000"/>
              <a:buChar char="u"/>
            </a:pPr>
            <a:r>
              <a:rPr lang="zh-CN" altLang="en-US" sz="2400" b="1" dirty="0">
                <a:solidFill>
                  <a:schemeClr val="tx2"/>
                </a:solidFill>
                <a:latin typeface="微软雅黑" panose="020B0503020204020204" charset="-122"/>
                <a:ea typeface="微软雅黑" panose="020B0503020204020204" charset="-122"/>
                <a:cs typeface="+mn-cs"/>
              </a:rPr>
              <a:t>例：</a:t>
            </a:r>
            <a:endParaRPr lang="en-US" altLang="zh-CN" sz="2400" b="1" dirty="0">
              <a:solidFill>
                <a:schemeClr val="tx2"/>
              </a:solidFill>
              <a:latin typeface="微软雅黑" panose="020B0503020204020204" charset="-122"/>
              <a:ea typeface="微软雅黑" panose="020B0503020204020204" charset="-122"/>
              <a:cs typeface="+mn-cs"/>
            </a:endParaRPr>
          </a:p>
          <a:p>
            <a:pPr lvl="1">
              <a:spcBef>
                <a:spcPts val="1200"/>
              </a:spcBef>
              <a:buSzPct val="80000"/>
            </a:pPr>
            <a:r>
              <a:rPr lang="zh-CN" altLang="en-US" sz="1800" b="1" dirty="0">
                <a:solidFill>
                  <a:schemeClr val="accent1"/>
                </a:solidFill>
                <a:latin typeface="微软雅黑" panose="020B0503020204020204" charset="-122"/>
                <a:ea typeface="微软雅黑" panose="020B0503020204020204" charset="-122"/>
              </a:rPr>
              <a:t>假定一个8位数据M为</a:t>
            </a:r>
            <a:r>
              <a:rPr sz="1800" b="1" dirty="0">
                <a:latin typeface="微软雅黑" panose="020B0503020204020204" charset="-122"/>
                <a:ea typeface="微软雅黑" panose="020B0503020204020204" charset="-122"/>
                <a:sym typeface="+mn-ea"/>
              </a:rPr>
              <a:t>M</a:t>
            </a:r>
            <a:r>
              <a:rPr lang="en-US" sz="1800" b="1" baseline="-25000" dirty="0">
                <a:latin typeface="微软雅黑" panose="020B0503020204020204" charset="-122"/>
                <a:ea typeface="微软雅黑" panose="020B0503020204020204" charset="-122"/>
                <a:sym typeface="+mn-ea"/>
              </a:rPr>
              <a:t>8</a:t>
            </a:r>
            <a:r>
              <a:rPr sz="1800" b="1" dirty="0">
                <a:latin typeface="微软雅黑" panose="020B0503020204020204" charset="-122"/>
                <a:ea typeface="微软雅黑" panose="020B0503020204020204" charset="-122"/>
                <a:sym typeface="+mn-ea"/>
              </a:rPr>
              <a:t>M</a:t>
            </a:r>
            <a:r>
              <a:rPr lang="en-US" sz="1800" b="1" baseline="-25000" dirty="0">
                <a:latin typeface="微软雅黑" panose="020B0503020204020204" charset="-122"/>
                <a:ea typeface="微软雅黑" panose="020B0503020204020204" charset="-122"/>
                <a:sym typeface="+mn-ea"/>
              </a:rPr>
              <a:t>7</a:t>
            </a:r>
            <a:r>
              <a:rPr sz="1800" b="1" dirty="0">
                <a:latin typeface="微软雅黑" panose="020B0503020204020204" charset="-122"/>
                <a:ea typeface="微软雅黑" panose="020B0503020204020204" charset="-122"/>
                <a:sym typeface="+mn-ea"/>
              </a:rPr>
              <a:t>M</a:t>
            </a:r>
            <a:r>
              <a:rPr lang="en-US" sz="1800" b="1" baseline="-25000" dirty="0">
                <a:latin typeface="微软雅黑" panose="020B0503020204020204" charset="-122"/>
                <a:ea typeface="微软雅黑" panose="020B0503020204020204" charset="-122"/>
                <a:sym typeface="+mn-ea"/>
              </a:rPr>
              <a:t>6</a:t>
            </a:r>
            <a:r>
              <a:rPr sz="1800" b="1" dirty="0">
                <a:latin typeface="微软雅黑" panose="020B0503020204020204" charset="-122"/>
                <a:ea typeface="微软雅黑" panose="020B0503020204020204" charset="-122"/>
                <a:sym typeface="+mn-ea"/>
              </a:rPr>
              <a:t>M</a:t>
            </a:r>
            <a:r>
              <a:rPr lang="en-US" sz="1800" b="1" baseline="-25000" dirty="0">
                <a:latin typeface="微软雅黑" panose="020B0503020204020204" charset="-122"/>
                <a:ea typeface="微软雅黑" panose="020B0503020204020204" charset="-122"/>
                <a:sym typeface="+mn-ea"/>
              </a:rPr>
              <a:t>5</a:t>
            </a:r>
            <a:r>
              <a:rPr sz="1800" b="1" dirty="0">
                <a:latin typeface="微软雅黑" panose="020B0503020204020204" charset="-122"/>
                <a:ea typeface="微软雅黑" panose="020B0503020204020204" charset="-122"/>
                <a:sym typeface="+mn-ea"/>
              </a:rPr>
              <a:t>M</a:t>
            </a:r>
            <a:r>
              <a:rPr lang="en-US" sz="1800" b="1" baseline="-25000" dirty="0">
                <a:latin typeface="微软雅黑" panose="020B0503020204020204" charset="-122"/>
                <a:ea typeface="微软雅黑" panose="020B0503020204020204" charset="-122"/>
                <a:sym typeface="+mn-ea"/>
              </a:rPr>
              <a:t>4</a:t>
            </a:r>
            <a:r>
              <a:rPr sz="1800" b="1" dirty="0">
                <a:latin typeface="微软雅黑" panose="020B0503020204020204" charset="-122"/>
                <a:ea typeface="微软雅黑" panose="020B0503020204020204" charset="-122"/>
                <a:sym typeface="+mn-ea"/>
              </a:rPr>
              <a:t>M</a:t>
            </a:r>
            <a:r>
              <a:rPr lang="en-US" sz="1800" b="1" baseline="-25000" dirty="0">
                <a:latin typeface="微软雅黑" panose="020B0503020204020204" charset="-122"/>
                <a:ea typeface="微软雅黑" panose="020B0503020204020204" charset="-122"/>
                <a:sym typeface="+mn-ea"/>
              </a:rPr>
              <a:t>3</a:t>
            </a:r>
            <a:r>
              <a:rPr sz="1800" b="1" dirty="0">
                <a:latin typeface="微软雅黑" panose="020B0503020204020204" charset="-122"/>
                <a:ea typeface="微软雅黑" panose="020B0503020204020204" charset="-122"/>
                <a:sym typeface="+mn-ea"/>
              </a:rPr>
              <a:t>M</a:t>
            </a:r>
            <a:r>
              <a:rPr lang="en-US" sz="1800" b="1" baseline="-25000" dirty="0">
                <a:latin typeface="微软雅黑" panose="020B0503020204020204" charset="-122"/>
                <a:ea typeface="微软雅黑" panose="020B0503020204020204" charset="-122"/>
                <a:sym typeface="+mn-ea"/>
              </a:rPr>
              <a:t>2</a:t>
            </a:r>
            <a:r>
              <a:rPr sz="1800" b="1" dirty="0">
                <a:latin typeface="微软雅黑" panose="020B0503020204020204" charset="-122"/>
                <a:ea typeface="微软雅黑" panose="020B0503020204020204" charset="-122"/>
                <a:sym typeface="+mn-ea"/>
              </a:rPr>
              <a:t>M</a:t>
            </a:r>
            <a:r>
              <a:rPr lang="en-US" sz="1800" b="1" baseline="-25000" dirty="0">
                <a:latin typeface="微软雅黑" panose="020B0503020204020204" charset="-122"/>
                <a:ea typeface="微软雅黑" panose="020B0503020204020204" charset="-122"/>
                <a:sym typeface="+mn-ea"/>
              </a:rPr>
              <a:t>1</a:t>
            </a:r>
            <a:r>
              <a:rPr lang="zh-CN" altLang="en-US" sz="1800" b="1" dirty="0">
                <a:solidFill>
                  <a:schemeClr val="accent1"/>
                </a:solidFill>
                <a:latin typeface="微软雅黑" panose="020B0503020204020204" charset="-122"/>
                <a:ea typeface="微软雅黑" panose="020B0503020204020204" charset="-122"/>
              </a:rPr>
              <a:t>=01101010,其对应的校验位为P。M和P被存储或经传送后得到的新数据和新校验码分别为M'和P"。要求分别求出以下情况下的故障字并验证其正确性。</a:t>
            </a:r>
            <a:endParaRPr lang="zh-CN" altLang="en-US" sz="1800" b="1" dirty="0">
              <a:solidFill>
                <a:schemeClr val="accent1"/>
              </a:solidFill>
              <a:latin typeface="微软雅黑" panose="020B0503020204020204" charset="-122"/>
              <a:ea typeface="微软雅黑" panose="020B0503020204020204" charset="-122"/>
            </a:endParaRPr>
          </a:p>
          <a:p>
            <a:pPr lvl="2" latinLnBrk="0">
              <a:spcBef>
                <a:spcPts val="600"/>
              </a:spcBef>
              <a:buSzPct val="80000"/>
            </a:pPr>
            <a:r>
              <a:rPr lang="zh-CN" altLang="en-US" sz="1400" b="1" dirty="0">
                <a:solidFill>
                  <a:schemeClr val="accent1"/>
                </a:solidFill>
                <a:latin typeface="微软雅黑" panose="020B0503020204020204" charset="-122"/>
                <a:ea typeface="微软雅黑" panose="020B0503020204020204" charset="-122"/>
              </a:rPr>
              <a:t>(1)M'= 01101010,P"=0011</a:t>
            </a:r>
            <a:endParaRPr lang="zh-CN" altLang="en-US" sz="1400" b="1" dirty="0">
              <a:solidFill>
                <a:schemeClr val="accent1"/>
              </a:solidFill>
              <a:latin typeface="微软雅黑" panose="020B0503020204020204" charset="-122"/>
              <a:ea typeface="微软雅黑" panose="020B0503020204020204" charset="-122"/>
            </a:endParaRPr>
          </a:p>
          <a:p>
            <a:pPr lvl="2" latinLnBrk="0">
              <a:spcBef>
                <a:spcPts val="600"/>
              </a:spcBef>
              <a:buSzPct val="80000"/>
            </a:pPr>
            <a:r>
              <a:rPr lang="zh-CN" altLang="en-US" sz="1400" b="1" dirty="0">
                <a:solidFill>
                  <a:schemeClr val="accent1"/>
                </a:solidFill>
                <a:latin typeface="微软雅黑" panose="020B0503020204020204" charset="-122"/>
                <a:ea typeface="微软雅黑" panose="020B0503020204020204" charset="-122"/>
              </a:rPr>
              <a:t>(2)M'= 01111010,P"=0011</a:t>
            </a:r>
            <a:endParaRPr lang="zh-CN" altLang="en-US" sz="1400" b="1" dirty="0">
              <a:solidFill>
                <a:schemeClr val="accent1"/>
              </a:solidFill>
              <a:latin typeface="微软雅黑" panose="020B0503020204020204" charset="-122"/>
              <a:ea typeface="微软雅黑" panose="020B0503020204020204" charset="-122"/>
            </a:endParaRPr>
          </a:p>
          <a:p>
            <a:pPr lvl="2" latinLnBrk="0">
              <a:spcBef>
                <a:spcPts val="600"/>
              </a:spcBef>
              <a:buSzPct val="80000"/>
            </a:pPr>
            <a:r>
              <a:rPr lang="zh-CN" altLang="en-US" sz="1400" b="1" dirty="0">
                <a:solidFill>
                  <a:schemeClr val="accent1"/>
                </a:solidFill>
                <a:latin typeface="微软雅黑" panose="020B0503020204020204" charset="-122"/>
                <a:ea typeface="微软雅黑" panose="020B0503020204020204" charset="-122"/>
              </a:rPr>
              <a:t>(3)M'= 01101010,P"=1011</a:t>
            </a:r>
            <a:endParaRPr lang="zh-CN" altLang="en-US" sz="1400" b="1" dirty="0">
              <a:solidFill>
                <a:schemeClr val="accent1"/>
              </a:solidFill>
              <a:latin typeface="微软雅黑" panose="020B0503020204020204" charset="-122"/>
              <a:ea typeface="微软雅黑" panose="020B0503020204020204" charset="-122"/>
            </a:endParaRPr>
          </a:p>
        </p:txBody>
      </p:sp>
      <p:sp>
        <p:nvSpPr>
          <p:cNvPr id="125955" name="灯片编号占位符 5"/>
          <p:cNvSpPr txBox="1">
            <a:spLocks noGrp="1"/>
          </p:cNvSpPr>
          <p:nvPr>
            <p:ph type="sldNum" sz="quarter"/>
          </p:nvPr>
        </p:nvSpPr>
        <p:spPr>
          <a:xfrm>
            <a:off x="7239000" y="6248400"/>
            <a:ext cx="1654175" cy="381000"/>
          </a:xfrm>
          <a:prstGeom prst="rect">
            <a:avLst/>
          </a:prstGeom>
          <a:noFill/>
          <a:ln w="9525">
            <a:noFill/>
          </a:ln>
        </p:spPr>
        <p:txBody>
          <a:bodyPr anchor="t"/>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eaLnBrk="1" hangingPunct="1"/>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2070100" y="1844675"/>
            <a:ext cx="4366895" cy="1637665"/>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3" name="Rectangle 2"/>
          <p:cNvSpPr>
            <a:spLocks noGrp="1"/>
          </p:cNvSpPr>
          <p:nvPr>
            <p:ph type="title"/>
          </p:nvPr>
        </p:nvSpPr>
        <p:spPr>
          <a:xfrm>
            <a:off x="457200" y="228600"/>
            <a:ext cx="8001000" cy="1143000"/>
          </a:xfrm>
          <a:noFill/>
          <a:ln>
            <a:noFill/>
          </a:ln>
        </p:spPr>
        <p:txBody>
          <a:bodyPr anchor="t"/>
          <a:p>
            <a:pPr eaLnBrk="1" hangingPunct="1">
              <a:buNone/>
            </a:pPr>
            <a:r>
              <a:rPr lang="zh-CN" altLang="en-US" sz="4000" dirty="0">
                <a:solidFill>
                  <a:srgbClr val="0000FF"/>
                </a:solidFill>
                <a:latin typeface="微软雅黑" panose="020B0503020204020204" charset="-122"/>
                <a:ea typeface="微软雅黑" panose="020B0503020204020204" charset="-122"/>
                <a:sym typeface="+mn-ea"/>
              </a:rPr>
              <a:t>海明校验码 </a:t>
            </a:r>
            <a:endParaRPr lang="en-US" altLang="zh-CN" sz="4000" dirty="0">
              <a:solidFill>
                <a:srgbClr val="0000FF"/>
              </a:solidFill>
              <a:latin typeface="微软雅黑" panose="020B0503020204020204" charset="-122"/>
              <a:ea typeface="微软雅黑" panose="020B0503020204020204" charset="-122"/>
            </a:endParaRPr>
          </a:p>
        </p:txBody>
      </p:sp>
      <p:sp>
        <p:nvSpPr>
          <p:cNvPr id="125954" name="Rectangle 3"/>
          <p:cNvSpPr>
            <a:spLocks noGrp="1"/>
          </p:cNvSpPr>
          <p:nvPr>
            <p:ph idx="1"/>
          </p:nvPr>
        </p:nvSpPr>
        <p:spPr>
          <a:xfrm>
            <a:off x="533400" y="1271588"/>
            <a:ext cx="8001000" cy="5181600"/>
          </a:xfrm>
          <a:noFill/>
          <a:ln>
            <a:noFill/>
          </a:ln>
        </p:spPr>
        <p:txBody>
          <a:bodyPr anchor="t"/>
          <a:p>
            <a:pPr eaLnBrk="1" hangingPunct="1">
              <a:spcBef>
                <a:spcPts val="1800"/>
              </a:spcBef>
              <a:buClr>
                <a:schemeClr val="tx2"/>
              </a:buClr>
              <a:buSzPct val="80000"/>
              <a:buChar char="u"/>
            </a:pPr>
            <a:r>
              <a:rPr lang="en-US" altLang="zh-CN" sz="2400" dirty="0">
                <a:solidFill>
                  <a:schemeClr val="tx2"/>
                </a:solidFill>
                <a:latin typeface="微软雅黑" panose="020B0503020204020204" charset="-122"/>
                <a:ea typeface="微软雅黑" panose="020B0503020204020204" charset="-122"/>
              </a:rPr>
              <a:t>根据上述公式求出数据M的校验位P中相应的各位。</a:t>
            </a:r>
            <a:endParaRPr lang="en-US" altLang="zh-CN" sz="2400" dirty="0">
              <a:solidFill>
                <a:schemeClr val="tx2"/>
              </a:solidFill>
              <a:latin typeface="微软雅黑" panose="020B0503020204020204" charset="-122"/>
              <a:ea typeface="微软雅黑" panose="020B0503020204020204" charset="-122"/>
            </a:endParaRPr>
          </a:p>
          <a:p>
            <a:pPr lvl="1">
              <a:spcBef>
                <a:spcPts val="1200"/>
              </a:spcBef>
              <a:buSzPct val="80000"/>
            </a:pPr>
            <a:endParaRPr lang="zh-CN" altLang="en-US" sz="2000" b="1" dirty="0">
              <a:solidFill>
                <a:schemeClr val="accent1"/>
              </a:solidFill>
              <a:latin typeface="微软雅黑" panose="020B0503020204020204" charset="-122"/>
              <a:ea typeface="微软雅黑" panose="020B0503020204020204" charset="-122"/>
            </a:endParaRPr>
          </a:p>
          <a:p>
            <a:pPr lvl="1">
              <a:spcBef>
                <a:spcPts val="1200"/>
              </a:spcBef>
              <a:buSzPct val="80000"/>
            </a:pPr>
            <a:endParaRPr lang="zh-CN" altLang="en-US" sz="2000" b="1" dirty="0">
              <a:solidFill>
                <a:schemeClr val="accent1"/>
              </a:solidFill>
              <a:latin typeface="微软雅黑" panose="020B0503020204020204" charset="-122"/>
              <a:ea typeface="微软雅黑" panose="020B0503020204020204" charset="-122"/>
            </a:endParaRPr>
          </a:p>
          <a:p>
            <a:pPr lvl="1">
              <a:spcBef>
                <a:spcPts val="1200"/>
              </a:spcBef>
              <a:buSzPct val="80000"/>
            </a:pPr>
            <a:endParaRPr lang="zh-CN" altLang="en-US" sz="2000" b="1" dirty="0">
              <a:solidFill>
                <a:schemeClr val="accent1"/>
              </a:solidFill>
              <a:latin typeface="微软雅黑" panose="020B0503020204020204" charset="-122"/>
              <a:ea typeface="微软雅黑" panose="020B0503020204020204" charset="-122"/>
            </a:endParaRPr>
          </a:p>
          <a:p>
            <a:pPr lvl="1">
              <a:spcBef>
                <a:spcPts val="1200"/>
              </a:spcBef>
              <a:buSzPct val="80000"/>
            </a:pPr>
            <a:endParaRPr lang="zh-CN" altLang="en-US" sz="2000" b="1" dirty="0">
              <a:solidFill>
                <a:schemeClr val="accent1"/>
              </a:solidFill>
              <a:latin typeface="微软雅黑" panose="020B0503020204020204" charset="-122"/>
              <a:ea typeface="微软雅黑" panose="020B0503020204020204" charset="-122"/>
            </a:endParaRPr>
          </a:p>
          <a:p>
            <a:pPr marL="457200" lvl="2" indent="0" algn="l" eaLnBrk="1" hangingPunct="1">
              <a:spcBef>
                <a:spcPts val="1800"/>
              </a:spcBef>
              <a:buSzPct val="80000"/>
              <a:buFont typeface="Wingdings" panose="05000000000000000000" charset="0"/>
              <a:buNone/>
            </a:pPr>
            <a:r>
              <a:rPr lang="zh-CN" altLang="en-US" sz="2055" b="1" dirty="0">
                <a:solidFill>
                  <a:schemeClr val="tx2"/>
                </a:solidFill>
                <a:latin typeface="微软雅黑" panose="020B0503020204020204" charset="-122"/>
                <a:ea typeface="微软雅黑" panose="020B0503020204020204" charset="-122"/>
                <a:cs typeface="+mn-cs"/>
              </a:rPr>
              <a:t>（</a:t>
            </a:r>
            <a:r>
              <a:rPr lang="en-US" altLang="zh-CN" sz="2055" b="1" dirty="0">
                <a:solidFill>
                  <a:schemeClr val="tx2"/>
                </a:solidFill>
                <a:latin typeface="微软雅黑" panose="020B0503020204020204" charset="-122"/>
                <a:ea typeface="微软雅黑" panose="020B0503020204020204" charset="-122"/>
                <a:cs typeface="+mn-cs"/>
              </a:rPr>
              <a:t>1</a:t>
            </a:r>
            <a:r>
              <a:rPr lang="zh-CN" altLang="en-US" sz="2055" b="1" dirty="0">
                <a:solidFill>
                  <a:schemeClr val="tx2"/>
                </a:solidFill>
                <a:latin typeface="微软雅黑" panose="020B0503020204020204" charset="-122"/>
                <a:ea typeface="微软雅黑" panose="020B0503020204020204" charset="-122"/>
                <a:cs typeface="+mn-cs"/>
              </a:rPr>
              <a:t>）：当M'= 01101010,P"=0011 时,因为M'=M,说明数据无错,故障字S应为 0。</a:t>
            </a:r>
            <a:r>
              <a:rPr lang="zh-CN" altLang="en-US" sz="2055" b="1" dirty="0">
                <a:solidFill>
                  <a:schemeClr val="tx2"/>
                </a:solidFill>
                <a:latin typeface="微软雅黑" panose="020B0503020204020204" charset="-122"/>
                <a:ea typeface="微软雅黑" panose="020B0503020204020204" charset="-122"/>
                <a:cs typeface="+mn-cs"/>
                <a:sym typeface="+mn-ea"/>
              </a:rPr>
              <a:t>P'⊕P"</a:t>
            </a:r>
            <a:r>
              <a:rPr lang="en-US" altLang="zh-CN" sz="2055" b="1" dirty="0">
                <a:solidFill>
                  <a:schemeClr val="tx2"/>
                </a:solidFill>
                <a:latin typeface="微软雅黑" panose="020B0503020204020204" charset="-122"/>
                <a:ea typeface="微软雅黑" panose="020B0503020204020204" charset="-122"/>
                <a:cs typeface="+mn-cs"/>
                <a:sym typeface="+mn-ea"/>
              </a:rPr>
              <a:t>=0000</a:t>
            </a:r>
            <a:endParaRPr lang="zh-CN" altLang="en-US" sz="2055" b="1" dirty="0">
              <a:solidFill>
                <a:schemeClr val="tx2"/>
              </a:solidFill>
              <a:latin typeface="微软雅黑" panose="020B0503020204020204" charset="-122"/>
              <a:ea typeface="微软雅黑" panose="020B0503020204020204" charset="-122"/>
              <a:cs typeface="+mn-cs"/>
            </a:endParaRPr>
          </a:p>
          <a:p>
            <a:pPr marL="457200" lvl="2" indent="0" algn="l" eaLnBrk="1" hangingPunct="1">
              <a:spcBef>
                <a:spcPts val="1800"/>
              </a:spcBef>
              <a:buSzPct val="80000"/>
              <a:buFont typeface="Wingdings" panose="05000000000000000000" charset="0"/>
              <a:buNone/>
            </a:pPr>
            <a:r>
              <a:rPr lang="zh-CN" altLang="en-US" sz="2055" b="1" dirty="0">
                <a:solidFill>
                  <a:schemeClr val="tx2"/>
                </a:solidFill>
                <a:latin typeface="微软雅黑" panose="020B0503020204020204" charset="-122"/>
                <a:ea typeface="微软雅黑" panose="020B0503020204020204" charset="-122"/>
                <a:cs typeface="+mn-cs"/>
              </a:rPr>
              <a:t>（</a:t>
            </a:r>
            <a:r>
              <a:rPr lang="en-US" altLang="zh-CN" sz="2055" b="1" dirty="0">
                <a:solidFill>
                  <a:schemeClr val="tx2"/>
                </a:solidFill>
                <a:latin typeface="微软雅黑" panose="020B0503020204020204" charset="-122"/>
                <a:ea typeface="微软雅黑" panose="020B0503020204020204" charset="-122"/>
                <a:cs typeface="+mn-cs"/>
              </a:rPr>
              <a:t>2</a:t>
            </a:r>
            <a:r>
              <a:rPr lang="zh-CN" altLang="en-US" sz="2055" b="1" dirty="0">
                <a:solidFill>
                  <a:schemeClr val="tx2"/>
                </a:solidFill>
                <a:latin typeface="微软雅黑" panose="020B0503020204020204" charset="-122"/>
                <a:ea typeface="微软雅黑" panose="020B0503020204020204" charset="-122"/>
                <a:cs typeface="+mn-cs"/>
              </a:rPr>
              <a:t>）：当 M'= 01111010,</a:t>
            </a:r>
            <a:r>
              <a:rPr lang="zh-CN" altLang="en-US" sz="2055" b="1" dirty="0">
                <a:solidFill>
                  <a:schemeClr val="tx2"/>
                </a:solidFill>
                <a:latin typeface="微软雅黑" panose="020B0503020204020204" charset="-122"/>
                <a:ea typeface="微软雅黑" panose="020B0503020204020204" charset="-122"/>
                <a:cs typeface="+mn-cs"/>
                <a:sym typeface="+mn-ea"/>
              </a:rPr>
              <a:t>P"</a:t>
            </a:r>
            <a:r>
              <a:rPr lang="zh-CN" altLang="en-US" sz="2055" b="1" dirty="0">
                <a:solidFill>
                  <a:schemeClr val="tx2"/>
                </a:solidFill>
                <a:latin typeface="微软雅黑" panose="020B0503020204020204" charset="-122"/>
                <a:ea typeface="微软雅黑" panose="020B0503020204020204" charset="-122"/>
                <a:cs typeface="+mn-cs"/>
              </a:rPr>
              <a:t>=0011 时,说明数据第5位(M</a:t>
            </a:r>
            <a:r>
              <a:rPr lang="en-US" altLang="zh-CN" sz="2055" b="1" baseline="-25000" dirty="0">
                <a:solidFill>
                  <a:schemeClr val="tx2"/>
                </a:solidFill>
                <a:latin typeface="微软雅黑" panose="020B0503020204020204" charset="-122"/>
                <a:ea typeface="微软雅黑" panose="020B0503020204020204" charset="-122"/>
                <a:cs typeface="+mn-cs"/>
              </a:rPr>
              <a:t>5</a:t>
            </a:r>
            <a:r>
              <a:rPr lang="zh-CN" altLang="en-US" sz="2055" b="1" dirty="0">
                <a:solidFill>
                  <a:schemeClr val="tx2"/>
                </a:solidFill>
                <a:latin typeface="微软雅黑" panose="020B0503020204020204" charset="-122"/>
                <a:ea typeface="微软雅黑" panose="020B0503020204020204" charset="-122"/>
                <a:cs typeface="+mn-cs"/>
              </a:rPr>
              <a:t>)错,故障字S应该为 9。</a:t>
            </a:r>
            <a:r>
              <a:rPr lang="zh-CN" altLang="en-US" sz="2055" b="1" dirty="0">
                <a:solidFill>
                  <a:schemeClr val="tx2"/>
                </a:solidFill>
                <a:latin typeface="微软雅黑" panose="020B0503020204020204" charset="-122"/>
                <a:ea typeface="微软雅黑" panose="020B0503020204020204" charset="-122"/>
                <a:cs typeface="+mn-cs"/>
                <a:sym typeface="+mn-ea"/>
              </a:rPr>
              <a:t>P'=</a:t>
            </a:r>
            <a:r>
              <a:rPr lang="en-US" altLang="zh-CN" sz="2055" b="1" dirty="0">
                <a:solidFill>
                  <a:schemeClr val="tx2"/>
                </a:solidFill>
                <a:latin typeface="微软雅黑" panose="020B0503020204020204" charset="-122"/>
                <a:ea typeface="微软雅黑" panose="020B0503020204020204" charset="-122"/>
                <a:cs typeface="+mn-cs"/>
                <a:sym typeface="+mn-ea"/>
              </a:rPr>
              <a:t>1010</a:t>
            </a:r>
            <a:r>
              <a:rPr lang="zh-CN" altLang="en-US" sz="2055" b="1" dirty="0">
                <a:solidFill>
                  <a:schemeClr val="tx2"/>
                </a:solidFill>
                <a:latin typeface="微软雅黑" panose="020B0503020204020204" charset="-122"/>
                <a:ea typeface="微软雅黑" panose="020B0503020204020204" charset="-122"/>
                <a:cs typeface="+mn-cs"/>
                <a:sym typeface="+mn-ea"/>
              </a:rPr>
              <a:t>，</a:t>
            </a:r>
            <a:r>
              <a:rPr lang="zh-CN" altLang="en-US" sz="2055" b="1" dirty="0">
                <a:solidFill>
                  <a:schemeClr val="tx2"/>
                </a:solidFill>
                <a:latin typeface="微软雅黑" panose="020B0503020204020204" charset="-122"/>
                <a:ea typeface="微软雅黑" panose="020B0503020204020204" charset="-122"/>
                <a:cs typeface="+mn-cs"/>
                <a:sym typeface="+mn-ea"/>
              </a:rPr>
              <a:t>P'⊕P"</a:t>
            </a:r>
            <a:r>
              <a:rPr lang="en-US" altLang="zh-CN" sz="2055" b="1" dirty="0">
                <a:solidFill>
                  <a:schemeClr val="tx2"/>
                </a:solidFill>
                <a:latin typeface="微软雅黑" panose="020B0503020204020204" charset="-122"/>
                <a:ea typeface="微软雅黑" panose="020B0503020204020204" charset="-122"/>
                <a:cs typeface="+mn-cs"/>
                <a:sym typeface="+mn-ea"/>
              </a:rPr>
              <a:t>=1001</a:t>
            </a:r>
            <a:endParaRPr lang="zh-CN" altLang="en-US" sz="2055" b="1" dirty="0">
              <a:solidFill>
                <a:schemeClr val="tx2"/>
              </a:solidFill>
              <a:latin typeface="微软雅黑" panose="020B0503020204020204" charset="-122"/>
              <a:ea typeface="微软雅黑" panose="020B0503020204020204" charset="-122"/>
              <a:cs typeface="+mn-cs"/>
            </a:endParaRPr>
          </a:p>
          <a:p>
            <a:pPr marL="457200" lvl="2" indent="0" algn="l" eaLnBrk="1" hangingPunct="1">
              <a:spcBef>
                <a:spcPts val="1800"/>
              </a:spcBef>
              <a:buSzPct val="80000"/>
              <a:buFont typeface="Wingdings" panose="05000000000000000000" charset="0"/>
              <a:buNone/>
            </a:pPr>
            <a:r>
              <a:rPr lang="zh-CN" altLang="en-US" sz="2055" b="1" dirty="0">
                <a:solidFill>
                  <a:schemeClr val="tx2"/>
                </a:solidFill>
                <a:latin typeface="微软雅黑" panose="020B0503020204020204" charset="-122"/>
                <a:ea typeface="微软雅黑" panose="020B0503020204020204" charset="-122"/>
                <a:cs typeface="+mn-cs"/>
              </a:rPr>
              <a:t>（</a:t>
            </a:r>
            <a:r>
              <a:rPr lang="en-US" altLang="zh-CN" sz="2055" b="1" dirty="0">
                <a:solidFill>
                  <a:schemeClr val="tx2"/>
                </a:solidFill>
                <a:latin typeface="微软雅黑" panose="020B0503020204020204" charset="-122"/>
                <a:ea typeface="微软雅黑" panose="020B0503020204020204" charset="-122"/>
                <a:cs typeface="+mn-cs"/>
              </a:rPr>
              <a:t>3</a:t>
            </a:r>
            <a:r>
              <a:rPr lang="zh-CN" altLang="en-US" sz="2055" b="1" dirty="0">
                <a:solidFill>
                  <a:schemeClr val="tx2"/>
                </a:solidFill>
                <a:latin typeface="微软雅黑" panose="020B0503020204020204" charset="-122"/>
                <a:ea typeface="微软雅黑" panose="020B0503020204020204" charset="-122"/>
                <a:cs typeface="+mn-cs"/>
              </a:rPr>
              <a:t>）：当M'= 01101010,P"=1011时,说明数据M无错,校验位P 错,故障位 S应为 8。</a:t>
            </a:r>
            <a:r>
              <a:rPr lang="zh-CN" altLang="en-US" sz="2055" b="1" dirty="0">
                <a:solidFill>
                  <a:schemeClr val="tx2"/>
                </a:solidFill>
                <a:latin typeface="微软雅黑" panose="020B0503020204020204" charset="-122"/>
                <a:ea typeface="微软雅黑" panose="020B0503020204020204" charset="-122"/>
                <a:cs typeface="+mn-cs"/>
                <a:sym typeface="+mn-ea"/>
              </a:rPr>
              <a:t>P'=</a:t>
            </a:r>
            <a:r>
              <a:rPr lang="en-US" altLang="zh-CN" sz="2055" b="1" dirty="0">
                <a:solidFill>
                  <a:schemeClr val="tx2"/>
                </a:solidFill>
                <a:latin typeface="微软雅黑" panose="020B0503020204020204" charset="-122"/>
                <a:ea typeface="微软雅黑" panose="020B0503020204020204" charset="-122"/>
                <a:cs typeface="+mn-cs"/>
                <a:sym typeface="+mn-ea"/>
              </a:rPr>
              <a:t>0011</a:t>
            </a:r>
            <a:r>
              <a:rPr lang="zh-CN" altLang="en-US" sz="2055" b="1" dirty="0">
                <a:solidFill>
                  <a:schemeClr val="tx2"/>
                </a:solidFill>
                <a:latin typeface="微软雅黑" panose="020B0503020204020204" charset="-122"/>
                <a:ea typeface="微软雅黑" panose="020B0503020204020204" charset="-122"/>
                <a:cs typeface="+mn-cs"/>
                <a:sym typeface="+mn-ea"/>
              </a:rPr>
              <a:t>，P'⊕P"</a:t>
            </a:r>
            <a:r>
              <a:rPr lang="en-US" altLang="zh-CN" sz="2055" b="1" dirty="0">
                <a:solidFill>
                  <a:schemeClr val="tx2"/>
                </a:solidFill>
                <a:latin typeface="微软雅黑" panose="020B0503020204020204" charset="-122"/>
                <a:ea typeface="微软雅黑" panose="020B0503020204020204" charset="-122"/>
                <a:cs typeface="+mn-cs"/>
                <a:sym typeface="+mn-ea"/>
              </a:rPr>
              <a:t>=1000</a:t>
            </a:r>
            <a:endParaRPr lang="zh-CN" altLang="en-US" sz="2055" b="1" dirty="0">
              <a:solidFill>
                <a:schemeClr val="tx2"/>
              </a:solidFill>
              <a:latin typeface="微软雅黑" panose="020B0503020204020204" charset="-122"/>
              <a:ea typeface="微软雅黑" panose="020B0503020204020204" charset="-122"/>
              <a:cs typeface="+mn-cs"/>
            </a:endParaRPr>
          </a:p>
          <a:p>
            <a:pPr lvl="1">
              <a:spcBef>
                <a:spcPts val="1200"/>
              </a:spcBef>
              <a:buSzPct val="80000"/>
            </a:pPr>
            <a:endParaRPr lang="zh-CN" altLang="en-US" sz="1400" b="1" dirty="0">
              <a:solidFill>
                <a:schemeClr val="accent1"/>
              </a:solidFill>
              <a:latin typeface="微软雅黑" panose="020B0503020204020204" charset="-122"/>
              <a:ea typeface="微软雅黑" panose="020B0503020204020204" charset="-122"/>
            </a:endParaRPr>
          </a:p>
        </p:txBody>
      </p:sp>
      <p:sp>
        <p:nvSpPr>
          <p:cNvPr id="125955" name="灯片编号占位符 5"/>
          <p:cNvSpPr txBox="1">
            <a:spLocks noGrp="1"/>
          </p:cNvSpPr>
          <p:nvPr>
            <p:ph type="sldNum" sz="quarter"/>
          </p:nvPr>
        </p:nvSpPr>
        <p:spPr>
          <a:xfrm>
            <a:off x="7239000" y="6248400"/>
            <a:ext cx="1654175" cy="381000"/>
          </a:xfrm>
          <a:prstGeom prst="rect">
            <a:avLst/>
          </a:prstGeom>
          <a:noFill/>
          <a:ln w="9525">
            <a:noFill/>
          </a:ln>
        </p:spPr>
        <p:txBody>
          <a:bodyPr anchor="t"/>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eaLnBrk="1" hangingPunct="1"/>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pic>
        <p:nvPicPr>
          <p:cNvPr id="3" name="图片 2"/>
          <p:cNvPicPr>
            <a:picLocks noChangeAspect="1"/>
          </p:cNvPicPr>
          <p:nvPr/>
        </p:nvPicPr>
        <p:blipFill>
          <a:blip r:embed="rId1"/>
          <a:stretch>
            <a:fillRect/>
          </a:stretch>
        </p:blipFill>
        <p:spPr>
          <a:xfrm>
            <a:off x="1187450" y="1844675"/>
            <a:ext cx="6866890" cy="1557655"/>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3" name="Rectangle 2"/>
          <p:cNvSpPr>
            <a:spLocks noGrp="1"/>
          </p:cNvSpPr>
          <p:nvPr>
            <p:ph type="title"/>
          </p:nvPr>
        </p:nvSpPr>
        <p:spPr>
          <a:xfrm>
            <a:off x="457200" y="228600"/>
            <a:ext cx="8001000" cy="1143000"/>
          </a:xfrm>
          <a:noFill/>
          <a:ln>
            <a:noFill/>
          </a:ln>
        </p:spPr>
        <p:txBody>
          <a:bodyPr anchor="t"/>
          <a:p>
            <a:pPr eaLnBrk="1" hangingPunct="1">
              <a:buNone/>
            </a:pPr>
            <a:r>
              <a:rPr lang="zh-CN" altLang="en-US" sz="4000" dirty="0">
                <a:solidFill>
                  <a:srgbClr val="0000FF"/>
                </a:solidFill>
                <a:latin typeface="微软雅黑" panose="020B0503020204020204" charset="-122"/>
                <a:ea typeface="微软雅黑" panose="020B0503020204020204" charset="-122"/>
              </a:rPr>
              <a:t>循环冗余校验码</a:t>
            </a:r>
            <a:r>
              <a:rPr lang="en-US" altLang="zh-CN" sz="4000" dirty="0">
                <a:solidFill>
                  <a:srgbClr val="0000FF"/>
                </a:solidFill>
                <a:latin typeface="微软雅黑" panose="020B0503020204020204" charset="-122"/>
                <a:ea typeface="微软雅黑" panose="020B0503020204020204" charset="-122"/>
              </a:rPr>
              <a:t>*</a:t>
            </a:r>
            <a:endParaRPr lang="en-US" altLang="zh-CN" sz="4000" dirty="0">
              <a:solidFill>
                <a:srgbClr val="0000FF"/>
              </a:solidFill>
              <a:latin typeface="微软雅黑" panose="020B0503020204020204" charset="-122"/>
              <a:ea typeface="微软雅黑" panose="020B0503020204020204" charset="-122"/>
            </a:endParaRPr>
          </a:p>
        </p:txBody>
      </p:sp>
      <p:sp>
        <p:nvSpPr>
          <p:cNvPr id="125954" name="Rectangle 3"/>
          <p:cNvSpPr>
            <a:spLocks noGrp="1"/>
          </p:cNvSpPr>
          <p:nvPr>
            <p:ph idx="1"/>
          </p:nvPr>
        </p:nvSpPr>
        <p:spPr>
          <a:xfrm>
            <a:off x="533400" y="1271588"/>
            <a:ext cx="8001000" cy="5181600"/>
          </a:xfrm>
          <a:noFill/>
          <a:ln>
            <a:noFill/>
          </a:ln>
        </p:spPr>
        <p:txBody>
          <a:bodyPr anchor="t"/>
          <a:p>
            <a:pPr eaLnBrk="1" hangingPunct="1">
              <a:spcBef>
                <a:spcPts val="1800"/>
              </a:spcBef>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计算机网络、同步通信以及磁表面存储器中广泛使用循环冗余校验码</a:t>
            </a:r>
            <a:r>
              <a:rPr lang="en-US" altLang="zh-CN" dirty="0">
                <a:solidFill>
                  <a:schemeClr val="tx2"/>
                </a:solidFill>
                <a:latin typeface="微软雅黑" panose="020B0503020204020204" charset="-122"/>
                <a:ea typeface="微软雅黑" panose="020B0503020204020204" charset="-122"/>
              </a:rPr>
              <a:t>，</a:t>
            </a:r>
            <a:r>
              <a:rPr lang="zh-CN" altLang="en-US" dirty="0">
                <a:solidFill>
                  <a:schemeClr val="tx2"/>
                </a:solidFill>
                <a:latin typeface="微软雅黑" panose="020B0503020204020204" charset="-122"/>
                <a:ea typeface="微软雅黑" panose="020B0503020204020204" charset="-122"/>
              </a:rPr>
              <a:t>简称</a:t>
            </a:r>
            <a:r>
              <a:rPr lang="en-US" altLang="zh-CN" dirty="0">
                <a:solidFill>
                  <a:schemeClr val="tx2"/>
                </a:solidFill>
                <a:latin typeface="微软雅黑" panose="020B0503020204020204" charset="-122"/>
                <a:ea typeface="微软雅黑" panose="020B0503020204020204" charset="-122"/>
              </a:rPr>
              <a:t>CRC</a:t>
            </a:r>
            <a:r>
              <a:rPr lang="zh-CN" altLang="en-US" dirty="0">
                <a:solidFill>
                  <a:schemeClr val="tx2"/>
                </a:solidFill>
                <a:latin typeface="微软雅黑" panose="020B0503020204020204" charset="-122"/>
                <a:ea typeface="微软雅黑" panose="020B0503020204020204" charset="-122"/>
              </a:rPr>
              <a:t>码。</a:t>
            </a:r>
            <a:endParaRPr lang="zh-CN" altLang="en-US" dirty="0">
              <a:solidFill>
                <a:schemeClr val="tx2"/>
              </a:solidFill>
              <a:latin typeface="微软雅黑" panose="020B0503020204020204" charset="-122"/>
              <a:ea typeface="微软雅黑" panose="020B0503020204020204" charset="-122"/>
            </a:endParaRPr>
          </a:p>
          <a:p>
            <a:pPr eaLnBrk="1" hangingPunct="1">
              <a:spcBef>
                <a:spcPts val="1800"/>
              </a:spcBef>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通过除法运算来</a:t>
            </a:r>
            <a:r>
              <a:rPr lang="zh-CN" altLang="en-US" dirty="0">
                <a:solidFill>
                  <a:srgbClr val="FF0000"/>
                </a:solidFill>
                <a:latin typeface="微软雅黑" panose="020B0503020204020204" charset="-122"/>
                <a:ea typeface="微软雅黑" panose="020B0503020204020204" charset="-122"/>
              </a:rPr>
              <a:t>建立有效信息位和校验位之间的约定关系</a:t>
            </a:r>
            <a:r>
              <a:rPr lang="zh-CN" altLang="en-US" dirty="0">
                <a:solidFill>
                  <a:schemeClr val="tx2"/>
                </a:solidFill>
                <a:latin typeface="微软雅黑" panose="020B0503020204020204" charset="-122"/>
                <a:ea typeface="微软雅黑" panose="020B0503020204020204" charset="-122"/>
              </a:rPr>
              <a:t>。</a:t>
            </a:r>
            <a:endParaRPr lang="en-US" altLang="zh-CN" dirty="0">
              <a:solidFill>
                <a:schemeClr val="tx2"/>
              </a:solidFill>
              <a:latin typeface="微软雅黑" panose="020B0503020204020204" charset="-122"/>
              <a:ea typeface="微软雅黑" panose="020B0503020204020204" charset="-122"/>
            </a:endParaRPr>
          </a:p>
          <a:p>
            <a:pPr lvl="1">
              <a:spcBef>
                <a:spcPts val="1200"/>
              </a:spcBef>
              <a:buSzPct val="80000"/>
            </a:pPr>
            <a:r>
              <a:rPr lang="zh-CN" altLang="en-US" sz="2400" b="1" dirty="0">
                <a:solidFill>
                  <a:schemeClr val="accent1"/>
                </a:solidFill>
                <a:latin typeface="微软雅黑" panose="020B0503020204020204" charset="-122"/>
                <a:ea typeface="微软雅黑" panose="020B0503020204020204" charset="-122"/>
              </a:rPr>
              <a:t>假设待编码的有效信息以多项式</a:t>
            </a:r>
            <a:r>
              <a:rPr lang="en-US" altLang="zh-CN" sz="2400" b="1" dirty="0">
                <a:solidFill>
                  <a:schemeClr val="accent1"/>
                </a:solidFill>
                <a:latin typeface="微软雅黑" panose="020B0503020204020204" charset="-122"/>
                <a:ea typeface="微软雅黑" panose="020B0503020204020204" charset="-122"/>
              </a:rPr>
              <a:t>M(X)</a:t>
            </a:r>
            <a:r>
              <a:rPr lang="zh-CN" altLang="en-US" sz="2400" b="1" dirty="0">
                <a:solidFill>
                  <a:schemeClr val="accent1"/>
                </a:solidFill>
                <a:latin typeface="微软雅黑" panose="020B0503020204020204" charset="-122"/>
                <a:ea typeface="微软雅黑" panose="020B0503020204020204" charset="-122"/>
              </a:rPr>
              <a:t>表示，将它左移若干位后，用另一个约定的多项式</a:t>
            </a:r>
            <a:r>
              <a:rPr lang="en-US" altLang="zh-CN" sz="2400" b="1" dirty="0">
                <a:solidFill>
                  <a:schemeClr val="accent1"/>
                </a:solidFill>
                <a:latin typeface="微软雅黑" panose="020B0503020204020204" charset="-122"/>
                <a:ea typeface="微软雅黑" panose="020B0503020204020204" charset="-122"/>
              </a:rPr>
              <a:t>G(X)</a:t>
            </a:r>
            <a:r>
              <a:rPr lang="zh-CN" altLang="en-US" sz="2400" b="1" dirty="0">
                <a:solidFill>
                  <a:schemeClr val="accent1"/>
                </a:solidFill>
                <a:latin typeface="微软雅黑" panose="020B0503020204020204" charset="-122"/>
                <a:ea typeface="微软雅黑" panose="020B0503020204020204" charset="-122"/>
              </a:rPr>
              <a:t>去除，所产生的</a:t>
            </a:r>
            <a:r>
              <a:rPr lang="zh-CN" altLang="en-US" sz="2400" b="1" dirty="0">
                <a:solidFill>
                  <a:srgbClr val="FF3300"/>
                </a:solidFill>
                <a:latin typeface="微软雅黑" panose="020B0503020204020204" charset="-122"/>
                <a:ea typeface="微软雅黑" panose="020B0503020204020204" charset="-122"/>
              </a:rPr>
              <a:t>余数</a:t>
            </a:r>
            <a:r>
              <a:rPr lang="en-US" altLang="zh-CN" sz="2400" b="1" dirty="0">
                <a:solidFill>
                  <a:srgbClr val="FF3300"/>
                </a:solidFill>
                <a:latin typeface="微软雅黑" panose="020B0503020204020204" charset="-122"/>
                <a:ea typeface="微软雅黑" panose="020B0503020204020204" charset="-122"/>
              </a:rPr>
              <a:t>R(X)</a:t>
            </a:r>
            <a:r>
              <a:rPr lang="zh-CN" altLang="en-US" sz="2400" b="1" dirty="0">
                <a:solidFill>
                  <a:srgbClr val="FF3300"/>
                </a:solidFill>
                <a:latin typeface="微软雅黑" panose="020B0503020204020204" charset="-122"/>
                <a:ea typeface="微软雅黑" panose="020B0503020204020204" charset="-122"/>
              </a:rPr>
              <a:t>就是检验位</a:t>
            </a:r>
            <a:r>
              <a:rPr lang="zh-CN" altLang="en-US" sz="2400" b="1" dirty="0">
                <a:solidFill>
                  <a:schemeClr val="accent1"/>
                </a:solidFill>
                <a:latin typeface="微软雅黑" panose="020B0503020204020204" charset="-122"/>
                <a:ea typeface="微软雅黑" panose="020B0503020204020204" charset="-122"/>
              </a:rPr>
              <a:t>。</a:t>
            </a:r>
            <a:endParaRPr lang="en-US" altLang="zh-CN" sz="2400" b="1" dirty="0">
              <a:solidFill>
                <a:schemeClr val="accent1"/>
              </a:solidFill>
              <a:latin typeface="微软雅黑" panose="020B0503020204020204" charset="-122"/>
              <a:ea typeface="微软雅黑" panose="020B0503020204020204" charset="-122"/>
            </a:endParaRPr>
          </a:p>
          <a:p>
            <a:pPr lvl="1">
              <a:spcBef>
                <a:spcPts val="1200"/>
              </a:spcBef>
              <a:buSzPct val="80000"/>
            </a:pPr>
            <a:r>
              <a:rPr lang="zh-CN" altLang="en-US" sz="2400" b="1" dirty="0">
                <a:solidFill>
                  <a:schemeClr val="accent1"/>
                </a:solidFill>
                <a:latin typeface="微软雅黑" panose="020B0503020204020204" charset="-122"/>
                <a:ea typeface="微软雅黑" panose="020B0503020204020204" charset="-122"/>
              </a:rPr>
              <a:t>有效信息和检验位相拼接就构成了</a:t>
            </a:r>
            <a:r>
              <a:rPr lang="en-US" altLang="zh-CN" sz="2400" b="1" dirty="0">
                <a:solidFill>
                  <a:schemeClr val="accent1"/>
                </a:solidFill>
                <a:latin typeface="微软雅黑" panose="020B0503020204020204" charset="-122"/>
                <a:ea typeface="微软雅黑" panose="020B0503020204020204" charset="-122"/>
              </a:rPr>
              <a:t>CRC</a:t>
            </a:r>
            <a:r>
              <a:rPr lang="zh-CN" altLang="en-US" sz="2400" b="1" dirty="0">
                <a:solidFill>
                  <a:schemeClr val="accent1"/>
                </a:solidFill>
                <a:latin typeface="微软雅黑" panose="020B0503020204020204" charset="-122"/>
                <a:ea typeface="微软雅黑" panose="020B0503020204020204" charset="-122"/>
              </a:rPr>
              <a:t>码。</a:t>
            </a:r>
            <a:endParaRPr lang="en-US" altLang="zh-CN" sz="2400" b="1" dirty="0">
              <a:solidFill>
                <a:schemeClr val="accent1"/>
              </a:solidFill>
              <a:latin typeface="微软雅黑" panose="020B0503020204020204" charset="-122"/>
              <a:ea typeface="微软雅黑" panose="020B0503020204020204" charset="-122"/>
            </a:endParaRPr>
          </a:p>
          <a:p>
            <a:pPr lvl="1">
              <a:spcBef>
                <a:spcPts val="1200"/>
              </a:spcBef>
              <a:buSzPct val="80000"/>
            </a:pPr>
            <a:r>
              <a:rPr lang="zh-CN" altLang="en-US" sz="2400" b="1" dirty="0">
                <a:solidFill>
                  <a:schemeClr val="accent1"/>
                </a:solidFill>
                <a:latin typeface="微软雅黑" panose="020B0503020204020204" charset="-122"/>
                <a:ea typeface="微软雅黑" panose="020B0503020204020204" charset="-122"/>
              </a:rPr>
              <a:t>当整个</a:t>
            </a:r>
            <a:r>
              <a:rPr lang="en-US" altLang="zh-CN" sz="2400" b="1" dirty="0">
                <a:solidFill>
                  <a:schemeClr val="accent1"/>
                </a:solidFill>
                <a:latin typeface="微软雅黑" panose="020B0503020204020204" charset="-122"/>
                <a:ea typeface="微软雅黑" panose="020B0503020204020204" charset="-122"/>
              </a:rPr>
              <a:t>CRC</a:t>
            </a:r>
            <a:r>
              <a:rPr lang="zh-CN" altLang="en-US" sz="2400" b="1" dirty="0">
                <a:solidFill>
                  <a:schemeClr val="accent1"/>
                </a:solidFill>
                <a:latin typeface="微软雅黑" panose="020B0503020204020204" charset="-122"/>
                <a:ea typeface="微软雅黑" panose="020B0503020204020204" charset="-122"/>
              </a:rPr>
              <a:t>码被接收后，用约定的多项式</a:t>
            </a:r>
            <a:r>
              <a:rPr lang="en-US" altLang="zh-CN" sz="2400" b="1" dirty="0">
                <a:solidFill>
                  <a:schemeClr val="accent1"/>
                </a:solidFill>
                <a:latin typeface="微软雅黑" panose="020B0503020204020204" charset="-122"/>
                <a:ea typeface="微软雅黑" panose="020B0503020204020204" charset="-122"/>
              </a:rPr>
              <a:t>G(X)</a:t>
            </a:r>
            <a:r>
              <a:rPr lang="zh-CN" altLang="en-US" sz="2400" b="1" dirty="0">
                <a:solidFill>
                  <a:schemeClr val="accent1"/>
                </a:solidFill>
                <a:latin typeface="微软雅黑" panose="020B0503020204020204" charset="-122"/>
                <a:ea typeface="微软雅黑" panose="020B0503020204020204" charset="-122"/>
              </a:rPr>
              <a:t>去除，若余数为0表明该代码是正确的；若余数不为0表明某一位出错，再进一步由余数值确定出错的位置。</a:t>
            </a:r>
            <a:endParaRPr lang="zh-CN" altLang="en-US" sz="2400" b="1" dirty="0">
              <a:solidFill>
                <a:schemeClr val="accent1"/>
              </a:solidFill>
              <a:latin typeface="微软雅黑" panose="020B0503020204020204" charset="-122"/>
              <a:ea typeface="微软雅黑" panose="020B0503020204020204" charset="-122"/>
            </a:endParaRPr>
          </a:p>
        </p:txBody>
      </p:sp>
      <p:sp>
        <p:nvSpPr>
          <p:cNvPr id="125955" name="灯片编号占位符 5"/>
          <p:cNvSpPr txBox="1">
            <a:spLocks noGrp="1"/>
          </p:cNvSpPr>
          <p:nvPr>
            <p:ph type="sldNum" sz="quarter"/>
          </p:nvPr>
        </p:nvSpPr>
        <p:spPr>
          <a:xfrm>
            <a:off x="7239000" y="6248400"/>
            <a:ext cx="1654175" cy="381000"/>
          </a:xfrm>
          <a:prstGeom prst="rect">
            <a:avLst/>
          </a:prstGeom>
          <a:noFill/>
          <a:ln w="9525">
            <a:noFill/>
          </a:ln>
        </p:spPr>
        <p:txBody>
          <a:bodyPr anchor="t"/>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r" eaLnBrk="1" hangingPunct="1"/>
            <a:fld id="{9A0DB2DC-4C9A-4742-B13C-FB6460FD3503}" type="slidenum">
              <a:rPr lang="zh-CN" altLang="en-US" sz="1400" dirty="0">
                <a:solidFill>
                  <a:schemeClr val="tx1"/>
                </a:solidFill>
                <a:latin typeface="Times New Roman" panose="02020603050405020304" pitchFamily="18" charset="0"/>
                <a:ea typeface="宋体" panose="02010600030101010101" pitchFamily="2" charset="-122"/>
              </a:rPr>
            </a:fld>
            <a:endParaRPr lang="zh-CN" altLang="en-US" sz="14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7" name="Rectangle 2"/>
          <p:cNvSpPr>
            <a:spLocks noGrp="1" noRot="1"/>
          </p:cNvSpPr>
          <p:nvPr>
            <p:ph type="title"/>
          </p:nvPr>
        </p:nvSpPr>
        <p:spPr>
          <a:noFill/>
          <a:ln>
            <a:noFill/>
          </a:ln>
        </p:spPr>
        <p:txBody>
          <a:bodyPr anchor="t"/>
          <a:p>
            <a:pPr eaLnBrk="1" hangingPunct="1">
              <a:buNone/>
            </a:pPr>
            <a:r>
              <a:rPr lang="zh-CN" altLang="en-US" sz="4000" dirty="0">
                <a:solidFill>
                  <a:srgbClr val="0000FF"/>
                </a:solidFill>
                <a:latin typeface="微软雅黑" panose="020B0503020204020204" charset="-122"/>
                <a:ea typeface="微软雅黑" panose="020B0503020204020204" charset="-122"/>
              </a:rPr>
              <a:t>总结和讨论</a:t>
            </a:r>
            <a:endParaRPr lang="zh-CN" altLang="en-US" sz="4000" dirty="0">
              <a:solidFill>
                <a:srgbClr val="0000FF"/>
              </a:solidFill>
              <a:latin typeface="微软雅黑" panose="020B0503020204020204" charset="-122"/>
              <a:ea typeface="微软雅黑" panose="020B0503020204020204" charset="-122"/>
            </a:endParaRPr>
          </a:p>
        </p:txBody>
      </p:sp>
      <p:sp>
        <p:nvSpPr>
          <p:cNvPr id="126978" name="Rectangle 3"/>
          <p:cNvSpPr>
            <a:spLocks noGrp="1" noRot="1"/>
          </p:cNvSpPr>
          <p:nvPr>
            <p:ph idx="1"/>
          </p:nvPr>
        </p:nvSpPr>
        <p:spPr>
          <a:xfrm>
            <a:off x="457200" y="1484313"/>
            <a:ext cx="8385175" cy="3313112"/>
          </a:xfrm>
          <a:noFill/>
          <a:ln>
            <a:noFill/>
          </a:ln>
        </p:spPr>
        <p:txBody>
          <a:bodyPr anchor="t"/>
          <a:p>
            <a:pPr eaLnBrk="1" hangingPunct="1">
              <a:spcBef>
                <a:spcPts val="1800"/>
              </a:spcBef>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计算机中信息的表示应考虑哪些问题？</a:t>
            </a:r>
            <a:endParaRPr lang="zh-CN" altLang="en-US" dirty="0">
              <a:solidFill>
                <a:schemeClr val="tx2"/>
              </a:solidFill>
              <a:latin typeface="微软雅黑" panose="020B0503020204020204" charset="-122"/>
              <a:ea typeface="微软雅黑" panose="020B0503020204020204" charset="-122"/>
            </a:endParaRPr>
          </a:p>
          <a:p>
            <a:pPr eaLnBrk="1" hangingPunct="1">
              <a:spcBef>
                <a:spcPts val="1800"/>
              </a:spcBef>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浮点数为什么要规格化和采用隐藏位技术？</a:t>
            </a:r>
            <a:endParaRPr lang="zh-CN" altLang="en-US" dirty="0">
              <a:solidFill>
                <a:schemeClr val="tx2"/>
              </a:solidFill>
              <a:latin typeface="微软雅黑" panose="020B0503020204020204" charset="-122"/>
              <a:ea typeface="微软雅黑" panose="020B0503020204020204" charset="-122"/>
            </a:endParaRPr>
          </a:p>
          <a:p>
            <a:pPr eaLnBrk="1" hangingPunct="1">
              <a:spcBef>
                <a:spcPts val="1800"/>
              </a:spcBef>
              <a:buClr>
                <a:schemeClr val="tx2"/>
              </a:buClr>
              <a:buSzPct val="80000"/>
              <a:buChar char="u"/>
            </a:pPr>
            <a:r>
              <a:rPr lang="zh-CN" altLang="en-US" dirty="0">
                <a:solidFill>
                  <a:schemeClr val="tx2"/>
                </a:solidFill>
                <a:latin typeface="微软雅黑" panose="020B0503020204020204" charset="-122"/>
                <a:ea typeface="微软雅黑" panose="020B0503020204020204" charset="-122"/>
              </a:rPr>
              <a:t>定义不同的机器码的表示法有什么意义？</a:t>
            </a:r>
            <a:endParaRPr lang="zh-CN" altLang="en-US" dirty="0">
              <a:solidFill>
                <a:schemeClr val="tx2"/>
              </a:solidFill>
              <a:latin typeface="微软雅黑" panose="020B0503020204020204" charset="-122"/>
              <a:ea typeface="微软雅黑" panose="020B0503020204020204" charset="-122"/>
            </a:endParaRPr>
          </a:p>
          <a:p>
            <a:pPr eaLnBrk="1" hangingPunct="1">
              <a:spcBef>
                <a:spcPts val="1800"/>
              </a:spcBef>
              <a:buClr>
                <a:schemeClr val="tx2"/>
              </a:buClr>
              <a:buSzPct val="80000"/>
              <a:buChar char="u"/>
            </a:pPr>
            <a:endParaRPr lang="en-US" altLang="zh-CN" dirty="0">
              <a:solidFill>
                <a:schemeClr val="tx2"/>
              </a:solidFill>
              <a:latin typeface="微软雅黑" panose="020B0503020204020204" charset="-122"/>
              <a:ea typeface="微软雅黑" panose="020B0503020204020204"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1" name="Rectangle 2"/>
          <p:cNvSpPr>
            <a:spLocks noGrp="1" noRot="1"/>
          </p:cNvSpPr>
          <p:nvPr>
            <p:ph type="title"/>
          </p:nvPr>
        </p:nvSpPr>
        <p:spPr>
          <a:noFill/>
          <a:ln>
            <a:noFill/>
          </a:ln>
        </p:spPr>
        <p:txBody>
          <a:bodyPr anchor="t"/>
          <a:p>
            <a:pPr>
              <a:buNone/>
            </a:pPr>
            <a:r>
              <a:rPr lang="zh-CN" altLang="en-US" sz="4000" dirty="0">
                <a:solidFill>
                  <a:srgbClr val="0000FF"/>
                </a:solidFill>
                <a:latin typeface="微软雅黑" panose="020B0503020204020204" charset="-122"/>
                <a:ea typeface="微软雅黑" panose="020B0503020204020204" charset="-122"/>
              </a:rPr>
              <a:t>问题</a:t>
            </a:r>
            <a:endParaRPr lang="zh-CN" altLang="en-US" sz="4000" dirty="0">
              <a:solidFill>
                <a:srgbClr val="0000FF"/>
              </a:solidFill>
              <a:latin typeface="微软雅黑" panose="020B0503020204020204" charset="-122"/>
              <a:ea typeface="微软雅黑" panose="020B0503020204020204" charset="-122"/>
            </a:endParaRPr>
          </a:p>
        </p:txBody>
      </p:sp>
      <p:sp>
        <p:nvSpPr>
          <p:cNvPr id="128002" name="Rectangle 3"/>
          <p:cNvSpPr>
            <a:spLocks noGrp="1" noRot="1"/>
          </p:cNvSpPr>
          <p:nvPr>
            <p:ph idx="1"/>
          </p:nvPr>
        </p:nvSpPr>
        <p:spPr>
          <a:xfrm>
            <a:off x="457200" y="1484313"/>
            <a:ext cx="8075613" cy="4681537"/>
          </a:xfrm>
          <a:noFill/>
          <a:ln>
            <a:noFill/>
          </a:ln>
        </p:spPr>
        <p:txBody>
          <a:bodyPr anchor="t"/>
          <a:p>
            <a:pPr marL="342900" lvl="1" indent="-342900" eaLnBrk="1" hangingPunct="1">
              <a:spcBef>
                <a:spcPts val="1800"/>
              </a:spcBef>
              <a:buClr>
                <a:schemeClr val="tx2"/>
              </a:buClr>
              <a:buSzPct val="80000"/>
              <a:buChar char="u"/>
            </a:pPr>
            <a:r>
              <a:rPr lang="zh-CN" altLang="en-US" b="1" dirty="0">
                <a:solidFill>
                  <a:schemeClr val="tx2"/>
                </a:solidFill>
                <a:latin typeface="微软雅黑" panose="020B0503020204020204" charset="-122"/>
                <a:ea typeface="微软雅黑" panose="020B0503020204020204" charset="-122"/>
              </a:rPr>
              <a:t>什么是图形？什么是图像？</a:t>
            </a:r>
            <a:endParaRPr lang="zh-CN" altLang="en-US" b="1" dirty="0">
              <a:solidFill>
                <a:schemeClr val="tx2"/>
              </a:solidFill>
              <a:latin typeface="微软雅黑" panose="020B0503020204020204" charset="-122"/>
              <a:ea typeface="微软雅黑" panose="020B0503020204020204" charset="-122"/>
            </a:endParaRPr>
          </a:p>
          <a:p>
            <a:pPr marL="342900" lvl="1" indent="-342900" eaLnBrk="1" hangingPunct="1">
              <a:spcBef>
                <a:spcPts val="1800"/>
              </a:spcBef>
              <a:buClr>
                <a:schemeClr val="tx2"/>
              </a:buClr>
              <a:buSzPct val="80000"/>
              <a:buChar char="u"/>
            </a:pPr>
            <a:r>
              <a:rPr lang="zh-CN" altLang="en-US" b="1" dirty="0">
                <a:solidFill>
                  <a:schemeClr val="tx2"/>
                </a:solidFill>
                <a:latin typeface="微软雅黑" panose="020B0503020204020204" charset="-122"/>
                <a:ea typeface="微软雅黑" panose="020B0503020204020204" charset="-122"/>
              </a:rPr>
              <a:t>如何表示图形图像？</a:t>
            </a:r>
            <a:endParaRPr lang="zh-CN" altLang="en-US" b="1" dirty="0">
              <a:solidFill>
                <a:schemeClr val="tx2"/>
              </a:solidFill>
              <a:latin typeface="微软雅黑" panose="020B0503020204020204" charset="-122"/>
              <a:ea typeface="微软雅黑" panose="020B0503020204020204" charset="-122"/>
            </a:endParaRPr>
          </a:p>
          <a:p>
            <a:pPr marL="342900" lvl="1" indent="-342900" eaLnBrk="1" hangingPunct="1">
              <a:spcBef>
                <a:spcPts val="1800"/>
              </a:spcBef>
              <a:buClr>
                <a:schemeClr val="tx2"/>
              </a:buClr>
              <a:buSzPct val="80000"/>
              <a:buChar char="u"/>
            </a:pPr>
            <a:r>
              <a:rPr lang="zh-CN" altLang="en-US" b="1" dirty="0">
                <a:solidFill>
                  <a:schemeClr val="tx2"/>
                </a:solidFill>
                <a:latin typeface="微软雅黑" panose="020B0503020204020204" charset="-122"/>
                <a:ea typeface="微软雅黑" panose="020B0503020204020204" charset="-122"/>
              </a:rPr>
              <a:t>应用领域如何？</a:t>
            </a:r>
            <a:endParaRPr lang="zh-CN" altLang="en-US" b="1" dirty="0">
              <a:solidFill>
                <a:schemeClr val="tx2"/>
              </a:solidFill>
              <a:latin typeface="微软雅黑" panose="020B0503020204020204" charset="-122"/>
              <a:ea typeface="微软雅黑" panose="020B0503020204020204" charset="-122"/>
            </a:endParaRPr>
          </a:p>
          <a:p>
            <a:pPr marL="342900" lvl="1" indent="-342900" eaLnBrk="1" hangingPunct="1">
              <a:spcBef>
                <a:spcPts val="1800"/>
              </a:spcBef>
              <a:buClr>
                <a:schemeClr val="tx2"/>
              </a:buClr>
              <a:buSzPct val="80000"/>
              <a:buChar char="u"/>
            </a:pPr>
            <a:r>
              <a:rPr lang="zh-CN" altLang="en-US" b="1" dirty="0">
                <a:solidFill>
                  <a:schemeClr val="tx2"/>
                </a:solidFill>
                <a:latin typeface="微软雅黑" panose="020B0503020204020204" charset="-122"/>
                <a:ea typeface="微软雅黑" panose="020B0503020204020204" charset="-122"/>
              </a:rPr>
              <a:t>与图形图像数据表示有关的其他问题？例如：存储、传输和处理</a:t>
            </a:r>
            <a:endParaRPr lang="zh-CN" altLang="en-US" b="1" dirty="0">
              <a:solidFill>
                <a:schemeClr val="tx2"/>
              </a:solidFill>
              <a:latin typeface="微软雅黑" panose="020B0503020204020204" charset="-122"/>
              <a:ea typeface="微软雅黑" panose="020B0503020204020204" charset="-122"/>
            </a:endParaRPr>
          </a:p>
        </p:txBody>
      </p:sp>
    </p:spTree>
  </p:cSld>
  <p:clrMapOvr>
    <a:masterClrMapping/>
  </p:clrMapOvr>
</p:sld>
</file>

<file path=ppt/tags/tag1.xml><?xml version="1.0" encoding="utf-8"?>
<p:tagLst xmlns:p="http://schemas.openxmlformats.org/presentationml/2006/main">
  <p:tag name="KSO_WM_DOC_GUID" val="{3a994919-9591-44a0-b260-ebcaeec3421d}"/>
  <p:tag name="COMMONDATA" val="eyJoZGlkIjoiNzgwZWUzYWQ0MzYxM2VlNjVhZWQ5MmMwYjc0MjZhZjkifQ=="/>
</p:tagLst>
</file>

<file path=ppt/theme/theme1.xml><?xml version="1.0" encoding="utf-8"?>
<a:theme xmlns:a="http://schemas.openxmlformats.org/drawingml/2006/main" name="主题1">
  <a:themeElements>
    <a:clrScheme name="24美金的ppt模板_2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2">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2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2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2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24美金的ppt模板">
  <a:themeElements>
    <a:clrScheme name="1_24美金的ppt模板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1_24美金的ppt模板">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24美金的ppt模板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1_24美金的ppt模板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1_24美金的ppt模板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4美金的ppt模板_3">
  <a:themeElements>
    <a:clrScheme name="24美金的ppt模板_3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3">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3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3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3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4美金的ppt模板_4">
  <a:themeElements>
    <a:clrScheme name="24美金的ppt模板_4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4">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4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4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4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4美金的ppt模板_5">
  <a:themeElements>
    <a:clrScheme name="24美金的ppt模板_5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5">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5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5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5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主题1">
  <a:themeElements>
    <a:clrScheme name="24美金的ppt模板_2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2">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2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2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2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2_24美金的ppt模板">
  <a:themeElements>
    <a:clrScheme name="1_24美金的ppt模板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1_24美金的ppt模板">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24美金的ppt模板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1_24美金的ppt模板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1_24美金的ppt模板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_24美金的ppt模板_3">
  <a:themeElements>
    <a:clrScheme name="24美金的ppt模板_3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3">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3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3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3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_24美金的ppt模板_4">
  <a:themeElements>
    <a:clrScheme name="24美金的ppt模板_4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4">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4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4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4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_24美金的ppt模板_5">
  <a:themeElements>
    <a:clrScheme name="24美金的ppt模板_5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5">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5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5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5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0</TotalTime>
  <Words>13698</Words>
  <Application>WPS 演示</Application>
  <PresentationFormat>全屏显示(4:3)</PresentationFormat>
  <Paragraphs>1065</Paragraphs>
  <Slides>85</Slides>
  <Notes>27</Notes>
  <HiddenSlides>0</HiddenSlides>
  <MMClips>0</MMClips>
  <ScaleCrop>false</ScaleCrop>
  <HeadingPairs>
    <vt:vector size="8" baseType="variant">
      <vt:variant>
        <vt:lpstr>已用的字体</vt:lpstr>
      </vt:variant>
      <vt:variant>
        <vt:i4>15</vt:i4>
      </vt:variant>
      <vt:variant>
        <vt:lpstr>主题</vt:lpstr>
      </vt:variant>
      <vt:variant>
        <vt:i4>10</vt:i4>
      </vt:variant>
      <vt:variant>
        <vt:lpstr>嵌入 OLE 服务器</vt:lpstr>
      </vt:variant>
      <vt:variant>
        <vt:i4>3</vt:i4>
      </vt:variant>
      <vt:variant>
        <vt:lpstr>幻灯片标题</vt:lpstr>
      </vt:variant>
      <vt:variant>
        <vt:i4>85</vt:i4>
      </vt:variant>
    </vt:vector>
  </HeadingPairs>
  <TitlesOfParts>
    <vt:vector size="113" baseType="lpstr">
      <vt:lpstr>Arial</vt:lpstr>
      <vt:lpstr>宋体</vt:lpstr>
      <vt:lpstr>Wingdings</vt:lpstr>
      <vt:lpstr>华文行楷</vt:lpstr>
      <vt:lpstr>黑体</vt:lpstr>
      <vt:lpstr>华文中宋</vt:lpstr>
      <vt:lpstr>Times New Roman</vt:lpstr>
      <vt:lpstr>微软雅黑</vt:lpstr>
      <vt:lpstr>Wingdings</vt:lpstr>
      <vt:lpstr>Arial Unicode MS</vt:lpstr>
      <vt:lpstr>楷体_GB2312</vt:lpstr>
      <vt:lpstr>新宋体</vt:lpstr>
      <vt:lpstr>楷体_GB2312</vt:lpstr>
      <vt:lpstr>Tahoma</vt:lpstr>
      <vt:lpstr>Symbol</vt:lpstr>
      <vt:lpstr>主题1</vt:lpstr>
      <vt:lpstr>1_24美金的ppt模板</vt:lpstr>
      <vt:lpstr>24美金的ppt模板_3</vt:lpstr>
      <vt:lpstr>24美金的ppt模板_4</vt:lpstr>
      <vt:lpstr>24美金的ppt模板_5</vt:lpstr>
      <vt:lpstr>1_主题1</vt:lpstr>
      <vt:lpstr>2_24美金的ppt模板</vt:lpstr>
      <vt:lpstr>1_24美金的ppt模板_3</vt:lpstr>
      <vt:lpstr>1_24美金的ppt模板_4</vt:lpstr>
      <vt:lpstr>1_24美金的ppt模板_5</vt:lpstr>
      <vt:lpstr>Visio.Drawing.6</vt:lpstr>
      <vt:lpstr>Word.Document.8</vt:lpstr>
      <vt:lpstr>Visio.Drawing.11</vt:lpstr>
      <vt:lpstr> 中国计算机学会 “21世纪大学本科计算机专业系列教材”  计算机组成原理</vt:lpstr>
      <vt:lpstr>第2章 数据的机器层次表示</vt:lpstr>
      <vt:lpstr>PowerPoint 演示文稿</vt:lpstr>
      <vt:lpstr>本章学习内容</vt:lpstr>
      <vt:lpstr>计算机中的数值数据</vt:lpstr>
      <vt:lpstr>PowerPoint 演示文稿</vt:lpstr>
      <vt:lpstr>2.1  数值数据的表示</vt:lpstr>
      <vt:lpstr>无符号数和带符号数 </vt:lpstr>
      <vt:lpstr>无符号数和带符号数（续）</vt:lpstr>
      <vt:lpstr>无符号数和带符号数（续）</vt:lpstr>
      <vt:lpstr>原码表示法</vt:lpstr>
      <vt:lpstr>原码表示法（续）</vt:lpstr>
      <vt:lpstr>补码表示法</vt:lpstr>
      <vt:lpstr>时钟正拨和倒拨</vt:lpstr>
      <vt:lpstr>PowerPoint 演示文稿</vt:lpstr>
      <vt:lpstr>补码表示</vt:lpstr>
      <vt:lpstr>补码表示（续）</vt:lpstr>
      <vt:lpstr>原码转换为补码</vt:lpstr>
      <vt:lpstr>反码表示法</vt:lpstr>
      <vt:lpstr>反码表示法</vt:lpstr>
      <vt:lpstr>反码表示法（续）</vt:lpstr>
      <vt:lpstr>三种码制的比较与转换</vt:lpstr>
      <vt:lpstr>2.转换</vt:lpstr>
      <vt:lpstr>PowerPoint 演示文稿</vt:lpstr>
      <vt:lpstr>移码表示法</vt:lpstr>
      <vt:lpstr>移码表示法</vt:lpstr>
      <vt:lpstr>移码和补码的关系</vt:lpstr>
      <vt:lpstr>移码、补码和真值之间的关系</vt:lpstr>
      <vt:lpstr>移码的特点</vt:lpstr>
      <vt:lpstr>小结</vt:lpstr>
      <vt:lpstr>原码、反码、补码表示范围</vt:lpstr>
      <vt:lpstr>定点整数各种编码表示的范围</vt:lpstr>
      <vt:lpstr>2.2  机器数的定点表示与浮点表示</vt:lpstr>
      <vt:lpstr>常用的数据表示格式</vt:lpstr>
      <vt:lpstr>定点数的表示方法 </vt:lpstr>
      <vt:lpstr>C语言中的整数类型 </vt:lpstr>
      <vt:lpstr>浮点数的表示方法</vt:lpstr>
      <vt:lpstr>机器浮点数</vt:lpstr>
      <vt:lpstr>浮点数的标准格式</vt:lpstr>
      <vt:lpstr>浮点数的规格化表示</vt:lpstr>
      <vt:lpstr>隐藏位技术</vt:lpstr>
      <vt:lpstr>规格化浮点数的真值</vt:lpstr>
      <vt:lpstr>例1</vt:lpstr>
      <vt:lpstr>例2</vt:lpstr>
      <vt:lpstr>练习</vt:lpstr>
      <vt:lpstr>C语言中的浮点类型</vt:lpstr>
      <vt:lpstr>定点、浮点表示法和定点、浮点计算机</vt:lpstr>
      <vt:lpstr>定点机与浮点机</vt:lpstr>
      <vt:lpstr>2.3  非数值数据的表示</vt:lpstr>
      <vt:lpstr>字符与字符串的表示方法</vt:lpstr>
      <vt:lpstr>字符串的存放</vt:lpstr>
      <vt:lpstr>汉字的表示</vt:lpstr>
      <vt:lpstr>汉字的表示</vt:lpstr>
      <vt:lpstr>汉字区位码</vt:lpstr>
      <vt:lpstr>汉字机内码 </vt:lpstr>
      <vt:lpstr>汉字字形码 </vt:lpstr>
      <vt:lpstr>统一代码</vt:lpstr>
      <vt:lpstr>微机中表示字符的3种方法</vt:lpstr>
      <vt:lpstr>2.4  十进制数和数串的表示</vt:lpstr>
      <vt:lpstr>十进制数的编码</vt:lpstr>
      <vt:lpstr>8421码</vt:lpstr>
      <vt:lpstr>2421码</vt:lpstr>
      <vt:lpstr>余3码</vt:lpstr>
      <vt:lpstr>格雷码</vt:lpstr>
      <vt:lpstr>十进制数串</vt:lpstr>
      <vt:lpstr>十进制数串</vt:lpstr>
      <vt:lpstr>2.5  不同类型的数据表示举例 </vt:lpstr>
      <vt:lpstr>C语言中的数据表示 </vt:lpstr>
      <vt:lpstr>现代微机系统中的数据表示举例 </vt:lpstr>
      <vt:lpstr>2.6  数据校验码 </vt:lpstr>
      <vt:lpstr>奇偶校验</vt:lpstr>
      <vt:lpstr>奇偶校验</vt:lpstr>
      <vt:lpstr>例</vt:lpstr>
      <vt:lpstr>校验方法</vt:lpstr>
      <vt:lpstr>海明校验码 </vt:lpstr>
      <vt:lpstr>海明校验码 </vt:lpstr>
      <vt:lpstr>海明校验码 </vt:lpstr>
      <vt:lpstr>海明校验码 </vt:lpstr>
      <vt:lpstr>海明校验码 </vt:lpstr>
      <vt:lpstr>海明校验码 </vt:lpstr>
      <vt:lpstr>海明校验码 </vt:lpstr>
      <vt:lpstr>海明校验码 </vt:lpstr>
      <vt:lpstr>循环冗余校验码*</vt:lpstr>
      <vt:lpstr>总结和讨论</vt:lpstr>
      <vt:lpstr>问题</vt:lpstr>
    </vt:vector>
  </TitlesOfParts>
  <Company>北京理工大学计算机系</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数据的机器层次表示</dc:title>
  <dc:creator>蒋本珊</dc:creator>
  <cp:lastModifiedBy>red</cp:lastModifiedBy>
  <cp:revision>234</cp:revision>
  <cp:lastPrinted>2016-03-20T11:23:00Z</cp:lastPrinted>
  <dcterms:created xsi:type="dcterms:W3CDTF">2003-05-27T06:14:00Z</dcterms:created>
  <dcterms:modified xsi:type="dcterms:W3CDTF">2024-03-24T23:30:20Z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2052-12.1.0.16388</vt:lpwstr>
  </property>
  <property fmtid="{D5CDD505-2E9C-101B-9397-08002B2CF9AE}" pid="3" name="ICV">
    <vt:lpwstr>7CAF3CC8B57241AAA7C507F017F88E41</vt:lpwstr>
  </property>
</Properties>
</file>