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7" r:id="rId5"/>
    <p:sldMasterId id="2147483700" r:id="rId6"/>
  </p:sldMasterIdLst>
  <p:notesMasterIdLst>
    <p:notesMasterId r:id="rId8"/>
  </p:notesMasterIdLst>
  <p:handoutMasterIdLst>
    <p:handoutMasterId r:id="rId77"/>
  </p:handoutMasterIdLst>
  <p:sldIdLst>
    <p:sldId id="257" r:id="rId7"/>
    <p:sldId id="258" r:id="rId9"/>
    <p:sldId id="442" r:id="rId10"/>
    <p:sldId id="445" r:id="rId11"/>
    <p:sldId id="446" r:id="rId12"/>
    <p:sldId id="544" r:id="rId13"/>
    <p:sldId id="447" r:id="rId14"/>
    <p:sldId id="545" r:id="rId15"/>
    <p:sldId id="448" r:id="rId16"/>
    <p:sldId id="449" r:id="rId17"/>
    <p:sldId id="450" r:id="rId18"/>
    <p:sldId id="472" r:id="rId19"/>
    <p:sldId id="451" r:id="rId20"/>
    <p:sldId id="452" r:id="rId21"/>
    <p:sldId id="546" r:id="rId22"/>
    <p:sldId id="453" r:id="rId23"/>
    <p:sldId id="454" r:id="rId24"/>
    <p:sldId id="455" r:id="rId25"/>
    <p:sldId id="456" r:id="rId26"/>
    <p:sldId id="457" r:id="rId27"/>
    <p:sldId id="458" r:id="rId28"/>
    <p:sldId id="459" r:id="rId29"/>
    <p:sldId id="462" r:id="rId30"/>
    <p:sldId id="461" r:id="rId31"/>
    <p:sldId id="463" r:id="rId32"/>
    <p:sldId id="464" r:id="rId33"/>
    <p:sldId id="548" r:id="rId34"/>
    <p:sldId id="549" r:id="rId35"/>
    <p:sldId id="550" r:id="rId36"/>
    <p:sldId id="551" r:id="rId37"/>
    <p:sldId id="552" r:id="rId38"/>
    <p:sldId id="556" r:id="rId39"/>
    <p:sldId id="553" r:id="rId40"/>
    <p:sldId id="465" r:id="rId41"/>
    <p:sldId id="466" r:id="rId42"/>
    <p:sldId id="561" r:id="rId43"/>
    <p:sldId id="559" r:id="rId44"/>
    <p:sldId id="643" r:id="rId45"/>
    <p:sldId id="609" r:id="rId46"/>
    <p:sldId id="507" r:id="rId47"/>
    <p:sldId id="502" r:id="rId48"/>
    <p:sldId id="557" r:id="rId49"/>
    <p:sldId id="563" r:id="rId50"/>
    <p:sldId id="644" r:id="rId51"/>
    <p:sldId id="645" r:id="rId52"/>
    <p:sldId id="469" r:id="rId53"/>
    <p:sldId id="583" r:id="rId54"/>
    <p:sldId id="585" r:id="rId55"/>
    <p:sldId id="586" r:id="rId56"/>
    <p:sldId id="587" r:id="rId57"/>
    <p:sldId id="588" r:id="rId58"/>
    <p:sldId id="589" r:id="rId59"/>
    <p:sldId id="590" r:id="rId60"/>
    <p:sldId id="591" r:id="rId61"/>
    <p:sldId id="592" r:id="rId62"/>
    <p:sldId id="593" r:id="rId63"/>
    <p:sldId id="594" r:id="rId64"/>
    <p:sldId id="595" r:id="rId65"/>
    <p:sldId id="596" r:id="rId66"/>
    <p:sldId id="615" r:id="rId67"/>
    <p:sldId id="607" r:id="rId68"/>
    <p:sldId id="608" r:id="rId69"/>
    <p:sldId id="616" r:id="rId70"/>
    <p:sldId id="606" r:id="rId71"/>
    <p:sldId id="618" r:id="rId72"/>
    <p:sldId id="619" r:id="rId73"/>
    <p:sldId id="620" r:id="rId74"/>
    <p:sldId id="604" r:id="rId75"/>
    <p:sldId id="605" r:id="rId76"/>
  </p:sldIdLst>
  <p:sldSz cx="9144000" cy="6858000" type="screen4x3"/>
  <p:notesSz cx="6858000" cy="9144000"/>
  <p:custDataLst>
    <p:tags r:id="rId8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accent2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1" orient="horz" pos="2196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ger" initials="t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9900FF"/>
    <a:srgbClr val="DDDDDD"/>
    <a:srgbClr val="663300"/>
    <a:srgbClr val="000066"/>
    <a:srgbClr val="CC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32"/>
    <p:restoredTop sz="87523"/>
  </p:normalViewPr>
  <p:slideViewPr>
    <p:cSldViewPr showGuides="1">
      <p:cViewPr varScale="1">
        <p:scale>
          <a:sx n="59" d="100"/>
          <a:sy n="59" d="100"/>
        </p:scale>
        <p:origin x="1260" y="78"/>
      </p:cViewPr>
      <p:guideLst>
        <p:guide orient="horz" pos="2160"/>
        <p:guide pos="2880"/>
        <p:guide orient="horz" pos="2196"/>
        <p:guide pos="29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2" Type="http://schemas.openxmlformats.org/officeDocument/2006/relationships/tags" Target="tags/tag14.xml"/><Relationship Id="rId81" Type="http://schemas.openxmlformats.org/officeDocument/2006/relationships/commentAuthors" Target="commentAuthors.xml"/><Relationship Id="rId80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slide" Target="slides/slide69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7" Type="http://schemas.openxmlformats.org/officeDocument/2006/relationships/slide" Target="slides/slide1.xml"/><Relationship Id="rId69" Type="http://schemas.openxmlformats.org/officeDocument/2006/relationships/slide" Target="slides/slide62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0" Type="http://schemas.openxmlformats.org/officeDocument/2006/relationships/slide" Target="slides/slide5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2.xml"/><Relationship Id="rId58" Type="http://schemas.openxmlformats.org/officeDocument/2006/relationships/slide" Target="slides/slide51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0" Type="http://schemas.openxmlformats.org/officeDocument/2006/relationships/slide" Target="slides/slide3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06A0E-D15D-4069-826F-9468B0ACEDB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6BD92D-E742-48F3-A65C-3E6F0CAA2775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3316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 lim="800000"/>
          </a:ln>
        </p:spPr>
        <p:txBody>
          <a:bodyPr wrap="square" lIns="91440" tIns="45720" rIns="91440" bIns="45720" anchor="t"/>
          <a:p>
            <a:pPr lvl="0" eaLnBrk="1" hangingPunct="1"/>
            <a:r>
              <a:rPr lang="zh-CN" altLang="en-US" dirty="0"/>
              <a:t>欢迎辞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单总线，连接所有</a:t>
            </a:r>
            <a:r>
              <a:rPr lang="zh-CN" altLang="en-US"/>
              <a:t>单元；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48879" y="447468"/>
            <a:ext cx="804624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Lucida Sans" panose="020B0602040502020204" charset="0"/>
                <a:ea typeface="微软雅黑" panose="020B0503020204020204" charset="-122"/>
              </a:defRPr>
            </a:lvl1pPr>
          </a:lstStyle>
          <a:p>
            <a:pPr marL="0" lvl="0" indent="0" defTabSz="1188085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  <a:endParaRPr lang="zh-CN" altLang="en-US" dirty="0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548879" y="1047750"/>
            <a:ext cx="804624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Lucida Sans" panose="020B0602040502020204" charset="0"/>
                <a:ea typeface="微软雅黑" panose="020B0503020204020204" charset="-122"/>
                <a:cs typeface="Lucida Sans" panose="020B060204050202020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19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>
            <a:lvl1pPr>
              <a:defRPr>
                <a:ea typeface="华文中宋" panose="0201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ea typeface="华文中宋" panose="02010600040101010101" charset="-122"/>
              </a:defRPr>
            </a:lvl1pPr>
            <a:lvl2pPr>
              <a:lnSpc>
                <a:spcPct val="90000"/>
              </a:lnSpc>
              <a:defRPr>
                <a:ea typeface="华文中宋" panose="02010600040101010101" charset="-122"/>
              </a:defRPr>
            </a:lvl2pPr>
            <a:lvl3pPr>
              <a:lnSpc>
                <a:spcPct val="90000"/>
              </a:lnSpc>
              <a:defRPr>
                <a:ea typeface="华文中宋" panose="02010600040101010101" charset="-122"/>
              </a:defRPr>
            </a:lvl3pPr>
            <a:lvl4pPr>
              <a:lnSpc>
                <a:spcPct val="90000"/>
              </a:lnSpc>
              <a:defRPr>
                <a:ea typeface="华文中宋" panose="02010600040101010101" charset="-122"/>
              </a:defRPr>
            </a:lvl4pPr>
            <a:lvl5pPr>
              <a:lnSpc>
                <a:spcPct val="90000"/>
              </a:lnSpc>
              <a:defRPr>
                <a:ea typeface="华文中宋" panose="02010600040101010101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4" Type="http://schemas.openxmlformats.org/officeDocument/2006/relationships/theme" Target="../theme/theme5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3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1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96200" cy="563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B8A35F-F30B-467F-B5EB-D5C27F40C051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2" name="Line 87"/>
          <p:cNvSpPr/>
          <p:nvPr/>
        </p:nvSpPr>
        <p:spPr>
          <a:xfrm>
            <a:off x="225425" y="1054100"/>
            <a:ext cx="7461250" cy="0"/>
          </a:xfrm>
          <a:prstGeom prst="line">
            <a:avLst/>
          </a:prstGeom>
          <a:ln w="38100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7.png"/><Relationship Id="rId1" Type="http://schemas.openxmlformats.org/officeDocument/2006/relationships/tags" Target="../tags/tag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tags" Target="../tags/tag3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0.png"/><Relationship Id="rId1" Type="http://schemas.openxmlformats.org/officeDocument/2006/relationships/tags" Target="../tags/tag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tags" Target="../tags/tag7.xml"/><Relationship Id="rId4" Type="http://schemas.openxmlformats.org/officeDocument/2006/relationships/image" Target="../media/image32.jpeg"/><Relationship Id="rId3" Type="http://schemas.openxmlformats.org/officeDocument/2006/relationships/tags" Target="../tags/tag6.xml"/><Relationship Id="rId2" Type="http://schemas.openxmlformats.org/officeDocument/2006/relationships/image" Target="../media/image31.png"/><Relationship Id="rId1" Type="http://schemas.openxmlformats.org/officeDocument/2006/relationships/tags" Target="../tags/tag5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4.png"/><Relationship Id="rId1" Type="http://schemas.openxmlformats.org/officeDocument/2006/relationships/tags" Target="../tags/tag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tags" Target="../tags/tag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9.emf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3.png"/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39750" y="1917065"/>
            <a:ext cx="8336280" cy="2707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中国计算机学会</a:t>
            </a:r>
            <a:br>
              <a:rPr lang="zh-CN" altLang="en-US" sz="36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</a:br>
            <a:r>
              <a:rPr lang="zh-CN" altLang="en-US" sz="36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“21世纪大学本科计算机专业系列教材”</a:t>
            </a:r>
            <a:br>
              <a:rPr lang="zh-CN" altLang="en-US" sz="32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</a:br>
            <a:br>
              <a:rPr lang="zh-CN" altLang="en-US" sz="3200" b="1" kern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</a:br>
            <a:r>
              <a:rPr lang="zh-CN" altLang="en-US" sz="6600" b="1" kern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计算机组成原理</a:t>
            </a:r>
            <a:endParaRPr lang="zh-CN" altLang="en-US" sz="6600" b="1" kern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5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600200"/>
            <a:ext cx="7772400" cy="30480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j-cs"/>
              </a:rPr>
              <a:t>第</a:t>
            </a:r>
            <a:r>
              <a:rPr kumimoji="0" lang="en-US" altLang="zh-CN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j-cs"/>
              </a:rPr>
              <a:t>7</a:t>
            </a:r>
            <a:r>
              <a:rPr kumimoji="0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j-cs"/>
              </a:rPr>
              <a:t>章</a:t>
            </a:r>
            <a:br>
              <a:rPr kumimoji="0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j-cs"/>
              </a:rPr>
            </a:br>
            <a:r>
              <a:rPr kumimoji="0" lang="zh-CN" altLang="en-US" sz="8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ea"/>
                <a:ea typeface="+mn-ea"/>
                <a:cs typeface="+mj-cs"/>
              </a:rPr>
              <a:t>  总线</a:t>
            </a:r>
            <a:endParaRPr kumimoji="0" lang="zh-CN" altLang="en-US" sz="8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14339" name="灯片编号占位符 5"/>
          <p:cNvSpPr txBox="1">
            <a:spLocks noGrp="1"/>
          </p:cNvSpPr>
          <p:nvPr>
            <p:ph type="sldNum" sz="quarter"/>
          </p:nvPr>
        </p:nvSpPr>
        <p:spPr>
          <a:xfrm>
            <a:off x="7239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i="0" u="none" kern="1200" baseline="0">
                <a:solidFill>
                  <a:schemeClr val="accent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本章学习内容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>
              <a:spcBef>
                <a:spcPts val="24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总线概述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总线仲裁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总线定时控制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7.4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总线标准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</a:pP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总线概述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450850" y="1394460"/>
            <a:ext cx="8229600" cy="4555490"/>
          </a:xfrm>
          <a:noFill/>
          <a:ln>
            <a:noFill/>
          </a:ln>
        </p:spPr>
        <p:txBody>
          <a:bodyPr/>
          <a:p>
            <a:pPr algn="just"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多个部件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分时共享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的公共信息传送线路：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共享：多个部件之间信息交换通过这组公共线路传送；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分时：同一时刻总线上只能传送一个部件发送的信息。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2400"/>
              </a:spcBef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当总线空闲时：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发起通信的部件驱动总线，发出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地址和数据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收到与自己相符的地址信息的部件接收总线上的数据；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发送部件完成通信后，将总线让出；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总线：单向、双向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总线的基本概念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485013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总线事务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在总线上一对设备之间的一次信息交换过程；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主设备和从设备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主设备：发出总线事务请求的部件；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从设备：与主设备进行信息交换的对象；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读取存储器数据，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主、存储器从；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总线事务的类型和阶段：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存储器读、存储器写、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写、中断响应等；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两个阶段：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地址阶段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数据阶段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1" hangingPunct="1">
              <a:spcBef>
                <a:spcPts val="1800"/>
              </a:spcBef>
              <a:buSzTx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突发传送事务：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一个地址段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多个数据段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总线事务的</a:t>
            </a:r>
            <a:r>
              <a:rPr lang="zh-CN" altLang="en-US"/>
              <a:t>阶段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0170"/>
            <a:ext cx="8229600" cy="4766310"/>
          </a:xfrm>
        </p:spPr>
        <p:txBody>
          <a:bodyPr/>
          <a:p>
            <a:r>
              <a:rPr lang="zh-CN" altLang="en-US" sz="2400"/>
              <a:t>完成一次总线传输可分为3个阶段</a:t>
            </a:r>
            <a:endParaRPr lang="zh-CN" altLang="en-US" sz="2400"/>
          </a:p>
          <a:p>
            <a:pPr lvl="1" latinLnBrk="0">
              <a:spcBef>
                <a:spcPts val="1200"/>
              </a:spcBef>
            </a:pPr>
            <a:r>
              <a:rPr lang="zh-CN" altLang="en-US" sz="2400"/>
              <a:t>申请阶段：</a:t>
            </a:r>
            <a:r>
              <a:rPr lang="zh-CN" altLang="en-US" sz="2000"/>
              <a:t>仲裁算法（集中式、分布式）</a:t>
            </a:r>
            <a:endParaRPr lang="zh-CN" altLang="en-US" sz="2400"/>
          </a:p>
          <a:p>
            <a:pPr lvl="2"/>
            <a:r>
              <a:rPr lang="zh-CN" altLang="en-US" sz="2055"/>
              <a:t>主设备提出申请，经总线仲裁机构决定将下一传输周期的总线使用权授于某一申请者。</a:t>
            </a:r>
            <a:endParaRPr lang="zh-CN" altLang="en-US" sz="2055"/>
          </a:p>
          <a:p>
            <a:pPr lvl="2"/>
            <a:r>
              <a:rPr lang="zh-CN" altLang="en-US" sz="2055"/>
              <a:t>链式查询、计数器定时查询、独立请求</a:t>
            </a:r>
            <a:endParaRPr lang="zh-CN" altLang="en-US" sz="2055"/>
          </a:p>
          <a:p>
            <a:pPr lvl="1" algn="l" latinLnBrk="0">
              <a:spcBef>
                <a:spcPts val="1200"/>
              </a:spcBef>
              <a:buSzTx/>
            </a:pPr>
            <a:r>
              <a:rPr lang="zh-CN" altLang="en-US" sz="2400">
                <a:cs typeface="+mn-ea"/>
              </a:rPr>
              <a:t>数据传输：</a:t>
            </a:r>
            <a:r>
              <a:rPr lang="zh-CN" altLang="en-US" sz="2000">
                <a:cs typeface="+mn-ea"/>
              </a:rPr>
              <a:t>同步</a:t>
            </a:r>
            <a:r>
              <a:rPr lang="en-US" altLang="zh-CN" sz="2000">
                <a:cs typeface="+mn-ea"/>
              </a:rPr>
              <a:t>/</a:t>
            </a:r>
            <a:r>
              <a:rPr lang="zh-CN" altLang="en-US" sz="2000">
                <a:cs typeface="+mn-ea"/>
              </a:rPr>
              <a:t>异步控制，传输模式（串/并、单字/突发）</a:t>
            </a:r>
            <a:endParaRPr lang="zh-CN" altLang="en-US" sz="2400">
              <a:cs typeface="+mn-ea"/>
            </a:endParaRPr>
          </a:p>
          <a:p>
            <a:pPr lvl="2" algn="l">
              <a:buSzTx/>
            </a:pPr>
            <a:r>
              <a:rPr lang="zh-CN" altLang="en-US" sz="2055">
                <a:cs typeface="+mn-ea"/>
              </a:rPr>
              <a:t>寻址阶段：</a:t>
            </a:r>
            <a:endParaRPr lang="zh-CN" altLang="en-US" sz="2055">
              <a:cs typeface="+mn-ea"/>
            </a:endParaRPr>
          </a:p>
          <a:p>
            <a:pPr lvl="3" algn="l">
              <a:buSzTx/>
            </a:pPr>
            <a:r>
              <a:rPr lang="zh-CN" altLang="en-US" sz="1425">
                <a:cs typeface="+mn-ea"/>
              </a:rPr>
              <a:t>取得了使用权的主设备，通过总线发出本次打算访</a:t>
            </a:r>
            <a:r>
              <a:rPr lang="zh-CN" altLang="en-US" sz="1425"/>
              <a:t>问的从设备的存储地址或设备地址及有关命令，启动从设备</a:t>
            </a:r>
            <a:r>
              <a:rPr lang="zh-CN" altLang="en-US" sz="1710"/>
              <a:t>。</a:t>
            </a:r>
            <a:endParaRPr lang="zh-CN" altLang="en-US" sz="1710"/>
          </a:p>
          <a:p>
            <a:pPr lvl="2" algn="l">
              <a:buSzTx/>
            </a:pPr>
            <a:r>
              <a:rPr lang="zh-CN" altLang="en-US" sz="2055">
                <a:cs typeface="+mn-ea"/>
              </a:rPr>
              <a:t>传数阶段：</a:t>
            </a:r>
            <a:r>
              <a:rPr lang="zh-CN" altLang="en-US" sz="1710">
                <a:cs typeface="+mn-ea"/>
              </a:rPr>
              <a:t>主设备和从设备进行数据交换。</a:t>
            </a:r>
            <a:endParaRPr lang="zh-CN" altLang="en-US" sz="2055">
              <a:cs typeface="+mn-ea"/>
            </a:endParaRPr>
          </a:p>
          <a:p>
            <a:pPr lvl="1" algn="l" latinLnBrk="0">
              <a:spcBef>
                <a:spcPts val="1200"/>
              </a:spcBef>
              <a:buSzTx/>
            </a:pPr>
            <a:r>
              <a:rPr lang="zh-CN" altLang="en-US" sz="2400">
                <a:cs typeface="+mn-ea"/>
              </a:rPr>
              <a:t>结束阶段：</a:t>
            </a:r>
            <a:r>
              <a:rPr lang="zh-CN" altLang="en-US" sz="2000">
                <a:cs typeface="+mn-ea"/>
              </a:rPr>
              <a:t>从总线上撤除有关信息，让出使用权。</a:t>
            </a:r>
            <a:endParaRPr lang="zh-CN" altLang="en-US" sz="2000"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总线的基本概念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395605" y="1268730"/>
            <a:ext cx="8229600" cy="512572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总线使用权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总线控制机构：对总线的使用进行分配和管理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主设备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发出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总线请求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获得总线使用权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主设备开始向从设备进行一次信息传送；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主设备控制和支配总线，向从设备发出命令；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主设备指定数据传送方式与数据传送地址信息。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只有获得总线使用权的设备才是主设备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是典型的主设备；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主存总是从设备，不主动提出交换信息的要求。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 eaLnBrk="1" hangingPunct="1">
              <a:spcBef>
                <a:spcPts val="1800"/>
              </a:spcBef>
              <a:buSzTx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总线周期：完成一次总线操作的时间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5" name="内容占位符 2"/>
          <p:cNvSpPr>
            <a:spLocks noGrp="1"/>
          </p:cNvSpPr>
          <p:nvPr/>
        </p:nvSpPr>
        <p:spPr>
          <a:xfrm>
            <a:off x="395605" y="1268730"/>
            <a:ext cx="8397875" cy="512572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完成一次总线操作的时间：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（1）T1状态 ——输出存储器地址或I/O地址。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（2）T2状态 ——输出控制信号。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（3）T3和Tw状态 ——总线操作持续，并检测READY以决定是否 延长时序。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（4）T4状态 ——完成数据传送。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如：（同步</a:t>
            </a:r>
            <a:r>
              <a:rPr 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读命令传输周期为：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T1：主模块发地址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T2：主模块发读命令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T3：从模块提供数据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T4：主模块撤销读命令</a:t>
            </a:r>
            <a:endParaRPr lang="en-US" altLang="zh-CN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sz="2000" b="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总线</a:t>
            </a:r>
            <a:r>
              <a:rPr lang="zh-CN" altLang="en-US"/>
              <a:t>周期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42585" y="3573145"/>
            <a:ext cx="3130550" cy="2620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总线的分类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467995" y="1440180"/>
            <a:ext cx="3709670" cy="357314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按功能层次分类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片内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8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芯片内部的总线。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各功能部件（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、主存、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接口）之间的总线。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79925" y="1556385"/>
            <a:ext cx="3886200" cy="24961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6880" y="4869180"/>
            <a:ext cx="3846830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 algn="l" eaLnBrk="1" hangingPunct="1">
              <a:spcBef>
                <a:spcPts val="18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400" b="0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通信</a:t>
            </a:r>
            <a:r>
              <a:rPr lang="zh-CN" altLang="en-US" sz="24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总线：</a:t>
            </a:r>
            <a:endParaRPr lang="zh-CN" altLang="en-US" sz="2400" b="0" kern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143000" lvl="2" indent="-228600" algn="l" eaLnBrk="1" hangingPunct="1">
              <a:spcBef>
                <a:spcPts val="1200"/>
              </a:spcBef>
              <a:buClr>
                <a:schemeClr val="tx1"/>
              </a:buClr>
              <a:buSzTx/>
              <a:buFontTx/>
              <a:buChar char="•"/>
            </a:pPr>
            <a:r>
              <a:rPr lang="zh-CN" altLang="en-US" sz="20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计算机系统之间或计算机系统与其他系统的总线。</a:t>
            </a:r>
            <a:endParaRPr lang="zh-CN" altLang="en-US" sz="2000" b="0" kern="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925" y="4170680"/>
            <a:ext cx="3886200" cy="20916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总线的分类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57200" y="1253490"/>
            <a:ext cx="5251450" cy="520001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按数据线的多少分类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多条双向数据线，实现一个数据的多位同时传输。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数据传输率高；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长距离时可能因为延迟不一致造成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传输错误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串行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总线：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一条双向数据线或两条单向数据线；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一个数据的各位按照一定的速度和顺序依次传输；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长距离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连线情况下仍可以有效地传送数据。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280" y="2420620"/>
            <a:ext cx="2743200" cy="1295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35" y="4437380"/>
            <a:ext cx="28829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7.1.3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总线的组成及性能指标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74663" y="1196975"/>
            <a:ext cx="8229600" cy="23177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．总线结构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单总线结构：只有一条系统总线。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双总线结构：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和主存专用数据传送通路。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三总线结构：增加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80" y="3429000"/>
            <a:ext cx="4163060" cy="23196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290" y="3717290"/>
            <a:ext cx="3845560" cy="18345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．总线特性</a:t>
            </a:r>
            <a:endParaRPr lang="en-US" altLang="zh-CN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91088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物理特性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总线的线数、插头、插座的形状、尺寸和信号线的排列；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功能特性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每根线的功能：如地址总线、数据总线、控制总线、</a:t>
            </a:r>
            <a:r>
              <a: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中断等；</a:t>
            </a:r>
            <a:endParaRPr kumimoji="0" 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电气特性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Tx/>
              <a:buFont typeface="Wingdings" panose="05000000000000000000" pitchFamily="2" charset="2"/>
              <a:buChar char="§"/>
              <a:defRPr/>
            </a:pPr>
            <a:r>
              <a:rPr lang="zh-CN" sz="2000" b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每根线上传递信号的方向及有效电平范围；</a:t>
            </a:r>
            <a:endParaRPr lang="zh-CN" sz="2000" b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buSzTx/>
              <a:buFont typeface="Wingdings" panose="05000000000000000000" pitchFamily="2" charset="2"/>
              <a:buChar char="v"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时间特性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Tx/>
              <a:buFont typeface="Wingdings" panose="05000000000000000000" pitchFamily="2" charset="2"/>
              <a:buChar char="§"/>
              <a:defRPr/>
            </a:pPr>
            <a:r>
              <a:rPr lang="zh-CN" sz="2000" b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每根线什么时间有效及不同信号之间配合的时间关系；</a:t>
            </a:r>
            <a:endParaRPr lang="zh-CN" sz="2000" b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R="0" lvl="1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规定总线各信号的有效时序关系</a:t>
            </a:r>
            <a:endParaRPr kumimoji="0" 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1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buSzTx/>
              <a:buFont typeface="Wingdings" panose="05000000000000000000" pitchFamily="2" charset="2"/>
              <a:buChar char="§"/>
              <a:defRPr/>
            </a:pPr>
            <a:endParaRPr kumimoji="0" lang="zh-CN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．总线的性能指标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91088"/>
          </a:xfr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总线宽度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总线的线数总和：决定了总线占用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的物理空间和成本；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地址线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数据线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数量对系统性能的影响；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总线带宽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总线的最大数据传输率，即每秒传输的字节数：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B=W×F/N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：数据总线宽度，通常以字节为单位；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：总线的时钟频率；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：完成一次数据传送所用的时钟周期数。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．总线的性能指标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57200" y="1452563"/>
            <a:ext cx="8229600" cy="485616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总线负载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连接在总线上的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最大设备数量；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大多数总线的负载能力是有限的；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总线复用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利用总线上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同一个信号线分时传送</a:t>
            </a:r>
            <a:r>
              <a:rPr lang="zh-CN" altLang="en-US" sz="2000" dirty="0">
                <a:latin typeface="Times New Roman" panose="02020603050405020304" pitchFamily="18" charset="0"/>
              </a:rPr>
              <a:t>不同信号；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减少总线数量，提高总线的利用率。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总线猝发传输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一个总线周期中传输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存储地址连续的多个数据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总线带宽（</a:t>
            </a:r>
            <a:r>
              <a:rPr lang="zh-CN" altLang="en-US"/>
              <a:t>例）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70965"/>
            <a:ext cx="8229600" cy="4755515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（1）某总线在一个总线周期中并行传送4个字节数据，假设一个总线周期等于一个总线时钟周期，总线时钟频率为33MHz，总线带宽多少？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（2）如果一个总线周期中并行传送64位数据，总线时钟频率升为66MHz，总线带宽多少？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（1）设总线带宽用Dr表示，总线时钟周期为T = 1/f，一个总线周期传送的数据量用D表示，则有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55">
                <a:latin typeface="Times New Roman" panose="02020603050405020304" pitchFamily="18" charset="0"/>
                <a:cs typeface="Times New Roman" panose="02020603050405020304" pitchFamily="18" charset="0"/>
              </a:rPr>
              <a:t>Dr = D/T = D×f = 4B×33MHz = 132MB/s</a:t>
            </a:r>
            <a:endParaRPr lang="zh-CN" altLang="en-US" sz="205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（2）D = 64b = 8B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55">
                <a:latin typeface="Times New Roman" panose="02020603050405020304" pitchFamily="18" charset="0"/>
                <a:cs typeface="Times New Roman" panose="02020603050405020304" pitchFamily="18" charset="0"/>
              </a:rPr>
              <a:t>Dr = D/T = D×f = 8B×66MHz = 528MB/s</a:t>
            </a:r>
            <a:endParaRPr lang="zh-CN" altLang="en-US" sz="205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总线仲裁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457200" y="1700213"/>
            <a:ext cx="8229600" cy="452596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总线控制机构设置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总线判优和仲裁控制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逻辑：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保证同一时刻只有一个申请者使用总线；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按照一定的优先次序决定哪个部件使用总线；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只有获得总线使用权的部件才能进行数据传送。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仲裁控制机构的设置方式：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集中式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分布式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集中仲裁方式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457200" y="1379538"/>
            <a:ext cx="8229600" cy="1938337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链式查询方式：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使用三根控制线与所有部件和设备相连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总线请求（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）、总线忙（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）、总线批准（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130300" y="5876925"/>
            <a:ext cx="6883400" cy="44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7-4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链式查询方式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2853055"/>
            <a:ext cx="5404485" cy="2914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链式查询方式（续）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477838" y="1438275"/>
            <a:ext cx="8229600" cy="47799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很少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的控制线实现优先级控制；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容易扩充；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查询链故障敏感：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个部件的链电路故障影响其以后的所有部件；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查询的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优先级固定：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高优先级部件频繁请求使低优先级部件难以被响应。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计数器定时查询方式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457200" y="1268730"/>
            <a:ext cx="8229600" cy="2663825"/>
          </a:xfrm>
          <a:noFill/>
          <a:ln>
            <a:noFill/>
          </a:ln>
        </p:spPr>
        <p:txBody>
          <a:bodyPr/>
          <a:p>
            <a:pPr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每个部件通过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公共的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发出请求；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的情况下，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计数器开始计数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，定时查询；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计数值与发出请求的部件号一致时，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线置“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获得总线使用权，中止计数查询；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开始数据传送，完成时撤消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信号。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63713" y="5877560"/>
            <a:ext cx="5330825" cy="7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7-5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计数器定时查询方式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30" y="3284855"/>
            <a:ext cx="449580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计数器定时查询方式（续）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计数初始值的设置：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0”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优先次序和链式查询方式相同，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优先级次序固定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从中止点开始：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循环优先级，各个部件使用总线的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级别相等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由程序设置：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方便地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改变优先次序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，增加系统的灵活性。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独立请求方式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457200" y="1160780"/>
            <a:ext cx="8229600" cy="257556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每一个共享总线的部件均有一对控制线：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总线请求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、总线批准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总线控制器中有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排队电路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根据一定的优先次序决定响应哪个部件的请求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然后给该部件送回批准信号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BGi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           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35825" y="3551238"/>
            <a:ext cx="1046163" cy="2822575"/>
          </a:xfrm>
          <a:prstGeom prst="rect">
            <a:avLst/>
          </a:prstGeom>
          <a:noFill/>
        </p:spPr>
        <p:txBody>
          <a:bodyPr vert="eaVert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zh-CN" sz="2400" kern="0" cap="none" spc="0" normalizeH="0" baseline="0" noProof="0" dirty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</a:t>
            </a:r>
            <a:r>
              <a:rPr kumimoji="0" lang="en-US" altLang="zh-CN" sz="2400" kern="0" cap="none" spc="0" normalizeH="0" baseline="0" noProof="0" dirty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7-6  </a:t>
            </a:r>
            <a:r>
              <a:rPr kumimoji="0" lang="zh-CN" altLang="en-US" sz="2400" kern="0" cap="none" spc="0" normalizeH="0" baseline="0" noProof="0" dirty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独立请求方式</a:t>
            </a:r>
            <a:endParaRPr kumimoji="0" lang="zh-CN" altLang="zh-CN" sz="2400" kern="0" cap="none" spc="0" normalizeH="0" baseline="0" noProof="0" dirty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buClrTx/>
              <a:buSzTx/>
              <a:buFontTx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540" y="3500755"/>
            <a:ext cx="45212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独立请求方式（续）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响应时间快；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优先次序控制灵活：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可以预先固定，也可以通过程序来改变优先次序。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控制线数和硬件电路复杂。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分布仲裁方式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总线控制逻辑分散在各个部件或设备中。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优先级、冲突检测或公平策略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等方法仲裁；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冲突检测：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侦听；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空闲时使用总线；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冲突时暂停；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延迟一段时间重发。</a:t>
            </a:r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955" y="2997200"/>
            <a:ext cx="4240530" cy="30422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总线定时控制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主机与外设通过总线进行信息交换时，必然存在着时间上的配合和动作的协调问题，否则系统的工作将出现混乱。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总线的定时控制方式：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异步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同步定时方式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57200" y="1340485"/>
            <a:ext cx="8229600" cy="26606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统一的时钟信号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来协调收发双方的定时关系。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一个总线事务：地址阶段 + 数据阶段 + … + 数据阶段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1800"/>
              </a:spcBef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时钟频率必须适应最长的延迟和最慢的接口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效率较低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，时间利用不够合理；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无法确定对方是否真正响应，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可靠性较低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由于时钟偏移问题，同步总线不能很长。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4077335"/>
            <a:ext cx="6348730" cy="21888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7.3.2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异步定时方式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6987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没有公用的时钟和固定的时间间隔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依靠传送双方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“握手”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信号实现定时控制；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latinLnBrk="0" hangingPunct="1">
              <a:spcBef>
                <a:spcPts val="600"/>
              </a:spcBef>
            </a:pPr>
            <a:r>
              <a:rPr lang="en-US" altLang="zh-CN" sz="17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协议通过一对附加的“握手”信号线（Ready、Ack）来实现</a:t>
            </a:r>
            <a:endParaRPr lang="en-US" altLang="zh-CN" sz="17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主设备提出交换信息的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“请求”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从设备接到请求后向主设备发出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“回答”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信号；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从“请求”到“回答”的时间由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实际时间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决定；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保证工作速度相差很大的部件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可靠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信息交换；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控制较复杂，成本较高。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4869180"/>
            <a:ext cx="6323965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异步定时</a:t>
            </a:r>
            <a:r>
              <a:rPr lang="zh-CN" altLang="en-US"/>
              <a:t>例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268730"/>
            <a:ext cx="7429500" cy="49282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例：同步定时和异步定时</a:t>
            </a:r>
            <a:r>
              <a:rPr lang="zh-CN" altLang="en-US"/>
              <a:t>比较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32840"/>
            <a:ext cx="8229600" cy="5290185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假定同步总线的时钟周期为50ns，每次总线传输花1个时钟周期，异步总线每次握手需要40ns，两种总线的数据都是32位宽 ，存储器的取数时间为200ns。要求求出从该存储器中读出一个字时两种总线的带宽。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同步总线的步骤和时间为: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(1)发送地址和读命令到存储器:50ns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(2)存储器读数据:200ns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l">
              <a:buSzTx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(3)传送数据到CPU:50ns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总时间为300ns，最大总线带宽为4B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300ns，即:13.3MB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异步总线的步骤和时间为: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第1步为:40ns;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第2、3、4步为:Max(3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40ns，200ns)=200ns;(第2、3、4步都和存储器访问时间重叠)；第5、6、7步为:3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40ns=120ns。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总时间为360ns，故最大带宽为4B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360ns=11.1MB/S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例：数据块大小和总线</a:t>
            </a:r>
            <a:r>
              <a:rPr lang="zh-CN" altLang="en-US"/>
              <a:t>带宽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79830"/>
            <a:ext cx="8229600" cy="5481320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假定有一个系统具有下列特性: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(1)系统支持4~16个32位字的块访问。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(2)64位同步总线，时钟频率为200MHz，每个64位数据传输需一个时钟周期，地址发送到存储器需1个时钟周期。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(3)在每次总线操作(事务)间有两个空闲时钟周期。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(4)存储器访问时间对于开始的4个字是200ns，随后每4个字是20ns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假定先前读出的数据在总线上传送的同时，随后4个字的存储器读操作也在重叠进行，一个总线事务由一个地址传送后跟一个数据块传送组成。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请求出分别用4-字块和16-字块方式读取256个字时的持续带宽和等待时间。并且求出两种情况下每秒钟内的有效总线事务数。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4-</a:t>
            </a:r>
            <a:r>
              <a:rPr lang="zh-CN" altLang="en-US"/>
              <a:t>字块</a:t>
            </a:r>
            <a:r>
              <a:rPr lang="zh-CN" altLang="en-US"/>
              <a:t>传送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966970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对于4-字块传送方式，一次总线事务由一个地址传送后跟一个4-字块的数据传送组成。也即每个总线事务传送一个4个字的数据块。每个数据块所花时间为: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(1)发送一个地址到主存花1个时钟周期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(2)从主存读4个字花:200ns/(5ns/Cycle)=40个时钟周期(一个周期是10</a:t>
            </a:r>
            <a:r>
              <a:rPr lang="zh-CN" altLang="en-US" sz="20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ns/200MHz=1000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200=5ns)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(3)4个字(128位)的传输需2个时钟周期(一个64位数据传输需1个时钟周期)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(4)在这次传送和下次之间有2个空闲时钟周期。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一次总线事务：总共需45个周期，256个字需256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4=64个事务，所以整个传送需45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64=2880个时钟周期，因而总等待时间为：2880周期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5ns/周期=14400ns。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每秒钟的总线事务数：64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(1s/14400ns)=4.44M个。总线带宽：(256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4B)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14400ns=71.11MB/S。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16-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字块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传送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966970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对于16-字块传送，一次总线事务由一个地址传送后跟一个16-字块的数据传送组成。也即每个总线事务传送一个16个字的数据块。第一个4-字所花时间为: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(1)发送一个地址到主存花1个时钟周期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(2)从主存读开始的4字花:200ns/(5ns/cycle)=40个时钟周期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(3)传4个字需2个时钟周期，在传输期间存储器开始读取下一个4字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(4)在本次和下次之间有2个空闲时钟，此期间下一个4字已读完所以，16字中其余三个4字只要重复上述最后两步。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因此对于16-字块传送，一次总线事务共需花费的周期数为：1+40+4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(2+2)=57个周期，256个字需256/16=16个事务，因此整个传送需57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16=912个时钟周期。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总等待时间为：912周期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5ns/周期=4560ns。每秒钟的总线事务个数为:16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(1s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4560ns)=3.51M个。总线带宽为：(256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4B)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14560ns)=224.56MB/s，比前者高3.6倍。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拆分总线</a:t>
            </a:r>
            <a:r>
              <a:rPr lang="zh-CN" altLang="en-US"/>
              <a:t>事务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7945"/>
            <a:ext cx="8229600" cy="2016125"/>
          </a:xfrm>
        </p:spPr>
        <p:txBody>
          <a:bodyPr/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过程1:主控设备A获得总线使用权后，将请求的事务类型、地址及其他信息(如A的标识等)发到总线，从设备B记下这些信息。A发完信息后便立即释放总线，其他设备便可使用总线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过程2:B收到A发来的信息后，按照A的要求准备数据，准备好后，B便请求使用总线，获使用权后，B将A的编号及所需数据送到总线，A便可接收。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030" y="3425190"/>
            <a:ext cx="5641975" cy="29311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增加同步总线带宽的措施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3015"/>
            <a:ext cx="8229600" cy="5276850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提高时钟频率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 bus width(增加数据线宽度)能同时传送更多位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代价：需要更多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数据线。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Block transfers(允许大数据块传送）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SzTx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突发(Burst)传输方式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只要开始送一次地址，后面连续送数据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代价：(a)增加复杂性；(b)延长响应时间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>
              <a:buSzTx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Split Bus Transaction(拆分总线事务)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一次总线事务时间延长，但整个系统带宽增加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代价：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(a)增加复杂性；(b)延长响应时间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不采用分时复用方式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地址和数据可以同时送出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代价：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需要更多数据线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；(b)增加复杂性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7.4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总线标准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标准制定途径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正式标准：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由国际标准化组织制定并推荐使用；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8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事实标准：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由某个或某几个具有影响力的设备制造商提出；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被业内其他厂家认可并广泛使用；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12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厂商提供给有关组织讨论之后可能成为正式标准。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7.4.1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系统总线标准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479425" y="1417638"/>
            <a:ext cx="8229600" cy="114776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总线标准：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接口引脚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传输速率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驱动能力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信号电平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时序、信息格式等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8888" y="2420938"/>
            <a:ext cx="5400675" cy="35845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1.PC/XT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2.ISA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3.MCA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4.EISA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5.VL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VESA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局部总线）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6.PCI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局部总线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7.AGP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 PCI-Express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7.4.2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外部总线标准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串口和并口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USB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IEEE-1394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eSATA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总线</a:t>
            </a:r>
            <a:r>
              <a:rPr lang="zh-CN" altLang="en-US">
                <a:sym typeface="+mn-ea"/>
              </a:rPr>
              <a:t>互连结构</a:t>
            </a: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155" y="1212850"/>
            <a:ext cx="7157720" cy="37865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32105" y="5157470"/>
            <a:ext cx="8354695" cy="1398270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t"/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北桥</a:t>
            </a:r>
            <a:r>
              <a:rPr lang="zh-CN" alt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主存控制器集线器(Memory Controller Hub,MCH)芯片,本质上是一个DMA(Direct Memory Access)控制器,可通过 MCH 芯片直接访问主存和显卡中的显存。</a:t>
            </a:r>
            <a:endParaRPr lang="en-US" altLang="zh-CN"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南桥</a:t>
            </a:r>
            <a:r>
              <a:rPr lang="zh-CN" alt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I/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O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控制器集线器(I/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O</a:t>
            </a:r>
            <a:r>
              <a:rPr lang="en-US" alt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Controller Hub,ICH)芯片,其中可以集成 USB 控制器、磁盘控制器、以太网控制器等各种外设控制器,也可以通过南桥芯片引出若干主板护展槽,用以接插一些 I/O 控制卡。</a:t>
            </a:r>
            <a:endParaRPr lang="en-US" altLang="zh-CN"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i7系列处理器的计算机互连结构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196975"/>
            <a:ext cx="5669280" cy="304863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2105" y="4450715"/>
            <a:ext cx="8354695" cy="2028190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t"/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Core i7芯片直接与三通道 DDR3 SDRAM 主存储器连接</a:t>
            </a:r>
            <a:r>
              <a:rPr 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: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每个通道的存储器总线带宽为 64b/8</a:t>
            </a:r>
            <a:r>
              <a:rPr 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533MHz</a:t>
            </a:r>
            <a:r>
              <a:rPr 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2=8.5GB/s,因此所配内存条速度为533MHz</a:t>
            </a:r>
            <a:r>
              <a:rPr lang="en-US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*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2=1066MT/S</a:t>
            </a:r>
            <a:endParaRPr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提供一个带宽为 25.6GB/s 的 </a:t>
            </a:r>
            <a:r>
              <a:rPr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QPI 总线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,与基于 X58 芯片组的 IOH 芯片相连。IOH 的重要功能是提供对</a:t>
            </a:r>
            <a:r>
              <a:rPr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 PCI-Express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2.0的支持</a:t>
            </a:r>
            <a:r>
              <a:rPr 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，PCIExpress 总线采用串行传输方式两个 PCI-Express 设备之间以一个链路(link)相连,每个链路可包含多条通路(lane)。</a:t>
            </a:r>
            <a:endParaRPr lang="zh-CN"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IOH 与 ICH 芯片通过 </a:t>
            </a:r>
            <a:r>
              <a:rPr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DMI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(Direct Media Interface)总线连接</a:t>
            </a:r>
            <a:r>
              <a:rPr lang="zh-CN"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采用点对点的连接方式,时钟频率为 100MHz,上行与下行各有 1GB/s 的数据传输率,总带宽 2GB/S</a:t>
            </a:r>
            <a:endParaRPr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Intel Corei7中核间互连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268730"/>
            <a:ext cx="6721475" cy="42913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32105" y="5657215"/>
            <a:ext cx="8354695" cy="821690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 anchor="t"/>
          <a:p>
            <a:pPr marL="342900" lvl="0" indent="-342900" algn="just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sz="16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一个 Core i7处理器中有4个CPU核(core),每两个核之间都用QPI总线互连,并且每个核还有一条 QPI总线可以与 IOH 芯片互连。</a:t>
            </a:r>
            <a:endParaRPr sz="160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总线、接口和协议</a:t>
            </a:r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395605" y="1485265"/>
            <a:ext cx="5066665" cy="4257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605780" y="1557020"/>
            <a:ext cx="3310890" cy="2846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协议：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000">
                <a:solidFill>
                  <a:schemeClr val="tx1"/>
                </a:solidFill>
              </a:rPr>
              <a:t>(1)语法：即数据与控制信息的结构或格式；</a:t>
            </a:r>
            <a:endParaRPr lang="zh-CN" altLang="en-US" sz="200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>
                <a:solidFill>
                  <a:schemeClr val="tx1"/>
                </a:solidFill>
              </a:rPr>
              <a:t>(2)语义：即需要发出何种控制信息、完成何种动作、做出何种响应；</a:t>
            </a:r>
            <a:endParaRPr lang="zh-CN" altLang="en-US" sz="200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000">
                <a:solidFill>
                  <a:schemeClr val="tx1"/>
                </a:solidFill>
              </a:rPr>
              <a:t>(3)时序（同步）：事件实现顺序的详细说明。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0380" y="4509135"/>
            <a:ext cx="3310890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接口：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2000">
                <a:solidFill>
                  <a:schemeClr val="tx1"/>
                </a:solidFill>
              </a:rPr>
              <a:t>(1)与总线的连接；</a:t>
            </a:r>
            <a:endParaRPr lang="zh-CN" altLang="en-US" sz="2000">
              <a:solidFill>
                <a:schemeClr val="tx1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CN" sz="2000">
                <a:solidFill>
                  <a:schemeClr val="tx1"/>
                </a:solidFill>
              </a:rPr>
              <a:t>(2)</a:t>
            </a:r>
            <a:r>
              <a:rPr lang="zh-CN" altLang="en-US" sz="2000">
                <a:solidFill>
                  <a:schemeClr val="tx1"/>
                </a:solidFill>
              </a:rPr>
              <a:t>解决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格式转换、</a:t>
            </a:r>
            <a:r>
              <a:rPr lang="zh-CN" altLang="en-US" sz="2000">
                <a:solidFill>
                  <a:schemeClr val="tx1"/>
                </a:solidFill>
              </a:rPr>
              <a:t>数据缓冲等问题。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鲲鹏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920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芯片规格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20" y="1806575"/>
            <a:ext cx="8770620" cy="380174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PCIe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CCIX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335" y="1628775"/>
            <a:ext cx="3327400" cy="45713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732530"/>
            <a:ext cx="4673600" cy="24676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7200" y="1485265"/>
            <a:ext cx="4572000" cy="2091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lvl="0" indent="-228600" algn="l" eaLnBrk="1" hangingPunct="1">
              <a:spcBef>
                <a:spcPts val="1200"/>
              </a:spcBef>
              <a:buClr>
                <a:schemeClr val="tx1"/>
              </a:buClr>
              <a:buSzTx/>
              <a:buFontTx/>
              <a:buChar char="•"/>
            </a:pPr>
            <a:r>
              <a:rPr lang="zh-CN" altLang="en-US" sz="24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PCI Express™ (PCIe™) 是目前最常见的、处理器和片外加速器间传输数据的协议。</a:t>
            </a:r>
            <a:endParaRPr lang="zh-CN" altLang="en-US" sz="2400" b="0" kern="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lvl="0" indent="-228600" algn="l" eaLnBrk="1" hangingPunct="1">
              <a:spcBef>
                <a:spcPts val="1200"/>
              </a:spcBef>
              <a:buClr>
                <a:schemeClr val="tx1"/>
              </a:buClr>
              <a:buSzTx/>
              <a:buFontTx/>
              <a:buChar char="•"/>
            </a:pPr>
            <a:r>
              <a:rPr lang="en-US" altLang="zh-CN" sz="24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CCIX</a:t>
            </a:r>
            <a:r>
              <a:rPr lang="zh-CN" altLang="en-US" sz="24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是高性能、低延时的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片间互联接口</a:t>
            </a:r>
            <a:r>
              <a:rPr lang="zh-CN" altLang="en-US" sz="2400" b="0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（缓存一致性）</a:t>
            </a:r>
            <a:endParaRPr lang="zh-CN" altLang="en-US" sz="2400" b="0" kern="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总线系统发展</a:t>
            </a:r>
            <a:r>
              <a:rPr lang="zh-CN" altLang="en-US"/>
              <a:t>趋势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1412875"/>
            <a:ext cx="7776845" cy="47567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课堂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48640" y="1252220"/>
            <a:ext cx="8046085" cy="5220335"/>
          </a:xfrm>
        </p:spPr>
        <p:txBody>
          <a:bodyPr/>
          <a:p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假设一个32位的处理器连接了一个32位宽的处理器总线，总线的时钟频率为400MHz，支持多种总线事务类型。其中，最短的总线事务类型是存储器读事务，需要4个时钟周期完成，第1个时钟周期送地址和读命令，第4个时钟周期取数；最长的总线事务类型是突发传送8次数据，需要11个时钟周期完成，第1个时钟周期送地址和读命令，第4个时钟周期开始连续传送8个数据，每个时钟周期传送一次。请回答下列问题: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(1)该总线是同步总线还是异步总线?为什么?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(2)该总线的最大数据传输率为多少?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(3)若处理器一直持续发起最短总线事务类型，则此时总线的数据传输率是多少?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(4)若处理器一直持续发起最长总线事务类型，则此时总线的数据传输率是多少?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(5)若将处理器总线的总线宽度扩展为64位，则该总线的最大数据传输率提高到多少?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(6)若将处理器总线的总线时钟频率提高到800MHz，则该总线的最大数据传输率提高到多少?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(7)加倍总线宽度和</a:t>
            </a:r>
            <a:r>
              <a: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加倍总线时钟频率相比，哪种更好?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课堂练习</a:t>
            </a:r>
            <a:r>
              <a:t>（</a:t>
            </a:r>
            <a:r>
              <a:t>解答）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844675"/>
            <a:ext cx="793686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习题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习题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7-6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补充：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MESI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缓存一致性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11505" y="1365250"/>
            <a:ext cx="73063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eaLnBrk="1" hangingPunct="1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 dirty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缓存不一致性问题</a:t>
            </a:r>
            <a:endParaRPr lang="zh-CN" altLang="en-US" sz="2400" kern="0" dirty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7450" y="2276475"/>
            <a:ext cx="6888480" cy="3140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缓存技术基础</a:t>
            </a:r>
            <a:r>
              <a:rPr lang="en-US" altLang="zh-CN" dirty="0"/>
              <a:t>——</a:t>
            </a:r>
            <a:r>
              <a:rPr dirty="0"/>
              <a:t>解决</a:t>
            </a:r>
            <a:r>
              <a:rPr lang="en-US" altLang="zh-CN" dirty="0"/>
              <a:t>cache</a:t>
            </a:r>
            <a:r>
              <a:rPr dirty="0"/>
              <a:t>的一致性</a:t>
            </a:r>
            <a:r>
              <a:rPr dirty="0"/>
              <a:t>问题</a:t>
            </a:r>
            <a:endParaRPr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29" y="2708751"/>
            <a:ext cx="7159466" cy="28117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3895" y="1268730"/>
            <a:ext cx="7623810" cy="160528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两类解决Cache不一致性问题的协议</a:t>
            </a:r>
            <a:endParaRPr lang="zh-CN" altLang="en-US" sz="24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监听协议：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总线互连的多处理系统，通常采用监听协议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基于目录的协议：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其他多处理系统，通常采用基于目录协议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标题 1"/>
          <p:cNvSpPr>
            <a:spLocks noGrp="1"/>
          </p:cNvSpPr>
          <p:nvPr>
            <p:ph type="title"/>
          </p:nvPr>
        </p:nvSpPr>
        <p:spPr>
          <a:xfrm>
            <a:off x="471170" y="404495"/>
            <a:ext cx="7637780" cy="652780"/>
          </a:xfrm>
        </p:spPr>
        <p:txBody>
          <a:bodyPr vert="horz" wrap="square" lIns="0" tIns="0" rIns="0" bIns="0" rtlCol="0" anchor="t" anchorCtr="0"/>
          <a:lstStyle/>
          <a:p>
            <a:pPr lvl="0" algn="l">
              <a:buClrTx/>
              <a:buSzTx/>
              <a:buFontTx/>
            </a:pPr>
            <a:r>
              <a:rPr sz="2400">
                <a:latin typeface="Lucida Sans" panose="020B0602040502020204" charset="0"/>
                <a:ea typeface="微软雅黑" panose="020B0503020204020204" charset="-122"/>
                <a:sym typeface="+mn-ea"/>
              </a:rPr>
              <a:t>Cache采用写通过方式时的写无效策略和写更新策略</a:t>
            </a:r>
            <a:endParaRPr sz="2400">
              <a:latin typeface="Lucida Sans" panose="020B060204050202020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51844" y="3933031"/>
            <a:ext cx="4698683" cy="234076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12775" y="1170940"/>
            <a:ext cx="8020050" cy="2541905"/>
          </a:xfrm>
          <a:prstGeom prst="rect">
            <a:avLst/>
          </a:prstGeom>
        </p:spPr>
        <p:txBody>
          <a:bodyPr vert="horz" wrap="square" rtlCol="0" anchor="t"/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写无效策略和写更新策略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写无效(Write Invalidate)策略，在本地Cache的数据块修改时使远程数据块都无效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ct val="200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写更新(Write Update)策略，在本地Cache数据块修改时通过总线把新的数据块广播给含该数据块的所有其他Cache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由于写更新策略在本地Cache修改时需通过总线把修改过的数据块广播给所有含该数据块的其他Cache，增加了总线的负担，大部分系统使用写无效策略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基本MESI 协议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5160" y="1427480"/>
            <a:ext cx="7853680" cy="1990725"/>
          </a:xfrm>
          <a:prstGeom prst="rect">
            <a:avLst/>
          </a:prstGeom>
        </p:spPr>
        <p:txBody>
          <a:bodyPr vert="horz" wrap="square" rtlCol="0" anchor="t">
            <a:no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MESI协议包含了描述多核共享数据的状态。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每个Cache line有4个状态，可用2个bit表示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M(Modified)和E(Exclusive)状态的Cache line，数据是独有的，不同点在于M状态的数据是dirty的(和内存的不一致)，E状态的数据是clean的(和内存的一致)。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2774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840" y="3284855"/>
            <a:ext cx="6234430" cy="28403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基本MESI 协议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7995" y="1430020"/>
            <a:ext cx="3903345" cy="3997960"/>
          </a:xfrm>
          <a:prstGeom prst="rect">
            <a:avLst/>
          </a:prstGeom>
        </p:spPr>
        <p:txBody>
          <a:bodyPr vert="horz" wrap="square" rtlCol="0" anchor="t">
            <a:noAutofit/>
          </a:bodyPr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E状态：数据有效，数据和内存中的数据一致，数据只存在于本Cache中。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S状态：数据有效，数据和内存中的数据一致，数据存在于很多Cache中。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M状态：数据有效，数据被修改了，和内存中的数据不一致，数据只存在于本Cache中。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I状态：数据无效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77594" y="1052513"/>
            <a:ext cx="3596164" cy="1694974"/>
          </a:xfrm>
          <a:prstGeom prst="rect">
            <a:avLst/>
          </a:prstGeom>
        </p:spPr>
      </p:pic>
      <p:pic>
        <p:nvPicPr>
          <p:cNvPr id="36871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77435" y="4725035"/>
            <a:ext cx="3580765" cy="16560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32045" y="2824163"/>
            <a:ext cx="3535204" cy="1789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ym typeface="+mn-ea"/>
              </a:rPr>
              <a:t>基本MESI 协议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55955" y="1254760"/>
            <a:ext cx="7853680" cy="2177415"/>
          </a:xfrm>
          <a:prstGeom prst="rect">
            <a:avLst/>
          </a:prstGeom>
        </p:spPr>
        <p:txBody>
          <a:bodyPr vert="horz" wrap="square" rtlCol="0" anchor="t">
            <a:noAutofit/>
          </a:bodyPr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在MESI协议中，每个Cache的Cache控制器不仅知道自己的读写操作，也监听(snoop)其它Cache的读写操作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342900" lvl="0" indent="-342900" algn="just">
              <a:spcBef>
                <a:spcPts val="12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每个Cache line所处的状态根据本核和其它核的读写操作在4个状态间进行迁移。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3011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08175" y="2780665"/>
            <a:ext cx="5020310" cy="36455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MESI 协议</a:t>
            </a:r>
            <a:r>
              <a:rPr lang="en-US" altLang="zh-CN" dirty="0"/>
              <a:t>cache line</a:t>
            </a:r>
            <a:r>
              <a:rPr dirty="0"/>
              <a:t>状态</a:t>
            </a:r>
            <a:r>
              <a:rPr dirty="0"/>
              <a:t>迁移</a:t>
            </a:r>
            <a:endParaRPr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3140" y="1450340"/>
          <a:ext cx="7295515" cy="464693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934085"/>
                <a:gridCol w="1072515"/>
                <a:gridCol w="4057015"/>
                <a:gridCol w="1231900"/>
              </a:tblGrid>
              <a:tr h="514985">
                <a:tc>
                  <a:txBody>
                    <a:bodyPr/>
                    <a:p>
                      <a:pPr algn="ctr"/>
                      <a:r>
                        <a:rPr lang="zh-CN" altLang="en-US" sz="1350" b="1" dirty="0">
                          <a:latin typeface="Times New Roman" panose="02020603050405020304" pitchFamily="18" charset="0"/>
                        </a:rPr>
                        <a:t>当前状态</a:t>
                      </a:r>
                      <a:endParaRPr lang="zh-CN" altLang="en-US" sz="1350" b="1" dirty="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350" b="1" dirty="0">
                          <a:latin typeface="Times New Roman" panose="02020603050405020304" pitchFamily="18" charset="0"/>
                        </a:rPr>
                        <a:t>事件</a:t>
                      </a:r>
                      <a:endParaRPr lang="zh-CN" altLang="en-US" sz="1350" b="1" dirty="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350" b="1" dirty="0">
                          <a:latin typeface="Times New Roman" panose="02020603050405020304" pitchFamily="18" charset="0"/>
                        </a:rPr>
                        <a:t>行为</a:t>
                      </a:r>
                      <a:endParaRPr lang="zh-CN" altLang="en-US" sz="1350" b="1" dirty="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350" b="1" dirty="0">
                          <a:latin typeface="Times New Roman" panose="02020603050405020304" pitchFamily="18" charset="0"/>
                        </a:rPr>
                        <a:t>下一个状态</a:t>
                      </a:r>
                      <a:endParaRPr lang="zh-CN" altLang="en-US" sz="1350" b="1" dirty="0">
                        <a:latin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1861820">
                <a:tc rowSpan="4">
                  <a:txBody>
                    <a:bodyPr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I(Invalid)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Read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如果其它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没有这份数据，本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从内存中取数据，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状态变成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；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如果其它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有这份数据，且状态为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，则将数据更新到内存，本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再从内存中取数据，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个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的状态都变成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；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如果其它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有这份数据，且状态为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或者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，本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从内存中取数据，这些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状态都变成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E/S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136207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Write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从内存中取数据，在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中修改，状态变成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；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如果其它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有这份数据，且状态为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，则要先将数据更新到内存；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如果其它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有这份数据，则其它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状态变成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45466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Read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既然是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，别的核的操作与它无关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4533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Write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既然是</a:t>
                      </a:r>
                      <a:r>
                        <a:rPr lang="en-US" altLang="zh-C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Invalid</a:t>
                      </a:r>
                      <a:r>
                        <a:rPr lang="zh-CN" alt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，别的核的操作与它无关</a:t>
                      </a:r>
                      <a:endParaRPr lang="zh-CN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MESI 协议</a:t>
            </a:r>
            <a:r>
              <a:rPr lang="en-US" altLang="zh-CN" dirty="0"/>
              <a:t>cache line</a:t>
            </a:r>
            <a:r>
              <a:rPr dirty="0"/>
              <a:t>状态</a:t>
            </a:r>
            <a:r>
              <a:rPr dirty="0"/>
              <a:t>迁移</a:t>
            </a:r>
            <a:endParaRPr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835" y="1579880"/>
          <a:ext cx="7386955" cy="42989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88770"/>
                <a:gridCol w="1657350"/>
                <a:gridCol w="2622550"/>
                <a:gridCol w="1518285"/>
              </a:tblGrid>
              <a:tr h="859790"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当前状态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事件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行为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下一个状态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859790">
                <a:tc rowSpan="4"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E(</a:t>
                      </a:r>
                      <a:r>
                        <a:rPr lang="en-US" sz="135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</a:t>
                      </a:r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Read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lang="en-US" altLang="zh-CN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中取数据，状态不变</a:t>
                      </a:r>
                      <a:endParaRPr lang="zh-CN" alt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8597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Write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修改</a:t>
                      </a:r>
                      <a:r>
                        <a:rPr lang="en-US" altLang="zh-CN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中的数据，状态变成</a:t>
                      </a:r>
                      <a:r>
                        <a:rPr lang="en-US" altLang="zh-CN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altLang="zh-CN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8597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Read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数据和其它核共用，状态变成了</a:t>
                      </a:r>
                      <a:r>
                        <a:rPr lang="en-US" altLang="zh-CN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altLang="zh-CN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8597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Write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数据被修改，本</a:t>
                      </a:r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不能再使用，状态变成</a:t>
                      </a:r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MESI 协议</a:t>
            </a:r>
            <a:r>
              <a:rPr lang="en-US" altLang="zh-CN" dirty="0"/>
              <a:t>cache line</a:t>
            </a:r>
            <a:r>
              <a:rPr dirty="0"/>
              <a:t>状态</a:t>
            </a:r>
            <a:r>
              <a:rPr dirty="0"/>
              <a:t>迁移</a:t>
            </a:r>
            <a:endParaRPr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1840" y="1536700"/>
          <a:ext cx="7462520" cy="440626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56030"/>
                <a:gridCol w="1673225"/>
                <a:gridCol w="2999740"/>
                <a:gridCol w="1533525"/>
              </a:tblGrid>
              <a:tr h="826135"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当前状态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事件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行为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下一个状态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826770">
                <a:tc rowSpan="4"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S(Shared)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Read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从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中取数据，状态不变</a:t>
                      </a:r>
                      <a:endParaRPr lang="zh-CN" alt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11010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Write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修改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中的数据，状态变成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endParaRPr lang="zh-CN" alt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u"/>
                      </a:pP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其它核共享的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状态变成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82613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Read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状态不变</a:t>
                      </a:r>
                      <a:endParaRPr lang="zh-CN" alt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82613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Write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数据被修改，本</a:t>
                      </a:r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  能再使用，状态变成</a:t>
                      </a:r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MESI 协议</a:t>
            </a:r>
            <a:r>
              <a:rPr lang="en-US" altLang="zh-CN" dirty="0"/>
              <a:t>cache line</a:t>
            </a:r>
            <a:r>
              <a:rPr dirty="0"/>
              <a:t>状态</a:t>
            </a:r>
            <a:r>
              <a:rPr dirty="0"/>
              <a:t>迁移</a:t>
            </a:r>
            <a:endParaRPr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72490" y="1625600"/>
          <a:ext cx="7440295" cy="44386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00200"/>
                <a:gridCol w="1668780"/>
                <a:gridCol w="2642235"/>
                <a:gridCol w="1529080"/>
              </a:tblGrid>
              <a:tr h="739775"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当前状态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事件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行为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zh-CN" altLang="en-US" sz="135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下一个状态</a:t>
                      </a:r>
                      <a:endParaRPr lang="zh-CN" altLang="en-US" sz="135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739775">
                <a:tc rowSpan="4"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M(Modified)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Read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从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中取数据，状态不变</a:t>
                      </a:r>
                      <a:endParaRPr lang="zh-CN" alt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86790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Write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修改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</a:t>
                      </a:r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中的数据，状态不变</a:t>
                      </a:r>
                      <a:endParaRPr lang="zh-CN" alt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3977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Read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这行数据被写到内存中，使其它核能使用到最新的数据，状态变成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altLang="zh-CN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1232535">
                <a:tc vMerge="1">
                  <a:tcPr/>
                </a:tc>
                <a:tc>
                  <a:txBody>
                    <a:bodyPr/>
                    <a:p>
                      <a:pPr algn="ctr"/>
                      <a:r>
                        <a:rPr lang="en-US" sz="13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Write</a:t>
                      </a:r>
                      <a:endParaRPr lang="en-US" sz="1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l"/>
                      <a:r>
                        <a:rPr lang="zh-CN" alt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这行数据被写到内存中，使其它核能使用到最新的数据，由于其它核会修改这行数据，状态变成</a:t>
                      </a:r>
                      <a:r>
                        <a:rPr lang="en-US" altLang="zh-CN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altLang="zh-CN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p>
                      <a:pPr algn="ctr"/>
                      <a:r>
                        <a:rPr lang="en-US" sz="1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3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MESI</a:t>
            </a:r>
            <a:r>
              <a:rPr dirty="0"/>
              <a:t>协议</a:t>
            </a:r>
            <a:r>
              <a:rPr dirty="0"/>
              <a:t>演化</a:t>
            </a:r>
            <a:endParaRPr dirty="0"/>
          </a:p>
        </p:txBody>
      </p:sp>
      <p:sp>
        <p:nvSpPr>
          <p:cNvPr id="6" name="矩形 5"/>
          <p:cNvSpPr/>
          <p:nvPr/>
        </p:nvSpPr>
        <p:spPr>
          <a:xfrm>
            <a:off x="532765" y="1340485"/>
            <a:ext cx="8164195" cy="4636135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当内核需要访问的数据不在本Cache中，而其它Cache有这份数据的备份时，本Cache可以从内存中导入数据，也可以从其它Cache中导入数据，不同处理器有不同选择。</a:t>
            </a:r>
            <a:endParaRPr lang="zh-CN" altLang="en-US" sz="24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4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AMD的Opteron处理器使用从MESI演化的MOESI协议</a:t>
            </a:r>
            <a:endParaRPr lang="zh-CN" altLang="en-US" sz="24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143000" lvl="2" indent="-228600" algn="l">
              <a:spcBef>
                <a:spcPct val="20000"/>
              </a:spcBef>
              <a:buClr>
                <a:schemeClr val="tx1"/>
              </a:buClr>
              <a:buChar char="•"/>
            </a:pPr>
            <a:r>
              <a:rPr sz="20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O(Owned)是MESI中S和M的一个合体，表示本Cache line被修改，和内存中的数据不一致，不过其它的核可以有这份数据的拷贝，状态为S。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Intel的core i7处理器使用从MESI演化的MESIF协议：</a:t>
            </a:r>
            <a:endParaRPr lang="zh-CN" altLang="en-US" sz="24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1143000" lvl="2" indent="-228600" algn="l">
              <a:spcBef>
                <a:spcPct val="20000"/>
              </a:spcBef>
              <a:buClr>
                <a:schemeClr val="tx1"/>
              </a:buClr>
              <a:buSzTx/>
              <a:buFontTx/>
              <a:buChar char="•"/>
            </a:pPr>
            <a:r>
              <a:rPr sz="20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F(Forward)从Share中演化而来，一个Cache line如果是Forward状态，可以把数据直接传给其它内核的Cache，而Share则不能</a:t>
            </a:r>
            <a:endParaRPr sz="2000" b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ARMv8 处理器使用 MOESI 协议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5160" y="1388745"/>
            <a:ext cx="7975600" cy="484505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根据使用的协议，SCU（窥探控制单元）用以下属性之一标记缓存中的每一行：M（修改）、O（拥有）、E（独占）、S（共享）或 I（无效）。描述如下：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Modified</a:t>
            </a: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缓存行的最新版本在此缓存中。 其他缓存中不存在内存位置的其他副本。 高速缓存行的内容不再与主存一致。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Owned </a:t>
            </a:r>
            <a:r>
              <a:rPr lang="en-US" altLang="zh-CN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这描述了一条脏的并且可能在多个缓存中的行。 拥有状态的高速缓存行保存最新的正确数据副本。 只有一个核心可以保存拥有状态的数据。 其他核心可以将数据保持在共享状态。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Exclusive </a:t>
            </a: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高速缓存行存在于该高速缓存中并且与主存储器一致。 其他缓存中不存在内存位置的其他副本。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Shared</a:t>
            </a: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高速缓存行存在于此高速缓存中，并且不一定与内存保持一致，因为 Owned 的定义允许将脏行复制到共享行中。 但是，它将具有最新版本的数据。 它的副本也可以存在于一致性方案中的其他缓存中。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Invalid</a:t>
            </a:r>
            <a:r>
              <a:rPr lang="zh-CN" altLang="en-US" sz="18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缓存行无效。</a:t>
            </a:r>
            <a:endParaRPr lang="zh-CN" altLang="en-US" sz="18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复习</a:t>
            </a:r>
            <a:r>
              <a:rPr lang="zh-CN" altLang="en-US"/>
              <a:t>习题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02590" y="1388745"/>
            <a:ext cx="8218170" cy="484505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just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某计算机主存地址空间大小有 8MB,分成 32768个主存块,按字节编址｡cache 可存放 8KB数据(不包括有效位､标记等附加信息),采用直接映射方式｡cache 共有多少行?主存地址如何划分?要求说明每个字段的含义､位数和在主存地址中的位置｡</a:t>
            </a:r>
            <a:endParaRPr lang="zh-CN" altLang="en-US" sz="24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lang="zh-CN" altLang="en-US" sz="2400" b="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02590" y="1388745"/>
            <a:ext cx="8218170" cy="484505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just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某计算机主存地址空间大小有 8MB,分成 32768个主存块,按字节编址｡cache 可存放 8KB数据(不包括有效位､标记等附加信息),采用直接映射方式｡cache 共有多少行?主存地址如何划分?要求说明每个字段的含义､位数和在主存地址中的位置｡</a:t>
            </a:r>
            <a:endParaRPr lang="zh-CN" altLang="en-US" sz="24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每个主存块大小为8MB/32768=256B, cache共有8KB/256B=32行｡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直接映射方式下,cache 行号(即行索引)有5位;由于每个主存块大小为 256B,按字节编址,故块内地址为8位，</a:t>
            </a:r>
            <a:r>
              <a:rPr lang="en-US" altLang="zh-CN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cache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地址位数为</a:t>
            </a:r>
            <a:r>
              <a:rPr lang="en-US" altLang="zh-CN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5+8=13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位；主存地址空间大小为8MB，所以主存地址位数为23位，故主存地址中标记有23-5-8=10位｡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主存地址共有以下三个字段：高 10 位为标记字段,中间5位为行索引（块号），低8位为块内地址｡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习题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48640" y="1448435"/>
            <a:ext cx="8046085" cy="1823085"/>
          </a:xfrm>
        </p:spPr>
        <p:txBody>
          <a:bodyPr/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用容量为 16K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1的 DRAM 芯片构成 64KB 的存储器｡(1)画出该存储器的结构框图，(2)设存储器的读/写周期均为0.5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μ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s，CPU 在 1μs 内至少要访存一次，试问采用哪种刷新方式比较合理?相邻两行之间的刷新间隔是多少?对全部存储单元刷新一遍所需的实际刷新时间是多少?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2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位地址线，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位字线，每字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390" y="3213100"/>
            <a:ext cx="3854450" cy="31496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5605" y="3284855"/>
            <a:ext cx="4163695" cy="2990215"/>
          </a:xfrm>
          <a:prstGeom prst="rect">
            <a:avLst/>
          </a:prstGeom>
        </p:spPr>
        <p:txBody>
          <a:bodyPr vert="horz" wrap="square" rtlCol="0" anchor="t">
            <a:normAutofit fontScale="80000"/>
          </a:bodyPr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因为要求 CPU 在1μs 内至少要访存一次,所以不能使用集中刷新方式,分散和异步刷新方式都可以使用,但异步刷新方式比较合理。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相邻两行之间的刷新间隔=最大刷新间隔时间÷行数=2ms÷128=15.625μs。取15.5us,即进行读或写操作 31 次之后刷新一行。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对全部存储单元刷新一遍所需的实际刷新时间=0.5μs</a:t>
            </a:r>
            <a:r>
              <a:rPr lang="en-US" altLang="zh-CN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*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128</a:t>
            </a:r>
            <a:r>
              <a:rPr lang="en-US" altLang="zh-CN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=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64μs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3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5160" y="1388745"/>
            <a:ext cx="7975600" cy="484505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某机CPU芯片的主振频率为8MHz，其时钟周期是多少μs?若已知每个机器周期平均包含4个时钟周期，该机的平均指令执行速度为0.8MIPS，试问: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(1)平均指令周期是多少μs?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(2)平均每个指令周期含有多少个机器周期?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(3)若改用时钟周期为0.4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μ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s的CPU芯片，则计算机的平均指令执行速度又是多少MIPS?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l">
              <a:spcBef>
                <a:spcPts val="12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(4)若要得到40万次/s的指令执行速度，则应采用主振频率为多少MHz的CPU芯片?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7795" y="4775200"/>
            <a:ext cx="4251960" cy="151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2508885"/>
          </a:xfrm>
        </p:spPr>
        <p:txBody>
          <a:bodyPr/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某机主要部件如图所示 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补充各部件间主要连接线 ，并注明数据流动方向 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）拟出指令 ADD 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R1)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(R2)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＋ 的执行流程。该指令的含义是进行加法操作 ，源操作数地址和目的操作数地址分别在寄存器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中 ，目的操作数寻址方式为自增型寄存器间址 。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120" y="4010025"/>
            <a:ext cx="5078095" cy="225615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解：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3895" y="1557020"/>
            <a:ext cx="7679055" cy="41941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指令 ADD （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R1)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，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(R2)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＋ 的执行流程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7780"/>
            <a:ext cx="8229600" cy="5210175"/>
          </a:xfrm>
        </p:spPr>
        <p:txBody>
          <a:bodyPr/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（PC） → MAR ；取指令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（MAR） → MDR → IR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（PC）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→ PC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（R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） → MAR ；取被加数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（MAR） → MDR → C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（R</a:t>
            </a:r>
            <a:r>
              <a:rPr lang="en-US" altLang="zh-CN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） → MAR ；取加数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Read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（MAR） → MDR → D</a:t>
            </a:r>
            <a:endParaRPr lang="zh-CN" altLang="en-US" sz="200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（R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）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R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；修改目的地址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（C）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（D） → MDR ；求和并保存结果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MDR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→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MM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5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5160" y="1388745"/>
            <a:ext cx="7975600" cy="1485265"/>
          </a:xfrm>
          <a:prstGeom prst="rect">
            <a:avLst/>
          </a:prstGeom>
        </p:spPr>
        <p:txBody>
          <a:bodyPr vert="horz" wrap="square" rtlCol="0" anchor="t">
            <a:noAutofit/>
          </a:bodyPr>
          <a:p>
            <a:pPr marL="342900" lvl="0" indent="-342900" algn="l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4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某机有8条微指令I1~I8，每条微指令所含的微命令控制信号如表｡a~j分别代表10种不同性质的微命令信号，假设一条微指令的操作控制字段为8位，请安排微指令的操作控制字段格式，并将全部微指令代码化｡</a:t>
            </a:r>
            <a:endParaRPr lang="zh-CN" altLang="en-US" sz="2400" b="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3284855"/>
            <a:ext cx="6130290" cy="2858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解答：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5160" y="1276985"/>
            <a:ext cx="7975600" cy="1093470"/>
          </a:xfrm>
          <a:prstGeom prst="rect">
            <a:avLst/>
          </a:prstGeom>
        </p:spPr>
        <p:txBody>
          <a:bodyPr vert="horz" wrap="square" rtlCol="0" anchor="t">
            <a:normAutofit/>
          </a:bodyPr>
          <a:p>
            <a:pPr marL="342900" lvl="0" indent="-342900" algn="just"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2000" kern="0">
                <a:solidFill>
                  <a:schemeClr val="hlin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因为微指令的操作控制字段只有8位，所以不能采用直接控制法｡又因为微指令中有多个微命令是兼容性的微命令，如微指令I1中的微命令a~e，故也不能采用最短编码法｡</a:t>
            </a:r>
            <a:endParaRPr lang="zh-CN" altLang="en-US" sz="2000" kern="0">
              <a:solidFill>
                <a:schemeClr val="hlin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0" y="4743450"/>
            <a:ext cx="1016000" cy="151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90" y="4743450"/>
            <a:ext cx="1130935" cy="1519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025" y="3500755"/>
            <a:ext cx="1624965" cy="27698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3895" y="2370455"/>
            <a:ext cx="776351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选用字段编码法和直接控制法相结合的方法｡将互斥的微命令安排在同一段内，兼容的微命令安排在不同的段内｡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160" y="3140710"/>
            <a:ext cx="5849620" cy="1398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b､i､j是互斥的微命令，安排在一个段内，e､f､h这3个微命令也是互斥的，把它们安排在另一个段内｡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  <a:p>
            <a:pPr marL="742950" lvl="1" indent="-285750" algn="just">
              <a:spcBef>
                <a:spcPts val="60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§"/>
            </a:pP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字段1和2的译码器输出对应的微命令</a:t>
            </a:r>
            <a:r>
              <a:rPr lang="zh-CN" altLang="en-US" sz="2000" b="0" ker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如下：</a:t>
            </a:r>
            <a:endParaRPr lang="zh-CN" altLang="en-US" sz="2000" b="0" kern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" y="4761230"/>
            <a:ext cx="3169920" cy="1501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7860,&quot;width&quot;:1224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TABLE_BEAUTIFY" val="smartTable{fae32f81-8a5d-4d5b-bfa1-f5cb10744887}"/>
  <p:tag name="KSO_WM_BEAUTIFY_FLAG" val=""/>
  <p:tag name="TABLE_ENDDRAG_ORIGIN_RECT" val="574*365"/>
  <p:tag name="TABLE_ENDDRAG_RECT" val="78*114*574*365"/>
</p:tagLst>
</file>

<file path=ppt/tags/tag10.xml><?xml version="1.0" encoding="utf-8"?>
<p:tagLst xmlns:p="http://schemas.openxmlformats.org/presentationml/2006/main">
  <p:tag name="KSO_WM_UNIT_TABLE_BEAUTIFY" val="smartTable{aa1e7f56-9499-402f-b986-395a905d8141}"/>
  <p:tag name="KSO_WM_BEAUTIFY_FLAG" val=""/>
  <p:tag name="TABLE_ENDDRAG_ORIGIN_RECT" val="581*338"/>
  <p:tag name="TABLE_ENDDRAG_RECT" val="66*124*581*338"/>
</p:tagLst>
</file>

<file path=ppt/tags/tag11.xml><?xml version="1.0" encoding="utf-8"?>
<p:tagLst xmlns:p="http://schemas.openxmlformats.org/presentationml/2006/main">
  <p:tag name="KSO_WM_UNIT_TABLE_BEAUTIFY" val="smartTable{e4cfab21-930a-4440-8258-31c3e2c844e7}"/>
  <p:tag name="KSO_WM_BEAUTIFY_FLAG" val=""/>
  <p:tag name="TABLE_ENDDRAG_ORIGIN_RECT" val="587*346"/>
  <p:tag name="TABLE_ENDDRAG_RECT" val="59*121*587*346"/>
</p:tagLst>
</file>

<file path=ppt/tags/tag12.xml><?xml version="1.0" encoding="utf-8"?>
<p:tagLst xmlns:p="http://schemas.openxmlformats.org/presentationml/2006/main">
  <p:tag name="KSO_WM_UNIT_TABLE_BEAUTIFY" val="smartTable{13aa6e51-b5e6-4a54-9e9b-0740de31f5cf}"/>
  <p:tag name="KSO_WM_BEAUTIFY_FLAG" val=""/>
  <p:tag name="TABLE_ENDDRAG_ORIGIN_RECT" val="585*349"/>
  <p:tag name="TABLE_ENDDRAG_RECT" val="68*128*585*349"/>
</p:tagLst>
</file>

<file path=ppt/tags/tag13.xml><?xml version="1.0" encoding="utf-8"?>
<p:tagLst xmlns:p="http://schemas.openxmlformats.org/presentationml/2006/main">
  <p:tag name="KSO_WM_UNIT_PLACING_PICTURE_USER_VIEWPORT" val="{&quot;height&quot;:4500,&quot;width&quot;:8240}"/>
</p:tagLst>
</file>

<file path=ppt/tags/tag14.xml><?xml version="1.0" encoding="utf-8"?>
<p:tagLst xmlns:p="http://schemas.openxmlformats.org/presentationml/2006/main">
  <p:tag name="KSO_WPP_MARK_KEY" val="190a039d-f205-49f6-91d0-ca5cee0caf31"/>
  <p:tag name="COMMONDATA" val="eyJoZGlkIjoiNzgwZWUzYWQ0MzYxM2VlNjVhZWQ5MmMwYjc0MjZhZjkifQ=="/>
  <p:tag name="commondata" val="eyJoZGlkIjoiMzUyMzNlOTc0YTYwZmI3ZWVkMzBjMDllMjAyOTRhOWQifQ=="/>
</p:tagLst>
</file>

<file path=ppt/theme/theme1.xml><?xml version="1.0" encoding="utf-8"?>
<a:theme xmlns:a="http://schemas.openxmlformats.org/drawingml/2006/main" name="主题1">
  <a:themeElements>
    <a:clrScheme name="24美金的ppt模板_2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2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2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2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4美金的ppt模板">
  <a:themeElements>
    <a:clrScheme name="1_24美金的ppt模板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1_24美金的ppt模板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24美金的ppt模板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4美金的ppt模板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4美金的ppt模板_3">
  <a:themeElements>
    <a:clrScheme name="24美金的ppt模板_3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3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3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3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4美金的ppt模板_4">
  <a:themeElements>
    <a:clrScheme name="24美金的ppt模板_4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4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4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4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4美金的ppt模板_5">
  <a:themeElements>
    <a:clrScheme name="24美金的ppt模板_5 2">
      <a:dk1>
        <a:srgbClr val="003366"/>
      </a:dk1>
      <a:lt1>
        <a:srgbClr val="FFFFFF"/>
      </a:lt1>
      <a:dk2>
        <a:srgbClr val="2E6272"/>
      </a:dk2>
      <a:lt2>
        <a:srgbClr val="B2B2B2"/>
      </a:lt2>
      <a:accent1>
        <a:srgbClr val="3984C9"/>
      </a:accent1>
      <a:accent2>
        <a:srgbClr val="77AE26"/>
      </a:accent2>
      <a:accent3>
        <a:srgbClr val="FFFFFF"/>
      </a:accent3>
      <a:accent4>
        <a:srgbClr val="002A56"/>
      </a:accent4>
      <a:accent5>
        <a:srgbClr val="AEC2E1"/>
      </a:accent5>
      <a:accent6>
        <a:srgbClr val="6B9D21"/>
      </a:accent6>
      <a:hlink>
        <a:srgbClr val="6E815B"/>
      </a:hlink>
      <a:folHlink>
        <a:srgbClr val="90A8B0"/>
      </a:folHlink>
    </a:clrScheme>
    <a:fontScheme name="24美金的ppt模板_5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4美金的ppt模板_5 1">
        <a:dk1>
          <a:srgbClr val="003366"/>
        </a:dk1>
        <a:lt1>
          <a:srgbClr val="FFFFFF"/>
        </a:lt1>
        <a:dk2>
          <a:srgbClr val="3C8196"/>
        </a:dk2>
        <a:lt2>
          <a:srgbClr val="B2B2B2"/>
        </a:lt2>
        <a:accent1>
          <a:srgbClr val="2C6AA2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CB9CE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2">
        <a:dk1>
          <a:srgbClr val="003366"/>
        </a:dk1>
        <a:lt1>
          <a:srgbClr val="FFFFFF"/>
        </a:lt1>
        <a:dk2>
          <a:srgbClr val="2E6272"/>
        </a:dk2>
        <a:lt2>
          <a:srgbClr val="B2B2B2"/>
        </a:lt2>
        <a:accent1>
          <a:srgbClr val="3984C9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AEC2E1"/>
        </a:accent5>
        <a:accent6>
          <a:srgbClr val="6B9D21"/>
        </a:accent6>
        <a:hlink>
          <a:srgbClr val="6E815B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4美金的ppt模板_5 3">
        <a:dk1>
          <a:srgbClr val="30311D"/>
        </a:dk1>
        <a:lt1>
          <a:srgbClr val="FFFFFF"/>
        </a:lt1>
        <a:dk2>
          <a:srgbClr val="4A5B1F"/>
        </a:dk2>
        <a:lt2>
          <a:srgbClr val="B2B2B2"/>
        </a:lt2>
        <a:accent1>
          <a:srgbClr val="907242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C6BCB0"/>
        </a:accent5>
        <a:accent6>
          <a:srgbClr val="85A655"/>
        </a:accent6>
        <a:hlink>
          <a:srgbClr val="557B97"/>
        </a:hlink>
        <a:folHlink>
          <a:srgbClr val="A1A1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10707</Words>
  <Application>WPS 演示</Application>
  <PresentationFormat>全屏显示(4:3)</PresentationFormat>
  <Paragraphs>719</Paragraphs>
  <Slides>69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69</vt:i4>
      </vt:variant>
    </vt:vector>
  </HeadingPairs>
  <TitlesOfParts>
    <vt:vector size="85" baseType="lpstr">
      <vt:lpstr>Arial</vt:lpstr>
      <vt:lpstr>宋体</vt:lpstr>
      <vt:lpstr>Wingdings</vt:lpstr>
      <vt:lpstr>楷体_GB2312</vt:lpstr>
      <vt:lpstr>新宋体</vt:lpstr>
      <vt:lpstr>黑体</vt:lpstr>
      <vt:lpstr>华文中宋</vt:lpstr>
      <vt:lpstr>Lucida Sans</vt:lpstr>
      <vt:lpstr>微软雅黑</vt:lpstr>
      <vt:lpstr>Times New Roman</vt:lpstr>
      <vt:lpstr>Arial Unicode MS</vt:lpstr>
      <vt:lpstr>主题1</vt:lpstr>
      <vt:lpstr>1_24美金的ppt模板</vt:lpstr>
      <vt:lpstr>24美金的ppt模板_3</vt:lpstr>
      <vt:lpstr>24美金的ppt模板_4</vt:lpstr>
      <vt:lpstr>24美金的ppt模板_5</vt:lpstr>
      <vt:lpstr>PowerPoint 演示文稿</vt:lpstr>
      <vt:lpstr>第7章   总线</vt:lpstr>
      <vt:lpstr>本章学习内容</vt:lpstr>
      <vt:lpstr>7.1 总线概述</vt:lpstr>
      <vt:lpstr>7.1.1 总线的基本概念</vt:lpstr>
      <vt:lpstr>总线事务的阶段</vt:lpstr>
      <vt:lpstr>7.1.1 总线的基本概念</vt:lpstr>
      <vt:lpstr>总线周期</vt:lpstr>
      <vt:lpstr>7.1.2 总线的分类</vt:lpstr>
      <vt:lpstr>7.1.2 总线的分类</vt:lpstr>
      <vt:lpstr>7.1.3 总线的组成及性能指标</vt:lpstr>
      <vt:lpstr>2．总线特性</vt:lpstr>
      <vt:lpstr>3．总线的性能指标</vt:lpstr>
      <vt:lpstr>3．总线的性能指标</vt:lpstr>
      <vt:lpstr>总线带宽（例）</vt:lpstr>
      <vt:lpstr>7. 2 总线仲裁</vt:lpstr>
      <vt:lpstr>7.2.1 集中仲裁方式</vt:lpstr>
      <vt:lpstr>1.链式查询方式（续）</vt:lpstr>
      <vt:lpstr>2.计数器定时查询方式</vt:lpstr>
      <vt:lpstr>2.计数器定时查询方式（续）</vt:lpstr>
      <vt:lpstr>3.独立请求方式</vt:lpstr>
      <vt:lpstr>3.独立请求方式（续）</vt:lpstr>
      <vt:lpstr>7.2.2 分布仲裁方式</vt:lpstr>
      <vt:lpstr>7.3 总线定时控制</vt:lpstr>
      <vt:lpstr>7.3.1 同步定时方式</vt:lpstr>
      <vt:lpstr>7.3.2 异步定时方式</vt:lpstr>
      <vt:lpstr>异步定时例</vt:lpstr>
      <vt:lpstr>例：同步定时和异步定时比较</vt:lpstr>
      <vt:lpstr>例：数据块大小和总线带宽</vt:lpstr>
      <vt:lpstr>4-字块传送</vt:lpstr>
      <vt:lpstr>16-字块传送</vt:lpstr>
      <vt:lpstr>拆分总线事务</vt:lpstr>
      <vt:lpstr>增加同步总线带宽的措施</vt:lpstr>
      <vt:lpstr>7.4 总线标准</vt:lpstr>
      <vt:lpstr>7.4.1 系统总线标准</vt:lpstr>
      <vt:lpstr>7.4.2  外部总线标准</vt:lpstr>
      <vt:lpstr>总线互连结构</vt:lpstr>
      <vt:lpstr> Intel Core i7系列处理器的计算机互连结构</vt:lpstr>
      <vt:lpstr>Intel Corei7中核间互连</vt:lpstr>
      <vt:lpstr>总线、接口和协议</vt:lpstr>
      <vt:lpstr>鲲鹏920芯片规格</vt:lpstr>
      <vt:lpstr>PCIe与CCIX</vt:lpstr>
      <vt:lpstr>总线系统发展趋势</vt:lpstr>
      <vt:lpstr>课堂练习</vt:lpstr>
      <vt:lpstr>课堂练习（解答）</vt:lpstr>
      <vt:lpstr>习题</vt:lpstr>
      <vt:lpstr>补充：MESI</vt:lpstr>
      <vt:lpstr>缓存一致性问题</vt:lpstr>
      <vt:lpstr>缓存技术基础——解决cache的一致性问题</vt:lpstr>
      <vt:lpstr>Cache采用写通过方式时的写无效策略和写更新策略</vt:lpstr>
      <vt:lpstr>基本MESI 协议</vt:lpstr>
      <vt:lpstr>基本MESI 协议</vt:lpstr>
      <vt:lpstr>基本MESI 协议</vt:lpstr>
      <vt:lpstr>MESI 协议cache line状态迁移</vt:lpstr>
      <vt:lpstr>MESI 协议cache line状态迁移</vt:lpstr>
      <vt:lpstr>MESI 协议cache line状态迁移</vt:lpstr>
      <vt:lpstr>MESI 协议cache line状态迁移</vt:lpstr>
      <vt:lpstr>MESI协议演化</vt:lpstr>
      <vt:lpstr>ARMv8 处理器使用 MOESI 协议</vt:lpstr>
      <vt:lpstr>复习习题</vt:lpstr>
      <vt:lpstr>习题1</vt:lpstr>
      <vt:lpstr>习题1</vt:lpstr>
      <vt:lpstr>习题2</vt:lpstr>
      <vt:lpstr>习题3</vt:lpstr>
      <vt:lpstr>习题4</vt:lpstr>
      <vt:lpstr>解：</vt:lpstr>
      <vt:lpstr>指令 ADD （R1) ，(R2)＋ 的执行流程</vt:lpstr>
      <vt:lpstr>习题5</vt:lpstr>
      <vt:lpstr>解答：</vt:lpstr>
    </vt:vector>
  </TitlesOfParts>
  <Company>北京理工大学计算机系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输入输出系统</dc:title>
  <dc:creator>蒋本珊</dc:creator>
  <cp:lastModifiedBy>die job</cp:lastModifiedBy>
  <cp:revision>201</cp:revision>
  <dcterms:created xsi:type="dcterms:W3CDTF">2003-05-27T06:14:00Z</dcterms:created>
  <dcterms:modified xsi:type="dcterms:W3CDTF">2024-05-27T05:11:19Z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A26557B8B82B47309C6968B9A6E0FF87</vt:lpwstr>
  </property>
</Properties>
</file>