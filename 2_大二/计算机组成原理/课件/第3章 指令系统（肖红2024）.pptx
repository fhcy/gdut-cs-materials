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6" r:id="rId5"/>
    <p:sldMasterId id="2147483699" r:id="rId6"/>
    <p:sldMasterId id="2147483712" r:id="rId7"/>
    <p:sldMasterId id="2147483725" r:id="rId8"/>
    <p:sldMasterId id="2147483737" r:id="rId9"/>
    <p:sldMasterId id="2147483750" r:id="rId10"/>
    <p:sldMasterId id="2147483763" r:id="rId11"/>
  </p:sldMasterIdLst>
  <p:notesMasterIdLst>
    <p:notesMasterId r:id="rId13"/>
  </p:notesMasterIdLst>
  <p:handoutMasterIdLst>
    <p:handoutMasterId r:id="rId98"/>
  </p:handoutMasterIdLst>
  <p:sldIdLst>
    <p:sldId id="257" r:id="rId12"/>
    <p:sldId id="258" r:id="rId14"/>
    <p:sldId id="367" r:id="rId15"/>
    <p:sldId id="368" r:id="rId16"/>
    <p:sldId id="370" r:id="rId17"/>
    <p:sldId id="371" r:id="rId18"/>
    <p:sldId id="372" r:id="rId19"/>
    <p:sldId id="373" r:id="rId20"/>
    <p:sldId id="374" r:id="rId21"/>
    <p:sldId id="375" r:id="rId22"/>
    <p:sldId id="376" r:id="rId23"/>
    <p:sldId id="377" r:id="rId24"/>
    <p:sldId id="378" r:id="rId25"/>
    <p:sldId id="379" r:id="rId26"/>
    <p:sldId id="380" r:id="rId27"/>
    <p:sldId id="381" r:id="rId28"/>
    <p:sldId id="382" r:id="rId29"/>
    <p:sldId id="383" r:id="rId30"/>
    <p:sldId id="384" r:id="rId31"/>
    <p:sldId id="385" r:id="rId32"/>
    <p:sldId id="386" r:id="rId33"/>
    <p:sldId id="387" r:id="rId34"/>
    <p:sldId id="484" r:id="rId35"/>
    <p:sldId id="388" r:id="rId36"/>
    <p:sldId id="389" r:id="rId37"/>
    <p:sldId id="390" r:id="rId38"/>
    <p:sldId id="391" r:id="rId39"/>
    <p:sldId id="392" r:id="rId40"/>
    <p:sldId id="393" r:id="rId41"/>
    <p:sldId id="394" r:id="rId42"/>
    <p:sldId id="395" r:id="rId43"/>
    <p:sldId id="396" r:id="rId44"/>
    <p:sldId id="397" r:id="rId45"/>
    <p:sldId id="398" r:id="rId46"/>
    <p:sldId id="399" r:id="rId47"/>
    <p:sldId id="400" r:id="rId48"/>
    <p:sldId id="401" r:id="rId49"/>
    <p:sldId id="402" r:id="rId50"/>
    <p:sldId id="403" r:id="rId51"/>
    <p:sldId id="404" r:id="rId52"/>
    <p:sldId id="405" r:id="rId53"/>
    <p:sldId id="406" r:id="rId54"/>
    <p:sldId id="407" r:id="rId55"/>
    <p:sldId id="408" r:id="rId56"/>
    <p:sldId id="409" r:id="rId57"/>
    <p:sldId id="410" r:id="rId58"/>
    <p:sldId id="411" r:id="rId59"/>
    <p:sldId id="412" r:id="rId60"/>
    <p:sldId id="413" r:id="rId61"/>
    <p:sldId id="414" r:id="rId62"/>
    <p:sldId id="415" r:id="rId63"/>
    <p:sldId id="416" r:id="rId64"/>
    <p:sldId id="417" r:id="rId65"/>
    <p:sldId id="418" r:id="rId66"/>
    <p:sldId id="419" r:id="rId67"/>
    <p:sldId id="420" r:id="rId68"/>
    <p:sldId id="421" r:id="rId69"/>
    <p:sldId id="422" r:id="rId70"/>
    <p:sldId id="423" r:id="rId71"/>
    <p:sldId id="424" r:id="rId72"/>
    <p:sldId id="425" r:id="rId73"/>
    <p:sldId id="426" r:id="rId74"/>
    <p:sldId id="427" r:id="rId75"/>
    <p:sldId id="428" r:id="rId76"/>
    <p:sldId id="429" r:id="rId77"/>
    <p:sldId id="430" r:id="rId78"/>
    <p:sldId id="431" r:id="rId79"/>
    <p:sldId id="432" r:id="rId80"/>
    <p:sldId id="434" r:id="rId81"/>
    <p:sldId id="435" r:id="rId82"/>
    <p:sldId id="436" r:id="rId83"/>
    <p:sldId id="437" r:id="rId84"/>
    <p:sldId id="438" r:id="rId85"/>
    <p:sldId id="439" r:id="rId86"/>
    <p:sldId id="440" r:id="rId87"/>
    <p:sldId id="442" r:id="rId88"/>
    <p:sldId id="443" r:id="rId89"/>
    <p:sldId id="444" r:id="rId90"/>
    <p:sldId id="544" r:id="rId91"/>
    <p:sldId id="545" r:id="rId92"/>
    <p:sldId id="547" r:id="rId93"/>
    <p:sldId id="548" r:id="rId94"/>
    <p:sldId id="447" r:id="rId95"/>
    <p:sldId id="482" r:id="rId96"/>
    <p:sldId id="480" r:id="rId97"/>
  </p:sldIdLst>
  <p:sldSz cx="9144000" cy="6858000" type="screen4x3"/>
  <p:notesSz cx="6858000" cy="9144000"/>
  <p:custDataLst>
    <p:tags r:id="rId102"/>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12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00FF"/>
    <a:srgbClr val="DDDDDD"/>
    <a:srgbClr val="663300"/>
    <a:srgbClr val="000066"/>
    <a:srgbClr val="CC0000"/>
    <a:srgbClr val="8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750"/>
    <p:restoredTop sz="93010"/>
  </p:normalViewPr>
  <p:slideViewPr>
    <p:cSldViewPr showGuides="1">
      <p:cViewPr varScale="1">
        <p:scale>
          <a:sx n="63" d="100"/>
          <a:sy n="63" d="100"/>
        </p:scale>
        <p:origin x="1176" y="72"/>
      </p:cViewPr>
      <p:guideLst>
        <p:guide orient="horz" pos="2125"/>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6552"/>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2" Type="http://schemas.openxmlformats.org/officeDocument/2006/relationships/tags" Target="tags/tag2.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FE4A875-547B-47E9-858A-F61392B7EC20}"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484"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1B2C6AB-4654-4C63-BB61-C66AF4D3C051}"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
        <p:nvSpPr>
          <p:cNvPr id="22530" name="Rectangle 2"/>
          <p:cNvSpPr>
            <a:spLocks noTextEdit="1"/>
          </p:cNvSpPr>
          <p:nvPr>
            <p:ph type="sldImg"/>
          </p:nvPr>
        </p:nvSpPr>
        <p:spPr>
          <a:solidFill>
            <a:srgbClr val="FFFFFF"/>
          </a:solidFill>
        </p:spPr>
      </p:sp>
      <p:sp>
        <p:nvSpPr>
          <p:cNvPr id="22531"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r>
              <a:rPr lang="zh-CN" altLang="en-US" dirty="0"/>
              <a:t>欢迎辞</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机器指令：计算机硬件只能理解机器语言程序，用高级语言编写的程序需要编译或解释成机器指令的程序才能</a:t>
            </a:r>
            <a:r>
              <a:rPr lang="zh-CN" altLang="en-US"/>
              <a:t>执行。</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幻灯片图像占位符 1"/>
          <p:cNvSpPr>
            <a:spLocks noGrp="1" noRot="1" noChangeAspect="1" noTextEdit="1"/>
          </p:cNvSpPr>
          <p:nvPr>
            <p:ph type="sldImg"/>
          </p:nvPr>
        </p:nvSpPr>
        <p:spPr/>
      </p:sp>
      <p:sp>
        <p:nvSpPr>
          <p:cNvPr id="32770" name="备注占位符 2"/>
          <p:cNvSpPr>
            <a:spLocks noGrp="1"/>
          </p:cNvSpPr>
          <p:nvPr>
            <p:ph type="body"/>
          </p:nvPr>
        </p:nvSpPr>
        <p:spPr/>
        <p:txBody>
          <a:bodyPr wrap="square" lIns="91440" tIns="45720" rIns="91440" bIns="45720" anchor="t" anchorCtr="0"/>
          <a:p>
            <a:pPr lvl="0"/>
            <a:endParaRPr lang="zh-CN" altLang="en-US" dirty="0"/>
          </a:p>
        </p:txBody>
      </p:sp>
      <p:sp>
        <p:nvSpPr>
          <p:cNvPr id="3277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533400"/>
            <a:ext cx="60198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533400"/>
            <a:ext cx="60198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6.xml"/><Relationship Id="rId8" Type="http://schemas.openxmlformats.org/officeDocument/2006/relationships/slideLayout" Target="../slideLayouts/slideLayout55.xml"/><Relationship Id="rId7" Type="http://schemas.openxmlformats.org/officeDocument/2006/relationships/slideLayout" Target="../slideLayouts/slideLayout54.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 Id="rId3" Type="http://schemas.openxmlformats.org/officeDocument/2006/relationships/slideLayout" Target="../slideLayouts/slideLayout50.xml"/><Relationship Id="rId2" Type="http://schemas.openxmlformats.org/officeDocument/2006/relationships/slideLayout" Target="../slideLayouts/slideLayout49.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59.xml"/><Relationship Id="rId11" Type="http://schemas.openxmlformats.org/officeDocument/2006/relationships/slideLayout" Target="../slideLayouts/slideLayout58.xml"/><Relationship Id="rId10" Type="http://schemas.openxmlformats.org/officeDocument/2006/relationships/slideLayout" Target="../slideLayouts/slideLayout57.xml"/><Relationship Id="rId1"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 Type="http://schemas.openxmlformats.org/officeDocument/2006/relationships/slideLayout" Target="../slideLayouts/slideLayout61.xml"/><Relationship Id="rId14" Type="http://schemas.openxmlformats.org/officeDocument/2006/relationships/theme" Target="../theme/theme6.xml"/><Relationship Id="rId13" Type="http://schemas.openxmlformats.org/officeDocument/2006/relationships/image" Target="../media/image1.jpeg"/><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0.xml"/><Relationship Id="rId8" Type="http://schemas.openxmlformats.org/officeDocument/2006/relationships/slideLayout" Target="../slideLayouts/slideLayout79.xml"/><Relationship Id="rId7" Type="http://schemas.openxmlformats.org/officeDocument/2006/relationships/slideLayout" Target="../slideLayouts/slideLayout78.xml"/><Relationship Id="rId6" Type="http://schemas.openxmlformats.org/officeDocument/2006/relationships/slideLayout" Target="../slideLayouts/slideLayout77.xml"/><Relationship Id="rId5" Type="http://schemas.openxmlformats.org/officeDocument/2006/relationships/slideLayout" Target="../slideLayouts/slideLayout76.xml"/><Relationship Id="rId4" Type="http://schemas.openxmlformats.org/officeDocument/2006/relationships/slideLayout" Target="../slideLayouts/slideLayout75.xml"/><Relationship Id="rId3" Type="http://schemas.openxmlformats.org/officeDocument/2006/relationships/slideLayout" Target="../slideLayouts/slideLayout74.xml"/><Relationship Id="rId2" Type="http://schemas.openxmlformats.org/officeDocument/2006/relationships/slideLayout" Target="../slideLayouts/slideLayout73.xml"/><Relationship Id="rId13" Type="http://schemas.openxmlformats.org/officeDocument/2006/relationships/theme" Target="../theme/theme7.xml"/><Relationship Id="rId12" Type="http://schemas.openxmlformats.org/officeDocument/2006/relationships/image" Target="../media/image2.jpeg"/><Relationship Id="rId11" Type="http://schemas.openxmlformats.org/officeDocument/2006/relationships/slideLayout" Target="../slideLayouts/slideLayout82.xml"/><Relationship Id="rId10" Type="http://schemas.openxmlformats.org/officeDocument/2006/relationships/slideLayout" Target="../slideLayouts/slideLayout81.xml"/><Relationship Id="rId1" Type="http://schemas.openxmlformats.org/officeDocument/2006/relationships/slideLayout" Target="../slideLayouts/slideLayout72.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1.xml"/><Relationship Id="rId8" Type="http://schemas.openxmlformats.org/officeDocument/2006/relationships/slideLayout" Target="../slideLayouts/slideLayout90.xml"/><Relationship Id="rId7" Type="http://schemas.openxmlformats.org/officeDocument/2006/relationships/slideLayout" Target="../slideLayouts/slideLayout89.xml"/><Relationship Id="rId6" Type="http://schemas.openxmlformats.org/officeDocument/2006/relationships/slideLayout" Target="../slideLayouts/slideLayout88.xml"/><Relationship Id="rId5" Type="http://schemas.openxmlformats.org/officeDocument/2006/relationships/slideLayout" Target="../slideLayouts/slideLayout87.xml"/><Relationship Id="rId4" Type="http://schemas.openxmlformats.org/officeDocument/2006/relationships/slideLayout" Target="../slideLayouts/slideLayout86.xml"/><Relationship Id="rId3" Type="http://schemas.openxmlformats.org/officeDocument/2006/relationships/slideLayout" Target="../slideLayouts/slideLayout85.xml"/><Relationship Id="rId2" Type="http://schemas.openxmlformats.org/officeDocument/2006/relationships/slideLayout" Target="../slideLayouts/slideLayout84.xml"/><Relationship Id="rId14" Type="http://schemas.openxmlformats.org/officeDocument/2006/relationships/theme" Target="../theme/theme8.xml"/><Relationship Id="rId13" Type="http://schemas.openxmlformats.org/officeDocument/2006/relationships/image" Target="../media/image1.jpeg"/><Relationship Id="rId12" Type="http://schemas.openxmlformats.org/officeDocument/2006/relationships/slideLayout" Target="../slideLayouts/slideLayout94.xml"/><Relationship Id="rId11" Type="http://schemas.openxmlformats.org/officeDocument/2006/relationships/slideLayout" Target="../slideLayouts/slideLayout93.xml"/><Relationship Id="rId10" Type="http://schemas.openxmlformats.org/officeDocument/2006/relationships/slideLayout" Target="../slideLayouts/slideLayout92.xml"/><Relationship Id="rId1" Type="http://schemas.openxmlformats.org/officeDocument/2006/relationships/slideLayout" Target="../slideLayouts/slideLayout83.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3.xml"/><Relationship Id="rId8" Type="http://schemas.openxmlformats.org/officeDocument/2006/relationships/slideLayout" Target="../slideLayouts/slideLayout102.xml"/><Relationship Id="rId7" Type="http://schemas.openxmlformats.org/officeDocument/2006/relationships/slideLayout" Target="../slideLayouts/slideLayout101.xml"/><Relationship Id="rId6" Type="http://schemas.openxmlformats.org/officeDocument/2006/relationships/slideLayout" Target="../slideLayouts/slideLayout100.xml"/><Relationship Id="rId5" Type="http://schemas.openxmlformats.org/officeDocument/2006/relationships/slideLayout" Target="../slideLayouts/slideLayout99.xml"/><Relationship Id="rId4" Type="http://schemas.openxmlformats.org/officeDocument/2006/relationships/slideLayout" Target="../slideLayouts/slideLayout98.xml"/><Relationship Id="rId3" Type="http://schemas.openxmlformats.org/officeDocument/2006/relationships/slideLayout" Target="../slideLayouts/slideLayout97.xml"/><Relationship Id="rId2" Type="http://schemas.openxmlformats.org/officeDocument/2006/relationships/slideLayout" Target="../slideLayouts/slideLayout96.xml"/><Relationship Id="rId14" Type="http://schemas.openxmlformats.org/officeDocument/2006/relationships/theme" Target="../theme/theme9.xml"/><Relationship Id="rId13" Type="http://schemas.openxmlformats.org/officeDocument/2006/relationships/image" Target="../media/image1.jpeg"/><Relationship Id="rId12" Type="http://schemas.openxmlformats.org/officeDocument/2006/relationships/slideLayout" Target="../slideLayouts/slideLayout106.xml"/><Relationship Id="rId11" Type="http://schemas.openxmlformats.org/officeDocument/2006/relationships/slideLayout" Target="../slideLayouts/slideLayout105.xml"/><Relationship Id="rId10" Type="http://schemas.openxmlformats.org/officeDocument/2006/relationships/slideLayout" Target="../slideLayouts/slideLayout104.xml"/><Relationship Id="rId1" Type="http://schemas.openxmlformats.org/officeDocument/2006/relationships/slideLayout" Target="../slideLayouts/slideLayout95.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5.xml"/><Relationship Id="rId8" Type="http://schemas.openxmlformats.org/officeDocument/2006/relationships/slideLayout" Target="../slideLayouts/slideLayout114.xml"/><Relationship Id="rId7" Type="http://schemas.openxmlformats.org/officeDocument/2006/relationships/slideLayout" Target="../slideLayouts/slideLayout113.xml"/><Relationship Id="rId6" Type="http://schemas.openxmlformats.org/officeDocument/2006/relationships/slideLayout" Target="../slideLayouts/slideLayout112.xml"/><Relationship Id="rId5" Type="http://schemas.openxmlformats.org/officeDocument/2006/relationships/slideLayout" Target="../slideLayouts/slideLayout111.xml"/><Relationship Id="rId4" Type="http://schemas.openxmlformats.org/officeDocument/2006/relationships/slideLayout" Target="../slideLayouts/slideLayout110.xml"/><Relationship Id="rId3" Type="http://schemas.openxmlformats.org/officeDocument/2006/relationships/slideLayout" Target="../slideLayouts/slideLayout109.xml"/><Relationship Id="rId2" Type="http://schemas.openxmlformats.org/officeDocument/2006/relationships/slideLayout" Target="../slideLayouts/slideLayout108.xml"/><Relationship Id="rId14" Type="http://schemas.openxmlformats.org/officeDocument/2006/relationships/theme" Target="../theme/theme10.xml"/><Relationship Id="rId13" Type="http://schemas.openxmlformats.org/officeDocument/2006/relationships/image" Target="../media/image1.jpeg"/><Relationship Id="rId12" Type="http://schemas.openxmlformats.org/officeDocument/2006/relationships/slideLayout" Target="../slideLayouts/slideLayout118.xml"/><Relationship Id="rId11" Type="http://schemas.openxmlformats.org/officeDocument/2006/relationships/slideLayout" Target="../slideLayouts/slideLayout117.xml"/><Relationship Id="rId10" Type="http://schemas.openxmlformats.org/officeDocument/2006/relationships/slideLayout" Target="../slideLayouts/slideLayout116.xml"/><Relationship Id="rId1"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p:nvPr>
        </p:nvSpPr>
        <p:spPr>
          <a:xfrm>
            <a:off x="457200" y="1447800"/>
            <a:ext cx="8229600" cy="48006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9A0AC0B-D3F3-4C6A-9B52-266F1124D0F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6146"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7170" name="Rectangle 3"/>
          <p:cNvSpPr>
            <a:spLocks noGrp="1"/>
          </p:cNvSpPr>
          <p:nvPr>
            <p:ph type="body"/>
          </p:nvPr>
        </p:nvSpPr>
        <p:spPr>
          <a:xfrm>
            <a:off x="457200" y="1447800"/>
            <a:ext cx="8229600" cy="48006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717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D0743ACE-1C22-4DD5-BB08-365FA4BD1B0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8194"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9218"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42"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1.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8.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9.em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0.em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1.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1.xml"/><Relationship Id="rId2" Type="http://schemas.openxmlformats.org/officeDocument/2006/relationships/image" Target="../media/image17.wmf"/><Relationship Id="rId1"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tags" Target="../tags/tag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灯片编号占位符 5"/>
          <p:cNvSpPr txBox="1">
            <a:spLocks noGrp="1"/>
          </p:cNvSpPr>
          <p:nvPr>
            <p:ph type="sldNum" sz="quarter"/>
          </p:nvPr>
        </p:nvSpPr>
        <p:spPr>
          <a:xfrm>
            <a:off x="7239000" y="6248400"/>
            <a:ext cx="1905000" cy="457200"/>
          </a:xfrm>
          <a:prstGeom prst="rect">
            <a:avLst/>
          </a:prstGeom>
          <a:noFill/>
          <a:ln w="9525">
            <a:noFill/>
          </a:ln>
        </p:spPr>
        <p:txBody>
          <a:bodyPr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ctr"/>
            <a:fld id="{9A0DB2DC-4C9A-4742-B13C-FB6460FD3503}" type="slidenum">
              <a:rPr lang="zh-CN" altLang="en-US" sz="1800" dirty="0">
                <a:solidFill>
                  <a:schemeClr val="tx1"/>
                </a:solidFill>
                <a:latin typeface="Times New Roman" panose="02020603050405020304" pitchFamily="18" charset="0"/>
                <a:ea typeface="宋体" panose="02010600030101010101" pitchFamily="2" charset="-122"/>
              </a:rPr>
            </a:fld>
            <a:endParaRPr lang="zh-CN" altLang="en-US" sz="1800" dirty="0">
              <a:solidFill>
                <a:schemeClr val="tx1"/>
              </a:solidFill>
              <a:latin typeface="Times New Roman" panose="02020603050405020304" pitchFamily="18" charset="0"/>
              <a:ea typeface="宋体" panose="02010600030101010101" pitchFamily="2" charset="-122"/>
            </a:endParaRPr>
          </a:p>
        </p:txBody>
      </p:sp>
      <p:sp>
        <p:nvSpPr>
          <p:cNvPr id="5" name="文本框 4"/>
          <p:cNvSpPr txBox="1"/>
          <p:nvPr/>
        </p:nvSpPr>
        <p:spPr>
          <a:xfrm>
            <a:off x="539750" y="1917065"/>
            <a:ext cx="8336280" cy="2707005"/>
          </a:xfrm>
          <a:prstGeom prst="rect">
            <a:avLst/>
          </a:prstGeom>
          <a:noFill/>
        </p:spPr>
        <p:txBody>
          <a:bodyPr wrap="square" rtlCol="0" anchor="t">
            <a:spAutoFit/>
          </a:bodyPr>
          <a:p>
            <a:pPr marL="0" marR="0" lvl="0" indent="0" algn="l" defTabSz="914400" rtl="0" eaLnBrk="1" fontAlgn="base" latinLnBrk="0" hangingPunct="1">
              <a:lnSpc>
                <a:spcPct val="100000"/>
              </a:lnSpc>
              <a:spcBef>
                <a:spcPct val="0"/>
              </a:spcBef>
              <a:spcAft>
                <a:spcPct val="0"/>
              </a:spcAft>
              <a:buClrTx/>
              <a:buSzTx/>
              <a:buFontTx/>
              <a:buNone/>
              <a:defRPr/>
            </a:pPr>
            <a: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t>中国计算机学会</a:t>
            </a:r>
            <a:b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t>“21世纪大学本科计算机专业系列教材”</a:t>
            </a: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rPr>
              <a:t>计算机组成原理</a:t>
            </a:r>
            <a:endPar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noChangeArrowheads="1"/>
          </p:cNvSpPr>
          <p:nvPr>
            <p:ph type="ctrTitle"/>
          </p:nvPr>
        </p:nvSpPr>
        <p:spPr>
          <a:xfrm>
            <a:off x="762000" y="1600200"/>
            <a:ext cx="7772400" cy="3268663"/>
          </a:xfrm>
        </p:spPr>
        <p:txBody>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en-US" sz="8000"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rPr>
              <a:t>第3章</a:t>
            </a:r>
            <a:br>
              <a:rPr kumimoji="0" lang="zh-CN" altLang="en-US" sz="8000"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rPr>
            </a:br>
            <a:r>
              <a:rPr kumimoji="0" lang="zh-CN" altLang="en-US" sz="8000"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rPr>
              <a:t>    指令系统</a:t>
            </a:r>
            <a:endParaRPr kumimoji="0" lang="en-US" altLang="zh-CN" sz="8000"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endParaRPr>
          </a:p>
        </p:txBody>
      </p:sp>
      <p:sp>
        <p:nvSpPr>
          <p:cNvPr id="23554" name="灯片编号占位符 5"/>
          <p:cNvSpPr txBox="1">
            <a:spLocks noGrp="1"/>
          </p:cNvSpPr>
          <p:nvPr>
            <p:ph type="sldNum" sz="quarter"/>
          </p:nvPr>
        </p:nvSpPr>
        <p:spPr>
          <a:xfrm>
            <a:off x="7239000" y="6248400"/>
            <a:ext cx="1905000" cy="457200"/>
          </a:xfrm>
          <a:prstGeom prst="rect">
            <a:avLst/>
          </a:prstGeom>
          <a:noFill/>
          <a:ln w="9525">
            <a:noFill/>
          </a:ln>
        </p:spPr>
        <p:txBody>
          <a:bodyPr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ctr"/>
            <a:fld id="{9A0DB2DC-4C9A-4742-B13C-FB6460FD3503}" type="slidenum">
              <a:rPr lang="zh-CN" altLang="en-US" sz="1800" dirty="0">
                <a:solidFill>
                  <a:schemeClr val="tx1"/>
                </a:solidFill>
                <a:latin typeface="Times New Roman" panose="02020603050405020304" pitchFamily="18" charset="0"/>
                <a:ea typeface="宋体" panose="02010600030101010101" pitchFamily="2" charset="-122"/>
              </a:rPr>
            </a:fld>
            <a:endParaRPr lang="zh-CN" altLang="en-US" sz="18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xfrm>
            <a:off x="457200" y="274638"/>
            <a:ext cx="8229600" cy="777875"/>
          </a:xfrm>
          <a:noFill/>
          <a:ln>
            <a:noFill/>
          </a:ln>
        </p:spPr>
        <p:txBody>
          <a:bodyPr anchor="t" anchorCtr="0"/>
          <a:p>
            <a:pPr eaLnBrk="1" hangingPunct="1"/>
            <a:r>
              <a:rPr lang="zh-CN" altLang="en-US" dirty="0"/>
              <a:t>指令系统</a:t>
            </a:r>
            <a:endParaRPr lang="zh-CN" altLang="en-US" dirty="0"/>
          </a:p>
        </p:txBody>
      </p:sp>
      <p:sp>
        <p:nvSpPr>
          <p:cNvPr id="24578" name="内容占位符 2"/>
          <p:cNvSpPr>
            <a:spLocks noGrp="1"/>
          </p:cNvSpPr>
          <p:nvPr>
            <p:ph idx="1"/>
          </p:nvPr>
        </p:nvSpPr>
        <p:spPr>
          <a:noFill/>
          <a:ln>
            <a:noFill/>
          </a:ln>
        </p:spPr>
        <p:txBody>
          <a:bodyPr anchor="t" anchorCtr="0"/>
          <a:p>
            <a:pPr eaLnBrk="1" hangingPunct="1">
              <a:lnSpc>
                <a:spcPct val="110000"/>
              </a:lnSpc>
              <a:spcBef>
                <a:spcPts val="1800"/>
              </a:spcBef>
            </a:pPr>
            <a:r>
              <a:rPr lang="zh-CN" altLang="en-US" dirty="0"/>
              <a:t>指令、指令系统是计算机中最基本的概念。</a:t>
            </a:r>
            <a:endParaRPr lang="zh-CN" altLang="en-US" dirty="0"/>
          </a:p>
          <a:p>
            <a:pPr lvl="1" eaLnBrk="1" latinLnBrk="0" hangingPunct="1">
              <a:lnSpc>
                <a:spcPct val="110000"/>
              </a:lnSpc>
              <a:spcBef>
                <a:spcPts val="1200"/>
              </a:spcBef>
            </a:pPr>
            <a:r>
              <a:rPr lang="zh-CN" altLang="en-US" sz="2400" dirty="0"/>
              <a:t>指令：指示计算机执行某些操作的命令；</a:t>
            </a:r>
            <a:endParaRPr lang="zh-CN" altLang="en-US" sz="2400" dirty="0"/>
          </a:p>
          <a:p>
            <a:pPr lvl="1" eaLnBrk="1" latinLnBrk="0" hangingPunct="1">
              <a:lnSpc>
                <a:spcPct val="110000"/>
              </a:lnSpc>
              <a:spcBef>
                <a:spcPts val="1200"/>
              </a:spcBef>
            </a:pPr>
            <a:r>
              <a:rPr lang="zh-CN" altLang="en-US" sz="2400" dirty="0"/>
              <a:t>指令系统：</a:t>
            </a:r>
            <a:r>
              <a:rPr lang="zh-CN" altLang="en-US" sz="2400" dirty="0">
                <a:solidFill>
                  <a:srgbClr val="FF0000"/>
                </a:solidFill>
              </a:rPr>
              <a:t>一台计算机的所有机器指令的集合</a:t>
            </a:r>
            <a:r>
              <a:rPr lang="zh-CN" altLang="en-US" sz="2400" dirty="0"/>
              <a:t>。</a:t>
            </a:r>
            <a:endParaRPr lang="en-US" altLang="zh-CN" sz="2400" dirty="0"/>
          </a:p>
          <a:p>
            <a:pPr lvl="1" eaLnBrk="1" hangingPunct="1">
              <a:lnSpc>
                <a:spcPct val="110000"/>
              </a:lnSpc>
              <a:spcBef>
                <a:spcPts val="1800"/>
              </a:spcBef>
            </a:pPr>
            <a:r>
              <a:rPr lang="zh-CN" altLang="en-US" sz="2400" dirty="0"/>
              <a:t>指令系统位于</a:t>
            </a:r>
            <a:r>
              <a:rPr lang="zh-CN" altLang="en-US" sz="2400" dirty="0">
                <a:solidFill>
                  <a:srgbClr val="FF0000"/>
                </a:solidFill>
              </a:rPr>
              <a:t>硬件和软件的交界面上</a:t>
            </a:r>
            <a:r>
              <a:rPr lang="zh-CN" altLang="en-US" dirty="0"/>
              <a:t>。</a:t>
            </a:r>
            <a:endParaRPr lang="en-US" altLang="zh-CN" dirty="0"/>
          </a:p>
          <a:p>
            <a:pPr eaLnBrk="1" latinLnBrk="0" hangingPunct="1">
              <a:lnSpc>
                <a:spcPct val="110000"/>
              </a:lnSpc>
              <a:spcBef>
                <a:spcPts val="2400"/>
              </a:spcBef>
            </a:pPr>
            <a:r>
              <a:rPr lang="zh-CN" altLang="en-US" dirty="0"/>
              <a:t>本章讨论一般计算机的指令系统涉及的基本问题。 </a:t>
            </a:r>
            <a:endParaRPr lang="zh-CN" altLang="en-US" dirty="0"/>
          </a:p>
          <a:p>
            <a:pPr eaLnBrk="1" hangingPunct="1">
              <a:spcBef>
                <a:spcPts val="1800"/>
              </a:spcBef>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本章学习内容</a:t>
            </a:r>
            <a:endParaRPr lang="zh-CN" altLang="en-US" dirty="0">
              <a:latin typeface="Times New Roman" panose="02020603050405020304" pitchFamily="18" charset="0"/>
              <a:ea typeface="Times New Roman" panose="02020603050405020304" pitchFamily="18" charset="0"/>
            </a:endParaRPr>
          </a:p>
        </p:txBody>
      </p:sp>
      <p:sp>
        <p:nvSpPr>
          <p:cNvPr id="25602" name="内容占位符 2"/>
          <p:cNvSpPr>
            <a:spLocks noGrp="1"/>
          </p:cNvSpPr>
          <p:nvPr>
            <p:ph idx="1"/>
          </p:nvPr>
        </p:nvSpPr>
        <p:spPr>
          <a:xfrm>
            <a:off x="1476375" y="1557338"/>
            <a:ext cx="6705600" cy="4525962"/>
          </a:xfrm>
          <a:noFill/>
          <a:ln>
            <a:noFill/>
          </a:ln>
        </p:spPr>
        <p:txBody>
          <a:bodyPr anchor="t" anchorCtr="0"/>
          <a:p>
            <a:pPr marL="0" indent="0" eaLnBrk="1" hangingPunct="1">
              <a:lnSpc>
                <a:spcPct val="150000"/>
              </a:lnSpc>
              <a:buNone/>
            </a:pPr>
            <a:r>
              <a:rPr lang="en-US" altLang="zh-CN" sz="3200" dirty="0">
                <a:latin typeface="Times New Roman" panose="02020603050405020304" pitchFamily="18" charset="0"/>
              </a:rPr>
              <a:t>3.1 </a:t>
            </a:r>
            <a:r>
              <a:rPr lang="zh-CN" altLang="en-US" sz="3200" dirty="0">
                <a:latin typeface="Times New Roman" panose="02020603050405020304" pitchFamily="18" charset="0"/>
              </a:rPr>
              <a:t>指令格式</a:t>
            </a:r>
            <a:endParaRPr lang="zh-CN" altLang="en-US" sz="3200" dirty="0">
              <a:latin typeface="Times New Roman" panose="02020603050405020304" pitchFamily="18" charset="0"/>
            </a:endParaRPr>
          </a:p>
          <a:p>
            <a:pPr marL="0" indent="0" eaLnBrk="1" hangingPunct="1">
              <a:lnSpc>
                <a:spcPct val="150000"/>
              </a:lnSpc>
              <a:buNone/>
            </a:pPr>
            <a:r>
              <a:rPr lang="en-US" altLang="zh-CN" sz="3200" dirty="0">
                <a:latin typeface="Times New Roman" panose="02020603050405020304" pitchFamily="18" charset="0"/>
              </a:rPr>
              <a:t>3.2 </a:t>
            </a:r>
            <a:r>
              <a:rPr lang="zh-CN" altLang="en-US" sz="3200" dirty="0">
                <a:latin typeface="Times New Roman" panose="02020603050405020304" pitchFamily="18" charset="0"/>
              </a:rPr>
              <a:t>寻址技术</a:t>
            </a:r>
            <a:endParaRPr lang="zh-CN" altLang="en-US" sz="3200" dirty="0">
              <a:latin typeface="Times New Roman" panose="02020603050405020304" pitchFamily="18" charset="0"/>
            </a:endParaRPr>
          </a:p>
          <a:p>
            <a:pPr marL="0" indent="0" eaLnBrk="1" hangingPunct="1">
              <a:lnSpc>
                <a:spcPct val="150000"/>
              </a:lnSpc>
              <a:buNone/>
            </a:pPr>
            <a:r>
              <a:rPr lang="en-US" altLang="zh-CN" sz="3200" dirty="0">
                <a:latin typeface="Times New Roman" panose="02020603050405020304" pitchFamily="18" charset="0"/>
              </a:rPr>
              <a:t>3.3 </a:t>
            </a:r>
            <a:r>
              <a:rPr lang="zh-CN" altLang="en-US" sz="3200" dirty="0">
                <a:latin typeface="Times New Roman" panose="02020603050405020304" pitchFamily="18" charset="0"/>
              </a:rPr>
              <a:t>堆栈与堆栈操作</a:t>
            </a:r>
            <a:endParaRPr lang="zh-CN" altLang="en-US" sz="3200" dirty="0">
              <a:latin typeface="Times New Roman" panose="02020603050405020304" pitchFamily="18" charset="0"/>
            </a:endParaRPr>
          </a:p>
          <a:p>
            <a:pPr marL="0" indent="0" eaLnBrk="1" hangingPunct="1">
              <a:lnSpc>
                <a:spcPct val="150000"/>
              </a:lnSpc>
              <a:buNone/>
            </a:pPr>
            <a:r>
              <a:rPr lang="en-US" altLang="zh-CN" sz="3200" dirty="0">
                <a:latin typeface="Times New Roman" panose="02020603050405020304" pitchFamily="18" charset="0"/>
              </a:rPr>
              <a:t>3.4 </a:t>
            </a:r>
            <a:r>
              <a:rPr lang="zh-CN" altLang="en-US" sz="3200" dirty="0">
                <a:latin typeface="Times New Roman" panose="02020603050405020304" pitchFamily="18" charset="0"/>
              </a:rPr>
              <a:t>指令类型</a:t>
            </a:r>
            <a:endParaRPr lang="zh-CN" altLang="en-US" sz="3200" dirty="0">
              <a:latin typeface="Times New Roman" panose="02020603050405020304" pitchFamily="18" charset="0"/>
            </a:endParaRPr>
          </a:p>
          <a:p>
            <a:pPr marL="0" indent="0" eaLnBrk="1" hangingPunct="1">
              <a:lnSpc>
                <a:spcPct val="150000"/>
              </a:lnSpc>
              <a:buNone/>
            </a:pPr>
            <a:r>
              <a:rPr lang="en-US" altLang="zh-CN" sz="3200" dirty="0">
                <a:latin typeface="Times New Roman" panose="02020603050405020304" pitchFamily="18" charset="0"/>
              </a:rPr>
              <a:t>3.5 指令系统的发展</a:t>
            </a:r>
            <a:endParaRPr lang="en-US" altLang="zh-CN" sz="3200"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3.1  </a:t>
            </a:r>
            <a:r>
              <a:rPr lang="zh-CN" altLang="en-US" dirty="0">
                <a:latin typeface="Times New Roman" panose="02020603050405020304" pitchFamily="18" charset="0"/>
              </a:rPr>
              <a:t>指令格式</a:t>
            </a:r>
            <a:endParaRPr lang="zh-CN" altLang="en-US" dirty="0">
              <a:latin typeface="Times New Roman" panose="02020603050405020304" pitchFamily="18" charset="0"/>
              <a:ea typeface="Times New Roman" panose="02020603050405020304" pitchFamily="18" charset="0"/>
            </a:endParaRPr>
          </a:p>
        </p:txBody>
      </p:sp>
      <p:sp>
        <p:nvSpPr>
          <p:cNvPr id="26626" name="内容占位符 2"/>
          <p:cNvSpPr>
            <a:spLocks noGrp="1"/>
          </p:cNvSpPr>
          <p:nvPr>
            <p:ph idx="1"/>
          </p:nvPr>
        </p:nvSpPr>
        <p:spPr>
          <a:xfrm>
            <a:off x="457200" y="1600200"/>
            <a:ext cx="8229600" cy="4700588"/>
          </a:xfrm>
          <a:noFill/>
          <a:ln>
            <a:noFill/>
          </a:ln>
        </p:spPr>
        <p:txBody>
          <a:bodyPr anchor="t" anchorCtr="0"/>
          <a:p>
            <a:pPr eaLnBrk="1" hangingPunct="1">
              <a:spcBef>
                <a:spcPts val="1800"/>
              </a:spcBef>
            </a:pPr>
            <a:r>
              <a:rPr lang="zh-CN" altLang="en-US" dirty="0"/>
              <a:t>指令格式的选择和确定涉及多方面的因素：</a:t>
            </a:r>
            <a:endParaRPr lang="zh-CN" altLang="en-US" dirty="0"/>
          </a:p>
          <a:p>
            <a:pPr lvl="1" eaLnBrk="1" hangingPunct="1">
              <a:lnSpc>
                <a:spcPct val="80000"/>
              </a:lnSpc>
              <a:spcBef>
                <a:spcPts val="1800"/>
              </a:spcBef>
            </a:pPr>
            <a:r>
              <a:rPr lang="zh-CN" altLang="en-US" dirty="0">
                <a:solidFill>
                  <a:srgbClr val="FF0000"/>
                </a:solidFill>
              </a:rPr>
              <a:t>指令长度；</a:t>
            </a:r>
            <a:endParaRPr lang="zh-CN" altLang="en-US" dirty="0">
              <a:solidFill>
                <a:srgbClr val="FF0000"/>
              </a:solidFill>
            </a:endParaRPr>
          </a:p>
          <a:p>
            <a:pPr lvl="1" eaLnBrk="1" hangingPunct="1">
              <a:lnSpc>
                <a:spcPct val="80000"/>
              </a:lnSpc>
              <a:spcBef>
                <a:spcPts val="1800"/>
              </a:spcBef>
            </a:pPr>
            <a:r>
              <a:rPr lang="zh-CN" altLang="en-US" dirty="0">
                <a:solidFill>
                  <a:srgbClr val="FF0000"/>
                </a:solidFill>
              </a:rPr>
              <a:t>地址码结构；</a:t>
            </a:r>
            <a:endParaRPr lang="zh-CN" altLang="en-US" dirty="0">
              <a:solidFill>
                <a:srgbClr val="FF0000"/>
              </a:solidFill>
            </a:endParaRPr>
          </a:p>
          <a:p>
            <a:pPr lvl="1" eaLnBrk="1" hangingPunct="1">
              <a:lnSpc>
                <a:spcPct val="80000"/>
              </a:lnSpc>
              <a:spcBef>
                <a:spcPts val="1800"/>
              </a:spcBef>
            </a:pPr>
            <a:r>
              <a:rPr lang="zh-CN" altLang="en-US" dirty="0">
                <a:solidFill>
                  <a:srgbClr val="FF0000"/>
                </a:solidFill>
              </a:rPr>
              <a:t>操作码结构。</a:t>
            </a:r>
            <a:endParaRPr lang="en-US" altLang="zh-CN" dirty="0"/>
          </a:p>
          <a:p>
            <a:pPr eaLnBrk="1" hangingPunct="1">
              <a:spcBef>
                <a:spcPts val="2400"/>
              </a:spcBef>
            </a:pPr>
            <a:r>
              <a:rPr lang="zh-CN" altLang="en-US" dirty="0"/>
              <a:t>相关方面：</a:t>
            </a:r>
            <a:endParaRPr lang="zh-CN" altLang="en-US" dirty="0"/>
          </a:p>
          <a:p>
            <a:pPr lvl="1" eaLnBrk="1" hangingPunct="1">
              <a:lnSpc>
                <a:spcPct val="80000"/>
              </a:lnSpc>
              <a:spcBef>
                <a:spcPts val="1800"/>
              </a:spcBef>
              <a:buSzTx/>
            </a:pPr>
            <a:r>
              <a:rPr lang="zh-CN" altLang="en-US" dirty="0">
                <a:solidFill>
                  <a:srgbClr val="FF0000"/>
                </a:solidFill>
              </a:rPr>
              <a:t>计算机系统结构；</a:t>
            </a:r>
            <a:endParaRPr lang="zh-CN" altLang="en-US" dirty="0">
              <a:solidFill>
                <a:srgbClr val="FF0000"/>
              </a:solidFill>
            </a:endParaRPr>
          </a:p>
          <a:p>
            <a:pPr lvl="1" eaLnBrk="1" hangingPunct="1">
              <a:lnSpc>
                <a:spcPct val="80000"/>
              </a:lnSpc>
              <a:spcBef>
                <a:spcPts val="1800"/>
              </a:spcBef>
              <a:buSzTx/>
            </a:pPr>
            <a:r>
              <a:rPr lang="zh-CN" altLang="en-US" dirty="0">
                <a:solidFill>
                  <a:srgbClr val="FF0000"/>
                </a:solidFill>
              </a:rPr>
              <a:t>数据表示方法；</a:t>
            </a:r>
            <a:endParaRPr lang="zh-CN" altLang="en-US" dirty="0">
              <a:solidFill>
                <a:srgbClr val="FF0000"/>
              </a:solidFill>
            </a:endParaRPr>
          </a:p>
          <a:p>
            <a:pPr lvl="1" eaLnBrk="1" hangingPunct="1">
              <a:lnSpc>
                <a:spcPct val="80000"/>
              </a:lnSpc>
              <a:spcBef>
                <a:spcPts val="1800"/>
              </a:spcBef>
              <a:buSzTx/>
            </a:pPr>
            <a:r>
              <a:rPr lang="zh-CN" altLang="en-US" dirty="0">
                <a:solidFill>
                  <a:srgbClr val="FF0000"/>
                </a:solidFill>
              </a:rPr>
              <a:t>指令功能设计。</a:t>
            </a:r>
            <a:endParaRPr lang="zh-CN" altLang="en-US" dirty="0">
              <a:solidFill>
                <a:srgbClr val="FF0000"/>
              </a:solidFill>
            </a:endParaRPr>
          </a:p>
          <a:p>
            <a:pPr eaLnBrk="1" hangingPunct="1">
              <a:spcBef>
                <a:spcPts val="1800"/>
              </a:spcBef>
            </a:pP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3.1.1 </a:t>
            </a:r>
            <a:r>
              <a:rPr lang="zh-CN" altLang="en-US" dirty="0">
                <a:latin typeface="Times New Roman" panose="02020603050405020304" pitchFamily="18" charset="0"/>
              </a:rPr>
              <a:t>机器指令的基本格式</a:t>
            </a:r>
            <a:endParaRPr lang="zh-CN" altLang="en-US" dirty="0">
              <a:latin typeface="Times New Roman" panose="02020603050405020304" pitchFamily="18" charset="0"/>
              <a:ea typeface="Times New Roman" panose="02020603050405020304" pitchFamily="18" charset="0"/>
            </a:endParaRPr>
          </a:p>
        </p:txBody>
      </p:sp>
      <p:sp>
        <p:nvSpPr>
          <p:cNvPr id="27650" name="内容占位符 2"/>
          <p:cNvSpPr>
            <a:spLocks noGrp="1"/>
          </p:cNvSpPr>
          <p:nvPr>
            <p:ph idx="1"/>
          </p:nvPr>
        </p:nvSpPr>
        <p:spPr>
          <a:xfrm>
            <a:off x="457200" y="1600200"/>
            <a:ext cx="8229600" cy="1003300"/>
          </a:xfrm>
          <a:noFill/>
          <a:ln>
            <a:noFill/>
          </a:ln>
        </p:spPr>
        <p:txBody>
          <a:bodyPr anchor="t" anchorCtr="0"/>
          <a:p>
            <a:pPr eaLnBrk="1" hangingPunct="1"/>
            <a:r>
              <a:rPr lang="zh-CN" altLang="en-US" dirty="0">
                <a:latin typeface="Times New Roman" panose="02020603050405020304" pitchFamily="18" charset="0"/>
              </a:rPr>
              <a:t>一条指令就是机器语言的一个语句，它是一组有意义的二进制代码。</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pic>
        <p:nvPicPr>
          <p:cNvPr id="27651" name="图片 3"/>
          <p:cNvPicPr>
            <a:picLocks noChangeAspect="1"/>
          </p:cNvPicPr>
          <p:nvPr/>
        </p:nvPicPr>
        <p:blipFill>
          <a:blip r:embed="rId1"/>
          <a:stretch>
            <a:fillRect/>
          </a:stretch>
        </p:blipFill>
        <p:spPr>
          <a:xfrm>
            <a:off x="971550" y="3068638"/>
            <a:ext cx="6696075" cy="593725"/>
          </a:xfrm>
          <a:prstGeom prst="rect">
            <a:avLst/>
          </a:prstGeom>
          <a:noFill/>
          <a:ln w="9525">
            <a:noFill/>
          </a:ln>
        </p:spPr>
      </p:pic>
      <p:sp>
        <p:nvSpPr>
          <p:cNvPr id="7" name="矩形 6"/>
          <p:cNvSpPr/>
          <p:nvPr/>
        </p:nvSpPr>
        <p:spPr>
          <a:xfrm>
            <a:off x="1522413" y="4183063"/>
            <a:ext cx="5595938" cy="523875"/>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操作码</a:t>
            </a:r>
            <a:r>
              <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：指明操作的性质及功能。</a:t>
            </a:r>
            <a:endPar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8" name="矩形 7"/>
          <p:cNvSpPr/>
          <p:nvPr/>
        </p:nvSpPr>
        <p:spPr>
          <a:xfrm>
            <a:off x="1528763" y="4910138"/>
            <a:ext cx="4873625" cy="522288"/>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地址码</a:t>
            </a:r>
            <a:r>
              <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：指明操作数的地址。</a:t>
            </a:r>
            <a:endPar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3.1.1 </a:t>
            </a:r>
            <a:r>
              <a:rPr lang="zh-CN" altLang="en-US" dirty="0">
                <a:latin typeface="Times New Roman" panose="02020603050405020304" pitchFamily="18" charset="0"/>
              </a:rPr>
              <a:t>机器指令的基本格式（续）</a:t>
            </a:r>
            <a:endParaRPr lang="zh-CN" altLang="en-US" dirty="0">
              <a:latin typeface="Times New Roman" panose="02020603050405020304" pitchFamily="18" charset="0"/>
              <a:ea typeface="Times New Roman" panose="02020603050405020304" pitchFamily="18" charset="0"/>
            </a:endParaRPr>
          </a:p>
        </p:txBody>
      </p:sp>
      <p:sp>
        <p:nvSpPr>
          <p:cNvPr id="28674" name="内容占位符 2"/>
          <p:cNvSpPr>
            <a:spLocks noGrp="1"/>
          </p:cNvSpPr>
          <p:nvPr>
            <p:ph idx="1"/>
          </p:nvPr>
        </p:nvSpPr>
        <p:spPr>
          <a:xfrm>
            <a:off x="457200" y="1600200"/>
            <a:ext cx="8229600" cy="4276725"/>
          </a:xfrm>
          <a:noFill/>
          <a:ln>
            <a:noFill/>
          </a:ln>
        </p:spPr>
        <p:txBody>
          <a:bodyPr anchor="t" anchorCtr="0"/>
          <a:p>
            <a:pPr eaLnBrk="1" hangingPunct="1">
              <a:spcBef>
                <a:spcPts val="1800"/>
              </a:spcBef>
            </a:pPr>
            <a:r>
              <a:rPr lang="zh-CN" altLang="en-US" dirty="0">
                <a:solidFill>
                  <a:srgbClr val="FF0000"/>
                </a:solidFill>
                <a:latin typeface="Times New Roman" panose="02020603050405020304" pitchFamily="18" charset="0"/>
              </a:rPr>
              <a:t>指令长度：</a:t>
            </a:r>
            <a:endParaRPr lang="zh-CN" altLang="en-US" dirty="0">
              <a:solidFill>
                <a:srgbClr val="FF0000"/>
              </a:solidFill>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一条指令中所包含的二进制代码的位数；</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取决于操作码的长度、操作数的个数及长度；</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可以等于、大于或小于机器字长。</a:t>
            </a:r>
            <a:endParaRPr lang="zh-CN" altLang="en-US" dirty="0">
              <a:latin typeface="Times New Roman" panose="02020603050405020304" pitchFamily="18" charset="0"/>
            </a:endParaRPr>
          </a:p>
          <a:p>
            <a:pPr eaLnBrk="1" latinLnBrk="0" hangingPunct="1">
              <a:spcBef>
                <a:spcPts val="2400"/>
              </a:spcBef>
            </a:pPr>
            <a:r>
              <a:rPr lang="zh-CN" altLang="en-US" dirty="0">
                <a:solidFill>
                  <a:srgbClr val="FF0000"/>
                </a:solidFill>
                <a:latin typeface="Times New Roman" panose="02020603050405020304" pitchFamily="18" charset="0"/>
              </a:rPr>
              <a:t>定长指令字结构：</a:t>
            </a:r>
            <a:r>
              <a:rPr lang="zh-CN" altLang="en-US" dirty="0">
                <a:latin typeface="Times New Roman" panose="02020603050405020304" pitchFamily="18" charset="0"/>
              </a:rPr>
              <a:t>所有指令长度都相等</a:t>
            </a:r>
            <a:endParaRPr lang="zh-CN" altLang="en-US" dirty="0">
              <a:latin typeface="Times New Roman" panose="02020603050405020304" pitchFamily="18" charset="0"/>
            </a:endParaRPr>
          </a:p>
          <a:p>
            <a:pPr eaLnBrk="1" latinLnBrk="0" hangingPunct="1">
              <a:spcBef>
                <a:spcPts val="2400"/>
              </a:spcBef>
            </a:pPr>
            <a:r>
              <a:rPr lang="zh-CN" altLang="en-US" dirty="0">
                <a:solidFill>
                  <a:srgbClr val="FF0000"/>
                </a:solidFill>
                <a:latin typeface="Times New Roman" panose="02020603050405020304" pitchFamily="18" charset="0"/>
              </a:rPr>
              <a:t>变长指令字结构：</a:t>
            </a:r>
            <a:r>
              <a:rPr lang="zh-CN" altLang="en-US" dirty="0">
                <a:latin typeface="Times New Roman" panose="02020603050405020304" pitchFamily="18" charset="0"/>
              </a:rPr>
              <a:t>各种指令长度随指令功能而异。</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3.1.2 </a:t>
            </a:r>
            <a:r>
              <a:rPr lang="zh-CN" altLang="en-US" dirty="0">
                <a:latin typeface="Times New Roman" panose="02020603050405020304" pitchFamily="18" charset="0"/>
              </a:rPr>
              <a:t>地址码结构</a:t>
            </a:r>
            <a:endParaRPr lang="zh-CN" altLang="en-US" dirty="0">
              <a:latin typeface="Times New Roman" panose="02020603050405020304" pitchFamily="18" charset="0"/>
              <a:ea typeface="Times New Roman" panose="02020603050405020304" pitchFamily="18" charset="0"/>
            </a:endParaRPr>
          </a:p>
        </p:txBody>
      </p:sp>
      <p:sp>
        <p:nvSpPr>
          <p:cNvPr id="29698" name="内容占位符 2"/>
          <p:cNvSpPr>
            <a:spLocks noGrp="1"/>
          </p:cNvSpPr>
          <p:nvPr>
            <p:ph idx="1"/>
          </p:nvPr>
        </p:nvSpPr>
        <p:spPr>
          <a:xfrm>
            <a:off x="457200" y="1417638"/>
            <a:ext cx="8229600" cy="4824412"/>
          </a:xfrm>
          <a:noFill/>
          <a:ln>
            <a:noFill/>
          </a:ln>
        </p:spPr>
        <p:txBody>
          <a:bodyPr anchor="t" anchorCtr="0"/>
          <a:p>
            <a:pPr eaLnBrk="1" hangingPunct="1">
              <a:lnSpc>
                <a:spcPct val="110000"/>
              </a:lnSpc>
            </a:pPr>
            <a:r>
              <a:rPr lang="zh-CN" altLang="en-US" dirty="0">
                <a:latin typeface="Times New Roman" panose="02020603050405020304" pitchFamily="18" charset="0"/>
              </a:rPr>
              <a:t>一条双操作数指令格式包含：</a:t>
            </a:r>
            <a:endParaRPr lang="zh-CN" altLang="en-US"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操作码；</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第一操作数地址：用</a:t>
            </a:r>
            <a:r>
              <a:rPr lang="en-US" altLang="zh-CN" sz="2400" dirty="0">
                <a:latin typeface="Times New Roman" panose="02020603050405020304" pitchFamily="18" charset="0"/>
              </a:rPr>
              <a:t>A1</a:t>
            </a:r>
            <a:r>
              <a:rPr lang="zh-CN" altLang="en-US" sz="2400" dirty="0">
                <a:latin typeface="Times New Roman" panose="02020603050405020304" pitchFamily="18" charset="0"/>
              </a:rPr>
              <a:t>表示；</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第二操作数地址：用</a:t>
            </a:r>
            <a:r>
              <a:rPr lang="en-US" altLang="zh-CN" sz="2400" dirty="0">
                <a:latin typeface="Times New Roman" panose="02020603050405020304" pitchFamily="18" charset="0"/>
              </a:rPr>
              <a:t>A2</a:t>
            </a:r>
            <a:r>
              <a:rPr lang="zh-CN" altLang="en-US" sz="2400" dirty="0">
                <a:latin typeface="Times New Roman" panose="02020603050405020304" pitchFamily="18" charset="0"/>
              </a:rPr>
              <a:t>表示；</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操作结果存放地址：用</a:t>
            </a:r>
            <a:r>
              <a:rPr lang="en-US" altLang="zh-CN" sz="2400" dirty="0">
                <a:latin typeface="Times New Roman" panose="02020603050405020304" pitchFamily="18" charset="0"/>
              </a:rPr>
              <a:t>A3</a:t>
            </a:r>
            <a:r>
              <a:rPr lang="zh-CN" altLang="en-US" sz="2400" dirty="0">
                <a:latin typeface="Times New Roman" panose="02020603050405020304" pitchFamily="18" charset="0"/>
              </a:rPr>
              <a:t>表示；</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下条将要执行指令的地址：用</a:t>
            </a:r>
            <a:r>
              <a:rPr lang="en-US" altLang="zh-CN" sz="2400" dirty="0">
                <a:latin typeface="Times New Roman" panose="02020603050405020304" pitchFamily="18" charset="0"/>
              </a:rPr>
              <a:t>A4</a:t>
            </a:r>
            <a:r>
              <a:rPr lang="zh-CN" altLang="en-US" sz="2400" dirty="0">
                <a:latin typeface="Times New Roman" panose="02020603050405020304" pitchFamily="18" charset="0"/>
              </a:rPr>
              <a:t>表示。</a:t>
            </a:r>
            <a:endParaRPr lang="zh-CN" altLang="en-US" dirty="0">
              <a:latin typeface="Times New Roman" panose="02020603050405020304" pitchFamily="18" charset="0"/>
            </a:endParaRPr>
          </a:p>
          <a:p>
            <a:pPr eaLnBrk="1" latinLnBrk="0" hangingPunct="1">
              <a:lnSpc>
                <a:spcPct val="110000"/>
              </a:lnSpc>
              <a:spcBef>
                <a:spcPts val="1800"/>
              </a:spcBef>
            </a:pPr>
            <a:r>
              <a:rPr lang="zh-CN" altLang="en-US" dirty="0">
                <a:solidFill>
                  <a:srgbClr val="FF0000"/>
                </a:solidFill>
                <a:latin typeface="Times New Roman" panose="02020603050405020304" pitchFamily="18" charset="0"/>
              </a:rPr>
              <a:t>显地址：</a:t>
            </a:r>
            <a:r>
              <a:rPr lang="zh-CN" altLang="en-US" dirty="0">
                <a:latin typeface="Times New Roman" panose="02020603050405020304" pitchFamily="18" charset="0"/>
              </a:rPr>
              <a:t>在指令中明显的给出；</a:t>
            </a:r>
            <a:endParaRPr lang="zh-CN" altLang="en-US" dirty="0">
              <a:latin typeface="Times New Roman" panose="02020603050405020304" pitchFamily="18" charset="0"/>
            </a:endParaRPr>
          </a:p>
          <a:p>
            <a:pPr eaLnBrk="1" latinLnBrk="0" hangingPunct="1">
              <a:lnSpc>
                <a:spcPct val="110000"/>
              </a:lnSpc>
              <a:spcBef>
                <a:spcPts val="1800"/>
              </a:spcBef>
            </a:pPr>
            <a:r>
              <a:rPr lang="zh-CN" altLang="en-US" dirty="0">
                <a:solidFill>
                  <a:srgbClr val="FF0000"/>
                </a:solidFill>
                <a:latin typeface="Times New Roman" panose="02020603050405020304" pitchFamily="18" charset="0"/>
              </a:rPr>
              <a:t>隐地址</a:t>
            </a:r>
            <a:r>
              <a:rPr lang="zh-CN" altLang="en-US" dirty="0">
                <a:latin typeface="Times New Roman" panose="02020603050405020304" pitchFamily="18" charset="0"/>
              </a:rPr>
              <a:t>：依照某种事先约定，用隐含的方式给出。</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四地址指令 </a:t>
            </a:r>
            <a:endParaRPr lang="zh-CN" altLang="en-US" dirty="0">
              <a:latin typeface="Times New Roman" panose="02020603050405020304" pitchFamily="18" charset="0"/>
              <a:ea typeface="Times New Roman" panose="02020603050405020304" pitchFamily="18" charset="0"/>
            </a:endParaRPr>
          </a:p>
        </p:txBody>
      </p:sp>
      <p:sp>
        <p:nvSpPr>
          <p:cNvPr id="30722" name="内容占位符 2"/>
          <p:cNvSpPr>
            <a:spLocks noGrp="1"/>
          </p:cNvSpPr>
          <p:nvPr>
            <p:ph idx="1"/>
          </p:nvPr>
        </p:nvSpPr>
        <p:spPr>
          <a:xfrm>
            <a:off x="755650" y="2720975"/>
            <a:ext cx="7391400" cy="2579688"/>
          </a:xfrm>
          <a:noFill/>
          <a:ln>
            <a:noFill/>
          </a:ln>
        </p:spPr>
        <p:txBody>
          <a:bodyPr anchor="t" anchorCtr="0"/>
          <a:p>
            <a:pPr eaLnBrk="1" hangingPunct="1">
              <a:lnSpc>
                <a:spcPct val="110000"/>
              </a:lnSpc>
              <a:spcBef>
                <a:spcPts val="1800"/>
              </a:spcBef>
            </a:pPr>
            <a:r>
              <a:rPr lang="zh-CN" altLang="en-US" dirty="0">
                <a:latin typeface="Times New Roman" panose="02020603050405020304" pitchFamily="18" charset="0"/>
              </a:rPr>
              <a:t>含义：</a:t>
            </a:r>
            <a:r>
              <a:rPr lang="en-US" altLang="zh-CN" dirty="0">
                <a:latin typeface="Times New Roman" panose="02020603050405020304" pitchFamily="18" charset="0"/>
              </a:rPr>
              <a:t> </a:t>
            </a:r>
            <a:r>
              <a:rPr lang="en-US" altLang="zh-CN" dirty="0">
                <a:solidFill>
                  <a:srgbClr val="FF0000"/>
                </a:solidFill>
                <a:latin typeface="Times New Roman" panose="02020603050405020304" pitchFamily="18" charset="0"/>
              </a:rPr>
              <a:t>(A1)OP(A2)→A3</a:t>
            </a:r>
            <a:endParaRPr lang="en-US" altLang="zh-CN" dirty="0">
              <a:solidFill>
                <a:srgbClr val="FF0000"/>
              </a:solidFill>
              <a:latin typeface="Times New Roman" panose="02020603050405020304" pitchFamily="18" charset="0"/>
            </a:endParaRPr>
          </a:p>
          <a:p>
            <a:pPr lvl="1" eaLnBrk="1" hangingPunct="1">
              <a:lnSpc>
                <a:spcPct val="110000"/>
              </a:lnSpc>
              <a:spcBef>
                <a:spcPts val="1800"/>
              </a:spcBef>
            </a:pPr>
            <a:r>
              <a:rPr lang="en-US" altLang="zh-CN" dirty="0">
                <a:latin typeface="Times New Roman" panose="02020603050405020304" pitchFamily="18" charset="0"/>
              </a:rPr>
              <a:t>Ai</a:t>
            </a:r>
            <a:r>
              <a:rPr lang="zh-CN" altLang="en-US" dirty="0">
                <a:latin typeface="Times New Roman" panose="02020603050405020304" pitchFamily="18" charset="0"/>
              </a:rPr>
              <a:t>表示地址；</a:t>
            </a:r>
            <a:endParaRPr lang="zh-CN" altLang="en-US" dirty="0">
              <a:latin typeface="Times New Roman" panose="02020603050405020304" pitchFamily="18" charset="0"/>
            </a:endParaRPr>
          </a:p>
          <a:p>
            <a:pPr lvl="1" eaLnBrk="1" hangingPunct="1">
              <a:lnSpc>
                <a:spcPct val="110000"/>
              </a:lnSpc>
              <a:spcBef>
                <a:spcPts val="1800"/>
              </a:spcBef>
            </a:pPr>
            <a:r>
              <a:rPr lang="en-US" altLang="zh-CN" dirty="0">
                <a:latin typeface="Times New Roman" panose="02020603050405020304" pitchFamily="18" charset="0"/>
              </a:rPr>
              <a:t>(Ai)</a:t>
            </a:r>
            <a:r>
              <a:rPr lang="zh-CN" altLang="en-US" dirty="0">
                <a:latin typeface="Times New Roman" panose="02020603050405020304" pitchFamily="18" charset="0"/>
              </a:rPr>
              <a:t>表示存放于该地址中的内容。 </a:t>
            </a:r>
            <a:endParaRPr lang="zh-CN" altLang="en-US" dirty="0">
              <a:latin typeface="Times New Roman" panose="02020603050405020304" pitchFamily="18" charset="0"/>
            </a:endParaRPr>
          </a:p>
          <a:p>
            <a:pPr eaLnBrk="1" hangingPunct="1">
              <a:lnSpc>
                <a:spcPct val="110000"/>
              </a:lnSpc>
              <a:spcBef>
                <a:spcPts val="1800"/>
              </a:spcBef>
            </a:pPr>
            <a:r>
              <a:rPr lang="en-US" altLang="zh-CN" dirty="0">
                <a:latin typeface="Times New Roman" panose="02020603050405020304" pitchFamily="18" charset="0"/>
              </a:rPr>
              <a:t>A4</a:t>
            </a:r>
            <a:r>
              <a:rPr lang="zh-CN" altLang="en-US" dirty="0">
                <a:latin typeface="Times New Roman" panose="02020603050405020304" pitchFamily="18" charset="0"/>
              </a:rPr>
              <a:t>：下条将要执行指令的地址</a:t>
            </a:r>
            <a:endParaRPr lang="zh-CN" altLang="en-US" dirty="0">
              <a:latin typeface="Times New Roman" panose="02020603050405020304" pitchFamily="18" charset="0"/>
              <a:ea typeface="Times New Roman" panose="02020603050405020304" pitchFamily="18" charset="0"/>
            </a:endParaRPr>
          </a:p>
        </p:txBody>
      </p:sp>
      <p:grpSp>
        <p:nvGrpSpPr>
          <p:cNvPr id="30723" name="Group 4"/>
          <p:cNvGrpSpPr/>
          <p:nvPr/>
        </p:nvGrpSpPr>
        <p:grpSpPr>
          <a:xfrm>
            <a:off x="755650" y="1795463"/>
            <a:ext cx="7391400" cy="461962"/>
            <a:chOff x="624" y="1103"/>
            <a:chExt cx="4656" cy="291"/>
          </a:xfrm>
        </p:grpSpPr>
        <p:sp>
          <p:nvSpPr>
            <p:cNvPr id="30724" name="Rectangle 5"/>
            <p:cNvSpPr/>
            <p:nvPr/>
          </p:nvSpPr>
          <p:spPr>
            <a:xfrm>
              <a:off x="624" y="1104"/>
              <a:ext cx="4656" cy="288"/>
            </a:xfrm>
            <a:prstGeom prst="rect">
              <a:avLst/>
            </a:prstGeom>
            <a:solidFill>
              <a:srgbClr val="FFFFCC"/>
            </a:solidFill>
            <a:ln w="19050" cap="sq" cmpd="sng">
              <a:solidFill>
                <a:srgbClr val="7A48C4"/>
              </a:solidFill>
              <a:prstDash val="solid"/>
              <a:miter/>
              <a:headEnd type="none" w="sm" len="sm"/>
              <a:tailEnd type="none" w="sm" len="sm"/>
            </a:ln>
          </p:spPr>
          <p:txBody>
            <a:bodyPr wrap="none" anchor="ctr" anchorCtr="0"/>
            <a:p>
              <a:pPr algn="ctr"/>
              <a:endParaRPr lang="zh-CN" altLang="en-US" dirty="0">
                <a:latin typeface="Times New Roman" panose="02020603050405020304" pitchFamily="18" charset="0"/>
                <a:ea typeface="Times New Roman" panose="02020603050405020304" pitchFamily="18" charset="0"/>
              </a:endParaRPr>
            </a:p>
          </p:txBody>
        </p:sp>
        <p:sp>
          <p:nvSpPr>
            <p:cNvPr id="30725" name="Line 6"/>
            <p:cNvSpPr/>
            <p:nvPr/>
          </p:nvSpPr>
          <p:spPr>
            <a:xfrm>
              <a:off x="1536" y="1104"/>
              <a:ext cx="0" cy="288"/>
            </a:xfrm>
            <a:prstGeom prst="line">
              <a:avLst/>
            </a:prstGeom>
            <a:ln w="19050" cap="sq" cmpd="sng">
              <a:solidFill>
                <a:srgbClr val="7A48C4"/>
              </a:solidFill>
              <a:prstDash val="solid"/>
              <a:round/>
              <a:headEnd type="none" w="sm" len="sm"/>
              <a:tailEnd type="none" w="sm" len="sm"/>
            </a:ln>
          </p:spPr>
        </p:sp>
        <p:sp>
          <p:nvSpPr>
            <p:cNvPr id="30726" name="Line 7"/>
            <p:cNvSpPr/>
            <p:nvPr/>
          </p:nvSpPr>
          <p:spPr>
            <a:xfrm>
              <a:off x="2448" y="1104"/>
              <a:ext cx="0" cy="288"/>
            </a:xfrm>
            <a:prstGeom prst="line">
              <a:avLst/>
            </a:prstGeom>
            <a:ln w="19050" cap="sq" cmpd="sng">
              <a:solidFill>
                <a:srgbClr val="7A48C4"/>
              </a:solidFill>
              <a:prstDash val="solid"/>
              <a:round/>
              <a:headEnd type="none" w="sm" len="sm"/>
              <a:tailEnd type="none" w="sm" len="sm"/>
            </a:ln>
          </p:spPr>
        </p:sp>
        <p:sp>
          <p:nvSpPr>
            <p:cNvPr id="30727" name="Line 8"/>
            <p:cNvSpPr/>
            <p:nvPr/>
          </p:nvSpPr>
          <p:spPr>
            <a:xfrm>
              <a:off x="3408" y="1104"/>
              <a:ext cx="0" cy="288"/>
            </a:xfrm>
            <a:prstGeom prst="line">
              <a:avLst/>
            </a:prstGeom>
            <a:ln w="19050" cap="sq" cmpd="sng">
              <a:solidFill>
                <a:srgbClr val="7A48C4"/>
              </a:solidFill>
              <a:prstDash val="solid"/>
              <a:round/>
              <a:headEnd type="none" w="sm" len="sm"/>
              <a:tailEnd type="none" w="sm" len="sm"/>
            </a:ln>
          </p:spPr>
        </p:sp>
        <p:sp>
          <p:nvSpPr>
            <p:cNvPr id="30728" name="Line 9"/>
            <p:cNvSpPr/>
            <p:nvPr/>
          </p:nvSpPr>
          <p:spPr>
            <a:xfrm>
              <a:off x="4368" y="1104"/>
              <a:ext cx="0" cy="288"/>
            </a:xfrm>
            <a:prstGeom prst="line">
              <a:avLst/>
            </a:prstGeom>
            <a:ln w="19050" cap="sq" cmpd="sng">
              <a:solidFill>
                <a:srgbClr val="7A48C4"/>
              </a:solidFill>
              <a:prstDash val="solid"/>
              <a:round/>
              <a:headEnd type="none" w="sm" len="sm"/>
              <a:tailEnd type="none" w="sm" len="sm"/>
            </a:ln>
          </p:spPr>
        </p:sp>
        <p:sp>
          <p:nvSpPr>
            <p:cNvPr id="30729" name="Text Box 10"/>
            <p:cNvSpPr txBox="1"/>
            <p:nvPr/>
          </p:nvSpPr>
          <p:spPr>
            <a:xfrm>
              <a:off x="922" y="1103"/>
              <a:ext cx="385"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OP</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0730" name="Text Box 11"/>
            <p:cNvSpPr txBox="1"/>
            <p:nvPr/>
          </p:nvSpPr>
          <p:spPr>
            <a:xfrm>
              <a:off x="1850" y="1103"/>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1</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0731" name="Text Box 12"/>
            <p:cNvSpPr txBox="1"/>
            <p:nvPr/>
          </p:nvSpPr>
          <p:spPr>
            <a:xfrm>
              <a:off x="2810" y="1103"/>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2</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0732" name="Text Box 13"/>
            <p:cNvSpPr txBox="1"/>
            <p:nvPr/>
          </p:nvSpPr>
          <p:spPr>
            <a:xfrm>
              <a:off x="3770" y="1103"/>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3</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0733" name="Text Box 14"/>
            <p:cNvSpPr txBox="1"/>
            <p:nvPr/>
          </p:nvSpPr>
          <p:spPr>
            <a:xfrm>
              <a:off x="4730" y="1103"/>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4</a:t>
              </a:r>
              <a:endParaRPr lang="en-US" altLang="zh-CN" sz="2400" b="1"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三地址指令 </a:t>
            </a:r>
            <a:endParaRPr lang="zh-CN" altLang="en-US" dirty="0">
              <a:latin typeface="Times New Roman" panose="02020603050405020304" pitchFamily="18" charset="0"/>
              <a:ea typeface="Times New Roman" panose="02020603050405020304" pitchFamily="18" charset="0"/>
            </a:endParaRPr>
          </a:p>
        </p:txBody>
      </p:sp>
      <p:sp>
        <p:nvSpPr>
          <p:cNvPr id="31746" name="内容占位符 2"/>
          <p:cNvSpPr>
            <a:spLocks noGrp="1"/>
          </p:cNvSpPr>
          <p:nvPr>
            <p:ph idx="1"/>
          </p:nvPr>
        </p:nvSpPr>
        <p:spPr>
          <a:xfrm>
            <a:off x="900113" y="2401888"/>
            <a:ext cx="7261225" cy="3875087"/>
          </a:xfrm>
          <a:noFill/>
          <a:ln>
            <a:noFill/>
          </a:ln>
        </p:spPr>
        <p:txBody>
          <a:bodyPr anchor="t" anchorCtr="0"/>
          <a:p>
            <a:pPr eaLnBrk="1" hangingPunct="1">
              <a:spcBef>
                <a:spcPts val="1800"/>
              </a:spcBef>
            </a:pPr>
            <a:r>
              <a:rPr lang="zh-CN" altLang="en-US" dirty="0">
                <a:latin typeface="Times New Roman" panose="02020603050405020304" pitchFamily="18" charset="0"/>
              </a:rPr>
              <a:t>含义： </a:t>
            </a:r>
            <a:r>
              <a:rPr lang="en-US" altLang="zh-CN" dirty="0">
                <a:solidFill>
                  <a:srgbClr val="FF0000"/>
                </a:solidFill>
                <a:latin typeface="Times New Roman" panose="02020603050405020304" pitchFamily="18" charset="0"/>
              </a:rPr>
              <a:t>(A1)OP(A2)→A3</a:t>
            </a:r>
            <a:endParaRPr lang="en-US" altLang="zh-CN" dirty="0">
              <a:solidFill>
                <a:srgbClr val="FF0000"/>
              </a:solidFill>
              <a:latin typeface="Times New Roman" panose="02020603050405020304" pitchFamily="18" charset="0"/>
            </a:endParaRPr>
          </a:p>
          <a:p>
            <a:pPr eaLnBrk="1" hangingPunct="1">
              <a:spcBef>
                <a:spcPts val="1800"/>
              </a:spcBef>
            </a:pPr>
            <a:r>
              <a:rPr lang="en-US" altLang="zh-CN" dirty="0">
                <a:latin typeface="Times New Roman" panose="02020603050405020304" pitchFamily="18" charset="0"/>
              </a:rPr>
              <a:t> </a:t>
            </a:r>
            <a:r>
              <a:rPr lang="zh-CN" altLang="en-US" dirty="0">
                <a:latin typeface="Times New Roman" panose="02020603050405020304" pitchFamily="18" charset="0"/>
              </a:rPr>
              <a:t>下一条指令地址：</a:t>
            </a:r>
            <a:r>
              <a:rPr lang="en-US" altLang="zh-CN" dirty="0">
                <a:latin typeface="Times New Roman" panose="02020603050405020304" pitchFamily="18" charset="0"/>
              </a:rPr>
              <a:t>(PC)+1→PC</a:t>
            </a:r>
            <a:r>
              <a:rPr lang="zh-CN" altLang="en-US" dirty="0">
                <a:latin typeface="Times New Roman" panose="02020603050405020304" pitchFamily="18" charset="0"/>
              </a:rPr>
              <a:t>（隐含）；</a:t>
            </a:r>
            <a:endParaRPr lang="zh-CN" altLang="en-US"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 需要访问</a:t>
            </a:r>
            <a:r>
              <a:rPr lang="en-US" altLang="zh-CN" dirty="0">
                <a:latin typeface="Times New Roman" panose="02020603050405020304" pitchFamily="18" charset="0"/>
              </a:rPr>
              <a:t>4</a:t>
            </a:r>
            <a:r>
              <a:rPr lang="zh-CN" altLang="en-US" dirty="0">
                <a:latin typeface="Times New Roman" panose="02020603050405020304" pitchFamily="18" charset="0"/>
              </a:rPr>
              <a:t>次主存：</a:t>
            </a:r>
            <a:endParaRPr lang="zh-CN" altLang="en-US" dirty="0">
              <a:latin typeface="Times New Roman" panose="02020603050405020304" pitchFamily="18" charset="0"/>
            </a:endParaRPr>
          </a:p>
          <a:p>
            <a:pPr lvl="1" eaLnBrk="1" hangingPunct="1">
              <a:lnSpc>
                <a:spcPct val="70000"/>
              </a:lnSpc>
              <a:spcBef>
                <a:spcPts val="1800"/>
              </a:spcBef>
            </a:pPr>
            <a:r>
              <a:rPr lang="zh-CN" altLang="en-US" sz="2400" dirty="0">
                <a:latin typeface="Times New Roman" panose="02020603050405020304" pitchFamily="18" charset="0"/>
              </a:rPr>
              <a:t>第一次：取指令本身；</a:t>
            </a:r>
            <a:endParaRPr lang="zh-CN" altLang="en-US" sz="2400" dirty="0">
              <a:latin typeface="Times New Roman" panose="02020603050405020304" pitchFamily="18" charset="0"/>
            </a:endParaRPr>
          </a:p>
          <a:p>
            <a:pPr lvl="1" eaLnBrk="1" hangingPunct="1">
              <a:lnSpc>
                <a:spcPct val="70000"/>
              </a:lnSpc>
              <a:spcBef>
                <a:spcPts val="1800"/>
              </a:spcBef>
            </a:pPr>
            <a:r>
              <a:rPr lang="zh-CN" altLang="en-US" sz="2400" dirty="0">
                <a:latin typeface="Times New Roman" panose="02020603050405020304" pitchFamily="18" charset="0"/>
              </a:rPr>
              <a:t>第二次：取被操作数；</a:t>
            </a:r>
            <a:endParaRPr lang="zh-CN" altLang="en-US" sz="2400" dirty="0">
              <a:latin typeface="Times New Roman" panose="02020603050405020304" pitchFamily="18" charset="0"/>
            </a:endParaRPr>
          </a:p>
          <a:p>
            <a:pPr lvl="1" eaLnBrk="1" hangingPunct="1">
              <a:lnSpc>
                <a:spcPct val="70000"/>
              </a:lnSpc>
              <a:spcBef>
                <a:spcPts val="1800"/>
              </a:spcBef>
            </a:pPr>
            <a:r>
              <a:rPr lang="zh-CN" altLang="en-US" sz="2400" dirty="0">
                <a:latin typeface="Times New Roman" panose="02020603050405020304" pitchFamily="18" charset="0"/>
              </a:rPr>
              <a:t>第三次：取操作数；</a:t>
            </a:r>
            <a:endParaRPr lang="zh-CN" altLang="en-US" sz="2400" dirty="0">
              <a:latin typeface="Times New Roman" panose="02020603050405020304" pitchFamily="18" charset="0"/>
            </a:endParaRPr>
          </a:p>
          <a:p>
            <a:pPr lvl="1" eaLnBrk="1" hangingPunct="1">
              <a:lnSpc>
                <a:spcPct val="70000"/>
              </a:lnSpc>
              <a:spcBef>
                <a:spcPts val="1800"/>
              </a:spcBef>
            </a:pPr>
            <a:r>
              <a:rPr lang="zh-CN" altLang="en-US" sz="2400" dirty="0">
                <a:latin typeface="Times New Roman" panose="02020603050405020304" pitchFamily="18" charset="0"/>
              </a:rPr>
              <a:t>第四次：保存运算结果。</a:t>
            </a:r>
            <a:r>
              <a:rPr lang="zh-CN" altLang="en-US"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grpSp>
        <p:nvGrpSpPr>
          <p:cNvPr id="31747" name="Group 15"/>
          <p:cNvGrpSpPr/>
          <p:nvPr/>
        </p:nvGrpSpPr>
        <p:grpSpPr>
          <a:xfrm>
            <a:off x="1435100" y="1514475"/>
            <a:ext cx="5791200" cy="461963"/>
            <a:chOff x="960" y="1007"/>
            <a:chExt cx="3648" cy="291"/>
          </a:xfrm>
        </p:grpSpPr>
        <p:sp>
          <p:nvSpPr>
            <p:cNvPr id="31748" name="Rectangle 16"/>
            <p:cNvSpPr/>
            <p:nvPr/>
          </p:nvSpPr>
          <p:spPr>
            <a:xfrm>
              <a:off x="960" y="1008"/>
              <a:ext cx="3648" cy="288"/>
            </a:xfrm>
            <a:prstGeom prst="rect">
              <a:avLst/>
            </a:prstGeom>
            <a:solidFill>
              <a:srgbClr val="FFFFCC"/>
            </a:solidFill>
            <a:ln w="19050" cap="sq" cmpd="sng">
              <a:solidFill>
                <a:srgbClr val="7A48C4"/>
              </a:solidFill>
              <a:prstDash val="solid"/>
              <a:miter/>
              <a:headEnd type="none" w="sm" len="sm"/>
              <a:tailEnd type="none" w="sm" len="sm"/>
            </a:ln>
          </p:spPr>
          <p:txBody>
            <a:bodyPr wrap="none" anchor="ctr" anchorCtr="0"/>
            <a:p>
              <a:pPr algn="ctr"/>
              <a:endParaRPr lang="zh-CN" altLang="en-US" dirty="0">
                <a:latin typeface="Times New Roman" panose="02020603050405020304" pitchFamily="18" charset="0"/>
                <a:ea typeface="Times New Roman" panose="02020603050405020304" pitchFamily="18" charset="0"/>
              </a:endParaRPr>
            </a:p>
          </p:txBody>
        </p:sp>
        <p:sp>
          <p:nvSpPr>
            <p:cNvPr id="31749" name="Line 17"/>
            <p:cNvSpPr/>
            <p:nvPr/>
          </p:nvSpPr>
          <p:spPr>
            <a:xfrm>
              <a:off x="1872" y="1008"/>
              <a:ext cx="0" cy="288"/>
            </a:xfrm>
            <a:prstGeom prst="line">
              <a:avLst/>
            </a:prstGeom>
            <a:ln w="19050" cap="sq" cmpd="sng">
              <a:solidFill>
                <a:srgbClr val="7A48C4"/>
              </a:solidFill>
              <a:prstDash val="solid"/>
              <a:round/>
              <a:headEnd type="none" w="sm" len="sm"/>
              <a:tailEnd type="none" w="sm" len="sm"/>
            </a:ln>
          </p:spPr>
        </p:sp>
        <p:sp>
          <p:nvSpPr>
            <p:cNvPr id="31750" name="Line 18"/>
            <p:cNvSpPr/>
            <p:nvPr/>
          </p:nvSpPr>
          <p:spPr>
            <a:xfrm>
              <a:off x="2784" y="1008"/>
              <a:ext cx="0" cy="288"/>
            </a:xfrm>
            <a:prstGeom prst="line">
              <a:avLst/>
            </a:prstGeom>
            <a:ln w="19050" cap="sq" cmpd="sng">
              <a:solidFill>
                <a:srgbClr val="7A48C4"/>
              </a:solidFill>
              <a:prstDash val="solid"/>
              <a:round/>
              <a:headEnd type="none" w="sm" len="sm"/>
              <a:tailEnd type="none" w="sm" len="sm"/>
            </a:ln>
          </p:spPr>
        </p:sp>
        <p:sp>
          <p:nvSpPr>
            <p:cNvPr id="31751" name="Line 19"/>
            <p:cNvSpPr/>
            <p:nvPr/>
          </p:nvSpPr>
          <p:spPr>
            <a:xfrm>
              <a:off x="3696" y="1008"/>
              <a:ext cx="0" cy="288"/>
            </a:xfrm>
            <a:prstGeom prst="line">
              <a:avLst/>
            </a:prstGeom>
            <a:ln w="19050" cap="sq" cmpd="sng">
              <a:solidFill>
                <a:srgbClr val="7A48C4"/>
              </a:solidFill>
              <a:prstDash val="solid"/>
              <a:round/>
              <a:headEnd type="none" w="sm" len="sm"/>
              <a:tailEnd type="none" w="sm" len="sm"/>
            </a:ln>
          </p:spPr>
        </p:sp>
        <p:sp>
          <p:nvSpPr>
            <p:cNvPr id="31752" name="Text Box 20"/>
            <p:cNvSpPr txBox="1"/>
            <p:nvPr/>
          </p:nvSpPr>
          <p:spPr>
            <a:xfrm>
              <a:off x="1258" y="1007"/>
              <a:ext cx="385"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OP</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1753" name="Text Box 21"/>
            <p:cNvSpPr txBox="1"/>
            <p:nvPr/>
          </p:nvSpPr>
          <p:spPr>
            <a:xfrm>
              <a:off x="2186" y="1007"/>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1</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1754" name="Text Box 22"/>
            <p:cNvSpPr txBox="1"/>
            <p:nvPr/>
          </p:nvSpPr>
          <p:spPr>
            <a:xfrm>
              <a:off x="3098" y="1007"/>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2</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1755" name="Text Box 23"/>
            <p:cNvSpPr txBox="1"/>
            <p:nvPr/>
          </p:nvSpPr>
          <p:spPr>
            <a:xfrm>
              <a:off x="4010" y="1007"/>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3</a:t>
              </a:r>
              <a:endParaRPr lang="en-US" altLang="zh-CN" sz="2400" b="1"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二地址指令 </a:t>
            </a:r>
            <a:endParaRPr lang="zh-CN" altLang="en-US" dirty="0">
              <a:latin typeface="Times New Roman" panose="02020603050405020304" pitchFamily="18" charset="0"/>
              <a:ea typeface="Times New Roman" panose="02020603050405020304" pitchFamily="18" charset="0"/>
            </a:endParaRPr>
          </a:p>
        </p:txBody>
      </p:sp>
      <p:sp>
        <p:nvSpPr>
          <p:cNvPr id="33794" name="内容占位符 2"/>
          <p:cNvSpPr>
            <a:spLocks noGrp="1"/>
          </p:cNvSpPr>
          <p:nvPr>
            <p:ph idx="1"/>
          </p:nvPr>
        </p:nvSpPr>
        <p:spPr>
          <a:xfrm>
            <a:off x="842963" y="2481263"/>
            <a:ext cx="7632700" cy="3619500"/>
          </a:xfrm>
          <a:noFill/>
          <a:ln>
            <a:noFill/>
          </a:ln>
        </p:spPr>
        <p:txBody>
          <a:bodyPr anchor="t" anchorCtr="0"/>
          <a:p>
            <a:pPr eaLnBrk="1" hangingPunct="1">
              <a:lnSpc>
                <a:spcPct val="140000"/>
              </a:lnSpc>
            </a:pPr>
            <a:r>
              <a:rPr lang="zh-CN" altLang="en-US" dirty="0">
                <a:solidFill>
                  <a:srgbClr val="FF0000"/>
                </a:solidFill>
                <a:latin typeface="Times New Roman" panose="02020603050405020304" pitchFamily="18" charset="0"/>
              </a:rPr>
              <a:t>含义：</a:t>
            </a:r>
            <a:r>
              <a:rPr lang="en-US" altLang="zh-CN" dirty="0">
                <a:solidFill>
                  <a:srgbClr val="FF0000"/>
                </a:solidFill>
                <a:latin typeface="Times New Roman" panose="02020603050405020304" pitchFamily="18" charset="0"/>
              </a:rPr>
              <a:t>(A1)OP(A2)→A1</a:t>
            </a:r>
            <a:endParaRPr lang="en-US" altLang="zh-CN" dirty="0">
              <a:solidFill>
                <a:srgbClr val="FF0000"/>
              </a:solidFill>
              <a:latin typeface="Times New Roman" panose="02020603050405020304" pitchFamily="18" charset="0"/>
            </a:endParaRPr>
          </a:p>
          <a:p>
            <a:pPr lvl="1" eaLnBrk="1" hangingPunct="1">
              <a:lnSpc>
                <a:spcPct val="140000"/>
              </a:lnSpc>
            </a:pPr>
            <a:r>
              <a:rPr lang="en-US" altLang="zh-CN" dirty="0">
                <a:latin typeface="Times New Roman" panose="02020603050405020304" pitchFamily="18" charset="0"/>
              </a:rPr>
              <a:t>A1</a:t>
            </a:r>
            <a:r>
              <a:rPr lang="zh-CN" altLang="en-US" dirty="0">
                <a:latin typeface="Times New Roman" panose="02020603050405020304" pitchFamily="18" charset="0"/>
              </a:rPr>
              <a:t>为目的操作数地址，</a:t>
            </a:r>
            <a:r>
              <a:rPr lang="en-US" altLang="zh-CN" dirty="0">
                <a:latin typeface="Times New Roman" panose="02020603050405020304" pitchFamily="18" charset="0"/>
              </a:rPr>
              <a:t>A2</a:t>
            </a:r>
            <a:r>
              <a:rPr lang="zh-CN" altLang="en-US" dirty="0">
                <a:latin typeface="Times New Roman" panose="02020603050405020304" pitchFamily="18" charset="0"/>
              </a:rPr>
              <a:t>为源操作数地址</a:t>
            </a:r>
            <a:endParaRPr lang="zh-CN" altLang="en-US" dirty="0">
              <a:latin typeface="Times New Roman" panose="02020603050405020304" pitchFamily="18" charset="0"/>
            </a:endParaRPr>
          </a:p>
          <a:p>
            <a:pPr eaLnBrk="1" hangingPunct="1">
              <a:lnSpc>
                <a:spcPct val="140000"/>
              </a:lnSpc>
            </a:pPr>
            <a:r>
              <a:rPr lang="zh-CN" altLang="en-US" dirty="0">
                <a:latin typeface="Times New Roman" panose="02020603050405020304" pitchFamily="18" charset="0"/>
              </a:rPr>
              <a:t>下一条指令地址：</a:t>
            </a:r>
            <a:r>
              <a:rPr lang="en-US" altLang="zh-CN" dirty="0">
                <a:latin typeface="Times New Roman" panose="02020603050405020304" pitchFamily="18" charset="0"/>
              </a:rPr>
              <a:t>(PC)+1→PC</a:t>
            </a:r>
            <a:r>
              <a:rPr lang="zh-CN" altLang="en-US" dirty="0">
                <a:latin typeface="Times New Roman" panose="02020603050405020304" pitchFamily="18" charset="0"/>
              </a:rPr>
              <a:t>（隐含）。</a:t>
            </a:r>
            <a:endParaRPr lang="zh-CN" altLang="en-US" dirty="0">
              <a:latin typeface="Times New Roman" panose="02020603050405020304" pitchFamily="18" charset="0"/>
            </a:endParaRPr>
          </a:p>
          <a:p>
            <a:pPr eaLnBrk="1" hangingPunct="1">
              <a:lnSpc>
                <a:spcPct val="140000"/>
              </a:lnSpc>
            </a:pPr>
            <a:r>
              <a:rPr lang="zh-CN" altLang="en-US" dirty="0">
                <a:latin typeface="Times New Roman" panose="02020603050405020304" pitchFamily="18" charset="0"/>
              </a:rPr>
              <a:t>指令执行后，目的操作数地址原内容被破坏。</a:t>
            </a:r>
            <a:endParaRPr lang="zh-CN" altLang="en-US" dirty="0">
              <a:latin typeface="Times New Roman" panose="02020603050405020304" pitchFamily="18" charset="0"/>
            </a:endParaRPr>
          </a:p>
          <a:p>
            <a:pPr eaLnBrk="1" hangingPunct="1">
              <a:lnSpc>
                <a:spcPct val="140000"/>
              </a:lnSpc>
            </a:pPr>
            <a:r>
              <a:rPr lang="zh-CN" altLang="en-US" dirty="0">
                <a:latin typeface="Times New Roman" panose="02020603050405020304" pitchFamily="18" charset="0"/>
              </a:rPr>
              <a:t>至少需要访问</a:t>
            </a:r>
            <a:r>
              <a:rPr lang="en-US" altLang="zh-CN" dirty="0">
                <a:latin typeface="Times New Roman" panose="02020603050405020304" pitchFamily="18" charset="0"/>
              </a:rPr>
              <a:t>4</a:t>
            </a:r>
            <a:r>
              <a:rPr lang="zh-CN" altLang="en-US" dirty="0">
                <a:latin typeface="Times New Roman" panose="02020603050405020304" pitchFamily="18" charset="0"/>
              </a:rPr>
              <a:t>次主存。</a:t>
            </a:r>
            <a:endParaRPr lang="zh-CN" altLang="en-US" dirty="0">
              <a:latin typeface="Times New Roman" panose="02020603050405020304" pitchFamily="18" charset="0"/>
              <a:ea typeface="Times New Roman" panose="02020603050405020304" pitchFamily="18" charset="0"/>
            </a:endParaRPr>
          </a:p>
        </p:txBody>
      </p:sp>
      <p:grpSp>
        <p:nvGrpSpPr>
          <p:cNvPr id="33795" name="Group 15"/>
          <p:cNvGrpSpPr/>
          <p:nvPr/>
        </p:nvGrpSpPr>
        <p:grpSpPr>
          <a:xfrm>
            <a:off x="1793875" y="1600200"/>
            <a:ext cx="4343400" cy="461963"/>
            <a:chOff x="960" y="1007"/>
            <a:chExt cx="2736" cy="291"/>
          </a:xfrm>
        </p:grpSpPr>
        <p:sp>
          <p:nvSpPr>
            <p:cNvPr id="33796" name="Rectangle 16"/>
            <p:cNvSpPr/>
            <p:nvPr/>
          </p:nvSpPr>
          <p:spPr>
            <a:xfrm>
              <a:off x="960" y="1008"/>
              <a:ext cx="2736" cy="288"/>
            </a:xfrm>
            <a:prstGeom prst="rect">
              <a:avLst/>
            </a:prstGeom>
            <a:solidFill>
              <a:srgbClr val="FFFFCC"/>
            </a:solidFill>
            <a:ln w="19050" cap="sq" cmpd="sng">
              <a:solidFill>
                <a:srgbClr val="7A48C4"/>
              </a:solidFill>
              <a:prstDash val="solid"/>
              <a:miter/>
              <a:headEnd type="none" w="sm" len="sm"/>
              <a:tailEnd type="none" w="sm" len="sm"/>
            </a:ln>
          </p:spPr>
          <p:txBody>
            <a:bodyPr wrap="none" anchor="ctr" anchorCtr="0"/>
            <a:p>
              <a:pPr algn="ctr"/>
              <a:endParaRPr lang="zh-CN" altLang="en-US" dirty="0">
                <a:latin typeface="Times New Roman" panose="02020603050405020304" pitchFamily="18" charset="0"/>
                <a:ea typeface="Times New Roman" panose="02020603050405020304" pitchFamily="18" charset="0"/>
              </a:endParaRPr>
            </a:p>
          </p:txBody>
        </p:sp>
        <p:sp>
          <p:nvSpPr>
            <p:cNvPr id="33797" name="Line 17"/>
            <p:cNvSpPr/>
            <p:nvPr/>
          </p:nvSpPr>
          <p:spPr>
            <a:xfrm>
              <a:off x="1872" y="1008"/>
              <a:ext cx="0" cy="288"/>
            </a:xfrm>
            <a:prstGeom prst="line">
              <a:avLst/>
            </a:prstGeom>
            <a:ln w="19050" cap="sq" cmpd="sng">
              <a:solidFill>
                <a:srgbClr val="7A48C4"/>
              </a:solidFill>
              <a:prstDash val="solid"/>
              <a:round/>
              <a:headEnd type="none" w="sm" len="sm"/>
              <a:tailEnd type="none" w="sm" len="sm"/>
            </a:ln>
          </p:spPr>
        </p:sp>
        <p:sp>
          <p:nvSpPr>
            <p:cNvPr id="33798" name="Line 18"/>
            <p:cNvSpPr/>
            <p:nvPr/>
          </p:nvSpPr>
          <p:spPr>
            <a:xfrm>
              <a:off x="2784" y="1008"/>
              <a:ext cx="0" cy="288"/>
            </a:xfrm>
            <a:prstGeom prst="line">
              <a:avLst/>
            </a:prstGeom>
            <a:ln w="19050" cap="sq" cmpd="sng">
              <a:solidFill>
                <a:srgbClr val="7A48C4"/>
              </a:solidFill>
              <a:prstDash val="solid"/>
              <a:round/>
              <a:headEnd type="none" w="sm" len="sm"/>
              <a:tailEnd type="none" w="sm" len="sm"/>
            </a:ln>
          </p:spPr>
        </p:sp>
        <p:sp>
          <p:nvSpPr>
            <p:cNvPr id="33799" name="Line 19"/>
            <p:cNvSpPr/>
            <p:nvPr/>
          </p:nvSpPr>
          <p:spPr>
            <a:xfrm>
              <a:off x="3696" y="1008"/>
              <a:ext cx="0" cy="288"/>
            </a:xfrm>
            <a:prstGeom prst="line">
              <a:avLst/>
            </a:prstGeom>
            <a:ln w="19050" cap="sq" cmpd="sng">
              <a:solidFill>
                <a:srgbClr val="7A48C4"/>
              </a:solidFill>
              <a:prstDash val="solid"/>
              <a:round/>
              <a:headEnd type="none" w="sm" len="sm"/>
              <a:tailEnd type="none" w="sm" len="sm"/>
            </a:ln>
          </p:spPr>
        </p:sp>
        <p:sp>
          <p:nvSpPr>
            <p:cNvPr id="33800" name="Text Box 20"/>
            <p:cNvSpPr txBox="1"/>
            <p:nvPr/>
          </p:nvSpPr>
          <p:spPr>
            <a:xfrm>
              <a:off x="1258" y="1007"/>
              <a:ext cx="385"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OP</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3801" name="Text Box 21"/>
            <p:cNvSpPr txBox="1"/>
            <p:nvPr/>
          </p:nvSpPr>
          <p:spPr>
            <a:xfrm>
              <a:off x="2186" y="1007"/>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1</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3802" name="Text Box 22"/>
            <p:cNvSpPr txBox="1"/>
            <p:nvPr/>
          </p:nvSpPr>
          <p:spPr>
            <a:xfrm>
              <a:off x="3098" y="1007"/>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2</a:t>
              </a:r>
              <a:endParaRPr lang="en-US" altLang="zh-CN" sz="2400" b="1"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a:t>
            </a:r>
            <a:r>
              <a:rPr lang="zh-CN" altLang="en-US" dirty="0">
                <a:latin typeface="Times New Roman" panose="02020603050405020304" pitchFamily="18" charset="0"/>
              </a:rPr>
              <a:t>一地址指令 </a:t>
            </a:r>
            <a:endParaRPr lang="zh-CN" altLang="en-US" dirty="0">
              <a:latin typeface="Times New Roman" panose="02020603050405020304" pitchFamily="18" charset="0"/>
              <a:ea typeface="Times New Roman" panose="02020603050405020304" pitchFamily="18" charset="0"/>
            </a:endParaRPr>
          </a:p>
        </p:txBody>
      </p:sp>
      <p:sp>
        <p:nvSpPr>
          <p:cNvPr id="34818" name="内容占位符 2"/>
          <p:cNvSpPr>
            <a:spLocks noGrp="1"/>
          </p:cNvSpPr>
          <p:nvPr>
            <p:ph idx="1"/>
          </p:nvPr>
        </p:nvSpPr>
        <p:spPr>
          <a:xfrm>
            <a:off x="858838" y="2332038"/>
            <a:ext cx="7827962" cy="3473450"/>
          </a:xfrm>
          <a:noFill/>
          <a:ln>
            <a:noFill/>
          </a:ln>
        </p:spPr>
        <p:txBody>
          <a:bodyPr anchor="t" anchorCtr="0"/>
          <a:p>
            <a:pPr eaLnBrk="1" hangingPunct="1">
              <a:spcBef>
                <a:spcPts val="1800"/>
              </a:spcBef>
            </a:pPr>
            <a:r>
              <a:rPr lang="zh-CN" altLang="en-US" dirty="0">
                <a:solidFill>
                  <a:srgbClr val="FF0000"/>
                </a:solidFill>
                <a:latin typeface="Times New Roman" panose="02020603050405020304" pitchFamily="18" charset="0"/>
              </a:rPr>
              <a:t>含义：</a:t>
            </a:r>
            <a:r>
              <a:rPr lang="en-US" altLang="zh-CN" dirty="0">
                <a:solidFill>
                  <a:srgbClr val="FF0000"/>
                </a:solidFill>
                <a:latin typeface="Times New Roman" panose="02020603050405020304" pitchFamily="18" charset="0"/>
              </a:rPr>
              <a:t>(Acc)OP(A1)→Acc</a:t>
            </a:r>
            <a:endParaRPr lang="en-US" altLang="zh-CN" dirty="0">
              <a:solidFill>
                <a:srgbClr val="FF0000"/>
              </a:solidFill>
              <a:latin typeface="Times New Roman" panose="02020603050405020304" pitchFamily="18" charset="0"/>
            </a:endParaRPr>
          </a:p>
          <a:p>
            <a:pPr lvl="1" eaLnBrk="1" hangingPunct="1">
              <a:lnSpc>
                <a:spcPct val="80000"/>
              </a:lnSpc>
              <a:spcBef>
                <a:spcPts val="1800"/>
              </a:spcBef>
              <a:buSzTx/>
            </a:pPr>
            <a:r>
              <a:rPr lang="zh-CN" altLang="en-US" dirty="0">
                <a:latin typeface="Times New Roman" panose="02020603050405020304" pitchFamily="18" charset="0"/>
              </a:rPr>
              <a:t>被操作数和运算结果都放在累加寄存器中</a:t>
            </a:r>
            <a:endParaRPr lang="zh-CN" altLang="en-US" dirty="0">
              <a:latin typeface="Times New Roman" panose="02020603050405020304" pitchFamily="18" charset="0"/>
              <a:sym typeface="黑体" panose="02010609060101010101" pitchFamily="49" charset="-122"/>
            </a:endParaRPr>
          </a:p>
          <a:p>
            <a:pPr eaLnBrk="1" hangingPunct="1">
              <a:spcBef>
                <a:spcPts val="1800"/>
              </a:spcBef>
            </a:pPr>
            <a:r>
              <a:rPr lang="zh-CN" altLang="en-US" dirty="0">
                <a:latin typeface="Times New Roman" panose="02020603050405020304" pitchFamily="18" charset="0"/>
                <a:sym typeface="黑体" panose="02010609060101010101" pitchFamily="49" charset="-122"/>
              </a:rPr>
              <a:t>下一条指令地址：</a:t>
            </a:r>
            <a:r>
              <a:rPr lang="en-US" altLang="zh-CN" dirty="0">
                <a:latin typeface="Times New Roman" panose="02020603050405020304" pitchFamily="18" charset="0"/>
              </a:rPr>
              <a:t>(PC)+1→PC</a:t>
            </a:r>
            <a:r>
              <a:rPr lang="zh-CN" altLang="en-US" dirty="0">
                <a:latin typeface="Times New Roman" panose="02020603050405020304" pitchFamily="18" charset="0"/>
              </a:rPr>
              <a:t>（隐含） </a:t>
            </a:r>
            <a:endParaRPr lang="zh-CN" altLang="en-US"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只需要访问两次主存。</a:t>
            </a:r>
            <a:endParaRPr lang="zh-CN" altLang="en-US" dirty="0">
              <a:latin typeface="Times New Roman" panose="02020603050405020304" pitchFamily="18" charset="0"/>
            </a:endParaRPr>
          </a:p>
          <a:p>
            <a:pPr lvl="1" eaLnBrk="1" hangingPunct="1">
              <a:lnSpc>
                <a:spcPct val="80000"/>
              </a:lnSpc>
              <a:spcBef>
                <a:spcPts val="1800"/>
              </a:spcBef>
            </a:pPr>
            <a:r>
              <a:rPr lang="zh-CN" altLang="en-US" dirty="0">
                <a:latin typeface="Times New Roman" panose="02020603050405020304" pitchFamily="18" charset="0"/>
              </a:rPr>
              <a:t>第一次：取指令本身；</a:t>
            </a:r>
            <a:endParaRPr lang="zh-CN" altLang="en-US" dirty="0">
              <a:latin typeface="Times New Roman" panose="02020603050405020304" pitchFamily="18" charset="0"/>
            </a:endParaRPr>
          </a:p>
          <a:p>
            <a:pPr lvl="1" eaLnBrk="1" hangingPunct="1">
              <a:lnSpc>
                <a:spcPct val="80000"/>
              </a:lnSpc>
              <a:spcBef>
                <a:spcPts val="1800"/>
              </a:spcBef>
            </a:pPr>
            <a:r>
              <a:rPr lang="zh-CN" altLang="en-US" dirty="0">
                <a:latin typeface="Times New Roman" panose="02020603050405020304" pitchFamily="18" charset="0"/>
              </a:rPr>
              <a:t>第二次：取操作数。</a:t>
            </a:r>
            <a:endParaRPr lang="zh-CN" altLang="en-US" dirty="0">
              <a:latin typeface="Times New Roman" panose="02020603050405020304" pitchFamily="18" charset="0"/>
              <a:ea typeface="Times New Roman" panose="02020603050405020304" pitchFamily="18" charset="0"/>
            </a:endParaRPr>
          </a:p>
        </p:txBody>
      </p:sp>
      <p:grpSp>
        <p:nvGrpSpPr>
          <p:cNvPr id="34819" name="Group 16"/>
          <p:cNvGrpSpPr/>
          <p:nvPr/>
        </p:nvGrpSpPr>
        <p:grpSpPr>
          <a:xfrm>
            <a:off x="2771775" y="1420813"/>
            <a:ext cx="2895600" cy="461962"/>
            <a:chOff x="960" y="1007"/>
            <a:chExt cx="1824" cy="291"/>
          </a:xfrm>
        </p:grpSpPr>
        <p:sp>
          <p:nvSpPr>
            <p:cNvPr id="34820" name="Rectangle 17"/>
            <p:cNvSpPr/>
            <p:nvPr/>
          </p:nvSpPr>
          <p:spPr>
            <a:xfrm>
              <a:off x="960" y="1008"/>
              <a:ext cx="1824" cy="288"/>
            </a:xfrm>
            <a:prstGeom prst="rect">
              <a:avLst/>
            </a:prstGeom>
            <a:solidFill>
              <a:srgbClr val="FFFFCC"/>
            </a:solidFill>
            <a:ln w="19050" cap="sq" cmpd="sng">
              <a:solidFill>
                <a:srgbClr val="7A48C4"/>
              </a:solidFill>
              <a:prstDash val="solid"/>
              <a:miter/>
              <a:headEnd type="none" w="sm" len="sm"/>
              <a:tailEnd type="none" w="sm" len="sm"/>
            </a:ln>
          </p:spPr>
          <p:txBody>
            <a:bodyPr wrap="none" anchor="ctr" anchorCtr="0"/>
            <a:p>
              <a:pPr algn="ctr"/>
              <a:endParaRPr lang="zh-CN" altLang="en-US" dirty="0">
                <a:latin typeface="Times New Roman" panose="02020603050405020304" pitchFamily="18" charset="0"/>
                <a:ea typeface="Times New Roman" panose="02020603050405020304" pitchFamily="18" charset="0"/>
              </a:endParaRPr>
            </a:p>
          </p:txBody>
        </p:sp>
        <p:sp>
          <p:nvSpPr>
            <p:cNvPr id="34821" name="Line 18"/>
            <p:cNvSpPr/>
            <p:nvPr/>
          </p:nvSpPr>
          <p:spPr>
            <a:xfrm>
              <a:off x="1872" y="1008"/>
              <a:ext cx="0" cy="288"/>
            </a:xfrm>
            <a:prstGeom prst="line">
              <a:avLst/>
            </a:prstGeom>
            <a:ln w="19050" cap="sq" cmpd="sng">
              <a:solidFill>
                <a:srgbClr val="7A48C4"/>
              </a:solidFill>
              <a:prstDash val="solid"/>
              <a:round/>
              <a:headEnd type="none" w="sm" len="sm"/>
              <a:tailEnd type="none" w="sm" len="sm"/>
            </a:ln>
          </p:spPr>
        </p:sp>
        <p:sp>
          <p:nvSpPr>
            <p:cNvPr id="34822" name="Line 19"/>
            <p:cNvSpPr/>
            <p:nvPr/>
          </p:nvSpPr>
          <p:spPr>
            <a:xfrm>
              <a:off x="2784" y="1008"/>
              <a:ext cx="0" cy="288"/>
            </a:xfrm>
            <a:prstGeom prst="line">
              <a:avLst/>
            </a:prstGeom>
            <a:ln w="19050" cap="sq" cmpd="sng">
              <a:solidFill>
                <a:srgbClr val="7A48C4"/>
              </a:solidFill>
              <a:prstDash val="solid"/>
              <a:round/>
              <a:headEnd type="none" w="sm" len="sm"/>
              <a:tailEnd type="none" w="sm" len="sm"/>
            </a:ln>
          </p:spPr>
        </p:sp>
        <p:sp>
          <p:nvSpPr>
            <p:cNvPr id="34823" name="Text Box 20"/>
            <p:cNvSpPr txBox="1"/>
            <p:nvPr/>
          </p:nvSpPr>
          <p:spPr>
            <a:xfrm>
              <a:off x="1258" y="1007"/>
              <a:ext cx="385"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OP</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4824" name="Text Box 21"/>
            <p:cNvSpPr txBox="1"/>
            <p:nvPr/>
          </p:nvSpPr>
          <p:spPr>
            <a:xfrm>
              <a:off x="2186" y="1007"/>
              <a:ext cx="321"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A</a:t>
              </a:r>
              <a:r>
                <a:rPr lang="en-US" altLang="zh-CN" sz="2400" b="1" baseline="-25000" dirty="0">
                  <a:solidFill>
                    <a:schemeClr val="tx1"/>
                  </a:solidFill>
                  <a:latin typeface="Times New Roman" panose="02020603050405020304" pitchFamily="18" charset="0"/>
                  <a:ea typeface="宋体" panose="02010600030101010101" pitchFamily="2" charset="-122"/>
                </a:rPr>
                <a:t>1</a:t>
              </a:r>
              <a:endParaRPr lang="en-US" altLang="zh-CN" sz="2400" b="1"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1"/>
          <p:cNvSpPr>
            <a:spLocks noGrp="1"/>
          </p:cNvSpPr>
          <p:nvPr>
            <p:ph type="title"/>
          </p:nvPr>
        </p:nvSpPr>
        <p:spPr>
          <a:noFill/>
          <a:ln>
            <a:noFill/>
          </a:ln>
        </p:spPr>
        <p:txBody>
          <a:bodyPr anchor="t" anchorCtr="0"/>
          <a:p>
            <a:pPr eaLnBrk="1" hangingPunct="1"/>
            <a:r>
              <a:rPr lang="en-US" altLang="zh-CN" dirty="0"/>
              <a:t>5.</a:t>
            </a:r>
            <a:r>
              <a:rPr lang="zh-CN" altLang="en-US" dirty="0"/>
              <a:t>零地址指令 </a:t>
            </a:r>
            <a:endParaRPr lang="zh-CN" altLang="en-US" dirty="0"/>
          </a:p>
        </p:txBody>
      </p:sp>
      <p:sp>
        <p:nvSpPr>
          <p:cNvPr id="35842" name="内容占位符 2"/>
          <p:cNvSpPr>
            <a:spLocks noGrp="1"/>
          </p:cNvSpPr>
          <p:nvPr>
            <p:ph idx="1"/>
          </p:nvPr>
        </p:nvSpPr>
        <p:spPr>
          <a:xfrm>
            <a:off x="684213" y="2320925"/>
            <a:ext cx="8002587" cy="3894138"/>
          </a:xfrm>
          <a:noFill/>
          <a:ln>
            <a:noFill/>
          </a:ln>
        </p:spPr>
        <p:txBody>
          <a:bodyPr anchor="t" anchorCtr="0"/>
          <a:p>
            <a:pPr eaLnBrk="1" hangingPunct="1">
              <a:spcBef>
                <a:spcPts val="1800"/>
              </a:spcBef>
            </a:pPr>
            <a:r>
              <a:rPr lang="zh-CN" altLang="en-US" dirty="0"/>
              <a:t>用在</a:t>
            </a:r>
            <a:r>
              <a:rPr lang="zh-CN" altLang="en-US" dirty="0">
                <a:solidFill>
                  <a:srgbClr val="FF0000"/>
                </a:solidFill>
              </a:rPr>
              <a:t>堆栈</a:t>
            </a:r>
            <a:r>
              <a:rPr lang="zh-CN" altLang="en-US" dirty="0"/>
              <a:t>计算机中：</a:t>
            </a:r>
            <a:endParaRPr lang="zh-CN" altLang="en-US" dirty="0"/>
          </a:p>
          <a:p>
            <a:pPr lvl="1" eaLnBrk="1" hangingPunct="1">
              <a:lnSpc>
                <a:spcPct val="80000"/>
              </a:lnSpc>
              <a:spcBef>
                <a:spcPts val="1800"/>
              </a:spcBef>
            </a:pPr>
            <a:r>
              <a:rPr lang="zh-CN" altLang="en-US" sz="2400" dirty="0"/>
              <a:t>堆栈计算机没有通用寄存器；</a:t>
            </a:r>
            <a:endParaRPr lang="zh-CN" altLang="en-US" sz="2400" dirty="0"/>
          </a:p>
          <a:p>
            <a:pPr lvl="1" eaLnBrk="1" hangingPunct="1">
              <a:lnSpc>
                <a:spcPct val="80000"/>
              </a:lnSpc>
              <a:spcBef>
                <a:spcPts val="1800"/>
              </a:spcBef>
            </a:pPr>
            <a:r>
              <a:rPr lang="zh-CN" altLang="en-US" sz="2400" dirty="0"/>
              <a:t>堆栈提供操作数和保存运算结果。</a:t>
            </a:r>
            <a:endParaRPr lang="en-US" altLang="zh-CN" dirty="0"/>
          </a:p>
          <a:p>
            <a:pPr eaLnBrk="1" hangingPunct="1">
              <a:spcBef>
                <a:spcPts val="1800"/>
              </a:spcBef>
            </a:pPr>
            <a:r>
              <a:rPr lang="zh-CN" altLang="en-US" dirty="0"/>
              <a:t>存取数和计算过程：</a:t>
            </a:r>
            <a:endParaRPr lang="zh-CN" altLang="en-US" dirty="0"/>
          </a:p>
          <a:p>
            <a:pPr lvl="1" eaLnBrk="1" hangingPunct="1">
              <a:lnSpc>
                <a:spcPct val="80000"/>
              </a:lnSpc>
              <a:spcBef>
                <a:spcPts val="1800"/>
              </a:spcBef>
            </a:pPr>
            <a:r>
              <a:rPr lang="zh-CN" altLang="en-US" sz="2400" dirty="0"/>
              <a:t>操作数隐含地从堆栈顶部弹出；</a:t>
            </a:r>
            <a:endParaRPr lang="zh-CN" altLang="en-US" sz="2400" dirty="0"/>
          </a:p>
          <a:p>
            <a:pPr lvl="1" eaLnBrk="1" hangingPunct="1">
              <a:lnSpc>
                <a:spcPct val="80000"/>
              </a:lnSpc>
              <a:spcBef>
                <a:spcPts val="1800"/>
              </a:spcBef>
            </a:pPr>
            <a:r>
              <a:rPr lang="zh-CN" altLang="en-US" sz="2400" dirty="0"/>
              <a:t>送到运算器中进行运算；</a:t>
            </a:r>
            <a:endParaRPr lang="zh-CN" altLang="en-US" sz="2400" dirty="0"/>
          </a:p>
          <a:p>
            <a:pPr lvl="1" eaLnBrk="1" hangingPunct="1">
              <a:lnSpc>
                <a:spcPct val="80000"/>
              </a:lnSpc>
              <a:spcBef>
                <a:spcPts val="1800"/>
              </a:spcBef>
            </a:pPr>
            <a:r>
              <a:rPr lang="zh-CN" altLang="en-US" sz="2400" dirty="0"/>
              <a:t>运算的结果再隐含地压入堆栈。</a:t>
            </a:r>
            <a:endParaRPr lang="zh-CN" altLang="en-US" sz="2400" dirty="0"/>
          </a:p>
        </p:txBody>
      </p:sp>
      <p:grpSp>
        <p:nvGrpSpPr>
          <p:cNvPr id="35843" name="Group 10"/>
          <p:cNvGrpSpPr/>
          <p:nvPr/>
        </p:nvGrpSpPr>
        <p:grpSpPr>
          <a:xfrm>
            <a:off x="3708400" y="1452563"/>
            <a:ext cx="1447800" cy="461962"/>
            <a:chOff x="960" y="1007"/>
            <a:chExt cx="912" cy="291"/>
          </a:xfrm>
        </p:grpSpPr>
        <p:sp>
          <p:nvSpPr>
            <p:cNvPr id="35844" name="Rectangle 11"/>
            <p:cNvSpPr/>
            <p:nvPr/>
          </p:nvSpPr>
          <p:spPr>
            <a:xfrm>
              <a:off x="960" y="1008"/>
              <a:ext cx="912" cy="288"/>
            </a:xfrm>
            <a:prstGeom prst="rect">
              <a:avLst/>
            </a:prstGeom>
            <a:solidFill>
              <a:srgbClr val="FFFFCC"/>
            </a:solidFill>
            <a:ln w="19050" cap="sq" cmpd="sng">
              <a:solidFill>
                <a:srgbClr val="7A48C4"/>
              </a:solidFill>
              <a:prstDash val="solid"/>
              <a:miter/>
              <a:headEnd type="none" w="sm" len="sm"/>
              <a:tailEnd type="none" w="sm" len="sm"/>
            </a:ln>
          </p:spPr>
          <p:txBody>
            <a:bodyPr wrap="none" anchor="ctr" anchorCtr="0"/>
            <a:p>
              <a:pPr algn="ctr"/>
              <a:endParaRPr lang="zh-CN" altLang="en-US" dirty="0">
                <a:latin typeface="Times New Roman" panose="02020603050405020304" pitchFamily="18" charset="0"/>
                <a:ea typeface="Times New Roman" panose="02020603050405020304" pitchFamily="18" charset="0"/>
              </a:endParaRPr>
            </a:p>
          </p:txBody>
        </p:sp>
        <p:sp>
          <p:nvSpPr>
            <p:cNvPr id="35845" name="Line 12"/>
            <p:cNvSpPr/>
            <p:nvPr/>
          </p:nvSpPr>
          <p:spPr>
            <a:xfrm>
              <a:off x="1872" y="1008"/>
              <a:ext cx="0" cy="288"/>
            </a:xfrm>
            <a:prstGeom prst="line">
              <a:avLst/>
            </a:prstGeom>
            <a:ln w="19050" cap="sq" cmpd="sng">
              <a:solidFill>
                <a:srgbClr val="7A48C4"/>
              </a:solidFill>
              <a:prstDash val="solid"/>
              <a:round/>
              <a:headEnd type="none" w="sm" len="sm"/>
              <a:tailEnd type="none" w="sm" len="sm"/>
            </a:ln>
          </p:spPr>
        </p:sp>
        <p:sp>
          <p:nvSpPr>
            <p:cNvPr id="35846" name="Text Box 13"/>
            <p:cNvSpPr txBox="1"/>
            <p:nvPr/>
          </p:nvSpPr>
          <p:spPr>
            <a:xfrm>
              <a:off x="1258" y="1007"/>
              <a:ext cx="385" cy="291"/>
            </a:xfrm>
            <a:prstGeom prst="rect">
              <a:avLst/>
            </a:prstGeom>
            <a:noFill/>
            <a:ln w="57150">
              <a:noFill/>
            </a:ln>
          </p:spPr>
          <p:txBody>
            <a:bodyPr wrap="none" anchor="ctr" anchorCtr="0">
              <a:spAutoFit/>
            </a:bodyPr>
            <a:p>
              <a:pPr algn="ct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OP</a:t>
              </a:r>
              <a:endParaRPr lang="en-US" altLang="zh-CN" sz="2400" b="1"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a:noFill/>
          <a:ln>
            <a:noFill/>
          </a:ln>
        </p:spPr>
        <p:txBody>
          <a:bodyPr anchor="t" anchorCtr="0"/>
          <a:p>
            <a:pPr eaLnBrk="1" hangingPunct="1"/>
            <a:r>
              <a:rPr lang="zh-CN" altLang="en-US" dirty="0"/>
              <a:t>不同地址数指令的特点和适用场合</a:t>
            </a:r>
            <a:endParaRPr lang="zh-CN" altLang="en-US" dirty="0"/>
          </a:p>
        </p:txBody>
      </p:sp>
      <p:sp>
        <p:nvSpPr>
          <p:cNvPr id="36866" name="内容占位符 2"/>
          <p:cNvSpPr>
            <a:spLocks noGrp="1"/>
          </p:cNvSpPr>
          <p:nvPr>
            <p:ph idx="1"/>
          </p:nvPr>
        </p:nvSpPr>
        <p:spPr>
          <a:xfrm>
            <a:off x="457200" y="1530350"/>
            <a:ext cx="8229600" cy="1871663"/>
          </a:xfrm>
          <a:noFill/>
          <a:ln>
            <a:noFill/>
          </a:ln>
        </p:spPr>
        <p:txBody>
          <a:bodyPr anchor="t" anchorCtr="0"/>
          <a:p>
            <a:pPr eaLnBrk="1" hangingPunct="1">
              <a:lnSpc>
                <a:spcPct val="120000"/>
              </a:lnSpc>
            </a:pPr>
            <a:r>
              <a:rPr lang="zh-CN" altLang="en-US" sz="2400" dirty="0"/>
              <a:t>对于同一个问题：</a:t>
            </a:r>
            <a:endParaRPr lang="zh-CN" altLang="en-US" sz="2400" dirty="0"/>
          </a:p>
          <a:p>
            <a:pPr lvl="1" eaLnBrk="1" hangingPunct="1">
              <a:lnSpc>
                <a:spcPct val="120000"/>
              </a:lnSpc>
            </a:pPr>
            <a:r>
              <a:rPr lang="zh-CN" altLang="en-US" sz="2400" dirty="0"/>
              <a:t>编写程序的指令长度越长，程序越短；</a:t>
            </a:r>
            <a:endParaRPr lang="zh-CN" altLang="en-US" sz="2400" dirty="0"/>
          </a:p>
          <a:p>
            <a:pPr lvl="1" eaLnBrk="1" hangingPunct="1">
              <a:lnSpc>
                <a:spcPct val="120000"/>
              </a:lnSpc>
            </a:pPr>
            <a:r>
              <a:rPr lang="zh-CN" altLang="en-US" sz="2400" dirty="0"/>
              <a:t>三地址指令长度最长，零地址指令长度最短。</a:t>
            </a:r>
            <a:endParaRPr lang="zh-CN" altLang="en-US" sz="2400" dirty="0"/>
          </a:p>
        </p:txBody>
      </p:sp>
      <p:sp>
        <p:nvSpPr>
          <p:cNvPr id="36868" name="文本框 4"/>
          <p:cNvSpPr txBox="1"/>
          <p:nvPr/>
        </p:nvSpPr>
        <p:spPr>
          <a:xfrm>
            <a:off x="1259840" y="4437380"/>
            <a:ext cx="6115050" cy="522288"/>
          </a:xfrm>
          <a:prstGeom prst="rect">
            <a:avLst/>
          </a:prstGeom>
          <a:noFill/>
          <a:ln w="9525">
            <a:noFill/>
          </a:ln>
        </p:spPr>
        <p:txBody>
          <a:bodyPr wrap="square" anchor="t" anchorCtr="0">
            <a:spAutoFit/>
          </a:bodyPr>
          <a:p>
            <a:pPr algn="ctr">
              <a:buSzTx/>
            </a:pPr>
            <a:r>
              <a:rPr lang="zh-CN" altLang="en-US" sz="2800" b="1" dirty="0">
                <a:solidFill>
                  <a:srgbClr val="FF0000"/>
                </a:solidFill>
                <a:latin typeface="黑体" panose="02010609060101010101" pitchFamily="49" charset="-122"/>
                <a:ea typeface="黑体" panose="02010609060101010101" pitchFamily="49" charset="-122"/>
              </a:rPr>
              <a:t>思考：程序执行速度与哪些因素有关？</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3.1.3 </a:t>
            </a:r>
            <a:r>
              <a:rPr lang="zh-CN" altLang="en-US" dirty="0">
                <a:latin typeface="Times New Roman" panose="02020603050405020304" pitchFamily="18" charset="0"/>
              </a:rPr>
              <a:t>指令的操作码</a:t>
            </a:r>
            <a:endParaRPr lang="zh-CN" altLang="en-US" dirty="0">
              <a:latin typeface="Times New Roman" panose="02020603050405020304" pitchFamily="18" charset="0"/>
              <a:ea typeface="Times New Roman" panose="02020603050405020304" pitchFamily="18" charset="0"/>
            </a:endParaRPr>
          </a:p>
        </p:txBody>
      </p:sp>
      <p:sp>
        <p:nvSpPr>
          <p:cNvPr id="37890" name="内容占位符 2"/>
          <p:cNvSpPr>
            <a:spLocks noGrp="1"/>
          </p:cNvSpPr>
          <p:nvPr>
            <p:ph idx="1"/>
          </p:nvPr>
        </p:nvSpPr>
        <p:spPr>
          <a:xfrm>
            <a:off x="457200" y="1600200"/>
            <a:ext cx="8229600" cy="3700463"/>
          </a:xfrm>
          <a:noFill/>
          <a:ln>
            <a:noFill/>
          </a:ln>
        </p:spPr>
        <p:txBody>
          <a:bodyPr anchor="t" anchorCtr="0"/>
          <a:p>
            <a:pPr eaLnBrk="1" hangingPunct="1">
              <a:spcBef>
                <a:spcPts val="1800"/>
              </a:spcBef>
            </a:pPr>
            <a:r>
              <a:rPr lang="zh-CN" altLang="en-US" dirty="0">
                <a:latin typeface="Times New Roman" panose="02020603050405020304" pitchFamily="18" charset="0"/>
              </a:rPr>
              <a:t>指令系统中每条指令有一个</a:t>
            </a:r>
            <a:r>
              <a:rPr lang="zh-CN" altLang="en-US" dirty="0">
                <a:solidFill>
                  <a:srgbClr val="FF0000"/>
                </a:solidFill>
                <a:latin typeface="Times New Roman" panose="02020603050405020304" pitchFamily="18" charset="0"/>
              </a:rPr>
              <a:t>唯一确定的操作码</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eaLnBrk="1" hangingPunct="1">
              <a:spcBef>
                <a:spcPts val="1800"/>
              </a:spcBef>
            </a:pPr>
            <a:r>
              <a:rPr lang="zh-CN" altLang="en-US" dirty="0">
                <a:latin typeface="Times New Roman" panose="02020603050405020304" pitchFamily="18" charset="0"/>
              </a:rPr>
              <a:t>指令不同，其操作码的编码也不同；</a:t>
            </a:r>
            <a:endParaRPr lang="zh-CN" altLang="en-US" dirty="0">
              <a:latin typeface="Times New Roman" panose="02020603050405020304" pitchFamily="18" charset="0"/>
            </a:endParaRPr>
          </a:p>
          <a:p>
            <a:pPr lvl="1" eaLnBrk="1" hangingPunct="1">
              <a:spcBef>
                <a:spcPts val="1800"/>
              </a:spcBef>
            </a:pPr>
            <a:r>
              <a:rPr lang="zh-CN" altLang="en-US" dirty="0">
                <a:latin typeface="Times New Roman" panose="02020603050405020304" pitchFamily="18" charset="0"/>
              </a:rPr>
              <a:t>希望用</a:t>
            </a:r>
            <a:r>
              <a:rPr lang="zh-CN" altLang="en-US" dirty="0">
                <a:solidFill>
                  <a:srgbClr val="FF0000"/>
                </a:solidFill>
                <a:latin typeface="Times New Roman" panose="02020603050405020304" pitchFamily="18" charset="0"/>
              </a:rPr>
              <a:t>尽可能短</a:t>
            </a:r>
            <a:r>
              <a:rPr lang="zh-CN" altLang="en-US" dirty="0">
                <a:latin typeface="Times New Roman" panose="02020603050405020304" pitchFamily="18" charset="0"/>
              </a:rPr>
              <a:t>的操作码字段表达全部的指令</a:t>
            </a:r>
            <a:endParaRPr lang="en-US" altLang="zh-CN" dirty="0">
              <a:latin typeface="Times New Roman" panose="02020603050405020304" pitchFamily="18" charset="0"/>
            </a:endParaRPr>
          </a:p>
          <a:p>
            <a:pPr lvl="1" eaLnBrk="1" hangingPunct="1">
              <a:spcBef>
                <a:spcPts val="1800"/>
              </a:spcBef>
              <a:buSzTx/>
            </a:pPr>
            <a:r>
              <a:rPr lang="zh-CN" altLang="en-US" dirty="0">
                <a:latin typeface="Times New Roman" panose="02020603050405020304" pitchFamily="18" charset="0"/>
              </a:rPr>
              <a:t>根据编码方式可以分为：</a:t>
            </a:r>
            <a:endParaRPr lang="zh-CN" altLang="en-US" dirty="0">
              <a:latin typeface="Times New Roman" panose="02020603050405020304" pitchFamily="18" charset="0"/>
            </a:endParaRPr>
          </a:p>
          <a:p>
            <a:pPr lvl="2" eaLnBrk="1" hangingPunct="1">
              <a:spcBef>
                <a:spcPts val="1800"/>
              </a:spcBef>
              <a:buSzTx/>
            </a:pPr>
            <a:r>
              <a:rPr lang="zh-CN" altLang="en-US" dirty="0">
                <a:latin typeface="Times New Roman" panose="02020603050405020304" pitchFamily="18" charset="0"/>
              </a:rPr>
              <a:t>规整型；</a:t>
            </a:r>
            <a:endParaRPr lang="zh-CN" altLang="en-US" dirty="0">
              <a:latin typeface="Times New Roman" panose="02020603050405020304" pitchFamily="18" charset="0"/>
            </a:endParaRPr>
          </a:p>
          <a:p>
            <a:pPr lvl="2" eaLnBrk="1" hangingPunct="1">
              <a:spcBef>
                <a:spcPts val="1800"/>
              </a:spcBef>
              <a:buSzTx/>
            </a:pPr>
            <a:r>
              <a:rPr lang="zh-CN" altLang="en-US" dirty="0">
                <a:latin typeface="Times New Roman" panose="02020603050405020304" pitchFamily="18" charset="0"/>
              </a:rPr>
              <a:t>非规整型。</a:t>
            </a:r>
            <a:endParaRPr lang="zh-CN" altLang="en-US" dirty="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规整型</a:t>
            </a:r>
            <a:endParaRPr lang="zh-CN" altLang="en-US" dirty="0">
              <a:latin typeface="Times New Roman" panose="02020603050405020304" pitchFamily="18" charset="0"/>
              <a:ea typeface="Times New Roman" panose="02020603050405020304" pitchFamily="18" charset="0"/>
            </a:endParaRPr>
          </a:p>
        </p:txBody>
      </p:sp>
      <p:sp>
        <p:nvSpPr>
          <p:cNvPr id="38914" name="内容占位符 2"/>
          <p:cNvSpPr>
            <a:spLocks noGrp="1"/>
          </p:cNvSpPr>
          <p:nvPr>
            <p:ph idx="1"/>
          </p:nvPr>
        </p:nvSpPr>
        <p:spPr>
          <a:xfrm>
            <a:off x="457200" y="1404938"/>
            <a:ext cx="8229600" cy="4760912"/>
          </a:xfrm>
          <a:noFill/>
          <a:ln>
            <a:noFill/>
          </a:ln>
        </p:spPr>
        <p:txBody>
          <a:bodyPr anchor="t" anchorCtr="0"/>
          <a:p>
            <a:pPr eaLnBrk="1" hangingPunct="1">
              <a:spcBef>
                <a:spcPts val="1800"/>
              </a:spcBef>
            </a:pPr>
            <a:r>
              <a:rPr lang="zh-CN" altLang="en-US" dirty="0">
                <a:latin typeface="Times New Roman" panose="02020603050405020304" pitchFamily="18" charset="0"/>
              </a:rPr>
              <a:t>操作码字段的位数和位置是固定的。</a:t>
            </a:r>
            <a:endParaRPr lang="zh-CN" altLang="en-US" dirty="0">
              <a:latin typeface="Times New Roman" panose="02020603050405020304" pitchFamily="18" charset="0"/>
            </a:endParaRPr>
          </a:p>
          <a:p>
            <a:pPr lvl="1" eaLnBrk="1" latinLnBrk="0" hangingPunct="1">
              <a:lnSpc>
                <a:spcPct val="120000"/>
              </a:lnSpc>
              <a:spcBef>
                <a:spcPts val="1200"/>
              </a:spcBef>
            </a:pPr>
            <a:r>
              <a:rPr lang="zh-CN" altLang="en-US" dirty="0">
                <a:latin typeface="Times New Roman" panose="02020603050405020304" pitchFamily="18" charset="0"/>
              </a:rPr>
              <a:t>指令系统共有</a:t>
            </a:r>
            <a:r>
              <a:rPr lang="en-US" altLang="zh-CN" dirty="0">
                <a:latin typeface="Times New Roman" panose="02020603050405020304" pitchFamily="18" charset="0"/>
              </a:rPr>
              <a:t>m</a:t>
            </a:r>
            <a:r>
              <a:rPr lang="zh-CN" altLang="en-US" dirty="0">
                <a:latin typeface="Times New Roman" panose="02020603050405020304" pitchFamily="18" charset="0"/>
              </a:rPr>
              <a:t>条指令，操作码字段位数为</a:t>
            </a:r>
            <a:r>
              <a:rPr lang="en-US" altLang="zh-CN" dirty="0">
                <a:latin typeface="Times New Roman" panose="02020603050405020304" pitchFamily="18" charset="0"/>
              </a:rPr>
              <a:t>N</a:t>
            </a:r>
            <a:r>
              <a:rPr lang="zh-CN" altLang="en-US" dirty="0">
                <a:latin typeface="Times New Roman" panose="02020603050405020304" pitchFamily="18" charset="0"/>
              </a:rPr>
              <a:t>位</a:t>
            </a:r>
            <a:endParaRPr lang="zh-CN" altLang="en-US" dirty="0">
              <a:latin typeface="Times New Roman" panose="02020603050405020304" pitchFamily="18" charset="0"/>
            </a:endParaRPr>
          </a:p>
          <a:p>
            <a:pPr lvl="2" eaLnBrk="1" hangingPunct="1">
              <a:lnSpc>
                <a:spcPct val="120000"/>
              </a:lnSpc>
              <a:spcBef>
                <a:spcPts val="600"/>
              </a:spcBef>
            </a:pPr>
            <a:r>
              <a:rPr lang="en-US" altLang="zh-CN" dirty="0">
                <a:latin typeface="Times New Roman" panose="02020603050405020304" pitchFamily="18" charset="0"/>
              </a:rPr>
              <a:t>N≥log</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baseline="30000" dirty="0">
                <a:latin typeface="Times New Roman" panose="02020603050405020304" pitchFamily="18" charset="0"/>
              </a:rPr>
              <a:t>m</a:t>
            </a:r>
            <a:endParaRPr lang="en-US" altLang="zh-CN"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规整型编码优点：</a:t>
            </a:r>
            <a:endParaRPr lang="zh-CN" altLang="en-US" dirty="0">
              <a:latin typeface="Times New Roman" panose="02020603050405020304" pitchFamily="18" charset="0"/>
            </a:endParaRPr>
          </a:p>
          <a:p>
            <a:pPr lvl="1" eaLnBrk="1" hangingPunct="1">
              <a:lnSpc>
                <a:spcPct val="70000"/>
              </a:lnSpc>
              <a:spcBef>
                <a:spcPts val="1800"/>
              </a:spcBef>
            </a:pPr>
            <a:r>
              <a:rPr lang="zh-CN" altLang="en-US" dirty="0">
                <a:solidFill>
                  <a:srgbClr val="FF0000"/>
                </a:solidFill>
                <a:latin typeface="Times New Roman" panose="02020603050405020304" pitchFamily="18" charset="0"/>
              </a:rPr>
              <a:t>简化硬件设计</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eaLnBrk="1" hangingPunct="1">
              <a:lnSpc>
                <a:spcPct val="70000"/>
              </a:lnSpc>
              <a:spcBef>
                <a:spcPts val="1800"/>
              </a:spcBef>
            </a:pPr>
            <a:r>
              <a:rPr lang="zh-CN" altLang="en-US" dirty="0">
                <a:solidFill>
                  <a:srgbClr val="FF0000"/>
                </a:solidFill>
                <a:latin typeface="Times New Roman" panose="02020603050405020304" pitchFamily="18" charset="0"/>
              </a:rPr>
              <a:t>减少指令译码的时间</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eaLnBrk="1" hangingPunct="1">
              <a:spcBef>
                <a:spcPts val="1800"/>
              </a:spcBef>
            </a:pPr>
            <a:r>
              <a:rPr lang="en-US" altLang="zh-CN" dirty="0">
                <a:latin typeface="Times New Roman" panose="02020603050405020304" pitchFamily="18" charset="0"/>
              </a:rPr>
              <a:t>IBM 370</a:t>
            </a:r>
            <a:r>
              <a:rPr lang="zh-CN" altLang="en-US" dirty="0">
                <a:latin typeface="Times New Roman" panose="02020603050405020304" pitchFamily="18" charset="0"/>
              </a:rPr>
              <a:t>机（字长</a:t>
            </a:r>
            <a:r>
              <a:rPr lang="en-US" altLang="zh-CN" dirty="0">
                <a:latin typeface="Times New Roman" panose="02020603050405020304" pitchFamily="18" charset="0"/>
              </a:rPr>
              <a:t>32</a:t>
            </a:r>
            <a:r>
              <a:rPr lang="zh-CN" altLang="en-US" dirty="0">
                <a:latin typeface="Times New Roman" panose="02020603050405020304" pitchFamily="18" charset="0"/>
              </a:rPr>
              <a:t>位）的指令：</a:t>
            </a:r>
            <a:endParaRPr lang="zh-CN" altLang="en-US" dirty="0">
              <a:latin typeface="Times New Roman" panose="02020603050405020304" pitchFamily="18" charset="0"/>
            </a:endParaRPr>
          </a:p>
          <a:p>
            <a:pPr lvl="1" eaLnBrk="1" hangingPunct="1">
              <a:spcBef>
                <a:spcPts val="1800"/>
              </a:spcBef>
            </a:pPr>
            <a:r>
              <a:rPr lang="zh-CN" altLang="en-US" dirty="0">
                <a:latin typeface="Times New Roman" panose="02020603050405020304" pitchFamily="18" charset="0"/>
              </a:rPr>
              <a:t>分为三种不同的长度</a:t>
            </a:r>
            <a:r>
              <a:rPr lang="zh-CN" altLang="zh-CN" dirty="0">
                <a:latin typeface="Times New Roman" panose="02020603050405020304" pitchFamily="18" charset="0"/>
              </a:rPr>
              <a:t>，</a:t>
            </a:r>
            <a:r>
              <a:rPr lang="zh-CN" altLang="en-US" dirty="0">
                <a:latin typeface="Times New Roman" panose="02020603050405020304" pitchFamily="18" charset="0"/>
              </a:rPr>
              <a:t>操作码字段一律</a:t>
            </a:r>
            <a:r>
              <a:rPr lang="en-US" altLang="zh-CN" dirty="0">
                <a:latin typeface="Times New Roman" panose="02020603050405020304" pitchFamily="18" charset="0"/>
              </a:rPr>
              <a:t>8</a:t>
            </a:r>
            <a:r>
              <a:rPr lang="zh-CN" altLang="en-US" dirty="0">
                <a:latin typeface="Times New Roman" panose="02020603050405020304" pitchFamily="18" charset="0"/>
              </a:rPr>
              <a:t>位。</a:t>
            </a:r>
            <a:endParaRPr lang="zh-CN" altLang="en-US" dirty="0">
              <a:latin typeface="Times New Roman" panose="02020603050405020304" pitchFamily="18" charset="0"/>
            </a:endParaRPr>
          </a:p>
          <a:p>
            <a:pPr eaLnBrk="1" hangingPunct="1">
              <a:spcBef>
                <a:spcPts val="1800"/>
              </a:spcBef>
            </a:pP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IBM 370</a:t>
            </a:r>
            <a:r>
              <a:rPr lang="zh-CN" altLang="en-US" dirty="0">
                <a:latin typeface="Times New Roman" panose="02020603050405020304" pitchFamily="18" charset="0"/>
              </a:rPr>
              <a:t>机的指令格式</a:t>
            </a:r>
            <a:endParaRPr lang="zh-CN" altLang="en-US" dirty="0">
              <a:latin typeface="Times New Roman" panose="02020603050405020304" pitchFamily="18" charset="0"/>
              <a:ea typeface="Times New Roman" panose="02020603050405020304" pitchFamily="18" charset="0"/>
            </a:endParaRPr>
          </a:p>
        </p:txBody>
      </p:sp>
      <p:sp>
        <p:nvSpPr>
          <p:cNvPr id="5" name="Rectangle 2052"/>
          <p:cNvSpPr txBox="1">
            <a:spLocks noChangeArrowheads="1"/>
          </p:cNvSpPr>
          <p:nvPr/>
        </p:nvSpPr>
        <p:spPr>
          <a:xfrm>
            <a:off x="971550" y="5943600"/>
            <a:ext cx="6800850" cy="60960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图3-1 </a:t>
            </a:r>
            <a:r>
              <a:rPr kumimoji="0" lang="en-US" altLang="zh-CN"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IBM 370</a:t>
            </a: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机的指令格式</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585470" y="1457325"/>
            <a:ext cx="8053705" cy="41694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非规整型</a:t>
            </a:r>
            <a:endParaRPr lang="zh-CN" altLang="en-US" dirty="0">
              <a:latin typeface="Times New Roman" panose="02020603050405020304" pitchFamily="18" charset="0"/>
              <a:ea typeface="Times New Roman" panose="02020603050405020304" pitchFamily="18" charset="0"/>
            </a:endParaRPr>
          </a:p>
        </p:txBody>
      </p:sp>
      <p:sp>
        <p:nvSpPr>
          <p:cNvPr id="40962" name="内容占位符 2"/>
          <p:cNvSpPr>
            <a:spLocks noGrp="1"/>
          </p:cNvSpPr>
          <p:nvPr>
            <p:ph idx="1"/>
          </p:nvPr>
        </p:nvSpPr>
        <p:spPr>
          <a:xfrm>
            <a:off x="457200" y="1600200"/>
            <a:ext cx="8229600" cy="4594225"/>
          </a:xfrm>
          <a:noFill/>
          <a:ln>
            <a:noFill/>
          </a:ln>
        </p:spPr>
        <p:txBody>
          <a:bodyPr anchor="t" anchorCtr="0"/>
          <a:p>
            <a:pPr eaLnBrk="1" hangingPunct="1">
              <a:spcBef>
                <a:spcPts val="1800"/>
              </a:spcBef>
            </a:pPr>
            <a:r>
              <a:rPr lang="zh-CN" altLang="en-US" dirty="0">
                <a:latin typeface="Times New Roman" panose="02020603050405020304" pitchFamily="18" charset="0"/>
              </a:rPr>
              <a:t>操作码字段</a:t>
            </a:r>
            <a:r>
              <a:rPr lang="zh-CN" altLang="en-US" dirty="0">
                <a:solidFill>
                  <a:srgbClr val="FF0000"/>
                </a:solidFill>
                <a:latin typeface="Times New Roman" panose="02020603050405020304" pitchFamily="18" charset="0"/>
              </a:rPr>
              <a:t>位数不固定，且分散</a:t>
            </a:r>
            <a:r>
              <a:rPr lang="zh-CN" altLang="en-US" dirty="0">
                <a:latin typeface="Times New Roman" panose="02020603050405020304" pitchFamily="18" charset="0"/>
              </a:rPr>
              <a:t>地放在不同位置；</a:t>
            </a:r>
            <a:endParaRPr lang="zh-CN" altLang="en-US" dirty="0">
              <a:latin typeface="Times New Roman" panose="02020603050405020304" pitchFamily="18" charset="0"/>
            </a:endParaRPr>
          </a:p>
          <a:p>
            <a:pPr eaLnBrk="1" hangingPunct="1">
              <a:spcBef>
                <a:spcPts val="1800"/>
              </a:spcBef>
            </a:pPr>
            <a:r>
              <a:rPr lang="en-US" altLang="zh-CN" dirty="0">
                <a:latin typeface="Times New Roman" panose="02020603050405020304" pitchFamily="18" charset="0"/>
              </a:rPr>
              <a:t>PDP-11</a:t>
            </a:r>
            <a:r>
              <a:rPr lang="zh-CN" altLang="en-US" dirty="0">
                <a:latin typeface="Times New Roman" panose="02020603050405020304" pitchFamily="18" charset="0"/>
              </a:rPr>
              <a:t>机（字长</a:t>
            </a:r>
            <a:r>
              <a:rPr lang="en-US" altLang="zh-CN" dirty="0">
                <a:latin typeface="Times New Roman" panose="02020603050405020304" pitchFamily="18" charset="0"/>
              </a:rPr>
              <a:t>16</a:t>
            </a:r>
            <a:r>
              <a:rPr lang="zh-CN" altLang="en-US" dirty="0">
                <a:latin typeface="Times New Roman" panose="02020603050405020304" pitchFamily="18" charset="0"/>
              </a:rPr>
              <a:t>位）的指令：</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分为单字长、两字长、三字长三种；</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操作码字段占</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dirty="0">
                <a:latin typeface="Times New Roman" panose="02020603050405020304" pitchFamily="18" charset="0"/>
              </a:rPr>
              <a:t>16</a:t>
            </a:r>
            <a:r>
              <a:rPr lang="zh-CN" altLang="en-US" sz="2400" dirty="0">
                <a:latin typeface="Times New Roman" panose="02020603050405020304" pitchFamily="18" charset="0"/>
              </a:rPr>
              <a:t>位不等；</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遍及整个指令长度</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缺点：</a:t>
            </a:r>
            <a:endParaRPr lang="zh-CN" altLang="en-US" dirty="0">
              <a:latin typeface="Times New Roman" panose="02020603050405020304" pitchFamily="18" charset="0"/>
            </a:endParaRPr>
          </a:p>
          <a:p>
            <a:pPr lvl="1" eaLnBrk="1" hangingPunct="1">
              <a:spcBef>
                <a:spcPts val="1800"/>
              </a:spcBef>
            </a:pPr>
            <a:r>
              <a:rPr lang="zh-CN" altLang="en-US" dirty="0">
                <a:solidFill>
                  <a:srgbClr val="FF0000"/>
                </a:solidFill>
                <a:latin typeface="Times New Roman" panose="02020603050405020304" pitchFamily="18" charset="0"/>
              </a:rPr>
              <a:t>增加指令译码和分析的难度</a:t>
            </a:r>
            <a:r>
              <a:rPr lang="zh-CN" altLang="en-US" dirty="0">
                <a:latin typeface="Times New Roman" panose="02020603050405020304" pitchFamily="18" charset="0"/>
              </a:rPr>
              <a:t>，控制器设计复杂</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PDP-11</a:t>
            </a:r>
            <a:r>
              <a:rPr lang="zh-CN" altLang="en-US" dirty="0">
                <a:latin typeface="Times New Roman" panose="02020603050405020304" pitchFamily="18" charset="0"/>
              </a:rPr>
              <a:t>机的指令格式</a:t>
            </a:r>
            <a:endParaRPr lang="zh-CN" altLang="en-US" dirty="0">
              <a:latin typeface="Times New Roman" panose="02020603050405020304" pitchFamily="18" charset="0"/>
              <a:ea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755650" y="1268730"/>
            <a:ext cx="7358380" cy="4919980"/>
          </a:xfrm>
          <a:prstGeom prst="rect">
            <a:avLst/>
          </a:prstGeom>
        </p:spPr>
      </p:pic>
      <p:sp>
        <p:nvSpPr>
          <p:cNvPr id="5" name="Rectangle 4"/>
          <p:cNvSpPr txBox="1">
            <a:spLocks noChangeArrowheads="1"/>
          </p:cNvSpPr>
          <p:nvPr/>
        </p:nvSpPr>
        <p:spPr>
          <a:xfrm>
            <a:off x="3491548" y="5517198"/>
            <a:ext cx="4465638" cy="455613"/>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图3-2 </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PDP-11</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机的指令格式</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扩展操作码法 </a:t>
            </a:r>
            <a:endParaRPr lang="zh-CN" altLang="en-US" dirty="0">
              <a:latin typeface="Times New Roman" panose="02020603050405020304" pitchFamily="18" charset="0"/>
              <a:ea typeface="Times New Roman" panose="02020603050405020304" pitchFamily="18" charset="0"/>
            </a:endParaRPr>
          </a:p>
        </p:txBody>
      </p:sp>
      <p:sp>
        <p:nvSpPr>
          <p:cNvPr id="43010" name="内容占位符 2"/>
          <p:cNvSpPr>
            <a:spLocks noGrp="1"/>
          </p:cNvSpPr>
          <p:nvPr>
            <p:ph idx="1"/>
          </p:nvPr>
        </p:nvSpPr>
        <p:spPr>
          <a:xfrm>
            <a:off x="457200" y="1600200"/>
            <a:ext cx="8229600" cy="4708525"/>
          </a:xfrm>
          <a:noFill/>
          <a:ln>
            <a:noFill/>
          </a:ln>
        </p:spPr>
        <p:txBody>
          <a:bodyPr anchor="t" anchorCtr="0"/>
          <a:p>
            <a:pPr eaLnBrk="1" hangingPunct="1">
              <a:spcBef>
                <a:spcPts val="1800"/>
              </a:spcBef>
            </a:pPr>
            <a:r>
              <a:rPr lang="zh-CN" altLang="en-US" dirty="0">
                <a:latin typeface="Times New Roman" panose="02020603050405020304" pitchFamily="18" charset="0"/>
              </a:rPr>
              <a:t>最常用的非规整型编码方式是扩展操作码法。</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操作数地址个数多的指令操作码字段短些；</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操作数地址个数少的指令操作码字段长些；</a:t>
            </a:r>
            <a:endParaRPr lang="en-US" altLang="zh-CN" sz="2400" dirty="0">
              <a:latin typeface="Times New Roman" panose="02020603050405020304" pitchFamily="18" charset="0"/>
            </a:endParaRPr>
          </a:p>
          <a:p>
            <a:pPr eaLnBrk="1" latinLnBrk="0" hangingPunct="1">
              <a:spcBef>
                <a:spcPts val="2400"/>
              </a:spcBef>
            </a:pPr>
            <a:r>
              <a:rPr lang="zh-CN" altLang="en-US" dirty="0">
                <a:latin typeface="Times New Roman" panose="02020603050405020304" pitchFamily="18" charset="0"/>
              </a:rPr>
              <a:t>例如：</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指令长度为</a:t>
            </a:r>
            <a:r>
              <a:rPr lang="en-US" altLang="zh-CN" sz="2400" dirty="0">
                <a:latin typeface="Times New Roman" panose="02020603050405020304" pitchFamily="18" charset="0"/>
              </a:rPr>
              <a:t>16</a:t>
            </a:r>
            <a:r>
              <a:rPr lang="zh-CN" altLang="en-US" sz="2400" dirty="0">
                <a:latin typeface="Times New Roman" panose="02020603050405020304" pitchFamily="18" charset="0"/>
              </a:rPr>
              <a:t>位，操作码</a:t>
            </a:r>
            <a:r>
              <a:rPr lang="en-US" altLang="zh-CN" sz="2400" dirty="0">
                <a:latin typeface="Times New Roman" panose="02020603050405020304" pitchFamily="18" charset="0"/>
              </a:rPr>
              <a:t>4</a:t>
            </a:r>
            <a:r>
              <a:rPr lang="zh-CN" altLang="en-US" sz="2400" dirty="0">
                <a:latin typeface="Times New Roman" panose="02020603050405020304" pitchFamily="18" charset="0"/>
              </a:rPr>
              <a:t>位，</a:t>
            </a:r>
            <a:r>
              <a:rPr lang="en-US" altLang="zh-CN" sz="2400" dirty="0">
                <a:latin typeface="Times New Roman" panose="02020603050405020304" pitchFamily="18" charset="0"/>
              </a:rPr>
              <a:t>3</a:t>
            </a:r>
            <a:r>
              <a:rPr lang="zh-CN" altLang="en-US" sz="2400" dirty="0">
                <a:latin typeface="Times New Roman" panose="02020603050405020304" pitchFamily="18" charset="0"/>
              </a:rPr>
              <a:t>个</a:t>
            </a:r>
            <a:r>
              <a:rPr lang="en-US" altLang="zh-CN" sz="2400" dirty="0">
                <a:latin typeface="Times New Roman" panose="02020603050405020304" pitchFamily="18" charset="0"/>
              </a:rPr>
              <a:t>4</a:t>
            </a:r>
            <a:r>
              <a:rPr lang="zh-CN" altLang="en-US" sz="2400" dirty="0">
                <a:latin typeface="Times New Roman" panose="02020603050405020304" pitchFamily="18" charset="0"/>
              </a:rPr>
              <a:t>位地址码；</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定长编码：</a:t>
            </a:r>
            <a:r>
              <a:rPr lang="en-US" altLang="zh-CN" sz="2400" dirty="0">
                <a:latin typeface="Times New Roman" panose="02020603050405020304" pitchFamily="18" charset="0"/>
              </a:rPr>
              <a:t>4</a:t>
            </a:r>
            <a:r>
              <a:rPr lang="zh-CN" altLang="en-US" sz="2400" dirty="0">
                <a:latin typeface="Times New Roman" panose="02020603050405020304" pitchFamily="18" charset="0"/>
              </a:rPr>
              <a:t>位操作码最多表示</a:t>
            </a:r>
            <a:r>
              <a:rPr lang="en-US" altLang="zh-CN" sz="2400" dirty="0">
                <a:latin typeface="Times New Roman" panose="02020603050405020304" pitchFamily="18" charset="0"/>
              </a:rPr>
              <a:t>16</a:t>
            </a:r>
            <a:r>
              <a:rPr lang="zh-CN" altLang="en-US" sz="2400" dirty="0">
                <a:latin typeface="Times New Roman" panose="02020603050405020304" pitchFamily="18" charset="0"/>
              </a:rPr>
              <a:t>条不同指令。</a:t>
            </a:r>
            <a:endParaRPr lang="zh-CN" altLang="en-US" sz="2400" dirty="0">
              <a:latin typeface="Times New Roman" panose="02020603050405020304" pitchFamily="18" charset="0"/>
            </a:endParaRPr>
          </a:p>
          <a:p>
            <a:pPr eaLnBrk="1" hangingPunct="1">
              <a:spcBef>
                <a:spcPts val="1800"/>
              </a:spcBef>
            </a:pP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标题 1"/>
          <p:cNvSpPr>
            <a:spLocks noGrp="1"/>
          </p:cNvSpPr>
          <p:nvPr>
            <p:ph type="title"/>
          </p:nvPr>
        </p:nvSpPr>
        <p:spPr>
          <a:noFill/>
          <a:ln>
            <a:noFill/>
          </a:ln>
        </p:spPr>
        <p:txBody>
          <a:bodyPr anchor="t" anchorCtr="0"/>
          <a:p>
            <a:pPr eaLnBrk="1" hangingPunct="1"/>
            <a:r>
              <a:rPr lang="zh-CN" altLang="en-US" dirty="0"/>
              <a:t>扩展操作码法（续）</a:t>
            </a:r>
            <a:endParaRPr lang="zh-CN" altLang="en-US" dirty="0"/>
          </a:p>
        </p:txBody>
      </p:sp>
      <p:pic>
        <p:nvPicPr>
          <p:cNvPr id="44034" name="图片 3"/>
          <p:cNvPicPr>
            <a:picLocks noChangeAspect="1"/>
          </p:cNvPicPr>
          <p:nvPr/>
        </p:nvPicPr>
        <p:blipFill>
          <a:blip r:embed="rId1"/>
          <a:stretch>
            <a:fillRect/>
          </a:stretch>
        </p:blipFill>
        <p:spPr>
          <a:xfrm>
            <a:off x="457200" y="1125538"/>
            <a:ext cx="7900988" cy="5472112"/>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1"/>
          <p:cNvSpPr>
            <a:spLocks noGrp="1"/>
          </p:cNvSpPr>
          <p:nvPr>
            <p:ph type="title"/>
          </p:nvPr>
        </p:nvSpPr>
        <p:spPr>
          <a:noFill/>
          <a:ln>
            <a:noFill/>
          </a:ln>
        </p:spPr>
        <p:txBody>
          <a:bodyPr anchor="t" anchorCtr="0"/>
          <a:p>
            <a:pPr eaLnBrk="1" hangingPunct="1"/>
            <a:r>
              <a:rPr lang="zh-CN" altLang="en-US" dirty="0"/>
              <a:t>练习</a:t>
            </a:r>
            <a:endParaRPr lang="zh-CN" altLang="en-US" dirty="0"/>
          </a:p>
        </p:txBody>
      </p:sp>
      <p:sp>
        <p:nvSpPr>
          <p:cNvPr id="45059" name="文本框 1"/>
          <p:cNvSpPr txBox="1"/>
          <p:nvPr/>
        </p:nvSpPr>
        <p:spPr>
          <a:xfrm>
            <a:off x="467995" y="1557020"/>
            <a:ext cx="8229600" cy="4101465"/>
          </a:xfrm>
          <a:prstGeom prst="rect">
            <a:avLst/>
          </a:prstGeom>
          <a:noFill/>
          <a:ln w="9525">
            <a:noFill/>
          </a:ln>
        </p:spPr>
        <p:txBody>
          <a:bodyPr wrap="square" anchor="t" anchorCtr="0">
            <a:noAutofit/>
          </a:bodyPr>
          <a:p>
            <a:pPr eaLnBrk="0" hangingPunct="0">
              <a:buNone/>
            </a:pPr>
            <a:r>
              <a:rPr lang="zh-CN" altLang="en-US" sz="2800" dirty="0">
                <a:solidFill>
                  <a:schemeClr val="tx1"/>
                </a:solidFill>
                <a:latin typeface="Times New Roman" panose="02020603050405020304" pitchFamily="18" charset="0"/>
                <a:ea typeface="黑体" panose="02010609060101010101" pitchFamily="49" charset="-122"/>
              </a:rPr>
              <a:t>例：设某指令系统的指令字为16位,每个地址码为6位。若二地址指令15条,一地址指令34条,则剩下的零地址指令最多有多少条?</a:t>
            </a:r>
            <a:endParaRPr lang="zh-CN" altLang="en-US" sz="28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1"/>
          <p:cNvSpPr>
            <a:spLocks noGrp="1"/>
          </p:cNvSpPr>
          <p:nvPr>
            <p:ph type="title"/>
          </p:nvPr>
        </p:nvSpPr>
        <p:spPr>
          <a:noFill/>
          <a:ln>
            <a:noFill/>
          </a:ln>
        </p:spPr>
        <p:txBody>
          <a:bodyPr anchor="t" anchorCtr="0"/>
          <a:p>
            <a:pPr eaLnBrk="1" hangingPunct="1"/>
            <a:r>
              <a:rPr lang="zh-CN" altLang="en-US" dirty="0"/>
              <a:t>练习</a:t>
            </a:r>
            <a:endParaRPr lang="zh-CN" altLang="en-US" dirty="0"/>
          </a:p>
        </p:txBody>
      </p:sp>
      <p:sp>
        <p:nvSpPr>
          <p:cNvPr id="45059" name="文本框 1"/>
          <p:cNvSpPr txBox="1"/>
          <p:nvPr/>
        </p:nvSpPr>
        <p:spPr>
          <a:xfrm>
            <a:off x="467995" y="1308100"/>
            <a:ext cx="8229600" cy="5135880"/>
          </a:xfrm>
          <a:prstGeom prst="rect">
            <a:avLst/>
          </a:prstGeom>
          <a:noFill/>
          <a:ln w="9525">
            <a:noFill/>
          </a:ln>
        </p:spPr>
        <p:txBody>
          <a:bodyPr wrap="square" anchor="t" anchorCtr="0">
            <a:noAutofit/>
          </a:bodyPr>
          <a:p>
            <a:pPr eaLnBrk="0" hangingPunct="0">
              <a:buNone/>
            </a:pPr>
            <a:r>
              <a:rPr lang="zh-CN" altLang="en-US" sz="2800" b="1" dirty="0">
                <a:solidFill>
                  <a:schemeClr val="tx1"/>
                </a:solidFill>
                <a:latin typeface="Times New Roman" panose="02020603050405020304" pitchFamily="18" charset="0"/>
                <a:ea typeface="黑体" panose="02010609060101010101" pitchFamily="49" charset="-122"/>
              </a:rPr>
              <a:t>解答</a:t>
            </a:r>
            <a:r>
              <a:rPr lang="zh-CN" altLang="en-US" sz="2800" dirty="0">
                <a:solidFill>
                  <a:schemeClr val="tx1"/>
                </a:solidFill>
                <a:latin typeface="Times New Roman" panose="02020603050405020304" pitchFamily="18" charset="0"/>
                <a:ea typeface="黑体" panose="02010609060101010101" pitchFamily="49" charset="-122"/>
              </a:rPr>
              <a:t>：</a:t>
            </a:r>
            <a:endParaRPr lang="zh-CN" altLang="en-US" sz="2800" dirty="0">
              <a:solidFill>
                <a:schemeClr val="tx1"/>
              </a:solidFill>
              <a:latin typeface="Times New Roman" panose="02020603050405020304" pitchFamily="18" charset="0"/>
              <a:ea typeface="黑体" panose="02010609060101010101" pitchFamily="49" charset="-122"/>
            </a:endParaRPr>
          </a:p>
          <a:p>
            <a:pPr marL="457200" indent="-457200" eaLnBrk="0" hangingPunct="0">
              <a:spcBef>
                <a:spcPts val="1200"/>
              </a:spcBef>
              <a:buFont typeface="Wingdings" panose="05000000000000000000" charset="0"/>
              <a:buChar char="Ø"/>
            </a:pPr>
            <a:r>
              <a:rPr lang="zh-CN" altLang="en-US" sz="2000" dirty="0">
                <a:solidFill>
                  <a:schemeClr val="tx1"/>
                </a:solidFill>
                <a:latin typeface="Times New Roman" panose="02020603050405020304" pitchFamily="18" charset="0"/>
                <a:ea typeface="黑体" panose="02010609060101010101" pitchFamily="49" charset="-122"/>
              </a:rPr>
              <a:t>二地址指令的地址码部分占12位,故操作码只有4位,最多有16种编码,用去15 种编码(0000~1110)分别表示 15 条指令,还剩一种编码 1111 未使用。</a:t>
            </a:r>
            <a:endParaRPr lang="zh-CN" altLang="en-US" sz="2000" dirty="0">
              <a:solidFill>
                <a:schemeClr val="tx1"/>
              </a:solidFill>
              <a:latin typeface="Times New Roman" panose="02020603050405020304" pitchFamily="18" charset="0"/>
              <a:ea typeface="黑体" panose="02010609060101010101" pitchFamily="49" charset="-122"/>
            </a:endParaRPr>
          </a:p>
          <a:p>
            <a:pPr marL="457200" indent="-457200" eaLnBrk="0" hangingPunct="0">
              <a:spcBef>
                <a:spcPts val="1200"/>
              </a:spcBef>
              <a:buFont typeface="Wingdings" panose="05000000000000000000" charset="0"/>
              <a:buChar char="Ø"/>
            </a:pPr>
            <a:r>
              <a:rPr lang="zh-CN" altLang="en-US" sz="2000" dirty="0">
                <a:solidFill>
                  <a:schemeClr val="tx1"/>
                </a:solidFill>
                <a:latin typeface="Times New Roman" panose="02020603050405020304" pitchFamily="18" charset="0"/>
                <a:ea typeface="黑体" panose="02010609060101010101" pitchFamily="49" charset="-122"/>
              </a:rPr>
              <a:t>一地址指令的地址码部分占6位,故操作码有10位,最高4位为1111,还剩6位未编码,最多可有 2</a:t>
            </a:r>
            <a:r>
              <a:rPr lang="en-US" altLang="zh-CN" sz="2000" baseline="30000" dirty="0">
                <a:solidFill>
                  <a:schemeClr val="tx1"/>
                </a:solidFill>
                <a:latin typeface="Times New Roman" panose="02020603050405020304" pitchFamily="18" charset="0"/>
                <a:ea typeface="黑体" panose="02010609060101010101" pitchFamily="49" charset="-122"/>
              </a:rPr>
              <a:t>6</a:t>
            </a:r>
            <a:r>
              <a:rPr lang="zh-CN" altLang="en-US" sz="2000" dirty="0">
                <a:solidFill>
                  <a:schemeClr val="tx1"/>
                </a:solidFill>
                <a:latin typeface="Times New Roman" panose="02020603050405020304" pitchFamily="18" charset="0"/>
                <a:ea typeface="黑体" panose="02010609060101010101" pitchFamily="49" charset="-122"/>
              </a:rPr>
              <a:t>=64 种编码。用其中的 32+2=34 种编码(11110 00000~11110 11111 和11111 00000~11111 00001)分别表示 34 条一地址指令。</a:t>
            </a:r>
            <a:endParaRPr lang="zh-CN" altLang="en-US" sz="2000" dirty="0">
              <a:solidFill>
                <a:schemeClr val="tx1"/>
              </a:solidFill>
              <a:latin typeface="Times New Roman" panose="02020603050405020304" pitchFamily="18" charset="0"/>
              <a:ea typeface="黑体" panose="02010609060101010101" pitchFamily="49" charset="-122"/>
            </a:endParaRPr>
          </a:p>
          <a:p>
            <a:pPr marL="457200" indent="-457200" eaLnBrk="0" hangingPunct="0">
              <a:spcBef>
                <a:spcPts val="1200"/>
              </a:spcBef>
              <a:buFont typeface="Wingdings" panose="05000000000000000000" charset="0"/>
              <a:buChar char="Ø"/>
            </a:pPr>
            <a:r>
              <a:rPr lang="zh-CN" altLang="en-US" sz="2000" dirty="0">
                <a:solidFill>
                  <a:schemeClr val="tx1"/>
                </a:solidFill>
                <a:latin typeface="Times New Roman" panose="02020603050405020304" pitchFamily="18" charset="0"/>
                <a:ea typeface="黑体" panose="02010609060101010101" pitchFamily="49" charset="-122"/>
              </a:rPr>
              <a:t>零地址指令共有 16 位操作码,其中高5 位只能是 11111,所以编码范围为11111(00010~11111)(000000~111111),即,高5位为 11111,次5位为 00010~11111,低6位为000000~111111。</a:t>
            </a:r>
            <a:endParaRPr lang="zh-CN" altLang="en-US" sz="2000" dirty="0">
              <a:solidFill>
                <a:schemeClr val="tx1"/>
              </a:solidFill>
              <a:latin typeface="Times New Roman" panose="02020603050405020304" pitchFamily="18" charset="0"/>
              <a:ea typeface="黑体" panose="02010609060101010101" pitchFamily="49" charset="-122"/>
            </a:endParaRPr>
          </a:p>
          <a:p>
            <a:pPr marL="457200" indent="-457200" eaLnBrk="0" hangingPunct="0">
              <a:spcBef>
                <a:spcPts val="1200"/>
              </a:spcBef>
              <a:buFont typeface="Wingdings" panose="05000000000000000000" charset="0"/>
              <a:buChar char="Ø"/>
            </a:pPr>
            <a:r>
              <a:rPr lang="zh-CN" altLang="en-US" sz="2000" dirty="0">
                <a:solidFill>
                  <a:schemeClr val="tx1"/>
                </a:solidFill>
                <a:latin typeface="Times New Roman" panose="02020603050405020304" pitchFamily="18" charset="0"/>
                <a:ea typeface="黑体" panose="02010609060101010101" pitchFamily="49" charset="-122"/>
              </a:rPr>
              <a:t>因此,零地址指令最多有</a:t>
            </a:r>
            <a:r>
              <a:rPr lang="zh-CN" altLang="en-US" sz="2000" b="1" dirty="0">
                <a:solidFill>
                  <a:srgbClr val="FF0000"/>
                </a:solidFill>
                <a:latin typeface="Times New Roman" panose="02020603050405020304" pitchFamily="18" charset="0"/>
                <a:ea typeface="黑体" panose="02010609060101010101" pitchFamily="49" charset="-122"/>
              </a:rPr>
              <a:t>30</a:t>
            </a:r>
            <a:r>
              <a:rPr lang="en-US" altLang="zh-CN" sz="2000" b="1" dirty="0">
                <a:solidFill>
                  <a:srgbClr val="FF0000"/>
                </a:solidFill>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2</a:t>
            </a:r>
            <a:r>
              <a:rPr lang="en-US" altLang="zh-CN" sz="2000" b="1" baseline="30000" dirty="0">
                <a:solidFill>
                  <a:srgbClr val="FF0000"/>
                </a:solidFill>
                <a:latin typeface="Times New Roman" panose="02020603050405020304" pitchFamily="18" charset="0"/>
                <a:ea typeface="黑体" panose="02010609060101010101" pitchFamily="49" charset="-122"/>
              </a:rPr>
              <a:t>6</a:t>
            </a:r>
            <a:r>
              <a:rPr lang="zh-CN" altLang="en-US" sz="2000" dirty="0">
                <a:solidFill>
                  <a:schemeClr val="tx1"/>
                </a:solidFill>
                <a:latin typeface="Times New Roman" panose="02020603050405020304" pitchFamily="18" charset="0"/>
                <a:ea typeface="黑体" panose="02010609060101010101" pitchFamily="49" charset="-122"/>
              </a:rPr>
              <a:t>种编码可用。</a:t>
            </a:r>
            <a:endParaRPr lang="zh-CN" altLang="en-US" sz="20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1"/>
          <p:cNvSpPr>
            <a:spLocks noGrp="1"/>
          </p:cNvSpPr>
          <p:nvPr>
            <p:ph type="title"/>
          </p:nvPr>
        </p:nvSpPr>
        <p:spPr>
          <a:xfrm>
            <a:off x="457200" y="274638"/>
            <a:ext cx="8229600" cy="706437"/>
          </a:xfrm>
          <a:noFill/>
          <a:ln>
            <a:noFill/>
          </a:ln>
        </p:spPr>
        <p:txBody>
          <a:bodyPr anchor="t" anchorCtr="0"/>
          <a:p>
            <a:pPr eaLnBrk="1" hangingPunct="1"/>
            <a:r>
              <a:rPr lang="en-US" altLang="zh-CN" dirty="0">
                <a:latin typeface="Times New Roman" panose="02020603050405020304" pitchFamily="18" charset="0"/>
              </a:rPr>
              <a:t>3.2  </a:t>
            </a:r>
            <a:r>
              <a:rPr lang="zh-CN" altLang="en-US" dirty="0">
                <a:latin typeface="Times New Roman" panose="02020603050405020304" pitchFamily="18" charset="0"/>
              </a:rPr>
              <a:t>寻址技术</a:t>
            </a:r>
            <a:endParaRPr lang="zh-CN" altLang="en-US" dirty="0">
              <a:latin typeface="Times New Roman" panose="02020603050405020304" pitchFamily="18" charset="0"/>
              <a:ea typeface="Times New Roman" panose="02020603050405020304" pitchFamily="18" charset="0"/>
            </a:endParaRPr>
          </a:p>
        </p:txBody>
      </p:sp>
      <p:sp>
        <p:nvSpPr>
          <p:cNvPr id="46082" name="内容占位符 2"/>
          <p:cNvSpPr>
            <a:spLocks noGrp="1"/>
          </p:cNvSpPr>
          <p:nvPr>
            <p:ph idx="1"/>
          </p:nvPr>
        </p:nvSpPr>
        <p:spPr>
          <a:xfrm>
            <a:off x="457200" y="1600200"/>
            <a:ext cx="8229600" cy="4152900"/>
          </a:xfrm>
          <a:noFill/>
          <a:ln>
            <a:noFill/>
          </a:ln>
        </p:spPr>
        <p:txBody>
          <a:bodyPr anchor="t" anchorCtr="0"/>
          <a:p>
            <a:pPr eaLnBrk="1" hangingPunct="1">
              <a:lnSpc>
                <a:spcPct val="120000"/>
              </a:lnSpc>
            </a:pPr>
            <a:r>
              <a:rPr lang="zh-CN" altLang="en-US" dirty="0">
                <a:latin typeface="Times New Roman" panose="02020603050405020304" pitchFamily="18" charset="0"/>
              </a:rPr>
              <a:t>寻址：</a:t>
            </a:r>
            <a:endParaRPr lang="zh-CN" altLang="en-US" dirty="0">
              <a:latin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rPr>
              <a:t>寻找</a:t>
            </a:r>
            <a:r>
              <a:rPr lang="zh-CN" altLang="en-US" sz="2400" dirty="0">
                <a:solidFill>
                  <a:srgbClr val="FF0000"/>
                </a:solidFill>
                <a:latin typeface="Times New Roman" panose="02020603050405020304" pitchFamily="18" charset="0"/>
              </a:rPr>
              <a:t>操作数的地址</a:t>
            </a:r>
            <a:endParaRPr lang="zh-CN" altLang="en-US" sz="2400" dirty="0">
              <a:solidFill>
                <a:srgbClr val="FF0000"/>
              </a:solidFill>
              <a:latin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rPr>
              <a:t>寻找下一条将要执行的</a:t>
            </a:r>
            <a:r>
              <a:rPr lang="zh-CN" altLang="en-US" sz="2400" dirty="0">
                <a:solidFill>
                  <a:srgbClr val="FF0000"/>
                </a:solidFill>
                <a:latin typeface="Times New Roman" panose="02020603050405020304" pitchFamily="18" charset="0"/>
              </a:rPr>
              <a:t>指令地址</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eaLnBrk="1" latinLnBrk="0" hangingPunct="1">
              <a:lnSpc>
                <a:spcPct val="120000"/>
              </a:lnSpc>
              <a:spcBef>
                <a:spcPts val="1800"/>
              </a:spcBef>
            </a:pPr>
            <a:r>
              <a:rPr lang="zh-CN" altLang="en-US" dirty="0">
                <a:latin typeface="Times New Roman" panose="02020603050405020304" pitchFamily="18" charset="0"/>
              </a:rPr>
              <a:t>寻址技术包括</a:t>
            </a:r>
            <a:r>
              <a:rPr lang="zh-CN" altLang="en-US" dirty="0">
                <a:solidFill>
                  <a:srgbClr val="FF0000"/>
                </a:solidFill>
                <a:latin typeface="Times New Roman" panose="02020603050405020304" pitchFamily="18" charset="0"/>
              </a:rPr>
              <a:t>编址方式和寻址方式</a:t>
            </a:r>
            <a:r>
              <a:rPr lang="en-US" altLang="zh-CN" dirty="0">
                <a:solidFill>
                  <a:srgbClr val="FF0000"/>
                </a:solidFill>
                <a:latin typeface="Times New Roman" panose="02020603050405020304" pitchFamily="18" charset="0"/>
              </a:rPr>
              <a:t>:</a:t>
            </a:r>
            <a:endParaRPr lang="en-US" altLang="zh-CN" dirty="0">
              <a:latin typeface="Times New Roman" panose="02020603050405020304" pitchFamily="18" charset="0"/>
            </a:endParaRPr>
          </a:p>
          <a:p>
            <a:pPr lvl="1" eaLnBrk="1" hangingPunct="1">
              <a:lnSpc>
                <a:spcPct val="120000"/>
              </a:lnSpc>
              <a:spcBef>
                <a:spcPts val="1800"/>
              </a:spcBef>
            </a:pPr>
            <a:r>
              <a:rPr lang="zh-CN" altLang="en-US" sz="2400" dirty="0">
                <a:latin typeface="Times New Roman" panose="02020603050405020304" pitchFamily="18" charset="0"/>
              </a:rPr>
              <a:t>要对寄存器、主存储器和</a:t>
            </a:r>
            <a:r>
              <a:rPr lang="en-US" altLang="zh-CN" sz="2400" dirty="0">
                <a:latin typeface="Times New Roman" panose="02020603050405020304" pitchFamily="18" charset="0"/>
              </a:rPr>
              <a:t>I/O</a:t>
            </a:r>
            <a:r>
              <a:rPr lang="zh-CN" altLang="en-US" sz="2400" dirty="0">
                <a:latin typeface="Times New Roman" panose="02020603050405020304" pitchFamily="18" charset="0"/>
              </a:rPr>
              <a:t>设备进行编址。</a:t>
            </a:r>
            <a:endParaRPr lang="zh-CN" altLang="en-US" sz="2400" dirty="0">
              <a:latin typeface="Times New Roman" panose="02020603050405020304" pitchFamily="18" charset="0"/>
            </a:endParaRPr>
          </a:p>
          <a:p>
            <a:pPr eaLnBrk="1" hangingPunct="1"/>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1"/>
          <p:cNvSpPr>
            <a:spLocks noGrp="1"/>
          </p:cNvSpPr>
          <p:nvPr>
            <p:ph type="title"/>
          </p:nvPr>
        </p:nvSpPr>
        <p:spPr>
          <a:xfrm>
            <a:off x="457200" y="274638"/>
            <a:ext cx="8229600" cy="777875"/>
          </a:xfrm>
          <a:noFill/>
          <a:ln>
            <a:noFill/>
          </a:ln>
        </p:spPr>
        <p:txBody>
          <a:bodyPr anchor="t" anchorCtr="0"/>
          <a:p>
            <a:pPr eaLnBrk="1" hangingPunct="1"/>
            <a:r>
              <a:rPr lang="en-US" altLang="zh-CN" dirty="0">
                <a:latin typeface="Times New Roman" panose="02020603050405020304" pitchFamily="18" charset="0"/>
              </a:rPr>
              <a:t>3.2.1  </a:t>
            </a:r>
            <a:r>
              <a:rPr lang="zh-CN" altLang="en-US" dirty="0">
                <a:latin typeface="Times New Roman" panose="02020603050405020304" pitchFamily="18" charset="0"/>
              </a:rPr>
              <a:t>编址方式</a:t>
            </a:r>
            <a:endParaRPr lang="zh-CN" altLang="en-US" dirty="0">
              <a:latin typeface="Times New Roman" panose="02020603050405020304" pitchFamily="18" charset="0"/>
              <a:ea typeface="Times New Roman" panose="02020603050405020304" pitchFamily="18" charset="0"/>
            </a:endParaRPr>
          </a:p>
        </p:txBody>
      </p:sp>
      <p:sp>
        <p:nvSpPr>
          <p:cNvPr id="47106" name="内容占位符 2"/>
          <p:cNvSpPr>
            <a:spLocks noGrp="1"/>
          </p:cNvSpPr>
          <p:nvPr>
            <p:ph idx="1"/>
          </p:nvPr>
        </p:nvSpPr>
        <p:spPr>
          <a:xfrm>
            <a:off x="457200" y="1773238"/>
            <a:ext cx="8229600" cy="4352925"/>
          </a:xfrm>
          <a:noFill/>
          <a:ln>
            <a:noFill/>
          </a:ln>
        </p:spPr>
        <p:txBody>
          <a:bodyPr anchor="t" anchorCtr="0"/>
          <a:p>
            <a:pPr eaLnBrk="1" hangingPunct="1">
              <a:lnSpc>
                <a:spcPct val="110000"/>
              </a:lnSpc>
            </a:pPr>
            <a:r>
              <a:rPr lang="zh-CN" altLang="en-US" dirty="0">
                <a:latin typeface="Times New Roman" panose="02020603050405020304" pitchFamily="18" charset="0"/>
              </a:rPr>
              <a:t>字编址</a:t>
            </a:r>
            <a:endParaRPr lang="zh-CN" altLang="en-US"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编址单位</a:t>
            </a:r>
            <a:r>
              <a:rPr lang="en-US" altLang="zh-CN" sz="2400" dirty="0">
                <a:latin typeface="Times New Roman" panose="02020603050405020304" pitchFamily="18" charset="0"/>
              </a:rPr>
              <a:t>=</a:t>
            </a:r>
            <a:r>
              <a:rPr lang="zh-CN" altLang="en-US" sz="2400" dirty="0">
                <a:latin typeface="Times New Roman" panose="02020603050405020304" pitchFamily="18" charset="0"/>
              </a:rPr>
              <a:t>访问单位</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字包含的二进制位数</a:t>
            </a:r>
            <a:r>
              <a:rPr lang="en-US" altLang="zh-CN" sz="2400" dirty="0">
                <a:latin typeface="Times New Roman" panose="02020603050405020304" pitchFamily="18" charset="0"/>
              </a:rPr>
              <a:t>=</a:t>
            </a:r>
            <a:r>
              <a:rPr lang="zh-CN" altLang="en-US" sz="2400" dirty="0">
                <a:latin typeface="Times New Roman" panose="02020603050405020304" pitchFamily="18" charset="0"/>
              </a:rPr>
              <a:t>一次读写的位数；</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早期机器多采用。</a:t>
            </a:r>
            <a:endParaRPr lang="zh-CN" altLang="en-US" dirty="0">
              <a:latin typeface="Times New Roman" panose="02020603050405020304" pitchFamily="18" charset="0"/>
            </a:endParaRPr>
          </a:p>
          <a:p>
            <a:pPr eaLnBrk="1" latinLnBrk="0" hangingPunct="1">
              <a:lnSpc>
                <a:spcPct val="110000"/>
              </a:lnSpc>
              <a:spcBef>
                <a:spcPts val="1800"/>
              </a:spcBef>
            </a:pPr>
            <a:r>
              <a:rPr lang="zh-CN" altLang="en-US" dirty="0">
                <a:latin typeface="Times New Roman" panose="02020603050405020304" pitchFamily="18" charset="0"/>
              </a:rPr>
              <a:t>字节编址</a:t>
            </a:r>
            <a:endParaRPr lang="zh-CN" altLang="en-US"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适应非数值计算的需要；</a:t>
            </a:r>
            <a:endParaRPr lang="en-US" altLang="zh-CN"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编址单位＜访问单位，倍数关系。</a:t>
            </a:r>
            <a:endParaRPr lang="zh-CN" altLang="en-US" sz="2400" dirty="0">
              <a:latin typeface="Times New Roman" panose="02020603050405020304" pitchFamily="18" charset="0"/>
              <a:ea typeface="Times New Roman" panose="02020603050405020304" pitchFamily="18" charset="0"/>
            </a:endParaRPr>
          </a:p>
        </p:txBody>
      </p:sp>
      <p:sp>
        <p:nvSpPr>
          <p:cNvPr id="4" name="标题 1"/>
          <p:cNvSpPr txBox="1"/>
          <p:nvPr/>
        </p:nvSpPr>
        <p:spPr>
          <a:xfrm>
            <a:off x="468313" y="1196975"/>
            <a:ext cx="8229600" cy="576263"/>
          </a:xfrm>
          <a:prstGeom prst="rect">
            <a:avLst/>
          </a:prstGeom>
        </p:spPr>
        <p:txBody>
          <a:bodyPr/>
          <a:lst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编址单位</a:t>
            </a:r>
            <a:endPar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指令中地址码的位数</a:t>
            </a:r>
            <a:endParaRPr lang="zh-CN" altLang="en-US" dirty="0">
              <a:latin typeface="Times New Roman" panose="02020603050405020304" pitchFamily="18" charset="0"/>
              <a:ea typeface="Times New Roman" panose="02020603050405020304" pitchFamily="18" charset="0"/>
            </a:endParaRPr>
          </a:p>
        </p:txBody>
      </p:sp>
      <p:sp>
        <p:nvSpPr>
          <p:cNvPr id="48130" name="内容占位符 2"/>
          <p:cNvSpPr>
            <a:spLocks noGrp="1"/>
          </p:cNvSpPr>
          <p:nvPr>
            <p:ph idx="1"/>
          </p:nvPr>
        </p:nvSpPr>
        <p:spPr>
          <a:xfrm>
            <a:off x="457200" y="1417638"/>
            <a:ext cx="8229600" cy="4708525"/>
          </a:xfrm>
          <a:noFill/>
          <a:ln>
            <a:noFill/>
          </a:ln>
        </p:spPr>
        <p:txBody>
          <a:bodyPr anchor="t" anchorCtr="0"/>
          <a:p>
            <a:pPr eaLnBrk="1" hangingPunct="1">
              <a:lnSpc>
                <a:spcPct val="90000"/>
              </a:lnSpc>
              <a:spcBef>
                <a:spcPts val="1800"/>
              </a:spcBef>
            </a:pPr>
            <a:r>
              <a:rPr lang="zh-CN" altLang="en-US" dirty="0">
                <a:latin typeface="Times New Roman" panose="02020603050405020304" pitchFamily="18" charset="0"/>
              </a:rPr>
              <a:t>与</a:t>
            </a:r>
            <a:r>
              <a:rPr lang="zh-CN" altLang="en-US" dirty="0">
                <a:solidFill>
                  <a:srgbClr val="FF0000"/>
                </a:solidFill>
                <a:latin typeface="Times New Roman" panose="02020603050405020304" pitchFamily="18" charset="0"/>
              </a:rPr>
              <a:t>主存容量</a:t>
            </a:r>
            <a:r>
              <a:rPr lang="zh-CN" altLang="en-US" dirty="0">
                <a:latin typeface="Times New Roman" panose="02020603050405020304" pitchFamily="18" charset="0"/>
              </a:rPr>
              <a:t>和</a:t>
            </a:r>
            <a:r>
              <a:rPr lang="zh-CN" altLang="en-US" dirty="0">
                <a:solidFill>
                  <a:srgbClr val="FF0000"/>
                </a:solidFill>
                <a:latin typeface="Times New Roman" panose="02020603050405020304" pitchFamily="18" charset="0"/>
              </a:rPr>
              <a:t>最小寻址单位</a:t>
            </a:r>
            <a:r>
              <a:rPr lang="zh-CN" altLang="en-US" dirty="0">
                <a:latin typeface="Times New Roman" panose="02020603050405020304" pitchFamily="18" charset="0"/>
              </a:rPr>
              <a:t>（即编址单位）有关。</a:t>
            </a:r>
            <a:endParaRPr lang="en-US" altLang="zh-CN" dirty="0">
              <a:latin typeface="Times New Roman" panose="02020603050405020304" pitchFamily="18" charset="0"/>
            </a:endParaRPr>
          </a:p>
          <a:p>
            <a:pPr lvl="1" eaLnBrk="1" hangingPunct="1">
              <a:lnSpc>
                <a:spcPct val="90000"/>
              </a:lnSpc>
              <a:spcBef>
                <a:spcPts val="1800"/>
              </a:spcBef>
            </a:pPr>
            <a:r>
              <a:rPr lang="zh-CN" altLang="en-US" sz="2400" dirty="0">
                <a:latin typeface="Times New Roman" panose="02020603050405020304" pitchFamily="18" charset="0"/>
              </a:rPr>
              <a:t>主存容量越大，所需的地址码位数越长。</a:t>
            </a:r>
            <a:endParaRPr lang="zh-CN" altLang="en-US" sz="2400" dirty="0">
              <a:latin typeface="Times New Roman" panose="02020603050405020304" pitchFamily="18" charset="0"/>
            </a:endParaRPr>
          </a:p>
          <a:p>
            <a:pPr lvl="2" eaLnBrk="1" hangingPunct="1">
              <a:lnSpc>
                <a:spcPct val="90000"/>
              </a:lnSpc>
              <a:spcBef>
                <a:spcPts val="1800"/>
              </a:spcBef>
            </a:pPr>
            <a:r>
              <a:rPr lang="zh-CN" altLang="en-US" sz="2000" dirty="0">
                <a:latin typeface="Times New Roman" panose="02020603050405020304" pitchFamily="18" charset="0"/>
              </a:rPr>
              <a:t>以字节为最小寻址单位，地址码的位数较长；</a:t>
            </a:r>
            <a:endParaRPr lang="zh-CN" altLang="en-US" sz="2000" dirty="0">
              <a:latin typeface="Times New Roman" panose="02020603050405020304" pitchFamily="18" charset="0"/>
            </a:endParaRPr>
          </a:p>
          <a:p>
            <a:pPr lvl="2" eaLnBrk="1" hangingPunct="1">
              <a:lnSpc>
                <a:spcPct val="90000"/>
              </a:lnSpc>
              <a:spcBef>
                <a:spcPts val="1800"/>
              </a:spcBef>
            </a:pPr>
            <a:r>
              <a:rPr lang="zh-CN" altLang="en-US" sz="2000" dirty="0">
                <a:latin typeface="Times New Roman" panose="02020603050405020304" pitchFamily="18" charset="0"/>
              </a:rPr>
              <a:t>以字为最小寻址单位，地址码的位数较短。</a:t>
            </a:r>
            <a:endParaRPr lang="zh-CN" altLang="en-US" sz="2000" dirty="0">
              <a:latin typeface="Times New Roman" panose="02020603050405020304" pitchFamily="18" charset="0"/>
            </a:endParaRPr>
          </a:p>
          <a:p>
            <a:pPr lvl="1" eaLnBrk="1" hangingPunct="1">
              <a:lnSpc>
                <a:spcPct val="90000"/>
              </a:lnSpc>
              <a:spcBef>
                <a:spcPts val="1800"/>
              </a:spcBef>
            </a:pPr>
            <a:r>
              <a:rPr lang="zh-CN" altLang="en-US" sz="2400" dirty="0">
                <a:latin typeface="Times New Roman" panose="02020603050405020304" pitchFamily="18" charset="0"/>
              </a:rPr>
              <a:t>例如：</a:t>
            </a:r>
            <a:endParaRPr lang="zh-CN" altLang="en-US" sz="2400" dirty="0">
              <a:latin typeface="Times New Roman" panose="02020603050405020304" pitchFamily="18" charset="0"/>
            </a:endParaRPr>
          </a:p>
          <a:p>
            <a:pPr lvl="2" eaLnBrk="1" hangingPunct="1">
              <a:lnSpc>
                <a:spcPct val="90000"/>
              </a:lnSpc>
              <a:spcBef>
                <a:spcPts val="1800"/>
              </a:spcBef>
              <a:buSzTx/>
            </a:pPr>
            <a:r>
              <a:rPr lang="zh-CN" altLang="en-US" sz="2000" dirty="0">
                <a:latin typeface="Times New Roman" panose="02020603050405020304" pitchFamily="18" charset="0"/>
              </a:rPr>
              <a:t>设某机主存容量为2</a:t>
            </a:r>
            <a:r>
              <a:rPr lang="zh-CN" altLang="en-US" sz="2000" baseline="30000" dirty="0">
                <a:latin typeface="Times New Roman" panose="02020603050405020304" pitchFamily="18" charset="0"/>
              </a:rPr>
              <a:t>20 </a:t>
            </a:r>
            <a:r>
              <a:rPr lang="zh-CN" altLang="en-US" sz="2000" dirty="0">
                <a:latin typeface="Times New Roman" panose="02020603050405020304" pitchFamily="18" charset="0"/>
              </a:rPr>
              <a:t>个字节，机器字长32位。</a:t>
            </a:r>
            <a:endParaRPr lang="zh-CN" altLang="en-US" sz="2000" dirty="0">
              <a:latin typeface="Times New Roman" panose="02020603050405020304" pitchFamily="18" charset="0"/>
            </a:endParaRPr>
          </a:p>
          <a:p>
            <a:pPr lvl="2" eaLnBrk="1" hangingPunct="1">
              <a:lnSpc>
                <a:spcPct val="90000"/>
              </a:lnSpc>
              <a:spcBef>
                <a:spcPts val="1800"/>
              </a:spcBef>
              <a:buSzTx/>
            </a:pPr>
            <a:r>
              <a:rPr lang="zh-CN" altLang="en-US" sz="2000" dirty="0">
                <a:latin typeface="Times New Roman" panose="02020603050405020304" pitchFamily="18" charset="0"/>
              </a:rPr>
              <a:t>按字节编址，其地址码应为20位；</a:t>
            </a:r>
            <a:endParaRPr lang="zh-CN" altLang="en-US" sz="2000" dirty="0">
              <a:latin typeface="Times New Roman" panose="02020603050405020304" pitchFamily="18" charset="0"/>
            </a:endParaRPr>
          </a:p>
          <a:p>
            <a:pPr lvl="2" eaLnBrk="1" hangingPunct="1">
              <a:lnSpc>
                <a:spcPct val="90000"/>
              </a:lnSpc>
              <a:spcBef>
                <a:spcPts val="1800"/>
              </a:spcBef>
              <a:buSzTx/>
            </a:pPr>
            <a:r>
              <a:rPr lang="zh-CN" altLang="en-US" sz="2000" dirty="0">
                <a:latin typeface="Times New Roman" panose="02020603050405020304" pitchFamily="18" charset="0"/>
              </a:rPr>
              <a:t>按字编址，其地址码只需18位。</a:t>
            </a:r>
            <a:endParaRPr lang="zh-CN" altLang="en-US" sz="2000" dirty="0">
              <a:latin typeface="Times New Roman" panose="02020603050405020304" pitchFamily="18" charset="0"/>
            </a:endParaRPr>
          </a:p>
          <a:p>
            <a:pPr eaLnBrk="1" hangingPunct="1">
              <a:spcBef>
                <a:spcPts val="1800"/>
              </a:spcBef>
            </a:pPr>
            <a:endParaRPr lang="zh-CN"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3.2.2  </a:t>
            </a:r>
            <a:r>
              <a:rPr lang="zh-CN" altLang="en-US" dirty="0">
                <a:latin typeface="Times New Roman" panose="02020603050405020304" pitchFamily="18" charset="0"/>
              </a:rPr>
              <a:t>指令寻址和数据寻址</a:t>
            </a:r>
            <a:endParaRPr lang="zh-CN" altLang="en-US" dirty="0">
              <a:latin typeface="Times New Roman" panose="02020603050405020304" pitchFamily="18" charset="0"/>
              <a:ea typeface="Times New Roman" panose="02020603050405020304" pitchFamily="18" charset="0"/>
            </a:endParaRPr>
          </a:p>
        </p:txBody>
      </p:sp>
      <p:sp>
        <p:nvSpPr>
          <p:cNvPr id="49154" name="内容占位符 2"/>
          <p:cNvSpPr>
            <a:spLocks noGrp="1"/>
          </p:cNvSpPr>
          <p:nvPr>
            <p:ph idx="1"/>
          </p:nvPr>
        </p:nvSpPr>
        <p:spPr>
          <a:noFill/>
          <a:ln>
            <a:noFill/>
          </a:ln>
        </p:spPr>
        <p:txBody>
          <a:bodyPr anchor="t" anchorCtr="0"/>
          <a:p>
            <a:pPr eaLnBrk="1" hangingPunct="1">
              <a:lnSpc>
                <a:spcPct val="120000"/>
              </a:lnSpc>
            </a:pPr>
            <a:r>
              <a:rPr lang="zh-CN" altLang="en-US" dirty="0">
                <a:latin typeface="Times New Roman" panose="02020603050405020304" pitchFamily="18" charset="0"/>
              </a:rPr>
              <a:t>寻址可以分为指令寻址和数据寻址。</a:t>
            </a:r>
            <a:endParaRPr lang="zh-CN" altLang="en-US" dirty="0">
              <a:latin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rPr>
              <a:t>指令寻址：寻找下一条将要执行的指令地址；</a:t>
            </a:r>
            <a:endParaRPr lang="zh-CN" altLang="en-US" sz="2400" dirty="0">
              <a:latin typeface="Times New Roman" panose="02020603050405020304" pitchFamily="18" charset="0"/>
            </a:endParaRPr>
          </a:p>
          <a:p>
            <a:pPr lvl="2" eaLnBrk="1" hangingPunct="1">
              <a:lnSpc>
                <a:spcPct val="80000"/>
              </a:lnSpc>
              <a:spcBef>
                <a:spcPts val="1800"/>
              </a:spcBef>
            </a:pPr>
            <a:r>
              <a:rPr lang="zh-CN" altLang="en-US" sz="2000" dirty="0">
                <a:solidFill>
                  <a:srgbClr val="FF0000"/>
                </a:solidFill>
                <a:latin typeface="Times New Roman" panose="02020603050405020304" pitchFamily="18" charset="0"/>
              </a:rPr>
              <a:t>顺序寻址</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lvl="2" eaLnBrk="1" hangingPunct="1">
              <a:lnSpc>
                <a:spcPct val="80000"/>
              </a:lnSpc>
              <a:spcBef>
                <a:spcPts val="1800"/>
              </a:spcBef>
            </a:pPr>
            <a:r>
              <a:rPr lang="zh-CN" altLang="en-US" sz="2000" dirty="0">
                <a:solidFill>
                  <a:srgbClr val="FF0000"/>
                </a:solidFill>
                <a:latin typeface="Times New Roman" panose="02020603050405020304" pitchFamily="18" charset="0"/>
              </a:rPr>
              <a:t>跳跃寻址</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eaLnBrk="1" latinLnBrk="0" hangingPunct="1">
              <a:lnSpc>
                <a:spcPct val="120000"/>
              </a:lnSpc>
              <a:spcBef>
                <a:spcPts val="1200"/>
              </a:spcBef>
              <a:buSzTx/>
            </a:pPr>
            <a:r>
              <a:rPr lang="zh-CN" altLang="en-US" sz="2400" dirty="0">
                <a:latin typeface="Times New Roman" panose="02020603050405020304" pitchFamily="18" charset="0"/>
                <a:sym typeface="黑体" panose="02010609060101010101" pitchFamily="49" charset="-122"/>
              </a:rPr>
              <a:t>数据寻址：</a:t>
            </a:r>
            <a:r>
              <a:rPr lang="zh-CN" altLang="en-US" sz="2400" dirty="0">
                <a:latin typeface="Times New Roman" panose="02020603050405020304" pitchFamily="18" charset="0"/>
              </a:rPr>
              <a:t>寻找操作数的地址。</a:t>
            </a:r>
            <a:endParaRPr lang="zh-CN" altLang="en-US" sz="2400" dirty="0">
              <a:latin typeface="Times New Roman" panose="02020603050405020304" pitchFamily="18" charset="0"/>
            </a:endParaRPr>
          </a:p>
          <a:p>
            <a:pPr lvl="2" eaLnBrk="1" hangingPunct="1">
              <a:lnSpc>
                <a:spcPct val="120000"/>
              </a:lnSpc>
              <a:spcBef>
                <a:spcPts val="1200"/>
              </a:spcBef>
            </a:pPr>
            <a:r>
              <a:rPr lang="zh-CN" altLang="en-US" sz="2000" dirty="0">
                <a:latin typeface="Times New Roman" panose="02020603050405020304" pitchFamily="18" charset="0"/>
              </a:rPr>
              <a:t>种类较多，其最终目的都是寻找所需要的操作数。</a:t>
            </a:r>
            <a:endParaRPr lang="zh-CN" altLang="en-US" sz="2000" dirty="0">
              <a:latin typeface="Times New Roman" panose="02020603050405020304" pitchFamily="18" charset="0"/>
            </a:endParaRPr>
          </a:p>
          <a:p>
            <a:pPr eaLnBrk="1" hangingPunct="1"/>
            <a:endParaRPr lang="zh-CN"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3.2.2  </a:t>
            </a:r>
            <a:r>
              <a:rPr lang="zh-CN" altLang="en-US" dirty="0">
                <a:latin typeface="Times New Roman" panose="02020603050405020304" pitchFamily="18" charset="0"/>
              </a:rPr>
              <a:t>指令寻址</a:t>
            </a:r>
            <a:endParaRPr lang="zh-CN" altLang="en-US" dirty="0">
              <a:latin typeface="Times New Roman" panose="02020603050405020304" pitchFamily="18" charset="0"/>
              <a:ea typeface="Times New Roman" panose="02020603050405020304" pitchFamily="18" charset="0"/>
            </a:endParaRPr>
          </a:p>
        </p:txBody>
      </p:sp>
      <p:sp>
        <p:nvSpPr>
          <p:cNvPr id="50178" name="内容占位符 2"/>
          <p:cNvSpPr>
            <a:spLocks noGrp="1"/>
          </p:cNvSpPr>
          <p:nvPr>
            <p:ph idx="1"/>
          </p:nvPr>
        </p:nvSpPr>
        <p:spPr>
          <a:noFill/>
          <a:ln>
            <a:noFill/>
          </a:ln>
        </p:spPr>
        <p:txBody>
          <a:bodyPr anchor="t"/>
          <a:p>
            <a:pPr marL="342900" marR="0" indent="-342900" algn="l" defTabSz="914400" rtl="0" eaLnBrk="1" fontAlgn="base" latinLnBrk="0" hangingPunct="1">
              <a:lnSpc>
                <a:spcPct val="14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rPr>
              <a:t>顺序寻址：</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通过程序计数器</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PC</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加</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1</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，自动形成；</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342900" marR="0" indent="-342900" algn="l" defTabSz="914400" rtl="0" eaLnBrk="1" fontAlgn="base" latinLnBrk="0" hangingPunct="1">
              <a:lnSpc>
                <a:spcPct val="14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rPr>
              <a:t>跳跃寻址</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通过程序转移类指令实现。</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0" algn="l" defTabSz="914400" rtl="0" eaLnBrk="1" fontAlgn="base" latinLnBrk="0" hangingPunct="1">
              <a:lnSpc>
                <a:spcPct val="140000"/>
              </a:lnSpc>
              <a:spcBef>
                <a:spcPts val="6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形成地址方式：</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直接</a:t>
            </a:r>
            <a:r>
              <a:rPr kumimoji="0" lang="zh-CN" altLang="en-US" sz="1800" b="0" i="0" u="none" strike="noStrike" kern="0" cap="none" spc="0" normalizeH="0" baseline="0" noProof="1" dirty="0">
                <a:solidFill>
                  <a:srgbClr val="FF0000"/>
                </a:solidFill>
                <a:latin typeface="Times New Roman" panose="02020603050405020304" pitchFamily="18" charset="0"/>
                <a:ea typeface="+mn-ea"/>
                <a:cs typeface="+mn-ea"/>
              </a:rPr>
              <a:t>（绝对）</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、相对和间接寻址</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0" algn="l" defTabSz="914400" rtl="0" eaLnBrk="1" fontAlgn="base" latinLnBrk="0" hangingPunct="1">
              <a:lnSpc>
                <a:spcPct val="140000"/>
              </a:lnSpc>
              <a:spcBef>
                <a:spcPts val="6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数据寻址中有相同的方式。</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0" algn="l" defTabSz="914400" rtl="0" eaLnBrk="1" fontAlgn="base" latinLnBrk="0" hangingPunct="1">
              <a:lnSpc>
                <a:spcPct val="100000"/>
              </a:lnSpc>
              <a:spcBef>
                <a:spcPts val="600"/>
              </a:spcBef>
              <a:spcAft>
                <a:spcPct val="0"/>
              </a:spcAft>
              <a:buClr>
                <a:schemeClr val="hlink"/>
              </a:buClr>
              <a:buSzTx/>
              <a:buFont typeface="Wingdings" panose="05000000000000000000" pitchFamily="2" charset="2"/>
              <a:buChar char="v"/>
            </a:pP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3.2.3  </a:t>
            </a:r>
            <a:r>
              <a:rPr lang="zh-CN" altLang="en-US" dirty="0">
                <a:latin typeface="Times New Roman" panose="02020603050405020304" pitchFamily="18" charset="0"/>
              </a:rPr>
              <a:t>基本的数据寻址方式</a:t>
            </a:r>
            <a:endParaRPr lang="zh-CN" altLang="en-US" dirty="0">
              <a:latin typeface="Times New Roman" panose="02020603050405020304" pitchFamily="18" charset="0"/>
              <a:ea typeface="Times New Roman" panose="02020603050405020304" pitchFamily="18" charset="0"/>
            </a:endParaRPr>
          </a:p>
        </p:txBody>
      </p:sp>
      <p:sp>
        <p:nvSpPr>
          <p:cNvPr id="51202" name="内容占位符 2"/>
          <p:cNvSpPr>
            <a:spLocks noGrp="1"/>
          </p:cNvSpPr>
          <p:nvPr>
            <p:ph idx="1"/>
          </p:nvPr>
        </p:nvSpPr>
        <p:spPr>
          <a:noFill/>
          <a:ln>
            <a:noFill/>
          </a:ln>
        </p:spPr>
        <p:txBody>
          <a:bodyPr anchor="t" anchorCtr="0"/>
          <a:p>
            <a:pPr indent="0" eaLnBrk="1" latinLnBrk="0" hangingPunct="1">
              <a:lnSpc>
                <a:spcPct val="170000"/>
              </a:lnSpc>
              <a:spcBef>
                <a:spcPct val="0"/>
              </a:spcBef>
            </a:pPr>
            <a:r>
              <a:rPr lang="zh-CN" altLang="en-US" dirty="0">
                <a:latin typeface="Times New Roman" panose="02020603050405020304" pitchFamily="18" charset="0"/>
              </a:rPr>
              <a:t>数据寻址：</a:t>
            </a:r>
            <a:endParaRPr lang="zh-CN" altLang="en-US" dirty="0">
              <a:latin typeface="Times New Roman" panose="02020603050405020304" pitchFamily="18" charset="0"/>
            </a:endParaRPr>
          </a:p>
          <a:p>
            <a:pPr lvl="1" indent="0" eaLnBrk="1" latinLnBrk="0" hangingPunct="1">
              <a:lnSpc>
                <a:spcPct val="170000"/>
              </a:lnSpc>
              <a:spcBef>
                <a:spcPct val="0"/>
              </a:spcBef>
            </a:pPr>
            <a:r>
              <a:rPr lang="zh-CN" altLang="en-US" sz="2400" dirty="0">
                <a:latin typeface="Times New Roman" panose="02020603050405020304" pitchFamily="18" charset="0"/>
              </a:rPr>
              <a:t>根据指令中给出的地址码寻找真实操作数地址。 </a:t>
            </a:r>
            <a:endParaRPr lang="zh-CN" altLang="en-US" sz="2400" dirty="0">
              <a:latin typeface="Times New Roman" panose="02020603050405020304" pitchFamily="18" charset="0"/>
            </a:endParaRPr>
          </a:p>
          <a:p>
            <a:pPr lvl="2" indent="0" eaLnBrk="1" latinLnBrk="0" hangingPunct="1">
              <a:lnSpc>
                <a:spcPct val="170000"/>
              </a:lnSpc>
              <a:spcBef>
                <a:spcPct val="0"/>
              </a:spcBef>
            </a:pPr>
            <a:r>
              <a:rPr lang="zh-CN" altLang="en-US" sz="2000" dirty="0">
                <a:latin typeface="Times New Roman" panose="02020603050405020304" pitchFamily="18" charset="0"/>
              </a:rPr>
              <a:t>指令中的</a:t>
            </a:r>
            <a:r>
              <a:rPr lang="zh-CN" altLang="en-US" sz="2000" dirty="0">
                <a:solidFill>
                  <a:srgbClr val="FF0000"/>
                </a:solidFill>
                <a:latin typeface="Times New Roman" panose="02020603050405020304" pitchFamily="18" charset="0"/>
              </a:rPr>
              <a:t>形式地址</a:t>
            </a:r>
            <a:r>
              <a:rPr lang="en-US" altLang="zh-CN" sz="2000" dirty="0">
                <a:solidFill>
                  <a:srgbClr val="FF0000"/>
                </a:solidFill>
                <a:latin typeface="Times New Roman" panose="02020603050405020304" pitchFamily="18" charset="0"/>
              </a:rPr>
              <a:t>A</a:t>
            </a:r>
            <a:r>
              <a:rPr lang="en-US" altLang="zh-CN" sz="2000" dirty="0">
                <a:latin typeface="Times New Roman" panose="02020603050405020304" pitchFamily="18" charset="0"/>
              </a:rPr>
              <a:t>→</a:t>
            </a:r>
            <a:r>
              <a:rPr lang="zh-CN" altLang="en-US" sz="2000" dirty="0">
                <a:solidFill>
                  <a:srgbClr val="FF0000"/>
                </a:solidFill>
                <a:latin typeface="Times New Roman" panose="02020603050405020304" pitchFamily="18" charset="0"/>
              </a:rPr>
              <a:t>有效地址</a:t>
            </a:r>
            <a:r>
              <a:rPr lang="en-US" altLang="zh-CN" sz="2000" dirty="0">
                <a:solidFill>
                  <a:srgbClr val="FF0000"/>
                </a:solidFill>
                <a:latin typeface="Times New Roman" panose="02020603050405020304" pitchFamily="18" charset="0"/>
              </a:rPr>
              <a:t>EA</a:t>
            </a:r>
            <a:r>
              <a:rPr lang="zh-CN" altLang="en-US" sz="2000" dirty="0">
                <a:solidFill>
                  <a:srgbClr val="FF0000"/>
                </a:solidFill>
                <a:latin typeface="Times New Roman" panose="02020603050405020304" pitchFamily="18" charset="0"/>
              </a:rPr>
              <a:t>；</a:t>
            </a:r>
            <a:endParaRPr lang="en-US" altLang="zh-CN" sz="2000" dirty="0">
              <a:solidFill>
                <a:srgbClr val="FF0000"/>
              </a:solidFill>
              <a:latin typeface="Times New Roman" panose="02020603050405020304" pitchFamily="18" charset="0"/>
            </a:endParaRPr>
          </a:p>
          <a:p>
            <a:pPr lvl="1" indent="0" eaLnBrk="1" latinLnBrk="0" hangingPunct="1">
              <a:lnSpc>
                <a:spcPct val="170000"/>
              </a:lnSpc>
              <a:spcBef>
                <a:spcPct val="0"/>
              </a:spcBef>
            </a:pPr>
            <a:r>
              <a:rPr lang="zh-CN" altLang="en-US" sz="2400" dirty="0">
                <a:latin typeface="Times New Roman" panose="02020603050405020304" pitchFamily="18" charset="0"/>
              </a:rPr>
              <a:t>每种计算机的指令系统有自己的数据寻址方式</a:t>
            </a:r>
            <a:endParaRPr lang="zh-CN" altLang="en-US" sz="2400" dirty="0">
              <a:latin typeface="Times New Roman" panose="02020603050405020304" pitchFamily="18" charset="0"/>
            </a:endParaRPr>
          </a:p>
          <a:p>
            <a:pPr lvl="2" indent="0" eaLnBrk="1" latinLnBrk="0" hangingPunct="1">
              <a:lnSpc>
                <a:spcPct val="170000"/>
              </a:lnSpc>
              <a:spcBef>
                <a:spcPct val="0"/>
              </a:spcBef>
            </a:pPr>
            <a:r>
              <a:rPr lang="zh-CN" altLang="en-US" sz="2000" dirty="0">
                <a:latin typeface="Times New Roman" panose="02020603050405020304" pitchFamily="18" charset="0"/>
              </a:rPr>
              <a:t>不同计算机的寻址方式的名称和含义并不统一。</a:t>
            </a:r>
            <a:endParaRPr lang="zh-CN"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1"/>
          <p:cNvSpPr>
            <a:spLocks noGrp="1"/>
          </p:cNvSpPr>
          <p:nvPr>
            <p:ph type="title"/>
          </p:nvPr>
        </p:nvSpPr>
        <p:spPr>
          <a:xfrm>
            <a:off x="457200" y="274638"/>
            <a:ext cx="8229600" cy="893762"/>
          </a:xfrm>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立即寻址 </a:t>
            </a:r>
            <a:endParaRPr lang="zh-CN" altLang="en-US" dirty="0">
              <a:latin typeface="Times New Roman" panose="02020603050405020304" pitchFamily="18" charset="0"/>
            </a:endParaRPr>
          </a:p>
        </p:txBody>
      </p:sp>
      <p:sp>
        <p:nvSpPr>
          <p:cNvPr id="52226" name="内容占位符 2"/>
          <p:cNvSpPr>
            <a:spLocks noGrp="1"/>
          </p:cNvSpPr>
          <p:nvPr>
            <p:ph idx="1"/>
          </p:nvPr>
        </p:nvSpPr>
        <p:spPr>
          <a:xfrm>
            <a:off x="457200" y="1989138"/>
            <a:ext cx="8229600" cy="4392612"/>
          </a:xfrm>
          <a:noFill/>
          <a:ln>
            <a:noFill/>
          </a:ln>
        </p:spPr>
        <p:txBody>
          <a:bodyPr anchor="t" anchorCtr="0"/>
          <a:p>
            <a:pPr marL="0" indent="457200" eaLnBrk="1" latinLnBrk="0" hangingPunct="1">
              <a:lnSpc>
                <a:spcPct val="120000"/>
              </a:lnSpc>
              <a:spcBef>
                <a:spcPct val="0"/>
              </a:spcBef>
            </a:pPr>
            <a:r>
              <a:rPr lang="zh-CN" altLang="en-US" dirty="0">
                <a:latin typeface="Times New Roman" panose="02020603050405020304" pitchFamily="18" charset="0"/>
              </a:rPr>
              <a:t>指令中给出的不是操作数地址，而是操作数本身。</a:t>
            </a:r>
            <a:endParaRPr lang="zh-CN" altLang="en-US" dirty="0">
              <a:latin typeface="Times New Roman" panose="02020603050405020304" pitchFamily="18" charset="0"/>
            </a:endParaRPr>
          </a:p>
          <a:p>
            <a:pPr marL="546100" lvl="1" indent="196850" eaLnBrk="1" latinLnBrk="0" hangingPunct="1">
              <a:lnSpc>
                <a:spcPct val="120000"/>
              </a:lnSpc>
              <a:spcBef>
                <a:spcPts val="600"/>
              </a:spcBef>
            </a:pPr>
            <a:r>
              <a:rPr lang="zh-CN" altLang="en-US" sz="2400" dirty="0">
                <a:solidFill>
                  <a:srgbClr val="FF0000"/>
                </a:solidFill>
                <a:latin typeface="Times New Roman" panose="02020603050405020304" pitchFamily="18" charset="0"/>
              </a:rPr>
              <a:t>数据就包含在指令中</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a:p>
            <a:pPr marL="546100" lvl="1" indent="196850" eaLnBrk="1" latinLnBrk="0" hangingPunct="1">
              <a:lnSpc>
                <a:spcPct val="120000"/>
              </a:lnSpc>
              <a:spcBef>
                <a:spcPts val="600"/>
              </a:spcBef>
            </a:pPr>
            <a:r>
              <a:rPr lang="zh-CN" altLang="en-US" sz="2400" dirty="0">
                <a:latin typeface="Times New Roman" panose="02020603050405020304" pitchFamily="18" charset="0"/>
              </a:rPr>
              <a:t>在取指令时，操作码和操作数被同时取出；</a:t>
            </a:r>
            <a:endParaRPr lang="zh-CN" altLang="en-US" sz="2400" dirty="0">
              <a:latin typeface="Times New Roman" panose="02020603050405020304" pitchFamily="18" charset="0"/>
            </a:endParaRPr>
          </a:p>
          <a:p>
            <a:pPr marL="546100" lvl="1" indent="196850" eaLnBrk="1" latinLnBrk="0" hangingPunct="1">
              <a:lnSpc>
                <a:spcPct val="120000"/>
              </a:lnSpc>
              <a:spcBef>
                <a:spcPts val="600"/>
              </a:spcBef>
            </a:pPr>
            <a:r>
              <a:rPr lang="zh-CN" altLang="en-US" sz="2400" dirty="0">
                <a:latin typeface="Times New Roman" panose="02020603050405020304" pitchFamily="18" charset="0"/>
              </a:rPr>
              <a:t>提高了指令的执行速度；</a:t>
            </a:r>
            <a:endParaRPr lang="en-US" altLang="zh-CN" sz="2400" dirty="0">
              <a:latin typeface="Times New Roman" panose="02020603050405020304" pitchFamily="18" charset="0"/>
            </a:endParaRPr>
          </a:p>
          <a:p>
            <a:pPr marL="546100" lvl="1" indent="196850" eaLnBrk="1" latinLnBrk="0" hangingPunct="1">
              <a:lnSpc>
                <a:spcPct val="120000"/>
              </a:lnSpc>
              <a:spcBef>
                <a:spcPts val="600"/>
              </a:spcBef>
            </a:pPr>
            <a:r>
              <a:rPr lang="zh-CN" altLang="en-US" sz="2400" dirty="0">
                <a:latin typeface="Times New Roman" panose="02020603050405020304" pitchFamily="18" charset="0"/>
              </a:rPr>
              <a:t>操作数是指令的一部分，不能被修改；</a:t>
            </a:r>
            <a:endParaRPr lang="en-US" altLang="zh-CN" sz="2400" dirty="0">
              <a:latin typeface="Times New Roman" panose="02020603050405020304" pitchFamily="18" charset="0"/>
            </a:endParaRPr>
          </a:p>
          <a:p>
            <a:pPr marL="546100" lvl="1" indent="196850" eaLnBrk="1" latinLnBrk="0" hangingPunct="1">
              <a:lnSpc>
                <a:spcPct val="120000"/>
              </a:lnSpc>
              <a:spcBef>
                <a:spcPts val="600"/>
              </a:spcBef>
            </a:pPr>
            <a:r>
              <a:rPr lang="zh-CN" altLang="en-US" sz="2400" dirty="0">
                <a:latin typeface="Times New Roman" panose="02020603050405020304" pitchFamily="18" charset="0"/>
              </a:rPr>
              <a:t>立即数的大小受到指令长度的限制；</a:t>
            </a:r>
            <a:endParaRPr lang="en-US" altLang="zh-CN" sz="2400" dirty="0">
              <a:latin typeface="Times New Roman" panose="02020603050405020304" pitchFamily="18" charset="0"/>
            </a:endParaRPr>
          </a:p>
          <a:p>
            <a:pPr marL="546100" lvl="1" indent="196850" eaLnBrk="1" latinLnBrk="0" hangingPunct="1">
              <a:lnSpc>
                <a:spcPct val="120000"/>
              </a:lnSpc>
              <a:spcBef>
                <a:spcPts val="600"/>
              </a:spcBef>
            </a:pPr>
            <a:r>
              <a:rPr lang="zh-CN" altLang="en-US" sz="2400" dirty="0">
                <a:latin typeface="Times New Roman" panose="02020603050405020304" pitchFamily="18" charset="0"/>
              </a:rPr>
              <a:t>常用于给某一寄存器或主存单元赋初值或提供常数。 </a:t>
            </a:r>
            <a:endParaRPr lang="zh-CN" altLang="en-US" sz="2400" dirty="0">
              <a:latin typeface="Times New Roman" panose="02020603050405020304" pitchFamily="18" charset="0"/>
            </a:endParaRPr>
          </a:p>
        </p:txBody>
      </p:sp>
      <p:grpSp>
        <p:nvGrpSpPr>
          <p:cNvPr id="52227" name="Group 5"/>
          <p:cNvGrpSpPr/>
          <p:nvPr/>
        </p:nvGrpSpPr>
        <p:grpSpPr>
          <a:xfrm>
            <a:off x="2195513" y="1268413"/>
            <a:ext cx="3962400" cy="461962"/>
            <a:chOff x="1440" y="2207"/>
            <a:chExt cx="2496" cy="291"/>
          </a:xfrm>
        </p:grpSpPr>
        <p:sp>
          <p:nvSpPr>
            <p:cNvPr id="52228" name="Rectangle 6"/>
            <p:cNvSpPr/>
            <p:nvPr/>
          </p:nvSpPr>
          <p:spPr>
            <a:xfrm>
              <a:off x="1440" y="2208"/>
              <a:ext cx="2496" cy="288"/>
            </a:xfrm>
            <a:prstGeom prst="rect">
              <a:avLst/>
            </a:prstGeom>
            <a:solidFill>
              <a:srgbClr val="FFFFFF"/>
            </a:solidFill>
            <a:ln w="9525" cap="sq" cmpd="sng">
              <a:solidFill>
                <a:srgbClr val="7A48C4"/>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Times New Roman" panose="02020603050405020304" pitchFamily="18" charset="0"/>
              </a:endParaRPr>
            </a:p>
          </p:txBody>
        </p:sp>
        <p:sp>
          <p:nvSpPr>
            <p:cNvPr id="52229" name="Line 7"/>
            <p:cNvSpPr/>
            <p:nvPr/>
          </p:nvSpPr>
          <p:spPr>
            <a:xfrm>
              <a:off x="2688" y="2208"/>
              <a:ext cx="0" cy="288"/>
            </a:xfrm>
            <a:prstGeom prst="line">
              <a:avLst/>
            </a:prstGeom>
            <a:ln w="9525" cap="sq" cmpd="sng">
              <a:solidFill>
                <a:srgbClr val="7A48C4"/>
              </a:solidFill>
              <a:prstDash val="solid"/>
              <a:round/>
              <a:headEnd type="none" w="med" len="med"/>
              <a:tailEnd type="none" w="med" len="med"/>
            </a:ln>
          </p:spPr>
        </p:sp>
        <p:sp>
          <p:nvSpPr>
            <p:cNvPr id="52230" name="Text Box 8"/>
            <p:cNvSpPr txBox="1"/>
            <p:nvPr/>
          </p:nvSpPr>
          <p:spPr>
            <a:xfrm>
              <a:off x="1928" y="2207"/>
              <a:ext cx="385" cy="291"/>
            </a:xfrm>
            <a:prstGeom prst="rect">
              <a:avLst/>
            </a:prstGeom>
            <a:noFill/>
            <a:ln w="9525">
              <a:noFill/>
            </a:ln>
          </p:spPr>
          <p:txBody>
            <a:bodyPr wrap="none" anchor="ctr" anchorCtr="0">
              <a:spAutoFit/>
            </a:bodyPr>
            <a:p>
              <a:pPr algn="ctr">
                <a:spcBef>
                  <a:spcPct val="50000"/>
                </a:spcBef>
              </a:pPr>
              <a:r>
                <a:rPr lang="en-US" altLang="zh-CN" sz="2400" b="1" dirty="0">
                  <a:solidFill>
                    <a:srgbClr val="A50021"/>
                  </a:solidFill>
                  <a:latin typeface="Times New Roman" panose="02020603050405020304" pitchFamily="18" charset="0"/>
                  <a:ea typeface="宋体" panose="02010600030101010101" pitchFamily="2" charset="-122"/>
                </a:rPr>
                <a:t>OP</a:t>
              </a:r>
              <a:endParaRPr lang="en-US" altLang="zh-CN" sz="2400" b="1" dirty="0">
                <a:solidFill>
                  <a:srgbClr val="A50021"/>
                </a:solidFill>
                <a:latin typeface="Times New Roman" panose="02020603050405020304" pitchFamily="18" charset="0"/>
                <a:ea typeface="宋体" panose="02010600030101010101" pitchFamily="2" charset="-122"/>
              </a:endParaRPr>
            </a:p>
          </p:txBody>
        </p:sp>
        <p:sp>
          <p:nvSpPr>
            <p:cNvPr id="52231" name="Text Box 9"/>
            <p:cNvSpPr txBox="1"/>
            <p:nvPr/>
          </p:nvSpPr>
          <p:spPr>
            <a:xfrm>
              <a:off x="2973" y="2208"/>
              <a:ext cx="698" cy="288"/>
            </a:xfrm>
            <a:prstGeom prst="rect">
              <a:avLst/>
            </a:prstGeom>
            <a:noFill/>
            <a:ln w="9525">
              <a:noFill/>
            </a:ln>
          </p:spPr>
          <p:txBody>
            <a:bodyPr wrap="none" anchor="ctr" anchorCtr="0">
              <a:spAutoFit/>
            </a:bodyPr>
            <a:p>
              <a:pPr algn="ctr">
                <a:spcBef>
                  <a:spcPct val="50000"/>
                </a:spcBef>
              </a:pPr>
              <a:r>
                <a:rPr lang="zh-CN" altLang="zh-CN" sz="2400" b="1" dirty="0">
                  <a:solidFill>
                    <a:srgbClr val="A50021"/>
                  </a:solidFill>
                  <a:latin typeface="Times New Roman" panose="02020603050405020304" pitchFamily="18" charset="0"/>
                  <a:ea typeface="宋体" panose="02010600030101010101" pitchFamily="2" charset="-122"/>
                </a:rPr>
                <a:t>立即数</a:t>
              </a:r>
              <a:endParaRPr lang="zh-CN" altLang="zh-CN" sz="2400" b="1" dirty="0">
                <a:solidFill>
                  <a:srgbClr val="A5002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标题 1"/>
          <p:cNvSpPr>
            <a:spLocks noGrp="1"/>
          </p:cNvSpPr>
          <p:nvPr>
            <p:ph type="title"/>
          </p:nvPr>
        </p:nvSpPr>
        <p:spPr>
          <a:xfrm>
            <a:off x="457200" y="274638"/>
            <a:ext cx="8229600" cy="922337"/>
          </a:xfrm>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寄存器寻址</a:t>
            </a:r>
            <a:endParaRPr lang="zh-CN" altLang="en-US" dirty="0">
              <a:latin typeface="Times New Roman" panose="02020603050405020304" pitchFamily="18" charset="0"/>
              <a:ea typeface="Times New Roman" panose="02020603050405020304" pitchFamily="18" charset="0"/>
            </a:endParaRPr>
          </a:p>
        </p:txBody>
      </p:sp>
      <p:sp>
        <p:nvSpPr>
          <p:cNvPr id="53250" name="内容占位符 2"/>
          <p:cNvSpPr>
            <a:spLocks noGrp="1"/>
          </p:cNvSpPr>
          <p:nvPr>
            <p:ph idx="1"/>
          </p:nvPr>
        </p:nvSpPr>
        <p:spPr>
          <a:noFill/>
          <a:ln>
            <a:noFill/>
          </a:ln>
        </p:spPr>
        <p:txBody>
          <a:bodyPr anchor="t" anchorCtr="0"/>
          <a:p>
            <a:pPr marL="0" indent="342900" eaLnBrk="1" latinLnBrk="0" hangingPunct="1">
              <a:lnSpc>
                <a:spcPct val="150000"/>
              </a:lnSpc>
              <a:spcBef>
                <a:spcPct val="0"/>
              </a:spcBef>
            </a:pPr>
            <a:r>
              <a:rPr lang="zh-CN" altLang="en-US" dirty="0">
                <a:latin typeface="Times New Roman" panose="02020603050405020304" pitchFamily="18" charset="0"/>
              </a:rPr>
              <a:t>指令的地址码部分给出某一个通用寄存器的编号</a:t>
            </a:r>
            <a:endParaRPr lang="zh-CN" altLang="en-US" dirty="0">
              <a:latin typeface="Times New Roman" panose="02020603050405020304" pitchFamily="18" charset="0"/>
            </a:endParaRPr>
          </a:p>
          <a:p>
            <a:pPr marL="430530" lvl="1" indent="312420" eaLnBrk="1" latinLnBrk="0" hangingPunct="1">
              <a:lnSpc>
                <a:spcPct val="150000"/>
              </a:lnSpc>
              <a:spcBef>
                <a:spcPct val="0"/>
              </a:spcBef>
            </a:pPr>
            <a:r>
              <a:rPr lang="zh-CN" altLang="en-US" sz="2400" dirty="0">
                <a:latin typeface="Times New Roman" panose="02020603050405020304" pitchFamily="18" charset="0"/>
              </a:rPr>
              <a:t>这个指定的寄存器中存放着操作数；</a:t>
            </a:r>
            <a:endParaRPr lang="en-US" altLang="zh-CN" sz="2400" dirty="0">
              <a:latin typeface="Times New Roman" panose="02020603050405020304" pitchFamily="18" charset="0"/>
            </a:endParaRPr>
          </a:p>
          <a:p>
            <a:pPr marL="430530" lvl="1" indent="312420" eaLnBrk="1" latinLnBrk="0" hangingPunct="1">
              <a:lnSpc>
                <a:spcPct val="150000"/>
              </a:lnSpc>
              <a:spcBef>
                <a:spcPct val="0"/>
              </a:spcBef>
              <a:buSzTx/>
            </a:pPr>
            <a:r>
              <a:rPr lang="zh-CN" altLang="en-US" sz="2400" dirty="0">
                <a:latin typeface="Times New Roman" panose="02020603050405020304" pitchFamily="18" charset="0"/>
              </a:rPr>
              <a:t>操作数S与寄存器Ri的关系为：</a:t>
            </a:r>
            <a:r>
              <a:rPr lang="zh-CN" altLang="en-US" sz="2400" dirty="0">
                <a:solidFill>
                  <a:srgbClr val="FF0000"/>
                </a:solidFill>
                <a:latin typeface="Times New Roman" panose="02020603050405020304" pitchFamily="18" charset="0"/>
              </a:rPr>
              <a:t>S=(Ri)</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a:p>
            <a:pPr marL="430530" lvl="1" indent="312420" eaLnBrk="1" latinLnBrk="0" hangingPunct="1">
              <a:lnSpc>
                <a:spcPct val="150000"/>
              </a:lnSpc>
              <a:spcBef>
                <a:spcPct val="0"/>
              </a:spcBef>
              <a:buSzTx/>
            </a:pPr>
            <a:r>
              <a:rPr lang="zh-CN" altLang="en-US" sz="2400" dirty="0">
                <a:latin typeface="Times New Roman" panose="02020603050405020304" pitchFamily="18" charset="0"/>
              </a:rPr>
              <a:t>寄存器寻址具有两个明显的优点：</a:t>
            </a:r>
            <a:endParaRPr lang="zh-CN" altLang="en-US" sz="2400" dirty="0">
              <a:latin typeface="Times New Roman" panose="02020603050405020304" pitchFamily="18" charset="0"/>
            </a:endParaRPr>
          </a:p>
          <a:p>
            <a:pPr marL="887730" lvl="2" indent="312420" eaLnBrk="1" latinLnBrk="0" hangingPunct="1">
              <a:lnSpc>
                <a:spcPct val="150000"/>
              </a:lnSpc>
              <a:spcBef>
                <a:spcPct val="0"/>
              </a:spcBef>
              <a:buSzTx/>
            </a:pPr>
            <a:r>
              <a:rPr lang="zh-CN" altLang="en-US" sz="2000" dirty="0">
                <a:latin typeface="Times New Roman" panose="02020603050405020304" pitchFamily="18" charset="0"/>
              </a:rPr>
              <a:t>①从寄存器中存取数据比从主存中快得多；</a:t>
            </a:r>
            <a:endParaRPr lang="zh-CN" altLang="en-US" sz="2000" dirty="0">
              <a:latin typeface="Times New Roman" panose="02020603050405020304" pitchFamily="18" charset="0"/>
            </a:endParaRPr>
          </a:p>
          <a:p>
            <a:pPr marL="887730" lvl="2" indent="312420" eaLnBrk="1" latinLnBrk="0" hangingPunct="1">
              <a:lnSpc>
                <a:spcPct val="150000"/>
              </a:lnSpc>
              <a:spcBef>
                <a:spcPct val="0"/>
              </a:spcBef>
              <a:buSzTx/>
            </a:pPr>
            <a:r>
              <a:rPr lang="zh-CN" altLang="en-US" sz="2000" dirty="0">
                <a:latin typeface="Times New Roman" panose="02020603050405020304" pitchFamily="18" charset="0"/>
              </a:rPr>
              <a:t>②由于寄存器的数量较少，其地址码字段比主存单元地址字段短得多。</a:t>
            </a:r>
            <a:endParaRPr lang="zh-CN" altLang="en-US" sz="2000" dirty="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直接寻址</a:t>
            </a:r>
            <a:endParaRPr lang="zh-CN" altLang="en-US" dirty="0">
              <a:latin typeface="Times New Roman" panose="02020603050405020304" pitchFamily="18" charset="0"/>
              <a:ea typeface="Times New Roman" panose="02020603050405020304" pitchFamily="18" charset="0"/>
            </a:endParaRPr>
          </a:p>
        </p:txBody>
      </p:sp>
      <p:sp>
        <p:nvSpPr>
          <p:cNvPr id="54274" name="内容占位符 2"/>
          <p:cNvSpPr>
            <a:spLocks noGrp="1"/>
          </p:cNvSpPr>
          <p:nvPr>
            <p:ph idx="1"/>
          </p:nvPr>
        </p:nvSpPr>
        <p:spPr>
          <a:xfrm>
            <a:off x="457200" y="1589088"/>
            <a:ext cx="8229600" cy="4525962"/>
          </a:xfrm>
          <a:noFill/>
          <a:ln>
            <a:noFill/>
          </a:ln>
        </p:spPr>
        <p:txBody>
          <a:bodyPr anchor="t" anchorCtr="0"/>
          <a:p>
            <a:pPr marL="0" indent="342900" eaLnBrk="1" latinLnBrk="0" hangingPunct="1">
              <a:lnSpc>
                <a:spcPct val="150000"/>
              </a:lnSpc>
              <a:spcBef>
                <a:spcPct val="0"/>
              </a:spcBef>
            </a:pPr>
            <a:r>
              <a:rPr lang="zh-CN" altLang="en-US" dirty="0">
                <a:latin typeface="Times New Roman" panose="02020603050405020304" pitchFamily="18" charset="0"/>
              </a:rPr>
              <a:t>指令中给出的地址</a:t>
            </a:r>
            <a:r>
              <a:rPr lang="en-US" altLang="zh-CN" dirty="0">
                <a:latin typeface="Times New Roman" panose="02020603050405020304" pitchFamily="18" charset="0"/>
              </a:rPr>
              <a:t>A</a:t>
            </a:r>
            <a:r>
              <a:rPr lang="zh-CN" altLang="en-US" dirty="0">
                <a:latin typeface="Times New Roman" panose="02020603050405020304" pitchFamily="18" charset="0"/>
              </a:rPr>
              <a:t>就是操作数的有效地址</a:t>
            </a:r>
            <a:endParaRPr lang="zh-CN" altLang="en-US" dirty="0">
              <a:latin typeface="Times New Roman" panose="02020603050405020304" pitchFamily="18" charset="0"/>
            </a:endParaRPr>
          </a:p>
          <a:p>
            <a:pPr marL="441325" lvl="1" indent="301625" eaLnBrk="1" latinLnBrk="0" hangingPunct="1">
              <a:lnSpc>
                <a:spcPct val="150000"/>
              </a:lnSpc>
              <a:spcBef>
                <a:spcPct val="0"/>
              </a:spcBef>
            </a:pPr>
            <a:r>
              <a:rPr lang="zh-CN" altLang="en-US" sz="2400" dirty="0">
                <a:latin typeface="Times New Roman" panose="02020603050405020304" pitchFamily="18" charset="0"/>
              </a:rPr>
              <a:t>即形式地址等于有效地址：</a:t>
            </a:r>
            <a:r>
              <a:rPr lang="en-US" altLang="zh-CN" sz="2400" dirty="0">
                <a:solidFill>
                  <a:srgbClr val="FF0000"/>
                </a:solidFill>
                <a:latin typeface="Times New Roman" panose="02020603050405020304" pitchFamily="18" charset="0"/>
              </a:rPr>
              <a:t>EA=A</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marL="441325" lvl="1" indent="301625" eaLnBrk="1" latinLnBrk="0" hangingPunct="1">
              <a:lnSpc>
                <a:spcPct val="150000"/>
              </a:lnSpc>
              <a:spcBef>
                <a:spcPct val="0"/>
              </a:spcBef>
            </a:pPr>
            <a:r>
              <a:rPr lang="zh-CN" altLang="en-US" sz="2400" dirty="0">
                <a:latin typeface="Times New Roman" panose="02020603050405020304" pitchFamily="18" charset="0"/>
              </a:rPr>
              <a:t>给出的操作数地址不能修改，又叫绝对寻址。</a:t>
            </a:r>
            <a:endParaRPr lang="zh-CN" altLang="en-US" sz="2400" dirty="0">
              <a:latin typeface="Times New Roman" panose="02020603050405020304" pitchFamily="18" charset="0"/>
            </a:endParaRPr>
          </a:p>
          <a:p>
            <a:pPr marL="441325" lvl="1" indent="301625" eaLnBrk="1" latinLnBrk="0" hangingPunct="1">
              <a:lnSpc>
                <a:spcPct val="150000"/>
              </a:lnSpc>
              <a:spcBef>
                <a:spcPct val="0"/>
              </a:spcBef>
            </a:pPr>
            <a:r>
              <a:rPr lang="zh-CN" altLang="en-US" sz="2400" dirty="0">
                <a:latin typeface="Times New Roman" panose="02020603050405020304" pitchFamily="18" charset="0"/>
              </a:rPr>
              <a:t>操作数</a:t>
            </a:r>
            <a:r>
              <a:rPr lang="en-US" altLang="zh-CN" sz="2400" dirty="0">
                <a:solidFill>
                  <a:srgbClr val="FF0000"/>
                </a:solidFill>
                <a:latin typeface="Times New Roman" panose="02020603050405020304" pitchFamily="18" charset="0"/>
              </a:rPr>
              <a:t>S=(A)</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marL="441325" lvl="1" indent="301625" eaLnBrk="1" latinLnBrk="0" hangingPunct="1">
              <a:lnSpc>
                <a:spcPct val="150000"/>
              </a:lnSpc>
              <a:spcBef>
                <a:spcPct val="0"/>
              </a:spcBef>
            </a:pPr>
            <a:r>
              <a:rPr lang="zh-CN" altLang="en-US" sz="2400" dirty="0">
                <a:latin typeface="Times New Roman" panose="02020603050405020304" pitchFamily="18" charset="0"/>
              </a:rPr>
              <a:t>不需作任何寻址运算，简单直观；</a:t>
            </a:r>
            <a:endParaRPr lang="zh-CN" altLang="en-US" sz="2400" dirty="0">
              <a:latin typeface="Times New Roman" panose="02020603050405020304" pitchFamily="18" charset="0"/>
            </a:endParaRPr>
          </a:p>
          <a:p>
            <a:pPr marL="441325" lvl="1" indent="301625" eaLnBrk="1" latinLnBrk="0" hangingPunct="1">
              <a:lnSpc>
                <a:spcPct val="150000"/>
              </a:lnSpc>
              <a:spcBef>
                <a:spcPct val="0"/>
              </a:spcBef>
            </a:pPr>
            <a:r>
              <a:rPr lang="zh-CN" altLang="en-US" sz="2400" dirty="0">
                <a:latin typeface="Times New Roman" panose="02020603050405020304" pitchFamily="18" charset="0"/>
              </a:rPr>
              <a:t>地址空间受到指令中地址码字段位数的限制。</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a:t>
            </a:r>
            <a:r>
              <a:rPr lang="zh-CN" altLang="en-US" dirty="0">
                <a:latin typeface="Times New Roman" panose="02020603050405020304" pitchFamily="18" charset="0"/>
              </a:rPr>
              <a:t>间接寻址</a:t>
            </a:r>
            <a:endParaRPr lang="zh-CN" altLang="en-US" dirty="0">
              <a:latin typeface="Times New Roman" panose="02020603050405020304" pitchFamily="18" charset="0"/>
              <a:ea typeface="Times New Roman" panose="02020603050405020304" pitchFamily="18" charset="0"/>
            </a:endParaRPr>
          </a:p>
        </p:txBody>
      </p:sp>
      <p:sp>
        <p:nvSpPr>
          <p:cNvPr id="55298" name="内容占位符 2"/>
          <p:cNvSpPr>
            <a:spLocks noGrp="1"/>
          </p:cNvSpPr>
          <p:nvPr>
            <p:ph idx="1"/>
          </p:nvPr>
        </p:nvSpPr>
        <p:spPr>
          <a:noFill/>
          <a:ln>
            <a:noFill/>
          </a:ln>
        </p:spPr>
        <p:txBody>
          <a:bodyPr anchor="t" anchorCtr="0"/>
          <a:p>
            <a:pPr eaLnBrk="1" hangingPunct="1">
              <a:lnSpc>
                <a:spcPct val="110000"/>
              </a:lnSpc>
            </a:pPr>
            <a:r>
              <a:rPr lang="zh-CN" altLang="en-US" dirty="0">
                <a:latin typeface="Times New Roman" panose="02020603050405020304" pitchFamily="18" charset="0"/>
              </a:rPr>
              <a:t>指令中给出的地址</a:t>
            </a:r>
            <a:r>
              <a:rPr lang="en-US" altLang="zh-CN" dirty="0">
                <a:latin typeface="Times New Roman" panose="02020603050405020304" pitchFamily="18" charset="0"/>
              </a:rPr>
              <a:t>A</a:t>
            </a:r>
            <a:r>
              <a:rPr lang="zh-CN" altLang="en-US" dirty="0">
                <a:latin typeface="Times New Roman" panose="02020603050405020304" pitchFamily="18" charset="0"/>
              </a:rPr>
              <a:t>是存放操作数地址的主存单元的地址。</a:t>
            </a:r>
            <a:endParaRPr lang="en-US" altLang="zh-CN" dirty="0">
              <a:latin typeface="Times New Roman" panose="02020603050405020304" pitchFamily="18" charset="0"/>
            </a:endParaRPr>
          </a:p>
          <a:p>
            <a:pPr lvl="1" eaLnBrk="1" hangingPunct="1">
              <a:lnSpc>
                <a:spcPct val="110000"/>
              </a:lnSpc>
              <a:spcBef>
                <a:spcPts val="2400"/>
              </a:spcBef>
            </a:pPr>
            <a:r>
              <a:rPr lang="zh-CN" altLang="en-US" sz="2400" dirty="0">
                <a:latin typeface="Times New Roman" panose="02020603050405020304" pitchFamily="18" charset="0"/>
              </a:rPr>
              <a:t>通常在指令格式中划出一位作为直接或间接寻址的</a:t>
            </a:r>
            <a:r>
              <a:rPr lang="zh-CN" altLang="en-US" sz="2400" dirty="0">
                <a:solidFill>
                  <a:srgbClr val="FF0000"/>
                </a:solidFill>
                <a:latin typeface="Times New Roman" panose="02020603050405020304" pitchFamily="18" charset="0"/>
              </a:rPr>
              <a:t>标志位</a:t>
            </a:r>
            <a:r>
              <a:rPr lang="zh-CN" altLang="en-US" sz="2400" dirty="0">
                <a:latin typeface="Times New Roman" panose="02020603050405020304" pitchFamily="18" charset="0"/>
              </a:rPr>
              <a:t>，间接寻址时标志位＠</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lnSpc>
                <a:spcPct val="110000"/>
              </a:lnSpc>
              <a:spcBef>
                <a:spcPts val="1200"/>
              </a:spcBef>
            </a:pPr>
            <a:r>
              <a:rPr lang="zh-CN" altLang="en-US" sz="2400" dirty="0">
                <a:latin typeface="Times New Roman" panose="02020603050405020304" pitchFamily="18" charset="0"/>
              </a:rPr>
              <a:t>在一级间接寻址中，</a:t>
            </a:r>
            <a:r>
              <a:rPr lang="en-US" altLang="zh-CN" sz="2400" dirty="0">
                <a:latin typeface="Times New Roman" panose="02020603050405020304" pitchFamily="18" charset="0"/>
              </a:rPr>
              <a:t>EA=(A)</a:t>
            </a:r>
            <a:r>
              <a:rPr lang="zh-CN" altLang="en-US" sz="2400" dirty="0">
                <a:latin typeface="Times New Roman" panose="02020603050405020304" pitchFamily="18" charset="0"/>
              </a:rPr>
              <a:t>，</a:t>
            </a:r>
            <a:r>
              <a:rPr lang="en-US" altLang="zh-CN" sz="2400" dirty="0">
                <a:latin typeface="Times New Roman" panose="02020603050405020304" pitchFamily="18" charset="0"/>
              </a:rPr>
              <a:t>S=((A))</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eaLnBrk="1" hangingPunct="1"/>
            <a:endParaRPr lang="en-US" altLang="zh-CN"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1"/>
          <p:cNvSpPr>
            <a:spLocks noGrp="1"/>
          </p:cNvSpPr>
          <p:nvPr>
            <p:ph type="title"/>
          </p:nvPr>
        </p:nvSpPr>
        <p:spPr>
          <a:xfrm>
            <a:off x="457200" y="274638"/>
            <a:ext cx="8229600" cy="850900"/>
          </a:xfrm>
          <a:noFill/>
          <a:ln>
            <a:noFill/>
          </a:ln>
        </p:spPr>
        <p:txBody>
          <a:bodyPr anchor="t" anchorCtr="0"/>
          <a:p>
            <a:pPr eaLnBrk="1" hangingPunct="1"/>
            <a:r>
              <a:rPr lang="zh-CN" altLang="en-US" dirty="0"/>
              <a:t>间接寻址过程 </a:t>
            </a:r>
            <a:endParaRPr lang="zh-CN" altLang="en-US" dirty="0"/>
          </a:p>
        </p:txBody>
      </p:sp>
      <p:graphicFrame>
        <p:nvGraphicFramePr>
          <p:cNvPr id="56322" name="Object 45"/>
          <p:cNvGraphicFramePr>
            <a:graphicFrameLocks noChangeAspect="1"/>
          </p:cNvGraphicFramePr>
          <p:nvPr/>
        </p:nvGraphicFramePr>
        <p:xfrm>
          <a:off x="209550" y="1981200"/>
          <a:ext cx="8610600" cy="3463925"/>
        </p:xfrm>
        <a:graphic>
          <a:graphicData uri="http://schemas.openxmlformats.org/presentationml/2006/ole">
            <mc:AlternateContent xmlns:mc="http://schemas.openxmlformats.org/markup-compatibility/2006">
              <mc:Choice xmlns:v="urn:schemas-microsoft-com:vml" Requires="v">
                <p:oleObj spid="_x0000_s3076" name="" r:id="rId1" imgW="5250180" imgH="2108200" progId="Visio.Drawing.6">
                  <p:embed/>
                </p:oleObj>
              </mc:Choice>
              <mc:Fallback>
                <p:oleObj name="" r:id="rId1" imgW="5250180" imgH="2108200" progId="Visio.Drawing.6">
                  <p:embed/>
                  <p:pic>
                    <p:nvPicPr>
                      <p:cNvPr id="0" name="图片 3075"/>
                      <p:cNvPicPr/>
                      <p:nvPr/>
                    </p:nvPicPr>
                    <p:blipFill>
                      <a:blip r:embed="rId2"/>
                      <a:stretch>
                        <a:fillRect/>
                      </a:stretch>
                    </p:blipFill>
                    <p:spPr>
                      <a:xfrm>
                        <a:off x="209550" y="1981200"/>
                        <a:ext cx="8610600" cy="3463925"/>
                      </a:xfrm>
                      <a:prstGeom prst="rect">
                        <a:avLst/>
                      </a:prstGeom>
                      <a:noFill/>
                      <a:ln w="38100">
                        <a:noFill/>
                        <a:miter/>
                      </a:ln>
                    </p:spPr>
                  </p:pic>
                </p:oleObj>
              </mc:Fallback>
            </mc:AlternateContent>
          </a:graphicData>
        </a:graphic>
      </p:graphicFrame>
      <p:sp>
        <p:nvSpPr>
          <p:cNvPr id="56323" name="文本框 4"/>
          <p:cNvSpPr txBox="1"/>
          <p:nvPr/>
        </p:nvSpPr>
        <p:spPr>
          <a:xfrm>
            <a:off x="1042988" y="1268413"/>
            <a:ext cx="2089150" cy="461962"/>
          </a:xfrm>
          <a:prstGeom prst="rect">
            <a:avLst/>
          </a:prstGeom>
          <a:noFill/>
          <a:ln w="9525">
            <a:noFill/>
          </a:ln>
        </p:spPr>
        <p:txBody>
          <a:bodyPr anchor="t" anchorCtr="0">
            <a:spAutoFit/>
          </a:bodyPr>
          <a:p>
            <a:pPr eaLnBrk="0" hangingPunct="0">
              <a:buSzTx/>
            </a:pPr>
            <a:r>
              <a:rPr lang="zh-CN" altLang="en-US" sz="2400" b="1" dirty="0">
                <a:solidFill>
                  <a:schemeClr val="tx2"/>
                </a:solidFill>
                <a:latin typeface="黑体" panose="02010609060101010101" pitchFamily="49" charset="-122"/>
                <a:ea typeface="黑体" panose="02010609060101010101" pitchFamily="49" charset="-122"/>
              </a:rPr>
              <a:t>一级间接寻址</a:t>
            </a:r>
            <a:endParaRPr lang="zh-CN" altLang="en-US" sz="2400" b="1" dirty="0">
              <a:solidFill>
                <a:schemeClr val="tx2"/>
              </a:solidFill>
              <a:latin typeface="黑体" panose="02010609060101010101" pitchFamily="49" charset="-122"/>
              <a:ea typeface="黑体" panose="02010609060101010101" pitchFamily="49" charset="-122"/>
            </a:endParaRPr>
          </a:p>
        </p:txBody>
      </p:sp>
      <p:sp>
        <p:nvSpPr>
          <p:cNvPr id="56324" name="文本框 5"/>
          <p:cNvSpPr txBox="1"/>
          <p:nvPr/>
        </p:nvSpPr>
        <p:spPr>
          <a:xfrm>
            <a:off x="5508625" y="1268413"/>
            <a:ext cx="2087563" cy="461962"/>
          </a:xfrm>
          <a:prstGeom prst="rect">
            <a:avLst/>
          </a:prstGeom>
          <a:noFill/>
          <a:ln w="9525">
            <a:noFill/>
          </a:ln>
        </p:spPr>
        <p:txBody>
          <a:bodyPr anchor="t" anchorCtr="0">
            <a:spAutoFit/>
          </a:bodyPr>
          <a:p>
            <a:pPr eaLnBrk="0" hangingPunct="0">
              <a:buSzTx/>
            </a:pPr>
            <a:r>
              <a:rPr lang="zh-CN" altLang="en-US" sz="2400" b="1" dirty="0">
                <a:solidFill>
                  <a:schemeClr val="tx2"/>
                </a:solidFill>
                <a:latin typeface="黑体" panose="02010609060101010101" pitchFamily="49" charset="-122"/>
                <a:ea typeface="黑体" panose="02010609060101010101" pitchFamily="49" charset="-122"/>
              </a:rPr>
              <a:t>三级间接寻址</a:t>
            </a:r>
            <a:endParaRPr lang="zh-CN" altLang="en-US" sz="2400" b="1" dirty="0">
              <a:solidFill>
                <a:schemeClr val="tx2"/>
              </a:solidFill>
              <a:latin typeface="黑体" panose="02010609060101010101" pitchFamily="49" charset="-122"/>
              <a:ea typeface="黑体" panose="02010609060101010101" pitchFamily="49" charset="-122"/>
            </a:endParaRPr>
          </a:p>
        </p:txBody>
      </p:sp>
      <p:sp>
        <p:nvSpPr>
          <p:cNvPr id="56325" name="文本框 6"/>
          <p:cNvSpPr txBox="1"/>
          <p:nvPr/>
        </p:nvSpPr>
        <p:spPr>
          <a:xfrm>
            <a:off x="3132138" y="5445125"/>
            <a:ext cx="3095625" cy="461963"/>
          </a:xfrm>
          <a:prstGeom prst="rect">
            <a:avLst/>
          </a:prstGeom>
          <a:noFill/>
          <a:ln w="9525">
            <a:noFill/>
          </a:ln>
        </p:spPr>
        <p:txBody>
          <a:bodyPr anchor="t" anchorCtr="0">
            <a:spAutoFit/>
          </a:bodyPr>
          <a:p>
            <a:pPr eaLnBrk="0" hangingPunct="0">
              <a:buSzTx/>
            </a:pPr>
            <a:r>
              <a:rPr lang="zh-CN" altLang="en-US" sz="2400" b="1" dirty="0">
                <a:solidFill>
                  <a:schemeClr val="tx2"/>
                </a:solidFill>
                <a:latin typeface="黑体" panose="02010609060101010101" pitchFamily="49" charset="-122"/>
                <a:ea typeface="黑体" panose="02010609060101010101" pitchFamily="49" charset="-122"/>
              </a:rPr>
              <a:t>图</a:t>
            </a:r>
            <a:r>
              <a:rPr lang="en-US" altLang="zh-CN" sz="2400" b="1" dirty="0">
                <a:solidFill>
                  <a:schemeClr val="tx2"/>
                </a:solidFill>
                <a:latin typeface="黑体" panose="02010609060101010101" pitchFamily="49" charset="-122"/>
                <a:ea typeface="黑体" panose="02010609060101010101" pitchFamily="49" charset="-122"/>
              </a:rPr>
              <a:t>3-5 </a:t>
            </a:r>
            <a:r>
              <a:rPr lang="zh-CN" altLang="en-US" sz="2400" b="1" dirty="0">
                <a:solidFill>
                  <a:schemeClr val="tx2"/>
                </a:solidFill>
                <a:latin typeface="黑体" panose="02010609060101010101" pitchFamily="49" charset="-122"/>
                <a:ea typeface="黑体" panose="02010609060101010101" pitchFamily="49" charset="-122"/>
              </a:rPr>
              <a:t>间接寻址过程</a:t>
            </a:r>
            <a:endParaRPr lang="zh-CN" altLang="en-US" sz="2400" b="1" dirty="0">
              <a:solidFill>
                <a:schemeClr val="tx2"/>
              </a:solidFill>
              <a:latin typeface="黑体" panose="02010609060101010101" pitchFamily="49" charset="-122"/>
              <a:ea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a:t>
            </a:r>
            <a:r>
              <a:rPr lang="zh-CN" altLang="en-US" dirty="0">
                <a:latin typeface="Times New Roman" panose="02020603050405020304" pitchFamily="18" charset="0"/>
              </a:rPr>
              <a:t>间接寻址（续）</a:t>
            </a:r>
            <a:endParaRPr lang="zh-CN" altLang="en-US" dirty="0">
              <a:latin typeface="Times New Roman" panose="02020603050405020304" pitchFamily="18" charset="0"/>
            </a:endParaRPr>
          </a:p>
        </p:txBody>
      </p:sp>
      <p:sp>
        <p:nvSpPr>
          <p:cNvPr id="57346"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间接寻址主要优点：</a:t>
            </a:r>
            <a:endParaRPr lang="zh-CN" altLang="en-US" dirty="0">
              <a:latin typeface="Times New Roman" panose="02020603050405020304" pitchFamily="18" charset="0"/>
            </a:endParaRPr>
          </a:p>
          <a:p>
            <a:pPr lvl="1" eaLnBrk="1" hangingPunct="1">
              <a:spcBef>
                <a:spcPts val="2400"/>
              </a:spcBef>
            </a:pPr>
            <a:r>
              <a:rPr lang="zh-CN" altLang="en-US" sz="2400" dirty="0">
                <a:solidFill>
                  <a:srgbClr val="FF0000"/>
                </a:solidFill>
                <a:latin typeface="Times New Roman" panose="02020603050405020304" pitchFamily="18" charset="0"/>
              </a:rPr>
              <a:t>扩大了寻址范围</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2" eaLnBrk="1" latinLnBrk="0" hangingPunct="1">
              <a:spcBef>
                <a:spcPts val="1200"/>
              </a:spcBef>
              <a:spcAft>
                <a:spcPts val="1200"/>
              </a:spcAft>
            </a:pPr>
            <a:r>
              <a:rPr lang="zh-CN" altLang="en-US" sz="2000" dirty="0">
                <a:latin typeface="Times New Roman" panose="02020603050405020304" pitchFamily="18" charset="0"/>
              </a:rPr>
              <a:t>可用指令的短地址访问大的主存空间。</a:t>
            </a:r>
            <a:endParaRPr lang="zh-CN" altLang="en-US" sz="2000" dirty="0">
              <a:latin typeface="Times New Roman" panose="02020603050405020304" pitchFamily="18" charset="0"/>
            </a:endParaRPr>
          </a:p>
          <a:p>
            <a:pPr lvl="1" eaLnBrk="1" hangingPunct="1">
              <a:spcBef>
                <a:spcPts val="1200"/>
              </a:spcBef>
            </a:pPr>
            <a:r>
              <a:rPr lang="zh-CN" altLang="en-US" sz="2400" dirty="0">
                <a:solidFill>
                  <a:srgbClr val="FF0000"/>
                </a:solidFill>
                <a:latin typeface="Times New Roman" panose="02020603050405020304" pitchFamily="18" charset="0"/>
              </a:rPr>
              <a:t>操作数的地址需要改变时，不必修改指令：</a:t>
            </a:r>
            <a:endParaRPr lang="zh-CN" altLang="en-US" sz="2400" dirty="0">
              <a:solidFill>
                <a:srgbClr val="FF0000"/>
              </a:solidFill>
              <a:latin typeface="Times New Roman" panose="02020603050405020304" pitchFamily="18" charset="0"/>
            </a:endParaRPr>
          </a:p>
          <a:p>
            <a:pPr lvl="2" eaLnBrk="1" hangingPunct="1">
              <a:spcBef>
                <a:spcPts val="1200"/>
              </a:spcBef>
            </a:pPr>
            <a:r>
              <a:rPr lang="zh-CN" altLang="en-US" sz="2000" dirty="0">
                <a:latin typeface="Times New Roman" panose="02020603050405020304" pitchFamily="18" charset="0"/>
              </a:rPr>
              <a:t>可将主存单元作为地址指针，用以指示操作数在主存中的位置。</a:t>
            </a:r>
            <a:endParaRPr lang="zh-CN" altLang="en-US" sz="2000" dirty="0">
              <a:latin typeface="Times New Roman" panose="02020603050405020304" pitchFamily="18" charset="0"/>
            </a:endParaRPr>
          </a:p>
          <a:p>
            <a:pPr lvl="2" eaLnBrk="1" hangingPunct="1">
              <a:spcBef>
                <a:spcPts val="1200"/>
              </a:spcBef>
            </a:pPr>
            <a:r>
              <a:rPr lang="zh-CN" altLang="en-US" sz="2000" dirty="0">
                <a:latin typeface="Times New Roman" panose="02020603050405020304" pitchFamily="18" charset="0"/>
              </a:rPr>
              <a:t>修改存放有效地址的那个主存单元（间接地址）。</a:t>
            </a:r>
            <a:endParaRPr lang="zh-CN" altLang="en-US" sz="2000" dirty="0">
              <a:latin typeface="Times New Roman" panose="02020603050405020304" pitchFamily="18" charset="0"/>
            </a:endParaRPr>
          </a:p>
          <a:p>
            <a:pPr eaLnBrk="1" hangingPunct="1"/>
            <a:endParaRPr lang="zh-CN" altLang="en-US" sz="2000" dirty="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a:t>
            </a:r>
            <a:r>
              <a:rPr lang="zh-CN" altLang="en-US" dirty="0">
                <a:latin typeface="Times New Roman" panose="02020603050405020304" pitchFamily="18" charset="0"/>
              </a:rPr>
              <a:t>寄存器间接寻址</a:t>
            </a:r>
            <a:endParaRPr lang="zh-CN" altLang="en-US" dirty="0">
              <a:latin typeface="Times New Roman" panose="02020603050405020304" pitchFamily="18" charset="0"/>
              <a:ea typeface="Times New Roman" panose="02020603050405020304" pitchFamily="18" charset="0"/>
            </a:endParaRPr>
          </a:p>
        </p:txBody>
      </p:sp>
      <p:sp>
        <p:nvSpPr>
          <p:cNvPr id="58370" name="内容占位符 2"/>
          <p:cNvSpPr>
            <a:spLocks noGrp="1"/>
          </p:cNvSpPr>
          <p:nvPr>
            <p:ph idx="1"/>
          </p:nvPr>
        </p:nvSpPr>
        <p:spPr>
          <a:xfrm>
            <a:off x="457200" y="1246188"/>
            <a:ext cx="8229600" cy="2111375"/>
          </a:xfrm>
          <a:noFill/>
          <a:ln>
            <a:noFill/>
          </a:ln>
        </p:spPr>
        <p:txBody>
          <a:bodyPr anchor="t" anchorCtr="0"/>
          <a:p>
            <a:pPr eaLnBrk="1" hangingPunct="1"/>
            <a:r>
              <a:rPr lang="zh-CN" altLang="en-US" dirty="0">
                <a:latin typeface="Times New Roman" panose="02020603050405020304" pitchFamily="18" charset="0"/>
              </a:rPr>
              <a:t>指令中的地址码给出某一通用寄存器的编号</a:t>
            </a:r>
            <a:endParaRPr lang="zh-CN" altLang="en-US" dirty="0">
              <a:latin typeface="Times New Roman" panose="02020603050405020304" pitchFamily="18" charset="0"/>
            </a:endParaRPr>
          </a:p>
          <a:p>
            <a:pPr lvl="1" eaLnBrk="1" hangingPunct="1"/>
            <a:r>
              <a:rPr lang="zh-CN" altLang="en-US" sz="2400" dirty="0">
                <a:latin typeface="Times New Roman" panose="02020603050405020304" pitchFamily="18" charset="0"/>
              </a:rPr>
              <a:t>被指定的</a:t>
            </a:r>
            <a:r>
              <a:rPr lang="zh-CN" altLang="en-US" sz="2400" dirty="0">
                <a:solidFill>
                  <a:srgbClr val="FF0000"/>
                </a:solidFill>
                <a:latin typeface="Times New Roman" panose="02020603050405020304" pitchFamily="18" charset="0"/>
              </a:rPr>
              <a:t>寄存器中存放操作数的有效地址</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r>
              <a:rPr lang="zh-CN" altLang="en-US" sz="2400" dirty="0">
                <a:latin typeface="Times New Roman" panose="02020603050405020304" pitchFamily="18" charset="0"/>
              </a:rPr>
              <a:t>操作数则存放在主存单元中。</a:t>
            </a:r>
            <a:endParaRPr lang="zh-CN" altLang="en-US" sz="2400" dirty="0">
              <a:latin typeface="Times New Roman" panose="02020603050405020304" pitchFamily="18" charset="0"/>
            </a:endParaRPr>
          </a:p>
          <a:p>
            <a:pPr lvl="1" eaLnBrk="1" hangingPunct="1"/>
            <a:r>
              <a:rPr lang="en-US" altLang="zh-CN" sz="2400" dirty="0">
                <a:solidFill>
                  <a:srgbClr val="FF0000"/>
                </a:solidFill>
                <a:latin typeface="Times New Roman" panose="02020603050405020304" pitchFamily="18" charset="0"/>
              </a:rPr>
              <a:t>S=((Ri))</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pic>
        <p:nvPicPr>
          <p:cNvPr id="58371" name="图片 3"/>
          <p:cNvPicPr>
            <a:picLocks noChangeAspect="1"/>
          </p:cNvPicPr>
          <p:nvPr/>
        </p:nvPicPr>
        <p:blipFill>
          <a:blip r:embed="rId1"/>
          <a:stretch>
            <a:fillRect/>
          </a:stretch>
        </p:blipFill>
        <p:spPr>
          <a:xfrm>
            <a:off x="1976438" y="3092450"/>
            <a:ext cx="5083175" cy="2798763"/>
          </a:xfrm>
          <a:prstGeom prst="rect">
            <a:avLst/>
          </a:prstGeom>
          <a:noFill/>
          <a:ln w="9525">
            <a:noFill/>
          </a:ln>
        </p:spPr>
      </p:pic>
      <p:sp>
        <p:nvSpPr>
          <p:cNvPr id="5" name="标题 1"/>
          <p:cNvSpPr txBox="1"/>
          <p:nvPr/>
        </p:nvSpPr>
        <p:spPr>
          <a:xfrm>
            <a:off x="2357438" y="5891213"/>
            <a:ext cx="4321175" cy="585788"/>
          </a:xfrm>
          <a:prstGeom prst="rect">
            <a:avLst/>
          </a:prstGeom>
        </p:spPr>
        <p:txBody>
          <a:bodyPr/>
          <a:lst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fontAlgn="base">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图</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3-6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寄存器间接寻址过程</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6.</a:t>
            </a:r>
            <a:r>
              <a:rPr lang="zh-CN" altLang="en-US" dirty="0">
                <a:latin typeface="Times New Roman" panose="02020603050405020304" pitchFamily="18" charset="0"/>
              </a:rPr>
              <a:t>变址寻址</a:t>
            </a:r>
            <a:endParaRPr lang="zh-CN" altLang="en-US" dirty="0">
              <a:latin typeface="Times New Roman" panose="02020603050405020304" pitchFamily="18" charset="0"/>
              <a:ea typeface="Times New Roman" panose="02020603050405020304" pitchFamily="18" charset="0"/>
            </a:endParaRPr>
          </a:p>
        </p:txBody>
      </p:sp>
      <p:sp>
        <p:nvSpPr>
          <p:cNvPr id="59394" name="内容占位符 2"/>
          <p:cNvSpPr>
            <a:spLocks noGrp="1"/>
          </p:cNvSpPr>
          <p:nvPr>
            <p:ph idx="1"/>
          </p:nvPr>
        </p:nvSpPr>
        <p:spPr>
          <a:xfrm>
            <a:off x="457200" y="1254125"/>
            <a:ext cx="8229600" cy="2228850"/>
          </a:xfrm>
          <a:noFill/>
          <a:ln>
            <a:noFill/>
          </a:ln>
        </p:spPr>
        <p:txBody>
          <a:bodyPr anchor="t" anchorCtr="0"/>
          <a:p>
            <a:pPr eaLnBrk="1" hangingPunct="1">
              <a:lnSpc>
                <a:spcPct val="110000"/>
              </a:lnSpc>
            </a:pPr>
            <a:r>
              <a:rPr lang="en-US" altLang="zh-CN" dirty="0">
                <a:solidFill>
                  <a:srgbClr val="FF0000"/>
                </a:solidFill>
                <a:latin typeface="Times New Roman" panose="02020603050405020304" pitchFamily="18" charset="0"/>
              </a:rPr>
              <a:t>EA=(Rx)+A</a:t>
            </a:r>
            <a:r>
              <a:rPr lang="zh-CN" altLang="en-US" dirty="0">
                <a:solidFill>
                  <a:srgbClr val="FF0000"/>
                </a:solidFill>
                <a:latin typeface="Times New Roman" panose="02020603050405020304" pitchFamily="18" charset="0"/>
              </a:rPr>
              <a:t>：</a:t>
            </a:r>
            <a:endParaRPr lang="zh-CN" altLang="en-US" dirty="0">
              <a:solidFill>
                <a:srgbClr val="FF0000"/>
              </a:solidFill>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把变址寄存器</a:t>
            </a:r>
            <a:r>
              <a:rPr lang="en-US" altLang="zh-CN" sz="2400" dirty="0">
                <a:latin typeface="Times New Roman" panose="02020603050405020304" pitchFamily="18" charset="0"/>
              </a:rPr>
              <a:t>Rx</a:t>
            </a:r>
            <a:r>
              <a:rPr lang="zh-CN" altLang="en-US" sz="2400" dirty="0">
                <a:latin typeface="Times New Roman" panose="02020603050405020304" pitchFamily="18" charset="0"/>
              </a:rPr>
              <a:t>的内容</a:t>
            </a:r>
            <a:r>
              <a:rPr lang="en-US" altLang="zh-CN" sz="2400" dirty="0">
                <a:latin typeface="Times New Roman" panose="02020603050405020304" pitchFamily="18" charset="0"/>
              </a:rPr>
              <a:t>+</a:t>
            </a:r>
            <a:r>
              <a:rPr lang="zh-CN" altLang="en-US" sz="2400" dirty="0">
                <a:latin typeface="Times New Roman" panose="02020603050405020304" pitchFamily="18" charset="0"/>
              </a:rPr>
              <a:t>指令中的形式地址</a:t>
            </a:r>
            <a:r>
              <a:rPr lang="en-US" altLang="zh-CN" sz="2400" dirty="0">
                <a:latin typeface="Times New Roman" panose="02020603050405020304" pitchFamily="18" charset="0"/>
              </a:rPr>
              <a:t>A</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lnSpc>
                <a:spcPct val="110000"/>
              </a:lnSpc>
            </a:pPr>
            <a:r>
              <a:rPr lang="en-US" altLang="zh-CN" sz="2400" dirty="0">
                <a:latin typeface="Times New Roman" panose="02020603050405020304" pitchFamily="18" charset="0"/>
              </a:rPr>
              <a:t>Rx</a:t>
            </a:r>
            <a:r>
              <a:rPr lang="zh-CN" altLang="en-US" sz="2400" dirty="0">
                <a:latin typeface="Times New Roman" panose="02020603050405020304" pitchFamily="18" charset="0"/>
              </a:rPr>
              <a:t>的内容称为变址值。</a:t>
            </a:r>
            <a:endParaRPr lang="zh-CN" altLang="en-US" sz="2400" dirty="0">
              <a:latin typeface="Times New Roman" panose="02020603050405020304" pitchFamily="18" charset="0"/>
            </a:endParaRPr>
          </a:p>
          <a:p>
            <a:pPr lvl="1" eaLnBrk="1" hangingPunct="1">
              <a:lnSpc>
                <a:spcPct val="110000"/>
              </a:lnSpc>
            </a:pPr>
            <a:r>
              <a:rPr lang="en-US" altLang="zh-CN" sz="2400" dirty="0">
                <a:solidFill>
                  <a:srgbClr val="FF0000"/>
                </a:solidFill>
                <a:latin typeface="Times New Roman" panose="02020603050405020304" pitchFamily="18" charset="0"/>
              </a:rPr>
              <a:t>S=((Rx)+A)</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eaLnBrk="1" hangingPunct="1"/>
            <a:endParaRPr lang="en-US" altLang="zh-CN" sz="2400" dirty="0">
              <a:latin typeface="Times New Roman" panose="02020603050405020304" pitchFamily="18" charset="0"/>
              <a:ea typeface="Times New Roman" panose="02020603050405020304" pitchFamily="18" charset="0"/>
            </a:endParaRPr>
          </a:p>
        </p:txBody>
      </p:sp>
      <p:pic>
        <p:nvPicPr>
          <p:cNvPr id="59395" name="图片 3"/>
          <p:cNvPicPr>
            <a:picLocks noChangeAspect="1"/>
          </p:cNvPicPr>
          <p:nvPr/>
        </p:nvPicPr>
        <p:blipFill>
          <a:blip r:embed="rId1"/>
          <a:stretch>
            <a:fillRect/>
          </a:stretch>
        </p:blipFill>
        <p:spPr>
          <a:xfrm>
            <a:off x="3624263" y="3152775"/>
            <a:ext cx="4303712" cy="2906713"/>
          </a:xfrm>
          <a:prstGeom prst="rect">
            <a:avLst/>
          </a:prstGeom>
          <a:noFill/>
          <a:ln w="9525">
            <a:noFill/>
          </a:ln>
        </p:spPr>
      </p:pic>
      <p:sp>
        <p:nvSpPr>
          <p:cNvPr id="5" name="矩形 4"/>
          <p:cNvSpPr/>
          <p:nvPr/>
        </p:nvSpPr>
        <p:spPr>
          <a:xfrm>
            <a:off x="850900" y="4510088"/>
            <a:ext cx="2838450" cy="4603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图</a:t>
            </a:r>
            <a:r>
              <a:rPr kumimoji="0" lang="en-US" altLang="zh-CN" sz="2400" b="1" i="0" u="none" strike="noStrike" kern="120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3-7 </a:t>
            </a:r>
            <a:r>
              <a:rPr kumimoji="0" lang="zh-CN" altLang="en-US" sz="2400" b="1" i="0" u="none" strike="noStrike" kern="120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变址寻址过程</a:t>
            </a:r>
            <a:endParaRPr kumimoji="0" lang="zh-CN" altLang="en-US" sz="2400" b="1" i="0" u="none" strike="noStrike" kern="120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7.</a:t>
            </a:r>
            <a:r>
              <a:rPr lang="zh-CN" altLang="en-US" dirty="0">
                <a:latin typeface="Times New Roman" panose="02020603050405020304" pitchFamily="18" charset="0"/>
              </a:rPr>
              <a:t>基址寻址</a:t>
            </a:r>
            <a:endParaRPr lang="zh-CN" altLang="en-US" dirty="0">
              <a:latin typeface="Times New Roman" panose="02020603050405020304" pitchFamily="18" charset="0"/>
              <a:ea typeface="Times New Roman" panose="02020603050405020304" pitchFamily="18" charset="0"/>
            </a:endParaRPr>
          </a:p>
        </p:txBody>
      </p:sp>
      <p:sp>
        <p:nvSpPr>
          <p:cNvPr id="60418" name="内容占位符 2"/>
          <p:cNvSpPr>
            <a:spLocks noGrp="1"/>
          </p:cNvSpPr>
          <p:nvPr>
            <p:ph idx="1"/>
          </p:nvPr>
        </p:nvSpPr>
        <p:spPr>
          <a:xfrm>
            <a:off x="447675" y="1281113"/>
            <a:ext cx="8229600" cy="2236787"/>
          </a:xfrm>
          <a:noFill/>
          <a:ln>
            <a:noFill/>
          </a:ln>
        </p:spPr>
        <p:txBody>
          <a:bodyPr anchor="t" anchorCtr="0"/>
          <a:p>
            <a:pPr eaLnBrk="1" hangingPunct="1">
              <a:lnSpc>
                <a:spcPct val="110000"/>
              </a:lnSpc>
            </a:pPr>
            <a:r>
              <a:rPr lang="en-US" altLang="zh-CN" dirty="0">
                <a:solidFill>
                  <a:srgbClr val="FF0000"/>
                </a:solidFill>
                <a:latin typeface="Times New Roman" panose="02020603050405020304" pitchFamily="18" charset="0"/>
              </a:rPr>
              <a:t>EA=(Rb)+D</a:t>
            </a:r>
            <a:r>
              <a:rPr lang="zh-CN" altLang="en-US" dirty="0">
                <a:solidFill>
                  <a:srgbClr val="FF0000"/>
                </a:solidFill>
                <a:latin typeface="Times New Roman" panose="02020603050405020304" pitchFamily="18" charset="0"/>
              </a:rPr>
              <a:t>：</a:t>
            </a:r>
            <a:endParaRPr lang="zh-CN" altLang="en-US"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基址寄存器</a:t>
            </a:r>
            <a:r>
              <a:rPr lang="en-US" altLang="zh-CN" sz="2400" dirty="0">
                <a:latin typeface="Times New Roman" panose="02020603050405020304" pitchFamily="18" charset="0"/>
              </a:rPr>
              <a:t>Rb</a:t>
            </a:r>
            <a:r>
              <a:rPr lang="zh-CN" altLang="en-US" sz="2400" dirty="0">
                <a:latin typeface="Times New Roman" panose="02020603050405020304" pitchFamily="18" charset="0"/>
              </a:rPr>
              <a:t>的内容</a:t>
            </a:r>
            <a:r>
              <a:rPr lang="en-US" altLang="zh-CN" sz="2400" dirty="0">
                <a:latin typeface="Times New Roman" panose="02020603050405020304" pitchFamily="18" charset="0"/>
              </a:rPr>
              <a:t>+</a:t>
            </a:r>
            <a:r>
              <a:rPr lang="zh-CN" altLang="en-US" sz="2400" dirty="0">
                <a:latin typeface="Times New Roman" panose="02020603050405020304" pitchFamily="18" charset="0"/>
              </a:rPr>
              <a:t>指令中位移量</a:t>
            </a:r>
            <a:r>
              <a:rPr lang="en-US" altLang="zh-CN" sz="2400" dirty="0">
                <a:latin typeface="Times New Roman" panose="02020603050405020304" pitchFamily="18" charset="0"/>
              </a:rPr>
              <a:t>D</a:t>
            </a:r>
            <a:r>
              <a:rPr lang="zh-CN" altLang="en-US" sz="2400" dirty="0">
                <a:latin typeface="Times New Roman" panose="02020603050405020304" pitchFamily="18" charset="0"/>
              </a:rPr>
              <a:t>（</a:t>
            </a:r>
            <a:r>
              <a:rPr lang="zh-CN" altLang="en-US" sz="1600" dirty="0">
                <a:latin typeface="Times New Roman" panose="02020603050405020304" pitchFamily="18" charset="0"/>
              </a:rPr>
              <a:t>可正负）</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基址寄存器的内容称为基址值。</a:t>
            </a:r>
            <a:endParaRPr lang="zh-CN" altLang="en-US" sz="2400" dirty="0">
              <a:latin typeface="Times New Roman" panose="02020603050405020304" pitchFamily="18" charset="0"/>
            </a:endParaRPr>
          </a:p>
          <a:p>
            <a:pPr lvl="1" eaLnBrk="1" hangingPunct="1">
              <a:lnSpc>
                <a:spcPct val="110000"/>
              </a:lnSpc>
            </a:pPr>
            <a:r>
              <a:rPr lang="en-US" altLang="zh-CN" sz="2400" dirty="0">
                <a:solidFill>
                  <a:srgbClr val="FF0000"/>
                </a:solidFill>
                <a:latin typeface="Times New Roman" panose="02020603050405020304" pitchFamily="18" charset="0"/>
              </a:rPr>
              <a:t>S=((Rb)+D)</a:t>
            </a:r>
            <a:r>
              <a:rPr lang="en-US" altLang="zh-CN" sz="2400" dirty="0">
                <a:latin typeface="Times New Roman" panose="02020603050405020304" pitchFamily="18" charset="0"/>
              </a:rPr>
              <a:t> </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eaLnBrk="1" hangingPunct="1"/>
            <a:endParaRPr lang="en-US" altLang="zh-CN" sz="2400" dirty="0">
              <a:latin typeface="Times New Roman" panose="02020603050405020304" pitchFamily="18" charset="0"/>
              <a:ea typeface="Times New Roman" panose="02020603050405020304" pitchFamily="18" charset="0"/>
            </a:endParaRPr>
          </a:p>
        </p:txBody>
      </p:sp>
      <p:pic>
        <p:nvPicPr>
          <p:cNvPr id="60419" name="图片 3"/>
          <p:cNvPicPr>
            <a:picLocks noChangeAspect="1"/>
          </p:cNvPicPr>
          <p:nvPr/>
        </p:nvPicPr>
        <p:blipFill>
          <a:blip r:embed="rId1"/>
          <a:stretch>
            <a:fillRect/>
          </a:stretch>
        </p:blipFill>
        <p:spPr>
          <a:xfrm>
            <a:off x="3268663" y="3267075"/>
            <a:ext cx="5651500" cy="2881313"/>
          </a:xfrm>
          <a:prstGeom prst="rect">
            <a:avLst/>
          </a:prstGeom>
          <a:noFill/>
          <a:ln w="9525">
            <a:noFill/>
          </a:ln>
        </p:spPr>
      </p:pic>
      <p:sp>
        <p:nvSpPr>
          <p:cNvPr id="60420" name="Rectangle 6"/>
          <p:cNvSpPr txBox="1"/>
          <p:nvPr/>
        </p:nvSpPr>
        <p:spPr>
          <a:xfrm>
            <a:off x="730250" y="4454525"/>
            <a:ext cx="3313113" cy="508000"/>
          </a:xfrm>
          <a:prstGeom prst="rect">
            <a:avLst/>
          </a:prstGeom>
          <a:noFill/>
          <a:ln w="9525">
            <a:noFill/>
          </a:ln>
        </p:spPr>
        <p:txBody>
          <a:bodyPr anchor="t" anchorCtr="0"/>
          <a:p>
            <a:r>
              <a:rPr lang="zh-CN" altLang="en-US" sz="2400" b="1" dirty="0">
                <a:solidFill>
                  <a:schemeClr val="tx2"/>
                </a:solidFill>
                <a:latin typeface="Times New Roman" panose="02020603050405020304" pitchFamily="18" charset="0"/>
                <a:ea typeface="黑体" panose="02010609060101010101" pitchFamily="49" charset="-122"/>
              </a:rPr>
              <a:t>图3-8 基址寻址过程</a:t>
            </a:r>
            <a:endParaRPr lang="zh-CN" altLang="en-US" sz="2400" b="1" dirty="0">
              <a:solidFill>
                <a:schemeClr val="tx2"/>
              </a:solidFill>
              <a:latin typeface="Times New Roman" panose="02020603050405020304" pitchFamily="18" charset="0"/>
              <a:ea typeface="黑体" panose="02010609060101010101"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8.</a:t>
            </a:r>
            <a:r>
              <a:rPr lang="zh-CN" altLang="en-US" dirty="0">
                <a:latin typeface="Times New Roman" panose="02020603050405020304" pitchFamily="18" charset="0"/>
              </a:rPr>
              <a:t>相对寻址</a:t>
            </a:r>
            <a:endParaRPr lang="zh-CN" altLang="en-US" dirty="0">
              <a:latin typeface="Times New Roman" panose="02020603050405020304" pitchFamily="18" charset="0"/>
              <a:ea typeface="Times New Roman" panose="02020603050405020304" pitchFamily="18" charset="0"/>
            </a:endParaRPr>
          </a:p>
        </p:txBody>
      </p:sp>
      <p:sp>
        <p:nvSpPr>
          <p:cNvPr id="61442" name="内容占位符 2"/>
          <p:cNvSpPr>
            <a:spLocks noGrp="1"/>
          </p:cNvSpPr>
          <p:nvPr>
            <p:ph idx="1"/>
          </p:nvPr>
        </p:nvSpPr>
        <p:spPr>
          <a:xfrm>
            <a:off x="463550" y="1268413"/>
            <a:ext cx="8229600" cy="2305050"/>
          </a:xfrm>
          <a:noFill/>
          <a:ln>
            <a:noFill/>
          </a:ln>
        </p:spPr>
        <p:txBody>
          <a:bodyPr anchor="t" anchorCtr="0"/>
          <a:p>
            <a:pPr eaLnBrk="1" hangingPunct="1">
              <a:lnSpc>
                <a:spcPct val="110000"/>
              </a:lnSpc>
            </a:pPr>
            <a:r>
              <a:rPr lang="en-US" altLang="zh-CN" dirty="0">
                <a:solidFill>
                  <a:srgbClr val="FF0000"/>
                </a:solidFill>
                <a:latin typeface="Times New Roman" panose="02020603050405020304" pitchFamily="18" charset="0"/>
              </a:rPr>
              <a:t>EA=(PC)+D</a:t>
            </a:r>
            <a:r>
              <a:rPr lang="zh-CN" altLang="en-US" dirty="0">
                <a:solidFill>
                  <a:srgbClr val="FF0000"/>
                </a:solidFill>
                <a:latin typeface="Times New Roman" panose="02020603050405020304" pitchFamily="18" charset="0"/>
              </a:rPr>
              <a:t>：</a:t>
            </a:r>
            <a:endParaRPr lang="zh-CN" altLang="en-US" dirty="0">
              <a:solidFill>
                <a:srgbClr val="FF0000"/>
              </a:solidFill>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类似基址寻址，由</a:t>
            </a:r>
            <a:r>
              <a:rPr lang="zh-CN" altLang="en-US" sz="2400" dirty="0">
                <a:solidFill>
                  <a:srgbClr val="FF0000"/>
                </a:solidFill>
                <a:latin typeface="Times New Roman" panose="02020603050405020304" pitchFamily="18" charset="0"/>
              </a:rPr>
              <a:t>程序计数器</a:t>
            </a:r>
            <a:r>
              <a:rPr lang="en-US" altLang="zh-CN" sz="2400" dirty="0">
                <a:solidFill>
                  <a:srgbClr val="FF0000"/>
                </a:solidFill>
                <a:latin typeface="Times New Roman" panose="02020603050405020304" pitchFamily="18" charset="0"/>
              </a:rPr>
              <a:t>PC</a:t>
            </a:r>
            <a:r>
              <a:rPr lang="zh-CN" altLang="en-US" sz="2400" dirty="0">
                <a:solidFill>
                  <a:srgbClr val="FF0000"/>
                </a:solidFill>
                <a:latin typeface="Times New Roman" panose="02020603050405020304" pitchFamily="18" charset="0"/>
              </a:rPr>
              <a:t>提供基准地址</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指令中的地址码字段作为位移量</a:t>
            </a:r>
            <a:r>
              <a:rPr lang="en-US" altLang="zh-CN" sz="2400" dirty="0">
                <a:latin typeface="Times New Roman" panose="02020603050405020304" pitchFamily="18" charset="0"/>
              </a:rPr>
              <a:t>D</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rPr>
              <a:t>位移量指出操作数和现行指令之间的相对位置。</a:t>
            </a:r>
            <a:endParaRPr lang="zh-CN" altLang="en-US" sz="2400" dirty="0">
              <a:latin typeface="Times New Roman" panose="02020603050405020304" pitchFamily="18" charset="0"/>
            </a:endParaRPr>
          </a:p>
        </p:txBody>
      </p:sp>
      <p:pic>
        <p:nvPicPr>
          <p:cNvPr id="61443" name="图片 3"/>
          <p:cNvPicPr>
            <a:picLocks noChangeAspect="1"/>
          </p:cNvPicPr>
          <p:nvPr/>
        </p:nvPicPr>
        <p:blipFill>
          <a:blip r:embed="rId1"/>
          <a:stretch>
            <a:fillRect/>
          </a:stretch>
        </p:blipFill>
        <p:spPr>
          <a:xfrm>
            <a:off x="3287713" y="3387725"/>
            <a:ext cx="5181600" cy="3001963"/>
          </a:xfrm>
          <a:prstGeom prst="rect">
            <a:avLst/>
          </a:prstGeom>
          <a:noFill/>
          <a:ln w="9525">
            <a:noFill/>
          </a:ln>
        </p:spPr>
      </p:pic>
      <p:sp>
        <p:nvSpPr>
          <p:cNvPr id="61444" name="Rectangle 3"/>
          <p:cNvSpPr txBox="1"/>
          <p:nvPr/>
        </p:nvSpPr>
        <p:spPr>
          <a:xfrm>
            <a:off x="876300" y="4637088"/>
            <a:ext cx="3284538" cy="503237"/>
          </a:xfrm>
          <a:prstGeom prst="rect">
            <a:avLst/>
          </a:prstGeom>
          <a:noFill/>
          <a:ln w="9525">
            <a:noFill/>
          </a:ln>
        </p:spPr>
        <p:txBody>
          <a:bodyPr anchor="t" anchorCtr="0"/>
          <a:p>
            <a:r>
              <a:rPr lang="zh-CN" altLang="en-US" sz="2400" b="1" dirty="0">
                <a:solidFill>
                  <a:schemeClr val="tx2"/>
                </a:solidFill>
                <a:latin typeface="Times New Roman" panose="02020603050405020304" pitchFamily="18" charset="0"/>
                <a:ea typeface="黑体" panose="02010609060101010101" pitchFamily="49" charset="-122"/>
              </a:rPr>
              <a:t>图3-9 相对寻址过程 </a:t>
            </a:r>
            <a:endParaRPr lang="zh-CN" altLang="en-US" sz="2400" b="1" dirty="0">
              <a:solidFill>
                <a:schemeClr val="tx2"/>
              </a:solidFill>
              <a:latin typeface="Times New Roman" panose="02020603050405020304" pitchFamily="18" charset="0"/>
              <a:ea typeface="黑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a:xfrm>
            <a:off x="369888" y="395288"/>
            <a:ext cx="8229600" cy="1143000"/>
          </a:xfrm>
          <a:noFill/>
          <a:ln>
            <a:noFill/>
          </a:ln>
        </p:spPr>
        <p:txBody>
          <a:bodyPr anchor="t" anchorCtr="0"/>
          <a:p>
            <a:pPr eaLnBrk="1" hangingPunct="1"/>
            <a:r>
              <a:rPr lang="zh-CN" altLang="en-US" dirty="0">
                <a:latin typeface="Times New Roman" panose="02020603050405020304" pitchFamily="18" charset="0"/>
              </a:rPr>
              <a:t>相对寻址方式的特点</a:t>
            </a:r>
            <a:endParaRPr lang="zh-CN" altLang="en-US" dirty="0">
              <a:latin typeface="Times New Roman" panose="02020603050405020304" pitchFamily="18" charset="0"/>
              <a:ea typeface="Times New Roman" panose="02020603050405020304" pitchFamily="18" charset="0"/>
            </a:endParaRPr>
          </a:p>
        </p:txBody>
      </p:sp>
      <p:sp>
        <p:nvSpPr>
          <p:cNvPr id="62466" name="内容占位符 2"/>
          <p:cNvSpPr>
            <a:spLocks noGrp="1"/>
          </p:cNvSpPr>
          <p:nvPr>
            <p:ph idx="1"/>
          </p:nvPr>
        </p:nvSpPr>
        <p:spPr>
          <a:xfrm>
            <a:off x="457200" y="1417638"/>
            <a:ext cx="8229600" cy="5106987"/>
          </a:xfrm>
          <a:noFill/>
          <a:ln>
            <a:noFill/>
          </a:ln>
        </p:spPr>
        <p:txBody>
          <a:bodyPr anchor="t" anchorCtr="0"/>
          <a:p>
            <a:pPr eaLnBrk="1" hangingPunct="1">
              <a:lnSpc>
                <a:spcPct val="110000"/>
              </a:lnSpc>
              <a:spcBef>
                <a:spcPts val="2400"/>
              </a:spcBef>
            </a:pPr>
            <a:r>
              <a:rPr lang="zh-CN" altLang="en-US" dirty="0">
                <a:latin typeface="Times New Roman" panose="02020603050405020304" pitchFamily="18" charset="0"/>
              </a:rPr>
              <a:t>操作数的地址随着</a:t>
            </a:r>
            <a:r>
              <a:rPr lang="en-US" altLang="zh-CN" dirty="0">
                <a:latin typeface="Times New Roman" panose="02020603050405020304" pitchFamily="18" charset="0"/>
              </a:rPr>
              <a:t>PC</a:t>
            </a:r>
            <a:r>
              <a:rPr lang="zh-CN" altLang="en-US" dirty="0">
                <a:latin typeface="Times New Roman" panose="02020603050405020304" pitchFamily="18" charset="0"/>
              </a:rPr>
              <a:t>值的变化而变化，并且与指令地址之间总是相差一个固定值</a:t>
            </a:r>
            <a:r>
              <a:rPr lang="en-US" altLang="zh-CN" dirty="0">
                <a:latin typeface="Times New Roman" panose="02020603050405020304" pitchFamily="18" charset="0"/>
              </a:rPr>
              <a:t>D</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eaLnBrk="1" hangingPunct="1">
              <a:lnSpc>
                <a:spcPct val="110000"/>
              </a:lnSpc>
              <a:spcBef>
                <a:spcPts val="1200"/>
              </a:spcBef>
            </a:pPr>
            <a:r>
              <a:rPr lang="zh-CN" altLang="en-US" sz="2000" dirty="0">
                <a:latin typeface="Times New Roman" panose="02020603050405020304" pitchFamily="18" charset="0"/>
              </a:rPr>
              <a:t>当指令地址改变时，由于其位移量不变，使得操作数与指令在可用的存储区内一起移动。</a:t>
            </a:r>
            <a:endParaRPr lang="en-US" altLang="zh-CN" sz="2000" dirty="0">
              <a:latin typeface="Times New Roman" panose="02020603050405020304" pitchFamily="18" charset="0"/>
            </a:endParaRPr>
          </a:p>
          <a:p>
            <a:pPr lvl="1" eaLnBrk="1" hangingPunct="1">
              <a:lnSpc>
                <a:spcPct val="110000"/>
              </a:lnSpc>
              <a:spcBef>
                <a:spcPts val="1200"/>
              </a:spcBef>
            </a:pPr>
            <a:r>
              <a:rPr lang="zh-CN" altLang="en-US" sz="2000" dirty="0">
                <a:latin typeface="Times New Roman" panose="02020603050405020304" pitchFamily="18" charset="0"/>
              </a:rPr>
              <a:t>采用</a:t>
            </a:r>
            <a:r>
              <a:rPr lang="en-US" altLang="zh-CN" sz="2000" dirty="0">
                <a:latin typeface="Times New Roman" panose="02020603050405020304" pitchFamily="18" charset="0"/>
              </a:rPr>
              <a:t>PC</a:t>
            </a:r>
            <a:r>
              <a:rPr lang="zh-CN" altLang="en-US" sz="2000" dirty="0">
                <a:latin typeface="Times New Roman" panose="02020603050405020304" pitchFamily="18" charset="0"/>
              </a:rPr>
              <a:t>相对寻址方式编写的</a:t>
            </a:r>
            <a:r>
              <a:rPr lang="zh-CN" altLang="en-US" sz="2000" dirty="0">
                <a:solidFill>
                  <a:srgbClr val="FF0000"/>
                </a:solidFill>
                <a:latin typeface="Times New Roman" panose="02020603050405020304" pitchFamily="18" charset="0"/>
              </a:rPr>
              <a:t>程序可在主存中任意浮动</a:t>
            </a:r>
            <a:r>
              <a:rPr lang="zh-CN" altLang="en-US" sz="2000" dirty="0">
                <a:latin typeface="Times New Roman" panose="02020603050405020304" pitchFamily="18" charset="0"/>
              </a:rPr>
              <a:t>，它放在主存的任何地方，所执行的效果都是一样的。</a:t>
            </a:r>
            <a:endParaRPr lang="zh-CN" altLang="en-US" sz="2000" dirty="0">
              <a:latin typeface="Times New Roman" panose="02020603050405020304" pitchFamily="18" charset="0"/>
            </a:endParaRPr>
          </a:p>
          <a:p>
            <a:pPr eaLnBrk="1" hangingPunct="1">
              <a:lnSpc>
                <a:spcPct val="110000"/>
              </a:lnSpc>
              <a:spcBef>
                <a:spcPts val="2400"/>
              </a:spcBef>
            </a:pPr>
            <a:r>
              <a:rPr lang="zh-CN" altLang="en-US" dirty="0">
                <a:latin typeface="Times New Roman" panose="02020603050405020304" pitchFamily="18" charset="0"/>
              </a:rPr>
              <a:t>位移量可正、可负，对于指令地址而言，操作数地址可能在指令地址之前或之后。</a:t>
            </a:r>
            <a:endParaRPr lang="zh-CN" altLang="en-US" dirty="0">
              <a:latin typeface="Times New Roman" panose="02020603050405020304" pitchFamily="18" charset="0"/>
            </a:endParaRPr>
          </a:p>
          <a:p>
            <a:pPr eaLnBrk="1" hangingPunct="1">
              <a:spcBef>
                <a:spcPts val="2400"/>
              </a:spcBef>
            </a:pP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9.</a:t>
            </a:r>
            <a:r>
              <a:rPr lang="zh-CN" altLang="en-US" dirty="0">
                <a:latin typeface="Times New Roman" panose="02020603050405020304" pitchFamily="18" charset="0"/>
              </a:rPr>
              <a:t>页面寻址</a:t>
            </a:r>
            <a:endParaRPr lang="zh-CN" altLang="en-US" dirty="0">
              <a:latin typeface="Times New Roman" panose="02020603050405020304" pitchFamily="18" charset="0"/>
              <a:ea typeface="Times New Roman" panose="02020603050405020304" pitchFamily="18" charset="0"/>
            </a:endParaRPr>
          </a:p>
        </p:txBody>
      </p:sp>
      <p:sp>
        <p:nvSpPr>
          <p:cNvPr id="63490" name="内容占位符 2"/>
          <p:cNvSpPr>
            <a:spLocks noGrp="1"/>
          </p:cNvSpPr>
          <p:nvPr>
            <p:ph idx="1"/>
          </p:nvPr>
        </p:nvSpPr>
        <p:spPr>
          <a:xfrm>
            <a:off x="481013" y="1417638"/>
            <a:ext cx="8229600" cy="3595687"/>
          </a:xfrm>
          <a:noFill/>
          <a:ln>
            <a:noFill/>
          </a:ln>
        </p:spPr>
        <p:txBody>
          <a:bodyPr anchor="t" anchorCtr="0"/>
          <a:p>
            <a:pPr eaLnBrk="1" hangingPunct="1">
              <a:spcBef>
                <a:spcPts val="1800"/>
              </a:spcBef>
            </a:pPr>
            <a:r>
              <a:rPr lang="zh-CN" altLang="en-US" dirty="0">
                <a:latin typeface="Times New Roman" panose="02020603050405020304" pitchFamily="18" charset="0"/>
              </a:rPr>
              <a:t>将整个</a:t>
            </a:r>
            <a:r>
              <a:rPr lang="zh-CN" altLang="en-US" dirty="0">
                <a:solidFill>
                  <a:srgbClr val="FF0000"/>
                </a:solidFill>
                <a:latin typeface="Times New Roman" panose="02020603050405020304" pitchFamily="18" charset="0"/>
              </a:rPr>
              <a:t>主存空间分成若干个大小相同的区</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每个区称为一页，每页有若干个主存单元。</a:t>
            </a:r>
            <a:endParaRPr lang="en-US" altLang="zh-CN"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页面地址：每页都有自己的编号；</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页内地址：页面内的每个主存单元自己的编号。</a:t>
            </a:r>
            <a:endParaRPr lang="en-US" altLang="zh-CN"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有效地址分为两部分：页面地址</a:t>
            </a:r>
            <a:r>
              <a:rPr lang="en-US" altLang="zh-CN" sz="2400" dirty="0">
                <a:latin typeface="Times New Roman" panose="02020603050405020304" pitchFamily="18" charset="0"/>
              </a:rPr>
              <a:t>+</a:t>
            </a:r>
            <a:r>
              <a:rPr lang="zh-CN" altLang="en-US" sz="2400" dirty="0">
                <a:latin typeface="Times New Roman" panose="02020603050405020304" pitchFamily="18" charset="0"/>
              </a:rPr>
              <a:t>页内地址。</a:t>
            </a:r>
            <a:endParaRPr lang="zh-CN" altLang="en-US" sz="2400" dirty="0">
              <a:latin typeface="Times New Roman" panose="02020603050405020304" pitchFamily="18" charset="0"/>
              <a:ea typeface="Times New Roman" panose="02020603050405020304" pitchFamily="18" charset="0"/>
            </a:endParaRPr>
          </a:p>
        </p:txBody>
      </p:sp>
      <p:pic>
        <p:nvPicPr>
          <p:cNvPr id="63491" name="图片 3"/>
          <p:cNvPicPr>
            <a:picLocks noChangeAspect="1"/>
          </p:cNvPicPr>
          <p:nvPr/>
        </p:nvPicPr>
        <p:blipFill>
          <a:blip r:embed="rId1"/>
          <a:stretch>
            <a:fillRect/>
          </a:stretch>
        </p:blipFill>
        <p:spPr>
          <a:xfrm>
            <a:off x="1476375" y="5013325"/>
            <a:ext cx="5907088" cy="73977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页面寻址（续）</a:t>
            </a:r>
            <a:endParaRPr lang="zh-CN" altLang="en-US" dirty="0">
              <a:latin typeface="Times New Roman" panose="02020603050405020304" pitchFamily="18" charset="0"/>
              <a:ea typeface="Times New Roman" panose="02020603050405020304" pitchFamily="18" charset="0"/>
            </a:endParaRPr>
          </a:p>
        </p:txBody>
      </p:sp>
      <p:sp>
        <p:nvSpPr>
          <p:cNvPr id="64514" name="内容占位符 2"/>
          <p:cNvSpPr>
            <a:spLocks noGrp="1"/>
          </p:cNvSpPr>
          <p:nvPr>
            <p:ph idx="1"/>
          </p:nvPr>
        </p:nvSpPr>
        <p:spPr>
          <a:xfrm>
            <a:off x="482600" y="1419225"/>
            <a:ext cx="8229600" cy="4889500"/>
          </a:xfrm>
          <a:noFill/>
          <a:ln>
            <a:noFill/>
          </a:ln>
        </p:spPr>
        <p:txBody>
          <a:bodyPr anchor="t" anchorCtr="0"/>
          <a:p>
            <a:pPr eaLnBrk="1" hangingPunct="1">
              <a:lnSpc>
                <a:spcPct val="110000"/>
              </a:lnSpc>
            </a:pPr>
            <a:r>
              <a:rPr lang="zh-CN" altLang="en-US" dirty="0">
                <a:latin typeface="Times New Roman" panose="02020603050405020304" pitchFamily="18" charset="0"/>
              </a:rPr>
              <a:t>页内地址由指令的地址码部分自动直接提供</a:t>
            </a:r>
            <a:endParaRPr lang="zh-CN" altLang="en-US" dirty="0">
              <a:latin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rPr>
              <a:t>与页面地址通过拼装连接得到有效地址；</a:t>
            </a:r>
            <a:endParaRPr lang="zh-CN" altLang="en-US" sz="2400" dirty="0">
              <a:latin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rPr>
              <a:t>根据页面地址的来源不同，分成三种不同：</a:t>
            </a:r>
            <a:endParaRPr lang="zh-CN" altLang="en-US" sz="2400" dirty="0">
              <a:latin typeface="Times New Roman" panose="02020603050405020304" pitchFamily="18" charset="0"/>
            </a:endParaRPr>
          </a:p>
          <a:p>
            <a:pPr lvl="2" eaLnBrk="1" hangingPunct="1">
              <a:lnSpc>
                <a:spcPct val="110000"/>
              </a:lnSpc>
              <a:spcBef>
                <a:spcPts val="1800"/>
              </a:spcBef>
            </a:pPr>
            <a:r>
              <a:rPr lang="zh-CN" altLang="en-US" sz="2000" dirty="0">
                <a:solidFill>
                  <a:srgbClr val="FF0000"/>
                </a:solidFill>
                <a:latin typeface="Times New Roman" panose="02020603050405020304" pitchFamily="18" charset="0"/>
              </a:rPr>
              <a:t>基页</a:t>
            </a:r>
            <a:r>
              <a:rPr lang="zh-CN" altLang="en-US" sz="2000" dirty="0">
                <a:latin typeface="Times New Roman" panose="02020603050405020304" pitchFamily="18" charset="0"/>
              </a:rPr>
              <a:t>寻址，</a:t>
            </a:r>
            <a:r>
              <a:rPr lang="en-US" altLang="zh-CN" sz="2000" dirty="0">
                <a:latin typeface="Times New Roman" panose="02020603050405020304" pitchFamily="18" charset="0"/>
              </a:rPr>
              <a:t>EA=0∥A</a:t>
            </a:r>
            <a:r>
              <a:rPr lang="zh-CN" altLang="en-US" sz="2000" dirty="0">
                <a:latin typeface="Times New Roman" panose="02020603050405020304" pitchFamily="18" charset="0"/>
              </a:rPr>
              <a:t>，操作数</a:t>
            </a:r>
            <a:r>
              <a:rPr lang="en-US" altLang="zh-CN" sz="2000" dirty="0">
                <a:latin typeface="Times New Roman" panose="02020603050405020304" pitchFamily="18" charset="0"/>
              </a:rPr>
              <a:t>S</a:t>
            </a:r>
            <a:r>
              <a:rPr lang="zh-CN" altLang="en-US" sz="2000" dirty="0">
                <a:latin typeface="Times New Roman" panose="02020603050405020304" pitchFamily="18" charset="0"/>
              </a:rPr>
              <a:t>在零页面中。基页寻址实际上就是直接寻址。</a:t>
            </a:r>
            <a:endParaRPr lang="zh-CN" altLang="en-US" sz="2000" dirty="0">
              <a:latin typeface="Times New Roman" panose="02020603050405020304" pitchFamily="18" charset="0"/>
            </a:endParaRPr>
          </a:p>
          <a:p>
            <a:pPr lvl="2" eaLnBrk="1" hangingPunct="1">
              <a:lnSpc>
                <a:spcPct val="110000"/>
              </a:lnSpc>
            </a:pPr>
            <a:r>
              <a:rPr lang="zh-CN" altLang="en-US" sz="2000" dirty="0">
                <a:solidFill>
                  <a:srgbClr val="FF0000"/>
                </a:solidFill>
                <a:latin typeface="Times New Roman" panose="02020603050405020304" pitchFamily="18" charset="0"/>
              </a:rPr>
              <a:t>当前页</a:t>
            </a:r>
            <a:r>
              <a:rPr lang="zh-CN" altLang="en-US" sz="2000" dirty="0">
                <a:latin typeface="Times New Roman" panose="02020603050405020304" pitchFamily="18" charset="0"/>
              </a:rPr>
              <a:t>寻址，</a:t>
            </a:r>
            <a:r>
              <a:rPr lang="en-US" altLang="zh-CN" sz="2000" dirty="0">
                <a:latin typeface="Times New Roman" panose="02020603050405020304" pitchFamily="18" charset="0"/>
              </a:rPr>
              <a:t>EA=(PC)H∥A</a:t>
            </a:r>
            <a:r>
              <a:rPr lang="zh-CN" altLang="en-US" sz="2000" dirty="0">
                <a:latin typeface="Times New Roman" panose="02020603050405020304" pitchFamily="18" charset="0"/>
              </a:rPr>
              <a:t>，操作数</a:t>
            </a:r>
            <a:r>
              <a:rPr lang="en-US" altLang="zh-CN" sz="2000" dirty="0">
                <a:latin typeface="Times New Roman" panose="02020603050405020304" pitchFamily="18" charset="0"/>
              </a:rPr>
              <a:t>S</a:t>
            </a:r>
            <a:r>
              <a:rPr lang="zh-CN" altLang="en-US" sz="2000" dirty="0">
                <a:latin typeface="Times New Roman" panose="02020603050405020304" pitchFamily="18" charset="0"/>
              </a:rPr>
              <a:t>与指令本身处于同一页面中。</a:t>
            </a:r>
            <a:endParaRPr lang="zh-CN" altLang="en-US" sz="2000" dirty="0">
              <a:latin typeface="Times New Roman" panose="02020603050405020304" pitchFamily="18" charset="0"/>
            </a:endParaRPr>
          </a:p>
          <a:p>
            <a:pPr lvl="2" eaLnBrk="1" hangingPunct="1">
              <a:lnSpc>
                <a:spcPct val="110000"/>
              </a:lnSpc>
            </a:pPr>
            <a:r>
              <a:rPr lang="zh-CN" altLang="en-US" sz="2000" dirty="0">
                <a:solidFill>
                  <a:srgbClr val="FF0000"/>
                </a:solidFill>
                <a:latin typeface="Times New Roman" panose="02020603050405020304" pitchFamily="18" charset="0"/>
              </a:rPr>
              <a:t>页寄存器</a:t>
            </a:r>
            <a:r>
              <a:rPr lang="zh-CN" altLang="en-US" sz="2000" dirty="0">
                <a:latin typeface="Times New Roman" panose="02020603050405020304" pitchFamily="18" charset="0"/>
              </a:rPr>
              <a:t>寻址。页面地址取自页寄存器，与形式地址相拼接形成有效地址。 </a:t>
            </a:r>
            <a:endParaRPr lang="zh-CN" altLang="en-US" sz="2000" dirty="0">
              <a:latin typeface="Times New Roman" panose="02020603050405020304" pitchFamily="18" charset="0"/>
            </a:endParaRPr>
          </a:p>
          <a:p>
            <a:pPr eaLnBrk="1" hangingPunct="1"/>
            <a:endParaRPr lang="zh-CN"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a:noFill/>
          <a:ln>
            <a:noFill/>
          </a:ln>
        </p:spPr>
        <p:txBody>
          <a:bodyPr anchor="t" anchorCtr="0"/>
          <a:p>
            <a:pPr eaLnBrk="1" hangingPunct="1"/>
            <a:r>
              <a:rPr lang="zh-CN" altLang="en-US" dirty="0"/>
              <a:t>基页寻址</a:t>
            </a:r>
            <a:endParaRPr lang="zh-CN" altLang="en-US" dirty="0"/>
          </a:p>
        </p:txBody>
      </p:sp>
      <p:pic>
        <p:nvPicPr>
          <p:cNvPr id="65538" name="图片 3"/>
          <p:cNvPicPr>
            <a:picLocks noChangeAspect="1"/>
          </p:cNvPicPr>
          <p:nvPr/>
        </p:nvPicPr>
        <p:blipFill>
          <a:blip r:embed="rId1"/>
          <a:stretch>
            <a:fillRect/>
          </a:stretch>
        </p:blipFill>
        <p:spPr>
          <a:xfrm>
            <a:off x="238125" y="1362075"/>
            <a:ext cx="8667750" cy="4133850"/>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1"/>
          <p:cNvSpPr>
            <a:spLocks noGrp="1"/>
          </p:cNvSpPr>
          <p:nvPr>
            <p:ph type="title"/>
          </p:nvPr>
        </p:nvSpPr>
        <p:spPr>
          <a:noFill/>
          <a:ln>
            <a:noFill/>
          </a:ln>
        </p:spPr>
        <p:txBody>
          <a:bodyPr anchor="t" anchorCtr="0"/>
          <a:p>
            <a:pPr eaLnBrk="1" hangingPunct="1"/>
            <a:r>
              <a:rPr lang="zh-CN" altLang="en-US" dirty="0"/>
              <a:t>当前页寻址</a:t>
            </a:r>
            <a:endParaRPr lang="zh-CN" altLang="en-US" dirty="0"/>
          </a:p>
        </p:txBody>
      </p:sp>
      <p:pic>
        <p:nvPicPr>
          <p:cNvPr id="66562" name="图片 3"/>
          <p:cNvPicPr>
            <a:picLocks noChangeAspect="1"/>
          </p:cNvPicPr>
          <p:nvPr/>
        </p:nvPicPr>
        <p:blipFill>
          <a:blip r:embed="rId1"/>
          <a:stretch>
            <a:fillRect/>
          </a:stretch>
        </p:blipFill>
        <p:spPr>
          <a:xfrm>
            <a:off x="238125" y="1285875"/>
            <a:ext cx="8667750" cy="4286250"/>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1"/>
          <p:cNvSpPr>
            <a:spLocks noGrp="1"/>
          </p:cNvSpPr>
          <p:nvPr>
            <p:ph type="title"/>
          </p:nvPr>
        </p:nvSpPr>
        <p:spPr>
          <a:noFill/>
          <a:ln>
            <a:noFill/>
          </a:ln>
        </p:spPr>
        <p:txBody>
          <a:bodyPr anchor="t" anchorCtr="0"/>
          <a:p>
            <a:pPr eaLnBrk="1" hangingPunct="1"/>
            <a:r>
              <a:rPr lang="zh-CN" altLang="en-US" dirty="0"/>
              <a:t>区分不同的寻址方式 </a:t>
            </a:r>
            <a:endParaRPr lang="zh-CN" altLang="en-US" dirty="0"/>
          </a:p>
        </p:txBody>
      </p:sp>
      <p:sp>
        <p:nvSpPr>
          <p:cNvPr id="67586" name="内容占位符 2"/>
          <p:cNvSpPr>
            <a:spLocks noGrp="1"/>
          </p:cNvSpPr>
          <p:nvPr>
            <p:ph idx="1"/>
          </p:nvPr>
        </p:nvSpPr>
        <p:spPr>
          <a:xfrm>
            <a:off x="457200" y="1401763"/>
            <a:ext cx="8229600" cy="2944812"/>
          </a:xfrm>
          <a:noFill/>
          <a:ln>
            <a:noFill/>
          </a:ln>
        </p:spPr>
        <p:txBody>
          <a:bodyPr anchor="t" anchorCtr="0"/>
          <a:p>
            <a:pPr eaLnBrk="1" hangingPunct="1">
              <a:lnSpc>
                <a:spcPct val="110000"/>
              </a:lnSpc>
            </a:pPr>
            <a:r>
              <a:rPr lang="zh-CN" altLang="en-US" dirty="0"/>
              <a:t>在指令中给出标识。两种：显式和隐式。</a:t>
            </a:r>
            <a:endParaRPr lang="zh-CN" altLang="en-US" dirty="0"/>
          </a:p>
          <a:p>
            <a:pPr lvl="1" eaLnBrk="1" hangingPunct="1">
              <a:lnSpc>
                <a:spcPct val="110000"/>
              </a:lnSpc>
              <a:spcBef>
                <a:spcPts val="2400"/>
              </a:spcBef>
            </a:pPr>
            <a:r>
              <a:rPr lang="zh-CN" altLang="en-US" sz="2400" dirty="0"/>
              <a:t>显式方法：在指令中设置</a:t>
            </a:r>
            <a:r>
              <a:rPr lang="zh-CN" altLang="en-US" sz="2400" dirty="0">
                <a:solidFill>
                  <a:srgbClr val="FF0000"/>
                </a:solidFill>
              </a:rPr>
              <a:t>专门的寻址方式字段</a:t>
            </a:r>
            <a:r>
              <a:rPr lang="zh-CN" altLang="en-US" sz="2400" dirty="0"/>
              <a:t>，用二进制代码来表明寻址方式类型。</a:t>
            </a:r>
            <a:endParaRPr lang="zh-CN" altLang="en-US" sz="2400" dirty="0"/>
          </a:p>
          <a:p>
            <a:pPr lvl="1" eaLnBrk="1" hangingPunct="1">
              <a:lnSpc>
                <a:spcPct val="110000"/>
              </a:lnSpc>
              <a:spcBef>
                <a:spcPts val="1200"/>
              </a:spcBef>
            </a:pPr>
            <a:r>
              <a:rPr lang="zh-CN" altLang="en-US" sz="2400" dirty="0"/>
              <a:t>隐式方法：由指令的</a:t>
            </a:r>
            <a:r>
              <a:rPr lang="zh-CN" altLang="en-US" sz="2400" dirty="0">
                <a:solidFill>
                  <a:srgbClr val="FF0000"/>
                </a:solidFill>
              </a:rPr>
              <a:t>操作码字段说明指令格式</a:t>
            </a:r>
            <a:r>
              <a:rPr lang="zh-CN" altLang="en-US" sz="2400" dirty="0"/>
              <a:t>并隐含约定寻址方式。</a:t>
            </a:r>
            <a:endParaRPr lang="zh-CN" altLang="en-US" sz="2400" dirty="0"/>
          </a:p>
        </p:txBody>
      </p:sp>
      <p:pic>
        <p:nvPicPr>
          <p:cNvPr id="67587" name="图片 3"/>
          <p:cNvPicPr>
            <a:picLocks noChangeAspect="1"/>
          </p:cNvPicPr>
          <p:nvPr/>
        </p:nvPicPr>
        <p:blipFill>
          <a:blip r:embed="rId1"/>
          <a:stretch>
            <a:fillRect/>
          </a:stretch>
        </p:blipFill>
        <p:spPr>
          <a:xfrm>
            <a:off x="1349375" y="4564063"/>
            <a:ext cx="6042025" cy="1392237"/>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区分不同的寻址方式（续）</a:t>
            </a:r>
            <a:endParaRPr lang="zh-CN" altLang="en-US" dirty="0">
              <a:latin typeface="Times New Roman" panose="02020603050405020304" pitchFamily="18" charset="0"/>
              <a:ea typeface="Times New Roman" panose="02020603050405020304" pitchFamily="18" charset="0"/>
            </a:endParaRPr>
          </a:p>
        </p:txBody>
      </p:sp>
      <p:sp>
        <p:nvSpPr>
          <p:cNvPr id="68610" name="内容占位符 2"/>
          <p:cNvSpPr>
            <a:spLocks noGrp="1"/>
          </p:cNvSpPr>
          <p:nvPr>
            <p:ph idx="1"/>
          </p:nvPr>
        </p:nvSpPr>
        <p:spPr>
          <a:xfrm>
            <a:off x="457200" y="1438275"/>
            <a:ext cx="8229600" cy="2206625"/>
          </a:xfrm>
          <a:noFill/>
          <a:ln>
            <a:noFill/>
          </a:ln>
        </p:spPr>
        <p:txBody>
          <a:bodyPr anchor="t" anchorCtr="0"/>
          <a:p>
            <a:pPr eaLnBrk="1" hangingPunct="1">
              <a:lnSpc>
                <a:spcPct val="120000"/>
              </a:lnSpc>
            </a:pPr>
            <a:r>
              <a:rPr lang="zh-CN" altLang="en-US" sz="2400" dirty="0">
                <a:latin typeface="Times New Roman" panose="02020603050405020304" pitchFamily="18" charset="0"/>
              </a:rPr>
              <a:t>一条指令若有两个或两个以上的地址码时，各地址码可采用不同的寻址方式。</a:t>
            </a:r>
            <a:endParaRPr lang="zh-CN" altLang="en-US" sz="2400" dirty="0">
              <a:latin typeface="Times New Roman" panose="02020603050405020304" pitchFamily="18" charset="0"/>
            </a:endParaRPr>
          </a:p>
          <a:p>
            <a:pPr eaLnBrk="1" hangingPunct="1">
              <a:lnSpc>
                <a:spcPct val="120000"/>
              </a:lnSpc>
            </a:pPr>
            <a:r>
              <a:rPr lang="zh-CN" altLang="en-US" sz="2400" dirty="0">
                <a:latin typeface="Times New Roman" panose="02020603050405020304" pitchFamily="18" charset="0"/>
              </a:rPr>
              <a:t>例如：源地址采用一种寻址方式，而目的地址采用另一种寻址方式。</a:t>
            </a:r>
            <a:endParaRPr lang="zh-CN" altLang="en-US" dirty="0">
              <a:latin typeface="Times New Roman" panose="02020603050405020304" pitchFamily="18" charset="0"/>
            </a:endParaRPr>
          </a:p>
          <a:p>
            <a:pPr lvl="1" eaLnBrk="1" hangingPunct="1">
              <a:lnSpc>
                <a:spcPct val="120000"/>
              </a:lnSpc>
              <a:spcBef>
                <a:spcPts val="2400"/>
              </a:spcBef>
            </a:pPr>
            <a:r>
              <a:rPr lang="en-US" altLang="zh-CN" dirty="0">
                <a:latin typeface="Times New Roman" panose="02020603050405020304" pitchFamily="18" charset="0"/>
              </a:rPr>
              <a:t>MOV AX,(BX)</a:t>
            </a:r>
            <a:endParaRPr lang="en-US" altLang="zh-CN"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pic>
        <p:nvPicPr>
          <p:cNvPr id="68611" name="图片 3"/>
          <p:cNvPicPr>
            <a:picLocks noChangeAspect="1"/>
          </p:cNvPicPr>
          <p:nvPr/>
        </p:nvPicPr>
        <p:blipFill>
          <a:blip r:embed="rId1"/>
          <a:stretch>
            <a:fillRect/>
          </a:stretch>
        </p:blipFill>
        <p:spPr>
          <a:xfrm>
            <a:off x="1179513" y="4341813"/>
            <a:ext cx="7089775" cy="1951037"/>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2.3.4 </a:t>
            </a:r>
            <a:r>
              <a:rPr lang="zh-CN" altLang="en-US" dirty="0">
                <a:latin typeface="Times New Roman" panose="02020603050405020304" pitchFamily="18" charset="0"/>
              </a:rPr>
              <a:t>变型或组合寻址方式</a:t>
            </a:r>
            <a:endParaRPr lang="zh-CN" altLang="en-US" dirty="0">
              <a:latin typeface="Times New Roman" panose="02020603050405020304" pitchFamily="18" charset="0"/>
            </a:endParaRPr>
          </a:p>
        </p:txBody>
      </p:sp>
      <p:sp>
        <p:nvSpPr>
          <p:cNvPr id="69634" name="内容占位符 2"/>
          <p:cNvSpPr>
            <a:spLocks noGrp="1"/>
          </p:cNvSpPr>
          <p:nvPr>
            <p:ph idx="1"/>
          </p:nvPr>
        </p:nvSpPr>
        <p:spPr>
          <a:xfrm>
            <a:off x="457200" y="1989138"/>
            <a:ext cx="8229600" cy="4597400"/>
          </a:xfrm>
          <a:noFill/>
          <a:ln>
            <a:noFill/>
          </a:ln>
        </p:spPr>
        <p:txBody>
          <a:bodyPr anchor="t" anchorCtr="0"/>
          <a:p>
            <a:pPr eaLnBrk="1" hangingPunct="1"/>
            <a:r>
              <a:rPr lang="zh-CN" altLang="en-US" dirty="0">
                <a:latin typeface="Times New Roman" panose="02020603050405020304" pitchFamily="18" charset="0"/>
              </a:rPr>
              <a:t>自增寻址</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寄存器</a:t>
            </a:r>
            <a:r>
              <a:rPr lang="en-US" altLang="zh-CN" sz="2400" dirty="0">
                <a:latin typeface="Times New Roman" panose="02020603050405020304" pitchFamily="18" charset="0"/>
              </a:rPr>
              <a:t>Ri</a:t>
            </a:r>
            <a:r>
              <a:rPr lang="zh-CN" altLang="en-US" sz="2400" dirty="0">
                <a:latin typeface="Times New Roman" panose="02020603050405020304" pitchFamily="18" charset="0"/>
              </a:rPr>
              <a:t>的内容是有效地址；</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从主存中取数后，寄存器的内容自动增量修改；</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字节编址时：若指向下一个字节，寄存器的内容</a:t>
            </a:r>
            <a:r>
              <a:rPr lang="en-US" altLang="zh-CN" sz="2400" dirty="0">
                <a:latin typeface="Times New Roman" panose="02020603050405020304" pitchFamily="18" charset="0"/>
              </a:rPr>
              <a:t>+1</a:t>
            </a:r>
            <a:r>
              <a:rPr lang="zh-CN" altLang="en-US" sz="2400" dirty="0">
                <a:latin typeface="Times New Roman" panose="02020603050405020304" pitchFamily="18" charset="0"/>
              </a:rPr>
              <a:t>；若指向下一个字（设字长</a:t>
            </a:r>
            <a:r>
              <a:rPr lang="en-US" altLang="zh-CN" sz="2400" dirty="0">
                <a:latin typeface="Times New Roman" panose="02020603050405020304" pitchFamily="18" charset="0"/>
              </a:rPr>
              <a:t>16</a:t>
            </a:r>
            <a:r>
              <a:rPr lang="zh-CN" altLang="en-US" sz="2400" dirty="0">
                <a:latin typeface="Times New Roman" panose="02020603050405020304" pitchFamily="18" charset="0"/>
              </a:rPr>
              <a:t>位），寄存器的内容</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自增寻址操作的含义：</a:t>
            </a:r>
            <a:r>
              <a:rPr lang="en-US" altLang="zh-CN" sz="2400" dirty="0">
                <a:latin typeface="Times New Roman" panose="02020603050405020304" pitchFamily="18" charset="0"/>
              </a:rPr>
              <a:t>EA=(Ri)</a:t>
            </a:r>
            <a:r>
              <a:rPr lang="zh-CN" altLang="en-US" sz="2400" dirty="0">
                <a:latin typeface="Times New Roman" panose="02020603050405020304" pitchFamily="18" charset="0"/>
              </a:rPr>
              <a:t>，</a:t>
            </a:r>
            <a:r>
              <a:rPr lang="en-US" altLang="zh-CN" sz="2400" dirty="0">
                <a:latin typeface="Times New Roman" panose="02020603050405020304" pitchFamily="18" charset="0"/>
              </a:rPr>
              <a:t>Ri←(Ri)+d</a:t>
            </a:r>
            <a:endParaRPr lang="zh-CN" altLang="en-US" sz="2400" dirty="0">
              <a:latin typeface="Times New Roman" panose="02020603050405020304" pitchFamily="18" charset="0"/>
            </a:endParaRPr>
          </a:p>
          <a:p>
            <a:pPr lvl="2" eaLnBrk="1" hangingPunct="1"/>
            <a:r>
              <a:rPr lang="zh-CN" altLang="en-US" sz="2000" dirty="0">
                <a:latin typeface="Times New Roman" panose="02020603050405020304" pitchFamily="18" charset="0"/>
              </a:rPr>
              <a:t>其中：</a:t>
            </a:r>
            <a:r>
              <a:rPr lang="en-US" altLang="zh-CN" sz="2000" dirty="0">
                <a:latin typeface="Times New Roman" panose="02020603050405020304" pitchFamily="18" charset="0"/>
              </a:rPr>
              <a:t>EA</a:t>
            </a:r>
            <a:r>
              <a:rPr lang="zh-CN" altLang="en-US" sz="2000" dirty="0">
                <a:latin typeface="Times New Roman" panose="02020603050405020304" pitchFamily="18" charset="0"/>
              </a:rPr>
              <a:t>为有效地址，</a:t>
            </a:r>
            <a:r>
              <a:rPr lang="en-US" altLang="zh-CN" sz="2000" dirty="0">
                <a:latin typeface="Times New Roman" panose="02020603050405020304" pitchFamily="18" charset="0"/>
              </a:rPr>
              <a:t>d</a:t>
            </a:r>
            <a:r>
              <a:rPr lang="zh-CN" altLang="en-US" sz="2000" dirty="0">
                <a:latin typeface="Times New Roman" panose="02020603050405020304" pitchFamily="18" charset="0"/>
              </a:rPr>
              <a:t>为修改量，通常记作</a:t>
            </a:r>
            <a:r>
              <a:rPr lang="en-US" altLang="zh-CN" sz="2000" dirty="0">
                <a:latin typeface="Times New Roman" panose="02020603050405020304" pitchFamily="18" charset="0"/>
              </a:rPr>
              <a:t>(Ri)+</a:t>
            </a:r>
            <a:r>
              <a:rPr lang="zh-CN" altLang="en-US" sz="2000" dirty="0">
                <a:latin typeface="Times New Roman" panose="02020603050405020304" pitchFamily="18" charset="0"/>
              </a:rPr>
              <a:t>，加号在括号之后，表示先操作后修改。</a:t>
            </a:r>
            <a:endParaRPr lang="zh-CN" altLang="en-US" sz="2000" dirty="0">
              <a:latin typeface="Times New Roman" panose="02020603050405020304" pitchFamily="18" charset="0"/>
            </a:endParaRPr>
          </a:p>
          <a:p>
            <a:pPr eaLnBrk="1" hangingPunct="1"/>
            <a:endParaRPr lang="zh-CN" altLang="en-US" sz="2000" dirty="0">
              <a:latin typeface="Times New Roman" panose="02020603050405020304" pitchFamily="18" charset="0"/>
              <a:ea typeface="Times New Roman" panose="02020603050405020304" pitchFamily="18" charset="0"/>
            </a:endParaRPr>
          </a:p>
        </p:txBody>
      </p:sp>
      <p:sp>
        <p:nvSpPr>
          <p:cNvPr id="4" name="矩形 3"/>
          <p:cNvSpPr/>
          <p:nvPr/>
        </p:nvSpPr>
        <p:spPr>
          <a:xfrm>
            <a:off x="409575" y="1268413"/>
            <a:ext cx="6678613" cy="5238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1.</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自增型寄存器间址和自减型寄存器间址</a:t>
            </a:r>
            <a:endPar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自减寻址</a:t>
            </a:r>
            <a:endParaRPr lang="zh-CN" altLang="en-US" dirty="0">
              <a:latin typeface="Times New Roman" panose="02020603050405020304" pitchFamily="18" charset="0"/>
            </a:endParaRPr>
          </a:p>
          <a:p>
            <a:pPr lvl="1" eaLnBrk="1" hangingPunct="1">
              <a:spcBef>
                <a:spcPts val="2400"/>
              </a:spcBef>
            </a:pPr>
            <a:r>
              <a:rPr lang="zh-CN" altLang="en-US" sz="2400" dirty="0">
                <a:latin typeface="Times New Roman" panose="02020603050405020304" pitchFamily="18" charset="0"/>
              </a:rPr>
              <a:t>先对寄存器</a:t>
            </a:r>
            <a:r>
              <a:rPr lang="en-US" altLang="zh-CN" sz="2400" dirty="0">
                <a:latin typeface="Times New Roman" panose="02020603050405020304" pitchFamily="18" charset="0"/>
              </a:rPr>
              <a:t>Ri</a:t>
            </a:r>
            <a:r>
              <a:rPr lang="zh-CN" altLang="en-US" sz="2400" dirty="0">
                <a:latin typeface="Times New Roman" panose="02020603050405020304" pitchFamily="18" charset="0"/>
              </a:rPr>
              <a:t>的内容自动减量修改（</a:t>
            </a:r>
            <a:r>
              <a:rPr lang="en-US" altLang="zh-CN" sz="2400" dirty="0">
                <a:latin typeface="Times New Roman" panose="02020603050405020304" pitchFamily="18" charset="0"/>
              </a:rPr>
              <a:t>-1</a:t>
            </a:r>
            <a:r>
              <a:rPr lang="zh-CN" altLang="en-US" sz="2400" dirty="0">
                <a:latin typeface="Times New Roman" panose="02020603050405020304" pitchFamily="18" charset="0"/>
              </a:rPr>
              <a:t>或</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spcBef>
                <a:spcPts val="2400"/>
              </a:spcBef>
            </a:pPr>
            <a:r>
              <a:rPr lang="zh-CN" altLang="en-US" sz="2400" dirty="0">
                <a:latin typeface="Times New Roman" panose="02020603050405020304" pitchFamily="18" charset="0"/>
              </a:rPr>
              <a:t>修改之后的内容才是操作数的有效地址，据此可到主存中取出操作数；</a:t>
            </a:r>
            <a:endParaRPr lang="zh-CN" altLang="en-US"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自减寻址操作的含义为：</a:t>
            </a:r>
            <a:r>
              <a:rPr lang="en-US" altLang="zh-CN" sz="2400" dirty="0">
                <a:latin typeface="Times New Roman" panose="02020603050405020304" pitchFamily="18" charset="0"/>
              </a:rPr>
              <a:t>Ri←(Ri)-d</a:t>
            </a:r>
            <a:r>
              <a:rPr lang="zh-CN" altLang="en-US" sz="2400" dirty="0">
                <a:latin typeface="Times New Roman" panose="02020603050405020304" pitchFamily="18" charset="0"/>
              </a:rPr>
              <a:t>，</a:t>
            </a:r>
            <a:r>
              <a:rPr lang="en-US" altLang="zh-CN" sz="2400" dirty="0">
                <a:latin typeface="Times New Roman" panose="02020603050405020304" pitchFamily="18" charset="0"/>
              </a:rPr>
              <a:t>EA=(Ri)</a:t>
            </a:r>
            <a:endParaRPr lang="zh-CN" altLang="en-US" sz="2400" dirty="0">
              <a:latin typeface="Times New Roman" panose="02020603050405020304" pitchFamily="18" charset="0"/>
            </a:endParaRPr>
          </a:p>
          <a:p>
            <a:pPr lvl="2" eaLnBrk="1" hangingPunct="1">
              <a:spcBef>
                <a:spcPts val="1200"/>
              </a:spcBef>
            </a:pPr>
            <a:r>
              <a:rPr lang="zh-CN" altLang="en-US" sz="2000" dirty="0">
                <a:latin typeface="Times New Roman" panose="02020603050405020304" pitchFamily="18" charset="0"/>
              </a:rPr>
              <a:t>记作</a:t>
            </a:r>
            <a:r>
              <a:rPr lang="en-US" altLang="zh-CN" sz="2000" dirty="0">
                <a:latin typeface="Times New Roman" panose="02020603050405020304" pitchFamily="18" charset="0"/>
              </a:rPr>
              <a:t>-(Ri)</a:t>
            </a:r>
            <a:r>
              <a:rPr lang="zh-CN" altLang="en-US" sz="2000" dirty="0">
                <a:latin typeface="Times New Roman" panose="02020603050405020304" pitchFamily="18" charset="0"/>
              </a:rPr>
              <a:t>，减号在括号之前，表示先修改后操作。</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
        <p:nvSpPr>
          <p:cNvPr id="70658" name="标题 3"/>
          <p:cNvSpPr>
            <a:spLocks noGrp="1"/>
          </p:cNvSpPr>
          <p:nvPr>
            <p:ph type="title"/>
          </p:nvPr>
        </p:nvSpPr>
        <p:spPr>
          <a:noFill/>
          <a:ln>
            <a:noFill/>
          </a:ln>
        </p:spPr>
        <p:txBody>
          <a:bodyPr wrap="none" anchor="t" anchorCtr="0">
            <a:spAutoFit/>
          </a:bodyPr>
          <a:p>
            <a:pPr eaLnBrk="1" hangingPunct="1"/>
            <a:r>
              <a:rPr lang="en-US" altLang="zh-CN" sz="2800" dirty="0">
                <a:solidFill>
                  <a:srgbClr val="FF0000"/>
                </a:solidFill>
              </a:rPr>
              <a:t>1.</a:t>
            </a:r>
            <a:r>
              <a:rPr lang="zh-CN" altLang="en-US" sz="2800" dirty="0">
                <a:solidFill>
                  <a:srgbClr val="FF0000"/>
                </a:solidFill>
              </a:rPr>
              <a:t>自增型寄存器间址和自减型寄存器间址</a:t>
            </a:r>
            <a:endParaRPr lang="zh-CN" altLang="en-US" sz="2800"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扩展变址方式</a:t>
            </a:r>
            <a:endParaRPr lang="zh-CN" altLang="en-US" dirty="0">
              <a:latin typeface="Times New Roman" panose="02020603050405020304" pitchFamily="18" charset="0"/>
              <a:ea typeface="Times New Roman" panose="02020603050405020304" pitchFamily="18" charset="0"/>
            </a:endParaRPr>
          </a:p>
        </p:txBody>
      </p:sp>
      <p:sp>
        <p:nvSpPr>
          <p:cNvPr id="71682" name="内容占位符 2"/>
          <p:cNvSpPr>
            <a:spLocks noGrp="1"/>
          </p:cNvSpPr>
          <p:nvPr>
            <p:ph idx="1"/>
          </p:nvPr>
        </p:nvSpPr>
        <p:spPr>
          <a:xfrm>
            <a:off x="457200" y="1268413"/>
            <a:ext cx="8229600" cy="4857750"/>
          </a:xfrm>
          <a:noFill/>
          <a:ln>
            <a:noFill/>
          </a:ln>
        </p:spPr>
        <p:txBody>
          <a:bodyPr anchor="t" anchorCtr="0"/>
          <a:p>
            <a:pPr eaLnBrk="1" hangingPunct="1"/>
            <a:r>
              <a:rPr lang="zh-CN" altLang="en-US" dirty="0">
                <a:latin typeface="Times New Roman" panose="02020603050405020304" pitchFamily="18" charset="0"/>
              </a:rPr>
              <a:t>把变址和间址两种寻址方式结合起来：</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先变址后间址（前变址方式）</a:t>
            </a:r>
            <a:endParaRPr lang="zh-CN" altLang="en-US" sz="2400" dirty="0">
              <a:latin typeface="Times New Roman" panose="02020603050405020304" pitchFamily="18" charset="0"/>
            </a:endParaRPr>
          </a:p>
          <a:p>
            <a:pPr lvl="2" eaLnBrk="1" hangingPunct="1"/>
            <a:r>
              <a:rPr lang="zh-CN" altLang="en-US" sz="2000" dirty="0">
                <a:latin typeface="Times New Roman" panose="02020603050405020304" pitchFamily="18" charset="0"/>
              </a:rPr>
              <a:t>先进行变址运算，其运算结果作为间接地址，间接地址指出的单元的内容才是有效地址。</a:t>
            </a:r>
            <a:endParaRPr lang="zh-CN" altLang="en-US" sz="2000" dirty="0">
              <a:latin typeface="Times New Roman" panose="02020603050405020304" pitchFamily="18" charset="0"/>
            </a:endParaRPr>
          </a:p>
          <a:p>
            <a:pPr lvl="2" eaLnBrk="1" hangingPunct="1"/>
            <a:r>
              <a:rPr lang="zh-CN" altLang="en-US" sz="2000" dirty="0">
                <a:latin typeface="Times New Roman" panose="02020603050405020304" pitchFamily="18" charset="0"/>
              </a:rPr>
              <a:t>有效地址</a:t>
            </a:r>
            <a:r>
              <a:rPr lang="en-US" altLang="zh-CN" sz="2000" dirty="0">
                <a:solidFill>
                  <a:srgbClr val="FF0000"/>
                </a:solidFill>
                <a:latin typeface="Times New Roman" panose="02020603050405020304" pitchFamily="18" charset="0"/>
              </a:rPr>
              <a:t>EA=(A+(Rx))</a:t>
            </a:r>
            <a:r>
              <a:rPr lang="zh-CN" altLang="en-US" sz="2000" dirty="0">
                <a:latin typeface="Times New Roman" panose="02020603050405020304" pitchFamily="18" charset="0"/>
              </a:rPr>
              <a:t>，操作数</a:t>
            </a:r>
            <a:r>
              <a:rPr lang="en-US" altLang="zh-CN" sz="2000" dirty="0">
                <a:latin typeface="Times New Roman" panose="02020603050405020304" pitchFamily="18" charset="0"/>
              </a:rPr>
              <a:t>S=((A+(Rx)))</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 先间址后变址（后变址方式）</a:t>
            </a:r>
            <a:endParaRPr lang="zh-CN" altLang="en-US" sz="2400" dirty="0">
              <a:latin typeface="Times New Roman" panose="02020603050405020304" pitchFamily="18" charset="0"/>
            </a:endParaRPr>
          </a:p>
          <a:p>
            <a:pPr lvl="2" eaLnBrk="1" hangingPunct="1"/>
            <a:r>
              <a:rPr lang="zh-CN" altLang="en-US" sz="2000" dirty="0">
                <a:latin typeface="Times New Roman" panose="02020603050405020304" pitchFamily="18" charset="0"/>
              </a:rPr>
              <a:t>将指令中的地址码先进行一次间接寻址，然后再与变址值进行运算，从而得到一个有效地址。</a:t>
            </a:r>
            <a:endParaRPr lang="zh-CN" altLang="en-US" sz="2000" dirty="0">
              <a:latin typeface="Times New Roman" panose="02020603050405020304" pitchFamily="18" charset="0"/>
            </a:endParaRPr>
          </a:p>
          <a:p>
            <a:pPr lvl="2" eaLnBrk="1" hangingPunct="1"/>
            <a:r>
              <a:rPr lang="zh-CN" altLang="en-US" sz="2000" dirty="0">
                <a:latin typeface="Times New Roman" panose="02020603050405020304" pitchFamily="18" charset="0"/>
              </a:rPr>
              <a:t>有效地址</a:t>
            </a:r>
            <a:r>
              <a:rPr lang="en-US" altLang="zh-CN" sz="2000" dirty="0">
                <a:solidFill>
                  <a:srgbClr val="FF0000"/>
                </a:solidFill>
                <a:latin typeface="Times New Roman" panose="02020603050405020304" pitchFamily="18" charset="0"/>
              </a:rPr>
              <a:t>EA=(A)+(Rx)</a:t>
            </a:r>
            <a:r>
              <a:rPr lang="zh-CN" altLang="en-US" sz="2000" dirty="0">
                <a:latin typeface="Times New Roman" panose="02020603050405020304" pitchFamily="18" charset="0"/>
              </a:rPr>
              <a:t>，操作数</a:t>
            </a:r>
            <a:r>
              <a:rPr lang="en-US" altLang="zh-CN" sz="2000" dirty="0">
                <a:latin typeface="Times New Roman" panose="02020603050405020304" pitchFamily="18" charset="0"/>
              </a:rPr>
              <a:t>S=((A)+(Rx))</a:t>
            </a:r>
            <a:r>
              <a:rPr lang="zh-CN" altLang="en-US" sz="2000" dirty="0">
                <a:latin typeface="Times New Roman" panose="02020603050405020304" pitchFamily="18" charset="0"/>
              </a:rPr>
              <a:t>。 </a:t>
            </a:r>
            <a:endParaRPr lang="zh-CN" altLang="en-US" sz="2000" dirty="0">
              <a:latin typeface="Times New Roman" panose="02020603050405020304" pitchFamily="18" charset="0"/>
            </a:endParaRPr>
          </a:p>
          <a:p>
            <a:pPr lvl="1" eaLnBrk="1" hangingPunct="1"/>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基址变址寻址 </a:t>
            </a:r>
            <a:endParaRPr lang="zh-CN" altLang="en-US" dirty="0">
              <a:latin typeface="Times New Roman" panose="02020603050405020304" pitchFamily="18" charset="0"/>
              <a:ea typeface="Times New Roman" panose="02020603050405020304" pitchFamily="18" charset="0"/>
            </a:endParaRPr>
          </a:p>
        </p:txBody>
      </p:sp>
      <p:sp>
        <p:nvSpPr>
          <p:cNvPr id="72706"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有效地址是由基址寄存器中的值、变址寄存器中的值和位移量三者相加求得的。</a:t>
            </a:r>
            <a:endParaRPr lang="zh-CN" altLang="en-US" dirty="0">
              <a:latin typeface="Times New Roman" panose="02020603050405020304" pitchFamily="18" charset="0"/>
            </a:endParaRPr>
          </a:p>
          <a:p>
            <a:pPr lvl="1" eaLnBrk="1" hangingPunct="1">
              <a:spcBef>
                <a:spcPts val="1200"/>
              </a:spcBef>
              <a:buSzTx/>
            </a:pPr>
            <a:r>
              <a:rPr lang="zh-CN" altLang="en-US" sz="2400" dirty="0">
                <a:solidFill>
                  <a:srgbClr val="FF0000"/>
                </a:solidFill>
                <a:latin typeface="Times New Roman" panose="02020603050405020304" pitchFamily="18" charset="0"/>
              </a:rPr>
              <a:t>EA=(Rb)+(Rx)+D</a:t>
            </a:r>
            <a:endParaRPr lang="zh-CN" altLang="en-US" sz="2400" dirty="0">
              <a:solidFill>
                <a:srgbClr val="FF0000"/>
              </a:solidFill>
              <a:latin typeface="Times New Roman" panose="02020603050405020304" pitchFamily="18" charset="0"/>
            </a:endParaRPr>
          </a:p>
          <a:p>
            <a:pPr lvl="2" eaLnBrk="1" latinLnBrk="0" hangingPunct="1">
              <a:spcBef>
                <a:spcPts val="1200"/>
              </a:spcBef>
              <a:buSzTx/>
            </a:pPr>
            <a:r>
              <a:rPr lang="zh-CN" altLang="en-US" sz="2000" dirty="0">
                <a:latin typeface="Times New Roman" panose="02020603050405020304" pitchFamily="18" charset="0"/>
              </a:rPr>
              <a:t>Rb为基址寄存器，Rx为变址寄存器，D为位移量。 </a:t>
            </a:r>
            <a:endParaRPr lang="zh-CN" altLang="en-US" sz="2000" dirty="0">
              <a:latin typeface="Times New Roman" panose="02020603050405020304" pitchFamily="18" charset="0"/>
            </a:endParaRPr>
          </a:p>
          <a:p>
            <a:pPr lvl="1" eaLnBrk="1" latinLnBrk="0" hangingPunct="1">
              <a:spcBef>
                <a:spcPts val="2400"/>
              </a:spcBef>
              <a:buSzTx/>
            </a:pPr>
            <a:r>
              <a:rPr lang="zh-CN" altLang="en-US" sz="2400" dirty="0">
                <a:latin typeface="Times New Roman" panose="02020603050405020304" pitchFamily="18" charset="0"/>
              </a:rPr>
              <a:t>位移量在指令一旦确定后就不能再修改；</a:t>
            </a:r>
            <a:endParaRPr lang="zh-CN" altLang="en-US" sz="2400" dirty="0">
              <a:latin typeface="Times New Roman" panose="02020603050405020304" pitchFamily="18" charset="0"/>
            </a:endParaRPr>
          </a:p>
          <a:p>
            <a:pPr lvl="1" eaLnBrk="1" hangingPunct="1">
              <a:spcBef>
                <a:spcPts val="2400"/>
              </a:spcBef>
            </a:pPr>
            <a:r>
              <a:rPr lang="zh-CN" altLang="en-US" sz="2400" dirty="0">
                <a:latin typeface="Times New Roman" panose="02020603050405020304" pitchFamily="18" charset="0"/>
              </a:rPr>
              <a:t>基址和变址寄存器中的内容都可以改变；</a:t>
            </a:r>
            <a:endParaRPr lang="zh-CN" altLang="en-US" sz="2400" dirty="0">
              <a:latin typeface="Times New Roman" panose="02020603050405020304" pitchFamily="18" charset="0"/>
            </a:endParaRPr>
          </a:p>
          <a:p>
            <a:pPr lvl="1" eaLnBrk="1" hangingPunct="1">
              <a:spcBef>
                <a:spcPts val="1200"/>
              </a:spcBef>
            </a:pP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1"/>
          <p:cNvSpPr>
            <a:spLocks noGrp="1"/>
          </p:cNvSpPr>
          <p:nvPr>
            <p:ph type="title"/>
          </p:nvPr>
        </p:nvSpPr>
        <p:spPr>
          <a:noFill/>
          <a:ln>
            <a:noFill/>
          </a:ln>
        </p:spPr>
        <p:txBody>
          <a:bodyPr anchor="t" anchorCtr="0"/>
          <a:p>
            <a:r>
              <a:rPr lang="zh-CN" altLang="en-US" dirty="0"/>
              <a:t>讨论和总结</a:t>
            </a:r>
            <a:endParaRPr lang="zh-CN" altLang="en-US" dirty="0"/>
          </a:p>
        </p:txBody>
      </p:sp>
      <p:sp>
        <p:nvSpPr>
          <p:cNvPr id="73730" name="内容占位符 2"/>
          <p:cNvSpPr>
            <a:spLocks noGrp="1"/>
          </p:cNvSpPr>
          <p:nvPr>
            <p:ph idx="1"/>
          </p:nvPr>
        </p:nvSpPr>
        <p:spPr>
          <a:noFill/>
          <a:ln>
            <a:noFill/>
          </a:ln>
        </p:spPr>
        <p:txBody>
          <a:bodyPr anchor="t" anchorCtr="0"/>
          <a:p>
            <a:pPr>
              <a:lnSpc>
                <a:spcPct val="150000"/>
              </a:lnSpc>
            </a:pPr>
            <a:r>
              <a:rPr lang="zh-CN" altLang="en-US" dirty="0"/>
              <a:t>设置不同寻址方式的目的是什么？</a:t>
            </a:r>
            <a:endParaRPr lang="en-US" altLang="zh-CN" dirty="0"/>
          </a:p>
          <a:p>
            <a:pPr>
              <a:lnSpc>
                <a:spcPct val="150000"/>
              </a:lnSpc>
            </a:pPr>
            <a:r>
              <a:rPr lang="zh-CN" altLang="en-US" dirty="0"/>
              <a:t>寻址方式的种类越多越好吗？</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3.3 </a:t>
            </a:r>
            <a:r>
              <a:rPr lang="zh-CN" altLang="en-US" dirty="0">
                <a:latin typeface="Times New Roman" panose="02020603050405020304" pitchFamily="18" charset="0"/>
              </a:rPr>
              <a:t>堆栈与堆栈操作 </a:t>
            </a:r>
            <a:endParaRPr lang="zh-CN" altLang="en-US" dirty="0">
              <a:latin typeface="Times New Roman" panose="02020603050405020304" pitchFamily="18" charset="0"/>
            </a:endParaRPr>
          </a:p>
        </p:txBody>
      </p:sp>
      <p:sp>
        <p:nvSpPr>
          <p:cNvPr id="74754" name="内容占位符 2"/>
          <p:cNvSpPr>
            <a:spLocks noGrp="1"/>
          </p:cNvSpPr>
          <p:nvPr>
            <p:ph idx="1"/>
          </p:nvPr>
        </p:nvSpPr>
        <p:spPr>
          <a:noFill/>
          <a:ln>
            <a:noFill/>
          </a:ln>
        </p:spPr>
        <p:txBody>
          <a:bodyPr anchor="t" anchorCtr="0"/>
          <a:p>
            <a:pPr>
              <a:lnSpc>
                <a:spcPct val="130000"/>
              </a:lnSpc>
            </a:pPr>
            <a:r>
              <a:rPr lang="zh-CN" altLang="en-US" dirty="0">
                <a:latin typeface="Times New Roman" panose="02020603050405020304" pitchFamily="18" charset="0"/>
              </a:rPr>
              <a:t>堆栈：</a:t>
            </a:r>
            <a:endParaRPr lang="zh-CN" altLang="en-US" dirty="0">
              <a:latin typeface="Times New Roman" panose="02020603050405020304" pitchFamily="18" charset="0"/>
            </a:endParaRPr>
          </a:p>
          <a:p>
            <a:pPr lvl="1">
              <a:lnSpc>
                <a:spcPct val="130000"/>
              </a:lnSpc>
            </a:pPr>
            <a:r>
              <a:rPr lang="zh-CN" altLang="en-US" dirty="0">
                <a:latin typeface="Times New Roman" panose="02020603050405020304" pitchFamily="18" charset="0"/>
              </a:rPr>
              <a:t>一种</a:t>
            </a:r>
            <a:r>
              <a:rPr lang="zh-CN" altLang="en-US" dirty="0">
                <a:solidFill>
                  <a:srgbClr val="FF0000"/>
                </a:solidFill>
                <a:latin typeface="Times New Roman" panose="02020603050405020304" pitchFamily="18" charset="0"/>
              </a:rPr>
              <a:t>按特定顺序进行存取的存储区；</a:t>
            </a:r>
            <a:endParaRPr lang="zh-CN" altLang="en-US" dirty="0">
              <a:solidFill>
                <a:srgbClr val="FF0000"/>
              </a:solidFill>
              <a:latin typeface="Times New Roman" panose="02020603050405020304" pitchFamily="18" charset="0"/>
            </a:endParaRPr>
          </a:p>
          <a:p>
            <a:pPr lvl="1">
              <a:lnSpc>
                <a:spcPct val="130000"/>
              </a:lnSpc>
            </a:pPr>
            <a:r>
              <a:rPr lang="zh-CN" altLang="en-US" dirty="0">
                <a:latin typeface="Times New Roman" panose="02020603050405020304" pitchFamily="18" charset="0"/>
              </a:rPr>
              <a:t>后进先出（</a:t>
            </a:r>
            <a:r>
              <a:rPr lang="en-US" altLang="zh-CN" dirty="0">
                <a:latin typeface="Times New Roman" panose="02020603050405020304" pitchFamily="18" charset="0"/>
              </a:rPr>
              <a:t>LIFO</a:t>
            </a:r>
            <a:r>
              <a:rPr lang="zh-CN" altLang="en-US" dirty="0">
                <a:latin typeface="Times New Roman" panose="02020603050405020304" pitchFamily="18" charset="0"/>
              </a:rPr>
              <a:t>）或先进后出（</a:t>
            </a:r>
            <a:r>
              <a:rPr lang="en-US" altLang="zh-CN" dirty="0">
                <a:latin typeface="Times New Roman" panose="02020603050405020304" pitchFamily="18" charset="0"/>
              </a:rPr>
              <a:t>FILO</a:t>
            </a:r>
            <a:r>
              <a:rPr lang="zh-CN" altLang="en-US"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3.3.1 </a:t>
            </a:r>
            <a:r>
              <a:rPr lang="zh-CN" altLang="en-US" dirty="0">
                <a:latin typeface="Times New Roman" panose="02020603050405020304" pitchFamily="18" charset="0"/>
              </a:rPr>
              <a:t>堆栈结构</a:t>
            </a:r>
            <a:endParaRPr lang="zh-CN" altLang="en-US" dirty="0">
              <a:latin typeface="Times New Roman" panose="02020603050405020304" pitchFamily="18" charset="0"/>
            </a:endParaRPr>
          </a:p>
        </p:txBody>
      </p:sp>
      <p:sp>
        <p:nvSpPr>
          <p:cNvPr id="75778" name="内容占位符 2"/>
          <p:cNvSpPr>
            <a:spLocks noGrp="1"/>
          </p:cNvSpPr>
          <p:nvPr>
            <p:ph idx="1"/>
          </p:nvPr>
        </p:nvSpPr>
        <p:spPr>
          <a:noFill/>
          <a:ln>
            <a:noFill/>
          </a:ln>
        </p:spPr>
        <p:txBody>
          <a:bodyPr anchor="t" anchorCtr="0"/>
          <a:p>
            <a:pPr>
              <a:lnSpc>
                <a:spcPct val="120000"/>
              </a:lnSpc>
            </a:pPr>
            <a:r>
              <a:rPr lang="en-US" altLang="zh-CN" dirty="0">
                <a:latin typeface="Times New Roman" panose="02020603050405020304" pitchFamily="18" charset="0"/>
              </a:rPr>
              <a:t>1.</a:t>
            </a:r>
            <a:r>
              <a:rPr lang="zh-CN" altLang="en-US" dirty="0">
                <a:latin typeface="Times New Roman" panose="02020603050405020304" pitchFamily="18" charset="0"/>
              </a:rPr>
              <a:t>寄存器堆栈</a:t>
            </a:r>
            <a:endParaRPr lang="zh-CN" altLang="en-US" dirty="0">
              <a:latin typeface="Times New Roman" panose="02020603050405020304" pitchFamily="18" charset="0"/>
            </a:endParaRPr>
          </a:p>
          <a:p>
            <a:pPr lvl="1">
              <a:lnSpc>
                <a:spcPct val="120000"/>
              </a:lnSpc>
              <a:spcBef>
                <a:spcPts val="1800"/>
              </a:spcBef>
            </a:pPr>
            <a:r>
              <a:rPr lang="zh-CN" altLang="en-US" dirty="0">
                <a:latin typeface="Times New Roman" panose="02020603050405020304" pitchFamily="18" charset="0"/>
              </a:rPr>
              <a:t>用一组专门的寄存器构成，又称为</a:t>
            </a:r>
            <a:r>
              <a:rPr lang="zh-CN" altLang="en-US" dirty="0">
                <a:solidFill>
                  <a:srgbClr val="FF0000"/>
                </a:solidFill>
                <a:latin typeface="Times New Roman" panose="02020603050405020304" pitchFamily="18" charset="0"/>
              </a:rPr>
              <a:t>硬堆栈</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nSpc>
                <a:spcPct val="120000"/>
              </a:lnSpc>
              <a:spcBef>
                <a:spcPts val="1200"/>
              </a:spcBef>
            </a:pPr>
            <a:r>
              <a:rPr lang="zh-CN" altLang="en-US" dirty="0">
                <a:solidFill>
                  <a:srgbClr val="FF0000"/>
                </a:solidFill>
                <a:latin typeface="Times New Roman" panose="02020603050405020304" pitchFamily="18" charset="0"/>
              </a:rPr>
              <a:t>栈顶固定</a:t>
            </a:r>
            <a:r>
              <a:rPr lang="zh-CN" altLang="en-US" dirty="0">
                <a:latin typeface="Times New Roman" panose="02020603050405020304" pitchFamily="18" charset="0"/>
              </a:rPr>
              <a:t>，寄存器组中各寄存器相互连接；</a:t>
            </a:r>
            <a:endParaRPr lang="zh-CN" altLang="en-US" dirty="0">
              <a:latin typeface="Times New Roman" panose="02020603050405020304" pitchFamily="18" charset="0"/>
            </a:endParaRPr>
          </a:p>
          <a:p>
            <a:pPr lvl="1">
              <a:lnSpc>
                <a:spcPct val="120000"/>
              </a:lnSpc>
              <a:spcBef>
                <a:spcPts val="1200"/>
              </a:spcBef>
            </a:pPr>
            <a:r>
              <a:rPr lang="zh-CN" altLang="en-US" dirty="0">
                <a:latin typeface="Times New Roman" panose="02020603050405020304" pitchFamily="18" charset="0"/>
              </a:rPr>
              <a:t>具有对应位自动推移的功能，即可将一个寄存器的内容推移到相邻的另一个寄存器中去。</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寄存器堆栈</a:t>
            </a:r>
            <a:endParaRPr lang="zh-CN" altLang="en-US" dirty="0">
              <a:latin typeface="Times New Roman" panose="02020603050405020304" pitchFamily="18" charset="0"/>
            </a:endParaRPr>
          </a:p>
        </p:txBody>
      </p:sp>
      <p:graphicFrame>
        <p:nvGraphicFramePr>
          <p:cNvPr id="76802" name="Object 3"/>
          <p:cNvGraphicFramePr>
            <a:graphicFrameLocks noChangeAspect="1"/>
          </p:cNvGraphicFramePr>
          <p:nvPr/>
        </p:nvGraphicFramePr>
        <p:xfrm>
          <a:off x="1181100" y="1125538"/>
          <a:ext cx="6781800" cy="4689475"/>
        </p:xfrm>
        <a:graphic>
          <a:graphicData uri="http://schemas.openxmlformats.org/presentationml/2006/ole">
            <mc:AlternateContent xmlns:mc="http://schemas.openxmlformats.org/markup-compatibility/2006">
              <mc:Choice xmlns:v="urn:schemas-microsoft-com:vml" Requires="v">
                <p:oleObj spid="_x0000_s3079" name="" r:id="rId1" imgW="3185160" imgH="2461260" progId="Visio.Drawing.6">
                  <p:embed/>
                </p:oleObj>
              </mc:Choice>
              <mc:Fallback>
                <p:oleObj name="" r:id="rId1" imgW="3185160" imgH="2461260" progId="Visio.Drawing.6">
                  <p:embed/>
                  <p:pic>
                    <p:nvPicPr>
                      <p:cNvPr id="0" name="图片 3078"/>
                      <p:cNvPicPr/>
                      <p:nvPr/>
                    </p:nvPicPr>
                    <p:blipFill>
                      <a:blip r:embed="rId2"/>
                      <a:stretch>
                        <a:fillRect/>
                      </a:stretch>
                    </p:blipFill>
                    <p:spPr>
                      <a:xfrm>
                        <a:off x="1181100" y="1125538"/>
                        <a:ext cx="6781800" cy="4689475"/>
                      </a:xfrm>
                      <a:prstGeom prst="rect">
                        <a:avLst/>
                      </a:prstGeom>
                      <a:noFill/>
                      <a:ln w="38100">
                        <a:noFill/>
                        <a:miter/>
                      </a:ln>
                    </p:spPr>
                  </p:pic>
                </p:oleObj>
              </mc:Fallback>
            </mc:AlternateContent>
          </a:graphicData>
        </a:graphic>
      </p:graphicFrame>
      <p:sp>
        <p:nvSpPr>
          <p:cNvPr id="5" name="Rectangle 4"/>
          <p:cNvSpPr txBox="1">
            <a:spLocks noChangeArrowheads="1"/>
          </p:cNvSpPr>
          <p:nvPr/>
        </p:nvSpPr>
        <p:spPr bwMode="auto">
          <a:xfrm>
            <a:off x="1855788" y="6021388"/>
            <a:ext cx="5432425" cy="501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图3-14 寄存器堆栈结构</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存储器堆栈</a:t>
            </a:r>
            <a:endParaRPr lang="zh-CN" altLang="en-US" dirty="0">
              <a:latin typeface="Times New Roman" panose="02020603050405020304" pitchFamily="18" charset="0"/>
            </a:endParaRPr>
          </a:p>
        </p:txBody>
      </p:sp>
      <p:sp>
        <p:nvSpPr>
          <p:cNvPr id="77826" name="内容占位符 2"/>
          <p:cNvSpPr>
            <a:spLocks noGrp="1"/>
          </p:cNvSpPr>
          <p:nvPr>
            <p:ph idx="1"/>
          </p:nvPr>
        </p:nvSpPr>
        <p:spPr>
          <a:xfrm>
            <a:off x="455613" y="1417638"/>
            <a:ext cx="7716837" cy="2900362"/>
          </a:xfrm>
          <a:noFill/>
          <a:ln>
            <a:noFill/>
          </a:ln>
        </p:spPr>
        <p:txBody>
          <a:bodyPr anchor="t" anchorCtr="0"/>
          <a:p>
            <a:pPr>
              <a:lnSpc>
                <a:spcPct val="120000"/>
              </a:lnSpc>
            </a:pPr>
            <a:r>
              <a:rPr lang="zh-CN" altLang="en-US" dirty="0">
                <a:latin typeface="Times New Roman" panose="02020603050405020304" pitchFamily="18" charset="0"/>
              </a:rPr>
              <a:t>从主存中划出一段区域作堆栈，又称为</a:t>
            </a:r>
            <a:r>
              <a:rPr lang="zh-CN" altLang="en-US" dirty="0">
                <a:solidFill>
                  <a:srgbClr val="FF0000"/>
                </a:solidFill>
                <a:latin typeface="Times New Roman" panose="02020603050405020304" pitchFamily="18" charset="0"/>
              </a:rPr>
              <a:t>软堆栈</a:t>
            </a:r>
            <a:endParaRPr lang="zh-CN" altLang="en-US" dirty="0">
              <a:solidFill>
                <a:srgbClr val="FF0000"/>
              </a:solidFill>
              <a:latin typeface="Times New Roman" panose="02020603050405020304" pitchFamily="18" charset="0"/>
            </a:endParaRPr>
          </a:p>
          <a:p>
            <a:pPr lvl="1">
              <a:lnSpc>
                <a:spcPct val="120000"/>
              </a:lnSpc>
            </a:pPr>
            <a:r>
              <a:rPr lang="zh-CN" altLang="en-US" dirty="0">
                <a:latin typeface="Times New Roman" panose="02020603050405020304" pitchFamily="18" charset="0"/>
              </a:rPr>
              <a:t>堆栈的大小可变，栈底固定，栈顶浮动；</a:t>
            </a:r>
            <a:endParaRPr lang="zh-CN" altLang="en-US" dirty="0">
              <a:latin typeface="Times New Roman" panose="02020603050405020304" pitchFamily="18" charset="0"/>
            </a:endParaRPr>
          </a:p>
          <a:p>
            <a:pPr lvl="1">
              <a:lnSpc>
                <a:spcPct val="120000"/>
              </a:lnSpc>
            </a:pPr>
            <a:r>
              <a:rPr lang="zh-CN" altLang="en-US" dirty="0">
                <a:latin typeface="Times New Roman" panose="02020603050405020304" pitchFamily="18" charset="0"/>
              </a:rPr>
              <a:t>专门的硬件寄存器作为堆栈栈顶指针SP；</a:t>
            </a:r>
            <a:endParaRPr lang="zh-CN" altLang="en-US" dirty="0">
              <a:latin typeface="Times New Roman" panose="02020603050405020304" pitchFamily="18" charset="0"/>
            </a:endParaRPr>
          </a:p>
          <a:p>
            <a:pPr lvl="1">
              <a:lnSpc>
                <a:spcPct val="120000"/>
              </a:lnSpc>
            </a:pPr>
            <a:r>
              <a:rPr lang="zh-CN" altLang="en-US" dirty="0">
                <a:latin typeface="Times New Roman" panose="02020603050405020304" pitchFamily="18" charset="0"/>
              </a:rPr>
              <a:t>栈指针所指定的主存单元，就是堆栈栈顶。</a:t>
            </a:r>
            <a:endParaRPr lang="en-US" altLang="zh-CN" dirty="0">
              <a:latin typeface="Times New Roman" panose="02020603050405020304" pitchFamily="18" charset="0"/>
            </a:endParaRPr>
          </a:p>
        </p:txBody>
      </p:sp>
      <p:sp>
        <p:nvSpPr>
          <p:cNvPr id="6" name="矩形 5"/>
          <p:cNvSpPr/>
          <p:nvPr/>
        </p:nvSpPr>
        <p:spPr>
          <a:xfrm>
            <a:off x="1209675" y="4821238"/>
            <a:ext cx="3436938" cy="425450"/>
          </a:xfrm>
          <a:prstGeom prst="rect">
            <a:avLst/>
          </a:prstGeom>
        </p:spPr>
        <p:txBody>
          <a:bodyPr wrap="none">
            <a:spAutoFit/>
          </a:bodyPr>
          <a:lstStyle/>
          <a:p>
            <a:pPr marL="342900" marR="0" lvl="0" indent="-342900" algn="l" defTabSz="914400" rtl="0" eaLnBrk="1" fontAlgn="base" latinLnBrk="0" hangingPunct="1">
              <a:lnSpc>
                <a:spcPct val="90000"/>
              </a:lnSpc>
              <a:spcBef>
                <a:spcPct val="20000"/>
              </a:spcBef>
              <a:spcAft>
                <a:spcPct val="0"/>
              </a:spcAft>
              <a:buClr>
                <a:srgbClr val="6E815B"/>
              </a:buClr>
              <a:buSzTx/>
              <a:buFontTx/>
              <a:buNone/>
              <a:defRPr/>
            </a:pPr>
            <a:r>
              <a:rPr kumimoji="0" lang="zh-CN" altLang="en-US" sz="24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rPr>
              <a:t>图3-15 存储器堆栈结构</a:t>
            </a:r>
            <a:endParaRPr kumimoji="0" lang="zh-CN" altLang="en-US" sz="24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AutoShape 4"/>
          <p:cNvSpPr/>
          <p:nvPr/>
        </p:nvSpPr>
        <p:spPr>
          <a:xfrm>
            <a:off x="5969000" y="4224338"/>
            <a:ext cx="485775" cy="1981200"/>
          </a:xfrm>
          <a:prstGeom prst="upArrow">
            <a:avLst>
              <a:gd name="adj1" fmla="val 50000"/>
              <a:gd name="adj2" fmla="val 101904"/>
            </a:avLst>
          </a:prstGeom>
          <a:solidFill>
            <a:srgbClr val="00CC00"/>
          </a:solidFill>
          <a:ln w="952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华文行楷" panose="02010800040101010101" pitchFamily="2" charset="-122"/>
            </a:endParaRPr>
          </a:p>
        </p:txBody>
      </p:sp>
      <p:grpSp>
        <p:nvGrpSpPr>
          <p:cNvPr id="77829" name="Group 5"/>
          <p:cNvGrpSpPr/>
          <p:nvPr/>
        </p:nvGrpSpPr>
        <p:grpSpPr>
          <a:xfrm>
            <a:off x="4826000" y="3919538"/>
            <a:ext cx="3581400" cy="2378075"/>
            <a:chOff x="2736" y="2352"/>
            <a:chExt cx="2256" cy="1498"/>
          </a:xfrm>
        </p:grpSpPr>
        <p:sp>
          <p:nvSpPr>
            <p:cNvPr id="77830" name="Line 6"/>
            <p:cNvSpPr/>
            <p:nvPr/>
          </p:nvSpPr>
          <p:spPr>
            <a:xfrm>
              <a:off x="3024" y="2352"/>
              <a:ext cx="0" cy="1440"/>
            </a:xfrm>
            <a:prstGeom prst="line">
              <a:avLst/>
            </a:prstGeom>
            <a:ln w="9525" cap="flat" cmpd="sng">
              <a:solidFill>
                <a:srgbClr val="000000"/>
              </a:solidFill>
              <a:prstDash val="solid"/>
              <a:round/>
              <a:headEnd type="none" w="med" len="med"/>
              <a:tailEnd type="none" w="med" len="med"/>
            </a:ln>
          </p:spPr>
        </p:sp>
        <p:sp>
          <p:nvSpPr>
            <p:cNvPr id="77831" name="Line 7"/>
            <p:cNvSpPr/>
            <p:nvPr/>
          </p:nvSpPr>
          <p:spPr>
            <a:xfrm>
              <a:off x="3024" y="3792"/>
              <a:ext cx="1152" cy="0"/>
            </a:xfrm>
            <a:prstGeom prst="line">
              <a:avLst/>
            </a:prstGeom>
            <a:ln w="9525" cap="flat" cmpd="sng">
              <a:solidFill>
                <a:srgbClr val="000000"/>
              </a:solidFill>
              <a:prstDash val="solid"/>
              <a:round/>
              <a:headEnd type="none" w="med" len="med"/>
              <a:tailEnd type="none" w="med" len="med"/>
            </a:ln>
          </p:spPr>
        </p:sp>
        <p:sp>
          <p:nvSpPr>
            <p:cNvPr id="77832" name="Line 8"/>
            <p:cNvSpPr/>
            <p:nvPr/>
          </p:nvSpPr>
          <p:spPr>
            <a:xfrm>
              <a:off x="4176" y="2352"/>
              <a:ext cx="0" cy="1440"/>
            </a:xfrm>
            <a:prstGeom prst="line">
              <a:avLst/>
            </a:prstGeom>
            <a:ln w="9525" cap="flat" cmpd="sng">
              <a:solidFill>
                <a:srgbClr val="000000"/>
              </a:solidFill>
              <a:prstDash val="solid"/>
              <a:round/>
              <a:headEnd type="none" w="med" len="med"/>
              <a:tailEnd type="none" w="med" len="med"/>
            </a:ln>
          </p:spPr>
        </p:sp>
        <p:sp>
          <p:nvSpPr>
            <p:cNvPr id="77833" name="Text Box 9"/>
            <p:cNvSpPr txBox="1"/>
            <p:nvPr/>
          </p:nvSpPr>
          <p:spPr>
            <a:xfrm>
              <a:off x="4224" y="3600"/>
              <a:ext cx="768" cy="250"/>
            </a:xfrm>
            <a:prstGeom prst="rect">
              <a:avLst/>
            </a:prstGeom>
            <a:noFill/>
            <a:ln w="9525">
              <a:noFill/>
            </a:ln>
          </p:spPr>
          <p:txBody>
            <a:bodyPr anchor="t" anchorCtr="0">
              <a:spAutoFit/>
            </a:bodyPr>
            <a:p>
              <a:pPr eaLnBrk="0" hangingPunct="0">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高地址</a:t>
              </a:r>
              <a:endParaRPr lang="zh-CN" altLang="en-US" sz="2000" b="1" dirty="0">
                <a:solidFill>
                  <a:srgbClr val="800000"/>
                </a:solidFill>
                <a:latin typeface="Times New Roman" panose="02020603050405020304" pitchFamily="18" charset="0"/>
                <a:ea typeface="宋体" panose="02010600030101010101" pitchFamily="2" charset="-122"/>
              </a:endParaRPr>
            </a:p>
          </p:txBody>
        </p:sp>
        <p:sp>
          <p:nvSpPr>
            <p:cNvPr id="77834" name="Text Box 10"/>
            <p:cNvSpPr txBox="1"/>
            <p:nvPr/>
          </p:nvSpPr>
          <p:spPr>
            <a:xfrm>
              <a:off x="4224" y="2352"/>
              <a:ext cx="768" cy="250"/>
            </a:xfrm>
            <a:prstGeom prst="rect">
              <a:avLst/>
            </a:prstGeom>
            <a:noFill/>
            <a:ln w="9525">
              <a:noFill/>
            </a:ln>
          </p:spPr>
          <p:txBody>
            <a:bodyPr anchor="t" anchorCtr="0">
              <a:spAutoFit/>
            </a:bodyPr>
            <a:p>
              <a:pPr eaLnBrk="0" hangingPunct="0">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低地址</a:t>
              </a:r>
              <a:endParaRPr lang="zh-CN" altLang="en-US" sz="2000" b="1" dirty="0">
                <a:solidFill>
                  <a:srgbClr val="800000"/>
                </a:solidFill>
                <a:latin typeface="Times New Roman" panose="02020603050405020304" pitchFamily="18" charset="0"/>
                <a:ea typeface="宋体" panose="02010600030101010101" pitchFamily="2" charset="-122"/>
              </a:endParaRPr>
            </a:p>
          </p:txBody>
        </p:sp>
        <p:sp>
          <p:nvSpPr>
            <p:cNvPr id="77835" name="Text Box 11"/>
            <p:cNvSpPr txBox="1"/>
            <p:nvPr/>
          </p:nvSpPr>
          <p:spPr>
            <a:xfrm>
              <a:off x="2736" y="2688"/>
              <a:ext cx="308" cy="768"/>
            </a:xfrm>
            <a:prstGeom prst="rect">
              <a:avLst/>
            </a:prstGeom>
            <a:noFill/>
            <a:ln w="9525">
              <a:noFill/>
            </a:ln>
          </p:spPr>
          <p:txBody>
            <a:bodyPr vert="eaVert" anchor="t" anchorCtr="0">
              <a:spAutoFit/>
            </a:bodyPr>
            <a:p>
              <a:pPr eaLnBrk="0" hangingPunct="0">
                <a:spcBef>
                  <a:spcPct val="50000"/>
                </a:spcBef>
              </a:pPr>
              <a:r>
                <a:rPr lang="zh-CN" altLang="en-US" sz="2000" dirty="0">
                  <a:solidFill>
                    <a:srgbClr val="800000"/>
                  </a:solidFill>
                  <a:latin typeface="Times New Roman" panose="02020603050405020304" pitchFamily="18" charset="0"/>
                  <a:ea typeface="宋体" panose="02010600030101010101" pitchFamily="2" charset="-122"/>
                </a:rPr>
                <a:t>堆栈区</a:t>
              </a:r>
              <a:endParaRPr lang="zh-CN" altLang="en-US" sz="2000" dirty="0">
                <a:solidFill>
                  <a:srgbClr val="80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自底向上生成堆栈的进栈</a:t>
            </a:r>
            <a:endParaRPr lang="zh-CN" altLang="en-US" dirty="0">
              <a:latin typeface="Times New Roman" panose="02020603050405020304" pitchFamily="18" charset="0"/>
              <a:ea typeface="Times New Roman" panose="02020603050405020304" pitchFamily="18" charset="0"/>
            </a:endParaRPr>
          </a:p>
        </p:txBody>
      </p:sp>
      <p:sp>
        <p:nvSpPr>
          <p:cNvPr id="78850" name="内容占位符 2"/>
          <p:cNvSpPr>
            <a:spLocks noGrp="1"/>
          </p:cNvSpPr>
          <p:nvPr>
            <p:ph idx="1"/>
          </p:nvPr>
        </p:nvSpPr>
        <p:spPr>
          <a:xfrm>
            <a:off x="457200" y="1417638"/>
            <a:ext cx="8229600" cy="1541462"/>
          </a:xfrm>
          <a:noFill/>
          <a:ln>
            <a:noFill/>
          </a:ln>
        </p:spPr>
        <p:txBody>
          <a:bodyPr anchor="t" anchorCtr="0"/>
          <a:p>
            <a:r>
              <a:rPr lang="zh-CN" altLang="en-US" dirty="0">
                <a:latin typeface="Times New Roman" panose="02020603050405020304" pitchFamily="18" charset="0"/>
              </a:rPr>
              <a:t>堆栈的</a:t>
            </a:r>
            <a:r>
              <a:rPr lang="zh-CN" altLang="en-US" dirty="0">
                <a:solidFill>
                  <a:srgbClr val="FF0000"/>
                </a:solidFill>
                <a:latin typeface="Times New Roman" panose="02020603050405020304" pitchFamily="18" charset="0"/>
              </a:rPr>
              <a:t>栈底地址大于栈顶地址</a:t>
            </a:r>
            <a:r>
              <a:rPr lang="zh-CN" altLang="en-US" dirty="0">
                <a:latin typeface="Times New Roman" panose="02020603050405020304" pitchFamily="18" charset="0"/>
              </a:rPr>
              <a:t>，通常栈指针始终指向栈顶的满单元。</a:t>
            </a:r>
            <a:endParaRPr lang="zh-CN" altLang="en-US" dirty="0">
              <a:latin typeface="Times New Roman" panose="02020603050405020304" pitchFamily="18" charset="0"/>
            </a:endParaRPr>
          </a:p>
          <a:p>
            <a:pPr latinLnBrk="0">
              <a:spcBef>
                <a:spcPts val="1200"/>
              </a:spcBef>
            </a:pPr>
            <a:r>
              <a:rPr lang="zh-CN" altLang="en-US" dirty="0">
                <a:latin typeface="Times New Roman" panose="02020603050405020304" pitchFamily="18" charset="0"/>
              </a:rPr>
              <a:t>进栈：</a:t>
            </a:r>
            <a:r>
              <a:rPr lang="en-US" altLang="zh-CN" dirty="0">
                <a:latin typeface="Times New Roman" panose="02020603050405020304" pitchFamily="18" charset="0"/>
              </a:rPr>
              <a:t>SP</a:t>
            </a:r>
            <a:r>
              <a:rPr lang="zh-CN" altLang="en-US" dirty="0">
                <a:latin typeface="Times New Roman" panose="02020603050405020304" pitchFamily="18" charset="0"/>
              </a:rPr>
              <a:t>的内容先自动减</a:t>
            </a:r>
            <a:r>
              <a:rPr lang="en-US" altLang="zh-CN" dirty="0">
                <a:latin typeface="Times New Roman" panose="02020603050405020304" pitchFamily="18" charset="0"/>
              </a:rPr>
              <a:t>1</a:t>
            </a:r>
            <a:r>
              <a:rPr lang="zh-CN" altLang="en-US" dirty="0">
                <a:latin typeface="Times New Roman" panose="02020603050405020304" pitchFamily="18" charset="0"/>
              </a:rPr>
              <a:t>，再将数据压入堆栈 </a:t>
            </a:r>
            <a:endParaRPr lang="zh-CN" altLang="en-US" dirty="0">
              <a:latin typeface="Times New Roman" panose="02020603050405020304" pitchFamily="18" charset="0"/>
              <a:ea typeface="Times New Roman" panose="02020603050405020304" pitchFamily="18" charset="0"/>
            </a:endParaRPr>
          </a:p>
        </p:txBody>
      </p:sp>
      <p:pic>
        <p:nvPicPr>
          <p:cNvPr id="78851" name="图片 3"/>
          <p:cNvPicPr>
            <a:picLocks noChangeAspect="1"/>
          </p:cNvPicPr>
          <p:nvPr/>
        </p:nvPicPr>
        <p:blipFill>
          <a:blip r:embed="rId1"/>
          <a:stretch>
            <a:fillRect/>
          </a:stretch>
        </p:blipFill>
        <p:spPr>
          <a:xfrm>
            <a:off x="1319213" y="3160713"/>
            <a:ext cx="6985000" cy="3249612"/>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自底向上生成堆栈的出栈</a:t>
            </a:r>
            <a:endParaRPr lang="zh-CN" altLang="en-US" dirty="0">
              <a:latin typeface="Times New Roman" panose="02020603050405020304" pitchFamily="18" charset="0"/>
            </a:endParaRPr>
          </a:p>
        </p:txBody>
      </p:sp>
      <p:sp>
        <p:nvSpPr>
          <p:cNvPr id="79874" name="内容占位符 2"/>
          <p:cNvSpPr>
            <a:spLocks noGrp="1"/>
          </p:cNvSpPr>
          <p:nvPr>
            <p:ph idx="1"/>
          </p:nvPr>
        </p:nvSpPr>
        <p:spPr>
          <a:xfrm>
            <a:off x="457200" y="1598930"/>
            <a:ext cx="8362315" cy="1036320"/>
          </a:xfrm>
          <a:noFill/>
          <a:ln>
            <a:noFill/>
          </a:ln>
        </p:spPr>
        <p:txBody>
          <a:bodyPr anchor="t" anchorCtr="0"/>
          <a:p>
            <a:r>
              <a:rPr lang="zh-CN" altLang="en-US" dirty="0">
                <a:latin typeface="Times New Roman" panose="02020603050405020304" pitchFamily="18" charset="0"/>
              </a:rPr>
              <a:t>出栈：先将堆栈中的数据弹出，</a:t>
            </a:r>
            <a:r>
              <a:rPr lang="en-US" altLang="zh-CN" dirty="0">
                <a:latin typeface="Times New Roman" panose="02020603050405020304" pitchFamily="18" charset="0"/>
              </a:rPr>
              <a:t>SP</a:t>
            </a:r>
            <a:r>
              <a:rPr lang="zh-CN" altLang="en-US" dirty="0">
                <a:latin typeface="Times New Roman" panose="02020603050405020304" pitchFamily="18" charset="0"/>
              </a:rPr>
              <a:t>内容自动加</a:t>
            </a:r>
            <a:r>
              <a:rPr lang="en-US" altLang="zh-CN" dirty="0">
                <a:latin typeface="Times New Roman" panose="02020603050405020304" pitchFamily="18" charset="0"/>
              </a:rPr>
              <a:t>1</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pic>
        <p:nvPicPr>
          <p:cNvPr id="79875" name="图片 3"/>
          <p:cNvPicPr>
            <a:picLocks noChangeAspect="1"/>
          </p:cNvPicPr>
          <p:nvPr/>
        </p:nvPicPr>
        <p:blipFill>
          <a:blip r:embed="rId1"/>
          <a:stretch>
            <a:fillRect/>
          </a:stretch>
        </p:blipFill>
        <p:spPr>
          <a:xfrm>
            <a:off x="1115378" y="2276793"/>
            <a:ext cx="6910387" cy="365125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3.2.2 </a:t>
            </a:r>
            <a:r>
              <a:rPr lang="zh-CN" altLang="en-US" dirty="0">
                <a:latin typeface="Times New Roman" panose="02020603050405020304" pitchFamily="18" charset="0"/>
              </a:rPr>
              <a:t>堆栈操作</a:t>
            </a:r>
            <a:endParaRPr lang="zh-CN" altLang="en-US" dirty="0">
              <a:latin typeface="Times New Roman" panose="02020603050405020304" pitchFamily="18" charset="0"/>
            </a:endParaRPr>
          </a:p>
        </p:txBody>
      </p:sp>
      <p:sp>
        <p:nvSpPr>
          <p:cNvPr id="80898" name="内容占位符 2"/>
          <p:cNvSpPr>
            <a:spLocks noGrp="1"/>
          </p:cNvSpPr>
          <p:nvPr>
            <p:ph idx="1"/>
          </p:nvPr>
        </p:nvSpPr>
        <p:spPr>
          <a:xfrm>
            <a:off x="457200" y="1417638"/>
            <a:ext cx="8229600" cy="4708525"/>
          </a:xfrm>
          <a:noFill/>
          <a:ln>
            <a:noFill/>
          </a:ln>
        </p:spPr>
        <p:txBody>
          <a:bodyPr anchor="t" anchorCtr="0"/>
          <a:p>
            <a:pPr>
              <a:lnSpc>
                <a:spcPct val="110000"/>
              </a:lnSpc>
            </a:pPr>
            <a:r>
              <a:rPr lang="zh-CN" altLang="en-US" dirty="0">
                <a:latin typeface="Times New Roman" panose="02020603050405020304" pitchFamily="18" charset="0"/>
              </a:rPr>
              <a:t>堆栈操作：</a:t>
            </a:r>
            <a:endParaRPr lang="zh-CN" altLang="en-US" dirty="0">
              <a:latin typeface="Times New Roman" panose="02020603050405020304" pitchFamily="18" charset="0"/>
            </a:endParaRPr>
          </a:p>
          <a:p>
            <a:pPr lvl="1">
              <a:lnSpc>
                <a:spcPct val="110000"/>
              </a:lnSpc>
            </a:pPr>
            <a:r>
              <a:rPr lang="zh-CN" altLang="en-US" dirty="0">
                <a:latin typeface="Times New Roman" panose="02020603050405020304" pitchFamily="18" charset="0"/>
              </a:rPr>
              <a:t>不是在堆栈中移动和删除数据；</a:t>
            </a:r>
            <a:endParaRPr lang="zh-CN" altLang="en-US" dirty="0">
              <a:latin typeface="Times New Roman" panose="02020603050405020304" pitchFamily="18" charset="0"/>
            </a:endParaRPr>
          </a:p>
          <a:p>
            <a:pPr lvl="1">
              <a:lnSpc>
                <a:spcPct val="110000"/>
              </a:lnSpc>
            </a:pPr>
            <a:r>
              <a:rPr lang="zh-CN" altLang="en-US" dirty="0">
                <a:latin typeface="Times New Roman" panose="02020603050405020304" pitchFamily="18" charset="0"/>
              </a:rPr>
              <a:t>是通过调整堆栈指针，对栈顶位置数据操作；</a:t>
            </a:r>
            <a:endParaRPr lang="zh-CN" altLang="en-US" dirty="0">
              <a:latin typeface="Times New Roman" panose="02020603050405020304" pitchFamily="18" charset="0"/>
            </a:endParaRPr>
          </a:p>
          <a:p>
            <a:pPr lvl="1">
              <a:lnSpc>
                <a:spcPct val="110000"/>
              </a:lnSpc>
            </a:pPr>
            <a:r>
              <a:rPr lang="zh-CN" altLang="en-US" dirty="0">
                <a:latin typeface="Times New Roman" panose="02020603050405020304" pitchFamily="18" charset="0"/>
              </a:rPr>
              <a:t>一般只有进栈（压入）和出栈（弹出）两种。         </a:t>
            </a:r>
            <a:endParaRPr lang="zh-CN" altLang="en-US" dirty="0">
              <a:latin typeface="Times New Roman" panose="02020603050405020304" pitchFamily="18" charset="0"/>
            </a:endParaRPr>
          </a:p>
          <a:p>
            <a:pPr>
              <a:lnSpc>
                <a:spcPct val="110000"/>
              </a:lnSpc>
              <a:spcBef>
                <a:spcPts val="1800"/>
              </a:spcBef>
            </a:pPr>
            <a:r>
              <a:rPr lang="zh-CN" altLang="en-US" dirty="0">
                <a:latin typeface="Times New Roman" panose="02020603050405020304" pitchFamily="18" charset="0"/>
              </a:rPr>
              <a:t>在一般计算机中，堆栈主要用来：</a:t>
            </a:r>
            <a:endParaRPr lang="zh-CN" altLang="en-US" dirty="0">
              <a:latin typeface="Times New Roman" panose="02020603050405020304" pitchFamily="18" charset="0"/>
            </a:endParaRPr>
          </a:p>
          <a:p>
            <a:pPr lvl="1" latinLnBrk="0">
              <a:lnSpc>
                <a:spcPct val="110000"/>
              </a:lnSpc>
              <a:spcBef>
                <a:spcPts val="1200"/>
              </a:spcBef>
            </a:pPr>
            <a:r>
              <a:rPr lang="zh-CN" altLang="en-US" dirty="0">
                <a:solidFill>
                  <a:srgbClr val="FF0000"/>
                </a:solidFill>
                <a:latin typeface="Times New Roman" panose="02020603050405020304" pitchFamily="18" charset="0"/>
              </a:rPr>
              <a:t>暂存中断断点、子程序调用时的返回地址、状态标志及现场信息</a:t>
            </a:r>
            <a:r>
              <a:rPr lang="zh-CN" altLang="en-US" dirty="0">
                <a:latin typeface="Times New Roman" panose="02020603050405020304" pitchFamily="18" charset="0"/>
              </a:rPr>
              <a:t>等，也可用于</a:t>
            </a:r>
            <a:r>
              <a:rPr lang="zh-CN" altLang="en-US" dirty="0">
                <a:solidFill>
                  <a:srgbClr val="FF0000"/>
                </a:solidFill>
                <a:latin typeface="Times New Roman" panose="02020603050405020304" pitchFamily="18" charset="0"/>
              </a:rPr>
              <a:t>子程序调用时参数的传递</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3.2.2 </a:t>
            </a:r>
            <a:r>
              <a:rPr lang="zh-CN" altLang="en-US" dirty="0">
                <a:latin typeface="Times New Roman" panose="02020603050405020304" pitchFamily="18" charset="0"/>
              </a:rPr>
              <a:t>堆栈操作（续）</a:t>
            </a:r>
            <a:endParaRPr lang="zh-CN" altLang="en-US" dirty="0">
              <a:latin typeface="Times New Roman" panose="02020603050405020304" pitchFamily="18" charset="0"/>
            </a:endParaRPr>
          </a:p>
        </p:txBody>
      </p:sp>
      <p:sp>
        <p:nvSpPr>
          <p:cNvPr id="82946" name="内容占位符 2"/>
          <p:cNvSpPr>
            <a:spLocks noGrp="1"/>
          </p:cNvSpPr>
          <p:nvPr>
            <p:ph idx="1"/>
          </p:nvPr>
        </p:nvSpPr>
        <p:spPr>
          <a:xfrm>
            <a:off x="457200" y="1589088"/>
            <a:ext cx="8229600" cy="4525963"/>
          </a:xfrm>
          <a:noFill/>
          <a:ln>
            <a:noFill/>
          </a:ln>
        </p:spPr>
        <p:txBody>
          <a:bodyPr anchor="t"/>
          <a:p>
            <a:pPr marL="37465" marR="0" indent="305435" algn="l" defTabSz="914400" rtl="0" eaLnBrk="0" fontAlgn="base" latinLnBrk="0" hangingPunct="0">
              <a:lnSpc>
                <a:spcPct val="120000"/>
              </a:lnSpc>
              <a:spcBef>
                <a:spcPts val="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在堆栈计算机中：</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463550" marR="0" lvl="1" indent="279400" algn="l" defTabSz="914400" rtl="0" eaLnBrk="0" fontAlgn="base" latinLnBrk="0" hangingPunct="0">
              <a:lnSpc>
                <a:spcPct val="120000"/>
              </a:lnSpc>
              <a:spcBef>
                <a:spcPts val="12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堆栈是保存操作数和运算结果的唯一场所。</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463550" marR="0" lvl="1" indent="279400" algn="l" defTabSz="914400" rtl="0" eaLnBrk="0" fontAlgn="base" latinLnBrk="0" hangingPunct="0">
              <a:lnSpc>
                <a:spcPct val="120000"/>
              </a:lnSpc>
              <a:spcBef>
                <a:spcPts val="12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算术逻辑类指令没有地址码字段：</a:t>
            </a:r>
            <a:r>
              <a:rPr kumimoji="0" lang="zh-CN" altLang="en-US" sz="28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零地址指令</a:t>
            </a:r>
            <a:endParaRPr kumimoji="0" lang="zh-CN" altLang="en-US" sz="28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endParaRPr>
          </a:p>
          <a:p>
            <a:pPr marL="758190" marR="0" lvl="1" indent="-283845" algn="l" defTabSz="914400" rtl="0" eaLnBrk="0" fontAlgn="base" latinLnBrk="0" hangingPunct="0">
              <a:lnSpc>
                <a:spcPct val="120000"/>
              </a:lnSpc>
              <a:spcBef>
                <a:spcPts val="12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参加运算的操作数</a:t>
            </a:r>
            <a:r>
              <a:rPr kumimoji="0" lang="zh-CN" altLang="en-US" sz="28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隐含地从堆栈顶部弹出</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，运算的结果再</a:t>
            </a:r>
            <a:r>
              <a:rPr kumimoji="0" lang="zh-CN" altLang="en-US" sz="28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隐含地压入堆栈</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80415" marR="0" lvl="1" indent="-295275" algn="l" defTabSz="914400" rtl="0" eaLnBrk="0" fontAlgn="base" latinLnBrk="0" hangingPunct="0">
              <a:lnSpc>
                <a:spcPct val="120000"/>
              </a:lnSpc>
              <a:spcBef>
                <a:spcPts val="12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如果将算术表达式改写为逆波兰表达式，用零地址指令进行运算十分方便。</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3.2.2 </a:t>
            </a:r>
            <a:r>
              <a:rPr lang="zh-CN" altLang="en-US" dirty="0">
                <a:latin typeface="Times New Roman" panose="02020603050405020304" pitchFamily="18" charset="0"/>
              </a:rPr>
              <a:t>堆栈操作（续）</a:t>
            </a:r>
            <a:endParaRPr lang="zh-CN" altLang="en-US" dirty="0">
              <a:latin typeface="Times New Roman" panose="02020603050405020304" pitchFamily="18" charset="0"/>
            </a:endParaRPr>
          </a:p>
        </p:txBody>
      </p:sp>
      <p:sp>
        <p:nvSpPr>
          <p:cNvPr id="4" name="Rectangle 2"/>
          <p:cNvSpPr txBox="1">
            <a:spLocks noChangeArrowheads="1"/>
          </p:cNvSpPr>
          <p:nvPr/>
        </p:nvSpPr>
        <p:spPr bwMode="auto">
          <a:xfrm>
            <a:off x="762000" y="2089150"/>
            <a:ext cx="7924800" cy="4224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PUSH A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数据</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压入堆栈</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PUSH B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数据</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压入堆栈</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MUL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完成</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a×b</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PUSH C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数据</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压入堆栈</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PUSH D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数据</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压入堆栈</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DIV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完成</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c÷d</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ADD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完成</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a×b+c÷d</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POP X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结果存入</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单元</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90000"/>
              </a:lnSpc>
              <a:spcBef>
                <a:spcPts val="1800"/>
              </a:spcBef>
              <a:spcAft>
                <a:spcPct val="0"/>
              </a:spcAft>
              <a:buClr>
                <a:schemeClr val="hlink"/>
              </a:buClr>
              <a:buSzTx/>
              <a:buFontTx/>
              <a:buNone/>
              <a:defRP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执行一条零地址的双操作数运算指令：如果是软堆栈，需要访问4次主存；如果是硬堆栈，则只需要访问一次主存。</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p:txBody>
      </p:sp>
      <p:sp>
        <p:nvSpPr>
          <p:cNvPr id="5" name="灯片编号占位符 3"/>
          <p:cNvSpPr txBox="1"/>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1pPr>
            <a:lvl2pPr marL="742950" indent="-285750" algn="l" rtl="0" eaLnBrk="0" fontAlgn="base"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2pPr>
            <a:lvl3pPr marL="1143000" indent="-228600" algn="l" rtl="0" eaLnBrk="0" fontAlgn="base"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3pPr>
            <a:lvl4pPr marL="1600200" indent="-228600" algn="l" rtl="0" eaLnBrk="0" fontAlgn="base"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4pPr>
            <a:lvl5pPr marL="2057400" indent="-228600" algn="l" rtl="0" eaLnBrk="0" fontAlgn="base"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5pPr>
            <a:lvl6pPr marL="2514600" indent="-228600" algn="l" defTabSz="914400" rtl="0" eaLnBrk="0" fontAlgn="base" latinLnBrk="0"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6pPr>
            <a:lvl7pPr marL="2971800" indent="-228600" algn="l" defTabSz="914400" rtl="0" eaLnBrk="0" fontAlgn="base" latinLnBrk="0"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7pPr>
            <a:lvl8pPr marL="3429000" indent="-228600" algn="l" defTabSz="914400" rtl="0" eaLnBrk="0" fontAlgn="base" latinLnBrk="0"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8pPr>
            <a:lvl9pPr marL="3886200" indent="-228600" algn="l" defTabSz="914400" rtl="0" eaLnBrk="0" fontAlgn="base" latinLnBrk="0" hangingPunct="0">
              <a:spcBef>
                <a:spcPct val="0"/>
              </a:spcBef>
              <a:spcAft>
                <a:spcPct val="0"/>
              </a:spcAft>
              <a:defRPr kern="1200">
                <a:solidFill>
                  <a:schemeClr val="accent2"/>
                </a:solidFill>
                <a:latin typeface="Arial" panose="020B0604020202020204" pitchFamily="34" charset="0"/>
                <a:ea typeface="华文行楷" panose="0201080004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96A2987B-8B18-4963-A488-479B8BD74013}" type="slidenum">
              <a:rPr kumimoji="0" lang="zh-CN" altLang="en-US" sz="1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fld>
            <a:endParaRPr kumimoji="0" lang="zh-CN" altLang="en-US" sz="18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82948" name="文本框 2"/>
          <p:cNvSpPr txBox="1"/>
          <p:nvPr/>
        </p:nvSpPr>
        <p:spPr>
          <a:xfrm>
            <a:off x="609600" y="1193800"/>
            <a:ext cx="7826375" cy="830263"/>
          </a:xfrm>
          <a:prstGeom prst="rect">
            <a:avLst/>
          </a:prstGeom>
          <a:noFill/>
          <a:ln w="9525">
            <a:noFill/>
          </a:ln>
        </p:spPr>
        <p:txBody>
          <a:bodyPr wrap="square" anchor="t" anchorCtr="0">
            <a:spAutoFit/>
          </a:bodyPr>
          <a:p>
            <a:r>
              <a:rPr lang="zh-CN" altLang="en-US" sz="2400" dirty="0">
                <a:solidFill>
                  <a:schemeClr val="tx1"/>
                </a:solidFill>
                <a:latin typeface="Times New Roman" panose="02020603050405020304" pitchFamily="18" charset="0"/>
                <a:ea typeface="黑体" panose="02010609060101010101" pitchFamily="49" charset="-122"/>
              </a:rPr>
              <a:t>例如：有算术表达式a×b+c÷d，运算结果送x，这个算术表达式可以用逆波兰法表示成为ab×cd÷+。</a:t>
            </a:r>
            <a:endParaRPr lang="zh-CN" altLang="en-US" sz="24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3.4 </a:t>
            </a:r>
            <a:r>
              <a:rPr lang="zh-CN" altLang="en-US" dirty="0">
                <a:latin typeface="Times New Roman" panose="02020603050405020304" pitchFamily="18" charset="0"/>
              </a:rPr>
              <a:t>指令类型 </a:t>
            </a:r>
            <a:endParaRPr lang="zh-CN" altLang="en-US" dirty="0">
              <a:latin typeface="Times New Roman" panose="02020603050405020304" pitchFamily="18" charset="0"/>
            </a:endParaRPr>
          </a:p>
        </p:txBody>
      </p:sp>
      <p:sp>
        <p:nvSpPr>
          <p:cNvPr id="83970" name="内容占位符 2"/>
          <p:cNvSpPr>
            <a:spLocks noGrp="1"/>
          </p:cNvSpPr>
          <p:nvPr>
            <p:ph idx="1"/>
          </p:nvPr>
        </p:nvSpPr>
        <p:spPr>
          <a:noFill/>
          <a:ln>
            <a:noFill/>
          </a:ln>
        </p:spPr>
        <p:txBody>
          <a:bodyPr anchor="t" anchorCtr="0"/>
          <a:p>
            <a:pPr>
              <a:lnSpc>
                <a:spcPct val="130000"/>
              </a:lnSpc>
            </a:pPr>
            <a:r>
              <a:rPr lang="zh-CN" altLang="en-US" dirty="0">
                <a:latin typeface="Times New Roman" panose="02020603050405020304" pitchFamily="18" charset="0"/>
              </a:rPr>
              <a:t>一台计算机的指令系统可以有上百条指令，这些指令按其功能可以分成几种类型：</a:t>
            </a:r>
            <a:endParaRPr lang="zh-CN" altLang="en-US" dirty="0">
              <a:latin typeface="Times New Roman" panose="02020603050405020304" pitchFamily="18" charset="0"/>
            </a:endParaRPr>
          </a:p>
          <a:p>
            <a:pPr lvl="1">
              <a:lnSpc>
                <a:spcPct val="130000"/>
              </a:lnSpc>
            </a:pPr>
            <a:r>
              <a:rPr lang="zh-CN" altLang="en-US" dirty="0">
                <a:latin typeface="Times New Roman" panose="02020603050405020304" pitchFamily="18" charset="0"/>
              </a:rPr>
              <a:t>数据传送类；</a:t>
            </a:r>
            <a:endParaRPr lang="zh-CN" altLang="en-US" dirty="0">
              <a:latin typeface="Times New Roman" panose="02020603050405020304" pitchFamily="18" charset="0"/>
            </a:endParaRPr>
          </a:p>
          <a:p>
            <a:pPr lvl="1">
              <a:lnSpc>
                <a:spcPct val="130000"/>
              </a:lnSpc>
            </a:pPr>
            <a:r>
              <a:rPr lang="zh-CN" altLang="en-US" dirty="0">
                <a:latin typeface="Times New Roman" panose="02020603050405020304" pitchFamily="18" charset="0"/>
              </a:rPr>
              <a:t>运算类；</a:t>
            </a:r>
            <a:endParaRPr lang="zh-CN" altLang="en-US" dirty="0">
              <a:latin typeface="Times New Roman" panose="02020603050405020304" pitchFamily="18" charset="0"/>
            </a:endParaRPr>
          </a:p>
          <a:p>
            <a:pPr lvl="1">
              <a:lnSpc>
                <a:spcPct val="130000"/>
              </a:lnSpc>
            </a:pPr>
            <a:r>
              <a:rPr lang="zh-CN" altLang="en-US" dirty="0">
                <a:latin typeface="Times New Roman" panose="02020603050405020304" pitchFamily="18" charset="0"/>
              </a:rPr>
              <a:t>程序控制类；</a:t>
            </a:r>
            <a:endParaRPr lang="zh-CN" altLang="en-US" dirty="0">
              <a:latin typeface="Times New Roman" panose="02020603050405020304" pitchFamily="18" charset="0"/>
            </a:endParaRPr>
          </a:p>
          <a:p>
            <a:pPr lvl="1">
              <a:lnSpc>
                <a:spcPct val="130000"/>
              </a:lnSpc>
            </a:pPr>
            <a:r>
              <a:rPr lang="zh-CN" altLang="en-US" dirty="0">
                <a:latin typeface="Times New Roman" panose="02020603050405020304" pitchFamily="18" charset="0"/>
              </a:rPr>
              <a:t>输入输出类；</a:t>
            </a:r>
            <a:endParaRPr lang="zh-CN" altLang="en-US" dirty="0">
              <a:latin typeface="Times New Roman" panose="02020603050405020304" pitchFamily="18" charset="0"/>
            </a:endParaRPr>
          </a:p>
          <a:p>
            <a:pPr lvl="1">
              <a:lnSpc>
                <a:spcPct val="130000"/>
              </a:lnSpc>
            </a:pP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3.4.1  </a:t>
            </a:r>
            <a:r>
              <a:rPr lang="zh-CN" altLang="en-US" dirty="0">
                <a:latin typeface="Times New Roman" panose="02020603050405020304" pitchFamily="18" charset="0"/>
              </a:rPr>
              <a:t>数据传送类指令 </a:t>
            </a:r>
            <a:endParaRPr lang="zh-CN" altLang="en-US" dirty="0">
              <a:latin typeface="Times New Roman" panose="02020603050405020304" pitchFamily="18" charset="0"/>
              <a:ea typeface="Times New Roman" panose="02020603050405020304" pitchFamily="18" charset="0"/>
            </a:endParaRPr>
          </a:p>
        </p:txBody>
      </p:sp>
      <p:sp>
        <p:nvSpPr>
          <p:cNvPr id="86018" name="内容占位符 2"/>
          <p:cNvSpPr>
            <a:spLocks noGrp="1"/>
          </p:cNvSpPr>
          <p:nvPr>
            <p:ph idx="1"/>
          </p:nvPr>
        </p:nvSpPr>
        <p:spPr>
          <a:xfrm>
            <a:off x="457200" y="1268413"/>
            <a:ext cx="8229600" cy="5294313"/>
          </a:xfrm>
          <a:noFill/>
          <a:ln>
            <a:noFill/>
          </a:ln>
        </p:spPr>
        <p:txBody>
          <a:bodyPr anchor="t"/>
          <a:p>
            <a:pPr marL="342900" marR="0" indent="0" algn="l" defTabSz="914400" rtl="0" eaLnBrk="0" fontAlgn="base" latinLnBrk="0" hangingPunct="0">
              <a:lnSpc>
                <a:spcPct val="120000"/>
              </a:lnSpc>
              <a:spcBef>
                <a:spcPts val="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具有</a:t>
            </a: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rPr>
              <a:t>数据复制</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的性质：</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0" algn="l" defTabSz="914400" rtl="0" eaLnBrk="0" fontAlgn="base" latinLnBrk="0" hangingPunct="0">
              <a:lnSpc>
                <a:spcPct val="120000"/>
              </a:lnSpc>
              <a:spcBef>
                <a:spcPts val="6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数据从源地址传送到目的地址，而源地址中的内容保持不变。</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0" algn="l" defTabSz="914400" rtl="0" eaLnBrk="0" fontAlgn="base" latinLnBrk="0" hangingPunct="0">
              <a:lnSpc>
                <a:spcPct val="120000"/>
              </a:lnSpc>
              <a:spcBef>
                <a:spcPts val="6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一般传送类指令常用助记符</a:t>
            </a:r>
            <a:r>
              <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rPr>
              <a:t>MOV</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表示；</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0" algn="l" defTabSz="914400" rtl="0" eaLnBrk="0" fontAlgn="base" latinLnBrk="0" hangingPunct="0">
              <a:lnSpc>
                <a:spcPct val="120000"/>
              </a:lnSpc>
              <a:spcBef>
                <a:spcPts val="6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根据数据传送的源和目的的不同，又可分为：</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0" algn="l" defTabSz="914400" rtl="0" eaLnBrk="0" fontAlgn="base" latinLnBrk="0" hangingPunct="0">
              <a:lnSpc>
                <a:spcPct val="140000"/>
              </a:lnSpc>
              <a:spcBef>
                <a:spcPts val="0"/>
              </a:spcBef>
              <a:spcAft>
                <a:spcPct val="0"/>
              </a:spcAft>
              <a:buClr>
                <a:schemeClr val="tx1"/>
              </a:buClr>
              <a:buSzTx/>
              <a:buFontTx/>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⑴ </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主存单元之间</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的传送。</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0" algn="l" defTabSz="914400" rtl="0" eaLnBrk="0" fontAlgn="base" latinLnBrk="0" hangingPunct="0">
              <a:lnSpc>
                <a:spcPct val="140000"/>
              </a:lnSpc>
              <a:spcBef>
                <a:spcPts val="0"/>
              </a:spcBef>
              <a:spcAft>
                <a:spcPct val="0"/>
              </a:spcAft>
              <a:buClr>
                <a:schemeClr val="tx1"/>
              </a:buClr>
              <a:buSzTx/>
              <a:buFontTx/>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⑵ </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从主存单元传送到寄存器</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。有时</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用</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LOAD</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表示</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0" algn="l" defTabSz="914400" rtl="0" eaLnBrk="0" fontAlgn="base" latinLnBrk="0" hangingPunct="0">
              <a:lnSpc>
                <a:spcPct val="140000"/>
              </a:lnSpc>
              <a:spcBef>
                <a:spcPts val="0"/>
              </a:spcBef>
              <a:spcAft>
                <a:spcPct val="0"/>
              </a:spcAft>
              <a:buClr>
                <a:schemeClr val="tx1"/>
              </a:buClr>
              <a:buSzTx/>
              <a:buFontTx/>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⑶ </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从寄存器传送到主存单元</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。有时用</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STORE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表示</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0" algn="l" defTabSz="914400" rtl="0" eaLnBrk="0" fontAlgn="base" latinLnBrk="0" hangingPunct="0">
              <a:lnSpc>
                <a:spcPct val="140000"/>
              </a:lnSpc>
              <a:spcBef>
                <a:spcPts val="0"/>
              </a:spcBef>
              <a:spcAft>
                <a:spcPct val="0"/>
              </a:spcAft>
              <a:buClr>
                <a:schemeClr val="tx1"/>
              </a:buClr>
              <a:buSzTx/>
              <a:buFontTx/>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⑷ </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寄存器之间</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的传送。</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堆栈操作指令</a:t>
            </a:r>
            <a:endParaRPr lang="zh-CN" altLang="en-US" dirty="0">
              <a:latin typeface="Times New Roman" panose="02020603050405020304" pitchFamily="18" charset="0"/>
              <a:ea typeface="Times New Roman" panose="02020603050405020304" pitchFamily="18" charset="0"/>
            </a:endParaRPr>
          </a:p>
        </p:txBody>
      </p:sp>
      <p:sp>
        <p:nvSpPr>
          <p:cNvPr id="86018" name="内容占位符 2"/>
          <p:cNvSpPr>
            <a:spLocks noGrp="1"/>
          </p:cNvSpPr>
          <p:nvPr>
            <p:ph idx="1"/>
          </p:nvPr>
        </p:nvSpPr>
        <p:spPr>
          <a:noFill/>
          <a:ln>
            <a:noFill/>
          </a:ln>
        </p:spPr>
        <p:txBody>
          <a:bodyPr anchor="t" anchorCtr="0"/>
          <a:p>
            <a:pPr indent="0" latinLnBrk="0">
              <a:lnSpc>
                <a:spcPct val="150000"/>
              </a:lnSpc>
              <a:spcBef>
                <a:spcPct val="0"/>
              </a:spcBef>
            </a:pPr>
            <a:r>
              <a:rPr lang="zh-CN" altLang="en-US" dirty="0">
                <a:latin typeface="Times New Roman" panose="02020603050405020304" pitchFamily="18" charset="0"/>
              </a:rPr>
              <a:t>实际上是一种特殊的数据传送指令：</a:t>
            </a:r>
            <a:endParaRPr lang="zh-CN" altLang="en-US" dirty="0">
              <a:latin typeface="Times New Roman" panose="02020603050405020304" pitchFamily="18" charset="0"/>
            </a:endParaRPr>
          </a:p>
          <a:p>
            <a:pPr lvl="1" indent="0" latinLnBrk="0">
              <a:lnSpc>
                <a:spcPct val="150000"/>
              </a:lnSpc>
              <a:spcBef>
                <a:spcPct val="0"/>
              </a:spcBef>
            </a:pPr>
            <a:r>
              <a:rPr lang="zh-CN" altLang="en-US" dirty="0">
                <a:latin typeface="Times New Roman" panose="02020603050405020304" pitchFamily="18" charset="0"/>
              </a:rPr>
              <a:t>分为</a:t>
            </a:r>
            <a:r>
              <a:rPr lang="zh-CN" altLang="en-US" dirty="0">
                <a:solidFill>
                  <a:srgbClr val="FF0000"/>
                </a:solidFill>
                <a:latin typeface="Times New Roman" panose="02020603050405020304" pitchFamily="18" charset="0"/>
              </a:rPr>
              <a:t>进栈（</a:t>
            </a:r>
            <a:r>
              <a:rPr lang="en-US" altLang="zh-CN" dirty="0">
                <a:solidFill>
                  <a:srgbClr val="FF0000"/>
                </a:solidFill>
                <a:latin typeface="Times New Roman" panose="02020603050405020304" pitchFamily="18" charset="0"/>
              </a:rPr>
              <a:t>PUSH</a:t>
            </a:r>
            <a:r>
              <a:rPr lang="zh-CN" altLang="en-US" dirty="0">
                <a:solidFill>
                  <a:srgbClr val="FF0000"/>
                </a:solidFill>
                <a:latin typeface="Times New Roman" panose="02020603050405020304" pitchFamily="18" charset="0"/>
              </a:rPr>
              <a:t>）和出栈（</a:t>
            </a:r>
            <a:r>
              <a:rPr lang="en-US" altLang="zh-CN" dirty="0">
                <a:solidFill>
                  <a:srgbClr val="FF0000"/>
                </a:solidFill>
                <a:latin typeface="Times New Roman" panose="02020603050405020304" pitchFamily="18" charset="0"/>
              </a:rPr>
              <a:t>POP</a:t>
            </a:r>
            <a:r>
              <a:rPr lang="zh-CN" altLang="en-US" dirty="0">
                <a:solidFill>
                  <a:srgbClr val="FF0000"/>
                </a:solidFill>
                <a:latin typeface="Times New Roman" panose="02020603050405020304" pitchFamily="18" charset="0"/>
              </a:rPr>
              <a:t>）</a:t>
            </a:r>
            <a:r>
              <a:rPr lang="zh-CN" altLang="en-US" dirty="0">
                <a:latin typeface="Times New Roman" panose="02020603050405020304" pitchFamily="18" charset="0"/>
              </a:rPr>
              <a:t>两种；</a:t>
            </a:r>
            <a:endParaRPr lang="zh-CN" altLang="en-US" dirty="0">
              <a:latin typeface="Times New Roman" panose="02020603050405020304" pitchFamily="18" charset="0"/>
            </a:endParaRPr>
          </a:p>
          <a:p>
            <a:pPr lvl="1" indent="0" latinLnBrk="0">
              <a:lnSpc>
                <a:spcPct val="150000"/>
              </a:lnSpc>
              <a:spcBef>
                <a:spcPct val="0"/>
              </a:spcBef>
            </a:pPr>
            <a:r>
              <a:rPr lang="zh-CN" altLang="en-US" dirty="0">
                <a:latin typeface="Times New Roman" panose="02020603050405020304" pitchFamily="18" charset="0"/>
              </a:rPr>
              <a:t>在程序中它们往往是</a:t>
            </a:r>
            <a:r>
              <a:rPr lang="zh-CN" altLang="en-US" dirty="0">
                <a:solidFill>
                  <a:srgbClr val="FF0000"/>
                </a:solidFill>
                <a:latin typeface="Times New Roman" panose="02020603050405020304" pitchFamily="18" charset="0"/>
              </a:rPr>
              <a:t>成对出现</a:t>
            </a:r>
            <a:r>
              <a:rPr lang="zh-CN" altLang="en-US" dirty="0">
                <a:latin typeface="Times New Roman" panose="02020603050405020304" pitchFamily="18" charset="0"/>
              </a:rPr>
              <a:t>的；</a:t>
            </a:r>
            <a:endParaRPr lang="zh-CN" altLang="en-US" dirty="0">
              <a:latin typeface="Times New Roman" panose="02020603050405020304" pitchFamily="18" charset="0"/>
            </a:endParaRPr>
          </a:p>
          <a:p>
            <a:pPr lvl="1" indent="0" latinLnBrk="0">
              <a:lnSpc>
                <a:spcPct val="150000"/>
              </a:lnSpc>
              <a:spcBef>
                <a:spcPct val="0"/>
              </a:spcBef>
            </a:pPr>
            <a:r>
              <a:rPr lang="zh-CN" altLang="en-US" dirty="0">
                <a:latin typeface="Times New Roman" panose="02020603050405020304" pitchFamily="18" charset="0"/>
              </a:rPr>
              <a:t>如果堆栈是主存的一个特定区域，那么对堆栈的操作也就是对存储器的操作。</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数据交换指令</a:t>
            </a:r>
            <a:br>
              <a:rPr lang="zh-CN" altLang="en-US" dirty="0">
                <a:latin typeface="Times New Roman" panose="02020603050405020304" pitchFamily="18" charset="0"/>
              </a:rPr>
            </a:br>
            <a:endParaRPr lang="zh-CN" altLang="en-US" dirty="0">
              <a:latin typeface="Times New Roman" panose="02020603050405020304" pitchFamily="18" charset="0"/>
            </a:endParaRPr>
          </a:p>
        </p:txBody>
      </p:sp>
      <p:sp>
        <p:nvSpPr>
          <p:cNvPr id="87042" name="内容占位符 2"/>
          <p:cNvSpPr>
            <a:spLocks noGrp="1"/>
          </p:cNvSpPr>
          <p:nvPr>
            <p:ph idx="1"/>
          </p:nvPr>
        </p:nvSpPr>
        <p:spPr>
          <a:noFill/>
          <a:ln>
            <a:noFill/>
          </a:ln>
        </p:spPr>
        <p:txBody>
          <a:bodyPr anchor="t" anchorCtr="0"/>
          <a:p>
            <a:pPr>
              <a:lnSpc>
                <a:spcPct val="130000"/>
              </a:lnSpc>
            </a:pPr>
            <a:r>
              <a:rPr lang="zh-CN" altLang="en-US" dirty="0">
                <a:latin typeface="Times New Roman" panose="02020603050405020304" pitchFamily="18" charset="0"/>
              </a:rPr>
              <a:t>数据传送也可以是双方向的：</a:t>
            </a:r>
            <a:endParaRPr lang="zh-CN" altLang="en-US" dirty="0">
              <a:latin typeface="Times New Roman" panose="02020603050405020304" pitchFamily="18" charset="0"/>
            </a:endParaRPr>
          </a:p>
          <a:p>
            <a:pPr lvl="1">
              <a:lnSpc>
                <a:spcPct val="130000"/>
              </a:lnSpc>
            </a:pPr>
            <a:r>
              <a:rPr lang="zh-CN" altLang="en-US" dirty="0">
                <a:latin typeface="Times New Roman" panose="02020603050405020304" pitchFamily="18" charset="0"/>
              </a:rPr>
              <a:t>将源操作数与目的操作数相互交换位置。 </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3.4.2  </a:t>
            </a:r>
            <a:r>
              <a:rPr lang="zh-CN" altLang="en-US" dirty="0">
                <a:latin typeface="Times New Roman" panose="02020603050405020304" pitchFamily="18" charset="0"/>
              </a:rPr>
              <a:t>运算类指令</a:t>
            </a:r>
            <a:endParaRPr lang="zh-CN" altLang="en-US" dirty="0">
              <a:latin typeface="Times New Roman" panose="02020603050405020304" pitchFamily="18" charset="0"/>
              <a:ea typeface="Times New Roman" panose="02020603050405020304" pitchFamily="18" charset="0"/>
            </a:endParaRPr>
          </a:p>
        </p:txBody>
      </p:sp>
      <p:sp>
        <p:nvSpPr>
          <p:cNvPr id="89090" name="内容占位符 2"/>
          <p:cNvSpPr>
            <a:spLocks noGrp="1"/>
          </p:cNvSpPr>
          <p:nvPr>
            <p:ph idx="1"/>
          </p:nvPr>
        </p:nvSpPr>
        <p:spPr>
          <a:xfrm>
            <a:off x="457200" y="1858963"/>
            <a:ext cx="8229600" cy="4017963"/>
          </a:xfrm>
          <a:noFill/>
          <a:ln>
            <a:noFill/>
          </a:ln>
        </p:spPr>
        <p:txBody>
          <a:bodyPr anchor="t"/>
          <a:p>
            <a:pPr marL="342900" marR="0" indent="0" algn="l" defTabSz="914400" rtl="0" eaLnBrk="0" fontAlgn="base" latinLnBrk="0" hangingPunct="0">
              <a:lnSpc>
                <a:spcPct val="130000"/>
              </a:lnSpc>
              <a:spcBef>
                <a:spcPts val="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算术运算指令主要用于定点和浮点运算。</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0" algn="l" defTabSz="914400" rtl="0" eaLnBrk="0" fontAlgn="base" latinLnBrk="0" hangingPunct="0">
              <a:lnSpc>
                <a:spcPct val="130000"/>
              </a:lnSpc>
              <a:spcBef>
                <a:spcPts val="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定点加、减、乘、除指令；</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0" algn="l" defTabSz="914400" rtl="0" eaLnBrk="0" fontAlgn="base" latinLnBrk="0" hangingPunct="0">
              <a:lnSpc>
                <a:spcPct val="130000"/>
              </a:lnSpc>
              <a:spcBef>
                <a:spcPts val="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浮点加、减、乘、除指令；</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0" algn="l" defTabSz="914400" rtl="0" eaLnBrk="0" fontAlgn="base" latinLnBrk="0" hangingPunct="0">
              <a:lnSpc>
                <a:spcPct val="130000"/>
              </a:lnSpc>
              <a:spcBef>
                <a:spcPts val="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加</a:t>
            </a:r>
            <a:r>
              <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rPr>
              <a:t>1</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、减</a:t>
            </a:r>
            <a:r>
              <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rPr>
              <a:t>1</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、比较等；</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0" algn="l" defTabSz="914400" rtl="0" eaLnBrk="0" fontAlgn="base" latinLnBrk="0" hangingPunct="0">
              <a:lnSpc>
                <a:spcPct val="130000"/>
              </a:lnSpc>
              <a:spcBef>
                <a:spcPts val="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有些机器还有十进制算术运算指令。</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0" algn="l" defTabSz="914400" rtl="0" eaLnBrk="0" fontAlgn="base" latinLnBrk="0" hangingPunct="0">
              <a:lnSpc>
                <a:spcPct val="130000"/>
              </a:lnSpc>
              <a:spcBef>
                <a:spcPts val="12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绝大多数算术运算指令都会影响</a:t>
            </a: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rPr>
              <a:t>状态标志位</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0" algn="l" defTabSz="914400" rtl="0" eaLnBrk="0" fontAlgn="base" latinLnBrk="0" hangingPunct="0">
              <a:lnSpc>
                <a:spcPct val="130000"/>
              </a:lnSpc>
              <a:spcBef>
                <a:spcPts val="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标志位有进位、溢出、全零、正负和奇偶等。 </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
        <p:nvSpPr>
          <p:cNvPr id="4" name="矩形 3"/>
          <p:cNvSpPr/>
          <p:nvPr/>
        </p:nvSpPr>
        <p:spPr>
          <a:xfrm>
            <a:off x="550863" y="1184275"/>
            <a:ext cx="30718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算术运算类指令</a:t>
            </a:r>
            <a:endPar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逻辑运算类指令</a:t>
            </a:r>
            <a:endParaRPr lang="zh-CN" altLang="en-US" dirty="0">
              <a:latin typeface="Times New Roman" panose="02020603050405020304" pitchFamily="18" charset="0"/>
            </a:endParaRPr>
          </a:p>
        </p:txBody>
      </p:sp>
      <p:sp>
        <p:nvSpPr>
          <p:cNvPr id="89090" name="内容占位符 2"/>
          <p:cNvSpPr>
            <a:spLocks noGrp="1"/>
          </p:cNvSpPr>
          <p:nvPr>
            <p:ph idx="1"/>
          </p:nvPr>
        </p:nvSpPr>
        <p:spPr>
          <a:xfrm>
            <a:off x="457200" y="1441450"/>
            <a:ext cx="8229600" cy="4525963"/>
          </a:xfrm>
          <a:noFill/>
          <a:ln>
            <a:noFill/>
          </a:ln>
        </p:spPr>
        <p:txBody>
          <a:bodyPr anchor="t" anchorCtr="0"/>
          <a:p>
            <a:pPr>
              <a:lnSpc>
                <a:spcPct val="110000"/>
              </a:lnSpc>
            </a:pPr>
            <a:r>
              <a:rPr lang="zh-CN" altLang="en-US" dirty="0">
                <a:latin typeface="Times New Roman" panose="02020603050405020304" pitchFamily="18" charset="0"/>
              </a:rPr>
              <a:t>计算机都具有与、或、非、异或等逻辑运算指令</a:t>
            </a:r>
            <a:endParaRPr lang="zh-CN" altLang="en-US" dirty="0">
              <a:latin typeface="Times New Roman" panose="02020603050405020304" pitchFamily="18" charset="0"/>
            </a:endParaRPr>
          </a:p>
          <a:p>
            <a:pPr lvl="1">
              <a:lnSpc>
                <a:spcPct val="110000"/>
              </a:lnSpc>
            </a:pPr>
            <a:r>
              <a:rPr lang="zh-CN" altLang="en-US" dirty="0">
                <a:latin typeface="Times New Roman" panose="02020603050405020304" pitchFamily="18" charset="0"/>
              </a:rPr>
              <a:t>常用于对数据字（字节）中</a:t>
            </a:r>
            <a:r>
              <a:rPr lang="zh-CN" altLang="en-US" dirty="0">
                <a:solidFill>
                  <a:srgbClr val="FF0000"/>
                </a:solidFill>
                <a:latin typeface="Times New Roman" panose="02020603050405020304" pitchFamily="18" charset="0"/>
              </a:rPr>
              <a:t>某些位</a:t>
            </a:r>
            <a:r>
              <a:rPr lang="zh-CN" altLang="en-US" dirty="0">
                <a:latin typeface="Times New Roman" panose="02020603050405020304" pitchFamily="18" charset="0"/>
              </a:rPr>
              <a:t>（一位或多位）进行操作，常见的应用有：</a:t>
            </a:r>
            <a:endParaRPr lang="zh-CN" altLang="en-US" dirty="0">
              <a:latin typeface="Times New Roman" panose="02020603050405020304" pitchFamily="18" charset="0"/>
            </a:endParaRPr>
          </a:p>
          <a:p>
            <a:pPr lvl="2">
              <a:lnSpc>
                <a:spcPct val="110000"/>
              </a:lnSpc>
              <a:spcBef>
                <a:spcPts val="1200"/>
              </a:spcBef>
            </a:pPr>
            <a:r>
              <a:rPr lang="zh-CN" altLang="en-US" dirty="0">
                <a:latin typeface="Times New Roman" panose="02020603050405020304" pitchFamily="18" charset="0"/>
              </a:rPr>
              <a:t>⑴按位测（位检查）；</a:t>
            </a:r>
            <a:endParaRPr lang="zh-CN" altLang="en-US" dirty="0">
              <a:latin typeface="Times New Roman" panose="02020603050405020304" pitchFamily="18" charset="0"/>
            </a:endParaRPr>
          </a:p>
          <a:p>
            <a:pPr lvl="2">
              <a:lnSpc>
                <a:spcPct val="110000"/>
              </a:lnSpc>
            </a:pPr>
            <a:r>
              <a:rPr lang="zh-CN" altLang="en-US" dirty="0">
                <a:latin typeface="Times New Roman" panose="02020603050405020304" pitchFamily="18" charset="0"/>
              </a:rPr>
              <a:t>⑵按位清（位清除）；</a:t>
            </a:r>
            <a:endParaRPr lang="en-US" altLang="zh-CN" dirty="0">
              <a:latin typeface="Times New Roman" panose="02020603050405020304" pitchFamily="18" charset="0"/>
            </a:endParaRPr>
          </a:p>
          <a:p>
            <a:pPr lvl="2">
              <a:lnSpc>
                <a:spcPct val="110000"/>
              </a:lnSpc>
            </a:pPr>
            <a:r>
              <a:rPr lang="zh-CN" altLang="en-US" dirty="0">
                <a:latin typeface="Times New Roman" panose="02020603050405020304" pitchFamily="18" charset="0"/>
              </a:rPr>
              <a:t>⑶按位置（位设置）；</a:t>
            </a:r>
            <a:endParaRPr lang="en-US" altLang="zh-CN" dirty="0">
              <a:latin typeface="Times New Roman" panose="02020603050405020304" pitchFamily="18" charset="0"/>
            </a:endParaRPr>
          </a:p>
          <a:p>
            <a:pPr lvl="2">
              <a:lnSpc>
                <a:spcPct val="110000"/>
              </a:lnSpc>
            </a:pPr>
            <a:r>
              <a:rPr lang="zh-CN" altLang="en-US" dirty="0">
                <a:latin typeface="Times New Roman" panose="02020603050405020304" pitchFamily="18" charset="0"/>
              </a:rPr>
              <a:t>⑷按位修改；</a:t>
            </a:r>
            <a:endParaRPr lang="en-US" altLang="zh-CN" dirty="0">
              <a:latin typeface="Times New Roman" panose="02020603050405020304" pitchFamily="18" charset="0"/>
            </a:endParaRPr>
          </a:p>
          <a:p>
            <a:pPr lvl="2">
              <a:lnSpc>
                <a:spcPct val="110000"/>
              </a:lnSpc>
            </a:pPr>
            <a:r>
              <a:rPr lang="zh-CN" altLang="en-US" dirty="0">
                <a:latin typeface="Times New Roman" panose="02020603050405020304" pitchFamily="18" charset="0"/>
              </a:rPr>
              <a:t>⑸判符合。</a:t>
            </a:r>
            <a:endParaRPr lang="zh-CN" altLang="en-US" dirty="0">
              <a:latin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移位类指令</a:t>
            </a:r>
            <a:endParaRPr lang="zh-CN" altLang="en-US" dirty="0">
              <a:latin typeface="Times New Roman" panose="02020603050405020304" pitchFamily="18" charset="0"/>
            </a:endParaRPr>
          </a:p>
        </p:txBody>
      </p:sp>
      <p:sp>
        <p:nvSpPr>
          <p:cNvPr id="90114" name="内容占位符 2"/>
          <p:cNvSpPr>
            <a:spLocks noGrp="1"/>
          </p:cNvSpPr>
          <p:nvPr>
            <p:ph idx="1"/>
          </p:nvPr>
        </p:nvSpPr>
        <p:spPr>
          <a:xfrm>
            <a:off x="457200" y="1268413"/>
            <a:ext cx="8229600" cy="5040312"/>
          </a:xfrm>
          <a:noFill/>
          <a:ln>
            <a:noFill/>
          </a:ln>
        </p:spPr>
        <p:txBody>
          <a:bodyPr anchor="t" anchorCtr="0"/>
          <a:p>
            <a:r>
              <a:rPr lang="zh-CN" altLang="en-US" dirty="0">
                <a:latin typeface="Times New Roman" panose="02020603050405020304" pitchFamily="18" charset="0"/>
              </a:rPr>
              <a:t>移位指令分为</a:t>
            </a:r>
            <a:r>
              <a:rPr lang="zh-CN" altLang="en-US" dirty="0">
                <a:solidFill>
                  <a:srgbClr val="FF0000"/>
                </a:solidFill>
                <a:latin typeface="Times New Roman" panose="02020603050405020304" pitchFamily="18" charset="0"/>
              </a:rPr>
              <a:t>算术移位、逻辑移位和循环移位</a:t>
            </a:r>
            <a:r>
              <a:rPr lang="zh-CN" altLang="en-US" dirty="0">
                <a:latin typeface="Times New Roman" panose="02020603050405020304" pitchFamily="18" charset="0"/>
              </a:rPr>
              <a:t>三类，它们又可分为左移和右移两种。</a:t>
            </a:r>
            <a:endParaRPr lang="en-US" altLang="zh-CN" dirty="0">
              <a:latin typeface="Times New Roman" panose="02020603050405020304" pitchFamily="18" charset="0"/>
            </a:endParaRPr>
          </a:p>
          <a:p>
            <a:pPr lvl="1">
              <a:lnSpc>
                <a:spcPct val="120000"/>
              </a:lnSpc>
              <a:spcBef>
                <a:spcPts val="2400"/>
              </a:spcBef>
            </a:pPr>
            <a:r>
              <a:rPr lang="zh-CN" altLang="en-US" dirty="0">
                <a:latin typeface="Times New Roman" panose="02020603050405020304" pitchFamily="18" charset="0"/>
              </a:rPr>
              <a:t>算术移位：对象是</a:t>
            </a:r>
            <a:r>
              <a:rPr lang="zh-CN" altLang="en-US" dirty="0">
                <a:solidFill>
                  <a:srgbClr val="FF0000"/>
                </a:solidFill>
                <a:latin typeface="Times New Roman" panose="02020603050405020304" pitchFamily="18" charset="0"/>
              </a:rPr>
              <a:t>带符号数</a:t>
            </a:r>
            <a:r>
              <a:rPr lang="zh-CN" altLang="en-US" dirty="0">
                <a:latin typeface="Times New Roman" panose="02020603050405020304" pitchFamily="18" charset="0"/>
              </a:rPr>
              <a:t>，在移位过程中必须保持操作数的符号不变。</a:t>
            </a:r>
            <a:endParaRPr lang="en-US" altLang="zh-CN" dirty="0">
              <a:latin typeface="Times New Roman" panose="02020603050405020304" pitchFamily="18" charset="0"/>
            </a:endParaRPr>
          </a:p>
          <a:p>
            <a:pPr lvl="1">
              <a:lnSpc>
                <a:spcPct val="120000"/>
              </a:lnSpc>
            </a:pPr>
            <a:r>
              <a:rPr lang="zh-CN" altLang="en-US" dirty="0">
                <a:latin typeface="Times New Roman" panose="02020603050405020304" pitchFamily="18" charset="0"/>
              </a:rPr>
              <a:t>逻辑移位：对象是无符号数，因此移位时不必考虑符号问题。</a:t>
            </a:r>
            <a:endParaRPr lang="en-US" altLang="zh-CN" dirty="0">
              <a:latin typeface="Times New Roman" panose="02020603050405020304" pitchFamily="18" charset="0"/>
            </a:endParaRPr>
          </a:p>
          <a:p>
            <a:pPr lvl="1">
              <a:lnSpc>
                <a:spcPct val="120000"/>
              </a:lnSpc>
            </a:pPr>
            <a:r>
              <a:rPr lang="zh-CN" altLang="en-US" dirty="0">
                <a:latin typeface="Times New Roman" panose="02020603050405020304" pitchFamily="18" charset="0"/>
              </a:rPr>
              <a:t>循环移位：是否与进位位一起循环分为两种：</a:t>
            </a:r>
            <a:endParaRPr lang="zh-CN" altLang="en-US" dirty="0">
              <a:latin typeface="Times New Roman" panose="02020603050405020304" pitchFamily="18" charset="0"/>
            </a:endParaRPr>
          </a:p>
          <a:p>
            <a:pPr lvl="2">
              <a:lnSpc>
                <a:spcPct val="120000"/>
              </a:lnSpc>
            </a:pPr>
            <a:r>
              <a:rPr lang="zh-CN" altLang="en-US" dirty="0">
                <a:latin typeface="Times New Roman" panose="02020603050405020304" pitchFamily="18" charset="0"/>
              </a:rPr>
              <a:t>小循环（不带进位循环）；</a:t>
            </a:r>
            <a:endParaRPr lang="zh-CN" altLang="en-US" dirty="0">
              <a:latin typeface="Times New Roman" panose="02020603050405020304" pitchFamily="18" charset="0"/>
            </a:endParaRPr>
          </a:p>
          <a:p>
            <a:pPr lvl="2">
              <a:lnSpc>
                <a:spcPct val="120000"/>
              </a:lnSpc>
            </a:pPr>
            <a:r>
              <a:rPr lang="zh-CN" altLang="en-US" dirty="0">
                <a:latin typeface="Times New Roman" panose="02020603050405020304" pitchFamily="18" charset="0"/>
              </a:rPr>
              <a:t>大循环（带进位循环）。</a:t>
            </a:r>
            <a:endParaRPr lang="zh-CN" altLang="en-US" dirty="0">
              <a:latin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3.4.3  </a:t>
            </a:r>
            <a:r>
              <a:rPr lang="zh-CN" altLang="en-US" dirty="0">
                <a:latin typeface="Times New Roman" panose="02020603050405020304" pitchFamily="18" charset="0"/>
              </a:rPr>
              <a:t>程序控制类指令</a:t>
            </a:r>
            <a:endParaRPr lang="zh-CN" altLang="en-US" dirty="0">
              <a:latin typeface="Times New Roman" panose="02020603050405020304" pitchFamily="18" charset="0"/>
            </a:endParaRPr>
          </a:p>
        </p:txBody>
      </p:sp>
      <p:sp>
        <p:nvSpPr>
          <p:cNvPr id="91138" name="内容占位符 2"/>
          <p:cNvSpPr>
            <a:spLocks noGrp="1"/>
          </p:cNvSpPr>
          <p:nvPr>
            <p:ph idx="1"/>
          </p:nvPr>
        </p:nvSpPr>
        <p:spPr>
          <a:xfrm>
            <a:off x="457200" y="1830388"/>
            <a:ext cx="8229600" cy="4525962"/>
          </a:xfrm>
          <a:noFill/>
          <a:ln>
            <a:noFill/>
          </a:ln>
        </p:spPr>
        <p:txBody>
          <a:bodyPr anchor="t" anchorCtr="0"/>
          <a:p>
            <a:pPr>
              <a:lnSpc>
                <a:spcPct val="120000"/>
              </a:lnSpc>
            </a:pPr>
            <a:r>
              <a:rPr lang="zh-CN" altLang="en-US" dirty="0">
                <a:latin typeface="Times New Roman" panose="02020603050405020304" pitchFamily="18" charset="0"/>
              </a:rPr>
              <a:t>转移指令用来改变程序的执行顺序：</a:t>
            </a:r>
            <a:endParaRPr lang="zh-CN" altLang="en-US" dirty="0">
              <a:latin typeface="Times New Roman" panose="02020603050405020304" pitchFamily="18" charset="0"/>
            </a:endParaRPr>
          </a:p>
          <a:p>
            <a:pPr lvl="1">
              <a:lnSpc>
                <a:spcPct val="120000"/>
              </a:lnSpc>
              <a:spcBef>
                <a:spcPts val="1200"/>
              </a:spcBef>
            </a:pPr>
            <a:r>
              <a:rPr lang="zh-CN" altLang="en-US" sz="2600" dirty="0">
                <a:solidFill>
                  <a:srgbClr val="FF0000"/>
                </a:solidFill>
                <a:latin typeface="Times New Roman" panose="02020603050405020304" pitchFamily="18" charset="0"/>
              </a:rPr>
              <a:t>无条件转移</a:t>
            </a:r>
            <a:r>
              <a:rPr lang="zh-CN" altLang="en-US" sz="2600" dirty="0">
                <a:latin typeface="Times New Roman" panose="02020603050405020304" pitchFamily="18" charset="0"/>
              </a:rPr>
              <a:t>：不受任何条件的约束，直接把程序转向指令指出的新位置执行，其助记符一般为</a:t>
            </a:r>
            <a:r>
              <a:rPr lang="en-US" altLang="zh-CN" sz="2600" dirty="0">
                <a:latin typeface="Times New Roman" panose="02020603050405020304" pitchFamily="18" charset="0"/>
              </a:rPr>
              <a:t>JMP</a:t>
            </a:r>
            <a:r>
              <a:rPr lang="zh-CN" altLang="en-US" sz="2600" dirty="0">
                <a:latin typeface="Times New Roman" panose="02020603050405020304" pitchFamily="18" charset="0"/>
              </a:rPr>
              <a:t>。</a:t>
            </a:r>
            <a:endParaRPr lang="zh-CN" altLang="en-US" sz="2600" dirty="0">
              <a:latin typeface="Times New Roman" panose="02020603050405020304" pitchFamily="18" charset="0"/>
            </a:endParaRPr>
          </a:p>
          <a:p>
            <a:pPr lvl="1">
              <a:lnSpc>
                <a:spcPct val="120000"/>
              </a:lnSpc>
              <a:spcBef>
                <a:spcPts val="1200"/>
              </a:spcBef>
            </a:pPr>
            <a:r>
              <a:rPr lang="zh-CN" altLang="en-US" sz="2600" dirty="0">
                <a:solidFill>
                  <a:srgbClr val="FF0000"/>
                </a:solidFill>
                <a:latin typeface="Times New Roman" panose="02020603050405020304" pitchFamily="18" charset="0"/>
              </a:rPr>
              <a:t>条件转移</a:t>
            </a:r>
            <a:r>
              <a:rPr lang="zh-CN" altLang="en-US" sz="2600" dirty="0">
                <a:latin typeface="Times New Roman" panose="02020603050405020304" pitchFamily="18" charset="0"/>
              </a:rPr>
              <a:t>：必须受到条件的约束，若条件满足时才执行转移，否则程序仍顺序执行。</a:t>
            </a:r>
            <a:endParaRPr lang="en-US" altLang="zh-CN" sz="2600" dirty="0">
              <a:latin typeface="Times New Roman" panose="02020603050405020304" pitchFamily="18" charset="0"/>
            </a:endParaRPr>
          </a:p>
          <a:p>
            <a:pPr lvl="1">
              <a:lnSpc>
                <a:spcPct val="120000"/>
              </a:lnSpc>
              <a:spcBef>
                <a:spcPts val="1200"/>
              </a:spcBef>
            </a:pPr>
            <a:r>
              <a:rPr lang="zh-CN" altLang="en-US" sz="2600" dirty="0">
                <a:latin typeface="Times New Roman" panose="02020603050405020304" pitchFamily="18" charset="0"/>
              </a:rPr>
              <a:t>若采用相对寻址方式，转移地址为</a:t>
            </a:r>
            <a:r>
              <a:rPr lang="en-US" altLang="zh-CN" sz="2600" dirty="0">
                <a:latin typeface="Times New Roman" panose="02020603050405020304" pitchFamily="18" charset="0"/>
              </a:rPr>
              <a:t>(PC)+</a:t>
            </a:r>
            <a:r>
              <a:rPr lang="zh-CN" altLang="en-US" sz="2600" dirty="0">
                <a:latin typeface="Times New Roman" panose="02020603050405020304" pitchFamily="18" charset="0"/>
              </a:rPr>
              <a:t>位移量→</a:t>
            </a:r>
            <a:r>
              <a:rPr lang="en-US" altLang="zh-CN" sz="2600" dirty="0">
                <a:latin typeface="Times New Roman" panose="02020603050405020304" pitchFamily="18" charset="0"/>
              </a:rPr>
              <a:t>PC</a:t>
            </a:r>
            <a:r>
              <a:rPr lang="zh-CN" altLang="en-US" sz="2600" dirty="0">
                <a:latin typeface="Times New Roman" panose="02020603050405020304" pitchFamily="18" charset="0"/>
              </a:rPr>
              <a:t>；若采用绝对寻址方式，转移地址为</a:t>
            </a:r>
            <a:r>
              <a:rPr lang="en-US" altLang="zh-CN" sz="2600" dirty="0">
                <a:latin typeface="Times New Roman" panose="02020603050405020304" pitchFamily="18" charset="0"/>
              </a:rPr>
              <a:t>A→PC</a:t>
            </a:r>
            <a:endParaRPr lang="zh-CN" altLang="en-US" dirty="0">
              <a:latin typeface="Times New Roman" panose="02020603050405020304" pitchFamily="18" charset="0"/>
              <a:ea typeface="Times New Roman" panose="02020603050405020304" pitchFamily="18" charset="0"/>
            </a:endParaRPr>
          </a:p>
        </p:txBody>
      </p:sp>
      <p:sp>
        <p:nvSpPr>
          <p:cNvPr id="4" name="矩形 3"/>
          <p:cNvSpPr/>
          <p:nvPr/>
        </p:nvSpPr>
        <p:spPr>
          <a:xfrm>
            <a:off x="471488" y="1155700"/>
            <a:ext cx="1897063" cy="5238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转移指令</a:t>
            </a:r>
            <a:endPar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子程序调用指令</a:t>
            </a:r>
            <a:endParaRPr lang="zh-CN" altLang="en-US" dirty="0">
              <a:latin typeface="Times New Roman" panose="02020603050405020304" pitchFamily="18" charset="0"/>
              <a:ea typeface="Times New Roman" panose="02020603050405020304" pitchFamily="18" charset="0"/>
            </a:endParaRPr>
          </a:p>
        </p:txBody>
      </p:sp>
      <p:sp>
        <p:nvSpPr>
          <p:cNvPr id="92162" name="内容占位符 2"/>
          <p:cNvSpPr>
            <a:spLocks noGrp="1"/>
          </p:cNvSpPr>
          <p:nvPr>
            <p:ph idx="1"/>
          </p:nvPr>
        </p:nvSpPr>
        <p:spPr>
          <a:xfrm>
            <a:off x="457200" y="1349375"/>
            <a:ext cx="8229600" cy="4895850"/>
          </a:xfrm>
          <a:noFill/>
          <a:ln>
            <a:noFill/>
          </a:ln>
        </p:spPr>
        <p:txBody>
          <a:bodyPr anchor="t" anchorCtr="0"/>
          <a:p>
            <a:pPr>
              <a:lnSpc>
                <a:spcPct val="110000"/>
              </a:lnSpc>
            </a:pPr>
            <a:r>
              <a:rPr lang="zh-CN" altLang="en-US" dirty="0">
                <a:latin typeface="Times New Roman" panose="02020603050405020304" pitchFamily="18" charset="0"/>
              </a:rPr>
              <a:t>简称转子指令，助记符一般为</a:t>
            </a:r>
            <a:r>
              <a:rPr lang="en-US" altLang="zh-CN" dirty="0">
                <a:latin typeface="Times New Roman" panose="02020603050405020304" pitchFamily="18" charset="0"/>
              </a:rPr>
              <a:t>CALL</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a:lnSpc>
                <a:spcPct val="110000"/>
              </a:lnSpc>
              <a:spcBef>
                <a:spcPts val="1800"/>
              </a:spcBef>
            </a:pPr>
            <a:r>
              <a:rPr lang="zh-CN" altLang="en-US" dirty="0">
                <a:latin typeface="Times New Roman" panose="02020603050405020304" pitchFamily="18" charset="0"/>
              </a:rPr>
              <a:t>转子指令和转移指令的差别：</a:t>
            </a:r>
            <a:endParaRPr lang="zh-CN" altLang="en-US" dirty="0">
              <a:latin typeface="Times New Roman" panose="02020603050405020304" pitchFamily="18" charset="0"/>
            </a:endParaRPr>
          </a:p>
          <a:p>
            <a:pPr lvl="1">
              <a:lnSpc>
                <a:spcPct val="110000"/>
              </a:lnSpc>
              <a:spcBef>
                <a:spcPts val="1200"/>
              </a:spcBef>
            </a:pPr>
            <a:r>
              <a:rPr lang="zh-CN" altLang="en-US" sz="2600" dirty="0">
                <a:latin typeface="Times New Roman" panose="02020603050405020304" pitchFamily="18" charset="0"/>
              </a:rPr>
              <a:t>转移指令使程序转移到新的地址后继续执行指令，不存在返回的问题，所以没有返回地址；</a:t>
            </a:r>
            <a:endParaRPr lang="zh-CN" altLang="en-US" sz="2600" dirty="0">
              <a:latin typeface="Times New Roman" panose="02020603050405020304" pitchFamily="18" charset="0"/>
            </a:endParaRPr>
          </a:p>
          <a:p>
            <a:pPr lvl="1">
              <a:lnSpc>
                <a:spcPct val="110000"/>
              </a:lnSpc>
              <a:spcBef>
                <a:spcPts val="1200"/>
              </a:spcBef>
            </a:pPr>
            <a:r>
              <a:rPr lang="zh-CN" altLang="en-US" sz="2600" dirty="0">
                <a:latin typeface="Times New Roman" panose="02020603050405020304" pitchFamily="18" charset="0"/>
              </a:rPr>
              <a:t>转子指令要考虑返回问题，所以必须</a:t>
            </a:r>
            <a:r>
              <a:rPr lang="zh-CN" altLang="en-US" sz="2600" dirty="0">
                <a:solidFill>
                  <a:srgbClr val="FF0000"/>
                </a:solidFill>
                <a:latin typeface="Times New Roman" panose="02020603050405020304" pitchFamily="18" charset="0"/>
              </a:rPr>
              <a:t>以某种方式保存返回地址</a:t>
            </a:r>
            <a:r>
              <a:rPr lang="zh-CN" altLang="en-US" sz="2600" dirty="0">
                <a:latin typeface="Times New Roman" panose="02020603050405020304" pitchFamily="18" charset="0"/>
              </a:rPr>
              <a:t>，以便返回时能找到原来的位置。</a:t>
            </a:r>
            <a:endParaRPr lang="zh-CN" altLang="en-US" sz="2600" dirty="0">
              <a:latin typeface="Times New Roman" panose="02020603050405020304" pitchFamily="18" charset="0"/>
            </a:endParaRPr>
          </a:p>
          <a:p>
            <a:pPr lvl="1">
              <a:lnSpc>
                <a:spcPct val="110000"/>
              </a:lnSpc>
              <a:spcBef>
                <a:spcPts val="1200"/>
              </a:spcBef>
            </a:pPr>
            <a:r>
              <a:rPr lang="zh-CN" altLang="en-US" sz="2600" dirty="0">
                <a:latin typeface="Times New Roman" panose="02020603050405020304" pitchFamily="18" charset="0"/>
              </a:rPr>
              <a:t>转移指令用于实现同一程序内的转移；转子指令实现的是不同程序之间的转移。</a:t>
            </a:r>
            <a:endParaRPr lang="zh-CN" altLang="en-US" sz="26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子程序调用指令（续）</a:t>
            </a:r>
            <a:endParaRPr lang="zh-CN" altLang="en-US" dirty="0">
              <a:latin typeface="Times New Roman" panose="02020603050405020304" pitchFamily="18" charset="0"/>
            </a:endParaRPr>
          </a:p>
        </p:txBody>
      </p:sp>
      <p:sp>
        <p:nvSpPr>
          <p:cNvPr id="93186" name="内容占位符 2"/>
          <p:cNvSpPr>
            <a:spLocks noGrp="1"/>
          </p:cNvSpPr>
          <p:nvPr>
            <p:ph idx="1"/>
          </p:nvPr>
        </p:nvSpPr>
        <p:spPr>
          <a:xfrm>
            <a:off x="457200" y="1196975"/>
            <a:ext cx="8229600" cy="5111750"/>
          </a:xfrm>
          <a:noFill/>
          <a:ln>
            <a:noFill/>
          </a:ln>
        </p:spPr>
        <p:txBody>
          <a:bodyPr anchor="t" anchorCtr="0"/>
          <a:p>
            <a:r>
              <a:rPr lang="zh-CN" altLang="en-US" dirty="0">
                <a:latin typeface="Times New Roman" panose="02020603050405020304" pitchFamily="18" charset="0"/>
              </a:rPr>
              <a:t> 返回地址是转子指令的下一条指令的地址，保存返回地址的方法有多种：</a:t>
            </a:r>
            <a:endParaRPr lang="zh-CN" altLang="en-US" dirty="0">
              <a:latin typeface="Times New Roman" panose="02020603050405020304" pitchFamily="18" charset="0"/>
            </a:endParaRPr>
          </a:p>
          <a:p>
            <a:pPr lvl="1">
              <a:spcBef>
                <a:spcPts val="1800"/>
              </a:spcBef>
            </a:pPr>
            <a:r>
              <a:rPr lang="zh-CN" altLang="en-US" sz="2400" dirty="0">
                <a:solidFill>
                  <a:srgbClr val="FF0000"/>
                </a:solidFill>
                <a:latin typeface="Times New Roman" panose="02020603050405020304" pitchFamily="18" charset="0"/>
              </a:rPr>
              <a:t>用子程序的第一个字单元存放返回地址</a:t>
            </a:r>
            <a:r>
              <a:rPr lang="zh-CN" altLang="en-US" sz="2400" dirty="0">
                <a:latin typeface="Times New Roman" panose="02020603050405020304" pitchFamily="18" charset="0"/>
              </a:rPr>
              <a:t>。将第一个字单元地址作为间接地址，采用间址方式返回主程序。可以实现多重转子，但不能实现递归循环。</a:t>
            </a:r>
            <a:endParaRPr lang="en-US" altLang="zh-CN" sz="2400"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用寄存器存放返回地址</a:t>
            </a:r>
            <a:r>
              <a:rPr lang="zh-CN" altLang="en-US" sz="2400" dirty="0">
                <a:latin typeface="Times New Roman" panose="02020603050405020304" pitchFamily="18" charset="0"/>
              </a:rPr>
              <a:t>。先把返回地址放到某一个寄存器中，再由子程序将寄存器中的内容转移到另一个安全的地方，可以实现子程序的递归循环。</a:t>
            </a:r>
            <a:endParaRPr lang="zh-CN" altLang="en-US" sz="2400"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用堆栈保存返回地址</a:t>
            </a:r>
            <a:r>
              <a:rPr lang="zh-CN" altLang="en-US" sz="2400" dirty="0">
                <a:latin typeface="Times New Roman" panose="02020603050405020304" pitchFamily="18" charset="0"/>
              </a:rPr>
              <a:t>。不管是多重转子还是子程序递归，最后存放的返回地址总是最先被使用的，支持实现多重转子和递归循环。</a:t>
            </a:r>
            <a:endParaRPr lang="zh-CN" altLang="en-US" sz="2400"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返回指令</a:t>
            </a:r>
            <a:endParaRPr lang="zh-CN" altLang="en-US" dirty="0">
              <a:latin typeface="Times New Roman" panose="02020603050405020304" pitchFamily="18" charset="0"/>
            </a:endParaRPr>
          </a:p>
        </p:txBody>
      </p:sp>
      <p:sp>
        <p:nvSpPr>
          <p:cNvPr id="94210"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返回指令：</a:t>
            </a:r>
            <a:endParaRPr lang="zh-CN" altLang="en-US" dirty="0">
              <a:latin typeface="Times New Roman" panose="02020603050405020304" pitchFamily="18" charset="0"/>
            </a:endParaRPr>
          </a:p>
          <a:p>
            <a:pPr lvl="1"/>
            <a:r>
              <a:rPr lang="zh-CN" altLang="en-US" sz="2400" dirty="0">
                <a:latin typeface="Times New Roman" panose="02020603050405020304" pitchFamily="18" charset="0"/>
              </a:rPr>
              <a:t>从子程序转向主程序的指令，助记符</a:t>
            </a:r>
            <a:r>
              <a:rPr lang="en-US" altLang="zh-CN" sz="2400" dirty="0">
                <a:latin typeface="Times New Roman" panose="02020603050405020304" pitchFamily="18" charset="0"/>
              </a:rPr>
              <a:t>RET</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a:r>
              <a:rPr lang="zh-CN" altLang="en-US" sz="2400" dirty="0">
                <a:solidFill>
                  <a:srgbClr val="FF0000"/>
                </a:solidFill>
                <a:latin typeface="Times New Roman" panose="02020603050405020304" pitchFamily="18" charset="0"/>
              </a:rPr>
              <a:t>子程序的最后一条指令</a:t>
            </a:r>
            <a:r>
              <a:rPr lang="zh-CN" altLang="en-US" sz="2400" dirty="0">
                <a:latin typeface="Times New Roman" panose="02020603050405020304" pitchFamily="18" charset="0"/>
              </a:rPr>
              <a:t>一定是返回指令。</a:t>
            </a:r>
            <a:endParaRPr lang="en-US" altLang="zh-CN" dirty="0">
              <a:latin typeface="Times New Roman" panose="02020603050405020304" pitchFamily="18" charset="0"/>
            </a:endParaRPr>
          </a:p>
          <a:p>
            <a:pPr>
              <a:spcBef>
                <a:spcPts val="1800"/>
              </a:spcBef>
            </a:pPr>
            <a:r>
              <a:rPr lang="zh-CN" altLang="en-US" dirty="0">
                <a:solidFill>
                  <a:srgbClr val="FF0000"/>
                </a:solidFill>
                <a:latin typeface="Times New Roman" panose="02020603050405020304" pitchFamily="18" charset="0"/>
              </a:rPr>
              <a:t>返回地址存放的位置决定了返回指令的格式</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lnSpc>
                <a:spcPct val="100000"/>
              </a:lnSpc>
              <a:buSzTx/>
            </a:pPr>
            <a:r>
              <a:rPr lang="zh-CN" altLang="en-US" sz="2400" dirty="0">
                <a:latin typeface="Times New Roman" panose="02020603050405020304" pitchFamily="18" charset="0"/>
              </a:rPr>
              <a:t>通常返回地址保存在堆栈中；</a:t>
            </a:r>
            <a:endParaRPr lang="zh-CN" altLang="en-US" sz="2400" dirty="0">
              <a:latin typeface="Times New Roman" panose="02020603050405020304" pitchFamily="18" charset="0"/>
            </a:endParaRPr>
          </a:p>
          <a:p>
            <a:pPr lvl="1">
              <a:lnSpc>
                <a:spcPct val="100000"/>
              </a:lnSpc>
              <a:buSzTx/>
            </a:pPr>
            <a:r>
              <a:rPr lang="zh-CN" altLang="en-US" sz="2400" dirty="0">
                <a:latin typeface="Times New Roman" panose="02020603050405020304" pitchFamily="18" charset="0"/>
              </a:rPr>
              <a:t>返回指令常是零地址指令。</a:t>
            </a:r>
            <a:endParaRPr lang="zh-CN" altLang="en-US" dirty="0">
              <a:latin typeface="Times New Roman" panose="02020603050405020304" pitchFamily="18" charset="0"/>
            </a:endParaRPr>
          </a:p>
          <a:p>
            <a:pPr>
              <a:spcBef>
                <a:spcPts val="1800"/>
              </a:spcBef>
            </a:pPr>
            <a:r>
              <a:rPr lang="zh-CN" altLang="en-US" dirty="0">
                <a:latin typeface="Times New Roman" panose="02020603050405020304" pitchFamily="18" charset="0"/>
              </a:rPr>
              <a:t>转子和返回指令也可以是带条件的，条件转子和条件返回与前述条件转移的条件是相同的。 </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3.4.4  </a:t>
            </a:r>
            <a:r>
              <a:rPr lang="zh-CN" altLang="en-US" dirty="0">
                <a:latin typeface="Times New Roman" panose="02020603050405020304" pitchFamily="18" charset="0"/>
              </a:rPr>
              <a:t>输入输出类指令</a:t>
            </a:r>
            <a:endParaRPr lang="zh-CN" altLang="en-US" dirty="0">
              <a:latin typeface="Times New Roman" panose="02020603050405020304" pitchFamily="18" charset="0"/>
            </a:endParaRPr>
          </a:p>
        </p:txBody>
      </p:sp>
      <p:sp>
        <p:nvSpPr>
          <p:cNvPr id="95234" name="内容占位符 2"/>
          <p:cNvSpPr>
            <a:spLocks noGrp="1"/>
          </p:cNvSpPr>
          <p:nvPr>
            <p:ph idx="1"/>
          </p:nvPr>
        </p:nvSpPr>
        <p:spPr>
          <a:xfrm>
            <a:off x="457200" y="1196975"/>
            <a:ext cx="8229600" cy="5400675"/>
          </a:xfrm>
          <a:noFill/>
          <a:ln>
            <a:noFill/>
          </a:ln>
        </p:spPr>
        <p:txBody>
          <a:bodyPr anchor="t" anchorCtr="0"/>
          <a:p>
            <a:pPr>
              <a:lnSpc>
                <a:spcPct val="110000"/>
              </a:lnSpc>
            </a:pPr>
            <a:r>
              <a:rPr lang="en-US" altLang="zh-CN" dirty="0">
                <a:latin typeface="Times New Roman" panose="02020603050405020304" pitchFamily="18" charset="0"/>
              </a:rPr>
              <a:t>1.</a:t>
            </a:r>
            <a:r>
              <a:rPr lang="zh-CN" altLang="en-US" dirty="0">
                <a:latin typeface="Times New Roman" panose="02020603050405020304" pitchFamily="18" charset="0"/>
              </a:rPr>
              <a:t>独立编址的</a:t>
            </a:r>
            <a:r>
              <a:rPr lang="en-US" altLang="zh-CN" dirty="0">
                <a:latin typeface="Times New Roman" panose="02020603050405020304" pitchFamily="18" charset="0"/>
              </a:rPr>
              <a:t>I/O</a:t>
            </a:r>
            <a:endParaRPr lang="en-US" altLang="zh-CN" dirty="0">
              <a:latin typeface="Times New Roman" panose="02020603050405020304" pitchFamily="18" charset="0"/>
            </a:endParaRPr>
          </a:p>
          <a:p>
            <a:pPr lvl="1">
              <a:lnSpc>
                <a:spcPct val="110000"/>
              </a:lnSpc>
            </a:pPr>
            <a:r>
              <a:rPr lang="zh-CN" altLang="en-US" sz="2400" dirty="0">
                <a:latin typeface="Times New Roman" panose="02020603050405020304" pitchFamily="18" charset="0"/>
              </a:rPr>
              <a:t>使用</a:t>
            </a:r>
            <a:r>
              <a:rPr lang="zh-CN" altLang="en-US" sz="2400" dirty="0">
                <a:solidFill>
                  <a:srgbClr val="FF0000"/>
                </a:solidFill>
                <a:latin typeface="Times New Roman" panose="02020603050405020304" pitchFamily="18" charset="0"/>
              </a:rPr>
              <a:t>专门的输入</a:t>
            </a:r>
            <a:r>
              <a:rPr lang="en-US" altLang="zh-CN" sz="2400" dirty="0">
                <a:solidFill>
                  <a:srgbClr val="FF0000"/>
                </a:solidFill>
                <a:latin typeface="Times New Roman" panose="02020603050405020304" pitchFamily="18" charset="0"/>
              </a:rPr>
              <a:t>/</a:t>
            </a:r>
            <a:r>
              <a:rPr lang="zh-CN" altLang="en-US" sz="2400" dirty="0">
                <a:solidFill>
                  <a:srgbClr val="FF0000"/>
                </a:solidFill>
                <a:latin typeface="Times New Roman" panose="02020603050405020304" pitchFamily="18" charset="0"/>
              </a:rPr>
              <a:t>输出指令</a:t>
            </a:r>
            <a:r>
              <a:rPr lang="zh-CN" altLang="en-US" sz="2400" dirty="0">
                <a:latin typeface="Times New Roman" panose="02020603050405020304" pitchFamily="18" charset="0"/>
              </a:rPr>
              <a:t>（</a:t>
            </a:r>
            <a:r>
              <a:rPr lang="en-US" altLang="zh-CN" sz="2400" dirty="0">
                <a:latin typeface="Times New Roman" panose="02020603050405020304" pitchFamily="18" charset="0"/>
              </a:rPr>
              <a:t>IN/OUT</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a:lnSpc>
                <a:spcPct val="110000"/>
              </a:lnSpc>
            </a:pPr>
            <a:r>
              <a:rPr lang="zh-CN" altLang="en-US" sz="2400" dirty="0">
                <a:latin typeface="Times New Roman" panose="02020603050405020304" pitchFamily="18" charset="0"/>
              </a:rPr>
              <a:t>指令中应给出外部设备编号（端口地址）；</a:t>
            </a:r>
            <a:endParaRPr lang="zh-CN" altLang="en-US" sz="2400" dirty="0">
              <a:latin typeface="Times New Roman" panose="02020603050405020304" pitchFamily="18" charset="0"/>
            </a:endParaRPr>
          </a:p>
          <a:p>
            <a:pPr lvl="1">
              <a:lnSpc>
                <a:spcPct val="110000"/>
              </a:lnSpc>
            </a:pPr>
            <a:r>
              <a:rPr lang="zh-CN" altLang="en-US" sz="2400" dirty="0">
                <a:latin typeface="Times New Roman" panose="02020603050405020304" pitchFamily="18" charset="0"/>
              </a:rPr>
              <a:t>端口地址与主存地址无关，是另一个独立地址空间。</a:t>
            </a:r>
            <a:endParaRPr lang="en-US" altLang="zh-CN" sz="2400" dirty="0">
              <a:latin typeface="Times New Roman" panose="02020603050405020304" pitchFamily="18" charset="0"/>
            </a:endParaRPr>
          </a:p>
          <a:p>
            <a:pPr lvl="1">
              <a:lnSpc>
                <a:spcPct val="110000"/>
              </a:lnSpc>
            </a:pPr>
            <a:r>
              <a:rPr lang="en-US" altLang="zh-CN" sz="2400" dirty="0">
                <a:latin typeface="Times New Roman" panose="02020603050405020304" pitchFamily="18" charset="0"/>
              </a:rPr>
              <a:t>80x86</a:t>
            </a:r>
            <a:r>
              <a:rPr lang="zh-CN" altLang="en-US" sz="2400" dirty="0">
                <a:latin typeface="Times New Roman" panose="02020603050405020304" pitchFamily="18" charset="0"/>
              </a:rPr>
              <a:t>采用的是独立编址方式。</a:t>
            </a:r>
            <a:endParaRPr lang="en-US" altLang="zh-CN" sz="2400" dirty="0">
              <a:latin typeface="Times New Roman" panose="02020603050405020304" pitchFamily="18" charset="0"/>
            </a:endParaRPr>
          </a:p>
          <a:p>
            <a:pPr>
              <a:lnSpc>
                <a:spcPct val="110000"/>
              </a:lnSpc>
              <a:spcBef>
                <a:spcPts val="1800"/>
              </a:spcBef>
            </a:pPr>
            <a:r>
              <a:rPr lang="en-US" altLang="zh-CN" dirty="0">
                <a:latin typeface="Times New Roman" panose="02020603050405020304" pitchFamily="18" charset="0"/>
              </a:rPr>
              <a:t>2.</a:t>
            </a:r>
            <a:r>
              <a:rPr lang="zh-CN" altLang="en-US" dirty="0">
                <a:latin typeface="Times New Roman" panose="02020603050405020304" pitchFamily="18" charset="0"/>
              </a:rPr>
              <a:t>统一编址的</a:t>
            </a:r>
            <a:r>
              <a:rPr lang="en-US" altLang="zh-CN" dirty="0">
                <a:latin typeface="Times New Roman" panose="02020603050405020304" pitchFamily="18" charset="0"/>
              </a:rPr>
              <a:t>I/O</a:t>
            </a:r>
            <a:endParaRPr lang="en-US" altLang="zh-CN" dirty="0">
              <a:latin typeface="Times New Roman" panose="02020603050405020304" pitchFamily="18" charset="0"/>
            </a:endParaRPr>
          </a:p>
          <a:p>
            <a:pPr lvl="1">
              <a:lnSpc>
                <a:spcPct val="110000"/>
              </a:lnSpc>
            </a:pPr>
            <a:r>
              <a:rPr lang="zh-CN" altLang="en-US" sz="2400" dirty="0">
                <a:latin typeface="Times New Roman" panose="02020603050405020304" pitchFamily="18" charset="0"/>
              </a:rPr>
              <a:t>把外设寄存器和主存单元统一编址；</a:t>
            </a:r>
            <a:endParaRPr lang="en-US" altLang="zh-CN" sz="2400" dirty="0">
              <a:latin typeface="Times New Roman" panose="02020603050405020304" pitchFamily="18" charset="0"/>
            </a:endParaRPr>
          </a:p>
          <a:p>
            <a:pPr lvl="1">
              <a:lnSpc>
                <a:spcPct val="110000"/>
              </a:lnSpc>
            </a:pPr>
            <a:r>
              <a:rPr lang="zh-CN" altLang="en-US" sz="2400" dirty="0">
                <a:solidFill>
                  <a:srgbClr val="FF0000"/>
                </a:solidFill>
                <a:latin typeface="Times New Roman" panose="02020603050405020304" pitchFamily="18" charset="0"/>
              </a:rPr>
              <a:t>不需要专门的</a:t>
            </a:r>
            <a:r>
              <a:rPr lang="en-US" altLang="zh-CN" sz="2400" dirty="0">
                <a:solidFill>
                  <a:srgbClr val="FF0000"/>
                </a:solidFill>
                <a:latin typeface="Times New Roman" panose="02020603050405020304" pitchFamily="18" charset="0"/>
              </a:rPr>
              <a:t>I/O</a:t>
            </a:r>
            <a:r>
              <a:rPr lang="zh-CN" altLang="en-US" sz="2400" dirty="0">
                <a:solidFill>
                  <a:srgbClr val="FF0000"/>
                </a:solidFill>
                <a:latin typeface="Times New Roman" panose="02020603050405020304" pitchFamily="18" charset="0"/>
              </a:rPr>
              <a:t>指令</a:t>
            </a:r>
            <a:r>
              <a:rPr lang="zh-CN" altLang="en-US" sz="2400" dirty="0">
                <a:latin typeface="Times New Roman" panose="02020603050405020304" pitchFamily="18" charset="0"/>
              </a:rPr>
              <a:t>，采用数据传送类指令；</a:t>
            </a:r>
            <a:endParaRPr lang="en-US" altLang="zh-CN" sz="2400" dirty="0">
              <a:latin typeface="Times New Roman" panose="02020603050405020304" pitchFamily="18" charset="0"/>
            </a:endParaRPr>
          </a:p>
          <a:p>
            <a:pPr lvl="1">
              <a:lnSpc>
                <a:spcPct val="110000"/>
              </a:lnSpc>
            </a:pPr>
            <a:r>
              <a:rPr lang="zh-CN" altLang="en-US" sz="2400" dirty="0">
                <a:latin typeface="Times New Roman" panose="02020603050405020304" pitchFamily="18" charset="0"/>
              </a:rPr>
              <a:t>外部设备两个寄存器：</a:t>
            </a:r>
            <a:r>
              <a:rPr lang="zh-CN" altLang="en-US" sz="2400" dirty="0">
                <a:solidFill>
                  <a:srgbClr val="FF0000"/>
                </a:solidFill>
                <a:latin typeface="Times New Roman" panose="02020603050405020304" pitchFamily="18" charset="0"/>
              </a:rPr>
              <a:t>数据寄存器、命令状态寄存器</a:t>
            </a:r>
            <a:endParaRPr lang="zh-CN" altLang="en-US" sz="2400" dirty="0">
              <a:solidFill>
                <a:srgbClr val="FF0000"/>
              </a:solidFill>
              <a:latin typeface="Times New Roman" panose="02020603050405020304" pitchFamily="18" charset="0"/>
            </a:endParaRPr>
          </a:p>
          <a:p>
            <a:pPr lvl="1">
              <a:lnSpc>
                <a:spcPct val="110000"/>
              </a:lnSpc>
            </a:pPr>
            <a:r>
              <a:rPr lang="zh-CN" altLang="en-US" sz="2400" dirty="0">
                <a:latin typeface="Times New Roman" panose="02020603050405020304" pitchFamily="18" charset="0"/>
              </a:rPr>
              <a:t>每个外设寄存器由分配给它们的唯一主存地址识别。 </a:t>
            </a:r>
            <a:endParaRPr lang="zh-CN" altLang="en-US" sz="2400" dirty="0">
              <a:latin typeface="Times New Roman" panose="02020603050405020304" pitchFamily="18" charset="0"/>
            </a:endParaRPr>
          </a:p>
          <a:p>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标题 1"/>
          <p:cNvSpPr>
            <a:spLocks noGrp="1"/>
          </p:cNvSpPr>
          <p:nvPr>
            <p:ph type="title"/>
          </p:nvPr>
        </p:nvSpPr>
        <p:spPr>
          <a:noFill/>
          <a:ln>
            <a:noFill/>
          </a:ln>
        </p:spPr>
        <p:txBody>
          <a:bodyPr anchor="t" anchorCtr="0"/>
          <a:p>
            <a:r>
              <a:rPr lang="zh-CN" altLang="en-US" dirty="0"/>
              <a:t>两种编址方式比较 </a:t>
            </a:r>
            <a:endParaRPr lang="zh-CN" altLang="en-US" dirty="0"/>
          </a:p>
        </p:txBody>
      </p:sp>
      <p:graphicFrame>
        <p:nvGraphicFramePr>
          <p:cNvPr id="4" name="表格 3"/>
          <p:cNvGraphicFramePr>
            <a:graphicFrameLocks noGrp="1"/>
          </p:cNvGraphicFramePr>
          <p:nvPr>
            <p:custDataLst>
              <p:tags r:id="rId1"/>
            </p:custDataLst>
          </p:nvPr>
        </p:nvGraphicFramePr>
        <p:xfrm>
          <a:off x="792163" y="1423988"/>
          <a:ext cx="7559675" cy="4165600"/>
        </p:xfrm>
        <a:graphic>
          <a:graphicData uri="http://schemas.openxmlformats.org/drawingml/2006/table">
            <a:tbl>
              <a:tblPr firstRow="1" bandRow="1">
                <a:tableStyleId>{5C22544A-7EE6-4342-B048-85BDC9FD1C3A}</a:tableStyleId>
              </a:tblPr>
              <a:tblGrid>
                <a:gridCol w="1151950"/>
                <a:gridCol w="3095867"/>
                <a:gridCol w="3311858"/>
              </a:tblGrid>
              <a:tr h="637266">
                <a:tc>
                  <a:txBody>
                    <a:bodyPr/>
                    <a:lstStyle/>
                    <a:p>
                      <a:pPr algn="ctr" eaLnBrk="1" hangingPunct="1"/>
                      <a:endParaRPr kumimoji="1" lang="zh-CN" altLang="en-US" sz="1800" b="1" dirty="0">
                        <a:solidFill>
                          <a:schemeClr val="tx1"/>
                        </a:solidFill>
                        <a:latin typeface="Times New Roman" panose="02020603050405020304" pitchFamily="18" charset="0"/>
                        <a:ea typeface="+mn-ea"/>
                        <a:cs typeface="Times New Roman" panose="02020603050405020304" pitchFamily="18" charset="0"/>
                      </a:endParaRPr>
                    </a:p>
                  </a:txBody>
                  <a:tcPr marL="91426" marR="91426" marT="45719" marB="45719" anchor="ctr"/>
                </a:tc>
                <a:tc>
                  <a:txBody>
                    <a:bodyPr/>
                    <a:lstStyle/>
                    <a:p>
                      <a:pPr algn="ctr" eaLnBrk="1" hangingPunct="1"/>
                      <a:r>
                        <a:rPr kumimoji="1" lang="zh-CN" altLang="en-US" sz="2400" b="1" dirty="0">
                          <a:solidFill>
                            <a:schemeClr val="tx1"/>
                          </a:solidFill>
                          <a:latin typeface="Times New Roman" panose="02020603050405020304" pitchFamily="18" charset="0"/>
                          <a:ea typeface="+mn-ea"/>
                          <a:cs typeface="Times New Roman" panose="02020603050405020304" pitchFamily="18" charset="0"/>
                        </a:rPr>
                        <a:t>独立编址方式</a:t>
                      </a:r>
                      <a:endParaRPr kumimoji="1" lang="zh-CN" altLang="en-US" sz="2400" b="1" dirty="0">
                        <a:solidFill>
                          <a:schemeClr val="tx1"/>
                        </a:solidFill>
                        <a:latin typeface="Times New Roman" panose="02020603050405020304" pitchFamily="18" charset="0"/>
                        <a:ea typeface="+mn-ea"/>
                        <a:cs typeface="Times New Roman" panose="02020603050405020304" pitchFamily="18" charset="0"/>
                      </a:endParaRPr>
                    </a:p>
                  </a:txBody>
                  <a:tcPr marL="91426" marR="91426" marT="45719" marB="45719"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2400" b="1" dirty="0">
                          <a:solidFill>
                            <a:schemeClr val="tx1"/>
                          </a:solidFill>
                          <a:latin typeface="Times New Roman" panose="02020603050405020304" pitchFamily="18" charset="0"/>
                          <a:ea typeface="+mn-ea"/>
                          <a:cs typeface="Times New Roman" panose="02020603050405020304" pitchFamily="18" charset="0"/>
                        </a:rPr>
                        <a:t>统一编址方式</a:t>
                      </a:r>
                      <a:endParaRPr lang="zh-CN" altLang="en-US" sz="2400" dirty="0">
                        <a:latin typeface="Times New Roman" panose="02020603050405020304" pitchFamily="18" charset="0"/>
                        <a:ea typeface="+mn-ea"/>
                        <a:cs typeface="Times New Roman" panose="02020603050405020304" pitchFamily="18" charset="0"/>
                      </a:endParaRPr>
                    </a:p>
                  </a:txBody>
                  <a:tcPr marL="91426" marR="91426" marT="45719" marB="45719" anchor="ctr"/>
                </a:tc>
              </a:tr>
              <a:tr h="2304218">
                <a:tc>
                  <a:txBody>
                    <a:bodyPr/>
                    <a:lstStyle/>
                    <a:p>
                      <a:pPr algn="ctr"/>
                      <a:r>
                        <a:rPr lang="zh-CN" altLang="en-US" sz="2400" dirty="0">
                          <a:latin typeface="Times New Roman" panose="02020603050405020304" pitchFamily="18" charset="0"/>
                          <a:ea typeface="+mn-ea"/>
                          <a:cs typeface="Times New Roman" panose="02020603050405020304" pitchFamily="18" charset="0"/>
                        </a:rPr>
                        <a:t>优点</a:t>
                      </a:r>
                      <a:endParaRPr lang="zh-CN" altLang="en-US" sz="2400" dirty="0">
                        <a:latin typeface="Times New Roman" panose="02020603050405020304" pitchFamily="18" charset="0"/>
                        <a:ea typeface="+mn-ea"/>
                        <a:cs typeface="Times New Roman" panose="02020603050405020304" pitchFamily="18" charset="0"/>
                      </a:endParaRPr>
                    </a:p>
                  </a:txBody>
                  <a:tcPr marL="91426" marR="91426" marT="45719" marB="45719" anchor="ctr"/>
                </a:tc>
                <a:tc>
                  <a:txBody>
                    <a:bodyPr/>
                    <a:lstStyle/>
                    <a:p>
                      <a:pPr marL="342900" indent="-342900" algn="l" eaLnBrk="1" hangingPunct="1">
                        <a:lnSpc>
                          <a:spcPct val="110000"/>
                        </a:lnSpc>
                        <a:buFont typeface="Wingdings" panose="05000000000000000000" pitchFamily="2" charset="2"/>
                        <a:buChar char="l"/>
                      </a:pPr>
                      <a:r>
                        <a:rPr kumimoji="1" lang="en-US" altLang="zh-CN" sz="2400" b="0" dirty="0">
                          <a:solidFill>
                            <a:schemeClr val="tx1"/>
                          </a:solidFill>
                          <a:latin typeface="Times New Roman" panose="02020603050405020304" pitchFamily="18" charset="0"/>
                          <a:ea typeface="+mn-ea"/>
                          <a:cs typeface="Times New Roman" panose="02020603050405020304" pitchFamily="18" charset="0"/>
                        </a:rPr>
                        <a:t>I/O</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指令和访存指令容易区分；</a:t>
                      </a:r>
                      <a:endParaRPr kumimoji="1" lang="zh-CN" altLang="en-US" sz="2400" b="0" dirty="0">
                        <a:solidFill>
                          <a:schemeClr val="tx1"/>
                        </a:solidFill>
                        <a:latin typeface="Times New Roman" panose="02020603050405020304" pitchFamily="18" charset="0"/>
                        <a:ea typeface="+mn-ea"/>
                        <a:cs typeface="Times New Roman" panose="02020603050405020304" pitchFamily="18" charset="0"/>
                      </a:endParaRPr>
                    </a:p>
                    <a:p>
                      <a:pPr marL="342900" indent="-342900" algn="l" fontAlgn="auto">
                        <a:lnSpc>
                          <a:spcPct val="110000"/>
                        </a:lnSpc>
                        <a:spcBef>
                          <a:spcPts val="600"/>
                        </a:spcBef>
                        <a:buFont typeface="Wingdings" panose="05000000000000000000" pitchFamily="2" charset="2"/>
                        <a:buChar char="l"/>
                      </a:pPr>
                      <a:r>
                        <a:rPr kumimoji="1" lang="zh-CN" altLang="en-US" sz="2400" b="0" dirty="0">
                          <a:solidFill>
                            <a:srgbClr val="FF0000"/>
                          </a:solidFill>
                          <a:latin typeface="Times New Roman" panose="02020603050405020304" pitchFamily="18" charset="0"/>
                          <a:ea typeface="+mn-ea"/>
                          <a:cs typeface="Times New Roman" panose="02020603050405020304" pitchFamily="18" charset="0"/>
                        </a:rPr>
                        <a:t>外设地址线少</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，译码简单，</a:t>
                      </a:r>
                      <a:r>
                        <a:rPr kumimoji="1" lang="zh-CN" altLang="en-US" sz="2400" b="0" dirty="0">
                          <a:solidFill>
                            <a:srgbClr val="FF0000"/>
                          </a:solidFill>
                          <a:latin typeface="Times New Roman" panose="02020603050405020304" pitchFamily="18" charset="0"/>
                          <a:ea typeface="+mn-ea"/>
                          <a:cs typeface="Times New Roman" panose="02020603050405020304" pitchFamily="18" charset="0"/>
                        </a:rPr>
                        <a:t>主存地址空间不会减少</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a:t>
                      </a:r>
                      <a:endParaRPr lang="zh-CN" altLang="en-US" sz="2400" b="0" dirty="0">
                        <a:latin typeface="Times New Roman" panose="02020603050405020304" pitchFamily="18" charset="0"/>
                        <a:ea typeface="+mn-ea"/>
                        <a:cs typeface="Times New Roman" panose="02020603050405020304" pitchFamily="18" charset="0"/>
                      </a:endParaRPr>
                    </a:p>
                  </a:txBody>
                  <a:tcPr marL="91426" marR="91426" marT="45719" marB="45719" anchor="ctr" anchorCtr="0"/>
                </a:tc>
                <a:tc>
                  <a:txBody>
                    <a:bodyPr/>
                    <a:lstStyle/>
                    <a:p>
                      <a:pPr marL="342900" marR="0" indent="-342900" algn="l"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kumimoji="1" lang="zh-CN" altLang="en-US" sz="2400" b="0" dirty="0">
                          <a:solidFill>
                            <a:srgbClr val="FF0000"/>
                          </a:solidFill>
                          <a:latin typeface="Times New Roman" panose="02020603050405020304" pitchFamily="18" charset="0"/>
                          <a:ea typeface="+mn-ea"/>
                          <a:cs typeface="Times New Roman" panose="02020603050405020304" pitchFamily="18" charset="0"/>
                        </a:rPr>
                        <a:t>总线结构简单</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a:t>
                      </a:r>
                      <a:endParaRPr kumimoji="1" lang="zh-CN" altLang="en-US" sz="2400" b="0"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全部访存类指令都可用于控制外设；</a:t>
                      </a:r>
                      <a:endParaRPr kumimoji="1" lang="zh-CN" altLang="en-US" sz="2400" b="0"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可</a:t>
                      </a:r>
                      <a:r>
                        <a:rPr kumimoji="1" lang="zh-CN" altLang="en-US" sz="2400" b="0" dirty="0">
                          <a:solidFill>
                            <a:srgbClr val="FF0000"/>
                          </a:solidFill>
                          <a:latin typeface="Times New Roman" panose="02020603050405020304" pitchFamily="18" charset="0"/>
                          <a:ea typeface="+mn-ea"/>
                          <a:cs typeface="Times New Roman" panose="02020603050405020304" pitchFamily="18" charset="0"/>
                        </a:rPr>
                        <a:t>直接对外设寄存器进行各种运算</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a:t>
                      </a:r>
                      <a:endParaRPr lang="zh-CN" altLang="en-US" sz="2400" b="0" dirty="0">
                        <a:latin typeface="Times New Roman" panose="02020603050405020304" pitchFamily="18" charset="0"/>
                        <a:ea typeface="+mn-ea"/>
                        <a:cs typeface="Times New Roman" panose="02020603050405020304" pitchFamily="18" charset="0"/>
                      </a:endParaRPr>
                    </a:p>
                  </a:txBody>
                  <a:tcPr marL="91426" marR="91426" marT="45719" marB="45719" anchor="ctr"/>
                </a:tc>
              </a:tr>
              <a:tr h="1224116">
                <a:tc>
                  <a:txBody>
                    <a:bodyPr/>
                    <a:lstStyle/>
                    <a:p>
                      <a:pPr algn="ctr"/>
                      <a:r>
                        <a:rPr lang="zh-CN" altLang="en-US" sz="2400" dirty="0">
                          <a:latin typeface="Times New Roman" panose="02020603050405020304" pitchFamily="18" charset="0"/>
                          <a:ea typeface="+mn-ea"/>
                          <a:cs typeface="Times New Roman" panose="02020603050405020304" pitchFamily="18" charset="0"/>
                        </a:rPr>
                        <a:t>缺点</a:t>
                      </a:r>
                      <a:endParaRPr lang="zh-CN" altLang="en-US" sz="2400" dirty="0">
                        <a:latin typeface="Times New Roman" panose="02020603050405020304" pitchFamily="18" charset="0"/>
                        <a:ea typeface="+mn-ea"/>
                        <a:cs typeface="Times New Roman" panose="02020603050405020304" pitchFamily="18" charset="0"/>
                      </a:endParaRPr>
                    </a:p>
                  </a:txBody>
                  <a:tcPr marL="91426" marR="91426" marT="45719" marB="45719" anchor="ctr" anchorCtr="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控制线增加了</a:t>
                      </a:r>
                      <a:r>
                        <a:rPr kumimoji="1" lang="en-US" altLang="zh-CN" sz="2400" b="0" dirty="0">
                          <a:solidFill>
                            <a:schemeClr val="tx1"/>
                          </a:solidFill>
                          <a:latin typeface="Times New Roman" panose="02020603050405020304" pitchFamily="18" charset="0"/>
                          <a:ea typeface="+mn-ea"/>
                          <a:cs typeface="Times New Roman" panose="02020603050405020304" pitchFamily="18" charset="0"/>
                        </a:rPr>
                        <a:t>I/O Read</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和</a:t>
                      </a:r>
                      <a:r>
                        <a:rPr kumimoji="1" lang="en-US" altLang="zh-CN" sz="2400" b="0" dirty="0">
                          <a:solidFill>
                            <a:schemeClr val="tx1"/>
                          </a:solidFill>
                          <a:latin typeface="Times New Roman" panose="02020603050405020304" pitchFamily="18" charset="0"/>
                          <a:ea typeface="+mn-ea"/>
                          <a:cs typeface="Times New Roman" panose="02020603050405020304" pitchFamily="18" charset="0"/>
                        </a:rPr>
                        <a:t>I/O Write</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信号</a:t>
                      </a:r>
                      <a:endParaRPr lang="zh-CN" altLang="en-US" sz="2400" b="0" dirty="0">
                        <a:latin typeface="Times New Roman" panose="02020603050405020304" pitchFamily="18" charset="0"/>
                        <a:ea typeface="+mn-ea"/>
                        <a:cs typeface="Times New Roman" panose="02020603050405020304" pitchFamily="18" charset="0"/>
                      </a:endParaRPr>
                    </a:p>
                  </a:txBody>
                  <a:tcPr marL="91426" marR="91426" marT="45719" marB="45719" anchor="ctr" anchorCtr="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占用</a:t>
                      </a:r>
                      <a:r>
                        <a:rPr kumimoji="1" lang="zh-CN" altLang="en-US" sz="2400" dirty="0">
                          <a:solidFill>
                            <a:schemeClr val="tx1"/>
                          </a:solidFill>
                          <a:latin typeface="Times New Roman" panose="02020603050405020304" pitchFamily="18" charset="0"/>
                          <a:cs typeface="Times New Roman" panose="02020603050405020304" pitchFamily="18" charset="0"/>
                          <a:sym typeface="+mn-ea"/>
                        </a:rPr>
                        <a:t>一部分</a:t>
                      </a:r>
                      <a:r>
                        <a:rPr kumimoji="1" lang="zh-CN" altLang="en-US" sz="2400" b="0" dirty="0">
                          <a:solidFill>
                            <a:schemeClr val="tx1"/>
                          </a:solidFill>
                          <a:latin typeface="Times New Roman" panose="02020603050405020304" pitchFamily="18" charset="0"/>
                          <a:ea typeface="+mn-ea"/>
                          <a:cs typeface="Times New Roman" panose="02020603050405020304" pitchFamily="18" charset="0"/>
                        </a:rPr>
                        <a:t>主存地址空间，缩小了可用的主存地址空间</a:t>
                      </a:r>
                      <a:endParaRPr lang="zh-CN" altLang="en-US" sz="2400" b="0" dirty="0">
                        <a:latin typeface="Times New Roman" panose="02020603050405020304" pitchFamily="18" charset="0"/>
                        <a:ea typeface="+mn-ea"/>
                        <a:cs typeface="Times New Roman" panose="02020603050405020304" pitchFamily="18" charset="0"/>
                      </a:endParaRPr>
                    </a:p>
                  </a:txBody>
                  <a:tcPr marL="91426" marR="91426" marT="45719" marB="45719" anchor="ctr" anchorCtr="0"/>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3.4.5  80x86</a:t>
            </a:r>
            <a:r>
              <a:rPr lang="zh-CN" altLang="en-US" dirty="0">
                <a:latin typeface="Times New Roman" panose="02020603050405020304" pitchFamily="18" charset="0"/>
              </a:rPr>
              <a:t>指令系统举例</a:t>
            </a:r>
            <a:endParaRPr lang="zh-CN" altLang="en-US" dirty="0">
              <a:latin typeface="Times New Roman" panose="02020603050405020304" pitchFamily="18" charset="0"/>
              <a:ea typeface="Times New Roman" panose="02020603050405020304" pitchFamily="18" charset="0"/>
            </a:endParaRPr>
          </a:p>
        </p:txBody>
      </p:sp>
      <p:sp>
        <p:nvSpPr>
          <p:cNvPr id="97282" name="内容占位符 2"/>
          <p:cNvSpPr>
            <a:spLocks noGrp="1"/>
          </p:cNvSpPr>
          <p:nvPr>
            <p:ph idx="1"/>
          </p:nvPr>
        </p:nvSpPr>
        <p:spPr>
          <a:xfrm>
            <a:off x="457200" y="1600200"/>
            <a:ext cx="4330700" cy="4525963"/>
          </a:xfrm>
          <a:noFill/>
          <a:ln>
            <a:noFill/>
          </a:ln>
        </p:spPr>
        <p:txBody>
          <a:bodyPr anchor="t" anchorCtr="0"/>
          <a:p>
            <a:r>
              <a:rPr lang="en-US" altLang="zh-CN" dirty="0">
                <a:latin typeface="Times New Roman" panose="02020603050405020304" pitchFamily="18" charset="0"/>
              </a:rPr>
              <a:t>MOV</a:t>
            </a:r>
            <a:r>
              <a:rPr lang="zh-CN" altLang="en-US" dirty="0">
                <a:latin typeface="Times New Roman" panose="02020603050405020304" pitchFamily="18" charset="0"/>
              </a:rPr>
              <a:t>指令</a:t>
            </a:r>
            <a:endParaRPr lang="zh-CN" altLang="en-US" dirty="0">
              <a:latin typeface="Times New Roman" panose="02020603050405020304" pitchFamily="18" charset="0"/>
            </a:endParaRPr>
          </a:p>
          <a:p>
            <a:r>
              <a:rPr lang="en-US" altLang="zh-CN" dirty="0">
                <a:latin typeface="Times New Roman" panose="02020603050405020304" pitchFamily="18" charset="0"/>
              </a:rPr>
              <a:t>PUSH/POP</a:t>
            </a:r>
            <a:r>
              <a:rPr lang="zh-CN" altLang="en-US" dirty="0">
                <a:latin typeface="Times New Roman" panose="02020603050405020304" pitchFamily="18" charset="0"/>
              </a:rPr>
              <a:t>指令</a:t>
            </a:r>
            <a:endParaRPr lang="zh-CN" altLang="en-US" dirty="0">
              <a:latin typeface="Times New Roman" panose="02020603050405020304" pitchFamily="18" charset="0"/>
            </a:endParaRPr>
          </a:p>
          <a:p>
            <a:r>
              <a:rPr lang="zh-CN" altLang="en-US" dirty="0">
                <a:latin typeface="Times New Roman" panose="02020603050405020304" pitchFamily="18" charset="0"/>
              </a:rPr>
              <a:t>加、减和比较指令</a:t>
            </a:r>
            <a:endParaRPr lang="zh-CN" altLang="en-US" dirty="0">
              <a:latin typeface="Times New Roman" panose="02020603050405020304" pitchFamily="18" charset="0"/>
            </a:endParaRPr>
          </a:p>
          <a:p>
            <a:r>
              <a:rPr lang="zh-CN" altLang="en-US" dirty="0">
                <a:latin typeface="Times New Roman" panose="02020603050405020304" pitchFamily="18" charset="0"/>
              </a:rPr>
              <a:t>乘法、除法指令</a:t>
            </a:r>
            <a:endParaRPr lang="zh-CN" altLang="en-US" dirty="0">
              <a:latin typeface="Times New Roman" panose="02020603050405020304" pitchFamily="18" charset="0"/>
            </a:endParaRPr>
          </a:p>
          <a:p>
            <a:r>
              <a:rPr lang="en-US" altLang="zh-CN" dirty="0">
                <a:latin typeface="Times New Roman" panose="02020603050405020304" pitchFamily="18" charset="0"/>
              </a:rPr>
              <a:t>BCD</a:t>
            </a:r>
            <a:r>
              <a:rPr lang="zh-CN" altLang="en-US" dirty="0">
                <a:latin typeface="Times New Roman" panose="02020603050405020304" pitchFamily="18" charset="0"/>
              </a:rPr>
              <a:t>运算和</a:t>
            </a:r>
            <a:r>
              <a:rPr lang="en-US" altLang="zh-CN" dirty="0">
                <a:latin typeface="Times New Roman" panose="02020603050405020304" pitchFamily="18" charset="0"/>
              </a:rPr>
              <a:t>ASCII</a:t>
            </a:r>
            <a:r>
              <a:rPr lang="zh-CN" altLang="en-US" dirty="0">
                <a:latin typeface="Times New Roman" panose="02020603050405020304" pitchFamily="18" charset="0"/>
              </a:rPr>
              <a:t>运算</a:t>
            </a:r>
            <a:endParaRPr lang="zh-CN" altLang="en-US" dirty="0">
              <a:latin typeface="Times New Roman" panose="02020603050405020304" pitchFamily="18" charset="0"/>
            </a:endParaRPr>
          </a:p>
          <a:p>
            <a:r>
              <a:rPr lang="zh-CN" altLang="en-US" dirty="0">
                <a:latin typeface="Times New Roman" panose="02020603050405020304" pitchFamily="18" charset="0"/>
              </a:rPr>
              <a:t>基本逻辑指令</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
        <p:nvSpPr>
          <p:cNvPr id="4" name="矩形 3"/>
          <p:cNvSpPr/>
          <p:nvPr/>
        </p:nvSpPr>
        <p:spPr>
          <a:xfrm>
            <a:off x="4816475" y="1622425"/>
            <a:ext cx="4327525" cy="2590800"/>
          </a:xfrm>
          <a:prstGeom prst="rect">
            <a:avLst/>
          </a:prstGeom>
        </p:spPr>
        <p:txBody>
          <a:bodyPr>
            <a:spAutoFit/>
          </a:bodyPr>
          <a:lstStyle/>
          <a:p>
            <a:pPr marL="342900" marR="0" lvl="0" indent="-342900" algn="l" defTabSz="914400" rtl="0" eaLnBrk="0" fontAlgn="base" latinLnBrk="0" hangingPunct="0">
              <a:lnSpc>
                <a:spcPct val="100000"/>
              </a:lnSpc>
              <a:spcBef>
                <a:spcPct val="20000"/>
              </a:spcBef>
              <a:spcAft>
                <a:spcPct val="0"/>
              </a:spcAft>
              <a:buClr>
                <a:srgbClr val="6E815B"/>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rPr>
              <a:t>位测试指令</a:t>
            </a:r>
            <a:endPar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rgbClr val="6E815B"/>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rPr>
              <a:t>移位与循环指令</a:t>
            </a:r>
            <a:endPar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rgbClr val="6E815B"/>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rPr>
              <a:t>转移控制指令</a:t>
            </a:r>
            <a:endPar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rgbClr val="6E815B"/>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rPr>
              <a:t>子程序调用和返回指令</a:t>
            </a:r>
            <a:endPar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rgbClr val="6E815B"/>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rPr>
              <a:t>输入输出指令</a:t>
            </a:r>
            <a:endParaRPr kumimoji="0" lang="zh-CN" altLang="en-US" sz="2800" b="1" i="0" u="none" strike="noStrike" kern="0" cap="none" spc="0" normalizeH="0" baseline="0" noProof="0" dirty="0">
              <a:ln>
                <a:noFill/>
              </a:ln>
              <a:solidFill>
                <a:srgbClr val="6E815B"/>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3.5 </a:t>
            </a:r>
            <a:r>
              <a:rPr lang="zh-CN" altLang="en-US" dirty="0">
                <a:latin typeface="Times New Roman" panose="02020603050405020304" pitchFamily="18" charset="0"/>
              </a:rPr>
              <a:t>指令系统的发展</a:t>
            </a:r>
            <a:endParaRPr lang="zh-CN" altLang="en-US" dirty="0">
              <a:latin typeface="Times New Roman" panose="02020603050405020304" pitchFamily="18" charset="0"/>
            </a:endParaRPr>
          </a:p>
        </p:txBody>
      </p:sp>
      <p:sp>
        <p:nvSpPr>
          <p:cNvPr id="98306" name="内容占位符 2"/>
          <p:cNvSpPr>
            <a:spLocks noGrp="1"/>
          </p:cNvSpPr>
          <p:nvPr>
            <p:ph idx="1"/>
          </p:nvPr>
        </p:nvSpPr>
        <p:spPr>
          <a:xfrm>
            <a:off x="457200" y="1417638"/>
            <a:ext cx="8229600" cy="4697412"/>
          </a:xfrm>
          <a:noFill/>
          <a:ln>
            <a:noFill/>
          </a:ln>
        </p:spPr>
        <p:txBody>
          <a:bodyPr anchor="t" anchorCtr="0"/>
          <a:p>
            <a:r>
              <a:rPr lang="zh-CN" altLang="en-US" dirty="0">
                <a:latin typeface="Times New Roman" panose="02020603050405020304" pitchFamily="18" charset="0"/>
              </a:rPr>
              <a:t>不同类型的计算机有各具特色的指令系统，由于计算机的</a:t>
            </a:r>
            <a:r>
              <a:rPr lang="zh-CN" altLang="en-US" dirty="0">
                <a:solidFill>
                  <a:srgbClr val="FF0000"/>
                </a:solidFill>
                <a:latin typeface="Times New Roman" panose="02020603050405020304" pitchFamily="18" charset="0"/>
              </a:rPr>
              <a:t>性能、机器结构和使用环境</a:t>
            </a:r>
            <a:r>
              <a:rPr lang="zh-CN" altLang="en-US" dirty="0">
                <a:latin typeface="Times New Roman" panose="02020603050405020304" pitchFamily="18" charset="0"/>
              </a:rPr>
              <a:t>不同，指令系统的差异也是很大的。</a:t>
            </a:r>
            <a:endParaRPr lang="zh-CN" altLang="en-US" dirty="0">
              <a:latin typeface="Times New Roman" panose="02020603050405020304" pitchFamily="18" charset="0"/>
            </a:endParaRPr>
          </a:p>
          <a:p>
            <a:pPr latinLnBrk="0">
              <a:spcBef>
                <a:spcPts val="1800"/>
              </a:spcBef>
            </a:pPr>
            <a:r>
              <a:rPr lang="en-US" altLang="zh-CN" dirty="0">
                <a:latin typeface="Times New Roman" panose="02020603050405020304" pitchFamily="18" charset="0"/>
              </a:rPr>
              <a:t>x86</a:t>
            </a:r>
            <a:r>
              <a:rPr lang="zh-CN" altLang="en-US" dirty="0">
                <a:latin typeface="Times New Roman" panose="02020603050405020304" pitchFamily="18" charset="0"/>
              </a:rPr>
              <a:t>架构的扩展指令集</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目前主流微机使用的指令系统都基于x86架构；</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为了提升处理器各方面的性能，Intel和AMD公司又各自开发了一些新的</a:t>
            </a:r>
            <a:r>
              <a:rPr lang="zh-CN" altLang="en-US" sz="2400" dirty="0">
                <a:solidFill>
                  <a:srgbClr val="FF0000"/>
                </a:solidFill>
                <a:latin typeface="Times New Roman" panose="02020603050405020304" pitchFamily="18" charset="0"/>
              </a:rPr>
              <a:t>扩展指令集</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包含处理器对多媒体、3D处理等方面的支持，能够提高处理器对这些方面处理的能力。</a:t>
            </a:r>
            <a:endParaRPr lang="zh-CN" altLang="en-US" sz="2400" dirty="0">
              <a:latin typeface="Times New Roman" panose="02020603050405020304" pitchFamily="18" charset="0"/>
            </a:endParaRPr>
          </a:p>
          <a:p>
            <a:pPr lvl="1"/>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3.5.2 </a:t>
            </a:r>
            <a:r>
              <a:rPr lang="zh-CN" altLang="en-US" dirty="0">
                <a:latin typeface="Times New Roman" panose="02020603050405020304" pitchFamily="18" charset="0"/>
              </a:rPr>
              <a:t>从复杂指令系统到精简指令系统</a:t>
            </a:r>
            <a:endParaRPr lang="zh-CN" altLang="en-US" dirty="0">
              <a:latin typeface="Times New Roman" panose="02020603050405020304" pitchFamily="18" charset="0"/>
              <a:ea typeface="Times New Roman" panose="02020603050405020304" pitchFamily="18" charset="0"/>
            </a:endParaRPr>
          </a:p>
        </p:txBody>
      </p:sp>
      <p:sp>
        <p:nvSpPr>
          <p:cNvPr id="99330" name="内容占位符 2"/>
          <p:cNvSpPr>
            <a:spLocks noGrp="1"/>
          </p:cNvSpPr>
          <p:nvPr>
            <p:ph idx="1"/>
          </p:nvPr>
        </p:nvSpPr>
        <p:spPr>
          <a:xfrm>
            <a:off x="457200" y="1425575"/>
            <a:ext cx="8229600" cy="4811713"/>
          </a:xfrm>
          <a:noFill/>
          <a:ln>
            <a:noFill/>
          </a:ln>
        </p:spPr>
        <p:txBody>
          <a:bodyPr anchor="t" anchorCtr="0"/>
          <a:p>
            <a:r>
              <a:rPr lang="zh-CN" altLang="en-US" dirty="0">
                <a:latin typeface="Times New Roman" panose="02020603050405020304" pitchFamily="18" charset="0"/>
              </a:rPr>
              <a:t> 从指令系统的完备性和有效性的角度来看，希望指令系统更丰富、功能更强。</a:t>
            </a:r>
            <a:endParaRPr lang="en-US" altLang="zh-CN" dirty="0">
              <a:latin typeface="Times New Roman" panose="02020603050405020304" pitchFamily="18" charset="0"/>
            </a:endParaRPr>
          </a:p>
          <a:p>
            <a:pPr lvl="1"/>
            <a:r>
              <a:rPr lang="zh-CN" altLang="en-US" sz="2400" dirty="0">
                <a:latin typeface="Times New Roman" panose="02020603050405020304" pitchFamily="18" charset="0"/>
              </a:rPr>
              <a:t>特别是系列机问世之后，为了能做到软件兼容，新设计的机型或高档机除了要继承老机器的指令系统中的全部指令外，还要增加若干新的指令，从而导致同一系列计算机的</a:t>
            </a:r>
            <a:r>
              <a:rPr lang="zh-CN" altLang="en-US" sz="2400" dirty="0">
                <a:solidFill>
                  <a:srgbClr val="FF0000"/>
                </a:solidFill>
                <a:latin typeface="Times New Roman" panose="02020603050405020304" pitchFamily="18" charset="0"/>
              </a:rPr>
              <a:t>指令系统越来越复杂，机器结构也越来越复杂</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a:spcBef>
                <a:spcPts val="1800"/>
              </a:spcBef>
            </a:pPr>
            <a:r>
              <a:rPr lang="zh-CN" altLang="en-US" dirty="0">
                <a:solidFill>
                  <a:srgbClr val="FF0000"/>
                </a:solidFill>
                <a:latin typeface="Times New Roman" panose="02020603050405020304" pitchFamily="18" charset="0"/>
              </a:rPr>
              <a:t>计算机性能越强，其指令系统应越复杂</a:t>
            </a:r>
            <a:r>
              <a:rPr lang="zh-CN" altLang="en-US" dirty="0">
                <a:latin typeface="Times New Roman" panose="02020603050405020304" pitchFamily="18" charset="0"/>
              </a:rPr>
              <a:t>的传统设计思想</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rPr>
              <a:t>复杂指令系统计算机，简称</a:t>
            </a:r>
            <a:r>
              <a:rPr lang="en-US" altLang="zh-CN" dirty="0">
                <a:solidFill>
                  <a:srgbClr val="FF0000"/>
                </a:solidFill>
                <a:latin typeface="Times New Roman" panose="02020603050405020304" pitchFamily="18" charset="0"/>
              </a:rPr>
              <a:t>CISC</a:t>
            </a:r>
            <a:r>
              <a:rPr lang="zh-CN" altLang="en-US" dirty="0">
                <a:latin typeface="Times New Roman" panose="02020603050405020304" pitchFamily="18" charset="0"/>
              </a:rPr>
              <a:t>（</a:t>
            </a:r>
            <a:r>
              <a:rPr lang="en-US" altLang="zh-CN" dirty="0">
                <a:latin typeface="Times New Roman" panose="02020603050405020304" pitchFamily="18" charset="0"/>
              </a:rPr>
              <a:t>Complex Instruction Set Computer</a:t>
            </a:r>
            <a:r>
              <a:rPr lang="zh-CN" altLang="en-US" dirty="0">
                <a:latin typeface="Times New Roman" panose="02020603050405020304" pitchFamily="18" charset="0"/>
              </a:rPr>
              <a:t>）。</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457200" y="274638"/>
            <a:ext cx="8229600" cy="1271587"/>
          </a:xfrm>
          <a:noFill/>
          <a:ln>
            <a:noFill/>
          </a:ln>
        </p:spPr>
        <p:txBody>
          <a:bodyPr anchor="t" anchorCtr="0"/>
          <a:p>
            <a:r>
              <a:rPr lang="en-US" altLang="zh-CN" dirty="0">
                <a:latin typeface="Times New Roman" panose="02020603050405020304" pitchFamily="18" charset="0"/>
              </a:rPr>
              <a:t>3.5.2 </a:t>
            </a:r>
            <a:r>
              <a:rPr lang="zh-CN" altLang="en-US" dirty="0">
                <a:latin typeface="Times New Roman" panose="02020603050405020304" pitchFamily="18" charset="0"/>
              </a:rPr>
              <a:t>从复杂指令系统到精简指令系统</a:t>
            </a:r>
            <a:endParaRPr lang="zh-CN" altLang="en-US" dirty="0">
              <a:latin typeface="Times New Roman" panose="02020603050405020304" pitchFamily="18" charset="0"/>
              <a:ea typeface="Times New Roman" panose="02020603050405020304" pitchFamily="18" charset="0"/>
            </a:endParaRPr>
          </a:p>
        </p:txBody>
      </p:sp>
      <p:sp>
        <p:nvSpPr>
          <p:cNvPr id="100354" name="内容占位符 2"/>
          <p:cNvSpPr>
            <a:spLocks noGrp="1"/>
          </p:cNvSpPr>
          <p:nvPr>
            <p:ph idx="1"/>
          </p:nvPr>
        </p:nvSpPr>
        <p:spPr>
          <a:xfrm>
            <a:off x="457200" y="1417638"/>
            <a:ext cx="8229600" cy="5035550"/>
          </a:xfrm>
          <a:noFill/>
          <a:ln>
            <a:noFill/>
          </a:ln>
        </p:spPr>
        <p:txBody>
          <a:bodyPr anchor="t" anchorCtr="0"/>
          <a:p>
            <a:r>
              <a:rPr lang="zh-CN" altLang="en-US" dirty="0">
                <a:latin typeface="Times New Roman" panose="02020603050405020304" pitchFamily="18" charset="0"/>
              </a:rPr>
              <a:t> 通过对传统的</a:t>
            </a:r>
            <a:r>
              <a:rPr lang="en-US" altLang="zh-CN" dirty="0">
                <a:latin typeface="Times New Roman" panose="02020603050405020304" pitchFamily="18" charset="0"/>
              </a:rPr>
              <a:t>CISC</a:t>
            </a:r>
            <a:r>
              <a:rPr lang="zh-CN" altLang="en-US" dirty="0">
                <a:latin typeface="Times New Roman" panose="02020603050405020304" pitchFamily="18" charset="0"/>
              </a:rPr>
              <a:t>指令系统进行测试表明，各种指令的使用频度相差很悬殊。</a:t>
            </a:r>
            <a:endParaRPr lang="en-US" altLang="zh-CN"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最常使用的是一些比较简单的指令，其数量占指令总数的</a:t>
            </a:r>
            <a:r>
              <a:rPr lang="en-US" altLang="zh-CN" sz="2400" dirty="0">
                <a:latin typeface="Times New Roman" panose="02020603050405020304" pitchFamily="18" charset="0"/>
              </a:rPr>
              <a:t>20</a:t>
            </a:r>
            <a:r>
              <a:rPr lang="zh-CN" altLang="en-US" sz="2400" dirty="0">
                <a:latin typeface="Times New Roman" panose="02020603050405020304" pitchFamily="18" charset="0"/>
              </a:rPr>
              <a:t>％，但在各种程序中出现的频度却占</a:t>
            </a:r>
            <a:r>
              <a:rPr lang="en-US" altLang="zh-CN" sz="2400" dirty="0">
                <a:latin typeface="Times New Roman" panose="02020603050405020304" pitchFamily="18" charset="0"/>
              </a:rPr>
              <a:t>80</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其余大多数指令是功能复杂的指令，其数量占指令总数的</a:t>
            </a:r>
            <a:r>
              <a:rPr lang="en-US" altLang="zh-CN" sz="2400" dirty="0">
                <a:latin typeface="Times New Roman" panose="02020603050405020304" pitchFamily="18" charset="0"/>
              </a:rPr>
              <a:t>80</a:t>
            </a:r>
            <a:r>
              <a:rPr lang="zh-CN" altLang="en-US" sz="2400" dirty="0">
                <a:latin typeface="Times New Roman" panose="02020603050405020304" pitchFamily="18" charset="0"/>
              </a:rPr>
              <a:t>％，但其使用频度很低，仅占</a:t>
            </a:r>
            <a:r>
              <a:rPr lang="en-US" altLang="zh-CN" sz="2400" dirty="0">
                <a:latin typeface="Times New Roman" panose="02020603050405020304" pitchFamily="18" charset="0"/>
              </a:rPr>
              <a:t>20</a:t>
            </a:r>
            <a:r>
              <a:rPr lang="zh-CN" altLang="en-US" sz="2400" dirty="0">
                <a:latin typeface="Times New Roman" panose="02020603050405020304" pitchFamily="18" charset="0"/>
              </a:rPr>
              <a:t>％。</a:t>
            </a:r>
            <a:r>
              <a:rPr lang="en-US" altLang="zh-CN" sz="2400" dirty="0">
                <a:latin typeface="Times New Roman" panose="02020603050405020304" pitchFamily="18" charset="0"/>
                <a:ea typeface="Times New Roman" panose="02020603050405020304" pitchFamily="18" charset="0"/>
              </a:rPr>
              <a:t>——</a:t>
            </a:r>
            <a:r>
              <a:rPr lang="zh-CN" altLang="en-US" sz="2400" dirty="0">
                <a:solidFill>
                  <a:srgbClr val="FF0000"/>
                </a:solidFill>
                <a:latin typeface="Times New Roman" panose="02020603050405020304" pitchFamily="18" charset="0"/>
              </a:rPr>
              <a:t>“</a:t>
            </a:r>
            <a:r>
              <a:rPr lang="en-US" altLang="zh-CN" sz="2400" dirty="0">
                <a:solidFill>
                  <a:srgbClr val="FF0000"/>
                </a:solidFill>
                <a:latin typeface="Times New Roman" panose="02020603050405020304" pitchFamily="18" charset="0"/>
              </a:rPr>
              <a:t>20</a:t>
            </a:r>
            <a:r>
              <a:rPr lang="zh-CN" altLang="en-US" sz="2400" dirty="0">
                <a:solidFill>
                  <a:srgbClr val="FF0000"/>
                </a:solidFill>
                <a:latin typeface="Times New Roman" panose="02020603050405020304" pitchFamily="18" charset="0"/>
              </a:rPr>
              <a:t>％</a:t>
            </a:r>
            <a:r>
              <a:rPr lang="en-US" altLang="zh-CN" sz="2400" dirty="0">
                <a:solidFill>
                  <a:srgbClr val="FF0000"/>
                </a:solidFill>
                <a:latin typeface="Times New Roman" panose="02020603050405020304" pitchFamily="18" charset="0"/>
              </a:rPr>
              <a:t>-80</a:t>
            </a:r>
            <a:r>
              <a:rPr lang="zh-CN" altLang="en-US" sz="2400" dirty="0">
                <a:solidFill>
                  <a:srgbClr val="FF0000"/>
                </a:solidFill>
                <a:latin typeface="Times New Roman" panose="02020603050405020304" pitchFamily="18" charset="0"/>
              </a:rPr>
              <a:t>％律”</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a:spcBef>
                <a:spcPts val="1200"/>
              </a:spcBef>
            </a:pPr>
            <a:r>
              <a:rPr lang="en-US" altLang="zh-CN" dirty="0">
                <a:latin typeface="Times New Roman" panose="02020603050405020304" pitchFamily="18" charset="0"/>
              </a:rPr>
              <a:t>1975</a:t>
            </a:r>
            <a:r>
              <a:rPr lang="zh-CN" altLang="en-US" dirty="0">
                <a:latin typeface="Times New Roman" panose="02020603050405020304" pitchFamily="18" charset="0"/>
              </a:rPr>
              <a:t>年</a:t>
            </a:r>
            <a:r>
              <a:rPr lang="en-US" altLang="zh-CN" dirty="0">
                <a:latin typeface="Times New Roman" panose="02020603050405020304" pitchFamily="18" charset="0"/>
              </a:rPr>
              <a:t>IBM</a:t>
            </a:r>
            <a:r>
              <a:rPr lang="zh-CN" altLang="en-US" dirty="0">
                <a:latin typeface="Times New Roman" panose="02020603050405020304" pitchFamily="18" charset="0"/>
              </a:rPr>
              <a:t>公司的</a:t>
            </a:r>
            <a:r>
              <a:rPr lang="en-US" altLang="zh-CN" dirty="0">
                <a:latin typeface="Times New Roman" panose="02020603050405020304" pitchFamily="18" charset="0"/>
              </a:rPr>
              <a:t>John Cocke</a:t>
            </a:r>
            <a:r>
              <a:rPr lang="zh-CN" altLang="en-US" dirty="0">
                <a:latin typeface="Times New Roman" panose="02020603050405020304" pitchFamily="18" charset="0"/>
              </a:rPr>
              <a:t>提出了精简指令系统思想，</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RISC</a:t>
            </a:r>
            <a:r>
              <a:rPr lang="zh-CN" altLang="en-US" dirty="0">
                <a:latin typeface="Times New Roman" panose="02020603050405020304" pitchFamily="18" charset="0"/>
              </a:rPr>
              <a:t>（</a:t>
            </a:r>
            <a:r>
              <a:rPr lang="en-US" altLang="zh-CN" dirty="0">
                <a:latin typeface="Times New Roman" panose="02020603050405020304" pitchFamily="18" charset="0"/>
              </a:rPr>
              <a:t>Reduced Instruction Set Computer</a:t>
            </a:r>
            <a:r>
              <a:rPr lang="zh-CN" altLang="en-US" dirty="0">
                <a:latin typeface="Times New Roman" panose="02020603050405020304" pitchFamily="18" charset="0"/>
              </a:rPr>
              <a:t>）随之诞生。</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3.5.3 VLIW</a:t>
            </a:r>
            <a:r>
              <a:rPr lang="zh-CN" altLang="en-US" dirty="0">
                <a:latin typeface="Times New Roman" panose="02020603050405020304" pitchFamily="18" charset="0"/>
              </a:rPr>
              <a:t>和</a:t>
            </a:r>
            <a:r>
              <a:rPr lang="en-US" altLang="zh-CN" dirty="0">
                <a:latin typeface="Times New Roman" panose="02020603050405020304" pitchFamily="18" charset="0"/>
              </a:rPr>
              <a:t>EPIC</a:t>
            </a:r>
            <a:endParaRPr lang="zh-CN" altLang="en-US" dirty="0">
              <a:latin typeface="Times New Roman" panose="02020603050405020304" pitchFamily="18" charset="0"/>
              <a:ea typeface="Times New Roman" panose="02020603050405020304" pitchFamily="18" charset="0"/>
            </a:endParaRPr>
          </a:p>
        </p:txBody>
      </p:sp>
      <p:sp>
        <p:nvSpPr>
          <p:cNvPr id="101378" name="内容占位符 2"/>
          <p:cNvSpPr>
            <a:spLocks noGrp="1"/>
          </p:cNvSpPr>
          <p:nvPr>
            <p:ph idx="1"/>
          </p:nvPr>
        </p:nvSpPr>
        <p:spPr>
          <a:xfrm>
            <a:off x="457200" y="1268413"/>
            <a:ext cx="8229600" cy="4964112"/>
          </a:xfrm>
          <a:noFill/>
          <a:ln>
            <a:noFill/>
          </a:ln>
        </p:spPr>
        <p:txBody>
          <a:bodyPr anchor="t" anchorCtr="0"/>
          <a:p>
            <a:r>
              <a:rPr lang="en-US" altLang="zh-CN" dirty="0">
                <a:latin typeface="Times New Roman" panose="02020603050405020304" pitchFamily="18" charset="0"/>
              </a:rPr>
              <a:t>VLIW</a:t>
            </a:r>
            <a:endParaRPr lang="en-US" altLang="zh-CN" dirty="0">
              <a:latin typeface="Times New Roman" panose="02020603050405020304" pitchFamily="18" charset="0"/>
            </a:endParaRPr>
          </a:p>
          <a:p>
            <a:pPr lvl="1">
              <a:spcBef>
                <a:spcPts val="600"/>
              </a:spcBef>
            </a:pPr>
            <a:r>
              <a:rPr lang="zh-CN" altLang="en-US" sz="2400" dirty="0">
                <a:latin typeface="Times New Roman" panose="02020603050405020304" pitchFamily="18" charset="0"/>
              </a:rPr>
              <a:t>“超长指令字” 。</a:t>
            </a:r>
            <a:endParaRPr lang="en-US" altLang="zh-CN" sz="2400" dirty="0">
              <a:latin typeface="Times New Roman" panose="02020603050405020304" pitchFamily="18" charset="0"/>
            </a:endParaRPr>
          </a:p>
          <a:p>
            <a:pPr lvl="1">
              <a:spcBef>
                <a:spcPts val="600"/>
              </a:spcBef>
            </a:pPr>
            <a:r>
              <a:rPr lang="zh-CN" altLang="en-US" sz="2400" dirty="0">
                <a:latin typeface="Times New Roman" panose="02020603050405020304" pitchFamily="18" charset="0"/>
              </a:rPr>
              <a:t>编译器把许多简单、独立的指令组合到一条指令字中。</a:t>
            </a:r>
            <a:endParaRPr lang="en-US" altLang="zh-CN" sz="2400" dirty="0">
              <a:latin typeface="Times New Roman" panose="02020603050405020304" pitchFamily="18" charset="0"/>
            </a:endParaRPr>
          </a:p>
          <a:p>
            <a:pPr lvl="1">
              <a:spcBef>
                <a:spcPts val="600"/>
              </a:spcBef>
            </a:pPr>
            <a:r>
              <a:rPr lang="zh-CN" altLang="en-US" sz="2400" dirty="0">
                <a:latin typeface="Times New Roman" panose="02020603050405020304" pitchFamily="18" charset="0"/>
              </a:rPr>
              <a:t>当这些指令字从主存中取出放到处理器中时，被分解成几条简单的指令，这些简单的指令被</a:t>
            </a:r>
            <a:r>
              <a:rPr lang="zh-CN" altLang="en-US" sz="2400" dirty="0">
                <a:solidFill>
                  <a:srgbClr val="FF0000"/>
                </a:solidFill>
                <a:latin typeface="Times New Roman" panose="02020603050405020304" pitchFamily="18" charset="0"/>
              </a:rPr>
              <a:t>分派到一些独立的执行单元去并行执行</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spcBef>
                <a:spcPts val="1800"/>
              </a:spcBef>
            </a:pPr>
            <a:r>
              <a:rPr lang="en-US" altLang="zh-CN" dirty="0">
                <a:latin typeface="Times New Roman" panose="02020603050405020304" pitchFamily="18" charset="0"/>
              </a:rPr>
              <a:t>EPIC</a:t>
            </a:r>
            <a:endParaRPr lang="en-US" altLang="zh-CN" dirty="0">
              <a:latin typeface="Times New Roman" panose="02020603050405020304" pitchFamily="18" charset="0"/>
            </a:endParaRPr>
          </a:p>
          <a:p>
            <a:pPr lvl="1">
              <a:spcBef>
                <a:spcPts val="600"/>
              </a:spcBef>
            </a:pPr>
            <a:r>
              <a:rPr lang="zh-CN" altLang="en-US" sz="2400" dirty="0">
                <a:latin typeface="Times New Roman" panose="02020603050405020304" pitchFamily="18" charset="0"/>
              </a:rPr>
              <a:t>“显式并行指令代码”， 从</a:t>
            </a:r>
            <a:r>
              <a:rPr lang="en-US" altLang="zh-CN" sz="2400" dirty="0">
                <a:latin typeface="Times New Roman" panose="02020603050405020304" pitchFamily="18" charset="0"/>
              </a:rPr>
              <a:t>VLIW</a:t>
            </a:r>
            <a:r>
              <a:rPr lang="zh-CN" altLang="en-US" sz="2400" dirty="0">
                <a:latin typeface="Times New Roman" panose="02020603050405020304" pitchFamily="18" charset="0"/>
              </a:rPr>
              <a:t>中衍生出来</a:t>
            </a:r>
            <a:endParaRPr lang="en-US" altLang="zh-CN" sz="2400" dirty="0">
              <a:latin typeface="Times New Roman" panose="02020603050405020304" pitchFamily="18" charset="0"/>
            </a:endParaRPr>
          </a:p>
          <a:p>
            <a:pPr lvl="1">
              <a:spcBef>
                <a:spcPts val="600"/>
              </a:spcBef>
            </a:pPr>
            <a:r>
              <a:rPr lang="en-US" altLang="zh-CN" sz="2400" dirty="0">
                <a:latin typeface="Times New Roman" panose="02020603050405020304" pitchFamily="18" charset="0"/>
              </a:rPr>
              <a:t>IA-64</a:t>
            </a:r>
            <a:r>
              <a:rPr lang="zh-CN" altLang="en-US" sz="2400" dirty="0">
                <a:latin typeface="Times New Roman" panose="02020603050405020304" pitchFamily="18" charset="0"/>
              </a:rPr>
              <a:t>架构，最早采用的处理器是</a:t>
            </a:r>
            <a:r>
              <a:rPr lang="en-US" altLang="zh-CN" sz="2400" dirty="0">
                <a:latin typeface="Times New Roman" panose="02020603050405020304" pitchFamily="18" charset="0"/>
              </a:rPr>
              <a:t>Itanium</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457200" y="274638"/>
            <a:ext cx="8229600" cy="1271587"/>
          </a:xfrm>
          <a:noFill/>
          <a:ln>
            <a:noFill/>
          </a:ln>
        </p:spPr>
        <p:txBody>
          <a:bodyPr anchor="t" anchorCtr="0"/>
          <a:p>
            <a:r>
              <a:rPr lang="en-US" altLang="zh-CN" dirty="0">
                <a:latin typeface="Times New Roman" panose="02020603050405020304" pitchFamily="18" charset="0"/>
              </a:rPr>
              <a:t>3.</a:t>
            </a:r>
            <a:r>
              <a:rPr lang="en-US" dirty="0">
                <a:latin typeface="Times New Roman" panose="02020603050405020304" pitchFamily="18" charset="0"/>
              </a:rPr>
              <a:t>6 </a:t>
            </a:r>
            <a:r>
              <a:rPr lang="zh-CN" altLang="en-US" dirty="0">
                <a:latin typeface="Times New Roman" panose="02020603050405020304" pitchFamily="18" charset="0"/>
              </a:rPr>
              <a:t>指令系统的</a:t>
            </a:r>
            <a:r>
              <a:rPr lang="zh-CN" altLang="en-US" dirty="0">
                <a:latin typeface="Times New Roman" panose="02020603050405020304" pitchFamily="18" charset="0"/>
              </a:rPr>
              <a:t>设计</a:t>
            </a:r>
            <a:endParaRPr lang="zh-CN" altLang="en-US" dirty="0">
              <a:latin typeface="Times New Roman" panose="02020603050405020304" pitchFamily="18" charset="0"/>
            </a:endParaRPr>
          </a:p>
        </p:txBody>
      </p:sp>
      <p:sp>
        <p:nvSpPr>
          <p:cNvPr id="100354" name="内容占位符 2"/>
          <p:cNvSpPr>
            <a:spLocks noGrp="1"/>
          </p:cNvSpPr>
          <p:nvPr>
            <p:ph idx="1"/>
          </p:nvPr>
        </p:nvSpPr>
        <p:spPr>
          <a:xfrm>
            <a:off x="457200" y="1417638"/>
            <a:ext cx="8229600" cy="5035550"/>
          </a:xfrm>
          <a:noFill/>
          <a:ln>
            <a:noFill/>
          </a:ln>
        </p:spPr>
        <p:txBody>
          <a:bodyPr anchor="t" anchorCtr="0"/>
          <a:p>
            <a:r>
              <a:rPr lang="zh-CN" altLang="en-US" dirty="0">
                <a:latin typeface="Times New Roman" panose="02020603050405020304" pitchFamily="18" charset="0"/>
              </a:rPr>
              <a:t> 设计</a:t>
            </a:r>
            <a:r>
              <a:rPr lang="zh-CN" altLang="en-US" dirty="0">
                <a:latin typeface="Times New Roman" panose="02020603050405020304" pitchFamily="18" charset="0"/>
              </a:rPr>
              <a:t>原则：</a:t>
            </a:r>
            <a:endParaRPr lang="en-US" altLang="zh-CN" dirty="0">
              <a:latin typeface="Times New Roman" panose="02020603050405020304" pitchFamily="18" charset="0"/>
            </a:endParaRPr>
          </a:p>
          <a:p>
            <a:pPr lvl="1" latinLnBrk="0">
              <a:spcBef>
                <a:spcPts val="1200"/>
              </a:spcBef>
            </a:pPr>
            <a:r>
              <a:rPr sz="2400" dirty="0">
                <a:solidFill>
                  <a:srgbClr val="FF0000"/>
                </a:solidFill>
                <a:latin typeface="Times New Roman" panose="02020603050405020304" pitchFamily="18" charset="0"/>
              </a:rPr>
              <a:t>完备性或完整性</a:t>
            </a:r>
            <a:r>
              <a:rPr sz="2400" dirty="0">
                <a:latin typeface="Times New Roman" panose="02020603050405020304" pitchFamily="18" charset="0"/>
              </a:rPr>
              <a:t>。指令的操作类型应尽量完备,应能足够编制任何可计算程序</a:t>
            </a:r>
            <a:r>
              <a:rPr lang="zh-CN" sz="2400" dirty="0">
                <a:latin typeface="Times New Roman" panose="02020603050405020304" pitchFamily="18" charset="0"/>
              </a:rPr>
              <a:t>。</a:t>
            </a:r>
            <a:r>
              <a:rPr sz="2400" dirty="0">
                <a:latin typeface="Times New Roman" panose="02020603050405020304" pitchFamily="18" charset="0"/>
              </a:rPr>
              <a:t>但是,如果指令系统太复杂,也会给硬件实现增加困难。</a:t>
            </a:r>
            <a:endParaRPr sz="2400" dirty="0">
              <a:latin typeface="Times New Roman" panose="02020603050405020304" pitchFamily="18" charset="0"/>
            </a:endParaRPr>
          </a:p>
          <a:p>
            <a:pPr lvl="1" latinLnBrk="0">
              <a:spcBef>
                <a:spcPts val="1200"/>
              </a:spcBef>
            </a:pPr>
            <a:r>
              <a:rPr sz="2400" dirty="0">
                <a:solidFill>
                  <a:srgbClr val="FF0000"/>
                </a:solidFill>
                <a:latin typeface="Times New Roman" panose="02020603050405020304" pitchFamily="18" charset="0"/>
              </a:rPr>
              <a:t>兼容性</a:t>
            </a:r>
            <a:r>
              <a:rPr sz="2400" dirty="0">
                <a:latin typeface="Times New Roman" panose="02020603050405020304" pitchFamily="18" charset="0"/>
              </a:rPr>
              <a:t>。考虑系列机设计实现</a:t>
            </a:r>
            <a:r>
              <a:rPr lang="zh-CN" sz="2400" dirty="0">
                <a:latin typeface="Times New Roman" panose="02020603050405020304" pitchFamily="18" charset="0"/>
              </a:rPr>
              <a:t>，</a:t>
            </a:r>
            <a:r>
              <a:rPr sz="2400" dirty="0">
                <a:latin typeface="Times New Roman" panose="02020603050405020304" pitchFamily="18" charset="0"/>
              </a:rPr>
              <a:t>高档机的指令系统应兼容以前低档机的指令系统，</a:t>
            </a:r>
            <a:r>
              <a:rPr sz="2400" dirty="0">
                <a:latin typeface="Times New Roman" panose="02020603050405020304" pitchFamily="18" charset="0"/>
                <a:sym typeface="+mn-ea"/>
              </a:rPr>
              <a:t>方便</a:t>
            </a:r>
            <a:r>
              <a:rPr sz="2400" dirty="0">
                <a:latin typeface="Times New Roman" panose="02020603050405020304" pitchFamily="18" charset="0"/>
              </a:rPr>
              <a:t>软件资源重复利用</a:t>
            </a:r>
            <a:endParaRPr sz="2400" dirty="0">
              <a:latin typeface="Times New Roman" panose="02020603050405020304" pitchFamily="18" charset="0"/>
            </a:endParaRPr>
          </a:p>
          <a:p>
            <a:pPr lvl="1" latinLnBrk="0">
              <a:spcBef>
                <a:spcPts val="1200"/>
              </a:spcBef>
            </a:pPr>
            <a:r>
              <a:rPr sz="2400" dirty="0">
                <a:solidFill>
                  <a:srgbClr val="FF0000"/>
                </a:solidFill>
                <a:latin typeface="Times New Roman" panose="02020603050405020304" pitchFamily="18" charset="0"/>
              </a:rPr>
              <a:t>均匀性</a:t>
            </a:r>
            <a:r>
              <a:rPr sz="2400" dirty="0">
                <a:latin typeface="Times New Roman" panose="02020603050405020304" pitchFamily="18" charset="0"/>
              </a:rPr>
              <a:t>。运算指令应能对多种类型的数据进行处理,包括3种整数(字节、字、双字)和两种浮点数(单精度和双精度浮点数)类型。</a:t>
            </a:r>
            <a:endParaRPr sz="2400" dirty="0">
              <a:latin typeface="Times New Roman" panose="02020603050405020304" pitchFamily="18" charset="0"/>
            </a:endParaRPr>
          </a:p>
          <a:p>
            <a:pPr lvl="1" latinLnBrk="0">
              <a:spcBef>
                <a:spcPts val="1200"/>
              </a:spcBef>
            </a:pPr>
            <a:r>
              <a:rPr sz="2400" dirty="0">
                <a:solidFill>
                  <a:srgbClr val="FF0000"/>
                </a:solidFill>
                <a:latin typeface="Times New Roman" panose="02020603050405020304" pitchFamily="18" charset="0"/>
                <a:cs typeface="+mn-ea"/>
              </a:rPr>
              <a:t>可扩充性</a:t>
            </a:r>
            <a:r>
              <a:rPr sz="2400" dirty="0">
                <a:latin typeface="Times New Roman" panose="02020603050405020304" pitchFamily="18" charset="0"/>
                <a:cs typeface="+mn-ea"/>
              </a:rPr>
              <a:t>。操作码字段要预留一定的编码空间,以便需要时进行扩充。</a:t>
            </a:r>
            <a:endParaRPr sz="2400" dirty="0">
              <a:latin typeface="Times New Roman" panose="02020603050405020304" pitchFamily="18" charset="0"/>
              <a:cs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457200" y="274638"/>
            <a:ext cx="8229600" cy="1271587"/>
          </a:xfrm>
          <a:noFill/>
          <a:ln>
            <a:noFill/>
          </a:ln>
        </p:spPr>
        <p:txBody>
          <a:bodyPr anchor="t" anchorCtr="0"/>
          <a:p>
            <a:r>
              <a:rPr lang="en-US" altLang="zh-CN" dirty="0">
                <a:latin typeface="Times New Roman" panose="02020603050405020304" pitchFamily="18" charset="0"/>
              </a:rPr>
              <a:t>3.</a:t>
            </a:r>
            <a:r>
              <a:rPr lang="en-US" dirty="0">
                <a:latin typeface="Times New Roman" panose="02020603050405020304" pitchFamily="18" charset="0"/>
              </a:rPr>
              <a:t>6.1 </a:t>
            </a:r>
            <a:r>
              <a:rPr lang="zh-CN" altLang="en-US" dirty="0">
                <a:latin typeface="Times New Roman" panose="02020603050405020304" pitchFamily="18" charset="0"/>
              </a:rPr>
              <a:t>指令系统的基本设计</a:t>
            </a:r>
            <a:r>
              <a:rPr lang="zh-CN" altLang="en-US" dirty="0">
                <a:latin typeface="Times New Roman" panose="02020603050405020304" pitchFamily="18" charset="0"/>
              </a:rPr>
              <a:t>问题</a:t>
            </a:r>
            <a:endParaRPr lang="zh-CN" altLang="en-US" dirty="0">
              <a:latin typeface="Times New Roman" panose="02020603050405020304" pitchFamily="18" charset="0"/>
            </a:endParaRPr>
          </a:p>
        </p:txBody>
      </p:sp>
      <p:sp>
        <p:nvSpPr>
          <p:cNvPr id="100354" name="内容占位符 2"/>
          <p:cNvSpPr>
            <a:spLocks noGrp="1"/>
          </p:cNvSpPr>
          <p:nvPr>
            <p:ph idx="1"/>
          </p:nvPr>
        </p:nvSpPr>
        <p:spPr>
          <a:xfrm>
            <a:off x="457200" y="1417638"/>
            <a:ext cx="8229600" cy="5035550"/>
          </a:xfrm>
          <a:noFill/>
          <a:ln>
            <a:noFill/>
          </a:ln>
        </p:spPr>
        <p:txBody>
          <a:bodyPr anchor="t" anchorCtr="0"/>
          <a:p>
            <a:r>
              <a:rPr lang="zh-CN" altLang="en-US" dirty="0">
                <a:latin typeface="Times New Roman" panose="02020603050405020304" pitchFamily="18" charset="0"/>
              </a:rPr>
              <a:t> 基本设计</a:t>
            </a:r>
            <a:r>
              <a:rPr lang="zh-CN" altLang="en-US" dirty="0">
                <a:latin typeface="Times New Roman" panose="02020603050405020304" pitchFamily="18" charset="0"/>
              </a:rPr>
              <a:t>问题：</a:t>
            </a:r>
            <a:endParaRPr lang="en-US" altLang="zh-CN" dirty="0">
              <a:latin typeface="Times New Roman" panose="02020603050405020304" pitchFamily="18" charset="0"/>
            </a:endParaRPr>
          </a:p>
          <a:p>
            <a:pPr lvl="1" latinLnBrk="0">
              <a:spcBef>
                <a:spcPts val="1200"/>
              </a:spcBef>
            </a:pPr>
            <a:r>
              <a:rPr sz="2400" dirty="0">
                <a:latin typeface="Times New Roman" panose="02020603050405020304" pitchFamily="18" charset="0"/>
              </a:rPr>
              <a:t>操作码的个数、种类、复杂度如何选择?</a:t>
            </a:r>
            <a:endParaRPr sz="2400" dirty="0">
              <a:latin typeface="Times New Roman" panose="02020603050405020304" pitchFamily="18" charset="0"/>
            </a:endParaRPr>
          </a:p>
          <a:p>
            <a:pPr lvl="1" latinLnBrk="0">
              <a:spcBef>
                <a:spcPts val="1200"/>
              </a:spcBef>
            </a:pPr>
            <a:r>
              <a:rPr sz="2400" dirty="0">
                <a:latin typeface="Times New Roman" panose="02020603050405020304" pitchFamily="18" charset="0"/>
                <a:cs typeface="+mn-ea"/>
              </a:rPr>
              <a:t>运算指令能对哪几种数据类型进行操作?</a:t>
            </a:r>
            <a:endParaRPr sz="2400" dirty="0">
              <a:latin typeface="Times New Roman" panose="02020603050405020304" pitchFamily="18" charset="0"/>
              <a:cs typeface="+mn-ea"/>
            </a:endParaRPr>
          </a:p>
          <a:p>
            <a:pPr lvl="1" latinLnBrk="0">
              <a:spcBef>
                <a:spcPts val="1200"/>
              </a:spcBef>
            </a:pPr>
            <a:r>
              <a:rPr sz="2400" dirty="0">
                <a:latin typeface="Times New Roman" panose="02020603050405020304" pitchFamily="18" charset="0"/>
                <a:cs typeface="+mn-ea"/>
              </a:rPr>
              <a:t>采用什么样的指令格式?</a:t>
            </a:r>
            <a:endParaRPr sz="2400" dirty="0">
              <a:latin typeface="Times New Roman" panose="02020603050405020304" pitchFamily="18" charset="0"/>
              <a:cs typeface="+mn-ea"/>
            </a:endParaRPr>
          </a:p>
          <a:p>
            <a:pPr lvl="1" latinLnBrk="0">
              <a:spcBef>
                <a:spcPts val="1200"/>
              </a:spcBef>
            </a:pPr>
            <a:r>
              <a:rPr sz="2400" dirty="0">
                <a:latin typeface="Times New Roman" panose="02020603050405020304" pitchFamily="18" charset="0"/>
                <a:cs typeface="+mn-ea"/>
              </a:rPr>
              <a:t>通用寄存器的个数、功能、长度等如何规定?</a:t>
            </a:r>
            <a:endParaRPr sz="2400" dirty="0">
              <a:latin typeface="Times New Roman" panose="02020603050405020304" pitchFamily="18" charset="0"/>
              <a:cs typeface="+mn-ea"/>
            </a:endParaRPr>
          </a:p>
          <a:p>
            <a:pPr lvl="1" latinLnBrk="0">
              <a:spcBef>
                <a:spcPts val="1200"/>
              </a:spcBef>
            </a:pPr>
            <a:r>
              <a:rPr sz="2400" dirty="0">
                <a:latin typeface="Times New Roman" panose="02020603050405020304" pitchFamily="18" charset="0"/>
                <a:cs typeface="+mn-ea"/>
              </a:rPr>
              <a:t>如何设计寻址方式的种类和编码以及各种寻址方式下有效地址如何计算?</a:t>
            </a:r>
            <a:endParaRPr sz="2400" dirty="0">
              <a:latin typeface="Times New Roman" panose="02020603050405020304" pitchFamily="18" charset="0"/>
              <a:cs typeface="+mn-ea"/>
            </a:endParaRPr>
          </a:p>
          <a:p>
            <a:pPr lvl="1" latinLnBrk="0">
              <a:spcBef>
                <a:spcPts val="1200"/>
              </a:spcBef>
            </a:pPr>
            <a:r>
              <a:rPr sz="2400" dirty="0">
                <a:latin typeface="Times New Roman" panose="02020603050405020304" pitchFamily="18" charset="0"/>
                <a:cs typeface="+mn-ea"/>
              </a:rPr>
              <a:t>下一条指令的地址如何确定?</a:t>
            </a:r>
            <a:endParaRPr sz="2400" dirty="0">
              <a:latin typeface="Times New Roman" panose="02020603050405020304" pitchFamily="18" charset="0"/>
              <a:cs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457200" y="274638"/>
            <a:ext cx="8229600" cy="1271587"/>
          </a:xfrm>
          <a:noFill/>
          <a:ln>
            <a:noFill/>
          </a:ln>
        </p:spPr>
        <p:txBody>
          <a:bodyPr anchor="t" anchorCtr="0"/>
          <a:p>
            <a:r>
              <a:rPr lang="en-US" altLang="zh-CN" dirty="0">
                <a:latin typeface="Times New Roman" panose="02020603050405020304" pitchFamily="18" charset="0"/>
              </a:rPr>
              <a:t>3.</a:t>
            </a:r>
            <a:r>
              <a:rPr lang="en-US" dirty="0">
                <a:latin typeface="Times New Roman" panose="02020603050405020304" pitchFamily="18" charset="0"/>
              </a:rPr>
              <a:t>6.2 </a:t>
            </a:r>
            <a:r>
              <a:rPr lang="zh-CN" altLang="en-US" dirty="0">
                <a:latin typeface="Times New Roman" panose="02020603050405020304" pitchFamily="18" charset="0"/>
              </a:rPr>
              <a:t>指令系统设计</a:t>
            </a:r>
            <a:r>
              <a:rPr lang="zh-CN" altLang="en-US" dirty="0">
                <a:latin typeface="Times New Roman" panose="02020603050405020304" pitchFamily="18" charset="0"/>
              </a:rPr>
              <a:t>风格</a:t>
            </a:r>
            <a:endParaRPr lang="zh-CN" altLang="en-US" dirty="0">
              <a:latin typeface="Times New Roman" panose="02020603050405020304" pitchFamily="18" charset="0"/>
            </a:endParaRPr>
          </a:p>
        </p:txBody>
      </p:sp>
      <p:sp>
        <p:nvSpPr>
          <p:cNvPr id="100354" name="内容占位符 2"/>
          <p:cNvSpPr>
            <a:spLocks noGrp="1"/>
          </p:cNvSpPr>
          <p:nvPr>
            <p:ph idx="1"/>
          </p:nvPr>
        </p:nvSpPr>
        <p:spPr>
          <a:xfrm>
            <a:off x="457200" y="1417638"/>
            <a:ext cx="8229600" cy="5035550"/>
          </a:xfrm>
          <a:noFill/>
          <a:ln>
            <a:noFill/>
          </a:ln>
        </p:spPr>
        <p:txBody>
          <a:bodyPr anchor="t" anchorCtr="0"/>
          <a:p>
            <a:r>
              <a:rPr lang="zh-CN" altLang="en-US" dirty="0">
                <a:latin typeface="Times New Roman" panose="02020603050405020304" pitchFamily="18" charset="0"/>
              </a:rPr>
              <a:t> 按操作数位置指定</a:t>
            </a:r>
            <a:r>
              <a:rPr lang="zh-CN" altLang="en-US" dirty="0">
                <a:latin typeface="Times New Roman" panose="02020603050405020304" pitchFamily="18" charset="0"/>
              </a:rPr>
              <a:t>风格：</a:t>
            </a:r>
            <a:endParaRPr lang="en-US" altLang="zh-CN" dirty="0">
              <a:latin typeface="Times New Roman" panose="02020603050405020304" pitchFamily="18" charset="0"/>
            </a:endParaRPr>
          </a:p>
          <a:p>
            <a:pPr lvl="1" latinLnBrk="0">
              <a:spcBef>
                <a:spcPts val="1200"/>
              </a:spcBef>
            </a:pPr>
            <a:r>
              <a:rPr lang="zh-CN" sz="2400" dirty="0">
                <a:latin typeface="Times New Roman" panose="02020603050405020304" pitchFamily="18" charset="0"/>
              </a:rPr>
              <a:t>累加器型；</a:t>
            </a:r>
            <a:endParaRPr sz="2400" dirty="0">
              <a:latin typeface="Times New Roman" panose="02020603050405020304" pitchFamily="18" charset="0"/>
            </a:endParaRPr>
          </a:p>
          <a:p>
            <a:pPr lvl="1" latinLnBrk="0">
              <a:spcBef>
                <a:spcPts val="1200"/>
              </a:spcBef>
            </a:pPr>
            <a:r>
              <a:rPr lang="zh-CN" sz="2400" dirty="0">
                <a:latin typeface="Times New Roman" panose="02020603050405020304" pitchFamily="18" charset="0"/>
                <a:cs typeface="+mn-ea"/>
              </a:rPr>
              <a:t>栈型；</a:t>
            </a:r>
            <a:endParaRPr lang="zh-CN" sz="2400" dirty="0">
              <a:latin typeface="Times New Roman" panose="02020603050405020304" pitchFamily="18" charset="0"/>
              <a:cs typeface="+mn-ea"/>
            </a:endParaRPr>
          </a:p>
          <a:p>
            <a:pPr lvl="1" latinLnBrk="0">
              <a:spcBef>
                <a:spcPts val="1200"/>
              </a:spcBef>
            </a:pPr>
            <a:r>
              <a:rPr lang="zh-CN" sz="2400" dirty="0">
                <a:latin typeface="Times New Roman" panose="02020603050405020304" pitchFamily="18" charset="0"/>
                <a:cs typeface="+mn-ea"/>
              </a:rPr>
              <a:t>通用寄存器型；</a:t>
            </a:r>
            <a:endParaRPr lang="zh-CN" sz="2400" dirty="0">
              <a:latin typeface="Times New Roman" panose="02020603050405020304" pitchFamily="18" charset="0"/>
              <a:cs typeface="+mn-ea"/>
            </a:endParaRPr>
          </a:p>
          <a:p>
            <a:pPr lvl="1" latinLnBrk="0">
              <a:spcBef>
                <a:spcPts val="1200"/>
              </a:spcBef>
            </a:pPr>
            <a:r>
              <a:rPr lang="en-US" sz="2400" dirty="0">
                <a:latin typeface="Times New Roman" panose="02020603050405020304" pitchFamily="18" charset="0"/>
                <a:cs typeface="+mn-ea"/>
              </a:rPr>
              <a:t>Load/Store</a:t>
            </a:r>
            <a:r>
              <a:rPr lang="zh-CN" altLang="en-US" sz="2400" dirty="0">
                <a:latin typeface="Times New Roman" panose="02020603050405020304" pitchFamily="18" charset="0"/>
                <a:cs typeface="+mn-ea"/>
              </a:rPr>
              <a:t>型；</a:t>
            </a:r>
            <a:endParaRPr lang="zh-CN" altLang="en-US" sz="2400" dirty="0">
              <a:latin typeface="Times New Roman" panose="02020603050405020304" pitchFamily="18" charset="0"/>
              <a:cs typeface="+mn-ea"/>
            </a:endParaRPr>
          </a:p>
          <a:p>
            <a:pPr marL="342900" lvl="1" indent="-342900" algn="l" latinLnBrk="0">
              <a:spcBef>
                <a:spcPts val="1200"/>
              </a:spcBef>
              <a:buSzTx/>
              <a:buChar char="v"/>
            </a:pPr>
            <a:r>
              <a:rPr lang="zh-CN" altLang="en-US" sz="2800" b="1" dirty="0">
                <a:solidFill>
                  <a:schemeClr val="hlink"/>
                </a:solidFill>
                <a:latin typeface="Times New Roman" panose="02020603050405020304" pitchFamily="18" charset="0"/>
                <a:cs typeface="+mn-cs"/>
                <a:sym typeface="+mn-ea"/>
              </a:rPr>
              <a:t>按指令系统的复杂</a:t>
            </a:r>
            <a:r>
              <a:rPr lang="zh-CN" altLang="en-US" sz="2800" b="1" dirty="0">
                <a:solidFill>
                  <a:schemeClr val="hlink"/>
                </a:solidFill>
                <a:latin typeface="Times New Roman" panose="02020603050405020304" pitchFamily="18" charset="0"/>
                <a:cs typeface="+mn-cs"/>
                <a:sym typeface="+mn-ea"/>
              </a:rPr>
              <a:t>程度：</a:t>
            </a:r>
            <a:endParaRPr lang="zh-CN" altLang="en-US" sz="2800" b="1" dirty="0">
              <a:solidFill>
                <a:schemeClr val="hlink"/>
              </a:solidFill>
              <a:latin typeface="Times New Roman" panose="02020603050405020304" pitchFamily="18" charset="0"/>
              <a:cs typeface="+mn-cs"/>
              <a:sym typeface="+mn-ea"/>
            </a:endParaRPr>
          </a:p>
          <a:p>
            <a:pPr lvl="1" latinLnBrk="0">
              <a:spcBef>
                <a:spcPts val="1200"/>
              </a:spcBef>
            </a:pPr>
            <a:r>
              <a:rPr lang="en-US" altLang="zh-CN" sz="2400" dirty="0">
                <a:latin typeface="Times New Roman" panose="02020603050405020304" pitchFamily="18" charset="0"/>
                <a:cs typeface="+mn-ea"/>
                <a:sym typeface="+mn-ea"/>
              </a:rPr>
              <a:t>CISC</a:t>
            </a:r>
            <a:r>
              <a:rPr lang="zh-CN" sz="2400" dirty="0">
                <a:latin typeface="Times New Roman" panose="02020603050405020304" pitchFamily="18" charset="0"/>
                <a:cs typeface="+mn-ea"/>
                <a:sym typeface="+mn-ea"/>
              </a:rPr>
              <a:t>；</a:t>
            </a:r>
            <a:endParaRPr lang="zh-CN" sz="2400" dirty="0">
              <a:latin typeface="Times New Roman" panose="02020603050405020304" pitchFamily="18" charset="0"/>
              <a:cs typeface="+mn-ea"/>
            </a:endParaRPr>
          </a:p>
          <a:p>
            <a:pPr lvl="1" latinLnBrk="0">
              <a:spcBef>
                <a:spcPts val="1200"/>
              </a:spcBef>
            </a:pPr>
            <a:r>
              <a:rPr lang="en-US" sz="2400" dirty="0">
                <a:latin typeface="Times New Roman" panose="02020603050405020304" pitchFamily="18" charset="0"/>
                <a:cs typeface="+mn-ea"/>
                <a:sym typeface="+mn-ea"/>
              </a:rPr>
              <a:t>RISC</a:t>
            </a:r>
            <a:r>
              <a:rPr lang="zh-CN" altLang="en-US" sz="2400" dirty="0">
                <a:latin typeface="Times New Roman" panose="02020603050405020304" pitchFamily="18" charset="0"/>
                <a:cs typeface="+mn-ea"/>
                <a:sym typeface="+mn-ea"/>
              </a:rPr>
              <a:t>；</a:t>
            </a:r>
            <a:endParaRPr lang="zh-CN" altLang="en-US" sz="2400" b="1" dirty="0">
              <a:solidFill>
                <a:schemeClr val="hlink"/>
              </a:solidFill>
              <a:latin typeface="Times New Roman" panose="02020603050405020304" pitchFamily="18" charset="0"/>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457200" y="274638"/>
            <a:ext cx="8229600" cy="1271587"/>
          </a:xfrm>
          <a:noFill/>
          <a:ln>
            <a:noFill/>
          </a:ln>
        </p:spPr>
        <p:txBody>
          <a:bodyPr anchor="t" anchorCtr="0"/>
          <a:p>
            <a:r>
              <a:rPr lang="en-US" altLang="zh-CN" dirty="0">
                <a:latin typeface="Times New Roman" panose="02020603050405020304" pitchFamily="18" charset="0"/>
              </a:rPr>
              <a:t>3.</a:t>
            </a:r>
            <a:r>
              <a:rPr lang="en-US" dirty="0">
                <a:latin typeface="Times New Roman" panose="02020603050405020304" pitchFamily="18" charset="0"/>
              </a:rPr>
              <a:t>6.3 </a:t>
            </a:r>
            <a:r>
              <a:rPr lang="zh-CN" altLang="en-US" dirty="0">
                <a:latin typeface="Times New Roman" panose="02020603050405020304" pitchFamily="18" charset="0"/>
              </a:rPr>
              <a:t>指令系统实例之</a:t>
            </a:r>
            <a:r>
              <a:rPr lang="en-US" altLang="zh-CN" dirty="0">
                <a:latin typeface="Times New Roman" panose="02020603050405020304" pitchFamily="18" charset="0"/>
              </a:rPr>
              <a:t>ARM</a:t>
            </a:r>
            <a:endParaRPr lang="en-US" altLang="zh-CN" dirty="0">
              <a:latin typeface="Times New Roman" panose="02020603050405020304" pitchFamily="18" charset="0"/>
            </a:endParaRPr>
          </a:p>
        </p:txBody>
      </p:sp>
      <p:sp>
        <p:nvSpPr>
          <p:cNvPr id="100354" name="内容占位符 2"/>
          <p:cNvSpPr>
            <a:spLocks noGrp="1"/>
          </p:cNvSpPr>
          <p:nvPr>
            <p:ph idx="1"/>
          </p:nvPr>
        </p:nvSpPr>
        <p:spPr>
          <a:xfrm>
            <a:off x="397510" y="1122045"/>
            <a:ext cx="8477885" cy="2411730"/>
          </a:xfrm>
          <a:noFill/>
          <a:ln>
            <a:noFill/>
          </a:ln>
        </p:spPr>
        <p:txBody>
          <a:bodyPr anchor="t" anchorCtr="0"/>
          <a:p>
            <a:r>
              <a:rPr lang="zh-CN" altLang="en-US" dirty="0">
                <a:latin typeface="Times New Roman" panose="02020603050405020304" pitchFamily="18" charset="0"/>
              </a:rPr>
              <a:t> </a:t>
            </a:r>
            <a:r>
              <a:rPr lang="en-US" altLang="zh-CN" dirty="0">
                <a:latin typeface="Times New Roman" panose="02020603050405020304" pitchFamily="18" charset="0"/>
              </a:rPr>
              <a:t>ARM</a:t>
            </a:r>
            <a:r>
              <a:rPr lang="zh-CN" altLang="en-US" dirty="0">
                <a:latin typeface="Times New Roman" panose="02020603050405020304" pitchFamily="18" charset="0"/>
              </a:rPr>
              <a:t>指令</a:t>
            </a:r>
            <a:r>
              <a:rPr lang="zh-CN" altLang="en-US" dirty="0">
                <a:latin typeface="Times New Roman" panose="02020603050405020304" pitchFamily="18" charset="0"/>
              </a:rPr>
              <a:t>系统：</a:t>
            </a:r>
            <a:endParaRPr lang="en-US" altLang="zh-CN" dirty="0">
              <a:latin typeface="Times New Roman" panose="02020603050405020304" pitchFamily="18" charset="0"/>
            </a:endParaRPr>
          </a:p>
          <a:p>
            <a:pPr lvl="1" latinLnBrk="0">
              <a:spcBef>
                <a:spcPts val="1200"/>
              </a:spcBef>
            </a:pPr>
            <a:r>
              <a:rPr lang="zh-CN" sz="2000" dirty="0">
                <a:latin typeface="Times New Roman" panose="02020603050405020304" pitchFamily="18" charset="0"/>
              </a:rPr>
              <a:t>RISC风格：16个32位通用寄存器，一个当前程序状态寄存器CPSR。所有指令的长度都是32位，具有比较规整的格式。</a:t>
            </a:r>
            <a:endParaRPr lang="zh-CN" sz="2000" dirty="0">
              <a:latin typeface="Times New Roman" panose="02020603050405020304" pitchFamily="18" charset="0"/>
            </a:endParaRPr>
          </a:p>
          <a:p>
            <a:pPr lvl="1" latinLnBrk="0">
              <a:spcBef>
                <a:spcPts val="1200"/>
              </a:spcBef>
            </a:pPr>
            <a:r>
              <a:rPr lang="zh-CN" sz="2000" dirty="0">
                <a:latin typeface="Times New Roman" panose="02020603050405020304" pitchFamily="18" charset="0"/>
              </a:rPr>
              <a:t>指令的前4位是条件码；紧接着的3位表示指令格式；对于除了跳转指令以外的大多数指令来说，再接下来的5位是操作码和(或)操作码的修订码；剩余的 20 位用于操作数的寻址。</a:t>
            </a:r>
            <a:endParaRPr lang="zh-CN" altLang="en-US" sz="2000" b="1" dirty="0">
              <a:solidFill>
                <a:schemeClr val="hlink"/>
              </a:solidFill>
              <a:latin typeface="Times New Roman" panose="02020603050405020304" pitchFamily="18" charset="0"/>
              <a:cs typeface="+mn-cs"/>
            </a:endParaRPr>
          </a:p>
        </p:txBody>
      </p:sp>
      <p:pic>
        <p:nvPicPr>
          <p:cNvPr id="2" name="图片 1"/>
          <p:cNvPicPr>
            <a:picLocks noChangeAspect="1"/>
          </p:cNvPicPr>
          <p:nvPr/>
        </p:nvPicPr>
        <p:blipFill>
          <a:blip r:embed="rId1"/>
          <a:stretch>
            <a:fillRect/>
          </a:stretch>
        </p:blipFill>
        <p:spPr>
          <a:xfrm>
            <a:off x="397510" y="3644900"/>
            <a:ext cx="8383270" cy="268478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标题 1"/>
          <p:cNvSpPr>
            <a:spLocks noGrp="1"/>
          </p:cNvSpPr>
          <p:nvPr>
            <p:ph type="title"/>
          </p:nvPr>
        </p:nvSpPr>
        <p:spPr>
          <a:noFill/>
          <a:ln>
            <a:noFill/>
          </a:ln>
        </p:spPr>
        <p:txBody>
          <a:bodyPr anchor="t" anchorCtr="0"/>
          <a:p>
            <a:pPr>
              <a:buNone/>
            </a:pPr>
            <a:r>
              <a:rPr lang="zh-CN" altLang="en-US" dirty="0"/>
              <a:t>问题</a:t>
            </a:r>
            <a:endParaRPr lang="zh-CN" altLang="en-US" dirty="0"/>
          </a:p>
        </p:txBody>
      </p:sp>
      <p:sp>
        <p:nvSpPr>
          <p:cNvPr id="102402" name="内容占位符 2"/>
          <p:cNvSpPr>
            <a:spLocks noGrp="1"/>
          </p:cNvSpPr>
          <p:nvPr>
            <p:ph idx="1"/>
          </p:nvPr>
        </p:nvSpPr>
        <p:spPr>
          <a:xfrm>
            <a:off x="555625" y="1417638"/>
            <a:ext cx="8229600" cy="4525962"/>
          </a:xfrm>
          <a:noFill/>
          <a:ln>
            <a:noFill/>
          </a:ln>
        </p:spPr>
        <p:txBody>
          <a:bodyPr anchor="t" anchorCtr="0"/>
          <a:p>
            <a:r>
              <a:rPr lang="zh-CN" altLang="en-US" dirty="0"/>
              <a:t>设计指令格式主要考虑哪些方面的问题？</a:t>
            </a:r>
            <a:endParaRPr lang="en-US" altLang="zh-CN" dirty="0"/>
          </a:p>
          <a:p>
            <a:pPr lvl="2">
              <a:spcBef>
                <a:spcPts val="1200"/>
              </a:spcBef>
            </a:pPr>
            <a:r>
              <a:rPr lang="zh-CN" altLang="en-US" dirty="0"/>
              <a:t>指令长度；</a:t>
            </a:r>
            <a:endParaRPr lang="en-US" altLang="zh-CN" dirty="0"/>
          </a:p>
          <a:p>
            <a:pPr lvl="2">
              <a:spcBef>
                <a:spcPts val="1200"/>
              </a:spcBef>
            </a:pPr>
            <a:r>
              <a:rPr lang="zh-CN" altLang="en-US" dirty="0"/>
              <a:t>操作码、地址码；</a:t>
            </a:r>
            <a:endParaRPr lang="en-US" altLang="zh-CN" dirty="0"/>
          </a:p>
          <a:p>
            <a:pPr lvl="2">
              <a:spcBef>
                <a:spcPts val="1200"/>
              </a:spcBef>
            </a:pPr>
            <a:r>
              <a:rPr lang="zh-CN" altLang="en-US" dirty="0"/>
              <a:t>寻址方式；</a:t>
            </a:r>
            <a:endParaRPr lang="en-US" altLang="zh-CN" dirty="0"/>
          </a:p>
          <a:p>
            <a:pPr>
              <a:spcBef>
                <a:spcPts val="1800"/>
              </a:spcBef>
            </a:pPr>
            <a:r>
              <a:rPr lang="zh-CN" altLang="en-US" dirty="0"/>
              <a:t>寻址方式是否越多越好？</a:t>
            </a:r>
            <a:endParaRPr lang="en-US" altLang="zh-CN" dirty="0"/>
          </a:p>
          <a:p>
            <a:pPr>
              <a:spcBef>
                <a:spcPts val="1800"/>
              </a:spcBef>
            </a:pPr>
            <a:r>
              <a:rPr lang="zh-CN" altLang="en-US" dirty="0"/>
              <a:t>基本的指令种类有哪些？</a:t>
            </a:r>
            <a:endParaRPr lang="en-US" altLang="zh-CN" dirty="0"/>
          </a:p>
          <a:p>
            <a:pPr lvl="2">
              <a:spcBef>
                <a:spcPts val="1800"/>
              </a:spcBef>
            </a:pPr>
            <a:r>
              <a:rPr lang="zh-CN" altLang="en-US" dirty="0"/>
              <a:t>输入输出指令需要考虑的问题？</a:t>
            </a:r>
            <a:endParaRPr lang="en-US" altLang="zh-CN" dirty="0"/>
          </a:p>
          <a:p>
            <a:pPr>
              <a:spcBef>
                <a:spcPts val="1800"/>
              </a:spcBef>
            </a:pPr>
            <a:r>
              <a:rPr lang="zh-CN" altLang="en-US" dirty="0"/>
              <a:t>指令系统的发展？</a:t>
            </a:r>
            <a:br>
              <a:rPr lang="en-US" altLang="zh-CN" dirty="0"/>
            </a:b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标题 1"/>
          <p:cNvSpPr>
            <a:spLocks noGrp="1"/>
          </p:cNvSpPr>
          <p:nvPr>
            <p:ph type="title"/>
          </p:nvPr>
        </p:nvSpPr>
        <p:spPr>
          <a:noFill/>
          <a:ln>
            <a:noFill/>
          </a:ln>
        </p:spPr>
        <p:txBody>
          <a:bodyPr anchor="t" anchorCtr="0"/>
          <a:p>
            <a:r>
              <a:rPr lang="zh-CN" altLang="en-US" dirty="0"/>
              <a:t>作业</a:t>
            </a:r>
            <a:endParaRPr lang="zh-CN" altLang="en-US" dirty="0"/>
          </a:p>
        </p:txBody>
      </p:sp>
      <p:sp>
        <p:nvSpPr>
          <p:cNvPr id="103426"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主题报告：</a:t>
            </a:r>
            <a:endParaRPr lang="zh-CN" altLang="en-US" dirty="0">
              <a:latin typeface="Times New Roman" panose="02020603050405020304" pitchFamily="18" charset="0"/>
            </a:endParaRPr>
          </a:p>
          <a:p>
            <a:pPr lvl="1" latinLnBrk="0">
              <a:spcBef>
                <a:spcPts val="1200"/>
              </a:spcBef>
            </a:pPr>
            <a:r>
              <a:rPr lang="en-US" altLang="zh-CN" dirty="0">
                <a:latin typeface="Times New Roman" panose="02020603050405020304" pitchFamily="18" charset="0"/>
                <a:ea typeface="Times New Roman" panose="02020603050405020304" pitchFamily="18" charset="0"/>
              </a:rPr>
              <a:t>CISC&amp;RISC</a:t>
            </a:r>
            <a:endParaRPr lang="zh-CN" altLang="en-US" dirty="0">
              <a:latin typeface="Times New Roman" panose="02020603050405020304" pitchFamily="18" charset="0"/>
              <a:ea typeface="Times New Roman" panose="02020603050405020304" pitchFamily="18" charset="0"/>
            </a:endParaRPr>
          </a:p>
          <a:p>
            <a:pPr lvl="1" latinLnBrk="0">
              <a:spcBef>
                <a:spcPts val="1200"/>
              </a:spcBef>
            </a:pPr>
            <a:r>
              <a:rPr lang="en-US" altLang="zh-CN" dirty="0">
                <a:latin typeface="Times New Roman" panose="02020603050405020304" pitchFamily="18" charset="0"/>
                <a:ea typeface="Times New Roman" panose="02020603050405020304" pitchFamily="18" charset="0"/>
              </a:rPr>
              <a:t>ARMv8</a:t>
            </a:r>
            <a:r>
              <a:rPr lang="zh-CN" altLang="en-US" dirty="0">
                <a:latin typeface="Times New Roman" panose="02020603050405020304" pitchFamily="18" charset="0"/>
              </a:rPr>
              <a:t>指令集</a:t>
            </a:r>
            <a:endParaRPr lang="zh-CN" altLang="en-US" dirty="0">
              <a:latin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设计题</a:t>
            </a:r>
            <a:endParaRPr lang="zh-CN" altLang="en-US"/>
          </a:p>
        </p:txBody>
      </p:sp>
      <p:sp>
        <p:nvSpPr>
          <p:cNvPr id="3" name="内容占位符 2"/>
          <p:cNvSpPr>
            <a:spLocks noGrp="1"/>
          </p:cNvSpPr>
          <p:nvPr>
            <p:ph idx="1"/>
          </p:nvPr>
        </p:nvSpPr>
        <p:spPr/>
        <p:txBody>
          <a:bodyPr/>
          <a:p>
            <a:r>
              <a:rPr lang="zh-CN" altLang="en-US">
                <a:latin typeface="Times New Roman" panose="02020603050405020304" pitchFamily="18" charset="0"/>
                <a:ea typeface="黑体" panose="02010609060101010101" pitchFamily="49" charset="-122"/>
                <a:cs typeface="Times New Roman" panose="02020603050405020304" pitchFamily="18" charset="0"/>
              </a:rPr>
              <a:t>设通用机字长32位，CPU有16个32位的通用寄存器，4GB内存，试设计其指令系统｡并回答下列问题：</a:t>
            </a: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a:p>
            <a:pPr lvl="1" latinLnBrk="0">
              <a:spcBef>
                <a:spcPts val="1200"/>
              </a:spcBef>
            </a:pPr>
            <a:r>
              <a:rPr lang="zh-CN" altLang="en-US" sz="2400">
                <a:latin typeface="Times New Roman" panose="02020603050405020304" pitchFamily="18" charset="0"/>
                <a:ea typeface="黑体" panose="02010609060101010101" pitchFamily="49" charset="-122"/>
                <a:cs typeface="Times New Roman" panose="02020603050405020304" pitchFamily="18" charset="0"/>
              </a:rPr>
              <a:t>1)指令系统应至少包含哪些类型的指令？</a:t>
            </a:r>
            <a:endParaRPr lang="zh-CN" altLang="en-US" sz="2400">
              <a:latin typeface="Times New Roman" panose="02020603050405020304" pitchFamily="18" charset="0"/>
              <a:ea typeface="黑体" panose="02010609060101010101" pitchFamily="49" charset="-122"/>
              <a:cs typeface="Times New Roman" panose="02020603050405020304" pitchFamily="18" charset="0"/>
            </a:endParaRPr>
          </a:p>
          <a:p>
            <a:pPr lvl="1" latinLnBrk="0">
              <a:spcBef>
                <a:spcPts val="1200"/>
              </a:spcBef>
            </a:pPr>
            <a:r>
              <a:rPr lang="zh-CN" altLang="en-US" sz="2400">
                <a:latin typeface="Times New Roman" panose="02020603050405020304" pitchFamily="18" charset="0"/>
                <a:ea typeface="黑体" panose="02010609060101010101" pitchFamily="49" charset="-122"/>
                <a:cs typeface="Times New Roman" panose="02020603050405020304" pitchFamily="18" charset="0"/>
              </a:rPr>
              <a:t>2)指令长度和地址码的个数如何影响程序存储和执行的性能？</a:t>
            </a:r>
            <a:endParaRPr lang="zh-CN" altLang="en-US" sz="2400">
              <a:latin typeface="Times New Roman" panose="02020603050405020304" pitchFamily="18" charset="0"/>
              <a:ea typeface="黑体" panose="02010609060101010101" pitchFamily="49" charset="-122"/>
              <a:cs typeface="Times New Roman" panose="02020603050405020304" pitchFamily="18" charset="0"/>
            </a:endParaRPr>
          </a:p>
          <a:p>
            <a:pPr lvl="1" latinLnBrk="0">
              <a:spcBef>
                <a:spcPts val="1200"/>
              </a:spcBef>
            </a:pPr>
            <a:r>
              <a:rPr lang="zh-CN" altLang="en-US" sz="2400">
                <a:latin typeface="Times New Roman" panose="02020603050405020304" pitchFamily="18" charset="0"/>
                <a:ea typeface="黑体" panose="02010609060101010101" pitchFamily="49" charset="-122"/>
                <a:cs typeface="Times New Roman" panose="02020603050405020304" pitchFamily="18" charset="0"/>
              </a:rPr>
              <a:t>3)试说明几种缩短地址码的长度的方法，并比较它们在寻址速度和寻址范围上的不同。</a:t>
            </a:r>
            <a:endParaRPr lang="zh-CN" altLang="en-US" sz="2400">
              <a:latin typeface="Times New Roman" panose="02020603050405020304" pitchFamily="18" charset="0"/>
              <a:ea typeface="黑体" panose="02010609060101010101" pitchFamily="49" charset="-122"/>
              <a:cs typeface="Times New Roman" panose="02020603050405020304" pitchFamily="18" charset="0"/>
            </a:endParaRPr>
          </a:p>
          <a:p>
            <a:pPr lvl="1" latinLnBrk="0">
              <a:spcBef>
                <a:spcPts val="1200"/>
              </a:spcBef>
            </a:pPr>
            <a:r>
              <a:rPr lang="zh-CN" altLang="en-US" sz="2400">
                <a:latin typeface="Times New Roman" panose="02020603050405020304" pitchFamily="18" charset="0"/>
                <a:ea typeface="黑体" panose="02010609060101010101" pitchFamily="49" charset="-122"/>
                <a:cs typeface="Times New Roman" panose="02020603050405020304" pitchFamily="18" charset="0"/>
              </a:rPr>
              <a:t>4)输入输出指令的设置如何影响内存寻址空间？</a:t>
            </a:r>
            <a:endParaRPr lang="zh-CN" altLang="en-US" sz="240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UNIT_TABLE_BEAUTIFY" val="smartTable{f75ed1cf-1e18-4afc-9f1f-31427bc6fe25}"/>
</p:tagLst>
</file>

<file path=ppt/tags/tag2.xml><?xml version="1.0" encoding="utf-8"?>
<p:tagLst xmlns:p="http://schemas.openxmlformats.org/presentationml/2006/main">
  <p:tag name="COMMONDATA" val="eyJoZGlkIjoiNzgwZWUzYWQ0MzYxM2VlNjVhZWQ5MmMwYjc0MjZhZjkifQ=="/>
  <p:tag name="KSO_WPP_MARK_KEY" val="aaad2c9a-e1f3-41f1-901c-c3956b409c06"/>
  <p:tag name="commondata" val="eyJoZGlkIjoiMjBmODBiMzNjY2E1MzFlMjMyODdmZmNjMDJiNzA1NWUifQ=="/>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9331</Words>
  <Application>WPS 演示</Application>
  <PresentationFormat>全屏显示(4:3)</PresentationFormat>
  <Paragraphs>782</Paragraphs>
  <Slides>85</Slides>
  <Notes>2</Notes>
  <HiddenSlides>0</HiddenSlides>
  <MMClips>0</MMClips>
  <ScaleCrop>false</ScaleCrop>
  <HeadingPairs>
    <vt:vector size="8" baseType="variant">
      <vt:variant>
        <vt:lpstr>已用的字体</vt:lpstr>
      </vt:variant>
      <vt:variant>
        <vt:i4>10</vt:i4>
      </vt:variant>
      <vt:variant>
        <vt:lpstr>主题</vt:lpstr>
      </vt:variant>
      <vt:variant>
        <vt:i4>10</vt:i4>
      </vt:variant>
      <vt:variant>
        <vt:lpstr>嵌入 OLE 服务器</vt:lpstr>
      </vt:variant>
      <vt:variant>
        <vt:i4>2</vt:i4>
      </vt:variant>
      <vt:variant>
        <vt:lpstr>幻灯片标题</vt:lpstr>
      </vt:variant>
      <vt:variant>
        <vt:i4>85</vt:i4>
      </vt:variant>
    </vt:vector>
  </HeadingPairs>
  <TitlesOfParts>
    <vt:vector size="107" baseType="lpstr">
      <vt:lpstr>Arial</vt:lpstr>
      <vt:lpstr>宋体</vt:lpstr>
      <vt:lpstr>Wingdings</vt:lpstr>
      <vt:lpstr>华文行楷</vt:lpstr>
      <vt:lpstr>黑体</vt:lpstr>
      <vt:lpstr>华文中宋</vt:lpstr>
      <vt:lpstr>Times New Roman</vt:lpstr>
      <vt:lpstr>微软雅黑</vt:lpstr>
      <vt:lpstr>Arial Unicode MS</vt:lpstr>
      <vt:lpstr>Wingdings</vt:lpstr>
      <vt:lpstr>主题1</vt:lpstr>
      <vt:lpstr>1_24美金的ppt模板</vt:lpstr>
      <vt:lpstr>24美金的ppt模板_3</vt:lpstr>
      <vt:lpstr>24美金的ppt模板_4</vt:lpstr>
      <vt:lpstr>24美金的ppt模板_5</vt:lpstr>
      <vt:lpstr>1_主题1</vt:lpstr>
      <vt:lpstr>2_24美金的ppt模板</vt:lpstr>
      <vt:lpstr>1_24美金的ppt模板_3</vt:lpstr>
      <vt:lpstr>1_24美金的ppt模板_4</vt:lpstr>
      <vt:lpstr>1_24美金的ppt模板_5</vt:lpstr>
      <vt:lpstr>Visio.Drawing.6</vt:lpstr>
      <vt:lpstr>Visio.Drawing.6</vt:lpstr>
      <vt:lpstr>PowerPoint 演示文稿</vt:lpstr>
      <vt:lpstr>第3章     指令系统</vt:lpstr>
      <vt:lpstr>指令系统</vt:lpstr>
      <vt:lpstr>本章学习内容</vt:lpstr>
      <vt:lpstr>3.1  指令格式</vt:lpstr>
      <vt:lpstr>3.1.1 机器指令的基本格式</vt:lpstr>
      <vt:lpstr>3.1.1 机器指令的基本格式（续）</vt:lpstr>
      <vt:lpstr>3.1.2 地址码结构</vt:lpstr>
      <vt:lpstr>1.四地址指令 </vt:lpstr>
      <vt:lpstr>2.三地址指令 </vt:lpstr>
      <vt:lpstr>3.二地址指令 </vt:lpstr>
      <vt:lpstr>4.一地址指令 </vt:lpstr>
      <vt:lpstr>5.零地址指令 </vt:lpstr>
      <vt:lpstr>不同地址数指令的特点和适用场合</vt:lpstr>
      <vt:lpstr>3.1.3 指令的操作码</vt:lpstr>
      <vt:lpstr>1.规整型</vt:lpstr>
      <vt:lpstr>IBM 370机的指令格式</vt:lpstr>
      <vt:lpstr>2.非规整型</vt:lpstr>
      <vt:lpstr>PDP-11机的指令格式</vt:lpstr>
      <vt:lpstr>扩展操作码法 </vt:lpstr>
      <vt:lpstr>扩展操作码法（续）</vt:lpstr>
      <vt:lpstr>练习</vt:lpstr>
      <vt:lpstr>练习</vt:lpstr>
      <vt:lpstr>3.2  寻址技术</vt:lpstr>
      <vt:lpstr>3.2.1  编址方式</vt:lpstr>
      <vt:lpstr>指令中地址码的位数</vt:lpstr>
      <vt:lpstr>3.2.2  指令寻址和数据寻址</vt:lpstr>
      <vt:lpstr>3.2.2  指令寻址</vt:lpstr>
      <vt:lpstr>3.2.3  基本的数据寻址方式</vt:lpstr>
      <vt:lpstr>1.立即寻址 </vt:lpstr>
      <vt:lpstr>2.寄存器寻址</vt:lpstr>
      <vt:lpstr>3.直接寻址</vt:lpstr>
      <vt:lpstr>4.间接寻址</vt:lpstr>
      <vt:lpstr>间接寻址过程 </vt:lpstr>
      <vt:lpstr>4.间接寻址（续）</vt:lpstr>
      <vt:lpstr>5.寄存器间接寻址</vt:lpstr>
      <vt:lpstr>6.变址寻址</vt:lpstr>
      <vt:lpstr>7.基址寻址</vt:lpstr>
      <vt:lpstr>8.相对寻址</vt:lpstr>
      <vt:lpstr>相对寻址方式的特点</vt:lpstr>
      <vt:lpstr>9.页面寻址</vt:lpstr>
      <vt:lpstr>页面寻址（续）</vt:lpstr>
      <vt:lpstr>基页寻址</vt:lpstr>
      <vt:lpstr>当前页寻址</vt:lpstr>
      <vt:lpstr>区分不同的寻址方式 </vt:lpstr>
      <vt:lpstr>区分不同的寻址方式（续）</vt:lpstr>
      <vt:lpstr>2.3.4 变型或组合寻址方式</vt:lpstr>
      <vt:lpstr>1.自增型寄存器间址和自减型寄存器间址</vt:lpstr>
      <vt:lpstr>2.扩展变址方式</vt:lpstr>
      <vt:lpstr>3.基址变址寻址 </vt:lpstr>
      <vt:lpstr>讨论和总结</vt:lpstr>
      <vt:lpstr>3.3 堆栈与堆栈操作 </vt:lpstr>
      <vt:lpstr>3.3.1 堆栈结构</vt:lpstr>
      <vt:lpstr>寄存器堆栈</vt:lpstr>
      <vt:lpstr>2.存储器堆栈</vt:lpstr>
      <vt:lpstr>自底向上生成堆栈的进栈</vt:lpstr>
      <vt:lpstr>自底向上生成堆栈的出栈</vt:lpstr>
      <vt:lpstr>3.2.2 堆栈操作</vt:lpstr>
      <vt:lpstr>3.2.2 堆栈操作（续）</vt:lpstr>
      <vt:lpstr>3.2.2 堆栈操作（续）</vt:lpstr>
      <vt:lpstr>3.4 指令类型 </vt:lpstr>
      <vt:lpstr>3.4.1  数据传送类指令 </vt:lpstr>
      <vt:lpstr>2.堆栈操作指令</vt:lpstr>
      <vt:lpstr>3.数据交换指令 </vt:lpstr>
      <vt:lpstr>3.4.2  运算类指令</vt:lpstr>
      <vt:lpstr>2.逻辑运算类指令</vt:lpstr>
      <vt:lpstr>3.移位类指令</vt:lpstr>
      <vt:lpstr>3.4.3  程序控制类指令</vt:lpstr>
      <vt:lpstr>2.子程序调用指令</vt:lpstr>
      <vt:lpstr>2.子程序调用指令（续）</vt:lpstr>
      <vt:lpstr>3.返回指令</vt:lpstr>
      <vt:lpstr>3.4.4  输入输出类指令</vt:lpstr>
      <vt:lpstr>两种编址方式比较 </vt:lpstr>
      <vt:lpstr>3.4.5  80x86指令系统举例</vt:lpstr>
      <vt:lpstr>3.5 指令系统的发展</vt:lpstr>
      <vt:lpstr>3.5.2 从复杂指令系统到精简指令系统</vt:lpstr>
      <vt:lpstr>3.5.2 从复杂指令系统到精简指令系统</vt:lpstr>
      <vt:lpstr>3.5.3 VLIW和EPIC</vt:lpstr>
      <vt:lpstr>3.6 指令系统的设计</vt:lpstr>
      <vt:lpstr>3.6.1 指令系统的基本设计问题</vt:lpstr>
      <vt:lpstr>3.6.2 指令系统设计风格</vt:lpstr>
      <vt:lpstr>3.6.3 指令系统实例之ARM</vt:lpstr>
      <vt:lpstr>问题</vt:lpstr>
      <vt:lpstr>作业</vt:lpstr>
      <vt:lpstr>设计题</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指令系统</dc:title>
  <dc:creator>蒋本珊</dc:creator>
  <cp:lastModifiedBy>red</cp:lastModifiedBy>
  <cp:revision>155</cp:revision>
  <dcterms:created xsi:type="dcterms:W3CDTF">2003-05-27T06:14:00Z</dcterms:created>
  <dcterms:modified xsi:type="dcterms:W3CDTF">2024-04-08T06:23:52Z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7C7B99A6C8114772BF7D30AAB7049375</vt:lpwstr>
  </property>
</Properties>
</file>