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6" r:id="rId5"/>
    <p:sldMasterId id="2147483699" r:id="rId6"/>
  </p:sldMasterIdLst>
  <p:notesMasterIdLst>
    <p:notesMasterId r:id="rId8"/>
  </p:notesMasterIdLst>
  <p:handoutMasterIdLst>
    <p:handoutMasterId r:id="rId166"/>
  </p:handoutMasterIdLst>
  <p:sldIdLst>
    <p:sldId id="257" r:id="rId7"/>
    <p:sldId id="258" r:id="rId9"/>
    <p:sldId id="440" r:id="rId10"/>
    <p:sldId id="441" r:id="rId11"/>
    <p:sldId id="443" r:id="rId12"/>
    <p:sldId id="444" r:id="rId13"/>
    <p:sldId id="445" r:id="rId14"/>
    <p:sldId id="446" r:id="rId15"/>
    <p:sldId id="447" r:id="rId16"/>
    <p:sldId id="448" r:id="rId17"/>
    <p:sldId id="449" r:id="rId18"/>
    <p:sldId id="450" r:id="rId19"/>
    <p:sldId id="452" r:id="rId20"/>
    <p:sldId id="453" r:id="rId21"/>
    <p:sldId id="454" r:id="rId22"/>
    <p:sldId id="455" r:id="rId23"/>
    <p:sldId id="456" r:id="rId24"/>
    <p:sldId id="457" r:id="rId25"/>
    <p:sldId id="458" r:id="rId26"/>
    <p:sldId id="459" r:id="rId27"/>
    <p:sldId id="460" r:id="rId28"/>
    <p:sldId id="461" r:id="rId29"/>
    <p:sldId id="462" r:id="rId30"/>
    <p:sldId id="463" r:id="rId31"/>
    <p:sldId id="465" r:id="rId32"/>
    <p:sldId id="466" r:id="rId33"/>
    <p:sldId id="467" r:id="rId34"/>
    <p:sldId id="468" r:id="rId35"/>
    <p:sldId id="469" r:id="rId36"/>
    <p:sldId id="470" r:id="rId37"/>
    <p:sldId id="471" r:id="rId38"/>
    <p:sldId id="472" r:id="rId39"/>
    <p:sldId id="474" r:id="rId40"/>
    <p:sldId id="476" r:id="rId41"/>
    <p:sldId id="478" r:id="rId42"/>
    <p:sldId id="842" r:id="rId43"/>
    <p:sldId id="479" r:id="rId44"/>
    <p:sldId id="480" r:id="rId45"/>
    <p:sldId id="481" r:id="rId46"/>
    <p:sldId id="482" r:id="rId47"/>
    <p:sldId id="483" r:id="rId48"/>
    <p:sldId id="484" r:id="rId49"/>
    <p:sldId id="485" r:id="rId50"/>
    <p:sldId id="487" r:id="rId51"/>
    <p:sldId id="488" r:id="rId52"/>
    <p:sldId id="609" r:id="rId53"/>
    <p:sldId id="943" r:id="rId54"/>
    <p:sldId id="610" r:id="rId55"/>
    <p:sldId id="611" r:id="rId56"/>
    <p:sldId id="612" r:id="rId57"/>
    <p:sldId id="613" r:id="rId58"/>
    <p:sldId id="614" r:id="rId59"/>
    <p:sldId id="615" r:id="rId60"/>
    <p:sldId id="616" r:id="rId61"/>
    <p:sldId id="502" r:id="rId62"/>
    <p:sldId id="503" r:id="rId63"/>
    <p:sldId id="504" r:id="rId64"/>
    <p:sldId id="505" r:id="rId65"/>
    <p:sldId id="506" r:id="rId66"/>
    <p:sldId id="507" r:id="rId67"/>
    <p:sldId id="508" r:id="rId68"/>
    <p:sldId id="509" r:id="rId69"/>
    <p:sldId id="510" r:id="rId70"/>
    <p:sldId id="511" r:id="rId71"/>
    <p:sldId id="512" r:id="rId72"/>
    <p:sldId id="513" r:id="rId73"/>
    <p:sldId id="515" r:id="rId74"/>
    <p:sldId id="516" r:id="rId75"/>
    <p:sldId id="518" r:id="rId76"/>
    <p:sldId id="520" r:id="rId77"/>
    <p:sldId id="521" r:id="rId78"/>
    <p:sldId id="522" r:id="rId79"/>
    <p:sldId id="523" r:id="rId80"/>
    <p:sldId id="524" r:id="rId81"/>
    <p:sldId id="525" r:id="rId82"/>
    <p:sldId id="526" r:id="rId83"/>
    <p:sldId id="527" r:id="rId84"/>
    <p:sldId id="528" r:id="rId85"/>
    <p:sldId id="530" r:id="rId86"/>
    <p:sldId id="531" r:id="rId87"/>
    <p:sldId id="532" r:id="rId88"/>
    <p:sldId id="534" r:id="rId89"/>
    <p:sldId id="1038" r:id="rId90"/>
    <p:sldId id="1039" r:id="rId91"/>
    <p:sldId id="1040" r:id="rId92"/>
    <p:sldId id="1041" r:id="rId93"/>
    <p:sldId id="535" r:id="rId94"/>
    <p:sldId id="536" r:id="rId95"/>
    <p:sldId id="537" r:id="rId96"/>
    <p:sldId id="539" r:id="rId97"/>
    <p:sldId id="540" r:id="rId98"/>
    <p:sldId id="541" r:id="rId99"/>
    <p:sldId id="542" r:id="rId100"/>
    <p:sldId id="544" r:id="rId101"/>
    <p:sldId id="546" r:id="rId102"/>
    <p:sldId id="548" r:id="rId103"/>
    <p:sldId id="552" r:id="rId104"/>
    <p:sldId id="553" r:id="rId105"/>
    <p:sldId id="554" r:id="rId106"/>
    <p:sldId id="556" r:id="rId107"/>
    <p:sldId id="557" r:id="rId108"/>
    <p:sldId id="558" r:id="rId109"/>
    <p:sldId id="559" r:id="rId110"/>
    <p:sldId id="560" r:id="rId111"/>
    <p:sldId id="561" r:id="rId112"/>
    <p:sldId id="1095" r:id="rId113"/>
    <p:sldId id="1094" r:id="rId114"/>
    <p:sldId id="562" r:id="rId115"/>
    <p:sldId id="564" r:id="rId116"/>
    <p:sldId id="1096" r:id="rId117"/>
    <p:sldId id="1097" r:id="rId118"/>
    <p:sldId id="565" r:id="rId119"/>
    <p:sldId id="566" r:id="rId120"/>
    <p:sldId id="567" r:id="rId121"/>
    <p:sldId id="568" r:id="rId122"/>
    <p:sldId id="1098" r:id="rId123"/>
    <p:sldId id="1099" r:id="rId124"/>
    <p:sldId id="569" r:id="rId125"/>
    <p:sldId id="570" r:id="rId126"/>
    <p:sldId id="1104" r:id="rId127"/>
    <p:sldId id="571" r:id="rId128"/>
    <p:sldId id="572" r:id="rId129"/>
    <p:sldId id="1103" r:id="rId130"/>
    <p:sldId id="573" r:id="rId131"/>
    <p:sldId id="574" r:id="rId132"/>
    <p:sldId id="1105" r:id="rId133"/>
    <p:sldId id="604" r:id="rId134"/>
    <p:sldId id="605" r:id="rId135"/>
    <p:sldId id="575" r:id="rId136"/>
    <p:sldId id="576" r:id="rId137"/>
    <p:sldId id="577" r:id="rId138"/>
    <p:sldId id="578" r:id="rId139"/>
    <p:sldId id="1101" r:id="rId140"/>
    <p:sldId id="579" r:id="rId141"/>
    <p:sldId id="580" r:id="rId142"/>
    <p:sldId id="581" r:id="rId143"/>
    <p:sldId id="582" r:id="rId144"/>
    <p:sldId id="606" r:id="rId145"/>
    <p:sldId id="607" r:id="rId146"/>
    <p:sldId id="583" r:id="rId147"/>
    <p:sldId id="584" r:id="rId148"/>
    <p:sldId id="585" r:id="rId149"/>
    <p:sldId id="586" r:id="rId150"/>
    <p:sldId id="587" r:id="rId151"/>
    <p:sldId id="588" r:id="rId152"/>
    <p:sldId id="589" r:id="rId153"/>
    <p:sldId id="603" r:id="rId154"/>
    <p:sldId id="1139" r:id="rId155"/>
    <p:sldId id="1140" r:id="rId156"/>
    <p:sldId id="1141" r:id="rId157"/>
    <p:sldId id="1142" r:id="rId158"/>
    <p:sldId id="1143" r:id="rId159"/>
    <p:sldId id="1144" r:id="rId160"/>
    <p:sldId id="1145" r:id="rId161"/>
    <p:sldId id="1146" r:id="rId162"/>
    <p:sldId id="1147" r:id="rId163"/>
    <p:sldId id="1149" r:id="rId164"/>
    <p:sldId id="1100" r:id="rId165"/>
  </p:sldIdLst>
  <p:sldSz cx="9144000" cy="6858000" type="screen4x3"/>
  <p:notesSz cx="6858000" cy="9144000"/>
  <p:custDataLst>
    <p:tags r:id="rId170"/>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8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FF"/>
    <a:srgbClr val="DDDDDD"/>
    <a:srgbClr val="663300"/>
    <a:srgbClr val="000066"/>
    <a:srgbClr val="CC0000"/>
    <a:srgbClr val="FF0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2"/>
    <p:restoredTop sz="93011"/>
  </p:normalViewPr>
  <p:slideViewPr>
    <p:cSldViewPr showGuides="1">
      <p:cViewPr varScale="1">
        <p:scale>
          <a:sx n="68" d="100"/>
          <a:sy n="68" d="100"/>
        </p:scale>
        <p:origin x="1170" y="72"/>
      </p:cViewPr>
      <p:guideLst>
        <p:guide orient="horz" pos="2182"/>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333"/>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2.xml"/><Relationship Id="rId98" Type="http://schemas.openxmlformats.org/officeDocument/2006/relationships/slide" Target="slides/slide91.xml"/><Relationship Id="rId97" Type="http://schemas.openxmlformats.org/officeDocument/2006/relationships/slide" Target="slides/slide90.xml"/><Relationship Id="rId96" Type="http://schemas.openxmlformats.org/officeDocument/2006/relationships/slide" Target="slides/slide89.xml"/><Relationship Id="rId95" Type="http://schemas.openxmlformats.org/officeDocument/2006/relationships/slide" Target="slides/slide88.xml"/><Relationship Id="rId94" Type="http://schemas.openxmlformats.org/officeDocument/2006/relationships/slide" Target="slides/slide87.xml"/><Relationship Id="rId93" Type="http://schemas.openxmlformats.org/officeDocument/2006/relationships/slide" Target="slides/slide86.xml"/><Relationship Id="rId92" Type="http://schemas.openxmlformats.org/officeDocument/2006/relationships/slide" Target="slides/slide85.xml"/><Relationship Id="rId91" Type="http://schemas.openxmlformats.org/officeDocument/2006/relationships/slide" Target="slides/slide84.xml"/><Relationship Id="rId90" Type="http://schemas.openxmlformats.org/officeDocument/2006/relationships/slide" Target="slides/slide83.xml"/><Relationship Id="rId9" Type="http://schemas.openxmlformats.org/officeDocument/2006/relationships/slide" Target="slides/slide2.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notesMaster" Target="notesMasters/notesMaster1.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0" Type="http://schemas.openxmlformats.org/officeDocument/2006/relationships/tags" Target="tags/tag1.xml"/><Relationship Id="rId17" Type="http://schemas.openxmlformats.org/officeDocument/2006/relationships/slide" Target="slides/slide10.xml"/><Relationship Id="rId169" Type="http://schemas.openxmlformats.org/officeDocument/2006/relationships/tableStyles" Target="tableStyles.xml"/><Relationship Id="rId168" Type="http://schemas.openxmlformats.org/officeDocument/2006/relationships/viewProps" Target="viewProps.xml"/><Relationship Id="rId167" Type="http://schemas.openxmlformats.org/officeDocument/2006/relationships/presProps" Target="presProps.xml"/><Relationship Id="rId166" Type="http://schemas.openxmlformats.org/officeDocument/2006/relationships/handoutMaster" Target="handoutMasters/handoutMaster1.xml"/><Relationship Id="rId165" Type="http://schemas.openxmlformats.org/officeDocument/2006/relationships/slide" Target="slides/slide158.xml"/><Relationship Id="rId164" Type="http://schemas.openxmlformats.org/officeDocument/2006/relationships/slide" Target="slides/slide157.xml"/><Relationship Id="rId163" Type="http://schemas.openxmlformats.org/officeDocument/2006/relationships/slide" Target="slides/slide156.xml"/><Relationship Id="rId162" Type="http://schemas.openxmlformats.org/officeDocument/2006/relationships/slide" Target="slides/slide155.xml"/><Relationship Id="rId161" Type="http://schemas.openxmlformats.org/officeDocument/2006/relationships/slide" Target="slides/slide154.xml"/><Relationship Id="rId160" Type="http://schemas.openxmlformats.org/officeDocument/2006/relationships/slide" Target="slides/slide153.xml"/><Relationship Id="rId16" Type="http://schemas.openxmlformats.org/officeDocument/2006/relationships/slide" Target="slides/slide9.xml"/><Relationship Id="rId159" Type="http://schemas.openxmlformats.org/officeDocument/2006/relationships/slide" Target="slides/slide152.xml"/><Relationship Id="rId158" Type="http://schemas.openxmlformats.org/officeDocument/2006/relationships/slide" Target="slides/slide151.xml"/><Relationship Id="rId157" Type="http://schemas.openxmlformats.org/officeDocument/2006/relationships/slide" Target="slides/slide150.xml"/><Relationship Id="rId156" Type="http://schemas.openxmlformats.org/officeDocument/2006/relationships/slide" Target="slides/slide149.xml"/><Relationship Id="rId155" Type="http://schemas.openxmlformats.org/officeDocument/2006/relationships/slide" Target="slides/slide148.xml"/><Relationship Id="rId154" Type="http://schemas.openxmlformats.org/officeDocument/2006/relationships/slide" Target="slides/slide147.xml"/><Relationship Id="rId153" Type="http://schemas.openxmlformats.org/officeDocument/2006/relationships/slide" Target="slides/slide146.xml"/><Relationship Id="rId152" Type="http://schemas.openxmlformats.org/officeDocument/2006/relationships/slide" Target="slides/slide145.xml"/><Relationship Id="rId151" Type="http://schemas.openxmlformats.org/officeDocument/2006/relationships/slide" Target="slides/slide144.xml"/><Relationship Id="rId150" Type="http://schemas.openxmlformats.org/officeDocument/2006/relationships/slide" Target="slides/slide143.xml"/><Relationship Id="rId15" Type="http://schemas.openxmlformats.org/officeDocument/2006/relationships/slide" Target="slides/slide8.xml"/><Relationship Id="rId149" Type="http://schemas.openxmlformats.org/officeDocument/2006/relationships/slide" Target="slides/slide142.xml"/><Relationship Id="rId148" Type="http://schemas.openxmlformats.org/officeDocument/2006/relationships/slide" Target="slides/slide141.xml"/><Relationship Id="rId147" Type="http://schemas.openxmlformats.org/officeDocument/2006/relationships/slide" Target="slides/slide140.xml"/><Relationship Id="rId146" Type="http://schemas.openxmlformats.org/officeDocument/2006/relationships/slide" Target="slides/slide139.xml"/><Relationship Id="rId145" Type="http://schemas.openxmlformats.org/officeDocument/2006/relationships/slide" Target="slides/slide138.xml"/><Relationship Id="rId144" Type="http://schemas.openxmlformats.org/officeDocument/2006/relationships/slide" Target="slides/slide137.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14" Type="http://schemas.openxmlformats.org/officeDocument/2006/relationships/slide" Target="slides/slide7.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 Type="http://schemas.openxmlformats.org/officeDocument/2006/relationships/slide" Target="slides/slide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121" Type="http://schemas.openxmlformats.org/officeDocument/2006/relationships/slide" Target="slides/slide114.xml"/><Relationship Id="rId120" Type="http://schemas.openxmlformats.org/officeDocument/2006/relationships/slide" Target="slides/slide113.xml"/><Relationship Id="rId12" Type="http://schemas.openxmlformats.org/officeDocument/2006/relationships/slide" Target="slides/slide5.xml"/><Relationship Id="rId119" Type="http://schemas.openxmlformats.org/officeDocument/2006/relationships/slide" Target="slides/slide112.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110" Type="http://schemas.openxmlformats.org/officeDocument/2006/relationships/slide" Target="slides/slide103.xml"/><Relationship Id="rId11" Type="http://schemas.openxmlformats.org/officeDocument/2006/relationships/slide" Target="slides/slide4.xml"/><Relationship Id="rId109" Type="http://schemas.openxmlformats.org/officeDocument/2006/relationships/slide" Target="slides/slide102.xml"/><Relationship Id="rId108" Type="http://schemas.openxmlformats.org/officeDocument/2006/relationships/slide" Target="slides/slide101.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DF3E394-B2ED-4E11-9E0A-02F2FFE8AED2}"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26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D74190B-3350-4E37-BD84-EDCF7CA6DBB6}"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13314" name="Rectangle 2"/>
          <p:cNvSpPr>
            <a:spLocks noGrp="1" noRot="1" noChangeAspect="1" noTextEdit="1"/>
          </p:cNvSpPr>
          <p:nvPr>
            <p:ph type="sldImg"/>
          </p:nvPr>
        </p:nvSpPr>
        <p:spPr>
          <a:solidFill>
            <a:srgbClr val="FFFFFF"/>
          </a:solidFill>
        </p:spPr>
      </p:sp>
      <p:sp>
        <p:nvSpPr>
          <p:cNvPr id="1331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p>
            <a:pPr lvl="0" eaLnBrk="1" hangingPunct="1"/>
            <a:r>
              <a:rPr lang="zh-CN" altLang="en-US" dirty="0"/>
              <a:t>欢迎辞</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6.xml"/><Relationship Id="rId8" Type="http://schemas.openxmlformats.org/officeDocument/2006/relationships/slideLayout" Target="../slideLayouts/slideLayout55.xml"/><Relationship Id="rId7" Type="http://schemas.openxmlformats.org/officeDocument/2006/relationships/slideLayout" Target="../slideLayouts/slideLayout54.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3" Type="http://schemas.openxmlformats.org/officeDocument/2006/relationships/slideLayout" Target="../slideLayouts/slideLayout50.xml"/><Relationship Id="rId2" Type="http://schemas.openxmlformats.org/officeDocument/2006/relationships/slideLayout" Target="../slideLayouts/slideLayout49.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59.xml"/><Relationship Id="rId11" Type="http://schemas.openxmlformats.org/officeDocument/2006/relationships/slideLayout" Target="../slideLayouts/slideLayout58.xml"/><Relationship Id="rId10" Type="http://schemas.openxmlformats.org/officeDocument/2006/relationships/slideLayout" Target="../slideLayouts/slideLayout57.xml"/><Relationship Id="rId1"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p:nvPr>
        </p:nvSpPr>
        <p:spPr>
          <a:xfrm>
            <a:off x="457200" y="1447800"/>
            <a:ext cx="8229600" cy="48006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chemeClr val="bg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EB721D71-2E55-4B9A-8FE5-982DB0D06959}"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6.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9.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image" Target="../media/image21.emf"/></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image" Target="../media/image21.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10.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wmf"/><Relationship Id="rId7" Type="http://schemas.openxmlformats.org/officeDocument/2006/relationships/oleObject" Target="../embeddings/oleObject15.bin"/><Relationship Id="rId6" Type="http://schemas.openxmlformats.org/officeDocument/2006/relationships/image" Target="../media/image27.wmf"/><Relationship Id="rId5" Type="http://schemas.openxmlformats.org/officeDocument/2006/relationships/oleObject" Target="../embeddings/oleObject14.bin"/><Relationship Id="rId4" Type="http://schemas.openxmlformats.org/officeDocument/2006/relationships/image" Target="../media/image26.wmf"/><Relationship Id="rId3" Type="http://schemas.openxmlformats.org/officeDocument/2006/relationships/oleObject" Target="../embeddings/oleObject13.bin"/><Relationship Id="rId2" Type="http://schemas.openxmlformats.org/officeDocument/2006/relationships/image" Target="../media/image25.wmf"/><Relationship Id="rId10" Type="http://schemas.openxmlformats.org/officeDocument/2006/relationships/vmlDrawing" Target="../drawings/vmlDrawing12.vml"/><Relationship Id="rId1" Type="http://schemas.openxmlformats.org/officeDocument/2006/relationships/oleObject" Target="../embeddings/oleObject12.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6.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0.wmf"/><Relationship Id="rId1" Type="http://schemas.openxmlformats.org/officeDocument/2006/relationships/oleObject" Target="../embeddings/oleObject17.bin"/></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9.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20.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4.wmf"/><Relationship Id="rId1" Type="http://schemas.openxmlformats.org/officeDocument/2006/relationships/oleObject" Target="../embeddings/oleObject21.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35.emf"/><Relationship Id="rId1" Type="http://schemas.openxmlformats.org/officeDocument/2006/relationships/oleObject" Target="../embeddings/oleObject22.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wmf"/><Relationship Id="rId3" Type="http://schemas.openxmlformats.org/officeDocument/2006/relationships/oleObject" Target="../embeddings/oleObject24.bin"/><Relationship Id="rId2" Type="http://schemas.openxmlformats.org/officeDocument/2006/relationships/image" Target="../media/image39.wmf"/><Relationship Id="rId1" Type="http://schemas.openxmlformats.org/officeDocument/2006/relationships/oleObject" Target="../embeddings/oleObject23.bin"/></Relationships>
</file>

<file path=ppt/slides/_rels/slide90.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2.xml"/><Relationship Id="rId7" Type="http://schemas.openxmlformats.org/officeDocument/2006/relationships/image" Target="../media/image44.wmf"/><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image" Target="../media/image43.wmf"/><Relationship Id="rId3" Type="http://schemas.openxmlformats.org/officeDocument/2006/relationships/oleObject" Target="../embeddings/oleObject26.bin"/><Relationship Id="rId2" Type="http://schemas.openxmlformats.org/officeDocument/2006/relationships/image" Target="../media/image42.wmf"/><Relationship Id="rId1" Type="http://schemas.openxmlformats.org/officeDocument/2006/relationships/oleObject" Target="../embeddings/oleObject25.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29.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47.wmf"/><Relationship Id="rId1" Type="http://schemas.openxmlformats.org/officeDocument/2006/relationships/oleObject" Target="../embeddings/oleObject30.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55.wmf"/><Relationship Id="rId1" Type="http://schemas.openxmlformats.org/officeDocument/2006/relationships/oleObject" Target="../embeddings/oleObject31.bin"/></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57.wmf"/><Relationship Id="rId1" Type="http://schemas.openxmlformats.org/officeDocument/2006/relationships/oleObject" Target="../embeddings/oleObject32.bin"/></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jpe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63.wmf"/><Relationship Id="rId1" Type="http://schemas.openxmlformats.org/officeDocument/2006/relationships/oleObject" Target="../embeddings/oleObject33.bin"/></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jpe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65.wmf"/><Relationship Id="rId1" Type="http://schemas.openxmlformats.org/officeDocument/2006/relationships/oleObject" Target="../embeddings/oleObject34.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66.wmf"/><Relationship Id="rId1" Type="http://schemas.openxmlformats.org/officeDocument/2006/relationships/oleObject" Target="../embeddings/oleObject35.bin"/></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39750" y="1917065"/>
            <a:ext cx="8336280" cy="2707005"/>
          </a:xfrm>
          <a:prstGeom prst="rect">
            <a:avLst/>
          </a:prstGeom>
          <a:noFill/>
        </p:spPr>
        <p:txBody>
          <a:bodyPr wrap="square" rtlCol="0" anchor="t">
            <a:spAutoFit/>
          </a:bodyPr>
          <a:p>
            <a:pPr marL="0" marR="0" lvl="0" indent="0" algn="l" defTabSz="914400" rtl="0" eaLnBrk="1" fontAlgn="base" latinLnBrk="0" hangingPunct="1">
              <a:lnSpc>
                <a:spcPct val="100000"/>
              </a:lnSpc>
              <a:spcBef>
                <a:spcPct val="0"/>
              </a:spcBef>
              <a:spcAft>
                <a:spcPct val="0"/>
              </a:spcAft>
              <a:buClrTx/>
              <a:buSzTx/>
              <a:buFontTx/>
              <a:buNone/>
              <a:defRPr/>
            </a:pP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中国计算机学会</a:t>
            </a:r>
            <a:b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“21世纪大学本科计算机专业系列教材”</a:t>
            </a: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计算机组成原理</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762000" y="1600200"/>
            <a:ext cx="7772400" cy="2971800"/>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8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第5章</a:t>
            </a:r>
            <a:br>
              <a:rPr kumimoji="0" lang="zh-CN" altLang="en-US" sz="8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br>
            <a:r>
              <a:rPr kumimoji="0" lang="zh-CN" altLang="en-US" sz="8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rPr>
              <a:t>存储系统和结构</a:t>
            </a:r>
            <a:endParaRPr kumimoji="0" lang="zh-CN" altLang="en-US" sz="8000" b="1"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标题 1"/>
          <p:cNvSpPr>
            <a:spLocks noGrp="1"/>
          </p:cNvSpPr>
          <p:nvPr>
            <p:ph type="title"/>
          </p:nvPr>
        </p:nvSpPr>
        <p:spPr>
          <a:noFill/>
          <a:ln>
            <a:noFill/>
          </a:ln>
        </p:spPr>
        <p:txBody>
          <a:bodyPr anchor="t" anchorCtr="0"/>
          <a:p>
            <a:pPr eaLnBrk="1" hangingPunct="1"/>
            <a:r>
              <a:rPr lang="zh-CN" altLang="en-US" dirty="0"/>
              <a:t>概述</a:t>
            </a:r>
            <a:endParaRPr lang="zh-CN" altLang="en-US" dirty="0"/>
          </a:p>
        </p:txBody>
      </p:sp>
      <p:sp>
        <p:nvSpPr>
          <p:cNvPr id="15362" name="内容占位符 2"/>
          <p:cNvSpPr>
            <a:spLocks noGrp="1"/>
          </p:cNvSpPr>
          <p:nvPr>
            <p:ph idx="1"/>
          </p:nvPr>
        </p:nvSpPr>
        <p:spPr>
          <a:noFill/>
          <a:ln>
            <a:noFill/>
          </a:ln>
        </p:spPr>
        <p:txBody>
          <a:bodyPr anchor="t" anchorCtr="0"/>
          <a:p>
            <a:pPr eaLnBrk="1" hangingPunct="1"/>
            <a:r>
              <a:rPr lang="zh-CN" altLang="en-US" dirty="0"/>
              <a:t>存储系统：</a:t>
            </a:r>
            <a:endParaRPr lang="zh-CN" altLang="en-US" dirty="0"/>
          </a:p>
          <a:p>
            <a:pPr lvl="1" eaLnBrk="1" latinLnBrk="0" hangingPunct="1">
              <a:lnSpc>
                <a:spcPct val="100000"/>
              </a:lnSpc>
              <a:spcBef>
                <a:spcPts val="1200"/>
              </a:spcBef>
            </a:pPr>
            <a:r>
              <a:rPr lang="zh-CN" altLang="en-US" sz="2400" dirty="0"/>
              <a:t>容量、速度和价格各不相同的</a:t>
            </a:r>
            <a:r>
              <a:rPr lang="zh-CN" altLang="en-US" sz="2400" b="1" dirty="0">
                <a:solidFill>
                  <a:srgbClr val="FF0000"/>
                </a:solidFill>
              </a:rPr>
              <a:t>存储器</a:t>
            </a:r>
            <a:r>
              <a:rPr lang="zh-CN" altLang="en-US" sz="2400" dirty="0"/>
              <a:t>构成的</a:t>
            </a:r>
            <a:r>
              <a:rPr lang="zh-CN" altLang="en-US" sz="2400" b="1" dirty="0">
                <a:solidFill>
                  <a:srgbClr val="FF0000"/>
                </a:solidFill>
              </a:rPr>
              <a:t>系统</a:t>
            </a:r>
            <a:r>
              <a:rPr lang="zh-CN" altLang="en-US" sz="2400" dirty="0"/>
              <a:t>；</a:t>
            </a:r>
            <a:endParaRPr lang="zh-CN" altLang="en-US" sz="2400" dirty="0"/>
          </a:p>
          <a:p>
            <a:pPr lvl="1" eaLnBrk="1" latinLnBrk="0" hangingPunct="1">
              <a:lnSpc>
                <a:spcPct val="100000"/>
              </a:lnSpc>
              <a:spcBef>
                <a:spcPts val="1200"/>
              </a:spcBef>
            </a:pPr>
            <a:r>
              <a:rPr lang="zh-CN" altLang="en-US" sz="2400" dirty="0">
                <a:solidFill>
                  <a:srgbClr val="FF0000"/>
                </a:solidFill>
              </a:rPr>
              <a:t>容量大、速度快、成本低</a:t>
            </a:r>
            <a:r>
              <a:rPr lang="zh-CN" altLang="en-US" sz="2400" dirty="0"/>
              <a:t>的存储系统。</a:t>
            </a:r>
            <a:endParaRPr lang="en-US" altLang="zh-CN" sz="2400" dirty="0"/>
          </a:p>
          <a:p>
            <a:pPr eaLnBrk="1" latinLnBrk="0" hangingPunct="1">
              <a:spcBef>
                <a:spcPts val="1800"/>
              </a:spcBef>
            </a:pPr>
            <a:r>
              <a:rPr lang="zh-CN" altLang="en-US" dirty="0"/>
              <a:t>本章重点讨论：</a:t>
            </a:r>
            <a:endParaRPr lang="en-US" altLang="zh-CN" dirty="0"/>
          </a:p>
          <a:p>
            <a:pPr lvl="1" eaLnBrk="1" hangingPunct="1">
              <a:spcBef>
                <a:spcPts val="1200"/>
              </a:spcBef>
            </a:pPr>
            <a:r>
              <a:rPr lang="zh-CN" altLang="en-US" sz="2400" dirty="0">
                <a:solidFill>
                  <a:srgbClr val="FF0000"/>
                </a:solidFill>
              </a:rPr>
              <a:t>主存储器</a:t>
            </a:r>
            <a:r>
              <a:rPr lang="zh-CN" altLang="en-US" sz="2400" dirty="0"/>
              <a:t>的工作原理、组成方式；</a:t>
            </a:r>
            <a:endParaRPr lang="en-US" altLang="zh-CN" sz="2400" dirty="0"/>
          </a:p>
          <a:p>
            <a:pPr lvl="1" eaLnBrk="1" hangingPunct="1">
              <a:spcBef>
                <a:spcPts val="1200"/>
              </a:spcBef>
            </a:pPr>
            <a:r>
              <a:rPr lang="zh-CN" altLang="en-US" sz="2400" dirty="0"/>
              <a:t>半导体</a:t>
            </a:r>
            <a:r>
              <a:rPr lang="zh-CN" altLang="en-US" sz="2400" dirty="0">
                <a:solidFill>
                  <a:srgbClr val="FF0000"/>
                </a:solidFill>
              </a:rPr>
              <a:t>存储芯片组成主存储器</a:t>
            </a:r>
            <a:r>
              <a:rPr lang="zh-CN" altLang="en-US" sz="2400" dirty="0"/>
              <a:t>的一般原则和方法；</a:t>
            </a:r>
            <a:endParaRPr lang="en-US" altLang="zh-CN" sz="2400" dirty="0"/>
          </a:p>
          <a:p>
            <a:pPr lvl="1" eaLnBrk="1" hangingPunct="1">
              <a:spcBef>
                <a:spcPts val="1200"/>
              </a:spcBef>
            </a:pPr>
            <a:r>
              <a:rPr lang="zh-CN" altLang="en-US" sz="2400" dirty="0"/>
              <a:t>讨论</a:t>
            </a:r>
            <a:r>
              <a:rPr lang="zh-CN" altLang="en-US" sz="2400" dirty="0">
                <a:solidFill>
                  <a:srgbClr val="FF0000"/>
                </a:solidFill>
              </a:rPr>
              <a:t>高速缓冲存储器</a:t>
            </a:r>
            <a:r>
              <a:rPr lang="zh-CN" altLang="en-US" sz="2400" dirty="0"/>
              <a:t>和</a:t>
            </a:r>
            <a:r>
              <a:rPr lang="zh-CN" altLang="en-US" sz="2400" dirty="0">
                <a:solidFill>
                  <a:srgbClr val="FF0000"/>
                </a:solidFill>
              </a:rPr>
              <a:t>虚拟存储器</a:t>
            </a:r>
            <a:r>
              <a:rPr lang="zh-CN" altLang="en-US" sz="2400" dirty="0"/>
              <a:t>的基本原理。</a:t>
            </a:r>
            <a:r>
              <a:rPr lang="zh-CN" altLang="en-US" dirty="0"/>
              <a:t>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title"/>
          </p:nvPr>
        </p:nvSpPr>
        <p:spPr>
          <a:noFill/>
          <a:ln>
            <a:noFill/>
          </a:ln>
        </p:spPr>
        <p:txBody>
          <a:bodyPr anchor="t" anchorCtr="0"/>
          <a:p>
            <a:pPr eaLnBrk="1" hangingPunct="1"/>
            <a:r>
              <a:rPr lang="zh-CN" altLang="en-US" dirty="0"/>
              <a:t>本章学习内容</a:t>
            </a:r>
            <a:endParaRPr lang="zh-CN" altLang="en-US" dirty="0"/>
          </a:p>
        </p:txBody>
      </p:sp>
      <p:sp>
        <p:nvSpPr>
          <p:cNvPr id="16386" name="内容占位符 2"/>
          <p:cNvSpPr>
            <a:spLocks noGrp="1"/>
          </p:cNvSpPr>
          <p:nvPr>
            <p:ph idx="1"/>
          </p:nvPr>
        </p:nvSpPr>
        <p:spPr>
          <a:noFill/>
          <a:ln>
            <a:noFill/>
          </a:ln>
        </p:spPr>
        <p:txBody>
          <a:bodyPr anchor="t" anchorCtr="0"/>
          <a:p>
            <a:pPr eaLnBrk="1" latinLnBrk="0" hangingPunct="1">
              <a:spcBef>
                <a:spcPts val="1200"/>
              </a:spcBef>
            </a:pPr>
            <a:r>
              <a:rPr lang="en-US" altLang="zh-CN" dirty="0">
                <a:solidFill>
                  <a:srgbClr val="FF0000"/>
                </a:solidFill>
                <a:latin typeface="Times New Roman" panose="02020603050405020304" pitchFamily="18" charset="0"/>
              </a:rPr>
              <a:t>5.1 </a:t>
            </a:r>
            <a:r>
              <a:rPr lang="zh-CN" altLang="en-US" dirty="0">
                <a:solidFill>
                  <a:srgbClr val="FF0000"/>
                </a:solidFill>
                <a:latin typeface="Times New Roman" panose="02020603050405020304" pitchFamily="18" charset="0"/>
              </a:rPr>
              <a:t>存储系统的组成</a:t>
            </a:r>
            <a:endParaRPr lang="zh-CN" altLang="en-US" dirty="0">
              <a:solidFill>
                <a:srgbClr val="FF0000"/>
              </a:solidFill>
              <a:latin typeface="Times New Roman" panose="02020603050405020304" pitchFamily="18" charset="0"/>
            </a:endParaRPr>
          </a:p>
          <a:p>
            <a:pPr eaLnBrk="1" latinLnBrk="0" hangingPunct="1">
              <a:spcBef>
                <a:spcPts val="1200"/>
              </a:spcBef>
            </a:pPr>
            <a:r>
              <a:rPr lang="en-US" altLang="zh-CN" dirty="0">
                <a:latin typeface="Times New Roman" panose="02020603050405020304" pitchFamily="18" charset="0"/>
              </a:rPr>
              <a:t>5.2 </a:t>
            </a:r>
            <a:r>
              <a:rPr lang="zh-CN" altLang="en-US" dirty="0">
                <a:latin typeface="Times New Roman" panose="02020603050405020304" pitchFamily="18" charset="0"/>
              </a:rPr>
              <a:t>主存储器的组织</a:t>
            </a:r>
            <a:endParaRPr lang="zh-CN" altLang="en-US" dirty="0">
              <a:latin typeface="Times New Roman" panose="02020603050405020304" pitchFamily="18" charset="0"/>
            </a:endParaRPr>
          </a:p>
          <a:p>
            <a:pPr eaLnBrk="1" latinLnBrk="0" hangingPunct="1">
              <a:spcBef>
                <a:spcPts val="1200"/>
              </a:spcBef>
            </a:pPr>
            <a:r>
              <a:rPr lang="en-US" altLang="zh-CN" dirty="0">
                <a:latin typeface="Times New Roman" panose="02020603050405020304" pitchFamily="18" charset="0"/>
              </a:rPr>
              <a:t>5.3 </a:t>
            </a:r>
            <a:r>
              <a:rPr lang="zh-CN" altLang="en-US" dirty="0">
                <a:latin typeface="Times New Roman" panose="02020603050405020304" pitchFamily="18" charset="0"/>
              </a:rPr>
              <a:t>半导体随机存储器和只读存储器</a:t>
            </a:r>
            <a:endParaRPr lang="zh-CN" altLang="en-US" dirty="0">
              <a:latin typeface="Times New Roman" panose="02020603050405020304" pitchFamily="18" charset="0"/>
            </a:endParaRPr>
          </a:p>
          <a:p>
            <a:pPr eaLnBrk="1" latinLnBrk="0" hangingPunct="1">
              <a:spcBef>
                <a:spcPts val="1200"/>
              </a:spcBef>
            </a:pPr>
            <a:r>
              <a:rPr lang="zh-CN" altLang="en-US" dirty="0">
                <a:latin typeface="Times New Roman" panose="02020603050405020304" pitchFamily="18" charset="0"/>
              </a:rPr>
              <a:t>5.4 </a:t>
            </a:r>
            <a:r>
              <a:rPr lang="zh-CN" altLang="en-US" dirty="0">
                <a:solidFill>
                  <a:srgbClr val="FF0000"/>
                </a:solidFill>
                <a:latin typeface="Times New Roman" panose="02020603050405020304" pitchFamily="18" charset="0"/>
              </a:rPr>
              <a:t>主存储器的连接与控制</a:t>
            </a:r>
            <a:endParaRPr lang="zh-CN" altLang="en-US" dirty="0">
              <a:solidFill>
                <a:srgbClr val="FF0000"/>
              </a:solidFill>
              <a:latin typeface="Times New Roman" panose="02020603050405020304" pitchFamily="18" charset="0"/>
            </a:endParaRPr>
          </a:p>
          <a:p>
            <a:pPr eaLnBrk="1" latinLnBrk="0" hangingPunct="1">
              <a:spcBef>
                <a:spcPts val="1200"/>
              </a:spcBef>
            </a:pPr>
            <a:r>
              <a:rPr lang="zh-CN" altLang="en-US" dirty="0">
                <a:latin typeface="Times New Roman" panose="02020603050405020304" pitchFamily="18" charset="0"/>
              </a:rPr>
              <a:t>5.5 提高主存读写速度的技术</a:t>
            </a:r>
            <a:endParaRPr lang="zh-CN" altLang="en-US" dirty="0">
              <a:latin typeface="Times New Roman" panose="02020603050405020304" pitchFamily="18" charset="0"/>
            </a:endParaRPr>
          </a:p>
          <a:p>
            <a:pPr eaLnBrk="1" latinLnBrk="0" hangingPunct="1">
              <a:spcBef>
                <a:spcPts val="1200"/>
              </a:spcBef>
            </a:pPr>
            <a:r>
              <a:rPr lang="zh-CN" altLang="en-US" dirty="0">
                <a:latin typeface="Times New Roman" panose="02020603050405020304" pitchFamily="18" charset="0"/>
              </a:rPr>
              <a:t>5.6 多体交叉存储技术</a:t>
            </a:r>
            <a:endParaRPr lang="zh-CN" altLang="en-US" dirty="0">
              <a:latin typeface="Times New Roman" panose="02020603050405020304" pitchFamily="18" charset="0"/>
            </a:endParaRPr>
          </a:p>
          <a:p>
            <a:pPr eaLnBrk="1" latinLnBrk="0" hangingPunct="1">
              <a:spcBef>
                <a:spcPts val="1200"/>
              </a:spcBef>
            </a:pPr>
            <a:r>
              <a:rPr lang="zh-CN" altLang="en-US" dirty="0">
                <a:latin typeface="Times New Roman" panose="02020603050405020304" pitchFamily="18" charset="0"/>
              </a:rPr>
              <a:t>5.7 </a:t>
            </a:r>
            <a:r>
              <a:rPr lang="zh-CN" altLang="en-US" dirty="0">
                <a:solidFill>
                  <a:srgbClr val="FF0000"/>
                </a:solidFill>
                <a:latin typeface="Times New Roman" panose="02020603050405020304" pitchFamily="18" charset="0"/>
              </a:rPr>
              <a:t>高速缓冲存储器</a:t>
            </a:r>
            <a:endParaRPr lang="zh-CN" altLang="en-US" dirty="0">
              <a:solidFill>
                <a:srgbClr val="FF0000"/>
              </a:solidFill>
              <a:latin typeface="Times New Roman" panose="02020603050405020304" pitchFamily="18" charset="0"/>
            </a:endParaRPr>
          </a:p>
          <a:p>
            <a:pPr eaLnBrk="1" latinLnBrk="0" hangingPunct="1">
              <a:spcBef>
                <a:spcPts val="1200"/>
              </a:spcBef>
            </a:pPr>
            <a:r>
              <a:rPr lang="en-US" altLang="zh-CN" dirty="0">
                <a:latin typeface="Times New Roman" panose="02020603050405020304" pitchFamily="18" charset="0"/>
              </a:rPr>
              <a:t>5.8 </a:t>
            </a:r>
            <a:r>
              <a:rPr lang="zh-CN" altLang="en-US" dirty="0">
                <a:solidFill>
                  <a:srgbClr val="FF0000"/>
                </a:solidFill>
                <a:latin typeface="Times New Roman" panose="02020603050405020304" pitchFamily="18" charset="0"/>
              </a:rPr>
              <a:t>虚拟存储器</a:t>
            </a:r>
            <a:endParaRPr lang="zh-CN" altLang="en-US" dirty="0">
              <a:solidFill>
                <a:srgbClr val="FF0000"/>
              </a:solidFill>
              <a:latin typeface="Times New Roman" panose="02020603050405020304" pitchFamily="18" charset="0"/>
            </a:endParaRPr>
          </a:p>
          <a:p>
            <a:pPr eaLnBrk="1" hangingPunct="1"/>
            <a:endParaRPr lang="zh-CN" altLang="en-US"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5.1 </a:t>
            </a:r>
            <a:r>
              <a:rPr lang="zh-CN" altLang="en-US" dirty="0">
                <a:latin typeface="Times New Roman" panose="02020603050405020304" pitchFamily="18" charset="0"/>
              </a:rPr>
              <a:t>存储系统的组成</a:t>
            </a:r>
            <a:endParaRPr lang="zh-CN" altLang="en-US" dirty="0">
              <a:latin typeface="Times New Roman" panose="02020603050405020304" pitchFamily="18" charset="0"/>
            </a:endParaRPr>
          </a:p>
        </p:txBody>
      </p:sp>
      <p:sp>
        <p:nvSpPr>
          <p:cNvPr id="18434" name="内容占位符 2"/>
          <p:cNvSpPr>
            <a:spLocks noGrp="1"/>
          </p:cNvSpPr>
          <p:nvPr>
            <p:ph idx="1"/>
          </p:nvPr>
        </p:nvSpPr>
        <p:spPr>
          <a:noFill/>
          <a:ln>
            <a:noFill/>
          </a:ln>
        </p:spPr>
        <p:txBody>
          <a:bodyPr anchor="t" anchorCtr="0"/>
          <a:p>
            <a:pPr eaLnBrk="1" hangingPunct="1"/>
            <a:r>
              <a:rPr lang="zh-CN" altLang="en-US" dirty="0">
                <a:solidFill>
                  <a:srgbClr val="FF0000"/>
                </a:solidFill>
                <a:latin typeface="Times New Roman" panose="02020603050405020304" pitchFamily="18" charset="0"/>
              </a:rPr>
              <a:t>存储系统</a:t>
            </a:r>
            <a:r>
              <a:rPr lang="zh-CN" altLang="en-US" dirty="0">
                <a:latin typeface="Times New Roman" panose="02020603050405020304" pitchFamily="18" charset="0"/>
              </a:rPr>
              <a:t>和</a:t>
            </a:r>
            <a:r>
              <a:rPr lang="zh-CN" altLang="en-US" dirty="0">
                <a:solidFill>
                  <a:srgbClr val="FF0000"/>
                </a:solidFill>
                <a:latin typeface="Times New Roman" panose="02020603050405020304" pitchFamily="18" charset="0"/>
              </a:rPr>
              <a:t>存储器</a:t>
            </a:r>
            <a:r>
              <a:rPr lang="zh-CN" altLang="en-US" dirty="0">
                <a:latin typeface="Times New Roman" panose="02020603050405020304" pitchFamily="18" charset="0"/>
              </a:rPr>
              <a:t>是两个不同的概念：</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各种不同用途的存储器；</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如何构成一个存储系统。</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5.1.1 </a:t>
            </a:r>
            <a:r>
              <a:rPr lang="zh-CN" altLang="en-US" dirty="0">
                <a:latin typeface="Times New Roman" panose="02020603050405020304" pitchFamily="18" charset="0"/>
              </a:rPr>
              <a:t>存储器分类 </a:t>
            </a:r>
            <a:endParaRPr lang="zh-CN" altLang="en-US" dirty="0">
              <a:latin typeface="Times New Roman" panose="02020603050405020304" pitchFamily="18" charset="0"/>
              <a:ea typeface="Times New Roman" panose="02020603050405020304" pitchFamily="18" charset="0"/>
            </a:endParaRPr>
          </a:p>
        </p:txBody>
      </p:sp>
      <p:sp>
        <p:nvSpPr>
          <p:cNvPr id="19458" name="内容占位符 2"/>
          <p:cNvSpPr>
            <a:spLocks noGrp="1"/>
          </p:cNvSpPr>
          <p:nvPr>
            <p:ph idx="1"/>
          </p:nvPr>
        </p:nvSpPr>
        <p:spPr>
          <a:xfrm>
            <a:off x="457200" y="1268413"/>
            <a:ext cx="8229600" cy="5186362"/>
          </a:xfrm>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按存储器在计算机系统中的作用分类</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⑴</a:t>
            </a:r>
            <a:r>
              <a:rPr lang="zh-CN" altLang="en-US" dirty="0">
                <a:solidFill>
                  <a:srgbClr val="FF0000"/>
                </a:solidFill>
                <a:latin typeface="Times New Roman" panose="02020603050405020304" pitchFamily="18" charset="0"/>
              </a:rPr>
              <a:t>高速缓冲</a:t>
            </a:r>
            <a:r>
              <a:rPr lang="zh-CN" altLang="en-US" dirty="0">
                <a:latin typeface="Times New Roman" panose="02020603050405020304" pitchFamily="18" charset="0"/>
              </a:rPr>
              <a:t>存储器</a:t>
            </a:r>
            <a:endParaRPr lang="zh-CN" altLang="en-US" dirty="0">
              <a:latin typeface="Times New Roman" panose="02020603050405020304" pitchFamily="18" charset="0"/>
            </a:endParaRPr>
          </a:p>
          <a:p>
            <a:pPr lvl="2" eaLnBrk="1" hangingPunct="1">
              <a:spcBef>
                <a:spcPts val="600"/>
              </a:spcBef>
            </a:pPr>
            <a:r>
              <a:rPr lang="zh-CN" altLang="en-US" sz="2055" dirty="0">
                <a:latin typeface="Times New Roman" panose="02020603050405020304" pitchFamily="18" charset="0"/>
              </a:rPr>
              <a:t>存放正在执行的程序和数据；</a:t>
            </a:r>
            <a:endParaRPr lang="zh-CN" altLang="en-US" sz="2055" dirty="0">
              <a:latin typeface="Times New Roman" panose="02020603050405020304" pitchFamily="18" charset="0"/>
            </a:endParaRPr>
          </a:p>
          <a:p>
            <a:pPr lvl="2" eaLnBrk="1" hangingPunct="1">
              <a:spcBef>
                <a:spcPts val="600"/>
              </a:spcBef>
            </a:pPr>
            <a:r>
              <a:rPr lang="zh-CN" altLang="en-US" sz="2055" dirty="0">
                <a:latin typeface="Times New Roman" panose="02020603050405020304" pitchFamily="18" charset="0"/>
              </a:rPr>
              <a:t>存取速度与</a:t>
            </a:r>
            <a:r>
              <a:rPr lang="en-US" altLang="zh-CN" sz="2055" dirty="0">
                <a:latin typeface="Times New Roman" panose="02020603050405020304" pitchFamily="18" charset="0"/>
              </a:rPr>
              <a:t>CPU</a:t>
            </a:r>
            <a:r>
              <a:rPr lang="zh-CN" altLang="en-US" sz="2055" dirty="0">
                <a:latin typeface="Times New Roman" panose="02020603050405020304" pitchFamily="18" charset="0"/>
              </a:rPr>
              <a:t>匹配，容量较小，价格较高。</a:t>
            </a:r>
            <a:endParaRPr lang="zh-CN" altLang="en-US" sz="2055"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⑵</a:t>
            </a:r>
            <a:r>
              <a:rPr lang="zh-CN" altLang="en-US" dirty="0">
                <a:solidFill>
                  <a:srgbClr val="FF0000"/>
                </a:solidFill>
                <a:latin typeface="Times New Roman" panose="02020603050405020304" pitchFamily="18" charset="0"/>
              </a:rPr>
              <a:t>主存储器</a:t>
            </a:r>
            <a:endParaRPr lang="zh-CN" altLang="en-US" dirty="0">
              <a:solidFill>
                <a:srgbClr val="FF0000"/>
              </a:solidFill>
              <a:latin typeface="Times New Roman" panose="02020603050405020304" pitchFamily="18" charset="0"/>
            </a:endParaRPr>
          </a:p>
          <a:p>
            <a:pPr lvl="2" eaLnBrk="1" hangingPunct="1">
              <a:spcBef>
                <a:spcPts val="600"/>
              </a:spcBef>
            </a:pPr>
            <a:r>
              <a:rPr lang="zh-CN" altLang="en-US" sz="2055" dirty="0">
                <a:latin typeface="Times New Roman" panose="02020603050405020304" pitchFamily="18" charset="0"/>
              </a:rPr>
              <a:t>存放计算机运行期间所需要的程序和数据；</a:t>
            </a:r>
            <a:endParaRPr lang="zh-CN" altLang="en-US" sz="2055" dirty="0">
              <a:latin typeface="Times New Roman" panose="02020603050405020304" pitchFamily="18" charset="0"/>
            </a:endParaRPr>
          </a:p>
          <a:p>
            <a:pPr lvl="2" eaLnBrk="1" hangingPunct="1">
              <a:spcBef>
                <a:spcPts val="600"/>
              </a:spcBef>
            </a:pPr>
            <a:r>
              <a:rPr lang="en-US" altLang="zh-CN" sz="2055" dirty="0">
                <a:latin typeface="Times New Roman" panose="02020603050405020304" pitchFamily="18" charset="0"/>
              </a:rPr>
              <a:t>CPU</a:t>
            </a:r>
            <a:r>
              <a:rPr lang="zh-CN" altLang="en-US" sz="2055" dirty="0">
                <a:latin typeface="Times New Roman" panose="02020603050405020304" pitchFamily="18" charset="0"/>
              </a:rPr>
              <a:t>可直接随机地进行读</a:t>
            </a:r>
            <a:r>
              <a:rPr lang="en-US" altLang="zh-CN" sz="2055" dirty="0">
                <a:latin typeface="Times New Roman" panose="02020603050405020304" pitchFamily="18" charset="0"/>
              </a:rPr>
              <a:t>/</a:t>
            </a:r>
            <a:r>
              <a:rPr lang="zh-CN" altLang="en-US" sz="2055" dirty="0">
                <a:latin typeface="Times New Roman" panose="02020603050405020304" pitchFamily="18" charset="0"/>
              </a:rPr>
              <a:t>写访问。</a:t>
            </a:r>
            <a:endParaRPr lang="en-US" altLang="zh-CN"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⑶</a:t>
            </a:r>
            <a:r>
              <a:rPr lang="zh-CN" altLang="en-US" dirty="0">
                <a:solidFill>
                  <a:srgbClr val="FF0000"/>
                </a:solidFill>
                <a:latin typeface="Times New Roman" panose="02020603050405020304" pitchFamily="18" charset="0"/>
              </a:rPr>
              <a:t>辅助存储器</a:t>
            </a:r>
            <a:endParaRPr lang="zh-CN" altLang="en-US" dirty="0">
              <a:solidFill>
                <a:srgbClr val="FF0000"/>
              </a:solidFill>
              <a:latin typeface="Times New Roman" panose="02020603050405020304" pitchFamily="18" charset="0"/>
            </a:endParaRPr>
          </a:p>
          <a:p>
            <a:pPr lvl="2" eaLnBrk="1" hangingPunct="1">
              <a:spcBef>
                <a:spcPts val="600"/>
              </a:spcBef>
            </a:pPr>
            <a:r>
              <a:rPr lang="zh-CN" altLang="en-US" sz="2055" dirty="0">
                <a:latin typeface="Times New Roman" panose="02020603050405020304" pitchFamily="18" charset="0"/>
              </a:rPr>
              <a:t>存放暂不参与运行的程序和数据、需永久保存的信息；</a:t>
            </a:r>
            <a:endParaRPr lang="zh-CN" altLang="en-US" sz="2055" dirty="0">
              <a:latin typeface="Times New Roman" panose="02020603050405020304" pitchFamily="18" charset="0"/>
            </a:endParaRPr>
          </a:p>
          <a:p>
            <a:pPr lvl="2" eaLnBrk="1" hangingPunct="1">
              <a:spcBef>
                <a:spcPts val="600"/>
              </a:spcBef>
            </a:pPr>
            <a:r>
              <a:rPr lang="en-US" altLang="zh-CN" sz="2055" dirty="0">
                <a:latin typeface="Times New Roman" panose="02020603050405020304" pitchFamily="18" charset="0"/>
              </a:rPr>
              <a:t>CPU</a:t>
            </a:r>
            <a:r>
              <a:rPr lang="zh-CN" altLang="en-US" sz="2055" dirty="0">
                <a:latin typeface="Times New Roman" panose="02020603050405020304" pitchFamily="18" charset="0"/>
              </a:rPr>
              <a:t>不能直接访问。</a:t>
            </a:r>
            <a:endParaRPr lang="zh-CN" altLang="en-US" sz="2055" dirty="0">
              <a:latin typeface="Times New Roman" panose="02020603050405020304" pitchFamily="18" charset="0"/>
            </a:endParaRPr>
          </a:p>
          <a:p>
            <a:pPr eaLnBrk="1" hangingPunct="1">
              <a:spcBef>
                <a:spcPts val="1200"/>
              </a:spcBef>
            </a:pP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内容占位符 2"/>
          <p:cNvSpPr>
            <a:spLocks noGrp="1"/>
          </p:cNvSpPr>
          <p:nvPr>
            <p:ph idx="1"/>
          </p:nvPr>
        </p:nvSpPr>
        <p:spPr>
          <a:xfrm>
            <a:off x="457200" y="1417638"/>
            <a:ext cx="8229600" cy="4891087"/>
          </a:xfrm>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按存取方式分类</a:t>
            </a:r>
            <a:endParaRPr lang="en-US" altLang="zh-CN"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rPr>
              <a:t> ⑴随机存取存储器</a:t>
            </a:r>
            <a:r>
              <a:rPr lang="en-US" altLang="zh-CN" dirty="0">
                <a:latin typeface="Times New Roman" panose="02020603050405020304" pitchFamily="18" charset="0"/>
              </a:rPr>
              <a:t>RAM</a:t>
            </a:r>
            <a:endParaRPr lang="en-US" altLang="zh-CN" dirty="0">
              <a:latin typeface="Times New Roman" panose="02020603050405020304" pitchFamily="18" charset="0"/>
            </a:endParaRPr>
          </a:p>
          <a:p>
            <a:pPr lvl="2" eaLnBrk="1" latinLnBrk="0" hangingPunct="1">
              <a:spcBef>
                <a:spcPts val="1200"/>
              </a:spcBef>
            </a:pPr>
            <a:r>
              <a:rPr lang="en-US" altLang="zh-CN" sz="2055" dirty="0">
                <a:latin typeface="Times New Roman" panose="02020603050405020304" pitchFamily="18" charset="0"/>
              </a:rPr>
              <a:t>CPU</a:t>
            </a:r>
            <a:r>
              <a:rPr lang="zh-CN" altLang="en-US" sz="2055" dirty="0">
                <a:latin typeface="Times New Roman" panose="02020603050405020304" pitchFamily="18" charset="0"/>
              </a:rPr>
              <a:t>对存储器任何一个存储单元的读写时间相同；</a:t>
            </a:r>
            <a:endParaRPr lang="zh-CN" altLang="en-US" sz="2055" dirty="0">
              <a:latin typeface="Times New Roman" panose="02020603050405020304" pitchFamily="18" charset="0"/>
            </a:endParaRPr>
          </a:p>
          <a:p>
            <a:pPr lvl="2" eaLnBrk="1" latinLnBrk="0" hangingPunct="1">
              <a:spcBef>
                <a:spcPts val="1200"/>
              </a:spcBef>
            </a:pPr>
            <a:r>
              <a:rPr lang="zh-CN" altLang="en-US" sz="2055" dirty="0">
                <a:solidFill>
                  <a:srgbClr val="FF0000"/>
                </a:solidFill>
                <a:latin typeface="Times New Roman" panose="02020603050405020304" pitchFamily="18" charset="0"/>
              </a:rPr>
              <a:t>与其所处的物理位置无关</a:t>
            </a:r>
            <a:r>
              <a:rPr lang="zh-CN" altLang="en-US" sz="2055" dirty="0">
                <a:latin typeface="Times New Roman" panose="02020603050405020304" pitchFamily="18" charset="0"/>
              </a:rPr>
              <a:t>。</a:t>
            </a:r>
            <a:endParaRPr lang="zh-CN" altLang="en-US" sz="2055"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rPr>
              <a:t>⑵只读存储器</a:t>
            </a:r>
            <a:r>
              <a:rPr lang="en-US" altLang="zh-CN" dirty="0">
                <a:latin typeface="Times New Roman" panose="02020603050405020304" pitchFamily="18" charset="0"/>
              </a:rPr>
              <a:t>ROM</a:t>
            </a:r>
            <a:endParaRPr lang="en-US" altLang="zh-CN" dirty="0">
              <a:latin typeface="Times New Roman" panose="02020603050405020304" pitchFamily="18" charset="0"/>
            </a:endParaRPr>
          </a:p>
          <a:p>
            <a:pPr lvl="2" eaLnBrk="1" latinLnBrk="0" hangingPunct="1">
              <a:spcBef>
                <a:spcPts val="1200"/>
              </a:spcBef>
            </a:pPr>
            <a:r>
              <a:rPr lang="en-US" altLang="zh-CN" sz="2055" dirty="0">
                <a:latin typeface="Times New Roman" panose="02020603050405020304" pitchFamily="18" charset="0"/>
              </a:rPr>
              <a:t>ROM</a:t>
            </a:r>
            <a:r>
              <a:rPr lang="zh-CN" altLang="en-US" sz="2055" dirty="0">
                <a:latin typeface="Times New Roman" panose="02020603050405020304" pitchFamily="18" charset="0"/>
              </a:rPr>
              <a:t>可以看作</a:t>
            </a:r>
            <a:r>
              <a:rPr lang="en-US" altLang="zh-CN" sz="2055" dirty="0">
                <a:latin typeface="Times New Roman" panose="02020603050405020304" pitchFamily="18" charset="0"/>
              </a:rPr>
              <a:t>RAM</a:t>
            </a:r>
            <a:r>
              <a:rPr lang="zh-CN" altLang="en-US" sz="2055" dirty="0">
                <a:latin typeface="Times New Roman" panose="02020603050405020304" pitchFamily="18" charset="0"/>
              </a:rPr>
              <a:t>的一种特殊形式；</a:t>
            </a:r>
            <a:endParaRPr lang="en-US" altLang="zh-CN" sz="2055" dirty="0">
              <a:latin typeface="Times New Roman" panose="02020603050405020304" pitchFamily="18" charset="0"/>
            </a:endParaRPr>
          </a:p>
          <a:p>
            <a:pPr lvl="2" eaLnBrk="1" latinLnBrk="0" hangingPunct="1">
              <a:spcBef>
                <a:spcPts val="1200"/>
              </a:spcBef>
            </a:pPr>
            <a:r>
              <a:rPr lang="en-US" altLang="zh-CN" sz="2055" dirty="0">
                <a:latin typeface="Times New Roman" panose="02020603050405020304" pitchFamily="18" charset="0"/>
              </a:rPr>
              <a:t>ROM</a:t>
            </a:r>
            <a:r>
              <a:rPr lang="zh-CN" altLang="en-US" sz="2055" dirty="0">
                <a:latin typeface="Times New Roman" panose="02020603050405020304" pitchFamily="18" charset="0"/>
              </a:rPr>
              <a:t>的内容</a:t>
            </a:r>
            <a:r>
              <a:rPr lang="zh-CN" altLang="en-US" sz="2055" dirty="0">
                <a:solidFill>
                  <a:srgbClr val="FF0000"/>
                </a:solidFill>
                <a:latin typeface="Times New Roman" panose="02020603050405020304" pitchFamily="18" charset="0"/>
              </a:rPr>
              <a:t>只能随机读出而不能写入</a:t>
            </a:r>
            <a:r>
              <a:rPr lang="zh-CN" altLang="en-US" sz="2055" dirty="0">
                <a:latin typeface="Times New Roman" panose="02020603050405020304" pitchFamily="18" charset="0"/>
              </a:rPr>
              <a:t>；</a:t>
            </a:r>
            <a:endParaRPr lang="en-US" altLang="zh-CN" sz="2055" dirty="0">
              <a:latin typeface="Times New Roman" panose="02020603050405020304" pitchFamily="18" charset="0"/>
            </a:endParaRPr>
          </a:p>
          <a:p>
            <a:pPr lvl="2" eaLnBrk="1" latinLnBrk="0" hangingPunct="1">
              <a:spcBef>
                <a:spcPts val="1200"/>
              </a:spcBef>
            </a:pPr>
            <a:r>
              <a:rPr lang="zh-CN" altLang="en-US" sz="2055" dirty="0">
                <a:latin typeface="Times New Roman" panose="02020603050405020304" pitchFamily="18" charset="0"/>
              </a:rPr>
              <a:t>常用来存放那些不需要改变的信息。</a:t>
            </a:r>
            <a:endParaRPr lang="zh-CN" altLang="en-US" sz="2055"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sp>
        <p:nvSpPr>
          <p:cNvPr id="20482"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5.1.1 </a:t>
            </a:r>
            <a:r>
              <a:rPr lang="zh-CN" altLang="en-US" dirty="0">
                <a:latin typeface="Times New Roman" panose="02020603050405020304" pitchFamily="18" charset="0"/>
              </a:rPr>
              <a:t>存储器分类 </a:t>
            </a:r>
            <a:endParaRPr lang="zh-CN" altLang="en-US" dirty="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sym typeface="+mn-ea"/>
              </a:rPr>
              <a:t>5.1.1 </a:t>
            </a:r>
            <a:r>
              <a:rPr lang="zh-CN" altLang="en-US" dirty="0">
                <a:latin typeface="Times New Roman" panose="02020603050405020304" pitchFamily="18" charset="0"/>
                <a:sym typeface="+mn-ea"/>
              </a:rPr>
              <a:t>存储器分类 </a:t>
            </a:r>
            <a:endParaRPr lang="zh-CN" altLang="en-US" dirty="0">
              <a:latin typeface="Times New Roman" panose="02020603050405020304" pitchFamily="18" charset="0"/>
            </a:endParaRPr>
          </a:p>
        </p:txBody>
      </p:sp>
      <p:sp>
        <p:nvSpPr>
          <p:cNvPr id="21507" name="内容占位符 2"/>
          <p:cNvSpPr>
            <a:spLocks noGrp="1"/>
          </p:cNvSpPr>
          <p:nvPr>
            <p:ph idx="1"/>
          </p:nvPr>
        </p:nvSpPr>
        <p:spPr>
          <a:xfrm>
            <a:off x="457200" y="1268413"/>
            <a:ext cx="8229600" cy="5113338"/>
          </a:xfrm>
          <a:noFill/>
          <a:ln>
            <a:noFill/>
          </a:ln>
        </p:spPr>
        <p:txBody>
          <a:bodyPr/>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⑶顺序存取存储器SAM </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只能按某种顺序存取</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存取时间长短与信息在存储体上的</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物理位置有关</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用平均存取时间作为衡量存取速度的指标。</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⑷直接存取存储器DAM（半随机）</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介于随机和顺序之间两者之间</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当要存取所需的信息时</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600200" marR="0" lvl="3"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第一步直接指向整个存储器中的某个小区域；</a:t>
            </a:r>
            <a:endPar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600200" marR="0" lvl="3"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第二步在小区域内顺序检索或等待</a:t>
            </a:r>
            <a:r>
              <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600200" marR="0" lvl="3"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找到目的地后再进行读</a:t>
            </a:r>
            <a:r>
              <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写操作。</a:t>
            </a:r>
            <a:endPar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4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sym typeface="+mn-ea"/>
              </a:rPr>
              <a:t>5.1.1 </a:t>
            </a:r>
            <a:r>
              <a:rPr lang="zh-CN" altLang="en-US" dirty="0">
                <a:latin typeface="Times New Roman" panose="02020603050405020304" pitchFamily="18" charset="0"/>
                <a:sym typeface="+mn-ea"/>
              </a:rPr>
              <a:t>存储器分类 </a:t>
            </a:r>
            <a:endParaRPr lang="zh-CN" altLang="en-US" dirty="0">
              <a:latin typeface="Times New Roman" panose="02020603050405020304" pitchFamily="18" charset="0"/>
            </a:endParaRPr>
          </a:p>
        </p:txBody>
      </p:sp>
      <p:sp>
        <p:nvSpPr>
          <p:cNvPr id="22531" name="内容占位符 2"/>
          <p:cNvSpPr>
            <a:spLocks noGrp="1"/>
          </p:cNvSpPr>
          <p:nvPr>
            <p:ph idx="1"/>
          </p:nvPr>
        </p:nvSpPr>
        <p:spPr>
          <a:xfrm>
            <a:off x="457200" y="1177925"/>
            <a:ext cx="8229600" cy="5256530"/>
          </a:xfrm>
          <a:noFill/>
          <a:ln>
            <a:noFill/>
          </a:ln>
        </p:spPr>
        <p:txBody>
          <a:bodyPr/>
          <a:p>
            <a:pPr marR="0" lvl="0" algn="l" rtl="0" eaLnBrk="1" fontAlgn="base" latinLnBrk="0" hangingPunct="1">
              <a:lnSpc>
                <a:spcPct val="100000"/>
              </a:lnSpc>
              <a:spcBef>
                <a:spcPts val="1800"/>
              </a:spcBef>
              <a:buSzTx/>
              <a:buFont typeface="Wingdings" panose="05000000000000000000" pitchFamily="2" charset="2"/>
              <a:buChar char="§"/>
            </a:pPr>
            <a:r>
              <a:rPr lang="en-US" altLang="zh-CN" dirty="0">
                <a:latin typeface="Times New Roman" panose="02020603050405020304" pitchFamily="18" charset="0"/>
                <a:sym typeface="+mn-ea"/>
              </a:rPr>
              <a:t>3.</a:t>
            </a:r>
            <a:r>
              <a:rPr lang="zh-CN" altLang="en-US" dirty="0">
                <a:latin typeface="Times New Roman" panose="02020603050405020304" pitchFamily="18" charset="0"/>
                <a:sym typeface="+mn-ea"/>
              </a:rPr>
              <a:t>按存储介质分类</a:t>
            </a:r>
            <a:endParaRPr lang="zh-CN" altLang="en-US" dirty="0">
              <a:latin typeface="Times New Roman" panose="02020603050405020304" pitchFamily="18" charset="0"/>
              <a:sym typeface="+mn-ea"/>
            </a:endParaRPr>
          </a:p>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⑴磁芯存储器</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采用具有矩形磁滞回线的磁性材料</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利用两种不同的剩磁状态表示“</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1”</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或“</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信息可以</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长期存储</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，不会因断电而丢失；</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破坏性读出</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，读出之后内容一律变为“</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 </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⑵半导体存储器</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MOS</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型和双极型存储器：</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600200" marR="0" lvl="3" indent="-228600" algn="l" defTabSz="914400" rtl="0" eaLnBrk="1" fontAlgn="base" latinLnBrk="0" hangingPunct="1">
              <a:lnSpc>
                <a:spcPct val="100000"/>
              </a:lnSpc>
              <a:spcBef>
                <a:spcPts val="600"/>
              </a:spcBef>
              <a:spcAft>
                <a:spcPct val="0"/>
              </a:spcAft>
              <a:buClr>
                <a:schemeClr val="tx1"/>
              </a:buClr>
              <a:buSzTx/>
              <a:buFontTx/>
              <a:buChar char="•"/>
            </a:pPr>
            <a:r>
              <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MOS:</a:t>
            </a:r>
            <a:r>
              <a:rPr kumimoji="0" lang="zh-CN" altLang="en-US" sz="171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集成度高、功耗低、价格便宜、存取速度较慢</a:t>
            </a: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600200" marR="0" lvl="3"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双极型相反。</a:t>
            </a:r>
            <a:endPar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半导体</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RAM</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存储的信息会因为</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断电而丢失</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4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sym typeface="+mn-ea"/>
              </a:rPr>
              <a:t>5.1.1 </a:t>
            </a:r>
            <a:r>
              <a:rPr lang="zh-CN" altLang="en-US" dirty="0">
                <a:latin typeface="Times New Roman" panose="02020603050405020304" pitchFamily="18" charset="0"/>
                <a:sym typeface="+mn-ea"/>
              </a:rPr>
              <a:t>存储器分类</a:t>
            </a:r>
            <a:endParaRPr lang="zh-CN" altLang="en-US" dirty="0">
              <a:latin typeface="Times New Roman" panose="02020603050405020304" pitchFamily="18" charset="0"/>
            </a:endParaRPr>
          </a:p>
        </p:txBody>
      </p:sp>
      <p:sp>
        <p:nvSpPr>
          <p:cNvPr id="23554" name="内容占位符 2"/>
          <p:cNvSpPr>
            <a:spLocks noGrp="1"/>
          </p:cNvSpPr>
          <p:nvPr>
            <p:ph idx="1"/>
          </p:nvPr>
        </p:nvSpPr>
        <p:spPr>
          <a:xfrm>
            <a:off x="457200" y="1417638"/>
            <a:ext cx="8229600" cy="4708525"/>
          </a:xfrm>
          <a:noFill/>
          <a:ln>
            <a:noFill/>
          </a:ln>
        </p:spPr>
        <p:txBody>
          <a:bodyPr anchor="t" anchorCtr="0"/>
          <a:p>
            <a:pPr lvl="1" algn="l" eaLnBrk="1" hangingPunct="1">
              <a:spcBef>
                <a:spcPts val="1800"/>
              </a:spcBef>
              <a:buSzTx/>
            </a:pPr>
            <a:r>
              <a:rPr lang="zh-CN" altLang="en-US" dirty="0">
                <a:latin typeface="Times New Roman" panose="02020603050405020304" pitchFamily="18" charset="0"/>
                <a:cs typeface="+mn-ea"/>
              </a:rPr>
              <a:t>⑶磁表面存储器</a:t>
            </a:r>
            <a:endParaRPr lang="zh-CN" altLang="en-US" dirty="0">
              <a:latin typeface="Times New Roman" panose="02020603050405020304" pitchFamily="18" charset="0"/>
              <a:cs typeface="+mn-ea"/>
            </a:endParaRPr>
          </a:p>
          <a:p>
            <a:pPr lvl="2" eaLnBrk="1" latinLnBrk="0" hangingPunct="1">
              <a:spcBef>
                <a:spcPts val="1200"/>
              </a:spcBef>
            </a:pPr>
            <a:r>
              <a:rPr lang="zh-CN" altLang="en-US" sz="2055" dirty="0">
                <a:latin typeface="Times New Roman" panose="02020603050405020304" pitchFamily="18" charset="0"/>
              </a:rPr>
              <a:t>在金属或塑料基体上，涂复一层磁性材料；</a:t>
            </a:r>
            <a:endParaRPr lang="zh-CN" altLang="en-US" sz="2055" dirty="0">
              <a:latin typeface="Times New Roman" panose="02020603050405020304" pitchFamily="18" charset="0"/>
            </a:endParaRPr>
          </a:p>
          <a:p>
            <a:pPr lvl="2" eaLnBrk="1" latinLnBrk="0" hangingPunct="1">
              <a:spcBef>
                <a:spcPts val="1200"/>
              </a:spcBef>
            </a:pPr>
            <a:r>
              <a:rPr lang="zh-CN" altLang="en-US" sz="2055" dirty="0">
                <a:latin typeface="Times New Roman" panose="02020603050405020304" pitchFamily="18" charset="0"/>
              </a:rPr>
              <a:t>用磁层存储信息，常见的有磁盘、磁带等；</a:t>
            </a:r>
            <a:endParaRPr lang="en-US" altLang="zh-CN" sz="2055" dirty="0">
              <a:latin typeface="Times New Roman" panose="02020603050405020304" pitchFamily="18" charset="0"/>
            </a:endParaRPr>
          </a:p>
          <a:p>
            <a:pPr lvl="2" eaLnBrk="1" latinLnBrk="0" hangingPunct="1">
              <a:spcBef>
                <a:spcPts val="1200"/>
              </a:spcBef>
            </a:pPr>
            <a:r>
              <a:rPr lang="zh-CN" altLang="en-US" sz="2055" dirty="0">
                <a:solidFill>
                  <a:srgbClr val="FF0000"/>
                </a:solidFill>
                <a:latin typeface="Times New Roman" panose="02020603050405020304" pitchFamily="18" charset="0"/>
              </a:rPr>
              <a:t>容量大、价格低、存取速度慢</a:t>
            </a:r>
            <a:r>
              <a:rPr lang="zh-CN" altLang="en-US" sz="2055" dirty="0">
                <a:latin typeface="Times New Roman" panose="02020603050405020304" pitchFamily="18" charset="0"/>
              </a:rPr>
              <a:t>，多用作辅助存储器。</a:t>
            </a:r>
            <a:endParaRPr lang="zh-CN" altLang="en-US" sz="2055" dirty="0">
              <a:latin typeface="Times New Roman" panose="02020603050405020304" pitchFamily="18" charset="0"/>
            </a:endParaRPr>
          </a:p>
          <a:p>
            <a:pPr lvl="1" algn="l" eaLnBrk="1" latinLnBrk="0" hangingPunct="1">
              <a:spcBef>
                <a:spcPts val="1800"/>
              </a:spcBef>
              <a:buSzTx/>
            </a:pPr>
            <a:r>
              <a:rPr lang="zh-CN" altLang="en-US" dirty="0">
                <a:latin typeface="Times New Roman" panose="02020603050405020304" pitchFamily="18" charset="0"/>
                <a:cs typeface="+mn-ea"/>
              </a:rPr>
              <a:t>⑷光存储器</a:t>
            </a:r>
            <a:endParaRPr lang="zh-CN" altLang="en-US" dirty="0">
              <a:latin typeface="Times New Roman" panose="02020603050405020304" pitchFamily="18" charset="0"/>
              <a:cs typeface="+mn-ea"/>
            </a:endParaRPr>
          </a:p>
          <a:p>
            <a:pPr lvl="2" eaLnBrk="1" latinLnBrk="0" hangingPunct="1">
              <a:spcBef>
                <a:spcPts val="1200"/>
              </a:spcBef>
            </a:pPr>
            <a:r>
              <a:rPr lang="zh-CN" altLang="en-US" sz="2055" dirty="0">
                <a:latin typeface="Times New Roman" panose="02020603050405020304" pitchFamily="18" charset="0"/>
              </a:rPr>
              <a:t>采用激光技术控制访问的存储器；</a:t>
            </a:r>
            <a:endParaRPr lang="zh-CN" altLang="en-US" sz="2055" dirty="0">
              <a:latin typeface="Times New Roman" panose="02020603050405020304" pitchFamily="18" charset="0"/>
            </a:endParaRPr>
          </a:p>
          <a:p>
            <a:pPr lvl="2" eaLnBrk="1" latinLnBrk="0" hangingPunct="1">
              <a:spcBef>
                <a:spcPts val="1200"/>
              </a:spcBef>
            </a:pPr>
            <a:r>
              <a:rPr lang="zh-CN" altLang="en-US" sz="2055" dirty="0">
                <a:latin typeface="Times New Roman" panose="02020603050405020304" pitchFamily="18" charset="0"/>
              </a:rPr>
              <a:t>分为只读式、一次写入式、可读写式</a:t>
            </a:r>
            <a:r>
              <a:rPr lang="en-US" altLang="zh-CN" sz="2055" dirty="0">
                <a:latin typeface="Times New Roman" panose="02020603050405020304" pitchFamily="18" charset="0"/>
              </a:rPr>
              <a:t>3</a:t>
            </a:r>
            <a:r>
              <a:rPr lang="zh-CN" altLang="en-US" sz="2055" dirty="0">
                <a:latin typeface="Times New Roman" panose="02020603050405020304" pitchFamily="18" charset="0"/>
              </a:rPr>
              <a:t>种；</a:t>
            </a:r>
            <a:endParaRPr lang="en-US" altLang="zh-CN" sz="2055" dirty="0">
              <a:latin typeface="Times New Roman" panose="02020603050405020304" pitchFamily="18" charset="0"/>
            </a:endParaRPr>
          </a:p>
          <a:p>
            <a:pPr lvl="2" eaLnBrk="1" latinLnBrk="0" hangingPunct="1">
              <a:spcBef>
                <a:spcPts val="1200"/>
              </a:spcBef>
            </a:pPr>
            <a:r>
              <a:rPr lang="zh-CN" altLang="en-US" sz="2055" dirty="0">
                <a:solidFill>
                  <a:srgbClr val="FF0000"/>
                </a:solidFill>
                <a:latin typeface="Times New Roman" panose="02020603050405020304" pitchFamily="18" charset="0"/>
              </a:rPr>
              <a:t>存储容量很大</a:t>
            </a:r>
            <a:r>
              <a:rPr lang="zh-CN" altLang="en-US" sz="2055" dirty="0">
                <a:latin typeface="Times New Roman" panose="02020603050405020304" pitchFamily="18" charset="0"/>
              </a:rPr>
              <a:t>，是使用较广泛的辅助存储器。</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1" eaLnBrk="1" hangingPunct="1"/>
            <a:endParaRPr lang="zh-CN" altLang="en-US"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sym typeface="+mn-ea"/>
              </a:rPr>
              <a:t>5.1.1 </a:t>
            </a:r>
            <a:r>
              <a:rPr lang="zh-CN" altLang="en-US" dirty="0">
                <a:latin typeface="Times New Roman" panose="02020603050405020304" pitchFamily="18" charset="0"/>
                <a:sym typeface="+mn-ea"/>
              </a:rPr>
              <a:t>存储器分类</a:t>
            </a:r>
            <a:r>
              <a:rPr lang="zh-CN" altLang="en-US" dirty="0"/>
              <a:t> </a:t>
            </a:r>
            <a:endParaRPr lang="zh-CN" altLang="en-US" dirty="0"/>
          </a:p>
        </p:txBody>
      </p:sp>
      <p:sp>
        <p:nvSpPr>
          <p:cNvPr id="24579" name="内容占位符 2"/>
          <p:cNvSpPr>
            <a:spLocks noGrp="1"/>
          </p:cNvSpPr>
          <p:nvPr>
            <p:ph idx="1"/>
          </p:nvPr>
        </p:nvSpPr>
        <p:spPr>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mn-lt"/>
                <a:ea typeface="+mn-ea"/>
                <a:cs typeface="+mn-cs"/>
              </a:rPr>
              <a:t>按信息的可保存性分类 </a:t>
            </a:r>
            <a:endParaRPr kumimoji="0" lang="zh-CN" altLang="en-US" sz="2800" b="1" i="0" u="none" strike="noStrike" kern="0" cap="none" spc="0" normalizeH="0" baseline="0" noProof="1" dirty="0">
              <a:solidFill>
                <a:schemeClr val="hlink"/>
              </a:solidFill>
              <a:latin typeface="+mn-lt"/>
              <a:ea typeface="+mn-ea"/>
              <a:cs typeface="+mn-cs"/>
            </a:endParaRPr>
          </a:p>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易失性和非易失性存储器：</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rgbClr val="FF0000"/>
                </a:solidFill>
                <a:latin typeface="+mn-lt"/>
                <a:ea typeface="+mn-ea"/>
                <a:cs typeface="+mn-ea"/>
              </a:rPr>
              <a:t>易失性</a:t>
            </a:r>
            <a:r>
              <a:rPr kumimoji="0" lang="zh-CN" altLang="en-US" sz="2055" b="0" i="0" u="none" strike="noStrike" kern="0" cap="none" spc="0" normalizeH="0" baseline="0" noProof="1" dirty="0">
                <a:solidFill>
                  <a:schemeClr val="tx1"/>
                </a:solidFill>
                <a:latin typeface="+mn-lt"/>
                <a:ea typeface="+mn-ea"/>
                <a:cs typeface="+mn-ea"/>
              </a:rPr>
              <a:t>存储器</a:t>
            </a:r>
            <a:r>
              <a:rPr kumimoji="0" lang="zh-CN" altLang="en-US" sz="2055" b="0" i="0" u="none" strike="noStrike" kern="0" cap="none" spc="0" normalizeH="0" baseline="0" noProof="1" dirty="0">
                <a:solidFill>
                  <a:srgbClr val="FF0000"/>
                </a:solidFill>
                <a:latin typeface="+mn-lt"/>
                <a:ea typeface="+mn-ea"/>
                <a:cs typeface="+mn-ea"/>
              </a:rPr>
              <a:t>：</a:t>
            </a:r>
            <a:r>
              <a:rPr kumimoji="0" lang="zh-CN" altLang="en-US" sz="2055" b="0" i="0" u="none" strike="noStrike" kern="0" cap="none" spc="0" normalizeH="0" baseline="0" noProof="1" dirty="0">
                <a:solidFill>
                  <a:schemeClr val="tx1"/>
                </a:solidFill>
                <a:latin typeface="+mn-lt"/>
                <a:ea typeface="+mn-ea"/>
                <a:cs typeface="+mn-ea"/>
              </a:rPr>
              <a:t>断电后存储信息即消失的存储器；</a:t>
            </a:r>
            <a:endParaRPr kumimoji="0" lang="en-US" altLang="zh-CN" sz="2055" b="0" i="0" u="none" strike="noStrike" kern="0" cap="none" spc="0" normalizeH="0" baseline="0" noProof="1" dirty="0">
              <a:solidFill>
                <a:schemeClr val="tx1"/>
              </a:solidFill>
              <a:latin typeface="+mn-lt"/>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rgbClr val="FF0000"/>
                </a:solidFill>
                <a:latin typeface="+mn-lt"/>
                <a:ea typeface="+mn-ea"/>
                <a:cs typeface="+mn-ea"/>
              </a:rPr>
              <a:t>非易失</a:t>
            </a:r>
            <a:r>
              <a:rPr kumimoji="0" lang="zh-CN" altLang="en-US" sz="2055" b="0" i="0" u="none" strike="noStrike" kern="0" cap="none" spc="0" normalizeH="0" baseline="0" noProof="1" dirty="0">
                <a:solidFill>
                  <a:schemeClr val="tx1"/>
                </a:solidFill>
                <a:latin typeface="+mn-lt"/>
                <a:ea typeface="+mn-ea"/>
                <a:cs typeface="+mn-ea"/>
              </a:rPr>
              <a:t>性存储器：断电后信息仍然保存的存储器。</a:t>
            </a:r>
            <a:endParaRPr kumimoji="0" lang="zh-CN" altLang="en-US" sz="2055" b="0" i="0" u="none" strike="noStrike" kern="0" cap="none" spc="0" normalizeH="0" baseline="0" noProof="1" dirty="0">
              <a:solidFill>
                <a:schemeClr val="tx1"/>
              </a:solidFill>
              <a:latin typeface="+mn-lt"/>
              <a:ea typeface="+mn-ea"/>
              <a:cs typeface="+mn-ea"/>
            </a:endParaRPr>
          </a:p>
          <a:p>
            <a:pPr marR="0" lvl="1" algn="l" rtl="0" eaLnBrk="1" fontAlgn="base" latinLnBrk="0" hangingPunct="1">
              <a:lnSpc>
                <a:spcPct val="100000"/>
              </a:lnSpc>
              <a:spcBef>
                <a:spcPts val="1800"/>
              </a:spcBef>
              <a:buSzTx/>
              <a:buFont typeface="Wingdings" panose="05000000000000000000" pitchFamily="2" charset="2"/>
              <a:buChar char="§"/>
            </a:pPr>
            <a:r>
              <a:rPr kumimoji="0" lang="zh-CN" altLang="en-US" sz="2800" i="0" u="none" strike="noStrike" kern="0" cap="none" spc="0" normalizeH="0" baseline="0" noProof="1" dirty="0">
                <a:latin typeface="Times New Roman" panose="02020603050405020304" pitchFamily="18" charset="0"/>
                <a:ea typeface="+mn-ea"/>
                <a:cs typeface="+mn-ea"/>
              </a:rPr>
              <a:t>破坏性和非破坏性读出：</a:t>
            </a:r>
            <a:endParaRPr kumimoji="0" lang="zh-CN" altLang="en-US" sz="2800" i="0" u="none" strike="noStrike" kern="0" cap="none" spc="0" normalizeH="0" baseline="0" noProof="1" dirty="0">
              <a:latin typeface="Times New Roman" panose="02020603050405020304" pitchFamily="18" charset="0"/>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rgbClr val="FF0000"/>
                </a:solidFill>
                <a:latin typeface="+mn-lt"/>
                <a:ea typeface="+mn-ea"/>
                <a:cs typeface="+mn-ea"/>
              </a:rPr>
              <a:t>破坏性</a:t>
            </a:r>
            <a:r>
              <a:rPr kumimoji="0" lang="zh-CN" altLang="en-US" sz="2055" b="0" i="0" u="none" strike="noStrike" kern="0" cap="none" spc="0" normalizeH="0" baseline="0" noProof="1" dirty="0">
                <a:solidFill>
                  <a:schemeClr val="tx1"/>
                </a:solidFill>
                <a:latin typeface="+mn-lt"/>
                <a:ea typeface="+mn-ea"/>
                <a:cs typeface="+mn-ea"/>
              </a:rPr>
              <a:t>读出：信息被读出时原存信息将被破坏；</a:t>
            </a:r>
            <a:endParaRPr kumimoji="0" lang="en-US" altLang="zh-CN" sz="2055" b="0" i="0" u="none" strike="noStrike" kern="0" cap="none" spc="0" normalizeH="0" baseline="0" noProof="1" dirty="0">
              <a:solidFill>
                <a:schemeClr val="tx1"/>
              </a:solidFill>
              <a:latin typeface="+mn-lt"/>
              <a:ea typeface="+mn-ea"/>
              <a:cs typeface="+mn-ea"/>
            </a:endParaRPr>
          </a:p>
          <a:p>
            <a:pPr marL="1200150" marR="0" lvl="2"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055" b="0" i="0" u="none" strike="noStrike" kern="0" cap="none" spc="0" normalizeH="0" baseline="0" noProof="1" dirty="0">
                <a:solidFill>
                  <a:srgbClr val="FF0000"/>
                </a:solidFill>
                <a:latin typeface="+mn-lt"/>
                <a:ea typeface="+mn-ea"/>
                <a:cs typeface="+mn-ea"/>
              </a:rPr>
              <a:t>非破坏性</a:t>
            </a:r>
            <a:r>
              <a:rPr kumimoji="0" lang="zh-CN" altLang="en-US" sz="2055" b="0" i="0" u="none" strike="noStrike" kern="0" cap="none" spc="0" normalizeH="0" baseline="0" noProof="1" dirty="0">
                <a:solidFill>
                  <a:schemeClr val="tx1"/>
                </a:solidFill>
                <a:latin typeface="+mn-lt"/>
                <a:ea typeface="+mn-ea"/>
                <a:cs typeface="+mn-ea"/>
              </a:rPr>
              <a:t>读出：信息被读出时原存信息不被破坏；</a:t>
            </a:r>
            <a:endParaRPr kumimoji="0" lang="en-US" altLang="zh-CN" sz="2055" b="0" i="0" u="none" strike="noStrike" kern="0" cap="none" spc="0" normalizeH="0" baseline="0" noProof="1" dirty="0">
              <a:solidFill>
                <a:schemeClr val="tx1"/>
              </a:solidFill>
              <a:latin typeface="+mn-lt"/>
              <a:ea typeface="+mn-ea"/>
              <a:cs typeface="+mn-ea"/>
            </a:endParaRPr>
          </a:p>
          <a:p>
            <a:pPr marL="1600200" marR="0" lvl="3"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1710" b="0" i="0" u="none" strike="noStrike" kern="0" cap="none" spc="0" normalizeH="0" baseline="0" noProof="1" dirty="0">
                <a:solidFill>
                  <a:schemeClr val="tx1"/>
                </a:solidFill>
                <a:latin typeface="+mn-lt"/>
                <a:ea typeface="+mn-ea"/>
                <a:cs typeface="+mn-ea"/>
              </a:rPr>
              <a:t>读出操作后，需</a:t>
            </a:r>
            <a:r>
              <a:rPr kumimoji="0" lang="zh-CN" altLang="en-US" sz="1710" b="0" i="0" u="none" strike="noStrike" kern="0" cap="none" spc="0" normalizeH="0" baseline="0" noProof="1" dirty="0">
                <a:solidFill>
                  <a:srgbClr val="FF0000"/>
                </a:solidFill>
                <a:latin typeface="+mn-lt"/>
                <a:ea typeface="+mn-ea"/>
                <a:cs typeface="+mn-ea"/>
              </a:rPr>
              <a:t>重写（再生）</a:t>
            </a:r>
            <a:r>
              <a:rPr kumimoji="0" lang="zh-CN" altLang="en-US" sz="1710" b="0" i="0" u="none" strike="noStrike" kern="0" cap="none" spc="0" normalizeH="0" baseline="0" noProof="1" dirty="0">
                <a:solidFill>
                  <a:schemeClr val="tx1"/>
                </a:solidFill>
                <a:latin typeface="+mn-lt"/>
                <a:ea typeface="+mn-ea"/>
                <a:cs typeface="+mn-ea"/>
              </a:rPr>
              <a:t>，以便恢复被破坏的信息。 </a:t>
            </a:r>
            <a:endParaRPr kumimoji="0" lang="zh-CN" altLang="en-US" sz="1710" b="0" i="0" u="none" strike="noStrike" kern="0" cap="none" spc="0" normalizeH="0" baseline="0" noProof="1" dirty="0">
              <a:solidFill>
                <a:schemeClr val="tx1"/>
              </a:solidFill>
              <a:latin typeface="+mn-lt"/>
              <a:ea typeface="+mn-ea"/>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5.1.2 </a:t>
            </a:r>
            <a:r>
              <a:rPr lang="zh-CN" altLang="en-US" dirty="0">
                <a:latin typeface="Times New Roman" panose="02020603050405020304" pitchFamily="18" charset="0"/>
              </a:rPr>
              <a:t>存储系统层次结构</a:t>
            </a:r>
            <a:endParaRPr lang="zh-CN" altLang="en-US" dirty="0">
              <a:latin typeface="Times New Roman" panose="02020603050405020304" pitchFamily="18" charset="0"/>
              <a:ea typeface="Times New Roman" panose="02020603050405020304" pitchFamily="18" charset="0"/>
            </a:endParaRPr>
          </a:p>
        </p:txBody>
      </p:sp>
      <p:sp>
        <p:nvSpPr>
          <p:cNvPr id="25603" name="内容占位符 2"/>
          <p:cNvSpPr>
            <a:spLocks noGrp="1"/>
          </p:cNvSpPr>
          <p:nvPr>
            <p:ph idx="1"/>
          </p:nvPr>
        </p:nvSpPr>
        <p:spPr>
          <a:xfrm>
            <a:off x="423863" y="1268413"/>
            <a:ext cx="8229600" cy="3313113"/>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存储系统：</a:t>
            </a:r>
            <a:endParaRPr kumimoji="0" lang="zh-CN" altLang="en-US" sz="2800"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不同容量和速度的存储器构成的</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整体；</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6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从</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CPU</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来看，</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n</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在逻辑上是一个整体：</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en-US" altLang="zh-CN" sz="2055"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速度</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最快、</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容量</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最小、</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位价格</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最高；</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Mn</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速度最慢、容量最大、位价格最低；</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系统</a:t>
            </a:r>
            <a:r>
              <a:rPr kumimoji="0" lang="zh-CN" altLang="en-US"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接近</a:t>
            </a:r>
            <a:r>
              <a:rPr kumimoji="0" lang="en-US" altLang="zh-CN"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M</a:t>
            </a:r>
            <a:r>
              <a:rPr kumimoji="0" lang="en-US" altLang="zh-CN" sz="2055" b="1" i="0" u="none" strike="noStrike" kern="0" cap="none" spc="0" normalizeH="0" baseline="-25000" noProof="1" dirty="0">
                <a:solidFill>
                  <a:srgbClr val="FF0000"/>
                </a:solidFill>
                <a:latin typeface="Times New Roman" panose="02020603050405020304" pitchFamily="18" charset="0"/>
                <a:ea typeface="+mn-ea"/>
                <a:cs typeface="Times New Roman" panose="02020603050405020304" pitchFamily="18" charset="0"/>
              </a:rPr>
              <a:t>1</a:t>
            </a:r>
            <a:r>
              <a:rPr kumimoji="0" lang="zh-CN" altLang="en-US"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的速度，相等或接近</a:t>
            </a:r>
            <a:r>
              <a:rPr kumimoji="0" lang="en-US" altLang="zh-CN"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Mn</a:t>
            </a:r>
            <a:r>
              <a:rPr kumimoji="0" lang="zh-CN" altLang="en-US"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的容量，接近</a:t>
            </a:r>
            <a:r>
              <a:rPr kumimoji="0" lang="en-US" altLang="zh-CN"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Mn</a:t>
            </a:r>
            <a:r>
              <a:rPr kumimoji="0" lang="zh-CN" altLang="en-US" sz="2055"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位价格</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最常用</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的数据在</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en-US" altLang="zh-CN" sz="2055"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中，</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次常用</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的在</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en-US" altLang="zh-CN" sz="2055"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2</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中。。。</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4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graphicFrame>
        <p:nvGraphicFramePr>
          <p:cNvPr id="2" name="Object 1030"/>
          <p:cNvGraphicFramePr>
            <a:graphicFrameLocks noChangeAspect="1"/>
          </p:cNvGraphicFramePr>
          <p:nvPr/>
        </p:nvGraphicFramePr>
        <p:xfrm>
          <a:off x="1046163" y="4378325"/>
          <a:ext cx="6208712" cy="1968500"/>
        </p:xfrm>
        <a:graphic>
          <a:graphicData uri="http://schemas.openxmlformats.org/presentationml/2006/ole">
            <mc:AlternateContent xmlns:mc="http://schemas.openxmlformats.org/markup-compatibility/2006">
              <mc:Choice xmlns:v="urn:schemas-microsoft-com:vml" Requires="v">
                <p:oleObj spid="_x0000_s3079" name="" r:id="rId1" imgW="3190240" imgH="1010920" progId="Visio.Drawing.6">
                  <p:embed/>
                </p:oleObj>
              </mc:Choice>
              <mc:Fallback>
                <p:oleObj name="" r:id="rId1" imgW="3190240" imgH="1010920" progId="Visio.Drawing.6">
                  <p:embed/>
                  <p:pic>
                    <p:nvPicPr>
                      <p:cNvPr id="0" name="图片 3078"/>
                      <p:cNvPicPr/>
                      <p:nvPr/>
                    </p:nvPicPr>
                    <p:blipFill>
                      <a:blip r:embed="rId2"/>
                      <a:stretch>
                        <a:fillRect/>
                      </a:stretch>
                    </p:blipFill>
                    <p:spPr>
                      <a:xfrm>
                        <a:off x="1046163" y="4378325"/>
                        <a:ext cx="6208712" cy="1968500"/>
                      </a:xfrm>
                      <a:prstGeom prst="rect">
                        <a:avLst/>
                      </a:prstGeom>
                      <a:noFill/>
                      <a:ln w="38100">
                        <a:noFill/>
                        <a:miter/>
                      </a:ln>
                    </p:spPr>
                  </p:pic>
                </p:oleObj>
              </mc:Fallback>
            </mc:AlternateContent>
          </a:graphicData>
        </a:graphic>
      </p:graphicFrame>
      <p:sp>
        <p:nvSpPr>
          <p:cNvPr id="25604" name="文本框 2"/>
          <p:cNvSpPr txBox="1"/>
          <p:nvPr/>
        </p:nvSpPr>
        <p:spPr>
          <a:xfrm>
            <a:off x="7289800" y="4437063"/>
            <a:ext cx="738188" cy="1993900"/>
          </a:xfrm>
          <a:prstGeom prst="rect">
            <a:avLst/>
          </a:prstGeom>
          <a:noFill/>
          <a:ln w="9525">
            <a:noFill/>
          </a:ln>
        </p:spPr>
        <p:txBody>
          <a:bodyPr vert="eaVert" anchor="t" anchorCtr="0">
            <a:spAutoFit/>
          </a:bodyPr>
          <a:p>
            <a:pPr eaLnBrk="0" hangingPunct="0"/>
            <a:r>
              <a:rPr lang="zh-CN" altLang="en-US" dirty="0">
                <a:solidFill>
                  <a:srgbClr val="0000FF"/>
                </a:solidFill>
                <a:latin typeface="黑体" panose="02010609060101010101" pitchFamily="49" charset="-122"/>
                <a:ea typeface="黑体" panose="02010609060101010101" pitchFamily="49" charset="-122"/>
              </a:rPr>
              <a:t>图：多级存储层次</a:t>
            </a:r>
            <a:endParaRPr lang="zh-CN" altLang="en-US" dirty="0">
              <a:solidFill>
                <a:srgbClr val="0000FF"/>
              </a:solidFill>
              <a:latin typeface="黑体" panose="02010609060101010101" pitchFamily="49" charset="-122"/>
              <a:ea typeface="黑体" panose="02010609060101010101" pitchFamily="49" charset="-122"/>
            </a:endParaRPr>
          </a:p>
          <a:p>
            <a:pPr eaLnBrk="0" hangingPunct="0"/>
            <a:endParaRPr lang="zh-CN" altLang="en-US" dirty="0">
              <a:solidFill>
                <a:srgbClr val="0000FF"/>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stretch>
            <a:fillRect/>
          </a:stretch>
        </p:blipFill>
        <p:spPr>
          <a:xfrm>
            <a:off x="5003800" y="548640"/>
            <a:ext cx="4006850" cy="1187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5.1.2 </a:t>
            </a:r>
            <a:r>
              <a:rPr lang="zh-CN" altLang="en-US" dirty="0">
                <a:latin typeface="Times New Roman" panose="02020603050405020304" pitchFamily="18" charset="0"/>
              </a:rPr>
              <a:t>存储系统层次结构（续）</a:t>
            </a:r>
            <a:endParaRPr lang="zh-CN" altLang="en-US" dirty="0">
              <a:latin typeface="Times New Roman" panose="02020603050405020304" pitchFamily="18" charset="0"/>
            </a:endParaRPr>
          </a:p>
        </p:txBody>
      </p:sp>
      <p:sp>
        <p:nvSpPr>
          <p:cNvPr id="3" name="内容占位符 2"/>
          <p:cNvSpPr>
            <a:spLocks noGrp="1"/>
          </p:cNvSpPr>
          <p:nvPr>
            <p:ph idx="1"/>
          </p:nvPr>
        </p:nvSpPr>
        <p:spPr>
          <a:xfrm>
            <a:off x="471488" y="1417638"/>
            <a:ext cx="8229600" cy="4775200"/>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对于由</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M</a:t>
            </a:r>
            <a:r>
              <a:rPr kumimoji="0" lang="en-US" altLang="zh-CN" sz="28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1</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和</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M</a:t>
            </a:r>
            <a:r>
              <a:rPr kumimoji="0" lang="en-US" altLang="zh-CN" sz="28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2</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构成的两级存储层次结构：</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假设M</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访问时间分别为T</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命中率</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产生的逻辑地址能在</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中访问到的概率；</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设</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为访问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的命中次数，</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为访问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的次数：</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24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两级存储层次的</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等效访问时间</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a:t>
            </a:r>
            <a:r>
              <a:rPr kumimoji="0" lang="en-US" altLang="zh-CN" sz="2400" b="0" i="0" u="none" strike="noStrike" kern="0" cap="none" spc="0" normalizeH="0" baseline="-2500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根据</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的启动时间有：</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A1</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+(1−H)×T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A2</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M</a:t>
            </a:r>
            <a:r>
              <a:rPr kumimoji="0" lang="en-US" altLang="zh-CN"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1</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和</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M</a:t>
            </a:r>
            <a:r>
              <a:rPr kumimoji="0" lang="en-US" altLang="zh-CN"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2</a:t>
            </a:r>
            <a:r>
              <a:rPr kumimoji="0" lang="zh-CN" altLang="en-US" sz="20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同时启动</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a:t>
            </a:r>
            <a:r>
              <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A1</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+(1−H)×T</a:t>
            </a:r>
            <a:r>
              <a:rPr kumimoji="0" lang="en-US" altLang="zh-CN" sz="24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A2</a:t>
            </a:r>
            <a:r>
              <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M</a:t>
            </a:r>
            <a:r>
              <a:rPr kumimoji="0" lang="en-US" altLang="zh-CN"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1</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不命中时启动</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M</a:t>
            </a:r>
            <a:r>
              <a:rPr kumimoji="0" lang="en-US" altLang="zh-CN"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2</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6627" name="对象 2"/>
          <p:cNvGraphicFramePr>
            <a:graphicFrameLocks noChangeAspect="1"/>
          </p:cNvGraphicFramePr>
          <p:nvPr/>
        </p:nvGraphicFramePr>
        <p:xfrm>
          <a:off x="3132138" y="3519488"/>
          <a:ext cx="1008062" cy="742950"/>
        </p:xfrm>
        <a:graphic>
          <a:graphicData uri="http://schemas.openxmlformats.org/presentationml/2006/ole">
            <mc:AlternateContent xmlns:mc="http://schemas.openxmlformats.org/markup-compatibility/2006">
              <mc:Choice xmlns:v="urn:schemas-microsoft-com:vml" Requires="v">
                <p:oleObj spid="_x0000_s3082" name="" r:id="rId1" imgW="584200" imgH="431800" progId="Equation.3">
                  <p:embed/>
                </p:oleObj>
              </mc:Choice>
              <mc:Fallback>
                <p:oleObj name="" r:id="rId1" imgW="584200" imgH="431800" progId="Equation.3">
                  <p:embed/>
                  <p:pic>
                    <p:nvPicPr>
                      <p:cNvPr id="0" name="图片 3081"/>
                      <p:cNvPicPr/>
                      <p:nvPr/>
                    </p:nvPicPr>
                    <p:blipFill>
                      <a:blip r:embed="rId2"/>
                      <a:stretch>
                        <a:fillRect/>
                      </a:stretch>
                    </p:blipFill>
                    <p:spPr>
                      <a:xfrm>
                        <a:off x="3132138" y="3519488"/>
                        <a:ext cx="1008062" cy="742950"/>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Cache</a:t>
            </a:r>
            <a:r>
              <a:rPr lang="zh-CN" altLang="en-US" dirty="0">
                <a:latin typeface="Times New Roman" panose="02020603050405020304" pitchFamily="18" charset="0"/>
              </a:rPr>
              <a:t>－主存存储层次（</a:t>
            </a:r>
            <a:r>
              <a:rPr lang="en-US" altLang="zh-CN" dirty="0">
                <a:latin typeface="Times New Roman" panose="02020603050405020304" pitchFamily="18" charset="0"/>
              </a:rPr>
              <a:t>Cache</a:t>
            </a:r>
            <a:r>
              <a:rPr lang="zh-CN" altLang="en-US" dirty="0">
                <a:latin typeface="Times New Roman" panose="02020603050405020304" pitchFamily="18" charset="0"/>
              </a:rPr>
              <a:t>存储系统） </a:t>
            </a:r>
            <a:endParaRPr lang="zh-CN" altLang="en-US" dirty="0">
              <a:latin typeface="Times New Roman" panose="02020603050405020304" pitchFamily="18" charset="0"/>
              <a:ea typeface="Times New Roman" panose="02020603050405020304" pitchFamily="18" charset="0"/>
            </a:endParaRPr>
          </a:p>
        </p:txBody>
      </p:sp>
      <p:sp>
        <p:nvSpPr>
          <p:cNvPr id="27650" name="内容占位符 2"/>
          <p:cNvSpPr>
            <a:spLocks noGrp="1"/>
          </p:cNvSpPr>
          <p:nvPr>
            <p:ph idx="1"/>
          </p:nvPr>
        </p:nvSpPr>
        <p:spPr>
          <a:xfrm>
            <a:off x="457200" y="1268413"/>
            <a:ext cx="8229600" cy="1863725"/>
          </a:xfrm>
          <a:noFill/>
          <a:ln>
            <a:noFill/>
          </a:ln>
        </p:spPr>
        <p:txBody>
          <a:bodyPr anchor="t" anchorCtr="0"/>
          <a:p>
            <a:pPr eaLnBrk="1" hangingPunct="1"/>
            <a:r>
              <a:rPr lang="en-US" altLang="zh-CN" dirty="0">
                <a:latin typeface="Times New Roman" panose="02020603050405020304" pitchFamily="18" charset="0"/>
              </a:rPr>
              <a:t>Cache</a:t>
            </a:r>
            <a:r>
              <a:rPr lang="zh-CN" altLang="en-US" dirty="0">
                <a:latin typeface="Times New Roman" panose="02020603050405020304" pitchFamily="18" charset="0"/>
              </a:rPr>
              <a:t>存储系统为</a:t>
            </a:r>
            <a:r>
              <a:rPr lang="zh-CN" altLang="en-US" dirty="0">
                <a:solidFill>
                  <a:srgbClr val="FF0000"/>
                </a:solidFill>
                <a:latin typeface="Times New Roman" panose="02020603050405020304" pitchFamily="18" charset="0"/>
              </a:rPr>
              <a:t>解决主存速度不足</a:t>
            </a:r>
            <a:r>
              <a:rPr lang="zh-CN" altLang="en-US" dirty="0">
                <a:latin typeface="Times New Roman" panose="02020603050405020304" pitchFamily="18" charset="0"/>
              </a:rPr>
              <a:t>而提出</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接近</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的速度，主存的容量，接近于主存的价格。</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全部用硬件调度，对系统程序员和应用程序员透明。</a:t>
            </a:r>
            <a:endParaRPr lang="zh-CN" altLang="en-US" sz="2400" dirty="0">
              <a:latin typeface="Times New Roman" panose="02020603050405020304" pitchFamily="18" charset="0"/>
              <a:ea typeface="Times New Roman" panose="02020603050405020304" pitchFamily="18" charset="0"/>
            </a:endParaRPr>
          </a:p>
        </p:txBody>
      </p:sp>
      <p:graphicFrame>
        <p:nvGraphicFramePr>
          <p:cNvPr id="27651" name="Object 1028"/>
          <p:cNvGraphicFramePr>
            <a:graphicFrameLocks noChangeAspect="1"/>
          </p:cNvGraphicFramePr>
          <p:nvPr/>
        </p:nvGraphicFramePr>
        <p:xfrm>
          <a:off x="1125538" y="3236913"/>
          <a:ext cx="5195887" cy="2257425"/>
        </p:xfrm>
        <a:graphic>
          <a:graphicData uri="http://schemas.openxmlformats.org/presentationml/2006/ole">
            <mc:AlternateContent xmlns:mc="http://schemas.openxmlformats.org/markup-compatibility/2006">
              <mc:Choice xmlns:v="urn:schemas-microsoft-com:vml" Requires="v">
                <p:oleObj spid="_x0000_s3081" name="" r:id="rId1" imgW="2323465" imgH="1009650" progId="Visio.Drawing.6">
                  <p:embed/>
                </p:oleObj>
              </mc:Choice>
              <mc:Fallback>
                <p:oleObj name="" r:id="rId1" imgW="2323465" imgH="1009650" progId="Visio.Drawing.6">
                  <p:embed/>
                  <p:pic>
                    <p:nvPicPr>
                      <p:cNvPr id="0" name="图片 3080"/>
                      <p:cNvPicPr/>
                      <p:nvPr/>
                    </p:nvPicPr>
                    <p:blipFill>
                      <a:blip r:embed="rId2"/>
                      <a:stretch>
                        <a:fillRect/>
                      </a:stretch>
                    </p:blipFill>
                    <p:spPr>
                      <a:xfrm>
                        <a:off x="1125538" y="3236913"/>
                        <a:ext cx="5195887" cy="2257425"/>
                      </a:xfrm>
                      <a:prstGeom prst="rect">
                        <a:avLst/>
                      </a:prstGeom>
                      <a:noFill/>
                      <a:ln w="38100">
                        <a:noFill/>
                        <a:miter/>
                      </a:ln>
                    </p:spPr>
                  </p:pic>
                </p:oleObj>
              </mc:Fallback>
            </mc:AlternateContent>
          </a:graphicData>
        </a:graphic>
      </p:graphicFrame>
      <p:sp>
        <p:nvSpPr>
          <p:cNvPr id="5" name="Rectangle 1029"/>
          <p:cNvSpPr txBox="1">
            <a:spLocks noChangeArrowheads="1"/>
          </p:cNvSpPr>
          <p:nvPr/>
        </p:nvSpPr>
        <p:spPr>
          <a:xfrm>
            <a:off x="1889125" y="5843588"/>
            <a:ext cx="4432300" cy="50482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9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a:t>
            </a: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Cache</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存储系统</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27653" name="文本框 1"/>
          <p:cNvSpPr txBox="1"/>
          <p:nvPr/>
        </p:nvSpPr>
        <p:spPr>
          <a:xfrm>
            <a:off x="6696075" y="3743325"/>
            <a:ext cx="1990725" cy="1244600"/>
          </a:xfrm>
          <a:prstGeom prst="rect">
            <a:avLst/>
          </a:prstGeom>
          <a:noFill/>
          <a:ln w="9525">
            <a:noFill/>
          </a:ln>
        </p:spPr>
        <p:txBody>
          <a:bodyPr wrap="square" anchor="t" anchorCtr="0">
            <a:spAutoFit/>
          </a:bodyPr>
          <a:p>
            <a:pPr eaLnBrk="0" hangingPunct="0">
              <a:buSzTx/>
            </a:pPr>
            <a:r>
              <a:rPr lang="zh-CN" altLang="en-US" sz="2000" dirty="0">
                <a:solidFill>
                  <a:srgbClr val="0000FF"/>
                </a:solidFill>
                <a:latin typeface="Times New Roman" panose="02020603050405020304" pitchFamily="18" charset="0"/>
                <a:ea typeface="黑体" panose="02010609060101010101" pitchFamily="49" charset="-122"/>
              </a:rPr>
              <a:t>思考：</a:t>
            </a:r>
            <a:endParaRPr lang="en-US" altLang="zh-CN" sz="2000" dirty="0">
              <a:solidFill>
                <a:srgbClr val="0000FF"/>
              </a:solidFill>
              <a:latin typeface="Times New Roman" panose="02020603050405020304" pitchFamily="18" charset="0"/>
              <a:ea typeface="黑体" panose="02010609060101010101" pitchFamily="49" charset="-122"/>
            </a:endParaRPr>
          </a:p>
          <a:p>
            <a:pPr eaLnBrk="0" hangingPunct="0">
              <a:spcBef>
                <a:spcPts val="1800"/>
              </a:spcBef>
              <a:buSzTx/>
            </a:pPr>
            <a:r>
              <a:rPr lang="zh-CN" altLang="en-US" sz="2000" dirty="0">
                <a:solidFill>
                  <a:srgbClr val="0000FF"/>
                </a:solidFill>
                <a:latin typeface="Times New Roman" panose="02020603050405020304" pitchFamily="18" charset="0"/>
                <a:ea typeface="黑体" panose="02010609060101010101" pitchFamily="49" charset="-122"/>
              </a:rPr>
              <a:t>辅助硬件需完成何种功能？</a:t>
            </a:r>
            <a:endParaRPr lang="zh-CN" altLang="en-US" sz="2000"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主存−辅存存储层次（虚拟存储系统） </a:t>
            </a:r>
            <a:endParaRPr lang="zh-CN" altLang="en-US" dirty="0">
              <a:latin typeface="Times New Roman" panose="02020603050405020304" pitchFamily="18" charset="0"/>
            </a:endParaRPr>
          </a:p>
        </p:txBody>
      </p:sp>
      <p:sp>
        <p:nvSpPr>
          <p:cNvPr id="28674" name="内容占位符 2"/>
          <p:cNvSpPr>
            <a:spLocks noGrp="1"/>
          </p:cNvSpPr>
          <p:nvPr>
            <p:ph idx="1"/>
          </p:nvPr>
        </p:nvSpPr>
        <p:spPr>
          <a:xfrm>
            <a:off x="457200" y="1268413"/>
            <a:ext cx="8229600" cy="2039937"/>
          </a:xfrm>
          <a:noFill/>
          <a:ln>
            <a:noFill/>
          </a:ln>
        </p:spPr>
        <p:txBody>
          <a:bodyPr anchor="t" anchorCtr="0"/>
          <a:p>
            <a:pPr eaLnBrk="1" hangingPunct="1"/>
            <a:r>
              <a:rPr lang="zh-CN" altLang="en-US" dirty="0">
                <a:latin typeface="Times New Roman" panose="02020603050405020304" pitchFamily="18" charset="0"/>
              </a:rPr>
              <a:t>虚拟存储系统为</a:t>
            </a:r>
            <a:r>
              <a:rPr lang="zh-CN" altLang="en-US" dirty="0">
                <a:solidFill>
                  <a:srgbClr val="FF0000"/>
                </a:solidFill>
                <a:latin typeface="Times New Roman" panose="02020603050405020304" pitchFamily="18" charset="0"/>
              </a:rPr>
              <a:t>解决主存容量不足</a:t>
            </a:r>
            <a:r>
              <a:rPr lang="zh-CN" altLang="en-US" dirty="0">
                <a:latin typeface="Times New Roman" panose="02020603050405020304" pitchFamily="18" charset="0"/>
              </a:rPr>
              <a:t>而提出</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接近主存的速度，虚拟地址空间容量，接近辅存价格；</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需</a:t>
            </a:r>
            <a:r>
              <a:rPr lang="en-US" altLang="zh-CN" sz="2400" dirty="0">
                <a:latin typeface="Times New Roman" panose="02020603050405020304" pitchFamily="18" charset="0"/>
              </a:rPr>
              <a:t>OS</a:t>
            </a:r>
            <a:r>
              <a:rPr lang="zh-CN" altLang="en-US" sz="2400" dirty="0">
                <a:latin typeface="Times New Roman" panose="02020603050405020304" pitchFamily="18" charset="0"/>
              </a:rPr>
              <a:t>调度，对系统程序员不透明，对应用程序员透明。</a:t>
            </a:r>
            <a:endParaRPr lang="zh-CN" altLang="en-US" sz="2400" dirty="0">
              <a:latin typeface="Times New Roman" panose="02020603050405020304" pitchFamily="18" charset="0"/>
            </a:endParaRPr>
          </a:p>
          <a:p>
            <a:pPr eaLnBrk="1" hangingPunct="1"/>
            <a:endParaRPr lang="zh-CN" altLang="en-US" dirty="0">
              <a:latin typeface="Times New Roman" panose="02020603050405020304" pitchFamily="18" charset="0"/>
            </a:endParaRPr>
          </a:p>
        </p:txBody>
      </p:sp>
      <p:graphicFrame>
        <p:nvGraphicFramePr>
          <p:cNvPr id="28675" name="Object 64"/>
          <p:cNvGraphicFramePr>
            <a:graphicFrameLocks noChangeAspect="1"/>
          </p:cNvGraphicFramePr>
          <p:nvPr/>
        </p:nvGraphicFramePr>
        <p:xfrm>
          <a:off x="1038225" y="3190875"/>
          <a:ext cx="5497513" cy="2386013"/>
        </p:xfrm>
        <a:graphic>
          <a:graphicData uri="http://schemas.openxmlformats.org/presentationml/2006/ole">
            <mc:AlternateContent xmlns:mc="http://schemas.openxmlformats.org/markup-compatibility/2006">
              <mc:Choice xmlns:v="urn:schemas-microsoft-com:vml" Requires="v">
                <p:oleObj spid="_x0000_s3083" name="" r:id="rId1" imgW="2323465" imgH="1009650" progId="Visio.Drawing.6">
                  <p:embed/>
                </p:oleObj>
              </mc:Choice>
              <mc:Fallback>
                <p:oleObj name="" r:id="rId1" imgW="2323465" imgH="1009650" progId="Visio.Drawing.6">
                  <p:embed/>
                  <p:pic>
                    <p:nvPicPr>
                      <p:cNvPr id="0" name="图片 3082"/>
                      <p:cNvPicPr/>
                      <p:nvPr/>
                    </p:nvPicPr>
                    <p:blipFill>
                      <a:blip r:embed="rId2"/>
                      <a:stretch>
                        <a:fillRect/>
                      </a:stretch>
                    </p:blipFill>
                    <p:spPr>
                      <a:xfrm>
                        <a:off x="1038225" y="3190875"/>
                        <a:ext cx="5497513" cy="2386013"/>
                      </a:xfrm>
                      <a:prstGeom prst="rect">
                        <a:avLst/>
                      </a:prstGeom>
                      <a:noFill/>
                      <a:ln w="38100">
                        <a:noFill/>
                        <a:miter/>
                      </a:ln>
                    </p:spPr>
                  </p:pic>
                </p:oleObj>
              </mc:Fallback>
            </mc:AlternateContent>
          </a:graphicData>
        </a:graphic>
      </p:graphicFrame>
      <p:sp>
        <p:nvSpPr>
          <p:cNvPr id="5" name="Rectangle 65"/>
          <p:cNvSpPr txBox="1">
            <a:spLocks noChangeArrowheads="1"/>
          </p:cNvSpPr>
          <p:nvPr/>
        </p:nvSpPr>
        <p:spPr>
          <a:xfrm>
            <a:off x="1293813" y="5764213"/>
            <a:ext cx="5111750" cy="531813"/>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9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a:t>
            </a:r>
            <a:r>
              <a:rPr kumimoji="0" lang="en-US" altLang="zh-CN" sz="24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虚拟存储系统</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28677" name="文本框 5"/>
          <p:cNvSpPr txBox="1"/>
          <p:nvPr/>
        </p:nvSpPr>
        <p:spPr>
          <a:xfrm>
            <a:off x="6826250" y="3644900"/>
            <a:ext cx="1992313" cy="1244600"/>
          </a:xfrm>
          <a:prstGeom prst="rect">
            <a:avLst/>
          </a:prstGeom>
          <a:noFill/>
          <a:ln w="9525">
            <a:noFill/>
          </a:ln>
        </p:spPr>
        <p:txBody>
          <a:bodyPr wrap="square" anchor="t" anchorCtr="0">
            <a:spAutoFit/>
          </a:bodyPr>
          <a:p>
            <a:pPr eaLnBrk="0" hangingPunct="0">
              <a:buSzTx/>
            </a:pPr>
            <a:r>
              <a:rPr lang="zh-CN" altLang="en-US" sz="2000" dirty="0">
                <a:solidFill>
                  <a:srgbClr val="0000FF"/>
                </a:solidFill>
                <a:latin typeface="Times New Roman" panose="02020603050405020304" pitchFamily="18" charset="0"/>
                <a:ea typeface="黑体" panose="02010609060101010101" pitchFamily="49" charset="-122"/>
              </a:rPr>
              <a:t>思考：</a:t>
            </a:r>
            <a:endParaRPr lang="en-US" altLang="zh-CN" sz="2000" dirty="0">
              <a:solidFill>
                <a:srgbClr val="0000FF"/>
              </a:solidFill>
              <a:latin typeface="Times New Roman" panose="02020603050405020304" pitchFamily="18" charset="0"/>
              <a:ea typeface="黑体" panose="02010609060101010101" pitchFamily="49" charset="-122"/>
            </a:endParaRPr>
          </a:p>
          <a:p>
            <a:pPr eaLnBrk="0" hangingPunct="0">
              <a:spcBef>
                <a:spcPts val="1800"/>
              </a:spcBef>
              <a:buSzTx/>
            </a:pPr>
            <a:r>
              <a:rPr lang="zh-CN" altLang="en-US" sz="2000" dirty="0">
                <a:solidFill>
                  <a:srgbClr val="0000FF"/>
                </a:solidFill>
                <a:latin typeface="Times New Roman" panose="02020603050405020304" pitchFamily="18" charset="0"/>
                <a:ea typeface="黑体" panose="02010609060101010101" pitchFamily="49" charset="-122"/>
              </a:rPr>
              <a:t>辅助软硬件需完成何种功能？</a:t>
            </a:r>
            <a:endParaRPr lang="zh-CN" altLang="en-US" sz="2000"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 </a:t>
            </a:r>
            <a:r>
              <a:rPr lang="zh-CN" altLang="en-US" dirty="0">
                <a:latin typeface="Times New Roman" panose="02020603050405020304" pitchFamily="18" charset="0"/>
              </a:rPr>
              <a:t>主存储器的组织</a:t>
            </a:r>
            <a:endParaRPr lang="zh-CN" altLang="en-US" dirty="0">
              <a:latin typeface="Times New Roman" panose="02020603050405020304" pitchFamily="18" charset="0"/>
            </a:endParaRPr>
          </a:p>
        </p:txBody>
      </p:sp>
      <p:sp>
        <p:nvSpPr>
          <p:cNvPr id="29698" name="内容占位符 2"/>
          <p:cNvSpPr>
            <a:spLocks noGrp="1"/>
          </p:cNvSpPr>
          <p:nvPr>
            <p:ph idx="1"/>
          </p:nvPr>
        </p:nvSpPr>
        <p:spPr>
          <a:noFill/>
          <a:ln>
            <a:noFill/>
          </a:ln>
        </p:spPr>
        <p:txBody>
          <a:bodyPr anchor="t" anchorCtr="0"/>
          <a:p>
            <a:pPr eaLnBrk="1" hangingPunct="1">
              <a:spcBef>
                <a:spcPts val="1800"/>
              </a:spcBef>
            </a:pPr>
            <a:r>
              <a:rPr lang="zh-CN" altLang="en-US" dirty="0">
                <a:latin typeface="Times New Roman" panose="02020603050405020304" pitchFamily="18" charset="0"/>
              </a:rPr>
              <a:t>主存储器是整个存储系统的</a:t>
            </a:r>
            <a:r>
              <a:rPr lang="zh-CN" altLang="en-US" dirty="0">
                <a:solidFill>
                  <a:srgbClr val="FF0000"/>
                </a:solidFill>
                <a:latin typeface="Times New Roman" panose="02020603050405020304" pitchFamily="18" charset="0"/>
              </a:rPr>
              <a:t>核心</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存放计算机运行期间所需要的程序和数据；</a:t>
            </a:r>
            <a:endParaRPr lang="en-US" altLang="zh-CN" dirty="0">
              <a:latin typeface="Times New Roman" panose="02020603050405020304" pitchFamily="18" charset="0"/>
            </a:endParaRPr>
          </a:p>
          <a:p>
            <a:pPr eaLnBrk="1" hangingPunct="1">
              <a:spcBef>
                <a:spcPts val="1800"/>
              </a:spcBef>
            </a:pPr>
            <a:r>
              <a:rPr lang="en-US" altLang="zh-CN" dirty="0">
                <a:latin typeface="Times New Roman" panose="02020603050405020304" pitchFamily="18" charset="0"/>
              </a:rPr>
              <a:t>CPU</a:t>
            </a:r>
            <a:r>
              <a:rPr lang="zh-CN" altLang="en-US" dirty="0">
                <a:latin typeface="Times New Roman" panose="02020603050405020304" pitchFamily="18" charset="0"/>
              </a:rPr>
              <a:t>可直接随机地对主存进行访问。</a:t>
            </a:r>
            <a:endParaRPr lang="zh-CN" altLang="en-US" dirty="0">
              <a:latin typeface="Times New Roman" panose="02020603050405020304" pitchFamily="18" charset="0"/>
            </a:endParaRPr>
          </a:p>
          <a:p>
            <a:pPr eaLnBrk="1" hangingPunct="1">
              <a:spcBef>
                <a:spcPts val="18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5.2.1 </a:t>
            </a:r>
            <a:r>
              <a:rPr lang="zh-CN" altLang="en-US" dirty="0">
                <a:latin typeface="Times New Roman" panose="02020603050405020304" pitchFamily="18" charset="0"/>
              </a:rPr>
              <a:t>主存储器的基本结构</a:t>
            </a:r>
            <a:endParaRPr lang="zh-CN" altLang="en-US" dirty="0">
              <a:latin typeface="Times New Roman" panose="02020603050405020304" pitchFamily="18" charset="0"/>
              <a:ea typeface="Times New Roman" panose="02020603050405020304" pitchFamily="18" charset="0"/>
            </a:endParaRPr>
          </a:p>
        </p:txBody>
      </p:sp>
      <p:sp>
        <p:nvSpPr>
          <p:cNvPr id="30722" name="内容占位符 2"/>
          <p:cNvSpPr>
            <a:spLocks noGrp="1"/>
          </p:cNvSpPr>
          <p:nvPr>
            <p:ph idx="1"/>
          </p:nvPr>
        </p:nvSpPr>
        <p:spPr>
          <a:xfrm>
            <a:off x="467360" y="1268730"/>
            <a:ext cx="8229600" cy="711200"/>
          </a:xfrm>
          <a:noFill/>
          <a:ln>
            <a:noFill/>
          </a:ln>
        </p:spPr>
        <p:txBody>
          <a:bodyPr anchor="t" anchorCtr="0"/>
          <a:p>
            <a:pPr eaLnBrk="1" hangingPunct="1"/>
            <a:r>
              <a:rPr lang="zh-CN" altLang="en-US" dirty="0">
                <a:solidFill>
                  <a:srgbClr val="FF0000"/>
                </a:solidFill>
                <a:latin typeface="Times New Roman" panose="02020603050405020304" pitchFamily="18" charset="0"/>
              </a:rPr>
              <a:t>存储体</a:t>
            </a:r>
            <a:r>
              <a:rPr lang="zh-CN" altLang="en-US" dirty="0">
                <a:latin typeface="Times New Roman" panose="02020603050405020304" pitchFamily="18" charset="0"/>
              </a:rPr>
              <a:t>、</a:t>
            </a:r>
            <a:r>
              <a:rPr lang="zh-CN" altLang="en-US" dirty="0">
                <a:solidFill>
                  <a:srgbClr val="FF0000"/>
                </a:solidFill>
                <a:latin typeface="Times New Roman" panose="02020603050405020304" pitchFamily="18" charset="0"/>
              </a:rPr>
              <a:t>地址译码驱动电路</a:t>
            </a:r>
            <a:r>
              <a:rPr lang="zh-CN" altLang="en-US" dirty="0">
                <a:latin typeface="Times New Roman" panose="02020603050405020304" pitchFamily="18" charset="0"/>
              </a:rPr>
              <a:t>、</a:t>
            </a:r>
            <a:r>
              <a:rPr lang="en-US" altLang="zh-CN" dirty="0">
                <a:solidFill>
                  <a:srgbClr val="FF0000"/>
                </a:solidFill>
                <a:latin typeface="Times New Roman" panose="02020603050405020304" pitchFamily="18" charset="0"/>
              </a:rPr>
              <a:t>I/O</a:t>
            </a:r>
            <a:r>
              <a:rPr lang="zh-CN" altLang="en-US" dirty="0">
                <a:solidFill>
                  <a:srgbClr val="FF0000"/>
                </a:solidFill>
                <a:latin typeface="Times New Roman" panose="02020603050405020304" pitchFamily="18" charset="0"/>
              </a:rPr>
              <a:t>和读写电路</a:t>
            </a:r>
            <a:r>
              <a:rPr lang="zh-CN" altLang="en-US" dirty="0">
                <a:latin typeface="Times New Roman" panose="02020603050405020304" pitchFamily="18" charset="0"/>
              </a:rPr>
              <a:t>组成。</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graphicFrame>
        <p:nvGraphicFramePr>
          <p:cNvPr id="30723" name="Object 4"/>
          <p:cNvGraphicFramePr>
            <a:graphicFrameLocks noChangeAspect="1"/>
          </p:cNvGraphicFramePr>
          <p:nvPr/>
        </p:nvGraphicFramePr>
        <p:xfrm>
          <a:off x="1691640" y="1844675"/>
          <a:ext cx="5500370" cy="1948180"/>
        </p:xfrm>
        <a:graphic>
          <a:graphicData uri="http://schemas.openxmlformats.org/presentationml/2006/ole">
            <mc:AlternateContent xmlns:mc="http://schemas.openxmlformats.org/markup-compatibility/2006">
              <mc:Choice xmlns:v="urn:schemas-microsoft-com:vml" Requires="v">
                <p:oleObj spid="_x0000_s3084" name="" r:id="rId1" imgW="3423920" imgH="1214120" progId="Visio.Drawing.6">
                  <p:embed/>
                </p:oleObj>
              </mc:Choice>
              <mc:Fallback>
                <p:oleObj name="" r:id="rId1" imgW="3423920" imgH="1214120" progId="Visio.Drawing.6">
                  <p:embed/>
                  <p:pic>
                    <p:nvPicPr>
                      <p:cNvPr id="0" name="图片 3083"/>
                      <p:cNvPicPr/>
                      <p:nvPr/>
                    </p:nvPicPr>
                    <p:blipFill>
                      <a:blip r:embed="rId2"/>
                      <a:stretch>
                        <a:fillRect/>
                      </a:stretch>
                    </p:blipFill>
                    <p:spPr>
                      <a:xfrm>
                        <a:off x="1691640" y="1844675"/>
                        <a:ext cx="5500370" cy="1948180"/>
                      </a:xfrm>
                      <a:prstGeom prst="rect">
                        <a:avLst/>
                      </a:prstGeom>
                      <a:noFill/>
                      <a:ln w="38100">
                        <a:noFill/>
                        <a:miter/>
                      </a:ln>
                    </p:spPr>
                  </p:pic>
                </p:oleObj>
              </mc:Fallback>
            </mc:AlternateContent>
          </a:graphicData>
        </a:graphic>
      </p:graphicFrame>
      <p:pic>
        <p:nvPicPr>
          <p:cNvPr id="2" name="图片 1"/>
          <p:cNvPicPr>
            <a:picLocks noChangeAspect="1"/>
          </p:cNvPicPr>
          <p:nvPr/>
        </p:nvPicPr>
        <p:blipFill>
          <a:blip r:embed="rId3"/>
          <a:stretch>
            <a:fillRect/>
          </a:stretch>
        </p:blipFill>
        <p:spPr>
          <a:xfrm>
            <a:off x="1331595" y="3689985"/>
            <a:ext cx="6469380" cy="28270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5.2.1 </a:t>
            </a:r>
            <a:r>
              <a:rPr lang="zh-CN" altLang="en-US" dirty="0">
                <a:latin typeface="Times New Roman" panose="02020603050405020304" pitchFamily="18" charset="0"/>
              </a:rPr>
              <a:t>主存储器的基本结构（续）</a:t>
            </a:r>
            <a:endParaRPr lang="zh-CN" altLang="en-US" dirty="0">
              <a:latin typeface="Times New Roman" panose="02020603050405020304" pitchFamily="18" charset="0"/>
              <a:ea typeface="Times New Roman" panose="02020603050405020304" pitchFamily="18" charset="0"/>
            </a:endParaRPr>
          </a:p>
        </p:txBody>
      </p:sp>
      <p:sp>
        <p:nvSpPr>
          <p:cNvPr id="31746" name="内容占位符 2"/>
          <p:cNvSpPr>
            <a:spLocks noGrp="1"/>
          </p:cNvSpPr>
          <p:nvPr>
            <p:ph idx="1"/>
          </p:nvPr>
        </p:nvSpPr>
        <p:spPr>
          <a:xfrm>
            <a:off x="457200" y="1562100"/>
            <a:ext cx="8229600" cy="4364038"/>
          </a:xfrm>
          <a:noFill/>
          <a:ln>
            <a:noFill/>
          </a:ln>
        </p:spPr>
        <p:txBody>
          <a:bodyPr anchor="t" anchorCtr="0"/>
          <a:p>
            <a:pPr eaLnBrk="1" hangingPunct="1"/>
            <a:r>
              <a:rPr lang="zh-CN" altLang="en-US" dirty="0">
                <a:solidFill>
                  <a:srgbClr val="FF0000"/>
                </a:solidFill>
                <a:latin typeface="Times New Roman" panose="02020603050405020304" pitchFamily="18" charset="0"/>
              </a:rPr>
              <a:t>存储体：</a:t>
            </a:r>
            <a:r>
              <a:rPr lang="zh-CN" altLang="en-US" dirty="0">
                <a:latin typeface="Times New Roman" panose="02020603050405020304" pitchFamily="18" charset="0"/>
              </a:rPr>
              <a:t>是主存储器的核心：</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存放程序和数据。</a:t>
            </a:r>
            <a:endParaRPr lang="zh-CN" altLang="en-US" sz="2400" dirty="0">
              <a:latin typeface="Times New Roman" panose="02020603050405020304" pitchFamily="18" charset="0"/>
            </a:endParaRPr>
          </a:p>
          <a:p>
            <a:pPr eaLnBrk="1" latinLnBrk="0" hangingPunct="1">
              <a:spcBef>
                <a:spcPts val="1800"/>
              </a:spcBef>
            </a:pPr>
            <a:r>
              <a:rPr lang="zh-CN" altLang="en-US" dirty="0">
                <a:solidFill>
                  <a:srgbClr val="FF0000"/>
                </a:solidFill>
                <a:latin typeface="Times New Roman" panose="02020603050405020304" pitchFamily="18" charset="0"/>
              </a:rPr>
              <a:t>地址译码驱动</a:t>
            </a:r>
            <a:r>
              <a:rPr lang="zh-CN" altLang="en-US" dirty="0">
                <a:latin typeface="Times New Roman" panose="02020603050405020304" pitchFamily="18" charset="0"/>
              </a:rPr>
              <a:t>电路：包含译码器和驱动器两部分。</a:t>
            </a:r>
            <a:endParaRPr lang="en-US" altLang="zh-CN"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译码器：地址线地址码</a:t>
            </a:r>
            <a:r>
              <a:rPr lang="en-US" altLang="zh-CN" sz="2400" dirty="0">
                <a:latin typeface="Times New Roman" panose="02020603050405020304" pitchFamily="18" charset="0"/>
              </a:rPr>
              <a:t>—&gt;</a:t>
            </a:r>
            <a:r>
              <a:rPr lang="zh-CN" altLang="en-US" sz="2400" dirty="0">
                <a:latin typeface="Times New Roman" panose="02020603050405020304" pitchFamily="18" charset="0"/>
              </a:rPr>
              <a:t>译码输出线上的有效电平</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驱动器：提供驱动电流去驱动相应的读写电路。</a:t>
            </a:r>
            <a:endParaRPr lang="zh-CN" altLang="en-US" sz="2400" dirty="0">
              <a:latin typeface="Times New Roman" panose="02020603050405020304" pitchFamily="18" charset="0"/>
            </a:endParaRPr>
          </a:p>
          <a:p>
            <a:pPr eaLnBrk="1" hangingPunct="1">
              <a:spcBef>
                <a:spcPts val="1800"/>
              </a:spcBef>
            </a:pPr>
            <a:r>
              <a:rPr lang="en-US" altLang="zh-CN" dirty="0">
                <a:solidFill>
                  <a:srgbClr val="FF0000"/>
                </a:solidFill>
                <a:latin typeface="Times New Roman" panose="02020603050405020304" pitchFamily="18" charset="0"/>
              </a:rPr>
              <a:t>I/O</a:t>
            </a:r>
            <a:r>
              <a:rPr lang="zh-CN" altLang="en-US" dirty="0">
                <a:solidFill>
                  <a:srgbClr val="FF0000"/>
                </a:solidFill>
                <a:latin typeface="Times New Roman" panose="02020603050405020304" pitchFamily="18" charset="0"/>
              </a:rPr>
              <a:t>和读写</a:t>
            </a:r>
            <a:r>
              <a:rPr lang="zh-CN" altLang="en-US" dirty="0">
                <a:latin typeface="Times New Roman" panose="02020603050405020304" pitchFamily="18" charset="0"/>
              </a:rPr>
              <a:t>电路：读出放大器、写入和读写控制：</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完成被选中存储单元中各位的读出和写入操作。</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5.2.2 </a:t>
            </a:r>
            <a:r>
              <a:rPr lang="zh-CN" altLang="en-US" dirty="0">
                <a:latin typeface="Times New Roman" panose="02020603050405020304" pitchFamily="18" charset="0"/>
              </a:rPr>
              <a:t>主存储器的存储单元 </a:t>
            </a:r>
            <a:endParaRPr lang="zh-CN" altLang="en-US" dirty="0">
              <a:latin typeface="Times New Roman" panose="02020603050405020304" pitchFamily="18" charset="0"/>
            </a:endParaRPr>
          </a:p>
        </p:txBody>
      </p:sp>
      <p:sp>
        <p:nvSpPr>
          <p:cNvPr id="32770" name="内容占位符 2"/>
          <p:cNvSpPr>
            <a:spLocks noGrp="1"/>
          </p:cNvSpPr>
          <p:nvPr>
            <p:ph idx="1"/>
          </p:nvPr>
        </p:nvSpPr>
        <p:spPr>
          <a:xfrm>
            <a:off x="457200" y="1417638"/>
            <a:ext cx="8229600" cy="4964112"/>
          </a:xfrm>
          <a:noFill/>
          <a:ln>
            <a:noFill/>
          </a:ln>
        </p:spPr>
        <p:txBody>
          <a:bodyPr anchor="t" anchorCtr="0"/>
          <a:p>
            <a:pPr eaLnBrk="1" hangingPunct="1">
              <a:spcBef>
                <a:spcPts val="1800"/>
              </a:spcBef>
            </a:pPr>
            <a:r>
              <a:rPr lang="zh-CN" altLang="en-US" dirty="0">
                <a:solidFill>
                  <a:srgbClr val="FF0000"/>
                </a:solidFill>
                <a:latin typeface="Times New Roman" panose="02020603050405020304" pitchFamily="18" charset="0"/>
              </a:rPr>
              <a:t>位</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二进制数的最基本单位，存储器存储信息的最小单位。</a:t>
            </a:r>
            <a:endParaRPr lang="en-US" altLang="zh-CN" sz="2400" dirty="0">
              <a:latin typeface="Times New Roman" panose="02020603050405020304" pitchFamily="18" charset="0"/>
            </a:endParaRPr>
          </a:p>
          <a:p>
            <a:pPr eaLnBrk="1" hangingPunct="1">
              <a:spcBef>
                <a:spcPts val="1800"/>
              </a:spcBef>
            </a:pPr>
            <a:r>
              <a:rPr lang="zh-CN" altLang="en-US" dirty="0">
                <a:solidFill>
                  <a:srgbClr val="FF0000"/>
                </a:solidFill>
                <a:latin typeface="Times New Roman" panose="02020603050405020304" pitchFamily="18" charset="0"/>
              </a:rPr>
              <a:t>存储字：</a:t>
            </a:r>
            <a:endParaRPr lang="en-US" altLang="zh-CN" dirty="0">
              <a:solidFill>
                <a:srgbClr val="FF0000"/>
              </a:solidFill>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作为一个整体存入或取出的二进制数。</a:t>
            </a:r>
            <a:endParaRPr lang="en-US" altLang="zh-CN" sz="2400" dirty="0">
              <a:latin typeface="Times New Roman" panose="02020603050405020304" pitchFamily="18" charset="0"/>
            </a:endParaRPr>
          </a:p>
          <a:p>
            <a:pPr eaLnBrk="1" hangingPunct="1">
              <a:spcBef>
                <a:spcPts val="1800"/>
              </a:spcBef>
            </a:pPr>
            <a:r>
              <a:rPr lang="zh-CN" altLang="en-US" dirty="0">
                <a:solidFill>
                  <a:srgbClr val="FF0000"/>
                </a:solidFill>
                <a:latin typeface="Times New Roman" panose="02020603050405020304" pitchFamily="18" charset="0"/>
              </a:rPr>
              <a:t>存储单元：</a:t>
            </a:r>
            <a:endParaRPr lang="en-US" altLang="zh-CN" dirty="0">
              <a:solidFill>
                <a:srgbClr val="FF0000"/>
              </a:solidFill>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存放存储字或存储字节的主存空间；</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大量存储单元的集合构成</a:t>
            </a:r>
            <a:r>
              <a:rPr lang="zh-CN" altLang="en-US" sz="2400" dirty="0">
                <a:solidFill>
                  <a:srgbClr val="FF0000"/>
                </a:solidFill>
                <a:latin typeface="Times New Roman" panose="02020603050405020304" pitchFamily="18" charset="0"/>
              </a:rPr>
              <a:t>存储体</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eaLnBrk="1" hangingPunct="1">
              <a:spcBef>
                <a:spcPts val="1800"/>
              </a:spcBef>
            </a:pPr>
            <a:r>
              <a:rPr lang="zh-CN" altLang="en-US" dirty="0">
                <a:solidFill>
                  <a:srgbClr val="FF0000"/>
                </a:solidFill>
                <a:latin typeface="Times New Roman" panose="02020603050405020304" pitchFamily="18" charset="0"/>
              </a:rPr>
              <a:t>地址：</a:t>
            </a:r>
            <a:endParaRPr lang="en-US" altLang="zh-CN" dirty="0">
              <a:solidFill>
                <a:srgbClr val="FF0000"/>
              </a:solidFill>
              <a:latin typeface="Times New Roman" panose="02020603050405020304" pitchFamily="18" charset="0"/>
            </a:endParaRPr>
          </a:p>
          <a:p>
            <a:pPr lvl="1" eaLnBrk="1" hangingPunct="1">
              <a:spcBef>
                <a:spcPts val="600"/>
              </a:spcBef>
            </a:pPr>
            <a:r>
              <a:rPr lang="zh-CN" altLang="en-US" sz="2400" dirty="0">
                <a:latin typeface="Times New Roman" panose="02020603050405020304" pitchFamily="18" charset="0"/>
              </a:rPr>
              <a:t>存储单元的编号，和存储单元有一对一对应关系。 </a:t>
            </a:r>
            <a:endParaRPr lang="zh-CN" altLang="en-US" sz="2400"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5.2.2 </a:t>
            </a:r>
            <a:r>
              <a:rPr lang="zh-CN" altLang="en-US" dirty="0">
                <a:latin typeface="Times New Roman" panose="02020603050405020304" pitchFamily="18" charset="0"/>
              </a:rPr>
              <a:t>主存储器的存储单元 （续）</a:t>
            </a:r>
            <a:endParaRPr lang="zh-CN" altLang="en-US" dirty="0">
              <a:latin typeface="Times New Roman" panose="02020603050405020304" pitchFamily="18" charset="0"/>
              <a:ea typeface="Times New Roman" panose="02020603050405020304" pitchFamily="18" charset="0"/>
            </a:endParaRPr>
          </a:p>
        </p:txBody>
      </p:sp>
      <p:sp>
        <p:nvSpPr>
          <p:cNvPr id="33794" name="内容占位符 2"/>
          <p:cNvSpPr>
            <a:spLocks noGrp="1"/>
          </p:cNvSpPr>
          <p:nvPr>
            <p:ph idx="1"/>
          </p:nvPr>
        </p:nvSpPr>
        <p:spPr>
          <a:xfrm>
            <a:off x="457200" y="1417638"/>
            <a:ext cx="8229600" cy="2413000"/>
          </a:xfrm>
          <a:noFill/>
          <a:ln>
            <a:noFill/>
          </a:ln>
        </p:spPr>
        <p:txBody>
          <a:bodyPr anchor="t" anchorCtr="0"/>
          <a:p>
            <a:pPr eaLnBrk="1" hangingPunct="1"/>
            <a:r>
              <a:rPr lang="en-US" altLang="zh-CN" dirty="0">
                <a:latin typeface="Times New Roman" panose="02020603050405020304" pitchFamily="18" charset="0"/>
              </a:rPr>
              <a:t>IBM 370</a:t>
            </a:r>
            <a:r>
              <a:rPr lang="zh-CN" altLang="en-US" dirty="0">
                <a:latin typeface="Times New Roman" panose="02020603050405020304" pitchFamily="18" charset="0"/>
              </a:rPr>
              <a:t>机：</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字长</a:t>
            </a:r>
            <a:r>
              <a:rPr lang="en-US" altLang="zh-CN" sz="2400" dirty="0">
                <a:latin typeface="Times New Roman" panose="02020603050405020304" pitchFamily="18" charset="0"/>
              </a:rPr>
              <a:t>32</a:t>
            </a:r>
            <a:r>
              <a:rPr lang="zh-CN" altLang="en-US" sz="2400" dirty="0">
                <a:latin typeface="Times New Roman" panose="02020603050405020304" pitchFamily="18" charset="0"/>
              </a:rPr>
              <a:t>位，</a:t>
            </a:r>
            <a:r>
              <a:rPr lang="zh-CN" altLang="en-US" sz="2400" dirty="0">
                <a:solidFill>
                  <a:srgbClr val="FF0000"/>
                </a:solidFill>
                <a:latin typeface="Times New Roman" panose="02020603050405020304" pitchFamily="18" charset="0"/>
              </a:rPr>
              <a:t>按字节编址</a:t>
            </a:r>
            <a:r>
              <a:rPr lang="zh-CN" altLang="en-US" sz="2400" dirty="0">
                <a:latin typeface="Times New Roman" panose="02020603050405020304" pitchFamily="18" charset="0"/>
              </a:rPr>
              <a:t>，一个字包含</a:t>
            </a:r>
            <a:r>
              <a:rPr lang="en-US" altLang="zh-CN" sz="2400" dirty="0">
                <a:latin typeface="Times New Roman" panose="02020603050405020304" pitchFamily="18" charset="0"/>
              </a:rPr>
              <a:t>4</a:t>
            </a:r>
            <a:r>
              <a:rPr lang="zh-CN" altLang="en-US" sz="2400" dirty="0">
                <a:latin typeface="Times New Roman" panose="02020603050405020304" pitchFamily="18" charset="0"/>
              </a:rPr>
              <a:t>个单独编址字节</a:t>
            </a:r>
            <a:r>
              <a:rPr lang="zh-CN" altLang="zh-CN" sz="2400" dirty="0">
                <a:latin typeface="Times New Roman" panose="02020603050405020304" pitchFamily="18" charset="0"/>
              </a:rPr>
              <a:t>；</a:t>
            </a:r>
            <a:endParaRPr lang="zh-CN" altLang="zh-CN" sz="2400" dirty="0">
              <a:latin typeface="Times New Roman" panose="02020603050405020304" pitchFamily="18" charset="0"/>
            </a:endParaRPr>
          </a:p>
          <a:p>
            <a:pPr lvl="1" eaLnBrk="1" latinLnBrk="0" hangingPunct="1">
              <a:spcBef>
                <a:spcPts val="1200"/>
              </a:spcBef>
            </a:pPr>
            <a:r>
              <a:rPr lang="zh-CN" altLang="en-US" sz="2400" dirty="0">
                <a:solidFill>
                  <a:srgbClr val="FF0000"/>
                </a:solidFill>
                <a:latin typeface="Times New Roman" panose="02020603050405020304" pitchFamily="18" charset="0"/>
              </a:rPr>
              <a:t>大端方案</a:t>
            </a:r>
            <a:r>
              <a:rPr lang="zh-CN" altLang="en-US" sz="2400" dirty="0">
                <a:latin typeface="Times New Roman" panose="02020603050405020304" pitchFamily="18" charset="0"/>
              </a:rPr>
              <a:t>：即字地址等于最高有效字节地址；</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字地址等于</a:t>
            </a:r>
            <a:r>
              <a:rPr lang="en-US" altLang="zh-CN" sz="2400" dirty="0">
                <a:latin typeface="Times New Roman" panose="02020603050405020304" pitchFamily="18" charset="0"/>
              </a:rPr>
              <a:t>4</a:t>
            </a:r>
            <a:r>
              <a:rPr lang="zh-CN" altLang="en-US" sz="2400" dirty="0">
                <a:latin typeface="Times New Roman" panose="02020603050405020304" pitchFamily="18" charset="0"/>
              </a:rPr>
              <a:t>的整数倍，用地址码的末两位区分字节。</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sp>
        <p:nvSpPr>
          <p:cNvPr id="5" name="Rectangle 3"/>
          <p:cNvSpPr txBox="1">
            <a:spLocks noChangeArrowheads="1"/>
          </p:cNvSpPr>
          <p:nvPr/>
        </p:nvSpPr>
        <p:spPr>
          <a:xfrm>
            <a:off x="3346450" y="5989638"/>
            <a:ext cx="2451100" cy="62547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图5-4(</a:t>
            </a:r>
            <a:r>
              <a:rPr kumimoji="0" lang="en-US" altLang="zh-CN"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a)</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pic>
        <p:nvPicPr>
          <p:cNvPr id="33796" name="图片 5"/>
          <p:cNvPicPr>
            <a:picLocks noChangeAspect="1"/>
          </p:cNvPicPr>
          <p:nvPr/>
        </p:nvPicPr>
        <p:blipFill>
          <a:blip r:embed="rId1"/>
          <a:srcRect t="16473"/>
          <a:stretch>
            <a:fillRect/>
          </a:stretch>
        </p:blipFill>
        <p:spPr>
          <a:xfrm>
            <a:off x="1311275" y="3617913"/>
            <a:ext cx="6521450" cy="237172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5.2.2 </a:t>
            </a:r>
            <a:r>
              <a:rPr lang="zh-CN" altLang="en-US" dirty="0">
                <a:latin typeface="Times New Roman" panose="02020603050405020304" pitchFamily="18" charset="0"/>
              </a:rPr>
              <a:t>主存储器的存储单元 （续）</a:t>
            </a:r>
            <a:endParaRPr lang="zh-CN" altLang="en-US" dirty="0">
              <a:latin typeface="Times New Roman" panose="02020603050405020304" pitchFamily="18" charset="0"/>
              <a:ea typeface="Times New Roman" panose="02020603050405020304" pitchFamily="18" charset="0"/>
            </a:endParaRPr>
          </a:p>
        </p:txBody>
      </p:sp>
      <p:sp>
        <p:nvSpPr>
          <p:cNvPr id="34818" name="内容占位符 2"/>
          <p:cNvSpPr>
            <a:spLocks noGrp="1"/>
          </p:cNvSpPr>
          <p:nvPr>
            <p:ph idx="1"/>
          </p:nvPr>
        </p:nvSpPr>
        <p:spPr>
          <a:xfrm>
            <a:off x="463550" y="1316038"/>
            <a:ext cx="8229600" cy="2544762"/>
          </a:xfrm>
          <a:noFill/>
          <a:ln>
            <a:noFill/>
          </a:ln>
        </p:spPr>
        <p:txBody>
          <a:bodyPr anchor="t" anchorCtr="0"/>
          <a:p>
            <a:pPr eaLnBrk="1" hangingPunct="1"/>
            <a:r>
              <a:rPr lang="en-US" altLang="zh-CN" dirty="0">
                <a:latin typeface="Times New Roman" panose="02020603050405020304" pitchFamily="18" charset="0"/>
              </a:rPr>
              <a:t>PDP-11</a:t>
            </a:r>
            <a:r>
              <a:rPr lang="zh-CN" altLang="en-US" dirty="0">
                <a:latin typeface="Times New Roman" panose="02020603050405020304" pitchFamily="18" charset="0"/>
              </a:rPr>
              <a:t>机：</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字长</a:t>
            </a:r>
            <a:r>
              <a:rPr lang="en-US" altLang="zh-CN" sz="2400" dirty="0">
                <a:latin typeface="Times New Roman" panose="02020603050405020304" pitchFamily="18" charset="0"/>
              </a:rPr>
              <a:t>16</a:t>
            </a:r>
            <a:r>
              <a:rPr lang="zh-CN" altLang="en-US" sz="2400" dirty="0">
                <a:latin typeface="Times New Roman" panose="02020603050405020304" pitchFamily="18" charset="0"/>
              </a:rPr>
              <a:t>位，</a:t>
            </a:r>
            <a:r>
              <a:rPr lang="zh-CN" altLang="en-US" sz="2400" dirty="0">
                <a:solidFill>
                  <a:srgbClr val="FF0000"/>
                </a:solidFill>
                <a:latin typeface="Times New Roman" panose="02020603050405020304" pitchFamily="18" charset="0"/>
              </a:rPr>
              <a:t>按字节编址</a:t>
            </a:r>
            <a:r>
              <a:rPr lang="zh-CN" altLang="en-US" sz="2400" dirty="0">
                <a:latin typeface="Times New Roman" panose="02020603050405020304" pitchFamily="18" charset="0"/>
              </a:rPr>
              <a:t>，一个字包含</a:t>
            </a:r>
            <a:r>
              <a:rPr lang="en-US" altLang="zh-CN" sz="2400" dirty="0">
                <a:latin typeface="Times New Roman" panose="02020603050405020304" pitchFamily="18" charset="0"/>
              </a:rPr>
              <a:t>2</a:t>
            </a:r>
            <a:r>
              <a:rPr lang="zh-CN" altLang="en-US" sz="2400" dirty="0">
                <a:latin typeface="Times New Roman" panose="02020603050405020304" pitchFamily="18" charset="0"/>
              </a:rPr>
              <a:t>个单独编址字节；</a:t>
            </a:r>
            <a:endParaRPr lang="zh-CN" altLang="en-US" sz="2400" dirty="0">
              <a:latin typeface="Times New Roman" panose="02020603050405020304" pitchFamily="18" charset="0"/>
            </a:endParaRPr>
          </a:p>
          <a:p>
            <a:pPr lvl="1" eaLnBrk="1" latinLnBrk="0" hangingPunct="1">
              <a:spcBef>
                <a:spcPts val="1200"/>
              </a:spcBef>
            </a:pPr>
            <a:r>
              <a:rPr lang="zh-CN" altLang="en-US" sz="2400" dirty="0">
                <a:solidFill>
                  <a:srgbClr val="FF0000"/>
                </a:solidFill>
                <a:latin typeface="Times New Roman" panose="02020603050405020304" pitchFamily="18" charset="0"/>
              </a:rPr>
              <a:t>小端方案</a:t>
            </a:r>
            <a:r>
              <a:rPr lang="zh-CN" altLang="en-US" sz="2400" dirty="0">
                <a:latin typeface="Times New Roman" panose="02020603050405020304" pitchFamily="18" charset="0"/>
              </a:rPr>
              <a:t>：即字地址等于最低有效字节地址；</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字地址等于</a:t>
            </a:r>
            <a:r>
              <a:rPr lang="en-US" altLang="zh-CN" sz="2400" dirty="0">
                <a:latin typeface="Times New Roman" panose="02020603050405020304" pitchFamily="18" charset="0"/>
              </a:rPr>
              <a:t>2</a:t>
            </a:r>
            <a:r>
              <a:rPr lang="zh-CN" altLang="en-US" sz="2400" dirty="0">
                <a:latin typeface="Times New Roman" panose="02020603050405020304" pitchFamily="18" charset="0"/>
              </a:rPr>
              <a:t>的整数倍，用地址码最末</a:t>
            </a:r>
            <a:r>
              <a:rPr lang="en-US" altLang="zh-CN" sz="2400" dirty="0">
                <a:latin typeface="Times New Roman" panose="02020603050405020304" pitchFamily="18" charset="0"/>
              </a:rPr>
              <a:t>1</a:t>
            </a:r>
            <a:r>
              <a:rPr lang="zh-CN" altLang="en-US" sz="2400" dirty="0">
                <a:latin typeface="Times New Roman" panose="02020603050405020304" pitchFamily="18" charset="0"/>
              </a:rPr>
              <a:t>位来区分字节。</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pic>
        <p:nvPicPr>
          <p:cNvPr id="34819" name="图片 3"/>
          <p:cNvPicPr>
            <a:picLocks noChangeAspect="1"/>
          </p:cNvPicPr>
          <p:nvPr/>
        </p:nvPicPr>
        <p:blipFill>
          <a:blip r:embed="rId1"/>
          <a:srcRect t="17111"/>
          <a:stretch>
            <a:fillRect/>
          </a:stretch>
        </p:blipFill>
        <p:spPr>
          <a:xfrm>
            <a:off x="2582863" y="3457575"/>
            <a:ext cx="3657600" cy="2441575"/>
          </a:xfrm>
          <a:prstGeom prst="rect">
            <a:avLst/>
          </a:prstGeom>
          <a:noFill/>
          <a:ln w="9525">
            <a:noFill/>
          </a:ln>
        </p:spPr>
      </p:pic>
      <p:sp>
        <p:nvSpPr>
          <p:cNvPr id="5" name="Rectangle 3"/>
          <p:cNvSpPr txBox="1">
            <a:spLocks noChangeArrowheads="1"/>
          </p:cNvSpPr>
          <p:nvPr/>
        </p:nvSpPr>
        <p:spPr>
          <a:xfrm>
            <a:off x="2957513" y="5980113"/>
            <a:ext cx="3241675" cy="50482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9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图5-4 (</a:t>
            </a:r>
            <a:r>
              <a:rPr kumimoji="0" lang="en-US" altLang="zh-CN"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b)</a:t>
            </a:r>
            <a:r>
              <a:rPr kumimoji="0" lang="en-US" altLang="zh-CN"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 </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5.2.3 </a:t>
            </a:r>
            <a:r>
              <a:rPr lang="zh-CN" altLang="en-US" dirty="0">
                <a:latin typeface="Times New Roman" panose="02020603050405020304" pitchFamily="18" charset="0"/>
              </a:rPr>
              <a:t>主存储器的主要技术指标 </a:t>
            </a:r>
            <a:endParaRPr lang="zh-CN" altLang="en-US" dirty="0">
              <a:latin typeface="Times New Roman" panose="02020603050405020304" pitchFamily="18" charset="0"/>
              <a:ea typeface="Times New Roman" panose="02020603050405020304" pitchFamily="18" charset="0"/>
            </a:endParaRPr>
          </a:p>
        </p:txBody>
      </p:sp>
      <p:sp>
        <p:nvSpPr>
          <p:cNvPr id="35842" name="内容占位符 2"/>
          <p:cNvSpPr>
            <a:spLocks noGrp="1"/>
          </p:cNvSpPr>
          <p:nvPr>
            <p:ph idx="1"/>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存储容量</a:t>
            </a:r>
            <a:endParaRPr lang="zh-CN" altLang="en-US" dirty="0">
              <a:latin typeface="Times New Roman" panose="02020603050405020304" pitchFamily="18" charset="0"/>
            </a:endParaRPr>
          </a:p>
          <a:p>
            <a:pPr lvl="1" eaLnBrk="1" latinLnBrk="0" hangingPunct="1">
              <a:spcBef>
                <a:spcPts val="1200"/>
              </a:spcBef>
            </a:pPr>
            <a:r>
              <a:rPr lang="zh-CN" altLang="en-US" sz="2400" dirty="0">
                <a:solidFill>
                  <a:srgbClr val="FF0000"/>
                </a:solidFill>
                <a:latin typeface="Times New Roman" panose="02020603050405020304" pitchFamily="18" charset="0"/>
              </a:rPr>
              <a:t>字节编址</a:t>
            </a:r>
            <a:r>
              <a:rPr lang="zh-CN" altLang="en-US" sz="2400" dirty="0">
                <a:latin typeface="Times New Roman" panose="02020603050405020304" pitchFamily="18" charset="0"/>
              </a:rPr>
              <a:t>：以字节数来表示存储容量；</a:t>
            </a:r>
            <a:endParaRPr lang="en-US" altLang="zh-CN" sz="2400" dirty="0">
              <a:latin typeface="Times New Roman" panose="02020603050405020304" pitchFamily="18" charset="0"/>
            </a:endParaRPr>
          </a:p>
          <a:p>
            <a:pPr lvl="1" eaLnBrk="1" latinLnBrk="0" hangingPunct="1">
              <a:spcBef>
                <a:spcPts val="1200"/>
              </a:spcBef>
            </a:pPr>
            <a:r>
              <a:rPr lang="zh-CN" altLang="en-US" sz="2400" dirty="0">
                <a:solidFill>
                  <a:srgbClr val="FF0000"/>
                </a:solidFill>
                <a:latin typeface="Times New Roman" panose="02020603050405020304" pitchFamily="18" charset="0"/>
              </a:rPr>
              <a:t>字编址</a:t>
            </a:r>
            <a:r>
              <a:rPr lang="zh-CN" altLang="en-US" sz="2400" dirty="0">
                <a:latin typeface="Times New Roman" panose="02020603050405020304" pitchFamily="18" charset="0"/>
              </a:rPr>
              <a:t>：以字数与其字长的乘积来表示存储容量。</a:t>
            </a:r>
            <a:endParaRPr lang="en-US" altLang="zh-CN" sz="2400"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例如：某机的主存容量为</a:t>
            </a:r>
            <a:r>
              <a:rPr lang="en-US" altLang="zh-CN" dirty="0">
                <a:latin typeface="Times New Roman" panose="02020603050405020304" pitchFamily="18" charset="0"/>
              </a:rPr>
              <a:t>64K×16</a:t>
            </a:r>
            <a:r>
              <a:rPr lang="zh-CN" altLang="en-US" dirty="0">
                <a:latin typeface="Times New Roman" panose="02020603050405020304" pitchFamily="18" charset="0"/>
              </a:rPr>
              <a:t>，表示</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有</a:t>
            </a:r>
            <a:r>
              <a:rPr lang="en-US" altLang="zh-CN" dirty="0">
                <a:latin typeface="Times New Roman" panose="02020603050405020304" pitchFamily="18" charset="0"/>
              </a:rPr>
              <a:t>64K</a:t>
            </a:r>
            <a:r>
              <a:rPr lang="zh-CN" altLang="en-US" dirty="0">
                <a:latin typeface="Times New Roman" panose="02020603050405020304" pitchFamily="18" charset="0"/>
              </a:rPr>
              <a:t>个存储单元；</a:t>
            </a:r>
            <a:endParaRPr lang="en-US" altLang="zh-CN" dirty="0">
              <a:latin typeface="Times New Roman" panose="02020603050405020304" pitchFamily="18" charset="0"/>
            </a:endParaRPr>
          </a:p>
          <a:p>
            <a:pPr lvl="2" eaLnBrk="1" hangingPunct="1">
              <a:spcBef>
                <a:spcPts val="1200"/>
              </a:spcBef>
            </a:pPr>
            <a:r>
              <a:rPr lang="zh-CN" altLang="en-US" dirty="0">
                <a:latin typeface="Times New Roman" panose="02020603050405020304" pitchFamily="18" charset="0"/>
              </a:rPr>
              <a:t>每个存储单元的字长为</a:t>
            </a:r>
            <a:r>
              <a:rPr lang="en-US" altLang="zh-CN" dirty="0">
                <a:latin typeface="Times New Roman" panose="02020603050405020304" pitchFamily="18" charset="0"/>
              </a:rPr>
              <a:t>16</a:t>
            </a:r>
            <a:r>
              <a:rPr lang="zh-CN" altLang="en-US" dirty="0">
                <a:latin typeface="Times New Roman" panose="02020603050405020304" pitchFamily="18" charset="0"/>
              </a:rPr>
              <a:t>位；</a:t>
            </a:r>
            <a:endParaRPr lang="en-US" altLang="zh-CN" dirty="0">
              <a:latin typeface="Times New Roman" panose="02020603050405020304" pitchFamily="18" charset="0"/>
            </a:endParaRPr>
          </a:p>
          <a:p>
            <a:pPr lvl="2" eaLnBrk="1" hangingPunct="1">
              <a:spcBef>
                <a:spcPts val="1200"/>
              </a:spcBef>
            </a:pPr>
            <a:r>
              <a:rPr lang="zh-CN" altLang="en-US" dirty="0">
                <a:latin typeface="Times New Roman" panose="02020603050405020304" pitchFamily="18" charset="0"/>
              </a:rPr>
              <a:t>改用字节数表示，则可记为</a:t>
            </a:r>
            <a:r>
              <a:rPr lang="en-US" altLang="zh-CN" dirty="0">
                <a:latin typeface="Times New Roman" panose="02020603050405020304" pitchFamily="18" charset="0"/>
              </a:rPr>
              <a:t>128K</a:t>
            </a:r>
            <a:r>
              <a:rPr lang="zh-CN" altLang="en-US" dirty="0">
                <a:latin typeface="Times New Roman" panose="02020603050405020304" pitchFamily="18" charset="0"/>
              </a:rPr>
              <a:t>字节（</a:t>
            </a:r>
            <a:r>
              <a:rPr lang="en-US" altLang="zh-CN" dirty="0">
                <a:latin typeface="Times New Roman" panose="02020603050405020304" pitchFamily="18" charset="0"/>
              </a:rPr>
              <a:t>128KB</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存取速度</a:t>
            </a:r>
            <a:endParaRPr lang="zh-CN" altLang="en-US" dirty="0">
              <a:latin typeface="Times New Roman" panose="02020603050405020304" pitchFamily="18" charset="0"/>
            </a:endParaRPr>
          </a:p>
        </p:txBody>
      </p:sp>
      <p:sp>
        <p:nvSpPr>
          <p:cNvPr id="36867" name="内容占位符 2"/>
          <p:cNvSpPr>
            <a:spLocks noGrp="1"/>
          </p:cNvSpPr>
          <p:nvPr>
            <p:ph idx="1"/>
          </p:nvPr>
        </p:nvSpPr>
        <p:spPr>
          <a:xfrm>
            <a:off x="457200" y="1419225"/>
            <a:ext cx="8229600" cy="4673600"/>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⑴ 存取时间</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Ta</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又称为访问时间或读写时间；</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从启动一次存储器操作到完成该操作所经历的时间</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33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读出时间：</a:t>
            </a:r>
            <a:endParaRPr kumimoji="0" lang="zh-CN" altLang="en-US" sz="233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从</a:t>
            </a:r>
            <a:r>
              <a:rPr kumimoji="0" lang="en-US" altLang="zh-CN"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CPU</a:t>
            </a: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向主存发出有效地址和读命令开始；</a:t>
            </a:r>
            <a:endPar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到将被选单元的内容读出为止；</a:t>
            </a:r>
            <a:endParaRPr kumimoji="0" lang="en-US" altLang="zh-CN"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33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写入时间：</a:t>
            </a:r>
            <a:endParaRPr kumimoji="0" lang="zh-CN" altLang="en-US" sz="233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从</a:t>
            </a:r>
            <a:r>
              <a:rPr kumimoji="0" lang="en-US" altLang="zh-CN"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CPU</a:t>
            </a: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向主存发出有效地址和写命令开始；</a:t>
            </a:r>
            <a:endPar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到信息写入被选中单元为止。</a:t>
            </a:r>
            <a:endParaRPr kumimoji="0" lang="en-US" altLang="zh-CN" sz="199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Ta</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越小，存取速度越快。</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存取速度（续）</a:t>
            </a:r>
            <a:endParaRPr lang="zh-CN" altLang="en-US" dirty="0">
              <a:latin typeface="Times New Roman" panose="02020603050405020304" pitchFamily="18" charset="0"/>
            </a:endParaRPr>
          </a:p>
        </p:txBody>
      </p:sp>
      <p:sp>
        <p:nvSpPr>
          <p:cNvPr id="37891" name="内容占位符 2"/>
          <p:cNvSpPr>
            <a:spLocks noGrp="1"/>
          </p:cNvSpPr>
          <p:nvPr>
            <p:ph idx="1"/>
          </p:nvPr>
        </p:nvSpPr>
        <p:spPr>
          <a:xfrm>
            <a:off x="457200" y="1193800"/>
            <a:ext cx="8229600" cy="5321300"/>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⑵ 存取周期</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Tm</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又称作读写周期、访内周期</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连续两次访问存储器操作之间所需要的最短时间</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Tm</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Ta</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：读写操作后，恢复内部状态的</a:t>
            </a:r>
            <a:r>
              <a:rPr kumimoji="0" lang="zh-CN" altLang="en-US" sz="20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复原时间</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破坏性读出的</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RAM</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Tm&gt;</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Ta</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重写（再生）。</a:t>
            </a:r>
            <a:endPar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sym typeface="+mn-ea"/>
              </a:rPr>
              <a:t>⑶ 主存带宽Bm</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又称为数据传输率，</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每秒从主存进出信息的最大数量</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单位为字每秒或字节每秒或位每秒；</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与主存的等效</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工作频率</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及</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主存位宽</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有关系：</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         </a:t>
            </a:r>
            <a:r>
              <a:rPr kumimoji="0" lang="en-US" altLang="zh-CN" sz="20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Bm</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主存等效工作频率</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r>
              <a:rPr kumimoji="0" lang="zh-CN" altLang="en-US"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主存位宽</a:t>
            </a:r>
            <a:r>
              <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÷8</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endParaRPr kumimoji="0" lang="zh-CN" altLang="en-US" sz="2400"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5.2.3 </a:t>
            </a:r>
            <a:r>
              <a:rPr lang="zh-CN" altLang="en-US" dirty="0">
                <a:latin typeface="Times New Roman" panose="02020603050405020304" pitchFamily="18" charset="0"/>
              </a:rPr>
              <a:t>主存储器的主要技术指标 </a:t>
            </a:r>
            <a:endParaRPr lang="zh-CN" altLang="en-US" dirty="0">
              <a:latin typeface="Times New Roman" panose="02020603050405020304" pitchFamily="18" charset="0"/>
              <a:ea typeface="Times New Roman" panose="02020603050405020304" pitchFamily="18" charset="0"/>
            </a:endParaRPr>
          </a:p>
        </p:txBody>
      </p:sp>
      <p:sp>
        <p:nvSpPr>
          <p:cNvPr id="38914" name="内容占位符 2"/>
          <p:cNvSpPr>
            <a:spLocks noGrp="1"/>
          </p:cNvSpPr>
          <p:nvPr>
            <p:ph idx="1"/>
          </p:nvPr>
        </p:nvSpPr>
        <p:spPr>
          <a:xfrm>
            <a:off x="457200" y="1417638"/>
            <a:ext cx="8229600" cy="4964112"/>
          </a:xfrm>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可靠性</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在规定的时间内，存储器无故障读写的概率；</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通常用平均无故障时间</a:t>
            </a:r>
            <a:r>
              <a:rPr lang="en-US" altLang="zh-CN" sz="2400" dirty="0">
                <a:solidFill>
                  <a:srgbClr val="FF0000"/>
                </a:solidFill>
                <a:latin typeface="Times New Roman" panose="02020603050405020304" pitchFamily="18" charset="0"/>
              </a:rPr>
              <a:t>MTBF</a:t>
            </a:r>
            <a:r>
              <a:rPr lang="zh-CN" altLang="en-US" sz="2400" dirty="0">
                <a:latin typeface="Times New Roman" panose="02020603050405020304" pitchFamily="18" charset="0"/>
              </a:rPr>
              <a:t>来衡量可靠性。</a:t>
            </a:r>
            <a:endParaRPr lang="zh-CN" altLang="en-US" sz="2400" dirty="0">
              <a:latin typeface="Times New Roman" panose="02020603050405020304" pitchFamily="18" charset="0"/>
            </a:endParaRPr>
          </a:p>
          <a:p>
            <a:pPr eaLnBrk="1" latinLnBrk="0" hangingPunct="1">
              <a:spcBef>
                <a:spcPts val="1800"/>
              </a:spcBef>
            </a:pPr>
            <a:r>
              <a:rPr lang="zh-CN" altLang="en-US" dirty="0">
                <a:latin typeface="Times New Roman" panose="02020603050405020304" pitchFamily="18" charset="0"/>
              </a:rPr>
              <a:t> </a:t>
            </a:r>
            <a:r>
              <a:rPr lang="en-US" altLang="zh-CN" dirty="0">
                <a:latin typeface="Times New Roman" panose="02020603050405020304" pitchFamily="18" charset="0"/>
              </a:rPr>
              <a:t>4.</a:t>
            </a:r>
            <a:r>
              <a:rPr lang="zh-CN" altLang="en-US" dirty="0">
                <a:latin typeface="Times New Roman" panose="02020603050405020304" pitchFamily="18" charset="0"/>
              </a:rPr>
              <a:t>功耗</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反映存储器件耗电的多少，也反映其发热的程度；</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通常希望功耗要小；</a:t>
            </a:r>
            <a:endParaRPr lang="en-US" altLang="zh-CN" sz="2400" dirty="0">
              <a:latin typeface="Times New Roman" panose="02020603050405020304" pitchFamily="18" charset="0"/>
            </a:endParaRPr>
          </a:p>
          <a:p>
            <a:pPr lvl="1" eaLnBrk="1" latinLnBrk="0" hangingPunct="1">
              <a:spcBef>
                <a:spcPts val="1200"/>
              </a:spcBef>
            </a:pPr>
            <a:r>
              <a:rPr lang="zh-CN" altLang="en-US" sz="2400" dirty="0">
                <a:solidFill>
                  <a:srgbClr val="FF0000"/>
                </a:solidFill>
                <a:latin typeface="Times New Roman" panose="02020603050405020304" pitchFamily="18" charset="0"/>
              </a:rPr>
              <a:t>工作功耗</a:t>
            </a:r>
            <a:r>
              <a:rPr lang="zh-CN" altLang="en-US" sz="2400" dirty="0">
                <a:latin typeface="Times New Roman" panose="02020603050405020304" pitchFamily="18" charset="0"/>
              </a:rPr>
              <a:t>与</a:t>
            </a:r>
            <a:r>
              <a:rPr lang="zh-CN" altLang="en-US" sz="2400" dirty="0">
                <a:solidFill>
                  <a:srgbClr val="FF0000"/>
                </a:solidFill>
                <a:latin typeface="Times New Roman" panose="02020603050405020304" pitchFamily="18" charset="0"/>
              </a:rPr>
              <a:t>维持功耗</a:t>
            </a:r>
            <a:r>
              <a:rPr lang="zh-CN" altLang="en-US" sz="2400" dirty="0">
                <a:latin typeface="Times New Roman" panose="02020603050405020304" pitchFamily="18" charset="0"/>
              </a:rPr>
              <a:t>不同，后者大大地小于前者。 </a:t>
            </a:r>
            <a:endParaRPr lang="zh-CN" altLang="en-US" sz="2400"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5.2.4 </a:t>
            </a:r>
            <a:r>
              <a:rPr lang="zh-CN" altLang="en-US" dirty="0">
                <a:latin typeface="Times New Roman" panose="02020603050405020304" pitchFamily="18" charset="0"/>
              </a:rPr>
              <a:t>数据在主存中的存放 </a:t>
            </a:r>
            <a:endParaRPr lang="zh-CN" altLang="en-US" dirty="0">
              <a:latin typeface="Times New Roman" panose="02020603050405020304" pitchFamily="18" charset="0"/>
              <a:ea typeface="Times New Roman" panose="02020603050405020304" pitchFamily="18" charset="0"/>
            </a:endParaRPr>
          </a:p>
        </p:txBody>
      </p:sp>
      <p:sp>
        <p:nvSpPr>
          <p:cNvPr id="40963" name="内容占位符 2"/>
          <p:cNvSpPr>
            <a:spLocks noGrp="1"/>
          </p:cNvSpPr>
          <p:nvPr>
            <p:ph idx="1"/>
          </p:nvPr>
        </p:nvSpPr>
        <p:spPr>
          <a:xfrm>
            <a:off x="457200" y="1341438"/>
            <a:ext cx="8229600" cy="2725738"/>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采用字节编址</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，数据存放的几</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种</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不同</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方法。</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设</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存储字长</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64</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个字节）；</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一个存取周期最多能够从主存读或写</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64</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位数据；</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读写</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数据不同长度：</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字节</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(8</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、半字</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(16</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、单字</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和双字</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(64</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pic>
        <p:nvPicPr>
          <p:cNvPr id="39939" name="图片 12"/>
          <p:cNvPicPr>
            <a:picLocks noChangeAspect="1"/>
          </p:cNvPicPr>
          <p:nvPr/>
        </p:nvPicPr>
        <p:blipFill>
          <a:blip r:embed="rId1"/>
          <a:stretch>
            <a:fillRect/>
          </a:stretch>
        </p:blipFill>
        <p:spPr>
          <a:xfrm>
            <a:off x="838200" y="4160838"/>
            <a:ext cx="7681913" cy="1871662"/>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不浪费存储器资源的存放方法</a:t>
            </a:r>
            <a:endParaRPr lang="zh-CN" altLang="en-US" dirty="0">
              <a:latin typeface="Times New Roman" panose="02020603050405020304" pitchFamily="18" charset="0"/>
            </a:endParaRPr>
          </a:p>
        </p:txBody>
      </p:sp>
      <p:sp>
        <p:nvSpPr>
          <p:cNvPr id="40962" name="内容占位符 2"/>
          <p:cNvSpPr>
            <a:spLocks noGrp="1"/>
          </p:cNvSpPr>
          <p:nvPr>
            <p:ph idx="1"/>
          </p:nvPr>
        </p:nvSpPr>
        <p:spPr>
          <a:xfrm>
            <a:off x="457200" y="1417638"/>
            <a:ext cx="8229600" cy="2962275"/>
          </a:xfrm>
          <a:noFill/>
          <a:ln>
            <a:noFill/>
          </a:ln>
        </p:spPr>
        <p:txBody>
          <a:bodyPr anchor="t" anchorCtr="0"/>
          <a:p>
            <a:pPr eaLnBrk="1" hangingPunct="1"/>
            <a:r>
              <a:rPr lang="zh-CN" altLang="en-US" dirty="0">
                <a:latin typeface="Times New Roman" panose="02020603050405020304" pitchFamily="18" charset="0"/>
              </a:rPr>
              <a:t>假定现有数据：</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字节、半字、双字、单字、半字、单字、字节、单字；</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依次一个接一个存放；</a:t>
            </a:r>
            <a:endParaRPr lang="en-US" altLang="zh-CN" sz="2400" dirty="0">
              <a:latin typeface="Times New Roman" panose="02020603050405020304" pitchFamily="18" charset="0"/>
            </a:endParaRPr>
          </a:p>
          <a:p>
            <a:pPr lvl="2" eaLnBrk="1" latinLnBrk="0" hangingPunct="1">
              <a:spcBef>
                <a:spcPts val="1200"/>
              </a:spcBef>
            </a:pPr>
            <a:r>
              <a:rPr lang="zh-CN" altLang="en-US" sz="2055" dirty="0">
                <a:latin typeface="Times New Roman" panose="02020603050405020304" pitchFamily="18" charset="0"/>
              </a:rPr>
              <a:t>优点：不浪费主存资源；</a:t>
            </a:r>
            <a:endParaRPr lang="en-US" altLang="zh-CN" sz="2055" dirty="0">
              <a:latin typeface="Times New Roman" panose="02020603050405020304" pitchFamily="18" charset="0"/>
            </a:endParaRPr>
          </a:p>
          <a:p>
            <a:pPr lvl="2" eaLnBrk="1" latinLnBrk="0" hangingPunct="1">
              <a:spcBef>
                <a:spcPts val="1200"/>
              </a:spcBef>
            </a:pPr>
            <a:r>
              <a:rPr lang="zh-CN" altLang="en-US" sz="2055" dirty="0">
                <a:latin typeface="Times New Roman" panose="02020603050405020304" pitchFamily="18" charset="0"/>
              </a:rPr>
              <a:t>问题：数据</a:t>
            </a:r>
            <a:r>
              <a:rPr lang="zh-CN" altLang="en-US" sz="2055" dirty="0">
                <a:solidFill>
                  <a:srgbClr val="FF0000"/>
                </a:solidFill>
                <a:latin typeface="Times New Roman" panose="02020603050405020304" pitchFamily="18" charset="0"/>
              </a:rPr>
              <a:t>跨越</a:t>
            </a:r>
            <a:r>
              <a:rPr lang="zh-CN" altLang="en-US" sz="2055" dirty="0">
                <a:latin typeface="Times New Roman" panose="02020603050405020304" pitchFamily="18" charset="0"/>
              </a:rPr>
              <a:t>存储单元时，速度降低，控制复杂。</a:t>
            </a:r>
            <a:endParaRPr lang="zh-CN" altLang="en-US" sz="2055" dirty="0">
              <a:latin typeface="Times New Roman" panose="02020603050405020304" pitchFamily="18" charset="0"/>
            </a:endParaRPr>
          </a:p>
        </p:txBody>
      </p:sp>
      <p:pic>
        <p:nvPicPr>
          <p:cNvPr id="40963" name="图片 3"/>
          <p:cNvPicPr>
            <a:picLocks noChangeAspect="1"/>
          </p:cNvPicPr>
          <p:nvPr/>
        </p:nvPicPr>
        <p:blipFill>
          <a:blip r:embed="rId1"/>
          <a:stretch>
            <a:fillRect/>
          </a:stretch>
        </p:blipFill>
        <p:spPr>
          <a:xfrm>
            <a:off x="1038225" y="4249738"/>
            <a:ext cx="7350125" cy="211455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从存储字的起始位置开始存放的方法</a:t>
            </a:r>
            <a:endParaRPr lang="zh-CN" altLang="en-US" dirty="0">
              <a:latin typeface="Times New Roman" panose="02020603050405020304" pitchFamily="18" charset="0"/>
            </a:endParaRPr>
          </a:p>
        </p:txBody>
      </p:sp>
      <p:sp>
        <p:nvSpPr>
          <p:cNvPr id="41986" name="内容占位符 2"/>
          <p:cNvSpPr>
            <a:spLocks noGrp="1"/>
          </p:cNvSpPr>
          <p:nvPr>
            <p:ph idx="1"/>
          </p:nvPr>
        </p:nvSpPr>
        <p:spPr>
          <a:xfrm>
            <a:off x="471488" y="1385888"/>
            <a:ext cx="8229600" cy="1671637"/>
          </a:xfrm>
          <a:noFill/>
          <a:ln>
            <a:noFill/>
          </a:ln>
        </p:spPr>
        <p:txBody>
          <a:bodyPr anchor="t" anchorCtr="0"/>
          <a:p>
            <a:pPr eaLnBrk="1" hangingPunct="1"/>
            <a:r>
              <a:rPr lang="zh-CN" altLang="en-US" dirty="0">
                <a:latin typeface="Times New Roman" panose="02020603050405020304" pitchFamily="18" charset="0"/>
              </a:rPr>
              <a:t>必须从存储字的</a:t>
            </a:r>
            <a:r>
              <a:rPr lang="zh-CN" altLang="en-US" dirty="0">
                <a:solidFill>
                  <a:srgbClr val="FF0000"/>
                </a:solidFill>
                <a:latin typeface="Times New Roman" panose="02020603050405020304" pitchFamily="18" charset="0"/>
              </a:rPr>
              <a:t>起始位置</a:t>
            </a:r>
            <a:r>
              <a:rPr lang="zh-CN" altLang="en-US" dirty="0">
                <a:latin typeface="Times New Roman" panose="02020603050405020304" pitchFamily="18" charset="0"/>
              </a:rPr>
              <a:t>开始存放。</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优点：访问在一个存储周期内完成，控制简单；</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缺点：浪费存储器资源。</a:t>
            </a:r>
            <a:endParaRPr lang="zh-CN" altLang="en-US" sz="2400" dirty="0">
              <a:latin typeface="Times New Roman" panose="02020603050405020304" pitchFamily="18" charset="0"/>
            </a:endParaRPr>
          </a:p>
          <a:p>
            <a:pPr lvl="1" eaLnBrk="1" hangingPunct="1"/>
            <a:endParaRPr lang="zh-CN" altLang="en-US" sz="2400" dirty="0">
              <a:latin typeface="Times New Roman" panose="02020603050405020304" pitchFamily="18" charset="0"/>
            </a:endParaRPr>
          </a:p>
        </p:txBody>
      </p:sp>
      <p:pic>
        <p:nvPicPr>
          <p:cNvPr id="41987" name="图片 3"/>
          <p:cNvPicPr>
            <a:picLocks noChangeAspect="1"/>
          </p:cNvPicPr>
          <p:nvPr/>
        </p:nvPicPr>
        <p:blipFill>
          <a:blip r:embed="rId1"/>
          <a:stretch>
            <a:fillRect/>
          </a:stretch>
        </p:blipFill>
        <p:spPr>
          <a:xfrm>
            <a:off x="1150938" y="3057525"/>
            <a:ext cx="6878637" cy="339725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边界对齐的数据存放方法 </a:t>
            </a:r>
            <a:endParaRPr lang="zh-CN" altLang="en-US" dirty="0">
              <a:latin typeface="Times New Roman" panose="02020603050405020304" pitchFamily="18" charset="0"/>
              <a:ea typeface="Times New Roman" panose="02020603050405020304" pitchFamily="18" charset="0"/>
            </a:endParaRPr>
          </a:p>
        </p:txBody>
      </p:sp>
      <p:sp>
        <p:nvSpPr>
          <p:cNvPr id="43010" name="内容占位符 2"/>
          <p:cNvSpPr>
            <a:spLocks noGrp="1"/>
          </p:cNvSpPr>
          <p:nvPr>
            <p:ph idx="1"/>
          </p:nvPr>
        </p:nvSpPr>
        <p:spPr>
          <a:xfrm>
            <a:off x="463550" y="1274763"/>
            <a:ext cx="8229600" cy="2700337"/>
          </a:xfrm>
          <a:noFill/>
          <a:ln>
            <a:noFill/>
          </a:ln>
        </p:spPr>
        <p:txBody>
          <a:bodyPr anchor="t" anchorCtr="0"/>
          <a:p>
            <a:pPr eaLnBrk="1" hangingPunct="1"/>
            <a:r>
              <a:rPr lang="zh-CN" altLang="en-US" dirty="0">
                <a:latin typeface="Times New Roman" panose="02020603050405020304" pitchFamily="18" charset="0"/>
              </a:rPr>
              <a:t>边界对齐：</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双字地址的最末</a:t>
            </a:r>
            <a:r>
              <a:rPr lang="en-US" altLang="zh-CN" sz="2400" dirty="0">
                <a:latin typeface="Times New Roman" panose="02020603050405020304" pitchFamily="18" charset="0"/>
              </a:rPr>
              <a:t>3</a:t>
            </a:r>
            <a:r>
              <a:rPr lang="zh-CN" altLang="en-US" sz="2400" dirty="0">
                <a:latin typeface="Times New Roman" panose="02020603050405020304" pitchFamily="18" charset="0"/>
              </a:rPr>
              <a:t>个二进制位必须为</a:t>
            </a:r>
            <a:r>
              <a:rPr lang="en-US" altLang="zh-CN" sz="2400" dirty="0">
                <a:latin typeface="Times New Roman" panose="02020603050405020304" pitchFamily="18" charset="0"/>
              </a:rPr>
              <a:t>000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单字地址的最末两位必须为</a:t>
            </a:r>
            <a:r>
              <a:rPr lang="en-US" altLang="zh-CN" sz="2400" dirty="0">
                <a:latin typeface="Times New Roman" panose="02020603050405020304" pitchFamily="18" charset="0"/>
              </a:rPr>
              <a:t>00</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半字地址的最末一位必须为</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访问在一个存取周期内完成，存储器资源仍有浪费。</a:t>
            </a:r>
            <a:endParaRPr lang="zh-CN" altLang="en-US" sz="2400" dirty="0">
              <a:latin typeface="Times New Roman" panose="02020603050405020304" pitchFamily="18" charset="0"/>
              <a:ea typeface="Times New Roman" panose="02020603050405020304" pitchFamily="18" charset="0"/>
            </a:endParaRPr>
          </a:p>
        </p:txBody>
      </p:sp>
      <p:pic>
        <p:nvPicPr>
          <p:cNvPr id="43011" name="图片 3"/>
          <p:cNvPicPr>
            <a:picLocks noChangeAspect="1"/>
          </p:cNvPicPr>
          <p:nvPr/>
        </p:nvPicPr>
        <p:blipFill>
          <a:blip r:embed="rId1"/>
          <a:stretch>
            <a:fillRect/>
          </a:stretch>
        </p:blipFill>
        <p:spPr>
          <a:xfrm>
            <a:off x="1023938" y="3967163"/>
            <a:ext cx="7094537" cy="2493962"/>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5.3 </a:t>
            </a:r>
            <a:r>
              <a:rPr lang="zh-CN" altLang="en-US" dirty="0">
                <a:latin typeface="Times New Roman" panose="02020603050405020304" pitchFamily="18" charset="0"/>
              </a:rPr>
              <a:t>半导体随机存储器和只读存储器</a:t>
            </a:r>
            <a:endParaRPr lang="zh-CN" altLang="en-US" dirty="0">
              <a:latin typeface="Times New Roman" panose="02020603050405020304" pitchFamily="18" charset="0"/>
              <a:ea typeface="Times New Roman" panose="02020603050405020304" pitchFamily="18" charset="0"/>
            </a:endParaRPr>
          </a:p>
        </p:txBody>
      </p:sp>
      <p:sp>
        <p:nvSpPr>
          <p:cNvPr id="44034"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主存储器通常分为</a:t>
            </a:r>
            <a:r>
              <a:rPr lang="en-US" altLang="zh-CN" dirty="0">
                <a:latin typeface="Times New Roman" panose="02020603050405020304" pitchFamily="18" charset="0"/>
              </a:rPr>
              <a:t>RAM</a:t>
            </a:r>
            <a:r>
              <a:rPr lang="zh-CN" altLang="en-US" dirty="0">
                <a:latin typeface="Times New Roman" panose="02020603050405020304" pitchFamily="18" charset="0"/>
              </a:rPr>
              <a:t>和</a:t>
            </a:r>
            <a:r>
              <a:rPr lang="en-US" altLang="zh-CN" dirty="0">
                <a:latin typeface="Times New Roman" panose="02020603050405020304" pitchFamily="18" charset="0"/>
              </a:rPr>
              <a:t>ROM</a:t>
            </a:r>
            <a:r>
              <a:rPr lang="zh-CN" altLang="en-US" dirty="0">
                <a:latin typeface="Times New Roman" panose="02020603050405020304" pitchFamily="18" charset="0"/>
              </a:rPr>
              <a:t>两大部分。</a:t>
            </a:r>
            <a:endParaRPr lang="en-US" altLang="zh-CN" dirty="0">
              <a:latin typeface="Times New Roman" panose="02020603050405020304" pitchFamily="18" charset="0"/>
            </a:endParaRPr>
          </a:p>
          <a:p>
            <a:pPr lvl="1" eaLnBrk="1" hangingPunct="1">
              <a:spcBef>
                <a:spcPts val="1800"/>
              </a:spcBef>
            </a:pPr>
            <a:r>
              <a:rPr lang="en-US" altLang="zh-CN" dirty="0">
                <a:latin typeface="Times New Roman" panose="02020603050405020304" pitchFamily="18" charset="0"/>
              </a:rPr>
              <a:t>RAM</a:t>
            </a:r>
            <a:r>
              <a:rPr lang="zh-CN" altLang="en-US" dirty="0">
                <a:latin typeface="Times New Roman" panose="02020603050405020304" pitchFamily="18" charset="0"/>
              </a:rPr>
              <a:t>可读可写；</a:t>
            </a:r>
            <a:endParaRPr lang="en-US" altLang="zh-CN" dirty="0">
              <a:latin typeface="Times New Roman" panose="02020603050405020304" pitchFamily="18" charset="0"/>
            </a:endParaRPr>
          </a:p>
          <a:p>
            <a:pPr lvl="1" eaLnBrk="1" hangingPunct="1">
              <a:spcBef>
                <a:spcPts val="1800"/>
              </a:spcBef>
            </a:pPr>
            <a:r>
              <a:rPr lang="en-US" altLang="zh-CN" dirty="0">
                <a:latin typeface="Times New Roman" panose="02020603050405020304" pitchFamily="18" charset="0"/>
              </a:rPr>
              <a:t>ROM</a:t>
            </a:r>
            <a:r>
              <a:rPr lang="zh-CN" altLang="en-US" dirty="0">
                <a:latin typeface="Times New Roman" panose="02020603050405020304" pitchFamily="18" charset="0"/>
              </a:rPr>
              <a:t>只能读不能写。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5.3.1  RAM</a:t>
            </a:r>
            <a:r>
              <a:rPr lang="zh-CN" altLang="en-US" dirty="0">
                <a:latin typeface="Times New Roman" panose="02020603050405020304" pitchFamily="18" charset="0"/>
              </a:rPr>
              <a:t>记忆单元电路</a:t>
            </a:r>
            <a:endParaRPr lang="zh-CN" altLang="en-US" dirty="0">
              <a:latin typeface="Times New Roman" panose="02020603050405020304" pitchFamily="18" charset="0"/>
              <a:ea typeface="Times New Roman" panose="02020603050405020304" pitchFamily="18" charset="0"/>
            </a:endParaRPr>
          </a:p>
        </p:txBody>
      </p:sp>
      <p:sp>
        <p:nvSpPr>
          <p:cNvPr id="45058" name="内容占位符 2"/>
          <p:cNvSpPr>
            <a:spLocks noGrp="1"/>
          </p:cNvSpPr>
          <p:nvPr>
            <p:ph idx="1"/>
          </p:nvPr>
        </p:nvSpPr>
        <p:spPr>
          <a:noFill/>
          <a:ln>
            <a:noFill/>
          </a:ln>
        </p:spPr>
        <p:txBody>
          <a:bodyPr anchor="t" anchorCtr="0"/>
          <a:p>
            <a:pPr eaLnBrk="1" hangingPunct="1"/>
            <a:r>
              <a:rPr lang="zh-CN" altLang="en-US" dirty="0">
                <a:solidFill>
                  <a:srgbClr val="FF0000"/>
                </a:solidFill>
                <a:latin typeface="Times New Roman" panose="02020603050405020304" pitchFamily="18" charset="0"/>
              </a:rPr>
              <a:t>记忆单元：</a:t>
            </a:r>
            <a:r>
              <a:rPr lang="zh-CN" altLang="en-US" dirty="0">
                <a:latin typeface="Times New Roman" panose="02020603050405020304" pitchFamily="18" charset="0"/>
              </a:rPr>
              <a:t>存放一个二进制位</a:t>
            </a:r>
            <a:endParaRPr lang="en-US" altLang="zh-CN"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是存储器的最基本构件；</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地址码相同的多个记忆单元构成一个</a:t>
            </a:r>
            <a:r>
              <a:rPr lang="zh-CN" altLang="en-US" sz="2400" dirty="0">
                <a:solidFill>
                  <a:srgbClr val="FF0000"/>
                </a:solidFill>
                <a:latin typeface="Times New Roman" panose="02020603050405020304" pitchFamily="18" charset="0"/>
              </a:rPr>
              <a:t>存储单元</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可以由各种材料制成，最常见的由</a:t>
            </a:r>
            <a:r>
              <a:rPr lang="en-US" altLang="zh-CN" sz="2400" dirty="0">
                <a:latin typeface="Times New Roman" panose="02020603050405020304" pitchFamily="18" charset="0"/>
              </a:rPr>
              <a:t>MOS</a:t>
            </a:r>
            <a:r>
              <a:rPr lang="zh-CN" altLang="en-US" sz="2400" dirty="0">
                <a:latin typeface="Times New Roman" panose="02020603050405020304" pitchFamily="18" charset="0"/>
              </a:rPr>
              <a:t>电路组成；</a:t>
            </a:r>
            <a:endParaRPr lang="en-US" altLang="zh-CN" sz="2400" dirty="0">
              <a:latin typeface="Times New Roman" panose="02020603050405020304" pitchFamily="18" charset="0"/>
            </a:endParaRPr>
          </a:p>
          <a:p>
            <a:pPr lvl="1" eaLnBrk="1" hangingPunct="1">
              <a:spcBef>
                <a:spcPts val="1200"/>
              </a:spcBef>
            </a:pPr>
            <a:r>
              <a:rPr lang="en-US" altLang="zh-CN" sz="2400" dirty="0">
                <a:latin typeface="Times New Roman" panose="02020603050405020304" pitchFamily="18" charset="0"/>
              </a:rPr>
              <a:t>RAM</a:t>
            </a:r>
            <a:r>
              <a:rPr lang="zh-CN" altLang="en-US" sz="2400" dirty="0">
                <a:latin typeface="Times New Roman" panose="02020603050405020304" pitchFamily="18" charset="0"/>
              </a:rPr>
              <a:t>可分为：</a:t>
            </a:r>
            <a:endParaRPr lang="en-US" altLang="zh-CN" sz="2400" dirty="0">
              <a:latin typeface="Times New Roman" panose="02020603050405020304" pitchFamily="18" charset="0"/>
            </a:endParaRPr>
          </a:p>
          <a:p>
            <a:pPr lvl="2" eaLnBrk="1" hangingPunct="1">
              <a:spcBef>
                <a:spcPts val="1200"/>
              </a:spcBef>
            </a:pPr>
            <a:r>
              <a:rPr lang="zh-CN" altLang="en-US" sz="2000" dirty="0">
                <a:latin typeface="Times New Roman" panose="02020603050405020304" pitchFamily="18" charset="0"/>
              </a:rPr>
              <a:t>静态</a:t>
            </a:r>
            <a:r>
              <a:rPr lang="en-US" altLang="zh-CN" sz="2000" dirty="0">
                <a:latin typeface="Times New Roman" panose="02020603050405020304" pitchFamily="18" charset="0"/>
              </a:rPr>
              <a:t>RAM</a:t>
            </a:r>
            <a:r>
              <a:rPr lang="zh-CN" altLang="en-US" sz="2000" dirty="0">
                <a:latin typeface="Times New Roman" panose="02020603050405020304" pitchFamily="18" charset="0"/>
              </a:rPr>
              <a:t>，即</a:t>
            </a:r>
            <a:r>
              <a:rPr lang="en-US" altLang="zh-CN" sz="2000" dirty="0">
                <a:latin typeface="Times New Roman" panose="02020603050405020304" pitchFamily="18" charset="0"/>
              </a:rPr>
              <a:t>SRAM</a:t>
            </a:r>
            <a:r>
              <a:rPr lang="zh-CN" altLang="en-US" sz="2000" dirty="0">
                <a:latin typeface="Times New Roman" panose="02020603050405020304" pitchFamily="18" charset="0"/>
              </a:rPr>
              <a:t>（</a:t>
            </a:r>
            <a:r>
              <a:rPr lang="en-US" altLang="zh-CN" sz="2000" dirty="0">
                <a:latin typeface="Times New Roman" panose="02020603050405020304" pitchFamily="18" charset="0"/>
              </a:rPr>
              <a:t>Static RAM</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2" eaLnBrk="1" hangingPunct="1">
              <a:spcBef>
                <a:spcPts val="1200"/>
              </a:spcBef>
            </a:pPr>
            <a:r>
              <a:rPr lang="zh-CN" altLang="en-US" sz="2000" dirty="0">
                <a:latin typeface="Times New Roman" panose="02020603050405020304" pitchFamily="18" charset="0"/>
              </a:rPr>
              <a:t>动态</a:t>
            </a:r>
            <a:r>
              <a:rPr lang="en-US" altLang="zh-CN" sz="2000" dirty="0">
                <a:latin typeface="Times New Roman" panose="02020603050405020304" pitchFamily="18" charset="0"/>
              </a:rPr>
              <a:t>RAM</a:t>
            </a:r>
            <a:r>
              <a:rPr lang="zh-CN" altLang="en-US" sz="2000" dirty="0">
                <a:latin typeface="Times New Roman" panose="02020603050405020304" pitchFamily="18" charset="0"/>
              </a:rPr>
              <a:t>，即</a:t>
            </a:r>
            <a:r>
              <a:rPr lang="en-US" altLang="zh-CN" sz="2000" dirty="0">
                <a:latin typeface="Times New Roman" panose="02020603050405020304" pitchFamily="18" charset="0"/>
              </a:rPr>
              <a:t>DRAM</a:t>
            </a:r>
            <a:r>
              <a:rPr lang="zh-CN" altLang="en-US" sz="2000" dirty="0">
                <a:latin typeface="Times New Roman" panose="02020603050405020304" pitchFamily="18" charset="0"/>
              </a:rPr>
              <a:t>（</a:t>
            </a:r>
            <a:r>
              <a:rPr lang="en-US" altLang="zh-CN" sz="2000" dirty="0">
                <a:latin typeface="Times New Roman" panose="02020603050405020304" pitchFamily="18" charset="0"/>
              </a:rPr>
              <a:t>Dynamic RAM</a:t>
            </a:r>
            <a:r>
              <a:rPr lang="zh-CN" altLang="en-US" sz="2000" dirty="0">
                <a:latin typeface="Times New Roman" panose="02020603050405020304" pitchFamily="18" charset="0"/>
              </a:rPr>
              <a:t>）两种。</a:t>
            </a:r>
            <a:endParaRPr lang="zh-CN" altLang="en-US" sz="2000"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1. 6</a:t>
            </a:r>
            <a:r>
              <a:rPr lang="zh-CN" altLang="en-US" dirty="0">
                <a:latin typeface="Times New Roman" panose="02020603050405020304" pitchFamily="18" charset="0"/>
              </a:rPr>
              <a:t>管</a:t>
            </a:r>
            <a:r>
              <a:rPr lang="en-US" altLang="zh-CN" dirty="0">
                <a:latin typeface="Times New Roman" panose="02020603050405020304" pitchFamily="18" charset="0"/>
              </a:rPr>
              <a:t>SRAM</a:t>
            </a:r>
            <a:r>
              <a:rPr lang="zh-CN" altLang="en-US" dirty="0">
                <a:latin typeface="Times New Roman" panose="02020603050405020304" pitchFamily="18" charset="0"/>
              </a:rPr>
              <a:t>记忆单元电路</a:t>
            </a:r>
            <a:endParaRPr lang="zh-CN" altLang="en-US" dirty="0">
              <a:latin typeface="Times New Roman" panose="02020603050405020304" pitchFamily="18" charset="0"/>
              <a:ea typeface="Times New Roman" panose="02020603050405020304" pitchFamily="18" charset="0"/>
            </a:endParaRPr>
          </a:p>
        </p:txBody>
      </p:sp>
      <p:sp>
        <p:nvSpPr>
          <p:cNvPr id="46082" name="内容占位符 2"/>
          <p:cNvSpPr>
            <a:spLocks noGrp="1"/>
          </p:cNvSpPr>
          <p:nvPr>
            <p:ph idx="1"/>
          </p:nvPr>
        </p:nvSpPr>
        <p:spPr>
          <a:xfrm>
            <a:off x="457200" y="1311275"/>
            <a:ext cx="7859713" cy="2868613"/>
          </a:xfrm>
          <a:noFill/>
          <a:ln>
            <a:noFill/>
          </a:ln>
        </p:spPr>
        <p:txBody>
          <a:bodyPr anchor="t" anchorCtr="0"/>
          <a:p>
            <a:pPr eaLnBrk="1" hangingPunct="1"/>
            <a:r>
              <a:rPr lang="en-US" altLang="zh-CN" dirty="0">
                <a:latin typeface="Times New Roman" panose="02020603050405020304" pitchFamily="18" charset="0"/>
              </a:rPr>
              <a:t>SRAM</a:t>
            </a:r>
            <a:r>
              <a:rPr lang="zh-CN" altLang="en-US" dirty="0">
                <a:latin typeface="Times New Roman" panose="02020603050405020304" pitchFamily="18" charset="0"/>
              </a:rPr>
              <a:t>记忆单元：</a:t>
            </a:r>
            <a:r>
              <a:rPr lang="zh-CN" altLang="en-US" sz="2400" dirty="0">
                <a:latin typeface="Times New Roman" panose="02020603050405020304" pitchFamily="18" charset="0"/>
              </a:rPr>
              <a:t>用</a:t>
            </a:r>
            <a:r>
              <a:rPr lang="zh-CN" altLang="en-US" sz="2400" dirty="0">
                <a:solidFill>
                  <a:srgbClr val="FF0000"/>
                </a:solidFill>
                <a:latin typeface="Times New Roman" panose="02020603050405020304" pitchFamily="18" charset="0"/>
              </a:rPr>
              <a:t>双稳态触发器</a:t>
            </a:r>
            <a:r>
              <a:rPr lang="zh-CN" altLang="en-US" sz="2400" dirty="0">
                <a:latin typeface="Times New Roman" panose="02020603050405020304" pitchFamily="18" charset="0"/>
              </a:rPr>
              <a:t>来记忆信息</a:t>
            </a:r>
            <a:endParaRPr lang="zh-CN" altLang="en-US" sz="2400" dirty="0">
              <a:latin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rPr>
              <a:t>T1</a:t>
            </a:r>
            <a:r>
              <a:rPr lang="zh-CN" altLang="en-US" sz="2000" dirty="0">
                <a:latin typeface="Times New Roman" panose="02020603050405020304" pitchFamily="18" charset="0"/>
              </a:rPr>
              <a:t>～</a:t>
            </a:r>
            <a:r>
              <a:rPr lang="en-US" altLang="zh-CN" sz="2000" dirty="0">
                <a:latin typeface="Times New Roman" panose="02020603050405020304" pitchFamily="18" charset="0"/>
              </a:rPr>
              <a:t>T6</a:t>
            </a:r>
            <a:r>
              <a:rPr lang="zh-CN" altLang="en-US" sz="2000" dirty="0">
                <a:latin typeface="Times New Roman" panose="02020603050405020304" pitchFamily="18" charset="0"/>
              </a:rPr>
              <a:t>管构成记忆单元主体，存放一位二进制信息</a:t>
            </a:r>
            <a:r>
              <a:rPr lang="zh-CN" altLang="zh-CN" sz="2000" dirty="0">
                <a:latin typeface="Times New Roman" panose="02020603050405020304" pitchFamily="18" charset="0"/>
              </a:rPr>
              <a:t>；</a:t>
            </a:r>
            <a:endParaRPr lang="zh-CN" altLang="zh-CN" sz="2000" dirty="0">
              <a:latin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rPr>
              <a:t>T1</a:t>
            </a:r>
            <a:r>
              <a:rPr lang="zh-CN" altLang="en-US" sz="2000" dirty="0">
                <a:latin typeface="Times New Roman" panose="02020603050405020304" pitchFamily="18" charset="0"/>
              </a:rPr>
              <a:t>、</a:t>
            </a:r>
            <a:r>
              <a:rPr lang="en-US" altLang="zh-CN" sz="2000" dirty="0">
                <a:latin typeface="Times New Roman" panose="02020603050405020304" pitchFamily="18" charset="0"/>
              </a:rPr>
              <a:t>T2 </a:t>
            </a:r>
            <a:r>
              <a:rPr lang="zh-CN" altLang="en-US" sz="2000" dirty="0">
                <a:latin typeface="Times New Roman" panose="02020603050405020304" pitchFamily="18" charset="0"/>
              </a:rPr>
              <a:t>管构成存储信息的双稳态触发器；</a:t>
            </a:r>
            <a:endParaRPr lang="zh-CN" altLang="en-US" sz="2000" dirty="0">
              <a:latin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rPr>
              <a:t>T3</a:t>
            </a:r>
            <a:r>
              <a:rPr lang="zh-CN" altLang="en-US" sz="2000" dirty="0">
                <a:latin typeface="Times New Roman" panose="02020603050405020304" pitchFamily="18" charset="0"/>
              </a:rPr>
              <a:t>、</a:t>
            </a:r>
            <a:r>
              <a:rPr lang="en-US" altLang="zh-CN" sz="2000" dirty="0">
                <a:latin typeface="Times New Roman" panose="02020603050405020304" pitchFamily="18" charset="0"/>
              </a:rPr>
              <a:t>T4</a:t>
            </a:r>
            <a:r>
              <a:rPr lang="zh-CN" altLang="en-US" sz="2000" dirty="0">
                <a:latin typeface="Times New Roman" panose="02020603050405020304" pitchFamily="18" charset="0"/>
              </a:rPr>
              <a:t>管构成门控电路，控制读写操作；</a:t>
            </a:r>
            <a:endParaRPr lang="zh-CN" altLang="en-US" sz="2000" dirty="0">
              <a:latin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rPr>
              <a:t>T5</a:t>
            </a:r>
            <a:r>
              <a:rPr lang="zh-CN" altLang="en-US" sz="2000" dirty="0">
                <a:latin typeface="Times New Roman" panose="02020603050405020304" pitchFamily="18" charset="0"/>
              </a:rPr>
              <a:t>、</a:t>
            </a:r>
            <a:r>
              <a:rPr lang="en-US" altLang="zh-CN" sz="2000" dirty="0">
                <a:latin typeface="Times New Roman" panose="02020603050405020304" pitchFamily="18" charset="0"/>
              </a:rPr>
              <a:t>T6</a:t>
            </a:r>
            <a:r>
              <a:rPr lang="zh-CN" altLang="en-US" sz="2000" dirty="0">
                <a:latin typeface="Times New Roman" panose="02020603050405020304" pitchFamily="18" charset="0"/>
              </a:rPr>
              <a:t>是</a:t>
            </a:r>
            <a:r>
              <a:rPr lang="en-US" altLang="zh-CN" sz="2000" dirty="0">
                <a:latin typeface="Times New Roman" panose="02020603050405020304" pitchFamily="18" charset="0"/>
              </a:rPr>
              <a:t>T1</a:t>
            </a:r>
            <a:r>
              <a:rPr lang="zh-CN" altLang="en-US" sz="2000" dirty="0">
                <a:latin typeface="Times New Roman" panose="02020603050405020304" pitchFamily="18" charset="0"/>
              </a:rPr>
              <a:t>、</a:t>
            </a:r>
            <a:r>
              <a:rPr lang="en-US" altLang="zh-CN" sz="2000" dirty="0">
                <a:latin typeface="Times New Roman" panose="02020603050405020304" pitchFamily="18" charset="0"/>
              </a:rPr>
              <a:t>T2</a:t>
            </a:r>
            <a:r>
              <a:rPr lang="zh-CN" altLang="en-US" sz="2000" dirty="0">
                <a:latin typeface="Times New Roman" panose="02020603050405020304" pitchFamily="18" charset="0"/>
              </a:rPr>
              <a:t>管的负载管；</a:t>
            </a:r>
            <a:endParaRPr lang="zh-CN" altLang="en-US" sz="2000" dirty="0">
              <a:latin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rPr>
              <a:t>字线选择记忆单元；</a:t>
            </a:r>
            <a:endParaRPr lang="zh-CN" altLang="en-US" sz="2000" dirty="0">
              <a:latin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rPr>
              <a:t>位线传送读写信号。</a:t>
            </a:r>
            <a:endParaRPr lang="zh-CN" altLang="en-US" sz="2400"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graphicFrame>
        <p:nvGraphicFramePr>
          <p:cNvPr id="46083" name="Object 6"/>
          <p:cNvGraphicFramePr>
            <a:graphicFrameLocks noChangeAspect="1"/>
          </p:cNvGraphicFramePr>
          <p:nvPr/>
        </p:nvGraphicFramePr>
        <p:xfrm>
          <a:off x="5113020" y="2807335"/>
          <a:ext cx="3750310" cy="2828290"/>
        </p:xfrm>
        <a:graphic>
          <a:graphicData uri="http://schemas.openxmlformats.org/presentationml/2006/ole">
            <mc:AlternateContent xmlns:mc="http://schemas.openxmlformats.org/markup-compatibility/2006">
              <mc:Choice xmlns:v="urn:schemas-microsoft-com:vml" Requires="v">
                <p:oleObj spid="_x0000_s3085" name="" r:id="rId1" imgW="2258060" imgH="1701800" progId="Visio.Drawing.6">
                  <p:embed/>
                </p:oleObj>
              </mc:Choice>
              <mc:Fallback>
                <p:oleObj name="" r:id="rId1" imgW="2258060" imgH="1701800" progId="Visio.Drawing.6">
                  <p:embed/>
                  <p:pic>
                    <p:nvPicPr>
                      <p:cNvPr id="0" name="图片 3084"/>
                      <p:cNvPicPr/>
                      <p:nvPr/>
                    </p:nvPicPr>
                    <p:blipFill>
                      <a:blip r:embed="rId2"/>
                      <a:stretch>
                        <a:fillRect/>
                      </a:stretch>
                    </p:blipFill>
                    <p:spPr>
                      <a:xfrm>
                        <a:off x="5113020" y="2807335"/>
                        <a:ext cx="3750310" cy="2828290"/>
                      </a:xfrm>
                      <a:prstGeom prst="rect">
                        <a:avLst/>
                      </a:prstGeom>
                      <a:noFill/>
                      <a:ln w="38100">
                        <a:noFill/>
                        <a:miter/>
                      </a:ln>
                    </p:spPr>
                  </p:pic>
                </p:oleObj>
              </mc:Fallback>
            </mc:AlternateContent>
          </a:graphicData>
        </a:graphic>
      </p:graphicFrame>
      <p:sp>
        <p:nvSpPr>
          <p:cNvPr id="2" name="矩形 1"/>
          <p:cNvSpPr/>
          <p:nvPr/>
        </p:nvSpPr>
        <p:spPr>
          <a:xfrm>
            <a:off x="457200" y="4653280"/>
            <a:ext cx="5022850" cy="18503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SRAM</a:t>
            </a:r>
            <a:r>
              <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的特点：</a:t>
            </a:r>
            <a:endParaRPr kumimoji="0" lang="en-US" altLang="zh-CN"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速度快，集成度低，功耗较大</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用来组成</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CACHE</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小容量主存</a:t>
            </a:r>
            <a:endPar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6" name="Rectangle 8"/>
          <p:cNvSpPr txBox="1">
            <a:spLocks noChangeArrowheads="1"/>
          </p:cNvSpPr>
          <p:nvPr/>
        </p:nvSpPr>
        <p:spPr bwMode="auto">
          <a:xfrm>
            <a:off x="5291455" y="5589270"/>
            <a:ext cx="3571875" cy="501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图5-6  6管</a:t>
            </a:r>
            <a:r>
              <a:rPr kumimoji="0" lang="en-US" altLang="zh-CN"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SRAM</a:t>
            </a:r>
            <a:r>
              <a:rPr kumimoji="0" lang="zh-CN" altLang="en-US"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记忆单元电路</a:t>
            </a:r>
            <a:r>
              <a:rPr kumimoji="0" lang="zh-CN" altLang="en-US" sz="18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en-US" altLang="zh-CN" sz="18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2. 4</a:t>
            </a:r>
            <a:r>
              <a:rPr lang="zh-CN" altLang="en-US" dirty="0">
                <a:latin typeface="Times New Roman" panose="02020603050405020304" pitchFamily="18" charset="0"/>
              </a:rPr>
              <a:t>管</a:t>
            </a:r>
            <a:r>
              <a:rPr lang="en-US" altLang="zh-CN" dirty="0">
                <a:latin typeface="Times New Roman" panose="02020603050405020304" pitchFamily="18" charset="0"/>
              </a:rPr>
              <a:t>DRAM</a:t>
            </a:r>
            <a:r>
              <a:rPr lang="zh-CN" altLang="en-US" dirty="0">
                <a:latin typeface="Times New Roman" panose="02020603050405020304" pitchFamily="18" charset="0"/>
              </a:rPr>
              <a:t>记忆单元电路</a:t>
            </a:r>
            <a:endParaRPr lang="zh-CN" altLang="en-US" dirty="0">
              <a:latin typeface="Times New Roman" panose="02020603050405020304" pitchFamily="18" charset="0"/>
              <a:ea typeface="Times New Roman" panose="02020603050405020304" pitchFamily="18" charset="0"/>
            </a:endParaRPr>
          </a:p>
        </p:txBody>
      </p:sp>
      <p:sp>
        <p:nvSpPr>
          <p:cNvPr id="47106" name="内容占位符 2"/>
          <p:cNvSpPr>
            <a:spLocks noGrp="1"/>
          </p:cNvSpPr>
          <p:nvPr>
            <p:ph idx="1"/>
          </p:nvPr>
        </p:nvSpPr>
        <p:spPr>
          <a:xfrm>
            <a:off x="457200" y="1329055"/>
            <a:ext cx="8229600" cy="2707640"/>
          </a:xfrm>
          <a:noFill/>
          <a:ln>
            <a:noFill/>
          </a:ln>
        </p:spPr>
        <p:txBody>
          <a:bodyPr anchor="t" anchorCtr="0"/>
          <a:p>
            <a:pPr eaLnBrk="1" hangingPunct="1"/>
            <a:r>
              <a:rPr lang="en-US" altLang="zh-CN" dirty="0">
                <a:latin typeface="Times New Roman" panose="02020603050405020304" pitchFamily="18" charset="0"/>
              </a:rPr>
              <a:t>4</a:t>
            </a:r>
            <a:r>
              <a:rPr lang="zh-CN" altLang="en-US" dirty="0">
                <a:latin typeface="Times New Roman" panose="02020603050405020304" pitchFamily="18" charset="0"/>
              </a:rPr>
              <a:t>管</a:t>
            </a:r>
            <a:r>
              <a:rPr lang="en-US" altLang="zh-CN" dirty="0">
                <a:latin typeface="Times New Roman" panose="02020603050405020304" pitchFamily="18" charset="0"/>
              </a:rPr>
              <a:t>DRAM</a:t>
            </a:r>
            <a:r>
              <a:rPr lang="zh-CN" altLang="en-US" dirty="0">
                <a:latin typeface="Times New Roman" panose="02020603050405020304" pitchFamily="18" charset="0"/>
              </a:rPr>
              <a:t>记忆单元电路</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rPr>
              <a:t>去掉</a:t>
            </a:r>
            <a:r>
              <a:rPr lang="en-US" altLang="zh-CN" sz="2000" dirty="0">
                <a:latin typeface="Times New Roman" panose="02020603050405020304" pitchFamily="18" charset="0"/>
              </a:rPr>
              <a:t>SRAM</a:t>
            </a:r>
            <a:r>
              <a:rPr lang="zh-CN" altLang="en-US" sz="2000" dirty="0">
                <a:latin typeface="Times New Roman" panose="02020603050405020304" pitchFamily="18" charset="0"/>
              </a:rPr>
              <a:t>中的</a:t>
            </a:r>
            <a:r>
              <a:rPr lang="en-US" altLang="zh-CN" sz="2000" dirty="0">
                <a:latin typeface="Times New Roman" panose="02020603050405020304" pitchFamily="18" charset="0"/>
              </a:rPr>
              <a:t>T5</a:t>
            </a:r>
            <a:r>
              <a:rPr lang="zh-CN" altLang="en-US" sz="2000" dirty="0">
                <a:latin typeface="Times New Roman" panose="02020603050405020304" pitchFamily="18" charset="0"/>
              </a:rPr>
              <a:t>、</a:t>
            </a:r>
            <a:r>
              <a:rPr lang="en-US" altLang="zh-CN" sz="2000" dirty="0">
                <a:latin typeface="Times New Roman" panose="02020603050405020304" pitchFamily="18" charset="0"/>
              </a:rPr>
              <a:t>T6</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rPr>
              <a:t>负载回路断开后，保持状态时没有外加电源供电；</a:t>
            </a:r>
            <a:endParaRPr lang="en-US" altLang="zh-CN" sz="2000" dirty="0">
              <a:latin typeface="Times New Roman" panose="02020603050405020304" pitchFamily="18" charset="0"/>
            </a:endParaRPr>
          </a:p>
          <a:p>
            <a:pPr lvl="1" eaLnBrk="1" latinLnBrk="0" hangingPunct="1">
              <a:spcBef>
                <a:spcPts val="1200"/>
              </a:spcBef>
            </a:pPr>
            <a:r>
              <a:rPr lang="zh-CN" altLang="en-US" sz="2000" dirty="0">
                <a:latin typeface="Times New Roman" panose="02020603050405020304" pitchFamily="18" charset="0"/>
              </a:rPr>
              <a:t>靠</a:t>
            </a:r>
            <a:r>
              <a:rPr lang="en-US" altLang="zh-CN" sz="2000" dirty="0">
                <a:latin typeface="Times New Roman" panose="02020603050405020304" pitchFamily="18" charset="0"/>
              </a:rPr>
              <a:t>MOS</a:t>
            </a:r>
            <a:r>
              <a:rPr lang="zh-CN" altLang="en-US" sz="2000" dirty="0">
                <a:latin typeface="Times New Roman" panose="02020603050405020304" pitchFamily="18" charset="0"/>
              </a:rPr>
              <a:t>电路中的栅极电容</a:t>
            </a:r>
            <a:r>
              <a:rPr lang="en-US" altLang="zh-CN" sz="2000" dirty="0">
                <a:solidFill>
                  <a:srgbClr val="FF0000"/>
                </a:solidFill>
                <a:latin typeface="Times New Roman" panose="02020603050405020304" pitchFamily="18" charset="0"/>
              </a:rPr>
              <a:t>C1</a:t>
            </a:r>
            <a:r>
              <a:rPr lang="zh-CN" altLang="en-US" sz="2000" dirty="0">
                <a:solidFill>
                  <a:srgbClr val="FF0000"/>
                </a:solidFill>
                <a:latin typeface="Times New Roman" panose="02020603050405020304" pitchFamily="18" charset="0"/>
              </a:rPr>
              <a:t>、</a:t>
            </a:r>
            <a:r>
              <a:rPr lang="en-US" altLang="zh-CN" sz="2000" dirty="0">
                <a:solidFill>
                  <a:srgbClr val="FF0000"/>
                </a:solidFill>
                <a:latin typeface="Times New Roman" panose="02020603050405020304" pitchFamily="18" charset="0"/>
              </a:rPr>
              <a:t>C2</a:t>
            </a:r>
            <a:r>
              <a:rPr lang="zh-CN" altLang="en-US" sz="2000" dirty="0">
                <a:solidFill>
                  <a:srgbClr val="FF0000"/>
                </a:solidFill>
                <a:latin typeface="Times New Roman" panose="02020603050405020304" pitchFamily="18" charset="0"/>
              </a:rPr>
              <a:t>来存储信息</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lvl="1" eaLnBrk="1" latinLnBrk="0" hangingPunct="1">
              <a:spcBef>
                <a:spcPts val="1200"/>
              </a:spcBef>
            </a:pPr>
            <a:r>
              <a:rPr lang="en-US" altLang="zh-CN" sz="2000" dirty="0">
                <a:latin typeface="Times New Roman" panose="02020603050405020304" pitchFamily="18" charset="0"/>
                <a:cs typeface="+mn-ea"/>
              </a:rPr>
              <a:t>读出时补充电荷。</a:t>
            </a:r>
            <a:endParaRPr lang="en-US" altLang="zh-CN" sz="2000" dirty="0">
              <a:latin typeface="Times New Roman" panose="02020603050405020304" pitchFamily="18" charset="0"/>
              <a:cs typeface="+mn-ea"/>
            </a:endParaRPr>
          </a:p>
        </p:txBody>
      </p:sp>
      <p:sp>
        <p:nvSpPr>
          <p:cNvPr id="2" name="矩形 1"/>
          <p:cNvSpPr/>
          <p:nvPr/>
        </p:nvSpPr>
        <p:spPr>
          <a:xfrm>
            <a:off x="395605" y="4149090"/>
            <a:ext cx="4916488" cy="2187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DRAM</a:t>
            </a:r>
            <a:r>
              <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特点：</a:t>
            </a:r>
            <a:endParaRPr kumimoji="0" lang="en-US" altLang="zh-CN"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集成度高，功耗小，速度慢</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用来组成</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大容量主存系统</a:t>
            </a:r>
            <a:r>
              <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47108" name="Object 4"/>
          <p:cNvGraphicFramePr>
            <a:graphicFrameLocks noChangeAspect="1"/>
          </p:cNvGraphicFramePr>
          <p:nvPr/>
        </p:nvGraphicFramePr>
        <p:xfrm>
          <a:off x="4356100" y="3284538"/>
          <a:ext cx="4425950" cy="2547937"/>
        </p:xfrm>
        <a:graphic>
          <a:graphicData uri="http://schemas.openxmlformats.org/presentationml/2006/ole">
            <mc:AlternateContent xmlns:mc="http://schemas.openxmlformats.org/markup-compatibility/2006">
              <mc:Choice xmlns:v="urn:schemas-microsoft-com:vml" Requires="v">
                <p:oleObj spid="_x0000_s3086" name="" r:id="rId1" imgW="3230880" imgH="1859280" progId="Visio.Drawing.6">
                  <p:embed/>
                </p:oleObj>
              </mc:Choice>
              <mc:Fallback>
                <p:oleObj name="" r:id="rId1" imgW="3230880" imgH="1859280" progId="Visio.Drawing.6">
                  <p:embed/>
                  <p:pic>
                    <p:nvPicPr>
                      <p:cNvPr id="0" name="图片 3085"/>
                      <p:cNvPicPr/>
                      <p:nvPr/>
                    </p:nvPicPr>
                    <p:blipFill>
                      <a:blip r:embed="rId2"/>
                      <a:stretch>
                        <a:fillRect/>
                      </a:stretch>
                    </p:blipFill>
                    <p:spPr>
                      <a:xfrm>
                        <a:off x="4356100" y="3284538"/>
                        <a:ext cx="4425950" cy="2547937"/>
                      </a:xfrm>
                      <a:prstGeom prst="rect">
                        <a:avLst/>
                      </a:prstGeom>
                      <a:noFill/>
                      <a:ln w="38100">
                        <a:noFill/>
                        <a:miter/>
                      </a:ln>
                    </p:spPr>
                  </p:pic>
                </p:oleObj>
              </mc:Fallback>
            </mc:AlternateContent>
          </a:graphicData>
        </a:graphic>
      </p:graphicFrame>
      <p:sp>
        <p:nvSpPr>
          <p:cNvPr id="8" name="Rectangle 6"/>
          <p:cNvSpPr txBox="1">
            <a:spLocks noChangeArrowheads="1"/>
          </p:cNvSpPr>
          <p:nvPr/>
        </p:nvSpPr>
        <p:spPr bwMode="auto">
          <a:xfrm>
            <a:off x="4427538" y="5877560"/>
            <a:ext cx="3889375" cy="554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0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图5-7  4管</a:t>
            </a:r>
            <a:r>
              <a:rPr kumimoji="0" lang="en-US" altLang="zh-CN" sz="20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DRAM</a:t>
            </a:r>
            <a:r>
              <a:rPr kumimoji="0" lang="zh-CN" altLang="en-US" sz="20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记忆单元电路</a:t>
            </a:r>
            <a:endParaRPr kumimoji="0" lang="en-US" altLang="zh-CN" sz="18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单管</a:t>
            </a:r>
            <a:r>
              <a:rPr lang="en-US" altLang="zh-CN" dirty="0">
                <a:latin typeface="Times New Roman" panose="02020603050405020304" pitchFamily="18" charset="0"/>
              </a:rPr>
              <a:t>DRAM</a:t>
            </a:r>
            <a:r>
              <a:rPr lang="zh-CN" altLang="en-US" dirty="0">
                <a:latin typeface="Times New Roman" panose="02020603050405020304" pitchFamily="18" charset="0"/>
              </a:rPr>
              <a:t>记忆单元</a:t>
            </a:r>
            <a:endParaRPr lang="zh-CN" altLang="en-US" dirty="0">
              <a:latin typeface="Times New Roman" panose="02020603050405020304" pitchFamily="18" charset="0"/>
              <a:ea typeface="Times New Roman" panose="02020603050405020304" pitchFamily="18" charset="0"/>
            </a:endParaRPr>
          </a:p>
        </p:txBody>
      </p:sp>
      <p:sp>
        <p:nvSpPr>
          <p:cNvPr id="48130" name="内容占位符 2"/>
          <p:cNvSpPr>
            <a:spLocks noGrp="1"/>
          </p:cNvSpPr>
          <p:nvPr>
            <p:ph idx="1"/>
          </p:nvPr>
        </p:nvSpPr>
        <p:spPr>
          <a:xfrm>
            <a:off x="457200" y="1441450"/>
            <a:ext cx="8229600" cy="1123950"/>
          </a:xfrm>
          <a:noFill/>
          <a:ln>
            <a:noFill/>
          </a:ln>
        </p:spPr>
        <p:txBody>
          <a:bodyPr anchor="t" anchorCtr="0"/>
          <a:p>
            <a:pPr eaLnBrk="1" hangingPunct="1">
              <a:spcBef>
                <a:spcPts val="1800"/>
              </a:spcBef>
            </a:pPr>
            <a:r>
              <a:rPr lang="zh-CN" altLang="en-US" dirty="0">
                <a:latin typeface="Times New Roman" panose="02020603050405020304" pitchFamily="18" charset="0"/>
              </a:rPr>
              <a:t>进一步减少记忆单元中</a:t>
            </a:r>
            <a:r>
              <a:rPr lang="en-US" altLang="zh-CN" dirty="0">
                <a:latin typeface="Times New Roman" panose="02020603050405020304" pitchFamily="18" charset="0"/>
              </a:rPr>
              <a:t>MOS</a:t>
            </a:r>
            <a:r>
              <a:rPr lang="zh-CN" altLang="en-US" dirty="0">
                <a:latin typeface="Times New Roman" panose="02020603050405020304" pitchFamily="18" charset="0"/>
              </a:rPr>
              <a:t>管的数目：</a:t>
            </a:r>
            <a:endParaRPr lang="zh-CN" altLang="en-US" dirty="0">
              <a:latin typeface="Times New Roman" panose="02020603050405020304" pitchFamily="18" charset="0"/>
            </a:endParaRPr>
          </a:p>
          <a:p>
            <a:pPr lvl="1" eaLnBrk="1" hangingPunct="1">
              <a:spcBef>
                <a:spcPts val="1800"/>
              </a:spcBef>
            </a:pPr>
            <a:r>
              <a:rPr lang="en-US" altLang="zh-CN" sz="2400" dirty="0">
                <a:latin typeface="Times New Roman" panose="02020603050405020304" pitchFamily="18" charset="0"/>
              </a:rPr>
              <a:t>3</a:t>
            </a:r>
            <a:r>
              <a:rPr lang="zh-CN" altLang="en-US" sz="2400" dirty="0">
                <a:latin typeface="Times New Roman" panose="02020603050405020304" pitchFamily="18" charset="0"/>
              </a:rPr>
              <a:t>管</a:t>
            </a:r>
            <a:r>
              <a:rPr lang="en-US" altLang="zh-CN" sz="2400" dirty="0">
                <a:latin typeface="Times New Roman" panose="02020603050405020304" pitchFamily="18" charset="0"/>
              </a:rPr>
              <a:t>DRAM</a:t>
            </a:r>
            <a:r>
              <a:rPr lang="zh-CN" altLang="en-US" sz="2400" dirty="0">
                <a:latin typeface="Times New Roman" panose="02020603050405020304" pitchFamily="18" charset="0"/>
              </a:rPr>
              <a:t>记忆单元或单管</a:t>
            </a:r>
            <a:r>
              <a:rPr lang="en-US" altLang="zh-CN" sz="2400" dirty="0">
                <a:latin typeface="Times New Roman" panose="02020603050405020304" pitchFamily="18" charset="0"/>
              </a:rPr>
              <a:t>DRAM</a:t>
            </a:r>
            <a:r>
              <a:rPr lang="zh-CN" altLang="en-US" sz="2400" dirty="0">
                <a:latin typeface="Times New Roman" panose="02020603050405020304" pitchFamily="18" charset="0"/>
              </a:rPr>
              <a:t>记忆单元。</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graphicFrame>
        <p:nvGraphicFramePr>
          <p:cNvPr id="48131" name="Object 4"/>
          <p:cNvGraphicFramePr>
            <a:graphicFrameLocks noChangeAspect="1"/>
          </p:cNvGraphicFramePr>
          <p:nvPr/>
        </p:nvGraphicFramePr>
        <p:xfrm>
          <a:off x="5213350" y="2598738"/>
          <a:ext cx="2917825" cy="3008312"/>
        </p:xfrm>
        <a:graphic>
          <a:graphicData uri="http://schemas.openxmlformats.org/presentationml/2006/ole">
            <mc:AlternateContent xmlns:mc="http://schemas.openxmlformats.org/markup-compatibility/2006">
              <mc:Choice xmlns:v="urn:schemas-microsoft-com:vml" Requires="v">
                <p:oleObj spid="_x0000_s3087" name="" r:id="rId1" imgW="1201420" imgH="1239520" progId="Visio.Drawing.6">
                  <p:embed/>
                </p:oleObj>
              </mc:Choice>
              <mc:Fallback>
                <p:oleObj name="" r:id="rId1" imgW="1201420" imgH="1239520" progId="Visio.Drawing.6">
                  <p:embed/>
                  <p:pic>
                    <p:nvPicPr>
                      <p:cNvPr id="0" name="图片 3086"/>
                      <p:cNvPicPr/>
                      <p:nvPr/>
                    </p:nvPicPr>
                    <p:blipFill>
                      <a:blip r:embed="rId2"/>
                      <a:stretch>
                        <a:fillRect/>
                      </a:stretch>
                    </p:blipFill>
                    <p:spPr>
                      <a:xfrm>
                        <a:off x="5213350" y="2598738"/>
                        <a:ext cx="2917825" cy="3008312"/>
                      </a:xfrm>
                      <a:prstGeom prst="rect">
                        <a:avLst/>
                      </a:prstGeom>
                      <a:noFill/>
                      <a:ln w="38100">
                        <a:noFill/>
                        <a:miter/>
                      </a:ln>
                    </p:spPr>
                  </p:pic>
                </p:oleObj>
              </mc:Fallback>
            </mc:AlternateContent>
          </a:graphicData>
        </a:graphic>
      </p:graphicFrame>
      <p:sp>
        <p:nvSpPr>
          <p:cNvPr id="5" name="Rectangle 6"/>
          <p:cNvSpPr txBox="1">
            <a:spLocks noChangeArrowheads="1"/>
          </p:cNvSpPr>
          <p:nvPr/>
        </p:nvSpPr>
        <p:spPr bwMode="auto">
          <a:xfrm>
            <a:off x="4787900" y="5721350"/>
            <a:ext cx="3898900" cy="447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tx1"/>
              </a:buClr>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图5-8 单管</a:t>
            </a:r>
            <a:r>
              <a:rPr kumimoji="0" lang="en-US" altLang="zh-CN"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DRAM</a:t>
            </a:r>
            <a:r>
              <a:rPr kumimoji="0" lang="zh-CN" altLang="en-US"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记忆单元电路 </a:t>
            </a:r>
            <a:endParaRPr kumimoji="0" lang="en-US" altLang="zh-CN" sz="20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444500" y="2882900"/>
            <a:ext cx="4837113" cy="1599565"/>
          </a:xfrm>
          <a:prstGeom prst="rect">
            <a:avLst/>
          </a:prstGeom>
        </p:spPr>
        <p:txBody>
          <a:bodyPr>
            <a:spAutoFit/>
          </a:bodyPr>
          <a:lstStyle/>
          <a:p>
            <a:pPr marL="742950" marR="0" lvl="1" indent="-285750" algn="l" defTabSz="914400" rtl="0" eaLnBrk="1" fontAlgn="base" latinLnBrk="0" hangingPunct="1">
              <a:lnSpc>
                <a:spcPct val="100000"/>
              </a:lnSpc>
              <a:spcBef>
                <a:spcPts val="1800"/>
              </a:spcBef>
              <a:spcAft>
                <a:spcPct val="0"/>
              </a:spcAft>
              <a:buClr>
                <a:srgbClr val="3984C9"/>
              </a:buClr>
              <a:buSzTx/>
              <a:buFont typeface="Wingdings" panose="05000000000000000000" pitchFamily="2" charset="2"/>
              <a:buChar char="§"/>
              <a:defRPr/>
            </a:pPr>
            <a:r>
              <a:rPr kumimoji="0" lang="zh-CN" altLang="en-US" sz="2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单管动态记忆单元：</a:t>
            </a:r>
            <a:endParaRPr kumimoji="0" lang="zh-CN" altLang="en-US" sz="2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1200150" marR="0" lvl="2" indent="-285750" algn="l" defTabSz="914400" rtl="0" eaLnBrk="1" fontAlgn="base" latinLnBrk="0" hangingPunct="1">
              <a:lnSpc>
                <a:spcPct val="100000"/>
              </a:lnSpc>
              <a:spcBef>
                <a:spcPts val="1800"/>
              </a:spcBef>
              <a:spcAft>
                <a:spcPct val="0"/>
              </a:spcAft>
              <a:buClr>
                <a:srgbClr val="3984C9"/>
              </a:buClr>
              <a:buSzTx/>
              <a:buFont typeface="Wingdings" panose="05000000000000000000" pitchFamily="2" charset="2"/>
              <a:buChar char="§"/>
              <a:defRPr/>
            </a:pPr>
            <a:r>
              <a:rPr kumimoji="0" lang="en-US" altLang="zh-CN" sz="20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MOS</a:t>
            </a:r>
            <a:r>
              <a:rPr kumimoji="0" lang="zh-CN" altLang="en-US" sz="20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管</a:t>
            </a:r>
            <a:r>
              <a:rPr kumimoji="0" lang="en-US" altLang="zh-CN" sz="20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T1+</a:t>
            </a:r>
            <a:r>
              <a:rPr kumimoji="0" lang="zh-CN" altLang="en-US" sz="2000" b="0" i="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存储电容</a:t>
            </a:r>
            <a:r>
              <a:rPr kumimoji="0" lang="en-US" altLang="zh-CN" sz="2000" b="0" i="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C</a:t>
            </a:r>
            <a:r>
              <a:rPr kumimoji="0" lang="zh-CN" altLang="en-US" sz="20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2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rgbClr val="3984C9"/>
              </a:buClr>
              <a:buSzTx/>
              <a:buFont typeface="Wingdings" panose="05000000000000000000" pitchFamily="2" charset="2"/>
              <a:buChar char="§"/>
              <a:defRPr/>
            </a:pP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功耗更小、集成度更高</a:t>
            </a:r>
            <a:r>
              <a:rPr kumimoji="0" lang="zh-CN" altLang="en-US" sz="2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24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5.3.2 </a:t>
            </a:r>
            <a:r>
              <a:rPr lang="zh-CN" altLang="en-US" dirty="0">
                <a:latin typeface="Times New Roman" panose="02020603050405020304" pitchFamily="18" charset="0"/>
              </a:rPr>
              <a:t>动态</a:t>
            </a:r>
            <a:r>
              <a:rPr lang="en-US" altLang="zh-CN" dirty="0">
                <a:latin typeface="Times New Roman" panose="02020603050405020304" pitchFamily="18" charset="0"/>
              </a:rPr>
              <a:t>RAM</a:t>
            </a:r>
            <a:r>
              <a:rPr lang="zh-CN" altLang="en-US" dirty="0">
                <a:latin typeface="Times New Roman" panose="02020603050405020304" pitchFamily="18" charset="0"/>
              </a:rPr>
              <a:t>的刷新</a:t>
            </a:r>
            <a:endParaRPr lang="zh-CN" altLang="en-US" dirty="0">
              <a:latin typeface="Times New Roman" panose="02020603050405020304" pitchFamily="18" charset="0"/>
              <a:ea typeface="Times New Roman" panose="02020603050405020304" pitchFamily="18" charset="0"/>
            </a:endParaRPr>
          </a:p>
        </p:txBody>
      </p:sp>
      <p:sp>
        <p:nvSpPr>
          <p:cNvPr id="49154" name="内容占位符 2"/>
          <p:cNvSpPr>
            <a:spLocks noGrp="1"/>
          </p:cNvSpPr>
          <p:nvPr>
            <p:ph idx="1"/>
          </p:nvPr>
        </p:nvSpPr>
        <p:spPr>
          <a:xfrm>
            <a:off x="457200" y="1268413"/>
            <a:ext cx="8229600" cy="5251450"/>
          </a:xfrm>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刷新间隔</a:t>
            </a:r>
            <a:endParaRPr lang="zh-CN" altLang="en-US"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为了维持</a:t>
            </a:r>
            <a:r>
              <a:rPr lang="en-US" altLang="zh-CN" sz="2400" dirty="0">
                <a:latin typeface="Times New Roman" panose="02020603050405020304" pitchFamily="18" charset="0"/>
              </a:rPr>
              <a:t>DRAM</a:t>
            </a:r>
            <a:r>
              <a:rPr lang="zh-CN" altLang="en-US" sz="2400" dirty="0">
                <a:latin typeface="Times New Roman" panose="02020603050405020304" pitchFamily="18" charset="0"/>
              </a:rPr>
              <a:t>记忆单元信息，每隔一定时间须刷新；</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一般选定的最大刷新间隔为</a:t>
            </a:r>
            <a:r>
              <a:rPr lang="en-US" altLang="zh-CN" sz="2400" dirty="0">
                <a:latin typeface="Times New Roman" panose="02020603050405020304" pitchFamily="18" charset="0"/>
              </a:rPr>
              <a:t>2ms</a:t>
            </a:r>
            <a:r>
              <a:rPr lang="zh-CN" altLang="en-US" sz="2400" dirty="0">
                <a:latin typeface="Times New Roman" panose="02020603050405020304" pitchFamily="18" charset="0"/>
              </a:rPr>
              <a:t>或</a:t>
            </a:r>
            <a:r>
              <a:rPr lang="en-US" altLang="zh-CN" sz="2400" dirty="0">
                <a:latin typeface="Times New Roman" panose="02020603050405020304" pitchFamily="18" charset="0"/>
              </a:rPr>
              <a:t>4ms</a:t>
            </a:r>
            <a:r>
              <a:rPr lang="zh-CN" altLang="en-US" sz="2400" dirty="0">
                <a:latin typeface="Times New Roman" panose="02020603050405020304" pitchFamily="18" charset="0"/>
              </a:rPr>
              <a:t>或更大；</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应在规定的时间内，将全部存储体刷新一遍；</a:t>
            </a:r>
            <a:endParaRPr lang="zh-CN" altLang="en-US" sz="2400" dirty="0">
              <a:latin typeface="Times New Roman" panose="02020603050405020304" pitchFamily="18" charset="0"/>
            </a:endParaRPr>
          </a:p>
          <a:p>
            <a:pPr lvl="1" eaLnBrk="1" hangingPunct="1">
              <a:spcBef>
                <a:spcPts val="1200"/>
              </a:spcBef>
            </a:pPr>
            <a:r>
              <a:rPr lang="zh-CN" altLang="en-US" sz="2400" dirty="0">
                <a:solidFill>
                  <a:srgbClr val="FF0000"/>
                </a:solidFill>
                <a:latin typeface="Times New Roman" panose="02020603050405020304" pitchFamily="18" charset="0"/>
              </a:rPr>
              <a:t>刷新</a:t>
            </a:r>
            <a:r>
              <a:rPr lang="zh-CN" altLang="en-US" sz="2400" dirty="0">
                <a:latin typeface="Times New Roman" panose="02020603050405020304" pitchFamily="18" charset="0"/>
              </a:rPr>
              <a:t>和</a:t>
            </a:r>
            <a:r>
              <a:rPr lang="zh-CN" altLang="en-US" sz="2400" dirty="0">
                <a:solidFill>
                  <a:srgbClr val="FF0000"/>
                </a:solidFill>
                <a:latin typeface="Times New Roman" panose="02020603050405020304" pitchFamily="18" charset="0"/>
              </a:rPr>
              <a:t>重写</a:t>
            </a:r>
            <a:r>
              <a:rPr lang="zh-CN" altLang="en-US" sz="2400" dirty="0">
                <a:latin typeface="Times New Roman" panose="02020603050405020304" pitchFamily="18" charset="0"/>
              </a:rPr>
              <a:t>（再生）是两个完全不同的概念：</a:t>
            </a:r>
            <a:endParaRPr lang="en-US" altLang="zh-CN" sz="2400" dirty="0">
              <a:latin typeface="Times New Roman" panose="02020603050405020304" pitchFamily="18" charset="0"/>
            </a:endParaRPr>
          </a:p>
          <a:p>
            <a:pPr marL="914400" lvl="4" eaLnBrk="1" latinLnBrk="0" hangingPunct="1">
              <a:spcBef>
                <a:spcPts val="1200"/>
              </a:spcBef>
            </a:pPr>
            <a:r>
              <a:rPr lang="zh-CN" altLang="en-US" dirty="0">
                <a:latin typeface="Times New Roman" panose="02020603050405020304" pitchFamily="18" charset="0"/>
              </a:rPr>
              <a:t>重写：随机，破坏性读出之后才需要重写；</a:t>
            </a:r>
            <a:endParaRPr lang="zh-CN" altLang="en-US" dirty="0">
              <a:latin typeface="Times New Roman" panose="02020603050405020304" pitchFamily="18" charset="0"/>
            </a:endParaRPr>
          </a:p>
          <a:p>
            <a:pPr marL="1371600" lvl="5" eaLnBrk="1" latinLnBrk="0" hangingPunct="1">
              <a:spcBef>
                <a:spcPts val="1200"/>
              </a:spcBef>
            </a:pPr>
            <a:r>
              <a:rPr lang="zh-CN" altLang="en-US" dirty="0">
                <a:latin typeface="Times New Roman" panose="02020603050405020304" pitchFamily="18" charset="0"/>
                <a:sym typeface="+mn-ea"/>
              </a:rPr>
              <a:t>一般按存储单元进行；</a:t>
            </a:r>
            <a:endParaRPr lang="zh-CN" altLang="en-US" dirty="0">
              <a:latin typeface="Times New Roman" panose="02020603050405020304" pitchFamily="18" charset="0"/>
            </a:endParaRPr>
          </a:p>
          <a:p>
            <a:pPr marL="914400" lvl="4" algn="l" eaLnBrk="1" latinLnBrk="0" hangingPunct="1">
              <a:spcBef>
                <a:spcPts val="1200"/>
              </a:spcBef>
              <a:buClrTx/>
              <a:buSzTx/>
              <a:buFontTx/>
            </a:pPr>
            <a:r>
              <a:rPr lang="zh-CN" altLang="en-US" dirty="0">
                <a:latin typeface="Times New Roman" panose="02020603050405020304" pitchFamily="18" charset="0"/>
                <a:cs typeface="+mn-ea"/>
              </a:rPr>
              <a:t>刷新：定时，存储单元长期未被访问也要刷新；</a:t>
            </a:r>
            <a:endParaRPr lang="zh-CN" altLang="en-US" dirty="0">
              <a:latin typeface="Times New Roman" panose="02020603050405020304" pitchFamily="18" charset="0"/>
              <a:cs typeface="+mn-ea"/>
            </a:endParaRPr>
          </a:p>
          <a:p>
            <a:pPr marL="1371600" lvl="5" algn="l" eaLnBrk="1" latinLnBrk="0" hangingPunct="1">
              <a:spcBef>
                <a:spcPts val="1200"/>
              </a:spcBef>
              <a:buClrTx/>
              <a:buSzTx/>
              <a:buFontTx/>
            </a:pPr>
            <a:r>
              <a:rPr lang="zh-CN" altLang="en-US" dirty="0">
                <a:latin typeface="Times New Roman" panose="02020603050405020304" pitchFamily="18" charset="0"/>
                <a:cs typeface="+mn-ea"/>
              </a:rPr>
              <a:t>通常以</a:t>
            </a:r>
            <a:r>
              <a:rPr lang="zh-CN" altLang="en-US" dirty="0">
                <a:solidFill>
                  <a:srgbClr val="FF0000"/>
                </a:solidFill>
                <a:latin typeface="Times New Roman" panose="02020603050405020304" pitchFamily="18" charset="0"/>
                <a:cs typeface="+mn-ea"/>
              </a:rPr>
              <a:t>存储体矩阵中的一行</a:t>
            </a:r>
            <a:r>
              <a:rPr lang="zh-CN" altLang="en-US" dirty="0">
                <a:latin typeface="Times New Roman" panose="02020603050405020304" pitchFamily="18" charset="0"/>
                <a:cs typeface="+mn-ea"/>
              </a:rPr>
              <a:t>为单位进行。 </a:t>
            </a:r>
            <a:endParaRPr lang="zh-CN" altLang="en-US" dirty="0">
              <a:latin typeface="Times New Roman" panose="02020603050405020304" pitchFamily="18" charset="0"/>
              <a:cs typeface="+mn-ea"/>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存储体矩阵</a:t>
            </a:r>
            <a:endParaRPr lang="zh-CN" altLang="en-US"/>
          </a:p>
        </p:txBody>
      </p:sp>
      <p:graphicFrame>
        <p:nvGraphicFramePr>
          <p:cNvPr id="64514" name="Object 5"/>
          <p:cNvGraphicFramePr>
            <a:graphicFrameLocks noChangeAspect="1"/>
          </p:cNvGraphicFramePr>
          <p:nvPr/>
        </p:nvGraphicFramePr>
        <p:xfrm>
          <a:off x="1371600" y="1268413"/>
          <a:ext cx="6400800" cy="5084762"/>
        </p:xfrm>
        <a:graphic>
          <a:graphicData uri="http://schemas.openxmlformats.org/presentationml/2006/ole">
            <mc:AlternateContent xmlns:mc="http://schemas.openxmlformats.org/markup-compatibility/2006">
              <mc:Choice xmlns:v="urn:schemas-microsoft-com:vml" Requires="v">
                <p:oleObj spid="_x0000_s3093" name="" r:id="rId1" imgW="3670300" imgH="2918460" progId="Visio.Drawing.6">
                  <p:embed/>
                </p:oleObj>
              </mc:Choice>
              <mc:Fallback>
                <p:oleObj name="" r:id="rId1" imgW="3670300" imgH="2918460" progId="Visio.Drawing.6">
                  <p:embed/>
                  <p:pic>
                    <p:nvPicPr>
                      <p:cNvPr id="0" name="图片 3092"/>
                      <p:cNvPicPr/>
                      <p:nvPr/>
                    </p:nvPicPr>
                    <p:blipFill>
                      <a:blip r:embed="rId2"/>
                      <a:stretch>
                        <a:fillRect/>
                      </a:stretch>
                    </p:blipFill>
                    <p:spPr>
                      <a:xfrm>
                        <a:off x="1371600" y="1268413"/>
                        <a:ext cx="6400800" cy="5084762"/>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 </a:t>
            </a:r>
            <a:endParaRPr lang="zh-CN" altLang="en-US" dirty="0">
              <a:latin typeface="Times New Roman" panose="02020603050405020304" pitchFamily="18" charset="0"/>
              <a:ea typeface="Times New Roman" panose="02020603050405020304" pitchFamily="18" charset="0"/>
            </a:endParaRPr>
          </a:p>
        </p:txBody>
      </p:sp>
      <p:sp>
        <p:nvSpPr>
          <p:cNvPr id="51203" name="内容占位符 2"/>
          <p:cNvSpPr>
            <a:spLocks noGrp="1"/>
          </p:cNvSpPr>
          <p:nvPr>
            <p:ph idx="1"/>
          </p:nvPr>
        </p:nvSpPr>
        <p:spPr>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⑴集中刷新方式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在允许的最大刷新间隔（如</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2ms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）内；</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按照存储芯片容量的大小集中安排若干个刷新周期；</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刷新时停止读写操作</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刷新时间</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存储矩阵行数</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刷新周期；</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刷新周期：</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刷新一行所需要的时间；</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刷新过程就是“假读”过程</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，所以刷新周期就等于存取周期。 </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a typeface="Times New Roman" panose="02020603050405020304" pitchFamily="18" charset="0"/>
            </a:endParaRPr>
          </a:p>
        </p:txBody>
      </p:sp>
      <p:sp>
        <p:nvSpPr>
          <p:cNvPr id="52227" name="内容占位符 2"/>
          <p:cNvSpPr>
            <a:spLocks noGrp="1"/>
          </p:cNvSpPr>
          <p:nvPr>
            <p:ph idx="1"/>
          </p:nvPr>
        </p:nvSpPr>
        <p:spPr>
          <a:xfrm>
            <a:off x="457200" y="1341438"/>
            <a:ext cx="8229600" cy="3195638"/>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sym typeface="+mn-ea"/>
              </a:rPr>
              <a:t>刷新</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具有</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1024</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个记忆单元（</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32×32</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）的存储芯片：</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按行进行，每刷新一行占用一个存取周期；</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共需</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个周期以完成全部记忆单元的刷新；</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假设存取周期为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500ns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0.5us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3967</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个周期内进行读写操作或保持；</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3968</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3999</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这最后</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个周期集中安排刷新操作。</a:t>
            </a:r>
            <a:endParaRPr kumimoji="0" lang="zh-CN" altLang="en-US" sz="2055"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pic>
        <p:nvPicPr>
          <p:cNvPr id="51203" name="图片 3"/>
          <p:cNvPicPr>
            <a:picLocks noChangeAspect="1"/>
          </p:cNvPicPr>
          <p:nvPr/>
        </p:nvPicPr>
        <p:blipFill>
          <a:blip r:embed="rId1"/>
          <a:srcRect r="9358"/>
          <a:stretch>
            <a:fillRect/>
          </a:stretch>
        </p:blipFill>
        <p:spPr>
          <a:xfrm>
            <a:off x="1042988" y="4333875"/>
            <a:ext cx="7058025" cy="1536700"/>
          </a:xfrm>
          <a:prstGeom prst="rect">
            <a:avLst/>
          </a:prstGeom>
          <a:noFill/>
          <a:ln w="9525">
            <a:noFill/>
          </a:ln>
        </p:spPr>
      </p:pic>
      <p:sp>
        <p:nvSpPr>
          <p:cNvPr id="5" name="Rectangle 3"/>
          <p:cNvSpPr txBox="1">
            <a:spLocks noChangeArrowheads="1"/>
          </p:cNvSpPr>
          <p:nvPr/>
        </p:nvSpPr>
        <p:spPr>
          <a:xfrm>
            <a:off x="1836738" y="5870575"/>
            <a:ext cx="5472113" cy="56197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1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图5-9 集中刷新方式示意图</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ndParaRPr>
          </a:p>
        </p:txBody>
      </p:sp>
      <p:sp>
        <p:nvSpPr>
          <p:cNvPr id="5222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优点</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读写操作时不受刷新工作的影响；</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系统的存取速度比较高。</a:t>
            </a:r>
            <a:endParaRPr lang="en-US" altLang="zh-CN" sz="2400"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缺点</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在集中刷新期间必须停止读写：“死区”</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存储容量越大，死区就越长。 </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ndParaRPr>
          </a:p>
        </p:txBody>
      </p:sp>
      <p:sp>
        <p:nvSpPr>
          <p:cNvPr id="54275" name="内容占位符 2"/>
          <p:cNvSpPr>
            <a:spLocks noGrp="1"/>
          </p:cNvSpPr>
          <p:nvPr>
            <p:ph idx="1"/>
          </p:nvPr>
        </p:nvSpPr>
        <p:spPr>
          <a:xfrm>
            <a:off x="457200" y="1125538"/>
            <a:ext cx="8229600" cy="3890963"/>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⑵分散刷新方式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把刷新操作</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分散到每个存取周期内</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进行；</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系统的存取周期被分为两部分：</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前一部分时间进行读写操作或保持；</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后一部分时间进行刷新操作。</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39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在一个系统存取周期内刷新存储矩阵中的一行；</a:t>
            </a:r>
            <a:endParaRPr kumimoji="0" lang="zh-CN" altLang="en-US" sz="239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系统存取周期</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sym typeface="+mn-ea"/>
              </a:rPr>
              <a:t>增加</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，如存取周期为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0.5us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，则系统为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1us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整个存储芯片刷新一遍需要</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32us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p:txBody>
      </p:sp>
      <p:grpSp>
        <p:nvGrpSpPr>
          <p:cNvPr id="53251" name="Group 4"/>
          <p:cNvGrpSpPr/>
          <p:nvPr/>
        </p:nvGrpSpPr>
        <p:grpSpPr>
          <a:xfrm>
            <a:off x="1820863" y="5022850"/>
            <a:ext cx="5372100" cy="1066800"/>
            <a:chOff x="1200" y="2688"/>
            <a:chExt cx="3384" cy="672"/>
          </a:xfrm>
        </p:grpSpPr>
        <p:sp>
          <p:nvSpPr>
            <p:cNvPr id="53252" name="Line 5"/>
            <p:cNvSpPr/>
            <p:nvPr/>
          </p:nvSpPr>
          <p:spPr>
            <a:xfrm>
              <a:off x="1226" y="2860"/>
              <a:ext cx="0" cy="500"/>
            </a:xfrm>
            <a:prstGeom prst="line">
              <a:avLst/>
            </a:prstGeom>
            <a:ln w="9525" cap="flat" cmpd="sng">
              <a:solidFill>
                <a:schemeClr val="tx1"/>
              </a:solidFill>
              <a:prstDash val="solid"/>
              <a:round/>
              <a:headEnd type="none" w="med" len="med"/>
              <a:tailEnd type="none" w="med" len="med"/>
            </a:ln>
          </p:spPr>
        </p:sp>
        <p:sp>
          <p:nvSpPr>
            <p:cNvPr id="53253" name="Line 6"/>
            <p:cNvSpPr/>
            <p:nvPr/>
          </p:nvSpPr>
          <p:spPr>
            <a:xfrm>
              <a:off x="1618" y="3027"/>
              <a:ext cx="0" cy="83"/>
            </a:xfrm>
            <a:prstGeom prst="line">
              <a:avLst/>
            </a:prstGeom>
            <a:ln w="9525" cap="flat" cmpd="sng">
              <a:solidFill>
                <a:schemeClr val="tx1"/>
              </a:solidFill>
              <a:prstDash val="solid"/>
              <a:round/>
              <a:headEnd type="none" w="med" len="med"/>
              <a:tailEnd type="none" w="med" len="med"/>
            </a:ln>
          </p:spPr>
        </p:sp>
        <p:sp>
          <p:nvSpPr>
            <p:cNvPr id="53254" name="Line 7"/>
            <p:cNvSpPr/>
            <p:nvPr/>
          </p:nvSpPr>
          <p:spPr>
            <a:xfrm>
              <a:off x="2010" y="2860"/>
              <a:ext cx="0" cy="250"/>
            </a:xfrm>
            <a:prstGeom prst="line">
              <a:avLst/>
            </a:prstGeom>
            <a:ln w="9525" cap="flat" cmpd="sng">
              <a:solidFill>
                <a:schemeClr val="tx1"/>
              </a:solidFill>
              <a:prstDash val="solid"/>
              <a:round/>
              <a:headEnd type="none" w="med" len="med"/>
              <a:tailEnd type="none" w="med" len="med"/>
            </a:ln>
          </p:spPr>
        </p:sp>
        <p:sp>
          <p:nvSpPr>
            <p:cNvPr id="53255" name="Line 8"/>
            <p:cNvSpPr/>
            <p:nvPr/>
          </p:nvSpPr>
          <p:spPr>
            <a:xfrm>
              <a:off x="2402" y="3027"/>
              <a:ext cx="0" cy="83"/>
            </a:xfrm>
            <a:prstGeom prst="line">
              <a:avLst/>
            </a:prstGeom>
            <a:ln w="9525" cap="flat" cmpd="sng">
              <a:solidFill>
                <a:schemeClr val="tx1"/>
              </a:solidFill>
              <a:prstDash val="solid"/>
              <a:round/>
              <a:headEnd type="none" w="med" len="med"/>
              <a:tailEnd type="none" w="med" len="med"/>
            </a:ln>
          </p:spPr>
        </p:sp>
        <p:sp>
          <p:nvSpPr>
            <p:cNvPr id="53256" name="Line 9"/>
            <p:cNvSpPr/>
            <p:nvPr/>
          </p:nvSpPr>
          <p:spPr>
            <a:xfrm>
              <a:off x="4364" y="2860"/>
              <a:ext cx="0" cy="500"/>
            </a:xfrm>
            <a:prstGeom prst="line">
              <a:avLst/>
            </a:prstGeom>
            <a:ln w="9525" cap="flat" cmpd="sng">
              <a:solidFill>
                <a:schemeClr val="tx1"/>
              </a:solidFill>
              <a:prstDash val="solid"/>
              <a:round/>
              <a:headEnd type="none" w="med" len="med"/>
              <a:tailEnd type="none" w="med" len="med"/>
            </a:ln>
          </p:spPr>
        </p:sp>
        <p:sp>
          <p:nvSpPr>
            <p:cNvPr id="53257" name="Line 10"/>
            <p:cNvSpPr/>
            <p:nvPr/>
          </p:nvSpPr>
          <p:spPr>
            <a:xfrm>
              <a:off x="2795" y="2860"/>
              <a:ext cx="0" cy="250"/>
            </a:xfrm>
            <a:prstGeom prst="line">
              <a:avLst/>
            </a:prstGeom>
            <a:ln w="9525" cap="flat" cmpd="sng">
              <a:solidFill>
                <a:schemeClr val="tx1"/>
              </a:solidFill>
              <a:prstDash val="solid"/>
              <a:round/>
              <a:headEnd type="none" w="med" len="med"/>
              <a:tailEnd type="none" w="med" len="med"/>
            </a:ln>
          </p:spPr>
        </p:sp>
        <p:sp>
          <p:nvSpPr>
            <p:cNvPr id="53258" name="Line 11"/>
            <p:cNvSpPr/>
            <p:nvPr/>
          </p:nvSpPr>
          <p:spPr>
            <a:xfrm>
              <a:off x="3972" y="3027"/>
              <a:ext cx="0" cy="83"/>
            </a:xfrm>
            <a:prstGeom prst="line">
              <a:avLst/>
            </a:prstGeom>
            <a:ln w="9525" cap="flat" cmpd="sng">
              <a:solidFill>
                <a:schemeClr val="tx1"/>
              </a:solidFill>
              <a:prstDash val="solid"/>
              <a:round/>
              <a:headEnd type="none" w="med" len="med"/>
              <a:tailEnd type="none" w="med" len="med"/>
            </a:ln>
          </p:spPr>
        </p:sp>
        <p:sp>
          <p:nvSpPr>
            <p:cNvPr id="53259" name="Line 12"/>
            <p:cNvSpPr/>
            <p:nvPr/>
          </p:nvSpPr>
          <p:spPr>
            <a:xfrm>
              <a:off x="3579" y="2860"/>
              <a:ext cx="0" cy="250"/>
            </a:xfrm>
            <a:prstGeom prst="line">
              <a:avLst/>
            </a:prstGeom>
            <a:ln w="9525" cap="flat" cmpd="sng">
              <a:solidFill>
                <a:schemeClr val="tx1"/>
              </a:solidFill>
              <a:prstDash val="solid"/>
              <a:round/>
              <a:headEnd type="none" w="med" len="med"/>
              <a:tailEnd type="none" w="med" len="med"/>
            </a:ln>
          </p:spPr>
        </p:sp>
        <p:sp>
          <p:nvSpPr>
            <p:cNvPr id="53260" name="Text Box 13"/>
            <p:cNvSpPr txBox="1"/>
            <p:nvPr/>
          </p:nvSpPr>
          <p:spPr>
            <a:xfrm>
              <a:off x="2108" y="3094"/>
              <a:ext cx="1655"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刷新间隔（32 </a:t>
              </a:r>
              <a:r>
                <a:rPr lang="en-US" altLang="en-US" sz="2000" b="1" dirty="0">
                  <a:solidFill>
                    <a:schemeClr val="tx1"/>
                  </a:solidFill>
                  <a:latin typeface="Times New Roman" panose="02020603050405020304" pitchFamily="18" charset="0"/>
                  <a:ea typeface="宋体" panose="02010600030101010101" pitchFamily="2" charset="-122"/>
                </a:rPr>
                <a:t>µ</a:t>
              </a:r>
              <a:r>
                <a:rPr lang="en-US" altLang="zh-CN" sz="2000" b="1" dirty="0">
                  <a:solidFill>
                    <a:schemeClr val="tx1"/>
                  </a:solidFill>
                  <a:latin typeface="Times New Roman" panose="02020603050405020304" pitchFamily="18" charset="0"/>
                  <a:ea typeface="宋体" panose="02010600030101010101" pitchFamily="2" charset="-122"/>
                </a:rPr>
                <a:t>s）</a:t>
              </a:r>
              <a:endParaRPr lang="en-US" altLang="zh-CN" sz="2000" b="1" dirty="0">
                <a:solidFill>
                  <a:schemeClr val="tx1"/>
                </a:solidFill>
                <a:latin typeface="Times New Roman" panose="02020603050405020304" pitchFamily="18" charset="0"/>
                <a:ea typeface="宋体" panose="02010600030101010101" pitchFamily="2" charset="-122"/>
              </a:endParaRPr>
            </a:p>
          </p:txBody>
        </p:sp>
        <p:sp>
          <p:nvSpPr>
            <p:cNvPr id="53261" name="Text Box 14"/>
            <p:cNvSpPr txBox="1"/>
            <p:nvPr/>
          </p:nvSpPr>
          <p:spPr>
            <a:xfrm>
              <a:off x="1311" y="2688"/>
              <a:ext cx="662"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周期0</a:t>
              </a:r>
              <a:endParaRPr lang="zh-CN" altLang="en-US" sz="2000" b="1" dirty="0">
                <a:solidFill>
                  <a:schemeClr val="tx1"/>
                </a:solidFill>
                <a:latin typeface="Times New Roman" panose="02020603050405020304" pitchFamily="18" charset="0"/>
                <a:ea typeface="宋体" panose="02010600030101010101" pitchFamily="2" charset="-122"/>
              </a:endParaRPr>
            </a:p>
          </p:txBody>
        </p:sp>
        <p:sp>
          <p:nvSpPr>
            <p:cNvPr id="53262" name="Text Box 15"/>
            <p:cNvSpPr txBox="1"/>
            <p:nvPr/>
          </p:nvSpPr>
          <p:spPr>
            <a:xfrm>
              <a:off x="2120" y="2688"/>
              <a:ext cx="662"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周期1</a:t>
              </a:r>
              <a:endParaRPr lang="zh-CN" altLang="en-US" sz="2000" b="1" dirty="0">
                <a:solidFill>
                  <a:schemeClr val="tx1"/>
                </a:solidFill>
                <a:latin typeface="Times New Roman" panose="02020603050405020304" pitchFamily="18" charset="0"/>
                <a:ea typeface="宋体" panose="02010600030101010101" pitchFamily="2" charset="-122"/>
              </a:endParaRPr>
            </a:p>
          </p:txBody>
        </p:sp>
        <p:sp>
          <p:nvSpPr>
            <p:cNvPr id="53263" name="Text Box 16"/>
            <p:cNvSpPr txBox="1"/>
            <p:nvPr/>
          </p:nvSpPr>
          <p:spPr>
            <a:xfrm>
              <a:off x="3641" y="2688"/>
              <a:ext cx="784"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周期31</a:t>
              </a:r>
              <a:endParaRPr lang="zh-CN" altLang="en-US" sz="2000" b="1" dirty="0">
                <a:solidFill>
                  <a:schemeClr val="tx1"/>
                </a:solidFill>
                <a:latin typeface="Times New Roman" panose="02020603050405020304" pitchFamily="18" charset="0"/>
                <a:ea typeface="宋体" panose="02010600030101010101" pitchFamily="2" charset="-122"/>
              </a:endParaRPr>
            </a:p>
          </p:txBody>
        </p:sp>
        <p:sp>
          <p:nvSpPr>
            <p:cNvPr id="53264" name="Text Box 17"/>
            <p:cNvSpPr txBox="1"/>
            <p:nvPr/>
          </p:nvSpPr>
          <p:spPr>
            <a:xfrm>
              <a:off x="1200" y="2902"/>
              <a:ext cx="907"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3265" name="Text Box 18"/>
            <p:cNvSpPr txBox="1"/>
            <p:nvPr/>
          </p:nvSpPr>
          <p:spPr>
            <a:xfrm>
              <a:off x="1972" y="2902"/>
              <a:ext cx="907"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3266" name="Text Box 19"/>
            <p:cNvSpPr txBox="1"/>
            <p:nvPr/>
          </p:nvSpPr>
          <p:spPr>
            <a:xfrm>
              <a:off x="3541" y="2902"/>
              <a:ext cx="908"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3267" name="Text Box 20"/>
            <p:cNvSpPr txBox="1"/>
            <p:nvPr/>
          </p:nvSpPr>
          <p:spPr>
            <a:xfrm>
              <a:off x="1593" y="2891"/>
              <a:ext cx="625"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3268" name="Text Box 21"/>
            <p:cNvSpPr txBox="1"/>
            <p:nvPr/>
          </p:nvSpPr>
          <p:spPr>
            <a:xfrm>
              <a:off x="2389" y="2891"/>
              <a:ext cx="626"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3269" name="Text Box 22"/>
            <p:cNvSpPr txBox="1"/>
            <p:nvPr/>
          </p:nvSpPr>
          <p:spPr>
            <a:xfrm>
              <a:off x="3959" y="2891"/>
              <a:ext cx="625"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3270" name="Text Box 23"/>
            <p:cNvSpPr txBox="1"/>
            <p:nvPr/>
          </p:nvSpPr>
          <p:spPr>
            <a:xfrm>
              <a:off x="2978" y="2880"/>
              <a:ext cx="1006" cy="327"/>
            </a:xfrm>
            <a:prstGeom prst="rect">
              <a:avLst/>
            </a:prstGeom>
            <a:noFill/>
            <a:ln w="9525">
              <a:noFill/>
            </a:ln>
          </p:spPr>
          <p:txBody>
            <a:bodyPr anchor="t" anchorCtr="0">
              <a:spAutoFit/>
            </a:bodyPr>
            <a:p>
              <a:pPr eaLnBrk="0" hangingPunct="0">
                <a:spcBef>
                  <a:spcPct val="50000"/>
                </a:spcBef>
              </a:pPr>
              <a:r>
                <a:rPr lang="zh-CN" altLang="en-US" sz="2800" dirty="0">
                  <a:solidFill>
                    <a:schemeClr val="tx1"/>
                  </a:solidFill>
                  <a:latin typeface="Times New Roman" panose="02020603050405020304" pitchFamily="18" charset="0"/>
                  <a:ea typeface="宋体" panose="02010600030101010101" pitchFamily="2" charset="-122"/>
                </a:rPr>
                <a:t>…</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53271" name="Line 24"/>
            <p:cNvSpPr/>
            <p:nvPr/>
          </p:nvSpPr>
          <p:spPr>
            <a:xfrm>
              <a:off x="1224" y="3300"/>
              <a:ext cx="3138" cy="0"/>
            </a:xfrm>
            <a:prstGeom prst="line">
              <a:avLst/>
            </a:prstGeom>
            <a:ln w="19050" cap="flat" cmpd="sng">
              <a:solidFill>
                <a:schemeClr val="tx1"/>
              </a:solidFill>
              <a:prstDash val="solid"/>
              <a:round/>
              <a:headEnd type="stealth" w="sm" len="lg"/>
              <a:tailEnd type="stealth" w="sm" len="lg"/>
            </a:ln>
          </p:spPr>
        </p:sp>
        <p:sp>
          <p:nvSpPr>
            <p:cNvPr id="53272" name="Line 25"/>
            <p:cNvSpPr/>
            <p:nvPr/>
          </p:nvSpPr>
          <p:spPr>
            <a:xfrm>
              <a:off x="2010" y="2907"/>
              <a:ext cx="785" cy="0"/>
            </a:xfrm>
            <a:prstGeom prst="line">
              <a:avLst/>
            </a:prstGeom>
            <a:ln w="19050" cap="flat" cmpd="sng">
              <a:solidFill>
                <a:schemeClr val="tx1"/>
              </a:solidFill>
              <a:prstDash val="solid"/>
              <a:round/>
              <a:headEnd type="stealth" w="sm" len="lg"/>
              <a:tailEnd type="stealth" w="sm" len="lg"/>
            </a:ln>
          </p:spPr>
        </p:sp>
        <p:sp>
          <p:nvSpPr>
            <p:cNvPr id="53273" name="Line 26"/>
            <p:cNvSpPr/>
            <p:nvPr/>
          </p:nvSpPr>
          <p:spPr>
            <a:xfrm>
              <a:off x="3579" y="2907"/>
              <a:ext cx="785" cy="0"/>
            </a:xfrm>
            <a:prstGeom prst="line">
              <a:avLst/>
            </a:prstGeom>
            <a:ln w="19050" cap="flat" cmpd="sng">
              <a:solidFill>
                <a:schemeClr val="tx1"/>
              </a:solidFill>
              <a:prstDash val="solid"/>
              <a:round/>
              <a:headEnd type="stealth" w="sm" len="lg"/>
              <a:tailEnd type="stealth" w="sm" len="lg"/>
            </a:ln>
          </p:spPr>
        </p:sp>
        <p:sp>
          <p:nvSpPr>
            <p:cNvPr id="53274" name="Line 27"/>
            <p:cNvSpPr/>
            <p:nvPr/>
          </p:nvSpPr>
          <p:spPr>
            <a:xfrm>
              <a:off x="1226" y="2907"/>
              <a:ext cx="784" cy="0"/>
            </a:xfrm>
            <a:prstGeom prst="line">
              <a:avLst/>
            </a:prstGeom>
            <a:ln w="19050" cap="flat" cmpd="sng">
              <a:solidFill>
                <a:schemeClr val="tx1"/>
              </a:solidFill>
              <a:prstDash val="solid"/>
              <a:round/>
              <a:headEnd type="stealth" w="sm" len="lg"/>
              <a:tailEnd type="stealth" w="sm" len="lg"/>
            </a:ln>
          </p:spPr>
        </p:sp>
        <p:sp>
          <p:nvSpPr>
            <p:cNvPr id="53275" name="Line 28"/>
            <p:cNvSpPr/>
            <p:nvPr/>
          </p:nvSpPr>
          <p:spPr>
            <a:xfrm>
              <a:off x="3359" y="3108"/>
              <a:ext cx="1005" cy="0"/>
            </a:xfrm>
            <a:prstGeom prst="line">
              <a:avLst/>
            </a:prstGeom>
            <a:ln w="9525" cap="flat" cmpd="sng">
              <a:solidFill>
                <a:schemeClr val="tx1"/>
              </a:solidFill>
              <a:prstDash val="solid"/>
              <a:round/>
              <a:headEnd type="none" w="med" len="med"/>
              <a:tailEnd type="none" w="med" len="med"/>
            </a:ln>
          </p:spPr>
        </p:sp>
        <p:sp>
          <p:nvSpPr>
            <p:cNvPr id="53276" name="Line 29"/>
            <p:cNvSpPr/>
            <p:nvPr/>
          </p:nvSpPr>
          <p:spPr>
            <a:xfrm>
              <a:off x="1226" y="3108"/>
              <a:ext cx="1765" cy="0"/>
            </a:xfrm>
            <a:prstGeom prst="line">
              <a:avLst/>
            </a:prstGeom>
            <a:ln w="9525" cap="flat" cmpd="sng">
              <a:solidFill>
                <a:schemeClr val="tx1"/>
              </a:solidFill>
              <a:prstDash val="solid"/>
              <a:round/>
              <a:headEnd type="none" w="med" len="med"/>
              <a:tailEnd type="none" w="med" len="med"/>
            </a:ln>
          </p:spPr>
        </p:sp>
      </p:grpSp>
      <p:sp>
        <p:nvSpPr>
          <p:cNvPr id="30" name="Rectangle 3"/>
          <p:cNvSpPr txBox="1">
            <a:spLocks noChangeArrowheads="1"/>
          </p:cNvSpPr>
          <p:nvPr/>
        </p:nvSpPr>
        <p:spPr bwMode="auto">
          <a:xfrm>
            <a:off x="2351088" y="6119813"/>
            <a:ext cx="4606925" cy="5762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tx1"/>
              </a:buClr>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图5-10 分散刷新方式示意图</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ndParaRPr>
          </a:p>
        </p:txBody>
      </p:sp>
      <p:sp>
        <p:nvSpPr>
          <p:cNvPr id="55299" name="内容占位符 2"/>
          <p:cNvSpPr>
            <a:spLocks noGrp="1"/>
          </p:cNvSpPr>
          <p:nvPr>
            <p:ph idx="1"/>
          </p:nvPr>
        </p:nvSpPr>
        <p:spPr>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优点：</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没有死区</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缺点：</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加长了系统的存取周期，</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降低了整机的速度</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刷新过于频繁（本例中每</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32us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就重复刷新一遍）：</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8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没有充分利用所允许的最大刷新间隔（</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2ms</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ndParaRPr>
          </a:p>
        </p:txBody>
      </p:sp>
      <p:sp>
        <p:nvSpPr>
          <p:cNvPr id="56323" name="内容占位符 2"/>
          <p:cNvSpPr>
            <a:spLocks noGrp="1"/>
          </p:cNvSpPr>
          <p:nvPr>
            <p:ph idx="1"/>
          </p:nvPr>
        </p:nvSpPr>
        <p:spPr>
          <a:xfrm>
            <a:off x="457200" y="1268413"/>
            <a:ext cx="8229600" cy="3884613"/>
          </a:xfrm>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⑶异步刷新方式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刷新操作平均分配到整个最大刷新间隔时间内进行；</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相邻两行的刷新间隔</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最大刷新间隔时间</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行数；</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对于</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32×32</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矩阵，在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2ms</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内需要将</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32</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行刷新一遍：</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相邻两行的刷新时间间隔</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=2ms÷32=62.5us</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每隔</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62.5us</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安排一个刷新周期。</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在刷新时封锁读写。</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grpSp>
        <p:nvGrpSpPr>
          <p:cNvPr id="55299" name="Group 4"/>
          <p:cNvGrpSpPr/>
          <p:nvPr/>
        </p:nvGrpSpPr>
        <p:grpSpPr>
          <a:xfrm>
            <a:off x="1384300" y="4964113"/>
            <a:ext cx="6334125" cy="1114425"/>
            <a:chOff x="936" y="2598"/>
            <a:chExt cx="3990" cy="702"/>
          </a:xfrm>
        </p:grpSpPr>
        <p:sp>
          <p:nvSpPr>
            <p:cNvPr id="55300" name="Line 5"/>
            <p:cNvSpPr/>
            <p:nvPr/>
          </p:nvSpPr>
          <p:spPr>
            <a:xfrm>
              <a:off x="3771" y="2762"/>
              <a:ext cx="0" cy="302"/>
            </a:xfrm>
            <a:prstGeom prst="line">
              <a:avLst/>
            </a:prstGeom>
            <a:ln w="9525" cap="flat" cmpd="sng">
              <a:solidFill>
                <a:schemeClr val="tx1"/>
              </a:solidFill>
              <a:prstDash val="solid"/>
              <a:round/>
              <a:headEnd type="none" w="med" len="med"/>
              <a:tailEnd type="none" w="med" len="med"/>
            </a:ln>
          </p:spPr>
        </p:sp>
        <p:sp>
          <p:nvSpPr>
            <p:cNvPr id="55301" name="Line 6"/>
            <p:cNvSpPr/>
            <p:nvPr/>
          </p:nvSpPr>
          <p:spPr>
            <a:xfrm>
              <a:off x="936" y="2762"/>
              <a:ext cx="0" cy="538"/>
            </a:xfrm>
            <a:prstGeom prst="line">
              <a:avLst/>
            </a:prstGeom>
            <a:ln w="9525" cap="flat" cmpd="sng">
              <a:solidFill>
                <a:schemeClr val="tx1"/>
              </a:solidFill>
              <a:prstDash val="solid"/>
              <a:round/>
              <a:headEnd type="none" w="med" len="med"/>
              <a:tailEnd type="none" w="med" len="med"/>
            </a:ln>
          </p:spPr>
        </p:sp>
        <p:sp>
          <p:nvSpPr>
            <p:cNvPr id="55302" name="Line 7"/>
            <p:cNvSpPr/>
            <p:nvPr/>
          </p:nvSpPr>
          <p:spPr>
            <a:xfrm>
              <a:off x="936" y="2829"/>
              <a:ext cx="2304" cy="0"/>
            </a:xfrm>
            <a:prstGeom prst="line">
              <a:avLst/>
            </a:prstGeom>
            <a:ln w="9525" cap="flat" cmpd="sng">
              <a:solidFill>
                <a:schemeClr val="tx1"/>
              </a:solidFill>
              <a:prstDash val="solid"/>
              <a:round/>
              <a:headEnd type="none" w="med" len="med"/>
              <a:tailEnd type="none" w="med" len="med"/>
            </a:ln>
          </p:spPr>
        </p:sp>
        <p:sp>
          <p:nvSpPr>
            <p:cNvPr id="55303" name="Line 8"/>
            <p:cNvSpPr/>
            <p:nvPr/>
          </p:nvSpPr>
          <p:spPr>
            <a:xfrm>
              <a:off x="3594" y="2829"/>
              <a:ext cx="1152" cy="0"/>
            </a:xfrm>
            <a:prstGeom prst="line">
              <a:avLst/>
            </a:prstGeom>
            <a:ln w="9525" cap="flat" cmpd="sng">
              <a:solidFill>
                <a:schemeClr val="tx1"/>
              </a:solidFill>
              <a:prstDash val="solid"/>
              <a:round/>
              <a:headEnd type="none" w="med" len="med"/>
              <a:tailEnd type="none" w="med" len="med"/>
            </a:ln>
          </p:spPr>
        </p:sp>
        <p:sp>
          <p:nvSpPr>
            <p:cNvPr id="55304" name="Line 9"/>
            <p:cNvSpPr/>
            <p:nvPr/>
          </p:nvSpPr>
          <p:spPr>
            <a:xfrm>
              <a:off x="2000" y="2762"/>
              <a:ext cx="0" cy="314"/>
            </a:xfrm>
            <a:prstGeom prst="line">
              <a:avLst/>
            </a:prstGeom>
            <a:ln w="9525" cap="flat" cmpd="sng">
              <a:solidFill>
                <a:schemeClr val="tx1"/>
              </a:solidFill>
              <a:prstDash val="solid"/>
              <a:round/>
              <a:headEnd type="none" w="med" len="med"/>
              <a:tailEnd type="none" w="med" len="med"/>
            </a:ln>
          </p:spPr>
        </p:sp>
        <p:sp>
          <p:nvSpPr>
            <p:cNvPr id="55305" name="Line 10"/>
            <p:cNvSpPr/>
            <p:nvPr/>
          </p:nvSpPr>
          <p:spPr>
            <a:xfrm>
              <a:off x="1645" y="2762"/>
              <a:ext cx="0" cy="314"/>
            </a:xfrm>
            <a:prstGeom prst="line">
              <a:avLst/>
            </a:prstGeom>
            <a:ln w="9525" cap="flat" cmpd="sng">
              <a:solidFill>
                <a:schemeClr val="tx1"/>
              </a:solidFill>
              <a:prstDash val="solid"/>
              <a:round/>
              <a:headEnd type="none" w="med" len="med"/>
              <a:tailEnd type="none" w="med" len="med"/>
            </a:ln>
          </p:spPr>
        </p:sp>
        <p:sp>
          <p:nvSpPr>
            <p:cNvPr id="55306" name="Line 11"/>
            <p:cNvSpPr/>
            <p:nvPr/>
          </p:nvSpPr>
          <p:spPr>
            <a:xfrm>
              <a:off x="2708" y="2739"/>
              <a:ext cx="0" cy="90"/>
            </a:xfrm>
            <a:prstGeom prst="line">
              <a:avLst/>
            </a:prstGeom>
            <a:ln w="9525" cap="flat" cmpd="sng">
              <a:solidFill>
                <a:schemeClr val="tx1"/>
              </a:solidFill>
              <a:prstDash val="solid"/>
              <a:round/>
              <a:headEnd type="none" w="med" len="med"/>
              <a:tailEnd type="none" w="med" len="med"/>
            </a:ln>
          </p:spPr>
        </p:sp>
        <p:sp>
          <p:nvSpPr>
            <p:cNvPr id="55307" name="Line 12"/>
            <p:cNvSpPr/>
            <p:nvPr/>
          </p:nvSpPr>
          <p:spPr>
            <a:xfrm>
              <a:off x="4746" y="2762"/>
              <a:ext cx="0" cy="538"/>
            </a:xfrm>
            <a:prstGeom prst="line">
              <a:avLst/>
            </a:prstGeom>
            <a:ln w="9525" cap="flat" cmpd="sng">
              <a:solidFill>
                <a:schemeClr val="tx1"/>
              </a:solidFill>
              <a:prstDash val="solid"/>
              <a:round/>
              <a:headEnd type="none" w="med" len="med"/>
              <a:tailEnd type="none" w="med" len="med"/>
            </a:ln>
          </p:spPr>
        </p:sp>
        <p:sp>
          <p:nvSpPr>
            <p:cNvPr id="55308" name="Line 13"/>
            <p:cNvSpPr/>
            <p:nvPr/>
          </p:nvSpPr>
          <p:spPr>
            <a:xfrm>
              <a:off x="3062" y="2762"/>
              <a:ext cx="0" cy="302"/>
            </a:xfrm>
            <a:prstGeom prst="line">
              <a:avLst/>
            </a:prstGeom>
            <a:ln w="9525" cap="flat" cmpd="sng">
              <a:solidFill>
                <a:schemeClr val="tx1"/>
              </a:solidFill>
              <a:prstDash val="solid"/>
              <a:round/>
              <a:headEnd type="none" w="med" len="med"/>
              <a:tailEnd type="none" w="med" len="med"/>
            </a:ln>
          </p:spPr>
        </p:sp>
        <p:sp>
          <p:nvSpPr>
            <p:cNvPr id="55309" name="Line 14"/>
            <p:cNvSpPr/>
            <p:nvPr/>
          </p:nvSpPr>
          <p:spPr>
            <a:xfrm>
              <a:off x="4391" y="2739"/>
              <a:ext cx="0" cy="90"/>
            </a:xfrm>
            <a:prstGeom prst="line">
              <a:avLst/>
            </a:prstGeom>
            <a:ln w="9525" cap="flat" cmpd="sng">
              <a:solidFill>
                <a:schemeClr val="tx1"/>
              </a:solidFill>
              <a:prstDash val="solid"/>
              <a:round/>
              <a:headEnd type="none" w="med" len="med"/>
              <a:tailEnd type="none" w="med" len="med"/>
            </a:ln>
          </p:spPr>
        </p:sp>
        <p:sp>
          <p:nvSpPr>
            <p:cNvPr id="55310" name="Line 15"/>
            <p:cNvSpPr/>
            <p:nvPr/>
          </p:nvSpPr>
          <p:spPr>
            <a:xfrm>
              <a:off x="936" y="3007"/>
              <a:ext cx="709" cy="0"/>
            </a:xfrm>
            <a:prstGeom prst="line">
              <a:avLst/>
            </a:prstGeom>
            <a:ln w="19050" cap="flat" cmpd="sng">
              <a:solidFill>
                <a:schemeClr val="tx1"/>
              </a:solidFill>
              <a:prstDash val="solid"/>
              <a:round/>
              <a:headEnd type="stealth" w="sm" len="lg"/>
              <a:tailEnd type="stealth" w="sm" len="lg"/>
            </a:ln>
          </p:spPr>
        </p:sp>
        <p:sp>
          <p:nvSpPr>
            <p:cNvPr id="55311" name="Line 16"/>
            <p:cNvSpPr/>
            <p:nvPr/>
          </p:nvSpPr>
          <p:spPr>
            <a:xfrm>
              <a:off x="1645" y="3007"/>
              <a:ext cx="355" cy="0"/>
            </a:xfrm>
            <a:prstGeom prst="line">
              <a:avLst/>
            </a:prstGeom>
            <a:ln w="19050" cap="flat" cmpd="sng">
              <a:solidFill>
                <a:schemeClr val="tx1"/>
              </a:solidFill>
              <a:prstDash val="solid"/>
              <a:round/>
              <a:headEnd type="stealth" w="sm" len="lg"/>
              <a:tailEnd type="stealth" w="sm" len="lg"/>
            </a:ln>
          </p:spPr>
        </p:sp>
        <p:sp>
          <p:nvSpPr>
            <p:cNvPr id="55312" name="Line 17"/>
            <p:cNvSpPr/>
            <p:nvPr/>
          </p:nvSpPr>
          <p:spPr>
            <a:xfrm>
              <a:off x="2000" y="3007"/>
              <a:ext cx="1062" cy="0"/>
            </a:xfrm>
            <a:prstGeom prst="line">
              <a:avLst/>
            </a:prstGeom>
            <a:ln w="19050" cap="flat" cmpd="sng">
              <a:solidFill>
                <a:schemeClr val="tx1"/>
              </a:solidFill>
              <a:prstDash val="solid"/>
              <a:round/>
              <a:headEnd type="stealth" w="sm" len="lg"/>
              <a:tailEnd type="stealth" w="sm" len="lg"/>
            </a:ln>
          </p:spPr>
        </p:sp>
        <p:sp>
          <p:nvSpPr>
            <p:cNvPr id="55313" name="Line 18"/>
            <p:cNvSpPr/>
            <p:nvPr/>
          </p:nvSpPr>
          <p:spPr>
            <a:xfrm>
              <a:off x="3771" y="3007"/>
              <a:ext cx="975" cy="0"/>
            </a:xfrm>
            <a:prstGeom prst="line">
              <a:avLst/>
            </a:prstGeom>
            <a:ln w="19050" cap="flat" cmpd="sng">
              <a:solidFill>
                <a:schemeClr val="tx1"/>
              </a:solidFill>
              <a:prstDash val="solid"/>
              <a:round/>
              <a:headEnd type="stealth" w="sm" len="lg"/>
              <a:tailEnd type="stealth" w="sm" len="lg"/>
            </a:ln>
          </p:spPr>
        </p:sp>
        <p:sp>
          <p:nvSpPr>
            <p:cNvPr id="55314" name="Line 19"/>
            <p:cNvSpPr/>
            <p:nvPr/>
          </p:nvSpPr>
          <p:spPr>
            <a:xfrm>
              <a:off x="936" y="3197"/>
              <a:ext cx="3810" cy="0"/>
            </a:xfrm>
            <a:prstGeom prst="line">
              <a:avLst/>
            </a:prstGeom>
            <a:ln w="19050" cap="flat" cmpd="sng">
              <a:solidFill>
                <a:schemeClr val="tx1"/>
              </a:solidFill>
              <a:prstDash val="solid"/>
              <a:round/>
              <a:headEnd type="stealth" w="sm" len="lg"/>
              <a:tailEnd type="stealth" w="sm" len="lg"/>
            </a:ln>
          </p:spPr>
        </p:sp>
        <p:sp>
          <p:nvSpPr>
            <p:cNvPr id="55315" name="Text Box 20"/>
            <p:cNvSpPr txBox="1"/>
            <p:nvPr/>
          </p:nvSpPr>
          <p:spPr>
            <a:xfrm>
              <a:off x="2099" y="3008"/>
              <a:ext cx="1673"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刷新间隔（2 </a:t>
              </a:r>
              <a:r>
                <a:rPr lang="en-US" altLang="zh-CN" sz="2000" b="1" dirty="0">
                  <a:solidFill>
                    <a:schemeClr val="tx1"/>
                  </a:solidFill>
                  <a:latin typeface="Times New Roman" panose="02020603050405020304" pitchFamily="18" charset="0"/>
                  <a:ea typeface="宋体" panose="02010600030101010101" pitchFamily="2" charset="-122"/>
                </a:rPr>
                <a:t>ms）</a:t>
              </a:r>
              <a:endParaRPr lang="en-US" altLang="zh-CN" sz="2000" b="1" dirty="0">
                <a:solidFill>
                  <a:schemeClr val="tx1"/>
                </a:solidFill>
                <a:latin typeface="Times New Roman" panose="02020603050405020304" pitchFamily="18" charset="0"/>
                <a:ea typeface="宋体" panose="02010600030101010101" pitchFamily="2" charset="-122"/>
              </a:endParaRPr>
            </a:p>
          </p:txBody>
        </p:sp>
        <p:sp>
          <p:nvSpPr>
            <p:cNvPr id="55316" name="Text Box 21"/>
            <p:cNvSpPr txBox="1"/>
            <p:nvPr/>
          </p:nvSpPr>
          <p:spPr>
            <a:xfrm>
              <a:off x="3841" y="2611"/>
              <a:ext cx="819"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5317" name="Text Box 22"/>
            <p:cNvSpPr txBox="1"/>
            <p:nvPr/>
          </p:nvSpPr>
          <p:spPr>
            <a:xfrm>
              <a:off x="2135" y="2611"/>
              <a:ext cx="819"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5318" name="Text Box 23"/>
            <p:cNvSpPr txBox="1"/>
            <p:nvPr/>
          </p:nvSpPr>
          <p:spPr>
            <a:xfrm>
              <a:off x="1038" y="2611"/>
              <a:ext cx="820" cy="250"/>
            </a:xfrm>
            <a:prstGeom prst="rect">
              <a:avLst/>
            </a:prstGeom>
            <a:noFill/>
            <a:ln w="9525">
              <a:noFill/>
            </a:ln>
          </p:spPr>
          <p:txBody>
            <a:bodyPr anchor="t" anchorCtr="0">
              <a:spAutoFit/>
            </a:bodyPr>
            <a:p>
              <a:pPr eaLnBrk="0" hangingPunct="0">
                <a:spcBef>
                  <a:spcPct val="50000"/>
                </a:spcBef>
              </a:pPr>
              <a:r>
                <a:rPr lang="zh-CN" altLang="en-US" sz="2000" b="1" dirty="0">
                  <a:solidFill>
                    <a:srgbClr val="009900"/>
                  </a:solidFill>
                  <a:latin typeface="Times New Roman" panose="02020603050405020304" pitchFamily="18" charset="0"/>
                  <a:ea typeface="宋体" panose="02010600030101010101" pitchFamily="2" charset="-122"/>
                </a:rPr>
                <a:t>读写</a:t>
              </a:r>
              <a:endParaRPr lang="zh-CN" altLang="en-US" sz="2000" b="1" dirty="0">
                <a:solidFill>
                  <a:srgbClr val="009900"/>
                </a:solidFill>
                <a:latin typeface="Times New Roman" panose="02020603050405020304" pitchFamily="18" charset="0"/>
                <a:ea typeface="宋体" panose="02010600030101010101" pitchFamily="2" charset="-122"/>
              </a:endParaRPr>
            </a:p>
          </p:txBody>
        </p:sp>
        <p:sp>
          <p:nvSpPr>
            <p:cNvPr id="55319" name="Text Box 24"/>
            <p:cNvSpPr txBox="1"/>
            <p:nvPr/>
          </p:nvSpPr>
          <p:spPr>
            <a:xfrm>
              <a:off x="4361" y="2600"/>
              <a:ext cx="565"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5320" name="Text Box 25"/>
            <p:cNvSpPr txBox="1"/>
            <p:nvPr/>
          </p:nvSpPr>
          <p:spPr>
            <a:xfrm>
              <a:off x="2683" y="2600"/>
              <a:ext cx="565"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5321" name="Text Box 26"/>
            <p:cNvSpPr txBox="1"/>
            <p:nvPr/>
          </p:nvSpPr>
          <p:spPr>
            <a:xfrm>
              <a:off x="1620" y="2600"/>
              <a:ext cx="565"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刷新</a:t>
              </a:r>
              <a:endParaRPr lang="zh-CN" altLang="en-US" sz="2000" b="1" dirty="0">
                <a:solidFill>
                  <a:srgbClr val="FF3300"/>
                </a:solidFill>
                <a:latin typeface="Times New Roman" panose="02020603050405020304" pitchFamily="18" charset="0"/>
                <a:ea typeface="宋体" panose="02010600030101010101" pitchFamily="2" charset="-122"/>
              </a:endParaRPr>
            </a:p>
          </p:txBody>
        </p:sp>
        <p:sp>
          <p:nvSpPr>
            <p:cNvPr id="55322" name="Text Box 27"/>
            <p:cNvSpPr txBox="1"/>
            <p:nvPr/>
          </p:nvSpPr>
          <p:spPr>
            <a:xfrm>
              <a:off x="3245" y="2598"/>
              <a:ext cx="907" cy="327"/>
            </a:xfrm>
            <a:prstGeom prst="rect">
              <a:avLst/>
            </a:prstGeom>
            <a:noFill/>
            <a:ln w="9525">
              <a:noFill/>
            </a:ln>
          </p:spPr>
          <p:txBody>
            <a:bodyPr anchor="t" anchorCtr="0">
              <a:spAutoFit/>
            </a:bodyPr>
            <a:p>
              <a:pPr eaLnBrk="0" hangingPunct="0">
                <a:spcBef>
                  <a:spcPct val="50000"/>
                </a:spcBef>
              </a:pPr>
              <a:r>
                <a:rPr lang="zh-CN" altLang="en-US" sz="2800" dirty="0">
                  <a:solidFill>
                    <a:schemeClr val="tx1"/>
                  </a:solidFill>
                  <a:latin typeface="Times New Roman" panose="02020603050405020304" pitchFamily="18" charset="0"/>
                  <a:ea typeface="宋体" panose="02010600030101010101" pitchFamily="2" charset="-122"/>
                </a:rPr>
                <a:t>…</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55323" name="Text Box 28"/>
            <p:cNvSpPr txBox="1"/>
            <p:nvPr/>
          </p:nvSpPr>
          <p:spPr>
            <a:xfrm>
              <a:off x="1127" y="2795"/>
              <a:ext cx="608"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62µ</a:t>
              </a:r>
              <a:r>
                <a:rPr lang="en-US" altLang="zh-CN" sz="2000" b="1" dirty="0">
                  <a:solidFill>
                    <a:schemeClr val="tx1"/>
                  </a:solidFill>
                  <a:latin typeface="Times New Roman" panose="02020603050405020304" pitchFamily="18" charset="0"/>
                  <a:ea typeface="宋体" panose="02010600030101010101" pitchFamily="2" charset="-122"/>
                </a:rPr>
                <a:t>s</a:t>
              </a:r>
              <a:endParaRPr lang="en-US" altLang="zh-CN" sz="2000" b="1" dirty="0">
                <a:solidFill>
                  <a:schemeClr val="tx1"/>
                </a:solidFill>
                <a:latin typeface="Times New Roman" panose="02020603050405020304" pitchFamily="18" charset="0"/>
                <a:ea typeface="宋体" panose="02010600030101010101" pitchFamily="2" charset="-122"/>
              </a:endParaRPr>
            </a:p>
          </p:txBody>
        </p:sp>
        <p:sp>
          <p:nvSpPr>
            <p:cNvPr id="55324" name="Text Box 29"/>
            <p:cNvSpPr txBox="1"/>
            <p:nvPr/>
          </p:nvSpPr>
          <p:spPr>
            <a:xfrm>
              <a:off x="1592" y="2795"/>
              <a:ext cx="609" cy="250"/>
            </a:xfrm>
            <a:prstGeom prst="rect">
              <a:avLst/>
            </a:prstGeom>
            <a:noFill/>
            <a:ln w="9525">
              <a:noFill/>
            </a:ln>
          </p:spPr>
          <p:txBody>
            <a:bodyPr anchor="t" anchorCtr="0">
              <a:spAutoFit/>
            </a:bodyPr>
            <a:p>
              <a:pPr eaLnBrk="0" hangingPunct="0">
                <a:spcBef>
                  <a:spcPct val="50000"/>
                </a:spcBef>
              </a:pPr>
              <a:r>
                <a:rPr lang="zh-CN" altLang="en-US" sz="2000" b="1" dirty="0">
                  <a:solidFill>
                    <a:srgbClr val="FF3300"/>
                  </a:solidFill>
                  <a:latin typeface="Times New Roman" panose="02020603050405020304" pitchFamily="18" charset="0"/>
                  <a:ea typeface="宋体" panose="02010600030101010101" pitchFamily="2" charset="-122"/>
                </a:rPr>
                <a:t>0.5µ</a:t>
              </a:r>
              <a:r>
                <a:rPr lang="en-US" altLang="zh-CN" sz="2000" b="1" dirty="0">
                  <a:solidFill>
                    <a:srgbClr val="FF3300"/>
                  </a:solidFill>
                  <a:latin typeface="Times New Roman" panose="02020603050405020304" pitchFamily="18" charset="0"/>
                  <a:ea typeface="宋体" panose="02010600030101010101" pitchFamily="2" charset="-122"/>
                </a:rPr>
                <a:t>s</a:t>
              </a:r>
              <a:endParaRPr lang="en-US" altLang="zh-CN" sz="2000" b="1" dirty="0">
                <a:solidFill>
                  <a:srgbClr val="FF3300"/>
                </a:solidFill>
                <a:latin typeface="Times New Roman" panose="02020603050405020304" pitchFamily="18" charset="0"/>
                <a:ea typeface="宋体" panose="02010600030101010101" pitchFamily="2" charset="-122"/>
              </a:endParaRPr>
            </a:p>
          </p:txBody>
        </p:sp>
        <p:sp>
          <p:nvSpPr>
            <p:cNvPr id="55325" name="Text Box 30"/>
            <p:cNvSpPr txBox="1"/>
            <p:nvPr/>
          </p:nvSpPr>
          <p:spPr>
            <a:xfrm>
              <a:off x="3994" y="2806"/>
              <a:ext cx="787"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62.5µ</a:t>
              </a:r>
              <a:r>
                <a:rPr lang="en-US" altLang="zh-CN" sz="2000" b="1" dirty="0">
                  <a:solidFill>
                    <a:schemeClr val="tx1"/>
                  </a:solidFill>
                  <a:latin typeface="Times New Roman" panose="02020603050405020304" pitchFamily="18" charset="0"/>
                  <a:ea typeface="宋体" panose="02010600030101010101" pitchFamily="2" charset="-122"/>
                </a:rPr>
                <a:t>s</a:t>
              </a:r>
              <a:endParaRPr lang="en-US" altLang="zh-CN" sz="2000" b="1" dirty="0">
                <a:solidFill>
                  <a:schemeClr val="tx1"/>
                </a:solidFill>
                <a:latin typeface="Times New Roman" panose="02020603050405020304" pitchFamily="18" charset="0"/>
                <a:ea typeface="宋体" panose="02010600030101010101" pitchFamily="2" charset="-122"/>
              </a:endParaRPr>
            </a:p>
          </p:txBody>
        </p:sp>
        <p:sp>
          <p:nvSpPr>
            <p:cNvPr id="55326" name="Text Box 31"/>
            <p:cNvSpPr txBox="1"/>
            <p:nvPr/>
          </p:nvSpPr>
          <p:spPr>
            <a:xfrm>
              <a:off x="2278" y="2806"/>
              <a:ext cx="787" cy="250"/>
            </a:xfrm>
            <a:prstGeom prst="rect">
              <a:avLst/>
            </a:prstGeom>
            <a:noFill/>
            <a:ln w="9525">
              <a:noFill/>
            </a:ln>
          </p:spPr>
          <p:txBody>
            <a:bodyPr anchor="t" anchorCtr="0">
              <a:spAutoFit/>
            </a:bodyPr>
            <a:p>
              <a:pPr eaLnBrk="0" hangingPunct="0">
                <a:spcBef>
                  <a:spcPct val="50000"/>
                </a:spcBef>
              </a:pPr>
              <a:r>
                <a:rPr lang="zh-CN" altLang="en-US" sz="2000" b="1" dirty="0">
                  <a:solidFill>
                    <a:schemeClr val="tx1"/>
                  </a:solidFill>
                  <a:latin typeface="Times New Roman" panose="02020603050405020304" pitchFamily="18" charset="0"/>
                  <a:ea typeface="宋体" panose="02010600030101010101" pitchFamily="2" charset="-122"/>
                </a:rPr>
                <a:t>62.5µ</a:t>
              </a:r>
              <a:r>
                <a:rPr lang="en-US" altLang="zh-CN" sz="2000" b="1" dirty="0">
                  <a:solidFill>
                    <a:schemeClr val="tx1"/>
                  </a:solidFill>
                  <a:latin typeface="Times New Roman" panose="02020603050405020304" pitchFamily="18" charset="0"/>
                  <a:ea typeface="宋体" panose="02010600030101010101" pitchFamily="2" charset="-122"/>
                </a:rPr>
                <a:t>s</a:t>
              </a:r>
              <a:endParaRPr lang="en-US" altLang="zh-CN" sz="2000" b="1" dirty="0">
                <a:solidFill>
                  <a:schemeClr val="tx1"/>
                </a:solidFill>
                <a:latin typeface="Times New Roman" panose="02020603050405020304" pitchFamily="18" charset="0"/>
                <a:ea typeface="宋体" panose="02010600030101010101" pitchFamily="2" charset="-122"/>
              </a:endParaRPr>
            </a:p>
          </p:txBody>
        </p:sp>
      </p:grpSp>
      <p:sp>
        <p:nvSpPr>
          <p:cNvPr id="32" name="矩形 31"/>
          <p:cNvSpPr/>
          <p:nvPr/>
        </p:nvSpPr>
        <p:spPr>
          <a:xfrm>
            <a:off x="2578100" y="6078538"/>
            <a:ext cx="4056063" cy="423863"/>
          </a:xfrm>
          <a:prstGeom prst="rect">
            <a:avLst/>
          </a:prstGeom>
        </p:spPr>
        <p:txBody>
          <a:bodyPr wrap="none">
            <a:spAutoFit/>
          </a:bodyPr>
          <a:lstStyle/>
          <a:p>
            <a:pPr marL="0" marR="0" lvl="0" indent="0" algn="ctr" defTabSz="914400" rtl="0" eaLnBrk="0" fontAlgn="base" latinLnBrk="0" hangingPunct="0">
              <a:lnSpc>
                <a:spcPct val="90000"/>
              </a:lnSpc>
              <a:spcBef>
                <a:spcPct val="50000"/>
              </a:spcBef>
              <a:spcAft>
                <a:spcPct val="0"/>
              </a:spcAft>
              <a:buClrTx/>
              <a:buSzTx/>
              <a:buFontTx/>
              <a:buNone/>
              <a:defRPr/>
            </a:pPr>
            <a:r>
              <a:rPr kumimoji="0" lang="zh-CN" altLang="en-US" sz="24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图5-11 异步刷新方式示意图</a:t>
            </a:r>
            <a:endParaRPr kumimoji="0" lang="zh-CN" altLang="en-US" sz="24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刷新方式（续）</a:t>
            </a:r>
            <a:endParaRPr lang="zh-CN" altLang="en-US" dirty="0">
              <a:latin typeface="Times New Roman" panose="02020603050405020304" pitchFamily="18" charset="0"/>
              <a:ea typeface="Times New Roman" panose="02020603050405020304" pitchFamily="18" charset="0"/>
            </a:endParaRPr>
          </a:p>
        </p:txBody>
      </p:sp>
      <p:sp>
        <p:nvSpPr>
          <p:cNvPr id="56322" name="内容占位符 2"/>
          <p:cNvSpPr>
            <a:spLocks noGrp="1"/>
          </p:cNvSpPr>
          <p:nvPr>
            <p:ph idx="1"/>
          </p:nvPr>
        </p:nvSpPr>
        <p:spPr>
          <a:xfrm>
            <a:off x="611188" y="1989138"/>
            <a:ext cx="8229600" cy="3552825"/>
          </a:xfrm>
          <a:noFill/>
          <a:ln>
            <a:noFill/>
          </a:ln>
        </p:spPr>
        <p:txBody>
          <a:bodyPr anchor="t" anchorCtr="0"/>
          <a:p>
            <a:pPr eaLnBrk="1" latinLnBrk="0" hangingPunct="1">
              <a:spcBef>
                <a:spcPts val="1800"/>
              </a:spcBef>
            </a:pPr>
            <a:r>
              <a:rPr lang="zh-CN" altLang="en-US" dirty="0">
                <a:latin typeface="Times New Roman" panose="02020603050405020304" pitchFamily="18" charset="0"/>
              </a:rPr>
              <a:t>异步刷新也有死区，但比集中方式小得多</a:t>
            </a:r>
            <a:r>
              <a:rPr lang="zh-CN" altLang="zh-CN" dirty="0">
                <a:latin typeface="Times New Roman" panose="02020603050405020304" pitchFamily="18" charset="0"/>
              </a:rPr>
              <a:t>：</a:t>
            </a:r>
            <a:endParaRPr lang="zh-CN" altLang="zh-CN" dirty="0">
              <a:latin typeface="Times New Roman" panose="02020603050405020304" pitchFamily="18" charset="0"/>
            </a:endParaRPr>
          </a:p>
          <a:p>
            <a:pPr lvl="1" eaLnBrk="1" latinLnBrk="0" hangingPunct="1">
              <a:spcBef>
                <a:spcPts val="1200"/>
              </a:spcBef>
            </a:pPr>
            <a:r>
              <a:rPr lang="zh-CN" altLang="zh-CN" sz="2400" dirty="0">
                <a:latin typeface="Times New Roman" panose="02020603050405020304" pitchFamily="18" charset="0"/>
              </a:rPr>
              <a:t>集中式：</a:t>
            </a:r>
            <a:r>
              <a:rPr lang="en-US" altLang="zh-CN" sz="2400" dirty="0">
                <a:latin typeface="Times New Roman" panose="02020603050405020304" pitchFamily="18" charset="0"/>
              </a:rPr>
              <a:t>16us</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异步式：</a:t>
            </a:r>
            <a:r>
              <a:rPr lang="en-US" altLang="zh-CN" sz="2400" dirty="0">
                <a:latin typeface="Times New Roman" panose="02020603050405020304" pitchFamily="18" charset="0"/>
              </a:rPr>
              <a:t>0.5us</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eaLnBrk="1" latinLnBrk="0" hangingPunct="1">
              <a:spcBef>
                <a:spcPts val="1800"/>
              </a:spcBef>
            </a:pPr>
            <a:r>
              <a:rPr lang="zh-CN" altLang="en-US" dirty="0">
                <a:latin typeface="Times New Roman" panose="02020603050405020304" pitchFamily="18" charset="0"/>
              </a:rPr>
              <a:t>避免使</a:t>
            </a:r>
            <a:r>
              <a:rPr lang="en-US" altLang="zh-CN" dirty="0">
                <a:latin typeface="Times New Roman" panose="02020603050405020304" pitchFamily="18" charset="0"/>
              </a:rPr>
              <a:t>CPU</a:t>
            </a:r>
            <a:r>
              <a:rPr lang="zh-CN" altLang="en-US" dirty="0">
                <a:latin typeface="Times New Roman" panose="02020603050405020304" pitchFamily="18" charset="0"/>
              </a:rPr>
              <a:t>连续等待过长的时间；</a:t>
            </a:r>
            <a:endParaRPr lang="zh-CN" altLang="en-US" dirty="0">
              <a:latin typeface="Times New Roman" panose="02020603050405020304" pitchFamily="18" charset="0"/>
            </a:endParaRPr>
          </a:p>
          <a:p>
            <a:pPr eaLnBrk="1" latinLnBrk="0" hangingPunct="1">
              <a:spcBef>
                <a:spcPts val="1800"/>
              </a:spcBef>
            </a:pPr>
            <a:r>
              <a:rPr lang="zh-CN" altLang="en-US" dirty="0">
                <a:latin typeface="Times New Roman" panose="02020603050405020304" pitchFamily="18" charset="0"/>
              </a:rPr>
              <a:t>减少了刷新次数，是比较实用的一种刷新方式。</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DRAM</a:t>
            </a:r>
            <a:r>
              <a:rPr lang="zh-CN" altLang="en-US" dirty="0">
                <a:latin typeface="Times New Roman" panose="02020603050405020304" pitchFamily="18" charset="0"/>
              </a:rPr>
              <a:t>的刷新要注意的问题</a:t>
            </a:r>
            <a:endParaRPr lang="zh-CN" altLang="en-US" dirty="0">
              <a:latin typeface="Times New Roman" panose="02020603050405020304" pitchFamily="18" charset="0"/>
              <a:ea typeface="Times New Roman" panose="02020603050405020304" pitchFamily="18" charset="0"/>
            </a:endParaRPr>
          </a:p>
        </p:txBody>
      </p:sp>
      <p:sp>
        <p:nvSpPr>
          <p:cNvPr id="57346" name="内容占位符 2"/>
          <p:cNvSpPr>
            <a:spLocks noGrp="1"/>
          </p:cNvSpPr>
          <p:nvPr>
            <p:ph idx="1"/>
          </p:nvPr>
        </p:nvSpPr>
        <p:spPr>
          <a:xfrm>
            <a:off x="457200" y="1616075"/>
            <a:ext cx="8229600" cy="4098925"/>
          </a:xfrm>
          <a:noFill/>
          <a:ln>
            <a:noFill/>
          </a:ln>
        </p:spPr>
        <p:txBody>
          <a:bodyPr anchor="t" anchorCtr="0"/>
          <a:p>
            <a:pPr eaLnBrk="1" hangingPunct="1"/>
            <a:r>
              <a:rPr lang="zh-CN" altLang="en-US" dirty="0">
                <a:latin typeface="Times New Roman" panose="02020603050405020304" pitchFamily="18" charset="0"/>
              </a:rPr>
              <a:t>刷新控制：解决刷新和</a:t>
            </a:r>
            <a:r>
              <a:rPr lang="en-US" altLang="zh-CN" dirty="0">
                <a:latin typeface="Times New Roman" panose="02020603050405020304" pitchFamily="18" charset="0"/>
              </a:rPr>
              <a:t>CPU</a:t>
            </a:r>
            <a:r>
              <a:rPr lang="zh-CN" altLang="en-US" dirty="0">
                <a:latin typeface="Times New Roman" panose="02020603050405020304" pitchFamily="18" charset="0"/>
              </a:rPr>
              <a:t>访问之间的矛盾。</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刷新请求和访存请求同时发生时，</a:t>
            </a:r>
            <a:r>
              <a:rPr lang="zh-CN" altLang="en-US" sz="2400" dirty="0">
                <a:solidFill>
                  <a:srgbClr val="FF0000"/>
                </a:solidFill>
                <a:latin typeface="Times New Roman" panose="02020603050405020304" pitchFamily="18" charset="0"/>
              </a:rPr>
              <a:t>优先进行刷新操作</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刷新对</a:t>
            </a:r>
            <a:r>
              <a:rPr lang="en-US" altLang="zh-CN" sz="2400" dirty="0">
                <a:latin typeface="Times New Roman" panose="02020603050405020304" pitchFamily="18" charset="0"/>
              </a:rPr>
              <a:t>CPU</a:t>
            </a:r>
            <a:r>
              <a:rPr lang="zh-CN" altLang="en-US" sz="2400" dirty="0">
                <a:latin typeface="Times New Roman" panose="02020603050405020304" pitchFamily="18" charset="0"/>
              </a:rPr>
              <a:t>是透明的；</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每一行中各记忆单元同时被刷新：刷新</a:t>
            </a:r>
            <a:r>
              <a:rPr lang="zh-CN" altLang="en-US" sz="2400" dirty="0">
                <a:solidFill>
                  <a:srgbClr val="FF0000"/>
                </a:solidFill>
                <a:latin typeface="Times New Roman" panose="02020603050405020304" pitchFamily="18" charset="0"/>
              </a:rPr>
              <a:t>仅需要行地址</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刷新操作类似于读出操作，但不需要信息输出；</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刷新时</a:t>
            </a:r>
            <a:r>
              <a:rPr lang="zh-CN" altLang="en-US" sz="2400" dirty="0">
                <a:solidFill>
                  <a:srgbClr val="FF0000"/>
                </a:solidFill>
                <a:latin typeface="Times New Roman" panose="02020603050405020304" pitchFamily="18" charset="0"/>
              </a:rPr>
              <a:t>不需要加片选信号</a:t>
            </a:r>
            <a:r>
              <a:rPr lang="zh-CN" altLang="en-US" sz="2400" dirty="0">
                <a:latin typeface="Times New Roman" panose="02020603050405020304" pitchFamily="18" charset="0"/>
              </a:rPr>
              <a:t>，所有芯片同时被刷新；</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考虑刷新问题时，从单个芯片的存储容量着手。</a:t>
            </a:r>
            <a:endParaRPr lang="zh-CN" altLang="en-US" sz="2400" dirty="0">
              <a:latin typeface="Times New Roman" panose="02020603050405020304" pitchFamily="18" charset="0"/>
            </a:endParaRPr>
          </a:p>
          <a:p>
            <a:pPr lvl="1" eaLnBrk="1" hangingPunct="1"/>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5.3.3 RAM</a:t>
            </a:r>
            <a:r>
              <a:rPr lang="zh-CN" altLang="en-US" dirty="0">
                <a:latin typeface="Times New Roman" panose="02020603050405020304" pitchFamily="18" charset="0"/>
              </a:rPr>
              <a:t>芯片分析</a:t>
            </a:r>
            <a:endParaRPr lang="zh-CN" altLang="en-US" dirty="0">
              <a:latin typeface="Times New Roman" panose="02020603050405020304" pitchFamily="18" charset="0"/>
              <a:ea typeface="Times New Roman" panose="02020603050405020304" pitchFamily="18" charset="0"/>
            </a:endParaRPr>
          </a:p>
        </p:txBody>
      </p:sp>
      <p:sp>
        <p:nvSpPr>
          <p:cNvPr id="58370" name="内容占位符 2"/>
          <p:cNvSpPr>
            <a:spLocks noGrp="1"/>
          </p:cNvSpPr>
          <p:nvPr>
            <p:ph idx="1"/>
          </p:nvPr>
        </p:nvSpPr>
        <p:spPr>
          <a:xfrm>
            <a:off x="457200" y="1341438"/>
            <a:ext cx="8229600" cy="5178425"/>
          </a:xfrm>
          <a:noFill/>
          <a:ln>
            <a:noFill/>
          </a:ln>
        </p:spPr>
        <p:txBody>
          <a:bodyPr anchor="t" anchorCtr="0"/>
          <a:p>
            <a:r>
              <a:rPr lang="en-US" altLang="zh-CN" dirty="0">
                <a:latin typeface="Times New Roman" panose="02020603050405020304" pitchFamily="18" charset="0"/>
              </a:rPr>
              <a:t>1.RAM</a:t>
            </a:r>
            <a:r>
              <a:rPr lang="zh-CN" altLang="en-US" dirty="0">
                <a:latin typeface="Times New Roman" panose="02020603050405020304" pitchFamily="18" charset="0"/>
              </a:rPr>
              <a:t>芯片</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通过</a:t>
            </a:r>
            <a:r>
              <a:rPr lang="zh-CN" altLang="en-US" sz="2400" dirty="0">
                <a:solidFill>
                  <a:srgbClr val="FF0000"/>
                </a:solidFill>
                <a:latin typeface="Times New Roman" panose="02020603050405020304" pitchFamily="18" charset="0"/>
              </a:rPr>
              <a:t>地址线、数据线和控制线</a:t>
            </a:r>
            <a:r>
              <a:rPr lang="zh-CN" altLang="en-US" sz="2400" dirty="0">
                <a:latin typeface="Times New Roman" panose="02020603050405020304" pitchFamily="18" charset="0"/>
              </a:rPr>
              <a:t>与外部连接。</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地址线：</a:t>
            </a:r>
            <a:endParaRPr lang="en-US" altLang="zh-CN" sz="24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单向输入，其数目与芯片容量有关。</a:t>
            </a:r>
            <a:endParaRPr lang="en-US" altLang="zh-CN" sz="20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容量为</a:t>
            </a:r>
            <a:r>
              <a:rPr lang="en-US" altLang="zh-CN" sz="2000" dirty="0">
                <a:latin typeface="Times New Roman" panose="02020603050405020304" pitchFamily="18" charset="0"/>
              </a:rPr>
              <a:t>1024×4</a:t>
            </a:r>
            <a:r>
              <a:rPr lang="zh-CN" altLang="en-US" sz="2000" dirty="0">
                <a:latin typeface="Times New Roman" panose="02020603050405020304" pitchFamily="18" charset="0"/>
              </a:rPr>
              <a:t>，地址线</a:t>
            </a:r>
            <a:r>
              <a:rPr lang="en-US" altLang="zh-CN" sz="2000" dirty="0">
                <a:latin typeface="Times New Roman" panose="02020603050405020304" pitchFamily="18" charset="0"/>
              </a:rPr>
              <a:t>10</a:t>
            </a:r>
            <a:r>
              <a:rPr lang="zh-CN" altLang="en-US" sz="2000" dirty="0">
                <a:latin typeface="Times New Roman" panose="02020603050405020304" pitchFamily="18" charset="0"/>
              </a:rPr>
              <a:t>根；容量为</a:t>
            </a:r>
            <a:r>
              <a:rPr lang="en-US" altLang="zh-CN" sz="2000" dirty="0">
                <a:latin typeface="Times New Roman" panose="02020603050405020304" pitchFamily="18" charset="0"/>
              </a:rPr>
              <a:t>64K×1</a:t>
            </a:r>
            <a:r>
              <a:rPr lang="zh-CN" altLang="en-US" sz="2000" dirty="0">
                <a:latin typeface="Times New Roman" panose="02020603050405020304" pitchFamily="18" charset="0"/>
              </a:rPr>
              <a:t>，地址线</a:t>
            </a:r>
            <a:r>
              <a:rPr lang="en-US" altLang="zh-CN" sz="2000" dirty="0">
                <a:latin typeface="Times New Roman" panose="02020603050405020304" pitchFamily="18" charset="0"/>
              </a:rPr>
              <a:t>16</a:t>
            </a:r>
            <a:r>
              <a:rPr lang="zh-CN" altLang="en-US" sz="2000" dirty="0">
                <a:latin typeface="Times New Roman" panose="02020603050405020304" pitchFamily="18" charset="0"/>
              </a:rPr>
              <a:t>根。</a:t>
            </a:r>
            <a:endParaRPr lang="en-US" altLang="zh-CN" sz="20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数据线：</a:t>
            </a:r>
            <a:endParaRPr lang="en-US" altLang="zh-CN" sz="24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双向的，既可输入，也可输出，其数目与数据位数有关；</a:t>
            </a:r>
            <a:endParaRPr lang="en-US" altLang="zh-CN" sz="2000" dirty="0">
              <a:latin typeface="Times New Roman" panose="02020603050405020304" pitchFamily="18" charset="0"/>
            </a:endParaRPr>
          </a:p>
          <a:p>
            <a:pPr lvl="2">
              <a:spcBef>
                <a:spcPts val="600"/>
              </a:spcBef>
            </a:pPr>
            <a:r>
              <a:rPr lang="en-US" altLang="zh-CN" sz="2000" dirty="0">
                <a:latin typeface="Times New Roman" panose="02020603050405020304" pitchFamily="18" charset="0"/>
              </a:rPr>
              <a:t>1024×4</a:t>
            </a:r>
            <a:r>
              <a:rPr lang="zh-CN" altLang="en-US" sz="2000" dirty="0">
                <a:latin typeface="Times New Roman" panose="02020603050405020304" pitchFamily="18" charset="0"/>
              </a:rPr>
              <a:t>的芯片，数据线</a:t>
            </a:r>
            <a:r>
              <a:rPr lang="en-US" altLang="zh-CN" sz="2000" dirty="0">
                <a:latin typeface="Times New Roman" panose="02020603050405020304" pitchFamily="18" charset="0"/>
              </a:rPr>
              <a:t>4</a:t>
            </a:r>
            <a:r>
              <a:rPr lang="zh-CN" altLang="en-US" sz="2000" dirty="0">
                <a:latin typeface="Times New Roman" panose="02020603050405020304" pitchFamily="18" charset="0"/>
              </a:rPr>
              <a:t>根；</a:t>
            </a:r>
            <a:r>
              <a:rPr lang="en-US" altLang="zh-CN" sz="2000" dirty="0">
                <a:latin typeface="Times New Roman" panose="02020603050405020304" pitchFamily="18" charset="0"/>
              </a:rPr>
              <a:t>64K×1</a:t>
            </a:r>
            <a:r>
              <a:rPr lang="zh-CN" altLang="en-US" sz="2000" dirty="0">
                <a:latin typeface="Times New Roman" panose="02020603050405020304" pitchFamily="18" charset="0"/>
              </a:rPr>
              <a:t>的芯片，数据线</a:t>
            </a:r>
            <a:r>
              <a:rPr lang="en-US" altLang="zh-CN" sz="2000" dirty="0">
                <a:latin typeface="Times New Roman" panose="02020603050405020304" pitchFamily="18" charset="0"/>
              </a:rPr>
              <a:t>1</a:t>
            </a:r>
            <a:r>
              <a:rPr lang="zh-CN" altLang="en-US" sz="2000" dirty="0">
                <a:latin typeface="Times New Roman" panose="02020603050405020304" pitchFamily="18" charset="0"/>
              </a:rPr>
              <a:t>根。</a:t>
            </a:r>
            <a:endParaRPr lang="en-US" altLang="zh-CN" sz="20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控制线：</a:t>
            </a:r>
            <a:r>
              <a:rPr lang="zh-CN" altLang="en-US" sz="2400" dirty="0">
                <a:solidFill>
                  <a:srgbClr val="FF0000"/>
                </a:solidFill>
                <a:latin typeface="Times New Roman" panose="02020603050405020304" pitchFamily="18" charset="0"/>
              </a:rPr>
              <a:t>读写控制线</a:t>
            </a:r>
            <a:r>
              <a:rPr lang="zh-CN" altLang="en-US" sz="2400" dirty="0">
                <a:latin typeface="Times New Roman" panose="02020603050405020304" pitchFamily="18" charset="0"/>
              </a:rPr>
              <a:t>和</a:t>
            </a:r>
            <a:r>
              <a:rPr lang="zh-CN" altLang="en-US" sz="2400" dirty="0">
                <a:solidFill>
                  <a:srgbClr val="FF0000"/>
                </a:solidFill>
                <a:latin typeface="Times New Roman" panose="02020603050405020304" pitchFamily="18" charset="0"/>
              </a:rPr>
              <a:t>片选线</a:t>
            </a:r>
            <a:endParaRPr lang="en-US" altLang="zh-CN" sz="24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读写控制线：控制芯片是进行读操作还是写操作的；</a:t>
            </a:r>
            <a:endParaRPr lang="en-US" altLang="zh-CN" sz="20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片选线：决定该芯片是否被选中。</a:t>
            </a:r>
            <a:endParaRPr lang="zh-CN" altLang="en-US" sz="20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1.RAM</a:t>
            </a:r>
            <a:r>
              <a:rPr lang="zh-CN" altLang="en-US" dirty="0">
                <a:latin typeface="Times New Roman" panose="02020603050405020304" pitchFamily="18" charset="0"/>
              </a:rPr>
              <a:t>芯片（续）</a:t>
            </a:r>
            <a:endParaRPr lang="zh-CN" altLang="en-US" dirty="0">
              <a:latin typeface="Times New Roman" panose="02020603050405020304" pitchFamily="18" charset="0"/>
              <a:ea typeface="Times New Roman" panose="02020603050405020304" pitchFamily="18" charset="0"/>
            </a:endParaRPr>
          </a:p>
        </p:txBody>
      </p:sp>
      <p:sp>
        <p:nvSpPr>
          <p:cNvPr id="59394" name="内容占位符 2"/>
          <p:cNvSpPr>
            <a:spLocks noGrp="1"/>
          </p:cNvSpPr>
          <p:nvPr>
            <p:ph idx="1"/>
          </p:nvPr>
        </p:nvSpPr>
        <p:spPr>
          <a:xfrm>
            <a:off x="457200" y="1417638"/>
            <a:ext cx="8002588" cy="4525963"/>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芯片：</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集成度高，容量大；</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地址线分成相等的两部分，</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分两次</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从</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相同引脚</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送入；</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两次输入的地址分别称为</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行地址</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和</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列地址</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行地址由行地址选通信号       送入存储芯片；</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列地址由列地址选通信号       送入存储芯片。</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采用地址复用技术：</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每增加一条地址线，增加两位地址，即增加</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4</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倍的容量。</a:t>
            </a:r>
            <a:endParaRPr kumimoji="0" lang="zh-CN" altLang="en-US" sz="2055"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pic>
        <p:nvPicPr>
          <p:cNvPr id="59395" name="图片 3"/>
          <p:cNvPicPr>
            <a:picLocks noChangeAspect="1"/>
          </p:cNvPicPr>
          <p:nvPr/>
        </p:nvPicPr>
        <p:blipFill>
          <a:blip r:embed="rId1"/>
          <a:stretch>
            <a:fillRect/>
          </a:stretch>
        </p:blipFill>
        <p:spPr>
          <a:xfrm>
            <a:off x="4548188" y="3541713"/>
            <a:ext cx="557212" cy="360362"/>
          </a:xfrm>
          <a:prstGeom prst="rect">
            <a:avLst/>
          </a:prstGeom>
          <a:noFill/>
          <a:ln w="9525">
            <a:noFill/>
          </a:ln>
        </p:spPr>
      </p:pic>
      <p:pic>
        <p:nvPicPr>
          <p:cNvPr id="59396" name="图片 4"/>
          <p:cNvPicPr>
            <a:picLocks noChangeAspect="1"/>
          </p:cNvPicPr>
          <p:nvPr/>
        </p:nvPicPr>
        <p:blipFill>
          <a:blip r:embed="rId2"/>
          <a:stretch>
            <a:fillRect/>
          </a:stretch>
        </p:blipFill>
        <p:spPr>
          <a:xfrm>
            <a:off x="4548188" y="4098925"/>
            <a:ext cx="557212" cy="360363"/>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1"/>
          <p:cNvSpPr>
            <a:spLocks noGrp="1"/>
          </p:cNvSpPr>
          <p:nvPr>
            <p:ph type="title"/>
          </p:nvPr>
        </p:nvSpPr>
        <p:spPr>
          <a:noFill/>
          <a:ln>
            <a:noFill/>
          </a:ln>
        </p:spPr>
        <p:txBody>
          <a:bodyPr anchor="t" anchorCtr="0"/>
          <a:p>
            <a:r>
              <a:rPr lang="zh-CN" dirty="0">
                <a:latin typeface="Times New Roman" panose="02020603050405020304" pitchFamily="18" charset="0"/>
              </a:rPr>
              <a:t>例：</a:t>
            </a:r>
            <a:r>
              <a:rPr dirty="0">
                <a:latin typeface="Times New Roman" panose="02020603050405020304" pitchFamily="18" charset="0"/>
              </a:rPr>
              <a:t>4M</a:t>
            </a:r>
            <a:r>
              <a:rPr lang="en-US" dirty="0">
                <a:latin typeface="Times New Roman" panose="02020603050405020304" pitchFamily="18" charset="0"/>
              </a:rPr>
              <a:t>*</a:t>
            </a:r>
            <a:r>
              <a:rPr dirty="0">
                <a:latin typeface="Times New Roman" panose="02020603050405020304" pitchFamily="18" charset="0"/>
              </a:rPr>
              <a:t>4 位 DRAM 芯片</a:t>
            </a:r>
            <a:endParaRPr dirty="0">
              <a:latin typeface="Times New Roman" panose="02020603050405020304" pitchFamily="18" charset="0"/>
            </a:endParaRPr>
          </a:p>
        </p:txBody>
      </p:sp>
      <p:pic>
        <p:nvPicPr>
          <p:cNvPr id="59395" name="图片 3"/>
          <p:cNvPicPr>
            <a:picLocks noChangeAspect="1"/>
          </p:cNvPicPr>
          <p:nvPr/>
        </p:nvPicPr>
        <p:blipFill>
          <a:blip r:embed="rId1"/>
          <a:stretch>
            <a:fillRect/>
          </a:stretch>
        </p:blipFill>
        <p:spPr>
          <a:xfrm>
            <a:off x="4548188" y="3541713"/>
            <a:ext cx="557212" cy="360362"/>
          </a:xfrm>
          <a:prstGeom prst="rect">
            <a:avLst/>
          </a:prstGeom>
          <a:noFill/>
          <a:ln w="9525">
            <a:noFill/>
          </a:ln>
        </p:spPr>
      </p:pic>
      <p:pic>
        <p:nvPicPr>
          <p:cNvPr id="59396" name="图片 4"/>
          <p:cNvPicPr>
            <a:picLocks noChangeAspect="1"/>
          </p:cNvPicPr>
          <p:nvPr/>
        </p:nvPicPr>
        <p:blipFill>
          <a:blip r:embed="rId2"/>
          <a:stretch>
            <a:fillRect/>
          </a:stretch>
        </p:blipFill>
        <p:spPr>
          <a:xfrm>
            <a:off x="4548188" y="4098925"/>
            <a:ext cx="557212" cy="360363"/>
          </a:xfrm>
          <a:prstGeom prst="rect">
            <a:avLst/>
          </a:prstGeom>
          <a:noFill/>
          <a:ln w="9525">
            <a:noFill/>
          </a:ln>
        </p:spPr>
      </p:pic>
      <p:pic>
        <p:nvPicPr>
          <p:cNvPr id="3" name="图片 2"/>
          <p:cNvPicPr>
            <a:picLocks noChangeAspect="1"/>
          </p:cNvPicPr>
          <p:nvPr/>
        </p:nvPicPr>
        <p:blipFill>
          <a:blip r:embed="rId3"/>
          <a:stretch>
            <a:fillRect/>
          </a:stretch>
        </p:blipFill>
        <p:spPr>
          <a:xfrm>
            <a:off x="586740" y="1484630"/>
            <a:ext cx="7825105" cy="409956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地址译码方式</a:t>
            </a:r>
            <a:endParaRPr lang="zh-CN" altLang="en-US" dirty="0">
              <a:latin typeface="Times New Roman" panose="02020603050405020304" pitchFamily="18" charset="0"/>
              <a:ea typeface="Times New Roman" panose="02020603050405020304" pitchFamily="18" charset="0"/>
            </a:endParaRPr>
          </a:p>
        </p:txBody>
      </p:sp>
      <p:sp>
        <p:nvSpPr>
          <p:cNvPr id="60418" name="内容占位符 2"/>
          <p:cNvSpPr>
            <a:spLocks noGrp="1"/>
          </p:cNvSpPr>
          <p:nvPr>
            <p:ph idx="1"/>
          </p:nvPr>
        </p:nvSpPr>
        <p:spPr>
          <a:xfrm>
            <a:off x="457200" y="1417638"/>
            <a:ext cx="8229600" cy="5035550"/>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⑴单译码方式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又称字选法，所对应的存储器是字结构的；</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容量为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个字的存储器（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个字，每字</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b</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排列成</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行</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×b</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列的矩阵，矩阵的</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每一行对应一个字</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有一条公用的选择线</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wi</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，称为字线。</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地址译码器集中在水平方向：</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K</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位地址线可译码变成</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2</a:t>
            </a:r>
            <a:r>
              <a:rPr kumimoji="0" lang="en-US" altLang="zh-CN" sz="2055" b="0" i="0" u="none" strike="noStrike" kern="0" cap="none" spc="0" normalizeH="0" baseline="30000" noProof="1" dirty="0">
                <a:solidFill>
                  <a:schemeClr val="tx1"/>
                </a:solidFill>
                <a:latin typeface="Times New Roman" panose="02020603050405020304" pitchFamily="18" charset="0"/>
                <a:ea typeface="+mn-ea"/>
                <a:cs typeface="Times New Roman" panose="02020603050405020304" pitchFamily="18" charset="0"/>
              </a:rPr>
              <a:t>K</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条字线，</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M=2</a:t>
            </a:r>
            <a:r>
              <a:rPr kumimoji="0" lang="en-US" altLang="zh-CN" sz="2055" b="0" i="0" u="none" strike="noStrike" kern="0" cap="none" spc="0" normalizeH="0" baseline="30000" noProof="1" dirty="0">
                <a:solidFill>
                  <a:schemeClr val="tx1"/>
                </a:solidFill>
                <a:latin typeface="Times New Roman" panose="02020603050405020304" pitchFamily="18" charset="0"/>
                <a:ea typeface="+mn-ea"/>
                <a:cs typeface="Times New Roman" panose="02020603050405020304" pitchFamily="18" charset="0"/>
              </a:rPr>
              <a:t>K</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字线选中某个字长为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b</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位的存储单元：</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经过</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b</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根位线可读出或写入</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b</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位存储信息。</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字结构、单译码方式</a:t>
            </a:r>
            <a:r>
              <a:rPr lang="en-US" altLang="zh-CN" dirty="0">
                <a:latin typeface="Times New Roman" panose="02020603050405020304" pitchFamily="18" charset="0"/>
              </a:rPr>
              <a:t>RAM</a:t>
            </a:r>
            <a:endParaRPr lang="zh-CN" altLang="en-US" dirty="0">
              <a:latin typeface="Times New Roman" panose="02020603050405020304" pitchFamily="18" charset="0"/>
              <a:ea typeface="Times New Roman" panose="02020603050405020304" pitchFamily="18" charset="0"/>
            </a:endParaRPr>
          </a:p>
        </p:txBody>
      </p:sp>
      <p:graphicFrame>
        <p:nvGraphicFramePr>
          <p:cNvPr id="61442" name="Object 4"/>
          <p:cNvGraphicFramePr>
            <a:graphicFrameLocks noChangeAspect="1"/>
          </p:cNvGraphicFramePr>
          <p:nvPr/>
        </p:nvGraphicFramePr>
        <p:xfrm>
          <a:off x="457200" y="1427163"/>
          <a:ext cx="5410200" cy="4441825"/>
        </p:xfrm>
        <a:graphic>
          <a:graphicData uri="http://schemas.openxmlformats.org/presentationml/2006/ole">
            <mc:AlternateContent xmlns:mc="http://schemas.openxmlformats.org/markup-compatibility/2006">
              <mc:Choice xmlns:v="urn:schemas-microsoft-com:vml" Requires="v">
                <p:oleObj spid="_x0000_s3076" name="" r:id="rId1" imgW="3060700" imgH="2514600" progId="Visio.Drawing.6">
                  <p:embed/>
                </p:oleObj>
              </mc:Choice>
              <mc:Fallback>
                <p:oleObj name="" r:id="rId1" imgW="3060700" imgH="2514600" progId="Visio.Drawing.6">
                  <p:embed/>
                  <p:pic>
                    <p:nvPicPr>
                      <p:cNvPr id="0" name="图片 3075"/>
                      <p:cNvPicPr/>
                      <p:nvPr/>
                    </p:nvPicPr>
                    <p:blipFill>
                      <a:blip r:embed="rId2"/>
                      <a:stretch>
                        <a:fillRect/>
                      </a:stretch>
                    </p:blipFill>
                    <p:spPr>
                      <a:xfrm>
                        <a:off x="457200" y="1427163"/>
                        <a:ext cx="5410200" cy="4441825"/>
                      </a:xfrm>
                      <a:prstGeom prst="rect">
                        <a:avLst/>
                      </a:prstGeom>
                      <a:noFill/>
                      <a:ln w="38100">
                        <a:noFill/>
                        <a:miter/>
                      </a:ln>
                    </p:spPr>
                  </p:pic>
                </p:oleObj>
              </mc:Fallback>
            </mc:AlternateContent>
          </a:graphicData>
        </a:graphic>
      </p:graphicFrame>
      <p:sp>
        <p:nvSpPr>
          <p:cNvPr id="5" name="Rectangle 6"/>
          <p:cNvSpPr txBox="1">
            <a:spLocks noChangeArrowheads="1"/>
          </p:cNvSpPr>
          <p:nvPr/>
        </p:nvSpPr>
        <p:spPr bwMode="auto">
          <a:xfrm>
            <a:off x="420688" y="5854700"/>
            <a:ext cx="6224588"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图5-12 字结构、单译码方式</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RAM</a:t>
            </a:r>
            <a:r>
              <a:rPr kumimoji="0" lang="en-US" altLang="zh-CN" sz="20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6" name="矩形 5"/>
          <p:cNvSpPr/>
          <p:nvPr/>
        </p:nvSpPr>
        <p:spPr>
          <a:xfrm>
            <a:off x="5668963" y="1547813"/>
            <a:ext cx="2992438" cy="3784600"/>
          </a:xfrm>
          <a:prstGeom prst="rect">
            <a:avLst/>
          </a:prstGeom>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图中有</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32×8=256</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个记忆单元，排列成</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32</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个字，每个字长</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8</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位。</a:t>
            </a:r>
            <a:endPar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有</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5</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条地址线，经过译码产生</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32</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条字线</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w0</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w31</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endPar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latinLnBrk="0" hangingPunct="0">
              <a:lnSpc>
                <a:spcPct val="100000"/>
              </a:lnSpc>
              <a:spcBef>
                <a:spcPts val="12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某一字线被选中时，同一行中的各位</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b0</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b7</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就都被选中，由读写电路对各位实施读出或写入操作。</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字结构、单译码方式</a:t>
            </a:r>
            <a:r>
              <a:rPr lang="en-US" altLang="zh-CN" dirty="0">
                <a:latin typeface="Times New Roman" panose="02020603050405020304" pitchFamily="18" charset="0"/>
              </a:rPr>
              <a:t>RAM </a:t>
            </a:r>
            <a:endParaRPr lang="zh-CN" altLang="en-US" dirty="0">
              <a:latin typeface="Times New Roman" panose="02020603050405020304" pitchFamily="18" charset="0"/>
              <a:ea typeface="Times New Roman" panose="02020603050405020304" pitchFamily="18" charset="0"/>
            </a:endParaRPr>
          </a:p>
        </p:txBody>
      </p:sp>
      <p:sp>
        <p:nvSpPr>
          <p:cNvPr id="62466" name="内容占位符 2"/>
          <p:cNvSpPr>
            <a:spLocks noGrp="1"/>
          </p:cNvSpPr>
          <p:nvPr>
            <p:ph idx="1"/>
          </p:nvPr>
        </p:nvSpPr>
        <p:spPr>
          <a:noFill/>
          <a:ln>
            <a:noFill/>
          </a:ln>
        </p:spPr>
        <p:txBody>
          <a:bodyPr anchor="t" anchorCtr="0"/>
          <a:p>
            <a:pPr>
              <a:spcBef>
                <a:spcPts val="1200"/>
              </a:spcBef>
            </a:pPr>
            <a:r>
              <a:rPr lang="zh-CN" altLang="en-US" dirty="0">
                <a:latin typeface="Times New Roman" panose="02020603050405020304" pitchFamily="18" charset="0"/>
              </a:rPr>
              <a:t>优点</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结构简单</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a:spcBef>
                <a:spcPts val="1200"/>
              </a:spcBef>
            </a:pPr>
            <a:r>
              <a:rPr lang="zh-CN" altLang="en-US" dirty="0">
                <a:latin typeface="Times New Roman" panose="02020603050405020304" pitchFamily="18" charset="0"/>
              </a:rPr>
              <a:t>缺点</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使用的外围电路多，成本昂贵</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字数</a:t>
            </a:r>
            <a:r>
              <a:rPr lang="en-US" altLang="zh-CN" sz="2400" dirty="0">
                <a:latin typeface="Times New Roman" panose="02020603050405020304" pitchFamily="18" charset="0"/>
              </a:rPr>
              <a:t>&gt;&gt;</a:t>
            </a:r>
            <a:r>
              <a:rPr lang="zh-CN" altLang="en-US" sz="2400" dirty="0">
                <a:latin typeface="Times New Roman" panose="02020603050405020304" pitchFamily="18" charset="0"/>
              </a:rPr>
              <a:t>位数时，形成纵向很长而横向很窄的结构</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只适用于容量不大的存储器。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地址译码方式（续）</a:t>
            </a:r>
            <a:endParaRPr lang="zh-CN" altLang="en-US" dirty="0">
              <a:latin typeface="Times New Roman" panose="02020603050405020304" pitchFamily="18" charset="0"/>
            </a:endParaRPr>
          </a:p>
        </p:txBody>
      </p:sp>
      <p:sp>
        <p:nvSpPr>
          <p:cNvPr id="63490" name="内容占位符 2"/>
          <p:cNvSpPr>
            <a:spLocks noGrp="1"/>
          </p:cNvSpPr>
          <p:nvPr>
            <p:ph idx="1"/>
          </p:nvPr>
        </p:nvSpPr>
        <p:spPr>
          <a:xfrm>
            <a:off x="457200" y="1341438"/>
            <a:ext cx="8229600" cy="5165725"/>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⑵双译码方式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latinLnBrk="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通常把</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K</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位地址线分成接近相等的两段</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latinLnBrk="0">
              <a:lnSpc>
                <a:spcPct val="100000"/>
              </a:lnSpc>
              <a:spcBef>
                <a:spcPts val="12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一段用于</a:t>
            </a:r>
            <a:r>
              <a:rPr kumimoji="0" lang="zh-CN" altLang="en-US" sz="20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水平方向作X地址线</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，供X地址译码器译码</a:t>
            </a:r>
            <a:endParaRPr kumimoji="0" lang="en-US" altLang="zh-CN" sz="171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latinLnBrk="0">
              <a:lnSpc>
                <a:spcPct val="100000"/>
              </a:lnSpc>
              <a:spcBef>
                <a:spcPts val="12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一段用于</a:t>
            </a:r>
            <a:r>
              <a:rPr kumimoji="0" lang="zh-CN" altLang="en-US" sz="20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垂直方向作</a:t>
            </a:r>
            <a:r>
              <a:rPr kumimoji="0" lang="en-US" altLang="zh-CN" sz="20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Y</a:t>
            </a:r>
            <a:r>
              <a:rPr kumimoji="0" lang="zh-CN" altLang="en-US" sz="20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地址线</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，供</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Y</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地址译码器译码。</a:t>
            </a:r>
            <a:endPar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latinLnBrk="0">
              <a:lnSpc>
                <a:spcPct val="100000"/>
              </a:lnSpc>
              <a:spcBef>
                <a:spcPts val="18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X</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和</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两个方向的选择线</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交叉选择相应的存储单元</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latinLnBrk="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对应的存储芯片结构可以是位结构或</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字段结构。</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位结构：容量为</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M×1</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M</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个记忆单元排列成矩阵（方阵）。</a:t>
            </a:r>
            <a:endParaRPr kumimoji="0" lang="zh-CN" altLang="en-US" sz="20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位结构、双译码方式</a:t>
            </a:r>
            <a:r>
              <a:rPr lang="en-US" altLang="zh-CN" dirty="0">
                <a:latin typeface="Times New Roman" panose="02020603050405020304" pitchFamily="18" charset="0"/>
              </a:rPr>
              <a:t>RAM</a:t>
            </a:r>
            <a:endParaRPr lang="zh-CN" altLang="en-US" dirty="0">
              <a:latin typeface="Times New Roman" panose="02020603050405020304" pitchFamily="18" charset="0"/>
              <a:ea typeface="Times New Roman" panose="02020603050405020304" pitchFamily="18" charset="0"/>
            </a:endParaRPr>
          </a:p>
        </p:txBody>
      </p:sp>
      <p:graphicFrame>
        <p:nvGraphicFramePr>
          <p:cNvPr id="64514" name="Object 5"/>
          <p:cNvGraphicFramePr>
            <a:graphicFrameLocks noChangeAspect="1"/>
          </p:cNvGraphicFramePr>
          <p:nvPr/>
        </p:nvGraphicFramePr>
        <p:xfrm>
          <a:off x="552450" y="1011238"/>
          <a:ext cx="6400800" cy="5084762"/>
        </p:xfrm>
        <a:graphic>
          <a:graphicData uri="http://schemas.openxmlformats.org/presentationml/2006/ole">
            <mc:AlternateContent xmlns:mc="http://schemas.openxmlformats.org/markup-compatibility/2006">
              <mc:Choice xmlns:v="urn:schemas-microsoft-com:vml" Requires="v">
                <p:oleObj spid="_x0000_s3093" name="" r:id="rId1" imgW="3670300" imgH="2918460" progId="Visio.Drawing.6">
                  <p:embed/>
                </p:oleObj>
              </mc:Choice>
              <mc:Fallback>
                <p:oleObj name="" r:id="rId1" imgW="3670300" imgH="2918460" progId="Visio.Drawing.6">
                  <p:embed/>
                  <p:pic>
                    <p:nvPicPr>
                      <p:cNvPr id="0" name="图片 3092"/>
                      <p:cNvPicPr/>
                      <p:nvPr/>
                    </p:nvPicPr>
                    <p:blipFill>
                      <a:blip r:embed="rId2"/>
                      <a:stretch>
                        <a:fillRect/>
                      </a:stretch>
                    </p:blipFill>
                    <p:spPr>
                      <a:xfrm>
                        <a:off x="552450" y="1011238"/>
                        <a:ext cx="6400800" cy="5084762"/>
                      </a:xfrm>
                      <a:prstGeom prst="rect">
                        <a:avLst/>
                      </a:prstGeom>
                      <a:noFill/>
                      <a:ln w="38100">
                        <a:noFill/>
                        <a:miter/>
                      </a:ln>
                    </p:spPr>
                  </p:pic>
                </p:oleObj>
              </mc:Fallback>
            </mc:AlternateContent>
          </a:graphicData>
        </a:graphic>
      </p:graphicFrame>
      <p:sp>
        <p:nvSpPr>
          <p:cNvPr id="5" name="Rectangle 7"/>
          <p:cNvSpPr txBox="1">
            <a:spLocks noChangeArrowheads="1"/>
          </p:cNvSpPr>
          <p:nvPr/>
        </p:nvSpPr>
        <p:spPr bwMode="auto">
          <a:xfrm>
            <a:off x="541338" y="6096000"/>
            <a:ext cx="5576888" cy="4286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图5-13 位结构、双译码方式</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RAM</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6" name="矩形 5"/>
          <p:cNvSpPr/>
          <p:nvPr/>
        </p:nvSpPr>
        <p:spPr>
          <a:xfrm>
            <a:off x="6319838" y="1449388"/>
            <a:ext cx="2398713" cy="4400550"/>
          </a:xfrm>
          <a:prstGeom prst="rect">
            <a:avLst/>
          </a:prstGeom>
        </p:spPr>
        <p:txBody>
          <a:bodyPr wrap="square">
            <a:spAutoFit/>
          </a:bodyPr>
          <a:lstStyle/>
          <a:p>
            <a:pPr marL="342900" marR="0" lvl="0" indent="-342900" algn="just" defTabSz="914400" rtl="0" eaLnBrk="0" fontAlgn="base" hangingPunct="0">
              <a:lnSpc>
                <a:spcPct val="100000"/>
              </a:lnSpc>
              <a:spcBef>
                <a:spcPts val="12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图</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5-13</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是</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4096×1</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，排列成</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64×64</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的矩阵。</a:t>
            </a:r>
            <a:endPar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hangingPunct="0">
              <a:lnSpc>
                <a:spcPct val="100000"/>
              </a:lnSpc>
              <a:spcBef>
                <a:spcPts val="12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地址码共</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12</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位，</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X</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方向和</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Y</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方向各</a:t>
            </a: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6</a:t>
            </a:r>
            <a:r>
              <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位。</a:t>
            </a:r>
            <a:endPar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0" fontAlgn="base" hangingPunct="0">
              <a:lnSpc>
                <a:spcPct val="100000"/>
              </a:lnSpc>
              <a:spcBef>
                <a:spcPts val="1200"/>
              </a:spcBef>
              <a:spcAft>
                <a:spcPct val="0"/>
              </a:spcAft>
              <a:buClrTx/>
              <a:buSzTx/>
              <a:buFont typeface="Wingdings" panose="05000000000000000000" pitchFamily="2" charset="2"/>
              <a:buChar char="l"/>
              <a:defRPr/>
            </a:pP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若要组成一个</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M</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字</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×b</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位的存储器，就需要把</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b</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片</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M×1</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的存储芯片并列连接起来，即在</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Z</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方向上重叠</a:t>
            </a:r>
            <a:r>
              <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b</a:t>
            </a:r>
            <a:r>
              <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个芯片 </a:t>
            </a:r>
            <a:endParaRPr kumimoji="0" lang="zh-CN" altLang="en-US" sz="20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3.RAM</a:t>
            </a:r>
            <a:r>
              <a:rPr lang="zh-CN" altLang="en-US" dirty="0">
                <a:latin typeface="Times New Roman" panose="02020603050405020304" pitchFamily="18" charset="0"/>
              </a:rPr>
              <a:t>的读写时序</a:t>
            </a:r>
            <a:endParaRPr lang="zh-CN" altLang="en-US" dirty="0">
              <a:latin typeface="Times New Roman" panose="02020603050405020304" pitchFamily="18" charset="0"/>
              <a:ea typeface="Times New Roman" panose="02020603050405020304" pitchFamily="18" charset="0"/>
            </a:endParaRPr>
          </a:p>
        </p:txBody>
      </p:sp>
      <p:sp>
        <p:nvSpPr>
          <p:cNvPr id="65538" name="内容占位符 2"/>
          <p:cNvSpPr>
            <a:spLocks noGrp="1"/>
          </p:cNvSpPr>
          <p:nvPr>
            <p:ph idx="1"/>
          </p:nvPr>
        </p:nvSpPr>
        <p:spPr>
          <a:xfrm>
            <a:off x="457200" y="1225550"/>
            <a:ext cx="8229600" cy="2862263"/>
          </a:xfrm>
          <a:noFill/>
          <a:ln>
            <a:noFill/>
          </a:ln>
        </p:spPr>
        <p:txBody>
          <a:bodyPr anchor="t" anchorCtr="0"/>
          <a:p>
            <a:r>
              <a:rPr lang="zh-CN" altLang="en-US" dirty="0">
                <a:latin typeface="Times New Roman" panose="02020603050405020304" pitchFamily="18" charset="0"/>
              </a:rPr>
              <a:t>⑴</a:t>
            </a:r>
            <a:r>
              <a:rPr lang="en-US" altLang="zh-CN" dirty="0">
                <a:latin typeface="Times New Roman" panose="02020603050405020304" pitchFamily="18" charset="0"/>
              </a:rPr>
              <a:t>SRAM</a:t>
            </a:r>
            <a:r>
              <a:rPr lang="zh-CN" altLang="en-US" dirty="0">
                <a:latin typeface="Times New Roman" panose="02020603050405020304" pitchFamily="18" charset="0"/>
              </a:rPr>
              <a:t>读写时序</a:t>
            </a:r>
            <a:endParaRPr lang="zh-CN" altLang="en-US" dirty="0">
              <a:latin typeface="Times New Roman" panose="02020603050405020304" pitchFamily="18" charset="0"/>
            </a:endParaRPr>
          </a:p>
          <a:p>
            <a:pPr lvl="1"/>
            <a:r>
              <a:rPr lang="zh-CN" altLang="en-US" sz="2400" dirty="0">
                <a:latin typeface="Times New Roman" panose="02020603050405020304" pitchFamily="18" charset="0"/>
              </a:rPr>
              <a:t>读周期：进行两次连续读操作的最小间隔时间。</a:t>
            </a:r>
            <a:endParaRPr lang="zh-CN" altLang="en-US" sz="2400" dirty="0">
              <a:latin typeface="Times New Roman" panose="02020603050405020304" pitchFamily="18" charset="0"/>
            </a:endParaRPr>
          </a:p>
          <a:p>
            <a:pPr lvl="1"/>
            <a:r>
              <a:rPr lang="zh-CN" altLang="en-US" sz="2400" dirty="0">
                <a:latin typeface="Times New Roman" panose="02020603050405020304" pitchFamily="18" charset="0"/>
              </a:rPr>
              <a:t>在此期间，地址输入信息不允许改变；</a:t>
            </a:r>
            <a:endParaRPr lang="zh-CN" altLang="en-US" sz="2400" dirty="0">
              <a:latin typeface="Times New Roman" panose="02020603050405020304" pitchFamily="18" charset="0"/>
            </a:endParaRPr>
          </a:p>
          <a:p>
            <a:pPr lvl="1"/>
            <a:r>
              <a:rPr lang="zh-CN" altLang="en-US" sz="2400" dirty="0">
                <a:latin typeface="Times New Roman" panose="02020603050405020304" pitchFamily="18" charset="0"/>
              </a:rPr>
              <a:t>片选信号      在地址有效之后变为有效；</a:t>
            </a:r>
            <a:endParaRPr lang="zh-CN" altLang="en-US" sz="2400" dirty="0">
              <a:latin typeface="Times New Roman" panose="02020603050405020304" pitchFamily="18" charset="0"/>
            </a:endParaRPr>
          </a:p>
          <a:p>
            <a:pPr lvl="1"/>
            <a:r>
              <a:rPr lang="zh-CN" altLang="en-US" sz="2400" dirty="0">
                <a:latin typeface="Times New Roman" panose="02020603050405020304" pitchFamily="18" charset="0"/>
              </a:rPr>
              <a:t>写允许信号      在读周期中保持高电平。</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graphicFrame>
        <p:nvGraphicFramePr>
          <p:cNvPr id="65539" name="Object 5"/>
          <p:cNvGraphicFramePr>
            <a:graphicFrameLocks noChangeAspect="1"/>
          </p:cNvGraphicFramePr>
          <p:nvPr/>
        </p:nvGraphicFramePr>
        <p:xfrm>
          <a:off x="2487613" y="2578100"/>
          <a:ext cx="481012" cy="442913"/>
        </p:xfrm>
        <a:graphic>
          <a:graphicData uri="http://schemas.openxmlformats.org/presentationml/2006/ole">
            <mc:AlternateContent xmlns:mc="http://schemas.openxmlformats.org/markup-compatibility/2006">
              <mc:Choice xmlns:v="urn:schemas-microsoft-com:vml" Requires="v">
                <p:oleObj spid="_x0000_s3091" name="" r:id="rId1" imgW="203200" imgH="190500" progId="Equation.3">
                  <p:embed/>
                </p:oleObj>
              </mc:Choice>
              <mc:Fallback>
                <p:oleObj name="" r:id="rId1" imgW="203200" imgH="190500" progId="Equation.3">
                  <p:embed/>
                  <p:pic>
                    <p:nvPicPr>
                      <p:cNvPr id="0" name="图片 3090"/>
                      <p:cNvPicPr/>
                      <p:nvPr/>
                    </p:nvPicPr>
                    <p:blipFill>
                      <a:blip r:embed="rId2"/>
                      <a:stretch>
                        <a:fillRect/>
                      </a:stretch>
                    </p:blipFill>
                    <p:spPr>
                      <a:xfrm>
                        <a:off x="2487613" y="2578100"/>
                        <a:ext cx="481012" cy="442913"/>
                      </a:xfrm>
                      <a:prstGeom prst="rect">
                        <a:avLst/>
                      </a:prstGeom>
                      <a:noFill/>
                      <a:ln w="38100">
                        <a:noFill/>
                        <a:miter/>
                      </a:ln>
                    </p:spPr>
                  </p:pic>
                </p:oleObj>
              </mc:Fallback>
            </mc:AlternateContent>
          </a:graphicData>
        </a:graphic>
      </p:graphicFrame>
      <p:graphicFrame>
        <p:nvGraphicFramePr>
          <p:cNvPr id="65540" name="Object 7"/>
          <p:cNvGraphicFramePr>
            <a:graphicFrameLocks noChangeAspect="1"/>
          </p:cNvGraphicFramePr>
          <p:nvPr/>
        </p:nvGraphicFramePr>
        <p:xfrm>
          <a:off x="2724150" y="3021013"/>
          <a:ext cx="582613" cy="442912"/>
        </p:xfrm>
        <a:graphic>
          <a:graphicData uri="http://schemas.openxmlformats.org/presentationml/2006/ole">
            <mc:AlternateContent xmlns:mc="http://schemas.openxmlformats.org/markup-compatibility/2006">
              <mc:Choice xmlns:v="urn:schemas-microsoft-com:vml" Requires="v">
                <p:oleObj spid="_x0000_s3092" name="" r:id="rId3" imgW="254000" imgH="190500" progId="Equation.3">
                  <p:embed/>
                </p:oleObj>
              </mc:Choice>
              <mc:Fallback>
                <p:oleObj name="" r:id="rId3" imgW="254000" imgH="190500" progId="Equation.3">
                  <p:embed/>
                  <p:pic>
                    <p:nvPicPr>
                      <p:cNvPr id="0" name="图片 3091"/>
                      <p:cNvPicPr/>
                      <p:nvPr/>
                    </p:nvPicPr>
                    <p:blipFill>
                      <a:blip r:embed="rId4"/>
                      <a:stretch>
                        <a:fillRect/>
                      </a:stretch>
                    </p:blipFill>
                    <p:spPr>
                      <a:xfrm>
                        <a:off x="2724150" y="3021013"/>
                        <a:ext cx="582613" cy="442912"/>
                      </a:xfrm>
                      <a:prstGeom prst="rect">
                        <a:avLst/>
                      </a:prstGeom>
                      <a:noFill/>
                      <a:ln w="38100">
                        <a:noFill/>
                        <a:miter/>
                      </a:ln>
                    </p:spPr>
                  </p:pic>
                </p:oleObj>
              </mc:Fallback>
            </mc:AlternateContent>
          </a:graphicData>
        </a:graphic>
      </p:graphicFrame>
      <p:graphicFrame>
        <p:nvGraphicFramePr>
          <p:cNvPr id="65541" name="Object 4"/>
          <p:cNvGraphicFramePr>
            <a:graphicFrameLocks noChangeAspect="1"/>
          </p:cNvGraphicFramePr>
          <p:nvPr/>
        </p:nvGraphicFramePr>
        <p:xfrm>
          <a:off x="460375" y="3673475"/>
          <a:ext cx="3856038" cy="2032000"/>
        </p:xfrm>
        <a:graphic>
          <a:graphicData uri="http://schemas.openxmlformats.org/presentationml/2006/ole">
            <mc:AlternateContent xmlns:mc="http://schemas.openxmlformats.org/markup-compatibility/2006">
              <mc:Choice xmlns:v="urn:schemas-microsoft-com:vml" Requires="v">
                <p:oleObj spid="_x0000_s3094" name="" r:id="rId5" imgW="2788285" imgH="1470025" progId="Visio.Drawing.6">
                  <p:embed/>
                </p:oleObj>
              </mc:Choice>
              <mc:Fallback>
                <p:oleObj name="" r:id="rId5" imgW="2788285" imgH="1470025" progId="Visio.Drawing.6">
                  <p:embed/>
                  <p:pic>
                    <p:nvPicPr>
                      <p:cNvPr id="0" name="图片 3093"/>
                      <p:cNvPicPr/>
                      <p:nvPr/>
                    </p:nvPicPr>
                    <p:blipFill>
                      <a:blip r:embed="rId6"/>
                      <a:stretch>
                        <a:fillRect/>
                      </a:stretch>
                    </p:blipFill>
                    <p:spPr>
                      <a:xfrm>
                        <a:off x="460375" y="3673475"/>
                        <a:ext cx="3856038" cy="2032000"/>
                      </a:xfrm>
                      <a:prstGeom prst="rect">
                        <a:avLst/>
                      </a:prstGeom>
                      <a:noFill/>
                      <a:ln w="38100">
                        <a:noFill/>
                        <a:miter/>
                      </a:ln>
                    </p:spPr>
                  </p:pic>
                </p:oleObj>
              </mc:Fallback>
            </mc:AlternateContent>
          </a:graphicData>
        </a:graphic>
      </p:graphicFrame>
      <p:sp>
        <p:nvSpPr>
          <p:cNvPr id="7" name="Rectangle 2"/>
          <p:cNvSpPr txBox="1">
            <a:spLocks noChangeArrowheads="1"/>
          </p:cNvSpPr>
          <p:nvPr/>
        </p:nvSpPr>
        <p:spPr bwMode="auto">
          <a:xfrm>
            <a:off x="0" y="5910263"/>
            <a:ext cx="4897438" cy="6524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9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图5-14(</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静态</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RAM</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的读时序</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65543" name="Object 4"/>
          <p:cNvGraphicFramePr>
            <a:graphicFrameLocks noChangeAspect="1"/>
          </p:cNvGraphicFramePr>
          <p:nvPr/>
        </p:nvGraphicFramePr>
        <p:xfrm>
          <a:off x="4827588" y="3689350"/>
          <a:ext cx="3856037" cy="2032000"/>
        </p:xfrm>
        <a:graphic>
          <a:graphicData uri="http://schemas.openxmlformats.org/presentationml/2006/ole">
            <mc:AlternateContent xmlns:mc="http://schemas.openxmlformats.org/markup-compatibility/2006">
              <mc:Choice xmlns:v="urn:schemas-microsoft-com:vml" Requires="v">
                <p:oleObj spid="_x0000_s3095" name="" r:id="rId7" imgW="2788285" imgH="1470025" progId="Visio.Drawing.6">
                  <p:embed/>
                </p:oleObj>
              </mc:Choice>
              <mc:Fallback>
                <p:oleObj name="" r:id="rId7" imgW="2788285" imgH="1470025" progId="Visio.Drawing.6">
                  <p:embed/>
                  <p:pic>
                    <p:nvPicPr>
                      <p:cNvPr id="0" name="图片 3094"/>
                      <p:cNvPicPr/>
                      <p:nvPr/>
                    </p:nvPicPr>
                    <p:blipFill>
                      <a:blip r:embed="rId8"/>
                      <a:stretch>
                        <a:fillRect/>
                      </a:stretch>
                    </p:blipFill>
                    <p:spPr>
                      <a:xfrm>
                        <a:off x="4827588" y="3689350"/>
                        <a:ext cx="3856037" cy="2032000"/>
                      </a:xfrm>
                      <a:prstGeom prst="rect">
                        <a:avLst/>
                      </a:prstGeom>
                      <a:noFill/>
                      <a:ln w="38100">
                        <a:noFill/>
                        <a:miter/>
                      </a:ln>
                    </p:spPr>
                  </p:pic>
                </p:oleObj>
              </mc:Fallback>
            </mc:AlternateContent>
          </a:graphicData>
        </a:graphic>
      </p:graphicFrame>
      <p:sp>
        <p:nvSpPr>
          <p:cNvPr id="9" name="Rectangle 2"/>
          <p:cNvSpPr txBox="1">
            <a:spLocks noChangeArrowheads="1"/>
          </p:cNvSpPr>
          <p:nvPr/>
        </p:nvSpPr>
        <p:spPr bwMode="auto">
          <a:xfrm>
            <a:off x="4195763" y="5907088"/>
            <a:ext cx="5119688"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9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图5-14(</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静态</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RAM</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的写时序</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3.RAM</a:t>
            </a:r>
            <a:r>
              <a:rPr lang="zh-CN" altLang="en-US" dirty="0">
                <a:latin typeface="Times New Roman" panose="02020603050405020304" pitchFamily="18" charset="0"/>
              </a:rPr>
              <a:t>的读写时序（续）</a:t>
            </a:r>
            <a:endParaRPr lang="zh-CN" altLang="en-US" dirty="0">
              <a:latin typeface="Times New Roman" panose="02020603050405020304" pitchFamily="18" charset="0"/>
              <a:ea typeface="Times New Roman" panose="02020603050405020304" pitchFamily="18" charset="0"/>
            </a:endParaRPr>
          </a:p>
        </p:txBody>
      </p:sp>
      <p:sp>
        <p:nvSpPr>
          <p:cNvPr id="66562" name="内容占位符 2"/>
          <p:cNvSpPr>
            <a:spLocks noGrp="1"/>
          </p:cNvSpPr>
          <p:nvPr>
            <p:ph idx="1"/>
          </p:nvPr>
        </p:nvSpPr>
        <p:spPr>
          <a:xfrm>
            <a:off x="457200" y="1417638"/>
            <a:ext cx="8229600" cy="642937"/>
          </a:xfrm>
          <a:noFill/>
          <a:ln>
            <a:noFill/>
          </a:ln>
        </p:spPr>
        <p:txBody>
          <a:bodyPr anchor="t" anchorCtr="0"/>
          <a:p>
            <a:r>
              <a:rPr lang="zh-CN" altLang="en-US" dirty="0">
                <a:latin typeface="Times New Roman" panose="02020603050405020304" pitchFamily="18" charset="0"/>
              </a:rPr>
              <a:t>⑵</a:t>
            </a:r>
            <a:r>
              <a:rPr lang="en-US" altLang="zh-CN" dirty="0">
                <a:latin typeface="Times New Roman" panose="02020603050405020304" pitchFamily="18" charset="0"/>
              </a:rPr>
              <a:t>DRAM</a:t>
            </a:r>
            <a:r>
              <a:rPr lang="zh-CN" altLang="en-US" dirty="0">
                <a:latin typeface="Times New Roman" panose="02020603050405020304" pitchFamily="18" charset="0"/>
              </a:rPr>
              <a:t>读写时序</a:t>
            </a:r>
            <a:endParaRPr lang="zh-CN" altLang="en-US" dirty="0">
              <a:latin typeface="Times New Roman" panose="02020603050405020304" pitchFamily="18" charset="0"/>
              <a:ea typeface="Times New Roman" panose="02020603050405020304" pitchFamily="18" charset="0"/>
            </a:endParaRPr>
          </a:p>
        </p:txBody>
      </p:sp>
      <p:graphicFrame>
        <p:nvGraphicFramePr>
          <p:cNvPr id="66563" name="Object 4"/>
          <p:cNvGraphicFramePr>
            <a:graphicFrameLocks noChangeAspect="1"/>
          </p:cNvGraphicFramePr>
          <p:nvPr/>
        </p:nvGraphicFramePr>
        <p:xfrm>
          <a:off x="336550" y="2205038"/>
          <a:ext cx="8469313" cy="3070225"/>
        </p:xfrm>
        <a:graphic>
          <a:graphicData uri="http://schemas.openxmlformats.org/presentationml/2006/ole">
            <mc:AlternateContent xmlns:mc="http://schemas.openxmlformats.org/markup-compatibility/2006">
              <mc:Choice xmlns:v="urn:schemas-microsoft-com:vml" Requires="v">
                <p:oleObj spid="_x0000_s3096" name="" r:id="rId1" imgW="6121400" imgH="2219960" progId="Visio.Drawing.6">
                  <p:embed/>
                </p:oleObj>
              </mc:Choice>
              <mc:Fallback>
                <p:oleObj name="" r:id="rId1" imgW="6121400" imgH="2219960" progId="Visio.Drawing.6">
                  <p:embed/>
                  <p:pic>
                    <p:nvPicPr>
                      <p:cNvPr id="0" name="图片 3095"/>
                      <p:cNvPicPr/>
                      <p:nvPr/>
                    </p:nvPicPr>
                    <p:blipFill>
                      <a:blip r:embed="rId2"/>
                      <a:stretch>
                        <a:fillRect/>
                      </a:stretch>
                    </p:blipFill>
                    <p:spPr>
                      <a:xfrm>
                        <a:off x="336550" y="2205038"/>
                        <a:ext cx="8469313" cy="3070225"/>
                      </a:xfrm>
                      <a:prstGeom prst="rect">
                        <a:avLst/>
                      </a:prstGeom>
                      <a:noFill/>
                      <a:ln w="38100">
                        <a:noFill/>
                        <a:miter/>
                      </a:ln>
                    </p:spPr>
                  </p:pic>
                </p:oleObj>
              </mc:Fallback>
            </mc:AlternateContent>
          </a:graphicData>
        </a:graphic>
      </p:graphicFrame>
      <p:sp>
        <p:nvSpPr>
          <p:cNvPr id="15" name="Rectangle 5"/>
          <p:cNvSpPr txBox="1">
            <a:spLocks noChangeArrowheads="1"/>
          </p:cNvSpPr>
          <p:nvPr/>
        </p:nvSpPr>
        <p:spPr bwMode="auto">
          <a:xfrm>
            <a:off x="1635125" y="5370513"/>
            <a:ext cx="5937250" cy="631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图5-15 动态</a:t>
            </a:r>
            <a:r>
              <a:rPr kumimoji="0" lang="en-US" altLang="zh-CN"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RAM</a:t>
            </a: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的读写时序图</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5.3.4 </a:t>
            </a:r>
            <a:r>
              <a:rPr lang="zh-CN" altLang="en-US" dirty="0">
                <a:latin typeface="Times New Roman" panose="02020603050405020304" pitchFamily="18" charset="0"/>
              </a:rPr>
              <a:t>半导体只读存储器（</a:t>
            </a:r>
            <a:r>
              <a:rPr lang="en-US" altLang="zh-CN" dirty="0">
                <a:latin typeface="Times New Roman" panose="02020603050405020304" pitchFamily="18" charset="0"/>
              </a:rPr>
              <a:t>ROM</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sp>
        <p:nvSpPr>
          <p:cNvPr id="67586"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1.ROM</a:t>
            </a:r>
            <a:r>
              <a:rPr lang="zh-CN" altLang="en-US" dirty="0">
                <a:latin typeface="Times New Roman" panose="02020603050405020304" pitchFamily="18" charset="0"/>
              </a:rPr>
              <a:t>的类型</a:t>
            </a:r>
            <a:endParaRPr lang="zh-CN" altLang="en-US" dirty="0">
              <a:latin typeface="Times New Roman" panose="02020603050405020304" pitchFamily="18" charset="0"/>
            </a:endParaRPr>
          </a:p>
          <a:p>
            <a:pPr>
              <a:spcBef>
                <a:spcPts val="1800"/>
              </a:spcBef>
            </a:pPr>
            <a:r>
              <a:rPr lang="zh-CN" altLang="en-US" dirty="0">
                <a:latin typeface="Times New Roman" panose="02020603050405020304" pitchFamily="18" charset="0"/>
              </a:rPr>
              <a:t>⑴掩膜式</a:t>
            </a:r>
            <a:r>
              <a:rPr lang="en-US" altLang="zh-CN" dirty="0">
                <a:latin typeface="Times New Roman" panose="02020603050405020304" pitchFamily="18" charset="0"/>
              </a:rPr>
              <a:t>ROM</a:t>
            </a:r>
            <a:r>
              <a:rPr lang="zh-CN" altLang="en-US" dirty="0">
                <a:latin typeface="Times New Roman" panose="02020603050405020304" pitchFamily="18" charset="0"/>
              </a:rPr>
              <a:t>（</a:t>
            </a:r>
            <a:r>
              <a:rPr lang="en-US" altLang="zh-CN" dirty="0">
                <a:latin typeface="Times New Roman" panose="02020603050405020304" pitchFamily="18" charset="0"/>
              </a:rPr>
              <a:t>MROM</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它的内容是由半导体制造厂按用户提出的要求在芯片的生产过程中直接写入的，写入之后任何人都无法改变其内容。</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优点：可靠性高，集成度高，批量之后价格便宜。</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缺点：用户对制造厂的依赖性过大，灵活性差。</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1.ROM</a:t>
            </a:r>
            <a:r>
              <a:rPr lang="zh-CN" altLang="en-US" dirty="0">
                <a:latin typeface="Times New Roman" panose="02020603050405020304" pitchFamily="18" charset="0"/>
              </a:rPr>
              <a:t>的类型（续）</a:t>
            </a:r>
            <a:endParaRPr lang="zh-CN" altLang="en-US" dirty="0">
              <a:latin typeface="Times New Roman" panose="02020603050405020304" pitchFamily="18" charset="0"/>
              <a:ea typeface="Times New Roman" panose="02020603050405020304" pitchFamily="18" charset="0"/>
            </a:endParaRPr>
          </a:p>
        </p:txBody>
      </p:sp>
      <p:sp>
        <p:nvSpPr>
          <p:cNvPr id="68610" name="内容占位符 2"/>
          <p:cNvSpPr>
            <a:spLocks noGrp="1"/>
          </p:cNvSpPr>
          <p:nvPr>
            <p:ph idx="1"/>
          </p:nvPr>
        </p:nvSpPr>
        <p:spPr>
          <a:xfrm>
            <a:off x="457200" y="1484313"/>
            <a:ext cx="8229600" cy="4525962"/>
          </a:xfrm>
          <a:noFill/>
          <a:ln>
            <a:noFill/>
          </a:ln>
        </p:spPr>
        <p:txBody>
          <a:bodyPr anchor="t" anchorCtr="0"/>
          <a:p>
            <a:r>
              <a:rPr lang="zh-CN" altLang="en-US" dirty="0">
                <a:latin typeface="Times New Roman" panose="02020603050405020304" pitchFamily="18" charset="0"/>
              </a:rPr>
              <a:t> ⑵一次可编程</a:t>
            </a:r>
            <a:r>
              <a:rPr lang="en-US" altLang="zh-CN" dirty="0">
                <a:latin typeface="Times New Roman" panose="02020603050405020304" pitchFamily="18" charset="0"/>
              </a:rPr>
              <a:t>ROM</a:t>
            </a:r>
            <a:r>
              <a:rPr lang="zh-CN" altLang="en-US" dirty="0">
                <a:latin typeface="Times New Roman" panose="02020603050405020304" pitchFamily="18" charset="0"/>
              </a:rPr>
              <a:t>（</a:t>
            </a:r>
            <a:r>
              <a:rPr lang="en-US" altLang="zh-CN" dirty="0">
                <a:latin typeface="Times New Roman" panose="02020603050405020304" pitchFamily="18" charset="0"/>
              </a:rPr>
              <a:t>PROM</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PROM</a:t>
            </a:r>
            <a:r>
              <a:rPr lang="zh-CN" altLang="en-US" sz="2400" dirty="0">
                <a:latin typeface="Times New Roman" panose="02020603050405020304" pitchFamily="18" charset="0"/>
              </a:rPr>
              <a:t>允许用户利用专门的设备（编程器）写入自己的程序，但一旦写入后，其内容将无法改变。</a:t>
            </a:r>
            <a:endParaRPr lang="zh-CN" altLang="en-US"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PROM</a:t>
            </a:r>
            <a:r>
              <a:rPr lang="zh-CN" altLang="en-US" sz="2400" dirty="0">
                <a:latin typeface="Times New Roman" panose="02020603050405020304" pitchFamily="18" charset="0"/>
              </a:rPr>
              <a:t>产品出厂时，所有记忆单元均制成“</a:t>
            </a:r>
            <a:r>
              <a:rPr lang="en-US" altLang="zh-CN" sz="2400" dirty="0">
                <a:latin typeface="Times New Roman" panose="02020603050405020304" pitchFamily="18" charset="0"/>
              </a:rPr>
              <a:t>0”</a:t>
            </a:r>
            <a:r>
              <a:rPr lang="zh-CN" altLang="en-US" sz="2400" dirty="0">
                <a:latin typeface="Times New Roman" panose="02020603050405020304" pitchFamily="18" charset="0"/>
              </a:rPr>
              <a:t>（或制成“</a:t>
            </a:r>
            <a:r>
              <a:rPr lang="en-US" altLang="zh-CN" sz="2400" dirty="0">
                <a:latin typeface="Times New Roman" panose="02020603050405020304" pitchFamily="18" charset="0"/>
              </a:rPr>
              <a:t>1”</a:t>
            </a:r>
            <a:r>
              <a:rPr lang="zh-CN" altLang="en-US" sz="2400" dirty="0">
                <a:latin typeface="Times New Roman" panose="02020603050405020304" pitchFamily="18" charset="0"/>
              </a:rPr>
              <a:t>），用户根据需要可自行将其中某些记忆单元改为“</a:t>
            </a:r>
            <a:r>
              <a:rPr lang="en-US" altLang="zh-CN" sz="2400" dirty="0">
                <a:latin typeface="Times New Roman" panose="02020603050405020304" pitchFamily="18" charset="0"/>
              </a:rPr>
              <a:t>1”</a:t>
            </a:r>
            <a:r>
              <a:rPr lang="zh-CN" altLang="en-US" sz="2400" dirty="0">
                <a:latin typeface="Times New Roman" panose="02020603050405020304" pitchFamily="18" charset="0"/>
              </a:rPr>
              <a:t>（或改为“</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双极型</a:t>
            </a:r>
            <a:r>
              <a:rPr lang="en-US" altLang="zh-CN" sz="2400" dirty="0">
                <a:latin typeface="Times New Roman" panose="02020603050405020304" pitchFamily="18" charset="0"/>
              </a:rPr>
              <a:t>PROM</a:t>
            </a:r>
            <a:r>
              <a:rPr lang="zh-CN" altLang="en-US" sz="2400" dirty="0">
                <a:latin typeface="Times New Roman" panose="02020603050405020304" pitchFamily="18" charset="0"/>
              </a:rPr>
              <a:t>有两种结构，一种是熔丝烧断型，另一种是</a:t>
            </a:r>
            <a:r>
              <a:rPr lang="en-US" altLang="zh-CN" sz="2400" dirty="0">
                <a:latin typeface="Times New Roman" panose="02020603050405020304" pitchFamily="18" charset="0"/>
              </a:rPr>
              <a:t>PN</a:t>
            </a:r>
            <a:r>
              <a:rPr lang="zh-CN" altLang="en-US" sz="2400" dirty="0">
                <a:latin typeface="Times New Roman" panose="02020603050405020304" pitchFamily="18" charset="0"/>
              </a:rPr>
              <a:t>结击穿型，由于它们的写入都是不可逆的，所以只能进行一次性写入。 </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1.ROM</a:t>
            </a:r>
            <a:r>
              <a:rPr lang="zh-CN" altLang="en-US" dirty="0">
                <a:latin typeface="Times New Roman" panose="02020603050405020304" pitchFamily="18" charset="0"/>
              </a:rPr>
              <a:t>的类型（续）</a:t>
            </a:r>
            <a:endParaRPr lang="zh-CN" altLang="en-US" dirty="0">
              <a:latin typeface="Times New Roman" panose="02020603050405020304" pitchFamily="18" charset="0"/>
              <a:ea typeface="Times New Roman" panose="02020603050405020304" pitchFamily="18" charset="0"/>
            </a:endParaRPr>
          </a:p>
        </p:txBody>
      </p:sp>
      <p:sp>
        <p:nvSpPr>
          <p:cNvPr id="69634"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⑶可擦除可编程</a:t>
            </a:r>
            <a:r>
              <a:rPr lang="en-US" altLang="zh-CN" dirty="0">
                <a:latin typeface="Times New Roman" panose="02020603050405020304" pitchFamily="18" charset="0"/>
              </a:rPr>
              <a:t>ROM</a:t>
            </a:r>
            <a:r>
              <a:rPr lang="zh-CN" altLang="en-US" dirty="0">
                <a:latin typeface="Times New Roman" panose="02020603050405020304" pitchFamily="18" charset="0"/>
              </a:rPr>
              <a:t>（</a:t>
            </a:r>
            <a:r>
              <a:rPr lang="en-US" altLang="zh-CN" dirty="0">
                <a:latin typeface="Times New Roman" panose="02020603050405020304" pitchFamily="18" charset="0"/>
              </a:rPr>
              <a:t>EPROM</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EPROM</a:t>
            </a:r>
            <a:r>
              <a:rPr lang="zh-CN" altLang="en-US" sz="2400" dirty="0">
                <a:latin typeface="Times New Roman" panose="02020603050405020304" pitchFamily="18" charset="0"/>
              </a:rPr>
              <a:t>不仅可以由用户利用编程器写入信息，而且可以对其内容进行多次改写。</a:t>
            </a:r>
            <a:endParaRPr lang="zh-CN" altLang="en-US"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EPROM</a:t>
            </a:r>
            <a:r>
              <a:rPr lang="zh-CN" altLang="en-US" sz="2400" dirty="0">
                <a:latin typeface="Times New Roman" panose="02020603050405020304" pitchFamily="18" charset="0"/>
              </a:rPr>
              <a:t>出厂时，存储内容为全“</a:t>
            </a:r>
            <a:r>
              <a:rPr lang="en-US" altLang="zh-CN" sz="2400" dirty="0">
                <a:latin typeface="Times New Roman" panose="02020603050405020304" pitchFamily="18" charset="0"/>
              </a:rPr>
              <a:t>1”</a:t>
            </a:r>
            <a:r>
              <a:rPr lang="zh-CN" altLang="en-US" sz="2400" dirty="0">
                <a:latin typeface="Times New Roman" panose="02020603050405020304" pitchFamily="18" charset="0"/>
              </a:rPr>
              <a:t>，用户可以根据需要将其中某些记忆单元改为“</a:t>
            </a:r>
            <a:r>
              <a:rPr lang="en-US" altLang="zh-CN" sz="2400" dirty="0">
                <a:latin typeface="Times New Roman" panose="02020603050405020304" pitchFamily="18" charset="0"/>
              </a:rPr>
              <a:t>0”</a:t>
            </a:r>
            <a:r>
              <a:rPr lang="zh-CN" altLang="en-US" sz="2400" dirty="0">
                <a:latin typeface="Times New Roman" panose="02020603050405020304" pitchFamily="18" charset="0"/>
              </a:rPr>
              <a:t>。当需要更新存储内容时可以将原存储内容擦除（恢复全“</a:t>
            </a:r>
            <a:r>
              <a:rPr lang="en-US" altLang="zh-CN" sz="2400" dirty="0">
                <a:latin typeface="Times New Roman" panose="02020603050405020304" pitchFamily="18" charset="0"/>
              </a:rPr>
              <a:t>1”</a:t>
            </a:r>
            <a:r>
              <a:rPr lang="zh-CN" altLang="en-US" sz="2400" dirty="0">
                <a:latin typeface="Times New Roman" panose="02020603050405020304" pitchFamily="18" charset="0"/>
              </a:rPr>
              <a:t>），以便再写入新的内容。</a:t>
            </a:r>
            <a:endParaRPr lang="zh-CN" altLang="en-US"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EPROM</a:t>
            </a:r>
            <a:r>
              <a:rPr lang="zh-CN" altLang="en-US" sz="2400" dirty="0">
                <a:latin typeface="Times New Roman" panose="02020603050405020304" pitchFamily="18" charset="0"/>
              </a:rPr>
              <a:t>又可分为两种：紫外线擦除（</a:t>
            </a:r>
            <a:r>
              <a:rPr lang="en-US" altLang="zh-CN" sz="2400" dirty="0">
                <a:latin typeface="Times New Roman" panose="02020603050405020304" pitchFamily="18" charset="0"/>
              </a:rPr>
              <a:t>UVEPROM</a:t>
            </a:r>
            <a:r>
              <a:rPr lang="zh-CN" altLang="en-US" sz="2400" dirty="0">
                <a:latin typeface="Times New Roman" panose="02020603050405020304" pitchFamily="18" charset="0"/>
              </a:rPr>
              <a:t>）和电擦除（</a:t>
            </a:r>
            <a:r>
              <a:rPr lang="en-US" altLang="zh-CN" sz="2400" dirty="0">
                <a:latin typeface="Times New Roman" panose="02020603050405020304" pitchFamily="18" charset="0"/>
              </a:rPr>
              <a:t>EEPROM</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1.ROM</a:t>
            </a:r>
            <a:r>
              <a:rPr lang="zh-CN" altLang="en-US" dirty="0">
                <a:latin typeface="Times New Roman" panose="02020603050405020304" pitchFamily="18" charset="0"/>
              </a:rPr>
              <a:t>的类型（续）</a:t>
            </a:r>
            <a:endParaRPr lang="zh-CN" altLang="en-US" dirty="0">
              <a:latin typeface="Times New Roman" panose="02020603050405020304" pitchFamily="18" charset="0"/>
              <a:ea typeface="Times New Roman" panose="02020603050405020304" pitchFamily="18" charset="0"/>
            </a:endParaRPr>
          </a:p>
        </p:txBody>
      </p:sp>
      <p:sp>
        <p:nvSpPr>
          <p:cNvPr id="7065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 </a:t>
            </a:r>
            <a:r>
              <a:rPr lang="en-US" altLang="zh-CN" dirty="0">
                <a:latin typeface="Times New Roman" panose="02020603050405020304" pitchFamily="18" charset="0"/>
              </a:rPr>
              <a:t>UVEPROM</a:t>
            </a:r>
            <a:r>
              <a:rPr lang="zh-CN" altLang="en-US" dirty="0">
                <a:latin typeface="Times New Roman" panose="02020603050405020304" pitchFamily="18" charset="0"/>
              </a:rPr>
              <a:t>采用紫外线擦除</a:t>
            </a:r>
            <a:endParaRPr lang="en-US" altLang="zh-CN" dirty="0">
              <a:latin typeface="Times New Roman" panose="02020603050405020304" pitchFamily="18" charset="0"/>
            </a:endParaRPr>
          </a:p>
          <a:p>
            <a:pPr lvl="1"/>
            <a:r>
              <a:rPr lang="zh-CN" altLang="en-US" sz="2400" dirty="0">
                <a:latin typeface="Times New Roman" panose="02020603050405020304" pitchFamily="18" charset="0"/>
              </a:rPr>
              <a:t>只能对整个芯片擦除，而不能对芯片中个别需要改写的存储单元单独擦除。 </a:t>
            </a:r>
            <a:endParaRPr lang="zh-CN" altLang="en-US" sz="2400" dirty="0">
              <a:latin typeface="Times New Roman" panose="02020603050405020304" pitchFamily="18" charset="0"/>
            </a:endParaRPr>
          </a:p>
          <a:p>
            <a:pPr>
              <a:spcBef>
                <a:spcPts val="1800"/>
              </a:spcBef>
            </a:pPr>
            <a:r>
              <a:rPr lang="en-US" altLang="zh-CN" dirty="0">
                <a:latin typeface="Times New Roman" panose="02020603050405020304" pitchFamily="18" charset="0"/>
              </a:rPr>
              <a:t>EEPROM</a:t>
            </a:r>
            <a:r>
              <a:rPr lang="zh-CN" altLang="en-US" dirty="0">
                <a:latin typeface="Times New Roman" panose="02020603050405020304" pitchFamily="18" charset="0"/>
              </a:rPr>
              <a:t>采用电气方法擦除</a:t>
            </a:r>
            <a:endParaRPr lang="en-US" altLang="zh-CN"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在联机条件下既可以用字擦除方式，也可以用数据块擦除方式。</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以字擦除方式操作时，能够只擦除被选中的那个存储单元的内容；以数据块擦除方式操作时，可擦除数据块内所有单元的内容。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1.ROM</a:t>
            </a:r>
            <a:r>
              <a:rPr lang="zh-CN" altLang="en-US" dirty="0">
                <a:latin typeface="Times New Roman" panose="02020603050405020304" pitchFamily="18" charset="0"/>
              </a:rPr>
              <a:t>的类型（续）</a:t>
            </a:r>
            <a:endParaRPr lang="zh-CN" altLang="en-US" dirty="0">
              <a:latin typeface="Times New Roman" panose="02020603050405020304" pitchFamily="18" charset="0"/>
              <a:ea typeface="Times New Roman" panose="02020603050405020304" pitchFamily="18" charset="0"/>
            </a:endParaRPr>
          </a:p>
        </p:txBody>
      </p:sp>
      <p:sp>
        <p:nvSpPr>
          <p:cNvPr id="71682" name="内容占位符 2"/>
          <p:cNvSpPr>
            <a:spLocks noGrp="1"/>
          </p:cNvSpPr>
          <p:nvPr>
            <p:ph idx="1"/>
          </p:nvPr>
        </p:nvSpPr>
        <p:spPr>
          <a:xfrm>
            <a:off x="457200" y="1600200"/>
            <a:ext cx="8229600" cy="4781550"/>
          </a:xfrm>
          <a:noFill/>
          <a:ln>
            <a:noFill/>
          </a:ln>
        </p:spPr>
        <p:txBody>
          <a:bodyPr anchor="t" anchorCtr="0"/>
          <a:p>
            <a:r>
              <a:rPr lang="zh-CN" altLang="en-US" dirty="0"/>
              <a:t>⑷闪速存储器</a:t>
            </a:r>
            <a:endParaRPr lang="zh-CN" altLang="en-US" dirty="0"/>
          </a:p>
          <a:p>
            <a:pPr lvl="1">
              <a:spcBef>
                <a:spcPts val="1200"/>
              </a:spcBef>
            </a:pPr>
            <a:r>
              <a:rPr lang="zh-CN" altLang="en-US" dirty="0">
                <a:latin typeface="Times New Roman" panose="02020603050405020304" pitchFamily="18" charset="0"/>
              </a:rPr>
              <a:t>既可在不加电的情况下长期保存信息，又能在线进行快速擦除与重写，兼备了</a:t>
            </a:r>
            <a:r>
              <a:rPr lang="en-US" altLang="zh-CN" dirty="0">
                <a:latin typeface="Times New Roman" panose="02020603050405020304" pitchFamily="18" charset="0"/>
              </a:rPr>
              <a:t>EEPROM</a:t>
            </a:r>
            <a:r>
              <a:rPr lang="zh-CN" altLang="en-US" dirty="0">
                <a:latin typeface="Times New Roman" panose="02020603050405020304" pitchFamily="18" charset="0"/>
              </a:rPr>
              <a:t>和</a:t>
            </a:r>
            <a:r>
              <a:rPr lang="en-US" altLang="zh-CN" dirty="0">
                <a:latin typeface="Times New Roman" panose="02020603050405020304" pitchFamily="18" charset="0"/>
              </a:rPr>
              <a:t>RAM</a:t>
            </a:r>
            <a:r>
              <a:rPr lang="zh-CN" altLang="en-US" dirty="0">
                <a:latin typeface="Times New Roman" panose="02020603050405020304" pitchFamily="18" charset="0"/>
              </a:rPr>
              <a:t>的优点。</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闪存有</a:t>
            </a:r>
            <a:r>
              <a:rPr lang="en-US" altLang="zh-CN" dirty="0">
                <a:latin typeface="Times New Roman" panose="02020603050405020304" pitchFamily="18" charset="0"/>
              </a:rPr>
              <a:t>NOR</a:t>
            </a:r>
            <a:r>
              <a:rPr lang="zh-CN" altLang="en-US" dirty="0">
                <a:latin typeface="Times New Roman" panose="02020603050405020304" pitchFamily="18" charset="0"/>
              </a:rPr>
              <a:t>型和</a:t>
            </a:r>
            <a:r>
              <a:rPr lang="en-US" altLang="zh-CN" dirty="0">
                <a:latin typeface="Times New Roman" panose="02020603050405020304" pitchFamily="18" charset="0"/>
              </a:rPr>
              <a:t>NAND</a:t>
            </a:r>
            <a:r>
              <a:rPr lang="zh-CN" altLang="en-US" dirty="0">
                <a:latin typeface="Times New Roman" panose="02020603050405020304" pitchFamily="18" charset="0"/>
              </a:rPr>
              <a:t>型两种：</a:t>
            </a:r>
            <a:endParaRPr lang="en-US" altLang="zh-CN" dirty="0">
              <a:latin typeface="Times New Roman" panose="02020603050405020304" pitchFamily="18" charset="0"/>
            </a:endParaRPr>
          </a:p>
          <a:p>
            <a:pPr lvl="2">
              <a:spcBef>
                <a:spcPts val="1200"/>
              </a:spcBef>
            </a:pPr>
            <a:r>
              <a:rPr lang="en-US" altLang="zh-CN" dirty="0">
                <a:latin typeface="Times New Roman" panose="02020603050405020304" pitchFamily="18" charset="0"/>
              </a:rPr>
              <a:t>NOR Flash</a:t>
            </a:r>
            <a:r>
              <a:rPr lang="zh-CN" altLang="en-US" dirty="0">
                <a:latin typeface="Times New Roman" panose="02020603050405020304" pitchFamily="18" charset="0"/>
              </a:rPr>
              <a:t>需要很长的时间进行擦写，允许随机存取存储器上的任何区域，读取数据的方式与从</a:t>
            </a:r>
            <a:r>
              <a:rPr lang="en-US" altLang="zh-CN" dirty="0">
                <a:latin typeface="Times New Roman" panose="02020603050405020304" pitchFamily="18" charset="0"/>
              </a:rPr>
              <a:t>RAM</a:t>
            </a:r>
            <a:r>
              <a:rPr lang="zh-CN" altLang="en-US" dirty="0">
                <a:latin typeface="Times New Roman" panose="02020603050405020304" pitchFamily="18" charset="0"/>
              </a:rPr>
              <a:t>读取数据很相近。</a:t>
            </a:r>
            <a:endParaRPr lang="en-US" altLang="zh-CN" dirty="0">
              <a:latin typeface="Times New Roman" panose="02020603050405020304" pitchFamily="18" charset="0"/>
            </a:endParaRPr>
          </a:p>
          <a:p>
            <a:pPr lvl="2">
              <a:spcBef>
                <a:spcPts val="1200"/>
              </a:spcBef>
            </a:pPr>
            <a:r>
              <a:rPr lang="en-US" altLang="zh-CN" dirty="0">
                <a:latin typeface="Times New Roman" panose="02020603050405020304" pitchFamily="18" charset="0"/>
              </a:rPr>
              <a:t>NAND Flash</a:t>
            </a:r>
            <a:r>
              <a:rPr lang="zh-CN" altLang="en-US" dirty="0">
                <a:latin typeface="Times New Roman" panose="02020603050405020304" pitchFamily="18" charset="0"/>
              </a:rPr>
              <a:t>具有较快的擦写时间，但必须以区块为单位进行读取。</a:t>
            </a:r>
            <a:endParaRPr lang="zh-CN" altLang="en-US" dirty="0">
              <a:latin typeface="Times New Roman" panose="02020603050405020304" pitchFamily="18" charset="0"/>
            </a:endParaRPr>
          </a:p>
          <a:p>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2.ROM</a:t>
            </a:r>
            <a:r>
              <a:rPr lang="zh-CN" altLang="en-US" dirty="0">
                <a:latin typeface="Times New Roman" panose="02020603050405020304" pitchFamily="18" charset="0"/>
              </a:rPr>
              <a:t>芯片 </a:t>
            </a:r>
            <a:endParaRPr lang="zh-CN" altLang="en-US" dirty="0">
              <a:latin typeface="Times New Roman" panose="02020603050405020304" pitchFamily="18" charset="0"/>
              <a:ea typeface="Times New Roman" panose="02020603050405020304" pitchFamily="18" charset="0"/>
            </a:endParaRPr>
          </a:p>
        </p:txBody>
      </p:sp>
      <p:sp>
        <p:nvSpPr>
          <p:cNvPr id="72706"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ROM</a:t>
            </a:r>
            <a:r>
              <a:rPr lang="zh-CN" altLang="en-US" dirty="0">
                <a:latin typeface="Times New Roman" panose="02020603050405020304" pitchFamily="18" charset="0"/>
              </a:rPr>
              <a:t>中使用最多的是可擦除可编程</a:t>
            </a:r>
            <a:r>
              <a:rPr lang="en-US" altLang="zh-CN" dirty="0">
                <a:latin typeface="Times New Roman" panose="02020603050405020304" pitchFamily="18" charset="0"/>
              </a:rPr>
              <a:t>ROM</a:t>
            </a:r>
            <a:r>
              <a:rPr lang="zh-CN" altLang="en-US" dirty="0">
                <a:latin typeface="Times New Roman" panose="02020603050405020304" pitchFamily="18" charset="0"/>
              </a:rPr>
              <a:t>（</a:t>
            </a:r>
            <a:r>
              <a:rPr lang="en-US" altLang="zh-CN" dirty="0">
                <a:latin typeface="Times New Roman" panose="02020603050405020304" pitchFamily="18" charset="0"/>
              </a:rPr>
              <a:t>EPROM</a:t>
            </a:r>
            <a:r>
              <a:rPr lang="zh-CN" altLang="en-US" dirty="0">
                <a:latin typeface="Times New Roman" panose="02020603050405020304" pitchFamily="18" charset="0"/>
              </a:rPr>
              <a:t>）。各种</a:t>
            </a:r>
            <a:r>
              <a:rPr lang="en-US" altLang="zh-CN" dirty="0">
                <a:latin typeface="Times New Roman" panose="02020603050405020304" pitchFamily="18" charset="0"/>
              </a:rPr>
              <a:t>EPROM</a:t>
            </a:r>
            <a:r>
              <a:rPr lang="zh-CN" altLang="en-US" dirty="0">
                <a:latin typeface="Times New Roman" panose="02020603050405020304" pitchFamily="18" charset="0"/>
              </a:rPr>
              <a:t>芯片的外引脚主要有：</a:t>
            </a:r>
            <a:endParaRPr lang="zh-CN" altLang="en-US" dirty="0">
              <a:latin typeface="Times New Roman" panose="02020603050405020304" pitchFamily="18" charset="0"/>
            </a:endParaRPr>
          </a:p>
          <a:p>
            <a:pPr lvl="1"/>
            <a:r>
              <a:rPr lang="zh-CN" altLang="en-US" dirty="0">
                <a:latin typeface="Times New Roman" panose="02020603050405020304" pitchFamily="18" charset="0"/>
              </a:rPr>
              <a:t>地址线</a:t>
            </a:r>
            <a:endParaRPr lang="zh-CN" altLang="en-US" dirty="0">
              <a:latin typeface="Times New Roman" panose="02020603050405020304" pitchFamily="18" charset="0"/>
            </a:endParaRPr>
          </a:p>
          <a:p>
            <a:pPr lvl="1"/>
            <a:r>
              <a:rPr lang="zh-CN" altLang="en-US" dirty="0">
                <a:latin typeface="Times New Roman" panose="02020603050405020304" pitchFamily="18" charset="0"/>
              </a:rPr>
              <a:t>数据线</a:t>
            </a:r>
            <a:endParaRPr lang="zh-CN" altLang="en-US" dirty="0">
              <a:latin typeface="Times New Roman" panose="02020603050405020304" pitchFamily="18" charset="0"/>
            </a:endParaRPr>
          </a:p>
          <a:p>
            <a:pPr lvl="1"/>
            <a:r>
              <a:rPr lang="zh-CN" altLang="en-US" dirty="0">
                <a:latin typeface="Times New Roman" panose="02020603050405020304" pitchFamily="18" charset="0"/>
              </a:rPr>
              <a:t>片选线</a:t>
            </a:r>
            <a:endParaRPr lang="zh-CN" altLang="en-US" dirty="0">
              <a:latin typeface="Times New Roman" panose="02020603050405020304" pitchFamily="18" charset="0"/>
            </a:endParaRPr>
          </a:p>
          <a:p>
            <a:pPr lvl="1"/>
            <a:r>
              <a:rPr lang="zh-CN" altLang="en-US" dirty="0">
                <a:latin typeface="Times New Roman" panose="02020603050405020304" pitchFamily="18" charset="0"/>
              </a:rPr>
              <a:t>功率下降与编程输入线</a:t>
            </a:r>
            <a:endParaRPr lang="zh-CN" altLang="en-US" dirty="0">
              <a:latin typeface="Times New Roman" panose="02020603050405020304" pitchFamily="18" charset="0"/>
            </a:endParaRPr>
          </a:p>
          <a:p>
            <a:pPr lvl="1"/>
            <a:r>
              <a:rPr lang="zh-CN" altLang="en-US" dirty="0">
                <a:latin typeface="Times New Roman" panose="02020603050405020304" pitchFamily="18" charset="0"/>
              </a:rPr>
              <a:t>电源线等</a:t>
            </a:r>
            <a:endParaRPr lang="zh-CN" altLang="en-US" dirty="0">
              <a:latin typeface="Times New Roman" panose="02020603050405020304" pitchFamily="18" charset="0"/>
            </a:endParaRPr>
          </a:p>
          <a:p>
            <a:pPr lvl="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5.3.5 </a:t>
            </a:r>
            <a:r>
              <a:rPr lang="zh-CN" altLang="en-US" dirty="0">
                <a:latin typeface="Times New Roman" panose="02020603050405020304" pitchFamily="18" charset="0"/>
              </a:rPr>
              <a:t>半导体存储器的封装 </a:t>
            </a:r>
            <a:endParaRPr lang="zh-CN" altLang="en-US" dirty="0">
              <a:latin typeface="Times New Roman" panose="02020603050405020304" pitchFamily="18" charset="0"/>
              <a:ea typeface="Times New Roman" panose="02020603050405020304" pitchFamily="18" charset="0"/>
            </a:endParaRPr>
          </a:p>
        </p:txBody>
      </p:sp>
      <p:sp>
        <p:nvSpPr>
          <p:cNvPr id="73730"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1.DIP</a:t>
            </a:r>
            <a:r>
              <a:rPr lang="zh-CN" altLang="en-US" dirty="0">
                <a:latin typeface="Times New Roman" panose="02020603050405020304" pitchFamily="18" charset="0"/>
              </a:rPr>
              <a:t>存储芯片</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过去，一般存储芯片都是双列直插封装的，简称</a:t>
            </a:r>
            <a:r>
              <a:rPr lang="en-US" altLang="zh-CN" sz="2400" dirty="0">
                <a:latin typeface="Times New Roman" panose="02020603050405020304" pitchFamily="18" charset="0"/>
              </a:rPr>
              <a:t>DIP</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DIP</a:t>
            </a:r>
            <a:r>
              <a:rPr lang="zh-CN" altLang="en-US" sz="2400" dirty="0">
                <a:latin typeface="Times New Roman" panose="02020603050405020304" pitchFamily="18" charset="0"/>
              </a:rPr>
              <a:t>芯片的容量一般不可能很大，如</a:t>
            </a:r>
            <a:r>
              <a:rPr lang="en-US" altLang="zh-CN" sz="2400" dirty="0">
                <a:latin typeface="Times New Roman" panose="02020603050405020304" pitchFamily="18" charset="0"/>
              </a:rPr>
              <a:t>64K×1</a:t>
            </a:r>
            <a:r>
              <a:rPr lang="zh-CN" altLang="en-US" sz="2400" dirty="0">
                <a:latin typeface="Times New Roman" panose="02020603050405020304" pitchFamily="18" charset="0"/>
              </a:rPr>
              <a:t>或</a:t>
            </a:r>
            <a:r>
              <a:rPr lang="en-US" altLang="zh-CN" sz="2400" dirty="0">
                <a:latin typeface="Times New Roman" panose="02020603050405020304" pitchFamily="18" charset="0"/>
              </a:rPr>
              <a:t>256K×1</a:t>
            </a:r>
            <a:r>
              <a:rPr lang="zh-CN" altLang="en-US" sz="2400" dirty="0">
                <a:latin typeface="Times New Roman" panose="02020603050405020304" pitchFamily="18" charset="0"/>
              </a:rPr>
              <a:t>的芯片，表示每个芯片具有</a:t>
            </a:r>
            <a:r>
              <a:rPr lang="en-US" altLang="zh-CN" sz="2400" dirty="0">
                <a:latin typeface="Times New Roman" panose="02020603050405020304" pitchFamily="18" charset="0"/>
              </a:rPr>
              <a:t>64K</a:t>
            </a:r>
            <a:r>
              <a:rPr lang="zh-CN" altLang="en-US" sz="2400" dirty="0">
                <a:latin typeface="Times New Roman" panose="02020603050405020304" pitchFamily="18" charset="0"/>
              </a:rPr>
              <a:t>或</a:t>
            </a:r>
            <a:r>
              <a:rPr lang="en-US" altLang="zh-CN" sz="2400" dirty="0">
                <a:latin typeface="Times New Roman" panose="02020603050405020304" pitchFamily="18" charset="0"/>
              </a:rPr>
              <a:t>256K</a:t>
            </a:r>
            <a:r>
              <a:rPr lang="zh-CN" altLang="en-US" sz="2400" dirty="0">
                <a:latin typeface="Times New Roman" panose="02020603050405020304" pitchFamily="18" charset="0"/>
              </a:rPr>
              <a:t>个记忆单元，若要存储</a:t>
            </a:r>
            <a:r>
              <a:rPr lang="en-US" altLang="zh-CN" sz="2400" dirty="0">
                <a:latin typeface="Times New Roman" panose="02020603050405020304" pitchFamily="18" charset="0"/>
              </a:rPr>
              <a:t>256K</a:t>
            </a:r>
            <a:r>
              <a:rPr lang="zh-CN" altLang="en-US" sz="2400" dirty="0">
                <a:latin typeface="Times New Roman" panose="02020603050405020304" pitchFamily="18" charset="0"/>
              </a:rPr>
              <a:t>字节的信息，则需要</a:t>
            </a:r>
            <a:r>
              <a:rPr lang="en-US" altLang="zh-CN" sz="2400" dirty="0">
                <a:latin typeface="Times New Roman" panose="02020603050405020304" pitchFamily="18" charset="0"/>
              </a:rPr>
              <a:t>8</a:t>
            </a:r>
            <a:r>
              <a:rPr lang="zh-CN" altLang="en-US" sz="2400" dirty="0">
                <a:latin typeface="Times New Roman" panose="02020603050405020304" pitchFamily="18" charset="0"/>
              </a:rPr>
              <a:t>个</a:t>
            </a:r>
            <a:r>
              <a:rPr lang="en-US" altLang="zh-CN" sz="2400" dirty="0">
                <a:latin typeface="Times New Roman" panose="02020603050405020304" pitchFamily="18" charset="0"/>
              </a:rPr>
              <a:t>256K×1</a:t>
            </a:r>
            <a:r>
              <a:rPr lang="zh-CN" altLang="en-US" sz="2400" dirty="0">
                <a:latin typeface="Times New Roman" panose="02020603050405020304" pitchFamily="18" charset="0"/>
              </a:rPr>
              <a:t>的芯片（非奇偶校验）或</a:t>
            </a:r>
            <a:r>
              <a:rPr lang="en-US" altLang="zh-CN" sz="2400" dirty="0">
                <a:latin typeface="Times New Roman" panose="02020603050405020304" pitchFamily="18" charset="0"/>
              </a:rPr>
              <a:t>9</a:t>
            </a:r>
            <a:r>
              <a:rPr lang="zh-CN" altLang="en-US" sz="2400" dirty="0">
                <a:latin typeface="Times New Roman" panose="02020603050405020304" pitchFamily="18" charset="0"/>
              </a:rPr>
              <a:t>个这样的芯片（奇偶校验）。 </a:t>
            </a:r>
            <a:endParaRPr lang="zh-CN" altLang="en-US" sz="2400" dirty="0">
              <a:latin typeface="Times New Roman" panose="02020603050405020304" pitchFamily="18" charset="0"/>
            </a:endParaRPr>
          </a:p>
          <a:p>
            <a:pPr lvl="1">
              <a:spcBef>
                <a:spcPts val="12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内存条 </a:t>
            </a:r>
            <a:endParaRPr lang="zh-CN" altLang="en-US" dirty="0">
              <a:latin typeface="Times New Roman" panose="02020603050405020304" pitchFamily="18" charset="0"/>
              <a:ea typeface="Times New Roman" panose="02020603050405020304" pitchFamily="18" charset="0"/>
            </a:endParaRPr>
          </a:p>
        </p:txBody>
      </p:sp>
      <p:sp>
        <p:nvSpPr>
          <p:cNvPr id="74754" name="内容占位符 2"/>
          <p:cNvSpPr>
            <a:spLocks noGrp="1"/>
          </p:cNvSpPr>
          <p:nvPr>
            <p:ph idx="1"/>
          </p:nvPr>
        </p:nvSpPr>
        <p:spPr>
          <a:noFill/>
          <a:ln>
            <a:noFill/>
          </a:ln>
        </p:spPr>
        <p:txBody>
          <a:bodyPr anchor="t" anchorCtr="0"/>
          <a:p>
            <a:pPr>
              <a:spcBef>
                <a:spcPts val="1200"/>
              </a:spcBef>
            </a:pPr>
            <a:r>
              <a:rPr lang="zh-CN" altLang="en-US" dirty="0">
                <a:latin typeface="Times New Roman" panose="02020603050405020304" pitchFamily="18" charset="0"/>
              </a:rPr>
              <a:t>内存条实际上是一条焊有多片存储芯片的印刷电路板，插在主板内存插槽中。</a:t>
            </a:r>
            <a:endParaRPr lang="zh-CN" altLang="en-US" dirty="0">
              <a:latin typeface="Times New Roman" panose="02020603050405020304" pitchFamily="18" charset="0"/>
            </a:endParaRPr>
          </a:p>
          <a:p>
            <a:pPr>
              <a:spcBef>
                <a:spcPts val="1200"/>
              </a:spcBef>
            </a:pPr>
            <a:r>
              <a:rPr lang="en-US" altLang="zh-CN" dirty="0">
                <a:latin typeface="Times New Roman" panose="02020603050405020304" pitchFamily="18" charset="0"/>
              </a:rPr>
              <a:t>SIMM</a:t>
            </a:r>
            <a:r>
              <a:rPr lang="zh-CN" altLang="en-US" dirty="0">
                <a:latin typeface="Times New Roman" panose="02020603050405020304" pitchFamily="18" charset="0"/>
              </a:rPr>
              <a:t>有</a:t>
            </a:r>
            <a:r>
              <a:rPr lang="en-US" altLang="zh-CN" dirty="0">
                <a:latin typeface="Times New Roman" panose="02020603050405020304" pitchFamily="18" charset="0"/>
              </a:rPr>
              <a:t>30</a:t>
            </a:r>
            <a:r>
              <a:rPr lang="zh-CN" altLang="en-US" dirty="0">
                <a:latin typeface="Times New Roman" panose="02020603050405020304" pitchFamily="18" charset="0"/>
              </a:rPr>
              <a:t>线和</a:t>
            </a:r>
            <a:r>
              <a:rPr lang="en-US" altLang="zh-CN" dirty="0">
                <a:latin typeface="Times New Roman" panose="02020603050405020304" pitchFamily="18" charset="0"/>
              </a:rPr>
              <a:t>72</a:t>
            </a:r>
            <a:r>
              <a:rPr lang="zh-CN" altLang="en-US" dirty="0">
                <a:latin typeface="Times New Roman" panose="02020603050405020304" pitchFamily="18" charset="0"/>
              </a:rPr>
              <a:t>线两种。</a:t>
            </a:r>
            <a:endParaRPr lang="en-US" altLang="zh-CN"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30</a:t>
            </a:r>
            <a:r>
              <a:rPr lang="zh-CN" altLang="en-US" sz="2400" dirty="0">
                <a:latin typeface="Times New Roman" panose="02020603050405020304" pitchFamily="18" charset="0"/>
              </a:rPr>
              <a:t>线的</a:t>
            </a:r>
            <a:r>
              <a:rPr lang="en-US" altLang="zh-CN" sz="2400" dirty="0">
                <a:latin typeface="Times New Roman" panose="02020603050405020304" pitchFamily="18" charset="0"/>
              </a:rPr>
              <a:t>SIMM</a:t>
            </a:r>
            <a:r>
              <a:rPr lang="zh-CN" altLang="en-US" sz="2400" dirty="0">
                <a:latin typeface="Times New Roman" panose="02020603050405020304" pitchFamily="18" charset="0"/>
              </a:rPr>
              <a:t>数据线的宽度只有</a:t>
            </a:r>
            <a:r>
              <a:rPr lang="en-US" altLang="zh-CN" sz="2400" dirty="0">
                <a:latin typeface="Times New Roman" panose="02020603050405020304" pitchFamily="18" charset="0"/>
              </a:rPr>
              <a:t>8</a:t>
            </a:r>
            <a:r>
              <a:rPr lang="zh-CN" altLang="en-US" sz="2400" dirty="0">
                <a:latin typeface="Times New Roman" panose="02020603050405020304" pitchFamily="18" charset="0"/>
              </a:rPr>
              <a:t>位（部分另加有</a:t>
            </a:r>
            <a:r>
              <a:rPr lang="en-US" altLang="zh-CN" sz="2400" dirty="0">
                <a:latin typeface="Times New Roman" panose="02020603050405020304" pitchFamily="18" charset="0"/>
              </a:rPr>
              <a:t>1</a:t>
            </a:r>
            <a:r>
              <a:rPr lang="zh-CN" altLang="en-US" sz="2400" dirty="0">
                <a:latin typeface="Times New Roman" panose="02020603050405020304" pitchFamily="18" charset="0"/>
              </a:rPr>
              <a:t>位校验位），需要用四条</a:t>
            </a:r>
            <a:r>
              <a:rPr lang="en-US" altLang="zh-CN" sz="2400" dirty="0">
                <a:latin typeface="Times New Roman" panose="02020603050405020304" pitchFamily="18" charset="0"/>
              </a:rPr>
              <a:t>SIMM</a:t>
            </a:r>
            <a:r>
              <a:rPr lang="zh-CN" altLang="en-US" sz="2400" dirty="0">
                <a:latin typeface="Times New Roman" panose="02020603050405020304" pitchFamily="18" charset="0"/>
              </a:rPr>
              <a:t>组成一组，来构成具有某种容量和</a:t>
            </a:r>
            <a:r>
              <a:rPr lang="en-US" altLang="zh-CN" sz="2400" dirty="0">
                <a:latin typeface="Times New Roman" panose="02020603050405020304" pitchFamily="18" charset="0"/>
              </a:rPr>
              <a:t>32</a:t>
            </a:r>
            <a:r>
              <a:rPr lang="zh-CN" altLang="en-US" sz="2400" dirty="0">
                <a:latin typeface="Times New Roman" panose="02020603050405020304" pitchFamily="18" charset="0"/>
              </a:rPr>
              <a:t>位数据宽度的主存储器。</a:t>
            </a:r>
            <a:endParaRPr lang="en-US" altLang="zh-CN"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72</a:t>
            </a:r>
            <a:r>
              <a:rPr lang="zh-CN" altLang="en-US" sz="2400" dirty="0">
                <a:latin typeface="Times New Roman" panose="02020603050405020304" pitchFamily="18" charset="0"/>
              </a:rPr>
              <a:t>线的</a:t>
            </a:r>
            <a:r>
              <a:rPr lang="en-US" altLang="zh-CN" sz="2400" dirty="0">
                <a:latin typeface="Times New Roman" panose="02020603050405020304" pitchFamily="18" charset="0"/>
              </a:rPr>
              <a:t>SIMM</a:t>
            </a:r>
            <a:r>
              <a:rPr lang="zh-CN" altLang="en-US" sz="2400" dirty="0">
                <a:latin typeface="Times New Roman" panose="02020603050405020304" pitchFamily="18" charset="0"/>
              </a:rPr>
              <a:t>，数据线的宽度有</a:t>
            </a:r>
            <a:r>
              <a:rPr lang="en-US" altLang="zh-CN" sz="2400" dirty="0">
                <a:latin typeface="Times New Roman" panose="02020603050405020304" pitchFamily="18" charset="0"/>
              </a:rPr>
              <a:t>32</a:t>
            </a:r>
            <a:r>
              <a:rPr lang="zh-CN" altLang="en-US" sz="2400" dirty="0">
                <a:latin typeface="Times New Roman" panose="02020603050405020304" pitchFamily="18" charset="0"/>
              </a:rPr>
              <a:t>位（非奇偶校验）或</a:t>
            </a:r>
            <a:r>
              <a:rPr lang="en-US" altLang="zh-CN" sz="2400" dirty="0">
                <a:latin typeface="Times New Roman" panose="02020603050405020304" pitchFamily="18" charset="0"/>
              </a:rPr>
              <a:t>36</a:t>
            </a:r>
            <a:r>
              <a:rPr lang="zh-CN" altLang="en-US" sz="2400" dirty="0">
                <a:latin typeface="Times New Roman" panose="02020603050405020304" pitchFamily="18" charset="0"/>
              </a:rPr>
              <a:t>位（奇偶校验），每一个就可以构成具有某种容量和</a:t>
            </a:r>
            <a:r>
              <a:rPr lang="en-US" altLang="zh-CN" sz="2400" dirty="0">
                <a:latin typeface="Times New Roman" panose="02020603050405020304" pitchFamily="18" charset="0"/>
              </a:rPr>
              <a:t>32</a:t>
            </a:r>
            <a:r>
              <a:rPr lang="zh-CN" altLang="en-US" sz="2400" dirty="0">
                <a:latin typeface="Times New Roman" panose="02020603050405020304" pitchFamily="18" charset="0"/>
              </a:rPr>
              <a:t>位数据宽度的主存储器。</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内存条（续） </a:t>
            </a:r>
            <a:endParaRPr lang="zh-CN" altLang="en-US" dirty="0">
              <a:latin typeface="Times New Roman" panose="02020603050405020304" pitchFamily="18" charset="0"/>
              <a:ea typeface="Times New Roman" panose="02020603050405020304" pitchFamily="18" charset="0"/>
            </a:endParaRPr>
          </a:p>
        </p:txBody>
      </p:sp>
      <p:sp>
        <p:nvSpPr>
          <p:cNvPr id="75778" name="内容占位符 2"/>
          <p:cNvSpPr>
            <a:spLocks noGrp="1"/>
          </p:cNvSpPr>
          <p:nvPr>
            <p:ph idx="1"/>
          </p:nvPr>
        </p:nvSpPr>
        <p:spPr>
          <a:xfrm>
            <a:off x="457200" y="1484313"/>
            <a:ext cx="8229600" cy="4525962"/>
          </a:xfrm>
          <a:noFill/>
          <a:ln>
            <a:noFill/>
          </a:ln>
        </p:spPr>
        <p:txBody>
          <a:bodyPr anchor="t" anchorCtr="0"/>
          <a:p>
            <a:r>
              <a:rPr lang="zh-CN" altLang="en-US" sz="2400" dirty="0">
                <a:latin typeface="Times New Roman" panose="02020603050405020304" pitchFamily="18" charset="0"/>
              </a:rPr>
              <a:t> </a:t>
            </a:r>
            <a:r>
              <a:rPr lang="en-US" altLang="zh-CN" sz="2400" dirty="0">
                <a:latin typeface="Times New Roman" panose="02020603050405020304" pitchFamily="18" charset="0"/>
              </a:rPr>
              <a:t>DIMM</a:t>
            </a:r>
            <a:r>
              <a:rPr lang="zh-CN" altLang="en-US" sz="2400" dirty="0">
                <a:latin typeface="Times New Roman" panose="02020603050405020304" pitchFamily="18" charset="0"/>
              </a:rPr>
              <a:t>也有两种类型：</a:t>
            </a:r>
            <a:endParaRPr lang="en-US" altLang="zh-CN" sz="2400" dirty="0">
              <a:latin typeface="Times New Roman" panose="02020603050405020304" pitchFamily="18" charset="0"/>
            </a:endParaRPr>
          </a:p>
          <a:p>
            <a:pPr lvl="1"/>
            <a:r>
              <a:rPr lang="zh-CN" altLang="en-US" sz="2400" dirty="0">
                <a:latin typeface="Times New Roman" panose="02020603050405020304" pitchFamily="18" charset="0"/>
              </a:rPr>
              <a:t>标准的</a:t>
            </a:r>
            <a:r>
              <a:rPr lang="en-US" altLang="zh-CN" sz="2400" dirty="0">
                <a:latin typeface="Times New Roman" panose="02020603050405020304" pitchFamily="18" charset="0"/>
              </a:rPr>
              <a:t>DIMM</a:t>
            </a:r>
            <a:r>
              <a:rPr lang="zh-CN" altLang="en-US" sz="2400" dirty="0">
                <a:latin typeface="Times New Roman" panose="02020603050405020304" pitchFamily="18" charset="0"/>
              </a:rPr>
              <a:t>和</a:t>
            </a:r>
            <a:r>
              <a:rPr lang="en-US" altLang="zh-CN" sz="2400" dirty="0">
                <a:latin typeface="Times New Roman" panose="02020603050405020304" pitchFamily="18" charset="0"/>
              </a:rPr>
              <a:t>DDR DIMM</a:t>
            </a:r>
            <a:r>
              <a:rPr lang="zh-CN" altLang="en-US" sz="2400" dirty="0">
                <a:latin typeface="Times New Roman" panose="02020603050405020304" pitchFamily="18" charset="0"/>
              </a:rPr>
              <a:t>。标准的</a:t>
            </a:r>
            <a:r>
              <a:rPr lang="en-US" altLang="zh-CN" sz="2400" dirty="0">
                <a:latin typeface="Times New Roman" panose="02020603050405020304" pitchFamily="18" charset="0"/>
              </a:rPr>
              <a:t>DIMM</a:t>
            </a:r>
            <a:r>
              <a:rPr lang="zh-CN" altLang="en-US" sz="2400" dirty="0">
                <a:latin typeface="Times New Roman" panose="02020603050405020304" pitchFamily="18" charset="0"/>
              </a:rPr>
              <a:t>每面</a:t>
            </a:r>
            <a:r>
              <a:rPr lang="en-US" altLang="zh-CN" sz="2400" dirty="0">
                <a:latin typeface="Times New Roman" panose="02020603050405020304" pitchFamily="18" charset="0"/>
              </a:rPr>
              <a:t>84</a:t>
            </a:r>
            <a:r>
              <a:rPr lang="zh-CN" altLang="en-US" sz="2400" dirty="0">
                <a:latin typeface="Times New Roman" panose="02020603050405020304" pitchFamily="18" charset="0"/>
              </a:rPr>
              <a:t>线，双面共有</a:t>
            </a:r>
            <a:r>
              <a:rPr lang="en-US" altLang="zh-CN" sz="2400" dirty="0">
                <a:latin typeface="Times New Roman" panose="02020603050405020304" pitchFamily="18" charset="0"/>
              </a:rPr>
              <a:t>84×2=168</a:t>
            </a:r>
            <a:r>
              <a:rPr lang="zh-CN" altLang="en-US" sz="2400" dirty="0">
                <a:latin typeface="Times New Roman" panose="02020603050405020304" pitchFamily="18" charset="0"/>
              </a:rPr>
              <a:t>线，故而常称为</a:t>
            </a:r>
            <a:r>
              <a:rPr lang="en-US" altLang="zh-CN" sz="2400" dirty="0">
                <a:latin typeface="Times New Roman" panose="02020603050405020304" pitchFamily="18" charset="0"/>
              </a:rPr>
              <a:t>168</a:t>
            </a:r>
            <a:r>
              <a:rPr lang="zh-CN" altLang="en-US" sz="2400" dirty="0">
                <a:latin typeface="Times New Roman" panose="02020603050405020304" pitchFamily="18" charset="0"/>
              </a:rPr>
              <a:t>线内存条。</a:t>
            </a:r>
            <a:endParaRPr lang="en-US" altLang="zh-CN" sz="2400" dirty="0">
              <a:latin typeface="Times New Roman" panose="02020603050405020304" pitchFamily="18" charset="0"/>
            </a:endParaRPr>
          </a:p>
          <a:p>
            <a:pPr lvl="1"/>
            <a:r>
              <a:rPr lang="en-US" altLang="zh-CN" sz="2400" dirty="0">
                <a:latin typeface="Times New Roman" panose="02020603050405020304" pitchFamily="18" charset="0"/>
              </a:rPr>
              <a:t>DDR DIMM</a:t>
            </a:r>
            <a:r>
              <a:rPr lang="zh-CN" altLang="en-US" sz="2400" dirty="0">
                <a:latin typeface="Times New Roman" panose="02020603050405020304" pitchFamily="18" charset="0"/>
              </a:rPr>
              <a:t>每面</a:t>
            </a:r>
            <a:r>
              <a:rPr lang="en-US" altLang="zh-CN" sz="2400" dirty="0">
                <a:latin typeface="Times New Roman" panose="02020603050405020304" pitchFamily="18" charset="0"/>
              </a:rPr>
              <a:t>92</a:t>
            </a:r>
            <a:r>
              <a:rPr lang="zh-CN" altLang="en-US" sz="2400" dirty="0">
                <a:latin typeface="Times New Roman" panose="02020603050405020304" pitchFamily="18" charset="0"/>
              </a:rPr>
              <a:t>线，双面共有</a:t>
            </a:r>
            <a:r>
              <a:rPr lang="en-US" altLang="zh-CN" sz="2400" dirty="0">
                <a:latin typeface="Times New Roman" panose="02020603050405020304" pitchFamily="18" charset="0"/>
              </a:rPr>
              <a:t>184</a:t>
            </a:r>
            <a:r>
              <a:rPr lang="zh-CN" altLang="en-US" sz="2400" dirty="0">
                <a:latin typeface="Times New Roman" panose="02020603050405020304" pitchFamily="18" charset="0"/>
              </a:rPr>
              <a:t>线。所有</a:t>
            </a:r>
            <a:r>
              <a:rPr lang="en-US" altLang="zh-CN" sz="2400" dirty="0">
                <a:latin typeface="Times New Roman" panose="02020603050405020304" pitchFamily="18" charset="0"/>
              </a:rPr>
              <a:t>DIMM</a:t>
            </a:r>
            <a:r>
              <a:rPr lang="zh-CN" altLang="en-US" sz="2400" dirty="0">
                <a:latin typeface="Times New Roman" panose="02020603050405020304" pitchFamily="18" charset="0"/>
              </a:rPr>
              <a:t>的数据线宽度都是</a:t>
            </a:r>
            <a:r>
              <a:rPr lang="en-US" altLang="zh-CN" sz="2400" dirty="0">
                <a:latin typeface="Times New Roman" panose="02020603050405020304" pitchFamily="18" charset="0"/>
              </a:rPr>
              <a:t>64</a:t>
            </a:r>
            <a:r>
              <a:rPr lang="zh-CN" altLang="en-US" sz="2400" dirty="0">
                <a:latin typeface="Times New Roman" panose="02020603050405020304" pitchFamily="18" charset="0"/>
              </a:rPr>
              <a:t>位（非奇偶校验）或</a:t>
            </a:r>
            <a:r>
              <a:rPr lang="en-US" altLang="zh-CN" sz="2400" dirty="0">
                <a:latin typeface="Times New Roman" panose="02020603050405020304" pitchFamily="18" charset="0"/>
              </a:rPr>
              <a:t>72</a:t>
            </a:r>
            <a:r>
              <a:rPr lang="zh-CN" altLang="en-US" sz="2400" dirty="0">
                <a:latin typeface="Times New Roman" panose="02020603050405020304" pitchFamily="18" charset="0"/>
              </a:rPr>
              <a:t>位（奇偶校验），所以在</a:t>
            </a:r>
            <a:r>
              <a:rPr lang="en-US" altLang="zh-CN" sz="2400" dirty="0">
                <a:latin typeface="Times New Roman" panose="02020603050405020304" pitchFamily="18" charset="0"/>
              </a:rPr>
              <a:t>Pentium</a:t>
            </a:r>
            <a:r>
              <a:rPr lang="zh-CN" altLang="en-US" sz="2400" dirty="0">
                <a:latin typeface="Times New Roman" panose="02020603050405020304" pitchFamily="18" charset="0"/>
              </a:rPr>
              <a:t>机中，只需一个</a:t>
            </a:r>
            <a:r>
              <a:rPr lang="en-US" altLang="zh-CN" sz="2400" dirty="0">
                <a:latin typeface="Times New Roman" panose="02020603050405020304" pitchFamily="18" charset="0"/>
              </a:rPr>
              <a:t>DIMM</a:t>
            </a:r>
            <a:r>
              <a:rPr lang="zh-CN" altLang="en-US" sz="2400" dirty="0">
                <a:latin typeface="Times New Roman" panose="02020603050405020304" pitchFamily="18" charset="0"/>
              </a:rPr>
              <a:t>就可构成具有某种容量和</a:t>
            </a:r>
            <a:r>
              <a:rPr lang="en-US" altLang="zh-CN" sz="2400" dirty="0">
                <a:latin typeface="Times New Roman" panose="02020603050405020304" pitchFamily="18" charset="0"/>
              </a:rPr>
              <a:t>64</a:t>
            </a:r>
            <a:r>
              <a:rPr lang="zh-CN" altLang="en-US" sz="2400" dirty="0">
                <a:latin typeface="Times New Roman" panose="02020603050405020304" pitchFamily="18" charset="0"/>
              </a:rPr>
              <a:t>位数据宽度的主存储器。</a:t>
            </a:r>
            <a:endParaRPr lang="en-US" altLang="zh-CN" sz="2400" dirty="0">
              <a:latin typeface="Times New Roman" panose="02020603050405020304" pitchFamily="18" charset="0"/>
            </a:endParaRPr>
          </a:p>
          <a:p>
            <a:pPr>
              <a:spcBef>
                <a:spcPts val="1800"/>
              </a:spcBef>
            </a:pPr>
            <a:r>
              <a:rPr lang="en-US" altLang="zh-CN" sz="2400" dirty="0">
                <a:latin typeface="Times New Roman" panose="02020603050405020304" pitchFamily="18" charset="0"/>
              </a:rPr>
              <a:t>RIMM</a:t>
            </a:r>
            <a:r>
              <a:rPr lang="zh-CN" altLang="en-US" sz="2400" dirty="0">
                <a:latin typeface="Times New Roman" panose="02020603050405020304" pitchFamily="18" charset="0"/>
              </a:rPr>
              <a:t>也是双面的，目前只有一种</a:t>
            </a:r>
            <a:r>
              <a:rPr lang="en-US" altLang="zh-CN" sz="2400" dirty="0">
                <a:latin typeface="Times New Roman" panose="02020603050405020304" pitchFamily="18" charset="0"/>
              </a:rPr>
              <a:t>RIMM</a:t>
            </a:r>
            <a:r>
              <a:rPr lang="zh-CN" altLang="en-US" sz="2400" dirty="0">
                <a:latin typeface="Times New Roman" panose="02020603050405020304" pitchFamily="18" charset="0"/>
              </a:rPr>
              <a:t>，它有</a:t>
            </a:r>
            <a:r>
              <a:rPr lang="en-US" altLang="zh-CN" sz="2400" dirty="0">
                <a:latin typeface="Times New Roman" panose="02020603050405020304" pitchFamily="18" charset="0"/>
              </a:rPr>
              <a:t>184</a:t>
            </a:r>
            <a:r>
              <a:rPr lang="zh-CN" altLang="en-US" sz="2400" dirty="0">
                <a:latin typeface="Times New Roman" panose="02020603050405020304" pitchFamily="18" charset="0"/>
              </a:rPr>
              <a:t>线。一个通道通常有</a:t>
            </a:r>
            <a:r>
              <a:rPr lang="en-US" altLang="zh-CN" sz="2400" dirty="0">
                <a:latin typeface="Times New Roman" panose="02020603050405020304" pitchFamily="18" charset="0"/>
              </a:rPr>
              <a:t>3</a:t>
            </a:r>
            <a:r>
              <a:rPr lang="zh-CN" altLang="en-US" sz="2400" dirty="0">
                <a:latin typeface="Times New Roman" panose="02020603050405020304" pitchFamily="18" charset="0"/>
              </a:rPr>
              <a:t>个</a:t>
            </a:r>
            <a:r>
              <a:rPr lang="en-US" altLang="zh-CN" sz="2400" dirty="0">
                <a:latin typeface="Times New Roman" panose="02020603050405020304" pitchFamily="18" charset="0"/>
              </a:rPr>
              <a:t>RIMM</a:t>
            </a:r>
            <a:r>
              <a:rPr lang="zh-CN" altLang="en-US" sz="2400" dirty="0">
                <a:latin typeface="Times New Roman" panose="02020603050405020304" pitchFamily="18" charset="0"/>
              </a:rPr>
              <a:t>插槽，所有</a:t>
            </a:r>
            <a:r>
              <a:rPr lang="en-US" altLang="zh-CN" sz="2400" dirty="0">
                <a:latin typeface="Times New Roman" panose="02020603050405020304" pitchFamily="18" charset="0"/>
              </a:rPr>
              <a:t>RIMM</a:t>
            </a:r>
            <a:r>
              <a:rPr lang="zh-CN" altLang="en-US" sz="2400" dirty="0">
                <a:latin typeface="Times New Roman" panose="02020603050405020304" pitchFamily="18" charset="0"/>
              </a:rPr>
              <a:t>插槽必须全部插满，如有空余则要用专用的</a:t>
            </a:r>
            <a:r>
              <a:rPr lang="en-US" altLang="zh-CN" sz="2400" dirty="0">
                <a:latin typeface="Times New Roman" panose="02020603050405020304" pitchFamily="18" charset="0"/>
              </a:rPr>
              <a:t>Rambus</a:t>
            </a:r>
            <a:r>
              <a:rPr lang="zh-CN" altLang="en-US" sz="2400" dirty="0">
                <a:latin typeface="Times New Roman" panose="02020603050405020304" pitchFamily="18" charset="0"/>
              </a:rPr>
              <a:t>终结器填满。</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5.4</a:t>
            </a:r>
            <a:r>
              <a:rPr lang="zh-CN" altLang="en-US" dirty="0">
                <a:latin typeface="Times New Roman" panose="02020603050405020304" pitchFamily="18" charset="0"/>
              </a:rPr>
              <a:t>主存储器的连接与控制</a:t>
            </a:r>
            <a:endParaRPr lang="zh-CN" altLang="en-US" dirty="0">
              <a:latin typeface="Times New Roman" panose="02020603050405020304" pitchFamily="18" charset="0"/>
              <a:ea typeface="Times New Roman" panose="02020603050405020304" pitchFamily="18" charset="0"/>
            </a:endParaRPr>
          </a:p>
        </p:txBody>
      </p:sp>
      <p:sp>
        <p:nvSpPr>
          <p:cNvPr id="7680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存储芯片的容量有限：</a:t>
            </a:r>
            <a:endParaRPr lang="zh-CN" altLang="en-US" dirty="0">
              <a:latin typeface="Times New Roman" panose="02020603050405020304" pitchFamily="18" charset="0"/>
            </a:endParaRPr>
          </a:p>
          <a:p>
            <a:pPr lvl="1" latinLnBrk="0">
              <a:spcBef>
                <a:spcPts val="1800"/>
              </a:spcBef>
            </a:pPr>
            <a:r>
              <a:rPr lang="zh-CN" altLang="en-US" sz="2400" dirty="0">
                <a:latin typeface="Times New Roman" panose="02020603050405020304" pitchFamily="18" charset="0"/>
              </a:rPr>
              <a:t>主存储器往往要由一定数量的芯片构成；</a:t>
            </a:r>
            <a:endParaRPr lang="en-US" altLang="zh-CN" sz="2400" dirty="0">
              <a:latin typeface="Times New Roman" panose="02020603050405020304" pitchFamily="18" charset="0"/>
            </a:endParaRPr>
          </a:p>
          <a:p>
            <a:pPr lvl="1" latinLnBrk="0">
              <a:spcBef>
                <a:spcPts val="1800"/>
              </a:spcBef>
            </a:pPr>
            <a:r>
              <a:rPr lang="zh-CN" altLang="en-US" sz="2400" dirty="0">
                <a:latin typeface="Times New Roman" panose="02020603050405020304" pitchFamily="18" charset="0"/>
              </a:rPr>
              <a:t>还需要与</a:t>
            </a:r>
            <a:r>
              <a:rPr lang="en-US" altLang="zh-CN" sz="2400" dirty="0">
                <a:latin typeface="Times New Roman" panose="02020603050405020304" pitchFamily="18" charset="0"/>
              </a:rPr>
              <a:t>CPU</a:t>
            </a:r>
            <a:r>
              <a:rPr lang="zh-CN" altLang="en-US" sz="2400" dirty="0">
                <a:latin typeface="Times New Roman" panose="02020603050405020304" pitchFamily="18" charset="0"/>
              </a:rPr>
              <a:t>连接，在</a:t>
            </a:r>
            <a:r>
              <a:rPr lang="en-US" altLang="zh-CN" sz="2400" dirty="0">
                <a:latin typeface="Times New Roman" panose="02020603050405020304" pitchFamily="18" charset="0"/>
              </a:rPr>
              <a:t>CPU</a:t>
            </a:r>
            <a:r>
              <a:rPr lang="zh-CN" altLang="en-US" sz="2400" dirty="0">
                <a:latin typeface="Times New Roman" panose="02020603050405020304" pitchFamily="18" charset="0"/>
              </a:rPr>
              <a:t>的控制下完成读写操作。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5.4.1 </a:t>
            </a:r>
            <a:r>
              <a:rPr lang="zh-CN" altLang="en-US" dirty="0">
                <a:latin typeface="Times New Roman" panose="02020603050405020304" pitchFamily="18" charset="0"/>
              </a:rPr>
              <a:t>主存容量的扩展</a:t>
            </a:r>
            <a:endParaRPr lang="zh-CN" altLang="en-US" dirty="0">
              <a:latin typeface="Times New Roman" panose="02020603050405020304" pitchFamily="18" charset="0"/>
              <a:ea typeface="Times New Roman" panose="02020603050405020304" pitchFamily="18" charset="0"/>
            </a:endParaRPr>
          </a:p>
        </p:txBody>
      </p:sp>
      <p:sp>
        <p:nvSpPr>
          <p:cNvPr id="78850" name="内容占位符 2"/>
          <p:cNvSpPr>
            <a:spLocks noGrp="1"/>
          </p:cNvSpPr>
          <p:nvPr>
            <p:ph idx="1"/>
          </p:nvPr>
        </p:nvSpPr>
        <p:spPr>
          <a:xfrm>
            <a:off x="457200" y="1285875"/>
            <a:ext cx="8229600" cy="5006975"/>
          </a:xfrm>
          <a:noFill/>
          <a:ln>
            <a:noFill/>
          </a:ln>
        </p:spPr>
        <p:txBody>
          <a:bodyPr anchor="t"/>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要组成一个主存：</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选片问题；</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如何把芯片连接起来？</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根据存储器和芯片容量，计算芯片数，即</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总片数＝</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lvl="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多片组合方法</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位扩展法；</a:t>
            </a:r>
            <a:endParaRPr kumimoji="0" lang="en-US" altLang="zh-CN" sz="2400" b="0" i="0" u="none" strike="noStrike" kern="0" cap="none" spc="0" normalizeH="0" baseline="0" noProof="1" dirty="0">
              <a:solidFill>
                <a:srgbClr val="FF0000"/>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字扩展法；</a:t>
            </a:r>
            <a:endParaRPr kumimoji="0" lang="en-US" altLang="zh-CN" sz="2400" b="0" i="0" u="none" strike="noStrike" kern="0" cap="none" spc="0" normalizeH="0" baseline="0" noProof="1" dirty="0">
              <a:solidFill>
                <a:srgbClr val="FF0000"/>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字和位同时扩展法。</a:t>
            </a:r>
            <a:endParaRPr kumimoji="0" lang="zh-CN" altLang="en-US" sz="2330" b="0" i="0" u="none" strike="noStrike" kern="0" cap="none" spc="0" normalizeH="0" baseline="0" noProof="1" dirty="0">
              <a:solidFill>
                <a:srgbClr val="FF0000"/>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graphicFrame>
        <p:nvGraphicFramePr>
          <p:cNvPr id="77827" name="Object 5"/>
          <p:cNvGraphicFramePr>
            <a:graphicFrameLocks noChangeAspect="1"/>
          </p:cNvGraphicFramePr>
          <p:nvPr/>
        </p:nvGraphicFramePr>
        <p:xfrm>
          <a:off x="2546350" y="3478213"/>
          <a:ext cx="1025525" cy="720725"/>
        </p:xfrm>
        <a:graphic>
          <a:graphicData uri="http://schemas.openxmlformats.org/presentationml/2006/ole">
            <mc:AlternateContent xmlns:mc="http://schemas.openxmlformats.org/markup-compatibility/2006">
              <mc:Choice xmlns:v="urn:schemas-microsoft-com:vml" Requires="v">
                <p:oleObj spid="_x0000_s3097" name="" r:id="rId1" imgW="596900" imgH="419100" progId="Equation.3">
                  <p:embed/>
                </p:oleObj>
              </mc:Choice>
              <mc:Fallback>
                <p:oleObj name="" r:id="rId1" imgW="596900" imgH="419100" progId="Equation.3">
                  <p:embed/>
                  <p:pic>
                    <p:nvPicPr>
                      <p:cNvPr id="0" name="图片 3096"/>
                      <p:cNvPicPr/>
                      <p:nvPr/>
                    </p:nvPicPr>
                    <p:blipFill>
                      <a:blip r:embed="rId2"/>
                      <a:stretch>
                        <a:fillRect/>
                      </a:stretch>
                    </p:blipFill>
                    <p:spPr>
                      <a:xfrm>
                        <a:off x="2546350" y="3478213"/>
                        <a:ext cx="1025525" cy="720725"/>
                      </a:xfrm>
                      <a:prstGeom prst="rect">
                        <a:avLst/>
                      </a:prstGeom>
                      <a:noFill/>
                      <a:ln w="38100">
                        <a:noFill/>
                        <a:miter/>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位扩展</a:t>
            </a:r>
            <a:endParaRPr lang="zh-CN" altLang="en-US" dirty="0">
              <a:latin typeface="Times New Roman" panose="02020603050405020304" pitchFamily="18" charset="0"/>
              <a:ea typeface="Times New Roman" panose="02020603050405020304" pitchFamily="18" charset="0"/>
            </a:endParaRPr>
          </a:p>
        </p:txBody>
      </p:sp>
      <p:sp>
        <p:nvSpPr>
          <p:cNvPr id="79874" name="内容占位符 2"/>
          <p:cNvSpPr>
            <a:spLocks noGrp="1"/>
          </p:cNvSpPr>
          <p:nvPr>
            <p:ph idx="1"/>
          </p:nvPr>
        </p:nvSpPr>
        <p:spPr>
          <a:xfrm>
            <a:off x="431800" y="1123950"/>
            <a:ext cx="8229600" cy="5540375"/>
          </a:xfrm>
          <a:noFill/>
          <a:ln>
            <a:noFill/>
          </a:ln>
        </p:spPr>
        <p:txBody>
          <a:bodyPr anchor="t"/>
          <a:p>
            <a:pPr marL="342900" marR="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在位数方向扩展（加大字长）：</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芯片的字数和存储器的字数是一致的。</a:t>
            </a:r>
            <a:endPar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位扩展的连接方式：</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将各芯片的</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地址线、片选线和读写线</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相应地并联；</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将各芯片的</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数据线</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单独列出；</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64K×1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SRAM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芯片组成</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64K×8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的存储器：</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所需芯片数为：       </a:t>
            </a:r>
            <a:r>
              <a:rPr kumimoji="0" lang="en-US" altLang="zh-CN" sz="2400" b="1" i="0" u="none" strike="noStrike" kern="0" cap="none" spc="0" normalizeH="0" baseline="0" noProof="1" dirty="0">
                <a:solidFill>
                  <a:schemeClr val="tx1"/>
                </a:solidFill>
                <a:latin typeface="Times New Roman" panose="02020603050405020304" pitchFamily="18" charset="0"/>
                <a:ea typeface="+mn-ea"/>
                <a:cs typeface="+mn-ea"/>
              </a:rPr>
              <a:t> </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片；</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CPU16</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根地址线（</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2</a:t>
            </a:r>
            <a:r>
              <a:rPr kumimoji="0" lang="en-US" altLang="zh-CN" sz="2400" b="0" i="0" u="none" strike="noStrike" kern="0" cap="none" spc="0" normalizeH="0" baseline="30000" noProof="1" dirty="0">
                <a:solidFill>
                  <a:schemeClr val="tx1"/>
                </a:solidFill>
                <a:latin typeface="Times New Roman" panose="02020603050405020304" pitchFamily="18" charset="0"/>
                <a:ea typeface="+mn-ea"/>
                <a:cs typeface="+mn-ea"/>
              </a:rPr>
              <a:t>16</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=64K</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根数据线连接存储器：</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存储芯片仅有</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mn-ea"/>
              </a:rPr>
              <a:t>16</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根地址线、</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根数据线；</a:t>
            </a:r>
            <a:endParaRPr kumimoji="0" lang="en-US" altLang="zh-CN" sz="20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地址和控制信号同时传给</a:t>
            </a:r>
            <a:r>
              <a:rPr kumimoji="0" lang="en-US" altLang="zh-CN" sz="2000"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个芯片，选中每个芯片同一单元；</a:t>
            </a:r>
            <a:endPar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相应单元的内容被同时读或写</a:t>
            </a:r>
            <a:r>
              <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rPr>
              <a:t>。 </a:t>
            </a:r>
            <a:endParaRPr kumimoji="0" lang="en-US" altLang="zh-CN" sz="20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endParaRPr kumimoji="0" lang="zh-CN" altLang="en-US" sz="20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pPr>
            <a:endParaRPr kumimoji="0" lang="zh-CN" altLang="en-US" sz="2800"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graphicFrame>
        <p:nvGraphicFramePr>
          <p:cNvPr id="78851" name="Object 4"/>
          <p:cNvGraphicFramePr>
            <a:graphicFrameLocks noChangeAspect="1"/>
          </p:cNvGraphicFramePr>
          <p:nvPr/>
        </p:nvGraphicFramePr>
        <p:xfrm>
          <a:off x="3379788" y="4421188"/>
          <a:ext cx="719137" cy="565150"/>
        </p:xfrm>
        <a:graphic>
          <a:graphicData uri="http://schemas.openxmlformats.org/presentationml/2006/ole">
            <mc:AlternateContent xmlns:mc="http://schemas.openxmlformats.org/markup-compatibility/2006">
              <mc:Choice xmlns:v="urn:schemas-microsoft-com:vml" Requires="v">
                <p:oleObj spid="_x0000_s3098" name="" r:id="rId1" imgW="457200" imgH="355600" progId="Equation.3">
                  <p:embed/>
                </p:oleObj>
              </mc:Choice>
              <mc:Fallback>
                <p:oleObj name="" r:id="rId1" imgW="457200" imgH="355600" progId="Equation.3">
                  <p:embed/>
                  <p:pic>
                    <p:nvPicPr>
                      <p:cNvPr id="0" name="图片 3097"/>
                      <p:cNvPicPr/>
                      <p:nvPr/>
                    </p:nvPicPr>
                    <p:blipFill>
                      <a:blip r:embed="rId2"/>
                      <a:stretch>
                        <a:fillRect/>
                      </a:stretch>
                    </p:blipFill>
                    <p:spPr>
                      <a:xfrm>
                        <a:off x="3379788" y="4421188"/>
                        <a:ext cx="719137" cy="565150"/>
                      </a:xfrm>
                      <a:prstGeom prst="rect">
                        <a:avLst/>
                      </a:prstGeom>
                      <a:noFill/>
                      <a:ln w="38100">
                        <a:noFill/>
                        <a:miter/>
                      </a:ln>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位扩展连接举例</a:t>
            </a:r>
            <a:endParaRPr lang="zh-CN" altLang="en-US" dirty="0">
              <a:latin typeface="Times New Roman" panose="02020603050405020304" pitchFamily="18" charset="0"/>
              <a:ea typeface="Times New Roman" panose="02020603050405020304" pitchFamily="18" charset="0"/>
            </a:endParaRPr>
          </a:p>
        </p:txBody>
      </p:sp>
      <p:sp>
        <p:nvSpPr>
          <p:cNvPr id="4" name="Rectangle 6"/>
          <p:cNvSpPr txBox="1">
            <a:spLocks noChangeArrowheads="1"/>
          </p:cNvSpPr>
          <p:nvPr/>
        </p:nvSpPr>
        <p:spPr bwMode="auto">
          <a:xfrm>
            <a:off x="2522538" y="5411788"/>
            <a:ext cx="4175125" cy="5381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图5-16 位扩展连接举例</a:t>
            </a:r>
            <a:endParaRPr kumimoji="0" lang="en-US" altLang="zh-CN" sz="2000" b="1" i="0" u="sng" strike="noStrike" kern="0" cap="none" spc="0" normalizeH="0" baseline="0" noProof="0" dirty="0">
              <a:ln>
                <a:noFill/>
              </a:ln>
              <a:solidFill>
                <a:srgbClr val="0000FF"/>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79875" name="Object 4"/>
          <p:cNvGraphicFramePr>
            <a:graphicFrameLocks noChangeAspect="1"/>
          </p:cNvGraphicFramePr>
          <p:nvPr/>
        </p:nvGraphicFramePr>
        <p:xfrm>
          <a:off x="914400" y="1447800"/>
          <a:ext cx="7391400" cy="3813175"/>
        </p:xfrm>
        <a:graphic>
          <a:graphicData uri="http://schemas.openxmlformats.org/presentationml/2006/ole">
            <mc:AlternateContent xmlns:mc="http://schemas.openxmlformats.org/markup-compatibility/2006">
              <mc:Choice xmlns:v="urn:schemas-microsoft-com:vml" Requires="v">
                <p:oleObj spid="_x0000_s3101" name="" r:id="rId1" imgW="3858260" imgH="1988820" progId="Visio.Drawing.6">
                  <p:embed/>
                </p:oleObj>
              </mc:Choice>
              <mc:Fallback>
                <p:oleObj name="" r:id="rId1" imgW="3858260" imgH="1988820" progId="Visio.Drawing.6">
                  <p:embed/>
                  <p:pic>
                    <p:nvPicPr>
                      <p:cNvPr id="0" name="图片 3100"/>
                      <p:cNvPicPr/>
                      <p:nvPr/>
                    </p:nvPicPr>
                    <p:blipFill>
                      <a:blip r:embed="rId2"/>
                      <a:stretch>
                        <a:fillRect/>
                      </a:stretch>
                    </p:blipFill>
                    <p:spPr>
                      <a:xfrm>
                        <a:off x="914400" y="1447800"/>
                        <a:ext cx="7391400" cy="3813175"/>
                      </a:xfrm>
                      <a:prstGeom prst="rect">
                        <a:avLst/>
                      </a:prstGeom>
                      <a:noFill/>
                      <a:ln w="38100">
                        <a:noFill/>
                        <a:miter/>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字扩展</a:t>
            </a:r>
            <a:endParaRPr lang="zh-CN" altLang="en-US" dirty="0">
              <a:latin typeface="Times New Roman" panose="02020603050405020304" pitchFamily="18" charset="0"/>
              <a:ea typeface="Times New Roman" panose="02020603050405020304" pitchFamily="18" charset="0"/>
            </a:endParaRPr>
          </a:p>
        </p:txBody>
      </p:sp>
      <p:sp>
        <p:nvSpPr>
          <p:cNvPr id="81922"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字扩展：仅在字数方向扩展，而位数不变。</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字扩展连接方式：</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将芯片的</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地址线、数据线、读写线</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并联；</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由</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片选信号来区分各个芯片</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16K×8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SRAM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组成</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64K×8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的存储器：</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8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所需芯片数为：</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          =4</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片</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24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CPU</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提供</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16</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根地址线、</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根数据线与存储器相连；</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存储芯片仅有</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14</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根地址线、</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根数据线。</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endParaRPr kumimoji="0" lang="zh-CN" altLang="en-US" sz="2800"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graphicFrame>
        <p:nvGraphicFramePr>
          <p:cNvPr id="80899" name="Object 5"/>
          <p:cNvGraphicFramePr>
            <a:graphicFrameLocks noChangeAspect="1"/>
          </p:cNvGraphicFramePr>
          <p:nvPr/>
        </p:nvGraphicFramePr>
        <p:xfrm>
          <a:off x="3327400" y="4348163"/>
          <a:ext cx="863600" cy="679450"/>
        </p:xfrm>
        <a:graphic>
          <a:graphicData uri="http://schemas.openxmlformats.org/presentationml/2006/ole">
            <mc:AlternateContent xmlns:mc="http://schemas.openxmlformats.org/markup-compatibility/2006">
              <mc:Choice xmlns:v="urn:schemas-microsoft-com:vml" Requires="v">
                <p:oleObj spid="_x0000_s3100" name="" r:id="rId1" imgW="457200" imgH="355600" progId="Equation.3">
                  <p:embed/>
                </p:oleObj>
              </mc:Choice>
              <mc:Fallback>
                <p:oleObj name="" r:id="rId1" imgW="457200" imgH="355600" progId="Equation.3">
                  <p:embed/>
                  <p:pic>
                    <p:nvPicPr>
                      <p:cNvPr id="0" name="图片 3099"/>
                      <p:cNvPicPr/>
                      <p:nvPr/>
                    </p:nvPicPr>
                    <p:blipFill>
                      <a:blip r:embed="rId2"/>
                      <a:stretch>
                        <a:fillRect/>
                      </a:stretch>
                    </p:blipFill>
                    <p:spPr>
                      <a:xfrm>
                        <a:off x="3327400" y="4348163"/>
                        <a:ext cx="863600" cy="679450"/>
                      </a:xfrm>
                      <a:prstGeom prst="rect">
                        <a:avLst/>
                      </a:prstGeom>
                      <a:noFill/>
                      <a:ln w="38100">
                        <a:noFill/>
                        <a:miter/>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字扩展（续）</a:t>
            </a:r>
            <a:endParaRPr lang="zh-CN" altLang="en-US" dirty="0">
              <a:latin typeface="Times New Roman" panose="02020603050405020304" pitchFamily="18" charset="0"/>
            </a:endParaRPr>
          </a:p>
        </p:txBody>
      </p:sp>
      <p:sp>
        <p:nvSpPr>
          <p:cNvPr id="81922" name="内容占位符 2"/>
          <p:cNvSpPr>
            <a:spLocks noGrp="1"/>
          </p:cNvSpPr>
          <p:nvPr>
            <p:ph idx="1"/>
          </p:nvPr>
        </p:nvSpPr>
        <p:spPr>
          <a:xfrm>
            <a:off x="439738" y="1268413"/>
            <a:ext cx="8428037" cy="1127125"/>
          </a:xfrm>
          <a:noFill/>
          <a:ln>
            <a:noFill/>
          </a:ln>
        </p:spPr>
        <p:txBody>
          <a:bodyPr anchor="t" anchorCtr="0"/>
          <a:p>
            <a:pPr marL="463550" lvl="1" indent="-239395" latinLnBrk="0">
              <a:spcBef>
                <a:spcPts val="1200"/>
              </a:spcBef>
            </a:pPr>
            <a:r>
              <a:rPr lang="zh-CN" altLang="en-US" sz="2400" dirty="0">
                <a:latin typeface="Times New Roman" panose="02020603050405020304" pitchFamily="18" charset="0"/>
              </a:rPr>
              <a:t>四芯片地址线</a:t>
            </a:r>
            <a:r>
              <a:rPr lang="en-US" altLang="zh-CN" sz="2400" dirty="0">
                <a:latin typeface="Times New Roman" panose="02020603050405020304" pitchFamily="18" charset="0"/>
              </a:rPr>
              <a:t>A13</a:t>
            </a:r>
            <a:r>
              <a:rPr lang="zh-CN" altLang="en-US" sz="2400" dirty="0">
                <a:latin typeface="Times New Roman" panose="02020603050405020304" pitchFamily="18" charset="0"/>
              </a:rPr>
              <a:t>～</a:t>
            </a:r>
            <a:r>
              <a:rPr lang="en-US" altLang="zh-CN" sz="2400" dirty="0">
                <a:latin typeface="Times New Roman" panose="02020603050405020304" pitchFamily="18" charset="0"/>
              </a:rPr>
              <a:t>A0</a:t>
            </a:r>
            <a:r>
              <a:rPr lang="zh-CN" altLang="en-US" sz="2400" dirty="0">
                <a:latin typeface="Times New Roman" panose="02020603050405020304" pitchFamily="18" charset="0"/>
              </a:rPr>
              <a:t>、数据线</a:t>
            </a:r>
            <a:r>
              <a:rPr lang="en-US" altLang="zh-CN" sz="2400" dirty="0">
                <a:latin typeface="Times New Roman" panose="02020603050405020304" pitchFamily="18" charset="0"/>
              </a:rPr>
              <a:t>D7</a:t>
            </a:r>
            <a:r>
              <a:rPr lang="zh-CN" altLang="en-US" sz="2400" dirty="0">
                <a:latin typeface="Times New Roman" panose="02020603050405020304" pitchFamily="18" charset="0"/>
              </a:rPr>
              <a:t>～</a:t>
            </a:r>
            <a:r>
              <a:rPr lang="en-US" altLang="zh-CN" sz="2400" dirty="0">
                <a:latin typeface="Times New Roman" panose="02020603050405020304" pitchFamily="18" charset="0"/>
              </a:rPr>
              <a:t>D0</a:t>
            </a:r>
            <a:r>
              <a:rPr lang="zh-CN" altLang="en-US" sz="2400" dirty="0">
                <a:latin typeface="Times New Roman" panose="02020603050405020304" pitchFamily="18" charset="0"/>
              </a:rPr>
              <a:t>及读写信号并联；</a:t>
            </a:r>
            <a:endParaRPr lang="zh-CN" altLang="en-US" sz="2400" dirty="0">
              <a:latin typeface="Times New Roman" panose="02020603050405020304" pitchFamily="18" charset="0"/>
            </a:endParaRPr>
          </a:p>
          <a:p>
            <a:pPr marL="463550" lvl="1" indent="-239395" latinLnBrk="0">
              <a:spcBef>
                <a:spcPts val="1200"/>
              </a:spcBef>
            </a:pPr>
            <a:r>
              <a:rPr lang="en-US" altLang="zh-CN" sz="2400" dirty="0">
                <a:latin typeface="Times New Roman" panose="02020603050405020304" pitchFamily="18" charset="0"/>
              </a:rPr>
              <a:t>A15</a:t>
            </a:r>
            <a:r>
              <a:rPr lang="zh-CN" altLang="en-US" sz="2400" dirty="0">
                <a:latin typeface="Times New Roman" panose="02020603050405020304" pitchFamily="18" charset="0"/>
              </a:rPr>
              <a:t>、</a:t>
            </a:r>
            <a:r>
              <a:rPr lang="en-US" altLang="zh-CN" sz="2400" dirty="0">
                <a:latin typeface="Times New Roman" panose="02020603050405020304" pitchFamily="18" charset="0"/>
              </a:rPr>
              <a:t>A14</a:t>
            </a:r>
            <a:r>
              <a:rPr lang="zh-CN" altLang="en-US" sz="2400" dirty="0">
                <a:latin typeface="Times New Roman" panose="02020603050405020304" pitchFamily="18" charset="0"/>
              </a:rPr>
              <a:t>经译码产生四个片选信号，选中四个芯片之一。</a:t>
            </a:r>
            <a:endParaRPr lang="zh-CN" altLang="en-US" sz="2400" dirty="0">
              <a:latin typeface="Times New Roman" panose="02020603050405020304" pitchFamily="18" charset="0"/>
            </a:endParaRPr>
          </a:p>
        </p:txBody>
      </p:sp>
      <p:graphicFrame>
        <p:nvGraphicFramePr>
          <p:cNvPr id="81923" name="Object 4"/>
          <p:cNvGraphicFramePr>
            <a:graphicFrameLocks noChangeAspect="1"/>
          </p:cNvGraphicFramePr>
          <p:nvPr/>
        </p:nvGraphicFramePr>
        <p:xfrm>
          <a:off x="457200" y="2395538"/>
          <a:ext cx="8489950" cy="3332162"/>
        </p:xfrm>
        <a:graphic>
          <a:graphicData uri="http://schemas.openxmlformats.org/presentationml/2006/ole">
            <mc:AlternateContent xmlns:mc="http://schemas.openxmlformats.org/markup-compatibility/2006">
              <mc:Choice xmlns:v="urn:schemas-microsoft-com:vml" Requires="v">
                <p:oleObj spid="_x0000_s3099" name="" r:id="rId1" imgW="4248785" imgH="1672590" progId="Visio.Drawing.6">
                  <p:embed/>
                </p:oleObj>
              </mc:Choice>
              <mc:Fallback>
                <p:oleObj name="" r:id="rId1" imgW="4248785" imgH="1672590" progId="Visio.Drawing.6">
                  <p:embed/>
                  <p:pic>
                    <p:nvPicPr>
                      <p:cNvPr id="0" name="图片 3098"/>
                      <p:cNvPicPr/>
                      <p:nvPr/>
                    </p:nvPicPr>
                    <p:blipFill>
                      <a:blip r:embed="rId2"/>
                      <a:stretch>
                        <a:fillRect/>
                      </a:stretch>
                    </p:blipFill>
                    <p:spPr>
                      <a:xfrm>
                        <a:off x="457200" y="2395538"/>
                        <a:ext cx="8489950" cy="3332162"/>
                      </a:xfrm>
                      <a:prstGeom prst="rect">
                        <a:avLst/>
                      </a:prstGeom>
                      <a:noFill/>
                      <a:ln w="38100">
                        <a:noFill/>
                        <a:miter/>
                      </a:ln>
                    </p:spPr>
                  </p:pic>
                </p:oleObj>
              </mc:Fallback>
            </mc:AlternateContent>
          </a:graphicData>
        </a:graphic>
      </p:graphicFrame>
      <p:sp>
        <p:nvSpPr>
          <p:cNvPr id="7" name="Rectangle 6"/>
          <p:cNvSpPr txBox="1">
            <a:spLocks noChangeArrowheads="1"/>
          </p:cNvSpPr>
          <p:nvPr/>
        </p:nvSpPr>
        <p:spPr bwMode="auto">
          <a:xfrm>
            <a:off x="1781175" y="5838825"/>
            <a:ext cx="5546725" cy="547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图5-17 字扩展连接举例</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字扩展（续）</a:t>
            </a:r>
            <a:endParaRPr lang="zh-CN" altLang="en-US" dirty="0">
              <a:latin typeface="Times New Roman" panose="02020603050405020304" pitchFamily="18" charset="0"/>
              <a:ea typeface="Times New Roman" panose="02020603050405020304" pitchFamily="18" charset="0"/>
            </a:endParaRPr>
          </a:p>
        </p:txBody>
      </p:sp>
      <p:sp>
        <p:nvSpPr>
          <p:cNvPr id="92163" name="内容占位符 2"/>
          <p:cNvSpPr>
            <a:spLocks noGrp="1"/>
          </p:cNvSpPr>
          <p:nvPr>
            <p:ph idx="1"/>
          </p:nvPr>
        </p:nvSpPr>
        <p:spPr bwMode="auto">
          <a:xfrm>
            <a:off x="457200" y="1268413"/>
            <a:ext cx="8229600" cy="50688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在同一时间内</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4</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个芯片中只能有一个芯片被选中：</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rgbClr val="3984C9"/>
              </a:buClr>
              <a:buSzTx/>
              <a:buFont typeface="Wingdings" panose="05000000000000000000" charset="0"/>
              <a:buChar char="n"/>
              <a:defRP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15</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14</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=00，选中第一片，A</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15</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14</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=01，选中第二片；</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rgbClr val="3984C9"/>
              </a:buClr>
              <a:buSzTx/>
              <a:buFont typeface="Wingdings" panose="05000000000000000000" charset="0"/>
              <a:buChar char="n"/>
              <a:defRP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4个芯片的地址分配如下：</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第一片  最低地址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00000000000000B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0000H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最高地址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11111111111111B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3FFFH</a:t>
            </a:r>
            <a:endPar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第二片  最低地址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00000000000000B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4000H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最高地址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11111111111111B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7FFFH</a:t>
            </a:r>
            <a:endPar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第三片  最低地址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00000000000000B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8000H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最高地址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11111111111111B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BFFFH</a:t>
            </a:r>
            <a:endPar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第四片  最低地址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00000000000000B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C000H</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最高地址</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11111111111111B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FFFFH</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字和位同时扩展</a:t>
            </a:r>
            <a:endParaRPr lang="zh-CN" altLang="en-US" dirty="0">
              <a:latin typeface="Times New Roman" panose="02020603050405020304" pitchFamily="18" charset="0"/>
              <a:ea typeface="Times New Roman" panose="02020603050405020304" pitchFamily="18" charset="0"/>
            </a:endParaRPr>
          </a:p>
        </p:txBody>
      </p:sp>
      <p:sp>
        <p:nvSpPr>
          <p:cNvPr id="8397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当构成一个容量较大的存储器时</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需要在字数方向和位数方向上同时扩展</a:t>
            </a: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是前两种扩展的组合。</a:t>
            </a:r>
            <a:endParaRPr lang="zh-CN" altLang="en-US" sz="2400" dirty="0">
              <a:latin typeface="Times New Roman" panose="02020603050405020304" pitchFamily="18" charset="0"/>
            </a:endParaRPr>
          </a:p>
          <a:p>
            <a:pPr lvl="1" latinLnBrk="0">
              <a:spcBef>
                <a:spcPts val="1200"/>
              </a:spcBef>
            </a:pP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例：</a:t>
            </a:r>
            <a:r>
              <a:rPr lang="en-US" altLang="zh-CN" sz="2400" dirty="0">
                <a:latin typeface="Times New Roman" panose="02020603050405020304" pitchFamily="18" charset="0"/>
              </a:rPr>
              <a:t>16K*4</a:t>
            </a:r>
            <a:r>
              <a:rPr lang="zh-CN" altLang="en-US" sz="2400" dirty="0">
                <a:latin typeface="Times New Roman" panose="02020603050405020304" pitchFamily="18" charset="0"/>
              </a:rPr>
              <a:t>的芯片构成</a:t>
            </a:r>
            <a:r>
              <a:rPr lang="en-US" altLang="zh-CN" sz="2400" dirty="0">
                <a:latin typeface="Times New Roman" panose="02020603050405020304" pitchFamily="18" charset="0"/>
              </a:rPr>
              <a:t>64K*8</a:t>
            </a:r>
            <a:r>
              <a:rPr lang="zh-CN" altLang="en-US" sz="2400" dirty="0">
                <a:latin typeface="Times New Roman" panose="02020603050405020304" pitchFamily="18" charset="0"/>
              </a:rPr>
              <a:t>的</a:t>
            </a:r>
            <a:r>
              <a:rPr lang="zh-CN" altLang="en-US" sz="2400" dirty="0">
                <a:latin typeface="Times New Roman" panose="02020603050405020304" pitchFamily="18" charset="0"/>
              </a:rPr>
              <a:t>存储器</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字和位同时扩展连接举例</a:t>
            </a:r>
            <a:endParaRPr lang="zh-CN" altLang="en-US" dirty="0">
              <a:latin typeface="Times New Roman" panose="02020603050405020304" pitchFamily="18" charset="0"/>
              <a:ea typeface="Times New Roman" panose="02020603050405020304" pitchFamily="18" charset="0"/>
            </a:endParaRPr>
          </a:p>
        </p:txBody>
      </p:sp>
      <p:sp>
        <p:nvSpPr>
          <p:cNvPr id="4" name="Rectangle 6"/>
          <p:cNvSpPr txBox="1">
            <a:spLocks noChangeArrowheads="1"/>
          </p:cNvSpPr>
          <p:nvPr/>
        </p:nvSpPr>
        <p:spPr bwMode="auto">
          <a:xfrm>
            <a:off x="3154363" y="6049963"/>
            <a:ext cx="5121275"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图5-18 字和位同时扩展连接举例</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4995" name="Object 4"/>
          <p:cNvGraphicFramePr>
            <a:graphicFrameLocks noChangeAspect="1"/>
          </p:cNvGraphicFramePr>
          <p:nvPr/>
        </p:nvGraphicFramePr>
        <p:xfrm>
          <a:off x="2760663" y="1138238"/>
          <a:ext cx="6383337" cy="5070475"/>
        </p:xfrm>
        <a:graphic>
          <a:graphicData uri="http://schemas.openxmlformats.org/presentationml/2006/ole">
            <mc:AlternateContent xmlns:mc="http://schemas.openxmlformats.org/markup-compatibility/2006">
              <mc:Choice xmlns:v="urn:schemas-microsoft-com:vml" Requires="v">
                <p:oleObj spid="_x0000_s3102" name="" r:id="rId1" imgW="3592195" imgH="3028950" progId="Visio.Drawing.11">
                  <p:embed/>
                </p:oleObj>
              </mc:Choice>
              <mc:Fallback>
                <p:oleObj name="" r:id="rId1" imgW="3592195" imgH="3028950" progId="Visio.Drawing.11">
                  <p:embed/>
                  <p:pic>
                    <p:nvPicPr>
                      <p:cNvPr id="0" name="图片 3101"/>
                      <p:cNvPicPr/>
                      <p:nvPr/>
                    </p:nvPicPr>
                    <p:blipFill>
                      <a:blip r:embed="rId2"/>
                      <a:stretch>
                        <a:fillRect/>
                      </a:stretch>
                    </p:blipFill>
                    <p:spPr>
                      <a:xfrm>
                        <a:off x="2760663" y="1138238"/>
                        <a:ext cx="6383337" cy="5070475"/>
                      </a:xfrm>
                      <a:prstGeom prst="rect">
                        <a:avLst/>
                      </a:prstGeom>
                      <a:noFill/>
                      <a:ln w="38100">
                        <a:noFill/>
                        <a:miter/>
                      </a:ln>
                    </p:spPr>
                  </p:pic>
                </p:oleObj>
              </mc:Fallback>
            </mc:AlternateContent>
          </a:graphicData>
        </a:graphic>
      </p:graphicFrame>
      <p:sp>
        <p:nvSpPr>
          <p:cNvPr id="84996" name="文本框 1"/>
          <p:cNvSpPr txBox="1"/>
          <p:nvPr/>
        </p:nvSpPr>
        <p:spPr>
          <a:xfrm>
            <a:off x="233363" y="1417638"/>
            <a:ext cx="2921000" cy="3938270"/>
          </a:xfrm>
          <a:prstGeom prst="rect">
            <a:avLst/>
          </a:prstGeom>
          <a:noFill/>
          <a:ln w="9525">
            <a:noFill/>
          </a:ln>
        </p:spPr>
        <p:txBody>
          <a:bodyPr wrap="square" anchor="t" anchorCtr="0">
            <a:spAutoFit/>
          </a:bodyPr>
          <a:p>
            <a:pPr marL="342900" indent="-342900" algn="just" eaLnBrk="0" hangingPunct="0">
              <a:spcBef>
                <a:spcPts val="12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sym typeface="+mn-ea"/>
              </a:rPr>
              <a:t>64K</a:t>
            </a:r>
            <a:r>
              <a:rPr lang="zh-CN" altLang="en-US" sz="2000" dirty="0">
                <a:solidFill>
                  <a:srgbClr val="0000FF"/>
                </a:solidFill>
                <a:latin typeface="Times New Roman" panose="02020603050405020304" pitchFamily="18" charset="0"/>
                <a:ea typeface="宋体" panose="02010600030101010101" pitchFamily="2" charset="-122"/>
                <a:sym typeface="+mn-ea"/>
              </a:rPr>
              <a:t>*</a:t>
            </a:r>
            <a:r>
              <a:rPr lang="en-US" altLang="zh-CN" sz="2000" dirty="0">
                <a:solidFill>
                  <a:srgbClr val="0000FF"/>
                </a:solidFill>
                <a:latin typeface="Times New Roman" panose="02020603050405020304" pitchFamily="18" charset="0"/>
                <a:ea typeface="宋体" panose="02010600030101010101" pitchFamily="2" charset="-122"/>
                <a:sym typeface="+mn-ea"/>
              </a:rPr>
              <a:t>8/(16K*4)=8</a:t>
            </a:r>
            <a:r>
              <a:rPr lang="zh-CN" altLang="en-US" sz="2000" dirty="0">
                <a:solidFill>
                  <a:srgbClr val="0000FF"/>
                </a:solidFill>
                <a:latin typeface="Times New Roman" panose="02020603050405020304" pitchFamily="18" charset="0"/>
                <a:ea typeface="宋体" panose="02010600030101010101" pitchFamily="2" charset="-122"/>
                <a:sym typeface="+mn-ea"/>
              </a:rPr>
              <a:t>片</a:t>
            </a:r>
            <a:endParaRPr lang="en-US" altLang="zh-CN" sz="2000" dirty="0">
              <a:solidFill>
                <a:srgbClr val="0000FF"/>
              </a:solidFill>
              <a:latin typeface="Times New Roman" panose="02020603050405020304" pitchFamily="18" charset="0"/>
              <a:ea typeface="宋体" panose="02010600030101010101" pitchFamily="2" charset="-122"/>
            </a:endParaRPr>
          </a:p>
          <a:p>
            <a:pPr marL="342900" indent="-342900" algn="just" eaLnBrk="0" hangingPunct="0">
              <a:spcBef>
                <a:spcPts val="12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地址线</a:t>
            </a:r>
            <a:r>
              <a:rPr lang="en-US" altLang="zh-CN" sz="2000" dirty="0">
                <a:solidFill>
                  <a:srgbClr val="0000FF"/>
                </a:solidFill>
                <a:latin typeface="Times New Roman" panose="02020603050405020304" pitchFamily="18" charset="0"/>
                <a:ea typeface="宋体" panose="02010600030101010101" pitchFamily="2" charset="-122"/>
              </a:rPr>
              <a:t>14</a:t>
            </a:r>
            <a:r>
              <a:rPr lang="zh-CN" altLang="en-US" sz="2000" dirty="0">
                <a:solidFill>
                  <a:srgbClr val="0000FF"/>
                </a:solidFill>
                <a:latin typeface="Times New Roman" panose="02020603050405020304" pitchFamily="18" charset="0"/>
                <a:ea typeface="宋体" panose="02010600030101010101" pitchFamily="2" charset="-122"/>
              </a:rPr>
              <a:t>根，寻址范围</a:t>
            </a:r>
            <a:r>
              <a:rPr lang="en-US" altLang="zh-CN" sz="2000" dirty="0">
                <a:solidFill>
                  <a:srgbClr val="0000FF"/>
                </a:solidFill>
                <a:latin typeface="Times New Roman" panose="02020603050405020304" pitchFamily="18" charset="0"/>
                <a:ea typeface="宋体" panose="02010600030101010101" pitchFamily="2" charset="-122"/>
              </a:rPr>
              <a:t>16K</a:t>
            </a:r>
            <a:r>
              <a:rPr lang="zh-CN" altLang="en-US" sz="2000" dirty="0">
                <a:solidFill>
                  <a:srgbClr val="0000FF"/>
                </a:solidFill>
                <a:latin typeface="Times New Roman" panose="02020603050405020304" pitchFamily="18" charset="0"/>
                <a:ea typeface="宋体" panose="02010600030101010101" pitchFamily="2" charset="-122"/>
              </a:rPr>
              <a:t>；数据线</a:t>
            </a:r>
            <a:r>
              <a:rPr lang="en-US" altLang="zh-CN" sz="2000" dirty="0">
                <a:solidFill>
                  <a:srgbClr val="0000FF"/>
                </a:solidFill>
                <a:latin typeface="Times New Roman" panose="02020603050405020304" pitchFamily="18" charset="0"/>
                <a:ea typeface="宋体" panose="02010600030101010101" pitchFamily="2" charset="-122"/>
              </a:rPr>
              <a:t>8</a:t>
            </a:r>
            <a:r>
              <a:rPr lang="zh-CN" altLang="en-US" sz="2000" dirty="0">
                <a:solidFill>
                  <a:srgbClr val="0000FF"/>
                </a:solidFill>
                <a:latin typeface="Times New Roman" panose="02020603050405020304" pitchFamily="18" charset="0"/>
                <a:ea typeface="宋体" panose="02010600030101010101" pitchFamily="2" charset="-122"/>
              </a:rPr>
              <a:t>根，字长</a:t>
            </a:r>
            <a:r>
              <a:rPr lang="en-US" altLang="zh-CN" sz="2000" dirty="0">
                <a:solidFill>
                  <a:srgbClr val="0000FF"/>
                </a:solidFill>
                <a:latin typeface="Times New Roman" panose="02020603050405020304" pitchFamily="18" charset="0"/>
                <a:ea typeface="宋体" panose="02010600030101010101" pitchFamily="2" charset="-122"/>
              </a:rPr>
              <a:t>8</a:t>
            </a:r>
            <a:r>
              <a:rPr lang="zh-CN" altLang="en-US" sz="2000" dirty="0">
                <a:solidFill>
                  <a:srgbClr val="0000FF"/>
                </a:solidFill>
                <a:latin typeface="Times New Roman" panose="02020603050405020304" pitchFamily="18" charset="0"/>
                <a:ea typeface="宋体" panose="02010600030101010101" pitchFamily="2" charset="-122"/>
              </a:rPr>
              <a:t>位；存储容量：</a:t>
            </a:r>
            <a:r>
              <a:rPr lang="en-US" altLang="zh-CN" sz="2000" dirty="0">
                <a:solidFill>
                  <a:srgbClr val="0000FF"/>
                </a:solidFill>
                <a:latin typeface="Times New Roman" panose="02020603050405020304" pitchFamily="18" charset="0"/>
                <a:ea typeface="宋体" panose="02010600030101010101" pitchFamily="2" charset="-122"/>
              </a:rPr>
              <a:t>64K</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8</a:t>
            </a:r>
            <a:endParaRPr lang="en-US" altLang="zh-CN" sz="2000" dirty="0">
              <a:solidFill>
                <a:srgbClr val="0000FF"/>
              </a:solidFill>
              <a:latin typeface="Times New Roman" panose="02020603050405020304" pitchFamily="18" charset="0"/>
              <a:ea typeface="宋体" panose="02010600030101010101" pitchFamily="2" charset="-122"/>
            </a:endParaRPr>
          </a:p>
          <a:p>
            <a:pPr marL="342900" indent="-342900" algn="just" eaLnBrk="0" hangingPunct="0">
              <a:spcBef>
                <a:spcPts val="12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在位（字长）方向上扩展需</a:t>
            </a:r>
            <a:r>
              <a:rPr lang="en-US" altLang="zh-CN" sz="2000" dirty="0">
                <a:solidFill>
                  <a:srgbClr val="0000FF"/>
                </a:solidFill>
                <a:latin typeface="Times New Roman" panose="02020603050405020304" pitchFamily="18" charset="0"/>
                <a:ea typeface="宋体" panose="02010600030101010101" pitchFamily="2" charset="-122"/>
              </a:rPr>
              <a:t>2</a:t>
            </a:r>
            <a:r>
              <a:rPr lang="zh-CN" altLang="en-US" sz="2000" dirty="0">
                <a:solidFill>
                  <a:srgbClr val="0000FF"/>
                </a:solidFill>
                <a:latin typeface="Times New Roman" panose="02020603050405020304" pitchFamily="18" charset="0"/>
                <a:ea typeface="宋体" panose="02010600030101010101" pitchFamily="2" charset="-122"/>
              </a:rPr>
              <a:t>片一组；在字（容量）方向上扩展需</a:t>
            </a:r>
            <a:r>
              <a:rPr lang="en-US" altLang="zh-CN" sz="2000" dirty="0">
                <a:solidFill>
                  <a:srgbClr val="0000FF"/>
                </a:solidFill>
                <a:latin typeface="Times New Roman" panose="02020603050405020304" pitchFamily="18" charset="0"/>
                <a:ea typeface="宋体" panose="02010600030101010101" pitchFamily="2" charset="-122"/>
              </a:rPr>
              <a:t>4</a:t>
            </a:r>
            <a:r>
              <a:rPr lang="zh-CN" altLang="en-US" sz="2000" dirty="0">
                <a:solidFill>
                  <a:srgbClr val="0000FF"/>
                </a:solidFill>
                <a:latin typeface="Times New Roman" panose="02020603050405020304" pitchFamily="18" charset="0"/>
                <a:ea typeface="宋体" panose="02010600030101010101" pitchFamily="2" charset="-122"/>
              </a:rPr>
              <a:t>组。</a:t>
            </a:r>
            <a:endParaRPr lang="en-US" altLang="zh-CN" sz="2000" dirty="0">
              <a:solidFill>
                <a:srgbClr val="0000FF"/>
              </a:solidFill>
              <a:latin typeface="Times New Roman" panose="02020603050405020304" pitchFamily="18" charset="0"/>
              <a:ea typeface="宋体" panose="02010600030101010101" pitchFamily="2" charset="-122"/>
            </a:endParaRPr>
          </a:p>
          <a:p>
            <a:pPr marL="342900" indent="-342900" algn="just" eaLnBrk="0" hangingPunct="0">
              <a:spcBef>
                <a:spcPts val="12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片选信号</a:t>
            </a:r>
            <a:r>
              <a:rPr lang="en-US" altLang="zh-CN" sz="2000" dirty="0">
                <a:solidFill>
                  <a:srgbClr val="0000FF"/>
                </a:solidFill>
                <a:latin typeface="Times New Roman" panose="02020603050405020304" pitchFamily="18" charset="0"/>
                <a:ea typeface="宋体" panose="02010600030101010101" pitchFamily="2" charset="-122"/>
              </a:rPr>
              <a:t>2</a:t>
            </a:r>
            <a:r>
              <a:rPr lang="zh-CN" altLang="en-US" sz="2000" dirty="0">
                <a:solidFill>
                  <a:srgbClr val="0000FF"/>
                </a:solidFill>
                <a:latin typeface="Times New Roman" panose="02020603050405020304" pitchFamily="18" charset="0"/>
                <a:ea typeface="宋体" panose="02010600030101010101" pitchFamily="2" charset="-122"/>
              </a:rPr>
              <a:t>位</a:t>
            </a:r>
            <a:r>
              <a:rPr lang="zh-CN" altLang="en-US" sz="2000" dirty="0">
                <a:solidFill>
                  <a:srgbClr val="0000FF"/>
                </a:solidFill>
                <a:latin typeface="Times New Roman" panose="02020603050405020304" pitchFamily="18" charset="0"/>
                <a:ea typeface="宋体" panose="02010600030101010101" pitchFamily="2" charset="-122"/>
              </a:rPr>
              <a:t>，译码后选择</a:t>
            </a:r>
            <a:r>
              <a:rPr lang="en-US" altLang="zh-CN" sz="2000" dirty="0">
                <a:solidFill>
                  <a:srgbClr val="0000FF"/>
                </a:solidFill>
                <a:latin typeface="Times New Roman" panose="02020603050405020304" pitchFamily="18" charset="0"/>
                <a:ea typeface="宋体" panose="02010600030101010101" pitchFamily="2" charset="-122"/>
              </a:rPr>
              <a:t>4</a:t>
            </a:r>
            <a:r>
              <a:rPr lang="zh-CN" altLang="en-US" sz="2000" dirty="0">
                <a:solidFill>
                  <a:srgbClr val="0000FF"/>
                </a:solidFill>
                <a:latin typeface="Times New Roman" panose="02020603050405020304" pitchFamily="18" charset="0"/>
                <a:ea typeface="宋体" panose="02010600030101010101" pitchFamily="2" charset="-122"/>
              </a:rPr>
              <a:t>组中的一组</a:t>
            </a:r>
            <a:endParaRPr lang="zh-CN" altLang="en-US" sz="20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a:noFill/>
          <a:ln>
            <a:noFill/>
          </a:ln>
        </p:spPr>
        <p:txBody>
          <a:bodyPr anchor="t" anchorCtr="0"/>
          <a:p>
            <a:pPr algn="just"/>
            <a:r>
              <a:rPr lang="en-US" altLang="zh-CN" dirty="0">
                <a:latin typeface="Times New Roman" panose="02020603050405020304" pitchFamily="18" charset="0"/>
              </a:rPr>
              <a:t>5.4.2 </a:t>
            </a:r>
            <a:r>
              <a:rPr lang="zh-CN" altLang="en-US" dirty="0">
                <a:latin typeface="Times New Roman" panose="02020603050405020304" pitchFamily="18" charset="0"/>
              </a:rPr>
              <a:t>存储芯片的地址分配和片选</a:t>
            </a:r>
            <a:endParaRPr lang="zh-CN" altLang="en-US" dirty="0">
              <a:latin typeface="Times New Roman" panose="02020603050405020304" pitchFamily="18" charset="0"/>
              <a:ea typeface="Times New Roman" panose="02020603050405020304" pitchFamily="18" charset="0"/>
            </a:endParaRPr>
          </a:p>
        </p:txBody>
      </p:sp>
      <p:sp>
        <p:nvSpPr>
          <p:cNvPr id="87042" name="内容占位符 2"/>
          <p:cNvSpPr>
            <a:spLocks noGrp="1"/>
          </p:cNvSpPr>
          <p:nvPr>
            <p:ph idx="1"/>
          </p:nvPr>
        </p:nvSpPr>
        <p:spPr>
          <a:xfrm>
            <a:off x="457200" y="1341438"/>
            <a:ext cx="8229600" cy="4967287"/>
          </a:xfrm>
          <a:noFill/>
          <a:ln>
            <a:noFill/>
          </a:ln>
        </p:spPr>
        <p:txBody>
          <a:bodyPr anchor="t" anchorCtr="0"/>
          <a:p>
            <a:pPr algn="just"/>
            <a:r>
              <a:rPr lang="en-US" altLang="zh-CN" dirty="0">
                <a:latin typeface="Times New Roman" panose="02020603050405020304" pitchFamily="18" charset="0"/>
              </a:rPr>
              <a:t>CPU</a:t>
            </a:r>
            <a:r>
              <a:rPr lang="zh-CN" altLang="en-US" dirty="0">
                <a:latin typeface="Times New Roman" panose="02020603050405020304" pitchFamily="18" charset="0"/>
              </a:rPr>
              <a:t>对存储单元的访问：</a:t>
            </a:r>
            <a:endParaRPr lang="en-US" altLang="zh-CN" dirty="0">
              <a:latin typeface="Times New Roman" panose="02020603050405020304" pitchFamily="18" charset="0"/>
            </a:endParaRPr>
          </a:p>
          <a:p>
            <a:pPr lvl="1" algn="just">
              <a:spcBef>
                <a:spcPts val="1200"/>
              </a:spcBef>
            </a:pPr>
            <a:r>
              <a:rPr lang="zh-CN" altLang="en-US" sz="2400" dirty="0">
                <a:latin typeface="Times New Roman" panose="02020603050405020304" pitchFamily="18" charset="0"/>
              </a:rPr>
              <a:t>首先要选择存储芯片，即进行</a:t>
            </a:r>
            <a:r>
              <a:rPr lang="zh-CN" altLang="en-US" sz="2400" dirty="0">
                <a:solidFill>
                  <a:srgbClr val="FF0000"/>
                </a:solidFill>
                <a:latin typeface="Times New Roman" panose="02020603050405020304" pitchFamily="18" charset="0"/>
              </a:rPr>
              <a:t>片选</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2" algn="just">
              <a:spcBef>
                <a:spcPts val="1200"/>
              </a:spcBef>
            </a:pPr>
            <a:r>
              <a:rPr lang="zh-CN" altLang="en-US" sz="2000" dirty="0">
                <a:latin typeface="Times New Roman" panose="02020603050405020304" pitchFamily="18" charset="0"/>
              </a:rPr>
              <a:t>片选信号大多是通过高位地址译码后产生。</a:t>
            </a:r>
            <a:endParaRPr lang="en-US" altLang="zh-CN" sz="2000" dirty="0">
              <a:latin typeface="Times New Roman" panose="02020603050405020304" pitchFamily="18" charset="0"/>
            </a:endParaRPr>
          </a:p>
          <a:p>
            <a:pPr lvl="1" algn="just">
              <a:spcBef>
                <a:spcPts val="1200"/>
              </a:spcBef>
            </a:pPr>
            <a:r>
              <a:rPr lang="zh-CN" altLang="en-US" sz="2400" dirty="0">
                <a:latin typeface="Times New Roman" panose="02020603050405020304" pitchFamily="18" charset="0"/>
              </a:rPr>
              <a:t>依地址码选择存储单元进行数据存取，称为</a:t>
            </a:r>
            <a:r>
              <a:rPr lang="zh-CN" altLang="en-US" sz="2400" dirty="0">
                <a:solidFill>
                  <a:srgbClr val="FF0000"/>
                </a:solidFill>
                <a:latin typeface="Times New Roman" panose="02020603050405020304" pitchFamily="18" charset="0"/>
              </a:rPr>
              <a:t>字选</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2" algn="just" latinLnBrk="0">
              <a:spcBef>
                <a:spcPts val="1200"/>
              </a:spcBef>
            </a:pPr>
            <a:r>
              <a:rPr lang="zh-CN" altLang="en-US" sz="2000" dirty="0">
                <a:latin typeface="Times New Roman" panose="02020603050405020304" pitchFamily="18" charset="0"/>
              </a:rPr>
              <a:t>由</a:t>
            </a:r>
            <a:r>
              <a:rPr lang="en-US" altLang="zh-CN" sz="2000" dirty="0">
                <a:latin typeface="Times New Roman" panose="02020603050405020304" pitchFamily="18" charset="0"/>
              </a:rPr>
              <a:t>CPU</a:t>
            </a:r>
            <a:r>
              <a:rPr lang="zh-CN" altLang="en-US" sz="2000" dirty="0">
                <a:latin typeface="Times New Roman" panose="02020603050405020304" pitchFamily="18" charset="0"/>
              </a:rPr>
              <a:t>送出的</a:t>
            </a:r>
            <a:r>
              <a:rPr lang="en-US" altLang="zh-CN" sz="2000" dirty="0">
                <a:latin typeface="Times New Roman" panose="02020603050405020304" pitchFamily="18" charset="0"/>
              </a:rPr>
              <a:t>N</a:t>
            </a:r>
            <a:r>
              <a:rPr lang="zh-CN" altLang="en-US" sz="2000" dirty="0">
                <a:latin typeface="Times New Roman" panose="02020603050405020304" pitchFamily="18" charset="0"/>
              </a:rPr>
              <a:t>条低位地址线完成，</a:t>
            </a:r>
            <a:r>
              <a:rPr lang="en-US" altLang="zh-CN" sz="2000" dirty="0">
                <a:latin typeface="Times New Roman" panose="02020603050405020304" pitchFamily="18" charset="0"/>
              </a:rPr>
              <a:t>N</a:t>
            </a:r>
            <a:r>
              <a:rPr lang="zh-CN" altLang="en-US" sz="2000" dirty="0">
                <a:latin typeface="Times New Roman" panose="02020603050405020304" pitchFamily="18" charset="0"/>
              </a:rPr>
              <a:t>由片内存储容量</a:t>
            </a:r>
            <a:r>
              <a:rPr lang="en-US" altLang="zh-CN" sz="2000" dirty="0">
                <a:latin typeface="Times New Roman" panose="02020603050405020304" pitchFamily="18" charset="0"/>
              </a:rPr>
              <a:t>2</a:t>
            </a:r>
            <a:r>
              <a:rPr lang="en-US" altLang="zh-CN" sz="2000" baseline="30000" dirty="0">
                <a:latin typeface="Times New Roman" panose="02020603050405020304" pitchFamily="18" charset="0"/>
              </a:rPr>
              <a:t>N</a:t>
            </a:r>
            <a:r>
              <a:rPr lang="zh-CN" altLang="en-US" sz="2000" dirty="0">
                <a:latin typeface="Times New Roman" panose="02020603050405020304" pitchFamily="18" charset="0"/>
              </a:rPr>
              <a:t>决定</a:t>
            </a:r>
            <a:endParaRPr lang="en-US" altLang="zh-CN" sz="2000" dirty="0">
              <a:latin typeface="Times New Roman" panose="02020603050405020304" pitchFamily="18" charset="0"/>
            </a:endParaRPr>
          </a:p>
          <a:p>
            <a:pPr lvl="2" algn="just" latinLnBrk="0">
              <a:spcBef>
                <a:spcPts val="1200"/>
              </a:spcBef>
            </a:pPr>
            <a:r>
              <a:rPr lang="zh-CN" altLang="en-US" sz="2000" dirty="0">
                <a:latin typeface="Times New Roman" panose="02020603050405020304" pitchFamily="18" charset="0"/>
              </a:rPr>
              <a:t>直接接到所有存储芯片的地址输入端。</a:t>
            </a:r>
            <a:endParaRPr lang="zh-CN" altLang="en-US" sz="2000" dirty="0">
              <a:latin typeface="Times New Roman" panose="02020603050405020304" pitchFamily="18" charset="0"/>
            </a:endParaRPr>
          </a:p>
          <a:p>
            <a:pPr algn="just" latinLnBrk="0">
              <a:spcBef>
                <a:spcPts val="1800"/>
              </a:spcBef>
            </a:pPr>
            <a:r>
              <a:rPr lang="zh-CN" altLang="en-US" dirty="0">
                <a:latin typeface="Times New Roman" panose="02020603050405020304" pitchFamily="18" charset="0"/>
              </a:rPr>
              <a:t>片选信号的译码方法：</a:t>
            </a:r>
            <a:endParaRPr lang="en-US" altLang="zh-CN" dirty="0">
              <a:latin typeface="Times New Roman" panose="02020603050405020304" pitchFamily="18" charset="0"/>
            </a:endParaRPr>
          </a:p>
          <a:p>
            <a:pPr lvl="1" algn="just" latinLnBrk="0">
              <a:spcBef>
                <a:spcPts val="600"/>
              </a:spcBef>
            </a:pPr>
            <a:r>
              <a:rPr lang="zh-CN" altLang="en-US" sz="2400" dirty="0">
                <a:solidFill>
                  <a:srgbClr val="FF0000"/>
                </a:solidFill>
                <a:latin typeface="Times New Roman" panose="02020603050405020304" pitchFamily="18" charset="0"/>
              </a:rPr>
              <a:t>线选法；</a:t>
            </a:r>
            <a:endParaRPr lang="en-US" altLang="zh-CN" sz="2400" dirty="0">
              <a:solidFill>
                <a:srgbClr val="FF0000"/>
              </a:solidFill>
              <a:latin typeface="Times New Roman" panose="02020603050405020304" pitchFamily="18" charset="0"/>
            </a:endParaRPr>
          </a:p>
          <a:p>
            <a:pPr lvl="1" algn="just" latinLnBrk="0">
              <a:spcBef>
                <a:spcPts val="600"/>
              </a:spcBef>
            </a:pPr>
            <a:r>
              <a:rPr lang="zh-CN" altLang="en-US" sz="2400" dirty="0">
                <a:solidFill>
                  <a:srgbClr val="FF0000"/>
                </a:solidFill>
                <a:latin typeface="Times New Roman" panose="02020603050405020304" pitchFamily="18" charset="0"/>
              </a:rPr>
              <a:t>全译码法；</a:t>
            </a:r>
            <a:endParaRPr lang="en-US" altLang="zh-CN" sz="2400" dirty="0">
              <a:solidFill>
                <a:srgbClr val="FF0000"/>
              </a:solidFill>
              <a:latin typeface="Times New Roman" panose="02020603050405020304" pitchFamily="18" charset="0"/>
            </a:endParaRPr>
          </a:p>
          <a:p>
            <a:pPr lvl="1" algn="just" latinLnBrk="0">
              <a:spcBef>
                <a:spcPts val="600"/>
              </a:spcBef>
            </a:pPr>
            <a:r>
              <a:rPr lang="zh-CN" altLang="en-US" sz="2400" dirty="0">
                <a:solidFill>
                  <a:srgbClr val="FF0000"/>
                </a:solidFill>
                <a:latin typeface="Times New Roman" panose="02020603050405020304" pitchFamily="18" charset="0"/>
              </a:rPr>
              <a:t>部分译码法</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a:p>
            <a:pPr algn="just"/>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线选法</a:t>
            </a:r>
            <a:endParaRPr lang="zh-CN" altLang="en-US" dirty="0">
              <a:latin typeface="Times New Roman" panose="02020603050405020304" pitchFamily="18" charset="0"/>
              <a:ea typeface="Times New Roman" panose="02020603050405020304" pitchFamily="18" charset="0"/>
            </a:endParaRPr>
          </a:p>
        </p:txBody>
      </p:sp>
      <p:sp>
        <p:nvSpPr>
          <p:cNvPr id="88066" name="内容占位符 2"/>
          <p:cNvSpPr>
            <a:spLocks noGrp="1"/>
          </p:cNvSpPr>
          <p:nvPr>
            <p:ph idx="1"/>
          </p:nvPr>
        </p:nvSpPr>
        <p:spPr>
          <a:xfrm>
            <a:off x="457200" y="1377950"/>
            <a:ext cx="8229600" cy="5146675"/>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用高位地址线</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直接</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分别接至各芯片片选端：</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当某地址线信息为“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0”</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时，选中与之对应的存储芯片</a:t>
            </a:r>
            <a:r>
              <a:rPr kumimoji="0" 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寻址时只有一位有效，每次只选中一个芯片（组）；</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优点：不需要地址译码器，线路简单；</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缺点：</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适用于连接存储芯片较少的场合；</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把地址空间分成了相互隔离的区域，给编程带来一定困难。</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4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全译码法</a:t>
            </a:r>
            <a:endParaRPr lang="zh-CN" altLang="en-US" dirty="0">
              <a:latin typeface="Times New Roman" panose="02020603050405020304" pitchFamily="18" charset="0"/>
            </a:endParaRPr>
          </a:p>
        </p:txBody>
      </p:sp>
      <p:sp>
        <p:nvSpPr>
          <p:cNvPr id="89090"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除片内寻址外的</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全部高位地址线</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输入地址译码器</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片选信号：</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译码器的输出</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优点：</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每片（或组）芯片的地址范围唯一确定且连续；</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便于扩展，不会产生地址重叠的存储区。</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缺点：对译码电路要求较高。 </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4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部分译码</a:t>
            </a:r>
            <a:endParaRPr lang="zh-CN" altLang="en-US" dirty="0">
              <a:latin typeface="Times New Roman" panose="02020603050405020304" pitchFamily="18" charset="0"/>
              <a:ea typeface="Times New Roman" panose="02020603050405020304" pitchFamily="18" charset="0"/>
            </a:endParaRPr>
          </a:p>
        </p:txBody>
      </p:sp>
      <p:sp>
        <p:nvSpPr>
          <p:cNvPr id="90114" name="内容占位符 2"/>
          <p:cNvSpPr>
            <a:spLocks noGrp="1"/>
          </p:cNvSpPr>
          <p:nvPr>
            <p:ph idx="1"/>
          </p:nvPr>
        </p:nvSpPr>
        <p:spPr>
          <a:xfrm>
            <a:off x="457200" y="1417638"/>
            <a:ext cx="8229600" cy="4819650"/>
          </a:xfrm>
          <a:noFill/>
          <a:ln>
            <a:noFill/>
          </a:ln>
        </p:spPr>
        <p:txBody>
          <a:bodyPr anchor="t" anchorCtr="0"/>
          <a:p>
            <a:pPr latinLnBrk="0">
              <a:spcBef>
                <a:spcPts val="1800"/>
              </a:spcBef>
            </a:pPr>
            <a:r>
              <a:rPr lang="zh-CN" altLang="en-US" dirty="0">
                <a:latin typeface="Times New Roman" panose="02020603050405020304" pitchFamily="18" charset="0"/>
              </a:rPr>
              <a:t>用</a:t>
            </a:r>
            <a:r>
              <a:rPr lang="zh-CN" altLang="en-US" dirty="0">
                <a:solidFill>
                  <a:srgbClr val="FF0000"/>
                </a:solidFill>
                <a:latin typeface="Times New Roman" panose="02020603050405020304" pitchFamily="18" charset="0"/>
              </a:rPr>
              <a:t>高位地址的一部分来译码</a:t>
            </a:r>
            <a:r>
              <a:rPr lang="zh-CN" altLang="en-US" dirty="0">
                <a:latin typeface="Times New Roman" panose="02020603050405020304" pitchFamily="18" charset="0"/>
              </a:rPr>
              <a:t>产生片选信号；</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如用</a:t>
            </a:r>
            <a:r>
              <a:rPr lang="en-US" altLang="zh-CN" dirty="0">
                <a:latin typeface="Times New Roman" panose="02020603050405020304" pitchFamily="18" charset="0"/>
              </a:rPr>
              <a:t>4</a:t>
            </a:r>
            <a:r>
              <a:rPr lang="zh-CN" altLang="en-US" dirty="0">
                <a:latin typeface="Times New Roman" panose="02020603050405020304" pitchFamily="18" charset="0"/>
              </a:rPr>
              <a:t>片</a:t>
            </a:r>
            <a:r>
              <a:rPr lang="en-US" altLang="zh-CN" dirty="0">
                <a:latin typeface="Times New Roman" panose="02020603050405020304" pitchFamily="18" charset="0"/>
              </a:rPr>
              <a:t>2K×8</a:t>
            </a:r>
            <a:r>
              <a:rPr lang="zh-CN" altLang="en-US" dirty="0">
                <a:latin typeface="Times New Roman" panose="02020603050405020304" pitchFamily="18" charset="0"/>
              </a:rPr>
              <a:t>的存储芯片组成</a:t>
            </a:r>
            <a:r>
              <a:rPr lang="en-US" altLang="zh-CN" dirty="0">
                <a:latin typeface="Times New Roman" panose="02020603050405020304" pitchFamily="18" charset="0"/>
              </a:rPr>
              <a:t>8K×8</a:t>
            </a:r>
            <a:r>
              <a:rPr lang="zh-CN" altLang="en-US" dirty="0">
                <a:latin typeface="Times New Roman" panose="02020603050405020304" pitchFamily="18" charset="0"/>
              </a:rPr>
              <a:t>存储器：</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需要</a:t>
            </a:r>
            <a:r>
              <a:rPr lang="en-US" altLang="zh-CN" sz="2400" dirty="0">
                <a:latin typeface="Times New Roman" panose="02020603050405020304" pitchFamily="18" charset="0"/>
              </a:rPr>
              <a:t>4</a:t>
            </a:r>
            <a:r>
              <a:rPr lang="zh-CN" altLang="en-US" sz="2400" dirty="0">
                <a:latin typeface="Times New Roman" panose="02020603050405020304" pitchFamily="18" charset="0"/>
              </a:rPr>
              <a:t>个片选信号，用两位地址线来译码产生；</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寻址</a:t>
            </a:r>
            <a:r>
              <a:rPr lang="en-US" altLang="zh-CN" sz="2400" dirty="0">
                <a:latin typeface="Times New Roman" panose="02020603050405020304" pitchFamily="18" charset="0"/>
              </a:rPr>
              <a:t>8K×8</a:t>
            </a:r>
            <a:r>
              <a:rPr lang="zh-CN" altLang="en-US" sz="2400" dirty="0">
                <a:latin typeface="Times New Roman" panose="02020603050405020304" pitchFamily="18" charset="0"/>
              </a:rPr>
              <a:t>存储器时未用到高位地址</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19</a:t>
            </a:r>
            <a:r>
              <a:rPr lang="zh-CN" altLang="en-US" sz="2400" dirty="0">
                <a:latin typeface="Times New Roman" panose="02020603050405020304" pitchFamily="18" charset="0"/>
              </a:rPr>
              <a:t>～</a:t>
            </a:r>
            <a:r>
              <a:rPr lang="en-US" altLang="zh-CN" sz="2400" dirty="0">
                <a:latin typeface="Times New Roman" panose="02020603050405020304" pitchFamily="18" charset="0"/>
              </a:rPr>
              <a:t>A</a:t>
            </a:r>
            <a:r>
              <a:rPr lang="en-US" altLang="zh-CN" sz="2400" baseline="-25000" dirty="0">
                <a:latin typeface="Times New Roman" panose="02020603050405020304" pitchFamily="18" charset="0"/>
              </a:rPr>
              <a:t>13</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只要</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12</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11</a:t>
            </a:r>
            <a:r>
              <a:rPr lang="en-US" altLang="zh-CN" sz="2000" dirty="0">
                <a:latin typeface="Times New Roman" panose="02020603050405020304" pitchFamily="18" charset="0"/>
              </a:rPr>
              <a:t>=0</a:t>
            </a:r>
            <a:r>
              <a:rPr lang="zh-CN" altLang="en-US" sz="2000" dirty="0">
                <a:latin typeface="Times New Roman" panose="02020603050405020304" pitchFamily="18" charset="0"/>
              </a:rPr>
              <a:t>，而无论</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19</a:t>
            </a:r>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13</a:t>
            </a:r>
            <a:r>
              <a:rPr lang="zh-CN" altLang="en-US" sz="2000" dirty="0">
                <a:latin typeface="Times New Roman" panose="02020603050405020304" pitchFamily="18" charset="0"/>
              </a:rPr>
              <a:t>取何值，均选中第一片；</a:t>
            </a:r>
            <a:endParaRPr lang="en-US" altLang="zh-CN" sz="20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只要</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12</a:t>
            </a:r>
            <a:r>
              <a:rPr lang="en-US" altLang="zh-CN" sz="2000" dirty="0">
                <a:latin typeface="Times New Roman" panose="02020603050405020304" pitchFamily="18" charset="0"/>
              </a:rPr>
              <a:t>=0</a:t>
            </a:r>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11</a:t>
            </a:r>
            <a:r>
              <a:rPr lang="en-US" altLang="zh-CN" sz="2000" dirty="0">
                <a:latin typeface="Times New Roman" panose="02020603050405020304" pitchFamily="18" charset="0"/>
              </a:rPr>
              <a:t>=1</a:t>
            </a:r>
            <a:r>
              <a:rPr lang="zh-CN" altLang="en-US" sz="2000" dirty="0">
                <a:latin typeface="Times New Roman" panose="02020603050405020304" pitchFamily="18" charset="0"/>
              </a:rPr>
              <a:t>，而无论</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19</a:t>
            </a:r>
            <a:r>
              <a:rPr lang="zh-CN" altLang="en-US" sz="2000" dirty="0">
                <a:latin typeface="Times New Roman" panose="02020603050405020304" pitchFamily="18" charset="0"/>
              </a:rPr>
              <a:t>～</a:t>
            </a:r>
            <a:r>
              <a:rPr lang="en-US" altLang="zh-CN" sz="2000" dirty="0">
                <a:latin typeface="Times New Roman" panose="02020603050405020304" pitchFamily="18" charset="0"/>
              </a:rPr>
              <a:t>A</a:t>
            </a:r>
            <a:r>
              <a:rPr lang="en-US" altLang="zh-CN" sz="2000" baseline="-25000" dirty="0">
                <a:latin typeface="Times New Roman" panose="02020603050405020304" pitchFamily="18" charset="0"/>
              </a:rPr>
              <a:t>13</a:t>
            </a:r>
            <a:r>
              <a:rPr lang="zh-CN" altLang="en-US" sz="2000" dirty="0">
                <a:latin typeface="Times New Roman" panose="02020603050405020304" pitchFamily="18" charset="0"/>
              </a:rPr>
              <a:t>取何值，均选中第二片</a:t>
            </a:r>
            <a:endParaRPr lang="zh-CN" altLang="en-US" sz="2000" dirty="0">
              <a:latin typeface="Times New Roman" panose="02020603050405020304" pitchFamily="18" charset="0"/>
            </a:endParaRPr>
          </a:p>
          <a:p>
            <a:pPr lvl="2">
              <a:spcBef>
                <a:spcPts val="1200"/>
              </a:spcBef>
            </a:pPr>
            <a:r>
              <a:rPr lang="en-US" altLang="zh-CN" sz="2000" dirty="0">
                <a:latin typeface="Times New Roman" panose="02020603050405020304" pitchFamily="18" charset="0"/>
                <a:ea typeface="Times New Roman" panose="02020603050405020304" pitchFamily="18" charset="0"/>
              </a:rPr>
              <a:t>……</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2">
              <a:spcBef>
                <a:spcPts val="1200"/>
              </a:spcBef>
            </a:pPr>
            <a:r>
              <a:rPr lang="en-US" altLang="zh-CN" sz="2000" dirty="0">
                <a:latin typeface="Times New Roman" panose="02020603050405020304" pitchFamily="18" charset="0"/>
              </a:rPr>
              <a:t>8K RAM</a:t>
            </a:r>
            <a:r>
              <a:rPr lang="zh-CN" altLang="en-US" sz="2000" dirty="0">
                <a:latin typeface="Times New Roman" panose="02020603050405020304" pitchFamily="18" charset="0"/>
              </a:rPr>
              <a:t>中的任一个存储单元，都对应有</a:t>
            </a:r>
            <a:r>
              <a:rPr lang="en-US" altLang="zh-CN" sz="2000" dirty="0">
                <a:latin typeface="Times New Roman" panose="02020603050405020304" pitchFamily="18" charset="0"/>
              </a:rPr>
              <a:t>2</a:t>
            </a:r>
            <a:r>
              <a:rPr lang="en-US" altLang="zh-CN" sz="2000" baseline="30000" dirty="0">
                <a:latin typeface="Times New Roman" panose="02020603050405020304" pitchFamily="18" charset="0"/>
              </a:rPr>
              <a:t>(20-13)</a:t>
            </a:r>
            <a:r>
              <a:rPr lang="en-US" altLang="zh-CN" sz="2000" dirty="0">
                <a:latin typeface="Times New Roman" panose="02020603050405020304" pitchFamily="18" charset="0"/>
              </a:rPr>
              <a:t>=2</a:t>
            </a:r>
            <a:r>
              <a:rPr lang="en-US" altLang="zh-CN" sz="2000" baseline="30000" dirty="0">
                <a:latin typeface="Times New Roman" panose="02020603050405020304" pitchFamily="18" charset="0"/>
              </a:rPr>
              <a:t>7</a:t>
            </a:r>
            <a:r>
              <a:rPr lang="zh-CN" altLang="en-US" sz="2000" dirty="0">
                <a:latin typeface="Times New Roman" panose="02020603050405020304" pitchFamily="18" charset="0"/>
              </a:rPr>
              <a:t>个地址；</a:t>
            </a:r>
            <a:endParaRPr lang="zh-CN" altLang="en-US" sz="20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这种一个存储单元出现多个地址的现象称</a:t>
            </a:r>
            <a:r>
              <a:rPr lang="zh-CN" altLang="en-US" sz="2000" dirty="0">
                <a:solidFill>
                  <a:srgbClr val="FF0000"/>
                </a:solidFill>
                <a:latin typeface="Times New Roman" panose="02020603050405020304" pitchFamily="18" charset="0"/>
              </a:rPr>
              <a:t>地址重叠</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5.4.3 </a:t>
            </a:r>
            <a:r>
              <a:rPr lang="zh-CN" altLang="en-US" dirty="0">
                <a:latin typeface="Times New Roman" panose="02020603050405020304" pitchFamily="18" charset="0"/>
              </a:rPr>
              <a:t>主存储器和</a:t>
            </a:r>
            <a:r>
              <a:rPr lang="en-US" altLang="zh-CN" dirty="0">
                <a:latin typeface="Times New Roman" panose="02020603050405020304" pitchFamily="18" charset="0"/>
              </a:rPr>
              <a:t>CPU</a:t>
            </a:r>
            <a:r>
              <a:rPr lang="zh-CN" altLang="en-US" dirty="0">
                <a:latin typeface="Times New Roman" panose="02020603050405020304" pitchFamily="18" charset="0"/>
              </a:rPr>
              <a:t>的连接</a:t>
            </a:r>
            <a:endParaRPr lang="zh-CN" altLang="en-US" dirty="0">
              <a:latin typeface="Times New Roman" panose="02020603050405020304" pitchFamily="18" charset="0"/>
              <a:ea typeface="Times New Roman" panose="02020603050405020304" pitchFamily="18" charset="0"/>
            </a:endParaRPr>
          </a:p>
        </p:txBody>
      </p:sp>
      <p:sp>
        <p:nvSpPr>
          <p:cNvPr id="91138" name="内容占位符 2"/>
          <p:cNvSpPr>
            <a:spLocks noGrp="1"/>
          </p:cNvSpPr>
          <p:nvPr>
            <p:ph idx="1"/>
          </p:nvPr>
        </p:nvSpPr>
        <p:spPr>
          <a:xfrm>
            <a:off x="457200" y="1441450"/>
            <a:ext cx="8229600" cy="4795838"/>
          </a:xfrm>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主存和</a:t>
            </a:r>
            <a:r>
              <a:rPr lang="en-US" altLang="zh-CN" dirty="0">
                <a:latin typeface="Times New Roman" panose="02020603050405020304" pitchFamily="18" charset="0"/>
              </a:rPr>
              <a:t>CPU</a:t>
            </a:r>
            <a:r>
              <a:rPr lang="zh-CN" altLang="en-US" dirty="0">
                <a:latin typeface="Times New Roman" panose="02020603050405020304" pitchFamily="18" charset="0"/>
              </a:rPr>
              <a:t>之间的硬连接</a:t>
            </a:r>
            <a:endParaRPr lang="zh-CN" altLang="en-US" dirty="0">
              <a:latin typeface="Times New Roman" panose="02020603050405020304" pitchFamily="18" charset="0"/>
            </a:endParaRPr>
          </a:p>
          <a:p>
            <a:pPr lvl="1">
              <a:spcBef>
                <a:spcPts val="1800"/>
              </a:spcBef>
            </a:pPr>
            <a:r>
              <a:rPr lang="zh-CN" altLang="en-US" sz="2400" dirty="0">
                <a:latin typeface="Times New Roman" panose="02020603050405020304" pitchFamily="18" charset="0"/>
              </a:rPr>
              <a:t>主存与</a:t>
            </a:r>
            <a:r>
              <a:rPr lang="en-US" altLang="zh-CN" sz="2400" dirty="0">
                <a:latin typeface="Times New Roman" panose="02020603050405020304" pitchFamily="18" charset="0"/>
              </a:rPr>
              <a:t>CPU</a:t>
            </a:r>
            <a:r>
              <a:rPr lang="zh-CN" altLang="en-US" sz="2400" dirty="0">
                <a:latin typeface="Times New Roman" panose="02020603050405020304" pitchFamily="18" charset="0"/>
              </a:rPr>
              <a:t>之间的</a:t>
            </a:r>
            <a:r>
              <a:rPr lang="zh-CN" altLang="en-US" sz="2400" dirty="0">
                <a:solidFill>
                  <a:srgbClr val="FF0000"/>
                </a:solidFill>
                <a:latin typeface="Times New Roman" panose="02020603050405020304" pitchFamily="18" charset="0"/>
              </a:rPr>
              <a:t>连线</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2" latinLnBrk="0">
              <a:spcBef>
                <a:spcPts val="1200"/>
              </a:spcBef>
            </a:pPr>
            <a:r>
              <a:rPr lang="zh-CN" altLang="en-US" sz="2000" dirty="0">
                <a:latin typeface="Times New Roman" panose="02020603050405020304" pitchFamily="18" charset="0"/>
              </a:rPr>
              <a:t>地址总线（</a:t>
            </a:r>
            <a:r>
              <a:rPr lang="en-US" altLang="zh-CN" sz="2000" dirty="0">
                <a:latin typeface="Times New Roman" panose="02020603050405020304" pitchFamily="18" charset="0"/>
              </a:rPr>
              <a:t>AB</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2" latinLnBrk="0">
              <a:spcBef>
                <a:spcPts val="1200"/>
              </a:spcBef>
            </a:pPr>
            <a:r>
              <a:rPr lang="zh-CN" altLang="en-US" sz="2000" dirty="0">
                <a:latin typeface="Times New Roman" panose="02020603050405020304" pitchFamily="18" charset="0"/>
              </a:rPr>
              <a:t>数据总线（</a:t>
            </a:r>
            <a:r>
              <a:rPr lang="en-US" altLang="zh-CN" sz="2000" dirty="0">
                <a:latin typeface="Times New Roman" panose="02020603050405020304" pitchFamily="18" charset="0"/>
              </a:rPr>
              <a:t>DB</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2" latinLnBrk="0">
              <a:spcBef>
                <a:spcPts val="1200"/>
              </a:spcBef>
            </a:pPr>
            <a:r>
              <a:rPr lang="zh-CN" altLang="en-US" sz="2000" dirty="0">
                <a:latin typeface="Times New Roman" panose="02020603050405020304" pitchFamily="18" charset="0"/>
              </a:rPr>
              <a:t>控制总线（</a:t>
            </a:r>
            <a:r>
              <a:rPr lang="en-US" altLang="zh-CN" sz="2000" dirty="0">
                <a:latin typeface="Times New Roman" panose="02020603050405020304" pitchFamily="18" charset="0"/>
              </a:rPr>
              <a:t>CB</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a:spcBef>
                <a:spcPts val="1800"/>
              </a:spcBef>
            </a:pPr>
            <a:r>
              <a:rPr lang="zh-CN" altLang="en-US" sz="2400" dirty="0">
                <a:latin typeface="Times New Roman" panose="02020603050405020304" pitchFamily="18" charset="0"/>
              </a:rPr>
              <a:t>主存和</a:t>
            </a:r>
            <a:r>
              <a:rPr lang="en-US" altLang="zh-CN" sz="2400" dirty="0">
                <a:latin typeface="Times New Roman" panose="02020603050405020304" pitchFamily="18" charset="0"/>
              </a:rPr>
              <a:t>CPU</a:t>
            </a:r>
            <a:r>
              <a:rPr lang="zh-CN" altLang="en-US" sz="2400" dirty="0">
                <a:latin typeface="Times New Roman" panose="02020603050405020304" pitchFamily="18" charset="0"/>
              </a:rPr>
              <a:t>之间的</a:t>
            </a:r>
            <a:r>
              <a:rPr lang="zh-CN" altLang="en-US" sz="2400" dirty="0">
                <a:solidFill>
                  <a:srgbClr val="FF0000"/>
                </a:solidFill>
                <a:latin typeface="Times New Roman" panose="02020603050405020304" pitchFamily="18" charset="0"/>
              </a:rPr>
              <a:t>接口：</a:t>
            </a:r>
            <a:endParaRPr lang="en-US" altLang="zh-CN" sz="2400" dirty="0">
              <a:latin typeface="Times New Roman" panose="02020603050405020304" pitchFamily="18" charset="0"/>
            </a:endParaRPr>
          </a:p>
          <a:p>
            <a:pPr lvl="2" latinLnBrk="0">
              <a:spcBef>
                <a:spcPts val="1200"/>
              </a:spcBef>
            </a:pPr>
            <a:r>
              <a:rPr lang="zh-CN" altLang="en-US" sz="2000" dirty="0">
                <a:latin typeface="Times New Roman" panose="02020603050405020304" pitchFamily="18" charset="0"/>
              </a:rPr>
              <a:t>地址寄存器</a:t>
            </a:r>
            <a:r>
              <a:rPr lang="en-US" altLang="zh-CN" sz="2000" dirty="0">
                <a:latin typeface="Times New Roman" panose="02020603050405020304" pitchFamily="18" charset="0"/>
              </a:rPr>
              <a:t>MAR</a:t>
            </a:r>
            <a:r>
              <a:rPr lang="zh-CN" altLang="en-US" sz="2000" dirty="0">
                <a:latin typeface="Times New Roman" panose="02020603050405020304" pitchFamily="18" charset="0"/>
              </a:rPr>
              <a:t>：接受</a:t>
            </a:r>
            <a:r>
              <a:rPr lang="en-US" altLang="zh-CN" sz="2000" dirty="0">
                <a:latin typeface="Times New Roman" panose="02020603050405020304" pitchFamily="18" charset="0"/>
              </a:rPr>
              <a:t>PC</a:t>
            </a:r>
            <a:r>
              <a:rPr lang="zh-CN" altLang="en-US" sz="2000" dirty="0">
                <a:latin typeface="Times New Roman" panose="02020603050405020304" pitchFamily="18" charset="0"/>
              </a:rPr>
              <a:t>的指令地址或运算器的操作数地址</a:t>
            </a:r>
            <a:endParaRPr lang="en-US" altLang="zh-CN" sz="2000" dirty="0">
              <a:latin typeface="Times New Roman" panose="02020603050405020304" pitchFamily="18" charset="0"/>
            </a:endParaRPr>
          </a:p>
          <a:p>
            <a:pPr lvl="2" latinLnBrk="0">
              <a:spcBef>
                <a:spcPts val="1200"/>
              </a:spcBef>
            </a:pPr>
            <a:r>
              <a:rPr lang="zh-CN" altLang="en-US" sz="2000" dirty="0">
                <a:latin typeface="Times New Roman" panose="02020603050405020304" pitchFamily="18" charset="0"/>
              </a:rPr>
              <a:t>数据寄存器</a:t>
            </a:r>
            <a:r>
              <a:rPr lang="en-US" altLang="zh-CN" sz="2000" dirty="0">
                <a:latin typeface="Times New Roman" panose="02020603050405020304" pitchFamily="18" charset="0"/>
              </a:rPr>
              <a:t>MDR</a:t>
            </a:r>
            <a:r>
              <a:rPr lang="zh-CN" altLang="en-US" sz="2000" dirty="0">
                <a:latin typeface="Times New Roman" panose="02020603050405020304" pitchFamily="18" charset="0"/>
              </a:rPr>
              <a:t>：向主存读写数据的缓冲部件。</a:t>
            </a:r>
            <a:endParaRPr lang="en-US" altLang="zh-CN" sz="20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主存和</a:t>
            </a:r>
            <a:r>
              <a:rPr lang="en-US" altLang="zh-CN" dirty="0">
                <a:latin typeface="Times New Roman" panose="02020603050405020304" pitchFamily="18" charset="0"/>
              </a:rPr>
              <a:t>CPU</a:t>
            </a:r>
            <a:r>
              <a:rPr lang="zh-CN" altLang="en-US" dirty="0">
                <a:latin typeface="Times New Roman" panose="02020603050405020304" pitchFamily="18" charset="0"/>
              </a:rPr>
              <a:t>的硬连接</a:t>
            </a:r>
            <a:endParaRPr lang="zh-CN" altLang="en-US" dirty="0">
              <a:latin typeface="Times New Roman" panose="02020603050405020304" pitchFamily="18" charset="0"/>
              <a:ea typeface="Times New Roman" panose="02020603050405020304" pitchFamily="18" charset="0"/>
            </a:endParaRPr>
          </a:p>
        </p:txBody>
      </p:sp>
      <p:sp>
        <p:nvSpPr>
          <p:cNvPr id="4" name="Rectangle 28"/>
          <p:cNvSpPr txBox="1">
            <a:spLocks noChangeArrowheads="1"/>
          </p:cNvSpPr>
          <p:nvPr/>
        </p:nvSpPr>
        <p:spPr bwMode="auto">
          <a:xfrm>
            <a:off x="2087563" y="4810125"/>
            <a:ext cx="4968875"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图5-20 主存和</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的连接</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611188" y="5300663"/>
            <a:ext cx="7489825" cy="1198563"/>
          </a:xfrm>
          <a:prstGeom prst="rect">
            <a:avLst/>
          </a:prstGeom>
        </p:spPr>
        <p:txBody>
          <a:bodyPr>
            <a:spAutoFit/>
          </a:bodyPr>
          <a:lstStyle/>
          <a:p>
            <a:pPr marL="0" marR="0" lvl="1" indent="457200" algn="just" defTabSz="914400" rtl="0" eaLnBrk="0" fontAlgn="base" latinLnBrk="0" hangingPunct="0">
              <a:lnSpc>
                <a:spcPct val="10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对主存进行读写操作时：首先</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在地址总线上给出</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地址信号</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，然后发出相应的</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读或写命令</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，并在</a:t>
            </a: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数据总线上交换信息</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92164" name="图片 2"/>
          <p:cNvPicPr>
            <a:picLocks noChangeAspect="1"/>
          </p:cNvPicPr>
          <p:nvPr/>
        </p:nvPicPr>
        <p:blipFill>
          <a:blip r:embed="rId1"/>
          <a:srcRect t="15764"/>
          <a:stretch>
            <a:fillRect/>
          </a:stretch>
        </p:blipFill>
        <p:spPr>
          <a:xfrm>
            <a:off x="844550" y="1174750"/>
            <a:ext cx="7023100" cy="3543300"/>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 </a:t>
            </a:r>
            <a:r>
              <a:rPr lang="zh-CN" altLang="en-US" dirty="0">
                <a:latin typeface="Times New Roman" panose="02020603050405020304" pitchFamily="18" charset="0"/>
              </a:rPr>
              <a:t>基本操作</a:t>
            </a:r>
            <a:r>
              <a:rPr lang="en-US" altLang="zh-CN" dirty="0">
                <a:latin typeface="Times New Roman" panose="02020603050405020304" pitchFamily="18" charset="0"/>
              </a:rPr>
              <a:t>-</a:t>
            </a:r>
            <a:r>
              <a:rPr lang="zh-CN" altLang="en-US" dirty="0">
                <a:latin typeface="Times New Roman" panose="02020603050405020304" pitchFamily="18" charset="0"/>
              </a:rPr>
              <a:t>读操作</a:t>
            </a:r>
            <a:endParaRPr lang="zh-CN" altLang="en-US" dirty="0">
              <a:latin typeface="Times New Roman" panose="02020603050405020304" pitchFamily="18" charset="0"/>
              <a:ea typeface="Times New Roman" panose="02020603050405020304" pitchFamily="18" charset="0"/>
            </a:endParaRPr>
          </a:p>
        </p:txBody>
      </p:sp>
      <p:sp>
        <p:nvSpPr>
          <p:cNvPr id="9318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 从</a:t>
            </a:r>
            <a:r>
              <a:rPr lang="en-US" altLang="zh-CN" dirty="0">
                <a:latin typeface="Times New Roman" panose="02020603050405020304" pitchFamily="18" charset="0"/>
              </a:rPr>
              <a:t>CPU</a:t>
            </a:r>
            <a:r>
              <a:rPr lang="zh-CN" altLang="en-US" dirty="0">
                <a:latin typeface="Times New Roman" panose="02020603050405020304" pitchFamily="18" charset="0"/>
              </a:rPr>
              <a:t>送来地址所指定单元取出信息，送</a:t>
            </a:r>
            <a:r>
              <a:rPr lang="en-US" altLang="zh-CN" dirty="0">
                <a:latin typeface="Times New Roman" panose="02020603050405020304" pitchFamily="18" charset="0"/>
              </a:rPr>
              <a:t>CPU</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zh-CN" altLang="en-US" sz="2400" dirty="0">
                <a:solidFill>
                  <a:srgbClr val="FF0000"/>
                </a:solidFill>
                <a:latin typeface="Times New Roman" panose="02020603050405020304" pitchFamily="18" charset="0"/>
              </a:rPr>
              <a:t>地址→</a:t>
            </a:r>
            <a:r>
              <a:rPr lang="en-US" altLang="zh-CN" sz="2400" dirty="0">
                <a:solidFill>
                  <a:srgbClr val="FF0000"/>
                </a:solidFill>
                <a:latin typeface="Times New Roman" panose="02020603050405020304" pitchFamily="18" charset="0"/>
              </a:rPr>
              <a:t>MAR→AB  </a:t>
            </a:r>
            <a:r>
              <a:rPr lang="en-US" altLang="zh-CN" sz="2400" dirty="0">
                <a:latin typeface="Times New Roman" panose="02020603050405020304" pitchFamily="18" charset="0"/>
              </a:rPr>
              <a:t>CPU</a:t>
            </a:r>
            <a:r>
              <a:rPr lang="zh-CN" altLang="en-US" sz="2400" dirty="0">
                <a:latin typeface="Times New Roman" panose="02020603050405020304" pitchFamily="18" charset="0"/>
              </a:rPr>
              <a:t>将地址信号送至地址总线；</a:t>
            </a:r>
            <a:endParaRPr lang="zh-CN" altLang="en-US" sz="2400" dirty="0">
              <a:latin typeface="Times New Roman" panose="02020603050405020304" pitchFamily="18" charset="0"/>
            </a:endParaRPr>
          </a:p>
          <a:p>
            <a:pPr lvl="1" latinLnBrk="0">
              <a:spcBef>
                <a:spcPts val="1200"/>
              </a:spcBef>
            </a:pPr>
            <a:r>
              <a:rPr lang="en-US" altLang="zh-CN" sz="2400" dirty="0">
                <a:solidFill>
                  <a:srgbClr val="FF0000"/>
                </a:solidFill>
                <a:latin typeface="Times New Roman" panose="02020603050405020304" pitchFamily="18" charset="0"/>
              </a:rPr>
              <a:t>Read </a:t>
            </a:r>
            <a:r>
              <a:rPr lang="en-US" altLang="zh-CN" sz="2400" dirty="0">
                <a:latin typeface="Times New Roman" panose="02020603050405020304" pitchFamily="18" charset="0"/>
              </a:rPr>
              <a:t>                       CPU</a:t>
            </a:r>
            <a:r>
              <a:rPr lang="zh-CN" altLang="en-US" sz="2400" dirty="0">
                <a:latin typeface="Times New Roman" panose="02020603050405020304" pitchFamily="18" charset="0"/>
              </a:rPr>
              <a:t>发读命令；</a:t>
            </a:r>
            <a:endParaRPr lang="zh-CN" altLang="en-US" sz="2400" dirty="0">
              <a:latin typeface="Times New Roman" panose="02020603050405020304" pitchFamily="18" charset="0"/>
            </a:endParaRPr>
          </a:p>
          <a:p>
            <a:pPr lvl="1" latinLnBrk="0">
              <a:spcBef>
                <a:spcPts val="1200"/>
              </a:spcBef>
            </a:pPr>
            <a:r>
              <a:rPr lang="en-US" altLang="zh-CN" sz="2400" dirty="0">
                <a:solidFill>
                  <a:srgbClr val="FF0000"/>
                </a:solidFill>
                <a:latin typeface="Times New Roman" panose="02020603050405020304" pitchFamily="18" charset="0"/>
              </a:rPr>
              <a:t>Wait for MFC         </a:t>
            </a:r>
            <a:r>
              <a:rPr lang="zh-CN" altLang="en-US" sz="2400" dirty="0">
                <a:latin typeface="Times New Roman" panose="02020603050405020304" pitchFamily="18" charset="0"/>
              </a:rPr>
              <a:t>等待存储器工作完成信号；</a:t>
            </a:r>
            <a:endParaRPr lang="zh-CN" altLang="en-US" sz="2400" dirty="0">
              <a:latin typeface="Times New Roman" panose="02020603050405020304" pitchFamily="18" charset="0"/>
            </a:endParaRPr>
          </a:p>
          <a:p>
            <a:pPr lvl="1" latinLnBrk="0">
              <a:spcBef>
                <a:spcPts val="1200"/>
              </a:spcBef>
            </a:pPr>
            <a:r>
              <a:rPr lang="en-US" altLang="zh-CN" sz="2400" dirty="0">
                <a:solidFill>
                  <a:srgbClr val="FF0000"/>
                </a:solidFill>
                <a:latin typeface="Times New Roman" panose="02020603050405020304" pitchFamily="18" charset="0"/>
              </a:rPr>
              <a:t>M(MAR)→DB→MDR  </a:t>
            </a:r>
            <a:r>
              <a:rPr lang="zh-CN" altLang="en-US" sz="2400" dirty="0">
                <a:latin typeface="Times New Roman" panose="02020603050405020304" pitchFamily="18" charset="0"/>
              </a:rPr>
              <a:t>读出信息经数据总线送至</a:t>
            </a:r>
            <a:r>
              <a:rPr lang="en-US" altLang="zh-CN" sz="2400" dirty="0">
                <a:latin typeface="Times New Roman" panose="02020603050405020304" pitchFamily="18" charset="0"/>
              </a:rPr>
              <a:t>CPU</a:t>
            </a:r>
            <a:r>
              <a:rPr lang="zh-CN" altLang="en-US" sz="2400" dirty="0">
                <a:latin typeface="Times New Roman" panose="02020603050405020304" pitchFamily="18" charset="0"/>
              </a:rPr>
              <a:t>。</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 </a:t>
            </a:r>
            <a:r>
              <a:rPr lang="zh-CN" altLang="en-US" dirty="0">
                <a:latin typeface="Times New Roman" panose="02020603050405020304" pitchFamily="18" charset="0"/>
              </a:rPr>
              <a:t>基本操作</a:t>
            </a:r>
            <a:r>
              <a:rPr lang="en-US" altLang="zh-CN" dirty="0">
                <a:latin typeface="Times New Roman" panose="02020603050405020304" pitchFamily="18" charset="0"/>
              </a:rPr>
              <a:t>-</a:t>
            </a:r>
            <a:r>
              <a:rPr lang="zh-CN" altLang="en-US" dirty="0">
                <a:latin typeface="Times New Roman" panose="02020603050405020304" pitchFamily="18" charset="0"/>
              </a:rPr>
              <a:t>写操作</a:t>
            </a:r>
            <a:endParaRPr lang="zh-CN" altLang="en-US" dirty="0">
              <a:latin typeface="Times New Roman" panose="02020603050405020304" pitchFamily="18" charset="0"/>
              <a:ea typeface="Times New Roman" panose="02020603050405020304" pitchFamily="18" charset="0"/>
            </a:endParaRPr>
          </a:p>
        </p:txBody>
      </p:sp>
      <p:sp>
        <p:nvSpPr>
          <p:cNvPr id="9421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将要写入的信息存入</a:t>
            </a:r>
            <a:r>
              <a:rPr lang="en-US" altLang="zh-CN" dirty="0">
                <a:latin typeface="Times New Roman" panose="02020603050405020304" pitchFamily="18" charset="0"/>
              </a:rPr>
              <a:t>CPU</a:t>
            </a:r>
            <a:r>
              <a:rPr lang="zh-CN" altLang="en-US" dirty="0">
                <a:latin typeface="Times New Roman" panose="02020603050405020304" pitchFamily="18" charset="0"/>
              </a:rPr>
              <a:t>所指定的存储单元：</a:t>
            </a:r>
            <a:endParaRPr lang="zh-CN" altLang="en-US"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地址→</a:t>
            </a:r>
            <a:r>
              <a:rPr lang="en-US" altLang="zh-CN" sz="2400" dirty="0">
                <a:solidFill>
                  <a:srgbClr val="FF0000"/>
                </a:solidFill>
                <a:latin typeface="Times New Roman" panose="02020603050405020304" pitchFamily="18" charset="0"/>
              </a:rPr>
              <a:t>MAR→AB   </a:t>
            </a:r>
            <a:r>
              <a:rPr lang="en-US" altLang="zh-CN" sz="2400" dirty="0">
                <a:latin typeface="Times New Roman" panose="02020603050405020304" pitchFamily="18" charset="0"/>
              </a:rPr>
              <a:t>CPU</a:t>
            </a:r>
            <a:r>
              <a:rPr lang="zh-CN" altLang="en-US" sz="2400" dirty="0">
                <a:latin typeface="Times New Roman" panose="02020603050405020304" pitchFamily="18" charset="0"/>
              </a:rPr>
              <a:t>将地址信号送至地址总线；</a:t>
            </a:r>
            <a:endParaRPr lang="zh-CN" altLang="en-US" sz="24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数据→</a:t>
            </a:r>
            <a:r>
              <a:rPr lang="en-US" altLang="zh-CN" sz="2400" dirty="0">
                <a:solidFill>
                  <a:srgbClr val="FF0000"/>
                </a:solidFill>
                <a:latin typeface="Times New Roman" panose="02020603050405020304" pitchFamily="18" charset="0"/>
              </a:rPr>
              <a:t>MDR→DB  </a:t>
            </a:r>
            <a:r>
              <a:rPr lang="en-US" altLang="zh-CN" sz="2400" dirty="0">
                <a:latin typeface="Times New Roman" panose="02020603050405020304" pitchFamily="18" charset="0"/>
              </a:rPr>
              <a:t>CPU</a:t>
            </a:r>
            <a:r>
              <a:rPr lang="zh-CN" altLang="en-US" sz="2400" dirty="0">
                <a:latin typeface="Times New Roman" panose="02020603050405020304" pitchFamily="18" charset="0"/>
              </a:rPr>
              <a:t>将要写入的数据送至数据总线</a:t>
            </a:r>
            <a:endParaRPr lang="zh-CN" altLang="en-US" sz="2400" dirty="0">
              <a:latin typeface="Times New Roman" panose="02020603050405020304" pitchFamily="18" charset="0"/>
            </a:endParaRPr>
          </a:p>
          <a:p>
            <a:pPr lvl="1">
              <a:spcBef>
                <a:spcPts val="1200"/>
              </a:spcBef>
            </a:pPr>
            <a:r>
              <a:rPr lang="en-US" altLang="zh-CN" sz="2400" dirty="0">
                <a:solidFill>
                  <a:srgbClr val="FF0000"/>
                </a:solidFill>
                <a:latin typeface="Times New Roman" panose="02020603050405020304" pitchFamily="18" charset="0"/>
              </a:rPr>
              <a:t>Write  </a:t>
            </a:r>
            <a:r>
              <a:rPr lang="en-US" altLang="zh-CN" sz="2400" dirty="0">
                <a:latin typeface="Times New Roman" panose="02020603050405020304" pitchFamily="18" charset="0"/>
              </a:rPr>
              <a:t>                      CPU</a:t>
            </a:r>
            <a:r>
              <a:rPr lang="zh-CN" altLang="en-US" sz="2400" dirty="0">
                <a:latin typeface="Times New Roman" panose="02020603050405020304" pitchFamily="18" charset="0"/>
              </a:rPr>
              <a:t>发写命令；</a:t>
            </a:r>
            <a:endParaRPr lang="zh-CN" altLang="en-US" sz="2400" dirty="0">
              <a:latin typeface="Times New Roman" panose="02020603050405020304" pitchFamily="18" charset="0"/>
            </a:endParaRPr>
          </a:p>
          <a:p>
            <a:pPr lvl="1">
              <a:spcBef>
                <a:spcPts val="1200"/>
              </a:spcBef>
            </a:pPr>
            <a:r>
              <a:rPr lang="en-US" altLang="zh-CN" sz="2400" dirty="0">
                <a:solidFill>
                  <a:srgbClr val="FF0000"/>
                </a:solidFill>
                <a:latin typeface="Times New Roman" panose="02020603050405020304" pitchFamily="18" charset="0"/>
              </a:rPr>
              <a:t>Wait for MFC          </a:t>
            </a:r>
            <a:r>
              <a:rPr lang="zh-CN" altLang="en-US" sz="2400" dirty="0">
                <a:latin typeface="Times New Roman" panose="02020603050405020304" pitchFamily="18" charset="0"/>
              </a:rPr>
              <a:t>等待存储器工作完成信号。 </a:t>
            </a:r>
            <a:endParaRPr lang="zh-CN" altLang="en-US" sz="2400" dirty="0">
              <a:latin typeface="Times New Roman" panose="02020603050405020304" pitchFamily="18" charset="0"/>
            </a:endParaRPr>
          </a:p>
          <a:p>
            <a:pPr>
              <a:spcBef>
                <a:spcPts val="12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5.4.4 </a:t>
            </a:r>
            <a:r>
              <a:rPr lang="zh-CN" altLang="en-US" dirty="0">
                <a:latin typeface="Times New Roman" panose="02020603050405020304" pitchFamily="18" charset="0"/>
              </a:rPr>
              <a:t>主存的校验</a:t>
            </a:r>
            <a:endParaRPr lang="zh-CN" altLang="en-US" dirty="0">
              <a:latin typeface="Times New Roman" panose="02020603050405020304" pitchFamily="18" charset="0"/>
              <a:ea typeface="Times New Roman" panose="02020603050405020304" pitchFamily="18" charset="0"/>
            </a:endParaRPr>
          </a:p>
        </p:txBody>
      </p:sp>
      <p:sp>
        <p:nvSpPr>
          <p:cNvPr id="95234" name="内容占位符 2"/>
          <p:cNvSpPr>
            <a:spLocks noGrp="1"/>
          </p:cNvSpPr>
          <p:nvPr>
            <p:ph idx="1"/>
          </p:nvPr>
        </p:nvSpPr>
        <p:spPr>
          <a:xfrm>
            <a:off x="457200" y="1339850"/>
            <a:ext cx="8229600" cy="4725988"/>
          </a:xfrm>
          <a:noFill/>
          <a:ln>
            <a:noFill/>
          </a:ln>
        </p:spPr>
        <p:txBody>
          <a:bodyPr anchor="t"/>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计算机在运行过程中，主存与</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CPU</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频繁交换数据</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sym typeface="+mn-ea"/>
              </a:rPr>
              <a:t>差错校验电路</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：检测和校正</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存储过程中的错误：</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通常采用奇校验；</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每个存储单元存储</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9</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位信息：</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位数据，</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位校验位；</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写入数据：</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对一个字节的数据计算校验位，写</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9</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位；</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读出数据：</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同时读出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9</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位。若</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sym typeface="+mn-ea"/>
              </a:rPr>
              <a:t>读出数据出错：</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向</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CPU</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发出</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mn-ea"/>
              </a:rPr>
              <a:t>不可屏蔽中断</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，系统停机并显示出错信息。</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错误检验与校正（</a:t>
            </a:r>
            <a:r>
              <a:rPr lang="en-US" altLang="zh-CN" dirty="0">
                <a:latin typeface="Times New Roman" panose="02020603050405020304" pitchFamily="18" charset="0"/>
              </a:rPr>
              <a:t>ECC</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sp>
        <p:nvSpPr>
          <p:cNvPr id="96258" name="内容占位符 2"/>
          <p:cNvSpPr>
            <a:spLocks noGrp="1"/>
          </p:cNvSpPr>
          <p:nvPr>
            <p:ph idx="1"/>
          </p:nvPr>
        </p:nvSpPr>
        <p:spPr>
          <a:xfrm>
            <a:off x="457200" y="1417638"/>
            <a:ext cx="8229600" cy="4891087"/>
          </a:xfrm>
          <a:noFill/>
          <a:ln>
            <a:noFill/>
          </a:ln>
        </p:spPr>
        <p:txBody>
          <a:bodyPr anchor="t" anchorCtr="0"/>
          <a:p>
            <a:pPr>
              <a:spcBef>
                <a:spcPts val="1200"/>
              </a:spcBef>
            </a:pPr>
            <a:r>
              <a:rPr lang="zh-CN" altLang="en-US" dirty="0">
                <a:latin typeface="Times New Roman" panose="02020603050405020304" pitchFamily="18" charset="0"/>
              </a:rPr>
              <a:t>检测错误和改正错误：</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用一组附加数据位存储一个特殊码：“校验和”；</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对于每个二进制字都有相应的</a:t>
            </a:r>
            <a:r>
              <a:rPr lang="en-US" altLang="zh-CN" sz="2400" dirty="0">
                <a:latin typeface="Times New Roman" panose="02020603050405020304" pitchFamily="18" charset="0"/>
              </a:rPr>
              <a:t>ECC</a:t>
            </a:r>
            <a:r>
              <a:rPr lang="zh-CN" altLang="en-US" sz="2400" dirty="0">
                <a:latin typeface="Times New Roman" panose="02020603050405020304" pitchFamily="18" charset="0"/>
              </a:rPr>
              <a:t>码；</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读数据时，将取到的实际数据和它的</a:t>
            </a:r>
            <a:r>
              <a:rPr lang="en-US" altLang="zh-CN" sz="2400" dirty="0">
                <a:latin typeface="Times New Roman" panose="02020603050405020304" pitchFamily="18" charset="0"/>
              </a:rPr>
              <a:t>ECC</a:t>
            </a:r>
            <a:r>
              <a:rPr lang="zh-CN" altLang="en-US" sz="2400" dirty="0">
                <a:latin typeface="Times New Roman" panose="02020603050405020304" pitchFamily="18" charset="0"/>
              </a:rPr>
              <a:t>码快速比较：</a:t>
            </a:r>
            <a:endParaRPr lang="en-US" altLang="zh-CN" sz="24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匹配：实际数据被传给</a:t>
            </a:r>
            <a:r>
              <a:rPr lang="en-US" altLang="zh-CN" sz="2000" dirty="0">
                <a:latin typeface="Times New Roman" panose="02020603050405020304" pitchFamily="18" charset="0"/>
              </a:rPr>
              <a:t>CPU</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不匹配：</a:t>
            </a:r>
            <a:endParaRPr lang="zh-CN" altLang="en-US" sz="2000" dirty="0">
              <a:latin typeface="Times New Roman" panose="02020603050405020304" pitchFamily="18" charset="0"/>
            </a:endParaRPr>
          </a:p>
          <a:p>
            <a:pPr lvl="3">
              <a:spcBef>
                <a:spcPts val="1200"/>
              </a:spcBef>
            </a:pPr>
            <a:r>
              <a:rPr lang="zh-CN" altLang="en-US" dirty="0">
                <a:latin typeface="Times New Roman" panose="02020603050405020304" pitchFamily="18" charset="0"/>
              </a:rPr>
              <a:t>鉴别出错的一位（或几位）鉴别，改正错误；</a:t>
            </a:r>
            <a:endParaRPr lang="zh-CN" altLang="en-US" dirty="0">
              <a:latin typeface="Times New Roman" panose="02020603050405020304" pitchFamily="18" charset="0"/>
            </a:endParaRPr>
          </a:p>
          <a:p>
            <a:pPr lvl="3">
              <a:spcBef>
                <a:spcPts val="1200"/>
              </a:spcBef>
            </a:pPr>
            <a:r>
              <a:rPr lang="zh-CN" altLang="en-US" dirty="0">
                <a:latin typeface="Times New Roman" panose="02020603050405020304" pitchFamily="18" charset="0"/>
              </a:rPr>
              <a:t>再将数据传给</a:t>
            </a:r>
            <a:r>
              <a:rPr lang="en-US" altLang="zh-CN" dirty="0">
                <a:latin typeface="Times New Roman" panose="02020603050405020304" pitchFamily="18" charset="0"/>
              </a:rPr>
              <a:t>CPU</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课堂练习</a:t>
            </a:r>
            <a:endParaRPr lang="zh-CN" altLang="en-US" dirty="0">
              <a:latin typeface="Times New Roman" panose="02020603050405020304" pitchFamily="18" charset="0"/>
            </a:endParaRPr>
          </a:p>
        </p:txBody>
      </p:sp>
      <p:sp>
        <p:nvSpPr>
          <p:cNvPr id="149506" name="内容占位符 2"/>
          <p:cNvSpPr>
            <a:spLocks noGrp="1"/>
          </p:cNvSpPr>
          <p:nvPr>
            <p:ph idx="1"/>
          </p:nvPr>
        </p:nvSpPr>
        <p:spPr>
          <a:xfrm>
            <a:off x="457200" y="1271588"/>
            <a:ext cx="8229600" cy="5068887"/>
          </a:xfrm>
          <a:noFill/>
          <a:ln>
            <a:noFill/>
          </a:ln>
        </p:spPr>
        <p:txBody>
          <a:bodyPr anchor="t" anchorCtr="0"/>
          <a:p>
            <a:r>
              <a:rPr lang="zh-CN" altLang="en-US" sz="2400" dirty="0">
                <a:latin typeface="Times New Roman" panose="02020603050405020304" pitchFamily="18" charset="0"/>
              </a:rPr>
              <a:t>现有如下存储芯片：</a:t>
            </a:r>
            <a:r>
              <a:rPr lang="en-US" altLang="zh-CN" sz="2400" dirty="0">
                <a:latin typeface="Times New Roman" panose="02020603050405020304" pitchFamily="18" charset="0"/>
              </a:rPr>
              <a:t>2K×1</a:t>
            </a:r>
            <a:r>
              <a:rPr lang="zh-CN" altLang="en-US" sz="2400" dirty="0">
                <a:latin typeface="Times New Roman" panose="02020603050405020304" pitchFamily="18" charset="0"/>
              </a:rPr>
              <a:t>的</a:t>
            </a:r>
            <a:r>
              <a:rPr lang="en-US" altLang="zh-CN" sz="2400" dirty="0">
                <a:latin typeface="Times New Roman" panose="02020603050405020304" pitchFamily="18" charset="0"/>
              </a:rPr>
              <a:t>ROM</a:t>
            </a:r>
            <a:r>
              <a:rPr lang="zh-CN" altLang="en-US" sz="2400" dirty="0">
                <a:latin typeface="Times New Roman" panose="02020603050405020304" pitchFamily="18" charset="0"/>
              </a:rPr>
              <a:t>、</a:t>
            </a:r>
            <a:r>
              <a:rPr lang="en-US" altLang="zh-CN" sz="2400" dirty="0">
                <a:latin typeface="Times New Roman" panose="02020603050405020304" pitchFamily="18" charset="0"/>
              </a:rPr>
              <a:t>4K×1</a:t>
            </a:r>
            <a:r>
              <a:rPr lang="zh-CN" altLang="en-US" sz="2400" dirty="0">
                <a:latin typeface="Times New Roman" panose="02020603050405020304" pitchFamily="18" charset="0"/>
              </a:rPr>
              <a:t>的</a:t>
            </a:r>
            <a:r>
              <a:rPr lang="en-US" altLang="zh-CN" sz="2400" dirty="0">
                <a:latin typeface="Times New Roman" panose="02020603050405020304" pitchFamily="18" charset="0"/>
              </a:rPr>
              <a:t>RAM</a:t>
            </a:r>
            <a:r>
              <a:rPr lang="zh-CN" altLang="en-US" sz="2400" dirty="0">
                <a:latin typeface="Times New Roman" panose="02020603050405020304" pitchFamily="18" charset="0"/>
              </a:rPr>
              <a:t>、</a:t>
            </a:r>
            <a:r>
              <a:rPr lang="en-US" altLang="zh-CN" sz="2400" dirty="0">
                <a:latin typeface="Times New Roman" panose="02020603050405020304" pitchFamily="18" charset="0"/>
              </a:rPr>
              <a:t>8K×1</a:t>
            </a:r>
            <a:r>
              <a:rPr lang="zh-CN" altLang="en-US" sz="2400" dirty="0">
                <a:latin typeface="Times New Roman" panose="02020603050405020304" pitchFamily="18" charset="0"/>
              </a:rPr>
              <a:t>的</a:t>
            </a:r>
            <a:r>
              <a:rPr lang="en-US" altLang="zh-CN" sz="2400" dirty="0">
                <a:latin typeface="Times New Roman" panose="02020603050405020304" pitchFamily="18" charset="0"/>
              </a:rPr>
              <a:t>ROM</a:t>
            </a:r>
            <a:r>
              <a:rPr lang="zh-CN" altLang="en-US" sz="2400" dirty="0">
                <a:latin typeface="Times New Roman" panose="02020603050405020304" pitchFamily="18" charset="0"/>
              </a:rPr>
              <a:t>。若用它们组成容量为</a:t>
            </a:r>
            <a:r>
              <a:rPr lang="en-US" altLang="zh-CN" sz="2400" dirty="0">
                <a:latin typeface="Times New Roman" panose="02020603050405020304" pitchFamily="18" charset="0"/>
              </a:rPr>
              <a:t>16K×8</a:t>
            </a:r>
            <a:r>
              <a:rPr lang="zh-CN" altLang="en-US" sz="2400" dirty="0">
                <a:latin typeface="Times New Roman" panose="02020603050405020304" pitchFamily="18" charset="0"/>
              </a:rPr>
              <a:t>的存储器，前</a:t>
            </a:r>
            <a:r>
              <a:rPr lang="en-US" altLang="zh-CN" sz="2400" dirty="0">
                <a:latin typeface="Times New Roman" panose="02020603050405020304" pitchFamily="18" charset="0"/>
              </a:rPr>
              <a:t>4K</a:t>
            </a:r>
            <a:r>
              <a:rPr lang="zh-CN" altLang="en-US" sz="2400" dirty="0">
                <a:latin typeface="Times New Roman" panose="02020603050405020304" pitchFamily="18" charset="0"/>
              </a:rPr>
              <a:t>为</a:t>
            </a:r>
            <a:r>
              <a:rPr lang="en-US" altLang="zh-CN" sz="2400" dirty="0">
                <a:latin typeface="Times New Roman" panose="02020603050405020304" pitchFamily="18" charset="0"/>
              </a:rPr>
              <a:t>ROM</a:t>
            </a:r>
            <a:r>
              <a:rPr lang="zh-CN" altLang="en-US" sz="2400" dirty="0">
                <a:latin typeface="Times New Roman" panose="02020603050405020304" pitchFamily="18" charset="0"/>
              </a:rPr>
              <a:t>，后</a:t>
            </a:r>
            <a:r>
              <a:rPr lang="en-US" altLang="zh-CN" sz="2400" dirty="0">
                <a:latin typeface="Times New Roman" panose="02020603050405020304" pitchFamily="18" charset="0"/>
              </a:rPr>
              <a:t>12K</a:t>
            </a:r>
            <a:r>
              <a:rPr lang="zh-CN" altLang="en-US" sz="2400" dirty="0">
                <a:latin typeface="Times New Roman" panose="02020603050405020304" pitchFamily="18" charset="0"/>
              </a:rPr>
              <a:t>为</a:t>
            </a:r>
            <a:r>
              <a:rPr lang="en-US" altLang="zh-CN" sz="2400" dirty="0">
                <a:latin typeface="Times New Roman" panose="02020603050405020304" pitchFamily="18" charset="0"/>
              </a:rPr>
              <a:t>RAM</a:t>
            </a:r>
            <a:r>
              <a:rPr lang="zh-CN" altLang="en-US" sz="2400" dirty="0">
                <a:latin typeface="Times New Roman" panose="02020603050405020304" pitchFamily="18" charset="0"/>
              </a:rPr>
              <a:t>，</a:t>
            </a:r>
            <a:r>
              <a:rPr lang="en-US" altLang="zh-CN" sz="2400" dirty="0">
                <a:latin typeface="Times New Roman" panose="02020603050405020304" pitchFamily="18" charset="0"/>
              </a:rPr>
              <a:t>CPU</a:t>
            </a:r>
            <a:r>
              <a:rPr lang="zh-CN" altLang="en-US" sz="2400" dirty="0">
                <a:latin typeface="Times New Roman" panose="02020603050405020304" pitchFamily="18" charset="0"/>
              </a:rPr>
              <a:t>的地址总线</a:t>
            </a:r>
            <a:r>
              <a:rPr lang="en-US" altLang="zh-CN" sz="2400" dirty="0">
                <a:latin typeface="Times New Roman" panose="02020603050405020304" pitchFamily="18" charset="0"/>
              </a:rPr>
              <a:t>16</a:t>
            </a:r>
            <a:r>
              <a:rPr lang="zh-CN" altLang="en-US" sz="2400" dirty="0">
                <a:latin typeface="Times New Roman" panose="02020603050405020304" pitchFamily="18" charset="0"/>
              </a:rPr>
              <a:t>位。</a:t>
            </a:r>
            <a:endParaRPr lang="zh-CN" altLang="en-US"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各种存储芯片分别用多少片？</a:t>
            </a:r>
            <a:endParaRPr lang="zh-CN" altLang="en-US" sz="2400"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正确选用译码器及门电路，画出相应的逻辑结构图。</a:t>
            </a:r>
            <a:endParaRPr lang="zh-CN" altLang="en-US" sz="2400"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指出有无地址重叠现象。</a:t>
            </a:r>
            <a:endParaRPr lang="zh-CN" altLang="en-US" sz="2400" dirty="0">
              <a:latin typeface="Times New Roman" panose="02020603050405020304" pitchFamily="18" charset="0"/>
            </a:endParaRPr>
          </a:p>
          <a:p>
            <a:endParaRPr lang="en-US" altLang="zh-CN"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解答</a:t>
            </a:r>
            <a:endParaRPr lang="zh-CN" altLang="en-US" dirty="0">
              <a:latin typeface="Times New Roman" panose="02020603050405020304" pitchFamily="18" charset="0"/>
              <a:ea typeface="Times New Roman" panose="02020603050405020304" pitchFamily="18" charset="0"/>
            </a:endParaRPr>
          </a:p>
        </p:txBody>
      </p:sp>
      <p:sp>
        <p:nvSpPr>
          <p:cNvPr id="150530" name="内容占位符 2"/>
          <p:cNvSpPr>
            <a:spLocks noGrp="1"/>
          </p:cNvSpPr>
          <p:nvPr>
            <p:ph idx="1"/>
          </p:nvPr>
        </p:nvSpPr>
        <p:spPr>
          <a:xfrm>
            <a:off x="457200" y="1385888"/>
            <a:ext cx="8229600" cy="1971675"/>
          </a:xfrm>
          <a:noFill/>
          <a:ln>
            <a:noFill/>
          </a:ln>
        </p:spPr>
        <p:txBody>
          <a:bodyPr anchor="t" anchorCtr="0"/>
          <a:p>
            <a:pPr>
              <a:spcBef>
                <a:spcPts val="1800"/>
              </a:spcBef>
            </a:pPr>
            <a:r>
              <a:rPr lang="zh-CN" altLang="en-US" dirty="0">
                <a:latin typeface="Times New Roman" panose="02020603050405020304" pitchFamily="18" charset="0"/>
              </a:rPr>
              <a:t>需要用</a:t>
            </a:r>
            <a:r>
              <a:rPr lang="en-US" altLang="zh-CN" dirty="0">
                <a:latin typeface="Times New Roman" panose="02020603050405020304" pitchFamily="18" charset="0"/>
              </a:rPr>
              <a:t>2K×1</a:t>
            </a:r>
            <a:r>
              <a:rPr lang="zh-CN" altLang="en-US" dirty="0">
                <a:latin typeface="Times New Roman" panose="02020603050405020304" pitchFamily="18" charset="0"/>
              </a:rPr>
              <a:t>的</a:t>
            </a:r>
            <a:r>
              <a:rPr lang="en-US" altLang="zh-CN" dirty="0">
                <a:latin typeface="Times New Roman" panose="02020603050405020304" pitchFamily="18" charset="0"/>
              </a:rPr>
              <a:t>ROM</a:t>
            </a:r>
            <a:r>
              <a:rPr lang="zh-CN" altLang="en-US" dirty="0">
                <a:latin typeface="Times New Roman" panose="02020603050405020304" pitchFamily="18" charset="0"/>
              </a:rPr>
              <a:t>芯片</a:t>
            </a:r>
            <a:r>
              <a:rPr lang="en-US" altLang="zh-CN" dirty="0">
                <a:latin typeface="Times New Roman" panose="02020603050405020304" pitchFamily="18" charset="0"/>
              </a:rPr>
              <a:t>16</a:t>
            </a:r>
            <a:r>
              <a:rPr lang="zh-CN" altLang="en-US" dirty="0">
                <a:latin typeface="Times New Roman" panose="02020603050405020304" pitchFamily="18" charset="0"/>
              </a:rPr>
              <a:t>片，</a:t>
            </a:r>
            <a:r>
              <a:rPr lang="en-US" altLang="zh-CN" dirty="0">
                <a:latin typeface="Times New Roman" panose="02020603050405020304" pitchFamily="18" charset="0"/>
              </a:rPr>
              <a:t>4K×1</a:t>
            </a:r>
            <a:r>
              <a:rPr lang="zh-CN" altLang="en-US" dirty="0">
                <a:latin typeface="Times New Roman" panose="02020603050405020304" pitchFamily="18" charset="0"/>
              </a:rPr>
              <a:t>的</a:t>
            </a:r>
            <a:r>
              <a:rPr lang="en-US" altLang="zh-CN" dirty="0">
                <a:latin typeface="Times New Roman" panose="02020603050405020304" pitchFamily="18" charset="0"/>
              </a:rPr>
              <a:t>RAM</a:t>
            </a:r>
            <a:r>
              <a:rPr lang="zh-CN" altLang="en-US" dirty="0">
                <a:latin typeface="Times New Roman" panose="02020603050405020304" pitchFamily="18" charset="0"/>
              </a:rPr>
              <a:t>芯片</a:t>
            </a:r>
            <a:r>
              <a:rPr lang="en-US" altLang="zh-CN" dirty="0">
                <a:latin typeface="Times New Roman" panose="02020603050405020304" pitchFamily="18" charset="0"/>
              </a:rPr>
              <a:t>24</a:t>
            </a:r>
            <a:r>
              <a:rPr lang="zh-CN" altLang="en-US" dirty="0">
                <a:latin typeface="Times New Roman" panose="02020603050405020304" pitchFamily="18" charset="0"/>
              </a:rPr>
              <a:t>片。不能使用</a:t>
            </a:r>
            <a:r>
              <a:rPr lang="en-US" altLang="zh-CN" dirty="0">
                <a:latin typeface="Times New Roman" panose="02020603050405020304" pitchFamily="18" charset="0"/>
              </a:rPr>
              <a:t>8K×1</a:t>
            </a:r>
            <a:r>
              <a:rPr lang="zh-CN" altLang="en-US" dirty="0">
                <a:latin typeface="Times New Roman" panose="02020603050405020304" pitchFamily="18" charset="0"/>
              </a:rPr>
              <a:t>的</a:t>
            </a:r>
            <a:r>
              <a:rPr lang="en-US" altLang="zh-CN" dirty="0">
                <a:latin typeface="Times New Roman" panose="02020603050405020304" pitchFamily="18" charset="0"/>
              </a:rPr>
              <a:t>ROM</a:t>
            </a:r>
            <a:r>
              <a:rPr lang="zh-CN" altLang="en-US" dirty="0">
                <a:latin typeface="Times New Roman" panose="02020603050405020304" pitchFamily="18" charset="0"/>
              </a:rPr>
              <a:t>芯片，因为它大于</a:t>
            </a:r>
            <a:r>
              <a:rPr lang="en-US" altLang="zh-CN" dirty="0">
                <a:latin typeface="Times New Roman" panose="02020603050405020304" pitchFamily="18" charset="0"/>
              </a:rPr>
              <a:t>ROM</a:t>
            </a:r>
            <a:r>
              <a:rPr lang="zh-CN" altLang="en-US" dirty="0">
                <a:latin typeface="Times New Roman" panose="02020603050405020304" pitchFamily="18" charset="0"/>
              </a:rPr>
              <a:t>应有的空间。</a:t>
            </a:r>
            <a:endParaRPr lang="zh-CN" altLang="en-US" dirty="0">
              <a:latin typeface="Times New Roman" panose="02020603050405020304" pitchFamily="18" charset="0"/>
            </a:endParaRPr>
          </a:p>
          <a:p>
            <a:pPr>
              <a:spcBef>
                <a:spcPts val="1800"/>
              </a:spcBef>
            </a:pPr>
            <a:r>
              <a:rPr lang="zh-CN" altLang="en-US" dirty="0">
                <a:latin typeface="Times New Roman" panose="02020603050405020304" pitchFamily="18" charset="0"/>
              </a:rPr>
              <a:t>各存储芯片的地址分配如下：</a:t>
            </a:r>
            <a:endParaRPr lang="zh-CN" altLang="en-US" dirty="0">
              <a:latin typeface="Times New Roman" panose="02020603050405020304" pitchFamily="18" charset="0"/>
              <a:ea typeface="Times New Roman" panose="02020603050405020304" pitchFamily="18" charset="0"/>
            </a:endParaRPr>
          </a:p>
        </p:txBody>
      </p:sp>
      <p:pic>
        <p:nvPicPr>
          <p:cNvPr id="150531" name="Picture 7" descr="11"/>
          <p:cNvPicPr>
            <a:picLocks noChangeAspect="1"/>
          </p:cNvPicPr>
          <p:nvPr/>
        </p:nvPicPr>
        <p:blipFill>
          <a:blip r:embed="rId1"/>
          <a:stretch>
            <a:fillRect/>
          </a:stretch>
        </p:blipFill>
        <p:spPr>
          <a:xfrm>
            <a:off x="1116013" y="3589338"/>
            <a:ext cx="6408737" cy="2644775"/>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解答</a:t>
            </a:r>
            <a:endParaRPr lang="zh-CN" altLang="en-US" dirty="0">
              <a:latin typeface="Times New Roman" panose="02020603050405020304" pitchFamily="18" charset="0"/>
              <a:ea typeface="Times New Roman" panose="02020603050405020304" pitchFamily="18" charset="0"/>
            </a:endParaRPr>
          </a:p>
        </p:txBody>
      </p:sp>
      <p:pic>
        <p:nvPicPr>
          <p:cNvPr id="151554" name="Picture 2" descr="22"/>
          <p:cNvPicPr>
            <a:picLocks noChangeAspect="1"/>
          </p:cNvPicPr>
          <p:nvPr/>
        </p:nvPicPr>
        <p:blipFill>
          <a:blip r:embed="rId1"/>
          <a:stretch>
            <a:fillRect/>
          </a:stretch>
        </p:blipFill>
        <p:spPr>
          <a:xfrm>
            <a:off x="755650" y="1196975"/>
            <a:ext cx="5327650" cy="5214938"/>
          </a:xfrm>
          <a:prstGeom prst="rect">
            <a:avLst/>
          </a:prstGeom>
          <a:noFill/>
          <a:ln w="9525">
            <a:noFill/>
          </a:ln>
        </p:spPr>
      </p:pic>
      <p:sp>
        <p:nvSpPr>
          <p:cNvPr id="5" name="Text Box 3"/>
          <p:cNvSpPr txBox="1">
            <a:spLocks noChangeArrowheads="1"/>
          </p:cNvSpPr>
          <p:nvPr/>
        </p:nvSpPr>
        <p:spPr bwMode="auto">
          <a:xfrm>
            <a:off x="6588125" y="2636838"/>
            <a:ext cx="17907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有地址重叠现象。因为地址线</a:t>
            </a:r>
            <a:r>
              <a:rPr kumimoji="0"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A15</a:t>
            </a: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A14</a:t>
            </a:r>
            <a:r>
              <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rPr>
              <a:t>没有参加译码</a:t>
            </a:r>
            <a:endParaRPr kumimoji="0" lang="zh-CN" altLang="en-US" sz="2000" b="1" i="0" u="none" strike="noStrike" kern="1200" cap="none" spc="0" normalizeH="0" baseline="0" noProof="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课堂</a:t>
            </a:r>
            <a:r>
              <a:rPr lang="zh-CN" altLang="en-US"/>
              <a:t>练习</a:t>
            </a:r>
            <a:endParaRPr lang="zh-CN" altLang="en-US"/>
          </a:p>
        </p:txBody>
      </p:sp>
      <p:sp>
        <p:nvSpPr>
          <p:cNvPr id="3" name="内容占位符 2"/>
          <p:cNvSpPr>
            <a:spLocks noGrp="1"/>
          </p:cNvSpPr>
          <p:nvPr>
            <p:ph idx="1"/>
          </p:nvPr>
        </p:nvSpPr>
        <p:spPr/>
        <p:txBody>
          <a:bodyPr/>
          <a:p>
            <a:pPr latinLnBrk="0">
              <a:spcBef>
                <a:spcPts val="1200"/>
              </a:spcBef>
            </a:pPr>
            <a:r>
              <a:rPr lang="zh-CN" altLang="en-US">
                <a:latin typeface="Times New Roman" panose="02020603050405020304" pitchFamily="18" charset="0"/>
                <a:sym typeface="+mn-ea"/>
              </a:rPr>
              <a:t>用容量为</a:t>
            </a:r>
            <a:r>
              <a:rPr lang="en-US" altLang="zh-CN">
                <a:latin typeface="Times New Roman" panose="02020603050405020304" pitchFamily="18" charset="0"/>
                <a:sym typeface="+mn-ea"/>
              </a:rPr>
              <a:t>16k*1</a:t>
            </a:r>
            <a:r>
              <a:rPr lang="zh-CN" altLang="en-US">
                <a:latin typeface="Times New Roman" panose="02020603050405020304" pitchFamily="18" charset="0"/>
                <a:sym typeface="+mn-ea"/>
              </a:rPr>
              <a:t>的</a:t>
            </a:r>
            <a:r>
              <a:rPr lang="en-US" altLang="zh-CN">
                <a:latin typeface="Times New Roman" panose="02020603050405020304" pitchFamily="18" charset="0"/>
                <a:sym typeface="+mn-ea"/>
              </a:rPr>
              <a:t>DRAM</a:t>
            </a:r>
            <a:r>
              <a:rPr lang="zh-CN" altLang="en-US">
                <a:latin typeface="Times New Roman" panose="02020603050405020304" pitchFamily="18" charset="0"/>
                <a:sym typeface="+mn-ea"/>
              </a:rPr>
              <a:t>芯片构成</a:t>
            </a:r>
            <a:r>
              <a:rPr lang="en-US" altLang="zh-CN">
                <a:latin typeface="Times New Roman" panose="02020603050405020304" pitchFamily="18" charset="0"/>
                <a:sym typeface="+mn-ea"/>
              </a:rPr>
              <a:t>64KB</a:t>
            </a:r>
            <a:r>
              <a:rPr lang="zh-CN" altLang="en-US">
                <a:latin typeface="Times New Roman" panose="02020603050405020304" pitchFamily="18" charset="0"/>
                <a:sym typeface="+mn-ea"/>
              </a:rPr>
              <a:t>的存储器</a:t>
            </a:r>
            <a:r>
              <a:rPr lang="en-US" altLang="zh-CN">
                <a:latin typeface="Times New Roman" panose="02020603050405020304" pitchFamily="18" charset="0"/>
                <a:sym typeface="+mn-ea"/>
              </a:rPr>
              <a:t>:</a:t>
            </a:r>
            <a:endParaRPr lang="zh-CN" altLang="en-US">
              <a:latin typeface="Times New Roman" panose="02020603050405020304" pitchFamily="18" charset="0"/>
            </a:endParaRPr>
          </a:p>
          <a:p>
            <a:pPr lvl="1" latinLnBrk="0">
              <a:spcBef>
                <a:spcPts val="600"/>
              </a:spcBef>
            </a:pPr>
            <a:r>
              <a:rPr lang="zh-CN" altLang="en-US" sz="2400">
                <a:latin typeface="Times New Roman" panose="02020603050405020304" pitchFamily="18" charset="0"/>
                <a:sym typeface="+mn-ea"/>
              </a:rPr>
              <a:t>画出该存储器的结构框图</a:t>
            </a:r>
            <a:r>
              <a:rPr lang="en-US" altLang="zh-CN" sz="2400">
                <a:latin typeface="Times New Roman" panose="02020603050405020304" pitchFamily="18" charset="0"/>
                <a:sym typeface="+mn-ea"/>
              </a:rPr>
              <a:t>;</a:t>
            </a:r>
            <a:endParaRPr lang="en-US" altLang="zh-CN" sz="2400">
              <a:latin typeface="Times New Roman" panose="02020603050405020304" pitchFamily="18" charset="0"/>
            </a:endParaRPr>
          </a:p>
          <a:p>
            <a:pPr lvl="1" latinLnBrk="0">
              <a:lnSpc>
                <a:spcPct val="100000"/>
              </a:lnSpc>
              <a:spcBef>
                <a:spcPts val="600"/>
              </a:spcBef>
            </a:pPr>
            <a:r>
              <a:rPr lang="en-US" altLang="zh-CN" sz="2400">
                <a:latin typeface="Times New Roman" panose="02020603050405020304" pitchFamily="18" charset="0"/>
                <a:sym typeface="+mn-ea"/>
              </a:rPr>
              <a:t>设存储器的读／写周期均为0.5μs ，CPU 在 1μs 内至少要访存一次,试问采用哪种刷新方式比较合理? 相邻两行之间的刷新间隔是多少? 对全部存储单元刷新一遍所需的实际刷新时间是多少?</a:t>
            </a:r>
            <a:endParaRPr lang="en-US" altLang="zh-CN" sz="2400">
              <a:latin typeface="Times New Roman" panose="02020603050405020304" pitchFamily="18" charset="0"/>
            </a:endParaRPr>
          </a:p>
          <a:p>
            <a:endParaRPr lang="en-US" altLang="zh-CN" dirty="0">
              <a:latin typeface="Times New Roman" panose="02020603050405020304" pitchFamily="18" charset="0"/>
              <a:ea typeface="Times New Roman" panose="02020603050405020304" pitchFamily="18" charset="0"/>
            </a:endParaRPr>
          </a:p>
          <a:p>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*5.4.5 PC</a:t>
            </a:r>
            <a:r>
              <a:rPr lang="zh-CN" altLang="en-US" dirty="0">
                <a:latin typeface="Times New Roman" panose="02020603050405020304" pitchFamily="18" charset="0"/>
              </a:rPr>
              <a:t>系列微机的存储器接口</a:t>
            </a:r>
            <a:endParaRPr lang="zh-CN" altLang="en-US" dirty="0">
              <a:latin typeface="Times New Roman" panose="02020603050405020304" pitchFamily="18" charset="0"/>
              <a:ea typeface="Times New Roman" panose="02020603050405020304" pitchFamily="18" charset="0"/>
            </a:endParaRPr>
          </a:p>
        </p:txBody>
      </p:sp>
      <p:sp>
        <p:nvSpPr>
          <p:cNvPr id="97282" name="内容占位符 2"/>
          <p:cNvSpPr>
            <a:spLocks noGrp="1"/>
          </p:cNvSpPr>
          <p:nvPr>
            <p:ph idx="1"/>
          </p:nvPr>
        </p:nvSpPr>
        <p:spPr>
          <a:noFill/>
          <a:ln>
            <a:noFill/>
          </a:ln>
        </p:spPr>
        <p:txBody>
          <a:bodyPr anchor="t" anchorCtr="0"/>
          <a:p>
            <a:pPr algn="just"/>
            <a:r>
              <a:rPr lang="en-US" altLang="zh-CN" dirty="0">
                <a:latin typeface="Times New Roman" panose="02020603050405020304" pitchFamily="18" charset="0"/>
              </a:rPr>
              <a:t>1. 8</a:t>
            </a:r>
            <a:r>
              <a:rPr lang="zh-CN" altLang="en-US" dirty="0">
                <a:latin typeface="Times New Roman" panose="02020603050405020304" pitchFamily="18" charset="0"/>
              </a:rPr>
              <a:t>位存储器接口</a:t>
            </a:r>
            <a:endParaRPr lang="zh-CN" altLang="en-US" dirty="0">
              <a:latin typeface="Times New Roman" panose="02020603050405020304" pitchFamily="18" charset="0"/>
            </a:endParaRPr>
          </a:p>
          <a:p>
            <a:pPr lvl="1" algn="just">
              <a:spcBef>
                <a:spcPts val="1800"/>
              </a:spcBef>
            </a:pPr>
            <a:r>
              <a:rPr lang="zh-CN" altLang="en-US" sz="2400" dirty="0">
                <a:latin typeface="Times New Roman" panose="02020603050405020304" pitchFamily="18" charset="0"/>
              </a:rPr>
              <a:t>如果数据总线为</a:t>
            </a:r>
            <a:r>
              <a:rPr lang="en-US" altLang="zh-CN" sz="2400" dirty="0">
                <a:latin typeface="Times New Roman" panose="02020603050405020304" pitchFamily="18" charset="0"/>
              </a:rPr>
              <a:t>8</a:t>
            </a:r>
            <a:r>
              <a:rPr lang="zh-CN" altLang="en-US" sz="2400" dirty="0">
                <a:latin typeface="Times New Roman" panose="02020603050405020304" pitchFamily="18" charset="0"/>
              </a:rPr>
              <a:t>位，而主存按字节编址；</a:t>
            </a:r>
            <a:endParaRPr lang="zh-CN" altLang="en-US" sz="2400" dirty="0">
              <a:latin typeface="Times New Roman" panose="02020603050405020304" pitchFamily="18" charset="0"/>
            </a:endParaRPr>
          </a:p>
          <a:p>
            <a:pPr lvl="1" algn="just">
              <a:spcBef>
                <a:spcPts val="1800"/>
              </a:spcBef>
            </a:pPr>
            <a:r>
              <a:rPr lang="zh-CN" altLang="en-US" sz="2400" dirty="0">
                <a:solidFill>
                  <a:srgbClr val="FF0000"/>
                </a:solidFill>
                <a:latin typeface="Times New Roman" panose="02020603050405020304" pitchFamily="18" charset="0"/>
              </a:rPr>
              <a:t>总线周期：</a:t>
            </a:r>
            <a:r>
              <a:rPr lang="zh-CN" altLang="en-US" sz="2400" dirty="0">
                <a:latin typeface="Times New Roman" panose="02020603050405020304" pitchFamily="18" charset="0"/>
              </a:rPr>
              <a:t>占用</a:t>
            </a:r>
            <a:r>
              <a:rPr lang="en-US" altLang="zh-CN" sz="2400" dirty="0">
                <a:solidFill>
                  <a:srgbClr val="FF0000"/>
                </a:solidFill>
                <a:latin typeface="Times New Roman" panose="02020603050405020304" pitchFamily="18" charset="0"/>
              </a:rPr>
              <a:t>4</a:t>
            </a:r>
            <a:r>
              <a:rPr lang="zh-CN" altLang="en-US" sz="2400" dirty="0">
                <a:solidFill>
                  <a:srgbClr val="FF0000"/>
                </a:solidFill>
                <a:latin typeface="Times New Roman" panose="02020603050405020304" pitchFamily="18" charset="0"/>
              </a:rPr>
              <a:t>个</a:t>
            </a:r>
            <a:r>
              <a:rPr lang="en-US" altLang="zh-CN" sz="2400" dirty="0">
                <a:solidFill>
                  <a:srgbClr val="FF0000"/>
                </a:solidFill>
                <a:latin typeface="Times New Roman" panose="02020603050405020304" pitchFamily="18" charset="0"/>
              </a:rPr>
              <a:t>CPU</a:t>
            </a:r>
            <a:r>
              <a:rPr lang="zh-CN" altLang="en-US" sz="2400" dirty="0">
                <a:solidFill>
                  <a:srgbClr val="FF0000"/>
                </a:solidFill>
                <a:latin typeface="Times New Roman" panose="02020603050405020304" pitchFamily="18" charset="0"/>
              </a:rPr>
              <a:t>时钟周期</a:t>
            </a:r>
            <a:r>
              <a:rPr lang="zh-CN" altLang="en-US" sz="2400" dirty="0">
                <a:latin typeface="Times New Roman" panose="02020603050405020304" pitchFamily="18" charset="0"/>
              </a:rPr>
              <a:t>，称为</a:t>
            </a:r>
            <a:r>
              <a:rPr lang="en-US" altLang="zh-CN" sz="2400" dirty="0">
                <a:latin typeface="Times New Roman" panose="02020603050405020304" pitchFamily="18" charset="0"/>
              </a:rPr>
              <a:t>T1</a:t>
            </a:r>
            <a:r>
              <a:rPr lang="zh-CN" altLang="en-US" sz="2400" dirty="0">
                <a:latin typeface="Times New Roman" panose="02020603050405020304" pitchFamily="18" charset="0"/>
              </a:rPr>
              <a:t>～</a:t>
            </a:r>
            <a:r>
              <a:rPr lang="en-US" altLang="zh-CN" sz="2400" dirty="0">
                <a:latin typeface="Times New Roman" panose="02020603050405020304" pitchFamily="18" charset="0"/>
              </a:rPr>
              <a:t>T4</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lgn="just">
              <a:spcBef>
                <a:spcPts val="1800"/>
              </a:spcBef>
            </a:pPr>
            <a:r>
              <a:rPr lang="zh-CN" altLang="en-US" sz="2400" dirty="0">
                <a:latin typeface="Times New Roman" panose="02020603050405020304" pitchFamily="18" charset="0"/>
              </a:rPr>
              <a:t>总线周期就等于存取周期，一个总线周期可读写</a:t>
            </a:r>
            <a:r>
              <a:rPr lang="en-US" altLang="zh-CN" sz="2400" dirty="0">
                <a:latin typeface="Times New Roman" panose="02020603050405020304" pitchFamily="18" charset="0"/>
              </a:rPr>
              <a:t>8</a:t>
            </a:r>
            <a:r>
              <a:rPr lang="zh-CN" altLang="en-US" sz="2400" dirty="0">
                <a:latin typeface="Times New Roman" panose="02020603050405020304" pitchFamily="18" charset="0"/>
              </a:rPr>
              <a:t>位。</a:t>
            </a:r>
            <a:endParaRPr lang="zh-CN" altLang="en-US" sz="2400" dirty="0">
              <a:latin typeface="Times New Roman" panose="02020603050405020304" pitchFamily="18" charset="0"/>
            </a:endParaRPr>
          </a:p>
          <a:p>
            <a:pPr algn="just"/>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2. 16</a:t>
            </a:r>
            <a:r>
              <a:rPr lang="zh-CN" altLang="en-US" dirty="0">
                <a:latin typeface="Times New Roman" panose="02020603050405020304" pitchFamily="18" charset="0"/>
              </a:rPr>
              <a:t>位存储器接口</a:t>
            </a:r>
            <a:endParaRPr lang="zh-CN" altLang="en-US" dirty="0">
              <a:latin typeface="Times New Roman" panose="02020603050405020304" pitchFamily="18" charset="0"/>
              <a:ea typeface="Times New Roman" panose="02020603050405020304" pitchFamily="18" charset="0"/>
            </a:endParaRPr>
          </a:p>
        </p:txBody>
      </p:sp>
      <p:sp>
        <p:nvSpPr>
          <p:cNvPr id="98306" name="内容占位符 2"/>
          <p:cNvSpPr>
            <a:spLocks noGrp="1"/>
          </p:cNvSpPr>
          <p:nvPr>
            <p:ph idx="1"/>
          </p:nvPr>
        </p:nvSpPr>
        <p:spPr>
          <a:noFill/>
          <a:ln>
            <a:noFill/>
          </a:ln>
        </p:spPr>
        <p:txBody>
          <a:bodyPr anchor="t" anchorCtr="0"/>
          <a:p>
            <a:pPr algn="just"/>
            <a:r>
              <a:rPr lang="zh-CN" altLang="en-US" dirty="0">
                <a:solidFill>
                  <a:srgbClr val="FF0000"/>
                </a:solidFill>
                <a:latin typeface="Times New Roman" panose="02020603050405020304" pitchFamily="18" charset="0"/>
              </a:rPr>
              <a:t>在一个总线周期内最多可读写两个字节</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用低</a:t>
            </a:r>
            <a:r>
              <a:rPr lang="en-US" altLang="zh-CN" sz="2400" dirty="0">
                <a:latin typeface="Times New Roman" panose="02020603050405020304" pitchFamily="18" charset="0"/>
              </a:rPr>
              <a:t>8</a:t>
            </a:r>
            <a:r>
              <a:rPr lang="zh-CN" altLang="en-US" sz="2400" dirty="0">
                <a:latin typeface="Times New Roman" panose="02020603050405020304" pitchFamily="18" charset="0"/>
              </a:rPr>
              <a:t>位数据总线传送偶地址单元的数据；</a:t>
            </a:r>
            <a:endParaRPr lang="zh-CN" altLang="en-US"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用高</a:t>
            </a:r>
            <a:r>
              <a:rPr lang="en-US" altLang="zh-CN" sz="2400" dirty="0">
                <a:latin typeface="Times New Roman" panose="02020603050405020304" pitchFamily="18" charset="0"/>
              </a:rPr>
              <a:t>8</a:t>
            </a:r>
            <a:r>
              <a:rPr lang="zh-CN" altLang="en-US" sz="2400" dirty="0">
                <a:latin typeface="Times New Roman" panose="02020603050405020304" pitchFamily="18" charset="0"/>
              </a:rPr>
              <a:t>位数据总线传送奇地址单元的数据；</a:t>
            </a:r>
            <a:endParaRPr lang="zh-CN" altLang="en-US"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如果读写的是非规则字，则需要安排两个总线周期</a:t>
            </a:r>
            <a:r>
              <a:rPr lang="zh-CN" altLang="zh-CN" sz="2400" dirty="0">
                <a:latin typeface="Times New Roman" panose="02020603050405020304" pitchFamily="18" charset="0"/>
              </a:rPr>
              <a:t>。</a:t>
            </a:r>
            <a:endParaRPr lang="zh-CN" altLang="zh-CN" sz="2400" dirty="0">
              <a:latin typeface="Times New Roman" panose="02020603050405020304" pitchFamily="18" charset="0"/>
            </a:endParaRPr>
          </a:p>
          <a:p>
            <a:pPr algn="just" latinLnBrk="0">
              <a:spcBef>
                <a:spcPts val="1800"/>
              </a:spcBef>
            </a:pPr>
            <a:r>
              <a:rPr lang="zh-CN" altLang="en-US" dirty="0">
                <a:latin typeface="Times New Roman" panose="02020603050405020304" pitchFamily="18" charset="0"/>
              </a:rPr>
              <a:t>可以将存储器分为两个存储体：</a:t>
            </a:r>
            <a:endParaRPr lang="zh-CN" altLang="en-US"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一个存储体地址均为偶数，与低</a:t>
            </a:r>
            <a:r>
              <a:rPr lang="en-US" altLang="zh-CN" sz="2400" dirty="0">
                <a:latin typeface="Times New Roman" panose="02020603050405020304" pitchFamily="18" charset="0"/>
              </a:rPr>
              <a:t>8</a:t>
            </a:r>
            <a:r>
              <a:rPr lang="zh-CN" altLang="en-US" sz="2400" dirty="0">
                <a:latin typeface="Times New Roman" panose="02020603050405020304" pitchFamily="18" charset="0"/>
              </a:rPr>
              <a:t>位数据总线相连；</a:t>
            </a:r>
            <a:endParaRPr lang="zh-CN" altLang="en-US"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另一个存储体地址均为奇数，与高</a:t>
            </a:r>
            <a:r>
              <a:rPr lang="en-US" altLang="zh-CN" sz="2400" dirty="0">
                <a:latin typeface="Times New Roman" panose="02020603050405020304" pitchFamily="18" charset="0"/>
              </a:rPr>
              <a:t>8</a:t>
            </a:r>
            <a:r>
              <a:rPr lang="zh-CN" altLang="en-US" sz="2400" dirty="0">
                <a:latin typeface="Times New Roman" panose="02020603050405020304" pitchFamily="18" charset="0"/>
              </a:rPr>
              <a:t>位数据总线相连。</a:t>
            </a:r>
            <a:endParaRPr lang="zh-CN" altLang="en-US" sz="2400" dirty="0">
              <a:latin typeface="Times New Roman" panose="02020603050405020304" pitchFamily="18" charset="0"/>
            </a:endParaRPr>
          </a:p>
          <a:p>
            <a:pPr algn="just"/>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8086</a:t>
            </a:r>
            <a:r>
              <a:rPr lang="zh-CN" altLang="en-US" dirty="0">
                <a:latin typeface="Times New Roman" panose="02020603050405020304" pitchFamily="18" charset="0"/>
              </a:rPr>
              <a:t>的存储器组织</a:t>
            </a:r>
            <a:endParaRPr lang="zh-CN" altLang="en-US" dirty="0">
              <a:latin typeface="Times New Roman" panose="02020603050405020304" pitchFamily="18" charset="0"/>
              <a:ea typeface="Times New Roman" panose="02020603050405020304" pitchFamily="18" charset="0"/>
            </a:endParaRPr>
          </a:p>
        </p:txBody>
      </p:sp>
      <p:graphicFrame>
        <p:nvGraphicFramePr>
          <p:cNvPr id="99330" name="Object 4"/>
          <p:cNvGraphicFramePr>
            <a:graphicFrameLocks noChangeAspect="1"/>
          </p:cNvGraphicFramePr>
          <p:nvPr/>
        </p:nvGraphicFramePr>
        <p:xfrm>
          <a:off x="107950" y="1268413"/>
          <a:ext cx="6477000" cy="4308475"/>
        </p:xfrm>
        <a:graphic>
          <a:graphicData uri="http://schemas.openxmlformats.org/presentationml/2006/ole">
            <mc:AlternateContent xmlns:mc="http://schemas.openxmlformats.org/markup-compatibility/2006">
              <mc:Choice xmlns:v="urn:schemas-microsoft-com:vml" Requires="v">
                <p:oleObj spid="_x0000_s3090" name="" r:id="rId1" imgW="3390900" imgH="2255520" progId="Visio.Drawing.6">
                  <p:embed/>
                </p:oleObj>
              </mc:Choice>
              <mc:Fallback>
                <p:oleObj name="" r:id="rId1" imgW="3390900" imgH="2255520" progId="Visio.Drawing.6">
                  <p:embed/>
                  <p:pic>
                    <p:nvPicPr>
                      <p:cNvPr id="0" name="图片 3089"/>
                      <p:cNvPicPr/>
                      <p:nvPr/>
                    </p:nvPicPr>
                    <p:blipFill>
                      <a:blip r:embed="rId2"/>
                      <a:stretch>
                        <a:fillRect/>
                      </a:stretch>
                    </p:blipFill>
                    <p:spPr>
                      <a:xfrm>
                        <a:off x="107950" y="1268413"/>
                        <a:ext cx="6477000" cy="4308475"/>
                      </a:xfrm>
                      <a:prstGeom prst="rect">
                        <a:avLst/>
                      </a:prstGeom>
                      <a:noFill/>
                      <a:ln w="38100">
                        <a:noFill/>
                        <a:miter/>
                      </a:ln>
                    </p:spPr>
                  </p:pic>
                </p:oleObj>
              </mc:Fallback>
            </mc:AlternateContent>
          </a:graphicData>
        </a:graphic>
      </p:graphicFrame>
      <p:sp>
        <p:nvSpPr>
          <p:cNvPr id="5" name="Rectangle 6"/>
          <p:cNvSpPr txBox="1">
            <a:spLocks noChangeArrowheads="1"/>
          </p:cNvSpPr>
          <p:nvPr/>
        </p:nvSpPr>
        <p:spPr bwMode="auto">
          <a:xfrm>
            <a:off x="881063" y="5576888"/>
            <a:ext cx="5216525"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图5-21 </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8086</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的存储器组织</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99332" name="文本框 5"/>
          <p:cNvSpPr txBox="1"/>
          <p:nvPr/>
        </p:nvSpPr>
        <p:spPr>
          <a:xfrm>
            <a:off x="6372225" y="1412875"/>
            <a:ext cx="2314575" cy="4000500"/>
          </a:xfrm>
          <a:prstGeom prst="rect">
            <a:avLst/>
          </a:prstGeom>
          <a:noFill/>
          <a:ln w="9525">
            <a:noFill/>
          </a:ln>
        </p:spPr>
        <p:txBody>
          <a:bodyPr anchor="t" anchorCtr="0">
            <a:spAutoFit/>
          </a:bodyPr>
          <a:p>
            <a:pPr marL="285750" indent="-285750" eaLnBrk="0" hangingPunct="0">
              <a:buFont typeface="Wingdings" panose="05000000000000000000" pitchFamily="2" charset="2"/>
              <a:buChar char="n"/>
            </a:pPr>
            <a:r>
              <a:rPr lang="en-US" altLang="zh-CN" dirty="0">
                <a:solidFill>
                  <a:srgbClr val="0000FF"/>
                </a:solidFill>
                <a:latin typeface="Times New Roman" panose="02020603050405020304" pitchFamily="18" charset="0"/>
                <a:ea typeface="宋体" panose="02010600030101010101" pitchFamily="2" charset="-122"/>
              </a:rPr>
              <a:t>8086</a:t>
            </a:r>
            <a:r>
              <a:rPr lang="zh-CN" altLang="en-US" dirty="0">
                <a:solidFill>
                  <a:srgbClr val="0000FF"/>
                </a:solidFill>
                <a:latin typeface="Times New Roman" panose="02020603050405020304" pitchFamily="18" charset="0"/>
                <a:ea typeface="宋体" panose="02010600030101010101" pitchFamily="2" charset="-122"/>
              </a:rPr>
              <a:t>和主存之间可以传送一个字节（</a:t>
            </a:r>
            <a:r>
              <a:rPr lang="en-US" altLang="zh-CN" dirty="0">
                <a:solidFill>
                  <a:srgbClr val="0000FF"/>
                </a:solidFill>
                <a:latin typeface="Times New Roman" panose="02020603050405020304" pitchFamily="18" charset="0"/>
                <a:ea typeface="宋体" panose="02010600030101010101" pitchFamily="2" charset="-122"/>
              </a:rPr>
              <a:t>8</a:t>
            </a:r>
            <a:r>
              <a:rPr lang="zh-CN" altLang="en-US" dirty="0">
                <a:solidFill>
                  <a:srgbClr val="0000FF"/>
                </a:solidFill>
                <a:latin typeface="Times New Roman" panose="02020603050405020304" pitchFamily="18" charset="0"/>
                <a:ea typeface="宋体" panose="02010600030101010101" pitchFamily="2" charset="-122"/>
              </a:rPr>
              <a:t>位）数据，也可以传送一个字（</a:t>
            </a:r>
            <a:r>
              <a:rPr lang="en-US" altLang="zh-CN" dirty="0">
                <a:solidFill>
                  <a:srgbClr val="0000FF"/>
                </a:solidFill>
                <a:latin typeface="Times New Roman" panose="02020603050405020304" pitchFamily="18" charset="0"/>
                <a:ea typeface="宋体" panose="02010600030101010101" pitchFamily="2" charset="-122"/>
              </a:rPr>
              <a:t>16</a:t>
            </a:r>
            <a:r>
              <a:rPr lang="zh-CN" altLang="en-US" dirty="0">
                <a:solidFill>
                  <a:srgbClr val="0000FF"/>
                </a:solidFill>
                <a:latin typeface="Times New Roman" panose="02020603050405020304" pitchFamily="18" charset="0"/>
                <a:ea typeface="宋体" panose="02010600030101010101" pitchFamily="2" charset="-122"/>
              </a:rPr>
              <a:t>位）数据；</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n"/>
            </a:pPr>
            <a:r>
              <a:rPr lang="en-US" altLang="zh-CN" dirty="0">
                <a:solidFill>
                  <a:srgbClr val="0000FF"/>
                </a:solidFill>
                <a:latin typeface="Times New Roman" panose="02020603050405020304" pitchFamily="18" charset="0"/>
                <a:ea typeface="宋体" panose="02010600030101010101" pitchFamily="2" charset="-122"/>
              </a:rPr>
              <a:t>8086</a:t>
            </a:r>
            <a:r>
              <a:rPr lang="zh-CN" altLang="en-US" dirty="0">
                <a:solidFill>
                  <a:srgbClr val="0000FF"/>
                </a:solidFill>
                <a:latin typeface="Times New Roman" panose="02020603050405020304" pitchFamily="18" charset="0"/>
                <a:ea typeface="宋体" panose="02010600030101010101" pitchFamily="2" charset="-122"/>
              </a:rPr>
              <a:t>微处理器的地址线</a:t>
            </a:r>
            <a:r>
              <a:rPr lang="en-US" altLang="zh-CN" dirty="0">
                <a:solidFill>
                  <a:srgbClr val="0000FF"/>
                </a:solidFill>
                <a:latin typeface="Times New Roman" panose="02020603050405020304" pitchFamily="18" charset="0"/>
                <a:ea typeface="宋体" panose="02010600030101010101" pitchFamily="2" charset="-122"/>
              </a:rPr>
              <a:t>A19</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A1</a:t>
            </a:r>
            <a:r>
              <a:rPr lang="zh-CN" altLang="en-US" dirty="0">
                <a:solidFill>
                  <a:srgbClr val="0000FF"/>
                </a:solidFill>
                <a:latin typeface="Times New Roman" panose="02020603050405020304" pitchFamily="18" charset="0"/>
                <a:ea typeface="宋体" panose="02010600030101010101" pitchFamily="2" charset="-122"/>
              </a:rPr>
              <a:t>同时送至两个存储体</a:t>
            </a:r>
            <a:r>
              <a:rPr lang="en-US" altLang="zh-CN" dirty="0">
                <a:solidFill>
                  <a:srgbClr val="0000FF"/>
                </a:solidFill>
                <a:latin typeface="Times New Roman" panose="02020603050405020304" pitchFamily="18" charset="0"/>
                <a:ea typeface="宋体" panose="02010600030101010101" pitchFamily="2" charset="-122"/>
              </a:rPr>
              <a:t>;</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n"/>
            </a:pPr>
            <a:r>
              <a:rPr lang="zh-CN" altLang="en-US" dirty="0">
                <a:solidFill>
                  <a:srgbClr val="0000FF"/>
                </a:solidFill>
                <a:latin typeface="Times New Roman" panose="02020603050405020304" pitchFamily="18" charset="0"/>
                <a:ea typeface="宋体" panose="02010600030101010101" pitchFamily="2" charset="-122"/>
              </a:rPr>
              <a:t>     （高位存储体）和最低位地址线</a:t>
            </a:r>
            <a:r>
              <a:rPr lang="en-US" altLang="zh-CN" dirty="0">
                <a:solidFill>
                  <a:srgbClr val="0000FF"/>
                </a:solidFill>
                <a:latin typeface="Times New Roman" panose="02020603050405020304" pitchFamily="18" charset="0"/>
                <a:ea typeface="宋体" panose="02010600030101010101" pitchFamily="2" charset="-122"/>
              </a:rPr>
              <a:t>A0</a:t>
            </a:r>
            <a:r>
              <a:rPr lang="zh-CN" altLang="en-US" dirty="0">
                <a:solidFill>
                  <a:srgbClr val="0000FF"/>
                </a:solidFill>
                <a:latin typeface="Times New Roman" panose="02020603050405020304" pitchFamily="18" charset="0"/>
                <a:ea typeface="宋体" panose="02010600030101010101" pitchFamily="2" charset="-122"/>
              </a:rPr>
              <a:t>用来选择一个或两个存储体进行数据传送。</a:t>
            </a:r>
            <a:endParaRPr lang="zh-CN" altLang="en-US" dirty="0">
              <a:solidFill>
                <a:srgbClr val="0000FF"/>
              </a:solidFill>
              <a:latin typeface="Times New Roman" panose="02020603050405020304" pitchFamily="18" charset="0"/>
              <a:ea typeface="宋体" panose="02010600030101010101" pitchFamily="2" charset="-122"/>
            </a:endParaRPr>
          </a:p>
        </p:txBody>
      </p:sp>
      <p:graphicFrame>
        <p:nvGraphicFramePr>
          <p:cNvPr id="99333" name="Object 8"/>
          <p:cNvGraphicFramePr>
            <a:graphicFrameLocks noChangeAspect="1"/>
          </p:cNvGraphicFramePr>
          <p:nvPr/>
        </p:nvGraphicFramePr>
        <p:xfrm>
          <a:off x="6659563" y="3933825"/>
          <a:ext cx="534987" cy="287338"/>
        </p:xfrm>
        <a:graphic>
          <a:graphicData uri="http://schemas.openxmlformats.org/presentationml/2006/ole">
            <mc:AlternateContent xmlns:mc="http://schemas.openxmlformats.org/markup-compatibility/2006">
              <mc:Choice xmlns:v="urn:schemas-microsoft-com:vml" Requires="v">
                <p:oleObj spid="_x0000_s3089" name="" r:id="rId3" imgW="304165" imgH="177800" progId="Equation.3">
                  <p:embed/>
                </p:oleObj>
              </mc:Choice>
              <mc:Fallback>
                <p:oleObj name="" r:id="rId3" imgW="304165" imgH="177800" progId="Equation.3">
                  <p:embed/>
                  <p:pic>
                    <p:nvPicPr>
                      <p:cNvPr id="0" name="图片 3088"/>
                      <p:cNvPicPr/>
                      <p:nvPr/>
                    </p:nvPicPr>
                    <p:blipFill>
                      <a:blip r:embed="rId4"/>
                      <a:stretch>
                        <a:fillRect/>
                      </a:stretch>
                    </p:blipFill>
                    <p:spPr>
                      <a:xfrm>
                        <a:off x="6659563" y="3933825"/>
                        <a:ext cx="534987" cy="287338"/>
                      </a:xfrm>
                      <a:prstGeom prst="rect">
                        <a:avLst/>
                      </a:prstGeom>
                      <a:noFill/>
                      <a:ln w="38100">
                        <a:noFill/>
                        <a:miter/>
                      </a:ln>
                    </p:spPr>
                  </p:pic>
                </p:oleObj>
              </mc:Fallback>
            </mc:AlternateContent>
          </a:graphicData>
        </a:graphic>
      </p:graphicFrame>
      <p:pic>
        <p:nvPicPr>
          <p:cNvPr id="99334" name="图片 8"/>
          <p:cNvPicPr>
            <a:picLocks noChangeAspect="1"/>
          </p:cNvPicPr>
          <p:nvPr/>
        </p:nvPicPr>
        <p:blipFill>
          <a:blip r:embed="rId5"/>
          <a:stretch>
            <a:fillRect/>
          </a:stretch>
        </p:blipFill>
        <p:spPr>
          <a:xfrm>
            <a:off x="5876925" y="5413375"/>
            <a:ext cx="2963863" cy="1025525"/>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3. 32</a:t>
            </a:r>
            <a:r>
              <a:rPr lang="zh-CN" altLang="en-US" dirty="0">
                <a:latin typeface="Times New Roman" panose="02020603050405020304" pitchFamily="18" charset="0"/>
              </a:rPr>
              <a:t>位和</a:t>
            </a:r>
            <a:r>
              <a:rPr lang="en-US" altLang="zh-CN" dirty="0">
                <a:latin typeface="Times New Roman" panose="02020603050405020304" pitchFamily="18" charset="0"/>
              </a:rPr>
              <a:t>64</a:t>
            </a:r>
            <a:r>
              <a:rPr lang="zh-CN" altLang="en-US" dirty="0">
                <a:latin typeface="Times New Roman" panose="02020603050405020304" pitchFamily="18" charset="0"/>
              </a:rPr>
              <a:t>存储器接口 </a:t>
            </a:r>
            <a:endParaRPr lang="zh-CN" altLang="en-US" dirty="0">
              <a:latin typeface="Times New Roman" panose="02020603050405020304" pitchFamily="18" charset="0"/>
              <a:ea typeface="Times New Roman" panose="02020603050405020304" pitchFamily="18" charset="0"/>
            </a:endParaRPr>
          </a:p>
        </p:txBody>
      </p:sp>
      <p:sp>
        <p:nvSpPr>
          <p:cNvPr id="100354" name="内容占位符 2"/>
          <p:cNvSpPr>
            <a:spLocks noGrp="1"/>
          </p:cNvSpPr>
          <p:nvPr>
            <p:ph idx="1"/>
          </p:nvPr>
        </p:nvSpPr>
        <p:spPr>
          <a:xfrm>
            <a:off x="457200" y="1417638"/>
            <a:ext cx="8229600" cy="4708525"/>
          </a:xfrm>
          <a:noFill/>
          <a:ln>
            <a:noFill/>
          </a:ln>
        </p:spPr>
        <p:txBody>
          <a:bodyPr anchor="t" anchorCtr="0"/>
          <a:p>
            <a:r>
              <a:rPr lang="en-US" altLang="zh-CN" dirty="0">
                <a:latin typeface="Times New Roman" panose="02020603050405020304" pitchFamily="18" charset="0"/>
              </a:rPr>
              <a:t>80386/80486</a:t>
            </a:r>
            <a:r>
              <a:rPr lang="zh-CN" altLang="en-US" dirty="0">
                <a:latin typeface="Times New Roman" panose="02020603050405020304" pitchFamily="18" charset="0"/>
              </a:rPr>
              <a:t>保持与</a:t>
            </a:r>
            <a:r>
              <a:rPr lang="en-US" altLang="zh-CN" dirty="0">
                <a:latin typeface="Times New Roman" panose="02020603050405020304" pitchFamily="18" charset="0"/>
              </a:rPr>
              <a:t>8086</a:t>
            </a:r>
            <a:r>
              <a:rPr lang="zh-CN" altLang="en-US" dirty="0">
                <a:latin typeface="Times New Roman" panose="02020603050405020304" pitchFamily="18" charset="0"/>
              </a:rPr>
              <a:t>等微处理器</a:t>
            </a:r>
            <a:r>
              <a:rPr lang="zh-CN" altLang="en-US" dirty="0">
                <a:solidFill>
                  <a:srgbClr val="FF0000"/>
                </a:solidFill>
                <a:latin typeface="Times New Roman" panose="02020603050405020304" pitchFamily="18" charset="0"/>
              </a:rPr>
              <a:t>兼容需求</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要求满足单字节、双字节和四字节等不同访问；</a:t>
            </a:r>
            <a:endParaRPr lang="en-US" altLang="zh-CN"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80386/80486</a:t>
            </a:r>
            <a:r>
              <a:rPr lang="zh-CN" altLang="en-US" sz="2400" dirty="0">
                <a:latin typeface="Times New Roman" panose="02020603050405020304" pitchFamily="18" charset="0"/>
              </a:rPr>
              <a:t>设</a:t>
            </a:r>
            <a:r>
              <a:rPr lang="en-US" altLang="zh-CN" sz="2400" dirty="0">
                <a:latin typeface="Times New Roman" panose="02020603050405020304" pitchFamily="18" charset="0"/>
              </a:rPr>
              <a:t>4</a:t>
            </a:r>
            <a:r>
              <a:rPr lang="zh-CN" altLang="en-US" sz="2400" dirty="0">
                <a:latin typeface="Times New Roman" panose="02020603050405020304" pitchFamily="18" charset="0"/>
              </a:rPr>
              <a:t>个引脚        ～       ，控制不同数据访问</a:t>
            </a:r>
            <a:endParaRPr lang="zh-CN" altLang="en-US"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64</a:t>
            </a:r>
            <a:r>
              <a:rPr lang="zh-CN" altLang="en-US" sz="2400" dirty="0">
                <a:latin typeface="Times New Roman" panose="02020603050405020304" pitchFamily="18" charset="0"/>
              </a:rPr>
              <a:t>位存储器系统由</a:t>
            </a:r>
            <a:r>
              <a:rPr lang="en-US" altLang="zh-CN" sz="2400" dirty="0">
                <a:latin typeface="Times New Roman" panose="02020603050405020304" pitchFamily="18" charset="0"/>
              </a:rPr>
              <a:t>8</a:t>
            </a:r>
            <a:r>
              <a:rPr lang="zh-CN" altLang="en-US" sz="2400" dirty="0">
                <a:latin typeface="Times New Roman" panose="02020603050405020304" pitchFamily="18" charset="0"/>
              </a:rPr>
              <a:t>个存储体组成</a:t>
            </a:r>
            <a:r>
              <a:rPr lang="zh-CN" altLang="zh-CN" sz="2400" dirty="0">
                <a:latin typeface="Times New Roman" panose="02020603050405020304" pitchFamily="18" charset="0"/>
              </a:rPr>
              <a:t>：</a:t>
            </a:r>
            <a:r>
              <a:rPr lang="zh-CN" altLang="en-US" sz="2400" dirty="0">
                <a:latin typeface="Times New Roman" panose="02020603050405020304" pitchFamily="18" charset="0"/>
              </a:rPr>
              <a:t>       ～       。</a:t>
            </a:r>
            <a:endParaRPr lang="zh-CN" altLang="en-US" sz="2400" dirty="0">
              <a:latin typeface="Times New Roman" panose="02020603050405020304" pitchFamily="18" charset="0"/>
              <a:ea typeface="Times New Roman" panose="02020603050405020304" pitchFamily="18" charset="0"/>
            </a:endParaRPr>
          </a:p>
        </p:txBody>
      </p:sp>
      <p:graphicFrame>
        <p:nvGraphicFramePr>
          <p:cNvPr id="100355" name="Object 4"/>
          <p:cNvGraphicFramePr>
            <a:graphicFrameLocks noChangeAspect="1"/>
          </p:cNvGraphicFramePr>
          <p:nvPr/>
        </p:nvGraphicFramePr>
        <p:xfrm>
          <a:off x="4273550" y="2525713"/>
          <a:ext cx="647700" cy="487362"/>
        </p:xfrm>
        <a:graphic>
          <a:graphicData uri="http://schemas.openxmlformats.org/presentationml/2006/ole">
            <mc:AlternateContent xmlns:mc="http://schemas.openxmlformats.org/markup-compatibility/2006">
              <mc:Choice xmlns:v="urn:schemas-microsoft-com:vml" Requires="v">
                <p:oleObj spid="_x0000_s3080" name="" r:id="rId1" imgW="279400" imgH="215900" progId="Equation.3">
                  <p:embed/>
                </p:oleObj>
              </mc:Choice>
              <mc:Fallback>
                <p:oleObj name="" r:id="rId1" imgW="279400" imgH="215900" progId="Equation.3">
                  <p:embed/>
                  <p:pic>
                    <p:nvPicPr>
                      <p:cNvPr id="0" name="图片 3079"/>
                      <p:cNvPicPr/>
                      <p:nvPr/>
                    </p:nvPicPr>
                    <p:blipFill>
                      <a:blip r:embed="rId2"/>
                      <a:stretch>
                        <a:fillRect/>
                      </a:stretch>
                    </p:blipFill>
                    <p:spPr>
                      <a:xfrm>
                        <a:off x="4273550" y="2525713"/>
                        <a:ext cx="647700" cy="487362"/>
                      </a:xfrm>
                      <a:prstGeom prst="rect">
                        <a:avLst/>
                      </a:prstGeom>
                      <a:noFill/>
                      <a:ln w="38100">
                        <a:noFill/>
                        <a:miter/>
                      </a:ln>
                    </p:spPr>
                  </p:pic>
                </p:oleObj>
              </mc:Fallback>
            </mc:AlternateContent>
          </a:graphicData>
        </a:graphic>
      </p:graphicFrame>
      <p:graphicFrame>
        <p:nvGraphicFramePr>
          <p:cNvPr id="100356" name="Object 6"/>
          <p:cNvGraphicFramePr>
            <a:graphicFrameLocks noChangeAspect="1"/>
          </p:cNvGraphicFramePr>
          <p:nvPr/>
        </p:nvGraphicFramePr>
        <p:xfrm>
          <a:off x="5145088" y="2525713"/>
          <a:ext cx="684212" cy="503237"/>
        </p:xfrm>
        <a:graphic>
          <a:graphicData uri="http://schemas.openxmlformats.org/presentationml/2006/ole">
            <mc:AlternateContent xmlns:mc="http://schemas.openxmlformats.org/markup-compatibility/2006">
              <mc:Choice xmlns:v="urn:schemas-microsoft-com:vml" Requires="v">
                <p:oleObj spid="_x0000_s3078" name="" r:id="rId3" imgW="292100" imgH="215900" progId="Equation.3">
                  <p:embed/>
                </p:oleObj>
              </mc:Choice>
              <mc:Fallback>
                <p:oleObj name="" r:id="rId3" imgW="292100" imgH="215900" progId="Equation.3">
                  <p:embed/>
                  <p:pic>
                    <p:nvPicPr>
                      <p:cNvPr id="0" name="图片 3077"/>
                      <p:cNvPicPr/>
                      <p:nvPr/>
                    </p:nvPicPr>
                    <p:blipFill>
                      <a:blip r:embed="rId4"/>
                      <a:stretch>
                        <a:fillRect/>
                      </a:stretch>
                    </p:blipFill>
                    <p:spPr>
                      <a:xfrm>
                        <a:off x="5145088" y="2525713"/>
                        <a:ext cx="684212" cy="503237"/>
                      </a:xfrm>
                      <a:prstGeom prst="rect">
                        <a:avLst/>
                      </a:prstGeom>
                      <a:noFill/>
                      <a:ln w="38100">
                        <a:noFill/>
                        <a:miter/>
                      </a:ln>
                    </p:spPr>
                  </p:pic>
                </p:oleObj>
              </mc:Fallback>
            </mc:AlternateContent>
          </a:graphicData>
        </a:graphic>
      </p:graphicFrame>
      <p:graphicFrame>
        <p:nvGraphicFramePr>
          <p:cNvPr id="100357" name="Object 5"/>
          <p:cNvGraphicFramePr>
            <a:graphicFrameLocks noChangeAspect="1"/>
          </p:cNvGraphicFramePr>
          <p:nvPr/>
        </p:nvGraphicFramePr>
        <p:xfrm>
          <a:off x="6813550" y="3000375"/>
          <a:ext cx="698500" cy="512763"/>
        </p:xfrm>
        <a:graphic>
          <a:graphicData uri="http://schemas.openxmlformats.org/presentationml/2006/ole">
            <mc:AlternateContent xmlns:mc="http://schemas.openxmlformats.org/markup-compatibility/2006">
              <mc:Choice xmlns:v="urn:schemas-microsoft-com:vml" Requires="v">
                <p:oleObj spid="_x0000_s3077" name="" r:id="rId5" imgW="292100" imgH="215900" progId="Equation.3">
                  <p:embed/>
                </p:oleObj>
              </mc:Choice>
              <mc:Fallback>
                <p:oleObj name="" r:id="rId5" imgW="292100" imgH="215900" progId="Equation.3">
                  <p:embed/>
                  <p:pic>
                    <p:nvPicPr>
                      <p:cNvPr id="0" name="图片 3076"/>
                      <p:cNvPicPr/>
                      <p:nvPr/>
                    </p:nvPicPr>
                    <p:blipFill>
                      <a:blip r:embed="rId4"/>
                      <a:stretch>
                        <a:fillRect/>
                      </a:stretch>
                    </p:blipFill>
                    <p:spPr>
                      <a:xfrm>
                        <a:off x="6813550" y="3000375"/>
                        <a:ext cx="698500" cy="512763"/>
                      </a:xfrm>
                      <a:prstGeom prst="rect">
                        <a:avLst/>
                      </a:prstGeom>
                      <a:noFill/>
                      <a:ln w="38100">
                        <a:noFill/>
                        <a:miter/>
                      </a:ln>
                    </p:spPr>
                  </p:pic>
                </p:oleObj>
              </mc:Fallback>
            </mc:AlternateContent>
          </a:graphicData>
        </a:graphic>
      </p:graphicFrame>
      <p:graphicFrame>
        <p:nvGraphicFramePr>
          <p:cNvPr id="100358" name="Object 6"/>
          <p:cNvGraphicFramePr>
            <a:graphicFrameLocks noChangeAspect="1"/>
          </p:cNvGraphicFramePr>
          <p:nvPr/>
        </p:nvGraphicFramePr>
        <p:xfrm>
          <a:off x="5937250" y="3000375"/>
          <a:ext cx="696913" cy="512763"/>
        </p:xfrm>
        <a:graphic>
          <a:graphicData uri="http://schemas.openxmlformats.org/presentationml/2006/ole">
            <mc:AlternateContent xmlns:mc="http://schemas.openxmlformats.org/markup-compatibility/2006">
              <mc:Choice xmlns:v="urn:schemas-microsoft-com:vml" Requires="v">
                <p:oleObj spid="_x0000_s3088" name="" r:id="rId6" imgW="292100" imgH="215900" progId="Equation.3">
                  <p:embed/>
                </p:oleObj>
              </mc:Choice>
              <mc:Fallback>
                <p:oleObj name="" r:id="rId6" imgW="292100" imgH="215900" progId="Equation.3">
                  <p:embed/>
                  <p:pic>
                    <p:nvPicPr>
                      <p:cNvPr id="0" name="图片 3087"/>
                      <p:cNvPicPr/>
                      <p:nvPr/>
                    </p:nvPicPr>
                    <p:blipFill>
                      <a:blip r:embed="rId7"/>
                      <a:stretch>
                        <a:fillRect/>
                      </a:stretch>
                    </p:blipFill>
                    <p:spPr>
                      <a:xfrm>
                        <a:off x="5937250" y="3000375"/>
                        <a:ext cx="696913" cy="512763"/>
                      </a:xfrm>
                      <a:prstGeom prst="rect">
                        <a:avLst/>
                      </a:prstGeom>
                      <a:noFill/>
                      <a:ln w="38100">
                        <a:noFill/>
                        <a:miter/>
                      </a:ln>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 </a:t>
            </a:r>
            <a:r>
              <a:rPr lang="zh-CN" altLang="en-US" dirty="0">
                <a:latin typeface="Times New Roman" panose="02020603050405020304" pitchFamily="18" charset="0"/>
              </a:rPr>
              <a:t>提高主存读写速度的技术 </a:t>
            </a:r>
            <a:endParaRPr lang="zh-CN" altLang="en-US" dirty="0">
              <a:latin typeface="Times New Roman" panose="02020603050405020304" pitchFamily="18" charset="0"/>
              <a:ea typeface="Times New Roman" panose="02020603050405020304" pitchFamily="18" charset="0"/>
            </a:endParaRPr>
          </a:p>
        </p:txBody>
      </p:sp>
      <p:sp>
        <p:nvSpPr>
          <p:cNvPr id="10137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主存技术一直在不断地发展：提高主存速度</a:t>
            </a:r>
            <a:endParaRPr lang="zh-CN" altLang="en-US"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FPM DRAM</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EDO DRAM</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en-US" altLang="zh-CN" sz="2400" dirty="0">
                <a:solidFill>
                  <a:srgbClr val="FF0000"/>
                </a:solidFill>
                <a:latin typeface="Times New Roman" panose="02020603050405020304" pitchFamily="18" charset="0"/>
              </a:rPr>
              <a:t>SDRAM</a:t>
            </a:r>
            <a:r>
              <a:rPr lang="zh-CN" altLang="en-US" sz="2400" dirty="0">
                <a:solidFill>
                  <a:srgbClr val="FF0000"/>
                </a:solidFill>
                <a:latin typeface="Times New Roman" panose="02020603050405020304" pitchFamily="18" charset="0"/>
              </a:rPr>
              <a:t>；</a:t>
            </a:r>
            <a:endParaRPr lang="zh-CN" altLang="en-US" sz="2400" dirty="0">
              <a:solidFill>
                <a:srgbClr val="FF0000"/>
              </a:solidFill>
              <a:latin typeface="Times New Roman" panose="02020603050405020304" pitchFamily="18" charset="0"/>
            </a:endParaRPr>
          </a:p>
          <a:p>
            <a:pPr lvl="1" latinLnBrk="0">
              <a:spcBef>
                <a:spcPts val="1200"/>
              </a:spcBef>
            </a:pPr>
            <a:r>
              <a:rPr lang="en-US" altLang="zh-CN" sz="2400" dirty="0">
                <a:solidFill>
                  <a:srgbClr val="FF0000"/>
                </a:solidFill>
                <a:latin typeface="Times New Roman" panose="02020603050405020304" pitchFamily="18" charset="0"/>
              </a:rPr>
              <a:t>DDR SDRAM</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RDRAM</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5.5.1 </a:t>
            </a:r>
            <a:r>
              <a:rPr lang="zh-CN" altLang="en-US" dirty="0">
                <a:latin typeface="Times New Roman" panose="02020603050405020304" pitchFamily="18" charset="0"/>
              </a:rPr>
              <a:t>主存与</a:t>
            </a:r>
            <a:r>
              <a:rPr lang="en-US" altLang="zh-CN" dirty="0">
                <a:latin typeface="Times New Roman" panose="02020603050405020304" pitchFamily="18" charset="0"/>
              </a:rPr>
              <a:t>CPU</a:t>
            </a:r>
            <a:r>
              <a:rPr lang="zh-CN" altLang="en-US" dirty="0">
                <a:latin typeface="Times New Roman" panose="02020603050405020304" pitchFamily="18" charset="0"/>
              </a:rPr>
              <a:t>速度的匹配 </a:t>
            </a:r>
            <a:endParaRPr lang="zh-CN" altLang="en-US" dirty="0">
              <a:latin typeface="Times New Roman" panose="02020603050405020304" pitchFamily="18" charset="0"/>
              <a:ea typeface="Times New Roman" panose="02020603050405020304" pitchFamily="18" charset="0"/>
            </a:endParaRPr>
          </a:p>
        </p:txBody>
      </p:sp>
      <p:sp>
        <p:nvSpPr>
          <p:cNvPr id="102402" name="内容占位符 2"/>
          <p:cNvSpPr>
            <a:spLocks noGrp="1"/>
          </p:cNvSpPr>
          <p:nvPr>
            <p:ph idx="1"/>
          </p:nvPr>
        </p:nvSpPr>
        <p:spPr>
          <a:xfrm>
            <a:off x="467995" y="1484630"/>
            <a:ext cx="8229600" cy="1336040"/>
          </a:xfrm>
          <a:noFill/>
          <a:ln>
            <a:noFill/>
          </a:ln>
        </p:spPr>
        <p:txBody>
          <a:bodyPr anchor="t" anchorCtr="0"/>
          <a:p>
            <a:pPr latinLnBrk="0">
              <a:spcBef>
                <a:spcPts val="1800"/>
              </a:spcBef>
            </a:pPr>
            <a:r>
              <a:rPr lang="zh-CN" altLang="en-US" dirty="0">
                <a:latin typeface="Times New Roman" panose="02020603050405020304" pitchFamily="18" charset="0"/>
              </a:rPr>
              <a:t>主存总线与</a:t>
            </a:r>
            <a:r>
              <a:rPr lang="en-US" altLang="zh-CN" dirty="0">
                <a:latin typeface="Times New Roman" panose="02020603050405020304" pitchFamily="18" charset="0"/>
              </a:rPr>
              <a:t>CPU</a:t>
            </a:r>
            <a:r>
              <a:rPr lang="zh-CN" altLang="en-US" dirty="0">
                <a:latin typeface="Times New Roman" panose="02020603050405020304" pitchFamily="18" charset="0"/>
              </a:rPr>
              <a:t>总线速度相等时性能最优；</a:t>
            </a:r>
            <a:endParaRPr lang="zh-CN" altLang="en-US" dirty="0">
              <a:latin typeface="Times New Roman" panose="02020603050405020304" pitchFamily="18" charset="0"/>
            </a:endParaRPr>
          </a:p>
          <a:p>
            <a:pPr latinLnBrk="0">
              <a:spcBef>
                <a:spcPts val="1800"/>
              </a:spcBef>
            </a:pPr>
            <a:r>
              <a:rPr lang="zh-CN" altLang="en-US" dirty="0">
                <a:solidFill>
                  <a:srgbClr val="FF0000"/>
                </a:solidFill>
                <a:latin typeface="Times New Roman" panose="02020603050405020304" pitchFamily="18" charset="0"/>
              </a:rPr>
              <a:t>通常主存的速度落后于</a:t>
            </a:r>
            <a:r>
              <a:rPr lang="en-US" altLang="zh-CN" dirty="0">
                <a:solidFill>
                  <a:srgbClr val="FF0000"/>
                </a:solidFill>
                <a:latin typeface="Times New Roman" panose="02020603050405020304" pitchFamily="18" charset="0"/>
              </a:rPr>
              <a:t>CPU</a:t>
            </a:r>
            <a:r>
              <a:rPr lang="zh-CN" altLang="en-US" dirty="0">
                <a:solidFill>
                  <a:srgbClr val="FF0000"/>
                </a:solidFill>
                <a:latin typeface="Times New Roman" panose="02020603050405020304" pitchFamily="18" charset="0"/>
              </a:rPr>
              <a:t>的速度</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1331595" y="2827655"/>
            <a:ext cx="6137910" cy="340804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*5.5.2 FPM DRAM </a:t>
            </a:r>
            <a:endParaRPr lang="zh-CN" altLang="en-US" dirty="0">
              <a:latin typeface="Times New Roman" panose="02020603050405020304" pitchFamily="18" charset="0"/>
              <a:ea typeface="Times New Roman" panose="02020603050405020304" pitchFamily="18" charset="0"/>
            </a:endParaRPr>
          </a:p>
        </p:txBody>
      </p:sp>
      <p:sp>
        <p:nvSpPr>
          <p:cNvPr id="103426" name="内容占位符 2"/>
          <p:cNvSpPr>
            <a:spLocks noGrp="1"/>
          </p:cNvSpPr>
          <p:nvPr>
            <p:ph idx="1"/>
          </p:nvPr>
        </p:nvSpPr>
        <p:spPr>
          <a:xfrm>
            <a:off x="457200" y="1265238"/>
            <a:ext cx="8229600" cy="5321300"/>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传统</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通过分页技术进行访问：</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存取数据时分别输入一个行地址和一个列地址；</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rgbClr val="FF0000"/>
                </a:solidFill>
                <a:latin typeface="Times New Roman" panose="02020603050405020304" pitchFamily="18" charset="0"/>
                <a:ea typeface="+mn-ea"/>
                <a:cs typeface="+mn-cs"/>
              </a:rPr>
              <a:t>FPM DRAM</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通过保持行地址不变而只改变列地址</a:t>
            </a:r>
            <a:endPar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对给定行的所有数据进行更快的访问；</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lvl="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FPM 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支持突发模式访问：</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建立行和列地址之后，可以访问后面</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3</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个相邻的地址；</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sym typeface="+mn-ea"/>
              </a:rPr>
              <a:t>一个标准</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sym typeface="+mn-ea"/>
              </a:rPr>
              <a:t>DRAM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sym typeface="+mn-ea"/>
              </a:rPr>
              <a:t>的典型突发模式访问表示为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sym typeface="+mn-ea"/>
              </a:rPr>
              <a:t>x-y-y-y</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sym typeface="+mn-ea"/>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sym typeface="+mn-ea"/>
              </a:rPr>
              <a:t>x</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rPr>
              <a:t>是第一次访问的时间（延迟加上周期数）；</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sym typeface="+mn-ea"/>
              </a:rPr>
              <a:t>y</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rPr>
              <a:t>表示后面每个连续访问所需的周期数；</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rPr>
              <a:t>标准的</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sym typeface="+mn-ea"/>
              </a:rPr>
              <a:t>FPM DRAM</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rPr>
              <a:t>可获得</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sym typeface="+mn-ea"/>
              </a:rPr>
              <a:t>5-3-3-3</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sym typeface="+mn-ea"/>
              </a:rPr>
              <a:t>的突发模式周期。</a:t>
            </a:r>
            <a:endParaRPr kumimoji="0" lang="zh-CN" altLang="en-US" sz="2055"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*5.5.3 EDO DRAM </a:t>
            </a:r>
            <a:endParaRPr lang="zh-CN" altLang="en-US" dirty="0">
              <a:latin typeface="Times New Roman" panose="02020603050405020304" pitchFamily="18" charset="0"/>
              <a:ea typeface="Times New Roman" panose="02020603050405020304" pitchFamily="18" charset="0"/>
            </a:endParaRPr>
          </a:p>
        </p:txBody>
      </p:sp>
      <p:sp>
        <p:nvSpPr>
          <p:cNvPr id="105474" name="内容占位符 2"/>
          <p:cNvSpPr>
            <a:spLocks noGrp="1"/>
          </p:cNvSpPr>
          <p:nvPr>
            <p:ph idx="1"/>
          </p:nvPr>
        </p:nvSpPr>
        <p:spPr>
          <a:xfrm>
            <a:off x="457200" y="1417638"/>
            <a:ext cx="8229600" cy="4819650"/>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EDO 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在 </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FPM 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基础上加以改进</a:t>
            </a:r>
            <a:r>
              <a:rPr kumimoji="0" lang="zh-CN" sz="2800" b="1" i="0" u="none" strike="noStrike" kern="0" cap="none" spc="0" normalizeH="0" baseline="0" noProof="1" dirty="0">
                <a:solidFill>
                  <a:schemeClr val="hlink"/>
                </a:solidFill>
                <a:latin typeface="Times New Roman" panose="02020603050405020304" pitchFamily="18" charset="0"/>
                <a:ea typeface="+mn-ea"/>
                <a:cs typeface="+mn-cs"/>
              </a:rPr>
              <a:t>：</a:t>
            </a:r>
            <a:endParaRPr kumimoji="0" 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传统的DRAM和FPM DRAM在存取每一数据时：</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输入行地址和列地址后必须等待电路稳定，才能读写数据；</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下一个地址必须等待这次读写周期完成才能输出。</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而EDO输出数据在整个CAS周期都有效：</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可以在输出一个数据的过程中准备下一个数据的输出；</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节省了重选地址的时间，提高了读写速度；</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390" b="0" i="0" u="none" strike="noStrike" kern="0" cap="none" spc="0" normalizeH="0" baseline="0" noProof="1" dirty="0">
                <a:solidFill>
                  <a:schemeClr val="tx1"/>
                </a:solidFill>
                <a:latin typeface="Times New Roman" panose="02020603050405020304" pitchFamily="18" charset="0"/>
                <a:ea typeface="+mn-ea"/>
                <a:cs typeface="+mn-ea"/>
                <a:sym typeface="+mn-ea"/>
              </a:rPr>
              <a:t> </a:t>
            </a:r>
            <a:r>
              <a:rPr kumimoji="0" lang="en-US" altLang="zh-CN" sz="2390" b="0" i="0" u="none" strike="noStrike" kern="0" cap="none" spc="0" normalizeH="0" baseline="0" noProof="1" dirty="0">
                <a:solidFill>
                  <a:schemeClr val="tx1"/>
                </a:solidFill>
                <a:latin typeface="Times New Roman" panose="02020603050405020304" pitchFamily="18" charset="0"/>
                <a:ea typeface="+mn-ea"/>
                <a:cs typeface="+mn-ea"/>
                <a:sym typeface="+mn-ea"/>
              </a:rPr>
              <a:t>EDO DRAM </a:t>
            </a:r>
            <a:r>
              <a:rPr kumimoji="0" lang="zh-CN" altLang="en-US" sz="2390" b="0" i="0" u="none" strike="noStrike" kern="0" cap="none" spc="0" normalizeH="0" baseline="0" noProof="1" dirty="0">
                <a:solidFill>
                  <a:schemeClr val="tx1"/>
                </a:solidFill>
                <a:latin typeface="Times New Roman" panose="02020603050405020304" pitchFamily="18" charset="0"/>
                <a:ea typeface="+mn-ea"/>
                <a:cs typeface="+mn-ea"/>
                <a:sym typeface="+mn-ea"/>
              </a:rPr>
              <a:t>可获得</a:t>
            </a:r>
            <a:r>
              <a:rPr kumimoji="0" lang="en-US" altLang="zh-CN" sz="2390" b="0" i="0" u="none" strike="noStrike" kern="0" cap="none" spc="0" normalizeH="0" baseline="0" noProof="1" dirty="0">
                <a:solidFill>
                  <a:schemeClr val="tx1"/>
                </a:solidFill>
                <a:latin typeface="Times New Roman" panose="02020603050405020304" pitchFamily="18" charset="0"/>
                <a:ea typeface="+mn-ea"/>
                <a:cs typeface="+mn-ea"/>
                <a:sym typeface="+mn-ea"/>
              </a:rPr>
              <a:t>5-2-2-2</a:t>
            </a:r>
            <a:r>
              <a:rPr kumimoji="0" lang="zh-CN" altLang="en-US" sz="2390" b="0" i="0" u="none" strike="noStrike" kern="0" cap="none" spc="0" normalizeH="0" baseline="0" noProof="1" dirty="0">
                <a:solidFill>
                  <a:schemeClr val="tx1"/>
                </a:solidFill>
                <a:latin typeface="Times New Roman" panose="02020603050405020304" pitchFamily="18" charset="0"/>
                <a:ea typeface="+mn-ea"/>
                <a:cs typeface="+mn-ea"/>
                <a:sym typeface="+mn-ea"/>
              </a:rPr>
              <a:t>的突发模式周期：</a:t>
            </a:r>
            <a:endParaRPr kumimoji="0" lang="zh-CN" altLang="en-US" sz="2390"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0"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rPr>
              <a:t>比</a:t>
            </a:r>
            <a:r>
              <a:rPr kumimoji="0" lang="en-US" altLang="zh-CN" sz="2050" b="0" i="0" u="none" strike="noStrike" kern="0" cap="none" spc="0" normalizeH="0" baseline="0" noProof="1" dirty="0">
                <a:solidFill>
                  <a:schemeClr val="tx1"/>
                </a:solidFill>
                <a:latin typeface="Times New Roman" panose="02020603050405020304" pitchFamily="18" charset="0"/>
                <a:ea typeface="+mn-ea"/>
                <a:cs typeface="+mn-ea"/>
                <a:sym typeface="+mn-ea"/>
              </a:rPr>
              <a:t>FPM DRAM</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rPr>
              <a:t>快</a:t>
            </a:r>
            <a:r>
              <a:rPr kumimoji="0" lang="en-US" altLang="zh-CN" sz="2050" b="0" i="0" u="none" strike="noStrike" kern="0" cap="none" spc="0" normalizeH="0" baseline="0" noProof="1" dirty="0">
                <a:solidFill>
                  <a:schemeClr val="tx1"/>
                </a:solidFill>
                <a:latin typeface="Times New Roman" panose="02020603050405020304" pitchFamily="18" charset="0"/>
                <a:ea typeface="+mn-ea"/>
                <a:cs typeface="+mn-ea"/>
                <a:sym typeface="+mn-ea"/>
              </a:rPr>
              <a:t>22%</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rPr>
              <a:t>。</a:t>
            </a:r>
            <a:endPar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*5.5.4 SDRAM</a:t>
            </a:r>
            <a:endParaRPr lang="zh-CN" altLang="en-US" dirty="0">
              <a:latin typeface="Times New Roman" panose="02020603050405020304" pitchFamily="18" charset="0"/>
              <a:ea typeface="Times New Roman" panose="02020603050405020304" pitchFamily="18" charset="0"/>
            </a:endParaRPr>
          </a:p>
        </p:txBody>
      </p:sp>
      <p:sp>
        <p:nvSpPr>
          <p:cNvPr id="107522"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 </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SDRAM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是一种与主存总线运行同步的</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DRAM</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将</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CPU</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和</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RAM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使用</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相同时钟，以相同速度同步工作；</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取消了主存等待时间，减少了数据传送的延迟时间；</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SDRAM</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突发模式可达到</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5-1-1-1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进行</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4</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个主存传输，仅需</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8</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个周期，比</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EDO</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快将近</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20%</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en-US" altLang="zh-CN" sz="2395" b="0" i="0" u="none" strike="noStrike" kern="0" cap="none" spc="0" normalizeH="0" baseline="0" noProof="1" dirty="0">
                <a:solidFill>
                  <a:schemeClr val="tx1"/>
                </a:solidFill>
                <a:latin typeface="Times New Roman" panose="02020603050405020304" pitchFamily="18" charset="0"/>
                <a:ea typeface="+mn-ea"/>
                <a:cs typeface="+mn-ea"/>
                <a:sym typeface="+mn-ea"/>
              </a:rPr>
              <a:t>SDRAM</a:t>
            </a:r>
            <a:r>
              <a:rPr kumimoji="0" lang="zh-CN" altLang="en-US" sz="2395" b="0" i="0" u="none" strike="noStrike" kern="0" cap="none" spc="0" normalizeH="0" baseline="0" noProof="1" dirty="0">
                <a:solidFill>
                  <a:schemeClr val="tx1"/>
                </a:solidFill>
                <a:latin typeface="Times New Roman" panose="02020603050405020304" pitchFamily="18" charset="0"/>
                <a:ea typeface="+mn-ea"/>
                <a:cs typeface="+mn-ea"/>
                <a:sym typeface="+mn-ea"/>
              </a:rPr>
              <a:t>内含两个交错的存储矩阵：</a:t>
            </a:r>
            <a:endParaRPr kumimoji="0" lang="zh-CN" altLang="en-US" sz="2395"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rPr>
              <a:t>允许两个主存页面同时打开；</a:t>
            </a:r>
            <a:endPar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en-US" altLang="zh-CN" sz="2050" b="0" i="0" u="none" strike="noStrike" kern="0" cap="none" spc="0" normalizeH="0" baseline="0" noProof="1" dirty="0">
                <a:solidFill>
                  <a:schemeClr val="tx1"/>
                </a:solidFill>
                <a:latin typeface="Times New Roman" panose="02020603050405020304" pitchFamily="18" charset="0"/>
                <a:ea typeface="+mn-ea"/>
                <a:cs typeface="+mn-ea"/>
                <a:sym typeface="+mn-ea"/>
              </a:rPr>
              <a:t>CPU</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rPr>
              <a:t>从一个存储</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mn-ea"/>
                <a:sym typeface="+mn-ea"/>
              </a:rPr>
              <a:t>矩阵访问数据时，另一个已准备好数据。</a:t>
            </a:r>
            <a:endParaRPr kumimoji="0" lang="zh-CN" altLang="en-US" sz="2050"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*5.5.5 DDR SDRAM </a:t>
            </a:r>
            <a:endParaRPr lang="en-US" altLang="zh-CN" dirty="0">
              <a:latin typeface="Times New Roman" panose="02020603050405020304" pitchFamily="18" charset="0"/>
              <a:ea typeface="Times New Roman" panose="02020603050405020304" pitchFamily="18" charset="0"/>
            </a:endParaRPr>
          </a:p>
        </p:txBody>
      </p:sp>
      <p:sp>
        <p:nvSpPr>
          <p:cNvPr id="106498" name="内容占位符 2"/>
          <p:cNvSpPr>
            <a:spLocks noGrp="1"/>
          </p:cNvSpPr>
          <p:nvPr>
            <p:ph idx="1"/>
          </p:nvPr>
        </p:nvSpPr>
        <p:spPr>
          <a:xfrm>
            <a:off x="457200" y="1600200"/>
            <a:ext cx="8229600" cy="2320925"/>
          </a:xfrm>
          <a:noFill/>
          <a:ln>
            <a:noFill/>
          </a:ln>
        </p:spPr>
        <p:txBody>
          <a:bodyPr anchor="t" anchorCtr="0"/>
          <a:p>
            <a:r>
              <a:rPr lang="en-US" altLang="zh-CN" dirty="0">
                <a:latin typeface="Times New Roman" panose="02020603050405020304" pitchFamily="18" charset="0"/>
              </a:rPr>
              <a:t>DDR SDRAM</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在时钟脉冲的上升和下降沿都能读出数据；</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不需要提高时钟频率就能加倍提高</a:t>
            </a:r>
            <a:r>
              <a:rPr lang="en-US" altLang="zh-CN" sz="2400" dirty="0">
                <a:latin typeface="Times New Roman" panose="02020603050405020304" pitchFamily="18" charset="0"/>
              </a:rPr>
              <a:t>SDRAM</a:t>
            </a:r>
            <a:r>
              <a:rPr lang="zh-CN" altLang="en-US" sz="2400" dirty="0">
                <a:latin typeface="Times New Roman" panose="02020603050405020304" pitchFamily="18" charset="0"/>
              </a:rPr>
              <a:t>的速度。</a:t>
            </a:r>
            <a:endParaRPr lang="zh-CN" altLang="en-US" dirty="0">
              <a:latin typeface="Times New Roman" panose="02020603050405020304" pitchFamily="18" charset="0"/>
            </a:endParaRPr>
          </a:p>
          <a:p>
            <a:pPr>
              <a:spcBef>
                <a:spcPts val="1800"/>
              </a:spcBef>
            </a:pPr>
            <a:r>
              <a:rPr lang="en-US" altLang="zh-CN" dirty="0">
                <a:latin typeface="Times New Roman" panose="02020603050405020304" pitchFamily="18" charset="0"/>
              </a:rPr>
              <a:t>DDR</a:t>
            </a:r>
            <a:r>
              <a:rPr lang="zh-CN" altLang="en-US" dirty="0">
                <a:latin typeface="Times New Roman" panose="02020603050405020304" pitchFamily="18" charset="0"/>
              </a:rPr>
              <a:t>发展：</a:t>
            </a:r>
            <a:endParaRPr lang="zh-CN" altLang="en-US" sz="2400" dirty="0">
              <a:latin typeface="Times New Roman" panose="02020603050405020304" pitchFamily="18" charset="0"/>
            </a:endParaRPr>
          </a:p>
        </p:txBody>
      </p:sp>
      <p:graphicFrame>
        <p:nvGraphicFramePr>
          <p:cNvPr id="5" name="表格 4"/>
          <p:cNvGraphicFramePr>
            <a:graphicFrameLocks noGrp="1"/>
          </p:cNvGraphicFramePr>
          <p:nvPr/>
        </p:nvGraphicFramePr>
        <p:xfrm>
          <a:off x="457200" y="4017963"/>
          <a:ext cx="8351841" cy="1655763"/>
        </p:xfrm>
        <a:graphic>
          <a:graphicData uri="http://schemas.openxmlformats.org/drawingml/2006/table">
            <a:tbl>
              <a:tblPr firstRow="1" firstCol="1" bandRow="1">
                <a:tableStyleId>{5C22544A-7EE6-4342-B048-85BDC9FD1C3A}</a:tableStyleId>
              </a:tblPr>
              <a:tblGrid>
                <a:gridCol w="839577"/>
                <a:gridCol w="443270"/>
                <a:gridCol w="443270"/>
                <a:gridCol w="443270"/>
                <a:gridCol w="443270"/>
                <a:gridCol w="443270"/>
                <a:gridCol w="443270"/>
                <a:gridCol w="443270"/>
                <a:gridCol w="551366"/>
                <a:gridCol w="551366"/>
                <a:gridCol w="551366"/>
                <a:gridCol w="550589"/>
                <a:gridCol w="551366"/>
                <a:gridCol w="551366"/>
                <a:gridCol w="551366"/>
                <a:gridCol w="550589"/>
              </a:tblGrid>
              <a:tr h="551921">
                <a:tc>
                  <a:txBody>
                    <a:bodyPr/>
                    <a:p>
                      <a:pPr algn="just">
                        <a:spcAft>
                          <a:spcPts val="0"/>
                        </a:spcAft>
                      </a:pPr>
                      <a:r>
                        <a:rPr lang="zh-CN" sz="1400" kern="100" dirty="0">
                          <a:effectLst/>
                          <a:latin typeface="Times New Roman" panose="02020603050405020304" pitchFamily="18" charset="0"/>
                          <a:cs typeface="Times New Roman" panose="02020603050405020304" pitchFamily="18" charset="0"/>
                        </a:rPr>
                        <a:t>频率</a:t>
                      </a:r>
                      <a:endParaRPr lang="zh-CN" sz="1400" kern="100" dirty="0">
                        <a:effectLst/>
                        <a:latin typeface="Times New Roman" panose="02020603050405020304" pitchFamily="18" charset="0"/>
                        <a:cs typeface="Times New Roman" panose="02020603050405020304" pitchFamily="18" charset="0"/>
                      </a:endParaRPr>
                    </a:p>
                    <a:p>
                      <a:pPr algn="just">
                        <a:spcAft>
                          <a:spcPts val="0"/>
                        </a:spcAft>
                      </a:pPr>
                      <a:r>
                        <a:rPr lang="zh-CN" sz="1400" kern="100" dirty="0">
                          <a:effectLst/>
                          <a:latin typeface="Times New Roman" panose="02020603050405020304" pitchFamily="18" charset="0"/>
                          <a:cs typeface="Times New Roman" panose="02020603050405020304" pitchFamily="18" charset="0"/>
                        </a:rPr>
                        <a:t>（</a:t>
                      </a:r>
                      <a:r>
                        <a:rPr lang="en-US" sz="1400" kern="100" dirty="0">
                          <a:effectLst/>
                          <a:latin typeface="Times New Roman" panose="02020603050405020304" pitchFamily="18" charset="0"/>
                          <a:cs typeface="Times New Roman" panose="02020603050405020304" pitchFamily="18" charset="0"/>
                        </a:rPr>
                        <a:t>MHz</a:t>
                      </a:r>
                      <a:r>
                        <a:rPr lang="zh-CN" sz="1400" kern="100" dirty="0">
                          <a:effectLst/>
                          <a:latin typeface="Times New Roman" panose="02020603050405020304" pitchFamily="18" charset="0"/>
                          <a:cs typeface="Times New Roman" panose="02020603050405020304" pitchFamily="18" charset="0"/>
                        </a:rPr>
                        <a:t>）</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200</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266</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333</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400</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533</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666</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800</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1066</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1333</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1600</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1866</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2133</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2666</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3200</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c>
                  <a:txBody>
                    <a:bodyPr/>
                    <a:p>
                      <a:pPr algn="just">
                        <a:spcAft>
                          <a:spcPts val="0"/>
                        </a:spcAft>
                      </a:pPr>
                      <a:r>
                        <a:rPr lang="en-US" sz="1400" kern="100" dirty="0">
                          <a:effectLst/>
                          <a:latin typeface="Times New Roman" panose="02020603050405020304" pitchFamily="18" charset="0"/>
                          <a:cs typeface="Times New Roman" panose="02020603050405020304" pitchFamily="18" charset="0"/>
                        </a:rPr>
                        <a:t>4266</a:t>
                      </a:r>
                      <a:endParaRPr lang="en-US"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nchor="ctr" anchorCtr="0"/>
                </a:tc>
              </a:tr>
              <a:tr h="275960">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DDR</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r>
              <a:tr h="275960">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DDR2</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r>
              <a:tr h="275960">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DDR3</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r>
              <a:tr h="275960">
                <a:tc>
                  <a:txBody>
                    <a:bodyPr/>
                    <a:p>
                      <a:pPr algn="just">
                        <a:spcAft>
                          <a:spcPts val="0"/>
                        </a:spcAft>
                      </a:pPr>
                      <a:r>
                        <a:rPr lang="en-US" sz="1400" kern="100">
                          <a:effectLst/>
                          <a:latin typeface="Times New Roman" panose="02020603050405020304" pitchFamily="18" charset="0"/>
                          <a:cs typeface="Times New Roman" panose="02020603050405020304" pitchFamily="18" charset="0"/>
                        </a:rPr>
                        <a:t>DDR4</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a:effectLst/>
                          <a:latin typeface="Times New Roman" panose="02020603050405020304" pitchFamily="18" charset="0"/>
                          <a:cs typeface="Times New Roman" panose="02020603050405020304" pitchFamily="18" charset="0"/>
                        </a:rPr>
                        <a:t>√</a:t>
                      </a:r>
                      <a:endParaRPr lang="en-US"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c>
                  <a:txBody>
                    <a:bodyPr/>
                    <a:p>
                      <a:pPr algn="ctr">
                        <a:spcAft>
                          <a:spcPts val="0"/>
                        </a:spcAft>
                      </a:pPr>
                      <a:r>
                        <a:rPr lang="en-US" sz="1400" kern="100" dirty="0">
                          <a:effectLst/>
                          <a:latin typeface="Times New Roman" panose="02020603050405020304" pitchFamily="18" charset="0"/>
                          <a:cs typeface="Times New Roman" panose="02020603050405020304" pitchFamily="18" charset="0"/>
                        </a:rPr>
                        <a:t>√</a:t>
                      </a:r>
                      <a:endParaRPr lang="en-US"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68" marR="68568" marT="0" marB="0"/>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5.5.7 Rambus DRAM </a:t>
            </a:r>
            <a:endParaRPr lang="zh-CN" altLang="en-US" dirty="0">
              <a:latin typeface="Times New Roman" panose="02020603050405020304" pitchFamily="18" charset="0"/>
              <a:ea typeface="Times New Roman" panose="02020603050405020304" pitchFamily="18" charset="0"/>
            </a:endParaRPr>
          </a:p>
        </p:txBody>
      </p:sp>
      <p:sp>
        <p:nvSpPr>
          <p:cNvPr id="107522" name="内容占位符 2"/>
          <p:cNvSpPr>
            <a:spLocks noGrp="1"/>
          </p:cNvSpPr>
          <p:nvPr>
            <p:ph idx="1"/>
          </p:nvPr>
        </p:nvSpPr>
        <p:spPr>
          <a:xfrm>
            <a:off x="457200" y="1417638"/>
            <a:ext cx="8229600" cy="4964112"/>
          </a:xfrm>
          <a:noFill/>
          <a:ln>
            <a:noFill/>
          </a:ln>
        </p:spPr>
        <p:txBody>
          <a:bodyPr anchor="t" anchorCtr="0"/>
          <a:p>
            <a:r>
              <a:rPr lang="en-US" altLang="zh-CN" dirty="0">
                <a:latin typeface="Times New Roman" panose="02020603050405020304" pitchFamily="18" charset="0"/>
              </a:rPr>
              <a:t>Rambus DRAM</a:t>
            </a:r>
            <a:r>
              <a:rPr lang="zh-CN" altLang="en-US" dirty="0">
                <a:latin typeface="Times New Roman" panose="02020603050405020304" pitchFamily="18" charset="0"/>
              </a:rPr>
              <a:t>是继</a:t>
            </a:r>
            <a:r>
              <a:rPr lang="en-US" altLang="zh-CN" dirty="0">
                <a:latin typeface="Times New Roman" panose="02020603050405020304" pitchFamily="18" charset="0"/>
              </a:rPr>
              <a:t>SDRAM</a:t>
            </a:r>
            <a:r>
              <a:rPr lang="zh-CN" altLang="en-US" dirty="0">
                <a:latin typeface="Times New Roman" panose="02020603050405020304" pitchFamily="18" charset="0"/>
              </a:rPr>
              <a:t>之后的新型高速动态随机存储器。</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使用</a:t>
            </a:r>
            <a:r>
              <a:rPr lang="en-US" altLang="zh-CN" sz="2400" dirty="0">
                <a:latin typeface="Times New Roman" panose="02020603050405020304" pitchFamily="18" charset="0"/>
              </a:rPr>
              <a:t>FPM/EDO</a:t>
            </a:r>
            <a:r>
              <a:rPr lang="zh-CN" altLang="en-US" sz="2400" dirty="0">
                <a:latin typeface="Times New Roman" panose="02020603050405020304" pitchFamily="18" charset="0"/>
              </a:rPr>
              <a:t>或</a:t>
            </a:r>
            <a:r>
              <a:rPr lang="en-US" altLang="zh-CN" sz="2400" dirty="0">
                <a:latin typeface="Times New Roman" panose="02020603050405020304" pitchFamily="18" charset="0"/>
              </a:rPr>
              <a:t>SDRAM</a:t>
            </a:r>
            <a:r>
              <a:rPr lang="zh-CN" altLang="en-US" sz="2400" dirty="0">
                <a:latin typeface="Times New Roman" panose="02020603050405020304" pitchFamily="18" charset="0"/>
              </a:rPr>
              <a:t>的传统主存系统称为宽通道系统，主存通道和处理器的数据总线一样宽。</a:t>
            </a:r>
            <a:endParaRPr lang="en-US" altLang="zh-CN"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RDRAM</a:t>
            </a:r>
            <a:r>
              <a:rPr lang="zh-CN" altLang="en-US" sz="2400" dirty="0">
                <a:latin typeface="Times New Roman" panose="02020603050405020304" pitchFamily="18" charset="0"/>
              </a:rPr>
              <a:t>是一种窄通道系统，一次只传输</a:t>
            </a:r>
            <a:r>
              <a:rPr lang="en-US" altLang="zh-CN" sz="2400" dirty="0">
                <a:latin typeface="Times New Roman" panose="02020603050405020304" pitchFamily="18" charset="0"/>
              </a:rPr>
              <a:t>16</a:t>
            </a:r>
            <a:r>
              <a:rPr lang="zh-CN" altLang="en-US" sz="2400" dirty="0">
                <a:latin typeface="Times New Roman" panose="02020603050405020304" pitchFamily="18" charset="0"/>
              </a:rPr>
              <a:t>位数据（加上</a:t>
            </a:r>
            <a:r>
              <a:rPr lang="en-US" altLang="zh-CN" sz="2400" dirty="0">
                <a:latin typeface="Times New Roman" panose="02020603050405020304" pitchFamily="18" charset="0"/>
              </a:rPr>
              <a:t>2</a:t>
            </a:r>
            <a:r>
              <a:rPr lang="zh-CN" altLang="en-US" sz="2400" dirty="0">
                <a:latin typeface="Times New Roman" panose="02020603050405020304" pitchFamily="18" charset="0"/>
              </a:rPr>
              <a:t>个可选的校验位），速度快得多。</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目前，</a:t>
            </a:r>
            <a:r>
              <a:rPr lang="en-US" altLang="zh-CN" sz="2400" dirty="0">
                <a:latin typeface="Times New Roman" panose="02020603050405020304" pitchFamily="18" charset="0"/>
              </a:rPr>
              <a:t>RDRAM</a:t>
            </a:r>
            <a:r>
              <a:rPr lang="zh-CN" altLang="en-US" sz="2400" dirty="0">
                <a:latin typeface="Times New Roman" panose="02020603050405020304" pitchFamily="18" charset="0"/>
              </a:rPr>
              <a:t>的容量一般为</a:t>
            </a:r>
            <a:r>
              <a:rPr lang="en-US" altLang="zh-CN" sz="2400" dirty="0">
                <a:latin typeface="Times New Roman" panose="02020603050405020304" pitchFamily="18" charset="0"/>
              </a:rPr>
              <a:t>64Mb/72Mb</a:t>
            </a:r>
            <a:r>
              <a:rPr lang="zh-CN" altLang="en-US" sz="2400" dirty="0">
                <a:latin typeface="Times New Roman" panose="02020603050405020304" pitchFamily="18" charset="0"/>
              </a:rPr>
              <a:t>或</a:t>
            </a:r>
            <a:r>
              <a:rPr lang="en-US" altLang="zh-CN" sz="2400" dirty="0">
                <a:latin typeface="Times New Roman" panose="02020603050405020304" pitchFamily="18" charset="0"/>
              </a:rPr>
              <a:t>128Mb/144Mb</a:t>
            </a:r>
            <a:r>
              <a:rPr lang="zh-CN" altLang="en-US" sz="2400" dirty="0">
                <a:latin typeface="Times New Roman" panose="02020603050405020304" pitchFamily="18" charset="0"/>
              </a:rPr>
              <a:t>，组织结构为</a:t>
            </a:r>
            <a:r>
              <a:rPr lang="en-US" altLang="zh-CN" sz="2400" dirty="0">
                <a:latin typeface="Times New Roman" panose="02020603050405020304" pitchFamily="18" charset="0"/>
              </a:rPr>
              <a:t>4M</a:t>
            </a:r>
            <a:r>
              <a:rPr lang="zh-CN" altLang="en-US" sz="2400" dirty="0">
                <a:latin typeface="Times New Roman" panose="02020603050405020304" pitchFamily="18" charset="0"/>
              </a:rPr>
              <a:t>或</a:t>
            </a:r>
            <a:r>
              <a:rPr lang="en-US" altLang="zh-CN" sz="2400" dirty="0">
                <a:latin typeface="Times New Roman" panose="02020603050405020304" pitchFamily="18" charset="0"/>
              </a:rPr>
              <a:t>8M×16</a:t>
            </a:r>
            <a:r>
              <a:rPr lang="zh-CN" altLang="en-US" sz="2400" dirty="0">
                <a:latin typeface="Times New Roman" panose="02020603050405020304" pitchFamily="18" charset="0"/>
              </a:rPr>
              <a:t>位、</a:t>
            </a:r>
            <a:r>
              <a:rPr lang="en-US" altLang="zh-CN" sz="2400" dirty="0">
                <a:latin typeface="Times New Roman" panose="02020603050405020304" pitchFamily="18" charset="0"/>
              </a:rPr>
              <a:t>4M</a:t>
            </a:r>
            <a:r>
              <a:rPr lang="zh-CN" altLang="en-US" sz="2400" dirty="0">
                <a:latin typeface="Times New Roman" panose="02020603050405020304" pitchFamily="18" charset="0"/>
              </a:rPr>
              <a:t>或</a:t>
            </a:r>
            <a:r>
              <a:rPr lang="en-US" altLang="zh-CN" sz="2400" dirty="0">
                <a:latin typeface="Times New Roman" panose="02020603050405020304" pitchFamily="18" charset="0"/>
              </a:rPr>
              <a:t>8M×18</a:t>
            </a:r>
            <a:r>
              <a:rPr lang="zh-CN" altLang="en-US" sz="2400" dirty="0">
                <a:latin typeface="Times New Roman" panose="02020603050405020304" pitchFamily="18" charset="0"/>
              </a:rPr>
              <a:t>位。</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5.5.7 Rambus DRAM</a:t>
            </a:r>
            <a:r>
              <a:rPr lang="zh-CN" altLang="en-US" dirty="0">
                <a:latin typeface="Times New Roman" panose="02020603050405020304" pitchFamily="18" charset="0"/>
              </a:rPr>
              <a:t>（续）</a:t>
            </a:r>
            <a:endParaRPr lang="zh-CN" altLang="en-US" dirty="0">
              <a:latin typeface="Times New Roman" panose="02020603050405020304" pitchFamily="18" charset="0"/>
              <a:ea typeface="Times New Roman" panose="02020603050405020304" pitchFamily="18" charset="0"/>
            </a:endParaRPr>
          </a:p>
        </p:txBody>
      </p:sp>
      <p:sp>
        <p:nvSpPr>
          <p:cNvPr id="108546" name="内容占位符 2"/>
          <p:cNvSpPr>
            <a:spLocks noGrp="1"/>
          </p:cNvSpPr>
          <p:nvPr>
            <p:ph idx="1"/>
          </p:nvPr>
        </p:nvSpPr>
        <p:spPr>
          <a:xfrm>
            <a:off x="457200" y="1417638"/>
            <a:ext cx="8229600" cy="5251450"/>
          </a:xfrm>
          <a:noFill/>
          <a:ln>
            <a:noFill/>
          </a:ln>
        </p:spPr>
        <p:txBody>
          <a:bodyPr anchor="t" anchorCtr="0"/>
          <a:p>
            <a:r>
              <a:rPr lang="zh-CN" altLang="en-US" dirty="0">
                <a:latin typeface="Times New Roman" panose="02020603050405020304" pitchFamily="18" charset="0"/>
              </a:rPr>
              <a:t> </a:t>
            </a:r>
            <a:r>
              <a:rPr lang="en-US" altLang="zh-CN" dirty="0">
                <a:latin typeface="Times New Roman" panose="02020603050405020304" pitchFamily="18" charset="0"/>
              </a:rPr>
              <a:t>Rambus DRAM</a:t>
            </a:r>
            <a:r>
              <a:rPr lang="zh-CN" altLang="en-US" dirty="0">
                <a:latin typeface="Times New Roman" panose="02020603050405020304" pitchFamily="18" charset="0"/>
              </a:rPr>
              <a:t>引入了</a:t>
            </a:r>
            <a:r>
              <a:rPr lang="en-US" altLang="zh-CN" dirty="0">
                <a:latin typeface="Times New Roman" panose="02020603050405020304" pitchFamily="18" charset="0"/>
              </a:rPr>
              <a:t>RISC</a:t>
            </a:r>
            <a:r>
              <a:rPr lang="zh-CN" altLang="en-US" dirty="0">
                <a:latin typeface="Times New Roman" panose="02020603050405020304" pitchFamily="18" charset="0"/>
              </a:rPr>
              <a:t>（精简指令集）的技术，依靠其极高的工作频率，通过减少每个周期的数据量来简化操作。</a:t>
            </a:r>
            <a:endParaRPr lang="en-US" altLang="zh-CN"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RDRAM</a:t>
            </a:r>
            <a:r>
              <a:rPr lang="zh-CN" altLang="en-US" sz="2400" dirty="0">
                <a:latin typeface="Times New Roman" panose="02020603050405020304" pitchFamily="18" charset="0"/>
              </a:rPr>
              <a:t>的时钟频率可达到</a:t>
            </a:r>
            <a:r>
              <a:rPr lang="en-US" altLang="zh-CN" sz="2400" dirty="0">
                <a:latin typeface="Times New Roman" panose="02020603050405020304" pitchFamily="18" charset="0"/>
              </a:rPr>
              <a:t>400MHz</a:t>
            </a:r>
            <a:r>
              <a:rPr lang="zh-CN" altLang="en-US" sz="2400" dirty="0">
                <a:latin typeface="Times New Roman" panose="02020603050405020304" pitchFamily="18" charset="0"/>
              </a:rPr>
              <a:t>，由于采用双沿传输，使原有的</a:t>
            </a:r>
            <a:r>
              <a:rPr lang="en-US" altLang="zh-CN" sz="2400" dirty="0">
                <a:latin typeface="Times New Roman" panose="02020603050405020304" pitchFamily="18" charset="0"/>
              </a:rPr>
              <a:t>400MHz</a:t>
            </a:r>
            <a:r>
              <a:rPr lang="zh-CN" altLang="en-US" sz="2400" dirty="0">
                <a:latin typeface="Times New Roman" panose="02020603050405020304" pitchFamily="18" charset="0"/>
              </a:rPr>
              <a:t>变为</a:t>
            </a:r>
            <a:r>
              <a:rPr lang="en-US" altLang="zh-CN" sz="2400" dirty="0">
                <a:latin typeface="Times New Roman" panose="02020603050405020304" pitchFamily="18" charset="0"/>
              </a:rPr>
              <a:t>800MHz</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Rambus</a:t>
            </a:r>
            <a:r>
              <a:rPr lang="zh-CN" altLang="en-US" sz="2400" dirty="0">
                <a:latin typeface="Times New Roman" panose="02020603050405020304" pitchFamily="18" charset="0"/>
              </a:rPr>
              <a:t>结构的带宽视</a:t>
            </a:r>
            <a:r>
              <a:rPr lang="en-US" altLang="zh-CN" sz="2400" dirty="0">
                <a:latin typeface="Times New Roman" panose="02020603050405020304" pitchFamily="18" charset="0"/>
              </a:rPr>
              <a:t>Rambus</a:t>
            </a:r>
            <a:r>
              <a:rPr lang="zh-CN" altLang="en-US" sz="2400" dirty="0">
                <a:latin typeface="Times New Roman" panose="02020603050405020304" pitchFamily="18" charset="0"/>
              </a:rPr>
              <a:t>通路的个数而定，若是单通路，</a:t>
            </a:r>
            <a:r>
              <a:rPr lang="en-US" altLang="zh-CN" sz="2400" dirty="0">
                <a:latin typeface="Times New Roman" panose="02020603050405020304" pitchFamily="18" charset="0"/>
              </a:rPr>
              <a:t>800MHz</a:t>
            </a:r>
            <a:r>
              <a:rPr lang="zh-CN" altLang="en-US" sz="2400" dirty="0">
                <a:latin typeface="Times New Roman" panose="02020603050405020304" pitchFamily="18" charset="0"/>
              </a:rPr>
              <a:t>的</a:t>
            </a:r>
            <a:r>
              <a:rPr lang="en-US" altLang="zh-CN" sz="2400" dirty="0">
                <a:latin typeface="Times New Roman" panose="02020603050405020304" pitchFamily="18" charset="0"/>
              </a:rPr>
              <a:t>RDRAM</a:t>
            </a:r>
            <a:r>
              <a:rPr lang="zh-CN" altLang="en-US" sz="2400" dirty="0">
                <a:latin typeface="Times New Roman" panose="02020603050405020304" pitchFamily="18" charset="0"/>
              </a:rPr>
              <a:t>带宽为</a:t>
            </a:r>
            <a:r>
              <a:rPr lang="en-US" altLang="zh-CN" sz="2400" dirty="0">
                <a:latin typeface="Times New Roman" panose="02020603050405020304" pitchFamily="18" charset="0"/>
              </a:rPr>
              <a:t>800MHz×16</a:t>
            </a:r>
            <a:r>
              <a:rPr lang="zh-CN" altLang="en-US" sz="2400" dirty="0">
                <a:latin typeface="Times New Roman" panose="02020603050405020304" pitchFamily="18" charset="0"/>
              </a:rPr>
              <a:t>位</a:t>
            </a:r>
            <a:r>
              <a:rPr lang="en-US" altLang="zh-CN" sz="2400" dirty="0">
                <a:latin typeface="Times New Roman" panose="02020603050405020304" pitchFamily="18" charset="0"/>
              </a:rPr>
              <a:t>÷8=1.6GB/s</a:t>
            </a:r>
            <a:r>
              <a:rPr lang="zh-CN" altLang="en-US" sz="2400" dirty="0">
                <a:latin typeface="Times New Roman" panose="02020603050405020304" pitchFamily="18" charset="0"/>
              </a:rPr>
              <a:t>，若是两个通路，则可提升为</a:t>
            </a:r>
            <a:r>
              <a:rPr lang="en-US" altLang="zh-CN" sz="2400" dirty="0">
                <a:latin typeface="Times New Roman" panose="02020603050405020304" pitchFamily="18" charset="0"/>
              </a:rPr>
              <a:t>3.2GB/s</a:t>
            </a:r>
            <a:r>
              <a:rPr lang="zh-CN" altLang="en-US" sz="2400" dirty="0">
                <a:latin typeface="Times New Roman" panose="02020603050405020304" pitchFamily="18" charset="0"/>
              </a:rPr>
              <a:t>，若是</a:t>
            </a:r>
            <a:r>
              <a:rPr lang="en-US" altLang="zh-CN" sz="2400" dirty="0">
                <a:latin typeface="Times New Roman" panose="02020603050405020304" pitchFamily="18" charset="0"/>
              </a:rPr>
              <a:t>4</a:t>
            </a:r>
            <a:r>
              <a:rPr lang="zh-CN" altLang="en-US" sz="2400" dirty="0">
                <a:latin typeface="Times New Roman" panose="02020603050405020304" pitchFamily="18" charset="0"/>
              </a:rPr>
              <a:t>个通路的话，将达到</a:t>
            </a:r>
            <a:r>
              <a:rPr lang="en-US" altLang="zh-CN" sz="2400" dirty="0">
                <a:latin typeface="Times New Roman" panose="02020603050405020304" pitchFamily="18" charset="0"/>
              </a:rPr>
              <a:t>6.4GB/s</a:t>
            </a:r>
            <a:r>
              <a:rPr lang="zh-CN" altLang="en-US" sz="2400" dirty="0">
                <a:latin typeface="Times New Roman" panose="02020603050405020304" pitchFamily="18" charset="0"/>
              </a:rPr>
              <a:t>。而</a:t>
            </a:r>
            <a:r>
              <a:rPr lang="en-US" altLang="zh-CN" sz="2400" dirty="0">
                <a:latin typeface="Times New Roman" panose="02020603050405020304" pitchFamily="18" charset="0"/>
              </a:rPr>
              <a:t>PC-133</a:t>
            </a:r>
            <a:r>
              <a:rPr lang="zh-CN" altLang="en-US" sz="2400" dirty="0">
                <a:latin typeface="Times New Roman" panose="02020603050405020304" pitchFamily="18" charset="0"/>
              </a:rPr>
              <a:t>的带宽为</a:t>
            </a:r>
            <a:r>
              <a:rPr lang="en-US" altLang="zh-CN" sz="2400" dirty="0">
                <a:latin typeface="Times New Roman" panose="02020603050405020304" pitchFamily="18" charset="0"/>
              </a:rPr>
              <a:t>133 MHz×64</a:t>
            </a:r>
            <a:r>
              <a:rPr lang="zh-CN" altLang="en-US" sz="2400" dirty="0">
                <a:latin typeface="Times New Roman" panose="02020603050405020304" pitchFamily="18" charset="0"/>
              </a:rPr>
              <a:t>位</a:t>
            </a:r>
            <a:r>
              <a:rPr lang="en-US" altLang="zh-CN" sz="2400" dirty="0">
                <a:latin typeface="Times New Roman" panose="02020603050405020304" pitchFamily="18" charset="0"/>
              </a:rPr>
              <a:t>÷8=1.06GB/s</a:t>
            </a:r>
            <a:r>
              <a:rPr lang="zh-CN" altLang="en-US" sz="2400" dirty="0">
                <a:latin typeface="Times New Roman" panose="02020603050405020304" pitchFamily="18" charset="0"/>
              </a:rPr>
              <a:t>，</a:t>
            </a:r>
            <a:r>
              <a:rPr lang="en-US" altLang="zh-CN" sz="2400" dirty="0">
                <a:latin typeface="Times New Roman" panose="02020603050405020304" pitchFamily="18" charset="0"/>
              </a:rPr>
              <a:t>PC-266</a:t>
            </a:r>
            <a:r>
              <a:rPr lang="zh-CN" altLang="en-US" sz="2400" dirty="0">
                <a:latin typeface="Times New Roman" panose="02020603050405020304" pitchFamily="18" charset="0"/>
              </a:rPr>
              <a:t>则为</a:t>
            </a:r>
            <a:r>
              <a:rPr lang="en-US" altLang="zh-CN" sz="2400" dirty="0">
                <a:latin typeface="Times New Roman" panose="02020603050405020304" pitchFamily="18" charset="0"/>
              </a:rPr>
              <a:t>2.12GB/s</a:t>
            </a:r>
            <a:r>
              <a:rPr lang="zh-CN" altLang="en-US" sz="2400" dirty="0">
                <a:latin typeface="Times New Roman" panose="02020603050405020304" pitchFamily="18" charset="0"/>
              </a:rPr>
              <a:t>。</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a:t>
            </a:r>
            <a:r>
              <a:rPr lang="en-US" altLang="zh-CN" dirty="0">
                <a:latin typeface="Times New Roman" panose="02020603050405020304" pitchFamily="18" charset="0"/>
              </a:rPr>
              <a:t>5.5.7 Rambus DRAM </a:t>
            </a:r>
            <a:r>
              <a:rPr lang="zh-CN" altLang="en-US" dirty="0">
                <a:latin typeface="Times New Roman" panose="02020603050405020304" pitchFamily="18" charset="0"/>
              </a:rPr>
              <a:t>（续） </a:t>
            </a:r>
            <a:endParaRPr lang="zh-CN" altLang="en-US" dirty="0">
              <a:latin typeface="Times New Roman" panose="02020603050405020304" pitchFamily="18" charset="0"/>
              <a:ea typeface="Times New Roman" panose="02020603050405020304" pitchFamily="18" charset="0"/>
            </a:endParaRPr>
          </a:p>
        </p:txBody>
      </p:sp>
      <p:sp>
        <p:nvSpPr>
          <p:cNvPr id="109570" name="内容占位符 2"/>
          <p:cNvSpPr>
            <a:spLocks noGrp="1"/>
          </p:cNvSpPr>
          <p:nvPr>
            <p:ph idx="1"/>
          </p:nvPr>
        </p:nvSpPr>
        <p:spPr>
          <a:xfrm>
            <a:off x="457200" y="1417638"/>
            <a:ext cx="8229600" cy="5035550"/>
          </a:xfrm>
          <a:noFill/>
          <a:ln>
            <a:noFill/>
          </a:ln>
        </p:spPr>
        <p:txBody>
          <a:bodyPr anchor="t" anchorCtr="0"/>
          <a:p>
            <a:r>
              <a:rPr lang="en-US" altLang="zh-CN" dirty="0">
                <a:latin typeface="Times New Roman" panose="02020603050405020304" pitchFamily="18" charset="0"/>
              </a:rPr>
              <a:t>RDRAM</a:t>
            </a:r>
            <a:r>
              <a:rPr lang="zh-CN" altLang="en-US" dirty="0">
                <a:latin typeface="Times New Roman" panose="02020603050405020304" pitchFamily="18" charset="0"/>
              </a:rPr>
              <a:t>总线是时钟信号需依次流过每个</a:t>
            </a:r>
            <a:r>
              <a:rPr lang="en-US" altLang="zh-CN" dirty="0">
                <a:latin typeface="Times New Roman" panose="02020603050405020304" pitchFamily="18" charset="0"/>
              </a:rPr>
              <a:t>RIMM</a:t>
            </a:r>
            <a:r>
              <a:rPr lang="zh-CN" altLang="en-US" dirty="0">
                <a:latin typeface="Times New Roman" panose="02020603050405020304" pitchFamily="18" charset="0"/>
              </a:rPr>
              <a:t>槽，然后再通过每个</a:t>
            </a:r>
            <a:r>
              <a:rPr lang="en-US" altLang="zh-CN" dirty="0">
                <a:latin typeface="Times New Roman" panose="02020603050405020304" pitchFamily="18" charset="0"/>
              </a:rPr>
              <a:t>RIMM</a:t>
            </a:r>
            <a:r>
              <a:rPr lang="zh-CN" altLang="en-US" dirty="0">
                <a:latin typeface="Times New Roman" panose="02020603050405020304" pitchFamily="18" charset="0"/>
              </a:rPr>
              <a:t>槽返回。因此，任何不含</a:t>
            </a:r>
            <a:r>
              <a:rPr lang="en-US" altLang="zh-CN" dirty="0">
                <a:latin typeface="Times New Roman" panose="02020603050405020304" pitchFamily="18" charset="0"/>
              </a:rPr>
              <a:t>RDRAM</a:t>
            </a:r>
            <a:r>
              <a:rPr lang="zh-CN" altLang="en-US" dirty="0">
                <a:latin typeface="Times New Roman" panose="02020603050405020304" pitchFamily="18" charset="0"/>
              </a:rPr>
              <a:t>芯片的</a:t>
            </a:r>
            <a:r>
              <a:rPr lang="en-US" altLang="zh-CN" dirty="0">
                <a:latin typeface="Times New Roman" panose="02020603050405020304" pitchFamily="18" charset="0"/>
              </a:rPr>
              <a:t>RIMM</a:t>
            </a:r>
            <a:r>
              <a:rPr lang="zh-CN" altLang="en-US" dirty="0">
                <a:latin typeface="Times New Roman" panose="02020603050405020304" pitchFamily="18" charset="0"/>
              </a:rPr>
              <a:t>插槽必须填入一个连接模块（</a:t>
            </a:r>
            <a:r>
              <a:rPr lang="en-US" altLang="zh-CN" dirty="0">
                <a:latin typeface="Times New Roman" panose="02020603050405020304" pitchFamily="18" charset="0"/>
              </a:rPr>
              <a:t>Rambus</a:t>
            </a:r>
            <a:r>
              <a:rPr lang="zh-CN" altLang="en-US" dirty="0">
                <a:latin typeface="Times New Roman" panose="02020603050405020304" pitchFamily="18" charset="0"/>
              </a:rPr>
              <a:t>终结器）以保证路径是完整的。</a:t>
            </a:r>
            <a:endParaRPr lang="en-US" altLang="zh-CN" dirty="0">
              <a:latin typeface="Times New Roman" panose="02020603050405020304" pitchFamily="18" charset="0"/>
            </a:endParaRPr>
          </a:p>
          <a:p>
            <a:pPr>
              <a:spcBef>
                <a:spcPts val="1800"/>
              </a:spcBef>
            </a:pPr>
            <a:r>
              <a:rPr lang="en-US" altLang="zh-CN" dirty="0">
                <a:latin typeface="Times New Roman" panose="02020603050405020304" pitchFamily="18" charset="0"/>
              </a:rPr>
              <a:t>Rambus</a:t>
            </a:r>
            <a:r>
              <a:rPr lang="zh-CN" altLang="en-US" dirty="0">
                <a:latin typeface="Times New Roman" panose="02020603050405020304" pitchFamily="18" charset="0"/>
              </a:rPr>
              <a:t>行地址与列地址的寻址总线是各自分离的独立总线，这就意味着行与列的选址几乎在同一时间内进行，从而进一步提高了工作效率。</a:t>
            </a:r>
            <a:endParaRPr lang="zh-CN" altLang="en-US" dirty="0">
              <a:latin typeface="Times New Roman" panose="02020603050405020304" pitchFamily="18" charset="0"/>
            </a:endParaRPr>
          </a:p>
          <a:p>
            <a:pPr>
              <a:spcBef>
                <a:spcPts val="1800"/>
              </a:spcBef>
            </a:pPr>
            <a:r>
              <a:rPr lang="zh-CN" altLang="en-US" dirty="0">
                <a:latin typeface="Times New Roman" panose="02020603050405020304" pitchFamily="18" charset="0"/>
              </a:rPr>
              <a:t>由</a:t>
            </a:r>
            <a:r>
              <a:rPr lang="en-US" altLang="zh-CN" dirty="0">
                <a:latin typeface="Times New Roman" panose="02020603050405020304" pitchFamily="18" charset="0"/>
              </a:rPr>
              <a:t>RDRAM</a:t>
            </a:r>
            <a:r>
              <a:rPr lang="zh-CN" altLang="en-US" dirty="0">
                <a:latin typeface="Times New Roman" panose="02020603050405020304" pitchFamily="18" charset="0"/>
              </a:rPr>
              <a:t>构成的系统存储器已经开始应用于现代微机之中，并可能成为服务器及其他高性能计算机的主流存储器系统。</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5.6 </a:t>
            </a:r>
            <a:r>
              <a:rPr lang="zh-CN" altLang="en-US" dirty="0">
                <a:latin typeface="Times New Roman" panose="02020603050405020304" pitchFamily="18" charset="0"/>
              </a:rPr>
              <a:t>多体交叉存储技术</a:t>
            </a:r>
            <a:endParaRPr lang="zh-CN" altLang="en-US" dirty="0">
              <a:latin typeface="Times New Roman" panose="02020603050405020304" pitchFamily="18" charset="0"/>
              <a:ea typeface="Times New Roman" panose="02020603050405020304" pitchFamily="18" charset="0"/>
            </a:endParaRPr>
          </a:p>
        </p:txBody>
      </p:sp>
      <p:sp>
        <p:nvSpPr>
          <p:cNvPr id="110594" name="内容占位符 2"/>
          <p:cNvSpPr>
            <a:spLocks noGrp="1"/>
          </p:cNvSpPr>
          <p:nvPr>
            <p:ph idx="1"/>
          </p:nvPr>
        </p:nvSpPr>
        <p:spPr>
          <a:noFill/>
          <a:ln>
            <a:noFill/>
          </a:ln>
        </p:spPr>
        <p:txBody>
          <a:bodyPr anchor="t" anchorCtr="0"/>
          <a:p>
            <a:r>
              <a:rPr lang="zh-CN" altLang="en-US" dirty="0">
                <a:solidFill>
                  <a:srgbClr val="FF0000"/>
                </a:solidFill>
              </a:rPr>
              <a:t>主存的存取速度已成为计算机系统的瓶颈</a:t>
            </a:r>
            <a:endParaRPr lang="en-US" altLang="zh-CN" dirty="0"/>
          </a:p>
          <a:p>
            <a:pPr lvl="1">
              <a:spcBef>
                <a:spcPts val="1800"/>
              </a:spcBef>
            </a:pPr>
            <a:r>
              <a:rPr lang="zh-CN" altLang="en-US" sz="2400" dirty="0"/>
              <a:t>通过寻找</a:t>
            </a:r>
            <a:r>
              <a:rPr lang="zh-CN" altLang="en-US" sz="2400" dirty="0">
                <a:cs typeface="+mn-ea"/>
              </a:rPr>
              <a:t>高速元件</a:t>
            </a:r>
            <a:r>
              <a:rPr lang="zh-CN" altLang="en-US" sz="2400" dirty="0"/>
              <a:t>来提高访问速度；</a:t>
            </a:r>
            <a:endParaRPr lang="en-US" altLang="zh-CN" sz="2400" dirty="0"/>
          </a:p>
          <a:p>
            <a:pPr lvl="1">
              <a:spcBef>
                <a:spcPts val="1800"/>
              </a:spcBef>
            </a:pPr>
            <a:r>
              <a:rPr lang="zh-CN" altLang="en-US" sz="2400" dirty="0"/>
              <a:t>采用多个存储器</a:t>
            </a:r>
            <a:r>
              <a:rPr lang="zh-CN" altLang="en-US" sz="2400" dirty="0">
                <a:solidFill>
                  <a:srgbClr val="FF0000"/>
                </a:solidFill>
              </a:rPr>
              <a:t>并行</a:t>
            </a:r>
            <a:r>
              <a:rPr lang="zh-CN" altLang="en-US" sz="2400" dirty="0"/>
              <a:t>工作；</a:t>
            </a:r>
            <a:endParaRPr lang="zh-CN" altLang="en-US" sz="2400" dirty="0"/>
          </a:p>
          <a:p>
            <a:pPr lvl="1">
              <a:spcBef>
                <a:spcPts val="1800"/>
              </a:spcBef>
            </a:pPr>
            <a:r>
              <a:rPr lang="zh-CN" altLang="en-US" sz="2400" dirty="0"/>
              <a:t>用</a:t>
            </a:r>
            <a:r>
              <a:rPr lang="zh-CN" altLang="en-US" sz="2400" dirty="0">
                <a:solidFill>
                  <a:srgbClr val="FF0000"/>
                </a:solidFill>
              </a:rPr>
              <a:t>交叉</a:t>
            </a:r>
            <a:r>
              <a:rPr lang="zh-CN" altLang="en-US" sz="2400" dirty="0"/>
              <a:t>访问技术来提高存储器的访问速度。</a:t>
            </a:r>
            <a:endParaRPr lang="zh-CN" altLang="en-US"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5.6.1 </a:t>
            </a:r>
            <a:r>
              <a:rPr lang="zh-CN" altLang="en-US" dirty="0">
                <a:latin typeface="Times New Roman" panose="02020603050405020304" pitchFamily="18" charset="0"/>
              </a:rPr>
              <a:t>并行访问存储器</a:t>
            </a:r>
            <a:endParaRPr lang="zh-CN" altLang="en-US" dirty="0">
              <a:latin typeface="Times New Roman" panose="02020603050405020304" pitchFamily="18" charset="0"/>
              <a:ea typeface="Times New Roman" panose="02020603050405020304" pitchFamily="18" charset="0"/>
            </a:endParaRPr>
          </a:p>
        </p:txBody>
      </p:sp>
      <p:sp>
        <p:nvSpPr>
          <p:cNvPr id="11161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在高速的计算机中，普遍采用</a:t>
            </a:r>
            <a:r>
              <a:rPr lang="zh-CN" altLang="en-US" dirty="0">
                <a:solidFill>
                  <a:srgbClr val="FF0000"/>
                </a:solidFill>
                <a:latin typeface="Times New Roman" panose="02020603050405020304" pitchFamily="18" charset="0"/>
              </a:rPr>
              <a:t>并行主存系统</a:t>
            </a:r>
            <a:endParaRPr lang="en-US" altLang="zh-CN"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在一个存取周期内可以并行读出多个字。</a:t>
            </a:r>
            <a:endParaRPr lang="zh-CN" altLang="en-US" sz="2400" dirty="0">
              <a:latin typeface="Times New Roman" panose="02020603050405020304" pitchFamily="18" charset="0"/>
            </a:endParaRPr>
          </a:p>
          <a:p>
            <a:pPr>
              <a:spcBef>
                <a:spcPts val="2400"/>
              </a:spcBef>
            </a:pPr>
            <a:r>
              <a:rPr lang="zh-CN" altLang="en-US" dirty="0">
                <a:solidFill>
                  <a:srgbClr val="FF0000"/>
                </a:solidFill>
                <a:latin typeface="Times New Roman" panose="02020603050405020304" pitchFamily="18" charset="0"/>
              </a:rPr>
              <a:t>共有地址寄存器和译码电路</a:t>
            </a:r>
            <a:r>
              <a:rPr lang="zh-CN" altLang="en-US" dirty="0">
                <a:latin typeface="Times New Roman" panose="02020603050405020304" pitchFamily="18" charset="0"/>
              </a:rPr>
              <a:t>，</a:t>
            </a:r>
            <a:r>
              <a:rPr lang="zh-CN" altLang="en-US" dirty="0">
                <a:solidFill>
                  <a:srgbClr val="FF0000"/>
                </a:solidFill>
                <a:latin typeface="Times New Roman" panose="02020603050405020304" pitchFamily="18" charset="0"/>
              </a:rPr>
              <a:t>按同一地址</a:t>
            </a:r>
            <a:r>
              <a:rPr lang="zh-CN" altLang="en-US" dirty="0">
                <a:latin typeface="Times New Roman" panose="02020603050405020304" pitchFamily="18" charset="0"/>
              </a:rPr>
              <a:t>访问：</a:t>
            </a:r>
            <a:endParaRPr lang="en-US" altLang="zh-CN"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CPU</a:t>
            </a:r>
            <a:r>
              <a:rPr lang="zh-CN" altLang="en-US" sz="2400" dirty="0">
                <a:latin typeface="Times New Roman" panose="02020603050405020304" pitchFamily="18" charset="0"/>
              </a:rPr>
              <a:t>送出地址</a:t>
            </a:r>
            <a:r>
              <a:rPr lang="en-US" altLang="zh-CN" sz="2400" dirty="0">
                <a:latin typeface="Times New Roman" panose="02020603050405020304" pitchFamily="18" charset="0"/>
              </a:rPr>
              <a:t>A</a:t>
            </a:r>
            <a:r>
              <a:rPr lang="zh-CN" altLang="en-US" sz="2400" dirty="0">
                <a:latin typeface="Times New Roman" panose="02020603050405020304" pitchFamily="18" charset="0"/>
              </a:rPr>
              <a:t>，</a:t>
            </a:r>
            <a:r>
              <a:rPr lang="en-US" altLang="zh-CN" sz="2400" dirty="0">
                <a:latin typeface="Times New Roman" panose="02020603050405020304" pitchFamily="18" charset="0"/>
              </a:rPr>
              <a:t>n</a:t>
            </a:r>
            <a:r>
              <a:rPr lang="zh-CN" altLang="en-US" sz="2400" dirty="0">
                <a:latin typeface="Times New Roman" panose="02020603050405020304" pitchFamily="18" charset="0"/>
              </a:rPr>
              <a:t>个存储器的所有</a:t>
            </a:r>
            <a:r>
              <a:rPr lang="en-US" altLang="zh-CN" sz="2400" dirty="0">
                <a:latin typeface="Times New Roman" panose="02020603050405020304" pitchFamily="18" charset="0"/>
              </a:rPr>
              <a:t>A</a:t>
            </a:r>
            <a:r>
              <a:rPr lang="zh-CN" altLang="en-US" sz="2400" dirty="0">
                <a:latin typeface="Times New Roman" panose="02020603050405020304" pitchFamily="18" charset="0"/>
              </a:rPr>
              <a:t>单元同时被选中；</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假设每个存储器的字长为</a:t>
            </a:r>
            <a:r>
              <a:rPr lang="en-US" altLang="zh-CN" sz="2400" dirty="0">
                <a:latin typeface="Times New Roman" panose="02020603050405020304" pitchFamily="18" charset="0"/>
              </a:rPr>
              <a:t>w</a:t>
            </a:r>
            <a:r>
              <a:rPr lang="zh-CN" altLang="en-US" sz="2400" dirty="0">
                <a:latin typeface="Times New Roman" panose="02020603050405020304" pitchFamily="18" charset="0"/>
              </a:rPr>
              <a:t>位，则同时访问</a:t>
            </a:r>
            <a:r>
              <a:rPr lang="en-US" altLang="zh-CN" sz="2400" dirty="0">
                <a:latin typeface="Times New Roman" panose="02020603050405020304" pitchFamily="18" charset="0"/>
              </a:rPr>
              <a:t>n×w</a:t>
            </a:r>
            <a:r>
              <a:rPr lang="zh-CN" altLang="en-US" sz="2400" dirty="0">
                <a:latin typeface="Times New Roman" panose="02020603050405020304" pitchFamily="18" charset="0"/>
              </a:rPr>
              <a:t>位；</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称为</a:t>
            </a:r>
            <a:r>
              <a:rPr lang="zh-CN" altLang="en-US" sz="2400" dirty="0">
                <a:solidFill>
                  <a:srgbClr val="FF0000"/>
                </a:solidFill>
                <a:latin typeface="Times New Roman" panose="02020603050405020304" pitchFamily="18" charset="0"/>
              </a:rPr>
              <a:t>单体多字系统</a:t>
            </a:r>
            <a:r>
              <a:rPr lang="zh-CN" altLang="en-US" sz="2400"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单体多字并行存储系统</a:t>
            </a:r>
            <a:endParaRPr lang="zh-CN" altLang="en-US" dirty="0">
              <a:latin typeface="Times New Roman" panose="02020603050405020304" pitchFamily="18" charset="0"/>
              <a:ea typeface="Times New Roman" panose="02020603050405020304" pitchFamily="18" charset="0"/>
            </a:endParaRPr>
          </a:p>
        </p:txBody>
      </p:sp>
      <p:graphicFrame>
        <p:nvGraphicFramePr>
          <p:cNvPr id="112642" name="Object 4"/>
          <p:cNvGraphicFramePr>
            <a:graphicFrameLocks noChangeAspect="1"/>
          </p:cNvGraphicFramePr>
          <p:nvPr/>
        </p:nvGraphicFramePr>
        <p:xfrm>
          <a:off x="2362200" y="1524000"/>
          <a:ext cx="4306888" cy="4352925"/>
        </p:xfrm>
        <a:graphic>
          <a:graphicData uri="http://schemas.openxmlformats.org/presentationml/2006/ole">
            <mc:AlternateContent xmlns:mc="http://schemas.openxmlformats.org/markup-compatibility/2006">
              <mc:Choice xmlns:v="urn:schemas-microsoft-com:vml" Requires="v">
                <p:oleObj spid="_x0000_s3103" name="" r:id="rId1" imgW="2029460" imgH="2184400" progId="Visio.Drawing.6">
                  <p:embed/>
                </p:oleObj>
              </mc:Choice>
              <mc:Fallback>
                <p:oleObj name="" r:id="rId1" imgW="2029460" imgH="2184400" progId="Visio.Drawing.6">
                  <p:embed/>
                  <p:pic>
                    <p:nvPicPr>
                      <p:cNvPr id="0" name="图片 3102"/>
                      <p:cNvPicPr/>
                      <p:nvPr/>
                    </p:nvPicPr>
                    <p:blipFill>
                      <a:blip r:embed="rId2"/>
                      <a:stretch>
                        <a:fillRect/>
                      </a:stretch>
                    </p:blipFill>
                    <p:spPr>
                      <a:xfrm>
                        <a:off x="2362200" y="1524000"/>
                        <a:ext cx="4306888" cy="4352925"/>
                      </a:xfrm>
                      <a:prstGeom prst="rect">
                        <a:avLst/>
                      </a:prstGeom>
                      <a:noFill/>
                      <a:ln w="38100">
                        <a:noFill/>
                        <a:miter/>
                      </a:ln>
                    </p:spPr>
                  </p:pic>
                </p:oleObj>
              </mc:Fallback>
            </mc:AlternateContent>
          </a:graphicData>
        </a:graphic>
      </p:graphicFrame>
      <p:sp>
        <p:nvSpPr>
          <p:cNvPr id="5" name="Rectangle 6"/>
          <p:cNvSpPr txBox="1">
            <a:spLocks noChangeArrowheads="1"/>
          </p:cNvSpPr>
          <p:nvPr/>
        </p:nvSpPr>
        <p:spPr bwMode="auto">
          <a:xfrm>
            <a:off x="1763713" y="5876925"/>
            <a:ext cx="593725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图5-25 单体多字并行存储系统</a:t>
            </a:r>
            <a:r>
              <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rPr>
              <a:t> </a:t>
            </a:r>
            <a:endParaRPr kumimoji="0"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5.6.2 </a:t>
            </a:r>
            <a:r>
              <a:rPr lang="zh-CN" altLang="en-US" dirty="0">
                <a:latin typeface="Times New Roman" panose="02020603050405020304" pitchFamily="18" charset="0"/>
              </a:rPr>
              <a:t>交叉访问存储器</a:t>
            </a:r>
            <a:endParaRPr lang="zh-CN" altLang="en-US" dirty="0">
              <a:latin typeface="Times New Roman" panose="02020603050405020304" pitchFamily="18" charset="0"/>
              <a:ea typeface="Times New Roman" panose="02020603050405020304" pitchFamily="18" charset="0"/>
            </a:endParaRPr>
          </a:p>
        </p:txBody>
      </p:sp>
      <p:sp>
        <p:nvSpPr>
          <p:cNvPr id="11366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多个容量相同的存储模块（存储体）：</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具有</a:t>
            </a:r>
            <a:r>
              <a:rPr lang="zh-CN" altLang="en-US" sz="2400" dirty="0">
                <a:solidFill>
                  <a:srgbClr val="FF0000"/>
                </a:solidFill>
                <a:latin typeface="Times New Roman" panose="02020603050405020304" pitchFamily="18" charset="0"/>
              </a:rPr>
              <a:t>各自独立</a:t>
            </a:r>
            <a:r>
              <a:rPr lang="zh-CN" altLang="en-US" sz="2400" dirty="0">
                <a:latin typeface="Times New Roman" panose="02020603050405020304" pitchFamily="18" charset="0"/>
              </a:rPr>
              <a:t>的</a:t>
            </a:r>
            <a:r>
              <a:rPr lang="zh-CN" altLang="en-US" sz="2400" dirty="0">
                <a:solidFill>
                  <a:srgbClr val="FF0000"/>
                </a:solidFill>
                <a:latin typeface="Times New Roman" panose="02020603050405020304" pitchFamily="18" charset="0"/>
              </a:rPr>
              <a:t>地址寄存器、读写电路</a:t>
            </a:r>
            <a:r>
              <a:rPr lang="zh-CN" altLang="en-US" sz="2400" dirty="0">
                <a:latin typeface="Times New Roman" panose="02020603050405020304" pitchFamily="18" charset="0"/>
              </a:rPr>
              <a:t>和</a:t>
            </a:r>
            <a:r>
              <a:rPr lang="zh-CN" altLang="en-US" sz="2400" dirty="0">
                <a:solidFill>
                  <a:srgbClr val="FF0000"/>
                </a:solidFill>
                <a:latin typeface="Times New Roman" panose="02020603050405020304" pitchFamily="18" charset="0"/>
              </a:rPr>
              <a:t>数据寄存器</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各个存储体能并行工作，又能交叉工作；</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交叉</a:t>
            </a:r>
            <a:r>
              <a:rPr lang="zh-CN" altLang="en-US" sz="2400" dirty="0">
                <a:latin typeface="Times New Roman" panose="02020603050405020304" pitchFamily="18" charset="0"/>
              </a:rPr>
              <a:t>方式：</a:t>
            </a:r>
            <a:endParaRPr lang="zh-CN" altLang="en-US" sz="2400" dirty="0">
              <a:latin typeface="Times New Roman" panose="02020603050405020304" pitchFamily="18" charset="0"/>
            </a:endParaRPr>
          </a:p>
          <a:p>
            <a:pPr lvl="2" latinLnBrk="0">
              <a:spcBef>
                <a:spcPts val="1200"/>
              </a:spcBef>
            </a:pPr>
            <a:r>
              <a:rPr lang="zh-CN" altLang="en-US" sz="2055" dirty="0">
                <a:latin typeface="Times New Roman" panose="02020603050405020304" pitchFamily="18" charset="0"/>
              </a:rPr>
              <a:t>地址寄存器的低位部分选择不同的存储体；</a:t>
            </a:r>
            <a:endParaRPr lang="en-US" altLang="zh-CN" sz="2055" dirty="0">
              <a:latin typeface="Times New Roman" panose="02020603050405020304" pitchFamily="18" charset="0"/>
            </a:endParaRPr>
          </a:p>
          <a:p>
            <a:pPr lvl="2" latinLnBrk="0">
              <a:spcBef>
                <a:spcPts val="1200"/>
              </a:spcBef>
            </a:pPr>
            <a:r>
              <a:rPr lang="zh-CN" altLang="en-US" sz="2055" dirty="0">
                <a:latin typeface="Times New Roman" panose="02020603050405020304" pitchFamily="18" charset="0"/>
              </a:rPr>
              <a:t>地址寄存器的高位部分指向存储体内的字。</a:t>
            </a:r>
            <a:endParaRPr lang="en-US" altLang="zh-CN"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多体交叉访问存储器</a:t>
            </a:r>
            <a:endParaRPr lang="zh-CN" altLang="en-US" dirty="0">
              <a:latin typeface="Times New Roman" panose="02020603050405020304" pitchFamily="18" charset="0"/>
              <a:ea typeface="Times New Roman" panose="02020603050405020304" pitchFamily="18" charset="0"/>
            </a:endParaRPr>
          </a:p>
        </p:txBody>
      </p:sp>
      <p:graphicFrame>
        <p:nvGraphicFramePr>
          <p:cNvPr id="114690" name="Object 5"/>
          <p:cNvGraphicFramePr>
            <a:graphicFrameLocks noChangeAspect="1"/>
          </p:cNvGraphicFramePr>
          <p:nvPr/>
        </p:nvGraphicFramePr>
        <p:xfrm>
          <a:off x="430213" y="1457325"/>
          <a:ext cx="5638800" cy="4133850"/>
        </p:xfrm>
        <a:graphic>
          <a:graphicData uri="http://schemas.openxmlformats.org/presentationml/2006/ole">
            <mc:AlternateContent xmlns:mc="http://schemas.openxmlformats.org/markup-compatibility/2006">
              <mc:Choice xmlns:v="urn:schemas-microsoft-com:vml" Requires="v">
                <p:oleObj spid="_x0000_s3104" name="" r:id="rId1" imgW="2887980" imgH="2118360" progId="Visio.Drawing.6">
                  <p:embed/>
                </p:oleObj>
              </mc:Choice>
              <mc:Fallback>
                <p:oleObj name="" r:id="rId1" imgW="2887980" imgH="2118360" progId="Visio.Drawing.6">
                  <p:embed/>
                  <p:pic>
                    <p:nvPicPr>
                      <p:cNvPr id="0" name="图片 3103"/>
                      <p:cNvPicPr/>
                      <p:nvPr/>
                    </p:nvPicPr>
                    <p:blipFill>
                      <a:blip r:embed="rId2"/>
                      <a:stretch>
                        <a:fillRect/>
                      </a:stretch>
                    </p:blipFill>
                    <p:spPr>
                      <a:xfrm>
                        <a:off x="430213" y="1457325"/>
                        <a:ext cx="5638800" cy="4133850"/>
                      </a:xfrm>
                      <a:prstGeom prst="rect">
                        <a:avLst/>
                      </a:prstGeom>
                      <a:noFill/>
                      <a:ln w="38100">
                        <a:noFill/>
                        <a:miter/>
                      </a:ln>
                    </p:spPr>
                  </p:pic>
                </p:oleObj>
              </mc:Fallback>
            </mc:AlternateContent>
          </a:graphicData>
        </a:graphic>
      </p:graphicFrame>
      <p:sp>
        <p:nvSpPr>
          <p:cNvPr id="5" name="Rectangle 7"/>
          <p:cNvSpPr txBox="1">
            <a:spLocks noChangeArrowheads="1"/>
          </p:cNvSpPr>
          <p:nvPr/>
        </p:nvSpPr>
        <p:spPr bwMode="auto">
          <a:xfrm>
            <a:off x="477838" y="5751513"/>
            <a:ext cx="5432425" cy="762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图5-26 多体交叉访问存储器</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114692" name="文本框 6"/>
          <p:cNvSpPr txBox="1"/>
          <p:nvPr/>
        </p:nvSpPr>
        <p:spPr>
          <a:xfrm>
            <a:off x="6300788" y="1557338"/>
            <a:ext cx="2087562" cy="4430712"/>
          </a:xfrm>
          <a:prstGeom prst="rect">
            <a:avLst/>
          </a:prstGeom>
          <a:noFill/>
          <a:ln w="9525">
            <a:noFill/>
          </a:ln>
        </p:spPr>
        <p:txBody>
          <a:bodyPr anchor="t" anchorCtr="0">
            <a:spAutoFit/>
          </a:bodyPr>
          <a:p>
            <a:pPr marL="285750" indent="-285750" algn="just" eaLnBrk="0" hangingPunct="0">
              <a:buFont typeface="Wingdings" panose="05000000000000000000" pitchFamily="2" charset="2"/>
              <a:buChar char="n"/>
            </a:pPr>
            <a:r>
              <a:rPr lang="zh-CN" altLang="en-US" dirty="0">
                <a:solidFill>
                  <a:srgbClr val="0000FF"/>
                </a:solidFill>
                <a:latin typeface="Times New Roman" panose="02020603050405020304" pitchFamily="18" charset="0"/>
                <a:ea typeface="宋体" panose="02010600030101010101" pitchFamily="2" charset="-122"/>
              </a:rPr>
              <a:t>以由</a:t>
            </a:r>
            <a:r>
              <a:rPr lang="en-US" altLang="zh-CN" dirty="0">
                <a:solidFill>
                  <a:srgbClr val="0000FF"/>
                </a:solidFill>
                <a:latin typeface="Times New Roman" panose="02020603050405020304" pitchFamily="18" charset="0"/>
                <a:ea typeface="宋体" panose="02010600030101010101" pitchFamily="2" charset="-122"/>
              </a:rPr>
              <a:t>4</a:t>
            </a:r>
            <a:r>
              <a:rPr lang="zh-CN" altLang="en-US" dirty="0">
                <a:solidFill>
                  <a:srgbClr val="0000FF"/>
                </a:solidFill>
                <a:latin typeface="Times New Roman" panose="02020603050405020304" pitchFamily="18" charset="0"/>
                <a:ea typeface="宋体" panose="02010600030101010101" pitchFamily="2" charset="-122"/>
              </a:rPr>
              <a:t>个分体组成的多体交叉存储器为例说明常用的编址方式。</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zh-CN" altLang="en-US" dirty="0">
                <a:solidFill>
                  <a:srgbClr val="0000FF"/>
                </a:solidFill>
                <a:latin typeface="Times New Roman" panose="02020603050405020304" pitchFamily="18" charset="0"/>
                <a:ea typeface="宋体" panose="02010600030101010101" pitchFamily="2" charset="-122"/>
              </a:rPr>
              <a:t>地址的高位部分是块内地址；地位部分是模块号</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zh-CN" altLang="en-US" dirty="0">
                <a:solidFill>
                  <a:srgbClr val="0000FF"/>
                </a:solidFill>
                <a:latin typeface="Times New Roman" panose="02020603050405020304" pitchFamily="18" charset="0"/>
                <a:ea typeface="宋体" panose="02010600030101010101" pitchFamily="2" charset="-122"/>
              </a:rPr>
              <a:t>连续的地址分布在不同的模块中，当访问连续地址时，可以分别访问不同的存储体，从而提高访问速度。</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模</a:t>
            </a:r>
            <a:r>
              <a:rPr lang="en-US" altLang="zh-CN" dirty="0">
                <a:latin typeface="Times New Roman" panose="02020603050405020304" pitchFamily="18" charset="0"/>
              </a:rPr>
              <a:t>4</a:t>
            </a:r>
            <a:r>
              <a:rPr lang="zh-CN" altLang="en-US" dirty="0">
                <a:latin typeface="Times New Roman" panose="02020603050405020304" pitchFamily="18" charset="0"/>
              </a:rPr>
              <a:t>交叉编址 </a:t>
            </a:r>
            <a:endParaRPr lang="zh-CN" altLang="en-US" dirty="0">
              <a:latin typeface="Times New Roman" panose="02020603050405020304" pitchFamily="18" charset="0"/>
              <a:ea typeface="Times New Roman" panose="02020603050405020304" pitchFamily="18" charset="0"/>
            </a:endParaRPr>
          </a:p>
        </p:txBody>
      </p:sp>
      <p:sp>
        <p:nvSpPr>
          <p:cNvPr id="48" name="Rectangle 4"/>
          <p:cNvSpPr>
            <a:spLocks noChangeArrowheads="1"/>
          </p:cNvSpPr>
          <p:nvPr/>
        </p:nvSpPr>
        <p:spPr bwMode="auto">
          <a:xfrm>
            <a:off x="571500" y="1557338"/>
            <a:ext cx="1277938"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algn="ctr" defTabSz="914400" rtl="0" eaLnBrk="1" fontAlgn="base" latinLnBrk="0" hangingPunct="1">
              <a:lnSpc>
                <a:spcPct val="100000"/>
              </a:lnSpc>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模块号</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6" name="Rectangle 5"/>
          <p:cNvSpPr>
            <a:spLocks noChangeArrowheads="1"/>
          </p:cNvSpPr>
          <p:nvPr/>
        </p:nvSpPr>
        <p:spPr bwMode="auto">
          <a:xfrm>
            <a:off x="1998663" y="1557338"/>
            <a:ext cx="3243263"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地址编址序列</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4" name="Rectangle 6"/>
          <p:cNvSpPr>
            <a:spLocks noChangeArrowheads="1"/>
          </p:cNvSpPr>
          <p:nvPr/>
        </p:nvSpPr>
        <p:spPr bwMode="auto">
          <a:xfrm>
            <a:off x="5475288" y="1557338"/>
            <a:ext cx="2984500"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地址的最低两位</a:t>
            </a:r>
            <a:endParaRPr kumimoji="1"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5717" name="Rectangle 7"/>
          <p:cNvSpPr/>
          <p:nvPr/>
        </p:nvSpPr>
        <p:spPr>
          <a:xfrm>
            <a:off x="727075" y="2435225"/>
            <a:ext cx="1038225" cy="879475"/>
          </a:xfrm>
          <a:prstGeom prst="rect">
            <a:avLst/>
          </a:prstGeom>
          <a:noFill/>
          <a:ln w="6350">
            <a:noFill/>
          </a:ln>
        </p:spPr>
        <p:txBody>
          <a:bodyPr anchor="t" anchorCtr="0"/>
          <a:p>
            <a:pPr algn="ctr"/>
            <a:r>
              <a:rPr lang="en-US" altLang="zh-CN" sz="2800" dirty="0">
                <a:solidFill>
                  <a:schemeClr val="tx1"/>
                </a:solidFill>
                <a:latin typeface="Times New Roman" panose="02020603050405020304" pitchFamily="18" charset="0"/>
                <a:ea typeface="宋体" panose="02010600030101010101" pitchFamily="2" charset="-122"/>
              </a:rPr>
              <a:t>M</a:t>
            </a:r>
            <a:r>
              <a:rPr lang="en-US" altLang="zh-CN" sz="2800" baseline="-30000" dirty="0">
                <a:solidFill>
                  <a:schemeClr val="tx1"/>
                </a:solidFill>
                <a:latin typeface="Times New Roman" panose="02020603050405020304" pitchFamily="18" charset="0"/>
                <a:ea typeface="宋体" panose="02010600030101010101" pitchFamily="2" charset="-122"/>
              </a:rPr>
              <a:t>0</a:t>
            </a:r>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18" name="Rectangle 8"/>
          <p:cNvSpPr/>
          <p:nvPr/>
        </p:nvSpPr>
        <p:spPr>
          <a:xfrm>
            <a:off x="1998663" y="2435225"/>
            <a:ext cx="4100512" cy="879475"/>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0，4，8，12，…，</a:t>
            </a:r>
            <a:r>
              <a:rPr lang="en-US" altLang="zh-CN" sz="2800" dirty="0">
                <a:solidFill>
                  <a:schemeClr val="tx1"/>
                </a:solidFill>
                <a:latin typeface="Times New Roman" panose="02020603050405020304" pitchFamily="18" charset="0"/>
                <a:ea typeface="宋体" panose="02010600030101010101" pitchFamily="2" charset="-122"/>
              </a:rPr>
              <a:t>4i+0</a:t>
            </a:r>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19" name="Rectangle 9"/>
          <p:cNvSpPr/>
          <p:nvPr/>
        </p:nvSpPr>
        <p:spPr>
          <a:xfrm>
            <a:off x="5475288" y="2435225"/>
            <a:ext cx="2984500" cy="879475"/>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00</a:t>
            </a:r>
            <a:endParaRPr lang="zh-CN" altLang="en-US" sz="2800" dirty="0">
              <a:solidFill>
                <a:schemeClr val="tx1"/>
              </a:solidFill>
              <a:latin typeface="Times New Roman" panose="02020603050405020304" pitchFamily="18" charset="0"/>
              <a:ea typeface="宋体" panose="02010600030101010101" pitchFamily="2" charset="-122"/>
            </a:endParaRPr>
          </a:p>
          <a:p>
            <a:pPr algn="ctr" eaLnBrk="0" hangingPunct="0"/>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115720" name="Rectangle 10"/>
          <p:cNvSpPr/>
          <p:nvPr/>
        </p:nvSpPr>
        <p:spPr>
          <a:xfrm>
            <a:off x="727075" y="3314700"/>
            <a:ext cx="1038225" cy="877888"/>
          </a:xfrm>
          <a:prstGeom prst="rect">
            <a:avLst/>
          </a:prstGeom>
          <a:noFill/>
          <a:ln w="6350">
            <a:noFill/>
          </a:ln>
        </p:spPr>
        <p:txBody>
          <a:bodyPr anchor="t" anchorCtr="0"/>
          <a:p>
            <a:pPr algn="ctr"/>
            <a:r>
              <a:rPr lang="en-US" altLang="zh-CN" sz="2800" dirty="0">
                <a:solidFill>
                  <a:schemeClr val="tx1"/>
                </a:solidFill>
                <a:latin typeface="Times New Roman" panose="02020603050405020304" pitchFamily="18" charset="0"/>
                <a:ea typeface="宋体" panose="02010600030101010101" pitchFamily="2" charset="-122"/>
              </a:rPr>
              <a:t>M</a:t>
            </a:r>
            <a:r>
              <a:rPr lang="en-US" altLang="zh-CN" sz="2800" baseline="-30000" dirty="0">
                <a:solidFill>
                  <a:schemeClr val="tx1"/>
                </a:solidFill>
                <a:latin typeface="Times New Roman" panose="02020603050405020304" pitchFamily="18" charset="0"/>
                <a:ea typeface="宋体" panose="02010600030101010101" pitchFamily="2" charset="-122"/>
              </a:rPr>
              <a:t>1</a:t>
            </a:r>
            <a:endParaRPr lang="en-US" altLang="zh-CN" sz="2800" dirty="0">
              <a:solidFill>
                <a:schemeClr val="tx1"/>
              </a:solidFill>
              <a:latin typeface="Times New Roman" panose="02020603050405020304" pitchFamily="18" charset="0"/>
              <a:ea typeface="宋体" panose="02010600030101010101" pitchFamily="2" charset="-122"/>
            </a:endParaRPr>
          </a:p>
          <a:p>
            <a:pPr algn="ctr" eaLnBrk="0" hangingPunct="0"/>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21" name="Rectangle 11"/>
          <p:cNvSpPr/>
          <p:nvPr/>
        </p:nvSpPr>
        <p:spPr>
          <a:xfrm>
            <a:off x="1998663" y="3314700"/>
            <a:ext cx="4100512" cy="877888"/>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1，5，9，13，…，4</a:t>
            </a:r>
            <a:r>
              <a:rPr lang="en-US" altLang="zh-CN" sz="2800" dirty="0">
                <a:solidFill>
                  <a:schemeClr val="tx1"/>
                </a:solidFill>
                <a:latin typeface="Times New Roman" panose="02020603050405020304" pitchFamily="18" charset="0"/>
                <a:ea typeface="宋体" panose="02010600030101010101" pitchFamily="2" charset="-122"/>
              </a:rPr>
              <a:t>i+1</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115722" name="Rectangle 12"/>
          <p:cNvSpPr/>
          <p:nvPr/>
        </p:nvSpPr>
        <p:spPr>
          <a:xfrm>
            <a:off x="5475288" y="3314700"/>
            <a:ext cx="2984500" cy="877888"/>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01</a:t>
            </a:r>
            <a:endParaRPr lang="zh-CN" altLang="en-US" sz="2800" dirty="0">
              <a:solidFill>
                <a:schemeClr val="tx1"/>
              </a:solidFill>
              <a:latin typeface="Times New Roman" panose="02020603050405020304" pitchFamily="18" charset="0"/>
              <a:ea typeface="宋体" panose="02010600030101010101" pitchFamily="2" charset="-122"/>
            </a:endParaRPr>
          </a:p>
          <a:p>
            <a:pPr algn="ctr" eaLnBrk="0" hangingPunct="0"/>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115723" name="Rectangle 13"/>
          <p:cNvSpPr/>
          <p:nvPr/>
        </p:nvSpPr>
        <p:spPr>
          <a:xfrm>
            <a:off x="727075" y="4192588"/>
            <a:ext cx="1038225" cy="877887"/>
          </a:xfrm>
          <a:prstGeom prst="rect">
            <a:avLst/>
          </a:prstGeom>
          <a:noFill/>
          <a:ln w="6350">
            <a:noFill/>
          </a:ln>
        </p:spPr>
        <p:txBody>
          <a:bodyPr anchor="t" anchorCtr="0"/>
          <a:p>
            <a:pPr algn="ctr"/>
            <a:r>
              <a:rPr lang="en-US" altLang="zh-CN" sz="2800" dirty="0">
                <a:solidFill>
                  <a:schemeClr val="tx1"/>
                </a:solidFill>
                <a:latin typeface="Times New Roman" panose="02020603050405020304" pitchFamily="18" charset="0"/>
                <a:ea typeface="宋体" panose="02010600030101010101" pitchFamily="2" charset="-122"/>
              </a:rPr>
              <a:t>M</a:t>
            </a:r>
            <a:r>
              <a:rPr lang="en-US" altLang="zh-CN" sz="2800" baseline="-30000" dirty="0">
                <a:solidFill>
                  <a:schemeClr val="tx1"/>
                </a:solidFill>
                <a:latin typeface="Times New Roman" panose="02020603050405020304" pitchFamily="18" charset="0"/>
                <a:ea typeface="宋体" panose="02010600030101010101" pitchFamily="2" charset="-122"/>
              </a:rPr>
              <a:t>2</a:t>
            </a:r>
            <a:endParaRPr lang="en-US" altLang="zh-CN" sz="2800" dirty="0">
              <a:solidFill>
                <a:schemeClr val="tx1"/>
              </a:solidFill>
              <a:latin typeface="Times New Roman" panose="02020603050405020304" pitchFamily="18" charset="0"/>
              <a:ea typeface="宋体" panose="02010600030101010101" pitchFamily="2" charset="-122"/>
            </a:endParaRPr>
          </a:p>
          <a:p>
            <a:pPr algn="ctr" eaLnBrk="0" hangingPunct="0"/>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24" name="Rectangle 14"/>
          <p:cNvSpPr/>
          <p:nvPr/>
        </p:nvSpPr>
        <p:spPr>
          <a:xfrm>
            <a:off x="1998663" y="4192588"/>
            <a:ext cx="4100512" cy="877887"/>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2，6，10，14，…，4</a:t>
            </a:r>
            <a:r>
              <a:rPr lang="en-US" altLang="zh-CN" sz="2800" dirty="0">
                <a:solidFill>
                  <a:schemeClr val="tx1"/>
                </a:solidFill>
                <a:latin typeface="Times New Roman" panose="02020603050405020304" pitchFamily="18" charset="0"/>
                <a:ea typeface="宋体" panose="02010600030101010101" pitchFamily="2" charset="-122"/>
              </a:rPr>
              <a:t>i+2</a:t>
            </a:r>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25" name="Rectangle 15"/>
          <p:cNvSpPr/>
          <p:nvPr/>
        </p:nvSpPr>
        <p:spPr>
          <a:xfrm>
            <a:off x="5475288" y="4192588"/>
            <a:ext cx="2984500" cy="877887"/>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10</a:t>
            </a:r>
            <a:endParaRPr lang="zh-CN" altLang="en-US" sz="2800" dirty="0">
              <a:solidFill>
                <a:schemeClr val="tx1"/>
              </a:solidFill>
              <a:latin typeface="Times New Roman" panose="02020603050405020304" pitchFamily="18" charset="0"/>
              <a:ea typeface="宋体" panose="02010600030101010101" pitchFamily="2" charset="-122"/>
            </a:endParaRPr>
          </a:p>
          <a:p>
            <a:pPr algn="ctr" eaLnBrk="0" hangingPunct="0"/>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115726" name="Rectangle 16"/>
          <p:cNvSpPr/>
          <p:nvPr/>
        </p:nvSpPr>
        <p:spPr>
          <a:xfrm>
            <a:off x="727075" y="5072063"/>
            <a:ext cx="1038225" cy="877887"/>
          </a:xfrm>
          <a:prstGeom prst="rect">
            <a:avLst/>
          </a:prstGeom>
          <a:noFill/>
          <a:ln w="6350">
            <a:noFill/>
          </a:ln>
        </p:spPr>
        <p:txBody>
          <a:bodyPr anchor="t" anchorCtr="0"/>
          <a:p>
            <a:pPr algn="ctr"/>
            <a:r>
              <a:rPr lang="en-US" altLang="zh-CN" sz="2800" dirty="0">
                <a:solidFill>
                  <a:schemeClr val="tx1"/>
                </a:solidFill>
                <a:latin typeface="Times New Roman" panose="02020603050405020304" pitchFamily="18" charset="0"/>
                <a:ea typeface="宋体" panose="02010600030101010101" pitchFamily="2" charset="-122"/>
              </a:rPr>
              <a:t>M</a:t>
            </a:r>
            <a:r>
              <a:rPr lang="en-US" altLang="zh-CN" sz="2800" baseline="-30000" dirty="0">
                <a:solidFill>
                  <a:schemeClr val="tx1"/>
                </a:solidFill>
                <a:latin typeface="Times New Roman" panose="02020603050405020304" pitchFamily="18" charset="0"/>
                <a:ea typeface="宋体" panose="02010600030101010101" pitchFamily="2" charset="-122"/>
              </a:rPr>
              <a:t>3</a:t>
            </a:r>
            <a:endParaRPr lang="en-US" altLang="zh-CN" sz="2800" dirty="0">
              <a:solidFill>
                <a:schemeClr val="tx1"/>
              </a:solidFill>
              <a:latin typeface="Times New Roman" panose="02020603050405020304" pitchFamily="18" charset="0"/>
              <a:ea typeface="宋体" panose="02010600030101010101" pitchFamily="2" charset="-122"/>
            </a:endParaRPr>
          </a:p>
          <a:p>
            <a:pPr algn="ctr" eaLnBrk="0" hangingPunct="0"/>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27" name="Rectangle 17"/>
          <p:cNvSpPr/>
          <p:nvPr/>
        </p:nvSpPr>
        <p:spPr>
          <a:xfrm>
            <a:off x="1998663" y="5072063"/>
            <a:ext cx="4100512" cy="877887"/>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3，7，11，15，…，4</a:t>
            </a:r>
            <a:r>
              <a:rPr lang="en-US" altLang="zh-CN" sz="2800" dirty="0">
                <a:solidFill>
                  <a:schemeClr val="tx1"/>
                </a:solidFill>
                <a:latin typeface="Times New Roman" panose="02020603050405020304" pitchFamily="18" charset="0"/>
                <a:ea typeface="宋体" panose="02010600030101010101" pitchFamily="2" charset="-122"/>
              </a:rPr>
              <a:t>i+3</a:t>
            </a:r>
            <a:endParaRPr lang="en-US" altLang="zh-CN" sz="2800" dirty="0">
              <a:solidFill>
                <a:schemeClr val="tx1"/>
              </a:solidFill>
              <a:latin typeface="Times New Roman" panose="02020603050405020304" pitchFamily="18" charset="0"/>
              <a:ea typeface="宋体" panose="02010600030101010101" pitchFamily="2" charset="-122"/>
            </a:endParaRPr>
          </a:p>
        </p:txBody>
      </p:sp>
      <p:sp>
        <p:nvSpPr>
          <p:cNvPr id="115728" name="Rectangle 18"/>
          <p:cNvSpPr/>
          <p:nvPr/>
        </p:nvSpPr>
        <p:spPr>
          <a:xfrm>
            <a:off x="5475288" y="5072063"/>
            <a:ext cx="2984500" cy="877887"/>
          </a:xfrm>
          <a:prstGeom prst="rect">
            <a:avLst/>
          </a:prstGeom>
          <a:noFill/>
          <a:ln w="6350">
            <a:noFill/>
          </a:ln>
        </p:spPr>
        <p:txBody>
          <a:bodyPr anchor="t" anchorCtr="0"/>
          <a:p>
            <a:pPr algn="ctr"/>
            <a:r>
              <a:rPr lang="zh-CN" altLang="en-US" sz="2800" dirty="0">
                <a:solidFill>
                  <a:schemeClr val="tx1"/>
                </a:solidFill>
                <a:latin typeface="Times New Roman" panose="02020603050405020304" pitchFamily="18" charset="0"/>
                <a:ea typeface="宋体" panose="02010600030101010101" pitchFamily="2" charset="-122"/>
              </a:rPr>
              <a:t>11</a:t>
            </a:r>
            <a:endParaRPr lang="zh-CN" altLang="en-US" sz="2800" dirty="0">
              <a:solidFill>
                <a:schemeClr val="tx1"/>
              </a:solidFill>
              <a:latin typeface="Times New Roman" panose="02020603050405020304" pitchFamily="18" charset="0"/>
              <a:ea typeface="宋体" panose="02010600030101010101" pitchFamily="2" charset="-122"/>
            </a:endParaRPr>
          </a:p>
          <a:p>
            <a:pPr algn="ctr" eaLnBrk="0" hangingPunct="0"/>
            <a:endParaRPr lang="zh-CN" altLang="en-US" sz="28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轮流</a:t>
            </a:r>
            <a:r>
              <a:rPr lang="zh-CN" altLang="en-US"/>
              <a:t>启动</a:t>
            </a:r>
            <a:endParaRPr lang="zh-CN" altLang="en-US"/>
          </a:p>
        </p:txBody>
      </p:sp>
      <p:sp>
        <p:nvSpPr>
          <p:cNvPr id="3" name="内容占位符 2"/>
          <p:cNvSpPr>
            <a:spLocks noGrp="1"/>
          </p:cNvSpPr>
          <p:nvPr>
            <p:ph idx="1"/>
          </p:nvPr>
        </p:nvSpPr>
        <p:spPr>
          <a:xfrm>
            <a:off x="457200" y="1370965"/>
            <a:ext cx="8229600" cy="2332990"/>
          </a:xfrm>
        </p:spPr>
        <p:txBody>
          <a:bodyPr/>
          <a:p>
            <a:r>
              <a:rPr lang="zh-CN" altLang="en-US"/>
              <a:t>轮流</a:t>
            </a:r>
            <a:r>
              <a:rPr lang="zh-CN" altLang="en-US"/>
              <a:t>启动：</a:t>
            </a:r>
            <a:endParaRPr lang="zh-CN" altLang="en-US"/>
          </a:p>
          <a:p>
            <a:pPr lvl="1" latinLnBrk="0">
              <a:spcBef>
                <a:spcPts val="1200"/>
              </a:spcBef>
            </a:pPr>
            <a:r>
              <a:rPr lang="zh-CN" altLang="en-US" sz="2400">
                <a:latin typeface="Times New Roman" panose="02020603050405020304" pitchFamily="18" charset="0"/>
                <a:cs typeface="Times New Roman" panose="02020603050405020304" pitchFamily="18" charset="0"/>
              </a:rPr>
              <a:t>按每隔1/m个存储周期轮流启动各模块进行读写。</a:t>
            </a:r>
            <a:endParaRPr lang="zh-CN" altLang="en-US" sz="2400">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则每隔 1/m个存储周</a:t>
            </a:r>
            <a:r>
              <a:rPr lang="zh-CN" altLang="en-US" sz="2400">
                <a:latin typeface="Times New Roman" panose="02020603050405020304" pitchFamily="18" charset="0"/>
                <a:cs typeface="Times New Roman" panose="02020603050405020304" pitchFamily="18" charset="0"/>
              </a:rPr>
              <a:t>期就可读出或写入一个数据,存取速度提高 m倍。</a:t>
            </a:r>
            <a:endParaRPr lang="zh-CN" altLang="en-US" sz="240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467995" y="3736340"/>
            <a:ext cx="3933190" cy="2209800"/>
          </a:xfrm>
          <a:prstGeom prst="rect">
            <a:avLst/>
          </a:prstGeom>
        </p:spPr>
      </p:pic>
      <p:pic>
        <p:nvPicPr>
          <p:cNvPr id="6" name="图片 5"/>
          <p:cNvPicPr>
            <a:picLocks noChangeAspect="1"/>
          </p:cNvPicPr>
          <p:nvPr/>
        </p:nvPicPr>
        <p:blipFill>
          <a:blip r:embed="rId2"/>
          <a:stretch>
            <a:fillRect/>
          </a:stretch>
        </p:blipFill>
        <p:spPr>
          <a:xfrm>
            <a:off x="4500245" y="3736340"/>
            <a:ext cx="4218940" cy="219837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panose="02020603050405020304" pitchFamily="18" charset="0"/>
                <a:cs typeface="Times New Roman" panose="02020603050405020304" pitchFamily="18" charset="0"/>
                <a:sym typeface="+mn-ea"/>
              </a:rPr>
              <a:t>5.6.3 </a:t>
            </a:r>
            <a:r>
              <a:rPr lang="zh-CN" altLang="en-US">
                <a:latin typeface="Times New Roman" panose="02020603050405020304" pitchFamily="18" charset="0"/>
                <a:cs typeface="Times New Roman" panose="02020603050405020304" pitchFamily="18" charset="0"/>
                <a:sym typeface="+mn-ea"/>
              </a:rPr>
              <a:t>双端口存储器</a:t>
            </a:r>
            <a:endParaRPr lang="zh-CN" altLang="en-US">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57200" y="1291590"/>
            <a:ext cx="8229600" cy="1981200"/>
          </a:xfrm>
        </p:spPr>
        <p:txBody>
          <a:bodyPr/>
          <a:p>
            <a:r>
              <a:rPr lang="zh-CN" altLang="en-US"/>
              <a:t>双口存储器在一个存储器中提供两组独立的读写控制电路和两个读写端口,因而可以同时提供两个数据的并行读写,是一种空间并行技术。</a:t>
            </a:r>
            <a:endParaRPr lang="zh-CN" altLang="en-US"/>
          </a:p>
          <a:p>
            <a:pPr lvl="1"/>
            <a:r>
              <a:rPr lang="zh-CN" altLang="en-US" sz="2400"/>
              <a:t>地址不能冲突</a:t>
            </a:r>
            <a:endParaRPr lang="zh-CN" altLang="en-US" sz="2400"/>
          </a:p>
        </p:txBody>
      </p:sp>
      <p:pic>
        <p:nvPicPr>
          <p:cNvPr id="4" name="图片 3"/>
          <p:cNvPicPr>
            <a:picLocks noChangeAspect="1"/>
          </p:cNvPicPr>
          <p:nvPr/>
        </p:nvPicPr>
        <p:blipFill>
          <a:blip r:embed="rId1"/>
          <a:stretch>
            <a:fillRect/>
          </a:stretch>
        </p:blipFill>
        <p:spPr>
          <a:xfrm>
            <a:off x="1619885" y="3249295"/>
            <a:ext cx="5876925" cy="300736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5.7 </a:t>
            </a:r>
            <a:r>
              <a:rPr lang="zh-CN" altLang="en-US" dirty="0">
                <a:latin typeface="Times New Roman" panose="02020603050405020304" pitchFamily="18" charset="0"/>
              </a:rPr>
              <a:t>高速缓冲存储器</a:t>
            </a:r>
            <a:endParaRPr lang="zh-CN" altLang="en-US" dirty="0">
              <a:latin typeface="Times New Roman" panose="02020603050405020304" pitchFamily="18" charset="0"/>
              <a:ea typeface="Times New Roman" panose="02020603050405020304" pitchFamily="18" charset="0"/>
            </a:endParaRPr>
          </a:p>
        </p:txBody>
      </p:sp>
      <p:sp>
        <p:nvSpPr>
          <p:cNvPr id="11673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主存速度的提高始终跟不上</a:t>
            </a:r>
            <a:r>
              <a:rPr lang="en-US" altLang="zh-CN" dirty="0">
                <a:latin typeface="Times New Roman" panose="02020603050405020304" pitchFamily="18" charset="0"/>
              </a:rPr>
              <a:t>CPU</a:t>
            </a:r>
            <a:r>
              <a:rPr lang="zh-CN" altLang="en-US" dirty="0">
                <a:latin typeface="Times New Roman" panose="02020603050405020304" pitchFamily="18" charset="0"/>
              </a:rPr>
              <a:t>的发展。</a:t>
            </a:r>
            <a:endParaRPr lang="en-US" altLang="zh-CN" dirty="0">
              <a:latin typeface="Times New Roman" panose="02020603050405020304" pitchFamily="18" charset="0"/>
            </a:endParaRPr>
          </a:p>
          <a:p>
            <a:pPr lvl="1">
              <a:spcBef>
                <a:spcPts val="1800"/>
              </a:spcBef>
            </a:pPr>
            <a:r>
              <a:rPr lang="en-US" altLang="zh-CN" dirty="0">
                <a:latin typeface="Times New Roman" panose="02020603050405020304" pitchFamily="18" charset="0"/>
              </a:rPr>
              <a:t>CPU</a:t>
            </a:r>
            <a:r>
              <a:rPr lang="zh-CN" altLang="en-US" dirty="0">
                <a:latin typeface="Times New Roman" panose="02020603050405020304" pitchFamily="18" charset="0"/>
              </a:rPr>
              <a:t>的速度平均每年提高60%；</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组成主存的</a:t>
            </a:r>
            <a:r>
              <a:rPr lang="en-US" altLang="zh-CN" dirty="0">
                <a:latin typeface="Times New Roman" panose="02020603050405020304" pitchFamily="18" charset="0"/>
              </a:rPr>
              <a:t>DRAM</a:t>
            </a:r>
            <a:r>
              <a:rPr lang="zh-CN" altLang="en-US" dirty="0">
                <a:latin typeface="Times New Roman" panose="02020603050405020304" pitchFamily="18" charset="0"/>
              </a:rPr>
              <a:t>的速度平均每年只改进7%；</a:t>
            </a:r>
            <a:endParaRPr lang="en-US" altLang="zh-CN" dirty="0">
              <a:latin typeface="Times New Roman" panose="02020603050405020304" pitchFamily="18" charset="0"/>
            </a:endParaRPr>
          </a:p>
          <a:p>
            <a:pPr lvl="1">
              <a:spcBef>
                <a:spcPts val="1800"/>
              </a:spcBef>
            </a:pPr>
            <a:r>
              <a:rPr lang="en-US" altLang="zh-CN" dirty="0">
                <a:latin typeface="Times New Roman" panose="02020603050405020304" pitchFamily="18" charset="0"/>
              </a:rPr>
              <a:t>SRAM</a:t>
            </a:r>
            <a:r>
              <a:rPr lang="zh-CN" altLang="en-US" dirty="0">
                <a:latin typeface="Times New Roman" panose="02020603050405020304" pitchFamily="18" charset="0"/>
              </a:rPr>
              <a:t>速度则接近甚至等于</a:t>
            </a:r>
            <a:r>
              <a:rPr lang="en-US" altLang="zh-CN" dirty="0">
                <a:latin typeface="Times New Roman" panose="02020603050405020304" pitchFamily="18" charset="0"/>
              </a:rPr>
              <a:t>CPU</a:t>
            </a:r>
            <a:r>
              <a:rPr lang="zh-CN" altLang="en-US" dirty="0">
                <a:latin typeface="Times New Roman" panose="02020603050405020304" pitchFamily="18" charset="0"/>
              </a:rPr>
              <a:t>的速度。</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程序的局部性原理</a:t>
            </a:r>
            <a:endParaRPr lang="zh-CN" altLang="en-US" dirty="0">
              <a:latin typeface="Times New Roman" panose="02020603050405020304" pitchFamily="18" charset="0"/>
            </a:endParaRPr>
          </a:p>
        </p:txBody>
      </p:sp>
      <p:sp>
        <p:nvSpPr>
          <p:cNvPr id="117762" name="内容占位符 2"/>
          <p:cNvSpPr>
            <a:spLocks noGrp="1"/>
          </p:cNvSpPr>
          <p:nvPr>
            <p:ph idx="1"/>
          </p:nvPr>
        </p:nvSpPr>
        <p:spPr>
          <a:xfrm>
            <a:off x="457200" y="1417638"/>
            <a:ext cx="8229600" cy="4748212"/>
          </a:xfrm>
          <a:noFill/>
          <a:ln>
            <a:noFill/>
          </a:ln>
        </p:spPr>
        <p:txBody>
          <a:bodyPr anchor="t" anchorCtr="0"/>
          <a:p>
            <a:r>
              <a:rPr lang="zh-CN" altLang="en-US" dirty="0">
                <a:latin typeface="Times New Roman" panose="02020603050405020304" pitchFamily="18" charset="0"/>
              </a:rPr>
              <a:t> 程序的局部性两个方面：</a:t>
            </a:r>
            <a:endParaRPr lang="en-US" altLang="zh-CN"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时间局部性</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2">
              <a:spcBef>
                <a:spcPts val="1200"/>
              </a:spcBef>
            </a:pPr>
            <a:r>
              <a:rPr lang="zh-CN" altLang="en-US" sz="2000" dirty="0">
                <a:latin typeface="Times New Roman" panose="02020603050405020304" pitchFamily="18" charset="0"/>
              </a:rPr>
              <a:t>如果一个存储单元被访问，可能该单元会很快被再次访问。</a:t>
            </a:r>
            <a:endParaRPr lang="en-US" altLang="zh-CN" sz="2000" dirty="0">
              <a:latin typeface="Times New Roman" panose="02020603050405020304" pitchFamily="18" charset="0"/>
            </a:endParaRPr>
          </a:p>
          <a:p>
            <a:pPr lvl="1">
              <a:spcBef>
                <a:spcPts val="600"/>
              </a:spcBef>
            </a:pPr>
            <a:r>
              <a:rPr lang="zh-CN" altLang="en-US" sz="2400" dirty="0">
                <a:solidFill>
                  <a:srgbClr val="FF0000"/>
                </a:solidFill>
                <a:latin typeface="Times New Roman" panose="02020603050405020304" pitchFamily="18" charset="0"/>
              </a:rPr>
              <a:t>空间局部性</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如果一个存储单元被访问，则邻近单元也可能很快被访问；</a:t>
            </a:r>
            <a:endParaRPr lang="zh-CN" altLang="en-US" sz="2000" dirty="0">
              <a:latin typeface="Times New Roman" panose="02020603050405020304" pitchFamily="18" charset="0"/>
            </a:endParaRPr>
          </a:p>
          <a:p>
            <a:pPr lvl="2">
              <a:spcBef>
                <a:spcPts val="600"/>
              </a:spcBef>
            </a:pPr>
            <a:r>
              <a:rPr lang="zh-CN" altLang="en-US" sz="2000" dirty="0">
                <a:latin typeface="Times New Roman" panose="02020603050405020304" pitchFamily="18" charset="0"/>
              </a:rPr>
              <a:t>向量、数组、树、表等。</a:t>
            </a:r>
            <a:endParaRPr lang="zh-CN" altLang="en-US" sz="2000" dirty="0">
              <a:latin typeface="Times New Roman" panose="02020603050405020304" pitchFamily="18" charset="0"/>
            </a:endParaRPr>
          </a:p>
          <a:p>
            <a:pPr>
              <a:spcBef>
                <a:spcPts val="1800"/>
              </a:spcBef>
            </a:pPr>
            <a:r>
              <a:rPr lang="zh-CN" altLang="en-US" dirty="0">
                <a:solidFill>
                  <a:srgbClr val="FF0000"/>
                </a:solidFill>
                <a:latin typeface="Times New Roman" panose="02020603050405020304" pitchFamily="18" charset="0"/>
              </a:rPr>
              <a:t>高速缓冲技术利用程序的局部性原理</a:t>
            </a:r>
            <a:endParaRPr lang="en-US" altLang="zh-CN"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CPU</a:t>
            </a:r>
            <a:r>
              <a:rPr lang="zh-CN" altLang="en-US" sz="2400" dirty="0">
                <a:latin typeface="Times New Roman" panose="02020603050405020304" pitchFamily="18" charset="0"/>
              </a:rPr>
              <a:t>的访存操作大多数针对</a:t>
            </a:r>
            <a:r>
              <a:rPr lang="en-US" altLang="zh-CN" sz="2400" dirty="0">
                <a:latin typeface="Times New Roman" panose="02020603050405020304" pitchFamily="18" charset="0"/>
              </a:rPr>
              <a:t>Cache</a:t>
            </a:r>
            <a:r>
              <a:rPr lang="zh-CN" altLang="en-US" sz="2400" dirty="0">
                <a:latin typeface="Times New Roman" panose="02020603050405020304" pitchFamily="18" charset="0"/>
              </a:rPr>
              <a:t>进行；</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程序的执行速度大大提高。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a:t>
            </a:r>
            <a:endParaRPr lang="zh-CN" altLang="en-US"/>
          </a:p>
        </p:txBody>
      </p:sp>
      <p:sp>
        <p:nvSpPr>
          <p:cNvPr id="3" name="内容占位符 2"/>
          <p:cNvSpPr>
            <a:spLocks noGrp="1"/>
          </p:cNvSpPr>
          <p:nvPr>
            <p:ph idx="1"/>
          </p:nvPr>
        </p:nvSpPr>
        <p:spPr>
          <a:xfrm>
            <a:off x="457200" y="1276985"/>
            <a:ext cx="8229600" cy="1951990"/>
          </a:xfrm>
        </p:spPr>
        <p:txBody>
          <a:bodyPr/>
          <a:p>
            <a:r>
              <a:rPr lang="zh-CN" altLang="en-US" sz="2400">
                <a:latin typeface="Times New Roman" panose="02020603050405020304" pitchFamily="18" charset="0"/>
                <a:cs typeface="Times New Roman" panose="02020603050405020304" pitchFamily="18" charset="0"/>
              </a:rPr>
              <a:t>假定数组元素按行优先方式存放在主存,则以下两段伪代码程序A和B中,(1)对于数组a的访问,哪一个空间局部性更好?哪一个时间局部性更好?(2)变量 sum的空间局部性和时间局部性各如何?(3)对于指令访问来说,for 循环体的空间局部性和时间局部性如何?</a:t>
            </a:r>
            <a:endParaRPr lang="zh-CN" altLang="en-US" sz="24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539750" y="3357245"/>
            <a:ext cx="4137660" cy="2938145"/>
          </a:xfrm>
          <a:prstGeom prst="rect">
            <a:avLst/>
          </a:prstGeom>
        </p:spPr>
      </p:pic>
      <p:pic>
        <p:nvPicPr>
          <p:cNvPr id="5" name="图片 4"/>
          <p:cNvPicPr>
            <a:picLocks noChangeAspect="1"/>
          </p:cNvPicPr>
          <p:nvPr/>
        </p:nvPicPr>
        <p:blipFill>
          <a:blip r:embed="rId2"/>
          <a:srcRect r="5127"/>
          <a:stretch>
            <a:fillRect/>
          </a:stretch>
        </p:blipFill>
        <p:spPr>
          <a:xfrm>
            <a:off x="4860290" y="3357245"/>
            <a:ext cx="3959860" cy="293814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sp>
        <p:nvSpPr>
          <p:cNvPr id="3" name="内容占位符 2"/>
          <p:cNvSpPr>
            <a:spLocks noGrp="1"/>
          </p:cNvSpPr>
          <p:nvPr>
            <p:ph idx="1"/>
          </p:nvPr>
        </p:nvSpPr>
        <p:spPr>
          <a:xfrm>
            <a:off x="457200" y="1600200"/>
            <a:ext cx="5624830" cy="4028440"/>
          </a:xfrm>
        </p:spPr>
        <p:txBody>
          <a:bodyPr/>
          <a:p>
            <a:r>
              <a:rPr lang="en-US" altLang="zh-CN">
                <a:latin typeface="Times New Roman" panose="02020603050405020304" pitchFamily="18" charset="0"/>
                <a:cs typeface="Times New Roman" panose="02020603050405020304" pitchFamily="18" charset="0"/>
              </a:rPr>
              <a:t>a</a:t>
            </a:r>
            <a:r>
              <a:rPr lang="zh-CN" altLang="en-US">
                <a:latin typeface="Times New Roman" panose="02020603050405020304" pitchFamily="18" charset="0"/>
                <a:cs typeface="Times New Roman" panose="02020603050405020304" pitchFamily="18" charset="0"/>
              </a:rPr>
              <a:t>的访问：</a:t>
            </a:r>
            <a:endParaRPr lang="zh-CN" altLang="en-US">
              <a:latin typeface="Times New Roman" panose="02020603050405020304" pitchFamily="18" charset="0"/>
              <a:cs typeface="Times New Roman" panose="02020603050405020304" pitchFamily="18" charset="0"/>
            </a:endParaRPr>
          </a:p>
          <a:p>
            <a:pPr lvl="1"/>
            <a:r>
              <a:rPr lang="en-US" altLang="zh-CN" sz="2400">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的空间局部性好；</a:t>
            </a:r>
            <a:endParaRPr lang="zh-CN" altLang="en-US" sz="2400">
              <a:latin typeface="Times New Roman" panose="02020603050405020304" pitchFamily="18" charset="0"/>
              <a:cs typeface="Times New Roman" panose="02020603050405020304" pitchFamily="18" charset="0"/>
            </a:endParaRPr>
          </a:p>
          <a:p>
            <a:pPr lvl="1"/>
            <a:r>
              <a:rPr lang="en-US" altLang="zh-CN" sz="2400">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和</a:t>
            </a: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的时间局部性都</a:t>
            </a:r>
            <a:r>
              <a:rPr lang="zh-CN" altLang="en-US" sz="2400">
                <a:latin typeface="Times New Roman" panose="02020603050405020304" pitchFamily="18" charset="0"/>
                <a:cs typeface="Times New Roman" panose="02020603050405020304" pitchFamily="18" charset="0"/>
              </a:rPr>
              <a:t>差；</a:t>
            </a:r>
            <a:endParaRPr lang="zh-CN" altLang="en-US" sz="2400">
              <a:latin typeface="Times New Roman" panose="02020603050405020304" pitchFamily="18" charset="0"/>
              <a:cs typeface="Times New Roman" panose="02020603050405020304" pitchFamily="18" charset="0"/>
            </a:endParaRPr>
          </a:p>
          <a:p>
            <a:pPr latinLnBrk="0">
              <a:spcBef>
                <a:spcPts val="1200"/>
              </a:spcBef>
            </a:pPr>
            <a:r>
              <a:rPr lang="zh-CN" altLang="en-US">
                <a:latin typeface="Times New Roman" panose="02020603050405020304" pitchFamily="18" charset="0"/>
                <a:cs typeface="Times New Roman" panose="02020603050405020304" pitchFamily="18" charset="0"/>
              </a:rPr>
              <a:t>变量</a:t>
            </a:r>
            <a:r>
              <a:rPr lang="en-US" altLang="zh-CN">
                <a:latin typeface="Times New Roman" panose="02020603050405020304" pitchFamily="18" charset="0"/>
                <a:cs typeface="Times New Roman" panose="02020603050405020304" pitchFamily="18" charset="0"/>
              </a:rPr>
              <a:t>Sum:</a:t>
            </a:r>
            <a:endParaRPr lang="en-US" altLang="zh-CN">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单个变量无空间局部性；</a:t>
            </a:r>
            <a:endParaRPr lang="zh-CN" altLang="en-US" sz="2400">
              <a:latin typeface="Times New Roman" panose="02020603050405020304" pitchFamily="18" charset="0"/>
              <a:cs typeface="Times New Roman" panose="02020603050405020304" pitchFamily="18" charset="0"/>
            </a:endParaRPr>
          </a:p>
          <a:p>
            <a:pPr lvl="1"/>
            <a:r>
              <a:rPr lang="en-US" altLang="zh-CN" sz="2400">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和</a:t>
            </a: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的时间局部性相同；</a:t>
            </a:r>
            <a:endParaRPr lang="en-US" altLang="zh-CN">
              <a:latin typeface="Times New Roman" panose="02020603050405020304" pitchFamily="18" charset="0"/>
              <a:cs typeface="Times New Roman" panose="02020603050405020304" pitchFamily="18" charset="0"/>
            </a:endParaRPr>
          </a:p>
          <a:p>
            <a:pPr latinLnBrk="0">
              <a:spcBef>
                <a:spcPts val="1200"/>
              </a:spcBef>
            </a:pPr>
            <a:r>
              <a:rPr lang="en-US" altLang="zh-CN">
                <a:latin typeface="Times New Roman" panose="02020603050405020304" pitchFamily="18" charset="0"/>
                <a:cs typeface="Times New Roman" panose="02020603050405020304" pitchFamily="18" charset="0"/>
              </a:rPr>
              <a:t>for</a:t>
            </a:r>
            <a:r>
              <a:rPr lang="zh-CN" altLang="en-US">
                <a:latin typeface="Times New Roman" panose="02020603050405020304" pitchFamily="18" charset="0"/>
                <a:cs typeface="Times New Roman" panose="02020603050405020304" pitchFamily="18" charset="0"/>
              </a:rPr>
              <a:t>循环体：</a:t>
            </a:r>
            <a:endParaRPr lang="zh-CN" altLang="en-US">
              <a:latin typeface="Times New Roman" panose="02020603050405020304" pitchFamily="18" charset="0"/>
              <a:cs typeface="Times New Roman" panose="02020603050405020304" pitchFamily="18" charset="0"/>
            </a:endParaRPr>
          </a:p>
          <a:p>
            <a:pPr lvl="1" latinLnBrk="0">
              <a:spcBef>
                <a:spcPts val="600"/>
              </a:spcBef>
            </a:pPr>
            <a:r>
              <a:rPr lang="en-US" altLang="zh-CN" sz="2400">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和</a:t>
            </a:r>
            <a:r>
              <a:rPr lang="en-US" altLang="zh-CN" sz="2400">
                <a:latin typeface="Times New Roman" panose="02020603050405020304" pitchFamily="18" charset="0"/>
                <a:cs typeface="Times New Roman" panose="02020603050405020304" pitchFamily="18" charset="0"/>
              </a:rPr>
              <a:t>B</a:t>
            </a:r>
            <a:r>
              <a:rPr lang="zh-CN" altLang="en-US" sz="2400">
                <a:latin typeface="Times New Roman" panose="02020603050405020304" pitchFamily="18" charset="0"/>
                <a:cs typeface="Times New Roman" panose="02020603050405020304" pitchFamily="18" charset="0"/>
              </a:rPr>
              <a:t>的时间和空间局部性都好</a:t>
            </a:r>
            <a:endParaRPr lang="zh-CN" altLang="en-US" sz="240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5868035" y="1628775"/>
            <a:ext cx="2630170" cy="4173220"/>
          </a:xfrm>
          <a:prstGeom prst="rect">
            <a:avLst/>
          </a:prstGeom>
        </p:spPr>
      </p:pic>
    </p:spTree>
  </p:cSld>
  <p:clrMapOvr>
    <a:masterClrMapping/>
  </p:clrMapOvr>
  <p:timing>
    <p:tnLst>
      <p:par>
        <p:cTn id="1" dur="indefinite" restart="never" nodeType="tmRoot"/>
      </p:par>
    </p:tnLst>
    <p:bldLst>
      <p:bldP spid="3" grpId="0" build="p"/>
      <p:bldP spid="3" grpI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2.Cache</a:t>
            </a:r>
            <a:r>
              <a:rPr lang="zh-CN" altLang="en-US" dirty="0">
                <a:latin typeface="Times New Roman" panose="02020603050405020304" pitchFamily="18" charset="0"/>
              </a:rPr>
              <a:t>的基本结构</a:t>
            </a:r>
            <a:endParaRPr lang="zh-CN" altLang="en-US" dirty="0">
              <a:latin typeface="Times New Roman" panose="02020603050405020304" pitchFamily="18" charset="0"/>
              <a:ea typeface="Times New Roman" panose="02020603050405020304" pitchFamily="18" charset="0"/>
            </a:endParaRPr>
          </a:p>
        </p:txBody>
      </p:sp>
      <p:sp>
        <p:nvSpPr>
          <p:cNvPr id="118786" name="内容占位符 2"/>
          <p:cNvSpPr>
            <a:spLocks noGrp="1"/>
          </p:cNvSpPr>
          <p:nvPr>
            <p:ph idx="1"/>
          </p:nvPr>
        </p:nvSpPr>
        <p:spPr>
          <a:xfrm>
            <a:off x="455613" y="1443038"/>
            <a:ext cx="8362950" cy="4525962"/>
          </a:xfrm>
          <a:noFill/>
          <a:ln>
            <a:noFill/>
          </a:ln>
        </p:spPr>
        <p:txBody>
          <a:bodyPr anchor="t" anchorCtr="0"/>
          <a:p>
            <a:pPr algn="just"/>
            <a:r>
              <a:rPr lang="en-US" altLang="zh-CN" dirty="0">
                <a:latin typeface="Times New Roman" panose="02020603050405020304" pitchFamily="18" charset="0"/>
              </a:rPr>
              <a:t>Cache</a:t>
            </a:r>
            <a:r>
              <a:rPr lang="zh-CN" altLang="en-US" dirty="0">
                <a:latin typeface="Times New Roman" panose="02020603050405020304" pitchFamily="18" charset="0"/>
              </a:rPr>
              <a:t>和主存都被分成若干个大小相等的块：</a:t>
            </a:r>
            <a:endParaRPr lang="zh-CN" altLang="en-US"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每块由若干字节组成；</a:t>
            </a:r>
            <a:endParaRPr lang="en-US" altLang="zh-CN" sz="2400" dirty="0">
              <a:latin typeface="Times New Roman" panose="02020603050405020304" pitchFamily="18" charset="0"/>
            </a:endParaRPr>
          </a:p>
          <a:p>
            <a:pPr lvl="1" algn="just" latinLnBrk="0">
              <a:spcBef>
                <a:spcPts val="1200"/>
              </a:spcBef>
            </a:pPr>
            <a:r>
              <a:rPr lang="en-US" altLang="zh-CN" sz="2400" dirty="0">
                <a:latin typeface="Times New Roman" panose="02020603050405020304" pitchFamily="18" charset="0"/>
              </a:rPr>
              <a:t>Cache</a:t>
            </a:r>
            <a:r>
              <a:rPr lang="zh-CN" altLang="en-US" sz="2400" dirty="0">
                <a:latin typeface="Times New Roman" panose="02020603050405020304" pitchFamily="18" charset="0"/>
              </a:rPr>
              <a:t>中的块数要远少于主存中的块数；</a:t>
            </a:r>
            <a:endParaRPr lang="en-US" altLang="zh-CN" sz="2400" dirty="0">
              <a:latin typeface="Times New Roman" panose="02020603050405020304" pitchFamily="18" charset="0"/>
            </a:endParaRPr>
          </a:p>
          <a:p>
            <a:pPr lvl="1" algn="just" latinLnBrk="0">
              <a:spcBef>
                <a:spcPts val="1200"/>
              </a:spcBef>
            </a:pPr>
            <a:r>
              <a:rPr lang="en-US" altLang="zh-CN" sz="2400" dirty="0">
                <a:latin typeface="Times New Roman" panose="02020603050405020304" pitchFamily="18" charset="0"/>
              </a:rPr>
              <a:t>Cache</a:t>
            </a:r>
            <a:r>
              <a:rPr lang="zh-CN" altLang="en-US" sz="2400" dirty="0">
                <a:latin typeface="Times New Roman" panose="02020603050405020304" pitchFamily="18" charset="0"/>
              </a:rPr>
              <a:t>中保存</a:t>
            </a:r>
            <a:r>
              <a:rPr lang="zh-CN" altLang="en-US" sz="2400" dirty="0">
                <a:solidFill>
                  <a:srgbClr val="FF0000"/>
                </a:solidFill>
                <a:latin typeface="Times New Roman" panose="02020603050405020304" pitchFamily="18" charset="0"/>
              </a:rPr>
              <a:t>主存中最急需执行的若干块的副本</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判断命中的方法：</a:t>
            </a:r>
            <a:endParaRPr lang="en-US" altLang="zh-CN" dirty="0">
              <a:latin typeface="Times New Roman" panose="02020603050405020304" pitchFamily="18" charset="0"/>
            </a:endParaRPr>
          </a:p>
          <a:p>
            <a:pPr lvl="2" algn="just">
              <a:spcBef>
                <a:spcPts val="1200"/>
              </a:spcBef>
            </a:pPr>
            <a:r>
              <a:rPr lang="zh-CN" altLang="en-US" dirty="0">
                <a:latin typeface="Times New Roman" panose="02020603050405020304" pitchFamily="18" charset="0"/>
              </a:rPr>
              <a:t>用主存地址的块号字段访问</a:t>
            </a:r>
            <a:r>
              <a:rPr lang="en-US" altLang="zh-CN" dirty="0">
                <a:solidFill>
                  <a:srgbClr val="FF0000"/>
                </a:solidFill>
                <a:latin typeface="Times New Roman" panose="02020603050405020304" pitchFamily="18" charset="0"/>
              </a:rPr>
              <a:t>Cache</a:t>
            </a:r>
            <a:r>
              <a:rPr lang="zh-CN" altLang="en-US" dirty="0">
                <a:solidFill>
                  <a:srgbClr val="FF0000"/>
                </a:solidFill>
                <a:latin typeface="Times New Roman" panose="02020603050405020304" pitchFamily="18" charset="0"/>
              </a:rPr>
              <a:t>标记</a:t>
            </a:r>
            <a:r>
              <a:rPr lang="zh-CN" altLang="en-US" dirty="0">
                <a:latin typeface="Times New Roman" panose="02020603050405020304" pitchFamily="18" charset="0"/>
              </a:rPr>
              <a:t>，比较标记：</a:t>
            </a:r>
            <a:endParaRPr lang="en-US" altLang="zh-CN" dirty="0">
              <a:latin typeface="Times New Roman" panose="02020603050405020304" pitchFamily="18" charset="0"/>
            </a:endParaRPr>
          </a:p>
          <a:p>
            <a:pPr lvl="3" algn="just">
              <a:spcBef>
                <a:spcPts val="1200"/>
              </a:spcBef>
            </a:pPr>
            <a:r>
              <a:rPr lang="zh-CN" altLang="en-US" dirty="0">
                <a:latin typeface="Times New Roman" panose="02020603050405020304" pitchFamily="18" charset="0"/>
              </a:rPr>
              <a:t>若相等，访问</a:t>
            </a:r>
            <a:r>
              <a:rPr lang="en-US" altLang="zh-CN" dirty="0">
                <a:latin typeface="Times New Roman" panose="02020603050405020304" pitchFamily="18" charset="0"/>
              </a:rPr>
              <a:t>Cache</a:t>
            </a:r>
            <a:r>
              <a:rPr lang="zh-CN" altLang="en-US" dirty="0">
                <a:latin typeface="Times New Roman" panose="02020603050405020304" pitchFamily="18" charset="0"/>
              </a:rPr>
              <a:t>有效，称</a:t>
            </a:r>
            <a:r>
              <a:rPr lang="en-US" altLang="zh-CN" dirty="0">
                <a:latin typeface="Times New Roman" panose="02020603050405020304" pitchFamily="18" charset="0"/>
              </a:rPr>
              <a:t>Cache</a:t>
            </a:r>
            <a:r>
              <a:rPr lang="zh-CN" altLang="en-US" dirty="0">
                <a:latin typeface="Times New Roman" panose="02020603050405020304" pitchFamily="18" charset="0"/>
              </a:rPr>
              <a:t>命中；</a:t>
            </a:r>
            <a:endParaRPr lang="en-US" altLang="zh-CN" dirty="0">
              <a:latin typeface="Times New Roman" panose="02020603050405020304" pitchFamily="18" charset="0"/>
            </a:endParaRPr>
          </a:p>
          <a:p>
            <a:pPr lvl="3" algn="just">
              <a:spcBef>
                <a:spcPts val="1200"/>
              </a:spcBef>
            </a:pPr>
            <a:r>
              <a:rPr lang="zh-CN" altLang="en-US" dirty="0">
                <a:latin typeface="Times New Roman" panose="02020603050405020304" pitchFamily="18" charset="0"/>
              </a:rPr>
              <a:t>若不相等，访问</a:t>
            </a:r>
            <a:r>
              <a:rPr lang="en-US" altLang="zh-CN" dirty="0">
                <a:latin typeface="Times New Roman" panose="02020603050405020304" pitchFamily="18" charset="0"/>
              </a:rPr>
              <a:t>Cache</a:t>
            </a:r>
            <a:r>
              <a:rPr lang="zh-CN" altLang="en-US" dirty="0">
                <a:latin typeface="Times New Roman" panose="02020603050405020304" pitchFamily="18" charset="0"/>
              </a:rPr>
              <a:t>无效，称</a:t>
            </a:r>
            <a:r>
              <a:rPr lang="en-US" altLang="zh-CN" dirty="0">
                <a:latin typeface="Times New Roman" panose="02020603050405020304" pitchFamily="18" charset="0"/>
              </a:rPr>
              <a:t>Cache</a:t>
            </a:r>
            <a:r>
              <a:rPr lang="zh-CN" altLang="en-US" dirty="0">
                <a:latin typeface="Times New Roman" panose="02020603050405020304" pitchFamily="18" charset="0"/>
              </a:rPr>
              <a:t>不命中或失效。</a:t>
            </a:r>
            <a:endParaRPr lang="zh-CN" altLang="en-US" dirty="0">
              <a:latin typeface="Times New Roman" panose="02020603050405020304" pitchFamily="18" charset="0"/>
            </a:endParaRPr>
          </a:p>
          <a:p>
            <a:pPr algn="just"/>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Cache</a:t>
            </a:r>
            <a:r>
              <a:rPr lang="zh-CN" altLang="en-US" dirty="0">
                <a:latin typeface="Times New Roman" panose="02020603050405020304" pitchFamily="18" charset="0"/>
              </a:rPr>
              <a:t>的基本结构</a:t>
            </a:r>
            <a:br>
              <a:rPr lang="zh-CN" altLang="en-US" dirty="0">
                <a:latin typeface="Times New Roman" panose="02020603050405020304" pitchFamily="18" charset="0"/>
              </a:rPr>
            </a:br>
            <a:endParaRPr lang="zh-CN" altLang="en-US" dirty="0">
              <a:latin typeface="Times New Roman" panose="02020603050405020304" pitchFamily="18" charset="0"/>
              <a:ea typeface="Times New Roman" panose="02020603050405020304" pitchFamily="18" charset="0"/>
            </a:endParaRPr>
          </a:p>
        </p:txBody>
      </p:sp>
      <p:pic>
        <p:nvPicPr>
          <p:cNvPr id="119810" name="图片 88"/>
          <p:cNvPicPr>
            <a:picLocks noChangeAspect="1"/>
          </p:cNvPicPr>
          <p:nvPr/>
        </p:nvPicPr>
        <p:blipFill>
          <a:blip r:embed="rId1"/>
          <a:stretch>
            <a:fillRect/>
          </a:stretch>
        </p:blipFill>
        <p:spPr>
          <a:xfrm>
            <a:off x="1331913" y="1125538"/>
            <a:ext cx="6121400" cy="4691062"/>
          </a:xfrm>
          <a:prstGeom prst="rect">
            <a:avLst/>
          </a:prstGeom>
          <a:noFill/>
          <a:ln w="9525">
            <a:noFill/>
          </a:ln>
        </p:spPr>
      </p:pic>
      <p:sp>
        <p:nvSpPr>
          <p:cNvPr id="119811" name="Rectangle 6"/>
          <p:cNvSpPr txBox="1"/>
          <p:nvPr/>
        </p:nvSpPr>
        <p:spPr>
          <a:xfrm>
            <a:off x="2071688" y="5986463"/>
            <a:ext cx="5000625" cy="685800"/>
          </a:xfrm>
          <a:prstGeom prst="rect">
            <a:avLst/>
          </a:prstGeom>
          <a:noFill/>
          <a:ln w="9525">
            <a:noFill/>
          </a:ln>
        </p:spPr>
        <p:txBody>
          <a:bodyPr anchor="t" anchorCtr="0"/>
          <a:p>
            <a:pPr marL="342900" indent="-342900" algn="ctr">
              <a:spcBef>
                <a:spcPct val="20000"/>
              </a:spcBef>
              <a:buClr>
                <a:schemeClr val="hlink"/>
              </a:buClr>
            </a:pPr>
            <a:r>
              <a:rPr lang="zh-CN" altLang="en-US" sz="2400" b="1" dirty="0">
                <a:solidFill>
                  <a:schemeClr val="hlink"/>
                </a:solidFill>
                <a:latin typeface="Times New Roman" panose="02020603050405020304" pitchFamily="18" charset="0"/>
                <a:ea typeface="黑体" panose="02010609060101010101" pitchFamily="49" charset="-122"/>
              </a:rPr>
              <a:t>图5-28 </a:t>
            </a:r>
            <a:r>
              <a:rPr lang="en-US" altLang="zh-CN" sz="2400" b="1" dirty="0">
                <a:solidFill>
                  <a:schemeClr val="hlink"/>
                </a:solidFill>
                <a:latin typeface="Times New Roman" panose="02020603050405020304" pitchFamily="18" charset="0"/>
                <a:ea typeface="黑体" panose="02010609060101010101" pitchFamily="49" charset="-122"/>
              </a:rPr>
              <a:t>Cache</a:t>
            </a:r>
            <a:r>
              <a:rPr lang="zh-CN" altLang="en-US" sz="2400" b="1" dirty="0">
                <a:solidFill>
                  <a:schemeClr val="hlink"/>
                </a:solidFill>
                <a:latin typeface="Times New Roman" panose="02020603050405020304" pitchFamily="18" charset="0"/>
                <a:ea typeface="黑体" panose="02010609060101010101" pitchFamily="49" charset="-122"/>
              </a:rPr>
              <a:t>的基本结构</a:t>
            </a:r>
            <a:endParaRPr lang="zh-CN" altLang="en-US" sz="2400" b="1" dirty="0">
              <a:solidFill>
                <a:schemeClr val="hlink"/>
              </a:solidFill>
              <a:latin typeface="Times New Roman" panose="02020603050405020304" pitchFamily="18" charset="0"/>
              <a:ea typeface="黑体" panose="02010609060101010101" pitchFamily="49"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5.7.2 Cache</a:t>
            </a:r>
            <a:r>
              <a:rPr lang="zh-CN" altLang="en-US" dirty="0">
                <a:latin typeface="Times New Roman" panose="02020603050405020304" pitchFamily="18" charset="0"/>
              </a:rPr>
              <a:t>的读写操作</a:t>
            </a:r>
            <a:endParaRPr lang="zh-CN" altLang="en-US" dirty="0">
              <a:latin typeface="Times New Roman" panose="02020603050405020304" pitchFamily="18" charset="0"/>
              <a:ea typeface="Times New Roman" panose="02020603050405020304" pitchFamily="18" charset="0"/>
            </a:endParaRPr>
          </a:p>
        </p:txBody>
      </p:sp>
      <p:sp>
        <p:nvSpPr>
          <p:cNvPr id="126978"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1.Cache</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的读操作</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如果</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命中：</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8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直接对</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读操作，与主存无关；</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如果</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不命中：</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则仍需访问主存，并把该块信息一次从主存调入</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内。</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若此时</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已满：</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根据某种</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mn-ea"/>
              </a:rPr>
              <a:t>替换算法</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，用这个块替换掉</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中原来某块。</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 </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2. Cache</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的写操作：</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中保存的是主存的部分副本：</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一致性问题</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如果</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写命中：</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遇到</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与主存中的内容不一致的问题；</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两种</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处理方法：</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mn-ea"/>
              </a:rPr>
              <a:t>写直达法和写回法</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如果写</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不命中：</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就直接把信息写入主存；</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两种处理方法：</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mn-ea"/>
              </a:rPr>
              <a:t>不按写分配法和按写分配法</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
        <p:nvSpPr>
          <p:cNvPr id="121858"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5.7.2 Cache</a:t>
            </a:r>
            <a:r>
              <a:rPr lang="zh-CN" altLang="en-US" dirty="0">
                <a:latin typeface="Times New Roman" panose="02020603050405020304" pitchFamily="18" charset="0"/>
              </a:rPr>
              <a:t>的读写操作</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例：</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假定处理器时钟周期为 2ns，某程序由1000条指令组成，每条指令执行一次，其中的4条指令在</a:t>
            </a:r>
            <a:r>
              <a:rPr lang="zh-CN" altLang="en-US" sz="2400">
                <a:solidFill>
                  <a:srgbClr val="FF0000"/>
                </a:solidFill>
                <a:latin typeface="Times New Roman" panose="02020603050405020304" pitchFamily="18" charset="0"/>
                <a:cs typeface="Times New Roman" panose="02020603050405020304" pitchFamily="18" charset="0"/>
              </a:rPr>
              <a:t>取指令时</a:t>
            </a:r>
            <a:r>
              <a:rPr lang="zh-CN" altLang="en-US" sz="2400">
                <a:latin typeface="Times New Roman" panose="02020603050405020304" pitchFamily="18" charset="0"/>
                <a:cs typeface="Times New Roman" panose="02020603050405020304" pitchFamily="18" charset="0"/>
              </a:rPr>
              <a:t>没有在 cache中找到，其余指令都能在 cache 中取到。在</a:t>
            </a:r>
            <a:r>
              <a:rPr lang="zh-CN" altLang="en-US" sz="2400">
                <a:solidFill>
                  <a:srgbClr val="FF0000"/>
                </a:solidFill>
                <a:latin typeface="Times New Roman" panose="02020603050405020304" pitchFamily="18" charset="0"/>
                <a:cs typeface="Times New Roman" panose="02020603050405020304" pitchFamily="18" charset="0"/>
              </a:rPr>
              <a:t>执行指令</a:t>
            </a:r>
            <a:r>
              <a:rPr lang="zh-CN" altLang="en-US" sz="2400">
                <a:latin typeface="Times New Roman" panose="02020603050405020304" pitchFamily="18" charset="0"/>
                <a:cs typeface="Times New Roman" panose="02020603050405020304" pitchFamily="18" charset="0"/>
              </a:rPr>
              <a:t>过程中，该程序需要 3000次主存数据访问，其中，6次没有在 cache 中找到。试问:</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(1)执行该程序得到的 cache 命中率是多少?</a:t>
            </a:r>
            <a:endParaRPr lang="zh-CN" altLang="en-US" sz="2400">
              <a:latin typeface="Times New Roman" panose="02020603050405020304" pitchFamily="18" charset="0"/>
              <a:cs typeface="Times New Roman" panose="02020603050405020304" pitchFamily="18" charset="0"/>
            </a:endParaRPr>
          </a:p>
          <a:p>
            <a:pPr lvl="1" latinLnBrk="0">
              <a:spcBef>
                <a:spcPts val="600"/>
              </a:spcBef>
            </a:pPr>
            <a:r>
              <a:rPr lang="zh-CN" altLang="en-US" sz="2400">
                <a:latin typeface="Times New Roman" panose="02020603050405020304" pitchFamily="18" charset="0"/>
                <a:cs typeface="Times New Roman" panose="02020603050405020304" pitchFamily="18" charset="0"/>
              </a:rPr>
              <a:t>(2)若cache 中存取一个信息的时间为1个时钟周期，缺失损失为4个时钟周期，则CPU 在 cache-主存层次的平均访问时间为多少?</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解答</a:t>
            </a:r>
            <a:endParaRPr lang="zh-CN" altLang="en-US"/>
          </a:p>
        </p:txBody>
      </p:sp>
      <p:sp>
        <p:nvSpPr>
          <p:cNvPr id="3" name="内容占位符 2"/>
          <p:cNvSpPr>
            <a:spLocks noGrp="1"/>
          </p:cNvSpPr>
          <p:nvPr>
            <p:ph idx="1"/>
          </p:nvPr>
        </p:nvSpPr>
        <p:spPr/>
        <p:txBody>
          <a:bodyPr/>
          <a:p>
            <a:r>
              <a:rPr lang="zh-CN" altLang="en-US">
                <a:latin typeface="Times New Roman" panose="02020603050405020304" pitchFamily="18" charset="0"/>
                <a:cs typeface="Times New Roman" panose="02020603050405020304" pitchFamily="18" charset="0"/>
              </a:rPr>
              <a:t>(1)执行该程序时的总访问次数为1000+3000=4000,未命中次数为4+6=10,故cache命中率为：</a:t>
            </a:r>
            <a:endParaRPr lang="zh-CN" altLang="en-US">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(4000-10)/4000=99.75%</a:t>
            </a:r>
            <a:endParaRPr lang="zh-CN" altLang="en-US">
              <a:latin typeface="Times New Roman" panose="02020603050405020304" pitchFamily="18" charset="0"/>
              <a:cs typeface="Times New Roman" panose="02020603050405020304" pitchFamily="18" charset="0"/>
            </a:endParaRPr>
          </a:p>
          <a:p>
            <a:pPr latinLnBrk="0">
              <a:spcBef>
                <a:spcPts val="1200"/>
              </a:spcBef>
            </a:pPr>
            <a:r>
              <a:rPr lang="zh-CN" altLang="en-US">
                <a:latin typeface="Times New Roman" panose="02020603050405020304" pitchFamily="18" charset="0"/>
                <a:cs typeface="Times New Roman" panose="02020603050405020304" pitchFamily="18" charset="0"/>
              </a:rPr>
              <a:t>(2)cache-主存层次的平均访问时间为：</a:t>
            </a:r>
            <a:endParaRPr lang="zh-CN" altLang="en-US">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1+(1-99.75%)</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4=1.01个时钟周期；</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即：1.01</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2ns=2.02ns,与 cache 的访问时间相近</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5.7.3 </a:t>
            </a:r>
            <a:r>
              <a:rPr lang="zh-CN" altLang="en-US" dirty="0">
                <a:latin typeface="Times New Roman" panose="02020603050405020304" pitchFamily="18" charset="0"/>
              </a:rPr>
              <a:t>地址映象</a:t>
            </a:r>
            <a:endParaRPr lang="zh-CN" altLang="en-US" dirty="0">
              <a:latin typeface="Times New Roman" panose="02020603050405020304" pitchFamily="18" charset="0"/>
              <a:ea typeface="Times New Roman" panose="02020603050405020304" pitchFamily="18" charset="0"/>
            </a:endParaRPr>
          </a:p>
        </p:txBody>
      </p:sp>
      <p:sp>
        <p:nvSpPr>
          <p:cNvPr id="129026"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1.</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全相联映像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主存中</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任何一个块可以装入到</a:t>
            </a:r>
            <a:r>
              <a:rPr kumimoji="0" lang="en-US" altLang="zh-CN" sz="2400" b="0" i="0" u="none" strike="noStrike" kern="0" cap="none" spc="0" normalizeH="0" baseline="0" noProof="1" dirty="0">
                <a:solidFill>
                  <a:srgbClr val="FF0000"/>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中任何一个块</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优点：</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映像方式比较灵活；</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的块冲突概率最低、空间利用率最高；</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缺点：</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地址变换速度慢，成本高，实现比较困难。</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全相联映像</a:t>
            </a:r>
            <a:endParaRPr lang="zh-CN" altLang="en-US" dirty="0">
              <a:latin typeface="Times New Roman" panose="02020603050405020304" pitchFamily="18" charset="0"/>
              <a:ea typeface="Times New Roman" panose="02020603050405020304" pitchFamily="18" charset="0"/>
            </a:endParaRPr>
          </a:p>
        </p:txBody>
      </p:sp>
      <p:graphicFrame>
        <p:nvGraphicFramePr>
          <p:cNvPr id="123906" name="Object 4"/>
          <p:cNvGraphicFramePr>
            <a:graphicFrameLocks noChangeAspect="1"/>
          </p:cNvGraphicFramePr>
          <p:nvPr/>
        </p:nvGraphicFramePr>
        <p:xfrm>
          <a:off x="5286375" y="1355725"/>
          <a:ext cx="3019425" cy="4781550"/>
        </p:xfrm>
        <a:graphic>
          <a:graphicData uri="http://schemas.openxmlformats.org/presentationml/2006/ole">
            <mc:AlternateContent xmlns:mc="http://schemas.openxmlformats.org/markup-compatibility/2006">
              <mc:Choice xmlns:v="urn:schemas-microsoft-com:vml" Requires="v">
                <p:oleObj spid="_x0000_s3105" name="" r:id="rId1" imgW="1590675" imgH="2518410" progId="Visio.Drawing.6">
                  <p:embed/>
                </p:oleObj>
              </mc:Choice>
              <mc:Fallback>
                <p:oleObj name="" r:id="rId1" imgW="1590675" imgH="2518410" progId="Visio.Drawing.6">
                  <p:embed/>
                  <p:pic>
                    <p:nvPicPr>
                      <p:cNvPr id="0" name="图片 3104"/>
                      <p:cNvPicPr/>
                      <p:nvPr/>
                    </p:nvPicPr>
                    <p:blipFill>
                      <a:blip r:embed="rId2"/>
                      <a:stretch>
                        <a:fillRect/>
                      </a:stretch>
                    </p:blipFill>
                    <p:spPr>
                      <a:xfrm>
                        <a:off x="5286375" y="1355725"/>
                        <a:ext cx="3019425" cy="4781550"/>
                      </a:xfrm>
                      <a:prstGeom prst="rect">
                        <a:avLst/>
                      </a:prstGeom>
                      <a:noFill/>
                      <a:ln w="38100">
                        <a:noFill/>
                        <a:miter/>
                      </a:ln>
                    </p:spPr>
                  </p:pic>
                </p:oleObj>
              </mc:Fallback>
            </mc:AlternateContent>
          </a:graphicData>
        </a:graphic>
      </p:graphicFrame>
      <p:sp>
        <p:nvSpPr>
          <p:cNvPr id="5" name="Rectangle 5"/>
          <p:cNvSpPr txBox="1">
            <a:spLocks noChangeArrowheads="1"/>
          </p:cNvSpPr>
          <p:nvPr/>
        </p:nvSpPr>
        <p:spPr bwMode="auto">
          <a:xfrm>
            <a:off x="2916238" y="5832475"/>
            <a:ext cx="4154488"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图5-29(</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全相联映像</a:t>
            </a:r>
            <a:endParaRPr kumimoji="0" lang="zh-CN" altLang="en-US" sz="20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123908" name="文本框 5"/>
          <p:cNvSpPr txBox="1"/>
          <p:nvPr/>
        </p:nvSpPr>
        <p:spPr>
          <a:xfrm>
            <a:off x="539750" y="1563688"/>
            <a:ext cx="4154488" cy="3860800"/>
          </a:xfrm>
          <a:prstGeom prst="rect">
            <a:avLst/>
          </a:prstGeom>
          <a:noFill/>
          <a:ln w="9525">
            <a:noFill/>
          </a:ln>
        </p:spPr>
        <p:txBody>
          <a:bodyPr anchor="t" anchorCtr="0">
            <a:spAutoFit/>
          </a:bodyPr>
          <a:p>
            <a:pPr marL="285750" indent="-285750" algn="just" eaLnBrk="0" hangingPunct="0">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主存和</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中的块大小相同；</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主存中任何一块都可以放到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中的任何一块；</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CPU</a:t>
            </a:r>
            <a:r>
              <a:rPr lang="zh-CN" altLang="en-US" sz="2000" dirty="0">
                <a:solidFill>
                  <a:srgbClr val="0000FF"/>
                </a:solidFill>
                <a:latin typeface="Times New Roman" panose="02020603050405020304" pitchFamily="18" charset="0"/>
                <a:ea typeface="宋体" panose="02010600030101010101" pitchFamily="2" charset="-122"/>
              </a:rPr>
              <a:t>访问时判断数据是否在</a:t>
            </a:r>
            <a:r>
              <a:rPr lang="en-US" altLang="zh-CN" sz="2000" dirty="0">
                <a:solidFill>
                  <a:srgbClr val="0000FF"/>
                </a:solidFill>
                <a:latin typeface="Times New Roman" panose="02020603050405020304" pitchFamily="18" charset="0"/>
                <a:ea typeface="宋体" panose="02010600030101010101" pitchFamily="2" charset="-122"/>
              </a:rPr>
              <a:t>CACHA</a:t>
            </a:r>
            <a:r>
              <a:rPr lang="zh-CN" altLang="en-US" sz="2000" dirty="0">
                <a:solidFill>
                  <a:srgbClr val="0000FF"/>
                </a:solidFill>
                <a:latin typeface="Times New Roman" panose="02020603050405020304" pitchFamily="18" charset="0"/>
                <a:ea typeface="宋体" panose="02010600030101010101" pitchFamily="2" charset="-122"/>
              </a:rPr>
              <a:t>中的时间比较长，需要进行</a:t>
            </a:r>
            <a:r>
              <a:rPr lang="en-US" altLang="zh-CN" sz="2000" dirty="0">
                <a:solidFill>
                  <a:srgbClr val="0000FF"/>
                </a:solidFill>
                <a:latin typeface="Times New Roman" panose="02020603050405020304" pitchFamily="18" charset="0"/>
                <a:ea typeface="宋体" panose="02010600030101010101" pitchFamily="2" charset="-122"/>
              </a:rPr>
              <a:t>8</a:t>
            </a:r>
            <a:r>
              <a:rPr lang="zh-CN" altLang="en-US" sz="2000" dirty="0">
                <a:solidFill>
                  <a:srgbClr val="0000FF"/>
                </a:solidFill>
                <a:latin typeface="Times New Roman" panose="02020603050405020304" pitchFamily="18" charset="0"/>
                <a:ea typeface="宋体" panose="02010600030101010101" pitchFamily="2" charset="-122"/>
              </a:rPr>
              <a:t>次比较才能确定所需的块是否在</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的利用灵活，只要</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有空闲，就可以把需要的块调入到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的空闲块中。</a:t>
            </a:r>
            <a:endParaRPr lang="zh-CN" altLang="en-US" sz="20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latin typeface="Times New Roman" panose="02020603050405020304" pitchFamily="18" charset="0"/>
                <a:cs typeface="Times New Roman" panose="02020603050405020304" pitchFamily="18" charset="0"/>
                <a:sym typeface="+mn-ea"/>
              </a:rPr>
              <a:t>主存地址划分以及主存块和cache行的对应关系</a:t>
            </a:r>
            <a:endParaRPr lang="zh-CN" altLang="en-US" sz="2800">
              <a:latin typeface="Times New Roman" panose="02020603050405020304" pitchFamily="18" charset="0"/>
              <a:cs typeface="Times New Roman" panose="02020603050405020304" pitchFamily="18" charset="0"/>
              <a:sym typeface="+mn-ea"/>
            </a:endParaRPr>
          </a:p>
        </p:txBody>
      </p:sp>
      <p:pic>
        <p:nvPicPr>
          <p:cNvPr id="4" name="图片 3"/>
          <p:cNvPicPr>
            <a:picLocks noChangeAspect="1"/>
          </p:cNvPicPr>
          <p:nvPr/>
        </p:nvPicPr>
        <p:blipFill>
          <a:blip r:embed="rId1"/>
          <a:stretch>
            <a:fillRect/>
          </a:stretch>
        </p:blipFill>
        <p:spPr>
          <a:xfrm>
            <a:off x="539750" y="1628775"/>
            <a:ext cx="7998460" cy="436499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直接映像</a:t>
            </a:r>
            <a:endParaRPr lang="zh-CN" altLang="en-US" dirty="0">
              <a:latin typeface="Times New Roman" panose="02020603050405020304" pitchFamily="18" charset="0"/>
              <a:ea typeface="Times New Roman" panose="02020603050405020304" pitchFamily="18" charset="0"/>
            </a:endParaRPr>
          </a:p>
        </p:txBody>
      </p:sp>
      <p:sp>
        <p:nvSpPr>
          <p:cNvPr id="124930" name="内容占位符 2"/>
          <p:cNvSpPr>
            <a:spLocks noGrp="1"/>
          </p:cNvSpPr>
          <p:nvPr>
            <p:ph idx="1"/>
          </p:nvPr>
        </p:nvSpPr>
        <p:spPr>
          <a:noFill/>
          <a:ln>
            <a:noFill/>
          </a:ln>
        </p:spPr>
        <p:txBody>
          <a:bodyPr anchor="t" anchorCtr="0"/>
          <a:p>
            <a:pPr algn="just"/>
            <a:r>
              <a:rPr lang="zh-CN" altLang="en-US" dirty="0">
                <a:latin typeface="Times New Roman" panose="02020603050405020304" pitchFamily="18" charset="0"/>
              </a:rPr>
              <a:t>主存中的一个块</a:t>
            </a:r>
            <a:r>
              <a:rPr lang="zh-CN" altLang="en-US" dirty="0">
                <a:solidFill>
                  <a:srgbClr val="FF0000"/>
                </a:solidFill>
                <a:latin typeface="Times New Roman" panose="02020603050405020304" pitchFamily="18" charset="0"/>
              </a:rPr>
              <a:t>只能放置到</a:t>
            </a:r>
            <a:r>
              <a:rPr lang="en-US" altLang="zh-CN" dirty="0">
                <a:solidFill>
                  <a:srgbClr val="FF0000"/>
                </a:solidFill>
                <a:latin typeface="Times New Roman" panose="02020603050405020304" pitchFamily="18" charset="0"/>
              </a:rPr>
              <a:t>Cache</a:t>
            </a:r>
            <a:r>
              <a:rPr lang="zh-CN" altLang="en-US" dirty="0">
                <a:solidFill>
                  <a:srgbClr val="FF0000"/>
                </a:solidFill>
                <a:latin typeface="Times New Roman" panose="02020603050405020304" pitchFamily="18" charset="0"/>
              </a:rPr>
              <a:t>中唯一位置</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若已有内容：块冲突，原来的块无条件替换出去；</a:t>
            </a:r>
            <a:endParaRPr lang="en-US" altLang="zh-CN"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优点：</a:t>
            </a:r>
            <a:endParaRPr lang="zh-CN" altLang="en-US" sz="2400" dirty="0">
              <a:latin typeface="Times New Roman" panose="02020603050405020304" pitchFamily="18" charset="0"/>
            </a:endParaRPr>
          </a:p>
          <a:p>
            <a:pPr lvl="2" algn="just" latinLnBrk="0">
              <a:spcBef>
                <a:spcPts val="600"/>
              </a:spcBef>
            </a:pPr>
            <a:r>
              <a:rPr lang="zh-CN" altLang="en-US" sz="2000" dirty="0">
                <a:latin typeface="Times New Roman" panose="02020603050405020304" pitchFamily="18" charset="0"/>
              </a:rPr>
              <a:t>最简单的地址映象方式，成本低，易实现；</a:t>
            </a:r>
            <a:endParaRPr lang="zh-CN" altLang="en-US" sz="2000" dirty="0">
              <a:latin typeface="Times New Roman" panose="02020603050405020304" pitchFamily="18" charset="0"/>
            </a:endParaRPr>
          </a:p>
          <a:p>
            <a:pPr lvl="2" algn="just" latinLnBrk="0">
              <a:spcBef>
                <a:spcPts val="600"/>
              </a:spcBef>
            </a:pPr>
            <a:r>
              <a:rPr lang="zh-CN" altLang="en-US" sz="2000" dirty="0">
                <a:latin typeface="Times New Roman" panose="02020603050405020304" pitchFamily="18" charset="0"/>
              </a:rPr>
              <a:t>地址变换速度快，不涉及替换算法问题。</a:t>
            </a:r>
            <a:endParaRPr lang="en-US" altLang="zh-CN" sz="20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缺点：</a:t>
            </a:r>
            <a:endParaRPr lang="zh-CN" altLang="en-US" sz="2400" dirty="0">
              <a:latin typeface="Times New Roman" panose="02020603050405020304" pitchFamily="18" charset="0"/>
            </a:endParaRPr>
          </a:p>
          <a:p>
            <a:pPr lvl="2" algn="just" latinLnBrk="0">
              <a:spcBef>
                <a:spcPts val="600"/>
              </a:spcBef>
            </a:pPr>
            <a:r>
              <a:rPr lang="zh-CN" altLang="en-US" sz="2000" dirty="0">
                <a:latin typeface="Times New Roman" panose="02020603050405020304" pitchFamily="18" charset="0"/>
              </a:rPr>
              <a:t>不够灵活，</a:t>
            </a:r>
            <a:r>
              <a:rPr lang="en-US" altLang="zh-CN" sz="2000" dirty="0">
                <a:latin typeface="Times New Roman" panose="02020603050405020304" pitchFamily="18" charset="0"/>
              </a:rPr>
              <a:t>Cache</a:t>
            </a:r>
            <a:r>
              <a:rPr lang="zh-CN" altLang="en-US" sz="2000" dirty="0">
                <a:latin typeface="Times New Roman" panose="02020603050405020304" pitchFamily="18" charset="0"/>
              </a:rPr>
              <a:t>的块冲突概率最高、空间利用率最低。 </a:t>
            </a:r>
            <a:endParaRPr lang="zh-CN" altLang="en-US" sz="2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直接映像</a:t>
            </a:r>
            <a:endParaRPr lang="zh-CN" altLang="en-US" dirty="0">
              <a:latin typeface="Times New Roman" panose="02020603050405020304" pitchFamily="18" charset="0"/>
              <a:ea typeface="Times New Roman" panose="02020603050405020304" pitchFamily="18" charset="0"/>
            </a:endParaRPr>
          </a:p>
        </p:txBody>
      </p:sp>
      <p:graphicFrame>
        <p:nvGraphicFramePr>
          <p:cNvPr id="125954" name="Object 4"/>
          <p:cNvGraphicFramePr>
            <a:graphicFrameLocks noChangeAspect="1"/>
          </p:cNvGraphicFramePr>
          <p:nvPr/>
        </p:nvGraphicFramePr>
        <p:xfrm>
          <a:off x="4572000" y="571500"/>
          <a:ext cx="3705225" cy="5867400"/>
        </p:xfrm>
        <a:graphic>
          <a:graphicData uri="http://schemas.openxmlformats.org/presentationml/2006/ole">
            <mc:AlternateContent xmlns:mc="http://schemas.openxmlformats.org/markup-compatibility/2006">
              <mc:Choice xmlns:v="urn:schemas-microsoft-com:vml" Requires="v">
                <p:oleObj spid="_x0000_s3106" name="" r:id="rId1" imgW="1590675" imgH="2518410" progId="Visio.Drawing.6">
                  <p:embed/>
                </p:oleObj>
              </mc:Choice>
              <mc:Fallback>
                <p:oleObj name="" r:id="rId1" imgW="1590675" imgH="2518410" progId="Visio.Drawing.6">
                  <p:embed/>
                  <p:pic>
                    <p:nvPicPr>
                      <p:cNvPr id="0" name="图片 3105"/>
                      <p:cNvPicPr/>
                      <p:nvPr/>
                    </p:nvPicPr>
                    <p:blipFill>
                      <a:blip r:embed="rId2"/>
                      <a:stretch>
                        <a:fillRect/>
                      </a:stretch>
                    </p:blipFill>
                    <p:spPr>
                      <a:xfrm>
                        <a:off x="4572000" y="571500"/>
                        <a:ext cx="3705225" cy="5867400"/>
                      </a:xfrm>
                      <a:prstGeom prst="rect">
                        <a:avLst/>
                      </a:prstGeom>
                      <a:noFill/>
                      <a:ln w="38100">
                        <a:noFill/>
                        <a:miter/>
                      </a:ln>
                    </p:spPr>
                  </p:pic>
                </p:oleObj>
              </mc:Fallback>
            </mc:AlternateContent>
          </a:graphicData>
        </a:graphic>
      </p:graphicFrame>
      <p:sp>
        <p:nvSpPr>
          <p:cNvPr id="5" name="Rectangle 5"/>
          <p:cNvSpPr txBox="1">
            <a:spLocks noChangeArrowheads="1"/>
          </p:cNvSpPr>
          <p:nvPr/>
        </p:nvSpPr>
        <p:spPr bwMode="auto">
          <a:xfrm>
            <a:off x="1603375" y="5905500"/>
            <a:ext cx="4856163"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图5-29(</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直接映像</a:t>
            </a:r>
            <a:endParaRPr kumimoji="0" lang="zh-CN" altLang="en-US" sz="2000" b="1" i="0" u="sng"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endParaRPr>
          </a:p>
        </p:txBody>
      </p:sp>
      <p:sp>
        <p:nvSpPr>
          <p:cNvPr id="125956" name="文本框 5"/>
          <p:cNvSpPr txBox="1"/>
          <p:nvPr/>
        </p:nvSpPr>
        <p:spPr>
          <a:xfrm>
            <a:off x="457200" y="1328738"/>
            <a:ext cx="3684588" cy="3862387"/>
          </a:xfrm>
          <a:prstGeom prst="rect">
            <a:avLst/>
          </a:prstGeom>
          <a:noFill/>
          <a:ln w="9525">
            <a:noFill/>
          </a:ln>
        </p:spPr>
        <p:txBody>
          <a:bodyPr wrap="square" anchor="t" anchorCtr="0">
            <a:spAutoFit/>
          </a:bodyPr>
          <a:p>
            <a:pPr marL="285750" indent="-285750" algn="just" eaLnBrk="0" hangingPunct="0">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主存和</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块大小相同；</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主存中任何一块都只能放到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中的指定的块中；</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CPU</a:t>
            </a:r>
            <a:r>
              <a:rPr lang="zh-CN" altLang="en-US" sz="2000" dirty="0">
                <a:solidFill>
                  <a:srgbClr val="0000FF"/>
                </a:solidFill>
                <a:latin typeface="Times New Roman" panose="02020603050405020304" pitchFamily="18" charset="0"/>
                <a:ea typeface="宋体" panose="02010600030101010101" pitchFamily="2" charset="-122"/>
              </a:rPr>
              <a:t>访问时判断数据是否在</a:t>
            </a:r>
            <a:r>
              <a:rPr lang="en-US" altLang="zh-CN" sz="2000" dirty="0">
                <a:solidFill>
                  <a:srgbClr val="0000FF"/>
                </a:solidFill>
                <a:latin typeface="Times New Roman" panose="02020603050405020304" pitchFamily="18" charset="0"/>
                <a:ea typeface="宋体" panose="02010600030101010101" pitchFamily="2" charset="-122"/>
              </a:rPr>
              <a:t>CACHA</a:t>
            </a:r>
            <a:r>
              <a:rPr lang="zh-CN" altLang="en-US" sz="2000" dirty="0">
                <a:solidFill>
                  <a:srgbClr val="0000FF"/>
                </a:solidFill>
                <a:latin typeface="Times New Roman" panose="02020603050405020304" pitchFamily="18" charset="0"/>
                <a:ea typeface="宋体" panose="02010600030101010101" pitchFamily="2" charset="-122"/>
              </a:rPr>
              <a:t>中的时间很短，只需要进行</a:t>
            </a:r>
            <a:r>
              <a:rPr lang="en-US" altLang="zh-CN" sz="2000" dirty="0">
                <a:solidFill>
                  <a:srgbClr val="0000FF"/>
                </a:solidFill>
                <a:latin typeface="Times New Roman" panose="02020603050405020304" pitchFamily="18" charset="0"/>
                <a:ea typeface="宋体" panose="02010600030101010101" pitchFamily="2" charset="-122"/>
              </a:rPr>
              <a:t>1</a:t>
            </a:r>
            <a:r>
              <a:rPr lang="zh-CN" altLang="en-US" sz="2000" dirty="0">
                <a:solidFill>
                  <a:srgbClr val="0000FF"/>
                </a:solidFill>
                <a:latin typeface="Times New Roman" panose="02020603050405020304" pitchFamily="18" charset="0"/>
                <a:ea typeface="宋体" panose="02010600030101010101" pitchFamily="2" charset="-122"/>
              </a:rPr>
              <a:t>次比较就能确定所需的数据块是否在</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的利用不灵活，有时即使</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有空，也不能把需要的块调入到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a:t>
            </a:r>
            <a:endParaRPr lang="zh-CN" altLang="en-US" sz="20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latin typeface="Times New Roman" panose="02020603050405020304" pitchFamily="18" charset="0"/>
                <a:cs typeface="Times New Roman" panose="02020603050405020304" pitchFamily="18" charset="0"/>
              </a:rPr>
              <a:t>主存地址划分以及主存块和cache行的对应关系</a:t>
            </a:r>
            <a:endParaRPr lang="zh-CN" altLang="en-US" sz="28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984250" y="1412875"/>
            <a:ext cx="7175500" cy="464312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组相联映像 </a:t>
            </a:r>
            <a:endParaRPr lang="zh-CN" altLang="en-US" dirty="0">
              <a:latin typeface="Times New Roman" panose="02020603050405020304" pitchFamily="18" charset="0"/>
              <a:ea typeface="Times New Roman" panose="02020603050405020304" pitchFamily="18" charset="0"/>
            </a:endParaRPr>
          </a:p>
        </p:txBody>
      </p:sp>
      <p:sp>
        <p:nvSpPr>
          <p:cNvPr id="126978" name="内容占位符 2"/>
          <p:cNvSpPr>
            <a:spLocks noGrp="1"/>
          </p:cNvSpPr>
          <p:nvPr>
            <p:ph idx="1"/>
          </p:nvPr>
        </p:nvSpPr>
        <p:spPr>
          <a:noFill/>
          <a:ln>
            <a:noFill/>
          </a:ln>
        </p:spPr>
        <p:txBody>
          <a:bodyPr anchor="t" anchorCtr="0"/>
          <a:p>
            <a:pPr latinLnBrk="0">
              <a:spcBef>
                <a:spcPts val="1800"/>
              </a:spcBef>
            </a:pPr>
            <a:r>
              <a:rPr lang="zh-CN" altLang="en-US" dirty="0">
                <a:latin typeface="Times New Roman" panose="02020603050405020304" pitchFamily="18" charset="0"/>
              </a:rPr>
              <a:t>将主存空间按</a:t>
            </a:r>
            <a:r>
              <a:rPr lang="en-US" altLang="zh-CN" dirty="0">
                <a:latin typeface="Times New Roman" panose="02020603050405020304" pitchFamily="18" charset="0"/>
              </a:rPr>
              <a:t>Cache</a:t>
            </a:r>
            <a:r>
              <a:rPr lang="zh-CN" altLang="en-US" dirty="0">
                <a:latin typeface="Times New Roman" panose="02020603050405020304" pitchFamily="18" charset="0"/>
              </a:rPr>
              <a:t>大小等分成区；</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将</a:t>
            </a:r>
            <a:r>
              <a:rPr lang="en-US" altLang="zh-CN" dirty="0">
                <a:latin typeface="Times New Roman" panose="02020603050405020304" pitchFamily="18" charset="0"/>
              </a:rPr>
              <a:t>Cache</a:t>
            </a:r>
            <a:r>
              <a:rPr lang="zh-CN" altLang="en-US" dirty="0">
                <a:latin typeface="Times New Roman" panose="02020603050405020304" pitchFamily="18" charset="0"/>
              </a:rPr>
              <a:t>和主存每一区都等分成大小相同的组；</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sym typeface="黑体" panose="02010609060101010101" pitchFamily="49" charset="-122"/>
              </a:rPr>
              <a:t>主存</a:t>
            </a:r>
            <a:r>
              <a:rPr lang="zh-CN" altLang="en-US" dirty="0">
                <a:latin typeface="Times New Roman" panose="02020603050405020304" pitchFamily="18" charset="0"/>
              </a:rPr>
              <a:t>和</a:t>
            </a:r>
            <a:r>
              <a:rPr lang="en-US" altLang="zh-CN" dirty="0">
                <a:latin typeface="Times New Roman" panose="02020603050405020304" pitchFamily="18" charset="0"/>
                <a:sym typeface="黑体" panose="02010609060101010101" pitchFamily="49" charset="-122"/>
              </a:rPr>
              <a:t>Cache</a:t>
            </a:r>
            <a:r>
              <a:rPr lang="zh-CN" altLang="en-US" dirty="0">
                <a:latin typeface="Times New Roman" panose="02020603050405020304" pitchFamily="18" charset="0"/>
              </a:rPr>
              <a:t>各区某组直接映像：</a:t>
            </a:r>
            <a:endParaRPr lang="zh-CN" altLang="en-US" dirty="0">
              <a:latin typeface="Times New Roman" panose="02020603050405020304" pitchFamily="18" charset="0"/>
            </a:endParaRPr>
          </a:p>
          <a:p>
            <a:pPr lvl="1" latinLnBrk="0">
              <a:spcBef>
                <a:spcPts val="1200"/>
              </a:spcBef>
            </a:pPr>
            <a:r>
              <a:rPr lang="zh-CN" altLang="en-US" dirty="0">
                <a:solidFill>
                  <a:srgbClr val="FF0000"/>
                </a:solidFill>
                <a:latin typeface="Times New Roman" panose="02020603050405020304" pitchFamily="18" charset="0"/>
              </a:rPr>
              <a:t>组间采取直接映像，而组内采取全相联映像</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是全相联映像和直接映像的折衷方案；</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优点和缺点介于全相联和直接映像方式之间。</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组相联映像</a:t>
            </a:r>
            <a:endParaRPr lang="zh-CN" altLang="en-US" dirty="0">
              <a:latin typeface="Times New Roman" panose="02020603050405020304" pitchFamily="18" charset="0"/>
              <a:ea typeface="Times New Roman" panose="02020603050405020304" pitchFamily="18" charset="0"/>
            </a:endParaRPr>
          </a:p>
        </p:txBody>
      </p:sp>
      <p:pic>
        <p:nvPicPr>
          <p:cNvPr id="128002" name="图片 3"/>
          <p:cNvPicPr>
            <a:picLocks noChangeAspect="1"/>
          </p:cNvPicPr>
          <p:nvPr/>
        </p:nvPicPr>
        <p:blipFill>
          <a:blip r:embed="rId1"/>
          <a:stretch>
            <a:fillRect/>
          </a:stretch>
        </p:blipFill>
        <p:spPr>
          <a:xfrm>
            <a:off x="4095750" y="1268413"/>
            <a:ext cx="4591050" cy="4579937"/>
          </a:xfrm>
          <a:prstGeom prst="rect">
            <a:avLst/>
          </a:prstGeom>
          <a:noFill/>
          <a:ln w="9525">
            <a:noFill/>
          </a:ln>
        </p:spPr>
      </p:pic>
      <p:sp>
        <p:nvSpPr>
          <p:cNvPr id="5" name="Rectangle 5"/>
          <p:cNvSpPr txBox="1">
            <a:spLocks noChangeArrowheads="1"/>
          </p:cNvSpPr>
          <p:nvPr/>
        </p:nvSpPr>
        <p:spPr bwMode="auto">
          <a:xfrm>
            <a:off x="4095750" y="6019800"/>
            <a:ext cx="4568825"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图5-29(</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c)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组相联映像</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128004" name="文本框 5"/>
          <p:cNvSpPr txBox="1"/>
          <p:nvPr/>
        </p:nvSpPr>
        <p:spPr>
          <a:xfrm>
            <a:off x="323850" y="1268413"/>
            <a:ext cx="3382963" cy="4784725"/>
          </a:xfrm>
          <a:prstGeom prst="rect">
            <a:avLst/>
          </a:prstGeom>
          <a:noFill/>
          <a:ln w="9525">
            <a:noFill/>
          </a:ln>
        </p:spPr>
        <p:txBody>
          <a:bodyPr anchor="t" anchorCtr="0">
            <a:spAutoFit/>
          </a:bodyPr>
          <a:p>
            <a:pPr marL="285750" indent="-285750" algn="just" eaLnBrk="0" hangingPunct="0">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主存和</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块大小相同</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zh-CN" altLang="en-US" sz="2000" dirty="0">
                <a:solidFill>
                  <a:srgbClr val="0000FF"/>
                </a:solidFill>
                <a:latin typeface="Times New Roman" panose="02020603050405020304" pitchFamily="18" charset="0"/>
                <a:ea typeface="宋体" panose="02010600030101010101" pitchFamily="2" charset="-122"/>
              </a:rPr>
              <a:t>主存中任何一组的块都只能放到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中的指定的组中；但是可以放到组中的任何一块。</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CPU</a:t>
            </a:r>
            <a:r>
              <a:rPr lang="zh-CN" altLang="en-US" sz="2000" dirty="0">
                <a:solidFill>
                  <a:srgbClr val="0000FF"/>
                </a:solidFill>
                <a:latin typeface="Times New Roman" panose="02020603050405020304" pitchFamily="18" charset="0"/>
                <a:ea typeface="宋体" panose="02010600030101010101" pitchFamily="2" charset="-122"/>
              </a:rPr>
              <a:t>访问时判断数据是否在</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中的时间较短，需要进行</a:t>
            </a:r>
            <a:r>
              <a:rPr lang="en-US" altLang="zh-CN" sz="2000" dirty="0">
                <a:solidFill>
                  <a:srgbClr val="0000FF"/>
                </a:solidFill>
                <a:latin typeface="Times New Roman" panose="02020603050405020304" pitchFamily="18" charset="0"/>
                <a:ea typeface="宋体" panose="02010600030101010101" pitchFamily="2" charset="-122"/>
              </a:rPr>
              <a:t>2</a:t>
            </a:r>
            <a:r>
              <a:rPr lang="zh-CN" altLang="en-US" sz="2000" dirty="0">
                <a:solidFill>
                  <a:srgbClr val="0000FF"/>
                </a:solidFill>
                <a:latin typeface="Times New Roman" panose="02020603050405020304" pitchFamily="18" charset="0"/>
                <a:ea typeface="宋体" panose="02010600030101010101" pitchFamily="2" charset="-122"/>
              </a:rPr>
              <a:t>次比较确定所需的块是否在</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a:t>
            </a:r>
            <a:endParaRPr lang="en-US" altLang="zh-CN" sz="2000"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spcBef>
                <a:spcPts val="1800"/>
              </a:spcBef>
              <a:buFont typeface="Wingdings" panose="05000000000000000000" pitchFamily="2" charset="2"/>
              <a:buChar char="n"/>
            </a:pP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的利用较灵活，有时即使</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有空闲，也不能把需要的块调入到</a:t>
            </a:r>
            <a:r>
              <a:rPr lang="en-US" altLang="zh-CN" sz="2000" dirty="0">
                <a:solidFill>
                  <a:srgbClr val="0000FF"/>
                </a:solidFill>
                <a:latin typeface="Times New Roman" panose="02020603050405020304" pitchFamily="18" charset="0"/>
                <a:ea typeface="宋体" panose="02010600030101010101" pitchFamily="2" charset="-122"/>
              </a:rPr>
              <a:t>CACHE</a:t>
            </a:r>
            <a:r>
              <a:rPr lang="zh-CN" altLang="en-US" sz="2000" dirty="0">
                <a:solidFill>
                  <a:srgbClr val="0000FF"/>
                </a:solidFill>
                <a:latin typeface="Times New Roman" panose="02020603050405020304" pitchFamily="18" charset="0"/>
                <a:ea typeface="宋体" panose="02010600030101010101" pitchFamily="2" charset="-122"/>
              </a:rPr>
              <a:t>中。</a:t>
            </a:r>
            <a:endParaRPr lang="zh-CN" altLang="en-US" sz="20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主存地址划分以及主存块和cache行的对应关系</a:t>
            </a:r>
            <a:endParaRPr lang="zh-CN" altLang="en-US" sz="2800"/>
          </a:p>
        </p:txBody>
      </p:sp>
      <p:pic>
        <p:nvPicPr>
          <p:cNvPr id="4" name="图片 3"/>
          <p:cNvPicPr>
            <a:picLocks noChangeAspect="1"/>
          </p:cNvPicPr>
          <p:nvPr/>
        </p:nvPicPr>
        <p:blipFill>
          <a:blip r:embed="rId1"/>
          <a:stretch>
            <a:fillRect/>
          </a:stretch>
        </p:blipFill>
        <p:spPr>
          <a:xfrm>
            <a:off x="755650" y="1557020"/>
            <a:ext cx="7440930" cy="4670425"/>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例</a:t>
            </a:r>
            <a:endParaRPr lang="zh-CN" altLang="en-US" dirty="0">
              <a:latin typeface="Times New Roman" panose="02020603050405020304" pitchFamily="18" charset="0"/>
              <a:ea typeface="Times New Roman" panose="02020603050405020304" pitchFamily="18" charset="0"/>
            </a:endParaRPr>
          </a:p>
        </p:txBody>
      </p:sp>
      <p:sp>
        <p:nvSpPr>
          <p:cNvPr id="129026" name="内容占位符 2"/>
          <p:cNvSpPr>
            <a:spLocks noGrp="1"/>
          </p:cNvSpPr>
          <p:nvPr>
            <p:ph idx="1"/>
          </p:nvPr>
        </p:nvSpPr>
        <p:spPr>
          <a:xfrm>
            <a:off x="457200" y="1196975"/>
            <a:ext cx="8229600" cy="5400675"/>
          </a:xfrm>
          <a:noFill/>
          <a:ln>
            <a:noFill/>
          </a:ln>
        </p:spPr>
        <p:txBody>
          <a:bodyPr anchor="t" anchorCtr="0"/>
          <a:p>
            <a:r>
              <a:rPr lang="zh-CN" altLang="en-US" dirty="0">
                <a:latin typeface="Times New Roman" panose="02020603050405020304" pitchFamily="18" charset="0"/>
              </a:rPr>
              <a:t>设某机主存容量为</a:t>
            </a:r>
            <a:r>
              <a:rPr lang="en-US" altLang="zh-CN" dirty="0">
                <a:latin typeface="Times New Roman" panose="02020603050405020304" pitchFamily="18" charset="0"/>
              </a:rPr>
              <a:t>4MB</a:t>
            </a:r>
            <a:r>
              <a:rPr lang="zh-CN" altLang="en-US" dirty="0">
                <a:latin typeface="Times New Roman" panose="02020603050405020304" pitchFamily="18" charset="0"/>
              </a:rPr>
              <a:t>，按字节编址，</a:t>
            </a:r>
            <a:r>
              <a:rPr lang="en-US" altLang="zh-CN" dirty="0">
                <a:latin typeface="Times New Roman" panose="02020603050405020304" pitchFamily="18" charset="0"/>
              </a:rPr>
              <a:t>Cache</a:t>
            </a:r>
            <a:r>
              <a:rPr lang="zh-CN" altLang="en-US" dirty="0">
                <a:latin typeface="Times New Roman" panose="02020603050405020304" pitchFamily="18" charset="0"/>
              </a:rPr>
              <a:t>容量为</a:t>
            </a:r>
            <a:r>
              <a:rPr lang="en-US" altLang="zh-CN" dirty="0">
                <a:latin typeface="Times New Roman" panose="02020603050405020304" pitchFamily="18" charset="0"/>
              </a:rPr>
              <a:t>16KB</a:t>
            </a:r>
            <a:r>
              <a:rPr lang="zh-CN" altLang="en-US" dirty="0">
                <a:latin typeface="Times New Roman" panose="02020603050405020304" pitchFamily="18" charset="0"/>
              </a:rPr>
              <a:t>，每块包含</a:t>
            </a:r>
            <a:r>
              <a:rPr lang="en-US" altLang="zh-CN" dirty="0">
                <a:latin typeface="Times New Roman" panose="02020603050405020304" pitchFamily="18" charset="0"/>
              </a:rPr>
              <a:t>8</a:t>
            </a:r>
            <a:r>
              <a:rPr lang="zh-CN" altLang="en-US" dirty="0">
                <a:latin typeface="Times New Roman" panose="02020603050405020304" pitchFamily="18" charset="0"/>
              </a:rPr>
              <a:t>个字，每字</a:t>
            </a:r>
            <a:r>
              <a:rPr lang="en-US" altLang="zh-CN" dirty="0">
                <a:latin typeface="Times New Roman" panose="02020603050405020304" pitchFamily="18" charset="0"/>
              </a:rPr>
              <a:t>32</a:t>
            </a:r>
            <a:r>
              <a:rPr lang="zh-CN" altLang="en-US" dirty="0">
                <a:latin typeface="Times New Roman" panose="02020603050405020304" pitchFamily="18" charset="0"/>
              </a:rPr>
              <a:t>位，设计一个四路组相联映像（即</a:t>
            </a:r>
            <a:r>
              <a:rPr lang="en-US" altLang="zh-CN" dirty="0">
                <a:latin typeface="Times New Roman" panose="02020603050405020304" pitchFamily="18" charset="0"/>
              </a:rPr>
              <a:t>Cache</a:t>
            </a:r>
            <a:r>
              <a:rPr lang="zh-CN" altLang="en-US" dirty="0">
                <a:latin typeface="Times New Roman" panose="02020603050405020304" pitchFamily="18" charset="0"/>
              </a:rPr>
              <a:t>每组内共有四个块）的</a:t>
            </a:r>
            <a:r>
              <a:rPr lang="en-US" altLang="zh-CN" dirty="0">
                <a:latin typeface="Times New Roman" panose="02020603050405020304" pitchFamily="18" charset="0"/>
              </a:rPr>
              <a:t>Cache</a:t>
            </a:r>
            <a:r>
              <a:rPr lang="zh-CN" altLang="en-US" dirty="0">
                <a:latin typeface="Times New Roman" panose="02020603050405020304" pitchFamily="18" charset="0"/>
              </a:rPr>
              <a:t>组织，要求：</a:t>
            </a:r>
            <a:endParaRPr lang="zh-CN" altLang="en-US" dirty="0">
              <a:latin typeface="Times New Roman" panose="02020603050405020304" pitchFamily="18" charset="0"/>
            </a:endParaRPr>
          </a:p>
          <a:p>
            <a:pPr lvl="1">
              <a:spcBef>
                <a:spcPts val="2400"/>
              </a:spcBef>
            </a:pPr>
            <a:r>
              <a:rPr lang="zh-CN" altLang="en-US" sz="2400" dirty="0">
                <a:latin typeface="Times New Roman" panose="02020603050405020304" pitchFamily="18" charset="0"/>
              </a:rPr>
              <a:t>画出主存地址字段中各段的位数。</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设</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的初态为空，</a:t>
            </a:r>
            <a:r>
              <a:rPr lang="en-US" altLang="zh-CN" sz="2400" dirty="0">
                <a:latin typeface="Times New Roman" panose="02020603050405020304" pitchFamily="18" charset="0"/>
              </a:rPr>
              <a:t>CPU</a:t>
            </a:r>
            <a:r>
              <a:rPr lang="zh-CN" altLang="en-US" sz="2400" dirty="0">
                <a:latin typeface="Times New Roman" panose="02020603050405020304" pitchFamily="18" charset="0"/>
              </a:rPr>
              <a:t>依次从主存第</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r>
              <a:rPr lang="en-US" altLang="zh-CN" sz="2400" dirty="0">
                <a:latin typeface="Times New Roman" panose="02020603050405020304" pitchFamily="18" charset="0"/>
              </a:rPr>
              <a:t>99</a:t>
            </a:r>
            <a:r>
              <a:rPr lang="zh-CN" altLang="en-US" sz="2400" dirty="0">
                <a:latin typeface="Times New Roman" panose="02020603050405020304" pitchFamily="18" charset="0"/>
              </a:rPr>
              <a:t>号单元读出</a:t>
            </a:r>
            <a:r>
              <a:rPr lang="en-US" altLang="zh-CN" sz="2400" dirty="0">
                <a:latin typeface="Times New Roman" panose="02020603050405020304" pitchFamily="18" charset="0"/>
              </a:rPr>
              <a:t>100</a:t>
            </a:r>
            <a:r>
              <a:rPr lang="zh-CN" altLang="en-US" sz="2400" dirty="0">
                <a:latin typeface="Times New Roman" panose="02020603050405020304" pitchFamily="18" charset="0"/>
              </a:rPr>
              <a:t>个字（主存一次读出一个字），并重复按此次序读</a:t>
            </a:r>
            <a:r>
              <a:rPr lang="en-US" altLang="zh-CN" sz="2400" dirty="0">
                <a:latin typeface="Times New Roman" panose="02020603050405020304" pitchFamily="18" charset="0"/>
              </a:rPr>
              <a:t>8</a:t>
            </a:r>
            <a:r>
              <a:rPr lang="zh-CN" altLang="en-US" sz="2400" dirty="0">
                <a:latin typeface="Times New Roman" panose="02020603050405020304" pitchFamily="18" charset="0"/>
              </a:rPr>
              <a:t>次，问命中率是多少？</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若</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的速度是主存的</a:t>
            </a:r>
            <a:r>
              <a:rPr lang="en-US" altLang="zh-CN" sz="2400" dirty="0">
                <a:latin typeface="Times New Roman" panose="02020603050405020304" pitchFamily="18" charset="0"/>
              </a:rPr>
              <a:t>6</a:t>
            </a:r>
            <a:r>
              <a:rPr lang="zh-CN" altLang="en-US" sz="2400" dirty="0">
                <a:latin typeface="Times New Roman" panose="02020603050405020304" pitchFamily="18" charset="0"/>
              </a:rPr>
              <a:t>倍，试问有</a:t>
            </a:r>
            <a:r>
              <a:rPr lang="en-US" altLang="zh-CN" sz="2400" dirty="0">
                <a:latin typeface="Times New Roman" panose="02020603050405020304" pitchFamily="18" charset="0"/>
              </a:rPr>
              <a:t>Cache</a:t>
            </a:r>
            <a:r>
              <a:rPr lang="zh-CN" altLang="en-US" sz="2400" dirty="0">
                <a:latin typeface="Times New Roman" panose="02020603050405020304" pitchFamily="18" charset="0"/>
              </a:rPr>
              <a:t>和无</a:t>
            </a:r>
            <a:r>
              <a:rPr lang="en-US" altLang="zh-CN" sz="2400" dirty="0">
                <a:latin typeface="Times New Roman" panose="02020603050405020304" pitchFamily="18" charset="0"/>
              </a:rPr>
              <a:t>Cache</a:t>
            </a:r>
            <a:r>
              <a:rPr lang="zh-CN" altLang="en-US" sz="2400" dirty="0">
                <a:latin typeface="Times New Roman" panose="02020603050405020304" pitchFamily="18" charset="0"/>
              </a:rPr>
              <a:t>相比，速度提高多少倍？</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解答</a:t>
            </a:r>
            <a:endParaRPr lang="zh-CN" altLang="en-US" dirty="0">
              <a:latin typeface="Times New Roman" panose="02020603050405020304" pitchFamily="18" charset="0"/>
              <a:ea typeface="Times New Roman" panose="02020603050405020304" pitchFamily="18" charset="0"/>
            </a:endParaRPr>
          </a:p>
        </p:txBody>
      </p:sp>
      <p:pic>
        <p:nvPicPr>
          <p:cNvPr id="130050" name="Picture 4" descr="55"/>
          <p:cNvPicPr>
            <a:picLocks noChangeAspect="1"/>
          </p:cNvPicPr>
          <p:nvPr/>
        </p:nvPicPr>
        <p:blipFill>
          <a:blip r:embed="rId1"/>
          <a:stretch>
            <a:fillRect/>
          </a:stretch>
        </p:blipFill>
        <p:spPr>
          <a:xfrm>
            <a:off x="688975" y="1390650"/>
            <a:ext cx="7770813" cy="4170363"/>
          </a:xfrm>
          <a:prstGeom prst="rect">
            <a:avLst/>
          </a:prstGeom>
          <a:noFill/>
          <a:ln w="9525">
            <a:noFill/>
          </a:ln>
        </p:spPr>
      </p:pic>
      <p:sp>
        <p:nvSpPr>
          <p:cNvPr id="130051" name="Text Box 5"/>
          <p:cNvSpPr txBox="1"/>
          <p:nvPr/>
        </p:nvSpPr>
        <p:spPr>
          <a:xfrm>
            <a:off x="573088" y="5918200"/>
            <a:ext cx="7997825" cy="396875"/>
          </a:xfrm>
          <a:prstGeom prst="rect">
            <a:avLst/>
          </a:prstGeom>
          <a:noFill/>
          <a:ln w="6350">
            <a:noFill/>
          </a:ln>
        </p:spPr>
        <p:txBody>
          <a:bodyPr wrap="none" anchor="t" anchorCtr="0">
            <a:spAutoFit/>
          </a:bodyPr>
          <a:p>
            <a:r>
              <a:rPr lang="zh-CN" altLang="en-US" sz="2000" b="1" dirty="0">
                <a:solidFill>
                  <a:srgbClr val="FF0000"/>
                </a:solidFill>
                <a:latin typeface="Times New Roman" panose="02020603050405020304" pitchFamily="18" charset="0"/>
                <a:ea typeface="仿宋_GB2312" pitchFamily="49" charset="-122"/>
              </a:rPr>
              <a:t>无</a:t>
            </a:r>
            <a:r>
              <a:rPr lang="en-US" altLang="zh-CN" sz="2000" b="1" dirty="0">
                <a:solidFill>
                  <a:srgbClr val="FF0000"/>
                </a:solidFill>
                <a:latin typeface="Times New Roman" panose="02020603050405020304" pitchFamily="18" charset="0"/>
                <a:ea typeface="仿宋_GB2312" pitchFamily="49" charset="-122"/>
              </a:rPr>
              <a:t>Cache </a:t>
            </a:r>
            <a:r>
              <a:rPr lang="zh-CN" altLang="en-US" sz="2000" b="1" dirty="0">
                <a:solidFill>
                  <a:srgbClr val="FF0000"/>
                </a:solidFill>
                <a:latin typeface="Times New Roman" panose="02020603050405020304" pitchFamily="18" charset="0"/>
                <a:ea typeface="仿宋_GB2312" pitchFamily="49" charset="-122"/>
              </a:rPr>
              <a:t>的访存时间为</a:t>
            </a:r>
            <a:r>
              <a:rPr lang="en-US" altLang="zh-CN" sz="2000" b="1" dirty="0">
                <a:solidFill>
                  <a:srgbClr val="FF0000"/>
                </a:solidFill>
                <a:latin typeface="Times New Roman" panose="02020603050405020304" pitchFamily="18" charset="0"/>
                <a:ea typeface="仿宋_GB2312" pitchFamily="49" charset="-122"/>
              </a:rPr>
              <a:t>6T</a:t>
            </a:r>
            <a:r>
              <a:rPr lang="zh-CN" altLang="en-US" sz="2000" b="1" dirty="0">
                <a:solidFill>
                  <a:srgbClr val="FF0000"/>
                </a:solidFill>
                <a:latin typeface="Times New Roman" panose="02020603050405020304" pitchFamily="18" charset="0"/>
                <a:ea typeface="仿宋_GB2312" pitchFamily="49" charset="-122"/>
              </a:rPr>
              <a:t>，所以速度提高倍数＝</a:t>
            </a:r>
            <a:r>
              <a:rPr lang="en-US" altLang="zh-CN" sz="2000" b="1" dirty="0">
                <a:solidFill>
                  <a:srgbClr val="FF0000"/>
                </a:solidFill>
                <a:latin typeface="Times New Roman" panose="02020603050405020304" pitchFamily="18" charset="0"/>
                <a:ea typeface="仿宋_GB2312" pitchFamily="49" charset="-122"/>
              </a:rPr>
              <a:t>6T/1.096T</a:t>
            </a:r>
            <a:r>
              <a:rPr lang="zh-CN" altLang="en-US" sz="2000" b="1" dirty="0">
                <a:solidFill>
                  <a:srgbClr val="FF0000"/>
                </a:solidFill>
                <a:latin typeface="Times New Roman" panose="02020603050405020304" pitchFamily="18" charset="0"/>
                <a:ea typeface="仿宋_GB2312" pitchFamily="49" charset="-122"/>
              </a:rPr>
              <a:t>＝</a:t>
            </a:r>
            <a:r>
              <a:rPr lang="en-US" altLang="zh-CN" sz="2000" b="1" dirty="0">
                <a:solidFill>
                  <a:srgbClr val="FF0000"/>
                </a:solidFill>
                <a:latin typeface="Times New Roman" panose="02020603050405020304" pitchFamily="18" charset="0"/>
                <a:ea typeface="仿宋_GB2312" pitchFamily="49" charset="-122"/>
              </a:rPr>
              <a:t>5.47</a:t>
            </a:r>
            <a:r>
              <a:rPr lang="zh-CN" altLang="en-US" sz="2000" b="1" dirty="0">
                <a:solidFill>
                  <a:srgbClr val="FF0000"/>
                </a:solidFill>
                <a:latin typeface="Times New Roman" panose="02020603050405020304" pitchFamily="18" charset="0"/>
                <a:ea typeface="仿宋_GB2312" pitchFamily="49" charset="-122"/>
              </a:rPr>
              <a:t>倍。</a:t>
            </a:r>
            <a:endParaRPr lang="zh-CN" altLang="en-US" sz="2000" b="1" dirty="0">
              <a:solidFill>
                <a:srgbClr val="FF0000"/>
              </a:solidFill>
              <a:latin typeface="Times New Roman" panose="02020603050405020304" pitchFamily="18" charset="0"/>
              <a:ea typeface="仿宋_GB2312" pitchFamily="49"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5.7.4 </a:t>
            </a:r>
            <a:r>
              <a:rPr lang="zh-CN" altLang="en-US" dirty="0">
                <a:latin typeface="Times New Roman" panose="02020603050405020304" pitchFamily="18" charset="0"/>
              </a:rPr>
              <a:t>替换算法</a:t>
            </a:r>
            <a:endParaRPr lang="zh-CN" altLang="en-US" dirty="0">
              <a:latin typeface="Times New Roman" panose="02020603050405020304" pitchFamily="18" charset="0"/>
              <a:ea typeface="Times New Roman" panose="02020603050405020304" pitchFamily="18" charset="0"/>
            </a:endParaRPr>
          </a:p>
        </p:txBody>
      </p:sp>
      <p:sp>
        <p:nvSpPr>
          <p:cNvPr id="137218"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1.</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随机算法</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不管</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块过去、现在及将来的使用情况；</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根据一个随机数，选择一块替换掉。</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2400"/>
              </a:spcBef>
              <a:spcAft>
                <a:spcPct val="0"/>
              </a:spcAft>
              <a:buClr>
                <a:schemeClr val="hlink"/>
              </a:buClr>
              <a:buSzTx/>
              <a:buFont typeface="Wingdings" panose="05000000000000000000" pitchFamily="2" charset="2"/>
              <a:buChar char="v"/>
            </a:pP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2.</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先进先出（</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FIFO</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）算法</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需要更新时，将</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最先进入</a:t>
            </a:r>
            <a:r>
              <a:rPr kumimoji="0" lang="en-US" altLang="zh-CN" sz="2400" b="0" i="0" u="none" strike="noStrike" kern="0" cap="none" spc="0" normalizeH="0" baseline="0" noProof="1" dirty="0">
                <a:solidFill>
                  <a:srgbClr val="FF0000"/>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mn-ea"/>
              </a:rPr>
              <a:t>的块作为被替换的块</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优点：容易实现，而且系统开销小；</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缺点：</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可能会把一些需要经常使用的块替换掉</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6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如循环程序。 </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近期最少使用（</a:t>
            </a:r>
            <a:r>
              <a:rPr lang="en-US" altLang="zh-CN" dirty="0">
                <a:latin typeface="Times New Roman" panose="02020603050405020304" pitchFamily="18" charset="0"/>
              </a:rPr>
              <a:t>LRU</a:t>
            </a:r>
            <a:r>
              <a:rPr lang="zh-CN" altLang="en-US" dirty="0">
                <a:latin typeface="Times New Roman" panose="02020603050405020304" pitchFamily="18" charset="0"/>
              </a:rPr>
              <a:t>）算法</a:t>
            </a:r>
            <a:endParaRPr lang="zh-CN" altLang="en-US" dirty="0">
              <a:latin typeface="Times New Roman" panose="02020603050405020304" pitchFamily="18" charset="0"/>
              <a:ea typeface="Times New Roman" panose="02020603050405020304" pitchFamily="18" charset="0"/>
            </a:endParaRPr>
          </a:p>
        </p:txBody>
      </p:sp>
      <p:sp>
        <p:nvSpPr>
          <p:cNvPr id="138242"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把</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rPr>
              <a:t>CPU</a:t>
            </a:r>
            <a:r>
              <a:rPr kumimoji="0" lang="zh-CN" altLang="en-US" sz="2800" b="1" i="0" u="none" strike="noStrike" kern="0" cap="none" spc="0" normalizeH="0" baseline="0" noProof="1" dirty="0">
                <a:solidFill>
                  <a:srgbClr val="FF0000"/>
                </a:solidFill>
                <a:latin typeface="Times New Roman" panose="02020603050405020304" pitchFamily="18" charset="0"/>
                <a:ea typeface="+mn-ea"/>
                <a:cs typeface="+mn-cs"/>
              </a:rPr>
              <a:t>近期最少使用的块</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作为被替换的块。</a:t>
            </a:r>
            <a:endParaRPr kumimoji="0" lang="en-US" altLang="zh-CN"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随时记录</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Cache</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中各块的使用情况；</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确定哪个块是近期最少使用的块。</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LRU</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算法实现起来比较复杂，系统开销较大。</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如何实现？</a:t>
            </a:r>
            <a:endParaRPr kumimoji="0" lang="zh-CN" altLang="en-US" sz="2055" b="0" i="0" u="none" strike="noStrike" kern="0" cap="none" spc="0" normalizeH="0" baseline="0" noProof="1" dirty="0">
              <a:solidFill>
                <a:schemeClr val="tx1"/>
              </a:solidFill>
              <a:latin typeface="Times New Roman" panose="02020603050405020304" pitchFamily="18" charset="0"/>
              <a:ea typeface="Times New Roman" panose="02020603050405020304" pitchFamily="18" charset="0"/>
              <a:cs typeface="+mn-ea"/>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 </a:t>
            </a:r>
            <a:r>
              <a:rPr lang="zh-CN" altLang="en-US" dirty="0">
                <a:latin typeface="Times New Roman" panose="02020603050405020304" pitchFamily="18" charset="0"/>
              </a:rPr>
              <a:t>虚拟存储器</a:t>
            </a:r>
            <a:endParaRPr lang="zh-CN" altLang="en-US" dirty="0">
              <a:latin typeface="Times New Roman" panose="02020603050405020304" pitchFamily="18" charset="0"/>
              <a:ea typeface="Times New Roman" panose="02020603050405020304" pitchFamily="18" charset="0"/>
            </a:endParaRPr>
          </a:p>
        </p:txBody>
      </p:sp>
      <p:sp>
        <p:nvSpPr>
          <p:cNvPr id="133122" name="内容占位符 2"/>
          <p:cNvSpPr>
            <a:spLocks noGrp="1"/>
          </p:cNvSpPr>
          <p:nvPr>
            <p:ph idx="1"/>
          </p:nvPr>
        </p:nvSpPr>
        <p:spPr>
          <a:noFill/>
          <a:ln>
            <a:noFill/>
          </a:ln>
        </p:spPr>
        <p:txBody>
          <a:bodyPr anchor="t" anchorCtr="0"/>
          <a:p>
            <a:pPr>
              <a:spcBef>
                <a:spcPts val="1800"/>
              </a:spcBef>
            </a:pPr>
            <a:r>
              <a:rPr lang="zh-CN" altLang="en-US" dirty="0">
                <a:latin typeface="Times New Roman" panose="02020603050405020304" pitchFamily="18" charset="0"/>
              </a:rPr>
              <a:t> 由</a:t>
            </a:r>
            <a:r>
              <a:rPr lang="zh-CN" altLang="en-US" dirty="0">
                <a:solidFill>
                  <a:srgbClr val="FF0000"/>
                </a:solidFill>
                <a:latin typeface="Times New Roman" panose="02020603050405020304" pitchFamily="18" charset="0"/>
              </a:rPr>
              <a:t>主存储器</a:t>
            </a:r>
            <a:r>
              <a:rPr lang="zh-CN" altLang="en-US" dirty="0">
                <a:latin typeface="Times New Roman" panose="02020603050405020304" pitchFamily="18" charset="0"/>
              </a:rPr>
              <a:t>和</a:t>
            </a:r>
            <a:r>
              <a:rPr lang="zh-CN" altLang="en-US" dirty="0">
                <a:solidFill>
                  <a:srgbClr val="FF0000"/>
                </a:solidFill>
                <a:latin typeface="Times New Roman" panose="02020603050405020304" pitchFamily="18" charset="0"/>
              </a:rPr>
              <a:t>联机工作的辅助存储器</a:t>
            </a:r>
            <a:r>
              <a:rPr lang="zh-CN" altLang="en-US" dirty="0">
                <a:latin typeface="Times New Roman" panose="02020603050405020304" pitchFamily="18" charset="0"/>
              </a:rPr>
              <a:t>共同组成；</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在</a:t>
            </a:r>
            <a:r>
              <a:rPr lang="zh-CN" altLang="en-US" dirty="0">
                <a:solidFill>
                  <a:srgbClr val="FF0000"/>
                </a:solidFill>
                <a:latin typeface="Times New Roman" panose="02020603050405020304" pitchFamily="18" charset="0"/>
              </a:rPr>
              <a:t>硬件和系统软件的共同管理</a:t>
            </a:r>
            <a:r>
              <a:rPr lang="zh-CN" altLang="en-US" dirty="0">
                <a:latin typeface="Times New Roman" panose="02020603050405020304" pitchFamily="18" charset="0"/>
              </a:rPr>
              <a:t>下工作；</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应用程序员可把它们看作是一个单一的存储器。</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5.8.1 </a:t>
            </a:r>
            <a:r>
              <a:rPr lang="zh-CN" altLang="en-US" dirty="0">
                <a:latin typeface="Times New Roman" panose="02020603050405020304" pitchFamily="18" charset="0"/>
              </a:rPr>
              <a:t>虚拟存储器的基本概念</a:t>
            </a:r>
            <a:endParaRPr lang="zh-CN" altLang="en-US" dirty="0">
              <a:latin typeface="Times New Roman" panose="02020603050405020304" pitchFamily="18" charset="0"/>
              <a:ea typeface="Times New Roman" panose="02020603050405020304" pitchFamily="18" charset="0"/>
            </a:endParaRPr>
          </a:p>
        </p:txBody>
      </p:sp>
      <p:sp>
        <p:nvSpPr>
          <p:cNvPr id="134146" name="内容占位符 2"/>
          <p:cNvSpPr>
            <a:spLocks noGrp="1"/>
          </p:cNvSpPr>
          <p:nvPr>
            <p:ph idx="1"/>
          </p:nvPr>
        </p:nvSpPr>
        <p:spPr>
          <a:noFill/>
          <a:ln>
            <a:noFill/>
          </a:ln>
        </p:spPr>
        <p:txBody>
          <a:bodyPr anchor="t" anchorCtr="0"/>
          <a:p>
            <a:pPr algn="just"/>
            <a:r>
              <a:rPr lang="zh-CN" altLang="en-US" dirty="0">
                <a:latin typeface="Times New Roman" panose="02020603050405020304" pitchFamily="18" charset="0"/>
              </a:rPr>
              <a:t>将主存或辅存的地址空间</a:t>
            </a:r>
            <a:r>
              <a:rPr lang="zh-CN" altLang="en-US" dirty="0">
                <a:solidFill>
                  <a:srgbClr val="FF0000"/>
                </a:solidFill>
                <a:latin typeface="Times New Roman" panose="02020603050405020304" pitchFamily="18" charset="0"/>
              </a:rPr>
              <a:t>统一编址：</a:t>
            </a:r>
            <a:endParaRPr lang="zh-CN" altLang="en-US" dirty="0">
              <a:solidFill>
                <a:srgbClr val="FF0000"/>
              </a:solidFill>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在这个大空间里，用户可以自由编程：</a:t>
            </a:r>
            <a:endParaRPr lang="zh-CN" altLang="en-US"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不必考虑程序是否装得下及其将来在主存的实际位置</a:t>
            </a:r>
            <a:endParaRPr lang="zh-CN" altLang="en-US" sz="2400" dirty="0">
              <a:latin typeface="Times New Roman" panose="02020603050405020304" pitchFamily="18" charset="0"/>
            </a:endParaRPr>
          </a:p>
          <a:p>
            <a:pPr algn="just">
              <a:spcBef>
                <a:spcPts val="1800"/>
              </a:spcBef>
            </a:pPr>
            <a:r>
              <a:rPr lang="zh-CN" altLang="en-US" dirty="0">
                <a:solidFill>
                  <a:srgbClr val="FF0000"/>
                </a:solidFill>
                <a:latin typeface="Times New Roman" panose="02020603050405020304" pitchFamily="18" charset="0"/>
              </a:rPr>
              <a:t>虚地址</a:t>
            </a:r>
            <a:r>
              <a:rPr lang="zh-CN" altLang="en-US" dirty="0">
                <a:latin typeface="Times New Roman" panose="02020603050405020304" pitchFamily="18" charset="0"/>
              </a:rPr>
              <a:t>和</a:t>
            </a:r>
            <a:r>
              <a:rPr lang="zh-CN" altLang="en-US" dirty="0">
                <a:solidFill>
                  <a:srgbClr val="FF0000"/>
                </a:solidFill>
                <a:latin typeface="Times New Roman" panose="02020603050405020304" pitchFamily="18" charset="0"/>
              </a:rPr>
              <a:t>实地址：</a:t>
            </a:r>
            <a:endParaRPr lang="zh-CN" altLang="en-US" dirty="0">
              <a:solidFill>
                <a:srgbClr val="FF0000"/>
              </a:solidFill>
              <a:latin typeface="Times New Roman" panose="02020603050405020304" pitchFamily="18" charset="0"/>
            </a:endParaRPr>
          </a:p>
          <a:p>
            <a:pPr lvl="1" algn="just" latinLnBrk="0">
              <a:spcBef>
                <a:spcPts val="1200"/>
              </a:spcBef>
            </a:pPr>
            <a:r>
              <a:rPr lang="zh-CN" altLang="en-US" sz="2400" dirty="0">
                <a:solidFill>
                  <a:srgbClr val="FF0000"/>
                </a:solidFill>
                <a:latin typeface="Times New Roman" panose="02020603050405020304" pitchFamily="18" charset="0"/>
              </a:rPr>
              <a:t>虚地址</a:t>
            </a:r>
            <a:r>
              <a:rPr lang="zh-CN" altLang="en-US" sz="2400" dirty="0">
                <a:latin typeface="Times New Roman" panose="02020603050405020304" pitchFamily="18" charset="0"/>
              </a:rPr>
              <a:t>或</a:t>
            </a:r>
            <a:r>
              <a:rPr lang="zh-CN" altLang="en-US" sz="2400" dirty="0">
                <a:solidFill>
                  <a:srgbClr val="FF0000"/>
                </a:solidFill>
                <a:latin typeface="Times New Roman" panose="02020603050405020304" pitchFamily="18" charset="0"/>
              </a:rPr>
              <a:t>逻辑地址</a:t>
            </a:r>
            <a:r>
              <a:rPr lang="zh-CN" altLang="en-US" sz="2400" dirty="0">
                <a:latin typeface="Times New Roman" panose="02020603050405020304" pitchFamily="18" charset="0"/>
              </a:rPr>
              <a:t>：用户编程的地址；</a:t>
            </a:r>
            <a:endParaRPr lang="zh-CN" altLang="en-US" sz="2400" dirty="0">
              <a:latin typeface="Times New Roman" panose="02020603050405020304" pitchFamily="18" charset="0"/>
            </a:endParaRPr>
          </a:p>
          <a:p>
            <a:pPr lvl="1" algn="just" latinLnBrk="0">
              <a:spcBef>
                <a:spcPts val="1200"/>
              </a:spcBef>
            </a:pPr>
            <a:r>
              <a:rPr lang="zh-CN" altLang="en-US" sz="2400" dirty="0">
                <a:solidFill>
                  <a:srgbClr val="FF0000"/>
                </a:solidFill>
                <a:latin typeface="Times New Roman" panose="02020603050405020304" pitchFamily="18" charset="0"/>
              </a:rPr>
              <a:t>实地址</a:t>
            </a:r>
            <a:r>
              <a:rPr lang="zh-CN" altLang="en-US" sz="2400" dirty="0">
                <a:latin typeface="Times New Roman" panose="02020603050405020304" pitchFamily="18" charset="0"/>
              </a:rPr>
              <a:t>或</a:t>
            </a:r>
            <a:r>
              <a:rPr lang="zh-CN" altLang="en-US" sz="2400" dirty="0">
                <a:solidFill>
                  <a:srgbClr val="FF0000"/>
                </a:solidFill>
                <a:latin typeface="Times New Roman" panose="02020603050405020304" pitchFamily="18" charset="0"/>
              </a:rPr>
              <a:t>物理地址</a:t>
            </a:r>
            <a:r>
              <a:rPr lang="zh-CN" altLang="en-US" sz="2400" dirty="0">
                <a:latin typeface="Times New Roman" panose="02020603050405020304" pitchFamily="18" charset="0"/>
              </a:rPr>
              <a:t>：实际的主存单元地址；</a:t>
            </a:r>
            <a:endParaRPr lang="en-US" altLang="zh-CN" sz="2400" dirty="0">
              <a:latin typeface="Times New Roman" panose="02020603050405020304" pitchFamily="18" charset="0"/>
            </a:endParaRPr>
          </a:p>
          <a:p>
            <a:pPr lvl="1" algn="just" latinLnBrk="0">
              <a:spcBef>
                <a:spcPts val="1200"/>
              </a:spcBef>
            </a:pPr>
            <a:r>
              <a:rPr lang="zh-CN" altLang="en-US" sz="2400" dirty="0">
                <a:latin typeface="Times New Roman" panose="02020603050405020304" pitchFamily="18" charset="0"/>
              </a:rPr>
              <a:t>虚地址要比实地址大得多。</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虚拟地址</a:t>
            </a:r>
            <a:r>
              <a:rPr lang="zh-CN" altLang="en-US"/>
              <a:t>空间</a:t>
            </a:r>
            <a:endParaRPr lang="zh-CN" altLang="en-US"/>
          </a:p>
        </p:txBody>
      </p:sp>
      <p:sp>
        <p:nvSpPr>
          <p:cNvPr id="3" name="内容占位符 2"/>
          <p:cNvSpPr>
            <a:spLocks noGrp="1"/>
          </p:cNvSpPr>
          <p:nvPr>
            <p:ph idx="1"/>
          </p:nvPr>
        </p:nvSpPr>
        <p:spPr>
          <a:xfrm>
            <a:off x="457200" y="1217295"/>
            <a:ext cx="3589655" cy="5072380"/>
          </a:xfrm>
        </p:spPr>
        <p:txBody>
          <a:bodyPr/>
          <a:p>
            <a:r>
              <a:rPr lang="zh-CN" altLang="en-US" sz="2400">
                <a:latin typeface="Times New Roman" panose="02020603050405020304" pitchFamily="18" charset="0"/>
                <a:cs typeface="Times New Roman" panose="02020603050405020304" pitchFamily="18" charset="0"/>
              </a:rPr>
              <a:t>为程序员提供了一个极大的虚拟地址空间,是主存和磁盘I/O设备的抽象。</a:t>
            </a:r>
            <a:endParaRPr lang="zh-CN" altLang="en-US" sz="24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每个进程具有一致的虚拟地址空间,简化存储管理。</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把主存看成是磁盘存储器的一个缓存,在</a:t>
            </a:r>
            <a:r>
              <a:rPr lang="zh-CN" altLang="en-US" sz="1800">
                <a:solidFill>
                  <a:srgbClr val="FF0000"/>
                </a:solidFill>
                <a:latin typeface="Times New Roman" panose="02020603050405020304" pitchFamily="18" charset="0"/>
                <a:cs typeface="Times New Roman" panose="02020603050405020304" pitchFamily="18" charset="0"/>
              </a:rPr>
              <a:t>主存中仅保存当前活动的程序段和数据区,并根据需要在磁盘和主存之间进行信息交换</a:t>
            </a:r>
            <a:r>
              <a:rPr lang="zh-CN" altLang="en-US" sz="1800">
                <a:latin typeface="Times New Roman" panose="02020603050405020304" pitchFamily="18" charset="0"/>
                <a:cs typeface="Times New Roman" panose="02020603050405020304" pitchFamily="18" charset="0"/>
              </a:rPr>
              <a:t>,通过这种方式,使有限的主存空间得到了有效利用。</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每个进程的虚拟地址空间是私有的,因此,可以保护各自进程不被其他进程破坏</a:t>
            </a:r>
            <a:endParaRPr lang="zh-CN" altLang="en-US" sz="180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rcRect l="6516"/>
          <a:stretch>
            <a:fillRect/>
          </a:stretch>
        </p:blipFill>
        <p:spPr>
          <a:xfrm>
            <a:off x="4140200" y="1417320"/>
            <a:ext cx="4750435" cy="4709795"/>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5.8.1 </a:t>
            </a:r>
            <a:r>
              <a:rPr lang="zh-CN" altLang="en-US" dirty="0">
                <a:latin typeface="Times New Roman" panose="02020603050405020304" pitchFamily="18" charset="0"/>
              </a:rPr>
              <a:t>虚拟存储器的基本概念（续）</a:t>
            </a:r>
            <a:endParaRPr lang="zh-CN" altLang="en-US" dirty="0">
              <a:latin typeface="Times New Roman" panose="02020603050405020304" pitchFamily="18" charset="0"/>
              <a:ea typeface="Times New Roman" panose="02020603050405020304" pitchFamily="18" charset="0"/>
            </a:endParaRPr>
          </a:p>
        </p:txBody>
      </p:sp>
      <p:sp>
        <p:nvSpPr>
          <p:cNvPr id="135170" name="内容占位符 2"/>
          <p:cNvSpPr>
            <a:spLocks noGrp="1"/>
          </p:cNvSpPr>
          <p:nvPr>
            <p:ph idx="1"/>
          </p:nvPr>
        </p:nvSpPr>
        <p:spPr>
          <a:xfrm>
            <a:off x="457200" y="1417638"/>
            <a:ext cx="8229600" cy="4891087"/>
          </a:xfrm>
          <a:noFill/>
          <a:ln>
            <a:noFill/>
          </a:ln>
        </p:spPr>
        <p:txBody>
          <a:bodyPr anchor="t" anchorCtr="0"/>
          <a:p>
            <a:pPr latinLnBrk="0">
              <a:spcBef>
                <a:spcPts val="1800"/>
              </a:spcBef>
            </a:pPr>
            <a:r>
              <a:rPr lang="zh-CN" altLang="en-US" sz="2400" dirty="0">
                <a:latin typeface="Times New Roman" panose="02020603050405020304" pitchFamily="18" charset="0"/>
              </a:rPr>
              <a:t>操作系统将当前运行所需要的程序和数据</a:t>
            </a:r>
            <a:r>
              <a:rPr lang="zh-CN" altLang="en-US" sz="2400" dirty="0">
                <a:solidFill>
                  <a:srgbClr val="FF0000"/>
                </a:solidFill>
                <a:latin typeface="Times New Roman" panose="02020603050405020304" pitchFamily="18" charset="0"/>
              </a:rPr>
              <a:t>部分调入</a:t>
            </a:r>
            <a:r>
              <a:rPr lang="zh-CN" altLang="en-US" sz="2400" dirty="0">
                <a:latin typeface="Times New Roman" panose="02020603050405020304" pitchFamily="18" charset="0"/>
              </a:rPr>
              <a:t>主存</a:t>
            </a:r>
            <a:r>
              <a:rPr lang="zh-CN" altLang="zh-CN" sz="2400" dirty="0">
                <a:latin typeface="Times New Roman" panose="02020603050405020304" pitchFamily="18" charset="0"/>
              </a:rPr>
              <a:t>；</a:t>
            </a:r>
            <a:endParaRPr lang="zh-CN" altLang="zh-CN" sz="2400" dirty="0">
              <a:latin typeface="Times New Roman" panose="02020603050405020304" pitchFamily="18" charset="0"/>
            </a:endParaRPr>
          </a:p>
          <a:p>
            <a:pPr latinLnBrk="0">
              <a:spcBef>
                <a:spcPts val="1800"/>
              </a:spcBef>
            </a:pPr>
            <a:r>
              <a:rPr lang="en-US" altLang="zh-CN" sz="2400" dirty="0">
                <a:latin typeface="Times New Roman" panose="02020603050405020304" pitchFamily="18" charset="0"/>
              </a:rPr>
              <a:t>CPU</a:t>
            </a:r>
            <a:r>
              <a:rPr lang="zh-CN" altLang="en-US" sz="2400" dirty="0">
                <a:latin typeface="Times New Roman" panose="02020603050405020304" pitchFamily="18" charset="0"/>
              </a:rPr>
              <a:t>以</a:t>
            </a:r>
            <a:r>
              <a:rPr lang="zh-CN" altLang="en-US" sz="2400" dirty="0">
                <a:solidFill>
                  <a:srgbClr val="FF0000"/>
                </a:solidFill>
                <a:latin typeface="Times New Roman" panose="02020603050405020304" pitchFamily="18" charset="0"/>
              </a:rPr>
              <a:t>虚地址</a:t>
            </a:r>
            <a:r>
              <a:rPr lang="zh-CN" altLang="en-US" sz="2400" dirty="0">
                <a:latin typeface="Times New Roman" panose="02020603050405020304" pitchFamily="18" charset="0"/>
              </a:rPr>
              <a:t>访问主存，</a:t>
            </a:r>
            <a:r>
              <a:rPr lang="zh-CN" altLang="en-US" sz="2400" dirty="0">
                <a:solidFill>
                  <a:srgbClr val="FF0000"/>
                </a:solidFill>
                <a:latin typeface="Times New Roman" panose="02020603050405020304" pitchFamily="18" charset="0"/>
              </a:rPr>
              <a:t>辅助硬件</a:t>
            </a:r>
            <a:r>
              <a:rPr lang="zh-CN" altLang="en-US" sz="2400" dirty="0">
                <a:latin typeface="Times New Roman" panose="02020603050405020304" pitchFamily="18" charset="0"/>
              </a:rPr>
              <a:t>找出虚实地址关系：</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已在主存：地址变换，</a:t>
            </a:r>
            <a:r>
              <a:rPr lang="en-US" altLang="zh-CN" sz="2400" dirty="0">
                <a:latin typeface="Times New Roman" panose="02020603050405020304" pitchFamily="18" charset="0"/>
              </a:rPr>
              <a:t>CPU</a:t>
            </a:r>
            <a:r>
              <a:rPr lang="zh-CN" altLang="en-US" sz="2400" dirty="0">
                <a:latin typeface="Times New Roman" panose="02020603050405020304" pitchFamily="18" charset="0"/>
              </a:rPr>
              <a:t>直接访问主存的实际单元；</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不在主存：把包含这个字的</a:t>
            </a:r>
            <a:r>
              <a:rPr lang="zh-CN" altLang="en-US" sz="2400" dirty="0">
                <a:solidFill>
                  <a:srgbClr val="FF0000"/>
                </a:solidFill>
                <a:latin typeface="Times New Roman" panose="02020603050405020304" pitchFamily="18" charset="0"/>
              </a:rPr>
              <a:t>一页或程序段</a:t>
            </a:r>
            <a:r>
              <a:rPr lang="zh-CN" altLang="en-US" sz="2400" dirty="0">
                <a:latin typeface="Times New Roman" panose="02020603050405020304" pitchFamily="18" charset="0"/>
              </a:rPr>
              <a:t>调入主存；</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主存已满：由</a:t>
            </a:r>
            <a:r>
              <a:rPr lang="zh-CN" altLang="en-US" sz="2400" dirty="0">
                <a:solidFill>
                  <a:srgbClr val="FF0000"/>
                </a:solidFill>
                <a:latin typeface="Times New Roman" panose="02020603050405020304" pitchFamily="18" charset="0"/>
              </a:rPr>
              <a:t>替换算法</a:t>
            </a:r>
            <a:r>
              <a:rPr lang="zh-CN" altLang="en-US" sz="2400" dirty="0">
                <a:latin typeface="Times New Roman" panose="02020603050405020304" pitchFamily="18" charset="0"/>
              </a:rPr>
              <a:t>从替换主存中的块。</a:t>
            </a:r>
            <a:endParaRPr lang="zh-CN" altLang="en-US" sz="2000"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5.8.2 </a:t>
            </a:r>
            <a:r>
              <a:rPr lang="zh-CN" altLang="en-US" dirty="0">
                <a:latin typeface="Times New Roman" panose="02020603050405020304" pitchFamily="18" charset="0"/>
              </a:rPr>
              <a:t>页式虚拟存储器 </a:t>
            </a:r>
            <a:endParaRPr lang="zh-CN" altLang="en-US" dirty="0">
              <a:latin typeface="Times New Roman" panose="02020603050405020304" pitchFamily="18" charset="0"/>
              <a:ea typeface="Times New Roman" panose="02020603050405020304" pitchFamily="18" charset="0"/>
            </a:endParaRPr>
          </a:p>
        </p:txBody>
      </p:sp>
      <p:sp>
        <p:nvSpPr>
          <p:cNvPr id="136194" name="内容占位符 2"/>
          <p:cNvSpPr>
            <a:spLocks noGrp="1"/>
          </p:cNvSpPr>
          <p:nvPr>
            <p:ph idx="1"/>
          </p:nvPr>
        </p:nvSpPr>
        <p:spPr>
          <a:xfrm>
            <a:off x="457200" y="1417638"/>
            <a:ext cx="8229600" cy="5106987"/>
          </a:xfrm>
          <a:noFill/>
          <a:ln>
            <a:noFill/>
          </a:ln>
        </p:spPr>
        <p:txBody>
          <a:bodyPr anchor="t" anchorCtr="0"/>
          <a:p>
            <a:r>
              <a:rPr lang="zh-CN" altLang="en-US" dirty="0">
                <a:latin typeface="Times New Roman" panose="02020603050405020304" pitchFamily="18" charset="0"/>
              </a:rPr>
              <a:t>主存和虚存空间都划分成若干个大小相等的页：</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主存的页称为</a:t>
            </a:r>
            <a:r>
              <a:rPr lang="zh-CN" altLang="en-US" sz="2400" dirty="0">
                <a:solidFill>
                  <a:srgbClr val="FF0000"/>
                </a:solidFill>
                <a:latin typeface="Times New Roman" panose="02020603050405020304" pitchFamily="18" charset="0"/>
              </a:rPr>
              <a:t>实页</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虚存的页称为</a:t>
            </a:r>
            <a:r>
              <a:rPr lang="zh-CN" altLang="en-US" sz="2400" dirty="0">
                <a:solidFill>
                  <a:srgbClr val="FF0000"/>
                </a:solidFill>
                <a:latin typeface="Times New Roman" panose="02020603050405020304" pitchFamily="18" charset="0"/>
              </a:rPr>
              <a:t>虚页</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spcBef>
                <a:spcPts val="1200"/>
              </a:spcBef>
              <a:buSzTx/>
            </a:pPr>
            <a:r>
              <a:rPr lang="zh-CN" altLang="en-US" sz="2400" dirty="0">
                <a:latin typeface="Times New Roman" panose="02020603050405020304" pitchFamily="18" charset="0"/>
              </a:rPr>
              <a:t>程序虚地址分为两个字段：虚页号和页内地址。</a:t>
            </a:r>
            <a:endParaRPr lang="zh-CN" altLang="en-US" sz="2400" dirty="0">
              <a:latin typeface="Times New Roman" panose="02020603050405020304" pitchFamily="18" charset="0"/>
            </a:endParaRPr>
          </a:p>
          <a:p>
            <a:pPr latinLnBrk="0">
              <a:spcBef>
                <a:spcPts val="1800"/>
              </a:spcBef>
            </a:pPr>
            <a:r>
              <a:rPr lang="zh-CN" altLang="en-US" dirty="0">
                <a:solidFill>
                  <a:srgbClr val="FF0000"/>
                </a:solidFill>
                <a:latin typeface="Times New Roman" panose="02020603050405020304" pitchFamily="18" charset="0"/>
              </a:rPr>
              <a:t>页表：</a:t>
            </a:r>
            <a:r>
              <a:rPr lang="zh-CN" altLang="en-US" dirty="0">
                <a:latin typeface="Times New Roman" panose="02020603050405020304" pitchFamily="18" charset="0"/>
              </a:rPr>
              <a:t>实现虚地址到实地址之间的变换</a:t>
            </a:r>
            <a:endParaRPr lang="en-US" altLang="zh-CN" dirty="0">
              <a:latin typeface="Times New Roman" panose="02020603050405020304" pitchFamily="18" charset="0"/>
            </a:endParaRPr>
          </a:p>
          <a:p>
            <a:pPr lvl="1">
              <a:spcBef>
                <a:spcPts val="1800"/>
              </a:spcBef>
            </a:pPr>
            <a:r>
              <a:rPr lang="zh-CN" altLang="en-US" sz="2400" dirty="0">
                <a:latin typeface="Times New Roman" panose="02020603050405020304" pitchFamily="18" charset="0"/>
              </a:rPr>
              <a:t>存放在主存中的虚页号和实页号的对照表；</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记录程序的虚页调入主存时被安排在主存中的位置；</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每个用户作业一个页表；</a:t>
            </a:r>
            <a:endParaRPr lang="zh-CN" altLang="en-US" sz="24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页表基址寄存器</a:t>
            </a:r>
            <a:r>
              <a:rPr lang="zh-CN" altLang="en-US" sz="2400" dirty="0">
                <a:latin typeface="Times New Roman" panose="02020603050405020304" pitchFamily="18" charset="0"/>
              </a:rPr>
              <a:t>：存放当前运行程序的页表起始地址 </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标题 1"/>
          <p:cNvSpPr>
            <a:spLocks noGrp="1"/>
          </p:cNvSpPr>
          <p:nvPr>
            <p:ph type="title"/>
          </p:nvPr>
        </p:nvSpPr>
        <p:spPr>
          <a:noFill/>
          <a:ln>
            <a:noFill/>
          </a:ln>
        </p:spPr>
        <p:txBody>
          <a:bodyPr anchor="t" anchorCtr="0"/>
          <a:p>
            <a:r>
              <a:rPr lang="zh-CN" altLang="en-US" dirty="0"/>
              <a:t>页式虚拟存储器的地址映象</a:t>
            </a:r>
            <a:br>
              <a:rPr lang="zh-CN" altLang="en-US" dirty="0"/>
            </a:br>
            <a:endParaRPr lang="zh-CN" altLang="en-US" dirty="0"/>
          </a:p>
        </p:txBody>
      </p:sp>
      <p:grpSp>
        <p:nvGrpSpPr>
          <p:cNvPr id="137218" name="组合 4"/>
          <p:cNvGrpSpPr/>
          <p:nvPr/>
        </p:nvGrpSpPr>
        <p:grpSpPr>
          <a:xfrm>
            <a:off x="952500" y="1268413"/>
            <a:ext cx="7239000" cy="4776787"/>
            <a:chOff x="990600" y="981075"/>
            <a:chExt cx="7239000" cy="4776788"/>
          </a:xfrm>
        </p:grpSpPr>
        <p:sp>
          <p:nvSpPr>
            <p:cNvPr id="6" name="Rectangle 4"/>
            <p:cNvSpPr>
              <a:spLocks noChangeArrowheads="1"/>
            </p:cNvSpPr>
            <p:nvPr/>
          </p:nvSpPr>
          <p:spPr bwMode="auto">
            <a:xfrm>
              <a:off x="1217613" y="1336675"/>
              <a:ext cx="1374775" cy="917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0</a:t>
              </a:r>
              <a:r>
                <a:rPr kumimoji="1" lang="zh-CN" altLang="en-US" sz="2400" b="1" i="0" u="none" strike="noStrike" kern="1200" cap="none" spc="0" normalizeH="0" baseline="0" noProof="0">
                  <a:ln>
                    <a:noFill/>
                  </a:ln>
                  <a:solidFill>
                    <a:srgbClr val="0000FF"/>
                  </a:solidFill>
                  <a:effectLst/>
                  <a:uLnTx/>
                  <a:uFillTx/>
                  <a:latin typeface="+mn-ea"/>
                  <a:ea typeface="+mn-ea"/>
                  <a:cs typeface="+mn-cs"/>
                </a:rPr>
                <a:t>页</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7" name="Rectangle 5"/>
            <p:cNvSpPr>
              <a:spLocks noChangeArrowheads="1"/>
            </p:cNvSpPr>
            <p:nvPr/>
          </p:nvSpPr>
          <p:spPr bwMode="auto">
            <a:xfrm>
              <a:off x="6704013" y="1184275"/>
              <a:ext cx="1374775" cy="6127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8" name="Line 6"/>
            <p:cNvSpPr>
              <a:spLocks noChangeShapeType="1"/>
            </p:cNvSpPr>
            <p:nvPr/>
          </p:nvSpPr>
          <p:spPr bwMode="auto">
            <a:xfrm>
              <a:off x="2590800" y="1795462"/>
              <a:ext cx="685800" cy="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9" name="Rectangle 7"/>
            <p:cNvSpPr>
              <a:spLocks noChangeArrowheads="1"/>
            </p:cNvSpPr>
            <p:nvPr/>
          </p:nvSpPr>
          <p:spPr bwMode="auto">
            <a:xfrm>
              <a:off x="1217613" y="2251075"/>
              <a:ext cx="1374775" cy="917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1</a:t>
              </a:r>
              <a:r>
                <a:rPr kumimoji="1" lang="zh-CN" altLang="en-US" sz="2400" b="1" i="0" u="none" strike="noStrike" kern="1200" cap="none" spc="0" normalizeH="0" baseline="0" noProof="0">
                  <a:ln>
                    <a:noFill/>
                  </a:ln>
                  <a:solidFill>
                    <a:srgbClr val="0000FF"/>
                  </a:solidFill>
                  <a:effectLst/>
                  <a:uLnTx/>
                  <a:uFillTx/>
                  <a:latin typeface="+mn-ea"/>
                  <a:ea typeface="+mn-ea"/>
                  <a:cs typeface="+mn-cs"/>
                </a:rPr>
                <a:t>页</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0" name="Rectangle 8"/>
            <p:cNvSpPr>
              <a:spLocks noChangeArrowheads="1"/>
            </p:cNvSpPr>
            <p:nvPr/>
          </p:nvSpPr>
          <p:spPr bwMode="auto">
            <a:xfrm>
              <a:off x="1217613" y="3165475"/>
              <a:ext cx="1374775" cy="917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2</a:t>
              </a:r>
              <a:r>
                <a:rPr kumimoji="1" lang="zh-CN" altLang="en-US" sz="2400" b="1" i="0" u="none" strike="noStrike" kern="1200" cap="none" spc="0" normalizeH="0" baseline="0" noProof="0">
                  <a:ln>
                    <a:noFill/>
                  </a:ln>
                  <a:solidFill>
                    <a:srgbClr val="0000FF"/>
                  </a:solidFill>
                  <a:effectLst/>
                  <a:uLnTx/>
                  <a:uFillTx/>
                  <a:latin typeface="+mn-ea"/>
                  <a:ea typeface="+mn-ea"/>
                  <a:cs typeface="+mn-cs"/>
                </a:rPr>
                <a:t>页</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1" name="Rectangle 9"/>
            <p:cNvSpPr>
              <a:spLocks noChangeArrowheads="1"/>
            </p:cNvSpPr>
            <p:nvPr/>
          </p:nvSpPr>
          <p:spPr bwMode="auto">
            <a:xfrm>
              <a:off x="1217613" y="4079876"/>
              <a:ext cx="1374775" cy="917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3</a:t>
              </a:r>
              <a:r>
                <a:rPr kumimoji="1" lang="zh-CN" altLang="en-US" sz="2400" b="1" i="0" u="none" strike="noStrike" kern="1200" cap="none" spc="0" normalizeH="0" baseline="0" noProof="0">
                  <a:ln>
                    <a:noFill/>
                  </a:ln>
                  <a:solidFill>
                    <a:srgbClr val="0000FF"/>
                  </a:solidFill>
                  <a:effectLst/>
                  <a:uLnTx/>
                  <a:uFillTx/>
                  <a:latin typeface="+mn-ea"/>
                  <a:ea typeface="+mn-ea"/>
                  <a:cs typeface="+mn-cs"/>
                </a:rPr>
                <a:t>页</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2" name="Rectangle 10"/>
            <p:cNvSpPr>
              <a:spLocks noChangeArrowheads="1"/>
            </p:cNvSpPr>
            <p:nvPr/>
          </p:nvSpPr>
          <p:spPr bwMode="auto">
            <a:xfrm>
              <a:off x="3275013" y="981075"/>
              <a:ext cx="9175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uLnTx/>
                  <a:uFillTx/>
                  <a:latin typeface="+mn-ea"/>
                  <a:ea typeface="+mn-ea"/>
                  <a:cs typeface="+mn-cs"/>
                </a:rPr>
                <a:t>页号  </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3" name="Rectangle 11"/>
            <p:cNvSpPr>
              <a:spLocks noChangeArrowheads="1"/>
            </p:cNvSpPr>
            <p:nvPr/>
          </p:nvSpPr>
          <p:spPr bwMode="auto">
            <a:xfrm>
              <a:off x="4189413" y="981075"/>
              <a:ext cx="18319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uLnTx/>
                  <a:uFillTx/>
                  <a:latin typeface="+mn-ea"/>
                  <a:ea typeface="+mn-ea"/>
                  <a:cs typeface="+mn-cs"/>
                </a:rPr>
                <a:t>主存页号 </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4" name="Rectangle 12"/>
            <p:cNvSpPr>
              <a:spLocks noChangeArrowheads="1"/>
            </p:cNvSpPr>
            <p:nvPr/>
          </p:nvSpPr>
          <p:spPr bwMode="auto">
            <a:xfrm>
              <a:off x="3275013" y="1514475"/>
              <a:ext cx="9175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0</a:t>
              </a:r>
              <a:endParaRPr kumimoji="1" lang="en-US" altLang="zh-CN" sz="2400" b="1" i="0" u="none" strike="noStrike" kern="1200" cap="none" spc="0" normalizeH="0" baseline="0" noProof="0">
                <a:ln>
                  <a:noFill/>
                </a:ln>
                <a:solidFill>
                  <a:srgbClr val="0000FF"/>
                </a:solidFill>
                <a:effectLst/>
                <a:uLnTx/>
                <a:uFillTx/>
                <a:latin typeface="+mn-ea"/>
                <a:ea typeface="+mn-ea"/>
                <a:cs typeface="+mn-cs"/>
              </a:endParaRPr>
            </a:p>
          </p:txBody>
        </p:sp>
        <p:sp>
          <p:nvSpPr>
            <p:cNvPr id="15" name="Rectangle 13"/>
            <p:cNvSpPr>
              <a:spLocks noChangeArrowheads="1"/>
            </p:cNvSpPr>
            <p:nvPr/>
          </p:nvSpPr>
          <p:spPr bwMode="auto">
            <a:xfrm>
              <a:off x="4189413" y="1514475"/>
              <a:ext cx="18319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6" name="Rectangle 14"/>
            <p:cNvSpPr>
              <a:spLocks noChangeArrowheads="1"/>
            </p:cNvSpPr>
            <p:nvPr/>
          </p:nvSpPr>
          <p:spPr bwMode="auto">
            <a:xfrm>
              <a:off x="3275013" y="2047875"/>
              <a:ext cx="9175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1</a:t>
              </a:r>
              <a:endParaRPr kumimoji="1" lang="en-US" altLang="zh-CN" sz="2400" b="1" i="0" u="none" strike="noStrike" kern="1200" cap="none" spc="0" normalizeH="0" baseline="0" noProof="0">
                <a:ln>
                  <a:noFill/>
                </a:ln>
                <a:solidFill>
                  <a:srgbClr val="0000FF"/>
                </a:solidFill>
                <a:effectLst/>
                <a:uLnTx/>
                <a:uFillTx/>
                <a:latin typeface="+mn-ea"/>
                <a:ea typeface="+mn-ea"/>
                <a:cs typeface="+mn-cs"/>
              </a:endParaRPr>
            </a:p>
          </p:txBody>
        </p:sp>
        <p:sp>
          <p:nvSpPr>
            <p:cNvPr id="17" name="Rectangle 15"/>
            <p:cNvSpPr>
              <a:spLocks noChangeArrowheads="1"/>
            </p:cNvSpPr>
            <p:nvPr/>
          </p:nvSpPr>
          <p:spPr bwMode="auto">
            <a:xfrm>
              <a:off x="4189413" y="2047875"/>
              <a:ext cx="18319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18" name="Rectangle 16"/>
            <p:cNvSpPr>
              <a:spLocks noChangeArrowheads="1"/>
            </p:cNvSpPr>
            <p:nvPr/>
          </p:nvSpPr>
          <p:spPr bwMode="auto">
            <a:xfrm>
              <a:off x="3275013" y="2581275"/>
              <a:ext cx="9175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2</a:t>
              </a:r>
              <a:endParaRPr kumimoji="1" lang="en-US" altLang="zh-CN" sz="2400" b="1" i="0" u="none" strike="noStrike" kern="1200" cap="none" spc="0" normalizeH="0" baseline="0" noProof="0">
                <a:ln>
                  <a:noFill/>
                </a:ln>
                <a:solidFill>
                  <a:srgbClr val="0000FF"/>
                </a:solidFill>
                <a:effectLst/>
                <a:uLnTx/>
                <a:uFillTx/>
                <a:latin typeface="+mn-ea"/>
                <a:ea typeface="+mn-ea"/>
                <a:cs typeface="+mn-cs"/>
              </a:endParaRPr>
            </a:p>
          </p:txBody>
        </p:sp>
        <p:sp>
          <p:nvSpPr>
            <p:cNvPr id="19" name="Rectangle 17"/>
            <p:cNvSpPr>
              <a:spLocks noChangeArrowheads="1"/>
            </p:cNvSpPr>
            <p:nvPr/>
          </p:nvSpPr>
          <p:spPr bwMode="auto">
            <a:xfrm>
              <a:off x="4189413" y="2581275"/>
              <a:ext cx="18319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0" name="Rectangle 18"/>
            <p:cNvSpPr>
              <a:spLocks noChangeArrowheads="1"/>
            </p:cNvSpPr>
            <p:nvPr/>
          </p:nvSpPr>
          <p:spPr bwMode="auto">
            <a:xfrm>
              <a:off x="3275013" y="3114675"/>
              <a:ext cx="9175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FF"/>
                  </a:solidFill>
                  <a:effectLst/>
                  <a:uLnTx/>
                  <a:uFillTx/>
                  <a:latin typeface="+mn-ea"/>
                  <a:ea typeface="+mn-ea"/>
                  <a:cs typeface="+mn-cs"/>
                </a:rPr>
                <a:t>3</a:t>
              </a:r>
              <a:endParaRPr kumimoji="1" lang="en-US" altLang="zh-CN" sz="2400" b="1" i="0" u="none" strike="noStrike" kern="1200" cap="none" spc="0" normalizeH="0" baseline="0" noProof="0">
                <a:ln>
                  <a:noFill/>
                </a:ln>
                <a:solidFill>
                  <a:srgbClr val="0000FF"/>
                </a:solidFill>
                <a:effectLst/>
                <a:uLnTx/>
                <a:uFillTx/>
                <a:latin typeface="+mn-ea"/>
                <a:ea typeface="+mn-ea"/>
                <a:cs typeface="+mn-cs"/>
              </a:endParaRPr>
            </a:p>
          </p:txBody>
        </p:sp>
        <p:sp>
          <p:nvSpPr>
            <p:cNvPr id="21" name="Rectangle 19"/>
            <p:cNvSpPr>
              <a:spLocks noChangeArrowheads="1"/>
            </p:cNvSpPr>
            <p:nvPr/>
          </p:nvSpPr>
          <p:spPr bwMode="auto">
            <a:xfrm>
              <a:off x="4189413" y="3114675"/>
              <a:ext cx="18319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2" name="Rectangle 20"/>
            <p:cNvSpPr>
              <a:spLocks noChangeArrowheads="1"/>
            </p:cNvSpPr>
            <p:nvPr/>
          </p:nvSpPr>
          <p:spPr bwMode="auto">
            <a:xfrm>
              <a:off x="6704013" y="1793875"/>
              <a:ext cx="1374775" cy="460375"/>
            </a:xfrm>
            <a:prstGeom prst="rect">
              <a:avLst/>
            </a:prstGeom>
            <a:solidFill>
              <a:srgbClr val="FFFF99"/>
            </a:solidFill>
            <a:ln w="254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3" name="Rectangle 21"/>
            <p:cNvSpPr>
              <a:spLocks noChangeArrowheads="1"/>
            </p:cNvSpPr>
            <p:nvPr/>
          </p:nvSpPr>
          <p:spPr bwMode="auto">
            <a:xfrm>
              <a:off x="6704013" y="2251075"/>
              <a:ext cx="1374775" cy="460375"/>
            </a:xfrm>
            <a:prstGeom prst="rect">
              <a:avLst/>
            </a:prstGeom>
            <a:solidFill>
              <a:srgbClr val="993300"/>
            </a:solidFill>
            <a:ln w="254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4" name="Rectangle 22"/>
            <p:cNvSpPr>
              <a:spLocks noChangeArrowheads="1"/>
            </p:cNvSpPr>
            <p:nvPr/>
          </p:nvSpPr>
          <p:spPr bwMode="auto">
            <a:xfrm>
              <a:off x="6704013" y="2708275"/>
              <a:ext cx="13747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5" name="Rectangle 23"/>
            <p:cNvSpPr>
              <a:spLocks noChangeArrowheads="1"/>
            </p:cNvSpPr>
            <p:nvPr/>
          </p:nvSpPr>
          <p:spPr bwMode="auto">
            <a:xfrm>
              <a:off x="6704013" y="3241675"/>
              <a:ext cx="1374775" cy="460375"/>
            </a:xfrm>
            <a:prstGeom prst="rect">
              <a:avLst/>
            </a:prstGeom>
            <a:solidFill>
              <a:srgbClr val="66FFFF"/>
            </a:solidFill>
            <a:ln w="254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6" name="Rectangle 24"/>
            <p:cNvSpPr>
              <a:spLocks noChangeArrowheads="1"/>
            </p:cNvSpPr>
            <p:nvPr/>
          </p:nvSpPr>
          <p:spPr bwMode="auto">
            <a:xfrm>
              <a:off x="6704013" y="3698876"/>
              <a:ext cx="13747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7" name="Rectangle 25"/>
            <p:cNvSpPr>
              <a:spLocks noChangeArrowheads="1"/>
            </p:cNvSpPr>
            <p:nvPr/>
          </p:nvSpPr>
          <p:spPr bwMode="auto">
            <a:xfrm>
              <a:off x="6704013" y="4232276"/>
              <a:ext cx="1374775" cy="460375"/>
            </a:xfrm>
            <a:prstGeom prst="rect">
              <a:avLst/>
            </a:prstGeom>
            <a:solidFill>
              <a:srgbClr val="3399FF"/>
            </a:solidFill>
            <a:ln w="25400">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8" name="Rectangle 26"/>
            <p:cNvSpPr>
              <a:spLocks noChangeArrowheads="1"/>
            </p:cNvSpPr>
            <p:nvPr/>
          </p:nvSpPr>
          <p:spPr bwMode="auto">
            <a:xfrm>
              <a:off x="6704013" y="4689476"/>
              <a:ext cx="1374775" cy="536575"/>
            </a:xfrm>
            <a:prstGeom prst="rect">
              <a:avLst/>
            </a:prstGeom>
            <a:noFill/>
            <a:ln w="25400">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29" name="Line 27"/>
            <p:cNvSpPr>
              <a:spLocks noChangeShapeType="1"/>
            </p:cNvSpPr>
            <p:nvPr/>
          </p:nvSpPr>
          <p:spPr bwMode="auto">
            <a:xfrm flipV="1">
              <a:off x="2590800" y="2252662"/>
              <a:ext cx="685800" cy="4572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0" name="Line 28"/>
            <p:cNvSpPr>
              <a:spLocks noChangeShapeType="1"/>
            </p:cNvSpPr>
            <p:nvPr/>
          </p:nvSpPr>
          <p:spPr bwMode="auto">
            <a:xfrm flipV="1">
              <a:off x="2590800" y="2786062"/>
              <a:ext cx="685800" cy="8382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1" name="Line 29"/>
            <p:cNvSpPr>
              <a:spLocks noChangeShapeType="1"/>
            </p:cNvSpPr>
            <p:nvPr/>
          </p:nvSpPr>
          <p:spPr bwMode="auto">
            <a:xfrm flipV="1">
              <a:off x="2590800" y="3319462"/>
              <a:ext cx="685800" cy="12192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2" name="Line 30"/>
            <p:cNvSpPr>
              <a:spLocks noChangeShapeType="1"/>
            </p:cNvSpPr>
            <p:nvPr/>
          </p:nvSpPr>
          <p:spPr bwMode="auto">
            <a:xfrm>
              <a:off x="6019800" y="1795462"/>
              <a:ext cx="685800" cy="4572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3" name="Line 31"/>
            <p:cNvSpPr>
              <a:spLocks noChangeShapeType="1"/>
            </p:cNvSpPr>
            <p:nvPr/>
          </p:nvSpPr>
          <p:spPr bwMode="auto">
            <a:xfrm>
              <a:off x="6019800" y="2252662"/>
              <a:ext cx="685800" cy="20574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4" name="Line 32"/>
            <p:cNvSpPr>
              <a:spLocks noChangeShapeType="1"/>
            </p:cNvSpPr>
            <p:nvPr/>
          </p:nvSpPr>
          <p:spPr bwMode="auto">
            <a:xfrm flipV="1">
              <a:off x="6019800" y="1795462"/>
              <a:ext cx="685800" cy="10668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5" name="Line 33"/>
            <p:cNvSpPr>
              <a:spLocks noChangeShapeType="1"/>
            </p:cNvSpPr>
            <p:nvPr/>
          </p:nvSpPr>
          <p:spPr bwMode="auto">
            <a:xfrm flipV="1">
              <a:off x="6019800" y="3243262"/>
              <a:ext cx="685800" cy="152400"/>
            </a:xfrm>
            <a:prstGeom prst="line">
              <a:avLst/>
            </a:prstGeom>
            <a:noFill/>
            <a:ln w="254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FF"/>
                </a:solidFill>
                <a:effectLst/>
                <a:uLnTx/>
                <a:uFillTx/>
                <a:latin typeface="+mn-ea"/>
                <a:ea typeface="+mn-ea"/>
                <a:cs typeface="+mn-cs"/>
              </a:endParaRPr>
            </a:p>
          </p:txBody>
        </p:sp>
        <p:sp>
          <p:nvSpPr>
            <p:cNvPr id="36" name="Rectangle 34"/>
            <p:cNvSpPr>
              <a:spLocks noChangeArrowheads="1"/>
            </p:cNvSpPr>
            <p:nvPr/>
          </p:nvSpPr>
          <p:spPr bwMode="auto">
            <a:xfrm>
              <a:off x="990600" y="5148263"/>
              <a:ext cx="1828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uLnTx/>
                  <a:uFillTx/>
                  <a:latin typeface="+mn-ea"/>
                  <a:ea typeface="+mn-ea"/>
                  <a:cs typeface="+mn-cs"/>
                </a:rPr>
                <a:t>用户程序  </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37" name="Rectangle 35"/>
            <p:cNvSpPr>
              <a:spLocks noChangeArrowheads="1"/>
            </p:cNvSpPr>
            <p:nvPr/>
          </p:nvSpPr>
          <p:spPr bwMode="auto">
            <a:xfrm>
              <a:off x="6553200" y="5300663"/>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uLnTx/>
                  <a:uFillTx/>
                  <a:latin typeface="+mn-ea"/>
                  <a:ea typeface="+mn-ea"/>
                  <a:cs typeface="+mn-cs"/>
                </a:rPr>
                <a:t>主存储器  </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sp>
          <p:nvSpPr>
            <p:cNvPr id="38" name="Rectangle 36"/>
            <p:cNvSpPr>
              <a:spLocks noChangeArrowheads="1"/>
            </p:cNvSpPr>
            <p:nvPr/>
          </p:nvSpPr>
          <p:spPr bwMode="auto">
            <a:xfrm>
              <a:off x="3733800" y="3776663"/>
              <a:ext cx="1828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0000FF"/>
                  </a:solidFill>
                  <a:effectLst/>
                  <a:uLnTx/>
                  <a:uFillTx/>
                  <a:latin typeface="+mn-ea"/>
                  <a:ea typeface="+mn-ea"/>
                  <a:cs typeface="+mn-cs"/>
                </a:rPr>
                <a:t>页表 </a:t>
              </a:r>
              <a:endParaRPr kumimoji="1" lang="zh-CN" altLang="en-US" sz="2400" b="1" i="0" u="none" strike="noStrike" kern="1200" cap="none" spc="0" normalizeH="0" baseline="0" noProof="0">
                <a:ln>
                  <a:noFill/>
                </a:ln>
                <a:solidFill>
                  <a:srgbClr val="0000FF"/>
                </a:solidFill>
                <a:effectLst/>
                <a:uLnTx/>
                <a:uFillTx/>
                <a:latin typeface="+mn-ea"/>
                <a:ea typeface="+mn-ea"/>
                <a:cs typeface="+mn-cs"/>
              </a:endParaRPr>
            </a:p>
          </p:txBody>
        </p:sp>
      </p:grpSp>
      <p:sp>
        <p:nvSpPr>
          <p:cNvPr id="39" name="Rectangle 37"/>
          <p:cNvSpPr>
            <a:spLocks noChangeArrowheads="1"/>
          </p:cNvSpPr>
          <p:nvPr/>
        </p:nvSpPr>
        <p:spPr bwMode="auto">
          <a:xfrm>
            <a:off x="2022475" y="5891213"/>
            <a:ext cx="50990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1438" tIns="36513" rIns="71438" bIns="36513" anchor="ct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hlink"/>
                </a:solidFill>
                <a:effectLst/>
                <a:uLnTx/>
                <a:uFillTx/>
                <a:latin typeface="+mn-lt"/>
                <a:ea typeface="+mn-ea"/>
                <a:cs typeface="+mn-cs"/>
              </a:rPr>
              <a:t>页式虚拟存储器的地址映象</a:t>
            </a:r>
            <a:endParaRPr kumimoji="0" lang="zh-CN" altLang="en-US" sz="2400" b="1" i="0" u="none" strike="noStrike" kern="1200" cap="none" spc="0" normalizeH="0" baseline="0" noProof="0" dirty="0">
              <a:ln>
                <a:noFill/>
              </a:ln>
              <a:solidFill>
                <a:schemeClr val="hlink"/>
              </a:solidFill>
              <a:effectLst/>
              <a:uLnTx/>
              <a:uFillTx/>
              <a:latin typeface="+mn-lt"/>
              <a:ea typeface="+mn-ea"/>
              <a:cs typeface="+mn-cs"/>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页式虚存的虚－实地址的变换</a:t>
            </a:r>
            <a:endParaRPr lang="zh-CN" altLang="en-US" dirty="0">
              <a:latin typeface="Times New Roman" panose="02020603050405020304" pitchFamily="18" charset="0"/>
              <a:ea typeface="Times New Roman" panose="02020603050405020304" pitchFamily="18" charset="0"/>
            </a:endParaRPr>
          </a:p>
        </p:txBody>
      </p:sp>
      <p:graphicFrame>
        <p:nvGraphicFramePr>
          <p:cNvPr id="138242" name="Object 4"/>
          <p:cNvGraphicFramePr>
            <a:graphicFrameLocks noChangeAspect="1"/>
          </p:cNvGraphicFramePr>
          <p:nvPr/>
        </p:nvGraphicFramePr>
        <p:xfrm>
          <a:off x="419100" y="1374775"/>
          <a:ext cx="8305800" cy="4006850"/>
        </p:xfrm>
        <a:graphic>
          <a:graphicData uri="http://schemas.openxmlformats.org/presentationml/2006/ole">
            <mc:AlternateContent xmlns:mc="http://schemas.openxmlformats.org/markup-compatibility/2006">
              <mc:Choice xmlns:v="urn:schemas-microsoft-com:vml" Requires="v">
                <p:oleObj spid="_x0000_s3107" name="" r:id="rId1" imgW="4536440" imgH="2189480" progId="Visio.Drawing.6">
                  <p:embed/>
                </p:oleObj>
              </mc:Choice>
              <mc:Fallback>
                <p:oleObj name="" r:id="rId1" imgW="4536440" imgH="2189480" progId="Visio.Drawing.6">
                  <p:embed/>
                  <p:pic>
                    <p:nvPicPr>
                      <p:cNvPr id="0" name="图片 3106"/>
                      <p:cNvPicPr/>
                      <p:nvPr/>
                    </p:nvPicPr>
                    <p:blipFill>
                      <a:blip r:embed="rId2"/>
                      <a:stretch>
                        <a:fillRect/>
                      </a:stretch>
                    </p:blipFill>
                    <p:spPr>
                      <a:xfrm>
                        <a:off x="419100" y="1374775"/>
                        <a:ext cx="8305800" cy="4006850"/>
                      </a:xfrm>
                      <a:prstGeom prst="rect">
                        <a:avLst/>
                      </a:prstGeom>
                      <a:noFill/>
                      <a:ln w="38100">
                        <a:noFill/>
                        <a:miter/>
                      </a:ln>
                    </p:spPr>
                  </p:pic>
                </p:oleObj>
              </mc:Fallback>
            </mc:AlternateContent>
          </a:graphicData>
        </a:graphic>
      </p:graphicFrame>
      <p:sp>
        <p:nvSpPr>
          <p:cNvPr id="5" name="Rectangle 6"/>
          <p:cNvSpPr txBox="1">
            <a:spLocks noChangeArrowheads="1"/>
          </p:cNvSpPr>
          <p:nvPr/>
        </p:nvSpPr>
        <p:spPr bwMode="auto">
          <a:xfrm>
            <a:off x="1187450" y="5638800"/>
            <a:ext cx="6584950" cy="5270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图5-30 页式虚存的虚－实地址的变换</a:t>
            </a:r>
            <a:endParaRPr kumimoji="0" lang="zh-CN" altLang="en-US" sz="2000" b="1" i="0" u="sng" strike="noStrike" kern="0" cap="none" spc="0" normalizeH="0" baseline="0" noProof="0" dirty="0">
              <a:ln>
                <a:noFill/>
              </a:ln>
              <a:solidFill>
                <a:srgbClr val="0000FF"/>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例</a:t>
            </a:r>
            <a:endParaRPr lang="zh-CN" altLang="en-US" dirty="0">
              <a:latin typeface="Times New Roman" panose="02020603050405020304" pitchFamily="18" charset="0"/>
              <a:ea typeface="Times New Roman" panose="02020603050405020304" pitchFamily="18" charset="0"/>
            </a:endParaRPr>
          </a:p>
        </p:txBody>
      </p:sp>
      <p:sp>
        <p:nvSpPr>
          <p:cNvPr id="139266" name="内容占位符 2"/>
          <p:cNvSpPr>
            <a:spLocks noGrp="1"/>
          </p:cNvSpPr>
          <p:nvPr>
            <p:ph idx="1"/>
          </p:nvPr>
        </p:nvSpPr>
        <p:spPr>
          <a:xfrm>
            <a:off x="457200" y="1268413"/>
            <a:ext cx="8229600" cy="1873250"/>
          </a:xfrm>
          <a:noFill/>
          <a:ln>
            <a:noFill/>
          </a:ln>
        </p:spPr>
        <p:txBody>
          <a:bodyPr anchor="t" anchorCtr="0"/>
          <a:p>
            <a:r>
              <a:rPr lang="zh-CN" altLang="en-US" dirty="0">
                <a:latin typeface="Times New Roman" panose="02020603050405020304" pitchFamily="18" charset="0"/>
              </a:rPr>
              <a:t>已知采用页式虚拟存储器， 某程序中一条指令的虚地址是：</a:t>
            </a:r>
            <a:r>
              <a:rPr lang="en-US" altLang="zh-CN" dirty="0">
                <a:latin typeface="Times New Roman" panose="02020603050405020304" pitchFamily="18" charset="0"/>
              </a:rPr>
              <a:t>0000 0111</a:t>
            </a:r>
            <a:r>
              <a:rPr lang="en-US" altLang="zh-CN" dirty="0">
                <a:solidFill>
                  <a:srgbClr val="FF0000"/>
                </a:solidFill>
                <a:latin typeface="Times New Roman" panose="02020603050405020304" pitchFamily="18" charset="0"/>
              </a:rPr>
              <a:t>11 1110 0000</a:t>
            </a:r>
            <a:r>
              <a:rPr lang="zh-CN" altLang="en-US" dirty="0">
                <a:latin typeface="Times New Roman" panose="02020603050405020304" pitchFamily="18" charset="0"/>
              </a:rPr>
              <a:t>。该程序的页表起始地址是</a:t>
            </a:r>
            <a:r>
              <a:rPr lang="en-US" altLang="zh-CN" dirty="0">
                <a:latin typeface="Times New Roman" panose="02020603050405020304" pitchFamily="18" charset="0"/>
              </a:rPr>
              <a:t>0011</a:t>
            </a:r>
            <a:r>
              <a:rPr lang="zh-CN" altLang="en-US" dirty="0">
                <a:latin typeface="Times New Roman" panose="02020603050405020304" pitchFamily="18" charset="0"/>
              </a:rPr>
              <a:t>，页面大小</a:t>
            </a:r>
            <a:r>
              <a:rPr lang="en-US" altLang="zh-CN" dirty="0">
                <a:latin typeface="Times New Roman" panose="02020603050405020304" pitchFamily="18" charset="0"/>
              </a:rPr>
              <a:t>1K</a:t>
            </a:r>
            <a:r>
              <a:rPr lang="zh-CN" altLang="en-US" dirty="0">
                <a:latin typeface="Times New Roman" panose="02020603050405020304" pitchFamily="18" charset="0"/>
              </a:rPr>
              <a:t>，页表中有关单元最末四位（实页号）见下表：</a:t>
            </a:r>
            <a:endParaRPr lang="zh-CN" altLang="en-US" dirty="0">
              <a:latin typeface="Times New Roman" panose="02020603050405020304" pitchFamily="18" charset="0"/>
              <a:ea typeface="Times New Roman" panose="02020603050405020304" pitchFamily="18" charset="0"/>
            </a:endParaRPr>
          </a:p>
        </p:txBody>
      </p:sp>
      <p:pic>
        <p:nvPicPr>
          <p:cNvPr id="139267" name="Picture 3" descr="33"/>
          <p:cNvPicPr>
            <a:picLocks noChangeAspect="1"/>
          </p:cNvPicPr>
          <p:nvPr/>
        </p:nvPicPr>
        <p:blipFill>
          <a:blip r:embed="rId1"/>
          <a:stretch>
            <a:fillRect/>
          </a:stretch>
        </p:blipFill>
        <p:spPr>
          <a:xfrm>
            <a:off x="550863" y="3400425"/>
            <a:ext cx="8135937" cy="2405063"/>
          </a:xfrm>
          <a:prstGeom prst="rect">
            <a:avLst/>
          </a:prstGeom>
          <a:noFill/>
          <a:ln w="9525">
            <a:noFill/>
          </a:ln>
        </p:spPr>
      </p:pic>
      <p:sp>
        <p:nvSpPr>
          <p:cNvPr id="6" name="矩形 5"/>
          <p:cNvSpPr/>
          <p:nvPr/>
        </p:nvSpPr>
        <p:spPr>
          <a:xfrm>
            <a:off x="684213" y="5805488"/>
            <a:ext cx="8229600" cy="522288"/>
          </a:xfrm>
          <a:prstGeom prst="rect">
            <a:avLst/>
          </a:prstGeom>
        </p:spPr>
        <p:txBody>
          <a:bodyPr>
            <a:spAutoFit/>
          </a:bodyPr>
          <a:lstStyle/>
          <a:p>
            <a:pPr marL="0" marR="0" lvl="0" indent="0" algn="l" defTabSz="914400" rtl="0" eaLnBrk="0" fontAlgn="base" latinLnBrk="0" hangingPunct="0">
              <a:lnSpc>
                <a:spcPct val="100000"/>
              </a:lnSpc>
              <a:spcBef>
                <a:spcPct val="20000"/>
              </a:spcBef>
              <a:spcAft>
                <a:spcPct val="0"/>
              </a:spcAft>
              <a:buClr>
                <a:srgbClr val="3984C9"/>
              </a:buClr>
              <a:buSzTx/>
              <a:buFontTx/>
              <a:buNone/>
              <a:defRPr/>
            </a:pPr>
            <a:r>
              <a:rPr kumimoji="0" lang="zh-CN" altLang="en-US" sz="28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rPr>
              <a:t>请指出指令地址（虚地址）变换后的主存实地址。</a:t>
            </a:r>
            <a:endParaRPr kumimoji="0" lang="zh-CN" altLang="en-US" sz="2800" b="0" i="0" u="none" strike="noStrike" kern="0" cap="none" spc="0" normalizeH="0" baseline="0" noProof="0" dirty="0">
              <a:ln>
                <a:noFill/>
              </a:ln>
              <a:solidFill>
                <a:srgbClr val="003366"/>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解答</a:t>
            </a:r>
            <a:endParaRPr lang="zh-CN" altLang="en-US" dirty="0">
              <a:latin typeface="Times New Roman" panose="02020603050405020304" pitchFamily="18" charset="0"/>
              <a:ea typeface="Times New Roman" panose="02020603050405020304" pitchFamily="18" charset="0"/>
            </a:endParaRPr>
          </a:p>
        </p:txBody>
      </p:sp>
      <p:sp>
        <p:nvSpPr>
          <p:cNvPr id="14029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页面大小</a:t>
            </a:r>
            <a:r>
              <a:rPr lang="en-US" altLang="zh-CN" dirty="0">
                <a:latin typeface="Times New Roman" panose="02020603050405020304" pitchFamily="18" charset="0"/>
              </a:rPr>
              <a:t>1K</a:t>
            </a:r>
            <a:r>
              <a:rPr lang="zh-CN" altLang="en-US" dirty="0">
                <a:latin typeface="Times New Roman" panose="02020603050405020304" pitchFamily="18" charset="0"/>
              </a:rPr>
              <a:t>，页内地址</a:t>
            </a:r>
            <a:r>
              <a:rPr lang="en-US" altLang="zh-CN" dirty="0">
                <a:latin typeface="Times New Roman" panose="02020603050405020304" pitchFamily="18" charset="0"/>
              </a:rPr>
              <a:t>10</a:t>
            </a:r>
            <a:r>
              <a:rPr lang="zh-CN" altLang="en-US" dirty="0">
                <a:latin typeface="Times New Roman" panose="02020603050405020304" pitchFamily="18" charset="0"/>
              </a:rPr>
              <a:t>位，根据页表，可以得出主存实地址为</a:t>
            </a:r>
            <a:r>
              <a:rPr lang="en-US" altLang="zh-CN" dirty="0">
                <a:latin typeface="Times New Roman" panose="02020603050405020304" pitchFamily="18" charset="0"/>
              </a:rPr>
              <a:t>1100 </a:t>
            </a:r>
            <a:r>
              <a:rPr lang="en-US" altLang="zh-CN" dirty="0">
                <a:solidFill>
                  <a:srgbClr val="FF0000"/>
                </a:solidFill>
                <a:latin typeface="Times New Roman" panose="02020603050405020304" pitchFamily="18" charset="0"/>
              </a:rPr>
              <a:t>111110 0000</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5.8.2 </a:t>
            </a:r>
            <a:r>
              <a:rPr lang="zh-CN" altLang="en-US" dirty="0">
                <a:latin typeface="Times New Roman" panose="02020603050405020304" pitchFamily="18" charset="0"/>
              </a:rPr>
              <a:t>页式虚拟存储器（续）</a:t>
            </a:r>
            <a:endParaRPr lang="zh-CN" altLang="en-US" dirty="0">
              <a:latin typeface="Times New Roman" panose="02020603050405020304" pitchFamily="18" charset="0"/>
              <a:ea typeface="Times New Roman" panose="02020603050405020304" pitchFamily="18" charset="0"/>
            </a:endParaRPr>
          </a:p>
        </p:txBody>
      </p:sp>
      <p:sp>
        <p:nvSpPr>
          <p:cNvPr id="141314"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 页式虚拟存储器的</a:t>
            </a:r>
            <a:r>
              <a:rPr lang="zh-CN" altLang="en-US" dirty="0">
                <a:solidFill>
                  <a:srgbClr val="FF0000"/>
                </a:solidFill>
                <a:latin typeface="Times New Roman" panose="02020603050405020304" pitchFamily="18" charset="0"/>
              </a:rPr>
              <a:t>每页长度固定</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spcBef>
                <a:spcPts val="1800"/>
              </a:spcBef>
            </a:pPr>
            <a:r>
              <a:rPr lang="zh-CN" altLang="en-US" dirty="0">
                <a:latin typeface="Times New Roman" panose="02020603050405020304" pitchFamily="18" charset="0"/>
              </a:rPr>
              <a:t>页表的建立和新页的调入容易实现；</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程序不可能正好是页面的整倍数：</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最后一页的零头将无法利用而造成</a:t>
            </a:r>
            <a:r>
              <a:rPr lang="zh-CN" altLang="en-US" dirty="0">
                <a:solidFill>
                  <a:srgbClr val="FF0000"/>
                </a:solidFill>
                <a:latin typeface="Times New Roman" panose="02020603050405020304" pitchFamily="18" charset="0"/>
              </a:rPr>
              <a:t>浪费</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页</a:t>
            </a:r>
            <a:r>
              <a:rPr lang="zh-CN" altLang="en-US" dirty="0">
                <a:solidFill>
                  <a:srgbClr val="FF0000"/>
                </a:solidFill>
                <a:latin typeface="Times New Roman" panose="02020603050405020304" pitchFamily="18" charset="0"/>
              </a:rPr>
              <a:t>不是逻辑上独立的实体</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程序的处理、保护和共享都比较麻烦。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5.8.3 </a:t>
            </a:r>
            <a:r>
              <a:rPr lang="zh-CN" altLang="en-US" dirty="0">
                <a:latin typeface="Times New Roman" panose="02020603050405020304" pitchFamily="18" charset="0"/>
              </a:rPr>
              <a:t>段式虚拟存储器 </a:t>
            </a:r>
            <a:endParaRPr lang="zh-CN" altLang="en-US" dirty="0">
              <a:latin typeface="Times New Roman" panose="02020603050405020304" pitchFamily="18" charset="0"/>
              <a:ea typeface="Times New Roman" panose="02020603050405020304" pitchFamily="18" charset="0"/>
            </a:endParaRPr>
          </a:p>
        </p:txBody>
      </p:sp>
      <p:sp>
        <p:nvSpPr>
          <p:cNvPr id="142338" name="内容占位符 2"/>
          <p:cNvSpPr>
            <a:spLocks noGrp="1"/>
          </p:cNvSpPr>
          <p:nvPr>
            <p:ph idx="1"/>
          </p:nvPr>
        </p:nvSpPr>
        <p:spPr>
          <a:xfrm>
            <a:off x="457200" y="1417638"/>
            <a:ext cx="8229600" cy="4525962"/>
          </a:xfrm>
          <a:noFill/>
          <a:ln>
            <a:noFill/>
          </a:ln>
        </p:spPr>
        <p:txBody>
          <a:bodyPr anchor="t" anchorCtr="0"/>
          <a:p>
            <a:r>
              <a:rPr lang="zh-CN" altLang="en-US" dirty="0">
                <a:latin typeface="Times New Roman" panose="02020603050405020304" pitchFamily="18" charset="0"/>
              </a:rPr>
              <a:t>段</a:t>
            </a:r>
            <a:r>
              <a:rPr lang="zh-CN" altLang="en-US" dirty="0">
                <a:solidFill>
                  <a:srgbClr val="FF0000"/>
                </a:solidFill>
                <a:latin typeface="Times New Roman" panose="02020603050405020304" pitchFamily="18" charset="0"/>
              </a:rPr>
              <a:t>按照程序的逻辑结构</a:t>
            </a:r>
            <a:r>
              <a:rPr lang="zh-CN" altLang="en-US" dirty="0">
                <a:latin typeface="Times New Roman" panose="02020603050405020304" pitchFamily="18" charset="0"/>
              </a:rPr>
              <a:t>划分：</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各个段的长度因程序而异</a:t>
            </a:r>
            <a:r>
              <a:rPr lang="zh-CN" altLang="en-US" sz="2000" dirty="0">
                <a:latin typeface="Times New Roman" panose="02020603050405020304" pitchFamily="18" charset="0"/>
              </a:rPr>
              <a:t>（主程序、子程序、数据段）</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atinLnBrk="0">
              <a:spcBef>
                <a:spcPts val="1800"/>
              </a:spcBef>
            </a:pPr>
            <a:r>
              <a:rPr lang="zh-CN" altLang="en-US" dirty="0">
                <a:solidFill>
                  <a:srgbClr val="FF0000"/>
                </a:solidFill>
                <a:latin typeface="Times New Roman" panose="02020603050405020304" pitchFamily="18" charset="0"/>
              </a:rPr>
              <a:t>段表：</a:t>
            </a:r>
            <a:r>
              <a:rPr lang="zh-CN" altLang="en-US" dirty="0">
                <a:latin typeface="Times New Roman" panose="02020603050405020304" pitchFamily="18" charset="0"/>
              </a:rPr>
              <a:t>把程序虚地址变换成主存实地址</a:t>
            </a:r>
            <a:r>
              <a:rPr lang="zh-CN" altLang="zh-CN" dirty="0">
                <a:latin typeface="Times New Roman" panose="02020603050405020304" pitchFamily="18" charset="0"/>
              </a:rPr>
              <a:t>；</a:t>
            </a:r>
            <a:endParaRPr lang="zh-CN" altLang="zh-CN"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段表每一行记录段号、装入位、段起点和段长等；</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是程序的逻辑结构段与其在主存存放位置的对照表。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段式虚拟存储器</a:t>
            </a:r>
            <a:endParaRPr lang="zh-CN" altLang="en-US" dirty="0">
              <a:latin typeface="Times New Roman" panose="02020603050405020304" pitchFamily="18" charset="0"/>
              <a:ea typeface="Times New Roman" panose="02020603050405020304" pitchFamily="18" charset="0"/>
            </a:endParaRPr>
          </a:p>
        </p:txBody>
      </p:sp>
      <p:grpSp>
        <p:nvGrpSpPr>
          <p:cNvPr id="143362" name="组合 3"/>
          <p:cNvGrpSpPr/>
          <p:nvPr/>
        </p:nvGrpSpPr>
        <p:grpSpPr>
          <a:xfrm>
            <a:off x="265113" y="1196975"/>
            <a:ext cx="8382000" cy="5181600"/>
            <a:chOff x="457200" y="1066800"/>
            <a:chExt cx="8382000" cy="5181600"/>
          </a:xfrm>
        </p:grpSpPr>
        <p:sp>
          <p:nvSpPr>
            <p:cNvPr id="143363" name="Rectangle 4"/>
            <p:cNvSpPr/>
            <p:nvPr/>
          </p:nvSpPr>
          <p:spPr>
            <a:xfrm>
              <a:off x="1217613" y="1141413"/>
              <a:ext cx="1374775" cy="917575"/>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sz="2000" b="1" dirty="0">
                  <a:solidFill>
                    <a:srgbClr val="0000FF"/>
                  </a:solidFill>
                  <a:latin typeface="Times New Roman" panose="02020603050405020304" pitchFamily="18" charset="0"/>
                  <a:ea typeface="仿宋_GB2312" pitchFamily="49" charset="-122"/>
                </a:rPr>
                <a:t>主程序</a:t>
              </a:r>
              <a:br>
                <a:rPr lang="zh-CN" altLang="en-US" sz="2000" b="1" dirty="0">
                  <a:solidFill>
                    <a:srgbClr val="0000FF"/>
                  </a:solidFill>
                  <a:latin typeface="Times New Roman" panose="02020603050405020304" pitchFamily="18" charset="0"/>
                  <a:ea typeface="仿宋_GB2312" pitchFamily="49" charset="-122"/>
                </a:rPr>
              </a:br>
              <a:r>
                <a:rPr lang="en-US" altLang="zh-CN" sz="2000" b="1" dirty="0">
                  <a:solidFill>
                    <a:srgbClr val="0000FF"/>
                  </a:solidFill>
                  <a:latin typeface="Times New Roman" panose="02020603050405020304" pitchFamily="18" charset="0"/>
                  <a:ea typeface="仿宋_GB2312" pitchFamily="49" charset="-122"/>
                </a:rPr>
                <a:t>(0</a:t>
              </a:r>
              <a:r>
                <a:rPr lang="zh-CN" altLang="en-US" sz="2000" b="1" dirty="0">
                  <a:solidFill>
                    <a:srgbClr val="0000FF"/>
                  </a:solidFill>
                  <a:latin typeface="Times New Roman" panose="02020603050405020304" pitchFamily="18" charset="0"/>
                  <a:ea typeface="仿宋_GB2312" pitchFamily="49" charset="-122"/>
                </a:rPr>
                <a:t>段</a:t>
              </a:r>
              <a:r>
                <a:rPr lang="en-US" altLang="zh-CN" sz="2000" b="1" dirty="0">
                  <a:solidFill>
                    <a:srgbClr val="0000FF"/>
                  </a:solidFill>
                  <a:latin typeface="Times New Roman" panose="02020603050405020304" pitchFamily="18" charset="0"/>
                  <a:ea typeface="仿宋_GB2312" pitchFamily="49" charset="-122"/>
                </a:rPr>
                <a:t>)</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64" name="Rectangle 5"/>
            <p:cNvSpPr/>
            <p:nvPr/>
          </p:nvSpPr>
          <p:spPr>
            <a:xfrm>
              <a:off x="6705600" y="1219200"/>
              <a:ext cx="1374775" cy="536575"/>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endParaRPr lang="zh-CN" altLang="en-US" sz="2000" b="1" dirty="0">
                <a:latin typeface="Times New Roman" panose="02020603050405020304" pitchFamily="18" charset="0"/>
                <a:ea typeface="仿宋_GB2312" pitchFamily="49" charset="-122"/>
              </a:endParaRPr>
            </a:p>
          </p:txBody>
        </p:sp>
        <p:sp>
          <p:nvSpPr>
            <p:cNvPr id="143365" name="Rectangle 6"/>
            <p:cNvSpPr/>
            <p:nvPr/>
          </p:nvSpPr>
          <p:spPr>
            <a:xfrm>
              <a:off x="457200" y="16764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1k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66" name="Rectangle 7"/>
            <p:cNvSpPr/>
            <p:nvPr/>
          </p:nvSpPr>
          <p:spPr>
            <a:xfrm>
              <a:off x="1217613" y="2667000"/>
              <a:ext cx="1374775" cy="61118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1</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67" name="Rectangle 8"/>
            <p:cNvSpPr/>
            <p:nvPr/>
          </p:nvSpPr>
          <p:spPr>
            <a:xfrm>
              <a:off x="1217613" y="3962400"/>
              <a:ext cx="1374775" cy="45720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2</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68" name="Rectangle 9"/>
            <p:cNvSpPr/>
            <p:nvPr/>
          </p:nvSpPr>
          <p:spPr>
            <a:xfrm>
              <a:off x="1217613" y="5105400"/>
              <a:ext cx="1374775" cy="457200"/>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3</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69" name="Rectangle 10"/>
            <p:cNvSpPr/>
            <p:nvPr/>
          </p:nvSpPr>
          <p:spPr>
            <a:xfrm>
              <a:off x="457200" y="10668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0" name="Rectangle 11"/>
            <p:cNvSpPr/>
            <p:nvPr/>
          </p:nvSpPr>
          <p:spPr>
            <a:xfrm>
              <a:off x="457200" y="28956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500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1" name="Rectangle 12"/>
            <p:cNvSpPr/>
            <p:nvPr/>
          </p:nvSpPr>
          <p:spPr>
            <a:xfrm>
              <a:off x="457200" y="24384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2" name="Rectangle 13"/>
            <p:cNvSpPr/>
            <p:nvPr/>
          </p:nvSpPr>
          <p:spPr>
            <a:xfrm>
              <a:off x="457200" y="41148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200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3" name="Rectangle 14"/>
            <p:cNvSpPr/>
            <p:nvPr/>
          </p:nvSpPr>
          <p:spPr>
            <a:xfrm>
              <a:off x="457200" y="37338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4" name="Rectangle 15"/>
            <p:cNvSpPr/>
            <p:nvPr/>
          </p:nvSpPr>
          <p:spPr>
            <a:xfrm>
              <a:off x="457200" y="52578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latin typeface="Times New Roman" panose="02020603050405020304" pitchFamily="18" charset="0"/>
                  <a:ea typeface="仿宋_GB2312" pitchFamily="49" charset="-122"/>
                </a:rPr>
                <a:t>200</a:t>
              </a:r>
              <a:endParaRPr lang="en-US" altLang="zh-CN" sz="2000" b="1" dirty="0">
                <a:latin typeface="Times New Roman" panose="02020603050405020304" pitchFamily="18" charset="0"/>
                <a:ea typeface="仿宋_GB2312" pitchFamily="49" charset="-122"/>
              </a:endParaRPr>
            </a:p>
          </p:txBody>
        </p:sp>
        <p:sp>
          <p:nvSpPr>
            <p:cNvPr id="143375" name="Rectangle 16"/>
            <p:cNvSpPr/>
            <p:nvPr/>
          </p:nvSpPr>
          <p:spPr>
            <a:xfrm>
              <a:off x="457200" y="4876800"/>
              <a:ext cx="762000" cy="533400"/>
            </a:xfrm>
            <a:prstGeom prst="rect">
              <a:avLst/>
            </a:prstGeom>
            <a:noFill/>
            <a:ln w="9525">
              <a:noFill/>
            </a:ln>
          </p:spPr>
          <p:txBody>
            <a:bodyPr wrap="none" lIns="71438" tIns="36513" rIns="71438" bIns="36513" anchor="ctr" anchorCtr="0"/>
            <a:p>
              <a:pPr algn="r">
                <a:lnSpc>
                  <a:spcPct val="80000"/>
                </a:lnSpc>
              </a:pPr>
              <a:r>
                <a:rPr lang="en-US" altLang="zh-CN" sz="2000" b="1" dirty="0">
                  <a:solidFill>
                    <a:srgbClr val="0000FF"/>
                  </a:solidFill>
                  <a:latin typeface="Times New Roman" panose="02020603050405020304" pitchFamily="18" charset="0"/>
                  <a:ea typeface="仿宋_GB2312" pitchFamily="49" charset="-122"/>
                </a:rPr>
                <a:t>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76" name="Rectangle 17"/>
            <p:cNvSpPr/>
            <p:nvPr/>
          </p:nvSpPr>
          <p:spPr>
            <a:xfrm>
              <a:off x="8077200" y="1066800"/>
              <a:ext cx="762000" cy="457200"/>
            </a:xfrm>
            <a:prstGeom prst="rect">
              <a:avLst/>
            </a:prstGeom>
            <a:noFill/>
            <a:ln w="9525">
              <a:noFill/>
            </a:ln>
          </p:spPr>
          <p:txBody>
            <a:bodyPr wrap="none" lIns="71438" tIns="36513" rIns="71438" bIns="36513" anchor="ctr" anchorCtr="0"/>
            <a:p>
              <a:pPr>
                <a:lnSpc>
                  <a:spcPct val="80000"/>
                </a:lnSpc>
              </a:pPr>
              <a:r>
                <a:rPr lang="en-US" altLang="zh-CN" dirty="0">
                  <a:solidFill>
                    <a:srgbClr val="0000FF"/>
                  </a:solidFill>
                  <a:latin typeface="Times New Roman" panose="02020603050405020304" pitchFamily="18" charset="0"/>
                  <a:ea typeface="仿宋_GB2312" pitchFamily="49" charset="-122"/>
                </a:rPr>
                <a:t>0</a:t>
              </a:r>
              <a:endParaRPr lang="en-US" altLang="zh-CN" dirty="0">
                <a:solidFill>
                  <a:srgbClr val="0000FF"/>
                </a:solidFill>
                <a:latin typeface="Times New Roman" panose="02020603050405020304" pitchFamily="18" charset="0"/>
                <a:ea typeface="仿宋_GB2312" pitchFamily="49" charset="-122"/>
              </a:endParaRPr>
            </a:p>
          </p:txBody>
        </p:sp>
        <p:sp>
          <p:nvSpPr>
            <p:cNvPr id="143377" name="Rectangle 18"/>
            <p:cNvSpPr/>
            <p:nvPr/>
          </p:nvSpPr>
          <p:spPr>
            <a:xfrm>
              <a:off x="6704013" y="1751013"/>
              <a:ext cx="1374775" cy="611187"/>
            </a:xfrm>
            <a:prstGeom prst="rect">
              <a:avLst/>
            </a:prstGeom>
            <a:solidFill>
              <a:srgbClr val="993300"/>
            </a:solid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sz="2000" b="1" dirty="0">
                  <a:solidFill>
                    <a:srgbClr val="FF33CC"/>
                  </a:solidFill>
                  <a:latin typeface="Times New Roman" panose="02020603050405020304" pitchFamily="18" charset="0"/>
                  <a:ea typeface="仿宋_GB2312" pitchFamily="49" charset="-122"/>
                </a:rPr>
                <a:t>主程序</a:t>
              </a:r>
              <a:endParaRPr lang="zh-CN" altLang="en-US" sz="2000" b="1" dirty="0">
                <a:solidFill>
                  <a:srgbClr val="FF33CC"/>
                </a:solidFill>
                <a:latin typeface="Times New Roman" panose="02020603050405020304" pitchFamily="18" charset="0"/>
                <a:ea typeface="仿宋_GB2312" pitchFamily="49" charset="-122"/>
              </a:endParaRPr>
            </a:p>
          </p:txBody>
        </p:sp>
        <p:sp>
          <p:nvSpPr>
            <p:cNvPr id="143378" name="Rectangle 19"/>
            <p:cNvSpPr/>
            <p:nvPr/>
          </p:nvSpPr>
          <p:spPr>
            <a:xfrm>
              <a:off x="6704013" y="2360613"/>
              <a:ext cx="1374775" cy="306387"/>
            </a:xfrm>
            <a:prstGeom prst="rect">
              <a:avLst/>
            </a:prstGeom>
            <a:solidFill>
              <a:srgbClr val="FFFF99"/>
            </a:solid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2</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79" name="Rectangle 20"/>
            <p:cNvSpPr/>
            <p:nvPr/>
          </p:nvSpPr>
          <p:spPr>
            <a:xfrm>
              <a:off x="8077200" y="1600200"/>
              <a:ext cx="762000" cy="457200"/>
            </a:xfrm>
            <a:prstGeom prst="rect">
              <a:avLst/>
            </a:prstGeom>
            <a:noFill/>
            <a:ln w="9525">
              <a:noFill/>
            </a:ln>
          </p:spPr>
          <p:txBody>
            <a:bodyPr wrap="none" lIns="71438" tIns="36513" rIns="71438" bIns="36513" anchor="ctr" anchorCtr="0"/>
            <a:p>
              <a:pPr>
                <a:lnSpc>
                  <a:spcPct val="80000"/>
                </a:lnSpc>
              </a:pPr>
              <a:r>
                <a:rPr lang="en-US" altLang="zh-CN" dirty="0">
                  <a:solidFill>
                    <a:srgbClr val="0000FF"/>
                  </a:solidFill>
                  <a:latin typeface="Times New Roman" panose="02020603050405020304" pitchFamily="18" charset="0"/>
                  <a:ea typeface="仿宋_GB2312" pitchFamily="49" charset="-122"/>
                </a:rPr>
                <a:t>8k</a:t>
              </a:r>
              <a:endParaRPr lang="en-US" altLang="zh-CN" dirty="0">
                <a:solidFill>
                  <a:srgbClr val="0000FF"/>
                </a:solidFill>
                <a:latin typeface="Times New Roman" panose="02020603050405020304" pitchFamily="18" charset="0"/>
                <a:ea typeface="仿宋_GB2312" pitchFamily="49" charset="-122"/>
              </a:endParaRPr>
            </a:p>
            <a:p>
              <a:pPr>
                <a:lnSpc>
                  <a:spcPct val="80000"/>
                </a:lnSpc>
              </a:pPr>
              <a:r>
                <a:rPr lang="en-US" altLang="zh-CN" dirty="0">
                  <a:solidFill>
                    <a:srgbClr val="0000FF"/>
                  </a:solidFill>
                  <a:latin typeface="Times New Roman" panose="02020603050405020304" pitchFamily="18" charset="0"/>
                  <a:ea typeface="仿宋_GB2312" pitchFamily="49" charset="-122"/>
                </a:rPr>
                <a:t>(02000H)</a:t>
              </a:r>
              <a:endParaRPr lang="en-US" altLang="zh-CN" dirty="0">
                <a:solidFill>
                  <a:srgbClr val="0000FF"/>
                </a:solidFill>
                <a:latin typeface="Times New Roman" panose="02020603050405020304" pitchFamily="18" charset="0"/>
                <a:ea typeface="仿宋_GB2312" pitchFamily="49" charset="-122"/>
              </a:endParaRPr>
            </a:p>
          </p:txBody>
        </p:sp>
        <p:sp>
          <p:nvSpPr>
            <p:cNvPr id="143380" name="Rectangle 21"/>
            <p:cNvSpPr/>
            <p:nvPr/>
          </p:nvSpPr>
          <p:spPr>
            <a:xfrm>
              <a:off x="8077200" y="2286000"/>
              <a:ext cx="762000" cy="457200"/>
            </a:xfrm>
            <a:prstGeom prst="rect">
              <a:avLst/>
            </a:prstGeom>
            <a:noFill/>
            <a:ln w="9525">
              <a:noFill/>
            </a:ln>
          </p:spPr>
          <p:txBody>
            <a:bodyPr wrap="none" lIns="71438" tIns="36513" rIns="71438" bIns="36513" anchor="ctr" anchorCtr="0"/>
            <a:p>
              <a:pPr>
                <a:lnSpc>
                  <a:spcPct val="80000"/>
                </a:lnSpc>
              </a:pPr>
              <a:r>
                <a:rPr lang="en-US" altLang="zh-CN" dirty="0">
                  <a:solidFill>
                    <a:srgbClr val="0000FF"/>
                  </a:solidFill>
                  <a:latin typeface="Times New Roman" panose="02020603050405020304" pitchFamily="18" charset="0"/>
                  <a:ea typeface="仿宋_GB2312" pitchFamily="49" charset="-122"/>
                </a:rPr>
                <a:t>9k</a:t>
              </a:r>
              <a:endParaRPr lang="en-US" altLang="zh-CN" dirty="0">
                <a:solidFill>
                  <a:srgbClr val="0000FF"/>
                </a:solidFill>
                <a:latin typeface="Times New Roman" panose="02020603050405020304" pitchFamily="18" charset="0"/>
                <a:ea typeface="仿宋_GB2312" pitchFamily="49" charset="-122"/>
              </a:endParaRPr>
            </a:p>
            <a:p>
              <a:pPr>
                <a:lnSpc>
                  <a:spcPct val="80000"/>
                </a:lnSpc>
              </a:pPr>
              <a:r>
                <a:rPr lang="en-US" altLang="zh-CN" dirty="0">
                  <a:solidFill>
                    <a:srgbClr val="0000FF"/>
                  </a:solidFill>
                  <a:latin typeface="Times New Roman" panose="02020603050405020304" pitchFamily="18" charset="0"/>
                  <a:ea typeface="仿宋_GB2312" pitchFamily="49" charset="-122"/>
                </a:rPr>
                <a:t>(03000H)</a:t>
              </a:r>
              <a:endParaRPr lang="en-US" altLang="zh-CN" dirty="0">
                <a:solidFill>
                  <a:srgbClr val="0000FF"/>
                </a:solidFill>
                <a:latin typeface="Times New Roman" panose="02020603050405020304" pitchFamily="18" charset="0"/>
                <a:ea typeface="仿宋_GB2312" pitchFamily="49" charset="-122"/>
              </a:endParaRPr>
            </a:p>
          </p:txBody>
        </p:sp>
        <p:sp>
          <p:nvSpPr>
            <p:cNvPr id="143381" name="Rectangle 22"/>
            <p:cNvSpPr/>
            <p:nvPr/>
          </p:nvSpPr>
          <p:spPr>
            <a:xfrm>
              <a:off x="6704013" y="2667000"/>
              <a:ext cx="1374775" cy="76358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endParaRPr lang="zh-CN" altLang="en-US" sz="2000" b="1" dirty="0">
                <a:solidFill>
                  <a:srgbClr val="0000FF"/>
                </a:solidFill>
                <a:latin typeface="Times New Roman" panose="02020603050405020304" pitchFamily="18" charset="0"/>
                <a:ea typeface="仿宋_GB2312" pitchFamily="49" charset="-122"/>
              </a:endParaRPr>
            </a:p>
          </p:txBody>
        </p:sp>
        <p:sp>
          <p:nvSpPr>
            <p:cNvPr id="143382" name="Rectangle 23"/>
            <p:cNvSpPr/>
            <p:nvPr/>
          </p:nvSpPr>
          <p:spPr>
            <a:xfrm>
              <a:off x="6704013" y="3427413"/>
              <a:ext cx="1374775" cy="460375"/>
            </a:xfrm>
            <a:prstGeom prst="rect">
              <a:avLst/>
            </a:prstGeom>
            <a:solidFill>
              <a:srgbClr val="3399FF"/>
            </a:solid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1</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83" name="Rectangle 24"/>
            <p:cNvSpPr/>
            <p:nvPr/>
          </p:nvSpPr>
          <p:spPr>
            <a:xfrm>
              <a:off x="8077200" y="3276600"/>
              <a:ext cx="762000" cy="457200"/>
            </a:xfrm>
            <a:prstGeom prst="rect">
              <a:avLst/>
            </a:prstGeom>
            <a:noFill/>
            <a:ln w="9525">
              <a:noFill/>
            </a:ln>
          </p:spPr>
          <p:txBody>
            <a:bodyPr wrap="none" lIns="71438" tIns="36513" rIns="71438" bIns="36513" anchor="ctr" anchorCtr="0"/>
            <a:p>
              <a:pPr>
                <a:lnSpc>
                  <a:spcPct val="80000"/>
                </a:lnSpc>
              </a:pPr>
              <a:r>
                <a:rPr lang="en-US" altLang="zh-CN" dirty="0">
                  <a:solidFill>
                    <a:srgbClr val="0000FF"/>
                  </a:solidFill>
                  <a:latin typeface="Times New Roman" panose="02020603050405020304" pitchFamily="18" charset="0"/>
                  <a:ea typeface="仿宋_GB2312" pitchFamily="49" charset="-122"/>
                </a:rPr>
                <a:t>16k</a:t>
              </a:r>
              <a:endParaRPr lang="en-US" altLang="zh-CN" dirty="0">
                <a:solidFill>
                  <a:srgbClr val="0000FF"/>
                </a:solidFill>
                <a:latin typeface="Times New Roman" panose="02020603050405020304" pitchFamily="18" charset="0"/>
                <a:ea typeface="仿宋_GB2312" pitchFamily="49" charset="-122"/>
              </a:endParaRPr>
            </a:p>
            <a:p>
              <a:pPr>
                <a:lnSpc>
                  <a:spcPct val="80000"/>
                </a:lnSpc>
              </a:pPr>
              <a:r>
                <a:rPr lang="en-US" altLang="zh-CN" dirty="0">
                  <a:solidFill>
                    <a:srgbClr val="0000FF"/>
                  </a:solidFill>
                  <a:latin typeface="Times New Roman" panose="02020603050405020304" pitchFamily="18" charset="0"/>
                  <a:ea typeface="仿宋_GB2312" pitchFamily="49" charset="-122"/>
                </a:rPr>
                <a:t>(04000H)</a:t>
              </a:r>
              <a:endParaRPr lang="en-US" altLang="zh-CN" dirty="0">
                <a:solidFill>
                  <a:srgbClr val="0000FF"/>
                </a:solidFill>
                <a:latin typeface="Times New Roman" panose="02020603050405020304" pitchFamily="18" charset="0"/>
                <a:ea typeface="仿宋_GB2312" pitchFamily="49" charset="-122"/>
              </a:endParaRPr>
            </a:p>
          </p:txBody>
        </p:sp>
        <p:sp>
          <p:nvSpPr>
            <p:cNvPr id="143384" name="Rectangle 25"/>
            <p:cNvSpPr/>
            <p:nvPr/>
          </p:nvSpPr>
          <p:spPr>
            <a:xfrm>
              <a:off x="6704013" y="3884613"/>
              <a:ext cx="1374775" cy="765175"/>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endParaRPr lang="zh-CN" altLang="en-US" sz="2000" b="1" dirty="0">
                <a:solidFill>
                  <a:srgbClr val="0000FF"/>
                </a:solidFill>
                <a:latin typeface="Times New Roman" panose="02020603050405020304" pitchFamily="18" charset="0"/>
                <a:ea typeface="仿宋_GB2312" pitchFamily="49" charset="-122"/>
              </a:endParaRPr>
            </a:p>
          </p:txBody>
        </p:sp>
        <p:sp>
          <p:nvSpPr>
            <p:cNvPr id="143385" name="Rectangle 26"/>
            <p:cNvSpPr/>
            <p:nvPr/>
          </p:nvSpPr>
          <p:spPr>
            <a:xfrm>
              <a:off x="6704013" y="4646613"/>
              <a:ext cx="1374775" cy="306387"/>
            </a:xfrm>
            <a:prstGeom prst="rect">
              <a:avLst/>
            </a:prstGeom>
            <a:solidFill>
              <a:srgbClr val="66FFFF"/>
            </a:solid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3</a:t>
              </a:r>
              <a:r>
                <a:rPr lang="zh-CN" altLang="en-US" sz="2000" b="1" dirty="0">
                  <a:solidFill>
                    <a:srgbClr val="0000FF"/>
                  </a:solidFill>
                  <a:latin typeface="Times New Roman" panose="02020603050405020304" pitchFamily="18" charset="0"/>
                  <a:ea typeface="仿宋_GB2312" pitchFamily="49" charset="-122"/>
                </a:rPr>
                <a:t>段</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86" name="Rectangle 27"/>
            <p:cNvSpPr/>
            <p:nvPr/>
          </p:nvSpPr>
          <p:spPr>
            <a:xfrm>
              <a:off x="8077200" y="4495800"/>
              <a:ext cx="762000" cy="457200"/>
            </a:xfrm>
            <a:prstGeom prst="rect">
              <a:avLst/>
            </a:prstGeom>
            <a:noFill/>
            <a:ln w="9525">
              <a:noFill/>
            </a:ln>
          </p:spPr>
          <p:txBody>
            <a:bodyPr wrap="none" lIns="71438" tIns="36513" rIns="71438" bIns="36513" anchor="ctr" anchorCtr="0"/>
            <a:p>
              <a:pPr>
                <a:lnSpc>
                  <a:spcPct val="80000"/>
                </a:lnSpc>
              </a:pPr>
              <a:r>
                <a:rPr lang="en-US" altLang="zh-CN" dirty="0">
                  <a:solidFill>
                    <a:srgbClr val="0000FF"/>
                  </a:solidFill>
                  <a:latin typeface="Times New Roman" panose="02020603050405020304" pitchFamily="18" charset="0"/>
                  <a:ea typeface="仿宋_GB2312" pitchFamily="49" charset="-122"/>
                </a:rPr>
                <a:t>30k</a:t>
              </a:r>
              <a:endParaRPr lang="en-US" altLang="zh-CN" dirty="0">
                <a:solidFill>
                  <a:srgbClr val="0000FF"/>
                </a:solidFill>
                <a:latin typeface="Times New Roman" panose="02020603050405020304" pitchFamily="18" charset="0"/>
                <a:ea typeface="仿宋_GB2312" pitchFamily="49" charset="-122"/>
              </a:endParaRPr>
            </a:p>
          </p:txBody>
        </p:sp>
        <p:sp>
          <p:nvSpPr>
            <p:cNvPr id="143387" name="Rectangle 28"/>
            <p:cNvSpPr/>
            <p:nvPr/>
          </p:nvSpPr>
          <p:spPr>
            <a:xfrm>
              <a:off x="6704013" y="4953000"/>
              <a:ext cx="1374775" cy="68738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endParaRPr lang="zh-CN" altLang="en-US" sz="2000" b="1" dirty="0">
                <a:latin typeface="Times New Roman" panose="02020603050405020304" pitchFamily="18" charset="0"/>
                <a:ea typeface="仿宋_GB2312" pitchFamily="49" charset="-122"/>
              </a:endParaRPr>
            </a:p>
          </p:txBody>
        </p:sp>
        <p:sp>
          <p:nvSpPr>
            <p:cNvPr id="143388" name="Rectangle 29"/>
            <p:cNvSpPr/>
            <p:nvPr/>
          </p:nvSpPr>
          <p:spPr>
            <a:xfrm>
              <a:off x="1447800" y="5867400"/>
              <a:ext cx="1252538" cy="381000"/>
            </a:xfrm>
            <a:prstGeom prst="rect">
              <a:avLst/>
            </a:prstGeom>
            <a:noFill/>
            <a:ln w="9525">
              <a:noFill/>
            </a:ln>
          </p:spPr>
          <p:txBody>
            <a:bodyPr wrap="none" lIns="71438" tIns="36513" rIns="71438" bIns="36513" anchor="ctr" anchorCtr="0"/>
            <a:p>
              <a:pPr algn="ctr">
                <a:lnSpc>
                  <a:spcPct val="80000"/>
                </a:lnSpc>
              </a:pPr>
              <a:r>
                <a:rPr lang="zh-CN" altLang="en-US" sz="2000" b="1" dirty="0">
                  <a:solidFill>
                    <a:srgbClr val="FF33CC"/>
                  </a:solidFill>
                  <a:latin typeface="Times New Roman" panose="02020603050405020304" pitchFamily="18" charset="0"/>
                  <a:ea typeface="仿宋_GB2312" pitchFamily="49" charset="-122"/>
                </a:rPr>
                <a:t>虚拟空间 </a:t>
              </a:r>
              <a:endParaRPr lang="zh-CN" altLang="en-US" sz="2000" b="1" dirty="0">
                <a:solidFill>
                  <a:srgbClr val="FF33CC"/>
                </a:solidFill>
                <a:latin typeface="Times New Roman" panose="02020603050405020304" pitchFamily="18" charset="0"/>
                <a:ea typeface="仿宋_GB2312" pitchFamily="49" charset="-122"/>
              </a:endParaRPr>
            </a:p>
          </p:txBody>
        </p:sp>
        <p:sp>
          <p:nvSpPr>
            <p:cNvPr id="143389" name="Rectangle 30"/>
            <p:cNvSpPr/>
            <p:nvPr/>
          </p:nvSpPr>
          <p:spPr>
            <a:xfrm>
              <a:off x="6553200" y="5715000"/>
              <a:ext cx="1906588" cy="457200"/>
            </a:xfrm>
            <a:prstGeom prst="rect">
              <a:avLst/>
            </a:prstGeom>
            <a:noFill/>
            <a:ln w="9525">
              <a:noFill/>
            </a:ln>
          </p:spPr>
          <p:txBody>
            <a:bodyPr wrap="none" lIns="71438" tIns="36513" rIns="71438" bIns="36513" anchor="ctr" anchorCtr="0"/>
            <a:p>
              <a:pPr algn="ctr">
                <a:lnSpc>
                  <a:spcPct val="80000"/>
                </a:lnSpc>
              </a:pPr>
              <a:r>
                <a:rPr lang="zh-CN" altLang="en-US" sz="2000" b="1" dirty="0">
                  <a:solidFill>
                    <a:srgbClr val="FF33CC"/>
                  </a:solidFill>
                  <a:latin typeface="Times New Roman" panose="02020603050405020304" pitchFamily="18" charset="0"/>
                  <a:ea typeface="仿宋_GB2312" pitchFamily="49" charset="-122"/>
                </a:rPr>
                <a:t>主存储器 </a:t>
              </a:r>
              <a:endParaRPr lang="zh-CN" altLang="en-US" sz="2000" b="1" dirty="0">
                <a:solidFill>
                  <a:srgbClr val="FF33CC"/>
                </a:solidFill>
                <a:latin typeface="Times New Roman" panose="02020603050405020304" pitchFamily="18" charset="0"/>
                <a:ea typeface="仿宋_GB2312" pitchFamily="49" charset="-122"/>
              </a:endParaRPr>
            </a:p>
          </p:txBody>
        </p:sp>
        <p:grpSp>
          <p:nvGrpSpPr>
            <p:cNvPr id="143390" name="Group 31"/>
            <p:cNvGrpSpPr/>
            <p:nvPr/>
          </p:nvGrpSpPr>
          <p:grpSpPr>
            <a:xfrm>
              <a:off x="2590800" y="1752600"/>
              <a:ext cx="4114800" cy="3657600"/>
              <a:chOff x="1632" y="1104"/>
              <a:chExt cx="2592" cy="2304"/>
            </a:xfrm>
          </p:grpSpPr>
          <p:sp>
            <p:nvSpPr>
              <p:cNvPr id="143391" name="Rectangle 32"/>
              <p:cNvSpPr/>
              <p:nvPr/>
            </p:nvSpPr>
            <p:spPr>
              <a:xfrm>
                <a:off x="2063" y="1150"/>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sz="2000" b="1" dirty="0">
                    <a:solidFill>
                      <a:srgbClr val="0000FF"/>
                    </a:solidFill>
                    <a:latin typeface="Times New Roman" panose="02020603050405020304" pitchFamily="18" charset="0"/>
                    <a:ea typeface="仿宋_GB2312" pitchFamily="49" charset="-122"/>
                  </a:rPr>
                  <a:t>段号 </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92" name="Rectangle 33"/>
              <p:cNvSpPr/>
              <p:nvPr/>
            </p:nvSpPr>
            <p:spPr>
              <a:xfrm>
                <a:off x="2639" y="1150"/>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sz="2000" b="1" dirty="0">
                    <a:solidFill>
                      <a:srgbClr val="0000FF"/>
                    </a:solidFill>
                    <a:latin typeface="Times New Roman" panose="02020603050405020304" pitchFamily="18" charset="0"/>
                    <a:ea typeface="仿宋_GB2312" pitchFamily="49" charset="-122"/>
                  </a:rPr>
                  <a:t>段长 </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93" name="Rectangle 34"/>
              <p:cNvSpPr/>
              <p:nvPr/>
            </p:nvSpPr>
            <p:spPr>
              <a:xfrm>
                <a:off x="3215" y="1150"/>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zh-CN" altLang="en-US" sz="2000" b="1" dirty="0">
                    <a:solidFill>
                      <a:srgbClr val="0000FF"/>
                    </a:solidFill>
                    <a:latin typeface="Times New Roman" panose="02020603050405020304" pitchFamily="18" charset="0"/>
                    <a:ea typeface="仿宋_GB2312" pitchFamily="49" charset="-122"/>
                  </a:rPr>
                  <a:t>起址  </a:t>
                </a:r>
                <a:endParaRPr lang="zh-CN" altLang="en-US" sz="2000" b="1" dirty="0">
                  <a:solidFill>
                    <a:srgbClr val="0000FF"/>
                  </a:solidFill>
                  <a:latin typeface="Times New Roman" panose="02020603050405020304" pitchFamily="18" charset="0"/>
                  <a:ea typeface="仿宋_GB2312" pitchFamily="49" charset="-122"/>
                </a:endParaRPr>
              </a:p>
            </p:txBody>
          </p:sp>
          <p:sp>
            <p:nvSpPr>
              <p:cNvPr id="143394" name="Rectangle 35"/>
              <p:cNvSpPr/>
              <p:nvPr/>
            </p:nvSpPr>
            <p:spPr>
              <a:xfrm>
                <a:off x="2063" y="1486"/>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95" name="Rectangle 36"/>
              <p:cNvSpPr/>
              <p:nvPr/>
            </p:nvSpPr>
            <p:spPr>
              <a:xfrm>
                <a:off x="2639" y="1486"/>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1k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96" name="Rectangle 37"/>
              <p:cNvSpPr/>
              <p:nvPr/>
            </p:nvSpPr>
            <p:spPr>
              <a:xfrm>
                <a:off x="3215" y="1486"/>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8k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97" name="Rectangle 38"/>
              <p:cNvSpPr/>
              <p:nvPr/>
            </p:nvSpPr>
            <p:spPr>
              <a:xfrm>
                <a:off x="2063" y="1822"/>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1</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98" name="Rectangle 39"/>
              <p:cNvSpPr/>
              <p:nvPr/>
            </p:nvSpPr>
            <p:spPr>
              <a:xfrm>
                <a:off x="2639" y="1822"/>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500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399" name="Rectangle 40"/>
              <p:cNvSpPr/>
              <p:nvPr/>
            </p:nvSpPr>
            <p:spPr>
              <a:xfrm>
                <a:off x="3215" y="1822"/>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16k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0" name="Rectangle 41"/>
              <p:cNvSpPr/>
              <p:nvPr/>
            </p:nvSpPr>
            <p:spPr>
              <a:xfrm>
                <a:off x="2063" y="2158"/>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2</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1" name="Rectangle 42"/>
              <p:cNvSpPr/>
              <p:nvPr/>
            </p:nvSpPr>
            <p:spPr>
              <a:xfrm>
                <a:off x="2639" y="2158"/>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200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2" name="Rectangle 43"/>
              <p:cNvSpPr/>
              <p:nvPr/>
            </p:nvSpPr>
            <p:spPr>
              <a:xfrm>
                <a:off x="3215" y="2158"/>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9k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3" name="Rectangle 44"/>
              <p:cNvSpPr/>
              <p:nvPr/>
            </p:nvSpPr>
            <p:spPr>
              <a:xfrm>
                <a:off x="2063" y="2494"/>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3</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4" name="Rectangle 45"/>
              <p:cNvSpPr/>
              <p:nvPr/>
            </p:nvSpPr>
            <p:spPr>
              <a:xfrm>
                <a:off x="2639" y="2494"/>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200</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5" name="Rectangle 46"/>
              <p:cNvSpPr/>
              <p:nvPr/>
            </p:nvSpPr>
            <p:spPr>
              <a:xfrm>
                <a:off x="3215" y="2494"/>
                <a:ext cx="578" cy="338"/>
              </a:xfrm>
              <a:prstGeom prst="rect">
                <a:avLst/>
              </a:prstGeom>
              <a:noFill/>
              <a:ln w="25400" cap="flat" cmpd="sng">
                <a:solidFill>
                  <a:schemeClr val="tx2"/>
                </a:solidFill>
                <a:prstDash val="solid"/>
                <a:miter/>
                <a:headEnd type="none" w="med" len="med"/>
                <a:tailEnd type="none" w="med" len="med"/>
              </a:ln>
            </p:spPr>
            <p:txBody>
              <a:bodyPr wrap="none" lIns="71438" tIns="36513" rIns="71438" bIns="36513" anchor="ctr" anchorCtr="0"/>
              <a:p>
                <a:pPr algn="ctr">
                  <a:lnSpc>
                    <a:spcPct val="80000"/>
                  </a:lnSpc>
                </a:pPr>
                <a:r>
                  <a:rPr lang="en-US" altLang="zh-CN" sz="2000" b="1" dirty="0">
                    <a:solidFill>
                      <a:srgbClr val="0000FF"/>
                    </a:solidFill>
                    <a:latin typeface="Times New Roman" panose="02020603050405020304" pitchFamily="18" charset="0"/>
                    <a:ea typeface="仿宋_GB2312" pitchFamily="49" charset="-122"/>
                  </a:rPr>
                  <a:t>30k</a:t>
                </a:r>
                <a:endParaRPr lang="en-US" altLang="zh-CN" sz="2000" b="1" dirty="0">
                  <a:solidFill>
                    <a:srgbClr val="0000FF"/>
                  </a:solidFill>
                  <a:latin typeface="Times New Roman" panose="02020603050405020304" pitchFamily="18" charset="0"/>
                  <a:ea typeface="仿宋_GB2312" pitchFamily="49" charset="-122"/>
                </a:endParaRPr>
              </a:p>
            </p:txBody>
          </p:sp>
          <p:sp>
            <p:nvSpPr>
              <p:cNvPr id="143406" name="Line 47"/>
              <p:cNvSpPr/>
              <p:nvPr/>
            </p:nvSpPr>
            <p:spPr>
              <a:xfrm>
                <a:off x="1632" y="1104"/>
                <a:ext cx="432" cy="576"/>
              </a:xfrm>
              <a:prstGeom prst="line">
                <a:avLst/>
              </a:prstGeom>
              <a:ln w="25400" cap="flat" cmpd="sng">
                <a:solidFill>
                  <a:schemeClr val="tx2"/>
                </a:solidFill>
                <a:prstDash val="solid"/>
                <a:round/>
                <a:headEnd type="none" w="sm" len="sm"/>
                <a:tailEnd type="none" w="sm" len="sm"/>
              </a:ln>
            </p:spPr>
          </p:sp>
          <p:sp>
            <p:nvSpPr>
              <p:cNvPr id="143407" name="Line 48"/>
              <p:cNvSpPr/>
              <p:nvPr/>
            </p:nvSpPr>
            <p:spPr>
              <a:xfrm>
                <a:off x="1632" y="1872"/>
                <a:ext cx="432" cy="144"/>
              </a:xfrm>
              <a:prstGeom prst="line">
                <a:avLst/>
              </a:prstGeom>
              <a:ln w="25400" cap="flat" cmpd="sng">
                <a:solidFill>
                  <a:schemeClr val="tx2"/>
                </a:solidFill>
                <a:prstDash val="solid"/>
                <a:round/>
                <a:headEnd type="none" w="sm" len="sm"/>
                <a:tailEnd type="none" w="sm" len="sm"/>
              </a:ln>
            </p:spPr>
          </p:sp>
          <p:sp>
            <p:nvSpPr>
              <p:cNvPr id="143408" name="Line 49"/>
              <p:cNvSpPr/>
              <p:nvPr/>
            </p:nvSpPr>
            <p:spPr>
              <a:xfrm flipV="1">
                <a:off x="1632" y="2352"/>
                <a:ext cx="432" cy="288"/>
              </a:xfrm>
              <a:prstGeom prst="line">
                <a:avLst/>
              </a:prstGeom>
              <a:ln w="25400" cap="flat" cmpd="sng">
                <a:solidFill>
                  <a:schemeClr val="tx2"/>
                </a:solidFill>
                <a:prstDash val="solid"/>
                <a:round/>
                <a:headEnd type="none" w="sm" len="sm"/>
                <a:tailEnd type="none" w="sm" len="sm"/>
              </a:ln>
            </p:spPr>
          </p:sp>
          <p:sp>
            <p:nvSpPr>
              <p:cNvPr id="143409" name="Line 50"/>
              <p:cNvSpPr/>
              <p:nvPr/>
            </p:nvSpPr>
            <p:spPr>
              <a:xfrm flipV="1">
                <a:off x="1632" y="2688"/>
                <a:ext cx="432" cy="720"/>
              </a:xfrm>
              <a:prstGeom prst="line">
                <a:avLst/>
              </a:prstGeom>
              <a:ln w="25400" cap="flat" cmpd="sng">
                <a:solidFill>
                  <a:schemeClr val="tx2"/>
                </a:solidFill>
                <a:prstDash val="solid"/>
                <a:round/>
                <a:headEnd type="none" w="sm" len="sm"/>
                <a:tailEnd type="none" w="sm" len="sm"/>
              </a:ln>
            </p:spPr>
          </p:sp>
          <p:sp>
            <p:nvSpPr>
              <p:cNvPr id="143410" name="Line 51"/>
              <p:cNvSpPr/>
              <p:nvPr/>
            </p:nvSpPr>
            <p:spPr>
              <a:xfrm flipV="1">
                <a:off x="3792" y="1104"/>
                <a:ext cx="432" cy="528"/>
              </a:xfrm>
              <a:prstGeom prst="line">
                <a:avLst/>
              </a:prstGeom>
              <a:ln w="25400" cap="flat" cmpd="sng">
                <a:solidFill>
                  <a:schemeClr val="tx2"/>
                </a:solidFill>
                <a:prstDash val="solid"/>
                <a:round/>
                <a:headEnd type="none" w="sm" len="sm"/>
                <a:tailEnd type="none" w="sm" len="sm"/>
              </a:ln>
            </p:spPr>
          </p:sp>
          <p:sp>
            <p:nvSpPr>
              <p:cNvPr id="143411" name="Line 52"/>
              <p:cNvSpPr/>
              <p:nvPr/>
            </p:nvSpPr>
            <p:spPr>
              <a:xfrm>
                <a:off x="3792" y="1968"/>
                <a:ext cx="432" cy="192"/>
              </a:xfrm>
              <a:prstGeom prst="line">
                <a:avLst/>
              </a:prstGeom>
              <a:ln w="25400" cap="flat" cmpd="sng">
                <a:solidFill>
                  <a:schemeClr val="tx2"/>
                </a:solidFill>
                <a:prstDash val="solid"/>
                <a:round/>
                <a:headEnd type="none" w="sm" len="sm"/>
                <a:tailEnd type="none" w="sm" len="sm"/>
              </a:ln>
            </p:spPr>
          </p:sp>
          <p:sp>
            <p:nvSpPr>
              <p:cNvPr id="143412" name="Line 53"/>
              <p:cNvSpPr/>
              <p:nvPr/>
            </p:nvSpPr>
            <p:spPr>
              <a:xfrm flipV="1">
                <a:off x="3792" y="1488"/>
                <a:ext cx="432" cy="912"/>
              </a:xfrm>
              <a:prstGeom prst="line">
                <a:avLst/>
              </a:prstGeom>
              <a:ln w="25400" cap="flat" cmpd="sng">
                <a:solidFill>
                  <a:schemeClr val="tx2"/>
                </a:solidFill>
                <a:prstDash val="solid"/>
                <a:round/>
                <a:headEnd type="none" w="sm" len="sm"/>
                <a:tailEnd type="none" w="sm" len="sm"/>
              </a:ln>
            </p:spPr>
          </p:sp>
          <p:sp>
            <p:nvSpPr>
              <p:cNvPr id="143413" name="Line 54"/>
              <p:cNvSpPr/>
              <p:nvPr/>
            </p:nvSpPr>
            <p:spPr>
              <a:xfrm>
                <a:off x="3792" y="2736"/>
                <a:ext cx="432" cy="192"/>
              </a:xfrm>
              <a:prstGeom prst="line">
                <a:avLst/>
              </a:prstGeom>
              <a:ln w="25400" cap="flat" cmpd="sng">
                <a:solidFill>
                  <a:schemeClr val="tx2"/>
                </a:solidFill>
                <a:prstDash val="solid"/>
                <a:round/>
                <a:headEnd type="none" w="sm" len="sm"/>
                <a:tailEnd type="none" w="sm" len="sm"/>
              </a:ln>
            </p:spPr>
          </p:sp>
          <p:sp>
            <p:nvSpPr>
              <p:cNvPr id="143414" name="Rectangle 55"/>
              <p:cNvSpPr/>
              <p:nvPr/>
            </p:nvSpPr>
            <p:spPr>
              <a:xfrm>
                <a:off x="2521" y="2947"/>
                <a:ext cx="1056" cy="288"/>
              </a:xfrm>
              <a:prstGeom prst="rect">
                <a:avLst/>
              </a:prstGeom>
              <a:noFill/>
              <a:ln w="9525">
                <a:noFill/>
              </a:ln>
            </p:spPr>
            <p:txBody>
              <a:bodyPr wrap="none" lIns="71438" tIns="36513" rIns="71438" bIns="36513" anchor="ctr" anchorCtr="0"/>
              <a:p>
                <a:pPr algn="ctr">
                  <a:lnSpc>
                    <a:spcPct val="80000"/>
                  </a:lnSpc>
                </a:pPr>
                <a:r>
                  <a:rPr lang="zh-CN" altLang="en-US" sz="2000" b="1" dirty="0">
                    <a:solidFill>
                      <a:srgbClr val="FF33CC"/>
                    </a:solidFill>
                    <a:latin typeface="Times New Roman" panose="02020603050405020304" pitchFamily="18" charset="0"/>
                    <a:ea typeface="仿宋_GB2312" pitchFamily="49" charset="-122"/>
                  </a:rPr>
                  <a:t>段表 </a:t>
                </a:r>
                <a:endParaRPr lang="zh-CN" altLang="en-US" sz="2000" b="1" dirty="0">
                  <a:solidFill>
                    <a:srgbClr val="FF33CC"/>
                  </a:solidFill>
                  <a:latin typeface="Times New Roman" panose="02020603050405020304" pitchFamily="18" charset="0"/>
                  <a:ea typeface="仿宋_GB2312" pitchFamily="49" charset="-122"/>
                </a:endParaRPr>
              </a:p>
            </p:txBody>
          </p:sp>
        </p:gr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1"/>
          <p:cNvSpPr>
            <a:spLocks noGrp="1"/>
          </p:cNvSpPr>
          <p:nvPr>
            <p:ph type="title"/>
          </p:nvPr>
        </p:nvSpPr>
        <p:spPr>
          <a:noFill/>
          <a:ln>
            <a:noFill/>
          </a:ln>
        </p:spPr>
        <p:txBody>
          <a:bodyPr anchor="t" anchorCtr="0"/>
          <a:p>
            <a:r>
              <a:rPr lang="zh-CN" altLang="en-US" dirty="0"/>
              <a:t>段式虚存的虚－实地址的变换</a:t>
            </a:r>
            <a:endParaRPr lang="zh-CN" altLang="en-US" dirty="0"/>
          </a:p>
        </p:txBody>
      </p:sp>
      <p:graphicFrame>
        <p:nvGraphicFramePr>
          <p:cNvPr id="144386" name="Object 4"/>
          <p:cNvGraphicFramePr>
            <a:graphicFrameLocks noChangeAspect="1"/>
          </p:cNvGraphicFramePr>
          <p:nvPr/>
        </p:nvGraphicFramePr>
        <p:xfrm>
          <a:off x="533400" y="1219200"/>
          <a:ext cx="8229600" cy="4471988"/>
        </p:xfrm>
        <a:graphic>
          <a:graphicData uri="http://schemas.openxmlformats.org/presentationml/2006/ole">
            <mc:AlternateContent xmlns:mc="http://schemas.openxmlformats.org/markup-compatibility/2006">
              <mc:Choice xmlns:v="urn:schemas-microsoft-com:vml" Requires="v">
                <p:oleObj spid="_x0000_s3109" name="" r:id="rId1" imgW="4124960" imgH="2240280" progId="Visio.Drawing.6">
                  <p:embed/>
                </p:oleObj>
              </mc:Choice>
              <mc:Fallback>
                <p:oleObj name="" r:id="rId1" imgW="4124960" imgH="2240280" progId="Visio.Drawing.6">
                  <p:embed/>
                  <p:pic>
                    <p:nvPicPr>
                      <p:cNvPr id="0" name="图片 3108"/>
                      <p:cNvPicPr/>
                      <p:nvPr/>
                    </p:nvPicPr>
                    <p:blipFill>
                      <a:blip r:embed="rId2"/>
                      <a:stretch>
                        <a:fillRect/>
                      </a:stretch>
                    </p:blipFill>
                    <p:spPr>
                      <a:xfrm>
                        <a:off x="533400" y="1219200"/>
                        <a:ext cx="8229600" cy="4471988"/>
                      </a:xfrm>
                      <a:prstGeom prst="rect">
                        <a:avLst/>
                      </a:prstGeom>
                      <a:noFill/>
                      <a:ln w="38100">
                        <a:noFill/>
                        <a:miter/>
                      </a:ln>
                    </p:spPr>
                  </p:pic>
                </p:oleObj>
              </mc:Fallback>
            </mc:AlternateContent>
          </a:graphicData>
        </a:graphic>
      </p:graphicFrame>
      <p:sp>
        <p:nvSpPr>
          <p:cNvPr id="5" name="Rectangle 7"/>
          <p:cNvSpPr txBox="1">
            <a:spLocks noChangeArrowheads="1"/>
          </p:cNvSpPr>
          <p:nvPr/>
        </p:nvSpPr>
        <p:spPr bwMode="auto">
          <a:xfrm>
            <a:off x="1692275" y="5926138"/>
            <a:ext cx="63373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mn-lt"/>
                <a:ea typeface="+mn-ea"/>
                <a:cs typeface="+mn-cs"/>
              </a:rPr>
              <a:t> 图5-32 段式虚存的虚－实地址的变换</a:t>
            </a:r>
            <a:endParaRPr kumimoji="0" lang="zh-CN" altLang="en-US" sz="2400" b="1" i="0" u="none" strike="noStrike" kern="0" cap="none" spc="0" normalizeH="0" baseline="0" noProof="0" dirty="0">
              <a:ln>
                <a:noFill/>
              </a:ln>
              <a:solidFill>
                <a:schemeClr val="hlink"/>
              </a:solidFill>
              <a:effectLst/>
              <a:uLnTx/>
              <a:uFillTx/>
              <a:latin typeface="+mn-lt"/>
              <a:ea typeface="+mn-ea"/>
              <a:cs typeface="+mn-cs"/>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5.8.3 </a:t>
            </a:r>
            <a:r>
              <a:rPr lang="zh-CN" altLang="en-US" dirty="0">
                <a:latin typeface="Times New Roman" panose="02020603050405020304" pitchFamily="18" charset="0"/>
              </a:rPr>
              <a:t>段式虚拟存储器（续）</a:t>
            </a:r>
            <a:endParaRPr lang="zh-CN" altLang="en-US" dirty="0">
              <a:latin typeface="Times New Roman" panose="02020603050405020304" pitchFamily="18" charset="0"/>
              <a:ea typeface="Times New Roman" panose="02020603050405020304" pitchFamily="18" charset="0"/>
            </a:endParaRPr>
          </a:p>
        </p:txBody>
      </p:sp>
      <p:sp>
        <p:nvSpPr>
          <p:cNvPr id="145410" name="内容占位符 2"/>
          <p:cNvSpPr>
            <a:spLocks noGrp="1"/>
          </p:cNvSpPr>
          <p:nvPr>
            <p:ph idx="1"/>
          </p:nvPr>
        </p:nvSpPr>
        <p:spPr>
          <a:noFill/>
          <a:ln>
            <a:noFill/>
          </a:ln>
        </p:spPr>
        <p:txBody>
          <a:bodyPr anchor="t" anchorCtr="0"/>
          <a:p>
            <a:r>
              <a:rPr lang="zh-CN" altLang="en-US" dirty="0"/>
              <a:t>段的分界与程序的自然分界相对应；</a:t>
            </a:r>
            <a:endParaRPr lang="en-US" altLang="zh-CN" dirty="0"/>
          </a:p>
          <a:p>
            <a:pPr>
              <a:spcBef>
                <a:spcPts val="1800"/>
              </a:spcBef>
            </a:pPr>
            <a:r>
              <a:rPr lang="zh-CN" altLang="en-US" dirty="0">
                <a:latin typeface="Times New Roman" panose="02020603050405020304" pitchFamily="18" charset="0"/>
              </a:rPr>
              <a:t>优点：</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具有逻辑独立性；</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易于程序的编译、管理、修改和保护；</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便于多道程序共享。</a:t>
            </a:r>
            <a:endParaRPr lang="zh-CN" altLang="en-US" sz="2400" dirty="0">
              <a:latin typeface="Times New Roman" panose="02020603050405020304" pitchFamily="18" charset="0"/>
            </a:endParaRPr>
          </a:p>
          <a:p>
            <a:pPr latinLnBrk="0">
              <a:spcBef>
                <a:spcPts val="1800"/>
              </a:spcBef>
              <a:buSzTx/>
            </a:pPr>
            <a:r>
              <a:rPr lang="zh-CN" altLang="en-US" dirty="0">
                <a:latin typeface="Times New Roman" panose="02020603050405020304" pitchFamily="18" charset="0"/>
              </a:rPr>
              <a:t>缺点：</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段长不定，起点和终点不定，主存空间分配麻烦；</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容易在段间留下不能利用的零头，造成</a:t>
            </a:r>
            <a:r>
              <a:rPr lang="zh-CN" altLang="en-US" sz="2400" dirty="0">
                <a:solidFill>
                  <a:srgbClr val="FF0000"/>
                </a:solidFill>
                <a:latin typeface="Times New Roman" panose="02020603050405020304" pitchFamily="18" charset="0"/>
              </a:rPr>
              <a:t>浪费</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5.8.4 </a:t>
            </a:r>
            <a:r>
              <a:rPr lang="zh-CN" altLang="en-US" dirty="0">
                <a:latin typeface="Times New Roman" panose="02020603050405020304" pitchFamily="18" charset="0"/>
              </a:rPr>
              <a:t>段页式虚拟存储器 </a:t>
            </a:r>
            <a:endParaRPr lang="zh-CN" altLang="en-US" dirty="0">
              <a:latin typeface="Times New Roman" panose="02020603050405020304" pitchFamily="18" charset="0"/>
              <a:ea typeface="Times New Roman" panose="02020603050405020304" pitchFamily="18" charset="0"/>
            </a:endParaRPr>
          </a:p>
        </p:txBody>
      </p:sp>
      <p:sp>
        <p:nvSpPr>
          <p:cNvPr id="146434" name="内容占位符 2"/>
          <p:cNvSpPr>
            <a:spLocks noGrp="1"/>
          </p:cNvSpPr>
          <p:nvPr>
            <p:ph idx="1"/>
          </p:nvPr>
        </p:nvSpPr>
        <p:spPr>
          <a:xfrm>
            <a:off x="457200" y="1435100"/>
            <a:ext cx="8229600" cy="4873625"/>
          </a:xfrm>
          <a:noFill/>
          <a:ln>
            <a:noFill/>
          </a:ln>
        </p:spPr>
        <p:txBody>
          <a:bodyPr anchor="t" anchorCtr="0"/>
          <a:p>
            <a:pPr latinLnBrk="0">
              <a:spcBef>
                <a:spcPts val="1800"/>
              </a:spcBef>
            </a:pPr>
            <a:r>
              <a:rPr lang="zh-CN" altLang="en-US" dirty="0">
                <a:latin typeface="Times New Roman" panose="02020603050405020304" pitchFamily="18" charset="0"/>
              </a:rPr>
              <a:t>程序按逻辑结构分段，每段再划分为若干页；</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主存空间也划分为若干同样大小的页；</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虚存和实存之间以页为基本传送单位；</a:t>
            </a:r>
            <a:endParaRPr lang="en-US" altLang="zh-CN" dirty="0">
              <a:latin typeface="Times New Roman" panose="02020603050405020304" pitchFamily="18" charset="0"/>
            </a:endParaRPr>
          </a:p>
          <a:p>
            <a:pPr latinLnBrk="0">
              <a:spcBef>
                <a:spcPts val="1800"/>
              </a:spcBef>
            </a:pPr>
            <a:r>
              <a:rPr lang="zh-CN" altLang="en-US" dirty="0">
                <a:solidFill>
                  <a:srgbClr val="FF0000"/>
                </a:solidFill>
                <a:latin typeface="Times New Roman" panose="02020603050405020304" pitchFamily="18" charset="0"/>
              </a:rPr>
              <a:t>每个程序对应一个段表，每段对应一个页表</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虚地址包含段号、段内页号、页内地址</a:t>
            </a:r>
            <a:r>
              <a:rPr lang="en-US" altLang="zh-CN" dirty="0">
                <a:latin typeface="Times New Roman" panose="02020603050405020304" pitchFamily="18" charset="0"/>
              </a:rPr>
              <a:t>3</a:t>
            </a:r>
            <a:r>
              <a:rPr lang="zh-CN" altLang="en-US" dirty="0">
                <a:latin typeface="Times New Roman" panose="02020603050405020304" pitchFamily="18" charset="0"/>
              </a:rPr>
              <a:t>部分；</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段页式存储器综合了前两种结构的优点；</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经过</a:t>
            </a:r>
            <a:r>
              <a:rPr lang="zh-CN" altLang="en-US" dirty="0">
                <a:solidFill>
                  <a:srgbClr val="FF0000"/>
                </a:solidFill>
                <a:latin typeface="Times New Roman" panose="02020603050405020304" pitchFamily="18" charset="0"/>
              </a:rPr>
              <a:t>两级查表</a:t>
            </a:r>
            <a:r>
              <a:rPr lang="zh-CN" altLang="en-US" dirty="0">
                <a:latin typeface="Times New Roman" panose="02020603050405020304" pitchFamily="18" charset="0"/>
              </a:rPr>
              <a:t>才能完成地址转换，费时要多些。</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段页式虚拟存储器的地址映像</a:t>
            </a:r>
            <a:endParaRPr lang="zh-CN" altLang="en-US" dirty="0">
              <a:latin typeface="Times New Roman" panose="02020603050405020304" pitchFamily="18" charset="0"/>
              <a:ea typeface="Times New Roman" panose="02020603050405020304" pitchFamily="18" charset="0"/>
            </a:endParaRPr>
          </a:p>
        </p:txBody>
      </p:sp>
      <p:graphicFrame>
        <p:nvGraphicFramePr>
          <p:cNvPr id="147458" name="Object 6"/>
          <p:cNvGraphicFramePr/>
          <p:nvPr/>
        </p:nvGraphicFramePr>
        <p:xfrm>
          <a:off x="0" y="819150"/>
          <a:ext cx="9156700" cy="5734050"/>
        </p:xfrm>
        <a:graphic>
          <a:graphicData uri="http://schemas.openxmlformats.org/presentationml/2006/ole">
            <mc:AlternateContent xmlns:mc="http://schemas.openxmlformats.org/markup-compatibility/2006">
              <mc:Choice xmlns:v="urn:schemas-microsoft-com:vml" Requires="v">
                <p:oleObj spid="_x0000_s3108" name="" r:id="rId1" imgW="9156700" imgH="5734050" progId="Word.Document.8">
                  <p:embed/>
                </p:oleObj>
              </mc:Choice>
              <mc:Fallback>
                <p:oleObj name="" r:id="rId1" imgW="9156700" imgH="5734050" progId="Word.Document.8">
                  <p:embed/>
                  <p:pic>
                    <p:nvPicPr>
                      <p:cNvPr id="0" name="图片 3107"/>
                      <p:cNvPicPr/>
                      <p:nvPr/>
                    </p:nvPicPr>
                    <p:blipFill>
                      <a:blip r:embed="rId2"/>
                      <a:stretch>
                        <a:fillRect/>
                      </a:stretch>
                    </p:blipFill>
                    <p:spPr>
                      <a:xfrm>
                        <a:off x="0" y="819150"/>
                        <a:ext cx="9156700" cy="5734050"/>
                      </a:xfrm>
                      <a:prstGeom prst="rect">
                        <a:avLst/>
                      </a:prstGeom>
                      <a:noFill/>
                      <a:ln w="38100">
                        <a:noFill/>
                        <a:miter/>
                      </a:ln>
                    </p:spPr>
                  </p:pic>
                </p:oleObj>
              </mc:Fallback>
            </mc:AlternateContent>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5.8.5 </a:t>
            </a:r>
            <a:r>
              <a:rPr lang="zh-CN" altLang="en-US" dirty="0">
                <a:latin typeface="Times New Roman" panose="02020603050405020304" pitchFamily="18" charset="0"/>
              </a:rPr>
              <a:t>快表与慢表</a:t>
            </a:r>
            <a:endParaRPr lang="zh-CN" altLang="en-US" dirty="0">
              <a:latin typeface="Times New Roman" panose="02020603050405020304" pitchFamily="18" charset="0"/>
              <a:ea typeface="Times New Roman" panose="02020603050405020304" pitchFamily="18" charset="0"/>
            </a:endParaRPr>
          </a:p>
        </p:txBody>
      </p:sp>
      <p:sp>
        <p:nvSpPr>
          <p:cNvPr id="14848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页表和段表都存放在内存中，需要加快查表速度</a:t>
            </a:r>
            <a:endParaRPr lang="en-US" altLang="zh-CN" dirty="0">
              <a:latin typeface="Times New Roman" panose="02020603050405020304" pitchFamily="18" charset="0"/>
            </a:endParaRPr>
          </a:p>
          <a:p>
            <a:pPr lvl="1">
              <a:spcBef>
                <a:spcPts val="1800"/>
              </a:spcBef>
            </a:pPr>
            <a:r>
              <a:rPr lang="zh-CN" altLang="en-US" sz="2400" dirty="0">
                <a:latin typeface="Times New Roman" panose="02020603050405020304" pitchFamily="18" charset="0"/>
              </a:rPr>
              <a:t>对页表的访问也具有</a:t>
            </a:r>
            <a:r>
              <a:rPr lang="zh-CN" altLang="en-US" sz="2400" dirty="0">
                <a:solidFill>
                  <a:srgbClr val="FF0000"/>
                </a:solidFill>
                <a:latin typeface="Times New Roman" panose="02020603050405020304" pitchFamily="18" charset="0"/>
              </a:rPr>
              <a:t>局部性</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慢表：存放在主存中的页表；</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快表：最常用页表信息在</a:t>
            </a:r>
            <a:r>
              <a:rPr lang="zh-CN" altLang="en-US" sz="2400" dirty="0">
                <a:solidFill>
                  <a:srgbClr val="FF0000"/>
                </a:solidFill>
                <a:latin typeface="Times New Roman" panose="02020603050405020304" pitchFamily="18" charset="0"/>
              </a:rPr>
              <a:t>小容量高速存储器中（</a:t>
            </a:r>
            <a:r>
              <a:rPr lang="en-US" altLang="zh-CN" sz="2400" dirty="0">
                <a:solidFill>
                  <a:srgbClr val="FF0000"/>
                </a:solidFill>
                <a:latin typeface="Times New Roman" panose="02020603050405020304" pitchFamily="18" charset="0"/>
              </a:rPr>
              <a:t>TLB)</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快表是慢表的副本；</a:t>
            </a:r>
            <a:endParaRPr lang="en-US" altLang="zh-CN"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快表容量很小、速度高，按内容访问。</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en-US" altLang="zh-CN"/>
              <a:t>1</a:t>
            </a:r>
            <a:endParaRPr lang="en-US" altLang="zh-CN"/>
          </a:p>
        </p:txBody>
      </p:sp>
      <p:sp>
        <p:nvSpPr>
          <p:cNvPr id="3" name="内容占位符 2"/>
          <p:cNvSpPr>
            <a:spLocks noGrp="1"/>
          </p:cNvSpPr>
          <p:nvPr>
            <p:ph idx="1"/>
          </p:nvPr>
        </p:nvSpPr>
        <p:spPr/>
        <p:txBody>
          <a:bodyPr/>
          <a:p>
            <a:r>
              <a:rPr lang="zh-CN" altLang="en-US">
                <a:latin typeface="Times New Roman" panose="02020603050405020304" pitchFamily="18" charset="0"/>
                <a:cs typeface="Times New Roman" panose="02020603050405020304" pitchFamily="18" charset="0"/>
              </a:rPr>
              <a:t>主存和 cache 之间按主存块为单位传送数据时,是否主存块越大越好?</a:t>
            </a:r>
            <a:endParaRPr lang="zh-CN" altLang="en-US">
              <a:latin typeface="Times New Roman" panose="02020603050405020304" pitchFamily="18" charset="0"/>
              <a:cs typeface="Times New Roman" panose="02020603050405020304" pitchFamily="18" charset="0"/>
            </a:endParaRPr>
          </a:p>
          <a:p>
            <a:pPr lvl="1"/>
            <a:endParaRPr lang="zh-CN" altLang="en-US" sz="2400">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不是。</a:t>
            </a:r>
            <a:r>
              <a:rPr lang="zh-CN" altLang="en-US" sz="2400">
                <a:latin typeface="Times New Roman" panose="02020603050405020304" pitchFamily="18" charset="0"/>
                <a:cs typeface="Times New Roman" panose="02020603050405020304" pitchFamily="18" charset="0"/>
              </a:rPr>
              <a:t>主存块大可充分利用程序访问的空间局部性特点,使得一个比较大的局部空间被一起调到 cache中,因而可以增加命中机会。但是，主存块不能太大，主要原因如下:</a:t>
            </a:r>
            <a:endParaRPr lang="zh-CN" altLang="en-US" sz="2400">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①主存块变大，使得缺失损失也变大，因为需要花费更多时间从主存读一个较大的块;</a:t>
            </a:r>
            <a:endParaRPr lang="zh-CN" altLang="en-US" sz="2055">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②主存块变大，则 cache 行数变少，因而需要替换的可能性增加，从而导致命中的可能性变小。</a:t>
            </a:r>
            <a:endParaRPr lang="zh-CN" altLang="en-US" sz="2055">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en-US" altLang="zh-CN"/>
              <a:t>2</a:t>
            </a:r>
            <a:endParaRPr lang="en-US" altLang="zh-CN"/>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CPU要找的指令和数据都能在cache 中访问到吗?缺失的类型有</a:t>
            </a:r>
            <a:r>
              <a:rPr lang="zh-CN" altLang="en-US" sz="2400">
                <a:latin typeface="Times New Roman" panose="02020603050405020304" pitchFamily="18" charset="0"/>
                <a:cs typeface="Times New Roman" panose="02020603050405020304" pitchFamily="18" charset="0"/>
              </a:rPr>
              <a:t>哪些?</a:t>
            </a:r>
            <a:endParaRPr lang="zh-CN" altLang="en-US" sz="2400">
              <a:latin typeface="Times New Roman" panose="02020603050405020304" pitchFamily="18" charset="0"/>
              <a:cs typeface="Times New Roman" panose="02020603050405020304" pitchFamily="18" charset="0"/>
            </a:endParaRPr>
          </a:p>
          <a:p>
            <a:pPr lvl="1" latinLnBrk="0">
              <a:spcBef>
                <a:spcPts val="600"/>
              </a:spcBef>
            </a:pPr>
            <a:endParaRPr lang="zh-CN" altLang="en-US" sz="2400">
              <a:latin typeface="Times New Roman" panose="02020603050405020304" pitchFamily="18" charset="0"/>
              <a:cs typeface="Times New Roman" panose="02020603050405020304" pitchFamily="18" charset="0"/>
            </a:endParaRPr>
          </a:p>
          <a:p>
            <a:pPr lvl="1" latinLnBrk="0">
              <a:spcBef>
                <a:spcPts val="600"/>
              </a:spcBef>
            </a:pPr>
            <a:r>
              <a:rPr lang="zh-CN" altLang="en-US" sz="2400">
                <a:latin typeface="Times New Roman" panose="02020603050405020304" pitchFamily="18" charset="0"/>
                <a:cs typeface="Times New Roman" panose="02020603050405020304" pitchFamily="18" charset="0"/>
              </a:rPr>
              <a:t>不能。</a:t>
            </a:r>
            <a:endParaRPr lang="zh-CN" altLang="en-US" sz="2400">
              <a:latin typeface="Times New Roman" panose="02020603050405020304" pitchFamily="18" charset="0"/>
              <a:cs typeface="Times New Roman" panose="02020603050405020304" pitchFamily="18" charset="0"/>
            </a:endParaRPr>
          </a:p>
          <a:p>
            <a:pPr lvl="2" latinLnBrk="0">
              <a:spcBef>
                <a:spcPts val="600"/>
              </a:spcBef>
            </a:pPr>
            <a:r>
              <a:rPr lang="zh-CN" altLang="en-US" sz="2055">
                <a:solidFill>
                  <a:srgbClr val="FF0000"/>
                </a:solidFill>
                <a:latin typeface="Times New Roman" panose="02020603050405020304" pitchFamily="18" charset="0"/>
                <a:cs typeface="Times New Roman" panose="02020603050405020304" pitchFamily="18" charset="0"/>
              </a:rPr>
              <a:t>强制缺失</a:t>
            </a:r>
            <a:r>
              <a:rPr lang="zh-CN" altLang="en-US" sz="2055">
                <a:latin typeface="Times New Roman" panose="02020603050405020304" pitchFamily="18" charset="0"/>
                <a:cs typeface="Times New Roman" panose="02020603050405020304" pitchFamily="18" charset="0"/>
              </a:rPr>
              <a:t>：指令/数据在第一次被访问时,肯定不在cache中,因而在 cache 中访问不到。</a:t>
            </a:r>
            <a:endParaRPr lang="zh-CN" altLang="en-US" sz="2055">
              <a:latin typeface="Times New Roman" panose="02020603050405020304" pitchFamily="18" charset="0"/>
              <a:cs typeface="Times New Roman" panose="02020603050405020304" pitchFamily="18" charset="0"/>
            </a:endParaRPr>
          </a:p>
          <a:p>
            <a:pPr lvl="2" latinLnBrk="0">
              <a:spcBef>
                <a:spcPts val="600"/>
              </a:spcBef>
            </a:pPr>
            <a:r>
              <a:rPr lang="zh-CN" altLang="en-US" sz="2055">
                <a:solidFill>
                  <a:srgbClr val="FF0000"/>
                </a:solidFill>
                <a:latin typeface="Times New Roman" panose="02020603050405020304" pitchFamily="18" charset="0"/>
                <a:cs typeface="Times New Roman" panose="02020603050405020304" pitchFamily="18" charset="0"/>
              </a:rPr>
              <a:t>容量缺失</a:t>
            </a:r>
            <a:r>
              <a:rPr lang="zh-CN" altLang="en-US" sz="2055">
                <a:latin typeface="Times New Roman" panose="02020603050405020304" pitchFamily="18" charset="0"/>
                <a:cs typeface="Times New Roman" panose="02020603050405020304" pitchFamily="18" charset="0"/>
              </a:rPr>
              <a:t>：随着程序的执行,CPU所访问的地址区域会移到另外的主存块,由于 cache 容量的限制,当新的主存块调入 cache时,原来在 cache 中的主存块很可能被新的主存块替换出来。</a:t>
            </a:r>
            <a:endParaRPr lang="zh-CN" altLang="en-US" sz="2055">
              <a:latin typeface="Times New Roman" panose="02020603050405020304" pitchFamily="18" charset="0"/>
              <a:cs typeface="Times New Roman" panose="02020603050405020304" pitchFamily="18" charset="0"/>
            </a:endParaRPr>
          </a:p>
          <a:p>
            <a:pPr lvl="2" latinLnBrk="0">
              <a:spcBef>
                <a:spcPts val="600"/>
              </a:spcBef>
            </a:pPr>
            <a:r>
              <a:rPr lang="zh-CN" altLang="en-US" sz="2055">
                <a:solidFill>
                  <a:srgbClr val="FF0000"/>
                </a:solidFill>
                <a:latin typeface="Times New Roman" panose="02020603050405020304" pitchFamily="18" charset="0"/>
                <a:cs typeface="Times New Roman" panose="02020603050405020304" pitchFamily="18" charset="0"/>
              </a:rPr>
              <a:t>冲突缺失</a:t>
            </a:r>
            <a:r>
              <a:rPr lang="zh-CN" altLang="en-US" sz="2055">
                <a:latin typeface="Times New Roman" panose="02020603050405020304" pitchFamily="18" charset="0"/>
                <a:cs typeface="Times New Roman" panose="02020603050405020304" pitchFamily="18" charset="0"/>
              </a:rPr>
              <a:t>：组相联或直接映射cache中多个块同时竞争同一个位置时。冲突缺失率与关联度有关。</a:t>
            </a:r>
            <a:endParaRPr lang="zh-CN" altLang="en-US" sz="2055">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Times New Roman" panose="02020603050405020304" pitchFamily="18" charset="0"/>
                <a:cs typeface="Times New Roman" panose="02020603050405020304" pitchFamily="18" charset="0"/>
              </a:rPr>
              <a:t>问题</a:t>
            </a:r>
            <a:r>
              <a:rPr lang="en-US" altLang="zh-CN">
                <a:latin typeface="Times New Roman" panose="02020603050405020304" pitchFamily="18" charset="0"/>
                <a:cs typeface="Times New Roman" panose="02020603050405020304" pitchFamily="18" charset="0"/>
              </a:rPr>
              <a:t>3</a:t>
            </a:r>
            <a:endParaRPr lang="en-US" altLang="zh-CN">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p>
            <a:r>
              <a:rPr lang="zh-CN" altLang="en-US">
                <a:latin typeface="Times New Roman" panose="02020603050405020304" pitchFamily="18" charset="0"/>
                <a:cs typeface="Times New Roman" panose="02020603050405020304" pitchFamily="18" charset="0"/>
              </a:rPr>
              <a:t>在存储器层次结构中,cache一主存和主存一辅存这两个层次有何异同点?</a:t>
            </a:r>
            <a:endParaRPr lang="zh-CN" altLang="en-US">
              <a:latin typeface="Times New Roman" panose="02020603050405020304" pitchFamily="18" charset="0"/>
              <a:cs typeface="Times New Roman" panose="02020603050405020304" pitchFamily="18" charset="0"/>
            </a:endParaRPr>
          </a:p>
          <a:p>
            <a:pPr lvl="1"/>
            <a:endParaRPr lang="zh-CN" altLang="en-US" sz="2400">
              <a:latin typeface="Times New Roman" panose="02020603050405020304" pitchFamily="18" charset="0"/>
              <a:cs typeface="Times New Roman" panose="02020603050405020304" pitchFamily="18" charset="0"/>
            </a:endParaRPr>
          </a:p>
          <a:p>
            <a:pPr lvl="1"/>
            <a:r>
              <a:rPr lang="zh-CN" altLang="en-US" sz="2400">
                <a:latin typeface="Times New Roman" panose="02020603050405020304" pitchFamily="18" charset="0"/>
                <a:cs typeface="Times New Roman" panose="02020603050405020304" pitchFamily="18" charset="0"/>
              </a:rPr>
              <a:t>答:这两个层次在以下几个方面有相同的地方:</a:t>
            </a:r>
            <a:endParaRPr lang="zh-CN" altLang="en-US" sz="2400">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①都是</a:t>
            </a:r>
            <a:r>
              <a:rPr lang="zh-CN" altLang="en-US" sz="2055">
                <a:solidFill>
                  <a:srgbClr val="FF0000"/>
                </a:solidFill>
                <a:latin typeface="Times New Roman" panose="02020603050405020304" pitchFamily="18" charset="0"/>
                <a:cs typeface="Times New Roman" panose="02020603050405020304" pitchFamily="18" charset="0"/>
              </a:rPr>
              <a:t>基于程序访问的局部性</a:t>
            </a:r>
            <a:r>
              <a:rPr lang="zh-CN" altLang="en-US" sz="2055">
                <a:latin typeface="Times New Roman" panose="02020603050405020304" pitchFamily="18" charset="0"/>
                <a:cs typeface="Times New Roman" panose="02020603050405020304" pitchFamily="18" charset="0"/>
              </a:rPr>
              <a:t>特点，把一块相邻的局部信息从慢速存储器复制到快速存储器;</a:t>
            </a:r>
            <a:endParaRPr lang="zh-CN" altLang="en-US" sz="2055">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②都必须考虑慢速存储器和快速存储器之间的</a:t>
            </a:r>
            <a:r>
              <a:rPr lang="zh-CN" altLang="en-US" sz="2055">
                <a:solidFill>
                  <a:srgbClr val="FF0000"/>
                </a:solidFill>
                <a:latin typeface="Times New Roman" panose="02020603050405020304" pitchFamily="18" charset="0"/>
                <a:cs typeface="Times New Roman" panose="02020603050405020304" pitchFamily="18" charset="0"/>
              </a:rPr>
              <a:t>映射问题</a:t>
            </a:r>
            <a:r>
              <a:rPr lang="zh-CN" altLang="en-US" sz="2055">
                <a:latin typeface="Times New Roman" panose="02020603050405020304" pitchFamily="18" charset="0"/>
                <a:cs typeface="Times New Roman" panose="02020603050405020304" pitchFamily="18" charset="0"/>
              </a:rPr>
              <a:t>;</a:t>
            </a:r>
            <a:endParaRPr lang="zh-CN" altLang="en-US" sz="2055">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③当需要在快速存储器中装入新的块而对应位置已满时,都需要考虑把哪一块从快速存储器中</a:t>
            </a:r>
            <a:r>
              <a:rPr lang="zh-CN" altLang="en-US" sz="2055">
                <a:solidFill>
                  <a:srgbClr val="FF0000"/>
                </a:solidFill>
                <a:latin typeface="Times New Roman" panose="02020603050405020304" pitchFamily="18" charset="0"/>
                <a:cs typeface="Times New Roman" panose="02020603050405020304" pitchFamily="18" charset="0"/>
              </a:rPr>
              <a:t>替换</a:t>
            </a:r>
            <a:r>
              <a:rPr lang="zh-CN" altLang="en-US" sz="2055">
                <a:latin typeface="Times New Roman" panose="02020603050405020304" pitchFamily="18" charset="0"/>
                <a:cs typeface="Times New Roman" panose="02020603050405020304" pitchFamily="18" charset="0"/>
              </a:rPr>
              <a:t>出来;</a:t>
            </a:r>
            <a:endParaRPr lang="zh-CN" altLang="en-US" sz="2055">
              <a:latin typeface="Times New Roman" panose="02020603050405020304" pitchFamily="18" charset="0"/>
              <a:cs typeface="Times New Roman" panose="02020603050405020304" pitchFamily="18" charset="0"/>
            </a:endParaRPr>
          </a:p>
          <a:p>
            <a:pPr lvl="2"/>
            <a:r>
              <a:rPr lang="zh-CN" altLang="en-US" sz="2055">
                <a:latin typeface="Times New Roman" panose="02020603050405020304" pitchFamily="18" charset="0"/>
                <a:cs typeface="Times New Roman" panose="02020603050405020304" pitchFamily="18" charset="0"/>
              </a:rPr>
              <a:t>④当在快速存储器中找不到信息时,都要从慢速存储器</a:t>
            </a:r>
            <a:r>
              <a:rPr lang="zh-CN" altLang="en-US" sz="2055">
                <a:solidFill>
                  <a:srgbClr val="FF0000"/>
                </a:solidFill>
                <a:latin typeface="Times New Roman" panose="02020603050405020304" pitchFamily="18" charset="0"/>
                <a:cs typeface="Times New Roman" panose="02020603050405020304" pitchFamily="18" charset="0"/>
              </a:rPr>
              <a:t>装入</a:t>
            </a:r>
            <a:r>
              <a:rPr lang="zh-CN" altLang="en-US" sz="2055">
                <a:latin typeface="Times New Roman" panose="02020603050405020304" pitchFamily="18" charset="0"/>
                <a:cs typeface="Times New Roman" panose="02020603050405020304" pitchFamily="18" charset="0"/>
              </a:rPr>
              <a:t>该信息所在块到快速存储器中。</a:t>
            </a:r>
            <a:endParaRPr lang="zh-CN" altLang="en-US" sz="2055">
              <a:latin typeface="Times New Roman" panose="02020603050405020304" pitchFamily="18" charset="0"/>
              <a:cs typeface="Times New Roman" panose="02020603050405020304" pitchFamily="18"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en-US" altLang="zh-CN"/>
              <a:t>3</a:t>
            </a:r>
            <a:r>
              <a:rPr lang="zh-CN" altLang="en-US"/>
              <a:t>（</a:t>
            </a:r>
            <a:r>
              <a:rPr lang="zh-CN" altLang="en-US"/>
              <a:t>续）</a:t>
            </a:r>
            <a:endParaRPr lang="zh-CN" altLang="en-US"/>
          </a:p>
        </p:txBody>
      </p:sp>
      <p:sp>
        <p:nvSpPr>
          <p:cNvPr id="3" name="内容占位符 2"/>
          <p:cNvSpPr>
            <a:spLocks noGrp="1"/>
          </p:cNvSpPr>
          <p:nvPr>
            <p:ph idx="1"/>
          </p:nvPr>
        </p:nvSpPr>
        <p:spPr>
          <a:xfrm>
            <a:off x="457200" y="1193800"/>
            <a:ext cx="8229600" cy="5300980"/>
          </a:xfrm>
        </p:spPr>
        <p:txBody>
          <a:bodyPr/>
          <a:p>
            <a:pPr lvl="0"/>
            <a:r>
              <a:rPr lang="zh-CN" altLang="en-US" sz="1800">
                <a:latin typeface="Times New Roman" panose="02020603050405020304" pitchFamily="18" charset="0"/>
                <a:cs typeface="Times New Roman" panose="02020603050405020304" pitchFamily="18" charset="0"/>
              </a:rPr>
              <a:t>这两个层次所处的位置和引入的目的不同,不同之处</a:t>
            </a:r>
            <a:r>
              <a:rPr lang="zh-CN" altLang="en-US" sz="1800">
                <a:latin typeface="Times New Roman" panose="02020603050405020304" pitchFamily="18" charset="0"/>
                <a:cs typeface="Times New Roman" panose="02020603050405020304" pitchFamily="18" charset="0"/>
              </a:rPr>
              <a:t>如下:</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①</a:t>
            </a:r>
            <a:r>
              <a:rPr lang="zh-CN" altLang="en-US" sz="1800">
                <a:solidFill>
                  <a:srgbClr val="FF0000"/>
                </a:solidFill>
                <a:latin typeface="Times New Roman" panose="02020603050405020304" pitchFamily="18" charset="0"/>
                <a:cs typeface="Times New Roman" panose="02020603050405020304" pitchFamily="18" charset="0"/>
              </a:rPr>
              <a:t>位置不同</a:t>
            </a:r>
            <a:r>
              <a:rPr lang="zh-CN" altLang="en-US" sz="1800">
                <a:latin typeface="Times New Roman" panose="02020603050405020304" pitchFamily="18" charset="0"/>
                <a:cs typeface="Times New Roman" panose="02020603050405020304" pitchFamily="18" charset="0"/>
              </a:rPr>
              <a:t>。cache 最靠近 CPU,辅存最远离 CPU,CPU 可以直接访问 cache 和主存,但不能直接访问辅存,辅存和主存直接交换数据。</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②</a:t>
            </a:r>
            <a:r>
              <a:rPr lang="zh-CN" altLang="en-US" sz="1800">
                <a:solidFill>
                  <a:srgbClr val="FF0000"/>
                </a:solidFill>
                <a:latin typeface="Times New Roman" panose="02020603050405020304" pitchFamily="18" charset="0"/>
                <a:cs typeface="Times New Roman" panose="02020603050405020304" pitchFamily="18" charset="0"/>
              </a:rPr>
              <a:t>目的不同</a:t>
            </a:r>
            <a:r>
              <a:rPr lang="zh-CN" altLang="en-US" sz="1800">
                <a:latin typeface="Times New Roman" panose="02020603050405020304" pitchFamily="18" charset="0"/>
                <a:cs typeface="Times New Roman" panose="02020603050405020304" pitchFamily="18" charset="0"/>
              </a:rPr>
              <a:t>。cache目的是为了加快 CPU 访问信息的速度；虚拟存储器机制是为了扩大系统的存储容量。</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③</a:t>
            </a:r>
            <a:r>
              <a:rPr lang="zh-CN" altLang="en-US" sz="1800">
                <a:solidFill>
                  <a:srgbClr val="FF0000"/>
                </a:solidFill>
                <a:latin typeface="Times New Roman" panose="02020603050405020304" pitchFamily="18" charset="0"/>
                <a:cs typeface="Times New Roman" panose="02020603050405020304" pitchFamily="18" charset="0"/>
              </a:rPr>
              <a:t>交换的信息块大小不同</a:t>
            </a:r>
            <a:r>
              <a:rPr lang="zh-CN" altLang="en-US" sz="1800">
                <a:latin typeface="Times New Roman" panose="02020603050405020304" pitchFamily="18" charset="0"/>
                <a:cs typeface="Times New Roman" panose="02020603050405020304" pitchFamily="18" charset="0"/>
              </a:rPr>
              <a:t>。在 cache-主存层次,交换的信息块一般大小为8~128B;而主存一辅存层次,交换的信息块(page)一般大小为 4KB~64KB。</a:t>
            </a:r>
            <a:r>
              <a:rPr lang="zh-CN" altLang="en-US" sz="1800">
                <a:latin typeface="Times New Roman" panose="02020603050405020304" pitchFamily="18" charset="0"/>
                <a:cs typeface="Times New Roman" panose="02020603050405020304" pitchFamily="18" charset="0"/>
              </a:rPr>
              <a:t>由于虚拟页的缺失损失比 cache 缺失损失大得多,所以页太小会影响命中率,从而极大降低系统效率。</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④</a:t>
            </a:r>
            <a:r>
              <a:rPr lang="zh-CN" altLang="en-US" sz="1800">
                <a:solidFill>
                  <a:srgbClr val="FF0000"/>
                </a:solidFill>
                <a:latin typeface="Times New Roman" panose="02020603050405020304" pitchFamily="18" charset="0"/>
                <a:cs typeface="Times New Roman" panose="02020603050405020304" pitchFamily="18" charset="0"/>
              </a:rPr>
              <a:t>缺失处理不同</a:t>
            </a:r>
            <a:r>
              <a:rPr lang="zh-CN" altLang="en-US" sz="1800">
                <a:latin typeface="Times New Roman" panose="02020603050405020304" pitchFamily="18" charset="0"/>
                <a:cs typeface="Times New Roman" panose="02020603050405020304" pitchFamily="18" charset="0"/>
              </a:rPr>
              <a:t>。在cache-主存层次,缺失处理由处理器(硬件)来实现;而在主存一辅存层次,则由操作系统(软件)来实现。</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⑤</a:t>
            </a:r>
            <a:r>
              <a:rPr lang="zh-CN" altLang="en-US" sz="1800">
                <a:solidFill>
                  <a:srgbClr val="FF0000"/>
                </a:solidFill>
                <a:latin typeface="Times New Roman" panose="02020603050405020304" pitchFamily="18" charset="0"/>
                <a:cs typeface="Times New Roman" panose="02020603050405020304" pitchFamily="18" charset="0"/>
              </a:rPr>
              <a:t>映射方式不同</a:t>
            </a:r>
            <a:r>
              <a:rPr lang="zh-CN" altLang="en-US" sz="1800">
                <a:latin typeface="Times New Roman" panose="02020603050405020304" pitchFamily="18" charset="0"/>
                <a:cs typeface="Times New Roman" panose="02020603050405020304" pitchFamily="18" charset="0"/>
              </a:rPr>
              <a:t>。在cache一主存层次,可根据不同的情况选择使用直接,全相联或组相联方式,映射关系完全由硬件实现,使用cache行中的标志(Tag)字段来描述;而在主存一辅存层次,则都采用全相联方式,映射关系由操作系统实现,使用页表来描述映射关系。</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⑥</a:t>
            </a:r>
            <a:r>
              <a:rPr lang="zh-CN" altLang="en-US" sz="1800">
                <a:solidFill>
                  <a:srgbClr val="FF0000"/>
                </a:solidFill>
                <a:latin typeface="Times New Roman" panose="02020603050405020304" pitchFamily="18" charset="0"/>
                <a:cs typeface="Times New Roman" panose="02020603050405020304" pitchFamily="18" charset="0"/>
              </a:rPr>
              <a:t>写策略不同</a:t>
            </a:r>
            <a:r>
              <a:rPr lang="zh-CN" altLang="en-US" sz="1800">
                <a:latin typeface="Times New Roman" panose="02020603050405020304" pitchFamily="18" charset="0"/>
                <a:cs typeface="Times New Roman" panose="02020603050405020304" pitchFamily="18" charset="0"/>
              </a:rPr>
              <a:t>。在 cache一主存层次,可以采用直写和回写两种策略;但在主存-辅存层次,则都采用回写策略。因为,如果采用直写,每次写操作都要访问磁盘,这样的开销是不能容忍的。</a:t>
            </a:r>
            <a:endParaRPr lang="zh-CN"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en-US" altLang="zh-CN"/>
              <a:t>4</a:t>
            </a:r>
            <a:endParaRPr lang="en-US" altLang="zh-CN"/>
          </a:p>
        </p:txBody>
      </p:sp>
      <p:sp>
        <p:nvSpPr>
          <p:cNvPr id="3" name="内容占位符 2"/>
          <p:cNvSpPr>
            <a:spLocks noGrp="1"/>
          </p:cNvSpPr>
          <p:nvPr>
            <p:ph idx="1"/>
          </p:nvPr>
        </p:nvSpPr>
        <p:spPr/>
        <p:txBody>
          <a:bodyPr/>
          <a:p>
            <a:r>
              <a:rPr lang="zh-CN" altLang="en-US"/>
              <a:t>逻辑地址到物理地址的转换是由硬件实现的还是软件实现的?</a:t>
            </a:r>
            <a:endParaRPr lang="zh-CN" altLang="en-US"/>
          </a:p>
          <a:p>
            <a:endParaRPr lang="zh-CN" altLang="en-US"/>
          </a:p>
          <a:p>
            <a:pPr lvl="1"/>
            <a:r>
              <a:rPr lang="zh-CN" altLang="en-US" sz="2400">
                <a:latin typeface="Times New Roman" panose="02020603050405020304" pitchFamily="18" charset="0"/>
                <a:cs typeface="Times New Roman" panose="02020603050405020304" pitchFamily="18" charset="0"/>
              </a:rPr>
              <a:t>动态重定位方式下,由专门的存储器管理部件(MMU)实现逻辑地址到物理地址的转换。</a:t>
            </a:r>
            <a:endParaRPr lang="zh-CN" altLang="en-US" sz="2400">
              <a:latin typeface="Times New Roman" panose="02020603050405020304" pitchFamily="18" charset="0"/>
              <a:cs typeface="Times New Roman" panose="02020603050405020304" pitchFamily="18" charset="0"/>
            </a:endParaRPr>
          </a:p>
          <a:p>
            <a:pPr lvl="1" latinLnBrk="0">
              <a:spcBef>
                <a:spcPts val="1200"/>
              </a:spcBef>
            </a:pPr>
            <a:r>
              <a:rPr lang="zh-CN" altLang="en-US" sz="2400">
                <a:latin typeface="Times New Roman" panose="02020603050405020304" pitchFamily="18" charset="0"/>
                <a:cs typeface="Times New Roman" panose="02020603050405020304" pitchFamily="18" charset="0"/>
              </a:rPr>
              <a:t>静态重定位方式下,由链接程序或加载程序实现地址转换。</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en-US" altLang="zh-CN"/>
              <a:t>5</a:t>
            </a:r>
            <a:endParaRPr lang="en-US" altLang="zh-CN"/>
          </a:p>
        </p:txBody>
      </p:sp>
      <p:sp>
        <p:nvSpPr>
          <p:cNvPr id="3" name="内容占位符 2"/>
          <p:cNvSpPr>
            <a:spLocks noGrp="1"/>
          </p:cNvSpPr>
          <p:nvPr>
            <p:ph idx="1"/>
          </p:nvPr>
        </p:nvSpPr>
        <p:spPr>
          <a:xfrm>
            <a:off x="457200" y="1313180"/>
            <a:ext cx="8229600" cy="5242560"/>
          </a:xfrm>
        </p:spPr>
        <p:txBody>
          <a:bodyPr/>
          <a:p>
            <a:r>
              <a:rPr lang="zh-CN" altLang="en-US" sz="2400">
                <a:latin typeface="Times New Roman" panose="02020603050405020304" pitchFamily="18" charset="0"/>
                <a:cs typeface="Times New Roman" panose="02020603050405020304" pitchFamily="18" charset="0"/>
              </a:rPr>
              <a:t>在具有 cache 并采用动态重定位存储管理的系统中，</a:t>
            </a:r>
            <a:r>
              <a:rPr lang="en-US" altLang="zh-CN" sz="2400">
                <a:latin typeface="Times New Roman" panose="02020603050405020304" pitchFamily="18" charset="0"/>
                <a:cs typeface="Times New Roman" panose="02020603050405020304" pitchFamily="18" charset="0"/>
              </a:rPr>
              <a:t>CPU</a:t>
            </a:r>
            <a:r>
              <a:rPr lang="zh-CN" altLang="en-US" sz="2400">
                <a:latin typeface="Times New Roman" panose="02020603050405020304" pitchFamily="18" charset="0"/>
                <a:cs typeface="Times New Roman" panose="02020603050405020304" pitchFamily="18" charset="0"/>
              </a:rPr>
              <a:t>执行存储访问操作的过程是怎样的？</a:t>
            </a:r>
            <a:endParaRPr lang="zh-CN" altLang="en-US" sz="24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(1)根据虚页号</a:t>
            </a:r>
            <a:r>
              <a:rPr lang="zh-CN" altLang="en-US" sz="1800">
                <a:solidFill>
                  <a:srgbClr val="FF0000"/>
                </a:solidFill>
                <a:latin typeface="Times New Roman" panose="02020603050405020304" pitchFamily="18" charset="0"/>
                <a:cs typeface="Times New Roman" panose="02020603050405020304" pitchFamily="18" charset="0"/>
              </a:rPr>
              <a:t>查快表</a:t>
            </a:r>
            <a:r>
              <a:rPr lang="zh-CN" altLang="en-US" sz="1800">
                <a:latin typeface="Times New Roman" panose="02020603050405020304" pitchFamily="18" charset="0"/>
                <a:cs typeface="Times New Roman" panose="02020603050405020304" pitchFamily="18" charset="0"/>
              </a:rPr>
              <a:t>,若快表中有对应页的页表项,则取出页框号形成物理地址,转(2);若快表中不存在对应页的页表项,则发生 TLB缺失,转(3)。</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(2)</a:t>
            </a:r>
            <a:r>
              <a:rPr lang="zh-CN" altLang="en-US" sz="1800">
                <a:solidFill>
                  <a:srgbClr val="FF0000"/>
                </a:solidFill>
                <a:latin typeface="Times New Roman" panose="02020603050405020304" pitchFamily="18" charset="0"/>
                <a:cs typeface="Times New Roman" panose="02020603050405020304" pitchFamily="18" charset="0"/>
              </a:rPr>
              <a:t>判命中</a:t>
            </a:r>
            <a:r>
              <a:rPr lang="zh-CN" altLang="en-US" sz="1800">
                <a:latin typeface="Times New Roman" panose="02020603050405020304" pitchFamily="18" charset="0"/>
                <a:cs typeface="Times New Roman" panose="02020603050405020304" pitchFamily="18" charset="0"/>
              </a:rPr>
              <a:t>：判断物理地址中的标记是否和cache中标记相等并且有效位是否为1,若是,则cache 命中,从 cache 取数或写数据到 cache(直写方式同时也写主存);若不是,则发生 cache缺失,转(4)。</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(3)当</a:t>
            </a:r>
            <a:r>
              <a:rPr lang="zh-CN" altLang="en-US" sz="1800">
                <a:solidFill>
                  <a:srgbClr val="FF0000"/>
                </a:solidFill>
                <a:latin typeface="Times New Roman" panose="02020603050405020304" pitchFamily="18" charset="0"/>
                <a:cs typeface="Times New Roman" panose="02020603050405020304" pitchFamily="18" charset="0"/>
              </a:rPr>
              <a:t>TLB缺失</a:t>
            </a:r>
            <a:r>
              <a:rPr lang="zh-CN" altLang="en-US" sz="1800">
                <a:latin typeface="Times New Roman" panose="02020603050405020304" pitchFamily="18" charset="0"/>
                <a:cs typeface="Times New Roman" panose="02020603050405020304" pitchFamily="18" charset="0"/>
              </a:rPr>
              <a:t>时,根据页表基址寄存器的值和虚页号找到主存中的页表项,判断有效位是否为1,若是,则说明该页在主存中,把该页的页表项装人 TLB中,并取出页框号形成物理地址,转(2);若不是,则说明该页不在主存中,发生了缺页异常。此时,需要调出操作系统中的缺页异常处理程序,实现从磁盘读入一个页面的功能。缺页处理结束后,重新执行当前指令。</a:t>
            </a:r>
            <a:endParaRPr lang="zh-CN" altLang="en-US" sz="1800">
              <a:latin typeface="Times New Roman" panose="02020603050405020304" pitchFamily="18" charset="0"/>
              <a:cs typeface="Times New Roman" panose="02020603050405020304" pitchFamily="18" charset="0"/>
            </a:endParaRPr>
          </a:p>
          <a:p>
            <a:pPr lvl="1"/>
            <a:r>
              <a:rPr lang="zh-CN" altLang="en-US" sz="1800">
                <a:latin typeface="Times New Roman" panose="02020603050405020304" pitchFamily="18" charset="0"/>
                <a:cs typeface="Times New Roman" panose="02020603050405020304" pitchFamily="18" charset="0"/>
              </a:rPr>
              <a:t>(4)当 </a:t>
            </a:r>
            <a:r>
              <a:rPr lang="zh-CN" altLang="en-US" sz="1800">
                <a:solidFill>
                  <a:srgbClr val="FF0000"/>
                </a:solidFill>
                <a:latin typeface="Times New Roman" panose="02020603050405020304" pitchFamily="18" charset="0"/>
                <a:cs typeface="Times New Roman" panose="02020603050405020304" pitchFamily="18" charset="0"/>
              </a:rPr>
              <a:t>cache缺失</a:t>
            </a:r>
            <a:r>
              <a:rPr lang="zh-CN" altLang="en-US" sz="1800">
                <a:latin typeface="Times New Roman" panose="02020603050405020304" pitchFamily="18" charset="0"/>
                <a:cs typeface="Times New Roman" panose="02020603050405020304" pitchFamily="18" charset="0"/>
              </a:rPr>
              <a:t>时,则 CPU 根据物理地址到主存读一块信息到 cache,然后再取到CPU 或 CPU 写信息到 cache。</a:t>
            </a:r>
            <a:endParaRPr lang="zh-CN" altLang="en-US" sz="1800">
              <a:latin typeface="Times New Roman" panose="02020603050405020304" pitchFamily="18" charset="0"/>
              <a:cs typeface="Times New Roman" panose="02020603050405020304" pitchFamily="18" charset="0"/>
            </a:endParaRPr>
          </a:p>
          <a:p>
            <a:pPr marL="0" lvl="1" indent="457200">
              <a:buNone/>
            </a:pPr>
            <a:r>
              <a:rPr lang="zh-CN" altLang="en-US" sz="1800">
                <a:latin typeface="Times New Roman" panose="02020603050405020304" pitchFamily="18" charset="0"/>
                <a:cs typeface="Times New Roman" panose="02020603050405020304" pitchFamily="18" charset="0"/>
              </a:rPr>
              <a:t>从上述过程来看,CPU 进行一次存储访问操作,最好的情况下(TLB 命中、cache 命中),无须访问内存;最坏的情况下(缺页),不仅要多次访问内存,还要读写磁盘数据。</a:t>
            </a:r>
            <a:endParaRPr lang="zh-CN" altLang="en-US" sz="18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习题</a:t>
            </a:r>
            <a:r>
              <a:rPr lang="en-US" altLang="zh-CN"/>
              <a:t>1</a:t>
            </a:r>
            <a:endParaRPr lang="en-US" altLang="zh-CN"/>
          </a:p>
        </p:txBody>
      </p:sp>
      <p:sp>
        <p:nvSpPr>
          <p:cNvPr id="3" name="内容占位符 2"/>
          <p:cNvSpPr>
            <a:spLocks noGrp="1"/>
          </p:cNvSpPr>
          <p:nvPr>
            <p:ph idx="1"/>
          </p:nvPr>
        </p:nvSpPr>
        <p:spPr/>
        <p:txBody>
          <a:bodyPr/>
          <a:p>
            <a:r>
              <a:rPr>
                <a:latin typeface="Times New Roman" panose="02020603050405020304" pitchFamily="18" charset="0"/>
                <a:cs typeface="Times New Roman" panose="02020603050405020304" pitchFamily="18" charset="0"/>
              </a:rPr>
              <a:t>构成 256K</a:t>
            </a:r>
            <a:r>
              <a:rPr lang="en-US">
                <a:latin typeface="Times New Roman" panose="02020603050405020304" pitchFamily="18" charset="0"/>
                <a:cs typeface="Times New Roman" panose="02020603050405020304" pitchFamily="18" charset="0"/>
              </a:rPr>
              <a:t>*</a:t>
            </a:r>
            <a:r>
              <a:rPr>
                <a:latin typeface="Times New Roman" panose="02020603050405020304" pitchFamily="18" charset="0"/>
                <a:cs typeface="Times New Roman" panose="02020603050405020304" pitchFamily="18" charset="0"/>
              </a:rPr>
              <a:t>8位的存储器,需多少个64K</a:t>
            </a:r>
            <a:r>
              <a:rPr lang="en-US">
                <a:latin typeface="Times New Roman" panose="02020603050405020304" pitchFamily="18" charset="0"/>
                <a:cs typeface="Times New Roman" panose="02020603050405020304" pitchFamily="18" charset="0"/>
              </a:rPr>
              <a:t>*</a:t>
            </a:r>
            <a:r>
              <a:rPr>
                <a:latin typeface="Times New Roman" panose="02020603050405020304" pitchFamily="18" charset="0"/>
                <a:cs typeface="Times New Roman" panose="02020603050405020304" pitchFamily="18" charset="0"/>
              </a:rPr>
              <a:t>1位的 DRAM 芯片?存储器所有单元刷新一遍需要多少次刷新操作?</a:t>
            </a:r>
            <a:endParaRPr>
              <a:latin typeface="Times New Roman" panose="02020603050405020304" pitchFamily="18" charset="0"/>
              <a:cs typeface="Times New Roman" panose="02020603050405020304" pitchFamily="18" charset="0"/>
            </a:endParaRPr>
          </a:p>
          <a:p>
            <a:pPr lvl="1" latinLnBrk="0">
              <a:spcBef>
                <a:spcPts val="1200"/>
              </a:spcBef>
            </a:pPr>
            <a:r>
              <a:rPr sz="2400">
                <a:latin typeface="Times New Roman" panose="02020603050405020304" pitchFamily="18" charset="0"/>
                <a:cs typeface="Times New Roman" panose="02020603050405020304" pitchFamily="18" charset="0"/>
              </a:rPr>
              <a:t>若采用异步刷新方式,每单元刷新间隔不超过 2ms,则生成的刷新信号的间隔时间是多少?若采用集中刷新方式,则存储器刷新一遍最少用多少个读写周期?</a:t>
            </a:r>
            <a:endParaRPr sz="2400">
              <a:latin typeface="Times New Roman" panose="02020603050405020304" pitchFamily="18" charset="0"/>
              <a:cs typeface="Times New Roman" panose="02020603050405020304" pitchFamily="18" charset="0"/>
            </a:endParaRPr>
          </a:p>
          <a:p>
            <a:pPr lvl="1"/>
            <a:r>
              <a:rPr sz="2400">
                <a:latin typeface="Times New Roman" panose="02020603050405020304" pitchFamily="18" charset="0"/>
                <a:cs typeface="Times New Roman" panose="02020603050405020304" pitchFamily="18" charset="0"/>
              </a:rPr>
              <a:t>若改用 16K</a:t>
            </a:r>
            <a:r>
              <a:rPr lang="en-US" sz="2400">
                <a:latin typeface="Times New Roman" panose="02020603050405020304" pitchFamily="18" charset="0"/>
                <a:cs typeface="Times New Roman" panose="02020603050405020304" pitchFamily="18" charset="0"/>
              </a:rPr>
              <a:t>*</a:t>
            </a:r>
            <a:r>
              <a:rPr sz="2400">
                <a:latin typeface="Times New Roman" panose="02020603050405020304" pitchFamily="18" charset="0"/>
                <a:cs typeface="Times New Roman" panose="02020603050405020304" pitchFamily="18" charset="0"/>
              </a:rPr>
              <a:t>4位的 DRAM 芯片构成上述256K</a:t>
            </a:r>
            <a:r>
              <a:rPr lang="en-US" sz="2400">
                <a:latin typeface="Times New Roman" panose="02020603050405020304" pitchFamily="18" charset="0"/>
                <a:cs typeface="Times New Roman" panose="02020603050405020304" pitchFamily="18" charset="0"/>
              </a:rPr>
              <a:t>*</a:t>
            </a:r>
            <a:r>
              <a:rPr sz="2400">
                <a:latin typeface="Times New Roman" panose="02020603050405020304" pitchFamily="18" charset="0"/>
                <a:cs typeface="Times New Roman" panose="02020603050405020304" pitchFamily="18" charset="0"/>
              </a:rPr>
              <a:t>8位的存储器,则存储器所有单元刷新一遍需要多少次刷新操作?</a:t>
            </a:r>
            <a:endParaRPr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习题</a:t>
            </a:r>
            <a:r>
              <a:rPr lang="en-US" altLang="zh-CN"/>
              <a:t>1</a:t>
            </a:r>
            <a:r>
              <a:rPr lang="zh-CN" altLang="en-US"/>
              <a:t>：解答</a:t>
            </a:r>
            <a:endParaRPr lang="zh-CN" altLang="en-US"/>
          </a:p>
        </p:txBody>
      </p:sp>
      <p:sp>
        <p:nvSpPr>
          <p:cNvPr id="3" name="内容占位符 2"/>
          <p:cNvSpPr>
            <a:spLocks noGrp="1"/>
          </p:cNvSpPr>
          <p:nvPr>
            <p:ph idx="1"/>
          </p:nvPr>
        </p:nvSpPr>
        <p:spPr/>
        <p:txBody>
          <a:bodyPr/>
          <a:p>
            <a:r>
              <a:rPr lang="zh-CN" altLang="en-US" sz="2400">
                <a:latin typeface="Times New Roman" panose="02020603050405020304" pitchFamily="18" charset="0"/>
                <a:cs typeface="Times New Roman" panose="02020603050405020304" pitchFamily="18" charset="0"/>
              </a:rPr>
              <a:t>芯片中256x256的存储阵列结构构成了64K元,构成存储器的所有芯片同时按行刷新,每个芯片有256行,所以存储器所有单元刷新一遍至少需要 256次刷新操作。</a:t>
            </a:r>
            <a:endParaRPr lang="zh-CN" altLang="en-US"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若采用异步刷新方式,则相邻两次刷新信息产生的时间间隔为 2ms/256≈ 7.8us。若采用集中刷新方式,则整个存储器刷新一遍最少用 256个读/写周期,在这个过程中,存储器不能进行读写操作。</a:t>
            </a:r>
            <a:endParaRPr lang="zh-CN" altLang="en-US" sz="2400">
              <a:latin typeface="Times New Roman" panose="02020603050405020304" pitchFamily="18" charset="0"/>
              <a:cs typeface="Times New Roman" panose="02020603050405020304" pitchFamily="18" charset="0"/>
            </a:endParaRPr>
          </a:p>
          <a:p>
            <a:r>
              <a:rPr lang="zh-CN" altLang="en-US" sz="2400">
                <a:latin typeface="Times New Roman" panose="02020603050405020304" pitchFamily="18" charset="0"/>
                <a:cs typeface="Times New Roman" panose="02020603050405020304" pitchFamily="18" charset="0"/>
              </a:rPr>
              <a:t>若改用 16K</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4位的DRAM芯片,则每个芯片中的存储阵列由4个128</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128的位平面构成,则4个存储阵列中行号相同的那些行同时被刷新,共有128行,因而整个存储器刷新一遍只需要 128次刷新操作。</a:t>
            </a:r>
            <a:endParaRPr lang="zh-CN"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习题</a:t>
            </a:r>
            <a:r>
              <a:rPr lang="en-US" altLang="zh-CN"/>
              <a:t>2</a:t>
            </a:r>
            <a:endParaRPr lang="zh-CN" altLang="en-US"/>
          </a:p>
        </p:txBody>
      </p:sp>
      <p:sp>
        <p:nvSpPr>
          <p:cNvPr id="3" name="内容占位符 2"/>
          <p:cNvSpPr>
            <a:spLocks noGrp="1"/>
          </p:cNvSpPr>
          <p:nvPr>
            <p:ph idx="1"/>
          </p:nvPr>
        </p:nvSpPr>
        <p:spPr>
          <a:xfrm>
            <a:off x="457200" y="1197610"/>
            <a:ext cx="8229600" cy="5270500"/>
          </a:xfrm>
        </p:spPr>
        <p:txBody>
          <a:bodyPr/>
          <a:p>
            <a:r>
              <a:rPr lang="zh-CN" altLang="en-US" sz="2400">
                <a:latin typeface="Times New Roman" panose="02020603050405020304" pitchFamily="18" charset="0"/>
                <a:cs typeface="Times New Roman" panose="02020603050405020304" pitchFamily="18" charset="0"/>
              </a:rPr>
              <a:t>假定一个存储器系统支持4体交叉存取,某程序执行过程中,CPU访问的主存地址序列为 3，9，17，2，51，37，13，4，8，41，67，10，则哪些地址访问会发生体冲突?</a:t>
            </a:r>
            <a:endParaRPr lang="zh-CN" altLang="en-US" sz="2400">
              <a:latin typeface="Times New Roman" panose="02020603050405020304" pitchFamily="18" charset="0"/>
              <a:cs typeface="Times New Roman" panose="02020603050405020304" pitchFamily="18" charset="0"/>
            </a:endParaRPr>
          </a:p>
          <a:p>
            <a:endParaRPr lang="zh-CN" altLang="en-US">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对于4体交叉访问的存储系统,理想情况下,每隔1/4周期可读写一个数据,假定这个时间为 t。每个存储模块内的地址分布如下。</a:t>
            </a:r>
            <a:endParaRPr lang="zh-CN" altLang="en-US" sz="2000">
              <a:latin typeface="Times New Roman" panose="02020603050405020304" pitchFamily="18" charset="0"/>
              <a:cs typeface="Times New Roman" panose="02020603050405020304" pitchFamily="18" charset="0"/>
            </a:endParaRPr>
          </a:p>
          <a:p>
            <a:pPr lvl="2"/>
            <a:r>
              <a:rPr lang="zh-CN" altLang="en-US" sz="1710">
                <a:latin typeface="Times New Roman" panose="02020603050405020304" pitchFamily="18" charset="0"/>
                <a:cs typeface="Times New Roman" panose="02020603050405020304" pitchFamily="18" charset="0"/>
              </a:rPr>
              <a:t>模块 0：0、4、8、12、16、</a:t>
            </a:r>
            <a:endParaRPr lang="zh-CN" altLang="en-US" sz="1710">
              <a:latin typeface="Times New Roman" panose="02020603050405020304" pitchFamily="18" charset="0"/>
              <a:cs typeface="Times New Roman" panose="02020603050405020304" pitchFamily="18" charset="0"/>
            </a:endParaRPr>
          </a:p>
          <a:p>
            <a:pPr lvl="2"/>
            <a:r>
              <a:rPr lang="zh-CN" altLang="en-US" sz="1710">
                <a:latin typeface="Times New Roman" panose="02020603050405020304" pitchFamily="18" charset="0"/>
                <a:cs typeface="Times New Roman" panose="02020603050405020304" pitchFamily="18" charset="0"/>
              </a:rPr>
              <a:t>模块1：1、5、9、13、17、…、37、…、41、…</a:t>
            </a:r>
            <a:endParaRPr lang="zh-CN" altLang="en-US" sz="1710">
              <a:latin typeface="Times New Roman" panose="02020603050405020304" pitchFamily="18" charset="0"/>
              <a:cs typeface="Times New Roman" panose="02020603050405020304" pitchFamily="18" charset="0"/>
            </a:endParaRPr>
          </a:p>
          <a:p>
            <a:pPr lvl="2"/>
            <a:r>
              <a:rPr lang="zh-CN" altLang="en-US" sz="1710">
                <a:latin typeface="Times New Roman" panose="02020603050405020304" pitchFamily="18" charset="0"/>
                <a:cs typeface="Times New Roman" panose="02020603050405020304" pitchFamily="18" charset="0"/>
              </a:rPr>
              <a:t>模块 2：2、6、10、14、18、…</a:t>
            </a:r>
            <a:endParaRPr lang="zh-CN" altLang="en-US" sz="1710">
              <a:latin typeface="Times New Roman" panose="02020603050405020304" pitchFamily="18" charset="0"/>
              <a:cs typeface="Times New Roman" panose="02020603050405020304" pitchFamily="18" charset="0"/>
            </a:endParaRPr>
          </a:p>
          <a:p>
            <a:pPr lvl="2"/>
            <a:r>
              <a:rPr lang="zh-CN" altLang="en-US" sz="1710">
                <a:latin typeface="Times New Roman" panose="02020603050405020304" pitchFamily="18" charset="0"/>
                <a:cs typeface="Times New Roman" panose="02020603050405020304" pitchFamily="18" charset="0"/>
              </a:rPr>
              <a:t>模块 3：3、7、11、15、19、51、…、67、…</a:t>
            </a:r>
            <a:endParaRPr lang="zh-CN" altLang="en-US" sz="1710">
              <a:latin typeface="Times New Roman" panose="02020603050405020304" pitchFamily="18" charset="0"/>
              <a:cs typeface="Times New Roman" panose="02020603050405020304" pitchFamily="18" charset="0"/>
            </a:endParaRPr>
          </a:p>
          <a:p>
            <a:pPr lvl="1"/>
            <a:r>
              <a:rPr lang="zh-CN" altLang="en-US" sz="2000">
                <a:latin typeface="Times New Roman" panose="02020603050405020304" pitchFamily="18" charset="0"/>
                <a:cs typeface="Times New Roman" panose="02020603050405020304" pitchFamily="18" charset="0"/>
              </a:rPr>
              <a:t>很显然,如果相邻4次访问中给定的访存地址出现在同一个模块内,就会发生访存冲突。</a:t>
            </a:r>
            <a:endParaRPr lang="zh-CN" altLang="en-US" sz="2000">
              <a:latin typeface="Times New Roman" panose="02020603050405020304" pitchFamily="18" charset="0"/>
              <a:cs typeface="Times New Roman" panose="02020603050405020304" pitchFamily="18" charset="0"/>
            </a:endParaRPr>
          </a:p>
          <a:p>
            <a:pPr lvl="2"/>
            <a:r>
              <a:rPr lang="zh-CN" altLang="en-US" sz="1710">
                <a:latin typeface="Times New Roman" panose="02020603050405020304" pitchFamily="18" charset="0"/>
                <a:cs typeface="Times New Roman" panose="02020603050405020304" pitchFamily="18" charset="0"/>
              </a:rPr>
              <a:t>所以17和9、37和17、13和37、8和4会发生冲突。41和13也在同一个模块内且访问间隔小于4个</a:t>
            </a:r>
            <a:r>
              <a:rPr lang="zh-CN" altLang="en-US" sz="1710">
                <a:latin typeface="微软雅黑" panose="020B0503020204020204" charset="-122"/>
                <a:ea typeface="微软雅黑" panose="020B0503020204020204" charset="-122"/>
                <a:cs typeface="Times New Roman" panose="02020603050405020304" pitchFamily="18" charset="0"/>
                <a:sym typeface="+mn-ea"/>
              </a:rPr>
              <a:t>∆</a:t>
            </a:r>
            <a:r>
              <a:rPr lang="zh-CN" altLang="en-US" sz="1710">
                <a:latin typeface="Times New Roman" panose="02020603050405020304" pitchFamily="18" charset="0"/>
                <a:cs typeface="Times New Roman" panose="02020603050405020304" pitchFamily="18" charset="0"/>
                <a:sym typeface="+mn-ea"/>
              </a:rPr>
              <a:t>t </a:t>
            </a:r>
            <a:r>
              <a:rPr lang="zh-CN" altLang="en-US" sz="1710">
                <a:latin typeface="Times New Roman" panose="02020603050405020304" pitchFamily="18" charset="0"/>
                <a:cs typeface="Times New Roman" panose="02020603050405020304" pitchFamily="18" charset="0"/>
              </a:rPr>
              <a:t>,但是,由于访问第8单元发生冲突而使其访问延迟3个</a:t>
            </a:r>
            <a:r>
              <a:rPr lang="zh-CN" altLang="en-US" sz="1710">
                <a:latin typeface="微软雅黑" panose="020B0503020204020204" charset="-122"/>
                <a:ea typeface="微软雅黑" panose="020B0503020204020204" charset="-122"/>
                <a:cs typeface="Times New Roman" panose="02020603050405020304" pitchFamily="18" charset="0"/>
              </a:rPr>
              <a:t>∆</a:t>
            </a:r>
            <a:r>
              <a:rPr lang="zh-CN" altLang="en-US" sz="1710">
                <a:latin typeface="Times New Roman" panose="02020603050405020304" pitchFamily="18" charset="0"/>
                <a:cs typeface="Times New Roman" panose="02020603050405020304" pitchFamily="18" charset="0"/>
              </a:rPr>
              <a:t>t 进行,从而使得41号单元也延迟3个</a:t>
            </a:r>
            <a:r>
              <a:rPr lang="zh-CN" altLang="en-US" sz="1710">
                <a:latin typeface="微软雅黑" panose="020B0503020204020204" charset="-122"/>
                <a:ea typeface="微软雅黑" panose="020B0503020204020204" charset="-122"/>
                <a:cs typeface="Times New Roman" panose="02020603050405020304" pitchFamily="18" charset="0"/>
                <a:sym typeface="+mn-ea"/>
              </a:rPr>
              <a:t>∆</a:t>
            </a:r>
            <a:r>
              <a:rPr lang="zh-CN" altLang="en-US" sz="1710">
                <a:latin typeface="Times New Roman" panose="02020603050405020304" pitchFamily="18" charset="0"/>
                <a:cs typeface="Times New Roman" panose="02020603050405020304" pitchFamily="18" charset="0"/>
              </a:rPr>
              <a:t>t访问,因而,其访问不会和 13 号单元的访问发生冲突</a:t>
            </a:r>
            <a:endParaRPr lang="zh-CN" altLang="en-US" sz="171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noFill/>
          <a:ln>
            <a:noFill/>
          </a:ln>
        </p:spPr>
        <p:txBody>
          <a:bodyPr anchor="t" anchorCtr="0"/>
          <a:p>
            <a:r>
              <a:rPr lang="zh-CN" altLang="en-US"/>
              <a:t>习题</a:t>
            </a:r>
            <a:r>
              <a:rPr lang="en-US" altLang="zh-CN"/>
              <a:t>3</a:t>
            </a:r>
            <a:endParaRPr lang="en-US" altLang="zh-CN"/>
          </a:p>
        </p:txBody>
      </p:sp>
      <p:sp>
        <p:nvSpPr>
          <p:cNvPr id="86018" name="内容占位符 2"/>
          <p:cNvSpPr>
            <a:spLocks noGrp="1"/>
          </p:cNvSpPr>
          <p:nvPr>
            <p:ph idx="1"/>
          </p:nvPr>
        </p:nvSpPr>
        <p:spPr>
          <a:xfrm>
            <a:off x="457200" y="1292225"/>
            <a:ext cx="8229600" cy="5064125"/>
          </a:xfrm>
          <a:noFill/>
          <a:ln>
            <a:noFill/>
          </a:ln>
        </p:spPr>
        <p:txBody>
          <a:bodyPr anchor="t" anchorCtr="0"/>
          <a:p>
            <a:r>
              <a:rPr lang="zh-CN" altLang="en-US" sz="2400">
                <a:latin typeface="Times New Roman" panose="02020603050405020304" pitchFamily="18" charset="0"/>
              </a:rPr>
              <a:t>一个</a:t>
            </a:r>
            <a:r>
              <a:rPr lang="en-US" altLang="zh-CN" sz="2400">
                <a:latin typeface="Times New Roman" panose="02020603050405020304" pitchFamily="18" charset="0"/>
              </a:rPr>
              <a:t>1K*8</a:t>
            </a:r>
            <a:r>
              <a:rPr lang="zh-CN" altLang="en-US" sz="2400">
                <a:latin typeface="Times New Roman" panose="02020603050405020304" pitchFamily="18" charset="0"/>
              </a:rPr>
              <a:t>的存储芯片需要多少根地址线 、数据输入线和输出线？</a:t>
            </a:r>
            <a:endParaRPr lang="zh-CN" altLang="en-US" sz="2400">
              <a:latin typeface="Times New Roman" panose="02020603050405020304" pitchFamily="18" charset="0"/>
            </a:endParaRPr>
          </a:p>
          <a:p>
            <a:pPr latinLnBrk="0">
              <a:spcBef>
                <a:spcPts val="1200"/>
              </a:spcBef>
            </a:pPr>
            <a:r>
              <a:rPr lang="zh-CN" altLang="en-US" sz="2400">
                <a:latin typeface="Times New Roman" panose="02020603050405020304" pitchFamily="18" charset="0"/>
              </a:rPr>
              <a:t>一个容量为</a:t>
            </a:r>
            <a:r>
              <a:rPr lang="en-US" altLang="zh-CN" sz="2400">
                <a:latin typeface="Times New Roman" panose="02020603050405020304" pitchFamily="18" charset="0"/>
              </a:rPr>
              <a:t>16K*32</a:t>
            </a:r>
            <a:r>
              <a:rPr lang="zh-CN" altLang="en-US" sz="2400">
                <a:latin typeface="Times New Roman" panose="02020603050405020304" pitchFamily="18" charset="0"/>
              </a:rPr>
              <a:t>位的存储器，其地址线和数据线的总和是多少？当选用下列不同规格的存储芯片时，各需要多少片？</a:t>
            </a:r>
            <a:endParaRPr lang="zh-CN" altLang="en-US" sz="2400">
              <a:latin typeface="Times New Roman" panose="02020603050405020304" pitchFamily="18" charset="0"/>
            </a:endParaRPr>
          </a:p>
          <a:p>
            <a:pPr lvl="1"/>
            <a:r>
              <a:rPr lang="zh-CN" altLang="en-US" sz="2000">
                <a:latin typeface="Times New Roman" panose="02020603050405020304" pitchFamily="18" charset="0"/>
              </a:rPr>
              <a:t>１K × ４ 位 ，２K × ８ 位 ，４K × ４ 位 ，１６K × １ 位 ，４K × ８ 位 ，８K × ８ 位 </a:t>
            </a:r>
            <a:endParaRPr lang="zh-CN" altLang="en-US" sz="2000">
              <a:latin typeface="Times New Roman" panose="02020603050405020304" pitchFamily="18" charset="0"/>
            </a:endParaRPr>
          </a:p>
          <a:p>
            <a:pPr latinLnBrk="0">
              <a:spcBef>
                <a:spcPts val="1200"/>
              </a:spcBef>
            </a:pPr>
            <a:r>
              <a:rPr lang="zh-CN" altLang="en-US" sz="2400">
                <a:latin typeface="Times New Roman" panose="02020603050405020304" pitchFamily="18" charset="0"/>
              </a:rPr>
              <a:t>现有</a:t>
            </a:r>
            <a:r>
              <a:rPr lang="en-US" altLang="zh-CN" sz="2400">
                <a:latin typeface="Times New Roman" panose="02020603050405020304" pitchFamily="18" charset="0"/>
              </a:rPr>
              <a:t>1024*1</a:t>
            </a:r>
            <a:r>
              <a:rPr lang="zh-CN" altLang="en-US" sz="2400">
                <a:latin typeface="Times New Roman" panose="02020603050405020304" pitchFamily="18" charset="0"/>
              </a:rPr>
              <a:t>的存储芯片，若用它组成容量为</a:t>
            </a:r>
            <a:r>
              <a:rPr lang="en-US" altLang="zh-CN" sz="2400">
                <a:latin typeface="Times New Roman" panose="02020603050405020304" pitchFamily="18" charset="0"/>
              </a:rPr>
              <a:t>16K*8</a:t>
            </a:r>
            <a:r>
              <a:rPr lang="zh-CN" altLang="en-US" sz="2400">
                <a:latin typeface="Times New Roman" panose="02020603050405020304" pitchFamily="18" charset="0"/>
              </a:rPr>
              <a:t>的存储器 。 试求 ：</a:t>
            </a:r>
            <a:endParaRPr lang="zh-CN" altLang="en-US" sz="2400">
              <a:latin typeface="Times New Roman" panose="02020603050405020304" pitchFamily="18" charset="0"/>
            </a:endParaRPr>
          </a:p>
          <a:p>
            <a:pPr lvl="1"/>
            <a:r>
              <a:rPr lang="zh-CN" altLang="en-US" sz="2000">
                <a:latin typeface="Times New Roman" panose="02020603050405020304" pitchFamily="18" charset="0"/>
              </a:rPr>
              <a:t> 实现该存储器所需的芯片数量 ？</a:t>
            </a:r>
            <a:endParaRPr lang="zh-CN" altLang="en-US" sz="2000">
              <a:latin typeface="Times New Roman" panose="02020603050405020304" pitchFamily="18" charset="0"/>
            </a:endParaRPr>
          </a:p>
          <a:p>
            <a:pPr lvl="1"/>
            <a:r>
              <a:rPr lang="zh-CN" altLang="en-US" sz="2000">
                <a:latin typeface="Times New Roman" panose="02020603050405020304" pitchFamily="18" charset="0"/>
              </a:rPr>
              <a:t>若将这些芯片分装在若干块板上 ，每块板的容量为 ４K × ８ ，该存储器所需的地址线总位数是多少 ？ 其中几位用于选板 ？ 几位用于选片 ？ 几位用作片内地址 ？</a:t>
            </a:r>
            <a:endParaRPr lang="zh-CN" altLang="en-US" sz="2000">
              <a:latin typeface="Times New Roman" panose="02020603050405020304" pitchFamily="18"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r>
              <a:rPr lang="en-US" altLang="zh-CN"/>
              <a:t>3</a:t>
            </a:r>
            <a:endParaRPr lang="en-US" altLang="zh-CN"/>
          </a:p>
        </p:txBody>
      </p:sp>
      <p:sp>
        <p:nvSpPr>
          <p:cNvPr id="4" name="内容占位符 2"/>
          <p:cNvSpPr>
            <a:spLocks noGrp="1"/>
          </p:cNvSpPr>
          <p:nvPr/>
        </p:nvSpPr>
        <p:spPr>
          <a:xfrm>
            <a:off x="584200" y="1727200"/>
            <a:ext cx="8229600" cy="4525963"/>
          </a:xfrm>
          <a:prstGeom prst="rect">
            <a:avLst/>
          </a:prstGeom>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r>
              <a:rPr lang="zh-CN" altLang="en-US" sz="3200"/>
              <a:t>主题报告</a:t>
            </a:r>
            <a:endParaRPr lang="zh-CN" altLang="en-US" sz="3200"/>
          </a:p>
          <a:p>
            <a:pPr lvl="1" algn="just" eaLnBrk="1" hangingPunct="1">
              <a:spcBef>
                <a:spcPts val="1200"/>
              </a:spcBef>
              <a:buSzPct val="70000"/>
              <a:buFont typeface="Wingdings" panose="05000000000000000000" charset="0"/>
              <a:buChar char="n"/>
            </a:pPr>
            <a:r>
              <a:rPr lang="zh-CN" altLang="en-US" dirty="0">
                <a:solidFill>
                  <a:srgbClr val="0000FF"/>
                </a:solidFill>
                <a:latin typeface="Times New Roman" panose="02020603050405020304" pitchFamily="18" charset="0"/>
                <a:cs typeface="Times New Roman" panose="02020603050405020304" pitchFamily="18" charset="0"/>
              </a:rPr>
              <a:t>存储技术的</a:t>
            </a:r>
            <a:r>
              <a:rPr lang="zh-CN" altLang="en-US" dirty="0">
                <a:solidFill>
                  <a:srgbClr val="0000FF"/>
                </a:solidFill>
                <a:latin typeface="Times New Roman" panose="02020603050405020304" pitchFamily="18" charset="0"/>
                <a:cs typeface="Times New Roman" panose="02020603050405020304" pitchFamily="18" charset="0"/>
              </a:rPr>
              <a:t>新进展</a:t>
            </a:r>
            <a:endParaRPr lang="zh-CN" altLang="en-US" dirty="0">
              <a:solidFill>
                <a:srgbClr val="0000FF"/>
              </a:solidFill>
              <a:latin typeface="Times New Roman" panose="02020603050405020304" pitchFamily="18" charset="0"/>
              <a:cs typeface="Times New Roman" panose="02020603050405020304" pitchFamily="18" charset="0"/>
            </a:endParaRPr>
          </a:p>
          <a:p>
            <a:endParaRPr lang="zh-CN" altLang="en-US"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PP_MARK_KEY" val="759a8041-9650-4f9b-87ca-4568097294f5"/>
  <p:tag name="COMMONDATA" val="eyJoZGlkIjoiNzgwZWUzYWQ0MzYxM2VlNjVhZWQ5MmMwYjc0MjZhZjkifQ=="/>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21452</Words>
  <Application>WPS 演示</Application>
  <PresentationFormat/>
  <Paragraphs>1764</Paragraphs>
  <Slides>158</Slides>
  <Notes>1</Notes>
  <HiddenSlides>0</HiddenSlides>
  <MMClips>0</MMClips>
  <ScaleCrop>false</ScaleCrop>
  <HeadingPairs>
    <vt:vector size="8" baseType="variant">
      <vt:variant>
        <vt:lpstr>已用的字体</vt:lpstr>
      </vt:variant>
      <vt:variant>
        <vt:i4>15</vt:i4>
      </vt:variant>
      <vt:variant>
        <vt:lpstr>主题</vt:lpstr>
      </vt:variant>
      <vt:variant>
        <vt:i4>5</vt:i4>
      </vt:variant>
      <vt:variant>
        <vt:lpstr>嵌入 OLE 服务器</vt:lpstr>
      </vt:variant>
      <vt:variant>
        <vt:i4>35</vt:i4>
      </vt:variant>
      <vt:variant>
        <vt:lpstr>幻灯片标题</vt:lpstr>
      </vt:variant>
      <vt:variant>
        <vt:i4>158</vt:i4>
      </vt:variant>
    </vt:vector>
  </HeadingPairs>
  <TitlesOfParts>
    <vt:vector size="213" baseType="lpstr">
      <vt:lpstr>Arial</vt:lpstr>
      <vt:lpstr>宋体</vt:lpstr>
      <vt:lpstr>Wingdings</vt:lpstr>
      <vt:lpstr>华文行楷</vt:lpstr>
      <vt:lpstr>黑体</vt:lpstr>
      <vt:lpstr>华文中宋</vt:lpstr>
      <vt:lpstr>Times New Roman</vt:lpstr>
      <vt:lpstr>微软雅黑</vt:lpstr>
      <vt:lpstr>Arial Unicode MS</vt:lpstr>
      <vt:lpstr>楷体_GB2312</vt:lpstr>
      <vt:lpstr>新宋体</vt:lpstr>
      <vt:lpstr>华文新魏</vt:lpstr>
      <vt:lpstr>Wingdings</vt:lpstr>
      <vt:lpstr>仿宋_GB2312</vt:lpstr>
      <vt:lpstr>仿宋</vt:lpstr>
      <vt:lpstr>主题1</vt:lpstr>
      <vt:lpstr>1_24美金的ppt模板</vt:lpstr>
      <vt:lpstr>24美金的ppt模板_3</vt:lpstr>
      <vt:lpstr>24美金的ppt模板_4</vt:lpstr>
      <vt:lpstr>24美金的ppt模板_5</vt:lpstr>
      <vt:lpstr>Visio.Drawing.6</vt:lpstr>
      <vt:lpstr>Visio.Drawing.6</vt:lpstr>
      <vt:lpstr>Visio.Drawing.6</vt:lpstr>
      <vt:lpstr>Equation.3</vt:lpstr>
      <vt:lpstr>Equation.3</vt:lpstr>
      <vt:lpstr>Visio.Drawing.6</vt:lpstr>
      <vt:lpstr>Visio.Drawing.6</vt:lpstr>
      <vt:lpstr>Visio.Drawing.6</vt:lpstr>
      <vt:lpstr>Equation.3</vt:lpstr>
      <vt:lpstr>Equation.3</vt:lpstr>
      <vt:lpstr>Visio.Drawing.6</vt:lpstr>
      <vt:lpstr>Equation.3</vt:lpstr>
      <vt:lpstr>Equation.3</vt:lpstr>
      <vt:lpstr>Visio.Drawing.6</vt:lpstr>
      <vt:lpstr>Visio.Drawing.11</vt:lpstr>
      <vt:lpstr>Visio.Drawing.6</vt:lpstr>
      <vt:lpstr>Equation.3</vt:lpstr>
      <vt:lpstr>Equation.3</vt:lpstr>
      <vt:lpstr>Equation.3</vt:lpstr>
      <vt:lpstr>Equation.3</vt:lpstr>
      <vt:lpstr>Equation.3</vt:lpstr>
      <vt:lpstr>Visio.Drawing.6</vt:lpstr>
      <vt:lpstr>Visio.Drawing.6</vt:lpstr>
      <vt:lpstr>Visio.Drawing.6</vt:lpstr>
      <vt:lpstr>Visio.Drawing.6</vt:lpstr>
      <vt:lpstr>Visio.Drawing.6</vt:lpstr>
      <vt:lpstr>Visio.Drawing.6</vt:lpstr>
      <vt:lpstr>Visio.Drawing.6</vt:lpstr>
      <vt:lpstr>Word.Document.8</vt:lpstr>
      <vt:lpstr>Visio.Drawing.6</vt:lpstr>
      <vt:lpstr>Visio.Drawing.6</vt:lpstr>
      <vt:lpstr>Visio.Drawing.6</vt:lpstr>
      <vt:lpstr>Visio.Drawing.6</vt:lpstr>
      <vt:lpstr>Visio.Drawing.6</vt:lpstr>
      <vt:lpstr>Visio.Drawing.6</vt:lpstr>
      <vt:lpstr>PowerPoint 演示文稿</vt:lpstr>
      <vt:lpstr>第5章 存储系统和结构</vt:lpstr>
      <vt:lpstr>概述</vt:lpstr>
      <vt:lpstr>本章学习内容</vt:lpstr>
      <vt:lpstr>5.1 存储系统的组成</vt:lpstr>
      <vt:lpstr>5.1.1 存储器分类 </vt:lpstr>
      <vt:lpstr>5.1.1 存储器分类 </vt:lpstr>
      <vt:lpstr>5.1.1 存储器分类 </vt:lpstr>
      <vt:lpstr>5.1.1 存储器分类 </vt:lpstr>
      <vt:lpstr>5.1.1 存储器分类</vt:lpstr>
      <vt:lpstr>5.1.1 存储器分类 </vt:lpstr>
      <vt:lpstr>5.1.2 存储系统层次结构</vt:lpstr>
      <vt:lpstr>5.1.2 存储系统层次结构（续）</vt:lpstr>
      <vt:lpstr>Cache－主存存储层次（Cache存储系统） </vt:lpstr>
      <vt:lpstr>主存−辅存存储层次（虚拟存储系统） </vt:lpstr>
      <vt:lpstr>5.2 主存储器的组织</vt:lpstr>
      <vt:lpstr>5.2.1 主存储器的基本结构</vt:lpstr>
      <vt:lpstr>5.2.1 主存储器的基本结构（续）</vt:lpstr>
      <vt:lpstr>5.2.2 主存储器的存储单元 </vt:lpstr>
      <vt:lpstr>5.2.2 主存储器的存储单元 （续）</vt:lpstr>
      <vt:lpstr>5.2.2 主存储器的存储单元 （续）</vt:lpstr>
      <vt:lpstr>5.2.3 主存储器的主要技术指标 </vt:lpstr>
      <vt:lpstr>2.存取速度</vt:lpstr>
      <vt:lpstr>2.存取速度（续）</vt:lpstr>
      <vt:lpstr>5.2.3 主存储器的主要技术指标 </vt:lpstr>
      <vt:lpstr>5.2.4 数据在主存中的存放 </vt:lpstr>
      <vt:lpstr>1.不浪费存储器资源的存放方法</vt:lpstr>
      <vt:lpstr>2.从存储字的起始位置开始存放的方法</vt:lpstr>
      <vt:lpstr>3.边界对齐的数据存放方法 </vt:lpstr>
      <vt:lpstr>5.3 半导体随机存储器和只读存储器</vt:lpstr>
      <vt:lpstr>5.3.1  RAM记忆单元电路</vt:lpstr>
      <vt:lpstr>1. 6管SRAM记忆单元电路</vt:lpstr>
      <vt:lpstr>2. 4管DRAM记忆单元电路</vt:lpstr>
      <vt:lpstr>3.单管DRAM记忆单元</vt:lpstr>
      <vt:lpstr>5.3.2 动态RAM的刷新</vt:lpstr>
      <vt:lpstr>存储体矩阵</vt:lpstr>
      <vt:lpstr>2.刷新方式 </vt:lpstr>
      <vt:lpstr>2.刷新方式（续）</vt:lpstr>
      <vt:lpstr>2.刷新方式（续）</vt:lpstr>
      <vt:lpstr>2.刷新方式（续）</vt:lpstr>
      <vt:lpstr>2.刷新方式（续）</vt:lpstr>
      <vt:lpstr>2.刷新方式（续）</vt:lpstr>
      <vt:lpstr>2.刷新方式（续）</vt:lpstr>
      <vt:lpstr>DRAM的刷新要注意的问题</vt:lpstr>
      <vt:lpstr>5.3.3 RAM芯片分析</vt:lpstr>
      <vt:lpstr>1.RAM芯片（续）</vt:lpstr>
      <vt:lpstr>例：4M*4 位 DRAM 芯片</vt:lpstr>
      <vt:lpstr>2.地址译码方式</vt:lpstr>
      <vt:lpstr>字结构、单译码方式RAM</vt:lpstr>
      <vt:lpstr>字结构、单译码方式RAM </vt:lpstr>
      <vt:lpstr>2.地址译码方式（续）</vt:lpstr>
      <vt:lpstr>位结构、双译码方式RAM</vt:lpstr>
      <vt:lpstr>3.RAM的读写时序</vt:lpstr>
      <vt:lpstr>3.RAM的读写时序（续）</vt:lpstr>
      <vt:lpstr>*5.3.4 半导体只读存储器（ROM）</vt:lpstr>
      <vt:lpstr>*1.ROM的类型（续）</vt:lpstr>
      <vt:lpstr>*1.ROM的类型（续）</vt:lpstr>
      <vt:lpstr>*1.ROM的类型（续）</vt:lpstr>
      <vt:lpstr>*1.ROM的类型（续）</vt:lpstr>
      <vt:lpstr>*2.ROM芯片 </vt:lpstr>
      <vt:lpstr>*5.3.5 半导体存储器的封装 </vt:lpstr>
      <vt:lpstr>*2.内存条 </vt:lpstr>
      <vt:lpstr>*2.内存条（续） </vt:lpstr>
      <vt:lpstr>5.4主存储器的连接与控制</vt:lpstr>
      <vt:lpstr>5.4.1 主存容量的扩展</vt:lpstr>
      <vt:lpstr>1.位扩展</vt:lpstr>
      <vt:lpstr>位扩展连接举例</vt:lpstr>
      <vt:lpstr>2.字扩展</vt:lpstr>
      <vt:lpstr>2.字扩展（续）</vt:lpstr>
      <vt:lpstr>2.字扩展（续）</vt:lpstr>
      <vt:lpstr>3.字和位同时扩展</vt:lpstr>
      <vt:lpstr>字和位同时扩展连接举例</vt:lpstr>
      <vt:lpstr>5.4.2 存储芯片的地址分配和片选</vt:lpstr>
      <vt:lpstr>1.线选法</vt:lpstr>
      <vt:lpstr>2.全译码法</vt:lpstr>
      <vt:lpstr>3.部分译码</vt:lpstr>
      <vt:lpstr>5.4.3 主存储器和CPU的连接</vt:lpstr>
      <vt:lpstr>主存和CPU的硬连接</vt:lpstr>
      <vt:lpstr>2. 基本操作-读操作</vt:lpstr>
      <vt:lpstr>2. 基本操作-写操作</vt:lpstr>
      <vt:lpstr>5.4.4 主存的校验</vt:lpstr>
      <vt:lpstr>2.错误检验与校正（ECC）</vt:lpstr>
      <vt:lpstr>课堂练习</vt:lpstr>
      <vt:lpstr>解答</vt:lpstr>
      <vt:lpstr>解答</vt:lpstr>
      <vt:lpstr>课堂练习</vt:lpstr>
      <vt:lpstr>*5.4.5 PC系列微机的存储器接口</vt:lpstr>
      <vt:lpstr>2. 16位存储器接口</vt:lpstr>
      <vt:lpstr>8086的存储器组织</vt:lpstr>
      <vt:lpstr>3. 32位和64存储器接口 </vt:lpstr>
      <vt:lpstr>*5.5 提高主存读写速度的技术 </vt:lpstr>
      <vt:lpstr>5.5.1 主存与CPU速度的匹配 </vt:lpstr>
      <vt:lpstr>*5.5.2 FPM DRAM </vt:lpstr>
      <vt:lpstr>*5.5.3 EDO DRAM </vt:lpstr>
      <vt:lpstr>*5.5.4 SDRAM</vt:lpstr>
      <vt:lpstr>*5.5.5 DDR SDRAM </vt:lpstr>
      <vt:lpstr>*5.5.7 Rambus DRAM </vt:lpstr>
      <vt:lpstr>*5.5.7 Rambus DRAM（续）</vt:lpstr>
      <vt:lpstr>*5.5.7 Rambus DRAM （续） </vt:lpstr>
      <vt:lpstr>5.6 多体交叉存储技术</vt:lpstr>
      <vt:lpstr>5.6.1 并行访问存储器</vt:lpstr>
      <vt:lpstr>单体多字并行存储系统</vt:lpstr>
      <vt:lpstr>5.6.2 交叉访问存储器</vt:lpstr>
      <vt:lpstr>多体交叉访问存储器</vt:lpstr>
      <vt:lpstr>模4交叉编址 </vt:lpstr>
      <vt:lpstr>轮流启动</vt:lpstr>
      <vt:lpstr>5.6.3 双端口存储器</vt:lpstr>
      <vt:lpstr>5.7 高速缓冲存储器</vt:lpstr>
      <vt:lpstr>1.程序的局部性原理</vt:lpstr>
      <vt:lpstr>例</vt:lpstr>
      <vt:lpstr>解答</vt:lpstr>
      <vt:lpstr>2.Cache的基本结构</vt:lpstr>
      <vt:lpstr>Cache的基本结构 </vt:lpstr>
      <vt:lpstr>5.7.2 Cache的读写操作</vt:lpstr>
      <vt:lpstr>5.7.2 Cache的读写操作</vt:lpstr>
      <vt:lpstr>例：</vt:lpstr>
      <vt:lpstr>解答</vt:lpstr>
      <vt:lpstr>5.7.3 地址映象</vt:lpstr>
      <vt:lpstr>全相联映像</vt:lpstr>
      <vt:lpstr>主存地址划分以及主存块和cache行的对应关系</vt:lpstr>
      <vt:lpstr>2.直接映像</vt:lpstr>
      <vt:lpstr>直接映像</vt:lpstr>
      <vt:lpstr>主存地址划分以及主存块和cache行的对应关系</vt:lpstr>
      <vt:lpstr>3.组相联映像 </vt:lpstr>
      <vt:lpstr>组相联映像</vt:lpstr>
      <vt:lpstr>主存地址划分以及主存块和cache行的对应关系</vt:lpstr>
      <vt:lpstr>例</vt:lpstr>
      <vt:lpstr>解答</vt:lpstr>
      <vt:lpstr>5.7.4 替换算法</vt:lpstr>
      <vt:lpstr>3.近期最少使用（LRU）算法</vt:lpstr>
      <vt:lpstr>5.8 虚拟存储器</vt:lpstr>
      <vt:lpstr>5.8.1 虚拟存储器的基本概念</vt:lpstr>
      <vt:lpstr>虚拟地址空间</vt:lpstr>
      <vt:lpstr>5.8.1 虚拟存储器的基本概念（续）</vt:lpstr>
      <vt:lpstr>5.8.2 页式虚拟存储器 </vt:lpstr>
      <vt:lpstr>页式虚拟存储器的地址映象 </vt:lpstr>
      <vt:lpstr>页式虚存的虚－实地址的变换</vt:lpstr>
      <vt:lpstr>例</vt:lpstr>
      <vt:lpstr>解答</vt:lpstr>
      <vt:lpstr>5.8.2 页式虚拟存储器（续）</vt:lpstr>
      <vt:lpstr>5.8.3 段式虚拟存储器 </vt:lpstr>
      <vt:lpstr>段式虚拟存储器</vt:lpstr>
      <vt:lpstr>段式虚存的虚－实地址的变换</vt:lpstr>
      <vt:lpstr>5.8.3 段式虚拟存储器（续）</vt:lpstr>
      <vt:lpstr>5.8.4 段页式虚拟存储器 </vt:lpstr>
      <vt:lpstr>段页式虚拟存储器的地址映像</vt:lpstr>
      <vt:lpstr>5.8.5 快表与慢表</vt:lpstr>
      <vt:lpstr>PowerPoint 演示文稿</vt:lpstr>
      <vt:lpstr>PowerPoint 演示文稿</vt:lpstr>
      <vt:lpstr>PowerPoint 演示文稿</vt:lpstr>
      <vt:lpstr>PowerPoint 演示文稿</vt:lpstr>
      <vt:lpstr>PowerPoint 演示文稿</vt:lpstr>
      <vt:lpstr>PowerPoint 演示文稿</vt:lpstr>
      <vt:lpstr>习题</vt:lpstr>
      <vt:lpstr>PowerPoint 演示文稿</vt:lpstr>
      <vt:lpstr>PowerPoint 演示文稿</vt:lpstr>
      <vt:lpstr>课堂练习</vt:lpstr>
      <vt:lpstr>作业3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存储系统和结构</dc:title>
  <dc:creator>蒋本珊</dc:creator>
  <cp:lastModifiedBy>red</cp:lastModifiedBy>
  <cp:revision>265</cp:revision>
  <dcterms:created xsi:type="dcterms:W3CDTF">2003-05-27T06:14:00Z</dcterms:created>
  <dcterms:modified xsi:type="dcterms:W3CDTF">2024-04-17T01:41:19Z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1B6B7390FB714859A304186E8D2BD38F</vt:lpwstr>
  </property>
</Properties>
</file>